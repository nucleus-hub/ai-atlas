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7" r:id="rId32"/>
    <p:sldId id="288" r:id="rId33"/>
    <p:sldId id="289" r:id="rId34"/>
    <p:sldId id="290" r:id="rId35"/>
    <p:sldId id="292" r:id="rId36"/>
    <p:sldId id="293" r:id="rId37"/>
    <p:sldId id="294" r:id="rId38"/>
    <p:sldId id="295" r:id="rId39"/>
    <p:sldId id="296" r:id="rId40"/>
    <p:sldId id="298" r:id="rId41"/>
    <p:sldId id="299" r:id="rId4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386"/>
    <p:restoredTop sz="94610"/>
  </p:normalViewPr>
  <p:slideViewPr>
    <p:cSldViewPr snapToGrid="0" snapToObjects="1">
      <p:cViewPr>
        <p:scale>
          <a:sx n="174" d="100"/>
          <a:sy n="174" d="100"/>
        </p:scale>
        <p:origin x="968" y="6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941705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We're starting a comprehensive journey today, moving you from a beginner to a hero in probability theory. Probability is the language of uncertainty, and mastering it is essential for everything from data science to making informed life decisions. This presentation is structured to build your knowledge step-by-step, starting with the absolute basics and progressing to powerful concepts like Bayes' theorem. We'll use clear examples and practical Python code along the way. Think of this as laying the concrete foundation for all your future statistical and data analysis work. Let's get started on this exciting path to mastery.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roadmap for the next hour or so, broken down into six key modules. We'll begin by establishing the fundamental concepts: what probability is, and the basic components like random experiments and sample spaces. Then, we'll dive into classifying events, which is crucial for knowing which rules to apply later. Modules three and four cover the core rules—addition, multiplication, and the all-important conditional probability. Finally, we'll reach the pinnacle with Bayes' Theorem, which is how we update our beliefs with new evidence, and we'll wrap up by showing you how to implement all of this using Python. We're building a tower of knowledge, so pay close attention to the foundational concepts in the first few sections.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exactly is probability? Simply put, it's a number that quantifies uncertainty. Instead of saying something is "very likely," we assign a precise value between zero and one. Zero means an event is impossible, one means it's certain, and 0.5 means it's a fifty-fifty chance. This simple scale is incredibly powerful because it allows us to apply mathematics to the messy, unpredictable world around us. Think about the weather forecast: a 70% chance of rain isn't a guarantee, but it's a precise measure of the likelihood, allowing you to decide whether or not to take an umbrella. This concept of quantifying uncertainty is the core idea we'll build upon. Now that we know what probability is, let's look at where it comes from: the random experiment.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can calculate a probability, we need a process that generates outcomes, and that process is called a random experiment. The key word here is "random." This doesn't mean chaotic; it means the outcome of any single trial cannot be predicted with certainty. Think of tossing a coin or rolling a die. You know all the possible results—Heads or Tails, 1 through 6—but you can't predict the result of the next toss. Crucially, a random experiment must be repeatable under the same conditions. This repeatability is what allows patterns to emerge over many trials, which is where probability theory really shines. Understanding the experiment is the first step, and the next step is listing all its possible results.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sample space is perhaps the most fundamental concept in probability. It's simply the complete list of every single possible outcome of a random experiment. We denote it with the letter S or the Greek letter Omega. Defining the sample space correctly is critical because every event we care about must be a subset of this space. Look at the examples: for a single coin toss, S is just Heads and Tails. For two coins, we list all four ordered pairs. If you miss an outcome, your probability calculations will be wrong. So, always start by asking: what are all the possible, distinct results? Once we have this universal set, we can start defining the specific scenarios we're interested in, which we call events.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we've established the sample space—the universe of all possibilities—we need to focus on the specific outcomes we care about. This is where the concept of an event comes in. An outcome is the most basic, single result of a random experiment, like rolling a three on a die. Think of it as an atom in our probability universe. An event, on the other hand, is a collection of one or more of these outcomes. It's a subset of the sample space. For example, the event "rolling an even number" is the set of outcomes {2, 4, 6}. This distinction is crucial because probability is always calculated for an event, not just a single outcome. We classify events based on how many outcomes they contain. A simple event has just one outcome, like rolling a four. A compound event has multiple outcomes, like rolling an even number. We also have the certain event, which is the entire sample space—it must happen—and the impossible event, the empty set, which can never happen. Understanding events as sets allows us to use set theory operations like union and intersection to combine events, which we'll need for the addition and multiplication rules later. But first, we need the fundamental rules that govern all probability. Let's move on to the axioms.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mathematical theory needs a foundation, and for probability, that foundation is built on three simple, yet powerful, axioms established by Andrey Kolmogorov. These three rules are the bedrock; everything else in probability theory is derived from them. The first axiom, Non-Negativity, is straightforward: the probability of any event must be zero or positive. You can't have a negative chance of something happening. This ensures that probability is a meaningful measure of likelihood. The second axiom, Normalization, tells us that the probability of the entire sample space—the certainty that something will happen—must equal one. If you roll a die, you are 100% certain to get a result between one and six. The third axiom, Additivity, is the most important for calculations. It states that if two events are mutually exclusive—meaning they cannot happen at the same time—then the probability that either one occurs is simply the sum of their individual probabilities. For example, rolling a two and rolling a five are mutually exclusive events on a single roll, so we can just add their probabilities. But be careful: this only works for mutually exclusive events. If events overlap, we need a different rule, which we'll cover soon. These three axioms are all we need to build the entire structure of probability. Now let's see how we use them to calculate actual probabilities.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axioms in place, we can now look at the three main ways we calculate probability in practice. The first is the Classical Approach, which is what we use when all outcomes are equally likely, like with a fair coin or a fair die. Here, probability is simply a matter of counting: the number of favorable outcomes divided by the total number of possible outcomes. This is the approach we'll use for most of our initial examples. The second is the Empirical Approach, which relies on observation. When we can't assume outcomes are equally likely—maybe we have a biased coin or we're looking at real-world data like manufacturing defects—we run an experiment many times and calculate the probability based on the observed frequency. The more trials we run, the closer our empirical probability gets to the true probability. Finally, we have the Subjective Approach. This is used for unique events that can't be repeated, like predicting the outcome of an election or a stock market crash. Here, the probability is based on expert judgment and intuition, but it still must adhere to the three axioms. For our purposes today, we'll focus heavily on the Classical Approach, as it allows us to build strong intuition. Let's start with the classic example: rolling dice.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dice example is the perfect way to apply the Classical Approach because we assume the die is fair, meaning all six outcomes are equally likely. For a single die, calculating the probability of rolling a four is easy: one favorable outcome out of six total, giving us one-sixth. The probability of a compound event, like rolling an even number, requires us to count the favorable outcomes: two, four, and six. That's three outcomes out of six, or one-half. Now, let's step it up to two dice. The sample space immediately gets much larger: six times six, giving us 36 total possible outcomes. The key here is to remember that each of those 36 pairs is equally likely. When we ask for the probability that the sum is seven, we have to systematically count all the pairs that add up to seven: one-six, two-five, and so on. There are six such pairs, so the probability is six out of 36, or one-sixth. Notice that the probability of rolling a seven with two dice is the same as rolling a four with one die. This counting method is the heart of classical probability. Next, we'll look at another common example: drawing cards.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Drawing cards is another excellent example for the Classical Approach, but it introduces the complexity of overlapping events. Our sample space is 52 cards, and since we assume the deck is well-shuffled, each card has an equal probability of one-fifty-second. The probability of drawing a heart is simply 13 out of 52, or one-quarter, because there are 13 hearts. Similarly, the probability of drawing an Ace is four out of 52. Now, consider the event "drawing a Red card OR a Face card." We have 26 red cards and 12 face cards. If we just add 26 plus 12, we get 38. But wait, we've double-counted the red face cards—the Jack, Queen, and King of Hearts and Diamonds. That's six cards we counted twice. This is where the Addition Rule comes in, which we'll formalize later. We must subtract the intersection, the six red face cards, to correct for the double-counting. So, the total number of favorable outcomes is 26 plus 12 minus six, which is 32. The probability is 32 out of 52. This example clearly shows why we need rules to handle events that are not mutually exclusive. Now that we've seen how to calculate probabilities, let's categorize the relationships between events.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spent time mastering the fundamental rules of probability, specifically the addition and multiplication rules. Now we need to understand the relationships between events, because these relationships dictate which version of the rules we use. This slide introduces the three core classifications for event relationships: mutually exclusive, exhaustive, and independent. Mutually exclusive events are those that cannot happen at the same time, like rolling a 1 and a 6 on a single die. Exhaustive events are a set of events where at least one of them must happen, covering the entire sample space. Independent events are those where the outcome of one has absolutely no bearing on the outcome of the other. The key distinction is that mutually exclusive events are about overlap—or the lack thereof—while independent events are about influence. We'll dive into each of these three in detail, starting with mutually exclusive events, which are the simplest to visualize.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focus on the first type: mutually exclusive events. The concept is simple: if one event happens, the other absolutely cannot. Think of it as a hard barrier between the events. Mathematically, this means their intersection is the empty set, and the probability of both happening is zero. This is a powerful condition because it simplifies the addition rule dramatically. If A and B are mutually exclusive, the general addition rule P(A or B) simplifies to just P(A) plus P(B), because we don't have to worry about subtracting any overlap. A common mistake is confusing mutually exclusive with independent. They are actually opposite. If two events are mutually exclusive, they are highly dependent: if I know A occurred, I know for sure B did not, so P(B|A) is zero. We'll look at some clear examples next to solidify this distinction.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examples show how mutually exclusive events appear in different contexts. When rolling a die, rolling a 2 and rolling a 5 are mutually exclusive because only one face can land up. We simply add their probabilities to find the chance of rolling either a 2 or a 5. Similarly, when drawing a card, a card cannot be both a heart and a spade, so those events are mutually exclusive. The traffic light example is a great real-world case of a partition: the light must be one of the three colors, and it can only be one at a time. The key takeaway here is that whenever you can definitively say that two events cannot co-occur, you can use the simplified addition rule. This is a huge time-saver in probability problems. Now that we've covered events that cannot overlap, let's look at events that must cover everything.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major classification is exhaustive events. Where mutually exclusive events focus on what *cannot* happen together, exhaustive events focus on what *must* happen. A set of events is exhaustive if, when you combine them all, they cover every single possible outcome in the sample space. In other words, when you run the experiment, one of those exhaustive events is guaranteed to occur. The probability of their union is always one. The most powerful scenario is when events are both mutually exclusive and exhaustive. We call this a partition of the sample space. A partition is like slicing a pie: every slice is separate, and all the slices together make up the whole pie. This concept of partitioning is absolutely critical because it forms the basis for the Law of Total Probability, which we'll cover later. For now, let's look at some examples of exhaustive events, including those that overlap.</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examples illustrate the concept of exhaustiveness, particularly the power of a partition. In the die roll example, the events "Odd" and "Even" are exhaustive because every number is either odd or even. Since they don't overlap, they form a perfect partition. The same logic applies to the card colors and the age groups. However, look at the last example: rolling a number less than or equal to 4, and rolling a number greater than or equal to 3. These events are still exhaustive because their union covers all six outcomes. But they are not mutually exclusive because 3 and 4 are in both sets. This shows that exhaustive events can overlap. The key is simply that they leave no outcome uncovered. Next, we move to the third and often most confusing classification: independent events.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spent time classifying events by whether they cover the sample space or overlap. Now we introduce a critical concept: independence. Two events are independent if knowing one occurred gives you absolutely no information about whether the other occurred. Think of it this way: the outcome of a coin flip doesn't change the probability of the next coin flip. Mathematically, this means the conditional probability P(A given B) is simply P(A). The most practical definition is the multiplication rule: P(A and B) equals P(A) times P(B). This simplifies calculations dramatically, but only if the events are truly independent. Remember the common mistake: independent events are almost never mutually exclusive. If two events are mutually exclusive, they are highly dependent because if one happens, the other absolutely cannot happen. We'll look at some concrete examples next to solidify this distinction.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walk through a few classic examples where independence holds true. The first three examples—two coin tosses, a coin toss and a die roll, and rolling two separate dice—all involve physically separate random experiments. Because the experiments are physically isolated, we assume independence. Notice how the verification works: we calculate the joint probability P(A and B) by counting the outcomes, and then we check if that joint probability equals the product of the marginal probabilities P(A) times P(B). In all these cases, the product rule holds. The fourth example, drawing cards with replacement, is key. If you replace the card, the deck resets, and the second draw is independent of the first. If you don't replace the card, the events become dependent, which we'll see later. The tree diagram visualizes how we multiply probabilities along the branches to find the probability of a sequence of independent events. This simple multiplication is the hallmark of independence.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on simple independence, we now introduce pairwise independence. When you have a collection of three or more events, we need a way to describe their collective independence. Pairwise independence is the weaker condition: it only requires that every pair of events in the collection is independent. For three events A, B, and C, we must check three pairs: A and B, A and C, and B and C. The critical distinction here is that pairwise independence is not enough to guarantee mutual independence. We saw a classic counterexample in the slide content: events A, B, and C can be pairwise independent, but if you know two of them, it might completely determine the third, violating the stronger condition. This means you can't use the simple product rule for all three events just because it works for all the pairs. We need a stronger definition, which we'll cover next, to ensure the product rule works for all subsets.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Mutual independence is the strongest form of independence, and it's what we usually mean when we say a set of events is independent. It requires that the product rule holds for every possible subset of the events, not just the pairs. For three events A, B, and C, this means four conditions must be met: the three pairwise conditions, plus the condition for the triple intersection: P(A and B and C) must equal P(A) times P(B) times P(C). If even one of these conditions fails, the events are not mutually independent. The three coin toss example is a perfect illustration of mutual independence because the physical setup guarantees that the outcome of one coin provides no information about the others, regardless of how many coins you look at. This stronger condition is what allows us to simplify complex probability calculations by multiplying all the individual probabilities together. This concept is vital for modeling systems where components operate completely separately. Now, let's switch gears and look at the rule for "or" probabilities.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covered the multiplication rule for "and" probabilities; now let's focus on the addition rule for "or" probabilities. The general addition rule calculates the probability that at least one of two events, A or B, occurs. The formula is P(A or B) equals P(A) plus P(B) minus P(A and B). The key insight here is why we subtract the intersection. If A and B can happen at the same time, we count the outcomes in the overlap region twice when we simply add P(A) and P(B). Subtracting P(A and B) corrects this double-counting, ensuring we only count each outcome once. This general rule always works. The simplified case is for mutually exclusive events, where the intersection is zero. Since P(A and B) is zero, the formula simplifies to just adding P(A) and P(B). This is a common point of confusion, so always check for overlap first. If there's overlap, use the general rule. If there's no overlap, use the simplified rule. This rule is essential for calculating probabilities in scenarios like risk assessment where we care if at least one failure occurs.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established the general addition rule, so now let's see it in action with some practical examples. The key message here is always to check for overlap, or the intersection, between your events. Our first example is rolling a die and asking for an even number OR a number greater than four. The events overlap at the number six, so we must subtract that one-sixth probability to avoid double-counting. The second example, drawing a Heart OR an Ace, is a classic. The King of Hearts is the overlap, and we must subtract its probability, one-fifty-second, to get the correct result of four-thirteenths. The third example shows a real-world application with student majors, where the fifteen percent who are both CS and Math majors must be subtracted. Finally, the last example, drawing a Heart OR a Spade, is the special case. Since you can't draw a card that is both a Heart and a Spade, the intersection is zero, and we simply add the probabilities. This is the difference between the general and special addition rules. Now that we've mastered "or" probabilities, let's move on to "and" probabilities with the multiplication rule.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multiplication rule is the counterpart to the addition rule, and it calculates the probability that two events, A AND B, both occur. The general formula is P(A and B) equals P(A) times the conditional probability of B given A. This formula is derived directly from the definition of conditional probability, which we'll cover in more detail next. The crucial insight here is that this general rule works for all events, whether they are dependent or independent. When events are dependent, the probability of the second event, B, is affected by the occurrence of the first event, A. We account for this dependency using the conditional probability P(B given A). However, if the events are independent, the formula simplifies dramatically. If A and B are independent, then P(B given A) is just P(B), because A occurring doesn't change B's probability. So, for independent events, we simply multiply the marginal probabilities: P(A and B) equals P(A) times P(B). Knowing when to use the general rule versus the simplified independent rule is the most important part of applying the multiplication rule correctly. Let's look at some examples to make this distinction clear.</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examples highlight the critical difference between dependent and independent events when using the multiplication rule. Our first example, drawing two Aces without replacement, is a dependent event. The probability of the second draw changes because the deck composition changes after the first Ace is removed. We use the general rule: four-fifty-seconds times three-fifty-firsts. Contrast that with the coin toss example. Tossing a coin three times results in three independent events. The first toss does not affect the second or the third. So, we use the simplified rule and just multiply the marginal probabilities: one-half times one-half times one-half. The third example, drawing defective products without replacement, is another dependent scenario, just like the cards. The pool of items shrinks and the proportion of defective items changes after the first draw. Finally, the last example, rolling two dice, is independent. The outcome of the first die has no influence on the second. So, we multiply one-sixth by one-sixth. Always ask yourself: Does the first event change the conditions for the second event? If yes, use the general rule. If no, use the simplified rule. This leads us directly to the concept that makes the general rule work: conditional probability.</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Conditional probability is perhaps the most powerful concept we'll cover, because it formalizes how we update our beliefs when we receive new information. We write it as P(A given B), and it asks: What is the probability of A, knowing that B has already occurred? The formula is P(A and B) divided by P(B). The intuition is simple: once we know B has happened, our entire sample space shrinks to only those outcomes in B. The conditional probability is then the fraction of that new, smaller sample space that also contains A. This is why the denominator is P(B). Conditional probability is the foundation for all reasoning under uncertainty. It's how we move from a prior belief to a posterior belief. For example, before you roll a die, the probability of rolling a six is one-sixth. But if I tell you the roll was an even number, your sample space shrinks to two, four, and six. The probability of rolling a six, given it was even, is now one-third. This updating of probability is what conditional probability is all about. This concept is essential for understanding the general multiplication rule and, later, Bayes' theorem. Let's look at some concrete examples.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examples show how conditional probability is applied in different contexts, from card games to medical diagnosis. In the card example, we want the probability of drawing a Red card given that we drew a Face card. We restrict our focus to the twelve face cards. Of those twelve, six are red, so the probability is six-twelfths, or one-half. The second example is a preview of Bayes' theorem, which we'll cover soon. It shows the counterintuitive result of medical testing: even with a positive test, the probability of actually having the disease is low because the disease is rare. The third example, rolling dice, is a simple application of the formula. The probability of the sum being eight, given the first die was three, means the second die must be five. Since the dice are independent, this probability is one-sixth. Finally, the last example is another application of Bayes' theorem, asking for the probability that a defective item came from Factory A. We use the formula to reverse the conditioning. In all these cases, we are restricting the sample space based on the given information, B, and then calculating the probability of A within that restricted space. This ability to update probabilities is the core skill we need to develop. Next, we'll look at how these rules are visualized using probability tree diagrams.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spent a lot of time on conditional probability and the multiplication rule. Now we need a visual tool to help us organize those complex, multi-stage problems. That's where probability tree diagrams come in. A tree diagram is essentially a map of a sequential experiment, showing every possible path and the probability of taking that path. It breaks down a complicated process into simple, manageable steps. The key is to remember the two calculation rules: you multiply probabilities along the branches to find the probability of a specific sequence of events, and you add the probabilities of the final outcomes if you want the total probability of a general event. This visual structure is especially helpful when events are dependent, because the probabilities on the later branches will be conditional on what happened earlier. Let's look at a couple of examples to see this in action.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examples show the power of the tree diagram approach. In the first example, drawing two cards without replacement, the events are dependent. Notice how the probability changes from 3/5 to 2/4 for the second draw. That's the conditional probability P(R2|R1) built right into the diagram. We multiply along the path to get P(R-R) = 3/10. For the second part, P(one red, one blue), we have two paths that satisfy that condition: R-B and B-R. We calculate the probability of each path by multiplying, and then we add those path probabilities together. The second example, the coin toss and die roll, shows a branching structure where the number of branches changes at the second stage. Again, we multiply along the path for P(H and 6) and add paths for compound events. Tree diagrams are a fantastic way to ensure you don't miss any possible outcome in a sequential experiment. They naturally lead us to the next big concept, which is how we formalize this idea of adding up probabilities from different scenarios.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Law of Total Probability is the formal mathematical way of doing what we just did with the tree diagrams: breaking a complex problem into simpler, non-overlapping scenarios. The core idea is partitioning the sample space. Think of a partition as a set of buckets that are mutually exclusive—they don't overlap—and exhaustive—they cover everything. If we want to find the probability of event A, we just calculate the probability of A happening in each bucket, and then we add those up. The formula P(A) = the sum of P(A|Bᵢ) times P(Bᵢ) is just a weighted average. We're averaging the conditional probabilities of A, weighted by how likely each scenario Bᵢ is to occur. This law is incredibly useful because often we only know the conditional probabilities, not the overall probability. It's the essential stepping stone to understanding Bayes' Theorem, which we'll cover next. But first, let's see how this law simplifies real-world problems.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examples show how the Law of Total Probability handles real-world complexity by breaking it down into manageable scenarios. In the manufacturing example, we don't know the overall defect rate directly. We only know the defect rate for each factory, and how much each factory contributes to the total production. The factories form our partition. We calculate the joint probability of being defective AND coming from Factory A, then B, then C, and sum them up. The overall defect rate is 2.9%. The second example, disease testing across age groups, is structured exactly the same way. The age groups partition the population. We calculate the weighted average of the disease rates, weighted by the proportion of people in each age group. This gives us the overall prevalence of 3.45%. Notice how the Law of Total Probability gives us the marginal probability P(A) by summing up the joint probabilities P(A ∩ Bᵢ). This powerful technique is used constantly in risk modeling and is the crucial denominator in Bayes' Theorem.</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Bayes' Theorem is arguably the most important result in probability theory, because it formalizes how we update our beliefs when we get new information. We often know P(B|A)—the probability of evidence given a cause—but what we really want is P(A|B)—the probability of the cause given the evidence. Bayes' Theorem gives us the mathematical machinery to reverse that conditioning. The derivation is simple: it just comes from setting the two forms of the multiplication rule equal to each other. But the implications are profound. We start with a prior belief P(A), which is our initial guess. We observe evidence B, and the theorem tells us how to calculate the posterior probability P(A|B), which is our updated, more informed belief. The term P(B) in the denominator is calculated using the Law of Total Probability we just discussed. It acts as a normalizing constant, ensuring the result is a valid probability. This process of updating beliefs is the foundation of modern artificial intelligence and machine learning. Let's look at the classic example of medical testing to see why this is so important.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now moving into a section that clarifies the three fundamental types of probability. Let's start with marginal probability. Marginal probability is the simplest form; it's the probability of a single event occurring, completely ignoring all other variables. Think of it as the total count for one category. The term "marginal" comes from how we calculate it in a table: we sum across the rows or columns and write the total in the margin. Mathematically, we calculate P(A) by summing the joint probabilities P(A and B) over all possible values of B. For example, if we look at the table, the marginal probability of being a male student is 0.50, which is the sum of the joint probabilities of male and CS, and male and Math. We are essentially ignoring the major variable. This concept is crucial because marginal probabilities are often the starting point for more complex calculations, and they form the basis for the prior probabilities we use in Bayes' theorem. Next, we'll look at the probability that connects these single events: joint probability.</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marginal probability is about a single event, joint probability is about two or more events happening at the same time. This is the probability of the intersection of events, the "and" scenario. We write it as P(A and B). Joint probability is the core of the multiplication rule we discussed earlier. The general rule tells us that P(A and B) equals P(A) multiplied by the conditional probability P(B given A). This relationship is foundational, linking joint and conditional probabilities. For independent events, the formula simplifies dramatically: we just multiply the marginal probabilities, P(A) times P(B). This is a huge time saver, but only if you are certain the events are independent. The key properties here are that joint probability is always less than or equal to the probability of either individual event, and if the events are mutually exclusive, the joint probability must be zero. Joint probability is what we need when we are looking for the likelihood of a specific combination of events, like a customer being both from the North region and buying a specific product. Now, let's see how we can organize and calculate all three types of probability using a simple tool.</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Probability tables, also called contingency tables, are the best way to visualize and calculate marginal, joint, and conditional probabilities simultaneously. The structure is simple: the cells inside the table contain the joint probabilities, P(Row and Column). The totals in the margins—the row and column sums—are the marginal probabilities. For example, in our student classification table, the joint probability of a student being Male and a CS major is 0.20, right there in the cell. The marginal probability of being a Male student is the sum of that row, 0.45. The real power of this table comes when we calculate conditional probabilities. Remember the formula: P(A given B) is the joint probability P(A and B) divided by the marginal probability P(B). So, if we want P(CS given Male), we take the joint probability P(CS and Male), which is 0.20, and divide it by the marginal probability P(Male), which is 0.45. This gives us 0.444. This table structure is used constantly in data analysis and statistics because it clearly shows the relationships between two categorical variables. Next, we'll shift gears and look at how we can use Python to automate these calculations.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covered the theory, and now we'll look at the practical side of probability using Python. Python is an essential tool for any serious work in probability and data science. We rely heavily on libraries like the built-in random module, and especially NumPy, which provides fast, efficient ways to handle large sets of data and perform simulations. Scipy.stats is another powerful library that gives us access to various probability distributions. The basic code examples show how simple it is to translate theoretical concepts into code. Calculating the probability of rolling a six is just a simple division. More importantly, we can use Python to simulate random experiments, like flipping a coin a thousand times, and see how the empirical results converge to the theoretical probability of 0.5. This is a direct demonstration of the Law of Large Numbers. NumPy makes this even faster and more scalable. Simulating ten thousand die rolls and counting the number of sixes gives us a very accurate estimate of the true probability of one-sixth. Using Python allows us to move beyond simple textbook problems and start tackling real-world data and complex simulations.</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now moving into practical Python examples for common probability scenarios like dice and coins. The first example shows how to calculate the probability of rolling an even number. We calculate the theoretical probability as 3 out of 6, or 0.5. Then, we use NumPy to simulate 10,000 rolls and count the even outcomes. Notice how close the simulated result is to the theoretical one. The second example is the sum of two dice, specifically the probability of rolling a 7. Theoretically, there are 6 ways to get a 7 out of 36 total outcomes, giving us 1/6. Again, the simulation confirms this. The third example introduces the binomial distribution for coin flips, asking for exactly 3 heads in 5 flips. We use the theoretical binomial formula and then simulate the flips to verify the result. Finally, we tackle a conditional probability problem: P(HH | at least one H). This is a classic problem where the answer is 1/3, not 1/4, because the condition restricts the sample space. The simulation code isolates the trials where the condition is met and then calculates the probability within that restricted set. This shows how simulation can help us understand and verify complex conditional probabilities. Next, we'll apply these simulation techniques to card problems.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problems are excellent for practicing probability because they clearly demonstrate the difference between dependent and independent events. The first example is straightforward: the probability of drawing an Ace is simply 4 out of 52. The second example is crucial because it involves drawing without replacement. When we calculate the probability of drawing two Aces in a row, the probability of the second draw changes because the deck now has 51 cards and only 3 Aces left. This is a dependent event, and we must use the general multiplication rule. The third example uses Monte Carlo simulation to estimate the probability of drawing a Heart. We create a full deck, simulate 10,000 draws, and count the Hearts. The result should be very close to the theoretical 13/52, or 0.25. The key insight here is that for card problems, you must always ask: is it with or without replacement? Without replacement means the events are dependent, and you must use conditional probability for the second draw. The image of the tree diagram reminds us that for sequential problems, we multiply probabilities along the branches to find the probability of a specific sequence of events. Now that we've seen the mechanics, let's review the most common pitfalls in probability.</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we've covered the core concepts, let's look at the common mistakes that trip up even experienced people. The first is confusing P(A|B) with P(B|A). This is the base rate fallacy in disguise, and it's a huge error in fields like medicine and law. Remember, the order matters. P(A|B) is rarely equal to P(B|A). The second mistake is ignoring base rates entirely. We saw this with the medical testing example: a rare disease remains rare, and the prior probability is essential for accurate conclusions. The third and fourth mistakes relate to the two fundamental rules: assuming independence when events are dependent, and adding probabilities when events overlap. If events are dependent, you must use conditional probability. If events are not mutually exclusive, you must subtract the intersection to avoid double-counting. Finally, the Gambler's Fallacy is a psychological trap. Independent events, like coin flips, have no memory. The probability of the next flip is always 50-50, regardless of what happened before. Avoiding these six pitfalls will dramatically improve your accuracy in solving probability problems. So, how do we make sure we avoid them? We use a systematic strategy.</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consistently solve probability problems correctly, you need a systematic approach. Don't jump straight to the formula. Start by reading the problem carefully and defining your sample space and events. This is Step 2, and it's the most critical step. If you define the sample space incorrectly, the rest of your calculation will be wrong. Next, identify the problem type. Are you looking for an "and" probability, an "or" probability, or a conditional probability? This determines which rule you need. Once you choose the appropriate formula, calculate step-by-step, labeling your probabilities clearly. This makes it easy to check your work. Finally, verify and interpret your answer. Does the result make sense in the context of the problem? The tips for success are practical reminders: "and" means multiply, "or" means add, and always check for independence. The common pitfalls listed here are the same ones we just discussed, serving as a final checklist before you commit to an answer. By following this six-step strategy, you can break down any complex probability problem into manageable pieces and significantly reduce your chance of error. Now, let's put this strategy into practice with some exercises.</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we've covered all the core concepts, let's put them to the test with a few practice problems. This first problem is a great comprehensive review because it requires you to use three different rules. We're drawing two cards with replacement, which is the critical phrase here. With replacement means the two draws are independent events. The first question asks for the probability that both cards are Hearts. Since the events are independent, we can use the simple multiplication rule: P(Heart) times P(Heart). That's 13 out of 52, or one-fourth, multiplied by itself, giving us 1/16. For part B, we're looking for a King first and a Heart second. Again, we multiply the individual probabilities: 4/52 times 13/52, which simplifies nicely to 1/52. Finally, part C asks for the probability of drawing at least one Ace. Remember our trick for "at least one" problems? We use the complement rule. The complement of "at least one Ace" is "no Aces." So we calculate 1 minus the probability of drawing no Aces on either draw. The probability of not drawing an Ace is 48/52. We multiply that by itself and subtract the result from one, giving us about 14.8%. This problem shows how independence simplifies the multiplication rule and how the complement rule makes "at least one" problems manageable. Let's move on to a problem that requires our most powerful tool: Bayes' theorem.</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problem involves a factory with three machines, each contributing a different proportion of the total output and having a different defect rate. We want to find the overall probability that a randomly selected component is defective. This is a perfect application of the Law of Total Probability because the three machines form a partition of the sample space. Every component must come from exactly one of the three machines. We use the formula: P(Defective) equals the sum of P(Defective given Machine) times P(Machine). We multiply the defect rate of each machine by its production proportion. For M1, that's 2% times 30%, which is 0.006. For M2, it's 3% times 45%, which is 0.0135. And for M3, it's 5% times 25%, which is 0.0125. Summing these three weighted probabilities gives us the final answer of 0.032, or 3.2%. This is essentially a weighted average of the defect rates, weighted by the output proportion of each machine. The Law of Total Probability allows us to combine conditional probabilities into a single marginal probability. Now that we've completed the practice problems, let's look at some resources for continuing your learning journey.</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probability is a marathon, not a sprint, and continued practice is key to mastery. We've compiled a list of excellent resources to help you continue your journey. For books, I highly recommend Think Stats by Allen B. Downey. It's free, it's practical, and it combines probability with Python programming, which is exactly the approach we've taken here. For a more rigorous mathematical treatment, the Blitzstein and Hwang textbook is a classic. If you prefer video lessons, Khan Academy and MIT OpenCourseWare offer fantastic, structured courses. Finally, remember that Python is your best friend for probability. The NumPy and SciPy libraries are essential for numerical calculations and statistical functions, and Matplotlib and Pandas help you visualize and manage your data. Don't just read about probability; use these tools to simulate experiments and verify your theoretical results. Next, we'll wrap up with a final summary and some next steps.</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71500" y="357188"/>
            <a:ext cx="1547626" cy="666155"/>
          </a:xfrm>
          <a:prstGeom prst="rect">
            <a:avLst/>
          </a:prstGeom>
          <a:noFill/>
          <a:ln/>
        </p:spPr>
        <p:txBody>
          <a:bodyPr wrap="none" lIns="0" tIns="0" rIns="0" bIns="0" rtlCol="0" anchor="t">
            <a:spAutoFit/>
          </a:bodyPr>
          <a:lstStyle/>
          <a:p>
            <a:pPr marL="0" indent="0" algn="l">
              <a:lnSpc>
                <a:spcPts val="4300"/>
              </a:lnSpc>
              <a:buNone/>
            </a:pPr>
            <a:r>
              <a:rPr lang="en-US" sz="3504" dirty="0">
                <a:solidFill>
                  <a:srgbClr val="FF6B9D">
                    <a:alpha val="15000"/>
                  </a:srgbClr>
                </a:solidFill>
              </a:rPr>
              <a:t>P(A∩B)</a:t>
            </a:r>
            <a:endParaRPr lang="en-US" sz="3504" dirty="0"/>
          </a:p>
        </p:txBody>
      </p:sp>
      <p:sp>
        <p:nvSpPr>
          <p:cNvPr id="5" name="Text 1"/>
          <p:cNvSpPr/>
          <p:nvPr/>
        </p:nvSpPr>
        <p:spPr>
          <a:xfrm>
            <a:off x="8029575" y="857250"/>
            <a:ext cx="400050" cy="582216"/>
          </a:xfrm>
          <a:prstGeom prst="rect">
            <a:avLst/>
          </a:prstGeom>
          <a:noFill/>
          <a:ln/>
        </p:spPr>
        <p:txBody>
          <a:bodyPr wrap="none" lIns="0" tIns="0" rIns="0" bIns="0" rtlCol="0" anchor="t">
            <a:spAutoFit/>
          </a:bodyPr>
          <a:lstStyle/>
          <a:p>
            <a:pPr marL="0" indent="0" algn="l">
              <a:lnSpc>
                <a:spcPts val="3800"/>
              </a:lnSpc>
              <a:buNone/>
            </a:pPr>
            <a:r>
              <a:rPr lang="en-US" sz="3045" dirty="0">
                <a:solidFill>
                  <a:srgbClr val="FFD93D">
                    <a:alpha val="15000"/>
                  </a:srgbClr>
                </a:solidFill>
              </a:rPr>
              <a:t>∑</a:t>
            </a:r>
            <a:endParaRPr lang="en-US" sz="3045" dirty="0"/>
          </a:p>
        </p:txBody>
      </p:sp>
      <p:sp>
        <p:nvSpPr>
          <p:cNvPr id="6" name="Text 2"/>
          <p:cNvSpPr/>
          <p:nvPr/>
        </p:nvSpPr>
        <p:spPr>
          <a:xfrm>
            <a:off x="857250" y="4066580"/>
            <a:ext cx="1087692" cy="505420"/>
          </a:xfrm>
          <a:prstGeom prst="rect">
            <a:avLst/>
          </a:prstGeom>
          <a:noFill/>
          <a:ln/>
        </p:spPr>
        <p:txBody>
          <a:bodyPr wrap="none" lIns="0" tIns="0" rIns="0" bIns="0" rtlCol="0" anchor="t">
            <a:spAutoFit/>
          </a:bodyPr>
          <a:lstStyle/>
          <a:p>
            <a:pPr marL="0" indent="0" algn="l">
              <a:lnSpc>
                <a:spcPts val="3500"/>
              </a:lnSpc>
              <a:buNone/>
            </a:pPr>
            <a:r>
              <a:rPr lang="en-US" sz="2818" dirty="0">
                <a:solidFill>
                  <a:srgbClr val="00D9FF">
                    <a:alpha val="15000"/>
                  </a:srgbClr>
                </a:solidFill>
              </a:rPr>
              <a:t>P(A|B)</a:t>
            </a:r>
            <a:endParaRPr lang="en-US" sz="2818" dirty="0"/>
          </a:p>
        </p:txBody>
      </p:sp>
      <p:sp>
        <p:nvSpPr>
          <p:cNvPr id="7" name="Text 3"/>
          <p:cNvSpPr/>
          <p:nvPr/>
        </p:nvSpPr>
        <p:spPr>
          <a:xfrm>
            <a:off x="7643785" y="3807619"/>
            <a:ext cx="428653" cy="621506"/>
          </a:xfrm>
          <a:prstGeom prst="rect">
            <a:avLst/>
          </a:prstGeom>
          <a:noFill/>
          <a:ln/>
        </p:spPr>
        <p:txBody>
          <a:bodyPr wrap="none" lIns="0" tIns="0" rIns="0" bIns="0" rtlCol="0" anchor="t">
            <a:spAutoFit/>
          </a:bodyPr>
          <a:lstStyle/>
          <a:p>
            <a:pPr marL="0" indent="0" algn="l">
              <a:lnSpc>
                <a:spcPts val="4100"/>
              </a:lnSpc>
              <a:buNone/>
            </a:pPr>
            <a:r>
              <a:rPr lang="en-US" sz="3274" dirty="0">
                <a:solidFill>
                  <a:srgbClr val="FF6B9D">
                    <a:alpha val="15000"/>
                  </a:srgbClr>
                </a:solidFill>
              </a:rPr>
              <a:t>∪</a:t>
            </a:r>
            <a:endParaRPr lang="en-US" sz="3274" dirty="0"/>
          </a:p>
        </p:txBody>
      </p:sp>
      <p:sp>
        <p:nvSpPr>
          <p:cNvPr id="8" name="Text 4"/>
          <p:cNvSpPr/>
          <p:nvPr/>
        </p:nvSpPr>
        <p:spPr>
          <a:xfrm>
            <a:off x="357188" y="2000250"/>
            <a:ext cx="967280" cy="414338"/>
          </a:xfrm>
          <a:prstGeom prst="rect">
            <a:avLst/>
          </a:prstGeom>
          <a:noFill/>
          <a:ln/>
        </p:spPr>
        <p:txBody>
          <a:bodyPr wrap="none" lIns="0" tIns="0" rIns="0" bIns="0" rtlCol="0" anchor="t">
            <a:spAutoFit/>
          </a:bodyPr>
          <a:lstStyle/>
          <a:p>
            <a:pPr marL="0" indent="0" algn="l">
              <a:lnSpc>
                <a:spcPts val="2700"/>
              </a:lnSpc>
              <a:buNone/>
            </a:pPr>
            <a:r>
              <a:rPr lang="en-US" sz="2145" dirty="0">
                <a:solidFill>
                  <a:srgbClr val="FFFFFF">
                    <a:alpha val="15000"/>
                  </a:srgbClr>
                </a:solidFill>
              </a:rPr>
              <a:t>P(A∪B)</a:t>
            </a:r>
            <a:endParaRPr lang="en-US" sz="2145" dirty="0"/>
          </a:p>
        </p:txBody>
      </p:sp>
      <p:sp>
        <p:nvSpPr>
          <p:cNvPr id="9" name="Text 5"/>
          <p:cNvSpPr/>
          <p:nvPr/>
        </p:nvSpPr>
        <p:spPr>
          <a:xfrm>
            <a:off x="8401022" y="2286000"/>
            <a:ext cx="314353" cy="457200"/>
          </a:xfrm>
          <a:prstGeom prst="rect">
            <a:avLst/>
          </a:prstGeom>
          <a:noFill/>
          <a:ln/>
        </p:spPr>
        <p:txBody>
          <a:bodyPr wrap="none" lIns="0" tIns="0" rIns="0" bIns="0" rtlCol="0" anchor="t">
            <a:spAutoFit/>
          </a:bodyPr>
          <a:lstStyle/>
          <a:p>
            <a:pPr marL="0" indent="0" algn="l">
              <a:lnSpc>
                <a:spcPts val="3000"/>
              </a:lnSpc>
              <a:buNone/>
            </a:pPr>
            <a:r>
              <a:rPr lang="en-US" sz="2368" dirty="0">
                <a:solidFill>
                  <a:srgbClr val="FFFFFF">
                    <a:alpha val="15000"/>
                  </a:srgbClr>
                </a:solidFill>
              </a:rPr>
              <a:t>∩</a:t>
            </a:r>
            <a:endParaRPr lang="en-US" sz="2368" dirty="0"/>
          </a:p>
        </p:txBody>
      </p:sp>
      <p:sp>
        <p:nvSpPr>
          <p:cNvPr id="10" name="Text 6"/>
          <p:cNvSpPr/>
          <p:nvPr/>
        </p:nvSpPr>
        <p:spPr>
          <a:xfrm>
            <a:off x="2595163" y="1200150"/>
            <a:ext cx="3953647" cy="816173"/>
          </a:xfrm>
          <a:prstGeom prst="rect">
            <a:avLst/>
          </a:prstGeom>
          <a:noFill/>
          <a:ln/>
        </p:spPr>
        <p:txBody>
          <a:bodyPr wrap="none" lIns="0" tIns="0" rIns="0" bIns="0" rtlCol="0" anchor="t">
            <a:spAutoFit/>
          </a:bodyPr>
          <a:lstStyle/>
          <a:p>
            <a:pPr marL="0" indent="0" algn="ctr">
              <a:lnSpc>
                <a:spcPts val="5700"/>
              </a:lnSpc>
              <a:buNone/>
            </a:pPr>
            <a:r>
              <a:rPr lang="en-US" sz="4353" b="1" kern="0" spc="2" dirty="0">
                <a:solidFill>
                  <a:srgbClr val="00D9FF"/>
                </a:solidFill>
              </a:rPr>
              <a:t>Probability</a:t>
            </a:r>
            <a:endParaRPr lang="en-US" sz="4353" dirty="0"/>
          </a:p>
        </p:txBody>
      </p:sp>
      <p:sp>
        <p:nvSpPr>
          <p:cNvPr id="11" name="Text 7"/>
          <p:cNvSpPr/>
          <p:nvPr/>
        </p:nvSpPr>
        <p:spPr>
          <a:xfrm>
            <a:off x="2595163" y="2230636"/>
            <a:ext cx="3953647" cy="350044"/>
          </a:xfrm>
          <a:prstGeom prst="rect">
            <a:avLst/>
          </a:prstGeom>
          <a:noFill/>
          <a:ln/>
        </p:spPr>
        <p:txBody>
          <a:bodyPr wrap="none" lIns="0" tIns="0" rIns="0" bIns="0" rtlCol="0" anchor="t">
            <a:spAutoFit/>
          </a:bodyPr>
          <a:lstStyle/>
          <a:p>
            <a:pPr marL="0" indent="0" algn="ctr">
              <a:lnSpc>
                <a:spcPts val="2400"/>
              </a:lnSpc>
              <a:buNone/>
            </a:pPr>
            <a:r>
              <a:rPr lang="en-US" sz="1924" kern="0" spc="1" dirty="0">
                <a:solidFill>
                  <a:srgbClr val="FFFFFF"/>
                </a:solidFill>
              </a:rPr>
              <a:t>From Zero to Hero</a:t>
            </a:r>
            <a:endParaRPr lang="en-US" sz="1924" dirty="0"/>
          </a:p>
        </p:txBody>
      </p:sp>
      <p:sp>
        <p:nvSpPr>
          <p:cNvPr id="12" name="Text 8"/>
          <p:cNvSpPr/>
          <p:nvPr/>
        </p:nvSpPr>
        <p:spPr>
          <a:xfrm>
            <a:off x="2595163" y="2723555"/>
            <a:ext cx="3953647" cy="233958"/>
          </a:xfrm>
          <a:prstGeom prst="rect">
            <a:avLst/>
          </a:prstGeom>
          <a:noFill/>
          <a:ln/>
        </p:spPr>
        <p:txBody>
          <a:bodyPr wrap="none" lIns="0" tIns="0" rIns="0" bIns="0" rtlCol="0" anchor="t">
            <a:spAutoFit/>
          </a:bodyPr>
          <a:lstStyle/>
          <a:p>
            <a:pPr marL="0" indent="0" algn="ctr">
              <a:lnSpc>
                <a:spcPts val="1600"/>
              </a:lnSpc>
              <a:buNone/>
            </a:pPr>
            <a:r>
              <a:rPr lang="en-US" sz="1269" i="1" dirty="0">
                <a:solidFill>
                  <a:srgbClr val="FFD93D"/>
                </a:solidFill>
              </a:rPr>
              <a:t>A Comprehensive Journey Through Probability Theory</a:t>
            </a:r>
            <a:endParaRPr lang="en-US" sz="1269" dirty="0"/>
          </a:p>
        </p:txBody>
      </p:sp>
      <p:pic>
        <p:nvPicPr>
          <p:cNvPr id="13" name="Image 1" descr="preencoded.png"/>
          <p:cNvPicPr>
            <a:picLocks noChangeAspect="1"/>
          </p:cNvPicPr>
          <p:nvPr/>
        </p:nvPicPr>
        <p:blipFill>
          <a:blip r:embed="rId4"/>
          <a:stretch>
            <a:fillRect/>
          </a:stretch>
        </p:blipFill>
        <p:spPr>
          <a:xfrm rot="480000">
            <a:off x="2610168" y="3127605"/>
            <a:ext cx="639863" cy="50979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0" y="357188"/>
            <a:ext cx="9144000" cy="466130"/>
          </a:xfrm>
          <a:prstGeom prst="rect">
            <a:avLst/>
          </a:prstGeom>
          <a:noFill/>
          <a:ln/>
        </p:spPr>
        <p:txBody>
          <a:bodyPr wrap="none" lIns="0" tIns="0" rIns="0" bIns="0" rtlCol="0" anchor="t">
            <a:spAutoFit/>
          </a:bodyPr>
          <a:lstStyle/>
          <a:p>
            <a:pPr marL="0" indent="0" algn="ctr">
              <a:lnSpc>
                <a:spcPts val="3200"/>
              </a:lnSpc>
              <a:buNone/>
            </a:pPr>
            <a:r>
              <a:rPr lang="en-US" sz="2436" b="1" dirty="0">
                <a:solidFill>
                  <a:srgbClr val="00D9FF"/>
                </a:solidFill>
              </a:rPr>
              <a:t>Course Agenda</a:t>
            </a:r>
            <a:endParaRPr lang="en-US" sz="2436" dirty="0"/>
          </a:p>
        </p:txBody>
      </p:sp>
      <p:sp>
        <p:nvSpPr>
          <p:cNvPr id="5" name="Text 1"/>
          <p:cNvSpPr/>
          <p:nvPr/>
        </p:nvSpPr>
        <p:spPr>
          <a:xfrm>
            <a:off x="0" y="930473"/>
            <a:ext cx="9144000" cy="194667"/>
          </a:xfrm>
          <a:prstGeom prst="rect">
            <a:avLst/>
          </a:prstGeom>
          <a:noFill/>
          <a:ln/>
        </p:spPr>
        <p:txBody>
          <a:bodyPr wrap="none" lIns="0" tIns="0" rIns="0" bIns="0" rtlCol="0" anchor="t">
            <a:spAutoFit/>
          </a:bodyPr>
          <a:lstStyle/>
          <a:p>
            <a:pPr marL="0" indent="0" algn="ctr">
              <a:lnSpc>
                <a:spcPts val="1400"/>
              </a:lnSpc>
              <a:buNone/>
            </a:pPr>
            <a:r>
              <a:rPr lang="en-US" sz="1050" dirty="0">
                <a:solidFill>
                  <a:srgbClr val="FFD93D"/>
                </a:solidFill>
              </a:rPr>
              <a:t>Comprehensive Coverage from Fundamentals to Applications</a:t>
            </a:r>
            <a:endParaRPr lang="en-US" sz="1050" dirty="0"/>
          </a:p>
        </p:txBody>
      </p:sp>
      <p:sp>
        <p:nvSpPr>
          <p:cNvPr id="6" name="Text 2"/>
          <p:cNvSpPr/>
          <p:nvPr/>
        </p:nvSpPr>
        <p:spPr>
          <a:xfrm>
            <a:off x="571500" y="1410891"/>
            <a:ext cx="2381241" cy="273248"/>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FF6B9D"/>
                </a:solidFill>
              </a:rPr>
              <a:t>01</a:t>
            </a:r>
            <a:endParaRPr lang="en-US" sz="1397" dirty="0"/>
          </a:p>
        </p:txBody>
      </p:sp>
      <p:sp>
        <p:nvSpPr>
          <p:cNvPr id="7" name="Text 3"/>
          <p:cNvSpPr/>
          <p:nvPr/>
        </p:nvSpPr>
        <p:spPr>
          <a:xfrm>
            <a:off x="571500" y="1741289"/>
            <a:ext cx="2381241" cy="214313"/>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00D9FF"/>
                </a:solidFill>
              </a:rPr>
              <a:t>Probability Fundamentals</a:t>
            </a:r>
            <a:endParaRPr lang="en-US" sz="1090" dirty="0"/>
          </a:p>
        </p:txBody>
      </p:sp>
      <p:sp>
        <p:nvSpPr>
          <p:cNvPr id="8" name="Text 4"/>
          <p:cNvSpPr/>
          <p:nvPr/>
        </p:nvSpPr>
        <p:spPr>
          <a:xfrm>
            <a:off x="714375" y="2027039"/>
            <a:ext cx="2238366" cy="205718"/>
          </a:xfrm>
          <a:prstGeom prst="rect">
            <a:avLst/>
          </a:prstGeom>
          <a:noFill/>
          <a:ln/>
        </p:spPr>
        <p:txBody>
          <a:bodyPr wrap="none" lIns="0" tIns="0" rIns="0" bIns="0" rtlCol="0" anchor="t">
            <a:spAutoFit/>
          </a:bodyPr>
          <a:lstStyle/>
          <a:p>
            <a:pPr marL="0" indent="0" algn="l">
              <a:lnSpc>
                <a:spcPts val="1600"/>
              </a:lnSpc>
              <a:buNone/>
            </a:pPr>
            <a:r>
              <a:rPr lang="en-US" sz="834" dirty="0">
                <a:solidFill>
                  <a:srgbClr val="FFFFFF"/>
                </a:solidFill>
              </a:rPr>
              <a:t>Random experiments and outcomes</a:t>
            </a:r>
            <a:endParaRPr lang="en-US" sz="834" dirty="0"/>
          </a:p>
        </p:txBody>
      </p:sp>
      <p:sp>
        <p:nvSpPr>
          <p:cNvPr id="9" name="Text 5"/>
          <p:cNvSpPr/>
          <p:nvPr/>
        </p:nvSpPr>
        <p:spPr>
          <a:xfrm>
            <a:off x="714375" y="2275619"/>
            <a:ext cx="2238366" cy="205718"/>
          </a:xfrm>
          <a:prstGeom prst="rect">
            <a:avLst/>
          </a:prstGeom>
          <a:noFill/>
          <a:ln/>
        </p:spPr>
        <p:txBody>
          <a:bodyPr wrap="none" lIns="0" tIns="0" rIns="0" bIns="0" rtlCol="0" anchor="t">
            <a:spAutoFit/>
          </a:bodyPr>
          <a:lstStyle/>
          <a:p>
            <a:pPr marL="0" indent="0" algn="l">
              <a:lnSpc>
                <a:spcPts val="1600"/>
              </a:lnSpc>
              <a:buNone/>
            </a:pPr>
            <a:r>
              <a:rPr lang="en-US" sz="834" dirty="0">
                <a:solidFill>
                  <a:srgbClr val="FFFFFF"/>
                </a:solidFill>
              </a:rPr>
              <a:t>Sample space and events</a:t>
            </a:r>
            <a:endParaRPr lang="en-US" sz="834" dirty="0"/>
          </a:p>
        </p:txBody>
      </p:sp>
      <p:sp>
        <p:nvSpPr>
          <p:cNvPr id="10" name="Text 6"/>
          <p:cNvSpPr/>
          <p:nvPr/>
        </p:nvSpPr>
        <p:spPr>
          <a:xfrm>
            <a:off x="714375" y="2524199"/>
            <a:ext cx="2238366" cy="205718"/>
          </a:xfrm>
          <a:prstGeom prst="rect">
            <a:avLst/>
          </a:prstGeom>
          <a:noFill/>
          <a:ln/>
        </p:spPr>
        <p:txBody>
          <a:bodyPr wrap="none" lIns="0" tIns="0" rIns="0" bIns="0" rtlCol="0" anchor="t">
            <a:spAutoFit/>
          </a:bodyPr>
          <a:lstStyle/>
          <a:p>
            <a:pPr marL="0" indent="0" algn="l">
              <a:lnSpc>
                <a:spcPts val="1600"/>
              </a:lnSpc>
              <a:buNone/>
            </a:pPr>
            <a:r>
              <a:rPr lang="en-US" sz="834" dirty="0">
                <a:solidFill>
                  <a:srgbClr val="FFFFFF"/>
                </a:solidFill>
              </a:rPr>
              <a:t>Axioms of probability</a:t>
            </a:r>
            <a:endParaRPr lang="en-US" sz="834" dirty="0"/>
          </a:p>
        </p:txBody>
      </p:sp>
      <p:sp>
        <p:nvSpPr>
          <p:cNvPr id="11" name="Text 7"/>
          <p:cNvSpPr/>
          <p:nvPr/>
        </p:nvSpPr>
        <p:spPr>
          <a:xfrm>
            <a:off x="714375" y="2772780"/>
            <a:ext cx="2238366" cy="205718"/>
          </a:xfrm>
          <a:prstGeom prst="rect">
            <a:avLst/>
          </a:prstGeom>
          <a:noFill/>
          <a:ln/>
        </p:spPr>
        <p:txBody>
          <a:bodyPr wrap="none" lIns="0" tIns="0" rIns="0" bIns="0" rtlCol="0" anchor="t">
            <a:spAutoFit/>
          </a:bodyPr>
          <a:lstStyle/>
          <a:p>
            <a:pPr marL="0" indent="0" algn="l">
              <a:lnSpc>
                <a:spcPts val="1600"/>
              </a:lnSpc>
              <a:buNone/>
            </a:pPr>
            <a:r>
              <a:rPr lang="en-US" sz="834" dirty="0">
                <a:solidFill>
                  <a:srgbClr val="FFFFFF"/>
                </a:solidFill>
              </a:rPr>
              <a:t>Calculating probabilities</a:t>
            </a:r>
            <a:endParaRPr lang="en-US" sz="834" dirty="0"/>
          </a:p>
        </p:txBody>
      </p:sp>
      <p:sp>
        <p:nvSpPr>
          <p:cNvPr id="12" name="Text 8"/>
          <p:cNvSpPr/>
          <p:nvPr/>
        </p:nvSpPr>
        <p:spPr>
          <a:xfrm>
            <a:off x="571500" y="3228529"/>
            <a:ext cx="2381241" cy="273248"/>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FF6B9D"/>
                </a:solidFill>
              </a:rPr>
              <a:t>02</a:t>
            </a:r>
            <a:endParaRPr lang="en-US" sz="1397" dirty="0"/>
          </a:p>
        </p:txBody>
      </p:sp>
      <p:sp>
        <p:nvSpPr>
          <p:cNvPr id="13" name="Text 9"/>
          <p:cNvSpPr/>
          <p:nvPr/>
        </p:nvSpPr>
        <p:spPr>
          <a:xfrm>
            <a:off x="571500" y="3558927"/>
            <a:ext cx="2381241" cy="214313"/>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00D9FF"/>
                </a:solidFill>
              </a:rPr>
              <a:t>Types of Events</a:t>
            </a:r>
            <a:endParaRPr lang="en-US" sz="1090" dirty="0"/>
          </a:p>
        </p:txBody>
      </p:sp>
      <p:sp>
        <p:nvSpPr>
          <p:cNvPr id="14" name="Text 10"/>
          <p:cNvSpPr/>
          <p:nvPr/>
        </p:nvSpPr>
        <p:spPr>
          <a:xfrm>
            <a:off x="714375" y="3869680"/>
            <a:ext cx="1031351" cy="155377"/>
          </a:xfrm>
          <a:prstGeom prst="rect">
            <a:avLst/>
          </a:prstGeom>
          <a:noFill/>
          <a:ln/>
        </p:spPr>
        <p:txBody>
          <a:bodyPr wrap="none" lIns="0" tIns="0" rIns="0" bIns="0" rtlCol="0" anchor="t">
            <a:spAutoFit/>
          </a:bodyPr>
          <a:lstStyle/>
          <a:p>
            <a:pPr marL="0" indent="0" algn="l">
              <a:lnSpc>
                <a:spcPts val="1600"/>
              </a:lnSpc>
              <a:buNone/>
            </a:pPr>
            <a:r>
              <a:rPr lang="en-US" sz="784" b="1" dirty="0">
                <a:solidFill>
                  <a:srgbClr val="FFD93D"/>
                </a:solidFill>
              </a:rPr>
              <a:t>Mutually exclusive</a:t>
            </a:r>
            <a:endParaRPr lang="en-US" sz="784" dirty="0"/>
          </a:p>
        </p:txBody>
      </p:sp>
      <p:sp>
        <p:nvSpPr>
          <p:cNvPr id="15" name="Text 11"/>
          <p:cNvSpPr/>
          <p:nvPr/>
        </p:nvSpPr>
        <p:spPr>
          <a:xfrm>
            <a:off x="1745726" y="3869680"/>
            <a:ext cx="381102" cy="155377"/>
          </a:xfrm>
          <a:prstGeom prst="rect">
            <a:avLst/>
          </a:prstGeom>
          <a:noFill/>
          <a:ln/>
        </p:spPr>
        <p:txBody>
          <a:bodyPr wrap="none" lIns="0" tIns="0" rIns="0" bIns="0" rtlCol="0" anchor="t">
            <a:spAutoFit/>
          </a:bodyPr>
          <a:lstStyle/>
          <a:p>
            <a:pPr marL="0" indent="0" algn="l">
              <a:lnSpc>
                <a:spcPts val="1600"/>
              </a:lnSpc>
              <a:buNone/>
            </a:pPr>
            <a:r>
              <a:rPr lang="en-US" sz="834" dirty="0">
                <a:solidFill>
                  <a:srgbClr val="FFFFFF"/>
                </a:solidFill>
              </a:rPr>
              <a:t>events</a:t>
            </a:r>
            <a:endParaRPr lang="en-US" sz="834" dirty="0"/>
          </a:p>
        </p:txBody>
      </p:sp>
      <p:sp>
        <p:nvSpPr>
          <p:cNvPr id="16" name="Text 12"/>
          <p:cNvSpPr/>
          <p:nvPr/>
        </p:nvSpPr>
        <p:spPr>
          <a:xfrm>
            <a:off x="714375" y="4118260"/>
            <a:ext cx="605796" cy="155377"/>
          </a:xfrm>
          <a:prstGeom prst="rect">
            <a:avLst/>
          </a:prstGeom>
          <a:noFill/>
          <a:ln/>
        </p:spPr>
        <p:txBody>
          <a:bodyPr wrap="none" lIns="0" tIns="0" rIns="0" bIns="0" rtlCol="0" anchor="t">
            <a:spAutoFit/>
          </a:bodyPr>
          <a:lstStyle/>
          <a:p>
            <a:pPr marL="0" indent="0" algn="l">
              <a:lnSpc>
                <a:spcPts val="1600"/>
              </a:lnSpc>
              <a:buNone/>
            </a:pPr>
            <a:r>
              <a:rPr lang="en-US" sz="784" b="1" dirty="0">
                <a:solidFill>
                  <a:srgbClr val="FFD93D"/>
                </a:solidFill>
              </a:rPr>
              <a:t>Exhaustive</a:t>
            </a:r>
            <a:endParaRPr lang="en-US" sz="784" dirty="0"/>
          </a:p>
        </p:txBody>
      </p:sp>
      <p:sp>
        <p:nvSpPr>
          <p:cNvPr id="17" name="Text 13"/>
          <p:cNvSpPr/>
          <p:nvPr/>
        </p:nvSpPr>
        <p:spPr>
          <a:xfrm>
            <a:off x="1320171" y="4118260"/>
            <a:ext cx="381102" cy="155377"/>
          </a:xfrm>
          <a:prstGeom prst="rect">
            <a:avLst/>
          </a:prstGeom>
          <a:noFill/>
          <a:ln/>
        </p:spPr>
        <p:txBody>
          <a:bodyPr wrap="none" lIns="0" tIns="0" rIns="0" bIns="0" rtlCol="0" anchor="t">
            <a:spAutoFit/>
          </a:bodyPr>
          <a:lstStyle/>
          <a:p>
            <a:pPr marL="0" indent="0" algn="l">
              <a:lnSpc>
                <a:spcPts val="1600"/>
              </a:lnSpc>
              <a:buNone/>
            </a:pPr>
            <a:r>
              <a:rPr lang="en-US" sz="834" dirty="0">
                <a:solidFill>
                  <a:srgbClr val="FFFFFF"/>
                </a:solidFill>
              </a:rPr>
              <a:t>events</a:t>
            </a:r>
            <a:endParaRPr lang="en-US" sz="834" dirty="0"/>
          </a:p>
        </p:txBody>
      </p:sp>
      <p:sp>
        <p:nvSpPr>
          <p:cNvPr id="18" name="Text 14"/>
          <p:cNvSpPr/>
          <p:nvPr/>
        </p:nvSpPr>
        <p:spPr>
          <a:xfrm>
            <a:off x="714375" y="4366840"/>
            <a:ext cx="722719" cy="155377"/>
          </a:xfrm>
          <a:prstGeom prst="rect">
            <a:avLst/>
          </a:prstGeom>
          <a:noFill/>
          <a:ln/>
        </p:spPr>
        <p:txBody>
          <a:bodyPr wrap="none" lIns="0" tIns="0" rIns="0" bIns="0" rtlCol="0" anchor="t">
            <a:spAutoFit/>
          </a:bodyPr>
          <a:lstStyle/>
          <a:p>
            <a:pPr marL="0" indent="0" algn="l">
              <a:lnSpc>
                <a:spcPts val="1600"/>
              </a:lnSpc>
              <a:buNone/>
            </a:pPr>
            <a:r>
              <a:rPr lang="en-US" sz="784" b="1" dirty="0">
                <a:solidFill>
                  <a:srgbClr val="FFD93D"/>
                </a:solidFill>
              </a:rPr>
              <a:t>Independent</a:t>
            </a:r>
            <a:endParaRPr lang="en-US" sz="784" dirty="0"/>
          </a:p>
        </p:txBody>
      </p:sp>
      <p:sp>
        <p:nvSpPr>
          <p:cNvPr id="19" name="Text 15"/>
          <p:cNvSpPr/>
          <p:nvPr/>
        </p:nvSpPr>
        <p:spPr>
          <a:xfrm>
            <a:off x="1437094" y="4366840"/>
            <a:ext cx="381102" cy="155377"/>
          </a:xfrm>
          <a:prstGeom prst="rect">
            <a:avLst/>
          </a:prstGeom>
          <a:noFill/>
          <a:ln/>
        </p:spPr>
        <p:txBody>
          <a:bodyPr wrap="none" lIns="0" tIns="0" rIns="0" bIns="0" rtlCol="0" anchor="t">
            <a:spAutoFit/>
          </a:bodyPr>
          <a:lstStyle/>
          <a:p>
            <a:pPr marL="0" indent="0" algn="l">
              <a:lnSpc>
                <a:spcPts val="1600"/>
              </a:lnSpc>
              <a:buNone/>
            </a:pPr>
            <a:r>
              <a:rPr lang="en-US" sz="834" dirty="0">
                <a:solidFill>
                  <a:srgbClr val="FFFFFF"/>
                </a:solidFill>
              </a:rPr>
              <a:t>events</a:t>
            </a:r>
            <a:endParaRPr lang="en-US" sz="834" dirty="0"/>
          </a:p>
        </p:txBody>
      </p:sp>
      <p:sp>
        <p:nvSpPr>
          <p:cNvPr id="20" name="Text 16"/>
          <p:cNvSpPr/>
          <p:nvPr/>
        </p:nvSpPr>
        <p:spPr>
          <a:xfrm>
            <a:off x="714375" y="4590417"/>
            <a:ext cx="2238366" cy="205718"/>
          </a:xfrm>
          <a:prstGeom prst="rect">
            <a:avLst/>
          </a:prstGeom>
          <a:noFill/>
          <a:ln/>
        </p:spPr>
        <p:txBody>
          <a:bodyPr wrap="none" lIns="0" tIns="0" rIns="0" bIns="0" rtlCol="0" anchor="t">
            <a:spAutoFit/>
          </a:bodyPr>
          <a:lstStyle/>
          <a:p>
            <a:pPr marL="0" indent="0" algn="l">
              <a:lnSpc>
                <a:spcPts val="1600"/>
              </a:lnSpc>
              <a:buNone/>
            </a:pPr>
            <a:r>
              <a:rPr lang="en-US" sz="834" dirty="0">
                <a:solidFill>
                  <a:srgbClr val="FFFFFF"/>
                </a:solidFill>
              </a:rPr>
              <a:t>Pairwise vs. mutual independence</a:t>
            </a:r>
            <a:endParaRPr lang="en-US" sz="834" dirty="0"/>
          </a:p>
        </p:txBody>
      </p:sp>
      <p:sp>
        <p:nvSpPr>
          <p:cNvPr id="21" name="Text 17"/>
          <p:cNvSpPr/>
          <p:nvPr/>
        </p:nvSpPr>
        <p:spPr>
          <a:xfrm>
            <a:off x="3381366" y="1410891"/>
            <a:ext cx="2381241" cy="273248"/>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FF6B9D"/>
                </a:solidFill>
              </a:rPr>
              <a:t>03</a:t>
            </a:r>
            <a:endParaRPr lang="en-US" sz="1397" dirty="0"/>
          </a:p>
        </p:txBody>
      </p:sp>
      <p:sp>
        <p:nvSpPr>
          <p:cNvPr id="22" name="Text 18"/>
          <p:cNvSpPr/>
          <p:nvPr/>
        </p:nvSpPr>
        <p:spPr>
          <a:xfrm>
            <a:off x="3381366" y="1741289"/>
            <a:ext cx="2381241" cy="214313"/>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00D9FF"/>
                </a:solidFill>
              </a:rPr>
              <a:t>Probability Rules</a:t>
            </a:r>
            <a:endParaRPr lang="en-US" sz="1090" dirty="0"/>
          </a:p>
        </p:txBody>
      </p:sp>
      <p:sp>
        <p:nvSpPr>
          <p:cNvPr id="23" name="Text 19"/>
          <p:cNvSpPr/>
          <p:nvPr/>
        </p:nvSpPr>
        <p:spPr>
          <a:xfrm>
            <a:off x="3524241" y="2027039"/>
            <a:ext cx="2238366" cy="205718"/>
          </a:xfrm>
          <a:prstGeom prst="rect">
            <a:avLst/>
          </a:prstGeom>
          <a:noFill/>
          <a:ln/>
        </p:spPr>
        <p:txBody>
          <a:bodyPr wrap="none" lIns="0" tIns="0" rIns="0" bIns="0" rtlCol="0" anchor="t">
            <a:spAutoFit/>
          </a:bodyPr>
          <a:lstStyle/>
          <a:p>
            <a:pPr marL="0" indent="0" algn="l">
              <a:lnSpc>
                <a:spcPts val="1600"/>
              </a:lnSpc>
              <a:buNone/>
            </a:pPr>
            <a:r>
              <a:rPr lang="en-US" sz="834" dirty="0">
                <a:solidFill>
                  <a:srgbClr val="FFFFFF"/>
                </a:solidFill>
              </a:rPr>
              <a:t>Addition rule (general &amp; special)</a:t>
            </a:r>
            <a:endParaRPr lang="en-US" sz="834" dirty="0"/>
          </a:p>
        </p:txBody>
      </p:sp>
      <p:sp>
        <p:nvSpPr>
          <p:cNvPr id="24" name="Text 20"/>
          <p:cNvSpPr/>
          <p:nvPr/>
        </p:nvSpPr>
        <p:spPr>
          <a:xfrm>
            <a:off x="3524241" y="2275619"/>
            <a:ext cx="2238366" cy="205718"/>
          </a:xfrm>
          <a:prstGeom prst="rect">
            <a:avLst/>
          </a:prstGeom>
          <a:noFill/>
          <a:ln/>
        </p:spPr>
        <p:txBody>
          <a:bodyPr wrap="none" lIns="0" tIns="0" rIns="0" bIns="0" rtlCol="0" anchor="t">
            <a:spAutoFit/>
          </a:bodyPr>
          <a:lstStyle/>
          <a:p>
            <a:pPr marL="0" indent="0" algn="l">
              <a:lnSpc>
                <a:spcPts val="1600"/>
              </a:lnSpc>
              <a:buNone/>
            </a:pPr>
            <a:r>
              <a:rPr lang="en-US" sz="834" dirty="0">
                <a:solidFill>
                  <a:srgbClr val="FFFFFF"/>
                </a:solidFill>
              </a:rPr>
              <a:t>Multiplication rule</a:t>
            </a:r>
            <a:endParaRPr lang="en-US" sz="834" dirty="0"/>
          </a:p>
        </p:txBody>
      </p:sp>
      <p:sp>
        <p:nvSpPr>
          <p:cNvPr id="25" name="Text 21"/>
          <p:cNvSpPr/>
          <p:nvPr/>
        </p:nvSpPr>
        <p:spPr>
          <a:xfrm>
            <a:off x="3524241" y="2524199"/>
            <a:ext cx="2238366" cy="205718"/>
          </a:xfrm>
          <a:prstGeom prst="rect">
            <a:avLst/>
          </a:prstGeom>
          <a:noFill/>
          <a:ln/>
        </p:spPr>
        <p:txBody>
          <a:bodyPr wrap="none" lIns="0" tIns="0" rIns="0" bIns="0" rtlCol="0" anchor="t">
            <a:spAutoFit/>
          </a:bodyPr>
          <a:lstStyle/>
          <a:p>
            <a:pPr marL="0" indent="0" algn="l">
              <a:lnSpc>
                <a:spcPts val="1600"/>
              </a:lnSpc>
              <a:buNone/>
            </a:pPr>
            <a:r>
              <a:rPr lang="en-US" sz="834" dirty="0">
                <a:solidFill>
                  <a:srgbClr val="FFFFFF"/>
                </a:solidFill>
              </a:rPr>
              <a:t>Complement rule</a:t>
            </a:r>
            <a:endParaRPr lang="en-US" sz="834" dirty="0"/>
          </a:p>
        </p:txBody>
      </p:sp>
      <p:sp>
        <p:nvSpPr>
          <p:cNvPr id="26" name="Text 22"/>
          <p:cNvSpPr/>
          <p:nvPr/>
        </p:nvSpPr>
        <p:spPr>
          <a:xfrm>
            <a:off x="3524241" y="2772780"/>
            <a:ext cx="2238366" cy="205718"/>
          </a:xfrm>
          <a:prstGeom prst="rect">
            <a:avLst/>
          </a:prstGeom>
          <a:noFill/>
          <a:ln/>
        </p:spPr>
        <p:txBody>
          <a:bodyPr wrap="none" lIns="0" tIns="0" rIns="0" bIns="0" rtlCol="0" anchor="t">
            <a:spAutoFit/>
          </a:bodyPr>
          <a:lstStyle/>
          <a:p>
            <a:pPr marL="0" indent="0" algn="l">
              <a:lnSpc>
                <a:spcPts val="1600"/>
              </a:lnSpc>
              <a:buNone/>
            </a:pPr>
            <a:r>
              <a:rPr lang="en-US" sz="834" dirty="0">
                <a:solidFill>
                  <a:srgbClr val="FFFFFF"/>
                </a:solidFill>
              </a:rPr>
              <a:t>Worked examples</a:t>
            </a:r>
            <a:endParaRPr lang="en-US" sz="834" dirty="0"/>
          </a:p>
        </p:txBody>
      </p:sp>
      <p:sp>
        <p:nvSpPr>
          <p:cNvPr id="27" name="Text 23"/>
          <p:cNvSpPr/>
          <p:nvPr/>
        </p:nvSpPr>
        <p:spPr>
          <a:xfrm>
            <a:off x="3381366" y="3228529"/>
            <a:ext cx="2381241" cy="273248"/>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FF6B9D"/>
                </a:solidFill>
              </a:rPr>
              <a:t>04</a:t>
            </a:r>
            <a:endParaRPr lang="en-US" sz="1397" dirty="0"/>
          </a:p>
        </p:txBody>
      </p:sp>
      <p:sp>
        <p:nvSpPr>
          <p:cNvPr id="28" name="Text 24"/>
          <p:cNvSpPr/>
          <p:nvPr/>
        </p:nvSpPr>
        <p:spPr>
          <a:xfrm>
            <a:off x="3381366" y="3558927"/>
            <a:ext cx="2381241" cy="214313"/>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00D9FF"/>
                </a:solidFill>
              </a:rPr>
              <a:t>Conditional Probability</a:t>
            </a:r>
            <a:endParaRPr lang="en-US" sz="1090" dirty="0"/>
          </a:p>
        </p:txBody>
      </p:sp>
      <p:sp>
        <p:nvSpPr>
          <p:cNvPr id="29" name="Text 25"/>
          <p:cNvSpPr/>
          <p:nvPr/>
        </p:nvSpPr>
        <p:spPr>
          <a:xfrm>
            <a:off x="3524241" y="3844677"/>
            <a:ext cx="2238366" cy="205718"/>
          </a:xfrm>
          <a:prstGeom prst="rect">
            <a:avLst/>
          </a:prstGeom>
          <a:noFill/>
          <a:ln/>
        </p:spPr>
        <p:txBody>
          <a:bodyPr wrap="none" lIns="0" tIns="0" rIns="0" bIns="0" rtlCol="0" anchor="t">
            <a:spAutoFit/>
          </a:bodyPr>
          <a:lstStyle/>
          <a:p>
            <a:pPr marL="0" indent="0" algn="l">
              <a:lnSpc>
                <a:spcPts val="1600"/>
              </a:lnSpc>
              <a:buNone/>
            </a:pPr>
            <a:r>
              <a:rPr lang="en-US" sz="834" dirty="0">
                <a:solidFill>
                  <a:srgbClr val="FFFFFF"/>
                </a:solidFill>
              </a:rPr>
              <a:t>Definition and formula</a:t>
            </a:r>
            <a:endParaRPr lang="en-US" sz="834" dirty="0"/>
          </a:p>
        </p:txBody>
      </p:sp>
      <p:sp>
        <p:nvSpPr>
          <p:cNvPr id="30" name="Text 26"/>
          <p:cNvSpPr/>
          <p:nvPr/>
        </p:nvSpPr>
        <p:spPr>
          <a:xfrm>
            <a:off x="3524241" y="4093257"/>
            <a:ext cx="2238366" cy="205718"/>
          </a:xfrm>
          <a:prstGeom prst="rect">
            <a:avLst/>
          </a:prstGeom>
          <a:noFill/>
          <a:ln/>
        </p:spPr>
        <p:txBody>
          <a:bodyPr wrap="none" lIns="0" tIns="0" rIns="0" bIns="0" rtlCol="0" anchor="t">
            <a:spAutoFit/>
          </a:bodyPr>
          <a:lstStyle/>
          <a:p>
            <a:pPr marL="0" indent="0" algn="l">
              <a:lnSpc>
                <a:spcPts val="1600"/>
              </a:lnSpc>
              <a:buNone/>
            </a:pPr>
            <a:r>
              <a:rPr lang="en-US" sz="834" dirty="0">
                <a:solidFill>
                  <a:srgbClr val="FFFFFF"/>
                </a:solidFill>
              </a:rPr>
              <a:t>Tree diagrams</a:t>
            </a:r>
            <a:endParaRPr lang="en-US" sz="834" dirty="0"/>
          </a:p>
        </p:txBody>
      </p:sp>
      <p:sp>
        <p:nvSpPr>
          <p:cNvPr id="31" name="Text 27"/>
          <p:cNvSpPr/>
          <p:nvPr/>
        </p:nvSpPr>
        <p:spPr>
          <a:xfrm>
            <a:off x="3524241" y="4341837"/>
            <a:ext cx="2238366" cy="205718"/>
          </a:xfrm>
          <a:prstGeom prst="rect">
            <a:avLst/>
          </a:prstGeom>
          <a:noFill/>
          <a:ln/>
        </p:spPr>
        <p:txBody>
          <a:bodyPr wrap="none" lIns="0" tIns="0" rIns="0" bIns="0" rtlCol="0" anchor="t">
            <a:spAutoFit/>
          </a:bodyPr>
          <a:lstStyle/>
          <a:p>
            <a:pPr marL="0" indent="0" algn="l">
              <a:lnSpc>
                <a:spcPts val="1600"/>
              </a:lnSpc>
              <a:buNone/>
            </a:pPr>
            <a:r>
              <a:rPr lang="en-US" sz="834" dirty="0">
                <a:solidFill>
                  <a:srgbClr val="FFFFFF"/>
                </a:solidFill>
              </a:rPr>
              <a:t>Law of total probability</a:t>
            </a:r>
            <a:endParaRPr lang="en-US" sz="834" dirty="0"/>
          </a:p>
        </p:txBody>
      </p:sp>
      <p:sp>
        <p:nvSpPr>
          <p:cNvPr id="32" name="Text 28"/>
          <p:cNvSpPr/>
          <p:nvPr/>
        </p:nvSpPr>
        <p:spPr>
          <a:xfrm>
            <a:off x="3524241" y="4590417"/>
            <a:ext cx="2238366" cy="205718"/>
          </a:xfrm>
          <a:prstGeom prst="rect">
            <a:avLst/>
          </a:prstGeom>
          <a:noFill/>
          <a:ln/>
        </p:spPr>
        <p:txBody>
          <a:bodyPr wrap="none" lIns="0" tIns="0" rIns="0" bIns="0" rtlCol="0" anchor="t">
            <a:spAutoFit/>
          </a:bodyPr>
          <a:lstStyle/>
          <a:p>
            <a:pPr marL="0" indent="0" algn="l">
              <a:lnSpc>
                <a:spcPts val="1600"/>
              </a:lnSpc>
              <a:buNone/>
            </a:pPr>
            <a:r>
              <a:rPr lang="en-US" sz="834" dirty="0">
                <a:solidFill>
                  <a:srgbClr val="FFFFFF"/>
                </a:solidFill>
              </a:rPr>
              <a:t>Practical applications</a:t>
            </a:r>
            <a:endParaRPr lang="en-US" sz="834" dirty="0"/>
          </a:p>
        </p:txBody>
      </p:sp>
      <p:sp>
        <p:nvSpPr>
          <p:cNvPr id="33" name="Text 29"/>
          <p:cNvSpPr/>
          <p:nvPr/>
        </p:nvSpPr>
        <p:spPr>
          <a:xfrm>
            <a:off x="6191231" y="1410891"/>
            <a:ext cx="2381269" cy="273248"/>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FF6B9D"/>
                </a:solidFill>
              </a:rPr>
              <a:t>05</a:t>
            </a:r>
            <a:endParaRPr lang="en-US" sz="1397" dirty="0"/>
          </a:p>
        </p:txBody>
      </p:sp>
      <p:sp>
        <p:nvSpPr>
          <p:cNvPr id="34" name="Text 30"/>
          <p:cNvSpPr/>
          <p:nvPr/>
        </p:nvSpPr>
        <p:spPr>
          <a:xfrm>
            <a:off x="6191231" y="1741289"/>
            <a:ext cx="2381269" cy="214313"/>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00D9FF"/>
                </a:solidFill>
              </a:rPr>
              <a:t>Bayes' Theorem</a:t>
            </a:r>
            <a:endParaRPr lang="en-US" sz="1090" dirty="0"/>
          </a:p>
        </p:txBody>
      </p:sp>
      <p:sp>
        <p:nvSpPr>
          <p:cNvPr id="35" name="Text 31"/>
          <p:cNvSpPr/>
          <p:nvPr/>
        </p:nvSpPr>
        <p:spPr>
          <a:xfrm>
            <a:off x="6334106" y="2027039"/>
            <a:ext cx="2238394" cy="205718"/>
          </a:xfrm>
          <a:prstGeom prst="rect">
            <a:avLst/>
          </a:prstGeom>
          <a:noFill/>
          <a:ln/>
        </p:spPr>
        <p:txBody>
          <a:bodyPr wrap="none" lIns="0" tIns="0" rIns="0" bIns="0" rtlCol="0" anchor="t">
            <a:spAutoFit/>
          </a:bodyPr>
          <a:lstStyle/>
          <a:p>
            <a:pPr marL="0" indent="0" algn="l">
              <a:lnSpc>
                <a:spcPts val="1600"/>
              </a:lnSpc>
              <a:buNone/>
            </a:pPr>
            <a:r>
              <a:rPr lang="en-US" sz="834" dirty="0">
                <a:solidFill>
                  <a:srgbClr val="FFFFFF"/>
                </a:solidFill>
              </a:rPr>
              <a:t>Derivation and interpretation</a:t>
            </a:r>
            <a:endParaRPr lang="en-US" sz="834" dirty="0"/>
          </a:p>
        </p:txBody>
      </p:sp>
      <p:sp>
        <p:nvSpPr>
          <p:cNvPr id="36" name="Text 32"/>
          <p:cNvSpPr/>
          <p:nvPr/>
        </p:nvSpPr>
        <p:spPr>
          <a:xfrm>
            <a:off x="6334106" y="2275619"/>
            <a:ext cx="2238394" cy="205718"/>
          </a:xfrm>
          <a:prstGeom prst="rect">
            <a:avLst/>
          </a:prstGeom>
          <a:noFill/>
          <a:ln/>
        </p:spPr>
        <p:txBody>
          <a:bodyPr wrap="none" lIns="0" tIns="0" rIns="0" bIns="0" rtlCol="0" anchor="t">
            <a:spAutoFit/>
          </a:bodyPr>
          <a:lstStyle/>
          <a:p>
            <a:pPr marL="0" indent="0" algn="l">
              <a:lnSpc>
                <a:spcPts val="1600"/>
              </a:lnSpc>
              <a:buNone/>
            </a:pPr>
            <a:r>
              <a:rPr lang="en-US" sz="834" dirty="0">
                <a:solidFill>
                  <a:srgbClr val="FFFFFF"/>
                </a:solidFill>
              </a:rPr>
              <a:t>Prior and posterior probabilities</a:t>
            </a:r>
            <a:endParaRPr lang="en-US" sz="834" dirty="0"/>
          </a:p>
        </p:txBody>
      </p:sp>
      <p:sp>
        <p:nvSpPr>
          <p:cNvPr id="37" name="Text 33"/>
          <p:cNvSpPr/>
          <p:nvPr/>
        </p:nvSpPr>
        <p:spPr>
          <a:xfrm>
            <a:off x="6334106" y="2524199"/>
            <a:ext cx="2238394" cy="205718"/>
          </a:xfrm>
          <a:prstGeom prst="rect">
            <a:avLst/>
          </a:prstGeom>
          <a:noFill/>
          <a:ln/>
        </p:spPr>
        <p:txBody>
          <a:bodyPr wrap="none" lIns="0" tIns="0" rIns="0" bIns="0" rtlCol="0" anchor="t">
            <a:spAutoFit/>
          </a:bodyPr>
          <a:lstStyle/>
          <a:p>
            <a:pPr marL="0" indent="0" algn="l">
              <a:lnSpc>
                <a:spcPts val="1600"/>
              </a:lnSpc>
              <a:buNone/>
            </a:pPr>
            <a:r>
              <a:rPr lang="en-US" sz="834" dirty="0">
                <a:solidFill>
                  <a:srgbClr val="FFFFFF"/>
                </a:solidFill>
              </a:rPr>
              <a:t>Real-world applications</a:t>
            </a:r>
            <a:endParaRPr lang="en-US" sz="834" dirty="0"/>
          </a:p>
        </p:txBody>
      </p:sp>
      <p:sp>
        <p:nvSpPr>
          <p:cNvPr id="38" name="Text 34"/>
          <p:cNvSpPr/>
          <p:nvPr/>
        </p:nvSpPr>
        <p:spPr>
          <a:xfrm>
            <a:off x="6334106" y="2772780"/>
            <a:ext cx="2238394" cy="205718"/>
          </a:xfrm>
          <a:prstGeom prst="rect">
            <a:avLst/>
          </a:prstGeom>
          <a:noFill/>
          <a:ln/>
        </p:spPr>
        <p:txBody>
          <a:bodyPr wrap="none" lIns="0" tIns="0" rIns="0" bIns="0" rtlCol="0" anchor="t">
            <a:spAutoFit/>
          </a:bodyPr>
          <a:lstStyle/>
          <a:p>
            <a:pPr marL="0" indent="0" algn="l">
              <a:lnSpc>
                <a:spcPts val="1600"/>
              </a:lnSpc>
              <a:buNone/>
            </a:pPr>
            <a:r>
              <a:rPr lang="en-US" sz="834" dirty="0">
                <a:solidFill>
                  <a:srgbClr val="FFFFFF"/>
                </a:solidFill>
              </a:rPr>
              <a:t>Medical testing examples</a:t>
            </a:r>
            <a:endParaRPr lang="en-US" sz="834" dirty="0"/>
          </a:p>
        </p:txBody>
      </p:sp>
      <p:sp>
        <p:nvSpPr>
          <p:cNvPr id="39" name="Text 35"/>
          <p:cNvSpPr/>
          <p:nvPr/>
        </p:nvSpPr>
        <p:spPr>
          <a:xfrm>
            <a:off x="6191231" y="3228529"/>
            <a:ext cx="2381269" cy="273248"/>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FF6B9D"/>
                </a:solidFill>
              </a:rPr>
              <a:t>06</a:t>
            </a:r>
            <a:endParaRPr lang="en-US" sz="1397" dirty="0"/>
          </a:p>
        </p:txBody>
      </p:sp>
      <p:sp>
        <p:nvSpPr>
          <p:cNvPr id="40" name="Text 36"/>
          <p:cNvSpPr/>
          <p:nvPr/>
        </p:nvSpPr>
        <p:spPr>
          <a:xfrm>
            <a:off x="6191231" y="3558927"/>
            <a:ext cx="2381269" cy="214313"/>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00D9FF"/>
                </a:solidFill>
              </a:rPr>
              <a:t>Python Applications</a:t>
            </a:r>
            <a:endParaRPr lang="en-US" sz="1090" dirty="0"/>
          </a:p>
        </p:txBody>
      </p:sp>
      <p:sp>
        <p:nvSpPr>
          <p:cNvPr id="41" name="Text 37"/>
          <p:cNvSpPr/>
          <p:nvPr/>
        </p:nvSpPr>
        <p:spPr>
          <a:xfrm>
            <a:off x="6334106" y="3844677"/>
            <a:ext cx="2238394" cy="205718"/>
          </a:xfrm>
          <a:prstGeom prst="rect">
            <a:avLst/>
          </a:prstGeom>
          <a:noFill/>
          <a:ln/>
        </p:spPr>
        <p:txBody>
          <a:bodyPr wrap="none" lIns="0" tIns="0" rIns="0" bIns="0" rtlCol="0" anchor="t">
            <a:spAutoFit/>
          </a:bodyPr>
          <a:lstStyle/>
          <a:p>
            <a:pPr marL="0" indent="0" algn="l">
              <a:lnSpc>
                <a:spcPts val="1600"/>
              </a:lnSpc>
              <a:buNone/>
            </a:pPr>
            <a:r>
              <a:rPr lang="en-US" sz="834" dirty="0">
                <a:solidFill>
                  <a:srgbClr val="FFFFFF"/>
                </a:solidFill>
              </a:rPr>
              <a:t>Monte Carlo simulation</a:t>
            </a:r>
            <a:endParaRPr lang="en-US" sz="834" dirty="0"/>
          </a:p>
        </p:txBody>
      </p:sp>
      <p:sp>
        <p:nvSpPr>
          <p:cNvPr id="42" name="Text 38"/>
          <p:cNvSpPr/>
          <p:nvPr/>
        </p:nvSpPr>
        <p:spPr>
          <a:xfrm>
            <a:off x="6334106" y="4093257"/>
            <a:ext cx="2238394" cy="205718"/>
          </a:xfrm>
          <a:prstGeom prst="rect">
            <a:avLst/>
          </a:prstGeom>
          <a:noFill/>
          <a:ln/>
        </p:spPr>
        <p:txBody>
          <a:bodyPr wrap="none" lIns="0" tIns="0" rIns="0" bIns="0" rtlCol="0" anchor="t">
            <a:spAutoFit/>
          </a:bodyPr>
          <a:lstStyle/>
          <a:p>
            <a:pPr marL="0" indent="0" algn="l">
              <a:lnSpc>
                <a:spcPts val="1600"/>
              </a:lnSpc>
              <a:buNone/>
            </a:pPr>
            <a:r>
              <a:rPr lang="en-US" sz="834" dirty="0">
                <a:solidFill>
                  <a:srgbClr val="FFFFFF"/>
                </a:solidFill>
              </a:rPr>
              <a:t>Probability calculations</a:t>
            </a:r>
            <a:endParaRPr lang="en-US" sz="834" dirty="0"/>
          </a:p>
        </p:txBody>
      </p:sp>
      <p:sp>
        <p:nvSpPr>
          <p:cNvPr id="43" name="Text 39"/>
          <p:cNvSpPr/>
          <p:nvPr/>
        </p:nvSpPr>
        <p:spPr>
          <a:xfrm>
            <a:off x="6334106" y="4341837"/>
            <a:ext cx="2238394" cy="205718"/>
          </a:xfrm>
          <a:prstGeom prst="rect">
            <a:avLst/>
          </a:prstGeom>
          <a:noFill/>
          <a:ln/>
        </p:spPr>
        <p:txBody>
          <a:bodyPr wrap="none" lIns="0" tIns="0" rIns="0" bIns="0" rtlCol="0" anchor="t">
            <a:spAutoFit/>
          </a:bodyPr>
          <a:lstStyle/>
          <a:p>
            <a:pPr marL="0" indent="0" algn="l">
              <a:lnSpc>
                <a:spcPts val="1600"/>
              </a:lnSpc>
              <a:buNone/>
            </a:pPr>
            <a:r>
              <a:rPr lang="en-US" sz="834" dirty="0">
                <a:solidFill>
                  <a:srgbClr val="FFFFFF"/>
                </a:solidFill>
              </a:rPr>
              <a:t>Data analysis with Python</a:t>
            </a:r>
            <a:endParaRPr lang="en-US" sz="834" dirty="0"/>
          </a:p>
        </p:txBody>
      </p:sp>
      <p:sp>
        <p:nvSpPr>
          <p:cNvPr id="44" name="Text 40"/>
          <p:cNvSpPr/>
          <p:nvPr/>
        </p:nvSpPr>
        <p:spPr>
          <a:xfrm>
            <a:off x="6334106" y="4590417"/>
            <a:ext cx="2238394" cy="205718"/>
          </a:xfrm>
          <a:prstGeom prst="rect">
            <a:avLst/>
          </a:prstGeom>
          <a:noFill/>
          <a:ln/>
        </p:spPr>
        <p:txBody>
          <a:bodyPr wrap="none" lIns="0" tIns="0" rIns="0" bIns="0" rtlCol="0" anchor="t">
            <a:spAutoFit/>
          </a:bodyPr>
          <a:lstStyle/>
          <a:p>
            <a:pPr marL="0" indent="0" algn="l">
              <a:lnSpc>
                <a:spcPts val="1600"/>
              </a:lnSpc>
              <a:buNone/>
            </a:pPr>
            <a:r>
              <a:rPr lang="en-US" sz="834" dirty="0">
                <a:solidFill>
                  <a:srgbClr val="FFFFFF"/>
                </a:solidFill>
              </a:rPr>
              <a:t>Practice problems</a:t>
            </a:r>
            <a:endParaRPr lang="en-US" sz="834"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34993"/>
            <a:ext cx="9144000" cy="5213486"/>
          </a:xfrm>
          <a:prstGeom prst="rect">
            <a:avLst/>
          </a:prstGeom>
        </p:spPr>
      </p:pic>
      <p:sp>
        <p:nvSpPr>
          <p:cNvPr id="4" name="Text 0"/>
          <p:cNvSpPr/>
          <p:nvPr/>
        </p:nvSpPr>
        <p:spPr>
          <a:xfrm>
            <a:off x="0" y="357188"/>
            <a:ext cx="9144000" cy="466130"/>
          </a:xfrm>
          <a:prstGeom prst="rect">
            <a:avLst/>
          </a:prstGeom>
          <a:noFill/>
          <a:ln/>
        </p:spPr>
        <p:txBody>
          <a:bodyPr wrap="none" lIns="0" tIns="0" rIns="0" bIns="0" rtlCol="0" anchor="t">
            <a:spAutoFit/>
          </a:bodyPr>
          <a:lstStyle/>
          <a:p>
            <a:pPr marL="0" indent="0" algn="ctr">
              <a:lnSpc>
                <a:spcPts val="3200"/>
              </a:lnSpc>
              <a:buNone/>
            </a:pPr>
            <a:r>
              <a:rPr lang="en-US" sz="2436" b="1" dirty="0">
                <a:solidFill>
                  <a:srgbClr val="00D9FF"/>
                </a:solidFill>
              </a:rPr>
              <a:t>What is Probability?</a:t>
            </a:r>
            <a:endParaRPr lang="en-US" sz="2436" dirty="0"/>
          </a:p>
        </p:txBody>
      </p:sp>
      <p:sp>
        <p:nvSpPr>
          <p:cNvPr id="5" name="Shape 1"/>
          <p:cNvSpPr/>
          <p:nvPr/>
        </p:nvSpPr>
        <p:spPr>
          <a:xfrm>
            <a:off x="500063" y="1109067"/>
            <a:ext cx="4247266" cy="1057275"/>
          </a:xfrm>
          <a:prstGeom prst="rect">
            <a:avLst/>
          </a:prstGeom>
          <a:solidFill>
            <a:srgbClr val="00D9FF">
              <a:alpha val="10000"/>
            </a:srgbClr>
          </a:solidFill>
          <a:ln/>
        </p:spPr>
        <p:txBody>
          <a:bodyPr/>
          <a:lstStyle/>
          <a:p>
            <a:endParaRPr lang="en-US"/>
          </a:p>
        </p:txBody>
      </p:sp>
      <p:sp>
        <p:nvSpPr>
          <p:cNvPr id="6" name="Shape 2"/>
          <p:cNvSpPr/>
          <p:nvPr/>
        </p:nvSpPr>
        <p:spPr>
          <a:xfrm>
            <a:off x="500063" y="1109067"/>
            <a:ext cx="35719" cy="1057275"/>
          </a:xfrm>
          <a:prstGeom prst="rect">
            <a:avLst/>
          </a:prstGeom>
          <a:solidFill>
            <a:srgbClr val="00D9FF"/>
          </a:solidFill>
          <a:ln/>
        </p:spPr>
        <p:txBody>
          <a:bodyPr/>
          <a:lstStyle/>
          <a:p>
            <a:endParaRPr lang="en-US"/>
          </a:p>
        </p:txBody>
      </p:sp>
      <p:sp>
        <p:nvSpPr>
          <p:cNvPr id="7" name="Text 3"/>
          <p:cNvSpPr/>
          <p:nvPr/>
        </p:nvSpPr>
        <p:spPr>
          <a:xfrm>
            <a:off x="642938" y="1251942"/>
            <a:ext cx="3961516" cy="914400"/>
          </a:xfrm>
          <a:prstGeom prst="rect">
            <a:avLst/>
          </a:prstGeom>
          <a:noFill/>
          <a:ln/>
        </p:spPr>
        <p:txBody>
          <a:bodyPr wrap="square" lIns="0" tIns="0" rIns="0" bIns="0" rtlCol="0" anchor="t">
            <a:spAutoFit/>
          </a:bodyPr>
          <a:lstStyle/>
          <a:p>
            <a:pPr marL="0" indent="0" algn="l">
              <a:lnSpc>
                <a:spcPts val="1800"/>
              </a:lnSpc>
              <a:buNone/>
            </a:pPr>
            <a:r>
              <a:rPr lang="en-US" sz="987" b="1" dirty="0">
                <a:solidFill>
                  <a:srgbClr val="FFFFFF"/>
                </a:solidFill>
              </a:rPr>
              <a:t>Probability</a:t>
            </a:r>
            <a:r>
              <a:rPr lang="en-US" sz="1050" dirty="0">
                <a:solidFill>
                  <a:srgbClr val="FFFFFF"/>
                </a:solidFill>
              </a:rPr>
              <a:t> is a numerical measure of the likelihood that a particular event will occur. It quantifies uncertainty and helps us make informed decisions in the face of randomness.</a:t>
            </a:r>
            <a:endParaRPr lang="en-US" sz="987" dirty="0"/>
          </a:p>
        </p:txBody>
      </p:sp>
      <p:sp>
        <p:nvSpPr>
          <p:cNvPr id="8" name="Text 4"/>
          <p:cNvSpPr/>
          <p:nvPr/>
        </p:nvSpPr>
        <p:spPr>
          <a:xfrm>
            <a:off x="500063" y="2380655"/>
            <a:ext cx="4247266"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FFD93D"/>
                </a:solidFill>
              </a:rPr>
              <a:t>Key Characteristics:</a:t>
            </a:r>
            <a:endParaRPr lang="en-US" sz="1193" dirty="0"/>
          </a:p>
        </p:txBody>
      </p:sp>
      <p:sp>
        <p:nvSpPr>
          <p:cNvPr id="9" name="Text 5"/>
          <p:cNvSpPr/>
          <p:nvPr/>
        </p:nvSpPr>
        <p:spPr>
          <a:xfrm>
            <a:off x="500063" y="2660442"/>
            <a:ext cx="1427355" cy="166092"/>
          </a:xfrm>
          <a:prstGeom prst="rect">
            <a:avLst/>
          </a:prstGeom>
          <a:noFill/>
          <a:ln/>
        </p:spPr>
        <p:txBody>
          <a:bodyPr wrap="none" lIns="0" tIns="0" rIns="0" bIns="0" rtlCol="0" anchor="t">
            <a:spAutoFit/>
          </a:bodyPr>
          <a:lstStyle/>
          <a:p>
            <a:pPr marL="0" indent="0" algn="l">
              <a:lnSpc>
                <a:spcPts val="1700"/>
              </a:lnSpc>
              <a:buNone/>
            </a:pPr>
            <a:r>
              <a:rPr lang="en-US" sz="834" b="1" dirty="0">
                <a:solidFill>
                  <a:srgbClr val="FFFFFF"/>
                </a:solidFill>
              </a:rPr>
              <a:t>Quantifies Uncertainty:</a:t>
            </a:r>
            <a:endParaRPr lang="en-US" sz="834" dirty="0"/>
          </a:p>
        </p:txBody>
      </p:sp>
      <p:sp>
        <p:nvSpPr>
          <p:cNvPr id="10" name="Text 6"/>
          <p:cNvSpPr/>
          <p:nvPr/>
        </p:nvSpPr>
        <p:spPr>
          <a:xfrm>
            <a:off x="1590266" y="2665807"/>
            <a:ext cx="4076793" cy="411588"/>
          </a:xfrm>
          <a:prstGeom prst="rect">
            <a:avLst/>
          </a:prstGeom>
          <a:noFill/>
          <a:ln/>
        </p:spPr>
        <p:txBody>
          <a:bodyPr wrap="square" lIns="0" tIns="0" rIns="0" bIns="0" rtlCol="0" anchor="t">
            <a:spAutoFit/>
          </a:bodyPr>
          <a:lstStyle/>
          <a:p>
            <a:pPr marL="0" indent="0" algn="l">
              <a:lnSpc>
                <a:spcPts val="1700"/>
              </a:lnSpc>
              <a:buNone/>
            </a:pPr>
            <a:r>
              <a:rPr lang="en-US" sz="888" dirty="0">
                <a:solidFill>
                  <a:srgbClr val="FFFFFF"/>
                </a:solidFill>
              </a:rPr>
              <a:t>Converts qualitative statements like "likely" or "unlikely" into </a:t>
            </a:r>
          </a:p>
          <a:p>
            <a:pPr marL="0" indent="0" algn="l">
              <a:lnSpc>
                <a:spcPts val="1700"/>
              </a:lnSpc>
              <a:buNone/>
            </a:pPr>
            <a:r>
              <a:rPr lang="en-US" sz="888" dirty="0">
                <a:solidFill>
                  <a:srgbClr val="FFFFFF"/>
                </a:solidFill>
              </a:rPr>
              <a:t>precise numbers</a:t>
            </a:r>
            <a:endParaRPr lang="en-US" sz="888" dirty="0"/>
          </a:p>
        </p:txBody>
      </p:sp>
      <p:sp>
        <p:nvSpPr>
          <p:cNvPr id="11" name="Text 7"/>
          <p:cNvSpPr/>
          <p:nvPr/>
        </p:nvSpPr>
        <p:spPr>
          <a:xfrm>
            <a:off x="492222" y="3193355"/>
            <a:ext cx="1053787" cy="166092"/>
          </a:xfrm>
          <a:prstGeom prst="rect">
            <a:avLst/>
          </a:prstGeom>
          <a:noFill/>
          <a:ln/>
        </p:spPr>
        <p:txBody>
          <a:bodyPr wrap="none" lIns="0" tIns="0" rIns="0" bIns="0" rtlCol="0" anchor="t">
            <a:spAutoFit/>
          </a:bodyPr>
          <a:lstStyle/>
          <a:p>
            <a:pPr marL="0" indent="0" algn="l">
              <a:lnSpc>
                <a:spcPts val="1700"/>
              </a:lnSpc>
              <a:buNone/>
            </a:pPr>
            <a:r>
              <a:rPr lang="en-US" sz="834" b="1" dirty="0">
                <a:solidFill>
                  <a:srgbClr val="FFFFFF"/>
                </a:solidFill>
              </a:rPr>
              <a:t>Predictive Power:</a:t>
            </a:r>
            <a:endParaRPr lang="en-US" sz="834" dirty="0"/>
          </a:p>
        </p:txBody>
      </p:sp>
      <p:sp>
        <p:nvSpPr>
          <p:cNvPr id="12" name="Text 8"/>
          <p:cNvSpPr/>
          <p:nvPr/>
        </p:nvSpPr>
        <p:spPr>
          <a:xfrm>
            <a:off x="1364875" y="3193355"/>
            <a:ext cx="2796248" cy="166092"/>
          </a:xfrm>
          <a:prstGeom prst="rect">
            <a:avLst/>
          </a:prstGeom>
          <a:noFill/>
          <a:ln/>
        </p:spPr>
        <p:txBody>
          <a:bodyPr wrap="none" lIns="0" tIns="0" rIns="0" bIns="0" rtlCol="0" anchor="t">
            <a:spAutoFit/>
          </a:bodyPr>
          <a:lstStyle/>
          <a:p>
            <a:pPr marL="0" indent="0" algn="l">
              <a:lnSpc>
                <a:spcPts val="1700"/>
              </a:lnSpc>
              <a:buNone/>
            </a:pPr>
            <a:r>
              <a:rPr lang="en-US" sz="888" dirty="0">
                <a:solidFill>
                  <a:srgbClr val="FFFFFF"/>
                </a:solidFill>
              </a:rPr>
              <a:t>Helps forecast outcomes of random phenomena</a:t>
            </a:r>
            <a:endParaRPr lang="en-US" sz="888" dirty="0"/>
          </a:p>
        </p:txBody>
      </p:sp>
      <p:sp>
        <p:nvSpPr>
          <p:cNvPr id="13" name="Text 9"/>
          <p:cNvSpPr/>
          <p:nvPr/>
        </p:nvSpPr>
        <p:spPr>
          <a:xfrm>
            <a:off x="509468" y="3486919"/>
            <a:ext cx="1036541" cy="166092"/>
          </a:xfrm>
          <a:prstGeom prst="rect">
            <a:avLst/>
          </a:prstGeom>
          <a:noFill/>
          <a:ln/>
        </p:spPr>
        <p:txBody>
          <a:bodyPr wrap="none" lIns="0" tIns="0" rIns="0" bIns="0" rtlCol="0" anchor="t">
            <a:spAutoFit/>
          </a:bodyPr>
          <a:lstStyle/>
          <a:p>
            <a:pPr marL="0" indent="0" algn="l">
              <a:lnSpc>
                <a:spcPts val="1700"/>
              </a:lnSpc>
              <a:buNone/>
            </a:pPr>
            <a:r>
              <a:rPr lang="en-US" sz="834" b="1" dirty="0">
                <a:solidFill>
                  <a:srgbClr val="FFFFFF"/>
                </a:solidFill>
              </a:rPr>
              <a:t>Decision Making:</a:t>
            </a:r>
            <a:endParaRPr lang="en-US" sz="834" dirty="0"/>
          </a:p>
        </p:txBody>
      </p:sp>
      <p:sp>
        <p:nvSpPr>
          <p:cNvPr id="14" name="Text 10"/>
          <p:cNvSpPr/>
          <p:nvPr/>
        </p:nvSpPr>
        <p:spPr>
          <a:xfrm>
            <a:off x="1364875" y="3493935"/>
            <a:ext cx="4055529" cy="384674"/>
          </a:xfrm>
          <a:prstGeom prst="rect">
            <a:avLst/>
          </a:prstGeom>
          <a:noFill/>
          <a:ln/>
        </p:spPr>
        <p:txBody>
          <a:bodyPr wrap="square" lIns="0" tIns="0" rIns="0" bIns="0" rtlCol="0" anchor="t">
            <a:spAutoFit/>
          </a:bodyPr>
          <a:lstStyle/>
          <a:p>
            <a:pPr marL="0" indent="0" algn="l">
              <a:lnSpc>
                <a:spcPts val="1700"/>
              </a:lnSpc>
              <a:buNone/>
            </a:pPr>
            <a:r>
              <a:rPr lang="en-US" sz="888" dirty="0">
                <a:solidFill>
                  <a:srgbClr val="FFFFFF"/>
                </a:solidFill>
              </a:rPr>
              <a:t>Foundation for statistical inference, risk assessment, and data science</a:t>
            </a:r>
            <a:endParaRPr lang="en-US" sz="888" dirty="0"/>
          </a:p>
        </p:txBody>
      </p:sp>
      <p:sp>
        <p:nvSpPr>
          <p:cNvPr id="15" name="Shape 11"/>
          <p:cNvSpPr/>
          <p:nvPr/>
        </p:nvSpPr>
        <p:spPr>
          <a:xfrm>
            <a:off x="500063" y="4164723"/>
            <a:ext cx="4247266" cy="942975"/>
          </a:xfrm>
          <a:prstGeom prst="rect">
            <a:avLst/>
          </a:prstGeom>
          <a:solidFill>
            <a:srgbClr val="FF6B9D">
              <a:alpha val="15000"/>
            </a:srgbClr>
          </a:solidFill>
          <a:ln/>
        </p:spPr>
        <p:txBody>
          <a:bodyPr/>
          <a:lstStyle/>
          <a:p>
            <a:endParaRPr lang="en-US"/>
          </a:p>
        </p:txBody>
      </p:sp>
      <p:sp>
        <p:nvSpPr>
          <p:cNvPr id="16" name="Text 12"/>
          <p:cNvSpPr/>
          <p:nvPr/>
        </p:nvSpPr>
        <p:spPr>
          <a:xfrm>
            <a:off x="642938" y="4307598"/>
            <a:ext cx="3961516" cy="289322"/>
          </a:xfrm>
          <a:prstGeom prst="rect">
            <a:avLst/>
          </a:prstGeom>
          <a:noFill/>
          <a:ln/>
        </p:spPr>
        <p:txBody>
          <a:bodyPr wrap="none" lIns="0" tIns="0" rIns="0" bIns="0" rtlCol="0" anchor="t">
            <a:spAutoFit/>
          </a:bodyPr>
          <a:lstStyle/>
          <a:p>
            <a:pPr marL="0" indent="0" algn="ctr">
              <a:lnSpc>
                <a:spcPts val="1900"/>
              </a:lnSpc>
              <a:buNone/>
            </a:pPr>
            <a:r>
              <a:rPr lang="en-US" sz="1397" b="1" dirty="0">
                <a:solidFill>
                  <a:srgbClr val="FF6B9D"/>
                </a:solidFill>
              </a:rPr>
              <a:t>0 ≤ P(Event) ≤ 1</a:t>
            </a:r>
            <a:endParaRPr lang="en-US" sz="1397" dirty="0"/>
          </a:p>
        </p:txBody>
      </p:sp>
      <p:sp>
        <p:nvSpPr>
          <p:cNvPr id="17" name="Text 13"/>
          <p:cNvSpPr/>
          <p:nvPr/>
        </p:nvSpPr>
        <p:spPr>
          <a:xfrm>
            <a:off x="642938" y="4668357"/>
            <a:ext cx="3961516" cy="439341"/>
          </a:xfrm>
          <a:prstGeom prst="rect">
            <a:avLst/>
          </a:prstGeom>
          <a:noFill/>
          <a:ln/>
        </p:spPr>
        <p:txBody>
          <a:bodyPr wrap="square" lIns="0" tIns="0" rIns="0" bIns="0" rtlCol="0" anchor="t">
            <a:spAutoFit/>
          </a:bodyPr>
          <a:lstStyle/>
          <a:p>
            <a:pPr marL="0" indent="0" algn="ctr">
              <a:lnSpc>
                <a:spcPts val="1000"/>
              </a:lnSpc>
              <a:buNone/>
            </a:pPr>
            <a:r>
              <a:rPr lang="en-US" sz="780" dirty="0">
                <a:solidFill>
                  <a:srgbClr val="FFFFFF"/>
                </a:solidFill>
              </a:rPr>
              <a:t>P = 0 means impossible event
 P = 1 means certain event
 P = 0.5 means equally likely to occur or not</a:t>
            </a:r>
            <a:endParaRPr lang="en-US" sz="780" dirty="0"/>
          </a:p>
        </p:txBody>
      </p:sp>
      <p:pic>
        <p:nvPicPr>
          <p:cNvPr id="18" name="Image 1" descr="preencoded.png"/>
          <p:cNvPicPr>
            <a:picLocks noChangeAspect="1"/>
          </p:cNvPicPr>
          <p:nvPr/>
        </p:nvPicPr>
        <p:blipFill>
          <a:blip r:embed="rId4"/>
          <a:stretch>
            <a:fillRect/>
          </a:stretch>
        </p:blipFill>
        <p:spPr>
          <a:xfrm>
            <a:off x="5104516" y="1109067"/>
            <a:ext cx="3539421" cy="2500313"/>
          </a:xfrm>
          <a:prstGeom prst="rect">
            <a:avLst/>
          </a:prstGeom>
        </p:spPr>
      </p:pic>
      <p:sp>
        <p:nvSpPr>
          <p:cNvPr id="19" name="Text 14"/>
          <p:cNvSpPr/>
          <p:nvPr/>
        </p:nvSpPr>
        <p:spPr>
          <a:xfrm>
            <a:off x="5104516" y="3752255"/>
            <a:ext cx="3539421"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FFD93D"/>
                </a:solidFill>
              </a:rPr>
              <a:t>Real-World Examples:</a:t>
            </a:r>
            <a:endParaRPr lang="en-US" sz="1193" dirty="0"/>
          </a:p>
        </p:txBody>
      </p:sp>
      <p:sp>
        <p:nvSpPr>
          <p:cNvPr id="20" name="Text 15"/>
          <p:cNvSpPr/>
          <p:nvPr/>
        </p:nvSpPr>
        <p:spPr>
          <a:xfrm>
            <a:off x="5104516" y="4093369"/>
            <a:ext cx="3539421" cy="194304"/>
          </a:xfrm>
          <a:prstGeom prst="rect">
            <a:avLst/>
          </a:prstGeom>
          <a:noFill/>
          <a:ln/>
        </p:spPr>
        <p:txBody>
          <a:bodyPr wrap="none" lIns="0" tIns="0" rIns="0" bIns="0" rtlCol="0" anchor="t">
            <a:spAutoFit/>
          </a:bodyPr>
          <a:lstStyle/>
          <a:p>
            <a:pPr marL="0" indent="0" algn="l">
              <a:lnSpc>
                <a:spcPts val="1500"/>
              </a:lnSpc>
              <a:buNone/>
            </a:pPr>
            <a:r>
              <a:rPr lang="en-US" sz="784" b="1" dirty="0">
                <a:solidFill>
                  <a:srgbClr val="FFD93D"/>
                </a:solidFill>
              </a:rPr>
              <a:t>Weather:</a:t>
            </a:r>
            <a:r>
              <a:rPr lang="en-US" sz="834" dirty="0">
                <a:solidFill>
                  <a:srgbClr val="FFFFFF"/>
                </a:solidFill>
              </a:rPr>
              <a:t> 70% chance of rain tomorrow</a:t>
            </a:r>
            <a:endParaRPr lang="en-US" sz="784" dirty="0"/>
          </a:p>
        </p:txBody>
      </p:sp>
      <p:sp>
        <p:nvSpPr>
          <p:cNvPr id="21" name="Text 16"/>
          <p:cNvSpPr/>
          <p:nvPr/>
        </p:nvSpPr>
        <p:spPr>
          <a:xfrm>
            <a:off x="5104516" y="4373398"/>
            <a:ext cx="3539421" cy="194304"/>
          </a:xfrm>
          <a:prstGeom prst="rect">
            <a:avLst/>
          </a:prstGeom>
          <a:noFill/>
          <a:ln/>
        </p:spPr>
        <p:txBody>
          <a:bodyPr wrap="none" lIns="0" tIns="0" rIns="0" bIns="0" rtlCol="0" anchor="t">
            <a:spAutoFit/>
          </a:bodyPr>
          <a:lstStyle/>
          <a:p>
            <a:pPr marL="0" indent="0" algn="l">
              <a:lnSpc>
                <a:spcPts val="1500"/>
              </a:lnSpc>
              <a:buNone/>
            </a:pPr>
            <a:r>
              <a:rPr lang="en-US" sz="784" b="1" dirty="0">
                <a:solidFill>
                  <a:srgbClr val="FFD93D"/>
                </a:solidFill>
              </a:rPr>
              <a:t>Games:</a:t>
            </a:r>
            <a:r>
              <a:rPr lang="en-US" sz="834" dirty="0">
                <a:solidFill>
                  <a:srgbClr val="FFFFFF"/>
                </a:solidFill>
              </a:rPr>
              <a:t> Probability of rolling a 6 on a die = 1/6</a:t>
            </a:r>
            <a:endParaRPr lang="en-US" sz="784" dirty="0"/>
          </a:p>
        </p:txBody>
      </p:sp>
      <p:sp>
        <p:nvSpPr>
          <p:cNvPr id="22" name="Text 17"/>
          <p:cNvSpPr/>
          <p:nvPr/>
        </p:nvSpPr>
        <p:spPr>
          <a:xfrm>
            <a:off x="5104516" y="4653428"/>
            <a:ext cx="3539421" cy="194304"/>
          </a:xfrm>
          <a:prstGeom prst="rect">
            <a:avLst/>
          </a:prstGeom>
          <a:noFill/>
          <a:ln/>
        </p:spPr>
        <p:txBody>
          <a:bodyPr wrap="none" lIns="0" tIns="0" rIns="0" bIns="0" rtlCol="0" anchor="t">
            <a:spAutoFit/>
          </a:bodyPr>
          <a:lstStyle/>
          <a:p>
            <a:pPr marL="0" indent="0" algn="l">
              <a:lnSpc>
                <a:spcPts val="1500"/>
              </a:lnSpc>
              <a:buNone/>
            </a:pPr>
            <a:r>
              <a:rPr lang="en-US" sz="784" b="1" dirty="0">
                <a:solidFill>
                  <a:srgbClr val="FFD93D"/>
                </a:solidFill>
              </a:rPr>
              <a:t>Medicine:</a:t>
            </a:r>
            <a:r>
              <a:rPr lang="en-US" sz="834" dirty="0">
                <a:solidFill>
                  <a:srgbClr val="FFFFFF"/>
                </a:solidFill>
              </a:rPr>
              <a:t> 95% success rate for a procedure</a:t>
            </a:r>
            <a:endParaRPr lang="en-US" sz="784" dirty="0"/>
          </a:p>
        </p:txBody>
      </p:sp>
      <p:sp>
        <p:nvSpPr>
          <p:cNvPr id="23" name="Text 18"/>
          <p:cNvSpPr/>
          <p:nvPr/>
        </p:nvSpPr>
        <p:spPr>
          <a:xfrm>
            <a:off x="5104516" y="4933457"/>
            <a:ext cx="3539421" cy="194304"/>
          </a:xfrm>
          <a:prstGeom prst="rect">
            <a:avLst/>
          </a:prstGeom>
          <a:noFill/>
          <a:ln/>
        </p:spPr>
        <p:txBody>
          <a:bodyPr wrap="none" lIns="0" tIns="0" rIns="0" bIns="0" rtlCol="0" anchor="t">
            <a:spAutoFit/>
          </a:bodyPr>
          <a:lstStyle/>
          <a:p>
            <a:pPr marL="0" indent="0" algn="l">
              <a:lnSpc>
                <a:spcPts val="1500"/>
              </a:lnSpc>
              <a:buNone/>
            </a:pPr>
            <a:r>
              <a:rPr lang="en-US" sz="784" b="1" dirty="0">
                <a:solidFill>
                  <a:srgbClr val="FFD93D"/>
                </a:solidFill>
              </a:rPr>
              <a:t>Finance:</a:t>
            </a:r>
            <a:r>
              <a:rPr lang="en-US" sz="834" dirty="0">
                <a:solidFill>
                  <a:srgbClr val="FFFFFF"/>
                </a:solidFill>
              </a:rPr>
              <a:t> Risk of investment loss</a:t>
            </a:r>
            <a:endParaRPr lang="en-US" sz="784"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0" y="357188"/>
            <a:ext cx="9144000" cy="466130"/>
          </a:xfrm>
          <a:prstGeom prst="rect">
            <a:avLst/>
          </a:prstGeom>
          <a:noFill/>
          <a:ln/>
        </p:spPr>
        <p:txBody>
          <a:bodyPr wrap="none" lIns="0" tIns="0" rIns="0" bIns="0" rtlCol="0" anchor="t">
            <a:spAutoFit/>
          </a:bodyPr>
          <a:lstStyle/>
          <a:p>
            <a:pPr marL="0" indent="0" algn="ctr">
              <a:lnSpc>
                <a:spcPts val="3200"/>
              </a:lnSpc>
              <a:buNone/>
            </a:pPr>
            <a:r>
              <a:rPr lang="en-US" sz="2436" b="1" dirty="0">
                <a:solidFill>
                  <a:srgbClr val="00D9FF"/>
                </a:solidFill>
              </a:rPr>
              <a:t>Random Experiments</a:t>
            </a:r>
            <a:endParaRPr lang="en-US" sz="2436" dirty="0"/>
          </a:p>
        </p:txBody>
      </p:sp>
      <p:sp>
        <p:nvSpPr>
          <p:cNvPr id="5" name="Shape 1"/>
          <p:cNvSpPr/>
          <p:nvPr/>
        </p:nvSpPr>
        <p:spPr>
          <a:xfrm>
            <a:off x="500063" y="966192"/>
            <a:ext cx="8143875" cy="548618"/>
          </a:xfrm>
          <a:prstGeom prst="rect">
            <a:avLst/>
          </a:prstGeom>
          <a:solidFill>
            <a:srgbClr val="00D9FF">
              <a:alpha val="10000"/>
            </a:srgbClr>
          </a:solidFill>
          <a:ln/>
        </p:spPr>
        <p:txBody>
          <a:bodyPr/>
          <a:lstStyle/>
          <a:p>
            <a:endParaRPr lang="en-US"/>
          </a:p>
        </p:txBody>
      </p:sp>
      <p:sp>
        <p:nvSpPr>
          <p:cNvPr id="6" name="Shape 2"/>
          <p:cNvSpPr/>
          <p:nvPr/>
        </p:nvSpPr>
        <p:spPr>
          <a:xfrm>
            <a:off x="500063" y="966192"/>
            <a:ext cx="35719" cy="548618"/>
          </a:xfrm>
          <a:prstGeom prst="rect">
            <a:avLst/>
          </a:prstGeom>
          <a:solidFill>
            <a:srgbClr val="00D9FF"/>
          </a:solidFill>
          <a:ln/>
        </p:spPr>
        <p:txBody>
          <a:bodyPr/>
          <a:lstStyle/>
          <a:p>
            <a:endParaRPr lang="en-US"/>
          </a:p>
        </p:txBody>
      </p:sp>
      <p:sp>
        <p:nvSpPr>
          <p:cNvPr id="7" name="Text 3"/>
          <p:cNvSpPr/>
          <p:nvPr/>
        </p:nvSpPr>
        <p:spPr>
          <a:xfrm>
            <a:off x="678656" y="1080492"/>
            <a:ext cx="7786688" cy="434318"/>
          </a:xfrm>
          <a:prstGeom prst="rect">
            <a:avLst/>
          </a:prstGeom>
          <a:noFill/>
          <a:ln/>
        </p:spPr>
        <p:txBody>
          <a:bodyPr wrap="square" lIns="0" tIns="0" rIns="0" bIns="0" rtlCol="0" anchor="t">
            <a:spAutoFit/>
          </a:bodyPr>
          <a:lstStyle/>
          <a:p>
            <a:pPr marL="0" indent="0" algn="l">
              <a:lnSpc>
                <a:spcPts val="1700"/>
              </a:lnSpc>
              <a:buNone/>
            </a:pPr>
            <a:r>
              <a:rPr lang="en-US" sz="996" dirty="0">
                <a:solidFill>
                  <a:srgbClr val="FFFFFF"/>
                </a:solidFill>
              </a:rPr>
              <a:t>A </a:t>
            </a:r>
            <a:r>
              <a:rPr lang="en-US" sz="936" b="1" dirty="0">
                <a:solidFill>
                  <a:srgbClr val="FFFFFF"/>
                </a:solidFill>
              </a:rPr>
              <a:t>random experiment</a:t>
            </a:r>
            <a:r>
              <a:rPr lang="en-US" sz="996" dirty="0">
                <a:solidFill>
                  <a:srgbClr val="FFFFFF"/>
                </a:solidFill>
              </a:rPr>
              <a:t> is a process or action that leads to one of several possible outcomes, where the exact outcome cannot be predicted with certainty in advance, even though all possible outcomes are known.</a:t>
            </a:r>
            <a:endParaRPr lang="en-US" sz="996" dirty="0"/>
          </a:p>
        </p:txBody>
      </p:sp>
      <p:sp>
        <p:nvSpPr>
          <p:cNvPr id="8" name="Text 4"/>
          <p:cNvSpPr/>
          <p:nvPr/>
        </p:nvSpPr>
        <p:spPr>
          <a:xfrm>
            <a:off x="0" y="1671972"/>
            <a:ext cx="9144000" cy="214313"/>
          </a:xfrm>
          <a:prstGeom prst="rect">
            <a:avLst/>
          </a:prstGeom>
          <a:noFill/>
          <a:ln/>
        </p:spPr>
        <p:txBody>
          <a:bodyPr wrap="none" lIns="595376" tIns="0" rIns="0" bIns="0" rtlCol="0" anchor="t">
            <a:spAutoFit/>
          </a:bodyPr>
          <a:lstStyle/>
          <a:p>
            <a:pPr marL="0" indent="0" algn="l">
              <a:lnSpc>
                <a:spcPts val="1500"/>
              </a:lnSpc>
              <a:buNone/>
            </a:pPr>
            <a:r>
              <a:rPr lang="en-US" sz="1090" b="1" dirty="0">
                <a:solidFill>
                  <a:srgbClr val="FFD93D"/>
                </a:solidFill>
              </a:rPr>
              <a:t>Key Characteristics:</a:t>
            </a:r>
            <a:endParaRPr lang="en-US" sz="1090" dirty="0"/>
          </a:p>
        </p:txBody>
      </p:sp>
      <p:sp>
        <p:nvSpPr>
          <p:cNvPr id="9" name="Text 5"/>
          <p:cNvSpPr/>
          <p:nvPr/>
        </p:nvSpPr>
        <p:spPr>
          <a:xfrm>
            <a:off x="785813" y="1945618"/>
            <a:ext cx="844414" cy="166092"/>
          </a:xfrm>
          <a:prstGeom prst="rect">
            <a:avLst/>
          </a:prstGeom>
          <a:noFill/>
          <a:ln/>
        </p:spPr>
        <p:txBody>
          <a:bodyPr wrap="none" lIns="0" tIns="0" rIns="0" bIns="0" rtlCol="0" anchor="t">
            <a:spAutoFit/>
          </a:bodyPr>
          <a:lstStyle/>
          <a:p>
            <a:pPr marL="0" indent="0" algn="l">
              <a:lnSpc>
                <a:spcPts val="1600"/>
              </a:lnSpc>
              <a:buNone/>
            </a:pPr>
            <a:r>
              <a:rPr lang="en-US" sz="834" b="1" dirty="0">
                <a:solidFill>
                  <a:srgbClr val="FFFFFF"/>
                </a:solidFill>
              </a:rPr>
              <a:t>Repeatability:</a:t>
            </a:r>
            <a:endParaRPr lang="en-US" sz="834" dirty="0"/>
          </a:p>
        </p:txBody>
      </p:sp>
      <p:sp>
        <p:nvSpPr>
          <p:cNvPr id="10" name="Text 6"/>
          <p:cNvSpPr/>
          <p:nvPr/>
        </p:nvSpPr>
        <p:spPr>
          <a:xfrm>
            <a:off x="1497788" y="1952313"/>
            <a:ext cx="3399476" cy="166092"/>
          </a:xfrm>
          <a:prstGeom prst="rect">
            <a:avLst/>
          </a:prstGeom>
          <a:noFill/>
          <a:ln/>
        </p:spPr>
        <p:txBody>
          <a:bodyPr wrap="none" lIns="0" tIns="0" rIns="0" bIns="0" rtlCol="0" anchor="t">
            <a:spAutoFit/>
          </a:bodyPr>
          <a:lstStyle/>
          <a:p>
            <a:pPr marL="0" indent="0" algn="l">
              <a:lnSpc>
                <a:spcPts val="1600"/>
              </a:lnSpc>
              <a:buNone/>
            </a:pPr>
            <a:r>
              <a:rPr lang="en-US" sz="888" dirty="0">
                <a:solidFill>
                  <a:srgbClr val="FFFFFF"/>
                </a:solidFill>
              </a:rPr>
              <a:t>The experiment can be repeated under identical conditions</a:t>
            </a:r>
            <a:endParaRPr lang="en-US" sz="888" dirty="0"/>
          </a:p>
        </p:txBody>
      </p:sp>
      <p:sp>
        <p:nvSpPr>
          <p:cNvPr id="11" name="Text 7"/>
          <p:cNvSpPr/>
          <p:nvPr/>
        </p:nvSpPr>
        <p:spPr>
          <a:xfrm>
            <a:off x="785813" y="2194923"/>
            <a:ext cx="1423950" cy="166092"/>
          </a:xfrm>
          <a:prstGeom prst="rect">
            <a:avLst/>
          </a:prstGeom>
          <a:noFill/>
          <a:ln/>
        </p:spPr>
        <p:txBody>
          <a:bodyPr wrap="none" lIns="0" tIns="0" rIns="0" bIns="0" rtlCol="0" anchor="t">
            <a:spAutoFit/>
          </a:bodyPr>
          <a:lstStyle/>
          <a:p>
            <a:pPr marL="0" indent="0" algn="l">
              <a:lnSpc>
                <a:spcPts val="1600"/>
              </a:lnSpc>
              <a:buNone/>
            </a:pPr>
            <a:r>
              <a:rPr lang="en-US" sz="834" b="1" dirty="0">
                <a:solidFill>
                  <a:srgbClr val="FFFFFF"/>
                </a:solidFill>
              </a:rPr>
              <a:t>Well-defined outcomes:</a:t>
            </a:r>
            <a:endParaRPr lang="en-US" sz="834" dirty="0"/>
          </a:p>
        </p:txBody>
      </p:sp>
      <p:sp>
        <p:nvSpPr>
          <p:cNvPr id="12" name="Text 8"/>
          <p:cNvSpPr/>
          <p:nvPr/>
        </p:nvSpPr>
        <p:spPr>
          <a:xfrm>
            <a:off x="1936713" y="2197012"/>
            <a:ext cx="2416262" cy="166092"/>
          </a:xfrm>
          <a:prstGeom prst="rect">
            <a:avLst/>
          </a:prstGeom>
          <a:noFill/>
          <a:ln/>
        </p:spPr>
        <p:txBody>
          <a:bodyPr wrap="none" lIns="0" tIns="0" rIns="0" bIns="0" rtlCol="0" anchor="t">
            <a:spAutoFit/>
          </a:bodyPr>
          <a:lstStyle/>
          <a:p>
            <a:pPr marL="0" indent="0" algn="l">
              <a:lnSpc>
                <a:spcPts val="1600"/>
              </a:lnSpc>
              <a:buNone/>
            </a:pPr>
            <a:r>
              <a:rPr lang="en-US" sz="888" dirty="0">
                <a:solidFill>
                  <a:srgbClr val="FFFFFF"/>
                </a:solidFill>
              </a:rPr>
              <a:t>All possible results are known beforehand</a:t>
            </a:r>
            <a:endParaRPr lang="en-US" sz="888" dirty="0"/>
          </a:p>
        </p:txBody>
      </p:sp>
      <p:sp>
        <p:nvSpPr>
          <p:cNvPr id="13" name="Text 9"/>
          <p:cNvSpPr/>
          <p:nvPr/>
        </p:nvSpPr>
        <p:spPr>
          <a:xfrm>
            <a:off x="785813" y="2444229"/>
            <a:ext cx="760251" cy="166092"/>
          </a:xfrm>
          <a:prstGeom prst="rect">
            <a:avLst/>
          </a:prstGeom>
          <a:noFill/>
          <a:ln/>
        </p:spPr>
        <p:txBody>
          <a:bodyPr wrap="none" lIns="0" tIns="0" rIns="0" bIns="0" rtlCol="0" anchor="t">
            <a:spAutoFit/>
          </a:bodyPr>
          <a:lstStyle/>
          <a:p>
            <a:pPr marL="0" indent="0" algn="l">
              <a:lnSpc>
                <a:spcPts val="1600"/>
              </a:lnSpc>
              <a:buNone/>
            </a:pPr>
            <a:r>
              <a:rPr lang="en-US" sz="834" b="1" dirty="0">
                <a:solidFill>
                  <a:srgbClr val="FFFFFF"/>
                </a:solidFill>
              </a:rPr>
              <a:t>Uncertainty:</a:t>
            </a:r>
            <a:endParaRPr lang="en-US" sz="834" dirty="0"/>
          </a:p>
        </p:txBody>
      </p:sp>
      <p:sp>
        <p:nvSpPr>
          <p:cNvPr id="14" name="Text 10"/>
          <p:cNvSpPr/>
          <p:nvPr/>
        </p:nvSpPr>
        <p:spPr>
          <a:xfrm>
            <a:off x="1435395" y="2444228"/>
            <a:ext cx="3418898" cy="166092"/>
          </a:xfrm>
          <a:prstGeom prst="rect">
            <a:avLst/>
          </a:prstGeom>
          <a:noFill/>
          <a:ln/>
        </p:spPr>
        <p:txBody>
          <a:bodyPr wrap="none" lIns="0" tIns="0" rIns="0" bIns="0" rtlCol="0" anchor="t">
            <a:spAutoFit/>
          </a:bodyPr>
          <a:lstStyle/>
          <a:p>
            <a:pPr marL="0" indent="0" algn="l">
              <a:lnSpc>
                <a:spcPts val="1600"/>
              </a:lnSpc>
              <a:buNone/>
            </a:pPr>
            <a:r>
              <a:rPr lang="en-US" sz="888" dirty="0">
                <a:solidFill>
                  <a:srgbClr val="FFFFFF"/>
                </a:solidFill>
              </a:rPr>
              <a:t>The specific outcome of any single trial cannot be predicted</a:t>
            </a:r>
            <a:endParaRPr lang="en-US" sz="888" dirty="0"/>
          </a:p>
        </p:txBody>
      </p:sp>
      <p:sp>
        <p:nvSpPr>
          <p:cNvPr id="15" name="Text 11"/>
          <p:cNvSpPr/>
          <p:nvPr/>
        </p:nvSpPr>
        <p:spPr>
          <a:xfrm>
            <a:off x="785813" y="2693535"/>
            <a:ext cx="811513" cy="166092"/>
          </a:xfrm>
          <a:prstGeom prst="rect">
            <a:avLst/>
          </a:prstGeom>
          <a:noFill/>
          <a:ln/>
        </p:spPr>
        <p:txBody>
          <a:bodyPr wrap="none" lIns="0" tIns="0" rIns="0" bIns="0" rtlCol="0" anchor="t">
            <a:spAutoFit/>
          </a:bodyPr>
          <a:lstStyle/>
          <a:p>
            <a:pPr marL="0" indent="0" algn="l">
              <a:lnSpc>
                <a:spcPts val="1600"/>
              </a:lnSpc>
              <a:buNone/>
            </a:pPr>
            <a:r>
              <a:rPr lang="en-US" sz="834" b="1" dirty="0">
                <a:solidFill>
                  <a:srgbClr val="FFFFFF"/>
                </a:solidFill>
              </a:rPr>
              <a:t>Randomness:</a:t>
            </a:r>
            <a:endParaRPr lang="en-US" sz="834" dirty="0"/>
          </a:p>
        </p:txBody>
      </p:sp>
      <p:sp>
        <p:nvSpPr>
          <p:cNvPr id="16" name="Text 12"/>
          <p:cNvSpPr/>
          <p:nvPr/>
        </p:nvSpPr>
        <p:spPr>
          <a:xfrm>
            <a:off x="1435395" y="2701020"/>
            <a:ext cx="3975246" cy="166092"/>
          </a:xfrm>
          <a:prstGeom prst="rect">
            <a:avLst/>
          </a:prstGeom>
          <a:noFill/>
          <a:ln/>
        </p:spPr>
        <p:txBody>
          <a:bodyPr wrap="none" lIns="0" tIns="0" rIns="0" bIns="0" rtlCol="0" anchor="t">
            <a:spAutoFit/>
          </a:bodyPr>
          <a:lstStyle/>
          <a:p>
            <a:pPr marL="0" indent="0" algn="l">
              <a:lnSpc>
                <a:spcPts val="1600"/>
              </a:lnSpc>
              <a:buNone/>
            </a:pPr>
            <a:r>
              <a:rPr lang="en-US" sz="888" dirty="0">
                <a:solidFill>
                  <a:srgbClr val="FFFFFF"/>
                </a:solidFill>
              </a:rPr>
              <a:t>The outcome is determined by chance, not by a deterministic process</a:t>
            </a:r>
            <a:endParaRPr lang="en-US" sz="888" dirty="0"/>
          </a:p>
        </p:txBody>
      </p:sp>
      <p:sp>
        <p:nvSpPr>
          <p:cNvPr id="17" name="Text 13"/>
          <p:cNvSpPr/>
          <p:nvPr/>
        </p:nvSpPr>
        <p:spPr>
          <a:xfrm>
            <a:off x="0" y="3069245"/>
            <a:ext cx="9144000" cy="233958"/>
          </a:xfrm>
          <a:prstGeom prst="rect">
            <a:avLst/>
          </a:prstGeom>
          <a:noFill/>
          <a:ln/>
        </p:spPr>
        <p:txBody>
          <a:bodyPr wrap="none" lIns="0" tIns="0" rIns="0" bIns="0" rtlCol="0" anchor="t">
            <a:spAutoFit/>
          </a:bodyPr>
          <a:lstStyle/>
          <a:p>
            <a:pPr marL="0" indent="0" algn="ctr">
              <a:lnSpc>
                <a:spcPts val="1600"/>
              </a:lnSpc>
              <a:buNone/>
            </a:pPr>
            <a:r>
              <a:rPr lang="en-US" sz="1193" b="1" dirty="0">
                <a:solidFill>
                  <a:srgbClr val="FF6B9D"/>
                </a:solidFill>
              </a:rPr>
              <a:t>Classic Examples of Random Experiments</a:t>
            </a:r>
            <a:endParaRPr lang="en-US" sz="1193" dirty="0"/>
          </a:p>
        </p:txBody>
      </p:sp>
      <p:sp>
        <p:nvSpPr>
          <p:cNvPr id="18" name="Shape 14"/>
          <p:cNvSpPr/>
          <p:nvPr/>
        </p:nvSpPr>
        <p:spPr>
          <a:xfrm>
            <a:off x="500063" y="3388928"/>
            <a:ext cx="2524116" cy="1444823"/>
          </a:xfrm>
          <a:prstGeom prst="rect">
            <a:avLst/>
          </a:prstGeom>
          <a:solidFill>
            <a:srgbClr val="FFFFFF">
              <a:alpha val="5000"/>
            </a:srgbClr>
          </a:solidFill>
          <a:ln/>
        </p:spPr>
        <p:txBody>
          <a:bodyPr/>
          <a:lstStyle/>
          <a:p>
            <a:endParaRPr lang="en-US"/>
          </a:p>
        </p:txBody>
      </p:sp>
      <p:sp>
        <p:nvSpPr>
          <p:cNvPr id="19" name="Text 15"/>
          <p:cNvSpPr/>
          <p:nvPr/>
        </p:nvSpPr>
        <p:spPr>
          <a:xfrm>
            <a:off x="642938" y="3460366"/>
            <a:ext cx="2238366" cy="194667"/>
          </a:xfrm>
          <a:prstGeom prst="rect">
            <a:avLst/>
          </a:prstGeom>
          <a:noFill/>
          <a:ln/>
        </p:spPr>
        <p:txBody>
          <a:bodyPr wrap="none" lIns="0" tIns="0" rIns="0" bIns="0" rtlCol="0" anchor="t">
            <a:spAutoFit/>
          </a:bodyPr>
          <a:lstStyle/>
          <a:p>
            <a:pPr marL="0" indent="0" algn="ctr">
              <a:lnSpc>
                <a:spcPts val="1400"/>
              </a:lnSpc>
              <a:buNone/>
            </a:pPr>
            <a:r>
              <a:rPr lang="en-US" sz="987" b="1" dirty="0">
                <a:solidFill>
                  <a:srgbClr val="FFD93D"/>
                </a:solidFill>
              </a:rPr>
              <a:t>Coin Toss</a:t>
            </a:r>
            <a:endParaRPr lang="en-US" sz="987" dirty="0"/>
          </a:p>
        </p:txBody>
      </p:sp>
      <p:sp>
        <p:nvSpPr>
          <p:cNvPr id="20" name="Text 16"/>
          <p:cNvSpPr/>
          <p:nvPr/>
        </p:nvSpPr>
        <p:spPr>
          <a:xfrm>
            <a:off x="642938" y="3712183"/>
            <a:ext cx="2238366" cy="146447"/>
          </a:xfrm>
          <a:prstGeom prst="rect">
            <a:avLst/>
          </a:prstGeom>
          <a:noFill/>
          <a:ln/>
        </p:spPr>
        <p:txBody>
          <a:bodyPr wrap="none" lIns="0" tIns="0" rIns="0" bIns="0" rtlCol="0" anchor="t">
            <a:spAutoFit/>
          </a:bodyPr>
          <a:lstStyle/>
          <a:p>
            <a:pPr marL="0" indent="0" algn="l">
              <a:lnSpc>
                <a:spcPts val="1000"/>
              </a:lnSpc>
              <a:buNone/>
            </a:pPr>
            <a:r>
              <a:rPr lang="en-US" sz="734" b="1" dirty="0">
                <a:solidFill>
                  <a:srgbClr val="00D9FF"/>
                </a:solidFill>
              </a:rPr>
              <a:t>Experiment:</a:t>
            </a:r>
            <a:endParaRPr lang="en-US" sz="734" dirty="0"/>
          </a:p>
        </p:txBody>
      </p:sp>
      <p:sp>
        <p:nvSpPr>
          <p:cNvPr id="21" name="Text 17"/>
          <p:cNvSpPr/>
          <p:nvPr/>
        </p:nvSpPr>
        <p:spPr>
          <a:xfrm>
            <a:off x="642938" y="3901492"/>
            <a:ext cx="2238366" cy="171450"/>
          </a:xfrm>
          <a:prstGeom prst="rect">
            <a:avLst/>
          </a:prstGeom>
          <a:noFill/>
          <a:ln/>
        </p:spPr>
        <p:txBody>
          <a:bodyPr wrap="none" lIns="0" tIns="0" rIns="0" bIns="0" rtlCol="0" anchor="t">
            <a:spAutoFit/>
          </a:bodyPr>
          <a:lstStyle/>
          <a:p>
            <a:pPr marL="0" indent="0" algn="l">
              <a:lnSpc>
                <a:spcPts val="1400"/>
              </a:lnSpc>
              <a:buNone/>
            </a:pPr>
            <a:r>
              <a:rPr lang="en-US" sz="780" dirty="0">
                <a:solidFill>
                  <a:srgbClr val="FFFFFF"/>
                </a:solidFill>
              </a:rPr>
              <a:t>Flip a fair coin once</a:t>
            </a:r>
            <a:endParaRPr lang="en-US" sz="780" dirty="0"/>
          </a:p>
        </p:txBody>
      </p:sp>
      <p:sp>
        <p:nvSpPr>
          <p:cNvPr id="22" name="Text 18"/>
          <p:cNvSpPr/>
          <p:nvPr/>
        </p:nvSpPr>
        <p:spPr>
          <a:xfrm>
            <a:off x="642938" y="4072942"/>
            <a:ext cx="2238366" cy="146447"/>
          </a:xfrm>
          <a:prstGeom prst="rect">
            <a:avLst/>
          </a:prstGeom>
          <a:noFill/>
          <a:ln/>
        </p:spPr>
        <p:txBody>
          <a:bodyPr wrap="none" lIns="0" tIns="0" rIns="0" bIns="0" rtlCol="0" anchor="t">
            <a:spAutoFit/>
          </a:bodyPr>
          <a:lstStyle/>
          <a:p>
            <a:pPr marL="0" indent="0" algn="l">
              <a:lnSpc>
                <a:spcPts val="1000"/>
              </a:lnSpc>
              <a:buNone/>
            </a:pPr>
            <a:r>
              <a:rPr lang="en-US" sz="734" b="1" dirty="0">
                <a:solidFill>
                  <a:srgbClr val="00D9FF"/>
                </a:solidFill>
              </a:rPr>
              <a:t>Possible Outcomes:</a:t>
            </a:r>
            <a:endParaRPr lang="en-US" sz="734" dirty="0"/>
          </a:p>
        </p:txBody>
      </p:sp>
      <p:sp>
        <p:nvSpPr>
          <p:cNvPr id="23" name="Text 19"/>
          <p:cNvSpPr/>
          <p:nvPr/>
        </p:nvSpPr>
        <p:spPr>
          <a:xfrm>
            <a:off x="642938" y="4262251"/>
            <a:ext cx="2238366" cy="171450"/>
          </a:xfrm>
          <a:prstGeom prst="rect">
            <a:avLst/>
          </a:prstGeom>
          <a:noFill/>
          <a:ln/>
        </p:spPr>
        <p:txBody>
          <a:bodyPr wrap="none" lIns="0" tIns="0" rIns="0" bIns="0" rtlCol="0" anchor="t">
            <a:spAutoFit/>
          </a:bodyPr>
          <a:lstStyle/>
          <a:p>
            <a:pPr marL="0" indent="0" algn="l">
              <a:lnSpc>
                <a:spcPts val="1400"/>
              </a:lnSpc>
              <a:buNone/>
            </a:pPr>
            <a:r>
              <a:rPr lang="en-US" sz="780" dirty="0">
                <a:solidFill>
                  <a:srgbClr val="FFFFFF"/>
                </a:solidFill>
              </a:rPr>
              <a:t>• Heads (H)</a:t>
            </a:r>
            <a:endParaRPr lang="en-US" sz="780" dirty="0"/>
          </a:p>
        </p:txBody>
      </p:sp>
      <p:sp>
        <p:nvSpPr>
          <p:cNvPr id="24" name="Text 20"/>
          <p:cNvSpPr/>
          <p:nvPr/>
        </p:nvSpPr>
        <p:spPr>
          <a:xfrm>
            <a:off x="642938" y="4462276"/>
            <a:ext cx="2238366" cy="171450"/>
          </a:xfrm>
          <a:prstGeom prst="rect">
            <a:avLst/>
          </a:prstGeom>
          <a:noFill/>
          <a:ln/>
        </p:spPr>
        <p:txBody>
          <a:bodyPr wrap="none" lIns="0" tIns="0" rIns="0" bIns="0" rtlCol="0" anchor="t">
            <a:spAutoFit/>
          </a:bodyPr>
          <a:lstStyle/>
          <a:p>
            <a:pPr marL="0" indent="0" algn="l">
              <a:lnSpc>
                <a:spcPts val="1400"/>
              </a:lnSpc>
              <a:buNone/>
            </a:pPr>
            <a:r>
              <a:rPr lang="en-US" sz="780" dirty="0">
                <a:solidFill>
                  <a:srgbClr val="FFFFFF"/>
                </a:solidFill>
              </a:rPr>
              <a:t>• Tails (T)</a:t>
            </a:r>
            <a:endParaRPr lang="en-US" sz="780" dirty="0"/>
          </a:p>
        </p:txBody>
      </p:sp>
      <p:sp>
        <p:nvSpPr>
          <p:cNvPr id="25" name="Shape 21"/>
          <p:cNvSpPr/>
          <p:nvPr/>
        </p:nvSpPr>
        <p:spPr>
          <a:xfrm>
            <a:off x="3309928" y="3388928"/>
            <a:ext cx="2524116" cy="1444823"/>
          </a:xfrm>
          <a:prstGeom prst="rect">
            <a:avLst/>
          </a:prstGeom>
          <a:solidFill>
            <a:srgbClr val="FFFFFF">
              <a:alpha val="5000"/>
            </a:srgbClr>
          </a:solidFill>
          <a:ln/>
        </p:spPr>
        <p:txBody>
          <a:bodyPr/>
          <a:lstStyle/>
          <a:p>
            <a:endParaRPr lang="en-US"/>
          </a:p>
        </p:txBody>
      </p:sp>
      <p:sp>
        <p:nvSpPr>
          <p:cNvPr id="26" name="Text 22"/>
          <p:cNvSpPr/>
          <p:nvPr/>
        </p:nvSpPr>
        <p:spPr>
          <a:xfrm>
            <a:off x="3452803" y="3460366"/>
            <a:ext cx="2238366" cy="194667"/>
          </a:xfrm>
          <a:prstGeom prst="rect">
            <a:avLst/>
          </a:prstGeom>
          <a:noFill/>
          <a:ln/>
        </p:spPr>
        <p:txBody>
          <a:bodyPr wrap="none" lIns="0" tIns="0" rIns="0" bIns="0" rtlCol="0" anchor="t">
            <a:spAutoFit/>
          </a:bodyPr>
          <a:lstStyle/>
          <a:p>
            <a:pPr marL="0" indent="0" algn="ctr">
              <a:lnSpc>
                <a:spcPts val="1400"/>
              </a:lnSpc>
              <a:buNone/>
            </a:pPr>
            <a:r>
              <a:rPr lang="en-US" sz="987" b="1" dirty="0">
                <a:solidFill>
                  <a:srgbClr val="FFD93D"/>
                </a:solidFill>
              </a:rPr>
              <a:t>Dice Roll</a:t>
            </a:r>
            <a:endParaRPr lang="en-US" sz="987" dirty="0"/>
          </a:p>
        </p:txBody>
      </p:sp>
      <p:sp>
        <p:nvSpPr>
          <p:cNvPr id="27" name="Text 23"/>
          <p:cNvSpPr/>
          <p:nvPr/>
        </p:nvSpPr>
        <p:spPr>
          <a:xfrm>
            <a:off x="3452803" y="3712183"/>
            <a:ext cx="2238366" cy="146447"/>
          </a:xfrm>
          <a:prstGeom prst="rect">
            <a:avLst/>
          </a:prstGeom>
          <a:noFill/>
          <a:ln/>
        </p:spPr>
        <p:txBody>
          <a:bodyPr wrap="none" lIns="0" tIns="0" rIns="0" bIns="0" rtlCol="0" anchor="t">
            <a:spAutoFit/>
          </a:bodyPr>
          <a:lstStyle/>
          <a:p>
            <a:pPr marL="0" indent="0" algn="l">
              <a:lnSpc>
                <a:spcPts val="1000"/>
              </a:lnSpc>
              <a:buNone/>
            </a:pPr>
            <a:r>
              <a:rPr lang="en-US" sz="734" b="1" dirty="0">
                <a:solidFill>
                  <a:srgbClr val="00D9FF"/>
                </a:solidFill>
              </a:rPr>
              <a:t>Experiment:</a:t>
            </a:r>
            <a:endParaRPr lang="en-US" sz="734" dirty="0"/>
          </a:p>
        </p:txBody>
      </p:sp>
      <p:sp>
        <p:nvSpPr>
          <p:cNvPr id="28" name="Text 24"/>
          <p:cNvSpPr/>
          <p:nvPr/>
        </p:nvSpPr>
        <p:spPr>
          <a:xfrm>
            <a:off x="3452803" y="3901492"/>
            <a:ext cx="2238366" cy="171450"/>
          </a:xfrm>
          <a:prstGeom prst="rect">
            <a:avLst/>
          </a:prstGeom>
          <a:noFill/>
          <a:ln/>
        </p:spPr>
        <p:txBody>
          <a:bodyPr wrap="none" lIns="0" tIns="0" rIns="0" bIns="0" rtlCol="0" anchor="t">
            <a:spAutoFit/>
          </a:bodyPr>
          <a:lstStyle/>
          <a:p>
            <a:pPr marL="0" indent="0" algn="l">
              <a:lnSpc>
                <a:spcPts val="1400"/>
              </a:lnSpc>
              <a:buNone/>
            </a:pPr>
            <a:r>
              <a:rPr lang="en-US" sz="780" dirty="0">
                <a:solidFill>
                  <a:srgbClr val="FFFFFF"/>
                </a:solidFill>
              </a:rPr>
              <a:t>Roll a standard six-sided die</a:t>
            </a:r>
            <a:endParaRPr lang="en-US" sz="780" dirty="0"/>
          </a:p>
        </p:txBody>
      </p:sp>
      <p:sp>
        <p:nvSpPr>
          <p:cNvPr id="29" name="Text 25"/>
          <p:cNvSpPr/>
          <p:nvPr/>
        </p:nvSpPr>
        <p:spPr>
          <a:xfrm>
            <a:off x="3452803" y="4072942"/>
            <a:ext cx="2238366" cy="146447"/>
          </a:xfrm>
          <a:prstGeom prst="rect">
            <a:avLst/>
          </a:prstGeom>
          <a:noFill/>
          <a:ln/>
        </p:spPr>
        <p:txBody>
          <a:bodyPr wrap="none" lIns="0" tIns="0" rIns="0" bIns="0" rtlCol="0" anchor="t">
            <a:spAutoFit/>
          </a:bodyPr>
          <a:lstStyle/>
          <a:p>
            <a:pPr marL="0" indent="0" algn="l">
              <a:lnSpc>
                <a:spcPts val="1000"/>
              </a:lnSpc>
              <a:buNone/>
            </a:pPr>
            <a:r>
              <a:rPr lang="en-US" sz="734" b="1" dirty="0">
                <a:solidFill>
                  <a:srgbClr val="00D9FF"/>
                </a:solidFill>
              </a:rPr>
              <a:t>Possible Outcomes:</a:t>
            </a:r>
            <a:endParaRPr lang="en-US" sz="734" dirty="0"/>
          </a:p>
        </p:txBody>
      </p:sp>
      <p:sp>
        <p:nvSpPr>
          <p:cNvPr id="30" name="Text 26"/>
          <p:cNvSpPr/>
          <p:nvPr/>
        </p:nvSpPr>
        <p:spPr>
          <a:xfrm>
            <a:off x="3452803" y="4262251"/>
            <a:ext cx="2238366" cy="171450"/>
          </a:xfrm>
          <a:prstGeom prst="rect">
            <a:avLst/>
          </a:prstGeom>
          <a:noFill/>
          <a:ln/>
        </p:spPr>
        <p:txBody>
          <a:bodyPr wrap="none" lIns="0" tIns="0" rIns="0" bIns="0" rtlCol="0" anchor="t">
            <a:spAutoFit/>
          </a:bodyPr>
          <a:lstStyle/>
          <a:p>
            <a:pPr marL="0" indent="0" algn="l">
              <a:lnSpc>
                <a:spcPts val="1400"/>
              </a:lnSpc>
              <a:buNone/>
            </a:pPr>
            <a:r>
              <a:rPr lang="en-US" sz="780" dirty="0">
                <a:solidFill>
                  <a:srgbClr val="FFFFFF"/>
                </a:solidFill>
              </a:rPr>
              <a:t>• 1, 2, 3, 4, 5, or 6</a:t>
            </a:r>
            <a:endParaRPr lang="en-US" sz="780" dirty="0"/>
          </a:p>
        </p:txBody>
      </p:sp>
      <p:sp>
        <p:nvSpPr>
          <p:cNvPr id="31" name="Shape 27"/>
          <p:cNvSpPr/>
          <p:nvPr/>
        </p:nvSpPr>
        <p:spPr>
          <a:xfrm>
            <a:off x="6119794" y="3388928"/>
            <a:ext cx="2524144" cy="1444823"/>
          </a:xfrm>
          <a:prstGeom prst="rect">
            <a:avLst/>
          </a:prstGeom>
          <a:solidFill>
            <a:srgbClr val="FFFFFF">
              <a:alpha val="5000"/>
            </a:srgbClr>
          </a:solidFill>
          <a:ln/>
        </p:spPr>
        <p:txBody>
          <a:bodyPr/>
          <a:lstStyle/>
          <a:p>
            <a:endParaRPr lang="en-US"/>
          </a:p>
        </p:txBody>
      </p:sp>
      <p:sp>
        <p:nvSpPr>
          <p:cNvPr id="32" name="Text 28"/>
          <p:cNvSpPr/>
          <p:nvPr/>
        </p:nvSpPr>
        <p:spPr>
          <a:xfrm>
            <a:off x="6262669" y="3460366"/>
            <a:ext cx="2238394" cy="194667"/>
          </a:xfrm>
          <a:prstGeom prst="rect">
            <a:avLst/>
          </a:prstGeom>
          <a:noFill/>
          <a:ln/>
        </p:spPr>
        <p:txBody>
          <a:bodyPr wrap="none" lIns="0" tIns="0" rIns="0" bIns="0" rtlCol="0" anchor="t">
            <a:spAutoFit/>
          </a:bodyPr>
          <a:lstStyle/>
          <a:p>
            <a:pPr marL="0" indent="0" algn="ctr">
              <a:lnSpc>
                <a:spcPts val="1400"/>
              </a:lnSpc>
              <a:buNone/>
            </a:pPr>
            <a:r>
              <a:rPr lang="en-US" sz="987" b="1" dirty="0">
                <a:solidFill>
                  <a:srgbClr val="FFD93D"/>
                </a:solidFill>
              </a:rPr>
              <a:t>Card Draw</a:t>
            </a:r>
            <a:endParaRPr lang="en-US" sz="987" dirty="0"/>
          </a:p>
        </p:txBody>
      </p:sp>
      <p:sp>
        <p:nvSpPr>
          <p:cNvPr id="33" name="Text 29"/>
          <p:cNvSpPr/>
          <p:nvPr/>
        </p:nvSpPr>
        <p:spPr>
          <a:xfrm>
            <a:off x="6262669" y="3712183"/>
            <a:ext cx="2238394" cy="146447"/>
          </a:xfrm>
          <a:prstGeom prst="rect">
            <a:avLst/>
          </a:prstGeom>
          <a:noFill/>
          <a:ln/>
        </p:spPr>
        <p:txBody>
          <a:bodyPr wrap="none" lIns="0" tIns="0" rIns="0" bIns="0" rtlCol="0" anchor="t">
            <a:spAutoFit/>
          </a:bodyPr>
          <a:lstStyle/>
          <a:p>
            <a:pPr marL="0" indent="0" algn="l">
              <a:lnSpc>
                <a:spcPts val="1000"/>
              </a:lnSpc>
              <a:buNone/>
            </a:pPr>
            <a:r>
              <a:rPr lang="en-US" sz="734" b="1" dirty="0">
                <a:solidFill>
                  <a:srgbClr val="00D9FF"/>
                </a:solidFill>
              </a:rPr>
              <a:t>Experiment:</a:t>
            </a:r>
            <a:endParaRPr lang="en-US" sz="734" dirty="0"/>
          </a:p>
        </p:txBody>
      </p:sp>
      <p:sp>
        <p:nvSpPr>
          <p:cNvPr id="34" name="Text 30"/>
          <p:cNvSpPr/>
          <p:nvPr/>
        </p:nvSpPr>
        <p:spPr>
          <a:xfrm>
            <a:off x="6262669" y="3901492"/>
            <a:ext cx="2238394" cy="171450"/>
          </a:xfrm>
          <a:prstGeom prst="rect">
            <a:avLst/>
          </a:prstGeom>
          <a:noFill/>
          <a:ln/>
        </p:spPr>
        <p:txBody>
          <a:bodyPr wrap="none" lIns="0" tIns="0" rIns="0" bIns="0" rtlCol="0" anchor="t">
            <a:spAutoFit/>
          </a:bodyPr>
          <a:lstStyle/>
          <a:p>
            <a:pPr marL="0" indent="0" algn="l">
              <a:lnSpc>
                <a:spcPts val="1400"/>
              </a:lnSpc>
              <a:buNone/>
            </a:pPr>
            <a:r>
              <a:rPr lang="en-US" sz="780" dirty="0">
                <a:solidFill>
                  <a:srgbClr val="FFFFFF"/>
                </a:solidFill>
              </a:rPr>
              <a:t>Draw one card from a shuffled deck</a:t>
            </a:r>
            <a:endParaRPr lang="en-US" sz="780" dirty="0"/>
          </a:p>
        </p:txBody>
      </p:sp>
      <p:sp>
        <p:nvSpPr>
          <p:cNvPr id="35" name="Text 31"/>
          <p:cNvSpPr/>
          <p:nvPr/>
        </p:nvSpPr>
        <p:spPr>
          <a:xfrm>
            <a:off x="6262669" y="4072942"/>
            <a:ext cx="2238394" cy="146447"/>
          </a:xfrm>
          <a:prstGeom prst="rect">
            <a:avLst/>
          </a:prstGeom>
          <a:noFill/>
          <a:ln/>
        </p:spPr>
        <p:txBody>
          <a:bodyPr wrap="none" lIns="0" tIns="0" rIns="0" bIns="0" rtlCol="0" anchor="t">
            <a:spAutoFit/>
          </a:bodyPr>
          <a:lstStyle/>
          <a:p>
            <a:pPr marL="0" indent="0" algn="l">
              <a:lnSpc>
                <a:spcPts val="1000"/>
              </a:lnSpc>
              <a:buNone/>
            </a:pPr>
            <a:r>
              <a:rPr lang="en-US" sz="734" b="1" dirty="0">
                <a:solidFill>
                  <a:srgbClr val="00D9FF"/>
                </a:solidFill>
              </a:rPr>
              <a:t>Possible Outcomes:</a:t>
            </a:r>
            <a:endParaRPr lang="en-US" sz="734" dirty="0"/>
          </a:p>
        </p:txBody>
      </p:sp>
      <p:sp>
        <p:nvSpPr>
          <p:cNvPr id="36" name="Text 32"/>
          <p:cNvSpPr/>
          <p:nvPr/>
        </p:nvSpPr>
        <p:spPr>
          <a:xfrm>
            <a:off x="6262669" y="4262251"/>
            <a:ext cx="2238394" cy="171450"/>
          </a:xfrm>
          <a:prstGeom prst="rect">
            <a:avLst/>
          </a:prstGeom>
          <a:noFill/>
          <a:ln/>
        </p:spPr>
        <p:txBody>
          <a:bodyPr wrap="none" lIns="0" tIns="0" rIns="0" bIns="0" rtlCol="0" anchor="t">
            <a:spAutoFit/>
          </a:bodyPr>
          <a:lstStyle/>
          <a:p>
            <a:pPr marL="0" indent="0" algn="l">
              <a:lnSpc>
                <a:spcPts val="1400"/>
              </a:lnSpc>
              <a:buNone/>
            </a:pPr>
            <a:r>
              <a:rPr lang="en-US" sz="780" dirty="0">
                <a:solidFill>
                  <a:srgbClr val="FFFFFF"/>
                </a:solidFill>
              </a:rPr>
              <a:t>• Any of 52 cards</a:t>
            </a:r>
            <a:endParaRPr lang="en-US" sz="780" dirty="0"/>
          </a:p>
        </p:txBody>
      </p:sp>
      <p:sp>
        <p:nvSpPr>
          <p:cNvPr id="37" name="Text 33"/>
          <p:cNvSpPr/>
          <p:nvPr/>
        </p:nvSpPr>
        <p:spPr>
          <a:xfrm>
            <a:off x="6262669" y="4462276"/>
            <a:ext cx="2238394" cy="171450"/>
          </a:xfrm>
          <a:prstGeom prst="rect">
            <a:avLst/>
          </a:prstGeom>
          <a:noFill/>
          <a:ln/>
        </p:spPr>
        <p:txBody>
          <a:bodyPr wrap="none" lIns="0" tIns="0" rIns="0" bIns="0" rtlCol="0" anchor="t">
            <a:spAutoFit/>
          </a:bodyPr>
          <a:lstStyle/>
          <a:p>
            <a:pPr marL="0" indent="0" algn="l">
              <a:lnSpc>
                <a:spcPts val="1400"/>
              </a:lnSpc>
              <a:buNone/>
            </a:pPr>
            <a:r>
              <a:rPr lang="en-US" sz="780" dirty="0">
                <a:solidFill>
                  <a:srgbClr val="FFFFFF"/>
                </a:solidFill>
              </a:rPr>
              <a:t>• 4 suits: ♠ ♥ ♦ ♣</a:t>
            </a:r>
            <a:endParaRPr lang="en-US" sz="780" dirty="0"/>
          </a:p>
        </p:txBody>
      </p:sp>
      <p:sp>
        <p:nvSpPr>
          <p:cNvPr id="38" name="Text 34"/>
          <p:cNvSpPr/>
          <p:nvPr/>
        </p:nvSpPr>
        <p:spPr>
          <a:xfrm>
            <a:off x="6262669" y="4662301"/>
            <a:ext cx="2238394" cy="171450"/>
          </a:xfrm>
          <a:prstGeom prst="rect">
            <a:avLst/>
          </a:prstGeom>
          <a:noFill/>
          <a:ln/>
        </p:spPr>
        <p:txBody>
          <a:bodyPr wrap="none" lIns="0" tIns="0" rIns="0" bIns="0" rtlCol="0" anchor="t">
            <a:spAutoFit/>
          </a:bodyPr>
          <a:lstStyle/>
          <a:p>
            <a:pPr marL="0" indent="0" algn="l">
              <a:lnSpc>
                <a:spcPts val="1400"/>
              </a:lnSpc>
              <a:buNone/>
            </a:pPr>
            <a:r>
              <a:rPr lang="en-US" sz="780" dirty="0">
                <a:solidFill>
                  <a:srgbClr val="FFFFFF"/>
                </a:solidFill>
              </a:rPr>
              <a:t>• 13 ranks each</a:t>
            </a:r>
            <a:endParaRPr lang="en-US" sz="7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280236"/>
          </a:xfrm>
          <a:prstGeom prst="rect">
            <a:avLst/>
          </a:prstGeom>
        </p:spPr>
      </p:pic>
      <p:sp>
        <p:nvSpPr>
          <p:cNvPr id="4" name="Text 0"/>
          <p:cNvSpPr/>
          <p:nvPr/>
        </p:nvSpPr>
        <p:spPr>
          <a:xfrm>
            <a:off x="0" y="357188"/>
            <a:ext cx="9144000" cy="466130"/>
          </a:xfrm>
          <a:prstGeom prst="rect">
            <a:avLst/>
          </a:prstGeom>
          <a:noFill/>
          <a:ln/>
        </p:spPr>
        <p:txBody>
          <a:bodyPr wrap="none" lIns="0" tIns="0" rIns="0" bIns="0" rtlCol="0" anchor="t">
            <a:spAutoFit/>
          </a:bodyPr>
          <a:lstStyle/>
          <a:p>
            <a:pPr marL="0" indent="0" algn="ctr">
              <a:lnSpc>
                <a:spcPts val="3200"/>
              </a:lnSpc>
              <a:buNone/>
            </a:pPr>
            <a:r>
              <a:rPr lang="en-US" sz="2436" b="1" dirty="0">
                <a:solidFill>
                  <a:srgbClr val="00D9FF"/>
                </a:solidFill>
              </a:rPr>
              <a:t>Sample Space</a:t>
            </a:r>
            <a:endParaRPr lang="en-US" sz="2436" dirty="0"/>
          </a:p>
        </p:txBody>
      </p:sp>
      <p:sp>
        <p:nvSpPr>
          <p:cNvPr id="5" name="Shape 1"/>
          <p:cNvSpPr/>
          <p:nvPr/>
        </p:nvSpPr>
        <p:spPr>
          <a:xfrm>
            <a:off x="571500" y="980480"/>
            <a:ext cx="8001000" cy="941189"/>
          </a:xfrm>
          <a:prstGeom prst="rect">
            <a:avLst/>
          </a:prstGeom>
          <a:solidFill>
            <a:srgbClr val="00D9FF">
              <a:alpha val="10000"/>
            </a:srgbClr>
          </a:solidFill>
          <a:ln/>
        </p:spPr>
        <p:txBody>
          <a:bodyPr/>
          <a:lstStyle/>
          <a:p>
            <a:endParaRPr lang="en-US"/>
          </a:p>
        </p:txBody>
      </p:sp>
      <p:sp>
        <p:nvSpPr>
          <p:cNvPr id="6" name="Shape 2"/>
          <p:cNvSpPr/>
          <p:nvPr/>
        </p:nvSpPr>
        <p:spPr>
          <a:xfrm>
            <a:off x="571500" y="980480"/>
            <a:ext cx="35719" cy="941189"/>
          </a:xfrm>
          <a:prstGeom prst="rect">
            <a:avLst/>
          </a:prstGeom>
          <a:solidFill>
            <a:srgbClr val="00D9FF"/>
          </a:solidFill>
          <a:ln/>
        </p:spPr>
        <p:txBody>
          <a:bodyPr/>
          <a:lstStyle/>
          <a:p>
            <a:endParaRPr lang="en-US"/>
          </a:p>
        </p:txBody>
      </p:sp>
      <p:sp>
        <p:nvSpPr>
          <p:cNvPr id="7" name="Text 3"/>
          <p:cNvSpPr/>
          <p:nvPr/>
        </p:nvSpPr>
        <p:spPr>
          <a:xfrm>
            <a:off x="750094" y="1123355"/>
            <a:ext cx="7643813" cy="457200"/>
          </a:xfrm>
          <a:prstGeom prst="rect">
            <a:avLst/>
          </a:prstGeom>
          <a:noFill/>
          <a:ln/>
        </p:spPr>
        <p:txBody>
          <a:bodyPr wrap="square" lIns="0" tIns="0" rIns="0" bIns="0" rtlCol="0" anchor="t">
            <a:spAutoFit/>
          </a:bodyPr>
          <a:lstStyle/>
          <a:p>
            <a:pPr marL="0" indent="0" algn="l">
              <a:lnSpc>
                <a:spcPts val="1800"/>
              </a:lnSpc>
              <a:buNone/>
            </a:pPr>
            <a:r>
              <a:rPr lang="en-US" sz="1050" dirty="0">
                <a:solidFill>
                  <a:srgbClr val="FFFFFF"/>
                </a:solidFill>
              </a:rPr>
              <a:t>The </a:t>
            </a:r>
            <a:r>
              <a:rPr lang="en-US" sz="987" b="1" dirty="0">
                <a:solidFill>
                  <a:srgbClr val="FFFFFF"/>
                </a:solidFill>
              </a:rPr>
              <a:t>sample space</a:t>
            </a:r>
            <a:r>
              <a:rPr lang="en-US" sz="1050" dirty="0">
                <a:solidFill>
                  <a:srgbClr val="FFFFFF"/>
                </a:solidFill>
              </a:rPr>
              <a:t> (denoted as </a:t>
            </a:r>
            <a:r>
              <a:rPr lang="en-US" sz="987" b="1" dirty="0">
                <a:solidFill>
                  <a:srgbClr val="FFFFFF"/>
                </a:solidFill>
              </a:rPr>
              <a:t>S</a:t>
            </a:r>
            <a:r>
              <a:rPr lang="en-US" sz="1050" dirty="0">
                <a:solidFill>
                  <a:srgbClr val="FFFFFF"/>
                </a:solidFill>
              </a:rPr>
              <a:t> or </a:t>
            </a:r>
            <a:r>
              <a:rPr lang="en-US" sz="987" b="1" dirty="0">
                <a:solidFill>
                  <a:srgbClr val="FFFFFF"/>
                </a:solidFill>
              </a:rPr>
              <a:t>Ω</a:t>
            </a:r>
            <a:r>
              <a:rPr lang="en-US" sz="1050" dirty="0">
                <a:solidFill>
                  <a:srgbClr val="FFFFFF"/>
                </a:solidFill>
              </a:rPr>
              <a:t>) is the set of all possible outcomes of a random experiment. It represents every distinct result that could occur when the experiment is performed.</a:t>
            </a:r>
            <a:endParaRPr lang="en-US" sz="1050" dirty="0"/>
          </a:p>
        </p:txBody>
      </p:sp>
      <p:sp>
        <p:nvSpPr>
          <p:cNvPr id="8" name="Text 4"/>
          <p:cNvSpPr/>
          <p:nvPr/>
        </p:nvSpPr>
        <p:spPr>
          <a:xfrm>
            <a:off x="750094" y="1687711"/>
            <a:ext cx="7643813" cy="233958"/>
          </a:xfrm>
          <a:prstGeom prst="rect">
            <a:avLst/>
          </a:prstGeom>
          <a:noFill/>
          <a:ln/>
        </p:spPr>
        <p:txBody>
          <a:bodyPr wrap="none" lIns="0" tIns="0" rIns="0" bIns="0" rtlCol="0" anchor="t">
            <a:spAutoFit/>
          </a:bodyPr>
          <a:lstStyle/>
          <a:p>
            <a:pPr marL="0" indent="0" algn="ctr">
              <a:lnSpc>
                <a:spcPts val="1600"/>
              </a:lnSpc>
              <a:buNone/>
            </a:pPr>
            <a:r>
              <a:rPr lang="en-US" sz="1193" b="1" dirty="0">
                <a:solidFill>
                  <a:srgbClr val="FFD93D"/>
                </a:solidFill>
              </a:rPr>
              <a:t>S = {all possible outcomes}</a:t>
            </a:r>
            <a:endParaRPr lang="en-US" sz="1193" dirty="0"/>
          </a:p>
        </p:txBody>
      </p:sp>
      <p:sp>
        <p:nvSpPr>
          <p:cNvPr id="9" name="Text 5"/>
          <p:cNvSpPr/>
          <p:nvPr/>
        </p:nvSpPr>
        <p:spPr>
          <a:xfrm>
            <a:off x="571500" y="2064544"/>
            <a:ext cx="8001000" cy="251817"/>
          </a:xfrm>
          <a:prstGeom prst="rect">
            <a:avLst/>
          </a:prstGeom>
          <a:noFill/>
          <a:ln/>
        </p:spPr>
        <p:txBody>
          <a:bodyPr wrap="none" lIns="0" tIns="0" rIns="0" bIns="0" rtlCol="0" anchor="t">
            <a:spAutoFit/>
          </a:bodyPr>
          <a:lstStyle/>
          <a:p>
            <a:pPr marL="0" indent="0" algn="ctr">
              <a:lnSpc>
                <a:spcPts val="1800"/>
              </a:lnSpc>
              <a:buNone/>
            </a:pPr>
            <a:r>
              <a:rPr lang="en-US" sz="1295" b="1" dirty="0">
                <a:solidFill>
                  <a:srgbClr val="FF6B9D"/>
                </a:solidFill>
              </a:rPr>
              <a:t>Examples of Sample Spaces</a:t>
            </a:r>
            <a:endParaRPr lang="en-US" sz="1295" dirty="0"/>
          </a:p>
        </p:txBody>
      </p:sp>
      <p:sp>
        <p:nvSpPr>
          <p:cNvPr id="10" name="Shape 6"/>
          <p:cNvSpPr/>
          <p:nvPr/>
        </p:nvSpPr>
        <p:spPr>
          <a:xfrm>
            <a:off x="571500" y="2430661"/>
            <a:ext cx="3936206" cy="1360494"/>
          </a:xfrm>
          <a:prstGeom prst="rect">
            <a:avLst/>
          </a:prstGeom>
          <a:solidFill>
            <a:srgbClr val="FFFFFF">
              <a:alpha val="5000"/>
            </a:srgbClr>
          </a:solidFill>
          <a:ln/>
        </p:spPr>
        <p:txBody>
          <a:bodyPr/>
          <a:lstStyle/>
          <a:p>
            <a:endParaRPr lang="en-US"/>
          </a:p>
        </p:txBody>
      </p:sp>
      <p:sp>
        <p:nvSpPr>
          <p:cNvPr id="11" name="Text 7"/>
          <p:cNvSpPr/>
          <p:nvPr/>
        </p:nvSpPr>
        <p:spPr>
          <a:xfrm>
            <a:off x="714375" y="2573536"/>
            <a:ext cx="3650456"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FFD93D"/>
                </a:solidFill>
              </a:rPr>
              <a:t>1. Tossing a Coin</a:t>
            </a:r>
            <a:endParaRPr lang="en-US" sz="987" dirty="0"/>
          </a:p>
        </p:txBody>
      </p:sp>
      <p:sp>
        <p:nvSpPr>
          <p:cNvPr id="12" name="Text 8"/>
          <p:cNvSpPr/>
          <p:nvPr/>
        </p:nvSpPr>
        <p:spPr>
          <a:xfrm>
            <a:off x="714375" y="2853928"/>
            <a:ext cx="3650456" cy="412886"/>
          </a:xfrm>
          <a:prstGeom prst="rect">
            <a:avLst/>
          </a:prstGeom>
          <a:noFill/>
          <a:ln/>
        </p:spPr>
        <p:txBody>
          <a:bodyPr wrap="square" lIns="0" tIns="0" rIns="0" bIns="0" rtlCol="0" anchor="t">
            <a:spAutoFit/>
          </a:bodyPr>
          <a:lstStyle/>
          <a:p>
            <a:pPr marL="0" indent="0" algn="l">
              <a:lnSpc>
                <a:spcPts val="1600"/>
              </a:lnSpc>
              <a:buNone/>
            </a:pPr>
            <a:r>
              <a:rPr lang="en-US" sz="888" dirty="0">
                <a:solidFill>
                  <a:srgbClr val="FFFFFF"/>
                </a:solidFill>
              </a:rPr>
              <a:t>When you flip a fair coin, there are two possible outcomes: heads or tails.</a:t>
            </a:r>
            <a:endParaRPr lang="en-US" sz="888" dirty="0"/>
          </a:p>
        </p:txBody>
      </p:sp>
      <p:sp>
        <p:nvSpPr>
          <p:cNvPr id="13" name="Text 9"/>
          <p:cNvSpPr/>
          <p:nvPr/>
        </p:nvSpPr>
        <p:spPr>
          <a:xfrm>
            <a:off x="714375" y="3338252"/>
            <a:ext cx="3650456" cy="175022"/>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00D9FF"/>
                </a:solidFill>
              </a:rPr>
              <a:t>S = </a:t>
            </a:r>
            <a:r>
              <a:rPr lang="en-US" sz="885" b="1" dirty="0">
                <a:solidFill>
                  <a:srgbClr val="FF6B9D"/>
                </a:solidFill>
              </a:rPr>
              <a:t>{H, T}</a:t>
            </a:r>
            <a:endParaRPr lang="en-US" sz="885" dirty="0"/>
          </a:p>
        </p:txBody>
      </p:sp>
      <p:sp>
        <p:nvSpPr>
          <p:cNvPr id="14" name="Text 10"/>
          <p:cNvSpPr/>
          <p:nvPr/>
        </p:nvSpPr>
        <p:spPr>
          <a:xfrm>
            <a:off x="714375" y="3584711"/>
            <a:ext cx="3650456" cy="206443"/>
          </a:xfrm>
          <a:prstGeom prst="rect">
            <a:avLst/>
          </a:prstGeom>
          <a:noFill/>
          <a:ln/>
        </p:spPr>
        <p:txBody>
          <a:bodyPr wrap="none" lIns="0" tIns="0" rIns="0" bIns="0" rtlCol="0" anchor="t">
            <a:spAutoFit/>
          </a:bodyPr>
          <a:lstStyle/>
          <a:p>
            <a:pPr marL="0" indent="0" algn="l">
              <a:lnSpc>
                <a:spcPts val="1600"/>
              </a:lnSpc>
              <a:buNone/>
            </a:pPr>
            <a:r>
              <a:rPr lang="en-US" sz="888" dirty="0">
                <a:solidFill>
                  <a:srgbClr val="FFFFFF"/>
                </a:solidFill>
              </a:rPr>
              <a:t>Number of outcomes: </a:t>
            </a:r>
            <a:r>
              <a:rPr lang="en-US" sz="834" b="1" dirty="0">
                <a:solidFill>
                  <a:srgbClr val="FFFFFF"/>
                </a:solidFill>
              </a:rPr>
              <a:t>n(S) = 2</a:t>
            </a:r>
            <a:endParaRPr lang="en-US" sz="888" dirty="0"/>
          </a:p>
        </p:txBody>
      </p:sp>
      <p:sp>
        <p:nvSpPr>
          <p:cNvPr id="15" name="Shape 11"/>
          <p:cNvSpPr/>
          <p:nvPr/>
        </p:nvSpPr>
        <p:spPr>
          <a:xfrm>
            <a:off x="4636294" y="2430661"/>
            <a:ext cx="3936206" cy="1360494"/>
          </a:xfrm>
          <a:prstGeom prst="rect">
            <a:avLst/>
          </a:prstGeom>
          <a:solidFill>
            <a:srgbClr val="FFFFFF">
              <a:alpha val="5000"/>
            </a:srgbClr>
          </a:solidFill>
          <a:ln/>
        </p:spPr>
        <p:txBody>
          <a:bodyPr/>
          <a:lstStyle/>
          <a:p>
            <a:endParaRPr lang="en-US"/>
          </a:p>
        </p:txBody>
      </p:sp>
      <p:sp>
        <p:nvSpPr>
          <p:cNvPr id="16" name="Text 12"/>
          <p:cNvSpPr/>
          <p:nvPr/>
        </p:nvSpPr>
        <p:spPr>
          <a:xfrm>
            <a:off x="4779169" y="2573536"/>
            <a:ext cx="3650456"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FFD93D"/>
                </a:solidFill>
              </a:rPr>
              <a:t>2. Rolling a Die</a:t>
            </a:r>
            <a:endParaRPr lang="en-US" sz="987" dirty="0"/>
          </a:p>
        </p:txBody>
      </p:sp>
      <p:sp>
        <p:nvSpPr>
          <p:cNvPr id="17" name="Text 13"/>
          <p:cNvSpPr/>
          <p:nvPr/>
        </p:nvSpPr>
        <p:spPr>
          <a:xfrm>
            <a:off x="4779169" y="2853928"/>
            <a:ext cx="3650456" cy="412886"/>
          </a:xfrm>
          <a:prstGeom prst="rect">
            <a:avLst/>
          </a:prstGeom>
          <a:noFill/>
          <a:ln/>
        </p:spPr>
        <p:txBody>
          <a:bodyPr wrap="square" lIns="0" tIns="0" rIns="0" bIns="0" rtlCol="0" anchor="t">
            <a:spAutoFit/>
          </a:bodyPr>
          <a:lstStyle/>
          <a:p>
            <a:pPr marL="0" indent="0" algn="l">
              <a:lnSpc>
                <a:spcPts val="1600"/>
              </a:lnSpc>
              <a:buNone/>
            </a:pPr>
            <a:r>
              <a:rPr lang="en-US" sz="888" dirty="0">
                <a:solidFill>
                  <a:srgbClr val="FFFFFF"/>
                </a:solidFill>
              </a:rPr>
              <a:t>A standard six-sided die can land on any face numbered 1 through 6.</a:t>
            </a:r>
            <a:endParaRPr lang="en-US" sz="888" dirty="0"/>
          </a:p>
        </p:txBody>
      </p:sp>
      <p:sp>
        <p:nvSpPr>
          <p:cNvPr id="18" name="Text 14"/>
          <p:cNvSpPr/>
          <p:nvPr/>
        </p:nvSpPr>
        <p:spPr>
          <a:xfrm>
            <a:off x="4779169" y="3338252"/>
            <a:ext cx="3650456" cy="175022"/>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00D9FF"/>
                </a:solidFill>
              </a:rPr>
              <a:t>S = </a:t>
            </a:r>
            <a:r>
              <a:rPr lang="en-US" sz="885" b="1" dirty="0">
                <a:solidFill>
                  <a:srgbClr val="FF6B9D"/>
                </a:solidFill>
              </a:rPr>
              <a:t>{1, 2, 3, 4, 5, 6}</a:t>
            </a:r>
            <a:endParaRPr lang="en-US" sz="885" dirty="0"/>
          </a:p>
        </p:txBody>
      </p:sp>
      <p:sp>
        <p:nvSpPr>
          <p:cNvPr id="19" name="Text 15"/>
          <p:cNvSpPr/>
          <p:nvPr/>
        </p:nvSpPr>
        <p:spPr>
          <a:xfrm>
            <a:off x="4779169" y="3584711"/>
            <a:ext cx="3650456" cy="206443"/>
          </a:xfrm>
          <a:prstGeom prst="rect">
            <a:avLst/>
          </a:prstGeom>
          <a:noFill/>
          <a:ln/>
        </p:spPr>
        <p:txBody>
          <a:bodyPr wrap="none" lIns="0" tIns="0" rIns="0" bIns="0" rtlCol="0" anchor="t">
            <a:spAutoFit/>
          </a:bodyPr>
          <a:lstStyle/>
          <a:p>
            <a:pPr marL="0" indent="0" algn="l">
              <a:lnSpc>
                <a:spcPts val="1600"/>
              </a:lnSpc>
              <a:buNone/>
            </a:pPr>
            <a:r>
              <a:rPr lang="en-US" sz="888" dirty="0">
                <a:solidFill>
                  <a:srgbClr val="FFFFFF"/>
                </a:solidFill>
              </a:rPr>
              <a:t>Number of outcomes: </a:t>
            </a:r>
            <a:r>
              <a:rPr lang="en-US" sz="834" b="1" dirty="0">
                <a:solidFill>
                  <a:srgbClr val="FFFFFF"/>
                </a:solidFill>
              </a:rPr>
              <a:t>n(S) = 6</a:t>
            </a:r>
            <a:endParaRPr lang="en-US" sz="888" dirty="0"/>
          </a:p>
        </p:txBody>
      </p:sp>
      <p:sp>
        <p:nvSpPr>
          <p:cNvPr id="20" name="Shape 16"/>
          <p:cNvSpPr/>
          <p:nvPr/>
        </p:nvSpPr>
        <p:spPr>
          <a:xfrm>
            <a:off x="571500" y="3824492"/>
            <a:ext cx="3936206" cy="1360494"/>
          </a:xfrm>
          <a:prstGeom prst="rect">
            <a:avLst/>
          </a:prstGeom>
          <a:solidFill>
            <a:srgbClr val="FFFFFF">
              <a:alpha val="5000"/>
            </a:srgbClr>
          </a:solidFill>
          <a:ln/>
        </p:spPr>
        <p:txBody>
          <a:bodyPr/>
          <a:lstStyle/>
          <a:p>
            <a:endParaRPr lang="en-US"/>
          </a:p>
        </p:txBody>
      </p:sp>
      <p:sp>
        <p:nvSpPr>
          <p:cNvPr id="21" name="Text 17"/>
          <p:cNvSpPr/>
          <p:nvPr/>
        </p:nvSpPr>
        <p:spPr>
          <a:xfrm>
            <a:off x="714375" y="3967367"/>
            <a:ext cx="3650456"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FFD93D"/>
                </a:solidFill>
              </a:rPr>
              <a:t>3. Tossing Two Coins</a:t>
            </a:r>
            <a:endParaRPr lang="en-US" sz="987" dirty="0"/>
          </a:p>
        </p:txBody>
      </p:sp>
      <p:sp>
        <p:nvSpPr>
          <p:cNvPr id="22" name="Text 18"/>
          <p:cNvSpPr/>
          <p:nvPr/>
        </p:nvSpPr>
        <p:spPr>
          <a:xfrm>
            <a:off x="714375" y="4247759"/>
            <a:ext cx="3650456" cy="412886"/>
          </a:xfrm>
          <a:prstGeom prst="rect">
            <a:avLst/>
          </a:prstGeom>
          <a:noFill/>
          <a:ln/>
        </p:spPr>
        <p:txBody>
          <a:bodyPr wrap="square" lIns="0" tIns="0" rIns="0" bIns="0" rtlCol="0" anchor="t">
            <a:spAutoFit/>
          </a:bodyPr>
          <a:lstStyle/>
          <a:p>
            <a:pPr marL="0" indent="0" algn="l">
              <a:lnSpc>
                <a:spcPts val="1600"/>
              </a:lnSpc>
              <a:buNone/>
            </a:pPr>
            <a:r>
              <a:rPr lang="en-US" sz="888" dirty="0">
                <a:solidFill>
                  <a:srgbClr val="FFFFFF"/>
                </a:solidFill>
              </a:rPr>
              <a:t>When flipping two coins, we record the outcome of each coin in order.</a:t>
            </a:r>
            <a:endParaRPr lang="en-US" sz="888" dirty="0"/>
          </a:p>
        </p:txBody>
      </p:sp>
      <p:sp>
        <p:nvSpPr>
          <p:cNvPr id="23" name="Text 19"/>
          <p:cNvSpPr/>
          <p:nvPr/>
        </p:nvSpPr>
        <p:spPr>
          <a:xfrm>
            <a:off x="714375" y="4732083"/>
            <a:ext cx="3650456" cy="175022"/>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00D9FF"/>
                </a:solidFill>
              </a:rPr>
              <a:t>S = </a:t>
            </a:r>
            <a:r>
              <a:rPr lang="en-US" sz="885" b="1" dirty="0">
                <a:solidFill>
                  <a:srgbClr val="FF6B9D"/>
                </a:solidFill>
              </a:rPr>
              <a:t>{HH, HT, TH, TT}</a:t>
            </a:r>
            <a:endParaRPr lang="en-US" sz="885" dirty="0"/>
          </a:p>
        </p:txBody>
      </p:sp>
      <p:sp>
        <p:nvSpPr>
          <p:cNvPr id="24" name="Text 20"/>
          <p:cNvSpPr/>
          <p:nvPr/>
        </p:nvSpPr>
        <p:spPr>
          <a:xfrm>
            <a:off x="714375" y="4978543"/>
            <a:ext cx="3650456" cy="206443"/>
          </a:xfrm>
          <a:prstGeom prst="rect">
            <a:avLst/>
          </a:prstGeom>
          <a:noFill/>
          <a:ln/>
        </p:spPr>
        <p:txBody>
          <a:bodyPr wrap="none" lIns="0" tIns="0" rIns="0" bIns="0" rtlCol="0" anchor="t">
            <a:spAutoFit/>
          </a:bodyPr>
          <a:lstStyle/>
          <a:p>
            <a:pPr marL="0" indent="0" algn="l">
              <a:lnSpc>
                <a:spcPts val="1600"/>
              </a:lnSpc>
              <a:buNone/>
            </a:pPr>
            <a:r>
              <a:rPr lang="en-US" sz="888" dirty="0">
                <a:solidFill>
                  <a:srgbClr val="FFFFFF"/>
                </a:solidFill>
              </a:rPr>
              <a:t>Number of outcomes: </a:t>
            </a:r>
            <a:r>
              <a:rPr lang="en-US" sz="834" b="1" dirty="0">
                <a:solidFill>
                  <a:srgbClr val="FFFFFF"/>
                </a:solidFill>
              </a:rPr>
              <a:t>n(S) = 4</a:t>
            </a:r>
            <a:endParaRPr lang="en-US" sz="888" dirty="0"/>
          </a:p>
        </p:txBody>
      </p:sp>
      <p:sp>
        <p:nvSpPr>
          <p:cNvPr id="25" name="Shape 21"/>
          <p:cNvSpPr/>
          <p:nvPr/>
        </p:nvSpPr>
        <p:spPr>
          <a:xfrm>
            <a:off x="4636294" y="3824492"/>
            <a:ext cx="3936206" cy="1360494"/>
          </a:xfrm>
          <a:prstGeom prst="rect">
            <a:avLst/>
          </a:prstGeom>
          <a:solidFill>
            <a:srgbClr val="FFFFFF">
              <a:alpha val="5000"/>
            </a:srgbClr>
          </a:solidFill>
          <a:ln/>
        </p:spPr>
        <p:txBody>
          <a:bodyPr/>
          <a:lstStyle/>
          <a:p>
            <a:endParaRPr lang="en-US"/>
          </a:p>
        </p:txBody>
      </p:sp>
      <p:sp>
        <p:nvSpPr>
          <p:cNvPr id="26" name="Text 22"/>
          <p:cNvSpPr/>
          <p:nvPr/>
        </p:nvSpPr>
        <p:spPr>
          <a:xfrm>
            <a:off x="4779169" y="3967367"/>
            <a:ext cx="3650456"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FFD93D"/>
                </a:solidFill>
              </a:rPr>
              <a:t>4. Drawing a Card Suit</a:t>
            </a:r>
            <a:endParaRPr lang="en-US" sz="987" dirty="0"/>
          </a:p>
        </p:txBody>
      </p:sp>
      <p:sp>
        <p:nvSpPr>
          <p:cNvPr id="27" name="Text 23"/>
          <p:cNvSpPr/>
          <p:nvPr/>
        </p:nvSpPr>
        <p:spPr>
          <a:xfrm>
            <a:off x="4779169" y="4247759"/>
            <a:ext cx="3650456" cy="206443"/>
          </a:xfrm>
          <a:prstGeom prst="rect">
            <a:avLst/>
          </a:prstGeom>
          <a:noFill/>
          <a:ln/>
        </p:spPr>
        <p:txBody>
          <a:bodyPr wrap="none" lIns="0" tIns="0" rIns="0" bIns="0" rtlCol="0" anchor="t">
            <a:spAutoFit/>
          </a:bodyPr>
          <a:lstStyle/>
          <a:p>
            <a:pPr marL="0" indent="0" algn="l">
              <a:lnSpc>
                <a:spcPts val="1600"/>
              </a:lnSpc>
              <a:buNone/>
            </a:pPr>
            <a:r>
              <a:rPr lang="en-US" sz="888" dirty="0">
                <a:solidFill>
                  <a:srgbClr val="FFFFFF"/>
                </a:solidFill>
              </a:rPr>
              <a:t>Drawing one card from a deck and noting only its suit.</a:t>
            </a:r>
            <a:endParaRPr lang="en-US" sz="888" dirty="0"/>
          </a:p>
        </p:txBody>
      </p:sp>
      <p:sp>
        <p:nvSpPr>
          <p:cNvPr id="28" name="Text 24"/>
          <p:cNvSpPr/>
          <p:nvPr/>
        </p:nvSpPr>
        <p:spPr>
          <a:xfrm>
            <a:off x="4779169" y="4525640"/>
            <a:ext cx="3650456" cy="189309"/>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00D9FF"/>
                </a:solidFill>
              </a:rPr>
              <a:t>S = </a:t>
            </a:r>
            <a:r>
              <a:rPr lang="en-US" sz="885" b="1" dirty="0">
                <a:solidFill>
                  <a:srgbClr val="FF6B9D"/>
                </a:solidFill>
              </a:rPr>
              <a:t>{♠, ♥, ♦, ♣}</a:t>
            </a:r>
            <a:endParaRPr lang="en-US" sz="885" dirty="0"/>
          </a:p>
        </p:txBody>
      </p:sp>
      <p:sp>
        <p:nvSpPr>
          <p:cNvPr id="29" name="Text 25"/>
          <p:cNvSpPr/>
          <p:nvPr/>
        </p:nvSpPr>
        <p:spPr>
          <a:xfrm>
            <a:off x="4779169" y="4786387"/>
            <a:ext cx="3650456" cy="206443"/>
          </a:xfrm>
          <a:prstGeom prst="rect">
            <a:avLst/>
          </a:prstGeom>
          <a:noFill/>
          <a:ln/>
        </p:spPr>
        <p:txBody>
          <a:bodyPr wrap="none" lIns="0" tIns="0" rIns="0" bIns="0" rtlCol="0" anchor="t">
            <a:spAutoFit/>
          </a:bodyPr>
          <a:lstStyle/>
          <a:p>
            <a:pPr marL="0" indent="0" algn="l">
              <a:lnSpc>
                <a:spcPts val="1600"/>
              </a:lnSpc>
              <a:buNone/>
            </a:pPr>
            <a:r>
              <a:rPr lang="en-US" sz="888" dirty="0">
                <a:solidFill>
                  <a:srgbClr val="FFFFFF"/>
                </a:solidFill>
              </a:rPr>
              <a:t>Number of outcomes: </a:t>
            </a:r>
            <a:r>
              <a:rPr lang="en-US" sz="834" b="1" dirty="0">
                <a:solidFill>
                  <a:srgbClr val="FFFFFF"/>
                </a:solidFill>
              </a:rPr>
              <a:t>n(S) = 4</a:t>
            </a:r>
            <a:endParaRPr lang="en-US" sz="888"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55974"/>
          </a:xfrm>
          <a:prstGeom prst="rect">
            <a:avLst/>
          </a:prstGeom>
        </p:spPr>
      </p:pic>
      <p:sp>
        <p:nvSpPr>
          <p:cNvPr id="4" name="Text 0"/>
          <p:cNvSpPr/>
          <p:nvPr/>
        </p:nvSpPr>
        <p:spPr>
          <a:xfrm>
            <a:off x="0" y="357188"/>
            <a:ext cx="9144000" cy="466130"/>
          </a:xfrm>
          <a:prstGeom prst="rect">
            <a:avLst/>
          </a:prstGeom>
          <a:noFill/>
          <a:ln/>
        </p:spPr>
        <p:txBody>
          <a:bodyPr wrap="none" lIns="0" tIns="0" rIns="0" bIns="0" rtlCol="0" anchor="t">
            <a:spAutoFit/>
          </a:bodyPr>
          <a:lstStyle/>
          <a:p>
            <a:pPr marL="0" indent="0" algn="ctr">
              <a:lnSpc>
                <a:spcPts val="3200"/>
              </a:lnSpc>
              <a:buNone/>
            </a:pPr>
            <a:r>
              <a:rPr lang="en-US" sz="2436" b="1" dirty="0">
                <a:solidFill>
                  <a:srgbClr val="00D9FF"/>
                </a:solidFill>
              </a:rPr>
              <a:t>Events and Outcomes</a:t>
            </a:r>
            <a:endParaRPr lang="en-US" sz="2436" dirty="0"/>
          </a:p>
        </p:txBody>
      </p:sp>
      <p:sp>
        <p:nvSpPr>
          <p:cNvPr id="5" name="Text 1"/>
          <p:cNvSpPr/>
          <p:nvPr/>
        </p:nvSpPr>
        <p:spPr>
          <a:xfrm>
            <a:off x="500063" y="1073348"/>
            <a:ext cx="3857625" cy="251817"/>
          </a:xfrm>
          <a:prstGeom prst="rect">
            <a:avLst/>
          </a:prstGeom>
          <a:noFill/>
          <a:ln/>
        </p:spPr>
        <p:txBody>
          <a:bodyPr wrap="none" lIns="0" tIns="0" rIns="0" bIns="0" rtlCol="0" anchor="t">
            <a:spAutoFit/>
          </a:bodyPr>
          <a:lstStyle/>
          <a:p>
            <a:pPr marL="0" indent="0" algn="l">
              <a:lnSpc>
                <a:spcPts val="1800"/>
              </a:lnSpc>
              <a:buNone/>
            </a:pPr>
            <a:r>
              <a:rPr lang="en-US" sz="1295" b="1" dirty="0">
                <a:solidFill>
                  <a:srgbClr val="FFD93D"/>
                </a:solidFill>
              </a:rPr>
              <a:t>Core Definitions</a:t>
            </a:r>
            <a:endParaRPr lang="en-US" sz="1295" dirty="0"/>
          </a:p>
        </p:txBody>
      </p:sp>
      <p:sp>
        <p:nvSpPr>
          <p:cNvPr id="6" name="Text 2"/>
          <p:cNvSpPr/>
          <p:nvPr/>
        </p:nvSpPr>
        <p:spPr>
          <a:xfrm>
            <a:off x="500063" y="1275953"/>
            <a:ext cx="3857625" cy="388609"/>
          </a:xfrm>
          <a:prstGeom prst="rect">
            <a:avLst/>
          </a:prstGeom>
          <a:noFill/>
          <a:ln/>
        </p:spPr>
        <p:txBody>
          <a:bodyPr wrap="square" lIns="0" tIns="0" rIns="0" bIns="0" rtlCol="0" anchor="t">
            <a:spAutoFit/>
          </a:bodyPr>
          <a:lstStyle/>
          <a:p>
            <a:pPr marL="0" indent="0" algn="l">
              <a:lnSpc>
                <a:spcPts val="1500"/>
              </a:lnSpc>
              <a:buNone/>
            </a:pPr>
            <a:r>
              <a:rPr lang="en-US" sz="888" dirty="0">
                <a:solidFill>
                  <a:srgbClr val="FFFFFF"/>
                </a:solidFill>
              </a:rPr>
              <a:t>An </a:t>
            </a:r>
            <a:r>
              <a:rPr lang="en-US" sz="834" b="1" dirty="0">
                <a:solidFill>
                  <a:srgbClr val="FF6B9D"/>
                </a:solidFill>
              </a:rPr>
              <a:t>outcome</a:t>
            </a:r>
            <a:r>
              <a:rPr lang="en-US" sz="888" dirty="0">
                <a:solidFill>
                  <a:srgbClr val="FFFFFF"/>
                </a:solidFill>
              </a:rPr>
              <a:t> is a single result of a random experiment. It is the most basic, indivisible result that can occur.</a:t>
            </a:r>
            <a:endParaRPr lang="en-US" sz="888" dirty="0"/>
          </a:p>
        </p:txBody>
      </p:sp>
      <p:sp>
        <p:nvSpPr>
          <p:cNvPr id="7" name="Text 3"/>
          <p:cNvSpPr/>
          <p:nvPr/>
        </p:nvSpPr>
        <p:spPr>
          <a:xfrm>
            <a:off x="500063" y="1750287"/>
            <a:ext cx="3857625" cy="582913"/>
          </a:xfrm>
          <a:prstGeom prst="rect">
            <a:avLst/>
          </a:prstGeom>
          <a:noFill/>
          <a:ln/>
        </p:spPr>
        <p:txBody>
          <a:bodyPr wrap="square" lIns="0" tIns="0" rIns="0" bIns="0" rtlCol="0" anchor="t">
            <a:spAutoFit/>
          </a:bodyPr>
          <a:lstStyle/>
          <a:p>
            <a:pPr marL="0" indent="0" algn="l">
              <a:lnSpc>
                <a:spcPts val="1500"/>
              </a:lnSpc>
              <a:buNone/>
            </a:pPr>
            <a:r>
              <a:rPr lang="en-US" sz="888" dirty="0">
                <a:solidFill>
                  <a:srgbClr val="FFFFFF"/>
                </a:solidFill>
              </a:rPr>
              <a:t>An </a:t>
            </a:r>
            <a:r>
              <a:rPr lang="en-US" sz="834" b="1" dirty="0">
                <a:solidFill>
                  <a:srgbClr val="FF6B9D"/>
                </a:solidFill>
              </a:rPr>
              <a:t>event</a:t>
            </a:r>
            <a:r>
              <a:rPr lang="en-US" sz="888" dirty="0">
                <a:solidFill>
                  <a:srgbClr val="FFFFFF"/>
                </a:solidFill>
              </a:rPr>
              <a:t> is a set of one or more outcomes from the sample space. Events are subsets of the sample space and represent specific conditions we're interested in.</a:t>
            </a:r>
            <a:endParaRPr lang="en-US" sz="888" dirty="0"/>
          </a:p>
        </p:txBody>
      </p:sp>
      <p:sp>
        <p:nvSpPr>
          <p:cNvPr id="8" name="Text 4"/>
          <p:cNvSpPr/>
          <p:nvPr/>
        </p:nvSpPr>
        <p:spPr>
          <a:xfrm>
            <a:off x="500063" y="2350663"/>
            <a:ext cx="3857625" cy="251817"/>
          </a:xfrm>
          <a:prstGeom prst="rect">
            <a:avLst/>
          </a:prstGeom>
          <a:noFill/>
          <a:ln/>
        </p:spPr>
        <p:txBody>
          <a:bodyPr wrap="none" lIns="0" tIns="0" rIns="0" bIns="0" rtlCol="0" anchor="t">
            <a:spAutoFit/>
          </a:bodyPr>
          <a:lstStyle/>
          <a:p>
            <a:pPr marL="0" indent="0" algn="l">
              <a:lnSpc>
                <a:spcPts val="1800"/>
              </a:lnSpc>
              <a:buNone/>
            </a:pPr>
            <a:r>
              <a:rPr lang="en-US" sz="1295" b="1" dirty="0">
                <a:solidFill>
                  <a:srgbClr val="FFD93D"/>
                </a:solidFill>
              </a:rPr>
              <a:t>Types of Events</a:t>
            </a:r>
            <a:endParaRPr lang="en-US" sz="1295" dirty="0"/>
          </a:p>
        </p:txBody>
      </p:sp>
      <p:sp>
        <p:nvSpPr>
          <p:cNvPr id="9" name="Text 5"/>
          <p:cNvSpPr/>
          <p:nvPr/>
        </p:nvSpPr>
        <p:spPr>
          <a:xfrm>
            <a:off x="500063" y="2673917"/>
            <a:ext cx="3857625" cy="183952"/>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00D9FF"/>
                </a:solidFill>
              </a:rPr>
              <a:t>Simple Event</a:t>
            </a:r>
            <a:endParaRPr lang="en-US" sz="936" dirty="0"/>
          </a:p>
        </p:txBody>
      </p:sp>
      <p:sp>
        <p:nvSpPr>
          <p:cNvPr id="10" name="Text 6"/>
          <p:cNvSpPr/>
          <p:nvPr/>
        </p:nvSpPr>
        <p:spPr>
          <a:xfrm>
            <a:off x="500063" y="2835644"/>
            <a:ext cx="3857625" cy="34290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FFFFFF"/>
                </a:solidFill>
              </a:rPr>
              <a:t>Contains exactly one outcome from the sample space. Cannot be broken down further.</a:t>
            </a:r>
            <a:endParaRPr lang="en-US" sz="834" dirty="0"/>
          </a:p>
        </p:txBody>
      </p:sp>
      <p:sp>
        <p:nvSpPr>
          <p:cNvPr id="11" name="Text 7"/>
          <p:cNvSpPr/>
          <p:nvPr/>
        </p:nvSpPr>
        <p:spPr>
          <a:xfrm>
            <a:off x="500063" y="3156319"/>
            <a:ext cx="3857625" cy="183952"/>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00D9FF"/>
                </a:solidFill>
              </a:rPr>
              <a:t>Compound Event</a:t>
            </a:r>
            <a:endParaRPr lang="en-US" sz="936" dirty="0"/>
          </a:p>
        </p:txBody>
      </p:sp>
      <p:sp>
        <p:nvSpPr>
          <p:cNvPr id="12" name="Text 8"/>
          <p:cNvSpPr/>
          <p:nvPr/>
        </p:nvSpPr>
        <p:spPr>
          <a:xfrm>
            <a:off x="500063" y="3330746"/>
            <a:ext cx="3857625" cy="34290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FFFFFF"/>
                </a:solidFill>
              </a:rPr>
              <a:t>Contains two or more outcomes. Formed by combining simple events using operations like union or intersection.</a:t>
            </a:r>
            <a:endParaRPr lang="en-US" sz="834" dirty="0"/>
          </a:p>
        </p:txBody>
      </p:sp>
      <p:sp>
        <p:nvSpPr>
          <p:cNvPr id="13" name="Text 9"/>
          <p:cNvSpPr/>
          <p:nvPr/>
        </p:nvSpPr>
        <p:spPr>
          <a:xfrm>
            <a:off x="500063" y="3784771"/>
            <a:ext cx="3857625" cy="183952"/>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00D9FF"/>
                </a:solidFill>
              </a:rPr>
              <a:t>Certain Event</a:t>
            </a:r>
            <a:endParaRPr lang="en-US" sz="936" dirty="0"/>
          </a:p>
        </p:txBody>
      </p:sp>
      <p:sp>
        <p:nvSpPr>
          <p:cNvPr id="14" name="Text 10"/>
          <p:cNvSpPr/>
          <p:nvPr/>
        </p:nvSpPr>
        <p:spPr>
          <a:xfrm>
            <a:off x="500063" y="3965547"/>
            <a:ext cx="3857625" cy="171450"/>
          </a:xfrm>
          <a:prstGeom prst="rect">
            <a:avLst/>
          </a:prstGeom>
          <a:noFill/>
          <a:ln/>
        </p:spPr>
        <p:txBody>
          <a:bodyPr wrap="none" lIns="0" tIns="0" rIns="0" bIns="0" rtlCol="0" anchor="t">
            <a:spAutoFit/>
          </a:bodyPr>
          <a:lstStyle/>
          <a:p>
            <a:pPr marL="0" indent="0" algn="l">
              <a:lnSpc>
                <a:spcPts val="1400"/>
              </a:lnSpc>
              <a:buNone/>
            </a:pPr>
            <a:r>
              <a:rPr lang="en-US" sz="834" dirty="0">
                <a:solidFill>
                  <a:srgbClr val="FFFFFF"/>
                </a:solidFill>
              </a:rPr>
              <a:t>The entire sample space. Always occurs with probability 1.</a:t>
            </a:r>
            <a:endParaRPr lang="en-US" sz="834" dirty="0"/>
          </a:p>
        </p:txBody>
      </p:sp>
      <p:sp>
        <p:nvSpPr>
          <p:cNvPr id="15" name="Text 11"/>
          <p:cNvSpPr/>
          <p:nvPr/>
        </p:nvSpPr>
        <p:spPr>
          <a:xfrm>
            <a:off x="500063" y="4254472"/>
            <a:ext cx="3857625" cy="183952"/>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00D9FF"/>
                </a:solidFill>
              </a:rPr>
              <a:t>Impossible Event</a:t>
            </a:r>
            <a:endParaRPr lang="en-US" sz="936" dirty="0"/>
          </a:p>
        </p:txBody>
      </p:sp>
      <p:sp>
        <p:nvSpPr>
          <p:cNvPr id="16" name="Text 12"/>
          <p:cNvSpPr/>
          <p:nvPr/>
        </p:nvSpPr>
        <p:spPr>
          <a:xfrm>
            <a:off x="500063" y="4390799"/>
            <a:ext cx="3857625" cy="171450"/>
          </a:xfrm>
          <a:prstGeom prst="rect">
            <a:avLst/>
          </a:prstGeom>
          <a:noFill/>
          <a:ln/>
        </p:spPr>
        <p:txBody>
          <a:bodyPr wrap="none" lIns="0" tIns="0" rIns="0" bIns="0" rtlCol="0" anchor="t">
            <a:spAutoFit/>
          </a:bodyPr>
          <a:lstStyle/>
          <a:p>
            <a:pPr marL="0" indent="0" algn="l">
              <a:lnSpc>
                <a:spcPts val="1400"/>
              </a:lnSpc>
              <a:buNone/>
            </a:pPr>
            <a:r>
              <a:rPr lang="en-US" sz="834" dirty="0">
                <a:solidFill>
                  <a:srgbClr val="FFFFFF"/>
                </a:solidFill>
              </a:rPr>
              <a:t>The empty set (∅). Never occurs with probability 0.</a:t>
            </a:r>
            <a:endParaRPr lang="en-US" sz="834" dirty="0"/>
          </a:p>
        </p:txBody>
      </p:sp>
      <p:sp>
        <p:nvSpPr>
          <p:cNvPr id="17" name="Text 13"/>
          <p:cNvSpPr/>
          <p:nvPr/>
        </p:nvSpPr>
        <p:spPr>
          <a:xfrm>
            <a:off x="4786313" y="1073348"/>
            <a:ext cx="3857625" cy="251817"/>
          </a:xfrm>
          <a:prstGeom prst="rect">
            <a:avLst/>
          </a:prstGeom>
          <a:noFill/>
          <a:ln/>
        </p:spPr>
        <p:txBody>
          <a:bodyPr wrap="none" lIns="0" tIns="0" rIns="0" bIns="0" rtlCol="0" anchor="t">
            <a:spAutoFit/>
          </a:bodyPr>
          <a:lstStyle/>
          <a:p>
            <a:pPr marL="0" indent="0" algn="l">
              <a:lnSpc>
                <a:spcPts val="1800"/>
              </a:lnSpc>
              <a:buNone/>
            </a:pPr>
            <a:r>
              <a:rPr lang="en-US" sz="1295" b="1" dirty="0">
                <a:solidFill>
                  <a:srgbClr val="FFD93D"/>
                </a:solidFill>
              </a:rPr>
              <a:t>Examples</a:t>
            </a:r>
            <a:endParaRPr lang="en-US" sz="1295" dirty="0"/>
          </a:p>
        </p:txBody>
      </p:sp>
      <p:sp>
        <p:nvSpPr>
          <p:cNvPr id="18" name="Shape 14"/>
          <p:cNvSpPr/>
          <p:nvPr/>
        </p:nvSpPr>
        <p:spPr>
          <a:xfrm>
            <a:off x="4786313" y="1396603"/>
            <a:ext cx="3857625" cy="803672"/>
          </a:xfrm>
          <a:prstGeom prst="rect">
            <a:avLst/>
          </a:prstGeom>
          <a:solidFill>
            <a:srgbClr val="FF6B9D">
              <a:alpha val="10000"/>
            </a:srgbClr>
          </a:solidFill>
          <a:ln/>
        </p:spPr>
        <p:txBody>
          <a:bodyPr/>
          <a:lstStyle/>
          <a:p>
            <a:endParaRPr lang="en-US"/>
          </a:p>
        </p:txBody>
      </p:sp>
      <p:sp>
        <p:nvSpPr>
          <p:cNvPr id="19" name="Shape 15"/>
          <p:cNvSpPr/>
          <p:nvPr/>
        </p:nvSpPr>
        <p:spPr>
          <a:xfrm>
            <a:off x="4786313" y="1396603"/>
            <a:ext cx="28575" cy="803672"/>
          </a:xfrm>
          <a:prstGeom prst="rect">
            <a:avLst/>
          </a:prstGeom>
          <a:solidFill>
            <a:srgbClr val="FF6B9D"/>
          </a:solidFill>
          <a:ln/>
        </p:spPr>
        <p:txBody>
          <a:bodyPr/>
          <a:lstStyle/>
          <a:p>
            <a:endParaRPr lang="en-US"/>
          </a:p>
        </p:txBody>
      </p:sp>
      <p:sp>
        <p:nvSpPr>
          <p:cNvPr id="20" name="Text 16"/>
          <p:cNvSpPr/>
          <p:nvPr/>
        </p:nvSpPr>
        <p:spPr>
          <a:xfrm>
            <a:off x="4929188" y="1468041"/>
            <a:ext cx="3571875" cy="175022"/>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FFD93D"/>
                </a:solidFill>
              </a:rPr>
              <a:t>Experiment: Rolling a Six-Sided Die</a:t>
            </a:r>
            <a:endParaRPr lang="en-US" sz="885" dirty="0"/>
          </a:p>
        </p:txBody>
      </p:sp>
      <p:sp>
        <p:nvSpPr>
          <p:cNvPr id="21" name="Text 17"/>
          <p:cNvSpPr/>
          <p:nvPr/>
        </p:nvSpPr>
        <p:spPr>
          <a:xfrm>
            <a:off x="4929188" y="1685925"/>
            <a:ext cx="3571875" cy="514350"/>
          </a:xfrm>
          <a:prstGeom prst="rect">
            <a:avLst/>
          </a:prstGeom>
          <a:noFill/>
          <a:ln/>
        </p:spPr>
        <p:txBody>
          <a:bodyPr wrap="square" lIns="0" tIns="0" rIns="0" bIns="0" rtlCol="0" anchor="t">
            <a:spAutoFit/>
          </a:bodyPr>
          <a:lstStyle/>
          <a:p>
            <a:pPr marL="0" indent="0" algn="l">
              <a:lnSpc>
                <a:spcPts val="1400"/>
              </a:lnSpc>
              <a:buNone/>
            </a:pPr>
            <a:r>
              <a:rPr lang="en-US" sz="784" b="1" dirty="0">
                <a:solidFill>
                  <a:srgbClr val="FFFFFF"/>
                </a:solidFill>
              </a:rPr>
              <a:t>Sample Space:</a:t>
            </a:r>
            <a:r>
              <a:rPr lang="en-US" sz="784" b="1" dirty="0">
                <a:solidFill>
                  <a:srgbClr val="00D9FF"/>
                </a:solidFill>
              </a:rPr>
              <a:t>S = {1, 2, 3, 4, 5, 6}</a:t>
            </a:r>
            <a:r>
              <a:rPr lang="en-US" sz="834" dirty="0">
                <a:solidFill>
                  <a:srgbClr val="FFFFFF"/>
                </a:solidFill>
              </a:rPr>
              <a:t>
</a:t>
            </a:r>
            <a:r>
              <a:rPr lang="en-US" sz="784" b="1" dirty="0">
                <a:solidFill>
                  <a:srgbClr val="FFFFFF"/>
                </a:solidFill>
              </a:rPr>
              <a:t>Simple Event:</a:t>
            </a:r>
            <a:r>
              <a:rPr lang="en-US" sz="834" dirty="0">
                <a:solidFill>
                  <a:srgbClr val="FFFFFF"/>
                </a:solidFill>
              </a:rPr>
              <a:t> Getting a 4 → </a:t>
            </a:r>
            <a:r>
              <a:rPr lang="en-US" sz="784" b="1" dirty="0">
                <a:solidFill>
                  <a:srgbClr val="00D9FF"/>
                </a:solidFill>
              </a:rPr>
              <a:t>E = {4}</a:t>
            </a:r>
            <a:r>
              <a:rPr lang="en-US" sz="834" dirty="0">
                <a:solidFill>
                  <a:srgbClr val="FFFFFF"/>
                </a:solidFill>
              </a:rPr>
              <a:t>
</a:t>
            </a:r>
            <a:r>
              <a:rPr lang="en-US" sz="784" b="1" dirty="0">
                <a:solidFill>
                  <a:srgbClr val="FFFFFF"/>
                </a:solidFill>
              </a:rPr>
              <a:t>Compound Event:</a:t>
            </a:r>
            <a:r>
              <a:rPr lang="en-US" sz="834" dirty="0">
                <a:solidFill>
                  <a:srgbClr val="FFFFFF"/>
                </a:solidFill>
              </a:rPr>
              <a:t> Getting an even number → </a:t>
            </a:r>
            <a:r>
              <a:rPr lang="en-US" sz="784" b="1" dirty="0">
                <a:solidFill>
                  <a:srgbClr val="00D9FF"/>
                </a:solidFill>
              </a:rPr>
              <a:t>E = {2, 4, 6}</a:t>
            </a:r>
            <a:endParaRPr lang="en-US" sz="784" dirty="0"/>
          </a:p>
        </p:txBody>
      </p:sp>
      <p:sp>
        <p:nvSpPr>
          <p:cNvPr id="22" name="Shape 18"/>
          <p:cNvSpPr/>
          <p:nvPr/>
        </p:nvSpPr>
        <p:spPr>
          <a:xfrm>
            <a:off x="4786313" y="2286000"/>
            <a:ext cx="3857625" cy="803672"/>
          </a:xfrm>
          <a:prstGeom prst="rect">
            <a:avLst/>
          </a:prstGeom>
          <a:solidFill>
            <a:srgbClr val="FF6B9D">
              <a:alpha val="10000"/>
            </a:srgbClr>
          </a:solidFill>
          <a:ln/>
        </p:spPr>
        <p:txBody>
          <a:bodyPr/>
          <a:lstStyle/>
          <a:p>
            <a:endParaRPr lang="en-US"/>
          </a:p>
        </p:txBody>
      </p:sp>
      <p:sp>
        <p:nvSpPr>
          <p:cNvPr id="23" name="Shape 19"/>
          <p:cNvSpPr/>
          <p:nvPr/>
        </p:nvSpPr>
        <p:spPr>
          <a:xfrm>
            <a:off x="4786313" y="2286000"/>
            <a:ext cx="28575" cy="803672"/>
          </a:xfrm>
          <a:prstGeom prst="rect">
            <a:avLst/>
          </a:prstGeom>
          <a:solidFill>
            <a:srgbClr val="FF6B9D"/>
          </a:solidFill>
          <a:ln/>
        </p:spPr>
        <p:txBody>
          <a:bodyPr/>
          <a:lstStyle/>
          <a:p>
            <a:endParaRPr lang="en-US"/>
          </a:p>
        </p:txBody>
      </p:sp>
      <p:sp>
        <p:nvSpPr>
          <p:cNvPr id="24" name="Text 20"/>
          <p:cNvSpPr/>
          <p:nvPr/>
        </p:nvSpPr>
        <p:spPr>
          <a:xfrm>
            <a:off x="4929188" y="2357438"/>
            <a:ext cx="3571875" cy="175022"/>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FFD93D"/>
                </a:solidFill>
              </a:rPr>
              <a:t>Experiment: Flipping Two Coins</a:t>
            </a:r>
            <a:endParaRPr lang="en-US" sz="885" dirty="0"/>
          </a:p>
        </p:txBody>
      </p:sp>
      <p:sp>
        <p:nvSpPr>
          <p:cNvPr id="25" name="Text 21"/>
          <p:cNvSpPr/>
          <p:nvPr/>
        </p:nvSpPr>
        <p:spPr>
          <a:xfrm>
            <a:off x="4929188" y="2575322"/>
            <a:ext cx="3571875" cy="514350"/>
          </a:xfrm>
          <a:prstGeom prst="rect">
            <a:avLst/>
          </a:prstGeom>
          <a:noFill/>
          <a:ln/>
        </p:spPr>
        <p:txBody>
          <a:bodyPr wrap="square" lIns="0" tIns="0" rIns="0" bIns="0" rtlCol="0" anchor="t">
            <a:spAutoFit/>
          </a:bodyPr>
          <a:lstStyle/>
          <a:p>
            <a:pPr marL="0" indent="0" algn="l">
              <a:lnSpc>
                <a:spcPts val="1400"/>
              </a:lnSpc>
              <a:buNone/>
            </a:pPr>
            <a:r>
              <a:rPr lang="en-US" sz="784" b="1" dirty="0">
                <a:solidFill>
                  <a:srgbClr val="FFFFFF"/>
                </a:solidFill>
              </a:rPr>
              <a:t>Sample Space:</a:t>
            </a:r>
            <a:r>
              <a:rPr lang="en-US" sz="784" b="1" dirty="0">
                <a:solidFill>
                  <a:srgbClr val="00D9FF"/>
                </a:solidFill>
              </a:rPr>
              <a:t>S = {HH, HT, TH, TT}</a:t>
            </a:r>
            <a:r>
              <a:rPr lang="en-US" sz="834" dirty="0">
                <a:solidFill>
                  <a:srgbClr val="FFFFFF"/>
                </a:solidFill>
              </a:rPr>
              <a:t>
</a:t>
            </a:r>
            <a:r>
              <a:rPr lang="en-US" sz="784" b="1" dirty="0">
                <a:solidFill>
                  <a:srgbClr val="FFFFFF"/>
                </a:solidFill>
              </a:rPr>
              <a:t>Simple Event:</a:t>
            </a:r>
            <a:r>
              <a:rPr lang="en-US" sz="834" dirty="0">
                <a:solidFill>
                  <a:srgbClr val="FFFFFF"/>
                </a:solidFill>
              </a:rPr>
              <a:t> Both heads → </a:t>
            </a:r>
            <a:r>
              <a:rPr lang="en-US" sz="784" b="1" dirty="0">
                <a:solidFill>
                  <a:srgbClr val="00D9FF"/>
                </a:solidFill>
              </a:rPr>
              <a:t>E = {HH}</a:t>
            </a:r>
            <a:r>
              <a:rPr lang="en-US" sz="834" dirty="0">
                <a:solidFill>
                  <a:srgbClr val="FFFFFF"/>
                </a:solidFill>
              </a:rPr>
              <a:t>
</a:t>
            </a:r>
            <a:r>
              <a:rPr lang="en-US" sz="784" b="1" dirty="0">
                <a:solidFill>
                  <a:srgbClr val="FFFFFF"/>
                </a:solidFill>
              </a:rPr>
              <a:t>Compound Event:</a:t>
            </a:r>
            <a:r>
              <a:rPr lang="en-US" sz="834" dirty="0">
                <a:solidFill>
                  <a:srgbClr val="FFFFFF"/>
                </a:solidFill>
              </a:rPr>
              <a:t> Exactly one head → </a:t>
            </a:r>
            <a:r>
              <a:rPr lang="en-US" sz="784" b="1" dirty="0">
                <a:solidFill>
                  <a:srgbClr val="00D9FF"/>
                </a:solidFill>
              </a:rPr>
              <a:t>E = {HT, TH}</a:t>
            </a:r>
            <a:endParaRPr lang="en-US" sz="784" dirty="0"/>
          </a:p>
        </p:txBody>
      </p:sp>
      <p:sp>
        <p:nvSpPr>
          <p:cNvPr id="26" name="Shape 22"/>
          <p:cNvSpPr/>
          <p:nvPr/>
        </p:nvSpPr>
        <p:spPr>
          <a:xfrm>
            <a:off x="4786313" y="3175397"/>
            <a:ext cx="3857625" cy="803672"/>
          </a:xfrm>
          <a:prstGeom prst="rect">
            <a:avLst/>
          </a:prstGeom>
          <a:solidFill>
            <a:srgbClr val="FF6B9D">
              <a:alpha val="10000"/>
            </a:srgbClr>
          </a:solidFill>
          <a:ln/>
        </p:spPr>
        <p:txBody>
          <a:bodyPr/>
          <a:lstStyle/>
          <a:p>
            <a:endParaRPr lang="en-US"/>
          </a:p>
        </p:txBody>
      </p:sp>
      <p:sp>
        <p:nvSpPr>
          <p:cNvPr id="27" name="Shape 23"/>
          <p:cNvSpPr/>
          <p:nvPr/>
        </p:nvSpPr>
        <p:spPr>
          <a:xfrm>
            <a:off x="4786313" y="3175397"/>
            <a:ext cx="28575" cy="803672"/>
          </a:xfrm>
          <a:prstGeom prst="rect">
            <a:avLst/>
          </a:prstGeom>
          <a:solidFill>
            <a:srgbClr val="FF6B9D"/>
          </a:solidFill>
          <a:ln/>
        </p:spPr>
        <p:txBody>
          <a:bodyPr/>
          <a:lstStyle/>
          <a:p>
            <a:endParaRPr lang="en-US"/>
          </a:p>
        </p:txBody>
      </p:sp>
      <p:sp>
        <p:nvSpPr>
          <p:cNvPr id="28" name="Text 24"/>
          <p:cNvSpPr/>
          <p:nvPr/>
        </p:nvSpPr>
        <p:spPr>
          <a:xfrm>
            <a:off x="4929188" y="3246834"/>
            <a:ext cx="3571875" cy="175022"/>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FFD93D"/>
                </a:solidFill>
              </a:rPr>
              <a:t>Experiment: Drawing a Card</a:t>
            </a:r>
            <a:endParaRPr lang="en-US" sz="885" dirty="0"/>
          </a:p>
        </p:txBody>
      </p:sp>
      <p:sp>
        <p:nvSpPr>
          <p:cNvPr id="29" name="Text 25"/>
          <p:cNvSpPr/>
          <p:nvPr/>
        </p:nvSpPr>
        <p:spPr>
          <a:xfrm>
            <a:off x="4929188" y="3464719"/>
            <a:ext cx="3571875" cy="514350"/>
          </a:xfrm>
          <a:prstGeom prst="rect">
            <a:avLst/>
          </a:prstGeom>
          <a:noFill/>
          <a:ln/>
        </p:spPr>
        <p:txBody>
          <a:bodyPr wrap="square" lIns="0" tIns="0" rIns="0" bIns="0" rtlCol="0" anchor="t">
            <a:spAutoFit/>
          </a:bodyPr>
          <a:lstStyle/>
          <a:p>
            <a:pPr marL="0" indent="0" algn="l">
              <a:lnSpc>
                <a:spcPts val="1400"/>
              </a:lnSpc>
              <a:buNone/>
            </a:pPr>
            <a:r>
              <a:rPr lang="en-US" sz="784" b="1" dirty="0">
                <a:solidFill>
                  <a:srgbClr val="FFFFFF"/>
                </a:solidFill>
              </a:rPr>
              <a:t>Simple Event:</a:t>
            </a:r>
            <a:r>
              <a:rPr lang="en-US" sz="834" dirty="0">
                <a:solidFill>
                  <a:srgbClr val="FFFFFF"/>
                </a:solidFill>
              </a:rPr>
              <a:t> Drawing Ace of Spades
</a:t>
            </a:r>
            <a:r>
              <a:rPr lang="en-US" sz="784" b="1" dirty="0">
                <a:solidFill>
                  <a:srgbClr val="FFFFFF"/>
                </a:solidFill>
              </a:rPr>
              <a:t>Compound Event:</a:t>
            </a:r>
            <a:r>
              <a:rPr lang="en-US" sz="834" dirty="0">
                <a:solidFill>
                  <a:srgbClr val="FFFFFF"/>
                </a:solidFill>
              </a:rPr>
              <a:t> Drawing any Ace → 4 outcomes
</a:t>
            </a:r>
            <a:r>
              <a:rPr lang="en-US" sz="784" b="1" dirty="0">
                <a:solidFill>
                  <a:srgbClr val="FFFFFF"/>
                </a:solidFill>
              </a:rPr>
              <a:t>Compound Event:</a:t>
            </a:r>
            <a:r>
              <a:rPr lang="en-US" sz="834" dirty="0">
                <a:solidFill>
                  <a:srgbClr val="FFFFFF"/>
                </a:solidFill>
              </a:rPr>
              <a:t> Drawing a face card → 12 outcomes</a:t>
            </a:r>
            <a:endParaRPr lang="en-US" sz="784" dirty="0"/>
          </a:p>
        </p:txBody>
      </p:sp>
      <p:sp>
        <p:nvSpPr>
          <p:cNvPr id="30" name="Shape 26"/>
          <p:cNvSpPr/>
          <p:nvPr/>
        </p:nvSpPr>
        <p:spPr>
          <a:xfrm>
            <a:off x="4786313" y="4064794"/>
            <a:ext cx="3857625" cy="585788"/>
          </a:xfrm>
          <a:prstGeom prst="rect">
            <a:avLst/>
          </a:prstGeom>
          <a:solidFill>
            <a:srgbClr val="00D9FF">
              <a:alpha val="10000"/>
            </a:srgbClr>
          </a:solidFill>
          <a:ln/>
        </p:spPr>
        <p:txBody>
          <a:bodyPr/>
          <a:lstStyle/>
          <a:p>
            <a:endParaRPr lang="en-US"/>
          </a:p>
        </p:txBody>
      </p:sp>
      <p:sp>
        <p:nvSpPr>
          <p:cNvPr id="31" name="Shape 27"/>
          <p:cNvSpPr/>
          <p:nvPr/>
        </p:nvSpPr>
        <p:spPr>
          <a:xfrm>
            <a:off x="4786313" y="4064794"/>
            <a:ext cx="28575" cy="585788"/>
          </a:xfrm>
          <a:prstGeom prst="rect">
            <a:avLst/>
          </a:prstGeom>
          <a:solidFill>
            <a:srgbClr val="00D9FF"/>
          </a:solidFill>
          <a:ln/>
        </p:spPr>
        <p:txBody>
          <a:bodyPr/>
          <a:lstStyle/>
          <a:p>
            <a:endParaRPr lang="en-US"/>
          </a:p>
        </p:txBody>
      </p:sp>
      <p:sp>
        <p:nvSpPr>
          <p:cNvPr id="32" name="Text 28"/>
          <p:cNvSpPr/>
          <p:nvPr/>
        </p:nvSpPr>
        <p:spPr>
          <a:xfrm>
            <a:off x="4929188" y="4136231"/>
            <a:ext cx="3571875" cy="514350"/>
          </a:xfrm>
          <a:prstGeom prst="rect">
            <a:avLst/>
          </a:prstGeom>
          <a:noFill/>
          <a:ln/>
        </p:spPr>
        <p:txBody>
          <a:bodyPr wrap="square" lIns="0" tIns="0" rIns="0" bIns="0" rtlCol="0" anchor="t">
            <a:spAutoFit/>
          </a:bodyPr>
          <a:lstStyle/>
          <a:p>
            <a:pPr marL="0" indent="0" algn="l">
              <a:lnSpc>
                <a:spcPts val="1400"/>
              </a:lnSpc>
              <a:buNone/>
            </a:pPr>
            <a:r>
              <a:rPr lang="en-US" sz="784" b="1" dirty="0">
                <a:solidFill>
                  <a:srgbClr val="FFFFFF"/>
                </a:solidFill>
              </a:rPr>
              <a:t>Key Insight:</a:t>
            </a:r>
            <a:r>
              <a:rPr lang="en-US" sz="834" dirty="0">
                <a:solidFill>
                  <a:srgbClr val="FFFFFF"/>
                </a:solidFill>
              </a:rPr>
              <a:t> Every simple event is also an event, but not every event is simple. Events can be combined using set operations (union ∪, intersection ∩, complement ') to form new events.</a:t>
            </a:r>
            <a:endParaRPr lang="en-US" sz="784"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1"/>
            <a:ext cx="9144000" cy="5143500"/>
          </a:xfrm>
          <a:prstGeom prst="rect">
            <a:avLst/>
          </a:prstGeom>
        </p:spPr>
      </p:pic>
      <p:sp>
        <p:nvSpPr>
          <p:cNvPr id="4" name="Text 0"/>
          <p:cNvSpPr/>
          <p:nvPr/>
        </p:nvSpPr>
        <p:spPr>
          <a:xfrm>
            <a:off x="0" y="357188"/>
            <a:ext cx="9144000" cy="466130"/>
          </a:xfrm>
          <a:prstGeom prst="rect">
            <a:avLst/>
          </a:prstGeom>
          <a:noFill/>
          <a:ln/>
        </p:spPr>
        <p:txBody>
          <a:bodyPr wrap="none" lIns="0" tIns="0" rIns="0" bIns="0" rtlCol="0" anchor="t">
            <a:spAutoFit/>
          </a:bodyPr>
          <a:lstStyle/>
          <a:p>
            <a:pPr marL="0" indent="0" algn="ctr">
              <a:lnSpc>
                <a:spcPts val="3200"/>
              </a:lnSpc>
              <a:buNone/>
            </a:pPr>
            <a:r>
              <a:rPr lang="en-US" sz="2436" b="1" dirty="0">
                <a:solidFill>
                  <a:srgbClr val="00D9FF"/>
                </a:solidFill>
              </a:rPr>
              <a:t>Axioms of Probability</a:t>
            </a:r>
            <a:endParaRPr lang="en-US" sz="2436" dirty="0"/>
          </a:p>
        </p:txBody>
      </p:sp>
      <p:sp>
        <p:nvSpPr>
          <p:cNvPr id="5" name="Text 1"/>
          <p:cNvSpPr/>
          <p:nvPr/>
        </p:nvSpPr>
        <p:spPr>
          <a:xfrm>
            <a:off x="0" y="866180"/>
            <a:ext cx="9144000" cy="175022"/>
          </a:xfrm>
          <a:prstGeom prst="rect">
            <a:avLst/>
          </a:prstGeom>
          <a:noFill/>
          <a:ln/>
        </p:spPr>
        <p:txBody>
          <a:bodyPr wrap="none" lIns="0" tIns="0" rIns="0" bIns="0" rtlCol="0" anchor="t">
            <a:spAutoFit/>
          </a:bodyPr>
          <a:lstStyle/>
          <a:p>
            <a:pPr marL="0" indent="0" algn="ctr">
              <a:lnSpc>
                <a:spcPts val="1200"/>
              </a:lnSpc>
              <a:buNone/>
            </a:pPr>
            <a:r>
              <a:rPr lang="en-US" sz="942" dirty="0">
                <a:solidFill>
                  <a:srgbClr val="FFD93D"/>
                </a:solidFill>
              </a:rPr>
              <a:t>The Mathematical Foundation of Probability Theory</a:t>
            </a:r>
            <a:endParaRPr lang="en-US" sz="942" dirty="0"/>
          </a:p>
        </p:txBody>
      </p:sp>
      <p:sp>
        <p:nvSpPr>
          <p:cNvPr id="6" name="Text 2"/>
          <p:cNvSpPr/>
          <p:nvPr/>
        </p:nvSpPr>
        <p:spPr>
          <a:xfrm>
            <a:off x="571500" y="1177727"/>
            <a:ext cx="571500" cy="1338365"/>
          </a:xfrm>
          <a:prstGeom prst="rect">
            <a:avLst/>
          </a:prstGeom>
          <a:noFill/>
          <a:ln/>
        </p:spPr>
        <p:txBody>
          <a:bodyPr wrap="square" lIns="0" tIns="0" rIns="0" bIns="0" rtlCol="0" anchor="t">
            <a:spAutoFit/>
          </a:bodyPr>
          <a:lstStyle/>
          <a:p>
            <a:pPr marL="0" indent="0" algn="ctr">
              <a:lnSpc>
                <a:spcPts val="3800"/>
              </a:lnSpc>
              <a:buNone/>
            </a:pPr>
            <a:r>
              <a:rPr lang="en-US" sz="2862" b="1" dirty="0">
                <a:solidFill>
                  <a:srgbClr val="FF6B9D"/>
                </a:solidFill>
              </a:rPr>
              <a:t>1</a:t>
            </a:r>
            <a:endParaRPr lang="en-US" sz="2862" dirty="0"/>
          </a:p>
        </p:txBody>
      </p:sp>
      <p:sp>
        <p:nvSpPr>
          <p:cNvPr id="7" name="Text 3"/>
          <p:cNvSpPr/>
          <p:nvPr/>
        </p:nvSpPr>
        <p:spPr>
          <a:xfrm>
            <a:off x="1321594" y="1165027"/>
            <a:ext cx="7250906" cy="251817"/>
          </a:xfrm>
          <a:prstGeom prst="rect">
            <a:avLst/>
          </a:prstGeom>
          <a:noFill/>
          <a:ln/>
        </p:spPr>
        <p:txBody>
          <a:bodyPr wrap="none" lIns="0" tIns="0" rIns="0" bIns="0" rtlCol="0" anchor="t">
            <a:spAutoFit/>
          </a:bodyPr>
          <a:lstStyle/>
          <a:p>
            <a:pPr marL="0" indent="0" algn="l">
              <a:lnSpc>
                <a:spcPts val="1800"/>
              </a:lnSpc>
              <a:buNone/>
            </a:pPr>
            <a:r>
              <a:rPr lang="en-US" sz="1295" b="1" dirty="0">
                <a:solidFill>
                  <a:srgbClr val="00D9FF"/>
                </a:solidFill>
              </a:rPr>
              <a:t>Non-Negativity</a:t>
            </a:r>
            <a:endParaRPr lang="en-US" sz="1295" dirty="0"/>
          </a:p>
        </p:txBody>
      </p:sp>
      <p:sp>
        <p:nvSpPr>
          <p:cNvPr id="8" name="Text 4"/>
          <p:cNvSpPr/>
          <p:nvPr/>
        </p:nvSpPr>
        <p:spPr>
          <a:xfrm>
            <a:off x="1321594" y="1358106"/>
            <a:ext cx="7250906" cy="332184"/>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FFD93D"/>
                </a:solidFill>
              </a:rPr>
              <a:t>P(A) ≥ 0</a:t>
            </a:r>
            <a:endParaRPr lang="en-US" sz="1602" dirty="0"/>
          </a:p>
        </p:txBody>
      </p:sp>
      <p:sp>
        <p:nvSpPr>
          <p:cNvPr id="9" name="Text 5"/>
          <p:cNvSpPr/>
          <p:nvPr/>
        </p:nvSpPr>
        <p:spPr>
          <a:xfrm>
            <a:off x="1321594" y="1664891"/>
            <a:ext cx="7250906" cy="388609"/>
          </a:xfrm>
          <a:prstGeom prst="rect">
            <a:avLst/>
          </a:prstGeom>
          <a:noFill/>
          <a:ln/>
        </p:spPr>
        <p:txBody>
          <a:bodyPr wrap="square" lIns="0" tIns="0" rIns="0" bIns="0" rtlCol="0" anchor="t">
            <a:spAutoFit/>
          </a:bodyPr>
          <a:lstStyle/>
          <a:p>
            <a:pPr marL="0" indent="0" algn="l">
              <a:lnSpc>
                <a:spcPts val="1500"/>
              </a:lnSpc>
              <a:buNone/>
            </a:pPr>
            <a:r>
              <a:rPr lang="en-US" sz="888" dirty="0">
                <a:solidFill>
                  <a:srgbClr val="FFFFFF"/>
                </a:solidFill>
              </a:rPr>
              <a:t>The probability of any event A is always </a:t>
            </a:r>
            <a:r>
              <a:rPr lang="en-US" sz="834" b="1" dirty="0">
                <a:solidFill>
                  <a:srgbClr val="FF6B9D"/>
                </a:solidFill>
              </a:rPr>
              <a:t>non-negative</a:t>
            </a:r>
            <a:r>
              <a:rPr lang="en-US" sz="888" dirty="0">
                <a:solidFill>
                  <a:srgbClr val="FFFFFF"/>
                </a:solidFill>
              </a:rPr>
              <a:t>. Probabilities cannot be negative numbers. This ensures that probability represents a meaningful measure of likelihood.</a:t>
            </a:r>
            <a:endParaRPr lang="en-US" sz="888" dirty="0"/>
          </a:p>
        </p:txBody>
      </p:sp>
      <p:sp>
        <p:nvSpPr>
          <p:cNvPr id="10" name="Shape 6"/>
          <p:cNvSpPr/>
          <p:nvPr/>
        </p:nvSpPr>
        <p:spPr>
          <a:xfrm>
            <a:off x="1321594" y="2096362"/>
            <a:ext cx="7250906" cy="222879"/>
          </a:xfrm>
          <a:prstGeom prst="rect">
            <a:avLst/>
          </a:prstGeom>
          <a:solidFill>
            <a:srgbClr val="FFFFFF">
              <a:alpha val="5000"/>
            </a:srgbClr>
          </a:solidFill>
          <a:ln/>
        </p:spPr>
        <p:txBody>
          <a:bodyPr/>
          <a:lstStyle/>
          <a:p>
            <a:endParaRPr lang="en-US"/>
          </a:p>
        </p:txBody>
      </p:sp>
      <p:sp>
        <p:nvSpPr>
          <p:cNvPr id="11" name="Shape 7"/>
          <p:cNvSpPr/>
          <p:nvPr/>
        </p:nvSpPr>
        <p:spPr>
          <a:xfrm>
            <a:off x="1321594" y="2096362"/>
            <a:ext cx="21431" cy="222879"/>
          </a:xfrm>
          <a:prstGeom prst="rect">
            <a:avLst/>
          </a:prstGeom>
          <a:solidFill>
            <a:srgbClr val="FFD93D"/>
          </a:solidFill>
          <a:ln/>
        </p:spPr>
        <p:txBody>
          <a:bodyPr/>
          <a:lstStyle/>
          <a:p>
            <a:endParaRPr lang="en-US"/>
          </a:p>
        </p:txBody>
      </p:sp>
      <p:sp>
        <p:nvSpPr>
          <p:cNvPr id="12" name="Text 8"/>
          <p:cNvSpPr/>
          <p:nvPr/>
        </p:nvSpPr>
        <p:spPr>
          <a:xfrm>
            <a:off x="1321594" y="2045562"/>
            <a:ext cx="7250906" cy="222879"/>
          </a:xfrm>
          <a:prstGeom prst="rect">
            <a:avLst/>
          </a:prstGeom>
          <a:noFill/>
          <a:ln/>
        </p:spPr>
        <p:txBody>
          <a:bodyPr wrap="none" lIns="127508" tIns="68072" rIns="127508" bIns="0" rtlCol="0" anchor="t">
            <a:spAutoFit/>
          </a:bodyPr>
          <a:lstStyle/>
          <a:p>
            <a:pPr marL="0" indent="0" algn="l">
              <a:lnSpc>
                <a:spcPts val="1300"/>
              </a:lnSpc>
              <a:buNone/>
            </a:pPr>
            <a:r>
              <a:rPr lang="en-US" sz="784" b="1" dirty="0">
                <a:solidFill>
                  <a:srgbClr val="FFD93D"/>
                </a:solidFill>
              </a:rPr>
              <a:t>Example:</a:t>
            </a:r>
            <a:r>
              <a:rPr lang="en-US" sz="834" dirty="0">
                <a:solidFill>
                  <a:srgbClr val="FFFFFF"/>
                </a:solidFill>
              </a:rPr>
              <a:t> The probability of rolling a 7 on a standard die is 0 (impossible), but never negative. P(rolling 7) = 0, not -0.5.</a:t>
            </a:r>
            <a:endParaRPr lang="en-US" sz="784" dirty="0"/>
          </a:p>
        </p:txBody>
      </p:sp>
      <p:sp>
        <p:nvSpPr>
          <p:cNvPr id="13" name="Text 9"/>
          <p:cNvSpPr/>
          <p:nvPr/>
        </p:nvSpPr>
        <p:spPr>
          <a:xfrm>
            <a:off x="571500" y="2422429"/>
            <a:ext cx="571500" cy="1318720"/>
          </a:xfrm>
          <a:prstGeom prst="rect">
            <a:avLst/>
          </a:prstGeom>
          <a:noFill/>
          <a:ln/>
        </p:spPr>
        <p:txBody>
          <a:bodyPr wrap="square" lIns="0" tIns="0" rIns="0" bIns="0" rtlCol="0" anchor="t">
            <a:spAutoFit/>
          </a:bodyPr>
          <a:lstStyle/>
          <a:p>
            <a:pPr marL="0" indent="0" algn="ctr">
              <a:lnSpc>
                <a:spcPts val="3800"/>
              </a:lnSpc>
              <a:buNone/>
            </a:pPr>
            <a:r>
              <a:rPr lang="en-US" sz="2862" b="1" dirty="0">
                <a:solidFill>
                  <a:srgbClr val="FF6B9D"/>
                </a:solidFill>
              </a:rPr>
              <a:t>2</a:t>
            </a:r>
            <a:endParaRPr lang="en-US" sz="2862" dirty="0"/>
          </a:p>
        </p:txBody>
      </p:sp>
      <p:sp>
        <p:nvSpPr>
          <p:cNvPr id="14" name="Text 10"/>
          <p:cNvSpPr/>
          <p:nvPr/>
        </p:nvSpPr>
        <p:spPr>
          <a:xfrm>
            <a:off x="1321594" y="2511329"/>
            <a:ext cx="7250906" cy="251817"/>
          </a:xfrm>
          <a:prstGeom prst="rect">
            <a:avLst/>
          </a:prstGeom>
          <a:noFill/>
          <a:ln/>
        </p:spPr>
        <p:txBody>
          <a:bodyPr wrap="none" lIns="0" tIns="0" rIns="0" bIns="0" rtlCol="0" anchor="t">
            <a:spAutoFit/>
          </a:bodyPr>
          <a:lstStyle/>
          <a:p>
            <a:pPr marL="0" indent="0" algn="l">
              <a:lnSpc>
                <a:spcPts val="1800"/>
              </a:lnSpc>
              <a:buNone/>
            </a:pPr>
            <a:r>
              <a:rPr lang="en-US" sz="1295" b="1" dirty="0">
                <a:solidFill>
                  <a:srgbClr val="00D9FF"/>
                </a:solidFill>
              </a:rPr>
              <a:t>Normalization (Certainty)</a:t>
            </a:r>
            <a:endParaRPr lang="en-US" sz="1295" dirty="0"/>
          </a:p>
        </p:txBody>
      </p:sp>
      <p:sp>
        <p:nvSpPr>
          <p:cNvPr id="15" name="Text 11"/>
          <p:cNvSpPr/>
          <p:nvPr/>
        </p:nvSpPr>
        <p:spPr>
          <a:xfrm>
            <a:off x="1321594" y="2704409"/>
            <a:ext cx="7250906" cy="31253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FFD93D"/>
                </a:solidFill>
              </a:rPr>
              <a:t>P(S) = 1</a:t>
            </a:r>
            <a:endParaRPr lang="en-US" sz="1602" dirty="0"/>
          </a:p>
        </p:txBody>
      </p:sp>
      <p:sp>
        <p:nvSpPr>
          <p:cNvPr id="16" name="Text 12"/>
          <p:cNvSpPr/>
          <p:nvPr/>
        </p:nvSpPr>
        <p:spPr>
          <a:xfrm>
            <a:off x="1321594" y="3010598"/>
            <a:ext cx="7250906" cy="388609"/>
          </a:xfrm>
          <a:prstGeom prst="rect">
            <a:avLst/>
          </a:prstGeom>
          <a:noFill/>
          <a:ln/>
        </p:spPr>
        <p:txBody>
          <a:bodyPr wrap="square" lIns="0" tIns="0" rIns="0" bIns="0" rtlCol="0" anchor="t">
            <a:spAutoFit/>
          </a:bodyPr>
          <a:lstStyle/>
          <a:p>
            <a:pPr marL="0" indent="0" algn="l">
              <a:lnSpc>
                <a:spcPts val="1500"/>
              </a:lnSpc>
              <a:buNone/>
            </a:pPr>
            <a:r>
              <a:rPr lang="en-US" sz="888" dirty="0">
                <a:solidFill>
                  <a:srgbClr val="FFFFFF"/>
                </a:solidFill>
              </a:rPr>
              <a:t>The probability of the </a:t>
            </a:r>
            <a:r>
              <a:rPr lang="en-US" sz="834" b="1" dirty="0">
                <a:solidFill>
                  <a:srgbClr val="FF6B9D"/>
                </a:solidFill>
              </a:rPr>
              <a:t>entire sample space S</a:t>
            </a:r>
            <a:r>
              <a:rPr lang="en-US" sz="888" dirty="0">
                <a:solidFill>
                  <a:srgbClr val="FFFFFF"/>
                </a:solidFill>
              </a:rPr>
              <a:t> (the set of all possible outcomes) is exactly 1. This means that something from the sample space must occur with certainty.</a:t>
            </a:r>
            <a:endParaRPr lang="en-US" sz="888" dirty="0"/>
          </a:p>
        </p:txBody>
      </p:sp>
      <p:sp>
        <p:nvSpPr>
          <p:cNvPr id="17" name="Shape 13"/>
          <p:cNvSpPr/>
          <p:nvPr/>
        </p:nvSpPr>
        <p:spPr>
          <a:xfrm>
            <a:off x="1321594" y="3505569"/>
            <a:ext cx="7250906" cy="222879"/>
          </a:xfrm>
          <a:prstGeom prst="rect">
            <a:avLst/>
          </a:prstGeom>
          <a:solidFill>
            <a:srgbClr val="FFFFFF">
              <a:alpha val="5000"/>
            </a:srgbClr>
          </a:solidFill>
          <a:ln/>
        </p:spPr>
        <p:txBody>
          <a:bodyPr/>
          <a:lstStyle/>
          <a:p>
            <a:endParaRPr lang="en-US"/>
          </a:p>
        </p:txBody>
      </p:sp>
      <p:sp>
        <p:nvSpPr>
          <p:cNvPr id="18" name="Shape 14"/>
          <p:cNvSpPr/>
          <p:nvPr/>
        </p:nvSpPr>
        <p:spPr>
          <a:xfrm>
            <a:off x="1321594" y="3505569"/>
            <a:ext cx="21431" cy="222879"/>
          </a:xfrm>
          <a:prstGeom prst="rect">
            <a:avLst/>
          </a:prstGeom>
          <a:solidFill>
            <a:srgbClr val="FFD93D"/>
          </a:solidFill>
          <a:ln/>
        </p:spPr>
        <p:txBody>
          <a:bodyPr/>
          <a:lstStyle/>
          <a:p>
            <a:endParaRPr lang="en-US"/>
          </a:p>
        </p:txBody>
      </p:sp>
      <p:sp>
        <p:nvSpPr>
          <p:cNvPr id="19" name="Text 15"/>
          <p:cNvSpPr/>
          <p:nvPr/>
        </p:nvSpPr>
        <p:spPr>
          <a:xfrm>
            <a:off x="1321594" y="3442069"/>
            <a:ext cx="7250906" cy="222879"/>
          </a:xfrm>
          <a:prstGeom prst="rect">
            <a:avLst/>
          </a:prstGeom>
          <a:noFill/>
          <a:ln/>
        </p:spPr>
        <p:txBody>
          <a:bodyPr wrap="none" lIns="127508" tIns="68072" rIns="127508" bIns="0" rtlCol="0" anchor="t">
            <a:spAutoFit/>
          </a:bodyPr>
          <a:lstStyle/>
          <a:p>
            <a:pPr marL="0" indent="0" algn="l">
              <a:lnSpc>
                <a:spcPts val="1300"/>
              </a:lnSpc>
              <a:buNone/>
            </a:pPr>
            <a:r>
              <a:rPr lang="en-US" sz="784" b="1" dirty="0">
                <a:solidFill>
                  <a:srgbClr val="FFD93D"/>
                </a:solidFill>
              </a:rPr>
              <a:t>Example:</a:t>
            </a:r>
            <a:r>
              <a:rPr lang="en-US" sz="834" dirty="0">
                <a:solidFill>
                  <a:srgbClr val="FFFFFF"/>
                </a:solidFill>
              </a:rPr>
              <a:t> When rolling a die, one of {1, 2, 3, 4, 5, 6} must occur. P(getting 1 or 2 or 3 or 4 or 5 or 6) = 1.</a:t>
            </a:r>
            <a:endParaRPr lang="en-US" sz="784" dirty="0"/>
          </a:p>
        </p:txBody>
      </p:sp>
      <p:sp>
        <p:nvSpPr>
          <p:cNvPr id="20" name="Text 16"/>
          <p:cNvSpPr/>
          <p:nvPr/>
        </p:nvSpPr>
        <p:spPr>
          <a:xfrm>
            <a:off x="571500" y="3933236"/>
            <a:ext cx="571500" cy="1338365"/>
          </a:xfrm>
          <a:prstGeom prst="rect">
            <a:avLst/>
          </a:prstGeom>
          <a:noFill/>
          <a:ln/>
        </p:spPr>
        <p:txBody>
          <a:bodyPr wrap="square" lIns="0" tIns="0" rIns="0" bIns="0" rtlCol="0" anchor="t">
            <a:spAutoFit/>
          </a:bodyPr>
          <a:lstStyle/>
          <a:p>
            <a:pPr marL="0" indent="0" algn="ctr">
              <a:lnSpc>
                <a:spcPts val="3800"/>
              </a:lnSpc>
              <a:buNone/>
            </a:pPr>
            <a:r>
              <a:rPr lang="en-US" sz="2862" b="1" dirty="0">
                <a:solidFill>
                  <a:srgbClr val="FF6B9D"/>
                </a:solidFill>
              </a:rPr>
              <a:t>3</a:t>
            </a:r>
            <a:endParaRPr lang="en-US" sz="2862" dirty="0"/>
          </a:p>
        </p:txBody>
      </p:sp>
      <p:sp>
        <p:nvSpPr>
          <p:cNvPr id="21" name="Text 17"/>
          <p:cNvSpPr/>
          <p:nvPr/>
        </p:nvSpPr>
        <p:spPr>
          <a:xfrm>
            <a:off x="1321594" y="3952286"/>
            <a:ext cx="7250906" cy="251817"/>
          </a:xfrm>
          <a:prstGeom prst="rect">
            <a:avLst/>
          </a:prstGeom>
          <a:noFill/>
          <a:ln/>
        </p:spPr>
        <p:txBody>
          <a:bodyPr wrap="none" lIns="0" tIns="0" rIns="0" bIns="0" rtlCol="0" anchor="t">
            <a:spAutoFit/>
          </a:bodyPr>
          <a:lstStyle/>
          <a:p>
            <a:pPr marL="0" indent="0" algn="l">
              <a:lnSpc>
                <a:spcPts val="1800"/>
              </a:lnSpc>
              <a:buNone/>
            </a:pPr>
            <a:r>
              <a:rPr lang="en-US" sz="1295" b="1" dirty="0">
                <a:solidFill>
                  <a:srgbClr val="00D9FF"/>
                </a:solidFill>
              </a:rPr>
              <a:t>Additivity (Mutually Exclusive Events)</a:t>
            </a:r>
            <a:endParaRPr lang="en-US" sz="1295" dirty="0"/>
          </a:p>
        </p:txBody>
      </p:sp>
      <p:sp>
        <p:nvSpPr>
          <p:cNvPr id="22" name="Text 18"/>
          <p:cNvSpPr/>
          <p:nvPr/>
        </p:nvSpPr>
        <p:spPr>
          <a:xfrm>
            <a:off x="1321594" y="4177116"/>
            <a:ext cx="7250906" cy="332184"/>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FFD93D"/>
                </a:solidFill>
              </a:rPr>
              <a:t>P(A ∪ B) = P(A) + P(B) if A ∩ B = ∅</a:t>
            </a:r>
            <a:endParaRPr lang="en-US" sz="1602" dirty="0"/>
          </a:p>
        </p:txBody>
      </p:sp>
      <p:sp>
        <p:nvSpPr>
          <p:cNvPr id="23" name="Text 19"/>
          <p:cNvSpPr/>
          <p:nvPr/>
        </p:nvSpPr>
        <p:spPr>
          <a:xfrm>
            <a:off x="1321594" y="4490250"/>
            <a:ext cx="7250906" cy="388609"/>
          </a:xfrm>
          <a:prstGeom prst="rect">
            <a:avLst/>
          </a:prstGeom>
          <a:noFill/>
          <a:ln/>
        </p:spPr>
        <p:txBody>
          <a:bodyPr wrap="square" lIns="0" tIns="0" rIns="0" bIns="0" rtlCol="0" anchor="t">
            <a:spAutoFit/>
          </a:bodyPr>
          <a:lstStyle/>
          <a:p>
            <a:pPr marL="0" indent="0" algn="l">
              <a:lnSpc>
                <a:spcPts val="1500"/>
              </a:lnSpc>
              <a:buNone/>
            </a:pPr>
            <a:r>
              <a:rPr lang="en-US" sz="888" dirty="0">
                <a:solidFill>
                  <a:srgbClr val="FFFFFF"/>
                </a:solidFill>
              </a:rPr>
              <a:t>For </a:t>
            </a:r>
            <a:r>
              <a:rPr lang="en-US" sz="834" b="1" dirty="0">
                <a:solidFill>
                  <a:srgbClr val="FF6B9D"/>
                </a:solidFill>
              </a:rPr>
              <a:t>mutually exclusive events</a:t>
            </a:r>
            <a:r>
              <a:rPr lang="en-US" sz="888" dirty="0">
                <a:solidFill>
                  <a:srgbClr val="FFFFFF"/>
                </a:solidFill>
              </a:rPr>
              <a:t> (events that cannot occur simultaneously), the probability of their union equals the sum of their individual probabilities.</a:t>
            </a:r>
            <a:endParaRPr lang="en-US" sz="888" dirty="0"/>
          </a:p>
        </p:txBody>
      </p:sp>
      <p:sp>
        <p:nvSpPr>
          <p:cNvPr id="24" name="Shape 20"/>
          <p:cNvSpPr/>
          <p:nvPr/>
        </p:nvSpPr>
        <p:spPr>
          <a:xfrm>
            <a:off x="1321594" y="4686771"/>
            <a:ext cx="7250906" cy="222879"/>
          </a:xfrm>
          <a:prstGeom prst="rect">
            <a:avLst/>
          </a:prstGeom>
          <a:solidFill>
            <a:srgbClr val="FFFFFF">
              <a:alpha val="5000"/>
            </a:srgbClr>
          </a:solidFill>
          <a:ln/>
        </p:spPr>
        <p:txBody>
          <a:bodyPr/>
          <a:lstStyle/>
          <a:p>
            <a:endParaRPr lang="en-US"/>
          </a:p>
        </p:txBody>
      </p:sp>
      <p:sp>
        <p:nvSpPr>
          <p:cNvPr id="25" name="Shape 21"/>
          <p:cNvSpPr/>
          <p:nvPr/>
        </p:nvSpPr>
        <p:spPr>
          <a:xfrm>
            <a:off x="1321594" y="4686771"/>
            <a:ext cx="21431" cy="222879"/>
          </a:xfrm>
          <a:prstGeom prst="rect">
            <a:avLst/>
          </a:prstGeom>
          <a:solidFill>
            <a:srgbClr val="FFD93D"/>
          </a:solidFill>
          <a:ln/>
        </p:spPr>
        <p:txBody>
          <a:bodyPr/>
          <a:lstStyle/>
          <a:p>
            <a:endParaRPr lang="en-US"/>
          </a:p>
        </p:txBody>
      </p:sp>
      <p:sp>
        <p:nvSpPr>
          <p:cNvPr id="26" name="Text 22"/>
          <p:cNvSpPr/>
          <p:nvPr/>
        </p:nvSpPr>
        <p:spPr>
          <a:xfrm>
            <a:off x="1321594" y="4623271"/>
            <a:ext cx="7250906" cy="222879"/>
          </a:xfrm>
          <a:prstGeom prst="rect">
            <a:avLst/>
          </a:prstGeom>
          <a:noFill/>
          <a:ln/>
        </p:spPr>
        <p:txBody>
          <a:bodyPr wrap="none" lIns="127508" tIns="68072" rIns="127508" bIns="0" rtlCol="0" anchor="t">
            <a:spAutoFit/>
          </a:bodyPr>
          <a:lstStyle/>
          <a:p>
            <a:pPr marL="0" indent="0" algn="l">
              <a:lnSpc>
                <a:spcPts val="1300"/>
              </a:lnSpc>
              <a:buNone/>
            </a:pPr>
            <a:r>
              <a:rPr lang="en-US" sz="784" b="1" dirty="0">
                <a:solidFill>
                  <a:srgbClr val="FFD93D"/>
                </a:solidFill>
              </a:rPr>
              <a:t>Example:</a:t>
            </a:r>
            <a:r>
              <a:rPr lang="en-US" sz="834" dirty="0">
                <a:solidFill>
                  <a:srgbClr val="FFFFFF"/>
                </a:solidFill>
              </a:rPr>
              <a:t> P(rolling 2 or 5) = P(rolling 2) + P(rolling 5) = 1/6 + 1/6 = 2/6 = 1/3. These events cannot happen together in a single roll.</a:t>
            </a:r>
            <a:endParaRPr lang="en-US" sz="784"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0" y="357188"/>
            <a:ext cx="9144000" cy="466130"/>
          </a:xfrm>
          <a:prstGeom prst="rect">
            <a:avLst/>
          </a:prstGeom>
          <a:noFill/>
          <a:ln/>
        </p:spPr>
        <p:txBody>
          <a:bodyPr wrap="none" lIns="0" tIns="0" rIns="0" bIns="0" rtlCol="0" anchor="t">
            <a:spAutoFit/>
          </a:bodyPr>
          <a:lstStyle/>
          <a:p>
            <a:pPr marL="0" indent="0" algn="ctr">
              <a:lnSpc>
                <a:spcPts val="3200"/>
              </a:lnSpc>
              <a:buNone/>
            </a:pPr>
            <a:r>
              <a:rPr lang="en-US" sz="2436" b="1" dirty="0">
                <a:solidFill>
                  <a:srgbClr val="00D9FF"/>
                </a:solidFill>
              </a:rPr>
              <a:t>Calculating Probability</a:t>
            </a:r>
            <a:endParaRPr lang="en-US" sz="2436" dirty="0"/>
          </a:p>
        </p:txBody>
      </p:sp>
      <p:sp>
        <p:nvSpPr>
          <p:cNvPr id="5" name="Text 1"/>
          <p:cNvSpPr/>
          <p:nvPr/>
        </p:nvSpPr>
        <p:spPr>
          <a:xfrm>
            <a:off x="0" y="894755"/>
            <a:ext cx="9144000" cy="175022"/>
          </a:xfrm>
          <a:prstGeom prst="rect">
            <a:avLst/>
          </a:prstGeom>
          <a:noFill/>
          <a:ln/>
        </p:spPr>
        <p:txBody>
          <a:bodyPr wrap="none" lIns="0" tIns="0" rIns="0" bIns="0" rtlCol="0" anchor="t">
            <a:spAutoFit/>
          </a:bodyPr>
          <a:lstStyle/>
          <a:p>
            <a:pPr marL="0" indent="0" algn="ctr">
              <a:lnSpc>
                <a:spcPts val="1200"/>
              </a:lnSpc>
              <a:buNone/>
            </a:pPr>
            <a:r>
              <a:rPr lang="en-US" sz="942" dirty="0">
                <a:solidFill>
                  <a:srgbClr val="FFFFFF"/>
                </a:solidFill>
              </a:rPr>
              <a:t>Three Fundamental Approaches</a:t>
            </a:r>
            <a:endParaRPr lang="en-US" sz="942" dirty="0"/>
          </a:p>
        </p:txBody>
      </p:sp>
      <p:sp>
        <p:nvSpPr>
          <p:cNvPr id="6" name="Text 2"/>
          <p:cNvSpPr/>
          <p:nvPr/>
        </p:nvSpPr>
        <p:spPr>
          <a:xfrm>
            <a:off x="428625" y="1355527"/>
            <a:ext cx="2571750" cy="387548"/>
          </a:xfrm>
          <a:prstGeom prst="rect">
            <a:avLst/>
          </a:prstGeom>
          <a:noFill/>
          <a:ln/>
        </p:spPr>
        <p:txBody>
          <a:bodyPr wrap="square" lIns="85090" tIns="127508" rIns="85090" bIns="0" rtlCol="0" anchor="t">
            <a:spAutoFit/>
          </a:bodyPr>
          <a:lstStyle/>
          <a:p>
            <a:pPr marL="0" indent="0" algn="ctr">
              <a:lnSpc>
                <a:spcPts val="1800"/>
              </a:lnSpc>
              <a:buNone/>
            </a:pPr>
            <a:r>
              <a:rPr lang="en-US" sz="1295" b="1" dirty="0">
                <a:solidFill>
                  <a:srgbClr val="FF6B9D"/>
                </a:solidFill>
              </a:rPr>
              <a:t>Classical Approach</a:t>
            </a:r>
            <a:endParaRPr lang="en-US" sz="1295" dirty="0"/>
          </a:p>
        </p:txBody>
      </p:sp>
      <p:sp>
        <p:nvSpPr>
          <p:cNvPr id="7" name="Shape 3"/>
          <p:cNvSpPr/>
          <p:nvPr/>
        </p:nvSpPr>
        <p:spPr>
          <a:xfrm>
            <a:off x="428625" y="1850231"/>
            <a:ext cx="2571750" cy="475059"/>
          </a:xfrm>
          <a:prstGeom prst="rect">
            <a:avLst/>
          </a:prstGeom>
          <a:solidFill>
            <a:srgbClr val="FFFFFF">
              <a:alpha val="5000"/>
            </a:srgbClr>
          </a:solidFill>
          <a:ln/>
        </p:spPr>
        <p:txBody>
          <a:bodyPr/>
          <a:lstStyle/>
          <a:p>
            <a:endParaRPr lang="en-US"/>
          </a:p>
        </p:txBody>
      </p:sp>
      <p:sp>
        <p:nvSpPr>
          <p:cNvPr id="8" name="Text 4"/>
          <p:cNvSpPr/>
          <p:nvPr/>
        </p:nvSpPr>
        <p:spPr>
          <a:xfrm>
            <a:off x="535781" y="1957388"/>
            <a:ext cx="2357438" cy="135731"/>
          </a:xfrm>
          <a:prstGeom prst="rect">
            <a:avLst/>
          </a:prstGeom>
          <a:noFill/>
          <a:ln/>
        </p:spPr>
        <p:txBody>
          <a:bodyPr wrap="none" lIns="0" tIns="0" rIns="0" bIns="0" rtlCol="0" anchor="t">
            <a:spAutoFit/>
          </a:bodyPr>
          <a:lstStyle/>
          <a:p>
            <a:pPr marL="0" indent="0" algn="l">
              <a:lnSpc>
                <a:spcPts val="900"/>
              </a:lnSpc>
              <a:buNone/>
            </a:pPr>
            <a:r>
              <a:rPr lang="en-US" sz="683" b="1" dirty="0">
                <a:solidFill>
                  <a:srgbClr val="FFD93D"/>
                </a:solidFill>
              </a:rPr>
              <a:t>Formula:</a:t>
            </a:r>
            <a:endParaRPr lang="en-US" sz="683" dirty="0"/>
          </a:p>
        </p:txBody>
      </p:sp>
      <p:sp>
        <p:nvSpPr>
          <p:cNvPr id="9" name="Text 5"/>
          <p:cNvSpPr/>
          <p:nvPr/>
        </p:nvSpPr>
        <p:spPr>
          <a:xfrm>
            <a:off x="535781" y="1934369"/>
            <a:ext cx="2357438" cy="175022"/>
          </a:xfrm>
          <a:prstGeom prst="rect">
            <a:avLst/>
          </a:prstGeom>
          <a:noFill/>
          <a:ln/>
        </p:spPr>
        <p:txBody>
          <a:bodyPr wrap="none" lIns="0" tIns="0" rIns="0" bIns="0" rtlCol="0" anchor="t">
            <a:spAutoFit/>
          </a:bodyPr>
          <a:lstStyle/>
          <a:p>
            <a:pPr marL="0" indent="0" algn="ctr">
              <a:lnSpc>
                <a:spcPts val="1200"/>
              </a:lnSpc>
              <a:buNone/>
            </a:pPr>
            <a:r>
              <a:rPr lang="en-US" sz="885" b="1" dirty="0">
                <a:solidFill>
                  <a:srgbClr val="FFFFFF"/>
                </a:solidFill>
              </a:rPr>
              <a:t>P(A) = n(A) / n(S)</a:t>
            </a:r>
            <a:endParaRPr lang="en-US" sz="885" dirty="0"/>
          </a:p>
        </p:txBody>
      </p:sp>
      <p:sp>
        <p:nvSpPr>
          <p:cNvPr id="10" name="Text 6"/>
          <p:cNvSpPr/>
          <p:nvPr/>
        </p:nvSpPr>
        <p:spPr>
          <a:xfrm>
            <a:off x="428625" y="2468166"/>
            <a:ext cx="2571750" cy="155377"/>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00D9FF"/>
                </a:solidFill>
              </a:rPr>
              <a:t>When to Use:</a:t>
            </a:r>
            <a:endParaRPr lang="en-US" sz="784" dirty="0"/>
          </a:p>
        </p:txBody>
      </p:sp>
      <p:sp>
        <p:nvSpPr>
          <p:cNvPr id="11" name="Text 7"/>
          <p:cNvSpPr/>
          <p:nvPr/>
        </p:nvSpPr>
        <p:spPr>
          <a:xfrm>
            <a:off x="428625" y="2680692"/>
            <a:ext cx="2571750" cy="514350"/>
          </a:xfrm>
          <a:prstGeom prst="rect">
            <a:avLst/>
          </a:prstGeom>
          <a:noFill/>
          <a:ln/>
        </p:spPr>
        <p:txBody>
          <a:bodyPr wrap="square" lIns="0" tIns="0" rIns="0" bIns="0" rtlCol="0" anchor="t">
            <a:spAutoFit/>
          </a:bodyPr>
          <a:lstStyle/>
          <a:p>
            <a:pPr marL="0" indent="0" algn="l">
              <a:lnSpc>
                <a:spcPts val="1400"/>
              </a:lnSpc>
              <a:buNone/>
            </a:pPr>
            <a:r>
              <a:rPr lang="en-US" sz="780" dirty="0">
                <a:solidFill>
                  <a:srgbClr val="FFFFFF"/>
                </a:solidFill>
              </a:rPr>
              <a:t>When all outcomes are </a:t>
            </a:r>
            <a:r>
              <a:rPr lang="en-US" sz="734" b="1" dirty="0">
                <a:solidFill>
                  <a:srgbClr val="FF6B9D"/>
                </a:solidFill>
              </a:rPr>
              <a:t>equally likely</a:t>
            </a:r>
            <a:r>
              <a:rPr lang="en-US" sz="780" dirty="0">
                <a:solidFill>
                  <a:srgbClr val="FFFFFF"/>
                </a:solidFill>
              </a:rPr>
              <a:t> and can be counted. Based on theoretical analysis, not experiments.</a:t>
            </a:r>
            <a:endParaRPr lang="en-US" sz="780" dirty="0"/>
          </a:p>
        </p:txBody>
      </p:sp>
      <p:sp>
        <p:nvSpPr>
          <p:cNvPr id="12" name="Text 8"/>
          <p:cNvSpPr/>
          <p:nvPr/>
        </p:nvSpPr>
        <p:spPr>
          <a:xfrm>
            <a:off x="428625" y="3149798"/>
            <a:ext cx="2571750" cy="155377"/>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00D9FF"/>
                </a:solidFill>
              </a:rPr>
              <a:t>Key Requirements:</a:t>
            </a:r>
            <a:endParaRPr lang="en-US" sz="784" dirty="0"/>
          </a:p>
        </p:txBody>
      </p:sp>
      <p:sp>
        <p:nvSpPr>
          <p:cNvPr id="13" name="Text 9"/>
          <p:cNvSpPr/>
          <p:nvPr/>
        </p:nvSpPr>
        <p:spPr>
          <a:xfrm>
            <a:off x="428625" y="3343275"/>
            <a:ext cx="2571750" cy="514350"/>
          </a:xfrm>
          <a:prstGeom prst="rect">
            <a:avLst/>
          </a:prstGeom>
          <a:noFill/>
          <a:ln/>
        </p:spPr>
        <p:txBody>
          <a:bodyPr wrap="square" lIns="0" tIns="0" rIns="0" bIns="0" rtlCol="0" anchor="t">
            <a:spAutoFit/>
          </a:bodyPr>
          <a:lstStyle/>
          <a:p>
            <a:pPr marL="0" indent="0" algn="l">
              <a:lnSpc>
                <a:spcPts val="1400"/>
              </a:lnSpc>
              <a:buNone/>
            </a:pPr>
            <a:r>
              <a:rPr lang="en-US" sz="780" dirty="0">
                <a:solidFill>
                  <a:srgbClr val="FFFFFF"/>
                </a:solidFill>
              </a:rPr>
              <a:t>• Finite sample space
 • All outcomes equally probable
 • Known before experiment</a:t>
            </a:r>
            <a:endParaRPr lang="en-US" sz="780" dirty="0"/>
          </a:p>
        </p:txBody>
      </p:sp>
      <p:sp>
        <p:nvSpPr>
          <p:cNvPr id="14" name="Shape 10"/>
          <p:cNvSpPr/>
          <p:nvPr/>
        </p:nvSpPr>
        <p:spPr>
          <a:xfrm>
            <a:off x="428625" y="4136231"/>
            <a:ext cx="2571750" cy="842169"/>
          </a:xfrm>
          <a:prstGeom prst="rect">
            <a:avLst/>
          </a:prstGeom>
          <a:solidFill>
            <a:srgbClr val="FFD73D">
              <a:alpha val="10000"/>
            </a:srgbClr>
          </a:solidFill>
          <a:ln/>
        </p:spPr>
        <p:txBody>
          <a:bodyPr/>
          <a:lstStyle/>
          <a:p>
            <a:endParaRPr lang="en-US"/>
          </a:p>
        </p:txBody>
      </p:sp>
      <p:sp>
        <p:nvSpPr>
          <p:cNvPr id="15" name="Text 11"/>
          <p:cNvSpPr/>
          <p:nvPr/>
        </p:nvSpPr>
        <p:spPr>
          <a:xfrm>
            <a:off x="514350" y="4221956"/>
            <a:ext cx="2400300" cy="135731"/>
          </a:xfrm>
          <a:prstGeom prst="rect">
            <a:avLst/>
          </a:prstGeom>
          <a:noFill/>
          <a:ln/>
        </p:spPr>
        <p:txBody>
          <a:bodyPr wrap="none" lIns="0" tIns="0" rIns="0" bIns="0" rtlCol="0" anchor="t">
            <a:spAutoFit/>
          </a:bodyPr>
          <a:lstStyle/>
          <a:p>
            <a:pPr marL="0" indent="0" algn="l">
              <a:lnSpc>
                <a:spcPts val="900"/>
              </a:lnSpc>
              <a:buNone/>
            </a:pPr>
            <a:r>
              <a:rPr lang="en-US" sz="683" b="1" dirty="0">
                <a:solidFill>
                  <a:srgbClr val="FFD93D"/>
                </a:solidFill>
              </a:rPr>
              <a:t>Example:</a:t>
            </a:r>
            <a:endParaRPr lang="en-US" sz="683" dirty="0"/>
          </a:p>
        </p:txBody>
      </p:sp>
      <p:sp>
        <p:nvSpPr>
          <p:cNvPr id="16" name="Text 12"/>
          <p:cNvSpPr/>
          <p:nvPr/>
        </p:nvSpPr>
        <p:spPr>
          <a:xfrm>
            <a:off x="514350" y="4414838"/>
            <a:ext cx="2400300" cy="450056"/>
          </a:xfrm>
          <a:prstGeom prst="rect">
            <a:avLst/>
          </a:prstGeom>
          <a:noFill/>
          <a:ln/>
        </p:spPr>
        <p:txBody>
          <a:bodyPr wrap="square" lIns="0" tIns="0" rIns="0" bIns="0" rtlCol="0" anchor="t">
            <a:spAutoFit/>
          </a:bodyPr>
          <a:lstStyle/>
          <a:p>
            <a:pPr marL="0" indent="0" algn="l">
              <a:lnSpc>
                <a:spcPts val="1200"/>
              </a:lnSpc>
              <a:buNone/>
            </a:pPr>
            <a:r>
              <a:rPr lang="en-US" sz="727" dirty="0">
                <a:solidFill>
                  <a:srgbClr val="FFFFFF"/>
                </a:solidFill>
              </a:rPr>
              <a:t>Rolling a fair die:
 P(rolling 4) = 1/6
 P(even number) = 3/6 = 1/2</a:t>
            </a:r>
            <a:endParaRPr lang="en-US" sz="727" dirty="0"/>
          </a:p>
        </p:txBody>
      </p:sp>
      <p:sp>
        <p:nvSpPr>
          <p:cNvPr id="17" name="Text 13"/>
          <p:cNvSpPr/>
          <p:nvPr/>
        </p:nvSpPr>
        <p:spPr>
          <a:xfrm>
            <a:off x="3286125" y="1355527"/>
            <a:ext cx="2571750" cy="387548"/>
          </a:xfrm>
          <a:prstGeom prst="rect">
            <a:avLst/>
          </a:prstGeom>
          <a:noFill/>
          <a:ln/>
        </p:spPr>
        <p:txBody>
          <a:bodyPr wrap="square" lIns="85090" tIns="127508" rIns="85090" bIns="0" rtlCol="0" anchor="t">
            <a:spAutoFit/>
          </a:bodyPr>
          <a:lstStyle/>
          <a:p>
            <a:pPr marL="0" indent="0" algn="ctr">
              <a:lnSpc>
                <a:spcPts val="1800"/>
              </a:lnSpc>
              <a:buNone/>
            </a:pPr>
            <a:r>
              <a:rPr lang="en-US" sz="1295" b="1" dirty="0">
                <a:solidFill>
                  <a:srgbClr val="00D9FF"/>
                </a:solidFill>
              </a:rPr>
              <a:t>Empirical Approach</a:t>
            </a:r>
            <a:endParaRPr lang="en-US" sz="1295" dirty="0"/>
          </a:p>
        </p:txBody>
      </p:sp>
      <p:sp>
        <p:nvSpPr>
          <p:cNvPr id="18" name="Shape 14"/>
          <p:cNvSpPr/>
          <p:nvPr/>
        </p:nvSpPr>
        <p:spPr>
          <a:xfrm>
            <a:off x="3286125" y="1850231"/>
            <a:ext cx="2571750" cy="475059"/>
          </a:xfrm>
          <a:prstGeom prst="rect">
            <a:avLst/>
          </a:prstGeom>
          <a:solidFill>
            <a:srgbClr val="FFFFFF">
              <a:alpha val="5000"/>
            </a:srgbClr>
          </a:solidFill>
          <a:ln/>
        </p:spPr>
        <p:txBody>
          <a:bodyPr/>
          <a:lstStyle/>
          <a:p>
            <a:endParaRPr lang="en-US"/>
          </a:p>
        </p:txBody>
      </p:sp>
      <p:sp>
        <p:nvSpPr>
          <p:cNvPr id="19" name="Text 15"/>
          <p:cNvSpPr/>
          <p:nvPr/>
        </p:nvSpPr>
        <p:spPr>
          <a:xfrm>
            <a:off x="3393281" y="1957388"/>
            <a:ext cx="2357438" cy="135731"/>
          </a:xfrm>
          <a:prstGeom prst="rect">
            <a:avLst/>
          </a:prstGeom>
          <a:noFill/>
          <a:ln/>
        </p:spPr>
        <p:txBody>
          <a:bodyPr wrap="none" lIns="0" tIns="0" rIns="0" bIns="0" rtlCol="0" anchor="t">
            <a:spAutoFit/>
          </a:bodyPr>
          <a:lstStyle/>
          <a:p>
            <a:pPr marL="0" indent="0" algn="l">
              <a:lnSpc>
                <a:spcPts val="900"/>
              </a:lnSpc>
              <a:buNone/>
            </a:pPr>
            <a:r>
              <a:rPr lang="en-US" sz="683" b="1" dirty="0">
                <a:solidFill>
                  <a:srgbClr val="FFD93D"/>
                </a:solidFill>
              </a:rPr>
              <a:t>Formula:</a:t>
            </a:r>
            <a:endParaRPr lang="en-US" sz="683" dirty="0"/>
          </a:p>
        </p:txBody>
      </p:sp>
      <p:sp>
        <p:nvSpPr>
          <p:cNvPr id="20" name="Text 16"/>
          <p:cNvSpPr/>
          <p:nvPr/>
        </p:nvSpPr>
        <p:spPr>
          <a:xfrm>
            <a:off x="3393281" y="1934369"/>
            <a:ext cx="2357438" cy="175022"/>
          </a:xfrm>
          <a:prstGeom prst="rect">
            <a:avLst/>
          </a:prstGeom>
          <a:noFill/>
          <a:ln/>
        </p:spPr>
        <p:txBody>
          <a:bodyPr wrap="none" lIns="0" tIns="0" rIns="0" bIns="0" rtlCol="0" anchor="t">
            <a:spAutoFit/>
          </a:bodyPr>
          <a:lstStyle/>
          <a:p>
            <a:pPr marL="0" indent="0" algn="ctr">
              <a:lnSpc>
                <a:spcPts val="1200"/>
              </a:lnSpc>
              <a:buNone/>
            </a:pPr>
            <a:r>
              <a:rPr lang="en-US" sz="885" b="1" dirty="0">
                <a:solidFill>
                  <a:srgbClr val="FFFFFF"/>
                </a:solidFill>
              </a:rPr>
              <a:t>P(A) = f / n</a:t>
            </a:r>
            <a:endParaRPr lang="en-US" sz="885" dirty="0"/>
          </a:p>
        </p:txBody>
      </p:sp>
      <p:sp>
        <p:nvSpPr>
          <p:cNvPr id="21" name="Text 17"/>
          <p:cNvSpPr/>
          <p:nvPr/>
        </p:nvSpPr>
        <p:spPr>
          <a:xfrm>
            <a:off x="3286125" y="2468166"/>
            <a:ext cx="2571750" cy="155377"/>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00D9FF"/>
                </a:solidFill>
              </a:rPr>
              <a:t>When to Use:</a:t>
            </a:r>
            <a:endParaRPr lang="en-US" sz="784" dirty="0"/>
          </a:p>
        </p:txBody>
      </p:sp>
      <p:sp>
        <p:nvSpPr>
          <p:cNvPr id="22" name="Text 18"/>
          <p:cNvSpPr/>
          <p:nvPr/>
        </p:nvSpPr>
        <p:spPr>
          <a:xfrm>
            <a:off x="3286125" y="2680692"/>
            <a:ext cx="2571750" cy="514350"/>
          </a:xfrm>
          <a:prstGeom prst="rect">
            <a:avLst/>
          </a:prstGeom>
          <a:noFill/>
          <a:ln/>
        </p:spPr>
        <p:txBody>
          <a:bodyPr wrap="square" lIns="0" tIns="0" rIns="0" bIns="0" rtlCol="0" anchor="t">
            <a:spAutoFit/>
          </a:bodyPr>
          <a:lstStyle/>
          <a:p>
            <a:pPr marL="0" indent="0" algn="l">
              <a:lnSpc>
                <a:spcPts val="1400"/>
              </a:lnSpc>
              <a:buNone/>
            </a:pPr>
            <a:r>
              <a:rPr lang="en-US" sz="780" dirty="0">
                <a:solidFill>
                  <a:srgbClr val="FFFFFF"/>
                </a:solidFill>
              </a:rPr>
              <a:t>Based on </a:t>
            </a:r>
            <a:r>
              <a:rPr lang="en-US" sz="734" b="1" dirty="0">
                <a:solidFill>
                  <a:srgbClr val="FF6B9D"/>
                </a:solidFill>
              </a:rPr>
              <a:t>observed data</a:t>
            </a:r>
            <a:r>
              <a:rPr lang="en-US" sz="780" dirty="0">
                <a:solidFill>
                  <a:srgbClr val="FFFFFF"/>
                </a:solidFill>
              </a:rPr>
              <a:t> from experiments or historical records. Used when theoretical probability is unknown.</a:t>
            </a:r>
            <a:endParaRPr lang="en-US" sz="780" dirty="0"/>
          </a:p>
        </p:txBody>
      </p:sp>
      <p:sp>
        <p:nvSpPr>
          <p:cNvPr id="23" name="Text 19"/>
          <p:cNvSpPr/>
          <p:nvPr/>
        </p:nvSpPr>
        <p:spPr>
          <a:xfrm>
            <a:off x="3286125" y="3149798"/>
            <a:ext cx="2571750" cy="155377"/>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00D9FF"/>
                </a:solidFill>
              </a:rPr>
              <a:t>Key Requirements:</a:t>
            </a:r>
            <a:endParaRPr lang="en-US" sz="784" dirty="0"/>
          </a:p>
        </p:txBody>
      </p:sp>
      <p:sp>
        <p:nvSpPr>
          <p:cNvPr id="24" name="Text 20"/>
          <p:cNvSpPr/>
          <p:nvPr/>
        </p:nvSpPr>
        <p:spPr>
          <a:xfrm>
            <a:off x="3286125" y="3343275"/>
            <a:ext cx="2571750" cy="514350"/>
          </a:xfrm>
          <a:prstGeom prst="rect">
            <a:avLst/>
          </a:prstGeom>
          <a:noFill/>
          <a:ln/>
        </p:spPr>
        <p:txBody>
          <a:bodyPr wrap="square" lIns="0" tIns="0" rIns="0" bIns="0" rtlCol="0" anchor="t">
            <a:spAutoFit/>
          </a:bodyPr>
          <a:lstStyle/>
          <a:p>
            <a:pPr marL="0" indent="0" algn="l">
              <a:lnSpc>
                <a:spcPts val="1400"/>
              </a:lnSpc>
              <a:buNone/>
            </a:pPr>
            <a:r>
              <a:rPr lang="en-US" sz="780" dirty="0">
                <a:solidFill>
                  <a:srgbClr val="FFFFFF"/>
                </a:solidFill>
              </a:rPr>
              <a:t>• Large number of trials (n)
 • Frequency count (f)
 • Converges to true probability</a:t>
            </a:r>
            <a:endParaRPr lang="en-US" sz="780" dirty="0"/>
          </a:p>
        </p:txBody>
      </p:sp>
      <p:sp>
        <p:nvSpPr>
          <p:cNvPr id="25" name="Shape 21"/>
          <p:cNvSpPr/>
          <p:nvPr/>
        </p:nvSpPr>
        <p:spPr>
          <a:xfrm>
            <a:off x="3286125" y="4136231"/>
            <a:ext cx="2571750" cy="842169"/>
          </a:xfrm>
          <a:prstGeom prst="rect">
            <a:avLst/>
          </a:prstGeom>
          <a:solidFill>
            <a:srgbClr val="FFD73D">
              <a:alpha val="10000"/>
            </a:srgbClr>
          </a:solidFill>
          <a:ln/>
        </p:spPr>
        <p:txBody>
          <a:bodyPr/>
          <a:lstStyle/>
          <a:p>
            <a:endParaRPr lang="en-US"/>
          </a:p>
        </p:txBody>
      </p:sp>
      <p:sp>
        <p:nvSpPr>
          <p:cNvPr id="26" name="Text 22"/>
          <p:cNvSpPr/>
          <p:nvPr/>
        </p:nvSpPr>
        <p:spPr>
          <a:xfrm>
            <a:off x="3371850" y="4221956"/>
            <a:ext cx="2400300" cy="135731"/>
          </a:xfrm>
          <a:prstGeom prst="rect">
            <a:avLst/>
          </a:prstGeom>
          <a:noFill/>
          <a:ln/>
        </p:spPr>
        <p:txBody>
          <a:bodyPr wrap="none" lIns="0" tIns="0" rIns="0" bIns="0" rtlCol="0" anchor="t">
            <a:spAutoFit/>
          </a:bodyPr>
          <a:lstStyle/>
          <a:p>
            <a:pPr marL="0" indent="0" algn="l">
              <a:lnSpc>
                <a:spcPts val="900"/>
              </a:lnSpc>
              <a:buNone/>
            </a:pPr>
            <a:r>
              <a:rPr lang="en-US" sz="683" b="1" dirty="0">
                <a:solidFill>
                  <a:srgbClr val="FFD93D"/>
                </a:solidFill>
              </a:rPr>
              <a:t>Example:</a:t>
            </a:r>
            <a:endParaRPr lang="en-US" sz="683" dirty="0"/>
          </a:p>
        </p:txBody>
      </p:sp>
      <p:sp>
        <p:nvSpPr>
          <p:cNvPr id="27" name="Text 23"/>
          <p:cNvSpPr/>
          <p:nvPr/>
        </p:nvSpPr>
        <p:spPr>
          <a:xfrm>
            <a:off x="3371850" y="4414838"/>
            <a:ext cx="2400300" cy="450056"/>
          </a:xfrm>
          <a:prstGeom prst="rect">
            <a:avLst/>
          </a:prstGeom>
          <a:noFill/>
          <a:ln/>
        </p:spPr>
        <p:txBody>
          <a:bodyPr wrap="square" lIns="0" tIns="0" rIns="0" bIns="0" rtlCol="0" anchor="t">
            <a:spAutoFit/>
          </a:bodyPr>
          <a:lstStyle/>
          <a:p>
            <a:pPr marL="0" indent="0" algn="l">
              <a:lnSpc>
                <a:spcPts val="1200"/>
              </a:lnSpc>
              <a:buNone/>
            </a:pPr>
            <a:r>
              <a:rPr lang="en-US" sz="727" dirty="0">
                <a:solidFill>
                  <a:srgbClr val="FFFFFF"/>
                </a:solidFill>
              </a:rPr>
              <a:t>Manufacturing defects:
 50 defective in 1000 items
 P(defective) = 50/1000 = 0.05</a:t>
            </a:r>
            <a:endParaRPr lang="en-US" sz="727" dirty="0"/>
          </a:p>
        </p:txBody>
      </p:sp>
      <p:sp>
        <p:nvSpPr>
          <p:cNvPr id="28" name="Text 24"/>
          <p:cNvSpPr/>
          <p:nvPr/>
        </p:nvSpPr>
        <p:spPr>
          <a:xfrm>
            <a:off x="6143625" y="1355527"/>
            <a:ext cx="2571750" cy="387548"/>
          </a:xfrm>
          <a:prstGeom prst="rect">
            <a:avLst/>
          </a:prstGeom>
          <a:noFill/>
          <a:ln/>
        </p:spPr>
        <p:txBody>
          <a:bodyPr wrap="square" lIns="85090" tIns="127508" rIns="85090" bIns="0" rtlCol="0" anchor="t">
            <a:spAutoFit/>
          </a:bodyPr>
          <a:lstStyle/>
          <a:p>
            <a:pPr marL="0" indent="0" algn="ctr">
              <a:lnSpc>
                <a:spcPts val="1800"/>
              </a:lnSpc>
              <a:buNone/>
            </a:pPr>
            <a:r>
              <a:rPr lang="en-US" sz="1295" b="1" dirty="0">
                <a:solidFill>
                  <a:srgbClr val="FFD93D"/>
                </a:solidFill>
              </a:rPr>
              <a:t>Subjective Approach</a:t>
            </a:r>
            <a:endParaRPr lang="en-US" sz="1295" dirty="0"/>
          </a:p>
        </p:txBody>
      </p:sp>
      <p:sp>
        <p:nvSpPr>
          <p:cNvPr id="29" name="Shape 25"/>
          <p:cNvSpPr/>
          <p:nvPr/>
        </p:nvSpPr>
        <p:spPr>
          <a:xfrm>
            <a:off x="6143625" y="1850231"/>
            <a:ext cx="2571750" cy="475059"/>
          </a:xfrm>
          <a:prstGeom prst="rect">
            <a:avLst/>
          </a:prstGeom>
          <a:solidFill>
            <a:srgbClr val="FFFFFF">
              <a:alpha val="5000"/>
            </a:srgbClr>
          </a:solidFill>
          <a:ln/>
        </p:spPr>
        <p:txBody>
          <a:bodyPr/>
          <a:lstStyle/>
          <a:p>
            <a:endParaRPr lang="en-US"/>
          </a:p>
        </p:txBody>
      </p:sp>
      <p:sp>
        <p:nvSpPr>
          <p:cNvPr id="30" name="Text 26"/>
          <p:cNvSpPr/>
          <p:nvPr/>
        </p:nvSpPr>
        <p:spPr>
          <a:xfrm>
            <a:off x="6250781" y="1957388"/>
            <a:ext cx="2357438" cy="135731"/>
          </a:xfrm>
          <a:prstGeom prst="rect">
            <a:avLst/>
          </a:prstGeom>
          <a:noFill/>
          <a:ln/>
        </p:spPr>
        <p:txBody>
          <a:bodyPr wrap="none" lIns="0" tIns="0" rIns="0" bIns="0" rtlCol="0" anchor="t">
            <a:spAutoFit/>
          </a:bodyPr>
          <a:lstStyle/>
          <a:p>
            <a:pPr marL="0" indent="0" algn="l">
              <a:lnSpc>
                <a:spcPts val="900"/>
              </a:lnSpc>
              <a:buNone/>
            </a:pPr>
            <a:r>
              <a:rPr lang="en-US" sz="683" b="1" dirty="0">
                <a:solidFill>
                  <a:srgbClr val="FFD93D"/>
                </a:solidFill>
              </a:rPr>
              <a:t>Formula:</a:t>
            </a:r>
            <a:endParaRPr lang="en-US" sz="683" dirty="0"/>
          </a:p>
        </p:txBody>
      </p:sp>
      <p:sp>
        <p:nvSpPr>
          <p:cNvPr id="31" name="Text 27"/>
          <p:cNvSpPr/>
          <p:nvPr/>
        </p:nvSpPr>
        <p:spPr>
          <a:xfrm>
            <a:off x="6250781" y="1934369"/>
            <a:ext cx="2357438" cy="175022"/>
          </a:xfrm>
          <a:prstGeom prst="rect">
            <a:avLst/>
          </a:prstGeom>
          <a:noFill/>
          <a:ln/>
        </p:spPr>
        <p:txBody>
          <a:bodyPr wrap="none" lIns="0" tIns="0" rIns="0" bIns="0" rtlCol="0" anchor="t">
            <a:spAutoFit/>
          </a:bodyPr>
          <a:lstStyle/>
          <a:p>
            <a:pPr marL="0" indent="0" algn="ctr">
              <a:lnSpc>
                <a:spcPts val="1200"/>
              </a:lnSpc>
              <a:buNone/>
            </a:pPr>
            <a:r>
              <a:rPr lang="en-US" sz="885" b="1" dirty="0">
                <a:solidFill>
                  <a:srgbClr val="FFFFFF"/>
                </a:solidFill>
              </a:rPr>
              <a:t>P(A) = Expert judgment</a:t>
            </a:r>
            <a:endParaRPr lang="en-US" sz="885" dirty="0"/>
          </a:p>
        </p:txBody>
      </p:sp>
      <p:sp>
        <p:nvSpPr>
          <p:cNvPr id="32" name="Text 28"/>
          <p:cNvSpPr/>
          <p:nvPr/>
        </p:nvSpPr>
        <p:spPr>
          <a:xfrm>
            <a:off x="6143625" y="2468166"/>
            <a:ext cx="2571750" cy="155377"/>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00D9FF"/>
                </a:solidFill>
              </a:rPr>
              <a:t>When to Use:</a:t>
            </a:r>
            <a:endParaRPr lang="en-US" sz="784" dirty="0"/>
          </a:p>
        </p:txBody>
      </p:sp>
      <p:sp>
        <p:nvSpPr>
          <p:cNvPr id="33" name="Text 29"/>
          <p:cNvSpPr/>
          <p:nvPr/>
        </p:nvSpPr>
        <p:spPr>
          <a:xfrm>
            <a:off x="6143625" y="2680692"/>
            <a:ext cx="2571750" cy="342900"/>
          </a:xfrm>
          <a:prstGeom prst="rect">
            <a:avLst/>
          </a:prstGeom>
          <a:noFill/>
          <a:ln/>
        </p:spPr>
        <p:txBody>
          <a:bodyPr wrap="square" lIns="0" tIns="0" rIns="0" bIns="0" rtlCol="0" anchor="t">
            <a:spAutoFit/>
          </a:bodyPr>
          <a:lstStyle/>
          <a:p>
            <a:pPr marL="0" indent="0" algn="l">
              <a:lnSpc>
                <a:spcPts val="1400"/>
              </a:lnSpc>
              <a:buNone/>
            </a:pPr>
            <a:r>
              <a:rPr lang="en-US" sz="780" dirty="0">
                <a:solidFill>
                  <a:srgbClr val="FFFFFF"/>
                </a:solidFill>
              </a:rPr>
              <a:t>Based on </a:t>
            </a:r>
            <a:r>
              <a:rPr lang="en-US" sz="734" b="1" dirty="0">
                <a:solidFill>
                  <a:srgbClr val="FF6B9D"/>
                </a:solidFill>
              </a:rPr>
              <a:t>personal belief</a:t>
            </a:r>
            <a:r>
              <a:rPr lang="en-US" sz="780" dirty="0">
                <a:solidFill>
                  <a:srgbClr val="FFFFFF"/>
                </a:solidFill>
              </a:rPr>
              <a:t>, intuition, or expert opinion. Used for unique, non-repeatable events.</a:t>
            </a:r>
            <a:endParaRPr lang="en-US" sz="780" dirty="0"/>
          </a:p>
        </p:txBody>
      </p:sp>
      <p:sp>
        <p:nvSpPr>
          <p:cNvPr id="34" name="Text 30"/>
          <p:cNvSpPr/>
          <p:nvPr/>
        </p:nvSpPr>
        <p:spPr>
          <a:xfrm>
            <a:off x="6143625" y="3149798"/>
            <a:ext cx="2571750" cy="155377"/>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00D9FF"/>
                </a:solidFill>
              </a:rPr>
              <a:t>Key Requirements:</a:t>
            </a:r>
            <a:endParaRPr lang="en-US" sz="784" dirty="0"/>
          </a:p>
        </p:txBody>
      </p:sp>
      <p:sp>
        <p:nvSpPr>
          <p:cNvPr id="35" name="Text 31"/>
          <p:cNvSpPr/>
          <p:nvPr/>
        </p:nvSpPr>
        <p:spPr>
          <a:xfrm>
            <a:off x="6143625" y="3343275"/>
            <a:ext cx="2571750" cy="514350"/>
          </a:xfrm>
          <a:prstGeom prst="rect">
            <a:avLst/>
          </a:prstGeom>
          <a:noFill/>
          <a:ln/>
        </p:spPr>
        <p:txBody>
          <a:bodyPr wrap="square" lIns="0" tIns="0" rIns="0" bIns="0" rtlCol="0" anchor="t">
            <a:spAutoFit/>
          </a:bodyPr>
          <a:lstStyle/>
          <a:p>
            <a:pPr marL="0" indent="0" algn="l">
              <a:lnSpc>
                <a:spcPts val="1400"/>
              </a:lnSpc>
              <a:buNone/>
            </a:pPr>
            <a:r>
              <a:rPr lang="en-US" sz="780" dirty="0">
                <a:solidFill>
                  <a:srgbClr val="FFFFFF"/>
                </a:solidFill>
              </a:rPr>
              <a:t>• No historical data
 • Expert knowledge
 • Must still follow axioms</a:t>
            </a:r>
            <a:endParaRPr lang="en-US" sz="780" dirty="0"/>
          </a:p>
        </p:txBody>
      </p:sp>
      <p:sp>
        <p:nvSpPr>
          <p:cNvPr id="36" name="Shape 32"/>
          <p:cNvSpPr/>
          <p:nvPr/>
        </p:nvSpPr>
        <p:spPr>
          <a:xfrm>
            <a:off x="6143625" y="4136231"/>
            <a:ext cx="2571750" cy="842169"/>
          </a:xfrm>
          <a:prstGeom prst="rect">
            <a:avLst/>
          </a:prstGeom>
          <a:solidFill>
            <a:srgbClr val="FFD73D">
              <a:alpha val="10000"/>
            </a:srgbClr>
          </a:solidFill>
          <a:ln/>
        </p:spPr>
        <p:txBody>
          <a:bodyPr/>
          <a:lstStyle/>
          <a:p>
            <a:endParaRPr lang="en-US"/>
          </a:p>
        </p:txBody>
      </p:sp>
      <p:sp>
        <p:nvSpPr>
          <p:cNvPr id="37" name="Text 33"/>
          <p:cNvSpPr/>
          <p:nvPr/>
        </p:nvSpPr>
        <p:spPr>
          <a:xfrm>
            <a:off x="6229350" y="4221956"/>
            <a:ext cx="2400300" cy="135731"/>
          </a:xfrm>
          <a:prstGeom prst="rect">
            <a:avLst/>
          </a:prstGeom>
          <a:noFill/>
          <a:ln/>
        </p:spPr>
        <p:txBody>
          <a:bodyPr wrap="none" lIns="0" tIns="0" rIns="0" bIns="0" rtlCol="0" anchor="t">
            <a:spAutoFit/>
          </a:bodyPr>
          <a:lstStyle/>
          <a:p>
            <a:pPr marL="0" indent="0" algn="l">
              <a:lnSpc>
                <a:spcPts val="900"/>
              </a:lnSpc>
              <a:buNone/>
            </a:pPr>
            <a:r>
              <a:rPr lang="en-US" sz="683" b="1" dirty="0">
                <a:solidFill>
                  <a:srgbClr val="FFD93D"/>
                </a:solidFill>
              </a:rPr>
              <a:t>Example:</a:t>
            </a:r>
            <a:endParaRPr lang="en-US" sz="683" dirty="0"/>
          </a:p>
        </p:txBody>
      </p:sp>
      <p:sp>
        <p:nvSpPr>
          <p:cNvPr id="38" name="Text 34"/>
          <p:cNvSpPr/>
          <p:nvPr/>
        </p:nvSpPr>
        <p:spPr>
          <a:xfrm>
            <a:off x="6229350" y="4414838"/>
            <a:ext cx="2400300" cy="450056"/>
          </a:xfrm>
          <a:prstGeom prst="rect">
            <a:avLst/>
          </a:prstGeom>
          <a:noFill/>
          <a:ln/>
        </p:spPr>
        <p:txBody>
          <a:bodyPr wrap="square" lIns="0" tIns="0" rIns="0" bIns="0" rtlCol="0" anchor="t">
            <a:spAutoFit/>
          </a:bodyPr>
          <a:lstStyle/>
          <a:p>
            <a:pPr marL="0" indent="0" algn="l">
              <a:lnSpc>
                <a:spcPts val="1200"/>
              </a:lnSpc>
              <a:buNone/>
            </a:pPr>
            <a:r>
              <a:rPr lang="en-US" sz="727" dirty="0">
                <a:solidFill>
                  <a:srgbClr val="FFFFFF"/>
                </a:solidFill>
              </a:rPr>
              <a:t>Stock market prediction:
 "70% chance stock rises"
 Based on analyst expertise</a:t>
            </a:r>
            <a:endParaRPr lang="en-US" sz="727"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220295"/>
          </a:xfrm>
          <a:prstGeom prst="rect">
            <a:avLst/>
          </a:prstGeom>
        </p:spPr>
      </p:pic>
      <p:sp>
        <p:nvSpPr>
          <p:cNvPr id="4" name="Text 0"/>
          <p:cNvSpPr/>
          <p:nvPr/>
        </p:nvSpPr>
        <p:spPr>
          <a:xfrm>
            <a:off x="0" y="357188"/>
            <a:ext cx="9144000" cy="466130"/>
          </a:xfrm>
          <a:prstGeom prst="rect">
            <a:avLst/>
          </a:prstGeom>
          <a:noFill/>
          <a:ln/>
        </p:spPr>
        <p:txBody>
          <a:bodyPr wrap="none" lIns="0" tIns="0" rIns="0" bIns="0" rtlCol="0" anchor="t">
            <a:spAutoFit/>
          </a:bodyPr>
          <a:lstStyle/>
          <a:p>
            <a:pPr marL="0" indent="0" algn="ctr">
              <a:lnSpc>
                <a:spcPts val="3200"/>
              </a:lnSpc>
              <a:buNone/>
            </a:pPr>
            <a:r>
              <a:rPr lang="en-US" sz="2436" b="1" dirty="0">
                <a:solidFill>
                  <a:srgbClr val="00D9FF"/>
                </a:solidFill>
              </a:rPr>
              <a:t>Example: Rolling Dice</a:t>
            </a:r>
            <a:endParaRPr lang="en-US" sz="2436" dirty="0"/>
          </a:p>
        </p:txBody>
      </p:sp>
      <p:sp>
        <p:nvSpPr>
          <p:cNvPr id="5" name="Text 1"/>
          <p:cNvSpPr/>
          <p:nvPr/>
        </p:nvSpPr>
        <p:spPr>
          <a:xfrm>
            <a:off x="500063" y="1073348"/>
            <a:ext cx="3893344" cy="273248"/>
          </a:xfrm>
          <a:prstGeom prst="rect">
            <a:avLst/>
          </a:prstGeom>
          <a:noFill/>
          <a:ln/>
        </p:spPr>
        <p:txBody>
          <a:bodyPr wrap="none" lIns="0" tIns="0" rIns="0" bIns="0" rtlCol="0" anchor="t">
            <a:spAutoFit/>
          </a:bodyPr>
          <a:lstStyle/>
          <a:p>
            <a:pPr marL="0" indent="0" algn="ctr">
              <a:lnSpc>
                <a:spcPts val="1900"/>
              </a:lnSpc>
              <a:buNone/>
            </a:pPr>
            <a:r>
              <a:rPr lang="en-US" sz="1397" b="1" dirty="0">
                <a:solidFill>
                  <a:srgbClr val="FFD93D"/>
                </a:solidFill>
              </a:rPr>
              <a:t>Single Die</a:t>
            </a:r>
            <a:endParaRPr lang="en-US" sz="1397" dirty="0"/>
          </a:p>
        </p:txBody>
      </p:sp>
      <p:sp>
        <p:nvSpPr>
          <p:cNvPr id="6" name="Shape 2"/>
          <p:cNvSpPr/>
          <p:nvPr/>
        </p:nvSpPr>
        <p:spPr>
          <a:xfrm>
            <a:off x="500063" y="1432322"/>
            <a:ext cx="3893344" cy="862608"/>
          </a:xfrm>
          <a:prstGeom prst="rect">
            <a:avLst/>
          </a:prstGeom>
          <a:solidFill>
            <a:srgbClr val="FFFFFF">
              <a:alpha val="5000"/>
            </a:srgbClr>
          </a:solidFill>
          <a:ln/>
        </p:spPr>
        <p:txBody>
          <a:bodyPr/>
          <a:lstStyle/>
          <a:p>
            <a:endParaRPr lang="en-US"/>
          </a:p>
        </p:txBody>
      </p:sp>
      <p:sp>
        <p:nvSpPr>
          <p:cNvPr id="7" name="Text 3"/>
          <p:cNvSpPr/>
          <p:nvPr/>
        </p:nvSpPr>
        <p:spPr>
          <a:xfrm>
            <a:off x="642938" y="1503759"/>
            <a:ext cx="3607594" cy="175022"/>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00D9FF"/>
                </a:solidFill>
              </a:rPr>
              <a:t>Example 1: Rolling a 4</a:t>
            </a:r>
            <a:endParaRPr lang="en-US" sz="885" dirty="0"/>
          </a:p>
        </p:txBody>
      </p:sp>
      <p:sp>
        <p:nvSpPr>
          <p:cNvPr id="8" name="Text 4"/>
          <p:cNvSpPr/>
          <p:nvPr/>
        </p:nvSpPr>
        <p:spPr>
          <a:xfrm>
            <a:off x="642938" y="1707356"/>
            <a:ext cx="3607594" cy="155377"/>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FFD93D"/>
                </a:solidFill>
              </a:rPr>
              <a:t>Event A:</a:t>
            </a:r>
            <a:r>
              <a:rPr lang="en-US" sz="834" dirty="0">
                <a:solidFill>
                  <a:srgbClr val="FFFFFF"/>
                </a:solidFill>
              </a:rPr>
              <a:t> Getting a 4 = {4}</a:t>
            </a:r>
            <a:endParaRPr lang="en-US" sz="784" dirty="0"/>
          </a:p>
        </p:txBody>
      </p:sp>
      <p:sp>
        <p:nvSpPr>
          <p:cNvPr id="9" name="Text 5"/>
          <p:cNvSpPr/>
          <p:nvPr/>
        </p:nvSpPr>
        <p:spPr>
          <a:xfrm>
            <a:off x="642938" y="1912739"/>
            <a:ext cx="1246222" cy="15537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00D9FF"/>
                </a:solidFill>
              </a:rPr>
              <a:t>P(A) = n(A) / n(S) = 1 / 6</a:t>
            </a:r>
            <a:endParaRPr lang="en-US" sz="784" dirty="0"/>
          </a:p>
        </p:txBody>
      </p:sp>
      <p:sp>
        <p:nvSpPr>
          <p:cNvPr id="10" name="Text 6"/>
          <p:cNvSpPr/>
          <p:nvPr/>
        </p:nvSpPr>
        <p:spPr>
          <a:xfrm>
            <a:off x="642938" y="2105620"/>
            <a:ext cx="3607594" cy="189309"/>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FF6B9D"/>
                </a:solidFill>
              </a:rPr>
              <a:t>P(rolling 4) = 1/6 ≈ 0.167</a:t>
            </a:r>
            <a:endParaRPr lang="en-US" sz="885" dirty="0"/>
          </a:p>
        </p:txBody>
      </p:sp>
      <p:sp>
        <p:nvSpPr>
          <p:cNvPr id="11" name="Shape 7"/>
          <p:cNvSpPr/>
          <p:nvPr/>
        </p:nvSpPr>
        <p:spPr>
          <a:xfrm>
            <a:off x="500063" y="2380655"/>
            <a:ext cx="3893344" cy="848320"/>
          </a:xfrm>
          <a:prstGeom prst="rect">
            <a:avLst/>
          </a:prstGeom>
          <a:solidFill>
            <a:srgbClr val="FFFFFF">
              <a:alpha val="5000"/>
            </a:srgbClr>
          </a:solidFill>
          <a:ln/>
        </p:spPr>
        <p:txBody>
          <a:bodyPr/>
          <a:lstStyle/>
          <a:p>
            <a:endParaRPr lang="en-US"/>
          </a:p>
        </p:txBody>
      </p:sp>
      <p:sp>
        <p:nvSpPr>
          <p:cNvPr id="12" name="Text 8"/>
          <p:cNvSpPr/>
          <p:nvPr/>
        </p:nvSpPr>
        <p:spPr>
          <a:xfrm>
            <a:off x="642938" y="2452092"/>
            <a:ext cx="3607594" cy="175022"/>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00D9FF"/>
                </a:solidFill>
              </a:rPr>
              <a:t>Example 2: Rolling an Even Number</a:t>
            </a:r>
            <a:endParaRPr lang="en-US" sz="885" dirty="0"/>
          </a:p>
        </p:txBody>
      </p:sp>
      <p:sp>
        <p:nvSpPr>
          <p:cNvPr id="13" name="Text 9"/>
          <p:cNvSpPr/>
          <p:nvPr/>
        </p:nvSpPr>
        <p:spPr>
          <a:xfrm>
            <a:off x="642938" y="2655689"/>
            <a:ext cx="3607594" cy="155377"/>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FFD93D"/>
                </a:solidFill>
              </a:rPr>
              <a:t>Event B:</a:t>
            </a:r>
            <a:r>
              <a:rPr lang="en-US" sz="834" dirty="0">
                <a:solidFill>
                  <a:srgbClr val="FFFFFF"/>
                </a:solidFill>
              </a:rPr>
              <a:t> Even number = {2, 4, 6}</a:t>
            </a:r>
            <a:endParaRPr lang="en-US" sz="784" dirty="0"/>
          </a:p>
        </p:txBody>
      </p:sp>
      <p:sp>
        <p:nvSpPr>
          <p:cNvPr id="14" name="Text 10"/>
          <p:cNvSpPr/>
          <p:nvPr/>
        </p:nvSpPr>
        <p:spPr>
          <a:xfrm>
            <a:off x="642938" y="2861072"/>
            <a:ext cx="1545701" cy="15537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00D9FF"/>
                </a:solidFill>
              </a:rPr>
              <a:t>P(B) = n(B) / n(S) = 3 / 6 = 1/2</a:t>
            </a:r>
            <a:endParaRPr lang="en-US" sz="784" dirty="0"/>
          </a:p>
        </p:txBody>
      </p:sp>
      <p:sp>
        <p:nvSpPr>
          <p:cNvPr id="15" name="Text 11"/>
          <p:cNvSpPr/>
          <p:nvPr/>
        </p:nvSpPr>
        <p:spPr>
          <a:xfrm>
            <a:off x="642938" y="3053953"/>
            <a:ext cx="3607594" cy="175022"/>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FF6B9D"/>
                </a:solidFill>
              </a:rPr>
              <a:t>P(even) = 1/2 = 0.5</a:t>
            </a:r>
            <a:endParaRPr lang="en-US" sz="885" dirty="0"/>
          </a:p>
        </p:txBody>
      </p:sp>
      <p:sp>
        <p:nvSpPr>
          <p:cNvPr id="16" name="Shape 12"/>
          <p:cNvSpPr/>
          <p:nvPr/>
        </p:nvSpPr>
        <p:spPr>
          <a:xfrm>
            <a:off x="500063" y="3314700"/>
            <a:ext cx="3893344" cy="862608"/>
          </a:xfrm>
          <a:prstGeom prst="rect">
            <a:avLst/>
          </a:prstGeom>
          <a:solidFill>
            <a:srgbClr val="FFFFFF">
              <a:alpha val="5000"/>
            </a:srgbClr>
          </a:solidFill>
          <a:ln/>
        </p:spPr>
        <p:txBody>
          <a:bodyPr/>
          <a:lstStyle/>
          <a:p>
            <a:endParaRPr lang="en-US"/>
          </a:p>
        </p:txBody>
      </p:sp>
      <p:sp>
        <p:nvSpPr>
          <p:cNvPr id="17" name="Text 13"/>
          <p:cNvSpPr/>
          <p:nvPr/>
        </p:nvSpPr>
        <p:spPr>
          <a:xfrm>
            <a:off x="642938" y="3386138"/>
            <a:ext cx="3607594" cy="175022"/>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00D9FF"/>
                </a:solidFill>
              </a:rPr>
              <a:t>Example 3: Rolling Greater Than 4</a:t>
            </a:r>
            <a:endParaRPr lang="en-US" sz="885" dirty="0"/>
          </a:p>
        </p:txBody>
      </p:sp>
      <p:sp>
        <p:nvSpPr>
          <p:cNvPr id="18" name="Text 14"/>
          <p:cNvSpPr/>
          <p:nvPr/>
        </p:nvSpPr>
        <p:spPr>
          <a:xfrm>
            <a:off x="642938" y="3589734"/>
            <a:ext cx="3607594" cy="155377"/>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FFD93D"/>
                </a:solidFill>
              </a:rPr>
              <a:t>Event C:</a:t>
            </a:r>
            <a:r>
              <a:rPr lang="en-US" sz="834" dirty="0">
                <a:solidFill>
                  <a:srgbClr val="FFFFFF"/>
                </a:solidFill>
              </a:rPr>
              <a:t> Number &gt; 4 = {5, 6}</a:t>
            </a:r>
            <a:endParaRPr lang="en-US" sz="784" dirty="0"/>
          </a:p>
        </p:txBody>
      </p:sp>
      <p:sp>
        <p:nvSpPr>
          <p:cNvPr id="19" name="Text 15"/>
          <p:cNvSpPr/>
          <p:nvPr/>
        </p:nvSpPr>
        <p:spPr>
          <a:xfrm>
            <a:off x="642938" y="3795117"/>
            <a:ext cx="1539060" cy="15537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00D9FF"/>
                </a:solidFill>
              </a:rPr>
              <a:t>P(C) = n(C) / n(S) = 2 / 6 = 1/3</a:t>
            </a:r>
            <a:endParaRPr lang="en-US" sz="784" dirty="0"/>
          </a:p>
        </p:txBody>
      </p:sp>
      <p:sp>
        <p:nvSpPr>
          <p:cNvPr id="20" name="Text 16"/>
          <p:cNvSpPr/>
          <p:nvPr/>
        </p:nvSpPr>
        <p:spPr>
          <a:xfrm>
            <a:off x="642938" y="3987998"/>
            <a:ext cx="3607594" cy="189309"/>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FF6B9D"/>
                </a:solidFill>
              </a:rPr>
              <a:t>P(greater than 4) = 1/3 ≈ 0.333</a:t>
            </a:r>
            <a:endParaRPr lang="en-US" sz="885" dirty="0"/>
          </a:p>
        </p:txBody>
      </p:sp>
      <p:sp>
        <p:nvSpPr>
          <p:cNvPr id="21" name="Text 17"/>
          <p:cNvSpPr/>
          <p:nvPr/>
        </p:nvSpPr>
        <p:spPr>
          <a:xfrm>
            <a:off x="4750594" y="1073348"/>
            <a:ext cx="3893344" cy="273248"/>
          </a:xfrm>
          <a:prstGeom prst="rect">
            <a:avLst/>
          </a:prstGeom>
          <a:noFill/>
          <a:ln/>
        </p:spPr>
        <p:txBody>
          <a:bodyPr wrap="none" lIns="0" tIns="0" rIns="0" bIns="0" rtlCol="0" anchor="t">
            <a:spAutoFit/>
          </a:bodyPr>
          <a:lstStyle/>
          <a:p>
            <a:pPr marL="0" indent="0" algn="ctr">
              <a:lnSpc>
                <a:spcPts val="1900"/>
              </a:lnSpc>
              <a:buNone/>
            </a:pPr>
            <a:r>
              <a:rPr lang="en-US" sz="1397" b="1" dirty="0">
                <a:solidFill>
                  <a:srgbClr val="FFD93D"/>
                </a:solidFill>
              </a:rPr>
              <a:t>Two Dice</a:t>
            </a:r>
            <a:endParaRPr lang="en-US" sz="1397" dirty="0"/>
          </a:p>
        </p:txBody>
      </p:sp>
      <p:sp>
        <p:nvSpPr>
          <p:cNvPr id="22" name="Shape 18"/>
          <p:cNvSpPr/>
          <p:nvPr/>
        </p:nvSpPr>
        <p:spPr>
          <a:xfrm>
            <a:off x="4750594" y="1432322"/>
            <a:ext cx="3893344" cy="1062633"/>
          </a:xfrm>
          <a:prstGeom prst="rect">
            <a:avLst/>
          </a:prstGeom>
          <a:solidFill>
            <a:srgbClr val="FFFFFF">
              <a:alpha val="5000"/>
            </a:srgbClr>
          </a:solidFill>
          <a:ln/>
        </p:spPr>
        <p:txBody>
          <a:bodyPr/>
          <a:lstStyle/>
          <a:p>
            <a:endParaRPr lang="en-US"/>
          </a:p>
        </p:txBody>
      </p:sp>
      <p:sp>
        <p:nvSpPr>
          <p:cNvPr id="23" name="Text 19"/>
          <p:cNvSpPr/>
          <p:nvPr/>
        </p:nvSpPr>
        <p:spPr>
          <a:xfrm>
            <a:off x="4893469" y="1503759"/>
            <a:ext cx="3607594" cy="175022"/>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00D9FF"/>
                </a:solidFill>
              </a:rPr>
              <a:t>Example 4: Sum Equals 7</a:t>
            </a:r>
            <a:endParaRPr lang="en-US" sz="885" dirty="0"/>
          </a:p>
        </p:txBody>
      </p:sp>
      <p:sp>
        <p:nvSpPr>
          <p:cNvPr id="24" name="Text 20"/>
          <p:cNvSpPr/>
          <p:nvPr/>
        </p:nvSpPr>
        <p:spPr>
          <a:xfrm>
            <a:off x="4893469" y="1707356"/>
            <a:ext cx="3607594" cy="155377"/>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FFD93D"/>
                </a:solidFill>
              </a:rPr>
              <a:t>Event D:</a:t>
            </a:r>
            <a:r>
              <a:rPr lang="en-US" sz="834" dirty="0">
                <a:solidFill>
                  <a:srgbClr val="FFFFFF"/>
                </a:solidFill>
              </a:rPr>
              <a:t> Sum = 7</a:t>
            </a:r>
            <a:endParaRPr lang="en-US" sz="784" dirty="0"/>
          </a:p>
        </p:txBody>
      </p:sp>
      <p:sp>
        <p:nvSpPr>
          <p:cNvPr id="25" name="Text 21"/>
          <p:cNvSpPr/>
          <p:nvPr/>
        </p:nvSpPr>
        <p:spPr>
          <a:xfrm>
            <a:off x="4893469" y="1905595"/>
            <a:ext cx="3607594" cy="171450"/>
          </a:xfrm>
          <a:prstGeom prst="rect">
            <a:avLst/>
          </a:prstGeom>
          <a:noFill/>
          <a:ln/>
        </p:spPr>
        <p:txBody>
          <a:bodyPr wrap="none" lIns="0" tIns="0" rIns="0" bIns="0" rtlCol="0" anchor="t">
            <a:spAutoFit/>
          </a:bodyPr>
          <a:lstStyle/>
          <a:p>
            <a:pPr marL="0" indent="0" algn="l">
              <a:lnSpc>
                <a:spcPts val="1400"/>
              </a:lnSpc>
              <a:buNone/>
            </a:pPr>
            <a:r>
              <a:rPr lang="en-US" sz="834" dirty="0">
                <a:solidFill>
                  <a:srgbClr val="FFFFFF"/>
                </a:solidFill>
              </a:rPr>
              <a:t>Favorable outcomes: {(1,6), (2,5), (3,4), (4,3), (5,2), (6,1)}</a:t>
            </a:r>
            <a:endParaRPr lang="en-US" sz="834" dirty="0"/>
          </a:p>
        </p:txBody>
      </p:sp>
      <p:sp>
        <p:nvSpPr>
          <p:cNvPr id="26" name="Text 22"/>
          <p:cNvSpPr/>
          <p:nvPr/>
        </p:nvSpPr>
        <p:spPr>
          <a:xfrm>
            <a:off x="4893469" y="2112764"/>
            <a:ext cx="955895" cy="15537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00D9FF"/>
                </a:solidFill>
              </a:rPr>
              <a:t>P(D) = 6 / 36 = 1/6</a:t>
            </a:r>
            <a:endParaRPr lang="en-US" sz="784" dirty="0"/>
          </a:p>
        </p:txBody>
      </p:sp>
      <p:sp>
        <p:nvSpPr>
          <p:cNvPr id="27" name="Text 23"/>
          <p:cNvSpPr/>
          <p:nvPr/>
        </p:nvSpPr>
        <p:spPr>
          <a:xfrm>
            <a:off x="4893469" y="2305645"/>
            <a:ext cx="3607594" cy="189309"/>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FF6B9D"/>
                </a:solidFill>
              </a:rPr>
              <a:t>P(sum = 7) = 1/6 ≈ 0.167</a:t>
            </a:r>
            <a:endParaRPr lang="en-US" sz="885" dirty="0"/>
          </a:p>
        </p:txBody>
      </p:sp>
      <p:sp>
        <p:nvSpPr>
          <p:cNvPr id="28" name="Shape 24"/>
          <p:cNvSpPr/>
          <p:nvPr/>
        </p:nvSpPr>
        <p:spPr>
          <a:xfrm>
            <a:off x="4750594" y="2580680"/>
            <a:ext cx="3893344" cy="1062633"/>
          </a:xfrm>
          <a:prstGeom prst="rect">
            <a:avLst/>
          </a:prstGeom>
          <a:solidFill>
            <a:srgbClr val="FFFFFF">
              <a:alpha val="5000"/>
            </a:srgbClr>
          </a:solidFill>
          <a:ln/>
        </p:spPr>
        <p:txBody>
          <a:bodyPr/>
          <a:lstStyle/>
          <a:p>
            <a:endParaRPr lang="en-US"/>
          </a:p>
        </p:txBody>
      </p:sp>
      <p:sp>
        <p:nvSpPr>
          <p:cNvPr id="29" name="Text 25"/>
          <p:cNvSpPr/>
          <p:nvPr/>
        </p:nvSpPr>
        <p:spPr>
          <a:xfrm>
            <a:off x="4893469" y="2652117"/>
            <a:ext cx="3607594" cy="175022"/>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00D9FF"/>
                </a:solidFill>
              </a:rPr>
              <a:t>Example 5: Both Dice Show Same Number</a:t>
            </a:r>
            <a:endParaRPr lang="en-US" sz="885" dirty="0"/>
          </a:p>
        </p:txBody>
      </p:sp>
      <p:sp>
        <p:nvSpPr>
          <p:cNvPr id="30" name="Text 26"/>
          <p:cNvSpPr/>
          <p:nvPr/>
        </p:nvSpPr>
        <p:spPr>
          <a:xfrm>
            <a:off x="4893469" y="2855714"/>
            <a:ext cx="3607594" cy="155377"/>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FFD93D"/>
                </a:solidFill>
              </a:rPr>
              <a:t>Event E:</a:t>
            </a:r>
            <a:r>
              <a:rPr lang="en-US" sz="834" dirty="0">
                <a:solidFill>
                  <a:srgbClr val="FFFFFF"/>
                </a:solidFill>
              </a:rPr>
              <a:t> Doubles</a:t>
            </a:r>
            <a:endParaRPr lang="en-US" sz="784" dirty="0"/>
          </a:p>
        </p:txBody>
      </p:sp>
      <p:sp>
        <p:nvSpPr>
          <p:cNvPr id="31" name="Text 27"/>
          <p:cNvSpPr/>
          <p:nvPr/>
        </p:nvSpPr>
        <p:spPr>
          <a:xfrm>
            <a:off x="4893469" y="3053953"/>
            <a:ext cx="3607594" cy="171450"/>
          </a:xfrm>
          <a:prstGeom prst="rect">
            <a:avLst/>
          </a:prstGeom>
          <a:noFill/>
          <a:ln/>
        </p:spPr>
        <p:txBody>
          <a:bodyPr wrap="none" lIns="0" tIns="0" rIns="0" bIns="0" rtlCol="0" anchor="t">
            <a:spAutoFit/>
          </a:bodyPr>
          <a:lstStyle/>
          <a:p>
            <a:pPr marL="0" indent="0" algn="l">
              <a:lnSpc>
                <a:spcPts val="1400"/>
              </a:lnSpc>
              <a:buNone/>
            </a:pPr>
            <a:r>
              <a:rPr lang="en-US" sz="834" dirty="0">
                <a:solidFill>
                  <a:srgbClr val="FFFFFF"/>
                </a:solidFill>
              </a:rPr>
              <a:t>Favorable outcomes: {(1,1), (2,2), (3,3), (4,4), (5,5), (6,6)}</a:t>
            </a:r>
            <a:endParaRPr lang="en-US" sz="834" dirty="0"/>
          </a:p>
        </p:txBody>
      </p:sp>
      <p:sp>
        <p:nvSpPr>
          <p:cNvPr id="32" name="Text 28"/>
          <p:cNvSpPr/>
          <p:nvPr/>
        </p:nvSpPr>
        <p:spPr>
          <a:xfrm>
            <a:off x="4893469" y="3261122"/>
            <a:ext cx="935552" cy="15537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00D9FF"/>
                </a:solidFill>
              </a:rPr>
              <a:t>P(E) = 6 / 36 = 1/6</a:t>
            </a:r>
            <a:endParaRPr lang="en-US" sz="784" dirty="0"/>
          </a:p>
        </p:txBody>
      </p:sp>
      <p:sp>
        <p:nvSpPr>
          <p:cNvPr id="33" name="Text 29"/>
          <p:cNvSpPr/>
          <p:nvPr/>
        </p:nvSpPr>
        <p:spPr>
          <a:xfrm>
            <a:off x="4893469" y="3454003"/>
            <a:ext cx="3607594" cy="189309"/>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FF6B9D"/>
                </a:solidFill>
              </a:rPr>
              <a:t>P(doubles) = 1/6 ≈ 0.167</a:t>
            </a:r>
            <a:endParaRPr lang="en-US" sz="885" dirty="0"/>
          </a:p>
        </p:txBody>
      </p:sp>
      <p:sp>
        <p:nvSpPr>
          <p:cNvPr id="34" name="Shape 30"/>
          <p:cNvSpPr/>
          <p:nvPr/>
        </p:nvSpPr>
        <p:spPr>
          <a:xfrm>
            <a:off x="4750594" y="3729038"/>
            <a:ext cx="3893344" cy="1405533"/>
          </a:xfrm>
          <a:prstGeom prst="rect">
            <a:avLst/>
          </a:prstGeom>
          <a:solidFill>
            <a:srgbClr val="FFFFFF">
              <a:alpha val="5000"/>
            </a:srgbClr>
          </a:solidFill>
          <a:ln/>
        </p:spPr>
        <p:txBody>
          <a:bodyPr/>
          <a:lstStyle/>
          <a:p>
            <a:endParaRPr lang="en-US"/>
          </a:p>
        </p:txBody>
      </p:sp>
      <p:sp>
        <p:nvSpPr>
          <p:cNvPr id="35" name="Text 31"/>
          <p:cNvSpPr/>
          <p:nvPr/>
        </p:nvSpPr>
        <p:spPr>
          <a:xfrm>
            <a:off x="4893469" y="3800475"/>
            <a:ext cx="3607594" cy="175022"/>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00D9FF"/>
                </a:solidFill>
              </a:rPr>
              <a:t>Example 6: Sum Greater Than 10</a:t>
            </a:r>
            <a:endParaRPr lang="en-US" sz="885" dirty="0"/>
          </a:p>
        </p:txBody>
      </p:sp>
      <p:sp>
        <p:nvSpPr>
          <p:cNvPr id="36" name="Text 32"/>
          <p:cNvSpPr/>
          <p:nvPr/>
        </p:nvSpPr>
        <p:spPr>
          <a:xfrm>
            <a:off x="4893469" y="4004072"/>
            <a:ext cx="3607594" cy="155377"/>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FFD93D"/>
                </a:solidFill>
              </a:rPr>
              <a:t>Event F:</a:t>
            </a:r>
            <a:r>
              <a:rPr lang="en-US" sz="834" dirty="0">
                <a:solidFill>
                  <a:srgbClr val="FFFFFF"/>
                </a:solidFill>
              </a:rPr>
              <a:t> Sum &gt; 10</a:t>
            </a:r>
            <a:endParaRPr lang="en-US" sz="784" dirty="0"/>
          </a:p>
        </p:txBody>
      </p:sp>
      <p:sp>
        <p:nvSpPr>
          <p:cNvPr id="37" name="Text 33"/>
          <p:cNvSpPr/>
          <p:nvPr/>
        </p:nvSpPr>
        <p:spPr>
          <a:xfrm>
            <a:off x="4893469" y="4202311"/>
            <a:ext cx="3607594" cy="51435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FFFFFF"/>
                </a:solidFill>
              </a:rPr>
              <a:t>Sum = 11: {(5,6), (6,5)} → 2 outcomes
 Sum = 12: {(6,6)} → 1 outcome
 Total: 3 outcomes</a:t>
            </a:r>
            <a:endParaRPr lang="en-US" sz="834" dirty="0"/>
          </a:p>
        </p:txBody>
      </p:sp>
      <p:sp>
        <p:nvSpPr>
          <p:cNvPr id="38" name="Text 34"/>
          <p:cNvSpPr/>
          <p:nvPr/>
        </p:nvSpPr>
        <p:spPr>
          <a:xfrm>
            <a:off x="4893469" y="4752380"/>
            <a:ext cx="1000934" cy="15537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00D9FF"/>
                </a:solidFill>
              </a:rPr>
              <a:t>P(F) = 3 / 36 = 1/12</a:t>
            </a:r>
            <a:endParaRPr lang="en-US" sz="784" dirty="0"/>
          </a:p>
        </p:txBody>
      </p:sp>
      <p:sp>
        <p:nvSpPr>
          <p:cNvPr id="39" name="Text 35"/>
          <p:cNvSpPr/>
          <p:nvPr/>
        </p:nvSpPr>
        <p:spPr>
          <a:xfrm>
            <a:off x="4893469" y="4945261"/>
            <a:ext cx="3607594" cy="189309"/>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FF6B9D"/>
                </a:solidFill>
              </a:rPr>
              <a:t>P(sum &gt; 10) = 1/12 ≈ 0.083</a:t>
            </a:r>
            <a:endParaRPr lang="en-US" sz="88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0" y="357188"/>
            <a:ext cx="9144000" cy="466130"/>
          </a:xfrm>
          <a:prstGeom prst="rect">
            <a:avLst/>
          </a:prstGeom>
          <a:noFill/>
          <a:ln/>
        </p:spPr>
        <p:txBody>
          <a:bodyPr wrap="none" lIns="0" tIns="0" rIns="0" bIns="0" rtlCol="0" anchor="t">
            <a:spAutoFit/>
          </a:bodyPr>
          <a:lstStyle/>
          <a:p>
            <a:pPr marL="0" indent="0" algn="ctr">
              <a:lnSpc>
                <a:spcPts val="3200"/>
              </a:lnSpc>
              <a:buNone/>
            </a:pPr>
            <a:r>
              <a:rPr lang="en-US" sz="2436" b="1" dirty="0">
                <a:solidFill>
                  <a:srgbClr val="00D9FF"/>
                </a:solidFill>
              </a:rPr>
              <a:t>Example: Drawing Cards</a:t>
            </a:r>
            <a:endParaRPr lang="en-US" sz="2436" dirty="0"/>
          </a:p>
        </p:txBody>
      </p:sp>
      <p:sp>
        <p:nvSpPr>
          <p:cNvPr id="5" name="Shape 1"/>
          <p:cNvSpPr/>
          <p:nvPr/>
        </p:nvSpPr>
        <p:spPr>
          <a:xfrm>
            <a:off x="500063" y="1037630"/>
            <a:ext cx="4441543" cy="232172"/>
          </a:xfrm>
          <a:prstGeom prst="rect">
            <a:avLst/>
          </a:prstGeom>
          <a:solidFill>
            <a:srgbClr val="FFD73D">
              <a:alpha val="10000"/>
            </a:srgbClr>
          </a:solidFill>
          <a:ln/>
        </p:spPr>
        <p:txBody>
          <a:bodyPr/>
          <a:lstStyle/>
          <a:p>
            <a:endParaRPr lang="en-US"/>
          </a:p>
        </p:txBody>
      </p:sp>
      <p:sp>
        <p:nvSpPr>
          <p:cNvPr id="6" name="Shape 2"/>
          <p:cNvSpPr/>
          <p:nvPr/>
        </p:nvSpPr>
        <p:spPr>
          <a:xfrm>
            <a:off x="500063" y="1037630"/>
            <a:ext cx="28575" cy="232172"/>
          </a:xfrm>
          <a:prstGeom prst="rect">
            <a:avLst/>
          </a:prstGeom>
          <a:solidFill>
            <a:srgbClr val="FFD93D"/>
          </a:solidFill>
          <a:ln/>
        </p:spPr>
        <p:txBody>
          <a:bodyPr/>
          <a:lstStyle/>
          <a:p>
            <a:endParaRPr lang="en-US"/>
          </a:p>
        </p:txBody>
      </p:sp>
      <p:sp>
        <p:nvSpPr>
          <p:cNvPr id="7" name="Text 3"/>
          <p:cNvSpPr/>
          <p:nvPr/>
        </p:nvSpPr>
        <p:spPr>
          <a:xfrm>
            <a:off x="642938" y="1064617"/>
            <a:ext cx="4155793" cy="160734"/>
          </a:xfrm>
          <a:prstGeom prst="rect">
            <a:avLst/>
          </a:prstGeom>
          <a:noFill/>
          <a:ln/>
        </p:spPr>
        <p:txBody>
          <a:bodyPr wrap="none" lIns="0" tIns="0" rIns="0" bIns="0" rtlCol="0" anchor="t">
            <a:spAutoFit/>
          </a:bodyPr>
          <a:lstStyle/>
          <a:p>
            <a:pPr marL="0" indent="0" algn="l">
              <a:lnSpc>
                <a:spcPts val="1300"/>
              </a:lnSpc>
              <a:buNone/>
            </a:pPr>
            <a:r>
              <a:rPr lang="en-US" sz="734" b="1" dirty="0">
                <a:solidFill>
                  <a:srgbClr val="FFFFFF"/>
                </a:solidFill>
              </a:rPr>
              <a:t>Standard Deck:</a:t>
            </a:r>
            <a:r>
              <a:rPr lang="en-US" sz="780" dirty="0">
                <a:solidFill>
                  <a:srgbClr val="FFFFFF"/>
                </a:solidFill>
              </a:rPr>
              <a:t> 52 cards | 4 suits (♠ ♥ ♦ ♣) | 13 ranks each | 26 red, 26 black</a:t>
            </a:r>
            <a:endParaRPr lang="en-US" sz="734" dirty="0"/>
          </a:p>
        </p:txBody>
      </p:sp>
      <p:sp>
        <p:nvSpPr>
          <p:cNvPr id="8" name="Shape 4"/>
          <p:cNvSpPr/>
          <p:nvPr/>
        </p:nvSpPr>
        <p:spPr>
          <a:xfrm>
            <a:off x="500063" y="1384102"/>
            <a:ext cx="4441543" cy="989409"/>
          </a:xfrm>
          <a:prstGeom prst="rect">
            <a:avLst/>
          </a:prstGeom>
          <a:solidFill>
            <a:srgbClr val="FFFFFF">
              <a:alpha val="5000"/>
            </a:srgbClr>
          </a:solidFill>
          <a:ln/>
        </p:spPr>
        <p:txBody>
          <a:bodyPr/>
          <a:lstStyle/>
          <a:p>
            <a:endParaRPr lang="en-US"/>
          </a:p>
        </p:txBody>
      </p:sp>
      <p:sp>
        <p:nvSpPr>
          <p:cNvPr id="9" name="Text 5"/>
          <p:cNvSpPr/>
          <p:nvPr/>
        </p:nvSpPr>
        <p:spPr>
          <a:xfrm>
            <a:off x="628650" y="1441252"/>
            <a:ext cx="4184368" cy="166092"/>
          </a:xfrm>
          <a:prstGeom prst="rect">
            <a:avLst/>
          </a:prstGeom>
          <a:noFill/>
          <a:ln/>
        </p:spPr>
        <p:txBody>
          <a:bodyPr wrap="none" lIns="0" tIns="0" rIns="0" bIns="0" rtlCol="0" anchor="t">
            <a:spAutoFit/>
          </a:bodyPr>
          <a:lstStyle/>
          <a:p>
            <a:pPr marL="0" indent="0" algn="l">
              <a:lnSpc>
                <a:spcPts val="1100"/>
              </a:lnSpc>
              <a:buNone/>
            </a:pPr>
            <a:r>
              <a:rPr lang="en-US" sz="834" b="1" dirty="0">
                <a:solidFill>
                  <a:srgbClr val="00D9FF"/>
                </a:solidFill>
              </a:rPr>
              <a:t>Example 1: Drawing a Heart</a:t>
            </a:r>
            <a:endParaRPr lang="en-US" sz="834" dirty="0"/>
          </a:p>
        </p:txBody>
      </p:sp>
      <p:sp>
        <p:nvSpPr>
          <p:cNvPr id="10" name="Text 6"/>
          <p:cNvSpPr/>
          <p:nvPr/>
        </p:nvSpPr>
        <p:spPr>
          <a:xfrm>
            <a:off x="628650" y="1650206"/>
            <a:ext cx="4184368" cy="160734"/>
          </a:xfrm>
          <a:prstGeom prst="rect">
            <a:avLst/>
          </a:prstGeom>
          <a:noFill/>
          <a:ln/>
        </p:spPr>
        <p:txBody>
          <a:bodyPr wrap="none" lIns="0" tIns="0" rIns="0" bIns="0" rtlCol="0" anchor="t">
            <a:spAutoFit/>
          </a:bodyPr>
          <a:lstStyle/>
          <a:p>
            <a:pPr marL="0" indent="0" algn="l">
              <a:lnSpc>
                <a:spcPts val="1300"/>
              </a:lnSpc>
              <a:buNone/>
            </a:pPr>
            <a:r>
              <a:rPr lang="en-US" sz="734" b="1" dirty="0">
                <a:solidFill>
                  <a:srgbClr val="FFD93D"/>
                </a:solidFill>
              </a:rPr>
              <a:t>Event:</a:t>
            </a:r>
            <a:r>
              <a:rPr lang="en-US" sz="780" dirty="0">
                <a:solidFill>
                  <a:srgbClr val="FFFFFF"/>
                </a:solidFill>
              </a:rPr>
              <a:t> Drawing any heart from the deck</a:t>
            </a:r>
            <a:endParaRPr lang="en-US" sz="734" dirty="0"/>
          </a:p>
        </p:txBody>
      </p:sp>
      <p:sp>
        <p:nvSpPr>
          <p:cNvPr id="11" name="Text 7"/>
          <p:cNvSpPr/>
          <p:nvPr/>
        </p:nvSpPr>
        <p:spPr>
          <a:xfrm>
            <a:off x="628650" y="1839516"/>
            <a:ext cx="4184368" cy="160734"/>
          </a:xfrm>
          <a:prstGeom prst="rect">
            <a:avLst/>
          </a:prstGeom>
          <a:noFill/>
          <a:ln/>
        </p:spPr>
        <p:txBody>
          <a:bodyPr wrap="none" lIns="0" tIns="0" rIns="0" bIns="0" rtlCol="0" anchor="t">
            <a:spAutoFit/>
          </a:bodyPr>
          <a:lstStyle/>
          <a:p>
            <a:pPr marL="0" indent="0" algn="l">
              <a:lnSpc>
                <a:spcPts val="1300"/>
              </a:lnSpc>
              <a:buNone/>
            </a:pPr>
            <a:r>
              <a:rPr lang="en-US" sz="734" b="1" dirty="0">
                <a:solidFill>
                  <a:srgbClr val="FFD93D"/>
                </a:solidFill>
              </a:rPr>
              <a:t>Favorable outcomes:</a:t>
            </a:r>
            <a:r>
              <a:rPr lang="en-US" sz="780" dirty="0">
                <a:solidFill>
                  <a:srgbClr val="FFFFFF"/>
                </a:solidFill>
              </a:rPr>
              <a:t> 13 hearts in deck</a:t>
            </a:r>
            <a:endParaRPr lang="en-US" sz="734" dirty="0"/>
          </a:p>
        </p:txBody>
      </p:sp>
      <p:sp>
        <p:nvSpPr>
          <p:cNvPr id="12" name="Text 8"/>
          <p:cNvSpPr/>
          <p:nvPr/>
        </p:nvSpPr>
        <p:spPr>
          <a:xfrm>
            <a:off x="628650" y="2035969"/>
            <a:ext cx="1119699" cy="146447"/>
          </a:xfrm>
          <a:prstGeom prst="rect">
            <a:avLst/>
          </a:prstGeom>
          <a:noFill/>
          <a:ln/>
        </p:spPr>
        <p:txBody>
          <a:bodyPr wrap="none" lIns="0" tIns="0" rIns="0" bIns="0" rtlCol="0" anchor="t">
            <a:spAutoFit/>
          </a:bodyPr>
          <a:lstStyle/>
          <a:p>
            <a:pPr marL="0" indent="0" algn="l">
              <a:lnSpc>
                <a:spcPts val="1300"/>
              </a:lnSpc>
              <a:buNone/>
            </a:pPr>
            <a:r>
              <a:rPr lang="en-US" sz="734" b="1" dirty="0">
                <a:solidFill>
                  <a:srgbClr val="00D9FF"/>
                </a:solidFill>
              </a:rPr>
              <a:t>P(Heart) = 13/52 = 1/4</a:t>
            </a:r>
            <a:endParaRPr lang="en-US" sz="734" dirty="0"/>
          </a:p>
        </p:txBody>
      </p:sp>
      <p:sp>
        <p:nvSpPr>
          <p:cNvPr id="13" name="Text 9"/>
          <p:cNvSpPr/>
          <p:nvPr/>
        </p:nvSpPr>
        <p:spPr>
          <a:xfrm>
            <a:off x="628650" y="2218134"/>
            <a:ext cx="4184368" cy="155377"/>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FF6B9D"/>
                </a:solidFill>
              </a:rPr>
              <a:t>P(Heart) = 0.25 or 25%</a:t>
            </a:r>
            <a:endParaRPr lang="en-US" sz="784" dirty="0"/>
          </a:p>
        </p:txBody>
      </p:sp>
      <p:sp>
        <p:nvSpPr>
          <p:cNvPr id="14" name="Shape 10"/>
          <p:cNvSpPr/>
          <p:nvPr/>
        </p:nvSpPr>
        <p:spPr>
          <a:xfrm>
            <a:off x="500063" y="2459236"/>
            <a:ext cx="4441543" cy="998339"/>
          </a:xfrm>
          <a:prstGeom prst="rect">
            <a:avLst/>
          </a:prstGeom>
          <a:solidFill>
            <a:srgbClr val="FFFFFF">
              <a:alpha val="5000"/>
            </a:srgbClr>
          </a:solidFill>
          <a:ln/>
        </p:spPr>
        <p:txBody>
          <a:bodyPr/>
          <a:lstStyle/>
          <a:p>
            <a:endParaRPr lang="en-US"/>
          </a:p>
        </p:txBody>
      </p:sp>
      <p:sp>
        <p:nvSpPr>
          <p:cNvPr id="15" name="Text 11"/>
          <p:cNvSpPr/>
          <p:nvPr/>
        </p:nvSpPr>
        <p:spPr>
          <a:xfrm>
            <a:off x="628650" y="2516386"/>
            <a:ext cx="4184368" cy="166092"/>
          </a:xfrm>
          <a:prstGeom prst="rect">
            <a:avLst/>
          </a:prstGeom>
          <a:noFill/>
          <a:ln/>
        </p:spPr>
        <p:txBody>
          <a:bodyPr wrap="none" lIns="0" tIns="0" rIns="0" bIns="0" rtlCol="0" anchor="t">
            <a:spAutoFit/>
          </a:bodyPr>
          <a:lstStyle/>
          <a:p>
            <a:pPr marL="0" indent="0" algn="l">
              <a:lnSpc>
                <a:spcPts val="1100"/>
              </a:lnSpc>
              <a:buNone/>
            </a:pPr>
            <a:r>
              <a:rPr lang="en-US" sz="834" b="1" dirty="0">
                <a:solidFill>
                  <a:srgbClr val="00D9FF"/>
                </a:solidFill>
              </a:rPr>
              <a:t>Example 2: Drawing an Ace</a:t>
            </a:r>
            <a:endParaRPr lang="en-US" sz="834" dirty="0"/>
          </a:p>
        </p:txBody>
      </p:sp>
      <p:sp>
        <p:nvSpPr>
          <p:cNvPr id="16" name="Text 12"/>
          <p:cNvSpPr/>
          <p:nvPr/>
        </p:nvSpPr>
        <p:spPr>
          <a:xfrm>
            <a:off x="628650" y="2725341"/>
            <a:ext cx="4184368" cy="160734"/>
          </a:xfrm>
          <a:prstGeom prst="rect">
            <a:avLst/>
          </a:prstGeom>
          <a:noFill/>
          <a:ln/>
        </p:spPr>
        <p:txBody>
          <a:bodyPr wrap="none" lIns="0" tIns="0" rIns="0" bIns="0" rtlCol="0" anchor="t">
            <a:spAutoFit/>
          </a:bodyPr>
          <a:lstStyle/>
          <a:p>
            <a:pPr marL="0" indent="0" algn="l">
              <a:lnSpc>
                <a:spcPts val="1300"/>
              </a:lnSpc>
              <a:buNone/>
            </a:pPr>
            <a:r>
              <a:rPr lang="en-US" sz="734" b="1" dirty="0">
                <a:solidFill>
                  <a:srgbClr val="FFD93D"/>
                </a:solidFill>
              </a:rPr>
              <a:t>Event:</a:t>
            </a:r>
            <a:r>
              <a:rPr lang="en-US" sz="780" dirty="0">
                <a:solidFill>
                  <a:srgbClr val="FFFFFF"/>
                </a:solidFill>
              </a:rPr>
              <a:t> Drawing any Ace (A♠, A♥, A♦, A♣)</a:t>
            </a:r>
            <a:endParaRPr lang="en-US" sz="734" dirty="0"/>
          </a:p>
        </p:txBody>
      </p:sp>
      <p:sp>
        <p:nvSpPr>
          <p:cNvPr id="17" name="Text 13"/>
          <p:cNvSpPr/>
          <p:nvPr/>
        </p:nvSpPr>
        <p:spPr>
          <a:xfrm>
            <a:off x="628650" y="2914650"/>
            <a:ext cx="4184368" cy="160734"/>
          </a:xfrm>
          <a:prstGeom prst="rect">
            <a:avLst/>
          </a:prstGeom>
          <a:noFill/>
          <a:ln/>
        </p:spPr>
        <p:txBody>
          <a:bodyPr wrap="none" lIns="0" tIns="0" rIns="0" bIns="0" rtlCol="0" anchor="t">
            <a:spAutoFit/>
          </a:bodyPr>
          <a:lstStyle/>
          <a:p>
            <a:pPr marL="0" indent="0" algn="l">
              <a:lnSpc>
                <a:spcPts val="1300"/>
              </a:lnSpc>
              <a:buNone/>
            </a:pPr>
            <a:r>
              <a:rPr lang="en-US" sz="734" b="1" dirty="0">
                <a:solidFill>
                  <a:srgbClr val="FFD93D"/>
                </a:solidFill>
              </a:rPr>
              <a:t>Favorable outcomes:</a:t>
            </a:r>
            <a:r>
              <a:rPr lang="en-US" sz="780" dirty="0">
                <a:solidFill>
                  <a:srgbClr val="FFFFFF"/>
                </a:solidFill>
              </a:rPr>
              <a:t> 4 Aces in deck</a:t>
            </a:r>
            <a:endParaRPr lang="en-US" sz="734" dirty="0"/>
          </a:p>
        </p:txBody>
      </p:sp>
      <p:sp>
        <p:nvSpPr>
          <p:cNvPr id="18" name="Text 14"/>
          <p:cNvSpPr/>
          <p:nvPr/>
        </p:nvSpPr>
        <p:spPr>
          <a:xfrm>
            <a:off x="628650" y="3111103"/>
            <a:ext cx="1010701" cy="146447"/>
          </a:xfrm>
          <a:prstGeom prst="rect">
            <a:avLst/>
          </a:prstGeom>
          <a:noFill/>
          <a:ln/>
        </p:spPr>
        <p:txBody>
          <a:bodyPr wrap="none" lIns="0" tIns="0" rIns="0" bIns="0" rtlCol="0" anchor="t">
            <a:spAutoFit/>
          </a:bodyPr>
          <a:lstStyle/>
          <a:p>
            <a:pPr marL="0" indent="0" algn="l">
              <a:lnSpc>
                <a:spcPts val="1300"/>
              </a:lnSpc>
              <a:buNone/>
            </a:pPr>
            <a:r>
              <a:rPr lang="en-US" sz="734" b="1" dirty="0">
                <a:solidFill>
                  <a:srgbClr val="00D9FF"/>
                </a:solidFill>
              </a:rPr>
              <a:t>P(Ace) = 4/52 = 1/13</a:t>
            </a:r>
            <a:endParaRPr lang="en-US" sz="734" dirty="0"/>
          </a:p>
        </p:txBody>
      </p:sp>
      <p:sp>
        <p:nvSpPr>
          <p:cNvPr id="19" name="Text 15"/>
          <p:cNvSpPr/>
          <p:nvPr/>
        </p:nvSpPr>
        <p:spPr>
          <a:xfrm>
            <a:off x="628650" y="3293269"/>
            <a:ext cx="4184368" cy="164306"/>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FF6B9D"/>
                </a:solidFill>
              </a:rPr>
              <a:t>P(Ace) = 1/13 ≈ 0.077 or 7.7%</a:t>
            </a:r>
            <a:endParaRPr lang="en-US" sz="784" dirty="0"/>
          </a:p>
        </p:txBody>
      </p:sp>
      <p:sp>
        <p:nvSpPr>
          <p:cNvPr id="20" name="Shape 16"/>
          <p:cNvSpPr/>
          <p:nvPr/>
        </p:nvSpPr>
        <p:spPr>
          <a:xfrm>
            <a:off x="500063" y="3543300"/>
            <a:ext cx="4441543" cy="1187648"/>
          </a:xfrm>
          <a:prstGeom prst="rect">
            <a:avLst/>
          </a:prstGeom>
          <a:solidFill>
            <a:srgbClr val="FFFFFF">
              <a:alpha val="5000"/>
            </a:srgbClr>
          </a:solidFill>
          <a:ln/>
        </p:spPr>
        <p:txBody>
          <a:bodyPr/>
          <a:lstStyle/>
          <a:p>
            <a:endParaRPr lang="en-US"/>
          </a:p>
        </p:txBody>
      </p:sp>
      <p:sp>
        <p:nvSpPr>
          <p:cNvPr id="21" name="Text 17"/>
          <p:cNvSpPr/>
          <p:nvPr/>
        </p:nvSpPr>
        <p:spPr>
          <a:xfrm>
            <a:off x="628650" y="3600450"/>
            <a:ext cx="4184368" cy="166092"/>
          </a:xfrm>
          <a:prstGeom prst="rect">
            <a:avLst/>
          </a:prstGeom>
          <a:noFill/>
          <a:ln/>
        </p:spPr>
        <p:txBody>
          <a:bodyPr wrap="none" lIns="0" tIns="0" rIns="0" bIns="0" rtlCol="0" anchor="t">
            <a:spAutoFit/>
          </a:bodyPr>
          <a:lstStyle/>
          <a:p>
            <a:pPr marL="0" indent="0" algn="l">
              <a:lnSpc>
                <a:spcPts val="1100"/>
              </a:lnSpc>
              <a:buNone/>
            </a:pPr>
            <a:r>
              <a:rPr lang="en-US" sz="834" b="1" dirty="0">
                <a:solidFill>
                  <a:srgbClr val="00D9FF"/>
                </a:solidFill>
              </a:rPr>
              <a:t>Example 4: Drawing Red OR Face Card</a:t>
            </a:r>
            <a:endParaRPr lang="en-US" sz="834" dirty="0"/>
          </a:p>
        </p:txBody>
      </p:sp>
      <p:sp>
        <p:nvSpPr>
          <p:cNvPr id="22" name="Text 18"/>
          <p:cNvSpPr/>
          <p:nvPr/>
        </p:nvSpPr>
        <p:spPr>
          <a:xfrm>
            <a:off x="628650" y="3809405"/>
            <a:ext cx="4184368" cy="160734"/>
          </a:xfrm>
          <a:prstGeom prst="rect">
            <a:avLst/>
          </a:prstGeom>
          <a:noFill/>
          <a:ln/>
        </p:spPr>
        <p:txBody>
          <a:bodyPr wrap="none" lIns="0" tIns="0" rIns="0" bIns="0" rtlCol="0" anchor="t">
            <a:spAutoFit/>
          </a:bodyPr>
          <a:lstStyle/>
          <a:p>
            <a:pPr marL="0" indent="0" algn="l">
              <a:lnSpc>
                <a:spcPts val="1300"/>
              </a:lnSpc>
              <a:buNone/>
            </a:pPr>
            <a:r>
              <a:rPr lang="en-US" sz="734" b="1" dirty="0">
                <a:solidFill>
                  <a:srgbClr val="FFD93D"/>
                </a:solidFill>
              </a:rPr>
              <a:t>Red cards:</a:t>
            </a:r>
            <a:r>
              <a:rPr lang="en-US" sz="780" dirty="0">
                <a:solidFill>
                  <a:srgbClr val="FFFFFF"/>
                </a:solidFill>
              </a:rPr>
              <a:t> 26 | </a:t>
            </a:r>
            <a:r>
              <a:rPr lang="en-US" sz="734" b="1" dirty="0">
                <a:solidFill>
                  <a:srgbClr val="FFD93D"/>
                </a:solidFill>
              </a:rPr>
              <a:t>Face cards:</a:t>
            </a:r>
            <a:r>
              <a:rPr lang="en-US" sz="780" dirty="0">
                <a:solidFill>
                  <a:srgbClr val="FFFFFF"/>
                </a:solidFill>
              </a:rPr>
              <a:t> 12 | </a:t>
            </a:r>
            <a:r>
              <a:rPr lang="en-US" sz="734" b="1" dirty="0">
                <a:solidFill>
                  <a:srgbClr val="FFD93D"/>
                </a:solidFill>
              </a:rPr>
              <a:t>Red face cards:</a:t>
            </a:r>
            <a:r>
              <a:rPr lang="en-US" sz="780" dirty="0">
                <a:solidFill>
                  <a:srgbClr val="FFFFFF"/>
                </a:solidFill>
              </a:rPr>
              <a:t> 6</a:t>
            </a:r>
            <a:endParaRPr lang="en-US" sz="734" dirty="0"/>
          </a:p>
        </p:txBody>
      </p:sp>
      <p:sp>
        <p:nvSpPr>
          <p:cNvPr id="23" name="Text 19"/>
          <p:cNvSpPr/>
          <p:nvPr/>
        </p:nvSpPr>
        <p:spPr>
          <a:xfrm>
            <a:off x="628650" y="4005858"/>
            <a:ext cx="1061517" cy="146447"/>
          </a:xfrm>
          <a:prstGeom prst="rect">
            <a:avLst/>
          </a:prstGeom>
          <a:noFill/>
          <a:ln/>
        </p:spPr>
        <p:txBody>
          <a:bodyPr wrap="none" lIns="0" tIns="0" rIns="0" bIns="0" rtlCol="0" anchor="t">
            <a:spAutoFit/>
          </a:bodyPr>
          <a:lstStyle/>
          <a:p>
            <a:pPr marL="0" indent="0" algn="l">
              <a:lnSpc>
                <a:spcPts val="1300"/>
              </a:lnSpc>
              <a:buNone/>
            </a:pPr>
            <a:r>
              <a:rPr lang="en-US" sz="734" b="1" dirty="0">
                <a:solidFill>
                  <a:srgbClr val="FFD93D"/>
                </a:solidFill>
              </a:rPr>
              <a:t>Using Addition Rule:</a:t>
            </a:r>
            <a:endParaRPr lang="en-US" sz="734" dirty="0"/>
          </a:p>
        </p:txBody>
      </p:sp>
      <p:sp>
        <p:nvSpPr>
          <p:cNvPr id="24" name="Text 20"/>
          <p:cNvSpPr/>
          <p:nvPr/>
        </p:nvSpPr>
        <p:spPr>
          <a:xfrm>
            <a:off x="628650" y="4195167"/>
            <a:ext cx="2498582" cy="146447"/>
          </a:xfrm>
          <a:prstGeom prst="rect">
            <a:avLst/>
          </a:prstGeom>
          <a:noFill/>
          <a:ln/>
        </p:spPr>
        <p:txBody>
          <a:bodyPr wrap="none" lIns="0" tIns="0" rIns="0" bIns="0" rtlCol="0" anchor="t">
            <a:spAutoFit/>
          </a:bodyPr>
          <a:lstStyle/>
          <a:p>
            <a:pPr marL="0" indent="0" algn="l">
              <a:lnSpc>
                <a:spcPts val="1300"/>
              </a:lnSpc>
              <a:buNone/>
            </a:pPr>
            <a:r>
              <a:rPr lang="en-US" sz="734" b="1" dirty="0">
                <a:solidFill>
                  <a:srgbClr val="00D9FF"/>
                </a:solidFill>
              </a:rPr>
              <a:t>P(Red ∪ Face) = P(Red) + P(Face) - P(Red ∩ Face)</a:t>
            </a:r>
            <a:endParaRPr lang="en-US" sz="734" dirty="0"/>
          </a:p>
        </p:txBody>
      </p:sp>
      <p:sp>
        <p:nvSpPr>
          <p:cNvPr id="25" name="Text 21"/>
          <p:cNvSpPr/>
          <p:nvPr/>
        </p:nvSpPr>
        <p:spPr>
          <a:xfrm>
            <a:off x="628650" y="4384477"/>
            <a:ext cx="1846966" cy="146447"/>
          </a:xfrm>
          <a:prstGeom prst="rect">
            <a:avLst/>
          </a:prstGeom>
          <a:noFill/>
          <a:ln/>
        </p:spPr>
        <p:txBody>
          <a:bodyPr wrap="none" lIns="0" tIns="0" rIns="0" bIns="0" rtlCol="0" anchor="t">
            <a:spAutoFit/>
          </a:bodyPr>
          <a:lstStyle/>
          <a:p>
            <a:pPr marL="0" indent="0" algn="l">
              <a:lnSpc>
                <a:spcPts val="1300"/>
              </a:lnSpc>
              <a:buNone/>
            </a:pPr>
            <a:r>
              <a:rPr lang="en-US" sz="734" b="1" dirty="0">
                <a:solidFill>
                  <a:srgbClr val="00D9FF"/>
                </a:solidFill>
              </a:rPr>
              <a:t>= 26/52 + 12/52 - 6/52 = 32/52 = 8/13</a:t>
            </a:r>
            <a:endParaRPr lang="en-US" sz="734" dirty="0"/>
          </a:p>
        </p:txBody>
      </p:sp>
      <p:sp>
        <p:nvSpPr>
          <p:cNvPr id="26" name="Text 22"/>
          <p:cNvSpPr/>
          <p:nvPr/>
        </p:nvSpPr>
        <p:spPr>
          <a:xfrm>
            <a:off x="628650" y="4566642"/>
            <a:ext cx="4184368" cy="164306"/>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FF6B9D"/>
                </a:solidFill>
              </a:rPr>
              <a:t>P(Red OR Face) = 8/13 ≈ 0.615 or 61.5%</a:t>
            </a:r>
            <a:endParaRPr lang="en-US" sz="784" dirty="0"/>
          </a:p>
        </p:txBody>
      </p:sp>
      <p:pic>
        <p:nvPicPr>
          <p:cNvPr id="27" name="Image 1" descr="preencoded.png"/>
          <p:cNvPicPr>
            <a:picLocks noChangeAspect="1"/>
          </p:cNvPicPr>
          <p:nvPr/>
        </p:nvPicPr>
        <p:blipFill>
          <a:blip r:embed="rId4"/>
          <a:stretch>
            <a:fillRect/>
          </a:stretch>
        </p:blipFill>
        <p:spPr>
          <a:xfrm>
            <a:off x="5227355" y="1037630"/>
            <a:ext cx="3416554" cy="2571750"/>
          </a:xfrm>
          <a:prstGeom prst="rect">
            <a:avLst/>
          </a:prstGeom>
        </p:spPr>
      </p:pic>
      <p:sp>
        <p:nvSpPr>
          <p:cNvPr id="28" name="Text 23"/>
          <p:cNvSpPr/>
          <p:nvPr/>
        </p:nvSpPr>
        <p:spPr>
          <a:xfrm>
            <a:off x="5227355" y="3695105"/>
            <a:ext cx="3416554" cy="450056"/>
          </a:xfrm>
          <a:prstGeom prst="rect">
            <a:avLst/>
          </a:prstGeom>
          <a:noFill/>
          <a:ln/>
        </p:spPr>
        <p:txBody>
          <a:bodyPr wrap="square" lIns="0" tIns="0" rIns="0" bIns="0" rtlCol="0" anchor="t">
            <a:spAutoFit/>
          </a:bodyPr>
          <a:lstStyle/>
          <a:p>
            <a:pPr marL="0" indent="0" algn="ctr">
              <a:lnSpc>
                <a:spcPts val="1200"/>
              </a:lnSpc>
              <a:buNone/>
            </a:pPr>
            <a:r>
              <a:rPr lang="en-US" sz="727" dirty="0">
                <a:solidFill>
                  <a:srgbClr val="FFD93D"/>
                </a:solidFill>
              </a:rPr>
              <a:t>Venn diagram illustrating overlapping events: When calculating P(A OR B), we must subtract the intersection to avoid double-counting outcomes that belong to both events.</a:t>
            </a:r>
            <a:endParaRPr lang="en-US" sz="727"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0" y="357188"/>
            <a:ext cx="9144000" cy="466130"/>
          </a:xfrm>
          <a:prstGeom prst="rect">
            <a:avLst/>
          </a:prstGeom>
          <a:noFill/>
          <a:ln/>
        </p:spPr>
        <p:txBody>
          <a:bodyPr wrap="none" lIns="0" tIns="0" rIns="0" bIns="0" rtlCol="0" anchor="t">
            <a:spAutoFit/>
          </a:bodyPr>
          <a:lstStyle/>
          <a:p>
            <a:pPr marL="0" indent="0" algn="ctr">
              <a:lnSpc>
                <a:spcPts val="3200"/>
              </a:lnSpc>
              <a:buNone/>
            </a:pPr>
            <a:r>
              <a:rPr lang="en-US" sz="2436" b="1" dirty="0">
                <a:solidFill>
                  <a:srgbClr val="00D9FF"/>
                </a:solidFill>
              </a:rPr>
              <a:t>Types of Events: Overview</a:t>
            </a:r>
            <a:endParaRPr lang="en-US" sz="2436" dirty="0"/>
          </a:p>
        </p:txBody>
      </p:sp>
      <p:sp>
        <p:nvSpPr>
          <p:cNvPr id="5" name="Text 1"/>
          <p:cNvSpPr/>
          <p:nvPr/>
        </p:nvSpPr>
        <p:spPr>
          <a:xfrm>
            <a:off x="500063" y="994767"/>
            <a:ext cx="4401164"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FF6B9D"/>
                </a:solidFill>
              </a:rPr>
              <a:t>01 • Mutually Exclusive Events</a:t>
            </a:r>
            <a:endParaRPr lang="en-US" sz="987" dirty="0"/>
          </a:p>
        </p:txBody>
      </p:sp>
      <p:sp>
        <p:nvSpPr>
          <p:cNvPr id="6" name="Text 2"/>
          <p:cNvSpPr/>
          <p:nvPr/>
        </p:nvSpPr>
        <p:spPr>
          <a:xfrm>
            <a:off x="500063" y="1149747"/>
            <a:ext cx="4401164"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FF6B9D"/>
                </a:solidFill>
              </a:rPr>
              <a:t>Cannot Occur Together</a:t>
            </a:r>
            <a:endParaRPr lang="en-US" sz="1193" dirty="0"/>
          </a:p>
        </p:txBody>
      </p:sp>
      <p:sp>
        <p:nvSpPr>
          <p:cNvPr id="7" name="Text 3"/>
          <p:cNvSpPr/>
          <p:nvPr/>
        </p:nvSpPr>
        <p:spPr>
          <a:xfrm>
            <a:off x="500063" y="1351955"/>
            <a:ext cx="4401164" cy="34290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FFFFFF"/>
                </a:solidFill>
              </a:rPr>
              <a:t>Two or more events are </a:t>
            </a:r>
            <a:r>
              <a:rPr lang="en-US" sz="784" b="1" dirty="0">
                <a:solidFill>
                  <a:srgbClr val="FFFFFF"/>
                </a:solidFill>
              </a:rPr>
              <a:t>mutually exclusive</a:t>
            </a:r>
            <a:r>
              <a:rPr lang="en-US" sz="834" dirty="0">
                <a:solidFill>
                  <a:srgbClr val="FFFFFF"/>
                </a:solidFill>
              </a:rPr>
              <a:t> (or disjoint) if they cannot happen at the same time. The occurrence of one event prevents the others from occurring.</a:t>
            </a:r>
            <a:endParaRPr lang="en-US" sz="834" dirty="0"/>
          </a:p>
        </p:txBody>
      </p:sp>
      <p:sp>
        <p:nvSpPr>
          <p:cNvPr id="8" name="Shape 4"/>
          <p:cNvSpPr/>
          <p:nvPr/>
        </p:nvSpPr>
        <p:spPr>
          <a:xfrm>
            <a:off x="500063" y="1813917"/>
            <a:ext cx="4401164" cy="353616"/>
          </a:xfrm>
          <a:prstGeom prst="rect">
            <a:avLst/>
          </a:prstGeom>
          <a:solidFill>
            <a:srgbClr val="FFFFFF">
              <a:alpha val="5000"/>
            </a:srgbClr>
          </a:solidFill>
          <a:ln/>
        </p:spPr>
        <p:txBody>
          <a:bodyPr/>
          <a:lstStyle/>
          <a:p>
            <a:endParaRPr lang="en-US"/>
          </a:p>
        </p:txBody>
      </p:sp>
      <p:sp>
        <p:nvSpPr>
          <p:cNvPr id="9" name="Text 5"/>
          <p:cNvSpPr/>
          <p:nvPr/>
        </p:nvSpPr>
        <p:spPr>
          <a:xfrm>
            <a:off x="500063" y="1737717"/>
            <a:ext cx="4401164" cy="353616"/>
          </a:xfrm>
          <a:prstGeom prst="rect">
            <a:avLst/>
          </a:prstGeom>
          <a:noFill/>
          <a:ln/>
        </p:spPr>
        <p:txBody>
          <a:bodyPr wrap="square" lIns="102108" tIns="51054" rIns="102108" bIns="0" rtlCol="0" anchor="t">
            <a:spAutoFit/>
          </a:bodyPr>
          <a:lstStyle/>
          <a:p>
            <a:pPr marL="0" indent="0" algn="l">
              <a:lnSpc>
                <a:spcPts val="1000"/>
              </a:lnSpc>
              <a:buNone/>
            </a:pPr>
            <a:r>
              <a:rPr lang="en-US" sz="780" dirty="0">
                <a:solidFill>
                  <a:srgbClr val="FFFFFF"/>
                </a:solidFill>
              </a:rPr>
              <a:t>A ∩ B = ∅ (empty intersection)
 P(A ∩ B) = 0</a:t>
            </a:r>
            <a:endParaRPr lang="en-US" sz="780" dirty="0"/>
          </a:p>
        </p:txBody>
      </p:sp>
      <p:sp>
        <p:nvSpPr>
          <p:cNvPr id="10" name="Text 6"/>
          <p:cNvSpPr/>
          <p:nvPr/>
        </p:nvSpPr>
        <p:spPr>
          <a:xfrm>
            <a:off x="500063" y="2299295"/>
            <a:ext cx="4401164"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FFD93D"/>
                </a:solidFill>
              </a:rPr>
              <a:t>02 • Exhaustive Events</a:t>
            </a:r>
            <a:endParaRPr lang="en-US" sz="987" dirty="0"/>
          </a:p>
        </p:txBody>
      </p:sp>
      <p:sp>
        <p:nvSpPr>
          <p:cNvPr id="11" name="Text 7"/>
          <p:cNvSpPr/>
          <p:nvPr/>
        </p:nvSpPr>
        <p:spPr>
          <a:xfrm>
            <a:off x="500063" y="2460625"/>
            <a:ext cx="4401164"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FFD93D"/>
                </a:solidFill>
              </a:rPr>
              <a:t>Cover All Possibilities</a:t>
            </a:r>
            <a:endParaRPr lang="en-US" sz="1193" dirty="0"/>
          </a:p>
        </p:txBody>
      </p:sp>
      <p:sp>
        <p:nvSpPr>
          <p:cNvPr id="12" name="Text 8"/>
          <p:cNvSpPr/>
          <p:nvPr/>
        </p:nvSpPr>
        <p:spPr>
          <a:xfrm>
            <a:off x="500063" y="2643783"/>
            <a:ext cx="4401164" cy="51435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FFFFFF"/>
                </a:solidFill>
              </a:rPr>
              <a:t>A set of events is </a:t>
            </a:r>
            <a:r>
              <a:rPr lang="en-US" sz="784" b="1" dirty="0">
                <a:solidFill>
                  <a:srgbClr val="FFFFFF"/>
                </a:solidFill>
              </a:rPr>
              <a:t>exhaustive</a:t>
            </a:r>
            <a:r>
              <a:rPr lang="en-US" sz="834" dirty="0">
                <a:solidFill>
                  <a:srgbClr val="FFFFFF"/>
                </a:solidFill>
              </a:rPr>
              <a:t> if their union equals the entire sample space. At least one of the events must occur. Together, they account for all possible outcomes.</a:t>
            </a:r>
            <a:endParaRPr lang="en-US" sz="834" dirty="0"/>
          </a:p>
        </p:txBody>
      </p:sp>
      <p:sp>
        <p:nvSpPr>
          <p:cNvPr id="13" name="Shape 9"/>
          <p:cNvSpPr/>
          <p:nvPr/>
        </p:nvSpPr>
        <p:spPr>
          <a:xfrm>
            <a:off x="500063" y="3054945"/>
            <a:ext cx="4401164" cy="353616"/>
          </a:xfrm>
          <a:prstGeom prst="rect">
            <a:avLst/>
          </a:prstGeom>
          <a:solidFill>
            <a:srgbClr val="FFFFFF">
              <a:alpha val="5000"/>
            </a:srgbClr>
          </a:solidFill>
          <a:ln/>
        </p:spPr>
        <p:txBody>
          <a:bodyPr/>
          <a:lstStyle/>
          <a:p>
            <a:endParaRPr lang="en-US"/>
          </a:p>
        </p:txBody>
      </p:sp>
      <p:sp>
        <p:nvSpPr>
          <p:cNvPr id="14" name="Text 10"/>
          <p:cNvSpPr/>
          <p:nvPr/>
        </p:nvSpPr>
        <p:spPr>
          <a:xfrm>
            <a:off x="500063" y="3042245"/>
            <a:ext cx="4401164" cy="353616"/>
          </a:xfrm>
          <a:prstGeom prst="rect">
            <a:avLst/>
          </a:prstGeom>
          <a:noFill/>
          <a:ln/>
        </p:spPr>
        <p:txBody>
          <a:bodyPr wrap="square" lIns="102108" tIns="51054" rIns="102108" bIns="0" rtlCol="0" anchor="t">
            <a:spAutoFit/>
          </a:bodyPr>
          <a:lstStyle/>
          <a:p>
            <a:pPr marL="0" indent="0" algn="l">
              <a:lnSpc>
                <a:spcPts val="1000"/>
              </a:lnSpc>
              <a:buNone/>
            </a:pPr>
            <a:r>
              <a:rPr lang="en-US" sz="780" dirty="0">
                <a:solidFill>
                  <a:srgbClr val="FFFFFF"/>
                </a:solidFill>
              </a:rPr>
              <a:t>A₁ ∪ A₂ ∪ ... ∪ Aₙ = S
 P(A₁ ∪ A₂ ∪ ... ∪ Aₙ) = 1</a:t>
            </a:r>
            <a:endParaRPr lang="en-US" sz="780" dirty="0"/>
          </a:p>
        </p:txBody>
      </p:sp>
      <p:sp>
        <p:nvSpPr>
          <p:cNvPr id="15" name="Text 11"/>
          <p:cNvSpPr/>
          <p:nvPr/>
        </p:nvSpPr>
        <p:spPr>
          <a:xfrm>
            <a:off x="500063" y="3572073"/>
            <a:ext cx="4401164"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D9FF"/>
                </a:solidFill>
              </a:rPr>
              <a:t>03 • Independent Events</a:t>
            </a:r>
            <a:endParaRPr lang="en-US" sz="987" dirty="0"/>
          </a:p>
        </p:txBody>
      </p:sp>
      <p:sp>
        <p:nvSpPr>
          <p:cNvPr id="16" name="Text 12"/>
          <p:cNvSpPr/>
          <p:nvPr/>
        </p:nvSpPr>
        <p:spPr>
          <a:xfrm>
            <a:off x="500063" y="3752453"/>
            <a:ext cx="4401164"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00D9FF"/>
                </a:solidFill>
              </a:rPr>
              <a:t>No Influence on Each Other</a:t>
            </a:r>
            <a:endParaRPr lang="en-US" sz="1193" dirty="0"/>
          </a:p>
        </p:txBody>
      </p:sp>
      <p:sp>
        <p:nvSpPr>
          <p:cNvPr id="17" name="Text 13"/>
          <p:cNvSpPr/>
          <p:nvPr/>
        </p:nvSpPr>
        <p:spPr>
          <a:xfrm>
            <a:off x="500063" y="3929261"/>
            <a:ext cx="4401164" cy="51435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FFFFFF"/>
                </a:solidFill>
              </a:rPr>
              <a:t>Two events are </a:t>
            </a:r>
            <a:r>
              <a:rPr lang="en-US" sz="784" b="1" dirty="0">
                <a:solidFill>
                  <a:srgbClr val="FFFFFF"/>
                </a:solidFill>
              </a:rPr>
              <a:t>independent</a:t>
            </a:r>
            <a:r>
              <a:rPr lang="en-US" sz="834" dirty="0">
                <a:solidFill>
                  <a:srgbClr val="FFFFFF"/>
                </a:solidFill>
              </a:rPr>
              <a:t> if the occurrence of one does not affect the probability of the other. Knowledge about one event provides no information about the other.</a:t>
            </a:r>
            <a:endParaRPr lang="en-US" sz="834" dirty="0"/>
          </a:p>
        </p:txBody>
      </p:sp>
      <p:sp>
        <p:nvSpPr>
          <p:cNvPr id="18" name="Shape 14"/>
          <p:cNvSpPr/>
          <p:nvPr/>
        </p:nvSpPr>
        <p:spPr>
          <a:xfrm>
            <a:off x="500063" y="4289623"/>
            <a:ext cx="4401164" cy="344686"/>
          </a:xfrm>
          <a:prstGeom prst="rect">
            <a:avLst/>
          </a:prstGeom>
          <a:solidFill>
            <a:srgbClr val="FFFFFF">
              <a:alpha val="5000"/>
            </a:srgbClr>
          </a:solidFill>
          <a:ln/>
        </p:spPr>
        <p:txBody>
          <a:bodyPr/>
          <a:lstStyle/>
          <a:p>
            <a:endParaRPr lang="en-US"/>
          </a:p>
        </p:txBody>
      </p:sp>
      <p:sp>
        <p:nvSpPr>
          <p:cNvPr id="19" name="Text 15"/>
          <p:cNvSpPr/>
          <p:nvPr/>
        </p:nvSpPr>
        <p:spPr>
          <a:xfrm>
            <a:off x="500063" y="4289623"/>
            <a:ext cx="4401164" cy="344686"/>
          </a:xfrm>
          <a:prstGeom prst="rect">
            <a:avLst/>
          </a:prstGeom>
          <a:noFill/>
          <a:ln/>
        </p:spPr>
        <p:txBody>
          <a:bodyPr wrap="square" lIns="102108" tIns="51054" rIns="102108" bIns="0" rtlCol="0" anchor="t">
            <a:spAutoFit/>
          </a:bodyPr>
          <a:lstStyle/>
          <a:p>
            <a:pPr marL="0" indent="0" algn="l">
              <a:lnSpc>
                <a:spcPts val="1000"/>
              </a:lnSpc>
              <a:buNone/>
            </a:pPr>
            <a:r>
              <a:rPr lang="en-US" sz="780" dirty="0">
                <a:solidFill>
                  <a:srgbClr val="FFFFFF"/>
                </a:solidFill>
              </a:rPr>
              <a:t>P(A ∩ B) = P(A) × P(B)
 P(A|B) = P(A)</a:t>
            </a:r>
            <a:endParaRPr lang="en-US" sz="780" dirty="0"/>
          </a:p>
        </p:txBody>
      </p:sp>
      <p:pic>
        <p:nvPicPr>
          <p:cNvPr id="20" name="Image 1" descr="preencoded.png"/>
          <p:cNvPicPr>
            <a:picLocks noChangeAspect="1"/>
          </p:cNvPicPr>
          <p:nvPr/>
        </p:nvPicPr>
        <p:blipFill>
          <a:blip r:embed="rId4"/>
          <a:stretch>
            <a:fillRect/>
          </a:stretch>
        </p:blipFill>
        <p:spPr>
          <a:xfrm>
            <a:off x="5258414" y="994767"/>
            <a:ext cx="3385524" cy="2143125"/>
          </a:xfrm>
          <a:prstGeom prst="rect">
            <a:avLst/>
          </a:prstGeom>
        </p:spPr>
      </p:pic>
      <p:sp>
        <p:nvSpPr>
          <p:cNvPr id="21" name="Shape 16"/>
          <p:cNvSpPr/>
          <p:nvPr/>
        </p:nvSpPr>
        <p:spPr>
          <a:xfrm>
            <a:off x="5258414" y="3045817"/>
            <a:ext cx="3385524" cy="1841302"/>
          </a:xfrm>
          <a:prstGeom prst="rect">
            <a:avLst/>
          </a:prstGeom>
          <a:solidFill>
            <a:srgbClr val="FFFFFF">
              <a:alpha val="5000"/>
            </a:srgbClr>
          </a:solidFill>
          <a:ln/>
        </p:spPr>
        <p:txBody>
          <a:bodyPr/>
          <a:lstStyle/>
          <a:p>
            <a:endParaRPr lang="en-US"/>
          </a:p>
        </p:txBody>
      </p:sp>
      <p:sp>
        <p:nvSpPr>
          <p:cNvPr id="22" name="Text 17"/>
          <p:cNvSpPr/>
          <p:nvPr/>
        </p:nvSpPr>
        <p:spPr>
          <a:xfrm>
            <a:off x="5401289" y="3117255"/>
            <a:ext cx="3099774" cy="194667"/>
          </a:xfrm>
          <a:prstGeom prst="rect">
            <a:avLst/>
          </a:prstGeom>
          <a:noFill/>
          <a:ln/>
        </p:spPr>
        <p:txBody>
          <a:bodyPr wrap="none" lIns="0" tIns="0" rIns="0" bIns="0" rtlCol="0" anchor="t">
            <a:spAutoFit/>
          </a:bodyPr>
          <a:lstStyle/>
          <a:p>
            <a:pPr marL="0" indent="0" algn="ctr">
              <a:lnSpc>
                <a:spcPts val="1400"/>
              </a:lnSpc>
              <a:buNone/>
            </a:pPr>
            <a:r>
              <a:rPr lang="en-US" sz="987" b="1" dirty="0">
                <a:solidFill>
                  <a:srgbClr val="FFD93D"/>
                </a:solidFill>
              </a:rPr>
              <a:t>Key Distinctions</a:t>
            </a:r>
            <a:endParaRPr lang="en-US" sz="987" dirty="0"/>
          </a:p>
        </p:txBody>
      </p:sp>
      <p:sp>
        <p:nvSpPr>
          <p:cNvPr id="23" name="Text 18"/>
          <p:cNvSpPr/>
          <p:nvPr/>
        </p:nvSpPr>
        <p:spPr>
          <a:xfrm>
            <a:off x="5401289" y="3383359"/>
            <a:ext cx="3099774" cy="182166"/>
          </a:xfrm>
          <a:prstGeom prst="rect">
            <a:avLst/>
          </a:prstGeom>
          <a:noFill/>
          <a:ln/>
        </p:spPr>
        <p:txBody>
          <a:bodyPr wrap="none" lIns="0" tIns="0" rIns="0" bIns="0" rtlCol="0" anchor="t">
            <a:spAutoFit/>
          </a:bodyPr>
          <a:lstStyle/>
          <a:p>
            <a:pPr marL="0" indent="0" algn="l">
              <a:lnSpc>
                <a:spcPts val="1400"/>
              </a:lnSpc>
              <a:buNone/>
            </a:pPr>
            <a:r>
              <a:rPr lang="en-US" sz="734" b="1" dirty="0">
                <a:solidFill>
                  <a:srgbClr val="00D9FF"/>
                </a:solidFill>
              </a:rPr>
              <a:t>Mutually Exclusive:</a:t>
            </a:r>
            <a:r>
              <a:rPr lang="en-US" sz="780" dirty="0">
                <a:solidFill>
                  <a:srgbClr val="FFFFFF"/>
                </a:solidFill>
              </a:rPr>
              <a:t> Events cannot overlap (no intersection)</a:t>
            </a:r>
            <a:endParaRPr lang="en-US" sz="734" dirty="0"/>
          </a:p>
        </p:txBody>
      </p:sp>
      <p:sp>
        <p:nvSpPr>
          <p:cNvPr id="24" name="Text 19"/>
          <p:cNvSpPr/>
          <p:nvPr/>
        </p:nvSpPr>
        <p:spPr>
          <a:xfrm>
            <a:off x="5401289" y="3622675"/>
            <a:ext cx="3099774" cy="364331"/>
          </a:xfrm>
          <a:prstGeom prst="rect">
            <a:avLst/>
          </a:prstGeom>
          <a:noFill/>
          <a:ln/>
        </p:spPr>
        <p:txBody>
          <a:bodyPr wrap="square" lIns="0" tIns="0" rIns="0" bIns="0" rtlCol="0" anchor="t">
            <a:spAutoFit/>
          </a:bodyPr>
          <a:lstStyle/>
          <a:p>
            <a:pPr marL="0" indent="0" algn="l">
              <a:lnSpc>
                <a:spcPts val="1400"/>
              </a:lnSpc>
              <a:buNone/>
            </a:pPr>
            <a:r>
              <a:rPr lang="en-US" sz="734" b="1" dirty="0">
                <a:solidFill>
                  <a:srgbClr val="00D9FF"/>
                </a:solidFill>
              </a:rPr>
              <a:t>Exhaustive:</a:t>
            </a:r>
            <a:r>
              <a:rPr lang="en-US" sz="780" dirty="0">
                <a:solidFill>
                  <a:srgbClr val="FFFFFF"/>
                </a:solidFill>
              </a:rPr>
              <a:t> Events must cover everything (union = sample space)</a:t>
            </a:r>
            <a:endParaRPr lang="en-US" sz="734" dirty="0"/>
          </a:p>
        </p:txBody>
      </p:sp>
      <p:sp>
        <p:nvSpPr>
          <p:cNvPr id="25" name="Text 20"/>
          <p:cNvSpPr/>
          <p:nvPr/>
        </p:nvSpPr>
        <p:spPr>
          <a:xfrm>
            <a:off x="5401289" y="3840956"/>
            <a:ext cx="3099774" cy="364331"/>
          </a:xfrm>
          <a:prstGeom prst="rect">
            <a:avLst/>
          </a:prstGeom>
          <a:noFill/>
          <a:ln/>
        </p:spPr>
        <p:txBody>
          <a:bodyPr wrap="square" lIns="0" tIns="0" rIns="0" bIns="0" rtlCol="0" anchor="t">
            <a:spAutoFit/>
          </a:bodyPr>
          <a:lstStyle/>
          <a:p>
            <a:pPr marL="0" indent="0" algn="l">
              <a:lnSpc>
                <a:spcPts val="1400"/>
              </a:lnSpc>
              <a:buNone/>
            </a:pPr>
            <a:r>
              <a:rPr lang="en-US" sz="734" b="1" dirty="0">
                <a:solidFill>
                  <a:srgbClr val="00D9FF"/>
                </a:solidFill>
              </a:rPr>
              <a:t>Independent:</a:t>
            </a:r>
            <a:r>
              <a:rPr lang="en-US" sz="780" dirty="0">
                <a:solidFill>
                  <a:srgbClr val="FFFFFF"/>
                </a:solidFill>
              </a:rPr>
              <a:t> Events don't influence each other (probability relationship)</a:t>
            </a:r>
            <a:endParaRPr lang="en-US" sz="734" dirty="0"/>
          </a:p>
        </p:txBody>
      </p:sp>
      <p:sp>
        <p:nvSpPr>
          <p:cNvPr id="26" name="Text 21"/>
          <p:cNvSpPr/>
          <p:nvPr/>
        </p:nvSpPr>
        <p:spPr>
          <a:xfrm>
            <a:off x="5401289" y="4084638"/>
            <a:ext cx="3099774" cy="364331"/>
          </a:xfrm>
          <a:prstGeom prst="rect">
            <a:avLst/>
          </a:prstGeom>
          <a:noFill/>
          <a:ln/>
        </p:spPr>
        <p:txBody>
          <a:bodyPr wrap="square" lIns="0" tIns="0" rIns="0" bIns="0" rtlCol="0" anchor="t">
            <a:spAutoFit/>
          </a:bodyPr>
          <a:lstStyle/>
          <a:p>
            <a:pPr marL="0" indent="0" algn="l">
              <a:lnSpc>
                <a:spcPts val="1400"/>
              </a:lnSpc>
              <a:buNone/>
            </a:pPr>
            <a:r>
              <a:rPr lang="en-US" sz="734" b="1" dirty="0">
                <a:solidFill>
                  <a:srgbClr val="00D9FF"/>
                </a:solidFill>
              </a:rPr>
              <a:t>Note:</a:t>
            </a:r>
            <a:r>
              <a:rPr lang="en-US" sz="780" dirty="0">
                <a:solidFill>
                  <a:srgbClr val="FFFFFF"/>
                </a:solidFill>
              </a:rPr>
              <a:t> Events can be both mutually exclusive AND exhaustive (partition)</a:t>
            </a:r>
            <a:endParaRPr lang="en-US" sz="734"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0" y="357188"/>
            <a:ext cx="9144000" cy="466130"/>
          </a:xfrm>
          <a:prstGeom prst="rect">
            <a:avLst/>
          </a:prstGeom>
          <a:noFill/>
          <a:ln/>
        </p:spPr>
        <p:txBody>
          <a:bodyPr wrap="none" lIns="0" tIns="0" rIns="0" bIns="0" rtlCol="0" anchor="t">
            <a:spAutoFit/>
          </a:bodyPr>
          <a:lstStyle/>
          <a:p>
            <a:pPr marL="0" indent="0" algn="ctr">
              <a:lnSpc>
                <a:spcPts val="3200"/>
              </a:lnSpc>
              <a:buNone/>
            </a:pPr>
            <a:r>
              <a:rPr lang="en-US" sz="2436" b="1" dirty="0">
                <a:solidFill>
                  <a:srgbClr val="00D9FF"/>
                </a:solidFill>
              </a:rPr>
              <a:t>Mutually Exclusive Events</a:t>
            </a:r>
            <a:endParaRPr lang="en-US" sz="2436" dirty="0"/>
          </a:p>
        </p:txBody>
      </p:sp>
      <p:sp>
        <p:nvSpPr>
          <p:cNvPr id="5" name="Shape 1"/>
          <p:cNvSpPr/>
          <p:nvPr/>
        </p:nvSpPr>
        <p:spPr>
          <a:xfrm>
            <a:off x="500063" y="966192"/>
            <a:ext cx="3893344" cy="471488"/>
          </a:xfrm>
          <a:prstGeom prst="rect">
            <a:avLst/>
          </a:prstGeom>
          <a:solidFill>
            <a:srgbClr val="00D9FF">
              <a:alpha val="10000"/>
            </a:srgbClr>
          </a:solidFill>
          <a:ln/>
        </p:spPr>
        <p:txBody>
          <a:bodyPr/>
          <a:lstStyle/>
          <a:p>
            <a:endParaRPr lang="en-US"/>
          </a:p>
        </p:txBody>
      </p:sp>
      <p:sp>
        <p:nvSpPr>
          <p:cNvPr id="6" name="Shape 2"/>
          <p:cNvSpPr/>
          <p:nvPr/>
        </p:nvSpPr>
        <p:spPr>
          <a:xfrm>
            <a:off x="500063" y="966192"/>
            <a:ext cx="35719" cy="471488"/>
          </a:xfrm>
          <a:prstGeom prst="rect">
            <a:avLst/>
          </a:prstGeom>
          <a:solidFill>
            <a:srgbClr val="00D9FF"/>
          </a:solidFill>
          <a:ln/>
        </p:spPr>
        <p:txBody>
          <a:bodyPr/>
          <a:lstStyle/>
          <a:p>
            <a:endParaRPr lang="en-US"/>
          </a:p>
        </p:txBody>
      </p:sp>
      <p:sp>
        <p:nvSpPr>
          <p:cNvPr id="7" name="Text 3"/>
          <p:cNvSpPr/>
          <p:nvPr/>
        </p:nvSpPr>
        <p:spPr>
          <a:xfrm>
            <a:off x="657225" y="1051917"/>
            <a:ext cx="3579019" cy="385763"/>
          </a:xfrm>
          <a:prstGeom prst="rect">
            <a:avLst/>
          </a:prstGeom>
          <a:noFill/>
          <a:ln/>
        </p:spPr>
        <p:txBody>
          <a:bodyPr wrap="square" lIns="0" tIns="0" rIns="0" bIns="0" rtlCol="0" anchor="t">
            <a:spAutoFit/>
          </a:bodyPr>
          <a:lstStyle/>
          <a:p>
            <a:pPr marL="0" indent="0" algn="l">
              <a:lnSpc>
                <a:spcPts val="1500"/>
              </a:lnSpc>
              <a:buNone/>
            </a:pPr>
            <a:r>
              <a:rPr lang="en-US" sz="942" dirty="0">
                <a:solidFill>
                  <a:srgbClr val="FFFFFF"/>
                </a:solidFill>
              </a:rPr>
              <a:t>Two events A and B are </a:t>
            </a:r>
            <a:r>
              <a:rPr lang="en-US" sz="885" b="1" dirty="0">
                <a:solidFill>
                  <a:srgbClr val="FFFFFF"/>
                </a:solidFill>
              </a:rPr>
              <a:t>mutually exclusive</a:t>
            </a:r>
            <a:r>
              <a:rPr lang="en-US" sz="942" dirty="0">
                <a:solidFill>
                  <a:srgbClr val="FFFFFF"/>
                </a:solidFill>
              </a:rPr>
              <a:t> (or </a:t>
            </a:r>
            <a:r>
              <a:rPr lang="en-US" sz="885" b="1" dirty="0">
                <a:solidFill>
                  <a:srgbClr val="FFFFFF"/>
                </a:solidFill>
              </a:rPr>
              <a:t>disjoint</a:t>
            </a:r>
            <a:r>
              <a:rPr lang="en-US" sz="942" dirty="0">
                <a:solidFill>
                  <a:srgbClr val="FFFFFF"/>
                </a:solidFill>
              </a:rPr>
              <a:t>) if they cannot occur together in one trial.</a:t>
            </a:r>
            <a:endParaRPr lang="en-US" sz="942" dirty="0"/>
          </a:p>
        </p:txBody>
      </p:sp>
      <p:sp>
        <p:nvSpPr>
          <p:cNvPr id="8" name="Shape 4"/>
          <p:cNvSpPr/>
          <p:nvPr/>
        </p:nvSpPr>
        <p:spPr>
          <a:xfrm>
            <a:off x="500063" y="1566267"/>
            <a:ext cx="3893344" cy="817959"/>
          </a:xfrm>
          <a:prstGeom prst="rect">
            <a:avLst/>
          </a:prstGeom>
          <a:solidFill>
            <a:srgbClr val="FF6B9D">
              <a:alpha val="15000"/>
            </a:srgbClr>
          </a:solidFill>
          <a:ln/>
        </p:spPr>
        <p:txBody>
          <a:bodyPr/>
          <a:lstStyle/>
          <a:p>
            <a:endParaRPr lang="en-US"/>
          </a:p>
        </p:txBody>
      </p:sp>
      <p:sp>
        <p:nvSpPr>
          <p:cNvPr id="9" name="Text 5"/>
          <p:cNvSpPr/>
          <p:nvPr/>
        </p:nvSpPr>
        <p:spPr>
          <a:xfrm>
            <a:off x="657225" y="1651992"/>
            <a:ext cx="3579019" cy="332184"/>
          </a:xfrm>
          <a:prstGeom prst="rect">
            <a:avLst/>
          </a:prstGeom>
          <a:noFill/>
          <a:ln/>
        </p:spPr>
        <p:txBody>
          <a:bodyPr wrap="none" lIns="0" tIns="0" rIns="0" bIns="0" rtlCol="0" anchor="t">
            <a:spAutoFit/>
          </a:bodyPr>
          <a:lstStyle/>
          <a:p>
            <a:pPr marL="0" indent="0" algn="ctr">
              <a:lnSpc>
                <a:spcPts val="2200"/>
              </a:lnSpc>
              <a:buNone/>
            </a:pPr>
            <a:r>
              <a:rPr lang="en-US" sz="1602" b="1" dirty="0">
                <a:solidFill>
                  <a:srgbClr val="FF6B9D"/>
                </a:solidFill>
              </a:rPr>
              <a:t>A ∩ B = ∅</a:t>
            </a:r>
            <a:endParaRPr lang="en-US" sz="1602" dirty="0"/>
          </a:p>
        </p:txBody>
      </p:sp>
      <p:sp>
        <p:nvSpPr>
          <p:cNvPr id="10" name="Text 6"/>
          <p:cNvSpPr/>
          <p:nvPr/>
        </p:nvSpPr>
        <p:spPr>
          <a:xfrm>
            <a:off x="657225" y="2041327"/>
            <a:ext cx="3579019" cy="342900"/>
          </a:xfrm>
          <a:prstGeom prst="rect">
            <a:avLst/>
          </a:prstGeom>
          <a:noFill/>
          <a:ln/>
        </p:spPr>
        <p:txBody>
          <a:bodyPr wrap="square" lIns="0" tIns="0" rIns="0" bIns="0" rtlCol="0" anchor="t">
            <a:spAutoFit/>
          </a:bodyPr>
          <a:lstStyle/>
          <a:p>
            <a:pPr marL="0" indent="0" algn="ctr">
              <a:lnSpc>
                <a:spcPts val="1400"/>
              </a:lnSpc>
              <a:buNone/>
            </a:pPr>
            <a:r>
              <a:rPr lang="en-US" sz="834" dirty="0">
                <a:solidFill>
                  <a:srgbClr val="FFFFFF"/>
                </a:solidFill>
              </a:rPr>
              <a:t>Intersection is empty; there are no outcomes common to both A and B.</a:t>
            </a:r>
            <a:endParaRPr lang="en-US" sz="834" dirty="0"/>
          </a:p>
        </p:txBody>
      </p:sp>
      <p:sp>
        <p:nvSpPr>
          <p:cNvPr id="11" name="Text 7"/>
          <p:cNvSpPr/>
          <p:nvPr/>
        </p:nvSpPr>
        <p:spPr>
          <a:xfrm>
            <a:off x="500063" y="2512814"/>
            <a:ext cx="3893344"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FFD93D"/>
                </a:solidFill>
              </a:rPr>
              <a:t>Key Properties</a:t>
            </a:r>
            <a:endParaRPr lang="en-US" sz="1193" dirty="0"/>
          </a:p>
        </p:txBody>
      </p:sp>
      <p:sp>
        <p:nvSpPr>
          <p:cNvPr id="12" name="Text 8"/>
          <p:cNvSpPr/>
          <p:nvPr/>
        </p:nvSpPr>
        <p:spPr>
          <a:xfrm>
            <a:off x="642938" y="2830711"/>
            <a:ext cx="680944" cy="166092"/>
          </a:xfrm>
          <a:prstGeom prst="rect">
            <a:avLst/>
          </a:prstGeom>
          <a:noFill/>
          <a:ln/>
        </p:spPr>
        <p:txBody>
          <a:bodyPr wrap="none" lIns="0" tIns="0" rIns="0" bIns="0" rtlCol="0" anchor="t">
            <a:spAutoFit/>
          </a:bodyPr>
          <a:lstStyle/>
          <a:p>
            <a:pPr marL="0" indent="0" algn="l">
              <a:lnSpc>
                <a:spcPts val="1500"/>
              </a:lnSpc>
              <a:buNone/>
            </a:pPr>
            <a:r>
              <a:rPr lang="en-US" sz="834" b="1" dirty="0">
                <a:solidFill>
                  <a:srgbClr val="FF6B9D"/>
                </a:solidFill>
              </a:rPr>
              <a:t>No overlap:</a:t>
            </a:r>
            <a:endParaRPr lang="en-US" sz="834" dirty="0"/>
          </a:p>
        </p:txBody>
      </p:sp>
      <p:sp>
        <p:nvSpPr>
          <p:cNvPr id="13" name="Text 9"/>
          <p:cNvSpPr/>
          <p:nvPr/>
        </p:nvSpPr>
        <p:spPr>
          <a:xfrm>
            <a:off x="1323882" y="2830711"/>
            <a:ext cx="1199871" cy="166092"/>
          </a:xfrm>
          <a:prstGeom prst="rect">
            <a:avLst/>
          </a:prstGeom>
          <a:noFill/>
          <a:ln/>
        </p:spPr>
        <p:txBody>
          <a:bodyPr wrap="none" lIns="0" tIns="0" rIns="0" bIns="0" rtlCol="0" anchor="t">
            <a:spAutoFit/>
          </a:bodyPr>
          <a:lstStyle/>
          <a:p>
            <a:pPr marL="0" indent="0" algn="l">
              <a:lnSpc>
                <a:spcPts val="1500"/>
              </a:lnSpc>
              <a:buNone/>
            </a:pPr>
            <a:r>
              <a:rPr lang="en-US" sz="888" dirty="0">
                <a:solidFill>
                  <a:srgbClr val="FFFFFF"/>
                </a:solidFill>
              </a:rPr>
              <a:t>no shared outcomes</a:t>
            </a:r>
            <a:endParaRPr lang="en-US" sz="888" dirty="0"/>
          </a:p>
        </p:txBody>
      </p:sp>
      <p:sp>
        <p:nvSpPr>
          <p:cNvPr id="14" name="Text 10"/>
          <p:cNvSpPr/>
          <p:nvPr/>
        </p:nvSpPr>
        <p:spPr>
          <a:xfrm>
            <a:off x="642938" y="3067878"/>
            <a:ext cx="807244" cy="166092"/>
          </a:xfrm>
          <a:prstGeom prst="rect">
            <a:avLst/>
          </a:prstGeom>
          <a:noFill/>
          <a:ln/>
        </p:spPr>
        <p:txBody>
          <a:bodyPr wrap="none" lIns="0" tIns="0" rIns="0" bIns="0" rtlCol="0" anchor="t">
            <a:spAutoFit/>
          </a:bodyPr>
          <a:lstStyle/>
          <a:p>
            <a:pPr marL="0" indent="0" algn="l">
              <a:lnSpc>
                <a:spcPts val="1500"/>
              </a:lnSpc>
              <a:buNone/>
            </a:pPr>
            <a:r>
              <a:rPr lang="en-US" sz="834" b="1" dirty="0">
                <a:solidFill>
                  <a:srgbClr val="FF6B9D"/>
                </a:solidFill>
              </a:rPr>
              <a:t>Addition rule:</a:t>
            </a:r>
            <a:endParaRPr lang="en-US" sz="834" dirty="0"/>
          </a:p>
        </p:txBody>
      </p:sp>
      <p:sp>
        <p:nvSpPr>
          <p:cNvPr id="15" name="Text 11"/>
          <p:cNvSpPr/>
          <p:nvPr/>
        </p:nvSpPr>
        <p:spPr>
          <a:xfrm>
            <a:off x="1450181" y="3067878"/>
            <a:ext cx="1233525" cy="166092"/>
          </a:xfrm>
          <a:prstGeom prst="rect">
            <a:avLst/>
          </a:prstGeom>
          <a:noFill/>
          <a:ln/>
        </p:spPr>
        <p:txBody>
          <a:bodyPr wrap="none" lIns="0" tIns="0" rIns="0" bIns="0" rtlCol="0" anchor="t">
            <a:spAutoFit/>
          </a:bodyPr>
          <a:lstStyle/>
          <a:p>
            <a:pPr marL="0" indent="0" algn="l">
              <a:lnSpc>
                <a:spcPts val="1500"/>
              </a:lnSpc>
              <a:buNone/>
            </a:pPr>
            <a:r>
              <a:rPr lang="en-US" sz="888" dirty="0">
                <a:solidFill>
                  <a:srgbClr val="FFFFFF"/>
                </a:solidFill>
              </a:rPr>
              <a:t>P(A ∪ B) = P(A) + P(B)</a:t>
            </a:r>
            <a:endParaRPr lang="en-US" sz="888" dirty="0"/>
          </a:p>
        </p:txBody>
      </p:sp>
      <p:sp>
        <p:nvSpPr>
          <p:cNvPr id="16" name="Text 12"/>
          <p:cNvSpPr/>
          <p:nvPr/>
        </p:nvSpPr>
        <p:spPr>
          <a:xfrm>
            <a:off x="642938" y="3305045"/>
            <a:ext cx="717389" cy="166092"/>
          </a:xfrm>
          <a:prstGeom prst="rect">
            <a:avLst/>
          </a:prstGeom>
          <a:noFill/>
          <a:ln/>
        </p:spPr>
        <p:txBody>
          <a:bodyPr wrap="none" lIns="0" tIns="0" rIns="0" bIns="0" rtlCol="0" anchor="t">
            <a:spAutoFit/>
          </a:bodyPr>
          <a:lstStyle/>
          <a:p>
            <a:pPr marL="0" indent="0" algn="l">
              <a:lnSpc>
                <a:spcPts val="1500"/>
              </a:lnSpc>
              <a:buNone/>
            </a:pPr>
            <a:r>
              <a:rPr lang="en-US" sz="834" b="1" dirty="0">
                <a:solidFill>
                  <a:srgbClr val="FF6B9D"/>
                </a:solidFill>
              </a:rPr>
              <a:t>Conditional:</a:t>
            </a:r>
            <a:endParaRPr lang="en-US" sz="834" dirty="0"/>
          </a:p>
        </p:txBody>
      </p:sp>
      <p:sp>
        <p:nvSpPr>
          <p:cNvPr id="17" name="Text 13"/>
          <p:cNvSpPr/>
          <p:nvPr/>
        </p:nvSpPr>
        <p:spPr>
          <a:xfrm>
            <a:off x="1360326" y="3305045"/>
            <a:ext cx="1239469" cy="166092"/>
          </a:xfrm>
          <a:prstGeom prst="rect">
            <a:avLst/>
          </a:prstGeom>
          <a:noFill/>
          <a:ln/>
        </p:spPr>
        <p:txBody>
          <a:bodyPr wrap="none" lIns="0" tIns="0" rIns="0" bIns="0" rtlCol="0" anchor="t">
            <a:spAutoFit/>
          </a:bodyPr>
          <a:lstStyle/>
          <a:p>
            <a:pPr marL="0" indent="0" algn="l">
              <a:lnSpc>
                <a:spcPts val="1500"/>
              </a:lnSpc>
              <a:buNone/>
            </a:pPr>
            <a:r>
              <a:rPr lang="en-US" sz="888" dirty="0">
                <a:solidFill>
                  <a:srgbClr val="FFFFFF"/>
                </a:solidFill>
              </a:rPr>
              <a:t>P(A|B) = 0; P(B|A) = 0</a:t>
            </a:r>
            <a:endParaRPr lang="en-US" sz="888" dirty="0"/>
          </a:p>
        </p:txBody>
      </p:sp>
      <p:sp>
        <p:nvSpPr>
          <p:cNvPr id="18" name="Text 14"/>
          <p:cNvSpPr/>
          <p:nvPr/>
        </p:nvSpPr>
        <p:spPr>
          <a:xfrm>
            <a:off x="642938" y="3542212"/>
            <a:ext cx="883872" cy="166092"/>
          </a:xfrm>
          <a:prstGeom prst="rect">
            <a:avLst/>
          </a:prstGeom>
          <a:noFill/>
          <a:ln/>
        </p:spPr>
        <p:txBody>
          <a:bodyPr wrap="none" lIns="0" tIns="0" rIns="0" bIns="0" rtlCol="0" anchor="t">
            <a:spAutoFit/>
          </a:bodyPr>
          <a:lstStyle/>
          <a:p>
            <a:pPr marL="0" indent="0" algn="l">
              <a:lnSpc>
                <a:spcPts val="1500"/>
              </a:lnSpc>
              <a:buNone/>
            </a:pPr>
            <a:r>
              <a:rPr lang="en-US" sz="834" b="1" dirty="0">
                <a:solidFill>
                  <a:srgbClr val="FF6B9D"/>
                </a:solidFill>
              </a:rPr>
              <a:t>Independence:</a:t>
            </a:r>
            <a:endParaRPr lang="en-US" sz="834" dirty="0"/>
          </a:p>
        </p:txBody>
      </p:sp>
      <p:sp>
        <p:nvSpPr>
          <p:cNvPr id="19" name="Text 15"/>
          <p:cNvSpPr/>
          <p:nvPr/>
        </p:nvSpPr>
        <p:spPr>
          <a:xfrm>
            <a:off x="1526809" y="3542212"/>
            <a:ext cx="2102941" cy="166092"/>
          </a:xfrm>
          <a:prstGeom prst="rect">
            <a:avLst/>
          </a:prstGeom>
          <a:noFill/>
          <a:ln/>
        </p:spPr>
        <p:txBody>
          <a:bodyPr wrap="none" lIns="0" tIns="0" rIns="0" bIns="0" rtlCol="0" anchor="t">
            <a:spAutoFit/>
          </a:bodyPr>
          <a:lstStyle/>
          <a:p>
            <a:pPr marL="0" indent="0" algn="l">
              <a:lnSpc>
                <a:spcPts val="1500"/>
              </a:lnSpc>
              <a:buNone/>
            </a:pPr>
            <a:r>
              <a:rPr lang="en-US" sz="888" dirty="0">
                <a:solidFill>
                  <a:srgbClr val="FFFFFF"/>
                </a:solidFill>
              </a:rPr>
              <a:t>not independent (unless impossible)</a:t>
            </a:r>
            <a:endParaRPr lang="en-US" sz="888" dirty="0"/>
          </a:p>
        </p:txBody>
      </p:sp>
      <p:sp>
        <p:nvSpPr>
          <p:cNvPr id="20" name="Shape 16"/>
          <p:cNvSpPr/>
          <p:nvPr/>
        </p:nvSpPr>
        <p:spPr>
          <a:xfrm>
            <a:off x="500063" y="3838315"/>
            <a:ext cx="3893344" cy="232172"/>
          </a:xfrm>
          <a:prstGeom prst="rect">
            <a:avLst/>
          </a:prstGeom>
          <a:solidFill>
            <a:srgbClr val="FFD73D">
              <a:alpha val="10000"/>
            </a:srgbClr>
          </a:solidFill>
          <a:ln/>
        </p:spPr>
        <p:txBody>
          <a:bodyPr/>
          <a:lstStyle/>
          <a:p>
            <a:endParaRPr lang="en-US"/>
          </a:p>
        </p:txBody>
      </p:sp>
      <p:sp>
        <p:nvSpPr>
          <p:cNvPr id="21" name="Shape 17"/>
          <p:cNvSpPr/>
          <p:nvPr/>
        </p:nvSpPr>
        <p:spPr>
          <a:xfrm>
            <a:off x="500063" y="3838315"/>
            <a:ext cx="28575" cy="232172"/>
          </a:xfrm>
          <a:prstGeom prst="rect">
            <a:avLst/>
          </a:prstGeom>
          <a:solidFill>
            <a:srgbClr val="FFD93D"/>
          </a:solidFill>
          <a:ln/>
        </p:spPr>
        <p:txBody>
          <a:bodyPr/>
          <a:lstStyle/>
          <a:p>
            <a:endParaRPr lang="en-US"/>
          </a:p>
        </p:txBody>
      </p:sp>
      <p:sp>
        <p:nvSpPr>
          <p:cNvPr id="22" name="Text 18"/>
          <p:cNvSpPr/>
          <p:nvPr/>
        </p:nvSpPr>
        <p:spPr>
          <a:xfrm>
            <a:off x="628650" y="3909752"/>
            <a:ext cx="3636169" cy="160734"/>
          </a:xfrm>
          <a:prstGeom prst="rect">
            <a:avLst/>
          </a:prstGeom>
          <a:noFill/>
          <a:ln/>
        </p:spPr>
        <p:txBody>
          <a:bodyPr wrap="none" lIns="0" tIns="0" rIns="0" bIns="0" rtlCol="0" anchor="t">
            <a:spAutoFit/>
          </a:bodyPr>
          <a:lstStyle/>
          <a:p>
            <a:pPr marL="0" indent="0" algn="l">
              <a:lnSpc>
                <a:spcPts val="1300"/>
              </a:lnSpc>
              <a:buNone/>
            </a:pPr>
            <a:r>
              <a:rPr lang="en-US" sz="734" b="1" i="1" dirty="0">
                <a:solidFill>
                  <a:srgbClr val="FFFFFF"/>
                </a:solidFill>
              </a:rPr>
              <a:t>Venn:</a:t>
            </a:r>
            <a:r>
              <a:rPr lang="en-US" sz="780" i="1" dirty="0">
                <a:solidFill>
                  <a:srgbClr val="FFFFFF"/>
                </a:solidFill>
              </a:rPr>
              <a:t> two non-overlapping circles; separate regions in the sample space.</a:t>
            </a:r>
            <a:endParaRPr lang="en-US" sz="734" dirty="0"/>
          </a:p>
        </p:txBody>
      </p:sp>
      <p:sp>
        <p:nvSpPr>
          <p:cNvPr id="23" name="Text 19"/>
          <p:cNvSpPr/>
          <p:nvPr/>
        </p:nvSpPr>
        <p:spPr>
          <a:xfrm>
            <a:off x="4750594" y="966192"/>
            <a:ext cx="3893344"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FFD93D"/>
                </a:solidFill>
              </a:rPr>
              <a:t>Examples</a:t>
            </a:r>
            <a:endParaRPr lang="en-US" sz="1193" dirty="0"/>
          </a:p>
        </p:txBody>
      </p:sp>
      <p:sp>
        <p:nvSpPr>
          <p:cNvPr id="24" name="Shape 20"/>
          <p:cNvSpPr/>
          <p:nvPr/>
        </p:nvSpPr>
        <p:spPr>
          <a:xfrm>
            <a:off x="4750594" y="1271588"/>
            <a:ext cx="1889522" cy="1396492"/>
          </a:xfrm>
          <a:prstGeom prst="rect">
            <a:avLst/>
          </a:prstGeom>
          <a:solidFill>
            <a:srgbClr val="FFFFFF">
              <a:alpha val="5000"/>
            </a:srgbClr>
          </a:solidFill>
          <a:ln/>
        </p:spPr>
        <p:txBody>
          <a:bodyPr/>
          <a:lstStyle/>
          <a:p>
            <a:endParaRPr lang="en-US"/>
          </a:p>
        </p:txBody>
      </p:sp>
      <p:sp>
        <p:nvSpPr>
          <p:cNvPr id="25" name="Text 21"/>
          <p:cNvSpPr/>
          <p:nvPr/>
        </p:nvSpPr>
        <p:spPr>
          <a:xfrm>
            <a:off x="4879181" y="1357313"/>
            <a:ext cx="1632347" cy="183952"/>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FFD93D"/>
                </a:solidFill>
              </a:rPr>
              <a:t>Example 1: Rolling a Die</a:t>
            </a:r>
            <a:endParaRPr lang="en-US" sz="936" dirty="0"/>
          </a:p>
        </p:txBody>
      </p:sp>
      <p:sp>
        <p:nvSpPr>
          <p:cNvPr id="26" name="Text 22"/>
          <p:cNvSpPr/>
          <p:nvPr/>
        </p:nvSpPr>
        <p:spPr>
          <a:xfrm>
            <a:off x="4879181" y="1598414"/>
            <a:ext cx="1632347" cy="885713"/>
          </a:xfrm>
          <a:prstGeom prst="rect">
            <a:avLst/>
          </a:prstGeom>
          <a:noFill/>
          <a:ln/>
        </p:spPr>
        <p:txBody>
          <a:bodyPr wrap="square" lIns="0" tIns="0" rIns="0" bIns="0" rtlCol="0" anchor="t">
            <a:spAutoFit/>
          </a:bodyPr>
          <a:lstStyle/>
          <a:p>
            <a:pPr marL="0" indent="0" algn="l">
              <a:lnSpc>
                <a:spcPts val="1400"/>
              </a:lnSpc>
              <a:buNone/>
            </a:pPr>
            <a:r>
              <a:rPr lang="en-US" sz="784" b="1" dirty="0">
                <a:solidFill>
                  <a:srgbClr val="FFFFFF"/>
                </a:solidFill>
              </a:rPr>
              <a:t>Event A:</a:t>
            </a:r>
            <a:r>
              <a:rPr lang="en-US" sz="834" dirty="0">
                <a:solidFill>
                  <a:srgbClr val="FFFFFF"/>
                </a:solidFill>
              </a:rPr>
              <a:t> roll a 2
</a:t>
            </a:r>
            <a:r>
              <a:rPr lang="en-US" sz="784" b="1" dirty="0">
                <a:solidFill>
                  <a:srgbClr val="FFFFFF"/>
                </a:solidFill>
              </a:rPr>
              <a:t>Event B:</a:t>
            </a:r>
            <a:r>
              <a:rPr lang="en-US" sz="834" dirty="0">
                <a:solidFill>
                  <a:srgbClr val="FFFFFF"/>
                </a:solidFill>
              </a:rPr>
              <a:t> roll a 5
 Mutually exclusive: one roll can't be both.
 P(A ∪ B) = 1/6 + 1/6 = 1/3</a:t>
            </a:r>
            <a:endParaRPr lang="en-US" sz="784" dirty="0"/>
          </a:p>
        </p:txBody>
      </p:sp>
      <p:sp>
        <p:nvSpPr>
          <p:cNvPr id="27" name="Shape 23"/>
          <p:cNvSpPr/>
          <p:nvPr/>
        </p:nvSpPr>
        <p:spPr>
          <a:xfrm>
            <a:off x="6754416" y="1271588"/>
            <a:ext cx="1889522" cy="1396492"/>
          </a:xfrm>
          <a:prstGeom prst="rect">
            <a:avLst/>
          </a:prstGeom>
          <a:solidFill>
            <a:srgbClr val="FFFFFF">
              <a:alpha val="5000"/>
            </a:srgbClr>
          </a:solidFill>
          <a:ln/>
        </p:spPr>
        <p:txBody>
          <a:bodyPr/>
          <a:lstStyle/>
          <a:p>
            <a:endParaRPr lang="en-US"/>
          </a:p>
        </p:txBody>
      </p:sp>
      <p:sp>
        <p:nvSpPr>
          <p:cNvPr id="28" name="Text 24"/>
          <p:cNvSpPr/>
          <p:nvPr/>
        </p:nvSpPr>
        <p:spPr>
          <a:xfrm>
            <a:off x="6883003" y="1357313"/>
            <a:ext cx="1632347" cy="367903"/>
          </a:xfrm>
          <a:prstGeom prst="rect">
            <a:avLst/>
          </a:prstGeom>
          <a:noFill/>
          <a:ln/>
        </p:spPr>
        <p:txBody>
          <a:bodyPr wrap="square" lIns="0" tIns="0" rIns="0" bIns="0" rtlCol="0" anchor="t">
            <a:spAutoFit/>
          </a:bodyPr>
          <a:lstStyle/>
          <a:p>
            <a:pPr marL="0" indent="0" algn="l">
              <a:lnSpc>
                <a:spcPts val="1300"/>
              </a:lnSpc>
              <a:buNone/>
            </a:pPr>
            <a:r>
              <a:rPr lang="en-US" sz="936" b="1" dirty="0">
                <a:solidFill>
                  <a:srgbClr val="FFD93D"/>
                </a:solidFill>
              </a:rPr>
              <a:t>Example 2: Drawing a Card</a:t>
            </a:r>
            <a:endParaRPr lang="en-US" sz="936" dirty="0"/>
          </a:p>
        </p:txBody>
      </p:sp>
      <p:sp>
        <p:nvSpPr>
          <p:cNvPr id="29" name="Text 25"/>
          <p:cNvSpPr/>
          <p:nvPr/>
        </p:nvSpPr>
        <p:spPr>
          <a:xfrm>
            <a:off x="6883003" y="1782366"/>
            <a:ext cx="1632347" cy="885713"/>
          </a:xfrm>
          <a:prstGeom prst="rect">
            <a:avLst/>
          </a:prstGeom>
          <a:noFill/>
          <a:ln/>
        </p:spPr>
        <p:txBody>
          <a:bodyPr wrap="square" lIns="0" tIns="0" rIns="0" bIns="0" rtlCol="0" anchor="t">
            <a:spAutoFit/>
          </a:bodyPr>
          <a:lstStyle/>
          <a:p>
            <a:pPr marL="0" indent="0" algn="l">
              <a:lnSpc>
                <a:spcPts val="1400"/>
              </a:lnSpc>
              <a:buNone/>
            </a:pPr>
            <a:r>
              <a:rPr lang="en-US" sz="784" b="1" dirty="0">
                <a:solidFill>
                  <a:srgbClr val="FFFFFF"/>
                </a:solidFill>
              </a:rPr>
              <a:t>Event A:</a:t>
            </a:r>
            <a:r>
              <a:rPr lang="en-US" sz="834" dirty="0">
                <a:solidFill>
                  <a:srgbClr val="FFFFFF"/>
                </a:solidFill>
              </a:rPr>
              <a:t> draw a heart
</a:t>
            </a:r>
            <a:r>
              <a:rPr lang="en-US" sz="784" b="1" dirty="0">
                <a:solidFill>
                  <a:srgbClr val="FFFFFF"/>
                </a:solidFill>
              </a:rPr>
              <a:t>Event B:</a:t>
            </a:r>
            <a:r>
              <a:rPr lang="en-US" sz="834" dirty="0">
                <a:solidFill>
                  <a:srgbClr val="FFFFFF"/>
                </a:solidFill>
              </a:rPr>
              <a:t> draw a club
 A card can't be both heart and club.
 P(A ∪ B) = 13/52 + 13/52 = 1/2</a:t>
            </a:r>
            <a:endParaRPr lang="en-US" sz="784" dirty="0"/>
          </a:p>
        </p:txBody>
      </p:sp>
      <p:sp>
        <p:nvSpPr>
          <p:cNvPr id="30" name="Shape 26"/>
          <p:cNvSpPr/>
          <p:nvPr/>
        </p:nvSpPr>
        <p:spPr>
          <a:xfrm>
            <a:off x="4750594" y="2782379"/>
            <a:ext cx="1889522" cy="1212540"/>
          </a:xfrm>
          <a:prstGeom prst="rect">
            <a:avLst/>
          </a:prstGeom>
          <a:solidFill>
            <a:srgbClr val="FFFFFF">
              <a:alpha val="5000"/>
            </a:srgbClr>
          </a:solidFill>
          <a:ln/>
        </p:spPr>
        <p:txBody>
          <a:bodyPr/>
          <a:lstStyle/>
          <a:p>
            <a:endParaRPr lang="en-US"/>
          </a:p>
        </p:txBody>
      </p:sp>
      <p:sp>
        <p:nvSpPr>
          <p:cNvPr id="31" name="Text 27"/>
          <p:cNvSpPr/>
          <p:nvPr/>
        </p:nvSpPr>
        <p:spPr>
          <a:xfrm>
            <a:off x="4879181" y="2868104"/>
            <a:ext cx="1632347" cy="183952"/>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FFD93D"/>
                </a:solidFill>
              </a:rPr>
              <a:t>Example 3: Coin Toss</a:t>
            </a:r>
            <a:endParaRPr lang="en-US" sz="936" dirty="0"/>
          </a:p>
        </p:txBody>
      </p:sp>
      <p:sp>
        <p:nvSpPr>
          <p:cNvPr id="32" name="Text 28"/>
          <p:cNvSpPr/>
          <p:nvPr/>
        </p:nvSpPr>
        <p:spPr>
          <a:xfrm>
            <a:off x="4879181" y="3109206"/>
            <a:ext cx="1632347" cy="885713"/>
          </a:xfrm>
          <a:prstGeom prst="rect">
            <a:avLst/>
          </a:prstGeom>
          <a:noFill/>
          <a:ln/>
        </p:spPr>
        <p:txBody>
          <a:bodyPr wrap="square" lIns="0" tIns="0" rIns="0" bIns="0" rtlCol="0" anchor="t">
            <a:spAutoFit/>
          </a:bodyPr>
          <a:lstStyle/>
          <a:p>
            <a:pPr marL="0" indent="0" algn="l">
              <a:lnSpc>
                <a:spcPts val="1400"/>
              </a:lnSpc>
              <a:buNone/>
            </a:pPr>
            <a:r>
              <a:rPr lang="en-US" sz="784" b="1" dirty="0">
                <a:solidFill>
                  <a:srgbClr val="FFFFFF"/>
                </a:solidFill>
              </a:rPr>
              <a:t>Event A:</a:t>
            </a:r>
            <a:r>
              <a:rPr lang="en-US" sz="834" dirty="0">
                <a:solidFill>
                  <a:srgbClr val="FFFFFF"/>
                </a:solidFill>
              </a:rPr>
              <a:t> heads
</a:t>
            </a:r>
            <a:r>
              <a:rPr lang="en-US" sz="784" b="1" dirty="0">
                <a:solidFill>
                  <a:srgbClr val="FFFFFF"/>
                </a:solidFill>
              </a:rPr>
              <a:t>Event B:</a:t>
            </a:r>
            <a:r>
              <a:rPr lang="en-US" sz="834" dirty="0">
                <a:solidFill>
                  <a:srgbClr val="FFFFFF"/>
                </a:solidFill>
              </a:rPr>
              <a:t> tails
 Mutually exclusive and exhaustive.
 P(A ∪ B) = 1/2 + 1/2 = 1</a:t>
            </a:r>
            <a:endParaRPr lang="en-US" sz="784" dirty="0"/>
          </a:p>
        </p:txBody>
      </p:sp>
      <p:sp>
        <p:nvSpPr>
          <p:cNvPr id="33" name="Shape 29"/>
          <p:cNvSpPr/>
          <p:nvPr/>
        </p:nvSpPr>
        <p:spPr>
          <a:xfrm>
            <a:off x="6754416" y="2782379"/>
            <a:ext cx="1889522" cy="1212540"/>
          </a:xfrm>
          <a:prstGeom prst="rect">
            <a:avLst/>
          </a:prstGeom>
          <a:solidFill>
            <a:srgbClr val="FFFFFF">
              <a:alpha val="5000"/>
            </a:srgbClr>
          </a:solidFill>
          <a:ln/>
        </p:spPr>
        <p:txBody>
          <a:bodyPr/>
          <a:lstStyle/>
          <a:p>
            <a:endParaRPr lang="en-US"/>
          </a:p>
        </p:txBody>
      </p:sp>
      <p:sp>
        <p:nvSpPr>
          <p:cNvPr id="34" name="Text 30"/>
          <p:cNvSpPr/>
          <p:nvPr/>
        </p:nvSpPr>
        <p:spPr>
          <a:xfrm>
            <a:off x="6883003" y="2868104"/>
            <a:ext cx="1632347" cy="367903"/>
          </a:xfrm>
          <a:prstGeom prst="rect">
            <a:avLst/>
          </a:prstGeom>
          <a:noFill/>
          <a:ln/>
        </p:spPr>
        <p:txBody>
          <a:bodyPr wrap="square" lIns="0" tIns="0" rIns="0" bIns="0" rtlCol="0" anchor="t">
            <a:spAutoFit/>
          </a:bodyPr>
          <a:lstStyle/>
          <a:p>
            <a:pPr marL="0" indent="0" algn="l">
              <a:lnSpc>
                <a:spcPts val="1300"/>
              </a:lnSpc>
              <a:buNone/>
            </a:pPr>
            <a:r>
              <a:rPr lang="en-US" sz="936" b="1" dirty="0">
                <a:solidFill>
                  <a:srgbClr val="FFD93D"/>
                </a:solidFill>
              </a:rPr>
              <a:t>Counter-Example: NOT Mutually Exclusive</a:t>
            </a:r>
            <a:endParaRPr lang="en-US" sz="936" dirty="0"/>
          </a:p>
        </p:txBody>
      </p:sp>
      <p:sp>
        <p:nvSpPr>
          <p:cNvPr id="35" name="Text 31"/>
          <p:cNvSpPr/>
          <p:nvPr/>
        </p:nvSpPr>
        <p:spPr>
          <a:xfrm>
            <a:off x="6883003" y="3293157"/>
            <a:ext cx="1632347" cy="531428"/>
          </a:xfrm>
          <a:prstGeom prst="rect">
            <a:avLst/>
          </a:prstGeom>
          <a:noFill/>
          <a:ln/>
        </p:spPr>
        <p:txBody>
          <a:bodyPr wrap="square" lIns="0" tIns="0" rIns="0" bIns="0" rtlCol="0" anchor="t">
            <a:spAutoFit/>
          </a:bodyPr>
          <a:lstStyle/>
          <a:p>
            <a:pPr marL="0" indent="0" algn="l">
              <a:lnSpc>
                <a:spcPts val="1400"/>
              </a:lnSpc>
              <a:buNone/>
            </a:pPr>
            <a:r>
              <a:rPr lang="en-US" sz="784" b="1" dirty="0">
                <a:solidFill>
                  <a:srgbClr val="FFFFFF"/>
                </a:solidFill>
              </a:rPr>
              <a:t>Event A:</a:t>
            </a:r>
            <a:r>
              <a:rPr lang="en-US" sz="834" dirty="0">
                <a:solidFill>
                  <a:srgbClr val="FFFFFF"/>
                </a:solidFill>
              </a:rPr>
              <a:t> even {2,4,6}
</a:t>
            </a:r>
            <a:r>
              <a:rPr lang="en-US" sz="784" b="1" dirty="0">
                <a:solidFill>
                  <a:srgbClr val="FFFFFF"/>
                </a:solidFill>
              </a:rPr>
              <a:t>Event B:</a:t>
            </a:r>
            <a:r>
              <a:rPr lang="en-US" sz="834" dirty="0">
                <a:solidFill>
                  <a:srgbClr val="FFFFFF"/>
                </a:solidFill>
              </a:rPr>
              <a:t> ≥ 5 {5,6}
 Overlap: A ∩ B = {6} ≠ ∅</a:t>
            </a:r>
            <a:endParaRPr lang="en-US" sz="784"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0" y="357188"/>
            <a:ext cx="9144000" cy="466130"/>
          </a:xfrm>
          <a:prstGeom prst="rect">
            <a:avLst/>
          </a:prstGeom>
          <a:noFill/>
          <a:ln/>
        </p:spPr>
        <p:txBody>
          <a:bodyPr wrap="none" lIns="0" tIns="0" rIns="0" bIns="0" rtlCol="0" anchor="t">
            <a:spAutoFit/>
          </a:bodyPr>
          <a:lstStyle/>
          <a:p>
            <a:pPr marL="0" indent="0" algn="ctr">
              <a:lnSpc>
                <a:spcPts val="3200"/>
              </a:lnSpc>
              <a:buNone/>
            </a:pPr>
            <a:r>
              <a:rPr lang="en-US" sz="2436" b="1" dirty="0">
                <a:solidFill>
                  <a:srgbClr val="00D9FF"/>
                </a:solidFill>
              </a:rPr>
              <a:t>Mutually Exclusive: Examples</a:t>
            </a:r>
            <a:endParaRPr lang="en-US" sz="2436" dirty="0"/>
          </a:p>
        </p:txBody>
      </p:sp>
      <p:sp>
        <p:nvSpPr>
          <p:cNvPr id="5" name="Text 1"/>
          <p:cNvSpPr/>
          <p:nvPr/>
        </p:nvSpPr>
        <p:spPr>
          <a:xfrm>
            <a:off x="0" y="880467"/>
            <a:ext cx="9144000" cy="175022"/>
          </a:xfrm>
          <a:prstGeom prst="rect">
            <a:avLst/>
          </a:prstGeom>
          <a:noFill/>
          <a:ln/>
        </p:spPr>
        <p:txBody>
          <a:bodyPr wrap="none" lIns="0" tIns="0" rIns="0" bIns="0" rtlCol="0" anchor="t">
            <a:spAutoFit/>
          </a:bodyPr>
          <a:lstStyle/>
          <a:p>
            <a:pPr marL="0" indent="0" algn="ctr">
              <a:lnSpc>
                <a:spcPts val="1200"/>
              </a:lnSpc>
              <a:buNone/>
            </a:pPr>
            <a:r>
              <a:rPr lang="en-US" sz="942" dirty="0">
                <a:solidFill>
                  <a:srgbClr val="FFD93D"/>
                </a:solidFill>
              </a:rPr>
              <a:t>Worked Examples from Different Contexts</a:t>
            </a:r>
            <a:endParaRPr lang="en-US" sz="942" dirty="0"/>
          </a:p>
        </p:txBody>
      </p:sp>
      <p:sp>
        <p:nvSpPr>
          <p:cNvPr id="6" name="Shape 2"/>
          <p:cNvSpPr/>
          <p:nvPr/>
        </p:nvSpPr>
        <p:spPr>
          <a:xfrm>
            <a:off x="428625" y="1126927"/>
            <a:ext cx="4100513" cy="1893094"/>
          </a:xfrm>
          <a:prstGeom prst="rect">
            <a:avLst/>
          </a:prstGeom>
          <a:solidFill>
            <a:srgbClr val="FFFFFF">
              <a:alpha val="5000"/>
            </a:srgbClr>
          </a:solidFill>
          <a:ln/>
        </p:spPr>
        <p:txBody>
          <a:bodyPr/>
          <a:lstStyle/>
          <a:p>
            <a:endParaRPr lang="en-US"/>
          </a:p>
        </p:txBody>
      </p:sp>
      <p:sp>
        <p:nvSpPr>
          <p:cNvPr id="7" name="Text 3"/>
          <p:cNvSpPr/>
          <p:nvPr/>
        </p:nvSpPr>
        <p:spPr>
          <a:xfrm>
            <a:off x="607219" y="1212652"/>
            <a:ext cx="3743325" cy="350044"/>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FF6B9D"/>
                </a:solidFill>
              </a:rPr>
              <a:t>01</a:t>
            </a:r>
            <a:endParaRPr lang="en-US" sz="1808" dirty="0"/>
          </a:p>
        </p:txBody>
      </p:sp>
      <p:sp>
        <p:nvSpPr>
          <p:cNvPr id="8" name="Text 4"/>
          <p:cNvSpPr/>
          <p:nvPr/>
        </p:nvSpPr>
        <p:spPr>
          <a:xfrm>
            <a:off x="607219" y="1591270"/>
            <a:ext cx="3743325" cy="214313"/>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00D9FF"/>
                </a:solidFill>
              </a:rPr>
              <a:t>Rolling a Single Die</a:t>
            </a:r>
            <a:endParaRPr lang="en-US" sz="1090" dirty="0"/>
          </a:p>
        </p:txBody>
      </p:sp>
      <p:sp>
        <p:nvSpPr>
          <p:cNvPr id="9" name="Text 5"/>
          <p:cNvSpPr/>
          <p:nvPr/>
        </p:nvSpPr>
        <p:spPr>
          <a:xfrm>
            <a:off x="607219" y="1862733"/>
            <a:ext cx="3743325" cy="171450"/>
          </a:xfrm>
          <a:prstGeom prst="rect">
            <a:avLst/>
          </a:prstGeom>
          <a:noFill/>
          <a:ln/>
        </p:spPr>
        <p:txBody>
          <a:bodyPr wrap="none" lIns="0" tIns="0" rIns="0" bIns="0" rtlCol="0" anchor="t">
            <a:spAutoFit/>
          </a:bodyPr>
          <a:lstStyle/>
          <a:p>
            <a:pPr marL="0" indent="0" algn="l">
              <a:lnSpc>
                <a:spcPts val="1400"/>
              </a:lnSpc>
              <a:buNone/>
            </a:pPr>
            <a:r>
              <a:rPr lang="en-US" sz="834" dirty="0">
                <a:solidFill>
                  <a:srgbClr val="FFFFFF"/>
                </a:solidFill>
              </a:rPr>
              <a:t>Consider rolling a standard six-sided die once.</a:t>
            </a:r>
            <a:endParaRPr lang="en-US" sz="834" dirty="0"/>
          </a:p>
        </p:txBody>
      </p:sp>
      <p:sp>
        <p:nvSpPr>
          <p:cNvPr id="10" name="Text 6"/>
          <p:cNvSpPr/>
          <p:nvPr/>
        </p:nvSpPr>
        <p:spPr>
          <a:xfrm>
            <a:off x="607219" y="2077045"/>
            <a:ext cx="3743325" cy="171450"/>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FFD93D"/>
                </a:solidFill>
              </a:rPr>
              <a:t>Events:</a:t>
            </a:r>
            <a:r>
              <a:rPr lang="en-US" sz="834" dirty="0">
                <a:solidFill>
                  <a:srgbClr val="FFFFFF"/>
                </a:solidFill>
              </a:rPr>
              <a:t> A: Rolling a 2; B: Rolling a 5.</a:t>
            </a:r>
            <a:endParaRPr lang="en-US" sz="784" dirty="0"/>
          </a:p>
        </p:txBody>
      </p:sp>
      <p:sp>
        <p:nvSpPr>
          <p:cNvPr id="11" name="Text 7"/>
          <p:cNvSpPr/>
          <p:nvPr/>
        </p:nvSpPr>
        <p:spPr>
          <a:xfrm>
            <a:off x="607219" y="2298502"/>
            <a:ext cx="1105970" cy="15537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00D9FF"/>
                </a:solidFill>
              </a:rPr>
              <a:t>P(A) = 1/6, P(B) = 1/6</a:t>
            </a:r>
            <a:endParaRPr lang="en-US" sz="784" dirty="0"/>
          </a:p>
        </p:txBody>
      </p:sp>
      <p:sp>
        <p:nvSpPr>
          <p:cNvPr id="12" name="Text 8"/>
          <p:cNvSpPr/>
          <p:nvPr/>
        </p:nvSpPr>
        <p:spPr>
          <a:xfrm>
            <a:off x="607219" y="2469952"/>
            <a:ext cx="2066218" cy="15537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00D9FF"/>
                </a:solidFill>
              </a:rPr>
              <a:t>P(A ∪ B) = P(A) + P(B) = 1/6 + 1/6 = 1/3</a:t>
            </a:r>
            <a:endParaRPr lang="en-US" sz="784" dirty="0"/>
          </a:p>
        </p:txBody>
      </p:sp>
      <p:sp>
        <p:nvSpPr>
          <p:cNvPr id="13" name="Shape 9"/>
          <p:cNvSpPr/>
          <p:nvPr/>
        </p:nvSpPr>
        <p:spPr>
          <a:xfrm>
            <a:off x="607219" y="2662833"/>
            <a:ext cx="3743325" cy="357188"/>
          </a:xfrm>
          <a:prstGeom prst="rect">
            <a:avLst/>
          </a:prstGeom>
          <a:solidFill>
            <a:srgbClr val="FFD73D">
              <a:alpha val="10000"/>
            </a:srgbClr>
          </a:solidFill>
          <a:ln/>
        </p:spPr>
        <p:txBody>
          <a:bodyPr/>
          <a:lstStyle/>
          <a:p>
            <a:endParaRPr lang="en-US"/>
          </a:p>
        </p:txBody>
      </p:sp>
      <p:sp>
        <p:nvSpPr>
          <p:cNvPr id="14" name="Shape 10"/>
          <p:cNvSpPr/>
          <p:nvPr/>
        </p:nvSpPr>
        <p:spPr>
          <a:xfrm>
            <a:off x="607219" y="2662833"/>
            <a:ext cx="21431" cy="357188"/>
          </a:xfrm>
          <a:prstGeom prst="rect">
            <a:avLst/>
          </a:prstGeom>
          <a:solidFill>
            <a:srgbClr val="FFD93D"/>
          </a:solidFill>
          <a:ln/>
        </p:spPr>
        <p:txBody>
          <a:bodyPr/>
          <a:lstStyle/>
          <a:p>
            <a:endParaRPr lang="en-US"/>
          </a:p>
        </p:txBody>
      </p:sp>
      <p:sp>
        <p:nvSpPr>
          <p:cNvPr id="15" name="Text 11"/>
          <p:cNvSpPr/>
          <p:nvPr/>
        </p:nvSpPr>
        <p:spPr>
          <a:xfrm>
            <a:off x="692944" y="2719983"/>
            <a:ext cx="3571875" cy="300038"/>
          </a:xfrm>
          <a:prstGeom prst="rect">
            <a:avLst/>
          </a:prstGeom>
          <a:noFill/>
          <a:ln/>
        </p:spPr>
        <p:txBody>
          <a:bodyPr wrap="square" lIns="0" tIns="0" rIns="0" bIns="0" rtlCol="0" anchor="t">
            <a:spAutoFit/>
          </a:bodyPr>
          <a:lstStyle/>
          <a:p>
            <a:pPr marL="0" indent="0" algn="l">
              <a:lnSpc>
                <a:spcPts val="1200"/>
              </a:lnSpc>
              <a:buNone/>
            </a:pPr>
            <a:r>
              <a:rPr lang="en-US" sz="734" b="1" dirty="0">
                <a:solidFill>
                  <a:srgbClr val="FFFFFF"/>
                </a:solidFill>
              </a:rPr>
              <a:t>Why mutually exclusive?</a:t>
            </a:r>
            <a:r>
              <a:rPr lang="en-US" sz="780" dirty="0">
                <a:solidFill>
                  <a:srgbClr val="FFFFFF"/>
                </a:solidFill>
              </a:rPr>
              <a:t> A die cannot show both 2 and 5 in a single roll. </a:t>
            </a:r>
            <a:r>
              <a:rPr lang="en-US" sz="734" b="1" dirty="0">
                <a:solidFill>
                  <a:srgbClr val="FFD93D"/>
                </a:solidFill>
              </a:rPr>
              <a:t>A ∩ B = ∅</a:t>
            </a:r>
            <a:endParaRPr lang="en-US" sz="734" dirty="0"/>
          </a:p>
        </p:txBody>
      </p:sp>
      <p:sp>
        <p:nvSpPr>
          <p:cNvPr id="16" name="Shape 12"/>
          <p:cNvSpPr/>
          <p:nvPr/>
        </p:nvSpPr>
        <p:spPr>
          <a:xfrm>
            <a:off x="4614863" y="1126927"/>
            <a:ext cx="4100513" cy="1893094"/>
          </a:xfrm>
          <a:prstGeom prst="rect">
            <a:avLst/>
          </a:prstGeom>
          <a:solidFill>
            <a:srgbClr val="FFFFFF">
              <a:alpha val="5000"/>
            </a:srgbClr>
          </a:solidFill>
          <a:ln/>
        </p:spPr>
        <p:txBody>
          <a:bodyPr/>
          <a:lstStyle/>
          <a:p>
            <a:endParaRPr lang="en-US"/>
          </a:p>
        </p:txBody>
      </p:sp>
      <p:sp>
        <p:nvSpPr>
          <p:cNvPr id="17" name="Text 13"/>
          <p:cNvSpPr/>
          <p:nvPr/>
        </p:nvSpPr>
        <p:spPr>
          <a:xfrm>
            <a:off x="4793456" y="1212652"/>
            <a:ext cx="3743325" cy="350044"/>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FF6B9D"/>
                </a:solidFill>
              </a:rPr>
              <a:t>02</a:t>
            </a:r>
            <a:endParaRPr lang="en-US" sz="1808" dirty="0"/>
          </a:p>
        </p:txBody>
      </p:sp>
      <p:sp>
        <p:nvSpPr>
          <p:cNvPr id="18" name="Text 14"/>
          <p:cNvSpPr/>
          <p:nvPr/>
        </p:nvSpPr>
        <p:spPr>
          <a:xfrm>
            <a:off x="4793456" y="1591270"/>
            <a:ext cx="3743325" cy="214313"/>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00D9FF"/>
                </a:solidFill>
              </a:rPr>
              <a:t>Drawing a Card from a Deck</a:t>
            </a:r>
            <a:endParaRPr lang="en-US" sz="1090" dirty="0"/>
          </a:p>
        </p:txBody>
      </p:sp>
      <p:sp>
        <p:nvSpPr>
          <p:cNvPr id="19" name="Text 15"/>
          <p:cNvSpPr/>
          <p:nvPr/>
        </p:nvSpPr>
        <p:spPr>
          <a:xfrm>
            <a:off x="4793456" y="1862733"/>
            <a:ext cx="3743325" cy="171450"/>
          </a:xfrm>
          <a:prstGeom prst="rect">
            <a:avLst/>
          </a:prstGeom>
          <a:noFill/>
          <a:ln/>
        </p:spPr>
        <p:txBody>
          <a:bodyPr wrap="none" lIns="0" tIns="0" rIns="0" bIns="0" rtlCol="0" anchor="t">
            <a:spAutoFit/>
          </a:bodyPr>
          <a:lstStyle/>
          <a:p>
            <a:pPr marL="0" indent="0" algn="l">
              <a:lnSpc>
                <a:spcPts val="1400"/>
              </a:lnSpc>
              <a:buNone/>
            </a:pPr>
            <a:r>
              <a:rPr lang="en-US" sz="834" dirty="0">
                <a:solidFill>
                  <a:srgbClr val="FFFFFF"/>
                </a:solidFill>
              </a:rPr>
              <a:t>Draw one card from a standard 52-card deck.</a:t>
            </a:r>
            <a:endParaRPr lang="en-US" sz="834" dirty="0"/>
          </a:p>
        </p:txBody>
      </p:sp>
      <p:sp>
        <p:nvSpPr>
          <p:cNvPr id="20" name="Text 16"/>
          <p:cNvSpPr/>
          <p:nvPr/>
        </p:nvSpPr>
        <p:spPr>
          <a:xfrm>
            <a:off x="4793456" y="2077045"/>
            <a:ext cx="3743325" cy="171450"/>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FFD93D"/>
                </a:solidFill>
              </a:rPr>
              <a:t>Events:</a:t>
            </a:r>
            <a:r>
              <a:rPr lang="en-US" sz="834" dirty="0">
                <a:solidFill>
                  <a:srgbClr val="FFFFFF"/>
                </a:solidFill>
              </a:rPr>
              <a:t> C: Heart (13 cards); D: Spade (13 cards).</a:t>
            </a:r>
            <a:endParaRPr lang="en-US" sz="784" dirty="0"/>
          </a:p>
        </p:txBody>
      </p:sp>
      <p:sp>
        <p:nvSpPr>
          <p:cNvPr id="21" name="Text 17"/>
          <p:cNvSpPr/>
          <p:nvPr/>
        </p:nvSpPr>
        <p:spPr>
          <a:xfrm>
            <a:off x="4793456" y="2298502"/>
            <a:ext cx="1973740" cy="15537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00D9FF"/>
                </a:solidFill>
              </a:rPr>
              <a:t>P(C) = 13/52 = 1/4, P(D) = 13/52 = 1/4</a:t>
            </a:r>
            <a:endParaRPr lang="en-US" sz="784" dirty="0"/>
          </a:p>
        </p:txBody>
      </p:sp>
      <p:sp>
        <p:nvSpPr>
          <p:cNvPr id="22" name="Text 18"/>
          <p:cNvSpPr/>
          <p:nvPr/>
        </p:nvSpPr>
        <p:spPr>
          <a:xfrm>
            <a:off x="4793456" y="2469952"/>
            <a:ext cx="1378465" cy="15537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00D9FF"/>
                </a:solidFill>
              </a:rPr>
              <a:t>P(C ∪ D) = 1/4 + 1/4 = 1/2</a:t>
            </a:r>
            <a:endParaRPr lang="en-US" sz="784" dirty="0"/>
          </a:p>
        </p:txBody>
      </p:sp>
      <p:sp>
        <p:nvSpPr>
          <p:cNvPr id="23" name="Shape 19"/>
          <p:cNvSpPr/>
          <p:nvPr/>
        </p:nvSpPr>
        <p:spPr>
          <a:xfrm>
            <a:off x="4793456" y="2662833"/>
            <a:ext cx="3743325" cy="357188"/>
          </a:xfrm>
          <a:prstGeom prst="rect">
            <a:avLst/>
          </a:prstGeom>
          <a:solidFill>
            <a:srgbClr val="FFD73D">
              <a:alpha val="10000"/>
            </a:srgbClr>
          </a:solidFill>
          <a:ln/>
        </p:spPr>
        <p:txBody>
          <a:bodyPr/>
          <a:lstStyle/>
          <a:p>
            <a:endParaRPr lang="en-US"/>
          </a:p>
        </p:txBody>
      </p:sp>
      <p:sp>
        <p:nvSpPr>
          <p:cNvPr id="24" name="Shape 20"/>
          <p:cNvSpPr/>
          <p:nvPr/>
        </p:nvSpPr>
        <p:spPr>
          <a:xfrm>
            <a:off x="4793456" y="2662833"/>
            <a:ext cx="21431" cy="357188"/>
          </a:xfrm>
          <a:prstGeom prst="rect">
            <a:avLst/>
          </a:prstGeom>
          <a:solidFill>
            <a:srgbClr val="FFD93D"/>
          </a:solidFill>
          <a:ln/>
        </p:spPr>
        <p:txBody>
          <a:bodyPr/>
          <a:lstStyle/>
          <a:p>
            <a:endParaRPr lang="en-US"/>
          </a:p>
        </p:txBody>
      </p:sp>
      <p:sp>
        <p:nvSpPr>
          <p:cNvPr id="25" name="Text 21"/>
          <p:cNvSpPr/>
          <p:nvPr/>
        </p:nvSpPr>
        <p:spPr>
          <a:xfrm>
            <a:off x="4879181" y="2719983"/>
            <a:ext cx="3571875" cy="300038"/>
          </a:xfrm>
          <a:prstGeom prst="rect">
            <a:avLst/>
          </a:prstGeom>
          <a:noFill/>
          <a:ln/>
        </p:spPr>
        <p:txBody>
          <a:bodyPr wrap="square" lIns="0" tIns="0" rIns="0" bIns="0" rtlCol="0" anchor="t">
            <a:spAutoFit/>
          </a:bodyPr>
          <a:lstStyle/>
          <a:p>
            <a:pPr marL="0" indent="0" algn="l">
              <a:lnSpc>
                <a:spcPts val="1200"/>
              </a:lnSpc>
              <a:buNone/>
            </a:pPr>
            <a:r>
              <a:rPr lang="en-US" sz="734" b="1" dirty="0">
                <a:solidFill>
                  <a:srgbClr val="FFFFFF"/>
                </a:solidFill>
              </a:rPr>
              <a:t>Why mutually exclusive?</a:t>
            </a:r>
            <a:r>
              <a:rPr lang="en-US" sz="780" dirty="0">
                <a:solidFill>
                  <a:srgbClr val="FFFFFF"/>
                </a:solidFill>
              </a:rPr>
              <a:t> A single card cannot be both a Heart and a Spade simultaneously. Different suits are disjoint.</a:t>
            </a:r>
            <a:endParaRPr lang="en-US" sz="734" dirty="0"/>
          </a:p>
        </p:txBody>
      </p:sp>
      <p:sp>
        <p:nvSpPr>
          <p:cNvPr id="26" name="Shape 22"/>
          <p:cNvSpPr/>
          <p:nvPr/>
        </p:nvSpPr>
        <p:spPr>
          <a:xfrm>
            <a:off x="428625" y="3105745"/>
            <a:ext cx="4100513" cy="1893094"/>
          </a:xfrm>
          <a:prstGeom prst="rect">
            <a:avLst/>
          </a:prstGeom>
          <a:solidFill>
            <a:srgbClr val="FFFFFF">
              <a:alpha val="5000"/>
            </a:srgbClr>
          </a:solidFill>
          <a:ln/>
        </p:spPr>
        <p:txBody>
          <a:bodyPr/>
          <a:lstStyle/>
          <a:p>
            <a:endParaRPr lang="en-US"/>
          </a:p>
        </p:txBody>
      </p:sp>
      <p:sp>
        <p:nvSpPr>
          <p:cNvPr id="27" name="Text 23"/>
          <p:cNvSpPr/>
          <p:nvPr/>
        </p:nvSpPr>
        <p:spPr>
          <a:xfrm>
            <a:off x="607219" y="3191470"/>
            <a:ext cx="3743325" cy="350044"/>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FF6B9D"/>
                </a:solidFill>
              </a:rPr>
              <a:t>03</a:t>
            </a:r>
            <a:endParaRPr lang="en-US" sz="1808" dirty="0"/>
          </a:p>
        </p:txBody>
      </p:sp>
      <p:sp>
        <p:nvSpPr>
          <p:cNvPr id="28" name="Text 24"/>
          <p:cNvSpPr/>
          <p:nvPr/>
        </p:nvSpPr>
        <p:spPr>
          <a:xfrm>
            <a:off x="607219" y="3570089"/>
            <a:ext cx="3743325" cy="214313"/>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00D9FF"/>
                </a:solidFill>
              </a:rPr>
              <a:t>Traffic Light Status</a:t>
            </a:r>
            <a:endParaRPr lang="en-US" sz="1090" dirty="0"/>
          </a:p>
        </p:txBody>
      </p:sp>
      <p:sp>
        <p:nvSpPr>
          <p:cNvPr id="29" name="Text 25"/>
          <p:cNvSpPr/>
          <p:nvPr/>
        </p:nvSpPr>
        <p:spPr>
          <a:xfrm>
            <a:off x="607219" y="3841552"/>
            <a:ext cx="3743325" cy="171450"/>
          </a:xfrm>
          <a:prstGeom prst="rect">
            <a:avLst/>
          </a:prstGeom>
          <a:noFill/>
          <a:ln/>
        </p:spPr>
        <p:txBody>
          <a:bodyPr wrap="none" lIns="0" tIns="0" rIns="0" bIns="0" rtlCol="0" anchor="t">
            <a:spAutoFit/>
          </a:bodyPr>
          <a:lstStyle/>
          <a:p>
            <a:pPr marL="0" indent="0" algn="l">
              <a:lnSpc>
                <a:spcPts val="1400"/>
              </a:lnSpc>
              <a:buNone/>
            </a:pPr>
            <a:r>
              <a:rPr lang="en-US" sz="834" dirty="0">
                <a:solidFill>
                  <a:srgbClr val="FFFFFF"/>
                </a:solidFill>
              </a:rPr>
              <a:t>Observing the status of a traffic light at a random moment.</a:t>
            </a:r>
            <a:endParaRPr lang="en-US" sz="834" dirty="0"/>
          </a:p>
        </p:txBody>
      </p:sp>
      <p:sp>
        <p:nvSpPr>
          <p:cNvPr id="30" name="Text 26"/>
          <p:cNvSpPr/>
          <p:nvPr/>
        </p:nvSpPr>
        <p:spPr>
          <a:xfrm>
            <a:off x="607219" y="4055864"/>
            <a:ext cx="3743325" cy="171450"/>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FFD93D"/>
                </a:solidFill>
              </a:rPr>
              <a:t>Events:</a:t>
            </a:r>
            <a:r>
              <a:rPr lang="en-US" sz="834" dirty="0">
                <a:solidFill>
                  <a:srgbClr val="FFFFFF"/>
                </a:solidFill>
              </a:rPr>
              <a:t> R: Red; G: Green; Y: Yellow.</a:t>
            </a:r>
            <a:endParaRPr lang="en-US" sz="784" dirty="0"/>
          </a:p>
        </p:txBody>
      </p:sp>
      <p:sp>
        <p:nvSpPr>
          <p:cNvPr id="31" name="Text 27"/>
          <p:cNvSpPr/>
          <p:nvPr/>
        </p:nvSpPr>
        <p:spPr>
          <a:xfrm>
            <a:off x="607219" y="4277320"/>
            <a:ext cx="2179262" cy="15537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00D9FF"/>
                </a:solidFill>
              </a:rPr>
              <a:t>Suppose: P(R) = 0.5, P(G) = 0.4, P(Y) = 0.1</a:t>
            </a:r>
            <a:endParaRPr lang="en-US" sz="784" dirty="0"/>
          </a:p>
        </p:txBody>
      </p:sp>
      <p:sp>
        <p:nvSpPr>
          <p:cNvPr id="32" name="Text 28"/>
          <p:cNvSpPr/>
          <p:nvPr/>
        </p:nvSpPr>
        <p:spPr>
          <a:xfrm>
            <a:off x="607219" y="4448770"/>
            <a:ext cx="1867784" cy="15537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00D9FF"/>
                </a:solidFill>
              </a:rPr>
              <a:t>P(R ∪ G ∪ Y) = 0.5 + 0.4 + 0.1 = 1.0</a:t>
            </a:r>
            <a:endParaRPr lang="en-US" sz="784" dirty="0"/>
          </a:p>
        </p:txBody>
      </p:sp>
      <p:sp>
        <p:nvSpPr>
          <p:cNvPr id="33" name="Shape 29"/>
          <p:cNvSpPr/>
          <p:nvPr/>
        </p:nvSpPr>
        <p:spPr>
          <a:xfrm>
            <a:off x="607219" y="4641652"/>
            <a:ext cx="3743325" cy="357188"/>
          </a:xfrm>
          <a:prstGeom prst="rect">
            <a:avLst/>
          </a:prstGeom>
          <a:solidFill>
            <a:srgbClr val="FFD73D">
              <a:alpha val="10000"/>
            </a:srgbClr>
          </a:solidFill>
          <a:ln/>
        </p:spPr>
        <p:txBody>
          <a:bodyPr/>
          <a:lstStyle/>
          <a:p>
            <a:endParaRPr lang="en-US"/>
          </a:p>
        </p:txBody>
      </p:sp>
      <p:sp>
        <p:nvSpPr>
          <p:cNvPr id="34" name="Shape 30"/>
          <p:cNvSpPr/>
          <p:nvPr/>
        </p:nvSpPr>
        <p:spPr>
          <a:xfrm>
            <a:off x="607219" y="4641652"/>
            <a:ext cx="21431" cy="357188"/>
          </a:xfrm>
          <a:prstGeom prst="rect">
            <a:avLst/>
          </a:prstGeom>
          <a:solidFill>
            <a:srgbClr val="FFD93D"/>
          </a:solidFill>
          <a:ln/>
        </p:spPr>
        <p:txBody>
          <a:bodyPr/>
          <a:lstStyle/>
          <a:p>
            <a:endParaRPr lang="en-US"/>
          </a:p>
        </p:txBody>
      </p:sp>
      <p:sp>
        <p:nvSpPr>
          <p:cNvPr id="35" name="Text 31"/>
          <p:cNvSpPr/>
          <p:nvPr/>
        </p:nvSpPr>
        <p:spPr>
          <a:xfrm>
            <a:off x="692944" y="4698802"/>
            <a:ext cx="3571875" cy="300038"/>
          </a:xfrm>
          <a:prstGeom prst="rect">
            <a:avLst/>
          </a:prstGeom>
          <a:noFill/>
          <a:ln/>
        </p:spPr>
        <p:txBody>
          <a:bodyPr wrap="square" lIns="0" tIns="0" rIns="0" bIns="0" rtlCol="0" anchor="t">
            <a:spAutoFit/>
          </a:bodyPr>
          <a:lstStyle/>
          <a:p>
            <a:pPr marL="0" indent="0" algn="l">
              <a:lnSpc>
                <a:spcPts val="1200"/>
              </a:lnSpc>
              <a:buNone/>
            </a:pPr>
            <a:r>
              <a:rPr lang="en-US" sz="734" b="1" dirty="0">
                <a:solidFill>
                  <a:srgbClr val="FFFFFF"/>
                </a:solidFill>
              </a:rPr>
              <a:t>Why mutually exclusive?</a:t>
            </a:r>
            <a:r>
              <a:rPr lang="en-US" sz="780" dirty="0">
                <a:solidFill>
                  <a:srgbClr val="FFFFFF"/>
                </a:solidFill>
              </a:rPr>
              <a:t> The light can only display one color at any given time. These events form a </a:t>
            </a:r>
            <a:r>
              <a:rPr lang="en-US" sz="734" b="1" dirty="0">
                <a:solidFill>
                  <a:srgbClr val="FFD93D"/>
                </a:solidFill>
              </a:rPr>
              <a:t>partition</a:t>
            </a:r>
            <a:r>
              <a:rPr lang="en-US" sz="780" dirty="0">
                <a:solidFill>
                  <a:srgbClr val="FFFFFF"/>
                </a:solidFill>
              </a:rPr>
              <a:t> of the sample space.</a:t>
            </a:r>
            <a:endParaRPr lang="en-US" sz="734" dirty="0"/>
          </a:p>
        </p:txBody>
      </p:sp>
      <p:sp>
        <p:nvSpPr>
          <p:cNvPr id="36" name="Shape 32"/>
          <p:cNvSpPr/>
          <p:nvPr/>
        </p:nvSpPr>
        <p:spPr>
          <a:xfrm>
            <a:off x="4614863" y="3105745"/>
            <a:ext cx="4100513" cy="1893094"/>
          </a:xfrm>
          <a:prstGeom prst="rect">
            <a:avLst/>
          </a:prstGeom>
          <a:solidFill>
            <a:srgbClr val="FFFFFF">
              <a:alpha val="5000"/>
            </a:srgbClr>
          </a:solidFill>
          <a:ln/>
        </p:spPr>
        <p:txBody>
          <a:bodyPr/>
          <a:lstStyle/>
          <a:p>
            <a:endParaRPr lang="en-US"/>
          </a:p>
        </p:txBody>
      </p:sp>
      <p:sp>
        <p:nvSpPr>
          <p:cNvPr id="37" name="Text 33"/>
          <p:cNvSpPr/>
          <p:nvPr/>
        </p:nvSpPr>
        <p:spPr>
          <a:xfrm>
            <a:off x="4793456" y="3191470"/>
            <a:ext cx="3743325" cy="350044"/>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FF6B9D"/>
                </a:solidFill>
              </a:rPr>
              <a:t>04</a:t>
            </a:r>
            <a:endParaRPr lang="en-US" sz="1808" dirty="0"/>
          </a:p>
        </p:txBody>
      </p:sp>
      <p:sp>
        <p:nvSpPr>
          <p:cNvPr id="38" name="Text 34"/>
          <p:cNvSpPr/>
          <p:nvPr/>
        </p:nvSpPr>
        <p:spPr>
          <a:xfrm>
            <a:off x="4793456" y="3570089"/>
            <a:ext cx="3743325" cy="214313"/>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00D9FF"/>
                </a:solidFill>
              </a:rPr>
              <a:t>Student Grade Categories</a:t>
            </a:r>
            <a:endParaRPr lang="en-US" sz="1090" dirty="0"/>
          </a:p>
        </p:txBody>
      </p:sp>
      <p:sp>
        <p:nvSpPr>
          <p:cNvPr id="39" name="Text 35"/>
          <p:cNvSpPr/>
          <p:nvPr/>
        </p:nvSpPr>
        <p:spPr>
          <a:xfrm>
            <a:off x="4793456" y="3841552"/>
            <a:ext cx="3743325" cy="171450"/>
          </a:xfrm>
          <a:prstGeom prst="rect">
            <a:avLst/>
          </a:prstGeom>
          <a:noFill/>
          <a:ln/>
        </p:spPr>
        <p:txBody>
          <a:bodyPr wrap="none" lIns="0" tIns="0" rIns="0" bIns="0" rtlCol="0" anchor="t">
            <a:spAutoFit/>
          </a:bodyPr>
          <a:lstStyle/>
          <a:p>
            <a:pPr marL="0" indent="0" algn="l">
              <a:lnSpc>
                <a:spcPts val="1400"/>
              </a:lnSpc>
              <a:buNone/>
            </a:pPr>
            <a:r>
              <a:rPr lang="en-US" sz="834" dirty="0">
                <a:solidFill>
                  <a:srgbClr val="FFFFFF"/>
                </a:solidFill>
              </a:rPr>
              <a:t>A student receives one final grade in a course.</a:t>
            </a:r>
            <a:endParaRPr lang="en-US" sz="834" dirty="0"/>
          </a:p>
        </p:txBody>
      </p:sp>
      <p:sp>
        <p:nvSpPr>
          <p:cNvPr id="40" name="Text 36"/>
          <p:cNvSpPr/>
          <p:nvPr/>
        </p:nvSpPr>
        <p:spPr>
          <a:xfrm>
            <a:off x="4793456" y="4055864"/>
            <a:ext cx="3743325" cy="171450"/>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FFD93D"/>
                </a:solidFill>
              </a:rPr>
              <a:t>Events:</a:t>
            </a:r>
            <a:r>
              <a:rPr lang="en-US" sz="834" dirty="0">
                <a:solidFill>
                  <a:srgbClr val="FFFFFF"/>
                </a:solidFill>
              </a:rPr>
              <a:t> A: 90–100; B: 80–89; F: below 60.</a:t>
            </a:r>
            <a:endParaRPr lang="en-US" sz="784" dirty="0"/>
          </a:p>
        </p:txBody>
      </p:sp>
      <p:sp>
        <p:nvSpPr>
          <p:cNvPr id="41" name="Text 37"/>
          <p:cNvSpPr/>
          <p:nvPr/>
        </p:nvSpPr>
        <p:spPr>
          <a:xfrm>
            <a:off x="4793456" y="4277320"/>
            <a:ext cx="2366144" cy="15537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00D9FF"/>
                </a:solidFill>
              </a:rPr>
              <a:t>Suppose: P(A) = 0.25, P(B) = 0.35, P(F) = 0.05</a:t>
            </a:r>
            <a:endParaRPr lang="en-US" sz="784" dirty="0"/>
          </a:p>
        </p:txBody>
      </p:sp>
      <p:sp>
        <p:nvSpPr>
          <p:cNvPr id="42" name="Text 38"/>
          <p:cNvSpPr/>
          <p:nvPr/>
        </p:nvSpPr>
        <p:spPr>
          <a:xfrm>
            <a:off x="4793456" y="4448770"/>
            <a:ext cx="1517572" cy="15537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00D9FF"/>
                </a:solidFill>
              </a:rPr>
              <a:t>P(A ∪ F) = 0.25 + 0.05 = 0.30</a:t>
            </a:r>
            <a:endParaRPr lang="en-US" sz="784" dirty="0"/>
          </a:p>
        </p:txBody>
      </p:sp>
      <p:sp>
        <p:nvSpPr>
          <p:cNvPr id="43" name="Shape 39"/>
          <p:cNvSpPr/>
          <p:nvPr/>
        </p:nvSpPr>
        <p:spPr>
          <a:xfrm>
            <a:off x="4793456" y="4641652"/>
            <a:ext cx="3743325" cy="357188"/>
          </a:xfrm>
          <a:prstGeom prst="rect">
            <a:avLst/>
          </a:prstGeom>
          <a:solidFill>
            <a:srgbClr val="FFD73D">
              <a:alpha val="10000"/>
            </a:srgbClr>
          </a:solidFill>
          <a:ln/>
        </p:spPr>
        <p:txBody>
          <a:bodyPr/>
          <a:lstStyle/>
          <a:p>
            <a:endParaRPr lang="en-US"/>
          </a:p>
        </p:txBody>
      </p:sp>
      <p:sp>
        <p:nvSpPr>
          <p:cNvPr id="44" name="Shape 40"/>
          <p:cNvSpPr/>
          <p:nvPr/>
        </p:nvSpPr>
        <p:spPr>
          <a:xfrm>
            <a:off x="4793456" y="4641652"/>
            <a:ext cx="21431" cy="357188"/>
          </a:xfrm>
          <a:prstGeom prst="rect">
            <a:avLst/>
          </a:prstGeom>
          <a:solidFill>
            <a:srgbClr val="FFD93D"/>
          </a:solidFill>
          <a:ln/>
        </p:spPr>
        <p:txBody>
          <a:bodyPr/>
          <a:lstStyle/>
          <a:p>
            <a:endParaRPr lang="en-US"/>
          </a:p>
        </p:txBody>
      </p:sp>
      <p:sp>
        <p:nvSpPr>
          <p:cNvPr id="45" name="Text 41"/>
          <p:cNvSpPr/>
          <p:nvPr/>
        </p:nvSpPr>
        <p:spPr>
          <a:xfrm>
            <a:off x="4879181" y="4698802"/>
            <a:ext cx="3571875" cy="300038"/>
          </a:xfrm>
          <a:prstGeom prst="rect">
            <a:avLst/>
          </a:prstGeom>
          <a:noFill/>
          <a:ln/>
        </p:spPr>
        <p:txBody>
          <a:bodyPr wrap="square" lIns="0" tIns="0" rIns="0" bIns="0" rtlCol="0" anchor="t">
            <a:spAutoFit/>
          </a:bodyPr>
          <a:lstStyle/>
          <a:p>
            <a:pPr marL="0" indent="0" algn="l">
              <a:lnSpc>
                <a:spcPts val="1200"/>
              </a:lnSpc>
              <a:buNone/>
            </a:pPr>
            <a:r>
              <a:rPr lang="en-US" sz="734" b="1" dirty="0">
                <a:solidFill>
                  <a:srgbClr val="FFFFFF"/>
                </a:solidFill>
              </a:rPr>
              <a:t>Why mutually exclusive?</a:t>
            </a:r>
            <a:r>
              <a:rPr lang="en-US" sz="780" dirty="0">
                <a:solidFill>
                  <a:srgbClr val="FFFFFF"/>
                </a:solidFill>
              </a:rPr>
              <a:t> A student cannot receive multiple letter grades for the same course. Grade ranges do not overlap.</a:t>
            </a:r>
            <a:endParaRPr lang="en-US" sz="734"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0" y="357188"/>
            <a:ext cx="9144000" cy="466130"/>
          </a:xfrm>
          <a:prstGeom prst="rect">
            <a:avLst/>
          </a:prstGeom>
          <a:noFill/>
          <a:ln/>
        </p:spPr>
        <p:txBody>
          <a:bodyPr wrap="none" lIns="0" tIns="0" rIns="0" bIns="0" rtlCol="0" anchor="t">
            <a:spAutoFit/>
          </a:bodyPr>
          <a:lstStyle/>
          <a:p>
            <a:pPr marL="0" indent="0" algn="ctr">
              <a:lnSpc>
                <a:spcPts val="3200"/>
              </a:lnSpc>
              <a:buNone/>
            </a:pPr>
            <a:r>
              <a:rPr lang="en-US" sz="2436" b="1" dirty="0">
                <a:solidFill>
                  <a:srgbClr val="00D9FF"/>
                </a:solidFill>
              </a:rPr>
              <a:t>Exhaustive Events</a:t>
            </a:r>
            <a:endParaRPr lang="en-US" sz="2436" dirty="0"/>
          </a:p>
        </p:txBody>
      </p:sp>
      <p:sp>
        <p:nvSpPr>
          <p:cNvPr id="5" name="Shape 1"/>
          <p:cNvSpPr/>
          <p:nvPr/>
        </p:nvSpPr>
        <p:spPr>
          <a:xfrm>
            <a:off x="357188" y="966192"/>
            <a:ext cx="4107656" cy="857250"/>
          </a:xfrm>
          <a:prstGeom prst="rect">
            <a:avLst/>
          </a:prstGeom>
          <a:solidFill>
            <a:srgbClr val="00D9FF">
              <a:alpha val="10000"/>
            </a:srgbClr>
          </a:solidFill>
          <a:ln/>
        </p:spPr>
        <p:txBody>
          <a:bodyPr/>
          <a:lstStyle/>
          <a:p>
            <a:endParaRPr lang="en-US"/>
          </a:p>
        </p:txBody>
      </p:sp>
      <p:sp>
        <p:nvSpPr>
          <p:cNvPr id="6" name="Text 2"/>
          <p:cNvSpPr/>
          <p:nvPr/>
        </p:nvSpPr>
        <p:spPr>
          <a:xfrm>
            <a:off x="535781" y="1051917"/>
            <a:ext cx="3750469" cy="771525"/>
          </a:xfrm>
          <a:prstGeom prst="rect">
            <a:avLst/>
          </a:prstGeom>
          <a:noFill/>
          <a:ln/>
        </p:spPr>
        <p:txBody>
          <a:bodyPr wrap="square" lIns="0" tIns="0" rIns="0" bIns="0" rtlCol="0" anchor="t">
            <a:spAutoFit/>
          </a:bodyPr>
          <a:lstStyle/>
          <a:p>
            <a:pPr marL="0" indent="0" algn="l">
              <a:lnSpc>
                <a:spcPts val="1500"/>
              </a:lnSpc>
              <a:buNone/>
            </a:pPr>
            <a:r>
              <a:rPr lang="en-US" sz="942" dirty="0">
                <a:solidFill>
                  <a:srgbClr val="FFFFFF"/>
                </a:solidFill>
              </a:rPr>
              <a:t>A set of events is </a:t>
            </a:r>
            <a:r>
              <a:rPr lang="en-US" sz="885" b="1" dirty="0">
                <a:solidFill>
                  <a:srgbClr val="FFFFFF"/>
                </a:solidFill>
              </a:rPr>
              <a:t>exhaustive</a:t>
            </a:r>
            <a:r>
              <a:rPr lang="en-US" sz="942" dirty="0">
                <a:solidFill>
                  <a:srgbClr val="FFFFFF"/>
                </a:solidFill>
              </a:rPr>
              <a:t> (or </a:t>
            </a:r>
            <a:r>
              <a:rPr lang="en-US" sz="885" b="1" dirty="0">
                <a:solidFill>
                  <a:srgbClr val="FFFFFF"/>
                </a:solidFill>
              </a:rPr>
              <a:t>collectively exhaustive</a:t>
            </a:r>
            <a:r>
              <a:rPr lang="en-US" sz="942" dirty="0">
                <a:solidFill>
                  <a:srgbClr val="FFFFFF"/>
                </a:solidFill>
              </a:rPr>
              <a:t>) if their union equals the sample space. This means that at least one of the events must occur when the experiment is performed.</a:t>
            </a:r>
            <a:endParaRPr lang="en-US" sz="942" dirty="0"/>
          </a:p>
        </p:txBody>
      </p:sp>
      <p:sp>
        <p:nvSpPr>
          <p:cNvPr id="7" name="Shape 3"/>
          <p:cNvSpPr/>
          <p:nvPr/>
        </p:nvSpPr>
        <p:spPr>
          <a:xfrm>
            <a:off x="357188" y="1923455"/>
            <a:ext cx="4107656" cy="375047"/>
          </a:xfrm>
          <a:prstGeom prst="rect">
            <a:avLst/>
          </a:prstGeom>
          <a:solidFill>
            <a:srgbClr val="FFD73D">
              <a:alpha val="15000"/>
            </a:srgbClr>
          </a:solidFill>
          <a:ln/>
        </p:spPr>
        <p:txBody>
          <a:bodyPr/>
          <a:lstStyle/>
          <a:p>
            <a:endParaRPr lang="en-US"/>
          </a:p>
        </p:txBody>
      </p:sp>
      <p:sp>
        <p:nvSpPr>
          <p:cNvPr id="8" name="Text 4"/>
          <p:cNvSpPr/>
          <p:nvPr/>
        </p:nvSpPr>
        <p:spPr>
          <a:xfrm>
            <a:off x="535781" y="2009180"/>
            <a:ext cx="3750469" cy="289322"/>
          </a:xfrm>
          <a:prstGeom prst="rect">
            <a:avLst/>
          </a:prstGeom>
          <a:noFill/>
          <a:ln/>
        </p:spPr>
        <p:txBody>
          <a:bodyPr wrap="none" lIns="0" tIns="0" rIns="0" bIns="0" rtlCol="0" anchor="t">
            <a:spAutoFit/>
          </a:bodyPr>
          <a:lstStyle/>
          <a:p>
            <a:pPr marL="0" indent="0" algn="ctr">
              <a:lnSpc>
                <a:spcPts val="1900"/>
              </a:lnSpc>
              <a:buNone/>
            </a:pPr>
            <a:r>
              <a:rPr lang="en-US" sz="1397" b="1" dirty="0">
                <a:solidFill>
                  <a:srgbClr val="FFD93D"/>
                </a:solidFill>
              </a:rPr>
              <a:t>A₁ ∪ A₂ ∪ ... ∪ Aₙ = S</a:t>
            </a:r>
            <a:endParaRPr lang="en-US" sz="1397" dirty="0"/>
          </a:p>
        </p:txBody>
      </p:sp>
      <p:sp>
        <p:nvSpPr>
          <p:cNvPr id="9" name="Text 5"/>
          <p:cNvSpPr/>
          <p:nvPr/>
        </p:nvSpPr>
        <p:spPr>
          <a:xfrm>
            <a:off x="357188" y="2398514"/>
            <a:ext cx="4107656"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FFD93D"/>
                </a:solidFill>
              </a:rPr>
              <a:t>Key Properties</a:t>
            </a:r>
            <a:endParaRPr lang="en-US" sz="1193" dirty="0"/>
          </a:p>
        </p:txBody>
      </p:sp>
      <p:sp>
        <p:nvSpPr>
          <p:cNvPr id="10" name="Text 6"/>
          <p:cNvSpPr/>
          <p:nvPr/>
        </p:nvSpPr>
        <p:spPr>
          <a:xfrm>
            <a:off x="357188" y="2703909"/>
            <a:ext cx="4107656" cy="728663"/>
          </a:xfrm>
          <a:prstGeom prst="rect">
            <a:avLst/>
          </a:prstGeom>
          <a:noFill/>
          <a:ln/>
        </p:spPr>
        <p:txBody>
          <a:bodyPr wrap="square" lIns="0" tIns="0" rIns="0" bIns="0" rtlCol="0" anchor="t">
            <a:spAutoFit/>
          </a:bodyPr>
          <a:lstStyle/>
          <a:p>
            <a:pPr marL="0" indent="0" algn="l">
              <a:lnSpc>
                <a:spcPts val="1400"/>
              </a:lnSpc>
              <a:buNone/>
            </a:pPr>
            <a:r>
              <a:rPr lang="en-US" sz="834" b="1" dirty="0">
                <a:solidFill>
                  <a:srgbClr val="FF6B9D"/>
                </a:solidFill>
              </a:rPr>
              <a:t>Complete coverage:</a:t>
            </a:r>
            <a:r>
              <a:rPr lang="en-US" sz="888" dirty="0">
                <a:solidFill>
                  <a:srgbClr val="FFFFFF"/>
                </a:solidFill>
              </a:rPr>
              <a:t> every outcome belongs to at least one event; </a:t>
            </a:r>
            <a:r>
              <a:rPr lang="en-US" sz="834" b="1" dirty="0">
                <a:solidFill>
                  <a:srgbClr val="FF6B9D"/>
                </a:solidFill>
              </a:rPr>
              <a:t>Probability sum:</a:t>
            </a:r>
            <a:r>
              <a:rPr lang="en-US" sz="888" dirty="0">
                <a:solidFill>
                  <a:srgbClr val="FFFFFF"/>
                </a:solidFill>
              </a:rPr>
              <a:t> P(A₁ ∪ A₂ ∪ ... ∪ Aₙ) = 1; </a:t>
            </a:r>
            <a:r>
              <a:rPr lang="en-US" sz="834" b="1" dirty="0">
                <a:solidFill>
                  <a:srgbClr val="FF6B9D"/>
                </a:solidFill>
              </a:rPr>
              <a:t>Certainty:</a:t>
            </a:r>
            <a:r>
              <a:rPr lang="en-US" sz="888" dirty="0">
                <a:solidFill>
                  <a:srgbClr val="FFFFFF"/>
                </a:solidFill>
              </a:rPr>
              <a:t> at least one exhaustive event occurs; </a:t>
            </a:r>
            <a:r>
              <a:rPr lang="en-US" sz="834" b="1" dirty="0">
                <a:solidFill>
                  <a:srgbClr val="FF6B9D"/>
                </a:solidFill>
              </a:rPr>
              <a:t>Can overlap:</a:t>
            </a:r>
            <a:r>
              <a:rPr lang="en-US" sz="888" dirty="0">
                <a:solidFill>
                  <a:srgbClr val="FFFFFF"/>
                </a:solidFill>
              </a:rPr>
              <a:t> exhaustive events need not be mutually exclusive.</a:t>
            </a:r>
            <a:endParaRPr lang="en-US" sz="834" dirty="0"/>
          </a:p>
        </p:txBody>
      </p:sp>
      <p:sp>
        <p:nvSpPr>
          <p:cNvPr id="11" name="Shape 7"/>
          <p:cNvSpPr/>
          <p:nvPr/>
        </p:nvSpPr>
        <p:spPr>
          <a:xfrm>
            <a:off x="357188" y="3546872"/>
            <a:ext cx="4107656" cy="576858"/>
          </a:xfrm>
          <a:prstGeom prst="rect">
            <a:avLst/>
          </a:prstGeom>
          <a:solidFill>
            <a:srgbClr val="FF6B9D">
              <a:alpha val="10000"/>
            </a:srgbClr>
          </a:solidFill>
          <a:ln/>
        </p:spPr>
        <p:txBody>
          <a:bodyPr/>
          <a:lstStyle/>
          <a:p>
            <a:endParaRPr lang="en-US"/>
          </a:p>
        </p:txBody>
      </p:sp>
      <p:sp>
        <p:nvSpPr>
          <p:cNvPr id="12" name="Text 8"/>
          <p:cNvSpPr/>
          <p:nvPr/>
        </p:nvSpPr>
        <p:spPr>
          <a:xfrm>
            <a:off x="500063" y="3604022"/>
            <a:ext cx="3821906" cy="155377"/>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FF6B9D"/>
                </a:solidFill>
              </a:rPr>
              <a:t>Special Case: Partition</a:t>
            </a:r>
            <a:endParaRPr lang="en-US" sz="784" dirty="0"/>
          </a:p>
        </p:txBody>
      </p:sp>
      <p:sp>
        <p:nvSpPr>
          <p:cNvPr id="13" name="Text 9"/>
          <p:cNvSpPr/>
          <p:nvPr/>
        </p:nvSpPr>
        <p:spPr>
          <a:xfrm>
            <a:off x="500063" y="3802261"/>
            <a:ext cx="3821906" cy="321469"/>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FFFFFF"/>
                </a:solidFill>
              </a:rPr>
              <a:t>When events are both </a:t>
            </a:r>
            <a:r>
              <a:rPr lang="en-US" sz="734" b="1" dirty="0">
                <a:solidFill>
                  <a:srgbClr val="FFFFFF"/>
                </a:solidFill>
              </a:rPr>
              <a:t>mutually exclusive</a:t>
            </a:r>
            <a:r>
              <a:rPr lang="en-US" sz="780" dirty="0">
                <a:solidFill>
                  <a:srgbClr val="FFFFFF"/>
                </a:solidFill>
              </a:rPr>
              <a:t> AND </a:t>
            </a:r>
            <a:r>
              <a:rPr lang="en-US" sz="734" b="1" dirty="0">
                <a:solidFill>
                  <a:srgbClr val="FFFFFF"/>
                </a:solidFill>
              </a:rPr>
              <a:t>exhaustive</a:t>
            </a:r>
            <a:r>
              <a:rPr lang="en-US" sz="780" dirty="0">
                <a:solidFill>
                  <a:srgbClr val="FFFFFF"/>
                </a:solidFill>
              </a:rPr>
              <a:t>, they form a </a:t>
            </a:r>
            <a:r>
              <a:rPr lang="en-US" sz="734" b="1" dirty="0">
                <a:solidFill>
                  <a:srgbClr val="FFFFFF"/>
                </a:solidFill>
              </a:rPr>
              <a:t>partition</a:t>
            </a:r>
            <a:r>
              <a:rPr lang="en-US" sz="780" dirty="0">
                <a:solidFill>
                  <a:srgbClr val="FFFFFF"/>
                </a:solidFill>
              </a:rPr>
              <a:t> of the sample space.</a:t>
            </a:r>
            <a:endParaRPr lang="en-US" sz="780" dirty="0"/>
          </a:p>
        </p:txBody>
      </p:sp>
      <p:sp>
        <p:nvSpPr>
          <p:cNvPr id="14" name="Text 10"/>
          <p:cNvSpPr/>
          <p:nvPr/>
        </p:nvSpPr>
        <p:spPr>
          <a:xfrm>
            <a:off x="4679156" y="966192"/>
            <a:ext cx="4107656"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FFD93D"/>
                </a:solidFill>
              </a:rPr>
              <a:t>Examples</a:t>
            </a:r>
            <a:endParaRPr lang="en-US" sz="1193" dirty="0"/>
          </a:p>
        </p:txBody>
      </p:sp>
      <p:sp>
        <p:nvSpPr>
          <p:cNvPr id="15" name="Shape 11"/>
          <p:cNvSpPr/>
          <p:nvPr/>
        </p:nvSpPr>
        <p:spPr>
          <a:xfrm>
            <a:off x="4679156" y="1271588"/>
            <a:ext cx="4107656" cy="2852142"/>
          </a:xfrm>
          <a:prstGeom prst="rect">
            <a:avLst/>
          </a:prstGeom>
          <a:solidFill>
            <a:srgbClr val="FFFFFF">
              <a:alpha val="5000"/>
            </a:srgbClr>
          </a:solidFill>
          <a:ln/>
        </p:spPr>
        <p:txBody>
          <a:bodyPr/>
          <a:lstStyle/>
          <a:p>
            <a:endParaRPr lang="en-US"/>
          </a:p>
        </p:txBody>
      </p:sp>
      <p:sp>
        <p:nvSpPr>
          <p:cNvPr id="16" name="Text 12"/>
          <p:cNvSpPr/>
          <p:nvPr/>
        </p:nvSpPr>
        <p:spPr>
          <a:xfrm>
            <a:off x="4950619" y="1364456"/>
            <a:ext cx="549790" cy="15537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FFFFFF"/>
                </a:solidFill>
              </a:rPr>
              <a:t>Coin toss:</a:t>
            </a:r>
            <a:endParaRPr lang="en-US" sz="784" dirty="0"/>
          </a:p>
        </p:txBody>
      </p:sp>
      <p:sp>
        <p:nvSpPr>
          <p:cNvPr id="17" name="Text 13"/>
          <p:cNvSpPr/>
          <p:nvPr/>
        </p:nvSpPr>
        <p:spPr>
          <a:xfrm>
            <a:off x="5732868" y="1364456"/>
            <a:ext cx="3111326" cy="163122"/>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FFFFFF"/>
                </a:solidFill>
              </a:rPr>
              <a:t>A={H}, B={T}; A ∪ B = S; exhaustive and a partition; P(A ∪ B)=1.</a:t>
            </a:r>
            <a:endParaRPr lang="en-US" sz="834" dirty="0"/>
          </a:p>
        </p:txBody>
      </p:sp>
      <p:sp>
        <p:nvSpPr>
          <p:cNvPr id="18" name="Text 14"/>
          <p:cNvSpPr/>
          <p:nvPr/>
        </p:nvSpPr>
        <p:spPr>
          <a:xfrm>
            <a:off x="4950619" y="1750219"/>
            <a:ext cx="439369" cy="15537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FFFFFF"/>
                </a:solidFill>
              </a:rPr>
              <a:t>Die roll:</a:t>
            </a:r>
            <a:endParaRPr lang="en-US" sz="784" dirty="0"/>
          </a:p>
        </p:txBody>
      </p:sp>
      <p:sp>
        <p:nvSpPr>
          <p:cNvPr id="19" name="Text 15"/>
          <p:cNvSpPr/>
          <p:nvPr/>
        </p:nvSpPr>
        <p:spPr>
          <a:xfrm>
            <a:off x="5732868" y="1728588"/>
            <a:ext cx="3111326" cy="342466"/>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FFFFFF"/>
                </a:solidFill>
              </a:rPr>
              <a:t>A ≤ 3, B ≥ 4; A ∪ B = {1..6} = S; exhaustive and mutually exclusive; </a:t>
            </a:r>
          </a:p>
          <a:p>
            <a:pPr marL="0" indent="0" algn="l">
              <a:lnSpc>
                <a:spcPts val="1400"/>
              </a:lnSpc>
              <a:buNone/>
            </a:pPr>
            <a:r>
              <a:rPr lang="en-US" sz="834" dirty="0">
                <a:solidFill>
                  <a:srgbClr val="FFFFFF"/>
                </a:solidFill>
              </a:rPr>
              <a:t>P(A)+P(B)=1.</a:t>
            </a:r>
            <a:endParaRPr lang="en-US" sz="834" dirty="0"/>
          </a:p>
        </p:txBody>
      </p:sp>
      <p:sp>
        <p:nvSpPr>
          <p:cNvPr id="20" name="Text 16"/>
          <p:cNvSpPr/>
          <p:nvPr/>
        </p:nvSpPr>
        <p:spPr>
          <a:xfrm>
            <a:off x="4950619" y="2135981"/>
            <a:ext cx="599294" cy="15537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FFFFFF"/>
                </a:solidFill>
              </a:rPr>
              <a:t>Card suits:</a:t>
            </a:r>
            <a:endParaRPr lang="en-US" sz="784" dirty="0"/>
          </a:p>
        </p:txBody>
      </p:sp>
      <p:sp>
        <p:nvSpPr>
          <p:cNvPr id="21" name="Text 17"/>
          <p:cNvSpPr/>
          <p:nvPr/>
        </p:nvSpPr>
        <p:spPr>
          <a:xfrm>
            <a:off x="5732868" y="2126653"/>
            <a:ext cx="2977506" cy="342466"/>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FFFFFF"/>
                </a:solidFill>
              </a:rPr>
              <a:t>Spades, Hearts, Diamonds, Clubs cover S; exhaustive and mutually </a:t>
            </a:r>
          </a:p>
          <a:p>
            <a:pPr marL="0" indent="0" algn="l">
              <a:lnSpc>
                <a:spcPts val="1400"/>
              </a:lnSpc>
              <a:buNone/>
            </a:pPr>
            <a:r>
              <a:rPr lang="en-US" sz="834" dirty="0">
                <a:solidFill>
                  <a:srgbClr val="FFFFFF"/>
                </a:solidFill>
              </a:rPr>
              <a:t>exclusive; sum of probabilities = 1.</a:t>
            </a:r>
            <a:endParaRPr lang="en-US" sz="834" dirty="0"/>
          </a:p>
        </p:txBody>
      </p:sp>
      <p:sp>
        <p:nvSpPr>
          <p:cNvPr id="22" name="Text 18"/>
          <p:cNvSpPr/>
          <p:nvPr/>
        </p:nvSpPr>
        <p:spPr>
          <a:xfrm>
            <a:off x="4950619" y="2521744"/>
            <a:ext cx="1020831" cy="15537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FFFFFF"/>
                </a:solidFill>
              </a:rPr>
              <a:t>Overlapping case:</a:t>
            </a:r>
            <a:endParaRPr lang="en-US" sz="784" dirty="0"/>
          </a:p>
        </p:txBody>
      </p:sp>
      <p:sp>
        <p:nvSpPr>
          <p:cNvPr id="23" name="Text 19"/>
          <p:cNvSpPr/>
          <p:nvPr/>
        </p:nvSpPr>
        <p:spPr>
          <a:xfrm>
            <a:off x="5732868" y="2534899"/>
            <a:ext cx="2917519" cy="342466"/>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FFFFFF"/>
                </a:solidFill>
              </a:rPr>
              <a:t>A={2,4,6}, B={3,4,5,6} → not exhaustive (missing 1); add C={1} to make exhaustive.</a:t>
            </a:r>
            <a:endParaRPr lang="en-US" sz="834"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0" y="357188"/>
            <a:ext cx="9144000" cy="466130"/>
          </a:xfrm>
          <a:prstGeom prst="rect">
            <a:avLst/>
          </a:prstGeom>
          <a:noFill/>
          <a:ln/>
        </p:spPr>
        <p:txBody>
          <a:bodyPr wrap="none" lIns="0" tIns="0" rIns="0" bIns="0" rtlCol="0" anchor="t">
            <a:spAutoFit/>
          </a:bodyPr>
          <a:lstStyle/>
          <a:p>
            <a:pPr marL="0" indent="0" algn="ctr">
              <a:lnSpc>
                <a:spcPts val="3200"/>
              </a:lnSpc>
              <a:buNone/>
            </a:pPr>
            <a:r>
              <a:rPr lang="en-US" sz="2436" b="1" dirty="0">
                <a:solidFill>
                  <a:srgbClr val="00D9FF"/>
                </a:solidFill>
              </a:rPr>
              <a:t>Exhaustive Events: Examples</a:t>
            </a:r>
            <a:endParaRPr lang="en-US" sz="2436" dirty="0"/>
          </a:p>
        </p:txBody>
      </p:sp>
      <p:sp>
        <p:nvSpPr>
          <p:cNvPr id="5" name="Text 1"/>
          <p:cNvSpPr/>
          <p:nvPr/>
        </p:nvSpPr>
        <p:spPr>
          <a:xfrm>
            <a:off x="0" y="880467"/>
            <a:ext cx="9144000" cy="175022"/>
          </a:xfrm>
          <a:prstGeom prst="rect">
            <a:avLst/>
          </a:prstGeom>
          <a:noFill/>
          <a:ln/>
        </p:spPr>
        <p:txBody>
          <a:bodyPr wrap="none" lIns="0" tIns="0" rIns="0" bIns="0" rtlCol="0" anchor="t">
            <a:spAutoFit/>
          </a:bodyPr>
          <a:lstStyle/>
          <a:p>
            <a:pPr marL="0" indent="0" algn="ctr">
              <a:lnSpc>
                <a:spcPts val="1200"/>
              </a:lnSpc>
              <a:buNone/>
            </a:pPr>
            <a:r>
              <a:rPr lang="en-US" sz="942" dirty="0">
                <a:solidFill>
                  <a:srgbClr val="FFD93D"/>
                </a:solidFill>
              </a:rPr>
              <a:t>Practical Examples Including Partitions</a:t>
            </a:r>
            <a:endParaRPr lang="en-US" sz="942" dirty="0"/>
          </a:p>
        </p:txBody>
      </p:sp>
      <p:sp>
        <p:nvSpPr>
          <p:cNvPr id="6" name="Shape 2"/>
          <p:cNvSpPr/>
          <p:nvPr/>
        </p:nvSpPr>
        <p:spPr>
          <a:xfrm>
            <a:off x="428625" y="1141214"/>
            <a:ext cx="4100513" cy="1880694"/>
          </a:xfrm>
          <a:prstGeom prst="rect">
            <a:avLst/>
          </a:prstGeom>
          <a:solidFill>
            <a:srgbClr val="FFFFFF">
              <a:alpha val="5000"/>
            </a:srgbClr>
          </a:solidFill>
          <a:ln/>
        </p:spPr>
        <p:txBody>
          <a:bodyPr/>
          <a:lstStyle/>
          <a:p>
            <a:endParaRPr lang="en-US"/>
          </a:p>
        </p:txBody>
      </p:sp>
      <p:sp>
        <p:nvSpPr>
          <p:cNvPr id="7" name="Text 3"/>
          <p:cNvSpPr/>
          <p:nvPr/>
        </p:nvSpPr>
        <p:spPr>
          <a:xfrm>
            <a:off x="607219" y="1198364"/>
            <a:ext cx="3743325" cy="350044"/>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FFD93D"/>
                </a:solidFill>
              </a:rPr>
              <a:t>01</a:t>
            </a:r>
            <a:endParaRPr lang="en-US" sz="1808" dirty="0"/>
          </a:p>
        </p:txBody>
      </p:sp>
      <p:sp>
        <p:nvSpPr>
          <p:cNvPr id="8" name="Text 4"/>
          <p:cNvSpPr/>
          <p:nvPr/>
        </p:nvSpPr>
        <p:spPr>
          <a:xfrm>
            <a:off x="960834" y="1253943"/>
            <a:ext cx="3743325" cy="214313"/>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00D9FF"/>
                </a:solidFill>
              </a:rPr>
              <a:t>Rolling a Die: Odd vs. Even</a:t>
            </a:r>
            <a:endParaRPr lang="en-US" sz="1090" dirty="0"/>
          </a:p>
        </p:txBody>
      </p:sp>
      <p:sp>
        <p:nvSpPr>
          <p:cNvPr id="9" name="Text 5"/>
          <p:cNvSpPr/>
          <p:nvPr/>
        </p:nvSpPr>
        <p:spPr>
          <a:xfrm>
            <a:off x="607219" y="1575395"/>
            <a:ext cx="3743325" cy="165729"/>
          </a:xfrm>
          <a:prstGeom prst="rect">
            <a:avLst/>
          </a:prstGeom>
          <a:noFill/>
          <a:ln/>
        </p:spPr>
        <p:txBody>
          <a:bodyPr wrap="none" lIns="0" tIns="0" rIns="0" bIns="0" rtlCol="0" anchor="t">
            <a:spAutoFit/>
          </a:bodyPr>
          <a:lstStyle/>
          <a:p>
            <a:pPr marL="0" indent="0" algn="l">
              <a:lnSpc>
                <a:spcPts val="1300"/>
              </a:lnSpc>
              <a:buNone/>
            </a:pPr>
            <a:r>
              <a:rPr lang="en-US" sz="834" dirty="0">
                <a:solidFill>
                  <a:srgbClr val="FFFFFF"/>
                </a:solidFill>
              </a:rPr>
              <a:t>Consider rolling a standard six-sided die.</a:t>
            </a:r>
            <a:endParaRPr lang="en-US" sz="834" dirty="0"/>
          </a:p>
        </p:txBody>
      </p:sp>
      <p:sp>
        <p:nvSpPr>
          <p:cNvPr id="10" name="Text 6"/>
          <p:cNvSpPr/>
          <p:nvPr/>
        </p:nvSpPr>
        <p:spPr>
          <a:xfrm>
            <a:off x="607219" y="1776843"/>
            <a:ext cx="3743325" cy="155377"/>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FFD93D"/>
                </a:solidFill>
              </a:rPr>
              <a:t>Events:</a:t>
            </a:r>
            <a:endParaRPr lang="en-US" sz="784" dirty="0"/>
          </a:p>
        </p:txBody>
      </p:sp>
      <p:sp>
        <p:nvSpPr>
          <p:cNvPr id="11" name="Text 7"/>
          <p:cNvSpPr/>
          <p:nvPr/>
        </p:nvSpPr>
        <p:spPr>
          <a:xfrm>
            <a:off x="607219" y="1946508"/>
            <a:ext cx="3743325" cy="165729"/>
          </a:xfrm>
          <a:prstGeom prst="rect">
            <a:avLst/>
          </a:prstGeom>
          <a:noFill/>
          <a:ln/>
        </p:spPr>
        <p:txBody>
          <a:bodyPr wrap="none" lIns="0" tIns="0" rIns="0" bIns="0" rtlCol="0" anchor="t">
            <a:spAutoFit/>
          </a:bodyPr>
          <a:lstStyle/>
          <a:p>
            <a:pPr marL="0" indent="0" algn="l">
              <a:lnSpc>
                <a:spcPts val="1300"/>
              </a:lnSpc>
              <a:buNone/>
            </a:pPr>
            <a:r>
              <a:rPr lang="en-US" sz="834" dirty="0">
                <a:solidFill>
                  <a:srgbClr val="FFFFFF"/>
                </a:solidFill>
              </a:rPr>
              <a:t>Event A: Odd numbers {1, 3, 5}; Event B: Even numbers {2, 4, 6}</a:t>
            </a:r>
            <a:endParaRPr lang="en-US" sz="834" dirty="0"/>
          </a:p>
        </p:txBody>
      </p:sp>
      <p:sp>
        <p:nvSpPr>
          <p:cNvPr id="12" name="Text 8"/>
          <p:cNvSpPr/>
          <p:nvPr/>
        </p:nvSpPr>
        <p:spPr>
          <a:xfrm>
            <a:off x="607219" y="2115809"/>
            <a:ext cx="1428080" cy="155377"/>
          </a:xfrm>
          <a:prstGeom prst="rect">
            <a:avLst/>
          </a:prstGeom>
          <a:noFill/>
          <a:ln/>
        </p:spPr>
        <p:txBody>
          <a:bodyPr wrap="none" lIns="0" tIns="0" rIns="0" bIns="0" rtlCol="0" anchor="t">
            <a:spAutoFit/>
          </a:bodyPr>
          <a:lstStyle/>
          <a:p>
            <a:pPr marL="0" indent="0" algn="l">
              <a:lnSpc>
                <a:spcPts val="1300"/>
              </a:lnSpc>
              <a:buNone/>
            </a:pPr>
            <a:r>
              <a:rPr lang="en-US" sz="784" b="1" dirty="0">
                <a:solidFill>
                  <a:srgbClr val="00D9FF"/>
                </a:solidFill>
              </a:rPr>
              <a:t>A ∪ B = {1, 2, 3, 4, 5, 6} = S</a:t>
            </a:r>
            <a:endParaRPr lang="en-US" sz="784" dirty="0"/>
          </a:p>
        </p:txBody>
      </p:sp>
      <p:sp>
        <p:nvSpPr>
          <p:cNvPr id="13" name="Text 9"/>
          <p:cNvSpPr/>
          <p:nvPr/>
        </p:nvSpPr>
        <p:spPr>
          <a:xfrm>
            <a:off x="607219" y="2281538"/>
            <a:ext cx="1708110" cy="155377"/>
          </a:xfrm>
          <a:prstGeom prst="rect">
            <a:avLst/>
          </a:prstGeom>
          <a:noFill/>
          <a:ln/>
        </p:spPr>
        <p:txBody>
          <a:bodyPr wrap="none" lIns="0" tIns="0" rIns="0" bIns="0" rtlCol="0" anchor="t">
            <a:spAutoFit/>
          </a:bodyPr>
          <a:lstStyle/>
          <a:p>
            <a:pPr marL="0" indent="0" algn="l">
              <a:lnSpc>
                <a:spcPts val="1300"/>
              </a:lnSpc>
              <a:buNone/>
            </a:pPr>
            <a:r>
              <a:rPr lang="en-US" sz="784" b="1" dirty="0">
                <a:solidFill>
                  <a:srgbClr val="00D9FF"/>
                </a:solidFill>
              </a:rPr>
              <a:t>P(A) = 3/6 = 1/2; P(B) = 3/6 = 1/2</a:t>
            </a:r>
            <a:endParaRPr lang="en-US" sz="784" dirty="0"/>
          </a:p>
        </p:txBody>
      </p:sp>
      <p:sp>
        <p:nvSpPr>
          <p:cNvPr id="14" name="Shape 10"/>
          <p:cNvSpPr/>
          <p:nvPr/>
        </p:nvSpPr>
        <p:spPr>
          <a:xfrm>
            <a:off x="607219" y="2486558"/>
            <a:ext cx="3743325" cy="321469"/>
          </a:xfrm>
          <a:prstGeom prst="rect">
            <a:avLst/>
          </a:prstGeom>
          <a:solidFill>
            <a:srgbClr val="00D9FF">
              <a:alpha val="10000"/>
            </a:srgbClr>
          </a:solidFill>
          <a:ln/>
        </p:spPr>
        <p:txBody>
          <a:bodyPr/>
          <a:lstStyle/>
          <a:p>
            <a:endParaRPr lang="en-US"/>
          </a:p>
        </p:txBody>
      </p:sp>
      <p:sp>
        <p:nvSpPr>
          <p:cNvPr id="15" name="Text 11"/>
          <p:cNvSpPr/>
          <p:nvPr/>
        </p:nvSpPr>
        <p:spPr>
          <a:xfrm>
            <a:off x="692944" y="2529421"/>
            <a:ext cx="3571875" cy="278606"/>
          </a:xfrm>
          <a:prstGeom prst="rect">
            <a:avLst/>
          </a:prstGeom>
          <a:noFill/>
          <a:ln/>
        </p:spPr>
        <p:txBody>
          <a:bodyPr wrap="square" lIns="0" tIns="0" rIns="0" bIns="0" rtlCol="0" anchor="t">
            <a:spAutoFit/>
          </a:bodyPr>
          <a:lstStyle/>
          <a:p>
            <a:pPr marL="0" indent="0" algn="l">
              <a:lnSpc>
                <a:spcPts val="1100"/>
              </a:lnSpc>
              <a:buNone/>
            </a:pPr>
            <a:r>
              <a:rPr lang="en-US" sz="734" b="1" dirty="0">
                <a:solidFill>
                  <a:srgbClr val="FFFFFF"/>
                </a:solidFill>
              </a:rPr>
              <a:t>Exhaustive:</a:t>
            </a:r>
            <a:r>
              <a:rPr lang="en-US" sz="780" dirty="0">
                <a:solidFill>
                  <a:srgbClr val="FFFFFF"/>
                </a:solidFill>
              </a:rPr>
              <a:t> Covers all outcomes; </a:t>
            </a:r>
            <a:r>
              <a:rPr lang="en-US" sz="734" b="1" dirty="0">
                <a:solidFill>
                  <a:srgbClr val="FFFFFF"/>
                </a:solidFill>
              </a:rPr>
              <a:t>Mutually Exclusive:</a:t>
            </a:r>
            <a:r>
              <a:rPr lang="en-US" sz="780" dirty="0">
                <a:solidFill>
                  <a:srgbClr val="FFFFFF"/>
                </a:solidFill>
              </a:rPr>
              <a:t> A ∩ B = ∅; </a:t>
            </a:r>
            <a:r>
              <a:rPr lang="en-US" sz="734" b="1" dirty="0">
                <a:solidFill>
                  <a:srgbClr val="FFFFFF"/>
                </a:solidFill>
              </a:rPr>
              <a:t>Result:</a:t>
            </a:r>
            <a:r>
              <a:rPr lang="en-US" sz="734" b="1" dirty="0">
                <a:solidFill>
                  <a:srgbClr val="FFD93D"/>
                </a:solidFill>
              </a:rPr>
              <a:t>Forms a partition</a:t>
            </a:r>
            <a:endParaRPr lang="en-US" sz="734" dirty="0"/>
          </a:p>
        </p:txBody>
      </p:sp>
      <p:sp>
        <p:nvSpPr>
          <p:cNvPr id="16" name="Shape 12"/>
          <p:cNvSpPr/>
          <p:nvPr/>
        </p:nvSpPr>
        <p:spPr>
          <a:xfrm>
            <a:off x="4614863" y="1141214"/>
            <a:ext cx="4100513" cy="1880694"/>
          </a:xfrm>
          <a:prstGeom prst="rect">
            <a:avLst/>
          </a:prstGeom>
          <a:solidFill>
            <a:srgbClr val="FFFFFF">
              <a:alpha val="5000"/>
            </a:srgbClr>
          </a:solidFill>
          <a:ln/>
        </p:spPr>
        <p:txBody>
          <a:bodyPr/>
          <a:lstStyle/>
          <a:p>
            <a:endParaRPr lang="en-US"/>
          </a:p>
        </p:txBody>
      </p:sp>
      <p:sp>
        <p:nvSpPr>
          <p:cNvPr id="17" name="Text 13"/>
          <p:cNvSpPr/>
          <p:nvPr/>
        </p:nvSpPr>
        <p:spPr>
          <a:xfrm>
            <a:off x="4793456" y="1198364"/>
            <a:ext cx="3743325" cy="350044"/>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FFD93D"/>
                </a:solidFill>
              </a:rPr>
              <a:t>02</a:t>
            </a:r>
            <a:endParaRPr lang="en-US" sz="1808" dirty="0"/>
          </a:p>
        </p:txBody>
      </p:sp>
      <p:sp>
        <p:nvSpPr>
          <p:cNvPr id="18" name="Text 14"/>
          <p:cNvSpPr/>
          <p:nvPr/>
        </p:nvSpPr>
        <p:spPr>
          <a:xfrm>
            <a:off x="5142702" y="1254934"/>
            <a:ext cx="3743325" cy="214313"/>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00D9FF"/>
                </a:solidFill>
              </a:rPr>
              <a:t>Card Deck: Color Classification</a:t>
            </a:r>
            <a:endParaRPr lang="en-US" sz="1090" dirty="0"/>
          </a:p>
        </p:txBody>
      </p:sp>
      <p:sp>
        <p:nvSpPr>
          <p:cNvPr id="19" name="Text 15"/>
          <p:cNvSpPr/>
          <p:nvPr/>
        </p:nvSpPr>
        <p:spPr>
          <a:xfrm>
            <a:off x="4793456" y="1562695"/>
            <a:ext cx="3743325" cy="165729"/>
          </a:xfrm>
          <a:prstGeom prst="rect">
            <a:avLst/>
          </a:prstGeom>
          <a:noFill/>
          <a:ln/>
        </p:spPr>
        <p:txBody>
          <a:bodyPr wrap="none" lIns="0" tIns="0" rIns="0" bIns="0" rtlCol="0" anchor="t">
            <a:spAutoFit/>
          </a:bodyPr>
          <a:lstStyle/>
          <a:p>
            <a:pPr marL="0" indent="0" algn="l">
              <a:lnSpc>
                <a:spcPts val="1300"/>
              </a:lnSpc>
              <a:buNone/>
            </a:pPr>
            <a:r>
              <a:rPr lang="en-US" sz="834" dirty="0">
                <a:solidFill>
                  <a:srgbClr val="FFFFFF"/>
                </a:solidFill>
              </a:rPr>
              <a:t>Drawing one card from a standard 52-card deck.</a:t>
            </a:r>
            <a:endParaRPr lang="en-US" sz="834" dirty="0"/>
          </a:p>
        </p:txBody>
      </p:sp>
      <p:sp>
        <p:nvSpPr>
          <p:cNvPr id="20" name="Text 16"/>
          <p:cNvSpPr/>
          <p:nvPr/>
        </p:nvSpPr>
        <p:spPr>
          <a:xfrm>
            <a:off x="4793456" y="1764143"/>
            <a:ext cx="3743325" cy="155377"/>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FFD93D"/>
                </a:solidFill>
              </a:rPr>
              <a:t>Events:</a:t>
            </a:r>
            <a:endParaRPr lang="en-US" sz="784" dirty="0"/>
          </a:p>
        </p:txBody>
      </p:sp>
      <p:sp>
        <p:nvSpPr>
          <p:cNvPr id="21" name="Text 17"/>
          <p:cNvSpPr/>
          <p:nvPr/>
        </p:nvSpPr>
        <p:spPr>
          <a:xfrm>
            <a:off x="4793456" y="1933808"/>
            <a:ext cx="3743325" cy="331459"/>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FFFFFF"/>
                </a:solidFill>
              </a:rPr>
              <a:t>Event R: Red cards (Hearts, Diamonds); Event B: Black cards (Spades, Clubs)</a:t>
            </a:r>
            <a:endParaRPr lang="en-US" sz="834" dirty="0"/>
          </a:p>
        </p:txBody>
      </p:sp>
      <p:sp>
        <p:nvSpPr>
          <p:cNvPr id="22" name="Text 18"/>
          <p:cNvSpPr/>
          <p:nvPr/>
        </p:nvSpPr>
        <p:spPr>
          <a:xfrm>
            <a:off x="4793456" y="2167238"/>
            <a:ext cx="1268406" cy="155377"/>
          </a:xfrm>
          <a:prstGeom prst="rect">
            <a:avLst/>
          </a:prstGeom>
          <a:noFill/>
          <a:ln/>
        </p:spPr>
        <p:txBody>
          <a:bodyPr wrap="none" lIns="0" tIns="0" rIns="0" bIns="0" rtlCol="0" anchor="t">
            <a:spAutoFit/>
          </a:bodyPr>
          <a:lstStyle/>
          <a:p>
            <a:pPr marL="0" indent="0" algn="l">
              <a:lnSpc>
                <a:spcPts val="1300"/>
              </a:lnSpc>
              <a:buNone/>
            </a:pPr>
            <a:r>
              <a:rPr lang="en-US" sz="784" b="1" dirty="0">
                <a:solidFill>
                  <a:srgbClr val="00D9FF"/>
                </a:solidFill>
              </a:rPr>
              <a:t>R ∪ B = All 52 cards = S</a:t>
            </a:r>
            <a:endParaRPr lang="en-US" sz="784" dirty="0"/>
          </a:p>
        </p:txBody>
      </p:sp>
      <p:sp>
        <p:nvSpPr>
          <p:cNvPr id="23" name="Text 19"/>
          <p:cNvSpPr/>
          <p:nvPr/>
        </p:nvSpPr>
        <p:spPr>
          <a:xfrm>
            <a:off x="4793456" y="2326618"/>
            <a:ext cx="1966764" cy="155377"/>
          </a:xfrm>
          <a:prstGeom prst="rect">
            <a:avLst/>
          </a:prstGeom>
          <a:noFill/>
          <a:ln/>
        </p:spPr>
        <p:txBody>
          <a:bodyPr wrap="none" lIns="0" tIns="0" rIns="0" bIns="0" rtlCol="0" anchor="t">
            <a:spAutoFit/>
          </a:bodyPr>
          <a:lstStyle/>
          <a:p>
            <a:pPr marL="0" indent="0" algn="l">
              <a:lnSpc>
                <a:spcPts val="1300"/>
              </a:lnSpc>
              <a:buNone/>
            </a:pPr>
            <a:r>
              <a:rPr lang="en-US" sz="784" b="1" dirty="0">
                <a:solidFill>
                  <a:srgbClr val="00D9FF"/>
                </a:solidFill>
              </a:rPr>
              <a:t>P(R) = 26/52 = 1/2; P(B) = 26/52 = 1/2</a:t>
            </a:r>
            <a:endParaRPr lang="en-US" sz="784" dirty="0"/>
          </a:p>
        </p:txBody>
      </p:sp>
      <p:sp>
        <p:nvSpPr>
          <p:cNvPr id="24" name="Shape 20"/>
          <p:cNvSpPr/>
          <p:nvPr/>
        </p:nvSpPr>
        <p:spPr>
          <a:xfrm>
            <a:off x="4793456" y="2531638"/>
            <a:ext cx="3743325" cy="321469"/>
          </a:xfrm>
          <a:prstGeom prst="rect">
            <a:avLst/>
          </a:prstGeom>
          <a:solidFill>
            <a:srgbClr val="00D9FF">
              <a:alpha val="10000"/>
            </a:srgbClr>
          </a:solidFill>
          <a:ln/>
        </p:spPr>
        <p:txBody>
          <a:bodyPr/>
          <a:lstStyle/>
          <a:p>
            <a:endParaRPr lang="en-US"/>
          </a:p>
        </p:txBody>
      </p:sp>
      <p:sp>
        <p:nvSpPr>
          <p:cNvPr id="25" name="Text 21"/>
          <p:cNvSpPr/>
          <p:nvPr/>
        </p:nvSpPr>
        <p:spPr>
          <a:xfrm>
            <a:off x="4879181" y="2574500"/>
            <a:ext cx="3571875" cy="278606"/>
          </a:xfrm>
          <a:prstGeom prst="rect">
            <a:avLst/>
          </a:prstGeom>
          <a:noFill/>
          <a:ln/>
        </p:spPr>
        <p:txBody>
          <a:bodyPr wrap="square" lIns="0" tIns="0" rIns="0" bIns="0" rtlCol="0" anchor="t">
            <a:spAutoFit/>
          </a:bodyPr>
          <a:lstStyle/>
          <a:p>
            <a:pPr marL="0" indent="0" algn="l">
              <a:lnSpc>
                <a:spcPts val="1100"/>
              </a:lnSpc>
              <a:buNone/>
            </a:pPr>
            <a:r>
              <a:rPr lang="en-US" sz="734" b="1" dirty="0">
                <a:solidFill>
                  <a:srgbClr val="FFFFFF"/>
                </a:solidFill>
              </a:rPr>
              <a:t>Exhaustive:</a:t>
            </a:r>
            <a:r>
              <a:rPr lang="en-US" sz="780" dirty="0">
                <a:solidFill>
                  <a:srgbClr val="FFFFFF"/>
                </a:solidFill>
              </a:rPr>
              <a:t> Every card is either red or black; </a:t>
            </a:r>
            <a:r>
              <a:rPr lang="en-US" sz="734" b="1" dirty="0">
                <a:solidFill>
                  <a:srgbClr val="FFFFFF"/>
                </a:solidFill>
              </a:rPr>
              <a:t>Mutually Exclusive:</a:t>
            </a:r>
            <a:r>
              <a:rPr lang="en-US" sz="780" dirty="0">
                <a:solidFill>
                  <a:srgbClr val="FFFFFF"/>
                </a:solidFill>
              </a:rPr>
              <a:t> No card is both; </a:t>
            </a:r>
            <a:r>
              <a:rPr lang="en-US" sz="734" b="1" dirty="0">
                <a:solidFill>
                  <a:srgbClr val="FFFFFF"/>
                </a:solidFill>
              </a:rPr>
              <a:t>Result:</a:t>
            </a:r>
            <a:r>
              <a:rPr lang="en-US" sz="734" b="1" dirty="0">
                <a:solidFill>
                  <a:srgbClr val="FFD93D"/>
                </a:solidFill>
              </a:rPr>
              <a:t>Forms a partition</a:t>
            </a:r>
            <a:endParaRPr lang="en-US" sz="734" dirty="0"/>
          </a:p>
        </p:txBody>
      </p:sp>
      <p:sp>
        <p:nvSpPr>
          <p:cNvPr id="26" name="Shape 22"/>
          <p:cNvSpPr/>
          <p:nvPr/>
        </p:nvSpPr>
        <p:spPr>
          <a:xfrm>
            <a:off x="428625" y="3091231"/>
            <a:ext cx="4100513" cy="1760169"/>
          </a:xfrm>
          <a:prstGeom prst="rect">
            <a:avLst/>
          </a:prstGeom>
          <a:solidFill>
            <a:srgbClr val="FFFFFF">
              <a:alpha val="5000"/>
            </a:srgbClr>
          </a:solidFill>
          <a:ln/>
        </p:spPr>
        <p:txBody>
          <a:bodyPr/>
          <a:lstStyle/>
          <a:p>
            <a:endParaRPr lang="en-US"/>
          </a:p>
        </p:txBody>
      </p:sp>
      <p:sp>
        <p:nvSpPr>
          <p:cNvPr id="27" name="Text 23"/>
          <p:cNvSpPr/>
          <p:nvPr/>
        </p:nvSpPr>
        <p:spPr>
          <a:xfrm>
            <a:off x="607219" y="3148381"/>
            <a:ext cx="3743325" cy="350044"/>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FFD93D"/>
                </a:solidFill>
              </a:rPr>
              <a:t>03</a:t>
            </a:r>
            <a:endParaRPr lang="en-US" sz="1808" dirty="0"/>
          </a:p>
        </p:txBody>
      </p:sp>
      <p:sp>
        <p:nvSpPr>
          <p:cNvPr id="28" name="Text 24"/>
          <p:cNvSpPr/>
          <p:nvPr/>
        </p:nvSpPr>
        <p:spPr>
          <a:xfrm>
            <a:off x="960834" y="3204148"/>
            <a:ext cx="3743325" cy="214313"/>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00D9FF"/>
                </a:solidFill>
              </a:rPr>
              <a:t>Age Groups in Population</a:t>
            </a:r>
            <a:endParaRPr lang="en-US" sz="1090" dirty="0"/>
          </a:p>
        </p:txBody>
      </p:sp>
      <p:sp>
        <p:nvSpPr>
          <p:cNvPr id="29" name="Text 25"/>
          <p:cNvSpPr/>
          <p:nvPr/>
        </p:nvSpPr>
        <p:spPr>
          <a:xfrm>
            <a:off x="607219" y="3480963"/>
            <a:ext cx="3743325" cy="165729"/>
          </a:xfrm>
          <a:prstGeom prst="rect">
            <a:avLst/>
          </a:prstGeom>
          <a:noFill/>
          <a:ln/>
        </p:spPr>
        <p:txBody>
          <a:bodyPr wrap="none" lIns="0" tIns="0" rIns="0" bIns="0" rtlCol="0" anchor="t">
            <a:spAutoFit/>
          </a:bodyPr>
          <a:lstStyle/>
          <a:p>
            <a:pPr marL="0" indent="0" algn="l">
              <a:lnSpc>
                <a:spcPts val="1300"/>
              </a:lnSpc>
              <a:buNone/>
            </a:pPr>
            <a:r>
              <a:rPr lang="en-US" sz="834" dirty="0">
                <a:solidFill>
                  <a:srgbClr val="FFFFFF"/>
                </a:solidFill>
              </a:rPr>
              <a:t>Randomly selecting a person from a population.</a:t>
            </a:r>
            <a:endParaRPr lang="en-US" sz="834" dirty="0"/>
          </a:p>
        </p:txBody>
      </p:sp>
      <p:sp>
        <p:nvSpPr>
          <p:cNvPr id="30" name="Text 26"/>
          <p:cNvSpPr/>
          <p:nvPr/>
        </p:nvSpPr>
        <p:spPr>
          <a:xfrm>
            <a:off x="607219" y="3682411"/>
            <a:ext cx="3743325" cy="155377"/>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FFD93D"/>
                </a:solidFill>
              </a:rPr>
              <a:t>Events:</a:t>
            </a:r>
            <a:endParaRPr lang="en-US" sz="784" dirty="0"/>
          </a:p>
        </p:txBody>
      </p:sp>
      <p:sp>
        <p:nvSpPr>
          <p:cNvPr id="31" name="Text 27"/>
          <p:cNvSpPr/>
          <p:nvPr/>
        </p:nvSpPr>
        <p:spPr>
          <a:xfrm>
            <a:off x="607219" y="3852075"/>
            <a:ext cx="3743325" cy="165729"/>
          </a:xfrm>
          <a:prstGeom prst="rect">
            <a:avLst/>
          </a:prstGeom>
          <a:noFill/>
          <a:ln/>
        </p:spPr>
        <p:txBody>
          <a:bodyPr wrap="none" lIns="0" tIns="0" rIns="0" bIns="0" rtlCol="0" anchor="t">
            <a:spAutoFit/>
          </a:bodyPr>
          <a:lstStyle/>
          <a:p>
            <a:pPr marL="0" indent="0" algn="l">
              <a:lnSpc>
                <a:spcPts val="1300"/>
              </a:lnSpc>
              <a:buNone/>
            </a:pPr>
            <a:r>
              <a:rPr lang="en-US" sz="834" dirty="0">
                <a:solidFill>
                  <a:srgbClr val="FFFFFF"/>
                </a:solidFill>
              </a:rPr>
              <a:t>C: Child (0–17); A: Adult (18–64); S: Senior (65+)</a:t>
            </a:r>
            <a:endParaRPr lang="en-US" sz="834" dirty="0"/>
          </a:p>
        </p:txBody>
      </p:sp>
      <p:sp>
        <p:nvSpPr>
          <p:cNvPr id="32" name="Text 28"/>
          <p:cNvSpPr/>
          <p:nvPr/>
        </p:nvSpPr>
        <p:spPr>
          <a:xfrm>
            <a:off x="607219" y="4021376"/>
            <a:ext cx="1841943" cy="155377"/>
          </a:xfrm>
          <a:prstGeom prst="rect">
            <a:avLst/>
          </a:prstGeom>
          <a:noFill/>
          <a:ln/>
        </p:spPr>
        <p:txBody>
          <a:bodyPr wrap="none" lIns="0" tIns="0" rIns="0" bIns="0" rtlCol="0" anchor="t">
            <a:spAutoFit/>
          </a:bodyPr>
          <a:lstStyle/>
          <a:p>
            <a:pPr marL="0" indent="0" algn="l">
              <a:lnSpc>
                <a:spcPts val="1300"/>
              </a:lnSpc>
              <a:buNone/>
            </a:pPr>
            <a:r>
              <a:rPr lang="en-US" sz="784" b="1" dirty="0">
                <a:solidFill>
                  <a:srgbClr val="00D9FF"/>
                </a:solidFill>
              </a:rPr>
              <a:t>C ∪ A ∪ S = Entire population = S</a:t>
            </a:r>
            <a:endParaRPr lang="en-US" sz="784" dirty="0"/>
          </a:p>
        </p:txBody>
      </p:sp>
      <p:sp>
        <p:nvSpPr>
          <p:cNvPr id="33" name="Text 29"/>
          <p:cNvSpPr/>
          <p:nvPr/>
        </p:nvSpPr>
        <p:spPr>
          <a:xfrm>
            <a:off x="607219" y="4187106"/>
            <a:ext cx="1828354" cy="155377"/>
          </a:xfrm>
          <a:prstGeom prst="rect">
            <a:avLst/>
          </a:prstGeom>
          <a:noFill/>
          <a:ln/>
        </p:spPr>
        <p:txBody>
          <a:bodyPr wrap="none" lIns="0" tIns="0" rIns="0" bIns="0" rtlCol="0" anchor="t">
            <a:spAutoFit/>
          </a:bodyPr>
          <a:lstStyle/>
          <a:p>
            <a:pPr marL="0" indent="0" algn="l">
              <a:lnSpc>
                <a:spcPts val="1300"/>
              </a:lnSpc>
              <a:buNone/>
            </a:pPr>
            <a:r>
              <a:rPr lang="en-US" sz="784" b="1" dirty="0">
                <a:solidFill>
                  <a:srgbClr val="00D9FF"/>
                </a:solidFill>
              </a:rPr>
              <a:t>P(C) = 0.22; P(A) = 0.63; P(S) = 0.15</a:t>
            </a:r>
            <a:endParaRPr lang="en-US" sz="784" dirty="0"/>
          </a:p>
        </p:txBody>
      </p:sp>
      <p:sp>
        <p:nvSpPr>
          <p:cNvPr id="34" name="Shape 30"/>
          <p:cNvSpPr/>
          <p:nvPr/>
        </p:nvSpPr>
        <p:spPr>
          <a:xfrm>
            <a:off x="607219" y="4392126"/>
            <a:ext cx="3743325" cy="321469"/>
          </a:xfrm>
          <a:prstGeom prst="rect">
            <a:avLst/>
          </a:prstGeom>
          <a:solidFill>
            <a:srgbClr val="00D9FF">
              <a:alpha val="10000"/>
            </a:srgbClr>
          </a:solidFill>
          <a:ln/>
        </p:spPr>
        <p:txBody>
          <a:bodyPr/>
          <a:lstStyle/>
          <a:p>
            <a:endParaRPr lang="en-US"/>
          </a:p>
        </p:txBody>
      </p:sp>
      <p:sp>
        <p:nvSpPr>
          <p:cNvPr id="35" name="Text 31"/>
          <p:cNvSpPr/>
          <p:nvPr/>
        </p:nvSpPr>
        <p:spPr>
          <a:xfrm>
            <a:off x="692944" y="4434988"/>
            <a:ext cx="3571875" cy="278606"/>
          </a:xfrm>
          <a:prstGeom prst="rect">
            <a:avLst/>
          </a:prstGeom>
          <a:noFill/>
          <a:ln/>
        </p:spPr>
        <p:txBody>
          <a:bodyPr wrap="square" lIns="0" tIns="0" rIns="0" bIns="0" rtlCol="0" anchor="t">
            <a:spAutoFit/>
          </a:bodyPr>
          <a:lstStyle/>
          <a:p>
            <a:pPr marL="0" indent="0" algn="l">
              <a:lnSpc>
                <a:spcPts val="1100"/>
              </a:lnSpc>
              <a:buNone/>
            </a:pPr>
            <a:r>
              <a:rPr lang="en-US" sz="734" b="1" dirty="0">
                <a:solidFill>
                  <a:srgbClr val="FFFFFF"/>
                </a:solidFill>
              </a:rPr>
              <a:t>Exhaustive:</a:t>
            </a:r>
            <a:r>
              <a:rPr lang="en-US" sz="780" dirty="0">
                <a:solidFill>
                  <a:srgbClr val="FFFFFF"/>
                </a:solidFill>
              </a:rPr>
              <a:t> Everyone falls into one category; </a:t>
            </a:r>
            <a:r>
              <a:rPr lang="en-US" sz="734" b="1" dirty="0">
                <a:solidFill>
                  <a:srgbClr val="FFFFFF"/>
                </a:solidFill>
              </a:rPr>
              <a:t>Mutually Exclusive:</a:t>
            </a:r>
            <a:r>
              <a:rPr lang="en-US" sz="780" dirty="0">
                <a:solidFill>
                  <a:srgbClr val="FFFFFF"/>
                </a:solidFill>
              </a:rPr>
              <a:t> Age ranges don't overlap; </a:t>
            </a:r>
            <a:r>
              <a:rPr lang="en-US" sz="734" b="1" dirty="0">
                <a:solidFill>
                  <a:srgbClr val="FFFFFF"/>
                </a:solidFill>
              </a:rPr>
              <a:t>Result:</a:t>
            </a:r>
            <a:r>
              <a:rPr lang="en-US" sz="734" b="1" dirty="0">
                <a:solidFill>
                  <a:srgbClr val="FFD93D"/>
                </a:solidFill>
              </a:rPr>
              <a:t>Forms a partition</a:t>
            </a:r>
            <a:endParaRPr lang="en-US" sz="734" dirty="0"/>
          </a:p>
        </p:txBody>
      </p:sp>
      <p:sp>
        <p:nvSpPr>
          <p:cNvPr id="36" name="Shape 32"/>
          <p:cNvSpPr/>
          <p:nvPr/>
        </p:nvSpPr>
        <p:spPr>
          <a:xfrm>
            <a:off x="4614863" y="3091231"/>
            <a:ext cx="4100513" cy="1760169"/>
          </a:xfrm>
          <a:prstGeom prst="rect">
            <a:avLst/>
          </a:prstGeom>
          <a:solidFill>
            <a:srgbClr val="FFFFFF">
              <a:alpha val="5000"/>
            </a:srgbClr>
          </a:solidFill>
          <a:ln/>
        </p:spPr>
        <p:txBody>
          <a:bodyPr/>
          <a:lstStyle/>
          <a:p>
            <a:endParaRPr lang="en-US"/>
          </a:p>
        </p:txBody>
      </p:sp>
      <p:sp>
        <p:nvSpPr>
          <p:cNvPr id="37" name="Text 33"/>
          <p:cNvSpPr/>
          <p:nvPr/>
        </p:nvSpPr>
        <p:spPr>
          <a:xfrm>
            <a:off x="4793456" y="3148381"/>
            <a:ext cx="3743325" cy="350044"/>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FFD93D"/>
                </a:solidFill>
              </a:rPr>
              <a:t>04</a:t>
            </a:r>
            <a:endParaRPr lang="en-US" sz="1808" dirty="0"/>
          </a:p>
        </p:txBody>
      </p:sp>
      <p:sp>
        <p:nvSpPr>
          <p:cNvPr id="38" name="Text 34"/>
          <p:cNvSpPr/>
          <p:nvPr/>
        </p:nvSpPr>
        <p:spPr>
          <a:xfrm>
            <a:off x="5142703" y="3216246"/>
            <a:ext cx="3743325" cy="214313"/>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00D9FF"/>
                </a:solidFill>
              </a:rPr>
              <a:t>Overlapping Exhaustive Events</a:t>
            </a:r>
            <a:endParaRPr lang="en-US" sz="1090" dirty="0"/>
          </a:p>
        </p:txBody>
      </p:sp>
      <p:sp>
        <p:nvSpPr>
          <p:cNvPr id="39" name="Text 35"/>
          <p:cNvSpPr/>
          <p:nvPr/>
        </p:nvSpPr>
        <p:spPr>
          <a:xfrm>
            <a:off x="4793456" y="3500013"/>
            <a:ext cx="3743325" cy="165729"/>
          </a:xfrm>
          <a:prstGeom prst="rect">
            <a:avLst/>
          </a:prstGeom>
          <a:noFill/>
          <a:ln/>
        </p:spPr>
        <p:txBody>
          <a:bodyPr wrap="none" lIns="0" tIns="0" rIns="0" bIns="0" rtlCol="0" anchor="t">
            <a:spAutoFit/>
          </a:bodyPr>
          <a:lstStyle/>
          <a:p>
            <a:pPr marL="0" indent="0" algn="l">
              <a:lnSpc>
                <a:spcPts val="1300"/>
              </a:lnSpc>
              <a:buNone/>
            </a:pPr>
            <a:r>
              <a:rPr lang="en-US" sz="834" dirty="0">
                <a:solidFill>
                  <a:srgbClr val="FFFFFF"/>
                </a:solidFill>
              </a:rPr>
              <a:t>Rolling a die with overlapping events.</a:t>
            </a:r>
            <a:endParaRPr lang="en-US" sz="834" dirty="0"/>
          </a:p>
        </p:txBody>
      </p:sp>
      <p:sp>
        <p:nvSpPr>
          <p:cNvPr id="40" name="Text 36"/>
          <p:cNvSpPr/>
          <p:nvPr/>
        </p:nvSpPr>
        <p:spPr>
          <a:xfrm>
            <a:off x="4793456" y="3701461"/>
            <a:ext cx="3743325" cy="155377"/>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FFD93D"/>
                </a:solidFill>
              </a:rPr>
              <a:t>Events:</a:t>
            </a:r>
            <a:endParaRPr lang="en-US" sz="784" dirty="0"/>
          </a:p>
        </p:txBody>
      </p:sp>
      <p:sp>
        <p:nvSpPr>
          <p:cNvPr id="41" name="Text 37"/>
          <p:cNvSpPr/>
          <p:nvPr/>
        </p:nvSpPr>
        <p:spPr>
          <a:xfrm>
            <a:off x="4793456" y="3871125"/>
            <a:ext cx="3743325" cy="165729"/>
          </a:xfrm>
          <a:prstGeom prst="rect">
            <a:avLst/>
          </a:prstGeom>
          <a:noFill/>
          <a:ln/>
        </p:spPr>
        <p:txBody>
          <a:bodyPr wrap="none" lIns="0" tIns="0" rIns="0" bIns="0" rtlCol="0" anchor="t">
            <a:spAutoFit/>
          </a:bodyPr>
          <a:lstStyle/>
          <a:p>
            <a:pPr marL="0" indent="0" algn="l">
              <a:lnSpc>
                <a:spcPts val="1300"/>
              </a:lnSpc>
              <a:buNone/>
            </a:pPr>
            <a:r>
              <a:rPr lang="en-US" sz="834" dirty="0">
                <a:solidFill>
                  <a:srgbClr val="FFFFFF"/>
                </a:solidFill>
              </a:rPr>
              <a:t>Event X: Numbers ≤ 4 {1, 2, 3, 4}; Event Y: Numbers ≥ 3 {3, 4, 5, 6}</a:t>
            </a:r>
            <a:endParaRPr lang="en-US" sz="834" dirty="0"/>
          </a:p>
        </p:txBody>
      </p:sp>
      <p:sp>
        <p:nvSpPr>
          <p:cNvPr id="42" name="Text 38"/>
          <p:cNvSpPr/>
          <p:nvPr/>
        </p:nvSpPr>
        <p:spPr>
          <a:xfrm>
            <a:off x="4793456" y="4040426"/>
            <a:ext cx="1417002" cy="155377"/>
          </a:xfrm>
          <a:prstGeom prst="rect">
            <a:avLst/>
          </a:prstGeom>
          <a:noFill/>
          <a:ln/>
        </p:spPr>
        <p:txBody>
          <a:bodyPr wrap="none" lIns="0" tIns="0" rIns="0" bIns="0" rtlCol="0" anchor="t">
            <a:spAutoFit/>
          </a:bodyPr>
          <a:lstStyle/>
          <a:p>
            <a:pPr marL="0" indent="0" algn="l">
              <a:lnSpc>
                <a:spcPts val="1300"/>
              </a:lnSpc>
              <a:buNone/>
            </a:pPr>
            <a:r>
              <a:rPr lang="en-US" sz="784" b="1" dirty="0">
                <a:solidFill>
                  <a:srgbClr val="00D9FF"/>
                </a:solidFill>
              </a:rPr>
              <a:t>X ∪ Y = {1, 2, 3, 4, 5, 6} = S</a:t>
            </a:r>
            <a:endParaRPr lang="en-US" sz="784" dirty="0"/>
          </a:p>
        </p:txBody>
      </p:sp>
      <p:sp>
        <p:nvSpPr>
          <p:cNvPr id="43" name="Text 39"/>
          <p:cNvSpPr/>
          <p:nvPr/>
        </p:nvSpPr>
        <p:spPr>
          <a:xfrm>
            <a:off x="4793456" y="4206156"/>
            <a:ext cx="2719090" cy="155377"/>
          </a:xfrm>
          <a:prstGeom prst="rect">
            <a:avLst/>
          </a:prstGeom>
          <a:noFill/>
          <a:ln/>
        </p:spPr>
        <p:txBody>
          <a:bodyPr wrap="none" lIns="0" tIns="0" rIns="0" bIns="0" rtlCol="0" anchor="t">
            <a:spAutoFit/>
          </a:bodyPr>
          <a:lstStyle/>
          <a:p>
            <a:pPr marL="0" indent="0" algn="l">
              <a:lnSpc>
                <a:spcPts val="1300"/>
              </a:lnSpc>
              <a:buNone/>
            </a:pPr>
            <a:r>
              <a:rPr lang="en-US" sz="784" b="1" dirty="0">
                <a:solidFill>
                  <a:srgbClr val="00D9FF"/>
                </a:solidFill>
              </a:rPr>
              <a:t>P(X) = 4/6 = 2/3; P(Y) = 4/6 = 2/3; X ∩ Y = {3, 4} ≠ ∅</a:t>
            </a:r>
            <a:endParaRPr lang="en-US" sz="784" dirty="0"/>
          </a:p>
        </p:txBody>
      </p:sp>
      <p:sp>
        <p:nvSpPr>
          <p:cNvPr id="44" name="Shape 40"/>
          <p:cNvSpPr/>
          <p:nvPr/>
        </p:nvSpPr>
        <p:spPr>
          <a:xfrm>
            <a:off x="4793456" y="4411176"/>
            <a:ext cx="3743325" cy="321469"/>
          </a:xfrm>
          <a:prstGeom prst="rect">
            <a:avLst/>
          </a:prstGeom>
          <a:solidFill>
            <a:srgbClr val="00D9FF">
              <a:alpha val="10000"/>
            </a:srgbClr>
          </a:solidFill>
          <a:ln/>
        </p:spPr>
        <p:txBody>
          <a:bodyPr/>
          <a:lstStyle/>
          <a:p>
            <a:endParaRPr lang="en-US"/>
          </a:p>
        </p:txBody>
      </p:sp>
      <p:sp>
        <p:nvSpPr>
          <p:cNvPr id="45" name="Text 41"/>
          <p:cNvSpPr/>
          <p:nvPr/>
        </p:nvSpPr>
        <p:spPr>
          <a:xfrm>
            <a:off x="4879181" y="4454038"/>
            <a:ext cx="3571875" cy="278606"/>
          </a:xfrm>
          <a:prstGeom prst="rect">
            <a:avLst/>
          </a:prstGeom>
          <a:noFill/>
          <a:ln/>
        </p:spPr>
        <p:txBody>
          <a:bodyPr wrap="square" lIns="0" tIns="0" rIns="0" bIns="0" rtlCol="0" anchor="t">
            <a:spAutoFit/>
          </a:bodyPr>
          <a:lstStyle/>
          <a:p>
            <a:pPr marL="0" indent="0" algn="l">
              <a:lnSpc>
                <a:spcPts val="1100"/>
              </a:lnSpc>
              <a:buNone/>
            </a:pPr>
            <a:r>
              <a:rPr lang="en-US" sz="734" b="1" dirty="0">
                <a:solidFill>
                  <a:srgbClr val="FFFFFF"/>
                </a:solidFill>
              </a:rPr>
              <a:t>Exhaustive:</a:t>
            </a:r>
            <a:r>
              <a:rPr lang="en-US" sz="780" dirty="0">
                <a:solidFill>
                  <a:srgbClr val="FFFFFF"/>
                </a:solidFill>
              </a:rPr>
              <a:t> Covers all outcomes; </a:t>
            </a:r>
            <a:r>
              <a:rPr lang="en-US" sz="734" b="1" dirty="0">
                <a:solidFill>
                  <a:srgbClr val="FFFFFF"/>
                </a:solidFill>
              </a:rPr>
              <a:t>NOT Mutually Exclusive:</a:t>
            </a:r>
            <a:r>
              <a:rPr lang="en-US" sz="780" dirty="0">
                <a:solidFill>
                  <a:srgbClr val="FFFFFF"/>
                </a:solidFill>
              </a:rPr>
              <a:t> Events overlap at {3, 4}; </a:t>
            </a:r>
            <a:r>
              <a:rPr lang="en-US" sz="734" b="1" dirty="0">
                <a:solidFill>
                  <a:srgbClr val="FFFFFF"/>
                </a:solidFill>
              </a:rPr>
              <a:t>Result:</a:t>
            </a:r>
            <a:r>
              <a:rPr lang="en-US" sz="734" b="1" dirty="0">
                <a:solidFill>
                  <a:srgbClr val="FFD93D"/>
                </a:solidFill>
              </a:rPr>
              <a:t>Exhaustive but NOT a partition</a:t>
            </a:r>
            <a:endParaRPr lang="en-US" sz="734"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0" y="357188"/>
            <a:ext cx="9144000" cy="466130"/>
          </a:xfrm>
          <a:prstGeom prst="rect">
            <a:avLst/>
          </a:prstGeom>
          <a:noFill/>
          <a:ln/>
        </p:spPr>
        <p:txBody>
          <a:bodyPr wrap="none" lIns="0" tIns="0" rIns="0" bIns="0" rtlCol="0" anchor="t">
            <a:spAutoFit/>
          </a:bodyPr>
          <a:lstStyle/>
          <a:p>
            <a:pPr marL="0" indent="0" algn="ctr">
              <a:lnSpc>
                <a:spcPts val="3200"/>
              </a:lnSpc>
              <a:buNone/>
            </a:pPr>
            <a:r>
              <a:rPr lang="en-US" sz="2436" b="1" dirty="0">
                <a:solidFill>
                  <a:srgbClr val="00D9FF"/>
                </a:solidFill>
              </a:rPr>
              <a:t>Independent Events</a:t>
            </a:r>
            <a:endParaRPr lang="en-US" sz="2436" dirty="0"/>
          </a:p>
        </p:txBody>
      </p:sp>
      <p:sp>
        <p:nvSpPr>
          <p:cNvPr id="5" name="Shape 1"/>
          <p:cNvSpPr/>
          <p:nvPr/>
        </p:nvSpPr>
        <p:spPr>
          <a:xfrm>
            <a:off x="500063" y="1073348"/>
            <a:ext cx="3893344" cy="831466"/>
          </a:xfrm>
          <a:prstGeom prst="rect">
            <a:avLst/>
          </a:prstGeom>
          <a:solidFill>
            <a:srgbClr val="00D9FF">
              <a:alpha val="10000"/>
            </a:srgbClr>
          </a:solidFill>
          <a:ln/>
        </p:spPr>
        <p:txBody>
          <a:bodyPr/>
          <a:lstStyle/>
          <a:p>
            <a:endParaRPr lang="en-US"/>
          </a:p>
        </p:txBody>
      </p:sp>
      <p:sp>
        <p:nvSpPr>
          <p:cNvPr id="6" name="Shape 2"/>
          <p:cNvSpPr/>
          <p:nvPr/>
        </p:nvSpPr>
        <p:spPr>
          <a:xfrm>
            <a:off x="500063" y="1073348"/>
            <a:ext cx="35719" cy="831466"/>
          </a:xfrm>
          <a:prstGeom prst="rect">
            <a:avLst/>
          </a:prstGeom>
          <a:solidFill>
            <a:srgbClr val="00D9FF"/>
          </a:solidFill>
          <a:ln/>
        </p:spPr>
        <p:txBody>
          <a:bodyPr/>
          <a:lstStyle/>
          <a:p>
            <a:endParaRPr lang="en-US"/>
          </a:p>
        </p:txBody>
      </p:sp>
      <p:sp>
        <p:nvSpPr>
          <p:cNvPr id="7" name="Text 3"/>
          <p:cNvSpPr/>
          <p:nvPr/>
        </p:nvSpPr>
        <p:spPr>
          <a:xfrm>
            <a:off x="678656" y="1159073"/>
            <a:ext cx="3536156" cy="745741"/>
          </a:xfrm>
          <a:prstGeom prst="rect">
            <a:avLst/>
          </a:prstGeom>
          <a:noFill/>
          <a:ln/>
        </p:spPr>
        <p:txBody>
          <a:bodyPr wrap="square" lIns="0" tIns="0" rIns="0" bIns="0" rtlCol="0" anchor="t">
            <a:spAutoFit/>
          </a:bodyPr>
          <a:lstStyle/>
          <a:p>
            <a:pPr marL="0" indent="0" algn="l">
              <a:lnSpc>
                <a:spcPts val="1500"/>
              </a:lnSpc>
              <a:buNone/>
            </a:pPr>
            <a:r>
              <a:rPr lang="en-US" sz="942" dirty="0">
                <a:solidFill>
                  <a:srgbClr val="FFFFFF"/>
                </a:solidFill>
              </a:rPr>
              <a:t>Two events A and B are </a:t>
            </a:r>
            <a:r>
              <a:rPr lang="en-US" sz="885" b="1" dirty="0">
                <a:solidFill>
                  <a:srgbClr val="FFFFFF"/>
                </a:solidFill>
              </a:rPr>
              <a:t>independent</a:t>
            </a:r>
            <a:r>
              <a:rPr lang="en-US" sz="942" dirty="0">
                <a:solidFill>
                  <a:srgbClr val="FFFFFF"/>
                </a:solidFill>
              </a:rPr>
              <a:t> if the occurrence of one event does not affect the probability of the other event occurring. Knowledge about one event provides no information about the other.</a:t>
            </a:r>
            <a:endParaRPr lang="en-US" sz="942" dirty="0"/>
          </a:p>
        </p:txBody>
      </p:sp>
      <p:sp>
        <p:nvSpPr>
          <p:cNvPr id="8" name="Shape 4"/>
          <p:cNvSpPr/>
          <p:nvPr/>
        </p:nvSpPr>
        <p:spPr>
          <a:xfrm>
            <a:off x="500063" y="2019114"/>
            <a:ext cx="3893344" cy="892969"/>
          </a:xfrm>
          <a:prstGeom prst="rect">
            <a:avLst/>
          </a:prstGeom>
          <a:solidFill>
            <a:srgbClr val="FF6B9D">
              <a:alpha val="15000"/>
            </a:srgbClr>
          </a:solidFill>
          <a:ln/>
        </p:spPr>
        <p:txBody>
          <a:bodyPr/>
          <a:lstStyle/>
          <a:p>
            <a:endParaRPr lang="en-US"/>
          </a:p>
        </p:txBody>
      </p:sp>
      <p:sp>
        <p:nvSpPr>
          <p:cNvPr id="9" name="Text 5"/>
          <p:cNvSpPr/>
          <p:nvPr/>
        </p:nvSpPr>
        <p:spPr>
          <a:xfrm>
            <a:off x="678656" y="2104839"/>
            <a:ext cx="3536156"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FF6B9D"/>
                </a:solidFill>
              </a:rPr>
              <a:t>Mathematical Conditions</a:t>
            </a:r>
            <a:endParaRPr lang="en-US" sz="987" dirty="0"/>
          </a:p>
        </p:txBody>
      </p:sp>
      <p:sp>
        <p:nvSpPr>
          <p:cNvPr id="10" name="Text 6"/>
          <p:cNvSpPr/>
          <p:nvPr/>
        </p:nvSpPr>
        <p:spPr>
          <a:xfrm>
            <a:off x="678656" y="2370944"/>
            <a:ext cx="3536156" cy="250031"/>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FF6B9D"/>
                </a:solidFill>
              </a:rPr>
              <a:t>P(A ∩ B) = P(A) × P(B)</a:t>
            </a:r>
            <a:endParaRPr lang="en-US" sz="1193" dirty="0"/>
          </a:p>
        </p:txBody>
      </p:sp>
      <p:sp>
        <p:nvSpPr>
          <p:cNvPr id="11" name="Text 7"/>
          <p:cNvSpPr/>
          <p:nvPr/>
        </p:nvSpPr>
        <p:spPr>
          <a:xfrm>
            <a:off x="678656" y="2678125"/>
            <a:ext cx="3536156"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FF6B9D"/>
                </a:solidFill>
              </a:rPr>
              <a:t>P(A|B) = P(A)</a:t>
            </a:r>
            <a:endParaRPr lang="en-US" sz="1193" dirty="0"/>
          </a:p>
        </p:txBody>
      </p:sp>
      <p:sp>
        <p:nvSpPr>
          <p:cNvPr id="12" name="Text 8"/>
          <p:cNvSpPr/>
          <p:nvPr/>
        </p:nvSpPr>
        <p:spPr>
          <a:xfrm>
            <a:off x="500063" y="3026383"/>
            <a:ext cx="3893344"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FFD93D"/>
                </a:solidFill>
              </a:rPr>
              <a:t>Key Properties</a:t>
            </a:r>
            <a:endParaRPr lang="en-US" sz="1193" dirty="0"/>
          </a:p>
        </p:txBody>
      </p:sp>
      <p:sp>
        <p:nvSpPr>
          <p:cNvPr id="13" name="Text 9"/>
          <p:cNvSpPr/>
          <p:nvPr/>
        </p:nvSpPr>
        <p:spPr>
          <a:xfrm>
            <a:off x="657225" y="3344280"/>
            <a:ext cx="670145" cy="166092"/>
          </a:xfrm>
          <a:prstGeom prst="rect">
            <a:avLst/>
          </a:prstGeom>
          <a:noFill/>
          <a:ln/>
        </p:spPr>
        <p:txBody>
          <a:bodyPr wrap="none" lIns="0" tIns="0" rIns="0" bIns="0" rtlCol="0" anchor="t">
            <a:spAutoFit/>
          </a:bodyPr>
          <a:lstStyle/>
          <a:p>
            <a:pPr marL="0" indent="0" algn="l">
              <a:lnSpc>
                <a:spcPts val="1500"/>
              </a:lnSpc>
              <a:buNone/>
            </a:pPr>
            <a:r>
              <a:rPr lang="en-US" sz="834" b="1" dirty="0">
                <a:solidFill>
                  <a:srgbClr val="FF6B9D"/>
                </a:solidFill>
              </a:rPr>
              <a:t>Symmetric:</a:t>
            </a:r>
            <a:endParaRPr lang="en-US" sz="834" dirty="0"/>
          </a:p>
        </p:txBody>
      </p:sp>
      <p:sp>
        <p:nvSpPr>
          <p:cNvPr id="14" name="Text 10"/>
          <p:cNvSpPr/>
          <p:nvPr/>
        </p:nvSpPr>
        <p:spPr>
          <a:xfrm>
            <a:off x="2232550" y="3336605"/>
            <a:ext cx="2360882" cy="174343"/>
          </a:xfrm>
          <a:prstGeom prst="rect">
            <a:avLst/>
          </a:prstGeom>
          <a:noFill/>
          <a:ln/>
        </p:spPr>
        <p:txBody>
          <a:bodyPr wrap="square" lIns="0" tIns="0" rIns="0" bIns="0" rtlCol="0" anchor="t">
            <a:spAutoFit/>
          </a:bodyPr>
          <a:lstStyle/>
          <a:p>
            <a:pPr marL="0" indent="0" algn="l">
              <a:lnSpc>
                <a:spcPts val="1500"/>
              </a:lnSpc>
              <a:buNone/>
            </a:pPr>
            <a:r>
              <a:rPr lang="en-US" sz="888" dirty="0">
                <a:solidFill>
                  <a:srgbClr val="FFFFFF"/>
                </a:solidFill>
              </a:rPr>
              <a:t>If A is independent of B, then B is independent of A</a:t>
            </a:r>
            <a:endParaRPr lang="en-US" sz="888" dirty="0"/>
          </a:p>
        </p:txBody>
      </p:sp>
      <p:sp>
        <p:nvSpPr>
          <p:cNvPr id="15" name="Text 11"/>
          <p:cNvSpPr/>
          <p:nvPr/>
        </p:nvSpPr>
        <p:spPr>
          <a:xfrm>
            <a:off x="657225" y="3595734"/>
            <a:ext cx="1126648" cy="166092"/>
          </a:xfrm>
          <a:prstGeom prst="rect">
            <a:avLst/>
          </a:prstGeom>
          <a:noFill/>
          <a:ln/>
        </p:spPr>
        <p:txBody>
          <a:bodyPr wrap="none" lIns="0" tIns="0" rIns="0" bIns="0" rtlCol="0" anchor="t">
            <a:spAutoFit/>
          </a:bodyPr>
          <a:lstStyle/>
          <a:p>
            <a:pPr marL="0" indent="0" algn="l">
              <a:lnSpc>
                <a:spcPts val="1500"/>
              </a:lnSpc>
              <a:buNone/>
            </a:pPr>
            <a:r>
              <a:rPr lang="en-US" sz="834" b="1" dirty="0">
                <a:solidFill>
                  <a:srgbClr val="FF6B9D"/>
                </a:solidFill>
              </a:rPr>
              <a:t>Multiplication rule:</a:t>
            </a:r>
            <a:endParaRPr lang="en-US" sz="834" dirty="0"/>
          </a:p>
        </p:txBody>
      </p:sp>
      <p:sp>
        <p:nvSpPr>
          <p:cNvPr id="16" name="Text 12"/>
          <p:cNvSpPr/>
          <p:nvPr/>
        </p:nvSpPr>
        <p:spPr>
          <a:xfrm>
            <a:off x="2232025" y="3607174"/>
            <a:ext cx="2509298" cy="166092"/>
          </a:xfrm>
          <a:prstGeom prst="rect">
            <a:avLst/>
          </a:prstGeom>
          <a:noFill/>
          <a:ln/>
        </p:spPr>
        <p:txBody>
          <a:bodyPr wrap="none" lIns="0" tIns="0" rIns="0" bIns="0" rtlCol="0" anchor="t">
            <a:spAutoFit/>
          </a:bodyPr>
          <a:lstStyle/>
          <a:p>
            <a:pPr marL="0" indent="0" algn="l">
              <a:lnSpc>
                <a:spcPts val="1500"/>
              </a:lnSpc>
              <a:buNone/>
            </a:pPr>
            <a:r>
              <a:rPr lang="en-US" sz="888" dirty="0">
                <a:solidFill>
                  <a:srgbClr val="FFFFFF"/>
                </a:solidFill>
              </a:rPr>
              <a:t>P(A ∩ B) = P(A) × P(B) simplifies calculations</a:t>
            </a:r>
            <a:endParaRPr lang="en-US" sz="888" dirty="0"/>
          </a:p>
        </p:txBody>
      </p:sp>
      <p:sp>
        <p:nvSpPr>
          <p:cNvPr id="17" name="Text 13"/>
          <p:cNvSpPr/>
          <p:nvPr/>
        </p:nvSpPr>
        <p:spPr>
          <a:xfrm>
            <a:off x="657225" y="3847188"/>
            <a:ext cx="1997041" cy="166092"/>
          </a:xfrm>
          <a:prstGeom prst="rect">
            <a:avLst/>
          </a:prstGeom>
          <a:noFill/>
          <a:ln/>
        </p:spPr>
        <p:txBody>
          <a:bodyPr wrap="none" lIns="0" tIns="0" rIns="0" bIns="0" rtlCol="0" anchor="t">
            <a:spAutoFit/>
          </a:bodyPr>
          <a:lstStyle/>
          <a:p>
            <a:pPr marL="0" indent="0" algn="l">
              <a:lnSpc>
                <a:spcPts val="1500"/>
              </a:lnSpc>
              <a:buNone/>
            </a:pPr>
            <a:r>
              <a:rPr lang="en-US" sz="834" b="1" dirty="0">
                <a:solidFill>
                  <a:srgbClr val="FF6B9D"/>
                </a:solidFill>
              </a:rPr>
              <a:t>Different from mutual exclusivity:</a:t>
            </a:r>
            <a:endParaRPr lang="en-US" sz="834" dirty="0"/>
          </a:p>
        </p:txBody>
      </p:sp>
      <p:sp>
        <p:nvSpPr>
          <p:cNvPr id="18" name="Text 14"/>
          <p:cNvSpPr/>
          <p:nvPr/>
        </p:nvSpPr>
        <p:spPr>
          <a:xfrm>
            <a:off x="2232025" y="3859773"/>
            <a:ext cx="3451464" cy="360397"/>
          </a:xfrm>
          <a:prstGeom prst="rect">
            <a:avLst/>
          </a:prstGeom>
          <a:noFill/>
          <a:ln/>
        </p:spPr>
        <p:txBody>
          <a:bodyPr wrap="square" lIns="0" tIns="0" rIns="0" bIns="0" rtlCol="0" anchor="t">
            <a:spAutoFit/>
          </a:bodyPr>
          <a:lstStyle/>
          <a:p>
            <a:pPr marL="0" indent="0" algn="l">
              <a:lnSpc>
                <a:spcPts val="1500"/>
              </a:lnSpc>
              <a:buNone/>
            </a:pPr>
            <a:r>
              <a:rPr lang="en-US" sz="888" dirty="0">
                <a:solidFill>
                  <a:srgbClr val="FFFFFF"/>
                </a:solidFill>
              </a:rPr>
              <a:t>Independent events CAN occur together</a:t>
            </a:r>
            <a:endParaRPr lang="en-US" sz="888" dirty="0"/>
          </a:p>
        </p:txBody>
      </p:sp>
      <p:sp>
        <p:nvSpPr>
          <p:cNvPr id="19" name="Shape 15"/>
          <p:cNvSpPr/>
          <p:nvPr/>
        </p:nvSpPr>
        <p:spPr>
          <a:xfrm>
            <a:off x="4750594" y="1073348"/>
            <a:ext cx="3893344" cy="735806"/>
          </a:xfrm>
          <a:prstGeom prst="rect">
            <a:avLst/>
          </a:prstGeom>
          <a:solidFill>
            <a:srgbClr val="FFD73D">
              <a:alpha val="10000"/>
            </a:srgbClr>
          </a:solidFill>
          <a:ln/>
        </p:spPr>
        <p:txBody>
          <a:bodyPr/>
          <a:lstStyle/>
          <a:p>
            <a:endParaRPr lang="en-US"/>
          </a:p>
        </p:txBody>
      </p:sp>
      <p:sp>
        <p:nvSpPr>
          <p:cNvPr id="20" name="Shape 16"/>
          <p:cNvSpPr/>
          <p:nvPr/>
        </p:nvSpPr>
        <p:spPr>
          <a:xfrm>
            <a:off x="4750594" y="1073348"/>
            <a:ext cx="35719" cy="735806"/>
          </a:xfrm>
          <a:prstGeom prst="rect">
            <a:avLst/>
          </a:prstGeom>
          <a:solidFill>
            <a:srgbClr val="FFD93D"/>
          </a:solidFill>
          <a:ln/>
        </p:spPr>
        <p:txBody>
          <a:bodyPr/>
          <a:lstStyle/>
          <a:p>
            <a:endParaRPr lang="en-US"/>
          </a:p>
        </p:txBody>
      </p:sp>
      <p:sp>
        <p:nvSpPr>
          <p:cNvPr id="21" name="Text 17"/>
          <p:cNvSpPr/>
          <p:nvPr/>
        </p:nvSpPr>
        <p:spPr>
          <a:xfrm>
            <a:off x="4929188" y="1159073"/>
            <a:ext cx="3536156" cy="214313"/>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FFD93D"/>
                </a:solidFill>
              </a:rPr>
              <a:t>Intuitive Understanding</a:t>
            </a:r>
            <a:endParaRPr lang="en-US" sz="1090" dirty="0"/>
          </a:p>
        </p:txBody>
      </p:sp>
      <p:sp>
        <p:nvSpPr>
          <p:cNvPr id="22" name="Text 18"/>
          <p:cNvSpPr/>
          <p:nvPr/>
        </p:nvSpPr>
        <p:spPr>
          <a:xfrm>
            <a:off x="4929188" y="1394023"/>
            <a:ext cx="3536156" cy="364331"/>
          </a:xfrm>
          <a:prstGeom prst="rect">
            <a:avLst/>
          </a:prstGeom>
          <a:noFill/>
          <a:ln/>
        </p:spPr>
        <p:txBody>
          <a:bodyPr wrap="square" lIns="0" tIns="0" rIns="0" bIns="0" rtlCol="0" anchor="t">
            <a:spAutoFit/>
          </a:bodyPr>
          <a:lstStyle/>
          <a:p>
            <a:pPr marL="0" indent="0" algn="l">
              <a:lnSpc>
                <a:spcPts val="1400"/>
              </a:lnSpc>
              <a:buNone/>
            </a:pPr>
            <a:r>
              <a:rPr lang="en-US" sz="888" dirty="0">
                <a:solidFill>
                  <a:srgbClr val="FFFFFF"/>
                </a:solidFill>
              </a:rPr>
              <a:t>Independence means one event does not change the chance of the other—e.g., a coin flip does not affect a die roll.</a:t>
            </a:r>
            <a:endParaRPr lang="en-US" sz="888" dirty="0"/>
          </a:p>
        </p:txBody>
      </p:sp>
      <p:sp>
        <p:nvSpPr>
          <p:cNvPr id="23" name="Text 19"/>
          <p:cNvSpPr/>
          <p:nvPr/>
        </p:nvSpPr>
        <p:spPr>
          <a:xfrm>
            <a:off x="4750594" y="1923455"/>
            <a:ext cx="3893344"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FFD93D"/>
                </a:solidFill>
              </a:rPr>
              <a:t>Examples</a:t>
            </a:r>
            <a:endParaRPr lang="en-US" sz="1193" dirty="0"/>
          </a:p>
        </p:txBody>
      </p:sp>
      <p:sp>
        <p:nvSpPr>
          <p:cNvPr id="24" name="Shape 20"/>
          <p:cNvSpPr/>
          <p:nvPr/>
        </p:nvSpPr>
        <p:spPr>
          <a:xfrm>
            <a:off x="4750594" y="2228850"/>
            <a:ext cx="3893344" cy="826889"/>
          </a:xfrm>
          <a:prstGeom prst="rect">
            <a:avLst/>
          </a:prstGeom>
          <a:solidFill>
            <a:srgbClr val="FFFFFF">
              <a:alpha val="5000"/>
            </a:srgbClr>
          </a:solidFill>
          <a:ln/>
        </p:spPr>
        <p:txBody>
          <a:bodyPr/>
          <a:lstStyle/>
          <a:p>
            <a:endParaRPr lang="en-US"/>
          </a:p>
        </p:txBody>
      </p:sp>
      <p:sp>
        <p:nvSpPr>
          <p:cNvPr id="25" name="Text 21"/>
          <p:cNvSpPr/>
          <p:nvPr/>
        </p:nvSpPr>
        <p:spPr>
          <a:xfrm>
            <a:off x="4907756" y="2300288"/>
            <a:ext cx="3579019" cy="183952"/>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00D9FF"/>
                </a:solidFill>
              </a:rPr>
              <a:t>Example 1: Two Coin Flips</a:t>
            </a:r>
            <a:endParaRPr lang="en-US" sz="936" dirty="0"/>
          </a:p>
        </p:txBody>
      </p:sp>
      <p:sp>
        <p:nvSpPr>
          <p:cNvPr id="26" name="Text 22"/>
          <p:cNvSpPr/>
          <p:nvPr/>
        </p:nvSpPr>
        <p:spPr>
          <a:xfrm>
            <a:off x="4907756" y="2484239"/>
            <a:ext cx="3579019" cy="514350"/>
          </a:xfrm>
          <a:prstGeom prst="rect">
            <a:avLst/>
          </a:prstGeom>
          <a:noFill/>
          <a:ln/>
        </p:spPr>
        <p:txBody>
          <a:bodyPr wrap="square" lIns="0" tIns="0" rIns="0" bIns="0" rtlCol="0" anchor="t">
            <a:spAutoFit/>
          </a:bodyPr>
          <a:lstStyle/>
          <a:p>
            <a:pPr marL="0" indent="0" algn="l">
              <a:lnSpc>
                <a:spcPts val="1400"/>
              </a:lnSpc>
              <a:buNone/>
            </a:pPr>
            <a:r>
              <a:rPr lang="en-US" sz="784" b="1" dirty="0">
                <a:solidFill>
                  <a:srgbClr val="FFFFFF"/>
                </a:solidFill>
              </a:rPr>
              <a:t>Event A:</a:t>
            </a:r>
            <a:r>
              <a:rPr lang="en-US" sz="834" dirty="0">
                <a:solidFill>
                  <a:srgbClr val="FFFFFF"/>
                </a:solidFill>
              </a:rPr>
              <a:t> first coin shows heads; </a:t>
            </a:r>
            <a:r>
              <a:rPr lang="en-US" sz="784" b="1" dirty="0">
                <a:solidFill>
                  <a:srgbClr val="FFFFFF"/>
                </a:solidFill>
              </a:rPr>
              <a:t>Event B:</a:t>
            </a:r>
            <a:r>
              <a:rPr lang="en-US" sz="834" dirty="0">
                <a:solidFill>
                  <a:srgbClr val="FFFFFF"/>
                </a:solidFill>
              </a:rPr>
              <a:t> second coin shows heads. P(A)=1/2, P(B)=1/2, P(A ∩ B)=1/4 = P(A)×P(B). The first flip doesn't affect the second—independent.</a:t>
            </a:r>
            <a:endParaRPr lang="en-US" sz="784" dirty="0"/>
          </a:p>
        </p:txBody>
      </p:sp>
      <p:sp>
        <p:nvSpPr>
          <p:cNvPr id="27" name="Shape 23"/>
          <p:cNvSpPr/>
          <p:nvPr/>
        </p:nvSpPr>
        <p:spPr>
          <a:xfrm>
            <a:off x="4750594" y="3141464"/>
            <a:ext cx="3893344" cy="826889"/>
          </a:xfrm>
          <a:prstGeom prst="rect">
            <a:avLst/>
          </a:prstGeom>
          <a:solidFill>
            <a:srgbClr val="FFFFFF">
              <a:alpha val="5000"/>
            </a:srgbClr>
          </a:solidFill>
          <a:ln/>
        </p:spPr>
        <p:txBody>
          <a:bodyPr/>
          <a:lstStyle/>
          <a:p>
            <a:endParaRPr lang="en-US"/>
          </a:p>
        </p:txBody>
      </p:sp>
      <p:sp>
        <p:nvSpPr>
          <p:cNvPr id="28" name="Text 24"/>
          <p:cNvSpPr/>
          <p:nvPr/>
        </p:nvSpPr>
        <p:spPr>
          <a:xfrm>
            <a:off x="4907756" y="3212902"/>
            <a:ext cx="3579019" cy="183952"/>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00D9FF"/>
                </a:solidFill>
              </a:rPr>
              <a:t>Example 2: Die Roll and Coin Flip</a:t>
            </a:r>
            <a:endParaRPr lang="en-US" sz="936" dirty="0"/>
          </a:p>
        </p:txBody>
      </p:sp>
      <p:sp>
        <p:nvSpPr>
          <p:cNvPr id="29" name="Text 25"/>
          <p:cNvSpPr/>
          <p:nvPr/>
        </p:nvSpPr>
        <p:spPr>
          <a:xfrm>
            <a:off x="4907756" y="3454003"/>
            <a:ext cx="3579019" cy="514350"/>
          </a:xfrm>
          <a:prstGeom prst="rect">
            <a:avLst/>
          </a:prstGeom>
          <a:noFill/>
          <a:ln/>
        </p:spPr>
        <p:txBody>
          <a:bodyPr wrap="square" lIns="0" tIns="0" rIns="0" bIns="0" rtlCol="0" anchor="t">
            <a:spAutoFit/>
          </a:bodyPr>
          <a:lstStyle/>
          <a:p>
            <a:pPr marL="0" indent="0" algn="l">
              <a:lnSpc>
                <a:spcPts val="1400"/>
              </a:lnSpc>
              <a:buNone/>
            </a:pPr>
            <a:r>
              <a:rPr lang="en-US" sz="784" b="1" dirty="0">
                <a:solidFill>
                  <a:srgbClr val="FFFFFF"/>
                </a:solidFill>
              </a:rPr>
              <a:t>Event A:</a:t>
            </a:r>
            <a:r>
              <a:rPr lang="en-US" sz="834" dirty="0">
                <a:solidFill>
                  <a:srgbClr val="FFFFFF"/>
                </a:solidFill>
              </a:rPr>
              <a:t> roll a 6 on a die; </a:t>
            </a:r>
            <a:r>
              <a:rPr lang="en-US" sz="784" b="1" dirty="0">
                <a:solidFill>
                  <a:srgbClr val="FFFFFF"/>
                </a:solidFill>
              </a:rPr>
              <a:t>Event B:</a:t>
            </a:r>
            <a:r>
              <a:rPr lang="en-US" sz="834" dirty="0">
                <a:solidFill>
                  <a:srgbClr val="FFFFFF"/>
                </a:solidFill>
              </a:rPr>
              <a:t> flip heads on a coin. P(A)=1/6, P(B)=1/2, P(A ∩ B)=1/12 = P(A)×P(B). Separate experiments—independent.</a:t>
            </a:r>
            <a:endParaRPr lang="en-US" sz="784" dirty="0"/>
          </a:p>
        </p:txBody>
      </p:sp>
      <p:sp>
        <p:nvSpPr>
          <p:cNvPr id="30" name="Shape 26"/>
          <p:cNvSpPr/>
          <p:nvPr/>
        </p:nvSpPr>
        <p:spPr>
          <a:xfrm>
            <a:off x="4750594" y="4054078"/>
            <a:ext cx="3893344" cy="740731"/>
          </a:xfrm>
          <a:prstGeom prst="rect">
            <a:avLst/>
          </a:prstGeom>
          <a:solidFill>
            <a:srgbClr val="FF6B9D">
              <a:alpha val="10000"/>
            </a:srgbClr>
          </a:solidFill>
          <a:ln/>
        </p:spPr>
        <p:txBody>
          <a:bodyPr/>
          <a:lstStyle/>
          <a:p>
            <a:endParaRPr lang="en-US"/>
          </a:p>
        </p:txBody>
      </p:sp>
      <p:sp>
        <p:nvSpPr>
          <p:cNvPr id="31" name="Text 27"/>
          <p:cNvSpPr/>
          <p:nvPr/>
        </p:nvSpPr>
        <p:spPr>
          <a:xfrm>
            <a:off x="4893469" y="4125516"/>
            <a:ext cx="3607594" cy="189309"/>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FF6B9D"/>
                </a:solidFill>
              </a:rPr>
              <a:t>⚠ Common Misconception</a:t>
            </a:r>
            <a:endParaRPr lang="en-US" sz="885" dirty="0"/>
          </a:p>
        </p:txBody>
      </p:sp>
      <p:sp>
        <p:nvSpPr>
          <p:cNvPr id="32" name="Text 28"/>
          <p:cNvSpPr/>
          <p:nvPr/>
        </p:nvSpPr>
        <p:spPr>
          <a:xfrm>
            <a:off x="4893469" y="4357688"/>
            <a:ext cx="3607594" cy="310753"/>
          </a:xfrm>
          <a:prstGeom prst="rect">
            <a:avLst/>
          </a:prstGeom>
          <a:noFill/>
          <a:ln/>
        </p:spPr>
        <p:txBody>
          <a:bodyPr wrap="square" lIns="0" tIns="0" rIns="0" bIns="0" rtlCol="0" anchor="t">
            <a:spAutoFit/>
          </a:bodyPr>
          <a:lstStyle/>
          <a:p>
            <a:pPr marL="0" indent="0" algn="l">
              <a:lnSpc>
                <a:spcPts val="1200"/>
              </a:lnSpc>
              <a:buNone/>
            </a:pPr>
            <a:r>
              <a:rPr lang="en-US" sz="734" b="1" dirty="0">
                <a:solidFill>
                  <a:srgbClr val="FFFFFF"/>
                </a:solidFill>
              </a:rPr>
              <a:t>Independent ≠ Mutually Exclusive</a:t>
            </a:r>
            <a:r>
              <a:rPr lang="en-US" sz="780" dirty="0">
                <a:solidFill>
                  <a:srgbClr val="FFFFFF"/>
                </a:solidFill>
              </a:rPr>
              <a:t>. If A and B are mutually exclusive (and not impossible), then P(A|B)=0 ≠ P(A); they are not independent.</a:t>
            </a:r>
            <a:endParaRPr lang="en-US" sz="734"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0" y="357188"/>
            <a:ext cx="9144000" cy="466130"/>
          </a:xfrm>
          <a:prstGeom prst="rect">
            <a:avLst/>
          </a:prstGeom>
          <a:noFill/>
          <a:ln/>
        </p:spPr>
        <p:txBody>
          <a:bodyPr wrap="none" lIns="0" tIns="0" rIns="0" bIns="0" rtlCol="0" anchor="t">
            <a:spAutoFit/>
          </a:bodyPr>
          <a:lstStyle/>
          <a:p>
            <a:pPr marL="0" indent="0" algn="ctr">
              <a:lnSpc>
                <a:spcPts val="3200"/>
              </a:lnSpc>
              <a:buNone/>
            </a:pPr>
            <a:r>
              <a:rPr lang="en-US" sz="2436" b="1" dirty="0">
                <a:solidFill>
                  <a:srgbClr val="00D9FF"/>
                </a:solidFill>
              </a:rPr>
              <a:t>Independent Events: Examples</a:t>
            </a:r>
            <a:endParaRPr lang="en-US" sz="2436" dirty="0"/>
          </a:p>
        </p:txBody>
      </p:sp>
      <p:sp>
        <p:nvSpPr>
          <p:cNvPr id="5" name="Text 1"/>
          <p:cNvSpPr/>
          <p:nvPr/>
        </p:nvSpPr>
        <p:spPr>
          <a:xfrm>
            <a:off x="0" y="866180"/>
            <a:ext cx="9144000" cy="175022"/>
          </a:xfrm>
          <a:prstGeom prst="rect">
            <a:avLst/>
          </a:prstGeom>
          <a:noFill/>
          <a:ln/>
        </p:spPr>
        <p:txBody>
          <a:bodyPr wrap="none" lIns="0" tIns="0" rIns="0" bIns="0" rtlCol="0" anchor="t">
            <a:spAutoFit/>
          </a:bodyPr>
          <a:lstStyle/>
          <a:p>
            <a:pPr marL="0" indent="0" algn="ctr">
              <a:lnSpc>
                <a:spcPts val="1200"/>
              </a:lnSpc>
              <a:buNone/>
            </a:pPr>
            <a:r>
              <a:rPr lang="en-US" sz="942" dirty="0">
                <a:solidFill>
                  <a:srgbClr val="FFD93D"/>
                </a:solidFill>
              </a:rPr>
              <a:t>Worked Examples with Verification</a:t>
            </a:r>
            <a:endParaRPr lang="en-US" sz="942" dirty="0"/>
          </a:p>
        </p:txBody>
      </p:sp>
      <p:sp>
        <p:nvSpPr>
          <p:cNvPr id="6" name="Shape 2"/>
          <p:cNvSpPr/>
          <p:nvPr/>
        </p:nvSpPr>
        <p:spPr>
          <a:xfrm>
            <a:off x="371475" y="1098352"/>
            <a:ext cx="2696598" cy="1358302"/>
          </a:xfrm>
          <a:prstGeom prst="rect">
            <a:avLst/>
          </a:prstGeom>
          <a:solidFill>
            <a:srgbClr val="FFFFFF">
              <a:alpha val="5000"/>
            </a:srgbClr>
          </a:solidFill>
          <a:ln/>
        </p:spPr>
        <p:txBody>
          <a:bodyPr/>
          <a:lstStyle/>
          <a:p>
            <a:endParaRPr lang="en-US"/>
          </a:p>
        </p:txBody>
      </p:sp>
      <p:sp>
        <p:nvSpPr>
          <p:cNvPr id="7" name="Text 3"/>
          <p:cNvSpPr/>
          <p:nvPr/>
        </p:nvSpPr>
        <p:spPr>
          <a:xfrm>
            <a:off x="514350" y="1126927"/>
            <a:ext cx="2410848" cy="273248"/>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FF6B9D"/>
                </a:solidFill>
              </a:rPr>
              <a:t>01</a:t>
            </a:r>
            <a:endParaRPr lang="en-US" sz="1397" dirty="0"/>
          </a:p>
        </p:txBody>
      </p:sp>
      <p:sp>
        <p:nvSpPr>
          <p:cNvPr id="8" name="Text 4"/>
          <p:cNvSpPr/>
          <p:nvPr/>
        </p:nvSpPr>
        <p:spPr>
          <a:xfrm>
            <a:off x="514350" y="1414463"/>
            <a:ext cx="2410848" cy="183952"/>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00D9FF"/>
                </a:solidFill>
              </a:rPr>
              <a:t>Two Coin Tosses</a:t>
            </a:r>
            <a:endParaRPr lang="en-US" sz="936" dirty="0"/>
          </a:p>
        </p:txBody>
      </p:sp>
      <p:sp>
        <p:nvSpPr>
          <p:cNvPr id="9" name="Text 5"/>
          <p:cNvSpPr/>
          <p:nvPr/>
        </p:nvSpPr>
        <p:spPr>
          <a:xfrm>
            <a:off x="514350" y="1619845"/>
            <a:ext cx="2410848" cy="142875"/>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FFD93D"/>
                </a:solidFill>
              </a:rPr>
              <a:t>Events:</a:t>
            </a:r>
            <a:r>
              <a:rPr lang="en-US" sz="834" dirty="0">
                <a:solidFill>
                  <a:srgbClr val="FFFFFF"/>
                </a:solidFill>
              </a:rPr>
              <a:t> A: first coin heads; B: second heads.</a:t>
            </a:r>
            <a:endParaRPr lang="en-US" sz="784" dirty="0"/>
          </a:p>
        </p:txBody>
      </p:sp>
      <p:sp>
        <p:nvSpPr>
          <p:cNvPr id="10" name="Text 6"/>
          <p:cNvSpPr/>
          <p:nvPr/>
        </p:nvSpPr>
        <p:spPr>
          <a:xfrm>
            <a:off x="514350" y="1901627"/>
            <a:ext cx="1793388" cy="155377"/>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00D9FF"/>
                </a:solidFill>
              </a:rPr>
              <a:t>P(A)=1/2, P(B)=1/2; P(A ∩ B)=1/4.</a:t>
            </a:r>
            <a:endParaRPr lang="en-US" sz="784" dirty="0"/>
          </a:p>
        </p:txBody>
      </p:sp>
      <p:sp>
        <p:nvSpPr>
          <p:cNvPr id="11" name="Shape 7"/>
          <p:cNvSpPr/>
          <p:nvPr/>
        </p:nvSpPr>
        <p:spPr>
          <a:xfrm>
            <a:off x="514350" y="2073077"/>
            <a:ext cx="2410848" cy="271463"/>
          </a:xfrm>
          <a:prstGeom prst="rect">
            <a:avLst/>
          </a:prstGeom>
          <a:solidFill>
            <a:srgbClr val="FFD73D">
              <a:alpha val="10000"/>
            </a:srgbClr>
          </a:solidFill>
          <a:ln/>
        </p:spPr>
        <p:txBody>
          <a:bodyPr/>
          <a:lstStyle/>
          <a:p>
            <a:endParaRPr lang="en-US"/>
          </a:p>
        </p:txBody>
      </p:sp>
      <p:sp>
        <p:nvSpPr>
          <p:cNvPr id="12" name="Text 8"/>
          <p:cNvSpPr/>
          <p:nvPr/>
        </p:nvSpPr>
        <p:spPr>
          <a:xfrm>
            <a:off x="600075" y="2087364"/>
            <a:ext cx="2239398" cy="257175"/>
          </a:xfrm>
          <a:prstGeom prst="rect">
            <a:avLst/>
          </a:prstGeom>
          <a:noFill/>
          <a:ln/>
        </p:spPr>
        <p:txBody>
          <a:bodyPr wrap="square" lIns="0" tIns="0" rIns="0" bIns="0" rtlCol="0" anchor="t">
            <a:spAutoFit/>
          </a:bodyPr>
          <a:lstStyle/>
          <a:p>
            <a:pPr marL="0" indent="0" algn="l">
              <a:lnSpc>
                <a:spcPts val="1000"/>
              </a:lnSpc>
              <a:buNone/>
            </a:pPr>
            <a:r>
              <a:rPr lang="en-US" sz="734" b="1" dirty="0">
                <a:solidFill>
                  <a:srgbClr val="FFFFFF"/>
                </a:solidFill>
              </a:rPr>
              <a:t>Verification:</a:t>
            </a:r>
            <a:r>
              <a:rPr lang="en-US" sz="780" dirty="0">
                <a:solidFill>
                  <a:srgbClr val="FFFFFF"/>
                </a:solidFill>
              </a:rPr>
              <a:t> P(A)×P(B)=1/4 = P(A ∩ B) — </a:t>
            </a:r>
            <a:r>
              <a:rPr lang="en-US" sz="734" b="1" dirty="0">
                <a:solidFill>
                  <a:srgbClr val="FFD93D"/>
                </a:solidFill>
              </a:rPr>
              <a:t>Independent.</a:t>
            </a:r>
            <a:endParaRPr lang="en-US" sz="734" dirty="0"/>
          </a:p>
        </p:txBody>
      </p:sp>
      <p:sp>
        <p:nvSpPr>
          <p:cNvPr id="13" name="Shape 9"/>
          <p:cNvSpPr/>
          <p:nvPr/>
        </p:nvSpPr>
        <p:spPr>
          <a:xfrm>
            <a:off x="371475" y="2608063"/>
            <a:ext cx="2696598" cy="1350963"/>
          </a:xfrm>
          <a:prstGeom prst="rect">
            <a:avLst/>
          </a:prstGeom>
          <a:solidFill>
            <a:srgbClr val="FFFFFF">
              <a:alpha val="5000"/>
            </a:srgbClr>
          </a:solidFill>
          <a:ln/>
        </p:spPr>
        <p:txBody>
          <a:bodyPr/>
          <a:lstStyle/>
          <a:p>
            <a:endParaRPr lang="en-US"/>
          </a:p>
        </p:txBody>
      </p:sp>
      <p:sp>
        <p:nvSpPr>
          <p:cNvPr id="14" name="Text 10"/>
          <p:cNvSpPr/>
          <p:nvPr/>
        </p:nvSpPr>
        <p:spPr>
          <a:xfrm>
            <a:off x="514350" y="2636639"/>
            <a:ext cx="2410848" cy="273248"/>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FF6B9D"/>
                </a:solidFill>
              </a:rPr>
              <a:t>02</a:t>
            </a:r>
            <a:endParaRPr lang="en-US" sz="1397" dirty="0"/>
          </a:p>
        </p:txBody>
      </p:sp>
      <p:sp>
        <p:nvSpPr>
          <p:cNvPr id="15" name="Text 11"/>
          <p:cNvSpPr/>
          <p:nvPr/>
        </p:nvSpPr>
        <p:spPr>
          <a:xfrm>
            <a:off x="514350" y="2924175"/>
            <a:ext cx="2410848" cy="183952"/>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00D9FF"/>
                </a:solidFill>
              </a:rPr>
              <a:t>Coin Toss and Die Roll</a:t>
            </a:r>
            <a:endParaRPr lang="en-US" sz="936" dirty="0"/>
          </a:p>
        </p:txBody>
      </p:sp>
      <p:sp>
        <p:nvSpPr>
          <p:cNvPr id="16" name="Text 12"/>
          <p:cNvSpPr/>
          <p:nvPr/>
        </p:nvSpPr>
        <p:spPr>
          <a:xfrm>
            <a:off x="514350" y="3129558"/>
            <a:ext cx="2410848" cy="142875"/>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FFD93D"/>
                </a:solidFill>
              </a:rPr>
              <a:t>Events:</a:t>
            </a:r>
            <a:r>
              <a:rPr lang="en-US" sz="834" dirty="0">
                <a:solidFill>
                  <a:srgbClr val="FFFFFF"/>
                </a:solidFill>
              </a:rPr>
              <a:t> A: coin heads; B: die shows 6.</a:t>
            </a:r>
            <a:endParaRPr lang="en-US" sz="784" dirty="0"/>
          </a:p>
        </p:txBody>
      </p:sp>
      <p:sp>
        <p:nvSpPr>
          <p:cNvPr id="17" name="Text 13"/>
          <p:cNvSpPr/>
          <p:nvPr/>
        </p:nvSpPr>
        <p:spPr>
          <a:xfrm>
            <a:off x="514350" y="3316089"/>
            <a:ext cx="1858770" cy="155377"/>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00D9FF"/>
                </a:solidFill>
              </a:rPr>
              <a:t>P(A)=1/2, P(B)=1/6; P(A ∩ B)=1/12.</a:t>
            </a:r>
            <a:endParaRPr lang="en-US" sz="784" dirty="0"/>
          </a:p>
        </p:txBody>
      </p:sp>
      <p:sp>
        <p:nvSpPr>
          <p:cNvPr id="18" name="Shape 14"/>
          <p:cNvSpPr/>
          <p:nvPr/>
        </p:nvSpPr>
        <p:spPr>
          <a:xfrm>
            <a:off x="514350" y="3500239"/>
            <a:ext cx="2410848" cy="271463"/>
          </a:xfrm>
          <a:prstGeom prst="rect">
            <a:avLst/>
          </a:prstGeom>
          <a:solidFill>
            <a:srgbClr val="FFD73D">
              <a:alpha val="10000"/>
            </a:srgbClr>
          </a:solidFill>
          <a:ln/>
        </p:spPr>
        <p:txBody>
          <a:bodyPr/>
          <a:lstStyle/>
          <a:p>
            <a:endParaRPr lang="en-US"/>
          </a:p>
        </p:txBody>
      </p:sp>
      <p:sp>
        <p:nvSpPr>
          <p:cNvPr id="19" name="Text 15"/>
          <p:cNvSpPr/>
          <p:nvPr/>
        </p:nvSpPr>
        <p:spPr>
          <a:xfrm>
            <a:off x="600075" y="3514527"/>
            <a:ext cx="2239398" cy="257175"/>
          </a:xfrm>
          <a:prstGeom prst="rect">
            <a:avLst/>
          </a:prstGeom>
          <a:noFill/>
          <a:ln/>
        </p:spPr>
        <p:txBody>
          <a:bodyPr wrap="square" lIns="0" tIns="0" rIns="0" bIns="0" rtlCol="0" anchor="t">
            <a:spAutoFit/>
          </a:bodyPr>
          <a:lstStyle/>
          <a:p>
            <a:pPr marL="0" indent="0" algn="l">
              <a:lnSpc>
                <a:spcPts val="1000"/>
              </a:lnSpc>
              <a:buNone/>
            </a:pPr>
            <a:r>
              <a:rPr lang="en-US" sz="734" b="1" dirty="0">
                <a:solidFill>
                  <a:srgbClr val="FFFFFF"/>
                </a:solidFill>
              </a:rPr>
              <a:t>Verification:</a:t>
            </a:r>
            <a:r>
              <a:rPr lang="en-US" sz="780" dirty="0">
                <a:solidFill>
                  <a:srgbClr val="FFFFFF"/>
                </a:solidFill>
              </a:rPr>
              <a:t> P(A)×P(B)=1/12 = P(A ∩ B) — </a:t>
            </a:r>
            <a:r>
              <a:rPr lang="en-US" sz="734" b="1" dirty="0">
                <a:solidFill>
                  <a:srgbClr val="FFD93D"/>
                </a:solidFill>
              </a:rPr>
              <a:t>Independent.</a:t>
            </a:r>
            <a:endParaRPr lang="en-US" sz="734" dirty="0"/>
          </a:p>
        </p:txBody>
      </p:sp>
      <p:sp>
        <p:nvSpPr>
          <p:cNvPr id="20" name="Shape 16"/>
          <p:cNvSpPr/>
          <p:nvPr/>
        </p:nvSpPr>
        <p:spPr>
          <a:xfrm>
            <a:off x="3182373" y="1098352"/>
            <a:ext cx="2696598" cy="1358303"/>
          </a:xfrm>
          <a:prstGeom prst="rect">
            <a:avLst/>
          </a:prstGeom>
          <a:solidFill>
            <a:srgbClr val="FFFFFF">
              <a:alpha val="5000"/>
            </a:srgbClr>
          </a:solidFill>
          <a:ln/>
        </p:spPr>
        <p:txBody>
          <a:bodyPr/>
          <a:lstStyle/>
          <a:p>
            <a:endParaRPr lang="en-US"/>
          </a:p>
        </p:txBody>
      </p:sp>
      <p:sp>
        <p:nvSpPr>
          <p:cNvPr id="21" name="Text 17"/>
          <p:cNvSpPr/>
          <p:nvPr/>
        </p:nvSpPr>
        <p:spPr>
          <a:xfrm>
            <a:off x="3325248" y="1126927"/>
            <a:ext cx="2410848" cy="273248"/>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FF6B9D"/>
                </a:solidFill>
              </a:rPr>
              <a:t>03</a:t>
            </a:r>
            <a:endParaRPr lang="en-US" sz="1397" dirty="0"/>
          </a:p>
        </p:txBody>
      </p:sp>
      <p:sp>
        <p:nvSpPr>
          <p:cNvPr id="22" name="Text 18"/>
          <p:cNvSpPr/>
          <p:nvPr/>
        </p:nvSpPr>
        <p:spPr>
          <a:xfrm>
            <a:off x="3325248" y="1414463"/>
            <a:ext cx="2410848" cy="183952"/>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00D9FF"/>
                </a:solidFill>
              </a:rPr>
              <a:t>Rolling Two Dice</a:t>
            </a:r>
            <a:endParaRPr lang="en-US" sz="936" dirty="0"/>
          </a:p>
        </p:txBody>
      </p:sp>
      <p:sp>
        <p:nvSpPr>
          <p:cNvPr id="23" name="Text 19"/>
          <p:cNvSpPr/>
          <p:nvPr/>
        </p:nvSpPr>
        <p:spPr>
          <a:xfrm>
            <a:off x="3325248" y="1619845"/>
            <a:ext cx="2410848" cy="285750"/>
          </a:xfrm>
          <a:prstGeom prst="rect">
            <a:avLst/>
          </a:prstGeom>
          <a:noFill/>
          <a:ln/>
        </p:spPr>
        <p:txBody>
          <a:bodyPr wrap="square" lIns="0" tIns="0" rIns="0" bIns="0" rtlCol="0" anchor="t">
            <a:spAutoFit/>
          </a:bodyPr>
          <a:lstStyle/>
          <a:p>
            <a:pPr marL="0" indent="0" algn="l">
              <a:lnSpc>
                <a:spcPts val="1100"/>
              </a:lnSpc>
              <a:buNone/>
            </a:pPr>
            <a:r>
              <a:rPr lang="en-US" sz="784" b="1" dirty="0">
                <a:solidFill>
                  <a:srgbClr val="FFD93D"/>
                </a:solidFill>
              </a:rPr>
              <a:t>Events:</a:t>
            </a:r>
            <a:r>
              <a:rPr lang="en-US" sz="834" dirty="0">
                <a:solidFill>
                  <a:srgbClr val="FFFFFF"/>
                </a:solidFill>
              </a:rPr>
              <a:t> A: first die shows 4; B: second shows 5.</a:t>
            </a:r>
            <a:endParaRPr lang="en-US" sz="784" dirty="0"/>
          </a:p>
        </p:txBody>
      </p:sp>
      <p:sp>
        <p:nvSpPr>
          <p:cNvPr id="24" name="Text 20"/>
          <p:cNvSpPr/>
          <p:nvPr/>
        </p:nvSpPr>
        <p:spPr>
          <a:xfrm>
            <a:off x="3325248" y="1898452"/>
            <a:ext cx="1858770" cy="155377"/>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00D9FF"/>
                </a:solidFill>
              </a:rPr>
              <a:t>P(A)=1/6, P(B)=1/6; P(A ∩ B)=1/36.</a:t>
            </a:r>
            <a:endParaRPr lang="en-US" sz="784" dirty="0"/>
          </a:p>
        </p:txBody>
      </p:sp>
      <p:sp>
        <p:nvSpPr>
          <p:cNvPr id="25" name="Shape 21"/>
          <p:cNvSpPr/>
          <p:nvPr/>
        </p:nvSpPr>
        <p:spPr>
          <a:xfrm>
            <a:off x="3325248" y="2069902"/>
            <a:ext cx="2410848" cy="271463"/>
          </a:xfrm>
          <a:prstGeom prst="rect">
            <a:avLst/>
          </a:prstGeom>
          <a:solidFill>
            <a:srgbClr val="FFD73D">
              <a:alpha val="10000"/>
            </a:srgbClr>
          </a:solidFill>
          <a:ln/>
        </p:spPr>
        <p:txBody>
          <a:bodyPr/>
          <a:lstStyle/>
          <a:p>
            <a:endParaRPr lang="en-US"/>
          </a:p>
        </p:txBody>
      </p:sp>
      <p:sp>
        <p:nvSpPr>
          <p:cNvPr id="26" name="Text 22"/>
          <p:cNvSpPr/>
          <p:nvPr/>
        </p:nvSpPr>
        <p:spPr>
          <a:xfrm>
            <a:off x="3410973" y="2084189"/>
            <a:ext cx="2239398" cy="257175"/>
          </a:xfrm>
          <a:prstGeom prst="rect">
            <a:avLst/>
          </a:prstGeom>
          <a:noFill/>
          <a:ln/>
        </p:spPr>
        <p:txBody>
          <a:bodyPr wrap="square" lIns="0" tIns="0" rIns="0" bIns="0" rtlCol="0" anchor="t">
            <a:spAutoFit/>
          </a:bodyPr>
          <a:lstStyle/>
          <a:p>
            <a:pPr marL="0" indent="0" algn="l">
              <a:lnSpc>
                <a:spcPts val="1000"/>
              </a:lnSpc>
              <a:buNone/>
            </a:pPr>
            <a:r>
              <a:rPr lang="en-US" sz="734" b="1" dirty="0">
                <a:solidFill>
                  <a:srgbClr val="FFFFFF"/>
                </a:solidFill>
              </a:rPr>
              <a:t>Verification:</a:t>
            </a:r>
            <a:r>
              <a:rPr lang="en-US" sz="780" dirty="0">
                <a:solidFill>
                  <a:srgbClr val="FFFFFF"/>
                </a:solidFill>
              </a:rPr>
              <a:t> P(A)×P(B)=1/36 = P(A ∩ B) — </a:t>
            </a:r>
            <a:r>
              <a:rPr lang="en-US" sz="734" b="1" dirty="0">
                <a:solidFill>
                  <a:srgbClr val="FFD93D"/>
                </a:solidFill>
              </a:rPr>
              <a:t>Independent.</a:t>
            </a:r>
            <a:endParaRPr lang="en-US" sz="734" dirty="0"/>
          </a:p>
        </p:txBody>
      </p:sp>
      <p:sp>
        <p:nvSpPr>
          <p:cNvPr id="27" name="Shape 23"/>
          <p:cNvSpPr/>
          <p:nvPr/>
        </p:nvSpPr>
        <p:spPr>
          <a:xfrm>
            <a:off x="3182373" y="2604888"/>
            <a:ext cx="2696598" cy="1350963"/>
          </a:xfrm>
          <a:prstGeom prst="rect">
            <a:avLst/>
          </a:prstGeom>
          <a:solidFill>
            <a:srgbClr val="FFFFFF">
              <a:alpha val="5000"/>
            </a:srgbClr>
          </a:solidFill>
          <a:ln/>
        </p:spPr>
        <p:txBody>
          <a:bodyPr/>
          <a:lstStyle/>
          <a:p>
            <a:endParaRPr lang="en-US"/>
          </a:p>
        </p:txBody>
      </p:sp>
      <p:sp>
        <p:nvSpPr>
          <p:cNvPr id="28" name="Text 24"/>
          <p:cNvSpPr/>
          <p:nvPr/>
        </p:nvSpPr>
        <p:spPr>
          <a:xfrm>
            <a:off x="3325248" y="2633464"/>
            <a:ext cx="2410848" cy="273248"/>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FF6B9D"/>
                </a:solidFill>
              </a:rPr>
              <a:t>04</a:t>
            </a:r>
            <a:endParaRPr lang="en-US" sz="1397" dirty="0"/>
          </a:p>
        </p:txBody>
      </p:sp>
      <p:sp>
        <p:nvSpPr>
          <p:cNvPr id="29" name="Text 25"/>
          <p:cNvSpPr/>
          <p:nvPr/>
        </p:nvSpPr>
        <p:spPr>
          <a:xfrm>
            <a:off x="3325248" y="2921000"/>
            <a:ext cx="2410848" cy="183952"/>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00D9FF"/>
                </a:solidFill>
              </a:rPr>
              <a:t>Two Draws (with replacement)</a:t>
            </a:r>
            <a:endParaRPr lang="en-US" sz="936" dirty="0"/>
          </a:p>
        </p:txBody>
      </p:sp>
      <p:sp>
        <p:nvSpPr>
          <p:cNvPr id="30" name="Text 26"/>
          <p:cNvSpPr/>
          <p:nvPr/>
        </p:nvSpPr>
        <p:spPr>
          <a:xfrm>
            <a:off x="3325248" y="3126383"/>
            <a:ext cx="2410848" cy="142875"/>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FFD93D"/>
                </a:solidFill>
              </a:rPr>
              <a:t>Events:</a:t>
            </a:r>
            <a:r>
              <a:rPr lang="en-US" sz="834" dirty="0">
                <a:solidFill>
                  <a:srgbClr val="FFFFFF"/>
                </a:solidFill>
              </a:rPr>
              <a:t> A: first card is Ace; B: second is Ace.</a:t>
            </a:r>
            <a:endParaRPr lang="en-US" sz="784" dirty="0"/>
          </a:p>
        </p:txBody>
      </p:sp>
      <p:sp>
        <p:nvSpPr>
          <p:cNvPr id="31" name="Text 27"/>
          <p:cNvSpPr/>
          <p:nvPr/>
        </p:nvSpPr>
        <p:spPr>
          <a:xfrm>
            <a:off x="3325248" y="3312914"/>
            <a:ext cx="2361902" cy="155377"/>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00D9FF"/>
                </a:solidFill>
              </a:rPr>
              <a:t>P(A)=4/52=1/13, P(B)=1/13; P(A ∩ B)=1/169.</a:t>
            </a:r>
            <a:endParaRPr lang="en-US" sz="784" dirty="0"/>
          </a:p>
        </p:txBody>
      </p:sp>
      <p:sp>
        <p:nvSpPr>
          <p:cNvPr id="32" name="Shape 28"/>
          <p:cNvSpPr/>
          <p:nvPr/>
        </p:nvSpPr>
        <p:spPr>
          <a:xfrm>
            <a:off x="3325248" y="3497064"/>
            <a:ext cx="2410848" cy="271463"/>
          </a:xfrm>
          <a:prstGeom prst="rect">
            <a:avLst/>
          </a:prstGeom>
          <a:solidFill>
            <a:srgbClr val="FFD73D">
              <a:alpha val="10000"/>
            </a:srgbClr>
          </a:solidFill>
          <a:ln/>
        </p:spPr>
        <p:txBody>
          <a:bodyPr/>
          <a:lstStyle/>
          <a:p>
            <a:endParaRPr lang="en-US"/>
          </a:p>
        </p:txBody>
      </p:sp>
      <p:sp>
        <p:nvSpPr>
          <p:cNvPr id="33" name="Text 29"/>
          <p:cNvSpPr/>
          <p:nvPr/>
        </p:nvSpPr>
        <p:spPr>
          <a:xfrm>
            <a:off x="3385573" y="3530402"/>
            <a:ext cx="2410848" cy="122598"/>
          </a:xfrm>
          <a:prstGeom prst="rect">
            <a:avLst/>
          </a:prstGeom>
          <a:noFill/>
          <a:ln/>
        </p:spPr>
        <p:txBody>
          <a:bodyPr wrap="square" lIns="0" tIns="0" rIns="0" bIns="0" rtlCol="0" anchor="t">
            <a:spAutoFit/>
          </a:bodyPr>
          <a:lstStyle/>
          <a:p>
            <a:pPr marL="0" indent="0" algn="l">
              <a:lnSpc>
                <a:spcPts val="1000"/>
              </a:lnSpc>
              <a:buNone/>
            </a:pPr>
            <a:r>
              <a:rPr lang="en-US" sz="734" b="1" dirty="0">
                <a:solidFill>
                  <a:srgbClr val="FFFFFF"/>
                </a:solidFill>
              </a:rPr>
              <a:t>Verification:</a:t>
            </a:r>
            <a:r>
              <a:rPr lang="en-US" sz="780" dirty="0">
                <a:solidFill>
                  <a:srgbClr val="FFFFFF"/>
                </a:solidFill>
              </a:rPr>
              <a:t> P(A)×P(B)=1/169 = P(A ∩ B) — </a:t>
            </a:r>
            <a:r>
              <a:rPr lang="en-US" sz="734" b="1" dirty="0">
                <a:solidFill>
                  <a:srgbClr val="FFD93D"/>
                </a:solidFill>
              </a:rPr>
              <a:t>Independent.</a:t>
            </a:r>
            <a:endParaRPr lang="en-US" sz="734" dirty="0"/>
          </a:p>
        </p:txBody>
      </p:sp>
      <p:pic>
        <p:nvPicPr>
          <p:cNvPr id="34" name="Image 1" descr="preencoded.png"/>
          <p:cNvPicPr>
            <a:picLocks noChangeAspect="1"/>
          </p:cNvPicPr>
          <p:nvPr/>
        </p:nvPicPr>
        <p:blipFill>
          <a:blip r:embed="rId4"/>
          <a:stretch>
            <a:fillRect/>
          </a:stretch>
        </p:blipFill>
        <p:spPr>
          <a:xfrm>
            <a:off x="6107571" y="672902"/>
            <a:ext cx="2664954" cy="2857500"/>
          </a:xfrm>
          <a:prstGeom prst="rect">
            <a:avLst/>
          </a:prstGeom>
        </p:spPr>
      </p:pic>
      <p:sp>
        <p:nvSpPr>
          <p:cNvPr id="35" name="Text 30"/>
          <p:cNvSpPr/>
          <p:nvPr/>
        </p:nvSpPr>
        <p:spPr>
          <a:xfrm>
            <a:off x="6107571" y="3020348"/>
            <a:ext cx="2664954" cy="260021"/>
          </a:xfrm>
          <a:prstGeom prst="rect">
            <a:avLst/>
          </a:prstGeom>
          <a:noFill/>
          <a:ln/>
        </p:spPr>
        <p:txBody>
          <a:bodyPr wrap="square" lIns="0" tIns="0" rIns="0" bIns="0" rtlCol="0" anchor="t">
            <a:spAutoFit/>
          </a:bodyPr>
          <a:lstStyle/>
          <a:p>
            <a:pPr marL="0" indent="0" algn="ctr">
              <a:lnSpc>
                <a:spcPts val="1000"/>
              </a:lnSpc>
              <a:buNone/>
            </a:pPr>
            <a:r>
              <a:rPr lang="en-US" sz="727" dirty="0">
                <a:solidFill>
                  <a:srgbClr val="FFD93D"/>
                </a:solidFill>
              </a:rPr>
              <a:t>Tree diagram of independent stages: probabilities multiply along each path.</a:t>
            </a:r>
            <a:endParaRPr lang="en-US" sz="727"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0" y="357188"/>
            <a:ext cx="9144000" cy="466130"/>
          </a:xfrm>
          <a:prstGeom prst="rect">
            <a:avLst/>
          </a:prstGeom>
          <a:noFill/>
          <a:ln/>
        </p:spPr>
        <p:txBody>
          <a:bodyPr wrap="none" lIns="0" tIns="0" rIns="0" bIns="0" rtlCol="0" anchor="t">
            <a:spAutoFit/>
          </a:bodyPr>
          <a:lstStyle/>
          <a:p>
            <a:pPr marL="0" indent="0" algn="ctr">
              <a:lnSpc>
                <a:spcPts val="3200"/>
              </a:lnSpc>
              <a:buNone/>
            </a:pPr>
            <a:r>
              <a:rPr lang="en-US" sz="2436" b="1" dirty="0">
                <a:solidFill>
                  <a:srgbClr val="00D9FF"/>
                </a:solidFill>
              </a:rPr>
              <a:t>Pairwise Independent Events</a:t>
            </a:r>
            <a:endParaRPr lang="en-US" sz="2436" dirty="0"/>
          </a:p>
        </p:txBody>
      </p:sp>
      <p:sp>
        <p:nvSpPr>
          <p:cNvPr id="5" name="Shape 1"/>
          <p:cNvSpPr/>
          <p:nvPr/>
        </p:nvSpPr>
        <p:spPr>
          <a:xfrm>
            <a:off x="500063" y="937617"/>
            <a:ext cx="3893344" cy="617934"/>
          </a:xfrm>
          <a:prstGeom prst="rect">
            <a:avLst/>
          </a:prstGeom>
          <a:solidFill>
            <a:srgbClr val="00D9FF">
              <a:alpha val="10000"/>
            </a:srgbClr>
          </a:solidFill>
          <a:ln/>
        </p:spPr>
        <p:txBody>
          <a:bodyPr/>
          <a:lstStyle/>
          <a:p>
            <a:endParaRPr lang="en-US"/>
          </a:p>
        </p:txBody>
      </p:sp>
      <p:sp>
        <p:nvSpPr>
          <p:cNvPr id="6" name="Shape 2"/>
          <p:cNvSpPr/>
          <p:nvPr/>
        </p:nvSpPr>
        <p:spPr>
          <a:xfrm>
            <a:off x="500063" y="937617"/>
            <a:ext cx="35719" cy="617934"/>
          </a:xfrm>
          <a:prstGeom prst="rect">
            <a:avLst/>
          </a:prstGeom>
          <a:solidFill>
            <a:srgbClr val="00D9FF"/>
          </a:solidFill>
          <a:ln/>
        </p:spPr>
        <p:txBody>
          <a:bodyPr/>
          <a:lstStyle/>
          <a:p>
            <a:endParaRPr lang="en-US"/>
          </a:p>
        </p:txBody>
      </p:sp>
      <p:sp>
        <p:nvSpPr>
          <p:cNvPr id="7" name="Text 3"/>
          <p:cNvSpPr/>
          <p:nvPr/>
        </p:nvSpPr>
        <p:spPr>
          <a:xfrm>
            <a:off x="678656" y="1009055"/>
            <a:ext cx="3536156" cy="546497"/>
          </a:xfrm>
          <a:prstGeom prst="rect">
            <a:avLst/>
          </a:prstGeom>
          <a:noFill/>
          <a:ln/>
        </p:spPr>
        <p:txBody>
          <a:bodyPr wrap="square" lIns="0" tIns="0" rIns="0" bIns="0" rtlCol="0" anchor="t">
            <a:spAutoFit/>
          </a:bodyPr>
          <a:lstStyle/>
          <a:p>
            <a:pPr marL="0" indent="0" algn="l">
              <a:lnSpc>
                <a:spcPts val="1400"/>
              </a:lnSpc>
              <a:buNone/>
            </a:pPr>
            <a:r>
              <a:rPr lang="en-US" sz="888" dirty="0">
                <a:solidFill>
                  <a:srgbClr val="FFFFFF"/>
                </a:solidFill>
              </a:rPr>
              <a:t>A collection of events is </a:t>
            </a:r>
            <a:r>
              <a:rPr lang="en-US" sz="834" b="1" dirty="0">
                <a:solidFill>
                  <a:srgbClr val="FFFFFF"/>
                </a:solidFill>
              </a:rPr>
              <a:t>pairwise independent</a:t>
            </a:r>
            <a:r>
              <a:rPr lang="en-US" sz="888" dirty="0">
                <a:solidFill>
                  <a:srgbClr val="FFFFFF"/>
                </a:solidFill>
              </a:rPr>
              <a:t> if every pair of events is independent; the occurrence of one does not affect the probability of the other.</a:t>
            </a:r>
            <a:endParaRPr lang="en-US" sz="888" dirty="0"/>
          </a:p>
        </p:txBody>
      </p:sp>
      <p:sp>
        <p:nvSpPr>
          <p:cNvPr id="8" name="Shape 4"/>
          <p:cNvSpPr/>
          <p:nvPr/>
        </p:nvSpPr>
        <p:spPr>
          <a:xfrm>
            <a:off x="500063" y="1641277"/>
            <a:ext cx="3893344" cy="485775"/>
          </a:xfrm>
          <a:prstGeom prst="rect">
            <a:avLst/>
          </a:prstGeom>
          <a:solidFill>
            <a:srgbClr val="FF6B9D">
              <a:alpha val="10000"/>
            </a:srgbClr>
          </a:solidFill>
          <a:ln/>
        </p:spPr>
        <p:txBody>
          <a:bodyPr/>
          <a:lstStyle/>
          <a:p>
            <a:endParaRPr lang="en-US"/>
          </a:p>
        </p:txBody>
      </p:sp>
      <p:sp>
        <p:nvSpPr>
          <p:cNvPr id="9" name="Text 5"/>
          <p:cNvSpPr/>
          <p:nvPr/>
        </p:nvSpPr>
        <p:spPr>
          <a:xfrm>
            <a:off x="642938" y="1698427"/>
            <a:ext cx="3607594" cy="428625"/>
          </a:xfrm>
          <a:prstGeom prst="rect">
            <a:avLst/>
          </a:prstGeom>
          <a:noFill/>
          <a:ln/>
        </p:spPr>
        <p:txBody>
          <a:bodyPr wrap="square" lIns="0" tIns="0" rIns="0" bIns="0" rtlCol="0" anchor="t">
            <a:spAutoFit/>
          </a:bodyPr>
          <a:lstStyle/>
          <a:p>
            <a:pPr marL="0" indent="0" algn="l">
              <a:lnSpc>
                <a:spcPts val="1700"/>
              </a:lnSpc>
              <a:buNone/>
            </a:pPr>
            <a:r>
              <a:rPr lang="en-US" sz="987" b="1" dirty="0">
                <a:solidFill>
                  <a:srgbClr val="FF6B9D"/>
                </a:solidFill>
              </a:rPr>
              <a:t>Pairwise condition for events A₁, A₂, ..., Aₙ: P(Ai ∩ Aj) = P(Ai) × P(Aj) for all pairs i ≠ j</a:t>
            </a:r>
            <a:endParaRPr lang="en-US" sz="987" dirty="0"/>
          </a:p>
        </p:txBody>
      </p:sp>
      <p:sp>
        <p:nvSpPr>
          <p:cNvPr id="10" name="Text 6"/>
          <p:cNvSpPr/>
          <p:nvPr/>
        </p:nvSpPr>
        <p:spPr>
          <a:xfrm>
            <a:off x="500063" y="2212777"/>
            <a:ext cx="3893344"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FFD93D"/>
                </a:solidFill>
              </a:rPr>
              <a:t>Key Properties</a:t>
            </a:r>
            <a:endParaRPr lang="en-US" sz="1193" dirty="0"/>
          </a:p>
        </p:txBody>
      </p:sp>
      <p:sp>
        <p:nvSpPr>
          <p:cNvPr id="11" name="Text 7"/>
          <p:cNvSpPr/>
          <p:nvPr/>
        </p:nvSpPr>
        <p:spPr>
          <a:xfrm>
            <a:off x="657225" y="2507456"/>
            <a:ext cx="1060596" cy="155377"/>
          </a:xfrm>
          <a:prstGeom prst="rect">
            <a:avLst/>
          </a:prstGeom>
          <a:noFill/>
          <a:ln/>
        </p:spPr>
        <p:txBody>
          <a:bodyPr wrap="none" lIns="0" tIns="0" rIns="0" bIns="0" rtlCol="0" anchor="t">
            <a:spAutoFit/>
          </a:bodyPr>
          <a:lstStyle/>
          <a:p>
            <a:pPr marL="0" indent="0" algn="l">
              <a:lnSpc>
                <a:spcPts val="1300"/>
              </a:lnSpc>
              <a:buNone/>
            </a:pPr>
            <a:r>
              <a:rPr lang="en-US" sz="784" b="1" dirty="0">
                <a:solidFill>
                  <a:srgbClr val="FF6B9D"/>
                </a:solidFill>
              </a:rPr>
              <a:t>Pairwise condition:</a:t>
            </a:r>
            <a:endParaRPr lang="en-US" sz="784" dirty="0"/>
          </a:p>
        </p:txBody>
      </p:sp>
      <p:sp>
        <p:nvSpPr>
          <p:cNvPr id="12" name="Text 8"/>
          <p:cNvSpPr/>
          <p:nvPr/>
        </p:nvSpPr>
        <p:spPr>
          <a:xfrm>
            <a:off x="1874983" y="2547727"/>
            <a:ext cx="2633811" cy="155377"/>
          </a:xfrm>
          <a:prstGeom prst="rect">
            <a:avLst/>
          </a:prstGeom>
          <a:noFill/>
          <a:ln/>
        </p:spPr>
        <p:txBody>
          <a:bodyPr wrap="none" lIns="0" tIns="0" rIns="0" bIns="0" rtlCol="0" anchor="t">
            <a:spAutoFit/>
          </a:bodyPr>
          <a:lstStyle/>
          <a:p>
            <a:pPr marL="0" indent="0" algn="l">
              <a:lnSpc>
                <a:spcPts val="1300"/>
              </a:lnSpc>
              <a:buNone/>
            </a:pPr>
            <a:r>
              <a:rPr lang="en-US" sz="834" dirty="0">
                <a:solidFill>
                  <a:srgbClr val="FFFFFF"/>
                </a:solidFill>
              </a:rPr>
              <a:t>Requires independence between every pair only.</a:t>
            </a:r>
            <a:endParaRPr lang="en-US" sz="834" dirty="0"/>
          </a:p>
        </p:txBody>
      </p:sp>
      <p:sp>
        <p:nvSpPr>
          <p:cNvPr id="13" name="Text 9"/>
          <p:cNvSpPr/>
          <p:nvPr/>
        </p:nvSpPr>
        <p:spPr>
          <a:xfrm>
            <a:off x="657225" y="2716048"/>
            <a:ext cx="1492430" cy="155377"/>
          </a:xfrm>
          <a:prstGeom prst="rect">
            <a:avLst/>
          </a:prstGeom>
          <a:noFill/>
          <a:ln/>
        </p:spPr>
        <p:txBody>
          <a:bodyPr wrap="none" lIns="0" tIns="0" rIns="0" bIns="0" rtlCol="0" anchor="t">
            <a:spAutoFit/>
          </a:bodyPr>
          <a:lstStyle/>
          <a:p>
            <a:pPr marL="0" indent="0" algn="l">
              <a:lnSpc>
                <a:spcPts val="1300"/>
              </a:lnSpc>
              <a:buNone/>
            </a:pPr>
            <a:r>
              <a:rPr lang="en-US" sz="784" b="1" dirty="0">
                <a:solidFill>
                  <a:srgbClr val="FF6B9D"/>
                </a:solidFill>
              </a:rPr>
              <a:t>Not mutual independence:</a:t>
            </a:r>
            <a:endParaRPr lang="en-US" sz="784" dirty="0"/>
          </a:p>
        </p:txBody>
      </p:sp>
      <p:sp>
        <p:nvSpPr>
          <p:cNvPr id="14" name="Text 10"/>
          <p:cNvSpPr/>
          <p:nvPr/>
        </p:nvSpPr>
        <p:spPr>
          <a:xfrm>
            <a:off x="1877219" y="2738823"/>
            <a:ext cx="2873375" cy="321106"/>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FFFFFF"/>
                </a:solidFill>
              </a:rPr>
              <a:t>Pairwise independence does not imply mutual independence; mutual independence needs extra conditions.</a:t>
            </a:r>
            <a:endParaRPr lang="en-US" sz="834" dirty="0"/>
          </a:p>
        </p:txBody>
      </p:sp>
      <p:sp>
        <p:nvSpPr>
          <p:cNvPr id="15" name="Shape 11"/>
          <p:cNvSpPr/>
          <p:nvPr/>
        </p:nvSpPr>
        <p:spPr>
          <a:xfrm>
            <a:off x="500063" y="3174109"/>
            <a:ext cx="3893344" cy="868447"/>
          </a:xfrm>
          <a:prstGeom prst="rect">
            <a:avLst/>
          </a:prstGeom>
          <a:solidFill>
            <a:srgbClr val="FFD73D">
              <a:alpha val="15000"/>
            </a:srgbClr>
          </a:solidFill>
          <a:ln/>
        </p:spPr>
        <p:txBody>
          <a:bodyPr/>
          <a:lstStyle/>
          <a:p>
            <a:endParaRPr lang="en-US"/>
          </a:p>
        </p:txBody>
      </p:sp>
      <p:sp>
        <p:nvSpPr>
          <p:cNvPr id="16" name="Text 12"/>
          <p:cNvSpPr/>
          <p:nvPr/>
        </p:nvSpPr>
        <p:spPr>
          <a:xfrm>
            <a:off x="642938" y="3245548"/>
            <a:ext cx="3607594" cy="164306"/>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FFD93D"/>
                </a:solidFill>
              </a:rPr>
              <a:t>⚠ Critical Distinction</a:t>
            </a:r>
            <a:endParaRPr lang="en-US" sz="784" dirty="0"/>
          </a:p>
        </p:txBody>
      </p:sp>
      <p:sp>
        <p:nvSpPr>
          <p:cNvPr id="17" name="Text 13"/>
          <p:cNvSpPr/>
          <p:nvPr/>
        </p:nvSpPr>
        <p:spPr>
          <a:xfrm>
            <a:off x="642938" y="3452716"/>
            <a:ext cx="3607594" cy="51435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FFFFFF"/>
                </a:solidFill>
              </a:rPr>
              <a:t>Events can be pairwise independent but NOT mutually independent. Mutual independence requires that all subsets (not just pairs) satisfy the independence condition.</a:t>
            </a:r>
            <a:endParaRPr lang="en-US" sz="834" dirty="0"/>
          </a:p>
        </p:txBody>
      </p:sp>
      <p:sp>
        <p:nvSpPr>
          <p:cNvPr id="18" name="Shape 14"/>
          <p:cNvSpPr/>
          <p:nvPr/>
        </p:nvSpPr>
        <p:spPr>
          <a:xfrm>
            <a:off x="4750594" y="937617"/>
            <a:ext cx="3893344" cy="1649090"/>
          </a:xfrm>
          <a:prstGeom prst="rect">
            <a:avLst/>
          </a:prstGeom>
          <a:solidFill>
            <a:srgbClr val="FFFFFF">
              <a:alpha val="5000"/>
            </a:srgbClr>
          </a:solidFill>
          <a:ln/>
        </p:spPr>
        <p:txBody>
          <a:bodyPr/>
          <a:lstStyle/>
          <a:p>
            <a:endParaRPr lang="en-US"/>
          </a:p>
        </p:txBody>
      </p:sp>
      <p:sp>
        <p:nvSpPr>
          <p:cNvPr id="19" name="Text 15"/>
          <p:cNvSpPr/>
          <p:nvPr/>
        </p:nvSpPr>
        <p:spPr>
          <a:xfrm>
            <a:off x="4907756" y="1009055"/>
            <a:ext cx="3579019"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D9FF"/>
                </a:solidFill>
              </a:rPr>
              <a:t>Two Fair Coin Tosses</a:t>
            </a:r>
            <a:endParaRPr lang="en-US" sz="987" dirty="0"/>
          </a:p>
        </p:txBody>
      </p:sp>
      <p:sp>
        <p:nvSpPr>
          <p:cNvPr id="20" name="Text 16"/>
          <p:cNvSpPr/>
          <p:nvPr/>
        </p:nvSpPr>
        <p:spPr>
          <a:xfrm>
            <a:off x="4907756" y="1260872"/>
            <a:ext cx="3579019" cy="1325835"/>
          </a:xfrm>
          <a:prstGeom prst="rect">
            <a:avLst/>
          </a:prstGeom>
          <a:noFill/>
          <a:ln/>
        </p:spPr>
        <p:txBody>
          <a:bodyPr wrap="square" lIns="0" tIns="0" rIns="0" bIns="0" rtlCol="0" anchor="t">
            <a:spAutoFit/>
          </a:bodyPr>
          <a:lstStyle/>
          <a:p>
            <a:pPr marL="0" indent="0" algn="l">
              <a:lnSpc>
                <a:spcPts val="1300"/>
              </a:lnSpc>
              <a:buNone/>
            </a:pPr>
            <a:r>
              <a:rPr lang="en-US" sz="784" b="1" dirty="0">
                <a:solidFill>
                  <a:srgbClr val="FFD93D"/>
                </a:solidFill>
              </a:rPr>
              <a:t>Sample Space:</a:t>
            </a:r>
            <a:r>
              <a:rPr lang="en-US" sz="834" dirty="0">
                <a:solidFill>
                  <a:srgbClr val="FFFFFF"/>
                </a:solidFill>
              </a:rPr>
              <a:t> S = {HH, HT, TH, TT} (each outcome 1/4)
</a:t>
            </a:r>
            <a:r>
              <a:rPr lang="en-US" sz="784" b="1" dirty="0">
                <a:solidFill>
                  <a:srgbClr val="FFD93D"/>
                </a:solidFill>
              </a:rPr>
              <a:t>Define Events:</a:t>
            </a:r>
            <a:r>
              <a:rPr lang="en-US" sz="834" dirty="0">
                <a:solidFill>
                  <a:srgbClr val="FFFFFF"/>
                </a:solidFill>
              </a:rPr>
              <a:t>
 A = First coin is H: {HH, HT} → P(A) = 1/2
 B = Second coin is H: {HH, TH} → P(B) = 1/2
 C = Exactly one H: {HT, TH} → P(C) = 1/2
</a:t>
            </a:r>
            <a:r>
              <a:rPr lang="en-US" sz="784" b="1" dirty="0">
                <a:solidFill>
                  <a:srgbClr val="FFD93D"/>
                </a:solidFill>
              </a:rPr>
              <a:t>Pairwise Independence:</a:t>
            </a:r>
            <a:r>
              <a:rPr lang="en-US" sz="834" dirty="0">
                <a:solidFill>
                  <a:srgbClr val="FFFFFF"/>
                </a:solidFill>
              </a:rPr>
              <a:t> P(A ∩ B)=1/4, P(A ∩ C)=1/4, P(B ∩ C)=1/4 = 1/2 × 1/2 ✓
</a:t>
            </a:r>
            <a:r>
              <a:rPr lang="en-US" sz="784" b="1" dirty="0">
                <a:solidFill>
                  <a:srgbClr val="FFD93D"/>
                </a:solidFill>
              </a:rPr>
              <a:t>Mutual Independence:</a:t>
            </a:r>
            <a:r>
              <a:rPr lang="en-US" sz="834" dirty="0">
                <a:solidFill>
                  <a:srgbClr val="FFFFFF"/>
                </a:solidFill>
              </a:rPr>
              <a:t> P(A ∩ B ∩ C)=0 ≠ P(A)P(B)P(C)=1/8 ✗</a:t>
            </a:r>
            <a:endParaRPr lang="en-US" sz="784" dirty="0"/>
          </a:p>
        </p:txBody>
      </p:sp>
      <p:sp>
        <p:nvSpPr>
          <p:cNvPr id="21" name="Shape 17"/>
          <p:cNvSpPr/>
          <p:nvPr/>
        </p:nvSpPr>
        <p:spPr>
          <a:xfrm>
            <a:off x="4750594" y="2672432"/>
            <a:ext cx="3893344" cy="1325834"/>
          </a:xfrm>
          <a:prstGeom prst="rect">
            <a:avLst/>
          </a:prstGeom>
          <a:solidFill>
            <a:srgbClr val="FFFFFF">
              <a:alpha val="5000"/>
            </a:srgbClr>
          </a:solidFill>
          <a:ln/>
        </p:spPr>
        <p:txBody>
          <a:bodyPr/>
          <a:lstStyle/>
          <a:p>
            <a:endParaRPr lang="en-US"/>
          </a:p>
        </p:txBody>
      </p:sp>
      <p:sp>
        <p:nvSpPr>
          <p:cNvPr id="22" name="Text 18"/>
          <p:cNvSpPr/>
          <p:nvPr/>
        </p:nvSpPr>
        <p:spPr>
          <a:xfrm>
            <a:off x="4893469" y="2729582"/>
            <a:ext cx="3607594" cy="194667"/>
          </a:xfrm>
          <a:prstGeom prst="rect">
            <a:avLst/>
          </a:prstGeom>
          <a:noFill/>
          <a:ln/>
        </p:spPr>
        <p:txBody>
          <a:bodyPr wrap="none" lIns="0" tIns="0" rIns="0" bIns="0" rtlCol="0" anchor="t">
            <a:spAutoFit/>
          </a:bodyPr>
          <a:lstStyle/>
          <a:p>
            <a:pPr marL="0" indent="0" algn="ctr">
              <a:lnSpc>
                <a:spcPts val="1400"/>
              </a:lnSpc>
              <a:buNone/>
            </a:pPr>
            <a:r>
              <a:rPr lang="en-US" sz="987" b="1" dirty="0">
                <a:solidFill>
                  <a:srgbClr val="FFD93D"/>
                </a:solidFill>
              </a:rPr>
              <a:t>Pairwise vs. Mutual Independence</a:t>
            </a:r>
            <a:endParaRPr lang="en-US" sz="987" dirty="0"/>
          </a:p>
        </p:txBody>
      </p:sp>
      <p:sp>
        <p:nvSpPr>
          <p:cNvPr id="23" name="Text 19"/>
          <p:cNvSpPr/>
          <p:nvPr/>
        </p:nvSpPr>
        <p:spPr>
          <a:xfrm>
            <a:off x="4893469" y="2995687"/>
            <a:ext cx="1750219" cy="150019"/>
          </a:xfrm>
          <a:prstGeom prst="rect">
            <a:avLst/>
          </a:prstGeom>
          <a:noFill/>
          <a:ln/>
        </p:spPr>
        <p:txBody>
          <a:bodyPr wrap="none" lIns="0" tIns="0" rIns="0" bIns="0" rtlCol="0" anchor="t">
            <a:spAutoFit/>
          </a:bodyPr>
          <a:lstStyle/>
          <a:p>
            <a:pPr marL="0" indent="0" algn="l">
              <a:lnSpc>
                <a:spcPts val="1200"/>
              </a:lnSpc>
              <a:buNone/>
            </a:pPr>
            <a:r>
              <a:rPr lang="en-US" sz="734" b="1" dirty="0">
                <a:solidFill>
                  <a:srgbClr val="00D9FF"/>
                </a:solidFill>
              </a:rPr>
              <a:t>Pairwise Independent</a:t>
            </a:r>
            <a:endParaRPr lang="en-US" sz="734" dirty="0"/>
          </a:p>
        </p:txBody>
      </p:sp>
      <p:sp>
        <p:nvSpPr>
          <p:cNvPr id="24" name="Text 20"/>
          <p:cNvSpPr/>
          <p:nvPr/>
        </p:nvSpPr>
        <p:spPr>
          <a:xfrm>
            <a:off x="6750844" y="2995687"/>
            <a:ext cx="1750219" cy="150019"/>
          </a:xfrm>
          <a:prstGeom prst="rect">
            <a:avLst/>
          </a:prstGeom>
          <a:noFill/>
          <a:ln/>
        </p:spPr>
        <p:txBody>
          <a:bodyPr wrap="none" lIns="0" tIns="0" rIns="0" bIns="0" rtlCol="0" anchor="t">
            <a:spAutoFit/>
          </a:bodyPr>
          <a:lstStyle/>
          <a:p>
            <a:pPr marL="0" indent="0" algn="l">
              <a:lnSpc>
                <a:spcPts val="1200"/>
              </a:lnSpc>
              <a:buNone/>
            </a:pPr>
            <a:r>
              <a:rPr lang="en-US" sz="734" b="1" dirty="0">
                <a:solidFill>
                  <a:srgbClr val="00D9FF"/>
                </a:solidFill>
              </a:rPr>
              <a:t>Mutually Independent</a:t>
            </a:r>
            <a:endParaRPr lang="en-US" sz="734" dirty="0"/>
          </a:p>
        </p:txBody>
      </p:sp>
      <p:sp>
        <p:nvSpPr>
          <p:cNvPr id="25" name="Text 21"/>
          <p:cNvSpPr/>
          <p:nvPr/>
        </p:nvSpPr>
        <p:spPr>
          <a:xfrm>
            <a:off x="4893469" y="3202856"/>
            <a:ext cx="1750219" cy="150019"/>
          </a:xfrm>
          <a:prstGeom prst="rect">
            <a:avLst/>
          </a:prstGeom>
          <a:noFill/>
          <a:ln/>
        </p:spPr>
        <p:txBody>
          <a:bodyPr wrap="none" lIns="0" tIns="0" rIns="0" bIns="0" rtlCol="0" anchor="t">
            <a:spAutoFit/>
          </a:bodyPr>
          <a:lstStyle/>
          <a:p>
            <a:pPr marL="0" indent="0" algn="l">
              <a:lnSpc>
                <a:spcPts val="1200"/>
              </a:lnSpc>
              <a:buNone/>
            </a:pPr>
            <a:r>
              <a:rPr lang="en-US" sz="780" dirty="0">
                <a:solidFill>
                  <a:srgbClr val="FFFFFF"/>
                </a:solidFill>
              </a:rPr>
              <a:t>Checks only pairs of events</a:t>
            </a:r>
            <a:endParaRPr lang="en-US" sz="780" dirty="0"/>
          </a:p>
        </p:txBody>
      </p:sp>
      <p:sp>
        <p:nvSpPr>
          <p:cNvPr id="26" name="Text 22"/>
          <p:cNvSpPr/>
          <p:nvPr/>
        </p:nvSpPr>
        <p:spPr>
          <a:xfrm>
            <a:off x="6750844" y="3202856"/>
            <a:ext cx="1750219" cy="150019"/>
          </a:xfrm>
          <a:prstGeom prst="rect">
            <a:avLst/>
          </a:prstGeom>
          <a:noFill/>
          <a:ln/>
        </p:spPr>
        <p:txBody>
          <a:bodyPr wrap="none" lIns="0" tIns="0" rIns="0" bIns="0" rtlCol="0" anchor="t">
            <a:spAutoFit/>
          </a:bodyPr>
          <a:lstStyle/>
          <a:p>
            <a:pPr marL="0" indent="0" algn="l">
              <a:lnSpc>
                <a:spcPts val="1200"/>
              </a:lnSpc>
              <a:buNone/>
            </a:pPr>
            <a:r>
              <a:rPr lang="en-US" sz="780" dirty="0">
                <a:solidFill>
                  <a:srgbClr val="FFFFFF"/>
                </a:solidFill>
              </a:rPr>
              <a:t>Checks all possible subsets</a:t>
            </a:r>
            <a:endParaRPr lang="en-US" sz="780" dirty="0"/>
          </a:p>
        </p:txBody>
      </p:sp>
      <p:sp>
        <p:nvSpPr>
          <p:cNvPr id="27" name="Text 23"/>
          <p:cNvSpPr/>
          <p:nvPr/>
        </p:nvSpPr>
        <p:spPr>
          <a:xfrm>
            <a:off x="4893469" y="3410024"/>
            <a:ext cx="1750219" cy="150019"/>
          </a:xfrm>
          <a:prstGeom prst="rect">
            <a:avLst/>
          </a:prstGeom>
          <a:noFill/>
          <a:ln/>
        </p:spPr>
        <p:txBody>
          <a:bodyPr wrap="none" lIns="0" tIns="0" rIns="0" bIns="0" rtlCol="0" anchor="t">
            <a:spAutoFit/>
          </a:bodyPr>
          <a:lstStyle/>
          <a:p>
            <a:pPr marL="0" indent="0" algn="l">
              <a:lnSpc>
                <a:spcPts val="1200"/>
              </a:lnSpc>
              <a:buNone/>
            </a:pPr>
            <a:r>
              <a:rPr lang="en-US" sz="780" dirty="0">
                <a:solidFill>
                  <a:srgbClr val="FFFFFF"/>
                </a:solidFill>
              </a:rPr>
              <a:t>Weaker condition</a:t>
            </a:r>
            <a:endParaRPr lang="en-US" sz="780" dirty="0"/>
          </a:p>
        </p:txBody>
      </p:sp>
      <p:sp>
        <p:nvSpPr>
          <p:cNvPr id="28" name="Text 24"/>
          <p:cNvSpPr/>
          <p:nvPr/>
        </p:nvSpPr>
        <p:spPr>
          <a:xfrm>
            <a:off x="6750844" y="3410024"/>
            <a:ext cx="1750219" cy="150019"/>
          </a:xfrm>
          <a:prstGeom prst="rect">
            <a:avLst/>
          </a:prstGeom>
          <a:noFill/>
          <a:ln/>
        </p:spPr>
        <p:txBody>
          <a:bodyPr wrap="none" lIns="0" tIns="0" rIns="0" bIns="0" rtlCol="0" anchor="t">
            <a:spAutoFit/>
          </a:bodyPr>
          <a:lstStyle/>
          <a:p>
            <a:pPr marL="0" indent="0" algn="l">
              <a:lnSpc>
                <a:spcPts val="1200"/>
              </a:lnSpc>
              <a:buNone/>
            </a:pPr>
            <a:r>
              <a:rPr lang="en-US" sz="780" dirty="0">
                <a:solidFill>
                  <a:srgbClr val="FFFFFF"/>
                </a:solidFill>
              </a:rPr>
              <a:t>Stronger condition</a:t>
            </a:r>
            <a:endParaRPr lang="en-US" sz="780" dirty="0"/>
          </a:p>
        </p:txBody>
      </p:sp>
      <p:sp>
        <p:nvSpPr>
          <p:cNvPr id="29" name="Text 25"/>
          <p:cNvSpPr/>
          <p:nvPr/>
        </p:nvSpPr>
        <p:spPr>
          <a:xfrm>
            <a:off x="4893469" y="3617193"/>
            <a:ext cx="1750219" cy="150019"/>
          </a:xfrm>
          <a:prstGeom prst="rect">
            <a:avLst/>
          </a:prstGeom>
          <a:noFill/>
          <a:ln/>
        </p:spPr>
        <p:txBody>
          <a:bodyPr wrap="none" lIns="0" tIns="0" rIns="0" bIns="0" rtlCol="0" anchor="t">
            <a:spAutoFit/>
          </a:bodyPr>
          <a:lstStyle/>
          <a:p>
            <a:pPr marL="0" indent="0" algn="l">
              <a:lnSpc>
                <a:spcPts val="1200"/>
              </a:lnSpc>
              <a:buNone/>
            </a:pPr>
            <a:r>
              <a:rPr lang="en-US" sz="780" dirty="0">
                <a:solidFill>
                  <a:srgbClr val="FFFFFF"/>
                </a:solidFill>
              </a:rPr>
              <a:t>P(Ai ∩ Aj) = P(Ai)P(Aj)</a:t>
            </a:r>
            <a:endParaRPr lang="en-US" sz="780" dirty="0"/>
          </a:p>
        </p:txBody>
      </p:sp>
      <p:sp>
        <p:nvSpPr>
          <p:cNvPr id="30" name="Text 26"/>
          <p:cNvSpPr/>
          <p:nvPr/>
        </p:nvSpPr>
        <p:spPr>
          <a:xfrm>
            <a:off x="6750844" y="3617193"/>
            <a:ext cx="1750219" cy="150019"/>
          </a:xfrm>
          <a:prstGeom prst="rect">
            <a:avLst/>
          </a:prstGeom>
          <a:noFill/>
          <a:ln/>
        </p:spPr>
        <p:txBody>
          <a:bodyPr wrap="none" lIns="0" tIns="0" rIns="0" bIns="0" rtlCol="0" anchor="t">
            <a:spAutoFit/>
          </a:bodyPr>
          <a:lstStyle/>
          <a:p>
            <a:pPr marL="0" indent="0" algn="l">
              <a:lnSpc>
                <a:spcPts val="1200"/>
              </a:lnSpc>
              <a:buNone/>
            </a:pPr>
            <a:r>
              <a:rPr lang="en-US" sz="780" dirty="0">
                <a:solidFill>
                  <a:srgbClr val="FFFFFF"/>
                </a:solidFill>
              </a:rPr>
              <a:t>P(Ai ∩ Aj ∩ Ak) = P(Ai)P(Aj)P(Ak)</a:t>
            </a:r>
            <a:endParaRPr lang="en-US" sz="78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0" y="357188"/>
            <a:ext cx="9144000" cy="466130"/>
          </a:xfrm>
          <a:prstGeom prst="rect">
            <a:avLst/>
          </a:prstGeom>
          <a:noFill/>
          <a:ln/>
        </p:spPr>
        <p:txBody>
          <a:bodyPr wrap="none" lIns="0" tIns="0" rIns="0" bIns="0" rtlCol="0" anchor="t">
            <a:spAutoFit/>
          </a:bodyPr>
          <a:lstStyle/>
          <a:p>
            <a:pPr marL="0" indent="0" algn="ctr">
              <a:lnSpc>
                <a:spcPts val="3200"/>
              </a:lnSpc>
              <a:buNone/>
            </a:pPr>
            <a:r>
              <a:rPr lang="en-US" sz="2436" b="1" dirty="0">
                <a:solidFill>
                  <a:srgbClr val="00D9FF"/>
                </a:solidFill>
              </a:rPr>
              <a:t>Mutually Independent Events</a:t>
            </a:r>
            <a:endParaRPr lang="en-US" sz="2436" dirty="0"/>
          </a:p>
        </p:txBody>
      </p:sp>
      <p:sp>
        <p:nvSpPr>
          <p:cNvPr id="5" name="Shape 1"/>
          <p:cNvSpPr/>
          <p:nvPr/>
        </p:nvSpPr>
        <p:spPr>
          <a:xfrm>
            <a:off x="500063" y="1037630"/>
            <a:ext cx="3911203" cy="852897"/>
          </a:xfrm>
          <a:prstGeom prst="rect">
            <a:avLst/>
          </a:prstGeom>
          <a:solidFill>
            <a:srgbClr val="00D9FF">
              <a:alpha val="10000"/>
            </a:srgbClr>
          </a:solidFill>
          <a:ln/>
        </p:spPr>
        <p:txBody>
          <a:bodyPr/>
          <a:lstStyle/>
          <a:p>
            <a:endParaRPr lang="en-US"/>
          </a:p>
        </p:txBody>
      </p:sp>
      <p:sp>
        <p:nvSpPr>
          <p:cNvPr id="6" name="Shape 2"/>
          <p:cNvSpPr/>
          <p:nvPr/>
        </p:nvSpPr>
        <p:spPr>
          <a:xfrm>
            <a:off x="500063" y="1037630"/>
            <a:ext cx="35719" cy="852897"/>
          </a:xfrm>
          <a:prstGeom prst="rect">
            <a:avLst/>
          </a:prstGeom>
          <a:solidFill>
            <a:srgbClr val="00D9FF"/>
          </a:solidFill>
          <a:ln/>
        </p:spPr>
        <p:txBody>
          <a:bodyPr/>
          <a:lstStyle/>
          <a:p>
            <a:endParaRPr lang="en-US"/>
          </a:p>
        </p:txBody>
      </p:sp>
      <p:sp>
        <p:nvSpPr>
          <p:cNvPr id="7" name="Text 3"/>
          <p:cNvSpPr/>
          <p:nvPr/>
        </p:nvSpPr>
        <p:spPr>
          <a:xfrm>
            <a:off x="678656" y="1137642"/>
            <a:ext cx="3554016" cy="752884"/>
          </a:xfrm>
          <a:prstGeom prst="rect">
            <a:avLst/>
          </a:prstGeom>
          <a:noFill/>
          <a:ln/>
        </p:spPr>
        <p:txBody>
          <a:bodyPr wrap="square" lIns="0" tIns="0" rIns="0" bIns="0" rtlCol="0" anchor="t">
            <a:spAutoFit/>
          </a:bodyPr>
          <a:lstStyle/>
          <a:p>
            <a:pPr marL="0" indent="0" algn="l">
              <a:lnSpc>
                <a:spcPts val="1500"/>
              </a:lnSpc>
              <a:buNone/>
            </a:pPr>
            <a:r>
              <a:rPr lang="en-US" sz="888" dirty="0">
                <a:solidFill>
                  <a:srgbClr val="FFFFFF"/>
                </a:solidFill>
              </a:rPr>
              <a:t>A collection of events A₁, A₂, ..., Aₙ is </a:t>
            </a:r>
            <a:r>
              <a:rPr lang="en-US" sz="834" b="1" dirty="0">
                <a:solidFill>
                  <a:srgbClr val="FFFFFF"/>
                </a:solidFill>
              </a:rPr>
              <a:t>mutually independent</a:t>
            </a:r>
            <a:r>
              <a:rPr lang="en-US" sz="888" dirty="0">
                <a:solidFill>
                  <a:srgbClr val="FFFFFF"/>
                </a:solidFill>
              </a:rPr>
              <a:t> (or </a:t>
            </a:r>
            <a:r>
              <a:rPr lang="en-US" sz="834" b="1" dirty="0">
                <a:solidFill>
                  <a:srgbClr val="FFFFFF"/>
                </a:solidFill>
              </a:rPr>
              <a:t>collectively independent</a:t>
            </a:r>
            <a:r>
              <a:rPr lang="en-US" sz="888" dirty="0">
                <a:solidFill>
                  <a:srgbClr val="FFFFFF"/>
                </a:solidFill>
              </a:rPr>
              <a:t>) if the probability of the intersection of any subset equals the product of their individual probabilities.</a:t>
            </a:r>
            <a:endParaRPr lang="en-US" sz="888" dirty="0"/>
          </a:p>
        </p:txBody>
      </p:sp>
      <p:sp>
        <p:nvSpPr>
          <p:cNvPr id="8" name="Text 4"/>
          <p:cNvSpPr/>
          <p:nvPr/>
        </p:nvSpPr>
        <p:spPr>
          <a:xfrm>
            <a:off x="538163" y="1990539"/>
            <a:ext cx="3911203"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FFD93D"/>
                </a:solidFill>
              </a:rPr>
              <a:t>Mathematical Conditions</a:t>
            </a:r>
            <a:endParaRPr lang="en-US" sz="1193" dirty="0"/>
          </a:p>
        </p:txBody>
      </p:sp>
      <p:sp>
        <p:nvSpPr>
          <p:cNvPr id="9" name="Shape 5"/>
          <p:cNvSpPr/>
          <p:nvPr/>
        </p:nvSpPr>
        <p:spPr>
          <a:xfrm>
            <a:off x="500063" y="2295934"/>
            <a:ext cx="3911203" cy="1421606"/>
          </a:xfrm>
          <a:prstGeom prst="rect">
            <a:avLst/>
          </a:prstGeom>
          <a:solidFill>
            <a:srgbClr val="FF6B9D">
              <a:alpha val="10000"/>
            </a:srgbClr>
          </a:solidFill>
          <a:ln/>
        </p:spPr>
        <p:txBody>
          <a:bodyPr/>
          <a:lstStyle/>
          <a:p>
            <a:endParaRPr lang="en-US"/>
          </a:p>
        </p:txBody>
      </p:sp>
      <p:sp>
        <p:nvSpPr>
          <p:cNvPr id="10" name="Text 6"/>
          <p:cNvSpPr/>
          <p:nvPr/>
        </p:nvSpPr>
        <p:spPr>
          <a:xfrm>
            <a:off x="642938" y="2367372"/>
            <a:ext cx="3625453" cy="1350169"/>
          </a:xfrm>
          <a:prstGeom prst="rect">
            <a:avLst/>
          </a:prstGeom>
          <a:noFill/>
          <a:ln/>
        </p:spPr>
        <p:txBody>
          <a:bodyPr wrap="square" lIns="0" tIns="0" rIns="0" bIns="0" rtlCol="0" anchor="t">
            <a:spAutoFit/>
          </a:bodyPr>
          <a:lstStyle/>
          <a:p>
            <a:pPr marL="0" indent="0" algn="l">
              <a:lnSpc>
                <a:spcPts val="1500"/>
              </a:lnSpc>
              <a:buNone/>
            </a:pPr>
            <a:r>
              <a:rPr lang="en-US" sz="885" b="1" dirty="0">
                <a:solidFill>
                  <a:srgbClr val="FF6B9D"/>
                </a:solidFill>
              </a:rPr>
              <a:t>For three events A, B, C to be mutually independent:
 P(A ∩ B) = P(A) × P(B)
 P(A ∩ C) = P(A) × P(C)
 P(B ∩ C) = P(B) × P(C)
 P(A ∩ B ∩ C) = P(A) × P(B) × P(C)
 Note: all four must hold; pairwise independence alone is not sufficient.</a:t>
            </a:r>
            <a:endParaRPr lang="en-US" sz="885" dirty="0"/>
          </a:p>
        </p:txBody>
      </p:sp>
      <p:pic>
        <p:nvPicPr>
          <p:cNvPr id="11" name="Image 1" descr="preencoded.png"/>
          <p:cNvPicPr>
            <a:picLocks noChangeAspect="1"/>
          </p:cNvPicPr>
          <p:nvPr/>
        </p:nvPicPr>
        <p:blipFill>
          <a:blip r:embed="rId4"/>
          <a:stretch>
            <a:fillRect/>
          </a:stretch>
        </p:blipFill>
        <p:spPr>
          <a:xfrm>
            <a:off x="4732734" y="1037630"/>
            <a:ext cx="3911203" cy="1143000"/>
          </a:xfrm>
          <a:prstGeom prst="rect">
            <a:avLst/>
          </a:prstGeom>
        </p:spPr>
      </p:pic>
      <p:sp>
        <p:nvSpPr>
          <p:cNvPr id="12" name="Text 7"/>
          <p:cNvSpPr/>
          <p:nvPr/>
        </p:nvSpPr>
        <p:spPr>
          <a:xfrm>
            <a:off x="4732734" y="2266355"/>
            <a:ext cx="3911203"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FFD93D"/>
                </a:solidFill>
              </a:rPr>
              <a:t>Examples</a:t>
            </a:r>
            <a:endParaRPr lang="en-US" sz="1193" dirty="0"/>
          </a:p>
        </p:txBody>
      </p:sp>
      <p:sp>
        <p:nvSpPr>
          <p:cNvPr id="13" name="Shape 8"/>
          <p:cNvSpPr/>
          <p:nvPr/>
        </p:nvSpPr>
        <p:spPr>
          <a:xfrm>
            <a:off x="4732734" y="2571750"/>
            <a:ext cx="3911203" cy="1092200"/>
          </a:xfrm>
          <a:prstGeom prst="rect">
            <a:avLst/>
          </a:prstGeom>
          <a:solidFill>
            <a:srgbClr val="FFFFFF">
              <a:alpha val="5000"/>
            </a:srgbClr>
          </a:solidFill>
          <a:ln/>
        </p:spPr>
        <p:txBody>
          <a:bodyPr/>
          <a:lstStyle/>
          <a:p>
            <a:endParaRPr lang="en-US"/>
          </a:p>
        </p:txBody>
      </p:sp>
      <p:sp>
        <p:nvSpPr>
          <p:cNvPr id="14" name="Text 9"/>
          <p:cNvSpPr/>
          <p:nvPr/>
        </p:nvSpPr>
        <p:spPr>
          <a:xfrm>
            <a:off x="4875609" y="2643188"/>
            <a:ext cx="3625453" cy="175022"/>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00D9FF"/>
                </a:solidFill>
              </a:rPr>
              <a:t>Example 1: Three Coin Tosses</a:t>
            </a:r>
            <a:endParaRPr lang="en-US" sz="885" dirty="0"/>
          </a:p>
        </p:txBody>
      </p:sp>
      <p:sp>
        <p:nvSpPr>
          <p:cNvPr id="15" name="Text 10"/>
          <p:cNvSpPr/>
          <p:nvPr/>
        </p:nvSpPr>
        <p:spPr>
          <a:xfrm>
            <a:off x="4875609" y="2875359"/>
            <a:ext cx="3625453" cy="621506"/>
          </a:xfrm>
          <a:prstGeom prst="rect">
            <a:avLst/>
          </a:prstGeom>
          <a:noFill/>
          <a:ln/>
        </p:spPr>
        <p:txBody>
          <a:bodyPr wrap="square" lIns="0" tIns="0" rIns="0" bIns="0" rtlCol="0" anchor="t">
            <a:spAutoFit/>
          </a:bodyPr>
          <a:lstStyle/>
          <a:p>
            <a:pPr marL="0" indent="0" algn="l">
              <a:lnSpc>
                <a:spcPts val="1200"/>
              </a:lnSpc>
              <a:buNone/>
            </a:pPr>
            <a:r>
              <a:rPr lang="en-US" sz="734" b="1" dirty="0">
                <a:solidFill>
                  <a:srgbClr val="FFD93D"/>
                </a:solidFill>
              </a:rPr>
              <a:t>Events:</a:t>
            </a:r>
            <a:r>
              <a:rPr lang="en-US" sz="780" dirty="0">
                <a:solidFill>
                  <a:srgbClr val="FFFFFF"/>
                </a:solidFill>
              </a:rPr>
              <a:t> A = first coin is H; B = second coin is H; C = third coin is H.
</a:t>
            </a:r>
            <a:r>
              <a:rPr lang="en-US" sz="734" b="1" dirty="0">
                <a:solidFill>
                  <a:srgbClr val="FFD93D"/>
                </a:solidFill>
              </a:rPr>
              <a:t>Verification:</a:t>
            </a:r>
            <a:r>
              <a:rPr lang="en-US" sz="780" dirty="0">
                <a:solidFill>
                  <a:srgbClr val="FFFFFF"/>
                </a:solidFill>
              </a:rPr>
              <a:t> P(A) = P(B) = P(C) = 1/2; P(A ∩ B) = P(A)×P(B) = 1/4; P(A ∩ C) = 1/4; P(B ∩ C) = 1/4; P(A ∩ B ∩ C) = 1/8 = 1/2 × 1/2 × 1/2.
</a:t>
            </a:r>
            <a:r>
              <a:rPr lang="en-US" sz="734" b="1" dirty="0">
                <a:solidFill>
                  <a:srgbClr val="FFFFFF"/>
                </a:solidFill>
              </a:rPr>
              <a:t>Result:</a:t>
            </a:r>
            <a:r>
              <a:rPr lang="en-US" sz="780" dirty="0">
                <a:solidFill>
                  <a:srgbClr val="FFFFFF"/>
                </a:solidFill>
              </a:rPr>
              <a:t>Mutually independent.</a:t>
            </a:r>
            <a:endParaRPr lang="en-US" sz="734"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25400"/>
            <a:ext cx="9144000" cy="5168900"/>
          </a:xfrm>
          <a:prstGeom prst="rect">
            <a:avLst/>
          </a:prstGeom>
        </p:spPr>
      </p:pic>
      <p:sp>
        <p:nvSpPr>
          <p:cNvPr id="4" name="Text 0"/>
          <p:cNvSpPr/>
          <p:nvPr/>
        </p:nvSpPr>
        <p:spPr>
          <a:xfrm>
            <a:off x="0" y="357188"/>
            <a:ext cx="9144000" cy="466130"/>
          </a:xfrm>
          <a:prstGeom prst="rect">
            <a:avLst/>
          </a:prstGeom>
          <a:noFill/>
          <a:ln/>
        </p:spPr>
        <p:txBody>
          <a:bodyPr wrap="none" lIns="0" tIns="0" rIns="0" bIns="0" rtlCol="0" anchor="t">
            <a:spAutoFit/>
          </a:bodyPr>
          <a:lstStyle/>
          <a:p>
            <a:pPr marL="0" indent="0" algn="ctr">
              <a:lnSpc>
                <a:spcPts val="3200"/>
              </a:lnSpc>
              <a:buNone/>
            </a:pPr>
            <a:r>
              <a:rPr lang="en-US" sz="2436" b="1" dirty="0">
                <a:solidFill>
                  <a:srgbClr val="00D9FF"/>
                </a:solidFill>
              </a:rPr>
              <a:t>Addition Rule of Probability</a:t>
            </a:r>
            <a:endParaRPr lang="en-US" sz="2436" dirty="0"/>
          </a:p>
        </p:txBody>
      </p:sp>
      <p:sp>
        <p:nvSpPr>
          <p:cNvPr id="5" name="Text 1"/>
          <p:cNvSpPr/>
          <p:nvPr/>
        </p:nvSpPr>
        <p:spPr>
          <a:xfrm>
            <a:off x="357188" y="966192"/>
            <a:ext cx="4071938" cy="251817"/>
          </a:xfrm>
          <a:prstGeom prst="rect">
            <a:avLst/>
          </a:prstGeom>
          <a:noFill/>
          <a:ln/>
        </p:spPr>
        <p:txBody>
          <a:bodyPr wrap="none" lIns="0" tIns="0" rIns="0" bIns="0" rtlCol="0" anchor="t">
            <a:spAutoFit/>
          </a:bodyPr>
          <a:lstStyle/>
          <a:p>
            <a:pPr marL="0" indent="0" algn="l">
              <a:lnSpc>
                <a:spcPts val="1800"/>
              </a:lnSpc>
              <a:buNone/>
            </a:pPr>
            <a:r>
              <a:rPr lang="en-US" sz="1295" b="1" dirty="0">
                <a:solidFill>
                  <a:srgbClr val="FFD93D"/>
                </a:solidFill>
              </a:rPr>
              <a:t>General Addition Rule</a:t>
            </a:r>
            <a:endParaRPr lang="en-US" sz="1295" dirty="0"/>
          </a:p>
        </p:txBody>
      </p:sp>
      <p:sp>
        <p:nvSpPr>
          <p:cNvPr id="6" name="Shape 2"/>
          <p:cNvSpPr/>
          <p:nvPr/>
        </p:nvSpPr>
        <p:spPr>
          <a:xfrm>
            <a:off x="357188" y="1303733"/>
            <a:ext cx="4071938" cy="1200847"/>
          </a:xfrm>
          <a:prstGeom prst="rect">
            <a:avLst/>
          </a:prstGeom>
          <a:solidFill>
            <a:srgbClr val="FF6B9D">
              <a:alpha val="15000"/>
            </a:srgbClr>
          </a:solidFill>
          <a:ln/>
        </p:spPr>
        <p:txBody>
          <a:bodyPr/>
          <a:lstStyle/>
          <a:p>
            <a:endParaRPr lang="en-US"/>
          </a:p>
        </p:txBody>
      </p:sp>
      <p:sp>
        <p:nvSpPr>
          <p:cNvPr id="7" name="Text 3"/>
          <p:cNvSpPr/>
          <p:nvPr/>
        </p:nvSpPr>
        <p:spPr>
          <a:xfrm>
            <a:off x="535781" y="1375172"/>
            <a:ext cx="3714750" cy="332184"/>
          </a:xfrm>
          <a:prstGeom prst="rect">
            <a:avLst/>
          </a:prstGeom>
          <a:noFill/>
          <a:ln/>
        </p:spPr>
        <p:txBody>
          <a:bodyPr wrap="none" lIns="0" tIns="0" rIns="0" bIns="0" rtlCol="0" anchor="t">
            <a:spAutoFit/>
          </a:bodyPr>
          <a:lstStyle/>
          <a:p>
            <a:pPr marL="0" indent="0" algn="ctr">
              <a:lnSpc>
                <a:spcPts val="2200"/>
              </a:lnSpc>
              <a:buNone/>
            </a:pPr>
            <a:r>
              <a:rPr lang="en-US" sz="1602" b="1" dirty="0">
                <a:solidFill>
                  <a:srgbClr val="FF6B9D"/>
                </a:solidFill>
              </a:rPr>
              <a:t>P(A ∪ B) = P(A) + P(B) - P(A ∩ B)</a:t>
            </a:r>
            <a:endParaRPr lang="en-US" sz="1602" dirty="0"/>
          </a:p>
        </p:txBody>
      </p:sp>
      <p:sp>
        <p:nvSpPr>
          <p:cNvPr id="8" name="Text 4"/>
          <p:cNvSpPr/>
          <p:nvPr/>
        </p:nvSpPr>
        <p:spPr>
          <a:xfrm>
            <a:off x="535781" y="1778794"/>
            <a:ext cx="3714750" cy="497188"/>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FFFFFF"/>
                </a:solidFill>
              </a:rPr>
              <a:t>The probability that </a:t>
            </a:r>
            <a:r>
              <a:rPr lang="en-US" sz="784" b="1" dirty="0">
                <a:solidFill>
                  <a:srgbClr val="FFFFFF"/>
                </a:solidFill>
              </a:rPr>
              <a:t>at least one</a:t>
            </a:r>
            <a:r>
              <a:rPr lang="en-US" sz="834" dirty="0">
                <a:solidFill>
                  <a:srgbClr val="FFFFFF"/>
                </a:solidFill>
              </a:rPr>
              <a:t> of the events A or B occurs equals the sum of their individual probabilities minus the probability of their intersection.</a:t>
            </a:r>
            <a:endParaRPr lang="en-US" sz="834" dirty="0"/>
          </a:p>
        </p:txBody>
      </p:sp>
      <p:sp>
        <p:nvSpPr>
          <p:cNvPr id="9" name="Shape 5"/>
          <p:cNvSpPr/>
          <p:nvPr/>
        </p:nvSpPr>
        <p:spPr>
          <a:xfrm>
            <a:off x="357188" y="2625232"/>
            <a:ext cx="4071938" cy="1095573"/>
          </a:xfrm>
          <a:prstGeom prst="rect">
            <a:avLst/>
          </a:prstGeom>
          <a:solidFill>
            <a:srgbClr val="00D9FF">
              <a:alpha val="10000"/>
            </a:srgbClr>
          </a:solidFill>
          <a:ln/>
        </p:spPr>
        <p:txBody>
          <a:bodyPr/>
          <a:lstStyle/>
          <a:p>
            <a:endParaRPr lang="en-US"/>
          </a:p>
        </p:txBody>
      </p:sp>
      <p:sp>
        <p:nvSpPr>
          <p:cNvPr id="10" name="Text 6"/>
          <p:cNvSpPr/>
          <p:nvPr/>
        </p:nvSpPr>
        <p:spPr>
          <a:xfrm>
            <a:off x="535781" y="2696670"/>
            <a:ext cx="3714750"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D9FF"/>
                </a:solidFill>
              </a:rPr>
              <a:t>Why Subtract the Intersection?</a:t>
            </a:r>
            <a:endParaRPr lang="en-US" sz="987" dirty="0"/>
          </a:p>
        </p:txBody>
      </p:sp>
      <p:sp>
        <p:nvSpPr>
          <p:cNvPr id="11" name="Text 7"/>
          <p:cNvSpPr/>
          <p:nvPr/>
        </p:nvSpPr>
        <p:spPr>
          <a:xfrm>
            <a:off x="535781" y="2948487"/>
            <a:ext cx="3714750" cy="51435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FFFFFF"/>
                </a:solidFill>
              </a:rPr>
              <a:t>When we add P(A) and P(B), we count the outcomes in the intersection </a:t>
            </a:r>
            <a:r>
              <a:rPr lang="en-US" sz="784" b="1" dirty="0">
                <a:solidFill>
                  <a:srgbClr val="FFD93D"/>
                </a:solidFill>
              </a:rPr>
              <a:t>A ∩ B twice</a:t>
            </a:r>
            <a:r>
              <a:rPr lang="en-US" sz="834" dirty="0">
                <a:solidFill>
                  <a:srgbClr val="FFFFFF"/>
                </a:solidFill>
              </a:rPr>
              <a:t>—once in P(A) and once in P(B). To correct for this </a:t>
            </a:r>
            <a:r>
              <a:rPr lang="en-US" sz="784" b="1" dirty="0">
                <a:solidFill>
                  <a:srgbClr val="FFD93D"/>
                </a:solidFill>
              </a:rPr>
              <a:t>double counting</a:t>
            </a:r>
            <a:r>
              <a:rPr lang="en-US" sz="834" dirty="0">
                <a:solidFill>
                  <a:srgbClr val="FFFFFF"/>
                </a:solidFill>
              </a:rPr>
              <a:t>, we must subtract P(A ∩ B) once.</a:t>
            </a:r>
            <a:endParaRPr lang="en-US" sz="834" dirty="0"/>
          </a:p>
        </p:txBody>
      </p:sp>
      <p:sp>
        <p:nvSpPr>
          <p:cNvPr id="12" name="Shape 8"/>
          <p:cNvSpPr/>
          <p:nvPr/>
        </p:nvSpPr>
        <p:spPr>
          <a:xfrm>
            <a:off x="357188" y="3802562"/>
            <a:ext cx="4071938" cy="1100841"/>
          </a:xfrm>
          <a:prstGeom prst="rect">
            <a:avLst/>
          </a:prstGeom>
          <a:solidFill>
            <a:srgbClr val="00D9FF">
              <a:alpha val="10000"/>
            </a:srgbClr>
          </a:solidFill>
          <a:ln/>
        </p:spPr>
        <p:txBody>
          <a:bodyPr/>
          <a:lstStyle/>
          <a:p>
            <a:endParaRPr lang="en-US"/>
          </a:p>
        </p:txBody>
      </p:sp>
      <p:sp>
        <p:nvSpPr>
          <p:cNvPr id="13" name="Text 9"/>
          <p:cNvSpPr/>
          <p:nvPr/>
        </p:nvSpPr>
        <p:spPr>
          <a:xfrm>
            <a:off x="535781" y="3873999"/>
            <a:ext cx="3714750"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D9FF"/>
                </a:solidFill>
              </a:rPr>
              <a:t>When to Use</a:t>
            </a:r>
            <a:endParaRPr lang="en-US" sz="987" dirty="0"/>
          </a:p>
        </p:txBody>
      </p:sp>
      <p:sp>
        <p:nvSpPr>
          <p:cNvPr id="14" name="Text 10"/>
          <p:cNvSpPr/>
          <p:nvPr/>
        </p:nvSpPr>
        <p:spPr>
          <a:xfrm>
            <a:off x="535781" y="4125816"/>
            <a:ext cx="3714750" cy="51435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FFFFFF"/>
                </a:solidFill>
              </a:rPr>
              <a:t>Use the general addition rule when finding the probability of </a:t>
            </a:r>
            <a:r>
              <a:rPr lang="en-US" sz="784" b="1" dirty="0">
                <a:solidFill>
                  <a:srgbClr val="FFD93D"/>
                </a:solidFill>
              </a:rPr>
              <a:t>A OR B</a:t>
            </a:r>
            <a:r>
              <a:rPr lang="en-US" sz="834" dirty="0">
                <a:solidFill>
                  <a:srgbClr val="FFFFFF"/>
                </a:solidFill>
              </a:rPr>
              <a:t> occurring, especially when the events can occur together (i.e., they are </a:t>
            </a:r>
            <a:r>
              <a:rPr lang="en-US" sz="784" b="1" dirty="0">
                <a:solidFill>
                  <a:srgbClr val="FFFFFF"/>
                </a:solidFill>
              </a:rPr>
              <a:t>not</a:t>
            </a:r>
            <a:r>
              <a:rPr lang="en-US" sz="834" dirty="0">
                <a:solidFill>
                  <a:srgbClr val="FFFFFF"/>
                </a:solidFill>
              </a:rPr>
              <a:t> mutually exclusive).</a:t>
            </a:r>
            <a:endParaRPr lang="en-US" sz="834" dirty="0"/>
          </a:p>
        </p:txBody>
      </p:sp>
      <p:sp>
        <p:nvSpPr>
          <p:cNvPr id="15" name="Text 11"/>
          <p:cNvSpPr/>
          <p:nvPr/>
        </p:nvSpPr>
        <p:spPr>
          <a:xfrm>
            <a:off x="4714875" y="966192"/>
            <a:ext cx="4071938" cy="251817"/>
          </a:xfrm>
          <a:prstGeom prst="rect">
            <a:avLst/>
          </a:prstGeom>
          <a:noFill/>
          <a:ln/>
        </p:spPr>
        <p:txBody>
          <a:bodyPr wrap="none" lIns="0" tIns="0" rIns="0" bIns="0" rtlCol="0" anchor="t">
            <a:spAutoFit/>
          </a:bodyPr>
          <a:lstStyle/>
          <a:p>
            <a:pPr marL="0" indent="0" algn="l">
              <a:lnSpc>
                <a:spcPts val="1800"/>
              </a:lnSpc>
              <a:buNone/>
            </a:pPr>
            <a:r>
              <a:rPr lang="en-US" sz="1295" b="1" dirty="0">
                <a:solidFill>
                  <a:srgbClr val="FFD93D"/>
                </a:solidFill>
              </a:rPr>
              <a:t>Special Case: Mutually Exclusive Events</a:t>
            </a:r>
            <a:endParaRPr lang="en-US" sz="1295" dirty="0"/>
          </a:p>
        </p:txBody>
      </p:sp>
      <p:sp>
        <p:nvSpPr>
          <p:cNvPr id="16" name="Shape 12"/>
          <p:cNvSpPr/>
          <p:nvPr/>
        </p:nvSpPr>
        <p:spPr>
          <a:xfrm>
            <a:off x="4714875" y="1303734"/>
            <a:ext cx="4071938" cy="1200848"/>
          </a:xfrm>
          <a:prstGeom prst="rect">
            <a:avLst/>
          </a:prstGeom>
          <a:solidFill>
            <a:srgbClr val="FFD73D">
              <a:alpha val="15000"/>
            </a:srgbClr>
          </a:solidFill>
          <a:ln/>
        </p:spPr>
        <p:txBody>
          <a:bodyPr/>
          <a:lstStyle/>
          <a:p>
            <a:endParaRPr lang="en-US"/>
          </a:p>
        </p:txBody>
      </p:sp>
      <p:sp>
        <p:nvSpPr>
          <p:cNvPr id="17" name="Text 13"/>
          <p:cNvSpPr/>
          <p:nvPr/>
        </p:nvSpPr>
        <p:spPr>
          <a:xfrm>
            <a:off x="4893469" y="1375172"/>
            <a:ext cx="3714750" cy="214313"/>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FFD93D"/>
                </a:solidFill>
              </a:rPr>
              <a:t>Simplified Addition Rule</a:t>
            </a:r>
            <a:endParaRPr lang="en-US" sz="1090" dirty="0"/>
          </a:p>
        </p:txBody>
      </p:sp>
      <p:sp>
        <p:nvSpPr>
          <p:cNvPr id="18" name="Text 14"/>
          <p:cNvSpPr/>
          <p:nvPr/>
        </p:nvSpPr>
        <p:spPr>
          <a:xfrm>
            <a:off x="4893469" y="1660922"/>
            <a:ext cx="3714750" cy="289322"/>
          </a:xfrm>
          <a:prstGeom prst="rect">
            <a:avLst/>
          </a:prstGeom>
          <a:noFill/>
          <a:ln/>
        </p:spPr>
        <p:txBody>
          <a:bodyPr wrap="none" lIns="0" tIns="0" rIns="0" bIns="0" rtlCol="0" anchor="t">
            <a:spAutoFit/>
          </a:bodyPr>
          <a:lstStyle/>
          <a:p>
            <a:pPr marL="0" indent="0" algn="ctr">
              <a:lnSpc>
                <a:spcPts val="1900"/>
              </a:lnSpc>
              <a:buNone/>
            </a:pPr>
            <a:r>
              <a:rPr lang="en-US" sz="1397" b="1" dirty="0">
                <a:solidFill>
                  <a:srgbClr val="FFD93D"/>
                </a:solidFill>
              </a:rPr>
              <a:t>P(A ∪ B) = P(A) + P(B)</a:t>
            </a:r>
            <a:endParaRPr lang="en-US" sz="1397" dirty="0"/>
          </a:p>
        </p:txBody>
      </p:sp>
      <p:sp>
        <p:nvSpPr>
          <p:cNvPr id="19" name="Text 15"/>
          <p:cNvSpPr/>
          <p:nvPr/>
        </p:nvSpPr>
        <p:spPr>
          <a:xfrm>
            <a:off x="4893469" y="1962944"/>
            <a:ext cx="3714750" cy="497188"/>
          </a:xfrm>
          <a:prstGeom prst="rect">
            <a:avLst/>
          </a:prstGeom>
          <a:noFill/>
          <a:ln/>
        </p:spPr>
        <p:txBody>
          <a:bodyPr wrap="square" lIns="0" tIns="0" rIns="0" bIns="0" rtlCol="0" anchor="t">
            <a:spAutoFit/>
          </a:bodyPr>
          <a:lstStyle/>
          <a:p>
            <a:pPr marL="0" indent="0" algn="l">
              <a:lnSpc>
                <a:spcPts val="1300"/>
              </a:lnSpc>
              <a:buNone/>
            </a:pPr>
            <a:r>
              <a:rPr lang="en-US" sz="784" b="1" dirty="0">
                <a:solidFill>
                  <a:srgbClr val="FFFFFF"/>
                </a:solidFill>
              </a:rPr>
              <a:t>Condition:</a:t>
            </a:r>
            <a:r>
              <a:rPr lang="en-US" sz="834" dirty="0">
                <a:solidFill>
                  <a:srgbClr val="FFFFFF"/>
                </a:solidFill>
              </a:rPr>
              <a:t> A and B are mutually exclusive (i.e., A ∩ B = ∅, so P(A ∩ B) = 0). When events cannot occur together, there is no overlap to subtract—we simply add the individual probabilities.</a:t>
            </a:r>
            <a:endParaRPr lang="en-US" sz="784" dirty="0"/>
          </a:p>
        </p:txBody>
      </p:sp>
      <p:sp>
        <p:nvSpPr>
          <p:cNvPr id="20" name="Shape 16"/>
          <p:cNvSpPr/>
          <p:nvPr/>
        </p:nvSpPr>
        <p:spPr>
          <a:xfrm>
            <a:off x="4714875" y="2618882"/>
            <a:ext cx="4071938" cy="1101923"/>
          </a:xfrm>
          <a:prstGeom prst="rect">
            <a:avLst/>
          </a:prstGeom>
          <a:solidFill>
            <a:srgbClr val="FFFFFF">
              <a:alpha val="5000"/>
            </a:srgbClr>
          </a:solidFill>
          <a:ln/>
        </p:spPr>
        <p:txBody>
          <a:bodyPr/>
          <a:lstStyle/>
          <a:p>
            <a:endParaRPr lang="en-US"/>
          </a:p>
        </p:txBody>
      </p:sp>
      <p:sp>
        <p:nvSpPr>
          <p:cNvPr id="21" name="Text 17"/>
          <p:cNvSpPr/>
          <p:nvPr/>
        </p:nvSpPr>
        <p:spPr>
          <a:xfrm>
            <a:off x="4872038" y="2690320"/>
            <a:ext cx="3757613"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D9FF"/>
                </a:solidFill>
              </a:rPr>
              <a:t>Extension to Multiple Events</a:t>
            </a:r>
            <a:endParaRPr lang="en-US" sz="987" dirty="0"/>
          </a:p>
        </p:txBody>
      </p:sp>
      <p:sp>
        <p:nvSpPr>
          <p:cNvPr id="22" name="Text 18"/>
          <p:cNvSpPr/>
          <p:nvPr/>
        </p:nvSpPr>
        <p:spPr>
          <a:xfrm>
            <a:off x="4872038" y="2956424"/>
            <a:ext cx="3757613" cy="346472"/>
          </a:xfrm>
          <a:prstGeom prst="rect">
            <a:avLst/>
          </a:prstGeom>
          <a:noFill/>
          <a:ln/>
        </p:spPr>
        <p:txBody>
          <a:bodyPr wrap="square" lIns="0" tIns="0" rIns="0" bIns="0" rtlCol="0" anchor="t">
            <a:spAutoFit/>
          </a:bodyPr>
          <a:lstStyle/>
          <a:p>
            <a:pPr marL="0" indent="0" algn="l">
              <a:lnSpc>
                <a:spcPts val="1400"/>
              </a:lnSpc>
              <a:buNone/>
            </a:pPr>
            <a:r>
              <a:rPr lang="en-US" sz="784" b="1" dirty="0">
                <a:solidFill>
                  <a:srgbClr val="FFFFFF"/>
                </a:solidFill>
              </a:rPr>
              <a:t>For three events:</a:t>
            </a:r>
            <a:r>
              <a:rPr lang="en-US" sz="885" b="1" dirty="0">
                <a:solidFill>
                  <a:srgbClr val="00D9FF"/>
                </a:solidFill>
              </a:rPr>
              <a:t>P(A ∪ B ∪ C) = P(A) + P(B) + P(C) - P(A ∩ B) - P(A ∩ C) - P(B ∩ C) + P(A ∩ B ∩ C)</a:t>
            </a:r>
            <a:endParaRPr lang="en-US" sz="784" dirty="0"/>
          </a:p>
        </p:txBody>
      </p:sp>
      <p:sp>
        <p:nvSpPr>
          <p:cNvPr id="23" name="Text 19"/>
          <p:cNvSpPr/>
          <p:nvPr/>
        </p:nvSpPr>
        <p:spPr>
          <a:xfrm>
            <a:off x="4872038" y="3374334"/>
            <a:ext cx="3757613" cy="346472"/>
          </a:xfrm>
          <a:prstGeom prst="rect">
            <a:avLst/>
          </a:prstGeom>
          <a:noFill/>
          <a:ln/>
        </p:spPr>
        <p:txBody>
          <a:bodyPr wrap="square" lIns="0" tIns="0" rIns="0" bIns="0" rtlCol="0" anchor="t">
            <a:spAutoFit/>
          </a:bodyPr>
          <a:lstStyle/>
          <a:p>
            <a:pPr marL="0" indent="0" algn="l">
              <a:lnSpc>
                <a:spcPts val="1400"/>
              </a:lnSpc>
              <a:buNone/>
            </a:pPr>
            <a:r>
              <a:rPr lang="en-US" sz="784" b="1" dirty="0">
                <a:solidFill>
                  <a:srgbClr val="FFFFFF"/>
                </a:solidFill>
              </a:rPr>
              <a:t>For mutually exclusive events:</a:t>
            </a:r>
            <a:r>
              <a:rPr lang="en-US" sz="885" b="1" dirty="0">
                <a:solidFill>
                  <a:srgbClr val="00D9FF"/>
                </a:solidFill>
              </a:rPr>
              <a:t>P(A₁ ∪ A₂ ∪ ... ∪ Aₙ) = P(A₁) + P(A₂) + ... + P(Aₙ)</a:t>
            </a:r>
            <a:endParaRPr lang="en-US" sz="784" dirty="0"/>
          </a:p>
        </p:txBody>
      </p:sp>
      <p:sp>
        <p:nvSpPr>
          <p:cNvPr id="24" name="Shape 20"/>
          <p:cNvSpPr/>
          <p:nvPr/>
        </p:nvSpPr>
        <p:spPr>
          <a:xfrm>
            <a:off x="4714875" y="3806530"/>
            <a:ext cx="4071938" cy="1111858"/>
          </a:xfrm>
          <a:prstGeom prst="rect">
            <a:avLst/>
          </a:prstGeom>
          <a:solidFill>
            <a:srgbClr val="00D9FF">
              <a:alpha val="10000"/>
            </a:srgbClr>
          </a:solidFill>
          <a:ln/>
        </p:spPr>
        <p:txBody>
          <a:bodyPr/>
          <a:lstStyle/>
          <a:p>
            <a:endParaRPr lang="en-US"/>
          </a:p>
        </p:txBody>
      </p:sp>
      <p:sp>
        <p:nvSpPr>
          <p:cNvPr id="25" name="Text 21"/>
          <p:cNvSpPr/>
          <p:nvPr/>
        </p:nvSpPr>
        <p:spPr>
          <a:xfrm>
            <a:off x="4872038" y="3877968"/>
            <a:ext cx="3757613"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D9FF"/>
                </a:solidFill>
              </a:rPr>
              <a:t>Key Takeaways</a:t>
            </a:r>
            <a:endParaRPr lang="en-US" sz="987" dirty="0"/>
          </a:p>
        </p:txBody>
      </p:sp>
      <p:sp>
        <p:nvSpPr>
          <p:cNvPr id="26" name="Text 22"/>
          <p:cNvSpPr/>
          <p:nvPr/>
        </p:nvSpPr>
        <p:spPr>
          <a:xfrm>
            <a:off x="5029200" y="4156574"/>
            <a:ext cx="721463" cy="15537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FFD93D"/>
                </a:solidFill>
              </a:rPr>
              <a:t>General rule:</a:t>
            </a:r>
            <a:endParaRPr lang="en-US" sz="784" dirty="0"/>
          </a:p>
        </p:txBody>
      </p:sp>
      <p:sp>
        <p:nvSpPr>
          <p:cNvPr id="27" name="Text 23"/>
          <p:cNvSpPr/>
          <p:nvPr/>
        </p:nvSpPr>
        <p:spPr>
          <a:xfrm>
            <a:off x="5702680" y="4161932"/>
            <a:ext cx="3124972" cy="33824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FFFFFF"/>
                </a:solidFill>
              </a:rPr>
              <a:t>Always subtract intersection to avoid double counting</a:t>
            </a:r>
            <a:endParaRPr lang="en-US" sz="834" dirty="0"/>
          </a:p>
        </p:txBody>
      </p:sp>
      <p:sp>
        <p:nvSpPr>
          <p:cNvPr id="28" name="Text 24"/>
          <p:cNvSpPr/>
          <p:nvPr/>
        </p:nvSpPr>
        <p:spPr>
          <a:xfrm>
            <a:off x="5029200" y="4543732"/>
            <a:ext cx="699418" cy="15537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FFD93D"/>
                </a:solidFill>
              </a:rPr>
              <a:t>Special case:</a:t>
            </a:r>
            <a:endParaRPr lang="en-US" sz="784" dirty="0"/>
          </a:p>
        </p:txBody>
      </p:sp>
      <p:sp>
        <p:nvSpPr>
          <p:cNvPr id="29" name="Text 25"/>
          <p:cNvSpPr/>
          <p:nvPr/>
        </p:nvSpPr>
        <p:spPr>
          <a:xfrm>
            <a:off x="5728618" y="4543732"/>
            <a:ext cx="2672795" cy="155377"/>
          </a:xfrm>
          <a:prstGeom prst="rect">
            <a:avLst/>
          </a:prstGeom>
          <a:noFill/>
          <a:ln/>
        </p:spPr>
        <p:txBody>
          <a:bodyPr wrap="none" lIns="0" tIns="0" rIns="0" bIns="0" rtlCol="0" anchor="t">
            <a:spAutoFit/>
          </a:bodyPr>
          <a:lstStyle/>
          <a:p>
            <a:pPr marL="0" indent="0" algn="l">
              <a:lnSpc>
                <a:spcPts val="1400"/>
              </a:lnSpc>
              <a:buNone/>
            </a:pPr>
            <a:r>
              <a:rPr lang="en-US" sz="834" dirty="0">
                <a:solidFill>
                  <a:srgbClr val="FFFFFF"/>
                </a:solidFill>
              </a:rPr>
              <a:t>For mutually exclusive events, intersection is zero</a:t>
            </a:r>
            <a:endParaRPr lang="en-US" sz="834" dirty="0"/>
          </a:p>
        </p:txBody>
      </p:sp>
      <p:sp>
        <p:nvSpPr>
          <p:cNvPr id="30" name="Text 26"/>
          <p:cNvSpPr/>
          <p:nvPr/>
        </p:nvSpPr>
        <p:spPr>
          <a:xfrm>
            <a:off x="5029200" y="4748026"/>
            <a:ext cx="585118" cy="15537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FFD93D"/>
                </a:solidFill>
              </a:rPr>
              <a:t>Union (∪):</a:t>
            </a:r>
            <a:endParaRPr lang="en-US" sz="784" dirty="0"/>
          </a:p>
        </p:txBody>
      </p:sp>
      <p:sp>
        <p:nvSpPr>
          <p:cNvPr id="31" name="Text 27"/>
          <p:cNvSpPr/>
          <p:nvPr/>
        </p:nvSpPr>
        <p:spPr>
          <a:xfrm>
            <a:off x="5728618" y="4740895"/>
            <a:ext cx="1650848" cy="155377"/>
          </a:xfrm>
          <a:prstGeom prst="rect">
            <a:avLst/>
          </a:prstGeom>
          <a:noFill/>
          <a:ln/>
        </p:spPr>
        <p:txBody>
          <a:bodyPr wrap="none" lIns="0" tIns="0" rIns="0" bIns="0" rtlCol="0" anchor="t">
            <a:spAutoFit/>
          </a:bodyPr>
          <a:lstStyle/>
          <a:p>
            <a:pPr marL="0" indent="0" algn="l">
              <a:lnSpc>
                <a:spcPts val="1400"/>
              </a:lnSpc>
              <a:buNone/>
            </a:pPr>
            <a:r>
              <a:rPr lang="en-US" sz="834" dirty="0">
                <a:solidFill>
                  <a:srgbClr val="FFFFFF"/>
                </a:solidFill>
              </a:rPr>
              <a:t>Represents "OR" in probability</a:t>
            </a:r>
            <a:endParaRPr lang="en-US" sz="834"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0" y="357188"/>
            <a:ext cx="9144000" cy="466130"/>
          </a:xfrm>
          <a:prstGeom prst="rect">
            <a:avLst/>
          </a:prstGeom>
          <a:noFill/>
          <a:ln/>
        </p:spPr>
        <p:txBody>
          <a:bodyPr wrap="none" lIns="0" tIns="0" rIns="0" bIns="0" rtlCol="0" anchor="t">
            <a:spAutoFit/>
          </a:bodyPr>
          <a:lstStyle/>
          <a:p>
            <a:pPr marL="0" indent="0" algn="ctr">
              <a:lnSpc>
                <a:spcPts val="3200"/>
              </a:lnSpc>
              <a:buNone/>
            </a:pPr>
            <a:r>
              <a:rPr lang="en-US" sz="2436" b="1" dirty="0">
                <a:solidFill>
                  <a:srgbClr val="00D9FF"/>
                </a:solidFill>
              </a:rPr>
              <a:t>Addition Rule: Worked Examples</a:t>
            </a:r>
            <a:endParaRPr lang="en-US" sz="2436" dirty="0"/>
          </a:p>
        </p:txBody>
      </p:sp>
      <p:sp>
        <p:nvSpPr>
          <p:cNvPr id="5" name="Text 1"/>
          <p:cNvSpPr/>
          <p:nvPr/>
        </p:nvSpPr>
        <p:spPr>
          <a:xfrm>
            <a:off x="0" y="880467"/>
            <a:ext cx="9144000" cy="175022"/>
          </a:xfrm>
          <a:prstGeom prst="rect">
            <a:avLst/>
          </a:prstGeom>
          <a:noFill/>
          <a:ln/>
        </p:spPr>
        <p:txBody>
          <a:bodyPr wrap="none" lIns="0" tIns="0" rIns="0" bIns="0" rtlCol="0" anchor="t">
            <a:spAutoFit/>
          </a:bodyPr>
          <a:lstStyle/>
          <a:p>
            <a:pPr marL="0" indent="0" algn="ctr">
              <a:lnSpc>
                <a:spcPts val="1200"/>
              </a:lnSpc>
              <a:buNone/>
            </a:pPr>
            <a:r>
              <a:rPr lang="en-US" sz="942" dirty="0">
                <a:solidFill>
                  <a:srgbClr val="FFD93D"/>
                </a:solidFill>
              </a:rPr>
              <a:t>Applying General and Special Cases</a:t>
            </a:r>
            <a:endParaRPr lang="en-US" sz="942" dirty="0"/>
          </a:p>
        </p:txBody>
      </p:sp>
      <p:sp>
        <p:nvSpPr>
          <p:cNvPr id="6" name="Shape 2"/>
          <p:cNvSpPr/>
          <p:nvPr/>
        </p:nvSpPr>
        <p:spPr>
          <a:xfrm>
            <a:off x="428625" y="1169789"/>
            <a:ext cx="4100513" cy="1796290"/>
          </a:xfrm>
          <a:prstGeom prst="rect">
            <a:avLst/>
          </a:prstGeom>
          <a:solidFill>
            <a:srgbClr val="FFFFFF">
              <a:alpha val="5000"/>
            </a:srgbClr>
          </a:solidFill>
          <a:ln/>
        </p:spPr>
        <p:txBody>
          <a:bodyPr/>
          <a:lstStyle/>
          <a:p>
            <a:endParaRPr lang="en-US"/>
          </a:p>
        </p:txBody>
      </p:sp>
      <p:sp>
        <p:nvSpPr>
          <p:cNvPr id="7" name="Text 3"/>
          <p:cNvSpPr/>
          <p:nvPr/>
        </p:nvSpPr>
        <p:spPr>
          <a:xfrm>
            <a:off x="607219" y="1198364"/>
            <a:ext cx="3743325" cy="350044"/>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FF6B9D"/>
                </a:solidFill>
              </a:rPr>
              <a:t>01</a:t>
            </a:r>
            <a:endParaRPr lang="en-US" sz="1808" dirty="0"/>
          </a:p>
        </p:txBody>
      </p:sp>
      <p:sp>
        <p:nvSpPr>
          <p:cNvPr id="8" name="Text 4"/>
          <p:cNvSpPr/>
          <p:nvPr/>
        </p:nvSpPr>
        <p:spPr>
          <a:xfrm>
            <a:off x="607219" y="1576983"/>
            <a:ext cx="3743325"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D9FF"/>
                </a:solidFill>
              </a:rPr>
              <a:t>Rolling a Die: Even OR Greater Than 4</a:t>
            </a:r>
            <a:endParaRPr lang="en-US" sz="987" dirty="0"/>
          </a:p>
        </p:txBody>
      </p:sp>
      <p:sp>
        <p:nvSpPr>
          <p:cNvPr id="9" name="Text 5"/>
          <p:cNvSpPr/>
          <p:nvPr/>
        </p:nvSpPr>
        <p:spPr>
          <a:xfrm>
            <a:off x="607219" y="1814513"/>
            <a:ext cx="3743325" cy="150019"/>
          </a:xfrm>
          <a:prstGeom prst="rect">
            <a:avLst/>
          </a:prstGeom>
          <a:noFill/>
          <a:ln/>
        </p:spPr>
        <p:txBody>
          <a:bodyPr wrap="none" lIns="0" tIns="0" rIns="0" bIns="0" rtlCol="0" anchor="t">
            <a:spAutoFit/>
          </a:bodyPr>
          <a:lstStyle/>
          <a:p>
            <a:pPr marL="0" indent="0" algn="l">
              <a:lnSpc>
                <a:spcPts val="1200"/>
              </a:lnSpc>
              <a:buNone/>
            </a:pPr>
            <a:r>
              <a:rPr lang="en-US" sz="734" b="1" dirty="0">
                <a:solidFill>
                  <a:srgbClr val="FFD93D"/>
                </a:solidFill>
              </a:rPr>
              <a:t>Problem:</a:t>
            </a:r>
            <a:r>
              <a:rPr lang="en-US" sz="780" dirty="0">
                <a:solidFill>
                  <a:srgbClr val="FFFFFF"/>
                </a:solidFill>
              </a:rPr>
              <a:t> Roll a standard die. Find P(even OR greater than 4).</a:t>
            </a:r>
            <a:endParaRPr lang="en-US" sz="734" dirty="0"/>
          </a:p>
        </p:txBody>
      </p:sp>
      <p:sp>
        <p:nvSpPr>
          <p:cNvPr id="10" name="Text 6"/>
          <p:cNvSpPr/>
          <p:nvPr/>
        </p:nvSpPr>
        <p:spPr>
          <a:xfrm>
            <a:off x="607219" y="1964531"/>
            <a:ext cx="3743325" cy="300038"/>
          </a:xfrm>
          <a:prstGeom prst="rect">
            <a:avLst/>
          </a:prstGeom>
          <a:noFill/>
          <a:ln/>
        </p:spPr>
        <p:txBody>
          <a:bodyPr wrap="square" lIns="0" tIns="0" rIns="0" bIns="0" rtlCol="0" anchor="t">
            <a:spAutoFit/>
          </a:bodyPr>
          <a:lstStyle/>
          <a:p>
            <a:pPr marL="0" indent="0" algn="l">
              <a:lnSpc>
                <a:spcPts val="1200"/>
              </a:lnSpc>
              <a:buNone/>
            </a:pPr>
            <a:r>
              <a:rPr lang="en-US" sz="734" b="1" dirty="0">
                <a:solidFill>
                  <a:srgbClr val="FFD93D"/>
                </a:solidFill>
              </a:rPr>
              <a:t>Events:</a:t>
            </a:r>
            <a:r>
              <a:rPr lang="en-US" sz="780" dirty="0">
                <a:solidFill>
                  <a:srgbClr val="FFFFFF"/>
                </a:solidFill>
              </a:rPr>
              <a:t> A = Even {2,4,6} → P(A)=1/2; B = &gt;4 {5,6} → P(B)=1/3
 A ∩ B = {6} → P(A ∩ B)=1/6</a:t>
            </a:r>
            <a:endParaRPr lang="en-US" sz="734" dirty="0"/>
          </a:p>
        </p:txBody>
      </p:sp>
      <p:sp>
        <p:nvSpPr>
          <p:cNvPr id="11" name="Shape 7"/>
          <p:cNvSpPr/>
          <p:nvPr/>
        </p:nvSpPr>
        <p:spPr>
          <a:xfrm>
            <a:off x="607219" y="2278856"/>
            <a:ext cx="3743325" cy="158586"/>
          </a:xfrm>
          <a:prstGeom prst="rect">
            <a:avLst/>
          </a:prstGeom>
          <a:solidFill>
            <a:srgbClr val="FFD73D">
              <a:alpha val="10000"/>
            </a:srgbClr>
          </a:solidFill>
          <a:ln/>
        </p:spPr>
        <p:txBody>
          <a:bodyPr/>
          <a:lstStyle/>
          <a:p>
            <a:endParaRPr lang="en-US"/>
          </a:p>
        </p:txBody>
      </p:sp>
      <p:sp>
        <p:nvSpPr>
          <p:cNvPr id="12" name="Text 8"/>
          <p:cNvSpPr/>
          <p:nvPr/>
        </p:nvSpPr>
        <p:spPr>
          <a:xfrm>
            <a:off x="692944" y="2307431"/>
            <a:ext cx="3571875" cy="130011"/>
          </a:xfrm>
          <a:prstGeom prst="rect">
            <a:avLst/>
          </a:prstGeom>
          <a:noFill/>
          <a:ln/>
        </p:spPr>
        <p:txBody>
          <a:bodyPr wrap="none" lIns="0" tIns="0" rIns="0" bIns="0" rtlCol="0" anchor="t">
            <a:spAutoFit/>
          </a:bodyPr>
          <a:lstStyle/>
          <a:p>
            <a:pPr marL="0" indent="0" algn="l">
              <a:lnSpc>
                <a:spcPts val="1000"/>
              </a:lnSpc>
              <a:buNone/>
            </a:pPr>
            <a:r>
              <a:rPr lang="en-US" sz="683" b="1" dirty="0">
                <a:solidFill>
                  <a:srgbClr val="FFFFFF"/>
                </a:solidFill>
              </a:rPr>
              <a:t>Rule:</a:t>
            </a:r>
            <a:r>
              <a:rPr lang="en-US" sz="727" dirty="0">
                <a:solidFill>
                  <a:srgbClr val="FFFFFF"/>
                </a:solidFill>
              </a:rPr>
              <a:t> General Addition (overlap)</a:t>
            </a:r>
            <a:endParaRPr lang="en-US" sz="683" dirty="0"/>
          </a:p>
        </p:txBody>
      </p:sp>
      <p:sp>
        <p:nvSpPr>
          <p:cNvPr id="13" name="Text 9"/>
          <p:cNvSpPr/>
          <p:nvPr/>
        </p:nvSpPr>
        <p:spPr>
          <a:xfrm>
            <a:off x="607219" y="2462445"/>
            <a:ext cx="1410081" cy="135731"/>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00D9FF"/>
                </a:solidFill>
              </a:rPr>
              <a:t>P(A ∪ B) = P(A)+P(B)-P(A ∩ B)</a:t>
            </a:r>
            <a:endParaRPr lang="en-US" sz="683" dirty="0"/>
          </a:p>
        </p:txBody>
      </p:sp>
      <p:sp>
        <p:nvSpPr>
          <p:cNvPr id="14" name="Text 10"/>
          <p:cNvSpPr/>
          <p:nvPr/>
        </p:nvSpPr>
        <p:spPr>
          <a:xfrm>
            <a:off x="607219" y="2616036"/>
            <a:ext cx="1002748" cy="135731"/>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00D9FF"/>
                </a:solidFill>
              </a:rPr>
              <a:t>= 1/2 + 1/3 - 1/6 = 2/3</a:t>
            </a:r>
            <a:endParaRPr lang="en-US" sz="683" dirty="0"/>
          </a:p>
        </p:txBody>
      </p:sp>
      <p:sp>
        <p:nvSpPr>
          <p:cNvPr id="15" name="Text 11"/>
          <p:cNvSpPr/>
          <p:nvPr/>
        </p:nvSpPr>
        <p:spPr>
          <a:xfrm>
            <a:off x="607219" y="2801773"/>
            <a:ext cx="3743325" cy="164306"/>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FF6B9D"/>
                </a:solidFill>
              </a:rPr>
              <a:t>Answer: P(even OR &gt; 4) = 2/3 ≈ 0.667</a:t>
            </a:r>
            <a:endParaRPr lang="en-US" sz="784" dirty="0"/>
          </a:p>
        </p:txBody>
      </p:sp>
      <p:sp>
        <p:nvSpPr>
          <p:cNvPr id="16" name="Shape 12"/>
          <p:cNvSpPr/>
          <p:nvPr/>
        </p:nvSpPr>
        <p:spPr>
          <a:xfrm>
            <a:off x="4614863" y="1169789"/>
            <a:ext cx="4100513" cy="1796290"/>
          </a:xfrm>
          <a:prstGeom prst="rect">
            <a:avLst/>
          </a:prstGeom>
          <a:solidFill>
            <a:srgbClr val="FFFFFF">
              <a:alpha val="5000"/>
            </a:srgbClr>
          </a:solidFill>
          <a:ln/>
        </p:spPr>
        <p:txBody>
          <a:bodyPr/>
          <a:lstStyle/>
          <a:p>
            <a:endParaRPr lang="en-US"/>
          </a:p>
        </p:txBody>
      </p:sp>
      <p:sp>
        <p:nvSpPr>
          <p:cNvPr id="17" name="Text 13"/>
          <p:cNvSpPr/>
          <p:nvPr/>
        </p:nvSpPr>
        <p:spPr>
          <a:xfrm>
            <a:off x="4793456" y="1198364"/>
            <a:ext cx="3743325" cy="350044"/>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FF6B9D"/>
                </a:solidFill>
              </a:rPr>
              <a:t>02</a:t>
            </a:r>
            <a:endParaRPr lang="en-US" sz="1808" dirty="0"/>
          </a:p>
        </p:txBody>
      </p:sp>
      <p:sp>
        <p:nvSpPr>
          <p:cNvPr id="18" name="Text 14"/>
          <p:cNvSpPr/>
          <p:nvPr/>
        </p:nvSpPr>
        <p:spPr>
          <a:xfrm>
            <a:off x="4793456" y="1576983"/>
            <a:ext cx="3743325"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D9FF"/>
                </a:solidFill>
              </a:rPr>
              <a:t>Drawing Cards: Heart OR Ace</a:t>
            </a:r>
            <a:endParaRPr lang="en-US" sz="987" dirty="0"/>
          </a:p>
        </p:txBody>
      </p:sp>
      <p:sp>
        <p:nvSpPr>
          <p:cNvPr id="19" name="Text 15"/>
          <p:cNvSpPr/>
          <p:nvPr/>
        </p:nvSpPr>
        <p:spPr>
          <a:xfrm>
            <a:off x="4793456" y="1814513"/>
            <a:ext cx="3743325" cy="150019"/>
          </a:xfrm>
          <a:prstGeom prst="rect">
            <a:avLst/>
          </a:prstGeom>
          <a:noFill/>
          <a:ln/>
        </p:spPr>
        <p:txBody>
          <a:bodyPr wrap="none" lIns="0" tIns="0" rIns="0" bIns="0" rtlCol="0" anchor="t">
            <a:spAutoFit/>
          </a:bodyPr>
          <a:lstStyle/>
          <a:p>
            <a:pPr marL="0" indent="0" algn="l">
              <a:lnSpc>
                <a:spcPts val="1200"/>
              </a:lnSpc>
              <a:buNone/>
            </a:pPr>
            <a:r>
              <a:rPr lang="en-US" sz="734" b="1" dirty="0">
                <a:solidFill>
                  <a:srgbClr val="FFD93D"/>
                </a:solidFill>
              </a:rPr>
              <a:t>Problem:</a:t>
            </a:r>
            <a:r>
              <a:rPr lang="en-US" sz="780" dirty="0">
                <a:solidFill>
                  <a:srgbClr val="FFFFFF"/>
                </a:solidFill>
              </a:rPr>
              <a:t> Draw one card. Find P(Heart OR Ace).</a:t>
            </a:r>
            <a:endParaRPr lang="en-US" sz="734" dirty="0"/>
          </a:p>
        </p:txBody>
      </p:sp>
      <p:sp>
        <p:nvSpPr>
          <p:cNvPr id="20" name="Text 16"/>
          <p:cNvSpPr/>
          <p:nvPr/>
        </p:nvSpPr>
        <p:spPr>
          <a:xfrm>
            <a:off x="4793456" y="1964531"/>
            <a:ext cx="3743325" cy="300038"/>
          </a:xfrm>
          <a:prstGeom prst="rect">
            <a:avLst/>
          </a:prstGeom>
          <a:noFill/>
          <a:ln/>
        </p:spPr>
        <p:txBody>
          <a:bodyPr wrap="square" lIns="0" tIns="0" rIns="0" bIns="0" rtlCol="0" anchor="t">
            <a:spAutoFit/>
          </a:bodyPr>
          <a:lstStyle/>
          <a:p>
            <a:pPr marL="0" indent="0" algn="l">
              <a:lnSpc>
                <a:spcPts val="1200"/>
              </a:lnSpc>
              <a:buNone/>
            </a:pPr>
            <a:r>
              <a:rPr lang="en-US" sz="734" b="1" dirty="0">
                <a:solidFill>
                  <a:srgbClr val="FFD93D"/>
                </a:solidFill>
              </a:rPr>
              <a:t>Events:</a:t>
            </a:r>
            <a:r>
              <a:rPr lang="en-US" sz="780" dirty="0">
                <a:solidFill>
                  <a:srgbClr val="FFFFFF"/>
                </a:solidFill>
              </a:rPr>
              <a:t> H = Heart (13) → P(H)=1/4; A = Ace (4) → P(A)=1/13
 H ∩ A = Ace of Hearts (1) → P=1/52</a:t>
            </a:r>
            <a:endParaRPr lang="en-US" sz="734" dirty="0"/>
          </a:p>
        </p:txBody>
      </p:sp>
      <p:sp>
        <p:nvSpPr>
          <p:cNvPr id="21" name="Shape 17"/>
          <p:cNvSpPr/>
          <p:nvPr/>
        </p:nvSpPr>
        <p:spPr>
          <a:xfrm>
            <a:off x="4793456" y="2278856"/>
            <a:ext cx="3743325" cy="158586"/>
          </a:xfrm>
          <a:prstGeom prst="rect">
            <a:avLst/>
          </a:prstGeom>
          <a:solidFill>
            <a:srgbClr val="FFD73D">
              <a:alpha val="10000"/>
            </a:srgbClr>
          </a:solidFill>
          <a:ln/>
        </p:spPr>
        <p:txBody>
          <a:bodyPr/>
          <a:lstStyle/>
          <a:p>
            <a:endParaRPr lang="en-US"/>
          </a:p>
        </p:txBody>
      </p:sp>
      <p:sp>
        <p:nvSpPr>
          <p:cNvPr id="22" name="Text 18"/>
          <p:cNvSpPr/>
          <p:nvPr/>
        </p:nvSpPr>
        <p:spPr>
          <a:xfrm>
            <a:off x="4879181" y="2307431"/>
            <a:ext cx="3571875" cy="130011"/>
          </a:xfrm>
          <a:prstGeom prst="rect">
            <a:avLst/>
          </a:prstGeom>
          <a:noFill/>
          <a:ln/>
        </p:spPr>
        <p:txBody>
          <a:bodyPr wrap="none" lIns="0" tIns="0" rIns="0" bIns="0" rtlCol="0" anchor="t">
            <a:spAutoFit/>
          </a:bodyPr>
          <a:lstStyle/>
          <a:p>
            <a:pPr marL="0" indent="0" algn="l">
              <a:lnSpc>
                <a:spcPts val="1000"/>
              </a:lnSpc>
              <a:buNone/>
            </a:pPr>
            <a:r>
              <a:rPr lang="en-US" sz="683" b="1" dirty="0">
                <a:solidFill>
                  <a:srgbClr val="FFFFFF"/>
                </a:solidFill>
              </a:rPr>
              <a:t>Rule:</a:t>
            </a:r>
            <a:r>
              <a:rPr lang="en-US" sz="727" dirty="0">
                <a:solidFill>
                  <a:srgbClr val="FFFFFF"/>
                </a:solidFill>
              </a:rPr>
              <a:t> General Addition (overlap)</a:t>
            </a:r>
            <a:endParaRPr lang="en-US" sz="683" dirty="0"/>
          </a:p>
        </p:txBody>
      </p:sp>
      <p:sp>
        <p:nvSpPr>
          <p:cNvPr id="23" name="Text 19"/>
          <p:cNvSpPr/>
          <p:nvPr/>
        </p:nvSpPr>
        <p:spPr>
          <a:xfrm>
            <a:off x="4793456" y="2462445"/>
            <a:ext cx="1489695" cy="135731"/>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00D9FF"/>
                </a:solidFill>
              </a:rPr>
              <a:t>P(H ∪ A) = P(H)+P(A) - P(H ∩ A)</a:t>
            </a:r>
            <a:endParaRPr lang="en-US" sz="683" dirty="0"/>
          </a:p>
        </p:txBody>
      </p:sp>
      <p:sp>
        <p:nvSpPr>
          <p:cNvPr id="24" name="Text 20"/>
          <p:cNvSpPr/>
          <p:nvPr/>
        </p:nvSpPr>
        <p:spPr>
          <a:xfrm>
            <a:off x="4793456" y="2616036"/>
            <a:ext cx="1666615" cy="135731"/>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00D9FF"/>
                </a:solidFill>
              </a:rPr>
              <a:t>= 13/52 + 4/52 - 1/52 = 16/52 = 4/13</a:t>
            </a:r>
            <a:endParaRPr lang="en-US" sz="683" dirty="0"/>
          </a:p>
        </p:txBody>
      </p:sp>
      <p:sp>
        <p:nvSpPr>
          <p:cNvPr id="25" name="Text 21"/>
          <p:cNvSpPr/>
          <p:nvPr/>
        </p:nvSpPr>
        <p:spPr>
          <a:xfrm>
            <a:off x="4793456" y="2801773"/>
            <a:ext cx="3743325" cy="164306"/>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FF6B9D"/>
                </a:solidFill>
              </a:rPr>
              <a:t>Answer: P(Heart OR Ace) = 4/13 ≈ 0.308</a:t>
            </a:r>
            <a:endParaRPr lang="en-US" sz="784" dirty="0"/>
          </a:p>
        </p:txBody>
      </p:sp>
      <p:sp>
        <p:nvSpPr>
          <p:cNvPr id="26" name="Shape 22"/>
          <p:cNvSpPr/>
          <p:nvPr/>
        </p:nvSpPr>
        <p:spPr>
          <a:xfrm>
            <a:off x="428625" y="3051804"/>
            <a:ext cx="4100513" cy="1787361"/>
          </a:xfrm>
          <a:prstGeom prst="rect">
            <a:avLst/>
          </a:prstGeom>
          <a:solidFill>
            <a:srgbClr val="FFFFFF">
              <a:alpha val="5000"/>
            </a:srgbClr>
          </a:solidFill>
          <a:ln/>
        </p:spPr>
        <p:txBody>
          <a:bodyPr/>
          <a:lstStyle/>
          <a:p>
            <a:endParaRPr lang="en-US"/>
          </a:p>
        </p:txBody>
      </p:sp>
      <p:sp>
        <p:nvSpPr>
          <p:cNvPr id="27" name="Text 23"/>
          <p:cNvSpPr/>
          <p:nvPr/>
        </p:nvSpPr>
        <p:spPr>
          <a:xfrm>
            <a:off x="607219" y="3080379"/>
            <a:ext cx="3743325" cy="350044"/>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FF6B9D"/>
                </a:solidFill>
              </a:rPr>
              <a:t>03</a:t>
            </a:r>
            <a:endParaRPr lang="en-US" sz="1808" dirty="0"/>
          </a:p>
        </p:txBody>
      </p:sp>
      <p:sp>
        <p:nvSpPr>
          <p:cNvPr id="28" name="Text 24"/>
          <p:cNvSpPr/>
          <p:nvPr/>
        </p:nvSpPr>
        <p:spPr>
          <a:xfrm>
            <a:off x="607219" y="3458998"/>
            <a:ext cx="3743325"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D9FF"/>
                </a:solidFill>
              </a:rPr>
              <a:t>Student Demographics: CS OR Math Major</a:t>
            </a:r>
            <a:endParaRPr lang="en-US" sz="987" dirty="0"/>
          </a:p>
        </p:txBody>
      </p:sp>
      <p:sp>
        <p:nvSpPr>
          <p:cNvPr id="29" name="Text 25"/>
          <p:cNvSpPr/>
          <p:nvPr/>
        </p:nvSpPr>
        <p:spPr>
          <a:xfrm>
            <a:off x="607219" y="3696528"/>
            <a:ext cx="3743325" cy="150019"/>
          </a:xfrm>
          <a:prstGeom prst="rect">
            <a:avLst/>
          </a:prstGeom>
          <a:noFill/>
          <a:ln/>
        </p:spPr>
        <p:txBody>
          <a:bodyPr wrap="none" lIns="0" tIns="0" rIns="0" bIns="0" rtlCol="0" anchor="t">
            <a:spAutoFit/>
          </a:bodyPr>
          <a:lstStyle/>
          <a:p>
            <a:pPr marL="0" indent="0" algn="l">
              <a:lnSpc>
                <a:spcPts val="1200"/>
              </a:lnSpc>
              <a:buNone/>
            </a:pPr>
            <a:r>
              <a:rPr lang="en-US" sz="734" b="1" dirty="0">
                <a:solidFill>
                  <a:srgbClr val="FFD93D"/>
                </a:solidFill>
              </a:rPr>
              <a:t>Problem:</a:t>
            </a:r>
            <a:r>
              <a:rPr lang="en-US" sz="780" dirty="0">
                <a:solidFill>
                  <a:srgbClr val="FFFFFF"/>
                </a:solidFill>
              </a:rPr>
              <a:t> Class: 40% CS, 30% Math, 15% both. Find P(CS OR Math).</a:t>
            </a:r>
            <a:endParaRPr lang="en-US" sz="734" dirty="0"/>
          </a:p>
        </p:txBody>
      </p:sp>
      <p:sp>
        <p:nvSpPr>
          <p:cNvPr id="30" name="Text 26"/>
          <p:cNvSpPr/>
          <p:nvPr/>
        </p:nvSpPr>
        <p:spPr>
          <a:xfrm>
            <a:off x="607219" y="3846547"/>
            <a:ext cx="3743325" cy="300038"/>
          </a:xfrm>
          <a:prstGeom prst="rect">
            <a:avLst/>
          </a:prstGeom>
          <a:noFill/>
          <a:ln/>
        </p:spPr>
        <p:txBody>
          <a:bodyPr wrap="square" lIns="0" tIns="0" rIns="0" bIns="0" rtlCol="0" anchor="t">
            <a:spAutoFit/>
          </a:bodyPr>
          <a:lstStyle/>
          <a:p>
            <a:pPr marL="0" indent="0" algn="l">
              <a:lnSpc>
                <a:spcPts val="1200"/>
              </a:lnSpc>
              <a:buNone/>
            </a:pPr>
            <a:r>
              <a:rPr lang="en-US" sz="734" b="1" dirty="0">
                <a:solidFill>
                  <a:srgbClr val="FFD93D"/>
                </a:solidFill>
              </a:rPr>
              <a:t>Events:</a:t>
            </a:r>
            <a:r>
              <a:rPr lang="en-US" sz="780" dirty="0">
                <a:solidFill>
                  <a:srgbClr val="FFFFFF"/>
                </a:solidFill>
              </a:rPr>
              <a:t> C = CS → P=0.40; M = Math → P=0.30
 C ∩ M = Both → P=0.15</a:t>
            </a:r>
            <a:endParaRPr lang="en-US" sz="734" dirty="0"/>
          </a:p>
        </p:txBody>
      </p:sp>
      <p:sp>
        <p:nvSpPr>
          <p:cNvPr id="31" name="Shape 27"/>
          <p:cNvSpPr/>
          <p:nvPr/>
        </p:nvSpPr>
        <p:spPr>
          <a:xfrm>
            <a:off x="607219" y="4160872"/>
            <a:ext cx="3743325" cy="158586"/>
          </a:xfrm>
          <a:prstGeom prst="rect">
            <a:avLst/>
          </a:prstGeom>
          <a:solidFill>
            <a:srgbClr val="FFD73D">
              <a:alpha val="10000"/>
            </a:srgbClr>
          </a:solidFill>
          <a:ln/>
        </p:spPr>
        <p:txBody>
          <a:bodyPr/>
          <a:lstStyle/>
          <a:p>
            <a:endParaRPr lang="en-US"/>
          </a:p>
        </p:txBody>
      </p:sp>
      <p:sp>
        <p:nvSpPr>
          <p:cNvPr id="32" name="Text 28"/>
          <p:cNvSpPr/>
          <p:nvPr/>
        </p:nvSpPr>
        <p:spPr>
          <a:xfrm>
            <a:off x="692944" y="4189447"/>
            <a:ext cx="3571875" cy="130011"/>
          </a:xfrm>
          <a:prstGeom prst="rect">
            <a:avLst/>
          </a:prstGeom>
          <a:noFill/>
          <a:ln/>
        </p:spPr>
        <p:txBody>
          <a:bodyPr wrap="none" lIns="0" tIns="0" rIns="0" bIns="0" rtlCol="0" anchor="t">
            <a:spAutoFit/>
          </a:bodyPr>
          <a:lstStyle/>
          <a:p>
            <a:pPr marL="0" indent="0" algn="l">
              <a:lnSpc>
                <a:spcPts val="1000"/>
              </a:lnSpc>
              <a:buNone/>
            </a:pPr>
            <a:r>
              <a:rPr lang="en-US" sz="683" b="1" dirty="0">
                <a:solidFill>
                  <a:srgbClr val="FFFFFF"/>
                </a:solidFill>
              </a:rPr>
              <a:t>Rule:</a:t>
            </a:r>
            <a:r>
              <a:rPr lang="en-US" sz="727" dirty="0">
                <a:solidFill>
                  <a:srgbClr val="FFFFFF"/>
                </a:solidFill>
              </a:rPr>
              <a:t> General Addition (overlap)</a:t>
            </a:r>
            <a:endParaRPr lang="en-US" sz="683" dirty="0"/>
          </a:p>
        </p:txBody>
      </p:sp>
      <p:sp>
        <p:nvSpPr>
          <p:cNvPr id="33" name="Text 29"/>
          <p:cNvSpPr/>
          <p:nvPr/>
        </p:nvSpPr>
        <p:spPr>
          <a:xfrm>
            <a:off x="607219" y="4344460"/>
            <a:ext cx="1530800" cy="135731"/>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00D9FF"/>
                </a:solidFill>
              </a:rPr>
              <a:t>P(C ∪ M) = P(C)+P(M) - P(C ∩ M)</a:t>
            </a:r>
            <a:endParaRPr lang="en-US" sz="683" dirty="0"/>
          </a:p>
        </p:txBody>
      </p:sp>
      <p:sp>
        <p:nvSpPr>
          <p:cNvPr id="34" name="Text 30"/>
          <p:cNvSpPr/>
          <p:nvPr/>
        </p:nvSpPr>
        <p:spPr>
          <a:xfrm>
            <a:off x="607219" y="4498051"/>
            <a:ext cx="1183965" cy="135731"/>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00D9FF"/>
                </a:solidFill>
              </a:rPr>
              <a:t>= 0.40 + 0.30 - 0.15 = 0.55</a:t>
            </a:r>
            <a:endParaRPr lang="en-US" sz="683" dirty="0"/>
          </a:p>
        </p:txBody>
      </p:sp>
      <p:sp>
        <p:nvSpPr>
          <p:cNvPr id="35" name="Text 31"/>
          <p:cNvSpPr/>
          <p:nvPr/>
        </p:nvSpPr>
        <p:spPr>
          <a:xfrm>
            <a:off x="607219" y="4683789"/>
            <a:ext cx="3743325" cy="155377"/>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FF6B9D"/>
                </a:solidFill>
              </a:rPr>
              <a:t>Answer: P(CS OR Math) = 0.55 or 55%</a:t>
            </a:r>
            <a:endParaRPr lang="en-US" sz="784" dirty="0"/>
          </a:p>
        </p:txBody>
      </p:sp>
      <p:sp>
        <p:nvSpPr>
          <p:cNvPr id="36" name="Shape 32"/>
          <p:cNvSpPr/>
          <p:nvPr/>
        </p:nvSpPr>
        <p:spPr>
          <a:xfrm>
            <a:off x="4614863" y="3051804"/>
            <a:ext cx="4100513" cy="1787361"/>
          </a:xfrm>
          <a:prstGeom prst="rect">
            <a:avLst/>
          </a:prstGeom>
          <a:solidFill>
            <a:srgbClr val="FFFFFF">
              <a:alpha val="5000"/>
            </a:srgbClr>
          </a:solidFill>
          <a:ln/>
        </p:spPr>
        <p:txBody>
          <a:bodyPr/>
          <a:lstStyle/>
          <a:p>
            <a:endParaRPr lang="en-US"/>
          </a:p>
        </p:txBody>
      </p:sp>
      <p:sp>
        <p:nvSpPr>
          <p:cNvPr id="37" name="Text 33"/>
          <p:cNvSpPr/>
          <p:nvPr/>
        </p:nvSpPr>
        <p:spPr>
          <a:xfrm>
            <a:off x="4793456" y="3080379"/>
            <a:ext cx="3743325" cy="350044"/>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FF6B9D"/>
                </a:solidFill>
              </a:rPr>
              <a:t>04</a:t>
            </a:r>
            <a:endParaRPr lang="en-US" sz="1808" dirty="0"/>
          </a:p>
        </p:txBody>
      </p:sp>
      <p:sp>
        <p:nvSpPr>
          <p:cNvPr id="38" name="Text 34"/>
          <p:cNvSpPr/>
          <p:nvPr/>
        </p:nvSpPr>
        <p:spPr>
          <a:xfrm>
            <a:off x="4793456" y="3458998"/>
            <a:ext cx="3743325"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D9FF"/>
                </a:solidFill>
              </a:rPr>
              <a:t>Drawing Cards: Heart OR Spade</a:t>
            </a:r>
            <a:endParaRPr lang="en-US" sz="987" dirty="0"/>
          </a:p>
        </p:txBody>
      </p:sp>
      <p:sp>
        <p:nvSpPr>
          <p:cNvPr id="39" name="Text 35"/>
          <p:cNvSpPr/>
          <p:nvPr/>
        </p:nvSpPr>
        <p:spPr>
          <a:xfrm>
            <a:off x="4793456" y="3696528"/>
            <a:ext cx="3743325" cy="150019"/>
          </a:xfrm>
          <a:prstGeom prst="rect">
            <a:avLst/>
          </a:prstGeom>
          <a:noFill/>
          <a:ln/>
        </p:spPr>
        <p:txBody>
          <a:bodyPr wrap="none" lIns="0" tIns="0" rIns="0" bIns="0" rtlCol="0" anchor="t">
            <a:spAutoFit/>
          </a:bodyPr>
          <a:lstStyle/>
          <a:p>
            <a:pPr marL="0" indent="0" algn="l">
              <a:lnSpc>
                <a:spcPts val="1200"/>
              </a:lnSpc>
              <a:buNone/>
            </a:pPr>
            <a:r>
              <a:rPr lang="en-US" sz="734" b="1" dirty="0">
                <a:solidFill>
                  <a:srgbClr val="FFD93D"/>
                </a:solidFill>
              </a:rPr>
              <a:t>Problem:</a:t>
            </a:r>
            <a:r>
              <a:rPr lang="en-US" sz="780" dirty="0">
                <a:solidFill>
                  <a:srgbClr val="FFFFFF"/>
                </a:solidFill>
              </a:rPr>
              <a:t> Draw one card. Find P(Heart OR Spade).</a:t>
            </a:r>
            <a:endParaRPr lang="en-US" sz="734" dirty="0"/>
          </a:p>
        </p:txBody>
      </p:sp>
      <p:sp>
        <p:nvSpPr>
          <p:cNvPr id="40" name="Text 36"/>
          <p:cNvSpPr/>
          <p:nvPr/>
        </p:nvSpPr>
        <p:spPr>
          <a:xfrm>
            <a:off x="4793456" y="3846547"/>
            <a:ext cx="3743325" cy="300038"/>
          </a:xfrm>
          <a:prstGeom prst="rect">
            <a:avLst/>
          </a:prstGeom>
          <a:noFill/>
          <a:ln/>
        </p:spPr>
        <p:txBody>
          <a:bodyPr wrap="square" lIns="0" tIns="0" rIns="0" bIns="0" rtlCol="0" anchor="t">
            <a:spAutoFit/>
          </a:bodyPr>
          <a:lstStyle/>
          <a:p>
            <a:pPr marL="0" indent="0" algn="l">
              <a:lnSpc>
                <a:spcPts val="1200"/>
              </a:lnSpc>
              <a:buNone/>
            </a:pPr>
            <a:r>
              <a:rPr lang="en-US" sz="734" b="1" dirty="0">
                <a:solidFill>
                  <a:srgbClr val="FFD93D"/>
                </a:solidFill>
              </a:rPr>
              <a:t>Events:</a:t>
            </a:r>
            <a:r>
              <a:rPr lang="en-US" sz="780" dirty="0">
                <a:solidFill>
                  <a:srgbClr val="FFFFFF"/>
                </a:solidFill>
              </a:rPr>
              <a:t> H = Heart (13) → P=1/4; S = Spade (13) → P=1/4
 H ∩ S = ∅ → P=0</a:t>
            </a:r>
            <a:endParaRPr lang="en-US" sz="734" dirty="0"/>
          </a:p>
        </p:txBody>
      </p:sp>
      <p:sp>
        <p:nvSpPr>
          <p:cNvPr id="41" name="Shape 37"/>
          <p:cNvSpPr/>
          <p:nvPr/>
        </p:nvSpPr>
        <p:spPr>
          <a:xfrm>
            <a:off x="4793456" y="4160872"/>
            <a:ext cx="3743325" cy="158586"/>
          </a:xfrm>
          <a:prstGeom prst="rect">
            <a:avLst/>
          </a:prstGeom>
          <a:solidFill>
            <a:srgbClr val="FFD73D">
              <a:alpha val="10000"/>
            </a:srgbClr>
          </a:solidFill>
          <a:ln/>
        </p:spPr>
        <p:txBody>
          <a:bodyPr/>
          <a:lstStyle/>
          <a:p>
            <a:endParaRPr lang="en-US"/>
          </a:p>
        </p:txBody>
      </p:sp>
      <p:sp>
        <p:nvSpPr>
          <p:cNvPr id="42" name="Text 38"/>
          <p:cNvSpPr/>
          <p:nvPr/>
        </p:nvSpPr>
        <p:spPr>
          <a:xfrm>
            <a:off x="4879181" y="4189447"/>
            <a:ext cx="3571875" cy="130011"/>
          </a:xfrm>
          <a:prstGeom prst="rect">
            <a:avLst/>
          </a:prstGeom>
          <a:noFill/>
          <a:ln/>
        </p:spPr>
        <p:txBody>
          <a:bodyPr wrap="none" lIns="0" tIns="0" rIns="0" bIns="0" rtlCol="0" anchor="t">
            <a:spAutoFit/>
          </a:bodyPr>
          <a:lstStyle/>
          <a:p>
            <a:pPr marL="0" indent="0" algn="l">
              <a:lnSpc>
                <a:spcPts val="1000"/>
              </a:lnSpc>
              <a:buNone/>
            </a:pPr>
            <a:r>
              <a:rPr lang="en-US" sz="683" b="1" dirty="0">
                <a:solidFill>
                  <a:srgbClr val="FFFFFF"/>
                </a:solidFill>
              </a:rPr>
              <a:t>Rule:</a:t>
            </a:r>
            <a:r>
              <a:rPr lang="en-US" sz="727" dirty="0">
                <a:solidFill>
                  <a:srgbClr val="FFFFFF"/>
                </a:solidFill>
              </a:rPr>
              <a:t> Special Addition (mutually exclusive)</a:t>
            </a:r>
            <a:endParaRPr lang="en-US" sz="683" dirty="0"/>
          </a:p>
        </p:txBody>
      </p:sp>
      <p:sp>
        <p:nvSpPr>
          <p:cNvPr id="43" name="Text 39"/>
          <p:cNvSpPr/>
          <p:nvPr/>
        </p:nvSpPr>
        <p:spPr>
          <a:xfrm>
            <a:off x="4793456" y="4344460"/>
            <a:ext cx="959830" cy="135731"/>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00D9FF"/>
                </a:solidFill>
              </a:rPr>
              <a:t>P(H ∪ S) = P(H)+P(S)</a:t>
            </a:r>
            <a:endParaRPr lang="en-US" sz="683" dirty="0"/>
          </a:p>
        </p:txBody>
      </p:sp>
      <p:sp>
        <p:nvSpPr>
          <p:cNvPr id="44" name="Text 40"/>
          <p:cNvSpPr/>
          <p:nvPr/>
        </p:nvSpPr>
        <p:spPr>
          <a:xfrm>
            <a:off x="4793456" y="4498051"/>
            <a:ext cx="1370986" cy="135731"/>
          </a:xfrm>
          <a:prstGeom prst="rect">
            <a:avLst/>
          </a:prstGeom>
          <a:noFill/>
          <a:ln/>
        </p:spPr>
        <p:txBody>
          <a:bodyPr wrap="none" lIns="0" tIns="0" rIns="0" bIns="0" rtlCol="0" anchor="t">
            <a:spAutoFit/>
          </a:bodyPr>
          <a:lstStyle/>
          <a:p>
            <a:pPr marL="0" indent="0" algn="l">
              <a:lnSpc>
                <a:spcPts val="1200"/>
              </a:lnSpc>
              <a:buNone/>
            </a:pPr>
            <a:r>
              <a:rPr lang="en-US" sz="683" b="1" dirty="0">
                <a:solidFill>
                  <a:srgbClr val="00D9FF"/>
                </a:solidFill>
              </a:rPr>
              <a:t>= 13/52 + 13/52 = 26/52 = 1/2</a:t>
            </a:r>
            <a:endParaRPr lang="en-US" sz="683" dirty="0"/>
          </a:p>
        </p:txBody>
      </p:sp>
      <p:sp>
        <p:nvSpPr>
          <p:cNvPr id="45" name="Text 41"/>
          <p:cNvSpPr/>
          <p:nvPr/>
        </p:nvSpPr>
        <p:spPr>
          <a:xfrm>
            <a:off x="4793456" y="4683789"/>
            <a:ext cx="3743325" cy="155377"/>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FF6B9D"/>
                </a:solidFill>
              </a:rPr>
              <a:t>Answer: P(Heart OR Spade) = 1/2 = 0.5</a:t>
            </a:r>
            <a:endParaRPr lang="en-US" sz="784"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1"/>
            <a:ext cx="9144000" cy="5143499"/>
          </a:xfrm>
          <a:prstGeom prst="rect">
            <a:avLst/>
          </a:prstGeom>
        </p:spPr>
      </p:pic>
      <p:sp>
        <p:nvSpPr>
          <p:cNvPr id="4" name="Text 0"/>
          <p:cNvSpPr/>
          <p:nvPr/>
        </p:nvSpPr>
        <p:spPr>
          <a:xfrm>
            <a:off x="0" y="357188"/>
            <a:ext cx="9144000" cy="466130"/>
          </a:xfrm>
          <a:prstGeom prst="rect">
            <a:avLst/>
          </a:prstGeom>
          <a:noFill/>
          <a:ln/>
        </p:spPr>
        <p:txBody>
          <a:bodyPr wrap="none" lIns="0" tIns="0" rIns="0" bIns="0" rtlCol="0" anchor="t">
            <a:spAutoFit/>
          </a:bodyPr>
          <a:lstStyle/>
          <a:p>
            <a:pPr marL="0" indent="0" algn="ctr">
              <a:lnSpc>
                <a:spcPts val="3200"/>
              </a:lnSpc>
              <a:buNone/>
            </a:pPr>
            <a:r>
              <a:rPr lang="en-US" sz="2436" b="1" dirty="0">
                <a:solidFill>
                  <a:srgbClr val="00D9FF"/>
                </a:solidFill>
              </a:rPr>
              <a:t>Multiplication Rule of Probability</a:t>
            </a:r>
            <a:endParaRPr lang="en-US" sz="2436" dirty="0"/>
          </a:p>
        </p:txBody>
      </p:sp>
      <p:sp>
        <p:nvSpPr>
          <p:cNvPr id="5" name="Text 1"/>
          <p:cNvSpPr/>
          <p:nvPr/>
        </p:nvSpPr>
        <p:spPr>
          <a:xfrm>
            <a:off x="285750" y="966192"/>
            <a:ext cx="4107656" cy="251817"/>
          </a:xfrm>
          <a:prstGeom prst="rect">
            <a:avLst/>
          </a:prstGeom>
          <a:noFill/>
          <a:ln/>
        </p:spPr>
        <p:txBody>
          <a:bodyPr wrap="none" lIns="0" tIns="0" rIns="0" bIns="0" rtlCol="0" anchor="t">
            <a:spAutoFit/>
          </a:bodyPr>
          <a:lstStyle/>
          <a:p>
            <a:pPr marL="0" indent="0" algn="l">
              <a:lnSpc>
                <a:spcPts val="1800"/>
              </a:lnSpc>
              <a:buNone/>
            </a:pPr>
            <a:r>
              <a:rPr lang="en-US" sz="1295" b="1" dirty="0">
                <a:solidFill>
                  <a:srgbClr val="FFD93D"/>
                </a:solidFill>
              </a:rPr>
              <a:t>General Multiplication Rule</a:t>
            </a:r>
            <a:endParaRPr lang="en-US" sz="1295" dirty="0"/>
          </a:p>
        </p:txBody>
      </p:sp>
      <p:sp>
        <p:nvSpPr>
          <p:cNvPr id="6" name="Shape 2"/>
          <p:cNvSpPr/>
          <p:nvPr/>
        </p:nvSpPr>
        <p:spPr>
          <a:xfrm>
            <a:off x="285750" y="1325166"/>
            <a:ext cx="4107656" cy="846534"/>
          </a:xfrm>
          <a:prstGeom prst="rect">
            <a:avLst/>
          </a:prstGeom>
          <a:solidFill>
            <a:srgbClr val="FF6B9D">
              <a:alpha val="15000"/>
            </a:srgbClr>
          </a:solidFill>
          <a:ln/>
        </p:spPr>
        <p:txBody>
          <a:bodyPr/>
          <a:lstStyle/>
          <a:p>
            <a:endParaRPr lang="en-US"/>
          </a:p>
        </p:txBody>
      </p:sp>
      <p:sp>
        <p:nvSpPr>
          <p:cNvPr id="7" name="Text 3"/>
          <p:cNvSpPr/>
          <p:nvPr/>
        </p:nvSpPr>
        <p:spPr>
          <a:xfrm>
            <a:off x="464344" y="1410891"/>
            <a:ext cx="3750469" cy="332184"/>
          </a:xfrm>
          <a:prstGeom prst="rect">
            <a:avLst/>
          </a:prstGeom>
          <a:noFill/>
          <a:ln/>
        </p:spPr>
        <p:txBody>
          <a:bodyPr wrap="none" lIns="0" tIns="0" rIns="0" bIns="0" rtlCol="0" anchor="t">
            <a:spAutoFit/>
          </a:bodyPr>
          <a:lstStyle/>
          <a:p>
            <a:pPr marL="0" indent="0" algn="ctr">
              <a:lnSpc>
                <a:spcPts val="2200"/>
              </a:lnSpc>
              <a:buNone/>
            </a:pPr>
            <a:r>
              <a:rPr lang="en-US" sz="1602" b="1" dirty="0">
                <a:solidFill>
                  <a:srgbClr val="FF6B9D"/>
                </a:solidFill>
              </a:rPr>
              <a:t>P(A ∩ B) = P(A) × P(B|A)</a:t>
            </a:r>
            <a:endParaRPr lang="en-US" sz="1602" dirty="0"/>
          </a:p>
        </p:txBody>
      </p:sp>
      <p:sp>
        <p:nvSpPr>
          <p:cNvPr id="8" name="Text 4"/>
          <p:cNvSpPr/>
          <p:nvPr/>
        </p:nvSpPr>
        <p:spPr>
          <a:xfrm>
            <a:off x="464344" y="1828800"/>
            <a:ext cx="3750469" cy="342900"/>
          </a:xfrm>
          <a:prstGeom prst="rect">
            <a:avLst/>
          </a:prstGeom>
          <a:noFill/>
          <a:ln/>
        </p:spPr>
        <p:txBody>
          <a:bodyPr wrap="square" lIns="0" tIns="0" rIns="0" bIns="0" rtlCol="0" anchor="t">
            <a:spAutoFit/>
          </a:bodyPr>
          <a:lstStyle/>
          <a:p>
            <a:pPr marL="0" indent="0" algn="ctr">
              <a:lnSpc>
                <a:spcPts val="1400"/>
              </a:lnSpc>
              <a:buNone/>
            </a:pPr>
            <a:r>
              <a:rPr lang="en-US" sz="834" dirty="0">
                <a:solidFill>
                  <a:srgbClr val="FFFFFF"/>
                </a:solidFill>
              </a:rPr>
              <a:t>The probability of both A and B occurring equals the probability of A times the conditional probability of B given A.</a:t>
            </a:r>
            <a:endParaRPr lang="en-US" sz="834" dirty="0"/>
          </a:p>
        </p:txBody>
      </p:sp>
      <p:sp>
        <p:nvSpPr>
          <p:cNvPr id="9" name="Shape 5"/>
          <p:cNvSpPr/>
          <p:nvPr/>
        </p:nvSpPr>
        <p:spPr>
          <a:xfrm>
            <a:off x="285750" y="2271713"/>
            <a:ext cx="4107656" cy="1427271"/>
          </a:xfrm>
          <a:prstGeom prst="rect">
            <a:avLst/>
          </a:prstGeom>
          <a:solidFill>
            <a:srgbClr val="00D9FF">
              <a:alpha val="10000"/>
            </a:srgbClr>
          </a:solidFill>
          <a:ln/>
        </p:spPr>
        <p:txBody>
          <a:bodyPr/>
          <a:lstStyle/>
          <a:p>
            <a:endParaRPr lang="en-US"/>
          </a:p>
        </p:txBody>
      </p:sp>
      <p:sp>
        <p:nvSpPr>
          <p:cNvPr id="10" name="Text 6"/>
          <p:cNvSpPr/>
          <p:nvPr/>
        </p:nvSpPr>
        <p:spPr>
          <a:xfrm>
            <a:off x="428625" y="2343150"/>
            <a:ext cx="3821906"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D9FF"/>
                </a:solidFill>
              </a:rPr>
              <a:t>Derivation</a:t>
            </a:r>
            <a:endParaRPr lang="en-US" sz="987" dirty="0"/>
          </a:p>
        </p:txBody>
      </p:sp>
      <p:sp>
        <p:nvSpPr>
          <p:cNvPr id="11" name="Text 7"/>
          <p:cNvSpPr/>
          <p:nvPr/>
        </p:nvSpPr>
        <p:spPr>
          <a:xfrm>
            <a:off x="428625" y="2594967"/>
            <a:ext cx="3821906" cy="182863"/>
          </a:xfrm>
          <a:prstGeom prst="rect">
            <a:avLst/>
          </a:prstGeom>
          <a:noFill/>
          <a:ln/>
        </p:spPr>
        <p:txBody>
          <a:bodyPr wrap="none" lIns="0" tIns="0" rIns="0" bIns="0" rtlCol="0" anchor="t">
            <a:spAutoFit/>
          </a:bodyPr>
          <a:lstStyle/>
          <a:p>
            <a:pPr marL="0" indent="0" algn="l">
              <a:lnSpc>
                <a:spcPts val="1400"/>
              </a:lnSpc>
              <a:buNone/>
            </a:pPr>
            <a:r>
              <a:rPr lang="en-US" sz="834" dirty="0">
                <a:solidFill>
                  <a:srgbClr val="FFFFFF"/>
                </a:solidFill>
              </a:rPr>
              <a:t>Starting from the definition of conditional probability:</a:t>
            </a:r>
            <a:endParaRPr lang="en-US" sz="834" dirty="0"/>
          </a:p>
        </p:txBody>
      </p:sp>
      <p:sp>
        <p:nvSpPr>
          <p:cNvPr id="12" name="Text 8"/>
          <p:cNvSpPr/>
          <p:nvPr/>
        </p:nvSpPr>
        <p:spPr>
          <a:xfrm>
            <a:off x="428625" y="2806405"/>
            <a:ext cx="3821906" cy="483989"/>
          </a:xfrm>
          <a:prstGeom prst="rect">
            <a:avLst/>
          </a:prstGeom>
          <a:noFill/>
          <a:ln/>
        </p:spPr>
        <p:txBody>
          <a:bodyPr wrap="square" lIns="0" tIns="0" rIns="0" bIns="0" rtlCol="0" anchor="t">
            <a:spAutoFit/>
          </a:bodyPr>
          <a:lstStyle/>
          <a:p>
            <a:pPr marL="0" indent="0" algn="l">
              <a:lnSpc>
                <a:spcPts val="1100"/>
              </a:lnSpc>
              <a:buNone/>
            </a:pPr>
            <a:r>
              <a:rPr lang="en-US" sz="784" b="1" dirty="0">
                <a:solidFill>
                  <a:srgbClr val="00D9FF"/>
                </a:solidFill>
              </a:rPr>
              <a:t>P(B|A) = P(A ∩ B) / P(A)
 Multiply both sides by P(A):
 P(A ∩ B) = P(A) × P(B|A)</a:t>
            </a:r>
            <a:endParaRPr lang="en-US" sz="784" dirty="0"/>
          </a:p>
        </p:txBody>
      </p:sp>
      <p:sp>
        <p:nvSpPr>
          <p:cNvPr id="13" name="Text 9"/>
          <p:cNvSpPr/>
          <p:nvPr/>
        </p:nvSpPr>
        <p:spPr>
          <a:xfrm>
            <a:off x="428625" y="3333257"/>
            <a:ext cx="3821906" cy="365727"/>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FFFFFF"/>
                </a:solidFill>
              </a:rPr>
              <a:t>This is the </a:t>
            </a:r>
            <a:r>
              <a:rPr lang="en-US" sz="784" b="1" dirty="0">
                <a:solidFill>
                  <a:srgbClr val="FFFFFF"/>
                </a:solidFill>
              </a:rPr>
              <a:t>general multiplication rule</a:t>
            </a:r>
            <a:r>
              <a:rPr lang="en-US" sz="834" dirty="0">
                <a:solidFill>
                  <a:srgbClr val="FFFFFF"/>
                </a:solidFill>
              </a:rPr>
              <a:t>, valid for all events (dependent or independent).</a:t>
            </a:r>
            <a:endParaRPr lang="en-US" sz="834" dirty="0"/>
          </a:p>
        </p:txBody>
      </p:sp>
      <p:sp>
        <p:nvSpPr>
          <p:cNvPr id="14" name="Text 10"/>
          <p:cNvSpPr/>
          <p:nvPr/>
        </p:nvSpPr>
        <p:spPr>
          <a:xfrm>
            <a:off x="285750" y="3813284"/>
            <a:ext cx="4107656" cy="251817"/>
          </a:xfrm>
          <a:prstGeom prst="rect">
            <a:avLst/>
          </a:prstGeom>
          <a:noFill/>
          <a:ln/>
        </p:spPr>
        <p:txBody>
          <a:bodyPr wrap="none" lIns="0" tIns="0" rIns="0" bIns="0" rtlCol="0" anchor="t">
            <a:spAutoFit/>
          </a:bodyPr>
          <a:lstStyle/>
          <a:p>
            <a:pPr marL="0" indent="0" algn="l">
              <a:lnSpc>
                <a:spcPts val="1800"/>
              </a:lnSpc>
              <a:buNone/>
            </a:pPr>
            <a:r>
              <a:rPr lang="en-US" sz="1295" b="1" dirty="0">
                <a:solidFill>
                  <a:srgbClr val="FFD93D"/>
                </a:solidFill>
              </a:rPr>
              <a:t>Key Properties</a:t>
            </a:r>
            <a:endParaRPr lang="en-US" sz="1295" dirty="0"/>
          </a:p>
        </p:txBody>
      </p:sp>
      <p:sp>
        <p:nvSpPr>
          <p:cNvPr id="15" name="Text 11"/>
          <p:cNvSpPr/>
          <p:nvPr/>
        </p:nvSpPr>
        <p:spPr>
          <a:xfrm>
            <a:off x="428625" y="4024219"/>
            <a:ext cx="933376" cy="15537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FF6B9D"/>
                </a:solidFill>
              </a:rPr>
              <a:t>Symmetric form:</a:t>
            </a:r>
            <a:endParaRPr lang="en-US" sz="784" dirty="0"/>
          </a:p>
        </p:txBody>
      </p:sp>
      <p:sp>
        <p:nvSpPr>
          <p:cNvPr id="16" name="Text 12"/>
          <p:cNvSpPr/>
          <p:nvPr/>
        </p:nvSpPr>
        <p:spPr>
          <a:xfrm>
            <a:off x="1834381" y="4034813"/>
            <a:ext cx="1869514" cy="155377"/>
          </a:xfrm>
          <a:prstGeom prst="rect">
            <a:avLst/>
          </a:prstGeom>
          <a:noFill/>
          <a:ln/>
        </p:spPr>
        <p:txBody>
          <a:bodyPr wrap="none" lIns="0" tIns="0" rIns="0" bIns="0" rtlCol="0" anchor="t">
            <a:spAutoFit/>
          </a:bodyPr>
          <a:lstStyle/>
          <a:p>
            <a:pPr marL="0" indent="0" algn="l">
              <a:lnSpc>
                <a:spcPts val="1400"/>
              </a:lnSpc>
              <a:buNone/>
            </a:pPr>
            <a:r>
              <a:rPr lang="en-US" sz="834" dirty="0">
                <a:solidFill>
                  <a:srgbClr val="FFFFFF"/>
                </a:solidFill>
              </a:rPr>
              <a:t>P(A ∩ B) = P(B) × P(A|B) also holds</a:t>
            </a:r>
            <a:endParaRPr lang="en-US" sz="834" dirty="0"/>
          </a:p>
        </p:txBody>
      </p:sp>
      <p:sp>
        <p:nvSpPr>
          <p:cNvPr id="17" name="Text 13"/>
          <p:cNvSpPr/>
          <p:nvPr/>
        </p:nvSpPr>
        <p:spPr>
          <a:xfrm>
            <a:off x="428625" y="4264232"/>
            <a:ext cx="1609799" cy="15537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FF6B9D"/>
                </a:solidFill>
              </a:rPr>
              <a:t>Works for dependent events:</a:t>
            </a:r>
            <a:endParaRPr lang="en-US" sz="784" dirty="0"/>
          </a:p>
        </p:txBody>
      </p:sp>
      <p:sp>
        <p:nvSpPr>
          <p:cNvPr id="18" name="Text 14"/>
          <p:cNvSpPr/>
          <p:nvPr/>
        </p:nvSpPr>
        <p:spPr>
          <a:xfrm>
            <a:off x="1834381" y="4264231"/>
            <a:ext cx="1555970" cy="155377"/>
          </a:xfrm>
          <a:prstGeom prst="rect">
            <a:avLst/>
          </a:prstGeom>
          <a:noFill/>
          <a:ln/>
        </p:spPr>
        <p:txBody>
          <a:bodyPr wrap="none" lIns="0" tIns="0" rIns="0" bIns="0" rtlCol="0" anchor="t">
            <a:spAutoFit/>
          </a:bodyPr>
          <a:lstStyle/>
          <a:p>
            <a:pPr marL="0" indent="0" algn="l">
              <a:lnSpc>
                <a:spcPts val="1400"/>
              </a:lnSpc>
              <a:buNone/>
            </a:pPr>
            <a:r>
              <a:rPr lang="en-US" sz="834" dirty="0">
                <a:solidFill>
                  <a:srgbClr val="FFFFFF"/>
                </a:solidFill>
              </a:rPr>
              <a:t>Accounts for how A affects B</a:t>
            </a:r>
            <a:endParaRPr lang="en-US" sz="834" dirty="0"/>
          </a:p>
        </p:txBody>
      </p:sp>
      <p:sp>
        <p:nvSpPr>
          <p:cNvPr id="19" name="Text 15"/>
          <p:cNvSpPr/>
          <p:nvPr/>
        </p:nvSpPr>
        <p:spPr>
          <a:xfrm>
            <a:off x="428625" y="4504245"/>
            <a:ext cx="830740" cy="15537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FF6B9D"/>
                </a:solidFill>
              </a:rPr>
              <a:t>Order matters:</a:t>
            </a:r>
            <a:endParaRPr lang="en-US" sz="784" dirty="0"/>
          </a:p>
        </p:txBody>
      </p:sp>
      <p:sp>
        <p:nvSpPr>
          <p:cNvPr id="20" name="Text 16"/>
          <p:cNvSpPr/>
          <p:nvPr/>
        </p:nvSpPr>
        <p:spPr>
          <a:xfrm>
            <a:off x="1834381" y="4514877"/>
            <a:ext cx="1624338" cy="155377"/>
          </a:xfrm>
          <a:prstGeom prst="rect">
            <a:avLst/>
          </a:prstGeom>
          <a:noFill/>
          <a:ln/>
        </p:spPr>
        <p:txBody>
          <a:bodyPr wrap="none" lIns="0" tIns="0" rIns="0" bIns="0" rtlCol="0" anchor="t">
            <a:spAutoFit/>
          </a:bodyPr>
          <a:lstStyle/>
          <a:p>
            <a:pPr marL="0" indent="0" algn="l">
              <a:lnSpc>
                <a:spcPts val="1400"/>
              </a:lnSpc>
              <a:buNone/>
            </a:pPr>
            <a:r>
              <a:rPr lang="en-US" sz="834" dirty="0">
                <a:solidFill>
                  <a:srgbClr val="FFFFFF"/>
                </a:solidFill>
              </a:rPr>
              <a:t>P(B|A) may differ from P(A|B)</a:t>
            </a:r>
            <a:endParaRPr lang="en-US" sz="834" dirty="0"/>
          </a:p>
        </p:txBody>
      </p:sp>
      <p:sp>
        <p:nvSpPr>
          <p:cNvPr id="21" name="Text 17"/>
          <p:cNvSpPr/>
          <p:nvPr/>
        </p:nvSpPr>
        <p:spPr>
          <a:xfrm>
            <a:off x="428625" y="4744258"/>
            <a:ext cx="1761381" cy="15537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FF6B9D"/>
                </a:solidFill>
              </a:rPr>
              <a:t>Foundation for Bayes' theorem:</a:t>
            </a:r>
            <a:endParaRPr lang="en-US" sz="784" dirty="0"/>
          </a:p>
        </p:txBody>
      </p:sp>
      <p:sp>
        <p:nvSpPr>
          <p:cNvPr id="22" name="Text 18"/>
          <p:cNvSpPr/>
          <p:nvPr/>
        </p:nvSpPr>
        <p:spPr>
          <a:xfrm>
            <a:off x="1834381" y="4775398"/>
            <a:ext cx="3832622" cy="33824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FFFFFF"/>
                </a:solidFill>
              </a:rPr>
              <a:t>Combining both forms leads to Bayes' theorem</a:t>
            </a:r>
            <a:endParaRPr lang="en-US" sz="834" dirty="0"/>
          </a:p>
        </p:txBody>
      </p:sp>
      <p:sp>
        <p:nvSpPr>
          <p:cNvPr id="23" name="Shape 19"/>
          <p:cNvSpPr/>
          <p:nvPr/>
        </p:nvSpPr>
        <p:spPr>
          <a:xfrm>
            <a:off x="4750594" y="966192"/>
            <a:ext cx="4107656" cy="1032272"/>
          </a:xfrm>
          <a:prstGeom prst="rect">
            <a:avLst/>
          </a:prstGeom>
          <a:solidFill>
            <a:srgbClr val="FFD73D">
              <a:alpha val="15000"/>
            </a:srgbClr>
          </a:solidFill>
          <a:ln/>
        </p:spPr>
        <p:txBody>
          <a:bodyPr/>
          <a:lstStyle/>
          <a:p>
            <a:endParaRPr lang="en-US"/>
          </a:p>
        </p:txBody>
      </p:sp>
      <p:sp>
        <p:nvSpPr>
          <p:cNvPr id="24" name="Text 20"/>
          <p:cNvSpPr/>
          <p:nvPr/>
        </p:nvSpPr>
        <p:spPr>
          <a:xfrm>
            <a:off x="4929188" y="1051917"/>
            <a:ext cx="3750469" cy="214313"/>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FFD93D"/>
                </a:solidFill>
              </a:rPr>
              <a:t>Special Case: Independent Events</a:t>
            </a:r>
            <a:endParaRPr lang="en-US" sz="1090" dirty="0"/>
          </a:p>
        </p:txBody>
      </p:sp>
      <p:sp>
        <p:nvSpPr>
          <p:cNvPr id="25" name="Text 21"/>
          <p:cNvSpPr/>
          <p:nvPr/>
        </p:nvSpPr>
        <p:spPr>
          <a:xfrm>
            <a:off x="4929188" y="1323380"/>
            <a:ext cx="3750469" cy="289322"/>
          </a:xfrm>
          <a:prstGeom prst="rect">
            <a:avLst/>
          </a:prstGeom>
          <a:noFill/>
          <a:ln/>
        </p:spPr>
        <p:txBody>
          <a:bodyPr wrap="none" lIns="0" tIns="0" rIns="0" bIns="0" rtlCol="0" anchor="t">
            <a:spAutoFit/>
          </a:bodyPr>
          <a:lstStyle/>
          <a:p>
            <a:pPr marL="0" indent="0" algn="ctr">
              <a:lnSpc>
                <a:spcPts val="1900"/>
              </a:lnSpc>
              <a:buNone/>
            </a:pPr>
            <a:r>
              <a:rPr lang="en-US" sz="1397" b="1" dirty="0">
                <a:solidFill>
                  <a:srgbClr val="FFD93D"/>
                </a:solidFill>
              </a:rPr>
              <a:t>P(A ∩ B) = P(A) × P(B)</a:t>
            </a:r>
            <a:endParaRPr lang="en-US" sz="1397" dirty="0"/>
          </a:p>
        </p:txBody>
      </p:sp>
      <p:sp>
        <p:nvSpPr>
          <p:cNvPr id="26" name="Text 22"/>
          <p:cNvSpPr/>
          <p:nvPr/>
        </p:nvSpPr>
        <p:spPr>
          <a:xfrm>
            <a:off x="4929188" y="1655564"/>
            <a:ext cx="3750469" cy="34290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FFFFFF"/>
                </a:solidFill>
              </a:rPr>
              <a:t>When events A and B are </a:t>
            </a:r>
            <a:r>
              <a:rPr lang="en-US" sz="784" b="1" dirty="0">
                <a:solidFill>
                  <a:srgbClr val="FFFFFF"/>
                </a:solidFill>
              </a:rPr>
              <a:t>independent</a:t>
            </a:r>
            <a:r>
              <a:rPr lang="en-US" sz="834" dirty="0">
                <a:solidFill>
                  <a:srgbClr val="FFFFFF"/>
                </a:solidFill>
              </a:rPr>
              <a:t>, P(B|A) = P(B), so the conditional probability simplifies to the unconditional probability.</a:t>
            </a:r>
            <a:endParaRPr lang="en-US" sz="834" dirty="0"/>
          </a:p>
        </p:txBody>
      </p:sp>
      <p:sp>
        <p:nvSpPr>
          <p:cNvPr id="27" name="Shape 23"/>
          <p:cNvSpPr/>
          <p:nvPr/>
        </p:nvSpPr>
        <p:spPr>
          <a:xfrm>
            <a:off x="4750594" y="2112763"/>
            <a:ext cx="4107656" cy="858843"/>
          </a:xfrm>
          <a:prstGeom prst="rect">
            <a:avLst/>
          </a:prstGeom>
          <a:solidFill>
            <a:srgbClr val="FFFFFF">
              <a:alpha val="5000"/>
            </a:srgbClr>
          </a:solidFill>
          <a:ln/>
        </p:spPr>
        <p:txBody>
          <a:bodyPr/>
          <a:lstStyle/>
          <a:p>
            <a:endParaRPr lang="en-US"/>
          </a:p>
        </p:txBody>
      </p:sp>
      <p:sp>
        <p:nvSpPr>
          <p:cNvPr id="28" name="Text 24"/>
          <p:cNvSpPr/>
          <p:nvPr/>
        </p:nvSpPr>
        <p:spPr>
          <a:xfrm>
            <a:off x="4893469" y="2184202"/>
            <a:ext cx="3821906"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D9FF"/>
                </a:solidFill>
              </a:rPr>
              <a:t>Extension to Multiple Events</a:t>
            </a:r>
            <a:endParaRPr lang="en-US" sz="987" dirty="0"/>
          </a:p>
        </p:txBody>
      </p:sp>
      <p:sp>
        <p:nvSpPr>
          <p:cNvPr id="29" name="Text 25"/>
          <p:cNvSpPr/>
          <p:nvPr/>
        </p:nvSpPr>
        <p:spPr>
          <a:xfrm>
            <a:off x="5036344" y="2336513"/>
            <a:ext cx="749591" cy="15537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FFD93D"/>
                </a:solidFill>
              </a:rPr>
              <a:t>Three events:</a:t>
            </a:r>
            <a:endParaRPr lang="en-US" sz="784" dirty="0"/>
          </a:p>
        </p:txBody>
      </p:sp>
      <p:sp>
        <p:nvSpPr>
          <p:cNvPr id="30" name="Text 26"/>
          <p:cNvSpPr/>
          <p:nvPr/>
        </p:nvSpPr>
        <p:spPr>
          <a:xfrm>
            <a:off x="5855735" y="2336513"/>
            <a:ext cx="2261778" cy="155377"/>
          </a:xfrm>
          <a:prstGeom prst="rect">
            <a:avLst/>
          </a:prstGeom>
          <a:noFill/>
          <a:ln/>
        </p:spPr>
        <p:txBody>
          <a:bodyPr wrap="none" lIns="0" tIns="0" rIns="0" bIns="0" rtlCol="0" anchor="t">
            <a:spAutoFit/>
          </a:bodyPr>
          <a:lstStyle/>
          <a:p>
            <a:pPr marL="0" indent="0" algn="l">
              <a:lnSpc>
                <a:spcPts val="1400"/>
              </a:lnSpc>
              <a:buNone/>
            </a:pPr>
            <a:r>
              <a:rPr lang="en-US" sz="834" dirty="0">
                <a:solidFill>
                  <a:srgbClr val="FFFFFF"/>
                </a:solidFill>
              </a:rPr>
              <a:t>P(A ∩ B ∩ C) = P(A) × P(B|A) × P(C|A ∩ B)</a:t>
            </a:r>
            <a:endParaRPr lang="en-US" sz="834" dirty="0"/>
          </a:p>
        </p:txBody>
      </p:sp>
      <p:sp>
        <p:nvSpPr>
          <p:cNvPr id="31" name="Text 27"/>
          <p:cNvSpPr/>
          <p:nvPr/>
        </p:nvSpPr>
        <p:spPr>
          <a:xfrm>
            <a:off x="5036344" y="2576526"/>
            <a:ext cx="848237" cy="15537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FFD93D"/>
                </a:solidFill>
              </a:rPr>
              <a:t>n independent:</a:t>
            </a:r>
            <a:endParaRPr lang="en-US" sz="784" dirty="0"/>
          </a:p>
        </p:txBody>
      </p:sp>
      <p:sp>
        <p:nvSpPr>
          <p:cNvPr id="32" name="Text 28"/>
          <p:cNvSpPr/>
          <p:nvPr/>
        </p:nvSpPr>
        <p:spPr>
          <a:xfrm>
            <a:off x="5884580" y="2576526"/>
            <a:ext cx="2188276" cy="155377"/>
          </a:xfrm>
          <a:prstGeom prst="rect">
            <a:avLst/>
          </a:prstGeom>
          <a:noFill/>
          <a:ln/>
        </p:spPr>
        <p:txBody>
          <a:bodyPr wrap="none" lIns="0" tIns="0" rIns="0" bIns="0" rtlCol="0" anchor="t">
            <a:spAutoFit/>
          </a:bodyPr>
          <a:lstStyle/>
          <a:p>
            <a:pPr marL="0" indent="0" algn="l">
              <a:lnSpc>
                <a:spcPts val="1400"/>
              </a:lnSpc>
              <a:buNone/>
            </a:pPr>
            <a:r>
              <a:rPr lang="en-US" sz="834" dirty="0">
                <a:solidFill>
                  <a:srgbClr val="FFFFFF"/>
                </a:solidFill>
              </a:rPr>
              <a:t>P(A₁ ∩ ... ∩ Aₙ) = P(A₁) × P(A₂) × ... × P(Aₙ)</a:t>
            </a:r>
            <a:endParaRPr lang="en-US" sz="834" dirty="0"/>
          </a:p>
        </p:txBody>
      </p:sp>
      <p:sp>
        <p:nvSpPr>
          <p:cNvPr id="33" name="Shape 29"/>
          <p:cNvSpPr/>
          <p:nvPr/>
        </p:nvSpPr>
        <p:spPr>
          <a:xfrm>
            <a:off x="4750594" y="3119449"/>
            <a:ext cx="4107656" cy="1621240"/>
          </a:xfrm>
          <a:prstGeom prst="rect">
            <a:avLst/>
          </a:prstGeom>
          <a:solidFill>
            <a:srgbClr val="FFFFFF">
              <a:alpha val="5000"/>
            </a:srgbClr>
          </a:solidFill>
          <a:ln/>
        </p:spPr>
        <p:txBody>
          <a:bodyPr/>
          <a:lstStyle/>
          <a:p>
            <a:endParaRPr lang="en-US"/>
          </a:p>
        </p:txBody>
      </p:sp>
      <p:sp>
        <p:nvSpPr>
          <p:cNvPr id="34" name="Text 30"/>
          <p:cNvSpPr/>
          <p:nvPr/>
        </p:nvSpPr>
        <p:spPr>
          <a:xfrm>
            <a:off x="4893469" y="3205174"/>
            <a:ext cx="3821906" cy="194667"/>
          </a:xfrm>
          <a:prstGeom prst="rect">
            <a:avLst/>
          </a:prstGeom>
          <a:noFill/>
          <a:ln/>
        </p:spPr>
        <p:txBody>
          <a:bodyPr wrap="none" lIns="0" tIns="0" rIns="0" bIns="0" rtlCol="0" anchor="t">
            <a:spAutoFit/>
          </a:bodyPr>
          <a:lstStyle/>
          <a:p>
            <a:pPr marL="0" indent="0" algn="ctr">
              <a:lnSpc>
                <a:spcPts val="1400"/>
              </a:lnSpc>
              <a:buNone/>
            </a:pPr>
            <a:r>
              <a:rPr lang="en-US" sz="987" b="1" dirty="0">
                <a:solidFill>
                  <a:srgbClr val="FFD93D"/>
                </a:solidFill>
              </a:rPr>
              <a:t>When to Use Which Formula?</a:t>
            </a:r>
            <a:endParaRPr lang="en-US" sz="987" dirty="0"/>
          </a:p>
        </p:txBody>
      </p:sp>
      <p:sp>
        <p:nvSpPr>
          <p:cNvPr id="35" name="Text 31"/>
          <p:cNvSpPr/>
          <p:nvPr/>
        </p:nvSpPr>
        <p:spPr>
          <a:xfrm>
            <a:off x="4893469" y="3456991"/>
            <a:ext cx="1875234" cy="160734"/>
          </a:xfrm>
          <a:prstGeom prst="rect">
            <a:avLst/>
          </a:prstGeom>
          <a:noFill/>
          <a:ln/>
        </p:spPr>
        <p:txBody>
          <a:bodyPr wrap="none" lIns="0" tIns="0" rIns="0" bIns="0" rtlCol="0" anchor="t">
            <a:spAutoFit/>
          </a:bodyPr>
          <a:lstStyle/>
          <a:p>
            <a:pPr marL="0" indent="0" algn="l">
              <a:lnSpc>
                <a:spcPts val="1300"/>
              </a:lnSpc>
              <a:buNone/>
            </a:pPr>
            <a:r>
              <a:rPr lang="en-US" sz="734" b="1" dirty="0">
                <a:solidFill>
                  <a:srgbClr val="00D9FF"/>
                </a:solidFill>
              </a:rPr>
              <a:t>Dependent Events</a:t>
            </a:r>
            <a:endParaRPr lang="en-US" sz="734" dirty="0"/>
          </a:p>
        </p:txBody>
      </p:sp>
      <p:sp>
        <p:nvSpPr>
          <p:cNvPr id="36" name="Text 32"/>
          <p:cNvSpPr/>
          <p:nvPr/>
        </p:nvSpPr>
        <p:spPr>
          <a:xfrm>
            <a:off x="6840141" y="3456991"/>
            <a:ext cx="1875234" cy="160734"/>
          </a:xfrm>
          <a:prstGeom prst="rect">
            <a:avLst/>
          </a:prstGeom>
          <a:noFill/>
          <a:ln/>
        </p:spPr>
        <p:txBody>
          <a:bodyPr wrap="none" lIns="0" tIns="0" rIns="0" bIns="0" rtlCol="0" anchor="t">
            <a:spAutoFit/>
          </a:bodyPr>
          <a:lstStyle/>
          <a:p>
            <a:pPr marL="0" indent="0" algn="l">
              <a:lnSpc>
                <a:spcPts val="1300"/>
              </a:lnSpc>
              <a:buNone/>
            </a:pPr>
            <a:r>
              <a:rPr lang="en-US" sz="734" b="1" dirty="0">
                <a:solidFill>
                  <a:srgbClr val="00D9FF"/>
                </a:solidFill>
              </a:rPr>
              <a:t>Independent Events</a:t>
            </a:r>
            <a:endParaRPr lang="en-US" sz="734" dirty="0"/>
          </a:p>
        </p:txBody>
      </p:sp>
      <p:sp>
        <p:nvSpPr>
          <p:cNvPr id="37" name="Text 33"/>
          <p:cNvSpPr/>
          <p:nvPr/>
        </p:nvSpPr>
        <p:spPr>
          <a:xfrm>
            <a:off x="4893469" y="3660588"/>
            <a:ext cx="1875234" cy="160734"/>
          </a:xfrm>
          <a:prstGeom prst="rect">
            <a:avLst/>
          </a:prstGeom>
          <a:noFill/>
          <a:ln/>
        </p:spPr>
        <p:txBody>
          <a:bodyPr wrap="none" lIns="0" tIns="0" rIns="0" bIns="0" rtlCol="0" anchor="t">
            <a:spAutoFit/>
          </a:bodyPr>
          <a:lstStyle/>
          <a:p>
            <a:pPr marL="0" indent="0" algn="l">
              <a:lnSpc>
                <a:spcPts val="1300"/>
              </a:lnSpc>
              <a:buNone/>
            </a:pPr>
            <a:r>
              <a:rPr lang="en-US" sz="780" dirty="0">
                <a:solidFill>
                  <a:srgbClr val="FFFFFF"/>
                </a:solidFill>
              </a:rPr>
              <a:t>P(A ∩ B) = P(A) × P(B|A)</a:t>
            </a:r>
            <a:endParaRPr lang="en-US" sz="780" dirty="0"/>
          </a:p>
        </p:txBody>
      </p:sp>
      <p:sp>
        <p:nvSpPr>
          <p:cNvPr id="38" name="Text 34"/>
          <p:cNvSpPr/>
          <p:nvPr/>
        </p:nvSpPr>
        <p:spPr>
          <a:xfrm>
            <a:off x="6840141" y="3660588"/>
            <a:ext cx="1875234" cy="160734"/>
          </a:xfrm>
          <a:prstGeom prst="rect">
            <a:avLst/>
          </a:prstGeom>
          <a:noFill/>
          <a:ln/>
        </p:spPr>
        <p:txBody>
          <a:bodyPr wrap="none" lIns="0" tIns="0" rIns="0" bIns="0" rtlCol="0" anchor="t">
            <a:spAutoFit/>
          </a:bodyPr>
          <a:lstStyle/>
          <a:p>
            <a:pPr marL="0" indent="0" algn="l">
              <a:lnSpc>
                <a:spcPts val="1300"/>
              </a:lnSpc>
              <a:buNone/>
            </a:pPr>
            <a:r>
              <a:rPr lang="en-US" sz="780" dirty="0">
                <a:solidFill>
                  <a:srgbClr val="FFFFFF"/>
                </a:solidFill>
              </a:rPr>
              <a:t>P(A ∩ B) = P(A) × P(B)</a:t>
            </a:r>
            <a:endParaRPr lang="en-US" sz="780" dirty="0"/>
          </a:p>
        </p:txBody>
      </p:sp>
      <p:sp>
        <p:nvSpPr>
          <p:cNvPr id="39" name="Text 35"/>
          <p:cNvSpPr/>
          <p:nvPr/>
        </p:nvSpPr>
        <p:spPr>
          <a:xfrm>
            <a:off x="4893469" y="3864185"/>
            <a:ext cx="1875234" cy="160734"/>
          </a:xfrm>
          <a:prstGeom prst="rect">
            <a:avLst/>
          </a:prstGeom>
          <a:noFill/>
          <a:ln/>
        </p:spPr>
        <p:txBody>
          <a:bodyPr wrap="none" lIns="0" tIns="0" rIns="0" bIns="0" rtlCol="0" anchor="t">
            <a:spAutoFit/>
          </a:bodyPr>
          <a:lstStyle/>
          <a:p>
            <a:pPr marL="0" indent="0" algn="l">
              <a:lnSpc>
                <a:spcPts val="1300"/>
              </a:lnSpc>
              <a:buNone/>
            </a:pPr>
            <a:r>
              <a:rPr lang="en-US" sz="780" dirty="0">
                <a:solidFill>
                  <a:srgbClr val="FFFFFF"/>
                </a:solidFill>
              </a:rPr>
              <a:t>One event affects the other</a:t>
            </a:r>
            <a:endParaRPr lang="en-US" sz="780" dirty="0"/>
          </a:p>
        </p:txBody>
      </p:sp>
      <p:sp>
        <p:nvSpPr>
          <p:cNvPr id="40" name="Text 36"/>
          <p:cNvSpPr/>
          <p:nvPr/>
        </p:nvSpPr>
        <p:spPr>
          <a:xfrm>
            <a:off x="6840141" y="3864185"/>
            <a:ext cx="1875234" cy="160734"/>
          </a:xfrm>
          <a:prstGeom prst="rect">
            <a:avLst/>
          </a:prstGeom>
          <a:noFill/>
          <a:ln/>
        </p:spPr>
        <p:txBody>
          <a:bodyPr wrap="none" lIns="0" tIns="0" rIns="0" bIns="0" rtlCol="0" anchor="t">
            <a:spAutoFit/>
          </a:bodyPr>
          <a:lstStyle/>
          <a:p>
            <a:pPr marL="0" indent="0" algn="l">
              <a:lnSpc>
                <a:spcPts val="1300"/>
              </a:lnSpc>
              <a:buNone/>
            </a:pPr>
            <a:r>
              <a:rPr lang="en-US" sz="780" dirty="0">
                <a:solidFill>
                  <a:srgbClr val="FFFFFF"/>
                </a:solidFill>
              </a:rPr>
              <a:t>Events don't influence each other</a:t>
            </a:r>
            <a:endParaRPr lang="en-US" sz="780" dirty="0"/>
          </a:p>
        </p:txBody>
      </p:sp>
      <p:sp>
        <p:nvSpPr>
          <p:cNvPr id="41" name="Text 37"/>
          <p:cNvSpPr/>
          <p:nvPr/>
        </p:nvSpPr>
        <p:spPr>
          <a:xfrm>
            <a:off x="4893469" y="4067782"/>
            <a:ext cx="1875234" cy="321469"/>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FFFFFF"/>
                </a:solidFill>
              </a:rPr>
              <a:t>Example: Drawing cards without replacement</a:t>
            </a:r>
            <a:endParaRPr lang="en-US" sz="780" dirty="0"/>
          </a:p>
        </p:txBody>
      </p:sp>
      <p:sp>
        <p:nvSpPr>
          <p:cNvPr id="42" name="Text 38"/>
          <p:cNvSpPr/>
          <p:nvPr/>
        </p:nvSpPr>
        <p:spPr>
          <a:xfrm>
            <a:off x="6840141" y="4067782"/>
            <a:ext cx="1875234" cy="321469"/>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FFFFFF"/>
                </a:solidFill>
              </a:rPr>
              <a:t>Example: Separate coin flips</a:t>
            </a:r>
            <a:endParaRPr lang="en-US" sz="780" dirty="0"/>
          </a:p>
        </p:txBody>
      </p:sp>
      <p:sp>
        <p:nvSpPr>
          <p:cNvPr id="43" name="Text 39"/>
          <p:cNvSpPr/>
          <p:nvPr/>
        </p:nvSpPr>
        <p:spPr>
          <a:xfrm>
            <a:off x="4893469" y="4432113"/>
            <a:ext cx="1875234" cy="160734"/>
          </a:xfrm>
          <a:prstGeom prst="rect">
            <a:avLst/>
          </a:prstGeom>
          <a:noFill/>
          <a:ln/>
        </p:spPr>
        <p:txBody>
          <a:bodyPr wrap="none" lIns="0" tIns="0" rIns="0" bIns="0" rtlCol="0" anchor="t">
            <a:spAutoFit/>
          </a:bodyPr>
          <a:lstStyle/>
          <a:p>
            <a:pPr marL="0" indent="0" algn="l">
              <a:lnSpc>
                <a:spcPts val="1300"/>
              </a:lnSpc>
              <a:buNone/>
            </a:pPr>
            <a:r>
              <a:rPr lang="en-US" sz="780" dirty="0">
                <a:solidFill>
                  <a:srgbClr val="FFFFFF"/>
                </a:solidFill>
              </a:rPr>
              <a:t>Must calculate P(B|A)</a:t>
            </a:r>
            <a:endParaRPr lang="en-US" sz="780" dirty="0"/>
          </a:p>
        </p:txBody>
      </p:sp>
      <p:sp>
        <p:nvSpPr>
          <p:cNvPr id="44" name="Text 40"/>
          <p:cNvSpPr/>
          <p:nvPr/>
        </p:nvSpPr>
        <p:spPr>
          <a:xfrm>
            <a:off x="6840141" y="4432113"/>
            <a:ext cx="1875234" cy="160734"/>
          </a:xfrm>
          <a:prstGeom prst="rect">
            <a:avLst/>
          </a:prstGeom>
          <a:noFill/>
          <a:ln/>
        </p:spPr>
        <p:txBody>
          <a:bodyPr wrap="none" lIns="0" tIns="0" rIns="0" bIns="0" rtlCol="0" anchor="t">
            <a:spAutoFit/>
          </a:bodyPr>
          <a:lstStyle/>
          <a:p>
            <a:pPr marL="0" indent="0" algn="l">
              <a:lnSpc>
                <a:spcPts val="1300"/>
              </a:lnSpc>
              <a:buNone/>
            </a:pPr>
            <a:r>
              <a:rPr lang="en-US" sz="780" dirty="0">
                <a:solidFill>
                  <a:srgbClr val="FFFFFF"/>
                </a:solidFill>
              </a:rPr>
              <a:t>P(B|A) = P(B), simplifies calculation</a:t>
            </a:r>
            <a:endParaRPr lang="en-US" sz="78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0" y="357188"/>
            <a:ext cx="9144000" cy="466130"/>
          </a:xfrm>
          <a:prstGeom prst="rect">
            <a:avLst/>
          </a:prstGeom>
          <a:noFill/>
          <a:ln/>
        </p:spPr>
        <p:txBody>
          <a:bodyPr wrap="none" lIns="0" tIns="0" rIns="0" bIns="0" rtlCol="0" anchor="t">
            <a:spAutoFit/>
          </a:bodyPr>
          <a:lstStyle/>
          <a:p>
            <a:pPr marL="0" indent="0" algn="ctr">
              <a:lnSpc>
                <a:spcPts val="3200"/>
              </a:lnSpc>
              <a:buNone/>
            </a:pPr>
            <a:r>
              <a:rPr lang="en-US" sz="2436" b="1" dirty="0">
                <a:solidFill>
                  <a:srgbClr val="00D9FF"/>
                </a:solidFill>
              </a:rPr>
              <a:t>Multiplication Rule: Examples</a:t>
            </a:r>
            <a:endParaRPr lang="en-US" sz="2436" dirty="0"/>
          </a:p>
        </p:txBody>
      </p:sp>
      <p:sp>
        <p:nvSpPr>
          <p:cNvPr id="5" name="Text 1"/>
          <p:cNvSpPr/>
          <p:nvPr/>
        </p:nvSpPr>
        <p:spPr>
          <a:xfrm>
            <a:off x="0" y="880467"/>
            <a:ext cx="9144000" cy="175022"/>
          </a:xfrm>
          <a:prstGeom prst="rect">
            <a:avLst/>
          </a:prstGeom>
          <a:noFill/>
          <a:ln/>
        </p:spPr>
        <p:txBody>
          <a:bodyPr wrap="none" lIns="0" tIns="0" rIns="0" bIns="0" rtlCol="0" anchor="t">
            <a:spAutoFit/>
          </a:bodyPr>
          <a:lstStyle/>
          <a:p>
            <a:pPr marL="0" indent="0" algn="ctr">
              <a:lnSpc>
                <a:spcPts val="1200"/>
              </a:lnSpc>
              <a:buNone/>
            </a:pPr>
            <a:r>
              <a:rPr lang="en-US" sz="942" dirty="0">
                <a:solidFill>
                  <a:srgbClr val="FFD93D"/>
                </a:solidFill>
              </a:rPr>
              <a:t>Dependent and Independent Events</a:t>
            </a:r>
            <a:endParaRPr lang="en-US" sz="942" dirty="0"/>
          </a:p>
        </p:txBody>
      </p:sp>
      <p:sp>
        <p:nvSpPr>
          <p:cNvPr id="6" name="Shape 2"/>
          <p:cNvSpPr/>
          <p:nvPr/>
        </p:nvSpPr>
        <p:spPr>
          <a:xfrm>
            <a:off x="428625" y="1141214"/>
            <a:ext cx="4100513" cy="1879867"/>
          </a:xfrm>
          <a:prstGeom prst="rect">
            <a:avLst/>
          </a:prstGeom>
          <a:solidFill>
            <a:srgbClr val="FFFFFF">
              <a:alpha val="5000"/>
            </a:srgbClr>
          </a:solidFill>
          <a:ln/>
        </p:spPr>
        <p:txBody>
          <a:bodyPr/>
          <a:lstStyle/>
          <a:p>
            <a:endParaRPr lang="en-US"/>
          </a:p>
        </p:txBody>
      </p:sp>
      <p:sp>
        <p:nvSpPr>
          <p:cNvPr id="7" name="Text 3"/>
          <p:cNvSpPr/>
          <p:nvPr/>
        </p:nvSpPr>
        <p:spPr>
          <a:xfrm>
            <a:off x="607219" y="1198364"/>
            <a:ext cx="3743325" cy="350044"/>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FF6B9D"/>
                </a:solidFill>
              </a:rPr>
              <a:t>01</a:t>
            </a:r>
            <a:endParaRPr lang="en-US" sz="1808" dirty="0"/>
          </a:p>
        </p:txBody>
      </p:sp>
      <p:sp>
        <p:nvSpPr>
          <p:cNvPr id="8" name="Text 4"/>
          <p:cNvSpPr/>
          <p:nvPr/>
        </p:nvSpPr>
        <p:spPr>
          <a:xfrm>
            <a:off x="607219" y="1591270"/>
            <a:ext cx="3743325"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D9FF"/>
                </a:solidFill>
              </a:rPr>
              <a:t>Drawing Cards Without Replacement</a:t>
            </a:r>
            <a:endParaRPr lang="en-US" sz="987" dirty="0"/>
          </a:p>
        </p:txBody>
      </p:sp>
      <p:sp>
        <p:nvSpPr>
          <p:cNvPr id="9" name="Text 5"/>
          <p:cNvSpPr/>
          <p:nvPr/>
        </p:nvSpPr>
        <p:spPr>
          <a:xfrm>
            <a:off x="607219" y="1843088"/>
            <a:ext cx="3743325" cy="300038"/>
          </a:xfrm>
          <a:prstGeom prst="rect">
            <a:avLst/>
          </a:prstGeom>
          <a:noFill/>
          <a:ln/>
        </p:spPr>
        <p:txBody>
          <a:bodyPr wrap="square" lIns="0" tIns="0" rIns="0" bIns="0" rtlCol="0" anchor="t">
            <a:spAutoFit/>
          </a:bodyPr>
          <a:lstStyle/>
          <a:p>
            <a:pPr marL="0" indent="0" algn="l">
              <a:lnSpc>
                <a:spcPts val="1200"/>
              </a:lnSpc>
              <a:buNone/>
            </a:pPr>
            <a:r>
              <a:rPr lang="en-US" sz="734" b="1" dirty="0">
                <a:solidFill>
                  <a:srgbClr val="FFD93D"/>
                </a:solidFill>
              </a:rPr>
              <a:t>Problem:</a:t>
            </a:r>
            <a:r>
              <a:rPr lang="en-US" sz="780" dirty="0">
                <a:solidFill>
                  <a:srgbClr val="FFFFFF"/>
                </a:solidFill>
              </a:rPr>
              <a:t> Draw two cards from a deck without replacement. Find P(both are Aces).</a:t>
            </a:r>
            <a:endParaRPr lang="en-US" sz="734" dirty="0"/>
          </a:p>
        </p:txBody>
      </p:sp>
      <p:sp>
        <p:nvSpPr>
          <p:cNvPr id="10" name="Text 6"/>
          <p:cNvSpPr/>
          <p:nvPr/>
        </p:nvSpPr>
        <p:spPr>
          <a:xfrm>
            <a:off x="607219" y="2143125"/>
            <a:ext cx="3743325" cy="150019"/>
          </a:xfrm>
          <a:prstGeom prst="rect">
            <a:avLst/>
          </a:prstGeom>
          <a:noFill/>
          <a:ln/>
        </p:spPr>
        <p:txBody>
          <a:bodyPr wrap="none" lIns="0" tIns="0" rIns="0" bIns="0" rtlCol="0" anchor="t">
            <a:spAutoFit/>
          </a:bodyPr>
          <a:lstStyle/>
          <a:p>
            <a:pPr marL="0" indent="0" algn="l">
              <a:lnSpc>
                <a:spcPts val="1200"/>
              </a:lnSpc>
              <a:buNone/>
            </a:pPr>
            <a:r>
              <a:rPr lang="en-US" sz="734" b="1" dirty="0">
                <a:solidFill>
                  <a:srgbClr val="FFD93D"/>
                </a:solidFill>
              </a:rPr>
              <a:t>Events:</a:t>
            </a:r>
            <a:r>
              <a:rPr lang="en-US" sz="780" dirty="0">
                <a:solidFill>
                  <a:srgbClr val="FFFFFF"/>
                </a:solidFill>
              </a:rPr>
              <a:t> A = first card is an Ace; B = second card is an Ace.</a:t>
            </a:r>
            <a:endParaRPr lang="en-US" sz="734" dirty="0"/>
          </a:p>
        </p:txBody>
      </p:sp>
      <p:sp>
        <p:nvSpPr>
          <p:cNvPr id="11" name="Shape 7"/>
          <p:cNvSpPr/>
          <p:nvPr/>
        </p:nvSpPr>
        <p:spPr>
          <a:xfrm>
            <a:off x="607219" y="2321719"/>
            <a:ext cx="3743325" cy="163581"/>
          </a:xfrm>
          <a:prstGeom prst="rect">
            <a:avLst/>
          </a:prstGeom>
          <a:solidFill>
            <a:srgbClr val="FFD73D">
              <a:alpha val="10000"/>
            </a:srgbClr>
          </a:solidFill>
          <a:ln/>
        </p:spPr>
        <p:txBody>
          <a:bodyPr/>
          <a:lstStyle/>
          <a:p>
            <a:endParaRPr lang="en-US"/>
          </a:p>
        </p:txBody>
      </p:sp>
      <p:sp>
        <p:nvSpPr>
          <p:cNvPr id="12" name="Text 8"/>
          <p:cNvSpPr/>
          <p:nvPr/>
        </p:nvSpPr>
        <p:spPr>
          <a:xfrm>
            <a:off x="692944" y="2350294"/>
            <a:ext cx="3571875" cy="135006"/>
          </a:xfrm>
          <a:prstGeom prst="rect">
            <a:avLst/>
          </a:prstGeom>
          <a:noFill/>
          <a:ln/>
        </p:spPr>
        <p:txBody>
          <a:bodyPr wrap="none" lIns="0" tIns="0" rIns="0" bIns="0" rtlCol="0" anchor="t">
            <a:spAutoFit/>
          </a:bodyPr>
          <a:lstStyle/>
          <a:p>
            <a:pPr marL="0" indent="0" algn="l">
              <a:lnSpc>
                <a:spcPts val="1100"/>
              </a:lnSpc>
              <a:buNone/>
            </a:pPr>
            <a:r>
              <a:rPr lang="en-US" sz="683" b="1" dirty="0">
                <a:solidFill>
                  <a:srgbClr val="FFFFFF"/>
                </a:solidFill>
              </a:rPr>
              <a:t>Rule:</a:t>
            </a:r>
            <a:r>
              <a:rPr lang="en-US" sz="727" dirty="0">
                <a:solidFill>
                  <a:srgbClr val="FFFFFF"/>
                </a:solidFill>
              </a:rPr>
              <a:t> General Multiplication Rule (dependent events)</a:t>
            </a:r>
            <a:endParaRPr lang="en-US" sz="683" dirty="0"/>
          </a:p>
        </p:txBody>
      </p:sp>
      <p:sp>
        <p:nvSpPr>
          <p:cNvPr id="13" name="Text 9"/>
          <p:cNvSpPr/>
          <p:nvPr/>
        </p:nvSpPr>
        <p:spPr>
          <a:xfrm>
            <a:off x="607219" y="2524590"/>
            <a:ext cx="2341001" cy="135731"/>
          </a:xfrm>
          <a:prstGeom prst="rect">
            <a:avLst/>
          </a:prstGeom>
          <a:noFill/>
          <a:ln/>
        </p:spPr>
        <p:txBody>
          <a:bodyPr wrap="none" lIns="0" tIns="0" rIns="0" bIns="0" rtlCol="0" anchor="t">
            <a:spAutoFit/>
          </a:bodyPr>
          <a:lstStyle/>
          <a:p>
            <a:pPr marL="0" indent="0" algn="l">
              <a:lnSpc>
                <a:spcPts val="1100"/>
              </a:lnSpc>
              <a:buNone/>
            </a:pPr>
            <a:r>
              <a:rPr lang="en-US" sz="683" b="1" dirty="0">
                <a:solidFill>
                  <a:srgbClr val="00D9FF"/>
                </a:solidFill>
              </a:rPr>
              <a:t>P(A) = 4/52; P(B|A) = 3/51 (3 Aces left in 51 cards)</a:t>
            </a:r>
            <a:endParaRPr lang="en-US" sz="683" dirty="0"/>
          </a:p>
        </p:txBody>
      </p:sp>
      <p:sp>
        <p:nvSpPr>
          <p:cNvPr id="14" name="Text 10"/>
          <p:cNvSpPr/>
          <p:nvPr/>
        </p:nvSpPr>
        <p:spPr>
          <a:xfrm>
            <a:off x="607219" y="2674609"/>
            <a:ext cx="2288595" cy="135731"/>
          </a:xfrm>
          <a:prstGeom prst="rect">
            <a:avLst/>
          </a:prstGeom>
          <a:noFill/>
          <a:ln/>
        </p:spPr>
        <p:txBody>
          <a:bodyPr wrap="none" lIns="0" tIns="0" rIns="0" bIns="0" rtlCol="0" anchor="t">
            <a:spAutoFit/>
          </a:bodyPr>
          <a:lstStyle/>
          <a:p>
            <a:pPr marL="0" indent="0" algn="l">
              <a:lnSpc>
                <a:spcPts val="1100"/>
              </a:lnSpc>
              <a:buNone/>
            </a:pPr>
            <a:r>
              <a:rPr lang="en-US" sz="683" b="1" dirty="0">
                <a:solidFill>
                  <a:srgbClr val="00D9FF"/>
                </a:solidFill>
              </a:rPr>
              <a:t>P(A ∩ B) = P(A) × P(B|A) = (4/52) × (3/51) = 1/221</a:t>
            </a:r>
            <a:endParaRPr lang="en-US" sz="683" dirty="0"/>
          </a:p>
        </p:txBody>
      </p:sp>
      <p:sp>
        <p:nvSpPr>
          <p:cNvPr id="15" name="Text 11"/>
          <p:cNvSpPr/>
          <p:nvPr/>
        </p:nvSpPr>
        <p:spPr>
          <a:xfrm>
            <a:off x="607219" y="2856774"/>
            <a:ext cx="3743325" cy="164306"/>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FF6B9D"/>
                </a:solidFill>
              </a:rPr>
              <a:t>Answer: P(both Aces) = 1/221 ≈ 0.0045</a:t>
            </a:r>
            <a:endParaRPr lang="en-US" sz="784" dirty="0"/>
          </a:p>
        </p:txBody>
      </p:sp>
      <p:sp>
        <p:nvSpPr>
          <p:cNvPr id="16" name="Shape 12"/>
          <p:cNvSpPr/>
          <p:nvPr/>
        </p:nvSpPr>
        <p:spPr>
          <a:xfrm>
            <a:off x="4614863" y="1141214"/>
            <a:ext cx="4100513" cy="1879867"/>
          </a:xfrm>
          <a:prstGeom prst="rect">
            <a:avLst/>
          </a:prstGeom>
          <a:solidFill>
            <a:srgbClr val="FFFFFF">
              <a:alpha val="5000"/>
            </a:srgbClr>
          </a:solidFill>
          <a:ln/>
        </p:spPr>
        <p:txBody>
          <a:bodyPr/>
          <a:lstStyle/>
          <a:p>
            <a:endParaRPr lang="en-US"/>
          </a:p>
        </p:txBody>
      </p:sp>
      <p:sp>
        <p:nvSpPr>
          <p:cNvPr id="17" name="Text 13"/>
          <p:cNvSpPr/>
          <p:nvPr/>
        </p:nvSpPr>
        <p:spPr>
          <a:xfrm>
            <a:off x="4793456" y="1198364"/>
            <a:ext cx="3743325" cy="350044"/>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FF6B9D"/>
                </a:solidFill>
              </a:rPr>
              <a:t>02</a:t>
            </a:r>
            <a:endParaRPr lang="en-US" sz="1808" dirty="0"/>
          </a:p>
        </p:txBody>
      </p:sp>
      <p:sp>
        <p:nvSpPr>
          <p:cNvPr id="18" name="Text 14"/>
          <p:cNvSpPr/>
          <p:nvPr/>
        </p:nvSpPr>
        <p:spPr>
          <a:xfrm>
            <a:off x="4793456" y="1591270"/>
            <a:ext cx="3743325"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D9FF"/>
                </a:solidFill>
              </a:rPr>
              <a:t>Three Independent Coin Tosses</a:t>
            </a:r>
            <a:endParaRPr lang="en-US" sz="987" dirty="0"/>
          </a:p>
        </p:txBody>
      </p:sp>
      <p:sp>
        <p:nvSpPr>
          <p:cNvPr id="19" name="Text 15"/>
          <p:cNvSpPr/>
          <p:nvPr/>
        </p:nvSpPr>
        <p:spPr>
          <a:xfrm>
            <a:off x="4793456" y="1843088"/>
            <a:ext cx="3743325" cy="150019"/>
          </a:xfrm>
          <a:prstGeom prst="rect">
            <a:avLst/>
          </a:prstGeom>
          <a:noFill/>
          <a:ln/>
        </p:spPr>
        <p:txBody>
          <a:bodyPr wrap="none" lIns="0" tIns="0" rIns="0" bIns="0" rtlCol="0" anchor="t">
            <a:spAutoFit/>
          </a:bodyPr>
          <a:lstStyle/>
          <a:p>
            <a:pPr marL="0" indent="0" algn="l">
              <a:lnSpc>
                <a:spcPts val="1200"/>
              </a:lnSpc>
              <a:buNone/>
            </a:pPr>
            <a:r>
              <a:rPr lang="en-US" sz="734" b="1" dirty="0">
                <a:solidFill>
                  <a:srgbClr val="FFD93D"/>
                </a:solidFill>
              </a:rPr>
              <a:t>Problem:</a:t>
            </a:r>
            <a:r>
              <a:rPr lang="en-US" sz="780" dirty="0">
                <a:solidFill>
                  <a:srgbClr val="FFFFFF"/>
                </a:solidFill>
              </a:rPr>
              <a:t> Toss a fair coin three times. Find P(all three are heads).</a:t>
            </a:r>
            <a:endParaRPr lang="en-US" sz="734" dirty="0"/>
          </a:p>
        </p:txBody>
      </p:sp>
      <p:sp>
        <p:nvSpPr>
          <p:cNvPr id="20" name="Text 16"/>
          <p:cNvSpPr/>
          <p:nvPr/>
        </p:nvSpPr>
        <p:spPr>
          <a:xfrm>
            <a:off x="4793456" y="1993106"/>
            <a:ext cx="3743325" cy="150019"/>
          </a:xfrm>
          <a:prstGeom prst="rect">
            <a:avLst/>
          </a:prstGeom>
          <a:noFill/>
          <a:ln/>
        </p:spPr>
        <p:txBody>
          <a:bodyPr wrap="none" lIns="0" tIns="0" rIns="0" bIns="0" rtlCol="0" anchor="t">
            <a:spAutoFit/>
          </a:bodyPr>
          <a:lstStyle/>
          <a:p>
            <a:pPr marL="0" indent="0" algn="l">
              <a:lnSpc>
                <a:spcPts val="1200"/>
              </a:lnSpc>
              <a:buNone/>
            </a:pPr>
            <a:r>
              <a:rPr lang="en-US" sz="734" b="1" dirty="0">
                <a:solidFill>
                  <a:srgbClr val="FFD93D"/>
                </a:solidFill>
              </a:rPr>
              <a:t>Events:</a:t>
            </a:r>
            <a:r>
              <a:rPr lang="en-US" sz="780" dirty="0">
                <a:solidFill>
                  <a:srgbClr val="FFFFFF"/>
                </a:solidFill>
              </a:rPr>
              <a:t> A, B, C = heads on first, second, third toss.</a:t>
            </a:r>
            <a:endParaRPr lang="en-US" sz="734" dirty="0"/>
          </a:p>
        </p:txBody>
      </p:sp>
      <p:sp>
        <p:nvSpPr>
          <p:cNvPr id="21" name="Shape 17"/>
          <p:cNvSpPr/>
          <p:nvPr/>
        </p:nvSpPr>
        <p:spPr>
          <a:xfrm>
            <a:off x="4793456" y="2171700"/>
            <a:ext cx="3743325" cy="163581"/>
          </a:xfrm>
          <a:prstGeom prst="rect">
            <a:avLst/>
          </a:prstGeom>
          <a:solidFill>
            <a:srgbClr val="FFD73D">
              <a:alpha val="10000"/>
            </a:srgbClr>
          </a:solidFill>
          <a:ln/>
        </p:spPr>
        <p:txBody>
          <a:bodyPr/>
          <a:lstStyle/>
          <a:p>
            <a:endParaRPr lang="en-US"/>
          </a:p>
        </p:txBody>
      </p:sp>
      <p:sp>
        <p:nvSpPr>
          <p:cNvPr id="22" name="Text 18"/>
          <p:cNvSpPr/>
          <p:nvPr/>
        </p:nvSpPr>
        <p:spPr>
          <a:xfrm>
            <a:off x="4879181" y="2200275"/>
            <a:ext cx="3571875" cy="135006"/>
          </a:xfrm>
          <a:prstGeom prst="rect">
            <a:avLst/>
          </a:prstGeom>
          <a:noFill/>
          <a:ln/>
        </p:spPr>
        <p:txBody>
          <a:bodyPr wrap="none" lIns="0" tIns="0" rIns="0" bIns="0" rtlCol="0" anchor="t">
            <a:spAutoFit/>
          </a:bodyPr>
          <a:lstStyle/>
          <a:p>
            <a:pPr marL="0" indent="0" algn="l">
              <a:lnSpc>
                <a:spcPts val="1100"/>
              </a:lnSpc>
              <a:buNone/>
            </a:pPr>
            <a:r>
              <a:rPr lang="en-US" sz="683" b="1" dirty="0">
                <a:solidFill>
                  <a:srgbClr val="FFFFFF"/>
                </a:solidFill>
              </a:rPr>
              <a:t>Rule:</a:t>
            </a:r>
            <a:r>
              <a:rPr lang="en-US" sz="727" dirty="0">
                <a:solidFill>
                  <a:srgbClr val="FFFFFF"/>
                </a:solidFill>
              </a:rPr>
              <a:t> Special Multiplication Rule (independent events)</a:t>
            </a:r>
            <a:endParaRPr lang="en-US" sz="683" dirty="0"/>
          </a:p>
        </p:txBody>
      </p:sp>
      <p:sp>
        <p:nvSpPr>
          <p:cNvPr id="23" name="Text 19"/>
          <p:cNvSpPr/>
          <p:nvPr/>
        </p:nvSpPr>
        <p:spPr>
          <a:xfrm>
            <a:off x="4793456" y="2374571"/>
            <a:ext cx="1059033" cy="135731"/>
          </a:xfrm>
          <a:prstGeom prst="rect">
            <a:avLst/>
          </a:prstGeom>
          <a:noFill/>
          <a:ln/>
        </p:spPr>
        <p:txBody>
          <a:bodyPr wrap="none" lIns="0" tIns="0" rIns="0" bIns="0" rtlCol="0" anchor="t">
            <a:spAutoFit/>
          </a:bodyPr>
          <a:lstStyle/>
          <a:p>
            <a:pPr marL="0" indent="0" algn="l">
              <a:lnSpc>
                <a:spcPts val="1100"/>
              </a:lnSpc>
              <a:buNone/>
            </a:pPr>
            <a:r>
              <a:rPr lang="en-US" sz="683" b="1" dirty="0">
                <a:solidFill>
                  <a:srgbClr val="00D9FF"/>
                </a:solidFill>
              </a:rPr>
              <a:t>P(A) = P(B) = P(C) = 1/2</a:t>
            </a:r>
            <a:endParaRPr lang="en-US" sz="683" dirty="0"/>
          </a:p>
        </p:txBody>
      </p:sp>
      <p:sp>
        <p:nvSpPr>
          <p:cNvPr id="24" name="Text 20"/>
          <p:cNvSpPr/>
          <p:nvPr/>
        </p:nvSpPr>
        <p:spPr>
          <a:xfrm>
            <a:off x="4793456" y="2524590"/>
            <a:ext cx="1875960" cy="135731"/>
          </a:xfrm>
          <a:prstGeom prst="rect">
            <a:avLst/>
          </a:prstGeom>
          <a:noFill/>
          <a:ln/>
        </p:spPr>
        <p:txBody>
          <a:bodyPr wrap="none" lIns="0" tIns="0" rIns="0" bIns="0" rtlCol="0" anchor="t">
            <a:spAutoFit/>
          </a:bodyPr>
          <a:lstStyle/>
          <a:p>
            <a:pPr marL="0" indent="0" algn="l">
              <a:lnSpc>
                <a:spcPts val="1100"/>
              </a:lnSpc>
              <a:buNone/>
            </a:pPr>
            <a:r>
              <a:rPr lang="en-US" sz="683" b="1" dirty="0">
                <a:solidFill>
                  <a:srgbClr val="00D9FF"/>
                </a:solidFill>
              </a:rPr>
              <a:t>P(A ∩ B ∩ C) = (1/2) × (1/2) × (1/2) = 1/8</a:t>
            </a:r>
            <a:endParaRPr lang="en-US" sz="683" dirty="0"/>
          </a:p>
        </p:txBody>
      </p:sp>
      <p:sp>
        <p:nvSpPr>
          <p:cNvPr id="25" name="Text 21"/>
          <p:cNvSpPr/>
          <p:nvPr/>
        </p:nvSpPr>
        <p:spPr>
          <a:xfrm>
            <a:off x="4793456" y="2706756"/>
            <a:ext cx="3743325" cy="155377"/>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FF6B9D"/>
                </a:solidFill>
              </a:rPr>
              <a:t>Answer: P(all heads) = 1/8 = 0.125</a:t>
            </a:r>
            <a:endParaRPr lang="en-US" sz="784" dirty="0"/>
          </a:p>
        </p:txBody>
      </p:sp>
      <p:sp>
        <p:nvSpPr>
          <p:cNvPr id="26" name="Shape 22"/>
          <p:cNvSpPr/>
          <p:nvPr/>
        </p:nvSpPr>
        <p:spPr>
          <a:xfrm>
            <a:off x="428625" y="3106806"/>
            <a:ext cx="4100513" cy="1879867"/>
          </a:xfrm>
          <a:prstGeom prst="rect">
            <a:avLst/>
          </a:prstGeom>
          <a:solidFill>
            <a:srgbClr val="FFFFFF">
              <a:alpha val="5000"/>
            </a:srgbClr>
          </a:solidFill>
          <a:ln/>
        </p:spPr>
        <p:txBody>
          <a:bodyPr/>
          <a:lstStyle/>
          <a:p>
            <a:endParaRPr lang="en-US"/>
          </a:p>
        </p:txBody>
      </p:sp>
      <p:sp>
        <p:nvSpPr>
          <p:cNvPr id="27" name="Text 23"/>
          <p:cNvSpPr/>
          <p:nvPr/>
        </p:nvSpPr>
        <p:spPr>
          <a:xfrm>
            <a:off x="607219" y="3163956"/>
            <a:ext cx="3743325" cy="350044"/>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FF6B9D"/>
                </a:solidFill>
              </a:rPr>
              <a:t>03</a:t>
            </a:r>
            <a:endParaRPr lang="en-US" sz="1808" dirty="0"/>
          </a:p>
        </p:txBody>
      </p:sp>
      <p:sp>
        <p:nvSpPr>
          <p:cNvPr id="28" name="Text 24"/>
          <p:cNvSpPr/>
          <p:nvPr/>
        </p:nvSpPr>
        <p:spPr>
          <a:xfrm>
            <a:off x="607219" y="3556862"/>
            <a:ext cx="3743325"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D9FF"/>
                </a:solidFill>
              </a:rPr>
              <a:t>Defective Products in Manufacturing</a:t>
            </a:r>
            <a:endParaRPr lang="en-US" sz="987" dirty="0"/>
          </a:p>
        </p:txBody>
      </p:sp>
      <p:sp>
        <p:nvSpPr>
          <p:cNvPr id="29" name="Text 25"/>
          <p:cNvSpPr/>
          <p:nvPr/>
        </p:nvSpPr>
        <p:spPr>
          <a:xfrm>
            <a:off x="607219" y="3808679"/>
            <a:ext cx="3743325" cy="300038"/>
          </a:xfrm>
          <a:prstGeom prst="rect">
            <a:avLst/>
          </a:prstGeom>
          <a:noFill/>
          <a:ln/>
        </p:spPr>
        <p:txBody>
          <a:bodyPr wrap="square" lIns="0" tIns="0" rIns="0" bIns="0" rtlCol="0" anchor="t">
            <a:spAutoFit/>
          </a:bodyPr>
          <a:lstStyle/>
          <a:p>
            <a:pPr marL="0" indent="0" algn="l">
              <a:lnSpc>
                <a:spcPts val="1200"/>
              </a:lnSpc>
              <a:buNone/>
            </a:pPr>
            <a:r>
              <a:rPr lang="en-US" sz="734" b="1" dirty="0">
                <a:solidFill>
                  <a:srgbClr val="FFD93D"/>
                </a:solidFill>
              </a:rPr>
              <a:t>Problem:</a:t>
            </a:r>
            <a:r>
              <a:rPr lang="en-US" sz="780" dirty="0">
                <a:solidFill>
                  <a:srgbClr val="FFFFFF"/>
                </a:solidFill>
              </a:rPr>
              <a:t> A box has 20 items: 3 defective, 17 good. Draw two items without replacement. Find P(both defective).</a:t>
            </a:r>
            <a:endParaRPr lang="en-US" sz="734" dirty="0"/>
          </a:p>
        </p:txBody>
      </p:sp>
      <p:sp>
        <p:nvSpPr>
          <p:cNvPr id="30" name="Text 26"/>
          <p:cNvSpPr/>
          <p:nvPr/>
        </p:nvSpPr>
        <p:spPr>
          <a:xfrm>
            <a:off x="607219" y="4108717"/>
            <a:ext cx="3743325" cy="150019"/>
          </a:xfrm>
          <a:prstGeom prst="rect">
            <a:avLst/>
          </a:prstGeom>
          <a:noFill/>
          <a:ln/>
        </p:spPr>
        <p:txBody>
          <a:bodyPr wrap="none" lIns="0" tIns="0" rIns="0" bIns="0" rtlCol="0" anchor="t">
            <a:spAutoFit/>
          </a:bodyPr>
          <a:lstStyle/>
          <a:p>
            <a:pPr marL="0" indent="0" algn="l">
              <a:lnSpc>
                <a:spcPts val="1200"/>
              </a:lnSpc>
              <a:buNone/>
            </a:pPr>
            <a:r>
              <a:rPr lang="en-US" sz="734" b="1" dirty="0">
                <a:solidFill>
                  <a:srgbClr val="FFD93D"/>
                </a:solidFill>
              </a:rPr>
              <a:t>Events:</a:t>
            </a:r>
            <a:r>
              <a:rPr lang="en-US" sz="780" dirty="0">
                <a:solidFill>
                  <a:srgbClr val="FFFFFF"/>
                </a:solidFill>
              </a:rPr>
              <a:t> D₁ = first item is defective; D₂ = second item is defective.</a:t>
            </a:r>
            <a:endParaRPr lang="en-US" sz="734" dirty="0"/>
          </a:p>
        </p:txBody>
      </p:sp>
      <p:sp>
        <p:nvSpPr>
          <p:cNvPr id="31" name="Shape 27"/>
          <p:cNvSpPr/>
          <p:nvPr/>
        </p:nvSpPr>
        <p:spPr>
          <a:xfrm>
            <a:off x="607219" y="4287310"/>
            <a:ext cx="3743325" cy="163581"/>
          </a:xfrm>
          <a:prstGeom prst="rect">
            <a:avLst/>
          </a:prstGeom>
          <a:solidFill>
            <a:srgbClr val="FFD73D">
              <a:alpha val="10000"/>
            </a:srgbClr>
          </a:solidFill>
          <a:ln/>
        </p:spPr>
        <p:txBody>
          <a:bodyPr/>
          <a:lstStyle/>
          <a:p>
            <a:endParaRPr lang="en-US"/>
          </a:p>
        </p:txBody>
      </p:sp>
      <p:sp>
        <p:nvSpPr>
          <p:cNvPr id="32" name="Text 28"/>
          <p:cNvSpPr/>
          <p:nvPr/>
        </p:nvSpPr>
        <p:spPr>
          <a:xfrm>
            <a:off x="692944" y="4315885"/>
            <a:ext cx="3571875" cy="135006"/>
          </a:xfrm>
          <a:prstGeom prst="rect">
            <a:avLst/>
          </a:prstGeom>
          <a:noFill/>
          <a:ln/>
        </p:spPr>
        <p:txBody>
          <a:bodyPr wrap="none" lIns="0" tIns="0" rIns="0" bIns="0" rtlCol="0" anchor="t">
            <a:spAutoFit/>
          </a:bodyPr>
          <a:lstStyle/>
          <a:p>
            <a:pPr marL="0" indent="0" algn="l">
              <a:lnSpc>
                <a:spcPts val="1100"/>
              </a:lnSpc>
              <a:buNone/>
            </a:pPr>
            <a:r>
              <a:rPr lang="en-US" sz="683" b="1" dirty="0">
                <a:solidFill>
                  <a:srgbClr val="FFFFFF"/>
                </a:solidFill>
              </a:rPr>
              <a:t>Rule:</a:t>
            </a:r>
            <a:r>
              <a:rPr lang="en-US" sz="727" dirty="0">
                <a:solidFill>
                  <a:srgbClr val="FFFFFF"/>
                </a:solidFill>
              </a:rPr>
              <a:t> General Multiplication Rule (dependent events)</a:t>
            </a:r>
            <a:endParaRPr lang="en-US" sz="683" dirty="0"/>
          </a:p>
        </p:txBody>
      </p:sp>
      <p:sp>
        <p:nvSpPr>
          <p:cNvPr id="33" name="Text 29"/>
          <p:cNvSpPr/>
          <p:nvPr/>
        </p:nvSpPr>
        <p:spPr>
          <a:xfrm>
            <a:off x="607219" y="4490182"/>
            <a:ext cx="2705751" cy="135731"/>
          </a:xfrm>
          <a:prstGeom prst="rect">
            <a:avLst/>
          </a:prstGeom>
          <a:noFill/>
          <a:ln/>
        </p:spPr>
        <p:txBody>
          <a:bodyPr wrap="none" lIns="0" tIns="0" rIns="0" bIns="0" rtlCol="0" anchor="t">
            <a:spAutoFit/>
          </a:bodyPr>
          <a:lstStyle/>
          <a:p>
            <a:pPr marL="0" indent="0" algn="l">
              <a:lnSpc>
                <a:spcPts val="1100"/>
              </a:lnSpc>
              <a:buNone/>
            </a:pPr>
            <a:r>
              <a:rPr lang="en-US" sz="683" b="1" dirty="0">
                <a:solidFill>
                  <a:srgbClr val="00D9FF"/>
                </a:solidFill>
              </a:rPr>
              <a:t>P(D₁) = 3/20; P(D₂|D₁) = 2/19 (2 defective left in 19 items)</a:t>
            </a:r>
            <a:endParaRPr lang="en-US" sz="683" dirty="0"/>
          </a:p>
        </p:txBody>
      </p:sp>
      <p:sp>
        <p:nvSpPr>
          <p:cNvPr id="34" name="Text 30"/>
          <p:cNvSpPr/>
          <p:nvPr/>
        </p:nvSpPr>
        <p:spPr>
          <a:xfrm>
            <a:off x="607219" y="4640200"/>
            <a:ext cx="1648309" cy="135731"/>
          </a:xfrm>
          <a:prstGeom prst="rect">
            <a:avLst/>
          </a:prstGeom>
          <a:noFill/>
          <a:ln/>
        </p:spPr>
        <p:txBody>
          <a:bodyPr wrap="none" lIns="0" tIns="0" rIns="0" bIns="0" rtlCol="0" anchor="t">
            <a:spAutoFit/>
          </a:bodyPr>
          <a:lstStyle/>
          <a:p>
            <a:pPr marL="0" indent="0" algn="l">
              <a:lnSpc>
                <a:spcPts val="1100"/>
              </a:lnSpc>
              <a:buNone/>
            </a:pPr>
            <a:r>
              <a:rPr lang="en-US" sz="683" b="1" dirty="0">
                <a:solidFill>
                  <a:srgbClr val="00D9FF"/>
                </a:solidFill>
              </a:rPr>
              <a:t>P(D₁ ∩ D₂) = (3/20) × (2/19) = 3/190</a:t>
            </a:r>
            <a:endParaRPr lang="en-US" sz="683" dirty="0"/>
          </a:p>
        </p:txBody>
      </p:sp>
      <p:sp>
        <p:nvSpPr>
          <p:cNvPr id="35" name="Text 31"/>
          <p:cNvSpPr/>
          <p:nvPr/>
        </p:nvSpPr>
        <p:spPr>
          <a:xfrm>
            <a:off x="607219" y="4822366"/>
            <a:ext cx="3743325" cy="164306"/>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FF6B9D"/>
                </a:solidFill>
              </a:rPr>
              <a:t>Answer: P(both defective) = 3/190 ≈ 0.0158</a:t>
            </a:r>
            <a:endParaRPr lang="en-US" sz="784" dirty="0"/>
          </a:p>
        </p:txBody>
      </p:sp>
      <p:sp>
        <p:nvSpPr>
          <p:cNvPr id="36" name="Shape 32"/>
          <p:cNvSpPr/>
          <p:nvPr/>
        </p:nvSpPr>
        <p:spPr>
          <a:xfrm>
            <a:off x="4614863" y="3106806"/>
            <a:ext cx="4100513" cy="1879867"/>
          </a:xfrm>
          <a:prstGeom prst="rect">
            <a:avLst/>
          </a:prstGeom>
          <a:solidFill>
            <a:srgbClr val="FFFFFF">
              <a:alpha val="5000"/>
            </a:srgbClr>
          </a:solidFill>
          <a:ln/>
        </p:spPr>
        <p:txBody>
          <a:bodyPr/>
          <a:lstStyle/>
          <a:p>
            <a:endParaRPr lang="en-US"/>
          </a:p>
        </p:txBody>
      </p:sp>
      <p:sp>
        <p:nvSpPr>
          <p:cNvPr id="37" name="Text 33"/>
          <p:cNvSpPr/>
          <p:nvPr/>
        </p:nvSpPr>
        <p:spPr>
          <a:xfrm>
            <a:off x="4793456" y="3163956"/>
            <a:ext cx="3743325" cy="350044"/>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FF6B9D"/>
                </a:solidFill>
              </a:rPr>
              <a:t>04</a:t>
            </a:r>
            <a:endParaRPr lang="en-US" sz="1808" dirty="0"/>
          </a:p>
        </p:txBody>
      </p:sp>
      <p:sp>
        <p:nvSpPr>
          <p:cNvPr id="38" name="Text 34"/>
          <p:cNvSpPr/>
          <p:nvPr/>
        </p:nvSpPr>
        <p:spPr>
          <a:xfrm>
            <a:off x="4793456" y="3556862"/>
            <a:ext cx="3743325"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D9FF"/>
                </a:solidFill>
              </a:rPr>
              <a:t>Rolling Two Dice: Specific Outcomes</a:t>
            </a:r>
            <a:endParaRPr lang="en-US" sz="987" dirty="0"/>
          </a:p>
        </p:txBody>
      </p:sp>
      <p:sp>
        <p:nvSpPr>
          <p:cNvPr id="39" name="Text 35"/>
          <p:cNvSpPr/>
          <p:nvPr/>
        </p:nvSpPr>
        <p:spPr>
          <a:xfrm>
            <a:off x="4793456" y="3808679"/>
            <a:ext cx="3743325" cy="300038"/>
          </a:xfrm>
          <a:prstGeom prst="rect">
            <a:avLst/>
          </a:prstGeom>
          <a:noFill/>
          <a:ln/>
        </p:spPr>
        <p:txBody>
          <a:bodyPr wrap="square" lIns="0" tIns="0" rIns="0" bIns="0" rtlCol="0" anchor="t">
            <a:spAutoFit/>
          </a:bodyPr>
          <a:lstStyle/>
          <a:p>
            <a:pPr marL="0" indent="0" algn="l">
              <a:lnSpc>
                <a:spcPts val="1200"/>
              </a:lnSpc>
              <a:buNone/>
            </a:pPr>
            <a:r>
              <a:rPr lang="en-US" sz="734" b="1" dirty="0">
                <a:solidFill>
                  <a:srgbClr val="FFD93D"/>
                </a:solidFill>
              </a:rPr>
              <a:t>Problem:</a:t>
            </a:r>
            <a:r>
              <a:rPr lang="en-US" sz="780" dirty="0">
                <a:solidFill>
                  <a:srgbClr val="FFFFFF"/>
                </a:solidFill>
              </a:rPr>
              <a:t> Roll two fair dice. Find P(first die shows 6 AND second die shows 5).</a:t>
            </a:r>
            <a:endParaRPr lang="en-US" sz="734" dirty="0"/>
          </a:p>
        </p:txBody>
      </p:sp>
      <p:sp>
        <p:nvSpPr>
          <p:cNvPr id="40" name="Text 36"/>
          <p:cNvSpPr/>
          <p:nvPr/>
        </p:nvSpPr>
        <p:spPr>
          <a:xfrm>
            <a:off x="4793456" y="4108717"/>
            <a:ext cx="3743325" cy="150019"/>
          </a:xfrm>
          <a:prstGeom prst="rect">
            <a:avLst/>
          </a:prstGeom>
          <a:noFill/>
          <a:ln/>
        </p:spPr>
        <p:txBody>
          <a:bodyPr wrap="none" lIns="0" tIns="0" rIns="0" bIns="0" rtlCol="0" anchor="t">
            <a:spAutoFit/>
          </a:bodyPr>
          <a:lstStyle/>
          <a:p>
            <a:pPr marL="0" indent="0" algn="l">
              <a:lnSpc>
                <a:spcPts val="1200"/>
              </a:lnSpc>
              <a:buNone/>
            </a:pPr>
            <a:r>
              <a:rPr lang="en-US" sz="734" b="1" dirty="0">
                <a:solidFill>
                  <a:srgbClr val="FFD93D"/>
                </a:solidFill>
              </a:rPr>
              <a:t>Events:</a:t>
            </a:r>
            <a:r>
              <a:rPr lang="en-US" sz="780" dirty="0">
                <a:solidFill>
                  <a:srgbClr val="FFFFFF"/>
                </a:solidFill>
              </a:rPr>
              <a:t> A = first die shows 6; B = second die shows 5.</a:t>
            </a:r>
            <a:endParaRPr lang="en-US" sz="734" dirty="0"/>
          </a:p>
        </p:txBody>
      </p:sp>
      <p:sp>
        <p:nvSpPr>
          <p:cNvPr id="41" name="Shape 37"/>
          <p:cNvSpPr/>
          <p:nvPr/>
        </p:nvSpPr>
        <p:spPr>
          <a:xfrm>
            <a:off x="4793456" y="4287310"/>
            <a:ext cx="3743325" cy="163581"/>
          </a:xfrm>
          <a:prstGeom prst="rect">
            <a:avLst/>
          </a:prstGeom>
          <a:solidFill>
            <a:srgbClr val="FFD73D">
              <a:alpha val="10000"/>
            </a:srgbClr>
          </a:solidFill>
          <a:ln/>
        </p:spPr>
        <p:txBody>
          <a:bodyPr/>
          <a:lstStyle/>
          <a:p>
            <a:endParaRPr lang="en-US"/>
          </a:p>
        </p:txBody>
      </p:sp>
      <p:sp>
        <p:nvSpPr>
          <p:cNvPr id="42" name="Text 38"/>
          <p:cNvSpPr/>
          <p:nvPr/>
        </p:nvSpPr>
        <p:spPr>
          <a:xfrm>
            <a:off x="4879181" y="4315885"/>
            <a:ext cx="3571875" cy="135006"/>
          </a:xfrm>
          <a:prstGeom prst="rect">
            <a:avLst/>
          </a:prstGeom>
          <a:noFill/>
          <a:ln/>
        </p:spPr>
        <p:txBody>
          <a:bodyPr wrap="none" lIns="0" tIns="0" rIns="0" bIns="0" rtlCol="0" anchor="t">
            <a:spAutoFit/>
          </a:bodyPr>
          <a:lstStyle/>
          <a:p>
            <a:pPr marL="0" indent="0" algn="l">
              <a:lnSpc>
                <a:spcPts val="1100"/>
              </a:lnSpc>
              <a:buNone/>
            </a:pPr>
            <a:r>
              <a:rPr lang="en-US" sz="683" b="1" dirty="0">
                <a:solidFill>
                  <a:srgbClr val="FFFFFF"/>
                </a:solidFill>
              </a:rPr>
              <a:t>Rule:</a:t>
            </a:r>
            <a:r>
              <a:rPr lang="en-US" sz="727" dirty="0">
                <a:solidFill>
                  <a:srgbClr val="FFFFFF"/>
                </a:solidFill>
              </a:rPr>
              <a:t> Special Multiplication Rule (independent events)</a:t>
            </a:r>
            <a:endParaRPr lang="en-US" sz="683" dirty="0"/>
          </a:p>
        </p:txBody>
      </p:sp>
      <p:sp>
        <p:nvSpPr>
          <p:cNvPr id="43" name="Text 39"/>
          <p:cNvSpPr/>
          <p:nvPr/>
        </p:nvSpPr>
        <p:spPr>
          <a:xfrm>
            <a:off x="4793456" y="4490182"/>
            <a:ext cx="967727" cy="135731"/>
          </a:xfrm>
          <a:prstGeom prst="rect">
            <a:avLst/>
          </a:prstGeom>
          <a:noFill/>
          <a:ln/>
        </p:spPr>
        <p:txBody>
          <a:bodyPr wrap="none" lIns="0" tIns="0" rIns="0" bIns="0" rtlCol="0" anchor="t">
            <a:spAutoFit/>
          </a:bodyPr>
          <a:lstStyle/>
          <a:p>
            <a:pPr marL="0" indent="0" algn="l">
              <a:lnSpc>
                <a:spcPts val="1100"/>
              </a:lnSpc>
              <a:buNone/>
            </a:pPr>
            <a:r>
              <a:rPr lang="en-US" sz="683" b="1" dirty="0">
                <a:solidFill>
                  <a:srgbClr val="00D9FF"/>
                </a:solidFill>
              </a:rPr>
              <a:t>P(A) = 1/6; P(B) = 1/6</a:t>
            </a:r>
            <a:endParaRPr lang="en-US" sz="683" dirty="0"/>
          </a:p>
        </p:txBody>
      </p:sp>
      <p:sp>
        <p:nvSpPr>
          <p:cNvPr id="44" name="Text 40"/>
          <p:cNvSpPr/>
          <p:nvPr/>
        </p:nvSpPr>
        <p:spPr>
          <a:xfrm>
            <a:off x="4793456" y="4640200"/>
            <a:ext cx="1389376" cy="135731"/>
          </a:xfrm>
          <a:prstGeom prst="rect">
            <a:avLst/>
          </a:prstGeom>
          <a:noFill/>
          <a:ln/>
        </p:spPr>
        <p:txBody>
          <a:bodyPr wrap="none" lIns="0" tIns="0" rIns="0" bIns="0" rtlCol="0" anchor="t">
            <a:spAutoFit/>
          </a:bodyPr>
          <a:lstStyle/>
          <a:p>
            <a:pPr marL="0" indent="0" algn="l">
              <a:lnSpc>
                <a:spcPts val="1100"/>
              </a:lnSpc>
              <a:buNone/>
            </a:pPr>
            <a:r>
              <a:rPr lang="en-US" sz="683" b="1" dirty="0">
                <a:solidFill>
                  <a:srgbClr val="00D9FF"/>
                </a:solidFill>
              </a:rPr>
              <a:t>P(A ∩ B) = (1/6) × (1/6) = 1/36</a:t>
            </a:r>
            <a:endParaRPr lang="en-US" sz="683" dirty="0"/>
          </a:p>
        </p:txBody>
      </p:sp>
      <p:sp>
        <p:nvSpPr>
          <p:cNvPr id="45" name="Text 41"/>
          <p:cNvSpPr/>
          <p:nvPr/>
        </p:nvSpPr>
        <p:spPr>
          <a:xfrm>
            <a:off x="4793456" y="4822366"/>
            <a:ext cx="3743325" cy="164306"/>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FF6B9D"/>
                </a:solidFill>
              </a:rPr>
              <a:t>Answer: P(6 on first, 5 on second) = 1/36 ≈ 0.0278</a:t>
            </a:r>
            <a:endParaRPr lang="en-US" sz="784"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0" y="357188"/>
            <a:ext cx="9144000" cy="466130"/>
          </a:xfrm>
          <a:prstGeom prst="rect">
            <a:avLst/>
          </a:prstGeom>
          <a:noFill/>
          <a:ln/>
        </p:spPr>
        <p:txBody>
          <a:bodyPr wrap="none" lIns="0" tIns="0" rIns="0" bIns="0" rtlCol="0" anchor="t">
            <a:spAutoFit/>
          </a:bodyPr>
          <a:lstStyle/>
          <a:p>
            <a:pPr marL="0" indent="0" algn="ctr">
              <a:lnSpc>
                <a:spcPts val="3200"/>
              </a:lnSpc>
              <a:buNone/>
            </a:pPr>
            <a:r>
              <a:rPr lang="en-US" sz="2436" b="1" dirty="0">
                <a:solidFill>
                  <a:srgbClr val="00D9FF"/>
                </a:solidFill>
              </a:rPr>
              <a:t>Conditional Probability</a:t>
            </a:r>
            <a:endParaRPr lang="en-US" sz="2436" dirty="0"/>
          </a:p>
        </p:txBody>
      </p:sp>
      <p:sp>
        <p:nvSpPr>
          <p:cNvPr id="5" name="Shape 1"/>
          <p:cNvSpPr/>
          <p:nvPr/>
        </p:nvSpPr>
        <p:spPr>
          <a:xfrm>
            <a:off x="500063" y="1037630"/>
            <a:ext cx="3893344" cy="664369"/>
          </a:xfrm>
          <a:prstGeom prst="rect">
            <a:avLst/>
          </a:prstGeom>
          <a:solidFill>
            <a:srgbClr val="00D9FF">
              <a:alpha val="10000"/>
            </a:srgbClr>
          </a:solidFill>
          <a:ln/>
        </p:spPr>
        <p:txBody>
          <a:bodyPr/>
          <a:lstStyle/>
          <a:p>
            <a:endParaRPr lang="en-US"/>
          </a:p>
        </p:txBody>
      </p:sp>
      <p:sp>
        <p:nvSpPr>
          <p:cNvPr id="6" name="Text 2"/>
          <p:cNvSpPr/>
          <p:nvPr/>
        </p:nvSpPr>
        <p:spPr>
          <a:xfrm>
            <a:off x="678656" y="1123355"/>
            <a:ext cx="3536156" cy="578644"/>
          </a:xfrm>
          <a:prstGeom prst="rect">
            <a:avLst/>
          </a:prstGeom>
          <a:noFill/>
          <a:ln/>
        </p:spPr>
        <p:txBody>
          <a:bodyPr wrap="square" lIns="0" tIns="0" rIns="0" bIns="0" rtlCol="0" anchor="t">
            <a:spAutoFit/>
          </a:bodyPr>
          <a:lstStyle/>
          <a:p>
            <a:pPr marL="0" indent="0" algn="l">
              <a:lnSpc>
                <a:spcPts val="1500"/>
              </a:lnSpc>
              <a:buNone/>
            </a:pPr>
            <a:r>
              <a:rPr lang="en-US" sz="885" b="1" dirty="0">
                <a:solidFill>
                  <a:srgbClr val="FFFFFF"/>
                </a:solidFill>
              </a:rPr>
              <a:t>Conditional probability</a:t>
            </a:r>
            <a:r>
              <a:rPr lang="en-US" sz="942" dirty="0">
                <a:solidFill>
                  <a:srgbClr val="FFFFFF"/>
                </a:solidFill>
              </a:rPr>
              <a:t> is the probability of event A given event B. It describes how the likelihood of A changes when we know B occurred.</a:t>
            </a:r>
            <a:endParaRPr lang="en-US" sz="885" dirty="0"/>
          </a:p>
        </p:txBody>
      </p:sp>
      <p:sp>
        <p:nvSpPr>
          <p:cNvPr id="7" name="Text 3"/>
          <p:cNvSpPr/>
          <p:nvPr/>
        </p:nvSpPr>
        <p:spPr>
          <a:xfrm>
            <a:off x="500063" y="1816298"/>
            <a:ext cx="3893344"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FFD93D"/>
                </a:solidFill>
              </a:rPr>
              <a:t>Mathematical Formula</a:t>
            </a:r>
            <a:endParaRPr lang="en-US" sz="1193" dirty="0"/>
          </a:p>
        </p:txBody>
      </p:sp>
      <p:sp>
        <p:nvSpPr>
          <p:cNvPr id="8" name="Shape 4"/>
          <p:cNvSpPr/>
          <p:nvPr/>
        </p:nvSpPr>
        <p:spPr>
          <a:xfrm>
            <a:off x="500063" y="2121694"/>
            <a:ext cx="3893344" cy="873323"/>
          </a:xfrm>
          <a:prstGeom prst="rect">
            <a:avLst/>
          </a:prstGeom>
          <a:solidFill>
            <a:srgbClr val="FF6B9D">
              <a:alpha val="15000"/>
            </a:srgbClr>
          </a:solidFill>
          <a:ln/>
        </p:spPr>
        <p:txBody>
          <a:bodyPr/>
          <a:lstStyle/>
          <a:p>
            <a:endParaRPr lang="en-US"/>
          </a:p>
        </p:txBody>
      </p:sp>
      <p:sp>
        <p:nvSpPr>
          <p:cNvPr id="9" name="Text 5"/>
          <p:cNvSpPr/>
          <p:nvPr/>
        </p:nvSpPr>
        <p:spPr>
          <a:xfrm>
            <a:off x="678656" y="2207419"/>
            <a:ext cx="3536156" cy="373261"/>
          </a:xfrm>
          <a:prstGeom prst="rect">
            <a:avLst/>
          </a:prstGeom>
          <a:noFill/>
          <a:ln/>
        </p:spPr>
        <p:txBody>
          <a:bodyPr wrap="none" lIns="0" tIns="0" rIns="0" bIns="0" rtlCol="0" anchor="t">
            <a:spAutoFit/>
          </a:bodyPr>
          <a:lstStyle/>
          <a:p>
            <a:pPr marL="0" indent="0" algn="ctr">
              <a:lnSpc>
                <a:spcPts val="2400"/>
              </a:lnSpc>
              <a:buNone/>
            </a:pPr>
            <a:r>
              <a:rPr lang="en-US" sz="1808" b="1" dirty="0">
                <a:solidFill>
                  <a:srgbClr val="FF6B9D"/>
                </a:solidFill>
              </a:rPr>
              <a:t>P(A|B) = P(A ∩ B) / P(B)</a:t>
            </a:r>
            <a:endParaRPr lang="en-US" sz="1808" dirty="0"/>
          </a:p>
        </p:txBody>
      </p:sp>
      <p:sp>
        <p:nvSpPr>
          <p:cNvPr id="10" name="Text 6"/>
          <p:cNvSpPr/>
          <p:nvPr/>
        </p:nvSpPr>
        <p:spPr>
          <a:xfrm>
            <a:off x="678656" y="2652117"/>
            <a:ext cx="3536156" cy="34290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FFFFFF"/>
                </a:solidFill>
              </a:rPr>
              <a:t>Where: P(A|B) is “A given B”; P(A ∩ B) means both happen; P(B) &gt; 0.</a:t>
            </a:r>
            <a:endParaRPr lang="en-US" sz="834" dirty="0"/>
          </a:p>
        </p:txBody>
      </p:sp>
      <p:sp>
        <p:nvSpPr>
          <p:cNvPr id="11" name="Text 7"/>
          <p:cNvSpPr/>
          <p:nvPr/>
        </p:nvSpPr>
        <p:spPr>
          <a:xfrm>
            <a:off x="500063" y="3109317"/>
            <a:ext cx="3893344"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FFD93D"/>
                </a:solidFill>
              </a:rPr>
              <a:t>Key Properties</a:t>
            </a:r>
            <a:endParaRPr lang="en-US" sz="1193" dirty="0"/>
          </a:p>
        </p:txBody>
      </p:sp>
      <p:sp>
        <p:nvSpPr>
          <p:cNvPr id="12" name="Text 8"/>
          <p:cNvSpPr/>
          <p:nvPr/>
        </p:nvSpPr>
        <p:spPr>
          <a:xfrm>
            <a:off x="678656" y="3427214"/>
            <a:ext cx="384284" cy="15537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FFD93D"/>
                </a:solidFill>
              </a:rPr>
              <a:t>Range:</a:t>
            </a:r>
            <a:endParaRPr lang="en-US" sz="784" dirty="0"/>
          </a:p>
        </p:txBody>
      </p:sp>
      <p:sp>
        <p:nvSpPr>
          <p:cNvPr id="13" name="Text 9"/>
          <p:cNvSpPr/>
          <p:nvPr/>
        </p:nvSpPr>
        <p:spPr>
          <a:xfrm>
            <a:off x="1062940" y="3427214"/>
            <a:ext cx="855994" cy="155377"/>
          </a:xfrm>
          <a:prstGeom prst="rect">
            <a:avLst/>
          </a:prstGeom>
          <a:noFill/>
          <a:ln/>
        </p:spPr>
        <p:txBody>
          <a:bodyPr wrap="none" lIns="0" tIns="0" rIns="0" bIns="0" rtlCol="0" anchor="t">
            <a:spAutoFit/>
          </a:bodyPr>
          <a:lstStyle/>
          <a:p>
            <a:pPr marL="0" indent="0" algn="l">
              <a:lnSpc>
                <a:spcPts val="1400"/>
              </a:lnSpc>
              <a:buNone/>
            </a:pPr>
            <a:r>
              <a:rPr lang="en-US" sz="834" dirty="0">
                <a:solidFill>
                  <a:srgbClr val="FFFFFF"/>
                </a:solidFill>
              </a:rPr>
              <a:t>0 ≤ P(A|B) ≤ 1</a:t>
            </a:r>
            <a:endParaRPr lang="en-US" sz="834" dirty="0"/>
          </a:p>
        </p:txBody>
      </p:sp>
      <p:sp>
        <p:nvSpPr>
          <p:cNvPr id="14" name="Text 10"/>
          <p:cNvSpPr/>
          <p:nvPr/>
        </p:nvSpPr>
        <p:spPr>
          <a:xfrm>
            <a:off x="678656" y="3652940"/>
            <a:ext cx="1294358" cy="15537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FFD93D"/>
                </a:solidFill>
              </a:rPr>
              <a:t>Reduced sample space:</a:t>
            </a:r>
            <a:endParaRPr lang="en-US" sz="784" dirty="0"/>
          </a:p>
        </p:txBody>
      </p:sp>
      <p:sp>
        <p:nvSpPr>
          <p:cNvPr id="15" name="Text 11"/>
          <p:cNvSpPr/>
          <p:nvPr/>
        </p:nvSpPr>
        <p:spPr>
          <a:xfrm>
            <a:off x="1973014" y="3652940"/>
            <a:ext cx="2175356" cy="155377"/>
          </a:xfrm>
          <a:prstGeom prst="rect">
            <a:avLst/>
          </a:prstGeom>
          <a:noFill/>
          <a:ln/>
        </p:spPr>
        <p:txBody>
          <a:bodyPr wrap="none" lIns="0" tIns="0" rIns="0" bIns="0" rtlCol="0" anchor="t">
            <a:spAutoFit/>
          </a:bodyPr>
          <a:lstStyle/>
          <a:p>
            <a:pPr marL="0" indent="0" algn="l">
              <a:lnSpc>
                <a:spcPts val="1400"/>
              </a:lnSpc>
              <a:buNone/>
            </a:pPr>
            <a:r>
              <a:rPr lang="en-US" sz="834" dirty="0">
                <a:solidFill>
                  <a:srgbClr val="FFFFFF"/>
                </a:solidFill>
              </a:rPr>
              <a:t>Consider only outcomes where B occurs</a:t>
            </a:r>
            <a:endParaRPr lang="en-US" sz="834" dirty="0"/>
          </a:p>
        </p:txBody>
      </p:sp>
      <p:sp>
        <p:nvSpPr>
          <p:cNvPr id="16" name="Text 12"/>
          <p:cNvSpPr/>
          <p:nvPr/>
        </p:nvSpPr>
        <p:spPr>
          <a:xfrm>
            <a:off x="678656" y="3878666"/>
            <a:ext cx="1076837" cy="15537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FFD93D"/>
                </a:solidFill>
              </a:rPr>
              <a:t>Independence test:</a:t>
            </a:r>
            <a:endParaRPr lang="en-US" sz="784" dirty="0"/>
          </a:p>
        </p:txBody>
      </p:sp>
      <p:sp>
        <p:nvSpPr>
          <p:cNvPr id="17" name="Text 13"/>
          <p:cNvSpPr/>
          <p:nvPr/>
        </p:nvSpPr>
        <p:spPr>
          <a:xfrm>
            <a:off x="1755493" y="3878666"/>
            <a:ext cx="2489932" cy="155377"/>
          </a:xfrm>
          <a:prstGeom prst="rect">
            <a:avLst/>
          </a:prstGeom>
          <a:noFill/>
          <a:ln/>
        </p:spPr>
        <p:txBody>
          <a:bodyPr wrap="none" lIns="0" tIns="0" rIns="0" bIns="0" rtlCol="0" anchor="t">
            <a:spAutoFit/>
          </a:bodyPr>
          <a:lstStyle/>
          <a:p>
            <a:pPr marL="0" indent="0" algn="l">
              <a:lnSpc>
                <a:spcPts val="1400"/>
              </a:lnSpc>
              <a:buNone/>
            </a:pPr>
            <a:r>
              <a:rPr lang="en-US" sz="834" dirty="0">
                <a:solidFill>
                  <a:srgbClr val="FFFFFF"/>
                </a:solidFill>
              </a:rPr>
              <a:t>If P(A|B) = P(A), then A and B are independent</a:t>
            </a:r>
            <a:endParaRPr lang="en-US" sz="834" dirty="0"/>
          </a:p>
        </p:txBody>
      </p:sp>
      <p:sp>
        <p:nvSpPr>
          <p:cNvPr id="18" name="Shape 14"/>
          <p:cNvSpPr/>
          <p:nvPr/>
        </p:nvSpPr>
        <p:spPr>
          <a:xfrm>
            <a:off x="4750594" y="1037630"/>
            <a:ext cx="3893344" cy="917972"/>
          </a:xfrm>
          <a:prstGeom prst="rect">
            <a:avLst/>
          </a:prstGeom>
          <a:solidFill>
            <a:srgbClr val="FFD73D">
              <a:alpha val="10000"/>
            </a:srgbClr>
          </a:solidFill>
          <a:ln/>
        </p:spPr>
        <p:txBody>
          <a:bodyPr/>
          <a:lstStyle/>
          <a:p>
            <a:endParaRPr lang="en-US"/>
          </a:p>
        </p:txBody>
      </p:sp>
      <p:sp>
        <p:nvSpPr>
          <p:cNvPr id="19" name="Text 15"/>
          <p:cNvSpPr/>
          <p:nvPr/>
        </p:nvSpPr>
        <p:spPr>
          <a:xfrm>
            <a:off x="4929188" y="1123355"/>
            <a:ext cx="3536156" cy="214313"/>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FFD93D"/>
                </a:solidFill>
              </a:rPr>
              <a:t>Intuitive Understanding</a:t>
            </a:r>
            <a:endParaRPr lang="en-US" sz="1090" dirty="0"/>
          </a:p>
        </p:txBody>
      </p:sp>
      <p:sp>
        <p:nvSpPr>
          <p:cNvPr id="20" name="Text 16"/>
          <p:cNvSpPr/>
          <p:nvPr/>
        </p:nvSpPr>
        <p:spPr>
          <a:xfrm>
            <a:off x="4929188" y="1409105"/>
            <a:ext cx="3536156" cy="546497"/>
          </a:xfrm>
          <a:prstGeom prst="rect">
            <a:avLst/>
          </a:prstGeom>
          <a:noFill/>
          <a:ln/>
        </p:spPr>
        <p:txBody>
          <a:bodyPr wrap="square" lIns="0" tIns="0" rIns="0" bIns="0" rtlCol="0" anchor="t">
            <a:spAutoFit/>
          </a:bodyPr>
          <a:lstStyle/>
          <a:p>
            <a:pPr marL="0" indent="0" algn="l">
              <a:lnSpc>
                <a:spcPts val="1400"/>
              </a:lnSpc>
              <a:buNone/>
            </a:pPr>
            <a:r>
              <a:rPr lang="en-US" sz="888" dirty="0">
                <a:solidFill>
                  <a:srgbClr val="FFFFFF"/>
                </a:solidFill>
              </a:rPr>
              <a:t>Think of conditional probability as </a:t>
            </a:r>
            <a:r>
              <a:rPr lang="en-US" sz="834" b="1" dirty="0">
                <a:solidFill>
                  <a:srgbClr val="FFFFFF"/>
                </a:solidFill>
              </a:rPr>
              <a:t>updating beliefs</a:t>
            </a:r>
            <a:r>
              <a:rPr lang="en-US" sz="888" dirty="0">
                <a:solidFill>
                  <a:srgbClr val="FFFFFF"/>
                </a:solidFill>
              </a:rPr>
              <a:t> with new information. Given B, we focus on outcomes where B happens and assess how likely A is within that set.</a:t>
            </a:r>
            <a:endParaRPr lang="en-US" sz="888" dirty="0"/>
          </a:p>
        </p:txBody>
      </p:sp>
      <p:sp>
        <p:nvSpPr>
          <p:cNvPr id="21" name="Shape 17"/>
          <p:cNvSpPr/>
          <p:nvPr/>
        </p:nvSpPr>
        <p:spPr>
          <a:xfrm>
            <a:off x="4750594" y="2069902"/>
            <a:ext cx="3893344" cy="1083283"/>
          </a:xfrm>
          <a:prstGeom prst="rect">
            <a:avLst/>
          </a:prstGeom>
          <a:solidFill>
            <a:srgbClr val="00D9FF">
              <a:alpha val="10000"/>
            </a:srgbClr>
          </a:solidFill>
          <a:ln/>
        </p:spPr>
        <p:txBody>
          <a:bodyPr/>
          <a:lstStyle/>
          <a:p>
            <a:endParaRPr lang="en-US"/>
          </a:p>
        </p:txBody>
      </p:sp>
      <p:sp>
        <p:nvSpPr>
          <p:cNvPr id="22" name="Text 18"/>
          <p:cNvSpPr/>
          <p:nvPr/>
        </p:nvSpPr>
        <p:spPr>
          <a:xfrm>
            <a:off x="4893469" y="2155627"/>
            <a:ext cx="3607594"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D9FF"/>
                </a:solidFill>
              </a:rPr>
              <a:t>Interpretation &amp; Example</a:t>
            </a:r>
            <a:endParaRPr lang="en-US" sz="987" dirty="0"/>
          </a:p>
        </p:txBody>
      </p:sp>
      <p:sp>
        <p:nvSpPr>
          <p:cNvPr id="23" name="Text 19"/>
          <p:cNvSpPr/>
          <p:nvPr/>
        </p:nvSpPr>
        <p:spPr>
          <a:xfrm>
            <a:off x="4893469" y="2421731"/>
            <a:ext cx="3607594" cy="731453"/>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FFFFFF"/>
                </a:solidFill>
              </a:rPr>
              <a:t>The fraction P(A ∩ B) / P(B) is the share of B-outcomes that also satisfy A.
 Example (cards): P(Ace|Red) = (2/52)/(26/52) = 1/13. Among 26 red cards, 2 are Aces.</a:t>
            </a:r>
            <a:endParaRPr lang="en-US" sz="834" dirty="0"/>
          </a:p>
        </p:txBody>
      </p:sp>
      <p:sp>
        <p:nvSpPr>
          <p:cNvPr id="24" name="Shape 20"/>
          <p:cNvSpPr/>
          <p:nvPr/>
        </p:nvSpPr>
        <p:spPr>
          <a:xfrm>
            <a:off x="4750594" y="3267484"/>
            <a:ext cx="3893344" cy="971857"/>
          </a:xfrm>
          <a:prstGeom prst="rect">
            <a:avLst/>
          </a:prstGeom>
          <a:solidFill>
            <a:srgbClr val="FFFFFF">
              <a:alpha val="5000"/>
            </a:srgbClr>
          </a:solidFill>
          <a:ln/>
        </p:spPr>
        <p:txBody>
          <a:bodyPr/>
          <a:lstStyle/>
          <a:p>
            <a:endParaRPr lang="en-US"/>
          </a:p>
        </p:txBody>
      </p:sp>
      <p:sp>
        <p:nvSpPr>
          <p:cNvPr id="25" name="Text 21"/>
          <p:cNvSpPr/>
          <p:nvPr/>
        </p:nvSpPr>
        <p:spPr>
          <a:xfrm>
            <a:off x="4893469" y="3338922"/>
            <a:ext cx="3607594"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FFD93D"/>
                </a:solidFill>
              </a:rPr>
              <a:t>When to Use Conditional Probability</a:t>
            </a:r>
            <a:endParaRPr lang="en-US" sz="987" dirty="0"/>
          </a:p>
        </p:txBody>
      </p:sp>
      <p:sp>
        <p:nvSpPr>
          <p:cNvPr id="26" name="Text 22"/>
          <p:cNvSpPr/>
          <p:nvPr/>
        </p:nvSpPr>
        <p:spPr>
          <a:xfrm>
            <a:off x="5072063" y="3617528"/>
            <a:ext cx="1023565" cy="15537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FF6B9D"/>
                </a:solidFill>
              </a:rPr>
              <a:t>Sequential events:</a:t>
            </a:r>
            <a:endParaRPr lang="en-US" sz="784" dirty="0"/>
          </a:p>
        </p:txBody>
      </p:sp>
      <p:sp>
        <p:nvSpPr>
          <p:cNvPr id="27" name="Text 23"/>
          <p:cNvSpPr/>
          <p:nvPr/>
        </p:nvSpPr>
        <p:spPr>
          <a:xfrm>
            <a:off x="6095628" y="3617528"/>
            <a:ext cx="1446247" cy="155377"/>
          </a:xfrm>
          <a:prstGeom prst="rect">
            <a:avLst/>
          </a:prstGeom>
          <a:noFill/>
          <a:ln/>
        </p:spPr>
        <p:txBody>
          <a:bodyPr wrap="none" lIns="0" tIns="0" rIns="0" bIns="0" rtlCol="0" anchor="t">
            <a:spAutoFit/>
          </a:bodyPr>
          <a:lstStyle/>
          <a:p>
            <a:pPr marL="0" indent="0" algn="l">
              <a:lnSpc>
                <a:spcPts val="1400"/>
              </a:lnSpc>
              <a:buNone/>
            </a:pPr>
            <a:r>
              <a:rPr lang="en-US" sz="834" dirty="0">
                <a:solidFill>
                  <a:srgbClr val="FFFFFF"/>
                </a:solidFill>
              </a:rPr>
              <a:t>One event follows another</a:t>
            </a:r>
            <a:endParaRPr lang="en-US" sz="834" dirty="0"/>
          </a:p>
        </p:txBody>
      </p:sp>
      <p:sp>
        <p:nvSpPr>
          <p:cNvPr id="28" name="Text 24"/>
          <p:cNvSpPr/>
          <p:nvPr/>
        </p:nvSpPr>
        <p:spPr>
          <a:xfrm>
            <a:off x="5072063" y="3843254"/>
            <a:ext cx="1098100" cy="15537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FF6B9D"/>
                </a:solidFill>
              </a:rPr>
              <a:t>Partial information:</a:t>
            </a:r>
            <a:endParaRPr lang="en-US" sz="784" dirty="0"/>
          </a:p>
        </p:txBody>
      </p:sp>
      <p:sp>
        <p:nvSpPr>
          <p:cNvPr id="29" name="Text 25"/>
          <p:cNvSpPr/>
          <p:nvPr/>
        </p:nvSpPr>
        <p:spPr>
          <a:xfrm>
            <a:off x="6170163" y="3843254"/>
            <a:ext cx="1883801" cy="155377"/>
          </a:xfrm>
          <a:prstGeom prst="rect">
            <a:avLst/>
          </a:prstGeom>
          <a:noFill/>
          <a:ln/>
        </p:spPr>
        <p:txBody>
          <a:bodyPr wrap="none" lIns="0" tIns="0" rIns="0" bIns="0" rtlCol="0" anchor="t">
            <a:spAutoFit/>
          </a:bodyPr>
          <a:lstStyle/>
          <a:p>
            <a:pPr marL="0" indent="0" algn="l">
              <a:lnSpc>
                <a:spcPts val="1400"/>
              </a:lnSpc>
              <a:buNone/>
            </a:pPr>
            <a:r>
              <a:rPr lang="en-US" sz="834" dirty="0">
                <a:solidFill>
                  <a:srgbClr val="FFFFFF"/>
                </a:solidFill>
              </a:rPr>
              <a:t>You know some outcome occurred</a:t>
            </a:r>
            <a:endParaRPr lang="en-US" sz="834" dirty="0"/>
          </a:p>
        </p:txBody>
      </p:sp>
      <p:sp>
        <p:nvSpPr>
          <p:cNvPr id="30" name="Text 26"/>
          <p:cNvSpPr/>
          <p:nvPr/>
        </p:nvSpPr>
        <p:spPr>
          <a:xfrm>
            <a:off x="5072063" y="4068980"/>
            <a:ext cx="1049964" cy="15537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FF6B9D"/>
                </a:solidFill>
              </a:rPr>
              <a:t>Dependent events:</a:t>
            </a:r>
            <a:endParaRPr lang="en-US" sz="784" dirty="0"/>
          </a:p>
        </p:txBody>
      </p:sp>
      <p:sp>
        <p:nvSpPr>
          <p:cNvPr id="31" name="Text 27"/>
          <p:cNvSpPr/>
          <p:nvPr/>
        </p:nvSpPr>
        <p:spPr>
          <a:xfrm>
            <a:off x="6122026" y="4068980"/>
            <a:ext cx="1512438" cy="155377"/>
          </a:xfrm>
          <a:prstGeom prst="rect">
            <a:avLst/>
          </a:prstGeom>
          <a:noFill/>
          <a:ln/>
        </p:spPr>
        <p:txBody>
          <a:bodyPr wrap="none" lIns="0" tIns="0" rIns="0" bIns="0" rtlCol="0" anchor="t">
            <a:spAutoFit/>
          </a:bodyPr>
          <a:lstStyle/>
          <a:p>
            <a:pPr marL="0" indent="0" algn="l">
              <a:lnSpc>
                <a:spcPts val="1400"/>
              </a:lnSpc>
              <a:buNone/>
            </a:pPr>
            <a:r>
              <a:rPr lang="en-US" sz="834" dirty="0">
                <a:solidFill>
                  <a:srgbClr val="FFFFFF"/>
                </a:solidFill>
              </a:rPr>
              <a:t>Events influence each other</a:t>
            </a:r>
            <a:endParaRPr lang="en-US" sz="834"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0" y="357188"/>
            <a:ext cx="9144000" cy="466130"/>
          </a:xfrm>
          <a:prstGeom prst="rect">
            <a:avLst/>
          </a:prstGeom>
          <a:noFill/>
          <a:ln/>
        </p:spPr>
        <p:txBody>
          <a:bodyPr wrap="none" lIns="0" tIns="0" rIns="0" bIns="0" rtlCol="0" anchor="t">
            <a:spAutoFit/>
          </a:bodyPr>
          <a:lstStyle/>
          <a:p>
            <a:pPr marL="0" indent="0" algn="ctr">
              <a:lnSpc>
                <a:spcPts val="3200"/>
              </a:lnSpc>
              <a:buNone/>
            </a:pPr>
            <a:r>
              <a:rPr lang="en-US" sz="2436" b="1" dirty="0">
                <a:solidFill>
                  <a:srgbClr val="00D9FF"/>
                </a:solidFill>
              </a:rPr>
              <a:t>Conditional Probability: Examples</a:t>
            </a:r>
            <a:endParaRPr lang="en-US" sz="2436" dirty="0"/>
          </a:p>
        </p:txBody>
      </p:sp>
      <p:sp>
        <p:nvSpPr>
          <p:cNvPr id="5" name="Text 1"/>
          <p:cNvSpPr/>
          <p:nvPr/>
        </p:nvSpPr>
        <p:spPr>
          <a:xfrm>
            <a:off x="0" y="880467"/>
            <a:ext cx="9144000" cy="175022"/>
          </a:xfrm>
          <a:prstGeom prst="rect">
            <a:avLst/>
          </a:prstGeom>
          <a:noFill/>
          <a:ln/>
        </p:spPr>
        <p:txBody>
          <a:bodyPr wrap="none" lIns="0" tIns="0" rIns="0" bIns="0" rtlCol="0" anchor="t">
            <a:spAutoFit/>
          </a:bodyPr>
          <a:lstStyle/>
          <a:p>
            <a:pPr marL="0" indent="0" algn="ctr">
              <a:lnSpc>
                <a:spcPts val="1200"/>
              </a:lnSpc>
              <a:buNone/>
            </a:pPr>
            <a:r>
              <a:rPr lang="en-US" sz="942" dirty="0">
                <a:solidFill>
                  <a:srgbClr val="FFD93D"/>
                </a:solidFill>
              </a:rPr>
              <a:t>Worked Examples in Various Contexts</a:t>
            </a:r>
            <a:endParaRPr lang="en-US" sz="942" dirty="0"/>
          </a:p>
        </p:txBody>
      </p:sp>
      <p:sp>
        <p:nvSpPr>
          <p:cNvPr id="6" name="Shape 2"/>
          <p:cNvSpPr/>
          <p:nvPr/>
        </p:nvSpPr>
        <p:spPr>
          <a:xfrm>
            <a:off x="428625" y="1198364"/>
            <a:ext cx="4086225" cy="1743410"/>
          </a:xfrm>
          <a:prstGeom prst="rect">
            <a:avLst/>
          </a:prstGeom>
          <a:solidFill>
            <a:srgbClr val="FFFFFF">
              <a:alpha val="5000"/>
            </a:srgbClr>
          </a:solidFill>
          <a:ln/>
        </p:spPr>
        <p:txBody>
          <a:bodyPr/>
          <a:lstStyle/>
          <a:p>
            <a:endParaRPr lang="en-US"/>
          </a:p>
        </p:txBody>
      </p:sp>
      <p:sp>
        <p:nvSpPr>
          <p:cNvPr id="7" name="Text 3"/>
          <p:cNvSpPr/>
          <p:nvPr/>
        </p:nvSpPr>
        <p:spPr>
          <a:xfrm>
            <a:off x="607219" y="1255514"/>
            <a:ext cx="3729038" cy="350044"/>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FF6B9D"/>
                </a:solidFill>
              </a:rPr>
              <a:t>01</a:t>
            </a:r>
            <a:endParaRPr lang="en-US" sz="1808" dirty="0"/>
          </a:p>
        </p:txBody>
      </p:sp>
      <p:sp>
        <p:nvSpPr>
          <p:cNvPr id="8" name="Text 4"/>
          <p:cNvSpPr/>
          <p:nvPr/>
        </p:nvSpPr>
        <p:spPr>
          <a:xfrm>
            <a:off x="607219" y="1619845"/>
            <a:ext cx="3729038"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D9FF"/>
                </a:solidFill>
              </a:rPr>
              <a:t>Drawing Cards: Red Given Face Card</a:t>
            </a:r>
            <a:endParaRPr lang="en-US" sz="987" dirty="0"/>
          </a:p>
        </p:txBody>
      </p:sp>
      <p:sp>
        <p:nvSpPr>
          <p:cNvPr id="9" name="Text 5"/>
          <p:cNvSpPr/>
          <p:nvPr/>
        </p:nvSpPr>
        <p:spPr>
          <a:xfrm>
            <a:off x="607219" y="1843088"/>
            <a:ext cx="3729038" cy="300038"/>
          </a:xfrm>
          <a:prstGeom prst="rect">
            <a:avLst/>
          </a:prstGeom>
          <a:noFill/>
          <a:ln/>
        </p:spPr>
        <p:txBody>
          <a:bodyPr wrap="square" lIns="0" tIns="0" rIns="0" bIns="0" rtlCol="0" anchor="t">
            <a:spAutoFit/>
          </a:bodyPr>
          <a:lstStyle/>
          <a:p>
            <a:pPr marL="0" indent="0" algn="l">
              <a:lnSpc>
                <a:spcPts val="1200"/>
              </a:lnSpc>
              <a:buNone/>
            </a:pPr>
            <a:r>
              <a:rPr lang="en-US" sz="734" b="1" dirty="0">
                <a:solidFill>
                  <a:srgbClr val="FFD93D"/>
                </a:solidFill>
              </a:rPr>
              <a:t>Problem:</a:t>
            </a:r>
            <a:r>
              <a:rPr lang="en-US" sz="780" dirty="0">
                <a:solidFill>
                  <a:srgbClr val="FFFFFF"/>
                </a:solidFill>
              </a:rPr>
              <a:t> Draw one card from a standard deck. Find P(Red | Face Card). R: 26 red; F: 12 face cards.</a:t>
            </a:r>
            <a:endParaRPr lang="en-US" sz="734" dirty="0"/>
          </a:p>
        </p:txBody>
      </p:sp>
      <p:sp>
        <p:nvSpPr>
          <p:cNvPr id="10" name="Shape 6"/>
          <p:cNvSpPr/>
          <p:nvPr/>
        </p:nvSpPr>
        <p:spPr>
          <a:xfrm>
            <a:off x="607219" y="2171700"/>
            <a:ext cx="3729038" cy="177143"/>
          </a:xfrm>
          <a:prstGeom prst="rect">
            <a:avLst/>
          </a:prstGeom>
          <a:solidFill>
            <a:srgbClr val="FFD73D">
              <a:alpha val="10000"/>
            </a:srgbClr>
          </a:solidFill>
          <a:ln/>
        </p:spPr>
        <p:txBody>
          <a:bodyPr/>
          <a:lstStyle/>
          <a:p>
            <a:endParaRPr lang="en-US"/>
          </a:p>
        </p:txBody>
      </p:sp>
      <p:sp>
        <p:nvSpPr>
          <p:cNvPr id="11" name="Text 7"/>
          <p:cNvSpPr/>
          <p:nvPr/>
        </p:nvSpPr>
        <p:spPr>
          <a:xfrm>
            <a:off x="692944" y="2200275"/>
            <a:ext cx="3557588" cy="119993"/>
          </a:xfrm>
          <a:prstGeom prst="rect">
            <a:avLst/>
          </a:prstGeom>
          <a:noFill/>
          <a:ln/>
        </p:spPr>
        <p:txBody>
          <a:bodyPr wrap="none" lIns="0" tIns="0" rIns="0" bIns="0" rtlCol="0" anchor="t">
            <a:spAutoFit/>
          </a:bodyPr>
          <a:lstStyle/>
          <a:p>
            <a:pPr marL="0" indent="0" algn="l">
              <a:lnSpc>
                <a:spcPts val="900"/>
              </a:lnSpc>
              <a:buNone/>
            </a:pPr>
            <a:r>
              <a:rPr lang="en-US" sz="683" b="1" dirty="0">
                <a:solidFill>
                  <a:srgbClr val="FFFFFF"/>
                </a:solidFill>
              </a:rPr>
              <a:t>Given:</a:t>
            </a:r>
            <a:r>
              <a:rPr lang="en-US" sz="727" dirty="0">
                <a:solidFill>
                  <a:srgbClr val="FFFFFF"/>
                </a:solidFill>
              </a:rPr>
              <a:t> F — </a:t>
            </a:r>
            <a:r>
              <a:rPr lang="en-US" sz="683" b="1" dirty="0">
                <a:solidFill>
                  <a:srgbClr val="FFFFFF"/>
                </a:solidFill>
              </a:rPr>
              <a:t>Find:</a:t>
            </a:r>
            <a:r>
              <a:rPr lang="en-US" sz="727" dirty="0">
                <a:solidFill>
                  <a:srgbClr val="FFFFFF"/>
                </a:solidFill>
              </a:rPr>
              <a:t> R</a:t>
            </a:r>
            <a:endParaRPr lang="en-US" sz="683" dirty="0"/>
          </a:p>
        </p:txBody>
      </p:sp>
      <p:sp>
        <p:nvSpPr>
          <p:cNvPr id="12" name="Text 8"/>
          <p:cNvSpPr/>
          <p:nvPr/>
        </p:nvSpPr>
        <p:spPr>
          <a:xfrm>
            <a:off x="607219" y="2388133"/>
            <a:ext cx="2855770" cy="135731"/>
          </a:xfrm>
          <a:prstGeom prst="rect">
            <a:avLst/>
          </a:prstGeom>
          <a:noFill/>
          <a:ln/>
        </p:spPr>
        <p:txBody>
          <a:bodyPr wrap="none" lIns="0" tIns="0" rIns="0" bIns="0" rtlCol="0" anchor="t">
            <a:spAutoFit/>
          </a:bodyPr>
          <a:lstStyle/>
          <a:p>
            <a:pPr marL="0" indent="0" algn="l">
              <a:lnSpc>
                <a:spcPts val="1100"/>
              </a:lnSpc>
              <a:buNone/>
            </a:pPr>
            <a:r>
              <a:rPr lang="en-US" sz="683" b="1" dirty="0">
                <a:solidFill>
                  <a:srgbClr val="00D9FF"/>
                </a:solidFill>
              </a:rPr>
              <a:t>R∩F = 6 (red face cards); P(R|F) = (6/52)/(12/52) = 6/12 = 1/2</a:t>
            </a:r>
            <a:endParaRPr lang="en-US" sz="683" dirty="0"/>
          </a:p>
        </p:txBody>
      </p:sp>
      <p:sp>
        <p:nvSpPr>
          <p:cNvPr id="13" name="Text 9"/>
          <p:cNvSpPr/>
          <p:nvPr/>
        </p:nvSpPr>
        <p:spPr>
          <a:xfrm>
            <a:off x="607219" y="2570299"/>
            <a:ext cx="3729038" cy="155377"/>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FF6B9D"/>
                </a:solidFill>
              </a:rPr>
              <a:t>Answer: P(Red | Face Card) = 1/2 = 0.5</a:t>
            </a:r>
            <a:endParaRPr lang="en-US" sz="784" dirty="0"/>
          </a:p>
        </p:txBody>
      </p:sp>
      <p:sp>
        <p:nvSpPr>
          <p:cNvPr id="14" name="Shape 10"/>
          <p:cNvSpPr/>
          <p:nvPr/>
        </p:nvSpPr>
        <p:spPr>
          <a:xfrm>
            <a:off x="4629150" y="1198364"/>
            <a:ext cx="4086225" cy="1743410"/>
          </a:xfrm>
          <a:prstGeom prst="rect">
            <a:avLst/>
          </a:prstGeom>
          <a:solidFill>
            <a:srgbClr val="FFFFFF">
              <a:alpha val="5000"/>
            </a:srgbClr>
          </a:solidFill>
          <a:ln/>
        </p:spPr>
        <p:txBody>
          <a:bodyPr/>
          <a:lstStyle/>
          <a:p>
            <a:endParaRPr lang="en-US"/>
          </a:p>
        </p:txBody>
      </p:sp>
      <p:sp>
        <p:nvSpPr>
          <p:cNvPr id="15" name="Text 11"/>
          <p:cNvSpPr/>
          <p:nvPr/>
        </p:nvSpPr>
        <p:spPr>
          <a:xfrm>
            <a:off x="4807744" y="1255514"/>
            <a:ext cx="3729038" cy="350044"/>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FF6B9D"/>
                </a:solidFill>
              </a:rPr>
              <a:t>02</a:t>
            </a:r>
            <a:endParaRPr lang="en-US" sz="1808" dirty="0"/>
          </a:p>
        </p:txBody>
      </p:sp>
      <p:sp>
        <p:nvSpPr>
          <p:cNvPr id="16" name="Text 12"/>
          <p:cNvSpPr/>
          <p:nvPr/>
        </p:nvSpPr>
        <p:spPr>
          <a:xfrm>
            <a:off x="4807744" y="1619845"/>
            <a:ext cx="3729038"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D9FF"/>
                </a:solidFill>
              </a:rPr>
              <a:t>Medical Testing: Disease Given Positive Test</a:t>
            </a:r>
            <a:endParaRPr lang="en-US" sz="987" dirty="0"/>
          </a:p>
        </p:txBody>
      </p:sp>
      <p:sp>
        <p:nvSpPr>
          <p:cNvPr id="17" name="Text 13"/>
          <p:cNvSpPr/>
          <p:nvPr/>
        </p:nvSpPr>
        <p:spPr>
          <a:xfrm>
            <a:off x="4807744" y="1843088"/>
            <a:ext cx="3729038" cy="300038"/>
          </a:xfrm>
          <a:prstGeom prst="rect">
            <a:avLst/>
          </a:prstGeom>
          <a:noFill/>
          <a:ln/>
        </p:spPr>
        <p:txBody>
          <a:bodyPr wrap="square" lIns="0" tIns="0" rIns="0" bIns="0" rtlCol="0" anchor="t">
            <a:spAutoFit/>
          </a:bodyPr>
          <a:lstStyle/>
          <a:p>
            <a:pPr marL="0" indent="0" algn="l">
              <a:lnSpc>
                <a:spcPts val="1200"/>
              </a:lnSpc>
              <a:buNone/>
            </a:pPr>
            <a:r>
              <a:rPr lang="en-US" sz="734" b="1" dirty="0">
                <a:solidFill>
                  <a:srgbClr val="FFD93D"/>
                </a:solidFill>
              </a:rPr>
              <a:t>Problem:</a:t>
            </a:r>
            <a:r>
              <a:rPr lang="en-US" sz="780" dirty="0">
                <a:solidFill>
                  <a:srgbClr val="FFFFFF"/>
                </a:solidFill>
              </a:rPr>
              <a:t> Disease prevalence 1%; test TPR 95%, FPR 10%. Find P(Disease | Positive).</a:t>
            </a:r>
            <a:endParaRPr lang="en-US" sz="734" dirty="0"/>
          </a:p>
        </p:txBody>
      </p:sp>
      <p:sp>
        <p:nvSpPr>
          <p:cNvPr id="18" name="Shape 14"/>
          <p:cNvSpPr/>
          <p:nvPr/>
        </p:nvSpPr>
        <p:spPr>
          <a:xfrm>
            <a:off x="4807744" y="2171700"/>
            <a:ext cx="3729038" cy="177143"/>
          </a:xfrm>
          <a:prstGeom prst="rect">
            <a:avLst/>
          </a:prstGeom>
          <a:solidFill>
            <a:srgbClr val="FFD73D">
              <a:alpha val="10000"/>
            </a:srgbClr>
          </a:solidFill>
          <a:ln/>
        </p:spPr>
        <p:txBody>
          <a:bodyPr/>
          <a:lstStyle/>
          <a:p>
            <a:endParaRPr lang="en-US"/>
          </a:p>
        </p:txBody>
      </p:sp>
      <p:sp>
        <p:nvSpPr>
          <p:cNvPr id="19" name="Text 15"/>
          <p:cNvSpPr/>
          <p:nvPr/>
        </p:nvSpPr>
        <p:spPr>
          <a:xfrm>
            <a:off x="4893469" y="2200275"/>
            <a:ext cx="3557588" cy="119993"/>
          </a:xfrm>
          <a:prstGeom prst="rect">
            <a:avLst/>
          </a:prstGeom>
          <a:noFill/>
          <a:ln/>
        </p:spPr>
        <p:txBody>
          <a:bodyPr wrap="none" lIns="0" tIns="0" rIns="0" bIns="0" rtlCol="0" anchor="t">
            <a:spAutoFit/>
          </a:bodyPr>
          <a:lstStyle/>
          <a:p>
            <a:pPr marL="0" indent="0" algn="l">
              <a:lnSpc>
                <a:spcPts val="900"/>
              </a:lnSpc>
              <a:buNone/>
            </a:pPr>
            <a:r>
              <a:rPr lang="en-US" sz="683" b="1" dirty="0">
                <a:solidFill>
                  <a:srgbClr val="FFFFFF"/>
                </a:solidFill>
              </a:rPr>
              <a:t>Given:</a:t>
            </a:r>
            <a:r>
              <a:rPr lang="en-US" sz="727" dirty="0">
                <a:solidFill>
                  <a:srgbClr val="FFFFFF"/>
                </a:solidFill>
              </a:rPr>
              <a:t> + — </a:t>
            </a:r>
            <a:r>
              <a:rPr lang="en-US" sz="683" b="1" dirty="0">
                <a:solidFill>
                  <a:srgbClr val="FFFFFF"/>
                </a:solidFill>
              </a:rPr>
              <a:t>Find:</a:t>
            </a:r>
            <a:r>
              <a:rPr lang="en-US" sz="727" dirty="0">
                <a:solidFill>
                  <a:srgbClr val="FFFFFF"/>
                </a:solidFill>
              </a:rPr>
              <a:t> D</a:t>
            </a:r>
            <a:endParaRPr lang="en-US" sz="683" dirty="0"/>
          </a:p>
        </p:txBody>
      </p:sp>
      <p:sp>
        <p:nvSpPr>
          <p:cNvPr id="20" name="Text 16"/>
          <p:cNvSpPr/>
          <p:nvPr/>
        </p:nvSpPr>
        <p:spPr>
          <a:xfrm>
            <a:off x="4807744" y="2388133"/>
            <a:ext cx="3587865" cy="285750"/>
          </a:xfrm>
          <a:prstGeom prst="rect">
            <a:avLst/>
          </a:prstGeom>
          <a:noFill/>
          <a:ln/>
        </p:spPr>
        <p:txBody>
          <a:bodyPr wrap="square" lIns="0" tIns="0" rIns="0" bIns="0" rtlCol="0" anchor="t">
            <a:spAutoFit/>
          </a:bodyPr>
          <a:lstStyle/>
          <a:p>
            <a:pPr marL="0" indent="0" algn="l">
              <a:lnSpc>
                <a:spcPts val="1100"/>
              </a:lnSpc>
              <a:buNone/>
            </a:pPr>
            <a:r>
              <a:rPr lang="en-US" sz="683" b="1" dirty="0">
                <a:solidFill>
                  <a:srgbClr val="00D9FF"/>
                </a:solidFill>
              </a:rPr>
              <a:t>P(D∩+) = 0.01×0.95 = 0.0095; P(+) = 0.01×0.95 + 0.99×0.10 = 0.1085; P(D|+) = 0.0095/0.1085 ≈ 0.0876</a:t>
            </a:r>
            <a:endParaRPr lang="en-US" sz="683" dirty="0"/>
          </a:p>
        </p:txBody>
      </p:sp>
      <p:sp>
        <p:nvSpPr>
          <p:cNvPr id="21" name="Text 17"/>
          <p:cNvSpPr/>
          <p:nvPr/>
        </p:nvSpPr>
        <p:spPr>
          <a:xfrm>
            <a:off x="4807744" y="2720318"/>
            <a:ext cx="3729038" cy="164306"/>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FF6B9D"/>
                </a:solidFill>
              </a:rPr>
              <a:t>Answer: P(Disease | Positive) ≈ 8.76%</a:t>
            </a:r>
            <a:endParaRPr lang="en-US" sz="784" dirty="0"/>
          </a:p>
        </p:txBody>
      </p:sp>
      <p:sp>
        <p:nvSpPr>
          <p:cNvPr id="22" name="Shape 18"/>
          <p:cNvSpPr/>
          <p:nvPr/>
        </p:nvSpPr>
        <p:spPr>
          <a:xfrm>
            <a:off x="428625" y="3056074"/>
            <a:ext cx="4086225" cy="1734480"/>
          </a:xfrm>
          <a:prstGeom prst="rect">
            <a:avLst/>
          </a:prstGeom>
          <a:solidFill>
            <a:srgbClr val="FFFFFF">
              <a:alpha val="5000"/>
            </a:srgbClr>
          </a:solidFill>
          <a:ln/>
        </p:spPr>
        <p:txBody>
          <a:bodyPr/>
          <a:lstStyle/>
          <a:p>
            <a:endParaRPr lang="en-US"/>
          </a:p>
        </p:txBody>
      </p:sp>
      <p:sp>
        <p:nvSpPr>
          <p:cNvPr id="23" name="Text 19"/>
          <p:cNvSpPr/>
          <p:nvPr/>
        </p:nvSpPr>
        <p:spPr>
          <a:xfrm>
            <a:off x="607219" y="3113224"/>
            <a:ext cx="3729038" cy="350044"/>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FF6B9D"/>
                </a:solidFill>
              </a:rPr>
              <a:t>03</a:t>
            </a:r>
            <a:endParaRPr lang="en-US" sz="1808" dirty="0"/>
          </a:p>
        </p:txBody>
      </p:sp>
      <p:sp>
        <p:nvSpPr>
          <p:cNvPr id="24" name="Text 20"/>
          <p:cNvSpPr/>
          <p:nvPr/>
        </p:nvSpPr>
        <p:spPr>
          <a:xfrm>
            <a:off x="607219" y="3477555"/>
            <a:ext cx="3729038"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D9FF"/>
                </a:solidFill>
              </a:rPr>
              <a:t>Rolling Dice: Sum Given First Die</a:t>
            </a:r>
            <a:endParaRPr lang="en-US" sz="987" dirty="0"/>
          </a:p>
        </p:txBody>
      </p:sp>
      <p:sp>
        <p:nvSpPr>
          <p:cNvPr id="25" name="Text 21"/>
          <p:cNvSpPr/>
          <p:nvPr/>
        </p:nvSpPr>
        <p:spPr>
          <a:xfrm>
            <a:off x="607219" y="3700797"/>
            <a:ext cx="3729038" cy="150019"/>
          </a:xfrm>
          <a:prstGeom prst="rect">
            <a:avLst/>
          </a:prstGeom>
          <a:noFill/>
          <a:ln/>
        </p:spPr>
        <p:txBody>
          <a:bodyPr wrap="none" lIns="0" tIns="0" rIns="0" bIns="0" rtlCol="0" anchor="t">
            <a:spAutoFit/>
          </a:bodyPr>
          <a:lstStyle/>
          <a:p>
            <a:pPr marL="0" indent="0" algn="l">
              <a:lnSpc>
                <a:spcPts val="1200"/>
              </a:lnSpc>
              <a:buNone/>
            </a:pPr>
            <a:r>
              <a:rPr lang="en-US" sz="734" b="1" dirty="0">
                <a:solidFill>
                  <a:srgbClr val="FFD93D"/>
                </a:solidFill>
              </a:rPr>
              <a:t>Problem:</a:t>
            </a:r>
            <a:r>
              <a:rPr lang="en-US" sz="780" dirty="0">
                <a:solidFill>
                  <a:srgbClr val="FFFFFF"/>
                </a:solidFill>
              </a:rPr>
              <a:t> Roll two dice. Find P(Sum = 8 | first die = 3).</a:t>
            </a:r>
            <a:endParaRPr lang="en-US" sz="734" dirty="0"/>
          </a:p>
        </p:txBody>
      </p:sp>
      <p:sp>
        <p:nvSpPr>
          <p:cNvPr id="26" name="Shape 22"/>
          <p:cNvSpPr/>
          <p:nvPr/>
        </p:nvSpPr>
        <p:spPr>
          <a:xfrm>
            <a:off x="607219" y="3879391"/>
            <a:ext cx="3729038" cy="177143"/>
          </a:xfrm>
          <a:prstGeom prst="rect">
            <a:avLst/>
          </a:prstGeom>
          <a:solidFill>
            <a:srgbClr val="FFD73D">
              <a:alpha val="10000"/>
            </a:srgbClr>
          </a:solidFill>
          <a:ln/>
        </p:spPr>
        <p:txBody>
          <a:bodyPr/>
          <a:lstStyle/>
          <a:p>
            <a:endParaRPr lang="en-US"/>
          </a:p>
        </p:txBody>
      </p:sp>
      <p:sp>
        <p:nvSpPr>
          <p:cNvPr id="27" name="Text 23"/>
          <p:cNvSpPr/>
          <p:nvPr/>
        </p:nvSpPr>
        <p:spPr>
          <a:xfrm>
            <a:off x="692944" y="3907966"/>
            <a:ext cx="3557588" cy="119993"/>
          </a:xfrm>
          <a:prstGeom prst="rect">
            <a:avLst/>
          </a:prstGeom>
          <a:noFill/>
          <a:ln/>
        </p:spPr>
        <p:txBody>
          <a:bodyPr wrap="none" lIns="0" tIns="0" rIns="0" bIns="0" rtlCol="0" anchor="t">
            <a:spAutoFit/>
          </a:bodyPr>
          <a:lstStyle/>
          <a:p>
            <a:pPr marL="0" indent="0" algn="l">
              <a:lnSpc>
                <a:spcPts val="900"/>
              </a:lnSpc>
              <a:buNone/>
            </a:pPr>
            <a:r>
              <a:rPr lang="en-US" sz="683" b="1" dirty="0">
                <a:solidFill>
                  <a:srgbClr val="FFFFFF"/>
                </a:solidFill>
              </a:rPr>
              <a:t>Given:</a:t>
            </a:r>
            <a:r>
              <a:rPr lang="en-US" sz="727" dirty="0">
                <a:solidFill>
                  <a:srgbClr val="FFFFFF"/>
                </a:solidFill>
              </a:rPr>
              <a:t> first = 3 — </a:t>
            </a:r>
            <a:r>
              <a:rPr lang="en-US" sz="683" b="1" dirty="0">
                <a:solidFill>
                  <a:srgbClr val="FFFFFF"/>
                </a:solidFill>
              </a:rPr>
              <a:t>Find:</a:t>
            </a:r>
            <a:r>
              <a:rPr lang="en-US" sz="727" dirty="0">
                <a:solidFill>
                  <a:srgbClr val="FFFFFF"/>
                </a:solidFill>
              </a:rPr>
              <a:t> sum = 8</a:t>
            </a:r>
            <a:endParaRPr lang="en-US" sz="683" dirty="0"/>
          </a:p>
        </p:txBody>
      </p:sp>
      <p:sp>
        <p:nvSpPr>
          <p:cNvPr id="28" name="Text 24"/>
          <p:cNvSpPr/>
          <p:nvPr/>
        </p:nvSpPr>
        <p:spPr>
          <a:xfrm>
            <a:off x="607219" y="4095824"/>
            <a:ext cx="3711569" cy="285750"/>
          </a:xfrm>
          <a:prstGeom prst="rect">
            <a:avLst/>
          </a:prstGeom>
          <a:noFill/>
          <a:ln/>
        </p:spPr>
        <p:txBody>
          <a:bodyPr wrap="square" lIns="0" tIns="0" rIns="0" bIns="0" rtlCol="0" anchor="t">
            <a:spAutoFit/>
          </a:bodyPr>
          <a:lstStyle/>
          <a:p>
            <a:pPr marL="0" indent="0" algn="l">
              <a:lnSpc>
                <a:spcPts val="1100"/>
              </a:lnSpc>
              <a:buNone/>
            </a:pPr>
            <a:r>
              <a:rPr lang="en-US" sz="683" b="1" dirty="0">
                <a:solidFill>
                  <a:srgbClr val="00D9FF"/>
                </a:solidFill>
              </a:rPr>
              <a:t>Need second die = 5; A∩B = {(3,5)} → P = 1/36; P(B) = 1/6; P(A|B) = (1/36)/(1/6) = 1/6</a:t>
            </a:r>
            <a:endParaRPr lang="en-US" sz="683" dirty="0"/>
          </a:p>
        </p:txBody>
      </p:sp>
      <p:sp>
        <p:nvSpPr>
          <p:cNvPr id="29" name="Text 25"/>
          <p:cNvSpPr/>
          <p:nvPr/>
        </p:nvSpPr>
        <p:spPr>
          <a:xfrm>
            <a:off x="607219" y="4428009"/>
            <a:ext cx="3729038" cy="164306"/>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FF6B9D"/>
                </a:solidFill>
              </a:rPr>
              <a:t>Answer: P(Sum = 8 | First = 3) = 1/6 ≈ 0.167</a:t>
            </a:r>
            <a:endParaRPr lang="en-US" sz="784" dirty="0"/>
          </a:p>
        </p:txBody>
      </p:sp>
      <p:sp>
        <p:nvSpPr>
          <p:cNvPr id="30" name="Shape 26"/>
          <p:cNvSpPr/>
          <p:nvPr/>
        </p:nvSpPr>
        <p:spPr>
          <a:xfrm>
            <a:off x="4629150" y="3056074"/>
            <a:ext cx="4086225" cy="1734480"/>
          </a:xfrm>
          <a:prstGeom prst="rect">
            <a:avLst/>
          </a:prstGeom>
          <a:solidFill>
            <a:srgbClr val="FFFFFF">
              <a:alpha val="5000"/>
            </a:srgbClr>
          </a:solidFill>
          <a:ln/>
        </p:spPr>
        <p:txBody>
          <a:bodyPr/>
          <a:lstStyle/>
          <a:p>
            <a:endParaRPr lang="en-US"/>
          </a:p>
        </p:txBody>
      </p:sp>
      <p:sp>
        <p:nvSpPr>
          <p:cNvPr id="31" name="Text 27"/>
          <p:cNvSpPr/>
          <p:nvPr/>
        </p:nvSpPr>
        <p:spPr>
          <a:xfrm>
            <a:off x="4807744" y="3113224"/>
            <a:ext cx="3729038" cy="350044"/>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FF6B9D"/>
                </a:solidFill>
              </a:rPr>
              <a:t>04</a:t>
            </a:r>
            <a:endParaRPr lang="en-US" sz="1808" dirty="0"/>
          </a:p>
        </p:txBody>
      </p:sp>
      <p:sp>
        <p:nvSpPr>
          <p:cNvPr id="32" name="Text 28"/>
          <p:cNvSpPr/>
          <p:nvPr/>
        </p:nvSpPr>
        <p:spPr>
          <a:xfrm>
            <a:off x="4807744" y="3477555"/>
            <a:ext cx="3729038"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D9FF"/>
                </a:solidFill>
              </a:rPr>
              <a:t>Quality Control: Defective Given Factory</a:t>
            </a:r>
            <a:endParaRPr lang="en-US" sz="987" dirty="0"/>
          </a:p>
        </p:txBody>
      </p:sp>
      <p:sp>
        <p:nvSpPr>
          <p:cNvPr id="33" name="Text 29"/>
          <p:cNvSpPr/>
          <p:nvPr/>
        </p:nvSpPr>
        <p:spPr>
          <a:xfrm>
            <a:off x="4807744" y="3700797"/>
            <a:ext cx="3729038" cy="300038"/>
          </a:xfrm>
          <a:prstGeom prst="rect">
            <a:avLst/>
          </a:prstGeom>
          <a:noFill/>
          <a:ln/>
        </p:spPr>
        <p:txBody>
          <a:bodyPr wrap="square" lIns="0" tIns="0" rIns="0" bIns="0" rtlCol="0" anchor="t">
            <a:spAutoFit/>
          </a:bodyPr>
          <a:lstStyle/>
          <a:p>
            <a:pPr marL="0" indent="0" algn="l">
              <a:lnSpc>
                <a:spcPts val="1200"/>
              </a:lnSpc>
              <a:buNone/>
            </a:pPr>
            <a:r>
              <a:rPr lang="en-US" sz="734" b="1" dirty="0">
                <a:solidFill>
                  <a:srgbClr val="FFD93D"/>
                </a:solidFill>
              </a:rPr>
              <a:t>Problem:</a:t>
            </a:r>
            <a:r>
              <a:rPr lang="en-US" sz="780" dirty="0">
                <a:solidFill>
                  <a:srgbClr val="FFFFFF"/>
                </a:solidFill>
              </a:rPr>
              <a:t> A: 60% (2% defective), B: 40% (5% defective). Find P(A | Defective).</a:t>
            </a:r>
            <a:endParaRPr lang="en-US" sz="734" dirty="0"/>
          </a:p>
        </p:txBody>
      </p:sp>
      <p:sp>
        <p:nvSpPr>
          <p:cNvPr id="34" name="Shape 30"/>
          <p:cNvSpPr/>
          <p:nvPr/>
        </p:nvSpPr>
        <p:spPr>
          <a:xfrm>
            <a:off x="4807744" y="4029410"/>
            <a:ext cx="3729038" cy="177143"/>
          </a:xfrm>
          <a:prstGeom prst="rect">
            <a:avLst/>
          </a:prstGeom>
          <a:solidFill>
            <a:srgbClr val="FFD73D">
              <a:alpha val="10000"/>
            </a:srgbClr>
          </a:solidFill>
          <a:ln/>
        </p:spPr>
        <p:txBody>
          <a:bodyPr/>
          <a:lstStyle/>
          <a:p>
            <a:endParaRPr lang="en-US"/>
          </a:p>
        </p:txBody>
      </p:sp>
      <p:sp>
        <p:nvSpPr>
          <p:cNvPr id="35" name="Text 31"/>
          <p:cNvSpPr/>
          <p:nvPr/>
        </p:nvSpPr>
        <p:spPr>
          <a:xfrm>
            <a:off x="4893469" y="4057985"/>
            <a:ext cx="3557588" cy="119993"/>
          </a:xfrm>
          <a:prstGeom prst="rect">
            <a:avLst/>
          </a:prstGeom>
          <a:noFill/>
          <a:ln/>
        </p:spPr>
        <p:txBody>
          <a:bodyPr wrap="none" lIns="0" tIns="0" rIns="0" bIns="0" rtlCol="0" anchor="t">
            <a:spAutoFit/>
          </a:bodyPr>
          <a:lstStyle/>
          <a:p>
            <a:pPr marL="0" indent="0" algn="l">
              <a:lnSpc>
                <a:spcPts val="900"/>
              </a:lnSpc>
              <a:buNone/>
            </a:pPr>
            <a:r>
              <a:rPr lang="en-US" sz="683" b="1" dirty="0">
                <a:solidFill>
                  <a:srgbClr val="FFFFFF"/>
                </a:solidFill>
              </a:rPr>
              <a:t>Given:</a:t>
            </a:r>
            <a:r>
              <a:rPr lang="en-US" sz="727" dirty="0">
                <a:solidFill>
                  <a:srgbClr val="FFFFFF"/>
                </a:solidFill>
              </a:rPr>
              <a:t> defective (D) — </a:t>
            </a:r>
            <a:r>
              <a:rPr lang="en-US" sz="683" b="1" dirty="0">
                <a:solidFill>
                  <a:srgbClr val="FFFFFF"/>
                </a:solidFill>
              </a:rPr>
              <a:t>Find:</a:t>
            </a:r>
            <a:r>
              <a:rPr lang="en-US" sz="727" dirty="0">
                <a:solidFill>
                  <a:srgbClr val="FFFFFF"/>
                </a:solidFill>
              </a:rPr>
              <a:t> from Factory A</a:t>
            </a:r>
            <a:endParaRPr lang="en-US" sz="683" dirty="0"/>
          </a:p>
        </p:txBody>
      </p:sp>
      <p:sp>
        <p:nvSpPr>
          <p:cNvPr id="36" name="Text 32"/>
          <p:cNvSpPr/>
          <p:nvPr/>
        </p:nvSpPr>
        <p:spPr>
          <a:xfrm>
            <a:off x="4807744" y="4245843"/>
            <a:ext cx="3509646" cy="285750"/>
          </a:xfrm>
          <a:prstGeom prst="rect">
            <a:avLst/>
          </a:prstGeom>
          <a:noFill/>
          <a:ln/>
        </p:spPr>
        <p:txBody>
          <a:bodyPr wrap="square" lIns="0" tIns="0" rIns="0" bIns="0" rtlCol="0" anchor="t">
            <a:spAutoFit/>
          </a:bodyPr>
          <a:lstStyle/>
          <a:p>
            <a:pPr marL="0" indent="0" algn="l">
              <a:lnSpc>
                <a:spcPts val="1100"/>
              </a:lnSpc>
              <a:buNone/>
            </a:pPr>
            <a:r>
              <a:rPr lang="en-US" sz="683" b="1" dirty="0">
                <a:solidFill>
                  <a:srgbClr val="00D9FF"/>
                </a:solidFill>
              </a:rPr>
              <a:t>P(A∩D) = 0.60×0.02 = 0.012; P(D) = 0.60×0.02 + 0.40×0.05 = 0.032; P(A|D) = 0.012/0.032 = 0.375</a:t>
            </a:r>
            <a:endParaRPr lang="en-US" sz="683" dirty="0"/>
          </a:p>
        </p:txBody>
      </p:sp>
      <p:sp>
        <p:nvSpPr>
          <p:cNvPr id="37" name="Text 33"/>
          <p:cNvSpPr/>
          <p:nvPr/>
        </p:nvSpPr>
        <p:spPr>
          <a:xfrm>
            <a:off x="4807744" y="4578028"/>
            <a:ext cx="3729038" cy="155377"/>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FF6B9D"/>
                </a:solidFill>
              </a:rPr>
              <a:t>Answer: P(Factory A | Defective) = 0.375 or 37.5%</a:t>
            </a:r>
            <a:endParaRPr lang="en-US" sz="784"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13960" y="-6980"/>
            <a:ext cx="9216000" cy="5184000"/>
          </a:xfrm>
          <a:prstGeom prst="rect">
            <a:avLst/>
          </a:prstGeom>
        </p:spPr>
      </p:pic>
      <p:sp>
        <p:nvSpPr>
          <p:cNvPr id="4" name="Text 0"/>
          <p:cNvSpPr/>
          <p:nvPr/>
        </p:nvSpPr>
        <p:spPr>
          <a:xfrm>
            <a:off x="0" y="357188"/>
            <a:ext cx="9144000" cy="466130"/>
          </a:xfrm>
          <a:prstGeom prst="rect">
            <a:avLst/>
          </a:prstGeom>
          <a:noFill/>
          <a:ln/>
        </p:spPr>
        <p:txBody>
          <a:bodyPr wrap="none" lIns="0" tIns="0" rIns="0" bIns="0" rtlCol="0" anchor="t">
            <a:spAutoFit/>
          </a:bodyPr>
          <a:lstStyle/>
          <a:p>
            <a:pPr marL="0" indent="0" algn="ctr">
              <a:lnSpc>
                <a:spcPts val="3200"/>
              </a:lnSpc>
              <a:buNone/>
            </a:pPr>
            <a:r>
              <a:rPr lang="en-US" sz="2436" b="1" dirty="0">
                <a:solidFill>
                  <a:srgbClr val="00D9FF"/>
                </a:solidFill>
              </a:rPr>
              <a:t>Probability Tree Diagrams</a:t>
            </a:r>
            <a:endParaRPr lang="en-US" sz="2436" dirty="0"/>
          </a:p>
        </p:txBody>
      </p:sp>
      <p:sp>
        <p:nvSpPr>
          <p:cNvPr id="5" name="Shape 1"/>
          <p:cNvSpPr/>
          <p:nvPr/>
        </p:nvSpPr>
        <p:spPr>
          <a:xfrm>
            <a:off x="500063" y="1037630"/>
            <a:ext cx="3893344" cy="814388"/>
          </a:xfrm>
          <a:prstGeom prst="rect">
            <a:avLst/>
          </a:prstGeom>
          <a:solidFill>
            <a:srgbClr val="00D9FF">
              <a:alpha val="10000"/>
            </a:srgbClr>
          </a:solidFill>
          <a:ln/>
        </p:spPr>
        <p:txBody>
          <a:bodyPr/>
          <a:lstStyle/>
          <a:p>
            <a:endParaRPr lang="en-US"/>
          </a:p>
        </p:txBody>
      </p:sp>
      <p:sp>
        <p:nvSpPr>
          <p:cNvPr id="6" name="Text 2"/>
          <p:cNvSpPr/>
          <p:nvPr/>
        </p:nvSpPr>
        <p:spPr>
          <a:xfrm>
            <a:off x="657225" y="1123355"/>
            <a:ext cx="3579019" cy="728663"/>
          </a:xfrm>
          <a:prstGeom prst="rect">
            <a:avLst/>
          </a:prstGeom>
          <a:noFill/>
          <a:ln/>
        </p:spPr>
        <p:txBody>
          <a:bodyPr wrap="square" lIns="0" tIns="0" rIns="0" bIns="0" rtlCol="0" anchor="t">
            <a:spAutoFit/>
          </a:bodyPr>
          <a:lstStyle/>
          <a:p>
            <a:pPr marL="0" indent="0" algn="l">
              <a:lnSpc>
                <a:spcPts val="1400"/>
              </a:lnSpc>
              <a:buNone/>
            </a:pPr>
            <a:r>
              <a:rPr lang="en-US" sz="888" dirty="0">
                <a:solidFill>
                  <a:srgbClr val="FFFFFF"/>
                </a:solidFill>
              </a:rPr>
              <a:t>A </a:t>
            </a:r>
            <a:r>
              <a:rPr lang="en-US" sz="834" b="1" dirty="0">
                <a:solidFill>
                  <a:srgbClr val="FFFFFF"/>
                </a:solidFill>
              </a:rPr>
              <a:t>probability tree diagram</a:t>
            </a:r>
            <a:r>
              <a:rPr lang="en-US" sz="888" dirty="0">
                <a:solidFill>
                  <a:srgbClr val="FFFFFF"/>
                </a:solidFill>
              </a:rPr>
              <a:t> (or </a:t>
            </a:r>
            <a:r>
              <a:rPr lang="en-US" sz="834" b="1" dirty="0">
                <a:solidFill>
                  <a:srgbClr val="FFFFFF"/>
                </a:solidFill>
              </a:rPr>
              <a:t>tree diagram</a:t>
            </a:r>
            <a:r>
              <a:rPr lang="en-US" sz="888" dirty="0">
                <a:solidFill>
                  <a:srgbClr val="FFFFFF"/>
                </a:solidFill>
              </a:rPr>
              <a:t>) is a visual tool that displays all possible outcomes of a sequence of events and their associated probabilities. It uses a branching structure to represent multi-stage experiments.</a:t>
            </a:r>
            <a:endParaRPr lang="en-US" sz="888" dirty="0"/>
          </a:p>
        </p:txBody>
      </p:sp>
      <p:sp>
        <p:nvSpPr>
          <p:cNvPr id="7" name="Text 3"/>
          <p:cNvSpPr/>
          <p:nvPr/>
        </p:nvSpPr>
        <p:spPr>
          <a:xfrm>
            <a:off x="500063" y="1952030"/>
            <a:ext cx="3893344"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FFD93D"/>
                </a:solidFill>
              </a:rPr>
              <a:t>Components of a Tree Diagram</a:t>
            </a:r>
            <a:endParaRPr lang="en-US" sz="1193" dirty="0"/>
          </a:p>
        </p:txBody>
      </p:sp>
      <p:sp>
        <p:nvSpPr>
          <p:cNvPr id="8" name="Shape 4"/>
          <p:cNvSpPr/>
          <p:nvPr/>
        </p:nvSpPr>
        <p:spPr>
          <a:xfrm>
            <a:off x="500063" y="2257425"/>
            <a:ext cx="3893344" cy="1042988"/>
          </a:xfrm>
          <a:prstGeom prst="rect">
            <a:avLst/>
          </a:prstGeom>
          <a:solidFill>
            <a:srgbClr val="FFFFFF">
              <a:alpha val="5000"/>
            </a:srgbClr>
          </a:solidFill>
          <a:ln/>
        </p:spPr>
        <p:txBody>
          <a:bodyPr/>
          <a:lstStyle/>
          <a:p>
            <a:endParaRPr lang="en-US"/>
          </a:p>
        </p:txBody>
      </p:sp>
      <p:sp>
        <p:nvSpPr>
          <p:cNvPr id="9" name="Text 5"/>
          <p:cNvSpPr/>
          <p:nvPr/>
        </p:nvSpPr>
        <p:spPr>
          <a:xfrm>
            <a:off x="642938" y="2328863"/>
            <a:ext cx="3607594" cy="171450"/>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FF6B9D"/>
                </a:solidFill>
              </a:rPr>
              <a:t>• Branches:</a:t>
            </a:r>
            <a:r>
              <a:rPr lang="en-US" sz="834" dirty="0">
                <a:solidFill>
                  <a:srgbClr val="FFFFFF"/>
                </a:solidFill>
              </a:rPr>
              <a:t> Lines representing possible outcomes at each stage</a:t>
            </a:r>
            <a:endParaRPr lang="en-US" sz="784" dirty="0"/>
          </a:p>
        </p:txBody>
      </p:sp>
      <p:sp>
        <p:nvSpPr>
          <p:cNvPr id="10" name="Text 6"/>
          <p:cNvSpPr/>
          <p:nvPr/>
        </p:nvSpPr>
        <p:spPr>
          <a:xfrm>
            <a:off x="642938" y="2557463"/>
            <a:ext cx="3607594" cy="342900"/>
          </a:xfrm>
          <a:prstGeom prst="rect">
            <a:avLst/>
          </a:prstGeom>
          <a:noFill/>
          <a:ln/>
        </p:spPr>
        <p:txBody>
          <a:bodyPr wrap="square" lIns="0" tIns="0" rIns="0" bIns="0" rtlCol="0" anchor="t">
            <a:spAutoFit/>
          </a:bodyPr>
          <a:lstStyle/>
          <a:p>
            <a:pPr marL="0" indent="0" algn="l">
              <a:lnSpc>
                <a:spcPts val="1400"/>
              </a:lnSpc>
              <a:buNone/>
            </a:pPr>
            <a:r>
              <a:rPr lang="en-US" sz="784" b="1" dirty="0">
                <a:solidFill>
                  <a:srgbClr val="FF6B9D"/>
                </a:solidFill>
              </a:rPr>
              <a:t>• Nodes:</a:t>
            </a:r>
            <a:r>
              <a:rPr lang="en-US" sz="834" dirty="0">
                <a:solidFill>
                  <a:srgbClr val="FFFFFF"/>
                </a:solidFill>
              </a:rPr>
              <a:t> Points where branches split, representing decision or event points</a:t>
            </a:r>
            <a:endParaRPr lang="en-US" sz="784" dirty="0"/>
          </a:p>
        </p:txBody>
      </p:sp>
      <p:sp>
        <p:nvSpPr>
          <p:cNvPr id="11" name="Text 7"/>
          <p:cNvSpPr/>
          <p:nvPr/>
        </p:nvSpPr>
        <p:spPr>
          <a:xfrm>
            <a:off x="642938" y="2776029"/>
            <a:ext cx="3607594" cy="171450"/>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FF6B9D"/>
                </a:solidFill>
              </a:rPr>
              <a:t>• Probabilities:</a:t>
            </a:r>
            <a:r>
              <a:rPr lang="en-US" sz="834" dirty="0">
                <a:solidFill>
                  <a:srgbClr val="FFFFFF"/>
                </a:solidFill>
              </a:rPr>
              <a:t> Numbers on branches showing P(outcome)</a:t>
            </a:r>
            <a:endParaRPr lang="en-US" sz="784" dirty="0"/>
          </a:p>
        </p:txBody>
      </p:sp>
      <p:sp>
        <p:nvSpPr>
          <p:cNvPr id="12" name="Text 8"/>
          <p:cNvSpPr/>
          <p:nvPr/>
        </p:nvSpPr>
        <p:spPr>
          <a:xfrm>
            <a:off x="642938" y="3004629"/>
            <a:ext cx="3607594" cy="342900"/>
          </a:xfrm>
          <a:prstGeom prst="rect">
            <a:avLst/>
          </a:prstGeom>
          <a:noFill/>
          <a:ln/>
        </p:spPr>
        <p:txBody>
          <a:bodyPr wrap="square" lIns="0" tIns="0" rIns="0" bIns="0" rtlCol="0" anchor="t">
            <a:spAutoFit/>
          </a:bodyPr>
          <a:lstStyle/>
          <a:p>
            <a:pPr marL="0" indent="0" algn="l">
              <a:lnSpc>
                <a:spcPts val="1400"/>
              </a:lnSpc>
              <a:buNone/>
            </a:pPr>
            <a:r>
              <a:rPr lang="en-US" sz="784" b="1" dirty="0">
                <a:solidFill>
                  <a:srgbClr val="FF6B9D"/>
                </a:solidFill>
              </a:rPr>
              <a:t>• Outcomes:</a:t>
            </a:r>
            <a:r>
              <a:rPr lang="en-US" sz="834" dirty="0">
                <a:solidFill>
                  <a:srgbClr val="FFFFFF"/>
                </a:solidFill>
              </a:rPr>
              <a:t> Labels on branches showing what happens (e.g., "Heads", "Tails")</a:t>
            </a:r>
            <a:endParaRPr lang="en-US" sz="784" dirty="0"/>
          </a:p>
        </p:txBody>
      </p:sp>
      <p:sp>
        <p:nvSpPr>
          <p:cNvPr id="13" name="Shape 9"/>
          <p:cNvSpPr/>
          <p:nvPr/>
        </p:nvSpPr>
        <p:spPr>
          <a:xfrm>
            <a:off x="500063" y="3419294"/>
            <a:ext cx="3893344" cy="1627355"/>
          </a:xfrm>
          <a:prstGeom prst="rect">
            <a:avLst/>
          </a:prstGeom>
          <a:solidFill>
            <a:srgbClr val="FFD73D">
              <a:alpha val="10000"/>
            </a:srgbClr>
          </a:solidFill>
          <a:ln/>
        </p:spPr>
        <p:txBody>
          <a:bodyPr/>
          <a:lstStyle/>
          <a:p>
            <a:endParaRPr lang="en-US"/>
          </a:p>
        </p:txBody>
      </p:sp>
      <p:sp>
        <p:nvSpPr>
          <p:cNvPr id="14" name="Text 10"/>
          <p:cNvSpPr/>
          <p:nvPr/>
        </p:nvSpPr>
        <p:spPr>
          <a:xfrm>
            <a:off x="642938" y="3490732"/>
            <a:ext cx="3607594"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FFD93D"/>
                </a:solidFill>
              </a:rPr>
              <a:t>How to Construct a Tree Diagram</a:t>
            </a:r>
            <a:endParaRPr lang="en-US" sz="987" dirty="0"/>
          </a:p>
        </p:txBody>
      </p:sp>
      <p:sp>
        <p:nvSpPr>
          <p:cNvPr id="15" name="Text 11"/>
          <p:cNvSpPr/>
          <p:nvPr/>
        </p:nvSpPr>
        <p:spPr>
          <a:xfrm>
            <a:off x="800100" y="3756837"/>
            <a:ext cx="3450431" cy="171450"/>
          </a:xfrm>
          <a:prstGeom prst="rect">
            <a:avLst/>
          </a:prstGeom>
          <a:noFill/>
          <a:ln/>
        </p:spPr>
        <p:txBody>
          <a:bodyPr wrap="none" lIns="0" tIns="0" rIns="0" bIns="0" rtlCol="0" anchor="t">
            <a:spAutoFit/>
          </a:bodyPr>
          <a:lstStyle/>
          <a:p>
            <a:pPr marL="0" indent="0" algn="l">
              <a:lnSpc>
                <a:spcPts val="1400"/>
              </a:lnSpc>
              <a:buNone/>
            </a:pPr>
            <a:r>
              <a:rPr lang="en-US" sz="834" dirty="0">
                <a:solidFill>
                  <a:srgbClr val="FFFFFF"/>
                </a:solidFill>
              </a:rPr>
              <a:t>Start with a single point (root node) on the left</a:t>
            </a:r>
            <a:endParaRPr lang="en-US" sz="834" dirty="0"/>
          </a:p>
        </p:txBody>
      </p:sp>
      <p:sp>
        <p:nvSpPr>
          <p:cNvPr id="16" name="Text 12"/>
          <p:cNvSpPr/>
          <p:nvPr/>
        </p:nvSpPr>
        <p:spPr>
          <a:xfrm>
            <a:off x="800100" y="3964005"/>
            <a:ext cx="3450431" cy="171450"/>
          </a:xfrm>
          <a:prstGeom prst="rect">
            <a:avLst/>
          </a:prstGeom>
          <a:noFill/>
          <a:ln/>
        </p:spPr>
        <p:txBody>
          <a:bodyPr wrap="none" lIns="0" tIns="0" rIns="0" bIns="0" rtlCol="0" anchor="t">
            <a:spAutoFit/>
          </a:bodyPr>
          <a:lstStyle/>
          <a:p>
            <a:pPr marL="0" indent="0" algn="l">
              <a:lnSpc>
                <a:spcPts val="1400"/>
              </a:lnSpc>
              <a:buNone/>
            </a:pPr>
            <a:r>
              <a:rPr lang="en-US" sz="834" dirty="0">
                <a:solidFill>
                  <a:srgbClr val="FFFFFF"/>
                </a:solidFill>
              </a:rPr>
              <a:t>Draw branches for all possible outcomes of the first event</a:t>
            </a:r>
            <a:endParaRPr lang="en-US" sz="834" dirty="0"/>
          </a:p>
        </p:txBody>
      </p:sp>
      <p:sp>
        <p:nvSpPr>
          <p:cNvPr id="17" name="Text 13"/>
          <p:cNvSpPr/>
          <p:nvPr/>
        </p:nvSpPr>
        <p:spPr>
          <a:xfrm>
            <a:off x="800100" y="4171174"/>
            <a:ext cx="3450431" cy="171450"/>
          </a:xfrm>
          <a:prstGeom prst="rect">
            <a:avLst/>
          </a:prstGeom>
          <a:noFill/>
          <a:ln/>
        </p:spPr>
        <p:txBody>
          <a:bodyPr wrap="none" lIns="0" tIns="0" rIns="0" bIns="0" rtlCol="0" anchor="t">
            <a:spAutoFit/>
          </a:bodyPr>
          <a:lstStyle/>
          <a:p>
            <a:pPr marL="0" indent="0" algn="l">
              <a:lnSpc>
                <a:spcPts val="1400"/>
              </a:lnSpc>
              <a:buNone/>
            </a:pPr>
            <a:r>
              <a:rPr lang="en-US" sz="834" dirty="0">
                <a:solidFill>
                  <a:srgbClr val="FFFFFF"/>
                </a:solidFill>
              </a:rPr>
              <a:t>Label each branch with its outcome and probability</a:t>
            </a:r>
            <a:endParaRPr lang="en-US" sz="834" dirty="0"/>
          </a:p>
        </p:txBody>
      </p:sp>
      <p:sp>
        <p:nvSpPr>
          <p:cNvPr id="18" name="Text 14"/>
          <p:cNvSpPr/>
          <p:nvPr/>
        </p:nvSpPr>
        <p:spPr>
          <a:xfrm>
            <a:off x="800100" y="4378343"/>
            <a:ext cx="3450431" cy="171450"/>
          </a:xfrm>
          <a:prstGeom prst="rect">
            <a:avLst/>
          </a:prstGeom>
          <a:noFill/>
          <a:ln/>
        </p:spPr>
        <p:txBody>
          <a:bodyPr wrap="none" lIns="0" tIns="0" rIns="0" bIns="0" rtlCol="0" anchor="t">
            <a:spAutoFit/>
          </a:bodyPr>
          <a:lstStyle/>
          <a:p>
            <a:pPr marL="0" indent="0" algn="l">
              <a:lnSpc>
                <a:spcPts val="1400"/>
              </a:lnSpc>
              <a:buNone/>
            </a:pPr>
            <a:r>
              <a:rPr lang="en-US" sz="834" dirty="0">
                <a:solidFill>
                  <a:srgbClr val="FFFFFF"/>
                </a:solidFill>
              </a:rPr>
              <a:t>From each endpoint, draw branches for the second event</a:t>
            </a:r>
            <a:endParaRPr lang="en-US" sz="834" dirty="0"/>
          </a:p>
        </p:txBody>
      </p:sp>
      <p:sp>
        <p:nvSpPr>
          <p:cNvPr id="19" name="Text 15"/>
          <p:cNvSpPr/>
          <p:nvPr/>
        </p:nvSpPr>
        <p:spPr>
          <a:xfrm>
            <a:off x="800100" y="4585512"/>
            <a:ext cx="3450431" cy="171450"/>
          </a:xfrm>
          <a:prstGeom prst="rect">
            <a:avLst/>
          </a:prstGeom>
          <a:noFill/>
          <a:ln/>
        </p:spPr>
        <p:txBody>
          <a:bodyPr wrap="none" lIns="0" tIns="0" rIns="0" bIns="0" rtlCol="0" anchor="t">
            <a:spAutoFit/>
          </a:bodyPr>
          <a:lstStyle/>
          <a:p>
            <a:pPr marL="0" indent="0" algn="l">
              <a:lnSpc>
                <a:spcPts val="1400"/>
              </a:lnSpc>
              <a:buNone/>
            </a:pPr>
            <a:r>
              <a:rPr lang="en-US" sz="834" dirty="0">
                <a:solidFill>
                  <a:srgbClr val="FFFFFF"/>
                </a:solidFill>
              </a:rPr>
              <a:t>Continue for all stages of the experiment</a:t>
            </a:r>
            <a:endParaRPr lang="en-US" sz="834" dirty="0"/>
          </a:p>
        </p:txBody>
      </p:sp>
      <p:sp>
        <p:nvSpPr>
          <p:cNvPr id="20" name="Text 16"/>
          <p:cNvSpPr/>
          <p:nvPr/>
        </p:nvSpPr>
        <p:spPr>
          <a:xfrm>
            <a:off x="800100" y="4792680"/>
            <a:ext cx="3450431" cy="171450"/>
          </a:xfrm>
          <a:prstGeom prst="rect">
            <a:avLst/>
          </a:prstGeom>
          <a:noFill/>
          <a:ln/>
        </p:spPr>
        <p:txBody>
          <a:bodyPr wrap="none" lIns="0" tIns="0" rIns="0" bIns="0" rtlCol="0" anchor="t">
            <a:spAutoFit/>
          </a:bodyPr>
          <a:lstStyle/>
          <a:p>
            <a:pPr marL="0" indent="0" algn="l">
              <a:lnSpc>
                <a:spcPts val="1400"/>
              </a:lnSpc>
              <a:buNone/>
            </a:pPr>
            <a:r>
              <a:rPr lang="en-US" sz="834" dirty="0">
                <a:solidFill>
                  <a:srgbClr val="FFFFFF"/>
                </a:solidFill>
              </a:rPr>
              <a:t>Verify that probabilities at each node sum to 1</a:t>
            </a:r>
            <a:endParaRPr lang="en-US" sz="834" dirty="0"/>
          </a:p>
        </p:txBody>
      </p:sp>
      <p:sp>
        <p:nvSpPr>
          <p:cNvPr id="21" name="Shape 17"/>
          <p:cNvSpPr/>
          <p:nvPr/>
        </p:nvSpPr>
        <p:spPr>
          <a:xfrm>
            <a:off x="4750594" y="1037630"/>
            <a:ext cx="3893344" cy="1532334"/>
          </a:xfrm>
          <a:prstGeom prst="rect">
            <a:avLst/>
          </a:prstGeom>
          <a:solidFill>
            <a:srgbClr val="FF6B9D">
              <a:alpha val="15000"/>
            </a:srgbClr>
          </a:solidFill>
          <a:ln/>
        </p:spPr>
        <p:txBody>
          <a:bodyPr/>
          <a:lstStyle/>
          <a:p>
            <a:endParaRPr lang="en-US"/>
          </a:p>
        </p:txBody>
      </p:sp>
      <p:sp>
        <p:nvSpPr>
          <p:cNvPr id="22" name="Text 18"/>
          <p:cNvSpPr/>
          <p:nvPr/>
        </p:nvSpPr>
        <p:spPr>
          <a:xfrm>
            <a:off x="4907756" y="1094780"/>
            <a:ext cx="3579019" cy="214313"/>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FF6B9D"/>
                </a:solidFill>
              </a:rPr>
              <a:t>Calculation Rules</a:t>
            </a:r>
            <a:endParaRPr lang="en-US" sz="1090" dirty="0"/>
          </a:p>
        </p:txBody>
      </p:sp>
      <p:sp>
        <p:nvSpPr>
          <p:cNvPr id="23" name="Text 19"/>
          <p:cNvSpPr/>
          <p:nvPr/>
        </p:nvSpPr>
        <p:spPr>
          <a:xfrm>
            <a:off x="4907756" y="1351955"/>
            <a:ext cx="3579019" cy="375047"/>
          </a:xfrm>
          <a:prstGeom prst="rect">
            <a:avLst/>
          </a:prstGeom>
          <a:noFill/>
          <a:ln/>
        </p:spPr>
        <p:txBody>
          <a:bodyPr wrap="square" lIns="0" tIns="0" rIns="0" bIns="0" rtlCol="0" anchor="t">
            <a:spAutoFit/>
          </a:bodyPr>
          <a:lstStyle/>
          <a:p>
            <a:pPr marL="0" indent="0" algn="l">
              <a:lnSpc>
                <a:spcPts val="1400"/>
              </a:lnSpc>
              <a:buNone/>
            </a:pPr>
            <a:r>
              <a:rPr lang="en-US" sz="834" b="1" dirty="0">
                <a:solidFill>
                  <a:srgbClr val="FF6B9D"/>
                </a:solidFill>
              </a:rPr>
              <a:t>Rule 1:</a:t>
            </a:r>
            <a:r>
              <a:rPr lang="en-US" sz="888" dirty="0">
                <a:solidFill>
                  <a:srgbClr val="FFFFFF"/>
                </a:solidFill>
              </a:rPr>
              <a:t> Multiply along branches </a:t>
            </a:r>
            <a:r>
              <a:rPr lang="en-US" sz="834" b="1" dirty="0">
                <a:solidFill>
                  <a:srgbClr val="FFD93D"/>
                </a:solidFill>
              </a:rPr>
              <a:t>(product of probabilities)</a:t>
            </a:r>
            <a:r>
              <a:rPr lang="en-US" sz="885" b="1" dirty="0">
                <a:solidFill>
                  <a:srgbClr val="00D9FF"/>
                </a:solidFill>
              </a:rPr>
              <a:t>P(path) = P(stage 1) × P(stage 2) × ...</a:t>
            </a:r>
            <a:endParaRPr lang="en-US" sz="834" dirty="0"/>
          </a:p>
        </p:txBody>
      </p:sp>
      <p:sp>
        <p:nvSpPr>
          <p:cNvPr id="24" name="Text 20"/>
          <p:cNvSpPr/>
          <p:nvPr/>
        </p:nvSpPr>
        <p:spPr>
          <a:xfrm>
            <a:off x="4907756" y="1762720"/>
            <a:ext cx="3579019" cy="385763"/>
          </a:xfrm>
          <a:prstGeom prst="rect">
            <a:avLst/>
          </a:prstGeom>
          <a:noFill/>
          <a:ln/>
        </p:spPr>
        <p:txBody>
          <a:bodyPr wrap="square" lIns="0" tIns="0" rIns="0" bIns="0" rtlCol="0" anchor="t">
            <a:spAutoFit/>
          </a:bodyPr>
          <a:lstStyle/>
          <a:p>
            <a:pPr marL="0" indent="0" algn="l">
              <a:lnSpc>
                <a:spcPts val="1400"/>
              </a:lnSpc>
              <a:buNone/>
            </a:pPr>
            <a:r>
              <a:rPr lang="en-US" sz="834" b="1" dirty="0">
                <a:solidFill>
                  <a:srgbClr val="FF6B9D"/>
                </a:solidFill>
              </a:rPr>
              <a:t>Rule 2:</a:t>
            </a:r>
            <a:r>
              <a:rPr lang="en-US" sz="888" dirty="0">
                <a:solidFill>
                  <a:srgbClr val="FFFFFF"/>
                </a:solidFill>
              </a:rPr>
              <a:t> Add across branches </a:t>
            </a:r>
            <a:r>
              <a:rPr lang="en-US" sz="834" b="1" dirty="0">
                <a:solidFill>
                  <a:srgbClr val="FFD93D"/>
                </a:solidFill>
              </a:rPr>
              <a:t>(sum of paths)</a:t>
            </a:r>
            <a:r>
              <a:rPr lang="en-US" sz="885" b="1" dirty="0">
                <a:solidFill>
                  <a:srgbClr val="00D9FF"/>
                </a:solidFill>
              </a:rPr>
              <a:t>P(event) = P(path 1) + P(path 2) + ...</a:t>
            </a:r>
            <a:endParaRPr lang="en-US" sz="834" dirty="0"/>
          </a:p>
        </p:txBody>
      </p:sp>
      <p:sp>
        <p:nvSpPr>
          <p:cNvPr id="25" name="Text 21"/>
          <p:cNvSpPr/>
          <p:nvPr/>
        </p:nvSpPr>
        <p:spPr>
          <a:xfrm>
            <a:off x="4907756" y="2133848"/>
            <a:ext cx="3579019" cy="385763"/>
          </a:xfrm>
          <a:prstGeom prst="rect">
            <a:avLst/>
          </a:prstGeom>
          <a:noFill/>
          <a:ln/>
        </p:spPr>
        <p:txBody>
          <a:bodyPr wrap="square" lIns="0" tIns="0" rIns="0" bIns="0" rtlCol="0" anchor="t">
            <a:spAutoFit/>
          </a:bodyPr>
          <a:lstStyle/>
          <a:p>
            <a:pPr marL="0" indent="0" algn="l">
              <a:lnSpc>
                <a:spcPts val="1400"/>
              </a:lnSpc>
              <a:buNone/>
            </a:pPr>
            <a:r>
              <a:rPr lang="en-US" sz="834" b="1" dirty="0">
                <a:solidFill>
                  <a:srgbClr val="FF6B9D"/>
                </a:solidFill>
              </a:rPr>
              <a:t>Rule 3:</a:t>
            </a:r>
            <a:r>
              <a:rPr lang="en-US" sz="888" dirty="0">
                <a:solidFill>
                  <a:srgbClr val="FFFFFF"/>
                </a:solidFill>
              </a:rPr>
              <a:t> Use conditional probabilities for dependent events</a:t>
            </a:r>
            <a:r>
              <a:rPr lang="en-US" sz="885" b="1" dirty="0">
                <a:solidFill>
                  <a:srgbClr val="00D9FF"/>
                </a:solidFill>
              </a:rPr>
              <a:t> P(B|A) on later branches</a:t>
            </a:r>
            <a:endParaRPr lang="en-US" sz="834" dirty="0"/>
          </a:p>
        </p:txBody>
      </p:sp>
      <p:sp>
        <p:nvSpPr>
          <p:cNvPr id="26" name="Shape 22"/>
          <p:cNvSpPr/>
          <p:nvPr/>
        </p:nvSpPr>
        <p:spPr>
          <a:xfrm>
            <a:off x="4750594" y="2612828"/>
            <a:ext cx="3893344" cy="1200150"/>
          </a:xfrm>
          <a:prstGeom prst="rect">
            <a:avLst/>
          </a:prstGeom>
          <a:solidFill>
            <a:srgbClr val="00D9FF">
              <a:alpha val="10000"/>
            </a:srgbClr>
          </a:solidFill>
          <a:ln/>
        </p:spPr>
        <p:txBody>
          <a:bodyPr/>
          <a:lstStyle/>
          <a:p>
            <a:endParaRPr lang="en-US"/>
          </a:p>
        </p:txBody>
      </p:sp>
      <p:sp>
        <p:nvSpPr>
          <p:cNvPr id="27" name="Text 23"/>
          <p:cNvSpPr/>
          <p:nvPr/>
        </p:nvSpPr>
        <p:spPr>
          <a:xfrm>
            <a:off x="4893469" y="2669977"/>
            <a:ext cx="3607594"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D9FF"/>
                </a:solidFill>
              </a:rPr>
              <a:t>When to Use Tree Diagrams</a:t>
            </a:r>
            <a:endParaRPr lang="en-US" sz="987" dirty="0"/>
          </a:p>
        </p:txBody>
      </p:sp>
      <p:sp>
        <p:nvSpPr>
          <p:cNvPr id="28" name="Text 24"/>
          <p:cNvSpPr/>
          <p:nvPr/>
        </p:nvSpPr>
        <p:spPr>
          <a:xfrm>
            <a:off x="5050631" y="2858810"/>
            <a:ext cx="1023565" cy="15537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FF6B9D"/>
                </a:solidFill>
              </a:rPr>
              <a:t>Sequential events:</a:t>
            </a:r>
            <a:endParaRPr lang="en-US" sz="784" dirty="0"/>
          </a:p>
        </p:txBody>
      </p:sp>
      <p:sp>
        <p:nvSpPr>
          <p:cNvPr id="29" name="Text 25"/>
          <p:cNvSpPr/>
          <p:nvPr/>
        </p:nvSpPr>
        <p:spPr>
          <a:xfrm>
            <a:off x="5971532" y="2880337"/>
            <a:ext cx="2019812" cy="155377"/>
          </a:xfrm>
          <a:prstGeom prst="rect">
            <a:avLst/>
          </a:prstGeom>
          <a:noFill/>
          <a:ln/>
        </p:spPr>
        <p:txBody>
          <a:bodyPr wrap="none" lIns="0" tIns="0" rIns="0" bIns="0" rtlCol="0" anchor="t">
            <a:spAutoFit/>
          </a:bodyPr>
          <a:lstStyle/>
          <a:p>
            <a:pPr marL="0" indent="0" algn="l">
              <a:lnSpc>
                <a:spcPts val="1400"/>
              </a:lnSpc>
              <a:buNone/>
            </a:pPr>
            <a:r>
              <a:rPr lang="en-US" sz="834" dirty="0">
                <a:solidFill>
                  <a:srgbClr val="FFFFFF"/>
                </a:solidFill>
              </a:rPr>
              <a:t>When events occur in stages or steps</a:t>
            </a:r>
            <a:endParaRPr lang="en-US" sz="834" dirty="0"/>
          </a:p>
        </p:txBody>
      </p:sp>
      <p:sp>
        <p:nvSpPr>
          <p:cNvPr id="30" name="Text 26"/>
          <p:cNvSpPr/>
          <p:nvPr/>
        </p:nvSpPr>
        <p:spPr>
          <a:xfrm>
            <a:off x="5050631" y="3051691"/>
            <a:ext cx="1073962" cy="15537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FF6B9D"/>
                </a:solidFill>
              </a:rPr>
              <a:t>Multiple outcomes:</a:t>
            </a:r>
            <a:endParaRPr lang="en-US" sz="784" dirty="0"/>
          </a:p>
        </p:txBody>
      </p:sp>
      <p:sp>
        <p:nvSpPr>
          <p:cNvPr id="31" name="Text 27"/>
          <p:cNvSpPr/>
          <p:nvPr/>
        </p:nvSpPr>
        <p:spPr>
          <a:xfrm>
            <a:off x="5971532" y="3058576"/>
            <a:ext cx="2363158" cy="155377"/>
          </a:xfrm>
          <a:prstGeom prst="rect">
            <a:avLst/>
          </a:prstGeom>
          <a:noFill/>
          <a:ln/>
        </p:spPr>
        <p:txBody>
          <a:bodyPr wrap="none" lIns="0" tIns="0" rIns="0" bIns="0" rtlCol="0" anchor="t">
            <a:spAutoFit/>
          </a:bodyPr>
          <a:lstStyle/>
          <a:p>
            <a:pPr marL="0" indent="0" algn="l">
              <a:lnSpc>
                <a:spcPts val="1400"/>
              </a:lnSpc>
              <a:buNone/>
            </a:pPr>
            <a:r>
              <a:rPr lang="en-US" sz="834" dirty="0">
                <a:solidFill>
                  <a:srgbClr val="FFFFFF"/>
                </a:solidFill>
              </a:rPr>
              <a:t>When each stage has 2+ possible outcomes</a:t>
            </a:r>
            <a:endParaRPr lang="en-US" sz="834" dirty="0"/>
          </a:p>
        </p:txBody>
      </p:sp>
      <p:sp>
        <p:nvSpPr>
          <p:cNvPr id="32" name="Text 28"/>
          <p:cNvSpPr/>
          <p:nvPr/>
        </p:nvSpPr>
        <p:spPr>
          <a:xfrm>
            <a:off x="5050631" y="3244573"/>
            <a:ext cx="1049964" cy="15537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FF6B9D"/>
                </a:solidFill>
              </a:rPr>
              <a:t>Dependent events:</a:t>
            </a:r>
            <a:endParaRPr lang="en-US" sz="784" dirty="0"/>
          </a:p>
        </p:txBody>
      </p:sp>
      <p:sp>
        <p:nvSpPr>
          <p:cNvPr id="33" name="Text 29"/>
          <p:cNvSpPr/>
          <p:nvPr/>
        </p:nvSpPr>
        <p:spPr>
          <a:xfrm>
            <a:off x="5971532" y="3232071"/>
            <a:ext cx="3351061" cy="326827"/>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FFFFFF"/>
                </a:solidFill>
              </a:rPr>
              <a:t>When later probabilities depend on earlier outcomes</a:t>
            </a:r>
            <a:endParaRPr lang="en-US" sz="834" dirty="0"/>
          </a:p>
        </p:txBody>
      </p:sp>
      <p:sp>
        <p:nvSpPr>
          <p:cNvPr id="34" name="Text 30"/>
          <p:cNvSpPr/>
          <p:nvPr/>
        </p:nvSpPr>
        <p:spPr>
          <a:xfrm>
            <a:off x="5050631" y="3581380"/>
            <a:ext cx="1076502" cy="15537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FF6B9D"/>
                </a:solidFill>
              </a:rPr>
              <a:t>Complex scenarios:</a:t>
            </a:r>
            <a:endParaRPr lang="en-US" sz="784" dirty="0"/>
          </a:p>
        </p:txBody>
      </p:sp>
      <p:sp>
        <p:nvSpPr>
          <p:cNvPr id="35" name="Text 31"/>
          <p:cNvSpPr/>
          <p:nvPr/>
        </p:nvSpPr>
        <p:spPr>
          <a:xfrm>
            <a:off x="5971532" y="3565625"/>
            <a:ext cx="3208883" cy="326827"/>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FFFFFF"/>
                </a:solidFill>
              </a:rPr>
              <a:t>When tracking all possibilities becomes difficult</a:t>
            </a:r>
            <a:endParaRPr lang="en-US" sz="834" dirty="0"/>
          </a:p>
        </p:txBody>
      </p:sp>
      <p:sp>
        <p:nvSpPr>
          <p:cNvPr id="36" name="Shape 32"/>
          <p:cNvSpPr/>
          <p:nvPr/>
        </p:nvSpPr>
        <p:spPr>
          <a:xfrm>
            <a:off x="4750594" y="3924703"/>
            <a:ext cx="3893344" cy="1121947"/>
          </a:xfrm>
          <a:prstGeom prst="rect">
            <a:avLst/>
          </a:prstGeom>
          <a:solidFill>
            <a:srgbClr val="FFFFFF">
              <a:alpha val="5000"/>
            </a:srgbClr>
          </a:solidFill>
          <a:ln/>
        </p:spPr>
        <p:txBody>
          <a:bodyPr/>
          <a:lstStyle/>
          <a:p>
            <a:endParaRPr lang="en-US"/>
          </a:p>
        </p:txBody>
      </p:sp>
      <p:sp>
        <p:nvSpPr>
          <p:cNvPr id="37" name="Text 33"/>
          <p:cNvSpPr/>
          <p:nvPr/>
        </p:nvSpPr>
        <p:spPr>
          <a:xfrm>
            <a:off x="4893469" y="3981853"/>
            <a:ext cx="3607594"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FFD93D"/>
                </a:solidFill>
              </a:rPr>
              <a:t>Key Advantages</a:t>
            </a:r>
            <a:endParaRPr lang="en-US" sz="987" dirty="0"/>
          </a:p>
        </p:txBody>
      </p:sp>
      <p:sp>
        <p:nvSpPr>
          <p:cNvPr id="38" name="Text 34"/>
          <p:cNvSpPr/>
          <p:nvPr/>
        </p:nvSpPr>
        <p:spPr>
          <a:xfrm>
            <a:off x="5050631" y="4226526"/>
            <a:ext cx="1228279" cy="15537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FF6B9D"/>
                </a:solidFill>
              </a:rPr>
              <a:t>Visual representation:</a:t>
            </a:r>
            <a:endParaRPr lang="en-US" sz="784" dirty="0"/>
          </a:p>
        </p:txBody>
      </p:sp>
      <p:sp>
        <p:nvSpPr>
          <p:cNvPr id="39" name="Text 35"/>
          <p:cNvSpPr/>
          <p:nvPr/>
        </p:nvSpPr>
        <p:spPr>
          <a:xfrm>
            <a:off x="6100595" y="4240755"/>
            <a:ext cx="1465920" cy="155377"/>
          </a:xfrm>
          <a:prstGeom prst="rect">
            <a:avLst/>
          </a:prstGeom>
          <a:noFill/>
          <a:ln/>
        </p:spPr>
        <p:txBody>
          <a:bodyPr wrap="none" lIns="0" tIns="0" rIns="0" bIns="0" rtlCol="0" anchor="t">
            <a:spAutoFit/>
          </a:bodyPr>
          <a:lstStyle/>
          <a:p>
            <a:pPr marL="0" indent="0" algn="l">
              <a:lnSpc>
                <a:spcPts val="1400"/>
              </a:lnSpc>
              <a:buNone/>
            </a:pPr>
            <a:r>
              <a:rPr lang="en-US" sz="834" dirty="0">
                <a:solidFill>
                  <a:srgbClr val="FFFFFF"/>
                </a:solidFill>
              </a:rPr>
              <a:t>Shows all outcomes clearly</a:t>
            </a:r>
            <a:endParaRPr lang="en-US" sz="834" dirty="0"/>
          </a:p>
        </p:txBody>
      </p:sp>
      <p:sp>
        <p:nvSpPr>
          <p:cNvPr id="40" name="Text 36"/>
          <p:cNvSpPr/>
          <p:nvPr/>
        </p:nvSpPr>
        <p:spPr>
          <a:xfrm>
            <a:off x="5050631" y="4419407"/>
            <a:ext cx="1156143" cy="15537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FF6B9D"/>
                </a:solidFill>
              </a:rPr>
              <a:t>Organized structure:</a:t>
            </a:r>
            <a:endParaRPr lang="en-US" sz="784" dirty="0"/>
          </a:p>
        </p:txBody>
      </p:sp>
      <p:sp>
        <p:nvSpPr>
          <p:cNvPr id="41" name="Text 37"/>
          <p:cNvSpPr/>
          <p:nvPr/>
        </p:nvSpPr>
        <p:spPr>
          <a:xfrm>
            <a:off x="6100595" y="4425015"/>
            <a:ext cx="1263830" cy="155377"/>
          </a:xfrm>
          <a:prstGeom prst="rect">
            <a:avLst/>
          </a:prstGeom>
          <a:noFill/>
          <a:ln/>
        </p:spPr>
        <p:txBody>
          <a:bodyPr wrap="none" lIns="0" tIns="0" rIns="0" bIns="0" rtlCol="0" anchor="t">
            <a:spAutoFit/>
          </a:bodyPr>
          <a:lstStyle/>
          <a:p>
            <a:pPr marL="0" indent="0" algn="l">
              <a:lnSpc>
                <a:spcPts val="1400"/>
              </a:lnSpc>
              <a:buNone/>
            </a:pPr>
            <a:r>
              <a:rPr lang="en-US" sz="834" dirty="0">
                <a:solidFill>
                  <a:srgbClr val="FFFFFF"/>
                </a:solidFill>
              </a:rPr>
              <a:t>Prevents missing cases</a:t>
            </a:r>
            <a:endParaRPr lang="en-US" sz="834" dirty="0"/>
          </a:p>
        </p:txBody>
      </p:sp>
      <p:sp>
        <p:nvSpPr>
          <p:cNvPr id="42" name="Text 38"/>
          <p:cNvSpPr/>
          <p:nvPr/>
        </p:nvSpPr>
        <p:spPr>
          <a:xfrm>
            <a:off x="5050631" y="4612288"/>
            <a:ext cx="724895" cy="15537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FF6B9D"/>
                </a:solidFill>
              </a:rPr>
              <a:t>Step-by-step:</a:t>
            </a:r>
            <a:endParaRPr lang="en-US" sz="784" dirty="0"/>
          </a:p>
        </p:txBody>
      </p:sp>
      <p:sp>
        <p:nvSpPr>
          <p:cNvPr id="43" name="Text 39"/>
          <p:cNvSpPr/>
          <p:nvPr/>
        </p:nvSpPr>
        <p:spPr>
          <a:xfrm>
            <a:off x="6100595" y="4584107"/>
            <a:ext cx="2035913" cy="155377"/>
          </a:xfrm>
          <a:prstGeom prst="rect">
            <a:avLst/>
          </a:prstGeom>
          <a:noFill/>
          <a:ln/>
        </p:spPr>
        <p:txBody>
          <a:bodyPr wrap="none" lIns="0" tIns="0" rIns="0" bIns="0" rtlCol="0" anchor="t">
            <a:spAutoFit/>
          </a:bodyPr>
          <a:lstStyle/>
          <a:p>
            <a:pPr marL="0" indent="0" algn="l">
              <a:lnSpc>
                <a:spcPts val="1400"/>
              </a:lnSpc>
              <a:buNone/>
            </a:pPr>
            <a:r>
              <a:rPr lang="en-US" sz="834" dirty="0">
                <a:solidFill>
                  <a:srgbClr val="FFFFFF"/>
                </a:solidFill>
              </a:rPr>
              <a:t>Breaks complex problems into stages</a:t>
            </a:r>
            <a:endParaRPr lang="en-US" sz="834" dirty="0"/>
          </a:p>
        </p:txBody>
      </p:sp>
      <p:sp>
        <p:nvSpPr>
          <p:cNvPr id="44" name="Text 40"/>
          <p:cNvSpPr/>
          <p:nvPr/>
        </p:nvSpPr>
        <p:spPr>
          <a:xfrm>
            <a:off x="5050631" y="4805170"/>
            <a:ext cx="843102" cy="15537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FF6B9D"/>
                </a:solidFill>
              </a:rPr>
              <a:t>Error checking:</a:t>
            </a:r>
            <a:endParaRPr lang="en-US" sz="784" dirty="0"/>
          </a:p>
        </p:txBody>
      </p:sp>
      <p:sp>
        <p:nvSpPr>
          <p:cNvPr id="45" name="Text 41"/>
          <p:cNvSpPr/>
          <p:nvPr/>
        </p:nvSpPr>
        <p:spPr>
          <a:xfrm>
            <a:off x="6100595" y="4806544"/>
            <a:ext cx="2219725" cy="155377"/>
          </a:xfrm>
          <a:prstGeom prst="rect">
            <a:avLst/>
          </a:prstGeom>
          <a:noFill/>
          <a:ln/>
        </p:spPr>
        <p:txBody>
          <a:bodyPr wrap="none" lIns="0" tIns="0" rIns="0" bIns="0" rtlCol="0" anchor="t">
            <a:spAutoFit/>
          </a:bodyPr>
          <a:lstStyle/>
          <a:p>
            <a:pPr marL="0" indent="0" algn="l">
              <a:lnSpc>
                <a:spcPts val="1400"/>
              </a:lnSpc>
              <a:buNone/>
            </a:pPr>
            <a:r>
              <a:rPr lang="en-US" sz="834" dirty="0">
                <a:solidFill>
                  <a:srgbClr val="FFFFFF"/>
                </a:solidFill>
              </a:rPr>
              <a:t>Probabilities at each node must sum to 1</a:t>
            </a:r>
            <a:endParaRPr lang="en-US" sz="834"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0" y="357188"/>
            <a:ext cx="9144000" cy="466130"/>
          </a:xfrm>
          <a:prstGeom prst="rect">
            <a:avLst/>
          </a:prstGeom>
          <a:noFill/>
          <a:ln/>
        </p:spPr>
        <p:txBody>
          <a:bodyPr wrap="none" lIns="0" tIns="0" rIns="0" bIns="0" rtlCol="0" anchor="t">
            <a:spAutoFit/>
          </a:bodyPr>
          <a:lstStyle/>
          <a:p>
            <a:pPr marL="0" indent="0" algn="ctr">
              <a:lnSpc>
                <a:spcPts val="3200"/>
              </a:lnSpc>
              <a:buNone/>
            </a:pPr>
            <a:r>
              <a:rPr lang="en-US" sz="2436" b="1" dirty="0">
                <a:solidFill>
                  <a:srgbClr val="00D9FF"/>
                </a:solidFill>
              </a:rPr>
              <a:t>Tree Diagrams: Examples</a:t>
            </a:r>
            <a:endParaRPr lang="en-US" sz="2436" dirty="0"/>
          </a:p>
        </p:txBody>
      </p:sp>
      <p:sp>
        <p:nvSpPr>
          <p:cNvPr id="5" name="Text 1"/>
          <p:cNvSpPr/>
          <p:nvPr/>
        </p:nvSpPr>
        <p:spPr>
          <a:xfrm>
            <a:off x="0" y="880467"/>
            <a:ext cx="9144000" cy="175022"/>
          </a:xfrm>
          <a:prstGeom prst="rect">
            <a:avLst/>
          </a:prstGeom>
          <a:noFill/>
          <a:ln/>
        </p:spPr>
        <p:txBody>
          <a:bodyPr wrap="none" lIns="0" tIns="0" rIns="0" bIns="0" rtlCol="0" anchor="t">
            <a:spAutoFit/>
          </a:bodyPr>
          <a:lstStyle/>
          <a:p>
            <a:pPr marL="0" indent="0" algn="ctr">
              <a:lnSpc>
                <a:spcPts val="1200"/>
              </a:lnSpc>
              <a:buNone/>
            </a:pPr>
            <a:r>
              <a:rPr lang="en-US" sz="942" dirty="0">
                <a:solidFill>
                  <a:srgbClr val="FFD93D"/>
                </a:solidFill>
              </a:rPr>
              <a:t>Multi-Stage Probability Problems with Detailed Solutions</a:t>
            </a:r>
            <a:endParaRPr lang="en-US" sz="942" dirty="0"/>
          </a:p>
        </p:txBody>
      </p:sp>
      <p:sp>
        <p:nvSpPr>
          <p:cNvPr id="6" name="Shape 2"/>
          <p:cNvSpPr/>
          <p:nvPr/>
        </p:nvSpPr>
        <p:spPr>
          <a:xfrm>
            <a:off x="357188" y="1234083"/>
            <a:ext cx="4107656" cy="2926088"/>
          </a:xfrm>
          <a:prstGeom prst="rect">
            <a:avLst/>
          </a:prstGeom>
          <a:solidFill>
            <a:srgbClr val="FFFFFF">
              <a:alpha val="5000"/>
            </a:srgbClr>
          </a:solidFill>
          <a:ln/>
        </p:spPr>
        <p:txBody>
          <a:bodyPr/>
          <a:lstStyle/>
          <a:p>
            <a:endParaRPr lang="en-US"/>
          </a:p>
        </p:txBody>
      </p:sp>
      <p:sp>
        <p:nvSpPr>
          <p:cNvPr id="7" name="Text 3"/>
          <p:cNvSpPr/>
          <p:nvPr/>
        </p:nvSpPr>
        <p:spPr>
          <a:xfrm>
            <a:off x="500063" y="1291233"/>
            <a:ext cx="3821906" cy="350044"/>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FF6B9D"/>
                </a:solidFill>
              </a:rPr>
              <a:t>01</a:t>
            </a:r>
            <a:endParaRPr lang="en-US" sz="1808" dirty="0"/>
          </a:p>
        </p:txBody>
      </p:sp>
      <p:sp>
        <p:nvSpPr>
          <p:cNvPr id="8" name="Text 4"/>
          <p:cNvSpPr/>
          <p:nvPr/>
        </p:nvSpPr>
        <p:spPr>
          <a:xfrm>
            <a:off x="500063" y="1684139"/>
            <a:ext cx="3821906" cy="214313"/>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00D9FF"/>
                </a:solidFill>
              </a:rPr>
              <a:t>Drawing Two Cards Without Replacement</a:t>
            </a:r>
            <a:endParaRPr lang="en-US" sz="1090" dirty="0"/>
          </a:p>
        </p:txBody>
      </p:sp>
      <p:sp>
        <p:nvSpPr>
          <p:cNvPr id="9" name="Text 5"/>
          <p:cNvSpPr/>
          <p:nvPr/>
        </p:nvSpPr>
        <p:spPr>
          <a:xfrm>
            <a:off x="500063" y="1955602"/>
            <a:ext cx="3821906" cy="331459"/>
          </a:xfrm>
          <a:prstGeom prst="rect">
            <a:avLst/>
          </a:prstGeom>
          <a:noFill/>
          <a:ln/>
        </p:spPr>
        <p:txBody>
          <a:bodyPr wrap="square" lIns="0" tIns="0" rIns="0" bIns="0" rtlCol="0" anchor="t">
            <a:spAutoFit/>
          </a:bodyPr>
          <a:lstStyle/>
          <a:p>
            <a:pPr marL="0" indent="0" algn="l">
              <a:lnSpc>
                <a:spcPts val="1300"/>
              </a:lnSpc>
              <a:buNone/>
            </a:pPr>
            <a:r>
              <a:rPr lang="en-US" sz="784" b="1" dirty="0">
                <a:solidFill>
                  <a:srgbClr val="FFFFFF"/>
                </a:solidFill>
              </a:rPr>
              <a:t>Problem:</a:t>
            </a:r>
            <a:r>
              <a:rPr lang="en-US" sz="834" dirty="0">
                <a:solidFill>
                  <a:srgbClr val="FFFFFF"/>
                </a:solidFill>
              </a:rPr>
              <a:t> A box has 3 red and 2 blue balls. Draw two without replacement. Find P(R-R) and P(one red, one blue).</a:t>
            </a:r>
            <a:endParaRPr lang="en-US" sz="784" dirty="0"/>
          </a:p>
        </p:txBody>
      </p:sp>
      <p:sp>
        <p:nvSpPr>
          <p:cNvPr id="10" name="Text 6"/>
          <p:cNvSpPr/>
          <p:nvPr/>
        </p:nvSpPr>
        <p:spPr>
          <a:xfrm>
            <a:off x="500063" y="2372785"/>
            <a:ext cx="3821906" cy="175022"/>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FFD93D"/>
                </a:solidFill>
              </a:rPr>
              <a:t>Tree Diagram:</a:t>
            </a:r>
            <a:endParaRPr lang="en-US" sz="885" dirty="0"/>
          </a:p>
        </p:txBody>
      </p:sp>
      <p:sp>
        <p:nvSpPr>
          <p:cNvPr id="11" name="Shape 7"/>
          <p:cNvSpPr/>
          <p:nvPr/>
        </p:nvSpPr>
        <p:spPr>
          <a:xfrm>
            <a:off x="500063" y="2604957"/>
            <a:ext cx="3821906" cy="537121"/>
          </a:xfrm>
          <a:prstGeom prst="rect">
            <a:avLst/>
          </a:prstGeom>
          <a:solidFill>
            <a:srgbClr val="000000">
              <a:alpha val="30000"/>
            </a:srgbClr>
          </a:solidFill>
          <a:ln/>
        </p:spPr>
        <p:txBody>
          <a:bodyPr/>
          <a:lstStyle/>
          <a:p>
            <a:endParaRPr lang="en-US"/>
          </a:p>
        </p:txBody>
      </p:sp>
      <p:sp>
        <p:nvSpPr>
          <p:cNvPr id="12" name="Text 8"/>
          <p:cNvSpPr/>
          <p:nvPr/>
        </p:nvSpPr>
        <p:spPr>
          <a:xfrm>
            <a:off x="614363" y="2662107"/>
            <a:ext cx="3593306" cy="479971"/>
          </a:xfrm>
          <a:prstGeom prst="rect">
            <a:avLst/>
          </a:prstGeom>
          <a:noFill/>
          <a:ln/>
        </p:spPr>
        <p:txBody>
          <a:bodyPr wrap="square" lIns="0" tIns="0" rIns="0" bIns="0" rtlCol="0" anchor="t">
            <a:spAutoFit/>
          </a:bodyPr>
          <a:lstStyle/>
          <a:p>
            <a:pPr marL="0" indent="0" algn="l">
              <a:lnSpc>
                <a:spcPts val="900"/>
              </a:lnSpc>
              <a:buNone/>
            </a:pPr>
            <a:r>
              <a:rPr lang="en-US" sz="727" dirty="0">
                <a:solidFill>
                  <a:srgbClr val="00D9FF"/>
                </a:solidFill>
              </a:rPr>
              <a:t>Start → </a:t>
            </a:r>
            <a:r>
              <a:rPr lang="en-US" sz="727" dirty="0">
                <a:solidFill>
                  <a:srgbClr val="FFFFFF"/>
                </a:solidFill>
              </a:rPr>
              <a:t>Red (3/5)</a:t>
            </a:r>
            <a:r>
              <a:rPr lang="en-US" sz="727" dirty="0">
                <a:solidFill>
                  <a:srgbClr val="00D9FF"/>
                </a:solidFill>
              </a:rPr>
              <a:t> → </a:t>
            </a:r>
            <a:r>
              <a:rPr lang="en-US" sz="727" dirty="0">
                <a:solidFill>
                  <a:srgbClr val="FFFFFF"/>
                </a:solidFill>
              </a:rPr>
              <a:t>Red</a:t>
            </a:r>
            <a:r>
              <a:rPr lang="en-US" sz="683" b="1" dirty="0">
                <a:solidFill>
                  <a:srgbClr val="FF6B9D"/>
                </a:solidFill>
              </a:rPr>
              <a:t>(2/4)</a:t>
            </a:r>
            <a:r>
              <a:rPr lang="en-US" sz="727" dirty="0">
                <a:solidFill>
                  <a:srgbClr val="00D9FF"/>
                </a:solidFill>
              </a:rPr>
              <a:t> | </a:t>
            </a:r>
            <a:r>
              <a:rPr lang="en-US" sz="727" dirty="0">
                <a:solidFill>
                  <a:srgbClr val="FFFFFF"/>
                </a:solidFill>
              </a:rPr>
              <a:t>Blue</a:t>
            </a:r>
            <a:r>
              <a:rPr lang="en-US" sz="683" b="1" dirty="0">
                <a:solidFill>
                  <a:srgbClr val="FF6B9D"/>
                </a:solidFill>
              </a:rPr>
              <a:t>(2/4)</a:t>
            </a:r>
            <a:r>
              <a:rPr lang="en-US" sz="727" dirty="0">
                <a:solidFill>
                  <a:srgbClr val="00D9FF"/>
                </a:solidFill>
              </a:rPr>
              <a:t>
      → </a:t>
            </a:r>
            <a:r>
              <a:rPr lang="en-US" sz="727" dirty="0">
                <a:solidFill>
                  <a:srgbClr val="FFFFFF"/>
                </a:solidFill>
              </a:rPr>
              <a:t>Blue (2/5)</a:t>
            </a:r>
            <a:r>
              <a:rPr lang="en-US" sz="727" dirty="0">
                <a:solidFill>
                  <a:srgbClr val="00D9FF"/>
                </a:solidFill>
              </a:rPr>
              <a:t> → </a:t>
            </a:r>
            <a:r>
              <a:rPr lang="en-US" sz="727" dirty="0">
                <a:solidFill>
                  <a:srgbClr val="FFFFFF"/>
                </a:solidFill>
              </a:rPr>
              <a:t>Red</a:t>
            </a:r>
            <a:r>
              <a:rPr lang="en-US" sz="683" b="1" dirty="0">
                <a:solidFill>
                  <a:srgbClr val="FF6B9D"/>
                </a:solidFill>
              </a:rPr>
              <a:t>(3/4)</a:t>
            </a:r>
            <a:r>
              <a:rPr lang="en-US" sz="727" dirty="0">
                <a:solidFill>
                  <a:srgbClr val="00D9FF"/>
                </a:solidFill>
              </a:rPr>
              <a:t> | </a:t>
            </a:r>
            <a:r>
              <a:rPr lang="en-US" sz="727" dirty="0">
                <a:solidFill>
                  <a:srgbClr val="FFFFFF"/>
                </a:solidFill>
              </a:rPr>
              <a:t>Blue</a:t>
            </a:r>
            <a:r>
              <a:rPr lang="en-US" sz="683" b="1" dirty="0">
                <a:solidFill>
                  <a:srgbClr val="FF6B9D"/>
                </a:solidFill>
              </a:rPr>
              <a:t>(1/4)</a:t>
            </a:r>
            <a:r>
              <a:rPr lang="en-US" sz="727" dirty="0">
                <a:solidFill>
                  <a:srgbClr val="00D9FF"/>
                </a:solidFill>
              </a:rPr>
              <a:t>
Outcomes: R-R </a:t>
            </a:r>
            <a:r>
              <a:rPr lang="en-US" sz="683" b="1" dirty="0">
                <a:solidFill>
                  <a:srgbClr val="FF6B9D"/>
                </a:solidFill>
              </a:rPr>
              <a:t>6/20</a:t>
            </a:r>
            <a:r>
              <a:rPr lang="en-US" sz="727" dirty="0">
                <a:solidFill>
                  <a:srgbClr val="00D9FF"/>
                </a:solidFill>
              </a:rPr>
              <a:t>; R-B </a:t>
            </a:r>
            <a:r>
              <a:rPr lang="en-US" sz="683" b="1" dirty="0">
                <a:solidFill>
                  <a:srgbClr val="FF6B9D"/>
                </a:solidFill>
              </a:rPr>
              <a:t>6/20</a:t>
            </a:r>
            <a:r>
              <a:rPr lang="en-US" sz="727" dirty="0">
                <a:solidFill>
                  <a:srgbClr val="00D9FF"/>
                </a:solidFill>
              </a:rPr>
              <a:t>; B-R </a:t>
            </a:r>
            <a:r>
              <a:rPr lang="en-US" sz="683" b="1" dirty="0">
                <a:solidFill>
                  <a:srgbClr val="FF6B9D"/>
                </a:solidFill>
              </a:rPr>
              <a:t>6/20</a:t>
            </a:r>
            <a:r>
              <a:rPr lang="en-US" sz="727" dirty="0">
                <a:solidFill>
                  <a:srgbClr val="00D9FF"/>
                </a:solidFill>
              </a:rPr>
              <a:t>; B-B </a:t>
            </a:r>
            <a:r>
              <a:rPr lang="en-US" sz="683" b="1" dirty="0">
                <a:solidFill>
                  <a:srgbClr val="FF6B9D"/>
                </a:solidFill>
              </a:rPr>
              <a:t>2/20</a:t>
            </a:r>
            <a:endParaRPr lang="en-US" sz="727" dirty="0"/>
          </a:p>
        </p:txBody>
      </p:sp>
      <p:sp>
        <p:nvSpPr>
          <p:cNvPr id="13" name="Shape 9"/>
          <p:cNvSpPr/>
          <p:nvPr/>
        </p:nvSpPr>
        <p:spPr>
          <a:xfrm>
            <a:off x="500063" y="3213515"/>
            <a:ext cx="3821906" cy="533995"/>
          </a:xfrm>
          <a:prstGeom prst="rect">
            <a:avLst/>
          </a:prstGeom>
          <a:solidFill>
            <a:srgbClr val="FFD73D">
              <a:alpha val="10000"/>
            </a:srgbClr>
          </a:solidFill>
          <a:ln/>
        </p:spPr>
        <p:txBody>
          <a:bodyPr/>
          <a:lstStyle/>
          <a:p>
            <a:endParaRPr lang="en-US"/>
          </a:p>
        </p:txBody>
      </p:sp>
      <p:sp>
        <p:nvSpPr>
          <p:cNvPr id="14" name="Text 10"/>
          <p:cNvSpPr/>
          <p:nvPr/>
        </p:nvSpPr>
        <p:spPr>
          <a:xfrm>
            <a:off x="614363" y="3270665"/>
            <a:ext cx="3593306" cy="166092"/>
          </a:xfrm>
          <a:prstGeom prst="rect">
            <a:avLst/>
          </a:prstGeom>
          <a:noFill/>
          <a:ln/>
        </p:spPr>
        <p:txBody>
          <a:bodyPr wrap="none" lIns="0" tIns="0" rIns="0" bIns="0" rtlCol="0" anchor="t">
            <a:spAutoFit/>
          </a:bodyPr>
          <a:lstStyle/>
          <a:p>
            <a:pPr marL="0" indent="0" algn="l">
              <a:lnSpc>
                <a:spcPts val="1100"/>
              </a:lnSpc>
              <a:buNone/>
            </a:pPr>
            <a:r>
              <a:rPr lang="en-US" sz="834" b="1" dirty="0">
                <a:solidFill>
                  <a:srgbClr val="FFD93D"/>
                </a:solidFill>
              </a:rPr>
              <a:t>Calculations:</a:t>
            </a:r>
            <a:endParaRPr lang="en-US" sz="834" dirty="0"/>
          </a:p>
        </p:txBody>
      </p:sp>
      <p:sp>
        <p:nvSpPr>
          <p:cNvPr id="15" name="Text 11"/>
          <p:cNvSpPr/>
          <p:nvPr/>
        </p:nvSpPr>
        <p:spPr>
          <a:xfrm>
            <a:off x="614363" y="3479620"/>
            <a:ext cx="3593306" cy="267891"/>
          </a:xfrm>
          <a:prstGeom prst="rect">
            <a:avLst/>
          </a:prstGeom>
          <a:noFill/>
          <a:ln/>
        </p:spPr>
        <p:txBody>
          <a:bodyPr wrap="square" lIns="0" tIns="0" rIns="0" bIns="0" rtlCol="0" anchor="t">
            <a:spAutoFit/>
          </a:bodyPr>
          <a:lstStyle/>
          <a:p>
            <a:pPr marL="0" indent="0" algn="l">
              <a:lnSpc>
                <a:spcPts val="1100"/>
              </a:lnSpc>
              <a:buNone/>
            </a:pPr>
            <a:r>
              <a:rPr lang="en-US" sz="780" dirty="0">
                <a:solidFill>
                  <a:srgbClr val="FFFFFF"/>
                </a:solidFill>
              </a:rPr>
              <a:t>(a) P(R-R) = (3/5)×(2/4) = 3/10 (b) P(one red, one blue) = (3/5)×(2/4) + (2/5)×(3/4) = 3/5</a:t>
            </a:r>
            <a:endParaRPr lang="en-US" sz="780" dirty="0"/>
          </a:p>
        </p:txBody>
      </p:sp>
      <p:sp>
        <p:nvSpPr>
          <p:cNvPr id="16" name="Shape 12"/>
          <p:cNvSpPr/>
          <p:nvPr/>
        </p:nvSpPr>
        <p:spPr>
          <a:xfrm>
            <a:off x="500063" y="3818948"/>
            <a:ext cx="3821906" cy="232172"/>
          </a:xfrm>
          <a:prstGeom prst="rect">
            <a:avLst/>
          </a:prstGeom>
          <a:solidFill>
            <a:srgbClr val="FF6B9D">
              <a:alpha val="15000"/>
            </a:srgbClr>
          </a:solidFill>
          <a:ln/>
        </p:spPr>
        <p:txBody>
          <a:bodyPr/>
          <a:lstStyle/>
          <a:p>
            <a:endParaRPr lang="en-US"/>
          </a:p>
        </p:txBody>
      </p:sp>
      <p:sp>
        <p:nvSpPr>
          <p:cNvPr id="17" name="Text 13"/>
          <p:cNvSpPr/>
          <p:nvPr/>
        </p:nvSpPr>
        <p:spPr>
          <a:xfrm>
            <a:off x="614363" y="3876098"/>
            <a:ext cx="3593306" cy="175022"/>
          </a:xfrm>
          <a:prstGeom prst="rect">
            <a:avLst/>
          </a:prstGeom>
          <a:noFill/>
          <a:ln/>
        </p:spPr>
        <p:txBody>
          <a:bodyPr wrap="none" lIns="0" tIns="0" rIns="0" bIns="0" rtlCol="0" anchor="t">
            <a:spAutoFit/>
          </a:bodyPr>
          <a:lstStyle/>
          <a:p>
            <a:pPr marL="0" indent="0" algn="ctr">
              <a:lnSpc>
                <a:spcPts val="1200"/>
              </a:lnSpc>
              <a:buNone/>
            </a:pPr>
            <a:r>
              <a:rPr lang="en-US" sz="885" b="1" dirty="0">
                <a:solidFill>
                  <a:srgbClr val="FF6B9D"/>
                </a:solidFill>
              </a:rPr>
              <a:t>Answer: (a) 3/10 = 0.30 | (b) 3/5 = 0.60</a:t>
            </a:r>
            <a:endParaRPr lang="en-US" sz="885" dirty="0"/>
          </a:p>
        </p:txBody>
      </p:sp>
      <p:sp>
        <p:nvSpPr>
          <p:cNvPr id="18" name="Shape 14"/>
          <p:cNvSpPr/>
          <p:nvPr/>
        </p:nvSpPr>
        <p:spPr>
          <a:xfrm>
            <a:off x="4679156" y="1234082"/>
            <a:ext cx="4107656" cy="2926087"/>
          </a:xfrm>
          <a:prstGeom prst="rect">
            <a:avLst/>
          </a:prstGeom>
          <a:solidFill>
            <a:srgbClr val="FFFFFF">
              <a:alpha val="5000"/>
            </a:srgbClr>
          </a:solidFill>
          <a:ln/>
        </p:spPr>
        <p:txBody>
          <a:bodyPr/>
          <a:lstStyle/>
          <a:p>
            <a:endParaRPr lang="en-US"/>
          </a:p>
        </p:txBody>
      </p:sp>
      <p:sp>
        <p:nvSpPr>
          <p:cNvPr id="19" name="Text 15"/>
          <p:cNvSpPr/>
          <p:nvPr/>
        </p:nvSpPr>
        <p:spPr>
          <a:xfrm>
            <a:off x="4822031" y="1291233"/>
            <a:ext cx="3821906" cy="350044"/>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FF6B9D"/>
                </a:solidFill>
              </a:rPr>
              <a:t>02</a:t>
            </a:r>
            <a:endParaRPr lang="en-US" sz="1808" dirty="0"/>
          </a:p>
        </p:txBody>
      </p:sp>
      <p:sp>
        <p:nvSpPr>
          <p:cNvPr id="20" name="Text 16"/>
          <p:cNvSpPr/>
          <p:nvPr/>
        </p:nvSpPr>
        <p:spPr>
          <a:xfrm>
            <a:off x="4822031" y="1684139"/>
            <a:ext cx="3821906" cy="214313"/>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00D9FF"/>
                </a:solidFill>
              </a:rPr>
              <a:t>Coin Toss and Die Roll Combination</a:t>
            </a:r>
            <a:endParaRPr lang="en-US" sz="1090" dirty="0"/>
          </a:p>
        </p:txBody>
      </p:sp>
      <p:sp>
        <p:nvSpPr>
          <p:cNvPr id="21" name="Text 17"/>
          <p:cNvSpPr/>
          <p:nvPr/>
        </p:nvSpPr>
        <p:spPr>
          <a:xfrm>
            <a:off x="4822031" y="1955602"/>
            <a:ext cx="3821906" cy="331459"/>
          </a:xfrm>
          <a:prstGeom prst="rect">
            <a:avLst/>
          </a:prstGeom>
          <a:noFill/>
          <a:ln/>
        </p:spPr>
        <p:txBody>
          <a:bodyPr wrap="square" lIns="0" tIns="0" rIns="0" bIns="0" rtlCol="0" anchor="t">
            <a:spAutoFit/>
          </a:bodyPr>
          <a:lstStyle/>
          <a:p>
            <a:pPr marL="0" indent="0" algn="l">
              <a:lnSpc>
                <a:spcPts val="1300"/>
              </a:lnSpc>
              <a:buNone/>
            </a:pPr>
            <a:r>
              <a:rPr lang="en-US" sz="784" b="1" dirty="0">
                <a:solidFill>
                  <a:srgbClr val="FFFFFF"/>
                </a:solidFill>
              </a:rPr>
              <a:t>Problem:</a:t>
            </a:r>
            <a:r>
              <a:rPr lang="en-US" sz="834" dirty="0">
                <a:solidFill>
                  <a:srgbClr val="FFFFFF"/>
                </a:solidFill>
              </a:rPr>
              <a:t> Flip a fair coin. If heads, roll a die; if tails, flip again. Find P(H and 6) and P(two tails).</a:t>
            </a:r>
            <a:endParaRPr lang="en-US" sz="784" dirty="0"/>
          </a:p>
        </p:txBody>
      </p:sp>
      <p:sp>
        <p:nvSpPr>
          <p:cNvPr id="22" name="Text 18"/>
          <p:cNvSpPr/>
          <p:nvPr/>
        </p:nvSpPr>
        <p:spPr>
          <a:xfrm>
            <a:off x="4822031" y="2372785"/>
            <a:ext cx="3821906" cy="175022"/>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FFD93D"/>
                </a:solidFill>
              </a:rPr>
              <a:t>Tree Diagram:</a:t>
            </a:r>
            <a:endParaRPr lang="en-US" sz="885" dirty="0"/>
          </a:p>
        </p:txBody>
      </p:sp>
      <p:sp>
        <p:nvSpPr>
          <p:cNvPr id="23" name="Shape 19"/>
          <p:cNvSpPr/>
          <p:nvPr/>
        </p:nvSpPr>
        <p:spPr>
          <a:xfrm>
            <a:off x="4822031" y="2604957"/>
            <a:ext cx="3821906" cy="537121"/>
          </a:xfrm>
          <a:prstGeom prst="rect">
            <a:avLst/>
          </a:prstGeom>
          <a:solidFill>
            <a:srgbClr val="000000">
              <a:alpha val="30000"/>
            </a:srgbClr>
          </a:solidFill>
          <a:ln/>
        </p:spPr>
        <p:txBody>
          <a:bodyPr/>
          <a:lstStyle/>
          <a:p>
            <a:endParaRPr lang="en-US"/>
          </a:p>
        </p:txBody>
      </p:sp>
      <p:sp>
        <p:nvSpPr>
          <p:cNvPr id="24" name="Text 20"/>
          <p:cNvSpPr/>
          <p:nvPr/>
        </p:nvSpPr>
        <p:spPr>
          <a:xfrm>
            <a:off x="4936331" y="2662107"/>
            <a:ext cx="3593306" cy="479971"/>
          </a:xfrm>
          <a:prstGeom prst="rect">
            <a:avLst/>
          </a:prstGeom>
          <a:noFill/>
          <a:ln/>
        </p:spPr>
        <p:txBody>
          <a:bodyPr wrap="square" lIns="0" tIns="0" rIns="0" bIns="0" rtlCol="0" anchor="t">
            <a:spAutoFit/>
          </a:bodyPr>
          <a:lstStyle/>
          <a:p>
            <a:pPr marL="0" indent="0" algn="l">
              <a:lnSpc>
                <a:spcPts val="900"/>
              </a:lnSpc>
              <a:buNone/>
            </a:pPr>
            <a:r>
              <a:rPr lang="en-US" sz="727" dirty="0">
                <a:solidFill>
                  <a:srgbClr val="00D9FF"/>
                </a:solidFill>
              </a:rPr>
              <a:t>Start → </a:t>
            </a:r>
            <a:r>
              <a:rPr lang="en-US" sz="727" dirty="0">
                <a:solidFill>
                  <a:srgbClr val="FFFFFF"/>
                </a:solidFill>
              </a:rPr>
              <a:t>Heads (1/2)</a:t>
            </a:r>
            <a:r>
              <a:rPr lang="en-US" sz="727" dirty="0">
                <a:solidFill>
                  <a:srgbClr val="00D9FF"/>
                </a:solidFill>
              </a:rPr>
              <a:t> → Die: </a:t>
            </a:r>
            <a:r>
              <a:rPr lang="en-US" sz="727" dirty="0">
                <a:solidFill>
                  <a:srgbClr val="FFFFFF"/>
                </a:solidFill>
              </a:rPr>
              <a:t>1..6</a:t>
            </a:r>
            <a:r>
              <a:rPr lang="en-US" sz="727" dirty="0">
                <a:solidFill>
                  <a:srgbClr val="00D9FF"/>
                </a:solidFill>
              </a:rPr>
              <a:t> (</a:t>
            </a:r>
            <a:r>
              <a:rPr lang="en-US" sz="683" b="1" dirty="0">
                <a:solidFill>
                  <a:srgbClr val="FF6B9D"/>
                </a:solidFill>
              </a:rPr>
              <a:t>each 1/6</a:t>
            </a:r>
            <a:r>
              <a:rPr lang="en-US" sz="727" dirty="0">
                <a:solidFill>
                  <a:srgbClr val="00D9FF"/>
                </a:solidFill>
              </a:rPr>
              <a:t>)
      → </a:t>
            </a:r>
            <a:r>
              <a:rPr lang="en-US" sz="727" dirty="0">
                <a:solidFill>
                  <a:srgbClr val="FFFFFF"/>
                </a:solidFill>
              </a:rPr>
              <a:t>Tails (1/2)</a:t>
            </a:r>
            <a:r>
              <a:rPr lang="en-US" sz="727" dirty="0">
                <a:solidFill>
                  <a:srgbClr val="00D9FF"/>
                </a:solidFill>
              </a:rPr>
              <a:t> → Flip: </a:t>
            </a:r>
            <a:r>
              <a:rPr lang="en-US" sz="727" dirty="0">
                <a:solidFill>
                  <a:srgbClr val="FFFFFF"/>
                </a:solidFill>
              </a:rPr>
              <a:t>H/T</a:t>
            </a:r>
            <a:r>
              <a:rPr lang="en-US" sz="727" dirty="0">
                <a:solidFill>
                  <a:srgbClr val="00D9FF"/>
                </a:solidFill>
              </a:rPr>
              <a:t> (</a:t>
            </a:r>
            <a:r>
              <a:rPr lang="en-US" sz="683" b="1" dirty="0">
                <a:solidFill>
                  <a:srgbClr val="FF6B9D"/>
                </a:solidFill>
              </a:rPr>
              <a:t>1/2 each</a:t>
            </a:r>
            <a:r>
              <a:rPr lang="en-US" sz="727" dirty="0">
                <a:solidFill>
                  <a:srgbClr val="00D9FF"/>
                </a:solidFill>
              </a:rPr>
              <a:t>)
Key Paths: H→6 </a:t>
            </a:r>
            <a:r>
              <a:rPr lang="en-US" sz="683" b="1" dirty="0">
                <a:solidFill>
                  <a:srgbClr val="FF6B9D"/>
                </a:solidFill>
              </a:rPr>
              <a:t>1/12</a:t>
            </a:r>
            <a:r>
              <a:rPr lang="en-US" sz="727" dirty="0">
                <a:solidFill>
                  <a:srgbClr val="00D9FF"/>
                </a:solidFill>
              </a:rPr>
              <a:t>; T→T </a:t>
            </a:r>
            <a:r>
              <a:rPr lang="en-US" sz="683" b="1" dirty="0">
                <a:solidFill>
                  <a:srgbClr val="FF6B9D"/>
                </a:solidFill>
              </a:rPr>
              <a:t>1/4</a:t>
            </a:r>
            <a:endParaRPr lang="en-US" sz="727" dirty="0"/>
          </a:p>
        </p:txBody>
      </p:sp>
      <p:sp>
        <p:nvSpPr>
          <p:cNvPr id="25" name="Shape 21"/>
          <p:cNvSpPr/>
          <p:nvPr/>
        </p:nvSpPr>
        <p:spPr>
          <a:xfrm>
            <a:off x="4822031" y="3213514"/>
            <a:ext cx="3821906" cy="533995"/>
          </a:xfrm>
          <a:prstGeom prst="rect">
            <a:avLst/>
          </a:prstGeom>
          <a:solidFill>
            <a:srgbClr val="FFD73D">
              <a:alpha val="10000"/>
            </a:srgbClr>
          </a:solidFill>
          <a:ln/>
        </p:spPr>
        <p:txBody>
          <a:bodyPr/>
          <a:lstStyle/>
          <a:p>
            <a:endParaRPr lang="en-US"/>
          </a:p>
        </p:txBody>
      </p:sp>
      <p:sp>
        <p:nvSpPr>
          <p:cNvPr id="26" name="Text 22"/>
          <p:cNvSpPr/>
          <p:nvPr/>
        </p:nvSpPr>
        <p:spPr>
          <a:xfrm>
            <a:off x="4936331" y="3270665"/>
            <a:ext cx="3593306" cy="166092"/>
          </a:xfrm>
          <a:prstGeom prst="rect">
            <a:avLst/>
          </a:prstGeom>
          <a:noFill/>
          <a:ln/>
        </p:spPr>
        <p:txBody>
          <a:bodyPr wrap="none" lIns="0" tIns="0" rIns="0" bIns="0" rtlCol="0" anchor="t">
            <a:spAutoFit/>
          </a:bodyPr>
          <a:lstStyle/>
          <a:p>
            <a:pPr marL="0" indent="0" algn="l">
              <a:lnSpc>
                <a:spcPts val="1100"/>
              </a:lnSpc>
              <a:buNone/>
            </a:pPr>
            <a:r>
              <a:rPr lang="en-US" sz="834" b="1" dirty="0">
                <a:solidFill>
                  <a:srgbClr val="FFD93D"/>
                </a:solidFill>
              </a:rPr>
              <a:t>Calculations:</a:t>
            </a:r>
            <a:endParaRPr lang="en-US" sz="834" dirty="0"/>
          </a:p>
        </p:txBody>
      </p:sp>
      <p:sp>
        <p:nvSpPr>
          <p:cNvPr id="27" name="Text 23"/>
          <p:cNvSpPr/>
          <p:nvPr/>
        </p:nvSpPr>
        <p:spPr>
          <a:xfrm>
            <a:off x="4936331" y="3479620"/>
            <a:ext cx="3593306" cy="133945"/>
          </a:xfrm>
          <a:prstGeom prst="rect">
            <a:avLst/>
          </a:prstGeom>
          <a:noFill/>
          <a:ln/>
        </p:spPr>
        <p:txBody>
          <a:bodyPr wrap="none" lIns="0" tIns="0" rIns="0" bIns="0" rtlCol="0" anchor="t">
            <a:spAutoFit/>
          </a:bodyPr>
          <a:lstStyle/>
          <a:p>
            <a:pPr marL="0" indent="0" algn="l">
              <a:lnSpc>
                <a:spcPts val="1100"/>
              </a:lnSpc>
              <a:buNone/>
            </a:pPr>
            <a:r>
              <a:rPr lang="en-US" sz="780" dirty="0">
                <a:solidFill>
                  <a:srgbClr val="FFFFFF"/>
                </a:solidFill>
              </a:rPr>
              <a:t>(a) P(H and 6) = (1/2)×(1/6) = 1/12 (b) P(two tails) = (1/2)×(1/2) = 1/4</a:t>
            </a:r>
            <a:endParaRPr lang="en-US" sz="780" dirty="0"/>
          </a:p>
        </p:txBody>
      </p:sp>
      <p:sp>
        <p:nvSpPr>
          <p:cNvPr id="28" name="Shape 24"/>
          <p:cNvSpPr/>
          <p:nvPr/>
        </p:nvSpPr>
        <p:spPr>
          <a:xfrm>
            <a:off x="4822031" y="3803663"/>
            <a:ext cx="3821906" cy="246459"/>
          </a:xfrm>
          <a:prstGeom prst="rect">
            <a:avLst/>
          </a:prstGeom>
          <a:solidFill>
            <a:srgbClr val="FF6B9D">
              <a:alpha val="15000"/>
            </a:srgbClr>
          </a:solidFill>
          <a:ln/>
        </p:spPr>
        <p:txBody>
          <a:bodyPr/>
          <a:lstStyle/>
          <a:p>
            <a:endParaRPr lang="en-US"/>
          </a:p>
        </p:txBody>
      </p:sp>
      <p:sp>
        <p:nvSpPr>
          <p:cNvPr id="29" name="Text 25"/>
          <p:cNvSpPr/>
          <p:nvPr/>
        </p:nvSpPr>
        <p:spPr>
          <a:xfrm>
            <a:off x="4936331" y="3860813"/>
            <a:ext cx="3593306" cy="189309"/>
          </a:xfrm>
          <a:prstGeom prst="rect">
            <a:avLst/>
          </a:prstGeom>
          <a:noFill/>
          <a:ln/>
        </p:spPr>
        <p:txBody>
          <a:bodyPr wrap="none" lIns="0" tIns="0" rIns="0" bIns="0" rtlCol="0" anchor="t">
            <a:spAutoFit/>
          </a:bodyPr>
          <a:lstStyle/>
          <a:p>
            <a:pPr marL="0" indent="0" algn="ctr">
              <a:lnSpc>
                <a:spcPts val="1200"/>
              </a:lnSpc>
              <a:buNone/>
            </a:pPr>
            <a:r>
              <a:rPr lang="en-US" sz="885" b="1" dirty="0">
                <a:solidFill>
                  <a:srgbClr val="FF6B9D"/>
                </a:solidFill>
              </a:rPr>
              <a:t>Answer: (a) 1/12 ≈ 0.083 | (b) 1/4 = 0.25</a:t>
            </a:r>
            <a:endParaRPr lang="en-US" sz="885"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0" y="357188"/>
            <a:ext cx="9144000" cy="466130"/>
          </a:xfrm>
          <a:prstGeom prst="rect">
            <a:avLst/>
          </a:prstGeom>
          <a:noFill/>
          <a:ln/>
        </p:spPr>
        <p:txBody>
          <a:bodyPr wrap="none" lIns="0" tIns="0" rIns="0" bIns="0" rtlCol="0" anchor="t">
            <a:spAutoFit/>
          </a:bodyPr>
          <a:lstStyle/>
          <a:p>
            <a:pPr marL="0" indent="0" algn="ctr">
              <a:lnSpc>
                <a:spcPts val="3200"/>
              </a:lnSpc>
              <a:buNone/>
            </a:pPr>
            <a:r>
              <a:rPr lang="en-US" sz="2436" b="1" dirty="0">
                <a:solidFill>
                  <a:srgbClr val="00D9FF"/>
                </a:solidFill>
              </a:rPr>
              <a:t>Law of Total Probability</a:t>
            </a:r>
            <a:endParaRPr lang="en-US" sz="2436" dirty="0"/>
          </a:p>
        </p:txBody>
      </p:sp>
      <p:sp>
        <p:nvSpPr>
          <p:cNvPr id="5" name="Shape 1"/>
          <p:cNvSpPr/>
          <p:nvPr/>
        </p:nvSpPr>
        <p:spPr>
          <a:xfrm>
            <a:off x="500063" y="894755"/>
            <a:ext cx="3893344" cy="987958"/>
          </a:xfrm>
          <a:prstGeom prst="rect">
            <a:avLst/>
          </a:prstGeom>
          <a:solidFill>
            <a:srgbClr val="FF6B9D">
              <a:alpha val="15000"/>
            </a:srgbClr>
          </a:solidFill>
          <a:ln/>
        </p:spPr>
        <p:txBody>
          <a:bodyPr/>
          <a:lstStyle/>
          <a:p>
            <a:endParaRPr lang="en-US"/>
          </a:p>
        </p:txBody>
      </p:sp>
      <p:sp>
        <p:nvSpPr>
          <p:cNvPr id="6" name="Text 2"/>
          <p:cNvSpPr/>
          <p:nvPr/>
        </p:nvSpPr>
        <p:spPr>
          <a:xfrm>
            <a:off x="678656" y="937617"/>
            <a:ext cx="3536156"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FF6B9D"/>
                </a:solidFill>
              </a:rPr>
              <a:t>Theorem Statement</a:t>
            </a:r>
            <a:endParaRPr lang="en-US" sz="1193" dirty="0"/>
          </a:p>
        </p:txBody>
      </p:sp>
      <p:sp>
        <p:nvSpPr>
          <p:cNvPr id="7" name="Text 3"/>
          <p:cNvSpPr/>
          <p:nvPr/>
        </p:nvSpPr>
        <p:spPr>
          <a:xfrm>
            <a:off x="678656" y="1214438"/>
            <a:ext cx="3536156" cy="352165"/>
          </a:xfrm>
          <a:prstGeom prst="rect">
            <a:avLst/>
          </a:prstGeom>
          <a:noFill/>
          <a:ln/>
        </p:spPr>
        <p:txBody>
          <a:bodyPr wrap="square" lIns="0" tIns="0" rIns="0" bIns="0" rtlCol="0" anchor="t">
            <a:spAutoFit/>
          </a:bodyPr>
          <a:lstStyle/>
          <a:p>
            <a:pPr marL="0" indent="0" algn="l">
              <a:lnSpc>
                <a:spcPts val="1400"/>
              </a:lnSpc>
              <a:buNone/>
            </a:pPr>
            <a:r>
              <a:rPr lang="en-US" sz="888" dirty="0">
                <a:solidFill>
                  <a:srgbClr val="FFFFFF"/>
                </a:solidFill>
              </a:rPr>
              <a:t>If {B₁, B₂, ..., Bₙ} is a </a:t>
            </a:r>
            <a:r>
              <a:rPr lang="en-US" sz="834" b="1" dirty="0">
                <a:solidFill>
                  <a:srgbClr val="FFFFFF"/>
                </a:solidFill>
              </a:rPr>
              <a:t>partition</a:t>
            </a:r>
            <a:r>
              <a:rPr lang="en-US" sz="888" dirty="0">
                <a:solidFill>
                  <a:srgbClr val="FFFFFF"/>
                </a:solidFill>
              </a:rPr>
              <a:t> of the sample space S, then for any event A:</a:t>
            </a:r>
            <a:endParaRPr lang="en-US" sz="888" dirty="0"/>
          </a:p>
        </p:txBody>
      </p:sp>
      <p:sp>
        <p:nvSpPr>
          <p:cNvPr id="8" name="Text 4"/>
          <p:cNvSpPr/>
          <p:nvPr/>
        </p:nvSpPr>
        <p:spPr>
          <a:xfrm>
            <a:off x="678656" y="1609465"/>
            <a:ext cx="3536156" cy="273248"/>
          </a:xfrm>
          <a:prstGeom prst="rect">
            <a:avLst/>
          </a:prstGeom>
          <a:noFill/>
          <a:ln/>
        </p:spPr>
        <p:txBody>
          <a:bodyPr wrap="none" lIns="0" tIns="0" rIns="0" bIns="0" rtlCol="0" anchor="t">
            <a:spAutoFit/>
          </a:bodyPr>
          <a:lstStyle/>
          <a:p>
            <a:pPr marL="0" indent="0" algn="ctr">
              <a:lnSpc>
                <a:spcPts val="1900"/>
              </a:lnSpc>
              <a:buNone/>
            </a:pPr>
            <a:r>
              <a:rPr lang="en-US" sz="1397" b="1" dirty="0">
                <a:solidFill>
                  <a:srgbClr val="FF6B9D"/>
                </a:solidFill>
              </a:rPr>
              <a:t>P(A) = Σ P(A|Bᵢ) × P(Bᵢ)</a:t>
            </a:r>
            <a:endParaRPr lang="en-US" sz="1397" dirty="0"/>
          </a:p>
        </p:txBody>
      </p:sp>
      <p:sp>
        <p:nvSpPr>
          <p:cNvPr id="9" name="Shape 5"/>
          <p:cNvSpPr/>
          <p:nvPr/>
        </p:nvSpPr>
        <p:spPr>
          <a:xfrm>
            <a:off x="500063" y="1968438"/>
            <a:ext cx="3893344" cy="1533367"/>
          </a:xfrm>
          <a:prstGeom prst="rect">
            <a:avLst/>
          </a:prstGeom>
          <a:solidFill>
            <a:srgbClr val="00D9FF">
              <a:alpha val="10000"/>
            </a:srgbClr>
          </a:solidFill>
          <a:ln/>
        </p:spPr>
        <p:txBody>
          <a:bodyPr/>
          <a:lstStyle/>
          <a:p>
            <a:endParaRPr lang="en-US"/>
          </a:p>
        </p:txBody>
      </p:sp>
      <p:sp>
        <p:nvSpPr>
          <p:cNvPr id="10" name="Text 6"/>
          <p:cNvSpPr/>
          <p:nvPr/>
        </p:nvSpPr>
        <p:spPr>
          <a:xfrm>
            <a:off x="657225" y="2011300"/>
            <a:ext cx="3579019"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D9FF"/>
                </a:solidFill>
              </a:rPr>
              <a:t>What is a Partition?</a:t>
            </a:r>
            <a:endParaRPr lang="en-US" sz="987" dirty="0"/>
          </a:p>
        </p:txBody>
      </p:sp>
      <p:sp>
        <p:nvSpPr>
          <p:cNvPr id="11" name="Text 7"/>
          <p:cNvSpPr/>
          <p:nvPr/>
        </p:nvSpPr>
        <p:spPr>
          <a:xfrm>
            <a:off x="657225" y="2248830"/>
            <a:ext cx="3579019" cy="331459"/>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FFFFFF"/>
                </a:solidFill>
              </a:rPr>
              <a:t>A collection of events {B₁, B₂, ..., Bₙ} forms a </a:t>
            </a:r>
            <a:r>
              <a:rPr lang="en-US" sz="784" b="1" dirty="0">
                <a:solidFill>
                  <a:srgbClr val="FFFFFF"/>
                </a:solidFill>
              </a:rPr>
              <a:t>partition</a:t>
            </a:r>
            <a:r>
              <a:rPr lang="en-US" sz="834" dirty="0">
                <a:solidFill>
                  <a:srgbClr val="FFFFFF"/>
                </a:solidFill>
              </a:rPr>
              <a:t> of the sample space if:</a:t>
            </a:r>
            <a:endParaRPr lang="en-US" sz="834" dirty="0"/>
          </a:p>
        </p:txBody>
      </p:sp>
      <p:sp>
        <p:nvSpPr>
          <p:cNvPr id="12" name="Text 8"/>
          <p:cNvSpPr/>
          <p:nvPr/>
        </p:nvSpPr>
        <p:spPr>
          <a:xfrm>
            <a:off x="835819" y="2626723"/>
            <a:ext cx="1062884" cy="155377"/>
          </a:xfrm>
          <a:prstGeom prst="rect">
            <a:avLst/>
          </a:prstGeom>
          <a:noFill/>
          <a:ln/>
        </p:spPr>
        <p:txBody>
          <a:bodyPr wrap="none" lIns="0" tIns="0" rIns="0" bIns="0" rtlCol="0" anchor="t">
            <a:spAutoFit/>
          </a:bodyPr>
          <a:lstStyle/>
          <a:p>
            <a:pPr marL="0" indent="0" algn="l">
              <a:lnSpc>
                <a:spcPts val="1300"/>
              </a:lnSpc>
              <a:buNone/>
            </a:pPr>
            <a:r>
              <a:rPr lang="en-US" sz="784" b="1" dirty="0">
                <a:solidFill>
                  <a:srgbClr val="FFD93D"/>
                </a:solidFill>
              </a:rPr>
              <a:t>Mutually Exclusive:</a:t>
            </a:r>
            <a:endParaRPr lang="en-US" sz="784" dirty="0"/>
          </a:p>
        </p:txBody>
      </p:sp>
      <p:sp>
        <p:nvSpPr>
          <p:cNvPr id="13" name="Text 9"/>
          <p:cNvSpPr/>
          <p:nvPr/>
        </p:nvSpPr>
        <p:spPr>
          <a:xfrm>
            <a:off x="835819" y="2626723"/>
            <a:ext cx="1548436" cy="321106"/>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FFFFFF"/>
                </a:solidFill>
              </a:rPr>
              <a:t>Bᵢ ∩ Bⱼ = ∅ for all i ≠ j</a:t>
            </a:r>
            <a:endParaRPr lang="en-US" sz="834" dirty="0"/>
          </a:p>
        </p:txBody>
      </p:sp>
      <p:sp>
        <p:nvSpPr>
          <p:cNvPr id="14" name="Text 10"/>
          <p:cNvSpPr/>
          <p:nvPr/>
        </p:nvSpPr>
        <p:spPr>
          <a:xfrm>
            <a:off x="2600325" y="2626723"/>
            <a:ext cx="637691" cy="155377"/>
          </a:xfrm>
          <a:prstGeom prst="rect">
            <a:avLst/>
          </a:prstGeom>
          <a:noFill/>
          <a:ln/>
        </p:spPr>
        <p:txBody>
          <a:bodyPr wrap="none" lIns="0" tIns="0" rIns="0" bIns="0" rtlCol="0" anchor="t">
            <a:spAutoFit/>
          </a:bodyPr>
          <a:lstStyle/>
          <a:p>
            <a:pPr marL="0" indent="0" algn="l">
              <a:lnSpc>
                <a:spcPts val="1300"/>
              </a:lnSpc>
              <a:buNone/>
            </a:pPr>
            <a:r>
              <a:rPr lang="en-US" sz="784" b="1" dirty="0">
                <a:solidFill>
                  <a:srgbClr val="FFD93D"/>
                </a:solidFill>
              </a:rPr>
              <a:t>Exhaustive:</a:t>
            </a:r>
            <a:endParaRPr lang="en-US" sz="784" dirty="0"/>
          </a:p>
        </p:txBody>
      </p:sp>
      <p:sp>
        <p:nvSpPr>
          <p:cNvPr id="15" name="Text 11"/>
          <p:cNvSpPr/>
          <p:nvPr/>
        </p:nvSpPr>
        <p:spPr>
          <a:xfrm>
            <a:off x="3246892" y="2640829"/>
            <a:ext cx="1629361" cy="321106"/>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FFFFFF"/>
                </a:solidFill>
              </a:rPr>
              <a:t>B₁ ∪ B₂ ∪ ... ∪ Bₙ = S</a:t>
            </a:r>
            <a:endParaRPr lang="en-US" sz="834" dirty="0"/>
          </a:p>
        </p:txBody>
      </p:sp>
      <p:sp>
        <p:nvSpPr>
          <p:cNvPr id="16" name="Text 12"/>
          <p:cNvSpPr/>
          <p:nvPr/>
        </p:nvSpPr>
        <p:spPr>
          <a:xfrm>
            <a:off x="2600325" y="2979613"/>
            <a:ext cx="659988" cy="155377"/>
          </a:xfrm>
          <a:prstGeom prst="rect">
            <a:avLst/>
          </a:prstGeom>
          <a:noFill/>
          <a:ln/>
        </p:spPr>
        <p:txBody>
          <a:bodyPr wrap="none" lIns="0" tIns="0" rIns="0" bIns="0" rtlCol="0" anchor="t">
            <a:spAutoFit/>
          </a:bodyPr>
          <a:lstStyle/>
          <a:p>
            <a:pPr marL="0" indent="0" algn="l">
              <a:lnSpc>
                <a:spcPts val="1300"/>
              </a:lnSpc>
              <a:buNone/>
            </a:pPr>
            <a:r>
              <a:rPr lang="en-US" sz="784" b="1" dirty="0">
                <a:solidFill>
                  <a:srgbClr val="FFD93D"/>
                </a:solidFill>
              </a:rPr>
              <a:t>Non-empty:</a:t>
            </a:r>
            <a:endParaRPr lang="en-US" sz="784" dirty="0"/>
          </a:p>
        </p:txBody>
      </p:sp>
      <p:sp>
        <p:nvSpPr>
          <p:cNvPr id="17" name="Text 13"/>
          <p:cNvSpPr/>
          <p:nvPr/>
        </p:nvSpPr>
        <p:spPr>
          <a:xfrm>
            <a:off x="3260313" y="2979613"/>
            <a:ext cx="848571" cy="155377"/>
          </a:xfrm>
          <a:prstGeom prst="rect">
            <a:avLst/>
          </a:prstGeom>
          <a:noFill/>
          <a:ln/>
        </p:spPr>
        <p:txBody>
          <a:bodyPr wrap="none" lIns="0" tIns="0" rIns="0" bIns="0" rtlCol="0" anchor="t">
            <a:spAutoFit/>
          </a:bodyPr>
          <a:lstStyle/>
          <a:p>
            <a:pPr marL="0" indent="0" algn="l">
              <a:lnSpc>
                <a:spcPts val="1300"/>
              </a:lnSpc>
              <a:buNone/>
            </a:pPr>
            <a:r>
              <a:rPr lang="en-US" sz="834" dirty="0">
                <a:solidFill>
                  <a:srgbClr val="FFFFFF"/>
                </a:solidFill>
              </a:rPr>
              <a:t>P(Bᵢ) &gt; 0 for all i</a:t>
            </a:r>
            <a:endParaRPr lang="en-US" sz="834" dirty="0"/>
          </a:p>
        </p:txBody>
      </p:sp>
      <p:sp>
        <p:nvSpPr>
          <p:cNvPr id="18" name="Text 14"/>
          <p:cNvSpPr/>
          <p:nvPr/>
        </p:nvSpPr>
        <p:spPr>
          <a:xfrm>
            <a:off x="657225" y="3170346"/>
            <a:ext cx="3579019" cy="331459"/>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FFFFFF"/>
                </a:solidFill>
              </a:rPr>
              <a:t>The events divide the sample space into </a:t>
            </a:r>
            <a:r>
              <a:rPr lang="en-US" sz="784" b="1" dirty="0">
                <a:solidFill>
                  <a:srgbClr val="FFFFFF"/>
                </a:solidFill>
              </a:rPr>
              <a:t>non-overlapping pieces</a:t>
            </a:r>
            <a:r>
              <a:rPr lang="en-US" sz="834" dirty="0">
                <a:solidFill>
                  <a:srgbClr val="FFFFFF"/>
                </a:solidFill>
              </a:rPr>
              <a:t> that together cover everything.</a:t>
            </a:r>
            <a:endParaRPr lang="en-US" sz="834" dirty="0"/>
          </a:p>
        </p:txBody>
      </p:sp>
      <p:sp>
        <p:nvSpPr>
          <p:cNvPr id="19" name="Shape 15"/>
          <p:cNvSpPr/>
          <p:nvPr/>
        </p:nvSpPr>
        <p:spPr>
          <a:xfrm>
            <a:off x="500063" y="3587530"/>
            <a:ext cx="3893344" cy="746522"/>
          </a:xfrm>
          <a:prstGeom prst="rect">
            <a:avLst/>
          </a:prstGeom>
          <a:solidFill>
            <a:srgbClr val="FFFFFF">
              <a:alpha val="5000"/>
            </a:srgbClr>
          </a:solidFill>
          <a:ln/>
        </p:spPr>
        <p:txBody>
          <a:bodyPr/>
          <a:lstStyle/>
          <a:p>
            <a:endParaRPr lang="en-US"/>
          </a:p>
        </p:txBody>
      </p:sp>
      <p:sp>
        <p:nvSpPr>
          <p:cNvPr id="20" name="Text 16"/>
          <p:cNvSpPr/>
          <p:nvPr/>
        </p:nvSpPr>
        <p:spPr>
          <a:xfrm>
            <a:off x="657225" y="3630392"/>
            <a:ext cx="3579019"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FFD93D"/>
                </a:solidFill>
              </a:rPr>
              <a:t>Why It Works (Proof Sketch)</a:t>
            </a:r>
            <a:endParaRPr lang="en-US" sz="987" dirty="0"/>
          </a:p>
        </p:txBody>
      </p:sp>
      <p:sp>
        <p:nvSpPr>
          <p:cNvPr id="21" name="Text 17"/>
          <p:cNvSpPr/>
          <p:nvPr/>
        </p:nvSpPr>
        <p:spPr>
          <a:xfrm>
            <a:off x="657225" y="3867922"/>
            <a:ext cx="3579019" cy="466130"/>
          </a:xfrm>
          <a:prstGeom prst="rect">
            <a:avLst/>
          </a:prstGeom>
          <a:noFill/>
          <a:ln/>
        </p:spPr>
        <p:txBody>
          <a:bodyPr wrap="square" lIns="0" tIns="0" rIns="0" bIns="0" rtlCol="0" anchor="t">
            <a:spAutoFit/>
          </a:bodyPr>
          <a:lstStyle/>
          <a:p>
            <a:pPr marL="0" indent="0" algn="l">
              <a:lnSpc>
                <a:spcPts val="1200"/>
              </a:lnSpc>
              <a:buNone/>
            </a:pPr>
            <a:r>
              <a:rPr lang="en-US" sz="780" dirty="0">
                <a:solidFill>
                  <a:srgbClr val="FFFFFF"/>
                </a:solidFill>
              </a:rPr>
              <a:t>Since {B₁, B₂, ..., Bₙ} partition S, event A can be written as </a:t>
            </a:r>
            <a:r>
              <a:rPr lang="en-US" sz="734" b="1" dirty="0">
                <a:solidFill>
                  <a:srgbClr val="00D9FF"/>
                </a:solidFill>
              </a:rPr>
              <a:t>A = (A ∩ B₁) ∪ (A ∩ B₂) ∪ ... ∪ (A ∩ Bₙ)</a:t>
            </a:r>
            <a:r>
              <a:rPr lang="en-US" sz="780" dirty="0">
                <a:solidFill>
                  <a:srgbClr val="FFFFFF"/>
                </a:solidFill>
              </a:rPr>
              <a:t>. Using the multiplication rule </a:t>
            </a:r>
            <a:r>
              <a:rPr lang="en-US" sz="734" b="1" dirty="0">
                <a:solidFill>
                  <a:srgbClr val="00D9FF"/>
                </a:solidFill>
              </a:rPr>
              <a:t>P(A ∩ Bᵢ) = P(A|Bᵢ) × P(Bᵢ)</a:t>
            </a:r>
            <a:r>
              <a:rPr lang="en-US" sz="780" dirty="0">
                <a:solidFill>
                  <a:srgbClr val="FFFFFF"/>
                </a:solidFill>
              </a:rPr>
              <a:t>, we get the total: </a:t>
            </a:r>
            <a:r>
              <a:rPr lang="en-US" sz="734" b="1" dirty="0">
                <a:solidFill>
                  <a:srgbClr val="00D9FF"/>
                </a:solidFill>
              </a:rPr>
              <a:t>P(A) = Σ P(A|Bᵢ)P(Bᵢ)</a:t>
            </a:r>
            <a:r>
              <a:rPr lang="en-US" sz="780" dirty="0">
                <a:solidFill>
                  <a:srgbClr val="FFFFFF"/>
                </a:solidFill>
              </a:rPr>
              <a:t>.</a:t>
            </a:r>
            <a:endParaRPr lang="en-US" sz="780" dirty="0"/>
          </a:p>
        </p:txBody>
      </p:sp>
      <p:sp>
        <p:nvSpPr>
          <p:cNvPr id="22" name="Shape 18"/>
          <p:cNvSpPr/>
          <p:nvPr/>
        </p:nvSpPr>
        <p:spPr>
          <a:xfrm>
            <a:off x="4750594" y="894755"/>
            <a:ext cx="3893344" cy="1018654"/>
          </a:xfrm>
          <a:prstGeom prst="rect">
            <a:avLst/>
          </a:prstGeom>
          <a:solidFill>
            <a:srgbClr val="FFD73D">
              <a:alpha val="10000"/>
            </a:srgbClr>
          </a:solidFill>
          <a:ln/>
        </p:spPr>
        <p:txBody>
          <a:bodyPr/>
          <a:lstStyle/>
          <a:p>
            <a:endParaRPr lang="en-US"/>
          </a:p>
        </p:txBody>
      </p:sp>
      <p:sp>
        <p:nvSpPr>
          <p:cNvPr id="23" name="Text 19"/>
          <p:cNvSpPr/>
          <p:nvPr/>
        </p:nvSpPr>
        <p:spPr>
          <a:xfrm>
            <a:off x="4929188" y="951905"/>
            <a:ext cx="3536156" cy="214313"/>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FFD93D"/>
                </a:solidFill>
              </a:rPr>
              <a:t>Intuitive Understanding</a:t>
            </a:r>
            <a:endParaRPr lang="en-US" sz="1090" dirty="0"/>
          </a:p>
        </p:txBody>
      </p:sp>
      <p:sp>
        <p:nvSpPr>
          <p:cNvPr id="24" name="Text 20"/>
          <p:cNvSpPr/>
          <p:nvPr/>
        </p:nvSpPr>
        <p:spPr>
          <a:xfrm>
            <a:off x="4929188" y="1209080"/>
            <a:ext cx="3536156" cy="704329"/>
          </a:xfrm>
          <a:prstGeom prst="rect">
            <a:avLst/>
          </a:prstGeom>
          <a:noFill/>
          <a:ln/>
        </p:spPr>
        <p:txBody>
          <a:bodyPr wrap="square" lIns="0" tIns="0" rIns="0" bIns="0" rtlCol="0" anchor="t">
            <a:spAutoFit/>
          </a:bodyPr>
          <a:lstStyle/>
          <a:p>
            <a:pPr marL="0" indent="0" algn="l">
              <a:lnSpc>
                <a:spcPts val="1400"/>
              </a:lnSpc>
              <a:buNone/>
            </a:pPr>
            <a:r>
              <a:rPr lang="en-US" sz="888" dirty="0">
                <a:solidFill>
                  <a:srgbClr val="FFFFFF"/>
                </a:solidFill>
              </a:rPr>
              <a:t>The Law of Total Probability lets us calculate P(A) by </a:t>
            </a:r>
            <a:r>
              <a:rPr lang="en-US" sz="834" b="1" dirty="0">
                <a:solidFill>
                  <a:srgbClr val="FFFFFF"/>
                </a:solidFill>
              </a:rPr>
              <a:t>breaking it down</a:t>
            </a:r>
            <a:r>
              <a:rPr lang="en-US" sz="888" dirty="0">
                <a:solidFill>
                  <a:srgbClr val="FFFFFF"/>
                </a:solidFill>
              </a:rPr>
              <a:t> into conditional pieces. Consider all scenarios (the Bᵢ), compute P(A) in each, then take a </a:t>
            </a:r>
            <a:r>
              <a:rPr lang="en-US" sz="834" b="1" dirty="0">
                <a:solidFill>
                  <a:srgbClr val="FFFFFF"/>
                </a:solidFill>
              </a:rPr>
              <a:t>weighted average</a:t>
            </a:r>
            <a:r>
              <a:rPr lang="en-US" sz="888" dirty="0">
                <a:solidFill>
                  <a:srgbClr val="FFFFFF"/>
                </a:solidFill>
              </a:rPr>
              <a:t> with weights P(Bᵢ).</a:t>
            </a:r>
            <a:endParaRPr lang="en-US" sz="888" dirty="0"/>
          </a:p>
        </p:txBody>
      </p:sp>
      <p:sp>
        <p:nvSpPr>
          <p:cNvPr id="25" name="Shape 21"/>
          <p:cNvSpPr/>
          <p:nvPr/>
        </p:nvSpPr>
        <p:spPr>
          <a:xfrm>
            <a:off x="4750594" y="1984846"/>
            <a:ext cx="3893344" cy="1663378"/>
          </a:xfrm>
          <a:prstGeom prst="rect">
            <a:avLst/>
          </a:prstGeom>
          <a:solidFill>
            <a:srgbClr val="00D9FF">
              <a:alpha val="10000"/>
            </a:srgbClr>
          </a:solidFill>
          <a:ln/>
        </p:spPr>
        <p:txBody>
          <a:bodyPr/>
          <a:lstStyle/>
          <a:p>
            <a:endParaRPr lang="en-US"/>
          </a:p>
        </p:txBody>
      </p:sp>
      <p:sp>
        <p:nvSpPr>
          <p:cNvPr id="26" name="Text 22"/>
          <p:cNvSpPr/>
          <p:nvPr/>
        </p:nvSpPr>
        <p:spPr>
          <a:xfrm>
            <a:off x="4907756" y="2027709"/>
            <a:ext cx="3579019"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D9FF"/>
                </a:solidFill>
              </a:rPr>
              <a:t>When to Use This Law</a:t>
            </a:r>
            <a:endParaRPr lang="en-US" sz="987" dirty="0"/>
          </a:p>
        </p:txBody>
      </p:sp>
      <p:sp>
        <p:nvSpPr>
          <p:cNvPr id="27" name="Text 23"/>
          <p:cNvSpPr/>
          <p:nvPr/>
        </p:nvSpPr>
        <p:spPr>
          <a:xfrm>
            <a:off x="5086350" y="2268810"/>
            <a:ext cx="1076502" cy="155377"/>
          </a:xfrm>
          <a:prstGeom prst="rect">
            <a:avLst/>
          </a:prstGeom>
          <a:noFill/>
          <a:ln/>
        </p:spPr>
        <p:txBody>
          <a:bodyPr wrap="none" lIns="0" tIns="0" rIns="0" bIns="0" rtlCol="0" anchor="t">
            <a:spAutoFit/>
          </a:bodyPr>
          <a:lstStyle/>
          <a:p>
            <a:pPr marL="0" indent="0" algn="l">
              <a:lnSpc>
                <a:spcPts val="1300"/>
              </a:lnSpc>
              <a:buNone/>
            </a:pPr>
            <a:r>
              <a:rPr lang="en-US" sz="784" b="1" dirty="0">
                <a:solidFill>
                  <a:srgbClr val="FF6B9D"/>
                </a:solidFill>
              </a:rPr>
              <a:t>Complex scenarios:</a:t>
            </a:r>
            <a:endParaRPr lang="en-US" sz="784" dirty="0"/>
          </a:p>
        </p:txBody>
      </p:sp>
      <p:sp>
        <p:nvSpPr>
          <p:cNvPr id="28" name="Text 24"/>
          <p:cNvSpPr/>
          <p:nvPr/>
        </p:nvSpPr>
        <p:spPr>
          <a:xfrm>
            <a:off x="5086350" y="2395612"/>
            <a:ext cx="1418286" cy="486835"/>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FFFFFF"/>
                </a:solidFill>
              </a:rPr>
              <a:t>When direct calculation of P(A) is difficult</a:t>
            </a:r>
            <a:endParaRPr lang="en-US" sz="834" dirty="0"/>
          </a:p>
        </p:txBody>
      </p:sp>
      <p:sp>
        <p:nvSpPr>
          <p:cNvPr id="29" name="Text 25"/>
          <p:cNvSpPr/>
          <p:nvPr/>
        </p:nvSpPr>
        <p:spPr>
          <a:xfrm>
            <a:off x="5086350" y="2794574"/>
            <a:ext cx="1034086" cy="155377"/>
          </a:xfrm>
          <a:prstGeom prst="rect">
            <a:avLst/>
          </a:prstGeom>
          <a:noFill/>
          <a:ln/>
        </p:spPr>
        <p:txBody>
          <a:bodyPr wrap="none" lIns="0" tIns="0" rIns="0" bIns="0" rtlCol="0" anchor="t">
            <a:spAutoFit/>
          </a:bodyPr>
          <a:lstStyle/>
          <a:p>
            <a:pPr marL="0" indent="0" algn="l">
              <a:lnSpc>
                <a:spcPts val="1300"/>
              </a:lnSpc>
              <a:buNone/>
            </a:pPr>
            <a:r>
              <a:rPr lang="en-US" sz="784" b="1" dirty="0">
                <a:solidFill>
                  <a:srgbClr val="FF6B9D"/>
                </a:solidFill>
              </a:rPr>
              <a:t>Natural partitions:</a:t>
            </a:r>
            <a:endParaRPr lang="en-US" sz="784" dirty="0"/>
          </a:p>
        </p:txBody>
      </p:sp>
      <p:sp>
        <p:nvSpPr>
          <p:cNvPr id="30" name="Text 26"/>
          <p:cNvSpPr/>
          <p:nvPr/>
        </p:nvSpPr>
        <p:spPr>
          <a:xfrm>
            <a:off x="5095226" y="2926928"/>
            <a:ext cx="1581950" cy="486835"/>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FFFFFF"/>
                </a:solidFill>
              </a:rPr>
              <a:t>When the sample space naturally divides into cases</a:t>
            </a:r>
            <a:endParaRPr lang="en-US" sz="834" dirty="0"/>
          </a:p>
        </p:txBody>
      </p:sp>
      <p:sp>
        <p:nvSpPr>
          <p:cNvPr id="31" name="Text 27"/>
          <p:cNvSpPr/>
          <p:nvPr/>
        </p:nvSpPr>
        <p:spPr>
          <a:xfrm>
            <a:off x="5086350" y="3320337"/>
            <a:ext cx="923665" cy="155377"/>
          </a:xfrm>
          <a:prstGeom prst="rect">
            <a:avLst/>
          </a:prstGeom>
          <a:noFill/>
          <a:ln/>
        </p:spPr>
        <p:txBody>
          <a:bodyPr wrap="none" lIns="0" tIns="0" rIns="0" bIns="0" rtlCol="0" anchor="t">
            <a:spAutoFit/>
          </a:bodyPr>
          <a:lstStyle/>
          <a:p>
            <a:pPr marL="0" indent="0" algn="l">
              <a:lnSpc>
                <a:spcPts val="1300"/>
              </a:lnSpc>
              <a:buNone/>
            </a:pPr>
            <a:r>
              <a:rPr lang="en-US" sz="784" b="1" dirty="0">
                <a:solidFill>
                  <a:srgbClr val="FF6B9D"/>
                </a:solidFill>
              </a:rPr>
              <a:t>Conditional info:</a:t>
            </a:r>
            <a:endParaRPr lang="en-US" sz="784" dirty="0"/>
          </a:p>
        </p:txBody>
      </p:sp>
      <p:sp>
        <p:nvSpPr>
          <p:cNvPr id="33" name="Text 29"/>
          <p:cNvSpPr/>
          <p:nvPr/>
        </p:nvSpPr>
        <p:spPr>
          <a:xfrm>
            <a:off x="6850856" y="2463115"/>
            <a:ext cx="951095" cy="155377"/>
          </a:xfrm>
          <a:prstGeom prst="rect">
            <a:avLst/>
          </a:prstGeom>
          <a:noFill/>
          <a:ln/>
        </p:spPr>
        <p:txBody>
          <a:bodyPr wrap="none" lIns="0" tIns="0" rIns="0" bIns="0" rtlCol="0" anchor="t">
            <a:spAutoFit/>
          </a:bodyPr>
          <a:lstStyle/>
          <a:p>
            <a:pPr marL="0" indent="0" algn="l">
              <a:lnSpc>
                <a:spcPts val="1300"/>
              </a:lnSpc>
              <a:buNone/>
            </a:pPr>
            <a:r>
              <a:rPr lang="en-US" sz="784" b="1" dirty="0">
                <a:solidFill>
                  <a:srgbClr val="FF6B9D"/>
                </a:solidFill>
              </a:rPr>
              <a:t>Multiple sources:</a:t>
            </a:r>
            <a:endParaRPr lang="en-US" sz="784" dirty="0"/>
          </a:p>
        </p:txBody>
      </p:sp>
      <p:sp>
        <p:nvSpPr>
          <p:cNvPr id="34" name="Text 30"/>
          <p:cNvSpPr/>
          <p:nvPr/>
        </p:nvSpPr>
        <p:spPr>
          <a:xfrm>
            <a:off x="6861083" y="2606158"/>
            <a:ext cx="1614962" cy="486835"/>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FFFFFF"/>
                </a:solidFill>
              </a:rPr>
              <a:t>When A can occur through different pathways</a:t>
            </a:r>
            <a:endParaRPr lang="en-US" sz="834" dirty="0"/>
          </a:p>
        </p:txBody>
      </p:sp>
      <p:sp>
        <p:nvSpPr>
          <p:cNvPr id="35" name="Text 31"/>
          <p:cNvSpPr/>
          <p:nvPr/>
        </p:nvSpPr>
        <p:spPr>
          <a:xfrm>
            <a:off x="6850856" y="2988878"/>
            <a:ext cx="732095" cy="155377"/>
          </a:xfrm>
          <a:prstGeom prst="rect">
            <a:avLst/>
          </a:prstGeom>
          <a:noFill/>
          <a:ln/>
        </p:spPr>
        <p:txBody>
          <a:bodyPr wrap="none" lIns="0" tIns="0" rIns="0" bIns="0" rtlCol="0" anchor="t">
            <a:spAutoFit/>
          </a:bodyPr>
          <a:lstStyle/>
          <a:p>
            <a:pPr marL="0" indent="0" algn="l">
              <a:lnSpc>
                <a:spcPts val="1300"/>
              </a:lnSpc>
              <a:buNone/>
            </a:pPr>
            <a:r>
              <a:rPr lang="en-US" sz="784" b="1" dirty="0">
                <a:solidFill>
                  <a:srgbClr val="FF6B9D"/>
                </a:solidFill>
              </a:rPr>
              <a:t>Bayes' setup:</a:t>
            </a:r>
            <a:endParaRPr lang="en-US" sz="784" dirty="0"/>
          </a:p>
        </p:txBody>
      </p:sp>
      <p:sp>
        <p:nvSpPr>
          <p:cNvPr id="36" name="Text 32"/>
          <p:cNvSpPr/>
          <p:nvPr/>
        </p:nvSpPr>
        <p:spPr>
          <a:xfrm>
            <a:off x="6861015" y="3127274"/>
            <a:ext cx="1599084" cy="486835"/>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FFFFFF"/>
                </a:solidFill>
              </a:rPr>
              <a:t>Often used as a step in applying Bayes' theorem</a:t>
            </a:r>
            <a:endParaRPr lang="en-US" sz="834" dirty="0"/>
          </a:p>
        </p:txBody>
      </p:sp>
      <p:sp>
        <p:nvSpPr>
          <p:cNvPr id="37" name="Shape 33"/>
          <p:cNvSpPr/>
          <p:nvPr/>
        </p:nvSpPr>
        <p:spPr>
          <a:xfrm>
            <a:off x="4750594" y="3719661"/>
            <a:ext cx="3893344" cy="1360494"/>
          </a:xfrm>
          <a:prstGeom prst="rect">
            <a:avLst/>
          </a:prstGeom>
          <a:solidFill>
            <a:srgbClr val="FFFFFF">
              <a:alpha val="5000"/>
            </a:srgbClr>
          </a:solidFill>
          <a:ln/>
        </p:spPr>
        <p:txBody>
          <a:bodyPr/>
          <a:lstStyle/>
          <a:p>
            <a:endParaRPr lang="en-US"/>
          </a:p>
        </p:txBody>
      </p:sp>
      <p:sp>
        <p:nvSpPr>
          <p:cNvPr id="38" name="Text 34"/>
          <p:cNvSpPr/>
          <p:nvPr/>
        </p:nvSpPr>
        <p:spPr>
          <a:xfrm>
            <a:off x="4907756" y="3762524"/>
            <a:ext cx="3579019"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FFD93D"/>
                </a:solidFill>
              </a:rPr>
              <a:t>Key Applications</a:t>
            </a:r>
            <a:endParaRPr lang="en-US" sz="987" dirty="0"/>
          </a:p>
        </p:txBody>
      </p:sp>
      <p:sp>
        <p:nvSpPr>
          <p:cNvPr id="39" name="Text 35"/>
          <p:cNvSpPr/>
          <p:nvPr/>
        </p:nvSpPr>
        <p:spPr>
          <a:xfrm>
            <a:off x="5086350" y="4003625"/>
            <a:ext cx="866626" cy="155377"/>
          </a:xfrm>
          <a:prstGeom prst="rect">
            <a:avLst/>
          </a:prstGeom>
          <a:noFill/>
          <a:ln/>
        </p:spPr>
        <p:txBody>
          <a:bodyPr wrap="none" lIns="0" tIns="0" rIns="0" bIns="0" rtlCol="0" anchor="t">
            <a:spAutoFit/>
          </a:bodyPr>
          <a:lstStyle/>
          <a:p>
            <a:pPr marL="0" indent="0" algn="l">
              <a:lnSpc>
                <a:spcPts val="1300"/>
              </a:lnSpc>
              <a:buNone/>
            </a:pPr>
            <a:r>
              <a:rPr lang="en-US" sz="784" b="1" dirty="0">
                <a:solidFill>
                  <a:srgbClr val="FF6B9D"/>
                </a:solidFill>
              </a:rPr>
              <a:t>Manufacturing:</a:t>
            </a:r>
            <a:endParaRPr lang="en-US" sz="784" dirty="0"/>
          </a:p>
        </p:txBody>
      </p:sp>
      <p:sp>
        <p:nvSpPr>
          <p:cNvPr id="40" name="Text 36"/>
          <p:cNvSpPr/>
          <p:nvPr/>
        </p:nvSpPr>
        <p:spPr>
          <a:xfrm>
            <a:off x="5086350" y="4120241"/>
            <a:ext cx="1581922" cy="321106"/>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FFFFFF"/>
                </a:solidFill>
              </a:rPr>
              <a:t>Multi-factory defect rates</a:t>
            </a:r>
            <a:endParaRPr lang="en-US" sz="834" dirty="0"/>
          </a:p>
        </p:txBody>
      </p:sp>
      <p:sp>
        <p:nvSpPr>
          <p:cNvPr id="41" name="Text 37"/>
          <p:cNvSpPr/>
          <p:nvPr/>
        </p:nvSpPr>
        <p:spPr>
          <a:xfrm>
            <a:off x="5086350" y="4363659"/>
            <a:ext cx="888811" cy="155377"/>
          </a:xfrm>
          <a:prstGeom prst="rect">
            <a:avLst/>
          </a:prstGeom>
          <a:noFill/>
          <a:ln/>
        </p:spPr>
        <p:txBody>
          <a:bodyPr wrap="none" lIns="0" tIns="0" rIns="0" bIns="0" rtlCol="0" anchor="t">
            <a:spAutoFit/>
          </a:bodyPr>
          <a:lstStyle/>
          <a:p>
            <a:pPr marL="0" indent="0" algn="l">
              <a:lnSpc>
                <a:spcPts val="1300"/>
              </a:lnSpc>
              <a:buNone/>
            </a:pPr>
            <a:r>
              <a:rPr lang="en-US" sz="784" b="1" dirty="0">
                <a:solidFill>
                  <a:srgbClr val="FF6B9D"/>
                </a:solidFill>
              </a:rPr>
              <a:t>Medical testing:</a:t>
            </a:r>
            <a:endParaRPr lang="en-US" sz="784" dirty="0"/>
          </a:p>
        </p:txBody>
      </p:sp>
      <p:sp>
        <p:nvSpPr>
          <p:cNvPr id="42" name="Text 38"/>
          <p:cNvSpPr/>
          <p:nvPr/>
        </p:nvSpPr>
        <p:spPr>
          <a:xfrm>
            <a:off x="5078997" y="4498201"/>
            <a:ext cx="1334012" cy="321106"/>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FFFFFF"/>
                </a:solidFill>
              </a:rPr>
              <a:t>Disease probability by age</a:t>
            </a:r>
            <a:endParaRPr lang="en-US" sz="834" dirty="0"/>
          </a:p>
        </p:txBody>
      </p:sp>
      <p:sp>
        <p:nvSpPr>
          <p:cNvPr id="43" name="Text 39"/>
          <p:cNvSpPr/>
          <p:nvPr/>
        </p:nvSpPr>
        <p:spPr>
          <a:xfrm>
            <a:off x="5086350" y="4723693"/>
            <a:ext cx="739406" cy="155377"/>
          </a:xfrm>
          <a:prstGeom prst="rect">
            <a:avLst/>
          </a:prstGeom>
          <a:noFill/>
          <a:ln/>
        </p:spPr>
        <p:txBody>
          <a:bodyPr wrap="none" lIns="0" tIns="0" rIns="0" bIns="0" rtlCol="0" anchor="t">
            <a:spAutoFit/>
          </a:bodyPr>
          <a:lstStyle/>
          <a:p>
            <a:pPr marL="0" indent="0" algn="l">
              <a:lnSpc>
                <a:spcPts val="1300"/>
              </a:lnSpc>
              <a:buNone/>
            </a:pPr>
            <a:r>
              <a:rPr lang="en-US" sz="784" b="1" dirty="0">
                <a:solidFill>
                  <a:srgbClr val="FF6B9D"/>
                </a:solidFill>
              </a:rPr>
              <a:t>Risk analysis:</a:t>
            </a:r>
            <a:endParaRPr lang="en-US" sz="784" dirty="0"/>
          </a:p>
        </p:txBody>
      </p:sp>
      <p:sp>
        <p:nvSpPr>
          <p:cNvPr id="44" name="Text 40"/>
          <p:cNvSpPr/>
          <p:nvPr/>
        </p:nvSpPr>
        <p:spPr>
          <a:xfrm>
            <a:off x="5086350" y="4863345"/>
            <a:ext cx="1592554" cy="321106"/>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FFFFFF"/>
                </a:solidFill>
              </a:rPr>
              <a:t>Scenario-based overall risk</a:t>
            </a:r>
            <a:endParaRPr lang="en-US" sz="834" dirty="0"/>
          </a:p>
        </p:txBody>
      </p:sp>
      <p:sp>
        <p:nvSpPr>
          <p:cNvPr id="45" name="Text 41"/>
          <p:cNvSpPr/>
          <p:nvPr/>
        </p:nvSpPr>
        <p:spPr>
          <a:xfrm>
            <a:off x="6850856" y="4003625"/>
            <a:ext cx="865147" cy="155377"/>
          </a:xfrm>
          <a:prstGeom prst="rect">
            <a:avLst/>
          </a:prstGeom>
          <a:noFill/>
          <a:ln/>
        </p:spPr>
        <p:txBody>
          <a:bodyPr wrap="none" lIns="0" tIns="0" rIns="0" bIns="0" rtlCol="0" anchor="t">
            <a:spAutoFit/>
          </a:bodyPr>
          <a:lstStyle/>
          <a:p>
            <a:pPr marL="0" indent="0" algn="l">
              <a:lnSpc>
                <a:spcPts val="1300"/>
              </a:lnSpc>
              <a:buNone/>
            </a:pPr>
            <a:r>
              <a:rPr lang="en-US" sz="784" b="1" dirty="0">
                <a:solidFill>
                  <a:srgbClr val="FF6B9D"/>
                </a:solidFill>
              </a:rPr>
              <a:t>Quality control:</a:t>
            </a:r>
            <a:endParaRPr lang="en-US" sz="784" dirty="0"/>
          </a:p>
        </p:txBody>
      </p:sp>
      <p:sp>
        <p:nvSpPr>
          <p:cNvPr id="46" name="Text 42"/>
          <p:cNvSpPr/>
          <p:nvPr/>
        </p:nvSpPr>
        <p:spPr>
          <a:xfrm>
            <a:off x="6861015" y="4131219"/>
            <a:ext cx="1297456" cy="321106"/>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FFFFFF"/>
                </a:solidFill>
              </a:rPr>
              <a:t>Defects across lines</a:t>
            </a:r>
            <a:endParaRPr lang="en-US" sz="834" dirty="0"/>
          </a:p>
        </p:txBody>
      </p:sp>
      <p:sp>
        <p:nvSpPr>
          <p:cNvPr id="47" name="Text 43"/>
          <p:cNvSpPr/>
          <p:nvPr/>
        </p:nvSpPr>
        <p:spPr>
          <a:xfrm>
            <a:off x="6850856" y="4363659"/>
            <a:ext cx="817708" cy="155377"/>
          </a:xfrm>
          <a:prstGeom prst="rect">
            <a:avLst/>
          </a:prstGeom>
          <a:noFill/>
          <a:ln/>
        </p:spPr>
        <p:txBody>
          <a:bodyPr wrap="none" lIns="0" tIns="0" rIns="0" bIns="0" rtlCol="0" anchor="t">
            <a:spAutoFit/>
          </a:bodyPr>
          <a:lstStyle/>
          <a:p>
            <a:pPr marL="0" indent="0" algn="l">
              <a:lnSpc>
                <a:spcPts val="1300"/>
              </a:lnSpc>
              <a:buNone/>
            </a:pPr>
            <a:r>
              <a:rPr lang="en-US" sz="784" b="1" dirty="0">
                <a:solidFill>
                  <a:srgbClr val="FF6B9D"/>
                </a:solidFill>
              </a:rPr>
              <a:t>Decision trees:</a:t>
            </a:r>
            <a:endParaRPr lang="en-US" sz="784" dirty="0"/>
          </a:p>
        </p:txBody>
      </p:sp>
      <p:sp>
        <p:nvSpPr>
          <p:cNvPr id="48" name="Text 44"/>
          <p:cNvSpPr/>
          <p:nvPr/>
        </p:nvSpPr>
        <p:spPr>
          <a:xfrm>
            <a:off x="6856102" y="4498201"/>
            <a:ext cx="1453697" cy="321106"/>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FFFFFF"/>
                </a:solidFill>
              </a:rPr>
              <a:t>Multi-stage process probabilities</a:t>
            </a:r>
            <a:endParaRPr lang="en-US" sz="834" dirty="0"/>
          </a:p>
        </p:txBody>
      </p:sp>
      <p:sp>
        <p:nvSpPr>
          <p:cNvPr id="49" name="Text 45"/>
          <p:cNvSpPr/>
          <p:nvPr/>
        </p:nvSpPr>
        <p:spPr>
          <a:xfrm>
            <a:off x="6850856" y="4723693"/>
            <a:ext cx="583862" cy="155377"/>
          </a:xfrm>
          <a:prstGeom prst="rect">
            <a:avLst/>
          </a:prstGeom>
          <a:noFill/>
          <a:ln/>
        </p:spPr>
        <p:txBody>
          <a:bodyPr wrap="none" lIns="0" tIns="0" rIns="0" bIns="0" rtlCol="0" anchor="t">
            <a:spAutoFit/>
          </a:bodyPr>
          <a:lstStyle/>
          <a:p>
            <a:pPr marL="0" indent="0" algn="l">
              <a:lnSpc>
                <a:spcPts val="1300"/>
              </a:lnSpc>
              <a:buNone/>
            </a:pPr>
            <a:r>
              <a:rPr lang="en-US" sz="784" b="1" dirty="0">
                <a:solidFill>
                  <a:srgbClr val="FF6B9D"/>
                </a:solidFill>
              </a:rPr>
              <a:t>Reliability:</a:t>
            </a:r>
            <a:endParaRPr lang="en-US" sz="784" dirty="0"/>
          </a:p>
        </p:txBody>
      </p:sp>
      <p:sp>
        <p:nvSpPr>
          <p:cNvPr id="50" name="Text 46"/>
          <p:cNvSpPr/>
          <p:nvPr/>
        </p:nvSpPr>
        <p:spPr>
          <a:xfrm>
            <a:off x="6850856" y="4854067"/>
            <a:ext cx="1609018" cy="321106"/>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FFFFFF"/>
                </a:solidFill>
              </a:rPr>
              <a:t>Component-based failures</a:t>
            </a:r>
            <a:endParaRPr lang="en-US" sz="834"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0" y="357188"/>
            <a:ext cx="9144000" cy="466130"/>
          </a:xfrm>
          <a:prstGeom prst="rect">
            <a:avLst/>
          </a:prstGeom>
          <a:noFill/>
          <a:ln/>
        </p:spPr>
        <p:txBody>
          <a:bodyPr wrap="none" lIns="0" tIns="0" rIns="0" bIns="0" rtlCol="0" anchor="t">
            <a:spAutoFit/>
          </a:bodyPr>
          <a:lstStyle/>
          <a:p>
            <a:pPr marL="0" indent="0" algn="ctr">
              <a:lnSpc>
                <a:spcPts val="3200"/>
              </a:lnSpc>
              <a:buNone/>
            </a:pPr>
            <a:r>
              <a:rPr lang="en-US" sz="2436" b="1" dirty="0">
                <a:solidFill>
                  <a:srgbClr val="00D9FF"/>
                </a:solidFill>
              </a:rPr>
              <a:t>Law of Total Probability: Examples</a:t>
            </a:r>
            <a:endParaRPr lang="en-US" sz="2436" dirty="0"/>
          </a:p>
        </p:txBody>
      </p:sp>
      <p:sp>
        <p:nvSpPr>
          <p:cNvPr id="5" name="Text 1"/>
          <p:cNvSpPr/>
          <p:nvPr/>
        </p:nvSpPr>
        <p:spPr>
          <a:xfrm>
            <a:off x="0" y="880467"/>
            <a:ext cx="9144000" cy="175022"/>
          </a:xfrm>
          <a:prstGeom prst="rect">
            <a:avLst/>
          </a:prstGeom>
          <a:noFill/>
          <a:ln/>
        </p:spPr>
        <p:txBody>
          <a:bodyPr wrap="none" lIns="0" tIns="0" rIns="0" bIns="0" rtlCol="0" anchor="t">
            <a:spAutoFit/>
          </a:bodyPr>
          <a:lstStyle/>
          <a:p>
            <a:pPr marL="0" indent="0" algn="ctr">
              <a:lnSpc>
                <a:spcPts val="1200"/>
              </a:lnSpc>
              <a:buNone/>
            </a:pPr>
            <a:r>
              <a:rPr lang="en-US" sz="942" dirty="0">
                <a:solidFill>
                  <a:srgbClr val="FFD93D"/>
                </a:solidFill>
              </a:rPr>
              <a:t>Comprehensive Worked Examples with Partitions</a:t>
            </a:r>
            <a:endParaRPr lang="en-US" sz="942" dirty="0"/>
          </a:p>
        </p:txBody>
      </p:sp>
      <p:sp>
        <p:nvSpPr>
          <p:cNvPr id="6" name="Shape 2"/>
          <p:cNvSpPr/>
          <p:nvPr/>
        </p:nvSpPr>
        <p:spPr>
          <a:xfrm>
            <a:off x="428625" y="1126927"/>
            <a:ext cx="4036219" cy="3253560"/>
          </a:xfrm>
          <a:prstGeom prst="rect">
            <a:avLst/>
          </a:prstGeom>
          <a:solidFill>
            <a:srgbClr val="FFFFFF">
              <a:alpha val="5000"/>
            </a:srgbClr>
          </a:solidFill>
          <a:ln/>
        </p:spPr>
        <p:txBody>
          <a:bodyPr/>
          <a:lstStyle/>
          <a:p>
            <a:endParaRPr lang="en-US"/>
          </a:p>
        </p:txBody>
      </p:sp>
      <p:sp>
        <p:nvSpPr>
          <p:cNvPr id="7" name="Text 3"/>
          <p:cNvSpPr/>
          <p:nvPr/>
        </p:nvSpPr>
        <p:spPr>
          <a:xfrm>
            <a:off x="607219" y="1198364"/>
            <a:ext cx="3679031" cy="350044"/>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FF6B9D"/>
                </a:solidFill>
              </a:rPr>
              <a:t>01</a:t>
            </a:r>
            <a:endParaRPr lang="en-US" sz="1808" dirty="0"/>
          </a:p>
        </p:txBody>
      </p:sp>
      <p:sp>
        <p:nvSpPr>
          <p:cNvPr id="8" name="Text 4"/>
          <p:cNvSpPr/>
          <p:nvPr/>
        </p:nvSpPr>
        <p:spPr>
          <a:xfrm>
            <a:off x="607219" y="1576983"/>
            <a:ext cx="3679031" cy="214313"/>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00D9FF"/>
                </a:solidFill>
              </a:rPr>
              <a:t>Manufacturing Quality Control</a:t>
            </a:r>
            <a:endParaRPr lang="en-US" sz="1090" dirty="0"/>
          </a:p>
        </p:txBody>
      </p:sp>
      <p:sp>
        <p:nvSpPr>
          <p:cNvPr id="9" name="Text 5"/>
          <p:cNvSpPr/>
          <p:nvPr/>
        </p:nvSpPr>
        <p:spPr>
          <a:xfrm>
            <a:off x="607219" y="1848445"/>
            <a:ext cx="3679031" cy="640035"/>
          </a:xfrm>
          <a:prstGeom prst="rect">
            <a:avLst/>
          </a:prstGeom>
          <a:noFill/>
          <a:ln/>
        </p:spPr>
        <p:txBody>
          <a:bodyPr wrap="square" lIns="0" tIns="0" rIns="0" bIns="0" rtlCol="0" anchor="t">
            <a:spAutoFit/>
          </a:bodyPr>
          <a:lstStyle/>
          <a:p>
            <a:pPr marL="0" indent="0" algn="l">
              <a:lnSpc>
                <a:spcPts val="1300"/>
              </a:lnSpc>
              <a:buNone/>
            </a:pPr>
            <a:r>
              <a:rPr lang="en-US" sz="784" b="1" dirty="0">
                <a:solidFill>
                  <a:srgbClr val="FFFFFF"/>
                </a:solidFill>
              </a:rPr>
              <a:t>Problem:</a:t>
            </a:r>
            <a:r>
              <a:rPr lang="en-US" sz="834" dirty="0">
                <a:solidFill>
                  <a:srgbClr val="FFFFFF"/>
                </a:solidFill>
              </a:rPr>
              <a:t> A company has three factories. Factory A produces 50% of products with 2% defect rate. Factory B produces 30% with 3% defect rate. Factory C produces 20% with 5% defect rate. What is the overall probability that a randomly selected product is defective?</a:t>
            </a:r>
            <a:endParaRPr lang="en-US" sz="784" dirty="0"/>
          </a:p>
        </p:txBody>
      </p:sp>
      <p:sp>
        <p:nvSpPr>
          <p:cNvPr id="10" name="Text 6"/>
          <p:cNvSpPr/>
          <p:nvPr/>
        </p:nvSpPr>
        <p:spPr>
          <a:xfrm>
            <a:off x="607219" y="2545631"/>
            <a:ext cx="3679031" cy="166092"/>
          </a:xfrm>
          <a:prstGeom prst="rect">
            <a:avLst/>
          </a:prstGeom>
          <a:noFill/>
          <a:ln/>
        </p:spPr>
        <p:txBody>
          <a:bodyPr wrap="none" lIns="0" tIns="0" rIns="0" bIns="0" rtlCol="0" anchor="t">
            <a:spAutoFit/>
          </a:bodyPr>
          <a:lstStyle/>
          <a:p>
            <a:pPr marL="0" indent="0" algn="l">
              <a:lnSpc>
                <a:spcPts val="1100"/>
              </a:lnSpc>
              <a:buNone/>
            </a:pPr>
            <a:r>
              <a:rPr lang="en-US" sz="834" b="1" dirty="0">
                <a:solidFill>
                  <a:srgbClr val="FFD93D"/>
                </a:solidFill>
              </a:rPr>
              <a:t>Step 1: Identify the Partition</a:t>
            </a:r>
            <a:endParaRPr lang="en-US" sz="834" dirty="0"/>
          </a:p>
        </p:txBody>
      </p:sp>
      <p:sp>
        <p:nvSpPr>
          <p:cNvPr id="11" name="Shape 7"/>
          <p:cNvSpPr/>
          <p:nvPr/>
        </p:nvSpPr>
        <p:spPr>
          <a:xfrm>
            <a:off x="607219" y="2754585"/>
            <a:ext cx="3679031" cy="192881"/>
          </a:xfrm>
          <a:prstGeom prst="rect">
            <a:avLst/>
          </a:prstGeom>
          <a:solidFill>
            <a:srgbClr val="FFD73D">
              <a:alpha val="10000"/>
            </a:srgbClr>
          </a:solidFill>
          <a:ln/>
        </p:spPr>
        <p:txBody>
          <a:bodyPr/>
          <a:lstStyle/>
          <a:p>
            <a:endParaRPr lang="en-US"/>
          </a:p>
        </p:txBody>
      </p:sp>
      <p:sp>
        <p:nvSpPr>
          <p:cNvPr id="12" name="Text 8"/>
          <p:cNvSpPr/>
          <p:nvPr/>
        </p:nvSpPr>
        <p:spPr>
          <a:xfrm>
            <a:off x="735806" y="2797448"/>
            <a:ext cx="3421856" cy="150019"/>
          </a:xfrm>
          <a:prstGeom prst="rect">
            <a:avLst/>
          </a:prstGeom>
          <a:noFill/>
          <a:ln/>
        </p:spPr>
        <p:txBody>
          <a:bodyPr wrap="none" lIns="0" tIns="0" rIns="0" bIns="0" rtlCol="0" anchor="t">
            <a:spAutoFit/>
          </a:bodyPr>
          <a:lstStyle/>
          <a:p>
            <a:pPr marL="0" indent="0" algn="l">
              <a:lnSpc>
                <a:spcPts val="1200"/>
              </a:lnSpc>
              <a:buNone/>
            </a:pPr>
            <a:r>
              <a:rPr lang="en-US" sz="780" dirty="0">
                <a:solidFill>
                  <a:srgbClr val="FFFFFF"/>
                </a:solidFill>
              </a:rPr>
              <a:t>Partition by factory: P(A)=0.50, P(B)=0.30, P(C)=0.20.</a:t>
            </a:r>
            <a:endParaRPr lang="en-US" sz="780" dirty="0"/>
          </a:p>
        </p:txBody>
      </p:sp>
      <p:sp>
        <p:nvSpPr>
          <p:cNvPr id="13" name="Text 9"/>
          <p:cNvSpPr/>
          <p:nvPr/>
        </p:nvSpPr>
        <p:spPr>
          <a:xfrm>
            <a:off x="607219" y="3004617"/>
            <a:ext cx="3679031" cy="166092"/>
          </a:xfrm>
          <a:prstGeom prst="rect">
            <a:avLst/>
          </a:prstGeom>
          <a:noFill/>
          <a:ln/>
        </p:spPr>
        <p:txBody>
          <a:bodyPr wrap="none" lIns="0" tIns="0" rIns="0" bIns="0" rtlCol="0" anchor="t">
            <a:spAutoFit/>
          </a:bodyPr>
          <a:lstStyle/>
          <a:p>
            <a:pPr marL="0" indent="0" algn="l">
              <a:lnSpc>
                <a:spcPts val="1100"/>
              </a:lnSpc>
              <a:buNone/>
            </a:pPr>
            <a:r>
              <a:rPr lang="en-US" sz="834" b="1" dirty="0">
                <a:solidFill>
                  <a:srgbClr val="FFD93D"/>
                </a:solidFill>
              </a:rPr>
              <a:t>Step 2: Conditional Probabilities</a:t>
            </a:r>
            <a:endParaRPr lang="en-US" sz="834" dirty="0"/>
          </a:p>
        </p:txBody>
      </p:sp>
      <p:sp>
        <p:nvSpPr>
          <p:cNvPr id="14" name="Shape 10"/>
          <p:cNvSpPr/>
          <p:nvPr/>
        </p:nvSpPr>
        <p:spPr>
          <a:xfrm>
            <a:off x="607219" y="3213571"/>
            <a:ext cx="3679031" cy="192881"/>
          </a:xfrm>
          <a:prstGeom prst="rect">
            <a:avLst/>
          </a:prstGeom>
          <a:solidFill>
            <a:srgbClr val="FFD73D">
              <a:alpha val="10000"/>
            </a:srgbClr>
          </a:solidFill>
          <a:ln/>
        </p:spPr>
        <p:txBody>
          <a:bodyPr/>
          <a:lstStyle/>
          <a:p>
            <a:endParaRPr lang="en-US"/>
          </a:p>
        </p:txBody>
      </p:sp>
      <p:sp>
        <p:nvSpPr>
          <p:cNvPr id="15" name="Text 11"/>
          <p:cNvSpPr/>
          <p:nvPr/>
        </p:nvSpPr>
        <p:spPr>
          <a:xfrm>
            <a:off x="735806" y="3256434"/>
            <a:ext cx="3421856" cy="150019"/>
          </a:xfrm>
          <a:prstGeom prst="rect">
            <a:avLst/>
          </a:prstGeom>
          <a:noFill/>
          <a:ln/>
        </p:spPr>
        <p:txBody>
          <a:bodyPr wrap="none" lIns="0" tIns="0" rIns="0" bIns="0" rtlCol="0" anchor="t">
            <a:spAutoFit/>
          </a:bodyPr>
          <a:lstStyle/>
          <a:p>
            <a:pPr marL="0" indent="0" algn="l">
              <a:lnSpc>
                <a:spcPts val="1200"/>
              </a:lnSpc>
              <a:buNone/>
            </a:pPr>
            <a:r>
              <a:rPr lang="en-US" sz="780" dirty="0">
                <a:solidFill>
                  <a:srgbClr val="FFFFFF"/>
                </a:solidFill>
              </a:rPr>
              <a:t>Let D = defective; P(D|A)=0.02, P(D|B)=0.03, P(D|C)=0.05.</a:t>
            </a:r>
            <a:endParaRPr lang="en-US" sz="780" dirty="0"/>
          </a:p>
        </p:txBody>
      </p:sp>
      <p:sp>
        <p:nvSpPr>
          <p:cNvPr id="16" name="Text 12"/>
          <p:cNvSpPr/>
          <p:nvPr/>
        </p:nvSpPr>
        <p:spPr>
          <a:xfrm>
            <a:off x="607219" y="3463603"/>
            <a:ext cx="3679031" cy="166092"/>
          </a:xfrm>
          <a:prstGeom prst="rect">
            <a:avLst/>
          </a:prstGeom>
          <a:noFill/>
          <a:ln/>
        </p:spPr>
        <p:txBody>
          <a:bodyPr wrap="none" lIns="0" tIns="0" rIns="0" bIns="0" rtlCol="0" anchor="t">
            <a:spAutoFit/>
          </a:bodyPr>
          <a:lstStyle/>
          <a:p>
            <a:pPr marL="0" indent="0" algn="l">
              <a:lnSpc>
                <a:spcPts val="1100"/>
              </a:lnSpc>
              <a:buNone/>
            </a:pPr>
            <a:r>
              <a:rPr lang="en-US" sz="834" b="1" dirty="0">
                <a:solidFill>
                  <a:srgbClr val="FFD93D"/>
                </a:solidFill>
              </a:rPr>
              <a:t>Step 3: Apply Law of Total Probability</a:t>
            </a:r>
            <a:endParaRPr lang="en-US" sz="834" dirty="0"/>
          </a:p>
        </p:txBody>
      </p:sp>
      <p:sp>
        <p:nvSpPr>
          <p:cNvPr id="17" name="Shape 13"/>
          <p:cNvSpPr/>
          <p:nvPr/>
        </p:nvSpPr>
        <p:spPr>
          <a:xfrm>
            <a:off x="607219" y="3672557"/>
            <a:ext cx="3679031" cy="182863"/>
          </a:xfrm>
          <a:prstGeom prst="rect">
            <a:avLst/>
          </a:prstGeom>
          <a:solidFill>
            <a:srgbClr val="00D9FF">
              <a:alpha val="10000"/>
            </a:srgbClr>
          </a:solidFill>
          <a:ln/>
        </p:spPr>
        <p:txBody>
          <a:bodyPr/>
          <a:lstStyle/>
          <a:p>
            <a:endParaRPr lang="en-US"/>
          </a:p>
        </p:txBody>
      </p:sp>
      <p:sp>
        <p:nvSpPr>
          <p:cNvPr id="18" name="Text 14"/>
          <p:cNvSpPr/>
          <p:nvPr/>
        </p:nvSpPr>
        <p:spPr>
          <a:xfrm>
            <a:off x="735806" y="3715420"/>
            <a:ext cx="3421856" cy="140001"/>
          </a:xfrm>
          <a:prstGeom prst="rect">
            <a:avLst/>
          </a:prstGeom>
          <a:noFill/>
          <a:ln/>
        </p:spPr>
        <p:txBody>
          <a:bodyPr wrap="none" lIns="0" tIns="0" rIns="0" bIns="0" rtlCol="0" anchor="t">
            <a:spAutoFit/>
          </a:bodyPr>
          <a:lstStyle/>
          <a:p>
            <a:pPr marL="0" indent="0" algn="l">
              <a:lnSpc>
                <a:spcPts val="1100"/>
              </a:lnSpc>
              <a:buNone/>
            </a:pPr>
            <a:r>
              <a:rPr lang="en-US" sz="683" b="1" dirty="0">
                <a:solidFill>
                  <a:srgbClr val="00D9FF"/>
                </a:solidFill>
              </a:rPr>
              <a:t>P(D) = P(A)P(D|A) + P(B)P(D|B) + P(C)P(D|C)</a:t>
            </a:r>
            <a:endParaRPr lang="en-US" sz="683" dirty="0"/>
          </a:p>
        </p:txBody>
      </p:sp>
      <p:sp>
        <p:nvSpPr>
          <p:cNvPr id="19" name="Shape 15"/>
          <p:cNvSpPr/>
          <p:nvPr/>
        </p:nvSpPr>
        <p:spPr>
          <a:xfrm>
            <a:off x="607219" y="3912570"/>
            <a:ext cx="3679031" cy="192881"/>
          </a:xfrm>
          <a:prstGeom prst="rect">
            <a:avLst/>
          </a:prstGeom>
          <a:solidFill>
            <a:srgbClr val="FF6B9D">
              <a:alpha val="10000"/>
            </a:srgbClr>
          </a:solidFill>
          <a:ln/>
        </p:spPr>
        <p:txBody>
          <a:bodyPr/>
          <a:lstStyle/>
          <a:p>
            <a:endParaRPr lang="en-US"/>
          </a:p>
        </p:txBody>
      </p:sp>
      <p:sp>
        <p:nvSpPr>
          <p:cNvPr id="20" name="Text 16"/>
          <p:cNvSpPr/>
          <p:nvPr/>
        </p:nvSpPr>
        <p:spPr>
          <a:xfrm>
            <a:off x="735806" y="3955433"/>
            <a:ext cx="3421856" cy="150019"/>
          </a:xfrm>
          <a:prstGeom prst="rect">
            <a:avLst/>
          </a:prstGeom>
          <a:noFill/>
          <a:ln/>
        </p:spPr>
        <p:txBody>
          <a:bodyPr wrap="none" lIns="0" tIns="0" rIns="0" bIns="0" rtlCol="0" anchor="t">
            <a:spAutoFit/>
          </a:bodyPr>
          <a:lstStyle/>
          <a:p>
            <a:pPr marL="0" indent="0" algn="l">
              <a:lnSpc>
                <a:spcPts val="1200"/>
              </a:lnSpc>
              <a:buNone/>
            </a:pPr>
            <a:r>
              <a:rPr lang="en-US" sz="780" dirty="0">
                <a:solidFill>
                  <a:srgbClr val="FFFFFF"/>
                </a:solidFill>
              </a:rPr>
              <a:t>P(D) = (0.50)(0.02) + (0.30)(0.03) + (0.20)(0.05) = 0.029</a:t>
            </a:r>
            <a:endParaRPr lang="en-US" sz="780" dirty="0"/>
          </a:p>
        </p:txBody>
      </p:sp>
      <p:sp>
        <p:nvSpPr>
          <p:cNvPr id="21" name="Shape 17"/>
          <p:cNvSpPr/>
          <p:nvPr/>
        </p:nvSpPr>
        <p:spPr>
          <a:xfrm>
            <a:off x="607219" y="4162602"/>
            <a:ext cx="3679031" cy="217884"/>
          </a:xfrm>
          <a:prstGeom prst="rect">
            <a:avLst/>
          </a:prstGeom>
          <a:solidFill>
            <a:srgbClr val="FF6B9D">
              <a:alpha val="15000"/>
            </a:srgbClr>
          </a:solidFill>
          <a:ln/>
        </p:spPr>
        <p:txBody>
          <a:bodyPr/>
          <a:lstStyle/>
          <a:p>
            <a:endParaRPr lang="en-US"/>
          </a:p>
        </p:txBody>
      </p:sp>
      <p:sp>
        <p:nvSpPr>
          <p:cNvPr id="22" name="Text 18"/>
          <p:cNvSpPr/>
          <p:nvPr/>
        </p:nvSpPr>
        <p:spPr>
          <a:xfrm>
            <a:off x="735806" y="4205464"/>
            <a:ext cx="3421856" cy="175022"/>
          </a:xfrm>
          <a:prstGeom prst="rect">
            <a:avLst/>
          </a:prstGeom>
          <a:noFill/>
          <a:ln/>
        </p:spPr>
        <p:txBody>
          <a:bodyPr wrap="none" lIns="0" tIns="0" rIns="0" bIns="0" rtlCol="0" anchor="t">
            <a:spAutoFit/>
          </a:bodyPr>
          <a:lstStyle/>
          <a:p>
            <a:pPr marL="0" indent="0" algn="ctr">
              <a:lnSpc>
                <a:spcPts val="1200"/>
              </a:lnSpc>
              <a:buNone/>
            </a:pPr>
            <a:r>
              <a:rPr lang="en-US" sz="885" b="1" dirty="0">
                <a:solidFill>
                  <a:srgbClr val="FF6B9D"/>
                </a:solidFill>
              </a:rPr>
              <a:t>Answer: P(Defective) = 0.029 or 2.9%</a:t>
            </a:r>
            <a:endParaRPr lang="en-US" sz="885" dirty="0"/>
          </a:p>
        </p:txBody>
      </p:sp>
      <p:sp>
        <p:nvSpPr>
          <p:cNvPr id="23" name="Shape 19"/>
          <p:cNvSpPr/>
          <p:nvPr/>
        </p:nvSpPr>
        <p:spPr>
          <a:xfrm>
            <a:off x="4679156" y="1126927"/>
            <a:ext cx="4036219" cy="3253560"/>
          </a:xfrm>
          <a:prstGeom prst="rect">
            <a:avLst/>
          </a:prstGeom>
          <a:solidFill>
            <a:srgbClr val="FFFFFF">
              <a:alpha val="5000"/>
            </a:srgbClr>
          </a:solidFill>
          <a:ln/>
        </p:spPr>
        <p:txBody>
          <a:bodyPr/>
          <a:lstStyle/>
          <a:p>
            <a:endParaRPr lang="en-US"/>
          </a:p>
        </p:txBody>
      </p:sp>
      <p:sp>
        <p:nvSpPr>
          <p:cNvPr id="24" name="Text 20"/>
          <p:cNvSpPr/>
          <p:nvPr/>
        </p:nvSpPr>
        <p:spPr>
          <a:xfrm>
            <a:off x="4857750" y="1198364"/>
            <a:ext cx="3679031" cy="350044"/>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FF6B9D"/>
                </a:solidFill>
              </a:rPr>
              <a:t>02</a:t>
            </a:r>
            <a:endParaRPr lang="en-US" sz="1808" dirty="0"/>
          </a:p>
        </p:txBody>
      </p:sp>
      <p:sp>
        <p:nvSpPr>
          <p:cNvPr id="25" name="Text 21"/>
          <p:cNvSpPr/>
          <p:nvPr/>
        </p:nvSpPr>
        <p:spPr>
          <a:xfrm>
            <a:off x="4857750" y="1576983"/>
            <a:ext cx="3679031" cy="214313"/>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00D9FF"/>
                </a:solidFill>
              </a:rPr>
              <a:t>Disease Testing Across Age Groups</a:t>
            </a:r>
            <a:endParaRPr lang="en-US" sz="1090" dirty="0"/>
          </a:p>
        </p:txBody>
      </p:sp>
      <p:sp>
        <p:nvSpPr>
          <p:cNvPr id="26" name="Text 22"/>
          <p:cNvSpPr/>
          <p:nvPr/>
        </p:nvSpPr>
        <p:spPr>
          <a:xfrm>
            <a:off x="4857750" y="1848445"/>
            <a:ext cx="3679031" cy="640035"/>
          </a:xfrm>
          <a:prstGeom prst="rect">
            <a:avLst/>
          </a:prstGeom>
          <a:noFill/>
          <a:ln/>
        </p:spPr>
        <p:txBody>
          <a:bodyPr wrap="square" lIns="0" tIns="0" rIns="0" bIns="0" rtlCol="0" anchor="t">
            <a:spAutoFit/>
          </a:bodyPr>
          <a:lstStyle/>
          <a:p>
            <a:pPr marL="0" indent="0" algn="l">
              <a:lnSpc>
                <a:spcPts val="1300"/>
              </a:lnSpc>
              <a:buNone/>
            </a:pPr>
            <a:r>
              <a:rPr lang="en-US" sz="784" b="1" dirty="0">
                <a:solidFill>
                  <a:srgbClr val="FFFFFF"/>
                </a:solidFill>
              </a:rPr>
              <a:t>Problem:</a:t>
            </a:r>
            <a:r>
              <a:rPr lang="en-US" sz="834" dirty="0">
                <a:solidFill>
                  <a:srgbClr val="FFFFFF"/>
                </a:solidFill>
              </a:rPr>
              <a:t> A population is divided into three age groups: Young (40%, disease rate 1%), Middle (35%, disease rate 3%), Senior (25%, disease rate 8%). What is the overall probability that a randomly selected person has the disease?</a:t>
            </a:r>
            <a:endParaRPr lang="en-US" sz="784" dirty="0"/>
          </a:p>
        </p:txBody>
      </p:sp>
      <p:sp>
        <p:nvSpPr>
          <p:cNvPr id="27" name="Text 23"/>
          <p:cNvSpPr/>
          <p:nvPr/>
        </p:nvSpPr>
        <p:spPr>
          <a:xfrm>
            <a:off x="4857750" y="2545631"/>
            <a:ext cx="3679031" cy="166092"/>
          </a:xfrm>
          <a:prstGeom prst="rect">
            <a:avLst/>
          </a:prstGeom>
          <a:noFill/>
          <a:ln/>
        </p:spPr>
        <p:txBody>
          <a:bodyPr wrap="none" lIns="0" tIns="0" rIns="0" bIns="0" rtlCol="0" anchor="t">
            <a:spAutoFit/>
          </a:bodyPr>
          <a:lstStyle/>
          <a:p>
            <a:pPr marL="0" indent="0" algn="l">
              <a:lnSpc>
                <a:spcPts val="1100"/>
              </a:lnSpc>
              <a:buNone/>
            </a:pPr>
            <a:r>
              <a:rPr lang="en-US" sz="834" b="1" dirty="0">
                <a:solidFill>
                  <a:srgbClr val="FFD93D"/>
                </a:solidFill>
              </a:rPr>
              <a:t>Step 1: Identify the Partition</a:t>
            </a:r>
            <a:endParaRPr lang="en-US" sz="834" dirty="0"/>
          </a:p>
        </p:txBody>
      </p:sp>
      <p:sp>
        <p:nvSpPr>
          <p:cNvPr id="28" name="Shape 24"/>
          <p:cNvSpPr/>
          <p:nvPr/>
        </p:nvSpPr>
        <p:spPr>
          <a:xfrm>
            <a:off x="4857750" y="2754585"/>
            <a:ext cx="3679031" cy="192881"/>
          </a:xfrm>
          <a:prstGeom prst="rect">
            <a:avLst/>
          </a:prstGeom>
          <a:solidFill>
            <a:srgbClr val="FFD73D">
              <a:alpha val="10000"/>
            </a:srgbClr>
          </a:solidFill>
          <a:ln/>
        </p:spPr>
        <p:txBody>
          <a:bodyPr/>
          <a:lstStyle/>
          <a:p>
            <a:endParaRPr lang="en-US"/>
          </a:p>
        </p:txBody>
      </p:sp>
      <p:sp>
        <p:nvSpPr>
          <p:cNvPr id="29" name="Text 25"/>
          <p:cNvSpPr/>
          <p:nvPr/>
        </p:nvSpPr>
        <p:spPr>
          <a:xfrm>
            <a:off x="4986338" y="2797448"/>
            <a:ext cx="3421856" cy="150019"/>
          </a:xfrm>
          <a:prstGeom prst="rect">
            <a:avLst/>
          </a:prstGeom>
          <a:noFill/>
          <a:ln/>
        </p:spPr>
        <p:txBody>
          <a:bodyPr wrap="none" lIns="0" tIns="0" rIns="0" bIns="0" rtlCol="0" anchor="t">
            <a:spAutoFit/>
          </a:bodyPr>
          <a:lstStyle/>
          <a:p>
            <a:pPr marL="0" indent="0" algn="l">
              <a:lnSpc>
                <a:spcPts val="1200"/>
              </a:lnSpc>
              <a:buNone/>
            </a:pPr>
            <a:r>
              <a:rPr lang="en-US" sz="780" dirty="0">
                <a:solidFill>
                  <a:srgbClr val="FFFFFF"/>
                </a:solidFill>
              </a:rPr>
              <a:t>Partition by age: P(Y)=0.40, P(M)=0.35, P(S)=0.25.</a:t>
            </a:r>
            <a:endParaRPr lang="en-US" sz="780" dirty="0"/>
          </a:p>
        </p:txBody>
      </p:sp>
      <p:sp>
        <p:nvSpPr>
          <p:cNvPr id="30" name="Text 26"/>
          <p:cNvSpPr/>
          <p:nvPr/>
        </p:nvSpPr>
        <p:spPr>
          <a:xfrm>
            <a:off x="4857750" y="3004617"/>
            <a:ext cx="3679031" cy="166092"/>
          </a:xfrm>
          <a:prstGeom prst="rect">
            <a:avLst/>
          </a:prstGeom>
          <a:noFill/>
          <a:ln/>
        </p:spPr>
        <p:txBody>
          <a:bodyPr wrap="none" lIns="0" tIns="0" rIns="0" bIns="0" rtlCol="0" anchor="t">
            <a:spAutoFit/>
          </a:bodyPr>
          <a:lstStyle/>
          <a:p>
            <a:pPr marL="0" indent="0" algn="l">
              <a:lnSpc>
                <a:spcPts val="1100"/>
              </a:lnSpc>
              <a:buNone/>
            </a:pPr>
            <a:r>
              <a:rPr lang="en-US" sz="834" b="1" dirty="0">
                <a:solidFill>
                  <a:srgbClr val="FFD93D"/>
                </a:solidFill>
              </a:rPr>
              <a:t>Step 2: Conditional Probabilities</a:t>
            </a:r>
            <a:endParaRPr lang="en-US" sz="834" dirty="0"/>
          </a:p>
        </p:txBody>
      </p:sp>
      <p:sp>
        <p:nvSpPr>
          <p:cNvPr id="31" name="Shape 27"/>
          <p:cNvSpPr/>
          <p:nvPr/>
        </p:nvSpPr>
        <p:spPr>
          <a:xfrm>
            <a:off x="4857750" y="3213571"/>
            <a:ext cx="3679031" cy="192881"/>
          </a:xfrm>
          <a:prstGeom prst="rect">
            <a:avLst/>
          </a:prstGeom>
          <a:solidFill>
            <a:srgbClr val="FFD73D">
              <a:alpha val="10000"/>
            </a:srgbClr>
          </a:solidFill>
          <a:ln/>
        </p:spPr>
        <p:txBody>
          <a:bodyPr/>
          <a:lstStyle/>
          <a:p>
            <a:endParaRPr lang="en-US"/>
          </a:p>
        </p:txBody>
      </p:sp>
      <p:sp>
        <p:nvSpPr>
          <p:cNvPr id="32" name="Text 28"/>
          <p:cNvSpPr/>
          <p:nvPr/>
        </p:nvSpPr>
        <p:spPr>
          <a:xfrm>
            <a:off x="4986338" y="3256434"/>
            <a:ext cx="3421856" cy="150019"/>
          </a:xfrm>
          <a:prstGeom prst="rect">
            <a:avLst/>
          </a:prstGeom>
          <a:noFill/>
          <a:ln/>
        </p:spPr>
        <p:txBody>
          <a:bodyPr wrap="none" lIns="0" tIns="0" rIns="0" bIns="0" rtlCol="0" anchor="t">
            <a:spAutoFit/>
          </a:bodyPr>
          <a:lstStyle/>
          <a:p>
            <a:pPr marL="0" indent="0" algn="l">
              <a:lnSpc>
                <a:spcPts val="1200"/>
              </a:lnSpc>
              <a:buNone/>
            </a:pPr>
            <a:r>
              <a:rPr lang="en-US" sz="780" dirty="0">
                <a:solidFill>
                  <a:srgbClr val="FFFFFF"/>
                </a:solidFill>
              </a:rPr>
              <a:t>Let D = disease; P(D|Y)=0.01, P(D|M)=0.03, P(D|S)=0.08.</a:t>
            </a:r>
            <a:endParaRPr lang="en-US" sz="780" dirty="0"/>
          </a:p>
        </p:txBody>
      </p:sp>
      <p:sp>
        <p:nvSpPr>
          <p:cNvPr id="33" name="Text 29"/>
          <p:cNvSpPr/>
          <p:nvPr/>
        </p:nvSpPr>
        <p:spPr>
          <a:xfrm>
            <a:off x="4857750" y="3463603"/>
            <a:ext cx="3679031" cy="166092"/>
          </a:xfrm>
          <a:prstGeom prst="rect">
            <a:avLst/>
          </a:prstGeom>
          <a:noFill/>
          <a:ln/>
        </p:spPr>
        <p:txBody>
          <a:bodyPr wrap="none" lIns="0" tIns="0" rIns="0" bIns="0" rtlCol="0" anchor="t">
            <a:spAutoFit/>
          </a:bodyPr>
          <a:lstStyle/>
          <a:p>
            <a:pPr marL="0" indent="0" algn="l">
              <a:lnSpc>
                <a:spcPts val="1100"/>
              </a:lnSpc>
              <a:buNone/>
            </a:pPr>
            <a:r>
              <a:rPr lang="en-US" sz="834" b="1" dirty="0">
                <a:solidFill>
                  <a:srgbClr val="FFD93D"/>
                </a:solidFill>
              </a:rPr>
              <a:t>Step 3: Apply Law of Total Probability</a:t>
            </a:r>
            <a:endParaRPr lang="en-US" sz="834" dirty="0"/>
          </a:p>
        </p:txBody>
      </p:sp>
      <p:sp>
        <p:nvSpPr>
          <p:cNvPr id="34" name="Shape 30"/>
          <p:cNvSpPr/>
          <p:nvPr/>
        </p:nvSpPr>
        <p:spPr>
          <a:xfrm>
            <a:off x="4857750" y="3672557"/>
            <a:ext cx="3679031" cy="182863"/>
          </a:xfrm>
          <a:prstGeom prst="rect">
            <a:avLst/>
          </a:prstGeom>
          <a:solidFill>
            <a:srgbClr val="00D9FF">
              <a:alpha val="10000"/>
            </a:srgbClr>
          </a:solidFill>
          <a:ln/>
        </p:spPr>
        <p:txBody>
          <a:bodyPr/>
          <a:lstStyle/>
          <a:p>
            <a:endParaRPr lang="en-US"/>
          </a:p>
        </p:txBody>
      </p:sp>
      <p:sp>
        <p:nvSpPr>
          <p:cNvPr id="35" name="Text 31"/>
          <p:cNvSpPr/>
          <p:nvPr/>
        </p:nvSpPr>
        <p:spPr>
          <a:xfrm>
            <a:off x="4986338" y="3715420"/>
            <a:ext cx="3421856" cy="140001"/>
          </a:xfrm>
          <a:prstGeom prst="rect">
            <a:avLst/>
          </a:prstGeom>
          <a:noFill/>
          <a:ln/>
        </p:spPr>
        <p:txBody>
          <a:bodyPr wrap="none" lIns="0" tIns="0" rIns="0" bIns="0" rtlCol="0" anchor="t">
            <a:spAutoFit/>
          </a:bodyPr>
          <a:lstStyle/>
          <a:p>
            <a:pPr marL="0" indent="0" algn="l">
              <a:lnSpc>
                <a:spcPts val="1100"/>
              </a:lnSpc>
              <a:buNone/>
            </a:pPr>
            <a:r>
              <a:rPr lang="en-US" sz="683" b="1" dirty="0">
                <a:solidFill>
                  <a:srgbClr val="00D9FF"/>
                </a:solidFill>
              </a:rPr>
              <a:t>P(D) = P(Y)P(D|Y) + P(M)P(D|M) + P(S)P(D|S)</a:t>
            </a:r>
            <a:endParaRPr lang="en-US" sz="683" dirty="0"/>
          </a:p>
        </p:txBody>
      </p:sp>
      <p:sp>
        <p:nvSpPr>
          <p:cNvPr id="36" name="Shape 32"/>
          <p:cNvSpPr/>
          <p:nvPr/>
        </p:nvSpPr>
        <p:spPr>
          <a:xfrm>
            <a:off x="4857750" y="3912570"/>
            <a:ext cx="3679031" cy="192881"/>
          </a:xfrm>
          <a:prstGeom prst="rect">
            <a:avLst/>
          </a:prstGeom>
          <a:solidFill>
            <a:srgbClr val="FF6B9D">
              <a:alpha val="10000"/>
            </a:srgbClr>
          </a:solidFill>
          <a:ln/>
        </p:spPr>
        <p:txBody>
          <a:bodyPr/>
          <a:lstStyle/>
          <a:p>
            <a:endParaRPr lang="en-US"/>
          </a:p>
        </p:txBody>
      </p:sp>
      <p:sp>
        <p:nvSpPr>
          <p:cNvPr id="37" name="Text 33"/>
          <p:cNvSpPr/>
          <p:nvPr/>
        </p:nvSpPr>
        <p:spPr>
          <a:xfrm>
            <a:off x="4986338" y="3955433"/>
            <a:ext cx="3421856" cy="150019"/>
          </a:xfrm>
          <a:prstGeom prst="rect">
            <a:avLst/>
          </a:prstGeom>
          <a:noFill/>
          <a:ln/>
        </p:spPr>
        <p:txBody>
          <a:bodyPr wrap="none" lIns="0" tIns="0" rIns="0" bIns="0" rtlCol="0" anchor="t">
            <a:spAutoFit/>
          </a:bodyPr>
          <a:lstStyle/>
          <a:p>
            <a:pPr marL="0" indent="0" algn="l">
              <a:lnSpc>
                <a:spcPts val="1200"/>
              </a:lnSpc>
              <a:buNone/>
            </a:pPr>
            <a:r>
              <a:rPr lang="en-US" sz="780" dirty="0">
                <a:solidFill>
                  <a:srgbClr val="FFFFFF"/>
                </a:solidFill>
              </a:rPr>
              <a:t>P(D) = (0.40)(0.01) + (0.35)(0.03) + (0.25)(0.08) = 0.0345</a:t>
            </a:r>
            <a:endParaRPr lang="en-US" sz="780" dirty="0"/>
          </a:p>
        </p:txBody>
      </p:sp>
      <p:sp>
        <p:nvSpPr>
          <p:cNvPr id="38" name="Shape 34"/>
          <p:cNvSpPr/>
          <p:nvPr/>
        </p:nvSpPr>
        <p:spPr>
          <a:xfrm>
            <a:off x="4857750" y="4162602"/>
            <a:ext cx="3679031" cy="217884"/>
          </a:xfrm>
          <a:prstGeom prst="rect">
            <a:avLst/>
          </a:prstGeom>
          <a:solidFill>
            <a:srgbClr val="FF6B9D">
              <a:alpha val="15000"/>
            </a:srgbClr>
          </a:solidFill>
          <a:ln/>
        </p:spPr>
        <p:txBody>
          <a:bodyPr/>
          <a:lstStyle/>
          <a:p>
            <a:endParaRPr lang="en-US"/>
          </a:p>
        </p:txBody>
      </p:sp>
      <p:sp>
        <p:nvSpPr>
          <p:cNvPr id="39" name="Text 35"/>
          <p:cNvSpPr/>
          <p:nvPr/>
        </p:nvSpPr>
        <p:spPr>
          <a:xfrm>
            <a:off x="4986338" y="4205464"/>
            <a:ext cx="3421856" cy="175022"/>
          </a:xfrm>
          <a:prstGeom prst="rect">
            <a:avLst/>
          </a:prstGeom>
          <a:noFill/>
          <a:ln/>
        </p:spPr>
        <p:txBody>
          <a:bodyPr wrap="none" lIns="0" tIns="0" rIns="0" bIns="0" rtlCol="0" anchor="t">
            <a:spAutoFit/>
          </a:bodyPr>
          <a:lstStyle/>
          <a:p>
            <a:pPr marL="0" indent="0" algn="ctr">
              <a:lnSpc>
                <a:spcPts val="1200"/>
              </a:lnSpc>
              <a:buNone/>
            </a:pPr>
            <a:r>
              <a:rPr lang="en-US" sz="885" b="1" dirty="0">
                <a:solidFill>
                  <a:srgbClr val="FF6B9D"/>
                </a:solidFill>
              </a:rPr>
              <a:t>Answer: P(Disease) = 0.0345 or 3.45%</a:t>
            </a:r>
            <a:endParaRPr lang="en-US" sz="885"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459750"/>
          </a:xfrm>
          <a:prstGeom prst="rect">
            <a:avLst/>
          </a:prstGeom>
        </p:spPr>
      </p:pic>
      <p:sp>
        <p:nvSpPr>
          <p:cNvPr id="4" name="Text 0"/>
          <p:cNvSpPr/>
          <p:nvPr/>
        </p:nvSpPr>
        <p:spPr>
          <a:xfrm>
            <a:off x="0" y="357188"/>
            <a:ext cx="9144000" cy="466130"/>
          </a:xfrm>
          <a:prstGeom prst="rect">
            <a:avLst/>
          </a:prstGeom>
          <a:noFill/>
          <a:ln/>
        </p:spPr>
        <p:txBody>
          <a:bodyPr wrap="none" lIns="0" tIns="0" rIns="0" bIns="0" rtlCol="0" anchor="t">
            <a:spAutoFit/>
          </a:bodyPr>
          <a:lstStyle/>
          <a:p>
            <a:pPr marL="0" indent="0" algn="ctr">
              <a:lnSpc>
                <a:spcPts val="3200"/>
              </a:lnSpc>
              <a:buNone/>
            </a:pPr>
            <a:r>
              <a:rPr lang="en-US" sz="2436" b="1" dirty="0">
                <a:solidFill>
                  <a:srgbClr val="00D9FF"/>
                </a:solidFill>
              </a:rPr>
              <a:t>Bayes' Theorem</a:t>
            </a:r>
            <a:endParaRPr lang="en-US" sz="2436" dirty="0"/>
          </a:p>
        </p:txBody>
      </p:sp>
      <p:sp>
        <p:nvSpPr>
          <p:cNvPr id="5" name="Shape 1"/>
          <p:cNvSpPr/>
          <p:nvPr/>
        </p:nvSpPr>
        <p:spPr>
          <a:xfrm>
            <a:off x="500063" y="994767"/>
            <a:ext cx="3893344" cy="1416555"/>
          </a:xfrm>
          <a:prstGeom prst="rect">
            <a:avLst/>
          </a:prstGeom>
          <a:solidFill>
            <a:srgbClr val="FF6B9D">
              <a:alpha val="15000"/>
            </a:srgbClr>
          </a:solidFill>
          <a:ln/>
        </p:spPr>
        <p:txBody>
          <a:bodyPr/>
          <a:lstStyle/>
          <a:p>
            <a:endParaRPr lang="en-US"/>
          </a:p>
        </p:txBody>
      </p:sp>
      <p:sp>
        <p:nvSpPr>
          <p:cNvPr id="6" name="Text 2"/>
          <p:cNvSpPr/>
          <p:nvPr/>
        </p:nvSpPr>
        <p:spPr>
          <a:xfrm>
            <a:off x="678656" y="1123355"/>
            <a:ext cx="3536156"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FF6B9D"/>
                </a:solidFill>
              </a:rPr>
              <a:t>Theorem Statement</a:t>
            </a:r>
            <a:endParaRPr lang="en-US" sz="1193" dirty="0"/>
          </a:p>
        </p:txBody>
      </p:sp>
      <p:sp>
        <p:nvSpPr>
          <p:cNvPr id="7" name="Text 3"/>
          <p:cNvSpPr/>
          <p:nvPr/>
        </p:nvSpPr>
        <p:spPr>
          <a:xfrm>
            <a:off x="678656" y="1443038"/>
            <a:ext cx="3536156" cy="312539"/>
          </a:xfrm>
          <a:prstGeom prst="rect">
            <a:avLst/>
          </a:prstGeom>
          <a:noFill/>
          <a:ln/>
        </p:spPr>
        <p:txBody>
          <a:bodyPr wrap="none" lIns="0" tIns="0" rIns="0" bIns="0" rtlCol="0" anchor="t">
            <a:spAutoFit/>
          </a:bodyPr>
          <a:lstStyle/>
          <a:p>
            <a:pPr marL="0" indent="0" algn="ctr">
              <a:lnSpc>
                <a:spcPts val="2200"/>
              </a:lnSpc>
              <a:buNone/>
            </a:pPr>
            <a:r>
              <a:rPr lang="en-US" sz="1602" b="1" dirty="0">
                <a:solidFill>
                  <a:srgbClr val="FF6B9D"/>
                </a:solidFill>
              </a:rPr>
              <a:t>P(A|B) = P(B|A) × P(A) / P(B)</a:t>
            </a:r>
            <a:endParaRPr lang="en-US" sz="1602" dirty="0"/>
          </a:p>
        </p:txBody>
      </p:sp>
      <p:sp>
        <p:nvSpPr>
          <p:cNvPr id="8" name="Text 4"/>
          <p:cNvSpPr/>
          <p:nvPr/>
        </p:nvSpPr>
        <p:spPr>
          <a:xfrm>
            <a:off x="678656" y="1862733"/>
            <a:ext cx="3536156" cy="54859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FFFFFF"/>
                </a:solidFill>
              </a:rPr>
              <a:t>Bayes' Theorem allows us to </a:t>
            </a:r>
            <a:r>
              <a:rPr lang="en-US" sz="784" b="1" dirty="0">
                <a:solidFill>
                  <a:srgbClr val="FFFFFF"/>
                </a:solidFill>
              </a:rPr>
              <a:t>"reverse" conditional probabilities</a:t>
            </a:r>
            <a:r>
              <a:rPr lang="en-US" sz="834" dirty="0">
                <a:solidFill>
                  <a:srgbClr val="FFFFFF"/>
                </a:solidFill>
              </a:rPr>
              <a:t>: if we know P(B|A), we can find P(A|B). This is fundamental for updating beliefs based on new evidence.</a:t>
            </a:r>
            <a:endParaRPr lang="en-US" sz="834" dirty="0"/>
          </a:p>
        </p:txBody>
      </p:sp>
      <p:sp>
        <p:nvSpPr>
          <p:cNvPr id="9" name="Shape 5"/>
          <p:cNvSpPr/>
          <p:nvPr/>
        </p:nvSpPr>
        <p:spPr>
          <a:xfrm>
            <a:off x="500063" y="2554198"/>
            <a:ext cx="3893344" cy="2279191"/>
          </a:xfrm>
          <a:prstGeom prst="rect">
            <a:avLst/>
          </a:prstGeom>
          <a:solidFill>
            <a:srgbClr val="00D9FF">
              <a:alpha val="10000"/>
            </a:srgbClr>
          </a:solidFill>
          <a:ln/>
        </p:spPr>
        <p:txBody>
          <a:bodyPr/>
          <a:lstStyle/>
          <a:p>
            <a:endParaRPr lang="en-US"/>
          </a:p>
        </p:txBody>
      </p:sp>
      <p:sp>
        <p:nvSpPr>
          <p:cNvPr id="10" name="Text 6"/>
          <p:cNvSpPr/>
          <p:nvPr/>
        </p:nvSpPr>
        <p:spPr>
          <a:xfrm>
            <a:off x="657225" y="2661354"/>
            <a:ext cx="3579019"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D9FF"/>
                </a:solidFill>
              </a:rPr>
              <a:t>Derivation</a:t>
            </a:r>
            <a:endParaRPr lang="en-US" sz="987" dirty="0"/>
          </a:p>
        </p:txBody>
      </p:sp>
      <p:sp>
        <p:nvSpPr>
          <p:cNvPr id="11" name="Text 7"/>
          <p:cNvSpPr/>
          <p:nvPr/>
        </p:nvSpPr>
        <p:spPr>
          <a:xfrm>
            <a:off x="657225" y="2945318"/>
            <a:ext cx="2314575" cy="146447"/>
          </a:xfrm>
          <a:prstGeom prst="rect">
            <a:avLst/>
          </a:prstGeom>
          <a:noFill/>
          <a:ln/>
        </p:spPr>
        <p:txBody>
          <a:bodyPr wrap="none" lIns="0" tIns="0" rIns="0" bIns="0" rtlCol="0" anchor="t">
            <a:spAutoFit/>
          </a:bodyPr>
          <a:lstStyle/>
          <a:p>
            <a:pPr marL="0" indent="0" algn="l">
              <a:lnSpc>
                <a:spcPts val="1400"/>
              </a:lnSpc>
              <a:buNone/>
            </a:pPr>
            <a:r>
              <a:rPr lang="en-US" sz="780" dirty="0">
                <a:solidFill>
                  <a:srgbClr val="FFFFFF"/>
                </a:solidFill>
              </a:rPr>
              <a:t>Start with the multiplication rule in two forms:</a:t>
            </a:r>
            <a:endParaRPr lang="en-US" sz="780" dirty="0"/>
          </a:p>
        </p:txBody>
      </p:sp>
      <p:sp>
        <p:nvSpPr>
          <p:cNvPr id="12" name="Text 8"/>
          <p:cNvSpPr/>
          <p:nvPr/>
        </p:nvSpPr>
        <p:spPr>
          <a:xfrm>
            <a:off x="657225" y="3166774"/>
            <a:ext cx="3579019" cy="194304"/>
          </a:xfrm>
          <a:prstGeom prst="rect">
            <a:avLst/>
          </a:prstGeom>
          <a:noFill/>
          <a:ln/>
        </p:spPr>
        <p:txBody>
          <a:bodyPr wrap="none" lIns="0" tIns="0" rIns="0" bIns="0" rtlCol="0" anchor="t">
            <a:spAutoFit/>
          </a:bodyPr>
          <a:lstStyle/>
          <a:p>
            <a:pPr marL="0" indent="0" algn="l">
              <a:lnSpc>
                <a:spcPts val="1500"/>
              </a:lnSpc>
              <a:buNone/>
            </a:pPr>
            <a:r>
              <a:rPr lang="en-US" sz="784" b="1" dirty="0">
                <a:solidFill>
                  <a:srgbClr val="00D9FF"/>
                </a:solidFill>
              </a:rPr>
              <a:t>P(A ∩ B) = P(A|B) × P(B)</a:t>
            </a:r>
            <a:endParaRPr lang="en-US" sz="784" dirty="0"/>
          </a:p>
        </p:txBody>
      </p:sp>
      <p:sp>
        <p:nvSpPr>
          <p:cNvPr id="13" name="Text 9"/>
          <p:cNvSpPr/>
          <p:nvPr/>
        </p:nvSpPr>
        <p:spPr>
          <a:xfrm>
            <a:off x="657225" y="3418229"/>
            <a:ext cx="3579019" cy="194304"/>
          </a:xfrm>
          <a:prstGeom prst="rect">
            <a:avLst/>
          </a:prstGeom>
          <a:noFill/>
          <a:ln/>
        </p:spPr>
        <p:txBody>
          <a:bodyPr wrap="none" lIns="0" tIns="0" rIns="0" bIns="0" rtlCol="0" anchor="t">
            <a:spAutoFit/>
          </a:bodyPr>
          <a:lstStyle/>
          <a:p>
            <a:pPr marL="0" indent="0" algn="l">
              <a:lnSpc>
                <a:spcPts val="1500"/>
              </a:lnSpc>
              <a:buNone/>
            </a:pPr>
            <a:r>
              <a:rPr lang="en-US" sz="784" b="1" dirty="0">
                <a:solidFill>
                  <a:srgbClr val="00D9FF"/>
                </a:solidFill>
              </a:rPr>
              <a:t>P(A ∩ B) = P(B|A) × P(A)</a:t>
            </a:r>
            <a:endParaRPr lang="en-US" sz="784" dirty="0"/>
          </a:p>
        </p:txBody>
      </p:sp>
      <p:sp>
        <p:nvSpPr>
          <p:cNvPr id="14" name="Text 10"/>
          <p:cNvSpPr/>
          <p:nvPr/>
        </p:nvSpPr>
        <p:spPr>
          <a:xfrm>
            <a:off x="657225" y="3687542"/>
            <a:ext cx="2509717" cy="146447"/>
          </a:xfrm>
          <a:prstGeom prst="rect">
            <a:avLst/>
          </a:prstGeom>
          <a:noFill/>
          <a:ln/>
        </p:spPr>
        <p:txBody>
          <a:bodyPr wrap="none" lIns="0" tIns="0" rIns="0" bIns="0" rtlCol="0" anchor="t">
            <a:spAutoFit/>
          </a:bodyPr>
          <a:lstStyle/>
          <a:p>
            <a:pPr marL="0" indent="0" algn="l">
              <a:lnSpc>
                <a:spcPts val="1400"/>
              </a:lnSpc>
              <a:buNone/>
            </a:pPr>
            <a:r>
              <a:rPr lang="en-US" sz="780" dirty="0">
                <a:solidFill>
                  <a:srgbClr val="FFFFFF"/>
                </a:solidFill>
              </a:rPr>
              <a:t>Since both equal P(A ∩ B), we can set them equal:</a:t>
            </a:r>
            <a:endParaRPr lang="en-US" sz="780" dirty="0"/>
          </a:p>
        </p:txBody>
      </p:sp>
      <p:sp>
        <p:nvSpPr>
          <p:cNvPr id="15" name="Text 11"/>
          <p:cNvSpPr/>
          <p:nvPr/>
        </p:nvSpPr>
        <p:spPr>
          <a:xfrm>
            <a:off x="657225" y="3908999"/>
            <a:ext cx="3579019" cy="194304"/>
          </a:xfrm>
          <a:prstGeom prst="rect">
            <a:avLst/>
          </a:prstGeom>
          <a:noFill/>
          <a:ln/>
        </p:spPr>
        <p:txBody>
          <a:bodyPr wrap="none" lIns="0" tIns="0" rIns="0" bIns="0" rtlCol="0" anchor="t">
            <a:spAutoFit/>
          </a:bodyPr>
          <a:lstStyle/>
          <a:p>
            <a:pPr marL="0" indent="0" algn="l">
              <a:lnSpc>
                <a:spcPts val="1500"/>
              </a:lnSpc>
              <a:buNone/>
            </a:pPr>
            <a:r>
              <a:rPr lang="en-US" sz="784" b="1" dirty="0">
                <a:solidFill>
                  <a:srgbClr val="00D9FF"/>
                </a:solidFill>
              </a:rPr>
              <a:t>P(A|B) × P(B) = P(B|A) × P(A)</a:t>
            </a:r>
            <a:endParaRPr lang="en-US" sz="784" dirty="0"/>
          </a:p>
        </p:txBody>
      </p:sp>
      <p:sp>
        <p:nvSpPr>
          <p:cNvPr id="16" name="Text 12"/>
          <p:cNvSpPr/>
          <p:nvPr/>
        </p:nvSpPr>
        <p:spPr>
          <a:xfrm>
            <a:off x="657225" y="4178312"/>
            <a:ext cx="2107992" cy="146447"/>
          </a:xfrm>
          <a:prstGeom prst="rect">
            <a:avLst/>
          </a:prstGeom>
          <a:noFill/>
          <a:ln/>
        </p:spPr>
        <p:txBody>
          <a:bodyPr wrap="none" lIns="0" tIns="0" rIns="0" bIns="0" rtlCol="0" anchor="t">
            <a:spAutoFit/>
          </a:bodyPr>
          <a:lstStyle/>
          <a:p>
            <a:pPr marL="0" indent="0" algn="l">
              <a:lnSpc>
                <a:spcPts val="1400"/>
              </a:lnSpc>
              <a:buNone/>
            </a:pPr>
            <a:r>
              <a:rPr lang="en-US" sz="780" dirty="0">
                <a:solidFill>
                  <a:srgbClr val="FFFFFF"/>
                </a:solidFill>
              </a:rPr>
              <a:t>Divide both sides by P(B) to isolate P(A|B):</a:t>
            </a:r>
            <a:endParaRPr lang="en-US" sz="780" dirty="0"/>
          </a:p>
        </p:txBody>
      </p:sp>
      <p:sp>
        <p:nvSpPr>
          <p:cNvPr id="17" name="Text 13"/>
          <p:cNvSpPr/>
          <p:nvPr/>
        </p:nvSpPr>
        <p:spPr>
          <a:xfrm>
            <a:off x="657225" y="4399769"/>
            <a:ext cx="3579019" cy="194304"/>
          </a:xfrm>
          <a:prstGeom prst="rect">
            <a:avLst/>
          </a:prstGeom>
          <a:noFill/>
          <a:ln/>
        </p:spPr>
        <p:txBody>
          <a:bodyPr wrap="none" lIns="0" tIns="0" rIns="0" bIns="0" rtlCol="0" anchor="t">
            <a:spAutoFit/>
          </a:bodyPr>
          <a:lstStyle/>
          <a:p>
            <a:pPr marL="0" indent="0" algn="l">
              <a:lnSpc>
                <a:spcPts val="1500"/>
              </a:lnSpc>
              <a:buNone/>
            </a:pPr>
            <a:r>
              <a:rPr lang="en-US" sz="784" b="1" dirty="0">
                <a:solidFill>
                  <a:srgbClr val="00D9FF"/>
                </a:solidFill>
              </a:rPr>
              <a:t>P(A|B) = P(B|A) × P(A) / P(B)</a:t>
            </a:r>
            <a:endParaRPr lang="en-US" sz="784" dirty="0"/>
          </a:p>
        </p:txBody>
      </p:sp>
      <p:sp>
        <p:nvSpPr>
          <p:cNvPr id="18" name="Text 14"/>
          <p:cNvSpPr/>
          <p:nvPr/>
        </p:nvSpPr>
        <p:spPr>
          <a:xfrm>
            <a:off x="657225" y="4669082"/>
            <a:ext cx="339496" cy="146447"/>
          </a:xfrm>
          <a:prstGeom prst="rect">
            <a:avLst/>
          </a:prstGeom>
          <a:noFill/>
          <a:ln/>
        </p:spPr>
        <p:txBody>
          <a:bodyPr wrap="none" lIns="0" tIns="0" rIns="0" bIns="0" rtlCol="0" anchor="t">
            <a:spAutoFit/>
          </a:bodyPr>
          <a:lstStyle/>
          <a:p>
            <a:pPr marL="0" indent="0" algn="l">
              <a:lnSpc>
                <a:spcPts val="1400"/>
              </a:lnSpc>
              <a:buNone/>
            </a:pPr>
            <a:r>
              <a:rPr lang="en-US" sz="780" dirty="0">
                <a:solidFill>
                  <a:srgbClr val="FFFFFF"/>
                </a:solidFill>
              </a:rPr>
              <a:t>This is</a:t>
            </a:r>
            <a:endParaRPr lang="en-US" sz="780" dirty="0"/>
          </a:p>
        </p:txBody>
      </p:sp>
      <p:sp>
        <p:nvSpPr>
          <p:cNvPr id="19" name="Text 15"/>
          <p:cNvSpPr/>
          <p:nvPr/>
        </p:nvSpPr>
        <p:spPr>
          <a:xfrm>
            <a:off x="996721" y="4669082"/>
            <a:ext cx="847846" cy="146447"/>
          </a:xfrm>
          <a:prstGeom prst="rect">
            <a:avLst/>
          </a:prstGeom>
          <a:noFill/>
          <a:ln/>
        </p:spPr>
        <p:txBody>
          <a:bodyPr wrap="none" lIns="0" tIns="0" rIns="0" bIns="0" rtlCol="0" anchor="t">
            <a:spAutoFit/>
          </a:bodyPr>
          <a:lstStyle/>
          <a:p>
            <a:pPr marL="0" indent="0" algn="l">
              <a:lnSpc>
                <a:spcPts val="1400"/>
              </a:lnSpc>
              <a:buNone/>
            </a:pPr>
            <a:r>
              <a:rPr lang="en-US" sz="734" b="1" dirty="0">
                <a:solidFill>
                  <a:srgbClr val="FFFFFF"/>
                </a:solidFill>
              </a:rPr>
              <a:t>Bayes' Theorem</a:t>
            </a:r>
            <a:endParaRPr lang="en-US" sz="734" dirty="0"/>
          </a:p>
        </p:txBody>
      </p:sp>
      <p:sp>
        <p:nvSpPr>
          <p:cNvPr id="20" name="Text 16"/>
          <p:cNvSpPr/>
          <p:nvPr/>
        </p:nvSpPr>
        <p:spPr>
          <a:xfrm>
            <a:off x="1844566" y="4669082"/>
            <a:ext cx="28742" cy="146447"/>
          </a:xfrm>
          <a:prstGeom prst="rect">
            <a:avLst/>
          </a:prstGeom>
          <a:noFill/>
          <a:ln/>
        </p:spPr>
        <p:txBody>
          <a:bodyPr wrap="none" lIns="0" tIns="0" rIns="0" bIns="0" rtlCol="0" anchor="t">
            <a:spAutoFit/>
          </a:bodyPr>
          <a:lstStyle/>
          <a:p>
            <a:pPr marL="0" indent="0" algn="l">
              <a:lnSpc>
                <a:spcPts val="1400"/>
              </a:lnSpc>
              <a:buNone/>
            </a:pPr>
            <a:r>
              <a:rPr lang="en-US" sz="780" dirty="0">
                <a:solidFill>
                  <a:srgbClr val="FFFFFF"/>
                </a:solidFill>
              </a:rPr>
              <a:t>.</a:t>
            </a:r>
            <a:endParaRPr lang="en-US" sz="780" dirty="0"/>
          </a:p>
        </p:txBody>
      </p:sp>
      <p:sp>
        <p:nvSpPr>
          <p:cNvPr id="21" name="Shape 17"/>
          <p:cNvSpPr/>
          <p:nvPr/>
        </p:nvSpPr>
        <p:spPr>
          <a:xfrm>
            <a:off x="4750594" y="994767"/>
            <a:ext cx="3893344" cy="1874481"/>
          </a:xfrm>
          <a:prstGeom prst="rect">
            <a:avLst/>
          </a:prstGeom>
          <a:solidFill>
            <a:srgbClr val="FFD73D">
              <a:alpha val="10000"/>
            </a:srgbClr>
          </a:solidFill>
          <a:ln/>
        </p:spPr>
        <p:txBody>
          <a:bodyPr/>
          <a:lstStyle/>
          <a:p>
            <a:endParaRPr lang="en-US"/>
          </a:p>
        </p:txBody>
      </p:sp>
      <p:sp>
        <p:nvSpPr>
          <p:cNvPr id="22" name="Text 18"/>
          <p:cNvSpPr/>
          <p:nvPr/>
        </p:nvSpPr>
        <p:spPr>
          <a:xfrm>
            <a:off x="4929188" y="1123355"/>
            <a:ext cx="3536156" cy="214313"/>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FFD93D"/>
                </a:solidFill>
              </a:rPr>
              <a:t>Intuitive Interpretation</a:t>
            </a:r>
            <a:endParaRPr lang="en-US" sz="1090" dirty="0"/>
          </a:p>
        </p:txBody>
      </p:sp>
      <p:sp>
        <p:nvSpPr>
          <p:cNvPr id="23" name="Text 19"/>
          <p:cNvSpPr/>
          <p:nvPr/>
        </p:nvSpPr>
        <p:spPr>
          <a:xfrm>
            <a:off x="4929188" y="1423392"/>
            <a:ext cx="3536156" cy="777218"/>
          </a:xfrm>
          <a:prstGeom prst="rect">
            <a:avLst/>
          </a:prstGeom>
          <a:noFill/>
          <a:ln/>
        </p:spPr>
        <p:txBody>
          <a:bodyPr wrap="square" lIns="0" tIns="0" rIns="0" bIns="0" rtlCol="0" anchor="t">
            <a:spAutoFit/>
          </a:bodyPr>
          <a:lstStyle/>
          <a:p>
            <a:pPr marL="0" indent="0" algn="l">
              <a:lnSpc>
                <a:spcPts val="1500"/>
              </a:lnSpc>
              <a:buNone/>
            </a:pPr>
            <a:r>
              <a:rPr lang="en-US" sz="888" dirty="0">
                <a:solidFill>
                  <a:srgbClr val="FFFFFF"/>
                </a:solidFill>
              </a:rPr>
              <a:t>Bayes' Theorem is about </a:t>
            </a:r>
            <a:r>
              <a:rPr lang="en-US" sz="834" b="1" dirty="0">
                <a:solidFill>
                  <a:srgbClr val="FFFFFF"/>
                </a:solidFill>
              </a:rPr>
              <a:t>updating beliefs</a:t>
            </a:r>
            <a:r>
              <a:rPr lang="en-US" sz="888" dirty="0">
                <a:solidFill>
                  <a:srgbClr val="FFFFFF"/>
                </a:solidFill>
              </a:rPr>
              <a:t> in light of new evidence. You start with an initial belief P(A) (the </a:t>
            </a:r>
            <a:r>
              <a:rPr lang="en-US" sz="834" b="1" dirty="0">
                <a:solidFill>
                  <a:srgbClr val="FFFFFF"/>
                </a:solidFill>
              </a:rPr>
              <a:t>prior</a:t>
            </a:r>
            <a:r>
              <a:rPr lang="en-US" sz="888" dirty="0">
                <a:solidFill>
                  <a:srgbClr val="FFFFFF"/>
                </a:solidFill>
              </a:rPr>
              <a:t>), observe evidence B, and update to a new belief P(A|B) (the </a:t>
            </a:r>
            <a:r>
              <a:rPr lang="en-US" sz="834" b="1" dirty="0">
                <a:solidFill>
                  <a:srgbClr val="FFFFFF"/>
                </a:solidFill>
              </a:rPr>
              <a:t>posterior</a:t>
            </a:r>
            <a:r>
              <a:rPr lang="en-US" sz="888" dirty="0">
                <a:solidFill>
                  <a:srgbClr val="FFFFFF"/>
                </a:solidFill>
              </a:rPr>
              <a:t>).</a:t>
            </a:r>
            <a:endParaRPr lang="en-US" sz="888" dirty="0"/>
          </a:p>
        </p:txBody>
      </p:sp>
      <p:sp>
        <p:nvSpPr>
          <p:cNvPr id="24" name="Text 20"/>
          <p:cNvSpPr/>
          <p:nvPr/>
        </p:nvSpPr>
        <p:spPr>
          <a:xfrm>
            <a:off x="4929188" y="2286335"/>
            <a:ext cx="3536156" cy="582913"/>
          </a:xfrm>
          <a:prstGeom prst="rect">
            <a:avLst/>
          </a:prstGeom>
          <a:noFill/>
          <a:ln/>
        </p:spPr>
        <p:txBody>
          <a:bodyPr wrap="square" lIns="0" tIns="0" rIns="0" bIns="0" rtlCol="0" anchor="t">
            <a:spAutoFit/>
          </a:bodyPr>
          <a:lstStyle/>
          <a:p>
            <a:pPr marL="0" indent="0" algn="l">
              <a:lnSpc>
                <a:spcPts val="1500"/>
              </a:lnSpc>
              <a:buNone/>
            </a:pPr>
            <a:r>
              <a:rPr lang="en-US" sz="888" dirty="0">
                <a:solidFill>
                  <a:srgbClr val="FFFFFF"/>
                </a:solidFill>
              </a:rPr>
              <a:t>The theorem tells us how to weight the evidence: stronger evidence (higher P(B|A)) leads to a larger update, but we also account for how common the evidence is overall (P(B)).</a:t>
            </a:r>
            <a:endParaRPr lang="en-US" sz="888" dirty="0"/>
          </a:p>
        </p:txBody>
      </p:sp>
      <p:sp>
        <p:nvSpPr>
          <p:cNvPr id="25" name="Shape 21"/>
          <p:cNvSpPr/>
          <p:nvPr/>
        </p:nvSpPr>
        <p:spPr>
          <a:xfrm>
            <a:off x="4750594" y="3012123"/>
            <a:ext cx="3893344" cy="2304752"/>
          </a:xfrm>
          <a:prstGeom prst="rect">
            <a:avLst/>
          </a:prstGeom>
          <a:solidFill>
            <a:srgbClr val="00D9FF">
              <a:alpha val="10000"/>
            </a:srgbClr>
          </a:solidFill>
          <a:ln/>
        </p:spPr>
        <p:txBody>
          <a:bodyPr/>
          <a:lstStyle/>
          <a:p>
            <a:endParaRPr lang="en-US"/>
          </a:p>
        </p:txBody>
      </p:sp>
      <p:sp>
        <p:nvSpPr>
          <p:cNvPr id="26" name="Text 22"/>
          <p:cNvSpPr/>
          <p:nvPr/>
        </p:nvSpPr>
        <p:spPr>
          <a:xfrm>
            <a:off x="4907756" y="3119279"/>
            <a:ext cx="3579019"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D9FF"/>
                </a:solidFill>
              </a:rPr>
              <a:t>Why Bayes' Theorem Matters</a:t>
            </a:r>
            <a:endParaRPr lang="en-US" sz="987" dirty="0"/>
          </a:p>
        </p:txBody>
      </p:sp>
      <p:sp>
        <p:nvSpPr>
          <p:cNvPr id="27" name="Text 23"/>
          <p:cNvSpPr/>
          <p:nvPr/>
        </p:nvSpPr>
        <p:spPr>
          <a:xfrm>
            <a:off x="5086350" y="3410387"/>
            <a:ext cx="1212177" cy="155377"/>
          </a:xfrm>
          <a:prstGeom prst="rect">
            <a:avLst/>
          </a:prstGeom>
          <a:noFill/>
          <a:ln/>
        </p:spPr>
        <p:txBody>
          <a:bodyPr wrap="none" lIns="0" tIns="0" rIns="0" bIns="0" rtlCol="0" anchor="t">
            <a:spAutoFit/>
          </a:bodyPr>
          <a:lstStyle/>
          <a:p>
            <a:pPr marL="0" indent="0" algn="l">
              <a:lnSpc>
                <a:spcPts val="1600"/>
              </a:lnSpc>
              <a:buNone/>
            </a:pPr>
            <a:r>
              <a:rPr lang="en-US" sz="784" b="1" dirty="0">
                <a:solidFill>
                  <a:srgbClr val="FF6B9D"/>
                </a:solidFill>
              </a:rPr>
              <a:t>Diagnostic reasoning:</a:t>
            </a:r>
            <a:endParaRPr lang="en-US" sz="784" dirty="0"/>
          </a:p>
        </p:txBody>
      </p:sp>
      <p:sp>
        <p:nvSpPr>
          <p:cNvPr id="28" name="Text 24"/>
          <p:cNvSpPr/>
          <p:nvPr/>
        </p:nvSpPr>
        <p:spPr>
          <a:xfrm>
            <a:off x="5086350" y="3410387"/>
            <a:ext cx="3169927" cy="361094"/>
          </a:xfrm>
          <a:prstGeom prst="rect">
            <a:avLst/>
          </a:prstGeom>
          <a:noFill/>
          <a:ln/>
        </p:spPr>
        <p:txBody>
          <a:bodyPr wrap="square" lIns="0" tIns="0" rIns="0" bIns="0" rtlCol="0" anchor="t">
            <a:spAutoFit/>
          </a:bodyPr>
          <a:lstStyle/>
          <a:p>
            <a:pPr marL="0" indent="0" algn="l">
              <a:lnSpc>
                <a:spcPts val="1600"/>
              </a:lnSpc>
              <a:buNone/>
            </a:pPr>
            <a:r>
              <a:rPr lang="en-US" sz="834" dirty="0">
                <a:solidFill>
                  <a:srgbClr val="FFFFFF"/>
                </a:solidFill>
              </a:rPr>
              <a:t>From symptoms to disease (medical diagnosis)</a:t>
            </a:r>
            <a:endParaRPr lang="en-US" sz="834" dirty="0"/>
          </a:p>
        </p:txBody>
      </p:sp>
      <p:sp>
        <p:nvSpPr>
          <p:cNvPr id="29" name="Text 25"/>
          <p:cNvSpPr/>
          <p:nvPr/>
        </p:nvSpPr>
        <p:spPr>
          <a:xfrm>
            <a:off x="5086350" y="3878973"/>
            <a:ext cx="1005287" cy="155377"/>
          </a:xfrm>
          <a:prstGeom prst="rect">
            <a:avLst/>
          </a:prstGeom>
          <a:noFill/>
          <a:ln/>
        </p:spPr>
        <p:txBody>
          <a:bodyPr wrap="none" lIns="0" tIns="0" rIns="0" bIns="0" rtlCol="0" anchor="t">
            <a:spAutoFit/>
          </a:bodyPr>
          <a:lstStyle/>
          <a:p>
            <a:pPr marL="0" indent="0" algn="l">
              <a:lnSpc>
                <a:spcPts val="1600"/>
              </a:lnSpc>
              <a:buNone/>
            </a:pPr>
            <a:r>
              <a:rPr lang="en-US" sz="784" b="1" dirty="0">
                <a:solidFill>
                  <a:srgbClr val="FF6B9D"/>
                </a:solidFill>
              </a:rPr>
              <a:t>Inverse problems:</a:t>
            </a:r>
            <a:endParaRPr lang="en-US" sz="784" dirty="0"/>
          </a:p>
        </p:txBody>
      </p:sp>
      <p:sp>
        <p:nvSpPr>
          <p:cNvPr id="30" name="Text 26"/>
          <p:cNvSpPr/>
          <p:nvPr/>
        </p:nvSpPr>
        <p:spPr>
          <a:xfrm>
            <a:off x="6091637" y="3878973"/>
            <a:ext cx="1231599" cy="155377"/>
          </a:xfrm>
          <a:prstGeom prst="rect">
            <a:avLst/>
          </a:prstGeom>
          <a:noFill/>
          <a:ln/>
        </p:spPr>
        <p:txBody>
          <a:bodyPr wrap="none" lIns="0" tIns="0" rIns="0" bIns="0" rtlCol="0" anchor="t">
            <a:spAutoFit/>
          </a:bodyPr>
          <a:lstStyle/>
          <a:p>
            <a:pPr marL="0" indent="0" algn="l">
              <a:lnSpc>
                <a:spcPts val="1600"/>
              </a:lnSpc>
              <a:buNone/>
            </a:pPr>
            <a:r>
              <a:rPr lang="en-US" sz="834" dirty="0">
                <a:solidFill>
                  <a:srgbClr val="FFFFFF"/>
                </a:solidFill>
              </a:rPr>
              <a:t>From effects to causes</a:t>
            </a:r>
            <a:endParaRPr lang="en-US" sz="834" dirty="0"/>
          </a:p>
        </p:txBody>
      </p:sp>
      <p:sp>
        <p:nvSpPr>
          <p:cNvPr id="31" name="Text 27"/>
          <p:cNvSpPr/>
          <p:nvPr/>
        </p:nvSpPr>
        <p:spPr>
          <a:xfrm>
            <a:off x="5086350" y="4141840"/>
            <a:ext cx="1005957" cy="155377"/>
          </a:xfrm>
          <a:prstGeom prst="rect">
            <a:avLst/>
          </a:prstGeom>
          <a:noFill/>
          <a:ln/>
        </p:spPr>
        <p:txBody>
          <a:bodyPr wrap="none" lIns="0" tIns="0" rIns="0" bIns="0" rtlCol="0" anchor="t">
            <a:spAutoFit/>
          </a:bodyPr>
          <a:lstStyle/>
          <a:p>
            <a:pPr marL="0" indent="0" algn="l">
              <a:lnSpc>
                <a:spcPts val="1600"/>
              </a:lnSpc>
              <a:buNone/>
            </a:pPr>
            <a:r>
              <a:rPr lang="en-US" sz="784" b="1" dirty="0">
                <a:solidFill>
                  <a:srgbClr val="FF6B9D"/>
                </a:solidFill>
              </a:rPr>
              <a:t>Machine learning:</a:t>
            </a:r>
            <a:endParaRPr lang="en-US" sz="784" dirty="0"/>
          </a:p>
        </p:txBody>
      </p:sp>
      <p:sp>
        <p:nvSpPr>
          <p:cNvPr id="32" name="Text 28"/>
          <p:cNvSpPr/>
          <p:nvPr/>
        </p:nvSpPr>
        <p:spPr>
          <a:xfrm>
            <a:off x="6092307" y="4141840"/>
            <a:ext cx="1993162" cy="155377"/>
          </a:xfrm>
          <a:prstGeom prst="rect">
            <a:avLst/>
          </a:prstGeom>
          <a:noFill/>
          <a:ln/>
        </p:spPr>
        <p:txBody>
          <a:bodyPr wrap="none" lIns="0" tIns="0" rIns="0" bIns="0" rtlCol="0" anchor="t">
            <a:spAutoFit/>
          </a:bodyPr>
          <a:lstStyle/>
          <a:p>
            <a:pPr marL="0" indent="0" algn="l">
              <a:lnSpc>
                <a:spcPts val="1600"/>
              </a:lnSpc>
              <a:buNone/>
            </a:pPr>
            <a:r>
              <a:rPr lang="en-US" sz="834" dirty="0">
                <a:solidFill>
                  <a:srgbClr val="FFFFFF"/>
                </a:solidFill>
              </a:rPr>
              <a:t>Bayesian inference and classification</a:t>
            </a:r>
            <a:endParaRPr lang="en-US" sz="834" dirty="0"/>
          </a:p>
        </p:txBody>
      </p:sp>
      <p:sp>
        <p:nvSpPr>
          <p:cNvPr id="33" name="Text 29"/>
          <p:cNvSpPr/>
          <p:nvPr/>
        </p:nvSpPr>
        <p:spPr>
          <a:xfrm>
            <a:off x="5086350" y="4404708"/>
            <a:ext cx="956928" cy="155377"/>
          </a:xfrm>
          <a:prstGeom prst="rect">
            <a:avLst/>
          </a:prstGeom>
          <a:noFill/>
          <a:ln/>
        </p:spPr>
        <p:txBody>
          <a:bodyPr wrap="none" lIns="0" tIns="0" rIns="0" bIns="0" rtlCol="0" anchor="t">
            <a:spAutoFit/>
          </a:bodyPr>
          <a:lstStyle/>
          <a:p>
            <a:pPr marL="0" indent="0" algn="l">
              <a:lnSpc>
                <a:spcPts val="1600"/>
              </a:lnSpc>
              <a:buNone/>
            </a:pPr>
            <a:r>
              <a:rPr lang="en-US" sz="784" b="1" dirty="0">
                <a:solidFill>
                  <a:srgbClr val="FF6B9D"/>
                </a:solidFill>
              </a:rPr>
              <a:t>Decision making:</a:t>
            </a:r>
            <a:endParaRPr lang="en-US" sz="784" dirty="0"/>
          </a:p>
        </p:txBody>
      </p:sp>
      <p:sp>
        <p:nvSpPr>
          <p:cNvPr id="34" name="Text 30"/>
          <p:cNvSpPr/>
          <p:nvPr/>
        </p:nvSpPr>
        <p:spPr>
          <a:xfrm>
            <a:off x="6043278" y="4404708"/>
            <a:ext cx="2237668" cy="155377"/>
          </a:xfrm>
          <a:prstGeom prst="rect">
            <a:avLst/>
          </a:prstGeom>
          <a:noFill/>
          <a:ln/>
        </p:spPr>
        <p:txBody>
          <a:bodyPr wrap="none" lIns="0" tIns="0" rIns="0" bIns="0" rtlCol="0" anchor="t">
            <a:spAutoFit/>
          </a:bodyPr>
          <a:lstStyle/>
          <a:p>
            <a:pPr marL="0" indent="0" algn="l">
              <a:lnSpc>
                <a:spcPts val="1600"/>
              </a:lnSpc>
              <a:buNone/>
            </a:pPr>
            <a:r>
              <a:rPr lang="en-US" sz="834" dirty="0">
                <a:solidFill>
                  <a:srgbClr val="FFFFFF"/>
                </a:solidFill>
              </a:rPr>
              <a:t>Updating decisions with new information</a:t>
            </a:r>
            <a:endParaRPr lang="en-US" sz="834" dirty="0"/>
          </a:p>
        </p:txBody>
      </p:sp>
      <p:sp>
        <p:nvSpPr>
          <p:cNvPr id="35" name="Text 31"/>
          <p:cNvSpPr/>
          <p:nvPr/>
        </p:nvSpPr>
        <p:spPr>
          <a:xfrm>
            <a:off x="5086350" y="4667576"/>
            <a:ext cx="1004143" cy="155377"/>
          </a:xfrm>
          <a:prstGeom prst="rect">
            <a:avLst/>
          </a:prstGeom>
          <a:noFill/>
          <a:ln/>
        </p:spPr>
        <p:txBody>
          <a:bodyPr wrap="none" lIns="0" tIns="0" rIns="0" bIns="0" rtlCol="0" anchor="t">
            <a:spAutoFit/>
          </a:bodyPr>
          <a:lstStyle/>
          <a:p>
            <a:pPr marL="0" indent="0" algn="l">
              <a:lnSpc>
                <a:spcPts val="1600"/>
              </a:lnSpc>
              <a:buNone/>
            </a:pPr>
            <a:r>
              <a:rPr lang="en-US" sz="784" b="1" dirty="0">
                <a:solidFill>
                  <a:srgbClr val="FF6B9D"/>
                </a:solidFill>
              </a:rPr>
              <a:t>Scientific method:</a:t>
            </a:r>
            <a:endParaRPr lang="en-US" sz="784" dirty="0"/>
          </a:p>
        </p:txBody>
      </p:sp>
      <p:sp>
        <p:nvSpPr>
          <p:cNvPr id="36" name="Text 32"/>
          <p:cNvSpPr/>
          <p:nvPr/>
        </p:nvSpPr>
        <p:spPr>
          <a:xfrm>
            <a:off x="5086350" y="4667576"/>
            <a:ext cx="2705388" cy="361094"/>
          </a:xfrm>
          <a:prstGeom prst="rect">
            <a:avLst/>
          </a:prstGeom>
          <a:noFill/>
          <a:ln/>
        </p:spPr>
        <p:txBody>
          <a:bodyPr wrap="square" lIns="0" tIns="0" rIns="0" bIns="0" rtlCol="0" anchor="t">
            <a:spAutoFit/>
          </a:bodyPr>
          <a:lstStyle/>
          <a:p>
            <a:pPr marL="0" indent="0" algn="l">
              <a:lnSpc>
                <a:spcPts val="1600"/>
              </a:lnSpc>
              <a:buNone/>
            </a:pPr>
            <a:r>
              <a:rPr lang="en-US" sz="834" dirty="0">
                <a:solidFill>
                  <a:srgbClr val="FFFFFF"/>
                </a:solidFill>
              </a:rPr>
              <a:t>Updating hypotheses based on experimental data</a:t>
            </a:r>
            <a:endParaRPr lang="en-US" sz="834" dirty="0"/>
          </a:p>
        </p:txBody>
      </p:sp>
      <p:sp>
        <p:nvSpPr>
          <p:cNvPr id="37" name="Text 33"/>
          <p:cNvSpPr/>
          <p:nvPr/>
        </p:nvSpPr>
        <p:spPr>
          <a:xfrm>
            <a:off x="5086350" y="5136161"/>
            <a:ext cx="945514" cy="155377"/>
          </a:xfrm>
          <a:prstGeom prst="rect">
            <a:avLst/>
          </a:prstGeom>
          <a:noFill/>
          <a:ln/>
        </p:spPr>
        <p:txBody>
          <a:bodyPr wrap="none" lIns="0" tIns="0" rIns="0" bIns="0" rtlCol="0" anchor="t">
            <a:spAutoFit/>
          </a:bodyPr>
          <a:lstStyle/>
          <a:p>
            <a:pPr marL="0" indent="0" algn="l">
              <a:lnSpc>
                <a:spcPts val="1600"/>
              </a:lnSpc>
              <a:buNone/>
            </a:pPr>
            <a:r>
              <a:rPr lang="en-US" sz="784" b="1" dirty="0">
                <a:solidFill>
                  <a:srgbClr val="FF6B9D"/>
                </a:solidFill>
              </a:rPr>
              <a:t>Risk assessment:</a:t>
            </a:r>
            <a:endParaRPr lang="en-US" sz="784" dirty="0"/>
          </a:p>
        </p:txBody>
      </p:sp>
      <p:sp>
        <p:nvSpPr>
          <p:cNvPr id="38" name="Text 34"/>
          <p:cNvSpPr/>
          <p:nvPr/>
        </p:nvSpPr>
        <p:spPr>
          <a:xfrm>
            <a:off x="6031864" y="5136161"/>
            <a:ext cx="2014203" cy="155377"/>
          </a:xfrm>
          <a:prstGeom prst="rect">
            <a:avLst/>
          </a:prstGeom>
          <a:noFill/>
          <a:ln/>
        </p:spPr>
        <p:txBody>
          <a:bodyPr wrap="none" lIns="0" tIns="0" rIns="0" bIns="0" rtlCol="0" anchor="t">
            <a:spAutoFit/>
          </a:bodyPr>
          <a:lstStyle/>
          <a:p>
            <a:pPr marL="0" indent="0" algn="l">
              <a:lnSpc>
                <a:spcPts val="1600"/>
              </a:lnSpc>
              <a:buNone/>
            </a:pPr>
            <a:r>
              <a:rPr lang="en-US" sz="834" dirty="0">
                <a:solidFill>
                  <a:srgbClr val="FFFFFF"/>
                </a:solidFill>
              </a:rPr>
              <a:t>Revising risk estimates with evidence</a:t>
            </a:r>
            <a:endParaRPr lang="en-US" sz="834"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0" y="357188"/>
            <a:ext cx="9144000" cy="466130"/>
          </a:xfrm>
          <a:prstGeom prst="rect">
            <a:avLst/>
          </a:prstGeom>
          <a:noFill/>
          <a:ln/>
        </p:spPr>
        <p:txBody>
          <a:bodyPr wrap="none" lIns="0" tIns="0" rIns="0" bIns="0" rtlCol="0" anchor="t">
            <a:spAutoFit/>
          </a:bodyPr>
          <a:lstStyle/>
          <a:p>
            <a:pPr marL="0" indent="0" algn="ctr">
              <a:lnSpc>
                <a:spcPts val="3200"/>
              </a:lnSpc>
              <a:buNone/>
            </a:pPr>
            <a:r>
              <a:rPr lang="en-US" sz="2436" b="1" dirty="0">
                <a:solidFill>
                  <a:srgbClr val="00D9FF"/>
                </a:solidFill>
              </a:rPr>
              <a:t>Marginal Probability</a:t>
            </a:r>
            <a:endParaRPr lang="en-US" sz="2436" dirty="0"/>
          </a:p>
        </p:txBody>
      </p:sp>
      <p:sp>
        <p:nvSpPr>
          <p:cNvPr id="5" name="Shape 1"/>
          <p:cNvSpPr/>
          <p:nvPr/>
        </p:nvSpPr>
        <p:spPr>
          <a:xfrm>
            <a:off x="500063" y="966192"/>
            <a:ext cx="3929063" cy="775767"/>
          </a:xfrm>
          <a:prstGeom prst="rect">
            <a:avLst/>
          </a:prstGeom>
          <a:solidFill>
            <a:srgbClr val="00D9FF">
              <a:alpha val="10000"/>
            </a:srgbClr>
          </a:solidFill>
          <a:ln/>
        </p:spPr>
        <p:txBody>
          <a:bodyPr/>
          <a:lstStyle/>
          <a:p>
            <a:endParaRPr lang="en-US"/>
          </a:p>
        </p:txBody>
      </p:sp>
      <p:sp>
        <p:nvSpPr>
          <p:cNvPr id="6" name="Text 2"/>
          <p:cNvSpPr/>
          <p:nvPr/>
        </p:nvSpPr>
        <p:spPr>
          <a:xfrm>
            <a:off x="678656" y="1037630"/>
            <a:ext cx="3571875" cy="704329"/>
          </a:xfrm>
          <a:prstGeom prst="rect">
            <a:avLst/>
          </a:prstGeom>
          <a:noFill/>
          <a:ln/>
        </p:spPr>
        <p:txBody>
          <a:bodyPr wrap="square" lIns="0" tIns="0" rIns="0" bIns="0" rtlCol="0" anchor="t">
            <a:spAutoFit/>
          </a:bodyPr>
          <a:lstStyle/>
          <a:p>
            <a:pPr marL="0" indent="0" algn="l">
              <a:lnSpc>
                <a:spcPts val="1400"/>
              </a:lnSpc>
              <a:buNone/>
            </a:pPr>
            <a:r>
              <a:rPr lang="en-US" sz="834" b="1" dirty="0">
                <a:solidFill>
                  <a:srgbClr val="FFFFFF"/>
                </a:solidFill>
              </a:rPr>
              <a:t>Marginal probability</a:t>
            </a:r>
            <a:r>
              <a:rPr lang="en-US" sz="888" dirty="0">
                <a:solidFill>
                  <a:srgbClr val="FFFFFF"/>
                </a:solidFill>
              </a:rPr>
              <a:t> is the probability of a single event occurring, regardless of the outcomes of other events. It is obtained by </a:t>
            </a:r>
            <a:r>
              <a:rPr lang="en-US" sz="834" b="1" dirty="0">
                <a:solidFill>
                  <a:srgbClr val="FFFFFF"/>
                </a:solidFill>
              </a:rPr>
              <a:t>"marginalizing out"</a:t>
            </a:r>
            <a:r>
              <a:rPr lang="en-US" sz="888" dirty="0">
                <a:solidFill>
                  <a:srgbClr val="FFFFFF"/>
                </a:solidFill>
              </a:rPr>
              <a:t> (summing over) the other variables in a joint probability distribution.</a:t>
            </a:r>
            <a:endParaRPr lang="en-US" sz="834" dirty="0"/>
          </a:p>
        </p:txBody>
      </p:sp>
      <p:sp>
        <p:nvSpPr>
          <p:cNvPr id="7" name="Shape 3"/>
          <p:cNvSpPr/>
          <p:nvPr/>
        </p:nvSpPr>
        <p:spPr>
          <a:xfrm>
            <a:off x="500063" y="1813396"/>
            <a:ext cx="3929063" cy="1281912"/>
          </a:xfrm>
          <a:prstGeom prst="rect">
            <a:avLst/>
          </a:prstGeom>
          <a:solidFill>
            <a:srgbClr val="FF6B9D">
              <a:alpha val="15000"/>
            </a:srgbClr>
          </a:solidFill>
          <a:ln/>
        </p:spPr>
        <p:txBody>
          <a:bodyPr/>
          <a:lstStyle/>
          <a:p>
            <a:endParaRPr lang="en-US"/>
          </a:p>
        </p:txBody>
      </p:sp>
      <p:sp>
        <p:nvSpPr>
          <p:cNvPr id="8" name="Text 4"/>
          <p:cNvSpPr/>
          <p:nvPr/>
        </p:nvSpPr>
        <p:spPr>
          <a:xfrm>
            <a:off x="657225" y="1884834"/>
            <a:ext cx="3614738"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FF6B9D"/>
                </a:solidFill>
              </a:rPr>
              <a:t>Mathematical Definition &amp; Calculation</a:t>
            </a:r>
            <a:endParaRPr lang="en-US" sz="987" dirty="0"/>
          </a:p>
        </p:txBody>
      </p:sp>
      <p:sp>
        <p:nvSpPr>
          <p:cNvPr id="9" name="Text 5"/>
          <p:cNvSpPr/>
          <p:nvPr/>
        </p:nvSpPr>
        <p:spPr>
          <a:xfrm>
            <a:off x="657225" y="2136651"/>
            <a:ext cx="3614738" cy="306093"/>
          </a:xfrm>
          <a:prstGeom prst="rect">
            <a:avLst/>
          </a:prstGeom>
          <a:noFill/>
          <a:ln/>
        </p:spPr>
        <p:txBody>
          <a:bodyPr wrap="none" lIns="0" tIns="0" rIns="0" bIns="0" rtlCol="0" anchor="t">
            <a:spAutoFit/>
          </a:bodyPr>
          <a:lstStyle/>
          <a:p>
            <a:pPr marL="0" indent="0" algn="ctr">
              <a:lnSpc>
                <a:spcPts val="1900"/>
              </a:lnSpc>
              <a:buNone/>
            </a:pPr>
            <a:r>
              <a:rPr lang="en-US" sz="1397" b="1" dirty="0">
                <a:solidFill>
                  <a:srgbClr val="FF6B9D"/>
                </a:solidFill>
              </a:rPr>
              <a:t>P(A) = Σ</a:t>
            </a:r>
            <a:r>
              <a:rPr lang="en-US" sz="1158" b="1" baseline="-40000" dirty="0">
                <a:solidFill>
                  <a:srgbClr val="FF6B9D"/>
                </a:solidFill>
              </a:rPr>
              <a:t>B</a:t>
            </a:r>
            <a:r>
              <a:rPr lang="en-US" sz="1397" b="1" dirty="0">
                <a:solidFill>
                  <a:srgbClr val="FF6B9D"/>
                </a:solidFill>
              </a:rPr>
              <a:t> P(A, B)</a:t>
            </a:r>
            <a:endParaRPr lang="en-US" sz="1397" dirty="0"/>
          </a:p>
        </p:txBody>
      </p:sp>
      <p:sp>
        <p:nvSpPr>
          <p:cNvPr id="10" name="Text 6"/>
          <p:cNvSpPr/>
          <p:nvPr/>
        </p:nvSpPr>
        <p:spPr>
          <a:xfrm>
            <a:off x="657225" y="2485606"/>
            <a:ext cx="3614738" cy="174659"/>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00D9FF"/>
                </a:solidFill>
              </a:rPr>
              <a:t>P(B) = Σ</a:t>
            </a:r>
            <a:r>
              <a:rPr lang="en-US" sz="650" b="1" baseline="-40000" dirty="0">
                <a:solidFill>
                  <a:srgbClr val="00D9FF"/>
                </a:solidFill>
              </a:rPr>
              <a:t>A</a:t>
            </a:r>
            <a:r>
              <a:rPr lang="en-US" sz="784" b="1" dirty="0">
                <a:solidFill>
                  <a:srgbClr val="00D9FF"/>
                </a:solidFill>
              </a:rPr>
              <a:t> P(A, B)</a:t>
            </a:r>
            <a:endParaRPr lang="en-US" sz="784" dirty="0"/>
          </a:p>
        </p:txBody>
      </p:sp>
      <p:sp>
        <p:nvSpPr>
          <p:cNvPr id="11" name="Text 7"/>
          <p:cNvSpPr/>
          <p:nvPr/>
        </p:nvSpPr>
        <p:spPr>
          <a:xfrm>
            <a:off x="657225" y="2703128"/>
            <a:ext cx="3614738" cy="174659"/>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00D9FF"/>
                </a:solidFill>
              </a:rPr>
              <a:t>P(A</a:t>
            </a:r>
            <a:r>
              <a:rPr lang="en-US" sz="650" b="1" baseline="-40000" dirty="0">
                <a:solidFill>
                  <a:srgbClr val="00D9FF"/>
                </a:solidFill>
              </a:rPr>
              <a:t>i</a:t>
            </a:r>
            <a:r>
              <a:rPr lang="en-US" sz="784" b="1" dirty="0">
                <a:solidFill>
                  <a:srgbClr val="00D9FF"/>
                </a:solidFill>
              </a:rPr>
              <a:t>) = Σ</a:t>
            </a:r>
            <a:r>
              <a:rPr lang="en-US" sz="650" b="1" baseline="-40000" dirty="0">
                <a:solidFill>
                  <a:srgbClr val="00D9FF"/>
                </a:solidFill>
              </a:rPr>
              <a:t>j</a:t>
            </a:r>
            <a:r>
              <a:rPr lang="en-US" sz="784" b="1" dirty="0">
                <a:solidFill>
                  <a:srgbClr val="00D9FF"/>
                </a:solidFill>
              </a:rPr>
              <a:t> P(A</a:t>
            </a:r>
            <a:r>
              <a:rPr lang="en-US" sz="650" b="1" baseline="-40000" dirty="0">
                <a:solidFill>
                  <a:srgbClr val="00D9FF"/>
                </a:solidFill>
              </a:rPr>
              <a:t>i</a:t>
            </a:r>
            <a:r>
              <a:rPr lang="en-US" sz="784" b="1" dirty="0">
                <a:solidFill>
                  <a:srgbClr val="00D9FF"/>
                </a:solidFill>
              </a:rPr>
              <a:t>, B</a:t>
            </a:r>
            <a:r>
              <a:rPr lang="en-US" sz="650" b="1" baseline="-40000" dirty="0">
                <a:solidFill>
                  <a:srgbClr val="00D9FF"/>
                </a:solidFill>
              </a:rPr>
              <a:t>j</a:t>
            </a:r>
            <a:r>
              <a:rPr lang="en-US" sz="784" b="1" dirty="0">
                <a:solidFill>
                  <a:srgbClr val="00D9FF"/>
                </a:solidFill>
              </a:rPr>
              <a:t>)</a:t>
            </a:r>
            <a:endParaRPr lang="en-US" sz="784" dirty="0"/>
          </a:p>
        </p:txBody>
      </p:sp>
      <p:sp>
        <p:nvSpPr>
          <p:cNvPr id="12" name="Text 8"/>
          <p:cNvSpPr/>
          <p:nvPr/>
        </p:nvSpPr>
        <p:spPr>
          <a:xfrm>
            <a:off x="657225" y="2920650"/>
            <a:ext cx="3614738" cy="174659"/>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00D9FF"/>
                </a:solidFill>
              </a:rPr>
              <a:t>P(B</a:t>
            </a:r>
            <a:r>
              <a:rPr lang="en-US" sz="650" b="1" baseline="-40000" dirty="0">
                <a:solidFill>
                  <a:srgbClr val="00D9FF"/>
                </a:solidFill>
              </a:rPr>
              <a:t>j</a:t>
            </a:r>
            <a:r>
              <a:rPr lang="en-US" sz="784" b="1" dirty="0">
                <a:solidFill>
                  <a:srgbClr val="00D9FF"/>
                </a:solidFill>
              </a:rPr>
              <a:t>) = Σ</a:t>
            </a:r>
            <a:r>
              <a:rPr lang="en-US" sz="650" b="1" baseline="-40000" dirty="0">
                <a:solidFill>
                  <a:srgbClr val="00D9FF"/>
                </a:solidFill>
              </a:rPr>
              <a:t>i</a:t>
            </a:r>
            <a:r>
              <a:rPr lang="en-US" sz="784" b="1" dirty="0">
                <a:solidFill>
                  <a:srgbClr val="00D9FF"/>
                </a:solidFill>
              </a:rPr>
              <a:t> P(A</a:t>
            </a:r>
            <a:r>
              <a:rPr lang="en-US" sz="650" b="1" baseline="-40000" dirty="0">
                <a:solidFill>
                  <a:srgbClr val="00D9FF"/>
                </a:solidFill>
              </a:rPr>
              <a:t>i</a:t>
            </a:r>
            <a:r>
              <a:rPr lang="en-US" sz="784" b="1" dirty="0">
                <a:solidFill>
                  <a:srgbClr val="00D9FF"/>
                </a:solidFill>
              </a:rPr>
              <a:t>, B</a:t>
            </a:r>
            <a:r>
              <a:rPr lang="en-US" sz="650" b="1" baseline="-40000" dirty="0">
                <a:solidFill>
                  <a:srgbClr val="00D9FF"/>
                </a:solidFill>
              </a:rPr>
              <a:t>j</a:t>
            </a:r>
            <a:r>
              <a:rPr lang="en-US" sz="784" b="1" dirty="0">
                <a:solidFill>
                  <a:srgbClr val="00D9FF"/>
                </a:solidFill>
              </a:rPr>
              <a:t>)</a:t>
            </a:r>
            <a:endParaRPr lang="en-US" sz="784" dirty="0"/>
          </a:p>
        </p:txBody>
      </p:sp>
      <p:sp>
        <p:nvSpPr>
          <p:cNvPr id="13" name="Shape 9"/>
          <p:cNvSpPr/>
          <p:nvPr/>
        </p:nvSpPr>
        <p:spPr>
          <a:xfrm>
            <a:off x="4714875" y="966192"/>
            <a:ext cx="3929063" cy="1885950"/>
          </a:xfrm>
          <a:prstGeom prst="rect">
            <a:avLst/>
          </a:prstGeom>
          <a:solidFill>
            <a:srgbClr val="FFD73D">
              <a:alpha val="10000"/>
            </a:srgbClr>
          </a:solidFill>
          <a:ln/>
        </p:spPr>
        <p:txBody>
          <a:bodyPr/>
          <a:lstStyle/>
          <a:p>
            <a:endParaRPr lang="en-US"/>
          </a:p>
        </p:txBody>
      </p:sp>
      <p:sp>
        <p:nvSpPr>
          <p:cNvPr id="14" name="Text 10"/>
          <p:cNvSpPr/>
          <p:nvPr/>
        </p:nvSpPr>
        <p:spPr>
          <a:xfrm>
            <a:off x="4893469" y="1037630"/>
            <a:ext cx="3571875" cy="214313"/>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FFD93D"/>
                </a:solidFill>
              </a:rPr>
              <a:t>Intuitive Understanding</a:t>
            </a:r>
            <a:endParaRPr lang="en-US" sz="1090" dirty="0"/>
          </a:p>
        </p:txBody>
      </p:sp>
      <p:sp>
        <p:nvSpPr>
          <p:cNvPr id="15" name="Text 11"/>
          <p:cNvSpPr/>
          <p:nvPr/>
        </p:nvSpPr>
        <p:spPr>
          <a:xfrm>
            <a:off x="4893469" y="1323380"/>
            <a:ext cx="3571875" cy="910828"/>
          </a:xfrm>
          <a:prstGeom prst="rect">
            <a:avLst/>
          </a:prstGeom>
          <a:noFill/>
          <a:ln/>
        </p:spPr>
        <p:txBody>
          <a:bodyPr wrap="square" lIns="0" tIns="0" rIns="0" bIns="0" rtlCol="0" anchor="t">
            <a:spAutoFit/>
          </a:bodyPr>
          <a:lstStyle/>
          <a:p>
            <a:pPr marL="0" indent="0" algn="l">
              <a:lnSpc>
                <a:spcPts val="1400"/>
              </a:lnSpc>
              <a:buNone/>
            </a:pPr>
            <a:r>
              <a:rPr lang="en-US" sz="888" dirty="0">
                <a:solidFill>
                  <a:srgbClr val="FFFFFF"/>
                </a:solidFill>
              </a:rPr>
              <a:t>Think of marginal probability as </a:t>
            </a:r>
            <a:r>
              <a:rPr lang="en-US" sz="834" b="1" dirty="0">
                <a:solidFill>
                  <a:srgbClr val="FFFFFF"/>
                </a:solidFill>
              </a:rPr>
              <a:t>"ignoring" or "averaging over"</a:t>
            </a:r>
            <a:r>
              <a:rPr lang="en-US" sz="888" dirty="0">
                <a:solidFill>
                  <a:srgbClr val="FFFFFF"/>
                </a:solidFill>
              </a:rPr>
              <a:t> other variables. When you have a joint distribution involving multiple events, the marginal probability of one event is what you get when you </a:t>
            </a:r>
            <a:r>
              <a:rPr lang="en-US" sz="834" b="1" dirty="0">
                <a:solidFill>
                  <a:srgbClr val="FFFFFF"/>
                </a:solidFill>
              </a:rPr>
              <a:t>don't care about</a:t>
            </a:r>
            <a:r>
              <a:rPr lang="en-US" sz="888" dirty="0">
                <a:solidFill>
                  <a:srgbClr val="FFFFFF"/>
                </a:solidFill>
              </a:rPr>
              <a:t> the values of the other events.</a:t>
            </a:r>
            <a:endParaRPr lang="en-US" sz="888" dirty="0"/>
          </a:p>
        </p:txBody>
      </p:sp>
      <p:sp>
        <p:nvSpPr>
          <p:cNvPr id="16" name="Text 12"/>
          <p:cNvSpPr/>
          <p:nvPr/>
        </p:nvSpPr>
        <p:spPr>
          <a:xfrm>
            <a:off x="4893469" y="2305645"/>
            <a:ext cx="3571875" cy="546497"/>
          </a:xfrm>
          <a:prstGeom prst="rect">
            <a:avLst/>
          </a:prstGeom>
          <a:noFill/>
          <a:ln/>
        </p:spPr>
        <p:txBody>
          <a:bodyPr wrap="square" lIns="0" tIns="0" rIns="0" bIns="0" rtlCol="0" anchor="t">
            <a:spAutoFit/>
          </a:bodyPr>
          <a:lstStyle/>
          <a:p>
            <a:pPr marL="0" indent="0" algn="l">
              <a:lnSpc>
                <a:spcPts val="1400"/>
              </a:lnSpc>
              <a:buNone/>
            </a:pPr>
            <a:r>
              <a:rPr lang="en-US" sz="834" b="1" dirty="0">
                <a:solidFill>
                  <a:srgbClr val="FFFFFF"/>
                </a:solidFill>
              </a:rPr>
              <a:t>Example:</a:t>
            </a:r>
            <a:r>
              <a:rPr lang="en-US" sz="888" dirty="0">
                <a:solidFill>
                  <a:srgbClr val="FFFFFF"/>
                </a:solidFill>
              </a:rPr>
              <a:t> If you have data on both gender and major, the marginal probability of being a CS major is the total proportion of CS majors, regardless of gender.</a:t>
            </a:r>
            <a:endParaRPr lang="en-US" sz="834" dirty="0"/>
          </a:p>
        </p:txBody>
      </p:sp>
      <p:sp>
        <p:nvSpPr>
          <p:cNvPr id="17" name="Shape 13"/>
          <p:cNvSpPr/>
          <p:nvPr/>
        </p:nvSpPr>
        <p:spPr>
          <a:xfrm>
            <a:off x="4714875" y="2923580"/>
            <a:ext cx="3929063" cy="1746142"/>
          </a:xfrm>
          <a:prstGeom prst="rect">
            <a:avLst/>
          </a:prstGeom>
          <a:solidFill>
            <a:srgbClr val="00D9FF">
              <a:alpha val="10000"/>
            </a:srgbClr>
          </a:solidFill>
          <a:ln/>
        </p:spPr>
        <p:txBody>
          <a:bodyPr/>
          <a:lstStyle/>
          <a:p>
            <a:endParaRPr lang="en-US"/>
          </a:p>
        </p:txBody>
      </p:sp>
      <p:sp>
        <p:nvSpPr>
          <p:cNvPr id="18" name="Text 14"/>
          <p:cNvSpPr/>
          <p:nvPr/>
        </p:nvSpPr>
        <p:spPr>
          <a:xfrm>
            <a:off x="4872038" y="2995017"/>
            <a:ext cx="3614738"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D9FF"/>
                </a:solidFill>
              </a:rPr>
              <a:t>Simple Example with Table</a:t>
            </a:r>
            <a:endParaRPr lang="en-US" sz="987" dirty="0"/>
          </a:p>
        </p:txBody>
      </p:sp>
      <p:sp>
        <p:nvSpPr>
          <p:cNvPr id="19" name="Text 15"/>
          <p:cNvSpPr/>
          <p:nvPr/>
        </p:nvSpPr>
        <p:spPr>
          <a:xfrm>
            <a:off x="4872038" y="3246834"/>
            <a:ext cx="3614738" cy="171450"/>
          </a:xfrm>
          <a:prstGeom prst="rect">
            <a:avLst/>
          </a:prstGeom>
          <a:noFill/>
          <a:ln/>
        </p:spPr>
        <p:txBody>
          <a:bodyPr wrap="none" lIns="0" tIns="0" rIns="0" bIns="0" rtlCol="0" anchor="t">
            <a:spAutoFit/>
          </a:bodyPr>
          <a:lstStyle/>
          <a:p>
            <a:pPr marL="0" indent="0" algn="l">
              <a:lnSpc>
                <a:spcPts val="1400"/>
              </a:lnSpc>
              <a:buNone/>
            </a:pPr>
            <a:r>
              <a:rPr lang="en-US" sz="834" dirty="0">
                <a:solidFill>
                  <a:srgbClr val="FFFFFF"/>
                </a:solidFill>
              </a:rPr>
              <a:t>Consider students classified by Gender (M/F) and Major (CS/Math):</a:t>
            </a:r>
            <a:endParaRPr lang="en-US" sz="834" dirty="0"/>
          </a:p>
        </p:txBody>
      </p:sp>
      <p:sp>
        <p:nvSpPr>
          <p:cNvPr id="20" name="Text 16"/>
          <p:cNvSpPr/>
          <p:nvPr/>
        </p:nvSpPr>
        <p:spPr>
          <a:xfrm>
            <a:off x="4872038" y="3475434"/>
            <a:ext cx="3614738" cy="869975"/>
          </a:xfrm>
          <a:prstGeom prst="rect">
            <a:avLst/>
          </a:prstGeom>
          <a:noFill/>
          <a:ln/>
        </p:spPr>
        <p:txBody>
          <a:bodyPr wrap="square" lIns="0" tIns="0" rIns="0" bIns="0" rtlCol="0" anchor="t">
            <a:spAutoFit/>
          </a:bodyPr>
          <a:lstStyle/>
          <a:p>
            <a:pPr marL="0" indent="0" algn="l">
              <a:lnSpc>
                <a:spcPts val="1100"/>
              </a:lnSpc>
              <a:buNone/>
            </a:pPr>
            <a:r>
              <a:rPr lang="en-US" sz="727" dirty="0">
                <a:solidFill>
                  <a:srgbClr val="FFFFFF"/>
                </a:solidFill>
              </a:rPr>
              <a:t>CS   Math  | P(Gender)</a:t>
            </a:r>
            <a:endParaRPr lang="en-US" sz="727" dirty="0"/>
          </a:p>
          <a:p>
            <a:pPr marL="0" indent="0" algn="l">
              <a:lnSpc>
                <a:spcPts val="1100"/>
              </a:lnSpc>
              <a:buNone/>
            </a:pPr>
            <a:r>
              <a:rPr lang="en-US" sz="727" dirty="0">
                <a:solidFill>
                  <a:srgbClr val="FFFFFF"/>
                </a:solidFill>
              </a:rPr>
              <a:t>M    0.30  0.20 | 0.50</a:t>
            </a:r>
            <a:endParaRPr lang="en-US" sz="727" dirty="0"/>
          </a:p>
          <a:p>
            <a:pPr marL="0" indent="0" algn="l">
              <a:lnSpc>
                <a:spcPts val="1100"/>
              </a:lnSpc>
              <a:buNone/>
            </a:pPr>
            <a:r>
              <a:rPr lang="en-US" sz="727" dirty="0">
                <a:solidFill>
                  <a:srgbClr val="FFFFFF"/>
                </a:solidFill>
              </a:rPr>
              <a:t>F    0.25  0.25 | 0.50</a:t>
            </a:r>
            <a:endParaRPr lang="en-US" sz="727" dirty="0"/>
          </a:p>
          <a:p>
            <a:pPr marL="0" indent="0" algn="l">
              <a:lnSpc>
                <a:spcPts val="1100"/>
              </a:lnSpc>
              <a:buNone/>
            </a:pPr>
            <a:r>
              <a:rPr lang="en-US" sz="727" dirty="0">
                <a:solidFill>
                  <a:srgbClr val="FFFFFF"/>
                </a:solidFill>
              </a:rPr>
              <a:t>----------------------</a:t>
            </a:r>
            <a:endParaRPr lang="en-US" sz="727" dirty="0"/>
          </a:p>
          <a:p>
            <a:pPr marL="0" indent="0" algn="l">
              <a:lnSpc>
                <a:spcPts val="1100"/>
              </a:lnSpc>
              <a:buNone/>
            </a:pPr>
            <a:r>
              <a:rPr lang="en-US" sz="727" dirty="0">
                <a:solidFill>
                  <a:srgbClr val="FFFFFF"/>
                </a:solidFill>
              </a:rPr>
              <a:t>P(Major) 0.55 0.45 | 1.00</a:t>
            </a:r>
            <a:endParaRPr lang="en-US" sz="727" dirty="0"/>
          </a:p>
        </p:txBody>
      </p:sp>
      <p:sp>
        <p:nvSpPr>
          <p:cNvPr id="21" name="Text 17"/>
          <p:cNvSpPr/>
          <p:nvPr/>
        </p:nvSpPr>
        <p:spPr>
          <a:xfrm>
            <a:off x="4872038" y="4402559"/>
            <a:ext cx="3614738" cy="171450"/>
          </a:xfrm>
          <a:prstGeom prst="rect">
            <a:avLst/>
          </a:prstGeom>
          <a:noFill/>
          <a:ln/>
        </p:spPr>
        <p:txBody>
          <a:bodyPr wrap="none" lIns="0" tIns="0" rIns="0" bIns="0" rtlCol="0" anchor="t">
            <a:spAutoFit/>
          </a:bodyPr>
          <a:lstStyle/>
          <a:p>
            <a:pPr marL="0" indent="0" algn="l">
              <a:lnSpc>
                <a:spcPts val="1400"/>
              </a:lnSpc>
              <a:buNone/>
            </a:pPr>
            <a:r>
              <a:rPr lang="en-US" sz="834" dirty="0">
                <a:solidFill>
                  <a:srgbClr val="FFFFFF"/>
                </a:solidFill>
              </a:rPr>
              <a:t>• </a:t>
            </a:r>
            <a:r>
              <a:rPr lang="en-US" sz="784" b="1" dirty="0">
                <a:solidFill>
                  <a:srgbClr val="FFD93D"/>
                </a:solidFill>
              </a:rPr>
              <a:t>P(CS)</a:t>
            </a:r>
            <a:r>
              <a:rPr lang="en-US" sz="834" dirty="0">
                <a:solidFill>
                  <a:srgbClr val="FFFFFF"/>
                </a:solidFill>
              </a:rPr>
              <a:t> = 0.30 + 0.25 = 0.55; </a:t>
            </a:r>
            <a:r>
              <a:rPr lang="en-US" sz="784" b="1" dirty="0">
                <a:solidFill>
                  <a:srgbClr val="FFD93D"/>
                </a:solidFill>
              </a:rPr>
              <a:t>P(M)</a:t>
            </a:r>
            <a:r>
              <a:rPr lang="en-US" sz="834" dirty="0">
                <a:solidFill>
                  <a:srgbClr val="FFFFFF"/>
                </a:solidFill>
              </a:rPr>
              <a:t> = 0.30 + 0.20 = 0.50.</a:t>
            </a:r>
            <a:endParaRPr lang="en-US" sz="834"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0" y="357188"/>
            <a:ext cx="9144000" cy="466130"/>
          </a:xfrm>
          <a:prstGeom prst="rect">
            <a:avLst/>
          </a:prstGeom>
          <a:noFill/>
          <a:ln/>
        </p:spPr>
        <p:txBody>
          <a:bodyPr wrap="none" lIns="0" tIns="0" rIns="0" bIns="0" rtlCol="0" anchor="t">
            <a:spAutoFit/>
          </a:bodyPr>
          <a:lstStyle/>
          <a:p>
            <a:pPr marL="0" indent="0" algn="ctr">
              <a:lnSpc>
                <a:spcPts val="3200"/>
              </a:lnSpc>
              <a:buNone/>
            </a:pPr>
            <a:r>
              <a:rPr lang="en-US" sz="2436" b="1" dirty="0">
                <a:solidFill>
                  <a:srgbClr val="00D9FF"/>
                </a:solidFill>
              </a:rPr>
              <a:t>Joint Probability</a:t>
            </a:r>
            <a:endParaRPr lang="en-US" sz="2436" dirty="0"/>
          </a:p>
        </p:txBody>
      </p:sp>
      <p:sp>
        <p:nvSpPr>
          <p:cNvPr id="5" name="Shape 1"/>
          <p:cNvSpPr/>
          <p:nvPr/>
        </p:nvSpPr>
        <p:spPr>
          <a:xfrm>
            <a:off x="428625" y="951905"/>
            <a:ext cx="3964781" cy="636101"/>
          </a:xfrm>
          <a:prstGeom prst="rect">
            <a:avLst/>
          </a:prstGeom>
          <a:solidFill>
            <a:srgbClr val="00D9FF">
              <a:alpha val="10000"/>
            </a:srgbClr>
          </a:solidFill>
          <a:ln/>
        </p:spPr>
        <p:txBody>
          <a:bodyPr/>
          <a:lstStyle/>
          <a:p>
            <a:endParaRPr lang="en-US"/>
          </a:p>
        </p:txBody>
      </p:sp>
      <p:sp>
        <p:nvSpPr>
          <p:cNvPr id="6" name="Text 2"/>
          <p:cNvSpPr/>
          <p:nvPr/>
        </p:nvSpPr>
        <p:spPr>
          <a:xfrm>
            <a:off x="607219" y="1023342"/>
            <a:ext cx="3607594" cy="564663"/>
          </a:xfrm>
          <a:prstGeom prst="rect">
            <a:avLst/>
          </a:prstGeom>
          <a:noFill/>
          <a:ln/>
        </p:spPr>
        <p:txBody>
          <a:bodyPr wrap="square" lIns="0" tIns="0" rIns="0" bIns="0" rtlCol="0" anchor="t">
            <a:spAutoFit/>
          </a:bodyPr>
          <a:lstStyle/>
          <a:p>
            <a:pPr marL="0" indent="0" algn="l">
              <a:lnSpc>
                <a:spcPts val="1500"/>
              </a:lnSpc>
              <a:buNone/>
            </a:pPr>
            <a:r>
              <a:rPr lang="en-US" sz="834" b="1" dirty="0">
                <a:solidFill>
                  <a:srgbClr val="FFFFFF"/>
                </a:solidFill>
              </a:rPr>
              <a:t>Joint probability</a:t>
            </a:r>
            <a:r>
              <a:rPr lang="en-US" sz="888" dirty="0">
                <a:solidFill>
                  <a:srgbClr val="FFFFFF"/>
                </a:solidFill>
              </a:rPr>
              <a:t> is the probability that two or more events occur simultaneously. It measures the likelihood of the </a:t>
            </a:r>
            <a:r>
              <a:rPr lang="en-US" sz="834" b="1" dirty="0">
                <a:solidFill>
                  <a:srgbClr val="FFFFFF"/>
                </a:solidFill>
              </a:rPr>
              <a:t>intersection</a:t>
            </a:r>
            <a:r>
              <a:rPr lang="en-US" sz="888" dirty="0">
                <a:solidFill>
                  <a:srgbClr val="FFFFFF"/>
                </a:solidFill>
              </a:rPr>
              <a:t> of events—that is, all events happening together.</a:t>
            </a:r>
            <a:endParaRPr lang="en-US" sz="834" dirty="0"/>
          </a:p>
        </p:txBody>
      </p:sp>
      <p:sp>
        <p:nvSpPr>
          <p:cNvPr id="7" name="Shape 3"/>
          <p:cNvSpPr/>
          <p:nvPr/>
        </p:nvSpPr>
        <p:spPr>
          <a:xfrm>
            <a:off x="428625" y="1673730"/>
            <a:ext cx="3964781" cy="730142"/>
          </a:xfrm>
          <a:prstGeom prst="rect">
            <a:avLst/>
          </a:prstGeom>
          <a:solidFill>
            <a:srgbClr val="FF6B9D">
              <a:alpha val="15000"/>
            </a:srgbClr>
          </a:solidFill>
          <a:ln/>
        </p:spPr>
        <p:txBody>
          <a:bodyPr/>
          <a:lstStyle/>
          <a:p>
            <a:endParaRPr lang="en-US"/>
          </a:p>
        </p:txBody>
      </p:sp>
      <p:sp>
        <p:nvSpPr>
          <p:cNvPr id="8" name="Text 4"/>
          <p:cNvSpPr/>
          <p:nvPr/>
        </p:nvSpPr>
        <p:spPr>
          <a:xfrm>
            <a:off x="607219" y="1730880"/>
            <a:ext cx="3607594"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FF6B9D"/>
                </a:solidFill>
              </a:rPr>
              <a:t>Common Notation</a:t>
            </a:r>
            <a:endParaRPr lang="en-US" sz="987" dirty="0"/>
          </a:p>
        </p:txBody>
      </p:sp>
      <p:sp>
        <p:nvSpPr>
          <p:cNvPr id="9" name="Text 5"/>
          <p:cNvSpPr/>
          <p:nvPr/>
        </p:nvSpPr>
        <p:spPr>
          <a:xfrm>
            <a:off x="607219" y="1968410"/>
            <a:ext cx="3607594" cy="34290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FFFFFF"/>
                </a:solidFill>
              </a:rPr>
              <a:t>We denote the joint probability of events A and B as </a:t>
            </a:r>
            <a:r>
              <a:rPr lang="en-US" sz="784" b="1" dirty="0">
                <a:solidFill>
                  <a:srgbClr val="FFFFFF"/>
                </a:solidFill>
              </a:rPr>
              <a:t>P(A ∩ B)</a:t>
            </a:r>
            <a:r>
              <a:rPr lang="en-US" sz="834" dirty="0">
                <a:solidFill>
                  <a:srgbClr val="FFFFFF"/>
                </a:solidFill>
              </a:rPr>
              <a:t> — the probability that </a:t>
            </a:r>
            <a:r>
              <a:rPr lang="en-US" sz="784" b="1" dirty="0">
                <a:solidFill>
                  <a:srgbClr val="FFD93D"/>
                </a:solidFill>
              </a:rPr>
              <a:t>both A and B occur</a:t>
            </a:r>
            <a:r>
              <a:rPr lang="en-US" sz="834" dirty="0">
                <a:solidFill>
                  <a:srgbClr val="FFFFFF"/>
                </a:solidFill>
              </a:rPr>
              <a:t>.</a:t>
            </a:r>
            <a:endParaRPr lang="en-US" sz="834" dirty="0"/>
          </a:p>
        </p:txBody>
      </p:sp>
      <p:sp>
        <p:nvSpPr>
          <p:cNvPr id="10" name="Shape 6"/>
          <p:cNvSpPr/>
          <p:nvPr/>
        </p:nvSpPr>
        <p:spPr>
          <a:xfrm>
            <a:off x="428625" y="2557576"/>
            <a:ext cx="3964781" cy="1385888"/>
          </a:xfrm>
          <a:prstGeom prst="rect">
            <a:avLst/>
          </a:prstGeom>
          <a:solidFill>
            <a:srgbClr val="FFFFFF">
              <a:alpha val="5000"/>
            </a:srgbClr>
          </a:solidFill>
          <a:ln/>
        </p:spPr>
        <p:txBody>
          <a:bodyPr/>
          <a:lstStyle/>
          <a:p>
            <a:endParaRPr lang="en-US"/>
          </a:p>
        </p:txBody>
      </p:sp>
      <p:sp>
        <p:nvSpPr>
          <p:cNvPr id="11" name="Text 7"/>
          <p:cNvSpPr/>
          <p:nvPr/>
        </p:nvSpPr>
        <p:spPr>
          <a:xfrm>
            <a:off x="585788" y="2629014"/>
            <a:ext cx="3650456" cy="207169"/>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FFD93D"/>
                </a:solidFill>
              </a:rPr>
              <a:t>Calculating P(A ∩ B)</a:t>
            </a:r>
            <a:endParaRPr lang="en-US" sz="987" dirty="0"/>
          </a:p>
        </p:txBody>
      </p:sp>
      <p:sp>
        <p:nvSpPr>
          <p:cNvPr id="12" name="Text 8"/>
          <p:cNvSpPr/>
          <p:nvPr/>
        </p:nvSpPr>
        <p:spPr>
          <a:xfrm>
            <a:off x="585788" y="2886189"/>
            <a:ext cx="1094082" cy="15537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00D9FF"/>
                </a:solidFill>
              </a:rPr>
              <a:t>Multiplication rule:</a:t>
            </a:r>
            <a:endParaRPr lang="en-US" sz="784" dirty="0"/>
          </a:p>
        </p:txBody>
      </p:sp>
      <p:sp>
        <p:nvSpPr>
          <p:cNvPr id="13" name="Text 9"/>
          <p:cNvSpPr/>
          <p:nvPr/>
        </p:nvSpPr>
        <p:spPr>
          <a:xfrm>
            <a:off x="585788" y="3051150"/>
            <a:ext cx="3650456"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00D9FF"/>
                </a:solidFill>
              </a:rPr>
              <a:t>P(A ∩ B) = P(A) × P(B|A)</a:t>
            </a:r>
            <a:endParaRPr lang="en-US" sz="885" dirty="0"/>
          </a:p>
        </p:txBody>
      </p:sp>
      <p:sp>
        <p:nvSpPr>
          <p:cNvPr id="14" name="Text 10"/>
          <p:cNvSpPr/>
          <p:nvPr/>
        </p:nvSpPr>
        <p:spPr>
          <a:xfrm>
            <a:off x="585788" y="3272606"/>
            <a:ext cx="3650456"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00D9FF"/>
                </a:solidFill>
              </a:rPr>
              <a:t>P(A ∩ B) = P(B) × P(A|B)</a:t>
            </a:r>
            <a:endParaRPr lang="en-US" sz="885" dirty="0"/>
          </a:p>
        </p:txBody>
      </p:sp>
      <p:sp>
        <p:nvSpPr>
          <p:cNvPr id="15" name="Text 11"/>
          <p:cNvSpPr/>
          <p:nvPr/>
        </p:nvSpPr>
        <p:spPr>
          <a:xfrm>
            <a:off x="585788" y="3557701"/>
            <a:ext cx="1180728" cy="15537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00D9FF"/>
                </a:solidFill>
              </a:rPr>
              <a:t>Independent events:</a:t>
            </a:r>
            <a:endParaRPr lang="en-US" sz="784" dirty="0"/>
          </a:p>
        </p:txBody>
      </p:sp>
      <p:sp>
        <p:nvSpPr>
          <p:cNvPr id="16" name="Text 12"/>
          <p:cNvSpPr/>
          <p:nvPr/>
        </p:nvSpPr>
        <p:spPr>
          <a:xfrm>
            <a:off x="585788" y="3708702"/>
            <a:ext cx="3650456"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00D9FF"/>
                </a:solidFill>
              </a:rPr>
              <a:t>P(A ∩ B) = P(A) × P(B)</a:t>
            </a:r>
            <a:endParaRPr lang="en-US" sz="885" dirty="0"/>
          </a:p>
        </p:txBody>
      </p:sp>
      <p:sp>
        <p:nvSpPr>
          <p:cNvPr id="17" name="Shape 13"/>
          <p:cNvSpPr/>
          <p:nvPr/>
        </p:nvSpPr>
        <p:spPr>
          <a:xfrm>
            <a:off x="428625" y="4029189"/>
            <a:ext cx="3964781" cy="584692"/>
          </a:xfrm>
          <a:prstGeom prst="rect">
            <a:avLst/>
          </a:prstGeom>
          <a:solidFill>
            <a:srgbClr val="00D9FF">
              <a:alpha val="10000"/>
            </a:srgbClr>
          </a:solidFill>
          <a:ln/>
        </p:spPr>
        <p:txBody>
          <a:bodyPr/>
          <a:lstStyle/>
          <a:p>
            <a:endParaRPr lang="en-US"/>
          </a:p>
        </p:txBody>
      </p:sp>
      <p:sp>
        <p:nvSpPr>
          <p:cNvPr id="18" name="Text 14"/>
          <p:cNvSpPr/>
          <p:nvPr/>
        </p:nvSpPr>
        <p:spPr>
          <a:xfrm>
            <a:off x="585788" y="4100626"/>
            <a:ext cx="3650456"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D9FF"/>
                </a:solidFill>
              </a:rPr>
              <a:t>Extension</a:t>
            </a:r>
            <a:endParaRPr lang="en-US" sz="987" dirty="0"/>
          </a:p>
        </p:txBody>
      </p:sp>
      <p:sp>
        <p:nvSpPr>
          <p:cNvPr id="19" name="Text 15"/>
          <p:cNvSpPr/>
          <p:nvPr/>
        </p:nvSpPr>
        <p:spPr>
          <a:xfrm>
            <a:off x="585788" y="4338156"/>
            <a:ext cx="3650456" cy="171450"/>
          </a:xfrm>
          <a:prstGeom prst="rect">
            <a:avLst/>
          </a:prstGeom>
          <a:noFill/>
          <a:ln/>
        </p:spPr>
        <p:txBody>
          <a:bodyPr wrap="none" lIns="0" tIns="0" rIns="0" bIns="0" rtlCol="0" anchor="t">
            <a:spAutoFit/>
          </a:bodyPr>
          <a:lstStyle/>
          <a:p>
            <a:pPr marL="0" indent="0" algn="l">
              <a:lnSpc>
                <a:spcPts val="1400"/>
              </a:lnSpc>
              <a:buNone/>
            </a:pPr>
            <a:r>
              <a:rPr lang="en-US" sz="834" dirty="0">
                <a:solidFill>
                  <a:srgbClr val="FFFFFF"/>
                </a:solidFill>
              </a:rPr>
              <a:t>For </a:t>
            </a:r>
            <a:r>
              <a:rPr lang="en-US" sz="784" b="1" dirty="0">
                <a:solidFill>
                  <a:srgbClr val="FFFFFF"/>
                </a:solidFill>
              </a:rPr>
              <a:t>n independent events</a:t>
            </a:r>
            <a:r>
              <a:rPr lang="en-US" sz="834" dirty="0">
                <a:solidFill>
                  <a:srgbClr val="FFFFFF"/>
                </a:solidFill>
              </a:rPr>
              <a:t>: P(A₁ ∩ A₂ ∩ ... ∩ Aₙ) = Π P(Aᵢ)</a:t>
            </a:r>
            <a:endParaRPr lang="en-US" sz="834" dirty="0"/>
          </a:p>
        </p:txBody>
      </p:sp>
      <p:sp>
        <p:nvSpPr>
          <p:cNvPr id="20" name="Shape 16"/>
          <p:cNvSpPr/>
          <p:nvPr/>
        </p:nvSpPr>
        <p:spPr>
          <a:xfrm>
            <a:off x="4750594" y="951905"/>
            <a:ext cx="3964781" cy="1100138"/>
          </a:xfrm>
          <a:prstGeom prst="rect">
            <a:avLst/>
          </a:prstGeom>
          <a:solidFill>
            <a:srgbClr val="FFD73D">
              <a:alpha val="10000"/>
            </a:srgbClr>
          </a:solidFill>
          <a:ln/>
        </p:spPr>
        <p:txBody>
          <a:bodyPr/>
          <a:lstStyle/>
          <a:p>
            <a:endParaRPr lang="en-US"/>
          </a:p>
        </p:txBody>
      </p:sp>
      <p:sp>
        <p:nvSpPr>
          <p:cNvPr id="21" name="Text 17"/>
          <p:cNvSpPr/>
          <p:nvPr/>
        </p:nvSpPr>
        <p:spPr>
          <a:xfrm>
            <a:off x="4929188" y="1023342"/>
            <a:ext cx="3607594" cy="214313"/>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FFD93D"/>
                </a:solidFill>
              </a:rPr>
              <a:t>Key Properties</a:t>
            </a:r>
            <a:endParaRPr lang="en-US" sz="1090" dirty="0"/>
          </a:p>
        </p:txBody>
      </p:sp>
      <p:sp>
        <p:nvSpPr>
          <p:cNvPr id="22" name="Text 18"/>
          <p:cNvSpPr/>
          <p:nvPr/>
        </p:nvSpPr>
        <p:spPr>
          <a:xfrm>
            <a:off x="5107781" y="1287661"/>
            <a:ext cx="384284" cy="15537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FFD93D"/>
                </a:solidFill>
              </a:rPr>
              <a:t>Range:</a:t>
            </a:r>
            <a:endParaRPr lang="en-US" sz="784" dirty="0"/>
          </a:p>
        </p:txBody>
      </p:sp>
      <p:sp>
        <p:nvSpPr>
          <p:cNvPr id="23" name="Text 19"/>
          <p:cNvSpPr/>
          <p:nvPr/>
        </p:nvSpPr>
        <p:spPr>
          <a:xfrm>
            <a:off x="5492065" y="1287661"/>
            <a:ext cx="1660113" cy="155377"/>
          </a:xfrm>
          <a:prstGeom prst="rect">
            <a:avLst/>
          </a:prstGeom>
          <a:noFill/>
          <a:ln/>
        </p:spPr>
        <p:txBody>
          <a:bodyPr wrap="none" lIns="0" tIns="0" rIns="0" bIns="0" rtlCol="0" anchor="t">
            <a:spAutoFit/>
          </a:bodyPr>
          <a:lstStyle/>
          <a:p>
            <a:pPr marL="0" indent="0" algn="l">
              <a:lnSpc>
                <a:spcPts val="1400"/>
              </a:lnSpc>
              <a:buNone/>
            </a:pPr>
            <a:r>
              <a:rPr lang="en-US" sz="834" dirty="0">
                <a:solidFill>
                  <a:srgbClr val="FFFFFF"/>
                </a:solidFill>
              </a:rPr>
              <a:t>0 ≤ P(A ∩ B) ≤ min(P(A), P(B))</a:t>
            </a:r>
            <a:endParaRPr lang="en-US" sz="834" dirty="0"/>
          </a:p>
        </p:txBody>
      </p:sp>
      <p:sp>
        <p:nvSpPr>
          <p:cNvPr id="24" name="Text 20"/>
          <p:cNvSpPr/>
          <p:nvPr/>
        </p:nvSpPr>
        <p:spPr>
          <a:xfrm>
            <a:off x="5107781" y="1501973"/>
            <a:ext cx="603172" cy="15537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FFD93D"/>
                </a:solidFill>
              </a:rPr>
              <a:t>Symmetry:</a:t>
            </a:r>
            <a:endParaRPr lang="en-US" sz="784" dirty="0"/>
          </a:p>
        </p:txBody>
      </p:sp>
      <p:sp>
        <p:nvSpPr>
          <p:cNvPr id="25" name="Text 21"/>
          <p:cNvSpPr/>
          <p:nvPr/>
        </p:nvSpPr>
        <p:spPr>
          <a:xfrm>
            <a:off x="5710954" y="1501973"/>
            <a:ext cx="1072149" cy="155377"/>
          </a:xfrm>
          <a:prstGeom prst="rect">
            <a:avLst/>
          </a:prstGeom>
          <a:noFill/>
          <a:ln/>
        </p:spPr>
        <p:txBody>
          <a:bodyPr wrap="none" lIns="0" tIns="0" rIns="0" bIns="0" rtlCol="0" anchor="t">
            <a:spAutoFit/>
          </a:bodyPr>
          <a:lstStyle/>
          <a:p>
            <a:pPr marL="0" indent="0" algn="l">
              <a:lnSpc>
                <a:spcPts val="1400"/>
              </a:lnSpc>
              <a:buNone/>
            </a:pPr>
            <a:r>
              <a:rPr lang="en-US" sz="834" dirty="0">
                <a:solidFill>
                  <a:srgbClr val="FFFFFF"/>
                </a:solidFill>
              </a:rPr>
              <a:t>P(A ∩ B) = P(B ∩ A)</a:t>
            </a:r>
            <a:endParaRPr lang="en-US" sz="834" dirty="0"/>
          </a:p>
        </p:txBody>
      </p:sp>
      <p:sp>
        <p:nvSpPr>
          <p:cNvPr id="26" name="Text 22"/>
          <p:cNvSpPr/>
          <p:nvPr/>
        </p:nvSpPr>
        <p:spPr>
          <a:xfrm>
            <a:off x="5107781" y="1716286"/>
            <a:ext cx="1063219" cy="15537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FFD93D"/>
                </a:solidFill>
              </a:rPr>
              <a:t>Mutually exclusive:</a:t>
            </a:r>
            <a:endParaRPr lang="en-US" sz="784" dirty="0"/>
          </a:p>
        </p:txBody>
      </p:sp>
      <p:sp>
        <p:nvSpPr>
          <p:cNvPr id="27" name="Text 23"/>
          <p:cNvSpPr/>
          <p:nvPr/>
        </p:nvSpPr>
        <p:spPr>
          <a:xfrm>
            <a:off x="5107781" y="1716286"/>
            <a:ext cx="3338726" cy="326827"/>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FFFFFF"/>
                </a:solidFill>
              </a:rPr>
              <a:t>If A and B cannot occur together, P(A ∩ B) = 0</a:t>
            </a:r>
            <a:endParaRPr lang="en-US" sz="834" dirty="0"/>
          </a:p>
        </p:txBody>
      </p:sp>
      <p:sp>
        <p:nvSpPr>
          <p:cNvPr id="28" name="Shape 24"/>
          <p:cNvSpPr/>
          <p:nvPr/>
        </p:nvSpPr>
        <p:spPr>
          <a:xfrm>
            <a:off x="4750594" y="2137767"/>
            <a:ext cx="3964781" cy="709017"/>
          </a:xfrm>
          <a:prstGeom prst="rect">
            <a:avLst/>
          </a:prstGeom>
          <a:solidFill>
            <a:srgbClr val="FFFFFF">
              <a:alpha val="5000"/>
            </a:srgbClr>
          </a:solidFill>
          <a:ln/>
        </p:spPr>
        <p:txBody>
          <a:bodyPr/>
          <a:lstStyle/>
          <a:p>
            <a:endParaRPr lang="en-US"/>
          </a:p>
        </p:txBody>
      </p:sp>
      <p:sp>
        <p:nvSpPr>
          <p:cNvPr id="29" name="Text 25"/>
          <p:cNvSpPr/>
          <p:nvPr/>
        </p:nvSpPr>
        <p:spPr>
          <a:xfrm>
            <a:off x="4907756" y="2209205"/>
            <a:ext cx="3650456"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D9FF"/>
                </a:solidFill>
              </a:rPr>
              <a:t>Relationship to Other Concepts</a:t>
            </a:r>
            <a:endParaRPr lang="en-US" sz="987" dirty="0"/>
          </a:p>
        </p:txBody>
      </p:sp>
      <p:sp>
        <p:nvSpPr>
          <p:cNvPr id="30" name="Text 26"/>
          <p:cNvSpPr/>
          <p:nvPr/>
        </p:nvSpPr>
        <p:spPr>
          <a:xfrm>
            <a:off x="4907756" y="2446734"/>
            <a:ext cx="3650456" cy="171450"/>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FF6B9D"/>
                </a:solidFill>
              </a:rPr>
              <a:t>To Conditional Probability:</a:t>
            </a:r>
            <a:r>
              <a:rPr lang="en-US" sz="834" dirty="0">
                <a:solidFill>
                  <a:srgbClr val="FFFFFF"/>
                </a:solidFill>
              </a:rPr>
              <a:t> P(B|A) = P(A ∩ B) / P(A)</a:t>
            </a:r>
            <a:endParaRPr lang="en-US" sz="784" dirty="0"/>
          </a:p>
        </p:txBody>
      </p:sp>
      <p:sp>
        <p:nvSpPr>
          <p:cNvPr id="31" name="Text 27"/>
          <p:cNvSpPr/>
          <p:nvPr/>
        </p:nvSpPr>
        <p:spPr>
          <a:xfrm>
            <a:off x="4907756" y="2675334"/>
            <a:ext cx="3650456" cy="171450"/>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FF6B9D"/>
                </a:solidFill>
              </a:rPr>
              <a:t>To Addition Rule:</a:t>
            </a:r>
            <a:r>
              <a:rPr lang="en-US" sz="834" dirty="0">
                <a:solidFill>
                  <a:srgbClr val="FFFFFF"/>
                </a:solidFill>
              </a:rPr>
              <a:t> P(A ∪ B) = P(A) + P(B) - P(A ∩ B)</a:t>
            </a:r>
            <a:endParaRPr lang="en-US" sz="784" dirty="0"/>
          </a:p>
        </p:txBody>
      </p:sp>
      <p:sp>
        <p:nvSpPr>
          <p:cNvPr id="32" name="Shape 28"/>
          <p:cNvSpPr/>
          <p:nvPr/>
        </p:nvSpPr>
        <p:spPr>
          <a:xfrm>
            <a:off x="4750594" y="2932509"/>
            <a:ext cx="3964781" cy="1080492"/>
          </a:xfrm>
          <a:prstGeom prst="rect">
            <a:avLst/>
          </a:prstGeom>
          <a:solidFill>
            <a:srgbClr val="00D9FF">
              <a:alpha val="10000"/>
            </a:srgbClr>
          </a:solidFill>
          <a:ln/>
        </p:spPr>
        <p:txBody>
          <a:bodyPr/>
          <a:lstStyle/>
          <a:p>
            <a:endParaRPr lang="en-US"/>
          </a:p>
        </p:txBody>
      </p:sp>
      <p:sp>
        <p:nvSpPr>
          <p:cNvPr id="33" name="Text 29"/>
          <p:cNvSpPr/>
          <p:nvPr/>
        </p:nvSpPr>
        <p:spPr>
          <a:xfrm>
            <a:off x="4907756" y="3003947"/>
            <a:ext cx="3650456"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FFD93D"/>
                </a:solidFill>
              </a:rPr>
              <a:t>When to Use Joint Probability</a:t>
            </a:r>
            <a:endParaRPr lang="en-US" sz="987" dirty="0"/>
          </a:p>
        </p:txBody>
      </p:sp>
      <p:sp>
        <p:nvSpPr>
          <p:cNvPr id="34" name="Text 30"/>
          <p:cNvSpPr/>
          <p:nvPr/>
        </p:nvSpPr>
        <p:spPr>
          <a:xfrm>
            <a:off x="5086350" y="3248620"/>
            <a:ext cx="1107923" cy="15537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FF6B9D"/>
                </a:solidFill>
              </a:rPr>
              <a:t>Multiple conditions:</a:t>
            </a:r>
            <a:endParaRPr lang="en-US" sz="784" dirty="0"/>
          </a:p>
        </p:txBody>
      </p:sp>
      <p:sp>
        <p:nvSpPr>
          <p:cNvPr id="35" name="Text 31"/>
          <p:cNvSpPr/>
          <p:nvPr/>
        </p:nvSpPr>
        <p:spPr>
          <a:xfrm>
            <a:off x="5970138" y="3262163"/>
            <a:ext cx="1869625" cy="155377"/>
          </a:xfrm>
          <a:prstGeom prst="rect">
            <a:avLst/>
          </a:prstGeom>
          <a:noFill/>
          <a:ln/>
        </p:spPr>
        <p:txBody>
          <a:bodyPr wrap="none" lIns="0" tIns="0" rIns="0" bIns="0" rtlCol="0" anchor="t">
            <a:spAutoFit/>
          </a:bodyPr>
          <a:lstStyle/>
          <a:p>
            <a:pPr marL="0" indent="0" algn="l">
              <a:lnSpc>
                <a:spcPts val="1400"/>
              </a:lnSpc>
              <a:buNone/>
            </a:pPr>
            <a:r>
              <a:rPr lang="en-US" sz="834" dirty="0">
                <a:solidFill>
                  <a:srgbClr val="FFFFFF"/>
                </a:solidFill>
              </a:rPr>
              <a:t>When you need all events to occur</a:t>
            </a:r>
            <a:endParaRPr lang="en-US" sz="834" dirty="0"/>
          </a:p>
        </p:txBody>
      </p:sp>
      <p:sp>
        <p:nvSpPr>
          <p:cNvPr id="36" name="Text 32"/>
          <p:cNvSpPr/>
          <p:nvPr/>
        </p:nvSpPr>
        <p:spPr>
          <a:xfrm>
            <a:off x="5086350" y="3462933"/>
            <a:ext cx="842516" cy="15537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FF6B9D"/>
                </a:solidFill>
              </a:rPr>
              <a:t>AND scenarios:</a:t>
            </a:r>
            <a:endParaRPr lang="en-US" sz="784" dirty="0"/>
          </a:p>
        </p:txBody>
      </p:sp>
      <p:sp>
        <p:nvSpPr>
          <p:cNvPr id="37" name="Text 33"/>
          <p:cNvSpPr/>
          <p:nvPr/>
        </p:nvSpPr>
        <p:spPr>
          <a:xfrm>
            <a:off x="5928866" y="3462933"/>
            <a:ext cx="1967461" cy="155377"/>
          </a:xfrm>
          <a:prstGeom prst="rect">
            <a:avLst/>
          </a:prstGeom>
          <a:noFill/>
          <a:ln/>
        </p:spPr>
        <p:txBody>
          <a:bodyPr wrap="none" lIns="0" tIns="0" rIns="0" bIns="0" rtlCol="0" anchor="t">
            <a:spAutoFit/>
          </a:bodyPr>
          <a:lstStyle/>
          <a:p>
            <a:pPr marL="0" indent="0" algn="l">
              <a:lnSpc>
                <a:spcPts val="1400"/>
              </a:lnSpc>
              <a:buNone/>
            </a:pPr>
            <a:r>
              <a:rPr lang="en-US" sz="834" dirty="0">
                <a:solidFill>
                  <a:srgbClr val="FFFFFF"/>
                </a:solidFill>
              </a:rPr>
              <a:t>"What's the probability of A AND B?"</a:t>
            </a:r>
            <a:endParaRPr lang="en-US" sz="834" dirty="0"/>
          </a:p>
        </p:txBody>
      </p:sp>
      <p:sp>
        <p:nvSpPr>
          <p:cNvPr id="38" name="Text 34"/>
          <p:cNvSpPr/>
          <p:nvPr/>
        </p:nvSpPr>
        <p:spPr>
          <a:xfrm>
            <a:off x="5086350" y="3677245"/>
            <a:ext cx="1018431" cy="15537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FF6B9D"/>
                </a:solidFill>
              </a:rPr>
              <a:t>Sequential stages:</a:t>
            </a:r>
            <a:endParaRPr lang="en-US" sz="784" dirty="0"/>
          </a:p>
        </p:txBody>
      </p:sp>
      <p:sp>
        <p:nvSpPr>
          <p:cNvPr id="39" name="Text 35"/>
          <p:cNvSpPr/>
          <p:nvPr/>
        </p:nvSpPr>
        <p:spPr>
          <a:xfrm>
            <a:off x="5970138" y="3668969"/>
            <a:ext cx="3252443" cy="326827"/>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FFFFFF"/>
                </a:solidFill>
              </a:rPr>
              <a:t>Multi-stage experiments where all stages must succeed</a:t>
            </a:r>
            <a:endParaRPr lang="en-US" sz="834"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0" y="357188"/>
            <a:ext cx="9144000" cy="466130"/>
          </a:xfrm>
          <a:prstGeom prst="rect">
            <a:avLst/>
          </a:prstGeom>
          <a:noFill/>
          <a:ln/>
        </p:spPr>
        <p:txBody>
          <a:bodyPr wrap="none" lIns="0" tIns="0" rIns="0" bIns="0" rtlCol="0" anchor="t">
            <a:spAutoFit/>
          </a:bodyPr>
          <a:lstStyle/>
          <a:p>
            <a:pPr marL="0" indent="0" algn="ctr">
              <a:lnSpc>
                <a:spcPts val="3200"/>
              </a:lnSpc>
              <a:buNone/>
            </a:pPr>
            <a:r>
              <a:rPr lang="en-US" sz="2436" b="1" dirty="0">
                <a:solidFill>
                  <a:srgbClr val="00D9FF"/>
                </a:solidFill>
              </a:rPr>
              <a:t>Probability Tables</a:t>
            </a:r>
            <a:endParaRPr lang="en-US" sz="2436" dirty="0"/>
          </a:p>
        </p:txBody>
      </p:sp>
      <p:sp>
        <p:nvSpPr>
          <p:cNvPr id="5" name="Text 1"/>
          <p:cNvSpPr/>
          <p:nvPr/>
        </p:nvSpPr>
        <p:spPr>
          <a:xfrm>
            <a:off x="0" y="880467"/>
            <a:ext cx="9144000" cy="175022"/>
          </a:xfrm>
          <a:prstGeom prst="rect">
            <a:avLst/>
          </a:prstGeom>
          <a:noFill/>
          <a:ln/>
        </p:spPr>
        <p:txBody>
          <a:bodyPr wrap="none" lIns="0" tIns="0" rIns="0" bIns="0" rtlCol="0" anchor="t">
            <a:spAutoFit/>
          </a:bodyPr>
          <a:lstStyle/>
          <a:p>
            <a:pPr marL="0" indent="0" algn="ctr">
              <a:lnSpc>
                <a:spcPts val="1200"/>
              </a:lnSpc>
              <a:buNone/>
            </a:pPr>
            <a:r>
              <a:rPr lang="en-US" sz="942" dirty="0">
                <a:solidFill>
                  <a:srgbClr val="FFD93D"/>
                </a:solidFill>
              </a:rPr>
              <a:t>Contingency Tables for Organizing and Calculating Probabilities</a:t>
            </a:r>
            <a:endParaRPr lang="en-US" sz="942" dirty="0"/>
          </a:p>
        </p:txBody>
      </p:sp>
      <p:sp>
        <p:nvSpPr>
          <p:cNvPr id="6" name="Shape 2"/>
          <p:cNvSpPr/>
          <p:nvPr/>
        </p:nvSpPr>
        <p:spPr>
          <a:xfrm>
            <a:off x="428625" y="1198364"/>
            <a:ext cx="4214840" cy="734355"/>
          </a:xfrm>
          <a:prstGeom prst="rect">
            <a:avLst/>
          </a:prstGeom>
          <a:solidFill>
            <a:srgbClr val="00D9FF">
              <a:alpha val="10000"/>
            </a:srgbClr>
          </a:solidFill>
          <a:ln/>
        </p:spPr>
        <p:txBody>
          <a:bodyPr/>
          <a:lstStyle/>
          <a:p>
            <a:endParaRPr lang="en-US"/>
          </a:p>
        </p:txBody>
      </p:sp>
      <p:sp>
        <p:nvSpPr>
          <p:cNvPr id="7" name="Text 3"/>
          <p:cNvSpPr/>
          <p:nvPr/>
        </p:nvSpPr>
        <p:spPr>
          <a:xfrm>
            <a:off x="585788" y="1269802"/>
            <a:ext cx="3900515" cy="662918"/>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FFFFFF"/>
                </a:solidFill>
              </a:rPr>
              <a:t>A </a:t>
            </a:r>
            <a:r>
              <a:rPr lang="en-US" sz="784" b="1" dirty="0">
                <a:solidFill>
                  <a:srgbClr val="FFFFFF"/>
                </a:solidFill>
              </a:rPr>
              <a:t>probability table</a:t>
            </a:r>
            <a:r>
              <a:rPr lang="en-US" sz="834" dirty="0">
                <a:solidFill>
                  <a:srgbClr val="FFFFFF"/>
                </a:solidFill>
              </a:rPr>
              <a:t> (or </a:t>
            </a:r>
            <a:r>
              <a:rPr lang="en-US" sz="784" b="1" dirty="0">
                <a:solidFill>
                  <a:srgbClr val="FFFFFF"/>
                </a:solidFill>
              </a:rPr>
              <a:t>contingency table</a:t>
            </a:r>
            <a:r>
              <a:rPr lang="en-US" sz="834" dirty="0">
                <a:solidFill>
                  <a:srgbClr val="FFFFFF"/>
                </a:solidFill>
              </a:rPr>
              <a:t>) is a tabular representation that organizes joint probabilities of two or more categorical variables. It provides a structured way to display and calculate marginal, joint, and conditional probabilities.</a:t>
            </a:r>
            <a:endParaRPr lang="en-US" sz="834" dirty="0"/>
          </a:p>
        </p:txBody>
      </p:sp>
      <p:sp>
        <p:nvSpPr>
          <p:cNvPr id="8" name="Text 4"/>
          <p:cNvSpPr/>
          <p:nvPr/>
        </p:nvSpPr>
        <p:spPr>
          <a:xfrm>
            <a:off x="428625" y="2018444"/>
            <a:ext cx="4214840"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FFD93D"/>
                </a:solidFill>
              </a:rPr>
              <a:t>Table Structure</a:t>
            </a:r>
            <a:endParaRPr lang="en-US" sz="987" dirty="0"/>
          </a:p>
        </p:txBody>
      </p:sp>
      <p:sp>
        <p:nvSpPr>
          <p:cNvPr id="9" name="Shape 5"/>
          <p:cNvSpPr/>
          <p:nvPr/>
        </p:nvSpPr>
        <p:spPr>
          <a:xfrm>
            <a:off x="428625" y="2270261"/>
            <a:ext cx="4214840" cy="989409"/>
          </a:xfrm>
          <a:prstGeom prst="rect">
            <a:avLst/>
          </a:prstGeom>
          <a:solidFill>
            <a:srgbClr val="FFFFFF">
              <a:alpha val="5000"/>
            </a:srgbClr>
          </a:solidFill>
          <a:ln/>
        </p:spPr>
        <p:txBody>
          <a:bodyPr/>
          <a:lstStyle/>
          <a:p>
            <a:endParaRPr lang="en-US"/>
          </a:p>
        </p:txBody>
      </p:sp>
      <p:sp>
        <p:nvSpPr>
          <p:cNvPr id="10" name="Text 6"/>
          <p:cNvSpPr/>
          <p:nvPr/>
        </p:nvSpPr>
        <p:spPr>
          <a:xfrm>
            <a:off x="571500" y="2327411"/>
            <a:ext cx="3929090" cy="932259"/>
          </a:xfrm>
          <a:prstGeom prst="rect">
            <a:avLst/>
          </a:prstGeom>
          <a:noFill/>
          <a:ln/>
        </p:spPr>
        <p:txBody>
          <a:bodyPr wrap="square" lIns="0" tIns="0" rIns="0" bIns="0" rtlCol="0" anchor="t">
            <a:spAutoFit/>
          </a:bodyPr>
          <a:lstStyle/>
          <a:p>
            <a:pPr marL="0" indent="0" algn="l">
              <a:lnSpc>
                <a:spcPts val="1200"/>
              </a:lnSpc>
              <a:buNone/>
            </a:pPr>
            <a:r>
              <a:rPr lang="en-US" sz="780" dirty="0">
                <a:solidFill>
                  <a:srgbClr val="FFFFFF"/>
                </a:solidFill>
              </a:rPr>
              <a:t>• </a:t>
            </a:r>
            <a:r>
              <a:rPr lang="en-US" sz="734" b="1" dirty="0">
                <a:solidFill>
                  <a:srgbClr val="FFD93D"/>
                </a:solidFill>
              </a:rPr>
              <a:t>Rows:</a:t>
            </a:r>
            <a:r>
              <a:rPr lang="en-US" sz="780" dirty="0">
                <a:solidFill>
                  <a:srgbClr val="FFFFFF"/>
                </a:solidFill>
              </a:rPr>
              <a:t> Categories of one variable
 • </a:t>
            </a:r>
            <a:r>
              <a:rPr lang="en-US" sz="734" b="1" dirty="0">
                <a:solidFill>
                  <a:srgbClr val="FFD93D"/>
                </a:solidFill>
              </a:rPr>
              <a:t>Columns:</a:t>
            </a:r>
            <a:r>
              <a:rPr lang="en-US" sz="780" dirty="0">
                <a:solidFill>
                  <a:srgbClr val="FFFFFF"/>
                </a:solidFill>
              </a:rPr>
              <a:t> Categories of another variable
 • </a:t>
            </a:r>
            <a:r>
              <a:rPr lang="en-US" sz="734" b="1" dirty="0">
                <a:solidFill>
                  <a:srgbClr val="FFD93D"/>
                </a:solidFill>
              </a:rPr>
              <a:t>Cells:</a:t>
            </a:r>
            <a:r>
              <a:rPr lang="en-US" sz="780" dirty="0">
                <a:solidFill>
                  <a:srgbClr val="FFFFFF"/>
                </a:solidFill>
              </a:rPr>
              <a:t> Joint probabilities P(Row ∩ Column)
 • </a:t>
            </a:r>
            <a:r>
              <a:rPr lang="en-US" sz="734" b="1" dirty="0">
                <a:solidFill>
                  <a:srgbClr val="FFD93D"/>
                </a:solidFill>
              </a:rPr>
              <a:t>Row margins:</a:t>
            </a:r>
            <a:r>
              <a:rPr lang="en-US" sz="780" dirty="0">
                <a:solidFill>
                  <a:srgbClr val="FFFFFF"/>
                </a:solidFill>
              </a:rPr>
              <a:t> Marginal probabilities of row variable
 • </a:t>
            </a:r>
            <a:r>
              <a:rPr lang="en-US" sz="734" b="1" dirty="0">
                <a:solidFill>
                  <a:srgbClr val="FFD93D"/>
                </a:solidFill>
              </a:rPr>
              <a:t>Column margins:</a:t>
            </a:r>
            <a:r>
              <a:rPr lang="en-US" sz="780" dirty="0">
                <a:solidFill>
                  <a:srgbClr val="FFFFFF"/>
                </a:solidFill>
              </a:rPr>
              <a:t> Marginal probabilities of column variable
 • </a:t>
            </a:r>
            <a:r>
              <a:rPr lang="en-US" sz="734" b="1" dirty="0">
                <a:solidFill>
                  <a:srgbClr val="FFD93D"/>
                </a:solidFill>
              </a:rPr>
              <a:t>Total:</a:t>
            </a:r>
            <a:r>
              <a:rPr lang="en-US" sz="780" dirty="0">
                <a:solidFill>
                  <a:srgbClr val="FFFFFF"/>
                </a:solidFill>
              </a:rPr>
              <a:t> Sum of all probabilities = 1.00</a:t>
            </a:r>
            <a:endParaRPr lang="en-US" sz="780" dirty="0"/>
          </a:p>
        </p:txBody>
      </p:sp>
      <p:sp>
        <p:nvSpPr>
          <p:cNvPr id="11" name="Shape 7"/>
          <p:cNvSpPr/>
          <p:nvPr/>
        </p:nvSpPr>
        <p:spPr>
          <a:xfrm>
            <a:off x="428625" y="3345396"/>
            <a:ext cx="4214840" cy="1628440"/>
          </a:xfrm>
          <a:prstGeom prst="rect">
            <a:avLst/>
          </a:prstGeom>
          <a:solidFill>
            <a:srgbClr val="FF6B9D">
              <a:alpha val="15000"/>
            </a:srgbClr>
          </a:solidFill>
          <a:ln/>
        </p:spPr>
        <p:txBody>
          <a:bodyPr/>
          <a:lstStyle/>
          <a:p>
            <a:endParaRPr lang="en-US"/>
          </a:p>
        </p:txBody>
      </p:sp>
      <p:sp>
        <p:nvSpPr>
          <p:cNvPr id="12" name="Text 8"/>
          <p:cNvSpPr/>
          <p:nvPr/>
        </p:nvSpPr>
        <p:spPr>
          <a:xfrm>
            <a:off x="571500" y="3416833"/>
            <a:ext cx="3929090" cy="175022"/>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FF6B9D"/>
                </a:solidFill>
              </a:rPr>
              <a:t>Example: Student Classification</a:t>
            </a:r>
            <a:endParaRPr lang="en-US" sz="885" dirty="0"/>
          </a:p>
        </p:txBody>
      </p:sp>
      <p:sp>
        <p:nvSpPr>
          <p:cNvPr id="13" name="Text 9"/>
          <p:cNvSpPr/>
          <p:nvPr/>
        </p:nvSpPr>
        <p:spPr>
          <a:xfrm>
            <a:off x="571500" y="3649005"/>
            <a:ext cx="3929090" cy="331459"/>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FFFFFF"/>
                </a:solidFill>
              </a:rPr>
              <a:t>Students classified by Gender (Male/Female) and Major (CS/Math/Physics):</a:t>
            </a:r>
            <a:endParaRPr lang="en-US" sz="834" dirty="0"/>
          </a:p>
        </p:txBody>
      </p:sp>
      <p:sp>
        <p:nvSpPr>
          <p:cNvPr id="14" name="Shape 10"/>
          <p:cNvSpPr/>
          <p:nvPr/>
        </p:nvSpPr>
        <p:spPr>
          <a:xfrm>
            <a:off x="571500" y="4037614"/>
            <a:ext cx="3929090" cy="869433"/>
          </a:xfrm>
          <a:prstGeom prst="rect">
            <a:avLst/>
          </a:prstGeom>
          <a:solidFill>
            <a:srgbClr val="000000">
              <a:alpha val="30000"/>
            </a:srgbClr>
          </a:solidFill>
          <a:ln/>
        </p:spPr>
        <p:txBody>
          <a:bodyPr/>
          <a:lstStyle/>
          <a:p>
            <a:endParaRPr lang="en-US"/>
          </a:p>
        </p:txBody>
      </p:sp>
      <p:sp>
        <p:nvSpPr>
          <p:cNvPr id="15" name="Text 11"/>
          <p:cNvSpPr/>
          <p:nvPr/>
        </p:nvSpPr>
        <p:spPr>
          <a:xfrm>
            <a:off x="678656" y="4094764"/>
            <a:ext cx="3714778" cy="724309"/>
          </a:xfrm>
          <a:prstGeom prst="rect">
            <a:avLst/>
          </a:prstGeom>
          <a:noFill/>
          <a:ln/>
        </p:spPr>
        <p:txBody>
          <a:bodyPr wrap="square" lIns="0" tIns="0" rIns="0" bIns="0" rtlCol="0" anchor="t">
            <a:spAutoFit/>
          </a:bodyPr>
          <a:lstStyle/>
          <a:p>
            <a:pPr marL="0" indent="0" algn="l">
              <a:lnSpc>
                <a:spcPts val="1000"/>
              </a:lnSpc>
              <a:buNone/>
            </a:pPr>
            <a:r>
              <a:rPr lang="en-US" sz="674" dirty="0">
                <a:solidFill>
                  <a:srgbClr val="FFFFFF"/>
                </a:solidFill>
              </a:rPr>
              <a:t>CS    Math   Phys  │ P(Gender)</a:t>
            </a:r>
            <a:endParaRPr lang="en-US" sz="674" dirty="0"/>
          </a:p>
          <a:p>
            <a:pPr marL="0" indent="0" algn="l">
              <a:lnSpc>
                <a:spcPts val="1000"/>
              </a:lnSpc>
              <a:buNone/>
            </a:pPr>
            <a:r>
              <a:rPr lang="en-US" sz="674" dirty="0">
                <a:solidFill>
                  <a:srgbClr val="FFFFFF"/>
                </a:solidFill>
              </a:rPr>
              <a:t>────────────────────────────────────────</a:t>
            </a:r>
            <a:endParaRPr lang="en-US" sz="674" dirty="0"/>
          </a:p>
          <a:p>
            <a:pPr marL="0" indent="0" algn="l">
              <a:lnSpc>
                <a:spcPts val="1000"/>
              </a:lnSpc>
              <a:buNone/>
            </a:pPr>
            <a:r>
              <a:rPr lang="en-US" sz="674" dirty="0">
                <a:solidFill>
                  <a:srgbClr val="FFFFFF"/>
                </a:solidFill>
              </a:rPr>
              <a:t>Male    0.20   0.15   0.10  │  0.45</a:t>
            </a:r>
            <a:endParaRPr lang="en-US" sz="674" dirty="0"/>
          </a:p>
          <a:p>
            <a:pPr marL="0" indent="0" algn="l">
              <a:lnSpc>
                <a:spcPts val="1000"/>
              </a:lnSpc>
              <a:buNone/>
            </a:pPr>
            <a:r>
              <a:rPr lang="en-US" sz="674" dirty="0">
                <a:solidFill>
                  <a:srgbClr val="FFFFFF"/>
                </a:solidFill>
              </a:rPr>
              <a:t>Female  0.25   0.20   0.10  │  0.55</a:t>
            </a:r>
            <a:endParaRPr lang="en-US" sz="674" dirty="0"/>
          </a:p>
          <a:p>
            <a:pPr marL="0" indent="0" algn="l">
              <a:lnSpc>
                <a:spcPts val="1000"/>
              </a:lnSpc>
              <a:buNone/>
            </a:pPr>
            <a:r>
              <a:rPr lang="en-US" sz="674" dirty="0">
                <a:solidFill>
                  <a:srgbClr val="FFFFFF"/>
                </a:solidFill>
              </a:rPr>
              <a:t>────────────────────────────────────────</a:t>
            </a:r>
            <a:endParaRPr lang="en-US" sz="674" dirty="0"/>
          </a:p>
          <a:p>
            <a:pPr marL="0" indent="0" algn="l">
              <a:lnSpc>
                <a:spcPts val="1000"/>
              </a:lnSpc>
              <a:buNone/>
            </a:pPr>
            <a:r>
              <a:rPr lang="en-US" sz="674" dirty="0">
                <a:solidFill>
                  <a:srgbClr val="FFFFFF"/>
                </a:solidFill>
              </a:rPr>
              <a:t>P(Major) 0.45   0.35   0.20  │  1.00</a:t>
            </a:r>
            <a:endParaRPr lang="en-US" sz="674" dirty="0"/>
          </a:p>
        </p:txBody>
      </p:sp>
      <p:sp>
        <p:nvSpPr>
          <p:cNvPr id="16" name="Shape 12"/>
          <p:cNvSpPr/>
          <p:nvPr/>
        </p:nvSpPr>
        <p:spPr>
          <a:xfrm>
            <a:off x="4964934" y="1198364"/>
            <a:ext cx="3750441" cy="1264444"/>
          </a:xfrm>
          <a:prstGeom prst="rect">
            <a:avLst/>
          </a:prstGeom>
          <a:solidFill>
            <a:srgbClr val="FFD73D">
              <a:alpha val="10000"/>
            </a:srgbClr>
          </a:solidFill>
          <a:ln/>
        </p:spPr>
        <p:txBody>
          <a:bodyPr/>
          <a:lstStyle/>
          <a:p>
            <a:endParaRPr lang="en-US"/>
          </a:p>
        </p:txBody>
      </p:sp>
      <p:sp>
        <p:nvSpPr>
          <p:cNvPr id="17" name="Text 13"/>
          <p:cNvSpPr/>
          <p:nvPr/>
        </p:nvSpPr>
        <p:spPr>
          <a:xfrm>
            <a:off x="5107809" y="1255514"/>
            <a:ext cx="3464691" cy="175022"/>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FFD93D"/>
                </a:solidFill>
              </a:rPr>
              <a:t>1. Reading Marginal Probabilities</a:t>
            </a:r>
            <a:endParaRPr lang="en-US" sz="885" dirty="0"/>
          </a:p>
        </p:txBody>
      </p:sp>
      <p:sp>
        <p:nvSpPr>
          <p:cNvPr id="18" name="Text 14"/>
          <p:cNvSpPr/>
          <p:nvPr/>
        </p:nvSpPr>
        <p:spPr>
          <a:xfrm>
            <a:off x="5107809" y="1476970"/>
            <a:ext cx="566338" cy="146447"/>
          </a:xfrm>
          <a:prstGeom prst="rect">
            <a:avLst/>
          </a:prstGeom>
          <a:noFill/>
          <a:ln/>
        </p:spPr>
        <p:txBody>
          <a:bodyPr wrap="none" lIns="0" tIns="0" rIns="0" bIns="0" rtlCol="0" anchor="t">
            <a:spAutoFit/>
          </a:bodyPr>
          <a:lstStyle/>
          <a:p>
            <a:pPr marL="0" indent="0" algn="l">
              <a:lnSpc>
                <a:spcPts val="1200"/>
              </a:lnSpc>
              <a:buNone/>
            </a:pPr>
            <a:r>
              <a:rPr lang="en-US" sz="734" b="1" dirty="0">
                <a:solidFill>
                  <a:srgbClr val="FFFFFF"/>
                </a:solidFill>
              </a:rPr>
              <a:t>Definition:</a:t>
            </a:r>
            <a:endParaRPr lang="en-US" sz="734" dirty="0"/>
          </a:p>
        </p:txBody>
      </p:sp>
      <p:sp>
        <p:nvSpPr>
          <p:cNvPr id="19" name="Text 15"/>
          <p:cNvSpPr/>
          <p:nvPr/>
        </p:nvSpPr>
        <p:spPr>
          <a:xfrm>
            <a:off x="5674147" y="1476970"/>
            <a:ext cx="2536924" cy="146447"/>
          </a:xfrm>
          <a:prstGeom prst="rect">
            <a:avLst/>
          </a:prstGeom>
          <a:noFill/>
          <a:ln/>
        </p:spPr>
        <p:txBody>
          <a:bodyPr wrap="none" lIns="0" tIns="0" rIns="0" bIns="0" rtlCol="0" anchor="t">
            <a:spAutoFit/>
          </a:bodyPr>
          <a:lstStyle/>
          <a:p>
            <a:pPr marL="0" indent="0" algn="l">
              <a:lnSpc>
                <a:spcPts val="1200"/>
              </a:lnSpc>
              <a:buNone/>
            </a:pPr>
            <a:r>
              <a:rPr lang="en-US" sz="780" dirty="0">
                <a:solidFill>
                  <a:srgbClr val="FFFFFF"/>
                </a:solidFill>
              </a:rPr>
              <a:t>Probability of one variable regardless of the other.</a:t>
            </a:r>
            <a:endParaRPr lang="en-US" sz="780" dirty="0"/>
          </a:p>
        </p:txBody>
      </p:sp>
      <p:sp>
        <p:nvSpPr>
          <p:cNvPr id="20" name="Text 16"/>
          <p:cNvSpPr/>
          <p:nvPr/>
        </p:nvSpPr>
        <p:spPr>
          <a:xfrm>
            <a:off x="5107809" y="1657350"/>
            <a:ext cx="3464691" cy="155377"/>
          </a:xfrm>
          <a:prstGeom prst="rect">
            <a:avLst/>
          </a:prstGeom>
          <a:noFill/>
          <a:ln/>
        </p:spPr>
        <p:txBody>
          <a:bodyPr wrap="none" lIns="0" tIns="0" rIns="0" bIns="0" rtlCol="0" anchor="t">
            <a:spAutoFit/>
          </a:bodyPr>
          <a:lstStyle/>
          <a:p>
            <a:pPr marL="0" indent="0" algn="l">
              <a:lnSpc>
                <a:spcPts val="1200"/>
              </a:lnSpc>
              <a:buNone/>
            </a:pPr>
            <a:r>
              <a:rPr lang="en-US" sz="734" b="1" dirty="0">
                <a:solidFill>
                  <a:srgbClr val="00D9FF"/>
                </a:solidFill>
              </a:rPr>
              <a:t>P(A) = sum of row or column</a:t>
            </a:r>
            <a:endParaRPr lang="en-US" sz="734" dirty="0"/>
          </a:p>
        </p:txBody>
      </p:sp>
      <p:sp>
        <p:nvSpPr>
          <p:cNvPr id="21" name="Text 17"/>
          <p:cNvSpPr/>
          <p:nvPr/>
        </p:nvSpPr>
        <p:spPr>
          <a:xfrm>
            <a:off x="5107809" y="1844873"/>
            <a:ext cx="1129857" cy="146447"/>
          </a:xfrm>
          <a:prstGeom prst="rect">
            <a:avLst/>
          </a:prstGeom>
          <a:noFill/>
          <a:ln/>
        </p:spPr>
        <p:txBody>
          <a:bodyPr wrap="none" lIns="0" tIns="0" rIns="0" bIns="0" rtlCol="0" anchor="t">
            <a:spAutoFit/>
          </a:bodyPr>
          <a:lstStyle/>
          <a:p>
            <a:pPr marL="0" indent="0" algn="l">
              <a:lnSpc>
                <a:spcPts val="1200"/>
              </a:lnSpc>
              <a:buNone/>
            </a:pPr>
            <a:r>
              <a:rPr lang="en-US" sz="734" b="1" dirty="0">
                <a:solidFill>
                  <a:srgbClr val="FFFFFF"/>
                </a:solidFill>
              </a:rPr>
              <a:t>Examples from table:</a:t>
            </a:r>
            <a:endParaRPr lang="en-US" sz="734" dirty="0"/>
          </a:p>
        </p:txBody>
      </p:sp>
      <p:sp>
        <p:nvSpPr>
          <p:cNvPr id="22" name="Text 18"/>
          <p:cNvSpPr/>
          <p:nvPr/>
        </p:nvSpPr>
        <p:spPr>
          <a:xfrm>
            <a:off x="5107809" y="2000250"/>
            <a:ext cx="1548519" cy="146447"/>
          </a:xfrm>
          <a:prstGeom prst="rect">
            <a:avLst/>
          </a:prstGeom>
          <a:noFill/>
          <a:ln/>
        </p:spPr>
        <p:txBody>
          <a:bodyPr wrap="none" lIns="0" tIns="0" rIns="0" bIns="0" rtlCol="0" anchor="t">
            <a:spAutoFit/>
          </a:bodyPr>
          <a:lstStyle/>
          <a:p>
            <a:pPr marL="0" indent="0" algn="l">
              <a:lnSpc>
                <a:spcPts val="1200"/>
              </a:lnSpc>
              <a:buNone/>
            </a:pPr>
            <a:r>
              <a:rPr lang="en-US" sz="780" dirty="0">
                <a:solidFill>
                  <a:srgbClr val="FFFFFF"/>
                </a:solidFill>
              </a:rPr>
              <a:t>• P(Male) = 0.20 + 0.15 + 0.10 =</a:t>
            </a:r>
            <a:endParaRPr lang="en-US" sz="780" dirty="0"/>
          </a:p>
        </p:txBody>
      </p:sp>
      <p:sp>
        <p:nvSpPr>
          <p:cNvPr id="23" name="Text 19"/>
          <p:cNvSpPr/>
          <p:nvPr/>
        </p:nvSpPr>
        <p:spPr>
          <a:xfrm>
            <a:off x="6656329" y="2000250"/>
            <a:ext cx="213782" cy="146447"/>
          </a:xfrm>
          <a:prstGeom prst="rect">
            <a:avLst/>
          </a:prstGeom>
          <a:noFill/>
          <a:ln/>
        </p:spPr>
        <p:txBody>
          <a:bodyPr wrap="none" lIns="0" tIns="0" rIns="0" bIns="0" rtlCol="0" anchor="t">
            <a:spAutoFit/>
          </a:bodyPr>
          <a:lstStyle/>
          <a:p>
            <a:pPr marL="0" indent="0" algn="l">
              <a:lnSpc>
                <a:spcPts val="1200"/>
              </a:lnSpc>
              <a:buNone/>
            </a:pPr>
            <a:r>
              <a:rPr lang="en-US" sz="734" b="1" dirty="0">
                <a:solidFill>
                  <a:srgbClr val="FF6B9D"/>
                </a:solidFill>
              </a:rPr>
              <a:t>0.45</a:t>
            </a:r>
            <a:endParaRPr lang="en-US" sz="734" dirty="0"/>
          </a:p>
        </p:txBody>
      </p:sp>
      <p:sp>
        <p:nvSpPr>
          <p:cNvPr id="24" name="Text 20"/>
          <p:cNvSpPr/>
          <p:nvPr/>
        </p:nvSpPr>
        <p:spPr>
          <a:xfrm>
            <a:off x="5107809" y="2155627"/>
            <a:ext cx="1667591" cy="146447"/>
          </a:xfrm>
          <a:prstGeom prst="rect">
            <a:avLst/>
          </a:prstGeom>
          <a:noFill/>
          <a:ln/>
        </p:spPr>
        <p:txBody>
          <a:bodyPr wrap="none" lIns="0" tIns="0" rIns="0" bIns="0" rtlCol="0" anchor="t">
            <a:spAutoFit/>
          </a:bodyPr>
          <a:lstStyle/>
          <a:p>
            <a:pPr marL="0" indent="0" algn="l">
              <a:lnSpc>
                <a:spcPts val="1200"/>
              </a:lnSpc>
              <a:buNone/>
            </a:pPr>
            <a:r>
              <a:rPr lang="en-US" sz="780" dirty="0">
                <a:solidFill>
                  <a:srgbClr val="FFFFFF"/>
                </a:solidFill>
              </a:rPr>
              <a:t>• P(Female) = 0.25 + 0.20 + 0.10 =</a:t>
            </a:r>
            <a:endParaRPr lang="en-US" sz="780" dirty="0"/>
          </a:p>
        </p:txBody>
      </p:sp>
      <p:sp>
        <p:nvSpPr>
          <p:cNvPr id="25" name="Text 21"/>
          <p:cNvSpPr/>
          <p:nvPr/>
        </p:nvSpPr>
        <p:spPr>
          <a:xfrm>
            <a:off x="6775400" y="2155627"/>
            <a:ext cx="213782" cy="146447"/>
          </a:xfrm>
          <a:prstGeom prst="rect">
            <a:avLst/>
          </a:prstGeom>
          <a:noFill/>
          <a:ln/>
        </p:spPr>
        <p:txBody>
          <a:bodyPr wrap="none" lIns="0" tIns="0" rIns="0" bIns="0" rtlCol="0" anchor="t">
            <a:spAutoFit/>
          </a:bodyPr>
          <a:lstStyle/>
          <a:p>
            <a:pPr marL="0" indent="0" algn="l">
              <a:lnSpc>
                <a:spcPts val="1200"/>
              </a:lnSpc>
              <a:buNone/>
            </a:pPr>
            <a:r>
              <a:rPr lang="en-US" sz="734" b="1" dirty="0">
                <a:solidFill>
                  <a:srgbClr val="FF6B9D"/>
                </a:solidFill>
              </a:rPr>
              <a:t>0.55</a:t>
            </a:r>
            <a:endParaRPr lang="en-US" sz="734" dirty="0"/>
          </a:p>
        </p:txBody>
      </p:sp>
      <p:sp>
        <p:nvSpPr>
          <p:cNvPr id="26" name="Text 22"/>
          <p:cNvSpPr/>
          <p:nvPr/>
        </p:nvSpPr>
        <p:spPr>
          <a:xfrm>
            <a:off x="5107809" y="2311003"/>
            <a:ext cx="1100082" cy="146447"/>
          </a:xfrm>
          <a:prstGeom prst="rect">
            <a:avLst/>
          </a:prstGeom>
          <a:noFill/>
          <a:ln/>
        </p:spPr>
        <p:txBody>
          <a:bodyPr wrap="none" lIns="0" tIns="0" rIns="0" bIns="0" rtlCol="0" anchor="t">
            <a:spAutoFit/>
          </a:bodyPr>
          <a:lstStyle/>
          <a:p>
            <a:pPr marL="0" indent="0" algn="l">
              <a:lnSpc>
                <a:spcPts val="1200"/>
              </a:lnSpc>
              <a:buNone/>
            </a:pPr>
            <a:r>
              <a:rPr lang="en-US" sz="780" dirty="0">
                <a:solidFill>
                  <a:srgbClr val="FFFFFF"/>
                </a:solidFill>
              </a:rPr>
              <a:t>• P(CS) = 0.20 + 0.25 =</a:t>
            </a:r>
            <a:endParaRPr lang="en-US" sz="780" dirty="0"/>
          </a:p>
        </p:txBody>
      </p:sp>
      <p:sp>
        <p:nvSpPr>
          <p:cNvPr id="27" name="Text 23"/>
          <p:cNvSpPr/>
          <p:nvPr/>
        </p:nvSpPr>
        <p:spPr>
          <a:xfrm>
            <a:off x="6207891" y="2311003"/>
            <a:ext cx="213782" cy="146447"/>
          </a:xfrm>
          <a:prstGeom prst="rect">
            <a:avLst/>
          </a:prstGeom>
          <a:noFill/>
          <a:ln/>
        </p:spPr>
        <p:txBody>
          <a:bodyPr wrap="none" lIns="0" tIns="0" rIns="0" bIns="0" rtlCol="0" anchor="t">
            <a:spAutoFit/>
          </a:bodyPr>
          <a:lstStyle/>
          <a:p>
            <a:pPr marL="0" indent="0" algn="l">
              <a:lnSpc>
                <a:spcPts val="1200"/>
              </a:lnSpc>
              <a:buNone/>
            </a:pPr>
            <a:r>
              <a:rPr lang="en-US" sz="734" b="1" dirty="0">
                <a:solidFill>
                  <a:srgbClr val="FF6B9D"/>
                </a:solidFill>
              </a:rPr>
              <a:t>0.45</a:t>
            </a:r>
            <a:endParaRPr lang="en-US" sz="734" dirty="0"/>
          </a:p>
        </p:txBody>
      </p:sp>
      <p:sp>
        <p:nvSpPr>
          <p:cNvPr id="28" name="Shape 24"/>
          <p:cNvSpPr/>
          <p:nvPr/>
        </p:nvSpPr>
        <p:spPr>
          <a:xfrm>
            <a:off x="4964934" y="2534245"/>
            <a:ext cx="3750441" cy="1264444"/>
          </a:xfrm>
          <a:prstGeom prst="rect">
            <a:avLst/>
          </a:prstGeom>
          <a:solidFill>
            <a:srgbClr val="00D9FF">
              <a:alpha val="10000"/>
            </a:srgbClr>
          </a:solidFill>
          <a:ln/>
        </p:spPr>
        <p:txBody>
          <a:bodyPr/>
          <a:lstStyle/>
          <a:p>
            <a:endParaRPr lang="en-US"/>
          </a:p>
        </p:txBody>
      </p:sp>
      <p:sp>
        <p:nvSpPr>
          <p:cNvPr id="29" name="Text 25"/>
          <p:cNvSpPr/>
          <p:nvPr/>
        </p:nvSpPr>
        <p:spPr>
          <a:xfrm>
            <a:off x="5107809" y="2591395"/>
            <a:ext cx="3464691" cy="175022"/>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00D9FF"/>
                </a:solidFill>
              </a:rPr>
              <a:t>2. Reading Joint Probabilities</a:t>
            </a:r>
            <a:endParaRPr lang="en-US" sz="885" dirty="0"/>
          </a:p>
        </p:txBody>
      </p:sp>
      <p:sp>
        <p:nvSpPr>
          <p:cNvPr id="30" name="Text 26"/>
          <p:cNvSpPr/>
          <p:nvPr/>
        </p:nvSpPr>
        <p:spPr>
          <a:xfrm>
            <a:off x="5107809" y="2812852"/>
            <a:ext cx="566338" cy="146447"/>
          </a:xfrm>
          <a:prstGeom prst="rect">
            <a:avLst/>
          </a:prstGeom>
          <a:noFill/>
          <a:ln/>
        </p:spPr>
        <p:txBody>
          <a:bodyPr wrap="none" lIns="0" tIns="0" rIns="0" bIns="0" rtlCol="0" anchor="t">
            <a:spAutoFit/>
          </a:bodyPr>
          <a:lstStyle/>
          <a:p>
            <a:pPr marL="0" indent="0" algn="l">
              <a:lnSpc>
                <a:spcPts val="1200"/>
              </a:lnSpc>
              <a:buNone/>
            </a:pPr>
            <a:r>
              <a:rPr lang="en-US" sz="734" b="1" dirty="0">
                <a:solidFill>
                  <a:srgbClr val="FFFFFF"/>
                </a:solidFill>
              </a:rPr>
              <a:t>Definition:</a:t>
            </a:r>
            <a:endParaRPr lang="en-US" sz="734" dirty="0"/>
          </a:p>
        </p:txBody>
      </p:sp>
      <p:sp>
        <p:nvSpPr>
          <p:cNvPr id="31" name="Text 27"/>
          <p:cNvSpPr/>
          <p:nvPr/>
        </p:nvSpPr>
        <p:spPr>
          <a:xfrm>
            <a:off x="5674147" y="2812852"/>
            <a:ext cx="2307096" cy="146447"/>
          </a:xfrm>
          <a:prstGeom prst="rect">
            <a:avLst/>
          </a:prstGeom>
          <a:noFill/>
          <a:ln/>
        </p:spPr>
        <p:txBody>
          <a:bodyPr wrap="none" lIns="0" tIns="0" rIns="0" bIns="0" rtlCol="0" anchor="t">
            <a:spAutoFit/>
          </a:bodyPr>
          <a:lstStyle/>
          <a:p>
            <a:pPr marL="0" indent="0" algn="l">
              <a:lnSpc>
                <a:spcPts val="1200"/>
              </a:lnSpc>
              <a:buNone/>
            </a:pPr>
            <a:r>
              <a:rPr lang="en-US" sz="780" dirty="0">
                <a:solidFill>
                  <a:srgbClr val="FFFFFF"/>
                </a:solidFill>
              </a:rPr>
              <a:t>Probability of both events occurring together.</a:t>
            </a:r>
            <a:endParaRPr lang="en-US" sz="780" dirty="0"/>
          </a:p>
        </p:txBody>
      </p:sp>
      <p:sp>
        <p:nvSpPr>
          <p:cNvPr id="32" name="Text 28"/>
          <p:cNvSpPr/>
          <p:nvPr/>
        </p:nvSpPr>
        <p:spPr>
          <a:xfrm>
            <a:off x="5107809" y="2993231"/>
            <a:ext cx="3464691" cy="155377"/>
          </a:xfrm>
          <a:prstGeom prst="rect">
            <a:avLst/>
          </a:prstGeom>
          <a:noFill/>
          <a:ln/>
        </p:spPr>
        <p:txBody>
          <a:bodyPr wrap="none" lIns="0" tIns="0" rIns="0" bIns="0" rtlCol="0" anchor="t">
            <a:spAutoFit/>
          </a:bodyPr>
          <a:lstStyle/>
          <a:p>
            <a:pPr marL="0" indent="0" algn="l">
              <a:lnSpc>
                <a:spcPts val="1200"/>
              </a:lnSpc>
              <a:buNone/>
            </a:pPr>
            <a:r>
              <a:rPr lang="en-US" sz="734" b="1" dirty="0">
                <a:solidFill>
                  <a:srgbClr val="00D9FF"/>
                </a:solidFill>
              </a:rPr>
              <a:t>P(A ∩ B) = cell value</a:t>
            </a:r>
            <a:endParaRPr lang="en-US" sz="734" dirty="0"/>
          </a:p>
        </p:txBody>
      </p:sp>
      <p:sp>
        <p:nvSpPr>
          <p:cNvPr id="33" name="Text 29"/>
          <p:cNvSpPr/>
          <p:nvPr/>
        </p:nvSpPr>
        <p:spPr>
          <a:xfrm>
            <a:off x="5107809" y="3180755"/>
            <a:ext cx="1129857" cy="146447"/>
          </a:xfrm>
          <a:prstGeom prst="rect">
            <a:avLst/>
          </a:prstGeom>
          <a:noFill/>
          <a:ln/>
        </p:spPr>
        <p:txBody>
          <a:bodyPr wrap="none" lIns="0" tIns="0" rIns="0" bIns="0" rtlCol="0" anchor="t">
            <a:spAutoFit/>
          </a:bodyPr>
          <a:lstStyle/>
          <a:p>
            <a:pPr marL="0" indent="0" algn="l">
              <a:lnSpc>
                <a:spcPts val="1200"/>
              </a:lnSpc>
              <a:buNone/>
            </a:pPr>
            <a:r>
              <a:rPr lang="en-US" sz="734" b="1" dirty="0">
                <a:solidFill>
                  <a:srgbClr val="FFFFFF"/>
                </a:solidFill>
              </a:rPr>
              <a:t>Examples from table:</a:t>
            </a:r>
            <a:endParaRPr lang="en-US" sz="734" dirty="0"/>
          </a:p>
        </p:txBody>
      </p:sp>
      <p:sp>
        <p:nvSpPr>
          <p:cNvPr id="34" name="Text 30"/>
          <p:cNvSpPr/>
          <p:nvPr/>
        </p:nvSpPr>
        <p:spPr>
          <a:xfrm>
            <a:off x="5107809" y="3336131"/>
            <a:ext cx="849130" cy="146447"/>
          </a:xfrm>
          <a:prstGeom prst="rect">
            <a:avLst/>
          </a:prstGeom>
          <a:noFill/>
          <a:ln/>
        </p:spPr>
        <p:txBody>
          <a:bodyPr wrap="none" lIns="0" tIns="0" rIns="0" bIns="0" rtlCol="0" anchor="t">
            <a:spAutoFit/>
          </a:bodyPr>
          <a:lstStyle/>
          <a:p>
            <a:pPr marL="0" indent="0" algn="l">
              <a:lnSpc>
                <a:spcPts val="1200"/>
              </a:lnSpc>
              <a:buNone/>
            </a:pPr>
            <a:r>
              <a:rPr lang="en-US" sz="780" dirty="0">
                <a:solidFill>
                  <a:srgbClr val="FFFFFF"/>
                </a:solidFill>
              </a:rPr>
              <a:t>• P(Male ∩ CS) =</a:t>
            </a:r>
            <a:endParaRPr lang="en-US" sz="780" dirty="0"/>
          </a:p>
        </p:txBody>
      </p:sp>
      <p:sp>
        <p:nvSpPr>
          <p:cNvPr id="35" name="Text 31"/>
          <p:cNvSpPr/>
          <p:nvPr/>
        </p:nvSpPr>
        <p:spPr>
          <a:xfrm>
            <a:off x="5956939" y="3336131"/>
            <a:ext cx="213782" cy="146447"/>
          </a:xfrm>
          <a:prstGeom prst="rect">
            <a:avLst/>
          </a:prstGeom>
          <a:noFill/>
          <a:ln/>
        </p:spPr>
        <p:txBody>
          <a:bodyPr wrap="none" lIns="0" tIns="0" rIns="0" bIns="0" rtlCol="0" anchor="t">
            <a:spAutoFit/>
          </a:bodyPr>
          <a:lstStyle/>
          <a:p>
            <a:pPr marL="0" indent="0" algn="l">
              <a:lnSpc>
                <a:spcPts val="1200"/>
              </a:lnSpc>
              <a:buNone/>
            </a:pPr>
            <a:r>
              <a:rPr lang="en-US" sz="734" b="1" dirty="0">
                <a:solidFill>
                  <a:srgbClr val="FF6B9D"/>
                </a:solidFill>
              </a:rPr>
              <a:t>0.20</a:t>
            </a:r>
            <a:endParaRPr lang="en-US" sz="734" dirty="0"/>
          </a:p>
        </p:txBody>
      </p:sp>
      <p:sp>
        <p:nvSpPr>
          <p:cNvPr id="36" name="Text 32"/>
          <p:cNvSpPr/>
          <p:nvPr/>
        </p:nvSpPr>
        <p:spPr>
          <a:xfrm>
            <a:off x="5107809" y="3491508"/>
            <a:ext cx="1090008" cy="146447"/>
          </a:xfrm>
          <a:prstGeom prst="rect">
            <a:avLst/>
          </a:prstGeom>
          <a:noFill/>
          <a:ln/>
        </p:spPr>
        <p:txBody>
          <a:bodyPr wrap="none" lIns="0" tIns="0" rIns="0" bIns="0" rtlCol="0" anchor="t">
            <a:spAutoFit/>
          </a:bodyPr>
          <a:lstStyle/>
          <a:p>
            <a:pPr marL="0" indent="0" algn="l">
              <a:lnSpc>
                <a:spcPts val="1200"/>
              </a:lnSpc>
              <a:buNone/>
            </a:pPr>
            <a:r>
              <a:rPr lang="en-US" sz="780" dirty="0">
                <a:solidFill>
                  <a:srgbClr val="FFFFFF"/>
                </a:solidFill>
              </a:rPr>
              <a:t>• P(Male ∩ Physics) =</a:t>
            </a:r>
            <a:endParaRPr lang="en-US" sz="780" dirty="0"/>
          </a:p>
        </p:txBody>
      </p:sp>
      <p:sp>
        <p:nvSpPr>
          <p:cNvPr id="37" name="Text 33"/>
          <p:cNvSpPr/>
          <p:nvPr/>
        </p:nvSpPr>
        <p:spPr>
          <a:xfrm>
            <a:off x="6197817" y="3491508"/>
            <a:ext cx="213782" cy="146447"/>
          </a:xfrm>
          <a:prstGeom prst="rect">
            <a:avLst/>
          </a:prstGeom>
          <a:noFill/>
          <a:ln/>
        </p:spPr>
        <p:txBody>
          <a:bodyPr wrap="none" lIns="0" tIns="0" rIns="0" bIns="0" rtlCol="0" anchor="t">
            <a:spAutoFit/>
          </a:bodyPr>
          <a:lstStyle/>
          <a:p>
            <a:pPr marL="0" indent="0" algn="l">
              <a:lnSpc>
                <a:spcPts val="1200"/>
              </a:lnSpc>
              <a:buNone/>
            </a:pPr>
            <a:r>
              <a:rPr lang="en-US" sz="734" b="1" dirty="0">
                <a:solidFill>
                  <a:srgbClr val="FF6B9D"/>
                </a:solidFill>
              </a:rPr>
              <a:t>0.10</a:t>
            </a:r>
            <a:endParaRPr lang="en-US" sz="734" dirty="0"/>
          </a:p>
        </p:txBody>
      </p:sp>
      <p:sp>
        <p:nvSpPr>
          <p:cNvPr id="38" name="Text 34"/>
          <p:cNvSpPr/>
          <p:nvPr/>
        </p:nvSpPr>
        <p:spPr>
          <a:xfrm>
            <a:off x="5107809" y="3646884"/>
            <a:ext cx="968173" cy="146447"/>
          </a:xfrm>
          <a:prstGeom prst="rect">
            <a:avLst/>
          </a:prstGeom>
          <a:noFill/>
          <a:ln/>
        </p:spPr>
        <p:txBody>
          <a:bodyPr wrap="none" lIns="0" tIns="0" rIns="0" bIns="0" rtlCol="0" anchor="t">
            <a:spAutoFit/>
          </a:bodyPr>
          <a:lstStyle/>
          <a:p>
            <a:pPr marL="0" indent="0" algn="l">
              <a:lnSpc>
                <a:spcPts val="1200"/>
              </a:lnSpc>
              <a:buNone/>
            </a:pPr>
            <a:r>
              <a:rPr lang="en-US" sz="780" dirty="0">
                <a:solidFill>
                  <a:srgbClr val="FFFFFF"/>
                </a:solidFill>
              </a:rPr>
              <a:t>• P(Female ∩ CS) =</a:t>
            </a:r>
            <a:endParaRPr lang="en-US" sz="780" dirty="0"/>
          </a:p>
        </p:txBody>
      </p:sp>
      <p:sp>
        <p:nvSpPr>
          <p:cNvPr id="39" name="Text 35"/>
          <p:cNvSpPr/>
          <p:nvPr/>
        </p:nvSpPr>
        <p:spPr>
          <a:xfrm>
            <a:off x="6075983" y="3646884"/>
            <a:ext cx="213782" cy="146447"/>
          </a:xfrm>
          <a:prstGeom prst="rect">
            <a:avLst/>
          </a:prstGeom>
          <a:noFill/>
          <a:ln/>
        </p:spPr>
        <p:txBody>
          <a:bodyPr wrap="none" lIns="0" tIns="0" rIns="0" bIns="0" rtlCol="0" anchor="t">
            <a:spAutoFit/>
          </a:bodyPr>
          <a:lstStyle/>
          <a:p>
            <a:pPr marL="0" indent="0" algn="l">
              <a:lnSpc>
                <a:spcPts val="1200"/>
              </a:lnSpc>
              <a:buNone/>
            </a:pPr>
            <a:r>
              <a:rPr lang="en-US" sz="734" b="1" dirty="0">
                <a:solidFill>
                  <a:srgbClr val="FF6B9D"/>
                </a:solidFill>
              </a:rPr>
              <a:t>0.25</a:t>
            </a:r>
            <a:endParaRPr lang="en-US" sz="734" dirty="0"/>
          </a:p>
        </p:txBody>
      </p:sp>
      <p:sp>
        <p:nvSpPr>
          <p:cNvPr id="40" name="Shape 36"/>
          <p:cNvSpPr/>
          <p:nvPr/>
        </p:nvSpPr>
        <p:spPr>
          <a:xfrm>
            <a:off x="4964934" y="3870127"/>
            <a:ext cx="3750441" cy="1190484"/>
          </a:xfrm>
          <a:prstGeom prst="rect">
            <a:avLst/>
          </a:prstGeom>
          <a:solidFill>
            <a:srgbClr val="FF6B9D">
              <a:alpha val="10000"/>
            </a:srgbClr>
          </a:solidFill>
          <a:ln/>
        </p:spPr>
        <p:txBody>
          <a:bodyPr/>
          <a:lstStyle/>
          <a:p>
            <a:endParaRPr lang="en-US"/>
          </a:p>
        </p:txBody>
      </p:sp>
      <p:sp>
        <p:nvSpPr>
          <p:cNvPr id="41" name="Text 37"/>
          <p:cNvSpPr/>
          <p:nvPr/>
        </p:nvSpPr>
        <p:spPr>
          <a:xfrm>
            <a:off x="5107809" y="3927277"/>
            <a:ext cx="3464691" cy="175022"/>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FF6B9D"/>
                </a:solidFill>
              </a:rPr>
              <a:t>3. Calculating Conditional Probabilities</a:t>
            </a:r>
            <a:endParaRPr lang="en-US" sz="885" dirty="0"/>
          </a:p>
        </p:txBody>
      </p:sp>
      <p:sp>
        <p:nvSpPr>
          <p:cNvPr id="42" name="Text 38"/>
          <p:cNvSpPr/>
          <p:nvPr/>
        </p:nvSpPr>
        <p:spPr>
          <a:xfrm>
            <a:off x="5107809" y="4148733"/>
            <a:ext cx="566338" cy="146447"/>
          </a:xfrm>
          <a:prstGeom prst="rect">
            <a:avLst/>
          </a:prstGeom>
          <a:noFill/>
          <a:ln/>
        </p:spPr>
        <p:txBody>
          <a:bodyPr wrap="none" lIns="0" tIns="0" rIns="0" bIns="0" rtlCol="0" anchor="t">
            <a:spAutoFit/>
          </a:bodyPr>
          <a:lstStyle/>
          <a:p>
            <a:pPr marL="0" indent="0" algn="l">
              <a:lnSpc>
                <a:spcPts val="1200"/>
              </a:lnSpc>
              <a:buNone/>
            </a:pPr>
            <a:r>
              <a:rPr lang="en-US" sz="734" b="1" dirty="0">
                <a:solidFill>
                  <a:srgbClr val="FFFFFF"/>
                </a:solidFill>
              </a:rPr>
              <a:t>Definition:</a:t>
            </a:r>
            <a:endParaRPr lang="en-US" sz="734" dirty="0"/>
          </a:p>
        </p:txBody>
      </p:sp>
      <p:sp>
        <p:nvSpPr>
          <p:cNvPr id="43" name="Text 39"/>
          <p:cNvSpPr/>
          <p:nvPr/>
        </p:nvSpPr>
        <p:spPr>
          <a:xfrm>
            <a:off x="5674147" y="4148733"/>
            <a:ext cx="1965368" cy="146447"/>
          </a:xfrm>
          <a:prstGeom prst="rect">
            <a:avLst/>
          </a:prstGeom>
          <a:noFill/>
          <a:ln/>
        </p:spPr>
        <p:txBody>
          <a:bodyPr wrap="none" lIns="0" tIns="0" rIns="0" bIns="0" rtlCol="0" anchor="t">
            <a:spAutoFit/>
          </a:bodyPr>
          <a:lstStyle/>
          <a:p>
            <a:pPr marL="0" indent="0" algn="l">
              <a:lnSpc>
                <a:spcPts val="1200"/>
              </a:lnSpc>
              <a:buNone/>
            </a:pPr>
            <a:r>
              <a:rPr lang="en-US" sz="780" dirty="0">
                <a:solidFill>
                  <a:srgbClr val="FFFFFF"/>
                </a:solidFill>
              </a:rPr>
              <a:t>Probability of one event given another.</a:t>
            </a:r>
            <a:endParaRPr lang="en-US" sz="780" dirty="0"/>
          </a:p>
        </p:txBody>
      </p:sp>
      <p:sp>
        <p:nvSpPr>
          <p:cNvPr id="44" name="Text 40"/>
          <p:cNvSpPr/>
          <p:nvPr/>
        </p:nvSpPr>
        <p:spPr>
          <a:xfrm>
            <a:off x="5107809" y="4329113"/>
            <a:ext cx="3464691" cy="155377"/>
          </a:xfrm>
          <a:prstGeom prst="rect">
            <a:avLst/>
          </a:prstGeom>
          <a:noFill/>
          <a:ln/>
        </p:spPr>
        <p:txBody>
          <a:bodyPr wrap="none" lIns="0" tIns="0" rIns="0" bIns="0" rtlCol="0" anchor="t">
            <a:spAutoFit/>
          </a:bodyPr>
          <a:lstStyle/>
          <a:p>
            <a:pPr marL="0" indent="0" algn="l">
              <a:lnSpc>
                <a:spcPts val="1200"/>
              </a:lnSpc>
              <a:buNone/>
            </a:pPr>
            <a:r>
              <a:rPr lang="en-US" sz="734" b="1" dirty="0">
                <a:solidFill>
                  <a:srgbClr val="00D9FF"/>
                </a:solidFill>
              </a:rPr>
              <a:t>P(A|B) = P(A ∩ B) / P(B)</a:t>
            </a:r>
            <a:endParaRPr lang="en-US" sz="734" dirty="0"/>
          </a:p>
        </p:txBody>
      </p:sp>
      <p:sp>
        <p:nvSpPr>
          <p:cNvPr id="45" name="Text 41"/>
          <p:cNvSpPr/>
          <p:nvPr/>
        </p:nvSpPr>
        <p:spPr>
          <a:xfrm>
            <a:off x="5107809" y="4516636"/>
            <a:ext cx="1129857" cy="146447"/>
          </a:xfrm>
          <a:prstGeom prst="rect">
            <a:avLst/>
          </a:prstGeom>
          <a:noFill/>
          <a:ln/>
        </p:spPr>
        <p:txBody>
          <a:bodyPr wrap="none" lIns="0" tIns="0" rIns="0" bIns="0" rtlCol="0" anchor="t">
            <a:spAutoFit/>
          </a:bodyPr>
          <a:lstStyle/>
          <a:p>
            <a:pPr marL="0" indent="0" algn="l">
              <a:lnSpc>
                <a:spcPts val="1200"/>
              </a:lnSpc>
              <a:buNone/>
            </a:pPr>
            <a:r>
              <a:rPr lang="en-US" sz="734" b="1" dirty="0">
                <a:solidFill>
                  <a:srgbClr val="FFFFFF"/>
                </a:solidFill>
              </a:rPr>
              <a:t>Examples from table:</a:t>
            </a:r>
            <a:endParaRPr lang="en-US" sz="734" dirty="0"/>
          </a:p>
        </p:txBody>
      </p:sp>
      <p:sp>
        <p:nvSpPr>
          <p:cNvPr id="46" name="Text 42"/>
          <p:cNvSpPr/>
          <p:nvPr/>
        </p:nvSpPr>
        <p:spPr>
          <a:xfrm>
            <a:off x="5107809" y="4672013"/>
            <a:ext cx="1438796" cy="146447"/>
          </a:xfrm>
          <a:prstGeom prst="rect">
            <a:avLst/>
          </a:prstGeom>
          <a:noFill/>
          <a:ln/>
        </p:spPr>
        <p:txBody>
          <a:bodyPr wrap="none" lIns="0" tIns="0" rIns="0" bIns="0" rtlCol="0" anchor="t">
            <a:spAutoFit/>
          </a:bodyPr>
          <a:lstStyle/>
          <a:p>
            <a:pPr marL="0" indent="0" algn="l">
              <a:lnSpc>
                <a:spcPts val="1200"/>
              </a:lnSpc>
              <a:buNone/>
            </a:pPr>
            <a:r>
              <a:rPr lang="en-US" sz="780" dirty="0">
                <a:solidFill>
                  <a:srgbClr val="FFFFFF"/>
                </a:solidFill>
              </a:rPr>
              <a:t>• P(CS | Male) = 0.20 / 0.45 =</a:t>
            </a:r>
            <a:endParaRPr lang="en-US" sz="780" dirty="0"/>
          </a:p>
        </p:txBody>
      </p:sp>
      <p:sp>
        <p:nvSpPr>
          <p:cNvPr id="47" name="Text 43"/>
          <p:cNvSpPr/>
          <p:nvPr/>
        </p:nvSpPr>
        <p:spPr>
          <a:xfrm>
            <a:off x="6546605" y="4672013"/>
            <a:ext cx="275090" cy="146447"/>
          </a:xfrm>
          <a:prstGeom prst="rect">
            <a:avLst/>
          </a:prstGeom>
          <a:noFill/>
          <a:ln/>
        </p:spPr>
        <p:txBody>
          <a:bodyPr wrap="none" lIns="0" tIns="0" rIns="0" bIns="0" rtlCol="0" anchor="t">
            <a:spAutoFit/>
          </a:bodyPr>
          <a:lstStyle/>
          <a:p>
            <a:pPr marL="0" indent="0" algn="l">
              <a:lnSpc>
                <a:spcPts val="1200"/>
              </a:lnSpc>
              <a:buNone/>
            </a:pPr>
            <a:r>
              <a:rPr lang="en-US" sz="734" b="1" dirty="0">
                <a:solidFill>
                  <a:srgbClr val="FF6B9D"/>
                </a:solidFill>
              </a:rPr>
              <a:t>0.444</a:t>
            </a:r>
            <a:endParaRPr lang="en-US" sz="734" dirty="0"/>
          </a:p>
        </p:txBody>
      </p:sp>
      <p:sp>
        <p:nvSpPr>
          <p:cNvPr id="48" name="Text 44"/>
          <p:cNvSpPr/>
          <p:nvPr/>
        </p:nvSpPr>
        <p:spPr>
          <a:xfrm>
            <a:off x="5107809" y="4827389"/>
            <a:ext cx="1693515" cy="146447"/>
          </a:xfrm>
          <a:prstGeom prst="rect">
            <a:avLst/>
          </a:prstGeom>
          <a:noFill/>
          <a:ln/>
        </p:spPr>
        <p:txBody>
          <a:bodyPr wrap="none" lIns="0" tIns="0" rIns="0" bIns="0" rtlCol="0" anchor="t">
            <a:spAutoFit/>
          </a:bodyPr>
          <a:lstStyle/>
          <a:p>
            <a:pPr marL="0" indent="0" algn="l">
              <a:lnSpc>
                <a:spcPts val="1200"/>
              </a:lnSpc>
              <a:buNone/>
            </a:pPr>
            <a:r>
              <a:rPr lang="en-US" sz="780" dirty="0">
                <a:solidFill>
                  <a:srgbClr val="FFFFFF"/>
                </a:solidFill>
              </a:rPr>
              <a:t>• P(Female | Math) = 0.20 / 0.35 =</a:t>
            </a:r>
            <a:endParaRPr lang="en-US" sz="780" dirty="0"/>
          </a:p>
        </p:txBody>
      </p:sp>
      <p:sp>
        <p:nvSpPr>
          <p:cNvPr id="49" name="Text 45"/>
          <p:cNvSpPr/>
          <p:nvPr/>
        </p:nvSpPr>
        <p:spPr>
          <a:xfrm>
            <a:off x="6801324" y="4827389"/>
            <a:ext cx="275090" cy="146447"/>
          </a:xfrm>
          <a:prstGeom prst="rect">
            <a:avLst/>
          </a:prstGeom>
          <a:noFill/>
          <a:ln/>
        </p:spPr>
        <p:txBody>
          <a:bodyPr wrap="none" lIns="0" tIns="0" rIns="0" bIns="0" rtlCol="0" anchor="t">
            <a:spAutoFit/>
          </a:bodyPr>
          <a:lstStyle/>
          <a:p>
            <a:pPr marL="0" indent="0" algn="l">
              <a:lnSpc>
                <a:spcPts val="1200"/>
              </a:lnSpc>
              <a:buNone/>
            </a:pPr>
            <a:r>
              <a:rPr lang="en-US" sz="734" b="1" dirty="0">
                <a:solidFill>
                  <a:srgbClr val="FF6B9D"/>
                </a:solidFill>
              </a:rPr>
              <a:t>0.571</a:t>
            </a:r>
            <a:endParaRPr lang="en-US" sz="734"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0" y="357188"/>
            <a:ext cx="9144000" cy="466130"/>
          </a:xfrm>
          <a:prstGeom prst="rect">
            <a:avLst/>
          </a:prstGeom>
          <a:noFill/>
          <a:ln/>
        </p:spPr>
        <p:txBody>
          <a:bodyPr wrap="none" lIns="0" tIns="0" rIns="0" bIns="0" rtlCol="0" anchor="t">
            <a:spAutoFit/>
          </a:bodyPr>
          <a:lstStyle/>
          <a:p>
            <a:pPr marL="0" indent="0" algn="ctr">
              <a:lnSpc>
                <a:spcPts val="3200"/>
              </a:lnSpc>
              <a:buNone/>
            </a:pPr>
            <a:r>
              <a:rPr lang="en-US" sz="2436" b="1" dirty="0">
                <a:solidFill>
                  <a:srgbClr val="00D9FF"/>
                </a:solidFill>
              </a:rPr>
              <a:t>Python for Probability: Basics</a:t>
            </a:r>
            <a:endParaRPr lang="en-US" sz="2436" dirty="0"/>
          </a:p>
        </p:txBody>
      </p:sp>
      <p:sp>
        <p:nvSpPr>
          <p:cNvPr id="5" name="Text 1"/>
          <p:cNvSpPr/>
          <p:nvPr/>
        </p:nvSpPr>
        <p:spPr>
          <a:xfrm>
            <a:off x="0" y="880467"/>
            <a:ext cx="9144000" cy="175022"/>
          </a:xfrm>
          <a:prstGeom prst="rect">
            <a:avLst/>
          </a:prstGeom>
          <a:noFill/>
          <a:ln/>
        </p:spPr>
        <p:txBody>
          <a:bodyPr wrap="none" lIns="0" tIns="0" rIns="0" bIns="0" rtlCol="0" anchor="t">
            <a:spAutoFit/>
          </a:bodyPr>
          <a:lstStyle/>
          <a:p>
            <a:pPr marL="0" indent="0" algn="ctr">
              <a:lnSpc>
                <a:spcPts val="1200"/>
              </a:lnSpc>
              <a:buNone/>
            </a:pPr>
            <a:r>
              <a:rPr lang="en-US" sz="942" dirty="0">
                <a:solidFill>
                  <a:srgbClr val="FFD93D"/>
                </a:solidFill>
              </a:rPr>
              <a:t>Essential Libraries and Code Patterns</a:t>
            </a:r>
            <a:endParaRPr lang="en-US" sz="942" dirty="0"/>
          </a:p>
        </p:txBody>
      </p:sp>
      <p:sp>
        <p:nvSpPr>
          <p:cNvPr id="6" name="Text 2"/>
          <p:cNvSpPr/>
          <p:nvPr/>
        </p:nvSpPr>
        <p:spPr>
          <a:xfrm>
            <a:off x="500063" y="1198364"/>
            <a:ext cx="3964781"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FFD93D"/>
                </a:solidFill>
              </a:rPr>
              <a:t>Essential Python Libraries</a:t>
            </a:r>
            <a:endParaRPr lang="en-US" sz="1193" dirty="0"/>
          </a:p>
        </p:txBody>
      </p:sp>
      <p:sp>
        <p:nvSpPr>
          <p:cNvPr id="7" name="Shape 3"/>
          <p:cNvSpPr/>
          <p:nvPr/>
        </p:nvSpPr>
        <p:spPr>
          <a:xfrm>
            <a:off x="500063" y="1539477"/>
            <a:ext cx="3964781" cy="1380529"/>
          </a:xfrm>
          <a:prstGeom prst="rect">
            <a:avLst/>
          </a:prstGeom>
          <a:solidFill>
            <a:srgbClr val="00D9FF">
              <a:alpha val="10000"/>
            </a:srgbClr>
          </a:solidFill>
          <a:ln/>
        </p:spPr>
        <p:txBody>
          <a:bodyPr/>
          <a:lstStyle/>
          <a:p>
            <a:endParaRPr lang="en-US"/>
          </a:p>
        </p:txBody>
      </p:sp>
      <p:sp>
        <p:nvSpPr>
          <p:cNvPr id="8" name="Text 4"/>
          <p:cNvSpPr/>
          <p:nvPr/>
        </p:nvSpPr>
        <p:spPr>
          <a:xfrm>
            <a:off x="678656" y="1596628"/>
            <a:ext cx="3607594"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FF6B9D"/>
                </a:solidFill>
              </a:rPr>
              <a:t>random</a:t>
            </a:r>
            <a:endParaRPr lang="en-US" sz="987" dirty="0"/>
          </a:p>
        </p:txBody>
      </p:sp>
      <p:sp>
        <p:nvSpPr>
          <p:cNvPr id="9" name="Text 5"/>
          <p:cNvSpPr/>
          <p:nvPr/>
        </p:nvSpPr>
        <p:spPr>
          <a:xfrm>
            <a:off x="678656" y="1819870"/>
            <a:ext cx="3607594" cy="160734"/>
          </a:xfrm>
          <a:prstGeom prst="rect">
            <a:avLst/>
          </a:prstGeom>
          <a:noFill/>
          <a:ln/>
        </p:spPr>
        <p:txBody>
          <a:bodyPr wrap="none" lIns="0" tIns="0" rIns="0" bIns="0" rtlCol="0" anchor="t">
            <a:spAutoFit/>
          </a:bodyPr>
          <a:lstStyle/>
          <a:p>
            <a:pPr marL="0" indent="0" algn="l">
              <a:lnSpc>
                <a:spcPts val="1300"/>
              </a:lnSpc>
              <a:buNone/>
            </a:pPr>
            <a:r>
              <a:rPr lang="en-US" sz="780" dirty="0">
                <a:solidFill>
                  <a:srgbClr val="FFFFFF"/>
                </a:solidFill>
              </a:rPr>
              <a:t>Built-in random numbers, sampling, and simple simulations.</a:t>
            </a:r>
            <a:endParaRPr lang="en-US" sz="780" dirty="0"/>
          </a:p>
        </p:txBody>
      </p:sp>
      <p:sp>
        <p:nvSpPr>
          <p:cNvPr id="10" name="Text 6"/>
          <p:cNvSpPr/>
          <p:nvPr/>
        </p:nvSpPr>
        <p:spPr>
          <a:xfrm>
            <a:off x="678656" y="2037755"/>
            <a:ext cx="3607594"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FF6B9D"/>
                </a:solidFill>
              </a:rPr>
              <a:t>numpy</a:t>
            </a:r>
            <a:endParaRPr lang="en-US" sz="987" dirty="0"/>
          </a:p>
        </p:txBody>
      </p:sp>
      <p:sp>
        <p:nvSpPr>
          <p:cNvPr id="11" name="Text 7"/>
          <p:cNvSpPr/>
          <p:nvPr/>
        </p:nvSpPr>
        <p:spPr>
          <a:xfrm>
            <a:off x="678656" y="2260997"/>
            <a:ext cx="3607594" cy="160734"/>
          </a:xfrm>
          <a:prstGeom prst="rect">
            <a:avLst/>
          </a:prstGeom>
          <a:noFill/>
          <a:ln/>
        </p:spPr>
        <p:txBody>
          <a:bodyPr wrap="none" lIns="0" tIns="0" rIns="0" bIns="0" rtlCol="0" anchor="t">
            <a:spAutoFit/>
          </a:bodyPr>
          <a:lstStyle/>
          <a:p>
            <a:pPr marL="0" indent="0" algn="l">
              <a:lnSpc>
                <a:spcPts val="1300"/>
              </a:lnSpc>
              <a:buNone/>
            </a:pPr>
            <a:r>
              <a:rPr lang="en-US" sz="780" dirty="0">
                <a:solidFill>
                  <a:srgbClr val="FFFFFF"/>
                </a:solidFill>
              </a:rPr>
              <a:t>Fast arrays, random generation, and basic statistics for probability.</a:t>
            </a:r>
            <a:endParaRPr lang="en-US" sz="780" dirty="0"/>
          </a:p>
        </p:txBody>
      </p:sp>
      <p:sp>
        <p:nvSpPr>
          <p:cNvPr id="12" name="Text 8"/>
          <p:cNvSpPr/>
          <p:nvPr/>
        </p:nvSpPr>
        <p:spPr>
          <a:xfrm>
            <a:off x="678656" y="2478881"/>
            <a:ext cx="3607594"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FF6B9D"/>
                </a:solidFill>
              </a:rPr>
              <a:t>scipy.stats</a:t>
            </a:r>
            <a:endParaRPr lang="en-US" sz="987" dirty="0"/>
          </a:p>
        </p:txBody>
      </p:sp>
      <p:sp>
        <p:nvSpPr>
          <p:cNvPr id="13" name="Text 9"/>
          <p:cNvSpPr/>
          <p:nvPr/>
        </p:nvSpPr>
        <p:spPr>
          <a:xfrm>
            <a:off x="678656" y="2702123"/>
            <a:ext cx="3607594" cy="160734"/>
          </a:xfrm>
          <a:prstGeom prst="rect">
            <a:avLst/>
          </a:prstGeom>
          <a:noFill/>
          <a:ln/>
        </p:spPr>
        <p:txBody>
          <a:bodyPr wrap="none" lIns="0" tIns="0" rIns="0" bIns="0" rtlCol="0" anchor="t">
            <a:spAutoFit/>
          </a:bodyPr>
          <a:lstStyle/>
          <a:p>
            <a:pPr marL="0" indent="0" algn="l">
              <a:lnSpc>
                <a:spcPts val="1300"/>
              </a:lnSpc>
              <a:buNone/>
            </a:pPr>
            <a:r>
              <a:rPr lang="en-US" sz="780" dirty="0">
                <a:solidFill>
                  <a:srgbClr val="FFFFFF"/>
                </a:solidFill>
              </a:rPr>
              <a:t>Distributions and statistical tests for probability work.</a:t>
            </a:r>
            <a:endParaRPr lang="en-US" sz="780" dirty="0"/>
          </a:p>
        </p:txBody>
      </p:sp>
      <p:sp>
        <p:nvSpPr>
          <p:cNvPr id="14" name="Shape 10"/>
          <p:cNvSpPr/>
          <p:nvPr/>
        </p:nvSpPr>
        <p:spPr>
          <a:xfrm>
            <a:off x="500063" y="2977157"/>
            <a:ext cx="3964781" cy="759063"/>
          </a:xfrm>
          <a:prstGeom prst="rect">
            <a:avLst/>
          </a:prstGeom>
          <a:solidFill>
            <a:srgbClr val="FFD73D">
              <a:alpha val="10000"/>
            </a:srgbClr>
          </a:solidFill>
          <a:ln/>
        </p:spPr>
        <p:txBody>
          <a:bodyPr/>
          <a:lstStyle/>
          <a:p>
            <a:endParaRPr lang="en-US"/>
          </a:p>
        </p:txBody>
      </p:sp>
      <p:sp>
        <p:nvSpPr>
          <p:cNvPr id="15" name="Text 11"/>
          <p:cNvSpPr/>
          <p:nvPr/>
        </p:nvSpPr>
        <p:spPr>
          <a:xfrm>
            <a:off x="678656" y="3048595"/>
            <a:ext cx="3607594"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FFD93D"/>
                </a:solidFill>
              </a:rPr>
              <a:t>Installation &amp; Import</a:t>
            </a:r>
            <a:endParaRPr lang="en-US" sz="987" dirty="0"/>
          </a:p>
        </p:txBody>
      </p:sp>
      <p:sp>
        <p:nvSpPr>
          <p:cNvPr id="16" name="Shape 12"/>
          <p:cNvSpPr/>
          <p:nvPr/>
        </p:nvSpPr>
        <p:spPr>
          <a:xfrm>
            <a:off x="678656" y="3314700"/>
            <a:ext cx="3607594" cy="357188"/>
          </a:xfrm>
          <a:prstGeom prst="rect">
            <a:avLst/>
          </a:prstGeom>
          <a:solidFill>
            <a:srgbClr val="000000">
              <a:alpha val="30000"/>
            </a:srgbClr>
          </a:solidFill>
          <a:ln/>
        </p:spPr>
        <p:txBody>
          <a:bodyPr/>
          <a:lstStyle/>
          <a:p>
            <a:endParaRPr lang="en-US"/>
          </a:p>
        </p:txBody>
      </p:sp>
      <p:sp>
        <p:nvSpPr>
          <p:cNvPr id="17" name="Text 13"/>
          <p:cNvSpPr/>
          <p:nvPr/>
        </p:nvSpPr>
        <p:spPr>
          <a:xfrm>
            <a:off x="678656" y="3314700"/>
            <a:ext cx="3607594" cy="357188"/>
          </a:xfrm>
          <a:prstGeom prst="rect">
            <a:avLst/>
          </a:prstGeom>
          <a:noFill/>
          <a:ln/>
        </p:spPr>
        <p:txBody>
          <a:bodyPr wrap="square" lIns="127508" tIns="68072" rIns="127508" bIns="0" rtlCol="0" anchor="t">
            <a:spAutoFit/>
          </a:bodyPr>
          <a:lstStyle/>
          <a:p>
            <a:pPr marL="0" indent="0" algn="l">
              <a:lnSpc>
                <a:spcPts val="1200"/>
              </a:lnSpc>
              <a:buNone/>
            </a:pPr>
            <a:r>
              <a:rPr lang="en-US" sz="727" dirty="0">
                <a:solidFill>
                  <a:srgbClr val="7F8C8D"/>
                </a:solidFill>
              </a:rPr>
              <a:t># Install required packages</a:t>
            </a:r>
            <a:r>
              <a:rPr lang="en-US" sz="727" dirty="0">
                <a:solidFill>
                  <a:srgbClr val="00D9FF"/>
                </a:solidFill>
              </a:rPr>
              <a:t> pip install numpy scipy </a:t>
            </a:r>
            <a:r>
              <a:rPr lang="en-US" sz="727" dirty="0">
                <a:solidFill>
                  <a:srgbClr val="7F8C8D"/>
                </a:solidFill>
              </a:rPr>
              <a:t># Import libraries</a:t>
            </a:r>
            <a:r>
              <a:rPr lang="en-US" sz="727" dirty="0">
                <a:solidFill>
                  <a:srgbClr val="FF6B9D"/>
                </a:solidFill>
              </a:rPr>
              <a:t>import</a:t>
            </a:r>
            <a:r>
              <a:rPr lang="en-US" sz="727" dirty="0">
                <a:solidFill>
                  <a:srgbClr val="00D9FF"/>
                </a:solidFill>
              </a:rPr>
              <a:t> random </a:t>
            </a:r>
            <a:r>
              <a:rPr lang="en-US" sz="727" dirty="0">
                <a:solidFill>
                  <a:srgbClr val="FF6B9D"/>
                </a:solidFill>
              </a:rPr>
              <a:t>import</a:t>
            </a:r>
            <a:r>
              <a:rPr lang="en-US" sz="727" dirty="0">
                <a:solidFill>
                  <a:srgbClr val="00D9FF"/>
                </a:solidFill>
              </a:rPr>
              <a:t> numpy </a:t>
            </a:r>
            <a:r>
              <a:rPr lang="en-US" sz="727" dirty="0">
                <a:solidFill>
                  <a:srgbClr val="FF6B9D"/>
                </a:solidFill>
              </a:rPr>
              <a:t>as</a:t>
            </a:r>
            <a:r>
              <a:rPr lang="en-US" sz="727" dirty="0">
                <a:solidFill>
                  <a:srgbClr val="00D9FF"/>
                </a:solidFill>
              </a:rPr>
              <a:t> np </a:t>
            </a:r>
            <a:r>
              <a:rPr lang="en-US" sz="727" dirty="0">
                <a:solidFill>
                  <a:srgbClr val="FF6B9D"/>
                </a:solidFill>
              </a:rPr>
              <a:t>from</a:t>
            </a:r>
            <a:r>
              <a:rPr lang="en-US" sz="727" dirty="0">
                <a:solidFill>
                  <a:srgbClr val="00D9FF"/>
                </a:solidFill>
              </a:rPr>
              <a:t> scipy </a:t>
            </a:r>
            <a:r>
              <a:rPr lang="en-US" sz="727" dirty="0">
                <a:solidFill>
                  <a:srgbClr val="FF6B9D"/>
                </a:solidFill>
              </a:rPr>
              <a:t>import</a:t>
            </a:r>
            <a:r>
              <a:rPr lang="en-US" sz="727" dirty="0">
                <a:solidFill>
                  <a:srgbClr val="00D9FF"/>
                </a:solidFill>
              </a:rPr>
              <a:t> stats</a:t>
            </a:r>
            <a:endParaRPr lang="en-US" sz="727" dirty="0"/>
          </a:p>
        </p:txBody>
      </p:sp>
      <p:sp>
        <p:nvSpPr>
          <p:cNvPr id="18" name="Shape 14"/>
          <p:cNvSpPr/>
          <p:nvPr/>
        </p:nvSpPr>
        <p:spPr>
          <a:xfrm>
            <a:off x="500063" y="3862968"/>
            <a:ext cx="3964781" cy="1110798"/>
          </a:xfrm>
          <a:prstGeom prst="rect">
            <a:avLst/>
          </a:prstGeom>
          <a:solidFill>
            <a:srgbClr val="FFFFFF">
              <a:alpha val="5000"/>
            </a:srgbClr>
          </a:solidFill>
          <a:ln/>
        </p:spPr>
        <p:txBody>
          <a:bodyPr/>
          <a:lstStyle/>
          <a:p>
            <a:endParaRPr lang="en-US"/>
          </a:p>
        </p:txBody>
      </p:sp>
      <p:sp>
        <p:nvSpPr>
          <p:cNvPr id="19" name="Text 15"/>
          <p:cNvSpPr/>
          <p:nvPr/>
        </p:nvSpPr>
        <p:spPr>
          <a:xfrm>
            <a:off x="678656" y="3948693"/>
            <a:ext cx="3607594"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D9FF"/>
                </a:solidFill>
              </a:rPr>
              <a:t>Getting Started Tips</a:t>
            </a:r>
            <a:endParaRPr lang="en-US" sz="987" dirty="0"/>
          </a:p>
        </p:txBody>
      </p:sp>
      <p:sp>
        <p:nvSpPr>
          <p:cNvPr id="20" name="Text 16"/>
          <p:cNvSpPr/>
          <p:nvPr/>
        </p:nvSpPr>
        <p:spPr>
          <a:xfrm>
            <a:off x="835819" y="4207653"/>
            <a:ext cx="877398" cy="146447"/>
          </a:xfrm>
          <a:prstGeom prst="rect">
            <a:avLst/>
          </a:prstGeom>
          <a:noFill/>
          <a:ln/>
        </p:spPr>
        <p:txBody>
          <a:bodyPr wrap="none" lIns="0" tIns="0" rIns="0" bIns="0" rtlCol="0" anchor="t">
            <a:spAutoFit/>
          </a:bodyPr>
          <a:lstStyle/>
          <a:p>
            <a:pPr marL="0" indent="0" algn="l">
              <a:lnSpc>
                <a:spcPts val="1300"/>
              </a:lnSpc>
              <a:buNone/>
            </a:pPr>
            <a:r>
              <a:rPr lang="en-US" sz="734" b="1" dirty="0">
                <a:solidFill>
                  <a:srgbClr val="FFD93D"/>
                </a:solidFill>
              </a:rPr>
              <a:t>Set random seed</a:t>
            </a:r>
            <a:endParaRPr lang="en-US" sz="734" dirty="0"/>
          </a:p>
        </p:txBody>
      </p:sp>
      <p:sp>
        <p:nvSpPr>
          <p:cNvPr id="21" name="Text 17"/>
          <p:cNvSpPr/>
          <p:nvPr/>
        </p:nvSpPr>
        <p:spPr>
          <a:xfrm>
            <a:off x="1713216" y="4207653"/>
            <a:ext cx="1264444" cy="146447"/>
          </a:xfrm>
          <a:prstGeom prst="rect">
            <a:avLst/>
          </a:prstGeom>
          <a:noFill/>
          <a:ln/>
        </p:spPr>
        <p:txBody>
          <a:bodyPr wrap="none" lIns="0" tIns="0" rIns="0" bIns="0" rtlCol="0" anchor="t">
            <a:spAutoFit/>
          </a:bodyPr>
          <a:lstStyle/>
          <a:p>
            <a:pPr marL="0" indent="0" algn="l">
              <a:lnSpc>
                <a:spcPts val="1300"/>
              </a:lnSpc>
              <a:buNone/>
            </a:pPr>
            <a:r>
              <a:rPr lang="en-US" sz="780" dirty="0">
                <a:solidFill>
                  <a:srgbClr val="FFFFFF"/>
                </a:solidFill>
              </a:rPr>
              <a:t>for reproducible results:</a:t>
            </a:r>
            <a:endParaRPr lang="en-US" sz="780" dirty="0"/>
          </a:p>
        </p:txBody>
      </p:sp>
      <p:sp>
        <p:nvSpPr>
          <p:cNvPr id="22" name="Text 18"/>
          <p:cNvSpPr/>
          <p:nvPr/>
        </p:nvSpPr>
        <p:spPr>
          <a:xfrm>
            <a:off x="2977660" y="4207653"/>
            <a:ext cx="964406" cy="146447"/>
          </a:xfrm>
          <a:prstGeom prst="rect">
            <a:avLst/>
          </a:prstGeom>
          <a:noFill/>
          <a:ln/>
        </p:spPr>
        <p:txBody>
          <a:bodyPr wrap="none" lIns="0" tIns="0" rIns="0" bIns="0" rtlCol="0" anchor="t">
            <a:spAutoFit/>
          </a:bodyPr>
          <a:lstStyle/>
          <a:p>
            <a:pPr marL="0" indent="0" algn="l">
              <a:lnSpc>
                <a:spcPts val="1300"/>
              </a:lnSpc>
              <a:buNone/>
            </a:pPr>
            <a:r>
              <a:rPr lang="en-US" sz="780" dirty="0">
                <a:solidFill>
                  <a:srgbClr val="FFFFFF"/>
                </a:solidFill>
              </a:rPr>
              <a:t>random.seed(42)</a:t>
            </a:r>
            <a:endParaRPr lang="en-US" sz="780" dirty="0"/>
          </a:p>
        </p:txBody>
      </p:sp>
      <p:sp>
        <p:nvSpPr>
          <p:cNvPr id="23" name="Text 19"/>
          <p:cNvSpPr/>
          <p:nvPr/>
        </p:nvSpPr>
        <p:spPr>
          <a:xfrm>
            <a:off x="835819" y="4411250"/>
            <a:ext cx="944063" cy="146447"/>
          </a:xfrm>
          <a:prstGeom prst="rect">
            <a:avLst/>
          </a:prstGeom>
          <a:noFill/>
          <a:ln/>
        </p:spPr>
        <p:txBody>
          <a:bodyPr wrap="none" lIns="0" tIns="0" rIns="0" bIns="0" rtlCol="0" anchor="t">
            <a:spAutoFit/>
          </a:bodyPr>
          <a:lstStyle/>
          <a:p>
            <a:pPr marL="0" indent="0" algn="l">
              <a:lnSpc>
                <a:spcPts val="1300"/>
              </a:lnSpc>
              <a:buNone/>
            </a:pPr>
            <a:r>
              <a:rPr lang="en-US" sz="734" b="1" dirty="0">
                <a:solidFill>
                  <a:srgbClr val="FFD93D"/>
                </a:solidFill>
              </a:rPr>
              <a:t>Use numpy arrays</a:t>
            </a:r>
            <a:endParaRPr lang="en-US" sz="734" dirty="0"/>
          </a:p>
        </p:txBody>
      </p:sp>
      <p:sp>
        <p:nvSpPr>
          <p:cNvPr id="24" name="Text 20"/>
          <p:cNvSpPr/>
          <p:nvPr/>
        </p:nvSpPr>
        <p:spPr>
          <a:xfrm>
            <a:off x="1779882" y="4411250"/>
            <a:ext cx="1799695" cy="146447"/>
          </a:xfrm>
          <a:prstGeom prst="rect">
            <a:avLst/>
          </a:prstGeom>
          <a:noFill/>
          <a:ln/>
        </p:spPr>
        <p:txBody>
          <a:bodyPr wrap="none" lIns="0" tIns="0" rIns="0" bIns="0" rtlCol="0" anchor="t">
            <a:spAutoFit/>
          </a:bodyPr>
          <a:lstStyle/>
          <a:p>
            <a:pPr marL="0" indent="0" algn="l">
              <a:lnSpc>
                <a:spcPts val="1300"/>
              </a:lnSpc>
              <a:buNone/>
            </a:pPr>
            <a:r>
              <a:rPr lang="en-US" sz="780" dirty="0">
                <a:solidFill>
                  <a:srgbClr val="FFFFFF"/>
                </a:solidFill>
              </a:rPr>
              <a:t>for efficient large-scale calculations</a:t>
            </a:r>
            <a:endParaRPr lang="en-US" sz="780" dirty="0"/>
          </a:p>
        </p:txBody>
      </p:sp>
      <p:sp>
        <p:nvSpPr>
          <p:cNvPr id="25" name="Text 21"/>
          <p:cNvSpPr/>
          <p:nvPr/>
        </p:nvSpPr>
        <p:spPr>
          <a:xfrm>
            <a:off x="835819" y="4614847"/>
            <a:ext cx="687000" cy="146447"/>
          </a:xfrm>
          <a:prstGeom prst="rect">
            <a:avLst/>
          </a:prstGeom>
          <a:noFill/>
          <a:ln/>
        </p:spPr>
        <p:txBody>
          <a:bodyPr wrap="none" lIns="0" tIns="0" rIns="0" bIns="0" rtlCol="0" anchor="t">
            <a:spAutoFit/>
          </a:bodyPr>
          <a:lstStyle/>
          <a:p>
            <a:pPr marL="0" indent="0" algn="l">
              <a:lnSpc>
                <a:spcPts val="1300"/>
              </a:lnSpc>
              <a:buNone/>
            </a:pPr>
            <a:r>
              <a:rPr lang="en-US" sz="734" b="1" dirty="0">
                <a:solidFill>
                  <a:srgbClr val="FFD93D"/>
                </a:solidFill>
              </a:rPr>
              <a:t>Verify results</a:t>
            </a:r>
            <a:endParaRPr lang="en-US" sz="734" dirty="0"/>
          </a:p>
        </p:txBody>
      </p:sp>
      <p:sp>
        <p:nvSpPr>
          <p:cNvPr id="26" name="Text 22"/>
          <p:cNvSpPr/>
          <p:nvPr/>
        </p:nvSpPr>
        <p:spPr>
          <a:xfrm>
            <a:off x="1522819" y="4614847"/>
            <a:ext cx="2324565" cy="146447"/>
          </a:xfrm>
          <a:prstGeom prst="rect">
            <a:avLst/>
          </a:prstGeom>
          <a:noFill/>
          <a:ln/>
        </p:spPr>
        <p:txBody>
          <a:bodyPr wrap="none" lIns="0" tIns="0" rIns="0" bIns="0" rtlCol="0" anchor="t">
            <a:spAutoFit/>
          </a:bodyPr>
          <a:lstStyle/>
          <a:p>
            <a:pPr marL="0" indent="0" algn="l">
              <a:lnSpc>
                <a:spcPts val="1300"/>
              </a:lnSpc>
              <a:buNone/>
            </a:pPr>
            <a:r>
              <a:rPr lang="en-US" sz="780" dirty="0">
                <a:solidFill>
                  <a:srgbClr val="FFFFFF"/>
                </a:solidFill>
              </a:rPr>
              <a:t>by comparing simulation to theoretical values</a:t>
            </a:r>
            <a:endParaRPr lang="en-US" sz="780" dirty="0"/>
          </a:p>
        </p:txBody>
      </p:sp>
      <p:sp>
        <p:nvSpPr>
          <p:cNvPr id="27" name="Text 23"/>
          <p:cNvSpPr/>
          <p:nvPr/>
        </p:nvSpPr>
        <p:spPr>
          <a:xfrm>
            <a:off x="4679156" y="1198364"/>
            <a:ext cx="3964781"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FFD93D"/>
                </a:solidFill>
              </a:rPr>
              <a:t>Basic Code Examples</a:t>
            </a:r>
            <a:endParaRPr lang="en-US" sz="1193" dirty="0"/>
          </a:p>
        </p:txBody>
      </p:sp>
      <p:sp>
        <p:nvSpPr>
          <p:cNvPr id="28" name="Shape 24"/>
          <p:cNvSpPr/>
          <p:nvPr/>
        </p:nvSpPr>
        <p:spPr>
          <a:xfrm>
            <a:off x="4679156" y="1539478"/>
            <a:ext cx="3964781" cy="1089476"/>
          </a:xfrm>
          <a:prstGeom prst="rect">
            <a:avLst/>
          </a:prstGeom>
          <a:solidFill>
            <a:srgbClr val="FF6B9D">
              <a:alpha val="10000"/>
            </a:srgbClr>
          </a:solidFill>
          <a:ln/>
        </p:spPr>
        <p:txBody>
          <a:bodyPr/>
          <a:lstStyle/>
          <a:p>
            <a:endParaRPr lang="en-US"/>
          </a:p>
        </p:txBody>
      </p:sp>
      <p:sp>
        <p:nvSpPr>
          <p:cNvPr id="29" name="Text 25"/>
          <p:cNvSpPr/>
          <p:nvPr/>
        </p:nvSpPr>
        <p:spPr>
          <a:xfrm>
            <a:off x="4857750" y="1610916"/>
            <a:ext cx="3607594" cy="175022"/>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FF6B9D"/>
                </a:solidFill>
              </a:rPr>
              <a:t>Example 1: Simple Probability Calculation</a:t>
            </a:r>
            <a:endParaRPr lang="en-US" sz="885" dirty="0"/>
          </a:p>
        </p:txBody>
      </p:sp>
      <p:sp>
        <p:nvSpPr>
          <p:cNvPr id="30" name="Text 26"/>
          <p:cNvSpPr/>
          <p:nvPr/>
        </p:nvSpPr>
        <p:spPr>
          <a:xfrm>
            <a:off x="4857750" y="1828800"/>
            <a:ext cx="3607594" cy="160734"/>
          </a:xfrm>
          <a:prstGeom prst="rect">
            <a:avLst/>
          </a:prstGeom>
          <a:noFill/>
          <a:ln/>
        </p:spPr>
        <p:txBody>
          <a:bodyPr wrap="none" lIns="0" tIns="0" rIns="0" bIns="0" rtlCol="0" anchor="t">
            <a:spAutoFit/>
          </a:bodyPr>
          <a:lstStyle/>
          <a:p>
            <a:pPr marL="0" indent="0" algn="l">
              <a:lnSpc>
                <a:spcPts val="1300"/>
              </a:lnSpc>
              <a:buNone/>
            </a:pPr>
            <a:r>
              <a:rPr lang="en-US" sz="780" dirty="0">
                <a:solidFill>
                  <a:srgbClr val="FFFFFF"/>
                </a:solidFill>
              </a:rPr>
              <a:t>Calculate probability of rolling a 6 on a fair die:</a:t>
            </a:r>
            <a:endParaRPr lang="en-US" sz="780" dirty="0"/>
          </a:p>
        </p:txBody>
      </p:sp>
      <p:sp>
        <p:nvSpPr>
          <p:cNvPr id="31" name="Shape 27"/>
          <p:cNvSpPr/>
          <p:nvPr/>
        </p:nvSpPr>
        <p:spPr>
          <a:xfrm>
            <a:off x="4857750" y="2046684"/>
            <a:ext cx="3607594" cy="507206"/>
          </a:xfrm>
          <a:prstGeom prst="rect">
            <a:avLst/>
          </a:prstGeom>
          <a:solidFill>
            <a:srgbClr val="000000">
              <a:alpha val="30000"/>
            </a:srgbClr>
          </a:solidFill>
          <a:ln/>
        </p:spPr>
        <p:txBody>
          <a:bodyPr/>
          <a:lstStyle/>
          <a:p>
            <a:endParaRPr lang="en-US"/>
          </a:p>
        </p:txBody>
      </p:sp>
      <p:sp>
        <p:nvSpPr>
          <p:cNvPr id="32" name="Text 28"/>
          <p:cNvSpPr/>
          <p:nvPr/>
        </p:nvSpPr>
        <p:spPr>
          <a:xfrm>
            <a:off x="4857750" y="2046684"/>
            <a:ext cx="3607594" cy="507206"/>
          </a:xfrm>
          <a:prstGeom prst="rect">
            <a:avLst/>
          </a:prstGeom>
          <a:noFill/>
          <a:ln/>
        </p:spPr>
        <p:txBody>
          <a:bodyPr wrap="square" lIns="127508" tIns="68072" rIns="127508" bIns="0" rtlCol="0" anchor="t">
            <a:spAutoFit/>
          </a:bodyPr>
          <a:lstStyle/>
          <a:p>
            <a:pPr marL="0" indent="0" algn="l">
              <a:lnSpc>
                <a:spcPts val="1200"/>
              </a:lnSpc>
              <a:buNone/>
            </a:pPr>
            <a:r>
              <a:rPr lang="en-US" sz="727" dirty="0">
                <a:solidFill>
                  <a:srgbClr val="7F8C8D"/>
                </a:solidFill>
              </a:rPr>
              <a:t># Theoretical probability</a:t>
            </a:r>
            <a:r>
              <a:rPr lang="en-US" sz="727" dirty="0">
                <a:solidFill>
                  <a:srgbClr val="00D9FF"/>
                </a:solidFill>
              </a:rPr>
              <a:t> outcomes = 6 favorable = 1 probability = favorable / outcomes </a:t>
            </a:r>
            <a:r>
              <a:rPr lang="en-US" sz="727" dirty="0">
                <a:solidFill>
                  <a:srgbClr val="FF6B9D"/>
                </a:solidFill>
              </a:rPr>
              <a:t>print</a:t>
            </a:r>
            <a:r>
              <a:rPr lang="en-US" sz="727" dirty="0">
                <a:solidFill>
                  <a:srgbClr val="00D9FF"/>
                </a:solidFill>
              </a:rPr>
              <a:t>(</a:t>
            </a:r>
            <a:r>
              <a:rPr lang="en-US" sz="727" dirty="0">
                <a:solidFill>
                  <a:srgbClr val="FFD93D"/>
                </a:solidFill>
              </a:rPr>
              <a:t>f"P(rolling 6) = {probability:.4f}"</a:t>
            </a:r>
            <a:r>
              <a:rPr lang="en-US" sz="727" dirty="0">
                <a:solidFill>
                  <a:srgbClr val="00D9FF"/>
                </a:solidFill>
              </a:rPr>
              <a:t>) </a:t>
            </a:r>
            <a:r>
              <a:rPr lang="en-US" sz="727" dirty="0">
                <a:solidFill>
                  <a:srgbClr val="7F8C8D"/>
                </a:solidFill>
              </a:rPr>
              <a:t># Output: P(rolling 6) = 0.1667</a:t>
            </a:r>
            <a:endParaRPr lang="en-US" sz="727" dirty="0"/>
          </a:p>
        </p:txBody>
      </p:sp>
      <p:sp>
        <p:nvSpPr>
          <p:cNvPr id="33" name="Shape 29"/>
          <p:cNvSpPr/>
          <p:nvPr/>
        </p:nvSpPr>
        <p:spPr>
          <a:xfrm>
            <a:off x="4679156" y="2653903"/>
            <a:ext cx="3964781" cy="1082317"/>
          </a:xfrm>
          <a:prstGeom prst="rect">
            <a:avLst/>
          </a:prstGeom>
          <a:solidFill>
            <a:srgbClr val="FF6B9D">
              <a:alpha val="10000"/>
            </a:srgbClr>
          </a:solidFill>
          <a:ln/>
        </p:spPr>
        <p:txBody>
          <a:bodyPr/>
          <a:lstStyle/>
          <a:p>
            <a:endParaRPr lang="en-US"/>
          </a:p>
        </p:txBody>
      </p:sp>
      <p:sp>
        <p:nvSpPr>
          <p:cNvPr id="34" name="Text 30"/>
          <p:cNvSpPr/>
          <p:nvPr/>
        </p:nvSpPr>
        <p:spPr>
          <a:xfrm>
            <a:off x="4857750" y="2725341"/>
            <a:ext cx="3607594" cy="175022"/>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FF6B9D"/>
                </a:solidFill>
              </a:rPr>
              <a:t>Example 2: Random Sampling</a:t>
            </a:r>
            <a:endParaRPr lang="en-US" sz="885" dirty="0"/>
          </a:p>
        </p:txBody>
      </p:sp>
      <p:sp>
        <p:nvSpPr>
          <p:cNvPr id="35" name="Text 31"/>
          <p:cNvSpPr/>
          <p:nvPr/>
        </p:nvSpPr>
        <p:spPr>
          <a:xfrm>
            <a:off x="4857750" y="2887385"/>
            <a:ext cx="3607594" cy="160734"/>
          </a:xfrm>
          <a:prstGeom prst="rect">
            <a:avLst/>
          </a:prstGeom>
          <a:noFill/>
          <a:ln/>
        </p:spPr>
        <p:txBody>
          <a:bodyPr wrap="none" lIns="0" tIns="0" rIns="0" bIns="0" rtlCol="0" anchor="t">
            <a:spAutoFit/>
          </a:bodyPr>
          <a:lstStyle/>
          <a:p>
            <a:pPr marL="0" indent="0" algn="l">
              <a:lnSpc>
                <a:spcPts val="1300"/>
              </a:lnSpc>
              <a:buNone/>
            </a:pPr>
            <a:r>
              <a:rPr lang="en-US" sz="780" dirty="0">
                <a:solidFill>
                  <a:srgbClr val="FFFFFF"/>
                </a:solidFill>
              </a:rPr>
              <a:t>Simulate coin flips and estimate probability:</a:t>
            </a:r>
            <a:endParaRPr lang="en-US" sz="780" dirty="0"/>
          </a:p>
        </p:txBody>
      </p:sp>
      <p:sp>
        <p:nvSpPr>
          <p:cNvPr id="36" name="Shape 32"/>
          <p:cNvSpPr/>
          <p:nvPr/>
        </p:nvSpPr>
        <p:spPr>
          <a:xfrm>
            <a:off x="4857750" y="3154129"/>
            <a:ext cx="3607594" cy="507206"/>
          </a:xfrm>
          <a:prstGeom prst="rect">
            <a:avLst/>
          </a:prstGeom>
          <a:solidFill>
            <a:srgbClr val="000000">
              <a:alpha val="30000"/>
            </a:srgbClr>
          </a:solidFill>
          <a:ln/>
        </p:spPr>
        <p:txBody>
          <a:bodyPr/>
          <a:lstStyle/>
          <a:p>
            <a:endParaRPr lang="en-US"/>
          </a:p>
        </p:txBody>
      </p:sp>
      <p:sp>
        <p:nvSpPr>
          <p:cNvPr id="37" name="Text 33"/>
          <p:cNvSpPr/>
          <p:nvPr/>
        </p:nvSpPr>
        <p:spPr>
          <a:xfrm>
            <a:off x="4857750" y="3119229"/>
            <a:ext cx="3607594" cy="507206"/>
          </a:xfrm>
          <a:prstGeom prst="rect">
            <a:avLst/>
          </a:prstGeom>
          <a:noFill/>
          <a:ln/>
        </p:spPr>
        <p:txBody>
          <a:bodyPr wrap="square" lIns="127508" tIns="68072" rIns="127508" bIns="0" rtlCol="0" anchor="t">
            <a:spAutoFit/>
          </a:bodyPr>
          <a:lstStyle/>
          <a:p>
            <a:pPr marL="0" indent="0" algn="l">
              <a:lnSpc>
                <a:spcPts val="1200"/>
              </a:lnSpc>
              <a:buNone/>
            </a:pPr>
            <a:r>
              <a:rPr lang="en-US" sz="727" dirty="0">
                <a:solidFill>
                  <a:srgbClr val="FF6B9D"/>
                </a:solidFill>
              </a:rPr>
              <a:t>import</a:t>
            </a:r>
            <a:r>
              <a:rPr lang="en-US" sz="727" dirty="0">
                <a:solidFill>
                  <a:srgbClr val="00D9FF"/>
                </a:solidFill>
              </a:rPr>
              <a:t> random </a:t>
            </a:r>
            <a:r>
              <a:rPr lang="en-US" sz="727" dirty="0">
                <a:solidFill>
                  <a:srgbClr val="7F8C8D"/>
                </a:solidFill>
              </a:rPr>
              <a:t># Simulate 1000 coin flips</a:t>
            </a:r>
            <a:r>
              <a:rPr lang="en-US" sz="727" dirty="0">
                <a:solidFill>
                  <a:srgbClr val="00D9FF"/>
                </a:solidFill>
              </a:rPr>
              <a:t> flips = [random.choice([</a:t>
            </a:r>
            <a:r>
              <a:rPr lang="en-US" sz="727" dirty="0">
                <a:solidFill>
                  <a:srgbClr val="FFD93D"/>
                </a:solidFill>
              </a:rPr>
              <a:t>'H'</a:t>
            </a:r>
            <a:r>
              <a:rPr lang="en-US" sz="727" dirty="0">
                <a:solidFill>
                  <a:srgbClr val="00D9FF"/>
                </a:solidFill>
              </a:rPr>
              <a:t>, </a:t>
            </a:r>
            <a:r>
              <a:rPr lang="en-US" sz="727" dirty="0">
                <a:solidFill>
                  <a:srgbClr val="FFD93D"/>
                </a:solidFill>
              </a:rPr>
              <a:t>'T'</a:t>
            </a:r>
            <a:r>
              <a:rPr lang="en-US" sz="727" dirty="0">
                <a:solidFill>
                  <a:srgbClr val="00D9FF"/>
                </a:solidFill>
              </a:rPr>
              <a:t>]) </a:t>
            </a:r>
            <a:r>
              <a:rPr lang="en-US" sz="727" dirty="0">
                <a:solidFill>
                  <a:srgbClr val="FF6B9D"/>
                </a:solidFill>
              </a:rPr>
              <a:t>for</a:t>
            </a:r>
            <a:r>
              <a:rPr lang="en-US" sz="727" dirty="0">
                <a:solidFill>
                  <a:srgbClr val="00D9FF"/>
                </a:solidFill>
              </a:rPr>
              <a:t> _ </a:t>
            </a:r>
            <a:r>
              <a:rPr lang="en-US" sz="727" dirty="0">
                <a:solidFill>
                  <a:srgbClr val="FF6B9D"/>
                </a:solidFill>
              </a:rPr>
              <a:t>in</a:t>
            </a:r>
            <a:r>
              <a:rPr lang="en-US" sz="727" dirty="0">
                <a:solidFill>
                  <a:srgbClr val="00D9FF"/>
                </a:solidFill>
              </a:rPr>
              <a:t> range(1000)] heads_count = flips.count(</a:t>
            </a:r>
            <a:r>
              <a:rPr lang="en-US" sz="727" dirty="0">
                <a:solidFill>
                  <a:srgbClr val="FFD93D"/>
                </a:solidFill>
              </a:rPr>
              <a:t>'H'</a:t>
            </a:r>
            <a:r>
              <a:rPr lang="en-US" sz="727" dirty="0">
                <a:solidFill>
                  <a:srgbClr val="00D9FF"/>
                </a:solidFill>
              </a:rPr>
              <a:t>) prob_heads = heads_count / 1000</a:t>
            </a:r>
            <a:r>
              <a:rPr lang="en-US" sz="727" dirty="0">
                <a:solidFill>
                  <a:srgbClr val="FF6B9D"/>
                </a:solidFill>
              </a:rPr>
              <a:t>print</a:t>
            </a:r>
            <a:r>
              <a:rPr lang="en-US" sz="727" dirty="0">
                <a:solidFill>
                  <a:srgbClr val="00D9FF"/>
                </a:solidFill>
              </a:rPr>
              <a:t>(</a:t>
            </a:r>
            <a:r>
              <a:rPr lang="en-US" sz="727" dirty="0">
                <a:solidFill>
                  <a:srgbClr val="FFD93D"/>
                </a:solidFill>
              </a:rPr>
              <a:t>f"P(Heads) ≈ {prob_heads:.3f}"</a:t>
            </a:r>
            <a:r>
              <a:rPr lang="en-US" sz="727" dirty="0">
                <a:solidFill>
                  <a:srgbClr val="00D9FF"/>
                </a:solidFill>
              </a:rPr>
              <a:t>)</a:t>
            </a:r>
            <a:endParaRPr lang="en-US" sz="727" dirty="0"/>
          </a:p>
        </p:txBody>
      </p:sp>
      <p:sp>
        <p:nvSpPr>
          <p:cNvPr id="38" name="Shape 34"/>
          <p:cNvSpPr/>
          <p:nvPr/>
        </p:nvSpPr>
        <p:spPr>
          <a:xfrm>
            <a:off x="4679156" y="3845108"/>
            <a:ext cx="3964781" cy="1110799"/>
          </a:xfrm>
          <a:prstGeom prst="rect">
            <a:avLst/>
          </a:prstGeom>
          <a:solidFill>
            <a:srgbClr val="FF6B9D">
              <a:alpha val="10000"/>
            </a:srgbClr>
          </a:solidFill>
          <a:ln/>
        </p:spPr>
        <p:txBody>
          <a:bodyPr/>
          <a:lstStyle/>
          <a:p>
            <a:endParaRPr lang="en-US"/>
          </a:p>
        </p:txBody>
      </p:sp>
      <p:sp>
        <p:nvSpPr>
          <p:cNvPr id="39" name="Text 35"/>
          <p:cNvSpPr/>
          <p:nvPr/>
        </p:nvSpPr>
        <p:spPr>
          <a:xfrm>
            <a:off x="4857750" y="3916546"/>
            <a:ext cx="3607594" cy="175022"/>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FF6B9D"/>
                </a:solidFill>
              </a:rPr>
              <a:t>Example 3: Using NumPy for Efficiency</a:t>
            </a:r>
            <a:endParaRPr lang="en-US" sz="885" dirty="0"/>
          </a:p>
        </p:txBody>
      </p:sp>
      <p:sp>
        <p:nvSpPr>
          <p:cNvPr id="40" name="Text 36"/>
          <p:cNvSpPr/>
          <p:nvPr/>
        </p:nvSpPr>
        <p:spPr>
          <a:xfrm>
            <a:off x="4857750" y="4134430"/>
            <a:ext cx="3607594" cy="160734"/>
          </a:xfrm>
          <a:prstGeom prst="rect">
            <a:avLst/>
          </a:prstGeom>
          <a:noFill/>
          <a:ln/>
        </p:spPr>
        <p:txBody>
          <a:bodyPr wrap="none" lIns="0" tIns="0" rIns="0" bIns="0" rtlCol="0" anchor="t">
            <a:spAutoFit/>
          </a:bodyPr>
          <a:lstStyle/>
          <a:p>
            <a:pPr marL="0" indent="0" algn="l">
              <a:lnSpc>
                <a:spcPts val="1300"/>
              </a:lnSpc>
              <a:buNone/>
            </a:pPr>
            <a:r>
              <a:rPr lang="en-US" sz="780" dirty="0">
                <a:solidFill>
                  <a:srgbClr val="FFFFFF"/>
                </a:solidFill>
              </a:rPr>
              <a:t>Generate and analyze random data efficiently:</a:t>
            </a:r>
            <a:endParaRPr lang="en-US" sz="780" dirty="0"/>
          </a:p>
        </p:txBody>
      </p:sp>
      <p:sp>
        <p:nvSpPr>
          <p:cNvPr id="41" name="Shape 37"/>
          <p:cNvSpPr/>
          <p:nvPr/>
        </p:nvSpPr>
        <p:spPr>
          <a:xfrm>
            <a:off x="4857750" y="4352314"/>
            <a:ext cx="3607594" cy="507206"/>
          </a:xfrm>
          <a:prstGeom prst="rect">
            <a:avLst/>
          </a:prstGeom>
          <a:solidFill>
            <a:srgbClr val="000000">
              <a:alpha val="30000"/>
            </a:srgbClr>
          </a:solidFill>
          <a:ln/>
        </p:spPr>
        <p:txBody>
          <a:bodyPr/>
          <a:lstStyle/>
          <a:p>
            <a:endParaRPr lang="en-US"/>
          </a:p>
        </p:txBody>
      </p:sp>
      <p:sp>
        <p:nvSpPr>
          <p:cNvPr id="42" name="Text 38"/>
          <p:cNvSpPr/>
          <p:nvPr/>
        </p:nvSpPr>
        <p:spPr>
          <a:xfrm>
            <a:off x="4857750" y="4352314"/>
            <a:ext cx="3607594" cy="507206"/>
          </a:xfrm>
          <a:prstGeom prst="rect">
            <a:avLst/>
          </a:prstGeom>
          <a:noFill/>
          <a:ln/>
        </p:spPr>
        <p:txBody>
          <a:bodyPr wrap="square" lIns="127508" tIns="68072" rIns="127508" bIns="0" rtlCol="0" anchor="t">
            <a:spAutoFit/>
          </a:bodyPr>
          <a:lstStyle/>
          <a:p>
            <a:pPr marL="0" indent="0" algn="l">
              <a:lnSpc>
                <a:spcPts val="1200"/>
              </a:lnSpc>
              <a:buNone/>
            </a:pPr>
            <a:r>
              <a:rPr lang="en-US" sz="727" dirty="0">
                <a:solidFill>
                  <a:srgbClr val="FF6B9D"/>
                </a:solidFill>
              </a:rPr>
              <a:t>import</a:t>
            </a:r>
            <a:r>
              <a:rPr lang="en-US" sz="727" dirty="0">
                <a:solidFill>
                  <a:srgbClr val="00D9FF"/>
                </a:solidFill>
              </a:rPr>
              <a:t> numpy </a:t>
            </a:r>
            <a:r>
              <a:rPr lang="en-US" sz="727" dirty="0">
                <a:solidFill>
                  <a:srgbClr val="FF6B9D"/>
                </a:solidFill>
              </a:rPr>
              <a:t>as</a:t>
            </a:r>
            <a:r>
              <a:rPr lang="en-US" sz="727" dirty="0">
                <a:solidFill>
                  <a:srgbClr val="00D9FF"/>
                </a:solidFill>
              </a:rPr>
              <a:t> np </a:t>
            </a:r>
            <a:r>
              <a:rPr lang="en-US" sz="727" dirty="0">
                <a:solidFill>
                  <a:srgbClr val="7F8C8D"/>
                </a:solidFill>
              </a:rPr>
              <a:t># Simulate 10000 die rolls</a:t>
            </a:r>
            <a:r>
              <a:rPr lang="en-US" sz="727" dirty="0">
                <a:solidFill>
                  <a:srgbClr val="00D9FF"/>
                </a:solidFill>
              </a:rPr>
              <a:t> rolls = np.random.randint(1, 7, size=10000) prob_six = (rolls == 6).sum() / 10000</a:t>
            </a:r>
            <a:r>
              <a:rPr lang="en-US" sz="727" dirty="0">
                <a:solidFill>
                  <a:srgbClr val="FF6B9D"/>
                </a:solidFill>
              </a:rPr>
              <a:t>print</a:t>
            </a:r>
            <a:r>
              <a:rPr lang="en-US" sz="727" dirty="0">
                <a:solidFill>
                  <a:srgbClr val="00D9FF"/>
                </a:solidFill>
              </a:rPr>
              <a:t>(</a:t>
            </a:r>
            <a:r>
              <a:rPr lang="en-US" sz="727" dirty="0">
                <a:solidFill>
                  <a:srgbClr val="FFD93D"/>
                </a:solidFill>
              </a:rPr>
              <a:t>f"P(6) ≈ {prob_six:.4f}"</a:t>
            </a:r>
            <a:r>
              <a:rPr lang="en-US" sz="727" dirty="0">
                <a:solidFill>
                  <a:srgbClr val="00D9FF"/>
                </a:solidFill>
              </a:rPr>
              <a:t>)</a:t>
            </a:r>
            <a:endParaRPr lang="en-US" sz="727"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0" y="357188"/>
            <a:ext cx="9144000" cy="466130"/>
          </a:xfrm>
          <a:prstGeom prst="rect">
            <a:avLst/>
          </a:prstGeom>
          <a:noFill/>
          <a:ln/>
        </p:spPr>
        <p:txBody>
          <a:bodyPr wrap="none" lIns="0" tIns="0" rIns="0" bIns="0" rtlCol="0" anchor="t">
            <a:spAutoFit/>
          </a:bodyPr>
          <a:lstStyle/>
          <a:p>
            <a:pPr marL="0" indent="0" algn="ctr">
              <a:lnSpc>
                <a:spcPts val="3200"/>
              </a:lnSpc>
              <a:buNone/>
            </a:pPr>
            <a:r>
              <a:rPr lang="en-US" sz="2436" b="1" dirty="0">
                <a:solidFill>
                  <a:srgbClr val="00D9FF"/>
                </a:solidFill>
              </a:rPr>
              <a:t>Python Examples: Dice and Coins</a:t>
            </a:r>
            <a:endParaRPr lang="en-US" sz="2436" dirty="0"/>
          </a:p>
        </p:txBody>
      </p:sp>
      <p:sp>
        <p:nvSpPr>
          <p:cNvPr id="5" name="Text 1"/>
          <p:cNvSpPr/>
          <p:nvPr/>
        </p:nvSpPr>
        <p:spPr>
          <a:xfrm>
            <a:off x="0" y="880467"/>
            <a:ext cx="9144000" cy="175022"/>
          </a:xfrm>
          <a:prstGeom prst="rect">
            <a:avLst/>
          </a:prstGeom>
          <a:noFill/>
          <a:ln/>
        </p:spPr>
        <p:txBody>
          <a:bodyPr wrap="none" lIns="0" tIns="0" rIns="0" bIns="0" rtlCol="0" anchor="t">
            <a:spAutoFit/>
          </a:bodyPr>
          <a:lstStyle/>
          <a:p>
            <a:pPr marL="0" indent="0" algn="ctr">
              <a:lnSpc>
                <a:spcPts val="1200"/>
              </a:lnSpc>
              <a:buNone/>
            </a:pPr>
            <a:r>
              <a:rPr lang="en-US" sz="942" dirty="0">
                <a:solidFill>
                  <a:srgbClr val="FFD93D"/>
                </a:solidFill>
              </a:rPr>
              <a:t>Implementing Probability Calculations and Simulations</a:t>
            </a:r>
            <a:endParaRPr lang="en-US" sz="942" dirty="0"/>
          </a:p>
        </p:txBody>
      </p:sp>
      <p:sp>
        <p:nvSpPr>
          <p:cNvPr id="6" name="Shape 2"/>
          <p:cNvSpPr/>
          <p:nvPr/>
        </p:nvSpPr>
        <p:spPr>
          <a:xfrm>
            <a:off x="428625" y="1169789"/>
            <a:ext cx="4018359" cy="1845341"/>
          </a:xfrm>
          <a:prstGeom prst="rect">
            <a:avLst/>
          </a:prstGeom>
          <a:solidFill>
            <a:srgbClr val="FFFFFF">
              <a:alpha val="5000"/>
            </a:srgbClr>
          </a:solidFill>
          <a:ln/>
        </p:spPr>
        <p:txBody>
          <a:bodyPr/>
          <a:lstStyle/>
          <a:p>
            <a:endParaRPr lang="en-US"/>
          </a:p>
        </p:txBody>
      </p:sp>
      <p:sp>
        <p:nvSpPr>
          <p:cNvPr id="7" name="Text 3"/>
          <p:cNvSpPr/>
          <p:nvPr/>
        </p:nvSpPr>
        <p:spPr>
          <a:xfrm>
            <a:off x="585788" y="1226939"/>
            <a:ext cx="3704034" cy="31253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FF6B9D"/>
                </a:solidFill>
              </a:rPr>
              <a:t>01</a:t>
            </a:r>
            <a:endParaRPr lang="en-US" sz="1602" dirty="0"/>
          </a:p>
        </p:txBody>
      </p:sp>
      <p:sp>
        <p:nvSpPr>
          <p:cNvPr id="8" name="Text 4"/>
          <p:cNvSpPr/>
          <p:nvPr/>
        </p:nvSpPr>
        <p:spPr>
          <a:xfrm>
            <a:off x="585788" y="1568053"/>
            <a:ext cx="3704034"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D9FF"/>
                </a:solidFill>
              </a:rPr>
              <a:t>Single Die Roll Probability</a:t>
            </a:r>
            <a:endParaRPr lang="en-US" sz="987" dirty="0"/>
          </a:p>
        </p:txBody>
      </p:sp>
      <p:sp>
        <p:nvSpPr>
          <p:cNvPr id="9" name="Text 5"/>
          <p:cNvSpPr/>
          <p:nvPr/>
        </p:nvSpPr>
        <p:spPr>
          <a:xfrm>
            <a:off x="585788" y="1805583"/>
            <a:ext cx="3704034" cy="300038"/>
          </a:xfrm>
          <a:prstGeom prst="rect">
            <a:avLst/>
          </a:prstGeom>
          <a:noFill/>
          <a:ln/>
        </p:spPr>
        <p:txBody>
          <a:bodyPr wrap="square" lIns="0" tIns="0" rIns="0" bIns="0" rtlCol="0" anchor="t">
            <a:spAutoFit/>
          </a:bodyPr>
          <a:lstStyle/>
          <a:p>
            <a:pPr marL="0" indent="0" algn="l">
              <a:lnSpc>
                <a:spcPts val="1200"/>
              </a:lnSpc>
              <a:buNone/>
            </a:pPr>
            <a:r>
              <a:rPr lang="en-US" sz="734" b="1" dirty="0">
                <a:solidFill>
                  <a:srgbClr val="FFFFFF"/>
                </a:solidFill>
              </a:rPr>
              <a:t>Problem:</a:t>
            </a:r>
            <a:r>
              <a:rPr lang="en-US" sz="780" dirty="0">
                <a:solidFill>
                  <a:srgbClr val="FFFFFF"/>
                </a:solidFill>
              </a:rPr>
              <a:t> Calculate the probability of rolling an even number (2, 4, or 6) on a fair six-sided die. Verify with simulation.</a:t>
            </a:r>
            <a:endParaRPr lang="en-US" sz="734" dirty="0"/>
          </a:p>
        </p:txBody>
      </p:sp>
      <p:sp>
        <p:nvSpPr>
          <p:cNvPr id="10" name="Shape 6"/>
          <p:cNvSpPr/>
          <p:nvPr/>
        </p:nvSpPr>
        <p:spPr>
          <a:xfrm>
            <a:off x="585788" y="2162770"/>
            <a:ext cx="3704034" cy="692916"/>
          </a:xfrm>
          <a:prstGeom prst="rect">
            <a:avLst/>
          </a:prstGeom>
          <a:solidFill>
            <a:srgbClr val="000000">
              <a:alpha val="40000"/>
            </a:srgbClr>
          </a:solidFill>
          <a:ln/>
        </p:spPr>
        <p:txBody>
          <a:bodyPr/>
          <a:lstStyle/>
          <a:p>
            <a:endParaRPr lang="en-US"/>
          </a:p>
        </p:txBody>
      </p:sp>
      <p:sp>
        <p:nvSpPr>
          <p:cNvPr id="11" name="Text 7"/>
          <p:cNvSpPr/>
          <p:nvPr/>
        </p:nvSpPr>
        <p:spPr>
          <a:xfrm>
            <a:off x="585788" y="2162770"/>
            <a:ext cx="3704034" cy="692916"/>
          </a:xfrm>
          <a:prstGeom prst="rect">
            <a:avLst/>
          </a:prstGeom>
          <a:noFill/>
          <a:ln/>
        </p:spPr>
        <p:txBody>
          <a:bodyPr wrap="square" lIns="102108" tIns="51054" rIns="102108" bIns="0" rtlCol="0" anchor="t">
            <a:spAutoFit/>
          </a:bodyPr>
          <a:lstStyle/>
          <a:p>
            <a:pPr marL="0" indent="0" algn="l">
              <a:lnSpc>
                <a:spcPts val="1000"/>
              </a:lnSpc>
              <a:buNone/>
            </a:pPr>
            <a:r>
              <a:rPr lang="en-US" sz="674" dirty="0">
                <a:solidFill>
                  <a:srgbClr val="FF6B9D"/>
                </a:solidFill>
              </a:rPr>
              <a:t>import</a:t>
            </a:r>
            <a:r>
              <a:rPr lang="en-US" sz="674" dirty="0">
                <a:solidFill>
                  <a:srgbClr val="00D9FF"/>
                </a:solidFill>
              </a:rPr>
              <a:t> random </a:t>
            </a:r>
            <a:r>
              <a:rPr lang="en-US" sz="674" dirty="0">
                <a:solidFill>
                  <a:srgbClr val="FF6B9D"/>
                </a:solidFill>
              </a:rPr>
              <a:t>import</a:t>
            </a:r>
            <a:r>
              <a:rPr lang="en-US" sz="674" dirty="0">
                <a:solidFill>
                  <a:srgbClr val="00D9FF"/>
                </a:solidFill>
              </a:rPr>
              <a:t> numpy </a:t>
            </a:r>
            <a:r>
              <a:rPr lang="en-US" sz="674" dirty="0">
                <a:solidFill>
                  <a:srgbClr val="FF6B9D"/>
                </a:solidFill>
              </a:rPr>
              <a:t>as</a:t>
            </a:r>
            <a:r>
              <a:rPr lang="en-US" sz="674" dirty="0">
                <a:solidFill>
                  <a:srgbClr val="00D9FF"/>
                </a:solidFill>
              </a:rPr>
              <a:t> np favorable = 3 total = 6 prob_theoretical = favorable / total rolls = np.random.randint(1, 7, size=10000) even_rolls = np.isin(rolls, [2, 4, 6]).sum() prob_simulated = even_rolls / 10000</a:t>
            </a:r>
            <a:r>
              <a:rPr lang="en-US" sz="674" dirty="0">
                <a:solidFill>
                  <a:srgbClr val="FF6B9D"/>
                </a:solidFill>
              </a:rPr>
              <a:t>print</a:t>
            </a:r>
            <a:r>
              <a:rPr lang="en-US" sz="674" dirty="0">
                <a:solidFill>
                  <a:srgbClr val="00D9FF"/>
                </a:solidFill>
              </a:rPr>
              <a:t>(</a:t>
            </a:r>
            <a:r>
              <a:rPr lang="en-US" sz="674" dirty="0">
                <a:solidFill>
                  <a:srgbClr val="FFD93D"/>
                </a:solidFill>
              </a:rPr>
              <a:t>f"Theoretical: {prob_theoretical:.4f}"</a:t>
            </a:r>
            <a:r>
              <a:rPr lang="en-US" sz="674" dirty="0">
                <a:solidFill>
                  <a:srgbClr val="00D9FF"/>
                </a:solidFill>
              </a:rPr>
              <a:t>) </a:t>
            </a:r>
            <a:r>
              <a:rPr lang="en-US" sz="674" dirty="0">
                <a:solidFill>
                  <a:srgbClr val="FF6B9D"/>
                </a:solidFill>
              </a:rPr>
              <a:t>print</a:t>
            </a:r>
            <a:r>
              <a:rPr lang="en-US" sz="674" dirty="0">
                <a:solidFill>
                  <a:srgbClr val="00D9FF"/>
                </a:solidFill>
              </a:rPr>
              <a:t>(</a:t>
            </a:r>
            <a:r>
              <a:rPr lang="en-US" sz="674" dirty="0">
                <a:solidFill>
                  <a:srgbClr val="FFD93D"/>
                </a:solidFill>
              </a:rPr>
              <a:t>f"Simulated: {prob_simulated:.4f}"</a:t>
            </a:r>
            <a:r>
              <a:rPr lang="en-US" sz="674" dirty="0">
                <a:solidFill>
                  <a:srgbClr val="00D9FF"/>
                </a:solidFill>
              </a:rPr>
              <a:t>)</a:t>
            </a:r>
            <a:endParaRPr lang="en-US" sz="674" dirty="0"/>
          </a:p>
        </p:txBody>
      </p:sp>
      <p:sp>
        <p:nvSpPr>
          <p:cNvPr id="12" name="Shape 8"/>
          <p:cNvSpPr/>
          <p:nvPr/>
        </p:nvSpPr>
        <p:spPr>
          <a:xfrm>
            <a:off x="428625" y="3087990"/>
            <a:ext cx="4018359" cy="1916777"/>
          </a:xfrm>
          <a:prstGeom prst="rect">
            <a:avLst/>
          </a:prstGeom>
          <a:solidFill>
            <a:srgbClr val="FFFFFF">
              <a:alpha val="5000"/>
            </a:srgbClr>
          </a:solidFill>
          <a:ln/>
        </p:spPr>
        <p:txBody>
          <a:bodyPr/>
          <a:lstStyle/>
          <a:p>
            <a:endParaRPr lang="en-US"/>
          </a:p>
        </p:txBody>
      </p:sp>
      <p:sp>
        <p:nvSpPr>
          <p:cNvPr id="13" name="Text 9"/>
          <p:cNvSpPr/>
          <p:nvPr/>
        </p:nvSpPr>
        <p:spPr>
          <a:xfrm>
            <a:off x="585788" y="3145141"/>
            <a:ext cx="3704034" cy="31253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FF6B9D"/>
                </a:solidFill>
              </a:rPr>
              <a:t>02</a:t>
            </a:r>
            <a:endParaRPr lang="en-US" sz="1602" dirty="0"/>
          </a:p>
        </p:txBody>
      </p:sp>
      <p:sp>
        <p:nvSpPr>
          <p:cNvPr id="14" name="Text 10"/>
          <p:cNvSpPr/>
          <p:nvPr/>
        </p:nvSpPr>
        <p:spPr>
          <a:xfrm>
            <a:off x="585788" y="3486255"/>
            <a:ext cx="3704034"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D9FF"/>
                </a:solidFill>
              </a:rPr>
              <a:t>Sum of Two Dice</a:t>
            </a:r>
            <a:endParaRPr lang="en-US" sz="987" dirty="0"/>
          </a:p>
        </p:txBody>
      </p:sp>
      <p:sp>
        <p:nvSpPr>
          <p:cNvPr id="15" name="Text 11"/>
          <p:cNvSpPr/>
          <p:nvPr/>
        </p:nvSpPr>
        <p:spPr>
          <a:xfrm>
            <a:off x="585788" y="3723785"/>
            <a:ext cx="3704034" cy="300038"/>
          </a:xfrm>
          <a:prstGeom prst="rect">
            <a:avLst/>
          </a:prstGeom>
          <a:noFill/>
          <a:ln/>
        </p:spPr>
        <p:txBody>
          <a:bodyPr wrap="square" lIns="0" tIns="0" rIns="0" bIns="0" rtlCol="0" anchor="t">
            <a:spAutoFit/>
          </a:bodyPr>
          <a:lstStyle/>
          <a:p>
            <a:pPr marL="0" indent="0" algn="l">
              <a:lnSpc>
                <a:spcPts val="1200"/>
              </a:lnSpc>
              <a:buNone/>
            </a:pPr>
            <a:r>
              <a:rPr lang="en-US" sz="734" b="1" dirty="0">
                <a:solidFill>
                  <a:srgbClr val="FFFFFF"/>
                </a:solidFill>
              </a:rPr>
              <a:t>Problem:</a:t>
            </a:r>
            <a:r>
              <a:rPr lang="en-US" sz="780" dirty="0">
                <a:solidFill>
                  <a:srgbClr val="FFFFFF"/>
                </a:solidFill>
              </a:rPr>
              <a:t> What is the probability that the sum of two dice equals 7? Calculate theoretically and verify with simulation.</a:t>
            </a:r>
            <a:endParaRPr lang="en-US" sz="734" dirty="0"/>
          </a:p>
        </p:txBody>
      </p:sp>
      <p:sp>
        <p:nvSpPr>
          <p:cNvPr id="16" name="Shape 12"/>
          <p:cNvSpPr/>
          <p:nvPr/>
        </p:nvSpPr>
        <p:spPr>
          <a:xfrm>
            <a:off x="585788" y="4080972"/>
            <a:ext cx="3704034" cy="692916"/>
          </a:xfrm>
          <a:prstGeom prst="rect">
            <a:avLst/>
          </a:prstGeom>
          <a:solidFill>
            <a:srgbClr val="000000">
              <a:alpha val="40000"/>
            </a:srgbClr>
          </a:solidFill>
          <a:ln/>
        </p:spPr>
        <p:txBody>
          <a:bodyPr/>
          <a:lstStyle/>
          <a:p>
            <a:endParaRPr lang="en-US"/>
          </a:p>
        </p:txBody>
      </p:sp>
      <p:sp>
        <p:nvSpPr>
          <p:cNvPr id="17" name="Text 13"/>
          <p:cNvSpPr/>
          <p:nvPr/>
        </p:nvSpPr>
        <p:spPr>
          <a:xfrm>
            <a:off x="585788" y="4080972"/>
            <a:ext cx="3704034" cy="692916"/>
          </a:xfrm>
          <a:prstGeom prst="rect">
            <a:avLst/>
          </a:prstGeom>
          <a:noFill/>
          <a:ln/>
        </p:spPr>
        <p:txBody>
          <a:bodyPr wrap="square" lIns="102108" tIns="51054" rIns="102108" bIns="0" rtlCol="0" anchor="t">
            <a:spAutoFit/>
          </a:bodyPr>
          <a:lstStyle/>
          <a:p>
            <a:pPr marL="0" indent="0" algn="l">
              <a:lnSpc>
                <a:spcPts val="1000"/>
              </a:lnSpc>
              <a:buNone/>
            </a:pPr>
            <a:r>
              <a:rPr lang="en-US" sz="674" dirty="0">
                <a:solidFill>
                  <a:srgbClr val="FF6B9D"/>
                </a:solidFill>
              </a:rPr>
              <a:t>import</a:t>
            </a:r>
            <a:r>
              <a:rPr lang="en-US" sz="674" dirty="0">
                <a:solidFill>
                  <a:srgbClr val="00D9FF"/>
                </a:solidFill>
              </a:rPr>
              <a:t> numpy </a:t>
            </a:r>
            <a:r>
              <a:rPr lang="en-US" sz="674" dirty="0">
                <a:solidFill>
                  <a:srgbClr val="FF6B9D"/>
                </a:solidFill>
              </a:rPr>
              <a:t>as</a:t>
            </a:r>
            <a:r>
              <a:rPr lang="en-US" sz="674" dirty="0">
                <a:solidFill>
                  <a:srgbClr val="00D9FF"/>
                </a:solidFill>
              </a:rPr>
              <a:t> np prob_theoretical = 6 / 36 die1 = np.random.randint(1, 7, size=10000) die2 = np.random.randint(1, 7, size=10000) sums = die1 + die2 count_seven = (sums == 7).sum() prob_simulated = count_seven / 10000</a:t>
            </a:r>
            <a:r>
              <a:rPr lang="en-US" sz="674" dirty="0">
                <a:solidFill>
                  <a:srgbClr val="FF6B9D"/>
                </a:solidFill>
              </a:rPr>
              <a:t>print</a:t>
            </a:r>
            <a:r>
              <a:rPr lang="en-US" sz="674" dirty="0">
                <a:solidFill>
                  <a:srgbClr val="00D9FF"/>
                </a:solidFill>
              </a:rPr>
              <a:t>(</a:t>
            </a:r>
            <a:r>
              <a:rPr lang="en-US" sz="674" dirty="0">
                <a:solidFill>
                  <a:srgbClr val="FFD93D"/>
                </a:solidFill>
              </a:rPr>
              <a:t>f"Theoretical: {prob_theoretical:.4f}"</a:t>
            </a:r>
            <a:r>
              <a:rPr lang="en-US" sz="674" dirty="0">
                <a:solidFill>
                  <a:srgbClr val="00D9FF"/>
                </a:solidFill>
              </a:rPr>
              <a:t>) </a:t>
            </a:r>
            <a:r>
              <a:rPr lang="en-US" sz="674" dirty="0">
                <a:solidFill>
                  <a:srgbClr val="FF6B9D"/>
                </a:solidFill>
              </a:rPr>
              <a:t>print</a:t>
            </a:r>
            <a:r>
              <a:rPr lang="en-US" sz="674" dirty="0">
                <a:solidFill>
                  <a:srgbClr val="00D9FF"/>
                </a:solidFill>
              </a:rPr>
              <a:t>(</a:t>
            </a:r>
            <a:r>
              <a:rPr lang="en-US" sz="674" dirty="0">
                <a:solidFill>
                  <a:srgbClr val="FFD93D"/>
                </a:solidFill>
              </a:rPr>
              <a:t>f"Simulated: {prob_simulated:.4f}"</a:t>
            </a:r>
            <a:r>
              <a:rPr lang="en-US" sz="674" dirty="0">
                <a:solidFill>
                  <a:srgbClr val="00D9FF"/>
                </a:solidFill>
              </a:rPr>
              <a:t>) </a:t>
            </a:r>
            <a:r>
              <a:rPr lang="en-US" sz="674" dirty="0">
                <a:solidFill>
                  <a:srgbClr val="FF6B9D"/>
                </a:solidFill>
              </a:rPr>
              <a:t>print</a:t>
            </a:r>
            <a:r>
              <a:rPr lang="en-US" sz="674" dirty="0">
                <a:solidFill>
                  <a:srgbClr val="00D9FF"/>
                </a:solidFill>
              </a:rPr>
              <a:t>(</a:t>
            </a:r>
            <a:r>
              <a:rPr lang="en-US" sz="674" dirty="0">
                <a:solidFill>
                  <a:srgbClr val="FFD93D"/>
                </a:solidFill>
              </a:rPr>
              <a:t>f"Count of 7s: {count_seven}"</a:t>
            </a:r>
            <a:r>
              <a:rPr lang="en-US" sz="674" dirty="0">
                <a:solidFill>
                  <a:srgbClr val="00D9FF"/>
                </a:solidFill>
              </a:rPr>
              <a:t>)</a:t>
            </a:r>
            <a:endParaRPr lang="en-US" sz="674" dirty="0"/>
          </a:p>
        </p:txBody>
      </p:sp>
      <p:sp>
        <p:nvSpPr>
          <p:cNvPr id="18" name="Shape 14"/>
          <p:cNvSpPr/>
          <p:nvPr/>
        </p:nvSpPr>
        <p:spPr>
          <a:xfrm>
            <a:off x="4697016" y="1169789"/>
            <a:ext cx="4018359" cy="1844484"/>
          </a:xfrm>
          <a:prstGeom prst="rect">
            <a:avLst/>
          </a:prstGeom>
          <a:solidFill>
            <a:srgbClr val="FFFFFF">
              <a:alpha val="5000"/>
            </a:srgbClr>
          </a:solidFill>
          <a:ln/>
        </p:spPr>
        <p:txBody>
          <a:bodyPr/>
          <a:lstStyle/>
          <a:p>
            <a:endParaRPr lang="en-US"/>
          </a:p>
        </p:txBody>
      </p:sp>
      <p:sp>
        <p:nvSpPr>
          <p:cNvPr id="19" name="Text 15"/>
          <p:cNvSpPr/>
          <p:nvPr/>
        </p:nvSpPr>
        <p:spPr>
          <a:xfrm>
            <a:off x="4854178" y="1226939"/>
            <a:ext cx="3704034" cy="31253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FF6B9D"/>
                </a:solidFill>
              </a:rPr>
              <a:t>03</a:t>
            </a:r>
            <a:endParaRPr lang="en-US" sz="1602" dirty="0"/>
          </a:p>
        </p:txBody>
      </p:sp>
      <p:sp>
        <p:nvSpPr>
          <p:cNvPr id="20" name="Text 16"/>
          <p:cNvSpPr/>
          <p:nvPr/>
        </p:nvSpPr>
        <p:spPr>
          <a:xfrm>
            <a:off x="4854178" y="1568053"/>
            <a:ext cx="3704034"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D9FF"/>
                </a:solidFill>
              </a:rPr>
              <a:t>Coin Flip Sequences</a:t>
            </a:r>
            <a:endParaRPr lang="en-US" sz="987" dirty="0"/>
          </a:p>
        </p:txBody>
      </p:sp>
      <p:sp>
        <p:nvSpPr>
          <p:cNvPr id="21" name="Text 17"/>
          <p:cNvSpPr/>
          <p:nvPr/>
        </p:nvSpPr>
        <p:spPr>
          <a:xfrm>
            <a:off x="4854178" y="1805583"/>
            <a:ext cx="3704034" cy="300038"/>
          </a:xfrm>
          <a:prstGeom prst="rect">
            <a:avLst/>
          </a:prstGeom>
          <a:noFill/>
          <a:ln/>
        </p:spPr>
        <p:txBody>
          <a:bodyPr wrap="square" lIns="0" tIns="0" rIns="0" bIns="0" rtlCol="0" anchor="t">
            <a:spAutoFit/>
          </a:bodyPr>
          <a:lstStyle/>
          <a:p>
            <a:pPr marL="0" indent="0" algn="l">
              <a:lnSpc>
                <a:spcPts val="1200"/>
              </a:lnSpc>
              <a:buNone/>
            </a:pPr>
            <a:r>
              <a:rPr lang="en-US" sz="734" b="1" dirty="0">
                <a:solidFill>
                  <a:srgbClr val="FFFFFF"/>
                </a:solidFill>
              </a:rPr>
              <a:t>Problem:</a:t>
            </a:r>
            <a:r>
              <a:rPr lang="en-US" sz="780" dirty="0">
                <a:solidFill>
                  <a:srgbClr val="FFFFFF"/>
                </a:solidFill>
              </a:rPr>
              <a:t> What is the probability of getting exactly 3 heads in 5 coin flips? Use binomial probability and simulation.</a:t>
            </a:r>
            <a:endParaRPr lang="en-US" sz="734" dirty="0"/>
          </a:p>
        </p:txBody>
      </p:sp>
      <p:sp>
        <p:nvSpPr>
          <p:cNvPr id="22" name="Shape 18"/>
          <p:cNvSpPr/>
          <p:nvPr/>
        </p:nvSpPr>
        <p:spPr>
          <a:xfrm>
            <a:off x="4854178" y="2162771"/>
            <a:ext cx="3704034" cy="709632"/>
          </a:xfrm>
          <a:prstGeom prst="rect">
            <a:avLst/>
          </a:prstGeom>
          <a:solidFill>
            <a:srgbClr val="000000">
              <a:alpha val="40000"/>
            </a:srgbClr>
          </a:solidFill>
          <a:ln/>
        </p:spPr>
        <p:txBody>
          <a:bodyPr/>
          <a:lstStyle/>
          <a:p>
            <a:endParaRPr lang="en-US"/>
          </a:p>
        </p:txBody>
      </p:sp>
      <p:sp>
        <p:nvSpPr>
          <p:cNvPr id="23" name="Text 19"/>
          <p:cNvSpPr/>
          <p:nvPr/>
        </p:nvSpPr>
        <p:spPr>
          <a:xfrm>
            <a:off x="4854178" y="2162770"/>
            <a:ext cx="3704034" cy="822927"/>
          </a:xfrm>
          <a:prstGeom prst="rect">
            <a:avLst/>
          </a:prstGeom>
          <a:noFill/>
          <a:ln/>
        </p:spPr>
        <p:txBody>
          <a:bodyPr wrap="square" lIns="102108" tIns="51054" rIns="102108" bIns="0" rtlCol="0" anchor="t">
            <a:spAutoFit/>
          </a:bodyPr>
          <a:lstStyle/>
          <a:p>
            <a:pPr marL="0" indent="0" algn="l">
              <a:lnSpc>
                <a:spcPts val="1000"/>
              </a:lnSpc>
              <a:buNone/>
            </a:pPr>
            <a:r>
              <a:rPr lang="en-US" sz="674" dirty="0">
                <a:solidFill>
                  <a:srgbClr val="FF6B9D"/>
                </a:solidFill>
              </a:rPr>
              <a:t>from</a:t>
            </a:r>
            <a:r>
              <a:rPr lang="en-US" sz="674" dirty="0">
                <a:solidFill>
                  <a:srgbClr val="00D9FF"/>
                </a:solidFill>
              </a:rPr>
              <a:t> scipy.stats </a:t>
            </a:r>
            <a:r>
              <a:rPr lang="en-US" sz="674" dirty="0">
                <a:solidFill>
                  <a:srgbClr val="FF6B9D"/>
                </a:solidFill>
              </a:rPr>
              <a:t>import</a:t>
            </a:r>
            <a:r>
              <a:rPr lang="en-US" sz="674" dirty="0">
                <a:solidFill>
                  <a:srgbClr val="00D9FF"/>
                </a:solidFill>
              </a:rPr>
              <a:t> binom </a:t>
            </a:r>
            <a:r>
              <a:rPr lang="en-US" sz="674" dirty="0">
                <a:solidFill>
                  <a:srgbClr val="FF6B9D"/>
                </a:solidFill>
              </a:rPr>
              <a:t>import</a:t>
            </a:r>
            <a:r>
              <a:rPr lang="en-US" sz="674" dirty="0">
                <a:solidFill>
                  <a:srgbClr val="00D9FF"/>
                </a:solidFill>
              </a:rPr>
              <a:t> numpy </a:t>
            </a:r>
            <a:r>
              <a:rPr lang="en-US" sz="674" dirty="0">
                <a:solidFill>
                  <a:srgbClr val="FF6B9D"/>
                </a:solidFill>
              </a:rPr>
              <a:t>as</a:t>
            </a:r>
            <a:r>
              <a:rPr lang="en-US" sz="674" dirty="0">
                <a:solidFill>
                  <a:srgbClr val="00D9FF"/>
                </a:solidFill>
              </a:rPr>
              <a:t> np n = 5 k = 3 p = 0.5 prob_theoretical = binom.pmf(k, n, p) experiments = 10000 flips = np.random.choice([0, 1], size=(experiments, n)) heads_count = flips.sum(axis=1) exactly_3 = (heads_count == 3).sum() prob_simulated = exactly_3 / experiments </a:t>
            </a:r>
            <a:r>
              <a:rPr lang="en-US" sz="674" dirty="0">
                <a:solidFill>
                  <a:srgbClr val="FF6B9D"/>
                </a:solidFill>
              </a:rPr>
              <a:t>print</a:t>
            </a:r>
            <a:r>
              <a:rPr lang="en-US" sz="674" dirty="0">
                <a:solidFill>
                  <a:srgbClr val="00D9FF"/>
                </a:solidFill>
              </a:rPr>
              <a:t>(</a:t>
            </a:r>
            <a:r>
              <a:rPr lang="en-US" sz="674" dirty="0">
                <a:solidFill>
                  <a:srgbClr val="FFD93D"/>
                </a:solidFill>
              </a:rPr>
              <a:t>f"Theoretical: {prob_theoretical:.4f}"</a:t>
            </a:r>
            <a:r>
              <a:rPr lang="en-US" sz="674" dirty="0">
                <a:solidFill>
                  <a:srgbClr val="00D9FF"/>
                </a:solidFill>
              </a:rPr>
              <a:t>) </a:t>
            </a:r>
            <a:r>
              <a:rPr lang="en-US" sz="674" dirty="0">
                <a:solidFill>
                  <a:srgbClr val="FF6B9D"/>
                </a:solidFill>
              </a:rPr>
              <a:t>print</a:t>
            </a:r>
            <a:r>
              <a:rPr lang="en-US" sz="674" dirty="0">
                <a:solidFill>
                  <a:srgbClr val="00D9FF"/>
                </a:solidFill>
              </a:rPr>
              <a:t>(</a:t>
            </a:r>
            <a:r>
              <a:rPr lang="en-US" sz="674" dirty="0">
                <a:solidFill>
                  <a:srgbClr val="FFD93D"/>
                </a:solidFill>
              </a:rPr>
              <a:t>f"Simulated: {prob_simulated:.4f}"</a:t>
            </a:r>
            <a:r>
              <a:rPr lang="en-US" sz="674" dirty="0">
                <a:solidFill>
                  <a:srgbClr val="00D9FF"/>
                </a:solidFill>
              </a:rPr>
              <a:t>)</a:t>
            </a:r>
            <a:endParaRPr lang="en-US" sz="674" dirty="0"/>
          </a:p>
        </p:txBody>
      </p:sp>
      <p:sp>
        <p:nvSpPr>
          <p:cNvPr id="24" name="Shape 20"/>
          <p:cNvSpPr/>
          <p:nvPr/>
        </p:nvSpPr>
        <p:spPr>
          <a:xfrm>
            <a:off x="4697016" y="3071421"/>
            <a:ext cx="4018359" cy="1933347"/>
          </a:xfrm>
          <a:prstGeom prst="rect">
            <a:avLst/>
          </a:prstGeom>
          <a:solidFill>
            <a:srgbClr val="FFFFFF">
              <a:alpha val="5000"/>
            </a:srgbClr>
          </a:solidFill>
          <a:ln/>
        </p:spPr>
        <p:txBody>
          <a:bodyPr/>
          <a:lstStyle/>
          <a:p>
            <a:endParaRPr lang="en-US"/>
          </a:p>
        </p:txBody>
      </p:sp>
      <p:sp>
        <p:nvSpPr>
          <p:cNvPr id="25" name="Text 21"/>
          <p:cNvSpPr/>
          <p:nvPr/>
        </p:nvSpPr>
        <p:spPr>
          <a:xfrm>
            <a:off x="4854178" y="3128572"/>
            <a:ext cx="3704034" cy="31253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FF6B9D"/>
                </a:solidFill>
              </a:rPr>
              <a:t>04</a:t>
            </a:r>
            <a:endParaRPr lang="en-US" sz="1602" dirty="0"/>
          </a:p>
        </p:txBody>
      </p:sp>
      <p:sp>
        <p:nvSpPr>
          <p:cNvPr id="26" name="Text 22"/>
          <p:cNvSpPr/>
          <p:nvPr/>
        </p:nvSpPr>
        <p:spPr>
          <a:xfrm>
            <a:off x="4854178" y="3469686"/>
            <a:ext cx="3704034"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D9FF"/>
                </a:solidFill>
              </a:rPr>
              <a:t>Conditional Probability: Coins</a:t>
            </a:r>
            <a:endParaRPr lang="en-US" sz="987" dirty="0"/>
          </a:p>
        </p:txBody>
      </p:sp>
      <p:sp>
        <p:nvSpPr>
          <p:cNvPr id="27" name="Text 23"/>
          <p:cNvSpPr/>
          <p:nvPr/>
        </p:nvSpPr>
        <p:spPr>
          <a:xfrm>
            <a:off x="4854178" y="3707216"/>
            <a:ext cx="3704034" cy="300038"/>
          </a:xfrm>
          <a:prstGeom prst="rect">
            <a:avLst/>
          </a:prstGeom>
          <a:noFill/>
          <a:ln/>
        </p:spPr>
        <p:txBody>
          <a:bodyPr wrap="square" lIns="0" tIns="0" rIns="0" bIns="0" rtlCol="0" anchor="t">
            <a:spAutoFit/>
          </a:bodyPr>
          <a:lstStyle/>
          <a:p>
            <a:pPr marL="0" indent="0" algn="l">
              <a:lnSpc>
                <a:spcPts val="1200"/>
              </a:lnSpc>
              <a:buNone/>
            </a:pPr>
            <a:r>
              <a:rPr lang="en-US" sz="734" b="1" dirty="0">
                <a:solidFill>
                  <a:srgbClr val="FFFFFF"/>
                </a:solidFill>
              </a:rPr>
              <a:t>Problem:</a:t>
            </a:r>
            <a:r>
              <a:rPr lang="en-US" sz="780" dirty="0">
                <a:solidFill>
                  <a:srgbClr val="FFFFFF"/>
                </a:solidFill>
              </a:rPr>
              <a:t> Flip two coins. Given that at least one is heads, what is the probability that both are heads? P(HH | at least one H)</a:t>
            </a:r>
            <a:endParaRPr lang="en-US" sz="734" dirty="0"/>
          </a:p>
        </p:txBody>
      </p:sp>
      <p:sp>
        <p:nvSpPr>
          <p:cNvPr id="28" name="Shape 24"/>
          <p:cNvSpPr/>
          <p:nvPr/>
        </p:nvSpPr>
        <p:spPr>
          <a:xfrm>
            <a:off x="4854178" y="4064403"/>
            <a:ext cx="3704034" cy="822927"/>
          </a:xfrm>
          <a:prstGeom prst="rect">
            <a:avLst/>
          </a:prstGeom>
          <a:solidFill>
            <a:srgbClr val="000000">
              <a:alpha val="40000"/>
            </a:srgbClr>
          </a:solidFill>
          <a:ln/>
        </p:spPr>
        <p:txBody>
          <a:bodyPr/>
          <a:lstStyle/>
          <a:p>
            <a:endParaRPr lang="en-US"/>
          </a:p>
        </p:txBody>
      </p:sp>
      <p:sp>
        <p:nvSpPr>
          <p:cNvPr id="29" name="Text 25"/>
          <p:cNvSpPr/>
          <p:nvPr/>
        </p:nvSpPr>
        <p:spPr>
          <a:xfrm>
            <a:off x="4854178" y="4064403"/>
            <a:ext cx="3704034" cy="822927"/>
          </a:xfrm>
          <a:prstGeom prst="rect">
            <a:avLst/>
          </a:prstGeom>
          <a:noFill/>
          <a:ln/>
        </p:spPr>
        <p:txBody>
          <a:bodyPr wrap="square" lIns="102108" tIns="51054" rIns="102108" bIns="0" rtlCol="0" anchor="t">
            <a:spAutoFit/>
          </a:bodyPr>
          <a:lstStyle/>
          <a:p>
            <a:pPr marL="0" indent="0" algn="l">
              <a:lnSpc>
                <a:spcPts val="1000"/>
              </a:lnSpc>
              <a:buNone/>
            </a:pPr>
            <a:r>
              <a:rPr lang="en-US" sz="674" dirty="0">
                <a:solidFill>
                  <a:srgbClr val="FF6B9D"/>
                </a:solidFill>
              </a:rPr>
              <a:t>import</a:t>
            </a:r>
            <a:r>
              <a:rPr lang="en-US" sz="674" dirty="0">
                <a:solidFill>
                  <a:srgbClr val="00D9FF"/>
                </a:solidFill>
              </a:rPr>
              <a:t> numpy </a:t>
            </a:r>
            <a:r>
              <a:rPr lang="en-US" sz="674" dirty="0">
                <a:solidFill>
                  <a:srgbClr val="FF6B9D"/>
                </a:solidFill>
              </a:rPr>
              <a:t>as</a:t>
            </a:r>
            <a:r>
              <a:rPr lang="en-US" sz="674" dirty="0">
                <a:solidFill>
                  <a:srgbClr val="00D9FF"/>
                </a:solidFill>
              </a:rPr>
              <a:t> np prob_theoretical = 1 / 3 experiments = 10000 coin1 = np.random.choice([</a:t>
            </a:r>
            <a:r>
              <a:rPr lang="en-US" sz="674" dirty="0">
                <a:solidFill>
                  <a:srgbClr val="FFD93D"/>
                </a:solidFill>
              </a:rPr>
              <a:t>'H'</a:t>
            </a:r>
            <a:r>
              <a:rPr lang="en-US" sz="674" dirty="0">
                <a:solidFill>
                  <a:srgbClr val="00D9FF"/>
                </a:solidFill>
              </a:rPr>
              <a:t>, </a:t>
            </a:r>
            <a:r>
              <a:rPr lang="en-US" sz="674" dirty="0">
                <a:solidFill>
                  <a:srgbClr val="FFD93D"/>
                </a:solidFill>
              </a:rPr>
              <a:t>'T'</a:t>
            </a:r>
            <a:r>
              <a:rPr lang="en-US" sz="674" dirty="0">
                <a:solidFill>
                  <a:srgbClr val="00D9FF"/>
                </a:solidFill>
              </a:rPr>
              <a:t>], size=experiments) coin2 = np.random.choice([</a:t>
            </a:r>
            <a:r>
              <a:rPr lang="en-US" sz="674" dirty="0">
                <a:solidFill>
                  <a:srgbClr val="FFD93D"/>
                </a:solidFill>
              </a:rPr>
              <a:t>'H'</a:t>
            </a:r>
            <a:r>
              <a:rPr lang="en-US" sz="674" dirty="0">
                <a:solidFill>
                  <a:srgbClr val="00D9FF"/>
                </a:solidFill>
              </a:rPr>
              <a:t>, </a:t>
            </a:r>
            <a:r>
              <a:rPr lang="en-US" sz="674" dirty="0">
                <a:solidFill>
                  <a:srgbClr val="FFD93D"/>
                </a:solidFill>
              </a:rPr>
              <a:t>'T'</a:t>
            </a:r>
            <a:r>
              <a:rPr lang="en-US" sz="674" dirty="0">
                <a:solidFill>
                  <a:srgbClr val="00D9FF"/>
                </a:solidFill>
              </a:rPr>
              <a:t>], size=experiments) at_least_one_h = (coin1 == </a:t>
            </a:r>
            <a:r>
              <a:rPr lang="en-US" sz="674" dirty="0">
                <a:solidFill>
                  <a:srgbClr val="FFD93D"/>
                </a:solidFill>
              </a:rPr>
              <a:t>'H'</a:t>
            </a:r>
            <a:r>
              <a:rPr lang="en-US" sz="674" dirty="0">
                <a:solidFill>
                  <a:srgbClr val="00D9FF"/>
                </a:solidFill>
              </a:rPr>
              <a:t>) | (coin2 == </a:t>
            </a:r>
            <a:r>
              <a:rPr lang="en-US" sz="674" dirty="0">
                <a:solidFill>
                  <a:srgbClr val="FFD93D"/>
                </a:solidFill>
              </a:rPr>
              <a:t>'H'</a:t>
            </a:r>
            <a:r>
              <a:rPr lang="en-US" sz="674" dirty="0">
                <a:solidFill>
                  <a:srgbClr val="00D9FF"/>
                </a:solidFill>
              </a:rPr>
              <a:t>) both_h = (coin1 == </a:t>
            </a:r>
            <a:r>
              <a:rPr lang="en-US" sz="674" dirty="0">
                <a:solidFill>
                  <a:srgbClr val="FFD93D"/>
                </a:solidFill>
              </a:rPr>
              <a:t>'H'</a:t>
            </a:r>
            <a:r>
              <a:rPr lang="en-US" sz="674" dirty="0">
                <a:solidFill>
                  <a:srgbClr val="00D9FF"/>
                </a:solidFill>
              </a:rPr>
              <a:t>) &amp; (coin2 == </a:t>
            </a:r>
            <a:r>
              <a:rPr lang="en-US" sz="674" dirty="0">
                <a:solidFill>
                  <a:srgbClr val="FFD93D"/>
                </a:solidFill>
              </a:rPr>
              <a:t>'H'</a:t>
            </a:r>
            <a:r>
              <a:rPr lang="en-US" sz="674" dirty="0">
                <a:solidFill>
                  <a:srgbClr val="00D9FF"/>
                </a:solidFill>
              </a:rPr>
              <a:t>) prob_simulated = both_h[at_least_one_h].sum() / at_least_one_h.sum() </a:t>
            </a:r>
            <a:r>
              <a:rPr lang="en-US" sz="674" dirty="0">
                <a:solidFill>
                  <a:srgbClr val="FF6B9D"/>
                </a:solidFill>
              </a:rPr>
              <a:t>print</a:t>
            </a:r>
            <a:r>
              <a:rPr lang="en-US" sz="674" dirty="0">
                <a:solidFill>
                  <a:srgbClr val="00D9FF"/>
                </a:solidFill>
              </a:rPr>
              <a:t>(</a:t>
            </a:r>
            <a:r>
              <a:rPr lang="en-US" sz="674" dirty="0">
                <a:solidFill>
                  <a:srgbClr val="FFD93D"/>
                </a:solidFill>
              </a:rPr>
              <a:t>f"Theoretical: {prob_theoretical:.4f}"</a:t>
            </a:r>
            <a:r>
              <a:rPr lang="en-US" sz="674" dirty="0">
                <a:solidFill>
                  <a:srgbClr val="00D9FF"/>
                </a:solidFill>
              </a:rPr>
              <a:t>) </a:t>
            </a:r>
            <a:r>
              <a:rPr lang="en-US" sz="674" dirty="0">
                <a:solidFill>
                  <a:srgbClr val="FF6B9D"/>
                </a:solidFill>
              </a:rPr>
              <a:t>print</a:t>
            </a:r>
            <a:r>
              <a:rPr lang="en-US" sz="674" dirty="0">
                <a:solidFill>
                  <a:srgbClr val="00D9FF"/>
                </a:solidFill>
              </a:rPr>
              <a:t>(</a:t>
            </a:r>
            <a:r>
              <a:rPr lang="en-US" sz="674" dirty="0">
                <a:solidFill>
                  <a:srgbClr val="FFD93D"/>
                </a:solidFill>
              </a:rPr>
              <a:t>f"Simulated: {prob_simulated:.4f}"</a:t>
            </a:r>
            <a:r>
              <a:rPr lang="en-US" sz="674" dirty="0">
                <a:solidFill>
                  <a:srgbClr val="00D9FF"/>
                </a:solidFill>
              </a:rPr>
              <a:t>)</a:t>
            </a:r>
            <a:endParaRPr lang="en-US" sz="674"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61359"/>
          </a:xfrm>
          <a:prstGeom prst="rect">
            <a:avLst/>
          </a:prstGeom>
        </p:spPr>
      </p:pic>
      <p:sp>
        <p:nvSpPr>
          <p:cNvPr id="4" name="Text 0"/>
          <p:cNvSpPr/>
          <p:nvPr/>
        </p:nvSpPr>
        <p:spPr>
          <a:xfrm>
            <a:off x="0" y="357188"/>
            <a:ext cx="9144000" cy="466130"/>
          </a:xfrm>
          <a:prstGeom prst="rect">
            <a:avLst/>
          </a:prstGeom>
          <a:noFill/>
          <a:ln/>
        </p:spPr>
        <p:txBody>
          <a:bodyPr wrap="none" lIns="0" tIns="0" rIns="0" bIns="0" rtlCol="0" anchor="t">
            <a:spAutoFit/>
          </a:bodyPr>
          <a:lstStyle/>
          <a:p>
            <a:pPr marL="0" indent="0" algn="ctr">
              <a:lnSpc>
                <a:spcPts val="3200"/>
              </a:lnSpc>
              <a:buNone/>
            </a:pPr>
            <a:r>
              <a:rPr lang="en-US" sz="2436" b="1" dirty="0">
                <a:solidFill>
                  <a:srgbClr val="00D9FF"/>
                </a:solidFill>
              </a:rPr>
              <a:t>Python Examples: Card Problems</a:t>
            </a:r>
            <a:endParaRPr lang="en-US" sz="2436" dirty="0"/>
          </a:p>
        </p:txBody>
      </p:sp>
      <p:sp>
        <p:nvSpPr>
          <p:cNvPr id="5" name="Text 1"/>
          <p:cNvSpPr/>
          <p:nvPr/>
        </p:nvSpPr>
        <p:spPr>
          <a:xfrm>
            <a:off x="0" y="880467"/>
            <a:ext cx="9144000" cy="175022"/>
          </a:xfrm>
          <a:prstGeom prst="rect">
            <a:avLst/>
          </a:prstGeom>
          <a:noFill/>
          <a:ln/>
        </p:spPr>
        <p:txBody>
          <a:bodyPr wrap="none" lIns="0" tIns="0" rIns="0" bIns="0" rtlCol="0" anchor="t">
            <a:spAutoFit/>
          </a:bodyPr>
          <a:lstStyle/>
          <a:p>
            <a:pPr marL="0" indent="0" algn="ctr">
              <a:lnSpc>
                <a:spcPts val="1200"/>
              </a:lnSpc>
              <a:buNone/>
            </a:pPr>
            <a:r>
              <a:rPr lang="en-US" sz="942" dirty="0">
                <a:solidFill>
                  <a:srgbClr val="FFD93D"/>
                </a:solidFill>
              </a:rPr>
              <a:t>Practical Implementations for Card Probability</a:t>
            </a:r>
            <a:endParaRPr lang="en-US" sz="942" dirty="0"/>
          </a:p>
        </p:txBody>
      </p:sp>
      <p:sp>
        <p:nvSpPr>
          <p:cNvPr id="6" name="Shape 2"/>
          <p:cNvSpPr/>
          <p:nvPr/>
        </p:nvSpPr>
        <p:spPr>
          <a:xfrm>
            <a:off x="428625" y="1234083"/>
            <a:ext cx="4400550" cy="830461"/>
          </a:xfrm>
          <a:prstGeom prst="rect">
            <a:avLst/>
          </a:prstGeom>
          <a:solidFill>
            <a:srgbClr val="FF6B9D">
              <a:alpha val="10000"/>
            </a:srgbClr>
          </a:solidFill>
          <a:ln/>
        </p:spPr>
        <p:txBody>
          <a:bodyPr/>
          <a:lstStyle/>
          <a:p>
            <a:endParaRPr lang="en-US"/>
          </a:p>
        </p:txBody>
      </p:sp>
      <p:sp>
        <p:nvSpPr>
          <p:cNvPr id="7" name="Text 3"/>
          <p:cNvSpPr/>
          <p:nvPr/>
        </p:nvSpPr>
        <p:spPr>
          <a:xfrm>
            <a:off x="571500" y="1319808"/>
            <a:ext cx="4114800" cy="166092"/>
          </a:xfrm>
          <a:prstGeom prst="rect">
            <a:avLst/>
          </a:prstGeom>
          <a:noFill/>
          <a:ln/>
        </p:spPr>
        <p:txBody>
          <a:bodyPr wrap="none" lIns="0" tIns="0" rIns="0" bIns="0" rtlCol="0" anchor="t">
            <a:spAutoFit/>
          </a:bodyPr>
          <a:lstStyle/>
          <a:p>
            <a:pPr marL="0" indent="0" algn="l">
              <a:lnSpc>
                <a:spcPts val="1100"/>
              </a:lnSpc>
              <a:buNone/>
            </a:pPr>
            <a:r>
              <a:rPr lang="en-US" sz="834" b="1" dirty="0">
                <a:solidFill>
                  <a:srgbClr val="FF6B9D"/>
                </a:solidFill>
              </a:rPr>
              <a:t>Example 1: Drawing Specific Cards</a:t>
            </a:r>
            <a:endParaRPr lang="en-US" sz="834" dirty="0"/>
          </a:p>
        </p:txBody>
      </p:sp>
      <p:sp>
        <p:nvSpPr>
          <p:cNvPr id="8" name="Text 4"/>
          <p:cNvSpPr/>
          <p:nvPr/>
        </p:nvSpPr>
        <p:spPr>
          <a:xfrm>
            <a:off x="571500" y="1528763"/>
            <a:ext cx="4114800" cy="150019"/>
          </a:xfrm>
          <a:prstGeom prst="rect">
            <a:avLst/>
          </a:prstGeom>
          <a:noFill/>
          <a:ln/>
        </p:spPr>
        <p:txBody>
          <a:bodyPr wrap="none" lIns="0" tIns="0" rIns="0" bIns="0" rtlCol="0" anchor="t">
            <a:spAutoFit/>
          </a:bodyPr>
          <a:lstStyle/>
          <a:p>
            <a:pPr marL="0" indent="0" algn="l">
              <a:lnSpc>
                <a:spcPts val="1200"/>
              </a:lnSpc>
              <a:buNone/>
            </a:pPr>
            <a:r>
              <a:rPr lang="en-US" sz="727" dirty="0">
                <a:solidFill>
                  <a:srgbClr val="FFFFFF"/>
                </a:solidFill>
              </a:rPr>
              <a:t>Calculate probability of drawing an Ace from a standard deck:</a:t>
            </a:r>
            <a:endParaRPr lang="en-US" sz="727" dirty="0"/>
          </a:p>
        </p:txBody>
      </p:sp>
      <p:sp>
        <p:nvSpPr>
          <p:cNvPr id="9" name="Shape 5"/>
          <p:cNvSpPr/>
          <p:nvPr/>
        </p:nvSpPr>
        <p:spPr>
          <a:xfrm>
            <a:off x="571500" y="1735931"/>
            <a:ext cx="4114800" cy="328613"/>
          </a:xfrm>
          <a:prstGeom prst="rect">
            <a:avLst/>
          </a:prstGeom>
          <a:solidFill>
            <a:srgbClr val="000000">
              <a:alpha val="40000"/>
            </a:srgbClr>
          </a:solidFill>
          <a:ln/>
        </p:spPr>
        <p:txBody>
          <a:bodyPr/>
          <a:lstStyle/>
          <a:p>
            <a:endParaRPr lang="en-US"/>
          </a:p>
        </p:txBody>
      </p:sp>
      <p:sp>
        <p:nvSpPr>
          <p:cNvPr id="10" name="Text 6"/>
          <p:cNvSpPr/>
          <p:nvPr/>
        </p:nvSpPr>
        <p:spPr>
          <a:xfrm>
            <a:off x="571500" y="1735931"/>
            <a:ext cx="4114800" cy="328613"/>
          </a:xfrm>
          <a:prstGeom prst="rect">
            <a:avLst/>
          </a:prstGeom>
          <a:noFill/>
          <a:ln/>
        </p:spPr>
        <p:txBody>
          <a:bodyPr wrap="square" lIns="102108" tIns="85090" rIns="102108" bIns="0" rtlCol="0" anchor="t">
            <a:spAutoFit/>
          </a:bodyPr>
          <a:lstStyle/>
          <a:p>
            <a:pPr marL="0" indent="0" algn="l">
              <a:lnSpc>
                <a:spcPts val="1000"/>
              </a:lnSpc>
              <a:buNone/>
            </a:pPr>
            <a:r>
              <a:rPr lang="en-US" sz="621" dirty="0">
                <a:solidFill>
                  <a:srgbClr val="7F8C8D"/>
                </a:solidFill>
              </a:rPr>
              <a:t># Standard deck: 52 cards, 4 Aces</a:t>
            </a:r>
            <a:r>
              <a:rPr lang="en-US" sz="621" dirty="0">
                <a:solidFill>
                  <a:srgbClr val="00D9FF"/>
                </a:solidFill>
              </a:rPr>
              <a:t> total_cards = 52 aces = 4 prob_ace = aces / total_cards </a:t>
            </a:r>
            <a:r>
              <a:rPr lang="en-US" sz="621" dirty="0">
                <a:solidFill>
                  <a:srgbClr val="FF6B9D"/>
                </a:solidFill>
              </a:rPr>
              <a:t>print</a:t>
            </a:r>
            <a:r>
              <a:rPr lang="en-US" sz="621" dirty="0">
                <a:solidFill>
                  <a:srgbClr val="00D9FF"/>
                </a:solidFill>
              </a:rPr>
              <a:t>(</a:t>
            </a:r>
            <a:r>
              <a:rPr lang="en-US" sz="621" dirty="0">
                <a:solidFill>
                  <a:srgbClr val="FFD93D"/>
                </a:solidFill>
              </a:rPr>
              <a:t>f"P(Ace) = {prob_ace:.4f}"</a:t>
            </a:r>
            <a:r>
              <a:rPr lang="en-US" sz="621" dirty="0">
                <a:solidFill>
                  <a:srgbClr val="00D9FF"/>
                </a:solidFill>
              </a:rPr>
              <a:t>) </a:t>
            </a:r>
            <a:r>
              <a:rPr lang="en-US" sz="621" i="1" dirty="0">
                <a:solidFill>
                  <a:srgbClr val="2ECC71"/>
                </a:solidFill>
              </a:rPr>
              <a:t># Output: P(Ace) = 0.0769</a:t>
            </a:r>
            <a:endParaRPr lang="en-US" sz="621" dirty="0"/>
          </a:p>
        </p:txBody>
      </p:sp>
      <p:sp>
        <p:nvSpPr>
          <p:cNvPr id="11" name="Shape 7"/>
          <p:cNvSpPr/>
          <p:nvPr/>
        </p:nvSpPr>
        <p:spPr>
          <a:xfrm>
            <a:off x="428625" y="2171700"/>
            <a:ext cx="4400550" cy="959048"/>
          </a:xfrm>
          <a:prstGeom prst="rect">
            <a:avLst/>
          </a:prstGeom>
          <a:solidFill>
            <a:srgbClr val="FF6B9D">
              <a:alpha val="10000"/>
            </a:srgbClr>
          </a:solidFill>
          <a:ln/>
        </p:spPr>
        <p:txBody>
          <a:bodyPr/>
          <a:lstStyle/>
          <a:p>
            <a:endParaRPr lang="en-US"/>
          </a:p>
        </p:txBody>
      </p:sp>
      <p:sp>
        <p:nvSpPr>
          <p:cNvPr id="12" name="Text 8"/>
          <p:cNvSpPr/>
          <p:nvPr/>
        </p:nvSpPr>
        <p:spPr>
          <a:xfrm>
            <a:off x="571500" y="2257425"/>
            <a:ext cx="4114800" cy="166092"/>
          </a:xfrm>
          <a:prstGeom prst="rect">
            <a:avLst/>
          </a:prstGeom>
          <a:noFill/>
          <a:ln/>
        </p:spPr>
        <p:txBody>
          <a:bodyPr wrap="none" lIns="0" tIns="0" rIns="0" bIns="0" rtlCol="0" anchor="t">
            <a:spAutoFit/>
          </a:bodyPr>
          <a:lstStyle/>
          <a:p>
            <a:pPr marL="0" indent="0" algn="l">
              <a:lnSpc>
                <a:spcPts val="1100"/>
              </a:lnSpc>
              <a:buNone/>
            </a:pPr>
            <a:r>
              <a:rPr lang="en-US" sz="834" b="1" dirty="0">
                <a:solidFill>
                  <a:srgbClr val="FF6B9D"/>
                </a:solidFill>
              </a:rPr>
              <a:t>Example 2: Drawing Without Replacement</a:t>
            </a:r>
            <a:endParaRPr lang="en-US" sz="834" dirty="0"/>
          </a:p>
        </p:txBody>
      </p:sp>
      <p:sp>
        <p:nvSpPr>
          <p:cNvPr id="13" name="Text 9"/>
          <p:cNvSpPr/>
          <p:nvPr/>
        </p:nvSpPr>
        <p:spPr>
          <a:xfrm>
            <a:off x="571500" y="2466380"/>
            <a:ext cx="4114800" cy="150019"/>
          </a:xfrm>
          <a:prstGeom prst="rect">
            <a:avLst/>
          </a:prstGeom>
          <a:noFill/>
          <a:ln/>
        </p:spPr>
        <p:txBody>
          <a:bodyPr wrap="none" lIns="0" tIns="0" rIns="0" bIns="0" rtlCol="0" anchor="t">
            <a:spAutoFit/>
          </a:bodyPr>
          <a:lstStyle/>
          <a:p>
            <a:pPr marL="0" indent="0" algn="l">
              <a:lnSpc>
                <a:spcPts val="1200"/>
              </a:lnSpc>
              <a:buNone/>
            </a:pPr>
            <a:r>
              <a:rPr lang="en-US" sz="727" dirty="0">
                <a:solidFill>
                  <a:srgbClr val="FFFFFF"/>
                </a:solidFill>
              </a:rPr>
              <a:t>Probability of drawing 2 Aces in a row without replacement:</a:t>
            </a:r>
            <a:endParaRPr lang="en-US" sz="727" dirty="0"/>
          </a:p>
        </p:txBody>
      </p:sp>
      <p:sp>
        <p:nvSpPr>
          <p:cNvPr id="14" name="Shape 10"/>
          <p:cNvSpPr/>
          <p:nvPr/>
        </p:nvSpPr>
        <p:spPr>
          <a:xfrm>
            <a:off x="571500" y="2673548"/>
            <a:ext cx="4114800" cy="457200"/>
          </a:xfrm>
          <a:prstGeom prst="rect">
            <a:avLst/>
          </a:prstGeom>
          <a:solidFill>
            <a:srgbClr val="000000">
              <a:alpha val="40000"/>
            </a:srgbClr>
          </a:solidFill>
          <a:ln/>
        </p:spPr>
        <p:txBody>
          <a:bodyPr/>
          <a:lstStyle/>
          <a:p>
            <a:endParaRPr lang="en-US"/>
          </a:p>
        </p:txBody>
      </p:sp>
      <p:sp>
        <p:nvSpPr>
          <p:cNvPr id="15" name="Text 11"/>
          <p:cNvSpPr/>
          <p:nvPr/>
        </p:nvSpPr>
        <p:spPr>
          <a:xfrm>
            <a:off x="571500" y="2673548"/>
            <a:ext cx="4114800" cy="457200"/>
          </a:xfrm>
          <a:prstGeom prst="rect">
            <a:avLst/>
          </a:prstGeom>
          <a:noFill/>
          <a:ln/>
        </p:spPr>
        <p:txBody>
          <a:bodyPr wrap="square" lIns="102108" tIns="85090" rIns="102108" bIns="0" rtlCol="0" anchor="t">
            <a:spAutoFit/>
          </a:bodyPr>
          <a:lstStyle/>
          <a:p>
            <a:pPr marL="0" indent="0" algn="l">
              <a:lnSpc>
                <a:spcPts val="1000"/>
              </a:lnSpc>
              <a:buNone/>
            </a:pPr>
            <a:r>
              <a:rPr lang="en-US" sz="621" dirty="0">
                <a:solidFill>
                  <a:srgbClr val="7F8C8D"/>
                </a:solidFill>
              </a:rPr>
              <a:t># First draw: P(Ace) = 4/52# Second draw: P(Ace|Ace) = 3/51</a:t>
            </a:r>
            <a:r>
              <a:rPr lang="en-US" sz="621" dirty="0">
                <a:solidFill>
                  <a:srgbClr val="00D9FF"/>
                </a:solidFill>
              </a:rPr>
              <a:t> prob_first_ace = 4 / 52 prob_second_ace = 3 / 51 prob_two_aces = prob_first_ace * prob_second_ace </a:t>
            </a:r>
            <a:r>
              <a:rPr lang="en-US" sz="621" dirty="0">
                <a:solidFill>
                  <a:srgbClr val="FF6B9D"/>
                </a:solidFill>
              </a:rPr>
              <a:t>print</a:t>
            </a:r>
            <a:r>
              <a:rPr lang="en-US" sz="621" dirty="0">
                <a:solidFill>
                  <a:srgbClr val="00D9FF"/>
                </a:solidFill>
              </a:rPr>
              <a:t>(</a:t>
            </a:r>
            <a:r>
              <a:rPr lang="en-US" sz="621" dirty="0">
                <a:solidFill>
                  <a:srgbClr val="FFD93D"/>
                </a:solidFill>
              </a:rPr>
              <a:t>f"P(2 Aces) = {prob_two_aces:.6f}"</a:t>
            </a:r>
            <a:r>
              <a:rPr lang="en-US" sz="621" dirty="0">
                <a:solidFill>
                  <a:srgbClr val="00D9FF"/>
                </a:solidFill>
              </a:rPr>
              <a:t>) </a:t>
            </a:r>
            <a:r>
              <a:rPr lang="en-US" sz="621" i="1" dirty="0">
                <a:solidFill>
                  <a:srgbClr val="2ECC71"/>
                </a:solidFill>
              </a:rPr>
              <a:t># Output: P(2 Aces) = 0.004525</a:t>
            </a:r>
            <a:endParaRPr lang="en-US" sz="621" dirty="0"/>
          </a:p>
        </p:txBody>
      </p:sp>
      <p:sp>
        <p:nvSpPr>
          <p:cNvPr id="16" name="Shape 12"/>
          <p:cNvSpPr/>
          <p:nvPr/>
        </p:nvSpPr>
        <p:spPr>
          <a:xfrm>
            <a:off x="428625" y="3237905"/>
            <a:ext cx="4400550" cy="1216223"/>
          </a:xfrm>
          <a:prstGeom prst="rect">
            <a:avLst/>
          </a:prstGeom>
          <a:solidFill>
            <a:srgbClr val="FF6B9D">
              <a:alpha val="10000"/>
            </a:srgbClr>
          </a:solidFill>
          <a:ln/>
        </p:spPr>
        <p:txBody>
          <a:bodyPr/>
          <a:lstStyle/>
          <a:p>
            <a:endParaRPr lang="en-US"/>
          </a:p>
        </p:txBody>
      </p:sp>
      <p:sp>
        <p:nvSpPr>
          <p:cNvPr id="17" name="Text 13"/>
          <p:cNvSpPr/>
          <p:nvPr/>
        </p:nvSpPr>
        <p:spPr>
          <a:xfrm>
            <a:off x="571500" y="3323630"/>
            <a:ext cx="4114800" cy="166092"/>
          </a:xfrm>
          <a:prstGeom prst="rect">
            <a:avLst/>
          </a:prstGeom>
          <a:noFill/>
          <a:ln/>
        </p:spPr>
        <p:txBody>
          <a:bodyPr wrap="none" lIns="0" tIns="0" rIns="0" bIns="0" rtlCol="0" anchor="t">
            <a:spAutoFit/>
          </a:bodyPr>
          <a:lstStyle/>
          <a:p>
            <a:pPr marL="0" indent="0" algn="l">
              <a:lnSpc>
                <a:spcPts val="1100"/>
              </a:lnSpc>
              <a:buNone/>
            </a:pPr>
            <a:r>
              <a:rPr lang="en-US" sz="834" b="1" dirty="0">
                <a:solidFill>
                  <a:srgbClr val="FF6B9D"/>
                </a:solidFill>
              </a:rPr>
              <a:t>Example 3: Simulating Card Draws</a:t>
            </a:r>
            <a:endParaRPr lang="en-US" sz="834" dirty="0"/>
          </a:p>
        </p:txBody>
      </p:sp>
      <p:sp>
        <p:nvSpPr>
          <p:cNvPr id="18" name="Text 14"/>
          <p:cNvSpPr/>
          <p:nvPr/>
        </p:nvSpPr>
        <p:spPr>
          <a:xfrm>
            <a:off x="571500" y="3532584"/>
            <a:ext cx="4114800" cy="150019"/>
          </a:xfrm>
          <a:prstGeom prst="rect">
            <a:avLst/>
          </a:prstGeom>
          <a:noFill/>
          <a:ln/>
        </p:spPr>
        <p:txBody>
          <a:bodyPr wrap="none" lIns="0" tIns="0" rIns="0" bIns="0" rtlCol="0" anchor="t">
            <a:spAutoFit/>
          </a:bodyPr>
          <a:lstStyle/>
          <a:p>
            <a:pPr marL="0" indent="0" algn="l">
              <a:lnSpc>
                <a:spcPts val="1200"/>
              </a:lnSpc>
              <a:buNone/>
            </a:pPr>
            <a:r>
              <a:rPr lang="en-US" sz="727" dirty="0">
                <a:solidFill>
                  <a:srgbClr val="FFFFFF"/>
                </a:solidFill>
              </a:rPr>
              <a:t>Monte Carlo simulation to estimate probability:</a:t>
            </a:r>
            <a:endParaRPr lang="en-US" sz="727" dirty="0"/>
          </a:p>
        </p:txBody>
      </p:sp>
      <p:sp>
        <p:nvSpPr>
          <p:cNvPr id="19" name="Shape 15"/>
          <p:cNvSpPr/>
          <p:nvPr/>
        </p:nvSpPr>
        <p:spPr>
          <a:xfrm>
            <a:off x="571500" y="3739753"/>
            <a:ext cx="4114800" cy="714375"/>
          </a:xfrm>
          <a:prstGeom prst="rect">
            <a:avLst/>
          </a:prstGeom>
          <a:solidFill>
            <a:srgbClr val="000000">
              <a:alpha val="40000"/>
            </a:srgbClr>
          </a:solidFill>
          <a:ln/>
        </p:spPr>
        <p:txBody>
          <a:bodyPr/>
          <a:lstStyle/>
          <a:p>
            <a:endParaRPr lang="en-US"/>
          </a:p>
        </p:txBody>
      </p:sp>
      <p:sp>
        <p:nvSpPr>
          <p:cNvPr id="20" name="Text 16"/>
          <p:cNvSpPr/>
          <p:nvPr/>
        </p:nvSpPr>
        <p:spPr>
          <a:xfrm>
            <a:off x="571500" y="3739753"/>
            <a:ext cx="4114800" cy="714375"/>
          </a:xfrm>
          <a:prstGeom prst="rect">
            <a:avLst/>
          </a:prstGeom>
          <a:noFill/>
          <a:ln/>
        </p:spPr>
        <p:txBody>
          <a:bodyPr wrap="square" lIns="102108" tIns="85090" rIns="102108" bIns="0" rtlCol="0" anchor="t">
            <a:spAutoFit/>
          </a:bodyPr>
          <a:lstStyle/>
          <a:p>
            <a:pPr marL="0" indent="0" algn="l">
              <a:lnSpc>
                <a:spcPts val="1000"/>
              </a:lnSpc>
              <a:buNone/>
            </a:pPr>
            <a:r>
              <a:rPr lang="en-US" sz="621" dirty="0">
                <a:solidFill>
                  <a:srgbClr val="FF6B9D"/>
                </a:solidFill>
              </a:rPr>
              <a:t>import</a:t>
            </a:r>
            <a:r>
              <a:rPr lang="en-US" sz="621" dirty="0">
                <a:solidFill>
                  <a:srgbClr val="00D9FF"/>
                </a:solidFill>
              </a:rPr>
              <a:t> random </a:t>
            </a:r>
            <a:r>
              <a:rPr lang="en-US" sz="621" dirty="0">
                <a:solidFill>
                  <a:srgbClr val="7F8C8D"/>
                </a:solidFill>
              </a:rPr>
              <a:t># Create deck</a:t>
            </a:r>
            <a:r>
              <a:rPr lang="en-US" sz="621" dirty="0">
                <a:solidFill>
                  <a:srgbClr val="00D9FF"/>
                </a:solidFill>
              </a:rPr>
              <a:t> suits = [</a:t>
            </a:r>
            <a:r>
              <a:rPr lang="en-US" sz="621" dirty="0">
                <a:solidFill>
                  <a:srgbClr val="FFD93D"/>
                </a:solidFill>
              </a:rPr>
              <a:t>'♠'</a:t>
            </a:r>
            <a:r>
              <a:rPr lang="en-US" sz="621" dirty="0">
                <a:solidFill>
                  <a:srgbClr val="00D9FF"/>
                </a:solidFill>
              </a:rPr>
              <a:t>, </a:t>
            </a:r>
            <a:r>
              <a:rPr lang="en-US" sz="621" dirty="0">
                <a:solidFill>
                  <a:srgbClr val="FFD93D"/>
                </a:solidFill>
              </a:rPr>
              <a:t>'♥'</a:t>
            </a:r>
            <a:r>
              <a:rPr lang="en-US" sz="621" dirty="0">
                <a:solidFill>
                  <a:srgbClr val="00D9FF"/>
                </a:solidFill>
              </a:rPr>
              <a:t>, </a:t>
            </a:r>
            <a:r>
              <a:rPr lang="en-US" sz="621" dirty="0">
                <a:solidFill>
                  <a:srgbClr val="FFD93D"/>
                </a:solidFill>
              </a:rPr>
              <a:t>'♦'</a:t>
            </a:r>
            <a:r>
              <a:rPr lang="en-US" sz="621" dirty="0">
                <a:solidFill>
                  <a:srgbClr val="00D9FF"/>
                </a:solidFill>
              </a:rPr>
              <a:t>, </a:t>
            </a:r>
            <a:r>
              <a:rPr lang="en-US" sz="621" dirty="0">
                <a:solidFill>
                  <a:srgbClr val="FFD93D"/>
                </a:solidFill>
              </a:rPr>
              <a:t>'♣'</a:t>
            </a:r>
            <a:r>
              <a:rPr lang="en-US" sz="621" dirty="0">
                <a:solidFill>
                  <a:srgbClr val="00D9FF"/>
                </a:solidFill>
              </a:rPr>
              <a:t>] ranks = [</a:t>
            </a:r>
            <a:r>
              <a:rPr lang="en-US" sz="621" dirty="0">
                <a:solidFill>
                  <a:srgbClr val="FFD93D"/>
                </a:solidFill>
              </a:rPr>
              <a:t>'A'</a:t>
            </a:r>
            <a:r>
              <a:rPr lang="en-US" sz="621" dirty="0">
                <a:solidFill>
                  <a:srgbClr val="00D9FF"/>
                </a:solidFill>
              </a:rPr>
              <a:t>,</a:t>
            </a:r>
            <a:r>
              <a:rPr lang="en-US" sz="621" dirty="0">
                <a:solidFill>
                  <a:srgbClr val="FFD93D"/>
                </a:solidFill>
              </a:rPr>
              <a:t>'2'</a:t>
            </a:r>
            <a:r>
              <a:rPr lang="en-US" sz="621" dirty="0">
                <a:solidFill>
                  <a:srgbClr val="00D9FF"/>
                </a:solidFill>
              </a:rPr>
              <a:t>,</a:t>
            </a:r>
            <a:r>
              <a:rPr lang="en-US" sz="621" dirty="0">
                <a:solidFill>
                  <a:srgbClr val="FFD93D"/>
                </a:solidFill>
              </a:rPr>
              <a:t>'3'</a:t>
            </a:r>
            <a:r>
              <a:rPr lang="en-US" sz="621" dirty="0">
                <a:solidFill>
                  <a:srgbClr val="00D9FF"/>
                </a:solidFill>
              </a:rPr>
              <a:t>,</a:t>
            </a:r>
            <a:r>
              <a:rPr lang="en-US" sz="621" dirty="0">
                <a:solidFill>
                  <a:srgbClr val="FFD93D"/>
                </a:solidFill>
              </a:rPr>
              <a:t>'4'</a:t>
            </a:r>
            <a:r>
              <a:rPr lang="en-US" sz="621" dirty="0">
                <a:solidFill>
                  <a:srgbClr val="00D9FF"/>
                </a:solidFill>
              </a:rPr>
              <a:t>,</a:t>
            </a:r>
            <a:r>
              <a:rPr lang="en-US" sz="621" dirty="0">
                <a:solidFill>
                  <a:srgbClr val="FFD93D"/>
                </a:solidFill>
              </a:rPr>
              <a:t>'5'</a:t>
            </a:r>
            <a:r>
              <a:rPr lang="en-US" sz="621" dirty="0">
                <a:solidFill>
                  <a:srgbClr val="00D9FF"/>
                </a:solidFill>
              </a:rPr>
              <a:t>,</a:t>
            </a:r>
            <a:r>
              <a:rPr lang="en-US" sz="621" dirty="0">
                <a:solidFill>
                  <a:srgbClr val="FFD93D"/>
                </a:solidFill>
              </a:rPr>
              <a:t>'6'</a:t>
            </a:r>
            <a:r>
              <a:rPr lang="en-US" sz="621" dirty="0">
                <a:solidFill>
                  <a:srgbClr val="00D9FF"/>
                </a:solidFill>
              </a:rPr>
              <a:t>,</a:t>
            </a:r>
            <a:r>
              <a:rPr lang="en-US" sz="621" dirty="0">
                <a:solidFill>
                  <a:srgbClr val="FFD93D"/>
                </a:solidFill>
              </a:rPr>
              <a:t>'7'</a:t>
            </a:r>
            <a:r>
              <a:rPr lang="en-US" sz="621" dirty="0">
                <a:solidFill>
                  <a:srgbClr val="00D9FF"/>
                </a:solidFill>
              </a:rPr>
              <a:t>,</a:t>
            </a:r>
            <a:r>
              <a:rPr lang="en-US" sz="621" dirty="0">
                <a:solidFill>
                  <a:srgbClr val="FFD93D"/>
                </a:solidFill>
              </a:rPr>
              <a:t>'8'</a:t>
            </a:r>
            <a:r>
              <a:rPr lang="en-US" sz="621" dirty="0">
                <a:solidFill>
                  <a:srgbClr val="00D9FF"/>
                </a:solidFill>
              </a:rPr>
              <a:t>,</a:t>
            </a:r>
            <a:r>
              <a:rPr lang="en-US" sz="621" dirty="0">
                <a:solidFill>
                  <a:srgbClr val="FFD93D"/>
                </a:solidFill>
              </a:rPr>
              <a:t>'9'</a:t>
            </a:r>
            <a:r>
              <a:rPr lang="en-US" sz="621" dirty="0">
                <a:solidFill>
                  <a:srgbClr val="00D9FF"/>
                </a:solidFill>
              </a:rPr>
              <a:t>,</a:t>
            </a:r>
            <a:r>
              <a:rPr lang="en-US" sz="621" dirty="0">
                <a:solidFill>
                  <a:srgbClr val="FFD93D"/>
                </a:solidFill>
              </a:rPr>
              <a:t>'10'</a:t>
            </a:r>
            <a:r>
              <a:rPr lang="en-US" sz="621" dirty="0">
                <a:solidFill>
                  <a:srgbClr val="00D9FF"/>
                </a:solidFill>
              </a:rPr>
              <a:t>,</a:t>
            </a:r>
            <a:r>
              <a:rPr lang="en-US" sz="621" dirty="0">
                <a:solidFill>
                  <a:srgbClr val="FFD93D"/>
                </a:solidFill>
              </a:rPr>
              <a:t>'J'</a:t>
            </a:r>
            <a:r>
              <a:rPr lang="en-US" sz="621" dirty="0">
                <a:solidFill>
                  <a:srgbClr val="00D9FF"/>
                </a:solidFill>
              </a:rPr>
              <a:t>,</a:t>
            </a:r>
            <a:r>
              <a:rPr lang="en-US" sz="621" dirty="0">
                <a:solidFill>
                  <a:srgbClr val="FFD93D"/>
                </a:solidFill>
              </a:rPr>
              <a:t>'Q'</a:t>
            </a:r>
            <a:r>
              <a:rPr lang="en-US" sz="621" dirty="0">
                <a:solidFill>
                  <a:srgbClr val="00D9FF"/>
                </a:solidFill>
              </a:rPr>
              <a:t>,</a:t>
            </a:r>
            <a:r>
              <a:rPr lang="en-US" sz="621" dirty="0">
                <a:solidFill>
                  <a:srgbClr val="FFD93D"/>
                </a:solidFill>
              </a:rPr>
              <a:t>'K'</a:t>
            </a:r>
            <a:r>
              <a:rPr lang="en-US" sz="621" dirty="0">
                <a:solidFill>
                  <a:srgbClr val="00D9FF"/>
                </a:solidFill>
              </a:rPr>
              <a:t>] deck = [r+s </a:t>
            </a:r>
            <a:r>
              <a:rPr lang="en-US" sz="621" dirty="0">
                <a:solidFill>
                  <a:srgbClr val="FF6B9D"/>
                </a:solidFill>
              </a:rPr>
              <a:t>for</a:t>
            </a:r>
            <a:r>
              <a:rPr lang="en-US" sz="621" dirty="0">
                <a:solidFill>
                  <a:srgbClr val="00D9FF"/>
                </a:solidFill>
              </a:rPr>
              <a:t> s </a:t>
            </a:r>
            <a:r>
              <a:rPr lang="en-US" sz="621" dirty="0">
                <a:solidFill>
                  <a:srgbClr val="FF6B9D"/>
                </a:solidFill>
              </a:rPr>
              <a:t>in</a:t>
            </a:r>
            <a:r>
              <a:rPr lang="en-US" sz="621" dirty="0">
                <a:solidFill>
                  <a:srgbClr val="00D9FF"/>
                </a:solidFill>
              </a:rPr>
              <a:t> suits </a:t>
            </a:r>
            <a:r>
              <a:rPr lang="en-US" sz="621" dirty="0">
                <a:solidFill>
                  <a:srgbClr val="FF6B9D"/>
                </a:solidFill>
              </a:rPr>
              <a:t>for</a:t>
            </a:r>
            <a:r>
              <a:rPr lang="en-US" sz="621" dirty="0">
                <a:solidFill>
                  <a:srgbClr val="00D9FF"/>
                </a:solidFill>
              </a:rPr>
              <a:t> r </a:t>
            </a:r>
            <a:r>
              <a:rPr lang="en-US" sz="621" dirty="0">
                <a:solidFill>
                  <a:srgbClr val="FF6B9D"/>
                </a:solidFill>
              </a:rPr>
              <a:t>in</a:t>
            </a:r>
            <a:r>
              <a:rPr lang="en-US" sz="621" dirty="0">
                <a:solidFill>
                  <a:srgbClr val="00D9FF"/>
                </a:solidFill>
              </a:rPr>
              <a:t> ranks] </a:t>
            </a:r>
            <a:r>
              <a:rPr lang="en-US" sz="621" dirty="0">
                <a:solidFill>
                  <a:srgbClr val="7F8C8D"/>
                </a:solidFill>
              </a:rPr>
              <a:t># Simulate 10000 draws</a:t>
            </a:r>
            <a:r>
              <a:rPr lang="en-US" sz="621" dirty="0">
                <a:solidFill>
                  <a:srgbClr val="00D9FF"/>
                </a:solidFill>
              </a:rPr>
              <a:t> trials = 10000 hearts_count = 0</a:t>
            </a:r>
            <a:r>
              <a:rPr lang="en-US" sz="621" dirty="0">
                <a:solidFill>
                  <a:srgbClr val="FF6B9D"/>
                </a:solidFill>
              </a:rPr>
              <a:t>for</a:t>
            </a:r>
            <a:r>
              <a:rPr lang="en-US" sz="621" dirty="0">
                <a:solidFill>
                  <a:srgbClr val="00D9FF"/>
                </a:solidFill>
              </a:rPr>
              <a:t> _ </a:t>
            </a:r>
            <a:r>
              <a:rPr lang="en-US" sz="621" dirty="0">
                <a:solidFill>
                  <a:srgbClr val="FF6B9D"/>
                </a:solidFill>
              </a:rPr>
              <a:t>in</a:t>
            </a:r>
            <a:r>
              <a:rPr lang="en-US" sz="621" dirty="0">
                <a:solidFill>
                  <a:srgbClr val="00D9FF"/>
                </a:solidFill>
              </a:rPr>
              <a:t> range(trials): card = random.choice(deck) </a:t>
            </a:r>
            <a:r>
              <a:rPr lang="en-US" sz="621" dirty="0">
                <a:solidFill>
                  <a:srgbClr val="FF6B9D"/>
                </a:solidFill>
              </a:rPr>
              <a:t>if</a:t>
            </a:r>
            <a:r>
              <a:rPr lang="en-US" sz="621" dirty="0">
                <a:solidFill>
                  <a:srgbClr val="FFD93D"/>
                </a:solidFill>
              </a:rPr>
              <a:t>'♥'</a:t>
            </a:r>
            <a:r>
              <a:rPr lang="en-US" sz="621" dirty="0">
                <a:solidFill>
                  <a:srgbClr val="FF6B9D"/>
                </a:solidFill>
              </a:rPr>
              <a:t>in</a:t>
            </a:r>
            <a:r>
              <a:rPr lang="en-US" sz="621" dirty="0">
                <a:solidFill>
                  <a:srgbClr val="00D9FF"/>
                </a:solidFill>
              </a:rPr>
              <a:t> card: hearts_count += 1 prob_heart = hearts_count / trials </a:t>
            </a:r>
            <a:r>
              <a:rPr lang="en-US" sz="621" dirty="0">
                <a:solidFill>
                  <a:srgbClr val="FF6B9D"/>
                </a:solidFill>
              </a:rPr>
              <a:t>print</a:t>
            </a:r>
            <a:r>
              <a:rPr lang="en-US" sz="621" dirty="0">
                <a:solidFill>
                  <a:srgbClr val="00D9FF"/>
                </a:solidFill>
              </a:rPr>
              <a:t>(</a:t>
            </a:r>
            <a:r>
              <a:rPr lang="en-US" sz="621" dirty="0">
                <a:solidFill>
                  <a:srgbClr val="FFD93D"/>
                </a:solidFill>
              </a:rPr>
              <a:t>f"P(Heart) ≈ {prob_heart:.3f}"</a:t>
            </a:r>
            <a:r>
              <a:rPr lang="en-US" sz="621" dirty="0">
                <a:solidFill>
                  <a:srgbClr val="00D9FF"/>
                </a:solidFill>
              </a:rPr>
              <a:t>) </a:t>
            </a:r>
            <a:r>
              <a:rPr lang="en-US" sz="621" i="1" dirty="0">
                <a:solidFill>
                  <a:srgbClr val="2ECC71"/>
                </a:solidFill>
              </a:rPr>
              <a:t># Output: P(Heart) ≈ 0.250</a:t>
            </a:r>
            <a:endParaRPr lang="en-US" sz="621" dirty="0"/>
          </a:p>
        </p:txBody>
      </p:sp>
      <p:sp>
        <p:nvSpPr>
          <p:cNvPr id="21" name="Shape 17"/>
          <p:cNvSpPr/>
          <p:nvPr/>
        </p:nvSpPr>
        <p:spPr>
          <a:xfrm>
            <a:off x="5114925" y="1234083"/>
            <a:ext cx="3600450" cy="2396729"/>
          </a:xfrm>
          <a:prstGeom prst="rect">
            <a:avLst/>
          </a:prstGeom>
          <a:solidFill>
            <a:srgbClr val="00D9FF">
              <a:alpha val="10000"/>
            </a:srgbClr>
          </a:solidFill>
          <a:ln/>
        </p:spPr>
        <p:txBody>
          <a:bodyPr/>
          <a:lstStyle/>
          <a:p>
            <a:endParaRPr lang="en-US"/>
          </a:p>
        </p:txBody>
      </p:sp>
      <p:sp>
        <p:nvSpPr>
          <p:cNvPr id="22" name="Text 18"/>
          <p:cNvSpPr/>
          <p:nvPr/>
        </p:nvSpPr>
        <p:spPr>
          <a:xfrm>
            <a:off x="5272088" y="1305520"/>
            <a:ext cx="3286125" cy="214313"/>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00D9FF"/>
                </a:solidFill>
              </a:rPr>
              <a:t>Sequential Card Drawing</a:t>
            </a:r>
            <a:endParaRPr lang="en-US" sz="1090" dirty="0"/>
          </a:p>
        </p:txBody>
      </p:sp>
      <p:sp>
        <p:nvSpPr>
          <p:cNvPr id="23" name="Text 19"/>
          <p:cNvSpPr/>
          <p:nvPr/>
        </p:nvSpPr>
        <p:spPr>
          <a:xfrm>
            <a:off x="5272088" y="1518463"/>
            <a:ext cx="3286125" cy="642938"/>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FFFFFF"/>
                </a:solidFill>
              </a:rPr>
              <a:t>When drawing cards in sequence (without replacement), we use </a:t>
            </a:r>
            <a:r>
              <a:rPr lang="en-US" sz="734" b="1" dirty="0">
                <a:solidFill>
                  <a:srgbClr val="FFD93D"/>
                </a:solidFill>
              </a:rPr>
              <a:t>tree diagrams</a:t>
            </a:r>
            <a:r>
              <a:rPr lang="en-US" sz="780" dirty="0">
                <a:solidFill>
                  <a:srgbClr val="FFFFFF"/>
                </a:solidFill>
              </a:rPr>
              <a:t> to visualize outcomes and their probabilities. Each branch represents a possible draw, and probabilities change at each stage.</a:t>
            </a:r>
            <a:endParaRPr lang="en-US" sz="780" dirty="0"/>
          </a:p>
        </p:txBody>
      </p:sp>
      <p:pic>
        <p:nvPicPr>
          <p:cNvPr id="25" name="Image 1" descr="preencoded.png"/>
          <p:cNvPicPr>
            <a:picLocks noChangeAspect="1"/>
          </p:cNvPicPr>
          <p:nvPr/>
        </p:nvPicPr>
        <p:blipFill>
          <a:blip r:embed="rId4"/>
          <a:stretch>
            <a:fillRect/>
          </a:stretch>
        </p:blipFill>
        <p:spPr>
          <a:xfrm>
            <a:off x="5272088" y="2102212"/>
            <a:ext cx="3286125" cy="1428750"/>
          </a:xfrm>
          <a:prstGeom prst="rect">
            <a:avLst/>
          </a:prstGeom>
        </p:spPr>
      </p:pic>
      <p:sp>
        <p:nvSpPr>
          <p:cNvPr id="26" name="Shape 21"/>
          <p:cNvSpPr/>
          <p:nvPr/>
        </p:nvSpPr>
        <p:spPr>
          <a:xfrm>
            <a:off x="5114925" y="3820120"/>
            <a:ext cx="3600450" cy="1298377"/>
          </a:xfrm>
          <a:prstGeom prst="rect">
            <a:avLst/>
          </a:prstGeom>
          <a:solidFill>
            <a:srgbClr val="FFD73D">
              <a:alpha val="10000"/>
            </a:srgbClr>
          </a:solidFill>
          <a:ln/>
        </p:spPr>
        <p:txBody>
          <a:bodyPr/>
          <a:lstStyle/>
          <a:p>
            <a:endParaRPr lang="en-US"/>
          </a:p>
        </p:txBody>
      </p:sp>
      <p:sp>
        <p:nvSpPr>
          <p:cNvPr id="27" name="Text 22"/>
          <p:cNvSpPr/>
          <p:nvPr/>
        </p:nvSpPr>
        <p:spPr>
          <a:xfrm>
            <a:off x="5272088" y="3891558"/>
            <a:ext cx="3286125"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FFD93D"/>
                </a:solidFill>
              </a:rPr>
              <a:t>Key Insights for Card Problems</a:t>
            </a:r>
            <a:endParaRPr lang="en-US" sz="987" dirty="0"/>
          </a:p>
        </p:txBody>
      </p:sp>
      <p:sp>
        <p:nvSpPr>
          <p:cNvPr id="28" name="Text 23"/>
          <p:cNvSpPr/>
          <p:nvPr/>
        </p:nvSpPr>
        <p:spPr>
          <a:xfrm>
            <a:off x="5400675" y="4150519"/>
            <a:ext cx="1142833" cy="146447"/>
          </a:xfrm>
          <a:prstGeom prst="rect">
            <a:avLst/>
          </a:prstGeom>
          <a:noFill/>
          <a:ln/>
        </p:spPr>
        <p:txBody>
          <a:bodyPr wrap="none" lIns="0" tIns="0" rIns="0" bIns="0" rtlCol="0" anchor="t">
            <a:spAutoFit/>
          </a:bodyPr>
          <a:lstStyle/>
          <a:p>
            <a:pPr marL="0" indent="0" algn="l">
              <a:lnSpc>
                <a:spcPts val="1300"/>
              </a:lnSpc>
              <a:buNone/>
            </a:pPr>
            <a:r>
              <a:rPr lang="en-US" sz="734" b="1" dirty="0">
                <a:solidFill>
                  <a:srgbClr val="FF6B9D"/>
                </a:solidFill>
              </a:rPr>
              <a:t>Without replacement:</a:t>
            </a:r>
            <a:endParaRPr lang="en-US" sz="734" dirty="0"/>
          </a:p>
        </p:txBody>
      </p:sp>
      <p:sp>
        <p:nvSpPr>
          <p:cNvPr id="29" name="Text 24"/>
          <p:cNvSpPr/>
          <p:nvPr/>
        </p:nvSpPr>
        <p:spPr>
          <a:xfrm>
            <a:off x="6543508" y="4150519"/>
            <a:ext cx="1845041" cy="146447"/>
          </a:xfrm>
          <a:prstGeom prst="rect">
            <a:avLst/>
          </a:prstGeom>
          <a:noFill/>
          <a:ln/>
        </p:spPr>
        <p:txBody>
          <a:bodyPr wrap="none" lIns="0" tIns="0" rIns="0" bIns="0" rtlCol="0" anchor="t">
            <a:spAutoFit/>
          </a:bodyPr>
          <a:lstStyle/>
          <a:p>
            <a:pPr marL="0" indent="0" algn="l">
              <a:lnSpc>
                <a:spcPts val="1300"/>
              </a:lnSpc>
              <a:buNone/>
            </a:pPr>
            <a:r>
              <a:rPr lang="en-US" sz="780" dirty="0">
                <a:solidFill>
                  <a:srgbClr val="FFFFFF"/>
                </a:solidFill>
              </a:rPr>
              <a:t>Probabilities change as deck shrinks</a:t>
            </a:r>
            <a:endParaRPr lang="en-US" sz="780" dirty="0"/>
          </a:p>
        </p:txBody>
      </p:sp>
      <p:sp>
        <p:nvSpPr>
          <p:cNvPr id="30" name="Text 25"/>
          <p:cNvSpPr/>
          <p:nvPr/>
        </p:nvSpPr>
        <p:spPr>
          <a:xfrm>
            <a:off x="5400675" y="4354116"/>
            <a:ext cx="964741" cy="146447"/>
          </a:xfrm>
          <a:prstGeom prst="rect">
            <a:avLst/>
          </a:prstGeom>
          <a:noFill/>
          <a:ln/>
        </p:spPr>
        <p:txBody>
          <a:bodyPr wrap="none" lIns="0" tIns="0" rIns="0" bIns="0" rtlCol="0" anchor="t">
            <a:spAutoFit/>
          </a:bodyPr>
          <a:lstStyle/>
          <a:p>
            <a:pPr marL="0" indent="0" algn="l">
              <a:lnSpc>
                <a:spcPts val="1300"/>
              </a:lnSpc>
              <a:buNone/>
            </a:pPr>
            <a:r>
              <a:rPr lang="en-US" sz="734" b="1" dirty="0">
                <a:solidFill>
                  <a:srgbClr val="FF6B9D"/>
                </a:solidFill>
              </a:rPr>
              <a:t>With replacement:</a:t>
            </a:r>
            <a:endParaRPr lang="en-US" sz="734" dirty="0"/>
          </a:p>
        </p:txBody>
      </p:sp>
      <p:sp>
        <p:nvSpPr>
          <p:cNvPr id="31" name="Text 26"/>
          <p:cNvSpPr/>
          <p:nvPr/>
        </p:nvSpPr>
        <p:spPr>
          <a:xfrm>
            <a:off x="6365416" y="4354116"/>
            <a:ext cx="1350615" cy="146447"/>
          </a:xfrm>
          <a:prstGeom prst="rect">
            <a:avLst/>
          </a:prstGeom>
          <a:noFill/>
          <a:ln/>
        </p:spPr>
        <p:txBody>
          <a:bodyPr wrap="none" lIns="0" tIns="0" rIns="0" bIns="0" rtlCol="0" anchor="t">
            <a:spAutoFit/>
          </a:bodyPr>
          <a:lstStyle/>
          <a:p>
            <a:pPr marL="0" indent="0" algn="l">
              <a:lnSpc>
                <a:spcPts val="1300"/>
              </a:lnSpc>
              <a:buNone/>
            </a:pPr>
            <a:r>
              <a:rPr lang="en-US" sz="780" dirty="0">
                <a:solidFill>
                  <a:srgbClr val="FFFFFF"/>
                </a:solidFill>
              </a:rPr>
              <a:t>Probabilities stay constant</a:t>
            </a:r>
            <a:endParaRPr lang="en-US" sz="780" dirty="0"/>
          </a:p>
        </p:txBody>
      </p:sp>
      <p:sp>
        <p:nvSpPr>
          <p:cNvPr id="32" name="Text 27"/>
          <p:cNvSpPr/>
          <p:nvPr/>
        </p:nvSpPr>
        <p:spPr>
          <a:xfrm>
            <a:off x="5400675" y="4557713"/>
            <a:ext cx="758047" cy="146447"/>
          </a:xfrm>
          <a:prstGeom prst="rect">
            <a:avLst/>
          </a:prstGeom>
          <a:noFill/>
          <a:ln/>
        </p:spPr>
        <p:txBody>
          <a:bodyPr wrap="none" lIns="0" tIns="0" rIns="0" bIns="0" rtlCol="0" anchor="t">
            <a:spAutoFit/>
          </a:bodyPr>
          <a:lstStyle/>
          <a:p>
            <a:pPr marL="0" indent="0" algn="l">
              <a:lnSpc>
                <a:spcPts val="1300"/>
              </a:lnSpc>
              <a:buNone/>
            </a:pPr>
            <a:r>
              <a:rPr lang="en-US" sz="734" b="1" dirty="0">
                <a:solidFill>
                  <a:srgbClr val="FF6B9D"/>
                </a:solidFill>
              </a:rPr>
              <a:t>Combinations:</a:t>
            </a:r>
            <a:endParaRPr lang="en-US" sz="734" dirty="0"/>
          </a:p>
        </p:txBody>
      </p:sp>
      <p:sp>
        <p:nvSpPr>
          <p:cNvPr id="34" name="Text 29"/>
          <p:cNvSpPr/>
          <p:nvPr/>
        </p:nvSpPr>
        <p:spPr>
          <a:xfrm>
            <a:off x="6404539" y="4557713"/>
            <a:ext cx="849592" cy="151452"/>
          </a:xfrm>
          <a:prstGeom prst="rect">
            <a:avLst/>
          </a:prstGeom>
          <a:noFill/>
          <a:ln/>
        </p:spPr>
        <p:txBody>
          <a:bodyPr wrap="none" lIns="0" tIns="0" rIns="0" bIns="0" rtlCol="0" anchor="t">
            <a:spAutoFit/>
          </a:bodyPr>
          <a:lstStyle/>
          <a:p>
            <a:pPr marL="0" indent="0" algn="l">
              <a:lnSpc>
                <a:spcPts val="1300"/>
              </a:lnSpc>
              <a:buNone/>
            </a:pPr>
            <a:r>
              <a:rPr lang="en-US" sz="780" dirty="0">
                <a:solidFill>
                  <a:srgbClr val="FFFFFF"/>
                </a:solidFill>
              </a:rPr>
              <a:t>Use </a:t>
            </a:r>
            <a:r>
              <a:rPr lang="en-US" sz="780" dirty="0" err="1">
                <a:solidFill>
                  <a:srgbClr val="FFFFFF"/>
                </a:solidFill>
              </a:rPr>
              <a:t>math.comb</a:t>
            </a:r>
            <a:r>
              <a:rPr lang="en-US" sz="780" dirty="0">
                <a:solidFill>
                  <a:srgbClr val="FFFFFF"/>
                </a:solidFill>
              </a:rPr>
              <a:t>(n, k)</a:t>
            </a:r>
            <a:endParaRPr lang="en-US" sz="780" dirty="0"/>
          </a:p>
        </p:txBody>
      </p:sp>
      <p:sp>
        <p:nvSpPr>
          <p:cNvPr id="35" name="Text 30"/>
          <p:cNvSpPr/>
          <p:nvPr/>
        </p:nvSpPr>
        <p:spPr>
          <a:xfrm>
            <a:off x="5400675" y="4761309"/>
            <a:ext cx="594299" cy="146447"/>
          </a:xfrm>
          <a:prstGeom prst="rect">
            <a:avLst/>
          </a:prstGeom>
          <a:noFill/>
          <a:ln/>
        </p:spPr>
        <p:txBody>
          <a:bodyPr wrap="none" lIns="0" tIns="0" rIns="0" bIns="0" rtlCol="0" anchor="t">
            <a:spAutoFit/>
          </a:bodyPr>
          <a:lstStyle/>
          <a:p>
            <a:pPr marL="0" indent="0" algn="l">
              <a:lnSpc>
                <a:spcPts val="1300"/>
              </a:lnSpc>
              <a:buNone/>
            </a:pPr>
            <a:r>
              <a:rPr lang="en-US" sz="734" b="1" dirty="0">
                <a:solidFill>
                  <a:srgbClr val="FF6B9D"/>
                </a:solidFill>
              </a:rPr>
              <a:t>Simulation:</a:t>
            </a:r>
            <a:endParaRPr lang="en-US" sz="734" dirty="0"/>
          </a:p>
        </p:txBody>
      </p:sp>
      <p:sp>
        <p:nvSpPr>
          <p:cNvPr id="36" name="Text 31"/>
          <p:cNvSpPr/>
          <p:nvPr/>
        </p:nvSpPr>
        <p:spPr>
          <a:xfrm>
            <a:off x="5994974" y="4761309"/>
            <a:ext cx="1370540" cy="146447"/>
          </a:xfrm>
          <a:prstGeom prst="rect">
            <a:avLst/>
          </a:prstGeom>
          <a:noFill/>
          <a:ln/>
        </p:spPr>
        <p:txBody>
          <a:bodyPr wrap="none" lIns="0" tIns="0" rIns="0" bIns="0" rtlCol="0" anchor="t">
            <a:spAutoFit/>
          </a:bodyPr>
          <a:lstStyle/>
          <a:p>
            <a:pPr marL="0" indent="0" algn="l">
              <a:lnSpc>
                <a:spcPts val="1300"/>
              </a:lnSpc>
              <a:buNone/>
            </a:pPr>
            <a:r>
              <a:rPr lang="en-US" sz="780" dirty="0">
                <a:solidFill>
                  <a:srgbClr val="FFFFFF"/>
                </a:solidFill>
              </a:rPr>
              <a:t>Monte Carlo checks theory</a:t>
            </a:r>
            <a:endParaRPr lang="en-US" sz="780" dirty="0"/>
          </a:p>
        </p:txBody>
      </p:sp>
      <p:sp>
        <p:nvSpPr>
          <p:cNvPr id="37" name="Text 32"/>
          <p:cNvSpPr/>
          <p:nvPr/>
        </p:nvSpPr>
        <p:spPr>
          <a:xfrm>
            <a:off x="5400675" y="4964906"/>
            <a:ext cx="994097" cy="146447"/>
          </a:xfrm>
          <a:prstGeom prst="rect">
            <a:avLst/>
          </a:prstGeom>
          <a:noFill/>
          <a:ln/>
        </p:spPr>
        <p:txBody>
          <a:bodyPr wrap="none" lIns="0" tIns="0" rIns="0" bIns="0" rtlCol="0" anchor="t">
            <a:spAutoFit/>
          </a:bodyPr>
          <a:lstStyle/>
          <a:p>
            <a:pPr marL="0" indent="0" algn="l">
              <a:lnSpc>
                <a:spcPts val="1300"/>
              </a:lnSpc>
              <a:buNone/>
            </a:pPr>
            <a:r>
              <a:rPr lang="en-US" sz="734" b="1" dirty="0">
                <a:solidFill>
                  <a:srgbClr val="FF6B9D"/>
                </a:solidFill>
              </a:rPr>
              <a:t>Multiplication rule:</a:t>
            </a:r>
            <a:endParaRPr lang="en-US" sz="734" dirty="0"/>
          </a:p>
        </p:txBody>
      </p:sp>
      <p:sp>
        <p:nvSpPr>
          <p:cNvPr id="38" name="Text 33"/>
          <p:cNvSpPr/>
          <p:nvPr/>
        </p:nvSpPr>
        <p:spPr>
          <a:xfrm>
            <a:off x="6394772" y="4964906"/>
            <a:ext cx="1345899" cy="146447"/>
          </a:xfrm>
          <a:prstGeom prst="rect">
            <a:avLst/>
          </a:prstGeom>
          <a:noFill/>
          <a:ln/>
        </p:spPr>
        <p:txBody>
          <a:bodyPr wrap="none" lIns="0" tIns="0" rIns="0" bIns="0" rtlCol="0" anchor="t">
            <a:spAutoFit/>
          </a:bodyPr>
          <a:lstStyle/>
          <a:p>
            <a:pPr marL="0" indent="0" algn="l">
              <a:lnSpc>
                <a:spcPts val="1300"/>
              </a:lnSpc>
              <a:buNone/>
            </a:pPr>
            <a:r>
              <a:rPr lang="en-US" sz="780" dirty="0">
                <a:solidFill>
                  <a:srgbClr val="FFFFFF"/>
                </a:solidFill>
              </a:rPr>
              <a:t>Multiply path probabilities</a:t>
            </a:r>
            <a:endParaRPr lang="en-US" sz="78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0" y="357188"/>
            <a:ext cx="9144000" cy="466130"/>
          </a:xfrm>
          <a:prstGeom prst="rect">
            <a:avLst/>
          </a:prstGeom>
          <a:noFill/>
          <a:ln/>
        </p:spPr>
        <p:txBody>
          <a:bodyPr wrap="none" lIns="0" tIns="0" rIns="0" bIns="0" rtlCol="0" anchor="t">
            <a:spAutoFit/>
          </a:bodyPr>
          <a:lstStyle/>
          <a:p>
            <a:pPr marL="0" indent="0" algn="ctr">
              <a:lnSpc>
                <a:spcPts val="3200"/>
              </a:lnSpc>
              <a:buNone/>
            </a:pPr>
            <a:r>
              <a:rPr lang="en-US" sz="2436" b="1" dirty="0">
                <a:solidFill>
                  <a:srgbClr val="00D9FF"/>
                </a:solidFill>
              </a:rPr>
              <a:t>Common Probability Mistakes</a:t>
            </a:r>
            <a:endParaRPr lang="en-US" sz="2436" dirty="0"/>
          </a:p>
        </p:txBody>
      </p:sp>
      <p:sp>
        <p:nvSpPr>
          <p:cNvPr id="5" name="Shape 1"/>
          <p:cNvSpPr/>
          <p:nvPr/>
        </p:nvSpPr>
        <p:spPr>
          <a:xfrm>
            <a:off x="400050" y="966192"/>
            <a:ext cx="2647931" cy="1948458"/>
          </a:xfrm>
          <a:prstGeom prst="rect">
            <a:avLst/>
          </a:prstGeom>
          <a:solidFill>
            <a:srgbClr val="FF6B9D">
              <a:alpha val="10000"/>
            </a:srgbClr>
          </a:solidFill>
          <a:ln/>
        </p:spPr>
        <p:txBody>
          <a:bodyPr/>
          <a:lstStyle/>
          <a:p>
            <a:endParaRPr lang="en-US"/>
          </a:p>
        </p:txBody>
      </p:sp>
      <p:sp>
        <p:nvSpPr>
          <p:cNvPr id="6" name="Text 2"/>
          <p:cNvSpPr/>
          <p:nvPr/>
        </p:nvSpPr>
        <p:spPr>
          <a:xfrm>
            <a:off x="528638" y="1023342"/>
            <a:ext cx="2390756" cy="273248"/>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FF6B9D"/>
                </a:solidFill>
              </a:rPr>
              <a:t>01</a:t>
            </a:r>
            <a:endParaRPr lang="en-US" sz="1397" dirty="0"/>
          </a:p>
        </p:txBody>
      </p:sp>
      <p:sp>
        <p:nvSpPr>
          <p:cNvPr id="7" name="Text 3"/>
          <p:cNvSpPr/>
          <p:nvPr/>
        </p:nvSpPr>
        <p:spPr>
          <a:xfrm>
            <a:off x="528638" y="1325166"/>
            <a:ext cx="2390756" cy="183952"/>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FF6B9D"/>
                </a:solidFill>
              </a:rPr>
              <a:t>Confusing P(A|B) with P(B|A)</a:t>
            </a:r>
            <a:endParaRPr lang="en-US" sz="936" dirty="0"/>
          </a:p>
        </p:txBody>
      </p:sp>
      <p:sp>
        <p:nvSpPr>
          <p:cNvPr id="8" name="Text 4"/>
          <p:cNvSpPr/>
          <p:nvPr/>
        </p:nvSpPr>
        <p:spPr>
          <a:xfrm>
            <a:off x="528638" y="1551980"/>
            <a:ext cx="2390756" cy="321469"/>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FFFFFF"/>
                </a:solidFill>
              </a:rPr>
              <a:t>Known as the </a:t>
            </a:r>
            <a:r>
              <a:rPr lang="en-US" sz="734" b="1" dirty="0">
                <a:solidFill>
                  <a:srgbClr val="FFD93D"/>
                </a:solidFill>
              </a:rPr>
              <a:t>prosecutor's fallacy</a:t>
            </a:r>
            <a:r>
              <a:rPr lang="en-US" sz="780" dirty="0">
                <a:solidFill>
                  <a:srgbClr val="FFFFFF"/>
                </a:solidFill>
              </a:rPr>
              <a:t>. P(A|B) ≠ P(B|A) in general.</a:t>
            </a:r>
            <a:endParaRPr lang="en-US" sz="780" dirty="0"/>
          </a:p>
        </p:txBody>
      </p:sp>
      <p:sp>
        <p:nvSpPr>
          <p:cNvPr id="9" name="Shape 5"/>
          <p:cNvSpPr/>
          <p:nvPr/>
        </p:nvSpPr>
        <p:spPr>
          <a:xfrm>
            <a:off x="528638" y="1916311"/>
            <a:ext cx="2390756" cy="385763"/>
          </a:xfrm>
          <a:prstGeom prst="rect">
            <a:avLst/>
          </a:prstGeom>
          <a:solidFill>
            <a:srgbClr val="E74C3C">
              <a:alpha val="15000"/>
            </a:srgbClr>
          </a:solidFill>
          <a:ln/>
        </p:spPr>
        <p:txBody>
          <a:bodyPr/>
          <a:lstStyle/>
          <a:p>
            <a:endParaRPr lang="en-US"/>
          </a:p>
        </p:txBody>
      </p:sp>
      <p:sp>
        <p:nvSpPr>
          <p:cNvPr id="10" name="Text 6"/>
          <p:cNvSpPr/>
          <p:nvPr/>
        </p:nvSpPr>
        <p:spPr>
          <a:xfrm>
            <a:off x="614363" y="1959173"/>
            <a:ext cx="2219306" cy="300038"/>
          </a:xfrm>
          <a:prstGeom prst="rect">
            <a:avLst/>
          </a:prstGeom>
          <a:noFill/>
          <a:ln/>
        </p:spPr>
        <p:txBody>
          <a:bodyPr wrap="square" lIns="0" tIns="0" rIns="0" bIns="0" rtlCol="0" anchor="t">
            <a:spAutoFit/>
          </a:bodyPr>
          <a:lstStyle/>
          <a:p>
            <a:pPr marL="0" indent="0" algn="l">
              <a:lnSpc>
                <a:spcPts val="1200"/>
              </a:lnSpc>
              <a:buNone/>
            </a:pPr>
            <a:r>
              <a:rPr lang="en-US" sz="727" dirty="0">
                <a:solidFill>
                  <a:srgbClr val="FFFFFF"/>
                </a:solidFill>
              </a:rPr>
              <a:t>❌ WRONG: If 99% of criminals have tattoos, then 99% of tattooed people are criminals.</a:t>
            </a:r>
            <a:endParaRPr lang="en-US" sz="727" dirty="0"/>
          </a:p>
        </p:txBody>
      </p:sp>
      <p:sp>
        <p:nvSpPr>
          <p:cNvPr id="11" name="Shape 7"/>
          <p:cNvSpPr/>
          <p:nvPr/>
        </p:nvSpPr>
        <p:spPr>
          <a:xfrm>
            <a:off x="528638" y="2344936"/>
            <a:ext cx="2390756" cy="385763"/>
          </a:xfrm>
          <a:prstGeom prst="rect">
            <a:avLst/>
          </a:prstGeom>
          <a:solidFill>
            <a:srgbClr val="2ECC71">
              <a:alpha val="15000"/>
            </a:srgbClr>
          </a:solidFill>
          <a:ln/>
        </p:spPr>
        <p:txBody>
          <a:bodyPr/>
          <a:lstStyle/>
          <a:p>
            <a:endParaRPr lang="en-US"/>
          </a:p>
        </p:txBody>
      </p:sp>
      <p:sp>
        <p:nvSpPr>
          <p:cNvPr id="12" name="Text 8"/>
          <p:cNvSpPr/>
          <p:nvPr/>
        </p:nvSpPr>
        <p:spPr>
          <a:xfrm>
            <a:off x="614363" y="2387798"/>
            <a:ext cx="2219306" cy="300038"/>
          </a:xfrm>
          <a:prstGeom prst="rect">
            <a:avLst/>
          </a:prstGeom>
          <a:noFill/>
          <a:ln/>
        </p:spPr>
        <p:txBody>
          <a:bodyPr wrap="square" lIns="0" tIns="0" rIns="0" bIns="0" rtlCol="0" anchor="t">
            <a:spAutoFit/>
          </a:bodyPr>
          <a:lstStyle/>
          <a:p>
            <a:pPr marL="0" indent="0" algn="l">
              <a:lnSpc>
                <a:spcPts val="1200"/>
              </a:lnSpc>
              <a:buNone/>
            </a:pPr>
            <a:r>
              <a:rPr lang="en-US" sz="727" dirty="0">
                <a:solidFill>
                  <a:srgbClr val="FFFFFF"/>
                </a:solidFill>
              </a:rPr>
              <a:t>✓ CORRECT: Use </a:t>
            </a:r>
            <a:r>
              <a:rPr lang="en-US" sz="683" b="1" dirty="0">
                <a:solidFill>
                  <a:srgbClr val="00D9FF"/>
                </a:solidFill>
              </a:rPr>
              <a:t>Bayes' Theorem</a:t>
            </a:r>
            <a:r>
              <a:rPr lang="en-US" sz="727" dirty="0">
                <a:solidFill>
                  <a:srgbClr val="FFFFFF"/>
                </a:solidFill>
              </a:rPr>
              <a:t>: </a:t>
            </a:r>
            <a:r>
              <a:rPr lang="en-US" sz="683" b="1" dirty="0">
                <a:solidFill>
                  <a:srgbClr val="00D9FF"/>
                </a:solidFill>
              </a:rPr>
              <a:t>P(A|B) = P(B|A) × P(A)/P(B)</a:t>
            </a:r>
            <a:r>
              <a:rPr lang="en-US" sz="727" dirty="0">
                <a:solidFill>
                  <a:srgbClr val="FFFFFF"/>
                </a:solidFill>
              </a:rPr>
              <a:t>.</a:t>
            </a:r>
            <a:endParaRPr lang="en-US" sz="727" dirty="0"/>
          </a:p>
        </p:txBody>
      </p:sp>
      <p:sp>
        <p:nvSpPr>
          <p:cNvPr id="13" name="Shape 9"/>
          <p:cNvSpPr/>
          <p:nvPr/>
        </p:nvSpPr>
        <p:spPr>
          <a:xfrm>
            <a:off x="3248006" y="966192"/>
            <a:ext cx="2647959" cy="1948458"/>
          </a:xfrm>
          <a:prstGeom prst="rect">
            <a:avLst/>
          </a:prstGeom>
          <a:solidFill>
            <a:srgbClr val="FF6B9D">
              <a:alpha val="10000"/>
            </a:srgbClr>
          </a:solidFill>
          <a:ln/>
        </p:spPr>
        <p:txBody>
          <a:bodyPr/>
          <a:lstStyle/>
          <a:p>
            <a:endParaRPr lang="en-US"/>
          </a:p>
        </p:txBody>
      </p:sp>
      <p:sp>
        <p:nvSpPr>
          <p:cNvPr id="14" name="Text 10"/>
          <p:cNvSpPr/>
          <p:nvPr/>
        </p:nvSpPr>
        <p:spPr>
          <a:xfrm>
            <a:off x="3376594" y="1023342"/>
            <a:ext cx="2390784" cy="273248"/>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FF6B9D"/>
                </a:solidFill>
              </a:rPr>
              <a:t>02</a:t>
            </a:r>
            <a:endParaRPr lang="en-US" sz="1397" dirty="0"/>
          </a:p>
        </p:txBody>
      </p:sp>
      <p:sp>
        <p:nvSpPr>
          <p:cNvPr id="15" name="Text 11"/>
          <p:cNvSpPr/>
          <p:nvPr/>
        </p:nvSpPr>
        <p:spPr>
          <a:xfrm>
            <a:off x="3376594" y="1325166"/>
            <a:ext cx="2390784" cy="183952"/>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FF6B9D"/>
                </a:solidFill>
              </a:rPr>
              <a:t>Ignoring Base Rates</a:t>
            </a:r>
            <a:endParaRPr lang="en-US" sz="936" dirty="0"/>
          </a:p>
        </p:txBody>
      </p:sp>
      <p:sp>
        <p:nvSpPr>
          <p:cNvPr id="16" name="Text 12"/>
          <p:cNvSpPr/>
          <p:nvPr/>
        </p:nvSpPr>
        <p:spPr>
          <a:xfrm>
            <a:off x="3376594" y="1551980"/>
            <a:ext cx="2390784" cy="321469"/>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FFFFFF"/>
                </a:solidFill>
              </a:rPr>
              <a:t>Ignoring the </a:t>
            </a:r>
            <a:r>
              <a:rPr lang="en-US" sz="734" b="1" dirty="0">
                <a:solidFill>
                  <a:srgbClr val="FFD93D"/>
                </a:solidFill>
              </a:rPr>
              <a:t>base rate</a:t>
            </a:r>
            <a:r>
              <a:rPr lang="en-US" sz="780" dirty="0">
                <a:solidFill>
                  <a:srgbClr val="FFFFFF"/>
                </a:solidFill>
              </a:rPr>
              <a:t> (prior) skews conclusions, especially for rare events.</a:t>
            </a:r>
            <a:endParaRPr lang="en-US" sz="780" dirty="0"/>
          </a:p>
        </p:txBody>
      </p:sp>
      <p:sp>
        <p:nvSpPr>
          <p:cNvPr id="17" name="Shape 13"/>
          <p:cNvSpPr/>
          <p:nvPr/>
        </p:nvSpPr>
        <p:spPr>
          <a:xfrm>
            <a:off x="3376594" y="1916311"/>
            <a:ext cx="2390784" cy="385763"/>
          </a:xfrm>
          <a:prstGeom prst="rect">
            <a:avLst/>
          </a:prstGeom>
          <a:solidFill>
            <a:srgbClr val="E74C3C">
              <a:alpha val="15000"/>
            </a:srgbClr>
          </a:solidFill>
          <a:ln/>
        </p:spPr>
        <p:txBody>
          <a:bodyPr/>
          <a:lstStyle/>
          <a:p>
            <a:endParaRPr lang="en-US"/>
          </a:p>
        </p:txBody>
      </p:sp>
      <p:sp>
        <p:nvSpPr>
          <p:cNvPr id="18" name="Text 14"/>
          <p:cNvSpPr/>
          <p:nvPr/>
        </p:nvSpPr>
        <p:spPr>
          <a:xfrm>
            <a:off x="3462319" y="1959173"/>
            <a:ext cx="2219334" cy="300038"/>
          </a:xfrm>
          <a:prstGeom prst="rect">
            <a:avLst/>
          </a:prstGeom>
          <a:noFill/>
          <a:ln/>
        </p:spPr>
        <p:txBody>
          <a:bodyPr wrap="square" lIns="0" tIns="0" rIns="0" bIns="0" rtlCol="0" anchor="t">
            <a:spAutoFit/>
          </a:bodyPr>
          <a:lstStyle/>
          <a:p>
            <a:pPr marL="0" indent="0" algn="l">
              <a:lnSpc>
                <a:spcPts val="1200"/>
              </a:lnSpc>
              <a:buNone/>
            </a:pPr>
            <a:r>
              <a:rPr lang="en-US" sz="727" dirty="0">
                <a:solidFill>
                  <a:srgbClr val="FFFFFF"/>
                </a:solidFill>
              </a:rPr>
              <a:t>❌ WRONG: A 95% accurate test ⇒ 95% chance if positive.</a:t>
            </a:r>
            <a:endParaRPr lang="en-US" sz="727" dirty="0"/>
          </a:p>
        </p:txBody>
      </p:sp>
      <p:sp>
        <p:nvSpPr>
          <p:cNvPr id="19" name="Shape 15"/>
          <p:cNvSpPr/>
          <p:nvPr/>
        </p:nvSpPr>
        <p:spPr>
          <a:xfrm>
            <a:off x="3376594" y="2344936"/>
            <a:ext cx="2390784" cy="385763"/>
          </a:xfrm>
          <a:prstGeom prst="rect">
            <a:avLst/>
          </a:prstGeom>
          <a:solidFill>
            <a:srgbClr val="2ECC71">
              <a:alpha val="15000"/>
            </a:srgbClr>
          </a:solidFill>
          <a:ln/>
        </p:spPr>
        <p:txBody>
          <a:bodyPr/>
          <a:lstStyle/>
          <a:p>
            <a:endParaRPr lang="en-US"/>
          </a:p>
        </p:txBody>
      </p:sp>
      <p:sp>
        <p:nvSpPr>
          <p:cNvPr id="20" name="Text 16"/>
          <p:cNvSpPr/>
          <p:nvPr/>
        </p:nvSpPr>
        <p:spPr>
          <a:xfrm>
            <a:off x="3462319" y="2387798"/>
            <a:ext cx="2219334" cy="300038"/>
          </a:xfrm>
          <a:prstGeom prst="rect">
            <a:avLst/>
          </a:prstGeom>
          <a:noFill/>
          <a:ln/>
        </p:spPr>
        <p:txBody>
          <a:bodyPr wrap="square" lIns="0" tIns="0" rIns="0" bIns="0" rtlCol="0" anchor="t">
            <a:spAutoFit/>
          </a:bodyPr>
          <a:lstStyle/>
          <a:p>
            <a:pPr marL="0" indent="0" algn="l">
              <a:lnSpc>
                <a:spcPts val="1200"/>
              </a:lnSpc>
              <a:buNone/>
            </a:pPr>
            <a:r>
              <a:rPr lang="en-US" sz="727" dirty="0">
                <a:solidFill>
                  <a:srgbClr val="FFFFFF"/>
                </a:solidFill>
              </a:rPr>
              <a:t>✓ CORRECT: Include prior P(Disease). If disease is rare (e.g., 0.1%), many positives are false.</a:t>
            </a:r>
            <a:endParaRPr lang="en-US" sz="727" dirty="0"/>
          </a:p>
        </p:txBody>
      </p:sp>
      <p:sp>
        <p:nvSpPr>
          <p:cNvPr id="21" name="Shape 17"/>
          <p:cNvSpPr/>
          <p:nvPr/>
        </p:nvSpPr>
        <p:spPr>
          <a:xfrm>
            <a:off x="6095991" y="966192"/>
            <a:ext cx="2647931" cy="1948458"/>
          </a:xfrm>
          <a:prstGeom prst="rect">
            <a:avLst/>
          </a:prstGeom>
          <a:solidFill>
            <a:srgbClr val="FF6B9D">
              <a:alpha val="10000"/>
            </a:srgbClr>
          </a:solidFill>
          <a:ln/>
        </p:spPr>
        <p:txBody>
          <a:bodyPr/>
          <a:lstStyle/>
          <a:p>
            <a:endParaRPr lang="en-US"/>
          </a:p>
        </p:txBody>
      </p:sp>
      <p:sp>
        <p:nvSpPr>
          <p:cNvPr id="22" name="Text 18"/>
          <p:cNvSpPr/>
          <p:nvPr/>
        </p:nvSpPr>
        <p:spPr>
          <a:xfrm>
            <a:off x="6224578" y="1023342"/>
            <a:ext cx="2390756" cy="273248"/>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FF6B9D"/>
                </a:solidFill>
              </a:rPr>
              <a:t>03</a:t>
            </a:r>
            <a:endParaRPr lang="en-US" sz="1397" dirty="0"/>
          </a:p>
        </p:txBody>
      </p:sp>
      <p:sp>
        <p:nvSpPr>
          <p:cNvPr id="23" name="Text 19"/>
          <p:cNvSpPr/>
          <p:nvPr/>
        </p:nvSpPr>
        <p:spPr>
          <a:xfrm>
            <a:off x="6224578" y="1325166"/>
            <a:ext cx="2390756" cy="367903"/>
          </a:xfrm>
          <a:prstGeom prst="rect">
            <a:avLst/>
          </a:prstGeom>
          <a:noFill/>
          <a:ln/>
        </p:spPr>
        <p:txBody>
          <a:bodyPr wrap="square" lIns="0" tIns="0" rIns="0" bIns="0" rtlCol="0" anchor="t">
            <a:spAutoFit/>
          </a:bodyPr>
          <a:lstStyle/>
          <a:p>
            <a:pPr marL="0" indent="0" algn="l">
              <a:lnSpc>
                <a:spcPts val="1300"/>
              </a:lnSpc>
              <a:buNone/>
            </a:pPr>
            <a:r>
              <a:rPr lang="en-US" sz="936" b="1" dirty="0">
                <a:solidFill>
                  <a:srgbClr val="FF6B9D"/>
                </a:solidFill>
              </a:rPr>
              <a:t>Assuming Independence Incorrectly</a:t>
            </a:r>
            <a:endParaRPr lang="en-US" sz="936" dirty="0"/>
          </a:p>
        </p:txBody>
      </p:sp>
      <p:sp>
        <p:nvSpPr>
          <p:cNvPr id="24" name="Text 20"/>
          <p:cNvSpPr/>
          <p:nvPr/>
        </p:nvSpPr>
        <p:spPr>
          <a:xfrm>
            <a:off x="6224578" y="1735931"/>
            <a:ext cx="2390756" cy="321469"/>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FFFFFF"/>
                </a:solidFill>
              </a:rPr>
              <a:t>Treating </a:t>
            </a:r>
            <a:r>
              <a:rPr lang="en-US" sz="734" b="1" dirty="0">
                <a:solidFill>
                  <a:srgbClr val="FFD93D"/>
                </a:solidFill>
              </a:rPr>
              <a:t>dependent events</a:t>
            </a:r>
            <a:r>
              <a:rPr lang="en-US" sz="780" dirty="0">
                <a:solidFill>
                  <a:srgbClr val="FFFFFF"/>
                </a:solidFill>
              </a:rPr>
              <a:t> as independent gives wrong results.</a:t>
            </a:r>
            <a:endParaRPr lang="en-US" sz="780" dirty="0"/>
          </a:p>
        </p:txBody>
      </p:sp>
      <p:sp>
        <p:nvSpPr>
          <p:cNvPr id="25" name="Shape 21"/>
          <p:cNvSpPr/>
          <p:nvPr/>
        </p:nvSpPr>
        <p:spPr>
          <a:xfrm>
            <a:off x="6224578" y="2100263"/>
            <a:ext cx="2390756" cy="385763"/>
          </a:xfrm>
          <a:prstGeom prst="rect">
            <a:avLst/>
          </a:prstGeom>
          <a:solidFill>
            <a:srgbClr val="E74C3C">
              <a:alpha val="15000"/>
            </a:srgbClr>
          </a:solidFill>
          <a:ln/>
        </p:spPr>
        <p:txBody>
          <a:bodyPr/>
          <a:lstStyle/>
          <a:p>
            <a:endParaRPr lang="en-US"/>
          </a:p>
        </p:txBody>
      </p:sp>
      <p:sp>
        <p:nvSpPr>
          <p:cNvPr id="26" name="Text 22"/>
          <p:cNvSpPr/>
          <p:nvPr/>
        </p:nvSpPr>
        <p:spPr>
          <a:xfrm>
            <a:off x="6310303" y="2143125"/>
            <a:ext cx="2219306" cy="300038"/>
          </a:xfrm>
          <a:prstGeom prst="rect">
            <a:avLst/>
          </a:prstGeom>
          <a:noFill/>
          <a:ln/>
        </p:spPr>
        <p:txBody>
          <a:bodyPr wrap="square" lIns="0" tIns="0" rIns="0" bIns="0" rtlCol="0" anchor="t">
            <a:spAutoFit/>
          </a:bodyPr>
          <a:lstStyle/>
          <a:p>
            <a:pPr marL="0" indent="0" algn="l">
              <a:lnSpc>
                <a:spcPts val="1200"/>
              </a:lnSpc>
              <a:buNone/>
            </a:pPr>
            <a:r>
              <a:rPr lang="en-US" sz="727" dirty="0">
                <a:solidFill>
                  <a:srgbClr val="FFFFFF"/>
                </a:solidFill>
              </a:rPr>
              <a:t>❌ WRONG: Drawing 2 cards: P(2 Aces) = (4/52) × (4/52).</a:t>
            </a:r>
            <a:endParaRPr lang="en-US" sz="727" dirty="0"/>
          </a:p>
        </p:txBody>
      </p:sp>
      <p:sp>
        <p:nvSpPr>
          <p:cNvPr id="27" name="Shape 23"/>
          <p:cNvSpPr/>
          <p:nvPr/>
        </p:nvSpPr>
        <p:spPr>
          <a:xfrm>
            <a:off x="6224578" y="2528888"/>
            <a:ext cx="2390756" cy="385763"/>
          </a:xfrm>
          <a:prstGeom prst="rect">
            <a:avLst/>
          </a:prstGeom>
          <a:solidFill>
            <a:srgbClr val="2ECC71">
              <a:alpha val="15000"/>
            </a:srgbClr>
          </a:solidFill>
          <a:ln/>
        </p:spPr>
        <p:txBody>
          <a:bodyPr/>
          <a:lstStyle/>
          <a:p>
            <a:endParaRPr lang="en-US"/>
          </a:p>
        </p:txBody>
      </p:sp>
      <p:sp>
        <p:nvSpPr>
          <p:cNvPr id="28" name="Text 24"/>
          <p:cNvSpPr/>
          <p:nvPr/>
        </p:nvSpPr>
        <p:spPr>
          <a:xfrm>
            <a:off x="6310303" y="2571750"/>
            <a:ext cx="2219306" cy="300038"/>
          </a:xfrm>
          <a:prstGeom prst="rect">
            <a:avLst/>
          </a:prstGeom>
          <a:noFill/>
          <a:ln/>
        </p:spPr>
        <p:txBody>
          <a:bodyPr wrap="square" lIns="0" tIns="0" rIns="0" bIns="0" rtlCol="0" anchor="t">
            <a:spAutoFit/>
          </a:bodyPr>
          <a:lstStyle/>
          <a:p>
            <a:pPr marL="0" indent="0" algn="l">
              <a:lnSpc>
                <a:spcPts val="1200"/>
              </a:lnSpc>
              <a:buNone/>
            </a:pPr>
            <a:r>
              <a:rPr lang="en-US" sz="727" dirty="0">
                <a:solidFill>
                  <a:srgbClr val="FFFFFF"/>
                </a:solidFill>
              </a:rPr>
              <a:t>✓ CORRECT: After first draw: </a:t>
            </a:r>
            <a:r>
              <a:rPr lang="en-US" sz="683" b="1" dirty="0">
                <a:solidFill>
                  <a:srgbClr val="00D9FF"/>
                </a:solidFill>
              </a:rPr>
              <a:t>P(2 Aces) = (4/52) × (3/51)</a:t>
            </a:r>
            <a:r>
              <a:rPr lang="en-US" sz="727" dirty="0">
                <a:solidFill>
                  <a:srgbClr val="FFFFFF"/>
                </a:solidFill>
              </a:rPr>
              <a:t>. Use conditional probability.</a:t>
            </a:r>
            <a:endParaRPr lang="en-US" sz="727" dirty="0"/>
          </a:p>
        </p:txBody>
      </p:sp>
      <p:sp>
        <p:nvSpPr>
          <p:cNvPr id="29" name="Shape 25"/>
          <p:cNvSpPr/>
          <p:nvPr/>
        </p:nvSpPr>
        <p:spPr>
          <a:xfrm>
            <a:off x="400050" y="2986088"/>
            <a:ext cx="2647931" cy="1948458"/>
          </a:xfrm>
          <a:prstGeom prst="rect">
            <a:avLst/>
          </a:prstGeom>
          <a:solidFill>
            <a:srgbClr val="FF6B9D">
              <a:alpha val="10000"/>
            </a:srgbClr>
          </a:solidFill>
          <a:ln/>
        </p:spPr>
        <p:txBody>
          <a:bodyPr/>
          <a:lstStyle/>
          <a:p>
            <a:endParaRPr lang="en-US"/>
          </a:p>
        </p:txBody>
      </p:sp>
      <p:sp>
        <p:nvSpPr>
          <p:cNvPr id="30" name="Text 26"/>
          <p:cNvSpPr/>
          <p:nvPr/>
        </p:nvSpPr>
        <p:spPr>
          <a:xfrm>
            <a:off x="528638" y="3043238"/>
            <a:ext cx="2390756" cy="273248"/>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FF6B9D"/>
                </a:solidFill>
              </a:rPr>
              <a:t>04</a:t>
            </a:r>
            <a:endParaRPr lang="en-US" sz="1397" dirty="0"/>
          </a:p>
        </p:txBody>
      </p:sp>
      <p:sp>
        <p:nvSpPr>
          <p:cNvPr id="31" name="Text 27"/>
          <p:cNvSpPr/>
          <p:nvPr/>
        </p:nvSpPr>
        <p:spPr>
          <a:xfrm>
            <a:off x="528638" y="3345061"/>
            <a:ext cx="2390756" cy="367903"/>
          </a:xfrm>
          <a:prstGeom prst="rect">
            <a:avLst/>
          </a:prstGeom>
          <a:noFill/>
          <a:ln/>
        </p:spPr>
        <p:txBody>
          <a:bodyPr wrap="square" lIns="0" tIns="0" rIns="0" bIns="0" rtlCol="0" anchor="t">
            <a:spAutoFit/>
          </a:bodyPr>
          <a:lstStyle/>
          <a:p>
            <a:pPr marL="0" indent="0" algn="l">
              <a:lnSpc>
                <a:spcPts val="1300"/>
              </a:lnSpc>
              <a:buNone/>
            </a:pPr>
            <a:r>
              <a:rPr lang="en-US" sz="936" b="1" dirty="0">
                <a:solidFill>
                  <a:srgbClr val="FF6B9D"/>
                </a:solidFill>
              </a:rPr>
              <a:t>Adding Non‑Mutually Exclusive Events</a:t>
            </a:r>
            <a:endParaRPr lang="en-US" sz="936" dirty="0"/>
          </a:p>
        </p:txBody>
      </p:sp>
      <p:sp>
        <p:nvSpPr>
          <p:cNvPr id="32" name="Text 28"/>
          <p:cNvSpPr/>
          <p:nvPr/>
        </p:nvSpPr>
        <p:spPr>
          <a:xfrm>
            <a:off x="528638" y="3755827"/>
            <a:ext cx="2390756" cy="321469"/>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FFFFFF"/>
                </a:solidFill>
              </a:rPr>
              <a:t>Using simple addition can cause </a:t>
            </a:r>
            <a:r>
              <a:rPr lang="en-US" sz="734" b="1" dirty="0">
                <a:solidFill>
                  <a:srgbClr val="FFD93D"/>
                </a:solidFill>
              </a:rPr>
              <a:t>double counting</a:t>
            </a:r>
            <a:r>
              <a:rPr lang="en-US" sz="780" dirty="0">
                <a:solidFill>
                  <a:srgbClr val="FFFFFF"/>
                </a:solidFill>
              </a:rPr>
              <a:t> when events overlap.</a:t>
            </a:r>
            <a:endParaRPr lang="en-US" sz="780" dirty="0"/>
          </a:p>
        </p:txBody>
      </p:sp>
      <p:sp>
        <p:nvSpPr>
          <p:cNvPr id="33" name="Shape 29"/>
          <p:cNvSpPr/>
          <p:nvPr/>
        </p:nvSpPr>
        <p:spPr>
          <a:xfrm>
            <a:off x="528638" y="4120158"/>
            <a:ext cx="2390756" cy="385763"/>
          </a:xfrm>
          <a:prstGeom prst="rect">
            <a:avLst/>
          </a:prstGeom>
          <a:solidFill>
            <a:srgbClr val="E74C3C">
              <a:alpha val="15000"/>
            </a:srgbClr>
          </a:solidFill>
          <a:ln/>
        </p:spPr>
        <p:txBody>
          <a:bodyPr/>
          <a:lstStyle/>
          <a:p>
            <a:endParaRPr lang="en-US"/>
          </a:p>
        </p:txBody>
      </p:sp>
      <p:sp>
        <p:nvSpPr>
          <p:cNvPr id="34" name="Text 30"/>
          <p:cNvSpPr/>
          <p:nvPr/>
        </p:nvSpPr>
        <p:spPr>
          <a:xfrm>
            <a:off x="614363" y="4163020"/>
            <a:ext cx="2219306" cy="300038"/>
          </a:xfrm>
          <a:prstGeom prst="rect">
            <a:avLst/>
          </a:prstGeom>
          <a:noFill/>
          <a:ln/>
        </p:spPr>
        <p:txBody>
          <a:bodyPr wrap="square" lIns="0" tIns="0" rIns="0" bIns="0" rtlCol="0" anchor="t">
            <a:spAutoFit/>
          </a:bodyPr>
          <a:lstStyle/>
          <a:p>
            <a:pPr marL="0" indent="0" algn="l">
              <a:lnSpc>
                <a:spcPts val="1200"/>
              </a:lnSpc>
              <a:buNone/>
            </a:pPr>
            <a:r>
              <a:rPr lang="en-US" sz="727" dirty="0">
                <a:solidFill>
                  <a:srgbClr val="FFFFFF"/>
                </a:solidFill>
              </a:rPr>
              <a:t>❌ WRONG: P(King or Heart) = 4/52 + 13/52 = 17/52 (counts King of Hearts twice).</a:t>
            </a:r>
            <a:endParaRPr lang="en-US" sz="727" dirty="0"/>
          </a:p>
        </p:txBody>
      </p:sp>
      <p:sp>
        <p:nvSpPr>
          <p:cNvPr id="35" name="Shape 31"/>
          <p:cNvSpPr/>
          <p:nvPr/>
        </p:nvSpPr>
        <p:spPr>
          <a:xfrm>
            <a:off x="528638" y="4548783"/>
            <a:ext cx="2390756" cy="385763"/>
          </a:xfrm>
          <a:prstGeom prst="rect">
            <a:avLst/>
          </a:prstGeom>
          <a:solidFill>
            <a:srgbClr val="2ECC71">
              <a:alpha val="15000"/>
            </a:srgbClr>
          </a:solidFill>
          <a:ln/>
        </p:spPr>
        <p:txBody>
          <a:bodyPr/>
          <a:lstStyle/>
          <a:p>
            <a:endParaRPr lang="en-US"/>
          </a:p>
        </p:txBody>
      </p:sp>
      <p:sp>
        <p:nvSpPr>
          <p:cNvPr id="36" name="Text 32"/>
          <p:cNvSpPr/>
          <p:nvPr/>
        </p:nvSpPr>
        <p:spPr>
          <a:xfrm>
            <a:off x="614363" y="4591645"/>
            <a:ext cx="2219306" cy="300038"/>
          </a:xfrm>
          <a:prstGeom prst="rect">
            <a:avLst/>
          </a:prstGeom>
          <a:noFill/>
          <a:ln/>
        </p:spPr>
        <p:txBody>
          <a:bodyPr wrap="square" lIns="0" tIns="0" rIns="0" bIns="0" rtlCol="0" anchor="t">
            <a:spAutoFit/>
          </a:bodyPr>
          <a:lstStyle/>
          <a:p>
            <a:pPr marL="0" indent="0" algn="l">
              <a:lnSpc>
                <a:spcPts val="1200"/>
              </a:lnSpc>
              <a:buNone/>
            </a:pPr>
            <a:r>
              <a:rPr lang="en-US" sz="727" dirty="0">
                <a:solidFill>
                  <a:srgbClr val="FFFFFF"/>
                </a:solidFill>
              </a:rPr>
              <a:t>✓ CORRECT: </a:t>
            </a:r>
            <a:r>
              <a:rPr lang="en-US" sz="683" b="1" dirty="0">
                <a:solidFill>
                  <a:srgbClr val="00D9FF"/>
                </a:solidFill>
              </a:rPr>
              <a:t>General addition rule</a:t>
            </a:r>
            <a:r>
              <a:rPr lang="en-US" sz="727" dirty="0">
                <a:solidFill>
                  <a:srgbClr val="FFFFFF"/>
                </a:solidFill>
              </a:rPr>
              <a:t>: </a:t>
            </a:r>
            <a:r>
              <a:rPr lang="en-US" sz="683" b="1" dirty="0">
                <a:solidFill>
                  <a:srgbClr val="00D9FF"/>
                </a:solidFill>
              </a:rPr>
              <a:t>P(A ∪ B) = P(A) + P(B) − P(A ∩ B)</a:t>
            </a:r>
            <a:r>
              <a:rPr lang="en-US" sz="727" dirty="0">
                <a:solidFill>
                  <a:srgbClr val="FFFFFF"/>
                </a:solidFill>
              </a:rPr>
              <a:t>; here 16/52.</a:t>
            </a:r>
            <a:endParaRPr lang="en-US" sz="727" dirty="0"/>
          </a:p>
        </p:txBody>
      </p:sp>
      <p:sp>
        <p:nvSpPr>
          <p:cNvPr id="37" name="Shape 33"/>
          <p:cNvSpPr/>
          <p:nvPr/>
        </p:nvSpPr>
        <p:spPr>
          <a:xfrm>
            <a:off x="3248006" y="2986088"/>
            <a:ext cx="2647959" cy="1948458"/>
          </a:xfrm>
          <a:prstGeom prst="rect">
            <a:avLst/>
          </a:prstGeom>
          <a:solidFill>
            <a:srgbClr val="FF6B9D">
              <a:alpha val="10000"/>
            </a:srgbClr>
          </a:solidFill>
          <a:ln/>
        </p:spPr>
        <p:txBody>
          <a:bodyPr/>
          <a:lstStyle/>
          <a:p>
            <a:endParaRPr lang="en-US"/>
          </a:p>
        </p:txBody>
      </p:sp>
      <p:sp>
        <p:nvSpPr>
          <p:cNvPr id="38" name="Text 34"/>
          <p:cNvSpPr/>
          <p:nvPr/>
        </p:nvSpPr>
        <p:spPr>
          <a:xfrm>
            <a:off x="3376594" y="3043238"/>
            <a:ext cx="2390784" cy="273248"/>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FF6B9D"/>
                </a:solidFill>
              </a:rPr>
              <a:t>05</a:t>
            </a:r>
            <a:endParaRPr lang="en-US" sz="1397" dirty="0"/>
          </a:p>
        </p:txBody>
      </p:sp>
      <p:sp>
        <p:nvSpPr>
          <p:cNvPr id="39" name="Text 35"/>
          <p:cNvSpPr/>
          <p:nvPr/>
        </p:nvSpPr>
        <p:spPr>
          <a:xfrm>
            <a:off x="3376594" y="3345061"/>
            <a:ext cx="2390784" cy="183952"/>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FF6B9D"/>
                </a:solidFill>
              </a:rPr>
              <a:t>Gambler's Fallacy</a:t>
            </a:r>
            <a:endParaRPr lang="en-US" sz="936" dirty="0"/>
          </a:p>
        </p:txBody>
      </p:sp>
      <p:sp>
        <p:nvSpPr>
          <p:cNvPr id="40" name="Text 36"/>
          <p:cNvSpPr/>
          <p:nvPr/>
        </p:nvSpPr>
        <p:spPr>
          <a:xfrm>
            <a:off x="3376594" y="3571875"/>
            <a:ext cx="2390784" cy="321469"/>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FFFFFF"/>
                </a:solidFill>
              </a:rPr>
              <a:t>Past outcomes don't change future odds in </a:t>
            </a:r>
            <a:r>
              <a:rPr lang="en-US" sz="734" b="1" dirty="0">
                <a:solidFill>
                  <a:srgbClr val="FFD93D"/>
                </a:solidFill>
              </a:rPr>
              <a:t>independent</a:t>
            </a:r>
            <a:r>
              <a:rPr lang="en-US" sz="780" dirty="0">
                <a:solidFill>
                  <a:srgbClr val="FFFFFF"/>
                </a:solidFill>
              </a:rPr>
              <a:t> events.</a:t>
            </a:r>
            <a:endParaRPr lang="en-US" sz="780" dirty="0"/>
          </a:p>
        </p:txBody>
      </p:sp>
      <p:sp>
        <p:nvSpPr>
          <p:cNvPr id="41" name="Shape 37"/>
          <p:cNvSpPr/>
          <p:nvPr/>
        </p:nvSpPr>
        <p:spPr>
          <a:xfrm>
            <a:off x="3376594" y="3936206"/>
            <a:ext cx="2390784" cy="235744"/>
          </a:xfrm>
          <a:prstGeom prst="rect">
            <a:avLst/>
          </a:prstGeom>
          <a:solidFill>
            <a:srgbClr val="E74C3C">
              <a:alpha val="15000"/>
            </a:srgbClr>
          </a:solidFill>
          <a:ln/>
        </p:spPr>
        <p:txBody>
          <a:bodyPr/>
          <a:lstStyle/>
          <a:p>
            <a:endParaRPr lang="en-US"/>
          </a:p>
        </p:txBody>
      </p:sp>
      <p:sp>
        <p:nvSpPr>
          <p:cNvPr id="42" name="Text 38"/>
          <p:cNvSpPr/>
          <p:nvPr/>
        </p:nvSpPr>
        <p:spPr>
          <a:xfrm>
            <a:off x="3462319" y="3979069"/>
            <a:ext cx="2219334" cy="150019"/>
          </a:xfrm>
          <a:prstGeom prst="rect">
            <a:avLst/>
          </a:prstGeom>
          <a:noFill/>
          <a:ln/>
        </p:spPr>
        <p:txBody>
          <a:bodyPr wrap="none" lIns="0" tIns="0" rIns="0" bIns="0" rtlCol="0" anchor="t">
            <a:spAutoFit/>
          </a:bodyPr>
          <a:lstStyle/>
          <a:p>
            <a:pPr marL="0" indent="0" algn="l">
              <a:lnSpc>
                <a:spcPts val="1200"/>
              </a:lnSpc>
              <a:buNone/>
            </a:pPr>
            <a:r>
              <a:rPr lang="en-US" sz="727" dirty="0">
                <a:solidFill>
                  <a:srgbClr val="FFFFFF"/>
                </a:solidFill>
              </a:rPr>
              <a:t>❌ WRONG: After 5 heads, tails is "due".</a:t>
            </a:r>
            <a:endParaRPr lang="en-US" sz="727" dirty="0"/>
          </a:p>
        </p:txBody>
      </p:sp>
      <p:sp>
        <p:nvSpPr>
          <p:cNvPr id="43" name="Shape 39"/>
          <p:cNvSpPr/>
          <p:nvPr/>
        </p:nvSpPr>
        <p:spPr>
          <a:xfrm>
            <a:off x="3376594" y="4214813"/>
            <a:ext cx="2390784" cy="385763"/>
          </a:xfrm>
          <a:prstGeom prst="rect">
            <a:avLst/>
          </a:prstGeom>
          <a:solidFill>
            <a:srgbClr val="2ECC71">
              <a:alpha val="15000"/>
            </a:srgbClr>
          </a:solidFill>
          <a:ln/>
        </p:spPr>
        <p:txBody>
          <a:bodyPr/>
          <a:lstStyle/>
          <a:p>
            <a:endParaRPr lang="en-US"/>
          </a:p>
        </p:txBody>
      </p:sp>
      <p:sp>
        <p:nvSpPr>
          <p:cNvPr id="44" name="Text 40"/>
          <p:cNvSpPr/>
          <p:nvPr/>
        </p:nvSpPr>
        <p:spPr>
          <a:xfrm>
            <a:off x="3462319" y="4257675"/>
            <a:ext cx="2219334" cy="300038"/>
          </a:xfrm>
          <a:prstGeom prst="rect">
            <a:avLst/>
          </a:prstGeom>
          <a:noFill/>
          <a:ln/>
        </p:spPr>
        <p:txBody>
          <a:bodyPr wrap="square" lIns="0" tIns="0" rIns="0" bIns="0" rtlCol="0" anchor="t">
            <a:spAutoFit/>
          </a:bodyPr>
          <a:lstStyle/>
          <a:p>
            <a:pPr marL="0" indent="0" algn="l">
              <a:lnSpc>
                <a:spcPts val="1200"/>
              </a:lnSpc>
              <a:buNone/>
            </a:pPr>
            <a:r>
              <a:rPr lang="en-US" sz="727" dirty="0">
                <a:solidFill>
                  <a:srgbClr val="FFFFFF"/>
                </a:solidFill>
              </a:rPr>
              <a:t>✓ CORRECT: Each flip is still 50–50; the coin has no memory.</a:t>
            </a:r>
            <a:endParaRPr lang="en-US" sz="727" dirty="0"/>
          </a:p>
        </p:txBody>
      </p:sp>
      <p:sp>
        <p:nvSpPr>
          <p:cNvPr id="45" name="Shape 41"/>
          <p:cNvSpPr/>
          <p:nvPr/>
        </p:nvSpPr>
        <p:spPr>
          <a:xfrm>
            <a:off x="6095991" y="2986088"/>
            <a:ext cx="2647931" cy="1948458"/>
          </a:xfrm>
          <a:prstGeom prst="rect">
            <a:avLst/>
          </a:prstGeom>
          <a:solidFill>
            <a:srgbClr val="FF6B9D">
              <a:alpha val="10000"/>
            </a:srgbClr>
          </a:solidFill>
          <a:ln/>
        </p:spPr>
        <p:txBody>
          <a:bodyPr/>
          <a:lstStyle/>
          <a:p>
            <a:endParaRPr lang="en-US"/>
          </a:p>
        </p:txBody>
      </p:sp>
      <p:sp>
        <p:nvSpPr>
          <p:cNvPr id="46" name="Text 42"/>
          <p:cNvSpPr/>
          <p:nvPr/>
        </p:nvSpPr>
        <p:spPr>
          <a:xfrm>
            <a:off x="6224578" y="3043238"/>
            <a:ext cx="2390756" cy="273248"/>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FF6B9D"/>
                </a:solidFill>
              </a:rPr>
              <a:t>06</a:t>
            </a:r>
            <a:endParaRPr lang="en-US" sz="1397" dirty="0"/>
          </a:p>
        </p:txBody>
      </p:sp>
      <p:sp>
        <p:nvSpPr>
          <p:cNvPr id="47" name="Text 43"/>
          <p:cNvSpPr/>
          <p:nvPr/>
        </p:nvSpPr>
        <p:spPr>
          <a:xfrm>
            <a:off x="6224578" y="3345061"/>
            <a:ext cx="2390756" cy="367903"/>
          </a:xfrm>
          <a:prstGeom prst="rect">
            <a:avLst/>
          </a:prstGeom>
          <a:noFill/>
          <a:ln/>
        </p:spPr>
        <p:txBody>
          <a:bodyPr wrap="square" lIns="0" tIns="0" rIns="0" bIns="0" rtlCol="0" anchor="t">
            <a:spAutoFit/>
          </a:bodyPr>
          <a:lstStyle/>
          <a:p>
            <a:pPr marL="0" indent="0" algn="l">
              <a:lnSpc>
                <a:spcPts val="1300"/>
              </a:lnSpc>
              <a:buNone/>
            </a:pPr>
            <a:r>
              <a:rPr lang="en-US" sz="936" b="1" dirty="0">
                <a:solidFill>
                  <a:srgbClr val="FF6B9D"/>
                </a:solidFill>
              </a:rPr>
              <a:t>Multiplying Without Checking Independence</a:t>
            </a:r>
            <a:endParaRPr lang="en-US" sz="936" dirty="0"/>
          </a:p>
        </p:txBody>
      </p:sp>
      <p:sp>
        <p:nvSpPr>
          <p:cNvPr id="48" name="Text 44"/>
          <p:cNvSpPr/>
          <p:nvPr/>
        </p:nvSpPr>
        <p:spPr>
          <a:xfrm>
            <a:off x="6224578" y="3755827"/>
            <a:ext cx="2390756" cy="321469"/>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FFFFFF"/>
                </a:solidFill>
              </a:rPr>
              <a:t>Using P(A ∩ B) = P(A) × P(B) when events are </a:t>
            </a:r>
            <a:r>
              <a:rPr lang="en-US" sz="734" b="1" dirty="0">
                <a:solidFill>
                  <a:srgbClr val="FFD93D"/>
                </a:solidFill>
              </a:rPr>
              <a:t>not independent</a:t>
            </a:r>
            <a:r>
              <a:rPr lang="en-US" sz="780" dirty="0">
                <a:solidFill>
                  <a:srgbClr val="FFFFFF"/>
                </a:solidFill>
              </a:rPr>
              <a:t>.</a:t>
            </a:r>
            <a:endParaRPr lang="en-US" sz="780" dirty="0"/>
          </a:p>
        </p:txBody>
      </p:sp>
      <p:sp>
        <p:nvSpPr>
          <p:cNvPr id="49" name="Shape 45"/>
          <p:cNvSpPr/>
          <p:nvPr/>
        </p:nvSpPr>
        <p:spPr>
          <a:xfrm>
            <a:off x="6224578" y="4120158"/>
            <a:ext cx="2390756" cy="385763"/>
          </a:xfrm>
          <a:prstGeom prst="rect">
            <a:avLst/>
          </a:prstGeom>
          <a:solidFill>
            <a:srgbClr val="E74C3C">
              <a:alpha val="15000"/>
            </a:srgbClr>
          </a:solidFill>
          <a:ln/>
        </p:spPr>
        <p:txBody>
          <a:bodyPr/>
          <a:lstStyle/>
          <a:p>
            <a:endParaRPr lang="en-US"/>
          </a:p>
        </p:txBody>
      </p:sp>
      <p:sp>
        <p:nvSpPr>
          <p:cNvPr id="50" name="Text 46"/>
          <p:cNvSpPr/>
          <p:nvPr/>
        </p:nvSpPr>
        <p:spPr>
          <a:xfrm>
            <a:off x="6310303" y="4163020"/>
            <a:ext cx="2219306" cy="300038"/>
          </a:xfrm>
          <a:prstGeom prst="rect">
            <a:avLst/>
          </a:prstGeom>
          <a:noFill/>
          <a:ln/>
        </p:spPr>
        <p:txBody>
          <a:bodyPr wrap="square" lIns="0" tIns="0" rIns="0" bIns="0" rtlCol="0" anchor="t">
            <a:spAutoFit/>
          </a:bodyPr>
          <a:lstStyle/>
          <a:p>
            <a:pPr marL="0" indent="0" algn="l">
              <a:lnSpc>
                <a:spcPts val="1200"/>
              </a:lnSpc>
              <a:buNone/>
            </a:pPr>
            <a:r>
              <a:rPr lang="en-US" sz="727" dirty="0">
                <a:solidFill>
                  <a:srgbClr val="FFFFFF"/>
                </a:solidFill>
              </a:rPr>
              <a:t>❌ WRONG: P(Rain today AND tomorrow) = P(today) × P(tomorrow).</a:t>
            </a:r>
            <a:endParaRPr lang="en-US" sz="727" dirty="0"/>
          </a:p>
        </p:txBody>
      </p:sp>
      <p:sp>
        <p:nvSpPr>
          <p:cNvPr id="51" name="Shape 47"/>
          <p:cNvSpPr/>
          <p:nvPr/>
        </p:nvSpPr>
        <p:spPr>
          <a:xfrm>
            <a:off x="6224578" y="4548783"/>
            <a:ext cx="2390756" cy="385763"/>
          </a:xfrm>
          <a:prstGeom prst="rect">
            <a:avLst/>
          </a:prstGeom>
          <a:solidFill>
            <a:srgbClr val="2ECC71">
              <a:alpha val="15000"/>
            </a:srgbClr>
          </a:solidFill>
          <a:ln/>
        </p:spPr>
        <p:txBody>
          <a:bodyPr/>
          <a:lstStyle/>
          <a:p>
            <a:endParaRPr lang="en-US"/>
          </a:p>
        </p:txBody>
      </p:sp>
      <p:sp>
        <p:nvSpPr>
          <p:cNvPr id="52" name="Text 48"/>
          <p:cNvSpPr/>
          <p:nvPr/>
        </p:nvSpPr>
        <p:spPr>
          <a:xfrm>
            <a:off x="6310303" y="4591645"/>
            <a:ext cx="2219306" cy="300038"/>
          </a:xfrm>
          <a:prstGeom prst="rect">
            <a:avLst/>
          </a:prstGeom>
          <a:noFill/>
          <a:ln/>
        </p:spPr>
        <p:txBody>
          <a:bodyPr wrap="square" lIns="0" tIns="0" rIns="0" bIns="0" rtlCol="0" anchor="t">
            <a:spAutoFit/>
          </a:bodyPr>
          <a:lstStyle/>
          <a:p>
            <a:pPr marL="0" indent="0" algn="l">
              <a:lnSpc>
                <a:spcPts val="1200"/>
              </a:lnSpc>
              <a:buNone/>
            </a:pPr>
            <a:r>
              <a:rPr lang="en-US" sz="727" dirty="0">
                <a:solidFill>
                  <a:srgbClr val="FFFFFF"/>
                </a:solidFill>
              </a:rPr>
              <a:t>✓ CORRECT: </a:t>
            </a:r>
            <a:r>
              <a:rPr lang="en-US" sz="683" b="1" dirty="0">
                <a:solidFill>
                  <a:srgbClr val="00D9FF"/>
                </a:solidFill>
              </a:rPr>
              <a:t>General multiplication rule</a:t>
            </a:r>
            <a:r>
              <a:rPr lang="en-US" sz="727" dirty="0">
                <a:solidFill>
                  <a:srgbClr val="FFFFFF"/>
                </a:solidFill>
              </a:rPr>
              <a:t>: </a:t>
            </a:r>
            <a:r>
              <a:rPr lang="en-US" sz="683" b="1" dirty="0">
                <a:solidFill>
                  <a:srgbClr val="00D9FF"/>
                </a:solidFill>
              </a:rPr>
              <a:t>P(A ∩ B) = P(A) × P(B|A)</a:t>
            </a:r>
            <a:r>
              <a:rPr lang="en-US" sz="727" dirty="0">
                <a:solidFill>
                  <a:srgbClr val="FFFFFF"/>
                </a:solidFill>
              </a:rPr>
              <a:t>.</a:t>
            </a:r>
            <a:endParaRPr lang="en-US" sz="727"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0" y="357188"/>
            <a:ext cx="9144000" cy="466130"/>
          </a:xfrm>
          <a:prstGeom prst="rect">
            <a:avLst/>
          </a:prstGeom>
          <a:noFill/>
          <a:ln/>
        </p:spPr>
        <p:txBody>
          <a:bodyPr wrap="none" lIns="0" tIns="0" rIns="0" bIns="0" rtlCol="0" anchor="t">
            <a:spAutoFit/>
          </a:bodyPr>
          <a:lstStyle/>
          <a:p>
            <a:pPr marL="0" indent="0" algn="ctr">
              <a:lnSpc>
                <a:spcPts val="3200"/>
              </a:lnSpc>
              <a:buNone/>
            </a:pPr>
            <a:r>
              <a:rPr lang="en-US" sz="2436" b="1" dirty="0">
                <a:solidFill>
                  <a:srgbClr val="00D9FF"/>
                </a:solidFill>
              </a:rPr>
              <a:t>Problem-Solving Strategy</a:t>
            </a:r>
            <a:endParaRPr lang="en-US" sz="2436" dirty="0"/>
          </a:p>
        </p:txBody>
      </p:sp>
      <p:sp>
        <p:nvSpPr>
          <p:cNvPr id="5" name="Text 1"/>
          <p:cNvSpPr/>
          <p:nvPr/>
        </p:nvSpPr>
        <p:spPr>
          <a:xfrm>
            <a:off x="0" y="880467"/>
            <a:ext cx="9144000" cy="175022"/>
          </a:xfrm>
          <a:prstGeom prst="rect">
            <a:avLst/>
          </a:prstGeom>
          <a:noFill/>
          <a:ln/>
        </p:spPr>
        <p:txBody>
          <a:bodyPr wrap="none" lIns="0" tIns="0" rIns="0" bIns="0" rtlCol="0" anchor="t">
            <a:spAutoFit/>
          </a:bodyPr>
          <a:lstStyle/>
          <a:p>
            <a:pPr marL="0" indent="0" algn="ctr">
              <a:lnSpc>
                <a:spcPts val="1200"/>
              </a:lnSpc>
              <a:buNone/>
            </a:pPr>
            <a:r>
              <a:rPr lang="en-US" sz="942" dirty="0">
                <a:solidFill>
                  <a:srgbClr val="FFD93D"/>
                </a:solidFill>
              </a:rPr>
              <a:t>A Systematic Approach to Probability Problems</a:t>
            </a:r>
            <a:endParaRPr lang="en-US" sz="942" dirty="0"/>
          </a:p>
        </p:txBody>
      </p:sp>
      <p:sp>
        <p:nvSpPr>
          <p:cNvPr id="6" name="Text 2"/>
          <p:cNvSpPr/>
          <p:nvPr/>
        </p:nvSpPr>
        <p:spPr>
          <a:xfrm>
            <a:off x="500063" y="1162645"/>
            <a:ext cx="4693444"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FFD93D"/>
                </a:solidFill>
              </a:rPr>
              <a:t>Step-by-Step Process</a:t>
            </a:r>
            <a:endParaRPr lang="en-US" sz="1193" dirty="0"/>
          </a:p>
        </p:txBody>
      </p:sp>
      <p:sp>
        <p:nvSpPr>
          <p:cNvPr id="7" name="Shape 3"/>
          <p:cNvSpPr/>
          <p:nvPr/>
        </p:nvSpPr>
        <p:spPr>
          <a:xfrm>
            <a:off x="500063" y="1468041"/>
            <a:ext cx="4693444" cy="3493294"/>
          </a:xfrm>
          <a:prstGeom prst="rect">
            <a:avLst/>
          </a:prstGeom>
          <a:solidFill>
            <a:srgbClr val="00D9FF">
              <a:alpha val="10000"/>
            </a:srgbClr>
          </a:solidFill>
          <a:ln/>
        </p:spPr>
        <p:txBody>
          <a:bodyPr/>
          <a:lstStyle/>
          <a:p>
            <a:endParaRPr lang="en-US"/>
          </a:p>
        </p:txBody>
      </p:sp>
      <p:sp>
        <p:nvSpPr>
          <p:cNvPr id="8" name="Text 4"/>
          <p:cNvSpPr/>
          <p:nvPr/>
        </p:nvSpPr>
        <p:spPr>
          <a:xfrm>
            <a:off x="678656" y="1525191"/>
            <a:ext cx="321469" cy="273248"/>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FF6B9D"/>
                </a:solidFill>
              </a:rPr>
              <a:t>1</a:t>
            </a:r>
            <a:endParaRPr lang="en-US" sz="1397" dirty="0"/>
          </a:p>
        </p:txBody>
      </p:sp>
      <p:sp>
        <p:nvSpPr>
          <p:cNvPr id="9" name="Text 5"/>
          <p:cNvSpPr/>
          <p:nvPr/>
        </p:nvSpPr>
        <p:spPr>
          <a:xfrm>
            <a:off x="1029844" y="1525191"/>
            <a:ext cx="3979069" cy="175022"/>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FFD93D"/>
                </a:solidFill>
              </a:rPr>
              <a:t>Read and Understand the Problem</a:t>
            </a:r>
            <a:endParaRPr lang="en-US" sz="885" dirty="0"/>
          </a:p>
        </p:txBody>
      </p:sp>
      <p:sp>
        <p:nvSpPr>
          <p:cNvPr id="10" name="Text 6"/>
          <p:cNvSpPr/>
          <p:nvPr/>
        </p:nvSpPr>
        <p:spPr>
          <a:xfrm>
            <a:off x="1029844" y="1728788"/>
            <a:ext cx="3979069" cy="321469"/>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FFFFFF"/>
                </a:solidFill>
              </a:rPr>
              <a:t>Carefully read the problem. Identify what is asked. Mark key information and the question.</a:t>
            </a:r>
            <a:endParaRPr lang="en-US" sz="780" dirty="0"/>
          </a:p>
        </p:txBody>
      </p:sp>
      <p:sp>
        <p:nvSpPr>
          <p:cNvPr id="11" name="Text 7"/>
          <p:cNvSpPr/>
          <p:nvPr/>
        </p:nvSpPr>
        <p:spPr>
          <a:xfrm>
            <a:off x="678656" y="2107406"/>
            <a:ext cx="321469" cy="273248"/>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FF6B9D"/>
                </a:solidFill>
              </a:rPr>
              <a:t>2</a:t>
            </a:r>
            <a:endParaRPr lang="en-US" sz="1397" dirty="0"/>
          </a:p>
        </p:txBody>
      </p:sp>
      <p:sp>
        <p:nvSpPr>
          <p:cNvPr id="12" name="Text 8"/>
          <p:cNvSpPr/>
          <p:nvPr/>
        </p:nvSpPr>
        <p:spPr>
          <a:xfrm>
            <a:off x="1029844" y="2107406"/>
            <a:ext cx="3979069" cy="175022"/>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FFD93D"/>
                </a:solidFill>
              </a:rPr>
              <a:t>Define the Sample Space and Events</a:t>
            </a:r>
            <a:endParaRPr lang="en-US" sz="885" dirty="0"/>
          </a:p>
        </p:txBody>
      </p:sp>
      <p:sp>
        <p:nvSpPr>
          <p:cNvPr id="13" name="Text 9"/>
          <p:cNvSpPr/>
          <p:nvPr/>
        </p:nvSpPr>
        <p:spPr>
          <a:xfrm>
            <a:off x="1029844" y="2311003"/>
            <a:ext cx="3979069" cy="321469"/>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FFFFFF"/>
                </a:solidFill>
              </a:rPr>
              <a:t>List all outcomes (sample space S). Define events with set notation. Example: A = "even number".</a:t>
            </a:r>
            <a:endParaRPr lang="en-US" sz="780" dirty="0"/>
          </a:p>
        </p:txBody>
      </p:sp>
      <p:sp>
        <p:nvSpPr>
          <p:cNvPr id="14" name="Text 10"/>
          <p:cNvSpPr/>
          <p:nvPr/>
        </p:nvSpPr>
        <p:spPr>
          <a:xfrm>
            <a:off x="678656" y="2689622"/>
            <a:ext cx="321469" cy="273248"/>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FF6B9D"/>
                </a:solidFill>
              </a:rPr>
              <a:t>3</a:t>
            </a:r>
            <a:endParaRPr lang="en-US" sz="1397" dirty="0"/>
          </a:p>
        </p:txBody>
      </p:sp>
      <p:sp>
        <p:nvSpPr>
          <p:cNvPr id="15" name="Text 11"/>
          <p:cNvSpPr/>
          <p:nvPr/>
        </p:nvSpPr>
        <p:spPr>
          <a:xfrm>
            <a:off x="1029844" y="2689622"/>
            <a:ext cx="3979069" cy="175022"/>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FFD93D"/>
                </a:solidFill>
              </a:rPr>
              <a:t>Identify the Problem Type</a:t>
            </a:r>
            <a:endParaRPr lang="en-US" sz="885" dirty="0"/>
          </a:p>
        </p:txBody>
      </p:sp>
      <p:sp>
        <p:nvSpPr>
          <p:cNvPr id="16" name="Text 12"/>
          <p:cNvSpPr/>
          <p:nvPr/>
        </p:nvSpPr>
        <p:spPr>
          <a:xfrm>
            <a:off x="1029844" y="2893219"/>
            <a:ext cx="3979069" cy="321469"/>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FFFFFF"/>
                </a:solidFill>
              </a:rPr>
              <a:t>Is it </a:t>
            </a:r>
            <a:r>
              <a:rPr lang="en-US" sz="734" b="1" dirty="0">
                <a:solidFill>
                  <a:srgbClr val="FF6B9D"/>
                </a:solidFill>
              </a:rPr>
              <a:t>marginal, joint, or conditional</a:t>
            </a:r>
            <a:r>
              <a:rPr lang="en-US" sz="780" dirty="0">
                <a:solidFill>
                  <a:srgbClr val="FFFFFF"/>
                </a:solidFill>
              </a:rPr>
              <a:t>? </a:t>
            </a:r>
            <a:r>
              <a:rPr lang="en-US" sz="734" b="1" dirty="0">
                <a:solidFill>
                  <a:srgbClr val="FF6B9D"/>
                </a:solidFill>
              </a:rPr>
              <a:t>Independent or dependent</a:t>
            </a:r>
            <a:r>
              <a:rPr lang="en-US" sz="780" dirty="0">
                <a:solidFill>
                  <a:srgbClr val="FFFFFF"/>
                </a:solidFill>
              </a:rPr>
              <a:t>? Use </a:t>
            </a:r>
            <a:r>
              <a:rPr lang="en-US" sz="734" b="1" dirty="0">
                <a:solidFill>
                  <a:srgbClr val="FF6B9D"/>
                </a:solidFill>
              </a:rPr>
              <a:t>addition or multiplication</a:t>
            </a:r>
            <a:r>
              <a:rPr lang="en-US" sz="780" dirty="0">
                <a:solidFill>
                  <a:srgbClr val="FFFFFF"/>
                </a:solidFill>
              </a:rPr>
              <a:t>?</a:t>
            </a:r>
            <a:endParaRPr lang="en-US" sz="780" dirty="0"/>
          </a:p>
        </p:txBody>
      </p:sp>
      <p:sp>
        <p:nvSpPr>
          <p:cNvPr id="17" name="Text 13"/>
          <p:cNvSpPr/>
          <p:nvPr/>
        </p:nvSpPr>
        <p:spPr>
          <a:xfrm>
            <a:off x="678656" y="3271838"/>
            <a:ext cx="321469" cy="273248"/>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FF6B9D"/>
                </a:solidFill>
              </a:rPr>
              <a:t>4</a:t>
            </a:r>
            <a:endParaRPr lang="en-US" sz="1397" dirty="0"/>
          </a:p>
        </p:txBody>
      </p:sp>
      <p:sp>
        <p:nvSpPr>
          <p:cNvPr id="18" name="Text 14"/>
          <p:cNvSpPr/>
          <p:nvPr/>
        </p:nvSpPr>
        <p:spPr>
          <a:xfrm>
            <a:off x="1029844" y="3271838"/>
            <a:ext cx="3979069" cy="175022"/>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FFD93D"/>
                </a:solidFill>
              </a:rPr>
              <a:t>Choose the Appropriate Formula/Rule</a:t>
            </a:r>
            <a:endParaRPr lang="en-US" sz="885" dirty="0"/>
          </a:p>
        </p:txBody>
      </p:sp>
      <p:sp>
        <p:nvSpPr>
          <p:cNvPr id="19" name="Text 15"/>
          <p:cNvSpPr/>
          <p:nvPr/>
        </p:nvSpPr>
        <p:spPr>
          <a:xfrm>
            <a:off x="1029844" y="3475434"/>
            <a:ext cx="3979069" cy="321469"/>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FFFFFF"/>
                </a:solidFill>
              </a:rPr>
              <a:t>Choose: Addition Rule, Multiplication Rule, Conditional Probability, Bayes' Theorem, or Total Probability.</a:t>
            </a:r>
            <a:endParaRPr lang="en-US" sz="780" dirty="0"/>
          </a:p>
        </p:txBody>
      </p:sp>
      <p:sp>
        <p:nvSpPr>
          <p:cNvPr id="20" name="Text 16"/>
          <p:cNvSpPr/>
          <p:nvPr/>
        </p:nvSpPr>
        <p:spPr>
          <a:xfrm>
            <a:off x="678656" y="3854053"/>
            <a:ext cx="321469" cy="273248"/>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FF6B9D"/>
                </a:solidFill>
              </a:rPr>
              <a:t>5</a:t>
            </a:r>
            <a:endParaRPr lang="en-US" sz="1397" dirty="0"/>
          </a:p>
        </p:txBody>
      </p:sp>
      <p:sp>
        <p:nvSpPr>
          <p:cNvPr id="21" name="Text 17"/>
          <p:cNvSpPr/>
          <p:nvPr/>
        </p:nvSpPr>
        <p:spPr>
          <a:xfrm>
            <a:off x="1029844" y="3854053"/>
            <a:ext cx="3979069" cy="175022"/>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FFD93D"/>
                </a:solidFill>
              </a:rPr>
              <a:t>Calculate Step-by-Step</a:t>
            </a:r>
            <a:endParaRPr lang="en-US" sz="885" dirty="0"/>
          </a:p>
        </p:txBody>
      </p:sp>
      <p:sp>
        <p:nvSpPr>
          <p:cNvPr id="22" name="Text 18"/>
          <p:cNvSpPr/>
          <p:nvPr/>
        </p:nvSpPr>
        <p:spPr>
          <a:xfrm>
            <a:off x="1029844" y="4057650"/>
            <a:ext cx="3979069" cy="321469"/>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FFFFFF"/>
                </a:solidFill>
              </a:rPr>
              <a:t>Show steps clearly. Break complex work. Label each probability. Use fractions or precise decimals.</a:t>
            </a:r>
            <a:endParaRPr lang="en-US" sz="780" dirty="0"/>
          </a:p>
        </p:txBody>
      </p:sp>
      <p:sp>
        <p:nvSpPr>
          <p:cNvPr id="23" name="Text 19"/>
          <p:cNvSpPr/>
          <p:nvPr/>
        </p:nvSpPr>
        <p:spPr>
          <a:xfrm>
            <a:off x="678656" y="4436269"/>
            <a:ext cx="321469" cy="273248"/>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FF6B9D"/>
                </a:solidFill>
              </a:rPr>
              <a:t>6</a:t>
            </a:r>
            <a:endParaRPr lang="en-US" sz="1397" dirty="0"/>
          </a:p>
        </p:txBody>
      </p:sp>
      <p:sp>
        <p:nvSpPr>
          <p:cNvPr id="24" name="Text 20"/>
          <p:cNvSpPr/>
          <p:nvPr/>
        </p:nvSpPr>
        <p:spPr>
          <a:xfrm>
            <a:off x="1029844" y="4436269"/>
            <a:ext cx="3979069" cy="175022"/>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FFD93D"/>
                </a:solidFill>
              </a:rPr>
              <a:t>Verify and Interpret</a:t>
            </a:r>
            <a:endParaRPr lang="en-US" sz="885" dirty="0"/>
          </a:p>
        </p:txBody>
      </p:sp>
      <p:sp>
        <p:nvSpPr>
          <p:cNvPr id="25" name="Text 21"/>
          <p:cNvSpPr/>
          <p:nvPr/>
        </p:nvSpPr>
        <p:spPr>
          <a:xfrm>
            <a:off x="1029844" y="4639866"/>
            <a:ext cx="3979069" cy="321469"/>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FFFFFF"/>
                </a:solidFill>
              </a:rPr>
              <a:t>Ensure the answer is between 0 and 1. Interpret in context: "The probability that... is..."</a:t>
            </a:r>
            <a:endParaRPr lang="en-US" sz="780" dirty="0"/>
          </a:p>
        </p:txBody>
      </p:sp>
      <p:sp>
        <p:nvSpPr>
          <p:cNvPr id="26" name="Shape 22"/>
          <p:cNvSpPr/>
          <p:nvPr/>
        </p:nvSpPr>
        <p:spPr>
          <a:xfrm>
            <a:off x="5514975" y="1162645"/>
            <a:ext cx="3128963" cy="1275159"/>
          </a:xfrm>
          <a:prstGeom prst="rect">
            <a:avLst/>
          </a:prstGeom>
          <a:solidFill>
            <a:srgbClr val="FFD73D">
              <a:alpha val="10000"/>
            </a:srgbClr>
          </a:solidFill>
          <a:ln/>
        </p:spPr>
        <p:txBody>
          <a:bodyPr/>
          <a:lstStyle/>
          <a:p>
            <a:endParaRPr lang="en-US"/>
          </a:p>
        </p:txBody>
      </p:sp>
      <p:sp>
        <p:nvSpPr>
          <p:cNvPr id="27" name="Text 23"/>
          <p:cNvSpPr/>
          <p:nvPr/>
        </p:nvSpPr>
        <p:spPr>
          <a:xfrm>
            <a:off x="5693569" y="1234083"/>
            <a:ext cx="2771775" cy="214313"/>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FFD93D"/>
                </a:solidFill>
              </a:rPr>
              <a:t>Tips for Success</a:t>
            </a:r>
            <a:endParaRPr lang="en-US" sz="1090" dirty="0"/>
          </a:p>
        </p:txBody>
      </p:sp>
      <p:sp>
        <p:nvSpPr>
          <p:cNvPr id="28" name="Text 24"/>
          <p:cNvSpPr/>
          <p:nvPr/>
        </p:nvSpPr>
        <p:spPr>
          <a:xfrm>
            <a:off x="5872163" y="1512689"/>
            <a:ext cx="537177" cy="146447"/>
          </a:xfrm>
          <a:prstGeom prst="rect">
            <a:avLst/>
          </a:prstGeom>
          <a:noFill/>
          <a:ln/>
        </p:spPr>
        <p:txBody>
          <a:bodyPr wrap="none" lIns="0" tIns="0" rIns="0" bIns="0" rtlCol="0" anchor="t">
            <a:spAutoFit/>
          </a:bodyPr>
          <a:lstStyle/>
          <a:p>
            <a:pPr marL="0" indent="0" algn="l">
              <a:lnSpc>
                <a:spcPts val="1300"/>
              </a:lnSpc>
              <a:buNone/>
            </a:pPr>
            <a:r>
              <a:rPr lang="en-US" sz="734" b="1" dirty="0">
                <a:solidFill>
                  <a:srgbClr val="FF6B9D"/>
                </a:solidFill>
              </a:rPr>
              <a:t>Keywords:</a:t>
            </a:r>
            <a:endParaRPr lang="en-US" sz="734" dirty="0"/>
          </a:p>
        </p:txBody>
      </p:sp>
      <p:sp>
        <p:nvSpPr>
          <p:cNvPr id="29" name="Text 25"/>
          <p:cNvSpPr/>
          <p:nvPr/>
        </p:nvSpPr>
        <p:spPr>
          <a:xfrm>
            <a:off x="6409339" y="1512689"/>
            <a:ext cx="1476189" cy="146447"/>
          </a:xfrm>
          <a:prstGeom prst="rect">
            <a:avLst/>
          </a:prstGeom>
          <a:noFill/>
          <a:ln/>
        </p:spPr>
        <p:txBody>
          <a:bodyPr wrap="none" lIns="0" tIns="0" rIns="0" bIns="0" rtlCol="0" anchor="t">
            <a:spAutoFit/>
          </a:bodyPr>
          <a:lstStyle/>
          <a:p>
            <a:pPr marL="0" indent="0" algn="l">
              <a:lnSpc>
                <a:spcPts val="1300"/>
              </a:lnSpc>
              <a:buNone/>
            </a:pPr>
            <a:r>
              <a:rPr lang="en-US" sz="780" dirty="0">
                <a:solidFill>
                  <a:srgbClr val="FFFFFF"/>
                </a:solidFill>
              </a:rPr>
              <a:t>"and" → multiply, "or" → add</a:t>
            </a:r>
            <a:endParaRPr lang="en-US" sz="780" dirty="0"/>
          </a:p>
        </p:txBody>
      </p:sp>
      <p:sp>
        <p:nvSpPr>
          <p:cNvPr id="30" name="Text 26"/>
          <p:cNvSpPr/>
          <p:nvPr/>
        </p:nvSpPr>
        <p:spPr>
          <a:xfrm>
            <a:off x="5872163" y="1716286"/>
            <a:ext cx="1114648" cy="146447"/>
          </a:xfrm>
          <a:prstGeom prst="rect">
            <a:avLst/>
          </a:prstGeom>
          <a:noFill/>
          <a:ln/>
        </p:spPr>
        <p:txBody>
          <a:bodyPr wrap="none" lIns="0" tIns="0" rIns="0" bIns="0" rtlCol="0" anchor="t">
            <a:spAutoFit/>
          </a:bodyPr>
          <a:lstStyle/>
          <a:p>
            <a:pPr marL="0" indent="0" algn="l">
              <a:lnSpc>
                <a:spcPts val="1300"/>
              </a:lnSpc>
              <a:buNone/>
            </a:pPr>
            <a:r>
              <a:rPr lang="en-US" sz="734" b="1" dirty="0">
                <a:solidFill>
                  <a:srgbClr val="FF6B9D"/>
                </a:solidFill>
              </a:rPr>
              <a:t>Check independence:</a:t>
            </a:r>
            <a:endParaRPr lang="en-US" sz="734" dirty="0"/>
          </a:p>
        </p:txBody>
      </p:sp>
      <p:sp>
        <p:nvSpPr>
          <p:cNvPr id="31" name="Text 27"/>
          <p:cNvSpPr/>
          <p:nvPr/>
        </p:nvSpPr>
        <p:spPr>
          <a:xfrm>
            <a:off x="5872163" y="1716286"/>
            <a:ext cx="2415760" cy="307181"/>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FFFFFF"/>
                </a:solidFill>
              </a:rPr>
              <a:t>does one event affect the other?</a:t>
            </a:r>
            <a:endParaRPr lang="en-US" sz="780" dirty="0"/>
          </a:p>
        </p:txBody>
      </p:sp>
      <p:sp>
        <p:nvSpPr>
          <p:cNvPr id="32" name="Text 28"/>
          <p:cNvSpPr/>
          <p:nvPr/>
        </p:nvSpPr>
        <p:spPr>
          <a:xfrm>
            <a:off x="5872163" y="2080617"/>
            <a:ext cx="965802" cy="146447"/>
          </a:xfrm>
          <a:prstGeom prst="rect">
            <a:avLst/>
          </a:prstGeom>
          <a:noFill/>
          <a:ln/>
        </p:spPr>
        <p:txBody>
          <a:bodyPr wrap="none" lIns="0" tIns="0" rIns="0" bIns="0" rtlCol="0" anchor="t">
            <a:spAutoFit/>
          </a:bodyPr>
          <a:lstStyle/>
          <a:p>
            <a:pPr marL="0" indent="0" algn="l">
              <a:lnSpc>
                <a:spcPts val="1300"/>
              </a:lnSpc>
              <a:buNone/>
            </a:pPr>
            <a:r>
              <a:rPr lang="en-US" sz="734" b="1" dirty="0">
                <a:solidFill>
                  <a:srgbClr val="FF6B9D"/>
                </a:solidFill>
              </a:rPr>
              <a:t>Use complements:</a:t>
            </a:r>
            <a:endParaRPr lang="en-US" sz="734" dirty="0"/>
          </a:p>
        </p:txBody>
      </p:sp>
      <p:sp>
        <p:nvSpPr>
          <p:cNvPr id="33" name="Text 29"/>
          <p:cNvSpPr/>
          <p:nvPr/>
        </p:nvSpPr>
        <p:spPr>
          <a:xfrm>
            <a:off x="6837964" y="2080617"/>
            <a:ext cx="733183" cy="146447"/>
          </a:xfrm>
          <a:prstGeom prst="rect">
            <a:avLst/>
          </a:prstGeom>
          <a:noFill/>
          <a:ln/>
        </p:spPr>
        <p:txBody>
          <a:bodyPr wrap="none" lIns="0" tIns="0" rIns="0" bIns="0" rtlCol="0" anchor="t">
            <a:spAutoFit/>
          </a:bodyPr>
          <a:lstStyle/>
          <a:p>
            <a:pPr marL="0" indent="0" algn="l">
              <a:lnSpc>
                <a:spcPts val="1300"/>
              </a:lnSpc>
              <a:buNone/>
            </a:pPr>
            <a:r>
              <a:rPr lang="en-US" sz="780" dirty="0">
                <a:solidFill>
                  <a:srgbClr val="FFFFFF"/>
                </a:solidFill>
              </a:rPr>
              <a:t>P(A') = 1 − P(A)</a:t>
            </a:r>
            <a:endParaRPr lang="en-US" sz="780" dirty="0"/>
          </a:p>
        </p:txBody>
      </p:sp>
      <p:sp>
        <p:nvSpPr>
          <p:cNvPr id="34" name="Text 30"/>
          <p:cNvSpPr/>
          <p:nvPr/>
        </p:nvSpPr>
        <p:spPr>
          <a:xfrm>
            <a:off x="5872163" y="2284214"/>
            <a:ext cx="768428" cy="146447"/>
          </a:xfrm>
          <a:prstGeom prst="rect">
            <a:avLst/>
          </a:prstGeom>
          <a:noFill/>
          <a:ln/>
        </p:spPr>
        <p:txBody>
          <a:bodyPr wrap="none" lIns="0" tIns="0" rIns="0" bIns="0" rtlCol="0" anchor="t">
            <a:spAutoFit/>
          </a:bodyPr>
          <a:lstStyle/>
          <a:p>
            <a:pPr marL="0" indent="0" algn="l">
              <a:lnSpc>
                <a:spcPts val="1300"/>
              </a:lnSpc>
              <a:buNone/>
            </a:pPr>
            <a:r>
              <a:rPr lang="en-US" sz="734" b="1" dirty="0">
                <a:solidFill>
                  <a:srgbClr val="FF6B9D"/>
                </a:solidFill>
              </a:rPr>
              <a:t>Organize data:</a:t>
            </a:r>
            <a:endParaRPr lang="en-US" sz="734" dirty="0"/>
          </a:p>
        </p:txBody>
      </p:sp>
      <p:sp>
        <p:nvSpPr>
          <p:cNvPr id="35" name="Text 31"/>
          <p:cNvSpPr/>
          <p:nvPr/>
        </p:nvSpPr>
        <p:spPr>
          <a:xfrm>
            <a:off x="6640590" y="2284214"/>
            <a:ext cx="941496" cy="146447"/>
          </a:xfrm>
          <a:prstGeom prst="rect">
            <a:avLst/>
          </a:prstGeom>
          <a:noFill/>
          <a:ln/>
        </p:spPr>
        <p:txBody>
          <a:bodyPr wrap="none" lIns="0" tIns="0" rIns="0" bIns="0" rtlCol="0" anchor="t">
            <a:spAutoFit/>
          </a:bodyPr>
          <a:lstStyle/>
          <a:p>
            <a:pPr marL="0" indent="0" algn="l">
              <a:lnSpc>
                <a:spcPts val="1300"/>
              </a:lnSpc>
              <a:buNone/>
            </a:pPr>
            <a:r>
              <a:rPr lang="en-US" sz="780" dirty="0">
                <a:solidFill>
                  <a:srgbClr val="FFFFFF"/>
                </a:solidFill>
              </a:rPr>
              <a:t>tables or lists help</a:t>
            </a:r>
            <a:endParaRPr lang="en-US" sz="780" dirty="0"/>
          </a:p>
        </p:txBody>
      </p:sp>
      <p:sp>
        <p:nvSpPr>
          <p:cNvPr id="36" name="Shape 32"/>
          <p:cNvSpPr/>
          <p:nvPr/>
        </p:nvSpPr>
        <p:spPr>
          <a:xfrm>
            <a:off x="5514975" y="2523530"/>
            <a:ext cx="3128963" cy="1114425"/>
          </a:xfrm>
          <a:prstGeom prst="rect">
            <a:avLst/>
          </a:prstGeom>
          <a:solidFill>
            <a:srgbClr val="FF6B9D">
              <a:alpha val="10000"/>
            </a:srgbClr>
          </a:solidFill>
          <a:ln/>
        </p:spPr>
        <p:txBody>
          <a:bodyPr/>
          <a:lstStyle/>
          <a:p>
            <a:endParaRPr lang="en-US"/>
          </a:p>
        </p:txBody>
      </p:sp>
      <p:sp>
        <p:nvSpPr>
          <p:cNvPr id="37" name="Text 33"/>
          <p:cNvSpPr/>
          <p:nvPr/>
        </p:nvSpPr>
        <p:spPr>
          <a:xfrm>
            <a:off x="5693569" y="2594967"/>
            <a:ext cx="2771775" cy="214313"/>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FF6B9D"/>
                </a:solidFill>
              </a:rPr>
              <a:t>Common Pitfalls to Avoid</a:t>
            </a:r>
            <a:endParaRPr lang="en-US" sz="1090" dirty="0"/>
          </a:p>
        </p:txBody>
      </p:sp>
      <p:sp>
        <p:nvSpPr>
          <p:cNvPr id="38" name="Text 34"/>
          <p:cNvSpPr/>
          <p:nvPr/>
        </p:nvSpPr>
        <p:spPr>
          <a:xfrm>
            <a:off x="5872163" y="2873573"/>
            <a:ext cx="1521619" cy="146447"/>
          </a:xfrm>
          <a:prstGeom prst="rect">
            <a:avLst/>
          </a:prstGeom>
          <a:noFill/>
          <a:ln/>
        </p:spPr>
        <p:txBody>
          <a:bodyPr wrap="none" lIns="0" tIns="0" rIns="0" bIns="0" rtlCol="0" anchor="t">
            <a:spAutoFit/>
          </a:bodyPr>
          <a:lstStyle/>
          <a:p>
            <a:pPr marL="0" indent="0" algn="l">
              <a:lnSpc>
                <a:spcPts val="1300"/>
              </a:lnSpc>
              <a:buNone/>
            </a:pPr>
            <a:r>
              <a:rPr lang="en-US" sz="734" b="1" dirty="0">
                <a:solidFill>
                  <a:srgbClr val="FF6B9D"/>
                </a:solidFill>
              </a:rPr>
              <a:t>Confusing P(A|B) with P(B|A)</a:t>
            </a:r>
            <a:endParaRPr lang="en-US" sz="734" dirty="0"/>
          </a:p>
        </p:txBody>
      </p:sp>
      <p:sp>
        <p:nvSpPr>
          <p:cNvPr id="39" name="Text 35"/>
          <p:cNvSpPr/>
          <p:nvPr/>
        </p:nvSpPr>
        <p:spPr>
          <a:xfrm>
            <a:off x="5872163" y="3077170"/>
            <a:ext cx="1284591" cy="146447"/>
          </a:xfrm>
          <a:prstGeom prst="rect">
            <a:avLst/>
          </a:prstGeom>
          <a:noFill/>
          <a:ln/>
        </p:spPr>
        <p:txBody>
          <a:bodyPr wrap="none" lIns="0" tIns="0" rIns="0" bIns="0" rtlCol="0" anchor="t">
            <a:spAutoFit/>
          </a:bodyPr>
          <a:lstStyle/>
          <a:p>
            <a:pPr marL="0" indent="0" algn="l">
              <a:lnSpc>
                <a:spcPts val="1300"/>
              </a:lnSpc>
              <a:buNone/>
            </a:pPr>
            <a:r>
              <a:rPr lang="en-US" sz="734" b="1" dirty="0">
                <a:solidFill>
                  <a:srgbClr val="FF6B9D"/>
                </a:solidFill>
              </a:rPr>
              <a:t>Assuming independence</a:t>
            </a:r>
            <a:endParaRPr lang="en-US" sz="734" dirty="0"/>
          </a:p>
        </p:txBody>
      </p:sp>
      <p:sp>
        <p:nvSpPr>
          <p:cNvPr id="40" name="Text 36"/>
          <p:cNvSpPr/>
          <p:nvPr/>
        </p:nvSpPr>
        <p:spPr>
          <a:xfrm>
            <a:off x="7156754" y="3077170"/>
            <a:ext cx="557213" cy="146447"/>
          </a:xfrm>
          <a:prstGeom prst="rect">
            <a:avLst/>
          </a:prstGeom>
          <a:noFill/>
          <a:ln/>
        </p:spPr>
        <p:txBody>
          <a:bodyPr wrap="none" lIns="0" tIns="0" rIns="0" bIns="0" rtlCol="0" anchor="t">
            <a:spAutoFit/>
          </a:bodyPr>
          <a:lstStyle/>
          <a:p>
            <a:pPr marL="0" indent="0" algn="l">
              <a:lnSpc>
                <a:spcPts val="1300"/>
              </a:lnSpc>
              <a:buNone/>
            </a:pPr>
            <a:r>
              <a:rPr lang="en-US" sz="780" dirty="0">
                <a:solidFill>
                  <a:srgbClr val="FFFFFF"/>
                </a:solidFill>
              </a:rPr>
              <a:t>incorrectly</a:t>
            </a:r>
            <a:endParaRPr lang="en-US" sz="780" dirty="0"/>
          </a:p>
        </p:txBody>
      </p:sp>
      <p:sp>
        <p:nvSpPr>
          <p:cNvPr id="41" name="Text 37"/>
          <p:cNvSpPr/>
          <p:nvPr/>
        </p:nvSpPr>
        <p:spPr>
          <a:xfrm>
            <a:off x="5872163" y="3280767"/>
            <a:ext cx="1056801" cy="146447"/>
          </a:xfrm>
          <a:prstGeom prst="rect">
            <a:avLst/>
          </a:prstGeom>
          <a:noFill/>
          <a:ln/>
        </p:spPr>
        <p:txBody>
          <a:bodyPr wrap="none" lIns="0" tIns="0" rIns="0" bIns="0" rtlCol="0" anchor="t">
            <a:spAutoFit/>
          </a:bodyPr>
          <a:lstStyle/>
          <a:p>
            <a:pPr marL="0" indent="0" algn="l">
              <a:lnSpc>
                <a:spcPts val="1300"/>
              </a:lnSpc>
              <a:buNone/>
            </a:pPr>
            <a:r>
              <a:rPr lang="en-US" sz="734" b="1" dirty="0">
                <a:solidFill>
                  <a:srgbClr val="FF6B9D"/>
                </a:solidFill>
              </a:rPr>
              <a:t>Adding probabilities</a:t>
            </a:r>
            <a:endParaRPr lang="en-US" sz="734" dirty="0"/>
          </a:p>
        </p:txBody>
      </p:sp>
      <p:sp>
        <p:nvSpPr>
          <p:cNvPr id="42" name="Text 38"/>
          <p:cNvSpPr/>
          <p:nvPr/>
        </p:nvSpPr>
        <p:spPr>
          <a:xfrm>
            <a:off x="6928963" y="3280767"/>
            <a:ext cx="1324998" cy="146447"/>
          </a:xfrm>
          <a:prstGeom prst="rect">
            <a:avLst/>
          </a:prstGeom>
          <a:noFill/>
          <a:ln/>
        </p:spPr>
        <p:txBody>
          <a:bodyPr wrap="none" lIns="0" tIns="0" rIns="0" bIns="0" rtlCol="0" anchor="t">
            <a:spAutoFit/>
          </a:bodyPr>
          <a:lstStyle/>
          <a:p>
            <a:pPr marL="0" indent="0" algn="l">
              <a:lnSpc>
                <a:spcPts val="1300"/>
              </a:lnSpc>
              <a:buNone/>
            </a:pPr>
            <a:r>
              <a:rPr lang="en-US" sz="780" dirty="0">
                <a:solidFill>
                  <a:srgbClr val="FFFFFF"/>
                </a:solidFill>
              </a:rPr>
              <a:t>when you should multiply</a:t>
            </a:r>
            <a:endParaRPr lang="en-US" sz="780" dirty="0"/>
          </a:p>
        </p:txBody>
      </p:sp>
      <p:sp>
        <p:nvSpPr>
          <p:cNvPr id="43" name="Text 39"/>
          <p:cNvSpPr/>
          <p:nvPr/>
        </p:nvSpPr>
        <p:spPr>
          <a:xfrm>
            <a:off x="5872163" y="3484364"/>
            <a:ext cx="454995" cy="146447"/>
          </a:xfrm>
          <a:prstGeom prst="rect">
            <a:avLst/>
          </a:prstGeom>
          <a:noFill/>
          <a:ln/>
        </p:spPr>
        <p:txBody>
          <a:bodyPr wrap="none" lIns="0" tIns="0" rIns="0" bIns="0" rtlCol="0" anchor="t">
            <a:spAutoFit/>
          </a:bodyPr>
          <a:lstStyle/>
          <a:p>
            <a:pPr marL="0" indent="0" algn="l">
              <a:lnSpc>
                <a:spcPts val="1300"/>
              </a:lnSpc>
              <a:buNone/>
            </a:pPr>
            <a:r>
              <a:rPr lang="en-US" sz="734" b="1" dirty="0">
                <a:solidFill>
                  <a:srgbClr val="FF6B9D"/>
                </a:solidFill>
              </a:rPr>
              <a:t>Ignoring</a:t>
            </a:r>
            <a:endParaRPr lang="en-US" sz="734" dirty="0"/>
          </a:p>
        </p:txBody>
      </p:sp>
      <p:sp>
        <p:nvSpPr>
          <p:cNvPr id="44" name="Text 40"/>
          <p:cNvSpPr/>
          <p:nvPr/>
        </p:nvSpPr>
        <p:spPr>
          <a:xfrm>
            <a:off x="6327158" y="3484364"/>
            <a:ext cx="1529349" cy="146447"/>
          </a:xfrm>
          <a:prstGeom prst="rect">
            <a:avLst/>
          </a:prstGeom>
          <a:noFill/>
          <a:ln/>
        </p:spPr>
        <p:txBody>
          <a:bodyPr wrap="none" lIns="0" tIns="0" rIns="0" bIns="0" rtlCol="0" anchor="t">
            <a:spAutoFit/>
          </a:bodyPr>
          <a:lstStyle/>
          <a:p>
            <a:pPr marL="0" indent="0" algn="l">
              <a:lnSpc>
                <a:spcPts val="1300"/>
              </a:lnSpc>
              <a:buNone/>
            </a:pPr>
            <a:r>
              <a:rPr lang="en-US" sz="780" dirty="0">
                <a:solidFill>
                  <a:srgbClr val="FFFFFF"/>
                </a:solidFill>
              </a:rPr>
              <a:t>"without replacement" effects</a:t>
            </a:r>
            <a:endParaRPr lang="en-US" sz="780" dirty="0"/>
          </a:p>
        </p:txBody>
      </p:sp>
      <p:sp>
        <p:nvSpPr>
          <p:cNvPr id="45" name="Shape 41"/>
          <p:cNvSpPr/>
          <p:nvPr/>
        </p:nvSpPr>
        <p:spPr>
          <a:xfrm>
            <a:off x="5514975" y="3723680"/>
            <a:ext cx="3128963" cy="1094780"/>
          </a:xfrm>
          <a:prstGeom prst="rect">
            <a:avLst/>
          </a:prstGeom>
          <a:solidFill>
            <a:srgbClr val="00D9FF">
              <a:alpha val="10000"/>
            </a:srgbClr>
          </a:solidFill>
          <a:ln/>
        </p:spPr>
        <p:txBody>
          <a:bodyPr/>
          <a:lstStyle/>
          <a:p>
            <a:endParaRPr lang="en-US"/>
          </a:p>
        </p:txBody>
      </p:sp>
      <p:sp>
        <p:nvSpPr>
          <p:cNvPr id="46" name="Text 42"/>
          <p:cNvSpPr/>
          <p:nvPr/>
        </p:nvSpPr>
        <p:spPr>
          <a:xfrm>
            <a:off x="5693569" y="3795117"/>
            <a:ext cx="2771775"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D9FF"/>
                </a:solidFill>
              </a:rPr>
              <a:t>Final Verification Checklist</a:t>
            </a:r>
            <a:endParaRPr lang="en-US" sz="987" dirty="0"/>
          </a:p>
        </p:txBody>
      </p:sp>
      <p:sp>
        <p:nvSpPr>
          <p:cNvPr id="47" name="Text 43"/>
          <p:cNvSpPr/>
          <p:nvPr/>
        </p:nvSpPr>
        <p:spPr>
          <a:xfrm>
            <a:off x="5872163" y="4046934"/>
            <a:ext cx="2593181" cy="160734"/>
          </a:xfrm>
          <a:prstGeom prst="rect">
            <a:avLst/>
          </a:prstGeom>
          <a:noFill/>
          <a:ln/>
        </p:spPr>
        <p:txBody>
          <a:bodyPr wrap="none" lIns="0" tIns="0" rIns="0" bIns="0" rtlCol="0" anchor="t">
            <a:spAutoFit/>
          </a:bodyPr>
          <a:lstStyle/>
          <a:p>
            <a:pPr marL="0" indent="0" algn="l">
              <a:lnSpc>
                <a:spcPts val="1300"/>
              </a:lnSpc>
              <a:buNone/>
            </a:pPr>
            <a:r>
              <a:rPr lang="en-US" sz="780" dirty="0">
                <a:solidFill>
                  <a:srgbClr val="FFFFFF"/>
                </a:solidFill>
              </a:rPr>
              <a:t>✓ Is 0 ≤ P(event) ≤ 1?</a:t>
            </a:r>
            <a:endParaRPr lang="en-US" sz="780" dirty="0"/>
          </a:p>
        </p:txBody>
      </p:sp>
      <p:sp>
        <p:nvSpPr>
          <p:cNvPr id="48" name="Text 44"/>
          <p:cNvSpPr/>
          <p:nvPr/>
        </p:nvSpPr>
        <p:spPr>
          <a:xfrm>
            <a:off x="5872163" y="4250531"/>
            <a:ext cx="2593181" cy="160734"/>
          </a:xfrm>
          <a:prstGeom prst="rect">
            <a:avLst/>
          </a:prstGeom>
          <a:noFill/>
          <a:ln/>
        </p:spPr>
        <p:txBody>
          <a:bodyPr wrap="none" lIns="0" tIns="0" rIns="0" bIns="0" rtlCol="0" anchor="t">
            <a:spAutoFit/>
          </a:bodyPr>
          <a:lstStyle/>
          <a:p>
            <a:pPr marL="0" indent="0" algn="l">
              <a:lnSpc>
                <a:spcPts val="1300"/>
              </a:lnSpc>
              <a:buNone/>
            </a:pPr>
            <a:r>
              <a:rPr lang="en-US" sz="780" dirty="0">
                <a:solidFill>
                  <a:srgbClr val="FFFFFF"/>
                </a:solidFill>
              </a:rPr>
              <a:t>✓ Did I answer the question asked?</a:t>
            </a:r>
            <a:endParaRPr lang="en-US" sz="780" dirty="0"/>
          </a:p>
        </p:txBody>
      </p:sp>
      <p:sp>
        <p:nvSpPr>
          <p:cNvPr id="49" name="Text 45"/>
          <p:cNvSpPr/>
          <p:nvPr/>
        </p:nvSpPr>
        <p:spPr>
          <a:xfrm>
            <a:off x="5872163" y="4454128"/>
            <a:ext cx="2593181" cy="160734"/>
          </a:xfrm>
          <a:prstGeom prst="rect">
            <a:avLst/>
          </a:prstGeom>
          <a:noFill/>
          <a:ln/>
        </p:spPr>
        <p:txBody>
          <a:bodyPr wrap="none" lIns="0" tIns="0" rIns="0" bIns="0" rtlCol="0" anchor="t">
            <a:spAutoFit/>
          </a:bodyPr>
          <a:lstStyle/>
          <a:p>
            <a:pPr marL="0" indent="0" algn="l">
              <a:lnSpc>
                <a:spcPts val="1300"/>
              </a:lnSpc>
              <a:buNone/>
            </a:pPr>
            <a:r>
              <a:rPr lang="en-US" sz="780" dirty="0">
                <a:solidFill>
                  <a:srgbClr val="FFFFFF"/>
                </a:solidFill>
              </a:rPr>
              <a:t>✓ Are my calculations correct?</a:t>
            </a:r>
            <a:endParaRPr lang="en-US" sz="780" dirty="0"/>
          </a:p>
        </p:txBody>
      </p:sp>
      <p:sp>
        <p:nvSpPr>
          <p:cNvPr id="50" name="Text 46"/>
          <p:cNvSpPr/>
          <p:nvPr/>
        </p:nvSpPr>
        <p:spPr>
          <a:xfrm>
            <a:off x="5872163" y="4657725"/>
            <a:ext cx="2593181" cy="160734"/>
          </a:xfrm>
          <a:prstGeom prst="rect">
            <a:avLst/>
          </a:prstGeom>
          <a:noFill/>
          <a:ln/>
        </p:spPr>
        <p:txBody>
          <a:bodyPr wrap="none" lIns="0" tIns="0" rIns="0" bIns="0" rtlCol="0" anchor="t">
            <a:spAutoFit/>
          </a:bodyPr>
          <a:lstStyle/>
          <a:p>
            <a:pPr marL="0" indent="0" algn="l">
              <a:lnSpc>
                <a:spcPts val="1300"/>
              </a:lnSpc>
              <a:buNone/>
            </a:pPr>
            <a:r>
              <a:rPr lang="en-US" sz="780" dirty="0">
                <a:solidFill>
                  <a:srgbClr val="FFFFFF"/>
                </a:solidFill>
              </a:rPr>
              <a:t>✓ Is the interpretation clear?</a:t>
            </a:r>
            <a:endParaRPr lang="en-US" sz="78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0" y="357188"/>
            <a:ext cx="9144000" cy="466130"/>
          </a:xfrm>
          <a:prstGeom prst="rect">
            <a:avLst/>
          </a:prstGeom>
          <a:noFill/>
          <a:ln/>
        </p:spPr>
        <p:txBody>
          <a:bodyPr wrap="none" lIns="0" tIns="0" rIns="0" bIns="0" rtlCol="0" anchor="t">
            <a:spAutoFit/>
          </a:bodyPr>
          <a:lstStyle/>
          <a:p>
            <a:pPr marL="0" indent="0" algn="ctr">
              <a:lnSpc>
                <a:spcPts val="3200"/>
              </a:lnSpc>
              <a:buNone/>
            </a:pPr>
            <a:r>
              <a:rPr lang="en-US" sz="2436" b="1" dirty="0">
                <a:solidFill>
                  <a:srgbClr val="00D9FF"/>
                </a:solidFill>
              </a:rPr>
              <a:t>Practice Problem 1</a:t>
            </a:r>
            <a:endParaRPr lang="en-US" sz="2436" dirty="0"/>
          </a:p>
        </p:txBody>
      </p:sp>
      <p:sp>
        <p:nvSpPr>
          <p:cNvPr id="5" name="Text 1"/>
          <p:cNvSpPr/>
          <p:nvPr/>
        </p:nvSpPr>
        <p:spPr>
          <a:xfrm>
            <a:off x="0" y="880467"/>
            <a:ext cx="9144000" cy="175022"/>
          </a:xfrm>
          <a:prstGeom prst="rect">
            <a:avLst/>
          </a:prstGeom>
          <a:noFill/>
          <a:ln/>
        </p:spPr>
        <p:txBody>
          <a:bodyPr wrap="none" lIns="0" tIns="0" rIns="0" bIns="0" rtlCol="0" anchor="t">
            <a:spAutoFit/>
          </a:bodyPr>
          <a:lstStyle/>
          <a:p>
            <a:pPr marL="0" indent="0" algn="ctr">
              <a:lnSpc>
                <a:spcPts val="1200"/>
              </a:lnSpc>
              <a:buNone/>
            </a:pPr>
            <a:r>
              <a:rPr lang="en-US" sz="942" dirty="0">
                <a:solidFill>
                  <a:srgbClr val="FFD93D"/>
                </a:solidFill>
              </a:rPr>
              <a:t>Comprehensive Problem: Card Drawing with Multiple Concepts</a:t>
            </a:r>
            <a:endParaRPr lang="en-US" sz="942" dirty="0"/>
          </a:p>
        </p:txBody>
      </p:sp>
      <p:sp>
        <p:nvSpPr>
          <p:cNvPr id="6" name="Shape 2"/>
          <p:cNvSpPr/>
          <p:nvPr/>
        </p:nvSpPr>
        <p:spPr>
          <a:xfrm>
            <a:off x="500063" y="1198364"/>
            <a:ext cx="8143875" cy="1400147"/>
          </a:xfrm>
          <a:prstGeom prst="rect">
            <a:avLst/>
          </a:prstGeom>
          <a:solidFill>
            <a:srgbClr val="FFD73D">
              <a:alpha val="15000"/>
            </a:srgbClr>
          </a:solidFill>
          <a:ln/>
        </p:spPr>
        <p:txBody>
          <a:bodyPr/>
          <a:lstStyle/>
          <a:p>
            <a:endParaRPr lang="en-US"/>
          </a:p>
        </p:txBody>
      </p:sp>
      <p:sp>
        <p:nvSpPr>
          <p:cNvPr id="7" name="Text 3"/>
          <p:cNvSpPr/>
          <p:nvPr/>
        </p:nvSpPr>
        <p:spPr>
          <a:xfrm>
            <a:off x="714375" y="1284089"/>
            <a:ext cx="7715250" cy="214313"/>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FFD93D"/>
                </a:solidFill>
              </a:rPr>
              <a:t>PROBLEM:</a:t>
            </a:r>
            <a:endParaRPr lang="en-US" sz="1090" dirty="0"/>
          </a:p>
        </p:txBody>
      </p:sp>
      <p:sp>
        <p:nvSpPr>
          <p:cNvPr id="8" name="Text 4"/>
          <p:cNvSpPr/>
          <p:nvPr/>
        </p:nvSpPr>
        <p:spPr>
          <a:xfrm>
            <a:off x="714375" y="1555552"/>
            <a:ext cx="7715250" cy="388609"/>
          </a:xfrm>
          <a:prstGeom prst="rect">
            <a:avLst/>
          </a:prstGeom>
          <a:noFill/>
          <a:ln/>
        </p:spPr>
        <p:txBody>
          <a:bodyPr wrap="square" lIns="0" tIns="0" rIns="0" bIns="0" rtlCol="0" anchor="t">
            <a:spAutoFit/>
          </a:bodyPr>
          <a:lstStyle/>
          <a:p>
            <a:pPr marL="0" indent="0" algn="l">
              <a:lnSpc>
                <a:spcPts val="1500"/>
              </a:lnSpc>
              <a:buNone/>
            </a:pPr>
            <a:r>
              <a:rPr lang="en-US" sz="888" dirty="0">
                <a:solidFill>
                  <a:srgbClr val="FFFFFF"/>
                </a:solidFill>
              </a:rPr>
              <a:t>A standard deck of 52 cards contains 4 suits (Hearts, Diamonds, Clubs, Spades) with 13 cards each. You draw one card, note it, and return it to the deck (with replacement). Then you draw a second card.</a:t>
            </a:r>
            <a:endParaRPr lang="en-US" sz="888" dirty="0"/>
          </a:p>
        </p:txBody>
      </p:sp>
      <p:sp>
        <p:nvSpPr>
          <p:cNvPr id="9" name="Text 5"/>
          <p:cNvSpPr/>
          <p:nvPr/>
        </p:nvSpPr>
        <p:spPr>
          <a:xfrm>
            <a:off x="714375" y="2015598"/>
            <a:ext cx="7715250" cy="582913"/>
          </a:xfrm>
          <a:prstGeom prst="rect">
            <a:avLst/>
          </a:prstGeom>
          <a:noFill/>
          <a:ln/>
        </p:spPr>
        <p:txBody>
          <a:bodyPr wrap="square" lIns="0" tIns="0" rIns="0" bIns="0" rtlCol="0" anchor="t">
            <a:spAutoFit/>
          </a:bodyPr>
          <a:lstStyle/>
          <a:p>
            <a:pPr marL="0" indent="0" algn="l">
              <a:lnSpc>
                <a:spcPts val="1500"/>
              </a:lnSpc>
              <a:buNone/>
            </a:pPr>
            <a:r>
              <a:rPr lang="en-US" sz="834" b="1" dirty="0">
                <a:solidFill>
                  <a:srgbClr val="FFFFFF"/>
                </a:solidFill>
              </a:rPr>
              <a:t>(a)</a:t>
            </a:r>
            <a:r>
              <a:rPr lang="en-US" sz="888" dirty="0">
                <a:solidFill>
                  <a:srgbClr val="FFFFFF"/>
                </a:solidFill>
              </a:rPr>
              <a:t> What is the probability that both cards are Hearts?
</a:t>
            </a:r>
            <a:r>
              <a:rPr lang="en-US" sz="834" b="1" dirty="0">
                <a:solidFill>
                  <a:srgbClr val="FFFFFF"/>
                </a:solidFill>
              </a:rPr>
              <a:t>(b)</a:t>
            </a:r>
            <a:r>
              <a:rPr lang="en-US" sz="888" dirty="0">
                <a:solidFill>
                  <a:srgbClr val="FFFFFF"/>
                </a:solidFill>
              </a:rPr>
              <a:t> What is the probability that the first card is a King and the second card is a Heart?
</a:t>
            </a:r>
            <a:r>
              <a:rPr lang="en-US" sz="834" b="1" dirty="0">
                <a:solidFill>
                  <a:srgbClr val="FFFFFF"/>
                </a:solidFill>
              </a:rPr>
              <a:t>(c)</a:t>
            </a:r>
            <a:r>
              <a:rPr lang="en-US" sz="888" dirty="0">
                <a:solidFill>
                  <a:srgbClr val="FFFFFF"/>
                </a:solidFill>
              </a:rPr>
              <a:t> What is the probability that you draw at least one Ace in the two draws?</a:t>
            </a:r>
            <a:endParaRPr lang="en-US" sz="834" dirty="0"/>
          </a:p>
        </p:txBody>
      </p:sp>
      <p:sp>
        <p:nvSpPr>
          <p:cNvPr id="10" name="Text 6"/>
          <p:cNvSpPr/>
          <p:nvPr/>
        </p:nvSpPr>
        <p:spPr>
          <a:xfrm>
            <a:off x="500063" y="2727099"/>
            <a:ext cx="5107781"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00D9FF"/>
                </a:solidFill>
              </a:rPr>
              <a:t>Quick Solution</a:t>
            </a:r>
            <a:endParaRPr lang="en-US" sz="1193" dirty="0"/>
          </a:p>
        </p:txBody>
      </p:sp>
      <p:sp>
        <p:nvSpPr>
          <p:cNvPr id="11" name="Text 7"/>
          <p:cNvSpPr/>
          <p:nvPr/>
        </p:nvSpPr>
        <p:spPr>
          <a:xfrm>
            <a:off x="500063" y="3068213"/>
            <a:ext cx="5107781" cy="342900"/>
          </a:xfrm>
          <a:prstGeom prst="rect">
            <a:avLst/>
          </a:prstGeom>
          <a:noFill/>
          <a:ln/>
        </p:spPr>
        <p:txBody>
          <a:bodyPr wrap="square" lIns="0" tIns="0" rIns="0" bIns="0" rtlCol="0" anchor="t">
            <a:spAutoFit/>
          </a:bodyPr>
          <a:lstStyle/>
          <a:p>
            <a:pPr marL="0" indent="0" algn="l">
              <a:lnSpc>
                <a:spcPts val="1400"/>
              </a:lnSpc>
              <a:buNone/>
            </a:pPr>
            <a:r>
              <a:rPr lang="en-US" sz="780" dirty="0">
                <a:solidFill>
                  <a:srgbClr val="FFFFFF"/>
                </a:solidFill>
              </a:rPr>
              <a:t>With replacement ⇒ independence. Use multiplication for "and" events and the complement for "at least one".</a:t>
            </a:r>
            <a:endParaRPr lang="en-US" sz="780" dirty="0"/>
          </a:p>
        </p:txBody>
      </p:sp>
      <p:sp>
        <p:nvSpPr>
          <p:cNvPr id="12" name="Shape 8"/>
          <p:cNvSpPr/>
          <p:nvPr/>
        </p:nvSpPr>
        <p:spPr>
          <a:xfrm>
            <a:off x="500063" y="3468263"/>
            <a:ext cx="5107781" cy="870059"/>
          </a:xfrm>
          <a:prstGeom prst="rect">
            <a:avLst/>
          </a:prstGeom>
          <a:solidFill>
            <a:srgbClr val="2ECC71">
              <a:alpha val="20000"/>
            </a:srgbClr>
          </a:solidFill>
          <a:ln/>
        </p:spPr>
        <p:txBody>
          <a:bodyPr/>
          <a:lstStyle/>
          <a:p>
            <a:endParaRPr lang="en-US"/>
          </a:p>
        </p:txBody>
      </p:sp>
      <p:sp>
        <p:nvSpPr>
          <p:cNvPr id="13" name="Text 9"/>
          <p:cNvSpPr/>
          <p:nvPr/>
        </p:nvSpPr>
        <p:spPr>
          <a:xfrm>
            <a:off x="678656" y="3539700"/>
            <a:ext cx="4750594" cy="207169"/>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2ECC71"/>
                </a:solidFill>
              </a:rPr>
              <a:t>✓ FINAL ANSWERS:</a:t>
            </a:r>
            <a:endParaRPr lang="en-US" sz="987" dirty="0"/>
          </a:p>
        </p:txBody>
      </p:sp>
      <p:sp>
        <p:nvSpPr>
          <p:cNvPr id="14" name="Text 10"/>
          <p:cNvSpPr/>
          <p:nvPr/>
        </p:nvSpPr>
        <p:spPr>
          <a:xfrm>
            <a:off x="678656" y="3789731"/>
            <a:ext cx="4750594" cy="548590"/>
          </a:xfrm>
          <a:prstGeom prst="rect">
            <a:avLst/>
          </a:prstGeom>
          <a:noFill/>
          <a:ln/>
        </p:spPr>
        <p:txBody>
          <a:bodyPr wrap="square" lIns="0" tIns="0" rIns="0" bIns="0" rtlCol="0" anchor="t">
            <a:spAutoFit/>
          </a:bodyPr>
          <a:lstStyle/>
          <a:p>
            <a:pPr marL="0" indent="0" algn="l">
              <a:lnSpc>
                <a:spcPts val="1400"/>
              </a:lnSpc>
              <a:buNone/>
            </a:pPr>
            <a:r>
              <a:rPr lang="en-US" sz="784" b="1" dirty="0">
                <a:solidFill>
                  <a:srgbClr val="FFFFFF"/>
                </a:solidFill>
              </a:rPr>
              <a:t>(a)</a:t>
            </a:r>
            <a:r>
              <a:rPr lang="en-US" sz="834" dirty="0">
                <a:solidFill>
                  <a:srgbClr val="FFFFFF"/>
                </a:solidFill>
              </a:rPr>
              <a:t> P(Both Hearts) = (13/52)^2 = 1/16 = </a:t>
            </a:r>
            <a:r>
              <a:rPr lang="en-US" sz="784" b="1" dirty="0">
                <a:solidFill>
                  <a:srgbClr val="FF6B9D"/>
                </a:solidFill>
              </a:rPr>
              <a:t>0.0625</a:t>
            </a:r>
            <a:r>
              <a:rPr lang="en-US" sz="834" dirty="0">
                <a:solidFill>
                  <a:srgbClr val="FFFFFF"/>
                </a:solidFill>
              </a:rPr>
              <a:t> or </a:t>
            </a:r>
            <a:r>
              <a:rPr lang="en-US" sz="784" b="1" dirty="0">
                <a:solidFill>
                  <a:srgbClr val="FF6B9D"/>
                </a:solidFill>
              </a:rPr>
              <a:t>6.25%</a:t>
            </a:r>
            <a:r>
              <a:rPr lang="en-US" sz="834" dirty="0">
                <a:solidFill>
                  <a:srgbClr val="FFFFFF"/>
                </a:solidFill>
              </a:rPr>
              <a:t>
</a:t>
            </a:r>
            <a:r>
              <a:rPr lang="en-US" sz="784" b="1" dirty="0">
                <a:solidFill>
                  <a:srgbClr val="FFFFFF"/>
                </a:solidFill>
              </a:rPr>
              <a:t>(b)</a:t>
            </a:r>
            <a:r>
              <a:rPr lang="en-US" sz="834" dirty="0">
                <a:solidFill>
                  <a:srgbClr val="FFFFFF"/>
                </a:solidFill>
              </a:rPr>
              <a:t> P(King first, Heart second) = (4/52)×(13/52) = 1/52 ≈ </a:t>
            </a:r>
            <a:r>
              <a:rPr lang="en-US" sz="784" b="1" dirty="0">
                <a:solidFill>
                  <a:srgbClr val="FF6B9D"/>
                </a:solidFill>
              </a:rPr>
              <a:t>0.0192</a:t>
            </a:r>
            <a:r>
              <a:rPr lang="en-US" sz="834" dirty="0">
                <a:solidFill>
                  <a:srgbClr val="FFFFFF"/>
                </a:solidFill>
              </a:rPr>
              <a:t> or </a:t>
            </a:r>
            <a:r>
              <a:rPr lang="en-US" sz="784" b="1" dirty="0">
                <a:solidFill>
                  <a:srgbClr val="FF6B9D"/>
                </a:solidFill>
              </a:rPr>
              <a:t>1.92%</a:t>
            </a:r>
            <a:r>
              <a:rPr lang="en-US" sz="834" dirty="0">
                <a:solidFill>
                  <a:srgbClr val="FFFFFF"/>
                </a:solidFill>
              </a:rPr>
              <a:t>
</a:t>
            </a:r>
            <a:r>
              <a:rPr lang="en-US" sz="784" b="1" dirty="0">
                <a:solidFill>
                  <a:srgbClr val="FFFFFF"/>
                </a:solidFill>
              </a:rPr>
              <a:t>(c)</a:t>
            </a:r>
            <a:r>
              <a:rPr lang="en-US" sz="834" dirty="0">
                <a:solidFill>
                  <a:srgbClr val="FFFFFF"/>
                </a:solidFill>
              </a:rPr>
              <a:t> P(At least one Ace) = 1 − (48/52)^2 = 25/169 ≈ </a:t>
            </a:r>
            <a:r>
              <a:rPr lang="en-US" sz="784" b="1" dirty="0">
                <a:solidFill>
                  <a:srgbClr val="FF6B9D"/>
                </a:solidFill>
              </a:rPr>
              <a:t>0.1479</a:t>
            </a:r>
            <a:r>
              <a:rPr lang="en-US" sz="834" dirty="0">
                <a:solidFill>
                  <a:srgbClr val="FFFFFF"/>
                </a:solidFill>
              </a:rPr>
              <a:t> or </a:t>
            </a:r>
            <a:r>
              <a:rPr lang="en-US" sz="784" b="1" dirty="0">
                <a:solidFill>
                  <a:srgbClr val="FF6B9D"/>
                </a:solidFill>
              </a:rPr>
              <a:t>14.79%</a:t>
            </a:r>
            <a:endParaRPr lang="en-US" sz="784" dirty="0"/>
          </a:p>
        </p:txBody>
      </p:sp>
      <p:sp>
        <p:nvSpPr>
          <p:cNvPr id="15" name="Shape 11"/>
          <p:cNvSpPr/>
          <p:nvPr/>
        </p:nvSpPr>
        <p:spPr>
          <a:xfrm>
            <a:off x="5893594" y="2727099"/>
            <a:ext cx="2750344" cy="1362670"/>
          </a:xfrm>
          <a:prstGeom prst="rect">
            <a:avLst/>
          </a:prstGeom>
          <a:solidFill>
            <a:srgbClr val="FF6B9D">
              <a:alpha val="10000"/>
            </a:srgbClr>
          </a:solidFill>
          <a:ln/>
        </p:spPr>
        <p:txBody>
          <a:bodyPr/>
          <a:lstStyle/>
          <a:p>
            <a:endParaRPr lang="en-US"/>
          </a:p>
        </p:txBody>
      </p:sp>
      <p:sp>
        <p:nvSpPr>
          <p:cNvPr id="16" name="Text 12"/>
          <p:cNvSpPr/>
          <p:nvPr/>
        </p:nvSpPr>
        <p:spPr>
          <a:xfrm>
            <a:off x="6072188" y="2812824"/>
            <a:ext cx="2393156"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FF6B9D"/>
                </a:solidFill>
              </a:rPr>
              <a:t>Key Insights</a:t>
            </a:r>
            <a:endParaRPr lang="en-US" sz="987" dirty="0"/>
          </a:p>
        </p:txBody>
      </p:sp>
      <p:sp>
        <p:nvSpPr>
          <p:cNvPr id="17" name="Text 13"/>
          <p:cNvSpPr/>
          <p:nvPr/>
        </p:nvSpPr>
        <p:spPr>
          <a:xfrm>
            <a:off x="6215063" y="3082500"/>
            <a:ext cx="934855" cy="146447"/>
          </a:xfrm>
          <a:prstGeom prst="rect">
            <a:avLst/>
          </a:prstGeom>
          <a:noFill/>
          <a:ln/>
        </p:spPr>
        <p:txBody>
          <a:bodyPr wrap="none" lIns="0" tIns="0" rIns="0" bIns="0" rtlCol="0" anchor="t">
            <a:spAutoFit/>
          </a:bodyPr>
          <a:lstStyle/>
          <a:p>
            <a:pPr marL="0" indent="0" algn="l">
              <a:lnSpc>
                <a:spcPts val="1400"/>
              </a:lnSpc>
              <a:buNone/>
            </a:pPr>
            <a:r>
              <a:rPr lang="en-US" sz="734" b="1" dirty="0">
                <a:solidFill>
                  <a:srgbClr val="FF6B9D"/>
                </a:solidFill>
              </a:rPr>
              <a:t>With replacement</a:t>
            </a:r>
            <a:endParaRPr lang="en-US" sz="734" dirty="0"/>
          </a:p>
        </p:txBody>
      </p:sp>
      <p:sp>
        <p:nvSpPr>
          <p:cNvPr id="18" name="Text 14"/>
          <p:cNvSpPr/>
          <p:nvPr/>
        </p:nvSpPr>
        <p:spPr>
          <a:xfrm>
            <a:off x="6979568" y="3075356"/>
            <a:ext cx="1649285" cy="328613"/>
          </a:xfrm>
          <a:prstGeom prst="rect">
            <a:avLst/>
          </a:prstGeom>
          <a:noFill/>
          <a:ln/>
        </p:spPr>
        <p:txBody>
          <a:bodyPr wrap="square" lIns="0" tIns="0" rIns="0" bIns="0" rtlCol="0" anchor="t">
            <a:spAutoFit/>
          </a:bodyPr>
          <a:lstStyle/>
          <a:p>
            <a:pPr marL="0" indent="0" algn="l">
              <a:lnSpc>
                <a:spcPts val="1400"/>
              </a:lnSpc>
              <a:buNone/>
            </a:pPr>
            <a:r>
              <a:rPr lang="en-US" sz="780" dirty="0">
                <a:solidFill>
                  <a:srgbClr val="FFFFFF"/>
                </a:solidFill>
              </a:rPr>
              <a:t>makes events independent.</a:t>
            </a:r>
            <a:endParaRPr lang="en-US" sz="780" dirty="0"/>
          </a:p>
        </p:txBody>
      </p:sp>
      <p:sp>
        <p:nvSpPr>
          <p:cNvPr id="19" name="Text 15"/>
          <p:cNvSpPr/>
          <p:nvPr/>
        </p:nvSpPr>
        <p:spPr>
          <a:xfrm>
            <a:off x="6215063" y="3503981"/>
            <a:ext cx="964211" cy="146447"/>
          </a:xfrm>
          <a:prstGeom prst="rect">
            <a:avLst/>
          </a:prstGeom>
          <a:noFill/>
          <a:ln/>
        </p:spPr>
        <p:txBody>
          <a:bodyPr wrap="none" lIns="0" tIns="0" rIns="0" bIns="0" rtlCol="0" anchor="t">
            <a:spAutoFit/>
          </a:bodyPr>
          <a:lstStyle/>
          <a:p>
            <a:pPr marL="0" indent="0" algn="l">
              <a:lnSpc>
                <a:spcPts val="1400"/>
              </a:lnSpc>
              <a:buNone/>
            </a:pPr>
            <a:r>
              <a:rPr lang="en-US" sz="734" b="1" dirty="0">
                <a:solidFill>
                  <a:srgbClr val="FF6B9D"/>
                </a:solidFill>
              </a:rPr>
              <a:t>Multiplication rule</a:t>
            </a:r>
            <a:endParaRPr lang="en-US" sz="734" dirty="0"/>
          </a:p>
        </p:txBody>
      </p:sp>
      <p:sp>
        <p:nvSpPr>
          <p:cNvPr id="20" name="Text 16"/>
          <p:cNvSpPr/>
          <p:nvPr/>
        </p:nvSpPr>
        <p:spPr>
          <a:xfrm>
            <a:off x="6996885" y="3496666"/>
            <a:ext cx="1249877" cy="146447"/>
          </a:xfrm>
          <a:prstGeom prst="rect">
            <a:avLst/>
          </a:prstGeom>
          <a:noFill/>
          <a:ln/>
        </p:spPr>
        <p:txBody>
          <a:bodyPr wrap="none" lIns="0" tIns="0" rIns="0" bIns="0" rtlCol="0" anchor="t">
            <a:spAutoFit/>
          </a:bodyPr>
          <a:lstStyle/>
          <a:p>
            <a:pPr marL="0" indent="0" algn="l">
              <a:lnSpc>
                <a:spcPts val="1400"/>
              </a:lnSpc>
              <a:buNone/>
            </a:pPr>
            <a:r>
              <a:rPr lang="en-US" sz="780" dirty="0">
                <a:solidFill>
                  <a:srgbClr val="FFFFFF"/>
                </a:solidFill>
              </a:rPr>
              <a:t>applies for "and" events.</a:t>
            </a:r>
            <a:endParaRPr lang="en-US" sz="780" dirty="0"/>
          </a:p>
        </p:txBody>
      </p:sp>
      <p:sp>
        <p:nvSpPr>
          <p:cNvPr id="21" name="Text 17"/>
          <p:cNvSpPr/>
          <p:nvPr/>
        </p:nvSpPr>
        <p:spPr>
          <a:xfrm>
            <a:off x="6215063" y="3743297"/>
            <a:ext cx="911805" cy="146447"/>
          </a:xfrm>
          <a:prstGeom prst="rect">
            <a:avLst/>
          </a:prstGeom>
          <a:noFill/>
          <a:ln/>
        </p:spPr>
        <p:txBody>
          <a:bodyPr wrap="none" lIns="0" tIns="0" rIns="0" bIns="0" rtlCol="0" anchor="t">
            <a:spAutoFit/>
          </a:bodyPr>
          <a:lstStyle/>
          <a:p>
            <a:pPr marL="0" indent="0" algn="l">
              <a:lnSpc>
                <a:spcPts val="1400"/>
              </a:lnSpc>
              <a:buNone/>
            </a:pPr>
            <a:r>
              <a:rPr lang="en-US" sz="734" b="1" dirty="0">
                <a:solidFill>
                  <a:srgbClr val="FF6B9D"/>
                </a:solidFill>
              </a:rPr>
              <a:t>Complement rule</a:t>
            </a:r>
            <a:endParaRPr lang="en-US" sz="734" dirty="0"/>
          </a:p>
        </p:txBody>
      </p:sp>
      <p:sp>
        <p:nvSpPr>
          <p:cNvPr id="22" name="Text 18"/>
          <p:cNvSpPr/>
          <p:nvPr/>
        </p:nvSpPr>
        <p:spPr>
          <a:xfrm>
            <a:off x="6941265" y="3743125"/>
            <a:ext cx="2031699" cy="328613"/>
          </a:xfrm>
          <a:prstGeom prst="rect">
            <a:avLst/>
          </a:prstGeom>
          <a:noFill/>
          <a:ln/>
        </p:spPr>
        <p:txBody>
          <a:bodyPr wrap="square" lIns="0" tIns="0" rIns="0" bIns="0" rtlCol="0" anchor="t">
            <a:spAutoFit/>
          </a:bodyPr>
          <a:lstStyle/>
          <a:p>
            <a:pPr marL="0" indent="0" algn="l">
              <a:lnSpc>
                <a:spcPts val="1400"/>
              </a:lnSpc>
              <a:buNone/>
            </a:pPr>
            <a:r>
              <a:rPr lang="en-US" sz="780" dirty="0">
                <a:solidFill>
                  <a:srgbClr val="FFFFFF"/>
                </a:solidFill>
              </a:rPr>
              <a:t>handles "at least one" questions.</a:t>
            </a:r>
            <a:endParaRPr lang="en-US" sz="78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0" y="357188"/>
            <a:ext cx="9144000" cy="466130"/>
          </a:xfrm>
          <a:prstGeom prst="rect">
            <a:avLst/>
          </a:prstGeom>
          <a:noFill/>
          <a:ln/>
        </p:spPr>
        <p:txBody>
          <a:bodyPr wrap="none" lIns="0" tIns="0" rIns="0" bIns="0" rtlCol="0" anchor="t">
            <a:spAutoFit/>
          </a:bodyPr>
          <a:lstStyle/>
          <a:p>
            <a:pPr marL="0" indent="0" algn="ctr">
              <a:lnSpc>
                <a:spcPts val="3200"/>
              </a:lnSpc>
              <a:buNone/>
            </a:pPr>
            <a:r>
              <a:rPr lang="en-US" sz="2436" b="1" dirty="0">
                <a:solidFill>
                  <a:srgbClr val="00D9FF"/>
                </a:solidFill>
              </a:rPr>
              <a:t>Practice Problem 3</a:t>
            </a:r>
            <a:endParaRPr lang="en-US" sz="2436" dirty="0"/>
          </a:p>
        </p:txBody>
      </p:sp>
      <p:sp>
        <p:nvSpPr>
          <p:cNvPr id="5" name="Text 1"/>
          <p:cNvSpPr/>
          <p:nvPr/>
        </p:nvSpPr>
        <p:spPr>
          <a:xfrm>
            <a:off x="0" y="880467"/>
            <a:ext cx="9144000" cy="175022"/>
          </a:xfrm>
          <a:prstGeom prst="rect">
            <a:avLst/>
          </a:prstGeom>
          <a:noFill/>
          <a:ln/>
        </p:spPr>
        <p:txBody>
          <a:bodyPr wrap="none" lIns="0" tIns="0" rIns="0" bIns="0" rtlCol="0" anchor="t">
            <a:spAutoFit/>
          </a:bodyPr>
          <a:lstStyle/>
          <a:p>
            <a:pPr marL="0" indent="0" algn="ctr">
              <a:lnSpc>
                <a:spcPts val="1200"/>
              </a:lnSpc>
              <a:buNone/>
            </a:pPr>
            <a:r>
              <a:rPr lang="en-US" sz="942" dirty="0">
                <a:solidFill>
                  <a:srgbClr val="FFD93D"/>
                </a:solidFill>
              </a:rPr>
              <a:t>Multi-Stage Problem: Law of Total Probability</a:t>
            </a:r>
            <a:endParaRPr lang="en-US" sz="942" dirty="0"/>
          </a:p>
        </p:txBody>
      </p:sp>
      <p:sp>
        <p:nvSpPr>
          <p:cNvPr id="6" name="Shape 2"/>
          <p:cNvSpPr/>
          <p:nvPr/>
        </p:nvSpPr>
        <p:spPr>
          <a:xfrm>
            <a:off x="428625" y="1126927"/>
            <a:ext cx="4000500" cy="1516875"/>
          </a:xfrm>
          <a:prstGeom prst="rect">
            <a:avLst/>
          </a:prstGeom>
          <a:solidFill>
            <a:srgbClr val="FF6B9D">
              <a:alpha val="10000"/>
            </a:srgbClr>
          </a:solidFill>
          <a:ln/>
        </p:spPr>
        <p:txBody>
          <a:bodyPr/>
          <a:lstStyle/>
          <a:p>
            <a:endParaRPr lang="en-US"/>
          </a:p>
        </p:txBody>
      </p:sp>
      <p:sp>
        <p:nvSpPr>
          <p:cNvPr id="7" name="Text 3"/>
          <p:cNvSpPr/>
          <p:nvPr/>
        </p:nvSpPr>
        <p:spPr>
          <a:xfrm>
            <a:off x="607219" y="1198364"/>
            <a:ext cx="3643313"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FF6B9D"/>
                </a:solidFill>
              </a:rPr>
              <a:t>PROBLEM</a:t>
            </a:r>
            <a:endParaRPr lang="en-US" sz="1193" dirty="0"/>
          </a:p>
        </p:txBody>
      </p:sp>
      <p:sp>
        <p:nvSpPr>
          <p:cNvPr id="8" name="Text 4"/>
          <p:cNvSpPr/>
          <p:nvPr/>
        </p:nvSpPr>
        <p:spPr>
          <a:xfrm>
            <a:off x="607219" y="1489472"/>
            <a:ext cx="3643313" cy="54859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FFFFFF"/>
                </a:solidFill>
              </a:rPr>
              <a:t>A factory has </a:t>
            </a:r>
            <a:r>
              <a:rPr lang="en-US" sz="784" b="1" dirty="0">
                <a:solidFill>
                  <a:srgbClr val="FFD93D"/>
                </a:solidFill>
              </a:rPr>
              <a:t>three machines</a:t>
            </a:r>
            <a:r>
              <a:rPr lang="en-US" sz="834" dirty="0">
                <a:solidFill>
                  <a:srgbClr val="FFFFFF"/>
                </a:solidFill>
              </a:rPr>
              <a:t> (M1, M2, M3) that produce electronic components. The machines produce different proportions of the total output and have different defect rates.</a:t>
            </a:r>
            <a:endParaRPr lang="en-US" sz="834" dirty="0"/>
          </a:p>
        </p:txBody>
      </p:sp>
      <p:sp>
        <p:nvSpPr>
          <p:cNvPr id="9" name="Text 5"/>
          <p:cNvSpPr/>
          <p:nvPr/>
        </p:nvSpPr>
        <p:spPr>
          <a:xfrm>
            <a:off x="607219" y="2095212"/>
            <a:ext cx="3643313" cy="54859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FFFFFF"/>
                </a:solidFill>
              </a:rPr>
              <a:t>A quality inspector randomly selects one component from the day's production. </a:t>
            </a:r>
            <a:r>
              <a:rPr lang="en-US" sz="784" b="1" dirty="0">
                <a:solidFill>
                  <a:srgbClr val="FF6B9D"/>
                </a:solidFill>
              </a:rPr>
              <a:t>What is the probability that the selected component is defective?</a:t>
            </a:r>
            <a:endParaRPr lang="en-US" sz="834" dirty="0"/>
          </a:p>
        </p:txBody>
      </p:sp>
      <p:sp>
        <p:nvSpPr>
          <p:cNvPr id="10" name="Shape 6"/>
          <p:cNvSpPr/>
          <p:nvPr/>
        </p:nvSpPr>
        <p:spPr>
          <a:xfrm>
            <a:off x="428625" y="2729526"/>
            <a:ext cx="4000500" cy="757238"/>
          </a:xfrm>
          <a:prstGeom prst="rect">
            <a:avLst/>
          </a:prstGeom>
          <a:solidFill>
            <a:srgbClr val="FFD73D">
              <a:alpha val="10000"/>
            </a:srgbClr>
          </a:solidFill>
          <a:ln/>
        </p:spPr>
        <p:txBody>
          <a:bodyPr/>
          <a:lstStyle/>
          <a:p>
            <a:endParaRPr lang="en-US"/>
          </a:p>
        </p:txBody>
      </p:sp>
      <p:sp>
        <p:nvSpPr>
          <p:cNvPr id="11" name="Text 7"/>
          <p:cNvSpPr/>
          <p:nvPr/>
        </p:nvSpPr>
        <p:spPr>
          <a:xfrm>
            <a:off x="571500" y="2786676"/>
            <a:ext cx="3714750" cy="175022"/>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FFD93D"/>
                </a:solidFill>
              </a:rPr>
              <a:t>Given Information:</a:t>
            </a:r>
            <a:endParaRPr lang="en-US" sz="885" dirty="0"/>
          </a:p>
        </p:txBody>
      </p:sp>
      <p:sp>
        <p:nvSpPr>
          <p:cNvPr id="12" name="Text 8"/>
          <p:cNvSpPr/>
          <p:nvPr/>
        </p:nvSpPr>
        <p:spPr>
          <a:xfrm>
            <a:off x="571500" y="3004561"/>
            <a:ext cx="3714750" cy="482203"/>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FFFFFF"/>
                </a:solidFill>
              </a:rPr>
              <a:t>• Machine M1: produces </a:t>
            </a:r>
            <a:r>
              <a:rPr lang="en-US" sz="734" b="1" dirty="0">
                <a:solidFill>
                  <a:srgbClr val="FFFFFF"/>
                </a:solidFill>
              </a:rPr>
              <a:t>30%</a:t>
            </a:r>
            <a:r>
              <a:rPr lang="en-US" sz="780" dirty="0">
                <a:solidFill>
                  <a:srgbClr val="FFFFFF"/>
                </a:solidFill>
              </a:rPr>
              <a:t> of output, </a:t>
            </a:r>
            <a:r>
              <a:rPr lang="en-US" sz="734" b="1" dirty="0">
                <a:solidFill>
                  <a:srgbClr val="FFFFFF"/>
                </a:solidFill>
              </a:rPr>
              <a:t>2%</a:t>
            </a:r>
            <a:r>
              <a:rPr lang="en-US" sz="780" dirty="0">
                <a:solidFill>
                  <a:srgbClr val="FFFFFF"/>
                </a:solidFill>
              </a:rPr>
              <a:t> defect rate
 • Machine M2: produces </a:t>
            </a:r>
            <a:r>
              <a:rPr lang="en-US" sz="734" b="1" dirty="0">
                <a:solidFill>
                  <a:srgbClr val="FFFFFF"/>
                </a:solidFill>
              </a:rPr>
              <a:t>45%</a:t>
            </a:r>
            <a:r>
              <a:rPr lang="en-US" sz="780" dirty="0">
                <a:solidFill>
                  <a:srgbClr val="FFFFFF"/>
                </a:solidFill>
              </a:rPr>
              <a:t> of output, </a:t>
            </a:r>
            <a:r>
              <a:rPr lang="en-US" sz="734" b="1" dirty="0">
                <a:solidFill>
                  <a:srgbClr val="FFFFFF"/>
                </a:solidFill>
              </a:rPr>
              <a:t>3%</a:t>
            </a:r>
            <a:r>
              <a:rPr lang="en-US" sz="780" dirty="0">
                <a:solidFill>
                  <a:srgbClr val="FFFFFF"/>
                </a:solidFill>
              </a:rPr>
              <a:t> defect rate
 • Machine M3: produces </a:t>
            </a:r>
            <a:r>
              <a:rPr lang="en-US" sz="734" b="1" dirty="0">
                <a:solidFill>
                  <a:srgbClr val="FFFFFF"/>
                </a:solidFill>
              </a:rPr>
              <a:t>25%</a:t>
            </a:r>
            <a:r>
              <a:rPr lang="en-US" sz="780" dirty="0">
                <a:solidFill>
                  <a:srgbClr val="FFFFFF"/>
                </a:solidFill>
              </a:rPr>
              <a:t> of output, </a:t>
            </a:r>
            <a:r>
              <a:rPr lang="en-US" sz="734" b="1" dirty="0">
                <a:solidFill>
                  <a:srgbClr val="FFFFFF"/>
                </a:solidFill>
              </a:rPr>
              <a:t>5%</a:t>
            </a:r>
            <a:r>
              <a:rPr lang="en-US" sz="780" dirty="0">
                <a:solidFill>
                  <a:srgbClr val="FFFFFF"/>
                </a:solidFill>
              </a:rPr>
              <a:t> defect rate</a:t>
            </a:r>
            <a:endParaRPr lang="en-US" sz="780" dirty="0"/>
          </a:p>
        </p:txBody>
      </p:sp>
      <p:sp>
        <p:nvSpPr>
          <p:cNvPr id="13" name="Shape 9"/>
          <p:cNvSpPr/>
          <p:nvPr/>
        </p:nvSpPr>
        <p:spPr>
          <a:xfrm>
            <a:off x="428625" y="3529626"/>
            <a:ext cx="4000500" cy="1557338"/>
          </a:xfrm>
          <a:prstGeom prst="rect">
            <a:avLst/>
          </a:prstGeom>
          <a:solidFill>
            <a:srgbClr val="00D9FF">
              <a:alpha val="10000"/>
            </a:srgbClr>
          </a:solidFill>
          <a:ln/>
        </p:spPr>
        <p:txBody>
          <a:bodyPr/>
          <a:lstStyle/>
          <a:p>
            <a:endParaRPr lang="en-US"/>
          </a:p>
        </p:txBody>
      </p:sp>
      <p:sp>
        <p:nvSpPr>
          <p:cNvPr id="14" name="Text 10"/>
          <p:cNvSpPr/>
          <p:nvPr/>
        </p:nvSpPr>
        <p:spPr>
          <a:xfrm>
            <a:off x="607219" y="3601064"/>
            <a:ext cx="3643313" cy="175022"/>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00D9FF"/>
                </a:solidFill>
              </a:rPr>
              <a:t>Tree Diagram Concept</a:t>
            </a:r>
            <a:endParaRPr lang="en-US" sz="885" dirty="0"/>
          </a:p>
        </p:txBody>
      </p:sp>
      <p:sp>
        <p:nvSpPr>
          <p:cNvPr id="15" name="Text 11"/>
          <p:cNvSpPr/>
          <p:nvPr/>
        </p:nvSpPr>
        <p:spPr>
          <a:xfrm>
            <a:off x="607219" y="3833236"/>
            <a:ext cx="3643313" cy="482203"/>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FFFFFF"/>
                </a:solidFill>
              </a:rPr>
              <a:t>This problem uses a </a:t>
            </a:r>
            <a:r>
              <a:rPr lang="en-US" sz="734" b="1" dirty="0">
                <a:solidFill>
                  <a:srgbClr val="FFD93D"/>
                </a:solidFill>
              </a:rPr>
              <a:t>two-stage process</a:t>
            </a:r>
            <a:r>
              <a:rPr lang="en-US" sz="780" dirty="0">
                <a:solidFill>
                  <a:srgbClr val="FFFFFF"/>
                </a:solidFill>
              </a:rPr>
              <a:t>: first selecting which machine produced the component, then determining if it's defective. Tree diagrams visualize such sequential events.</a:t>
            </a:r>
            <a:endParaRPr lang="en-US" sz="780" dirty="0"/>
          </a:p>
        </p:txBody>
      </p:sp>
      <p:sp>
        <p:nvSpPr>
          <p:cNvPr id="16" name="Shape 12"/>
          <p:cNvSpPr/>
          <p:nvPr/>
        </p:nvSpPr>
        <p:spPr>
          <a:xfrm>
            <a:off x="607219" y="4372589"/>
            <a:ext cx="3643313" cy="714375"/>
          </a:xfrm>
          <a:prstGeom prst="rect">
            <a:avLst/>
          </a:prstGeom>
          <a:solidFill>
            <a:srgbClr val="000000">
              <a:alpha val="20000"/>
            </a:srgbClr>
          </a:solidFill>
          <a:ln/>
        </p:spPr>
        <p:txBody>
          <a:bodyPr/>
          <a:lstStyle/>
          <a:p>
            <a:endParaRPr lang="en-US"/>
          </a:p>
        </p:txBody>
      </p:sp>
      <p:pic>
        <p:nvPicPr>
          <p:cNvPr id="17" name="Image 1" descr="preencoded.png"/>
          <p:cNvPicPr>
            <a:picLocks noChangeAspect="1"/>
          </p:cNvPicPr>
          <p:nvPr/>
        </p:nvPicPr>
        <p:blipFill>
          <a:blip r:embed="rId4"/>
          <a:stretch>
            <a:fillRect/>
          </a:stretch>
        </p:blipFill>
        <p:spPr>
          <a:xfrm>
            <a:off x="642938" y="4372589"/>
            <a:ext cx="3571875" cy="714375"/>
          </a:xfrm>
          <a:prstGeom prst="rect">
            <a:avLst/>
          </a:prstGeom>
        </p:spPr>
      </p:pic>
      <p:sp>
        <p:nvSpPr>
          <p:cNvPr id="18" name="Shape 13"/>
          <p:cNvSpPr/>
          <p:nvPr/>
        </p:nvSpPr>
        <p:spPr>
          <a:xfrm>
            <a:off x="4714875" y="1126927"/>
            <a:ext cx="4000500" cy="3202186"/>
          </a:xfrm>
          <a:prstGeom prst="rect">
            <a:avLst/>
          </a:prstGeom>
          <a:solidFill>
            <a:srgbClr val="00D9FF">
              <a:alpha val="10000"/>
            </a:srgbClr>
          </a:solidFill>
          <a:ln/>
        </p:spPr>
        <p:txBody>
          <a:bodyPr/>
          <a:lstStyle/>
          <a:p>
            <a:endParaRPr lang="en-US"/>
          </a:p>
        </p:txBody>
      </p:sp>
      <p:sp>
        <p:nvSpPr>
          <p:cNvPr id="19" name="Text 14"/>
          <p:cNvSpPr/>
          <p:nvPr/>
        </p:nvSpPr>
        <p:spPr>
          <a:xfrm>
            <a:off x="4893469" y="1198364"/>
            <a:ext cx="3643313"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00D9FF"/>
                </a:solidFill>
              </a:rPr>
              <a:t>SOLUTION</a:t>
            </a:r>
            <a:endParaRPr lang="en-US" sz="1193" dirty="0"/>
          </a:p>
        </p:txBody>
      </p:sp>
      <p:sp>
        <p:nvSpPr>
          <p:cNvPr id="20" name="Text 15"/>
          <p:cNvSpPr/>
          <p:nvPr/>
        </p:nvSpPr>
        <p:spPr>
          <a:xfrm>
            <a:off x="4893469" y="1489472"/>
            <a:ext cx="3643313" cy="166092"/>
          </a:xfrm>
          <a:prstGeom prst="rect">
            <a:avLst/>
          </a:prstGeom>
          <a:noFill/>
          <a:ln/>
        </p:spPr>
        <p:txBody>
          <a:bodyPr wrap="none" lIns="0" tIns="0" rIns="0" bIns="0" rtlCol="0" anchor="t">
            <a:spAutoFit/>
          </a:bodyPr>
          <a:lstStyle/>
          <a:p>
            <a:pPr marL="0" indent="0" algn="l">
              <a:lnSpc>
                <a:spcPts val="1100"/>
              </a:lnSpc>
              <a:buNone/>
            </a:pPr>
            <a:r>
              <a:rPr lang="en-US" sz="834" b="1" dirty="0">
                <a:solidFill>
                  <a:srgbClr val="FFD93D"/>
                </a:solidFill>
              </a:rPr>
              <a:t>Step 1: Define Events</a:t>
            </a:r>
            <a:endParaRPr lang="en-US" sz="834" dirty="0"/>
          </a:p>
        </p:txBody>
      </p:sp>
      <p:sp>
        <p:nvSpPr>
          <p:cNvPr id="21" name="Text 16"/>
          <p:cNvSpPr/>
          <p:nvPr/>
        </p:nvSpPr>
        <p:spPr>
          <a:xfrm>
            <a:off x="4893469" y="1684139"/>
            <a:ext cx="3643313" cy="321469"/>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FFFFFF"/>
                </a:solidFill>
              </a:rPr>
              <a:t>Let D = "component is defective"
 Let M1, M2, M3 = "component from Machine 1, 2, or 3"</a:t>
            </a:r>
            <a:endParaRPr lang="en-US" sz="780" dirty="0"/>
          </a:p>
        </p:txBody>
      </p:sp>
      <p:sp>
        <p:nvSpPr>
          <p:cNvPr id="22" name="Text 17"/>
          <p:cNvSpPr/>
          <p:nvPr/>
        </p:nvSpPr>
        <p:spPr>
          <a:xfrm>
            <a:off x="4893469" y="2077045"/>
            <a:ext cx="3643313" cy="166092"/>
          </a:xfrm>
          <a:prstGeom prst="rect">
            <a:avLst/>
          </a:prstGeom>
          <a:noFill/>
          <a:ln/>
        </p:spPr>
        <p:txBody>
          <a:bodyPr wrap="none" lIns="0" tIns="0" rIns="0" bIns="0" rtlCol="0" anchor="t">
            <a:spAutoFit/>
          </a:bodyPr>
          <a:lstStyle/>
          <a:p>
            <a:pPr marL="0" indent="0" algn="l">
              <a:lnSpc>
                <a:spcPts val="1100"/>
              </a:lnSpc>
              <a:buNone/>
            </a:pPr>
            <a:r>
              <a:rPr lang="en-US" sz="834" b="1" dirty="0">
                <a:solidFill>
                  <a:srgbClr val="FFD93D"/>
                </a:solidFill>
              </a:rPr>
              <a:t>Step 2: Identify Given Probabilities</a:t>
            </a:r>
            <a:endParaRPr lang="en-US" sz="834" dirty="0"/>
          </a:p>
        </p:txBody>
      </p:sp>
      <p:sp>
        <p:nvSpPr>
          <p:cNvPr id="23" name="Text 18"/>
          <p:cNvSpPr/>
          <p:nvPr/>
        </p:nvSpPr>
        <p:spPr>
          <a:xfrm>
            <a:off x="4893469" y="2271713"/>
            <a:ext cx="3643313" cy="321469"/>
          </a:xfrm>
          <a:prstGeom prst="rect">
            <a:avLst/>
          </a:prstGeom>
          <a:noFill/>
          <a:ln/>
        </p:spPr>
        <p:txBody>
          <a:bodyPr wrap="square" lIns="0" tIns="0" rIns="0" bIns="0" rtlCol="0" anchor="t">
            <a:spAutoFit/>
          </a:bodyPr>
          <a:lstStyle/>
          <a:p>
            <a:pPr marL="0" indent="0" algn="l">
              <a:lnSpc>
                <a:spcPts val="1300"/>
              </a:lnSpc>
              <a:buNone/>
            </a:pPr>
            <a:r>
              <a:rPr lang="en-US" sz="734" b="1" dirty="0">
                <a:solidFill>
                  <a:srgbClr val="FFFFFF"/>
                </a:solidFill>
              </a:rPr>
              <a:t>Prior probabilities (machine selection):</a:t>
            </a:r>
            <a:r>
              <a:rPr lang="en-US" sz="780" dirty="0">
                <a:solidFill>
                  <a:srgbClr val="FFFFFF"/>
                </a:solidFill>
              </a:rPr>
              <a:t>
 P(M1) = 0.30, P(M2) = 0.45, P(M3) = 0.25</a:t>
            </a:r>
            <a:endParaRPr lang="en-US" sz="734" dirty="0"/>
          </a:p>
        </p:txBody>
      </p:sp>
      <p:sp>
        <p:nvSpPr>
          <p:cNvPr id="24" name="Text 19"/>
          <p:cNvSpPr/>
          <p:nvPr/>
        </p:nvSpPr>
        <p:spPr>
          <a:xfrm>
            <a:off x="4893469" y="2621756"/>
            <a:ext cx="3643313" cy="321469"/>
          </a:xfrm>
          <a:prstGeom prst="rect">
            <a:avLst/>
          </a:prstGeom>
          <a:noFill/>
          <a:ln/>
        </p:spPr>
        <p:txBody>
          <a:bodyPr wrap="square" lIns="0" tIns="0" rIns="0" bIns="0" rtlCol="0" anchor="t">
            <a:spAutoFit/>
          </a:bodyPr>
          <a:lstStyle/>
          <a:p>
            <a:pPr marL="0" indent="0" algn="l">
              <a:lnSpc>
                <a:spcPts val="1300"/>
              </a:lnSpc>
              <a:buNone/>
            </a:pPr>
            <a:r>
              <a:rPr lang="en-US" sz="734" b="1" dirty="0">
                <a:solidFill>
                  <a:srgbClr val="FFFFFF"/>
                </a:solidFill>
              </a:rPr>
              <a:t>Conditional probabilities (defect rates):</a:t>
            </a:r>
            <a:r>
              <a:rPr lang="en-US" sz="780" dirty="0">
                <a:solidFill>
                  <a:srgbClr val="FFFFFF"/>
                </a:solidFill>
              </a:rPr>
              <a:t>
 P(D|M1) = 0.02, P(D|M2) = 0.03, P(D|M3) = 0.05</a:t>
            </a:r>
            <a:endParaRPr lang="en-US" sz="734" dirty="0"/>
          </a:p>
        </p:txBody>
      </p:sp>
      <p:sp>
        <p:nvSpPr>
          <p:cNvPr id="25" name="Text 20"/>
          <p:cNvSpPr/>
          <p:nvPr/>
        </p:nvSpPr>
        <p:spPr>
          <a:xfrm>
            <a:off x="4893469" y="3014663"/>
            <a:ext cx="3643313" cy="166092"/>
          </a:xfrm>
          <a:prstGeom prst="rect">
            <a:avLst/>
          </a:prstGeom>
          <a:noFill/>
          <a:ln/>
        </p:spPr>
        <p:txBody>
          <a:bodyPr wrap="none" lIns="0" tIns="0" rIns="0" bIns="0" rtlCol="0" anchor="t">
            <a:spAutoFit/>
          </a:bodyPr>
          <a:lstStyle/>
          <a:p>
            <a:pPr marL="0" indent="0" algn="l">
              <a:lnSpc>
                <a:spcPts val="1100"/>
              </a:lnSpc>
              <a:buNone/>
            </a:pPr>
            <a:r>
              <a:rPr lang="en-US" sz="834" b="1" dirty="0">
                <a:solidFill>
                  <a:srgbClr val="FFD93D"/>
                </a:solidFill>
              </a:rPr>
              <a:t>Step 3: Apply Law of Total Probability</a:t>
            </a:r>
            <a:endParaRPr lang="en-US" sz="834" dirty="0"/>
          </a:p>
        </p:txBody>
      </p:sp>
      <p:sp>
        <p:nvSpPr>
          <p:cNvPr id="26" name="Text 21"/>
          <p:cNvSpPr/>
          <p:nvPr/>
        </p:nvSpPr>
        <p:spPr>
          <a:xfrm>
            <a:off x="4893469" y="3209330"/>
            <a:ext cx="3643313" cy="321469"/>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FFFFFF"/>
                </a:solidFill>
              </a:rPr>
              <a:t>Since the machines partition the sample space (mutually exclusive and exhaustive), we use:</a:t>
            </a:r>
            <a:endParaRPr lang="en-US" sz="780" dirty="0"/>
          </a:p>
        </p:txBody>
      </p:sp>
      <p:sp>
        <p:nvSpPr>
          <p:cNvPr id="27" name="Text 22"/>
          <p:cNvSpPr/>
          <p:nvPr/>
        </p:nvSpPr>
        <p:spPr>
          <a:xfrm>
            <a:off x="4893469" y="3559373"/>
            <a:ext cx="3643313" cy="146447"/>
          </a:xfrm>
          <a:prstGeom prst="rect">
            <a:avLst/>
          </a:prstGeom>
          <a:noFill/>
          <a:ln/>
        </p:spPr>
        <p:txBody>
          <a:bodyPr wrap="none" lIns="0" tIns="0" rIns="0" bIns="0" rtlCol="0" anchor="t">
            <a:spAutoFit/>
          </a:bodyPr>
          <a:lstStyle/>
          <a:p>
            <a:pPr marL="0" indent="0" algn="l">
              <a:lnSpc>
                <a:spcPts val="1000"/>
              </a:lnSpc>
              <a:buNone/>
            </a:pPr>
            <a:r>
              <a:rPr lang="en-US" sz="734" b="1" dirty="0">
                <a:solidFill>
                  <a:srgbClr val="00D9FF"/>
                </a:solidFill>
              </a:rPr>
              <a:t>P(D) = P(D|M1)·P(M1) + P(D|M2)·P(M2) + P(D|M3)·P(M3)</a:t>
            </a:r>
            <a:endParaRPr lang="en-US" sz="734" dirty="0"/>
          </a:p>
        </p:txBody>
      </p:sp>
      <p:sp>
        <p:nvSpPr>
          <p:cNvPr id="28" name="Text 23"/>
          <p:cNvSpPr/>
          <p:nvPr/>
        </p:nvSpPr>
        <p:spPr>
          <a:xfrm>
            <a:off x="4893469" y="3777258"/>
            <a:ext cx="3643313" cy="166092"/>
          </a:xfrm>
          <a:prstGeom prst="rect">
            <a:avLst/>
          </a:prstGeom>
          <a:noFill/>
          <a:ln/>
        </p:spPr>
        <p:txBody>
          <a:bodyPr wrap="none" lIns="0" tIns="0" rIns="0" bIns="0" rtlCol="0" anchor="t">
            <a:spAutoFit/>
          </a:bodyPr>
          <a:lstStyle/>
          <a:p>
            <a:pPr marL="0" indent="0" algn="l">
              <a:lnSpc>
                <a:spcPts val="1100"/>
              </a:lnSpc>
              <a:buNone/>
            </a:pPr>
            <a:r>
              <a:rPr lang="en-US" sz="834" b="1" dirty="0">
                <a:solidFill>
                  <a:srgbClr val="FFD93D"/>
                </a:solidFill>
              </a:rPr>
              <a:t>Step 4: Calculate</a:t>
            </a:r>
            <a:endParaRPr lang="en-US" sz="834" dirty="0"/>
          </a:p>
        </p:txBody>
      </p:sp>
      <p:sp>
        <p:nvSpPr>
          <p:cNvPr id="29" name="Shape 24"/>
          <p:cNvSpPr/>
          <p:nvPr/>
        </p:nvSpPr>
        <p:spPr>
          <a:xfrm>
            <a:off x="4893469" y="3986213"/>
            <a:ext cx="3643313" cy="342900"/>
          </a:xfrm>
          <a:prstGeom prst="rect">
            <a:avLst/>
          </a:prstGeom>
          <a:solidFill>
            <a:srgbClr val="000000">
              <a:alpha val="30000"/>
            </a:srgbClr>
          </a:solidFill>
          <a:ln/>
        </p:spPr>
        <p:txBody>
          <a:bodyPr/>
          <a:lstStyle/>
          <a:p>
            <a:endParaRPr lang="en-US"/>
          </a:p>
        </p:txBody>
      </p:sp>
      <p:sp>
        <p:nvSpPr>
          <p:cNvPr id="30" name="Text 25"/>
          <p:cNvSpPr/>
          <p:nvPr/>
        </p:nvSpPr>
        <p:spPr>
          <a:xfrm>
            <a:off x="4893469" y="3986213"/>
            <a:ext cx="3643313" cy="342900"/>
          </a:xfrm>
          <a:prstGeom prst="rect">
            <a:avLst/>
          </a:prstGeom>
          <a:noFill/>
          <a:ln/>
        </p:spPr>
        <p:txBody>
          <a:bodyPr wrap="square" lIns="102108" tIns="51054" rIns="102108" bIns="0" rtlCol="0" anchor="t">
            <a:spAutoFit/>
          </a:bodyPr>
          <a:lstStyle/>
          <a:p>
            <a:pPr marL="0" indent="0" algn="l">
              <a:lnSpc>
                <a:spcPts val="1200"/>
              </a:lnSpc>
              <a:buNone/>
            </a:pPr>
            <a:r>
              <a:rPr lang="en-US" sz="727" dirty="0">
                <a:solidFill>
                  <a:srgbClr val="FFFFFF"/>
                </a:solidFill>
              </a:rPr>
              <a:t>P(D) = (0.02)(0.30) + (0.03)(0.45) + (0.05)(0.25) = 0.006 + 0.0135 + 0.0125 = 0.032</a:t>
            </a:r>
            <a:endParaRPr lang="en-US" sz="727" dirty="0"/>
          </a:p>
        </p:txBody>
      </p:sp>
      <p:sp>
        <p:nvSpPr>
          <p:cNvPr id="31" name="Shape 26"/>
          <p:cNvSpPr/>
          <p:nvPr/>
        </p:nvSpPr>
        <p:spPr>
          <a:xfrm>
            <a:off x="4714875" y="4414838"/>
            <a:ext cx="4000500" cy="706841"/>
          </a:xfrm>
          <a:prstGeom prst="rect">
            <a:avLst/>
          </a:prstGeom>
          <a:solidFill>
            <a:srgbClr val="2ECC71">
              <a:alpha val="15000"/>
            </a:srgbClr>
          </a:solidFill>
          <a:ln/>
        </p:spPr>
        <p:txBody>
          <a:bodyPr/>
          <a:lstStyle/>
          <a:p>
            <a:endParaRPr lang="en-US"/>
          </a:p>
        </p:txBody>
      </p:sp>
      <p:sp>
        <p:nvSpPr>
          <p:cNvPr id="32" name="Text 27"/>
          <p:cNvSpPr/>
          <p:nvPr/>
        </p:nvSpPr>
        <p:spPr>
          <a:xfrm>
            <a:off x="4893469" y="4486275"/>
            <a:ext cx="3643313" cy="226814"/>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2ECC71"/>
                </a:solidFill>
              </a:rPr>
              <a:t>✓ FINAL ANSWER</a:t>
            </a:r>
            <a:endParaRPr lang="en-US" sz="1090" dirty="0"/>
          </a:p>
        </p:txBody>
      </p:sp>
      <p:sp>
        <p:nvSpPr>
          <p:cNvPr id="33" name="Text 28"/>
          <p:cNvSpPr/>
          <p:nvPr/>
        </p:nvSpPr>
        <p:spPr>
          <a:xfrm>
            <a:off x="4893469" y="4755952"/>
            <a:ext cx="3643313" cy="365727"/>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FFFFFF"/>
                </a:solidFill>
              </a:rPr>
              <a:t>The probability that a randomly selected component is defective is </a:t>
            </a:r>
            <a:r>
              <a:rPr lang="en-US" sz="784" b="1" dirty="0">
                <a:solidFill>
                  <a:srgbClr val="FF6B9D"/>
                </a:solidFill>
              </a:rPr>
              <a:t>P(D) = 0.032 or 3.2%</a:t>
            </a:r>
            <a:r>
              <a:rPr lang="en-US" sz="834" dirty="0">
                <a:solidFill>
                  <a:srgbClr val="FFFFFF"/>
                </a:solidFill>
              </a:rPr>
              <a:t>.</a:t>
            </a:r>
            <a:endParaRPr lang="en-US" sz="834"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0" y="357188"/>
            <a:ext cx="9144000" cy="466130"/>
          </a:xfrm>
          <a:prstGeom prst="rect">
            <a:avLst/>
          </a:prstGeom>
          <a:noFill/>
          <a:ln/>
        </p:spPr>
        <p:txBody>
          <a:bodyPr wrap="none" lIns="0" tIns="0" rIns="0" bIns="0" rtlCol="0" anchor="t">
            <a:spAutoFit/>
          </a:bodyPr>
          <a:lstStyle/>
          <a:p>
            <a:pPr marL="0" indent="0" algn="ctr">
              <a:lnSpc>
                <a:spcPts val="3200"/>
              </a:lnSpc>
              <a:buNone/>
            </a:pPr>
            <a:r>
              <a:rPr lang="en-US" sz="2436" b="1" dirty="0">
                <a:solidFill>
                  <a:srgbClr val="00D9FF"/>
                </a:solidFill>
              </a:rPr>
              <a:t>Additional Resources</a:t>
            </a:r>
            <a:endParaRPr lang="en-US" sz="2436" dirty="0"/>
          </a:p>
        </p:txBody>
      </p:sp>
      <p:sp>
        <p:nvSpPr>
          <p:cNvPr id="5" name="Text 1"/>
          <p:cNvSpPr/>
          <p:nvPr/>
        </p:nvSpPr>
        <p:spPr>
          <a:xfrm>
            <a:off x="0" y="880467"/>
            <a:ext cx="9144000" cy="175022"/>
          </a:xfrm>
          <a:prstGeom prst="rect">
            <a:avLst/>
          </a:prstGeom>
          <a:noFill/>
          <a:ln/>
        </p:spPr>
        <p:txBody>
          <a:bodyPr wrap="none" lIns="0" tIns="0" rIns="0" bIns="0" rtlCol="0" anchor="t">
            <a:spAutoFit/>
          </a:bodyPr>
          <a:lstStyle/>
          <a:p>
            <a:pPr marL="0" indent="0" algn="ctr">
              <a:lnSpc>
                <a:spcPts val="1200"/>
              </a:lnSpc>
              <a:buNone/>
            </a:pPr>
            <a:r>
              <a:rPr lang="en-US" sz="942" dirty="0">
                <a:solidFill>
                  <a:srgbClr val="FFD93D"/>
                </a:solidFill>
              </a:rPr>
              <a:t>Recommended Materials for Continued Learning</a:t>
            </a:r>
            <a:endParaRPr lang="en-US" sz="942" dirty="0"/>
          </a:p>
        </p:txBody>
      </p:sp>
      <p:sp>
        <p:nvSpPr>
          <p:cNvPr id="6" name="Shape 2"/>
          <p:cNvSpPr/>
          <p:nvPr/>
        </p:nvSpPr>
        <p:spPr>
          <a:xfrm>
            <a:off x="428625" y="1234083"/>
            <a:ext cx="4000500" cy="1462683"/>
          </a:xfrm>
          <a:prstGeom prst="rect">
            <a:avLst/>
          </a:prstGeom>
          <a:solidFill>
            <a:srgbClr val="FFD73D">
              <a:alpha val="15000"/>
            </a:srgbClr>
          </a:solidFill>
          <a:ln/>
        </p:spPr>
        <p:txBody>
          <a:bodyPr/>
          <a:lstStyle/>
          <a:p>
            <a:endParaRPr lang="en-US"/>
          </a:p>
        </p:txBody>
      </p:sp>
      <p:sp>
        <p:nvSpPr>
          <p:cNvPr id="7" name="Text 3"/>
          <p:cNvSpPr/>
          <p:nvPr/>
        </p:nvSpPr>
        <p:spPr>
          <a:xfrm>
            <a:off x="607219" y="1291233"/>
            <a:ext cx="3643313" cy="214313"/>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FFD93D"/>
                </a:solidFill>
              </a:rPr>
              <a:t>📚 Recommended Books</a:t>
            </a:r>
            <a:endParaRPr lang="en-US" sz="1090" dirty="0"/>
          </a:p>
        </p:txBody>
      </p:sp>
      <p:sp>
        <p:nvSpPr>
          <p:cNvPr id="8" name="Text 4"/>
          <p:cNvSpPr/>
          <p:nvPr/>
        </p:nvSpPr>
        <p:spPr>
          <a:xfrm>
            <a:off x="607219" y="1548408"/>
            <a:ext cx="3643313" cy="166092"/>
          </a:xfrm>
          <a:prstGeom prst="rect">
            <a:avLst/>
          </a:prstGeom>
          <a:noFill/>
          <a:ln/>
        </p:spPr>
        <p:txBody>
          <a:bodyPr wrap="none" lIns="0" tIns="0" rIns="0" bIns="0" rtlCol="0" anchor="t">
            <a:spAutoFit/>
          </a:bodyPr>
          <a:lstStyle/>
          <a:p>
            <a:pPr marL="0" indent="0" algn="l">
              <a:lnSpc>
                <a:spcPts val="1100"/>
              </a:lnSpc>
              <a:buNone/>
            </a:pPr>
            <a:r>
              <a:rPr lang="en-US" sz="834" b="1" dirty="0">
                <a:solidFill>
                  <a:srgbClr val="FF6B9D"/>
                </a:solidFill>
              </a:rPr>
              <a:t>Think Stats (Allen B. Downey)</a:t>
            </a:r>
            <a:endParaRPr lang="en-US" sz="834" dirty="0"/>
          </a:p>
        </p:txBody>
      </p:sp>
      <p:sp>
        <p:nvSpPr>
          <p:cNvPr id="9" name="Text 5"/>
          <p:cNvSpPr/>
          <p:nvPr/>
        </p:nvSpPr>
        <p:spPr>
          <a:xfrm>
            <a:off x="607219" y="1743075"/>
            <a:ext cx="3643313" cy="150019"/>
          </a:xfrm>
          <a:prstGeom prst="rect">
            <a:avLst/>
          </a:prstGeom>
          <a:noFill/>
          <a:ln/>
        </p:spPr>
        <p:txBody>
          <a:bodyPr wrap="none" lIns="0" tIns="0" rIns="0" bIns="0" rtlCol="0" anchor="t">
            <a:spAutoFit/>
          </a:bodyPr>
          <a:lstStyle/>
          <a:p>
            <a:pPr marL="0" indent="0" algn="l">
              <a:lnSpc>
                <a:spcPts val="1200"/>
              </a:lnSpc>
              <a:buNone/>
            </a:pPr>
            <a:r>
              <a:rPr lang="en-US" sz="780" dirty="0">
                <a:solidFill>
                  <a:srgbClr val="FFFFFF"/>
                </a:solidFill>
              </a:rPr>
              <a:t>EDA with Python. Free: </a:t>
            </a:r>
            <a:r>
              <a:rPr lang="en-US" sz="734" b="1" dirty="0">
                <a:solidFill>
                  <a:srgbClr val="00D9FF"/>
                </a:solidFill>
              </a:rPr>
              <a:t>greenteapress.com/thinkstats</a:t>
            </a:r>
            <a:endParaRPr lang="en-US" sz="780" dirty="0"/>
          </a:p>
        </p:txBody>
      </p:sp>
      <p:sp>
        <p:nvSpPr>
          <p:cNvPr id="10" name="Text 6"/>
          <p:cNvSpPr/>
          <p:nvPr/>
        </p:nvSpPr>
        <p:spPr>
          <a:xfrm>
            <a:off x="607219" y="1950244"/>
            <a:ext cx="3643313" cy="166092"/>
          </a:xfrm>
          <a:prstGeom prst="rect">
            <a:avLst/>
          </a:prstGeom>
          <a:noFill/>
          <a:ln/>
        </p:spPr>
        <p:txBody>
          <a:bodyPr wrap="none" lIns="0" tIns="0" rIns="0" bIns="0" rtlCol="0" anchor="t">
            <a:spAutoFit/>
          </a:bodyPr>
          <a:lstStyle/>
          <a:p>
            <a:pPr marL="0" indent="0" algn="l">
              <a:lnSpc>
                <a:spcPts val="1100"/>
              </a:lnSpc>
              <a:buNone/>
            </a:pPr>
            <a:r>
              <a:rPr lang="en-US" sz="834" b="1" dirty="0">
                <a:solidFill>
                  <a:srgbClr val="FF6B9D"/>
                </a:solidFill>
              </a:rPr>
              <a:t>Introduction to Probability (Blitzstein &amp; Hwang)</a:t>
            </a:r>
            <a:endParaRPr lang="en-US" sz="834" dirty="0"/>
          </a:p>
        </p:txBody>
      </p:sp>
      <p:sp>
        <p:nvSpPr>
          <p:cNvPr id="11" name="Text 7"/>
          <p:cNvSpPr/>
          <p:nvPr/>
        </p:nvSpPr>
        <p:spPr>
          <a:xfrm>
            <a:off x="607219" y="2144911"/>
            <a:ext cx="3643313" cy="150019"/>
          </a:xfrm>
          <a:prstGeom prst="rect">
            <a:avLst/>
          </a:prstGeom>
          <a:noFill/>
          <a:ln/>
        </p:spPr>
        <p:txBody>
          <a:bodyPr wrap="none" lIns="0" tIns="0" rIns="0" bIns="0" rtlCol="0" anchor="t">
            <a:spAutoFit/>
          </a:bodyPr>
          <a:lstStyle/>
          <a:p>
            <a:pPr marL="0" indent="0" algn="l">
              <a:lnSpc>
                <a:spcPts val="1200"/>
              </a:lnSpc>
              <a:buNone/>
            </a:pPr>
            <a:r>
              <a:rPr lang="en-US" sz="780" dirty="0">
                <a:solidFill>
                  <a:srgbClr val="FFFFFF"/>
                </a:solidFill>
              </a:rPr>
              <a:t>Comprehensive textbook; companion to Harvard Stat 110.</a:t>
            </a:r>
            <a:endParaRPr lang="en-US" sz="780" dirty="0"/>
          </a:p>
        </p:txBody>
      </p:sp>
      <p:sp>
        <p:nvSpPr>
          <p:cNvPr id="12" name="Text 8"/>
          <p:cNvSpPr/>
          <p:nvPr/>
        </p:nvSpPr>
        <p:spPr>
          <a:xfrm>
            <a:off x="607219" y="2352080"/>
            <a:ext cx="3643313" cy="166092"/>
          </a:xfrm>
          <a:prstGeom prst="rect">
            <a:avLst/>
          </a:prstGeom>
          <a:noFill/>
          <a:ln/>
        </p:spPr>
        <p:txBody>
          <a:bodyPr wrap="none" lIns="0" tIns="0" rIns="0" bIns="0" rtlCol="0" anchor="t">
            <a:spAutoFit/>
          </a:bodyPr>
          <a:lstStyle/>
          <a:p>
            <a:pPr marL="0" indent="0" algn="l">
              <a:lnSpc>
                <a:spcPts val="1100"/>
              </a:lnSpc>
              <a:buNone/>
            </a:pPr>
            <a:r>
              <a:rPr lang="en-US" sz="834" b="1" dirty="0">
                <a:solidFill>
                  <a:srgbClr val="FF6B9D"/>
                </a:solidFill>
              </a:rPr>
              <a:t>Probability and Statistics for Engineers</a:t>
            </a:r>
            <a:endParaRPr lang="en-US" sz="834" dirty="0"/>
          </a:p>
        </p:txBody>
      </p:sp>
      <p:sp>
        <p:nvSpPr>
          <p:cNvPr id="13" name="Text 9"/>
          <p:cNvSpPr/>
          <p:nvPr/>
        </p:nvSpPr>
        <p:spPr>
          <a:xfrm>
            <a:off x="607219" y="2546747"/>
            <a:ext cx="3643313" cy="150019"/>
          </a:xfrm>
          <a:prstGeom prst="rect">
            <a:avLst/>
          </a:prstGeom>
          <a:noFill/>
          <a:ln/>
        </p:spPr>
        <p:txBody>
          <a:bodyPr wrap="none" lIns="0" tIns="0" rIns="0" bIns="0" rtlCol="0" anchor="t">
            <a:spAutoFit/>
          </a:bodyPr>
          <a:lstStyle/>
          <a:p>
            <a:pPr marL="0" indent="0" algn="l">
              <a:lnSpc>
                <a:spcPts val="1200"/>
              </a:lnSpc>
              <a:buNone/>
            </a:pPr>
            <a:r>
              <a:rPr lang="en-US" sz="780" dirty="0">
                <a:solidFill>
                  <a:srgbClr val="FFFFFF"/>
                </a:solidFill>
              </a:rPr>
              <a:t>Practical with real-world engineering examples.</a:t>
            </a:r>
            <a:endParaRPr lang="en-US" sz="780" dirty="0"/>
          </a:p>
        </p:txBody>
      </p:sp>
      <p:sp>
        <p:nvSpPr>
          <p:cNvPr id="14" name="Shape 10"/>
          <p:cNvSpPr/>
          <p:nvPr/>
        </p:nvSpPr>
        <p:spPr>
          <a:xfrm>
            <a:off x="428625" y="2782491"/>
            <a:ext cx="4000500" cy="1462683"/>
          </a:xfrm>
          <a:prstGeom prst="rect">
            <a:avLst/>
          </a:prstGeom>
          <a:solidFill>
            <a:srgbClr val="00D9FF">
              <a:alpha val="10000"/>
            </a:srgbClr>
          </a:solidFill>
          <a:ln/>
        </p:spPr>
        <p:txBody>
          <a:bodyPr/>
          <a:lstStyle/>
          <a:p>
            <a:endParaRPr lang="en-US"/>
          </a:p>
        </p:txBody>
      </p:sp>
      <p:sp>
        <p:nvSpPr>
          <p:cNvPr id="15" name="Text 11"/>
          <p:cNvSpPr/>
          <p:nvPr/>
        </p:nvSpPr>
        <p:spPr>
          <a:xfrm>
            <a:off x="607219" y="2839641"/>
            <a:ext cx="3643313" cy="214313"/>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FFD93D"/>
                </a:solidFill>
              </a:rPr>
              <a:t>🌐 Online Courses &amp; Tutorials</a:t>
            </a:r>
            <a:endParaRPr lang="en-US" sz="1090" dirty="0"/>
          </a:p>
        </p:txBody>
      </p:sp>
      <p:sp>
        <p:nvSpPr>
          <p:cNvPr id="16" name="Text 12"/>
          <p:cNvSpPr/>
          <p:nvPr/>
        </p:nvSpPr>
        <p:spPr>
          <a:xfrm>
            <a:off x="607219" y="3096816"/>
            <a:ext cx="3643313" cy="166092"/>
          </a:xfrm>
          <a:prstGeom prst="rect">
            <a:avLst/>
          </a:prstGeom>
          <a:noFill/>
          <a:ln/>
        </p:spPr>
        <p:txBody>
          <a:bodyPr wrap="none" lIns="0" tIns="0" rIns="0" bIns="0" rtlCol="0" anchor="t">
            <a:spAutoFit/>
          </a:bodyPr>
          <a:lstStyle/>
          <a:p>
            <a:pPr marL="0" indent="0" algn="l">
              <a:lnSpc>
                <a:spcPts val="1100"/>
              </a:lnSpc>
              <a:buNone/>
            </a:pPr>
            <a:r>
              <a:rPr lang="en-US" sz="834" b="1" dirty="0">
                <a:solidFill>
                  <a:srgbClr val="FF6B9D"/>
                </a:solidFill>
              </a:rPr>
              <a:t>Khan Academy: Probability &amp; Statistics</a:t>
            </a:r>
            <a:endParaRPr lang="en-US" sz="834" dirty="0"/>
          </a:p>
        </p:txBody>
      </p:sp>
      <p:sp>
        <p:nvSpPr>
          <p:cNvPr id="17" name="Text 13"/>
          <p:cNvSpPr/>
          <p:nvPr/>
        </p:nvSpPr>
        <p:spPr>
          <a:xfrm>
            <a:off x="607219" y="3291483"/>
            <a:ext cx="3643313" cy="150019"/>
          </a:xfrm>
          <a:prstGeom prst="rect">
            <a:avLst/>
          </a:prstGeom>
          <a:noFill/>
          <a:ln/>
        </p:spPr>
        <p:txBody>
          <a:bodyPr wrap="none" lIns="0" tIns="0" rIns="0" bIns="0" rtlCol="0" anchor="t">
            <a:spAutoFit/>
          </a:bodyPr>
          <a:lstStyle/>
          <a:p>
            <a:pPr marL="0" indent="0" algn="l">
              <a:lnSpc>
                <a:spcPts val="1200"/>
              </a:lnSpc>
              <a:buNone/>
            </a:pPr>
            <a:r>
              <a:rPr lang="en-US" sz="780" dirty="0">
                <a:solidFill>
                  <a:srgbClr val="FFFFFF"/>
                </a:solidFill>
              </a:rPr>
              <a:t>Free lessons with practice and videos.</a:t>
            </a:r>
            <a:endParaRPr lang="en-US" sz="780" dirty="0"/>
          </a:p>
        </p:txBody>
      </p:sp>
      <p:sp>
        <p:nvSpPr>
          <p:cNvPr id="18" name="Text 14"/>
          <p:cNvSpPr/>
          <p:nvPr/>
        </p:nvSpPr>
        <p:spPr>
          <a:xfrm>
            <a:off x="607219" y="3498652"/>
            <a:ext cx="3643313" cy="166092"/>
          </a:xfrm>
          <a:prstGeom prst="rect">
            <a:avLst/>
          </a:prstGeom>
          <a:noFill/>
          <a:ln/>
        </p:spPr>
        <p:txBody>
          <a:bodyPr wrap="none" lIns="0" tIns="0" rIns="0" bIns="0" rtlCol="0" anchor="t">
            <a:spAutoFit/>
          </a:bodyPr>
          <a:lstStyle/>
          <a:p>
            <a:pPr marL="0" indent="0" algn="l">
              <a:lnSpc>
                <a:spcPts val="1100"/>
              </a:lnSpc>
              <a:buNone/>
            </a:pPr>
            <a:r>
              <a:rPr lang="en-US" sz="834" b="1" dirty="0">
                <a:solidFill>
                  <a:srgbClr val="FF6B9D"/>
                </a:solidFill>
              </a:rPr>
              <a:t>MIT OpenCourseWare: Probability</a:t>
            </a:r>
            <a:endParaRPr lang="en-US" sz="834" dirty="0"/>
          </a:p>
        </p:txBody>
      </p:sp>
      <p:sp>
        <p:nvSpPr>
          <p:cNvPr id="19" name="Text 15"/>
          <p:cNvSpPr/>
          <p:nvPr/>
        </p:nvSpPr>
        <p:spPr>
          <a:xfrm>
            <a:off x="607219" y="3693319"/>
            <a:ext cx="3643313" cy="150019"/>
          </a:xfrm>
          <a:prstGeom prst="rect">
            <a:avLst/>
          </a:prstGeom>
          <a:noFill/>
          <a:ln/>
        </p:spPr>
        <p:txBody>
          <a:bodyPr wrap="none" lIns="0" tIns="0" rIns="0" bIns="0" rtlCol="0" anchor="t">
            <a:spAutoFit/>
          </a:bodyPr>
          <a:lstStyle/>
          <a:p>
            <a:pPr marL="0" indent="0" algn="l">
              <a:lnSpc>
                <a:spcPts val="1200"/>
              </a:lnSpc>
              <a:buNone/>
            </a:pPr>
            <a:r>
              <a:rPr lang="en-US" sz="780" dirty="0">
                <a:solidFill>
                  <a:srgbClr val="FFFFFF"/>
                </a:solidFill>
              </a:rPr>
              <a:t>Lecture notes and problem sets from MIT.</a:t>
            </a:r>
            <a:endParaRPr lang="en-US" sz="780" dirty="0"/>
          </a:p>
        </p:txBody>
      </p:sp>
      <p:sp>
        <p:nvSpPr>
          <p:cNvPr id="20" name="Text 16"/>
          <p:cNvSpPr/>
          <p:nvPr/>
        </p:nvSpPr>
        <p:spPr>
          <a:xfrm>
            <a:off x="607219" y="3900488"/>
            <a:ext cx="3643313" cy="166092"/>
          </a:xfrm>
          <a:prstGeom prst="rect">
            <a:avLst/>
          </a:prstGeom>
          <a:noFill/>
          <a:ln/>
        </p:spPr>
        <p:txBody>
          <a:bodyPr wrap="none" lIns="0" tIns="0" rIns="0" bIns="0" rtlCol="0" anchor="t">
            <a:spAutoFit/>
          </a:bodyPr>
          <a:lstStyle/>
          <a:p>
            <a:pPr marL="0" indent="0" algn="l">
              <a:lnSpc>
                <a:spcPts val="1100"/>
              </a:lnSpc>
              <a:buNone/>
            </a:pPr>
            <a:r>
              <a:rPr lang="en-US" sz="834" b="1" dirty="0">
                <a:solidFill>
                  <a:srgbClr val="FF6B9D"/>
                </a:solidFill>
              </a:rPr>
              <a:t>Coursera: Introduction to Probability</a:t>
            </a:r>
            <a:endParaRPr lang="en-US" sz="834" dirty="0"/>
          </a:p>
        </p:txBody>
      </p:sp>
      <p:sp>
        <p:nvSpPr>
          <p:cNvPr id="21" name="Text 17"/>
          <p:cNvSpPr/>
          <p:nvPr/>
        </p:nvSpPr>
        <p:spPr>
          <a:xfrm>
            <a:off x="607219" y="4095155"/>
            <a:ext cx="3643313" cy="150019"/>
          </a:xfrm>
          <a:prstGeom prst="rect">
            <a:avLst/>
          </a:prstGeom>
          <a:noFill/>
          <a:ln/>
        </p:spPr>
        <p:txBody>
          <a:bodyPr wrap="none" lIns="0" tIns="0" rIns="0" bIns="0" rtlCol="0" anchor="t">
            <a:spAutoFit/>
          </a:bodyPr>
          <a:lstStyle/>
          <a:p>
            <a:pPr marL="0" indent="0" algn="l">
              <a:lnSpc>
                <a:spcPts val="1200"/>
              </a:lnSpc>
              <a:buNone/>
            </a:pPr>
            <a:r>
              <a:rPr lang="en-US" sz="780" dirty="0">
                <a:solidFill>
                  <a:srgbClr val="FFFFFF"/>
                </a:solidFill>
              </a:rPr>
              <a:t>University courses; certificates available.</a:t>
            </a:r>
            <a:endParaRPr lang="en-US" sz="780" dirty="0"/>
          </a:p>
        </p:txBody>
      </p:sp>
      <p:sp>
        <p:nvSpPr>
          <p:cNvPr id="22" name="Shape 18"/>
          <p:cNvSpPr/>
          <p:nvPr/>
        </p:nvSpPr>
        <p:spPr>
          <a:xfrm>
            <a:off x="4714875" y="1234083"/>
            <a:ext cx="4000500" cy="1864519"/>
          </a:xfrm>
          <a:prstGeom prst="rect">
            <a:avLst/>
          </a:prstGeom>
          <a:solidFill>
            <a:srgbClr val="FF6B9D">
              <a:alpha val="10000"/>
            </a:srgbClr>
          </a:solidFill>
          <a:ln/>
        </p:spPr>
        <p:txBody>
          <a:bodyPr/>
          <a:lstStyle/>
          <a:p>
            <a:endParaRPr lang="en-US"/>
          </a:p>
        </p:txBody>
      </p:sp>
      <p:sp>
        <p:nvSpPr>
          <p:cNvPr id="23" name="Text 19"/>
          <p:cNvSpPr/>
          <p:nvPr/>
        </p:nvSpPr>
        <p:spPr>
          <a:xfrm>
            <a:off x="4893469" y="1291233"/>
            <a:ext cx="3643313" cy="214313"/>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FF6B9D"/>
                </a:solidFill>
              </a:rPr>
              <a:t>🐍 Python Libraries</a:t>
            </a:r>
            <a:endParaRPr lang="en-US" sz="1090" dirty="0"/>
          </a:p>
        </p:txBody>
      </p:sp>
      <p:sp>
        <p:nvSpPr>
          <p:cNvPr id="24" name="Text 20"/>
          <p:cNvSpPr/>
          <p:nvPr/>
        </p:nvSpPr>
        <p:spPr>
          <a:xfrm>
            <a:off x="4893469" y="1548408"/>
            <a:ext cx="3643313" cy="166092"/>
          </a:xfrm>
          <a:prstGeom prst="rect">
            <a:avLst/>
          </a:prstGeom>
          <a:noFill/>
          <a:ln/>
        </p:spPr>
        <p:txBody>
          <a:bodyPr wrap="none" lIns="0" tIns="0" rIns="0" bIns="0" rtlCol="0" anchor="t">
            <a:spAutoFit/>
          </a:bodyPr>
          <a:lstStyle/>
          <a:p>
            <a:pPr marL="0" indent="0" algn="l">
              <a:lnSpc>
                <a:spcPts val="1100"/>
              </a:lnSpc>
              <a:buNone/>
            </a:pPr>
            <a:r>
              <a:rPr lang="en-US" sz="834" b="1" dirty="0">
                <a:solidFill>
                  <a:srgbClr val="FF6B9D"/>
                </a:solidFill>
              </a:rPr>
              <a:t>NumPy</a:t>
            </a:r>
            <a:endParaRPr lang="en-US" sz="834" dirty="0"/>
          </a:p>
        </p:txBody>
      </p:sp>
      <p:sp>
        <p:nvSpPr>
          <p:cNvPr id="25" name="Text 21"/>
          <p:cNvSpPr/>
          <p:nvPr/>
        </p:nvSpPr>
        <p:spPr>
          <a:xfrm>
            <a:off x="4893469" y="1743075"/>
            <a:ext cx="3643313" cy="150019"/>
          </a:xfrm>
          <a:prstGeom prst="rect">
            <a:avLst/>
          </a:prstGeom>
          <a:noFill/>
          <a:ln/>
        </p:spPr>
        <p:txBody>
          <a:bodyPr wrap="none" lIns="0" tIns="0" rIns="0" bIns="0" rtlCol="0" anchor="t">
            <a:spAutoFit/>
          </a:bodyPr>
          <a:lstStyle/>
          <a:p>
            <a:pPr marL="0" indent="0" algn="l">
              <a:lnSpc>
                <a:spcPts val="1200"/>
              </a:lnSpc>
              <a:buNone/>
            </a:pPr>
            <a:r>
              <a:rPr lang="en-US" sz="780" dirty="0">
                <a:solidFill>
                  <a:srgbClr val="FFFFFF"/>
                </a:solidFill>
              </a:rPr>
              <a:t>Numerical computing and random generation.</a:t>
            </a:r>
            <a:endParaRPr lang="en-US" sz="780" dirty="0"/>
          </a:p>
        </p:txBody>
      </p:sp>
      <p:sp>
        <p:nvSpPr>
          <p:cNvPr id="26" name="Text 22"/>
          <p:cNvSpPr/>
          <p:nvPr/>
        </p:nvSpPr>
        <p:spPr>
          <a:xfrm>
            <a:off x="4893469" y="1950244"/>
            <a:ext cx="3643313" cy="166092"/>
          </a:xfrm>
          <a:prstGeom prst="rect">
            <a:avLst/>
          </a:prstGeom>
          <a:noFill/>
          <a:ln/>
        </p:spPr>
        <p:txBody>
          <a:bodyPr wrap="none" lIns="0" tIns="0" rIns="0" bIns="0" rtlCol="0" anchor="t">
            <a:spAutoFit/>
          </a:bodyPr>
          <a:lstStyle/>
          <a:p>
            <a:pPr marL="0" indent="0" algn="l">
              <a:lnSpc>
                <a:spcPts val="1100"/>
              </a:lnSpc>
              <a:buNone/>
            </a:pPr>
            <a:r>
              <a:rPr lang="en-US" sz="834" b="1" dirty="0">
                <a:solidFill>
                  <a:srgbClr val="FF6B9D"/>
                </a:solidFill>
              </a:rPr>
              <a:t>SciPy (scipy.stats)</a:t>
            </a:r>
            <a:endParaRPr lang="en-US" sz="834" dirty="0"/>
          </a:p>
        </p:txBody>
      </p:sp>
      <p:sp>
        <p:nvSpPr>
          <p:cNvPr id="27" name="Text 23"/>
          <p:cNvSpPr/>
          <p:nvPr/>
        </p:nvSpPr>
        <p:spPr>
          <a:xfrm>
            <a:off x="4893469" y="2144911"/>
            <a:ext cx="3643313" cy="150019"/>
          </a:xfrm>
          <a:prstGeom prst="rect">
            <a:avLst/>
          </a:prstGeom>
          <a:noFill/>
          <a:ln/>
        </p:spPr>
        <p:txBody>
          <a:bodyPr wrap="none" lIns="0" tIns="0" rIns="0" bIns="0" rtlCol="0" anchor="t">
            <a:spAutoFit/>
          </a:bodyPr>
          <a:lstStyle/>
          <a:p>
            <a:pPr marL="0" indent="0" algn="l">
              <a:lnSpc>
                <a:spcPts val="1200"/>
              </a:lnSpc>
              <a:buNone/>
            </a:pPr>
            <a:r>
              <a:rPr lang="en-US" sz="780" dirty="0">
                <a:solidFill>
                  <a:srgbClr val="FFFFFF"/>
                </a:solidFill>
              </a:rPr>
              <a:t>Distributions and statistical functions.</a:t>
            </a:r>
            <a:endParaRPr lang="en-US" sz="780" dirty="0"/>
          </a:p>
        </p:txBody>
      </p:sp>
      <p:sp>
        <p:nvSpPr>
          <p:cNvPr id="28" name="Text 24"/>
          <p:cNvSpPr/>
          <p:nvPr/>
        </p:nvSpPr>
        <p:spPr>
          <a:xfrm>
            <a:off x="4893469" y="2352080"/>
            <a:ext cx="3643313" cy="166092"/>
          </a:xfrm>
          <a:prstGeom prst="rect">
            <a:avLst/>
          </a:prstGeom>
          <a:noFill/>
          <a:ln/>
        </p:spPr>
        <p:txBody>
          <a:bodyPr wrap="none" lIns="0" tIns="0" rIns="0" bIns="0" rtlCol="0" anchor="t">
            <a:spAutoFit/>
          </a:bodyPr>
          <a:lstStyle/>
          <a:p>
            <a:pPr marL="0" indent="0" algn="l">
              <a:lnSpc>
                <a:spcPts val="1100"/>
              </a:lnSpc>
              <a:buNone/>
            </a:pPr>
            <a:r>
              <a:rPr lang="en-US" sz="834" b="1" dirty="0">
                <a:solidFill>
                  <a:srgbClr val="FF6B9D"/>
                </a:solidFill>
              </a:rPr>
              <a:t>Matplotlib &amp; Seaborn</a:t>
            </a:r>
            <a:endParaRPr lang="en-US" sz="834" dirty="0"/>
          </a:p>
        </p:txBody>
      </p:sp>
      <p:sp>
        <p:nvSpPr>
          <p:cNvPr id="29" name="Text 25"/>
          <p:cNvSpPr/>
          <p:nvPr/>
        </p:nvSpPr>
        <p:spPr>
          <a:xfrm>
            <a:off x="4893469" y="2546747"/>
            <a:ext cx="3643313" cy="150019"/>
          </a:xfrm>
          <a:prstGeom prst="rect">
            <a:avLst/>
          </a:prstGeom>
          <a:noFill/>
          <a:ln/>
        </p:spPr>
        <p:txBody>
          <a:bodyPr wrap="none" lIns="0" tIns="0" rIns="0" bIns="0" rtlCol="0" anchor="t">
            <a:spAutoFit/>
          </a:bodyPr>
          <a:lstStyle/>
          <a:p>
            <a:pPr marL="0" indent="0" algn="l">
              <a:lnSpc>
                <a:spcPts val="1200"/>
              </a:lnSpc>
              <a:buNone/>
            </a:pPr>
            <a:r>
              <a:rPr lang="en-US" sz="780" dirty="0">
                <a:solidFill>
                  <a:srgbClr val="FFFFFF"/>
                </a:solidFill>
              </a:rPr>
              <a:t>Plot probability distributions and results.</a:t>
            </a:r>
            <a:endParaRPr lang="en-US" sz="780" dirty="0"/>
          </a:p>
        </p:txBody>
      </p:sp>
      <p:sp>
        <p:nvSpPr>
          <p:cNvPr id="30" name="Text 26"/>
          <p:cNvSpPr/>
          <p:nvPr/>
        </p:nvSpPr>
        <p:spPr>
          <a:xfrm>
            <a:off x="4893469" y="2753916"/>
            <a:ext cx="3643313" cy="166092"/>
          </a:xfrm>
          <a:prstGeom prst="rect">
            <a:avLst/>
          </a:prstGeom>
          <a:noFill/>
          <a:ln/>
        </p:spPr>
        <p:txBody>
          <a:bodyPr wrap="none" lIns="0" tIns="0" rIns="0" bIns="0" rtlCol="0" anchor="t">
            <a:spAutoFit/>
          </a:bodyPr>
          <a:lstStyle/>
          <a:p>
            <a:pPr marL="0" indent="0" algn="l">
              <a:lnSpc>
                <a:spcPts val="1100"/>
              </a:lnSpc>
              <a:buNone/>
            </a:pPr>
            <a:r>
              <a:rPr lang="en-US" sz="834" b="1" dirty="0">
                <a:solidFill>
                  <a:srgbClr val="FF6B9D"/>
                </a:solidFill>
              </a:rPr>
              <a:t>Pandas</a:t>
            </a:r>
            <a:endParaRPr lang="en-US" sz="834" dirty="0"/>
          </a:p>
        </p:txBody>
      </p:sp>
      <p:sp>
        <p:nvSpPr>
          <p:cNvPr id="31" name="Text 27"/>
          <p:cNvSpPr/>
          <p:nvPr/>
        </p:nvSpPr>
        <p:spPr>
          <a:xfrm>
            <a:off x="4893469" y="2948583"/>
            <a:ext cx="3643313" cy="150019"/>
          </a:xfrm>
          <a:prstGeom prst="rect">
            <a:avLst/>
          </a:prstGeom>
          <a:noFill/>
          <a:ln/>
        </p:spPr>
        <p:txBody>
          <a:bodyPr wrap="none" lIns="0" tIns="0" rIns="0" bIns="0" rtlCol="0" anchor="t">
            <a:spAutoFit/>
          </a:bodyPr>
          <a:lstStyle/>
          <a:p>
            <a:pPr marL="0" indent="0" algn="l">
              <a:lnSpc>
                <a:spcPts val="1200"/>
              </a:lnSpc>
              <a:buNone/>
            </a:pPr>
            <a:r>
              <a:rPr lang="en-US" sz="780" dirty="0">
                <a:solidFill>
                  <a:srgbClr val="FFFFFF"/>
                </a:solidFill>
              </a:rPr>
              <a:t>Data manipulation; probability tables.</a:t>
            </a:r>
            <a:endParaRPr lang="en-US" sz="780" dirty="0"/>
          </a:p>
        </p:txBody>
      </p:sp>
      <p:sp>
        <p:nvSpPr>
          <p:cNvPr id="32" name="Shape 28"/>
          <p:cNvSpPr/>
          <p:nvPr/>
        </p:nvSpPr>
        <p:spPr>
          <a:xfrm>
            <a:off x="4714875" y="3184327"/>
            <a:ext cx="4000500" cy="1462683"/>
          </a:xfrm>
          <a:prstGeom prst="rect">
            <a:avLst/>
          </a:prstGeom>
          <a:solidFill>
            <a:srgbClr val="FF6B9D">
              <a:alpha val="10000"/>
            </a:srgbClr>
          </a:solidFill>
          <a:ln/>
        </p:spPr>
        <p:txBody>
          <a:bodyPr/>
          <a:lstStyle/>
          <a:p>
            <a:endParaRPr lang="en-US"/>
          </a:p>
        </p:txBody>
      </p:sp>
      <p:sp>
        <p:nvSpPr>
          <p:cNvPr id="33" name="Text 29"/>
          <p:cNvSpPr/>
          <p:nvPr/>
        </p:nvSpPr>
        <p:spPr>
          <a:xfrm>
            <a:off x="4893469" y="3241477"/>
            <a:ext cx="3643313" cy="214313"/>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FF6B9D"/>
                </a:solidFill>
              </a:rPr>
              <a:t>📺 Video Resources</a:t>
            </a:r>
            <a:endParaRPr lang="en-US" sz="1090" dirty="0"/>
          </a:p>
        </p:txBody>
      </p:sp>
      <p:sp>
        <p:nvSpPr>
          <p:cNvPr id="34" name="Text 30"/>
          <p:cNvSpPr/>
          <p:nvPr/>
        </p:nvSpPr>
        <p:spPr>
          <a:xfrm>
            <a:off x="4893469" y="3498652"/>
            <a:ext cx="3643313" cy="166092"/>
          </a:xfrm>
          <a:prstGeom prst="rect">
            <a:avLst/>
          </a:prstGeom>
          <a:noFill/>
          <a:ln/>
        </p:spPr>
        <p:txBody>
          <a:bodyPr wrap="none" lIns="0" tIns="0" rIns="0" bIns="0" rtlCol="0" anchor="t">
            <a:spAutoFit/>
          </a:bodyPr>
          <a:lstStyle/>
          <a:p>
            <a:pPr marL="0" indent="0" algn="l">
              <a:lnSpc>
                <a:spcPts val="1100"/>
              </a:lnSpc>
              <a:buNone/>
            </a:pPr>
            <a:r>
              <a:rPr lang="en-US" sz="834" b="1" dirty="0">
                <a:solidFill>
                  <a:srgbClr val="FF6B9D"/>
                </a:solidFill>
              </a:rPr>
              <a:t>3Blue1Brown</a:t>
            </a:r>
            <a:endParaRPr lang="en-US" sz="834" dirty="0"/>
          </a:p>
        </p:txBody>
      </p:sp>
      <p:sp>
        <p:nvSpPr>
          <p:cNvPr id="35" name="Text 31"/>
          <p:cNvSpPr/>
          <p:nvPr/>
        </p:nvSpPr>
        <p:spPr>
          <a:xfrm>
            <a:off x="4893469" y="3693319"/>
            <a:ext cx="3643313" cy="150019"/>
          </a:xfrm>
          <a:prstGeom prst="rect">
            <a:avLst/>
          </a:prstGeom>
          <a:noFill/>
          <a:ln/>
        </p:spPr>
        <p:txBody>
          <a:bodyPr wrap="none" lIns="0" tIns="0" rIns="0" bIns="0" rtlCol="0" anchor="t">
            <a:spAutoFit/>
          </a:bodyPr>
          <a:lstStyle/>
          <a:p>
            <a:pPr marL="0" indent="0" algn="l">
              <a:lnSpc>
                <a:spcPts val="1200"/>
              </a:lnSpc>
              <a:buNone/>
            </a:pPr>
            <a:r>
              <a:rPr lang="en-US" sz="780" dirty="0">
                <a:solidFill>
                  <a:srgbClr val="FFFFFF"/>
                </a:solidFill>
              </a:rPr>
              <a:t>Visual explanations; Bayes' theorem.</a:t>
            </a:r>
            <a:endParaRPr lang="en-US" sz="780" dirty="0"/>
          </a:p>
        </p:txBody>
      </p:sp>
      <p:sp>
        <p:nvSpPr>
          <p:cNvPr id="36" name="Text 32"/>
          <p:cNvSpPr/>
          <p:nvPr/>
        </p:nvSpPr>
        <p:spPr>
          <a:xfrm>
            <a:off x="4893469" y="3900488"/>
            <a:ext cx="3643313" cy="166092"/>
          </a:xfrm>
          <a:prstGeom prst="rect">
            <a:avLst/>
          </a:prstGeom>
          <a:noFill/>
          <a:ln/>
        </p:spPr>
        <p:txBody>
          <a:bodyPr wrap="none" lIns="0" tIns="0" rIns="0" bIns="0" rtlCol="0" anchor="t">
            <a:spAutoFit/>
          </a:bodyPr>
          <a:lstStyle/>
          <a:p>
            <a:pPr marL="0" indent="0" algn="l">
              <a:lnSpc>
                <a:spcPts val="1100"/>
              </a:lnSpc>
              <a:buNone/>
            </a:pPr>
            <a:r>
              <a:rPr lang="en-US" sz="834" b="1" dirty="0">
                <a:solidFill>
                  <a:srgbClr val="FF6B9D"/>
                </a:solidFill>
              </a:rPr>
              <a:t>StatQuest with Josh Starmer</a:t>
            </a:r>
            <a:endParaRPr lang="en-US" sz="834" dirty="0"/>
          </a:p>
        </p:txBody>
      </p:sp>
      <p:sp>
        <p:nvSpPr>
          <p:cNvPr id="37" name="Text 33"/>
          <p:cNvSpPr/>
          <p:nvPr/>
        </p:nvSpPr>
        <p:spPr>
          <a:xfrm>
            <a:off x="4893469" y="4095155"/>
            <a:ext cx="3643313" cy="150019"/>
          </a:xfrm>
          <a:prstGeom prst="rect">
            <a:avLst/>
          </a:prstGeom>
          <a:noFill/>
          <a:ln/>
        </p:spPr>
        <p:txBody>
          <a:bodyPr wrap="none" lIns="0" tIns="0" rIns="0" bIns="0" rtlCol="0" anchor="t">
            <a:spAutoFit/>
          </a:bodyPr>
          <a:lstStyle/>
          <a:p>
            <a:pPr marL="0" indent="0" algn="l">
              <a:lnSpc>
                <a:spcPts val="1200"/>
              </a:lnSpc>
              <a:buNone/>
            </a:pPr>
            <a:r>
              <a:rPr lang="en-US" sz="780" dirty="0">
                <a:solidFill>
                  <a:srgbClr val="FFFFFF"/>
                </a:solidFill>
              </a:rPr>
              <a:t>Clear, entertaining stats/probability.</a:t>
            </a:r>
            <a:endParaRPr lang="en-US" sz="780" dirty="0"/>
          </a:p>
        </p:txBody>
      </p:sp>
      <p:sp>
        <p:nvSpPr>
          <p:cNvPr id="38" name="Text 34"/>
          <p:cNvSpPr/>
          <p:nvPr/>
        </p:nvSpPr>
        <p:spPr>
          <a:xfrm>
            <a:off x="4893469" y="4302323"/>
            <a:ext cx="3643313" cy="166092"/>
          </a:xfrm>
          <a:prstGeom prst="rect">
            <a:avLst/>
          </a:prstGeom>
          <a:noFill/>
          <a:ln/>
        </p:spPr>
        <p:txBody>
          <a:bodyPr wrap="none" lIns="0" tIns="0" rIns="0" bIns="0" rtlCol="0" anchor="t">
            <a:spAutoFit/>
          </a:bodyPr>
          <a:lstStyle/>
          <a:p>
            <a:pPr marL="0" indent="0" algn="l">
              <a:lnSpc>
                <a:spcPts val="1100"/>
              </a:lnSpc>
              <a:buNone/>
            </a:pPr>
            <a:r>
              <a:rPr lang="en-US" sz="834" b="1" dirty="0">
                <a:solidFill>
                  <a:srgbClr val="FF6B9D"/>
                </a:solidFill>
              </a:rPr>
              <a:t>Khan Academy YouTube</a:t>
            </a:r>
            <a:endParaRPr lang="en-US" sz="834" dirty="0"/>
          </a:p>
        </p:txBody>
      </p:sp>
      <p:sp>
        <p:nvSpPr>
          <p:cNvPr id="39" name="Text 35"/>
          <p:cNvSpPr/>
          <p:nvPr/>
        </p:nvSpPr>
        <p:spPr>
          <a:xfrm>
            <a:off x="4893469" y="4496991"/>
            <a:ext cx="3643313" cy="150019"/>
          </a:xfrm>
          <a:prstGeom prst="rect">
            <a:avLst/>
          </a:prstGeom>
          <a:noFill/>
          <a:ln/>
        </p:spPr>
        <p:txBody>
          <a:bodyPr wrap="none" lIns="0" tIns="0" rIns="0" bIns="0" rtlCol="0" anchor="t">
            <a:spAutoFit/>
          </a:bodyPr>
          <a:lstStyle/>
          <a:p>
            <a:pPr marL="0" indent="0" algn="l">
              <a:lnSpc>
                <a:spcPts val="1200"/>
              </a:lnSpc>
              <a:buNone/>
            </a:pPr>
            <a:r>
              <a:rPr lang="en-US" sz="780" dirty="0">
                <a:solidFill>
                  <a:srgbClr val="FFFFFF"/>
                </a:solidFill>
              </a:rPr>
              <a:t>Step-by-step series on probability.</a:t>
            </a:r>
            <a:endParaRPr lang="en-US" sz="7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982</TotalTime>
  <Words>20641</Words>
  <Application>Microsoft Macintosh PowerPoint</Application>
  <PresentationFormat>On-screen Show (16:9)</PresentationFormat>
  <Paragraphs>1140</Paragraphs>
  <Slides>41</Slides>
  <Notes>41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41</vt:i4>
      </vt:variant>
    </vt:vector>
  </HeadingPairs>
  <TitlesOfParts>
    <vt:vector size="43"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Amit Pandey</cp:lastModifiedBy>
  <cp:revision>28</cp:revision>
  <dcterms:created xsi:type="dcterms:W3CDTF">2025-11-28T21:41:32Z</dcterms:created>
  <dcterms:modified xsi:type="dcterms:W3CDTF">2025-12-06T05:39:26Z</dcterms:modified>
</cp:coreProperties>
</file>