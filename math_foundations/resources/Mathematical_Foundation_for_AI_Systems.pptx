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380" r:id="rId40"/>
    <p:sldId id="381"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52"/>
    <p:restoredTop sz="94610"/>
  </p:normalViewPr>
  <p:slideViewPr>
    <p:cSldViewPr snapToGrid="0" snapToObjects="1">
      <p:cViewPr varScale="1">
        <p:scale>
          <a:sx n="99" d="100"/>
          <a:sy n="99" d="100"/>
        </p:scale>
        <p:origin x="21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6:26.115"/>
    </inkml:context>
    <inkml:brush xml:id="br0">
      <inkml:brushProperty name="width" value="0.05" units="cm"/>
      <inkml:brushProperty name="height" value="0.05" units="cm"/>
    </inkml:brush>
  </inkml:definitions>
  <inkml:trace contextRef="#ctx0" brushRef="#br0">1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13.290"/>
    </inkml:context>
    <inkml:brush xml:id="br0">
      <inkml:brushProperty name="width" value="0.05" units="cm"/>
      <inkml:brushProperty name="height" value="0.05" units="cm"/>
    </inkml:brush>
  </inkml:definitions>
  <inkml:trace contextRef="#ctx0" brushRef="#br0">1 65 24575,'42'-10'0,"0"2"0,36-4 0,-20 6 0,5 1 0,8-1 0,3 0 0,4 2 0,3 0 0,15 2 0,-1 1 0,-25 1 0,-3 0 0,0 0 0,-4 0 0,19 0 0,-53 0 0,-17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12.482"/>
    </inkml:context>
    <inkml:brush xml:id="br0">
      <inkml:brushProperty name="width" value="0.05" units="cm"/>
      <inkml:brushProperty name="height" value="0.05" units="cm"/>
    </inkml:brush>
  </inkml:definitions>
  <inkml:trace contextRef="#ctx0" brushRef="#br0">0 8685 24575,'53'0'0,"0"0"0,40 0 0,7 0 0,-26 0 0,6-6 0,3-8 0,12-4 0,-45 0 0,-2-3 0,35-23 0,-2-9 0,-32 17 0,-1-4 0,-8 2 0,0-2 0,9-8 0,-1 0 0,-10 8 0,-2 1 0,2 0 0,0-2 0,2-6 0,0-1 0,-8 11 0,1-2 0,25-33 0,0-1 0,-24 29 0,0 1-308,14-19 1,2-5 307,0-3 0,-1-2 0,-6 10 0,2-6 0,3-8 0,6-8 0,-3 1-1046,-8 14 1,-1 2 0,1-5 1045,-2 5 0,1-2 0,2-5 0,1-6 0,-3 3 0,2-7 0,1-5 0,0 0 0,-2 3 0,-3 7 0,2-4 0,-3 7 0,-1-1 0,4-12 0,-6 10 0,2-8 0,3-7 0,1-4 0,0-1 0,-1 2 0,-2 4 0,-3 7 0,4-10 0,-4 8 0,0 2 0,0-4 0,4-8-557,-7 16 1,3-5-1,1-6 1,1-2-1,1-1 1,-1 0-1,0 4 1,-2 3-1,-3 7 557,3-4 0,-2 6 0,-2 3 0,1 2 0,1-3 0,2-4 0,-2 5 0,2-4 0,1-2 0,1-1 0,0 0 0,0 3 0,-2 5 0,-1 5-287,5-7 1,-1 8 0,-2 2 0,1 2 0,2-4 286,5-7 0,0-1 0,2-1 0,0 2 0,1 2 0,10-10 0,2 3 0,0 2 0,-1 5-66,-10 14 1,-1 3 0,0 2 0,2 2 65,18-14 0,2 4 0,-2 1 0,-5 3 0,-1 2 0,2 0 0,4-2 0,2 1 0,2-1 0,-13 8 0,1-1 0,1 0 0,1 2 221,0 2 1,1 2 0,2 1-1,1 1-221,4-1 0,1 0 0,1 2 0,-3 3 0,8-2 0,-2 3 0,0 5 1377,-7 6 0,-1 4 0,4 7-1377,7 11 0,4 8 0,2 5 0,11 5 0,2 7 0,4 5-31,-26-1 0,4 3 0,1 3 0,0 2 0,-1 1 31,1 2 0,1 2 0,0 1 0,-2 3 0,-1 4 0,-1 3 0,-2 4 0,-1 2 0,-2 2 0,-1-1 0,-3 0 0,0 0 0,-3 1 0,-1 0 0,-4 1 0,5 10 0,-4 1 0,-3 0 0,-2-2 0,8 8 0,-3-1 0,-8-4 430,-4 5 0,-9-5-430,-13-19 0,-4-2 1435,12 38-1435,-9-36 0,4 4 0,13 20 0,9 7-591,0-7 1,7 5 0,6 5 590,-12-15 0,4 4 0,3 2 0,1 2 0,0 0-218,-4-5 0,0 1 0,2 1 1,0 1-1,2 1 0,0 0 218,-3-5 0,1 2 0,1 0 0,1 0 0,0 1 0,0 0 0,0 0 0,1 1 0,0 1 0,0 0 0,0-1 0,0 1 0,0-2 0,0-1 0,-4-6 0,0 0 0,1-2 0,-1 0 0,0 0 0,0 1 0,1-1 0,2 4 0,-1 0 0,1 0 0,0 0 0,1 0 0,1-1 0,0-2 0,2 0 0,1-1 0,2 0 0,-1-2 0,0 0 0,0-1 0,-1-1 0,3 3 0,-2-1 0,1-1 0,-1-1 0,1-1 0,1-1-319,1 0 1,2 1-1,1-2 1,-1-1-1,-1-2 1,-1-3 318,3 0 0,-3-2 0,1-2 0,-2-2 0,2-1-241,12 5 0,1-3 0,-1-1 0,-2-1 241,-9-4 0,-1-1 0,-1-2 0,0-1 451,21 6 1,0-4 0,-5-2-452,-20-10 0,-3-1 0,-3-3 1620,22 9 1,-4-6-1621,-20-12 0,-3-3 2481,24 3-2481,-13-9 1572,-2-3-1572,0 2 599,5 7-599,-5 5 0,-4 7 0,-10-1 0,-4-4 0,-4-4 0,14 5 0,0 2 0,17 15 0,2 4 0,11 9 0,-41-25 0,2-1 0,1 0 0,0-2 0,40 12 0,-14-5 0,-20-9 0,-17-4 0,-12-8 0,4 3 0,5 2 0,18 8 0,10 6 0,16 8 0,8 3 0,-39-17 0,1 1 0,0-2 0,1 0 0,12 0 0,1-2 0,2 1 0,0 0 0,3 0 0,0 1 0,3 0 0,-1 1 0,-7 0 0,0 1 0,2-2 0,1-1 0,4 2 0,0-3 0,-7-5 0,-1-2 0,4-1 0,0-1 0,-6-4 0,-3-1 0,-4-1 0,-3 0 0,41 0 0,-23 0 0,-13 0 0,-16 0 0,-23 0 0,-7 0 0,-13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14.249"/>
    </inkml:context>
    <inkml:brush xml:id="br0">
      <inkml:brushProperty name="width" value="0.05" units="cm"/>
      <inkml:brushProperty name="height" value="0.05" units="cm"/>
    </inkml:brush>
  </inkml:definitions>
  <inkml:trace contextRef="#ctx0" brushRef="#br0">0 175 8191,'71'-5'0,"0"1"0,0 0 0,27-3 0,0 0 1166,-29 2 1,2 1 0,6-2-1167,10-3 0,9-2 0,4-1 0,3 1 0,-22 5 0,3 1 0,2 0 0,1 1 0,1-1 0,-2 0 150,1-1 1,-2-1 0,1 0-1,1 0 1,3 1 0,5 0-151,-12 3 0,2 0 0,4 0 0,1 1 0,2 0 0,1 0 0,0 1 0,-1 0 0,-1 0-158,-3 0 0,-1 0 1,0 1-1,-1 0 1,2 0-1,0 1 1,3-1-1,3 0 1,3 1 157,-10-2 0,3 1 0,2 0 0,2 0 0,1-1 0,2 1 0,1 0 0,1 0 0,1 0 0,0 0 0,1 0 0,-1 1 0,0 0 0,-6 0 0,-1 0 0,2 0 0,-1 0 0,1 0 0,0 1 0,1 0 0,1 0 0,0 0 0,1 0 0,0 0 0,1 1 0,0 0 0,2 0 0,0 1 0,-7-1 0,1 1 0,1 0 0,1 0 0,0 0 0,2 1 0,0 0 0,0-1 0,0 2 0,1-1 0,0 0 0,0 0 0,0 1 0,-1-1 0,1 1 0,-2-1 0,1 0 0,-1 1-105,-3-1 0,0 0 1,0 0-1,-1 1 1,0-1-1,0 0 1,0 0-1,-1 1 1,1-1-1,0 1 1,0-1-1,1 1 1,0 0-1,1 0 1,0 0-1,1 1 1,1-1-1,0 1 105,-4-1 0,0 1 0,1 0 0,1 1 0,0-1 0,1 1 0,1 0 0,0 0 0,0 0 0,0 0 0,1 0 0,0 0 0,-1 0 0,1 0 0,-1 0 0,0 0 0,-1-1 0,0 1 0,0-1 0,-2 0 0,0 0-59,4-1 1,-1 1 0,0-1 0,-1 1 0,-1-1 0,1 0 0,-1 0 0,-1 0 0,1 0 0,-1-1 0,1 1 0,0-1 0,0 1 0,0-1 0,1 0-1,0 0 1,1 1 0,0-1 0,1 0 58,-3-1 0,0 1 0,1-1 0,1 1 0,0-1 0,0 1 0,1-1 0,1 0 0,-1 0 0,0 0 0,1 0 0,-1 0 0,0 0 0,0-1 0,-1 1 0,0 0 0,-1-1 0,-1 0 0,0 1 0,-1-1 0,-1 0 0,4 0 0,0 0 0,0 0 0,-2 0 0,0 0 0,0 0 0,-1-1 0,-1 1 0,1-1 0,-1 1 0,-1-1 0,1 0 0,-1 0 0,0 0 0,0 0 0,0 0 0,1-1 0,-1 1 0,3-1 0,1 0 0,0 0 0,0 0 0,1-1 0,-1 1 0,0-1 0,0 1 0,-1-1 0,0 0 0,-1 0 0,-1 0 0,-1 0 0,-1 0 0,-2 0 0,0 0 0,-2 0 0,16 0 0,-2 0 0,-2 0 0,-1 0 0,-1-1 0,-1 1 0,-2 0 0,0-1 0,-1 1 0,0-1 0,0 0 0,0 0 0,2 0 0,0 0 0,0 0 0,0 0 0,-1 0 0,-1 0 0,-1-1 0,-2 1 0,-1-1 0,-3-1 0,-2 0 118,22-1 0,-3 0 0,-3-2 0,-2 1 0,-2-1 0,-3 0 1,-1 1-119,-1-1 0,-1 1 0,-3-1 0,-2 1 0,-2-1 0,-2-1 542,22-3 0,-2-2 0,-7 1 0,-11 1-542,9 0 0,-11 1 1756,-9 2 1,-14 1-1757,-29 2 1313,-31 4 0,-3 0 0,-1 0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16.399"/>
    </inkml:context>
    <inkml:brush xml:id="br0">
      <inkml:brushProperty name="width" value="0.05" units="cm"/>
      <inkml:brushProperty name="height" value="0.05" units="cm"/>
    </inkml:brush>
  </inkml:definitions>
  <inkml:trace contextRef="#ctx0" brushRef="#br0">165 1 24575,'0'66'0,"0"31"0,0-11 0,0 10 0,0-21 0,0 3 0,0 7-1290,0 4 0,0 6 0,0 4 0,0 1 1290,0-16 0,-1 1 0,1 1 0,0 2 0,1 1 0,-1-6 0,0 1 0,1 1 0,0 1 0,0 0 0,1 2-432,0 5 1,2 1 0,-1 2-1,1-1 1,0 1 0,0-2 431,-1-2 0,0 0 0,-1 0 0,1-1 0,1 1 0,0 0 0,2 4 0,0 0 0,1 0 0,0 0 0,0 0 0,0-2 0,-2-5 0,0-1 0,0 0 0,-1-1 0,1-1 0,0 0-72,2 12 1,1 0 0,-1-1 0,0-1 0,0-1 71,-2-3 0,0 0 0,-1-2 0,0 1 0,0-1 0,-1-2 0,1-1 0,-1 0 0,0 2 0,-1 3-684,-1-2 1,0 4 0,-1 2 0,0-1 0,0-3-1,0-6 684,1 10 0,0-8 0,-1 1 0,-2 9 0,0-12 0,-2 8 0,0 6 0,-1 1 0,-1-3 0,1-6 0,0-11-109,-1 22 0,0-13 0,-3 10 109,0-16 0,-2 9 0,-1 5 0,-1 0 0,0-3 0,1-8 0,-2 2 0,1-7 0,-1-2 0,-1 4 0,-2 12 0,-1 3 0,1-1 0,1-8 387,0 0 0,2-7 0,1-4-387,-4 17 0,3-10 722,7-34 1,1-5-723,-3 27 5228,0-8-5228,7-18 3217,2 25-3217,0-3 0,2 10 0,2-10 0,2 4 0,0 7-377,-1 4 0,1 6 0,-1 4 0,1 3 377,-2-7 0,0 4 0,0 1 0,-1 2 0,1 1-613,-1-10 1,0 2 0,0 0 0,-1 1 0,0 2 0,0 2 612,-1-4 0,-1 2 0,0 2 0,0 0 0,0 1 0,-1-2 0,1-1 0,0 6 0,0-1 0,0 0 0,0-1 0,0 0 0,0 2 0,0-11 0,0 1 0,0 1 0,0 0 0,0-1 0,0-1 0,0-3 0,0 5 0,0-3 0,0-1 0,0 0 0,0-2 0,0 0 0,0 10 0,0-1 0,0-1 0,0 0 0,0-2-301,0-4 1,0 0-1,0-1 1,0-1-1,0-2 301,0 12 0,0-2 0,0-1 0,0-2-166,0-5 1,0-1 0,0-1 0,0-2 165,2 18 0,0-3 0,0-5 0,-1-14 0,-1-4 0,1-3 996,3 24 0,-1-5-996,-3-21 0,0-5 3626,0 25-3626,0-22 2108,0-22-2108,0 0 1099,0-7-1099,0-4 0,0-5 0,0-5 0,0-8 0,0-2 0,0-4 0,0 3 0,0-3 0,0 3 0,0-7 0,0-1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26.499"/>
    </inkml:context>
    <inkml:brush xml:id="br0">
      <inkml:brushProperty name="width" value="0.05" units="cm"/>
      <inkml:brushProperty name="height" value="0.05" units="cm"/>
    </inkml:brush>
  </inkml:definitions>
  <inkml:trace contextRef="#ctx0" brushRef="#br0">10 1 24575,'-5'5'0,"3"41"0,0 35 0,1-24 0,2 2 0,0-7 0,0 1 0,1 6 0,0-2 0,4 12 0,0-16 0,1-3 0,0-8 0,3 4 0,-8-37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27.507"/>
    </inkml:context>
    <inkml:brush xml:id="br0">
      <inkml:brushProperty name="width" value="0.05" units="cm"/>
      <inkml:brushProperty name="height" value="0.05" units="cm"/>
    </inkml:brush>
  </inkml:definitions>
  <inkml:trace contextRef="#ctx0" brushRef="#br0">1 468 24575,'0'54'0,"0"5"0,0 20 0,14 3 0,6 0 0,20-13 0,6-18 0,39-18 0,4-19 0,-32-7 0,0-6 0,2-10 0,-3-8 0,30-31 0,-38 7 0,-6-9 0,-13-6 0,-6-5 0,0-8 0,-3-1 0,-10-2 0,-3 0 0,0-1 0,-4 2 0,-7 13 0,-2 3 0,-7-35 0,-2 41 0,1 18 0,8 24 0,2 27 0,9 34 0,1-7 0,2 6 0,3 16 0,1 6 0,-1-8 0,1 3 0,-1 0 0,1 20 0,-1 1 0,-3-22 0,1 3 0,-1-6 0,1 2 0,-1-5 0,1-2 0,0-6 0,6 13 0,0-20 0,-10-35 0,-1-5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28.021"/>
    </inkml:context>
    <inkml:brush xml:id="br0">
      <inkml:brushProperty name="width" value="0.05" units="cm"/>
      <inkml:brushProperty name="height" value="0.05" units="cm"/>
    </inkml:brush>
  </inkml:definitions>
  <inkml:trace contextRef="#ctx0" brushRef="#br0">0 1161 24575,'4'-7'0,"38"-29"0,15-9 0,13-7 0,-11 6 0,6-2 0,3-4-431,-1 0 0,4-2 0,2-3 0,2 1 431,-11 8 0,3 0 0,0-1 0,0 1 0,-3 1 0,9-6 0,-2 1 0,-2 1 0,-1 3 0,13-4 0,-3 3 0,-10 8 0,-13 4 0,-11 12 0,-10 17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28.540"/>
    </inkml:context>
    <inkml:brush xml:id="br0">
      <inkml:brushProperty name="width" value="0.05" units="cm"/>
      <inkml:brushProperty name="height" value="0.05" units="cm"/>
    </inkml:brush>
  </inkml:definitions>
  <inkml:trace contextRef="#ctx0" brushRef="#br0">1 1609 24575,'58'-66'0,"1"0"0,-2 5 0,6-3 0,4-2 0,-4 6 0,3-1 0,4-1 0,1-3-911,-6 6 1,2-3 0,2-1-1,0 1 1,-2 3 910,8-6 0,0 3 0,-2 0 0,0 2 0,-5 2 0,0 1 0,-2 2 0,-4 4 464,3 1 0,-3 4 0,-5 5-464,3-1 0,-8 6 185,11-2 0,-40 28 1,-17 10-1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34.182"/>
    </inkml:context>
    <inkml:brush xml:id="br0">
      <inkml:brushProperty name="width" value="0.05" units="cm"/>
      <inkml:brushProperty name="height" value="0.05" units="cm"/>
    </inkml:brush>
  </inkml:definitions>
  <inkml:trace contextRef="#ctx0" brushRef="#br0">323 1 24575,'0'54'0,"0"13"0,0 6 0,-3 6 0,0-13 0,0-4 0,-1 4 0,-2-8 0,0 2 0,2 33 0,-2 5 0,-4-1 0,-2 2-444,5-25 0,0 2 0,-1 2 444,-2 9 0,-1 3 0,0 0 0,-3 5 0,0 1 0,0 0 0,2 0 0,0 1 0,-1-1 0,0-4 0,-1-2 0,0 1 0,3-3 0,1-1 0,1 1 0,0 1 0,0-1 0,2-2 0,-1-9 0,2-2 0,0 0 16,2 5 1,1 1 0,0-5-17,-1 15 0,2-4 0,1 0 0,2-1 0,-1 1 0,0 1 0,0-8 0,2 1 0,3 16 0,1 0 0,-3-10 0,-1 1 0,3-14 0,0 3 0,-1-2 0,-1 20 0,-1 0 0,0-22 0,2 2 0,-1-2 0,0-4 0,0 0 0,0 0 0,1 4 0,1 2 0,-1 1-259,0 4 0,0 0 1,1 2 258,2 0 0,0 2 0,1-1 0,0 1 0,0 0 0,1-1 0,1 0 0,1-1 0,0-1 0,-1-2 0,1 0 0,-1 0 0,1-1 0,-1 1 0,1 0 0,0 0 0,0 1 0,1-3 0,0-7 0,0-1 0,1-1 0,0-1 0,0 0 0,1-3 0,4 14 0,-1-3 476,-1-2 0,-1 0-476,-3 8 0,-3 1 0,-2-6 0,-2 1 0,-1 18 0,-1 0 0,-2-15 0,-2-1 0,0 12 0,-1 0 0,0-9 0,0-3 0,0-9 0,0 0 139,0 1 0,1-2-139,0-8 0,2 0 414,1 2 0,0 1-414,1 1 0,1 1 0,2-6 0,0 1 0,-1 6 0,-2 1 0,1-5 0,-2-1 0,-1 5 0,-1 0 0,-1-6 0,2-1 0,1 4 0,1-1 0,-2-12 0,-1 0 0,3 3 0,0-3 0,-3 19 0,4-5 0,-3-16 0,6-16 0,-2-2 0,2-9 0,1 4 0,1 2 0,-4-7 0,2 1 0,-4-8 0,1-2 0,2-11 0,4-18 0,5-18 0,1-20 0,-7 20 0,-2 5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36.524"/>
    </inkml:context>
    <inkml:brush xml:id="br0">
      <inkml:brushProperty name="width" value="0.05" units="cm"/>
      <inkml:brushProperty name="height" value="0.05" units="cm"/>
    </inkml:brush>
  </inkml:definitions>
  <inkml:trace contextRef="#ctx0" brushRef="#br0">76 1 24575,'0'60'0,"0"25"0,0-30 0,0 6 0,0 3 0,0 7 0,0 5 0,0-2 0,0 5 0,0 2 0,0 1-1039,0 4 0,0 2 0,0 1 0,0 3 1039,0-7 0,0 4 0,0 1 0,0 0 0,0-4 0,0 12 0,0-3 0,0-1 0,0 2 0,-1-15 0,-1 1 0,0 1 0,0 0 0,0-1 0,0 2 0,0-1 0,0 0 0,0 1 0,-1-1 0,0 1 0,-1 0 0,0-1 0,0 1 0,1-2 0,-1 19 0,2-1 0,-1-1 0,1-1 0,0-7 0,-1-1 0,1-2 0,1 1-132,0-1 1,1 0-1,1-1 1,-1-1 131,0-6 0,0-2 0,0-1 0,0 1 0,-2 3 0,1-1 0,-1 0 0,0-1 48,1 19 0,0-2 0,0 0-48,-1 0 0,-1 0 0,1-2 0,2-7 0,-1-3 0,1 2 0,0 3 0,0 1 0,0-1 0,0-9 0,0 0 0,0 0 0,1 8 0,1 1 0,0-1 0,1-2 0,0 0 0,2-3-162,1-8 1,1-2 0,0 2 161,2 8 0,0 1 0,0-4 0,5 6 0,1-2 0,-5-14 0,0 3 0,0-2 0,4 15 0,0 0 0,1 6 0,-1 3 0,-2-28 0,0 0 0,2 0 0,8 24 0,1-1 0,-4 0 0,1-1 928,2-6 0,-1-1-928,-5-10 0,-2 1 733,1 3 0,1 1-733,-1-4 0,1 0 538,0-1 1,1-2-539,0-2 0,1-2 311,-1-3 1,-1-1-312,1-2 0,-1-2 0,-4-7 0,-1 0 0,-4 6 0,-1-1 0,2 28 0,-9 9 0,-10-27 0,-3-8 0,-7-8 0,1-14 0,6-10 0,5 15 0,6 25 0,4-15 0,1 2 0,4 45 0,0-37 0,3-2 0,13 27 0,-5-16 0,2-14 0,-14-41 0,-10 2 0,3-12 0,-8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37.240"/>
    </inkml:context>
    <inkml:brush xml:id="br0">
      <inkml:brushProperty name="width" value="0.05" units="cm"/>
      <inkml:brushProperty name="height" value="0.05" units="cm"/>
    </inkml:brush>
  </inkml:definitions>
  <inkml:trace contextRef="#ctx0" brushRef="#br0">1 463 24575,'64'-46'0,"-19"13"0,4-3 0,12-9 0,5-2 0,10-8 0,-1 2 0,-19 14 0,-4 4 0,-6 7 0,-7 4 0,-9 5 0,-18 16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37.765"/>
    </inkml:context>
    <inkml:brush xml:id="br0">
      <inkml:brushProperty name="width" value="0.05" units="cm"/>
      <inkml:brushProperty name="height" value="0.05" units="cm"/>
    </inkml:brush>
  </inkml:definitions>
  <inkml:trace contextRef="#ctx0" brushRef="#br0">0 0 24575,'2'44'0,"15"22"0,-5-7 0,2 8 0,6 15 0,2 2 0,-3-3 0,1 1 0,1 8 0,0-4 0,-7-25 0,0-4 0,-2-4 0,-1-5 0,-1 6 0,-7-28 0,-1-22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38.299"/>
    </inkml:context>
    <inkml:brush xml:id="br0">
      <inkml:brushProperty name="width" value="0.05" units="cm"/>
      <inkml:brushProperty name="height" value="0.05" units="cm"/>
    </inkml:brush>
  </inkml:definitions>
  <inkml:trace contextRef="#ctx0" brushRef="#br0">1 1 24575,'0'39'0,"0"21"0,0-6 0,0 7 0,0 3 0,0 1 0,0 9 0,0-1 0,3-7 0,0-2 0,-1-10 0,2-2 0,8 39 0,-2-38 0,-1-13 0,-5-29 0,-2-6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38.840"/>
    </inkml:context>
    <inkml:brush xml:id="br0">
      <inkml:brushProperty name="width" value="0.05" units="cm"/>
      <inkml:brushProperty name="height" value="0.05" units="cm"/>
    </inkml:brush>
  </inkml:definitions>
  <inkml:trace contextRef="#ctx0" brushRef="#br0">0 153 24575,'69'-11'0,"-18"-4"0,5 1 0,3-2 0,31-16 0,-32 16 0,-1 1 0,16-5 0,-18 9 0,-43 8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39.482"/>
    </inkml:context>
    <inkml:brush xml:id="br0">
      <inkml:brushProperty name="width" value="0.05" units="cm"/>
      <inkml:brushProperty name="height" value="0.05" units="cm"/>
    </inkml:brush>
  </inkml:definitions>
  <inkml:trace contextRef="#ctx0" brushRef="#br0">1 0 24575,'0'49'0,"0"1"0,0 5 0,0 44 0,3-23 0,3 2 0,1-16 0,2-3 0,-1-9 0,2-1 0,1 10 0,0-5 0,-2-5 0,3 21 0,-7-48 0,0-4 0,-5-12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43.190"/>
    </inkml:context>
    <inkml:brush xml:id="br0">
      <inkml:brushProperty name="width" value="0.05" units="cm"/>
      <inkml:brushProperty name="height" value="0.05" units="cm"/>
    </inkml:brush>
  </inkml:definitions>
  <inkml:trace contextRef="#ctx0" brushRef="#br0">99 1 24575,'0'19'0,"0"26"0,0 11 0,0 6 0,0 6 0,0 5 0,0 7 0,0 2-1328,0 9 1,0 3-1,0 1 1328,0-20 0,0 1 0,0 1 0,0 0 0,0 5 0,0 1 0,0 1 0,0 0 0,0 3 0,0 1 0,0 0 0,0 1 0,-2 1 0,1-1 0,-1 1 0,-1 2 0,1-13 0,0 0 0,0 2 0,0 0 0,0 0 0,0 1 0,0 0 0,0 1 0,0 0 0,-1-1 0,-1 0 0,-1 0 0,-1-1 0,1 1 0,1-1 0,1 19 0,2-1 0,1 0 0,-2-1 0,-2-6 0,0 0 0,-1-2 0,2-1 98,2-7 0,1-1 0,0-1 0,0 0-98,0-2 0,0 1 0,0-3 0,0-1 0,0 9 0,-1-2 0,2-5 0,-1 17 0,2-5 283,0-1 1,0-8-284,1 19 0,0-32 0,-1 1 0,-2-9 0,0-2 996,0-5 1,0-2-997,-3 2 0,0-1 723,-4 30-723,-5-7 308,6-25-308,0-15 0,6-22 0,0-5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45.115"/>
    </inkml:context>
    <inkml:brush xml:id="br0">
      <inkml:brushProperty name="width" value="0.05" units="cm"/>
      <inkml:brushProperty name="height" value="0.05" units="cm"/>
    </inkml:brush>
  </inkml:definitions>
  <inkml:trace contextRef="#ctx0" brushRef="#br0">309 1 24575,'0'52'0,"0"-1"0,0 26 0,0 10 0,0-5 0,0 7 0,0 4-965,0-10 1,0 4 0,0 1-1,0 2 965,0 2 0,0 2 0,0 2 0,0 3 0,0-18 0,0 4 0,0 1 0,0 1 0,0-1 0,0-4 0,0 3 0,0-2 0,0-1 0,0 0 0,0 2 0,0 8 0,0 2 0,0 1 0,0-3 0,-2-5 0,-2-1 0,-2-5 0,1-2 0,0 1 0,1 4 0,1 2 0,0-3 0,-2-6 0,-1-7 0,-2-6 0,1 5 0,1 29 0,1 7 0,1-10 408,3-11 0,-1-3-408,0-6 0,-1 5 0,0-5 0,2 13 0,2-5 0,-2-7 0,1-6 0,0 19 716,0-2-716,0-45 0,0 22 0,0-8 1996,0-1-1996,0 21 330,0-21-330,0 31 0,-10-9 0,7 21 0,-4-46 0,0 3 0,5 8 0,1 1 0,-2-4 0,0 1 0,-1 12 0,1 2 0,2-2 0,-1-1 0,-3-4 0,0-1 0,1 5 0,-1-2 0,-3-13 0,-1-3 0,-3 1 0,0-1 0,4-5 0,-1 1 0,-6 7 0,1-1 0,2 30 0,1-34 0,2 0 0,0 23 0,0-5 0,5-9 0,1-20 0,1-12 0,-3-16 0,2-6 0,-1-7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52.190"/>
    </inkml:context>
    <inkml:brush xml:id="br0">
      <inkml:brushProperty name="width" value="0.05" units="cm"/>
      <inkml:brushProperty name="height" value="0.05" units="cm"/>
    </inkml:brush>
  </inkml:definitions>
  <inkml:trace contextRef="#ctx0" brushRef="#br0">1 26 24575,'0'81'0,"0"-28"0,0 14 0,0 5 0,0 21 0,3-30 0,5-1 0,19 22 0,37-11 0,9-41 0,-11-18 0,6-5 0,-2-4 0,3-3 0,26-1 0,3-4 0,-11-8 0,0-4 0,3-1 0,-3-4 0,-21-2 0,-1-3 0,9-4 0,-2 2 0,-20 8 0,0 2 0,18-6 0,2 2 0,-11 7 0,0 1 0,-3 2 0,2 1 0,13 1 0,-1 3 0,27 2 0,-25 1 0,-2 2 0,19 3 0,-14 10 0,1 7 0,-29-2 0,-1 4 0,22 16 0,-1 6 0,-19-5 0,-5 3 0,-1 0 0,-4 0 0,22 24 0,-26-24 0,-13-16 0,-8-17 0,-2-18 0,11-20 0,15-16 0,26-15 0,1 23 0,5 2 0,-21 9 0,5 4-2262,21 3 1,12 3 0,-9 5 2261,-19 6 0,0 3-77,17 1 0,11 0 1,-7 2 76,-4-1 0,-2 2 0,-5 0 0,3 0 0,1 1 0,-5-1 0,0 1 0,0-1 0,4 1 0,0 0 0,-5-1 0,12 1 0,-4-2 0,-6-4 0,-7-4 0,15-22 0,-10-7 0,3-22 6670,-32 15-6670,1-25 344,-15 13-344,-7-6 0,-7 7 0,-9 16 0,-2 1 0,0 17 0,0 1 0,-4 11 0,-9 11 0,7-3 0,-6 9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55.032"/>
    </inkml:context>
    <inkml:brush xml:id="br0">
      <inkml:brushProperty name="width" value="0.05" units="cm"/>
      <inkml:brushProperty name="height" value="0.05" units="cm"/>
    </inkml:brush>
  </inkml:definitions>
  <inkml:trace contextRef="#ctx0" brushRef="#br0">463 132 24575,'-11'11'0,"-3"2"0,-3 12 0,4-10 0,8-12 0,6-31 0,6-14 0,-3-9 0,-4 14 0,-29 10 0,-32 16 0,-28 9 0,38 16 0,3 7 0,-28 33 0,34 32 0,23-10 0,26-15 0,54-25 0,5-22 0,-14-21 0,0-7 0,8-7 0,-13-34 0,-37 30 0,-8-13 0,-40 23 0,3 1 0,-40 8 0,23 10 0,-4 44 0,26-14 0,13 53 0,24-22 0,32-12 0,7-16 0,16-60 0,-17-36 0,-38-20 0,-21 18 0,-23 26 0,3 32 0,4 6 0,19 12 0,0-2 0,8 11 0,3-12 0,0-1 0,0-7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55.599"/>
    </inkml:context>
    <inkml:brush xml:id="br0">
      <inkml:brushProperty name="width" value="0.05" units="cm"/>
      <inkml:brushProperty name="height" value="0.05" units="cm"/>
    </inkml:brush>
  </inkml:definitions>
  <inkml:trace contextRef="#ctx0" brushRef="#br0">1 512 24575,'54'-35'0,"0"-1"0,20-6 0,5-2 0,-13 6 0,2-2 0,0 2 0,-4 4 0,0 1 0,-1 1 0,22-9 0,-9 4 0,8 2 0,-34 11 0,-37 22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56.515"/>
    </inkml:context>
    <inkml:brush xml:id="br0">
      <inkml:brushProperty name="width" value="0.05" units="cm"/>
      <inkml:brushProperty name="height" value="0.05" units="cm"/>
    </inkml:brush>
  </inkml:definitions>
  <inkml:trace contextRef="#ctx0" brushRef="#br0">1 1 24575,'0'22'0,"3"23"0,15 42 0,-8-29 0,2 3 0,5-1 0,1 1 0,-4 7 0,-2-1 0,0-8 0,-2-2 0,-4-5 0,-1-2 0,2 28 0,-6-32 0,-1-30 0,0-5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57.298"/>
    </inkml:context>
    <inkml:brush xml:id="br0">
      <inkml:brushProperty name="width" value="0.05" units="cm"/>
      <inkml:brushProperty name="height" value="0.05" units="cm"/>
    </inkml:brush>
  </inkml:definitions>
  <inkml:trace contextRef="#ctx0" brushRef="#br0">0 394 24575,'21'-16'0,"50"-15"0,-15 9 0,9-4 0,2 0 0,0-1 0,2 0 0,1-1 0,8-1 0,0-1 0,-4 2 0,15-7 0,-13 6 0,-7 6 0,-22 7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58.090"/>
    </inkml:context>
    <inkml:brush xml:id="br0">
      <inkml:brushProperty name="width" value="0.05" units="cm"/>
      <inkml:brushProperty name="height" value="0.05" units="cm"/>
    </inkml:brush>
  </inkml:definitions>
  <inkml:trace contextRef="#ctx0" brushRef="#br0">0 93 24575,'0'-20'0,"0"5"0,0-2 0,0 1 0,8 4 0,15 2 0,27 7 0,17 3 0,16 3 0,-11 12 0,-2 49 0,-35-14 0,-16 1 0,-7 3 0,-7 27 0,-5 0 0,-8-30 0,-7-3 0,-23 13 0,-17 1 0,-2-26 0,15-21 0,14-8 0,27-21 0,55-25 0,-14 10 0,7-2 0,31-10 0,9 0 0,-24 15 0,2 1 0,3 1-208,8 1 0,4 3 1,0 1 207,-5 3 0,0 3 0,-1 1 0,-1 2 0,0 2 0,-6 2 0,10 1 0,-9 2 0,17 0 0,-46 3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58.669"/>
    </inkml:context>
    <inkml:brush xml:id="br0">
      <inkml:brushProperty name="width" value="0.05" units="cm"/>
      <inkml:brushProperty name="height" value="0.05" units="cm"/>
    </inkml:brush>
  </inkml:definitions>
  <inkml:trace contextRef="#ctx0" brushRef="#br0">1 0 24575,'5'38'0,"7"11"0,4 8 0,2 4 0,1 5 0,4 22 0,-1 2 0,-1-12 0,-2-3 0,-9-5 0,-2-3 0,-1-13 0,-1-5 0,-2 11 0,-4-36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3:59.148"/>
    </inkml:context>
    <inkml:brush xml:id="br0">
      <inkml:brushProperty name="width" value="0.05" units="cm"/>
      <inkml:brushProperty name="height" value="0.05" units="cm"/>
    </inkml:brush>
  </inkml:definitions>
  <inkml:trace contextRef="#ctx0" brushRef="#br0">1 265 24575,'58'-22'0,"27"-13"0,-40 14 0,3-2 0,25-10 0,-4 1 0,-6 4 0,-15 3 0,-4 3 0,-18 12 0,-8-2 0,-13 11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00.299"/>
    </inkml:context>
    <inkml:brush xml:id="br0">
      <inkml:brushProperty name="width" value="0.05" units="cm"/>
      <inkml:brushProperty name="height" value="0.05" units="cm"/>
    </inkml:brush>
  </inkml:definitions>
  <inkml:trace contextRef="#ctx0" brushRef="#br0">23 51 9357,'0'-21'0,"2"7"5119,10 3-5119,27 9 2638,12 2-2638,16 0 1562,-14 0-1562,-19-2 0,-16 8 5899,-12 49-5899,-6-17 0,1 13 0,-4 3 0,-14 22 0,-5 15 0,0-40 0,-4 0 0,1-3 0,-1-3 0,-22 29 0,0 2 0,26-47 0,1 7 0,11-23 0,-1-4 0,6-12 0,20-19 0,36-14 0,32-12 0,-13 22 0,8 5 0,12 5 0,2 3 0,-16 4 0,0 3 0,12 4 0,-5 2 0,9 0 0,-1 0 0,-30-1 0,-30 1 0,-24 0 0,-4 0 0,-8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02.049"/>
    </inkml:context>
    <inkml:brush xml:id="br0">
      <inkml:brushProperty name="width" value="0.05" units="cm"/>
      <inkml:brushProperty name="height" value="0.05" units="cm"/>
    </inkml:brush>
  </inkml:definitions>
  <inkml:trace contextRef="#ctx0" brushRef="#br0">162 0 24575,'0'60'0,"0"-10"0,0 8 0,0 7 0,0 8 0,0 5-1027,0-5 0,0 4 1,0 3-1,0 3 1027,0-6 0,0 2 0,0 2 0,0 1 0,0 2 0,0 10 0,0 3 0,0 0 0,0 2 0,0-1 0,0-14 0,0 1 0,0 0 0,0 0 0,0-2 0,0-1-467,0 5 0,0-2 0,0-2 1,0 1-1,0 1 467,0 6 0,0 3 0,0 0 0,0-4 0,0-5 0,0-6 0,0-6 0,0 0 0,0 5 0,0 3 0,0 5 0,0 1 0,0-1 0,0-5 0,0 21 0,0-6 0,0 4 0,0-5 0,0 6 0,0-1 0,0-9 0,0-8 0,0-7 0,0 1 0,0 10 0,0 3 0,0-3-124,-2-6 0,0-2 0,-1-4 124,-1 15 0,0 0-393,0-5 1,0 4 0,-1-8 392,-3-8 0,1-2 445,2-3 0,1 4 1,-1-3-446,-5 11 0,1-2 0,3 11 0,0-3 0,0-20 0,-1 0 1291,1 10 1,1-2-1292,-1-23 0,1-2 1058,-3 7 0,0-3-1058,-1 11 1745,3-31-1745,1-17 0,5-7 0,-2-7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03.465"/>
    </inkml:context>
    <inkml:brush xml:id="br0">
      <inkml:brushProperty name="width" value="0.05" units="cm"/>
      <inkml:brushProperty name="height" value="0.05" units="cm"/>
    </inkml:brush>
  </inkml:definitions>
  <inkml:trace contextRef="#ctx0" brushRef="#br0">1 1 24575,'0'58'0,"0"41"0,0-22 0,0 10-3277,0 3 0,0 10 0,0-6 2780,0-23 1,0-5-1,0 7 497,0 9 0,0 8 0,0 0 0,0-5 791,0 0 0,0-6 1,0 8-792,0-9 0,0 7 0,0 3 0,0-2 0,0-6 0,0 18 0,0-7 0,0 11 0,0-19 0,0 9 0,0 5 0,0 1 0,0-2 0,0-6 64,0-5 1,0-4 0,0-2 0,0 1 0,0 5-65,0-1 0,0 5 0,0 1 0,0 0 0,0-2 0,0-5 0,0 21 0,0-5 0,0-3 0,0-6 0,0 2 0,0-6 0,0-7 0,0 3 0,0-10 0,0 23 5872,0-49-5872,2-24 0,-2-15 0,2-4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04.982"/>
    </inkml:context>
    <inkml:brush xml:id="br0">
      <inkml:brushProperty name="width" value="0.05" units="cm"/>
      <inkml:brushProperty name="height" value="0.05" units="cm"/>
    </inkml:brush>
  </inkml:definitions>
  <inkml:trace contextRef="#ctx0" brushRef="#br0">3476 2 24575,'-60'0'0,"-25"0"0,35 0 0,-2 0 0,-10 0 0,-3 0 0,-14 0 0,-3 0 0,-4 0 0,-5 0-813,14-1 1,-4 1 0,0 1 812,-2 3 0,-1 1 0,-1 1 0,-8 0 0,-3 0 0,1 1-157,0 2 1,0 1-1,-1 0 157,-1 1 0,0 0 0,1-1 0,0-3 0,1-1 0,0-1 0,6 1 0,0 0 0,2-2 0,4-1 0,0-1 0,4-1-24,8-1 1,3 0 0,2 0 23,-22 3 0,5 0 0,18-1 0,7 2 0,-21 7 1744,41-5-1744,39-2 0,4-4 0,14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06.115"/>
    </inkml:context>
    <inkml:brush xml:id="br0">
      <inkml:brushProperty name="width" value="0.05" units="cm"/>
      <inkml:brushProperty name="height" value="0.05" units="cm"/>
    </inkml:brush>
  </inkml:definitions>
  <inkml:trace contextRef="#ctx0" brushRef="#br0">0 1 24575,'79'4'0,"-25"-2"0,10 0 0,15 2 0,12 2 0,3 1-1450,-14 1 0,2 1 0,3 2 0,5 0 1450,-9 0 0,3 0 0,4 2 0,2 0 0,0 1 0,-1 0-350,3 1 1,0 2 0,0 0 0,1 1 0,1-1 0,-1 0 349,1-1 0,2 0 0,-1 0 0,0 0 0,-1 0 0,-2 0 0,10 3 0,-1 1 0,-2-1 0,-3 0 0,-5-2 225,-3-1 0,-4-1 0,-4-1 1,-1 0-226,13 5 0,-2 0 0,-9-2 0,0-1 0,-9 0 0,-18-3 0,-7-1 0,1 1 0,-32-8 0,-6-3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08.915"/>
    </inkml:context>
    <inkml:brush xml:id="br0">
      <inkml:brushProperty name="width" value="0.05" units="cm"/>
      <inkml:brushProperty name="height" value="0.05" units="cm"/>
    </inkml:brush>
  </inkml:definitions>
  <inkml:trace contextRef="#ctx0" brushRef="#br0">46 767 15495,'-11'5'0,"-1"-2"3880,1 7-3880,4 27 1567,3-4-1567,4 26 843,1-4-843,25 4 2790,28 14-2790,-3-41 0,9-6 0,13-2 0,6-5 0,-14-8 0,3-2 0,3-2-302,6-2 1,3-2 0,1-2 301,7 0 0,2-1 0,3-5 0,-7-4 0,3-5 0,1-2 0,-5 1 0,9-2 0,-4 0 0,3-5 0,-14 0 0,4-4 0,-3-1 0,-4 1 0,-2 2 0,-5 0 0,1 1 0,6-2 0,1 1 0,-2 3-50,-9 5 1,0 3 0,-1 1 49,31-2 0,-3 3 0,-12 5 0,-2 5 0,-4 4 0,-2 5 0,-9 6 0,-3 4 0,1 3 0,-5 5 896,15 24-896,-14-7 156,-28-18-156,-12-8 0,1-9 0,2-26 0,27-20 0,-9 3 0,7-3 0,19-6 0,12 3 0,-3 8 0,8 2 0,2 4-512,1 2 1,3 5 0,3 2 511,-7 5 0,4 1 0,2 3 0,-2 2 0,-5 1 0,-1 3 0,0 1 0,1 0 0,6 1 0,1 0 0,0 2 0,-1 0 0,-6 1 0,-2 0 0,0 1 0,-2 0 0,22 2 0,-2-1 0,-4 1-125,-14-1 0,-3 1 1,-1 0 124,-9 0 0,-1 0 0,-3-4 0,19-10 0,-5-6 0,-12-3 0,-7-8 0,-7-15 0,-8-8 0,-11-4 0,-7-3 0,-3-5 0,-3 0 0,-5 7 0,-1 1 1503,3-30-1503,-5 28 101,-12 32 0,1 11 0,-4 15 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09.398"/>
    </inkml:context>
    <inkml:brush xml:id="br0">
      <inkml:brushProperty name="width" value="0.05" units="cm"/>
      <inkml:brushProperty name="height" value="0.05" units="cm"/>
    </inkml:brush>
  </inkml:definitions>
  <inkml:trace contextRef="#ctx0" brushRef="#br0">1 1 24575,'34'0'0,"43"0"0,-23 0 0,5 0 0,15 0 0,2 0 0,-4 0 0,-3 0 0,-9 0 0,-4 0 0,26 0 0,-44 0 0,-22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10.248"/>
    </inkml:context>
    <inkml:brush xml:id="br0">
      <inkml:brushProperty name="width" value="0.05" units="cm"/>
      <inkml:brushProperty name="height" value="0.05" units="cm"/>
    </inkml:brush>
  </inkml:definitions>
  <inkml:trace contextRef="#ctx0" brushRef="#br0">0 84 24575,'0'-11'0,"7"-1"0,19-8 0,30 3 0,34 2 0,10 8 0,-3 5 0,-30 14 0,-24 14 0,-26 22 0,-14 12 0,-10-12 0,-7-8 0,2-24 0,5-7 0,32-7 0,15 1 0,10 3 0,-1 3 0,-6 8 0,-16-4 0,6 18 0,-25 3 0,-4 18 0,-38 10 0,-27-6 0,14-27 0,-5-4 0,0-6 0,-1-4 0,-36 5 0,20-12 0,39-8 0,11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12.007"/>
    </inkml:context>
    <inkml:brush xml:id="br0">
      <inkml:brushProperty name="width" value="0.05" units="cm"/>
      <inkml:brushProperty name="height" value="0.05" units="cm"/>
    </inkml:brush>
  </inkml:definitions>
  <inkml:trace contextRef="#ctx0" brushRef="#br0">1 1389 24575,'0'52'0,"2"20"0,29 5 0,-5-31 0,8-1 0,15-1 0,10-5 0,16-2 0,8-6 0,-17-13 0,2-4 0,4-2-392,8-2 0,4-2 0,5-4 392,-1-1 0,5-1 0,2-3 0,-1-3-518,-7-4 1,-1-2 0,1-2-1,3 0 518,-8 1 0,4 1 0,0-2 0,0-1 0,-3-3 0,-4-2 0,-2-4 0,-1-1 0,0 0 0,2 1 0,2-1 0,0 1 0,0 0 0,2 0 0,0 1-473,3 0 1,2-1-1,0 2 1,1 0-1,0 3 473,2 1 0,0 3 0,1 1 0,0 1 0,0 1 0,3 1 0,0 1 0,0 1 0,-1 2 0,-1 0 0,-6 2 0,-1 1 0,0 1 0,-1 1 0,0 1 0,0 2 0,0 1 0,0 1 0,-2 2 0,-3 1 0,6 4 0,-2 1 0,-3 2 0,0 3-192,-2 3 1,-1 2-1,-1 2 1,-4 2 191,11 10 0,-4 2 0,-2 0 0,-5-2 0,-3-1 0,-2-1 429,16 10 1,-5-3-430,-16-11 0,-6-4 1797,16 9-1797,-33-30 2663,-25-16-2663,-7-52 0,-7 10 0,0-1 0,0-35 528,-1 25 0,2 3-528,5-1 0,13 16 0,12 2 0,13 7 0,10 4 0,30-7 0,12 5 0,-24 13 0,4 3 0,3 1-415,13-2 1,3 0 0,0 3 414,-1 2 0,0 1 0,1 1 0,-18 2 0,1 1 0,-1-1 0,-3 1 0,7 1 0,-4-1 0,1 0 0,6-3 0,0-1 0,-5-3-115,10-5 1,-3-5 114,-20 4 0,0-3 0,-3-4 0,19-21 0,-8-9 0,-2-10 0,-8-7 0,-14-3 0,-8-5 0,-9-5 0,-7 2 0,-10 16 0,-4 5 0,-3 11 0,-3 6 0,-3-5 0,-5 38 0,1 10 0,-1 10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12.765"/>
    </inkml:context>
    <inkml:brush xml:id="br0">
      <inkml:brushProperty name="width" value="0.05" units="cm"/>
      <inkml:brushProperty name="height" value="0.05" units="cm"/>
    </inkml:brush>
  </inkml:definitions>
  <inkml:trace contextRef="#ctx0" brushRef="#br0">2 0 24575,'0'94'0,"-1"-41"0,0 2 0,3 14 0,1 4 0,2 1 0,1-2 0,3-6 0,2-2 0,-1-9 0,0-4 0,5 25 0,-9-30 0,-3-18 0,-3-17 0,0-7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13.215"/>
    </inkml:context>
    <inkml:brush xml:id="br0">
      <inkml:brushProperty name="width" value="0.05" units="cm"/>
      <inkml:brushProperty name="height" value="0.05" units="cm"/>
    </inkml:brush>
  </inkml:definitions>
  <inkml:trace contextRef="#ctx0" brushRef="#br0">1 79 24575,'68'0'0,"27"0"0,-31 1 0,4-2 0,6-5 0,1-2 0,-6 4 0,-1-2 0,-6-9 0,-3 0 0,33 4 0,-42-2 0,-20 12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14.398"/>
    </inkml:context>
    <inkml:brush xml:id="br0">
      <inkml:brushProperty name="width" value="0.05" units="cm"/>
      <inkml:brushProperty name="height" value="0.05" units="cm"/>
    </inkml:brush>
  </inkml:definitions>
  <inkml:trace contextRef="#ctx0" brushRef="#br0">1 297 24575,'10'0'0,"2"0"0,15 0 0,12-5 0,27-5 0,15-10 0,-11 0 0,22-14 0,-45 12 0,0-2 0,8-1 0,-1-1 0,-1-1 0,-2 2 0,32-7 0,-33 15 0,-8 11 0,-22 3 0,-7 3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15.482"/>
    </inkml:context>
    <inkml:brush xml:id="br0">
      <inkml:brushProperty name="width" value="0.05" units="cm"/>
      <inkml:brushProperty name="height" value="0.05" units="cm"/>
    </inkml:brush>
  </inkml:definitions>
  <inkml:trace contextRef="#ctx0" brushRef="#br0">116 133 24575,'-9'-6'0,"4"-10"0,0-5 0,5-9 0,19 8 0,45 0 0,-8 16 0,8 3 0,13 0 0,2 0 0,-5 2 0,-3 5 0,-9 9 0,-7 8 0,8 34 0,-39-2 0,-11 7 0,-11 2 0,-12 1 0,-16 12 0,-9-3 0,-3-8 0,-5-5 0,-7-5 0,1-5 0,-11 13 0,27-20 0,44-16 0,41-3 0,40 6 0,-39-11 0,1 3 0,-1 3 0,-4 4 0,19 35 0,-31 7 0,-26-2 0,-62 9 0,15-43 0,-8-4 0,-19 3 0,-7-6 0,-6-6 0,-3-5 0,4-5 0,0-4 0,-2-4 0,4-6 0,13-5 0,6-5 0,-24-14 0,45 3 0,22 12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36.632"/>
    </inkml:context>
    <inkml:brush xml:id="br0">
      <inkml:brushProperty name="width" value="0.05" units="cm"/>
      <inkml:brushProperty name="height" value="0.05" units="cm"/>
    </inkml:brush>
  </inkml:definitions>
  <inkml:trace contextRef="#ctx0" brushRef="#br0">0 0 24575,'0'0'0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41.032"/>
    </inkml:context>
    <inkml:brush xml:id="br0">
      <inkml:brushProperty name="width" value="0.05" units="cm"/>
      <inkml:brushProperty name="height" value="0.05" units="cm"/>
    </inkml:brush>
  </inkml:definitions>
  <inkml:trace contextRef="#ctx0" brushRef="#br0">0 11014 24575,'35'0'0,"-4"0"0,35-15 0,-14-3 0,23-15 0,-27 3 0,1-6 0,2 0 0,3-5 0,-3 0 0,4-5 0,0-1-268,0-3 0,1-2 0,0-1 268,4-2 0,1 0 0,-2-2 0,-4-2 0,-1 0 0,-2 0 0,-5 6 0,0 0 0,-4 0 0,12-22 0,-4 1 0,-9 9 0,-2 1 0,-7 7 0,-3 3 0,11-33 0,-8 17 0,-13 26 804,-4 18-804,-4 10 0,11-13 0,12-13 0,19-28 0,-18 23 0,2-5 0,0-13 0,2-6 0,-7 11 0,3-4 0,-1-3-515,3-14 0,1-5 0,0-1 515,-6 16 0,1-1 0,1-1 0,0-1 0,3-7 0,0 0 0,2-1 0,0 3 0,1 3 0,1 2 0,0 1 0,2 2 0,-3 3 0,0 1 0,2 2 0,4 0 0,8-3 0,4 1 0,2 1 0,-1 1 0,-4 5 0,0 3 0,2-1 0,1-2-461,-2 4 1,2-2 0,1-1 0,0 0 0,-2 0 460,0 0 0,-2 1 0,0 0 0,0-2 0,1-1 0,4-7 0,-1-1 0,2-2 0,-1-1 0,2-4-545,-10 12 1,0-3 0,1-1 0,1-1 0,-1-1 0,1-1 0,-2 0 544,1-2 0,0 0 0,-1-1 0,0 0 0,1-2 0,0-1 0,2-1-359,-6 8 1,1-2-1,1-1 1,1-1-1,-1 0 1,1 0-1,-1 0 1,-2 1-1,0 2 359,7-12 0,-2 1 0,-1 1 0,-1 1 0,1-1 0,0 1 0,2-2 0,-4 7 0,0-1 0,1-1 0,1 1 0,-1 0 0,0 1 0,-1 3 0,0 2-234,5-7 1,-1 2 0,0 3-1,-1 1 1,0 2 0,1 1 233,6-7 0,1 1 0,0 2 0,0 3 0,1 4 85,8-3 0,2 3 0,-1 6 1,1 4-86,-7 11 0,-1 5 0,1 2 0,1 1 0,6-2 0,1 2 0,1 1 0,0 0 0,1 1 0,-1 1 0,2 0 0,0-1 0,5-2 0,1-1 0,0-1 0,1-1 0,0-2 0,-1-2 0,1 0 0,1-1 0,2-2 0,1-1 0,-1 0 0,1 1 0,-3 2 0,0 0 0,0 1 0,-2 1 0,-7 4 0,-2 1 0,1 1 0,0 4 628,-1 3 0,2 3 0,-2 2 0,-5 3-628,22-7 0,-7 6-588,-3 6 0,-10 6 588,-15 7 1315,-10-8 0,8-5-1315,3-4 0,6-5 0,5-1 0,1 0 0,5-1 0,3-2 0,3 1-151,-3 0 1,3 0 0,2 0 0,1 0 0,1 1 150,4 0 0,1 1 0,2 0 0,-1 2 0,1 1 0,0 2 0,0 1 0,0 1 0,0 2 0,0 1 0,-3 3 0,-1 1 0,1 2 0,-2 0 0,0 2-246,-4 1 1,-1 1 0,-1 2 0,1 0 0,-2 1 245,16 0 0,0 2 0,-1 1 0,-1 3 0,-1 2 0,0 3 0,-1 1 0,0 2 0,1 0 0,1 1 0,-1 2 0,0 2 0,1 4 0,1 2 0,-1 2 0,1 1 0,-16-3 0,1 1 0,-1 0 0,2 1 0,0 1 491,7 1 0,1 0 1,0 2-1,2 0 1,2 2-492,-8-1 0,3 2 0,1 0 0,0 2 0,-1-1 0,0 1 0,-4-2 0,-1 1 0,0 0 0,0 0 0,-1 1 0,1 0 0,1 1 0,1 1 0,-1 0 0,0 1 0,-3-1 0,-4 0-191,17 11 0,-4-1 0,-3 0 0,-6-3 191,3 0 0,-5-1 0,-6-3 994,6 7 1,-10-8-995,7-9 1689,2-16-1689,-2-4 0,13 5 0,-23 1 0,5 2 0,6 4 0,10 3-376,-11-1 0,8 3 0,6 2 0,5 2 0,3 2 0,2 1 0,0 2 0,0 1 376,-17-5 0,1 1 0,1 1 0,0 1 0,1 0 0,2 3 0,2 0 0,1 2 0,2 2 0,3 2 0,2 1-197,-20-8 1,2 2-1,2 1 1,2 2 0,2 1-1,2 1 1,0 1-1,2 0 1,0 2 0,1 0-1,0 1 1,0 0-1,0 0 1,-1 0 0,0 1-1,-2-1 1,0 0-1,-2-1 1,-2 1 196,5 1 0,-2 0 0,-1 1 0,0-1 0,-1 1 0,0 0 0,-1 0 0,0 0 0,0 0 0,-1 1 0,1 0 0,0 1 0,0 0 0,0 0 0,1 1 0,0 1 0,0 0-160,-3-1 0,1 0 1,0 1-1,1 1 0,0 0 1,0 1-1,0 0 0,1 1 1,-1 0-1,0 0 0,0 0 1,0 0-1,-1 0 0,-1-1 1,-1 1-1,0-1 0,-1 0 1,-2-1-1,-1 0 160,9 6 0,-1 0 0,0 0 0,-2 1 0,0-1 0,-1 0 0,0 0 0,-2-1 0,0 0 0,-2-1 0,0 0 0,-1 0 0,0-2 0,-2 0 0,-1-1 0,12 8 0,-3-1 0,-1-1 0,-1-1 0,-2-1 0,0 0 0,-1-1 0,0 0 0,0-1 0,0 0 0,0 0 0,5 2 0,1 1 0,0 1 0,1-1 0,-1-1 0,-2-1 0,-2-2 0,-3-2 0,-3-3 0,-5-4 0,20 13 0,-7-5 0,-5-3 0,-2-4 0,-1-1 0,8 5 0,0-2 0,-6-5 0,-8-12 0,-3-11 0,-4-8 0,20 7 0,9-1 0,-3-4 0,7-2 0,7 4 272,-22-3 1,4 3-1,3 0 1,3 1 0,1 0-273,-1-1 0,3 1 0,2 0 0,2 0 0,1 1 0,0 1 143,-5-1 0,2 0 0,1 2 0,1-1 0,0 1 0,0 0 0,0-1-143,1 2 0,1-1 0,1 1 0,0-1 0,-1 1 0,-2 0 0,-1 1 0,-9-2 0,-1-1 0,-2 1 0,0 1 0,0-1 0,1 1 0,0 0 0,5 2 0,1 0 0,1 0 0,0 1 0,-2 0 0,0 0 0,-3 0 311,4 2 1,-2 0 0,-2 0-1,-1 1 1,2 0 0,1 0-312,-7-2 0,1 1 0,1 0 0,0 0 0,0 1 0,-1-1 0,-1 1 0,8 2 0,0 1 0,-1-1 0,0 1 0,-2-1 0,-1 0-244,9 3 1,-1 0-1,-2 0 1,-1-1-1,-2-3 244,11 3 0,-3-3 0,-1-2 0,-3-2 386,-10-3 0,-2-1 0,-2-2 0,-1-4-386,9-1 0,-2-3 0,1-3 1031,1-1 1,1-2 0,-5-1-1032,10-2 0,-3-3 1553,1-1 0,-5-2-1553,-30-1 0,-6-1 2249,16-6-2249,-25 2 889,-17 5-889,-9 5 456,-12 5-456,-2 0 0,-4 1 0,1-3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43.198"/>
    </inkml:context>
    <inkml:brush xml:id="br0">
      <inkml:brushProperty name="width" value="0.05" units="cm"/>
      <inkml:brushProperty name="height" value="0.05" units="cm"/>
    </inkml:brush>
  </inkml:definitions>
  <inkml:trace contextRef="#ctx0" brushRef="#br0">4003 1 24575,'-29'0'0,"2"0"0,0 0 0,-5 0 0,9 0 0,-8 0 0,3 0 0,-13 2 0,-35 17 0,18 0 0,-8 4 0,3 0 0,-4 4 0,-4 2-299,-12 6 0,-4 2 1,-7 1 298,15-8 0,-7 1 0,-2 1 0,1-2 0,6-1-436,6-2 0,4-2 1,0 0-1,-6-1 436,-7 1 0,-7 2 0,-2-2 0,4-2 0,8-4 0,-5-3 0,8-4 0,-2 0-124,-15 1 1,-2 0 0,1-3 123,8-3 0,1-2 0,4-2 0,-18 0 0,4-2 0,-2-1 0,4 0 0,16 0 0,4 0 0,9-1 0,2 2 399,-2 2 1,1 1-400,7-1 0,4 2 1785,-38 12-1785,22-5 425,30-1-425,16-4 0,16-5 0,5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45.198"/>
    </inkml:context>
    <inkml:brush xml:id="br0">
      <inkml:brushProperty name="width" value="0.05" units="cm"/>
      <inkml:brushProperty name="height" value="0.05" units="cm"/>
    </inkml:brush>
  </inkml:definitions>
  <inkml:trace contextRef="#ctx0" brushRef="#br0">1 0 24575,'2'59'0,"1"-1"0,-1 26 0,0 12 0,-2-14 0,0 10 0,0 5 0,0 3-1413,0-21 0,0 3 0,0 1 0,0 3 1,0 2-1,0 3 1413,0-7 0,0 2 0,0 1 0,0 3 0,0 2 0,0 1 0,0 2 0,0 2-362,0-5 1,0 2-1,0 2 1,0 2-1,0 1 1,0 1-1,0 2 1,0 0-1,0 0 1,0 1 361,0-8 0,-1 0 0,1 1 0,-1 1 0,1 0 0,-1 1 0,1 1 0,0 0 0,0 1 0,0 0 0,1 0 0,1 0-106,-1-2 0,1 0 0,1 0 0,0 1 0,-1 0 1,2 1-1,-1 0 0,1 0 0,-1 0 0,1 1 0,0 0 1,-1 0-1,1 0 106,0-4 0,-1 0 0,1 1 0,-1 0 0,0 0 0,1 1 0,0 0 0,0-1 0,0 1 0,0-1 0,1 0 0,0 0 0,0-2 0,1 1-179,0 2 0,1 0 1,1 0-1,0 0 0,0-1 1,0 0-1,1-1 0,-1 1 1,1-1-1,-1 0 1,1 0-1,-1-1 0,0 0 179,1 6 0,-1-1 0,0 1 0,0 0 0,1-1 0,-1 0 0,0 0 0,0-2 0,1 0 0,-1-2 0,0-1 0,0-2-29,1 4 1,0-1 0,1-2 0,-1 0 0,0-2 0,0-1 0,0-1 0,0 0 0,0 0 0,0 0 28,0 4 0,0 0 0,1 0 0,-1-1 0,0 0 0,0-2 0,0-2 0,0-3 0,0-2 203,1 16 1,0-4 0,-1-3 0,1-3 0,-1 0 0,1 0-204,0-4 0,0-1 0,1-1 0,-1-1 0,0-2 0,-1-4 606,3 18 1,-2-3 0,1-5 0,0-6-607,0-3 0,1-6 0,0-4 1995,4 14 1,0-10-1996,3 9 1173,-6-32 0,-8-37 1,-3-5-1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47.232"/>
    </inkml:context>
    <inkml:brush xml:id="br0">
      <inkml:brushProperty name="width" value="0.05" units="cm"/>
      <inkml:brushProperty name="height" value="0.05" units="cm"/>
    </inkml:brush>
  </inkml:definitions>
  <inkml:trace contextRef="#ctx0" brushRef="#br0">1 4256 24575,'90'0'0,"-11"-3"0,17-2 0,8-2 0,-20 0 0,4-2 0,5-2 0,7 0 0,6-1-984,-25 2 1,5 1 0,4-2 0,3 1 0,4-1 0,1-1 0,3 0 0,0-1 0,1 0 0,0 0 868,-12 1 0,1-1 1,0 0-1,2-1 1,0 1-1,2-2 0,0 1 1,2-1-1,2 1 1,2-1-1,1 0 1,2-1-1,3 1 7,-19 3 0,2-1 0,1 1 1,2-1-1,1 0 0,2 0 1,1-1-1,0 1 0,2 0 0,1-1 1,0 1-1,1-1 0,1 0 1,0 1-1,0-1 0,1 0 0,0 0 1,0 0-1,0 0 0,0 0 108,-8 1 0,0 0 0,1 0 0,0 0 0,1-1 0,0 1 0,0-1 0,1 0 0,0 1 0,1-1 0,0 0 0,0 1 0,1-1 0,0 0 0,0 0 0,1 1 0,-1-1 0,1 0 0,0 1 0,1 0 0,-1-1 0,1 1 0,-1 0 0,1 1-33,-6 0 0,0 0 1,0 0-1,1 0 1,0 1-1,0-1 1,0 0-1,1 1 1,0 0-1,0-1 1,0 1-1,1 0 1,-1-1-1,1 1 1,0 0-1,0 0 0,0 0 1,0 0-1,1 0 1,-1 0-1,1 0 1,-1 0-1,1 0 1,0 0-1,0 1 1,-1-1-1,1 0 33,-4 1 0,0 0 0,1-1 0,-1 1 0,1 0 0,1-1 0,-1 1 0,1-1 0,0 1 0,0 0 0,0 0 0,0-1 0,0 1 0,0 0 0,0 0 0,0 0 0,0 0 0,0 1 0,-1-1 0,1 0 0,-1 1 0,0 0 0,-1 0 0,0 0 0,0 0 0,0 0 0,-1 1 0,0-1 0,-1 1-82,8 0 1,0-1 0,-1 1 0,0 0 0,0 0 0,-1 1 0,0-1-1,0 1 1,0-1 0,-1 1 0,0 0 0,0 0 0,0 1 0,-1-1 0,1 0-1,-1 1 1,0 0 0,0-1 0,0 1 0,0 0 0,-1 0 0,1 0 0,-1 0-1,1 1 1,-1-1 81,1 0 0,0 1 0,0-1 0,0 1 0,0 0 0,0-1 0,1 1 0,-1 0 0,-1 1 0,1-1 0,-1 0 0,1 1 0,-2-1 0,1 1 0,-1-1 0,0 1 0,-1 0 0,0 0 0,-1 0 0,0 0 0,-1 0 0,0 0 0,-1 0 0,-1 0 0,10 0 0,0-1 0,-1 1 0,-1 0 0,0 0 0,-2 1 0,1-1 0,-2 0 0,0 0 0,0 1 0,0-1 0,-1 1 0,0 0 0,0-1 0,0 1 0,0 0 0,0 0 0,0 0 0,0 0 0,4 0 0,0 0 0,0 0 0,-1 1 0,1-1 0,0 1 0,-1-1 0,1 1 0,-1 0 0,0 0 0,-1-1 0,1 1 0,-2-1 0,0 1 0,0-1 0,-1 0 0,-1 0 0,0 0 0,8 0 0,-1-1 0,0 0 0,-2 0 0,0 0 0,-1-1 0,-1 1 0,1 0 0,-1-1 0,0 1 0,1-1 0,0 1 0,0-1 0,0 1 0,2-1 0,-4 1 0,0 0 0,1 0 0,-1-1 0,1 1 0,0 0 0,1-1 0,-1 1 0,0-1 0,0 1 0,1-1 0,-1 1 0,0-1 0,-1 0 0,1 1 0,-1-1 0,4 0 0,1 0 0,0 0 0,-1 0 0,1 0 0,-1-1 0,0 1 0,0 0 0,0-1 0,0 1 0,-1-1 0,-1 1 0,1-1 0,-1 0 0,-1 0 0,2 0 0,-1 0 0,0-1 0,0 1 0,-1 0 0,0-1 0,-1 1 0,0-1 0,0 0 0,0 0 0,-1-1 0,0 1 0,-1-2 0,0 1 0,3-1 0,0-1 0,1 1 0,-1-1 0,-1 0 0,1 0 0,-2-1 0,0 0 0,-1-1 0,-2 1 0,0-2 0,-3 1 0,-1-1 0,8-2 0,-1 0 0,-2 1 0,-1-2 0,-1 0 0,-2 0 0,-1-2 0,-2-1 0,0-2 0,-1-1 93,12-6 0,-1-1 1,0-3-1,-3 0 0,-2-3 1,-2 0-1,-5-3 1,-3 0-94,2-6 0,-4-2 0,-4-2 0,-4-2 0,0-1 0,-2-3 262,0-1 1,-2-3-1,-1-2 1,-2-1-1,-4 1 1,-5 0-263,8-13 0,-7-1 0,-5 1 0,-2 1 951,9-15 1,-6 2 0,-10 8-952,-11 4 0,-9 10 4593,3-18-4593,29 61 0,18 37 0,13 15 0,-21-10 0,3 2 0,3 2 731,-1 0 0,5 2 0,0 0 0,-4-1-731,6 3 0,-3 0 0,0-2 0,-1-4 0,-1-1 0,-5-1 1077,11 5 0,-7-1-1077,-14-4 0,-7-2 662,16 9-662,-41-7 0,-35-2 0,-22 0 874,-45 18-874,28-11 0,-1 4 0,-10 12 0,-3 6 0,-8 12 0,-4 5-486,17-14 0,-2 3 0,-3 0 486,7-8 0,-2 2 0,-2-1 0,-1-1 0,-2-1 0,-1 0 0,-1-2 0,0 0 0,1-2 0,-1-1 0,0-2 0,2-2 0,-12 2 0,1-4 0,5-1 0,-14 8 0,7-4 0,21-13 0,8-1 0,-8 19 0,36-22 0,15-7 0,3-10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4:48.682"/>
    </inkml:context>
    <inkml:brush xml:id="br0">
      <inkml:brushProperty name="width" value="0.05" units="cm"/>
      <inkml:brushProperty name="height" value="0.05" units="cm"/>
    </inkml:brush>
  </inkml:definitions>
  <inkml:trace contextRef="#ctx0" brushRef="#br0">1200 1 24575,'-59'30'0,"11"5"0,-5 7 0,0 0 0,-5 4 0,-1 2-697,-11 8 0,-2 2 0,0 0 697,-2 1 0,0 0 0,1-3 0,8-7 0,1-3 0,4-4 336,-12 4 0,9-5-336,-10 8 345,36-30-345,43-8 0,41 13 0,-5 1 0,5 3 537,17 13 0,3 3-537,2 5 0,1 3 0,5 6 0,1 2 0,-1-4 0,0-3 0,-7-6 0,0-4 0,0-2 0,-2-5 0,-14-12 0,0-2 0,-2 1 0,1 1 0,3 2 0,-2 1 0,-2-2 0,0 1 0,0 1 0,-1-1 0,21 14 0,-11-11 0,-25-13 0,-17-9 0,-8-7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5:43.373"/>
    </inkml:context>
    <inkml:brush xml:id="br0">
      <inkml:brushProperty name="width" value="0.05" units="cm"/>
      <inkml:brushProperty name="height" value="0.05" units="cm"/>
    </inkml:brush>
  </inkml:definitions>
  <inkml:trace contextRef="#ctx0" brushRef="#br0">5 181 15675,'-4'0'0,"46"0"2977,42 0-2977,-24 0 0,10 0 0,3 0 0,11 0 0,3 0 0,12 0-837,-18 0 1,8 0 0,6 0 0,2 0-1,1 0 1,-2 0 836,-2 0 0,1 0 0,-1 0 0,2 0 0,2 0 0,3 0-228,-10 0 1,1 0 0,2 0 0,1 0 0,2 0 0,2 0 0,1 0 0,1 0 227,-9 0 0,3 0 0,2 0 0,2 0 0,0 0 0,0 0 0,-1 0 0,-1 0 0,-1 0 0,-3 0-221,7 0 0,-2 0 0,-3 0 0,-1 0 1,1 0-1,1 0 0,4 0 0,5 0 221,-16 0 0,4 0 0,3 0 0,2 0 0,1 0 0,2 0 0,0 0 0,-2 0 0,0 0 0,-3 0 0,-3 0 0,-4 0-233,15 0 1,-4 0 0,-4 0-1,-1 0 1,-1 0 0,2 0 0,3 0-1,5 0 233,-11 0 0,5 0 0,4 0 0,1 0 0,1 0 0,1 0 0,-1 0 0,-3 0 0,-2 0 0,-5 0 0,-4 0 0,10 0 0,-6 0 0,-5 1 0,-1-1 0,0 0 0,2 0 0,6-1 0,-5 0 0,6-1 0,3 1 0,2-1 0,-1 0 0,-1-1 0,-5 1 0,-6-1 0,-8 0 155,27-2 0,-12-1 0,-4 0 1,8-1-156,-12-1 0,6-1 0,2-1 0,-1 0 0,-5 0 0,-11 1 514,13-3 1,-10 0-1,3 1-514,-1 1 0,5-1 0,-2 2 0,-6 1 1033,-8 4 1,-5 1 0,0 2-1034,9 1 0,1 1 0,-2 3 0,19 6 0,-6 4 2318,-21-2 1,-3 2-2319,2 8 0,-4 0 0,20 4 0,-31-11 0,2-1 0,3-2 0,-2-3 4180,37 1-4180,-33-5 0,-2 0 2302,20-5-2302,7-16 0,-31-1 0,0-11 0,-29 6 0,-14 11 0,-3 5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5:46.098"/>
    </inkml:context>
    <inkml:brush xml:id="br0">
      <inkml:brushProperty name="width" value="0.05" units="cm"/>
      <inkml:brushProperty name="height" value="0.05" units="cm"/>
    </inkml:brush>
  </inkml:definitions>
  <inkml:trace contextRef="#ctx0" brushRef="#br0">1 5639 24575,'12'0'0,"22"-7"0,6-14 0,1-5 0,1-6 0,-6-2 0,0-3 0,9-10 0,3-8-851,3-7 1,3-9-1,-1 3 851,-11 12 0,-2 1 0,2-4 0,0 2 0,1-4 0,1-2 0,1-3-517,-2-1 1,2-5 0,-1-1 0,-1 1 0,-4 3 516,9-17 0,-5 3 0,4-10-586,-8 15 0,5-11 0,2-5 1,-1 0-1,-3 5 0,-5 8 586,-4 8 0,-6 8 0,0-1 0,4-12 0,-2 4 0,3-11 0,3-8 0,1-3 0,-1-2 0,0 4 0,-3 6 0,-3 9 0,5-14 0,-4 12 0,-1 0 0,5-12 0,-7 17 0,3-10 0,1-5 0,2-2 0,-1 0 0,0 2 0,-3 7 0,-3 8 0,5-13 0,-4 10 0,-1 2 0,3-4-274,0 0 1,1-5 0,2 0 0,-2 3-1,-2 8 274,3-3 0,-2 8 0,2-2 274,0 1 1,1-6 0,2 7-1,0 15-274,7 19 0,-1 6 1201,2-23 0,-1 12-1201,18 40 4149,-22-13-4149,17-25 2366,-3 7-2366,28-10 0,-19 15 0,24 0 0,-28 15 0,35 3 0,-38 8 0,34 1 0,-32 5 0,15 24 0,-23 4 0,4 43 0,-17-6 0,-11-17 0,0 1 0,-5-6 0,-1 1 0,5 17 0,0 2 0,-5-12 0,0 5 0,-2 10 0,1 9 0,0-1 0,-1-11 0,0-1 0,0 2-378,2 15 1,-1 4-1,1-3 378,0-11 0,2-1 0,0-2 0,1-2 0,1-1 0,0-1 0,8 23 0,2 2 0,-2-12 0,2 4 0,1-3 0,-3-11 0,1-2 0,0 1 0,1 3 0,0 1 0,1 1 0,6 7 0,2 2 0,-2-6 0,1 4 0,2 1 0,-1-3 0,4 5 0,-2-7 0,-2-2 0,1-2 0,6 2 0,5 4 0,-5-8 0,-9-14 0,0 0 0,9 11 0,7 6 0,-5-5 0,-3-3 0,-1-3 0,9 13 0,3 0 0,1 2 0,-1-4 0,-15-23 0,0-1-184,0 0 0,4 3 0,0-1 184,19 21 0,1-3 0,-5-8 0,1 0 0,10 8 0,-2-5 0,-29-29 0,0-2 0,14 13 0,1-1 0,-12-16 0,-2-3 0,38 23 0,-10-17 1101,-17-12-1101,-15-7 584,14 6-584,-19-8 0,10 3 0,-11-1 0,-9-7 0,-6 0 0,-16-16 0,-18-7 0,-43-37 0,1 4 0,14 12 0,2 2 0,8 4 0,5 6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5:47.382"/>
    </inkml:context>
    <inkml:brush xml:id="br0">
      <inkml:brushProperty name="width" value="0.05" units="cm"/>
      <inkml:brushProperty name="height" value="0.05" units="cm"/>
    </inkml:brush>
  </inkml:definitions>
  <inkml:trace contextRef="#ctx0" brushRef="#br0">6 0 24575,'0'44'0,"0"42"0,0-27 0,0 12-1015,0 10 0,0 14 1,0 9-1,0 3 1015,0-19 0,1 5 0,-1 2 0,0 3 0,0 1 0,-1 2-642,1-16 0,-1 1 1,0 2-1,-1 1 1,1 1-1,1 1 1,0 0-1,1 1 642,0-2 0,2 1 0,0 3 0,1-1 0,0 1 0,0-1 0,0-2 0,-1-2 0,0-3 0,0 19 0,-1-4 0,-1-2 0,1-2 0,2 0 0,0 3 0,2-11 0,2 2 0,0-1 0,1 1 0,0-1 0,0-1 0,-2-1-195,0 5 0,-1-1 0,-1-1 1,1-1-1,-1-1 0,1-1 195,1 8 0,0-3 0,0 0 0,0 1 0,-1 3 0,0-2 0,-1 5 0,1 1 0,-1 0 0,0-3 0,1-4-410,0-3 1,1-5 0,0-1 0,0 1 0,1 4 409,-1-2 0,0 4 0,0 1 0,0 0 0,1-1 0,1-2 0,3 7 0,0 0 0,1-2 0,0-1 0,0-4 0,0 7 0,0-3 0,0-2 0,1 2-24,0-13 1,0 2 0,1 0-1,0-4 1,-2-6 23,2 9 0,0-8 0,-1 5 0,1 2 0,1 5 0,0 1 0,-1-4 0,-1 7 0,0-4 0,0 0 0,0-2 0,-1-1 0,1 2 0,0 12 0,0 2 0,-1-7 1186,0-1 1,0-3-1187,-4-11 0,1 3 0,-2-3 1226,0 16 1,-3-4-1227,-1-7 0,-1-2 1449,-1 10 0,-2-3-1449,0-28 0,0-2 1044,0 13 0,0-4-1044,0 9 1390,0 10-1390,0-44 884,0 2-884,0-25 109,0-4 1,0-6-1,0-4 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5:48.865"/>
    </inkml:context>
    <inkml:brush xml:id="br0">
      <inkml:brushProperty name="width" value="0.05" units="cm"/>
      <inkml:brushProperty name="height" value="0.05" units="cm"/>
    </inkml:brush>
  </inkml:definitions>
  <inkml:trace contextRef="#ctx0" brushRef="#br0">22 295 24575,'-18'0'0,"46"0"0,14-3 0,35-7 0,11-2 0,-27 3 0,4-2-742,19-3 0,11-3 0,-5 2 742,5-3 0,-2 1 0,-16 3 0,3-1 0,-3 1 29,21-3 0,-6 0-29,-25 2 0,-2 1 0,2 1 0,-6 0 0,5-2 0,-5 1 0,-38 10 1650,-33 1-1650,-21 6 259,-21-1 0,-9-1-259,4 1 0,-2 0 0,-19 0 0,-4-1 0,-4-1 0,0 0 0,14 0 0,-2 0-211,-24 0 1,2 0 210,31 0 0,1 0 0,-18 0 0,3 0 0,-10 0 0,32 0 0,5 0 0,-1 0 0,-12 2 0,31 1 0,3 4 421,9-4-421,10 1 0,4 16 0,9 19 0,3 8 0,8 24 0,-6-23 0,-2 19 0,-4-24 0,-5 1 0,1-22 0,-4-5 0,8-9 0,45-8 0,27-15 0,18-3 0,-30 4 0,-2-1 0,12-4 0,21 2 0,-36 10 0,-12 3 0,-13 4 0,-15 0 0,13 0 0,0 0 0,-7 0 0,-5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9T05:55:50.048"/>
    </inkml:context>
    <inkml:brush xml:id="br0">
      <inkml:brushProperty name="width" value="0.05" units="cm"/>
      <inkml:brushProperty name="height" value="0.05" units="cm"/>
    </inkml:brush>
  </inkml:definitions>
  <inkml:trace contextRef="#ctx0" brushRef="#br0">23 406 24575,'-17'0'0,"12"0"0,20 0 0,50-13 0,19-6 0,-9 5 0,4-2-1353,0-1 0,6-2 0,3 0 1353,-11 5 0,2 1 0,1 0 0,-2 1 0,-2 0 0,-1 0 0,-1 1 0,1 1-12,20-1 0,-1 1 0,0 0 12,3-3 0,1 1 0,-14 3 0,-22 6 0,-4 1 0,23-5 0,-5 0 0,-7 5 0,-18 1 0,-44 1 2953,-19 0-2953,-42 0 1142,-1 0-1142,-42-3 0,36-4 0,-12-5 0,30-1 0,14 2 0,8 4 0,12 1 0,2-2 0,12 1 0,33-3 0,4 4 0,45-3 0,-9 6 0,-9 0 0,-7 3 0,-39 5 0,-6 3 0,-26 19 0,-8 1 0,-33 33 0,8-9 0,-20 21 0,20-11 0,0 0 0,0 5 0,17-27 0,-6 6 0,21-36 0,-4 1 0,9-10 0,0-1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6830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Today is not a maths exam — every idea gets an intuition, a worked number, a business scenario, and the AI system it powers. Tell them the deck is the reference copy; we will not present every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 arc runs classical ML through to agents. Stress that every concept is built from first principles — nothing stays a black box.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three or four aloud, not all eight. The point is that these are capabilities, not topics — by the end they should be able to do these things.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contract for the whole deck. Every topic runs through these four lenses in this order. Once they know the rhythm they stop feeling lost.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Part 1 and 2 before the break, Parts 3 and 4 after. Say plainly that the deck is longer than the session — it is built to be kept.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repeating marks so they know what to expect. The triage slide is permission to switch off for topics they already own.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teach this line by line. Point at it, call it the decoder ring, and return to it whenever a symbol appears.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Greek letters are the single biggest source of false difficulty. Naming them out loud removes most of the fear.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slide. Every topic today is a stage in this pipeline. Come back to it at each part divider if the room loses the thread.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is about possibility and uncertainty — counting what could happen, then putting numbers on how likely each option 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sounds beneath a room of professionals. Reframe it: before any AI can optimise anything, it has to know how many options exist. That number is usually far bigger than people guess.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mindset slide. Scientist, engineer, decision maker. Permutations and combinations are what let a system count possibilities before choosing among them.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factorial from scratch with three letters on the board. Three choices for the first slot, two for the second, one for the last. Multiply, not add — because each first choice opens a whole fresh set of second choices.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whole lesson about search spaces. Ten items already exceeds three million arrangements. Twenty exceeds the number of seconds since the dinosaurs.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Permutations first, deliberately. Combinations are easier to understand as permutations with the ordering divided out — so we need permutations on the board before we can do that.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key move. A team is not a podium — nobody is first. So every one of the 60 podiums that contains the same three people is really the same team. How many podiums share a team? 3! = 6 of them.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room actually asks for. Do not rush it. n! counts every arrangement of everybody. Then we divide twice, because two kinds of shuffling produce arrangements we do not want to count as different.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and let people actually read the ten. Nothing convinces a sceptical room like seeing the whole list. Ask them to try to find an eleventh.</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payoffs here. First, the triangle gives you small combination counts without any arithmetic. Second, the symmetry ⁵C₃ = ⁵C₂ is obvious once you say it out loud: choosing three to keep IS choosing two to leave out.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framing. Before a marketing optimiser can find the best channel mix, somebody has to know there are twenty mixes. That number sets the test budget.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that changes behaviour. Grid search multiplies — it does not add. Four learning rates and five batch sizes and three seeds is sixty runs, and each run costs real money and real hours.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places counting shows up. Recommendation bundles is the one people find surprising — a shop with 200 products has nearly twenty thousand two-item bundles to score.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two full minutes on this. The trap is the third question — most people reach for a combination when the ordering genuinely matters.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in the room already reasons probabilistically. What they lack is the notation. Frame this topic as putting names on things they already do.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each one a step up from the last. Plain probability, then probability once you know something, then how to revise what you believe. Everything in this topic is one of these three.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between 0 and 1? Because it is a fraction of a whole. Favourable outcomes over total outcomes. A fraction of a whole cannot be negative and cannot exceed the whole.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probability is not a new law — it is the same fraction with a smaller denominator. Knowing B happened shrinks the world of possibilities to just B.</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lines of algebra. Show that Bayes is not a new law — it is the conditional definition, written twice and rearranged. Once they see the derivation, the formula stops being something to memorise.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detective analogy carries this. A starting suspicion, a clue, and a rule that tells you exactly how much to revise — no more, no less. Read each term aloud with the detective in mind.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for a guess before revealing the answer. Almost everyone says something near 85%. The real answer is 25%. Natural frequencies — counting people, not multiplying decimals — is what makes it land.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test, four different populations. This table is the argument for screening high-risk groups rather than everybody, and the argument against rare-event detectors that ignore prevalence.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Spam is the friendly case, because the base rate is high — half of all mail. That is exactly why a single word can be so decisive here and so useless in fraud detection.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places, one sentence each. Do not linger — the room recognises most of these already.</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four minutes on the loan question. Push them towards natural frequencies — 1,000 applicants — rather than decimals. It is the same arithmetic and far fewer mistakes.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distributions cover most of what a business actually asks. How many out of a fixed number, and how many in a window of time. Say that up front so the topic feels small.</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weighted coin flipped a known number of times, versus rare pings on a Geiger counter over an hour. One counts successes out of known tries; the other counts events where there is no fixed number of tries at all.</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systems rarely see the whole population. Sampling lets us estimate patterns from a manageable subset — and the whole discipline is about knowing how much to trust that estimate.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describe any sample. Mean and median for the centre, variance and standard deviation for the spread. The mean-versus-median point about latency is the one worth dwelling on.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binomial formula is combinations times probability. The count of orderings is a combination — which is why we did counting first. Point that back explicitly.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metro rail company surveys eight seniors about safety features. Sixty percent historically say yes. What's the chance exactly three do? Work every step on the board.</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Poisson has no n. That is the whole difference. You never counted the tries — you only know the average rate. Explain λᵏ/k! as the same 'pattern × orderings' logic in disguise.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subway station averages two ticket machines out of order. What's the chance exactly three are down right now? Then flip it — the chance zero are down is the useful staffing number.</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picker slide. Print this one. The test is always the same: is there a fixed number of tries, and do you know it?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square root law. To halve your error bar you need four times the data. This is the single most useful number in eval design and it costs nothing to remember.</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places. Call-centre staffing is the classic Poisson application and the easiest one to picture.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The second one is the one that matters commercially — most people underestimate how much data a 2-point claim needs.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as a show of hands, not a quiz. Anything that gets fewer than half the room is worth two more minutes before the break.</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is representation. Everything so far was about counting and likelihood. Now we turn meaning itself into numbers — which is the move that makes modern AI possible.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topic that unlocks RAG, search and recommendations. If someone only stays for one topic today, it should be this one.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terms, in order. A vector is the container, an embedding is a vector that means something, and semantic space is where the embeddings live relative to each other.</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GPS analogy is the best one available. Latitude and longitude pin a place; an embedding's numbers pin a concept. Nearby coordinates mean related meaning — that is the entire idea.</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Euclidean distance is Pythagoras, extended. Draw the right triangle on the board — the difference in x is one side, the difference in y is the other, and the distance is the hypotenuse.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customer profiles as vectors. Small numbers, clean answer. Have them do it on paper — it takes thirty seconds and it removes all the mystique.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Words plotted by meaning. Royalty clusters, fruit clusters. Ask where 'Princess' would land before you say it — everyone gets it right, which proves they already understand embeddings.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dimensions cannot separate meaning. You need enough axes for every distinction the model has to make. This slide answers the question everyone is too polite to ask.</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Also Bought, explained. Each product becomes a vector from its description, category and reviews. Nearby vectors become recommendations. That is the whole feature.</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places. RAG retrieval is the one to dwell on given the audience.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Similarity is the operation that makes embeddings useful. Distance answers 'how far'; cosine answers 'same direction', and for text the second question is usually the right one.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hikers walking very different distances in the exact same direction. Cosine ignores how far and measures only which way. For documents of different lengths this is exactly what you want.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cosine, make sure the dot product is solid. Multiply pairwise, add. Big when both vectors are large in the same places. This one operation is also the whole of attention, which we will meet in Part 3.</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arithmetic, all three steps. This is the one calculation everyone should be able to do by hand. Do not skip the magnitudes.</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query, three candidate documents. The scores separate cleanly. Point out that 0.31 and 0.37 are both 'unrelated' — the gap between them is noise, not signal.</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to use which. The short version: text almost always wants cosine, physical measurements almost always want Euclidean.</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shopper views a red running shoe. Two candidates. The running shoe wins on direction even though the colours differ, because colour is a small part of the embedding and category is a large one.</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two is the one that teaches. B is exactly twice A, so the direction is identical and cosine is exactly 1 even though Euclidean distance is not zero.</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Graphs are the other way to represent meaning — by explicit relationship rather than by position in space. Worth twenty minutes because GraphRAG is becoming a real pattern.</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words is the whole vocabulary. Node, edge, direction, weight, path. Everything else in graph theory is built from these.</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graphs actually appear. Agent routing is the one closest to the room's day job — a plan is a path through a graph of tools.</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of hands. Question three is the one that separates people who have understood cosine from people who have memorised it.</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is the machinery. Transformers run almost entirely on matrix and tensor operations, so this part is longer and more mechanical than the others. Tell them that up front.</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longest topic in the deck. Say why: transformers are almost nothing but matrix operations, so the vocabulary pays for itself in every later conversation.</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up a ladder. Each one adds a dimension. A tensor is not exotic — it is just a stack of matrices, and the word only exists because we ran out of names.</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Shapes are where every practical error lives. Teach the rule: the inner numbers must match, the outer numbers survive. Write it on the board and leave it there.</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easy operation, done properly. Element by element, shapes identical. Then the useful part — this is what a bias add and a residual connection are.</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Multiply everything by one number. Trivial arithmetic, but it is exactly what a learning rate does to a gradient, and that connection is worth naming here.</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operation that scores things. One row of features, one column of weights, one number out. Spreadsheet users already do this daily — name it for them.</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case for matrix × vector. Three features, three weights, one score. Then point out this operation is literally a neural network layer.</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Matrix times matrix is just matrix times vector, repeated once per column. Say that sentence and the formula stops being intimidating.</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2×2. Every one of the four entries computed out loud. Slow is fine here — this is the calculation everything else in the topic rests on.</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Flip rows and columns. It looks like bookkeeping until you realise it is what makes attention's shapes line up — Q times K-transpose is the whole reason this operation is in the deck.</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1, for matrices. Ones down the diagonal, zeros everywhere else. Multiplying by it changes nothing — which is exactly what makes it useful as a starting point and a reference.</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Conceptual only — nobody in this room will invert a matrix by hand. The point is what an inverse means: the operation that undoes another one, and the fact that most matrices do not have one.</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number that tells you whether the matrix squashes space. Zero means it collapsed a dimension and cannot be undone. Show the 2×2 arithmetic because it is two multiplications.</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Reshaping is rearranging the same numbers into a different grid. Nothing is created or destroyed. Then the batch dimension — which is where tensors come from in practice.</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slide for the whole part. Three tokens, two dimensions, real arithmetic. Q times K-transpose gives every token's score against every other token — and that is attention.</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matrices show up. Batch processing is the one with commercial consequences — it is the difference between a viable product and an unaffordable one.</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increasing difficulty. Question three is the one that proves they understood shapes rather than memorising the multiply.</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was the densest. If the room is flagging, the honest move is to skip question five and take the break.</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is where the pieces move. Everything so far has been static structure; now we ask how a model improves, how it chooses a word, and how an agent decides what to do.</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 are the answer to 'how many times do I multiply to get here'. They appear everywhere in AI for one reason: they turn multiplication into addition, and tiny numbers into manageable ones.</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inverse direction. e^x turns any number, positive or negative, into a positive one — which is precisely what softmax needs, and worth planting here before we get there.</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models learn. Not a metaphor — the actual mechanism. Everyone who has ever asked 'but how does it know?' gets their answer in this topic.</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analogy in the whole subject. You cannot see the bottom of the valley, but you can feel which way the ground slopes. Step that way. Feel again. Repeat.</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derivative from rise over run. It is the slope of a line, taken over a shrinking interval until it becomes the slope at a point. No limits notation needed.</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smallest possible model. One weight, one input, one target. Predict, measure error, nudge. Every training run in the world is this loop with more zeros.</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update rule, term by term. The minus sign is the whole trick — the gradient points uphill, so we move against it.</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learning rates, four loss curves. This slide is what lets someone look at a training run and say something useful about it.</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mechanism, business framing. A house-price model over-predicts by 30K. That error is not a failure — it is the signal that drives the next update.</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places. Worth pointing out that fine-tuning and RLHF are the same loop with a different loss — that reframing helps a lot of people.</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topic that demystifies LLMs more than any other. A language model is a next-token probability engine. Everything people find spooky about them follows from that one sentence.</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Paris example. Point out that the model has no facts stored as facts — it has a distribution shaped by having seen the sentence millions of times.</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panel of judges giving raw scores, converted into percentages of the vote. Softmax takes any set of numbers and returns a valid probability distribution. Two jobs: make everything positive, and make it sum to one.</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logits, full arithmetic. Notice the logit gap of 1.0 becomes a probability ratio of about 2.7 — exponentiation is what makes small score differences into large probability differences.</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Temperature divides the logits before softmax. Below 1 it sharpens; above 1 it flattens. This table is the one people photograph.</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distribution matters more than the top answer in high-stakes work. 0.58 for infection is a top answer that should trigger a human check, not a diagnosis.</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The second one is a design question disguised as a maths question, which is the point.</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Entropy is average surprise. A distribution with one dominant option is low-entropy and unsurprising. A flat distribution is high-entropy — you learn a lot when the answer arrives.</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Cross-entropy is the loss that trains every language model. Perplexity is the same number made readable — how many options the model was effectively choosing between.</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softmax subtracts the maximum before exponentiating. e to the 800 overflows any float. Subtracting the max changes nothing mathematically and everything practically.</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formats. This is the table behind every quantisation decision and every GPU memory estimate.</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boxes. Every evaluation metric in classification is a ratio of two of them. Draw it once and the rest of the topic is arithmetic.</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is 'when it flags, is it right'. Recall is 'of the real cases, how many did it catch'. They trade off, always, and the business decides which one matters.</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numbers on the fraud case. Then the business question: which error costs more? That answer sets the threshold, not the model.</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topic, and the one closest to what the room is building. An agent is a scoring loop. Everything else is engineering around that loop.</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 asked for quarterly financial analysis. It scores its tools and picks the database query. That scoring-and-selecting pattern is the mathematical core of every agent loop.</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a restaurant by weighing price, distance and rating into one score, then picking the best. An agent does exactly that, thousands of times, refining as it learns which past choices paid off.</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design shapes behaviour. The loop penalty is the interesting one — without it, an agent that never finishes is not punished, and infinite loops become the most expensive bug in the system.</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places. Dynamic pricing is the one that makes the pattern feel general rather than an LLM curiosity.</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self-check. If question two lands, the session worked.</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slide to leave on screen during questions. Read it slowly — each line is a whole topic compressed.</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cheat sheet. Tell them to photograph this one. Every line is something that will save them an argument.</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printable card. Everything from today on one page. Hand it out or send it after.</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glossary. Do not read it — point at it and move on. It exists for the week after the session, not for the session.</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Take questions with the takeaways slide back up if the room needs a prompt.</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customXml" Target="../ink/ink1.xml"/></Relationships>
</file>

<file path=ppt/slides/_rels/slide39.xml.rels><?xml version="1.0" encoding="UTF-8" standalone="yes"?>
<Relationships xmlns="http://schemas.openxmlformats.org/package/2006/relationships"><Relationship Id="rId26" Type="http://schemas.openxmlformats.org/officeDocument/2006/relationships/customXml" Target="../ink/ink14.xml"/><Relationship Id="rId21" Type="http://schemas.openxmlformats.org/officeDocument/2006/relationships/image" Target="../media/image20.png"/><Relationship Id="rId42" Type="http://schemas.openxmlformats.org/officeDocument/2006/relationships/customXml" Target="../ink/ink22.xml"/><Relationship Id="rId47" Type="http://schemas.openxmlformats.org/officeDocument/2006/relationships/image" Target="../media/image33.png"/><Relationship Id="rId63" Type="http://schemas.openxmlformats.org/officeDocument/2006/relationships/image" Target="../media/image41.png"/><Relationship Id="rId68" Type="http://schemas.openxmlformats.org/officeDocument/2006/relationships/customXml" Target="../ink/ink35.xml"/><Relationship Id="rId16" Type="http://schemas.openxmlformats.org/officeDocument/2006/relationships/customXml" Target="../ink/ink9.xml"/><Relationship Id="rId11" Type="http://schemas.openxmlformats.org/officeDocument/2006/relationships/image" Target="../media/image15.png"/><Relationship Id="rId24" Type="http://schemas.openxmlformats.org/officeDocument/2006/relationships/customXml" Target="../ink/ink13.xml"/><Relationship Id="rId32" Type="http://schemas.openxmlformats.org/officeDocument/2006/relationships/customXml" Target="../ink/ink17.xml"/><Relationship Id="rId37" Type="http://schemas.openxmlformats.org/officeDocument/2006/relationships/image" Target="../media/image28.png"/><Relationship Id="rId40" Type="http://schemas.openxmlformats.org/officeDocument/2006/relationships/customXml" Target="../ink/ink21.xml"/><Relationship Id="rId45" Type="http://schemas.openxmlformats.org/officeDocument/2006/relationships/image" Target="../media/image32.png"/><Relationship Id="rId53" Type="http://schemas.openxmlformats.org/officeDocument/2006/relationships/image" Target="../media/image36.png"/><Relationship Id="rId58" Type="http://schemas.openxmlformats.org/officeDocument/2006/relationships/customXml" Target="../ink/ink30.xml"/><Relationship Id="rId66" Type="http://schemas.openxmlformats.org/officeDocument/2006/relationships/customXml" Target="../ink/ink34.xml"/><Relationship Id="rId74" Type="http://schemas.openxmlformats.org/officeDocument/2006/relationships/customXml" Target="../ink/ink38.xml"/><Relationship Id="rId5" Type="http://schemas.openxmlformats.org/officeDocument/2006/relationships/image" Target="../media/image12.png"/><Relationship Id="rId61" Type="http://schemas.openxmlformats.org/officeDocument/2006/relationships/image" Target="../media/image40.png"/><Relationship Id="rId19" Type="http://schemas.openxmlformats.org/officeDocument/2006/relationships/image" Target="../media/image19.png"/><Relationship Id="rId14" Type="http://schemas.openxmlformats.org/officeDocument/2006/relationships/customXml" Target="../ink/ink8.xml"/><Relationship Id="rId22" Type="http://schemas.openxmlformats.org/officeDocument/2006/relationships/customXml" Target="../ink/ink12.xml"/><Relationship Id="rId27" Type="http://schemas.openxmlformats.org/officeDocument/2006/relationships/image" Target="../media/image23.png"/><Relationship Id="rId30" Type="http://schemas.openxmlformats.org/officeDocument/2006/relationships/customXml" Target="../ink/ink16.xml"/><Relationship Id="rId35" Type="http://schemas.openxmlformats.org/officeDocument/2006/relationships/image" Target="../media/image27.png"/><Relationship Id="rId43" Type="http://schemas.openxmlformats.org/officeDocument/2006/relationships/image" Target="../media/image31.png"/><Relationship Id="rId48" Type="http://schemas.openxmlformats.org/officeDocument/2006/relationships/customXml" Target="../ink/ink25.xml"/><Relationship Id="rId56" Type="http://schemas.openxmlformats.org/officeDocument/2006/relationships/customXml" Target="../ink/ink29.xml"/><Relationship Id="rId64" Type="http://schemas.openxmlformats.org/officeDocument/2006/relationships/customXml" Target="../ink/ink33.xml"/><Relationship Id="rId69" Type="http://schemas.openxmlformats.org/officeDocument/2006/relationships/image" Target="../media/image44.png"/><Relationship Id="rId77" Type="http://schemas.openxmlformats.org/officeDocument/2006/relationships/image" Target="../media/image48.png"/><Relationship Id="rId8" Type="http://schemas.openxmlformats.org/officeDocument/2006/relationships/customXml" Target="../ink/ink5.xml"/><Relationship Id="rId51" Type="http://schemas.openxmlformats.org/officeDocument/2006/relationships/image" Target="../media/image35.png"/><Relationship Id="rId72" Type="http://schemas.openxmlformats.org/officeDocument/2006/relationships/customXml" Target="../ink/ink37.xml"/><Relationship Id="rId3" Type="http://schemas.openxmlformats.org/officeDocument/2006/relationships/image" Target="../media/image11.png"/><Relationship Id="rId12" Type="http://schemas.openxmlformats.org/officeDocument/2006/relationships/customXml" Target="../ink/ink7.xml"/><Relationship Id="rId17" Type="http://schemas.openxmlformats.org/officeDocument/2006/relationships/image" Target="../media/image18.png"/><Relationship Id="rId25" Type="http://schemas.openxmlformats.org/officeDocument/2006/relationships/image" Target="../media/image22.png"/><Relationship Id="rId33" Type="http://schemas.openxmlformats.org/officeDocument/2006/relationships/image" Target="../media/image26.png"/><Relationship Id="rId38" Type="http://schemas.openxmlformats.org/officeDocument/2006/relationships/customXml" Target="../ink/ink20.xml"/><Relationship Id="rId46" Type="http://schemas.openxmlformats.org/officeDocument/2006/relationships/customXml" Target="../ink/ink24.xml"/><Relationship Id="rId59" Type="http://schemas.openxmlformats.org/officeDocument/2006/relationships/image" Target="../media/image39.png"/><Relationship Id="rId67" Type="http://schemas.openxmlformats.org/officeDocument/2006/relationships/image" Target="../media/image43.png"/><Relationship Id="rId20" Type="http://schemas.openxmlformats.org/officeDocument/2006/relationships/customXml" Target="../ink/ink11.xml"/><Relationship Id="rId41" Type="http://schemas.openxmlformats.org/officeDocument/2006/relationships/image" Target="../media/image30.png"/><Relationship Id="rId54" Type="http://schemas.openxmlformats.org/officeDocument/2006/relationships/customXml" Target="../ink/ink28.xml"/><Relationship Id="rId62" Type="http://schemas.openxmlformats.org/officeDocument/2006/relationships/customXml" Target="../ink/ink32.xml"/><Relationship Id="rId70" Type="http://schemas.openxmlformats.org/officeDocument/2006/relationships/customXml" Target="../ink/ink36.xml"/><Relationship Id="rId75" Type="http://schemas.openxmlformats.org/officeDocument/2006/relationships/image" Target="../media/image47.png"/><Relationship Id="rId1" Type="http://schemas.openxmlformats.org/officeDocument/2006/relationships/slideLayout" Target="../slideLayouts/slideLayout1.xml"/><Relationship Id="rId6" Type="http://schemas.openxmlformats.org/officeDocument/2006/relationships/customXml" Target="../ink/ink4.xml"/><Relationship Id="rId15" Type="http://schemas.openxmlformats.org/officeDocument/2006/relationships/image" Target="../media/image17.png"/><Relationship Id="rId23" Type="http://schemas.openxmlformats.org/officeDocument/2006/relationships/image" Target="../media/image21.png"/><Relationship Id="rId28" Type="http://schemas.openxmlformats.org/officeDocument/2006/relationships/customXml" Target="../ink/ink15.xml"/><Relationship Id="rId36" Type="http://schemas.openxmlformats.org/officeDocument/2006/relationships/customXml" Target="../ink/ink19.xml"/><Relationship Id="rId49" Type="http://schemas.openxmlformats.org/officeDocument/2006/relationships/image" Target="../media/image34.png"/><Relationship Id="rId57" Type="http://schemas.openxmlformats.org/officeDocument/2006/relationships/image" Target="../media/image38.png"/><Relationship Id="rId10" Type="http://schemas.openxmlformats.org/officeDocument/2006/relationships/customXml" Target="../ink/ink6.xml"/><Relationship Id="rId31" Type="http://schemas.openxmlformats.org/officeDocument/2006/relationships/image" Target="../media/image25.png"/><Relationship Id="rId44" Type="http://schemas.openxmlformats.org/officeDocument/2006/relationships/customXml" Target="../ink/ink23.xml"/><Relationship Id="rId52" Type="http://schemas.openxmlformats.org/officeDocument/2006/relationships/customXml" Target="../ink/ink27.xml"/><Relationship Id="rId60" Type="http://schemas.openxmlformats.org/officeDocument/2006/relationships/customXml" Target="../ink/ink31.xml"/><Relationship Id="rId65" Type="http://schemas.openxmlformats.org/officeDocument/2006/relationships/image" Target="../media/image42.png"/><Relationship Id="rId73" Type="http://schemas.openxmlformats.org/officeDocument/2006/relationships/image" Target="../media/image46.png"/><Relationship Id="rId4" Type="http://schemas.openxmlformats.org/officeDocument/2006/relationships/customXml" Target="../ink/ink3.xml"/><Relationship Id="rId9" Type="http://schemas.openxmlformats.org/officeDocument/2006/relationships/image" Target="../media/image14.png"/><Relationship Id="rId13" Type="http://schemas.openxmlformats.org/officeDocument/2006/relationships/image" Target="../media/image16.png"/><Relationship Id="rId18" Type="http://schemas.openxmlformats.org/officeDocument/2006/relationships/customXml" Target="../ink/ink10.xml"/><Relationship Id="rId39" Type="http://schemas.openxmlformats.org/officeDocument/2006/relationships/image" Target="../media/image29.png"/><Relationship Id="rId34" Type="http://schemas.openxmlformats.org/officeDocument/2006/relationships/customXml" Target="../ink/ink18.xml"/><Relationship Id="rId50" Type="http://schemas.openxmlformats.org/officeDocument/2006/relationships/customXml" Target="../ink/ink26.xml"/><Relationship Id="rId55" Type="http://schemas.openxmlformats.org/officeDocument/2006/relationships/image" Target="../media/image37.png"/><Relationship Id="rId76" Type="http://schemas.openxmlformats.org/officeDocument/2006/relationships/customXml" Target="../ink/ink39.xml"/><Relationship Id="rId7" Type="http://schemas.openxmlformats.org/officeDocument/2006/relationships/image" Target="../media/image13.png"/><Relationship Id="rId71" Type="http://schemas.openxmlformats.org/officeDocument/2006/relationships/image" Target="../media/image45.png"/><Relationship Id="rId2" Type="http://schemas.openxmlformats.org/officeDocument/2006/relationships/customXml" Target="../ink/ink2.xml"/><Relationship Id="rId29" Type="http://schemas.openxmlformats.org/officeDocument/2006/relationships/image" Target="../media/image24.png"/></Relationships>
</file>

<file path=ppt/slides/_rels/slide40.xml.rels><?xml version="1.0" encoding="UTF-8" standalone="yes"?>
<Relationships xmlns="http://schemas.openxmlformats.org/package/2006/relationships"><Relationship Id="rId8" Type="http://schemas.openxmlformats.org/officeDocument/2006/relationships/customXml" Target="../ink/ink43.xml"/><Relationship Id="rId13" Type="http://schemas.openxmlformats.org/officeDocument/2006/relationships/image" Target="../media/image53.png"/><Relationship Id="rId18" Type="http://schemas.openxmlformats.org/officeDocument/2006/relationships/customXml" Target="../ink/ink48.xml"/><Relationship Id="rId3" Type="http://schemas.openxmlformats.org/officeDocument/2006/relationships/image" Target="../media/image10.png"/><Relationship Id="rId21" Type="http://schemas.openxmlformats.org/officeDocument/2006/relationships/image" Target="../media/image57.png"/><Relationship Id="rId7" Type="http://schemas.openxmlformats.org/officeDocument/2006/relationships/image" Target="../media/image50.png"/><Relationship Id="rId12" Type="http://schemas.openxmlformats.org/officeDocument/2006/relationships/customXml" Target="../ink/ink45.xml"/><Relationship Id="rId17" Type="http://schemas.openxmlformats.org/officeDocument/2006/relationships/image" Target="../media/image55.png"/><Relationship Id="rId2" Type="http://schemas.openxmlformats.org/officeDocument/2006/relationships/customXml" Target="../ink/ink40.xml"/><Relationship Id="rId16" Type="http://schemas.openxmlformats.org/officeDocument/2006/relationships/customXml" Target="../ink/ink47.xml"/><Relationship Id="rId20" Type="http://schemas.openxmlformats.org/officeDocument/2006/relationships/customXml" Target="../ink/ink49.xml"/><Relationship Id="rId1" Type="http://schemas.openxmlformats.org/officeDocument/2006/relationships/slideLayout" Target="../slideLayouts/slideLayout1.xml"/><Relationship Id="rId6" Type="http://schemas.openxmlformats.org/officeDocument/2006/relationships/customXml" Target="../ink/ink42.xml"/><Relationship Id="rId11" Type="http://schemas.openxmlformats.org/officeDocument/2006/relationships/image" Target="../media/image52.png"/><Relationship Id="rId5" Type="http://schemas.openxmlformats.org/officeDocument/2006/relationships/image" Target="../media/image49.png"/><Relationship Id="rId15" Type="http://schemas.openxmlformats.org/officeDocument/2006/relationships/image" Target="../media/image54.png"/><Relationship Id="rId23" Type="http://schemas.openxmlformats.org/officeDocument/2006/relationships/image" Target="../media/image58.png"/><Relationship Id="rId10" Type="http://schemas.openxmlformats.org/officeDocument/2006/relationships/customXml" Target="../ink/ink44.xml"/><Relationship Id="rId19" Type="http://schemas.openxmlformats.org/officeDocument/2006/relationships/image" Target="../media/image56.png"/><Relationship Id="rId4" Type="http://schemas.openxmlformats.org/officeDocument/2006/relationships/customXml" Target="../ink/ink41.xml"/><Relationship Id="rId9" Type="http://schemas.openxmlformats.org/officeDocument/2006/relationships/image" Target="../media/image51.png"/><Relationship Id="rId14" Type="http://schemas.openxmlformats.org/officeDocument/2006/relationships/customXml" Target="../ink/ink46.xml"/><Relationship Id="rId22" Type="http://schemas.openxmlformats.org/officeDocument/2006/relationships/customXml" Target="../ink/ink50.xml"/></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9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9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notesSlide" Target="../notesSlides/notesSlide101.xml"/><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10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02.xml"/><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10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07.xml"/><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11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09.xml"/><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11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12.xml"/><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11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80.svg"/><Relationship Id="rId2" Type="http://schemas.openxmlformats.org/officeDocument/2006/relationships/notesSlide" Target="../notesSlides/notesSlide115.xml"/><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11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16.xml"/><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11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FOUNDATION SESSION 2</a:t>
            </a:r>
            <a:endParaRPr lang="en-US" sz="1800" dirty="0"/>
          </a:p>
        </p:txBody>
      </p:sp>
      <p:sp>
        <p:nvSpPr>
          <p:cNvPr id="3" name="Text 1"/>
          <p:cNvSpPr/>
          <p:nvPr/>
        </p:nvSpPr>
        <p:spPr>
          <a:xfrm>
            <a:off x="1074539" y="2400300"/>
            <a:ext cx="16552575" cy="3467100"/>
          </a:xfrm>
          <a:prstGeom prst="rect">
            <a:avLst/>
          </a:prstGeom>
          <a:noFill/>
          <a:ln/>
        </p:spPr>
        <p:txBody>
          <a:bodyPr wrap="square" lIns="25400" tIns="25400" rIns="25400" bIns="25400" rtlCol="0" anchor="t">
            <a:normAutofit/>
          </a:bodyPr>
          <a:lstStyle/>
          <a:p>
            <a:pPr marL="0" indent="0" algn="l">
              <a:lnSpc>
                <a:spcPct val="83916"/>
              </a:lnSpc>
              <a:buNone/>
            </a:pPr>
            <a:r>
              <a:rPr lang="en-US" sz="9300" b="1" kern="0" spc="-186" dirty="0">
                <a:solidFill>
                  <a:srgbClr val="201E1D"/>
                </a:solidFill>
                <a:latin typeface="Arial" pitchFamily="34" charset="0"/>
                <a:ea typeface="Arial" pitchFamily="34" charset="-122"/>
                <a:cs typeface="Arial" pitchFamily="34" charset="-120"/>
              </a:rPr>
              <a:t>Mathematical Foundation for AI Systems</a:t>
            </a:r>
            <a:endParaRPr lang="en-US" sz="9300" dirty="0"/>
          </a:p>
        </p:txBody>
      </p:sp>
      <p:sp>
        <p:nvSpPr>
          <p:cNvPr id="4" name="Text 2"/>
          <p:cNvSpPr/>
          <p:nvPr/>
        </p:nvSpPr>
        <p:spPr>
          <a:xfrm>
            <a:off x="1143000" y="6286500"/>
            <a:ext cx="8989790" cy="14097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3000" dirty="0">
                <a:solidFill>
                  <a:srgbClr val="211D1D">
                    <a:alpha val="55000"/>
                  </a:srgbClr>
                </a:solidFill>
                <a:latin typeface="Arial" pitchFamily="34" charset="0"/>
                <a:ea typeface="Arial" pitchFamily="34" charset="-122"/>
                <a:cs typeface="Arial" pitchFamily="34" charset="-120"/>
              </a:rPr>
              <a:t>A beginner-friendly, in-depth journey through the math behind ML, Deep Learning, LLMs, RAG and Agentic AI.</a:t>
            </a:r>
            <a:endParaRPr lang="en-US" sz="3000" dirty="0"/>
          </a:p>
        </p:txBody>
      </p:sp>
      <p:sp>
        <p:nvSpPr>
          <p:cNvPr id="5" name="Text 3"/>
          <p:cNvSpPr/>
          <p:nvPr/>
        </p:nvSpPr>
        <p:spPr>
          <a:xfrm>
            <a:off x="1143000" y="8987210"/>
            <a:ext cx="1813999"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Mr. Amit Pandey</a:t>
            </a:r>
            <a:endParaRPr lang="en-US" sz="1800" dirty="0"/>
          </a:p>
        </p:txBody>
      </p:sp>
      <p:sp>
        <p:nvSpPr>
          <p:cNvPr id="6" name="Text 4"/>
          <p:cNvSpPr/>
          <p:nvPr/>
        </p:nvSpPr>
        <p:spPr>
          <a:xfrm>
            <a:off x="2963540" y="8987210"/>
            <a:ext cx="152326"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3211116" y="8987210"/>
            <a:ext cx="834851"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3 hours</a:t>
            </a:r>
            <a:endParaRPr lang="en-US" sz="1800" dirty="0"/>
          </a:p>
        </p:txBody>
      </p:sp>
      <p:sp>
        <p:nvSpPr>
          <p:cNvPr id="8" name="Text 6"/>
          <p:cNvSpPr/>
          <p:nvPr/>
        </p:nvSpPr>
        <p:spPr>
          <a:xfrm>
            <a:off x="4141217" y="8987210"/>
            <a:ext cx="152326"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4388793" y="8987210"/>
            <a:ext cx="1076102"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Session 2</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SESSION 2 · OVERVIEW</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What this session covers</a:t>
            </a:r>
            <a:endParaRPr lang="en-US" sz="4800" dirty="0"/>
          </a:p>
        </p:txBody>
      </p:sp>
      <p:sp>
        <p:nvSpPr>
          <p:cNvPr id="4" name="Text 2"/>
          <p:cNvSpPr/>
          <p:nvPr/>
        </p:nvSpPr>
        <p:spPr>
          <a:xfrm>
            <a:off x="1143000" y="2674516"/>
            <a:ext cx="1447361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 core mathematics powering modern AI systems — from classical machine learning through deep learning, large language models, retrieval-augmented generation and agentic AI. Every concept is explained from first principles, broken down term by term, paired with an analogy, then applied to a business scenario and a real AI system.</a:t>
            </a:r>
            <a:endParaRPr lang="en-US" sz="2100" dirty="0"/>
          </a:p>
        </p:txBody>
      </p:sp>
      <p:sp>
        <p:nvSpPr>
          <p:cNvPr id="5" name="Shape 3"/>
          <p:cNvSpPr/>
          <p:nvPr/>
        </p:nvSpPr>
        <p:spPr>
          <a:xfrm>
            <a:off x="1143000" y="4676775"/>
            <a:ext cx="2834580" cy="19050"/>
          </a:xfrm>
          <a:prstGeom prst="rect">
            <a:avLst/>
          </a:prstGeom>
          <a:solidFill>
            <a:srgbClr val="201E1E">
              <a:alpha val="40000"/>
            </a:srgbClr>
          </a:solidFill>
          <a:ln/>
        </p:spPr>
        <p:txBody>
          <a:bodyPr/>
          <a:lstStyle/>
          <a:p>
            <a:endParaRPr lang="en-US"/>
          </a:p>
        </p:txBody>
      </p:sp>
      <p:sp>
        <p:nvSpPr>
          <p:cNvPr id="6" name="Text 4"/>
          <p:cNvSpPr/>
          <p:nvPr/>
        </p:nvSpPr>
        <p:spPr>
          <a:xfrm>
            <a:off x="1143000" y="4911477"/>
            <a:ext cx="3118039"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Machine Learning</a:t>
            </a:r>
            <a:endParaRPr lang="en-US" sz="2550" dirty="0"/>
          </a:p>
        </p:txBody>
      </p:sp>
      <p:sp>
        <p:nvSpPr>
          <p:cNvPr id="7" name="Text 5"/>
          <p:cNvSpPr/>
          <p:nvPr/>
        </p:nvSpPr>
        <p:spPr>
          <a:xfrm>
            <a:off x="1143000" y="5417641"/>
            <a:ext cx="2919618"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Probability, distributions, gradients.</a:t>
            </a:r>
            <a:endParaRPr lang="en-US" sz="2100" dirty="0"/>
          </a:p>
        </p:txBody>
      </p:sp>
      <p:sp>
        <p:nvSpPr>
          <p:cNvPr id="8" name="Shape 6"/>
          <p:cNvSpPr/>
          <p:nvPr/>
        </p:nvSpPr>
        <p:spPr>
          <a:xfrm>
            <a:off x="4434780" y="4676775"/>
            <a:ext cx="2834655" cy="19050"/>
          </a:xfrm>
          <a:prstGeom prst="rect">
            <a:avLst/>
          </a:prstGeom>
          <a:solidFill>
            <a:srgbClr val="201E1E">
              <a:alpha val="40000"/>
            </a:srgbClr>
          </a:solidFill>
          <a:ln/>
        </p:spPr>
        <p:txBody>
          <a:bodyPr/>
          <a:lstStyle/>
          <a:p>
            <a:endParaRPr lang="en-US"/>
          </a:p>
        </p:txBody>
      </p:sp>
      <p:sp>
        <p:nvSpPr>
          <p:cNvPr id="9" name="Text 7"/>
          <p:cNvSpPr/>
          <p:nvPr/>
        </p:nvSpPr>
        <p:spPr>
          <a:xfrm>
            <a:off x="4434780" y="4911477"/>
            <a:ext cx="3118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Deep Learning</a:t>
            </a:r>
            <a:endParaRPr lang="en-US" sz="2550" dirty="0"/>
          </a:p>
        </p:txBody>
      </p:sp>
      <p:sp>
        <p:nvSpPr>
          <p:cNvPr id="10" name="Text 8"/>
          <p:cNvSpPr/>
          <p:nvPr/>
        </p:nvSpPr>
        <p:spPr>
          <a:xfrm>
            <a:off x="4434780" y="5417641"/>
            <a:ext cx="2919695"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Matrices, tensors, backpropagation.</a:t>
            </a:r>
            <a:endParaRPr lang="en-US" sz="2100" dirty="0"/>
          </a:p>
        </p:txBody>
      </p:sp>
      <p:sp>
        <p:nvSpPr>
          <p:cNvPr id="11" name="Shape 9"/>
          <p:cNvSpPr/>
          <p:nvPr/>
        </p:nvSpPr>
        <p:spPr>
          <a:xfrm>
            <a:off x="7726635" y="4676775"/>
            <a:ext cx="2834655" cy="19050"/>
          </a:xfrm>
          <a:prstGeom prst="rect">
            <a:avLst/>
          </a:prstGeom>
          <a:solidFill>
            <a:srgbClr val="201E1E">
              <a:alpha val="40000"/>
            </a:srgbClr>
          </a:solidFill>
          <a:ln/>
        </p:spPr>
        <p:txBody>
          <a:bodyPr/>
          <a:lstStyle/>
          <a:p>
            <a:endParaRPr lang="en-US"/>
          </a:p>
        </p:txBody>
      </p:sp>
      <p:sp>
        <p:nvSpPr>
          <p:cNvPr id="12" name="Text 10"/>
          <p:cNvSpPr/>
          <p:nvPr/>
        </p:nvSpPr>
        <p:spPr>
          <a:xfrm>
            <a:off x="7726635" y="4911477"/>
            <a:ext cx="3118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LLMs</a:t>
            </a:r>
            <a:endParaRPr lang="en-US" sz="2550" dirty="0"/>
          </a:p>
        </p:txBody>
      </p:sp>
      <p:sp>
        <p:nvSpPr>
          <p:cNvPr id="13" name="Text 11"/>
          <p:cNvSpPr/>
          <p:nvPr/>
        </p:nvSpPr>
        <p:spPr>
          <a:xfrm>
            <a:off x="7726635" y="5417641"/>
            <a:ext cx="2919695" cy="11354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Softmax, token probabilities, temperature.</a:t>
            </a:r>
            <a:endParaRPr lang="en-US" sz="2100" dirty="0"/>
          </a:p>
        </p:txBody>
      </p:sp>
      <p:sp>
        <p:nvSpPr>
          <p:cNvPr id="14" name="Shape 12"/>
          <p:cNvSpPr/>
          <p:nvPr/>
        </p:nvSpPr>
        <p:spPr>
          <a:xfrm>
            <a:off x="11018490" y="4676775"/>
            <a:ext cx="2834655" cy="19050"/>
          </a:xfrm>
          <a:prstGeom prst="rect">
            <a:avLst/>
          </a:prstGeom>
          <a:solidFill>
            <a:srgbClr val="201E1E">
              <a:alpha val="40000"/>
            </a:srgbClr>
          </a:solidFill>
          <a:ln/>
        </p:spPr>
        <p:txBody>
          <a:bodyPr/>
          <a:lstStyle/>
          <a:p>
            <a:endParaRPr lang="en-US"/>
          </a:p>
        </p:txBody>
      </p:sp>
      <p:sp>
        <p:nvSpPr>
          <p:cNvPr id="15" name="Text 13"/>
          <p:cNvSpPr/>
          <p:nvPr/>
        </p:nvSpPr>
        <p:spPr>
          <a:xfrm>
            <a:off x="11018490" y="4911477"/>
            <a:ext cx="3118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RAG</a:t>
            </a:r>
            <a:endParaRPr lang="en-US" sz="2550" dirty="0"/>
          </a:p>
        </p:txBody>
      </p:sp>
      <p:sp>
        <p:nvSpPr>
          <p:cNvPr id="16" name="Text 14"/>
          <p:cNvSpPr/>
          <p:nvPr/>
        </p:nvSpPr>
        <p:spPr>
          <a:xfrm>
            <a:off x="11018490" y="5417641"/>
            <a:ext cx="2919695"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Embeddings, cosine similarity, retrieval.</a:t>
            </a:r>
            <a:endParaRPr lang="en-US" sz="2100" dirty="0"/>
          </a:p>
        </p:txBody>
      </p:sp>
      <p:sp>
        <p:nvSpPr>
          <p:cNvPr id="17" name="Shape 15"/>
          <p:cNvSpPr/>
          <p:nvPr/>
        </p:nvSpPr>
        <p:spPr>
          <a:xfrm>
            <a:off x="14310345" y="4676775"/>
            <a:ext cx="2834655" cy="19050"/>
          </a:xfrm>
          <a:prstGeom prst="rect">
            <a:avLst/>
          </a:prstGeom>
          <a:solidFill>
            <a:srgbClr val="201E1E">
              <a:alpha val="40000"/>
            </a:srgbClr>
          </a:solidFill>
          <a:ln/>
        </p:spPr>
        <p:txBody>
          <a:bodyPr/>
          <a:lstStyle/>
          <a:p>
            <a:endParaRPr lang="en-US"/>
          </a:p>
        </p:txBody>
      </p:sp>
      <p:sp>
        <p:nvSpPr>
          <p:cNvPr id="18" name="Text 16"/>
          <p:cNvSpPr/>
          <p:nvPr/>
        </p:nvSpPr>
        <p:spPr>
          <a:xfrm>
            <a:off x="14310345" y="4911477"/>
            <a:ext cx="3118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Agentic AI</a:t>
            </a:r>
            <a:endParaRPr lang="en-US" sz="2550" dirty="0"/>
          </a:p>
        </p:txBody>
      </p:sp>
      <p:sp>
        <p:nvSpPr>
          <p:cNvPr id="19" name="Text 17"/>
          <p:cNvSpPr/>
          <p:nvPr/>
        </p:nvSpPr>
        <p:spPr>
          <a:xfrm>
            <a:off x="14310345" y="5417641"/>
            <a:ext cx="2919695"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Utility, argmax, cumulative reward.</a:t>
            </a:r>
            <a:endParaRPr lang="en-US" sz="2100" dirty="0"/>
          </a:p>
        </p:txBody>
      </p:sp>
      <p:pic>
        <p:nvPicPr>
          <p:cNvPr id="20" name="Image 0" descr="preencoded.png"/>
          <p:cNvPicPr>
            <a:picLocks noChangeAspect="1"/>
          </p:cNvPicPr>
          <p:nvPr/>
        </p:nvPicPr>
        <p:blipFill>
          <a:blip r:embed="rId3"/>
          <a:stretch>
            <a:fillRect/>
          </a:stretch>
        </p:blipFill>
        <p:spPr>
          <a:xfrm>
            <a:off x="1143000" y="8987210"/>
            <a:ext cx="5566544" cy="1567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SESSION 2 · LEARNING OUTCOMES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By the end of this session you can</a:t>
            </a:r>
            <a:endParaRPr lang="en-US" sz="4800" dirty="0"/>
          </a:p>
        </p:txBody>
      </p:sp>
      <p:sp>
        <p:nvSpPr>
          <p:cNvPr id="4" name="Text 2"/>
          <p:cNvSpPr/>
          <p:nvPr/>
        </p:nvSpPr>
        <p:spPr>
          <a:xfrm>
            <a:off x="942975" y="3232919"/>
            <a:ext cx="11896725" cy="4234086"/>
          </a:xfrm>
          <a:prstGeom prst="rect">
            <a:avLst/>
          </a:prstGeom>
          <a:noFill/>
          <a:ln/>
        </p:spPr>
        <p:txBody>
          <a:bodyPr wrap="square" lIns="25400" tIns="25400" rIns="25400" bIns="25400" rtlCol="0" anchor="t">
            <a:normAutofit/>
          </a:bodyPr>
          <a:lstStyle/>
          <a:p>
            <a:pPr marL="0" indent="0" algn="l">
              <a:lnSpc>
                <a:spcPct val="121739"/>
              </a:lnSpc>
              <a:buNone/>
            </a:pPr>
            <a:r>
              <a:rPr lang="en-US" sz="2250" dirty="0">
                <a:solidFill>
                  <a:srgbClr val="201E1D"/>
                </a:solidFill>
                <a:latin typeface="Arial" pitchFamily="34" charset="0"/>
                <a:ea typeface="Arial" pitchFamily="34" charset="-122"/>
                <a:cs typeface="Arial" pitchFamily="34" charset="-120"/>
              </a:rPr>
              <a:t>Count and compare possibilities — permutations, combinations, and why search spaces explode</a:t>
            </a:r>
            <a:endParaRPr lang="en-US" sz="2250" dirty="0"/>
          </a:p>
          <a:p>
            <a:pPr marL="0" indent="0" algn="l">
              <a:lnSpc>
                <a:spcPct val="121739"/>
              </a:lnSpc>
              <a:buNone/>
            </a:pPr>
            <a:r>
              <a:rPr lang="en-US" sz="2250" dirty="0">
                <a:solidFill>
                  <a:srgbClr val="201E1D"/>
                </a:solidFill>
                <a:latin typeface="Arial" pitchFamily="34" charset="0"/>
                <a:ea typeface="Arial" pitchFamily="34" charset="-122"/>
                <a:cs typeface="Arial" pitchFamily="34" charset="-120"/>
              </a:rPr>
              <a:t>Reason about uncertainty with probability, conditional probability and Bayes' theorem</a:t>
            </a:r>
            <a:endParaRPr lang="en-US" sz="2250" dirty="0"/>
          </a:p>
          <a:p>
            <a:pPr marL="0" indent="0" algn="l">
              <a:lnSpc>
                <a:spcPct val="121739"/>
              </a:lnSpc>
              <a:buNone/>
            </a:pPr>
            <a:r>
              <a:rPr lang="en-US" sz="2250" dirty="0">
                <a:solidFill>
                  <a:srgbClr val="201E1D"/>
                </a:solidFill>
                <a:latin typeface="Arial" pitchFamily="34" charset="0"/>
                <a:ea typeface="Arial" pitchFamily="34" charset="-122"/>
                <a:cs typeface="Arial" pitchFamily="34" charset="-120"/>
              </a:rPr>
              <a:t>Read vectors, embeddings and semantic space from first principles</a:t>
            </a:r>
            <a:endParaRPr lang="en-US" sz="2250" dirty="0"/>
          </a:p>
          <a:p>
            <a:pPr marL="0" indent="0" algn="l">
              <a:lnSpc>
                <a:spcPct val="121739"/>
              </a:lnSpc>
              <a:buNone/>
            </a:pPr>
            <a:r>
              <a:rPr lang="en-US" sz="2250" dirty="0">
                <a:solidFill>
                  <a:srgbClr val="201E1D"/>
                </a:solidFill>
                <a:latin typeface="Arial" pitchFamily="34" charset="0"/>
                <a:ea typeface="Arial" pitchFamily="34" charset="-122"/>
                <a:cs typeface="Arial" pitchFamily="34" charset="-120"/>
              </a:rPr>
              <a:t>Perform the matrix and tensor operations behind transformer models</a:t>
            </a:r>
            <a:endParaRPr lang="en-US" sz="2250" dirty="0"/>
          </a:p>
          <a:p>
            <a:pPr marL="0" indent="0" algn="l">
              <a:lnSpc>
                <a:spcPct val="121739"/>
              </a:lnSpc>
              <a:buNone/>
            </a:pPr>
            <a:r>
              <a:rPr lang="en-US" sz="2250" dirty="0">
                <a:solidFill>
                  <a:srgbClr val="201E1D"/>
                </a:solidFill>
                <a:latin typeface="Arial" pitchFamily="34" charset="0"/>
                <a:ea typeface="Arial" pitchFamily="34" charset="-122"/>
                <a:cs typeface="Arial" pitchFamily="34" charset="-120"/>
              </a:rPr>
              <a:t>Explain how an LLM uses probability to predict the next token</a:t>
            </a:r>
            <a:endParaRPr lang="en-US" sz="2250" dirty="0"/>
          </a:p>
          <a:p>
            <a:pPr marL="0" indent="0" algn="l">
              <a:lnSpc>
                <a:spcPct val="121739"/>
              </a:lnSpc>
              <a:buNone/>
            </a:pPr>
            <a:r>
              <a:rPr lang="en-US" sz="2250" dirty="0">
                <a:solidFill>
                  <a:srgbClr val="201E1D"/>
                </a:solidFill>
                <a:latin typeface="Arial" pitchFamily="34" charset="0"/>
                <a:ea typeface="Arial" pitchFamily="34" charset="-122"/>
                <a:cs typeface="Arial" pitchFamily="34" charset="-120"/>
              </a:rPr>
              <a:t>Describe gradients, and how a model learns from its own error</a:t>
            </a:r>
            <a:endParaRPr lang="en-US" sz="2250" dirty="0"/>
          </a:p>
          <a:p>
            <a:pPr marL="0" indent="0" algn="l">
              <a:lnSpc>
                <a:spcPct val="121739"/>
              </a:lnSpc>
              <a:buNone/>
            </a:pPr>
            <a:r>
              <a:rPr lang="en-US" sz="2250" dirty="0">
                <a:solidFill>
                  <a:srgbClr val="201E1D"/>
                </a:solidFill>
                <a:latin typeface="Arial" pitchFamily="34" charset="0"/>
                <a:ea typeface="Arial" pitchFamily="34" charset="-122"/>
                <a:cs typeface="Arial" pitchFamily="34" charset="-120"/>
              </a:rPr>
              <a:t>Apply similarity metrics such as cosine similarity, used in RAG and semantic search</a:t>
            </a:r>
            <a:endParaRPr lang="en-US" sz="2250" dirty="0"/>
          </a:p>
          <a:p>
            <a:pPr marL="0" indent="0" algn="l">
              <a:lnSpc>
                <a:spcPct val="121739"/>
              </a:lnSpc>
              <a:buNone/>
            </a:pPr>
            <a:r>
              <a:rPr lang="en-US" sz="2250" dirty="0">
                <a:solidFill>
                  <a:srgbClr val="201E1D"/>
                </a:solidFill>
                <a:latin typeface="Arial" pitchFamily="34" charset="0"/>
                <a:ea typeface="Arial" pitchFamily="34" charset="-122"/>
                <a:cs typeface="Arial" pitchFamily="34" charset="-120"/>
              </a:rPr>
              <a:t>Explain how AI agents use optimization and reward scores to make decisions</a:t>
            </a:r>
            <a:endParaRPr lang="en-US" sz="2250" dirty="0"/>
          </a:p>
        </p:txBody>
      </p:sp>
      <p:pic>
        <p:nvPicPr>
          <p:cNvPr id="5" name="Image 0" descr="preencoded.png"/>
          <p:cNvPicPr>
            <a:picLocks noChangeAspect="1"/>
          </p:cNvPicPr>
          <p:nvPr/>
        </p:nvPicPr>
        <p:blipFill>
          <a:blip r:embed="rId3"/>
          <a:stretch>
            <a:fillRect/>
          </a:stretch>
        </p:blipFill>
        <p:spPr>
          <a:xfrm>
            <a:off x="1143000" y="8987210"/>
            <a:ext cx="5566544" cy="1567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SESSION 2 · METHOD</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Every topic, four lenses</a:t>
            </a:r>
            <a:endParaRPr lang="en-US" sz="4800" dirty="0"/>
          </a:p>
        </p:txBody>
      </p:sp>
      <p:sp>
        <p:nvSpPr>
          <p:cNvPr id="4" name="Shape 2"/>
          <p:cNvSpPr/>
          <p:nvPr/>
        </p:nvSpPr>
        <p:spPr>
          <a:xfrm>
            <a:off x="1143000" y="3200400"/>
            <a:ext cx="3657600" cy="19050"/>
          </a:xfrm>
          <a:prstGeom prst="rect">
            <a:avLst/>
          </a:prstGeom>
          <a:solidFill>
            <a:srgbClr val="201E1E">
              <a:alpha val="40000"/>
            </a:srgbClr>
          </a:solidFill>
          <a:ln/>
        </p:spPr>
        <p:txBody>
          <a:bodyPr/>
          <a:lstStyle/>
          <a:p>
            <a:endParaRPr lang="en-US"/>
          </a:p>
        </p:txBody>
      </p:sp>
      <p:sp>
        <p:nvSpPr>
          <p:cNvPr id="5" name="Text 3"/>
          <p:cNvSpPr/>
          <p:nvPr/>
        </p:nvSpPr>
        <p:spPr>
          <a:xfrm>
            <a:off x="1143000" y="3578572"/>
            <a:ext cx="402336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01</a:t>
            </a:r>
            <a:endParaRPr lang="en-US" sz="1800" dirty="0"/>
          </a:p>
        </p:txBody>
      </p:sp>
      <p:sp>
        <p:nvSpPr>
          <p:cNvPr id="6" name="Text 4"/>
          <p:cNvSpPr/>
          <p:nvPr/>
        </p:nvSpPr>
        <p:spPr>
          <a:xfrm>
            <a:off x="1143000" y="4001467"/>
            <a:ext cx="402336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Practical intuition</a:t>
            </a:r>
            <a:endParaRPr lang="en-US" sz="2100" dirty="0"/>
          </a:p>
        </p:txBody>
      </p:sp>
      <p:sp>
        <p:nvSpPr>
          <p:cNvPr id="7" name="Text 5"/>
          <p:cNvSpPr/>
          <p:nvPr/>
        </p:nvSpPr>
        <p:spPr>
          <a:xfrm>
            <a:off x="1143000" y="4492823"/>
            <a:ext cx="3767328" cy="1109290"/>
          </a:xfrm>
          <a:prstGeom prst="rect">
            <a:avLst/>
          </a:prstGeom>
          <a:noFill/>
          <a:ln/>
        </p:spPr>
        <p:txBody>
          <a:bodyPr wrap="square" lIns="25400" tIns="25400" rIns="25400" bIns="25400" rtlCol="0" anchor="t">
            <a:normAutofit fontScale="85000" lnSpcReduction="200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Plain language, an analogy, and the formula broken down term by term. Nothing stays a black box.</a:t>
            </a:r>
            <a:endParaRPr lang="en-US" sz="1800" dirty="0"/>
          </a:p>
        </p:txBody>
      </p:sp>
      <p:sp>
        <p:nvSpPr>
          <p:cNvPr id="8" name="Shape 6"/>
          <p:cNvSpPr/>
          <p:nvPr/>
        </p:nvSpPr>
        <p:spPr>
          <a:xfrm>
            <a:off x="5257800" y="3200400"/>
            <a:ext cx="3657600" cy="19050"/>
          </a:xfrm>
          <a:prstGeom prst="rect">
            <a:avLst/>
          </a:prstGeom>
          <a:solidFill>
            <a:srgbClr val="201E1E">
              <a:alpha val="40000"/>
            </a:srgbClr>
          </a:solidFill>
          <a:ln/>
        </p:spPr>
        <p:txBody>
          <a:bodyPr/>
          <a:lstStyle/>
          <a:p>
            <a:endParaRPr lang="en-US"/>
          </a:p>
        </p:txBody>
      </p:sp>
      <p:sp>
        <p:nvSpPr>
          <p:cNvPr id="9" name="Text 7"/>
          <p:cNvSpPr/>
          <p:nvPr/>
        </p:nvSpPr>
        <p:spPr>
          <a:xfrm>
            <a:off x="5257800" y="3578572"/>
            <a:ext cx="402336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02</a:t>
            </a:r>
            <a:endParaRPr lang="en-US" sz="1800" dirty="0"/>
          </a:p>
        </p:txBody>
      </p:sp>
      <p:sp>
        <p:nvSpPr>
          <p:cNvPr id="10" name="Text 8"/>
          <p:cNvSpPr/>
          <p:nvPr/>
        </p:nvSpPr>
        <p:spPr>
          <a:xfrm>
            <a:off x="5257800" y="4001467"/>
            <a:ext cx="402336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Business understanding</a:t>
            </a:r>
            <a:endParaRPr lang="en-US" sz="2100" dirty="0"/>
          </a:p>
        </p:txBody>
      </p:sp>
      <p:sp>
        <p:nvSpPr>
          <p:cNvPr id="11" name="Text 9"/>
          <p:cNvSpPr/>
          <p:nvPr/>
        </p:nvSpPr>
        <p:spPr>
          <a:xfrm>
            <a:off x="5257800" y="4492823"/>
            <a:ext cx="3767328" cy="1566490"/>
          </a:xfrm>
          <a:prstGeom prst="rect">
            <a:avLst/>
          </a:prstGeom>
          <a:noFill/>
          <a:ln/>
        </p:spPr>
        <p:txBody>
          <a:bodyPr wrap="square" lIns="25400" tIns="25400" rIns="25400" bIns="25400" rtlCol="0" anchor="t">
            <a:normAutofit fontScale="85000" lnSpcReduction="100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A real workplace scenario — marketing, loans, e-commerce, healthcare — where the math shows up.</a:t>
            </a:r>
            <a:endParaRPr lang="en-US" sz="1800" dirty="0"/>
          </a:p>
        </p:txBody>
      </p:sp>
      <p:sp>
        <p:nvSpPr>
          <p:cNvPr id="12" name="Shape 10"/>
          <p:cNvSpPr/>
          <p:nvPr/>
        </p:nvSpPr>
        <p:spPr>
          <a:xfrm>
            <a:off x="9372600" y="3200400"/>
            <a:ext cx="3657600" cy="19050"/>
          </a:xfrm>
          <a:prstGeom prst="rect">
            <a:avLst/>
          </a:prstGeom>
          <a:solidFill>
            <a:srgbClr val="201E1E">
              <a:alpha val="40000"/>
            </a:srgbClr>
          </a:solidFill>
          <a:ln/>
        </p:spPr>
        <p:txBody>
          <a:bodyPr/>
          <a:lstStyle/>
          <a:p>
            <a:endParaRPr lang="en-US"/>
          </a:p>
        </p:txBody>
      </p:sp>
      <p:sp>
        <p:nvSpPr>
          <p:cNvPr id="13" name="Text 11"/>
          <p:cNvSpPr/>
          <p:nvPr/>
        </p:nvSpPr>
        <p:spPr>
          <a:xfrm>
            <a:off x="9372600" y="3578572"/>
            <a:ext cx="402336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03</a:t>
            </a:r>
            <a:endParaRPr lang="en-US" sz="1800" dirty="0"/>
          </a:p>
        </p:txBody>
      </p:sp>
      <p:sp>
        <p:nvSpPr>
          <p:cNvPr id="14" name="Text 12"/>
          <p:cNvSpPr/>
          <p:nvPr/>
        </p:nvSpPr>
        <p:spPr>
          <a:xfrm>
            <a:off x="9372600" y="4001467"/>
            <a:ext cx="402336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AI application mapping</a:t>
            </a:r>
            <a:endParaRPr lang="en-US" sz="2100" dirty="0"/>
          </a:p>
        </p:txBody>
      </p:sp>
      <p:sp>
        <p:nvSpPr>
          <p:cNvPr id="15" name="Text 13"/>
          <p:cNvSpPr/>
          <p:nvPr/>
        </p:nvSpPr>
        <p:spPr>
          <a:xfrm>
            <a:off x="9372600" y="4492823"/>
            <a:ext cx="3767328" cy="1109290"/>
          </a:xfrm>
          <a:prstGeom prst="rect">
            <a:avLst/>
          </a:prstGeom>
          <a:noFill/>
          <a:ln/>
        </p:spPr>
        <p:txBody>
          <a:bodyPr wrap="square" lIns="25400" tIns="25400" rIns="25400" bIns="25400" rtlCol="0" anchor="t">
            <a:normAutofit fontScale="85000" lnSpcReduction="200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A direct line from the concept to the systems it powers: LLMs, RAG, recommenders, agents.</a:t>
            </a:r>
            <a:endParaRPr lang="en-US" sz="1800" dirty="0"/>
          </a:p>
        </p:txBody>
      </p:sp>
      <p:sp>
        <p:nvSpPr>
          <p:cNvPr id="16" name="Shape 14"/>
          <p:cNvSpPr/>
          <p:nvPr/>
        </p:nvSpPr>
        <p:spPr>
          <a:xfrm>
            <a:off x="13487400" y="3200400"/>
            <a:ext cx="3657600" cy="19050"/>
          </a:xfrm>
          <a:prstGeom prst="rect">
            <a:avLst/>
          </a:prstGeom>
          <a:solidFill>
            <a:srgbClr val="201E1E">
              <a:alpha val="40000"/>
            </a:srgbClr>
          </a:solidFill>
          <a:ln/>
        </p:spPr>
        <p:txBody>
          <a:bodyPr/>
          <a:lstStyle/>
          <a:p>
            <a:endParaRPr lang="en-US"/>
          </a:p>
        </p:txBody>
      </p:sp>
      <p:sp>
        <p:nvSpPr>
          <p:cNvPr id="17" name="Text 15"/>
          <p:cNvSpPr/>
          <p:nvPr/>
        </p:nvSpPr>
        <p:spPr>
          <a:xfrm>
            <a:off x="13487400" y="3578572"/>
            <a:ext cx="402336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04</a:t>
            </a:r>
            <a:endParaRPr lang="en-US" sz="1800" dirty="0"/>
          </a:p>
        </p:txBody>
      </p:sp>
      <p:sp>
        <p:nvSpPr>
          <p:cNvPr id="18" name="Text 16"/>
          <p:cNvSpPr/>
          <p:nvPr/>
        </p:nvSpPr>
        <p:spPr>
          <a:xfrm>
            <a:off x="13487400" y="4001467"/>
            <a:ext cx="402336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Hands-on reasoning</a:t>
            </a:r>
            <a:endParaRPr lang="en-US" sz="2100" dirty="0"/>
          </a:p>
        </p:txBody>
      </p:sp>
      <p:sp>
        <p:nvSpPr>
          <p:cNvPr id="19" name="Text 17"/>
          <p:cNvSpPr/>
          <p:nvPr/>
        </p:nvSpPr>
        <p:spPr>
          <a:xfrm>
            <a:off x="13487400" y="4492823"/>
            <a:ext cx="3767328" cy="1109290"/>
          </a:xfrm>
          <a:prstGeom prst="rect">
            <a:avLst/>
          </a:prstGeom>
          <a:noFill/>
          <a:ln/>
        </p:spPr>
        <p:txBody>
          <a:bodyPr wrap="square" lIns="25400" tIns="25400" rIns="25400" bIns="25400" rtlCol="0" anchor="t">
            <a:normAutofit fontScale="85000" lnSpcReduction="200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A "try it yourself" problem for every topic, so the math becomes a skill and not a definition.</a:t>
            </a:r>
            <a:endParaRPr lang="en-US" sz="1800" dirty="0"/>
          </a:p>
        </p:txBody>
      </p:sp>
      <p:sp>
        <p:nvSpPr>
          <p:cNvPr id="20" name="Shape 18"/>
          <p:cNvSpPr/>
          <p:nvPr/>
        </p:nvSpPr>
        <p:spPr>
          <a:xfrm>
            <a:off x="1143000" y="7165628"/>
            <a:ext cx="16002000" cy="19050"/>
          </a:xfrm>
          <a:prstGeom prst="rect">
            <a:avLst/>
          </a:prstGeom>
          <a:solidFill>
            <a:srgbClr val="EC3013"/>
          </a:solidFill>
          <a:ln/>
        </p:spPr>
        <p:txBody>
          <a:bodyPr/>
          <a:lstStyle/>
          <a:p>
            <a:endParaRPr lang="en-US"/>
          </a:p>
        </p:txBody>
      </p:sp>
      <p:sp>
        <p:nvSpPr>
          <p:cNvPr id="21" name="Text 19"/>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PRO TIP</a:t>
            </a:r>
            <a:endParaRPr lang="en-US" sz="1800" dirty="0"/>
          </a:p>
        </p:txBody>
      </p:sp>
      <p:sp>
        <p:nvSpPr>
          <p:cNvPr id="22" name="Text 20"/>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If a slide feels heavy, hold on to the analogy and let the notation go. The analogy is what you will still have in six months.</a:t>
            </a:r>
            <a:endParaRPr lang="en-US" sz="2100" dirty="0"/>
          </a:p>
        </p:txBody>
      </p:sp>
      <p:pic>
        <p:nvPicPr>
          <p:cNvPr id="23" name="Image 0" descr="preencoded.png"/>
          <p:cNvPicPr>
            <a:picLocks noChangeAspect="1"/>
          </p:cNvPicPr>
          <p:nvPr/>
        </p:nvPicPr>
        <p:blipFill>
          <a:blip r:embed="rId3"/>
          <a:stretch>
            <a:fillRect/>
          </a:stretch>
        </p:blipFill>
        <p:spPr>
          <a:xfrm>
            <a:off x="1143000" y="8987210"/>
            <a:ext cx="5566544" cy="1567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SESSION 2 · AGENDA</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Four parts</a:t>
            </a:r>
            <a:endParaRPr lang="en-US" sz="4800" dirty="0"/>
          </a:p>
        </p:txBody>
      </p:sp>
      <p:sp>
        <p:nvSpPr>
          <p:cNvPr id="4" name="Shape 2"/>
          <p:cNvSpPr/>
          <p:nvPr/>
        </p:nvSpPr>
        <p:spPr>
          <a:xfrm>
            <a:off x="1143000" y="3200400"/>
            <a:ext cx="10477500" cy="19050"/>
          </a:xfrm>
          <a:prstGeom prst="rect">
            <a:avLst/>
          </a:prstGeom>
          <a:solidFill>
            <a:srgbClr val="201E1E">
              <a:alpha val="40000"/>
            </a:srgbClr>
          </a:solidFill>
          <a:ln/>
        </p:spPr>
        <p:txBody>
          <a:bodyPr/>
          <a:lstStyle/>
          <a:p>
            <a:endParaRPr lang="en-US"/>
          </a:p>
        </p:txBody>
      </p:sp>
      <p:sp>
        <p:nvSpPr>
          <p:cNvPr id="5" name="Shape 3"/>
          <p:cNvSpPr/>
          <p:nvPr/>
        </p:nvSpPr>
        <p:spPr>
          <a:xfrm>
            <a:off x="1143000" y="4571851"/>
            <a:ext cx="10477500" cy="19050"/>
          </a:xfrm>
          <a:prstGeom prst="rect">
            <a:avLst/>
          </a:prstGeom>
          <a:solidFill>
            <a:srgbClr val="201E1E">
              <a:alpha val="40000"/>
            </a:srgbClr>
          </a:solidFill>
          <a:ln/>
        </p:spPr>
        <p:txBody>
          <a:bodyPr/>
          <a:lstStyle/>
          <a:p>
            <a:endParaRPr lang="en-US"/>
          </a:p>
        </p:txBody>
      </p:sp>
      <p:sp>
        <p:nvSpPr>
          <p:cNvPr id="6" name="Text 4"/>
          <p:cNvSpPr/>
          <p:nvPr/>
        </p:nvSpPr>
        <p:spPr>
          <a:xfrm>
            <a:off x="1143000" y="3869531"/>
            <a:ext cx="336128"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01</a:t>
            </a:r>
            <a:endParaRPr lang="en-US" sz="1800" dirty="0"/>
          </a:p>
        </p:txBody>
      </p:sp>
      <p:sp>
        <p:nvSpPr>
          <p:cNvPr id="7" name="Text 5"/>
          <p:cNvSpPr/>
          <p:nvPr/>
        </p:nvSpPr>
        <p:spPr>
          <a:xfrm>
            <a:off x="1860128" y="3764979"/>
            <a:ext cx="4143442" cy="299442"/>
          </a:xfrm>
          <a:prstGeom prst="rect">
            <a:avLst/>
          </a:prstGeom>
          <a:noFill/>
          <a:ln/>
        </p:spPr>
        <p:txBody>
          <a:bodyPr wrap="square" lIns="25400" tIns="25400" rIns="25400" bIns="25400" rtlCol="0" anchor="t">
            <a:normAutofit fontScale="47500" lnSpcReduction="20000"/>
          </a:bodyPr>
          <a:lstStyle/>
          <a:p>
            <a:pPr marL="0" indent="0" algn="l">
              <a:lnSpc>
                <a:spcPct val="134783"/>
              </a:lnSpc>
              <a:buNone/>
            </a:pPr>
            <a:r>
              <a:rPr lang="en-US" sz="3000" dirty="0">
                <a:solidFill>
                  <a:srgbClr val="201E1D"/>
                </a:solidFill>
                <a:latin typeface="Arial" pitchFamily="34" charset="0"/>
                <a:ea typeface="Arial" pitchFamily="34" charset="-122"/>
                <a:cs typeface="Arial" pitchFamily="34" charset="-120"/>
              </a:rPr>
              <a:t>Counting &amp; Probability</a:t>
            </a:r>
            <a:endParaRPr lang="en-US" sz="3000" dirty="0"/>
          </a:p>
        </p:txBody>
      </p:sp>
      <p:sp>
        <p:nvSpPr>
          <p:cNvPr id="8" name="Shape 6"/>
          <p:cNvSpPr/>
          <p:nvPr/>
        </p:nvSpPr>
        <p:spPr>
          <a:xfrm>
            <a:off x="1143000" y="5943302"/>
            <a:ext cx="10477500" cy="19050"/>
          </a:xfrm>
          <a:prstGeom prst="rect">
            <a:avLst/>
          </a:prstGeom>
          <a:solidFill>
            <a:srgbClr val="201E1E">
              <a:alpha val="40000"/>
            </a:srgbClr>
          </a:solidFill>
          <a:ln/>
        </p:spPr>
        <p:txBody>
          <a:bodyPr/>
          <a:lstStyle/>
          <a:p>
            <a:endParaRPr lang="en-US"/>
          </a:p>
        </p:txBody>
      </p:sp>
      <p:sp>
        <p:nvSpPr>
          <p:cNvPr id="9" name="Text 7"/>
          <p:cNvSpPr/>
          <p:nvPr/>
        </p:nvSpPr>
        <p:spPr>
          <a:xfrm>
            <a:off x="1143000" y="5240982"/>
            <a:ext cx="336128"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02</a:t>
            </a:r>
            <a:endParaRPr lang="en-US" sz="1800" dirty="0"/>
          </a:p>
        </p:txBody>
      </p:sp>
      <p:sp>
        <p:nvSpPr>
          <p:cNvPr id="10" name="Text 8"/>
          <p:cNvSpPr/>
          <p:nvPr/>
        </p:nvSpPr>
        <p:spPr>
          <a:xfrm>
            <a:off x="1860128" y="5136431"/>
            <a:ext cx="3492609" cy="299442"/>
          </a:xfrm>
          <a:prstGeom prst="rect">
            <a:avLst/>
          </a:prstGeom>
          <a:noFill/>
          <a:ln/>
        </p:spPr>
        <p:txBody>
          <a:bodyPr wrap="square" lIns="25400" tIns="25400" rIns="25400" bIns="25400" rtlCol="0" anchor="t">
            <a:normAutofit fontScale="47500" lnSpcReduction="20000"/>
          </a:bodyPr>
          <a:lstStyle/>
          <a:p>
            <a:pPr marL="0" indent="0" algn="l">
              <a:lnSpc>
                <a:spcPct val="134783"/>
              </a:lnSpc>
              <a:buNone/>
            </a:pPr>
            <a:r>
              <a:rPr lang="en-US" sz="3000" dirty="0">
                <a:solidFill>
                  <a:srgbClr val="201E1D"/>
                </a:solidFill>
                <a:latin typeface="Arial" pitchFamily="34" charset="0"/>
                <a:ea typeface="Arial" pitchFamily="34" charset="-122"/>
                <a:cs typeface="Arial" pitchFamily="34" charset="-120"/>
              </a:rPr>
              <a:t>Vectors &amp; Meaning</a:t>
            </a:r>
            <a:endParaRPr lang="en-US" sz="3000" dirty="0"/>
          </a:p>
        </p:txBody>
      </p:sp>
      <p:sp>
        <p:nvSpPr>
          <p:cNvPr id="11" name="Shape 9"/>
          <p:cNvSpPr/>
          <p:nvPr/>
        </p:nvSpPr>
        <p:spPr>
          <a:xfrm>
            <a:off x="1143000" y="7314754"/>
            <a:ext cx="10477500" cy="19050"/>
          </a:xfrm>
          <a:prstGeom prst="rect">
            <a:avLst/>
          </a:prstGeom>
          <a:solidFill>
            <a:srgbClr val="201E1E">
              <a:alpha val="40000"/>
            </a:srgbClr>
          </a:solidFill>
          <a:ln/>
        </p:spPr>
        <p:txBody>
          <a:bodyPr/>
          <a:lstStyle/>
          <a:p>
            <a:endParaRPr lang="en-US"/>
          </a:p>
        </p:txBody>
      </p:sp>
      <p:sp>
        <p:nvSpPr>
          <p:cNvPr id="12" name="Text 10"/>
          <p:cNvSpPr/>
          <p:nvPr/>
        </p:nvSpPr>
        <p:spPr>
          <a:xfrm>
            <a:off x="1143000" y="6612434"/>
            <a:ext cx="336128"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03</a:t>
            </a:r>
            <a:endParaRPr lang="en-US" sz="1800" dirty="0"/>
          </a:p>
        </p:txBody>
      </p:sp>
      <p:sp>
        <p:nvSpPr>
          <p:cNvPr id="13" name="Text 11"/>
          <p:cNvSpPr/>
          <p:nvPr/>
        </p:nvSpPr>
        <p:spPr>
          <a:xfrm>
            <a:off x="1860128" y="6507882"/>
            <a:ext cx="3557930" cy="299442"/>
          </a:xfrm>
          <a:prstGeom prst="rect">
            <a:avLst/>
          </a:prstGeom>
          <a:noFill/>
          <a:ln/>
        </p:spPr>
        <p:txBody>
          <a:bodyPr wrap="square" lIns="25400" tIns="25400" rIns="25400" bIns="25400" rtlCol="0" anchor="t">
            <a:normAutofit fontScale="47500" lnSpcReduction="20000"/>
          </a:bodyPr>
          <a:lstStyle/>
          <a:p>
            <a:pPr marL="0" indent="0" algn="l">
              <a:lnSpc>
                <a:spcPct val="134783"/>
              </a:lnSpc>
              <a:buNone/>
            </a:pPr>
            <a:r>
              <a:rPr lang="en-US" sz="3000" dirty="0">
                <a:solidFill>
                  <a:srgbClr val="201E1D"/>
                </a:solidFill>
                <a:latin typeface="Arial" pitchFamily="34" charset="0"/>
                <a:ea typeface="Arial" pitchFamily="34" charset="-122"/>
                <a:cs typeface="Arial" pitchFamily="34" charset="-120"/>
              </a:rPr>
              <a:t>Matrices &amp; Tensors</a:t>
            </a:r>
            <a:endParaRPr lang="en-US" sz="3000" dirty="0"/>
          </a:p>
        </p:txBody>
      </p:sp>
      <p:sp>
        <p:nvSpPr>
          <p:cNvPr id="14" name="Shape 12"/>
          <p:cNvSpPr/>
          <p:nvPr/>
        </p:nvSpPr>
        <p:spPr>
          <a:xfrm>
            <a:off x="1143000" y="8686205"/>
            <a:ext cx="10477500" cy="19050"/>
          </a:xfrm>
          <a:prstGeom prst="rect">
            <a:avLst/>
          </a:prstGeom>
          <a:solidFill>
            <a:srgbClr val="201E1E">
              <a:alpha val="40000"/>
            </a:srgbClr>
          </a:solidFill>
          <a:ln/>
        </p:spPr>
        <p:txBody>
          <a:bodyPr/>
          <a:lstStyle/>
          <a:p>
            <a:endParaRPr lang="en-US"/>
          </a:p>
        </p:txBody>
      </p:sp>
      <p:sp>
        <p:nvSpPr>
          <p:cNvPr id="15" name="Text 13"/>
          <p:cNvSpPr/>
          <p:nvPr/>
        </p:nvSpPr>
        <p:spPr>
          <a:xfrm>
            <a:off x="1143000" y="7983885"/>
            <a:ext cx="336128"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04</a:t>
            </a:r>
            <a:endParaRPr lang="en-US" sz="1800" dirty="0"/>
          </a:p>
        </p:txBody>
      </p:sp>
      <p:sp>
        <p:nvSpPr>
          <p:cNvPr id="16" name="Text 14"/>
          <p:cNvSpPr/>
          <p:nvPr/>
        </p:nvSpPr>
        <p:spPr>
          <a:xfrm>
            <a:off x="1860128" y="7879333"/>
            <a:ext cx="3931354" cy="299442"/>
          </a:xfrm>
          <a:prstGeom prst="rect">
            <a:avLst/>
          </a:prstGeom>
          <a:noFill/>
          <a:ln/>
        </p:spPr>
        <p:txBody>
          <a:bodyPr wrap="square" lIns="25400" tIns="25400" rIns="25400" bIns="25400" rtlCol="0" anchor="t">
            <a:normAutofit fontScale="47500" lnSpcReduction="20000"/>
          </a:bodyPr>
          <a:lstStyle/>
          <a:p>
            <a:pPr marL="0" indent="0" algn="l">
              <a:lnSpc>
                <a:spcPct val="134783"/>
              </a:lnSpc>
              <a:buNone/>
            </a:pPr>
            <a:r>
              <a:rPr lang="en-US" sz="3000" dirty="0">
                <a:solidFill>
                  <a:srgbClr val="201E1D"/>
                </a:solidFill>
                <a:latin typeface="Arial" pitchFamily="34" charset="0"/>
                <a:ea typeface="Arial" pitchFamily="34" charset="-122"/>
                <a:cs typeface="Arial" pitchFamily="34" charset="-120"/>
              </a:rPr>
              <a:t>Learning &amp; Decisions</a:t>
            </a:r>
            <a:endParaRPr lang="en-US" sz="3000" dirty="0"/>
          </a:p>
        </p:txBody>
      </p:sp>
      <p:pic>
        <p:nvPicPr>
          <p:cNvPr id="17" name="Image 0" descr="preencoded.png"/>
          <p:cNvPicPr>
            <a:picLocks noChangeAspect="1"/>
          </p:cNvPicPr>
          <p:nvPr/>
        </p:nvPicPr>
        <p:blipFill>
          <a:blip r:embed="rId3"/>
          <a:stretch>
            <a:fillRect/>
          </a:stretch>
        </p:blipFill>
        <p:spPr>
          <a:xfrm>
            <a:off x="1143000" y="8987210"/>
            <a:ext cx="5566544" cy="1567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SESSION 2 · HOW THIS WORKS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Marks that repeat throughout</a:t>
            </a:r>
            <a:endParaRPr lang="en-US" sz="4800" dirty="0"/>
          </a:p>
        </p:txBody>
      </p:sp>
      <p:sp>
        <p:nvSpPr>
          <p:cNvPr id="4" name="Shape 2"/>
          <p:cNvSpPr/>
          <p:nvPr/>
        </p:nvSpPr>
        <p:spPr>
          <a:xfrm>
            <a:off x="1143000" y="3200400"/>
            <a:ext cx="3657600" cy="19050"/>
          </a:xfrm>
          <a:prstGeom prst="rect">
            <a:avLst/>
          </a:prstGeom>
          <a:solidFill>
            <a:srgbClr val="201E1E">
              <a:alpha val="40000"/>
            </a:srgbClr>
          </a:solidFill>
          <a:ln/>
        </p:spPr>
        <p:txBody>
          <a:bodyPr/>
          <a:lstStyle/>
          <a:p>
            <a:endParaRPr lang="en-US"/>
          </a:p>
        </p:txBody>
      </p:sp>
      <p:sp>
        <p:nvSpPr>
          <p:cNvPr id="5" name="Text 3"/>
          <p:cNvSpPr/>
          <p:nvPr/>
        </p:nvSpPr>
        <p:spPr>
          <a:xfrm>
            <a:off x="1143000" y="3578572"/>
            <a:ext cx="402336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01</a:t>
            </a:r>
            <a:endParaRPr lang="en-US" sz="1800" dirty="0"/>
          </a:p>
        </p:txBody>
      </p:sp>
      <p:sp>
        <p:nvSpPr>
          <p:cNvPr id="6" name="Text 4"/>
          <p:cNvSpPr/>
          <p:nvPr/>
        </p:nvSpPr>
        <p:spPr>
          <a:xfrm>
            <a:off x="1143000" y="4001467"/>
            <a:ext cx="402336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Do I need this?</a:t>
            </a:r>
            <a:endParaRPr lang="en-US" sz="2100" dirty="0"/>
          </a:p>
        </p:txBody>
      </p:sp>
      <p:sp>
        <p:nvSpPr>
          <p:cNvPr id="7" name="Text 5"/>
          <p:cNvSpPr/>
          <p:nvPr/>
        </p:nvSpPr>
        <p:spPr>
          <a:xfrm>
            <a:off x="1143000" y="4492823"/>
            <a:ext cx="3767328" cy="652090"/>
          </a:xfrm>
          <a:prstGeom prst="rect">
            <a:avLst/>
          </a:prstGeom>
          <a:noFill/>
          <a:ln/>
        </p:spPr>
        <p:txBody>
          <a:bodyPr wrap="square" lIns="25400" tIns="25400" rIns="25400" bIns="25400" rtlCol="0" anchor="t">
            <a:normAutofit fontScale="70000" lnSpcReduction="200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Opens every topic. Who it matters to, and what breaks without it.</a:t>
            </a:r>
            <a:endParaRPr lang="en-US" sz="1800" dirty="0"/>
          </a:p>
        </p:txBody>
      </p:sp>
      <p:sp>
        <p:nvSpPr>
          <p:cNvPr id="8" name="Shape 6"/>
          <p:cNvSpPr/>
          <p:nvPr/>
        </p:nvSpPr>
        <p:spPr>
          <a:xfrm>
            <a:off x="5257800" y="3200400"/>
            <a:ext cx="3657600" cy="19050"/>
          </a:xfrm>
          <a:prstGeom prst="rect">
            <a:avLst/>
          </a:prstGeom>
          <a:solidFill>
            <a:srgbClr val="201E1E">
              <a:alpha val="40000"/>
            </a:srgbClr>
          </a:solidFill>
          <a:ln/>
        </p:spPr>
        <p:txBody>
          <a:bodyPr/>
          <a:lstStyle/>
          <a:p>
            <a:endParaRPr lang="en-US"/>
          </a:p>
        </p:txBody>
      </p:sp>
      <p:sp>
        <p:nvSpPr>
          <p:cNvPr id="9" name="Text 7"/>
          <p:cNvSpPr/>
          <p:nvPr/>
        </p:nvSpPr>
        <p:spPr>
          <a:xfrm>
            <a:off x="5257800" y="3578572"/>
            <a:ext cx="402336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02</a:t>
            </a:r>
            <a:endParaRPr lang="en-US" sz="1800" dirty="0"/>
          </a:p>
        </p:txBody>
      </p:sp>
      <p:sp>
        <p:nvSpPr>
          <p:cNvPr id="10" name="Text 8"/>
          <p:cNvSpPr/>
          <p:nvPr/>
        </p:nvSpPr>
        <p:spPr>
          <a:xfrm>
            <a:off x="5257800" y="4001467"/>
            <a:ext cx="402336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Why the formula works</a:t>
            </a:r>
            <a:endParaRPr lang="en-US" sz="2100" dirty="0"/>
          </a:p>
        </p:txBody>
      </p:sp>
      <p:sp>
        <p:nvSpPr>
          <p:cNvPr id="11" name="Text 9"/>
          <p:cNvSpPr/>
          <p:nvPr/>
        </p:nvSpPr>
        <p:spPr>
          <a:xfrm>
            <a:off x="5257800" y="4492823"/>
            <a:ext cx="3767328" cy="1109290"/>
          </a:xfrm>
          <a:prstGeom prst="rect">
            <a:avLst/>
          </a:prstGeom>
          <a:noFill/>
          <a:ln/>
        </p:spPr>
        <p:txBody>
          <a:bodyPr wrap="square" lIns="25400" tIns="25400" rIns="25400" bIns="25400" rtlCol="0" anchor="t">
            <a:normAutofit fontScale="925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Each symbol explained, and the reason the algebra is shaped that way.</a:t>
            </a:r>
            <a:endParaRPr lang="en-US" sz="1800" dirty="0"/>
          </a:p>
        </p:txBody>
      </p:sp>
      <p:sp>
        <p:nvSpPr>
          <p:cNvPr id="12" name="Shape 10"/>
          <p:cNvSpPr/>
          <p:nvPr/>
        </p:nvSpPr>
        <p:spPr>
          <a:xfrm>
            <a:off x="9372600" y="3200400"/>
            <a:ext cx="3657600" cy="19050"/>
          </a:xfrm>
          <a:prstGeom prst="rect">
            <a:avLst/>
          </a:prstGeom>
          <a:solidFill>
            <a:srgbClr val="201E1E">
              <a:alpha val="40000"/>
            </a:srgbClr>
          </a:solidFill>
          <a:ln/>
        </p:spPr>
        <p:txBody>
          <a:bodyPr/>
          <a:lstStyle/>
          <a:p>
            <a:endParaRPr lang="en-US"/>
          </a:p>
        </p:txBody>
      </p:sp>
      <p:sp>
        <p:nvSpPr>
          <p:cNvPr id="13" name="Text 11"/>
          <p:cNvSpPr/>
          <p:nvPr/>
        </p:nvSpPr>
        <p:spPr>
          <a:xfrm>
            <a:off x="9372600" y="3578572"/>
            <a:ext cx="402336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03</a:t>
            </a:r>
            <a:endParaRPr lang="en-US" sz="1800" dirty="0"/>
          </a:p>
        </p:txBody>
      </p:sp>
      <p:sp>
        <p:nvSpPr>
          <p:cNvPr id="14" name="Text 12"/>
          <p:cNvSpPr/>
          <p:nvPr/>
        </p:nvSpPr>
        <p:spPr>
          <a:xfrm>
            <a:off x="9372600" y="4001467"/>
            <a:ext cx="402336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In GenAI</a:t>
            </a:r>
            <a:endParaRPr lang="en-US" sz="2100" dirty="0"/>
          </a:p>
        </p:txBody>
      </p:sp>
      <p:sp>
        <p:nvSpPr>
          <p:cNvPr id="15" name="Text 13"/>
          <p:cNvSpPr/>
          <p:nvPr/>
        </p:nvSpPr>
        <p:spPr>
          <a:xfrm>
            <a:off x="9372600" y="4492823"/>
            <a:ext cx="3767328" cy="652090"/>
          </a:xfrm>
          <a:prstGeom prst="rect">
            <a:avLst/>
          </a:prstGeom>
          <a:noFill/>
          <a:ln/>
        </p:spPr>
        <p:txBody>
          <a:bodyPr wrap="square" lIns="25400" tIns="25400" rIns="25400" bIns="25400" rtlCol="0" anchor="t">
            <a:normAutofit fontScale="70000" lnSpcReduction="200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The exact place the idea sits inside a modern AI system.</a:t>
            </a:r>
            <a:endParaRPr lang="en-US" sz="1800" dirty="0"/>
          </a:p>
        </p:txBody>
      </p:sp>
      <p:sp>
        <p:nvSpPr>
          <p:cNvPr id="16" name="Shape 14"/>
          <p:cNvSpPr/>
          <p:nvPr/>
        </p:nvSpPr>
        <p:spPr>
          <a:xfrm>
            <a:off x="13487400" y="3200400"/>
            <a:ext cx="3657600" cy="19050"/>
          </a:xfrm>
          <a:prstGeom prst="rect">
            <a:avLst/>
          </a:prstGeom>
          <a:solidFill>
            <a:srgbClr val="201E1E">
              <a:alpha val="40000"/>
            </a:srgbClr>
          </a:solidFill>
          <a:ln/>
        </p:spPr>
        <p:txBody>
          <a:bodyPr/>
          <a:lstStyle/>
          <a:p>
            <a:endParaRPr lang="en-US"/>
          </a:p>
        </p:txBody>
      </p:sp>
      <p:sp>
        <p:nvSpPr>
          <p:cNvPr id="17" name="Text 15"/>
          <p:cNvSpPr/>
          <p:nvPr/>
        </p:nvSpPr>
        <p:spPr>
          <a:xfrm>
            <a:off x="13487400" y="3578572"/>
            <a:ext cx="402336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04</a:t>
            </a:r>
            <a:endParaRPr lang="en-US" sz="1800" dirty="0"/>
          </a:p>
        </p:txBody>
      </p:sp>
      <p:sp>
        <p:nvSpPr>
          <p:cNvPr id="18" name="Text 16"/>
          <p:cNvSpPr/>
          <p:nvPr/>
        </p:nvSpPr>
        <p:spPr>
          <a:xfrm>
            <a:off x="13487400" y="4001467"/>
            <a:ext cx="402336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Try it yourself</a:t>
            </a:r>
            <a:endParaRPr lang="en-US" sz="2100" dirty="0"/>
          </a:p>
        </p:txBody>
      </p:sp>
      <p:sp>
        <p:nvSpPr>
          <p:cNvPr id="19" name="Text 17"/>
          <p:cNvSpPr/>
          <p:nvPr/>
        </p:nvSpPr>
        <p:spPr>
          <a:xfrm>
            <a:off x="13487400" y="4492823"/>
            <a:ext cx="3767328" cy="1109290"/>
          </a:xfrm>
          <a:prstGeom prst="rect">
            <a:avLst/>
          </a:prstGeom>
          <a:noFill/>
          <a:ln/>
        </p:spPr>
        <p:txBody>
          <a:bodyPr wrap="square" lIns="25400" tIns="25400" rIns="25400" bIns="25400" rtlCol="0" anchor="t">
            <a:normAutofit fontScale="85000" lnSpcReduction="100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A small problem with the answer on the slide. Pause and let the room work.</a:t>
            </a:r>
            <a:endParaRPr lang="en-US" sz="1800" dirty="0"/>
          </a:p>
        </p:txBody>
      </p:sp>
      <p:sp>
        <p:nvSpPr>
          <p:cNvPr id="20" name="Shape 18"/>
          <p:cNvSpPr/>
          <p:nvPr/>
        </p:nvSpPr>
        <p:spPr>
          <a:xfrm>
            <a:off x="1143000" y="7165628"/>
            <a:ext cx="16002000" cy="19050"/>
          </a:xfrm>
          <a:prstGeom prst="rect">
            <a:avLst/>
          </a:prstGeom>
          <a:solidFill>
            <a:srgbClr val="201E1E">
              <a:alpha val="40000"/>
            </a:srgbClr>
          </a:solidFill>
          <a:ln/>
        </p:spPr>
        <p:txBody>
          <a:bodyPr/>
          <a:lstStyle/>
          <a:p>
            <a:endParaRPr lang="en-US"/>
          </a:p>
        </p:txBody>
      </p:sp>
      <p:sp>
        <p:nvSpPr>
          <p:cNvPr id="21" name="Text 19"/>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GOTCHA</a:t>
            </a:r>
            <a:endParaRPr lang="en-US" sz="1800" dirty="0"/>
          </a:p>
        </p:txBody>
      </p:sp>
      <p:sp>
        <p:nvSpPr>
          <p:cNvPr id="22" name="Text 20"/>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Every worked example on this deck shows its arithmetic in full. If a step looks obvious, it is there for the person two seats away who needed it.</a:t>
            </a:r>
            <a:endParaRPr lang="en-US" sz="2100" dirty="0"/>
          </a:p>
        </p:txBody>
      </p:sp>
      <p:pic>
        <p:nvPicPr>
          <p:cNvPr id="23" name="Image 0" descr="preencoded.png"/>
          <p:cNvPicPr>
            <a:picLocks noChangeAspect="1"/>
          </p:cNvPicPr>
          <p:nvPr/>
        </p:nvPicPr>
        <p:blipFill>
          <a:blip r:embed="rId3"/>
          <a:stretch>
            <a:fillRect/>
          </a:stretch>
        </p:blipFill>
        <p:spPr>
          <a:xfrm>
            <a:off x="1143000" y="8987210"/>
            <a:ext cx="5566544" cy="1567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SESSION 2 · REFERENCE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Notation, decoded</a:t>
            </a:r>
            <a:endParaRPr lang="en-US" sz="4800" dirty="0"/>
          </a:p>
        </p:txBody>
      </p:sp>
      <p:sp>
        <p:nvSpPr>
          <p:cNvPr id="4" name="Shape 2"/>
          <p:cNvSpPr/>
          <p:nvPr/>
        </p:nvSpPr>
        <p:spPr>
          <a:xfrm>
            <a:off x="1143000" y="3318495"/>
            <a:ext cx="2135535" cy="19050"/>
          </a:xfrm>
          <a:prstGeom prst="rect">
            <a:avLst/>
          </a:prstGeom>
          <a:solidFill>
            <a:srgbClr val="201E1E">
              <a:alpha val="40000"/>
            </a:srgbClr>
          </a:solidFill>
          <a:ln/>
        </p:spPr>
        <p:txBody>
          <a:bodyPr/>
          <a:lstStyle/>
          <a:p>
            <a:endParaRPr lang="en-US"/>
          </a:p>
        </p:txBody>
      </p:sp>
      <p:sp>
        <p:nvSpPr>
          <p:cNvPr id="5" name="Text 3"/>
          <p:cNvSpPr/>
          <p:nvPr/>
        </p:nvSpPr>
        <p:spPr>
          <a:xfrm>
            <a:off x="1143000" y="3072806"/>
            <a:ext cx="2120488" cy="192308"/>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SYMBOL</a:t>
            </a:r>
            <a:endParaRPr lang="en-US" sz="1800" dirty="0"/>
          </a:p>
        </p:txBody>
      </p:sp>
      <p:sp>
        <p:nvSpPr>
          <p:cNvPr id="6" name="Shape 4"/>
          <p:cNvSpPr/>
          <p:nvPr/>
        </p:nvSpPr>
        <p:spPr>
          <a:xfrm>
            <a:off x="3278535" y="3318495"/>
            <a:ext cx="4303663" cy="19050"/>
          </a:xfrm>
          <a:prstGeom prst="rect">
            <a:avLst/>
          </a:prstGeom>
          <a:solidFill>
            <a:srgbClr val="201E1E">
              <a:alpha val="40000"/>
            </a:srgbClr>
          </a:solidFill>
          <a:ln/>
        </p:spPr>
        <p:txBody>
          <a:bodyPr/>
          <a:lstStyle/>
          <a:p>
            <a:endParaRPr lang="en-US"/>
          </a:p>
        </p:txBody>
      </p:sp>
      <p:sp>
        <p:nvSpPr>
          <p:cNvPr id="7" name="Text 5"/>
          <p:cNvSpPr/>
          <p:nvPr/>
        </p:nvSpPr>
        <p:spPr>
          <a:xfrm>
            <a:off x="3507135" y="3072806"/>
            <a:ext cx="4276829" cy="192308"/>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SAID OUT LOUD</a:t>
            </a:r>
            <a:endParaRPr lang="en-US" sz="1800" dirty="0"/>
          </a:p>
        </p:txBody>
      </p:sp>
      <p:sp>
        <p:nvSpPr>
          <p:cNvPr id="8" name="Shape 6"/>
          <p:cNvSpPr/>
          <p:nvPr/>
        </p:nvSpPr>
        <p:spPr>
          <a:xfrm>
            <a:off x="7582198" y="3318495"/>
            <a:ext cx="8419802" cy="19050"/>
          </a:xfrm>
          <a:prstGeom prst="rect">
            <a:avLst/>
          </a:prstGeom>
          <a:solidFill>
            <a:srgbClr val="201E1E">
              <a:alpha val="40000"/>
            </a:srgbClr>
          </a:solidFill>
          <a:ln/>
        </p:spPr>
        <p:txBody>
          <a:bodyPr/>
          <a:lstStyle/>
          <a:p>
            <a:endParaRPr lang="en-US"/>
          </a:p>
        </p:txBody>
      </p:sp>
      <p:sp>
        <p:nvSpPr>
          <p:cNvPr id="9" name="Text 7"/>
          <p:cNvSpPr/>
          <p:nvPr/>
        </p:nvSpPr>
        <p:spPr>
          <a:xfrm>
            <a:off x="7810798" y="3072806"/>
            <a:ext cx="9033183" cy="192308"/>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MEANS</a:t>
            </a:r>
            <a:endParaRPr lang="en-US" sz="1800" dirty="0"/>
          </a:p>
        </p:txBody>
      </p:sp>
      <p:sp>
        <p:nvSpPr>
          <p:cNvPr id="10" name="Shape 8"/>
          <p:cNvSpPr/>
          <p:nvPr/>
        </p:nvSpPr>
        <p:spPr>
          <a:xfrm>
            <a:off x="1143000" y="3698379"/>
            <a:ext cx="2135535" cy="9525"/>
          </a:xfrm>
          <a:prstGeom prst="rect">
            <a:avLst/>
          </a:prstGeom>
          <a:solidFill>
            <a:srgbClr val="201E1E">
              <a:alpha val="40000"/>
            </a:srgbClr>
          </a:solidFill>
          <a:ln/>
        </p:spPr>
        <p:txBody>
          <a:bodyPr/>
          <a:lstStyle/>
          <a:p>
            <a:endParaRPr lang="en-US"/>
          </a:p>
        </p:txBody>
      </p:sp>
      <p:sp>
        <p:nvSpPr>
          <p:cNvPr id="11" name="Text 9"/>
          <p:cNvSpPr/>
          <p:nvPr/>
        </p:nvSpPr>
        <p:spPr>
          <a:xfrm>
            <a:off x="1143000" y="3437253"/>
            <a:ext cx="1983135" cy="199518"/>
          </a:xfrm>
          <a:prstGeom prst="rect">
            <a:avLst/>
          </a:prstGeom>
          <a:noFill/>
          <a:ln/>
        </p:spPr>
        <p:txBody>
          <a:bodyPr wrap="square" lIns="25400" tIns="25400" rIns="25400" bIns="25400" rtlCol="0" anchor="ctr">
            <a:normAutofit fontScale="475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n!</a:t>
            </a:r>
            <a:endParaRPr lang="en-US" sz="1800" dirty="0"/>
          </a:p>
        </p:txBody>
      </p:sp>
      <p:sp>
        <p:nvSpPr>
          <p:cNvPr id="12" name="Shape 10"/>
          <p:cNvSpPr/>
          <p:nvPr/>
        </p:nvSpPr>
        <p:spPr>
          <a:xfrm>
            <a:off x="3278535" y="3698379"/>
            <a:ext cx="4303663" cy="9525"/>
          </a:xfrm>
          <a:prstGeom prst="rect">
            <a:avLst/>
          </a:prstGeom>
          <a:solidFill>
            <a:srgbClr val="201E1E">
              <a:alpha val="40000"/>
            </a:srgbClr>
          </a:solidFill>
          <a:ln/>
        </p:spPr>
        <p:txBody>
          <a:bodyPr/>
          <a:lstStyle/>
          <a:p>
            <a:endParaRPr lang="en-US"/>
          </a:p>
        </p:txBody>
      </p:sp>
      <p:sp>
        <p:nvSpPr>
          <p:cNvPr id="13" name="Text 11"/>
          <p:cNvSpPr/>
          <p:nvPr/>
        </p:nvSpPr>
        <p:spPr>
          <a:xfrm>
            <a:off x="3507135" y="3437253"/>
            <a:ext cx="3975573" cy="199518"/>
          </a:xfrm>
          <a:prstGeom prst="rect">
            <a:avLst/>
          </a:prstGeom>
          <a:noFill/>
          <a:ln/>
        </p:spPr>
        <p:txBody>
          <a:bodyPr wrap="square" lIns="25400" tIns="25400" rIns="25400" bIns="25400" rtlCol="0" anchor="ctr">
            <a:normAutofit fontScale="475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"n factorial"</a:t>
            </a:r>
            <a:endParaRPr lang="en-US" sz="1800" dirty="0"/>
          </a:p>
        </p:txBody>
      </p:sp>
      <p:sp>
        <p:nvSpPr>
          <p:cNvPr id="14" name="Shape 12"/>
          <p:cNvSpPr/>
          <p:nvPr/>
        </p:nvSpPr>
        <p:spPr>
          <a:xfrm>
            <a:off x="7582198" y="3698379"/>
            <a:ext cx="8419802" cy="9525"/>
          </a:xfrm>
          <a:prstGeom prst="rect">
            <a:avLst/>
          </a:prstGeom>
          <a:solidFill>
            <a:srgbClr val="201E1E">
              <a:alpha val="40000"/>
            </a:srgbClr>
          </a:solidFill>
          <a:ln/>
        </p:spPr>
        <p:txBody>
          <a:bodyPr/>
          <a:lstStyle/>
          <a:p>
            <a:endParaRPr lang="en-US"/>
          </a:p>
        </p:txBody>
      </p:sp>
      <p:sp>
        <p:nvSpPr>
          <p:cNvPr id="15" name="Text 13"/>
          <p:cNvSpPr/>
          <p:nvPr/>
        </p:nvSpPr>
        <p:spPr>
          <a:xfrm>
            <a:off x="7810798" y="3437253"/>
            <a:ext cx="8443796" cy="199518"/>
          </a:xfrm>
          <a:prstGeom prst="rect">
            <a:avLst/>
          </a:prstGeom>
          <a:noFill/>
          <a:ln/>
        </p:spPr>
        <p:txBody>
          <a:bodyPr wrap="square" lIns="25400" tIns="25400" rIns="25400" bIns="25400" rtlCol="0" anchor="ctr">
            <a:normAutofit fontScale="475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n × (n−1) × … × 1 — the ways to arrange n things</a:t>
            </a:r>
            <a:endParaRPr lang="en-US" sz="1800" dirty="0"/>
          </a:p>
        </p:txBody>
      </p:sp>
      <p:sp>
        <p:nvSpPr>
          <p:cNvPr id="16" name="Shape 14"/>
          <p:cNvSpPr/>
          <p:nvPr/>
        </p:nvSpPr>
        <p:spPr>
          <a:xfrm>
            <a:off x="1143000" y="4063975"/>
            <a:ext cx="2135535" cy="9525"/>
          </a:xfrm>
          <a:prstGeom prst="rect">
            <a:avLst/>
          </a:prstGeom>
          <a:solidFill>
            <a:srgbClr val="201E1E">
              <a:alpha val="40000"/>
            </a:srgbClr>
          </a:solidFill>
          <a:ln/>
        </p:spPr>
        <p:txBody>
          <a:bodyPr/>
          <a:lstStyle/>
          <a:p>
            <a:endParaRPr lang="en-US"/>
          </a:p>
        </p:txBody>
      </p:sp>
      <p:sp>
        <p:nvSpPr>
          <p:cNvPr id="17" name="Text 15"/>
          <p:cNvSpPr/>
          <p:nvPr/>
        </p:nvSpPr>
        <p:spPr>
          <a:xfrm>
            <a:off x="1143000" y="3807612"/>
            <a:ext cx="212048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ⁿCᵣ</a:t>
            </a:r>
            <a:endParaRPr lang="en-US" sz="1800" dirty="0"/>
          </a:p>
        </p:txBody>
      </p:sp>
      <p:sp>
        <p:nvSpPr>
          <p:cNvPr id="18" name="Shape 16"/>
          <p:cNvSpPr/>
          <p:nvPr/>
        </p:nvSpPr>
        <p:spPr>
          <a:xfrm>
            <a:off x="3278535" y="4063975"/>
            <a:ext cx="4303663" cy="9525"/>
          </a:xfrm>
          <a:prstGeom prst="rect">
            <a:avLst/>
          </a:prstGeom>
          <a:solidFill>
            <a:srgbClr val="201E1E">
              <a:alpha val="40000"/>
            </a:srgbClr>
          </a:solidFill>
          <a:ln/>
        </p:spPr>
        <p:txBody>
          <a:bodyPr/>
          <a:lstStyle/>
          <a:p>
            <a:endParaRPr lang="en-US"/>
          </a:p>
        </p:txBody>
      </p:sp>
      <p:sp>
        <p:nvSpPr>
          <p:cNvPr id="19" name="Text 17"/>
          <p:cNvSpPr/>
          <p:nvPr/>
        </p:nvSpPr>
        <p:spPr>
          <a:xfrm>
            <a:off x="3507135" y="3807612"/>
            <a:ext cx="427682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"n choose r"</a:t>
            </a:r>
            <a:endParaRPr lang="en-US" sz="1800" dirty="0"/>
          </a:p>
        </p:txBody>
      </p:sp>
      <p:sp>
        <p:nvSpPr>
          <p:cNvPr id="20" name="Shape 18"/>
          <p:cNvSpPr/>
          <p:nvPr/>
        </p:nvSpPr>
        <p:spPr>
          <a:xfrm>
            <a:off x="7582198" y="4063975"/>
            <a:ext cx="8419802" cy="9525"/>
          </a:xfrm>
          <a:prstGeom prst="rect">
            <a:avLst/>
          </a:prstGeom>
          <a:solidFill>
            <a:srgbClr val="201E1E">
              <a:alpha val="40000"/>
            </a:srgbClr>
          </a:solidFill>
          <a:ln/>
        </p:spPr>
        <p:txBody>
          <a:bodyPr/>
          <a:lstStyle/>
          <a:p>
            <a:endParaRPr lang="en-US"/>
          </a:p>
        </p:txBody>
      </p:sp>
      <p:sp>
        <p:nvSpPr>
          <p:cNvPr id="21" name="Text 19"/>
          <p:cNvSpPr/>
          <p:nvPr/>
        </p:nvSpPr>
        <p:spPr>
          <a:xfrm>
            <a:off x="7810798" y="3807612"/>
            <a:ext cx="903318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The number of groups of r you can pick from n</a:t>
            </a:r>
            <a:endParaRPr lang="en-US" sz="1800" dirty="0"/>
          </a:p>
        </p:txBody>
      </p:sp>
      <p:sp>
        <p:nvSpPr>
          <p:cNvPr id="22" name="Shape 20"/>
          <p:cNvSpPr/>
          <p:nvPr/>
        </p:nvSpPr>
        <p:spPr>
          <a:xfrm>
            <a:off x="1143000" y="4429571"/>
            <a:ext cx="2135535" cy="9525"/>
          </a:xfrm>
          <a:prstGeom prst="rect">
            <a:avLst/>
          </a:prstGeom>
          <a:solidFill>
            <a:srgbClr val="201E1E">
              <a:alpha val="40000"/>
            </a:srgbClr>
          </a:solidFill>
          <a:ln/>
        </p:spPr>
        <p:txBody>
          <a:bodyPr/>
          <a:lstStyle/>
          <a:p>
            <a:endParaRPr lang="en-US"/>
          </a:p>
        </p:txBody>
      </p:sp>
      <p:sp>
        <p:nvSpPr>
          <p:cNvPr id="23" name="Text 21"/>
          <p:cNvSpPr/>
          <p:nvPr/>
        </p:nvSpPr>
        <p:spPr>
          <a:xfrm>
            <a:off x="1143000" y="4173208"/>
            <a:ext cx="212048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P(A | B)</a:t>
            </a:r>
            <a:endParaRPr lang="en-US" sz="1800" dirty="0"/>
          </a:p>
        </p:txBody>
      </p:sp>
      <p:sp>
        <p:nvSpPr>
          <p:cNvPr id="24" name="Shape 22"/>
          <p:cNvSpPr/>
          <p:nvPr/>
        </p:nvSpPr>
        <p:spPr>
          <a:xfrm>
            <a:off x="3278535" y="4429571"/>
            <a:ext cx="4303663" cy="9525"/>
          </a:xfrm>
          <a:prstGeom prst="rect">
            <a:avLst/>
          </a:prstGeom>
          <a:solidFill>
            <a:srgbClr val="201E1E">
              <a:alpha val="40000"/>
            </a:srgbClr>
          </a:solidFill>
          <a:ln/>
        </p:spPr>
        <p:txBody>
          <a:bodyPr/>
          <a:lstStyle/>
          <a:p>
            <a:endParaRPr lang="en-US"/>
          </a:p>
        </p:txBody>
      </p:sp>
      <p:sp>
        <p:nvSpPr>
          <p:cNvPr id="25" name="Text 23"/>
          <p:cNvSpPr/>
          <p:nvPr/>
        </p:nvSpPr>
        <p:spPr>
          <a:xfrm>
            <a:off x="3507135" y="4173208"/>
            <a:ext cx="427682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 of A given B"</a:t>
            </a:r>
            <a:endParaRPr lang="en-US" sz="1800" dirty="0"/>
          </a:p>
        </p:txBody>
      </p:sp>
      <p:sp>
        <p:nvSpPr>
          <p:cNvPr id="26" name="Shape 24"/>
          <p:cNvSpPr/>
          <p:nvPr/>
        </p:nvSpPr>
        <p:spPr>
          <a:xfrm>
            <a:off x="7582198" y="4429571"/>
            <a:ext cx="8419802" cy="9525"/>
          </a:xfrm>
          <a:prstGeom prst="rect">
            <a:avLst/>
          </a:prstGeom>
          <a:solidFill>
            <a:srgbClr val="201E1E">
              <a:alpha val="40000"/>
            </a:srgbClr>
          </a:solidFill>
          <a:ln/>
        </p:spPr>
        <p:txBody>
          <a:bodyPr/>
          <a:lstStyle/>
          <a:p>
            <a:endParaRPr lang="en-US"/>
          </a:p>
        </p:txBody>
      </p:sp>
      <p:sp>
        <p:nvSpPr>
          <p:cNvPr id="27" name="Text 25"/>
          <p:cNvSpPr/>
          <p:nvPr/>
        </p:nvSpPr>
        <p:spPr>
          <a:xfrm>
            <a:off x="7810798" y="4173208"/>
            <a:ext cx="903318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Probability of A once B is known</a:t>
            </a:r>
            <a:endParaRPr lang="en-US" sz="1800" dirty="0"/>
          </a:p>
        </p:txBody>
      </p:sp>
      <p:sp>
        <p:nvSpPr>
          <p:cNvPr id="28" name="Shape 26"/>
          <p:cNvSpPr/>
          <p:nvPr/>
        </p:nvSpPr>
        <p:spPr>
          <a:xfrm>
            <a:off x="1143000" y="4795168"/>
            <a:ext cx="2135535" cy="9525"/>
          </a:xfrm>
          <a:prstGeom prst="rect">
            <a:avLst/>
          </a:prstGeom>
          <a:solidFill>
            <a:srgbClr val="201E1E">
              <a:alpha val="40000"/>
            </a:srgbClr>
          </a:solidFill>
          <a:ln/>
        </p:spPr>
        <p:txBody>
          <a:bodyPr/>
          <a:lstStyle/>
          <a:p>
            <a:endParaRPr lang="en-US"/>
          </a:p>
        </p:txBody>
      </p:sp>
      <p:sp>
        <p:nvSpPr>
          <p:cNvPr id="29" name="Text 27"/>
          <p:cNvSpPr/>
          <p:nvPr/>
        </p:nvSpPr>
        <p:spPr>
          <a:xfrm>
            <a:off x="1143000" y="4538804"/>
            <a:ext cx="212048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dirty="0">
                <a:solidFill>
                  <a:srgbClr val="201E1D"/>
                </a:solidFill>
                <a:latin typeface="Arial" pitchFamily="34" charset="0"/>
                <a:ea typeface="Arial" pitchFamily="34" charset="-122"/>
                <a:cs typeface="Arial" pitchFamily="34" charset="-120"/>
              </a:rPr>
              <a:t>v</a:t>
            </a:r>
            <a:r>
              <a:rPr lang="en-US" sz="1800" dirty="0">
                <a:solidFill>
                  <a:srgbClr val="201E1D"/>
                </a:solidFill>
                <a:latin typeface="Arial" pitchFamily="34" charset="0"/>
                <a:ea typeface="Arial" pitchFamily="34" charset="-122"/>
                <a:cs typeface="Arial" pitchFamily="34" charset="-120"/>
              </a:rPr>
              <a:t>, x⃗</a:t>
            </a:r>
            <a:endParaRPr lang="en-US" sz="1800" dirty="0"/>
          </a:p>
        </p:txBody>
      </p:sp>
      <p:sp>
        <p:nvSpPr>
          <p:cNvPr id="30" name="Shape 28"/>
          <p:cNvSpPr/>
          <p:nvPr/>
        </p:nvSpPr>
        <p:spPr>
          <a:xfrm>
            <a:off x="3278535" y="4795168"/>
            <a:ext cx="4303663" cy="9525"/>
          </a:xfrm>
          <a:prstGeom prst="rect">
            <a:avLst/>
          </a:prstGeom>
          <a:solidFill>
            <a:srgbClr val="201E1E">
              <a:alpha val="40000"/>
            </a:srgbClr>
          </a:solidFill>
          <a:ln/>
        </p:spPr>
        <p:txBody>
          <a:bodyPr/>
          <a:lstStyle/>
          <a:p>
            <a:endParaRPr lang="en-US"/>
          </a:p>
        </p:txBody>
      </p:sp>
      <p:sp>
        <p:nvSpPr>
          <p:cNvPr id="31" name="Text 29"/>
          <p:cNvSpPr/>
          <p:nvPr/>
        </p:nvSpPr>
        <p:spPr>
          <a:xfrm>
            <a:off x="3507135" y="4538804"/>
            <a:ext cx="427682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"vector vee"</a:t>
            </a:r>
            <a:endParaRPr lang="en-US" sz="1800" dirty="0"/>
          </a:p>
        </p:txBody>
      </p:sp>
      <p:sp>
        <p:nvSpPr>
          <p:cNvPr id="32" name="Shape 30"/>
          <p:cNvSpPr/>
          <p:nvPr/>
        </p:nvSpPr>
        <p:spPr>
          <a:xfrm>
            <a:off x="7582198" y="4795168"/>
            <a:ext cx="8419802" cy="9525"/>
          </a:xfrm>
          <a:prstGeom prst="rect">
            <a:avLst/>
          </a:prstGeom>
          <a:solidFill>
            <a:srgbClr val="201E1E">
              <a:alpha val="40000"/>
            </a:srgbClr>
          </a:solidFill>
          <a:ln/>
        </p:spPr>
        <p:txBody>
          <a:bodyPr/>
          <a:lstStyle/>
          <a:p>
            <a:endParaRPr lang="en-US"/>
          </a:p>
        </p:txBody>
      </p:sp>
      <p:sp>
        <p:nvSpPr>
          <p:cNvPr id="33" name="Text 31"/>
          <p:cNvSpPr/>
          <p:nvPr/>
        </p:nvSpPr>
        <p:spPr>
          <a:xfrm>
            <a:off x="7810798" y="4538804"/>
            <a:ext cx="903318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 list of numbers, e.g. [0.2, −1.4, 3.0]</a:t>
            </a:r>
            <a:endParaRPr lang="en-US" sz="1800" dirty="0"/>
          </a:p>
        </p:txBody>
      </p:sp>
      <p:sp>
        <p:nvSpPr>
          <p:cNvPr id="34" name="Shape 32"/>
          <p:cNvSpPr/>
          <p:nvPr/>
        </p:nvSpPr>
        <p:spPr>
          <a:xfrm>
            <a:off x="1143000" y="5160764"/>
            <a:ext cx="2135535" cy="9525"/>
          </a:xfrm>
          <a:prstGeom prst="rect">
            <a:avLst/>
          </a:prstGeom>
          <a:solidFill>
            <a:srgbClr val="201E1E">
              <a:alpha val="40000"/>
            </a:srgbClr>
          </a:solidFill>
          <a:ln/>
        </p:spPr>
        <p:txBody>
          <a:bodyPr/>
          <a:lstStyle/>
          <a:p>
            <a:endParaRPr lang="en-US"/>
          </a:p>
        </p:txBody>
      </p:sp>
      <p:sp>
        <p:nvSpPr>
          <p:cNvPr id="35" name="Text 33"/>
          <p:cNvSpPr/>
          <p:nvPr/>
        </p:nvSpPr>
        <p:spPr>
          <a:xfrm>
            <a:off x="1143000" y="4904400"/>
            <a:ext cx="212048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 · b</a:t>
            </a:r>
            <a:endParaRPr lang="en-US" sz="1800" dirty="0"/>
          </a:p>
        </p:txBody>
      </p:sp>
      <p:sp>
        <p:nvSpPr>
          <p:cNvPr id="36" name="Shape 34"/>
          <p:cNvSpPr/>
          <p:nvPr/>
        </p:nvSpPr>
        <p:spPr>
          <a:xfrm>
            <a:off x="3278535" y="5160764"/>
            <a:ext cx="4303663" cy="9525"/>
          </a:xfrm>
          <a:prstGeom prst="rect">
            <a:avLst/>
          </a:prstGeom>
          <a:solidFill>
            <a:srgbClr val="201E1E">
              <a:alpha val="40000"/>
            </a:srgbClr>
          </a:solidFill>
          <a:ln/>
        </p:spPr>
        <p:txBody>
          <a:bodyPr/>
          <a:lstStyle/>
          <a:p>
            <a:endParaRPr lang="en-US"/>
          </a:p>
        </p:txBody>
      </p:sp>
      <p:sp>
        <p:nvSpPr>
          <p:cNvPr id="37" name="Text 35"/>
          <p:cNvSpPr/>
          <p:nvPr/>
        </p:nvSpPr>
        <p:spPr>
          <a:xfrm>
            <a:off x="3507135" y="4904400"/>
            <a:ext cx="427682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 dot b"</a:t>
            </a:r>
            <a:endParaRPr lang="en-US" sz="1800" dirty="0"/>
          </a:p>
        </p:txBody>
      </p:sp>
      <p:sp>
        <p:nvSpPr>
          <p:cNvPr id="38" name="Shape 36"/>
          <p:cNvSpPr/>
          <p:nvPr/>
        </p:nvSpPr>
        <p:spPr>
          <a:xfrm>
            <a:off x="7582198" y="5160764"/>
            <a:ext cx="8419802" cy="9525"/>
          </a:xfrm>
          <a:prstGeom prst="rect">
            <a:avLst/>
          </a:prstGeom>
          <a:solidFill>
            <a:srgbClr val="201E1E">
              <a:alpha val="40000"/>
            </a:srgbClr>
          </a:solidFill>
          <a:ln/>
        </p:spPr>
        <p:txBody>
          <a:bodyPr/>
          <a:lstStyle/>
          <a:p>
            <a:endParaRPr lang="en-US"/>
          </a:p>
        </p:txBody>
      </p:sp>
      <p:sp>
        <p:nvSpPr>
          <p:cNvPr id="39" name="Text 37"/>
          <p:cNvSpPr/>
          <p:nvPr/>
        </p:nvSpPr>
        <p:spPr>
          <a:xfrm>
            <a:off x="7810798" y="4904400"/>
            <a:ext cx="903318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Dot product — multiply pairwise, then add</a:t>
            </a:r>
            <a:endParaRPr lang="en-US" sz="1800" dirty="0"/>
          </a:p>
        </p:txBody>
      </p:sp>
      <p:sp>
        <p:nvSpPr>
          <p:cNvPr id="40" name="Shape 38"/>
          <p:cNvSpPr/>
          <p:nvPr/>
        </p:nvSpPr>
        <p:spPr>
          <a:xfrm>
            <a:off x="1143000" y="5526360"/>
            <a:ext cx="2135535" cy="9525"/>
          </a:xfrm>
          <a:prstGeom prst="rect">
            <a:avLst/>
          </a:prstGeom>
          <a:solidFill>
            <a:srgbClr val="201E1E">
              <a:alpha val="40000"/>
            </a:srgbClr>
          </a:solidFill>
          <a:ln/>
        </p:spPr>
        <p:txBody>
          <a:bodyPr/>
          <a:lstStyle/>
          <a:p>
            <a:endParaRPr lang="en-US"/>
          </a:p>
        </p:txBody>
      </p:sp>
      <p:sp>
        <p:nvSpPr>
          <p:cNvPr id="41" name="Text 39"/>
          <p:cNvSpPr/>
          <p:nvPr/>
        </p:nvSpPr>
        <p:spPr>
          <a:xfrm>
            <a:off x="1143000" y="5269997"/>
            <a:ext cx="212048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‖v‖</a:t>
            </a:r>
            <a:endParaRPr lang="en-US" sz="1800" dirty="0"/>
          </a:p>
        </p:txBody>
      </p:sp>
      <p:sp>
        <p:nvSpPr>
          <p:cNvPr id="42" name="Shape 40"/>
          <p:cNvSpPr/>
          <p:nvPr/>
        </p:nvSpPr>
        <p:spPr>
          <a:xfrm>
            <a:off x="3278535" y="5526360"/>
            <a:ext cx="4303663" cy="9525"/>
          </a:xfrm>
          <a:prstGeom prst="rect">
            <a:avLst/>
          </a:prstGeom>
          <a:solidFill>
            <a:srgbClr val="201E1E">
              <a:alpha val="40000"/>
            </a:srgbClr>
          </a:solidFill>
          <a:ln/>
        </p:spPr>
        <p:txBody>
          <a:bodyPr/>
          <a:lstStyle/>
          <a:p>
            <a:endParaRPr lang="en-US"/>
          </a:p>
        </p:txBody>
      </p:sp>
      <p:sp>
        <p:nvSpPr>
          <p:cNvPr id="43" name="Text 41"/>
          <p:cNvSpPr/>
          <p:nvPr/>
        </p:nvSpPr>
        <p:spPr>
          <a:xfrm>
            <a:off x="3507135" y="5269997"/>
            <a:ext cx="427682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"norm of vee"</a:t>
            </a:r>
            <a:endParaRPr lang="en-US" sz="1800" dirty="0"/>
          </a:p>
        </p:txBody>
      </p:sp>
      <p:sp>
        <p:nvSpPr>
          <p:cNvPr id="44" name="Shape 42"/>
          <p:cNvSpPr/>
          <p:nvPr/>
        </p:nvSpPr>
        <p:spPr>
          <a:xfrm>
            <a:off x="7582198" y="5526360"/>
            <a:ext cx="8419802" cy="9525"/>
          </a:xfrm>
          <a:prstGeom prst="rect">
            <a:avLst/>
          </a:prstGeom>
          <a:solidFill>
            <a:srgbClr val="201E1E">
              <a:alpha val="40000"/>
            </a:srgbClr>
          </a:solidFill>
          <a:ln/>
        </p:spPr>
        <p:txBody>
          <a:bodyPr/>
          <a:lstStyle/>
          <a:p>
            <a:endParaRPr lang="en-US"/>
          </a:p>
        </p:txBody>
      </p:sp>
      <p:sp>
        <p:nvSpPr>
          <p:cNvPr id="45" name="Text 43"/>
          <p:cNvSpPr/>
          <p:nvPr/>
        </p:nvSpPr>
        <p:spPr>
          <a:xfrm>
            <a:off x="7810798" y="5269997"/>
            <a:ext cx="903318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The length of a vector</a:t>
            </a:r>
            <a:endParaRPr lang="en-US" sz="1800" dirty="0"/>
          </a:p>
        </p:txBody>
      </p:sp>
      <p:sp>
        <p:nvSpPr>
          <p:cNvPr id="46" name="Shape 44"/>
          <p:cNvSpPr/>
          <p:nvPr/>
        </p:nvSpPr>
        <p:spPr>
          <a:xfrm>
            <a:off x="1143000" y="5891957"/>
            <a:ext cx="2135535" cy="9525"/>
          </a:xfrm>
          <a:prstGeom prst="rect">
            <a:avLst/>
          </a:prstGeom>
          <a:solidFill>
            <a:srgbClr val="201E1E">
              <a:alpha val="40000"/>
            </a:srgbClr>
          </a:solidFill>
          <a:ln/>
        </p:spPr>
        <p:txBody>
          <a:bodyPr/>
          <a:lstStyle/>
          <a:p>
            <a:endParaRPr lang="en-US"/>
          </a:p>
        </p:txBody>
      </p:sp>
      <p:sp>
        <p:nvSpPr>
          <p:cNvPr id="47" name="Text 45"/>
          <p:cNvSpPr/>
          <p:nvPr/>
        </p:nvSpPr>
        <p:spPr>
          <a:xfrm>
            <a:off x="1143000" y="5635593"/>
            <a:ext cx="212048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Aᵀ</a:t>
            </a:r>
            <a:endParaRPr lang="en-US" sz="1800" dirty="0"/>
          </a:p>
        </p:txBody>
      </p:sp>
      <p:sp>
        <p:nvSpPr>
          <p:cNvPr id="48" name="Shape 46"/>
          <p:cNvSpPr/>
          <p:nvPr/>
        </p:nvSpPr>
        <p:spPr>
          <a:xfrm>
            <a:off x="3278535" y="5891957"/>
            <a:ext cx="4303663" cy="9525"/>
          </a:xfrm>
          <a:prstGeom prst="rect">
            <a:avLst/>
          </a:prstGeom>
          <a:solidFill>
            <a:srgbClr val="201E1E">
              <a:alpha val="40000"/>
            </a:srgbClr>
          </a:solidFill>
          <a:ln/>
        </p:spPr>
        <p:txBody>
          <a:bodyPr/>
          <a:lstStyle/>
          <a:p>
            <a:endParaRPr lang="en-US"/>
          </a:p>
        </p:txBody>
      </p:sp>
      <p:sp>
        <p:nvSpPr>
          <p:cNvPr id="49" name="Text 47"/>
          <p:cNvSpPr/>
          <p:nvPr/>
        </p:nvSpPr>
        <p:spPr>
          <a:xfrm>
            <a:off x="3507135" y="5635593"/>
            <a:ext cx="427682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 transpose"</a:t>
            </a:r>
            <a:endParaRPr lang="en-US" sz="1800" dirty="0"/>
          </a:p>
        </p:txBody>
      </p:sp>
      <p:sp>
        <p:nvSpPr>
          <p:cNvPr id="50" name="Shape 48"/>
          <p:cNvSpPr/>
          <p:nvPr/>
        </p:nvSpPr>
        <p:spPr>
          <a:xfrm>
            <a:off x="7582198" y="5891957"/>
            <a:ext cx="8419802" cy="9525"/>
          </a:xfrm>
          <a:prstGeom prst="rect">
            <a:avLst/>
          </a:prstGeom>
          <a:solidFill>
            <a:srgbClr val="201E1E">
              <a:alpha val="40000"/>
            </a:srgbClr>
          </a:solidFill>
          <a:ln/>
        </p:spPr>
        <p:txBody>
          <a:bodyPr/>
          <a:lstStyle/>
          <a:p>
            <a:endParaRPr lang="en-US"/>
          </a:p>
        </p:txBody>
      </p:sp>
      <p:sp>
        <p:nvSpPr>
          <p:cNvPr id="51" name="Text 49"/>
          <p:cNvSpPr/>
          <p:nvPr/>
        </p:nvSpPr>
        <p:spPr>
          <a:xfrm>
            <a:off x="7810798" y="5635593"/>
            <a:ext cx="903318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Flip rows and columns</a:t>
            </a:r>
            <a:endParaRPr lang="en-US" sz="1800" dirty="0"/>
          </a:p>
        </p:txBody>
      </p:sp>
      <p:sp>
        <p:nvSpPr>
          <p:cNvPr id="52" name="Shape 50"/>
          <p:cNvSpPr/>
          <p:nvPr/>
        </p:nvSpPr>
        <p:spPr>
          <a:xfrm>
            <a:off x="1143000" y="6257553"/>
            <a:ext cx="2135535" cy="9525"/>
          </a:xfrm>
          <a:prstGeom prst="rect">
            <a:avLst/>
          </a:prstGeom>
          <a:solidFill>
            <a:srgbClr val="201E1E">
              <a:alpha val="40000"/>
            </a:srgbClr>
          </a:solidFill>
          <a:ln/>
        </p:spPr>
        <p:txBody>
          <a:bodyPr/>
          <a:lstStyle/>
          <a:p>
            <a:endParaRPr lang="en-US"/>
          </a:p>
        </p:txBody>
      </p:sp>
      <p:sp>
        <p:nvSpPr>
          <p:cNvPr id="53" name="Text 51"/>
          <p:cNvSpPr/>
          <p:nvPr/>
        </p:nvSpPr>
        <p:spPr>
          <a:xfrm>
            <a:off x="1143000" y="6001189"/>
            <a:ext cx="212048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Σ</a:t>
            </a:r>
            <a:endParaRPr lang="en-US" sz="1800" dirty="0"/>
          </a:p>
        </p:txBody>
      </p:sp>
      <p:sp>
        <p:nvSpPr>
          <p:cNvPr id="54" name="Shape 52"/>
          <p:cNvSpPr/>
          <p:nvPr/>
        </p:nvSpPr>
        <p:spPr>
          <a:xfrm>
            <a:off x="3278535" y="6257553"/>
            <a:ext cx="4303663" cy="9525"/>
          </a:xfrm>
          <a:prstGeom prst="rect">
            <a:avLst/>
          </a:prstGeom>
          <a:solidFill>
            <a:srgbClr val="201E1E">
              <a:alpha val="40000"/>
            </a:srgbClr>
          </a:solidFill>
          <a:ln/>
        </p:spPr>
        <p:txBody>
          <a:bodyPr/>
          <a:lstStyle/>
          <a:p>
            <a:endParaRPr lang="en-US"/>
          </a:p>
        </p:txBody>
      </p:sp>
      <p:sp>
        <p:nvSpPr>
          <p:cNvPr id="55" name="Text 53"/>
          <p:cNvSpPr/>
          <p:nvPr/>
        </p:nvSpPr>
        <p:spPr>
          <a:xfrm>
            <a:off x="3507135" y="6001189"/>
            <a:ext cx="427682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"sum over"</a:t>
            </a:r>
            <a:endParaRPr lang="en-US" sz="1800" dirty="0"/>
          </a:p>
        </p:txBody>
      </p:sp>
      <p:sp>
        <p:nvSpPr>
          <p:cNvPr id="56" name="Shape 54"/>
          <p:cNvSpPr/>
          <p:nvPr/>
        </p:nvSpPr>
        <p:spPr>
          <a:xfrm>
            <a:off x="7582198" y="6257553"/>
            <a:ext cx="8419802" cy="9525"/>
          </a:xfrm>
          <a:prstGeom prst="rect">
            <a:avLst/>
          </a:prstGeom>
          <a:solidFill>
            <a:srgbClr val="201E1E">
              <a:alpha val="40000"/>
            </a:srgbClr>
          </a:solidFill>
          <a:ln/>
        </p:spPr>
        <p:txBody>
          <a:bodyPr/>
          <a:lstStyle/>
          <a:p>
            <a:endParaRPr lang="en-US"/>
          </a:p>
        </p:txBody>
      </p:sp>
      <p:sp>
        <p:nvSpPr>
          <p:cNvPr id="57" name="Text 55"/>
          <p:cNvSpPr/>
          <p:nvPr/>
        </p:nvSpPr>
        <p:spPr>
          <a:xfrm>
            <a:off x="7810798" y="6001189"/>
            <a:ext cx="903318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Add up everything that follows</a:t>
            </a:r>
            <a:endParaRPr lang="en-US" sz="1800" dirty="0"/>
          </a:p>
        </p:txBody>
      </p:sp>
      <p:sp>
        <p:nvSpPr>
          <p:cNvPr id="58" name="Shape 56"/>
          <p:cNvSpPr/>
          <p:nvPr/>
        </p:nvSpPr>
        <p:spPr>
          <a:xfrm>
            <a:off x="1143000" y="6623149"/>
            <a:ext cx="2135535" cy="9525"/>
          </a:xfrm>
          <a:prstGeom prst="rect">
            <a:avLst/>
          </a:prstGeom>
          <a:solidFill>
            <a:srgbClr val="201E1E">
              <a:alpha val="40000"/>
            </a:srgbClr>
          </a:solidFill>
          <a:ln/>
        </p:spPr>
        <p:txBody>
          <a:bodyPr/>
          <a:lstStyle/>
          <a:p>
            <a:endParaRPr lang="en-US"/>
          </a:p>
        </p:txBody>
      </p:sp>
      <p:sp>
        <p:nvSpPr>
          <p:cNvPr id="59" name="Text 57"/>
          <p:cNvSpPr/>
          <p:nvPr/>
        </p:nvSpPr>
        <p:spPr>
          <a:xfrm>
            <a:off x="1143000" y="6366786"/>
            <a:ext cx="212048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∂L/∂w</a:t>
            </a:r>
            <a:endParaRPr lang="en-US" sz="1800" dirty="0"/>
          </a:p>
        </p:txBody>
      </p:sp>
      <p:sp>
        <p:nvSpPr>
          <p:cNvPr id="60" name="Shape 58"/>
          <p:cNvSpPr/>
          <p:nvPr/>
        </p:nvSpPr>
        <p:spPr>
          <a:xfrm>
            <a:off x="3278535" y="6623149"/>
            <a:ext cx="4303663" cy="9525"/>
          </a:xfrm>
          <a:prstGeom prst="rect">
            <a:avLst/>
          </a:prstGeom>
          <a:solidFill>
            <a:srgbClr val="201E1E">
              <a:alpha val="40000"/>
            </a:srgbClr>
          </a:solidFill>
          <a:ln/>
        </p:spPr>
        <p:txBody>
          <a:bodyPr/>
          <a:lstStyle/>
          <a:p>
            <a:endParaRPr lang="en-US"/>
          </a:p>
        </p:txBody>
      </p:sp>
      <p:sp>
        <p:nvSpPr>
          <p:cNvPr id="61" name="Text 59"/>
          <p:cNvSpPr/>
          <p:nvPr/>
        </p:nvSpPr>
        <p:spPr>
          <a:xfrm>
            <a:off x="3507135" y="6366786"/>
            <a:ext cx="427682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"partial L by partial w"</a:t>
            </a:r>
            <a:endParaRPr lang="en-US" sz="1800" dirty="0"/>
          </a:p>
        </p:txBody>
      </p:sp>
      <p:sp>
        <p:nvSpPr>
          <p:cNvPr id="62" name="Shape 60"/>
          <p:cNvSpPr/>
          <p:nvPr/>
        </p:nvSpPr>
        <p:spPr>
          <a:xfrm>
            <a:off x="7582198" y="6623149"/>
            <a:ext cx="8419802" cy="9525"/>
          </a:xfrm>
          <a:prstGeom prst="rect">
            <a:avLst/>
          </a:prstGeom>
          <a:solidFill>
            <a:srgbClr val="201E1E">
              <a:alpha val="40000"/>
            </a:srgbClr>
          </a:solidFill>
          <a:ln/>
        </p:spPr>
        <p:txBody>
          <a:bodyPr/>
          <a:lstStyle/>
          <a:p>
            <a:endParaRPr lang="en-US"/>
          </a:p>
        </p:txBody>
      </p:sp>
      <p:sp>
        <p:nvSpPr>
          <p:cNvPr id="63" name="Text 61"/>
          <p:cNvSpPr/>
          <p:nvPr/>
        </p:nvSpPr>
        <p:spPr>
          <a:xfrm>
            <a:off x="7810798" y="6366786"/>
            <a:ext cx="903318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How much the loss changes if we nudge w</a:t>
            </a:r>
            <a:endParaRPr lang="en-US" sz="1800" dirty="0"/>
          </a:p>
        </p:txBody>
      </p:sp>
      <p:pic>
        <p:nvPicPr>
          <p:cNvPr id="64" name="Image 0" descr="preencoded.png"/>
          <p:cNvPicPr>
            <a:picLocks noChangeAspect="1"/>
          </p:cNvPicPr>
          <p:nvPr/>
        </p:nvPicPr>
        <p:blipFill>
          <a:blip r:embed="rId3"/>
          <a:stretch>
            <a:fillRect/>
          </a:stretch>
        </p:blipFill>
        <p:spPr>
          <a:xfrm>
            <a:off x="1143000" y="8987210"/>
            <a:ext cx="5566544" cy="1567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SESSION 2 · REFERENCE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Greek letters you will meet</a:t>
            </a:r>
            <a:endParaRPr lang="en-US" sz="4800" dirty="0"/>
          </a:p>
        </p:txBody>
      </p:sp>
      <p:sp>
        <p:nvSpPr>
          <p:cNvPr id="4" name="Shape 2"/>
          <p:cNvSpPr/>
          <p:nvPr/>
        </p:nvSpPr>
        <p:spPr>
          <a:xfrm>
            <a:off x="1143000" y="3318495"/>
            <a:ext cx="2113880" cy="19050"/>
          </a:xfrm>
          <a:prstGeom prst="rect">
            <a:avLst/>
          </a:prstGeom>
          <a:solidFill>
            <a:srgbClr val="201E1E">
              <a:alpha val="40000"/>
            </a:srgbClr>
          </a:solidFill>
          <a:ln/>
        </p:spPr>
        <p:txBody>
          <a:bodyPr/>
          <a:lstStyle/>
          <a:p>
            <a:endParaRPr lang="en-US"/>
          </a:p>
        </p:txBody>
      </p:sp>
      <p:sp>
        <p:nvSpPr>
          <p:cNvPr id="5" name="Text 3"/>
          <p:cNvSpPr/>
          <p:nvPr/>
        </p:nvSpPr>
        <p:spPr>
          <a:xfrm>
            <a:off x="1143000" y="3072806"/>
            <a:ext cx="2096668" cy="192308"/>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LETTER</a:t>
            </a:r>
            <a:endParaRPr lang="en-US" sz="1800" dirty="0"/>
          </a:p>
        </p:txBody>
      </p:sp>
      <p:sp>
        <p:nvSpPr>
          <p:cNvPr id="6" name="Shape 4"/>
          <p:cNvSpPr/>
          <p:nvPr/>
        </p:nvSpPr>
        <p:spPr>
          <a:xfrm>
            <a:off x="3256880" y="3318495"/>
            <a:ext cx="3049712" cy="19050"/>
          </a:xfrm>
          <a:prstGeom prst="rect">
            <a:avLst/>
          </a:prstGeom>
          <a:solidFill>
            <a:srgbClr val="201E1E">
              <a:alpha val="40000"/>
            </a:srgbClr>
          </a:solidFill>
          <a:ln/>
        </p:spPr>
        <p:txBody>
          <a:bodyPr/>
          <a:lstStyle/>
          <a:p>
            <a:endParaRPr lang="en-US"/>
          </a:p>
        </p:txBody>
      </p:sp>
      <p:sp>
        <p:nvSpPr>
          <p:cNvPr id="7" name="Text 5"/>
          <p:cNvSpPr/>
          <p:nvPr/>
        </p:nvSpPr>
        <p:spPr>
          <a:xfrm>
            <a:off x="3485480" y="3072806"/>
            <a:ext cx="2897483" cy="192308"/>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NAME</a:t>
            </a:r>
            <a:endParaRPr lang="en-US" sz="1800" dirty="0"/>
          </a:p>
        </p:txBody>
      </p:sp>
      <p:sp>
        <p:nvSpPr>
          <p:cNvPr id="8" name="Shape 6"/>
          <p:cNvSpPr/>
          <p:nvPr/>
        </p:nvSpPr>
        <p:spPr>
          <a:xfrm>
            <a:off x="6306592" y="3318495"/>
            <a:ext cx="9695408" cy="19050"/>
          </a:xfrm>
          <a:prstGeom prst="rect">
            <a:avLst/>
          </a:prstGeom>
          <a:solidFill>
            <a:srgbClr val="201E1E">
              <a:alpha val="40000"/>
            </a:srgbClr>
          </a:solidFill>
          <a:ln/>
        </p:spPr>
        <p:txBody>
          <a:bodyPr/>
          <a:lstStyle/>
          <a:p>
            <a:endParaRPr lang="en-US"/>
          </a:p>
        </p:txBody>
      </p:sp>
      <p:sp>
        <p:nvSpPr>
          <p:cNvPr id="9" name="Text 7"/>
          <p:cNvSpPr/>
          <p:nvPr/>
        </p:nvSpPr>
        <p:spPr>
          <a:xfrm>
            <a:off x="6535192" y="3072806"/>
            <a:ext cx="10436349" cy="192308"/>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ALMOST ALWAYS MEANS</a:t>
            </a:r>
            <a:endParaRPr lang="en-US" sz="1800" dirty="0"/>
          </a:p>
        </p:txBody>
      </p:sp>
      <p:sp>
        <p:nvSpPr>
          <p:cNvPr id="10" name="Shape 8"/>
          <p:cNvSpPr/>
          <p:nvPr/>
        </p:nvSpPr>
        <p:spPr>
          <a:xfrm>
            <a:off x="1143000" y="3698379"/>
            <a:ext cx="2113880" cy="9525"/>
          </a:xfrm>
          <a:prstGeom prst="rect">
            <a:avLst/>
          </a:prstGeom>
          <a:solidFill>
            <a:srgbClr val="201E1E">
              <a:alpha val="40000"/>
            </a:srgbClr>
          </a:solidFill>
          <a:ln/>
        </p:spPr>
        <p:txBody>
          <a:bodyPr/>
          <a:lstStyle/>
          <a:p>
            <a:endParaRPr lang="en-US"/>
          </a:p>
        </p:txBody>
      </p:sp>
      <p:sp>
        <p:nvSpPr>
          <p:cNvPr id="11" name="Text 9"/>
          <p:cNvSpPr/>
          <p:nvPr/>
        </p:nvSpPr>
        <p:spPr>
          <a:xfrm>
            <a:off x="1143000" y="3437253"/>
            <a:ext cx="1961480" cy="199518"/>
          </a:xfrm>
          <a:prstGeom prst="rect">
            <a:avLst/>
          </a:prstGeom>
          <a:noFill/>
          <a:ln/>
        </p:spPr>
        <p:txBody>
          <a:bodyPr wrap="square" lIns="25400" tIns="25400" rIns="25400" bIns="25400" rtlCol="0" anchor="ctr">
            <a:normAutofit fontScale="475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θ</a:t>
            </a:r>
            <a:endParaRPr lang="en-US" sz="1800" dirty="0"/>
          </a:p>
        </p:txBody>
      </p:sp>
      <p:sp>
        <p:nvSpPr>
          <p:cNvPr id="12" name="Shape 10"/>
          <p:cNvSpPr/>
          <p:nvPr/>
        </p:nvSpPr>
        <p:spPr>
          <a:xfrm>
            <a:off x="3256880" y="3698379"/>
            <a:ext cx="3049712" cy="9525"/>
          </a:xfrm>
          <a:prstGeom prst="rect">
            <a:avLst/>
          </a:prstGeom>
          <a:solidFill>
            <a:srgbClr val="201E1E">
              <a:alpha val="40000"/>
            </a:srgbClr>
          </a:solidFill>
          <a:ln/>
        </p:spPr>
        <p:txBody>
          <a:bodyPr/>
          <a:lstStyle/>
          <a:p>
            <a:endParaRPr lang="en-US"/>
          </a:p>
        </p:txBody>
      </p:sp>
      <p:sp>
        <p:nvSpPr>
          <p:cNvPr id="13" name="Text 11"/>
          <p:cNvSpPr/>
          <p:nvPr/>
        </p:nvSpPr>
        <p:spPr>
          <a:xfrm>
            <a:off x="3485480" y="3437253"/>
            <a:ext cx="2684003" cy="199518"/>
          </a:xfrm>
          <a:prstGeom prst="rect">
            <a:avLst/>
          </a:prstGeom>
          <a:noFill/>
          <a:ln/>
        </p:spPr>
        <p:txBody>
          <a:bodyPr wrap="square" lIns="25400" tIns="25400" rIns="25400" bIns="25400" rtlCol="0" anchor="ctr">
            <a:normAutofit fontScale="475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theta</a:t>
            </a:r>
            <a:endParaRPr lang="en-US" sz="1800" dirty="0"/>
          </a:p>
        </p:txBody>
      </p:sp>
      <p:sp>
        <p:nvSpPr>
          <p:cNvPr id="14" name="Shape 12"/>
          <p:cNvSpPr/>
          <p:nvPr/>
        </p:nvSpPr>
        <p:spPr>
          <a:xfrm>
            <a:off x="6306592" y="3698379"/>
            <a:ext cx="9695408" cy="9525"/>
          </a:xfrm>
          <a:prstGeom prst="rect">
            <a:avLst/>
          </a:prstGeom>
          <a:solidFill>
            <a:srgbClr val="201E1E">
              <a:alpha val="40000"/>
            </a:srgbClr>
          </a:solidFill>
          <a:ln/>
        </p:spPr>
        <p:txBody>
          <a:bodyPr/>
          <a:lstStyle/>
          <a:p>
            <a:endParaRPr lang="en-US"/>
          </a:p>
        </p:txBody>
      </p:sp>
      <p:sp>
        <p:nvSpPr>
          <p:cNvPr id="15" name="Text 13"/>
          <p:cNvSpPr/>
          <p:nvPr/>
        </p:nvSpPr>
        <p:spPr>
          <a:xfrm>
            <a:off x="6535192" y="3437253"/>
            <a:ext cx="9757670" cy="199518"/>
          </a:xfrm>
          <a:prstGeom prst="rect">
            <a:avLst/>
          </a:prstGeom>
          <a:noFill/>
          <a:ln/>
        </p:spPr>
        <p:txBody>
          <a:bodyPr wrap="square" lIns="25400" tIns="25400" rIns="25400" bIns="25400" rtlCol="0" anchor="ctr">
            <a:normAutofit fontScale="475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The model's parameters — all its learned weights</a:t>
            </a:r>
            <a:endParaRPr lang="en-US" sz="1800" dirty="0"/>
          </a:p>
        </p:txBody>
      </p:sp>
      <p:sp>
        <p:nvSpPr>
          <p:cNvPr id="16" name="Shape 14"/>
          <p:cNvSpPr/>
          <p:nvPr/>
        </p:nvSpPr>
        <p:spPr>
          <a:xfrm>
            <a:off x="1143000" y="4063975"/>
            <a:ext cx="2113880" cy="9525"/>
          </a:xfrm>
          <a:prstGeom prst="rect">
            <a:avLst/>
          </a:prstGeom>
          <a:solidFill>
            <a:srgbClr val="201E1E">
              <a:alpha val="40000"/>
            </a:srgbClr>
          </a:solidFill>
          <a:ln/>
        </p:spPr>
        <p:txBody>
          <a:bodyPr/>
          <a:lstStyle/>
          <a:p>
            <a:endParaRPr lang="en-US"/>
          </a:p>
        </p:txBody>
      </p:sp>
      <p:sp>
        <p:nvSpPr>
          <p:cNvPr id="17" name="Text 15"/>
          <p:cNvSpPr/>
          <p:nvPr/>
        </p:nvSpPr>
        <p:spPr>
          <a:xfrm>
            <a:off x="1143000" y="3807612"/>
            <a:ext cx="209666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α</a:t>
            </a:r>
            <a:endParaRPr lang="en-US" sz="1800" dirty="0"/>
          </a:p>
        </p:txBody>
      </p:sp>
      <p:sp>
        <p:nvSpPr>
          <p:cNvPr id="18" name="Shape 16"/>
          <p:cNvSpPr/>
          <p:nvPr/>
        </p:nvSpPr>
        <p:spPr>
          <a:xfrm>
            <a:off x="3256880" y="4063975"/>
            <a:ext cx="3049712" cy="9525"/>
          </a:xfrm>
          <a:prstGeom prst="rect">
            <a:avLst/>
          </a:prstGeom>
          <a:solidFill>
            <a:srgbClr val="201E1E">
              <a:alpha val="40000"/>
            </a:srgbClr>
          </a:solidFill>
          <a:ln/>
        </p:spPr>
        <p:txBody>
          <a:bodyPr/>
          <a:lstStyle/>
          <a:p>
            <a:endParaRPr lang="en-US"/>
          </a:p>
        </p:txBody>
      </p:sp>
      <p:sp>
        <p:nvSpPr>
          <p:cNvPr id="19" name="Text 17"/>
          <p:cNvSpPr/>
          <p:nvPr/>
        </p:nvSpPr>
        <p:spPr>
          <a:xfrm>
            <a:off x="3485480" y="3807612"/>
            <a:ext cx="289748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alpha</a:t>
            </a:r>
            <a:endParaRPr lang="en-US" sz="1800" dirty="0"/>
          </a:p>
        </p:txBody>
      </p:sp>
      <p:sp>
        <p:nvSpPr>
          <p:cNvPr id="20" name="Shape 18"/>
          <p:cNvSpPr/>
          <p:nvPr/>
        </p:nvSpPr>
        <p:spPr>
          <a:xfrm>
            <a:off x="6306592" y="4063975"/>
            <a:ext cx="9695408" cy="9525"/>
          </a:xfrm>
          <a:prstGeom prst="rect">
            <a:avLst/>
          </a:prstGeom>
          <a:solidFill>
            <a:srgbClr val="201E1E">
              <a:alpha val="40000"/>
            </a:srgbClr>
          </a:solidFill>
          <a:ln/>
        </p:spPr>
        <p:txBody>
          <a:bodyPr/>
          <a:lstStyle/>
          <a:p>
            <a:endParaRPr lang="en-US"/>
          </a:p>
        </p:txBody>
      </p:sp>
      <p:sp>
        <p:nvSpPr>
          <p:cNvPr id="21" name="Text 19"/>
          <p:cNvSpPr/>
          <p:nvPr/>
        </p:nvSpPr>
        <p:spPr>
          <a:xfrm>
            <a:off x="6535192" y="3807612"/>
            <a:ext cx="1043634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Learning rate — how big a step training takes</a:t>
            </a:r>
            <a:endParaRPr lang="en-US" sz="1800" dirty="0"/>
          </a:p>
        </p:txBody>
      </p:sp>
      <p:sp>
        <p:nvSpPr>
          <p:cNvPr id="22" name="Shape 20"/>
          <p:cNvSpPr/>
          <p:nvPr/>
        </p:nvSpPr>
        <p:spPr>
          <a:xfrm>
            <a:off x="1143000" y="4429571"/>
            <a:ext cx="2113880" cy="9525"/>
          </a:xfrm>
          <a:prstGeom prst="rect">
            <a:avLst/>
          </a:prstGeom>
          <a:solidFill>
            <a:srgbClr val="201E1E">
              <a:alpha val="40000"/>
            </a:srgbClr>
          </a:solidFill>
          <a:ln/>
        </p:spPr>
        <p:txBody>
          <a:bodyPr/>
          <a:lstStyle/>
          <a:p>
            <a:endParaRPr lang="en-US"/>
          </a:p>
        </p:txBody>
      </p:sp>
      <p:sp>
        <p:nvSpPr>
          <p:cNvPr id="23" name="Text 21"/>
          <p:cNvSpPr/>
          <p:nvPr/>
        </p:nvSpPr>
        <p:spPr>
          <a:xfrm>
            <a:off x="1143000" y="4173208"/>
            <a:ext cx="209666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λ</a:t>
            </a:r>
            <a:endParaRPr lang="en-US" sz="1800" dirty="0"/>
          </a:p>
        </p:txBody>
      </p:sp>
      <p:sp>
        <p:nvSpPr>
          <p:cNvPr id="24" name="Shape 22"/>
          <p:cNvSpPr/>
          <p:nvPr/>
        </p:nvSpPr>
        <p:spPr>
          <a:xfrm>
            <a:off x="3256880" y="4429571"/>
            <a:ext cx="3049712" cy="9525"/>
          </a:xfrm>
          <a:prstGeom prst="rect">
            <a:avLst/>
          </a:prstGeom>
          <a:solidFill>
            <a:srgbClr val="201E1E">
              <a:alpha val="40000"/>
            </a:srgbClr>
          </a:solidFill>
          <a:ln/>
        </p:spPr>
        <p:txBody>
          <a:bodyPr/>
          <a:lstStyle/>
          <a:p>
            <a:endParaRPr lang="en-US"/>
          </a:p>
        </p:txBody>
      </p:sp>
      <p:sp>
        <p:nvSpPr>
          <p:cNvPr id="25" name="Text 23"/>
          <p:cNvSpPr/>
          <p:nvPr/>
        </p:nvSpPr>
        <p:spPr>
          <a:xfrm>
            <a:off x="3485480" y="4173208"/>
            <a:ext cx="289748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lambda</a:t>
            </a:r>
            <a:endParaRPr lang="en-US" sz="1800" dirty="0"/>
          </a:p>
        </p:txBody>
      </p:sp>
      <p:sp>
        <p:nvSpPr>
          <p:cNvPr id="26" name="Shape 24"/>
          <p:cNvSpPr/>
          <p:nvPr/>
        </p:nvSpPr>
        <p:spPr>
          <a:xfrm>
            <a:off x="6306592" y="4429571"/>
            <a:ext cx="9695408" cy="9525"/>
          </a:xfrm>
          <a:prstGeom prst="rect">
            <a:avLst/>
          </a:prstGeom>
          <a:solidFill>
            <a:srgbClr val="201E1E">
              <a:alpha val="40000"/>
            </a:srgbClr>
          </a:solidFill>
          <a:ln/>
        </p:spPr>
        <p:txBody>
          <a:bodyPr/>
          <a:lstStyle/>
          <a:p>
            <a:endParaRPr lang="en-US"/>
          </a:p>
        </p:txBody>
      </p:sp>
      <p:sp>
        <p:nvSpPr>
          <p:cNvPr id="27" name="Text 25"/>
          <p:cNvSpPr/>
          <p:nvPr/>
        </p:nvSpPr>
        <p:spPr>
          <a:xfrm>
            <a:off x="6535192" y="4173208"/>
            <a:ext cx="1043634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An average rate (Poisson), or regularisation strength</a:t>
            </a:r>
            <a:endParaRPr lang="en-US" sz="1800" dirty="0"/>
          </a:p>
        </p:txBody>
      </p:sp>
      <p:sp>
        <p:nvSpPr>
          <p:cNvPr id="28" name="Shape 26"/>
          <p:cNvSpPr/>
          <p:nvPr/>
        </p:nvSpPr>
        <p:spPr>
          <a:xfrm>
            <a:off x="1143000" y="4795168"/>
            <a:ext cx="2113880" cy="9525"/>
          </a:xfrm>
          <a:prstGeom prst="rect">
            <a:avLst/>
          </a:prstGeom>
          <a:solidFill>
            <a:srgbClr val="201E1E">
              <a:alpha val="40000"/>
            </a:srgbClr>
          </a:solidFill>
          <a:ln/>
        </p:spPr>
        <p:txBody>
          <a:bodyPr/>
          <a:lstStyle/>
          <a:p>
            <a:endParaRPr lang="en-US"/>
          </a:p>
        </p:txBody>
      </p:sp>
      <p:sp>
        <p:nvSpPr>
          <p:cNvPr id="29" name="Text 27"/>
          <p:cNvSpPr/>
          <p:nvPr/>
        </p:nvSpPr>
        <p:spPr>
          <a:xfrm>
            <a:off x="1143000" y="4538804"/>
            <a:ext cx="209666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μ</a:t>
            </a:r>
            <a:endParaRPr lang="en-US" sz="1800" dirty="0"/>
          </a:p>
        </p:txBody>
      </p:sp>
      <p:sp>
        <p:nvSpPr>
          <p:cNvPr id="30" name="Shape 28"/>
          <p:cNvSpPr/>
          <p:nvPr/>
        </p:nvSpPr>
        <p:spPr>
          <a:xfrm>
            <a:off x="3256880" y="4795168"/>
            <a:ext cx="3049712" cy="9525"/>
          </a:xfrm>
          <a:prstGeom prst="rect">
            <a:avLst/>
          </a:prstGeom>
          <a:solidFill>
            <a:srgbClr val="201E1E">
              <a:alpha val="40000"/>
            </a:srgbClr>
          </a:solidFill>
          <a:ln/>
        </p:spPr>
        <p:txBody>
          <a:bodyPr/>
          <a:lstStyle/>
          <a:p>
            <a:endParaRPr lang="en-US"/>
          </a:p>
        </p:txBody>
      </p:sp>
      <p:sp>
        <p:nvSpPr>
          <p:cNvPr id="31" name="Text 29"/>
          <p:cNvSpPr/>
          <p:nvPr/>
        </p:nvSpPr>
        <p:spPr>
          <a:xfrm>
            <a:off x="3485480" y="4538804"/>
            <a:ext cx="289748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mu</a:t>
            </a:r>
            <a:endParaRPr lang="en-US" sz="1800" dirty="0"/>
          </a:p>
        </p:txBody>
      </p:sp>
      <p:sp>
        <p:nvSpPr>
          <p:cNvPr id="32" name="Shape 30"/>
          <p:cNvSpPr/>
          <p:nvPr/>
        </p:nvSpPr>
        <p:spPr>
          <a:xfrm>
            <a:off x="6306592" y="4795168"/>
            <a:ext cx="9695408" cy="9525"/>
          </a:xfrm>
          <a:prstGeom prst="rect">
            <a:avLst/>
          </a:prstGeom>
          <a:solidFill>
            <a:srgbClr val="201E1E">
              <a:alpha val="40000"/>
            </a:srgbClr>
          </a:solidFill>
          <a:ln/>
        </p:spPr>
        <p:txBody>
          <a:bodyPr/>
          <a:lstStyle/>
          <a:p>
            <a:endParaRPr lang="en-US"/>
          </a:p>
        </p:txBody>
      </p:sp>
      <p:sp>
        <p:nvSpPr>
          <p:cNvPr id="33" name="Text 31"/>
          <p:cNvSpPr/>
          <p:nvPr/>
        </p:nvSpPr>
        <p:spPr>
          <a:xfrm>
            <a:off x="6535192" y="4538804"/>
            <a:ext cx="1043634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The mean, or average</a:t>
            </a:r>
            <a:endParaRPr lang="en-US" sz="1800" dirty="0"/>
          </a:p>
        </p:txBody>
      </p:sp>
      <p:sp>
        <p:nvSpPr>
          <p:cNvPr id="34" name="Shape 32"/>
          <p:cNvSpPr/>
          <p:nvPr/>
        </p:nvSpPr>
        <p:spPr>
          <a:xfrm>
            <a:off x="1143000" y="5160764"/>
            <a:ext cx="2113880" cy="9525"/>
          </a:xfrm>
          <a:prstGeom prst="rect">
            <a:avLst/>
          </a:prstGeom>
          <a:solidFill>
            <a:srgbClr val="201E1E">
              <a:alpha val="40000"/>
            </a:srgbClr>
          </a:solidFill>
          <a:ln/>
        </p:spPr>
        <p:txBody>
          <a:bodyPr/>
          <a:lstStyle/>
          <a:p>
            <a:endParaRPr lang="en-US"/>
          </a:p>
        </p:txBody>
      </p:sp>
      <p:sp>
        <p:nvSpPr>
          <p:cNvPr id="35" name="Text 33"/>
          <p:cNvSpPr/>
          <p:nvPr/>
        </p:nvSpPr>
        <p:spPr>
          <a:xfrm>
            <a:off x="1143000" y="4904400"/>
            <a:ext cx="209666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σ, σ²</a:t>
            </a:r>
            <a:endParaRPr lang="en-US" sz="1800" dirty="0"/>
          </a:p>
        </p:txBody>
      </p:sp>
      <p:sp>
        <p:nvSpPr>
          <p:cNvPr id="36" name="Shape 34"/>
          <p:cNvSpPr/>
          <p:nvPr/>
        </p:nvSpPr>
        <p:spPr>
          <a:xfrm>
            <a:off x="3256880" y="5160764"/>
            <a:ext cx="3049712" cy="9525"/>
          </a:xfrm>
          <a:prstGeom prst="rect">
            <a:avLst/>
          </a:prstGeom>
          <a:solidFill>
            <a:srgbClr val="201E1E">
              <a:alpha val="40000"/>
            </a:srgbClr>
          </a:solidFill>
          <a:ln/>
        </p:spPr>
        <p:txBody>
          <a:bodyPr/>
          <a:lstStyle/>
          <a:p>
            <a:endParaRPr lang="en-US"/>
          </a:p>
        </p:txBody>
      </p:sp>
      <p:sp>
        <p:nvSpPr>
          <p:cNvPr id="37" name="Text 35"/>
          <p:cNvSpPr/>
          <p:nvPr/>
        </p:nvSpPr>
        <p:spPr>
          <a:xfrm>
            <a:off x="3485480" y="4904400"/>
            <a:ext cx="289748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sigma</a:t>
            </a:r>
            <a:endParaRPr lang="en-US" sz="1800" dirty="0"/>
          </a:p>
        </p:txBody>
      </p:sp>
      <p:sp>
        <p:nvSpPr>
          <p:cNvPr id="38" name="Shape 36"/>
          <p:cNvSpPr/>
          <p:nvPr/>
        </p:nvSpPr>
        <p:spPr>
          <a:xfrm>
            <a:off x="6306592" y="5160764"/>
            <a:ext cx="9695408" cy="9525"/>
          </a:xfrm>
          <a:prstGeom prst="rect">
            <a:avLst/>
          </a:prstGeom>
          <a:solidFill>
            <a:srgbClr val="201E1E">
              <a:alpha val="40000"/>
            </a:srgbClr>
          </a:solidFill>
          <a:ln/>
        </p:spPr>
        <p:txBody>
          <a:bodyPr/>
          <a:lstStyle/>
          <a:p>
            <a:endParaRPr lang="en-US"/>
          </a:p>
        </p:txBody>
      </p:sp>
      <p:sp>
        <p:nvSpPr>
          <p:cNvPr id="39" name="Text 37"/>
          <p:cNvSpPr/>
          <p:nvPr/>
        </p:nvSpPr>
        <p:spPr>
          <a:xfrm>
            <a:off x="6535192" y="4904400"/>
            <a:ext cx="1043634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Standard deviation and variance — spread</a:t>
            </a:r>
            <a:endParaRPr lang="en-US" sz="1800" dirty="0"/>
          </a:p>
        </p:txBody>
      </p:sp>
      <p:sp>
        <p:nvSpPr>
          <p:cNvPr id="40" name="Shape 38"/>
          <p:cNvSpPr/>
          <p:nvPr/>
        </p:nvSpPr>
        <p:spPr>
          <a:xfrm>
            <a:off x="1143000" y="5526360"/>
            <a:ext cx="2113880" cy="9525"/>
          </a:xfrm>
          <a:prstGeom prst="rect">
            <a:avLst/>
          </a:prstGeom>
          <a:solidFill>
            <a:srgbClr val="201E1E">
              <a:alpha val="40000"/>
            </a:srgbClr>
          </a:solidFill>
          <a:ln/>
        </p:spPr>
        <p:txBody>
          <a:bodyPr/>
          <a:lstStyle/>
          <a:p>
            <a:endParaRPr lang="en-US"/>
          </a:p>
        </p:txBody>
      </p:sp>
      <p:sp>
        <p:nvSpPr>
          <p:cNvPr id="41" name="Text 39"/>
          <p:cNvSpPr/>
          <p:nvPr/>
        </p:nvSpPr>
        <p:spPr>
          <a:xfrm>
            <a:off x="1143000" y="5269997"/>
            <a:ext cx="209666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t>
            </a:r>
            <a:endParaRPr lang="en-US" sz="1800" dirty="0"/>
          </a:p>
        </p:txBody>
      </p:sp>
      <p:sp>
        <p:nvSpPr>
          <p:cNvPr id="42" name="Shape 40"/>
          <p:cNvSpPr/>
          <p:nvPr/>
        </p:nvSpPr>
        <p:spPr>
          <a:xfrm>
            <a:off x="3256880" y="5526360"/>
            <a:ext cx="3049712" cy="9525"/>
          </a:xfrm>
          <a:prstGeom prst="rect">
            <a:avLst/>
          </a:prstGeom>
          <a:solidFill>
            <a:srgbClr val="201E1E">
              <a:alpha val="40000"/>
            </a:srgbClr>
          </a:solidFill>
          <a:ln/>
        </p:spPr>
        <p:txBody>
          <a:bodyPr/>
          <a:lstStyle/>
          <a:p>
            <a:endParaRPr lang="en-US"/>
          </a:p>
        </p:txBody>
      </p:sp>
      <p:sp>
        <p:nvSpPr>
          <p:cNvPr id="43" name="Text 41"/>
          <p:cNvSpPr/>
          <p:nvPr/>
        </p:nvSpPr>
        <p:spPr>
          <a:xfrm>
            <a:off x="3485480" y="5269997"/>
            <a:ext cx="289748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nabla, "grad"</a:t>
            </a:r>
            <a:endParaRPr lang="en-US" sz="1800" dirty="0"/>
          </a:p>
        </p:txBody>
      </p:sp>
      <p:sp>
        <p:nvSpPr>
          <p:cNvPr id="44" name="Shape 42"/>
          <p:cNvSpPr/>
          <p:nvPr/>
        </p:nvSpPr>
        <p:spPr>
          <a:xfrm>
            <a:off x="6306592" y="5526360"/>
            <a:ext cx="9695408" cy="9525"/>
          </a:xfrm>
          <a:prstGeom prst="rect">
            <a:avLst/>
          </a:prstGeom>
          <a:solidFill>
            <a:srgbClr val="201E1E">
              <a:alpha val="40000"/>
            </a:srgbClr>
          </a:solidFill>
          <a:ln/>
        </p:spPr>
        <p:txBody>
          <a:bodyPr/>
          <a:lstStyle/>
          <a:p>
            <a:endParaRPr lang="en-US"/>
          </a:p>
        </p:txBody>
      </p:sp>
      <p:sp>
        <p:nvSpPr>
          <p:cNvPr id="45" name="Text 43"/>
          <p:cNvSpPr/>
          <p:nvPr/>
        </p:nvSpPr>
        <p:spPr>
          <a:xfrm>
            <a:off x="6535192" y="5269997"/>
            <a:ext cx="1043634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The gradient — the vector of all slopes</a:t>
            </a:r>
            <a:endParaRPr lang="en-US" sz="1800" dirty="0"/>
          </a:p>
        </p:txBody>
      </p:sp>
      <p:sp>
        <p:nvSpPr>
          <p:cNvPr id="46" name="Shape 44"/>
          <p:cNvSpPr/>
          <p:nvPr/>
        </p:nvSpPr>
        <p:spPr>
          <a:xfrm>
            <a:off x="1143000" y="5891957"/>
            <a:ext cx="2113880" cy="9525"/>
          </a:xfrm>
          <a:prstGeom prst="rect">
            <a:avLst/>
          </a:prstGeom>
          <a:solidFill>
            <a:srgbClr val="201E1E">
              <a:alpha val="40000"/>
            </a:srgbClr>
          </a:solidFill>
          <a:ln/>
        </p:spPr>
        <p:txBody>
          <a:bodyPr/>
          <a:lstStyle/>
          <a:p>
            <a:endParaRPr lang="en-US"/>
          </a:p>
        </p:txBody>
      </p:sp>
      <p:sp>
        <p:nvSpPr>
          <p:cNvPr id="47" name="Text 45"/>
          <p:cNvSpPr/>
          <p:nvPr/>
        </p:nvSpPr>
        <p:spPr>
          <a:xfrm>
            <a:off x="1143000" y="5635593"/>
            <a:ext cx="209666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ε</a:t>
            </a:r>
            <a:endParaRPr lang="en-US" sz="1800" dirty="0"/>
          </a:p>
        </p:txBody>
      </p:sp>
      <p:sp>
        <p:nvSpPr>
          <p:cNvPr id="48" name="Shape 46"/>
          <p:cNvSpPr/>
          <p:nvPr/>
        </p:nvSpPr>
        <p:spPr>
          <a:xfrm>
            <a:off x="3256880" y="5891957"/>
            <a:ext cx="3049712" cy="9525"/>
          </a:xfrm>
          <a:prstGeom prst="rect">
            <a:avLst/>
          </a:prstGeom>
          <a:solidFill>
            <a:srgbClr val="201E1E">
              <a:alpha val="40000"/>
            </a:srgbClr>
          </a:solidFill>
          <a:ln/>
        </p:spPr>
        <p:txBody>
          <a:bodyPr/>
          <a:lstStyle/>
          <a:p>
            <a:endParaRPr lang="en-US"/>
          </a:p>
        </p:txBody>
      </p:sp>
      <p:sp>
        <p:nvSpPr>
          <p:cNvPr id="49" name="Text 47"/>
          <p:cNvSpPr/>
          <p:nvPr/>
        </p:nvSpPr>
        <p:spPr>
          <a:xfrm>
            <a:off x="3485480" y="5635593"/>
            <a:ext cx="289748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epsilon</a:t>
            </a:r>
            <a:endParaRPr lang="en-US" sz="1800" dirty="0"/>
          </a:p>
        </p:txBody>
      </p:sp>
      <p:sp>
        <p:nvSpPr>
          <p:cNvPr id="50" name="Shape 48"/>
          <p:cNvSpPr/>
          <p:nvPr/>
        </p:nvSpPr>
        <p:spPr>
          <a:xfrm>
            <a:off x="6306592" y="5891957"/>
            <a:ext cx="9695408" cy="9525"/>
          </a:xfrm>
          <a:prstGeom prst="rect">
            <a:avLst/>
          </a:prstGeom>
          <a:solidFill>
            <a:srgbClr val="201E1E">
              <a:alpha val="40000"/>
            </a:srgbClr>
          </a:solidFill>
          <a:ln/>
        </p:spPr>
        <p:txBody>
          <a:bodyPr/>
          <a:lstStyle/>
          <a:p>
            <a:endParaRPr lang="en-US"/>
          </a:p>
        </p:txBody>
      </p:sp>
      <p:sp>
        <p:nvSpPr>
          <p:cNvPr id="51" name="Text 49"/>
          <p:cNvSpPr/>
          <p:nvPr/>
        </p:nvSpPr>
        <p:spPr>
          <a:xfrm>
            <a:off x="6535192" y="5635593"/>
            <a:ext cx="1043634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 tiny number, usually added to avoid dividing by zero</a:t>
            </a:r>
            <a:endParaRPr lang="en-US" sz="1800" dirty="0"/>
          </a:p>
        </p:txBody>
      </p:sp>
      <p:sp>
        <p:nvSpPr>
          <p:cNvPr id="52" name="Shape 50"/>
          <p:cNvSpPr/>
          <p:nvPr/>
        </p:nvSpPr>
        <p:spPr>
          <a:xfrm>
            <a:off x="1143000" y="6257553"/>
            <a:ext cx="2113880" cy="9525"/>
          </a:xfrm>
          <a:prstGeom prst="rect">
            <a:avLst/>
          </a:prstGeom>
          <a:solidFill>
            <a:srgbClr val="201E1E">
              <a:alpha val="40000"/>
            </a:srgbClr>
          </a:solidFill>
          <a:ln/>
        </p:spPr>
        <p:txBody>
          <a:bodyPr/>
          <a:lstStyle/>
          <a:p>
            <a:endParaRPr lang="en-US"/>
          </a:p>
        </p:txBody>
      </p:sp>
      <p:sp>
        <p:nvSpPr>
          <p:cNvPr id="53" name="Text 51"/>
          <p:cNvSpPr/>
          <p:nvPr/>
        </p:nvSpPr>
        <p:spPr>
          <a:xfrm>
            <a:off x="1143000" y="6001189"/>
            <a:ext cx="209666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τ</a:t>
            </a:r>
            <a:endParaRPr lang="en-US" sz="1800" dirty="0"/>
          </a:p>
        </p:txBody>
      </p:sp>
      <p:sp>
        <p:nvSpPr>
          <p:cNvPr id="54" name="Shape 52"/>
          <p:cNvSpPr/>
          <p:nvPr/>
        </p:nvSpPr>
        <p:spPr>
          <a:xfrm>
            <a:off x="3256880" y="6257553"/>
            <a:ext cx="3049712" cy="9525"/>
          </a:xfrm>
          <a:prstGeom prst="rect">
            <a:avLst/>
          </a:prstGeom>
          <a:solidFill>
            <a:srgbClr val="201E1E">
              <a:alpha val="40000"/>
            </a:srgbClr>
          </a:solidFill>
          <a:ln/>
        </p:spPr>
        <p:txBody>
          <a:bodyPr/>
          <a:lstStyle/>
          <a:p>
            <a:endParaRPr lang="en-US"/>
          </a:p>
        </p:txBody>
      </p:sp>
      <p:sp>
        <p:nvSpPr>
          <p:cNvPr id="55" name="Text 53"/>
          <p:cNvSpPr/>
          <p:nvPr/>
        </p:nvSpPr>
        <p:spPr>
          <a:xfrm>
            <a:off x="3485480" y="6001189"/>
            <a:ext cx="289748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tau</a:t>
            </a:r>
            <a:endParaRPr lang="en-US" sz="1800" dirty="0"/>
          </a:p>
        </p:txBody>
      </p:sp>
      <p:sp>
        <p:nvSpPr>
          <p:cNvPr id="56" name="Shape 54"/>
          <p:cNvSpPr/>
          <p:nvPr/>
        </p:nvSpPr>
        <p:spPr>
          <a:xfrm>
            <a:off x="6306592" y="6257553"/>
            <a:ext cx="9695408" cy="9525"/>
          </a:xfrm>
          <a:prstGeom prst="rect">
            <a:avLst/>
          </a:prstGeom>
          <a:solidFill>
            <a:srgbClr val="201E1E">
              <a:alpha val="40000"/>
            </a:srgbClr>
          </a:solidFill>
          <a:ln/>
        </p:spPr>
        <p:txBody>
          <a:bodyPr/>
          <a:lstStyle/>
          <a:p>
            <a:endParaRPr lang="en-US"/>
          </a:p>
        </p:txBody>
      </p:sp>
      <p:sp>
        <p:nvSpPr>
          <p:cNvPr id="57" name="Text 55"/>
          <p:cNvSpPr/>
          <p:nvPr/>
        </p:nvSpPr>
        <p:spPr>
          <a:xfrm>
            <a:off x="6535192" y="6001189"/>
            <a:ext cx="1043634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Temperature — how random a model's sampling is</a:t>
            </a:r>
            <a:endParaRPr lang="en-US" sz="1800" dirty="0"/>
          </a:p>
        </p:txBody>
      </p:sp>
      <p:sp>
        <p:nvSpPr>
          <p:cNvPr id="58" name="Shape 56"/>
          <p:cNvSpPr/>
          <p:nvPr/>
        </p:nvSpPr>
        <p:spPr>
          <a:xfrm>
            <a:off x="1143000" y="6623149"/>
            <a:ext cx="2113880" cy="9525"/>
          </a:xfrm>
          <a:prstGeom prst="rect">
            <a:avLst/>
          </a:prstGeom>
          <a:solidFill>
            <a:srgbClr val="201E1E">
              <a:alpha val="40000"/>
            </a:srgbClr>
          </a:solidFill>
          <a:ln/>
        </p:spPr>
        <p:txBody>
          <a:bodyPr/>
          <a:lstStyle/>
          <a:p>
            <a:endParaRPr lang="en-US"/>
          </a:p>
        </p:txBody>
      </p:sp>
      <p:sp>
        <p:nvSpPr>
          <p:cNvPr id="59" name="Text 57"/>
          <p:cNvSpPr/>
          <p:nvPr/>
        </p:nvSpPr>
        <p:spPr>
          <a:xfrm>
            <a:off x="1143000" y="6366786"/>
            <a:ext cx="209666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θ (angle)</a:t>
            </a:r>
            <a:endParaRPr lang="en-US" sz="1800" dirty="0"/>
          </a:p>
        </p:txBody>
      </p:sp>
      <p:sp>
        <p:nvSpPr>
          <p:cNvPr id="60" name="Shape 58"/>
          <p:cNvSpPr/>
          <p:nvPr/>
        </p:nvSpPr>
        <p:spPr>
          <a:xfrm>
            <a:off x="3256880" y="6623149"/>
            <a:ext cx="3049712" cy="9525"/>
          </a:xfrm>
          <a:prstGeom prst="rect">
            <a:avLst/>
          </a:prstGeom>
          <a:solidFill>
            <a:srgbClr val="201E1E">
              <a:alpha val="40000"/>
            </a:srgbClr>
          </a:solidFill>
          <a:ln/>
        </p:spPr>
        <p:txBody>
          <a:bodyPr/>
          <a:lstStyle/>
          <a:p>
            <a:endParaRPr lang="en-US"/>
          </a:p>
        </p:txBody>
      </p:sp>
      <p:sp>
        <p:nvSpPr>
          <p:cNvPr id="61" name="Text 59"/>
          <p:cNvSpPr/>
          <p:nvPr/>
        </p:nvSpPr>
        <p:spPr>
          <a:xfrm>
            <a:off x="3485480" y="6366786"/>
            <a:ext cx="289748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theta</a:t>
            </a:r>
            <a:endParaRPr lang="en-US" sz="1800" dirty="0"/>
          </a:p>
        </p:txBody>
      </p:sp>
      <p:sp>
        <p:nvSpPr>
          <p:cNvPr id="62" name="Shape 60"/>
          <p:cNvSpPr/>
          <p:nvPr/>
        </p:nvSpPr>
        <p:spPr>
          <a:xfrm>
            <a:off x="6306592" y="6623149"/>
            <a:ext cx="9695408" cy="9525"/>
          </a:xfrm>
          <a:prstGeom prst="rect">
            <a:avLst/>
          </a:prstGeom>
          <a:solidFill>
            <a:srgbClr val="201E1E">
              <a:alpha val="40000"/>
            </a:srgbClr>
          </a:solidFill>
          <a:ln/>
        </p:spPr>
        <p:txBody>
          <a:bodyPr/>
          <a:lstStyle/>
          <a:p>
            <a:endParaRPr lang="en-US"/>
          </a:p>
        </p:txBody>
      </p:sp>
      <p:sp>
        <p:nvSpPr>
          <p:cNvPr id="63" name="Text 61"/>
          <p:cNvSpPr/>
          <p:nvPr/>
        </p:nvSpPr>
        <p:spPr>
          <a:xfrm>
            <a:off x="6535192" y="6366786"/>
            <a:ext cx="1043634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In cos(θ), the angle between two vectors</a:t>
            </a:r>
            <a:endParaRPr lang="en-US" sz="1800" dirty="0"/>
          </a:p>
        </p:txBody>
      </p:sp>
      <p:pic>
        <p:nvPicPr>
          <p:cNvPr id="64" name="Image 0" descr="preencoded.png"/>
          <p:cNvPicPr>
            <a:picLocks noChangeAspect="1"/>
          </p:cNvPicPr>
          <p:nvPr/>
        </p:nvPicPr>
        <p:blipFill>
          <a:blip r:embed="rId3"/>
          <a:stretch>
            <a:fillRect/>
          </a:stretch>
        </p:blipFill>
        <p:spPr>
          <a:xfrm>
            <a:off x="1143000" y="8987210"/>
            <a:ext cx="5566544" cy="1567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SESSION 2 · ORIENTATION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Where each topic lives in an AI system</a:t>
            </a:r>
            <a:endParaRPr lang="en-US" sz="4800" dirty="0"/>
          </a:p>
        </p:txBody>
      </p:sp>
      <p:sp>
        <p:nvSpPr>
          <p:cNvPr id="4" name="Shape 2"/>
          <p:cNvSpPr/>
          <p:nvPr/>
        </p:nvSpPr>
        <p:spPr>
          <a:xfrm>
            <a:off x="1143000" y="3318495"/>
            <a:ext cx="5942781" cy="19050"/>
          </a:xfrm>
          <a:prstGeom prst="rect">
            <a:avLst/>
          </a:prstGeom>
          <a:solidFill>
            <a:srgbClr val="201E1E">
              <a:alpha val="40000"/>
            </a:srgbClr>
          </a:solidFill>
          <a:ln/>
        </p:spPr>
        <p:txBody>
          <a:bodyPr/>
          <a:lstStyle/>
          <a:p>
            <a:endParaRPr lang="en-US"/>
          </a:p>
        </p:txBody>
      </p:sp>
      <p:sp>
        <p:nvSpPr>
          <p:cNvPr id="5" name="Text 3"/>
          <p:cNvSpPr/>
          <p:nvPr/>
        </p:nvSpPr>
        <p:spPr>
          <a:xfrm>
            <a:off x="1143000" y="3072806"/>
            <a:ext cx="6308460" cy="192308"/>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STAGE IN THE SYSTEM</a:t>
            </a:r>
            <a:endParaRPr lang="en-US" sz="1800" dirty="0"/>
          </a:p>
        </p:txBody>
      </p:sp>
      <p:sp>
        <p:nvSpPr>
          <p:cNvPr id="6" name="Shape 4"/>
          <p:cNvSpPr/>
          <p:nvPr/>
        </p:nvSpPr>
        <p:spPr>
          <a:xfrm>
            <a:off x="7085781" y="3318495"/>
            <a:ext cx="8916219" cy="19050"/>
          </a:xfrm>
          <a:prstGeom prst="rect">
            <a:avLst/>
          </a:prstGeom>
          <a:solidFill>
            <a:srgbClr val="201E1E">
              <a:alpha val="40000"/>
            </a:srgbClr>
          </a:solidFill>
          <a:ln/>
        </p:spPr>
        <p:txBody>
          <a:bodyPr/>
          <a:lstStyle/>
          <a:p>
            <a:endParaRPr lang="en-US"/>
          </a:p>
        </p:txBody>
      </p:sp>
      <p:sp>
        <p:nvSpPr>
          <p:cNvPr id="7" name="Text 5"/>
          <p:cNvSpPr/>
          <p:nvPr/>
        </p:nvSpPr>
        <p:spPr>
          <a:xfrm>
            <a:off x="7314381" y="3072806"/>
            <a:ext cx="9579240" cy="192308"/>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THE MATHEMATICS BEHIND IT</a:t>
            </a:r>
            <a:endParaRPr lang="en-US" sz="1800" dirty="0"/>
          </a:p>
        </p:txBody>
      </p:sp>
      <p:sp>
        <p:nvSpPr>
          <p:cNvPr id="8" name="Shape 6"/>
          <p:cNvSpPr/>
          <p:nvPr/>
        </p:nvSpPr>
        <p:spPr>
          <a:xfrm>
            <a:off x="1143000" y="3698379"/>
            <a:ext cx="5942781" cy="9525"/>
          </a:xfrm>
          <a:prstGeom prst="rect">
            <a:avLst/>
          </a:prstGeom>
          <a:solidFill>
            <a:srgbClr val="201E1E">
              <a:alpha val="40000"/>
            </a:srgbClr>
          </a:solidFill>
          <a:ln/>
        </p:spPr>
        <p:txBody>
          <a:bodyPr/>
          <a:lstStyle/>
          <a:p>
            <a:endParaRPr lang="en-US"/>
          </a:p>
        </p:txBody>
      </p:sp>
      <p:sp>
        <p:nvSpPr>
          <p:cNvPr id="9" name="Text 7"/>
          <p:cNvSpPr/>
          <p:nvPr/>
        </p:nvSpPr>
        <p:spPr>
          <a:xfrm>
            <a:off x="1143000" y="3437253"/>
            <a:ext cx="5892465" cy="199518"/>
          </a:xfrm>
          <a:prstGeom prst="rect">
            <a:avLst/>
          </a:prstGeom>
          <a:noFill/>
          <a:ln/>
        </p:spPr>
        <p:txBody>
          <a:bodyPr wrap="square" lIns="25400" tIns="25400" rIns="25400" bIns="25400" rtlCol="0" anchor="ctr">
            <a:normAutofit fontScale="475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Deciding what to try at all</a:t>
            </a:r>
            <a:endParaRPr lang="en-US" sz="1800" dirty="0"/>
          </a:p>
        </p:txBody>
      </p:sp>
      <p:sp>
        <p:nvSpPr>
          <p:cNvPr id="10" name="Shape 8"/>
          <p:cNvSpPr/>
          <p:nvPr/>
        </p:nvSpPr>
        <p:spPr>
          <a:xfrm>
            <a:off x="7085781" y="3698379"/>
            <a:ext cx="8916219" cy="9525"/>
          </a:xfrm>
          <a:prstGeom prst="rect">
            <a:avLst/>
          </a:prstGeom>
          <a:solidFill>
            <a:srgbClr val="201E1E">
              <a:alpha val="40000"/>
            </a:srgbClr>
          </a:solidFill>
          <a:ln/>
        </p:spPr>
        <p:txBody>
          <a:bodyPr/>
          <a:lstStyle/>
          <a:p>
            <a:endParaRPr lang="en-US"/>
          </a:p>
        </p:txBody>
      </p:sp>
      <p:sp>
        <p:nvSpPr>
          <p:cNvPr id="11" name="Text 9"/>
          <p:cNvSpPr/>
          <p:nvPr/>
        </p:nvSpPr>
        <p:spPr>
          <a:xfrm>
            <a:off x="7314381" y="3437253"/>
            <a:ext cx="8955105" cy="199518"/>
          </a:xfrm>
          <a:prstGeom prst="rect">
            <a:avLst/>
          </a:prstGeom>
          <a:noFill/>
          <a:ln/>
        </p:spPr>
        <p:txBody>
          <a:bodyPr wrap="square" lIns="25400" tIns="25400" rIns="25400" bIns="25400" rtlCol="0" anchor="ctr">
            <a:normAutofit fontScale="475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Counting, permutations, combinations</a:t>
            </a:r>
            <a:endParaRPr lang="en-US" sz="1800" dirty="0"/>
          </a:p>
        </p:txBody>
      </p:sp>
      <p:sp>
        <p:nvSpPr>
          <p:cNvPr id="12" name="Shape 10"/>
          <p:cNvSpPr/>
          <p:nvPr/>
        </p:nvSpPr>
        <p:spPr>
          <a:xfrm>
            <a:off x="1143000" y="4063975"/>
            <a:ext cx="5942781" cy="9525"/>
          </a:xfrm>
          <a:prstGeom prst="rect">
            <a:avLst/>
          </a:prstGeom>
          <a:solidFill>
            <a:srgbClr val="201E1E">
              <a:alpha val="40000"/>
            </a:srgbClr>
          </a:solidFill>
          <a:ln/>
        </p:spPr>
        <p:txBody>
          <a:bodyPr/>
          <a:lstStyle/>
          <a:p>
            <a:endParaRPr lang="en-US"/>
          </a:p>
        </p:txBody>
      </p:sp>
      <p:sp>
        <p:nvSpPr>
          <p:cNvPr id="13" name="Text 11"/>
          <p:cNvSpPr/>
          <p:nvPr/>
        </p:nvSpPr>
        <p:spPr>
          <a:xfrm>
            <a:off x="1143000" y="3807612"/>
            <a:ext cx="630846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Reasoning under uncertainty</a:t>
            </a:r>
            <a:endParaRPr lang="en-US" sz="1800" dirty="0"/>
          </a:p>
        </p:txBody>
      </p:sp>
      <p:sp>
        <p:nvSpPr>
          <p:cNvPr id="14" name="Shape 12"/>
          <p:cNvSpPr/>
          <p:nvPr/>
        </p:nvSpPr>
        <p:spPr>
          <a:xfrm>
            <a:off x="7085781" y="4063975"/>
            <a:ext cx="8916219" cy="9525"/>
          </a:xfrm>
          <a:prstGeom prst="rect">
            <a:avLst/>
          </a:prstGeom>
          <a:solidFill>
            <a:srgbClr val="201E1E">
              <a:alpha val="40000"/>
            </a:srgbClr>
          </a:solidFill>
          <a:ln/>
        </p:spPr>
        <p:txBody>
          <a:bodyPr/>
          <a:lstStyle/>
          <a:p>
            <a:endParaRPr lang="en-US"/>
          </a:p>
        </p:txBody>
      </p:sp>
      <p:sp>
        <p:nvSpPr>
          <p:cNvPr id="15" name="Text 13"/>
          <p:cNvSpPr/>
          <p:nvPr/>
        </p:nvSpPr>
        <p:spPr>
          <a:xfrm>
            <a:off x="7314381" y="3807612"/>
            <a:ext cx="95792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Probability, conditional probability, Bayes</a:t>
            </a:r>
            <a:endParaRPr lang="en-US" sz="1800" dirty="0"/>
          </a:p>
        </p:txBody>
      </p:sp>
      <p:sp>
        <p:nvSpPr>
          <p:cNvPr id="16" name="Shape 14"/>
          <p:cNvSpPr/>
          <p:nvPr/>
        </p:nvSpPr>
        <p:spPr>
          <a:xfrm>
            <a:off x="1143000" y="4429571"/>
            <a:ext cx="5942781" cy="9525"/>
          </a:xfrm>
          <a:prstGeom prst="rect">
            <a:avLst/>
          </a:prstGeom>
          <a:solidFill>
            <a:srgbClr val="201E1E">
              <a:alpha val="40000"/>
            </a:srgbClr>
          </a:solidFill>
          <a:ln/>
        </p:spPr>
        <p:txBody>
          <a:bodyPr/>
          <a:lstStyle/>
          <a:p>
            <a:endParaRPr lang="en-US"/>
          </a:p>
        </p:txBody>
      </p:sp>
      <p:sp>
        <p:nvSpPr>
          <p:cNvPr id="17" name="Text 15"/>
          <p:cNvSpPr/>
          <p:nvPr/>
        </p:nvSpPr>
        <p:spPr>
          <a:xfrm>
            <a:off x="1143000" y="4173208"/>
            <a:ext cx="630846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Forecasting counts and volumes</a:t>
            </a:r>
            <a:endParaRPr lang="en-US" sz="1800" dirty="0"/>
          </a:p>
        </p:txBody>
      </p:sp>
      <p:sp>
        <p:nvSpPr>
          <p:cNvPr id="18" name="Shape 16"/>
          <p:cNvSpPr/>
          <p:nvPr/>
        </p:nvSpPr>
        <p:spPr>
          <a:xfrm>
            <a:off x="7085781" y="4429571"/>
            <a:ext cx="8916219" cy="9525"/>
          </a:xfrm>
          <a:prstGeom prst="rect">
            <a:avLst/>
          </a:prstGeom>
          <a:solidFill>
            <a:srgbClr val="201E1E">
              <a:alpha val="40000"/>
            </a:srgbClr>
          </a:solidFill>
          <a:ln/>
        </p:spPr>
        <p:txBody>
          <a:bodyPr/>
          <a:lstStyle/>
          <a:p>
            <a:endParaRPr lang="en-US"/>
          </a:p>
        </p:txBody>
      </p:sp>
      <p:sp>
        <p:nvSpPr>
          <p:cNvPr id="19" name="Text 17"/>
          <p:cNvSpPr/>
          <p:nvPr/>
        </p:nvSpPr>
        <p:spPr>
          <a:xfrm>
            <a:off x="7314381" y="4173208"/>
            <a:ext cx="95792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Binomial and Poisson distributions, sampling</a:t>
            </a:r>
            <a:endParaRPr lang="en-US" sz="1800" dirty="0"/>
          </a:p>
        </p:txBody>
      </p:sp>
      <p:sp>
        <p:nvSpPr>
          <p:cNvPr id="20" name="Shape 18"/>
          <p:cNvSpPr/>
          <p:nvPr/>
        </p:nvSpPr>
        <p:spPr>
          <a:xfrm>
            <a:off x="1143000" y="4795168"/>
            <a:ext cx="5942781" cy="9525"/>
          </a:xfrm>
          <a:prstGeom prst="rect">
            <a:avLst/>
          </a:prstGeom>
          <a:solidFill>
            <a:srgbClr val="201E1E">
              <a:alpha val="40000"/>
            </a:srgbClr>
          </a:solidFill>
          <a:ln/>
        </p:spPr>
        <p:txBody>
          <a:bodyPr/>
          <a:lstStyle/>
          <a:p>
            <a:endParaRPr lang="en-US"/>
          </a:p>
        </p:txBody>
      </p:sp>
      <p:sp>
        <p:nvSpPr>
          <p:cNvPr id="21" name="Text 19"/>
          <p:cNvSpPr/>
          <p:nvPr/>
        </p:nvSpPr>
        <p:spPr>
          <a:xfrm>
            <a:off x="1143000" y="4538804"/>
            <a:ext cx="630846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Turning text into numbers</a:t>
            </a:r>
            <a:endParaRPr lang="en-US" sz="1800" dirty="0"/>
          </a:p>
        </p:txBody>
      </p:sp>
      <p:sp>
        <p:nvSpPr>
          <p:cNvPr id="22" name="Shape 20"/>
          <p:cNvSpPr/>
          <p:nvPr/>
        </p:nvSpPr>
        <p:spPr>
          <a:xfrm>
            <a:off x="7085781" y="4795168"/>
            <a:ext cx="8916219" cy="9525"/>
          </a:xfrm>
          <a:prstGeom prst="rect">
            <a:avLst/>
          </a:prstGeom>
          <a:solidFill>
            <a:srgbClr val="201E1E">
              <a:alpha val="40000"/>
            </a:srgbClr>
          </a:solidFill>
          <a:ln/>
        </p:spPr>
        <p:txBody>
          <a:bodyPr/>
          <a:lstStyle/>
          <a:p>
            <a:endParaRPr lang="en-US"/>
          </a:p>
        </p:txBody>
      </p:sp>
      <p:sp>
        <p:nvSpPr>
          <p:cNvPr id="23" name="Text 21"/>
          <p:cNvSpPr/>
          <p:nvPr/>
        </p:nvSpPr>
        <p:spPr>
          <a:xfrm>
            <a:off x="7314381" y="4538804"/>
            <a:ext cx="95792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Vectors, embeddings, semantic space</a:t>
            </a:r>
            <a:endParaRPr lang="en-US" sz="1800" dirty="0"/>
          </a:p>
        </p:txBody>
      </p:sp>
      <p:sp>
        <p:nvSpPr>
          <p:cNvPr id="24" name="Shape 22"/>
          <p:cNvSpPr/>
          <p:nvPr/>
        </p:nvSpPr>
        <p:spPr>
          <a:xfrm>
            <a:off x="1143000" y="5160764"/>
            <a:ext cx="5942781" cy="9525"/>
          </a:xfrm>
          <a:prstGeom prst="rect">
            <a:avLst/>
          </a:prstGeom>
          <a:solidFill>
            <a:srgbClr val="201E1E">
              <a:alpha val="40000"/>
            </a:srgbClr>
          </a:solidFill>
          <a:ln/>
        </p:spPr>
        <p:txBody>
          <a:bodyPr/>
          <a:lstStyle/>
          <a:p>
            <a:endParaRPr lang="en-US"/>
          </a:p>
        </p:txBody>
      </p:sp>
      <p:sp>
        <p:nvSpPr>
          <p:cNvPr id="25" name="Text 23"/>
          <p:cNvSpPr/>
          <p:nvPr/>
        </p:nvSpPr>
        <p:spPr>
          <a:xfrm>
            <a:off x="1143000" y="4904400"/>
            <a:ext cx="630846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Finding relevant documents (RAG)</a:t>
            </a:r>
            <a:endParaRPr lang="en-US" sz="1800" dirty="0"/>
          </a:p>
        </p:txBody>
      </p:sp>
      <p:sp>
        <p:nvSpPr>
          <p:cNvPr id="26" name="Shape 24"/>
          <p:cNvSpPr/>
          <p:nvPr/>
        </p:nvSpPr>
        <p:spPr>
          <a:xfrm>
            <a:off x="7085781" y="5160764"/>
            <a:ext cx="8916219" cy="9525"/>
          </a:xfrm>
          <a:prstGeom prst="rect">
            <a:avLst/>
          </a:prstGeom>
          <a:solidFill>
            <a:srgbClr val="201E1E">
              <a:alpha val="40000"/>
            </a:srgbClr>
          </a:solidFill>
          <a:ln/>
        </p:spPr>
        <p:txBody>
          <a:bodyPr/>
          <a:lstStyle/>
          <a:p>
            <a:endParaRPr lang="en-US"/>
          </a:p>
        </p:txBody>
      </p:sp>
      <p:sp>
        <p:nvSpPr>
          <p:cNvPr id="27" name="Text 25"/>
          <p:cNvSpPr/>
          <p:nvPr/>
        </p:nvSpPr>
        <p:spPr>
          <a:xfrm>
            <a:off x="7314381" y="4904400"/>
            <a:ext cx="95792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Dot products, cosine similarity</a:t>
            </a:r>
            <a:endParaRPr lang="en-US" sz="1800" dirty="0"/>
          </a:p>
        </p:txBody>
      </p:sp>
      <p:sp>
        <p:nvSpPr>
          <p:cNvPr id="28" name="Shape 26"/>
          <p:cNvSpPr/>
          <p:nvPr/>
        </p:nvSpPr>
        <p:spPr>
          <a:xfrm>
            <a:off x="1143000" y="5526360"/>
            <a:ext cx="5942781" cy="9525"/>
          </a:xfrm>
          <a:prstGeom prst="rect">
            <a:avLst/>
          </a:prstGeom>
          <a:solidFill>
            <a:srgbClr val="201E1E">
              <a:alpha val="40000"/>
            </a:srgbClr>
          </a:solidFill>
          <a:ln/>
        </p:spPr>
        <p:txBody>
          <a:bodyPr/>
          <a:lstStyle/>
          <a:p>
            <a:endParaRPr lang="en-US"/>
          </a:p>
        </p:txBody>
      </p:sp>
      <p:sp>
        <p:nvSpPr>
          <p:cNvPr id="29" name="Text 27"/>
          <p:cNvSpPr/>
          <p:nvPr/>
        </p:nvSpPr>
        <p:spPr>
          <a:xfrm>
            <a:off x="1143000" y="5269997"/>
            <a:ext cx="630846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Passing data through a model</a:t>
            </a:r>
            <a:endParaRPr lang="en-US" sz="1800" dirty="0"/>
          </a:p>
        </p:txBody>
      </p:sp>
      <p:sp>
        <p:nvSpPr>
          <p:cNvPr id="30" name="Shape 28"/>
          <p:cNvSpPr/>
          <p:nvPr/>
        </p:nvSpPr>
        <p:spPr>
          <a:xfrm>
            <a:off x="7085781" y="5526360"/>
            <a:ext cx="8916219" cy="9525"/>
          </a:xfrm>
          <a:prstGeom prst="rect">
            <a:avLst/>
          </a:prstGeom>
          <a:solidFill>
            <a:srgbClr val="201E1E">
              <a:alpha val="40000"/>
            </a:srgbClr>
          </a:solidFill>
          <a:ln/>
        </p:spPr>
        <p:txBody>
          <a:bodyPr/>
          <a:lstStyle/>
          <a:p>
            <a:endParaRPr lang="en-US"/>
          </a:p>
        </p:txBody>
      </p:sp>
      <p:sp>
        <p:nvSpPr>
          <p:cNvPr id="31" name="Text 29"/>
          <p:cNvSpPr/>
          <p:nvPr/>
        </p:nvSpPr>
        <p:spPr>
          <a:xfrm>
            <a:off x="7314381" y="5269997"/>
            <a:ext cx="95792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Matrix and tensor operations, shapes</a:t>
            </a:r>
            <a:endParaRPr lang="en-US" sz="1800" dirty="0"/>
          </a:p>
        </p:txBody>
      </p:sp>
      <p:sp>
        <p:nvSpPr>
          <p:cNvPr id="32" name="Shape 30"/>
          <p:cNvSpPr/>
          <p:nvPr/>
        </p:nvSpPr>
        <p:spPr>
          <a:xfrm>
            <a:off x="1143000" y="5891957"/>
            <a:ext cx="5942781" cy="9525"/>
          </a:xfrm>
          <a:prstGeom prst="rect">
            <a:avLst/>
          </a:prstGeom>
          <a:solidFill>
            <a:srgbClr val="201E1E">
              <a:alpha val="40000"/>
            </a:srgbClr>
          </a:solidFill>
          <a:ln/>
        </p:spPr>
        <p:txBody>
          <a:bodyPr/>
          <a:lstStyle/>
          <a:p>
            <a:endParaRPr lang="en-US"/>
          </a:p>
        </p:txBody>
      </p:sp>
      <p:sp>
        <p:nvSpPr>
          <p:cNvPr id="33" name="Text 31"/>
          <p:cNvSpPr/>
          <p:nvPr/>
        </p:nvSpPr>
        <p:spPr>
          <a:xfrm>
            <a:off x="1143000" y="5635593"/>
            <a:ext cx="630846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Training and fine-tuning</a:t>
            </a:r>
            <a:endParaRPr lang="en-US" sz="1800" dirty="0"/>
          </a:p>
        </p:txBody>
      </p:sp>
      <p:sp>
        <p:nvSpPr>
          <p:cNvPr id="34" name="Shape 32"/>
          <p:cNvSpPr/>
          <p:nvPr/>
        </p:nvSpPr>
        <p:spPr>
          <a:xfrm>
            <a:off x="7085781" y="5891957"/>
            <a:ext cx="8916219" cy="9525"/>
          </a:xfrm>
          <a:prstGeom prst="rect">
            <a:avLst/>
          </a:prstGeom>
          <a:solidFill>
            <a:srgbClr val="201E1E">
              <a:alpha val="40000"/>
            </a:srgbClr>
          </a:solidFill>
          <a:ln/>
        </p:spPr>
        <p:txBody>
          <a:bodyPr/>
          <a:lstStyle/>
          <a:p>
            <a:endParaRPr lang="en-US"/>
          </a:p>
        </p:txBody>
      </p:sp>
      <p:sp>
        <p:nvSpPr>
          <p:cNvPr id="35" name="Text 33"/>
          <p:cNvSpPr/>
          <p:nvPr/>
        </p:nvSpPr>
        <p:spPr>
          <a:xfrm>
            <a:off x="7314381" y="5635593"/>
            <a:ext cx="95792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Calculus, gradients, gradient descent</a:t>
            </a:r>
            <a:endParaRPr lang="en-US" sz="1800" dirty="0"/>
          </a:p>
        </p:txBody>
      </p:sp>
      <p:sp>
        <p:nvSpPr>
          <p:cNvPr id="36" name="Shape 34"/>
          <p:cNvSpPr/>
          <p:nvPr/>
        </p:nvSpPr>
        <p:spPr>
          <a:xfrm>
            <a:off x="1143000" y="6257553"/>
            <a:ext cx="5942781" cy="9525"/>
          </a:xfrm>
          <a:prstGeom prst="rect">
            <a:avLst/>
          </a:prstGeom>
          <a:solidFill>
            <a:srgbClr val="201E1E">
              <a:alpha val="40000"/>
            </a:srgbClr>
          </a:solidFill>
          <a:ln/>
        </p:spPr>
        <p:txBody>
          <a:bodyPr/>
          <a:lstStyle/>
          <a:p>
            <a:endParaRPr lang="en-US"/>
          </a:p>
        </p:txBody>
      </p:sp>
      <p:sp>
        <p:nvSpPr>
          <p:cNvPr id="37" name="Text 35"/>
          <p:cNvSpPr/>
          <p:nvPr/>
        </p:nvSpPr>
        <p:spPr>
          <a:xfrm>
            <a:off x="1143000" y="6001189"/>
            <a:ext cx="630846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Choosing the next token</a:t>
            </a:r>
            <a:endParaRPr lang="en-US" sz="1800" dirty="0"/>
          </a:p>
        </p:txBody>
      </p:sp>
      <p:sp>
        <p:nvSpPr>
          <p:cNvPr id="38" name="Shape 36"/>
          <p:cNvSpPr/>
          <p:nvPr/>
        </p:nvSpPr>
        <p:spPr>
          <a:xfrm>
            <a:off x="7085781" y="6257553"/>
            <a:ext cx="8916219" cy="9525"/>
          </a:xfrm>
          <a:prstGeom prst="rect">
            <a:avLst/>
          </a:prstGeom>
          <a:solidFill>
            <a:srgbClr val="201E1E">
              <a:alpha val="40000"/>
            </a:srgbClr>
          </a:solidFill>
          <a:ln/>
        </p:spPr>
        <p:txBody>
          <a:bodyPr/>
          <a:lstStyle/>
          <a:p>
            <a:endParaRPr lang="en-US"/>
          </a:p>
        </p:txBody>
      </p:sp>
      <p:sp>
        <p:nvSpPr>
          <p:cNvPr id="39" name="Text 37"/>
          <p:cNvSpPr/>
          <p:nvPr/>
        </p:nvSpPr>
        <p:spPr>
          <a:xfrm>
            <a:off x="7314381" y="6001189"/>
            <a:ext cx="95792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Softmax, temperature, sampling</a:t>
            </a:r>
            <a:endParaRPr lang="en-US" sz="1800" dirty="0"/>
          </a:p>
        </p:txBody>
      </p:sp>
      <p:sp>
        <p:nvSpPr>
          <p:cNvPr id="40" name="Shape 38"/>
          <p:cNvSpPr/>
          <p:nvPr/>
        </p:nvSpPr>
        <p:spPr>
          <a:xfrm>
            <a:off x="1143000" y="6623149"/>
            <a:ext cx="5942781" cy="9525"/>
          </a:xfrm>
          <a:prstGeom prst="rect">
            <a:avLst/>
          </a:prstGeom>
          <a:solidFill>
            <a:srgbClr val="201E1E">
              <a:alpha val="40000"/>
            </a:srgbClr>
          </a:solidFill>
          <a:ln/>
        </p:spPr>
        <p:txBody>
          <a:bodyPr/>
          <a:lstStyle/>
          <a:p>
            <a:endParaRPr lang="en-US"/>
          </a:p>
        </p:txBody>
      </p:sp>
      <p:sp>
        <p:nvSpPr>
          <p:cNvPr id="41" name="Text 39"/>
          <p:cNvSpPr/>
          <p:nvPr/>
        </p:nvSpPr>
        <p:spPr>
          <a:xfrm>
            <a:off x="1143000" y="6366786"/>
            <a:ext cx="630846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Measuring quality</a:t>
            </a:r>
            <a:endParaRPr lang="en-US" sz="1800" dirty="0"/>
          </a:p>
        </p:txBody>
      </p:sp>
      <p:sp>
        <p:nvSpPr>
          <p:cNvPr id="42" name="Shape 40"/>
          <p:cNvSpPr/>
          <p:nvPr/>
        </p:nvSpPr>
        <p:spPr>
          <a:xfrm>
            <a:off x="7085781" y="6623149"/>
            <a:ext cx="8916219" cy="9525"/>
          </a:xfrm>
          <a:prstGeom prst="rect">
            <a:avLst/>
          </a:prstGeom>
          <a:solidFill>
            <a:srgbClr val="201E1E">
              <a:alpha val="40000"/>
            </a:srgbClr>
          </a:solidFill>
          <a:ln/>
        </p:spPr>
        <p:txBody>
          <a:bodyPr/>
          <a:lstStyle/>
          <a:p>
            <a:endParaRPr lang="en-US"/>
          </a:p>
        </p:txBody>
      </p:sp>
      <p:sp>
        <p:nvSpPr>
          <p:cNvPr id="43" name="Text 41"/>
          <p:cNvSpPr/>
          <p:nvPr/>
        </p:nvSpPr>
        <p:spPr>
          <a:xfrm>
            <a:off x="7314381" y="6366786"/>
            <a:ext cx="95792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Entropy, cross-entropy, perplexity, precision and recall</a:t>
            </a:r>
            <a:endParaRPr lang="en-US" sz="1800" dirty="0"/>
          </a:p>
        </p:txBody>
      </p:sp>
      <p:sp>
        <p:nvSpPr>
          <p:cNvPr id="44" name="Shape 42"/>
          <p:cNvSpPr/>
          <p:nvPr/>
        </p:nvSpPr>
        <p:spPr>
          <a:xfrm>
            <a:off x="1143000" y="6988746"/>
            <a:ext cx="5942781" cy="9525"/>
          </a:xfrm>
          <a:prstGeom prst="rect">
            <a:avLst/>
          </a:prstGeom>
          <a:solidFill>
            <a:srgbClr val="201E1E">
              <a:alpha val="40000"/>
            </a:srgbClr>
          </a:solidFill>
          <a:ln/>
        </p:spPr>
        <p:txBody>
          <a:bodyPr/>
          <a:lstStyle/>
          <a:p>
            <a:endParaRPr lang="en-US"/>
          </a:p>
        </p:txBody>
      </p:sp>
      <p:sp>
        <p:nvSpPr>
          <p:cNvPr id="45" name="Text 43"/>
          <p:cNvSpPr/>
          <p:nvPr/>
        </p:nvSpPr>
        <p:spPr>
          <a:xfrm>
            <a:off x="1143000" y="6732382"/>
            <a:ext cx="630846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Deciding what an agent does next</a:t>
            </a:r>
            <a:endParaRPr lang="en-US" sz="1800" dirty="0"/>
          </a:p>
        </p:txBody>
      </p:sp>
      <p:sp>
        <p:nvSpPr>
          <p:cNvPr id="46" name="Shape 44"/>
          <p:cNvSpPr/>
          <p:nvPr/>
        </p:nvSpPr>
        <p:spPr>
          <a:xfrm>
            <a:off x="7085781" y="6988746"/>
            <a:ext cx="8916219" cy="9525"/>
          </a:xfrm>
          <a:prstGeom prst="rect">
            <a:avLst/>
          </a:prstGeom>
          <a:solidFill>
            <a:srgbClr val="201E1E">
              <a:alpha val="40000"/>
            </a:srgbClr>
          </a:solidFill>
          <a:ln/>
        </p:spPr>
        <p:txBody>
          <a:bodyPr/>
          <a:lstStyle/>
          <a:p>
            <a:endParaRPr lang="en-US"/>
          </a:p>
        </p:txBody>
      </p:sp>
      <p:sp>
        <p:nvSpPr>
          <p:cNvPr id="47" name="Text 45"/>
          <p:cNvSpPr/>
          <p:nvPr/>
        </p:nvSpPr>
        <p:spPr>
          <a:xfrm>
            <a:off x="7314381" y="6732382"/>
            <a:ext cx="95792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Utility, argmax, cumulative reward</a:t>
            </a:r>
            <a:endParaRPr lang="en-US" sz="1800" dirty="0"/>
          </a:p>
        </p:txBody>
      </p:sp>
      <p:pic>
        <p:nvPicPr>
          <p:cNvPr id="48" name="Image 0" descr="preencoded.png"/>
          <p:cNvPicPr>
            <a:picLocks noChangeAspect="1"/>
          </p:cNvPicPr>
          <p:nvPr/>
        </p:nvPicPr>
        <p:blipFill>
          <a:blip r:embed="rId3"/>
          <a:stretch>
            <a:fillRect/>
          </a:stretch>
        </p:blipFill>
        <p:spPr>
          <a:xfrm>
            <a:off x="1143000" y="8987210"/>
            <a:ext cx="5566544" cy="1567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3013"/>
        </a:solidFill>
        <a:effectLst/>
      </p:bgPr>
    </p:bg>
    <p:spTree>
      <p:nvGrpSpPr>
        <p:cNvPr id="1" name=""/>
        <p:cNvGrpSpPr/>
        <p:nvPr/>
      </p:nvGrpSpPr>
      <p:grpSpPr>
        <a:xfrm>
          <a:off x="0" y="0"/>
          <a:ext cx="0" cy="0"/>
          <a:chOff x="0" y="0"/>
          <a:chExt cx="0" cy="0"/>
        </a:xfrm>
      </p:grpSpPr>
      <p:sp>
        <p:nvSpPr>
          <p:cNvPr id="2" name="Text 0"/>
          <p:cNvSpPr/>
          <p:nvPr/>
        </p:nvSpPr>
        <p:spPr>
          <a:xfrm>
            <a:off x="1031602" y="2782044"/>
            <a:ext cx="2921176" cy="2266950"/>
          </a:xfrm>
          <a:prstGeom prst="rect">
            <a:avLst/>
          </a:prstGeom>
          <a:noFill/>
          <a:ln/>
        </p:spPr>
        <p:txBody>
          <a:bodyPr wrap="square" lIns="25400" tIns="25400" rIns="25400" bIns="25400" rtlCol="0" anchor="t">
            <a:normAutofit lnSpcReduction="10000"/>
          </a:bodyPr>
          <a:lstStyle/>
          <a:p>
            <a:pPr marL="0" indent="0" algn="l">
              <a:lnSpc>
                <a:spcPct val="78261"/>
              </a:lnSpc>
              <a:buNone/>
            </a:pPr>
            <a:r>
              <a:rPr lang="en-US" sz="19500" b="1" kern="0" spc="-390" dirty="0">
                <a:solidFill>
                  <a:srgbClr val="AE1800"/>
                </a:solidFill>
                <a:latin typeface="Arial" pitchFamily="34" charset="0"/>
                <a:ea typeface="Arial" pitchFamily="34" charset="-122"/>
                <a:cs typeface="Arial" pitchFamily="34" charset="-120"/>
              </a:rPr>
              <a:t>01</a:t>
            </a:r>
            <a:endParaRPr lang="en-US" sz="19500" dirty="0"/>
          </a:p>
        </p:txBody>
      </p:sp>
      <p:sp>
        <p:nvSpPr>
          <p:cNvPr id="3" name="Text 1"/>
          <p:cNvSpPr/>
          <p:nvPr/>
        </p:nvSpPr>
        <p:spPr>
          <a:xfrm>
            <a:off x="1107652" y="5468094"/>
            <a:ext cx="7526681" cy="474762"/>
          </a:xfrm>
          <a:prstGeom prst="rect">
            <a:avLst/>
          </a:prstGeom>
          <a:noFill/>
          <a:ln/>
        </p:spPr>
        <p:txBody>
          <a:bodyPr wrap="square" lIns="25400" tIns="25400" rIns="25400" bIns="25400" rtlCol="0" anchor="t">
            <a:noAutofit/>
          </a:bodyPr>
          <a:lstStyle/>
          <a:p>
            <a:pPr marL="0" indent="0" algn="l">
              <a:lnSpc>
                <a:spcPct val="97959"/>
              </a:lnSpc>
              <a:buNone/>
            </a:pPr>
            <a:r>
              <a:rPr lang="en-US" sz="4800" b="1" kern="0" spc="-72" dirty="0">
                <a:solidFill>
                  <a:srgbClr val="F3F2F2"/>
                </a:solidFill>
                <a:latin typeface="Arial" pitchFamily="34" charset="0"/>
                <a:ea typeface="Arial" pitchFamily="34" charset="-122"/>
                <a:cs typeface="Arial" pitchFamily="34" charset="-120"/>
              </a:rPr>
              <a:t>Counting &amp; Probability</a:t>
            </a:r>
            <a:endParaRPr lang="en-US" sz="4800" dirty="0"/>
          </a:p>
        </p:txBody>
      </p:sp>
      <p:sp>
        <p:nvSpPr>
          <p:cNvPr id="4" name="Text 2"/>
          <p:cNvSpPr/>
          <p:nvPr/>
        </p:nvSpPr>
        <p:spPr>
          <a:xfrm>
            <a:off x="1143000" y="6361956"/>
            <a:ext cx="8989790" cy="9525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3000" dirty="0">
                <a:solidFill>
                  <a:srgbClr val="F3F2F2"/>
                </a:solidFill>
                <a:latin typeface="Arial" pitchFamily="34" charset="0"/>
                <a:ea typeface="Arial" pitchFamily="34" charset="-122"/>
                <a:cs typeface="Arial" pitchFamily="34" charset="-120"/>
              </a:rPr>
              <a:t>Permutations · Combinations · Probability · Bayes · Distributions · Sampling</a:t>
            </a:r>
            <a:endParaRPr lang="en-US" sz="3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01 · COUNTING &amp; COMBINATIONS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Do I need this?</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Yes, if you…</a:t>
            </a:r>
            <a:endParaRPr lang="en-US" sz="2550" dirty="0"/>
          </a:p>
        </p:txBody>
      </p:sp>
      <p:sp>
        <p:nvSpPr>
          <p:cNvPr id="6" name="Text 4"/>
          <p:cNvSpPr/>
          <p:nvPr/>
        </p:nvSpPr>
        <p:spPr>
          <a:xfrm>
            <a:off x="1143000" y="3931741"/>
            <a:ext cx="5180076" cy="15926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Plan a hyperparameter sweep, design an A/B test, build a recommender that bundles products, or estimate how long a search will take.</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What breaks without it</a:t>
            </a:r>
            <a:endParaRPr lang="en-US" sz="2550" dirty="0"/>
          </a:p>
        </p:txBody>
      </p:sp>
      <p:sp>
        <p:nvSpPr>
          <p:cNvPr id="9" name="Text 7"/>
          <p:cNvSpPr/>
          <p:nvPr/>
        </p:nvSpPr>
        <p:spPr>
          <a:xfrm>
            <a:off x="6629400" y="3931741"/>
            <a:ext cx="5180076" cy="15926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You launch a grid search that would take eleven days, or you quote a "quick test of a few settings" that is 600 training runs.</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Time to competence</a:t>
            </a:r>
            <a:endParaRPr lang="en-US" sz="2550" dirty="0"/>
          </a:p>
        </p:txBody>
      </p:sp>
      <p:sp>
        <p:nvSpPr>
          <p:cNvPr id="12" name="Text 10"/>
          <p:cNvSpPr/>
          <p:nvPr/>
        </p:nvSpPr>
        <p:spPr>
          <a:xfrm>
            <a:off x="12115800" y="39317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An hour. Two formulas, one idea — whether order matters — and everything else follows from that single question.</a:t>
            </a:r>
            <a:endParaRPr lang="en-US" sz="2100" dirty="0"/>
          </a:p>
        </p:txBody>
      </p:sp>
      <p:sp>
        <p:nvSpPr>
          <p:cNvPr id="13" name="Shape 11"/>
          <p:cNvSpPr/>
          <p:nvPr/>
        </p:nvSpPr>
        <p:spPr>
          <a:xfrm>
            <a:off x="1143000" y="7165628"/>
            <a:ext cx="16002000" cy="19050"/>
          </a:xfrm>
          <a:prstGeom prst="rect">
            <a:avLst/>
          </a:prstGeom>
          <a:solidFill>
            <a:srgbClr val="EC3013"/>
          </a:solidFill>
          <a:ln/>
        </p:spPr>
        <p:txBody>
          <a:bodyPr/>
          <a:lstStyle/>
          <a:p>
            <a:endParaRPr lang="en-US"/>
          </a:p>
        </p:txBody>
      </p:sp>
      <p:sp>
        <p:nvSpPr>
          <p:cNvPr id="14" name="Text 12"/>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15" name="Text 13"/>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Counting is the first step of every optimisation: hyperparameter search, prompt-variant testing, retrieval candidate sets, and the top-k orderings a ranker must compare.</a:t>
            </a:r>
            <a:endParaRPr lang="en-US" sz="2100" dirty="0"/>
          </a:p>
        </p:txBody>
      </p:sp>
      <p:pic>
        <p:nvPicPr>
          <p:cNvPr id="16"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01 · PRACTICAL INTUITION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Count the options before you choose one</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Thinking about AI means holding three questions at once — and the third one is arithmetic before it is anything else.</a:t>
            </a:r>
            <a:endParaRPr lang="en-US" sz="2100" dirty="0"/>
          </a:p>
        </p:txBody>
      </p:sp>
      <p:sp>
        <p:nvSpPr>
          <p:cNvPr id="5" name="Shape 3"/>
          <p:cNvSpPr/>
          <p:nvPr/>
        </p:nvSpPr>
        <p:spPr>
          <a:xfrm>
            <a:off x="1143000" y="3762375"/>
            <a:ext cx="5029200" cy="19050"/>
          </a:xfrm>
          <a:prstGeom prst="rect">
            <a:avLst/>
          </a:prstGeom>
          <a:solidFill>
            <a:srgbClr val="201E1E">
              <a:alpha val="40000"/>
            </a:srgbClr>
          </a:solidFill>
          <a:ln/>
        </p:spPr>
        <p:txBody>
          <a:bodyPr/>
          <a:lstStyle/>
          <a:p>
            <a:endParaRPr lang="en-US"/>
          </a:p>
        </p:txBody>
      </p:sp>
      <p:sp>
        <p:nvSpPr>
          <p:cNvPr id="6" name="Text 4"/>
          <p:cNvSpPr/>
          <p:nvPr/>
        </p:nvSpPr>
        <p:spPr>
          <a:xfrm>
            <a:off x="1143000" y="39970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Scientist</a:t>
            </a:r>
            <a:endParaRPr lang="en-US" sz="2550" dirty="0"/>
          </a:p>
        </p:txBody>
      </p:sp>
      <p:sp>
        <p:nvSpPr>
          <p:cNvPr id="7" name="Text 5"/>
          <p:cNvSpPr/>
          <p:nvPr/>
        </p:nvSpPr>
        <p:spPr>
          <a:xfrm>
            <a:off x="1143000" y="4503241"/>
            <a:ext cx="5532120" cy="221084"/>
          </a:xfrm>
          <a:prstGeom prst="rect">
            <a:avLst/>
          </a:prstGeom>
          <a:noFill/>
          <a:ln/>
        </p:spPr>
        <p:txBody>
          <a:bodyPr wrap="square" lIns="25400" tIns="25400" rIns="25400" bIns="25400" rtlCol="0" anchor="t">
            <a:no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What does the data show?</a:t>
            </a:r>
            <a:endParaRPr lang="en-US" sz="2100" dirty="0"/>
          </a:p>
        </p:txBody>
      </p:sp>
      <p:sp>
        <p:nvSpPr>
          <p:cNvPr id="8" name="Shape 6"/>
          <p:cNvSpPr/>
          <p:nvPr/>
        </p:nvSpPr>
        <p:spPr>
          <a:xfrm>
            <a:off x="6629400" y="3762375"/>
            <a:ext cx="5029200" cy="19050"/>
          </a:xfrm>
          <a:prstGeom prst="rect">
            <a:avLst/>
          </a:prstGeom>
          <a:solidFill>
            <a:srgbClr val="201E1E">
              <a:alpha val="40000"/>
            </a:srgbClr>
          </a:solidFill>
          <a:ln/>
        </p:spPr>
        <p:txBody>
          <a:bodyPr/>
          <a:lstStyle/>
          <a:p>
            <a:endParaRPr lang="en-US"/>
          </a:p>
        </p:txBody>
      </p:sp>
      <p:sp>
        <p:nvSpPr>
          <p:cNvPr id="9" name="Text 7"/>
          <p:cNvSpPr/>
          <p:nvPr/>
        </p:nvSpPr>
        <p:spPr>
          <a:xfrm>
            <a:off x="6629400" y="39970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Engineer</a:t>
            </a:r>
            <a:endParaRPr lang="en-US" sz="2550" dirty="0"/>
          </a:p>
        </p:txBody>
      </p:sp>
      <p:sp>
        <p:nvSpPr>
          <p:cNvPr id="10" name="Text 8"/>
          <p:cNvSpPr/>
          <p:nvPr/>
        </p:nvSpPr>
        <p:spPr>
          <a:xfrm>
            <a:off x="6629400" y="4503241"/>
            <a:ext cx="5532120"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How do I build something reliable with it?</a:t>
            </a:r>
            <a:endParaRPr lang="en-US" sz="2100" dirty="0"/>
          </a:p>
        </p:txBody>
      </p:sp>
      <p:sp>
        <p:nvSpPr>
          <p:cNvPr id="11" name="Shape 9"/>
          <p:cNvSpPr/>
          <p:nvPr/>
        </p:nvSpPr>
        <p:spPr>
          <a:xfrm>
            <a:off x="12115800" y="3762375"/>
            <a:ext cx="5029200" cy="19050"/>
          </a:xfrm>
          <a:prstGeom prst="rect">
            <a:avLst/>
          </a:prstGeom>
          <a:solidFill>
            <a:srgbClr val="201E1E">
              <a:alpha val="40000"/>
            </a:srgbClr>
          </a:solidFill>
          <a:ln/>
        </p:spPr>
        <p:txBody>
          <a:bodyPr/>
          <a:lstStyle/>
          <a:p>
            <a:endParaRPr lang="en-US"/>
          </a:p>
        </p:txBody>
      </p:sp>
      <p:sp>
        <p:nvSpPr>
          <p:cNvPr id="12" name="Text 10"/>
          <p:cNvSpPr/>
          <p:nvPr/>
        </p:nvSpPr>
        <p:spPr>
          <a:xfrm>
            <a:off x="12115800" y="39970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Decision maker</a:t>
            </a:r>
            <a:endParaRPr lang="en-US" sz="2550" dirty="0"/>
          </a:p>
        </p:txBody>
      </p:sp>
      <p:sp>
        <p:nvSpPr>
          <p:cNvPr id="13" name="Text 11"/>
          <p:cNvSpPr/>
          <p:nvPr/>
        </p:nvSpPr>
        <p:spPr>
          <a:xfrm>
            <a:off x="12115800" y="4503241"/>
            <a:ext cx="5180076" cy="678284"/>
          </a:xfrm>
          <a:prstGeom prst="rect">
            <a:avLst/>
          </a:prstGeom>
          <a:noFill/>
          <a:ln/>
        </p:spPr>
        <p:txBody>
          <a:bodyPr wrap="square" lIns="25400" tIns="25400" rIns="25400" bIns="25400" rtlCol="0" anchor="t">
            <a:normAutofit fontScale="85000" lnSpcReduction="1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What is the best choice, given all the possibilities?</a:t>
            </a:r>
            <a:endParaRPr lang="en-US" sz="2100" dirty="0"/>
          </a:p>
        </p:txBody>
      </p:sp>
      <p:sp>
        <p:nvSpPr>
          <p:cNvPr id="14" name="Shape 12"/>
          <p:cNvSpPr/>
          <p:nvPr/>
        </p:nvSpPr>
        <p:spPr>
          <a:xfrm>
            <a:off x="1143000" y="7165628"/>
            <a:ext cx="16002000" cy="19050"/>
          </a:xfrm>
          <a:prstGeom prst="rect">
            <a:avLst/>
          </a:prstGeom>
          <a:solidFill>
            <a:srgbClr val="EC3013"/>
          </a:solidFill>
          <a:ln/>
        </p:spPr>
        <p:txBody>
          <a:bodyPr/>
          <a:lstStyle/>
          <a:p>
            <a:endParaRPr lang="en-US"/>
          </a:p>
        </p:txBody>
      </p:sp>
      <p:sp>
        <p:nvSpPr>
          <p:cNvPr id="15" name="Text 13"/>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WHY IT MATTERS</a:t>
            </a:r>
            <a:endParaRPr lang="en-US" sz="1800" dirty="0"/>
          </a:p>
        </p:txBody>
      </p:sp>
      <p:sp>
        <p:nvSpPr>
          <p:cNvPr id="16" name="Text 14"/>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Permutations and combinations are the building blocks of that third question. They let a system count and compare possibilities before picking the best one.</a:t>
            </a:r>
            <a:endParaRPr lang="en-US" sz="2100" dirty="0"/>
          </a:p>
        </p:txBody>
      </p:sp>
      <p:pic>
        <p:nvPicPr>
          <p:cNvPr id="17"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01 · FOUNDATION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Factorial: the ways to arrange things</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Line up three people — A, B, C — in a row. How many different line-ups are there? Fill the slots one at a time.</a:t>
            </a:r>
            <a:endParaRPr lang="en-US" sz="2100" dirty="0"/>
          </a:p>
        </p:txBody>
      </p:sp>
      <p:sp>
        <p:nvSpPr>
          <p:cNvPr id="5" name="Shape 3"/>
          <p:cNvSpPr/>
          <p:nvPr/>
        </p:nvSpPr>
        <p:spPr>
          <a:xfrm>
            <a:off x="1143000" y="34290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39508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36079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36079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First slot: any of the 3 people can stand there. </a:t>
            </a:r>
            <a:r>
              <a:rPr lang="en-US" sz="2100" b="1" dirty="0">
                <a:solidFill>
                  <a:srgbClr val="201E1D"/>
                </a:solidFill>
                <a:latin typeface="Arial" pitchFamily="34" charset="0"/>
                <a:ea typeface="Arial" pitchFamily="34" charset="-122"/>
                <a:cs typeface="Arial" pitchFamily="34" charset="-120"/>
              </a:rPr>
              <a:t>3 choices</a:t>
            </a:r>
            <a:endParaRPr lang="en-US" sz="2100" dirty="0"/>
          </a:p>
        </p:txBody>
      </p:sp>
      <p:sp>
        <p:nvSpPr>
          <p:cNvPr id="9" name="Shape 7"/>
          <p:cNvSpPr/>
          <p:nvPr/>
        </p:nvSpPr>
        <p:spPr>
          <a:xfrm>
            <a:off x="1143000" y="44632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1203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1203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Second slot: one person is already placed, so </a:t>
            </a:r>
            <a:r>
              <a:rPr lang="en-US" sz="2100" b="1" dirty="0">
                <a:solidFill>
                  <a:srgbClr val="201E1D"/>
                </a:solidFill>
                <a:latin typeface="Arial" pitchFamily="34" charset="0"/>
                <a:ea typeface="Arial" pitchFamily="34" charset="-122"/>
                <a:cs typeface="Arial" pitchFamily="34" charset="-120"/>
              </a:rPr>
              <a:t>2 choices </a:t>
            </a:r>
            <a:r>
              <a:rPr lang="en-US" sz="2100" dirty="0">
                <a:solidFill>
                  <a:srgbClr val="201E1D"/>
                </a:solidFill>
                <a:latin typeface="Arial" pitchFamily="34" charset="0"/>
                <a:ea typeface="Arial" pitchFamily="34" charset="-122"/>
                <a:cs typeface="Arial" pitchFamily="34" charset="-120"/>
              </a:rPr>
              <a:t>remain</a:t>
            </a:r>
            <a:endParaRPr lang="en-US" sz="2100" dirty="0"/>
          </a:p>
        </p:txBody>
      </p:sp>
      <p:sp>
        <p:nvSpPr>
          <p:cNvPr id="12" name="Shape 10"/>
          <p:cNvSpPr/>
          <p:nvPr/>
        </p:nvSpPr>
        <p:spPr>
          <a:xfrm>
            <a:off x="1143000" y="49755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46326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46326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Third slot: only one person is left. </a:t>
            </a:r>
            <a:r>
              <a:rPr lang="en-US" sz="2100" b="1" dirty="0">
                <a:solidFill>
                  <a:srgbClr val="201E1D"/>
                </a:solidFill>
                <a:latin typeface="Arial" pitchFamily="34" charset="0"/>
                <a:ea typeface="Arial" pitchFamily="34" charset="-122"/>
                <a:cs typeface="Arial" pitchFamily="34" charset="-120"/>
              </a:rPr>
              <a:t>1 choice</a:t>
            </a:r>
            <a:endParaRPr lang="en-US" sz="2100" dirty="0"/>
          </a:p>
        </p:txBody>
      </p:sp>
      <p:sp>
        <p:nvSpPr>
          <p:cNvPr id="15" name="Shape 13"/>
          <p:cNvSpPr/>
          <p:nvPr/>
        </p:nvSpPr>
        <p:spPr>
          <a:xfrm>
            <a:off x="1143000" y="5495925"/>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144988"/>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17" name="Text 15"/>
          <p:cNvSpPr/>
          <p:nvPr/>
        </p:nvSpPr>
        <p:spPr>
          <a:xfrm>
            <a:off x="1981200" y="5144988"/>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3 × 2 × 1 = 6 arrangements — written 3!</a:t>
            </a:r>
            <a:endParaRPr lang="en-US" sz="2100" dirty="0"/>
          </a:p>
        </p:txBody>
      </p:sp>
      <p:sp>
        <p:nvSpPr>
          <p:cNvPr id="18" name="Shape 16"/>
          <p:cNvSpPr/>
          <p:nvPr/>
        </p:nvSpPr>
        <p:spPr>
          <a:xfrm>
            <a:off x="1143000" y="6419850"/>
            <a:ext cx="2788890" cy="742950"/>
          </a:xfrm>
          <a:prstGeom prst="rect">
            <a:avLst/>
          </a:prstGeom>
          <a:ln w="19050">
            <a:solidFill>
              <a:srgbClr val="201E1E">
                <a:alpha val="40000"/>
              </a:srgbClr>
            </a:solidFill>
            <a:prstDash val="solid"/>
          </a:ln>
        </p:spPr>
        <p:txBody>
          <a:bodyPr/>
          <a:lstStyle/>
          <a:p>
            <a:endParaRPr lang="en-US"/>
          </a:p>
        </p:txBody>
      </p:sp>
      <p:sp>
        <p:nvSpPr>
          <p:cNvPr id="19" name="Text 17"/>
          <p:cNvSpPr/>
          <p:nvPr/>
        </p:nvSpPr>
        <p:spPr>
          <a:xfrm>
            <a:off x="1390650" y="6629400"/>
            <a:ext cx="2377257" cy="361950"/>
          </a:xfrm>
          <a:prstGeom prst="rect">
            <a:avLst/>
          </a:prstGeom>
          <a:noFill/>
          <a:ln/>
        </p:spPr>
        <p:txBody>
          <a:bodyPr wrap="square" lIns="25400" tIns="25400" rIns="25400" bIns="25400" rtlCol="0" anchor="t">
            <a:normAutofit lnSpcReduction="10000"/>
          </a:bodyPr>
          <a:lstStyle/>
          <a:p>
            <a:pPr marL="0" indent="0" algn="l">
              <a:lnSpc>
                <a:spcPct val="123636"/>
              </a:lnSpc>
              <a:buNone/>
            </a:pPr>
            <a:r>
              <a:rPr lang="en-US" sz="1800" dirty="0">
                <a:solidFill>
                  <a:srgbClr val="201E1D"/>
                </a:solidFill>
                <a:latin typeface="Arial" pitchFamily="34" charset="0"/>
                <a:ea typeface="Arial" pitchFamily="34" charset="-122"/>
                <a:cs typeface="Arial" pitchFamily="34" charset="-120"/>
              </a:rPr>
              <a:t>ABC</a:t>
            </a:r>
            <a:endParaRPr lang="en-US" sz="1800" dirty="0"/>
          </a:p>
        </p:txBody>
      </p:sp>
      <p:sp>
        <p:nvSpPr>
          <p:cNvPr id="20" name="Shape 18"/>
          <p:cNvSpPr/>
          <p:nvPr/>
        </p:nvSpPr>
        <p:spPr>
          <a:xfrm>
            <a:off x="4160490" y="6419850"/>
            <a:ext cx="2788890" cy="742950"/>
          </a:xfrm>
          <a:prstGeom prst="rect">
            <a:avLst/>
          </a:prstGeom>
          <a:ln w="19050">
            <a:solidFill>
              <a:srgbClr val="201E1E">
                <a:alpha val="40000"/>
              </a:srgbClr>
            </a:solidFill>
            <a:prstDash val="solid"/>
          </a:ln>
        </p:spPr>
        <p:txBody>
          <a:bodyPr/>
          <a:lstStyle/>
          <a:p>
            <a:endParaRPr lang="en-US"/>
          </a:p>
        </p:txBody>
      </p:sp>
      <p:sp>
        <p:nvSpPr>
          <p:cNvPr id="21" name="Text 19"/>
          <p:cNvSpPr/>
          <p:nvPr/>
        </p:nvSpPr>
        <p:spPr>
          <a:xfrm>
            <a:off x="4408140" y="6629400"/>
            <a:ext cx="2377257" cy="361950"/>
          </a:xfrm>
          <a:prstGeom prst="rect">
            <a:avLst/>
          </a:prstGeom>
          <a:noFill/>
          <a:ln/>
        </p:spPr>
        <p:txBody>
          <a:bodyPr wrap="square" lIns="25400" tIns="25400" rIns="25400" bIns="25400" rtlCol="0" anchor="t">
            <a:normAutofit lnSpcReduction="10000"/>
          </a:bodyPr>
          <a:lstStyle/>
          <a:p>
            <a:pPr marL="0" indent="0" algn="l">
              <a:lnSpc>
                <a:spcPct val="123636"/>
              </a:lnSpc>
              <a:buNone/>
            </a:pPr>
            <a:r>
              <a:rPr lang="en-US" sz="1800" dirty="0">
                <a:solidFill>
                  <a:srgbClr val="201E1D"/>
                </a:solidFill>
                <a:latin typeface="Arial" pitchFamily="34" charset="0"/>
                <a:ea typeface="Arial" pitchFamily="34" charset="-122"/>
                <a:cs typeface="Arial" pitchFamily="34" charset="-120"/>
              </a:rPr>
              <a:t>ACB</a:t>
            </a:r>
            <a:endParaRPr lang="en-US" sz="1800" dirty="0"/>
          </a:p>
        </p:txBody>
      </p:sp>
      <p:sp>
        <p:nvSpPr>
          <p:cNvPr id="22" name="Shape 20"/>
          <p:cNvSpPr/>
          <p:nvPr/>
        </p:nvSpPr>
        <p:spPr>
          <a:xfrm>
            <a:off x="7177980" y="6419850"/>
            <a:ext cx="2788965" cy="742950"/>
          </a:xfrm>
          <a:prstGeom prst="rect">
            <a:avLst/>
          </a:prstGeom>
          <a:ln w="19050">
            <a:solidFill>
              <a:srgbClr val="201E1E">
                <a:alpha val="40000"/>
              </a:srgbClr>
            </a:solidFill>
            <a:prstDash val="solid"/>
          </a:ln>
        </p:spPr>
        <p:txBody>
          <a:bodyPr/>
          <a:lstStyle/>
          <a:p>
            <a:endParaRPr lang="en-US"/>
          </a:p>
        </p:txBody>
      </p:sp>
      <p:sp>
        <p:nvSpPr>
          <p:cNvPr id="23" name="Text 21"/>
          <p:cNvSpPr/>
          <p:nvPr/>
        </p:nvSpPr>
        <p:spPr>
          <a:xfrm>
            <a:off x="7425630" y="6629400"/>
            <a:ext cx="2377334" cy="361950"/>
          </a:xfrm>
          <a:prstGeom prst="rect">
            <a:avLst/>
          </a:prstGeom>
          <a:noFill/>
          <a:ln/>
        </p:spPr>
        <p:txBody>
          <a:bodyPr wrap="square" lIns="25400" tIns="25400" rIns="25400" bIns="25400" rtlCol="0" anchor="t">
            <a:normAutofit lnSpcReduction="10000"/>
          </a:bodyPr>
          <a:lstStyle/>
          <a:p>
            <a:pPr marL="0" indent="0" algn="l">
              <a:lnSpc>
                <a:spcPct val="123636"/>
              </a:lnSpc>
              <a:buNone/>
            </a:pPr>
            <a:r>
              <a:rPr lang="en-US" sz="1800" dirty="0">
                <a:solidFill>
                  <a:srgbClr val="201E1D"/>
                </a:solidFill>
                <a:latin typeface="Arial" pitchFamily="34" charset="0"/>
                <a:ea typeface="Arial" pitchFamily="34" charset="-122"/>
                <a:cs typeface="Arial" pitchFamily="34" charset="-120"/>
              </a:rPr>
              <a:t>BAC</a:t>
            </a:r>
            <a:endParaRPr lang="en-US" sz="1800" dirty="0"/>
          </a:p>
        </p:txBody>
      </p:sp>
      <p:sp>
        <p:nvSpPr>
          <p:cNvPr id="24" name="Shape 22"/>
          <p:cNvSpPr/>
          <p:nvPr/>
        </p:nvSpPr>
        <p:spPr>
          <a:xfrm>
            <a:off x="10195545" y="6419850"/>
            <a:ext cx="2788890" cy="742950"/>
          </a:xfrm>
          <a:prstGeom prst="rect">
            <a:avLst/>
          </a:prstGeom>
          <a:ln w="19050">
            <a:solidFill>
              <a:srgbClr val="201E1E">
                <a:alpha val="40000"/>
              </a:srgbClr>
            </a:solidFill>
            <a:prstDash val="solid"/>
          </a:ln>
        </p:spPr>
        <p:txBody>
          <a:bodyPr/>
          <a:lstStyle/>
          <a:p>
            <a:endParaRPr lang="en-US"/>
          </a:p>
        </p:txBody>
      </p:sp>
      <p:sp>
        <p:nvSpPr>
          <p:cNvPr id="25" name="Text 23"/>
          <p:cNvSpPr/>
          <p:nvPr/>
        </p:nvSpPr>
        <p:spPr>
          <a:xfrm>
            <a:off x="10443195" y="6629400"/>
            <a:ext cx="2377257" cy="361950"/>
          </a:xfrm>
          <a:prstGeom prst="rect">
            <a:avLst/>
          </a:prstGeom>
          <a:noFill/>
          <a:ln/>
        </p:spPr>
        <p:txBody>
          <a:bodyPr wrap="square" lIns="25400" tIns="25400" rIns="25400" bIns="25400" rtlCol="0" anchor="t">
            <a:normAutofit lnSpcReduction="10000"/>
          </a:bodyPr>
          <a:lstStyle/>
          <a:p>
            <a:pPr marL="0" indent="0" algn="l">
              <a:lnSpc>
                <a:spcPct val="123636"/>
              </a:lnSpc>
              <a:buNone/>
            </a:pPr>
            <a:r>
              <a:rPr lang="en-US" sz="1800" dirty="0">
                <a:solidFill>
                  <a:srgbClr val="201E1D"/>
                </a:solidFill>
                <a:latin typeface="Arial" pitchFamily="34" charset="0"/>
                <a:ea typeface="Arial" pitchFamily="34" charset="-122"/>
                <a:cs typeface="Arial" pitchFamily="34" charset="-120"/>
              </a:rPr>
              <a:t>BCA</a:t>
            </a:r>
            <a:endParaRPr lang="en-US" sz="1800" dirty="0"/>
          </a:p>
        </p:txBody>
      </p:sp>
      <p:sp>
        <p:nvSpPr>
          <p:cNvPr id="26" name="Shape 24"/>
          <p:cNvSpPr/>
          <p:nvPr/>
        </p:nvSpPr>
        <p:spPr>
          <a:xfrm>
            <a:off x="13213035" y="6419850"/>
            <a:ext cx="2788890" cy="742950"/>
          </a:xfrm>
          <a:prstGeom prst="rect">
            <a:avLst/>
          </a:prstGeom>
          <a:ln w="19050">
            <a:solidFill>
              <a:srgbClr val="201E1E">
                <a:alpha val="40000"/>
              </a:srgbClr>
            </a:solidFill>
            <a:prstDash val="solid"/>
          </a:ln>
        </p:spPr>
        <p:txBody>
          <a:bodyPr/>
          <a:lstStyle/>
          <a:p>
            <a:endParaRPr lang="en-US"/>
          </a:p>
        </p:txBody>
      </p:sp>
      <p:sp>
        <p:nvSpPr>
          <p:cNvPr id="27" name="Text 25"/>
          <p:cNvSpPr/>
          <p:nvPr/>
        </p:nvSpPr>
        <p:spPr>
          <a:xfrm>
            <a:off x="13460685" y="6629400"/>
            <a:ext cx="2377257" cy="361950"/>
          </a:xfrm>
          <a:prstGeom prst="rect">
            <a:avLst/>
          </a:prstGeom>
          <a:noFill/>
          <a:ln/>
        </p:spPr>
        <p:txBody>
          <a:bodyPr wrap="square" lIns="25400" tIns="25400" rIns="25400" bIns="25400" rtlCol="0" anchor="t">
            <a:normAutofit lnSpcReduction="10000"/>
          </a:bodyPr>
          <a:lstStyle/>
          <a:p>
            <a:pPr marL="0" indent="0" algn="l">
              <a:lnSpc>
                <a:spcPct val="123636"/>
              </a:lnSpc>
              <a:buNone/>
            </a:pPr>
            <a:r>
              <a:rPr lang="en-US" sz="1800" dirty="0">
                <a:solidFill>
                  <a:srgbClr val="201E1D"/>
                </a:solidFill>
                <a:latin typeface="Arial" pitchFamily="34" charset="0"/>
                <a:ea typeface="Arial" pitchFamily="34" charset="-122"/>
                <a:cs typeface="Arial" pitchFamily="34" charset="-120"/>
              </a:rPr>
              <a:t>CAB</a:t>
            </a:r>
            <a:endParaRPr lang="en-US" sz="1800" dirty="0"/>
          </a:p>
        </p:txBody>
      </p:sp>
      <p:sp>
        <p:nvSpPr>
          <p:cNvPr id="28" name="Text 26"/>
          <p:cNvSpPr/>
          <p:nvPr/>
        </p:nvSpPr>
        <p:spPr>
          <a:xfrm>
            <a:off x="1143000" y="7463135"/>
            <a:ext cx="17602200" cy="194890"/>
          </a:xfrm>
          <a:prstGeom prst="rect">
            <a:avLst/>
          </a:prstGeom>
          <a:noFill/>
          <a:ln/>
        </p:spPr>
        <p:txBody>
          <a:bodyPr wrap="square" lIns="25400" tIns="25400" rIns="25400" bIns="25400" rtlCol="0" anchor="t">
            <a:normAutofit fontScale="32500" lnSpcReduction="20000"/>
          </a:bodyPr>
          <a:lstStyle/>
          <a:p>
            <a:pPr marL="0" indent="0" algn="l">
              <a:lnSpc>
                <a:spcPct val="174545"/>
              </a:lnSpc>
              <a:buNone/>
            </a:pPr>
            <a:r>
              <a:rPr lang="en-US" sz="1800" dirty="0">
                <a:solidFill>
                  <a:srgbClr val="211D1D">
                    <a:alpha val="55000"/>
                  </a:srgbClr>
                </a:solidFill>
                <a:latin typeface="Arial" pitchFamily="34" charset="0"/>
                <a:ea typeface="Arial" pitchFamily="34" charset="-122"/>
                <a:cs typeface="Arial" pitchFamily="34" charset="-120"/>
              </a:rPr>
              <a:t>…and CBA. Six in total — you can count them by hand, which is exactly the point.</a:t>
            </a:r>
            <a:endParaRPr lang="en-US" sz="1800" dirty="0"/>
          </a:p>
        </p:txBody>
      </p:sp>
      <p:pic>
        <p:nvPicPr>
          <p:cNvPr id="29"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01 · FOUNDATION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Factorials get large very fast</a:t>
            </a:r>
            <a:endParaRPr lang="en-US" sz="4800" dirty="0"/>
          </a:p>
        </p:txBody>
      </p:sp>
      <p:sp>
        <p:nvSpPr>
          <p:cNvPr id="4" name="Shape 2"/>
          <p:cNvSpPr/>
          <p:nvPr/>
        </p:nvSpPr>
        <p:spPr>
          <a:xfrm>
            <a:off x="1143000" y="3519711"/>
            <a:ext cx="889918" cy="19050"/>
          </a:xfrm>
          <a:prstGeom prst="rect">
            <a:avLst/>
          </a:prstGeom>
          <a:solidFill>
            <a:srgbClr val="201E1E">
              <a:alpha val="40000"/>
            </a:srgbClr>
          </a:solidFill>
          <a:ln/>
        </p:spPr>
        <p:txBody>
          <a:bodyPr/>
          <a:lstStyle/>
          <a:p>
            <a:endParaRPr lang="en-US"/>
          </a:p>
        </p:txBody>
      </p:sp>
      <p:sp>
        <p:nvSpPr>
          <p:cNvPr id="5" name="Text 3"/>
          <p:cNvSpPr/>
          <p:nvPr/>
        </p:nvSpPr>
        <p:spPr>
          <a:xfrm>
            <a:off x="1143000" y="3173390"/>
            <a:ext cx="737518"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N</a:t>
            </a:r>
            <a:endParaRPr lang="en-US" sz="1800" dirty="0"/>
          </a:p>
        </p:txBody>
      </p:sp>
      <p:sp>
        <p:nvSpPr>
          <p:cNvPr id="6" name="Shape 4"/>
          <p:cNvSpPr/>
          <p:nvPr/>
        </p:nvSpPr>
        <p:spPr>
          <a:xfrm>
            <a:off x="2032918" y="3519711"/>
            <a:ext cx="3175248" cy="19050"/>
          </a:xfrm>
          <a:prstGeom prst="rect">
            <a:avLst/>
          </a:prstGeom>
          <a:solidFill>
            <a:srgbClr val="201E1E">
              <a:alpha val="40000"/>
            </a:srgbClr>
          </a:solidFill>
          <a:ln/>
        </p:spPr>
        <p:txBody>
          <a:bodyPr/>
          <a:lstStyle/>
          <a:p>
            <a:endParaRPr lang="en-US"/>
          </a:p>
        </p:txBody>
      </p:sp>
      <p:sp>
        <p:nvSpPr>
          <p:cNvPr id="7" name="Text 5"/>
          <p:cNvSpPr/>
          <p:nvPr/>
        </p:nvSpPr>
        <p:spPr>
          <a:xfrm>
            <a:off x="2261518" y="3173390"/>
            <a:ext cx="2813305"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N!</a:t>
            </a:r>
            <a:endParaRPr lang="en-US" sz="1800" dirty="0"/>
          </a:p>
        </p:txBody>
      </p:sp>
      <p:sp>
        <p:nvSpPr>
          <p:cNvPr id="8" name="Shape 6"/>
          <p:cNvSpPr/>
          <p:nvPr/>
        </p:nvSpPr>
        <p:spPr>
          <a:xfrm>
            <a:off x="5208166" y="3519711"/>
            <a:ext cx="2738735" cy="19050"/>
          </a:xfrm>
          <a:prstGeom prst="rect">
            <a:avLst/>
          </a:prstGeom>
          <a:solidFill>
            <a:srgbClr val="201E1E">
              <a:alpha val="40000"/>
            </a:srgbClr>
          </a:solidFill>
          <a:ln/>
        </p:spPr>
        <p:txBody>
          <a:bodyPr/>
          <a:lstStyle/>
          <a:p>
            <a:endParaRPr lang="en-US"/>
          </a:p>
        </p:txBody>
      </p:sp>
      <p:sp>
        <p:nvSpPr>
          <p:cNvPr id="9" name="Text 7"/>
          <p:cNvSpPr/>
          <p:nvPr/>
        </p:nvSpPr>
        <p:spPr>
          <a:xfrm>
            <a:off x="5436766" y="3173390"/>
            <a:ext cx="2363697"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VALUE</a:t>
            </a:r>
            <a:endParaRPr lang="en-US" sz="1800" dirty="0"/>
          </a:p>
        </p:txBody>
      </p:sp>
      <p:sp>
        <p:nvSpPr>
          <p:cNvPr id="10" name="Shape 8"/>
          <p:cNvSpPr/>
          <p:nvPr/>
        </p:nvSpPr>
        <p:spPr>
          <a:xfrm>
            <a:off x="7946901" y="3519711"/>
            <a:ext cx="8055099" cy="19050"/>
          </a:xfrm>
          <a:prstGeom prst="rect">
            <a:avLst/>
          </a:prstGeom>
          <a:solidFill>
            <a:srgbClr val="201E1E">
              <a:alpha val="40000"/>
            </a:srgbClr>
          </a:solidFill>
          <a:ln/>
        </p:spPr>
        <p:txBody>
          <a:bodyPr/>
          <a:lstStyle/>
          <a:p>
            <a:endParaRPr lang="en-US"/>
          </a:p>
        </p:txBody>
      </p:sp>
      <p:sp>
        <p:nvSpPr>
          <p:cNvPr id="11" name="Text 9"/>
          <p:cNvSpPr/>
          <p:nvPr/>
        </p:nvSpPr>
        <p:spPr>
          <a:xfrm>
            <a:off x="8175501" y="3173390"/>
            <a:ext cx="8068152"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FEEL FOR IT</a:t>
            </a:r>
            <a:endParaRPr lang="en-US" sz="1800" dirty="0"/>
          </a:p>
        </p:txBody>
      </p:sp>
      <p:sp>
        <p:nvSpPr>
          <p:cNvPr id="12" name="Shape 10"/>
          <p:cNvSpPr/>
          <p:nvPr/>
        </p:nvSpPr>
        <p:spPr>
          <a:xfrm>
            <a:off x="1143000" y="4100810"/>
            <a:ext cx="889918" cy="9525"/>
          </a:xfrm>
          <a:prstGeom prst="rect">
            <a:avLst/>
          </a:prstGeom>
          <a:solidFill>
            <a:srgbClr val="201E1E">
              <a:alpha val="40000"/>
            </a:srgbClr>
          </a:solidFill>
          <a:ln/>
        </p:spPr>
        <p:txBody>
          <a:bodyPr/>
          <a:lstStyle/>
          <a:p>
            <a:endParaRPr lang="en-US"/>
          </a:p>
        </p:txBody>
      </p:sp>
      <p:sp>
        <p:nvSpPr>
          <p:cNvPr id="13" name="Text 11"/>
          <p:cNvSpPr/>
          <p:nvPr/>
        </p:nvSpPr>
        <p:spPr>
          <a:xfrm>
            <a:off x="1143000" y="3735785"/>
            <a:ext cx="737518"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a:t>
            </a:r>
            <a:endParaRPr lang="en-US" sz="1875" dirty="0"/>
          </a:p>
        </p:txBody>
      </p:sp>
      <p:sp>
        <p:nvSpPr>
          <p:cNvPr id="14" name="Shape 12"/>
          <p:cNvSpPr/>
          <p:nvPr/>
        </p:nvSpPr>
        <p:spPr>
          <a:xfrm>
            <a:off x="2032918" y="4100810"/>
            <a:ext cx="3175248" cy="9525"/>
          </a:xfrm>
          <a:prstGeom prst="rect">
            <a:avLst/>
          </a:prstGeom>
          <a:solidFill>
            <a:srgbClr val="201E1E">
              <a:alpha val="40000"/>
            </a:srgbClr>
          </a:solidFill>
          <a:ln/>
        </p:spPr>
        <p:txBody>
          <a:bodyPr/>
          <a:lstStyle/>
          <a:p>
            <a:endParaRPr lang="en-US"/>
          </a:p>
        </p:txBody>
      </p:sp>
      <p:sp>
        <p:nvSpPr>
          <p:cNvPr id="15" name="Text 13"/>
          <p:cNvSpPr/>
          <p:nvPr/>
        </p:nvSpPr>
        <p:spPr>
          <a:xfrm>
            <a:off x="2261518" y="3735785"/>
            <a:ext cx="2813305"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3×2×1</a:t>
            </a:r>
            <a:endParaRPr lang="en-US" sz="1875" dirty="0"/>
          </a:p>
        </p:txBody>
      </p:sp>
      <p:sp>
        <p:nvSpPr>
          <p:cNvPr id="16" name="Shape 14"/>
          <p:cNvSpPr/>
          <p:nvPr/>
        </p:nvSpPr>
        <p:spPr>
          <a:xfrm>
            <a:off x="5208166" y="4100810"/>
            <a:ext cx="2738735" cy="9525"/>
          </a:xfrm>
          <a:prstGeom prst="rect">
            <a:avLst/>
          </a:prstGeom>
          <a:solidFill>
            <a:srgbClr val="201E1E">
              <a:alpha val="40000"/>
            </a:srgbClr>
          </a:solidFill>
          <a:ln/>
        </p:spPr>
        <p:txBody>
          <a:bodyPr/>
          <a:lstStyle/>
          <a:p>
            <a:endParaRPr lang="en-US"/>
          </a:p>
        </p:txBody>
      </p:sp>
      <p:sp>
        <p:nvSpPr>
          <p:cNvPr id="17" name="Text 15"/>
          <p:cNvSpPr/>
          <p:nvPr/>
        </p:nvSpPr>
        <p:spPr>
          <a:xfrm>
            <a:off x="5436766" y="3735785"/>
            <a:ext cx="2363697"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6</a:t>
            </a:r>
            <a:endParaRPr lang="en-US" sz="1875" dirty="0"/>
          </a:p>
        </p:txBody>
      </p:sp>
      <p:sp>
        <p:nvSpPr>
          <p:cNvPr id="18" name="Shape 16"/>
          <p:cNvSpPr/>
          <p:nvPr/>
        </p:nvSpPr>
        <p:spPr>
          <a:xfrm>
            <a:off x="7946901" y="4100810"/>
            <a:ext cx="8055099" cy="9525"/>
          </a:xfrm>
          <a:prstGeom prst="rect">
            <a:avLst/>
          </a:prstGeom>
          <a:solidFill>
            <a:srgbClr val="201E1E">
              <a:alpha val="40000"/>
            </a:srgbClr>
          </a:solidFill>
          <a:ln/>
        </p:spPr>
        <p:txBody>
          <a:bodyPr/>
          <a:lstStyle/>
          <a:p>
            <a:endParaRPr lang="en-US"/>
          </a:p>
        </p:txBody>
      </p:sp>
      <p:sp>
        <p:nvSpPr>
          <p:cNvPr id="19" name="Text 17"/>
          <p:cNvSpPr/>
          <p:nvPr/>
        </p:nvSpPr>
        <p:spPr>
          <a:xfrm>
            <a:off x="8175501" y="3735785"/>
            <a:ext cx="8068152"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Countable on one hand</a:t>
            </a:r>
            <a:endParaRPr lang="en-US" sz="1875" dirty="0"/>
          </a:p>
        </p:txBody>
      </p:sp>
      <p:sp>
        <p:nvSpPr>
          <p:cNvPr id="20" name="Shape 18"/>
          <p:cNvSpPr/>
          <p:nvPr/>
        </p:nvSpPr>
        <p:spPr>
          <a:xfrm>
            <a:off x="1143000" y="4667622"/>
            <a:ext cx="889918" cy="9525"/>
          </a:xfrm>
          <a:prstGeom prst="rect">
            <a:avLst/>
          </a:prstGeom>
          <a:solidFill>
            <a:srgbClr val="201E1E">
              <a:alpha val="40000"/>
            </a:srgbClr>
          </a:solidFill>
          <a:ln/>
        </p:spPr>
        <p:txBody>
          <a:bodyPr/>
          <a:lstStyle/>
          <a:p>
            <a:endParaRPr lang="en-US"/>
          </a:p>
        </p:txBody>
      </p:sp>
      <p:sp>
        <p:nvSpPr>
          <p:cNvPr id="21" name="Text 19"/>
          <p:cNvSpPr/>
          <p:nvPr/>
        </p:nvSpPr>
        <p:spPr>
          <a:xfrm>
            <a:off x="1143000" y="4307360"/>
            <a:ext cx="737518"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5</a:t>
            </a:r>
            <a:endParaRPr lang="en-US" sz="1875" dirty="0"/>
          </a:p>
        </p:txBody>
      </p:sp>
      <p:sp>
        <p:nvSpPr>
          <p:cNvPr id="22" name="Shape 20"/>
          <p:cNvSpPr/>
          <p:nvPr/>
        </p:nvSpPr>
        <p:spPr>
          <a:xfrm>
            <a:off x="2032918" y="4667622"/>
            <a:ext cx="3175248" cy="9525"/>
          </a:xfrm>
          <a:prstGeom prst="rect">
            <a:avLst/>
          </a:prstGeom>
          <a:solidFill>
            <a:srgbClr val="201E1E">
              <a:alpha val="40000"/>
            </a:srgbClr>
          </a:solidFill>
          <a:ln/>
        </p:spPr>
        <p:txBody>
          <a:bodyPr/>
          <a:lstStyle/>
          <a:p>
            <a:endParaRPr lang="en-US"/>
          </a:p>
        </p:txBody>
      </p:sp>
      <p:sp>
        <p:nvSpPr>
          <p:cNvPr id="23" name="Text 21"/>
          <p:cNvSpPr/>
          <p:nvPr/>
        </p:nvSpPr>
        <p:spPr>
          <a:xfrm>
            <a:off x="2261518" y="4307360"/>
            <a:ext cx="2813305"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5×4×3×2×1</a:t>
            </a:r>
            <a:endParaRPr lang="en-US" sz="1875" dirty="0"/>
          </a:p>
        </p:txBody>
      </p:sp>
      <p:sp>
        <p:nvSpPr>
          <p:cNvPr id="24" name="Shape 22"/>
          <p:cNvSpPr/>
          <p:nvPr/>
        </p:nvSpPr>
        <p:spPr>
          <a:xfrm>
            <a:off x="5208166" y="4667622"/>
            <a:ext cx="2738735" cy="9525"/>
          </a:xfrm>
          <a:prstGeom prst="rect">
            <a:avLst/>
          </a:prstGeom>
          <a:solidFill>
            <a:srgbClr val="201E1E">
              <a:alpha val="40000"/>
            </a:srgbClr>
          </a:solidFill>
          <a:ln/>
        </p:spPr>
        <p:txBody>
          <a:bodyPr/>
          <a:lstStyle/>
          <a:p>
            <a:endParaRPr lang="en-US"/>
          </a:p>
        </p:txBody>
      </p:sp>
      <p:sp>
        <p:nvSpPr>
          <p:cNvPr id="25" name="Text 23"/>
          <p:cNvSpPr/>
          <p:nvPr/>
        </p:nvSpPr>
        <p:spPr>
          <a:xfrm>
            <a:off x="5436766" y="4307360"/>
            <a:ext cx="236369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120</a:t>
            </a:r>
            <a:endParaRPr lang="en-US" sz="1875" dirty="0"/>
          </a:p>
        </p:txBody>
      </p:sp>
      <p:sp>
        <p:nvSpPr>
          <p:cNvPr id="26" name="Shape 24"/>
          <p:cNvSpPr/>
          <p:nvPr/>
        </p:nvSpPr>
        <p:spPr>
          <a:xfrm>
            <a:off x="7946901" y="4667622"/>
            <a:ext cx="8055099" cy="9525"/>
          </a:xfrm>
          <a:prstGeom prst="rect">
            <a:avLst/>
          </a:prstGeom>
          <a:solidFill>
            <a:srgbClr val="201E1E">
              <a:alpha val="40000"/>
            </a:srgbClr>
          </a:solidFill>
          <a:ln/>
        </p:spPr>
        <p:txBody>
          <a:bodyPr/>
          <a:lstStyle/>
          <a:p>
            <a:endParaRPr lang="en-US"/>
          </a:p>
        </p:txBody>
      </p:sp>
      <p:sp>
        <p:nvSpPr>
          <p:cNvPr id="27" name="Text 25"/>
          <p:cNvSpPr/>
          <p:nvPr/>
        </p:nvSpPr>
        <p:spPr>
          <a:xfrm>
            <a:off x="8175501" y="4307360"/>
            <a:ext cx="8068152"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A page of a notebook</a:t>
            </a:r>
            <a:endParaRPr lang="en-US" sz="1875" dirty="0"/>
          </a:p>
        </p:txBody>
      </p:sp>
      <p:sp>
        <p:nvSpPr>
          <p:cNvPr id="28" name="Shape 26"/>
          <p:cNvSpPr/>
          <p:nvPr/>
        </p:nvSpPr>
        <p:spPr>
          <a:xfrm>
            <a:off x="1143000" y="5234434"/>
            <a:ext cx="889918" cy="9525"/>
          </a:xfrm>
          <a:prstGeom prst="rect">
            <a:avLst/>
          </a:prstGeom>
          <a:solidFill>
            <a:srgbClr val="201E1E">
              <a:alpha val="40000"/>
            </a:srgbClr>
          </a:solidFill>
          <a:ln/>
        </p:spPr>
        <p:txBody>
          <a:bodyPr/>
          <a:lstStyle/>
          <a:p>
            <a:endParaRPr lang="en-US"/>
          </a:p>
        </p:txBody>
      </p:sp>
      <p:sp>
        <p:nvSpPr>
          <p:cNvPr id="29" name="Text 27"/>
          <p:cNvSpPr/>
          <p:nvPr/>
        </p:nvSpPr>
        <p:spPr>
          <a:xfrm>
            <a:off x="1143000" y="4874172"/>
            <a:ext cx="737518"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8</a:t>
            </a:r>
            <a:endParaRPr lang="en-US" sz="1875" dirty="0"/>
          </a:p>
        </p:txBody>
      </p:sp>
      <p:sp>
        <p:nvSpPr>
          <p:cNvPr id="30" name="Shape 28"/>
          <p:cNvSpPr/>
          <p:nvPr/>
        </p:nvSpPr>
        <p:spPr>
          <a:xfrm>
            <a:off x="2032918" y="5234434"/>
            <a:ext cx="3175248" cy="9525"/>
          </a:xfrm>
          <a:prstGeom prst="rect">
            <a:avLst/>
          </a:prstGeom>
          <a:solidFill>
            <a:srgbClr val="201E1E">
              <a:alpha val="40000"/>
            </a:srgbClr>
          </a:solidFill>
          <a:ln/>
        </p:spPr>
        <p:txBody>
          <a:bodyPr/>
          <a:lstStyle/>
          <a:p>
            <a:endParaRPr lang="en-US"/>
          </a:p>
        </p:txBody>
      </p:sp>
      <p:sp>
        <p:nvSpPr>
          <p:cNvPr id="31" name="Text 29"/>
          <p:cNvSpPr/>
          <p:nvPr/>
        </p:nvSpPr>
        <p:spPr>
          <a:xfrm>
            <a:off x="2261518" y="4874172"/>
            <a:ext cx="2813305"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8×7×…×1</a:t>
            </a:r>
            <a:endParaRPr lang="en-US" sz="1875" dirty="0"/>
          </a:p>
        </p:txBody>
      </p:sp>
      <p:sp>
        <p:nvSpPr>
          <p:cNvPr id="32" name="Shape 30"/>
          <p:cNvSpPr/>
          <p:nvPr/>
        </p:nvSpPr>
        <p:spPr>
          <a:xfrm>
            <a:off x="5208166" y="5234434"/>
            <a:ext cx="2738735" cy="9525"/>
          </a:xfrm>
          <a:prstGeom prst="rect">
            <a:avLst/>
          </a:prstGeom>
          <a:solidFill>
            <a:srgbClr val="201E1E">
              <a:alpha val="40000"/>
            </a:srgbClr>
          </a:solidFill>
          <a:ln/>
        </p:spPr>
        <p:txBody>
          <a:bodyPr/>
          <a:lstStyle/>
          <a:p>
            <a:endParaRPr lang="en-US"/>
          </a:p>
        </p:txBody>
      </p:sp>
      <p:sp>
        <p:nvSpPr>
          <p:cNvPr id="33" name="Text 31"/>
          <p:cNvSpPr/>
          <p:nvPr/>
        </p:nvSpPr>
        <p:spPr>
          <a:xfrm>
            <a:off x="5436766" y="4874172"/>
            <a:ext cx="236369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40,320</a:t>
            </a:r>
            <a:endParaRPr lang="en-US" sz="1875" dirty="0"/>
          </a:p>
        </p:txBody>
      </p:sp>
      <p:sp>
        <p:nvSpPr>
          <p:cNvPr id="34" name="Shape 32"/>
          <p:cNvSpPr/>
          <p:nvPr/>
        </p:nvSpPr>
        <p:spPr>
          <a:xfrm>
            <a:off x="7946901" y="5234434"/>
            <a:ext cx="8055099" cy="9525"/>
          </a:xfrm>
          <a:prstGeom prst="rect">
            <a:avLst/>
          </a:prstGeom>
          <a:solidFill>
            <a:srgbClr val="201E1E">
              <a:alpha val="40000"/>
            </a:srgbClr>
          </a:solidFill>
          <a:ln/>
        </p:spPr>
        <p:txBody>
          <a:bodyPr/>
          <a:lstStyle/>
          <a:p>
            <a:endParaRPr lang="en-US"/>
          </a:p>
        </p:txBody>
      </p:sp>
      <p:sp>
        <p:nvSpPr>
          <p:cNvPr id="35" name="Text 33"/>
          <p:cNvSpPr/>
          <p:nvPr/>
        </p:nvSpPr>
        <p:spPr>
          <a:xfrm>
            <a:off x="8175501" y="4874172"/>
            <a:ext cx="8068152"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More than a working year of minutes</a:t>
            </a:r>
            <a:endParaRPr lang="en-US" sz="1875" dirty="0"/>
          </a:p>
        </p:txBody>
      </p:sp>
      <p:sp>
        <p:nvSpPr>
          <p:cNvPr id="36" name="Shape 34"/>
          <p:cNvSpPr/>
          <p:nvPr/>
        </p:nvSpPr>
        <p:spPr>
          <a:xfrm>
            <a:off x="1143000" y="5801246"/>
            <a:ext cx="889918" cy="9525"/>
          </a:xfrm>
          <a:prstGeom prst="rect">
            <a:avLst/>
          </a:prstGeom>
          <a:solidFill>
            <a:srgbClr val="201E1E">
              <a:alpha val="40000"/>
            </a:srgbClr>
          </a:solidFill>
          <a:ln/>
        </p:spPr>
        <p:txBody>
          <a:bodyPr/>
          <a:lstStyle/>
          <a:p>
            <a:endParaRPr lang="en-US"/>
          </a:p>
        </p:txBody>
      </p:sp>
      <p:sp>
        <p:nvSpPr>
          <p:cNvPr id="37" name="Text 35"/>
          <p:cNvSpPr/>
          <p:nvPr/>
        </p:nvSpPr>
        <p:spPr>
          <a:xfrm>
            <a:off x="1143000" y="5440984"/>
            <a:ext cx="737518"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10</a:t>
            </a:r>
            <a:endParaRPr lang="en-US" sz="1875" dirty="0"/>
          </a:p>
        </p:txBody>
      </p:sp>
      <p:sp>
        <p:nvSpPr>
          <p:cNvPr id="38" name="Shape 36"/>
          <p:cNvSpPr/>
          <p:nvPr/>
        </p:nvSpPr>
        <p:spPr>
          <a:xfrm>
            <a:off x="2032918" y="5801246"/>
            <a:ext cx="3175248" cy="9525"/>
          </a:xfrm>
          <a:prstGeom prst="rect">
            <a:avLst/>
          </a:prstGeom>
          <a:solidFill>
            <a:srgbClr val="201E1E">
              <a:alpha val="40000"/>
            </a:srgbClr>
          </a:solidFill>
          <a:ln/>
        </p:spPr>
        <p:txBody>
          <a:bodyPr/>
          <a:lstStyle/>
          <a:p>
            <a:endParaRPr lang="en-US"/>
          </a:p>
        </p:txBody>
      </p:sp>
      <p:sp>
        <p:nvSpPr>
          <p:cNvPr id="39" name="Text 37"/>
          <p:cNvSpPr/>
          <p:nvPr/>
        </p:nvSpPr>
        <p:spPr>
          <a:xfrm>
            <a:off x="2261518" y="5440984"/>
            <a:ext cx="2813305"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10×9×…×1</a:t>
            </a:r>
            <a:endParaRPr lang="en-US" sz="1875" dirty="0"/>
          </a:p>
        </p:txBody>
      </p:sp>
      <p:sp>
        <p:nvSpPr>
          <p:cNvPr id="40" name="Shape 38"/>
          <p:cNvSpPr/>
          <p:nvPr/>
        </p:nvSpPr>
        <p:spPr>
          <a:xfrm>
            <a:off x="5208166" y="5801246"/>
            <a:ext cx="2738735" cy="9525"/>
          </a:xfrm>
          <a:prstGeom prst="rect">
            <a:avLst/>
          </a:prstGeom>
          <a:solidFill>
            <a:srgbClr val="201E1E">
              <a:alpha val="40000"/>
            </a:srgbClr>
          </a:solidFill>
          <a:ln/>
        </p:spPr>
        <p:txBody>
          <a:bodyPr/>
          <a:lstStyle/>
          <a:p>
            <a:endParaRPr lang="en-US"/>
          </a:p>
        </p:txBody>
      </p:sp>
      <p:sp>
        <p:nvSpPr>
          <p:cNvPr id="41" name="Text 39"/>
          <p:cNvSpPr/>
          <p:nvPr/>
        </p:nvSpPr>
        <p:spPr>
          <a:xfrm>
            <a:off x="5436766" y="5440984"/>
            <a:ext cx="236369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3,628,800</a:t>
            </a:r>
            <a:endParaRPr lang="en-US" sz="1875" dirty="0"/>
          </a:p>
        </p:txBody>
      </p:sp>
      <p:sp>
        <p:nvSpPr>
          <p:cNvPr id="42" name="Shape 40"/>
          <p:cNvSpPr/>
          <p:nvPr/>
        </p:nvSpPr>
        <p:spPr>
          <a:xfrm>
            <a:off x="7946901" y="5801246"/>
            <a:ext cx="8055099" cy="9525"/>
          </a:xfrm>
          <a:prstGeom prst="rect">
            <a:avLst/>
          </a:prstGeom>
          <a:solidFill>
            <a:srgbClr val="201E1E">
              <a:alpha val="40000"/>
            </a:srgbClr>
          </a:solidFill>
          <a:ln/>
        </p:spPr>
        <p:txBody>
          <a:bodyPr/>
          <a:lstStyle/>
          <a:p>
            <a:endParaRPr lang="en-US"/>
          </a:p>
        </p:txBody>
      </p:sp>
      <p:sp>
        <p:nvSpPr>
          <p:cNvPr id="43" name="Text 41"/>
          <p:cNvSpPr/>
          <p:nvPr/>
        </p:nvSpPr>
        <p:spPr>
          <a:xfrm>
            <a:off x="8175501" y="5440984"/>
            <a:ext cx="8068152"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One per second takes six weeks</a:t>
            </a:r>
            <a:endParaRPr lang="en-US" sz="1875" dirty="0"/>
          </a:p>
        </p:txBody>
      </p:sp>
      <p:sp>
        <p:nvSpPr>
          <p:cNvPr id="44" name="Shape 42"/>
          <p:cNvSpPr/>
          <p:nvPr/>
        </p:nvSpPr>
        <p:spPr>
          <a:xfrm>
            <a:off x="1143000" y="6368058"/>
            <a:ext cx="889918" cy="9525"/>
          </a:xfrm>
          <a:prstGeom prst="rect">
            <a:avLst/>
          </a:prstGeom>
          <a:solidFill>
            <a:srgbClr val="201E1E">
              <a:alpha val="40000"/>
            </a:srgbClr>
          </a:solidFill>
          <a:ln/>
        </p:spPr>
        <p:txBody>
          <a:bodyPr/>
          <a:lstStyle/>
          <a:p>
            <a:endParaRPr lang="en-US"/>
          </a:p>
        </p:txBody>
      </p:sp>
      <p:sp>
        <p:nvSpPr>
          <p:cNvPr id="45" name="Text 43"/>
          <p:cNvSpPr/>
          <p:nvPr/>
        </p:nvSpPr>
        <p:spPr>
          <a:xfrm>
            <a:off x="1143000" y="6007796"/>
            <a:ext cx="737518"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20</a:t>
            </a:r>
            <a:endParaRPr lang="en-US" sz="1875" dirty="0"/>
          </a:p>
        </p:txBody>
      </p:sp>
      <p:sp>
        <p:nvSpPr>
          <p:cNvPr id="46" name="Shape 44"/>
          <p:cNvSpPr/>
          <p:nvPr/>
        </p:nvSpPr>
        <p:spPr>
          <a:xfrm>
            <a:off x="2032918" y="6368058"/>
            <a:ext cx="3175248" cy="9525"/>
          </a:xfrm>
          <a:prstGeom prst="rect">
            <a:avLst/>
          </a:prstGeom>
          <a:solidFill>
            <a:srgbClr val="201E1E">
              <a:alpha val="40000"/>
            </a:srgbClr>
          </a:solidFill>
          <a:ln/>
        </p:spPr>
        <p:txBody>
          <a:bodyPr/>
          <a:lstStyle/>
          <a:p>
            <a:endParaRPr lang="en-US"/>
          </a:p>
        </p:txBody>
      </p:sp>
      <p:sp>
        <p:nvSpPr>
          <p:cNvPr id="47" name="Text 45"/>
          <p:cNvSpPr/>
          <p:nvPr/>
        </p:nvSpPr>
        <p:spPr>
          <a:xfrm>
            <a:off x="2261518" y="6007796"/>
            <a:ext cx="2813305"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20×19×…×1</a:t>
            </a:r>
            <a:endParaRPr lang="en-US" sz="1875" dirty="0"/>
          </a:p>
        </p:txBody>
      </p:sp>
      <p:sp>
        <p:nvSpPr>
          <p:cNvPr id="48" name="Shape 46"/>
          <p:cNvSpPr/>
          <p:nvPr/>
        </p:nvSpPr>
        <p:spPr>
          <a:xfrm>
            <a:off x="5208166" y="6368058"/>
            <a:ext cx="2738735" cy="9525"/>
          </a:xfrm>
          <a:prstGeom prst="rect">
            <a:avLst/>
          </a:prstGeom>
          <a:solidFill>
            <a:srgbClr val="201E1E">
              <a:alpha val="40000"/>
            </a:srgbClr>
          </a:solidFill>
          <a:ln/>
        </p:spPr>
        <p:txBody>
          <a:bodyPr/>
          <a:lstStyle/>
          <a:p>
            <a:endParaRPr lang="en-US"/>
          </a:p>
        </p:txBody>
      </p:sp>
      <p:sp>
        <p:nvSpPr>
          <p:cNvPr id="49" name="Text 47"/>
          <p:cNvSpPr/>
          <p:nvPr/>
        </p:nvSpPr>
        <p:spPr>
          <a:xfrm>
            <a:off x="5436766" y="6007796"/>
            <a:ext cx="236369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2.4 × 10¹⁸</a:t>
            </a:r>
            <a:endParaRPr lang="en-US" sz="1875" dirty="0"/>
          </a:p>
        </p:txBody>
      </p:sp>
      <p:sp>
        <p:nvSpPr>
          <p:cNvPr id="50" name="Shape 48"/>
          <p:cNvSpPr/>
          <p:nvPr/>
        </p:nvSpPr>
        <p:spPr>
          <a:xfrm>
            <a:off x="7946901" y="6368058"/>
            <a:ext cx="8055099" cy="9525"/>
          </a:xfrm>
          <a:prstGeom prst="rect">
            <a:avLst/>
          </a:prstGeom>
          <a:solidFill>
            <a:srgbClr val="201E1E">
              <a:alpha val="40000"/>
            </a:srgbClr>
          </a:solidFill>
          <a:ln/>
        </p:spPr>
        <p:txBody>
          <a:bodyPr/>
          <a:lstStyle/>
          <a:p>
            <a:endParaRPr lang="en-US"/>
          </a:p>
        </p:txBody>
      </p:sp>
      <p:sp>
        <p:nvSpPr>
          <p:cNvPr id="51" name="Text 49"/>
          <p:cNvSpPr/>
          <p:nvPr/>
        </p:nvSpPr>
        <p:spPr>
          <a:xfrm>
            <a:off x="8175501" y="6007796"/>
            <a:ext cx="8068152"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More than every grain of sand on a beach</a:t>
            </a:r>
            <a:endParaRPr lang="en-US" sz="1875" dirty="0"/>
          </a:p>
        </p:txBody>
      </p:sp>
      <p:sp>
        <p:nvSpPr>
          <p:cNvPr id="52" name="Shape 50"/>
          <p:cNvSpPr/>
          <p:nvPr/>
        </p:nvSpPr>
        <p:spPr>
          <a:xfrm>
            <a:off x="1143000" y="7165628"/>
            <a:ext cx="16002000" cy="19050"/>
          </a:xfrm>
          <a:prstGeom prst="rect">
            <a:avLst/>
          </a:prstGeom>
          <a:solidFill>
            <a:srgbClr val="EC3013"/>
          </a:solidFill>
          <a:ln/>
        </p:spPr>
        <p:txBody>
          <a:bodyPr/>
          <a:lstStyle/>
          <a:p>
            <a:endParaRPr lang="en-US"/>
          </a:p>
        </p:txBody>
      </p:sp>
      <p:sp>
        <p:nvSpPr>
          <p:cNvPr id="53" name="Text 51"/>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GOTCHA</a:t>
            </a:r>
            <a:endParaRPr lang="en-US" sz="1800" dirty="0"/>
          </a:p>
        </p:txBody>
      </p:sp>
      <p:sp>
        <p:nvSpPr>
          <p:cNvPr id="54" name="Text 52"/>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0! = 1, not 0. There is exactly one way to arrange nothing — do nothing. It looks like a technicality, but the combinations formula breaks without it.</a:t>
            </a:r>
            <a:endParaRPr lang="en-US" sz="2100" dirty="0"/>
          </a:p>
        </p:txBody>
      </p:sp>
      <p:pic>
        <p:nvPicPr>
          <p:cNvPr id="55"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01 · ORDER MATTERS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Permutations: when the order counts</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Pick 3 of 5 candidates for gold, silver and bronze. Alice-Bob-Carla is a different result from Carla-Bob-Alice, because the positions mean different things.</a:t>
            </a:r>
            <a:endParaRPr lang="en-US" sz="2100" dirty="0"/>
          </a:p>
        </p:txBody>
      </p:sp>
      <p:sp>
        <p:nvSpPr>
          <p:cNvPr id="5" name="Shape 3"/>
          <p:cNvSpPr/>
          <p:nvPr/>
        </p:nvSpPr>
        <p:spPr>
          <a:xfrm>
            <a:off x="1143000" y="5944865"/>
            <a:ext cx="16002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229100"/>
            <a:ext cx="16002000" cy="19050"/>
          </a:xfrm>
          <a:prstGeom prst="rect">
            <a:avLst/>
          </a:prstGeom>
          <a:solidFill>
            <a:srgbClr val="201E1E">
              <a:alpha val="40000"/>
            </a:srgbClr>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43000" y="4591050"/>
            <a:ext cx="16002000" cy="1010915"/>
          </a:xfrm>
          <a:prstGeom prst="rect">
            <a:avLst/>
          </a:prstGeom>
        </p:spPr>
      </p:pic>
      <p:sp>
        <p:nvSpPr>
          <p:cNvPr id="8" name="Text 5"/>
          <p:cNvSpPr/>
          <p:nvPr/>
        </p:nvSpPr>
        <p:spPr>
          <a:xfrm>
            <a:off x="1143000" y="6098753"/>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n!</a:t>
            </a:r>
            <a:endParaRPr lang="en-US" sz="1950" dirty="0"/>
          </a:p>
        </p:txBody>
      </p:sp>
      <p:sp>
        <p:nvSpPr>
          <p:cNvPr id="9" name="Text 6"/>
          <p:cNvSpPr/>
          <p:nvPr/>
        </p:nvSpPr>
        <p:spPr>
          <a:xfrm>
            <a:off x="4343400" y="6098753"/>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Every possible ordering of all five candidates: 120.</a:t>
            </a:r>
            <a:endParaRPr lang="en-US" sz="1950" dirty="0"/>
          </a:p>
        </p:txBody>
      </p:sp>
      <p:sp>
        <p:nvSpPr>
          <p:cNvPr id="10" name="Text 7"/>
          <p:cNvSpPr/>
          <p:nvPr/>
        </p:nvSpPr>
        <p:spPr>
          <a:xfrm>
            <a:off x="1143000" y="6805092"/>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(n−r)!</a:t>
            </a:r>
            <a:endParaRPr lang="en-US" sz="1950" dirty="0"/>
          </a:p>
        </p:txBody>
      </p:sp>
      <p:sp>
        <p:nvSpPr>
          <p:cNvPr id="11" name="Text 8"/>
          <p:cNvSpPr/>
          <p:nvPr/>
        </p:nvSpPr>
        <p:spPr>
          <a:xfrm>
            <a:off x="4343400" y="6805092"/>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two people you did not pick can still be shuffled among themselves in 2! = 2 ways — and those shuffles do not change your podium. Divide them out.</a:t>
            </a:r>
            <a:endParaRPr lang="en-US" sz="1950" dirty="0"/>
          </a:p>
        </p:txBody>
      </p:sp>
      <p:sp>
        <p:nvSpPr>
          <p:cNvPr id="12" name="Text 9"/>
          <p:cNvSpPr/>
          <p:nvPr/>
        </p:nvSpPr>
        <p:spPr>
          <a:xfrm>
            <a:off x="1143000" y="7681317"/>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Result</a:t>
            </a:r>
            <a:endParaRPr lang="en-US" sz="1950" dirty="0"/>
          </a:p>
        </p:txBody>
      </p:sp>
      <p:sp>
        <p:nvSpPr>
          <p:cNvPr id="13" name="Text 10"/>
          <p:cNvSpPr/>
          <p:nvPr/>
        </p:nvSpPr>
        <p:spPr>
          <a:xfrm>
            <a:off x="4343400" y="7681317"/>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60 distinct podiums.</a:t>
            </a:r>
            <a:endParaRPr lang="en-US" sz="1950" dirty="0"/>
          </a:p>
        </p:txBody>
      </p:sp>
      <p:pic>
        <p:nvPicPr>
          <p:cNvPr id="14"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01 · ORDER DOES NOT MATTER</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Combinations: same people, no positions</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Now pick a 3-person project team from the same 5 candidates. It does not matter who you name first — Alice-Bob-Carla is the same team as Carla-Alice-Bob. Combinations count groups, not orderings.</a:t>
            </a:r>
            <a:endParaRPr lang="en-US" sz="2100" dirty="0"/>
          </a:p>
        </p:txBody>
      </p:sp>
      <p:sp>
        <p:nvSpPr>
          <p:cNvPr id="5" name="Shape 3"/>
          <p:cNvSpPr/>
          <p:nvPr/>
        </p:nvSpPr>
        <p:spPr>
          <a:xfrm>
            <a:off x="1143000" y="38862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4080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40651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40651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Start from the 60 ordered podiums we just counted</a:t>
            </a:r>
            <a:endParaRPr lang="en-US" sz="2100" dirty="0"/>
          </a:p>
        </p:txBody>
      </p:sp>
      <p:sp>
        <p:nvSpPr>
          <p:cNvPr id="9" name="Shape 7"/>
          <p:cNvSpPr/>
          <p:nvPr/>
        </p:nvSpPr>
        <p:spPr>
          <a:xfrm>
            <a:off x="1143000" y="49204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5775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5775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Any single team of 3 people appears in the list 3! = 6 times, once per internal ordering</a:t>
            </a:r>
            <a:endParaRPr lang="en-US" sz="2100" dirty="0"/>
          </a:p>
        </p:txBody>
      </p:sp>
      <p:sp>
        <p:nvSpPr>
          <p:cNvPr id="12" name="Shape 10"/>
          <p:cNvSpPr/>
          <p:nvPr/>
        </p:nvSpPr>
        <p:spPr>
          <a:xfrm>
            <a:off x="1143000" y="54327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50898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5089847"/>
            <a:ext cx="13746480" cy="221084"/>
          </a:xfrm>
          <a:prstGeom prst="rect">
            <a:avLst/>
          </a:prstGeom>
          <a:noFill/>
          <a:ln/>
        </p:spPr>
        <p:txBody>
          <a:bodyPr wrap="square" lIns="25400" tIns="25400" rIns="25400" bIns="25400" rtlCol="0" anchor="t">
            <a:noAutofit/>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So, divide the 60 by the 6 duplicates: </a:t>
            </a:r>
            <a:r>
              <a:rPr lang="en-US" sz="2100" b="1" dirty="0">
                <a:solidFill>
                  <a:srgbClr val="201E1D"/>
                </a:solidFill>
                <a:latin typeface="Arial" pitchFamily="34" charset="0"/>
                <a:ea typeface="Arial" pitchFamily="34" charset="-122"/>
                <a:cs typeface="Arial" pitchFamily="34" charset="-120"/>
              </a:rPr>
              <a:t>60 ÷ 6 = 10</a:t>
            </a:r>
            <a:endParaRPr lang="en-US" sz="2100" dirty="0"/>
          </a:p>
        </p:txBody>
      </p:sp>
      <p:sp>
        <p:nvSpPr>
          <p:cNvPr id="15" name="Shape 13"/>
          <p:cNvSpPr/>
          <p:nvPr/>
        </p:nvSpPr>
        <p:spPr>
          <a:xfrm>
            <a:off x="1143000" y="5953125"/>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602188"/>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17" name="Text 15"/>
          <p:cNvSpPr/>
          <p:nvPr/>
        </p:nvSpPr>
        <p:spPr>
          <a:xfrm>
            <a:off x="1981200" y="5602188"/>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10 distinct teams — combinations = permutations ÷ orderings</a:t>
            </a:r>
            <a:endParaRPr lang="en-US" sz="2100" dirty="0"/>
          </a:p>
        </p:txBody>
      </p:sp>
      <p:sp>
        <p:nvSpPr>
          <p:cNvPr id="18" name="Shape 16"/>
          <p:cNvSpPr/>
          <p:nvPr/>
        </p:nvSpPr>
        <p:spPr>
          <a:xfrm>
            <a:off x="1143000" y="7160865"/>
            <a:ext cx="16002000" cy="19050"/>
          </a:xfrm>
          <a:prstGeom prst="rect">
            <a:avLst/>
          </a:prstGeom>
          <a:solidFill>
            <a:srgbClr val="EC3013"/>
          </a:solidFill>
          <a:ln/>
        </p:spPr>
        <p:txBody>
          <a:bodyPr/>
          <a:lstStyle/>
          <a:p>
            <a:endParaRPr lang="en-US"/>
          </a:p>
        </p:txBody>
      </p:sp>
      <p:sp>
        <p:nvSpPr>
          <p:cNvPr id="19" name="Text 17"/>
          <p:cNvSpPr/>
          <p:nvPr/>
        </p:nvSpPr>
        <p:spPr>
          <a:xfrm>
            <a:off x="1143000" y="7539037"/>
            <a:ext cx="2552700" cy="957263"/>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PRO TIP</a:t>
            </a:r>
            <a:endParaRPr lang="en-US" sz="1800" dirty="0"/>
          </a:p>
        </p:txBody>
      </p:sp>
      <p:sp>
        <p:nvSpPr>
          <p:cNvPr id="20" name="Text 18"/>
          <p:cNvSpPr/>
          <p:nvPr/>
        </p:nvSpPr>
        <p:spPr>
          <a:xfrm>
            <a:off x="4076700" y="7539037"/>
            <a:ext cx="13460349" cy="957263"/>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Ask one question and the formula chooses itself: </a:t>
            </a:r>
            <a:r>
              <a:rPr lang="en-US" sz="2100" i="1" dirty="0">
                <a:solidFill>
                  <a:srgbClr val="201E1D"/>
                </a:solidFill>
                <a:latin typeface="Arial" pitchFamily="34" charset="0"/>
                <a:ea typeface="Arial" pitchFamily="34" charset="-122"/>
                <a:cs typeface="Arial" pitchFamily="34" charset="-120"/>
              </a:rPr>
              <a:t>would swapping two picks give me a different answer? </a:t>
            </a:r>
            <a:r>
              <a:rPr lang="en-US" sz="2100" dirty="0">
                <a:solidFill>
                  <a:srgbClr val="201E1D"/>
                </a:solidFill>
                <a:latin typeface="Arial" pitchFamily="34" charset="0"/>
                <a:ea typeface="Arial" pitchFamily="34" charset="-122"/>
                <a:cs typeface="Arial" pitchFamily="34" charset="-120"/>
              </a:rPr>
              <a:t>Yes means permutation. No means combination.</a:t>
            </a:r>
            <a:endParaRPr lang="en-US" sz="2100" dirty="0"/>
          </a:p>
        </p:txBody>
      </p:sp>
      <p:pic>
        <p:nvPicPr>
          <p:cNvPr id="21"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01 · WHY THE FORMULA WORKS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Why divide by both r! and (n−r)!</a:t>
            </a:r>
            <a:endParaRPr lang="en-US" sz="4800" dirty="0"/>
          </a:p>
        </p:txBody>
      </p:sp>
      <p:sp>
        <p:nvSpPr>
          <p:cNvPr id="4" name="Shape 2"/>
          <p:cNvSpPr/>
          <p:nvPr/>
        </p:nvSpPr>
        <p:spPr>
          <a:xfrm>
            <a:off x="1143000" y="4916165"/>
            <a:ext cx="16002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3200400"/>
            <a:ext cx="16002000" cy="19050"/>
          </a:xfrm>
          <a:prstGeom prst="rect">
            <a:avLst/>
          </a:prstGeom>
          <a:solidFill>
            <a:srgbClr val="201E1E">
              <a:alpha val="40000"/>
            </a:srgbClr>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43000" y="3562350"/>
            <a:ext cx="16002000" cy="1010915"/>
          </a:xfrm>
          <a:prstGeom prst="rect">
            <a:avLst/>
          </a:prstGeom>
        </p:spPr>
      </p:pic>
      <p:sp>
        <p:nvSpPr>
          <p:cNvPr id="7" name="Text 4"/>
          <p:cNvSpPr/>
          <p:nvPr/>
        </p:nvSpPr>
        <p:spPr>
          <a:xfrm>
            <a:off x="1143000" y="5070053"/>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n! — start here</a:t>
            </a:r>
            <a:endParaRPr lang="en-US" sz="1950" dirty="0"/>
          </a:p>
        </p:txBody>
      </p:sp>
      <p:sp>
        <p:nvSpPr>
          <p:cNvPr id="8" name="Text 5"/>
          <p:cNvSpPr/>
          <p:nvPr/>
        </p:nvSpPr>
        <p:spPr>
          <a:xfrm>
            <a:off x="4343400" y="5070053"/>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All 120 ways to line up every one of the 5 candidates in some order. This over-counts wildly, and the two divisions below remove exactly the over-counting.</a:t>
            </a:r>
            <a:endParaRPr lang="en-US" sz="1950" dirty="0"/>
          </a:p>
        </p:txBody>
      </p:sp>
      <p:sp>
        <p:nvSpPr>
          <p:cNvPr id="9" name="Text 6"/>
          <p:cNvSpPr/>
          <p:nvPr/>
        </p:nvSpPr>
        <p:spPr>
          <a:xfrm>
            <a:off x="1143000" y="5946279"/>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 r! — chosen</a:t>
            </a:r>
            <a:endParaRPr lang="en-US" sz="1950" dirty="0"/>
          </a:p>
        </p:txBody>
      </p:sp>
      <p:sp>
        <p:nvSpPr>
          <p:cNvPr id="10" name="Text 7"/>
          <p:cNvSpPr/>
          <p:nvPr/>
        </p:nvSpPr>
        <p:spPr>
          <a:xfrm>
            <a:off x="4343400" y="5946279"/>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3 people on your team can be listed in 3! = 6 orders. All 6 are the same team, so 6 of the 120 line-ups are duplicates of each other. Divide by 6.</a:t>
            </a:r>
            <a:endParaRPr lang="en-US" sz="1950" dirty="0"/>
          </a:p>
        </p:txBody>
      </p:sp>
      <p:sp>
        <p:nvSpPr>
          <p:cNvPr id="11" name="Text 8"/>
          <p:cNvSpPr/>
          <p:nvPr/>
        </p:nvSpPr>
        <p:spPr>
          <a:xfrm>
            <a:off x="1143000" y="6822504"/>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 (n−r)! — not chosen</a:t>
            </a:r>
            <a:endParaRPr lang="en-US" sz="1950" dirty="0"/>
          </a:p>
        </p:txBody>
      </p:sp>
      <p:sp>
        <p:nvSpPr>
          <p:cNvPr id="12" name="Text 9"/>
          <p:cNvSpPr/>
          <p:nvPr/>
        </p:nvSpPr>
        <p:spPr>
          <a:xfrm>
            <a:off x="4343400" y="6822504"/>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2 people left out can also be shuffled, in 2! = 2 ways. Nobody cares in what order you rejected them, so those are duplicates too. Divide by 2.</a:t>
            </a:r>
            <a:endParaRPr lang="en-US" sz="1950" dirty="0"/>
          </a:p>
        </p:txBody>
      </p:sp>
      <p:sp>
        <p:nvSpPr>
          <p:cNvPr id="13" name="Text 10"/>
          <p:cNvSpPr/>
          <p:nvPr/>
        </p:nvSpPr>
        <p:spPr>
          <a:xfrm>
            <a:off x="1143000" y="7698730"/>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What remains</a:t>
            </a:r>
            <a:endParaRPr lang="en-US" sz="1950" dirty="0"/>
          </a:p>
        </p:txBody>
      </p:sp>
      <p:sp>
        <p:nvSpPr>
          <p:cNvPr id="14" name="Text 11"/>
          <p:cNvSpPr/>
          <p:nvPr/>
        </p:nvSpPr>
        <p:spPr>
          <a:xfrm>
            <a:off x="4343400" y="7698730"/>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120 ÷ 6 ÷ 2 = 10 — pure groups, with every trace of ordering removed from both sides of the split.</a:t>
            </a:r>
            <a:endParaRPr lang="en-US" sz="1950" dirty="0"/>
          </a:p>
        </p:txBody>
      </p:sp>
      <p:pic>
        <p:nvPicPr>
          <p:cNvPr id="15"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01 · WORKED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All ten sundaes, written out</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sundae takes 3 flavours from 5 available: </a:t>
            </a:r>
            <a:r>
              <a:rPr lang="en-US" sz="2100" b="1" dirty="0">
                <a:solidFill>
                  <a:srgbClr val="201E1D"/>
                </a:solidFill>
                <a:latin typeface="Arial" pitchFamily="34" charset="0"/>
                <a:ea typeface="Arial" pitchFamily="34" charset="-122"/>
                <a:cs typeface="Arial" pitchFamily="34" charset="-120"/>
              </a:rPr>
              <a:t>C</a:t>
            </a:r>
            <a:r>
              <a:rPr lang="en-US" sz="2100" dirty="0">
                <a:solidFill>
                  <a:srgbClr val="201E1D"/>
                </a:solidFill>
                <a:latin typeface="Arial" pitchFamily="34" charset="0"/>
                <a:ea typeface="Arial" pitchFamily="34" charset="-122"/>
                <a:cs typeface="Arial" pitchFamily="34" charset="-120"/>
              </a:rPr>
              <a:t>hocolate, </a:t>
            </a:r>
            <a:r>
              <a:rPr lang="en-US" sz="2100" b="1" dirty="0">
                <a:solidFill>
                  <a:srgbClr val="201E1D"/>
                </a:solidFill>
                <a:latin typeface="Arial" pitchFamily="34" charset="0"/>
                <a:ea typeface="Arial" pitchFamily="34" charset="-122"/>
                <a:cs typeface="Arial" pitchFamily="34" charset="-120"/>
              </a:rPr>
              <a:t>V</a:t>
            </a:r>
            <a:r>
              <a:rPr lang="en-US" sz="2100" dirty="0">
                <a:solidFill>
                  <a:srgbClr val="201E1D"/>
                </a:solidFill>
                <a:latin typeface="Arial" pitchFamily="34" charset="0"/>
                <a:ea typeface="Arial" pitchFamily="34" charset="-122"/>
                <a:cs typeface="Arial" pitchFamily="34" charset="-120"/>
              </a:rPr>
              <a:t>anilla, </a:t>
            </a:r>
            <a:r>
              <a:rPr lang="en-US" sz="2100" b="1" dirty="0">
                <a:solidFill>
                  <a:srgbClr val="201E1D"/>
                </a:solidFill>
                <a:latin typeface="Arial" pitchFamily="34" charset="0"/>
                <a:ea typeface="Arial" pitchFamily="34" charset="-122"/>
                <a:cs typeface="Arial" pitchFamily="34" charset="-120"/>
              </a:rPr>
              <a:t>M</a:t>
            </a:r>
            <a:r>
              <a:rPr lang="en-US" sz="2100" dirty="0">
                <a:solidFill>
                  <a:srgbClr val="201E1D"/>
                </a:solidFill>
                <a:latin typeface="Arial" pitchFamily="34" charset="0"/>
                <a:ea typeface="Arial" pitchFamily="34" charset="-122"/>
                <a:cs typeface="Arial" pitchFamily="34" charset="-120"/>
              </a:rPr>
              <a:t>ango, </a:t>
            </a:r>
            <a:r>
              <a:rPr lang="en-US" sz="2100" b="1" dirty="0">
                <a:solidFill>
                  <a:srgbClr val="201E1D"/>
                </a:solidFill>
                <a:latin typeface="Arial" pitchFamily="34" charset="0"/>
                <a:ea typeface="Arial" pitchFamily="34" charset="-122"/>
                <a:cs typeface="Arial" pitchFamily="34" charset="-120"/>
              </a:rPr>
              <a:t>S</a:t>
            </a:r>
            <a:r>
              <a:rPr lang="en-US" sz="2100" dirty="0">
                <a:solidFill>
                  <a:srgbClr val="201E1D"/>
                </a:solidFill>
                <a:latin typeface="Arial" pitchFamily="34" charset="0"/>
                <a:ea typeface="Arial" pitchFamily="34" charset="-122"/>
                <a:cs typeface="Arial" pitchFamily="34" charset="-120"/>
              </a:rPr>
              <a:t>trawberry, </a:t>
            </a:r>
            <a:r>
              <a:rPr lang="en-US" sz="2100" b="1" dirty="0">
                <a:solidFill>
                  <a:srgbClr val="201E1D"/>
                </a:solidFill>
                <a:latin typeface="Arial" pitchFamily="34" charset="0"/>
                <a:ea typeface="Arial" pitchFamily="34" charset="-122"/>
                <a:cs typeface="Arial" pitchFamily="34" charset="-120"/>
              </a:rPr>
              <a:t>P </a:t>
            </a:r>
            <a:r>
              <a:rPr lang="en-US" sz="2100" dirty="0">
                <a:solidFill>
                  <a:srgbClr val="201E1D"/>
                </a:solidFill>
                <a:latin typeface="Arial" pitchFamily="34" charset="0"/>
                <a:ea typeface="Arial" pitchFamily="34" charset="-122"/>
                <a:cs typeface="Arial" pitchFamily="34" charset="-120"/>
              </a:rPr>
              <a:t>istachio. Order does not matter — C-V-M is the same sundae as M-V-C — so this is a combination.</a:t>
            </a:r>
            <a:endParaRPr lang="en-US" sz="2100" dirty="0"/>
          </a:p>
        </p:txBody>
      </p:sp>
      <p:sp>
        <p:nvSpPr>
          <p:cNvPr id="5" name="Shape 3"/>
          <p:cNvSpPr/>
          <p:nvPr/>
        </p:nvSpPr>
        <p:spPr>
          <a:xfrm>
            <a:off x="1143000" y="4229100"/>
            <a:ext cx="2788890" cy="742950"/>
          </a:xfrm>
          <a:prstGeom prst="rect">
            <a:avLst/>
          </a:prstGeom>
          <a:ln w="19050">
            <a:solidFill>
              <a:srgbClr val="201E1E">
                <a:alpha val="40000"/>
              </a:srgbClr>
            </a:solidFill>
            <a:prstDash val="solid"/>
          </a:ln>
        </p:spPr>
        <p:txBody>
          <a:bodyPr/>
          <a:lstStyle/>
          <a:p>
            <a:endParaRPr lang="en-US"/>
          </a:p>
        </p:txBody>
      </p:sp>
      <p:sp>
        <p:nvSpPr>
          <p:cNvPr id="6" name="Text 4"/>
          <p:cNvSpPr/>
          <p:nvPr/>
        </p:nvSpPr>
        <p:spPr>
          <a:xfrm>
            <a:off x="1390650" y="4438650"/>
            <a:ext cx="2377257" cy="361950"/>
          </a:xfrm>
          <a:prstGeom prst="rect">
            <a:avLst/>
          </a:prstGeom>
          <a:noFill/>
          <a:ln/>
        </p:spPr>
        <p:txBody>
          <a:bodyPr wrap="square" lIns="25400" tIns="25400" rIns="25400" bIns="25400" rtlCol="0" anchor="t">
            <a:normAutofit lnSpcReduction="10000"/>
          </a:bodyPr>
          <a:lstStyle/>
          <a:p>
            <a:pPr marL="0" indent="0" algn="l">
              <a:lnSpc>
                <a:spcPct val="123636"/>
              </a:lnSpc>
              <a:buNone/>
            </a:pPr>
            <a:r>
              <a:rPr lang="en-US" sz="1800" dirty="0">
                <a:solidFill>
                  <a:srgbClr val="201E1D"/>
                </a:solidFill>
                <a:latin typeface="Arial" pitchFamily="34" charset="0"/>
                <a:ea typeface="Arial" pitchFamily="34" charset="-122"/>
                <a:cs typeface="Arial" pitchFamily="34" charset="-120"/>
              </a:rPr>
              <a:t>C V M</a:t>
            </a:r>
            <a:endParaRPr lang="en-US" sz="1800" dirty="0"/>
          </a:p>
        </p:txBody>
      </p:sp>
      <p:sp>
        <p:nvSpPr>
          <p:cNvPr id="7" name="Shape 5"/>
          <p:cNvSpPr/>
          <p:nvPr/>
        </p:nvSpPr>
        <p:spPr>
          <a:xfrm>
            <a:off x="4160490" y="4229100"/>
            <a:ext cx="2788890" cy="742950"/>
          </a:xfrm>
          <a:prstGeom prst="rect">
            <a:avLst/>
          </a:prstGeom>
          <a:ln w="19050">
            <a:solidFill>
              <a:srgbClr val="201E1E">
                <a:alpha val="40000"/>
              </a:srgbClr>
            </a:solidFill>
            <a:prstDash val="solid"/>
          </a:ln>
        </p:spPr>
        <p:txBody>
          <a:bodyPr/>
          <a:lstStyle/>
          <a:p>
            <a:endParaRPr lang="en-US"/>
          </a:p>
        </p:txBody>
      </p:sp>
      <p:sp>
        <p:nvSpPr>
          <p:cNvPr id="8" name="Text 6"/>
          <p:cNvSpPr/>
          <p:nvPr/>
        </p:nvSpPr>
        <p:spPr>
          <a:xfrm>
            <a:off x="4408140" y="4438650"/>
            <a:ext cx="2377257" cy="361950"/>
          </a:xfrm>
          <a:prstGeom prst="rect">
            <a:avLst/>
          </a:prstGeom>
          <a:noFill/>
          <a:ln/>
        </p:spPr>
        <p:txBody>
          <a:bodyPr wrap="square" lIns="25400" tIns="25400" rIns="25400" bIns="25400" rtlCol="0" anchor="t">
            <a:normAutofit lnSpcReduction="10000"/>
          </a:bodyPr>
          <a:lstStyle/>
          <a:p>
            <a:pPr marL="0" indent="0" algn="l">
              <a:lnSpc>
                <a:spcPct val="123636"/>
              </a:lnSpc>
              <a:buNone/>
            </a:pPr>
            <a:r>
              <a:rPr lang="en-US" sz="1800" dirty="0">
                <a:solidFill>
                  <a:srgbClr val="201E1D"/>
                </a:solidFill>
                <a:latin typeface="Arial" pitchFamily="34" charset="0"/>
                <a:ea typeface="Arial" pitchFamily="34" charset="-122"/>
                <a:cs typeface="Arial" pitchFamily="34" charset="-120"/>
              </a:rPr>
              <a:t>C V S</a:t>
            </a:r>
            <a:endParaRPr lang="en-US" sz="1800" dirty="0"/>
          </a:p>
        </p:txBody>
      </p:sp>
      <p:sp>
        <p:nvSpPr>
          <p:cNvPr id="9" name="Shape 7"/>
          <p:cNvSpPr/>
          <p:nvPr/>
        </p:nvSpPr>
        <p:spPr>
          <a:xfrm>
            <a:off x="7177980" y="4229100"/>
            <a:ext cx="2788965" cy="742950"/>
          </a:xfrm>
          <a:prstGeom prst="rect">
            <a:avLst/>
          </a:prstGeom>
          <a:ln w="19050">
            <a:solidFill>
              <a:srgbClr val="201E1E">
                <a:alpha val="40000"/>
              </a:srgbClr>
            </a:solidFill>
            <a:prstDash val="solid"/>
          </a:ln>
        </p:spPr>
        <p:txBody>
          <a:bodyPr/>
          <a:lstStyle/>
          <a:p>
            <a:endParaRPr lang="en-US"/>
          </a:p>
        </p:txBody>
      </p:sp>
      <p:sp>
        <p:nvSpPr>
          <p:cNvPr id="10" name="Text 8"/>
          <p:cNvSpPr/>
          <p:nvPr/>
        </p:nvSpPr>
        <p:spPr>
          <a:xfrm>
            <a:off x="7425630" y="4438650"/>
            <a:ext cx="2377334" cy="361950"/>
          </a:xfrm>
          <a:prstGeom prst="rect">
            <a:avLst/>
          </a:prstGeom>
          <a:noFill/>
          <a:ln/>
        </p:spPr>
        <p:txBody>
          <a:bodyPr wrap="square" lIns="25400" tIns="25400" rIns="25400" bIns="25400" rtlCol="0" anchor="t">
            <a:normAutofit lnSpcReduction="10000"/>
          </a:bodyPr>
          <a:lstStyle/>
          <a:p>
            <a:pPr marL="0" indent="0" algn="l">
              <a:lnSpc>
                <a:spcPct val="123636"/>
              </a:lnSpc>
              <a:buNone/>
            </a:pPr>
            <a:r>
              <a:rPr lang="en-US" sz="1800" dirty="0">
                <a:solidFill>
                  <a:srgbClr val="201E1D"/>
                </a:solidFill>
                <a:latin typeface="Arial" pitchFamily="34" charset="0"/>
                <a:ea typeface="Arial" pitchFamily="34" charset="-122"/>
                <a:cs typeface="Arial" pitchFamily="34" charset="-120"/>
              </a:rPr>
              <a:t>C V P</a:t>
            </a:r>
            <a:endParaRPr lang="en-US" sz="1800" dirty="0"/>
          </a:p>
        </p:txBody>
      </p:sp>
      <p:sp>
        <p:nvSpPr>
          <p:cNvPr id="11" name="Shape 9"/>
          <p:cNvSpPr/>
          <p:nvPr/>
        </p:nvSpPr>
        <p:spPr>
          <a:xfrm>
            <a:off x="10195545" y="4229100"/>
            <a:ext cx="2788890" cy="742950"/>
          </a:xfrm>
          <a:prstGeom prst="rect">
            <a:avLst/>
          </a:prstGeom>
          <a:ln w="19050">
            <a:solidFill>
              <a:srgbClr val="201E1E">
                <a:alpha val="40000"/>
              </a:srgbClr>
            </a:solidFill>
            <a:prstDash val="solid"/>
          </a:ln>
        </p:spPr>
        <p:txBody>
          <a:bodyPr/>
          <a:lstStyle/>
          <a:p>
            <a:endParaRPr lang="en-US"/>
          </a:p>
        </p:txBody>
      </p:sp>
      <p:sp>
        <p:nvSpPr>
          <p:cNvPr id="12" name="Text 10"/>
          <p:cNvSpPr/>
          <p:nvPr/>
        </p:nvSpPr>
        <p:spPr>
          <a:xfrm>
            <a:off x="10443195" y="4438650"/>
            <a:ext cx="2377257" cy="361950"/>
          </a:xfrm>
          <a:prstGeom prst="rect">
            <a:avLst/>
          </a:prstGeom>
          <a:noFill/>
          <a:ln/>
        </p:spPr>
        <p:txBody>
          <a:bodyPr wrap="square" lIns="25400" tIns="25400" rIns="25400" bIns="25400" rtlCol="0" anchor="t">
            <a:normAutofit lnSpcReduction="10000"/>
          </a:bodyPr>
          <a:lstStyle/>
          <a:p>
            <a:pPr marL="0" indent="0" algn="l">
              <a:lnSpc>
                <a:spcPct val="123636"/>
              </a:lnSpc>
              <a:buNone/>
            </a:pPr>
            <a:r>
              <a:rPr lang="en-US" sz="1800" dirty="0">
                <a:solidFill>
                  <a:srgbClr val="201E1D"/>
                </a:solidFill>
                <a:latin typeface="Arial" pitchFamily="34" charset="0"/>
                <a:ea typeface="Arial" pitchFamily="34" charset="-122"/>
                <a:cs typeface="Arial" pitchFamily="34" charset="-120"/>
              </a:rPr>
              <a:t>C M S</a:t>
            </a:r>
            <a:endParaRPr lang="en-US" sz="1800" dirty="0"/>
          </a:p>
        </p:txBody>
      </p:sp>
      <p:sp>
        <p:nvSpPr>
          <p:cNvPr id="13" name="Shape 11"/>
          <p:cNvSpPr/>
          <p:nvPr/>
        </p:nvSpPr>
        <p:spPr>
          <a:xfrm>
            <a:off x="13213035" y="4229100"/>
            <a:ext cx="2788890" cy="742950"/>
          </a:xfrm>
          <a:prstGeom prst="rect">
            <a:avLst/>
          </a:prstGeom>
          <a:ln w="19050">
            <a:solidFill>
              <a:srgbClr val="201E1E">
                <a:alpha val="40000"/>
              </a:srgbClr>
            </a:solidFill>
            <a:prstDash val="solid"/>
          </a:ln>
        </p:spPr>
        <p:txBody>
          <a:bodyPr/>
          <a:lstStyle/>
          <a:p>
            <a:endParaRPr lang="en-US"/>
          </a:p>
        </p:txBody>
      </p:sp>
      <p:sp>
        <p:nvSpPr>
          <p:cNvPr id="14" name="Text 12"/>
          <p:cNvSpPr/>
          <p:nvPr/>
        </p:nvSpPr>
        <p:spPr>
          <a:xfrm>
            <a:off x="13460685" y="4438650"/>
            <a:ext cx="2377257" cy="361950"/>
          </a:xfrm>
          <a:prstGeom prst="rect">
            <a:avLst/>
          </a:prstGeom>
          <a:noFill/>
          <a:ln/>
        </p:spPr>
        <p:txBody>
          <a:bodyPr wrap="square" lIns="25400" tIns="25400" rIns="25400" bIns="25400" rtlCol="0" anchor="t">
            <a:normAutofit lnSpcReduction="10000"/>
          </a:bodyPr>
          <a:lstStyle/>
          <a:p>
            <a:pPr marL="0" indent="0" algn="l">
              <a:lnSpc>
                <a:spcPct val="123636"/>
              </a:lnSpc>
              <a:buNone/>
            </a:pPr>
            <a:r>
              <a:rPr lang="en-US" sz="1800" dirty="0">
                <a:solidFill>
                  <a:srgbClr val="201E1D"/>
                </a:solidFill>
                <a:latin typeface="Arial" pitchFamily="34" charset="0"/>
                <a:ea typeface="Arial" pitchFamily="34" charset="-122"/>
                <a:cs typeface="Arial" pitchFamily="34" charset="-120"/>
              </a:rPr>
              <a:t>C M P</a:t>
            </a:r>
            <a:endParaRPr lang="en-US" sz="1800" dirty="0"/>
          </a:p>
        </p:txBody>
      </p:sp>
      <p:sp>
        <p:nvSpPr>
          <p:cNvPr id="15" name="Shape 13"/>
          <p:cNvSpPr/>
          <p:nvPr/>
        </p:nvSpPr>
        <p:spPr>
          <a:xfrm>
            <a:off x="1143000" y="5200650"/>
            <a:ext cx="2788890" cy="742950"/>
          </a:xfrm>
          <a:prstGeom prst="rect">
            <a:avLst/>
          </a:prstGeom>
          <a:ln w="19050">
            <a:solidFill>
              <a:srgbClr val="201E1E">
                <a:alpha val="40000"/>
              </a:srgbClr>
            </a:solidFill>
            <a:prstDash val="solid"/>
          </a:ln>
        </p:spPr>
        <p:txBody>
          <a:bodyPr/>
          <a:lstStyle/>
          <a:p>
            <a:endParaRPr lang="en-US"/>
          </a:p>
        </p:txBody>
      </p:sp>
      <p:sp>
        <p:nvSpPr>
          <p:cNvPr id="16" name="Text 14"/>
          <p:cNvSpPr/>
          <p:nvPr/>
        </p:nvSpPr>
        <p:spPr>
          <a:xfrm>
            <a:off x="1390650" y="5410200"/>
            <a:ext cx="2377257" cy="361950"/>
          </a:xfrm>
          <a:prstGeom prst="rect">
            <a:avLst/>
          </a:prstGeom>
          <a:noFill/>
          <a:ln/>
        </p:spPr>
        <p:txBody>
          <a:bodyPr wrap="square" lIns="25400" tIns="25400" rIns="25400" bIns="25400" rtlCol="0" anchor="t">
            <a:normAutofit lnSpcReduction="10000"/>
          </a:bodyPr>
          <a:lstStyle/>
          <a:p>
            <a:pPr marL="0" indent="0" algn="l">
              <a:lnSpc>
                <a:spcPct val="123636"/>
              </a:lnSpc>
              <a:buNone/>
            </a:pPr>
            <a:r>
              <a:rPr lang="en-US" sz="1800" dirty="0">
                <a:solidFill>
                  <a:srgbClr val="201E1D"/>
                </a:solidFill>
                <a:latin typeface="Arial" pitchFamily="34" charset="0"/>
                <a:ea typeface="Arial" pitchFamily="34" charset="-122"/>
                <a:cs typeface="Arial" pitchFamily="34" charset="-120"/>
              </a:rPr>
              <a:t>C S P</a:t>
            </a:r>
            <a:endParaRPr lang="en-US" sz="1800" dirty="0"/>
          </a:p>
        </p:txBody>
      </p:sp>
      <p:sp>
        <p:nvSpPr>
          <p:cNvPr id="17" name="Shape 15"/>
          <p:cNvSpPr/>
          <p:nvPr/>
        </p:nvSpPr>
        <p:spPr>
          <a:xfrm>
            <a:off x="4160490" y="5200650"/>
            <a:ext cx="2788890" cy="742950"/>
          </a:xfrm>
          <a:prstGeom prst="rect">
            <a:avLst/>
          </a:prstGeom>
          <a:ln w="19050">
            <a:solidFill>
              <a:srgbClr val="201E1E">
                <a:alpha val="40000"/>
              </a:srgbClr>
            </a:solidFill>
            <a:prstDash val="solid"/>
          </a:ln>
        </p:spPr>
        <p:txBody>
          <a:bodyPr/>
          <a:lstStyle/>
          <a:p>
            <a:endParaRPr lang="en-US"/>
          </a:p>
        </p:txBody>
      </p:sp>
      <p:sp>
        <p:nvSpPr>
          <p:cNvPr id="18" name="Text 16"/>
          <p:cNvSpPr/>
          <p:nvPr/>
        </p:nvSpPr>
        <p:spPr>
          <a:xfrm>
            <a:off x="4408140" y="5410200"/>
            <a:ext cx="2377257" cy="361950"/>
          </a:xfrm>
          <a:prstGeom prst="rect">
            <a:avLst/>
          </a:prstGeom>
          <a:noFill/>
          <a:ln/>
        </p:spPr>
        <p:txBody>
          <a:bodyPr wrap="square" lIns="25400" tIns="25400" rIns="25400" bIns="25400" rtlCol="0" anchor="t">
            <a:normAutofit lnSpcReduction="10000"/>
          </a:bodyPr>
          <a:lstStyle/>
          <a:p>
            <a:pPr marL="0" indent="0" algn="l">
              <a:lnSpc>
                <a:spcPct val="123636"/>
              </a:lnSpc>
              <a:buNone/>
            </a:pPr>
            <a:r>
              <a:rPr lang="en-US" sz="1800" dirty="0">
                <a:solidFill>
                  <a:srgbClr val="201E1D"/>
                </a:solidFill>
                <a:latin typeface="Arial" pitchFamily="34" charset="0"/>
                <a:ea typeface="Arial" pitchFamily="34" charset="-122"/>
                <a:cs typeface="Arial" pitchFamily="34" charset="-120"/>
              </a:rPr>
              <a:t>V M S</a:t>
            </a:r>
            <a:endParaRPr lang="en-US" sz="1800" dirty="0"/>
          </a:p>
        </p:txBody>
      </p:sp>
      <p:sp>
        <p:nvSpPr>
          <p:cNvPr id="19" name="Shape 17"/>
          <p:cNvSpPr/>
          <p:nvPr/>
        </p:nvSpPr>
        <p:spPr>
          <a:xfrm>
            <a:off x="7177980" y="5200650"/>
            <a:ext cx="2788965" cy="742950"/>
          </a:xfrm>
          <a:prstGeom prst="rect">
            <a:avLst/>
          </a:prstGeom>
          <a:ln w="19050">
            <a:solidFill>
              <a:srgbClr val="201E1E">
                <a:alpha val="40000"/>
              </a:srgbClr>
            </a:solidFill>
            <a:prstDash val="solid"/>
          </a:ln>
        </p:spPr>
        <p:txBody>
          <a:bodyPr/>
          <a:lstStyle/>
          <a:p>
            <a:endParaRPr lang="en-US"/>
          </a:p>
        </p:txBody>
      </p:sp>
      <p:sp>
        <p:nvSpPr>
          <p:cNvPr id="20" name="Text 18"/>
          <p:cNvSpPr/>
          <p:nvPr/>
        </p:nvSpPr>
        <p:spPr>
          <a:xfrm>
            <a:off x="7425630" y="5410200"/>
            <a:ext cx="2377334" cy="361950"/>
          </a:xfrm>
          <a:prstGeom prst="rect">
            <a:avLst/>
          </a:prstGeom>
          <a:noFill/>
          <a:ln/>
        </p:spPr>
        <p:txBody>
          <a:bodyPr wrap="square" lIns="25400" tIns="25400" rIns="25400" bIns="25400" rtlCol="0" anchor="t">
            <a:normAutofit lnSpcReduction="10000"/>
          </a:bodyPr>
          <a:lstStyle/>
          <a:p>
            <a:pPr marL="0" indent="0" algn="l">
              <a:lnSpc>
                <a:spcPct val="123636"/>
              </a:lnSpc>
              <a:buNone/>
            </a:pPr>
            <a:r>
              <a:rPr lang="en-US" sz="1800" dirty="0">
                <a:solidFill>
                  <a:srgbClr val="201E1D"/>
                </a:solidFill>
                <a:latin typeface="Arial" pitchFamily="34" charset="0"/>
                <a:ea typeface="Arial" pitchFamily="34" charset="-122"/>
                <a:cs typeface="Arial" pitchFamily="34" charset="-120"/>
              </a:rPr>
              <a:t>V M P</a:t>
            </a:r>
            <a:endParaRPr lang="en-US" sz="1800" dirty="0"/>
          </a:p>
        </p:txBody>
      </p:sp>
      <p:sp>
        <p:nvSpPr>
          <p:cNvPr id="21" name="Shape 19"/>
          <p:cNvSpPr/>
          <p:nvPr/>
        </p:nvSpPr>
        <p:spPr>
          <a:xfrm>
            <a:off x="10195545" y="5200650"/>
            <a:ext cx="2788890" cy="742950"/>
          </a:xfrm>
          <a:prstGeom prst="rect">
            <a:avLst/>
          </a:prstGeom>
          <a:ln w="19050">
            <a:solidFill>
              <a:srgbClr val="201E1E">
                <a:alpha val="40000"/>
              </a:srgbClr>
            </a:solidFill>
            <a:prstDash val="solid"/>
          </a:ln>
        </p:spPr>
        <p:txBody>
          <a:bodyPr/>
          <a:lstStyle/>
          <a:p>
            <a:endParaRPr lang="en-US"/>
          </a:p>
        </p:txBody>
      </p:sp>
      <p:sp>
        <p:nvSpPr>
          <p:cNvPr id="22" name="Text 20"/>
          <p:cNvSpPr/>
          <p:nvPr/>
        </p:nvSpPr>
        <p:spPr>
          <a:xfrm>
            <a:off x="10443195" y="5410200"/>
            <a:ext cx="2377257" cy="361950"/>
          </a:xfrm>
          <a:prstGeom prst="rect">
            <a:avLst/>
          </a:prstGeom>
          <a:noFill/>
          <a:ln/>
        </p:spPr>
        <p:txBody>
          <a:bodyPr wrap="square" lIns="25400" tIns="25400" rIns="25400" bIns="25400" rtlCol="0" anchor="t">
            <a:normAutofit lnSpcReduction="10000"/>
          </a:bodyPr>
          <a:lstStyle/>
          <a:p>
            <a:pPr marL="0" indent="0" algn="l">
              <a:lnSpc>
                <a:spcPct val="123636"/>
              </a:lnSpc>
              <a:buNone/>
            </a:pPr>
            <a:r>
              <a:rPr lang="en-US" sz="1800" dirty="0">
                <a:solidFill>
                  <a:srgbClr val="201E1D"/>
                </a:solidFill>
                <a:latin typeface="Arial" pitchFamily="34" charset="0"/>
                <a:ea typeface="Arial" pitchFamily="34" charset="-122"/>
                <a:cs typeface="Arial" pitchFamily="34" charset="-120"/>
              </a:rPr>
              <a:t>V S P</a:t>
            </a:r>
            <a:endParaRPr lang="en-US" sz="1800" dirty="0"/>
          </a:p>
        </p:txBody>
      </p:sp>
      <p:sp>
        <p:nvSpPr>
          <p:cNvPr id="23" name="Shape 21"/>
          <p:cNvSpPr/>
          <p:nvPr/>
        </p:nvSpPr>
        <p:spPr>
          <a:xfrm>
            <a:off x="13213035" y="5200650"/>
            <a:ext cx="2788890" cy="742950"/>
          </a:xfrm>
          <a:prstGeom prst="rect">
            <a:avLst/>
          </a:prstGeom>
          <a:ln w="19050">
            <a:solidFill>
              <a:srgbClr val="EC3013"/>
            </a:solidFill>
            <a:prstDash val="solid"/>
          </a:ln>
        </p:spPr>
        <p:txBody>
          <a:bodyPr/>
          <a:lstStyle/>
          <a:p>
            <a:endParaRPr lang="en-US"/>
          </a:p>
        </p:txBody>
      </p:sp>
      <p:sp>
        <p:nvSpPr>
          <p:cNvPr id="24" name="Text 22"/>
          <p:cNvSpPr/>
          <p:nvPr/>
        </p:nvSpPr>
        <p:spPr>
          <a:xfrm>
            <a:off x="13460685" y="5410200"/>
            <a:ext cx="2377257" cy="361950"/>
          </a:xfrm>
          <a:prstGeom prst="rect">
            <a:avLst/>
          </a:prstGeom>
          <a:noFill/>
          <a:ln/>
        </p:spPr>
        <p:txBody>
          <a:bodyPr wrap="square" lIns="25400" tIns="25400" rIns="25400" bIns="25400" rtlCol="0" anchor="t">
            <a:normAutofit lnSpcReduction="10000"/>
          </a:bodyPr>
          <a:lstStyle/>
          <a:p>
            <a:pPr marL="0" indent="0" algn="l">
              <a:lnSpc>
                <a:spcPct val="123636"/>
              </a:lnSpc>
              <a:buNone/>
            </a:pPr>
            <a:r>
              <a:rPr lang="en-US" sz="1800" dirty="0">
                <a:solidFill>
                  <a:srgbClr val="AE1800"/>
                </a:solidFill>
                <a:latin typeface="Arial" pitchFamily="34" charset="0"/>
                <a:ea typeface="Arial" pitchFamily="34" charset="-122"/>
                <a:cs typeface="Arial" pitchFamily="34" charset="-120"/>
              </a:rPr>
              <a:t>M S P</a:t>
            </a:r>
            <a:endParaRPr lang="en-US" sz="1800" dirty="0"/>
          </a:p>
        </p:txBody>
      </p:sp>
      <p:sp>
        <p:nvSpPr>
          <p:cNvPr id="25" name="Shape 23"/>
          <p:cNvSpPr/>
          <p:nvPr/>
        </p:nvSpPr>
        <p:spPr>
          <a:xfrm>
            <a:off x="1143000" y="7619479"/>
            <a:ext cx="16002000" cy="19050"/>
          </a:xfrm>
          <a:prstGeom prst="rect">
            <a:avLst/>
          </a:prstGeom>
          <a:solidFill>
            <a:srgbClr val="201E1E">
              <a:alpha val="40000"/>
            </a:srgbClr>
          </a:solidFill>
          <a:ln/>
        </p:spPr>
        <p:txBody>
          <a:bodyPr/>
          <a:lstStyle/>
          <a:p>
            <a:endParaRPr lang="en-US"/>
          </a:p>
        </p:txBody>
      </p:sp>
      <p:sp>
        <p:nvSpPr>
          <p:cNvPr id="26" name="Shape 24"/>
          <p:cNvSpPr/>
          <p:nvPr/>
        </p:nvSpPr>
        <p:spPr>
          <a:xfrm>
            <a:off x="1143000" y="6248400"/>
            <a:ext cx="16002000" cy="19050"/>
          </a:xfrm>
          <a:prstGeom prst="rect">
            <a:avLst/>
          </a:prstGeom>
          <a:solidFill>
            <a:srgbClr val="201E1E">
              <a:alpha val="40000"/>
            </a:srgbClr>
          </a:solidFill>
          <a:ln/>
        </p:spPr>
        <p:txBody>
          <a:bodyPr/>
          <a:lstStyle/>
          <a:p>
            <a:endParaRPr lang="en-US"/>
          </a:p>
        </p:txBody>
      </p:sp>
      <p:pic>
        <p:nvPicPr>
          <p:cNvPr id="27" name="Image 0" descr="preencoded.png"/>
          <p:cNvPicPr>
            <a:picLocks noChangeAspect="1"/>
          </p:cNvPicPr>
          <p:nvPr/>
        </p:nvPicPr>
        <p:blipFill>
          <a:blip r:embed="rId3"/>
          <a:stretch>
            <a:fillRect/>
          </a:stretch>
        </p:blipFill>
        <p:spPr>
          <a:xfrm>
            <a:off x="1143000" y="6610350"/>
            <a:ext cx="16002000" cy="666229"/>
          </a:xfrm>
          <a:prstGeom prst="rect">
            <a:avLst/>
          </a:prstGeom>
        </p:spPr>
      </p:pic>
      <p:sp>
        <p:nvSpPr>
          <p:cNvPr id="28" name="Text 25"/>
          <p:cNvSpPr/>
          <p:nvPr/>
        </p:nvSpPr>
        <p:spPr>
          <a:xfrm>
            <a:off x="1143000" y="7938864"/>
            <a:ext cx="17602200" cy="194890"/>
          </a:xfrm>
          <a:prstGeom prst="rect">
            <a:avLst/>
          </a:prstGeom>
          <a:noFill/>
          <a:ln/>
        </p:spPr>
        <p:txBody>
          <a:bodyPr wrap="square" lIns="25400" tIns="25400" rIns="25400" bIns="25400" rtlCol="0" anchor="t">
            <a:normAutofit fontScale="32500" lnSpcReduction="20000"/>
          </a:bodyPr>
          <a:lstStyle/>
          <a:p>
            <a:pPr marL="0" indent="0" algn="l">
              <a:lnSpc>
                <a:spcPct val="174545"/>
              </a:lnSpc>
              <a:buNone/>
            </a:pPr>
            <a:r>
              <a:rPr lang="en-US" sz="1800" dirty="0">
                <a:solidFill>
                  <a:srgbClr val="211D1D">
                    <a:alpha val="55000"/>
                  </a:srgbClr>
                </a:solidFill>
                <a:latin typeface="Arial" pitchFamily="34" charset="0"/>
                <a:ea typeface="Arial" pitchFamily="34" charset="-122"/>
                <a:cs typeface="Arial" pitchFamily="34" charset="-120"/>
              </a:rPr>
              <a:t>Formula and hand count agree — and on five thousand hyperparameter settings, writing the list out is not an option.</a:t>
            </a:r>
            <a:endParaRPr lang="en-US" sz="1800" dirty="0"/>
          </a:p>
        </p:txBody>
      </p:sp>
      <p:pic>
        <p:nvPicPr>
          <p:cNvPr id="29"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01 · STRUCTURE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Pascal's triangle, and a shortcut</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Every entry is the sum of the two above it. Row n reads off all the values of ⁿCᵣ, left to right.</a:t>
            </a:r>
            <a:endParaRPr lang="en-US" sz="2100" dirty="0"/>
          </a:p>
        </p:txBody>
      </p:sp>
      <p:sp>
        <p:nvSpPr>
          <p:cNvPr id="5" name="Text 3"/>
          <p:cNvSpPr/>
          <p:nvPr/>
        </p:nvSpPr>
        <p:spPr>
          <a:xfrm>
            <a:off x="9062740" y="3314700"/>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1</a:t>
            </a:r>
            <a:endParaRPr lang="en-US" sz="2250" dirty="0"/>
          </a:p>
        </p:txBody>
      </p:sp>
      <p:sp>
        <p:nvSpPr>
          <p:cNvPr id="6" name="Text 4"/>
          <p:cNvSpPr/>
          <p:nvPr/>
        </p:nvSpPr>
        <p:spPr>
          <a:xfrm>
            <a:off x="8791054" y="3852863"/>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1</a:t>
            </a:r>
            <a:endParaRPr lang="en-US" sz="2250" dirty="0"/>
          </a:p>
        </p:txBody>
      </p:sp>
      <p:sp>
        <p:nvSpPr>
          <p:cNvPr id="7" name="Text 5"/>
          <p:cNvSpPr/>
          <p:nvPr/>
        </p:nvSpPr>
        <p:spPr>
          <a:xfrm>
            <a:off x="9334500" y="3852863"/>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1</a:t>
            </a:r>
            <a:endParaRPr lang="en-US" sz="2250" dirty="0"/>
          </a:p>
        </p:txBody>
      </p:sp>
      <p:sp>
        <p:nvSpPr>
          <p:cNvPr id="8" name="Text 6"/>
          <p:cNvSpPr/>
          <p:nvPr/>
        </p:nvSpPr>
        <p:spPr>
          <a:xfrm>
            <a:off x="8519294" y="4391025"/>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1</a:t>
            </a:r>
            <a:endParaRPr lang="en-US" sz="2250" dirty="0"/>
          </a:p>
        </p:txBody>
      </p:sp>
      <p:sp>
        <p:nvSpPr>
          <p:cNvPr id="9" name="Text 7"/>
          <p:cNvSpPr/>
          <p:nvPr/>
        </p:nvSpPr>
        <p:spPr>
          <a:xfrm>
            <a:off x="9062740" y="4391025"/>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2</a:t>
            </a:r>
            <a:endParaRPr lang="en-US" sz="2250" dirty="0"/>
          </a:p>
        </p:txBody>
      </p:sp>
      <p:sp>
        <p:nvSpPr>
          <p:cNvPr id="10" name="Text 8"/>
          <p:cNvSpPr/>
          <p:nvPr/>
        </p:nvSpPr>
        <p:spPr>
          <a:xfrm>
            <a:off x="9606186" y="4391025"/>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1</a:t>
            </a:r>
            <a:endParaRPr lang="en-US" sz="2250" dirty="0"/>
          </a:p>
        </p:txBody>
      </p:sp>
      <p:sp>
        <p:nvSpPr>
          <p:cNvPr id="11" name="Text 9"/>
          <p:cNvSpPr/>
          <p:nvPr/>
        </p:nvSpPr>
        <p:spPr>
          <a:xfrm>
            <a:off x="8247608" y="4929188"/>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1</a:t>
            </a:r>
            <a:endParaRPr lang="en-US" sz="2250" dirty="0"/>
          </a:p>
        </p:txBody>
      </p:sp>
      <p:sp>
        <p:nvSpPr>
          <p:cNvPr id="12" name="Text 10"/>
          <p:cNvSpPr/>
          <p:nvPr/>
        </p:nvSpPr>
        <p:spPr>
          <a:xfrm>
            <a:off x="8791054" y="4929188"/>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3</a:t>
            </a:r>
            <a:endParaRPr lang="en-US" sz="2250" dirty="0"/>
          </a:p>
        </p:txBody>
      </p:sp>
      <p:sp>
        <p:nvSpPr>
          <p:cNvPr id="13" name="Text 11"/>
          <p:cNvSpPr/>
          <p:nvPr/>
        </p:nvSpPr>
        <p:spPr>
          <a:xfrm>
            <a:off x="9334500" y="4929188"/>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3</a:t>
            </a:r>
            <a:endParaRPr lang="en-US" sz="2250" dirty="0"/>
          </a:p>
        </p:txBody>
      </p:sp>
      <p:sp>
        <p:nvSpPr>
          <p:cNvPr id="14" name="Text 12"/>
          <p:cNvSpPr/>
          <p:nvPr/>
        </p:nvSpPr>
        <p:spPr>
          <a:xfrm>
            <a:off x="9877946" y="4929188"/>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1</a:t>
            </a:r>
            <a:endParaRPr lang="en-US" sz="2250" dirty="0"/>
          </a:p>
        </p:txBody>
      </p:sp>
      <p:sp>
        <p:nvSpPr>
          <p:cNvPr id="15" name="Text 13"/>
          <p:cNvSpPr/>
          <p:nvPr/>
        </p:nvSpPr>
        <p:spPr>
          <a:xfrm>
            <a:off x="7975848" y="5467350"/>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1</a:t>
            </a:r>
            <a:endParaRPr lang="en-US" sz="2250" dirty="0"/>
          </a:p>
        </p:txBody>
      </p:sp>
      <p:sp>
        <p:nvSpPr>
          <p:cNvPr id="16" name="Text 14"/>
          <p:cNvSpPr/>
          <p:nvPr/>
        </p:nvSpPr>
        <p:spPr>
          <a:xfrm>
            <a:off x="8519294" y="5467350"/>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4</a:t>
            </a:r>
            <a:endParaRPr lang="en-US" sz="2250" dirty="0"/>
          </a:p>
        </p:txBody>
      </p:sp>
      <p:sp>
        <p:nvSpPr>
          <p:cNvPr id="17" name="Text 15"/>
          <p:cNvSpPr/>
          <p:nvPr/>
        </p:nvSpPr>
        <p:spPr>
          <a:xfrm>
            <a:off x="9062740" y="5467350"/>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6</a:t>
            </a:r>
            <a:endParaRPr lang="en-US" sz="2250" dirty="0"/>
          </a:p>
        </p:txBody>
      </p:sp>
      <p:sp>
        <p:nvSpPr>
          <p:cNvPr id="18" name="Text 16"/>
          <p:cNvSpPr/>
          <p:nvPr/>
        </p:nvSpPr>
        <p:spPr>
          <a:xfrm>
            <a:off x="9606186" y="5467350"/>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4</a:t>
            </a:r>
            <a:endParaRPr lang="en-US" sz="2250" dirty="0"/>
          </a:p>
        </p:txBody>
      </p:sp>
      <p:sp>
        <p:nvSpPr>
          <p:cNvPr id="19" name="Text 17"/>
          <p:cNvSpPr/>
          <p:nvPr/>
        </p:nvSpPr>
        <p:spPr>
          <a:xfrm>
            <a:off x="10149632" y="5467350"/>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1</a:t>
            </a:r>
            <a:endParaRPr lang="en-US" sz="2250" dirty="0"/>
          </a:p>
        </p:txBody>
      </p:sp>
      <p:sp>
        <p:nvSpPr>
          <p:cNvPr id="20" name="Text 18"/>
          <p:cNvSpPr/>
          <p:nvPr/>
        </p:nvSpPr>
        <p:spPr>
          <a:xfrm>
            <a:off x="7541716" y="6005513"/>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1</a:t>
            </a:r>
            <a:endParaRPr lang="en-US" sz="2250" dirty="0"/>
          </a:p>
        </p:txBody>
      </p:sp>
      <p:sp>
        <p:nvSpPr>
          <p:cNvPr id="21" name="Text 19"/>
          <p:cNvSpPr/>
          <p:nvPr/>
        </p:nvSpPr>
        <p:spPr>
          <a:xfrm>
            <a:off x="8085162" y="6005513"/>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5</a:t>
            </a:r>
            <a:endParaRPr lang="en-US" sz="2250" dirty="0"/>
          </a:p>
        </p:txBody>
      </p:sp>
      <p:sp>
        <p:nvSpPr>
          <p:cNvPr id="22" name="Text 20"/>
          <p:cNvSpPr/>
          <p:nvPr/>
        </p:nvSpPr>
        <p:spPr>
          <a:xfrm>
            <a:off x="8628608" y="6005513"/>
            <a:ext cx="401092"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EC3013"/>
                </a:solidFill>
                <a:latin typeface="Arial" pitchFamily="34" charset="0"/>
                <a:ea typeface="Arial" pitchFamily="34" charset="-122"/>
                <a:cs typeface="Arial" pitchFamily="34" charset="-120"/>
              </a:rPr>
              <a:t>10</a:t>
            </a:r>
            <a:endParaRPr lang="en-US" sz="2250" dirty="0"/>
          </a:p>
        </p:txBody>
      </p:sp>
      <p:sp>
        <p:nvSpPr>
          <p:cNvPr id="23" name="Text 21"/>
          <p:cNvSpPr/>
          <p:nvPr/>
        </p:nvSpPr>
        <p:spPr>
          <a:xfrm>
            <a:off x="9334500" y="6005513"/>
            <a:ext cx="401092"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EC3013"/>
                </a:solidFill>
                <a:latin typeface="Arial" pitchFamily="34" charset="0"/>
                <a:ea typeface="Arial" pitchFamily="34" charset="-122"/>
                <a:cs typeface="Arial" pitchFamily="34" charset="-120"/>
              </a:rPr>
              <a:t>10</a:t>
            </a:r>
            <a:endParaRPr lang="en-US" sz="2250" dirty="0"/>
          </a:p>
        </p:txBody>
      </p:sp>
      <p:sp>
        <p:nvSpPr>
          <p:cNvPr id="24" name="Text 22"/>
          <p:cNvSpPr/>
          <p:nvPr/>
        </p:nvSpPr>
        <p:spPr>
          <a:xfrm>
            <a:off x="10040392" y="6005513"/>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5</a:t>
            </a:r>
            <a:endParaRPr lang="en-US" sz="2250" dirty="0"/>
          </a:p>
        </p:txBody>
      </p:sp>
      <p:sp>
        <p:nvSpPr>
          <p:cNvPr id="25" name="Text 23"/>
          <p:cNvSpPr/>
          <p:nvPr/>
        </p:nvSpPr>
        <p:spPr>
          <a:xfrm>
            <a:off x="10583838" y="6005513"/>
            <a:ext cx="238646" cy="481012"/>
          </a:xfrm>
          <a:prstGeom prst="rect">
            <a:avLst/>
          </a:prstGeom>
          <a:noFill/>
          <a:ln/>
        </p:spPr>
        <p:txBody>
          <a:bodyPr wrap="square" lIns="25400" tIns="25400" rIns="25400" bIns="25400" rtlCol="0" anchor="t">
            <a:normAutofit/>
          </a:bodyPr>
          <a:lstStyle/>
          <a:p>
            <a:pPr marL="0" indent="0" algn="l">
              <a:lnSpc>
                <a:spcPct val="134783"/>
              </a:lnSpc>
              <a:buNone/>
            </a:pPr>
            <a:r>
              <a:rPr lang="en-US" sz="2250" dirty="0">
                <a:solidFill>
                  <a:srgbClr val="201E1D"/>
                </a:solidFill>
                <a:latin typeface="Arial" pitchFamily="34" charset="0"/>
                <a:ea typeface="Arial" pitchFamily="34" charset="-122"/>
                <a:cs typeface="Arial" pitchFamily="34" charset="-120"/>
              </a:rPr>
              <a:t>1</a:t>
            </a:r>
            <a:endParaRPr lang="en-US" sz="2250" dirty="0"/>
          </a:p>
        </p:txBody>
      </p:sp>
      <p:sp>
        <p:nvSpPr>
          <p:cNvPr id="26" name="Shape 24"/>
          <p:cNvSpPr/>
          <p:nvPr/>
        </p:nvSpPr>
        <p:spPr>
          <a:xfrm>
            <a:off x="1143000" y="7165628"/>
            <a:ext cx="16002000" cy="19050"/>
          </a:xfrm>
          <a:prstGeom prst="rect">
            <a:avLst/>
          </a:prstGeom>
          <a:solidFill>
            <a:srgbClr val="EC3013"/>
          </a:solidFill>
          <a:ln/>
        </p:spPr>
        <p:txBody>
          <a:bodyPr/>
          <a:lstStyle/>
          <a:p>
            <a:endParaRPr lang="en-US"/>
          </a:p>
        </p:txBody>
      </p:sp>
      <p:sp>
        <p:nvSpPr>
          <p:cNvPr id="27" name="Text 25"/>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SYMMETRY</a:t>
            </a:r>
            <a:endParaRPr lang="en-US" sz="1800" dirty="0"/>
          </a:p>
        </p:txBody>
      </p:sp>
      <p:sp>
        <p:nvSpPr>
          <p:cNvPr id="28" name="Text 26"/>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⁵C₃ = ⁵C₂ = 10, and every row reads the same backwards. Choosing 3 flavours to put in is the same act as choosing 2 to leave out — so the counts must match. Use the smaller r; the arithmetic is easier.</a:t>
            </a:r>
            <a:endParaRPr lang="en-US" sz="2100" dirty="0"/>
          </a:p>
        </p:txBody>
      </p:sp>
      <p:pic>
        <p:nvPicPr>
          <p:cNvPr id="29"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01 · BUSINESS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Choosing a campaign mix</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marketing team has 6 channels — email, social, search, display, influencer, SMS — and wants to run exactly 3 at once. How many mixes are there to test?</a:t>
            </a:r>
            <a:endParaRPr lang="en-US" sz="2100" dirty="0"/>
          </a:p>
        </p:txBody>
      </p:sp>
      <p:sp>
        <p:nvSpPr>
          <p:cNvPr id="5" name="Shape 3"/>
          <p:cNvSpPr/>
          <p:nvPr/>
        </p:nvSpPr>
        <p:spPr>
          <a:xfrm>
            <a:off x="1143000" y="38862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4080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40651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40651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Order does not matter: email + social + search is one mix, however you list it</a:t>
            </a:r>
            <a:endParaRPr lang="en-US" sz="2100" dirty="0"/>
          </a:p>
        </p:txBody>
      </p:sp>
      <p:sp>
        <p:nvSpPr>
          <p:cNvPr id="9" name="Shape 7"/>
          <p:cNvSpPr/>
          <p:nvPr/>
        </p:nvSpPr>
        <p:spPr>
          <a:xfrm>
            <a:off x="1143000" y="49204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5775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5775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6! = 720 · 3! = 6 · (6−3)! = 3! = 6</a:t>
            </a:r>
            <a:endParaRPr lang="en-US" sz="2100" dirty="0"/>
          </a:p>
        </p:txBody>
      </p:sp>
      <p:sp>
        <p:nvSpPr>
          <p:cNvPr id="12" name="Shape 10"/>
          <p:cNvSpPr/>
          <p:nvPr/>
        </p:nvSpPr>
        <p:spPr>
          <a:xfrm>
            <a:off x="1143000" y="54327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50898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50898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⁶C₃ = 720 ÷ (6 × 6) = 720 ÷ 36</a:t>
            </a:r>
            <a:endParaRPr lang="en-US" sz="2100" dirty="0"/>
          </a:p>
        </p:txBody>
      </p:sp>
      <p:sp>
        <p:nvSpPr>
          <p:cNvPr id="15" name="Shape 13"/>
          <p:cNvSpPr/>
          <p:nvPr/>
        </p:nvSpPr>
        <p:spPr>
          <a:xfrm>
            <a:off x="1143000" y="5953125"/>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602188"/>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17" name="Text 15"/>
          <p:cNvSpPr/>
          <p:nvPr/>
        </p:nvSpPr>
        <p:spPr>
          <a:xfrm>
            <a:off x="1981200" y="5602188"/>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20 possible channel combinations to test</a:t>
            </a:r>
            <a:endParaRPr lang="en-US" sz="2100" dirty="0"/>
          </a:p>
        </p:txBody>
      </p:sp>
      <p:sp>
        <p:nvSpPr>
          <p:cNvPr id="18" name="Shape 16"/>
          <p:cNvSpPr/>
          <p:nvPr/>
        </p:nvSpPr>
        <p:spPr>
          <a:xfrm>
            <a:off x="1143000" y="6465540"/>
            <a:ext cx="14859000" cy="19050"/>
          </a:xfrm>
          <a:prstGeom prst="rect">
            <a:avLst/>
          </a:prstGeom>
          <a:solidFill>
            <a:srgbClr val="EC3013"/>
          </a:solidFill>
          <a:ln/>
        </p:spPr>
        <p:txBody>
          <a:bodyPr/>
          <a:lstStyle/>
          <a:p>
            <a:endParaRPr lang="en-US"/>
          </a:p>
        </p:txBody>
      </p:sp>
      <p:sp>
        <p:nvSpPr>
          <p:cNvPr id="19" name="Text 17"/>
          <p:cNvSpPr/>
          <p:nvPr/>
        </p:nvSpPr>
        <p:spPr>
          <a:xfrm>
            <a:off x="1143000" y="6729413"/>
            <a:ext cx="15304770" cy="608558"/>
          </a:xfrm>
          <a:prstGeom prst="rect">
            <a:avLst/>
          </a:prstGeom>
          <a:noFill/>
          <a:ln/>
        </p:spPr>
        <p:txBody>
          <a:bodyPr wrap="square" lIns="25400" tIns="25400" rIns="25400" bIns="25400" rtlCol="0" anchor="t">
            <a:normAutofit fontScale="925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Try it yourself. </a:t>
            </a:r>
            <a:r>
              <a:rPr lang="en-US" sz="2175" dirty="0">
                <a:solidFill>
                  <a:srgbClr val="201E1D"/>
                </a:solidFill>
                <a:latin typeface="Arial" pitchFamily="34" charset="0"/>
                <a:ea typeface="Arial" pitchFamily="34" charset="-122"/>
                <a:cs typeface="Arial" pitchFamily="34" charset="-120"/>
              </a:rPr>
              <a:t>An HR team wants to form an interview panel of 2 from 5 senior staff. How many different panels are possible?</a:t>
            </a:r>
            <a:endParaRPr lang="en-US" sz="2175" dirty="0"/>
          </a:p>
        </p:txBody>
      </p:sp>
      <p:sp>
        <p:nvSpPr>
          <p:cNvPr id="20" name="Text 18"/>
          <p:cNvSpPr/>
          <p:nvPr/>
        </p:nvSpPr>
        <p:spPr>
          <a:xfrm>
            <a:off x="1143000" y="7466856"/>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⁵C₂ = 5! / (2! × 3!) = 120 / (2 × 6) = 10 panels.</a:t>
            </a:r>
            <a:endParaRPr lang="en-US" sz="1800" dirty="0"/>
          </a:p>
        </p:txBody>
      </p:sp>
      <p:pic>
        <p:nvPicPr>
          <p:cNvPr id="21"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01 · IN GENAI</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Why a hyperparameter sweep explodes</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85000" lnSpcReduction="1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grid search tries every combination of every setting. The counts multiply, so adding one more knob does not add runs — it multiplies them.</a:t>
            </a:r>
            <a:endParaRPr lang="en-US" sz="2100" dirty="0"/>
          </a:p>
        </p:txBody>
      </p:sp>
      <p:sp>
        <p:nvSpPr>
          <p:cNvPr id="5" name="Shape 3"/>
          <p:cNvSpPr/>
          <p:nvPr/>
        </p:nvSpPr>
        <p:spPr>
          <a:xfrm>
            <a:off x="1143000" y="4548411"/>
            <a:ext cx="8451800" cy="19050"/>
          </a:xfrm>
          <a:prstGeom prst="rect">
            <a:avLst/>
          </a:prstGeom>
          <a:solidFill>
            <a:srgbClr val="201E1E">
              <a:alpha val="40000"/>
            </a:srgbClr>
          </a:solidFill>
          <a:ln/>
        </p:spPr>
        <p:txBody>
          <a:bodyPr/>
          <a:lstStyle/>
          <a:p>
            <a:endParaRPr lang="en-US"/>
          </a:p>
        </p:txBody>
      </p:sp>
      <p:sp>
        <p:nvSpPr>
          <p:cNvPr id="6" name="Text 4"/>
          <p:cNvSpPr/>
          <p:nvPr/>
        </p:nvSpPr>
        <p:spPr>
          <a:xfrm>
            <a:off x="1143000" y="4202090"/>
            <a:ext cx="8476754"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GRID</a:t>
            </a:r>
            <a:endParaRPr lang="en-US" sz="1800" dirty="0"/>
          </a:p>
        </p:txBody>
      </p:sp>
      <p:sp>
        <p:nvSpPr>
          <p:cNvPr id="7" name="Shape 5"/>
          <p:cNvSpPr/>
          <p:nvPr/>
        </p:nvSpPr>
        <p:spPr>
          <a:xfrm>
            <a:off x="9594800" y="4548411"/>
            <a:ext cx="2198861" cy="19050"/>
          </a:xfrm>
          <a:prstGeom prst="rect">
            <a:avLst/>
          </a:prstGeom>
          <a:solidFill>
            <a:srgbClr val="201E1E">
              <a:alpha val="40000"/>
            </a:srgbClr>
          </a:solidFill>
          <a:ln/>
        </p:spPr>
        <p:txBody>
          <a:bodyPr/>
          <a:lstStyle/>
          <a:p>
            <a:endParaRPr lang="en-US"/>
          </a:p>
        </p:txBody>
      </p:sp>
      <p:sp>
        <p:nvSpPr>
          <p:cNvPr id="8" name="Text 6"/>
          <p:cNvSpPr/>
          <p:nvPr/>
        </p:nvSpPr>
        <p:spPr>
          <a:xfrm>
            <a:off x="9823400" y="4202090"/>
            <a:ext cx="1817861"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RUNS</a:t>
            </a:r>
            <a:endParaRPr lang="en-US" sz="1800" dirty="0"/>
          </a:p>
        </p:txBody>
      </p:sp>
      <p:sp>
        <p:nvSpPr>
          <p:cNvPr id="9" name="Shape 7"/>
          <p:cNvSpPr/>
          <p:nvPr/>
        </p:nvSpPr>
        <p:spPr>
          <a:xfrm>
            <a:off x="11793662" y="4548411"/>
            <a:ext cx="4208338" cy="19050"/>
          </a:xfrm>
          <a:prstGeom prst="rect">
            <a:avLst/>
          </a:prstGeom>
          <a:solidFill>
            <a:srgbClr val="201E1E">
              <a:alpha val="40000"/>
            </a:srgbClr>
          </a:solidFill>
          <a:ln/>
        </p:spPr>
        <p:txBody>
          <a:bodyPr/>
          <a:lstStyle/>
          <a:p>
            <a:endParaRPr lang="en-US"/>
          </a:p>
        </p:txBody>
      </p:sp>
      <p:sp>
        <p:nvSpPr>
          <p:cNvPr id="10" name="Text 8"/>
          <p:cNvSpPr/>
          <p:nvPr/>
        </p:nvSpPr>
        <p:spPr>
          <a:xfrm>
            <a:off x="12022262" y="4202090"/>
            <a:ext cx="4105989"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AT 20 MIN EACH</a:t>
            </a:r>
            <a:endParaRPr lang="en-US" sz="1800" dirty="0"/>
          </a:p>
        </p:txBody>
      </p:sp>
      <p:sp>
        <p:nvSpPr>
          <p:cNvPr id="11" name="Shape 9"/>
          <p:cNvSpPr/>
          <p:nvPr/>
        </p:nvSpPr>
        <p:spPr>
          <a:xfrm>
            <a:off x="1143000" y="5129510"/>
            <a:ext cx="8451800" cy="9525"/>
          </a:xfrm>
          <a:prstGeom prst="rect">
            <a:avLst/>
          </a:prstGeom>
          <a:solidFill>
            <a:srgbClr val="201E1E">
              <a:alpha val="40000"/>
            </a:srgbClr>
          </a:solidFill>
          <a:ln/>
        </p:spPr>
        <p:txBody>
          <a:bodyPr/>
          <a:lstStyle/>
          <a:p>
            <a:endParaRPr lang="en-US"/>
          </a:p>
        </p:txBody>
      </p:sp>
      <p:sp>
        <p:nvSpPr>
          <p:cNvPr id="12" name="Text 10"/>
          <p:cNvSpPr/>
          <p:nvPr/>
        </p:nvSpPr>
        <p:spPr>
          <a:xfrm>
            <a:off x="1143000" y="4764485"/>
            <a:ext cx="8476754"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4 learning rates × 5 batch sizes × 3 seeds</a:t>
            </a:r>
            <a:endParaRPr lang="en-US" sz="1875" dirty="0"/>
          </a:p>
        </p:txBody>
      </p:sp>
      <p:sp>
        <p:nvSpPr>
          <p:cNvPr id="13" name="Shape 11"/>
          <p:cNvSpPr/>
          <p:nvPr/>
        </p:nvSpPr>
        <p:spPr>
          <a:xfrm>
            <a:off x="9594800" y="5129510"/>
            <a:ext cx="2198861" cy="9525"/>
          </a:xfrm>
          <a:prstGeom prst="rect">
            <a:avLst/>
          </a:prstGeom>
          <a:solidFill>
            <a:srgbClr val="201E1E">
              <a:alpha val="40000"/>
            </a:srgbClr>
          </a:solidFill>
          <a:ln/>
        </p:spPr>
        <p:txBody>
          <a:bodyPr/>
          <a:lstStyle/>
          <a:p>
            <a:endParaRPr lang="en-US"/>
          </a:p>
        </p:txBody>
      </p:sp>
      <p:sp>
        <p:nvSpPr>
          <p:cNvPr id="14" name="Text 12"/>
          <p:cNvSpPr/>
          <p:nvPr/>
        </p:nvSpPr>
        <p:spPr>
          <a:xfrm>
            <a:off x="9823400" y="4764485"/>
            <a:ext cx="1817861"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60</a:t>
            </a:r>
            <a:endParaRPr lang="en-US" sz="1875" dirty="0"/>
          </a:p>
        </p:txBody>
      </p:sp>
      <p:sp>
        <p:nvSpPr>
          <p:cNvPr id="15" name="Shape 13"/>
          <p:cNvSpPr/>
          <p:nvPr/>
        </p:nvSpPr>
        <p:spPr>
          <a:xfrm>
            <a:off x="11793662" y="5129510"/>
            <a:ext cx="4208338" cy="9525"/>
          </a:xfrm>
          <a:prstGeom prst="rect">
            <a:avLst/>
          </a:prstGeom>
          <a:solidFill>
            <a:srgbClr val="201E1E">
              <a:alpha val="40000"/>
            </a:srgbClr>
          </a:solidFill>
          <a:ln/>
        </p:spPr>
        <p:txBody>
          <a:bodyPr/>
          <a:lstStyle/>
          <a:p>
            <a:endParaRPr lang="en-US"/>
          </a:p>
        </p:txBody>
      </p:sp>
      <p:sp>
        <p:nvSpPr>
          <p:cNvPr id="16" name="Text 14"/>
          <p:cNvSpPr/>
          <p:nvPr/>
        </p:nvSpPr>
        <p:spPr>
          <a:xfrm>
            <a:off x="12022262" y="4764485"/>
            <a:ext cx="4105989"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20 hours</a:t>
            </a:r>
            <a:endParaRPr lang="en-US" sz="1875" dirty="0"/>
          </a:p>
        </p:txBody>
      </p:sp>
      <p:sp>
        <p:nvSpPr>
          <p:cNvPr id="17" name="Shape 15"/>
          <p:cNvSpPr/>
          <p:nvPr/>
        </p:nvSpPr>
        <p:spPr>
          <a:xfrm>
            <a:off x="1143000" y="5696322"/>
            <a:ext cx="8451800" cy="9525"/>
          </a:xfrm>
          <a:prstGeom prst="rect">
            <a:avLst/>
          </a:prstGeom>
          <a:solidFill>
            <a:srgbClr val="201E1E">
              <a:alpha val="40000"/>
            </a:srgbClr>
          </a:solidFill>
          <a:ln/>
        </p:spPr>
        <p:txBody>
          <a:bodyPr/>
          <a:lstStyle/>
          <a:p>
            <a:endParaRPr lang="en-US"/>
          </a:p>
        </p:txBody>
      </p:sp>
      <p:sp>
        <p:nvSpPr>
          <p:cNvPr id="18" name="Text 16"/>
          <p:cNvSpPr/>
          <p:nvPr/>
        </p:nvSpPr>
        <p:spPr>
          <a:xfrm>
            <a:off x="1143000" y="5336060"/>
            <a:ext cx="8476754"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…plus 4 warmup schedules</a:t>
            </a:r>
            <a:endParaRPr lang="en-US" sz="1875" dirty="0"/>
          </a:p>
        </p:txBody>
      </p:sp>
      <p:sp>
        <p:nvSpPr>
          <p:cNvPr id="19" name="Shape 17"/>
          <p:cNvSpPr/>
          <p:nvPr/>
        </p:nvSpPr>
        <p:spPr>
          <a:xfrm>
            <a:off x="9594800" y="5696322"/>
            <a:ext cx="2198861" cy="9525"/>
          </a:xfrm>
          <a:prstGeom prst="rect">
            <a:avLst/>
          </a:prstGeom>
          <a:solidFill>
            <a:srgbClr val="201E1E">
              <a:alpha val="40000"/>
            </a:srgbClr>
          </a:solidFill>
          <a:ln/>
        </p:spPr>
        <p:txBody>
          <a:bodyPr/>
          <a:lstStyle/>
          <a:p>
            <a:endParaRPr lang="en-US"/>
          </a:p>
        </p:txBody>
      </p:sp>
      <p:sp>
        <p:nvSpPr>
          <p:cNvPr id="20" name="Text 18"/>
          <p:cNvSpPr/>
          <p:nvPr/>
        </p:nvSpPr>
        <p:spPr>
          <a:xfrm>
            <a:off x="9823400" y="5336060"/>
            <a:ext cx="181786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240</a:t>
            </a:r>
            <a:endParaRPr lang="en-US" sz="1875" dirty="0"/>
          </a:p>
        </p:txBody>
      </p:sp>
      <p:sp>
        <p:nvSpPr>
          <p:cNvPr id="21" name="Shape 19"/>
          <p:cNvSpPr/>
          <p:nvPr/>
        </p:nvSpPr>
        <p:spPr>
          <a:xfrm>
            <a:off x="11793662" y="5696322"/>
            <a:ext cx="4208338" cy="9525"/>
          </a:xfrm>
          <a:prstGeom prst="rect">
            <a:avLst/>
          </a:prstGeom>
          <a:solidFill>
            <a:srgbClr val="201E1E">
              <a:alpha val="40000"/>
            </a:srgbClr>
          </a:solidFill>
          <a:ln/>
        </p:spPr>
        <p:txBody>
          <a:bodyPr/>
          <a:lstStyle/>
          <a:p>
            <a:endParaRPr lang="en-US"/>
          </a:p>
        </p:txBody>
      </p:sp>
      <p:sp>
        <p:nvSpPr>
          <p:cNvPr id="22" name="Text 20"/>
          <p:cNvSpPr/>
          <p:nvPr/>
        </p:nvSpPr>
        <p:spPr>
          <a:xfrm>
            <a:off x="12022262" y="5336060"/>
            <a:ext cx="4105989"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3.3 days</a:t>
            </a:r>
            <a:endParaRPr lang="en-US" sz="1875" dirty="0"/>
          </a:p>
        </p:txBody>
      </p:sp>
      <p:sp>
        <p:nvSpPr>
          <p:cNvPr id="23" name="Shape 21"/>
          <p:cNvSpPr/>
          <p:nvPr/>
        </p:nvSpPr>
        <p:spPr>
          <a:xfrm>
            <a:off x="1143000" y="6263134"/>
            <a:ext cx="8451800" cy="9525"/>
          </a:xfrm>
          <a:prstGeom prst="rect">
            <a:avLst/>
          </a:prstGeom>
          <a:solidFill>
            <a:srgbClr val="201E1E">
              <a:alpha val="40000"/>
            </a:srgbClr>
          </a:solidFill>
          <a:ln/>
        </p:spPr>
        <p:txBody>
          <a:bodyPr/>
          <a:lstStyle/>
          <a:p>
            <a:endParaRPr lang="en-US"/>
          </a:p>
        </p:txBody>
      </p:sp>
      <p:sp>
        <p:nvSpPr>
          <p:cNvPr id="24" name="Text 22"/>
          <p:cNvSpPr/>
          <p:nvPr/>
        </p:nvSpPr>
        <p:spPr>
          <a:xfrm>
            <a:off x="1143000" y="5902872"/>
            <a:ext cx="8476754"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…plus 3 weight decays</a:t>
            </a:r>
            <a:endParaRPr lang="en-US" sz="1875" dirty="0"/>
          </a:p>
        </p:txBody>
      </p:sp>
      <p:sp>
        <p:nvSpPr>
          <p:cNvPr id="25" name="Shape 23"/>
          <p:cNvSpPr/>
          <p:nvPr/>
        </p:nvSpPr>
        <p:spPr>
          <a:xfrm>
            <a:off x="9594800" y="6263134"/>
            <a:ext cx="2198861" cy="9525"/>
          </a:xfrm>
          <a:prstGeom prst="rect">
            <a:avLst/>
          </a:prstGeom>
          <a:solidFill>
            <a:srgbClr val="201E1E">
              <a:alpha val="40000"/>
            </a:srgbClr>
          </a:solidFill>
          <a:ln/>
        </p:spPr>
        <p:txBody>
          <a:bodyPr/>
          <a:lstStyle/>
          <a:p>
            <a:endParaRPr lang="en-US"/>
          </a:p>
        </p:txBody>
      </p:sp>
      <p:sp>
        <p:nvSpPr>
          <p:cNvPr id="26" name="Text 24"/>
          <p:cNvSpPr/>
          <p:nvPr/>
        </p:nvSpPr>
        <p:spPr>
          <a:xfrm>
            <a:off x="9823400" y="5902872"/>
            <a:ext cx="181786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720</a:t>
            </a:r>
            <a:endParaRPr lang="en-US" sz="1875" dirty="0"/>
          </a:p>
        </p:txBody>
      </p:sp>
      <p:sp>
        <p:nvSpPr>
          <p:cNvPr id="27" name="Shape 25"/>
          <p:cNvSpPr/>
          <p:nvPr/>
        </p:nvSpPr>
        <p:spPr>
          <a:xfrm>
            <a:off x="11793662" y="6263134"/>
            <a:ext cx="4208338" cy="9525"/>
          </a:xfrm>
          <a:prstGeom prst="rect">
            <a:avLst/>
          </a:prstGeom>
          <a:solidFill>
            <a:srgbClr val="201E1E">
              <a:alpha val="40000"/>
            </a:srgbClr>
          </a:solidFill>
          <a:ln/>
        </p:spPr>
        <p:txBody>
          <a:bodyPr/>
          <a:lstStyle/>
          <a:p>
            <a:endParaRPr lang="en-US"/>
          </a:p>
        </p:txBody>
      </p:sp>
      <p:sp>
        <p:nvSpPr>
          <p:cNvPr id="28" name="Text 26"/>
          <p:cNvSpPr/>
          <p:nvPr/>
        </p:nvSpPr>
        <p:spPr>
          <a:xfrm>
            <a:off x="12022262" y="5902872"/>
            <a:ext cx="4105989"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10 days</a:t>
            </a:r>
            <a:endParaRPr lang="en-US" sz="1875" dirty="0"/>
          </a:p>
        </p:txBody>
      </p:sp>
      <p:sp>
        <p:nvSpPr>
          <p:cNvPr id="29" name="Shape 27"/>
          <p:cNvSpPr/>
          <p:nvPr/>
        </p:nvSpPr>
        <p:spPr>
          <a:xfrm>
            <a:off x="1143000" y="6829946"/>
            <a:ext cx="8451800" cy="9525"/>
          </a:xfrm>
          <a:prstGeom prst="rect">
            <a:avLst/>
          </a:prstGeom>
          <a:solidFill>
            <a:srgbClr val="201E1E">
              <a:alpha val="40000"/>
            </a:srgbClr>
          </a:solidFill>
          <a:ln/>
        </p:spPr>
        <p:txBody>
          <a:bodyPr/>
          <a:lstStyle/>
          <a:p>
            <a:endParaRPr lang="en-US"/>
          </a:p>
        </p:txBody>
      </p:sp>
      <p:sp>
        <p:nvSpPr>
          <p:cNvPr id="30" name="Text 28"/>
          <p:cNvSpPr/>
          <p:nvPr/>
        </p:nvSpPr>
        <p:spPr>
          <a:xfrm>
            <a:off x="1143000" y="6469684"/>
            <a:ext cx="8476754"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…plus 2 optimizers</a:t>
            </a:r>
            <a:endParaRPr lang="en-US" sz="1875" dirty="0"/>
          </a:p>
        </p:txBody>
      </p:sp>
      <p:sp>
        <p:nvSpPr>
          <p:cNvPr id="31" name="Shape 29"/>
          <p:cNvSpPr/>
          <p:nvPr/>
        </p:nvSpPr>
        <p:spPr>
          <a:xfrm>
            <a:off x="9594800" y="6829946"/>
            <a:ext cx="2198861" cy="9525"/>
          </a:xfrm>
          <a:prstGeom prst="rect">
            <a:avLst/>
          </a:prstGeom>
          <a:solidFill>
            <a:srgbClr val="201E1E">
              <a:alpha val="40000"/>
            </a:srgbClr>
          </a:solidFill>
          <a:ln/>
        </p:spPr>
        <p:txBody>
          <a:bodyPr/>
          <a:lstStyle/>
          <a:p>
            <a:endParaRPr lang="en-US"/>
          </a:p>
        </p:txBody>
      </p:sp>
      <p:sp>
        <p:nvSpPr>
          <p:cNvPr id="32" name="Text 30"/>
          <p:cNvSpPr/>
          <p:nvPr/>
        </p:nvSpPr>
        <p:spPr>
          <a:xfrm>
            <a:off x="9823400" y="6469684"/>
            <a:ext cx="181786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1,440</a:t>
            </a:r>
            <a:endParaRPr lang="en-US" sz="1875" dirty="0"/>
          </a:p>
        </p:txBody>
      </p:sp>
      <p:sp>
        <p:nvSpPr>
          <p:cNvPr id="33" name="Shape 31"/>
          <p:cNvSpPr/>
          <p:nvPr/>
        </p:nvSpPr>
        <p:spPr>
          <a:xfrm>
            <a:off x="11793662" y="6829946"/>
            <a:ext cx="4208338" cy="9525"/>
          </a:xfrm>
          <a:prstGeom prst="rect">
            <a:avLst/>
          </a:prstGeom>
          <a:solidFill>
            <a:srgbClr val="201E1E">
              <a:alpha val="40000"/>
            </a:srgbClr>
          </a:solidFill>
          <a:ln/>
        </p:spPr>
        <p:txBody>
          <a:bodyPr/>
          <a:lstStyle/>
          <a:p>
            <a:endParaRPr lang="en-US"/>
          </a:p>
        </p:txBody>
      </p:sp>
      <p:sp>
        <p:nvSpPr>
          <p:cNvPr id="34" name="Text 32"/>
          <p:cNvSpPr/>
          <p:nvPr/>
        </p:nvSpPr>
        <p:spPr>
          <a:xfrm>
            <a:off x="12022262" y="6469684"/>
            <a:ext cx="4105989"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20 days</a:t>
            </a:r>
            <a:endParaRPr lang="en-US" sz="1875" dirty="0"/>
          </a:p>
        </p:txBody>
      </p:sp>
      <p:sp>
        <p:nvSpPr>
          <p:cNvPr id="35" name="Shape 33"/>
          <p:cNvSpPr/>
          <p:nvPr/>
        </p:nvSpPr>
        <p:spPr>
          <a:xfrm>
            <a:off x="1143000" y="7165628"/>
            <a:ext cx="16002000" cy="19050"/>
          </a:xfrm>
          <a:prstGeom prst="rect">
            <a:avLst/>
          </a:prstGeom>
          <a:solidFill>
            <a:srgbClr val="EC3013"/>
          </a:solidFill>
          <a:ln/>
        </p:spPr>
        <p:txBody>
          <a:bodyPr/>
          <a:lstStyle/>
          <a:p>
            <a:endParaRPr lang="en-US"/>
          </a:p>
        </p:txBody>
      </p:sp>
      <p:sp>
        <p:nvSpPr>
          <p:cNvPr id="36" name="Text 34"/>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PRO TIP</a:t>
            </a:r>
            <a:endParaRPr lang="en-US" sz="1800" dirty="0"/>
          </a:p>
        </p:txBody>
      </p:sp>
      <p:sp>
        <p:nvSpPr>
          <p:cNvPr id="37" name="Text 35"/>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This is why practitioners use random search or Bayesian optimisation instead of a full grid. Counting the grid first is what tells you a full sweep was never affordable.</a:t>
            </a:r>
            <a:endParaRPr lang="en-US" sz="2100" dirty="0"/>
          </a:p>
        </p:txBody>
      </p:sp>
      <p:pic>
        <p:nvPicPr>
          <p:cNvPr id="38"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01 · AI APPLICATION MAPPING</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Where counting shows up in AI</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Hyperparameter search</a:t>
            </a:r>
            <a:endParaRPr lang="en-US" sz="2550" dirty="0"/>
          </a:p>
        </p:txBody>
      </p:sp>
      <p:sp>
        <p:nvSpPr>
          <p:cNvPr id="6" name="Text 4"/>
          <p:cNvSpPr/>
          <p:nvPr/>
        </p:nvSpPr>
        <p:spPr>
          <a:xfrm>
            <a:off x="1143000" y="39317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Counting model configurations to test — and discovering the grid is a hundred times bigger than the budget.</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Search ranking</a:t>
            </a:r>
            <a:endParaRPr lang="en-US" sz="2550" dirty="0"/>
          </a:p>
        </p:txBody>
      </p:sp>
      <p:sp>
        <p:nvSpPr>
          <p:cNvPr id="9" name="Text 7"/>
          <p:cNvSpPr/>
          <p:nvPr/>
        </p:nvSpPr>
        <p:spPr>
          <a:xfrm>
            <a:off x="6629400" y="3931741"/>
            <a:ext cx="5180076" cy="15926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Comparing possible orderings of results. Ranking ten results has 10! = 3.6 million possible orders; rankers score, they do not enumerate.</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Recommendation bundles</a:t>
            </a:r>
            <a:endParaRPr lang="en-US" sz="2550" dirty="0"/>
          </a:p>
        </p:txBody>
      </p:sp>
      <p:sp>
        <p:nvSpPr>
          <p:cNvPr id="12" name="Text 10"/>
          <p:cNvSpPr/>
          <p:nvPr/>
        </p:nvSpPr>
        <p:spPr>
          <a:xfrm>
            <a:off x="12115800" y="3931741"/>
            <a:ext cx="5180076" cy="15926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Choosing product or content combinations. From 200 products there are ²⁰⁰C₂ = 19,900 two-item bundles to evaluate.</a:t>
            </a:r>
            <a:endParaRPr lang="en-US" sz="2100" dirty="0"/>
          </a:p>
        </p:txBody>
      </p:sp>
      <p:sp>
        <p:nvSpPr>
          <p:cNvPr id="13" name="Shape 11"/>
          <p:cNvSpPr/>
          <p:nvPr/>
        </p:nvSpPr>
        <p:spPr>
          <a:xfrm>
            <a:off x="1143000" y="7165628"/>
            <a:ext cx="16002000" cy="19050"/>
          </a:xfrm>
          <a:prstGeom prst="rect">
            <a:avLst/>
          </a:prstGeom>
          <a:solidFill>
            <a:srgbClr val="EC3013"/>
          </a:solidFill>
          <a:ln/>
        </p:spPr>
        <p:txBody>
          <a:bodyPr/>
          <a:lstStyle/>
          <a:p>
            <a:endParaRPr lang="en-US"/>
          </a:p>
        </p:txBody>
      </p:sp>
      <p:sp>
        <p:nvSpPr>
          <p:cNvPr id="14" name="Text 12"/>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15" name="Text 13"/>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 same arithmetic sizes prompt-variant testing and RAG chunking strategies: 5 prompt templates × 4 chunk sizes × 3 retrievers is 60 evaluation runs before you have looked at a single output.</a:t>
            </a:r>
            <a:endParaRPr lang="en-US" sz="2100" dirty="0"/>
          </a:p>
        </p:txBody>
      </p:sp>
      <p:pic>
        <p:nvPicPr>
          <p:cNvPr id="16"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01 · TRY IT YOURSELF</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Hands-on: counting</a:t>
            </a:r>
            <a:endParaRPr lang="en-US" sz="4800" dirty="0"/>
          </a:p>
        </p:txBody>
      </p:sp>
      <p:sp>
        <p:nvSpPr>
          <p:cNvPr id="4" name="Shape 2"/>
          <p:cNvSpPr/>
          <p:nvPr/>
        </p:nvSpPr>
        <p:spPr>
          <a:xfrm>
            <a:off x="1143000" y="2788890"/>
            <a:ext cx="14859000" cy="19050"/>
          </a:xfrm>
          <a:prstGeom prst="rect">
            <a:avLst/>
          </a:prstGeom>
          <a:solidFill>
            <a:srgbClr val="EC3013"/>
          </a:solidFill>
          <a:ln/>
        </p:spPr>
        <p:txBody>
          <a:bodyPr/>
          <a:lstStyle/>
          <a:p>
            <a:endParaRPr lang="en-US"/>
          </a:p>
        </p:txBody>
      </p:sp>
      <p:sp>
        <p:nvSpPr>
          <p:cNvPr id="5" name="Text 3"/>
          <p:cNvSpPr/>
          <p:nvPr/>
        </p:nvSpPr>
        <p:spPr>
          <a:xfrm>
            <a:off x="1143000" y="3052763"/>
            <a:ext cx="16344900" cy="227558"/>
          </a:xfrm>
          <a:prstGeom prst="rect">
            <a:avLst/>
          </a:prstGeom>
          <a:noFill/>
          <a:ln/>
        </p:spPr>
        <p:txBody>
          <a:bodyPr wrap="square" lIns="25400" tIns="25400" rIns="25400" bIns="25400" rtlCol="0" anchor="t">
            <a:normAutofit fontScale="47500" lnSpcReduction="2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1. </a:t>
            </a:r>
            <a:r>
              <a:rPr lang="en-US" sz="2175" dirty="0">
                <a:solidFill>
                  <a:srgbClr val="201E1D"/>
                </a:solidFill>
                <a:latin typeface="Arial" pitchFamily="34" charset="0"/>
                <a:ea typeface="Arial" pitchFamily="34" charset="-122"/>
                <a:cs typeface="Arial" pitchFamily="34" charset="-120"/>
              </a:rPr>
              <a:t>A recommendation engine tests bundles of 2 products chosen from 4 items in stock. How many bundles are possible?</a:t>
            </a:r>
            <a:endParaRPr lang="en-US" sz="2175" dirty="0"/>
          </a:p>
        </p:txBody>
      </p:sp>
      <p:sp>
        <p:nvSpPr>
          <p:cNvPr id="6" name="Text 4"/>
          <p:cNvSpPr/>
          <p:nvPr/>
        </p:nvSpPr>
        <p:spPr>
          <a:xfrm>
            <a:off x="1143000" y="3409206"/>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⁴C₂ = 4! / (2! × 2!) = 24 / 4 = 6 bundles.</a:t>
            </a:r>
            <a:endParaRPr lang="en-US" sz="1800" dirty="0"/>
          </a:p>
        </p:txBody>
      </p:sp>
      <p:sp>
        <p:nvSpPr>
          <p:cNvPr id="7" name="Shape 5"/>
          <p:cNvSpPr/>
          <p:nvPr/>
        </p:nvSpPr>
        <p:spPr>
          <a:xfrm>
            <a:off x="1143000" y="4068887"/>
            <a:ext cx="14859000" cy="19050"/>
          </a:xfrm>
          <a:prstGeom prst="rect">
            <a:avLst/>
          </a:prstGeom>
          <a:solidFill>
            <a:srgbClr val="EC3013"/>
          </a:solidFill>
          <a:ln/>
        </p:spPr>
        <p:txBody>
          <a:bodyPr/>
          <a:lstStyle/>
          <a:p>
            <a:endParaRPr lang="en-US"/>
          </a:p>
        </p:txBody>
      </p:sp>
      <p:sp>
        <p:nvSpPr>
          <p:cNvPr id="8" name="Text 6"/>
          <p:cNvSpPr/>
          <p:nvPr/>
        </p:nvSpPr>
        <p:spPr>
          <a:xfrm>
            <a:off x="1143000" y="4332759"/>
            <a:ext cx="16344900" cy="227558"/>
          </a:xfrm>
          <a:prstGeom prst="rect">
            <a:avLst/>
          </a:prstGeom>
          <a:noFill/>
          <a:ln/>
        </p:spPr>
        <p:txBody>
          <a:bodyPr wrap="square" lIns="25400" tIns="25400" rIns="25400" bIns="25400" rtlCol="0" anchor="t">
            <a:normAutofit fontScale="47500" lnSpcReduction="2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2. </a:t>
            </a:r>
            <a:r>
              <a:rPr lang="en-US" sz="2175" dirty="0">
                <a:solidFill>
                  <a:srgbClr val="201E1D"/>
                </a:solidFill>
                <a:latin typeface="Arial" pitchFamily="34" charset="0"/>
                <a:ea typeface="Arial" pitchFamily="34" charset="-122"/>
                <a:cs typeface="Arial" pitchFamily="34" charset="-120"/>
              </a:rPr>
              <a:t>A sweep tries 3 learning rates, 4 batch sizes and 2 optimizers. How many runs is a full grid?</a:t>
            </a:r>
            <a:endParaRPr lang="en-US" sz="2175" dirty="0"/>
          </a:p>
        </p:txBody>
      </p:sp>
      <p:sp>
        <p:nvSpPr>
          <p:cNvPr id="9" name="Text 7"/>
          <p:cNvSpPr/>
          <p:nvPr/>
        </p:nvSpPr>
        <p:spPr>
          <a:xfrm>
            <a:off x="1143000" y="4689202"/>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3 × 4 × 2 = 24 runs. Grid counts multiply — this is not a combination, because you take one value from each list.</a:t>
            </a:r>
            <a:endParaRPr lang="en-US" sz="1800" dirty="0"/>
          </a:p>
        </p:txBody>
      </p:sp>
      <p:sp>
        <p:nvSpPr>
          <p:cNvPr id="10" name="Shape 8"/>
          <p:cNvSpPr/>
          <p:nvPr/>
        </p:nvSpPr>
        <p:spPr>
          <a:xfrm>
            <a:off x="1143000" y="5348883"/>
            <a:ext cx="14859000" cy="19050"/>
          </a:xfrm>
          <a:prstGeom prst="rect">
            <a:avLst/>
          </a:prstGeom>
          <a:solidFill>
            <a:srgbClr val="EC3013"/>
          </a:solidFill>
          <a:ln/>
        </p:spPr>
        <p:txBody>
          <a:bodyPr/>
          <a:lstStyle/>
          <a:p>
            <a:endParaRPr lang="en-US"/>
          </a:p>
        </p:txBody>
      </p:sp>
      <p:sp>
        <p:nvSpPr>
          <p:cNvPr id="11" name="Text 9"/>
          <p:cNvSpPr/>
          <p:nvPr/>
        </p:nvSpPr>
        <p:spPr>
          <a:xfrm>
            <a:off x="1143000" y="5612755"/>
            <a:ext cx="15304770" cy="608558"/>
          </a:xfrm>
          <a:prstGeom prst="rect">
            <a:avLst/>
          </a:prstGeom>
          <a:noFill/>
          <a:ln/>
        </p:spPr>
        <p:txBody>
          <a:bodyPr wrap="square" lIns="25400" tIns="25400" rIns="25400" bIns="25400" rtlCol="0" anchor="t">
            <a:normAutofit fontScale="925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3. </a:t>
            </a:r>
            <a:r>
              <a:rPr lang="en-US" sz="2175" dirty="0">
                <a:solidFill>
                  <a:srgbClr val="201E1D"/>
                </a:solidFill>
                <a:latin typeface="Arial" pitchFamily="34" charset="0"/>
                <a:ea typeface="Arial" pitchFamily="34" charset="-122"/>
                <a:cs typeface="Arial" pitchFamily="34" charset="-120"/>
              </a:rPr>
              <a:t>A carousel shows 3 of 8 products, and the position matters because the first slot gets most of the clicks. How many layouts?</a:t>
            </a:r>
            <a:endParaRPr lang="en-US" sz="2175" dirty="0"/>
          </a:p>
        </p:txBody>
      </p:sp>
      <p:sp>
        <p:nvSpPr>
          <p:cNvPr id="12" name="Text 10"/>
          <p:cNvSpPr/>
          <p:nvPr/>
        </p:nvSpPr>
        <p:spPr>
          <a:xfrm>
            <a:off x="1143000" y="6350198"/>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⁸P₃ = 8! / 5! = 8 × 7 × 6 = 336 layouts. Order matters here, so it is a permutation, not a combination.</a:t>
            </a:r>
            <a:endParaRPr lang="en-US" sz="1800" dirty="0"/>
          </a:p>
        </p:txBody>
      </p:sp>
      <p:pic>
        <p:nvPicPr>
          <p:cNvPr id="13"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PROBABILITY FOUNDATIONS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Do I need this?</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Yes, if you…</a:t>
            </a:r>
            <a:endParaRPr lang="en-US" sz="2550" dirty="0"/>
          </a:p>
        </p:txBody>
      </p:sp>
      <p:sp>
        <p:nvSpPr>
          <p:cNvPr id="6" name="Text 4"/>
          <p:cNvSpPr/>
          <p:nvPr/>
        </p:nvSpPr>
        <p:spPr>
          <a:xfrm>
            <a:off x="1143000" y="3931741"/>
            <a:ext cx="5180076" cy="15926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Work anywhere near fraud, risk, diagnosis, spam, churn, or any system that produces a confidence score you are expected to act on.</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What breaks without it</a:t>
            </a:r>
            <a:endParaRPr lang="en-US" sz="2550" dirty="0"/>
          </a:p>
        </p:txBody>
      </p:sp>
      <p:sp>
        <p:nvSpPr>
          <p:cNvPr id="9" name="Text 7"/>
          <p:cNvSpPr/>
          <p:nvPr/>
        </p:nvSpPr>
        <p:spPr>
          <a:xfrm>
            <a:off x="6629400" y="3931741"/>
            <a:ext cx="5180076" cy="15926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You read a 95% accurate test as a 95% chance of being right, greenlight a rare-event detector that cries wolf nine times in ten, and cannot say why.</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Time to competence</a:t>
            </a:r>
            <a:endParaRPr lang="en-US" sz="2550" dirty="0"/>
          </a:p>
        </p:txBody>
      </p:sp>
      <p:sp>
        <p:nvSpPr>
          <p:cNvPr id="12" name="Text 10"/>
          <p:cNvSpPr/>
          <p:nvPr/>
        </p:nvSpPr>
        <p:spPr>
          <a:xfrm>
            <a:off x="12115800" y="3931741"/>
            <a:ext cx="5180076" cy="11354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day. Conditional probability and Bayes are the load-bearing parts; the rest is vocabulary.</a:t>
            </a:r>
            <a:endParaRPr lang="en-US" sz="2100" dirty="0"/>
          </a:p>
        </p:txBody>
      </p:sp>
      <p:sp>
        <p:nvSpPr>
          <p:cNvPr id="13" name="Shape 11"/>
          <p:cNvSpPr/>
          <p:nvPr/>
        </p:nvSpPr>
        <p:spPr>
          <a:xfrm>
            <a:off x="1143000" y="7165628"/>
            <a:ext cx="16002000" cy="19050"/>
          </a:xfrm>
          <a:prstGeom prst="rect">
            <a:avLst/>
          </a:prstGeom>
          <a:solidFill>
            <a:srgbClr val="EC3013"/>
          </a:solidFill>
          <a:ln/>
        </p:spPr>
        <p:txBody>
          <a:bodyPr/>
          <a:lstStyle/>
          <a:p>
            <a:endParaRPr lang="en-US"/>
          </a:p>
        </p:txBody>
      </p:sp>
      <p:sp>
        <p:nvSpPr>
          <p:cNvPr id="14" name="Text 12"/>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15" name="Text 13"/>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Every token an LLM emits is drawn from a probability distribution. Every RAG retrieval is a bet about relevance. Every guardrail is a threshold on a probability.</a:t>
            </a:r>
            <a:endParaRPr lang="en-US" sz="2100" dirty="0"/>
          </a:p>
        </p:txBody>
      </p:sp>
      <p:pic>
        <p:nvPicPr>
          <p:cNvPr id="16"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PRACTICAL INTUITION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Three ideas, stacked</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Probability is the measure of how likely an event is to happen. Each of the three ideas below builds directly on the one before it.</a:t>
            </a:r>
            <a:endParaRPr lang="en-US" sz="2100" dirty="0"/>
          </a:p>
        </p:txBody>
      </p:sp>
      <p:sp>
        <p:nvSpPr>
          <p:cNvPr id="5" name="Shape 3"/>
          <p:cNvSpPr/>
          <p:nvPr/>
        </p:nvSpPr>
        <p:spPr>
          <a:xfrm>
            <a:off x="1143000" y="4219575"/>
            <a:ext cx="5029200" cy="19050"/>
          </a:xfrm>
          <a:prstGeom prst="rect">
            <a:avLst/>
          </a:prstGeom>
          <a:solidFill>
            <a:srgbClr val="201E1E">
              <a:alpha val="40000"/>
            </a:srgbClr>
          </a:solidFill>
          <a:ln/>
        </p:spPr>
        <p:txBody>
          <a:bodyPr/>
          <a:lstStyle/>
          <a:p>
            <a:endParaRPr lang="en-US"/>
          </a:p>
        </p:txBody>
      </p:sp>
      <p:sp>
        <p:nvSpPr>
          <p:cNvPr id="6" name="Text 4"/>
          <p:cNvSpPr/>
          <p:nvPr/>
        </p:nvSpPr>
        <p:spPr>
          <a:xfrm>
            <a:off x="1143000" y="44542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Probability</a:t>
            </a:r>
            <a:endParaRPr lang="en-US" sz="2550" dirty="0"/>
          </a:p>
        </p:txBody>
      </p:sp>
      <p:sp>
        <p:nvSpPr>
          <p:cNvPr id="7" name="Text 5"/>
          <p:cNvSpPr/>
          <p:nvPr/>
        </p:nvSpPr>
        <p:spPr>
          <a:xfrm>
            <a:off x="1143000" y="49604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number between 0 and 1 describing how likely something is. 0 means impossible, 1 means certain.</a:t>
            </a:r>
            <a:endParaRPr lang="en-US" sz="2100" dirty="0"/>
          </a:p>
        </p:txBody>
      </p:sp>
      <p:sp>
        <p:nvSpPr>
          <p:cNvPr id="8" name="Shape 6"/>
          <p:cNvSpPr/>
          <p:nvPr/>
        </p:nvSpPr>
        <p:spPr>
          <a:xfrm>
            <a:off x="6629400" y="4219575"/>
            <a:ext cx="5029200" cy="19050"/>
          </a:xfrm>
          <a:prstGeom prst="rect">
            <a:avLst/>
          </a:prstGeom>
          <a:solidFill>
            <a:srgbClr val="201E1E">
              <a:alpha val="40000"/>
            </a:srgbClr>
          </a:solidFill>
          <a:ln/>
        </p:spPr>
        <p:txBody>
          <a:bodyPr/>
          <a:lstStyle/>
          <a:p>
            <a:endParaRPr lang="en-US"/>
          </a:p>
        </p:txBody>
      </p:sp>
      <p:sp>
        <p:nvSpPr>
          <p:cNvPr id="9" name="Text 7"/>
          <p:cNvSpPr/>
          <p:nvPr/>
        </p:nvSpPr>
        <p:spPr>
          <a:xfrm>
            <a:off x="6629400" y="44542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Conditional probability</a:t>
            </a:r>
            <a:endParaRPr lang="en-US" sz="2550" dirty="0"/>
          </a:p>
        </p:txBody>
      </p:sp>
      <p:sp>
        <p:nvSpPr>
          <p:cNvPr id="10" name="Text 8"/>
          <p:cNvSpPr/>
          <p:nvPr/>
        </p:nvSpPr>
        <p:spPr>
          <a:xfrm>
            <a:off x="6629400" y="49604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 chance of an event given that another has already happened. Written P(A | B) — "P of A given B".</a:t>
            </a:r>
            <a:endParaRPr lang="en-US" sz="2100" dirty="0"/>
          </a:p>
        </p:txBody>
      </p:sp>
      <p:sp>
        <p:nvSpPr>
          <p:cNvPr id="11" name="Shape 9"/>
          <p:cNvSpPr/>
          <p:nvPr/>
        </p:nvSpPr>
        <p:spPr>
          <a:xfrm>
            <a:off x="12115800" y="4219575"/>
            <a:ext cx="5029200" cy="19050"/>
          </a:xfrm>
          <a:prstGeom prst="rect">
            <a:avLst/>
          </a:prstGeom>
          <a:solidFill>
            <a:srgbClr val="201E1E">
              <a:alpha val="40000"/>
            </a:srgbClr>
          </a:solidFill>
          <a:ln/>
        </p:spPr>
        <p:txBody>
          <a:bodyPr/>
          <a:lstStyle/>
          <a:p>
            <a:endParaRPr lang="en-US"/>
          </a:p>
        </p:txBody>
      </p:sp>
      <p:sp>
        <p:nvSpPr>
          <p:cNvPr id="12" name="Text 10"/>
          <p:cNvSpPr/>
          <p:nvPr/>
        </p:nvSpPr>
        <p:spPr>
          <a:xfrm>
            <a:off x="12115800" y="44542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Bayes' theorem</a:t>
            </a:r>
            <a:endParaRPr lang="en-US" sz="2550" dirty="0"/>
          </a:p>
        </p:txBody>
      </p:sp>
      <p:sp>
        <p:nvSpPr>
          <p:cNvPr id="13" name="Text 11"/>
          <p:cNvSpPr/>
          <p:nvPr/>
        </p:nvSpPr>
        <p:spPr>
          <a:xfrm>
            <a:off x="12115800" y="49604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How much to revise a belief once evidence arrives. It turns P(B | A) into P(A | B), which is usually the one you want.</a:t>
            </a:r>
            <a:endParaRPr lang="en-US" sz="2100" dirty="0"/>
          </a:p>
        </p:txBody>
      </p:sp>
      <p:sp>
        <p:nvSpPr>
          <p:cNvPr id="14" name="Shape 12"/>
          <p:cNvSpPr/>
          <p:nvPr/>
        </p:nvSpPr>
        <p:spPr>
          <a:xfrm>
            <a:off x="1143000" y="7165628"/>
            <a:ext cx="16002000" cy="19050"/>
          </a:xfrm>
          <a:prstGeom prst="rect">
            <a:avLst/>
          </a:prstGeom>
          <a:solidFill>
            <a:srgbClr val="EC3013"/>
          </a:solidFill>
          <a:ln/>
        </p:spPr>
        <p:txBody>
          <a:bodyPr/>
          <a:lstStyle/>
          <a:p>
            <a:endParaRPr lang="en-US"/>
          </a:p>
        </p:txBody>
      </p:sp>
      <p:sp>
        <p:nvSpPr>
          <p:cNvPr id="15" name="Text 13"/>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WHY IT MATTERS</a:t>
            </a:r>
            <a:endParaRPr lang="en-US" sz="1800" dirty="0"/>
          </a:p>
        </p:txBody>
      </p:sp>
      <p:sp>
        <p:nvSpPr>
          <p:cNvPr id="16" name="Text 14"/>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Spam filters, fraud detection and recommendation engines all reason under uncertainty using exactly these three ideas, in exactly this order.</a:t>
            </a:r>
            <a:endParaRPr lang="en-US" sz="2100" dirty="0"/>
          </a:p>
        </p:txBody>
      </p:sp>
      <p:pic>
        <p:nvPicPr>
          <p:cNvPr id="17"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WHY THE FORMULA WORKS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Why probability lives between 0 and 1</a:t>
            </a:r>
            <a:endParaRPr lang="en-US" sz="4800" dirty="0"/>
          </a:p>
        </p:txBody>
      </p:sp>
      <p:sp>
        <p:nvSpPr>
          <p:cNvPr id="4" name="Shape 2"/>
          <p:cNvSpPr/>
          <p:nvPr/>
        </p:nvSpPr>
        <p:spPr>
          <a:xfrm>
            <a:off x="1143000" y="4891906"/>
            <a:ext cx="16002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3200400"/>
            <a:ext cx="16002000" cy="19050"/>
          </a:xfrm>
          <a:prstGeom prst="rect">
            <a:avLst/>
          </a:prstGeom>
          <a:solidFill>
            <a:srgbClr val="201E1E">
              <a:alpha val="40000"/>
            </a:srgbClr>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43000" y="3562350"/>
            <a:ext cx="16002000" cy="986656"/>
          </a:xfrm>
          <a:prstGeom prst="rect">
            <a:avLst/>
          </a:prstGeom>
        </p:spPr>
      </p:pic>
      <p:sp>
        <p:nvSpPr>
          <p:cNvPr id="7" name="Text 4"/>
          <p:cNvSpPr/>
          <p:nvPr/>
        </p:nvSpPr>
        <p:spPr>
          <a:xfrm>
            <a:off x="1143000" y="5045794"/>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Numerator</a:t>
            </a:r>
            <a:endParaRPr lang="en-US" sz="1950" dirty="0"/>
          </a:p>
        </p:txBody>
      </p:sp>
      <p:sp>
        <p:nvSpPr>
          <p:cNvPr id="8" name="Text 5"/>
          <p:cNvSpPr/>
          <p:nvPr/>
        </p:nvSpPr>
        <p:spPr>
          <a:xfrm>
            <a:off x="4343400" y="5045794"/>
            <a:ext cx="12008358" cy="531837"/>
          </a:xfrm>
          <a:prstGeom prst="rect">
            <a:avLst/>
          </a:prstGeom>
          <a:noFill/>
          <a:ln/>
        </p:spPr>
        <p:txBody>
          <a:bodyPr wrap="square" lIns="25400" tIns="25400" rIns="25400" bIns="25400" rtlCol="0" anchor="t">
            <a:normAutofit fontScale="85000"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How many of the possible outcomes count as "A happened". It can never be more than the total, and never less than zero.</a:t>
            </a:r>
            <a:endParaRPr lang="en-US" sz="1950" dirty="0"/>
          </a:p>
        </p:txBody>
      </p:sp>
      <p:sp>
        <p:nvSpPr>
          <p:cNvPr id="9" name="Text 6"/>
          <p:cNvSpPr/>
          <p:nvPr/>
        </p:nvSpPr>
        <p:spPr>
          <a:xfrm>
            <a:off x="1143000" y="5922020"/>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Denominator</a:t>
            </a:r>
            <a:endParaRPr lang="en-US" sz="1950" dirty="0"/>
          </a:p>
        </p:txBody>
      </p:sp>
      <p:sp>
        <p:nvSpPr>
          <p:cNvPr id="10" name="Text 7"/>
          <p:cNvSpPr/>
          <p:nvPr/>
        </p:nvSpPr>
        <p:spPr>
          <a:xfrm>
            <a:off x="4343400" y="5922020"/>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Every outcome that could occur at all. Fixing this number is most of the work in a real problem.</a:t>
            </a:r>
            <a:endParaRPr lang="en-US" sz="1950" dirty="0"/>
          </a:p>
        </p:txBody>
      </p:sp>
      <p:sp>
        <p:nvSpPr>
          <p:cNvPr id="11" name="Text 8"/>
          <p:cNvSpPr/>
          <p:nvPr/>
        </p:nvSpPr>
        <p:spPr>
          <a:xfrm>
            <a:off x="1143000" y="6628358"/>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So, P(A) ≤ 1</a:t>
            </a:r>
            <a:endParaRPr lang="en-US" sz="1950" dirty="0"/>
          </a:p>
        </p:txBody>
      </p:sp>
      <p:sp>
        <p:nvSpPr>
          <p:cNvPr id="12" name="Text 9"/>
          <p:cNvSpPr/>
          <p:nvPr/>
        </p:nvSpPr>
        <p:spPr>
          <a:xfrm>
            <a:off x="4343400" y="6628358"/>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A part cannot be larger than the whole. Probability 1 means every outcome is favourable — certainty.</a:t>
            </a:r>
            <a:endParaRPr lang="en-US" sz="1950" dirty="0"/>
          </a:p>
        </p:txBody>
      </p:sp>
      <p:sp>
        <p:nvSpPr>
          <p:cNvPr id="13" name="Text 10"/>
          <p:cNvSpPr/>
          <p:nvPr/>
        </p:nvSpPr>
        <p:spPr>
          <a:xfrm>
            <a:off x="1143000" y="7334696"/>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And P(A) ≥ 0</a:t>
            </a:r>
            <a:endParaRPr lang="en-US" sz="1950" dirty="0"/>
          </a:p>
        </p:txBody>
      </p:sp>
      <p:sp>
        <p:nvSpPr>
          <p:cNvPr id="14" name="Text 11"/>
          <p:cNvSpPr/>
          <p:nvPr/>
        </p:nvSpPr>
        <p:spPr>
          <a:xfrm>
            <a:off x="4343400" y="7334696"/>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You cannot have a negative count of outcomes. Probability 0 means no outcome qualifies — impossible.</a:t>
            </a:r>
            <a:endParaRPr lang="en-US" sz="1950" dirty="0"/>
          </a:p>
        </p:txBody>
      </p:sp>
      <p:sp>
        <p:nvSpPr>
          <p:cNvPr id="15" name="Text 12"/>
          <p:cNvSpPr/>
          <p:nvPr/>
        </p:nvSpPr>
        <p:spPr>
          <a:xfrm>
            <a:off x="1143000" y="7958882"/>
            <a:ext cx="16482060" cy="652090"/>
          </a:xfrm>
          <a:prstGeom prst="rect">
            <a:avLst/>
          </a:prstGeom>
          <a:noFill/>
          <a:ln/>
        </p:spPr>
        <p:txBody>
          <a:bodyPr wrap="square" lIns="25400" tIns="25400" rIns="25400" bIns="25400" rtlCol="0" anchor="t">
            <a:normAutofit fontScale="92500"/>
          </a:bodyPr>
          <a:lstStyle/>
          <a:p>
            <a:pPr marL="0" indent="0" algn="l">
              <a:lnSpc>
                <a:spcPct val="174545"/>
              </a:lnSpc>
              <a:buNone/>
            </a:pPr>
            <a:r>
              <a:rPr lang="en-US" sz="1800" b="1" dirty="0">
                <a:solidFill>
                  <a:srgbClr val="AE1800"/>
                </a:solidFill>
                <a:latin typeface="Arial" pitchFamily="34" charset="0"/>
                <a:ea typeface="Arial" pitchFamily="34" charset="-122"/>
                <a:cs typeface="Arial" pitchFamily="34" charset="-120"/>
              </a:rPr>
              <a:t>Pro tip. </a:t>
            </a:r>
            <a:r>
              <a:rPr lang="en-US" sz="1800" dirty="0">
                <a:solidFill>
                  <a:srgbClr val="211D1D">
                    <a:alpha val="55000"/>
                  </a:srgbClr>
                </a:solidFill>
                <a:latin typeface="Arial" pitchFamily="34" charset="0"/>
                <a:ea typeface="Arial" pitchFamily="34" charset="-122"/>
                <a:cs typeface="Arial" pitchFamily="34" charset="-120"/>
              </a:rPr>
              <a:t>All the probabilities of a complete set of alternatives must add to exactly 1 — the sanity check to run on any model output. Softmax exists purely to enforce it.</a:t>
            </a:r>
            <a:endParaRPr lang="en-US" sz="1800" dirty="0"/>
          </a:p>
        </p:txBody>
      </p:sp>
      <p:pic>
        <p:nvPicPr>
          <p:cNvPr id="16"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WHY THE FORMULA WORKS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Conditional probability shrinks the world</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Learning that B happened does not change the mathematics. It changes which outcomes are still on the table.</a:t>
            </a:r>
            <a:endParaRPr lang="en-US" sz="2100" dirty="0"/>
          </a:p>
        </p:txBody>
      </p:sp>
      <p:sp>
        <p:nvSpPr>
          <p:cNvPr id="5" name="Shape 3"/>
          <p:cNvSpPr/>
          <p:nvPr/>
        </p:nvSpPr>
        <p:spPr>
          <a:xfrm>
            <a:off x="1143000" y="5512073"/>
            <a:ext cx="16002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3771900"/>
            <a:ext cx="16002000" cy="19050"/>
          </a:xfrm>
          <a:prstGeom prst="rect">
            <a:avLst/>
          </a:prstGeom>
          <a:solidFill>
            <a:srgbClr val="201E1E">
              <a:alpha val="40000"/>
            </a:srgbClr>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43000" y="4133850"/>
            <a:ext cx="16002000" cy="1035323"/>
          </a:xfrm>
          <a:prstGeom prst="rect">
            <a:avLst/>
          </a:prstGeom>
        </p:spPr>
      </p:pic>
      <p:sp>
        <p:nvSpPr>
          <p:cNvPr id="8" name="Text 5"/>
          <p:cNvSpPr/>
          <p:nvPr/>
        </p:nvSpPr>
        <p:spPr>
          <a:xfrm>
            <a:off x="1143000" y="5665961"/>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New denominator</a:t>
            </a:r>
            <a:endParaRPr lang="en-US" sz="1950" dirty="0"/>
          </a:p>
        </p:txBody>
      </p:sp>
      <p:sp>
        <p:nvSpPr>
          <p:cNvPr id="9" name="Text 6"/>
          <p:cNvSpPr/>
          <p:nvPr/>
        </p:nvSpPr>
        <p:spPr>
          <a:xfrm>
            <a:off x="4343400" y="5665961"/>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Once you know B happened, every outcome where B did not happen is off the table. The world is now just B, so P(B) becomes the new "whole".</a:t>
            </a:r>
            <a:endParaRPr lang="en-US" sz="1950" dirty="0"/>
          </a:p>
        </p:txBody>
      </p:sp>
      <p:sp>
        <p:nvSpPr>
          <p:cNvPr id="10" name="Text 7"/>
          <p:cNvSpPr/>
          <p:nvPr/>
        </p:nvSpPr>
        <p:spPr>
          <a:xfrm>
            <a:off x="1143000" y="6542187"/>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New numerator</a:t>
            </a:r>
            <a:endParaRPr lang="en-US" sz="1950" dirty="0"/>
          </a:p>
        </p:txBody>
      </p:sp>
      <p:sp>
        <p:nvSpPr>
          <p:cNvPr id="11" name="Text 8"/>
          <p:cNvSpPr/>
          <p:nvPr/>
        </p:nvSpPr>
        <p:spPr>
          <a:xfrm>
            <a:off x="4343400" y="6542187"/>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Inside that smaller world, the outcomes that also count as A are the ones where A and B both happened.</a:t>
            </a:r>
            <a:endParaRPr lang="en-US" sz="1950" dirty="0"/>
          </a:p>
        </p:txBody>
      </p:sp>
      <p:sp>
        <p:nvSpPr>
          <p:cNvPr id="12" name="Text 9"/>
          <p:cNvSpPr/>
          <p:nvPr/>
        </p:nvSpPr>
        <p:spPr>
          <a:xfrm>
            <a:off x="1143000" y="7248525"/>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Same fraction</a:t>
            </a:r>
            <a:endParaRPr lang="en-US" sz="1950" dirty="0"/>
          </a:p>
        </p:txBody>
      </p:sp>
      <p:sp>
        <p:nvSpPr>
          <p:cNvPr id="13" name="Text 10"/>
          <p:cNvSpPr/>
          <p:nvPr/>
        </p:nvSpPr>
        <p:spPr>
          <a:xfrm>
            <a:off x="4343400" y="7248525"/>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Favourable over total, exactly as before — just measured inside B rather than inside everything.</a:t>
            </a:r>
            <a:endParaRPr lang="en-US" sz="1950" dirty="0"/>
          </a:p>
        </p:txBody>
      </p:sp>
      <p:sp>
        <p:nvSpPr>
          <p:cNvPr id="14" name="Text 11"/>
          <p:cNvSpPr/>
          <p:nvPr/>
        </p:nvSpPr>
        <p:spPr>
          <a:xfrm>
            <a:off x="1143000" y="7872710"/>
            <a:ext cx="16482060" cy="652090"/>
          </a:xfrm>
          <a:prstGeom prst="rect">
            <a:avLst/>
          </a:prstGeom>
          <a:noFill/>
          <a:ln/>
        </p:spPr>
        <p:txBody>
          <a:bodyPr wrap="square" lIns="25400" tIns="25400" rIns="25400" bIns="25400" rtlCol="0" anchor="t">
            <a:normAutofit fontScale="85000" lnSpcReduction="10000"/>
          </a:bodyPr>
          <a:lstStyle/>
          <a:p>
            <a:pPr marL="0" indent="0" algn="l">
              <a:lnSpc>
                <a:spcPct val="174545"/>
              </a:lnSpc>
              <a:buNone/>
            </a:pPr>
            <a:r>
              <a:rPr lang="en-US" sz="1800" b="1" dirty="0">
                <a:solidFill>
                  <a:srgbClr val="AE1800"/>
                </a:solidFill>
                <a:latin typeface="Arial" pitchFamily="34" charset="0"/>
                <a:ea typeface="Arial" pitchFamily="34" charset="-122"/>
                <a:cs typeface="Arial" pitchFamily="34" charset="-120"/>
              </a:rPr>
              <a:t>Gotcha. </a:t>
            </a:r>
            <a:r>
              <a:rPr lang="en-US" sz="1800" dirty="0">
                <a:solidFill>
                  <a:srgbClr val="211D1D">
                    <a:alpha val="55000"/>
                  </a:srgbClr>
                </a:solidFill>
                <a:latin typeface="Arial" pitchFamily="34" charset="0"/>
                <a:ea typeface="Arial" pitchFamily="34" charset="-122"/>
                <a:cs typeface="Arial" pitchFamily="34" charset="-120"/>
              </a:rPr>
              <a:t>P(A | B) and P(B | A) are different numbers, often wildly so. P(rain | clouds) is high; P(clouds | rain) is essentially 1 — confusing the two is the most common probability error in business.</a:t>
            </a:r>
            <a:endParaRPr lang="en-US" sz="1800" dirty="0"/>
          </a:p>
        </p:txBody>
      </p:sp>
      <p:pic>
        <p:nvPicPr>
          <p:cNvPr id="15"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DERIVATION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Bayes' theorem in two lines</a:t>
            </a:r>
            <a:endParaRPr lang="en-US" sz="4800" dirty="0"/>
          </a:p>
        </p:txBody>
      </p:sp>
      <p:sp>
        <p:nvSpPr>
          <p:cNvPr id="4" name="Shape 2"/>
          <p:cNvSpPr/>
          <p:nvPr/>
        </p:nvSpPr>
        <p:spPr>
          <a:xfrm>
            <a:off x="1143000" y="2857500"/>
            <a:ext cx="13335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3379366"/>
            <a:ext cx="13335000" cy="9525"/>
          </a:xfrm>
          <a:prstGeom prst="rect">
            <a:avLst/>
          </a:prstGeom>
          <a:solidFill>
            <a:srgbClr val="201E1E">
              <a:alpha val="40000"/>
            </a:srgbClr>
          </a:solidFill>
          <a:ln/>
        </p:spPr>
        <p:txBody>
          <a:bodyPr/>
          <a:lstStyle/>
          <a:p>
            <a:endParaRPr lang="en-US"/>
          </a:p>
        </p:txBody>
      </p:sp>
      <p:sp>
        <p:nvSpPr>
          <p:cNvPr id="6" name="Text 4"/>
          <p:cNvSpPr/>
          <p:nvPr/>
        </p:nvSpPr>
        <p:spPr>
          <a:xfrm>
            <a:off x="1143000" y="30364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7" name="Text 5"/>
          <p:cNvSpPr/>
          <p:nvPr/>
        </p:nvSpPr>
        <p:spPr>
          <a:xfrm>
            <a:off x="1981200" y="30364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By definition: P(A | B) × P(B) = P(A and B)</a:t>
            </a:r>
            <a:endParaRPr lang="en-US" sz="2100" dirty="0"/>
          </a:p>
        </p:txBody>
      </p:sp>
      <p:sp>
        <p:nvSpPr>
          <p:cNvPr id="8" name="Shape 6"/>
          <p:cNvSpPr/>
          <p:nvPr/>
        </p:nvSpPr>
        <p:spPr>
          <a:xfrm>
            <a:off x="1143000" y="3891707"/>
            <a:ext cx="13335000" cy="9525"/>
          </a:xfrm>
          <a:prstGeom prst="rect">
            <a:avLst/>
          </a:prstGeom>
          <a:solidFill>
            <a:srgbClr val="201E1E">
              <a:alpha val="40000"/>
            </a:srgbClr>
          </a:solidFill>
          <a:ln/>
        </p:spPr>
        <p:txBody>
          <a:bodyPr/>
          <a:lstStyle/>
          <a:p>
            <a:endParaRPr lang="en-US"/>
          </a:p>
        </p:txBody>
      </p:sp>
      <p:sp>
        <p:nvSpPr>
          <p:cNvPr id="9" name="Text 7"/>
          <p:cNvSpPr/>
          <p:nvPr/>
        </p:nvSpPr>
        <p:spPr>
          <a:xfrm>
            <a:off x="1143000" y="35488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0" name="Text 8"/>
          <p:cNvSpPr/>
          <p:nvPr/>
        </p:nvSpPr>
        <p:spPr>
          <a:xfrm>
            <a:off x="1981200" y="35488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The same, written the other way round: P(B | A) × P(A) = P(A and B)</a:t>
            </a:r>
            <a:endParaRPr lang="en-US" sz="2100" dirty="0"/>
          </a:p>
        </p:txBody>
      </p:sp>
      <p:sp>
        <p:nvSpPr>
          <p:cNvPr id="11" name="Shape 9"/>
          <p:cNvSpPr/>
          <p:nvPr/>
        </p:nvSpPr>
        <p:spPr>
          <a:xfrm>
            <a:off x="1143000" y="4404047"/>
            <a:ext cx="13335000" cy="9525"/>
          </a:xfrm>
          <a:prstGeom prst="rect">
            <a:avLst/>
          </a:prstGeom>
          <a:solidFill>
            <a:srgbClr val="201E1E">
              <a:alpha val="40000"/>
            </a:srgbClr>
          </a:solidFill>
          <a:ln/>
        </p:spPr>
        <p:txBody>
          <a:bodyPr/>
          <a:lstStyle/>
          <a:p>
            <a:endParaRPr lang="en-US"/>
          </a:p>
        </p:txBody>
      </p:sp>
      <p:sp>
        <p:nvSpPr>
          <p:cNvPr id="12" name="Text 10"/>
          <p:cNvSpPr/>
          <p:nvPr/>
        </p:nvSpPr>
        <p:spPr>
          <a:xfrm>
            <a:off x="1143000" y="40611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3" name="Text 11"/>
          <p:cNvSpPr/>
          <p:nvPr/>
        </p:nvSpPr>
        <p:spPr>
          <a:xfrm>
            <a:off x="1981200" y="40611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Both equal P(A and B), so they equal each other: P(A | B) × P(B) = P(B | A) × P(A)</a:t>
            </a:r>
            <a:endParaRPr lang="en-US" sz="2100" dirty="0"/>
          </a:p>
        </p:txBody>
      </p:sp>
      <p:sp>
        <p:nvSpPr>
          <p:cNvPr id="14" name="Shape 12"/>
          <p:cNvSpPr/>
          <p:nvPr/>
        </p:nvSpPr>
        <p:spPr>
          <a:xfrm>
            <a:off x="1143000" y="4924425"/>
            <a:ext cx="13335000" cy="9525"/>
          </a:xfrm>
          <a:prstGeom prst="rect">
            <a:avLst/>
          </a:prstGeom>
          <a:solidFill>
            <a:srgbClr val="201E1E">
              <a:alpha val="40000"/>
            </a:srgbClr>
          </a:solidFill>
          <a:ln/>
        </p:spPr>
        <p:txBody>
          <a:bodyPr/>
          <a:lstStyle/>
          <a:p>
            <a:endParaRPr lang="en-US"/>
          </a:p>
        </p:txBody>
      </p:sp>
      <p:sp>
        <p:nvSpPr>
          <p:cNvPr id="15" name="Text 13"/>
          <p:cNvSpPr/>
          <p:nvPr/>
        </p:nvSpPr>
        <p:spPr>
          <a:xfrm>
            <a:off x="1143000" y="4573488"/>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16" name="Text 14"/>
          <p:cNvSpPr/>
          <p:nvPr/>
        </p:nvSpPr>
        <p:spPr>
          <a:xfrm>
            <a:off x="1981200" y="4573488"/>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Divide both sides by P(B) — that is Bayes' theorem</a:t>
            </a:r>
            <a:endParaRPr lang="en-US" sz="2100" dirty="0"/>
          </a:p>
        </p:txBody>
      </p:sp>
      <p:sp>
        <p:nvSpPr>
          <p:cNvPr id="17" name="Shape 15"/>
          <p:cNvSpPr/>
          <p:nvPr/>
        </p:nvSpPr>
        <p:spPr>
          <a:xfrm>
            <a:off x="1143000" y="7131323"/>
            <a:ext cx="16002000" cy="19050"/>
          </a:xfrm>
          <a:prstGeom prst="rect">
            <a:avLst/>
          </a:prstGeom>
          <a:solidFill>
            <a:srgbClr val="201E1E">
              <a:alpha val="40000"/>
            </a:srgbClr>
          </a:solidFill>
          <a:ln/>
        </p:spPr>
        <p:txBody>
          <a:bodyPr/>
          <a:lstStyle/>
          <a:p>
            <a:endParaRPr lang="en-US"/>
          </a:p>
        </p:txBody>
      </p:sp>
      <p:sp>
        <p:nvSpPr>
          <p:cNvPr id="18" name="Shape 16"/>
          <p:cNvSpPr/>
          <p:nvPr/>
        </p:nvSpPr>
        <p:spPr>
          <a:xfrm>
            <a:off x="1143000" y="5391150"/>
            <a:ext cx="16002000" cy="19050"/>
          </a:xfrm>
          <a:prstGeom prst="rect">
            <a:avLst/>
          </a:prstGeom>
          <a:solidFill>
            <a:srgbClr val="201E1E">
              <a:alpha val="40000"/>
            </a:srgbClr>
          </a:solidFill>
          <a:ln/>
        </p:spPr>
        <p:txBody>
          <a:bodyPr/>
          <a:lstStyle/>
          <a:p>
            <a:endParaRPr lang="en-US"/>
          </a:p>
        </p:txBody>
      </p:sp>
      <p:pic>
        <p:nvPicPr>
          <p:cNvPr id="19" name="Image 0" descr="preencoded.png"/>
          <p:cNvPicPr>
            <a:picLocks noChangeAspect="1"/>
          </p:cNvPicPr>
          <p:nvPr/>
        </p:nvPicPr>
        <p:blipFill>
          <a:blip r:embed="rId3"/>
          <a:stretch>
            <a:fillRect/>
          </a:stretch>
        </p:blipFill>
        <p:spPr>
          <a:xfrm>
            <a:off x="1143000" y="5753100"/>
            <a:ext cx="16002000" cy="1035323"/>
          </a:xfrm>
          <a:prstGeom prst="rect">
            <a:avLst/>
          </a:prstGeom>
        </p:spPr>
      </p:pic>
      <p:sp>
        <p:nvSpPr>
          <p:cNvPr id="20" name="Text 17"/>
          <p:cNvSpPr/>
          <p:nvPr/>
        </p:nvSpPr>
        <p:spPr>
          <a:xfrm>
            <a:off x="1143000" y="7450708"/>
            <a:ext cx="17602200" cy="194890"/>
          </a:xfrm>
          <a:prstGeom prst="rect">
            <a:avLst/>
          </a:prstGeom>
          <a:noFill/>
          <a:ln/>
        </p:spPr>
        <p:txBody>
          <a:bodyPr wrap="square" lIns="25400" tIns="25400" rIns="25400" bIns="25400" rtlCol="0" anchor="t">
            <a:normAutofit fontScale="32500" lnSpcReduction="20000"/>
          </a:bodyPr>
          <a:lstStyle/>
          <a:p>
            <a:pPr marL="0" indent="0" algn="l">
              <a:lnSpc>
                <a:spcPct val="174545"/>
              </a:lnSpc>
              <a:buNone/>
            </a:pPr>
            <a:r>
              <a:rPr lang="en-US" sz="1800" dirty="0">
                <a:solidFill>
                  <a:srgbClr val="211D1D">
                    <a:alpha val="55000"/>
                  </a:srgbClr>
                </a:solidFill>
                <a:latin typeface="Arial" pitchFamily="34" charset="0"/>
                <a:ea typeface="Arial" pitchFamily="34" charset="-122"/>
                <a:cs typeface="Arial" pitchFamily="34" charset="-120"/>
              </a:rPr>
              <a:t>In words: what you believed, updated by what you just saw. That is the whole of Bayesian reasoning.</a:t>
            </a:r>
            <a:endParaRPr lang="en-US" sz="1800" dirty="0"/>
          </a:p>
        </p:txBody>
      </p:sp>
      <p:pic>
        <p:nvPicPr>
          <p:cNvPr id="21"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WHY THE FORMULA WORKS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A detective updating a hunch</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Before any evidence you have a starting suspicion. A clue arrives. Bayes tells you exactly how much to revise that suspicion — no more, and no less.</a:t>
            </a:r>
            <a:endParaRPr lang="en-US" sz="2100" dirty="0"/>
          </a:p>
        </p:txBody>
      </p:sp>
      <p:sp>
        <p:nvSpPr>
          <p:cNvPr id="5" name="Shape 3"/>
          <p:cNvSpPr/>
          <p:nvPr/>
        </p:nvSpPr>
        <p:spPr>
          <a:xfrm>
            <a:off x="1143000" y="5699150"/>
            <a:ext cx="16002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229100"/>
            <a:ext cx="16002000" cy="19050"/>
          </a:xfrm>
          <a:prstGeom prst="rect">
            <a:avLst/>
          </a:prstGeom>
          <a:solidFill>
            <a:srgbClr val="201E1E">
              <a:alpha val="40000"/>
            </a:srgbClr>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43000" y="4591050"/>
            <a:ext cx="16002000" cy="765200"/>
          </a:xfrm>
          <a:prstGeom prst="rect">
            <a:avLst/>
          </a:prstGeom>
        </p:spPr>
      </p:pic>
      <p:sp>
        <p:nvSpPr>
          <p:cNvPr id="8" name="Text 5"/>
          <p:cNvSpPr/>
          <p:nvPr/>
        </p:nvSpPr>
        <p:spPr>
          <a:xfrm>
            <a:off x="1143000" y="5853038"/>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P(A) — prior</a:t>
            </a:r>
            <a:endParaRPr lang="en-US" sz="1950" dirty="0"/>
          </a:p>
        </p:txBody>
      </p:sp>
      <p:sp>
        <p:nvSpPr>
          <p:cNvPr id="9" name="Text 6"/>
          <p:cNvSpPr/>
          <p:nvPr/>
        </p:nvSpPr>
        <p:spPr>
          <a:xfrm>
            <a:off x="4343400" y="5853038"/>
            <a:ext cx="12008358" cy="531837"/>
          </a:xfrm>
          <a:prstGeom prst="rect">
            <a:avLst/>
          </a:prstGeom>
          <a:noFill/>
          <a:ln/>
        </p:spPr>
        <p:txBody>
          <a:bodyPr wrap="square" lIns="25400" tIns="25400" rIns="25400" bIns="25400" rtlCol="0" anchor="t">
            <a:normAutofit fontScale="925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How likely A was before you saw any evidence. In practice this is the base rate, and it is the term people forget.</a:t>
            </a:r>
            <a:endParaRPr lang="en-US" sz="1950" dirty="0"/>
          </a:p>
        </p:txBody>
      </p:sp>
      <p:sp>
        <p:nvSpPr>
          <p:cNvPr id="10" name="Text 7"/>
          <p:cNvSpPr/>
          <p:nvPr/>
        </p:nvSpPr>
        <p:spPr>
          <a:xfrm>
            <a:off x="1143000" y="6729264"/>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P(B | A) — likelihood</a:t>
            </a:r>
            <a:endParaRPr lang="en-US" sz="1950" dirty="0"/>
          </a:p>
        </p:txBody>
      </p:sp>
      <p:sp>
        <p:nvSpPr>
          <p:cNvPr id="11" name="Text 8"/>
          <p:cNvSpPr/>
          <p:nvPr/>
        </p:nvSpPr>
        <p:spPr>
          <a:xfrm>
            <a:off x="4343400" y="6729264"/>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How likely this evidence would be, assuming A is true. A very accurate test has a high likelihood.</a:t>
            </a:r>
            <a:endParaRPr lang="en-US" sz="1950" dirty="0"/>
          </a:p>
        </p:txBody>
      </p:sp>
      <p:sp>
        <p:nvSpPr>
          <p:cNvPr id="12" name="Text 9"/>
          <p:cNvSpPr/>
          <p:nvPr/>
        </p:nvSpPr>
        <p:spPr>
          <a:xfrm>
            <a:off x="1143000" y="7435602"/>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P(B) — evidence</a:t>
            </a:r>
            <a:endParaRPr lang="en-US" sz="1950" dirty="0"/>
          </a:p>
        </p:txBody>
      </p:sp>
      <p:sp>
        <p:nvSpPr>
          <p:cNvPr id="13" name="Text 10"/>
          <p:cNvSpPr/>
          <p:nvPr/>
        </p:nvSpPr>
        <p:spPr>
          <a:xfrm>
            <a:off x="4343400" y="7435602"/>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How likely you would see this evidence at all, under every scenario combined. It is the normaliser that keeps the answer under 1.</a:t>
            </a:r>
            <a:endParaRPr lang="en-US" sz="1950" dirty="0"/>
          </a:p>
        </p:txBody>
      </p:sp>
      <p:sp>
        <p:nvSpPr>
          <p:cNvPr id="14" name="Text 11"/>
          <p:cNvSpPr/>
          <p:nvPr/>
        </p:nvSpPr>
        <p:spPr>
          <a:xfrm>
            <a:off x="1143000" y="8311828"/>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P(A | B) — posterior</a:t>
            </a:r>
            <a:endParaRPr lang="en-US" sz="1950" dirty="0"/>
          </a:p>
        </p:txBody>
      </p:sp>
      <p:sp>
        <p:nvSpPr>
          <p:cNvPr id="15" name="Text 12"/>
          <p:cNvSpPr/>
          <p:nvPr/>
        </p:nvSpPr>
        <p:spPr>
          <a:xfrm>
            <a:off x="4343400" y="8311828"/>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Your updated belief about A, now that you have seen the evidence. This is the number you wanted.</a:t>
            </a:r>
            <a:endParaRPr lang="en-US" sz="1950" dirty="0"/>
          </a:p>
        </p:txBody>
      </p:sp>
      <p:pic>
        <p:nvPicPr>
          <p:cNvPr id="16"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WORKED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The test is 85% accurate. Should you worry?</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diagnostic test catches 85% of people who have an illness and correctly clears 97% of people who do not. About 1.2% of the population has the illness. You test positive. What is the real chance you have it?</a:t>
            </a:r>
            <a:endParaRPr lang="en-US" sz="2100" dirty="0"/>
          </a:p>
        </p:txBody>
      </p:sp>
      <p:sp>
        <p:nvSpPr>
          <p:cNvPr id="5" name="Shape 3"/>
          <p:cNvSpPr/>
          <p:nvPr/>
        </p:nvSpPr>
        <p:spPr>
          <a:xfrm>
            <a:off x="1143000" y="38862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4080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40651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40651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Take 1,000 people. 1.2% have it: </a:t>
            </a:r>
            <a:r>
              <a:rPr lang="en-US" sz="2100" b="1" dirty="0">
                <a:solidFill>
                  <a:srgbClr val="201E1D"/>
                </a:solidFill>
                <a:latin typeface="Arial" pitchFamily="34" charset="0"/>
                <a:ea typeface="Arial" pitchFamily="34" charset="-122"/>
                <a:cs typeface="Arial" pitchFamily="34" charset="-120"/>
              </a:rPr>
              <a:t>12 ill</a:t>
            </a:r>
            <a:r>
              <a:rPr lang="en-US" sz="2100" dirty="0">
                <a:solidFill>
                  <a:srgbClr val="201E1D"/>
                </a:solidFill>
                <a:latin typeface="Arial" pitchFamily="34" charset="0"/>
                <a:ea typeface="Arial" pitchFamily="34" charset="-122"/>
                <a:cs typeface="Arial" pitchFamily="34" charset="-120"/>
              </a:rPr>
              <a:t>, 988 healthy</a:t>
            </a:r>
            <a:endParaRPr lang="en-US" sz="2100" dirty="0"/>
          </a:p>
        </p:txBody>
      </p:sp>
      <p:sp>
        <p:nvSpPr>
          <p:cNvPr id="9" name="Shape 7"/>
          <p:cNvSpPr/>
          <p:nvPr/>
        </p:nvSpPr>
        <p:spPr>
          <a:xfrm>
            <a:off x="1143000" y="49204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5775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5775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Of the 12 ill, the test catches 85%: 0.85 × 12 = </a:t>
            </a:r>
            <a:r>
              <a:rPr lang="en-US" sz="2100" b="1" dirty="0">
                <a:solidFill>
                  <a:srgbClr val="201E1D"/>
                </a:solidFill>
                <a:latin typeface="Arial" pitchFamily="34" charset="0"/>
                <a:ea typeface="Arial" pitchFamily="34" charset="-122"/>
                <a:cs typeface="Arial" pitchFamily="34" charset="-120"/>
              </a:rPr>
              <a:t>10 true positives</a:t>
            </a:r>
            <a:endParaRPr lang="en-US" sz="2100" dirty="0"/>
          </a:p>
        </p:txBody>
      </p:sp>
      <p:sp>
        <p:nvSpPr>
          <p:cNvPr id="12" name="Shape 10"/>
          <p:cNvSpPr/>
          <p:nvPr/>
        </p:nvSpPr>
        <p:spPr>
          <a:xfrm>
            <a:off x="1143000" y="54327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50898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50898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Of the 988 healthy, 3% test positive anyway: 0.03 × 988 = </a:t>
            </a:r>
            <a:r>
              <a:rPr lang="en-US" sz="2100" b="1" dirty="0">
                <a:solidFill>
                  <a:srgbClr val="201E1D"/>
                </a:solidFill>
                <a:latin typeface="Arial" pitchFamily="34" charset="0"/>
                <a:ea typeface="Arial" pitchFamily="34" charset="-122"/>
                <a:cs typeface="Arial" pitchFamily="34" charset="-120"/>
              </a:rPr>
              <a:t>30 false positives</a:t>
            </a:r>
            <a:endParaRPr lang="en-US" sz="2100" dirty="0"/>
          </a:p>
        </p:txBody>
      </p:sp>
      <p:sp>
        <p:nvSpPr>
          <p:cNvPr id="15" name="Shape 13"/>
          <p:cNvSpPr/>
          <p:nvPr/>
        </p:nvSpPr>
        <p:spPr>
          <a:xfrm>
            <a:off x="1143000" y="5945088"/>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602188"/>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4</a:t>
            </a:r>
            <a:endParaRPr lang="en-US" sz="2100" dirty="0"/>
          </a:p>
        </p:txBody>
      </p:sp>
      <p:sp>
        <p:nvSpPr>
          <p:cNvPr id="17" name="Text 15"/>
          <p:cNvSpPr/>
          <p:nvPr/>
        </p:nvSpPr>
        <p:spPr>
          <a:xfrm>
            <a:off x="1981200" y="5602188"/>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Total positives = 10 + 30 = </a:t>
            </a:r>
            <a:r>
              <a:rPr lang="en-US" sz="2100" b="1" dirty="0">
                <a:solidFill>
                  <a:srgbClr val="201E1D"/>
                </a:solidFill>
                <a:latin typeface="Arial" pitchFamily="34" charset="0"/>
                <a:ea typeface="Arial" pitchFamily="34" charset="-122"/>
                <a:cs typeface="Arial" pitchFamily="34" charset="-120"/>
              </a:rPr>
              <a:t>40 people</a:t>
            </a:r>
            <a:endParaRPr lang="en-US" sz="2100" dirty="0"/>
          </a:p>
        </p:txBody>
      </p:sp>
      <p:sp>
        <p:nvSpPr>
          <p:cNvPr id="18" name="Shape 16"/>
          <p:cNvSpPr/>
          <p:nvPr/>
        </p:nvSpPr>
        <p:spPr>
          <a:xfrm>
            <a:off x="1143000" y="6465466"/>
            <a:ext cx="13335000" cy="9525"/>
          </a:xfrm>
          <a:prstGeom prst="rect">
            <a:avLst/>
          </a:prstGeom>
          <a:solidFill>
            <a:srgbClr val="201E1E">
              <a:alpha val="40000"/>
            </a:srgbClr>
          </a:solidFill>
          <a:ln/>
        </p:spPr>
        <p:txBody>
          <a:bodyPr/>
          <a:lstStyle/>
          <a:p>
            <a:endParaRPr lang="en-US"/>
          </a:p>
        </p:txBody>
      </p:sp>
      <p:sp>
        <p:nvSpPr>
          <p:cNvPr id="19" name="Text 17"/>
          <p:cNvSpPr/>
          <p:nvPr/>
        </p:nvSpPr>
        <p:spPr>
          <a:xfrm>
            <a:off x="1143000" y="6114529"/>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20" name="Text 18"/>
          <p:cNvSpPr/>
          <p:nvPr/>
        </p:nvSpPr>
        <p:spPr>
          <a:xfrm>
            <a:off x="1981200" y="6114529"/>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Chance you are actually ill = 10 / 40 = 25%</a:t>
            </a:r>
            <a:endParaRPr lang="en-US" sz="2100" dirty="0"/>
          </a:p>
        </p:txBody>
      </p:sp>
      <p:sp>
        <p:nvSpPr>
          <p:cNvPr id="21" name="Shape 19"/>
          <p:cNvSpPr/>
          <p:nvPr/>
        </p:nvSpPr>
        <p:spPr>
          <a:xfrm>
            <a:off x="1143000" y="7165628"/>
            <a:ext cx="16002000" cy="19050"/>
          </a:xfrm>
          <a:prstGeom prst="rect">
            <a:avLst/>
          </a:prstGeom>
          <a:solidFill>
            <a:srgbClr val="EC3013"/>
          </a:solidFill>
          <a:ln/>
        </p:spPr>
        <p:txBody>
          <a:bodyPr/>
          <a:lstStyle/>
          <a:p>
            <a:endParaRPr lang="en-US"/>
          </a:p>
        </p:txBody>
      </p:sp>
      <p:sp>
        <p:nvSpPr>
          <p:cNvPr id="22" name="Text 20"/>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GOTCHA</a:t>
            </a:r>
            <a:endParaRPr lang="en-US" sz="1800" dirty="0"/>
          </a:p>
        </p:txBody>
      </p:sp>
      <p:sp>
        <p:nvSpPr>
          <p:cNvPr id="23" name="Text 21"/>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 false positives outnumber the true positives three to one — not because the test is bad, but because there are 82 times more healthy people for it to be wrong about.</a:t>
            </a:r>
            <a:endParaRPr lang="en-US" sz="2100" dirty="0"/>
          </a:p>
        </p:txBody>
      </p:sp>
      <p:pic>
        <p:nvPicPr>
          <p:cNvPr id="24"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THE BASE RATE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Same test, four different answers</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Nothing about the test changes across these rows. Only the prevalence changes — and the answer moves from almost worthless to almost certain.</a:t>
            </a:r>
            <a:endParaRPr lang="en-US" sz="2100" dirty="0"/>
          </a:p>
        </p:txBody>
      </p:sp>
      <p:sp>
        <p:nvSpPr>
          <p:cNvPr id="5" name="Shape 3"/>
          <p:cNvSpPr/>
          <p:nvPr/>
        </p:nvSpPr>
        <p:spPr>
          <a:xfrm>
            <a:off x="1143000" y="4548411"/>
            <a:ext cx="2805485" cy="19050"/>
          </a:xfrm>
          <a:prstGeom prst="rect">
            <a:avLst/>
          </a:prstGeom>
          <a:solidFill>
            <a:srgbClr val="201E1E">
              <a:alpha val="40000"/>
            </a:srgbClr>
          </a:solidFill>
          <a:ln/>
        </p:spPr>
        <p:txBody>
          <a:bodyPr/>
          <a:lstStyle/>
          <a:p>
            <a:endParaRPr lang="en-US"/>
          </a:p>
        </p:txBody>
      </p:sp>
      <p:sp>
        <p:nvSpPr>
          <p:cNvPr id="6" name="Text 4"/>
          <p:cNvSpPr/>
          <p:nvPr/>
        </p:nvSpPr>
        <p:spPr>
          <a:xfrm>
            <a:off x="1143000" y="4202090"/>
            <a:ext cx="2661049"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PREVALENCE</a:t>
            </a:r>
            <a:endParaRPr lang="en-US" sz="1800" dirty="0"/>
          </a:p>
        </p:txBody>
      </p:sp>
      <p:sp>
        <p:nvSpPr>
          <p:cNvPr id="7" name="Shape 5"/>
          <p:cNvSpPr/>
          <p:nvPr/>
        </p:nvSpPr>
        <p:spPr>
          <a:xfrm>
            <a:off x="3948485" y="4548411"/>
            <a:ext cx="3784550" cy="19050"/>
          </a:xfrm>
          <a:prstGeom prst="rect">
            <a:avLst/>
          </a:prstGeom>
          <a:solidFill>
            <a:srgbClr val="201E1E">
              <a:alpha val="40000"/>
            </a:srgbClr>
          </a:solidFill>
          <a:ln/>
        </p:spPr>
        <p:txBody>
          <a:bodyPr/>
          <a:lstStyle/>
          <a:p>
            <a:endParaRPr lang="en-US"/>
          </a:p>
        </p:txBody>
      </p:sp>
      <p:sp>
        <p:nvSpPr>
          <p:cNvPr id="8" name="Text 6"/>
          <p:cNvSpPr/>
          <p:nvPr/>
        </p:nvSpPr>
        <p:spPr>
          <a:xfrm>
            <a:off x="4177085" y="4202090"/>
            <a:ext cx="3440887"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TRUE POSITIVES</a:t>
            </a:r>
            <a:endParaRPr lang="en-US" sz="1800" dirty="0"/>
          </a:p>
        </p:txBody>
      </p:sp>
      <p:sp>
        <p:nvSpPr>
          <p:cNvPr id="9" name="Shape 7"/>
          <p:cNvSpPr/>
          <p:nvPr/>
        </p:nvSpPr>
        <p:spPr>
          <a:xfrm>
            <a:off x="7733035" y="4548411"/>
            <a:ext cx="3940820" cy="19050"/>
          </a:xfrm>
          <a:prstGeom prst="rect">
            <a:avLst/>
          </a:prstGeom>
          <a:solidFill>
            <a:srgbClr val="201E1E">
              <a:alpha val="40000"/>
            </a:srgbClr>
          </a:solidFill>
          <a:ln/>
        </p:spPr>
        <p:txBody>
          <a:bodyPr/>
          <a:lstStyle/>
          <a:p>
            <a:endParaRPr lang="en-US"/>
          </a:p>
        </p:txBody>
      </p:sp>
      <p:sp>
        <p:nvSpPr>
          <p:cNvPr id="10" name="Text 8"/>
          <p:cNvSpPr/>
          <p:nvPr/>
        </p:nvSpPr>
        <p:spPr>
          <a:xfrm>
            <a:off x="7961635" y="4202090"/>
            <a:ext cx="3601845"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FALSE POSITIVES</a:t>
            </a:r>
            <a:endParaRPr lang="en-US" sz="1800" dirty="0"/>
          </a:p>
        </p:txBody>
      </p:sp>
      <p:sp>
        <p:nvSpPr>
          <p:cNvPr id="11" name="Shape 9"/>
          <p:cNvSpPr/>
          <p:nvPr/>
        </p:nvSpPr>
        <p:spPr>
          <a:xfrm>
            <a:off x="11673855" y="4548411"/>
            <a:ext cx="4328145" cy="19050"/>
          </a:xfrm>
          <a:prstGeom prst="rect">
            <a:avLst/>
          </a:prstGeom>
          <a:solidFill>
            <a:srgbClr val="201E1E">
              <a:alpha val="40000"/>
            </a:srgbClr>
          </a:solidFill>
          <a:ln/>
        </p:spPr>
        <p:txBody>
          <a:bodyPr/>
          <a:lstStyle/>
          <a:p>
            <a:endParaRPr lang="en-US"/>
          </a:p>
        </p:txBody>
      </p:sp>
      <p:sp>
        <p:nvSpPr>
          <p:cNvPr id="12" name="Text 10"/>
          <p:cNvSpPr/>
          <p:nvPr/>
        </p:nvSpPr>
        <p:spPr>
          <a:xfrm>
            <a:off x="11902455" y="4202090"/>
            <a:ext cx="4229389"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CHANCE YOU ARE ILL</a:t>
            </a:r>
            <a:endParaRPr lang="en-US" sz="1800" dirty="0"/>
          </a:p>
        </p:txBody>
      </p:sp>
      <p:sp>
        <p:nvSpPr>
          <p:cNvPr id="13" name="Shape 11"/>
          <p:cNvSpPr/>
          <p:nvPr/>
        </p:nvSpPr>
        <p:spPr>
          <a:xfrm>
            <a:off x="1143000" y="5129510"/>
            <a:ext cx="2805485" cy="9525"/>
          </a:xfrm>
          <a:prstGeom prst="rect">
            <a:avLst/>
          </a:prstGeom>
          <a:solidFill>
            <a:srgbClr val="201E1E">
              <a:alpha val="40000"/>
            </a:srgbClr>
          </a:solidFill>
          <a:ln/>
        </p:spPr>
        <p:txBody>
          <a:bodyPr/>
          <a:lstStyle/>
          <a:p>
            <a:endParaRPr lang="en-US"/>
          </a:p>
        </p:txBody>
      </p:sp>
      <p:sp>
        <p:nvSpPr>
          <p:cNvPr id="14" name="Text 12"/>
          <p:cNvSpPr/>
          <p:nvPr/>
        </p:nvSpPr>
        <p:spPr>
          <a:xfrm>
            <a:off x="1143000" y="4764485"/>
            <a:ext cx="2661049"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0.1%</a:t>
            </a:r>
            <a:endParaRPr lang="en-US" sz="1875" dirty="0"/>
          </a:p>
        </p:txBody>
      </p:sp>
      <p:sp>
        <p:nvSpPr>
          <p:cNvPr id="15" name="Shape 13"/>
          <p:cNvSpPr/>
          <p:nvPr/>
        </p:nvSpPr>
        <p:spPr>
          <a:xfrm>
            <a:off x="3948485" y="5129510"/>
            <a:ext cx="3784550" cy="9525"/>
          </a:xfrm>
          <a:prstGeom prst="rect">
            <a:avLst/>
          </a:prstGeom>
          <a:solidFill>
            <a:srgbClr val="201E1E">
              <a:alpha val="40000"/>
            </a:srgbClr>
          </a:solidFill>
          <a:ln/>
        </p:spPr>
        <p:txBody>
          <a:bodyPr/>
          <a:lstStyle/>
          <a:p>
            <a:endParaRPr lang="en-US"/>
          </a:p>
        </p:txBody>
      </p:sp>
      <p:sp>
        <p:nvSpPr>
          <p:cNvPr id="16" name="Text 14"/>
          <p:cNvSpPr/>
          <p:nvPr/>
        </p:nvSpPr>
        <p:spPr>
          <a:xfrm>
            <a:off x="4177085" y="4764485"/>
            <a:ext cx="3440887"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a:t>
            </a:r>
            <a:endParaRPr lang="en-US" sz="1875" dirty="0"/>
          </a:p>
        </p:txBody>
      </p:sp>
      <p:sp>
        <p:nvSpPr>
          <p:cNvPr id="17" name="Shape 15"/>
          <p:cNvSpPr/>
          <p:nvPr/>
        </p:nvSpPr>
        <p:spPr>
          <a:xfrm>
            <a:off x="7733035" y="5129510"/>
            <a:ext cx="3940820" cy="9525"/>
          </a:xfrm>
          <a:prstGeom prst="rect">
            <a:avLst/>
          </a:prstGeom>
          <a:solidFill>
            <a:srgbClr val="201E1E">
              <a:alpha val="40000"/>
            </a:srgbClr>
          </a:solidFill>
          <a:ln/>
        </p:spPr>
        <p:txBody>
          <a:bodyPr/>
          <a:lstStyle/>
          <a:p>
            <a:endParaRPr lang="en-US"/>
          </a:p>
        </p:txBody>
      </p:sp>
      <p:sp>
        <p:nvSpPr>
          <p:cNvPr id="18" name="Text 16"/>
          <p:cNvSpPr/>
          <p:nvPr/>
        </p:nvSpPr>
        <p:spPr>
          <a:xfrm>
            <a:off x="7961635" y="4764485"/>
            <a:ext cx="3601845"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30</a:t>
            </a:r>
            <a:endParaRPr lang="en-US" sz="1875" dirty="0"/>
          </a:p>
        </p:txBody>
      </p:sp>
      <p:sp>
        <p:nvSpPr>
          <p:cNvPr id="19" name="Shape 17"/>
          <p:cNvSpPr/>
          <p:nvPr/>
        </p:nvSpPr>
        <p:spPr>
          <a:xfrm>
            <a:off x="11673855" y="5129510"/>
            <a:ext cx="4328145" cy="9525"/>
          </a:xfrm>
          <a:prstGeom prst="rect">
            <a:avLst/>
          </a:prstGeom>
          <a:solidFill>
            <a:srgbClr val="201E1E">
              <a:alpha val="40000"/>
            </a:srgbClr>
          </a:solidFill>
          <a:ln/>
        </p:spPr>
        <p:txBody>
          <a:bodyPr/>
          <a:lstStyle/>
          <a:p>
            <a:endParaRPr lang="en-US"/>
          </a:p>
        </p:txBody>
      </p:sp>
      <p:sp>
        <p:nvSpPr>
          <p:cNvPr id="20" name="Text 18"/>
          <p:cNvSpPr/>
          <p:nvPr/>
        </p:nvSpPr>
        <p:spPr>
          <a:xfrm>
            <a:off x="11902455" y="4764485"/>
            <a:ext cx="4229389"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a:t>
            </a:r>
            <a:endParaRPr lang="en-US" sz="1875" dirty="0"/>
          </a:p>
        </p:txBody>
      </p:sp>
      <p:sp>
        <p:nvSpPr>
          <p:cNvPr id="21" name="Shape 19"/>
          <p:cNvSpPr/>
          <p:nvPr/>
        </p:nvSpPr>
        <p:spPr>
          <a:xfrm>
            <a:off x="1143000" y="5696322"/>
            <a:ext cx="2805485" cy="9525"/>
          </a:xfrm>
          <a:prstGeom prst="rect">
            <a:avLst/>
          </a:prstGeom>
          <a:solidFill>
            <a:srgbClr val="201E1E">
              <a:alpha val="40000"/>
            </a:srgbClr>
          </a:solidFill>
          <a:ln/>
        </p:spPr>
        <p:txBody>
          <a:bodyPr/>
          <a:lstStyle/>
          <a:p>
            <a:endParaRPr lang="en-US"/>
          </a:p>
        </p:txBody>
      </p:sp>
      <p:sp>
        <p:nvSpPr>
          <p:cNvPr id="22" name="Text 20"/>
          <p:cNvSpPr/>
          <p:nvPr/>
        </p:nvSpPr>
        <p:spPr>
          <a:xfrm>
            <a:off x="1143000" y="5336060"/>
            <a:ext cx="2661049"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1.2%</a:t>
            </a:r>
            <a:endParaRPr lang="en-US" sz="1875" dirty="0"/>
          </a:p>
        </p:txBody>
      </p:sp>
      <p:sp>
        <p:nvSpPr>
          <p:cNvPr id="23" name="Shape 21"/>
          <p:cNvSpPr/>
          <p:nvPr/>
        </p:nvSpPr>
        <p:spPr>
          <a:xfrm>
            <a:off x="3948485" y="5696322"/>
            <a:ext cx="3784550" cy="9525"/>
          </a:xfrm>
          <a:prstGeom prst="rect">
            <a:avLst/>
          </a:prstGeom>
          <a:solidFill>
            <a:srgbClr val="201E1E">
              <a:alpha val="40000"/>
            </a:srgbClr>
          </a:solidFill>
          <a:ln/>
        </p:spPr>
        <p:txBody>
          <a:bodyPr/>
          <a:lstStyle/>
          <a:p>
            <a:endParaRPr lang="en-US"/>
          </a:p>
        </p:txBody>
      </p:sp>
      <p:sp>
        <p:nvSpPr>
          <p:cNvPr id="24" name="Text 22"/>
          <p:cNvSpPr/>
          <p:nvPr/>
        </p:nvSpPr>
        <p:spPr>
          <a:xfrm>
            <a:off x="4177085" y="5336060"/>
            <a:ext cx="344088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10</a:t>
            </a:r>
            <a:endParaRPr lang="en-US" sz="1875" dirty="0"/>
          </a:p>
        </p:txBody>
      </p:sp>
      <p:sp>
        <p:nvSpPr>
          <p:cNvPr id="25" name="Shape 23"/>
          <p:cNvSpPr/>
          <p:nvPr/>
        </p:nvSpPr>
        <p:spPr>
          <a:xfrm>
            <a:off x="7733035" y="5696322"/>
            <a:ext cx="3940820" cy="9525"/>
          </a:xfrm>
          <a:prstGeom prst="rect">
            <a:avLst/>
          </a:prstGeom>
          <a:solidFill>
            <a:srgbClr val="201E1E">
              <a:alpha val="40000"/>
            </a:srgbClr>
          </a:solidFill>
          <a:ln/>
        </p:spPr>
        <p:txBody>
          <a:bodyPr/>
          <a:lstStyle/>
          <a:p>
            <a:endParaRPr lang="en-US"/>
          </a:p>
        </p:txBody>
      </p:sp>
      <p:sp>
        <p:nvSpPr>
          <p:cNvPr id="26" name="Text 24"/>
          <p:cNvSpPr/>
          <p:nvPr/>
        </p:nvSpPr>
        <p:spPr>
          <a:xfrm>
            <a:off x="7961635" y="5336060"/>
            <a:ext cx="3601845"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30</a:t>
            </a:r>
            <a:endParaRPr lang="en-US" sz="1875" dirty="0"/>
          </a:p>
        </p:txBody>
      </p:sp>
      <p:sp>
        <p:nvSpPr>
          <p:cNvPr id="27" name="Shape 25"/>
          <p:cNvSpPr/>
          <p:nvPr/>
        </p:nvSpPr>
        <p:spPr>
          <a:xfrm>
            <a:off x="11673855" y="5696322"/>
            <a:ext cx="4328145" cy="9525"/>
          </a:xfrm>
          <a:prstGeom prst="rect">
            <a:avLst/>
          </a:prstGeom>
          <a:solidFill>
            <a:srgbClr val="201E1E">
              <a:alpha val="40000"/>
            </a:srgbClr>
          </a:solidFill>
          <a:ln/>
        </p:spPr>
        <p:txBody>
          <a:bodyPr/>
          <a:lstStyle/>
          <a:p>
            <a:endParaRPr lang="en-US"/>
          </a:p>
        </p:txBody>
      </p:sp>
      <p:sp>
        <p:nvSpPr>
          <p:cNvPr id="28" name="Text 26"/>
          <p:cNvSpPr/>
          <p:nvPr/>
        </p:nvSpPr>
        <p:spPr>
          <a:xfrm>
            <a:off x="11902455" y="5336060"/>
            <a:ext cx="4229389"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25%</a:t>
            </a:r>
            <a:endParaRPr lang="en-US" sz="1875" dirty="0"/>
          </a:p>
        </p:txBody>
      </p:sp>
      <p:sp>
        <p:nvSpPr>
          <p:cNvPr id="29" name="Shape 27"/>
          <p:cNvSpPr/>
          <p:nvPr/>
        </p:nvSpPr>
        <p:spPr>
          <a:xfrm>
            <a:off x="1143000" y="6263134"/>
            <a:ext cx="2805485" cy="9525"/>
          </a:xfrm>
          <a:prstGeom prst="rect">
            <a:avLst/>
          </a:prstGeom>
          <a:solidFill>
            <a:srgbClr val="201E1E">
              <a:alpha val="40000"/>
            </a:srgbClr>
          </a:solidFill>
          <a:ln/>
        </p:spPr>
        <p:txBody>
          <a:bodyPr/>
          <a:lstStyle/>
          <a:p>
            <a:endParaRPr lang="en-US"/>
          </a:p>
        </p:txBody>
      </p:sp>
      <p:sp>
        <p:nvSpPr>
          <p:cNvPr id="30" name="Text 28"/>
          <p:cNvSpPr/>
          <p:nvPr/>
        </p:nvSpPr>
        <p:spPr>
          <a:xfrm>
            <a:off x="1143000" y="5902872"/>
            <a:ext cx="2661049"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5%</a:t>
            </a:r>
            <a:endParaRPr lang="en-US" sz="1875" dirty="0"/>
          </a:p>
        </p:txBody>
      </p:sp>
      <p:sp>
        <p:nvSpPr>
          <p:cNvPr id="31" name="Shape 29"/>
          <p:cNvSpPr/>
          <p:nvPr/>
        </p:nvSpPr>
        <p:spPr>
          <a:xfrm>
            <a:off x="3948485" y="6263134"/>
            <a:ext cx="3784550" cy="9525"/>
          </a:xfrm>
          <a:prstGeom prst="rect">
            <a:avLst/>
          </a:prstGeom>
          <a:solidFill>
            <a:srgbClr val="201E1E">
              <a:alpha val="40000"/>
            </a:srgbClr>
          </a:solidFill>
          <a:ln/>
        </p:spPr>
        <p:txBody>
          <a:bodyPr/>
          <a:lstStyle/>
          <a:p>
            <a:endParaRPr lang="en-US"/>
          </a:p>
        </p:txBody>
      </p:sp>
      <p:sp>
        <p:nvSpPr>
          <p:cNvPr id="32" name="Text 30"/>
          <p:cNvSpPr/>
          <p:nvPr/>
        </p:nvSpPr>
        <p:spPr>
          <a:xfrm>
            <a:off x="4177085" y="5902872"/>
            <a:ext cx="344088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43</a:t>
            </a:r>
            <a:endParaRPr lang="en-US" sz="1875" dirty="0"/>
          </a:p>
        </p:txBody>
      </p:sp>
      <p:sp>
        <p:nvSpPr>
          <p:cNvPr id="33" name="Shape 31"/>
          <p:cNvSpPr/>
          <p:nvPr/>
        </p:nvSpPr>
        <p:spPr>
          <a:xfrm>
            <a:off x="7733035" y="6263134"/>
            <a:ext cx="3940820" cy="9525"/>
          </a:xfrm>
          <a:prstGeom prst="rect">
            <a:avLst/>
          </a:prstGeom>
          <a:solidFill>
            <a:srgbClr val="201E1E">
              <a:alpha val="40000"/>
            </a:srgbClr>
          </a:solidFill>
          <a:ln/>
        </p:spPr>
        <p:txBody>
          <a:bodyPr/>
          <a:lstStyle/>
          <a:p>
            <a:endParaRPr lang="en-US"/>
          </a:p>
        </p:txBody>
      </p:sp>
      <p:sp>
        <p:nvSpPr>
          <p:cNvPr id="34" name="Text 32"/>
          <p:cNvSpPr/>
          <p:nvPr/>
        </p:nvSpPr>
        <p:spPr>
          <a:xfrm>
            <a:off x="7961635" y="5902872"/>
            <a:ext cx="3601845"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29</a:t>
            </a:r>
            <a:endParaRPr lang="en-US" sz="1875" dirty="0"/>
          </a:p>
        </p:txBody>
      </p:sp>
      <p:sp>
        <p:nvSpPr>
          <p:cNvPr id="35" name="Shape 33"/>
          <p:cNvSpPr/>
          <p:nvPr/>
        </p:nvSpPr>
        <p:spPr>
          <a:xfrm>
            <a:off x="11673855" y="6263134"/>
            <a:ext cx="4328145" cy="9525"/>
          </a:xfrm>
          <a:prstGeom prst="rect">
            <a:avLst/>
          </a:prstGeom>
          <a:solidFill>
            <a:srgbClr val="201E1E">
              <a:alpha val="40000"/>
            </a:srgbClr>
          </a:solidFill>
          <a:ln/>
        </p:spPr>
        <p:txBody>
          <a:bodyPr/>
          <a:lstStyle/>
          <a:p>
            <a:endParaRPr lang="en-US"/>
          </a:p>
        </p:txBody>
      </p:sp>
      <p:sp>
        <p:nvSpPr>
          <p:cNvPr id="36" name="Text 34"/>
          <p:cNvSpPr/>
          <p:nvPr/>
        </p:nvSpPr>
        <p:spPr>
          <a:xfrm>
            <a:off x="11902455" y="5902872"/>
            <a:ext cx="4229389"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60%</a:t>
            </a:r>
            <a:endParaRPr lang="en-US" sz="1875" dirty="0"/>
          </a:p>
        </p:txBody>
      </p:sp>
      <p:sp>
        <p:nvSpPr>
          <p:cNvPr id="37" name="Shape 35"/>
          <p:cNvSpPr/>
          <p:nvPr/>
        </p:nvSpPr>
        <p:spPr>
          <a:xfrm>
            <a:off x="1143000" y="6829946"/>
            <a:ext cx="2805485" cy="9525"/>
          </a:xfrm>
          <a:prstGeom prst="rect">
            <a:avLst/>
          </a:prstGeom>
          <a:solidFill>
            <a:srgbClr val="201E1E">
              <a:alpha val="40000"/>
            </a:srgbClr>
          </a:solidFill>
          <a:ln/>
        </p:spPr>
        <p:txBody>
          <a:bodyPr/>
          <a:lstStyle/>
          <a:p>
            <a:endParaRPr lang="en-US"/>
          </a:p>
        </p:txBody>
      </p:sp>
      <p:sp>
        <p:nvSpPr>
          <p:cNvPr id="38" name="Text 36"/>
          <p:cNvSpPr/>
          <p:nvPr/>
        </p:nvSpPr>
        <p:spPr>
          <a:xfrm>
            <a:off x="1143000" y="6469684"/>
            <a:ext cx="2661049"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30%</a:t>
            </a:r>
            <a:endParaRPr lang="en-US" sz="1875" dirty="0"/>
          </a:p>
        </p:txBody>
      </p:sp>
      <p:sp>
        <p:nvSpPr>
          <p:cNvPr id="39" name="Shape 37"/>
          <p:cNvSpPr/>
          <p:nvPr/>
        </p:nvSpPr>
        <p:spPr>
          <a:xfrm>
            <a:off x="3948485" y="6829946"/>
            <a:ext cx="3784550" cy="9525"/>
          </a:xfrm>
          <a:prstGeom prst="rect">
            <a:avLst/>
          </a:prstGeom>
          <a:solidFill>
            <a:srgbClr val="201E1E">
              <a:alpha val="40000"/>
            </a:srgbClr>
          </a:solidFill>
          <a:ln/>
        </p:spPr>
        <p:txBody>
          <a:bodyPr/>
          <a:lstStyle/>
          <a:p>
            <a:endParaRPr lang="en-US"/>
          </a:p>
        </p:txBody>
      </p:sp>
      <p:sp>
        <p:nvSpPr>
          <p:cNvPr id="40" name="Text 38"/>
          <p:cNvSpPr/>
          <p:nvPr/>
        </p:nvSpPr>
        <p:spPr>
          <a:xfrm>
            <a:off x="4177085" y="6469684"/>
            <a:ext cx="344088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255</a:t>
            </a:r>
            <a:endParaRPr lang="en-US" sz="1875" dirty="0"/>
          </a:p>
        </p:txBody>
      </p:sp>
      <p:sp>
        <p:nvSpPr>
          <p:cNvPr id="41" name="Shape 39"/>
          <p:cNvSpPr/>
          <p:nvPr/>
        </p:nvSpPr>
        <p:spPr>
          <a:xfrm>
            <a:off x="7733035" y="6829946"/>
            <a:ext cx="3940820" cy="9525"/>
          </a:xfrm>
          <a:prstGeom prst="rect">
            <a:avLst/>
          </a:prstGeom>
          <a:solidFill>
            <a:srgbClr val="201E1E">
              <a:alpha val="40000"/>
            </a:srgbClr>
          </a:solidFill>
          <a:ln/>
        </p:spPr>
        <p:txBody>
          <a:bodyPr/>
          <a:lstStyle/>
          <a:p>
            <a:endParaRPr lang="en-US"/>
          </a:p>
        </p:txBody>
      </p:sp>
      <p:sp>
        <p:nvSpPr>
          <p:cNvPr id="42" name="Text 40"/>
          <p:cNvSpPr/>
          <p:nvPr/>
        </p:nvSpPr>
        <p:spPr>
          <a:xfrm>
            <a:off x="7961635" y="6469684"/>
            <a:ext cx="3601845"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21</a:t>
            </a:r>
            <a:endParaRPr lang="en-US" sz="1875" dirty="0"/>
          </a:p>
        </p:txBody>
      </p:sp>
      <p:sp>
        <p:nvSpPr>
          <p:cNvPr id="43" name="Shape 41"/>
          <p:cNvSpPr/>
          <p:nvPr/>
        </p:nvSpPr>
        <p:spPr>
          <a:xfrm>
            <a:off x="11673855" y="6829946"/>
            <a:ext cx="4328145" cy="9525"/>
          </a:xfrm>
          <a:prstGeom prst="rect">
            <a:avLst/>
          </a:prstGeom>
          <a:solidFill>
            <a:srgbClr val="201E1E">
              <a:alpha val="40000"/>
            </a:srgbClr>
          </a:solidFill>
          <a:ln/>
        </p:spPr>
        <p:txBody>
          <a:bodyPr/>
          <a:lstStyle/>
          <a:p>
            <a:endParaRPr lang="en-US"/>
          </a:p>
        </p:txBody>
      </p:sp>
      <p:sp>
        <p:nvSpPr>
          <p:cNvPr id="44" name="Text 42"/>
          <p:cNvSpPr/>
          <p:nvPr/>
        </p:nvSpPr>
        <p:spPr>
          <a:xfrm>
            <a:off x="11902455" y="6469684"/>
            <a:ext cx="4229389"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92%</a:t>
            </a:r>
            <a:endParaRPr lang="en-US" sz="1875" dirty="0"/>
          </a:p>
        </p:txBody>
      </p:sp>
      <p:sp>
        <p:nvSpPr>
          <p:cNvPr id="45" name="Shape 43"/>
          <p:cNvSpPr/>
          <p:nvPr/>
        </p:nvSpPr>
        <p:spPr>
          <a:xfrm>
            <a:off x="1143000" y="7165628"/>
            <a:ext cx="16002000" cy="19050"/>
          </a:xfrm>
          <a:prstGeom prst="rect">
            <a:avLst/>
          </a:prstGeom>
          <a:solidFill>
            <a:srgbClr val="EC3013"/>
          </a:solidFill>
          <a:ln/>
        </p:spPr>
        <p:txBody>
          <a:bodyPr/>
          <a:lstStyle/>
          <a:p>
            <a:endParaRPr lang="en-US"/>
          </a:p>
        </p:txBody>
      </p:sp>
      <p:sp>
        <p:nvSpPr>
          <p:cNvPr id="46" name="Text 44"/>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47" name="Text 45"/>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This is why a hallucination detector with excellent accuracy still floods you with false alarms when hallucinations are rare — and why the fix is usually a better prior, not a better classifier.</a:t>
            </a:r>
            <a:endParaRPr lang="en-US" sz="2100" dirty="0"/>
          </a:p>
        </p:txBody>
      </p:sp>
      <p:pic>
        <p:nvPicPr>
          <p:cNvPr id="48"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BUSINESS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Is this email spam?</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Half of all incoming mail is spam. The word "offer" appears in 9% of spam and in 0.4% of genuine mail. An email arrives containing "offer". What is the chance it is spam?</a:t>
            </a:r>
            <a:endParaRPr lang="en-US" sz="2100" dirty="0"/>
          </a:p>
        </p:txBody>
      </p:sp>
      <p:sp>
        <p:nvSpPr>
          <p:cNvPr id="5" name="Shape 3"/>
          <p:cNvSpPr/>
          <p:nvPr/>
        </p:nvSpPr>
        <p:spPr>
          <a:xfrm>
            <a:off x="1143000" y="38862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4080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40651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40651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Spam and contains "offer": 0.09 × 0.5 = </a:t>
            </a:r>
            <a:r>
              <a:rPr lang="en-US" sz="2100" b="1" dirty="0">
                <a:solidFill>
                  <a:srgbClr val="201E1D"/>
                </a:solidFill>
                <a:latin typeface="Arial" pitchFamily="34" charset="0"/>
                <a:ea typeface="Arial" pitchFamily="34" charset="-122"/>
                <a:cs typeface="Arial" pitchFamily="34" charset="-120"/>
              </a:rPr>
              <a:t>0.045</a:t>
            </a:r>
            <a:endParaRPr lang="en-US" sz="2100" dirty="0"/>
          </a:p>
        </p:txBody>
      </p:sp>
      <p:sp>
        <p:nvSpPr>
          <p:cNvPr id="9" name="Shape 7"/>
          <p:cNvSpPr/>
          <p:nvPr/>
        </p:nvSpPr>
        <p:spPr>
          <a:xfrm>
            <a:off x="1143000" y="49204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5775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5775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Genuine and contains "offer": 0.004 × 0.5 = </a:t>
            </a:r>
            <a:r>
              <a:rPr lang="en-US" sz="2100" b="1" dirty="0">
                <a:solidFill>
                  <a:srgbClr val="201E1D"/>
                </a:solidFill>
                <a:latin typeface="Arial" pitchFamily="34" charset="0"/>
                <a:ea typeface="Arial" pitchFamily="34" charset="-122"/>
                <a:cs typeface="Arial" pitchFamily="34" charset="-120"/>
              </a:rPr>
              <a:t>0.002</a:t>
            </a:r>
            <a:endParaRPr lang="en-US" sz="2100" dirty="0"/>
          </a:p>
        </p:txBody>
      </p:sp>
      <p:sp>
        <p:nvSpPr>
          <p:cNvPr id="12" name="Shape 10"/>
          <p:cNvSpPr/>
          <p:nvPr/>
        </p:nvSpPr>
        <p:spPr>
          <a:xfrm>
            <a:off x="1143000" y="54327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50898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50898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Total chance of seeing "offer" at all: 0.045 + 0.002 = </a:t>
            </a:r>
            <a:r>
              <a:rPr lang="en-US" sz="2100" b="1" dirty="0">
                <a:solidFill>
                  <a:srgbClr val="201E1D"/>
                </a:solidFill>
                <a:latin typeface="Arial" pitchFamily="34" charset="0"/>
                <a:ea typeface="Arial" pitchFamily="34" charset="-122"/>
                <a:cs typeface="Arial" pitchFamily="34" charset="-120"/>
              </a:rPr>
              <a:t>0.047</a:t>
            </a:r>
            <a:endParaRPr lang="en-US" sz="2100" dirty="0"/>
          </a:p>
        </p:txBody>
      </p:sp>
      <p:sp>
        <p:nvSpPr>
          <p:cNvPr id="15" name="Shape 13"/>
          <p:cNvSpPr/>
          <p:nvPr/>
        </p:nvSpPr>
        <p:spPr>
          <a:xfrm>
            <a:off x="1143000" y="5953125"/>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602188"/>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17" name="Text 15"/>
          <p:cNvSpPr/>
          <p:nvPr/>
        </p:nvSpPr>
        <p:spPr>
          <a:xfrm>
            <a:off x="1981200" y="5602188"/>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P(spam | "offer") = 0.045 / 0.047 ≈ 0.957 — about 96%</a:t>
            </a:r>
            <a:endParaRPr lang="en-US" sz="2100" dirty="0"/>
          </a:p>
        </p:txBody>
      </p:sp>
      <p:sp>
        <p:nvSpPr>
          <p:cNvPr id="18" name="Shape 16"/>
          <p:cNvSpPr/>
          <p:nvPr/>
        </p:nvSpPr>
        <p:spPr>
          <a:xfrm>
            <a:off x="1143000" y="6465540"/>
            <a:ext cx="14859000" cy="19050"/>
          </a:xfrm>
          <a:prstGeom prst="rect">
            <a:avLst/>
          </a:prstGeom>
          <a:solidFill>
            <a:srgbClr val="EC3013"/>
          </a:solidFill>
          <a:ln/>
        </p:spPr>
        <p:txBody>
          <a:bodyPr/>
          <a:lstStyle/>
          <a:p>
            <a:endParaRPr lang="en-US"/>
          </a:p>
        </p:txBody>
      </p:sp>
      <p:sp>
        <p:nvSpPr>
          <p:cNvPr id="19" name="Text 17"/>
          <p:cNvSpPr/>
          <p:nvPr/>
        </p:nvSpPr>
        <p:spPr>
          <a:xfrm>
            <a:off x="1143000" y="6729413"/>
            <a:ext cx="16344900" cy="227558"/>
          </a:xfrm>
          <a:prstGeom prst="rect">
            <a:avLst/>
          </a:prstGeom>
          <a:noFill/>
          <a:ln/>
        </p:spPr>
        <p:txBody>
          <a:bodyPr wrap="square" lIns="25400" tIns="25400" rIns="25400" bIns="25400" rtlCol="0" anchor="t">
            <a:normAutofit fontScale="47500" lnSpcReduction="2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Try it yourself. </a:t>
            </a:r>
            <a:r>
              <a:rPr lang="en-US" sz="2175" dirty="0">
                <a:solidFill>
                  <a:srgbClr val="201E1D"/>
                </a:solidFill>
                <a:latin typeface="Arial" pitchFamily="34" charset="0"/>
                <a:ea typeface="Arial" pitchFamily="34" charset="-122"/>
                <a:cs typeface="Arial" pitchFamily="34" charset="-120"/>
              </a:rPr>
              <a:t>If "offer" appeared in 20% of spam instead of 9%, would the probability go up or down?</a:t>
            </a:r>
            <a:endParaRPr lang="en-US" sz="2175" dirty="0"/>
          </a:p>
        </p:txBody>
      </p:sp>
      <p:sp>
        <p:nvSpPr>
          <p:cNvPr id="20" name="Text 18"/>
          <p:cNvSpPr/>
          <p:nvPr/>
        </p:nvSpPr>
        <p:spPr>
          <a:xfrm>
            <a:off x="1143000" y="7085856"/>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Up. A word that is more common in spam and still rare in genuine mail pushes the posterior higher — to about 98%.</a:t>
            </a:r>
            <a:endParaRPr lang="en-US" sz="1800" dirty="0"/>
          </a:p>
        </p:txBody>
      </p:sp>
      <p:pic>
        <p:nvPicPr>
          <p:cNvPr id="21"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AI APPLICATION MAPPING</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Where probability shows up in AI</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Fraud detection</a:t>
            </a:r>
            <a:endParaRPr lang="en-US" sz="2550" dirty="0"/>
          </a:p>
        </p:txBody>
      </p:sp>
      <p:sp>
        <p:nvSpPr>
          <p:cNvPr id="6" name="Text 4"/>
          <p:cNvSpPr/>
          <p:nvPr/>
        </p:nvSpPr>
        <p:spPr>
          <a:xfrm>
            <a:off x="1143000" y="3931741"/>
            <a:ext cx="5180076" cy="11354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Flagging unusual transactions by probability, against a base rate well under 1%.</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Recommendation engines</a:t>
            </a:r>
            <a:endParaRPr lang="en-US" sz="2550" dirty="0"/>
          </a:p>
        </p:txBody>
      </p:sp>
      <p:sp>
        <p:nvSpPr>
          <p:cNvPr id="9" name="Text 7"/>
          <p:cNvSpPr/>
          <p:nvPr/>
        </p:nvSpPr>
        <p:spPr>
          <a:xfrm>
            <a:off x="6629400" y="3931741"/>
            <a:ext cx="518007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Ranking items by the likelihood a given user is interested.</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Self-driving systems</a:t>
            </a:r>
            <a:endParaRPr lang="en-US" sz="2550" dirty="0"/>
          </a:p>
        </p:txBody>
      </p:sp>
      <p:sp>
        <p:nvSpPr>
          <p:cNvPr id="12" name="Text 10"/>
          <p:cNvSpPr/>
          <p:nvPr/>
        </p:nvSpPr>
        <p:spPr>
          <a:xfrm>
            <a:off x="12115800" y="3931741"/>
            <a:ext cx="518007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Estimating the likelihood that a shape in the road is an obstacle.</a:t>
            </a:r>
            <a:endParaRPr lang="en-US" sz="2100" dirty="0"/>
          </a:p>
        </p:txBody>
      </p:sp>
      <p:sp>
        <p:nvSpPr>
          <p:cNvPr id="13" name="Shape 11"/>
          <p:cNvSpPr/>
          <p:nvPr/>
        </p:nvSpPr>
        <p:spPr>
          <a:xfrm>
            <a:off x="1143000" y="5029126"/>
            <a:ext cx="5029200" cy="19050"/>
          </a:xfrm>
          <a:prstGeom prst="rect">
            <a:avLst/>
          </a:prstGeom>
          <a:solidFill>
            <a:srgbClr val="201E1E">
              <a:alpha val="40000"/>
            </a:srgbClr>
          </a:solidFill>
          <a:ln/>
        </p:spPr>
        <p:txBody>
          <a:bodyPr/>
          <a:lstStyle/>
          <a:p>
            <a:endParaRPr lang="en-US"/>
          </a:p>
        </p:txBody>
      </p:sp>
      <p:sp>
        <p:nvSpPr>
          <p:cNvPr id="14" name="Text 12"/>
          <p:cNvSpPr/>
          <p:nvPr/>
        </p:nvSpPr>
        <p:spPr>
          <a:xfrm>
            <a:off x="1143000" y="5263828"/>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Chatbots and assistants</a:t>
            </a:r>
            <a:endParaRPr lang="en-US" sz="2550" dirty="0"/>
          </a:p>
        </p:txBody>
      </p:sp>
      <p:sp>
        <p:nvSpPr>
          <p:cNvPr id="15" name="Text 13"/>
          <p:cNvSpPr/>
          <p:nvPr/>
        </p:nvSpPr>
        <p:spPr>
          <a:xfrm>
            <a:off x="1143000" y="5769992"/>
            <a:ext cx="518007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Weighing likely user intents before choosing a reply or a tool.</a:t>
            </a:r>
            <a:endParaRPr lang="en-US" sz="2100" dirty="0"/>
          </a:p>
        </p:txBody>
      </p:sp>
      <p:sp>
        <p:nvSpPr>
          <p:cNvPr id="16" name="Shape 14"/>
          <p:cNvSpPr/>
          <p:nvPr/>
        </p:nvSpPr>
        <p:spPr>
          <a:xfrm>
            <a:off x="6629400" y="5029126"/>
            <a:ext cx="5029200" cy="19050"/>
          </a:xfrm>
          <a:prstGeom prst="rect">
            <a:avLst/>
          </a:prstGeom>
          <a:solidFill>
            <a:srgbClr val="201E1E">
              <a:alpha val="40000"/>
            </a:srgbClr>
          </a:solidFill>
          <a:ln/>
        </p:spPr>
        <p:txBody>
          <a:bodyPr/>
          <a:lstStyle/>
          <a:p>
            <a:endParaRPr lang="en-US"/>
          </a:p>
        </p:txBody>
      </p:sp>
      <p:sp>
        <p:nvSpPr>
          <p:cNvPr id="17" name="Text 15"/>
          <p:cNvSpPr/>
          <p:nvPr/>
        </p:nvSpPr>
        <p:spPr>
          <a:xfrm>
            <a:off x="6629400" y="5263828"/>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Medical AI</a:t>
            </a:r>
            <a:endParaRPr lang="en-US" sz="2550" dirty="0"/>
          </a:p>
        </p:txBody>
      </p:sp>
      <p:sp>
        <p:nvSpPr>
          <p:cNvPr id="18" name="Text 16"/>
          <p:cNvSpPr/>
          <p:nvPr/>
        </p:nvSpPr>
        <p:spPr>
          <a:xfrm>
            <a:off x="6629400" y="5769992"/>
            <a:ext cx="518007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Diagnosis probability given symptoms and test results — with the prevalence built in.</a:t>
            </a:r>
            <a:endParaRPr lang="en-US" sz="2100" dirty="0"/>
          </a:p>
        </p:txBody>
      </p:sp>
      <p:sp>
        <p:nvSpPr>
          <p:cNvPr id="19" name="Shape 17"/>
          <p:cNvSpPr/>
          <p:nvPr/>
        </p:nvSpPr>
        <p:spPr>
          <a:xfrm>
            <a:off x="12115800" y="5029126"/>
            <a:ext cx="5029200" cy="19050"/>
          </a:xfrm>
          <a:prstGeom prst="rect">
            <a:avLst/>
          </a:prstGeom>
          <a:solidFill>
            <a:srgbClr val="201E1E">
              <a:alpha val="40000"/>
            </a:srgbClr>
          </a:solidFill>
          <a:ln/>
        </p:spPr>
        <p:txBody>
          <a:bodyPr/>
          <a:lstStyle/>
          <a:p>
            <a:endParaRPr lang="en-US"/>
          </a:p>
        </p:txBody>
      </p:sp>
      <p:sp>
        <p:nvSpPr>
          <p:cNvPr id="20" name="Text 18"/>
          <p:cNvSpPr/>
          <p:nvPr/>
        </p:nvSpPr>
        <p:spPr>
          <a:xfrm>
            <a:off x="12115800" y="5263828"/>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Risk scoring</a:t>
            </a:r>
            <a:endParaRPr lang="en-US" sz="2550" dirty="0"/>
          </a:p>
        </p:txBody>
      </p:sp>
      <p:sp>
        <p:nvSpPr>
          <p:cNvPr id="21" name="Text 19"/>
          <p:cNvSpPr/>
          <p:nvPr/>
        </p:nvSpPr>
        <p:spPr>
          <a:xfrm>
            <a:off x="12115800" y="5769992"/>
            <a:ext cx="518007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Credit, insurance and churn models, all of which output a probability, not a verdict.</a:t>
            </a:r>
            <a:endParaRPr lang="en-US" sz="2100" dirty="0"/>
          </a:p>
        </p:txBody>
      </p:sp>
      <p:pic>
        <p:nvPicPr>
          <p:cNvPr id="22"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TRY IT YOURSELF</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Hands-on: probability</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bank's model predicts loan default. Historically 4% of applicants default. The model correctly flags 90% of defaulters and incorrectly flags 6% of non-defaulters as risky. An applicant is flagged. What is the real chance they default?</a:t>
            </a:r>
            <a:endParaRPr lang="en-US" sz="2100" dirty="0"/>
          </a:p>
        </p:txBody>
      </p:sp>
      <p:sp>
        <p:nvSpPr>
          <p:cNvPr id="5" name="Shape 3"/>
          <p:cNvSpPr/>
          <p:nvPr/>
        </p:nvSpPr>
        <p:spPr>
          <a:xfrm>
            <a:off x="1143000" y="38862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4080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40651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40651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Take 1,000 applicants. 4% default: </a:t>
            </a:r>
            <a:r>
              <a:rPr lang="en-US" sz="2100" b="1" dirty="0">
                <a:solidFill>
                  <a:srgbClr val="201E1D"/>
                </a:solidFill>
                <a:latin typeface="Arial" pitchFamily="34" charset="0"/>
                <a:ea typeface="Arial" pitchFamily="34" charset="-122"/>
                <a:cs typeface="Arial" pitchFamily="34" charset="-120"/>
              </a:rPr>
              <a:t>40 defaulters</a:t>
            </a:r>
            <a:r>
              <a:rPr lang="en-US" sz="2100" dirty="0">
                <a:solidFill>
                  <a:srgbClr val="201E1D"/>
                </a:solidFill>
                <a:latin typeface="Arial" pitchFamily="34" charset="0"/>
                <a:ea typeface="Arial" pitchFamily="34" charset="-122"/>
                <a:cs typeface="Arial" pitchFamily="34" charset="-120"/>
              </a:rPr>
              <a:t>, 960 non-defaulters</a:t>
            </a:r>
            <a:endParaRPr lang="en-US" sz="2100" dirty="0"/>
          </a:p>
        </p:txBody>
      </p:sp>
      <p:sp>
        <p:nvSpPr>
          <p:cNvPr id="9" name="Shape 7"/>
          <p:cNvSpPr/>
          <p:nvPr/>
        </p:nvSpPr>
        <p:spPr>
          <a:xfrm>
            <a:off x="1143000" y="49204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5775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5775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Of the 40 defaulters, 90% are flagged: 0.90 × 40 = </a:t>
            </a:r>
            <a:r>
              <a:rPr lang="en-US" sz="2100" b="1" dirty="0">
                <a:solidFill>
                  <a:srgbClr val="201E1D"/>
                </a:solidFill>
                <a:latin typeface="Arial" pitchFamily="34" charset="0"/>
                <a:ea typeface="Arial" pitchFamily="34" charset="-122"/>
                <a:cs typeface="Arial" pitchFamily="34" charset="-120"/>
              </a:rPr>
              <a:t>36</a:t>
            </a:r>
            <a:endParaRPr lang="en-US" sz="2100" dirty="0"/>
          </a:p>
        </p:txBody>
      </p:sp>
      <p:sp>
        <p:nvSpPr>
          <p:cNvPr id="12" name="Shape 10"/>
          <p:cNvSpPr/>
          <p:nvPr/>
        </p:nvSpPr>
        <p:spPr>
          <a:xfrm>
            <a:off x="1143000" y="54327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50898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50898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Of the 960 non-defaulters, 6% are flagged anyway: 0.06 × 960 = </a:t>
            </a:r>
            <a:r>
              <a:rPr lang="en-US" sz="2100" b="1" dirty="0">
                <a:solidFill>
                  <a:srgbClr val="201E1D"/>
                </a:solidFill>
                <a:latin typeface="Arial" pitchFamily="34" charset="0"/>
                <a:ea typeface="Arial" pitchFamily="34" charset="-122"/>
                <a:cs typeface="Arial" pitchFamily="34" charset="-120"/>
              </a:rPr>
              <a:t>58</a:t>
            </a:r>
            <a:endParaRPr lang="en-US" sz="2100" dirty="0"/>
          </a:p>
        </p:txBody>
      </p:sp>
      <p:sp>
        <p:nvSpPr>
          <p:cNvPr id="15" name="Shape 13"/>
          <p:cNvSpPr/>
          <p:nvPr/>
        </p:nvSpPr>
        <p:spPr>
          <a:xfrm>
            <a:off x="1143000" y="5945088"/>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602188"/>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4</a:t>
            </a:r>
            <a:endParaRPr lang="en-US" sz="2100" dirty="0"/>
          </a:p>
        </p:txBody>
      </p:sp>
      <p:sp>
        <p:nvSpPr>
          <p:cNvPr id="17" name="Text 15"/>
          <p:cNvSpPr/>
          <p:nvPr/>
        </p:nvSpPr>
        <p:spPr>
          <a:xfrm>
            <a:off x="1981200" y="5602188"/>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Total flagged = 36 + 58 = </a:t>
            </a:r>
            <a:r>
              <a:rPr lang="en-US" sz="2100" b="1" dirty="0">
                <a:solidFill>
                  <a:srgbClr val="201E1D"/>
                </a:solidFill>
                <a:latin typeface="Arial" pitchFamily="34" charset="0"/>
                <a:ea typeface="Arial" pitchFamily="34" charset="-122"/>
                <a:cs typeface="Arial" pitchFamily="34" charset="-120"/>
              </a:rPr>
              <a:t>94</a:t>
            </a:r>
            <a:endParaRPr lang="en-US" sz="2100" dirty="0"/>
          </a:p>
        </p:txBody>
      </p:sp>
      <p:sp>
        <p:nvSpPr>
          <p:cNvPr id="18" name="Shape 16"/>
          <p:cNvSpPr/>
          <p:nvPr/>
        </p:nvSpPr>
        <p:spPr>
          <a:xfrm>
            <a:off x="1143000" y="6465466"/>
            <a:ext cx="13335000" cy="9525"/>
          </a:xfrm>
          <a:prstGeom prst="rect">
            <a:avLst/>
          </a:prstGeom>
          <a:solidFill>
            <a:srgbClr val="201E1E">
              <a:alpha val="40000"/>
            </a:srgbClr>
          </a:solidFill>
          <a:ln/>
        </p:spPr>
        <p:txBody>
          <a:bodyPr/>
          <a:lstStyle/>
          <a:p>
            <a:endParaRPr lang="en-US"/>
          </a:p>
        </p:txBody>
      </p:sp>
      <p:sp>
        <p:nvSpPr>
          <p:cNvPr id="19" name="Text 17"/>
          <p:cNvSpPr/>
          <p:nvPr/>
        </p:nvSpPr>
        <p:spPr>
          <a:xfrm>
            <a:off x="1143000" y="6114529"/>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20" name="Text 18"/>
          <p:cNvSpPr/>
          <p:nvPr/>
        </p:nvSpPr>
        <p:spPr>
          <a:xfrm>
            <a:off x="1981200" y="6114529"/>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Real default chance if flagged = 36 / 94 ≈ 38%</a:t>
            </a:r>
            <a:endParaRPr lang="en-US" sz="2100" dirty="0"/>
          </a:p>
        </p:txBody>
      </p:sp>
      <p:sp>
        <p:nvSpPr>
          <p:cNvPr id="21" name="Shape 19"/>
          <p:cNvSpPr/>
          <p:nvPr/>
        </p:nvSpPr>
        <p:spPr>
          <a:xfrm>
            <a:off x="1143000" y="7165628"/>
            <a:ext cx="16002000" cy="19050"/>
          </a:xfrm>
          <a:prstGeom prst="rect">
            <a:avLst/>
          </a:prstGeom>
          <a:solidFill>
            <a:srgbClr val="EC3013"/>
          </a:solidFill>
          <a:ln/>
        </p:spPr>
        <p:txBody>
          <a:bodyPr/>
          <a:lstStyle/>
          <a:p>
            <a:endParaRPr lang="en-US"/>
          </a:p>
        </p:txBody>
      </p:sp>
      <p:sp>
        <p:nvSpPr>
          <p:cNvPr id="22" name="Text 20"/>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PRO TIP</a:t>
            </a:r>
            <a:endParaRPr lang="en-US" sz="1800" dirty="0"/>
          </a:p>
        </p:txBody>
      </p:sp>
      <p:sp>
        <p:nvSpPr>
          <p:cNvPr id="23" name="Text 21"/>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Most flagged applicants will not default. That is not a broken model — it is what a 4% base rate does. Decide the business action accordingly: review, do not reject.</a:t>
            </a:r>
            <a:endParaRPr lang="en-US" sz="2100" dirty="0"/>
          </a:p>
        </p:txBody>
      </p:sp>
      <p:pic>
        <p:nvPicPr>
          <p:cNvPr id="24"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DISTRIBUTIONS &amp; SAMPLING</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Do I need this?</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Yes, if you…</a:t>
            </a:r>
            <a:endParaRPr lang="en-US" sz="2550" dirty="0"/>
          </a:p>
        </p:txBody>
      </p:sp>
      <p:sp>
        <p:nvSpPr>
          <p:cNvPr id="6" name="Text 4"/>
          <p:cNvSpPr/>
          <p:nvPr/>
        </p:nvSpPr>
        <p:spPr>
          <a:xfrm>
            <a:off x="1143000" y="39317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Forecast demand, staff a support line, set an alerting threshold, or read an evaluation score computed on a sample.</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What breaks without it</a:t>
            </a:r>
            <a:endParaRPr lang="en-US" sz="2550" dirty="0"/>
          </a:p>
        </p:txBody>
      </p:sp>
      <p:sp>
        <p:nvSpPr>
          <p:cNvPr id="9" name="Text 7"/>
          <p:cNvSpPr/>
          <p:nvPr/>
        </p:nvSpPr>
        <p:spPr>
          <a:xfrm>
            <a:off x="6629400" y="3931741"/>
            <a:ext cx="5180076" cy="15926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You treat a quiet Tuesday as a trend, alert on every above-average hour, and report a 2-point benchmark gain that is inside the noise.</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Time to competence</a:t>
            </a:r>
            <a:endParaRPr lang="en-US" sz="2550" dirty="0"/>
          </a:p>
        </p:txBody>
      </p:sp>
      <p:sp>
        <p:nvSpPr>
          <p:cNvPr id="12" name="Text 10"/>
          <p:cNvSpPr/>
          <p:nvPr/>
        </p:nvSpPr>
        <p:spPr>
          <a:xfrm>
            <a:off x="12115800" y="39317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Half a day. Two formulas and one habit: always ask how many observations the number came from.</a:t>
            </a:r>
            <a:endParaRPr lang="en-US" sz="2100" dirty="0"/>
          </a:p>
        </p:txBody>
      </p:sp>
      <p:sp>
        <p:nvSpPr>
          <p:cNvPr id="13" name="Shape 11"/>
          <p:cNvSpPr/>
          <p:nvPr/>
        </p:nvSpPr>
        <p:spPr>
          <a:xfrm>
            <a:off x="1143000" y="7165628"/>
            <a:ext cx="16002000" cy="19050"/>
          </a:xfrm>
          <a:prstGeom prst="rect">
            <a:avLst/>
          </a:prstGeom>
          <a:solidFill>
            <a:srgbClr val="EC3013"/>
          </a:solidFill>
          <a:ln/>
        </p:spPr>
        <p:txBody>
          <a:bodyPr/>
          <a:lstStyle/>
          <a:p>
            <a:endParaRPr lang="en-US"/>
          </a:p>
        </p:txBody>
      </p:sp>
      <p:sp>
        <p:nvSpPr>
          <p:cNvPr id="14" name="Text 12"/>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15" name="Text 13"/>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Every eval score is a sample statistic. A 78% pass rate over 50 prompts and a 78% over 5,000 prompts are not the same claim, and the difference is this topic.</a:t>
            </a:r>
            <a:endParaRPr lang="en-US" sz="2100" dirty="0"/>
          </a:p>
        </p:txBody>
      </p:sp>
      <p:pic>
        <p:nvPicPr>
          <p:cNvPr id="16"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PRACTICAL INTUITION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Two questions, two distributions</a:t>
            </a:r>
            <a:endParaRPr lang="en-US" sz="4800" dirty="0"/>
          </a:p>
        </p:txBody>
      </p:sp>
      <p:sp>
        <p:nvSpPr>
          <p:cNvPr id="4" name="Shape 2"/>
          <p:cNvSpPr/>
          <p:nvPr/>
        </p:nvSpPr>
        <p:spPr>
          <a:xfrm>
            <a:off x="1143000" y="3190875"/>
            <a:ext cx="77724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Binomial — "how many out of n?"</a:t>
            </a:r>
            <a:endParaRPr lang="en-US" sz="2550" dirty="0"/>
          </a:p>
        </p:txBody>
      </p:sp>
      <p:sp>
        <p:nvSpPr>
          <p:cNvPr id="6" name="Text 4"/>
          <p:cNvSpPr/>
          <p:nvPr/>
        </p:nvSpPr>
        <p:spPr>
          <a:xfrm>
            <a:off x="1143000" y="3931741"/>
            <a:ext cx="8005572"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fixed number of yes/no trials, each with the same chance of success. Flipping a weighted coin eight times and counting heads. Surveying 8 people and counting the yeses.</a:t>
            </a:r>
            <a:endParaRPr lang="en-US" sz="2100" dirty="0"/>
          </a:p>
        </p:txBody>
      </p:sp>
      <p:sp>
        <p:nvSpPr>
          <p:cNvPr id="7" name="Shape 5"/>
          <p:cNvSpPr/>
          <p:nvPr/>
        </p:nvSpPr>
        <p:spPr>
          <a:xfrm>
            <a:off x="9372600" y="3190875"/>
            <a:ext cx="7772400" cy="19050"/>
          </a:xfrm>
          <a:prstGeom prst="rect">
            <a:avLst/>
          </a:prstGeom>
          <a:solidFill>
            <a:srgbClr val="201E1E">
              <a:alpha val="40000"/>
            </a:srgbClr>
          </a:solidFill>
          <a:ln/>
        </p:spPr>
        <p:txBody>
          <a:bodyPr/>
          <a:lstStyle/>
          <a:p>
            <a:endParaRPr lang="en-US"/>
          </a:p>
        </p:txBody>
      </p:sp>
      <p:sp>
        <p:nvSpPr>
          <p:cNvPr id="8" name="Text 6"/>
          <p:cNvSpPr/>
          <p:nvPr/>
        </p:nvSpPr>
        <p:spPr>
          <a:xfrm>
            <a:off x="9372600" y="3425577"/>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Poisson — "how many in a window?"</a:t>
            </a:r>
            <a:endParaRPr lang="en-US" sz="2550" dirty="0"/>
          </a:p>
        </p:txBody>
      </p:sp>
      <p:sp>
        <p:nvSpPr>
          <p:cNvPr id="9" name="Text 7"/>
          <p:cNvSpPr/>
          <p:nvPr/>
        </p:nvSpPr>
        <p:spPr>
          <a:xfrm>
            <a:off x="9372600" y="3931741"/>
            <a:ext cx="8005572" cy="11354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Rare events arriving over a fixed interval, with no fixed number of tries at all. Pings on a Geiger counter in an hour. Support escalations per shift.</a:t>
            </a:r>
            <a:endParaRPr lang="en-US" sz="2100" dirty="0"/>
          </a:p>
        </p:txBody>
      </p:sp>
      <p:sp>
        <p:nvSpPr>
          <p:cNvPr id="10" name="Shape 8"/>
          <p:cNvSpPr/>
          <p:nvPr/>
        </p:nvSpPr>
        <p:spPr>
          <a:xfrm>
            <a:off x="1143000" y="7165628"/>
            <a:ext cx="16002000" cy="19050"/>
          </a:xfrm>
          <a:prstGeom prst="rect">
            <a:avLst/>
          </a:prstGeom>
          <a:solidFill>
            <a:srgbClr val="EC3013"/>
          </a:solidFill>
          <a:ln/>
        </p:spPr>
        <p:txBody>
          <a:bodyPr/>
          <a:lstStyle/>
          <a:p>
            <a:endParaRPr lang="en-US"/>
          </a:p>
        </p:txBody>
      </p:sp>
      <p:sp>
        <p:nvSpPr>
          <p:cNvPr id="11" name="Text 9"/>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WHY IT MATTERS</a:t>
            </a:r>
            <a:endParaRPr lang="en-US" sz="1800" dirty="0"/>
          </a:p>
        </p:txBody>
      </p:sp>
      <p:sp>
        <p:nvSpPr>
          <p:cNvPr id="12" name="Text 10"/>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These two alone explain most of the "how many will happen" questions an AI system is asked to answer. Choosing wrongly between them is the usual cause of a forecasting model that never calibrates.</a:t>
            </a:r>
            <a:endParaRPr lang="en-US" sz="2100" dirty="0"/>
          </a:p>
        </p:txBody>
      </p:sp>
      <p:pic>
        <p:nvPicPr>
          <p:cNvPr id="13"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FOUNDATION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Why sample at all</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You almost never have the population. You have a subset, and you want to say something about the whole from it. Every evaluation you will ever read is a sample.</a:t>
            </a:r>
            <a:endParaRPr lang="en-US" sz="2100" dirty="0"/>
          </a:p>
        </p:txBody>
      </p:sp>
      <p:sp>
        <p:nvSpPr>
          <p:cNvPr id="5" name="Shape 3"/>
          <p:cNvSpPr/>
          <p:nvPr/>
        </p:nvSpPr>
        <p:spPr>
          <a:xfrm>
            <a:off x="1143000" y="4219575"/>
            <a:ext cx="5029200" cy="19050"/>
          </a:xfrm>
          <a:prstGeom prst="rect">
            <a:avLst/>
          </a:prstGeom>
          <a:solidFill>
            <a:srgbClr val="201E1E">
              <a:alpha val="40000"/>
            </a:srgbClr>
          </a:solidFill>
          <a:ln/>
        </p:spPr>
        <p:txBody>
          <a:bodyPr/>
          <a:lstStyle/>
          <a:p>
            <a:endParaRPr lang="en-US"/>
          </a:p>
        </p:txBody>
      </p:sp>
      <p:sp>
        <p:nvSpPr>
          <p:cNvPr id="6" name="Text 4"/>
          <p:cNvSpPr/>
          <p:nvPr/>
        </p:nvSpPr>
        <p:spPr>
          <a:xfrm>
            <a:off x="1143000" y="44542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The population</a:t>
            </a:r>
            <a:endParaRPr lang="en-US" sz="2550" dirty="0"/>
          </a:p>
        </p:txBody>
      </p:sp>
      <p:sp>
        <p:nvSpPr>
          <p:cNvPr id="7" name="Text 5"/>
          <p:cNvSpPr/>
          <p:nvPr/>
        </p:nvSpPr>
        <p:spPr>
          <a:xfrm>
            <a:off x="1143000" y="4960441"/>
            <a:ext cx="5180076" cy="15926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Every customer, every query, every possible prompt. Usually unmeasurable, often infinite, occasionally not yet in existence.</a:t>
            </a:r>
            <a:endParaRPr lang="en-US" sz="2100" dirty="0"/>
          </a:p>
        </p:txBody>
      </p:sp>
      <p:sp>
        <p:nvSpPr>
          <p:cNvPr id="8" name="Shape 6"/>
          <p:cNvSpPr/>
          <p:nvPr/>
        </p:nvSpPr>
        <p:spPr>
          <a:xfrm>
            <a:off x="6629400" y="4219575"/>
            <a:ext cx="5029200" cy="19050"/>
          </a:xfrm>
          <a:prstGeom prst="rect">
            <a:avLst/>
          </a:prstGeom>
          <a:solidFill>
            <a:srgbClr val="201E1E">
              <a:alpha val="40000"/>
            </a:srgbClr>
          </a:solidFill>
          <a:ln/>
        </p:spPr>
        <p:txBody>
          <a:bodyPr/>
          <a:lstStyle/>
          <a:p>
            <a:endParaRPr lang="en-US"/>
          </a:p>
        </p:txBody>
      </p:sp>
      <p:sp>
        <p:nvSpPr>
          <p:cNvPr id="9" name="Text 7"/>
          <p:cNvSpPr/>
          <p:nvPr/>
        </p:nvSpPr>
        <p:spPr>
          <a:xfrm>
            <a:off x="6629400" y="44542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The sample</a:t>
            </a:r>
            <a:endParaRPr lang="en-US" sz="2550" dirty="0"/>
          </a:p>
        </p:txBody>
      </p:sp>
      <p:sp>
        <p:nvSpPr>
          <p:cNvPr id="10" name="Text 8"/>
          <p:cNvSpPr/>
          <p:nvPr/>
        </p:nvSpPr>
        <p:spPr>
          <a:xfrm>
            <a:off x="6629400" y="4960441"/>
            <a:ext cx="5180076" cy="1135484"/>
          </a:xfrm>
          <a:prstGeom prst="rect">
            <a:avLst/>
          </a:prstGeom>
          <a:noFill/>
          <a:ln/>
        </p:spPr>
        <p:txBody>
          <a:bodyPr wrap="square" lIns="25400" tIns="25400" rIns="25400" bIns="25400" rtlCol="0" anchor="t">
            <a:no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 500 queries you tested. Cheap, fast, and only useful if it resembles the population it came from.</a:t>
            </a:r>
            <a:endParaRPr lang="en-US" sz="2100" dirty="0"/>
          </a:p>
        </p:txBody>
      </p:sp>
      <p:sp>
        <p:nvSpPr>
          <p:cNvPr id="11" name="Shape 9"/>
          <p:cNvSpPr/>
          <p:nvPr/>
        </p:nvSpPr>
        <p:spPr>
          <a:xfrm>
            <a:off x="12115800" y="4219575"/>
            <a:ext cx="5029200" cy="19050"/>
          </a:xfrm>
          <a:prstGeom prst="rect">
            <a:avLst/>
          </a:prstGeom>
          <a:solidFill>
            <a:srgbClr val="201E1E">
              <a:alpha val="40000"/>
            </a:srgbClr>
          </a:solidFill>
          <a:ln/>
        </p:spPr>
        <p:txBody>
          <a:bodyPr/>
          <a:lstStyle/>
          <a:p>
            <a:endParaRPr lang="en-US"/>
          </a:p>
        </p:txBody>
      </p:sp>
      <p:sp>
        <p:nvSpPr>
          <p:cNvPr id="12" name="Text 10"/>
          <p:cNvSpPr/>
          <p:nvPr/>
        </p:nvSpPr>
        <p:spPr>
          <a:xfrm>
            <a:off x="12115800" y="44542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The estimate</a:t>
            </a:r>
            <a:endParaRPr lang="en-US" sz="2550" dirty="0"/>
          </a:p>
        </p:txBody>
      </p:sp>
      <p:sp>
        <p:nvSpPr>
          <p:cNvPr id="13" name="Text 11"/>
          <p:cNvSpPr/>
          <p:nvPr/>
        </p:nvSpPr>
        <p:spPr>
          <a:xfrm>
            <a:off x="12115800" y="49604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What the sample says about the population — always with an error bar attached, whether or not anyone printed it.</a:t>
            </a:r>
            <a:endParaRPr lang="en-US" sz="2100" dirty="0"/>
          </a:p>
        </p:txBody>
      </p:sp>
      <p:sp>
        <p:nvSpPr>
          <p:cNvPr id="14" name="Shape 12"/>
          <p:cNvSpPr/>
          <p:nvPr/>
        </p:nvSpPr>
        <p:spPr>
          <a:xfrm>
            <a:off x="1143000" y="7165628"/>
            <a:ext cx="16002000" cy="19050"/>
          </a:xfrm>
          <a:prstGeom prst="rect">
            <a:avLst/>
          </a:prstGeom>
          <a:solidFill>
            <a:srgbClr val="201E1E">
              <a:alpha val="40000"/>
            </a:srgbClr>
          </a:solidFill>
          <a:ln/>
        </p:spPr>
        <p:txBody>
          <a:bodyPr/>
          <a:lstStyle/>
          <a:p>
            <a:endParaRPr lang="en-US"/>
          </a:p>
        </p:txBody>
      </p:sp>
      <p:sp>
        <p:nvSpPr>
          <p:cNvPr id="15" name="Text 13"/>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GOTCHA</a:t>
            </a:r>
            <a:endParaRPr lang="en-US" sz="1800" dirty="0"/>
          </a:p>
        </p:txBody>
      </p:sp>
      <p:sp>
        <p:nvSpPr>
          <p:cNvPr id="16" name="Text 14"/>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biased sample does not get better with size. Ten thousand queries drawn only from your happiest customers still tells you nothing about the unhappy ones.</a:t>
            </a:r>
            <a:endParaRPr lang="en-US" sz="2100" dirty="0"/>
          </a:p>
        </p:txBody>
      </p:sp>
      <p:pic>
        <p:nvPicPr>
          <p:cNvPr id="17"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FOUNDATION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Four numbers that describe any sample</a:t>
            </a:r>
            <a:endParaRPr lang="en-US" sz="4800" dirty="0"/>
          </a:p>
        </p:txBody>
      </p:sp>
      <p:sp>
        <p:nvSpPr>
          <p:cNvPr id="4" name="Shape 2"/>
          <p:cNvSpPr/>
          <p:nvPr/>
        </p:nvSpPr>
        <p:spPr>
          <a:xfrm>
            <a:off x="1143000" y="3519711"/>
            <a:ext cx="1952179" cy="19050"/>
          </a:xfrm>
          <a:prstGeom prst="rect">
            <a:avLst/>
          </a:prstGeom>
          <a:solidFill>
            <a:srgbClr val="201E1E">
              <a:alpha val="40000"/>
            </a:srgbClr>
          </a:solidFill>
          <a:ln/>
        </p:spPr>
        <p:txBody>
          <a:bodyPr/>
          <a:lstStyle/>
          <a:p>
            <a:endParaRPr lang="en-US"/>
          </a:p>
        </p:txBody>
      </p:sp>
      <p:sp>
        <p:nvSpPr>
          <p:cNvPr id="5" name="Text 3"/>
          <p:cNvSpPr/>
          <p:nvPr/>
        </p:nvSpPr>
        <p:spPr>
          <a:xfrm>
            <a:off x="1143000" y="3173390"/>
            <a:ext cx="1799779" cy="192356"/>
          </a:xfrm>
          <a:prstGeom prst="rect">
            <a:avLst/>
          </a:prstGeom>
          <a:noFill/>
          <a:ln/>
        </p:spPr>
        <p:txBody>
          <a:bodyPr wrap="square" lIns="25400" tIns="25400" rIns="25400" bIns="25400" rtlCol="0" anchor="ctr">
            <a:noAutofit/>
          </a:bodyPr>
          <a:lstStyle/>
          <a:p>
            <a:pPr marL="0" indent="0" algn="l">
              <a:lnSpc>
                <a:spcPct val="135273"/>
              </a:lnSpc>
              <a:buNone/>
            </a:pPr>
            <a:r>
              <a:rPr lang="en-US" sz="1880" b="1" kern="0" spc="144" dirty="0">
                <a:solidFill>
                  <a:srgbClr val="201E1C">
                    <a:alpha val="60000"/>
                  </a:srgbClr>
                </a:solidFill>
                <a:latin typeface="Arial" pitchFamily="34" charset="0"/>
                <a:ea typeface="Arial" pitchFamily="34" charset="-122"/>
                <a:cs typeface="Arial" pitchFamily="34" charset="-120"/>
              </a:rPr>
              <a:t>STATISTIC</a:t>
            </a:r>
            <a:endParaRPr lang="en-US" sz="1880" dirty="0"/>
          </a:p>
        </p:txBody>
      </p:sp>
      <p:sp>
        <p:nvSpPr>
          <p:cNvPr id="6" name="Shape 4"/>
          <p:cNvSpPr/>
          <p:nvPr/>
        </p:nvSpPr>
        <p:spPr>
          <a:xfrm>
            <a:off x="3095179" y="3519711"/>
            <a:ext cx="5535811" cy="19050"/>
          </a:xfrm>
          <a:prstGeom prst="rect">
            <a:avLst/>
          </a:prstGeom>
          <a:solidFill>
            <a:srgbClr val="201E1E">
              <a:alpha val="40000"/>
            </a:srgbClr>
          </a:solidFill>
          <a:ln/>
        </p:spPr>
        <p:txBody>
          <a:bodyPr/>
          <a:lstStyle/>
          <a:p>
            <a:endParaRPr lang="en-US"/>
          </a:p>
        </p:txBody>
      </p:sp>
      <p:sp>
        <p:nvSpPr>
          <p:cNvPr id="7" name="Text 5"/>
          <p:cNvSpPr/>
          <p:nvPr/>
        </p:nvSpPr>
        <p:spPr>
          <a:xfrm>
            <a:off x="3323779" y="3173390"/>
            <a:ext cx="5244685" cy="192356"/>
          </a:xfrm>
          <a:prstGeom prst="rect">
            <a:avLst/>
          </a:prstGeom>
          <a:noFill/>
          <a:ln/>
        </p:spPr>
        <p:txBody>
          <a:bodyPr wrap="square" lIns="25400" tIns="25400" rIns="25400" bIns="25400" rtlCol="0" anchor="ctr">
            <a:noAutofit/>
          </a:bodyPr>
          <a:lstStyle/>
          <a:p>
            <a:pPr marL="0" indent="0" algn="l">
              <a:lnSpc>
                <a:spcPct val="135273"/>
              </a:lnSpc>
              <a:buNone/>
            </a:pPr>
            <a:r>
              <a:rPr lang="en-US" sz="1880" b="1" kern="0" spc="144" dirty="0">
                <a:solidFill>
                  <a:srgbClr val="201E1C">
                    <a:alpha val="60000"/>
                  </a:srgbClr>
                </a:solidFill>
                <a:latin typeface="Arial" pitchFamily="34" charset="0"/>
                <a:ea typeface="Arial" pitchFamily="34" charset="-122"/>
                <a:cs typeface="Arial" pitchFamily="34" charset="-120"/>
              </a:rPr>
              <a:t>WHAT IT IS</a:t>
            </a:r>
            <a:endParaRPr lang="en-US" sz="1880" dirty="0"/>
          </a:p>
        </p:txBody>
      </p:sp>
      <p:sp>
        <p:nvSpPr>
          <p:cNvPr id="8" name="Shape 6"/>
          <p:cNvSpPr/>
          <p:nvPr/>
        </p:nvSpPr>
        <p:spPr>
          <a:xfrm>
            <a:off x="8630989" y="3519711"/>
            <a:ext cx="7371011" cy="19050"/>
          </a:xfrm>
          <a:prstGeom prst="rect">
            <a:avLst/>
          </a:prstGeom>
          <a:solidFill>
            <a:srgbClr val="201E1E">
              <a:alpha val="40000"/>
            </a:srgbClr>
          </a:solidFill>
          <a:ln/>
        </p:spPr>
        <p:txBody>
          <a:bodyPr/>
          <a:lstStyle/>
          <a:p>
            <a:endParaRPr lang="en-US"/>
          </a:p>
        </p:txBody>
      </p:sp>
      <p:sp>
        <p:nvSpPr>
          <p:cNvPr id="9" name="Text 7"/>
          <p:cNvSpPr/>
          <p:nvPr/>
        </p:nvSpPr>
        <p:spPr>
          <a:xfrm>
            <a:off x="8859589" y="3173390"/>
            <a:ext cx="7363541" cy="192356"/>
          </a:xfrm>
          <a:prstGeom prst="rect">
            <a:avLst/>
          </a:prstGeom>
          <a:noFill/>
          <a:ln/>
        </p:spPr>
        <p:txBody>
          <a:bodyPr wrap="square" lIns="25400" tIns="25400" rIns="25400" bIns="25400" rtlCol="0" anchor="ctr">
            <a:noAutofit/>
          </a:bodyPr>
          <a:lstStyle/>
          <a:p>
            <a:pPr marL="0" indent="0" algn="l">
              <a:lnSpc>
                <a:spcPct val="135273"/>
              </a:lnSpc>
              <a:buNone/>
            </a:pPr>
            <a:r>
              <a:rPr lang="en-US" sz="1880" b="1" kern="0" spc="144" dirty="0">
                <a:solidFill>
                  <a:srgbClr val="201E1C">
                    <a:alpha val="60000"/>
                  </a:srgbClr>
                </a:solidFill>
                <a:latin typeface="Arial" pitchFamily="34" charset="0"/>
                <a:ea typeface="Arial" pitchFamily="34" charset="-122"/>
                <a:cs typeface="Arial" pitchFamily="34" charset="-120"/>
              </a:rPr>
              <a:t>WHEN IT MISLEADS</a:t>
            </a:r>
            <a:endParaRPr lang="en-US" sz="1880" dirty="0"/>
          </a:p>
        </p:txBody>
      </p:sp>
      <p:sp>
        <p:nvSpPr>
          <p:cNvPr id="10" name="Shape 8"/>
          <p:cNvSpPr/>
          <p:nvPr/>
        </p:nvSpPr>
        <p:spPr>
          <a:xfrm>
            <a:off x="1143000" y="4100810"/>
            <a:ext cx="1952179" cy="9525"/>
          </a:xfrm>
          <a:prstGeom prst="rect">
            <a:avLst/>
          </a:prstGeom>
          <a:solidFill>
            <a:srgbClr val="201E1E">
              <a:alpha val="40000"/>
            </a:srgbClr>
          </a:solidFill>
          <a:ln/>
        </p:spPr>
        <p:txBody>
          <a:bodyPr/>
          <a:lstStyle/>
          <a:p>
            <a:endParaRPr lang="en-US"/>
          </a:p>
        </p:txBody>
      </p:sp>
      <p:sp>
        <p:nvSpPr>
          <p:cNvPr id="11" name="Text 9"/>
          <p:cNvSpPr/>
          <p:nvPr/>
        </p:nvSpPr>
        <p:spPr>
          <a:xfrm>
            <a:off x="1143000" y="3735785"/>
            <a:ext cx="1799779" cy="206100"/>
          </a:xfrm>
          <a:prstGeom prst="rect">
            <a:avLst/>
          </a:prstGeom>
          <a:noFill/>
          <a:ln/>
        </p:spPr>
        <p:txBody>
          <a:bodyPr wrap="square" lIns="25400" tIns="25400" rIns="25400" bIns="25400" rtlCol="0" anchor="ctr">
            <a:noAutofit/>
          </a:bodyPr>
          <a:lstStyle/>
          <a:p>
            <a:pPr marL="0" indent="0" algn="l">
              <a:lnSpc>
                <a:spcPct val="133621"/>
              </a:lnSpc>
              <a:buNone/>
            </a:pPr>
            <a:r>
              <a:rPr lang="en-US" sz="1880" dirty="0">
                <a:solidFill>
                  <a:srgbClr val="201E1D"/>
                </a:solidFill>
                <a:latin typeface="Arial" pitchFamily="34" charset="0"/>
                <a:ea typeface="Arial" pitchFamily="34" charset="-122"/>
                <a:cs typeface="Arial" pitchFamily="34" charset="-120"/>
              </a:rPr>
              <a:t>Mean</a:t>
            </a:r>
            <a:endParaRPr lang="en-US" sz="1880" dirty="0"/>
          </a:p>
        </p:txBody>
      </p:sp>
      <p:sp>
        <p:nvSpPr>
          <p:cNvPr id="12" name="Shape 10"/>
          <p:cNvSpPr/>
          <p:nvPr/>
        </p:nvSpPr>
        <p:spPr>
          <a:xfrm>
            <a:off x="3095179" y="4100810"/>
            <a:ext cx="5535811" cy="9525"/>
          </a:xfrm>
          <a:prstGeom prst="rect">
            <a:avLst/>
          </a:prstGeom>
          <a:solidFill>
            <a:srgbClr val="201E1E">
              <a:alpha val="40000"/>
            </a:srgbClr>
          </a:solidFill>
          <a:ln/>
        </p:spPr>
        <p:txBody>
          <a:bodyPr/>
          <a:lstStyle/>
          <a:p>
            <a:endParaRPr lang="en-US"/>
          </a:p>
        </p:txBody>
      </p:sp>
      <p:sp>
        <p:nvSpPr>
          <p:cNvPr id="13" name="Text 11"/>
          <p:cNvSpPr/>
          <p:nvPr/>
        </p:nvSpPr>
        <p:spPr>
          <a:xfrm>
            <a:off x="3323779" y="3735785"/>
            <a:ext cx="5244685" cy="206100"/>
          </a:xfrm>
          <a:prstGeom prst="rect">
            <a:avLst/>
          </a:prstGeom>
          <a:noFill/>
          <a:ln/>
        </p:spPr>
        <p:txBody>
          <a:bodyPr wrap="square" lIns="25400" tIns="25400" rIns="25400" bIns="25400" rtlCol="0" anchor="ctr">
            <a:noAutofit/>
          </a:bodyPr>
          <a:lstStyle/>
          <a:p>
            <a:pPr marL="0" indent="0" algn="l">
              <a:lnSpc>
                <a:spcPct val="133621"/>
              </a:lnSpc>
              <a:buNone/>
            </a:pPr>
            <a:r>
              <a:rPr lang="en-US" sz="1880" dirty="0">
                <a:solidFill>
                  <a:srgbClr val="201E1D"/>
                </a:solidFill>
                <a:latin typeface="Arial" pitchFamily="34" charset="0"/>
                <a:ea typeface="Arial" pitchFamily="34" charset="-122"/>
                <a:cs typeface="Arial" pitchFamily="34" charset="-120"/>
              </a:rPr>
              <a:t>Add everything, divide by the count</a:t>
            </a:r>
            <a:endParaRPr lang="en-US" sz="1880" dirty="0"/>
          </a:p>
        </p:txBody>
      </p:sp>
      <p:sp>
        <p:nvSpPr>
          <p:cNvPr id="14" name="Shape 12"/>
          <p:cNvSpPr/>
          <p:nvPr/>
        </p:nvSpPr>
        <p:spPr>
          <a:xfrm>
            <a:off x="8630989" y="4100810"/>
            <a:ext cx="7371011" cy="9525"/>
          </a:xfrm>
          <a:prstGeom prst="rect">
            <a:avLst/>
          </a:prstGeom>
          <a:solidFill>
            <a:srgbClr val="201E1E">
              <a:alpha val="40000"/>
            </a:srgbClr>
          </a:solidFill>
          <a:ln/>
        </p:spPr>
        <p:txBody>
          <a:bodyPr/>
          <a:lstStyle/>
          <a:p>
            <a:endParaRPr lang="en-US"/>
          </a:p>
        </p:txBody>
      </p:sp>
      <p:sp>
        <p:nvSpPr>
          <p:cNvPr id="15" name="Text 13"/>
          <p:cNvSpPr/>
          <p:nvPr/>
        </p:nvSpPr>
        <p:spPr>
          <a:xfrm>
            <a:off x="8859589" y="3735785"/>
            <a:ext cx="7363541" cy="206100"/>
          </a:xfrm>
          <a:prstGeom prst="rect">
            <a:avLst/>
          </a:prstGeom>
          <a:noFill/>
          <a:ln/>
        </p:spPr>
        <p:txBody>
          <a:bodyPr wrap="square" lIns="25400" tIns="25400" rIns="25400" bIns="25400" rtlCol="0" anchor="ctr">
            <a:noAutofit/>
          </a:bodyPr>
          <a:lstStyle/>
          <a:p>
            <a:pPr marL="0" indent="0" algn="l">
              <a:lnSpc>
                <a:spcPct val="133621"/>
              </a:lnSpc>
              <a:buNone/>
            </a:pPr>
            <a:r>
              <a:rPr lang="en-US" sz="1880" dirty="0">
                <a:solidFill>
                  <a:srgbClr val="201E1D"/>
                </a:solidFill>
                <a:latin typeface="Arial" pitchFamily="34" charset="0"/>
                <a:ea typeface="Arial" pitchFamily="34" charset="-122"/>
                <a:cs typeface="Arial" pitchFamily="34" charset="-120"/>
              </a:rPr>
              <a:t>One outlier drags it. Mean latency hides the slow tail.</a:t>
            </a:r>
            <a:endParaRPr lang="en-US" sz="1880" dirty="0"/>
          </a:p>
        </p:txBody>
      </p:sp>
      <p:sp>
        <p:nvSpPr>
          <p:cNvPr id="16" name="Shape 14"/>
          <p:cNvSpPr/>
          <p:nvPr/>
        </p:nvSpPr>
        <p:spPr>
          <a:xfrm>
            <a:off x="1143000" y="5036716"/>
            <a:ext cx="1952179" cy="9525"/>
          </a:xfrm>
          <a:prstGeom prst="rect">
            <a:avLst/>
          </a:prstGeom>
          <a:solidFill>
            <a:srgbClr val="201E1E">
              <a:alpha val="40000"/>
            </a:srgbClr>
          </a:solidFill>
          <a:ln/>
        </p:spPr>
        <p:txBody>
          <a:bodyPr/>
          <a:lstStyle/>
          <a:p>
            <a:endParaRPr lang="en-US"/>
          </a:p>
        </p:txBody>
      </p:sp>
      <p:sp>
        <p:nvSpPr>
          <p:cNvPr id="17" name="Text 15"/>
          <p:cNvSpPr/>
          <p:nvPr/>
        </p:nvSpPr>
        <p:spPr>
          <a:xfrm>
            <a:off x="1143000" y="4307360"/>
            <a:ext cx="1799779" cy="570431"/>
          </a:xfrm>
          <a:prstGeom prst="rect">
            <a:avLst/>
          </a:prstGeom>
          <a:noFill/>
          <a:ln/>
        </p:spPr>
        <p:txBody>
          <a:bodyPr wrap="square" lIns="25400" tIns="25400" rIns="25400" bIns="25400" rtlCol="0" anchor="ctr">
            <a:normAutofit/>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Median</a:t>
            </a:r>
            <a:endParaRPr lang="en-US" sz="1875" dirty="0"/>
          </a:p>
        </p:txBody>
      </p:sp>
      <p:sp>
        <p:nvSpPr>
          <p:cNvPr id="18" name="Shape 16"/>
          <p:cNvSpPr/>
          <p:nvPr/>
        </p:nvSpPr>
        <p:spPr>
          <a:xfrm>
            <a:off x="3095179" y="5036716"/>
            <a:ext cx="5535811" cy="9525"/>
          </a:xfrm>
          <a:prstGeom prst="rect">
            <a:avLst/>
          </a:prstGeom>
          <a:solidFill>
            <a:srgbClr val="201E1E">
              <a:alpha val="40000"/>
            </a:srgbClr>
          </a:solidFill>
          <a:ln/>
        </p:spPr>
        <p:txBody>
          <a:bodyPr/>
          <a:lstStyle/>
          <a:p>
            <a:endParaRPr lang="en-US"/>
          </a:p>
        </p:txBody>
      </p:sp>
      <p:sp>
        <p:nvSpPr>
          <p:cNvPr id="19" name="Text 17"/>
          <p:cNvSpPr/>
          <p:nvPr/>
        </p:nvSpPr>
        <p:spPr>
          <a:xfrm>
            <a:off x="3323779" y="4307360"/>
            <a:ext cx="5244685" cy="570431"/>
          </a:xfrm>
          <a:prstGeom prst="rect">
            <a:avLst/>
          </a:prstGeom>
          <a:noFill/>
          <a:ln/>
        </p:spPr>
        <p:txBody>
          <a:bodyPr wrap="square" lIns="25400" tIns="25400" rIns="25400" bIns="25400" rtlCol="0" anchor="ctr">
            <a:normAutofit/>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The middle value when sorted</a:t>
            </a:r>
            <a:endParaRPr lang="en-US" sz="1875" dirty="0"/>
          </a:p>
        </p:txBody>
      </p:sp>
      <p:sp>
        <p:nvSpPr>
          <p:cNvPr id="20" name="Shape 18"/>
          <p:cNvSpPr/>
          <p:nvPr/>
        </p:nvSpPr>
        <p:spPr>
          <a:xfrm>
            <a:off x="8630989" y="5036716"/>
            <a:ext cx="7371011" cy="9525"/>
          </a:xfrm>
          <a:prstGeom prst="rect">
            <a:avLst/>
          </a:prstGeom>
          <a:solidFill>
            <a:srgbClr val="201E1E">
              <a:alpha val="40000"/>
            </a:srgbClr>
          </a:solidFill>
          <a:ln/>
        </p:spPr>
        <p:txBody>
          <a:bodyPr/>
          <a:lstStyle/>
          <a:p>
            <a:endParaRPr lang="en-US"/>
          </a:p>
        </p:txBody>
      </p:sp>
      <p:sp>
        <p:nvSpPr>
          <p:cNvPr id="21" name="Text 19"/>
          <p:cNvSpPr/>
          <p:nvPr/>
        </p:nvSpPr>
        <p:spPr>
          <a:xfrm>
            <a:off x="8859589" y="4307360"/>
            <a:ext cx="7363541" cy="570431"/>
          </a:xfrm>
          <a:prstGeom prst="rect">
            <a:avLst/>
          </a:prstGeom>
          <a:noFill/>
          <a:ln/>
        </p:spPr>
        <p:txBody>
          <a:bodyPr wrap="square" lIns="25400" tIns="25400" rIns="25400" bIns="25400" rtlCol="0" anchor="ctr">
            <a:normAutofit fontScale="925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Ignores the tail entirely — which is sometimes the thing you care about.</a:t>
            </a:r>
            <a:endParaRPr lang="en-US" sz="1875" dirty="0"/>
          </a:p>
        </p:txBody>
      </p:sp>
      <p:sp>
        <p:nvSpPr>
          <p:cNvPr id="22" name="Shape 20"/>
          <p:cNvSpPr/>
          <p:nvPr/>
        </p:nvSpPr>
        <p:spPr>
          <a:xfrm>
            <a:off x="1143000" y="5972621"/>
            <a:ext cx="1952179" cy="9525"/>
          </a:xfrm>
          <a:prstGeom prst="rect">
            <a:avLst/>
          </a:prstGeom>
          <a:solidFill>
            <a:srgbClr val="201E1E">
              <a:alpha val="40000"/>
            </a:srgbClr>
          </a:solidFill>
          <a:ln/>
        </p:spPr>
        <p:txBody>
          <a:bodyPr/>
          <a:lstStyle/>
          <a:p>
            <a:endParaRPr lang="en-US"/>
          </a:p>
        </p:txBody>
      </p:sp>
      <p:sp>
        <p:nvSpPr>
          <p:cNvPr id="23" name="Text 21"/>
          <p:cNvSpPr/>
          <p:nvPr/>
        </p:nvSpPr>
        <p:spPr>
          <a:xfrm>
            <a:off x="1143000" y="5243265"/>
            <a:ext cx="1799779" cy="570431"/>
          </a:xfrm>
          <a:prstGeom prst="rect">
            <a:avLst/>
          </a:prstGeom>
          <a:noFill/>
          <a:ln/>
        </p:spPr>
        <p:txBody>
          <a:bodyPr wrap="square" lIns="25400" tIns="25400" rIns="25400" bIns="25400" rtlCol="0" anchor="ctr">
            <a:normAutofit/>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Variance (σ²)</a:t>
            </a:r>
            <a:endParaRPr lang="en-US" sz="1875" dirty="0"/>
          </a:p>
        </p:txBody>
      </p:sp>
      <p:sp>
        <p:nvSpPr>
          <p:cNvPr id="24" name="Shape 22"/>
          <p:cNvSpPr/>
          <p:nvPr/>
        </p:nvSpPr>
        <p:spPr>
          <a:xfrm>
            <a:off x="3095179" y="5972621"/>
            <a:ext cx="5535811" cy="9525"/>
          </a:xfrm>
          <a:prstGeom prst="rect">
            <a:avLst/>
          </a:prstGeom>
          <a:solidFill>
            <a:srgbClr val="201E1E">
              <a:alpha val="40000"/>
            </a:srgbClr>
          </a:solidFill>
          <a:ln/>
        </p:spPr>
        <p:txBody>
          <a:bodyPr/>
          <a:lstStyle/>
          <a:p>
            <a:endParaRPr lang="en-US"/>
          </a:p>
        </p:txBody>
      </p:sp>
      <p:sp>
        <p:nvSpPr>
          <p:cNvPr id="25" name="Text 23"/>
          <p:cNvSpPr/>
          <p:nvPr/>
        </p:nvSpPr>
        <p:spPr>
          <a:xfrm>
            <a:off x="3323779" y="5243265"/>
            <a:ext cx="5244685" cy="570431"/>
          </a:xfrm>
          <a:prstGeom prst="rect">
            <a:avLst/>
          </a:prstGeom>
          <a:noFill/>
          <a:ln/>
        </p:spPr>
        <p:txBody>
          <a:bodyPr wrap="square" lIns="25400" tIns="25400" rIns="25400" bIns="25400" rtlCol="0" anchor="ctr">
            <a:normAutofit fontScale="925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The mean of the squared distances from the mean</a:t>
            </a:r>
            <a:endParaRPr lang="en-US" sz="1875" dirty="0"/>
          </a:p>
        </p:txBody>
      </p:sp>
      <p:sp>
        <p:nvSpPr>
          <p:cNvPr id="26" name="Shape 24"/>
          <p:cNvSpPr/>
          <p:nvPr/>
        </p:nvSpPr>
        <p:spPr>
          <a:xfrm>
            <a:off x="8630989" y="5972621"/>
            <a:ext cx="7371011" cy="9525"/>
          </a:xfrm>
          <a:prstGeom prst="rect">
            <a:avLst/>
          </a:prstGeom>
          <a:solidFill>
            <a:srgbClr val="201E1E">
              <a:alpha val="40000"/>
            </a:srgbClr>
          </a:solidFill>
          <a:ln/>
        </p:spPr>
        <p:txBody>
          <a:bodyPr/>
          <a:lstStyle/>
          <a:p>
            <a:endParaRPr lang="en-US"/>
          </a:p>
        </p:txBody>
      </p:sp>
      <p:sp>
        <p:nvSpPr>
          <p:cNvPr id="27" name="Text 25"/>
          <p:cNvSpPr/>
          <p:nvPr/>
        </p:nvSpPr>
        <p:spPr>
          <a:xfrm>
            <a:off x="8859589" y="5243265"/>
            <a:ext cx="7363541" cy="570431"/>
          </a:xfrm>
          <a:prstGeom prst="rect">
            <a:avLst/>
          </a:prstGeom>
          <a:noFill/>
          <a:ln/>
        </p:spPr>
        <p:txBody>
          <a:bodyPr wrap="square" lIns="25400" tIns="25400" rIns="25400" bIns="25400" rtlCol="0" anchor="ctr">
            <a:normAutofit/>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Squared units — you cannot compare it to the data directly.</a:t>
            </a:r>
            <a:endParaRPr lang="en-US" sz="1875" dirty="0"/>
          </a:p>
        </p:txBody>
      </p:sp>
      <p:sp>
        <p:nvSpPr>
          <p:cNvPr id="28" name="Shape 26"/>
          <p:cNvSpPr/>
          <p:nvPr/>
        </p:nvSpPr>
        <p:spPr>
          <a:xfrm>
            <a:off x="1143000" y="6908527"/>
            <a:ext cx="1952179" cy="9525"/>
          </a:xfrm>
          <a:prstGeom prst="rect">
            <a:avLst/>
          </a:prstGeom>
          <a:solidFill>
            <a:srgbClr val="201E1E">
              <a:alpha val="40000"/>
            </a:srgbClr>
          </a:solidFill>
          <a:ln/>
        </p:spPr>
        <p:txBody>
          <a:bodyPr/>
          <a:lstStyle/>
          <a:p>
            <a:endParaRPr lang="en-US"/>
          </a:p>
        </p:txBody>
      </p:sp>
      <p:sp>
        <p:nvSpPr>
          <p:cNvPr id="29" name="Text 27"/>
          <p:cNvSpPr/>
          <p:nvPr/>
        </p:nvSpPr>
        <p:spPr>
          <a:xfrm>
            <a:off x="1143000" y="6179171"/>
            <a:ext cx="1799779" cy="570431"/>
          </a:xfrm>
          <a:prstGeom prst="rect">
            <a:avLst/>
          </a:prstGeom>
          <a:noFill/>
          <a:ln/>
        </p:spPr>
        <p:txBody>
          <a:bodyPr wrap="square" lIns="25400" tIns="25400" rIns="25400" bIns="25400" rtlCol="0" anchor="ctr">
            <a:normAutofit/>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Std deviation (σ)</a:t>
            </a:r>
            <a:endParaRPr lang="en-US" sz="1875" dirty="0"/>
          </a:p>
        </p:txBody>
      </p:sp>
      <p:sp>
        <p:nvSpPr>
          <p:cNvPr id="30" name="Shape 28"/>
          <p:cNvSpPr/>
          <p:nvPr/>
        </p:nvSpPr>
        <p:spPr>
          <a:xfrm>
            <a:off x="3095179" y="6908527"/>
            <a:ext cx="5535811" cy="9525"/>
          </a:xfrm>
          <a:prstGeom prst="rect">
            <a:avLst/>
          </a:prstGeom>
          <a:solidFill>
            <a:srgbClr val="201E1E">
              <a:alpha val="40000"/>
            </a:srgbClr>
          </a:solidFill>
          <a:ln/>
        </p:spPr>
        <p:txBody>
          <a:bodyPr/>
          <a:lstStyle/>
          <a:p>
            <a:endParaRPr lang="en-US"/>
          </a:p>
        </p:txBody>
      </p:sp>
      <p:sp>
        <p:nvSpPr>
          <p:cNvPr id="31" name="Text 29"/>
          <p:cNvSpPr/>
          <p:nvPr/>
        </p:nvSpPr>
        <p:spPr>
          <a:xfrm>
            <a:off x="3323779" y="6179171"/>
            <a:ext cx="5244685" cy="570431"/>
          </a:xfrm>
          <a:prstGeom prst="rect">
            <a:avLst/>
          </a:prstGeom>
          <a:noFill/>
          <a:ln/>
        </p:spPr>
        <p:txBody>
          <a:bodyPr wrap="square" lIns="25400" tIns="25400" rIns="25400" bIns="25400" rtlCol="0" anchor="ctr">
            <a:normAutofit/>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The square root of variance, back in original units</a:t>
            </a:r>
            <a:endParaRPr lang="en-US" sz="1875" dirty="0"/>
          </a:p>
        </p:txBody>
      </p:sp>
      <p:sp>
        <p:nvSpPr>
          <p:cNvPr id="32" name="Shape 30"/>
          <p:cNvSpPr/>
          <p:nvPr/>
        </p:nvSpPr>
        <p:spPr>
          <a:xfrm>
            <a:off x="8630989" y="6908527"/>
            <a:ext cx="7371011" cy="9525"/>
          </a:xfrm>
          <a:prstGeom prst="rect">
            <a:avLst/>
          </a:prstGeom>
          <a:solidFill>
            <a:srgbClr val="201E1E">
              <a:alpha val="40000"/>
            </a:srgbClr>
          </a:solidFill>
          <a:ln/>
        </p:spPr>
        <p:txBody>
          <a:bodyPr/>
          <a:lstStyle/>
          <a:p>
            <a:endParaRPr lang="en-US"/>
          </a:p>
        </p:txBody>
      </p:sp>
      <p:sp>
        <p:nvSpPr>
          <p:cNvPr id="33" name="Text 31"/>
          <p:cNvSpPr/>
          <p:nvPr/>
        </p:nvSpPr>
        <p:spPr>
          <a:xfrm>
            <a:off x="8859589" y="6179171"/>
            <a:ext cx="7363541" cy="570431"/>
          </a:xfrm>
          <a:prstGeom prst="rect">
            <a:avLst/>
          </a:prstGeom>
          <a:noFill/>
          <a:ln/>
        </p:spPr>
        <p:txBody>
          <a:bodyPr wrap="square" lIns="25400" tIns="25400" rIns="25400" bIns="25400" rtlCol="0" anchor="ctr">
            <a:normAutofit/>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Assumes a roughly symmetric spread; useless on a heavy tail.</a:t>
            </a:r>
            <a:endParaRPr lang="en-US" sz="1875" dirty="0"/>
          </a:p>
        </p:txBody>
      </p:sp>
      <p:sp>
        <p:nvSpPr>
          <p:cNvPr id="34" name="Shape 32"/>
          <p:cNvSpPr/>
          <p:nvPr/>
        </p:nvSpPr>
        <p:spPr>
          <a:xfrm>
            <a:off x="1143000" y="7165628"/>
            <a:ext cx="16002000" cy="19050"/>
          </a:xfrm>
          <a:prstGeom prst="rect">
            <a:avLst/>
          </a:prstGeom>
          <a:solidFill>
            <a:srgbClr val="EC3013"/>
          </a:solidFill>
          <a:ln/>
        </p:spPr>
        <p:txBody>
          <a:bodyPr/>
          <a:lstStyle/>
          <a:p>
            <a:endParaRPr lang="en-US"/>
          </a:p>
        </p:txBody>
      </p:sp>
      <p:sp>
        <p:nvSpPr>
          <p:cNvPr id="35" name="Text 33"/>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PRO TIP</a:t>
            </a:r>
            <a:endParaRPr lang="en-US" sz="1800" dirty="0"/>
          </a:p>
        </p:txBody>
      </p:sp>
      <p:sp>
        <p:nvSpPr>
          <p:cNvPr id="36" name="Text 34"/>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Latency is the standing example. Mean response time of 400 ms sounds fine; the p95 is 3 seconds and that is the number your users feel. Report both, and never the mean alone.</a:t>
            </a:r>
            <a:endParaRPr lang="en-US" sz="2100" dirty="0"/>
          </a:p>
        </p:txBody>
      </p:sp>
      <p:pic>
        <p:nvPicPr>
          <p:cNvPr id="37" name="Image 0" descr="preencoded.png"/>
          <p:cNvPicPr>
            <a:picLocks noChangeAspect="1"/>
          </p:cNvPicPr>
          <p:nvPr/>
        </p:nvPicPr>
        <p:blipFill>
          <a:blip r:embed="rId3"/>
          <a:stretch>
            <a:fillRect/>
          </a:stretch>
        </p:blipFill>
        <p:spPr>
          <a:xfrm>
            <a:off x="1143000" y="8987210"/>
            <a:ext cx="5696471" cy="156790"/>
          </a:xfrm>
          <a:prstGeom prst="rect">
            <a:avLst/>
          </a:prstGeom>
        </p:spPr>
      </p:pic>
      <mc:AlternateContent xmlns:mc="http://schemas.openxmlformats.org/markup-compatibility/2006">
        <mc:Choice xmlns:p14="http://schemas.microsoft.com/office/powerpoint/2010/main" Requires="p14">
          <p:contentPart p14:bwMode="auto" r:id="rId4">
            <p14:nvContentPartPr>
              <p14:cNvPr id="38" name="Ink 37">
                <a:extLst>
                  <a:ext uri="{FF2B5EF4-FFF2-40B4-BE49-F238E27FC236}">
                    <a16:creationId xmlns:a16="http://schemas.microsoft.com/office/drawing/2014/main" id="{1FE61C81-E85C-07BD-2A04-499072313F8C}"/>
                  </a:ext>
                </a:extLst>
              </p14:cNvPr>
              <p14:cNvContentPartPr/>
              <p14:nvPr/>
            </p14:nvContentPartPr>
            <p14:xfrm>
              <a:off x="1905150" y="8935986"/>
              <a:ext cx="360" cy="360"/>
            </p14:xfrm>
          </p:contentPart>
        </mc:Choice>
        <mc:Fallback>
          <p:pic>
            <p:nvPicPr>
              <p:cNvPr id="38" name="Ink 37">
                <a:extLst>
                  <a:ext uri="{FF2B5EF4-FFF2-40B4-BE49-F238E27FC236}">
                    <a16:creationId xmlns:a16="http://schemas.microsoft.com/office/drawing/2014/main" id="{1FE61C81-E85C-07BD-2A04-499072313F8C}"/>
                  </a:ext>
                </a:extLst>
              </p:cNvPr>
              <p:cNvPicPr/>
              <p:nvPr/>
            </p:nvPicPr>
            <p:blipFill>
              <a:blip r:embed="rId5"/>
              <a:stretch>
                <a:fillRect/>
              </a:stretch>
            </p:blipFill>
            <p:spPr>
              <a:xfrm>
                <a:off x="1896510" y="8927346"/>
                <a:ext cx="18000" cy="18000"/>
              </a:xfrm>
              <a:prstGeom prst="rect">
                <a:avLst/>
              </a:prstGeom>
            </p:spPr>
          </p:pic>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96CC73D-4384-11F3-4A44-638D86DDE757}"/>
                  </a:ext>
                </a:extLst>
              </p14:cNvPr>
              <p14:cNvContentPartPr/>
              <p14:nvPr/>
            </p14:nvContentPartPr>
            <p14:xfrm>
              <a:off x="143310" y="7077666"/>
              <a:ext cx="420840" cy="23400"/>
            </p14:xfrm>
          </p:contentPart>
        </mc:Choice>
        <mc:Fallback>
          <p:pic>
            <p:nvPicPr>
              <p:cNvPr id="3" name="Ink 2">
                <a:extLst>
                  <a:ext uri="{FF2B5EF4-FFF2-40B4-BE49-F238E27FC236}">
                    <a16:creationId xmlns:a16="http://schemas.microsoft.com/office/drawing/2014/main" id="{196CC73D-4384-11F3-4A44-638D86DDE757}"/>
                  </a:ext>
                </a:extLst>
              </p:cNvPr>
              <p:cNvPicPr/>
              <p:nvPr/>
            </p:nvPicPr>
            <p:blipFill>
              <a:blip r:embed="rId3"/>
              <a:stretch>
                <a:fillRect/>
              </a:stretch>
            </p:blipFill>
            <p:spPr>
              <a:xfrm>
                <a:off x="134670" y="7069026"/>
                <a:ext cx="438480" cy="41040"/>
              </a:xfrm>
              <a:prstGeom prst="rect">
                <a:avLst/>
              </a:prstGeom>
            </p:spPr>
          </p:pic>
        </mc:Fallback>
      </mc:AlternateContent>
      <p:grpSp>
        <p:nvGrpSpPr>
          <p:cNvPr id="56" name="Group 55">
            <a:extLst>
              <a:ext uri="{FF2B5EF4-FFF2-40B4-BE49-F238E27FC236}">
                <a16:creationId xmlns:a16="http://schemas.microsoft.com/office/drawing/2014/main" id="{2476B47B-5290-6321-D34D-0E50B499ED87}"/>
              </a:ext>
            </a:extLst>
          </p:cNvPr>
          <p:cNvGrpSpPr/>
          <p:nvPr/>
        </p:nvGrpSpPr>
        <p:grpSpPr>
          <a:xfrm>
            <a:off x="2088390" y="2235306"/>
            <a:ext cx="8370720" cy="6848280"/>
            <a:chOff x="2088390" y="2235306"/>
            <a:chExt cx="8370720" cy="6848280"/>
          </a:xfrm>
        </p:grpSpPr>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404EB6B5-D7C1-AC5D-2094-E2389B3AEB46}"/>
                    </a:ext>
                  </a:extLst>
                </p14:cNvPr>
                <p14:cNvContentPartPr/>
                <p14:nvPr/>
              </p14:nvContentPartPr>
              <p14:xfrm>
                <a:off x="3200070" y="2943426"/>
                <a:ext cx="6730560" cy="3126960"/>
              </p14:xfrm>
            </p:contentPart>
          </mc:Choice>
          <mc:Fallback>
            <p:pic>
              <p:nvPicPr>
                <p:cNvPr id="2" name="Ink 1">
                  <a:extLst>
                    <a:ext uri="{FF2B5EF4-FFF2-40B4-BE49-F238E27FC236}">
                      <a16:creationId xmlns:a16="http://schemas.microsoft.com/office/drawing/2014/main" id="{404EB6B5-D7C1-AC5D-2094-E2389B3AEB46}"/>
                    </a:ext>
                  </a:extLst>
                </p:cNvPr>
                <p:cNvPicPr/>
                <p:nvPr/>
              </p:nvPicPr>
              <p:blipFill>
                <a:blip r:embed="rId5"/>
                <a:stretch>
                  <a:fillRect/>
                </a:stretch>
              </p:blipFill>
              <p:spPr>
                <a:xfrm>
                  <a:off x="3191070" y="2934786"/>
                  <a:ext cx="6748200" cy="3144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D2F6C216-2574-0340-4B3F-2B2886F5DB13}"/>
                    </a:ext>
                  </a:extLst>
                </p14:cNvPr>
                <p14:cNvContentPartPr/>
                <p14:nvPr/>
              </p14:nvContentPartPr>
              <p14:xfrm>
                <a:off x="2099550" y="6887586"/>
                <a:ext cx="8359560" cy="223920"/>
              </p14:xfrm>
            </p:contentPart>
          </mc:Choice>
          <mc:Fallback>
            <p:pic>
              <p:nvPicPr>
                <p:cNvPr id="4" name="Ink 3">
                  <a:extLst>
                    <a:ext uri="{FF2B5EF4-FFF2-40B4-BE49-F238E27FC236}">
                      <a16:creationId xmlns:a16="http://schemas.microsoft.com/office/drawing/2014/main" id="{D2F6C216-2574-0340-4B3F-2B2886F5DB13}"/>
                    </a:ext>
                  </a:extLst>
                </p:cNvPr>
                <p:cNvPicPr/>
                <p:nvPr/>
              </p:nvPicPr>
              <p:blipFill>
                <a:blip r:embed="rId7"/>
                <a:stretch>
                  <a:fillRect/>
                </a:stretch>
              </p:blipFill>
              <p:spPr>
                <a:xfrm>
                  <a:off x="2090550" y="6878946"/>
                  <a:ext cx="837720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FE2BE222-FD92-7F69-265C-68FBE27B2D94}"/>
                    </a:ext>
                  </a:extLst>
                </p14:cNvPr>
                <p14:cNvContentPartPr/>
                <p14:nvPr/>
              </p14:nvContentPartPr>
              <p14:xfrm>
                <a:off x="5825190" y="2235306"/>
                <a:ext cx="128160" cy="5935680"/>
              </p14:xfrm>
            </p:contentPart>
          </mc:Choice>
          <mc:Fallback>
            <p:pic>
              <p:nvPicPr>
                <p:cNvPr id="5" name="Ink 4">
                  <a:extLst>
                    <a:ext uri="{FF2B5EF4-FFF2-40B4-BE49-F238E27FC236}">
                      <a16:creationId xmlns:a16="http://schemas.microsoft.com/office/drawing/2014/main" id="{FE2BE222-FD92-7F69-265C-68FBE27B2D94}"/>
                    </a:ext>
                  </a:extLst>
                </p:cNvPr>
                <p:cNvPicPr/>
                <p:nvPr/>
              </p:nvPicPr>
              <p:blipFill>
                <a:blip r:embed="rId9"/>
                <a:stretch>
                  <a:fillRect/>
                </a:stretch>
              </p:blipFill>
              <p:spPr>
                <a:xfrm>
                  <a:off x="5816550" y="2226666"/>
                  <a:ext cx="145800" cy="59533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57EB1C00-7381-F14C-1FDE-71C64CD386F9}"/>
                    </a:ext>
                  </a:extLst>
                </p14:cNvPr>
                <p14:cNvContentPartPr/>
                <p14:nvPr/>
              </p14:nvContentPartPr>
              <p14:xfrm>
                <a:off x="6102030" y="7518666"/>
                <a:ext cx="16560" cy="266040"/>
              </p14:xfrm>
            </p:contentPart>
          </mc:Choice>
          <mc:Fallback>
            <p:pic>
              <p:nvPicPr>
                <p:cNvPr id="8" name="Ink 7">
                  <a:extLst>
                    <a:ext uri="{FF2B5EF4-FFF2-40B4-BE49-F238E27FC236}">
                      <a16:creationId xmlns:a16="http://schemas.microsoft.com/office/drawing/2014/main" id="{57EB1C00-7381-F14C-1FDE-71C64CD386F9}"/>
                    </a:ext>
                  </a:extLst>
                </p:cNvPr>
                <p:cNvPicPr/>
                <p:nvPr/>
              </p:nvPicPr>
              <p:blipFill>
                <a:blip r:embed="rId11"/>
                <a:stretch>
                  <a:fillRect/>
                </a:stretch>
              </p:blipFill>
              <p:spPr>
                <a:xfrm>
                  <a:off x="6093030" y="7510026"/>
                  <a:ext cx="34200" cy="2836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C61B1CD0-ED35-11A7-F4AB-D640B26BDC93}"/>
                    </a:ext>
                  </a:extLst>
                </p14:cNvPr>
                <p14:cNvContentPartPr/>
                <p14:nvPr/>
              </p14:nvContentPartPr>
              <p14:xfrm>
                <a:off x="6117870" y="7402746"/>
                <a:ext cx="344880" cy="467280"/>
              </p14:xfrm>
            </p:contentPart>
          </mc:Choice>
          <mc:Fallback>
            <p:pic>
              <p:nvPicPr>
                <p:cNvPr id="9" name="Ink 8">
                  <a:extLst>
                    <a:ext uri="{FF2B5EF4-FFF2-40B4-BE49-F238E27FC236}">
                      <a16:creationId xmlns:a16="http://schemas.microsoft.com/office/drawing/2014/main" id="{C61B1CD0-ED35-11A7-F4AB-D640B26BDC93}"/>
                    </a:ext>
                  </a:extLst>
                </p:cNvPr>
                <p:cNvPicPr/>
                <p:nvPr/>
              </p:nvPicPr>
              <p:blipFill>
                <a:blip r:embed="rId13"/>
                <a:stretch>
                  <a:fillRect/>
                </a:stretch>
              </p:blipFill>
              <p:spPr>
                <a:xfrm>
                  <a:off x="6109230" y="7393746"/>
                  <a:ext cx="362520" cy="4849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DF453389-94A3-F1B3-17FB-74D17976B9D0}"/>
                    </a:ext>
                  </a:extLst>
                </p14:cNvPr>
                <p14:cNvContentPartPr/>
                <p14:nvPr/>
              </p14:nvContentPartPr>
              <p14:xfrm>
                <a:off x="6270150" y="7656186"/>
                <a:ext cx="583920" cy="418320"/>
              </p14:xfrm>
            </p:contentPart>
          </mc:Choice>
          <mc:Fallback>
            <p:pic>
              <p:nvPicPr>
                <p:cNvPr id="10" name="Ink 9">
                  <a:extLst>
                    <a:ext uri="{FF2B5EF4-FFF2-40B4-BE49-F238E27FC236}">
                      <a16:creationId xmlns:a16="http://schemas.microsoft.com/office/drawing/2014/main" id="{DF453389-94A3-F1B3-17FB-74D17976B9D0}"/>
                    </a:ext>
                  </a:extLst>
                </p:cNvPr>
                <p:cNvPicPr/>
                <p:nvPr/>
              </p:nvPicPr>
              <p:blipFill>
                <a:blip r:embed="rId15"/>
                <a:stretch>
                  <a:fillRect/>
                </a:stretch>
              </p:blipFill>
              <p:spPr>
                <a:xfrm>
                  <a:off x="6261150" y="7647186"/>
                  <a:ext cx="601560" cy="4359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0025337E-1657-FA20-A33E-2D217AA0C7CA}"/>
                    </a:ext>
                  </a:extLst>
                </p14:cNvPr>
                <p14:cNvContentPartPr/>
                <p14:nvPr/>
              </p14:nvContentPartPr>
              <p14:xfrm>
                <a:off x="6371670" y="7721706"/>
                <a:ext cx="669600" cy="579600"/>
              </p14:xfrm>
            </p:contentPart>
          </mc:Choice>
          <mc:Fallback>
            <p:pic>
              <p:nvPicPr>
                <p:cNvPr id="11" name="Ink 10">
                  <a:extLst>
                    <a:ext uri="{FF2B5EF4-FFF2-40B4-BE49-F238E27FC236}">
                      <a16:creationId xmlns:a16="http://schemas.microsoft.com/office/drawing/2014/main" id="{0025337E-1657-FA20-A33E-2D217AA0C7CA}"/>
                    </a:ext>
                  </a:extLst>
                </p:cNvPr>
                <p:cNvPicPr/>
                <p:nvPr/>
              </p:nvPicPr>
              <p:blipFill>
                <a:blip r:embed="rId17"/>
                <a:stretch>
                  <a:fillRect/>
                </a:stretch>
              </p:blipFill>
              <p:spPr>
                <a:xfrm>
                  <a:off x="6363030" y="7712706"/>
                  <a:ext cx="687240" cy="5972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F8D6D70D-CF4C-1965-C9BC-9C9DFF2DFC7F}"/>
                    </a:ext>
                  </a:extLst>
                </p14:cNvPr>
                <p14:cNvContentPartPr/>
                <p14:nvPr/>
              </p14:nvContentPartPr>
              <p14:xfrm>
                <a:off x="4829430" y="3130626"/>
                <a:ext cx="216360" cy="3911040"/>
              </p14:xfrm>
            </p:contentPart>
          </mc:Choice>
          <mc:Fallback>
            <p:pic>
              <p:nvPicPr>
                <p:cNvPr id="14" name="Ink 13">
                  <a:extLst>
                    <a:ext uri="{FF2B5EF4-FFF2-40B4-BE49-F238E27FC236}">
                      <a16:creationId xmlns:a16="http://schemas.microsoft.com/office/drawing/2014/main" id="{F8D6D70D-CF4C-1965-C9BC-9C9DFF2DFC7F}"/>
                    </a:ext>
                  </a:extLst>
                </p:cNvPr>
                <p:cNvPicPr/>
                <p:nvPr/>
              </p:nvPicPr>
              <p:blipFill>
                <a:blip r:embed="rId19"/>
                <a:stretch>
                  <a:fillRect/>
                </a:stretch>
              </p:blipFill>
              <p:spPr>
                <a:xfrm>
                  <a:off x="4820430" y="3121986"/>
                  <a:ext cx="234000" cy="39286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7" name="Ink 16">
                  <a:extLst>
                    <a:ext uri="{FF2B5EF4-FFF2-40B4-BE49-F238E27FC236}">
                      <a16:creationId xmlns:a16="http://schemas.microsoft.com/office/drawing/2014/main" id="{3482CEFA-2AD6-5EF3-510A-D53702D4CC22}"/>
                    </a:ext>
                  </a:extLst>
                </p14:cNvPr>
                <p14:cNvContentPartPr/>
                <p14:nvPr/>
              </p14:nvContentPartPr>
              <p14:xfrm>
                <a:off x="6738510" y="3310986"/>
                <a:ext cx="221760" cy="3968640"/>
              </p14:xfrm>
            </p:contentPart>
          </mc:Choice>
          <mc:Fallback>
            <p:pic>
              <p:nvPicPr>
                <p:cNvPr id="17" name="Ink 16">
                  <a:extLst>
                    <a:ext uri="{FF2B5EF4-FFF2-40B4-BE49-F238E27FC236}">
                      <a16:creationId xmlns:a16="http://schemas.microsoft.com/office/drawing/2014/main" id="{3482CEFA-2AD6-5EF3-510A-D53702D4CC22}"/>
                    </a:ext>
                  </a:extLst>
                </p:cNvPr>
                <p:cNvPicPr/>
                <p:nvPr/>
              </p:nvPicPr>
              <p:blipFill>
                <a:blip r:embed="rId21"/>
                <a:stretch>
                  <a:fillRect/>
                </a:stretch>
              </p:blipFill>
              <p:spPr>
                <a:xfrm>
                  <a:off x="6729870" y="3302346"/>
                  <a:ext cx="239400" cy="39862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8" name="Ink 17">
                  <a:extLst>
                    <a:ext uri="{FF2B5EF4-FFF2-40B4-BE49-F238E27FC236}">
                      <a16:creationId xmlns:a16="http://schemas.microsoft.com/office/drawing/2014/main" id="{4A54F09C-847F-ECEE-2A35-4030E7651381}"/>
                    </a:ext>
                  </a:extLst>
                </p14:cNvPr>
                <p14:cNvContentPartPr/>
                <p14:nvPr/>
              </p14:nvContentPartPr>
              <p14:xfrm>
                <a:off x="5090070" y="7388346"/>
                <a:ext cx="241920" cy="167040"/>
              </p14:xfrm>
            </p:contentPart>
          </mc:Choice>
          <mc:Fallback>
            <p:pic>
              <p:nvPicPr>
                <p:cNvPr id="18" name="Ink 17">
                  <a:extLst>
                    <a:ext uri="{FF2B5EF4-FFF2-40B4-BE49-F238E27FC236}">
                      <a16:creationId xmlns:a16="http://schemas.microsoft.com/office/drawing/2014/main" id="{4A54F09C-847F-ECEE-2A35-4030E7651381}"/>
                    </a:ext>
                  </a:extLst>
                </p:cNvPr>
                <p:cNvPicPr/>
                <p:nvPr/>
              </p:nvPicPr>
              <p:blipFill>
                <a:blip r:embed="rId23"/>
                <a:stretch>
                  <a:fillRect/>
                </a:stretch>
              </p:blipFill>
              <p:spPr>
                <a:xfrm>
                  <a:off x="5081430" y="7379346"/>
                  <a:ext cx="25956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9" name="Ink 18">
                  <a:extLst>
                    <a:ext uri="{FF2B5EF4-FFF2-40B4-BE49-F238E27FC236}">
                      <a16:creationId xmlns:a16="http://schemas.microsoft.com/office/drawing/2014/main" id="{CEAA78C5-F4BC-D9A3-9AC2-7B55A906EA1A}"/>
                    </a:ext>
                  </a:extLst>
                </p14:cNvPr>
                <p14:cNvContentPartPr/>
                <p14:nvPr/>
              </p14:nvContentPartPr>
              <p14:xfrm>
                <a:off x="5172150" y="7322466"/>
                <a:ext cx="84240" cy="376200"/>
              </p14:xfrm>
            </p:contentPart>
          </mc:Choice>
          <mc:Fallback>
            <p:pic>
              <p:nvPicPr>
                <p:cNvPr id="19" name="Ink 18">
                  <a:extLst>
                    <a:ext uri="{FF2B5EF4-FFF2-40B4-BE49-F238E27FC236}">
                      <a16:creationId xmlns:a16="http://schemas.microsoft.com/office/drawing/2014/main" id="{CEAA78C5-F4BC-D9A3-9AC2-7B55A906EA1A}"/>
                    </a:ext>
                  </a:extLst>
                </p:cNvPr>
                <p:cNvPicPr/>
                <p:nvPr/>
              </p:nvPicPr>
              <p:blipFill>
                <a:blip r:embed="rId25"/>
                <a:stretch>
                  <a:fillRect/>
                </a:stretch>
              </p:blipFill>
              <p:spPr>
                <a:xfrm>
                  <a:off x="5163150" y="7313466"/>
                  <a:ext cx="101880" cy="3938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0" name="Ink 19">
                  <a:extLst>
                    <a:ext uri="{FF2B5EF4-FFF2-40B4-BE49-F238E27FC236}">
                      <a16:creationId xmlns:a16="http://schemas.microsoft.com/office/drawing/2014/main" id="{1CF91804-55B7-B004-1CE7-4D1A789DF1CB}"/>
                    </a:ext>
                  </a:extLst>
                </p14:cNvPr>
                <p14:cNvContentPartPr/>
                <p14:nvPr/>
              </p14:nvContentPartPr>
              <p14:xfrm>
                <a:off x="5443230" y="7148586"/>
                <a:ext cx="18000" cy="333720"/>
              </p14:xfrm>
            </p:contentPart>
          </mc:Choice>
          <mc:Fallback>
            <p:pic>
              <p:nvPicPr>
                <p:cNvPr id="20" name="Ink 19">
                  <a:extLst>
                    <a:ext uri="{FF2B5EF4-FFF2-40B4-BE49-F238E27FC236}">
                      <a16:creationId xmlns:a16="http://schemas.microsoft.com/office/drawing/2014/main" id="{1CF91804-55B7-B004-1CE7-4D1A789DF1CB}"/>
                    </a:ext>
                  </a:extLst>
                </p:cNvPr>
                <p:cNvPicPr/>
                <p:nvPr/>
              </p:nvPicPr>
              <p:blipFill>
                <a:blip r:embed="rId27"/>
                <a:stretch>
                  <a:fillRect/>
                </a:stretch>
              </p:blipFill>
              <p:spPr>
                <a:xfrm>
                  <a:off x="5434590" y="7139946"/>
                  <a:ext cx="35640" cy="3513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1" name="Ink 20">
                  <a:extLst>
                    <a:ext uri="{FF2B5EF4-FFF2-40B4-BE49-F238E27FC236}">
                      <a16:creationId xmlns:a16="http://schemas.microsoft.com/office/drawing/2014/main" id="{A79520D6-8B26-6183-5370-E753AF1B39E9}"/>
                    </a:ext>
                  </a:extLst>
                </p14:cNvPr>
                <p14:cNvContentPartPr/>
                <p14:nvPr/>
              </p14:nvContentPartPr>
              <p14:xfrm>
                <a:off x="6075030" y="7182786"/>
                <a:ext cx="209160" cy="55080"/>
              </p14:xfrm>
            </p:contentPart>
          </mc:Choice>
          <mc:Fallback>
            <p:pic>
              <p:nvPicPr>
                <p:cNvPr id="21" name="Ink 20">
                  <a:extLst>
                    <a:ext uri="{FF2B5EF4-FFF2-40B4-BE49-F238E27FC236}">
                      <a16:creationId xmlns:a16="http://schemas.microsoft.com/office/drawing/2014/main" id="{A79520D6-8B26-6183-5370-E753AF1B39E9}"/>
                    </a:ext>
                  </a:extLst>
                </p:cNvPr>
                <p:cNvPicPr/>
                <p:nvPr/>
              </p:nvPicPr>
              <p:blipFill>
                <a:blip r:embed="rId29"/>
                <a:stretch>
                  <a:fillRect/>
                </a:stretch>
              </p:blipFill>
              <p:spPr>
                <a:xfrm>
                  <a:off x="6066030" y="7173786"/>
                  <a:ext cx="226800" cy="727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2" name="Ink 21">
                  <a:extLst>
                    <a:ext uri="{FF2B5EF4-FFF2-40B4-BE49-F238E27FC236}">
                      <a16:creationId xmlns:a16="http://schemas.microsoft.com/office/drawing/2014/main" id="{E0606C6B-EF0D-3D33-267C-035E3FD40C8B}"/>
                    </a:ext>
                  </a:extLst>
                </p14:cNvPr>
                <p14:cNvContentPartPr/>
                <p14:nvPr/>
              </p14:nvContentPartPr>
              <p14:xfrm>
                <a:off x="6330270" y="6997026"/>
                <a:ext cx="35280" cy="325800"/>
              </p14:xfrm>
            </p:contentPart>
          </mc:Choice>
          <mc:Fallback>
            <p:pic>
              <p:nvPicPr>
                <p:cNvPr id="22" name="Ink 21">
                  <a:extLst>
                    <a:ext uri="{FF2B5EF4-FFF2-40B4-BE49-F238E27FC236}">
                      <a16:creationId xmlns:a16="http://schemas.microsoft.com/office/drawing/2014/main" id="{E0606C6B-EF0D-3D33-267C-035E3FD40C8B}"/>
                    </a:ext>
                  </a:extLst>
                </p:cNvPr>
                <p:cNvPicPr/>
                <p:nvPr/>
              </p:nvPicPr>
              <p:blipFill>
                <a:blip r:embed="rId31"/>
                <a:stretch>
                  <a:fillRect/>
                </a:stretch>
              </p:blipFill>
              <p:spPr>
                <a:xfrm>
                  <a:off x="6321630" y="6988026"/>
                  <a:ext cx="52920" cy="3434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5" name="Ink 24">
                  <a:extLst>
                    <a:ext uri="{FF2B5EF4-FFF2-40B4-BE49-F238E27FC236}">
                      <a16:creationId xmlns:a16="http://schemas.microsoft.com/office/drawing/2014/main" id="{50A943BF-BEA0-7B5F-6911-C8970292281B}"/>
                    </a:ext>
                  </a:extLst>
                </p14:cNvPr>
                <p14:cNvContentPartPr/>
                <p14:nvPr/>
              </p14:nvContentPartPr>
              <p14:xfrm>
                <a:off x="3933030" y="4892106"/>
                <a:ext cx="36000" cy="2208240"/>
              </p14:xfrm>
            </p:contentPart>
          </mc:Choice>
          <mc:Fallback>
            <p:pic>
              <p:nvPicPr>
                <p:cNvPr id="25" name="Ink 24">
                  <a:extLst>
                    <a:ext uri="{FF2B5EF4-FFF2-40B4-BE49-F238E27FC236}">
                      <a16:creationId xmlns:a16="http://schemas.microsoft.com/office/drawing/2014/main" id="{50A943BF-BEA0-7B5F-6911-C8970292281B}"/>
                    </a:ext>
                  </a:extLst>
                </p:cNvPr>
                <p:cNvPicPr/>
                <p:nvPr/>
              </p:nvPicPr>
              <p:blipFill>
                <a:blip r:embed="rId33"/>
                <a:stretch>
                  <a:fillRect/>
                </a:stretch>
              </p:blipFill>
              <p:spPr>
                <a:xfrm>
                  <a:off x="3924030" y="4883466"/>
                  <a:ext cx="53640" cy="22258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8" name="Ink 27">
                  <a:extLst>
                    <a:ext uri="{FF2B5EF4-FFF2-40B4-BE49-F238E27FC236}">
                      <a16:creationId xmlns:a16="http://schemas.microsoft.com/office/drawing/2014/main" id="{ED7FC602-74FC-5244-358F-07593A858507}"/>
                    </a:ext>
                  </a:extLst>
                </p14:cNvPr>
                <p14:cNvContentPartPr/>
                <p14:nvPr/>
              </p14:nvContentPartPr>
              <p14:xfrm>
                <a:off x="8154750" y="4877706"/>
                <a:ext cx="111600" cy="2570760"/>
              </p14:xfrm>
            </p:contentPart>
          </mc:Choice>
          <mc:Fallback>
            <p:pic>
              <p:nvPicPr>
                <p:cNvPr id="28" name="Ink 27">
                  <a:extLst>
                    <a:ext uri="{FF2B5EF4-FFF2-40B4-BE49-F238E27FC236}">
                      <a16:creationId xmlns:a16="http://schemas.microsoft.com/office/drawing/2014/main" id="{ED7FC602-74FC-5244-358F-07593A858507}"/>
                    </a:ext>
                  </a:extLst>
                </p:cNvPr>
                <p:cNvPicPr/>
                <p:nvPr/>
              </p:nvPicPr>
              <p:blipFill>
                <a:blip r:embed="rId35"/>
                <a:stretch>
                  <a:fillRect/>
                </a:stretch>
              </p:blipFill>
              <p:spPr>
                <a:xfrm>
                  <a:off x="8146110" y="4869066"/>
                  <a:ext cx="129240" cy="25884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1" name="Ink 30">
                  <a:extLst>
                    <a:ext uri="{FF2B5EF4-FFF2-40B4-BE49-F238E27FC236}">
                      <a16:creationId xmlns:a16="http://schemas.microsoft.com/office/drawing/2014/main" id="{792AA5A0-C133-67C2-291C-ECE2ECAEC80E}"/>
                    </a:ext>
                  </a:extLst>
                </p14:cNvPr>
                <p14:cNvContentPartPr/>
                <p14:nvPr/>
              </p14:nvContentPartPr>
              <p14:xfrm>
                <a:off x="3912150" y="8048226"/>
                <a:ext cx="1928880" cy="313200"/>
              </p14:xfrm>
            </p:contentPart>
          </mc:Choice>
          <mc:Fallback>
            <p:pic>
              <p:nvPicPr>
                <p:cNvPr id="31" name="Ink 30">
                  <a:extLst>
                    <a:ext uri="{FF2B5EF4-FFF2-40B4-BE49-F238E27FC236}">
                      <a16:creationId xmlns:a16="http://schemas.microsoft.com/office/drawing/2014/main" id="{792AA5A0-C133-67C2-291C-ECE2ECAEC80E}"/>
                    </a:ext>
                  </a:extLst>
                </p:cNvPr>
                <p:cNvPicPr/>
                <p:nvPr/>
              </p:nvPicPr>
              <p:blipFill>
                <a:blip r:embed="rId37"/>
                <a:stretch>
                  <a:fillRect/>
                </a:stretch>
              </p:blipFill>
              <p:spPr>
                <a:xfrm>
                  <a:off x="3903510" y="8039226"/>
                  <a:ext cx="1946520" cy="3308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4" name="Ink 33">
                  <a:extLst>
                    <a:ext uri="{FF2B5EF4-FFF2-40B4-BE49-F238E27FC236}">
                      <a16:creationId xmlns:a16="http://schemas.microsoft.com/office/drawing/2014/main" id="{BF1029F5-4CE7-FC6A-F4B9-138FCF40E4C1}"/>
                    </a:ext>
                  </a:extLst>
                </p14:cNvPr>
                <p14:cNvContentPartPr/>
                <p14:nvPr/>
              </p14:nvContentPartPr>
              <p14:xfrm>
                <a:off x="5142270" y="7426146"/>
                <a:ext cx="167040" cy="178560"/>
              </p14:xfrm>
            </p:contentPart>
          </mc:Choice>
          <mc:Fallback>
            <p:pic>
              <p:nvPicPr>
                <p:cNvPr id="34" name="Ink 33">
                  <a:extLst>
                    <a:ext uri="{FF2B5EF4-FFF2-40B4-BE49-F238E27FC236}">
                      <a16:creationId xmlns:a16="http://schemas.microsoft.com/office/drawing/2014/main" id="{BF1029F5-4CE7-FC6A-F4B9-138FCF40E4C1}"/>
                    </a:ext>
                  </a:extLst>
                </p:cNvPr>
                <p:cNvPicPr/>
                <p:nvPr/>
              </p:nvPicPr>
              <p:blipFill>
                <a:blip r:embed="rId39"/>
                <a:stretch>
                  <a:fillRect/>
                </a:stretch>
              </p:blipFill>
              <p:spPr>
                <a:xfrm>
                  <a:off x="5133270" y="7417506"/>
                  <a:ext cx="18468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5" name="Ink 34">
                  <a:extLst>
                    <a:ext uri="{FF2B5EF4-FFF2-40B4-BE49-F238E27FC236}">
                      <a16:creationId xmlns:a16="http://schemas.microsoft.com/office/drawing/2014/main" id="{28B0D865-873E-254C-BD11-DDB91A464CBA}"/>
                    </a:ext>
                  </a:extLst>
                </p14:cNvPr>
                <p14:cNvContentPartPr/>
                <p14:nvPr/>
              </p14:nvContentPartPr>
              <p14:xfrm>
                <a:off x="4664910" y="7224186"/>
                <a:ext cx="346680" cy="184680"/>
              </p14:xfrm>
            </p:contentPart>
          </mc:Choice>
          <mc:Fallback>
            <p:pic>
              <p:nvPicPr>
                <p:cNvPr id="35" name="Ink 34">
                  <a:extLst>
                    <a:ext uri="{FF2B5EF4-FFF2-40B4-BE49-F238E27FC236}">
                      <a16:creationId xmlns:a16="http://schemas.microsoft.com/office/drawing/2014/main" id="{28B0D865-873E-254C-BD11-DDB91A464CBA}"/>
                    </a:ext>
                  </a:extLst>
                </p:cNvPr>
                <p:cNvPicPr/>
                <p:nvPr/>
              </p:nvPicPr>
              <p:blipFill>
                <a:blip r:embed="rId41"/>
                <a:stretch>
                  <a:fillRect/>
                </a:stretch>
              </p:blipFill>
              <p:spPr>
                <a:xfrm>
                  <a:off x="4656270" y="7215546"/>
                  <a:ext cx="36432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6" name="Ink 35">
                  <a:extLst>
                    <a:ext uri="{FF2B5EF4-FFF2-40B4-BE49-F238E27FC236}">
                      <a16:creationId xmlns:a16="http://schemas.microsoft.com/office/drawing/2014/main" id="{1F9C5FDB-300A-2FC9-BFE0-E5C316A85F49}"/>
                    </a:ext>
                  </a:extLst>
                </p14:cNvPr>
                <p14:cNvContentPartPr/>
                <p14:nvPr/>
              </p14:nvContentPartPr>
              <p14:xfrm>
                <a:off x="6140550" y="7065426"/>
                <a:ext cx="52560" cy="323640"/>
              </p14:xfrm>
            </p:contentPart>
          </mc:Choice>
          <mc:Fallback>
            <p:pic>
              <p:nvPicPr>
                <p:cNvPr id="36" name="Ink 35">
                  <a:extLst>
                    <a:ext uri="{FF2B5EF4-FFF2-40B4-BE49-F238E27FC236}">
                      <a16:creationId xmlns:a16="http://schemas.microsoft.com/office/drawing/2014/main" id="{1F9C5FDB-300A-2FC9-BFE0-E5C316A85F49}"/>
                    </a:ext>
                  </a:extLst>
                </p:cNvPr>
                <p:cNvPicPr/>
                <p:nvPr/>
              </p:nvPicPr>
              <p:blipFill>
                <a:blip r:embed="rId43"/>
                <a:stretch>
                  <a:fillRect/>
                </a:stretch>
              </p:blipFill>
              <p:spPr>
                <a:xfrm>
                  <a:off x="6131910" y="7056786"/>
                  <a:ext cx="70200" cy="3412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9" name="Ink 38">
                  <a:extLst>
                    <a:ext uri="{FF2B5EF4-FFF2-40B4-BE49-F238E27FC236}">
                      <a16:creationId xmlns:a16="http://schemas.microsoft.com/office/drawing/2014/main" id="{55A0FE8C-9CFB-4EFB-25EA-B3A4AB7D92C5}"/>
                    </a:ext>
                  </a:extLst>
                </p14:cNvPr>
                <p14:cNvContentPartPr/>
                <p14:nvPr/>
              </p14:nvContentPartPr>
              <p14:xfrm>
                <a:off x="4682910" y="8941746"/>
                <a:ext cx="359280" cy="141840"/>
              </p14:xfrm>
            </p:contentPart>
          </mc:Choice>
          <mc:Fallback>
            <p:pic>
              <p:nvPicPr>
                <p:cNvPr id="39" name="Ink 38">
                  <a:extLst>
                    <a:ext uri="{FF2B5EF4-FFF2-40B4-BE49-F238E27FC236}">
                      <a16:creationId xmlns:a16="http://schemas.microsoft.com/office/drawing/2014/main" id="{55A0FE8C-9CFB-4EFB-25EA-B3A4AB7D92C5}"/>
                    </a:ext>
                  </a:extLst>
                </p:cNvPr>
                <p:cNvPicPr/>
                <p:nvPr/>
              </p:nvPicPr>
              <p:blipFill>
                <a:blip r:embed="rId45"/>
                <a:stretch>
                  <a:fillRect/>
                </a:stretch>
              </p:blipFill>
              <p:spPr>
                <a:xfrm>
                  <a:off x="4673910" y="8933106"/>
                  <a:ext cx="37692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0" name="Ink 39">
                  <a:extLst>
                    <a:ext uri="{FF2B5EF4-FFF2-40B4-BE49-F238E27FC236}">
                      <a16:creationId xmlns:a16="http://schemas.microsoft.com/office/drawing/2014/main" id="{271C7BCF-80D2-E1CA-9596-9641429DABE3}"/>
                    </a:ext>
                  </a:extLst>
                </p14:cNvPr>
                <p14:cNvContentPartPr/>
                <p14:nvPr/>
              </p14:nvContentPartPr>
              <p14:xfrm>
                <a:off x="5259990" y="8714586"/>
                <a:ext cx="591840" cy="244800"/>
              </p14:xfrm>
            </p:contentPart>
          </mc:Choice>
          <mc:Fallback>
            <p:pic>
              <p:nvPicPr>
                <p:cNvPr id="40" name="Ink 39">
                  <a:extLst>
                    <a:ext uri="{FF2B5EF4-FFF2-40B4-BE49-F238E27FC236}">
                      <a16:creationId xmlns:a16="http://schemas.microsoft.com/office/drawing/2014/main" id="{271C7BCF-80D2-E1CA-9596-9641429DABE3}"/>
                    </a:ext>
                  </a:extLst>
                </p:cNvPr>
                <p:cNvPicPr/>
                <p:nvPr/>
              </p:nvPicPr>
              <p:blipFill>
                <a:blip r:embed="rId47"/>
                <a:stretch>
                  <a:fillRect/>
                </a:stretch>
              </p:blipFill>
              <p:spPr>
                <a:xfrm>
                  <a:off x="5250990" y="8705586"/>
                  <a:ext cx="609480" cy="2624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41" name="Ink 40">
                  <a:extLst>
                    <a:ext uri="{FF2B5EF4-FFF2-40B4-BE49-F238E27FC236}">
                      <a16:creationId xmlns:a16="http://schemas.microsoft.com/office/drawing/2014/main" id="{76CED42C-0DC3-FA9A-36B6-A82B456D7A0D}"/>
                    </a:ext>
                  </a:extLst>
                </p14:cNvPr>
                <p14:cNvContentPartPr/>
                <p14:nvPr/>
              </p14:nvContentPartPr>
              <p14:xfrm>
                <a:off x="6693510" y="8474466"/>
                <a:ext cx="68760" cy="333720"/>
              </p14:xfrm>
            </p:contentPart>
          </mc:Choice>
          <mc:Fallback>
            <p:pic>
              <p:nvPicPr>
                <p:cNvPr id="41" name="Ink 40">
                  <a:extLst>
                    <a:ext uri="{FF2B5EF4-FFF2-40B4-BE49-F238E27FC236}">
                      <a16:creationId xmlns:a16="http://schemas.microsoft.com/office/drawing/2014/main" id="{76CED42C-0DC3-FA9A-36B6-A82B456D7A0D}"/>
                    </a:ext>
                  </a:extLst>
                </p:cNvPr>
                <p:cNvPicPr/>
                <p:nvPr/>
              </p:nvPicPr>
              <p:blipFill>
                <a:blip r:embed="rId49"/>
                <a:stretch>
                  <a:fillRect/>
                </a:stretch>
              </p:blipFill>
              <p:spPr>
                <a:xfrm>
                  <a:off x="6684870" y="8465466"/>
                  <a:ext cx="86400" cy="3513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2" name="Ink 41">
                  <a:extLst>
                    <a:ext uri="{FF2B5EF4-FFF2-40B4-BE49-F238E27FC236}">
                      <a16:creationId xmlns:a16="http://schemas.microsoft.com/office/drawing/2014/main" id="{C5A319FD-2827-4DFF-20EA-2E70499EF1DD}"/>
                    </a:ext>
                  </a:extLst>
                </p14:cNvPr>
                <p14:cNvContentPartPr/>
                <p14:nvPr/>
              </p14:nvContentPartPr>
              <p14:xfrm>
                <a:off x="6591270" y="8600466"/>
                <a:ext cx="209880" cy="95400"/>
              </p14:xfrm>
            </p:contentPart>
          </mc:Choice>
          <mc:Fallback>
            <p:pic>
              <p:nvPicPr>
                <p:cNvPr id="42" name="Ink 41">
                  <a:extLst>
                    <a:ext uri="{FF2B5EF4-FFF2-40B4-BE49-F238E27FC236}">
                      <a16:creationId xmlns:a16="http://schemas.microsoft.com/office/drawing/2014/main" id="{C5A319FD-2827-4DFF-20EA-2E70499EF1DD}"/>
                    </a:ext>
                  </a:extLst>
                </p:cNvPr>
                <p:cNvPicPr/>
                <p:nvPr/>
              </p:nvPicPr>
              <p:blipFill>
                <a:blip r:embed="rId51"/>
                <a:stretch>
                  <a:fillRect/>
                </a:stretch>
              </p:blipFill>
              <p:spPr>
                <a:xfrm>
                  <a:off x="6582630" y="8591826"/>
                  <a:ext cx="22752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43" name="Ink 42">
                  <a:extLst>
                    <a:ext uri="{FF2B5EF4-FFF2-40B4-BE49-F238E27FC236}">
                      <a16:creationId xmlns:a16="http://schemas.microsoft.com/office/drawing/2014/main" id="{578A1834-E796-AA3B-482F-256B68BA83C1}"/>
                    </a:ext>
                  </a:extLst>
                </p14:cNvPr>
                <p14:cNvContentPartPr/>
                <p14:nvPr/>
              </p14:nvContentPartPr>
              <p14:xfrm>
                <a:off x="6917430" y="8376186"/>
                <a:ext cx="391680" cy="289440"/>
              </p14:xfrm>
            </p:contentPart>
          </mc:Choice>
          <mc:Fallback>
            <p:pic>
              <p:nvPicPr>
                <p:cNvPr id="43" name="Ink 42">
                  <a:extLst>
                    <a:ext uri="{FF2B5EF4-FFF2-40B4-BE49-F238E27FC236}">
                      <a16:creationId xmlns:a16="http://schemas.microsoft.com/office/drawing/2014/main" id="{578A1834-E796-AA3B-482F-256B68BA83C1}"/>
                    </a:ext>
                  </a:extLst>
                </p:cNvPr>
                <p:cNvPicPr/>
                <p:nvPr/>
              </p:nvPicPr>
              <p:blipFill>
                <a:blip r:embed="rId53"/>
                <a:stretch>
                  <a:fillRect/>
                </a:stretch>
              </p:blipFill>
              <p:spPr>
                <a:xfrm>
                  <a:off x="6908430" y="8367546"/>
                  <a:ext cx="409320" cy="3070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8" name="Ink 47">
                  <a:extLst>
                    <a:ext uri="{FF2B5EF4-FFF2-40B4-BE49-F238E27FC236}">
                      <a16:creationId xmlns:a16="http://schemas.microsoft.com/office/drawing/2014/main" id="{FE94A9DD-530D-BD35-68E1-932EE2D225F1}"/>
                    </a:ext>
                  </a:extLst>
                </p14:cNvPr>
                <p14:cNvContentPartPr/>
                <p14:nvPr/>
              </p14:nvContentPartPr>
              <p14:xfrm>
                <a:off x="9650550" y="5370546"/>
                <a:ext cx="58680" cy="2465280"/>
              </p14:xfrm>
            </p:contentPart>
          </mc:Choice>
          <mc:Fallback>
            <p:pic>
              <p:nvPicPr>
                <p:cNvPr id="48" name="Ink 47">
                  <a:extLst>
                    <a:ext uri="{FF2B5EF4-FFF2-40B4-BE49-F238E27FC236}">
                      <a16:creationId xmlns:a16="http://schemas.microsoft.com/office/drawing/2014/main" id="{FE94A9DD-530D-BD35-68E1-932EE2D225F1}"/>
                    </a:ext>
                  </a:extLst>
                </p:cNvPr>
                <p:cNvPicPr/>
                <p:nvPr/>
              </p:nvPicPr>
              <p:blipFill>
                <a:blip r:embed="rId55"/>
                <a:stretch>
                  <a:fillRect/>
                </a:stretch>
              </p:blipFill>
              <p:spPr>
                <a:xfrm>
                  <a:off x="9641910" y="5361546"/>
                  <a:ext cx="76320" cy="24829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1" name="Ink 50">
                  <a:extLst>
                    <a:ext uri="{FF2B5EF4-FFF2-40B4-BE49-F238E27FC236}">
                      <a16:creationId xmlns:a16="http://schemas.microsoft.com/office/drawing/2014/main" id="{10B5B63B-B554-7C69-F559-BE7E9BFFE0FD}"/>
                    </a:ext>
                  </a:extLst>
                </p14:cNvPr>
                <p14:cNvContentPartPr/>
                <p14:nvPr/>
              </p14:nvContentPartPr>
              <p14:xfrm>
                <a:off x="3444510" y="5557386"/>
                <a:ext cx="1800" cy="1650600"/>
              </p14:xfrm>
            </p:contentPart>
          </mc:Choice>
          <mc:Fallback>
            <p:pic>
              <p:nvPicPr>
                <p:cNvPr id="51" name="Ink 50">
                  <a:extLst>
                    <a:ext uri="{FF2B5EF4-FFF2-40B4-BE49-F238E27FC236}">
                      <a16:creationId xmlns:a16="http://schemas.microsoft.com/office/drawing/2014/main" id="{10B5B63B-B554-7C69-F559-BE7E9BFFE0FD}"/>
                    </a:ext>
                  </a:extLst>
                </p:cNvPr>
                <p:cNvPicPr/>
                <p:nvPr/>
              </p:nvPicPr>
              <p:blipFill>
                <a:blip r:embed="rId57"/>
                <a:stretch>
                  <a:fillRect/>
                </a:stretch>
              </p:blipFill>
              <p:spPr>
                <a:xfrm>
                  <a:off x="3435870" y="5548746"/>
                  <a:ext cx="19440" cy="16682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4" name="Ink 53">
                  <a:extLst>
                    <a:ext uri="{FF2B5EF4-FFF2-40B4-BE49-F238E27FC236}">
                      <a16:creationId xmlns:a16="http://schemas.microsoft.com/office/drawing/2014/main" id="{7360AB84-653F-7934-992C-7727B6F5D14F}"/>
                    </a:ext>
                  </a:extLst>
                </p14:cNvPr>
                <p14:cNvContentPartPr/>
                <p14:nvPr/>
              </p14:nvContentPartPr>
              <p14:xfrm>
                <a:off x="2088390" y="6103866"/>
                <a:ext cx="1251360" cy="61200"/>
              </p14:xfrm>
            </p:contentPart>
          </mc:Choice>
          <mc:Fallback>
            <p:pic>
              <p:nvPicPr>
                <p:cNvPr id="54" name="Ink 53">
                  <a:extLst>
                    <a:ext uri="{FF2B5EF4-FFF2-40B4-BE49-F238E27FC236}">
                      <a16:creationId xmlns:a16="http://schemas.microsoft.com/office/drawing/2014/main" id="{7360AB84-653F-7934-992C-7727B6F5D14F}"/>
                    </a:ext>
                  </a:extLst>
                </p:cNvPr>
                <p:cNvPicPr/>
                <p:nvPr/>
              </p:nvPicPr>
              <p:blipFill>
                <a:blip r:embed="rId59"/>
                <a:stretch>
                  <a:fillRect/>
                </a:stretch>
              </p:blipFill>
              <p:spPr>
                <a:xfrm>
                  <a:off x="2079750" y="6095226"/>
                  <a:ext cx="1269000" cy="78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0">
            <p14:nvContentPartPr>
              <p14:cNvPr id="57" name="Ink 56">
                <a:extLst>
                  <a:ext uri="{FF2B5EF4-FFF2-40B4-BE49-F238E27FC236}">
                    <a16:creationId xmlns:a16="http://schemas.microsoft.com/office/drawing/2014/main" id="{A79AC2C7-3D81-FD0A-36B7-96191BE78E3E}"/>
                  </a:ext>
                </a:extLst>
              </p14:cNvPr>
              <p14:cNvContentPartPr/>
              <p14:nvPr/>
            </p14:nvContentPartPr>
            <p14:xfrm>
              <a:off x="9845310" y="5675826"/>
              <a:ext cx="1387440" cy="224640"/>
            </p14:xfrm>
          </p:contentPart>
        </mc:Choice>
        <mc:Fallback>
          <p:pic>
            <p:nvPicPr>
              <p:cNvPr id="57" name="Ink 56">
                <a:extLst>
                  <a:ext uri="{FF2B5EF4-FFF2-40B4-BE49-F238E27FC236}">
                    <a16:creationId xmlns:a16="http://schemas.microsoft.com/office/drawing/2014/main" id="{A79AC2C7-3D81-FD0A-36B7-96191BE78E3E}"/>
                  </a:ext>
                </a:extLst>
              </p:cNvPr>
              <p:cNvPicPr/>
              <p:nvPr/>
            </p:nvPicPr>
            <p:blipFill>
              <a:blip r:embed="rId61"/>
              <a:stretch>
                <a:fillRect/>
              </a:stretch>
            </p:blipFill>
            <p:spPr>
              <a:xfrm>
                <a:off x="9836310" y="5667186"/>
                <a:ext cx="1405080" cy="242280"/>
              </a:xfrm>
              <a:prstGeom prst="rect">
                <a:avLst/>
              </a:prstGeom>
            </p:spPr>
          </p:pic>
        </mc:Fallback>
      </mc:AlternateContent>
      <p:grpSp>
        <p:nvGrpSpPr>
          <p:cNvPr id="62" name="Group 61">
            <a:extLst>
              <a:ext uri="{FF2B5EF4-FFF2-40B4-BE49-F238E27FC236}">
                <a16:creationId xmlns:a16="http://schemas.microsoft.com/office/drawing/2014/main" id="{61E55D09-3853-7172-152E-D0303DDDD5D3}"/>
              </a:ext>
            </a:extLst>
          </p:cNvPr>
          <p:cNvGrpSpPr/>
          <p:nvPr/>
        </p:nvGrpSpPr>
        <p:grpSpPr>
          <a:xfrm>
            <a:off x="3488430" y="9216066"/>
            <a:ext cx="2525400" cy="754920"/>
            <a:chOff x="3488430" y="9216066"/>
            <a:chExt cx="2525400" cy="754920"/>
          </a:xfrm>
        </p:grpSpPr>
        <mc:AlternateContent xmlns:mc="http://schemas.openxmlformats.org/markup-compatibility/2006">
          <mc:Choice xmlns:p14="http://schemas.microsoft.com/office/powerpoint/2010/main" Requires="p14">
            <p:contentPart p14:bwMode="auto" r:id="rId62">
              <p14:nvContentPartPr>
                <p14:cNvPr id="58" name="Ink 57">
                  <a:extLst>
                    <a:ext uri="{FF2B5EF4-FFF2-40B4-BE49-F238E27FC236}">
                      <a16:creationId xmlns:a16="http://schemas.microsoft.com/office/drawing/2014/main" id="{64769002-B21F-2B70-1D31-F926CABEE689}"/>
                    </a:ext>
                  </a:extLst>
                </p14:cNvPr>
                <p14:cNvContentPartPr/>
                <p14:nvPr/>
              </p14:nvContentPartPr>
              <p14:xfrm>
                <a:off x="3488430" y="9216066"/>
                <a:ext cx="2525400" cy="446400"/>
              </p14:xfrm>
            </p:contentPart>
          </mc:Choice>
          <mc:Fallback>
            <p:pic>
              <p:nvPicPr>
                <p:cNvPr id="58" name="Ink 57">
                  <a:extLst>
                    <a:ext uri="{FF2B5EF4-FFF2-40B4-BE49-F238E27FC236}">
                      <a16:creationId xmlns:a16="http://schemas.microsoft.com/office/drawing/2014/main" id="{64769002-B21F-2B70-1D31-F926CABEE689}"/>
                    </a:ext>
                  </a:extLst>
                </p:cNvPr>
                <p:cNvPicPr/>
                <p:nvPr/>
              </p:nvPicPr>
              <p:blipFill>
                <a:blip r:embed="rId63"/>
                <a:stretch>
                  <a:fillRect/>
                </a:stretch>
              </p:blipFill>
              <p:spPr>
                <a:xfrm>
                  <a:off x="3479790" y="9207066"/>
                  <a:ext cx="2543040" cy="4640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59" name="Ink 58">
                  <a:extLst>
                    <a:ext uri="{FF2B5EF4-FFF2-40B4-BE49-F238E27FC236}">
                      <a16:creationId xmlns:a16="http://schemas.microsoft.com/office/drawing/2014/main" id="{D30E09F2-E103-AEFC-90A0-713D3D8F78DF}"/>
                    </a:ext>
                  </a:extLst>
                </p14:cNvPr>
                <p14:cNvContentPartPr/>
                <p14:nvPr/>
              </p14:nvContentPartPr>
              <p14:xfrm>
                <a:off x="4633590" y="9890706"/>
                <a:ext cx="276480" cy="360"/>
              </p14:xfrm>
            </p:contentPart>
          </mc:Choice>
          <mc:Fallback>
            <p:pic>
              <p:nvPicPr>
                <p:cNvPr id="59" name="Ink 58">
                  <a:extLst>
                    <a:ext uri="{FF2B5EF4-FFF2-40B4-BE49-F238E27FC236}">
                      <a16:creationId xmlns:a16="http://schemas.microsoft.com/office/drawing/2014/main" id="{D30E09F2-E103-AEFC-90A0-713D3D8F78DF}"/>
                    </a:ext>
                  </a:extLst>
                </p:cNvPr>
                <p:cNvPicPr/>
                <p:nvPr/>
              </p:nvPicPr>
              <p:blipFill>
                <a:blip r:embed="rId65"/>
                <a:stretch>
                  <a:fillRect/>
                </a:stretch>
              </p:blipFill>
              <p:spPr>
                <a:xfrm>
                  <a:off x="4624950" y="9882066"/>
                  <a:ext cx="29412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60" name="Ink 59">
                  <a:extLst>
                    <a:ext uri="{FF2B5EF4-FFF2-40B4-BE49-F238E27FC236}">
                      <a16:creationId xmlns:a16="http://schemas.microsoft.com/office/drawing/2014/main" id="{E10F9E65-9983-EA4B-CAAF-355E7A101FD1}"/>
                    </a:ext>
                  </a:extLst>
                </p14:cNvPr>
                <p14:cNvContentPartPr/>
                <p14:nvPr/>
              </p14:nvContentPartPr>
              <p14:xfrm>
                <a:off x="5250990" y="9733026"/>
                <a:ext cx="268560" cy="237960"/>
              </p14:xfrm>
            </p:contentPart>
          </mc:Choice>
          <mc:Fallback>
            <p:pic>
              <p:nvPicPr>
                <p:cNvPr id="60" name="Ink 59">
                  <a:extLst>
                    <a:ext uri="{FF2B5EF4-FFF2-40B4-BE49-F238E27FC236}">
                      <a16:creationId xmlns:a16="http://schemas.microsoft.com/office/drawing/2014/main" id="{E10F9E65-9983-EA4B-CAAF-355E7A101FD1}"/>
                    </a:ext>
                  </a:extLst>
                </p:cNvPr>
                <p:cNvPicPr/>
                <p:nvPr/>
              </p:nvPicPr>
              <p:blipFill>
                <a:blip r:embed="rId67"/>
                <a:stretch>
                  <a:fillRect/>
                </a:stretch>
              </p:blipFill>
              <p:spPr>
                <a:xfrm>
                  <a:off x="5241990" y="9724026"/>
                  <a:ext cx="286200" cy="255600"/>
                </a:xfrm>
                <a:prstGeom prst="rect">
                  <a:avLst/>
                </a:prstGeom>
              </p:spPr>
            </p:pic>
          </mc:Fallback>
        </mc:AlternateContent>
      </p:grpSp>
      <p:grpSp>
        <p:nvGrpSpPr>
          <p:cNvPr id="69" name="Group 68">
            <a:extLst>
              <a:ext uri="{FF2B5EF4-FFF2-40B4-BE49-F238E27FC236}">
                <a16:creationId xmlns:a16="http://schemas.microsoft.com/office/drawing/2014/main" id="{3AF3A97D-690A-6B98-5473-92D03349BD6C}"/>
              </a:ext>
            </a:extLst>
          </p:cNvPr>
          <p:cNvGrpSpPr/>
          <p:nvPr/>
        </p:nvGrpSpPr>
        <p:grpSpPr>
          <a:xfrm>
            <a:off x="6641310" y="8932386"/>
            <a:ext cx="4056480" cy="1005480"/>
            <a:chOff x="6641310" y="8932386"/>
            <a:chExt cx="4056480" cy="1005480"/>
          </a:xfrm>
        </p:grpSpPr>
        <mc:AlternateContent xmlns:mc="http://schemas.openxmlformats.org/markup-compatibility/2006">
          <mc:Choice xmlns:p14="http://schemas.microsoft.com/office/powerpoint/2010/main" Requires="p14">
            <p:contentPart p14:bwMode="auto" r:id="rId68">
              <p14:nvContentPartPr>
                <p14:cNvPr id="63" name="Ink 62">
                  <a:extLst>
                    <a:ext uri="{FF2B5EF4-FFF2-40B4-BE49-F238E27FC236}">
                      <a16:creationId xmlns:a16="http://schemas.microsoft.com/office/drawing/2014/main" id="{F1749C8C-182F-C66F-4147-B363E6C892DC}"/>
                    </a:ext>
                  </a:extLst>
                </p14:cNvPr>
                <p14:cNvContentPartPr/>
                <p14:nvPr/>
              </p14:nvContentPartPr>
              <p14:xfrm>
                <a:off x="6641310" y="8932386"/>
                <a:ext cx="3314520" cy="707760"/>
              </p14:xfrm>
            </p:contentPart>
          </mc:Choice>
          <mc:Fallback>
            <p:pic>
              <p:nvPicPr>
                <p:cNvPr id="63" name="Ink 62">
                  <a:extLst>
                    <a:ext uri="{FF2B5EF4-FFF2-40B4-BE49-F238E27FC236}">
                      <a16:creationId xmlns:a16="http://schemas.microsoft.com/office/drawing/2014/main" id="{F1749C8C-182F-C66F-4147-B363E6C892DC}"/>
                    </a:ext>
                  </a:extLst>
                </p:cNvPr>
                <p:cNvPicPr/>
                <p:nvPr/>
              </p:nvPicPr>
              <p:blipFill>
                <a:blip r:embed="rId69"/>
                <a:stretch>
                  <a:fillRect/>
                </a:stretch>
              </p:blipFill>
              <p:spPr>
                <a:xfrm>
                  <a:off x="6632670" y="8923746"/>
                  <a:ext cx="3332160" cy="7254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4" name="Ink 63">
                  <a:extLst>
                    <a:ext uri="{FF2B5EF4-FFF2-40B4-BE49-F238E27FC236}">
                      <a16:creationId xmlns:a16="http://schemas.microsoft.com/office/drawing/2014/main" id="{B7EFAA5C-EED3-1A73-43D5-A98A81C7FC64}"/>
                    </a:ext>
                  </a:extLst>
                </p14:cNvPr>
                <p14:cNvContentPartPr/>
                <p14:nvPr/>
              </p14:nvContentPartPr>
              <p14:xfrm>
                <a:off x="9528870" y="9600186"/>
                <a:ext cx="29160" cy="321120"/>
              </p14:xfrm>
            </p:contentPart>
          </mc:Choice>
          <mc:Fallback>
            <p:pic>
              <p:nvPicPr>
                <p:cNvPr id="64" name="Ink 63">
                  <a:extLst>
                    <a:ext uri="{FF2B5EF4-FFF2-40B4-BE49-F238E27FC236}">
                      <a16:creationId xmlns:a16="http://schemas.microsoft.com/office/drawing/2014/main" id="{B7EFAA5C-EED3-1A73-43D5-A98A81C7FC64}"/>
                    </a:ext>
                  </a:extLst>
                </p:cNvPr>
                <p:cNvPicPr/>
                <p:nvPr/>
              </p:nvPicPr>
              <p:blipFill>
                <a:blip r:embed="rId71"/>
                <a:stretch>
                  <a:fillRect/>
                </a:stretch>
              </p:blipFill>
              <p:spPr>
                <a:xfrm>
                  <a:off x="9519870" y="9591186"/>
                  <a:ext cx="46800" cy="3387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5" name="Ink 64">
                  <a:extLst>
                    <a:ext uri="{FF2B5EF4-FFF2-40B4-BE49-F238E27FC236}">
                      <a16:creationId xmlns:a16="http://schemas.microsoft.com/office/drawing/2014/main" id="{FD790EDF-A20C-B709-525F-5E0EED3D2D90}"/>
                    </a:ext>
                  </a:extLst>
                </p14:cNvPr>
                <p14:cNvContentPartPr/>
                <p14:nvPr/>
              </p14:nvContentPartPr>
              <p14:xfrm>
                <a:off x="9446790" y="9802506"/>
                <a:ext cx="315360" cy="28800"/>
              </p14:xfrm>
            </p:contentPart>
          </mc:Choice>
          <mc:Fallback>
            <p:pic>
              <p:nvPicPr>
                <p:cNvPr id="65" name="Ink 64">
                  <a:extLst>
                    <a:ext uri="{FF2B5EF4-FFF2-40B4-BE49-F238E27FC236}">
                      <a16:creationId xmlns:a16="http://schemas.microsoft.com/office/drawing/2014/main" id="{FD790EDF-A20C-B709-525F-5E0EED3D2D90}"/>
                    </a:ext>
                  </a:extLst>
                </p:cNvPr>
                <p:cNvPicPr/>
                <p:nvPr/>
              </p:nvPicPr>
              <p:blipFill>
                <a:blip r:embed="rId73"/>
                <a:stretch>
                  <a:fillRect/>
                </a:stretch>
              </p:blipFill>
              <p:spPr>
                <a:xfrm>
                  <a:off x="9438150" y="9793506"/>
                  <a:ext cx="33300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66" name="Ink 65">
                  <a:extLst>
                    <a:ext uri="{FF2B5EF4-FFF2-40B4-BE49-F238E27FC236}">
                      <a16:creationId xmlns:a16="http://schemas.microsoft.com/office/drawing/2014/main" id="{5854D5F8-0EB2-3A83-3013-D596AC257FB1}"/>
                    </a:ext>
                  </a:extLst>
                </p14:cNvPr>
                <p14:cNvContentPartPr/>
                <p14:nvPr/>
              </p14:nvContentPartPr>
              <p14:xfrm>
                <a:off x="9415470" y="9460146"/>
                <a:ext cx="329040" cy="106920"/>
              </p14:xfrm>
            </p:contentPart>
          </mc:Choice>
          <mc:Fallback>
            <p:pic>
              <p:nvPicPr>
                <p:cNvPr id="66" name="Ink 65">
                  <a:extLst>
                    <a:ext uri="{FF2B5EF4-FFF2-40B4-BE49-F238E27FC236}">
                      <a16:creationId xmlns:a16="http://schemas.microsoft.com/office/drawing/2014/main" id="{5854D5F8-0EB2-3A83-3013-D596AC257FB1}"/>
                    </a:ext>
                  </a:extLst>
                </p:cNvPr>
                <p:cNvPicPr/>
                <p:nvPr/>
              </p:nvPicPr>
              <p:blipFill>
                <a:blip r:embed="rId75"/>
                <a:stretch>
                  <a:fillRect/>
                </a:stretch>
              </p:blipFill>
              <p:spPr>
                <a:xfrm>
                  <a:off x="9406830" y="9451506"/>
                  <a:ext cx="34668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67" name="Ink 66">
                  <a:extLst>
                    <a:ext uri="{FF2B5EF4-FFF2-40B4-BE49-F238E27FC236}">
                      <a16:creationId xmlns:a16="http://schemas.microsoft.com/office/drawing/2014/main" id="{1334DFDD-93EC-B250-F8F8-9D0A4FF6645C}"/>
                    </a:ext>
                  </a:extLst>
                </p14:cNvPr>
                <p14:cNvContentPartPr/>
                <p14:nvPr/>
              </p14:nvContentPartPr>
              <p14:xfrm>
                <a:off x="10353630" y="9420186"/>
                <a:ext cx="344160" cy="517680"/>
              </p14:xfrm>
            </p:contentPart>
          </mc:Choice>
          <mc:Fallback>
            <p:pic>
              <p:nvPicPr>
                <p:cNvPr id="67" name="Ink 66">
                  <a:extLst>
                    <a:ext uri="{FF2B5EF4-FFF2-40B4-BE49-F238E27FC236}">
                      <a16:creationId xmlns:a16="http://schemas.microsoft.com/office/drawing/2014/main" id="{1334DFDD-93EC-B250-F8F8-9D0A4FF6645C}"/>
                    </a:ext>
                  </a:extLst>
                </p:cNvPr>
                <p:cNvPicPr/>
                <p:nvPr/>
              </p:nvPicPr>
              <p:blipFill>
                <a:blip r:embed="rId77"/>
                <a:stretch>
                  <a:fillRect/>
                </a:stretch>
              </p:blipFill>
              <p:spPr>
                <a:xfrm>
                  <a:off x="10344990" y="9411186"/>
                  <a:ext cx="361800" cy="535320"/>
                </a:xfrm>
                <a:prstGeom prst="rect">
                  <a:avLst/>
                </a:prstGeom>
              </p:spPr>
            </p:pic>
          </mc:Fallback>
        </mc:AlternateContent>
      </p:grpSp>
    </p:spTree>
    <p:extLst>
      <p:ext uri="{BB962C8B-B14F-4D97-AF65-F5344CB8AC3E}">
        <p14:creationId xmlns:p14="http://schemas.microsoft.com/office/powerpoint/2010/main" val="20242206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EEAF05A-B8E5-0666-4163-3E030D35FCE2}"/>
                  </a:ext>
                </a:extLst>
              </p14:cNvPr>
              <p14:cNvContentPartPr/>
              <p14:nvPr/>
            </p14:nvContentPartPr>
            <p14:xfrm>
              <a:off x="1519230" y="4959066"/>
              <a:ext cx="360" cy="360"/>
            </p14:xfrm>
          </p:contentPart>
        </mc:Choice>
        <mc:Fallback>
          <p:pic>
            <p:nvPicPr>
              <p:cNvPr id="2" name="Ink 1">
                <a:extLst>
                  <a:ext uri="{FF2B5EF4-FFF2-40B4-BE49-F238E27FC236}">
                    <a16:creationId xmlns:a16="http://schemas.microsoft.com/office/drawing/2014/main" id="{FEEAF05A-B8E5-0666-4163-3E030D35FCE2}"/>
                  </a:ext>
                </a:extLst>
              </p:cNvPr>
              <p:cNvPicPr/>
              <p:nvPr/>
            </p:nvPicPr>
            <p:blipFill>
              <a:blip r:embed="rId3"/>
              <a:stretch>
                <a:fillRect/>
              </a:stretch>
            </p:blipFill>
            <p:spPr>
              <a:xfrm>
                <a:off x="1510230" y="4950066"/>
                <a:ext cx="18000" cy="18000"/>
              </a:xfrm>
              <a:prstGeom prst="rect">
                <a:avLst/>
              </a:prstGeom>
            </p:spPr>
          </p:pic>
        </mc:Fallback>
      </mc:AlternateContent>
      <p:grpSp>
        <p:nvGrpSpPr>
          <p:cNvPr id="13" name="Group 12">
            <a:extLst>
              <a:ext uri="{FF2B5EF4-FFF2-40B4-BE49-F238E27FC236}">
                <a16:creationId xmlns:a16="http://schemas.microsoft.com/office/drawing/2014/main" id="{07B665A5-F0DB-DDB0-C3B7-7883706B8985}"/>
              </a:ext>
            </a:extLst>
          </p:cNvPr>
          <p:cNvGrpSpPr/>
          <p:nvPr/>
        </p:nvGrpSpPr>
        <p:grpSpPr>
          <a:xfrm>
            <a:off x="621390" y="813666"/>
            <a:ext cx="14378760" cy="6080040"/>
            <a:chOff x="621390" y="813666"/>
            <a:chExt cx="14378760" cy="6080040"/>
          </a:xfrm>
        </p:grpSpPr>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D09FE342-7E5C-C554-2A85-5ED1AA7BC480}"/>
                    </a:ext>
                  </a:extLst>
                </p14:cNvPr>
                <p14:cNvContentPartPr/>
                <p14:nvPr/>
              </p14:nvContentPartPr>
              <p14:xfrm>
                <a:off x="1927110" y="1676586"/>
                <a:ext cx="13073040" cy="3965040"/>
              </p14:xfrm>
            </p:contentPart>
          </mc:Choice>
          <mc:Fallback>
            <p:pic>
              <p:nvPicPr>
                <p:cNvPr id="3" name="Ink 2">
                  <a:extLst>
                    <a:ext uri="{FF2B5EF4-FFF2-40B4-BE49-F238E27FC236}">
                      <a16:creationId xmlns:a16="http://schemas.microsoft.com/office/drawing/2014/main" id="{D09FE342-7E5C-C554-2A85-5ED1AA7BC480}"/>
                    </a:ext>
                  </a:extLst>
                </p:cNvPr>
                <p:cNvPicPr/>
                <p:nvPr/>
              </p:nvPicPr>
              <p:blipFill>
                <a:blip r:embed="rId5"/>
                <a:stretch>
                  <a:fillRect/>
                </a:stretch>
              </p:blipFill>
              <p:spPr>
                <a:xfrm>
                  <a:off x="1918110" y="1667946"/>
                  <a:ext cx="13090680" cy="39826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DE896F2E-BD8D-05AE-267C-0716446E7793}"/>
                    </a:ext>
                  </a:extLst>
                </p14:cNvPr>
                <p14:cNvContentPartPr/>
                <p14:nvPr/>
              </p14:nvContentPartPr>
              <p14:xfrm>
                <a:off x="621390" y="5674746"/>
                <a:ext cx="1441440" cy="283320"/>
              </p14:xfrm>
            </p:contentPart>
          </mc:Choice>
          <mc:Fallback>
            <p:pic>
              <p:nvPicPr>
                <p:cNvPr id="4" name="Ink 3">
                  <a:extLst>
                    <a:ext uri="{FF2B5EF4-FFF2-40B4-BE49-F238E27FC236}">
                      <a16:creationId xmlns:a16="http://schemas.microsoft.com/office/drawing/2014/main" id="{DE896F2E-BD8D-05AE-267C-0716446E7793}"/>
                    </a:ext>
                  </a:extLst>
                </p:cNvPr>
                <p:cNvPicPr/>
                <p:nvPr/>
              </p:nvPicPr>
              <p:blipFill>
                <a:blip r:embed="rId7"/>
                <a:stretch>
                  <a:fillRect/>
                </a:stretch>
              </p:blipFill>
              <p:spPr>
                <a:xfrm>
                  <a:off x="612750" y="5666106"/>
                  <a:ext cx="1459080" cy="3009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59532301-2BD1-F9CA-D0F8-1A56781CDFEC}"/>
                    </a:ext>
                  </a:extLst>
                </p14:cNvPr>
                <p14:cNvContentPartPr/>
                <p14:nvPr/>
              </p14:nvContentPartPr>
              <p14:xfrm>
                <a:off x="6327750" y="813666"/>
                <a:ext cx="270720" cy="4649040"/>
              </p14:xfrm>
            </p:contentPart>
          </mc:Choice>
          <mc:Fallback>
            <p:pic>
              <p:nvPicPr>
                <p:cNvPr id="7" name="Ink 6">
                  <a:extLst>
                    <a:ext uri="{FF2B5EF4-FFF2-40B4-BE49-F238E27FC236}">
                      <a16:creationId xmlns:a16="http://schemas.microsoft.com/office/drawing/2014/main" id="{59532301-2BD1-F9CA-D0F8-1A56781CDFEC}"/>
                    </a:ext>
                  </a:extLst>
                </p:cNvPr>
                <p:cNvPicPr/>
                <p:nvPr/>
              </p:nvPicPr>
              <p:blipFill>
                <a:blip r:embed="rId9"/>
                <a:stretch>
                  <a:fillRect/>
                </a:stretch>
              </p:blipFill>
              <p:spPr>
                <a:xfrm>
                  <a:off x="6319110" y="804666"/>
                  <a:ext cx="288360" cy="46666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EF731268-D721-E0E6-D8F8-5A7AAD7E3508}"/>
                    </a:ext>
                  </a:extLst>
                </p14:cNvPr>
                <p14:cNvContentPartPr/>
                <p14:nvPr/>
              </p14:nvContentPartPr>
              <p14:xfrm>
                <a:off x="1901550" y="5029626"/>
                <a:ext cx="11777400" cy="1532160"/>
              </p14:xfrm>
            </p:contentPart>
          </mc:Choice>
          <mc:Fallback>
            <p:pic>
              <p:nvPicPr>
                <p:cNvPr id="8" name="Ink 7">
                  <a:extLst>
                    <a:ext uri="{FF2B5EF4-FFF2-40B4-BE49-F238E27FC236}">
                      <a16:creationId xmlns:a16="http://schemas.microsoft.com/office/drawing/2014/main" id="{EF731268-D721-E0E6-D8F8-5A7AAD7E3508}"/>
                    </a:ext>
                  </a:extLst>
                </p:cNvPr>
                <p:cNvPicPr/>
                <p:nvPr/>
              </p:nvPicPr>
              <p:blipFill>
                <a:blip r:embed="rId11"/>
                <a:stretch>
                  <a:fillRect/>
                </a:stretch>
              </p:blipFill>
              <p:spPr>
                <a:xfrm>
                  <a:off x="1892910" y="5020986"/>
                  <a:ext cx="11795040" cy="1549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7EDD6040-8618-E85E-04D3-770F6D07DCA0}"/>
                    </a:ext>
                  </a:extLst>
                </p14:cNvPr>
                <p14:cNvContentPartPr/>
                <p14:nvPr/>
              </p14:nvContentPartPr>
              <p14:xfrm>
                <a:off x="1826670" y="6212586"/>
                <a:ext cx="605880" cy="681120"/>
              </p14:xfrm>
            </p:contentPart>
          </mc:Choice>
          <mc:Fallback>
            <p:pic>
              <p:nvPicPr>
                <p:cNvPr id="11" name="Ink 10">
                  <a:extLst>
                    <a:ext uri="{FF2B5EF4-FFF2-40B4-BE49-F238E27FC236}">
                      <a16:creationId xmlns:a16="http://schemas.microsoft.com/office/drawing/2014/main" id="{7EDD6040-8618-E85E-04D3-770F6D07DCA0}"/>
                    </a:ext>
                  </a:extLst>
                </p:cNvPr>
                <p:cNvPicPr/>
                <p:nvPr/>
              </p:nvPicPr>
              <p:blipFill>
                <a:blip r:embed="rId13"/>
                <a:stretch>
                  <a:fillRect/>
                </a:stretch>
              </p:blipFill>
              <p:spPr>
                <a:xfrm>
                  <a:off x="1818030" y="6203946"/>
                  <a:ext cx="623520" cy="698760"/>
                </a:xfrm>
                <a:prstGeom prst="rect">
                  <a:avLst/>
                </a:prstGeom>
              </p:spPr>
            </p:pic>
          </mc:Fallback>
        </mc:AlternateContent>
      </p:grpSp>
      <p:grpSp>
        <p:nvGrpSpPr>
          <p:cNvPr id="22" name="Group 21">
            <a:extLst>
              <a:ext uri="{FF2B5EF4-FFF2-40B4-BE49-F238E27FC236}">
                <a16:creationId xmlns:a16="http://schemas.microsoft.com/office/drawing/2014/main" id="{9081630B-22DF-F1DE-ED66-0A91C21377FA}"/>
              </a:ext>
            </a:extLst>
          </p:cNvPr>
          <p:cNvGrpSpPr/>
          <p:nvPr/>
        </p:nvGrpSpPr>
        <p:grpSpPr>
          <a:xfrm>
            <a:off x="12693270" y="290226"/>
            <a:ext cx="4330080" cy="3841200"/>
            <a:chOff x="12693270" y="290226"/>
            <a:chExt cx="4330080" cy="3841200"/>
          </a:xfrm>
        </p:grpSpPr>
        <mc:AlternateContent xmlns:mc="http://schemas.openxmlformats.org/markup-compatibility/2006">
          <mc:Choice xmlns:p14="http://schemas.microsoft.com/office/powerpoint/2010/main" Requires="p14">
            <p:contentPart p14:bwMode="auto" r:id="rId14">
              <p14:nvContentPartPr>
                <p14:cNvPr id="14" name="Ink 13">
                  <a:extLst>
                    <a:ext uri="{FF2B5EF4-FFF2-40B4-BE49-F238E27FC236}">
                      <a16:creationId xmlns:a16="http://schemas.microsoft.com/office/drawing/2014/main" id="{14FBC3D9-29A5-BCF5-AF56-EA0BF453F7D0}"/>
                    </a:ext>
                  </a:extLst>
                </p14:cNvPr>
                <p14:cNvContentPartPr/>
                <p14:nvPr/>
              </p14:nvContentPartPr>
              <p14:xfrm>
                <a:off x="12693270" y="2851986"/>
                <a:ext cx="4330080" cy="70560"/>
              </p14:xfrm>
            </p:contentPart>
          </mc:Choice>
          <mc:Fallback>
            <p:pic>
              <p:nvPicPr>
                <p:cNvPr id="14" name="Ink 13">
                  <a:extLst>
                    <a:ext uri="{FF2B5EF4-FFF2-40B4-BE49-F238E27FC236}">
                      <a16:creationId xmlns:a16="http://schemas.microsoft.com/office/drawing/2014/main" id="{14FBC3D9-29A5-BCF5-AF56-EA0BF453F7D0}"/>
                    </a:ext>
                  </a:extLst>
                </p:cNvPr>
                <p:cNvPicPr/>
                <p:nvPr/>
              </p:nvPicPr>
              <p:blipFill>
                <a:blip r:embed="rId15"/>
                <a:stretch>
                  <a:fillRect/>
                </a:stretch>
              </p:blipFill>
              <p:spPr>
                <a:xfrm>
                  <a:off x="12684630" y="2843346"/>
                  <a:ext cx="4347720" cy="882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5" name="Ink 14">
                  <a:extLst>
                    <a:ext uri="{FF2B5EF4-FFF2-40B4-BE49-F238E27FC236}">
                      <a16:creationId xmlns:a16="http://schemas.microsoft.com/office/drawing/2014/main" id="{8B28940C-206F-5263-5DD4-399C18B753BC}"/>
                    </a:ext>
                  </a:extLst>
                </p14:cNvPr>
                <p14:cNvContentPartPr/>
                <p14:nvPr/>
              </p14:nvContentPartPr>
              <p14:xfrm>
                <a:off x="13798110" y="680106"/>
                <a:ext cx="2498400" cy="2030040"/>
              </p14:xfrm>
            </p:contentPart>
          </mc:Choice>
          <mc:Fallback>
            <p:pic>
              <p:nvPicPr>
                <p:cNvPr id="15" name="Ink 14">
                  <a:extLst>
                    <a:ext uri="{FF2B5EF4-FFF2-40B4-BE49-F238E27FC236}">
                      <a16:creationId xmlns:a16="http://schemas.microsoft.com/office/drawing/2014/main" id="{8B28940C-206F-5263-5DD4-399C18B753BC}"/>
                    </a:ext>
                  </a:extLst>
                </p:cNvPr>
                <p:cNvPicPr/>
                <p:nvPr/>
              </p:nvPicPr>
              <p:blipFill>
                <a:blip r:embed="rId17"/>
                <a:stretch>
                  <a:fillRect/>
                </a:stretch>
              </p:blipFill>
              <p:spPr>
                <a:xfrm>
                  <a:off x="13789470" y="671466"/>
                  <a:ext cx="2516040" cy="20476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8" name="Ink 17">
                  <a:extLst>
                    <a:ext uri="{FF2B5EF4-FFF2-40B4-BE49-F238E27FC236}">
                      <a16:creationId xmlns:a16="http://schemas.microsoft.com/office/drawing/2014/main" id="{6E434838-6AC6-592F-C63E-3B64B9F5BD8C}"/>
                    </a:ext>
                  </a:extLst>
                </p14:cNvPr>
                <p14:cNvContentPartPr/>
                <p14:nvPr/>
              </p14:nvContentPartPr>
              <p14:xfrm>
                <a:off x="14925630" y="290226"/>
                <a:ext cx="279720" cy="3841200"/>
              </p14:xfrm>
            </p:contentPart>
          </mc:Choice>
          <mc:Fallback>
            <p:pic>
              <p:nvPicPr>
                <p:cNvPr id="18" name="Ink 17">
                  <a:extLst>
                    <a:ext uri="{FF2B5EF4-FFF2-40B4-BE49-F238E27FC236}">
                      <a16:creationId xmlns:a16="http://schemas.microsoft.com/office/drawing/2014/main" id="{6E434838-6AC6-592F-C63E-3B64B9F5BD8C}"/>
                    </a:ext>
                  </a:extLst>
                </p:cNvPr>
                <p:cNvPicPr/>
                <p:nvPr/>
              </p:nvPicPr>
              <p:blipFill>
                <a:blip r:embed="rId19"/>
                <a:stretch>
                  <a:fillRect/>
                </a:stretch>
              </p:blipFill>
              <p:spPr>
                <a:xfrm>
                  <a:off x="14916990" y="281226"/>
                  <a:ext cx="297360" cy="38588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9" name="Ink 18">
                  <a:extLst>
                    <a:ext uri="{FF2B5EF4-FFF2-40B4-BE49-F238E27FC236}">
                      <a16:creationId xmlns:a16="http://schemas.microsoft.com/office/drawing/2014/main" id="{57758B81-5D96-255B-3DF3-A88BDAA2821F}"/>
                    </a:ext>
                  </a:extLst>
                </p14:cNvPr>
                <p14:cNvContentPartPr/>
                <p14:nvPr/>
              </p14:nvContentPartPr>
              <p14:xfrm>
                <a:off x="14170350" y="3044586"/>
                <a:ext cx="596160" cy="165240"/>
              </p14:xfrm>
            </p:contentPart>
          </mc:Choice>
          <mc:Fallback>
            <p:pic>
              <p:nvPicPr>
                <p:cNvPr id="19" name="Ink 18">
                  <a:extLst>
                    <a:ext uri="{FF2B5EF4-FFF2-40B4-BE49-F238E27FC236}">
                      <a16:creationId xmlns:a16="http://schemas.microsoft.com/office/drawing/2014/main" id="{57758B81-5D96-255B-3DF3-A88BDAA2821F}"/>
                    </a:ext>
                  </a:extLst>
                </p:cNvPr>
                <p:cNvPicPr/>
                <p:nvPr/>
              </p:nvPicPr>
              <p:blipFill>
                <a:blip r:embed="rId21"/>
                <a:stretch>
                  <a:fillRect/>
                </a:stretch>
              </p:blipFill>
              <p:spPr>
                <a:xfrm>
                  <a:off x="14161710" y="3035946"/>
                  <a:ext cx="61380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0" name="Ink 19">
                  <a:extLst>
                    <a:ext uri="{FF2B5EF4-FFF2-40B4-BE49-F238E27FC236}">
                      <a16:creationId xmlns:a16="http://schemas.microsoft.com/office/drawing/2014/main" id="{E7308E64-61D7-143F-8A01-BDA2691F06F1}"/>
                    </a:ext>
                  </a:extLst>
                </p14:cNvPr>
                <p14:cNvContentPartPr/>
                <p14:nvPr/>
              </p14:nvContentPartPr>
              <p14:xfrm>
                <a:off x="15500550" y="2972586"/>
                <a:ext cx="774720" cy="199440"/>
              </p14:xfrm>
            </p:contentPart>
          </mc:Choice>
          <mc:Fallback>
            <p:pic>
              <p:nvPicPr>
                <p:cNvPr id="20" name="Ink 19">
                  <a:extLst>
                    <a:ext uri="{FF2B5EF4-FFF2-40B4-BE49-F238E27FC236}">
                      <a16:creationId xmlns:a16="http://schemas.microsoft.com/office/drawing/2014/main" id="{E7308E64-61D7-143F-8A01-BDA2691F06F1}"/>
                    </a:ext>
                  </a:extLst>
                </p:cNvPr>
                <p:cNvPicPr/>
                <p:nvPr/>
              </p:nvPicPr>
              <p:blipFill>
                <a:blip r:embed="rId23"/>
                <a:stretch>
                  <a:fillRect/>
                </a:stretch>
              </p:blipFill>
              <p:spPr>
                <a:xfrm>
                  <a:off x="15491910" y="2963586"/>
                  <a:ext cx="792360" cy="217080"/>
                </a:xfrm>
                <a:prstGeom prst="rect">
                  <a:avLst/>
                </a:prstGeom>
              </p:spPr>
            </p:pic>
          </mc:Fallback>
        </mc:AlternateContent>
      </p:grpSp>
    </p:spTree>
    <p:extLst>
      <p:ext uri="{BB962C8B-B14F-4D97-AF65-F5344CB8AC3E}">
        <p14:creationId xmlns:p14="http://schemas.microsoft.com/office/powerpoint/2010/main" val="33460627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WHY THE FORMULA WORKS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Binomial: counting × probability</a:t>
            </a:r>
            <a:endParaRPr lang="en-US" sz="4800" dirty="0"/>
          </a:p>
        </p:txBody>
      </p:sp>
      <p:sp>
        <p:nvSpPr>
          <p:cNvPr id="4" name="Shape 2"/>
          <p:cNvSpPr/>
          <p:nvPr/>
        </p:nvSpPr>
        <p:spPr>
          <a:xfrm>
            <a:off x="1143000" y="4459560"/>
            <a:ext cx="16002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3200400"/>
            <a:ext cx="16002000" cy="19050"/>
          </a:xfrm>
          <a:prstGeom prst="rect">
            <a:avLst/>
          </a:prstGeom>
          <a:solidFill>
            <a:srgbClr val="201E1E">
              <a:alpha val="40000"/>
            </a:srgbClr>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43000" y="3562350"/>
            <a:ext cx="16002000" cy="554310"/>
          </a:xfrm>
          <a:prstGeom prst="rect">
            <a:avLst/>
          </a:prstGeom>
        </p:spPr>
      </p:pic>
      <p:sp>
        <p:nvSpPr>
          <p:cNvPr id="7" name="Text 4"/>
          <p:cNvSpPr/>
          <p:nvPr/>
        </p:nvSpPr>
        <p:spPr>
          <a:xfrm>
            <a:off x="1143000" y="4613449"/>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pᵏ</a:t>
            </a:r>
            <a:endParaRPr lang="en-US" sz="1950" dirty="0"/>
          </a:p>
        </p:txBody>
      </p:sp>
      <p:sp>
        <p:nvSpPr>
          <p:cNvPr id="8" name="Text 5"/>
          <p:cNvSpPr/>
          <p:nvPr/>
        </p:nvSpPr>
        <p:spPr>
          <a:xfrm>
            <a:off x="4343400" y="4613449"/>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chance of getting k successes, one after another. Independent events multiply, so k successes at probability p each is p multiplied by itself k times.</a:t>
            </a:r>
            <a:endParaRPr lang="en-US" sz="1950" dirty="0"/>
          </a:p>
        </p:txBody>
      </p:sp>
      <p:sp>
        <p:nvSpPr>
          <p:cNvPr id="9" name="Text 6"/>
          <p:cNvSpPr/>
          <p:nvPr/>
        </p:nvSpPr>
        <p:spPr>
          <a:xfrm>
            <a:off x="1143000" y="5489674"/>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(1−p)ⁿ⁻ᵏ</a:t>
            </a:r>
            <a:endParaRPr lang="en-US" sz="1950" dirty="0"/>
          </a:p>
        </p:txBody>
      </p:sp>
      <p:sp>
        <p:nvSpPr>
          <p:cNvPr id="10" name="Text 7"/>
          <p:cNvSpPr/>
          <p:nvPr/>
        </p:nvSpPr>
        <p:spPr>
          <a:xfrm>
            <a:off x="4343400" y="5489674"/>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And the remaining n−k trials must all fail. Same reasoning, with the failure probability.</a:t>
            </a:r>
            <a:endParaRPr lang="en-US" sz="1950" dirty="0"/>
          </a:p>
        </p:txBody>
      </p:sp>
      <p:sp>
        <p:nvSpPr>
          <p:cNvPr id="11" name="Text 8"/>
          <p:cNvSpPr/>
          <p:nvPr/>
        </p:nvSpPr>
        <p:spPr>
          <a:xfrm>
            <a:off x="1143000" y="6196013"/>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Together</a:t>
            </a:r>
            <a:endParaRPr lang="en-US" sz="1950" dirty="0"/>
          </a:p>
        </p:txBody>
      </p:sp>
      <p:sp>
        <p:nvSpPr>
          <p:cNvPr id="12" name="Text 9"/>
          <p:cNvSpPr/>
          <p:nvPr/>
        </p:nvSpPr>
        <p:spPr>
          <a:xfrm>
            <a:off x="4343400" y="6196013"/>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Those two terms give the probability of one specific pattern — say, success, success, fail, fail, fail. But you did not ask for that pattern; you asked for any k successes.</a:t>
            </a:r>
            <a:endParaRPr lang="en-US" sz="1950" dirty="0"/>
          </a:p>
        </p:txBody>
      </p:sp>
      <p:sp>
        <p:nvSpPr>
          <p:cNvPr id="13" name="Text 10"/>
          <p:cNvSpPr/>
          <p:nvPr/>
        </p:nvSpPr>
        <p:spPr>
          <a:xfrm>
            <a:off x="1143000" y="7072238"/>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ⁿCₖ</a:t>
            </a:r>
            <a:endParaRPr lang="en-US" sz="1950" dirty="0"/>
          </a:p>
        </p:txBody>
      </p:sp>
      <p:sp>
        <p:nvSpPr>
          <p:cNvPr id="14" name="Text 11"/>
          <p:cNvSpPr/>
          <p:nvPr/>
        </p:nvSpPr>
        <p:spPr>
          <a:xfrm>
            <a:off x="4343400" y="7072238"/>
            <a:ext cx="12008358" cy="531837"/>
          </a:xfrm>
          <a:prstGeom prst="rect">
            <a:avLst/>
          </a:prstGeom>
          <a:noFill/>
          <a:ln/>
        </p:spPr>
        <p:txBody>
          <a:bodyPr wrap="square" lIns="25400" tIns="25400" rIns="25400" bIns="25400" rtlCol="0" anchor="t">
            <a:noAutofit/>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So, multiply by the number of different orders in which k successes can land among n trials — a combination, exactly the count we built earlier.</a:t>
            </a:r>
            <a:endParaRPr lang="en-US" sz="1950" dirty="0"/>
          </a:p>
        </p:txBody>
      </p:sp>
      <p:pic>
        <p:nvPicPr>
          <p:cNvPr id="15"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BUSINESS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Eight surveys, exactly three yeses</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metro rail company surveys 8 senior citizens about new safety features. Each answer is yes or no, with a 60% historical yes rate. What is the probability that exactly 3 say yes?</a:t>
            </a:r>
            <a:endParaRPr lang="en-US" sz="2100" dirty="0"/>
          </a:p>
        </p:txBody>
      </p:sp>
      <p:sp>
        <p:nvSpPr>
          <p:cNvPr id="5" name="Shape 3"/>
          <p:cNvSpPr/>
          <p:nvPr/>
        </p:nvSpPr>
        <p:spPr>
          <a:xfrm>
            <a:off x="1143000" y="38862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4080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40651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4065166"/>
            <a:ext cx="13746480" cy="221084"/>
          </a:xfrm>
          <a:prstGeom prst="rect">
            <a:avLst/>
          </a:prstGeom>
          <a:noFill/>
          <a:ln/>
        </p:spPr>
        <p:txBody>
          <a:bodyPr wrap="square" lIns="25400" tIns="25400" rIns="25400" bIns="25400" rtlCol="0" anchor="t">
            <a:noAutofit/>
          </a:bodyPr>
          <a:lstStyle/>
          <a:p>
            <a:pPr marL="0" indent="0" algn="l">
              <a:lnSpc>
                <a:spcPct val="123077"/>
              </a:lnSpc>
              <a:buNone/>
            </a:pPr>
            <a:r>
              <a:rPr lang="en-US" sz="1900" dirty="0">
                <a:solidFill>
                  <a:srgbClr val="201E1D"/>
                </a:solidFill>
                <a:latin typeface="Arial" pitchFamily="34" charset="0"/>
                <a:ea typeface="Arial" pitchFamily="34" charset="-122"/>
                <a:cs typeface="Arial" pitchFamily="34" charset="-120"/>
              </a:rPr>
              <a:t>Orderings: ⁸C₃ = 8! / (3! × 5!) = 40,320 / (6 × 120) = </a:t>
            </a:r>
            <a:r>
              <a:rPr lang="en-US" sz="1900" b="1" dirty="0">
                <a:solidFill>
                  <a:srgbClr val="201E1D"/>
                </a:solidFill>
                <a:latin typeface="Arial" pitchFamily="34" charset="0"/>
                <a:ea typeface="Arial" pitchFamily="34" charset="-122"/>
                <a:cs typeface="Arial" pitchFamily="34" charset="-120"/>
              </a:rPr>
              <a:t>56</a:t>
            </a:r>
            <a:endParaRPr lang="en-US" sz="1900" dirty="0"/>
          </a:p>
        </p:txBody>
      </p:sp>
      <p:sp>
        <p:nvSpPr>
          <p:cNvPr id="9" name="Shape 7"/>
          <p:cNvSpPr/>
          <p:nvPr/>
        </p:nvSpPr>
        <p:spPr>
          <a:xfrm>
            <a:off x="1143000" y="49204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5775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577507"/>
            <a:ext cx="13746480" cy="221084"/>
          </a:xfrm>
          <a:prstGeom prst="rect">
            <a:avLst/>
          </a:prstGeom>
          <a:noFill/>
          <a:ln/>
        </p:spPr>
        <p:txBody>
          <a:bodyPr wrap="square" lIns="25400" tIns="25400" rIns="25400" bIns="25400" rtlCol="0" anchor="t">
            <a:noAutofit/>
          </a:bodyPr>
          <a:lstStyle/>
          <a:p>
            <a:pPr marL="0" indent="0" algn="l">
              <a:lnSpc>
                <a:spcPct val="123077"/>
              </a:lnSpc>
              <a:buNone/>
            </a:pPr>
            <a:r>
              <a:rPr lang="en-US" sz="1900" dirty="0">
                <a:solidFill>
                  <a:srgbClr val="201E1D"/>
                </a:solidFill>
                <a:latin typeface="Arial" pitchFamily="34" charset="0"/>
                <a:ea typeface="Arial" pitchFamily="34" charset="-122"/>
                <a:cs typeface="Arial" pitchFamily="34" charset="-120"/>
              </a:rPr>
              <a:t>Three yeses: (0.6)³ = </a:t>
            </a:r>
            <a:r>
              <a:rPr lang="en-US" sz="1900" b="1" dirty="0">
                <a:solidFill>
                  <a:srgbClr val="201E1D"/>
                </a:solidFill>
                <a:latin typeface="Arial" pitchFamily="34" charset="0"/>
                <a:ea typeface="Arial" pitchFamily="34" charset="-122"/>
                <a:cs typeface="Arial" pitchFamily="34" charset="-120"/>
              </a:rPr>
              <a:t>0.216</a:t>
            </a:r>
            <a:endParaRPr lang="en-US" sz="1900" dirty="0"/>
          </a:p>
        </p:txBody>
      </p:sp>
      <p:sp>
        <p:nvSpPr>
          <p:cNvPr id="12" name="Shape 10"/>
          <p:cNvSpPr/>
          <p:nvPr/>
        </p:nvSpPr>
        <p:spPr>
          <a:xfrm>
            <a:off x="1143000" y="54327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50898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5089847"/>
            <a:ext cx="13746480" cy="221084"/>
          </a:xfrm>
          <a:prstGeom prst="rect">
            <a:avLst/>
          </a:prstGeom>
          <a:noFill/>
          <a:ln/>
        </p:spPr>
        <p:txBody>
          <a:bodyPr wrap="square" lIns="25400" tIns="25400" rIns="25400" bIns="25400" rtlCol="0" anchor="t">
            <a:noAutofit/>
          </a:bodyPr>
          <a:lstStyle/>
          <a:p>
            <a:pPr marL="0" indent="0" algn="l">
              <a:lnSpc>
                <a:spcPct val="123077"/>
              </a:lnSpc>
              <a:buNone/>
            </a:pPr>
            <a:r>
              <a:rPr lang="en-US" sz="1900" dirty="0">
                <a:solidFill>
                  <a:srgbClr val="201E1D"/>
                </a:solidFill>
                <a:latin typeface="Arial" pitchFamily="34" charset="0"/>
                <a:ea typeface="Arial" pitchFamily="34" charset="-122"/>
                <a:cs typeface="Arial" pitchFamily="34" charset="-120"/>
              </a:rPr>
              <a:t>Five noes: (0.4)⁵ = </a:t>
            </a:r>
            <a:r>
              <a:rPr lang="en-US" sz="1900" b="1" dirty="0">
                <a:solidFill>
                  <a:srgbClr val="201E1D"/>
                </a:solidFill>
                <a:latin typeface="Arial" pitchFamily="34" charset="0"/>
                <a:ea typeface="Arial" pitchFamily="34" charset="-122"/>
                <a:cs typeface="Arial" pitchFamily="34" charset="-120"/>
              </a:rPr>
              <a:t>0.01024</a:t>
            </a:r>
            <a:endParaRPr lang="en-US" sz="1900" dirty="0"/>
          </a:p>
        </p:txBody>
      </p:sp>
      <p:sp>
        <p:nvSpPr>
          <p:cNvPr id="15" name="Shape 13"/>
          <p:cNvSpPr/>
          <p:nvPr/>
        </p:nvSpPr>
        <p:spPr>
          <a:xfrm>
            <a:off x="1143000" y="5945088"/>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602188"/>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4</a:t>
            </a:r>
            <a:endParaRPr lang="en-US" sz="2100" dirty="0"/>
          </a:p>
        </p:txBody>
      </p:sp>
      <p:sp>
        <p:nvSpPr>
          <p:cNvPr id="17" name="Text 15"/>
          <p:cNvSpPr/>
          <p:nvPr/>
        </p:nvSpPr>
        <p:spPr>
          <a:xfrm>
            <a:off x="1981200" y="5602188"/>
            <a:ext cx="13746480" cy="221084"/>
          </a:xfrm>
          <a:prstGeom prst="rect">
            <a:avLst/>
          </a:prstGeom>
          <a:noFill/>
          <a:ln/>
        </p:spPr>
        <p:txBody>
          <a:bodyPr wrap="square" lIns="25400" tIns="25400" rIns="25400" bIns="25400" rtlCol="0" anchor="t">
            <a:noAutofit/>
          </a:bodyPr>
          <a:lstStyle/>
          <a:p>
            <a:pPr marL="0" indent="0" algn="l">
              <a:lnSpc>
                <a:spcPct val="123077"/>
              </a:lnSpc>
              <a:buNone/>
            </a:pPr>
            <a:r>
              <a:rPr lang="en-US" sz="1900" dirty="0">
                <a:solidFill>
                  <a:srgbClr val="201E1D"/>
                </a:solidFill>
                <a:latin typeface="Arial" pitchFamily="34" charset="0"/>
                <a:ea typeface="Arial" pitchFamily="34" charset="-122"/>
                <a:cs typeface="Arial" pitchFamily="34" charset="-120"/>
              </a:rPr>
              <a:t>One specific pattern: 0.216 × 0.01024 = </a:t>
            </a:r>
            <a:r>
              <a:rPr lang="en-US" sz="1900" b="1" dirty="0">
                <a:solidFill>
                  <a:srgbClr val="201E1D"/>
                </a:solidFill>
                <a:latin typeface="Arial" pitchFamily="34" charset="0"/>
                <a:ea typeface="Arial" pitchFamily="34" charset="-122"/>
                <a:cs typeface="Arial" pitchFamily="34" charset="-120"/>
              </a:rPr>
              <a:t>0.002212</a:t>
            </a:r>
            <a:endParaRPr lang="en-US" sz="1900" dirty="0"/>
          </a:p>
        </p:txBody>
      </p:sp>
      <p:sp>
        <p:nvSpPr>
          <p:cNvPr id="18" name="Shape 16"/>
          <p:cNvSpPr/>
          <p:nvPr/>
        </p:nvSpPr>
        <p:spPr>
          <a:xfrm>
            <a:off x="1143000" y="6465466"/>
            <a:ext cx="13335000" cy="9525"/>
          </a:xfrm>
          <a:prstGeom prst="rect">
            <a:avLst/>
          </a:prstGeom>
          <a:solidFill>
            <a:srgbClr val="201E1E">
              <a:alpha val="40000"/>
            </a:srgbClr>
          </a:solidFill>
          <a:ln/>
        </p:spPr>
        <p:txBody>
          <a:bodyPr/>
          <a:lstStyle/>
          <a:p>
            <a:endParaRPr lang="en-US"/>
          </a:p>
        </p:txBody>
      </p:sp>
      <p:sp>
        <p:nvSpPr>
          <p:cNvPr id="19" name="Text 17"/>
          <p:cNvSpPr/>
          <p:nvPr/>
        </p:nvSpPr>
        <p:spPr>
          <a:xfrm>
            <a:off x="1143000" y="6114529"/>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20" name="Text 18"/>
          <p:cNvSpPr/>
          <p:nvPr/>
        </p:nvSpPr>
        <p:spPr>
          <a:xfrm>
            <a:off x="1981200" y="6114529"/>
            <a:ext cx="13746480" cy="229121"/>
          </a:xfrm>
          <a:prstGeom prst="rect">
            <a:avLst/>
          </a:prstGeom>
          <a:noFill/>
          <a:ln/>
        </p:spPr>
        <p:txBody>
          <a:bodyPr wrap="square" lIns="25400" tIns="25400" rIns="25400" bIns="25400" rtlCol="0" anchor="t">
            <a:noAutofit/>
          </a:bodyPr>
          <a:lstStyle/>
          <a:p>
            <a:pPr marL="0" indent="0" algn="l">
              <a:lnSpc>
                <a:spcPct val="123077"/>
              </a:lnSpc>
              <a:buNone/>
            </a:pPr>
            <a:r>
              <a:rPr lang="en-US" sz="1900" b="1" dirty="0">
                <a:solidFill>
                  <a:srgbClr val="201E1D"/>
                </a:solidFill>
                <a:latin typeface="Arial" pitchFamily="34" charset="0"/>
                <a:ea typeface="Arial" pitchFamily="34" charset="-122"/>
                <a:cs typeface="Arial" pitchFamily="34" charset="-120"/>
              </a:rPr>
              <a:t>56 × 0.002212 ≈ 0.124 — about a 12.4% chance</a:t>
            </a:r>
            <a:endParaRPr lang="en-US" sz="1900" dirty="0"/>
          </a:p>
        </p:txBody>
      </p:sp>
      <p:sp>
        <p:nvSpPr>
          <p:cNvPr id="21" name="Shape 19"/>
          <p:cNvSpPr/>
          <p:nvPr/>
        </p:nvSpPr>
        <p:spPr>
          <a:xfrm>
            <a:off x="1143000" y="6977881"/>
            <a:ext cx="14859000" cy="19050"/>
          </a:xfrm>
          <a:prstGeom prst="rect">
            <a:avLst/>
          </a:prstGeom>
          <a:solidFill>
            <a:srgbClr val="EC3013"/>
          </a:solidFill>
          <a:ln/>
        </p:spPr>
        <p:txBody>
          <a:bodyPr/>
          <a:lstStyle/>
          <a:p>
            <a:endParaRPr lang="en-US"/>
          </a:p>
        </p:txBody>
      </p:sp>
      <p:sp>
        <p:nvSpPr>
          <p:cNvPr id="22" name="Text 20"/>
          <p:cNvSpPr/>
          <p:nvPr/>
        </p:nvSpPr>
        <p:spPr>
          <a:xfrm>
            <a:off x="1143000" y="7241753"/>
            <a:ext cx="16344900" cy="227558"/>
          </a:xfrm>
          <a:prstGeom prst="rect">
            <a:avLst/>
          </a:prstGeom>
          <a:noFill/>
          <a:ln/>
        </p:spPr>
        <p:txBody>
          <a:bodyPr wrap="square" lIns="25400" tIns="25400" rIns="25400" bIns="25400" rtlCol="0" anchor="t">
            <a:noAutofit/>
          </a:bodyPr>
          <a:lstStyle/>
          <a:p>
            <a:pPr marL="0" indent="0" algn="l">
              <a:lnSpc>
                <a:spcPct val="119403"/>
              </a:lnSpc>
              <a:buNone/>
            </a:pPr>
            <a:r>
              <a:rPr lang="en-US" sz="1900" b="1" dirty="0">
                <a:solidFill>
                  <a:srgbClr val="201E1D"/>
                </a:solidFill>
                <a:latin typeface="Arial" pitchFamily="34" charset="0"/>
                <a:ea typeface="Arial" pitchFamily="34" charset="-122"/>
                <a:cs typeface="Arial" pitchFamily="34" charset="-120"/>
              </a:rPr>
              <a:t>Try it yourself. </a:t>
            </a:r>
            <a:r>
              <a:rPr lang="en-US" sz="1900" dirty="0">
                <a:solidFill>
                  <a:srgbClr val="201E1D"/>
                </a:solidFill>
                <a:latin typeface="Arial" pitchFamily="34" charset="0"/>
                <a:ea typeface="Arial" pitchFamily="34" charset="-122"/>
                <a:cs typeface="Arial" pitchFamily="34" charset="-120"/>
              </a:rPr>
              <a:t>Same survey — what is the probability that all 8 say yes?</a:t>
            </a:r>
            <a:endParaRPr lang="en-US" sz="1900" dirty="0"/>
          </a:p>
        </p:txBody>
      </p:sp>
      <p:sp>
        <p:nvSpPr>
          <p:cNvPr id="23" name="Text 21"/>
          <p:cNvSpPr/>
          <p:nvPr/>
        </p:nvSpPr>
        <p:spPr>
          <a:xfrm>
            <a:off x="1143000" y="7598197"/>
            <a:ext cx="16344900" cy="194890"/>
          </a:xfrm>
          <a:prstGeom prst="rect">
            <a:avLst/>
          </a:prstGeom>
          <a:noFill/>
          <a:ln/>
        </p:spPr>
        <p:txBody>
          <a:bodyPr wrap="square" lIns="25400" tIns="25400" rIns="25400" bIns="25400" rtlCol="0" anchor="t">
            <a:noAutofit/>
          </a:bodyPr>
          <a:lstStyle/>
          <a:p>
            <a:pPr marL="0" indent="0" algn="l">
              <a:lnSpc>
                <a:spcPct val="138182"/>
              </a:lnSpc>
              <a:buNone/>
            </a:pPr>
            <a:r>
              <a:rPr lang="en-US" sz="1900" dirty="0">
                <a:solidFill>
                  <a:srgbClr val="211D1D">
                    <a:alpha val="55000"/>
                  </a:srgbClr>
                </a:solidFill>
                <a:latin typeface="Arial" pitchFamily="34" charset="0"/>
                <a:ea typeface="Arial" pitchFamily="34" charset="-122"/>
                <a:cs typeface="Arial" pitchFamily="34" charset="-120"/>
              </a:rPr>
              <a:t>Only one ordering, so ⁸C₈ = 1. P = (0.6)⁸ ≈ 0.0168 — about 1.7%.</a:t>
            </a:r>
            <a:endParaRPr lang="en-US" sz="1900" dirty="0"/>
          </a:p>
        </p:txBody>
      </p:sp>
      <p:pic>
        <p:nvPicPr>
          <p:cNvPr id="24"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WHY THE FORMULA WORKS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Poisson: when there is no n to count</a:t>
            </a:r>
            <a:endParaRPr lang="en-US" sz="4800" dirty="0"/>
          </a:p>
        </p:txBody>
      </p:sp>
      <p:sp>
        <p:nvSpPr>
          <p:cNvPr id="4" name="Shape 2"/>
          <p:cNvSpPr/>
          <p:nvPr/>
        </p:nvSpPr>
        <p:spPr>
          <a:xfrm>
            <a:off x="1143000" y="4874419"/>
            <a:ext cx="16002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3200400"/>
            <a:ext cx="16002000" cy="19050"/>
          </a:xfrm>
          <a:prstGeom prst="rect">
            <a:avLst/>
          </a:prstGeom>
          <a:solidFill>
            <a:srgbClr val="201E1E">
              <a:alpha val="40000"/>
            </a:srgbClr>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43000" y="3562350"/>
            <a:ext cx="16002000" cy="969169"/>
          </a:xfrm>
          <a:prstGeom prst="rect">
            <a:avLst/>
          </a:prstGeom>
        </p:spPr>
      </p:pic>
      <p:sp>
        <p:nvSpPr>
          <p:cNvPr id="7" name="Text 4"/>
          <p:cNvSpPr/>
          <p:nvPr/>
        </p:nvSpPr>
        <p:spPr>
          <a:xfrm>
            <a:off x="1143000" y="5028307"/>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λ (lambda)</a:t>
            </a:r>
            <a:endParaRPr lang="en-US" sz="1950" dirty="0"/>
          </a:p>
        </p:txBody>
      </p:sp>
      <p:sp>
        <p:nvSpPr>
          <p:cNvPr id="8" name="Text 5"/>
          <p:cNvSpPr/>
          <p:nvPr/>
        </p:nvSpPr>
        <p:spPr>
          <a:xfrm>
            <a:off x="4343400" y="5028307"/>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average number of events per interval — two machines down, three escalations an hour. The only input you need, and it is measured, not derived.</a:t>
            </a:r>
            <a:endParaRPr lang="en-US" sz="1950" dirty="0"/>
          </a:p>
        </p:txBody>
      </p:sp>
      <p:sp>
        <p:nvSpPr>
          <p:cNvPr id="9" name="Text 6"/>
          <p:cNvSpPr/>
          <p:nvPr/>
        </p:nvSpPr>
        <p:spPr>
          <a:xfrm>
            <a:off x="1143000" y="5904533"/>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λᵏ</a:t>
            </a:r>
            <a:endParaRPr lang="en-US" sz="1950" dirty="0"/>
          </a:p>
        </p:txBody>
      </p:sp>
      <p:sp>
        <p:nvSpPr>
          <p:cNvPr id="10" name="Text 7"/>
          <p:cNvSpPr/>
          <p:nvPr/>
        </p:nvSpPr>
        <p:spPr>
          <a:xfrm>
            <a:off x="4343400" y="5904533"/>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Roughly, the chance of k events piling up in the window. More events means a higher power of λ.</a:t>
            </a:r>
            <a:endParaRPr lang="en-US" sz="1950" dirty="0"/>
          </a:p>
        </p:txBody>
      </p:sp>
      <p:sp>
        <p:nvSpPr>
          <p:cNvPr id="11" name="Text 8"/>
          <p:cNvSpPr/>
          <p:nvPr/>
        </p:nvSpPr>
        <p:spPr>
          <a:xfrm>
            <a:off x="1143000" y="6610871"/>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 k!</a:t>
            </a:r>
            <a:endParaRPr lang="en-US" sz="1950" dirty="0"/>
          </a:p>
        </p:txBody>
      </p:sp>
      <p:sp>
        <p:nvSpPr>
          <p:cNvPr id="12" name="Text 9"/>
          <p:cNvSpPr/>
          <p:nvPr/>
        </p:nvSpPr>
        <p:spPr>
          <a:xfrm>
            <a:off x="4343400" y="6610871"/>
            <a:ext cx="12008358" cy="531837"/>
          </a:xfrm>
          <a:prstGeom prst="rect">
            <a:avLst/>
          </a:prstGeom>
          <a:noFill/>
          <a:ln/>
        </p:spPr>
        <p:txBody>
          <a:bodyPr wrap="square" lIns="25400" tIns="25400" rIns="25400" bIns="25400" rtlCol="0" anchor="t">
            <a:noAutofit/>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k events are interchangeable — you did not label them — so divide out their orderings, exactly as in the combination’s formula.</a:t>
            </a:r>
            <a:endParaRPr lang="en-US" sz="1950" dirty="0"/>
          </a:p>
        </p:txBody>
      </p:sp>
      <p:sp>
        <p:nvSpPr>
          <p:cNvPr id="13" name="Text 10"/>
          <p:cNvSpPr/>
          <p:nvPr/>
        </p:nvSpPr>
        <p:spPr>
          <a:xfrm>
            <a:off x="1143000" y="7487096"/>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e^(−λ)</a:t>
            </a:r>
            <a:endParaRPr lang="en-US" sz="1950" dirty="0"/>
          </a:p>
        </p:txBody>
      </p:sp>
      <p:sp>
        <p:nvSpPr>
          <p:cNvPr id="14" name="Text 11"/>
          <p:cNvSpPr/>
          <p:nvPr/>
        </p:nvSpPr>
        <p:spPr>
          <a:xfrm>
            <a:off x="4343400" y="7487096"/>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normaliser — what forces every k from 0 upward to add to exactly 1.</a:t>
            </a:r>
            <a:endParaRPr lang="en-US" sz="1950" dirty="0"/>
          </a:p>
        </p:txBody>
      </p:sp>
      <p:sp>
        <p:nvSpPr>
          <p:cNvPr id="15" name="Text 12"/>
          <p:cNvSpPr/>
          <p:nvPr/>
        </p:nvSpPr>
        <p:spPr>
          <a:xfrm>
            <a:off x="1143000" y="8111282"/>
            <a:ext cx="16482060" cy="652090"/>
          </a:xfrm>
          <a:prstGeom prst="rect">
            <a:avLst/>
          </a:prstGeom>
          <a:noFill/>
          <a:ln/>
        </p:spPr>
        <p:txBody>
          <a:bodyPr wrap="square" lIns="25400" tIns="25400" rIns="25400" bIns="25400" rtlCol="0" anchor="t">
            <a:normAutofit fontScale="92500"/>
          </a:bodyPr>
          <a:lstStyle/>
          <a:p>
            <a:pPr marL="0" indent="0" algn="l">
              <a:lnSpc>
                <a:spcPct val="174545"/>
              </a:lnSpc>
              <a:buNone/>
            </a:pPr>
            <a:r>
              <a:rPr lang="en-US" sz="1800" b="1" dirty="0">
                <a:solidFill>
                  <a:srgbClr val="AE1800"/>
                </a:solidFill>
                <a:latin typeface="Arial" pitchFamily="34" charset="0"/>
                <a:ea typeface="Arial" pitchFamily="34" charset="-122"/>
                <a:cs typeface="Arial" pitchFamily="34" charset="-120"/>
              </a:rPr>
              <a:t>Pro tip. </a:t>
            </a:r>
            <a:r>
              <a:rPr lang="en-US" sz="1800" dirty="0">
                <a:solidFill>
                  <a:srgbClr val="211D1D">
                    <a:alpha val="55000"/>
                  </a:srgbClr>
                </a:solidFill>
                <a:latin typeface="Arial" pitchFamily="34" charset="0"/>
                <a:ea typeface="Arial" pitchFamily="34" charset="-122"/>
                <a:cs typeface="Arial" pitchFamily="34" charset="-120"/>
              </a:rPr>
              <a:t>For Poisson, the variance equals the mean. If your observed counts scatter far wider than λ, the process is not Poisson — something is clustering the events.</a:t>
            </a:r>
            <a:endParaRPr lang="en-US" sz="1800" dirty="0"/>
          </a:p>
        </p:txBody>
      </p:sp>
      <p:pic>
        <p:nvPicPr>
          <p:cNvPr id="16"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WORKED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Three ticket machines down at once</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subway station averages 2 ticket machines out of operation at any time. What is the probability that exactly 3 are down right now?</a:t>
            </a:r>
            <a:endParaRPr lang="en-US" sz="2100" dirty="0"/>
          </a:p>
        </p:txBody>
      </p:sp>
      <p:sp>
        <p:nvSpPr>
          <p:cNvPr id="5" name="Shape 3"/>
          <p:cNvSpPr/>
          <p:nvPr/>
        </p:nvSpPr>
        <p:spPr>
          <a:xfrm>
            <a:off x="1143000" y="38862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4080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40651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40651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λ = 2, k = 3</a:t>
            </a:r>
            <a:endParaRPr lang="en-US" sz="2100" dirty="0"/>
          </a:p>
        </p:txBody>
      </p:sp>
      <p:sp>
        <p:nvSpPr>
          <p:cNvPr id="9" name="Shape 7"/>
          <p:cNvSpPr/>
          <p:nvPr/>
        </p:nvSpPr>
        <p:spPr>
          <a:xfrm>
            <a:off x="1143000" y="49204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5775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5775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λᵏ = 2³ = </a:t>
            </a:r>
            <a:r>
              <a:rPr lang="en-US" sz="2100" b="1" dirty="0">
                <a:solidFill>
                  <a:srgbClr val="201E1D"/>
                </a:solidFill>
                <a:latin typeface="Arial" pitchFamily="34" charset="0"/>
                <a:ea typeface="Arial" pitchFamily="34" charset="-122"/>
                <a:cs typeface="Arial" pitchFamily="34" charset="-120"/>
              </a:rPr>
              <a:t>8</a:t>
            </a:r>
            <a:endParaRPr lang="en-US" sz="2100" dirty="0"/>
          </a:p>
        </p:txBody>
      </p:sp>
      <p:sp>
        <p:nvSpPr>
          <p:cNvPr id="12" name="Shape 10"/>
          <p:cNvSpPr/>
          <p:nvPr/>
        </p:nvSpPr>
        <p:spPr>
          <a:xfrm>
            <a:off x="1143000" y="54327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50898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50898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k! = 3! = </a:t>
            </a:r>
            <a:r>
              <a:rPr lang="en-US" sz="2100" b="1" dirty="0">
                <a:solidFill>
                  <a:srgbClr val="201E1D"/>
                </a:solidFill>
                <a:latin typeface="Arial" pitchFamily="34" charset="0"/>
                <a:ea typeface="Arial" pitchFamily="34" charset="-122"/>
                <a:cs typeface="Arial" pitchFamily="34" charset="-120"/>
              </a:rPr>
              <a:t>6</a:t>
            </a:r>
            <a:endParaRPr lang="en-US" sz="2100" dirty="0"/>
          </a:p>
        </p:txBody>
      </p:sp>
      <p:sp>
        <p:nvSpPr>
          <p:cNvPr id="15" name="Shape 13"/>
          <p:cNvSpPr/>
          <p:nvPr/>
        </p:nvSpPr>
        <p:spPr>
          <a:xfrm>
            <a:off x="1143000" y="5945088"/>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602188"/>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4</a:t>
            </a:r>
            <a:endParaRPr lang="en-US" sz="2100" dirty="0"/>
          </a:p>
        </p:txBody>
      </p:sp>
      <p:sp>
        <p:nvSpPr>
          <p:cNvPr id="17" name="Text 15"/>
          <p:cNvSpPr/>
          <p:nvPr/>
        </p:nvSpPr>
        <p:spPr>
          <a:xfrm>
            <a:off x="1981200" y="5602188"/>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e⁻² = </a:t>
            </a:r>
            <a:r>
              <a:rPr lang="en-US" sz="2100" b="1" dirty="0">
                <a:solidFill>
                  <a:srgbClr val="201E1D"/>
                </a:solidFill>
                <a:latin typeface="Arial" pitchFamily="34" charset="0"/>
                <a:ea typeface="Arial" pitchFamily="34" charset="-122"/>
                <a:cs typeface="Arial" pitchFamily="34" charset="-120"/>
              </a:rPr>
              <a:t>0.1353</a:t>
            </a:r>
            <a:endParaRPr lang="en-US" sz="2100" dirty="0"/>
          </a:p>
        </p:txBody>
      </p:sp>
      <p:sp>
        <p:nvSpPr>
          <p:cNvPr id="18" name="Shape 16"/>
          <p:cNvSpPr/>
          <p:nvPr/>
        </p:nvSpPr>
        <p:spPr>
          <a:xfrm>
            <a:off x="1143000" y="6465466"/>
            <a:ext cx="13335000" cy="9525"/>
          </a:xfrm>
          <a:prstGeom prst="rect">
            <a:avLst/>
          </a:prstGeom>
          <a:solidFill>
            <a:srgbClr val="201E1E">
              <a:alpha val="40000"/>
            </a:srgbClr>
          </a:solidFill>
          <a:ln/>
        </p:spPr>
        <p:txBody>
          <a:bodyPr/>
          <a:lstStyle/>
          <a:p>
            <a:endParaRPr lang="en-US"/>
          </a:p>
        </p:txBody>
      </p:sp>
      <p:sp>
        <p:nvSpPr>
          <p:cNvPr id="19" name="Text 17"/>
          <p:cNvSpPr/>
          <p:nvPr/>
        </p:nvSpPr>
        <p:spPr>
          <a:xfrm>
            <a:off x="1143000" y="6114529"/>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20" name="Text 18"/>
          <p:cNvSpPr/>
          <p:nvPr/>
        </p:nvSpPr>
        <p:spPr>
          <a:xfrm>
            <a:off x="1981200" y="6114529"/>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P = 0.1353 × 8 / 6 ≈ 0.180 — about 18%</a:t>
            </a:r>
            <a:endParaRPr lang="en-US" sz="2100" dirty="0"/>
          </a:p>
        </p:txBody>
      </p:sp>
      <p:sp>
        <p:nvSpPr>
          <p:cNvPr id="21" name="Shape 19"/>
          <p:cNvSpPr/>
          <p:nvPr/>
        </p:nvSpPr>
        <p:spPr>
          <a:xfrm>
            <a:off x="1143000" y="6977881"/>
            <a:ext cx="14859000" cy="19050"/>
          </a:xfrm>
          <a:prstGeom prst="rect">
            <a:avLst/>
          </a:prstGeom>
          <a:solidFill>
            <a:srgbClr val="EC3013"/>
          </a:solidFill>
          <a:ln/>
        </p:spPr>
        <p:txBody>
          <a:bodyPr/>
          <a:lstStyle/>
          <a:p>
            <a:endParaRPr lang="en-US"/>
          </a:p>
        </p:txBody>
      </p:sp>
      <p:sp>
        <p:nvSpPr>
          <p:cNvPr id="22" name="Text 20"/>
          <p:cNvSpPr/>
          <p:nvPr/>
        </p:nvSpPr>
        <p:spPr>
          <a:xfrm>
            <a:off x="1143000" y="7241753"/>
            <a:ext cx="16344900" cy="227558"/>
          </a:xfrm>
          <a:prstGeom prst="rect">
            <a:avLst/>
          </a:prstGeom>
          <a:noFill/>
          <a:ln/>
        </p:spPr>
        <p:txBody>
          <a:bodyPr wrap="square" lIns="25400" tIns="25400" rIns="25400" bIns="25400" rtlCol="0" anchor="t">
            <a:normAutofit fontScale="47500" lnSpcReduction="2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Try it yourself. </a:t>
            </a:r>
            <a:r>
              <a:rPr lang="en-US" sz="2175" dirty="0">
                <a:solidFill>
                  <a:srgbClr val="201E1D"/>
                </a:solidFill>
                <a:latin typeface="Arial" pitchFamily="34" charset="0"/>
                <a:ea typeface="Arial" pitchFamily="34" charset="-122"/>
                <a:cs typeface="Arial" pitchFamily="34" charset="-120"/>
              </a:rPr>
              <a:t>Same station. What is the probability that zero machines are down?</a:t>
            </a:r>
            <a:endParaRPr lang="en-US" sz="2175" dirty="0"/>
          </a:p>
        </p:txBody>
      </p:sp>
      <p:sp>
        <p:nvSpPr>
          <p:cNvPr id="23" name="Text 21"/>
          <p:cNvSpPr/>
          <p:nvPr/>
        </p:nvSpPr>
        <p:spPr>
          <a:xfrm>
            <a:off x="1143000" y="7598197"/>
            <a:ext cx="16344900" cy="194890"/>
          </a:xfrm>
          <a:prstGeom prst="rect">
            <a:avLst/>
          </a:prstGeom>
          <a:noFill/>
          <a:ln/>
        </p:spPr>
        <p:txBody>
          <a:bodyPr wrap="square" lIns="25400" tIns="25400" rIns="25400" bIns="25400" rtlCol="0" anchor="t">
            <a:noAutofit/>
          </a:bodyPr>
          <a:lstStyle/>
          <a:p>
            <a:pPr marL="0" indent="0" algn="l">
              <a:lnSpc>
                <a:spcPct val="138182"/>
              </a:lnSpc>
              <a:buNone/>
            </a:pPr>
            <a:r>
              <a:rPr lang="en-US" sz="1700" dirty="0">
                <a:solidFill>
                  <a:srgbClr val="211D1D">
                    <a:alpha val="55000"/>
                  </a:srgbClr>
                </a:solidFill>
                <a:latin typeface="Arial" pitchFamily="34" charset="0"/>
                <a:ea typeface="Arial" pitchFamily="34" charset="-122"/>
                <a:cs typeface="Arial" pitchFamily="34" charset="-120"/>
              </a:rPr>
              <a:t>P(X=0) = e⁻² × 2⁰ / 0! = e⁻² ≈ 0.135 — about 13.5%. All machines working is the less likely state.</a:t>
            </a:r>
            <a:endParaRPr lang="en-US" sz="1700" dirty="0"/>
          </a:p>
        </p:txBody>
      </p:sp>
      <p:pic>
        <p:nvPicPr>
          <p:cNvPr id="24"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REFERENCE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Which distribution, when</a:t>
            </a:r>
            <a:endParaRPr lang="en-US" sz="4800" dirty="0"/>
          </a:p>
        </p:txBody>
      </p:sp>
      <p:sp>
        <p:nvSpPr>
          <p:cNvPr id="4" name="Shape 2"/>
          <p:cNvSpPr/>
          <p:nvPr/>
        </p:nvSpPr>
        <p:spPr>
          <a:xfrm>
            <a:off x="1143000" y="3519711"/>
            <a:ext cx="9068321" cy="19050"/>
          </a:xfrm>
          <a:prstGeom prst="rect">
            <a:avLst/>
          </a:prstGeom>
          <a:solidFill>
            <a:srgbClr val="201E1E">
              <a:alpha val="40000"/>
            </a:srgbClr>
          </a:solidFill>
          <a:ln/>
        </p:spPr>
        <p:txBody>
          <a:bodyPr/>
          <a:lstStyle/>
          <a:p>
            <a:endParaRPr lang="en-US"/>
          </a:p>
        </p:txBody>
      </p:sp>
      <p:sp>
        <p:nvSpPr>
          <p:cNvPr id="5" name="Text 3"/>
          <p:cNvSpPr/>
          <p:nvPr/>
        </p:nvSpPr>
        <p:spPr>
          <a:xfrm>
            <a:off x="1143000" y="3173390"/>
            <a:ext cx="9111771"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THE QUESTION SOUNDS LIKE</a:t>
            </a:r>
            <a:endParaRPr lang="en-US" sz="1800" dirty="0"/>
          </a:p>
        </p:txBody>
      </p:sp>
      <p:sp>
        <p:nvSpPr>
          <p:cNvPr id="6" name="Shape 4"/>
          <p:cNvSpPr/>
          <p:nvPr/>
        </p:nvSpPr>
        <p:spPr>
          <a:xfrm>
            <a:off x="10211321" y="3519711"/>
            <a:ext cx="2718643" cy="19050"/>
          </a:xfrm>
          <a:prstGeom prst="rect">
            <a:avLst/>
          </a:prstGeom>
          <a:solidFill>
            <a:srgbClr val="201E1E">
              <a:alpha val="40000"/>
            </a:srgbClr>
          </a:solidFill>
          <a:ln/>
        </p:spPr>
        <p:txBody>
          <a:bodyPr/>
          <a:lstStyle/>
          <a:p>
            <a:endParaRPr lang="en-US"/>
          </a:p>
        </p:txBody>
      </p:sp>
      <p:sp>
        <p:nvSpPr>
          <p:cNvPr id="7" name="Text 5"/>
          <p:cNvSpPr/>
          <p:nvPr/>
        </p:nvSpPr>
        <p:spPr>
          <a:xfrm>
            <a:off x="10439921" y="3173390"/>
            <a:ext cx="2343003"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USE</a:t>
            </a:r>
            <a:endParaRPr lang="en-US" sz="1800" dirty="0"/>
          </a:p>
        </p:txBody>
      </p:sp>
      <p:sp>
        <p:nvSpPr>
          <p:cNvPr id="8" name="Shape 6"/>
          <p:cNvSpPr/>
          <p:nvPr/>
        </p:nvSpPr>
        <p:spPr>
          <a:xfrm>
            <a:off x="12929964" y="3519711"/>
            <a:ext cx="3072036" cy="19050"/>
          </a:xfrm>
          <a:prstGeom prst="rect">
            <a:avLst/>
          </a:prstGeom>
          <a:solidFill>
            <a:srgbClr val="201E1E">
              <a:alpha val="40000"/>
            </a:srgbClr>
          </a:solidFill>
          <a:ln/>
        </p:spPr>
        <p:txBody>
          <a:bodyPr/>
          <a:lstStyle/>
          <a:p>
            <a:endParaRPr lang="en-US"/>
          </a:p>
        </p:txBody>
      </p:sp>
      <p:sp>
        <p:nvSpPr>
          <p:cNvPr id="9" name="Text 7"/>
          <p:cNvSpPr/>
          <p:nvPr/>
        </p:nvSpPr>
        <p:spPr>
          <a:xfrm>
            <a:off x="13158564" y="3173390"/>
            <a:ext cx="2935597"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YOU NEED</a:t>
            </a:r>
            <a:endParaRPr lang="en-US" sz="1800" dirty="0"/>
          </a:p>
        </p:txBody>
      </p:sp>
      <p:sp>
        <p:nvSpPr>
          <p:cNvPr id="10" name="Shape 8"/>
          <p:cNvSpPr/>
          <p:nvPr/>
        </p:nvSpPr>
        <p:spPr>
          <a:xfrm>
            <a:off x="1143000" y="4100810"/>
            <a:ext cx="9068321" cy="9525"/>
          </a:xfrm>
          <a:prstGeom prst="rect">
            <a:avLst/>
          </a:prstGeom>
          <a:solidFill>
            <a:srgbClr val="201E1E">
              <a:alpha val="40000"/>
            </a:srgbClr>
          </a:solidFill>
          <a:ln/>
        </p:spPr>
        <p:txBody>
          <a:bodyPr/>
          <a:lstStyle/>
          <a:p>
            <a:endParaRPr lang="en-US"/>
          </a:p>
        </p:txBody>
      </p:sp>
      <p:sp>
        <p:nvSpPr>
          <p:cNvPr id="11" name="Text 9"/>
          <p:cNvSpPr/>
          <p:nvPr/>
        </p:nvSpPr>
        <p:spPr>
          <a:xfrm>
            <a:off x="1143000" y="3735785"/>
            <a:ext cx="9111771"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"How many of these 8 will say yes?"</a:t>
            </a:r>
            <a:endParaRPr lang="en-US" sz="1875" dirty="0"/>
          </a:p>
        </p:txBody>
      </p:sp>
      <p:sp>
        <p:nvSpPr>
          <p:cNvPr id="12" name="Shape 10"/>
          <p:cNvSpPr/>
          <p:nvPr/>
        </p:nvSpPr>
        <p:spPr>
          <a:xfrm>
            <a:off x="10211321" y="4100810"/>
            <a:ext cx="2718643" cy="9525"/>
          </a:xfrm>
          <a:prstGeom prst="rect">
            <a:avLst/>
          </a:prstGeom>
          <a:solidFill>
            <a:srgbClr val="201E1E">
              <a:alpha val="40000"/>
            </a:srgbClr>
          </a:solidFill>
          <a:ln/>
        </p:spPr>
        <p:txBody>
          <a:bodyPr/>
          <a:lstStyle/>
          <a:p>
            <a:endParaRPr lang="en-US"/>
          </a:p>
        </p:txBody>
      </p:sp>
      <p:sp>
        <p:nvSpPr>
          <p:cNvPr id="13" name="Text 11"/>
          <p:cNvSpPr/>
          <p:nvPr/>
        </p:nvSpPr>
        <p:spPr>
          <a:xfrm>
            <a:off x="10439921" y="3735785"/>
            <a:ext cx="2343003"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Binomial</a:t>
            </a:r>
            <a:endParaRPr lang="en-US" sz="1875" dirty="0"/>
          </a:p>
        </p:txBody>
      </p:sp>
      <p:sp>
        <p:nvSpPr>
          <p:cNvPr id="14" name="Shape 12"/>
          <p:cNvSpPr/>
          <p:nvPr/>
        </p:nvSpPr>
        <p:spPr>
          <a:xfrm>
            <a:off x="12929964" y="4100810"/>
            <a:ext cx="3072036" cy="9525"/>
          </a:xfrm>
          <a:prstGeom prst="rect">
            <a:avLst/>
          </a:prstGeom>
          <a:solidFill>
            <a:srgbClr val="201E1E">
              <a:alpha val="40000"/>
            </a:srgbClr>
          </a:solidFill>
          <a:ln/>
        </p:spPr>
        <p:txBody>
          <a:bodyPr/>
          <a:lstStyle/>
          <a:p>
            <a:endParaRPr lang="en-US"/>
          </a:p>
        </p:txBody>
      </p:sp>
      <p:sp>
        <p:nvSpPr>
          <p:cNvPr id="15" name="Text 13"/>
          <p:cNvSpPr/>
          <p:nvPr/>
        </p:nvSpPr>
        <p:spPr>
          <a:xfrm>
            <a:off x="13158564" y="3735785"/>
            <a:ext cx="2935597"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n and p</a:t>
            </a:r>
            <a:endParaRPr lang="en-US" sz="1875" dirty="0"/>
          </a:p>
        </p:txBody>
      </p:sp>
      <p:sp>
        <p:nvSpPr>
          <p:cNvPr id="16" name="Shape 14"/>
          <p:cNvSpPr/>
          <p:nvPr/>
        </p:nvSpPr>
        <p:spPr>
          <a:xfrm>
            <a:off x="1143000" y="4667622"/>
            <a:ext cx="9068321" cy="9525"/>
          </a:xfrm>
          <a:prstGeom prst="rect">
            <a:avLst/>
          </a:prstGeom>
          <a:solidFill>
            <a:srgbClr val="201E1E">
              <a:alpha val="40000"/>
            </a:srgbClr>
          </a:solidFill>
          <a:ln/>
        </p:spPr>
        <p:txBody>
          <a:bodyPr/>
          <a:lstStyle/>
          <a:p>
            <a:endParaRPr lang="en-US"/>
          </a:p>
        </p:txBody>
      </p:sp>
      <p:sp>
        <p:nvSpPr>
          <p:cNvPr id="17" name="Text 15"/>
          <p:cNvSpPr/>
          <p:nvPr/>
        </p:nvSpPr>
        <p:spPr>
          <a:xfrm>
            <a:off x="1143000" y="4307360"/>
            <a:ext cx="911177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"How many calls will arrive this hour?"</a:t>
            </a:r>
            <a:endParaRPr lang="en-US" sz="1875" dirty="0"/>
          </a:p>
        </p:txBody>
      </p:sp>
      <p:sp>
        <p:nvSpPr>
          <p:cNvPr id="18" name="Shape 16"/>
          <p:cNvSpPr/>
          <p:nvPr/>
        </p:nvSpPr>
        <p:spPr>
          <a:xfrm>
            <a:off x="10211321" y="4667622"/>
            <a:ext cx="2718643" cy="9525"/>
          </a:xfrm>
          <a:prstGeom prst="rect">
            <a:avLst/>
          </a:prstGeom>
          <a:solidFill>
            <a:srgbClr val="201E1E">
              <a:alpha val="40000"/>
            </a:srgbClr>
          </a:solidFill>
          <a:ln/>
        </p:spPr>
        <p:txBody>
          <a:bodyPr/>
          <a:lstStyle/>
          <a:p>
            <a:endParaRPr lang="en-US"/>
          </a:p>
        </p:txBody>
      </p:sp>
      <p:sp>
        <p:nvSpPr>
          <p:cNvPr id="19" name="Text 17"/>
          <p:cNvSpPr/>
          <p:nvPr/>
        </p:nvSpPr>
        <p:spPr>
          <a:xfrm>
            <a:off x="10439921" y="4307360"/>
            <a:ext cx="234300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Poisson</a:t>
            </a:r>
            <a:endParaRPr lang="en-US" sz="1875" dirty="0"/>
          </a:p>
        </p:txBody>
      </p:sp>
      <p:sp>
        <p:nvSpPr>
          <p:cNvPr id="20" name="Shape 18"/>
          <p:cNvSpPr/>
          <p:nvPr/>
        </p:nvSpPr>
        <p:spPr>
          <a:xfrm>
            <a:off x="12929964" y="4667622"/>
            <a:ext cx="3072036" cy="9525"/>
          </a:xfrm>
          <a:prstGeom prst="rect">
            <a:avLst/>
          </a:prstGeom>
          <a:solidFill>
            <a:srgbClr val="201E1E">
              <a:alpha val="40000"/>
            </a:srgbClr>
          </a:solidFill>
          <a:ln/>
        </p:spPr>
        <p:txBody>
          <a:bodyPr/>
          <a:lstStyle/>
          <a:p>
            <a:endParaRPr lang="en-US"/>
          </a:p>
        </p:txBody>
      </p:sp>
      <p:sp>
        <p:nvSpPr>
          <p:cNvPr id="21" name="Text 19"/>
          <p:cNvSpPr/>
          <p:nvPr/>
        </p:nvSpPr>
        <p:spPr>
          <a:xfrm>
            <a:off x="13158564" y="4307360"/>
            <a:ext cx="293559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λ only</a:t>
            </a:r>
            <a:endParaRPr lang="en-US" sz="1875" dirty="0"/>
          </a:p>
        </p:txBody>
      </p:sp>
      <p:sp>
        <p:nvSpPr>
          <p:cNvPr id="22" name="Shape 20"/>
          <p:cNvSpPr/>
          <p:nvPr/>
        </p:nvSpPr>
        <p:spPr>
          <a:xfrm>
            <a:off x="1143000" y="5234434"/>
            <a:ext cx="9068321" cy="9525"/>
          </a:xfrm>
          <a:prstGeom prst="rect">
            <a:avLst/>
          </a:prstGeom>
          <a:solidFill>
            <a:srgbClr val="201E1E">
              <a:alpha val="40000"/>
            </a:srgbClr>
          </a:solidFill>
          <a:ln/>
        </p:spPr>
        <p:txBody>
          <a:bodyPr/>
          <a:lstStyle/>
          <a:p>
            <a:endParaRPr lang="en-US"/>
          </a:p>
        </p:txBody>
      </p:sp>
      <p:sp>
        <p:nvSpPr>
          <p:cNvPr id="23" name="Text 21"/>
          <p:cNvSpPr/>
          <p:nvPr/>
        </p:nvSpPr>
        <p:spPr>
          <a:xfrm>
            <a:off x="1143000" y="4874172"/>
            <a:ext cx="911177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"How many prompts out of 500 will pass?"</a:t>
            </a:r>
            <a:endParaRPr lang="en-US" sz="1875" dirty="0"/>
          </a:p>
        </p:txBody>
      </p:sp>
      <p:sp>
        <p:nvSpPr>
          <p:cNvPr id="24" name="Shape 22"/>
          <p:cNvSpPr/>
          <p:nvPr/>
        </p:nvSpPr>
        <p:spPr>
          <a:xfrm>
            <a:off x="10211321" y="5234434"/>
            <a:ext cx="2718643" cy="9525"/>
          </a:xfrm>
          <a:prstGeom prst="rect">
            <a:avLst/>
          </a:prstGeom>
          <a:solidFill>
            <a:srgbClr val="201E1E">
              <a:alpha val="40000"/>
            </a:srgbClr>
          </a:solidFill>
          <a:ln/>
        </p:spPr>
        <p:txBody>
          <a:bodyPr/>
          <a:lstStyle/>
          <a:p>
            <a:endParaRPr lang="en-US"/>
          </a:p>
        </p:txBody>
      </p:sp>
      <p:sp>
        <p:nvSpPr>
          <p:cNvPr id="25" name="Text 23"/>
          <p:cNvSpPr/>
          <p:nvPr/>
        </p:nvSpPr>
        <p:spPr>
          <a:xfrm>
            <a:off x="10439921" y="4874172"/>
            <a:ext cx="234300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Binomial</a:t>
            </a:r>
            <a:endParaRPr lang="en-US" sz="1875" dirty="0"/>
          </a:p>
        </p:txBody>
      </p:sp>
      <p:sp>
        <p:nvSpPr>
          <p:cNvPr id="26" name="Shape 24"/>
          <p:cNvSpPr/>
          <p:nvPr/>
        </p:nvSpPr>
        <p:spPr>
          <a:xfrm>
            <a:off x="12929964" y="5234434"/>
            <a:ext cx="3072036" cy="9525"/>
          </a:xfrm>
          <a:prstGeom prst="rect">
            <a:avLst/>
          </a:prstGeom>
          <a:solidFill>
            <a:srgbClr val="201E1E">
              <a:alpha val="40000"/>
            </a:srgbClr>
          </a:solidFill>
          <a:ln/>
        </p:spPr>
        <p:txBody>
          <a:bodyPr/>
          <a:lstStyle/>
          <a:p>
            <a:endParaRPr lang="en-US"/>
          </a:p>
        </p:txBody>
      </p:sp>
      <p:sp>
        <p:nvSpPr>
          <p:cNvPr id="27" name="Text 25"/>
          <p:cNvSpPr/>
          <p:nvPr/>
        </p:nvSpPr>
        <p:spPr>
          <a:xfrm>
            <a:off x="13158564" y="4874172"/>
            <a:ext cx="293559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n and p</a:t>
            </a:r>
            <a:endParaRPr lang="en-US" sz="1875" dirty="0"/>
          </a:p>
        </p:txBody>
      </p:sp>
      <p:sp>
        <p:nvSpPr>
          <p:cNvPr id="28" name="Shape 26"/>
          <p:cNvSpPr/>
          <p:nvPr/>
        </p:nvSpPr>
        <p:spPr>
          <a:xfrm>
            <a:off x="1143000" y="5801246"/>
            <a:ext cx="9068321" cy="9525"/>
          </a:xfrm>
          <a:prstGeom prst="rect">
            <a:avLst/>
          </a:prstGeom>
          <a:solidFill>
            <a:srgbClr val="201E1E">
              <a:alpha val="40000"/>
            </a:srgbClr>
          </a:solidFill>
          <a:ln/>
        </p:spPr>
        <p:txBody>
          <a:bodyPr/>
          <a:lstStyle/>
          <a:p>
            <a:endParaRPr lang="en-US"/>
          </a:p>
        </p:txBody>
      </p:sp>
      <p:sp>
        <p:nvSpPr>
          <p:cNvPr id="29" name="Text 27"/>
          <p:cNvSpPr/>
          <p:nvPr/>
        </p:nvSpPr>
        <p:spPr>
          <a:xfrm>
            <a:off x="1143000" y="5440984"/>
            <a:ext cx="911177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"How many outages next quarter?"</a:t>
            </a:r>
            <a:endParaRPr lang="en-US" sz="1875" dirty="0"/>
          </a:p>
        </p:txBody>
      </p:sp>
      <p:sp>
        <p:nvSpPr>
          <p:cNvPr id="30" name="Shape 28"/>
          <p:cNvSpPr/>
          <p:nvPr/>
        </p:nvSpPr>
        <p:spPr>
          <a:xfrm>
            <a:off x="10211321" y="5801246"/>
            <a:ext cx="2718643" cy="9525"/>
          </a:xfrm>
          <a:prstGeom prst="rect">
            <a:avLst/>
          </a:prstGeom>
          <a:solidFill>
            <a:srgbClr val="201E1E">
              <a:alpha val="40000"/>
            </a:srgbClr>
          </a:solidFill>
          <a:ln/>
        </p:spPr>
        <p:txBody>
          <a:bodyPr/>
          <a:lstStyle/>
          <a:p>
            <a:endParaRPr lang="en-US"/>
          </a:p>
        </p:txBody>
      </p:sp>
      <p:sp>
        <p:nvSpPr>
          <p:cNvPr id="31" name="Text 29"/>
          <p:cNvSpPr/>
          <p:nvPr/>
        </p:nvSpPr>
        <p:spPr>
          <a:xfrm>
            <a:off x="10439921" y="5440984"/>
            <a:ext cx="234300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Poisson</a:t>
            </a:r>
            <a:endParaRPr lang="en-US" sz="1875" dirty="0"/>
          </a:p>
        </p:txBody>
      </p:sp>
      <p:sp>
        <p:nvSpPr>
          <p:cNvPr id="32" name="Shape 30"/>
          <p:cNvSpPr/>
          <p:nvPr/>
        </p:nvSpPr>
        <p:spPr>
          <a:xfrm>
            <a:off x="12929964" y="5801246"/>
            <a:ext cx="3072036" cy="9525"/>
          </a:xfrm>
          <a:prstGeom prst="rect">
            <a:avLst/>
          </a:prstGeom>
          <a:solidFill>
            <a:srgbClr val="201E1E">
              <a:alpha val="40000"/>
            </a:srgbClr>
          </a:solidFill>
          <a:ln/>
        </p:spPr>
        <p:txBody>
          <a:bodyPr/>
          <a:lstStyle/>
          <a:p>
            <a:endParaRPr lang="en-US"/>
          </a:p>
        </p:txBody>
      </p:sp>
      <p:sp>
        <p:nvSpPr>
          <p:cNvPr id="33" name="Text 31"/>
          <p:cNvSpPr/>
          <p:nvPr/>
        </p:nvSpPr>
        <p:spPr>
          <a:xfrm>
            <a:off x="13158564" y="5440984"/>
            <a:ext cx="293559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λ only</a:t>
            </a:r>
            <a:endParaRPr lang="en-US" sz="1875" dirty="0"/>
          </a:p>
        </p:txBody>
      </p:sp>
      <p:sp>
        <p:nvSpPr>
          <p:cNvPr id="34" name="Shape 32"/>
          <p:cNvSpPr/>
          <p:nvPr/>
        </p:nvSpPr>
        <p:spPr>
          <a:xfrm>
            <a:off x="1143000" y="6368058"/>
            <a:ext cx="9068321" cy="9525"/>
          </a:xfrm>
          <a:prstGeom prst="rect">
            <a:avLst/>
          </a:prstGeom>
          <a:solidFill>
            <a:srgbClr val="201E1E">
              <a:alpha val="40000"/>
            </a:srgbClr>
          </a:solidFill>
          <a:ln/>
        </p:spPr>
        <p:txBody>
          <a:bodyPr/>
          <a:lstStyle/>
          <a:p>
            <a:endParaRPr lang="en-US"/>
          </a:p>
        </p:txBody>
      </p:sp>
      <p:sp>
        <p:nvSpPr>
          <p:cNvPr id="35" name="Text 33"/>
          <p:cNvSpPr/>
          <p:nvPr/>
        </p:nvSpPr>
        <p:spPr>
          <a:xfrm>
            <a:off x="1143000" y="6007796"/>
            <a:ext cx="911177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"How tall is the average customer?"</a:t>
            </a:r>
            <a:endParaRPr lang="en-US" sz="1875" dirty="0"/>
          </a:p>
        </p:txBody>
      </p:sp>
      <p:sp>
        <p:nvSpPr>
          <p:cNvPr id="36" name="Shape 34"/>
          <p:cNvSpPr/>
          <p:nvPr/>
        </p:nvSpPr>
        <p:spPr>
          <a:xfrm>
            <a:off x="10211321" y="6368058"/>
            <a:ext cx="2718643" cy="9525"/>
          </a:xfrm>
          <a:prstGeom prst="rect">
            <a:avLst/>
          </a:prstGeom>
          <a:solidFill>
            <a:srgbClr val="201E1E">
              <a:alpha val="40000"/>
            </a:srgbClr>
          </a:solidFill>
          <a:ln/>
        </p:spPr>
        <p:txBody>
          <a:bodyPr/>
          <a:lstStyle/>
          <a:p>
            <a:endParaRPr lang="en-US"/>
          </a:p>
        </p:txBody>
      </p:sp>
      <p:sp>
        <p:nvSpPr>
          <p:cNvPr id="37" name="Text 35"/>
          <p:cNvSpPr/>
          <p:nvPr/>
        </p:nvSpPr>
        <p:spPr>
          <a:xfrm>
            <a:off x="10439921" y="6007796"/>
            <a:ext cx="234300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Normal</a:t>
            </a:r>
            <a:endParaRPr lang="en-US" sz="1875" dirty="0"/>
          </a:p>
        </p:txBody>
      </p:sp>
      <p:sp>
        <p:nvSpPr>
          <p:cNvPr id="38" name="Shape 36"/>
          <p:cNvSpPr/>
          <p:nvPr/>
        </p:nvSpPr>
        <p:spPr>
          <a:xfrm>
            <a:off x="12929964" y="6368058"/>
            <a:ext cx="3072036" cy="9525"/>
          </a:xfrm>
          <a:prstGeom prst="rect">
            <a:avLst/>
          </a:prstGeom>
          <a:solidFill>
            <a:srgbClr val="201E1E">
              <a:alpha val="40000"/>
            </a:srgbClr>
          </a:solidFill>
          <a:ln/>
        </p:spPr>
        <p:txBody>
          <a:bodyPr/>
          <a:lstStyle/>
          <a:p>
            <a:endParaRPr lang="en-US"/>
          </a:p>
        </p:txBody>
      </p:sp>
      <p:sp>
        <p:nvSpPr>
          <p:cNvPr id="39" name="Text 37"/>
          <p:cNvSpPr/>
          <p:nvPr/>
        </p:nvSpPr>
        <p:spPr>
          <a:xfrm>
            <a:off x="13158564" y="6007796"/>
            <a:ext cx="293559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μ and σ</a:t>
            </a:r>
            <a:endParaRPr lang="en-US" sz="1875" dirty="0"/>
          </a:p>
        </p:txBody>
      </p:sp>
      <p:sp>
        <p:nvSpPr>
          <p:cNvPr id="40" name="Shape 38"/>
          <p:cNvSpPr/>
          <p:nvPr/>
        </p:nvSpPr>
        <p:spPr>
          <a:xfrm>
            <a:off x="1143000" y="7165628"/>
            <a:ext cx="16002000" cy="19050"/>
          </a:xfrm>
          <a:prstGeom prst="rect">
            <a:avLst/>
          </a:prstGeom>
          <a:solidFill>
            <a:srgbClr val="EC3013"/>
          </a:solidFill>
          <a:ln/>
        </p:spPr>
        <p:txBody>
          <a:bodyPr/>
          <a:lstStyle/>
          <a:p>
            <a:endParaRPr lang="en-US"/>
          </a:p>
        </p:txBody>
      </p:sp>
      <p:sp>
        <p:nvSpPr>
          <p:cNvPr id="41" name="Text 39"/>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THE TEST</a:t>
            </a:r>
            <a:endParaRPr lang="en-US" sz="1800" dirty="0"/>
          </a:p>
        </p:txBody>
      </p:sp>
      <p:sp>
        <p:nvSpPr>
          <p:cNvPr id="42" name="Text 40"/>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Ask: is there a fixed number of tries, and do I know it? Yes means binomial. No — events just arrive — means Poisson. Measuring a continuous quantity means normal.</a:t>
            </a:r>
            <a:endParaRPr lang="en-US" sz="2100" dirty="0"/>
          </a:p>
        </p:txBody>
      </p:sp>
      <p:pic>
        <p:nvPicPr>
          <p:cNvPr id="43"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SAMPLING</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Error shrinks only as the square root of n</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Margin of error is roughly 1 ÷ √n. Four times the data buys half the error bar, and nothing buys it faster.</a:t>
            </a:r>
            <a:endParaRPr lang="en-US" sz="2100" dirty="0"/>
          </a:p>
        </p:txBody>
      </p:sp>
      <p:sp>
        <p:nvSpPr>
          <p:cNvPr id="5" name="Shape 3"/>
          <p:cNvSpPr/>
          <p:nvPr/>
        </p:nvSpPr>
        <p:spPr>
          <a:xfrm>
            <a:off x="1143000" y="4091211"/>
            <a:ext cx="5061496" cy="19050"/>
          </a:xfrm>
          <a:prstGeom prst="rect">
            <a:avLst/>
          </a:prstGeom>
          <a:solidFill>
            <a:srgbClr val="201E1E">
              <a:alpha val="40000"/>
            </a:srgbClr>
          </a:solidFill>
          <a:ln/>
        </p:spPr>
        <p:txBody>
          <a:bodyPr/>
          <a:lstStyle/>
          <a:p>
            <a:endParaRPr lang="en-US"/>
          </a:p>
        </p:txBody>
      </p:sp>
      <p:sp>
        <p:nvSpPr>
          <p:cNvPr id="6" name="Text 4"/>
          <p:cNvSpPr/>
          <p:nvPr/>
        </p:nvSpPr>
        <p:spPr>
          <a:xfrm>
            <a:off x="1143000" y="3744890"/>
            <a:ext cx="4984741"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PROMPTS EVALUATED</a:t>
            </a:r>
            <a:endParaRPr lang="en-US" sz="1800" dirty="0"/>
          </a:p>
        </p:txBody>
      </p:sp>
      <p:sp>
        <p:nvSpPr>
          <p:cNvPr id="7" name="Shape 5"/>
          <p:cNvSpPr/>
          <p:nvPr/>
        </p:nvSpPr>
        <p:spPr>
          <a:xfrm>
            <a:off x="6204496" y="4091211"/>
            <a:ext cx="3177406" cy="19050"/>
          </a:xfrm>
          <a:prstGeom prst="rect">
            <a:avLst/>
          </a:prstGeom>
          <a:solidFill>
            <a:srgbClr val="201E1E">
              <a:alpha val="40000"/>
            </a:srgbClr>
          </a:solidFill>
          <a:ln/>
        </p:spPr>
        <p:txBody>
          <a:bodyPr/>
          <a:lstStyle/>
          <a:p>
            <a:endParaRPr lang="en-US"/>
          </a:p>
        </p:txBody>
      </p:sp>
      <p:sp>
        <p:nvSpPr>
          <p:cNvPr id="8" name="Text 6"/>
          <p:cNvSpPr/>
          <p:nvPr/>
        </p:nvSpPr>
        <p:spPr>
          <a:xfrm>
            <a:off x="6433096" y="3744890"/>
            <a:ext cx="2815528"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ROUGHLY ±</a:t>
            </a:r>
            <a:endParaRPr lang="en-US" sz="1800" dirty="0"/>
          </a:p>
        </p:txBody>
      </p:sp>
      <p:sp>
        <p:nvSpPr>
          <p:cNvPr id="9" name="Shape 7"/>
          <p:cNvSpPr/>
          <p:nvPr/>
        </p:nvSpPr>
        <p:spPr>
          <a:xfrm>
            <a:off x="9381902" y="4091211"/>
            <a:ext cx="6620098" cy="19050"/>
          </a:xfrm>
          <a:prstGeom prst="rect">
            <a:avLst/>
          </a:prstGeom>
          <a:solidFill>
            <a:srgbClr val="201E1E">
              <a:alpha val="40000"/>
            </a:srgbClr>
          </a:solidFill>
          <a:ln/>
        </p:spPr>
        <p:txBody>
          <a:bodyPr/>
          <a:lstStyle/>
          <a:p>
            <a:endParaRPr lang="en-US"/>
          </a:p>
        </p:txBody>
      </p:sp>
      <p:sp>
        <p:nvSpPr>
          <p:cNvPr id="10" name="Text 8"/>
          <p:cNvSpPr/>
          <p:nvPr/>
        </p:nvSpPr>
        <p:spPr>
          <a:xfrm>
            <a:off x="9610502" y="3744890"/>
            <a:ext cx="6590101"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A 78% SCORE REALLY MEANS</a:t>
            </a:r>
            <a:endParaRPr lang="en-US" sz="1800" dirty="0"/>
          </a:p>
        </p:txBody>
      </p:sp>
      <p:sp>
        <p:nvSpPr>
          <p:cNvPr id="11" name="Shape 9"/>
          <p:cNvSpPr/>
          <p:nvPr/>
        </p:nvSpPr>
        <p:spPr>
          <a:xfrm>
            <a:off x="1143000" y="4672310"/>
            <a:ext cx="5061496" cy="9525"/>
          </a:xfrm>
          <a:prstGeom prst="rect">
            <a:avLst/>
          </a:prstGeom>
          <a:solidFill>
            <a:srgbClr val="201E1E">
              <a:alpha val="40000"/>
            </a:srgbClr>
          </a:solidFill>
          <a:ln/>
        </p:spPr>
        <p:txBody>
          <a:bodyPr/>
          <a:lstStyle/>
          <a:p>
            <a:endParaRPr lang="en-US"/>
          </a:p>
        </p:txBody>
      </p:sp>
      <p:sp>
        <p:nvSpPr>
          <p:cNvPr id="12" name="Text 10"/>
          <p:cNvSpPr/>
          <p:nvPr/>
        </p:nvSpPr>
        <p:spPr>
          <a:xfrm>
            <a:off x="1143000" y="4307285"/>
            <a:ext cx="4984741"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25</a:t>
            </a:r>
            <a:endParaRPr lang="en-US" sz="1875" dirty="0"/>
          </a:p>
        </p:txBody>
      </p:sp>
      <p:sp>
        <p:nvSpPr>
          <p:cNvPr id="13" name="Shape 11"/>
          <p:cNvSpPr/>
          <p:nvPr/>
        </p:nvSpPr>
        <p:spPr>
          <a:xfrm>
            <a:off x="6204496" y="4672310"/>
            <a:ext cx="3177406" cy="9525"/>
          </a:xfrm>
          <a:prstGeom prst="rect">
            <a:avLst/>
          </a:prstGeom>
          <a:solidFill>
            <a:srgbClr val="201E1E">
              <a:alpha val="40000"/>
            </a:srgbClr>
          </a:solidFill>
          <a:ln/>
        </p:spPr>
        <p:txBody>
          <a:bodyPr/>
          <a:lstStyle/>
          <a:p>
            <a:endParaRPr lang="en-US"/>
          </a:p>
        </p:txBody>
      </p:sp>
      <p:sp>
        <p:nvSpPr>
          <p:cNvPr id="14" name="Text 12"/>
          <p:cNvSpPr/>
          <p:nvPr/>
        </p:nvSpPr>
        <p:spPr>
          <a:xfrm>
            <a:off x="6433096" y="4307285"/>
            <a:ext cx="2815528"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20 points</a:t>
            </a:r>
            <a:endParaRPr lang="en-US" sz="1875" dirty="0"/>
          </a:p>
        </p:txBody>
      </p:sp>
      <p:sp>
        <p:nvSpPr>
          <p:cNvPr id="15" name="Shape 13"/>
          <p:cNvSpPr/>
          <p:nvPr/>
        </p:nvSpPr>
        <p:spPr>
          <a:xfrm>
            <a:off x="9381902" y="4672310"/>
            <a:ext cx="6620098" cy="9525"/>
          </a:xfrm>
          <a:prstGeom prst="rect">
            <a:avLst/>
          </a:prstGeom>
          <a:solidFill>
            <a:srgbClr val="201E1E">
              <a:alpha val="40000"/>
            </a:srgbClr>
          </a:solidFill>
          <a:ln/>
        </p:spPr>
        <p:txBody>
          <a:bodyPr/>
          <a:lstStyle/>
          <a:p>
            <a:endParaRPr lang="en-US"/>
          </a:p>
        </p:txBody>
      </p:sp>
      <p:sp>
        <p:nvSpPr>
          <p:cNvPr id="16" name="Text 14"/>
          <p:cNvSpPr/>
          <p:nvPr/>
        </p:nvSpPr>
        <p:spPr>
          <a:xfrm>
            <a:off x="9610502" y="4307285"/>
            <a:ext cx="6590101"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Somewhere between 58% and 98%</a:t>
            </a:r>
            <a:endParaRPr lang="en-US" sz="1875" dirty="0"/>
          </a:p>
        </p:txBody>
      </p:sp>
      <p:sp>
        <p:nvSpPr>
          <p:cNvPr id="17" name="Shape 15"/>
          <p:cNvSpPr/>
          <p:nvPr/>
        </p:nvSpPr>
        <p:spPr>
          <a:xfrm>
            <a:off x="1143000" y="5239122"/>
            <a:ext cx="5061496" cy="9525"/>
          </a:xfrm>
          <a:prstGeom prst="rect">
            <a:avLst/>
          </a:prstGeom>
          <a:solidFill>
            <a:srgbClr val="201E1E">
              <a:alpha val="40000"/>
            </a:srgbClr>
          </a:solidFill>
          <a:ln/>
        </p:spPr>
        <p:txBody>
          <a:bodyPr/>
          <a:lstStyle/>
          <a:p>
            <a:endParaRPr lang="en-US"/>
          </a:p>
        </p:txBody>
      </p:sp>
      <p:sp>
        <p:nvSpPr>
          <p:cNvPr id="18" name="Text 16"/>
          <p:cNvSpPr/>
          <p:nvPr/>
        </p:nvSpPr>
        <p:spPr>
          <a:xfrm>
            <a:off x="1143000" y="4878860"/>
            <a:ext cx="498474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100</a:t>
            </a:r>
            <a:endParaRPr lang="en-US" sz="1875" dirty="0"/>
          </a:p>
        </p:txBody>
      </p:sp>
      <p:sp>
        <p:nvSpPr>
          <p:cNvPr id="19" name="Shape 17"/>
          <p:cNvSpPr/>
          <p:nvPr/>
        </p:nvSpPr>
        <p:spPr>
          <a:xfrm>
            <a:off x="6204496" y="5239122"/>
            <a:ext cx="3177406" cy="9525"/>
          </a:xfrm>
          <a:prstGeom prst="rect">
            <a:avLst/>
          </a:prstGeom>
          <a:solidFill>
            <a:srgbClr val="201E1E">
              <a:alpha val="40000"/>
            </a:srgbClr>
          </a:solidFill>
          <a:ln/>
        </p:spPr>
        <p:txBody>
          <a:bodyPr/>
          <a:lstStyle/>
          <a:p>
            <a:endParaRPr lang="en-US"/>
          </a:p>
        </p:txBody>
      </p:sp>
      <p:sp>
        <p:nvSpPr>
          <p:cNvPr id="20" name="Text 18"/>
          <p:cNvSpPr/>
          <p:nvPr/>
        </p:nvSpPr>
        <p:spPr>
          <a:xfrm>
            <a:off x="6433096" y="4878860"/>
            <a:ext cx="2815528"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10 points</a:t>
            </a:r>
            <a:endParaRPr lang="en-US" sz="1875" dirty="0"/>
          </a:p>
        </p:txBody>
      </p:sp>
      <p:sp>
        <p:nvSpPr>
          <p:cNvPr id="21" name="Shape 19"/>
          <p:cNvSpPr/>
          <p:nvPr/>
        </p:nvSpPr>
        <p:spPr>
          <a:xfrm>
            <a:off x="9381902" y="5239122"/>
            <a:ext cx="6620098" cy="9525"/>
          </a:xfrm>
          <a:prstGeom prst="rect">
            <a:avLst/>
          </a:prstGeom>
          <a:solidFill>
            <a:srgbClr val="201E1E">
              <a:alpha val="40000"/>
            </a:srgbClr>
          </a:solidFill>
          <a:ln/>
        </p:spPr>
        <p:txBody>
          <a:bodyPr/>
          <a:lstStyle/>
          <a:p>
            <a:endParaRPr lang="en-US"/>
          </a:p>
        </p:txBody>
      </p:sp>
      <p:sp>
        <p:nvSpPr>
          <p:cNvPr id="22" name="Text 20"/>
          <p:cNvSpPr/>
          <p:nvPr/>
        </p:nvSpPr>
        <p:spPr>
          <a:xfrm>
            <a:off x="9610502" y="4878860"/>
            <a:ext cx="659010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68% to 88%</a:t>
            </a:r>
            <a:endParaRPr lang="en-US" sz="1875" dirty="0"/>
          </a:p>
        </p:txBody>
      </p:sp>
      <p:sp>
        <p:nvSpPr>
          <p:cNvPr id="23" name="Shape 21"/>
          <p:cNvSpPr/>
          <p:nvPr/>
        </p:nvSpPr>
        <p:spPr>
          <a:xfrm>
            <a:off x="1143000" y="5805934"/>
            <a:ext cx="5061496" cy="9525"/>
          </a:xfrm>
          <a:prstGeom prst="rect">
            <a:avLst/>
          </a:prstGeom>
          <a:solidFill>
            <a:srgbClr val="201E1E">
              <a:alpha val="40000"/>
            </a:srgbClr>
          </a:solidFill>
          <a:ln/>
        </p:spPr>
        <p:txBody>
          <a:bodyPr/>
          <a:lstStyle/>
          <a:p>
            <a:endParaRPr lang="en-US"/>
          </a:p>
        </p:txBody>
      </p:sp>
      <p:sp>
        <p:nvSpPr>
          <p:cNvPr id="24" name="Text 22"/>
          <p:cNvSpPr/>
          <p:nvPr/>
        </p:nvSpPr>
        <p:spPr>
          <a:xfrm>
            <a:off x="1143000" y="5445672"/>
            <a:ext cx="498474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400</a:t>
            </a:r>
            <a:endParaRPr lang="en-US" sz="1875" dirty="0"/>
          </a:p>
        </p:txBody>
      </p:sp>
      <p:sp>
        <p:nvSpPr>
          <p:cNvPr id="25" name="Shape 23"/>
          <p:cNvSpPr/>
          <p:nvPr/>
        </p:nvSpPr>
        <p:spPr>
          <a:xfrm>
            <a:off x="6204496" y="5805934"/>
            <a:ext cx="3177406" cy="9525"/>
          </a:xfrm>
          <a:prstGeom prst="rect">
            <a:avLst/>
          </a:prstGeom>
          <a:solidFill>
            <a:srgbClr val="201E1E">
              <a:alpha val="40000"/>
            </a:srgbClr>
          </a:solidFill>
          <a:ln/>
        </p:spPr>
        <p:txBody>
          <a:bodyPr/>
          <a:lstStyle/>
          <a:p>
            <a:endParaRPr lang="en-US"/>
          </a:p>
        </p:txBody>
      </p:sp>
      <p:sp>
        <p:nvSpPr>
          <p:cNvPr id="26" name="Text 24"/>
          <p:cNvSpPr/>
          <p:nvPr/>
        </p:nvSpPr>
        <p:spPr>
          <a:xfrm>
            <a:off x="6433096" y="5445672"/>
            <a:ext cx="2815528"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5 points</a:t>
            </a:r>
            <a:endParaRPr lang="en-US" sz="1875" dirty="0"/>
          </a:p>
        </p:txBody>
      </p:sp>
      <p:sp>
        <p:nvSpPr>
          <p:cNvPr id="27" name="Shape 25"/>
          <p:cNvSpPr/>
          <p:nvPr/>
        </p:nvSpPr>
        <p:spPr>
          <a:xfrm>
            <a:off x="9381902" y="5805934"/>
            <a:ext cx="6620098" cy="9525"/>
          </a:xfrm>
          <a:prstGeom prst="rect">
            <a:avLst/>
          </a:prstGeom>
          <a:solidFill>
            <a:srgbClr val="201E1E">
              <a:alpha val="40000"/>
            </a:srgbClr>
          </a:solidFill>
          <a:ln/>
        </p:spPr>
        <p:txBody>
          <a:bodyPr/>
          <a:lstStyle/>
          <a:p>
            <a:endParaRPr lang="en-US"/>
          </a:p>
        </p:txBody>
      </p:sp>
      <p:sp>
        <p:nvSpPr>
          <p:cNvPr id="28" name="Text 26"/>
          <p:cNvSpPr/>
          <p:nvPr/>
        </p:nvSpPr>
        <p:spPr>
          <a:xfrm>
            <a:off x="9610502" y="5445672"/>
            <a:ext cx="659010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73% to 83%</a:t>
            </a:r>
            <a:endParaRPr lang="en-US" sz="1875" dirty="0"/>
          </a:p>
        </p:txBody>
      </p:sp>
      <p:sp>
        <p:nvSpPr>
          <p:cNvPr id="29" name="Shape 27"/>
          <p:cNvSpPr/>
          <p:nvPr/>
        </p:nvSpPr>
        <p:spPr>
          <a:xfrm>
            <a:off x="1143000" y="6372746"/>
            <a:ext cx="5061496" cy="9525"/>
          </a:xfrm>
          <a:prstGeom prst="rect">
            <a:avLst/>
          </a:prstGeom>
          <a:solidFill>
            <a:srgbClr val="201E1E">
              <a:alpha val="40000"/>
            </a:srgbClr>
          </a:solidFill>
          <a:ln/>
        </p:spPr>
        <p:txBody>
          <a:bodyPr/>
          <a:lstStyle/>
          <a:p>
            <a:endParaRPr lang="en-US"/>
          </a:p>
        </p:txBody>
      </p:sp>
      <p:sp>
        <p:nvSpPr>
          <p:cNvPr id="30" name="Text 28"/>
          <p:cNvSpPr/>
          <p:nvPr/>
        </p:nvSpPr>
        <p:spPr>
          <a:xfrm>
            <a:off x="1143000" y="6012484"/>
            <a:ext cx="498474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2,500</a:t>
            </a:r>
            <a:endParaRPr lang="en-US" sz="1875" dirty="0"/>
          </a:p>
        </p:txBody>
      </p:sp>
      <p:sp>
        <p:nvSpPr>
          <p:cNvPr id="31" name="Shape 29"/>
          <p:cNvSpPr/>
          <p:nvPr/>
        </p:nvSpPr>
        <p:spPr>
          <a:xfrm>
            <a:off x="6204496" y="6372746"/>
            <a:ext cx="3177406" cy="9525"/>
          </a:xfrm>
          <a:prstGeom prst="rect">
            <a:avLst/>
          </a:prstGeom>
          <a:solidFill>
            <a:srgbClr val="201E1E">
              <a:alpha val="40000"/>
            </a:srgbClr>
          </a:solidFill>
          <a:ln/>
        </p:spPr>
        <p:txBody>
          <a:bodyPr/>
          <a:lstStyle/>
          <a:p>
            <a:endParaRPr lang="en-US"/>
          </a:p>
        </p:txBody>
      </p:sp>
      <p:sp>
        <p:nvSpPr>
          <p:cNvPr id="32" name="Text 30"/>
          <p:cNvSpPr/>
          <p:nvPr/>
        </p:nvSpPr>
        <p:spPr>
          <a:xfrm>
            <a:off x="6433096" y="6012484"/>
            <a:ext cx="2815528"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 points</a:t>
            </a:r>
            <a:endParaRPr lang="en-US" sz="1875" dirty="0"/>
          </a:p>
        </p:txBody>
      </p:sp>
      <p:sp>
        <p:nvSpPr>
          <p:cNvPr id="33" name="Shape 31"/>
          <p:cNvSpPr/>
          <p:nvPr/>
        </p:nvSpPr>
        <p:spPr>
          <a:xfrm>
            <a:off x="9381902" y="6372746"/>
            <a:ext cx="6620098" cy="9525"/>
          </a:xfrm>
          <a:prstGeom prst="rect">
            <a:avLst/>
          </a:prstGeom>
          <a:solidFill>
            <a:srgbClr val="201E1E">
              <a:alpha val="40000"/>
            </a:srgbClr>
          </a:solidFill>
          <a:ln/>
        </p:spPr>
        <p:txBody>
          <a:bodyPr/>
          <a:lstStyle/>
          <a:p>
            <a:endParaRPr lang="en-US"/>
          </a:p>
        </p:txBody>
      </p:sp>
      <p:sp>
        <p:nvSpPr>
          <p:cNvPr id="34" name="Text 32"/>
          <p:cNvSpPr/>
          <p:nvPr/>
        </p:nvSpPr>
        <p:spPr>
          <a:xfrm>
            <a:off x="9610502" y="6012484"/>
            <a:ext cx="659010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76% to 80%</a:t>
            </a:r>
            <a:endParaRPr lang="en-US" sz="1875" dirty="0"/>
          </a:p>
        </p:txBody>
      </p:sp>
      <p:sp>
        <p:nvSpPr>
          <p:cNvPr id="35" name="Shape 33"/>
          <p:cNvSpPr/>
          <p:nvPr/>
        </p:nvSpPr>
        <p:spPr>
          <a:xfrm>
            <a:off x="1143000" y="7165628"/>
            <a:ext cx="16002000" cy="19050"/>
          </a:xfrm>
          <a:prstGeom prst="rect">
            <a:avLst/>
          </a:prstGeom>
          <a:solidFill>
            <a:srgbClr val="EC3013"/>
          </a:solidFill>
          <a:ln/>
        </p:spPr>
        <p:txBody>
          <a:bodyPr/>
          <a:lstStyle/>
          <a:p>
            <a:endParaRPr lang="en-US"/>
          </a:p>
        </p:txBody>
      </p:sp>
      <p:sp>
        <p:nvSpPr>
          <p:cNvPr id="36" name="Text 34"/>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37" name="Text 35"/>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model that scores 2 points higher on a 100-prompt eval has not beaten anything. Four times the data buys half the error bar — plan the eval set before you run the comparison.</a:t>
            </a:r>
            <a:endParaRPr lang="en-US" sz="2100" dirty="0"/>
          </a:p>
        </p:txBody>
      </p:sp>
      <p:pic>
        <p:nvPicPr>
          <p:cNvPr id="38"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AI APPLICATION MAPPING</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Where distributions show up in AI</a:t>
            </a:r>
            <a:endParaRPr lang="en-US" sz="4800" dirty="0"/>
          </a:p>
        </p:txBody>
      </p:sp>
      <p:sp>
        <p:nvSpPr>
          <p:cNvPr id="4" name="Shape 2"/>
          <p:cNvSpPr/>
          <p:nvPr/>
        </p:nvSpPr>
        <p:spPr>
          <a:xfrm>
            <a:off x="1143000" y="3190875"/>
            <a:ext cx="77724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Anomaly detection</a:t>
            </a:r>
            <a:endParaRPr lang="en-US" sz="2550" dirty="0"/>
          </a:p>
        </p:txBody>
      </p:sp>
      <p:sp>
        <p:nvSpPr>
          <p:cNvPr id="6" name="Text 4"/>
          <p:cNvSpPr/>
          <p:nvPr/>
        </p:nvSpPr>
        <p:spPr>
          <a:xfrm>
            <a:off x="1143000" y="3931741"/>
            <a:ext cx="8005572" cy="11354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Flagging counts that deviate from the expected distribution. Poisson tells you whether nine errors in an hour is alarming or ordinary.</a:t>
            </a:r>
            <a:endParaRPr lang="en-US" sz="2100" dirty="0"/>
          </a:p>
        </p:txBody>
      </p:sp>
      <p:sp>
        <p:nvSpPr>
          <p:cNvPr id="7" name="Shape 5"/>
          <p:cNvSpPr/>
          <p:nvPr/>
        </p:nvSpPr>
        <p:spPr>
          <a:xfrm>
            <a:off x="9372600" y="3190875"/>
            <a:ext cx="7772400" cy="19050"/>
          </a:xfrm>
          <a:prstGeom prst="rect">
            <a:avLst/>
          </a:prstGeom>
          <a:solidFill>
            <a:srgbClr val="201E1E">
              <a:alpha val="40000"/>
            </a:srgbClr>
          </a:solidFill>
          <a:ln/>
        </p:spPr>
        <p:txBody>
          <a:bodyPr/>
          <a:lstStyle/>
          <a:p>
            <a:endParaRPr lang="en-US"/>
          </a:p>
        </p:txBody>
      </p:sp>
      <p:sp>
        <p:nvSpPr>
          <p:cNvPr id="8" name="Text 6"/>
          <p:cNvSpPr/>
          <p:nvPr/>
        </p:nvSpPr>
        <p:spPr>
          <a:xfrm>
            <a:off x="9372600" y="3425577"/>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Churn modelling</a:t>
            </a:r>
            <a:endParaRPr lang="en-US" sz="2550" dirty="0"/>
          </a:p>
        </p:txBody>
      </p:sp>
      <p:sp>
        <p:nvSpPr>
          <p:cNvPr id="9" name="Text 7"/>
          <p:cNvSpPr/>
          <p:nvPr/>
        </p:nvSpPr>
        <p:spPr>
          <a:xfrm>
            <a:off x="9372600" y="3931741"/>
            <a:ext cx="8005572"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Estimating how many customers out of a known cohort will leave — a binomial question with a learned p per customer.</a:t>
            </a:r>
            <a:endParaRPr lang="en-US" sz="2100" dirty="0"/>
          </a:p>
        </p:txBody>
      </p:sp>
      <p:sp>
        <p:nvSpPr>
          <p:cNvPr id="10" name="Shape 8"/>
          <p:cNvSpPr/>
          <p:nvPr/>
        </p:nvSpPr>
        <p:spPr>
          <a:xfrm>
            <a:off x="1143000" y="5029126"/>
            <a:ext cx="7772400" cy="19050"/>
          </a:xfrm>
          <a:prstGeom prst="rect">
            <a:avLst/>
          </a:prstGeom>
          <a:solidFill>
            <a:srgbClr val="201E1E">
              <a:alpha val="40000"/>
            </a:srgbClr>
          </a:solidFill>
          <a:ln/>
        </p:spPr>
        <p:txBody>
          <a:bodyPr/>
          <a:lstStyle/>
          <a:p>
            <a:endParaRPr lang="en-US"/>
          </a:p>
        </p:txBody>
      </p:sp>
      <p:sp>
        <p:nvSpPr>
          <p:cNvPr id="11" name="Text 9"/>
          <p:cNvSpPr/>
          <p:nvPr/>
        </p:nvSpPr>
        <p:spPr>
          <a:xfrm>
            <a:off x="1143000" y="5263828"/>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Demand forecasting</a:t>
            </a:r>
            <a:endParaRPr lang="en-US" sz="2550" dirty="0"/>
          </a:p>
        </p:txBody>
      </p:sp>
      <p:sp>
        <p:nvSpPr>
          <p:cNvPr id="12" name="Text 10"/>
          <p:cNvSpPr/>
          <p:nvPr/>
        </p:nvSpPr>
        <p:spPr>
          <a:xfrm>
            <a:off x="1143000" y="5769992"/>
            <a:ext cx="8005572"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Predicting order volumes and inventory needs, where arrivals over a period are the quantity of interest.</a:t>
            </a:r>
            <a:endParaRPr lang="en-US" sz="2100" dirty="0"/>
          </a:p>
        </p:txBody>
      </p:sp>
      <p:sp>
        <p:nvSpPr>
          <p:cNvPr id="13" name="Shape 11"/>
          <p:cNvSpPr/>
          <p:nvPr/>
        </p:nvSpPr>
        <p:spPr>
          <a:xfrm>
            <a:off x="9372600" y="5029126"/>
            <a:ext cx="7772400" cy="19050"/>
          </a:xfrm>
          <a:prstGeom prst="rect">
            <a:avLst/>
          </a:prstGeom>
          <a:solidFill>
            <a:srgbClr val="201E1E">
              <a:alpha val="40000"/>
            </a:srgbClr>
          </a:solidFill>
          <a:ln/>
        </p:spPr>
        <p:txBody>
          <a:bodyPr/>
          <a:lstStyle/>
          <a:p>
            <a:endParaRPr lang="en-US"/>
          </a:p>
        </p:txBody>
      </p:sp>
      <p:sp>
        <p:nvSpPr>
          <p:cNvPr id="14" name="Text 12"/>
          <p:cNvSpPr/>
          <p:nvPr/>
        </p:nvSpPr>
        <p:spPr>
          <a:xfrm>
            <a:off x="9372600" y="5263828"/>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Call centre staffing</a:t>
            </a:r>
            <a:endParaRPr lang="en-US" sz="2550" dirty="0"/>
          </a:p>
        </p:txBody>
      </p:sp>
      <p:sp>
        <p:nvSpPr>
          <p:cNvPr id="15" name="Text 13"/>
          <p:cNvSpPr/>
          <p:nvPr/>
        </p:nvSpPr>
        <p:spPr>
          <a:xfrm>
            <a:off x="9372600" y="5769992"/>
            <a:ext cx="8005572"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Poisson models for expected call volume per half-hour, which is what drives the shift roster.</a:t>
            </a:r>
            <a:endParaRPr lang="en-US" sz="2100" dirty="0"/>
          </a:p>
        </p:txBody>
      </p:sp>
      <p:sp>
        <p:nvSpPr>
          <p:cNvPr id="16" name="Shape 14"/>
          <p:cNvSpPr/>
          <p:nvPr/>
        </p:nvSpPr>
        <p:spPr>
          <a:xfrm>
            <a:off x="1143000" y="7165628"/>
            <a:ext cx="16002000" cy="19050"/>
          </a:xfrm>
          <a:prstGeom prst="rect">
            <a:avLst/>
          </a:prstGeom>
          <a:solidFill>
            <a:srgbClr val="EC3013"/>
          </a:solidFill>
          <a:ln/>
        </p:spPr>
        <p:txBody>
          <a:bodyPr/>
          <a:lstStyle/>
          <a:p>
            <a:endParaRPr lang="en-US"/>
          </a:p>
        </p:txBody>
      </p:sp>
      <p:sp>
        <p:nvSpPr>
          <p:cNvPr id="17" name="Text 15"/>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18" name="Text 16"/>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Token-level pass rates, tool-call failure counts and guardrail trigger rates are all binomial. Rate-limit breaches and API error bursts are Poisson.</a:t>
            </a:r>
            <a:endParaRPr lang="en-US" sz="2100" dirty="0"/>
          </a:p>
        </p:txBody>
      </p:sp>
      <p:pic>
        <p:nvPicPr>
          <p:cNvPr id="19"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TRY IT YOURSELF</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Hands-on: distributions</a:t>
            </a:r>
            <a:endParaRPr lang="en-US" sz="4800" dirty="0"/>
          </a:p>
        </p:txBody>
      </p:sp>
      <p:sp>
        <p:nvSpPr>
          <p:cNvPr id="4" name="Shape 2"/>
          <p:cNvSpPr/>
          <p:nvPr/>
        </p:nvSpPr>
        <p:spPr>
          <a:xfrm>
            <a:off x="1143000" y="2788890"/>
            <a:ext cx="14859000" cy="19050"/>
          </a:xfrm>
          <a:prstGeom prst="rect">
            <a:avLst/>
          </a:prstGeom>
          <a:solidFill>
            <a:srgbClr val="EC3013"/>
          </a:solidFill>
          <a:ln/>
        </p:spPr>
        <p:txBody>
          <a:bodyPr/>
          <a:lstStyle/>
          <a:p>
            <a:endParaRPr lang="en-US"/>
          </a:p>
        </p:txBody>
      </p:sp>
      <p:sp>
        <p:nvSpPr>
          <p:cNvPr id="5" name="Text 3"/>
          <p:cNvSpPr/>
          <p:nvPr/>
        </p:nvSpPr>
        <p:spPr>
          <a:xfrm>
            <a:off x="1143000" y="3052763"/>
            <a:ext cx="15304770" cy="608558"/>
          </a:xfrm>
          <a:prstGeom prst="rect">
            <a:avLst/>
          </a:prstGeom>
          <a:noFill/>
          <a:ln/>
        </p:spPr>
        <p:txBody>
          <a:bodyPr wrap="square" lIns="25400" tIns="25400" rIns="25400" bIns="25400" rtlCol="0" anchor="t">
            <a:normAutofit fontScale="925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1. </a:t>
            </a:r>
            <a:r>
              <a:rPr lang="en-US" sz="2175" dirty="0">
                <a:solidFill>
                  <a:srgbClr val="201E1D"/>
                </a:solidFill>
                <a:latin typeface="Arial" pitchFamily="34" charset="0"/>
                <a:ea typeface="Arial" pitchFamily="34" charset="-122"/>
                <a:cs typeface="Arial" pitchFamily="34" charset="-120"/>
              </a:rPr>
              <a:t>A support line receives an average of 3 escalations per hour. What is the probability of exactly 2 escalations in the next hour?</a:t>
            </a:r>
            <a:endParaRPr lang="en-US" sz="2175" dirty="0"/>
          </a:p>
        </p:txBody>
      </p:sp>
      <p:sp>
        <p:nvSpPr>
          <p:cNvPr id="6" name="Text 4"/>
          <p:cNvSpPr/>
          <p:nvPr/>
        </p:nvSpPr>
        <p:spPr>
          <a:xfrm>
            <a:off x="1143000" y="3790206"/>
            <a:ext cx="16344900" cy="194890"/>
          </a:xfrm>
          <a:prstGeom prst="rect">
            <a:avLst/>
          </a:prstGeom>
          <a:noFill/>
          <a:ln/>
        </p:spPr>
        <p:txBody>
          <a:bodyPr wrap="square" lIns="25400" tIns="25400" rIns="25400" bIns="25400" rtlCol="0" anchor="t">
            <a:noAutofit/>
          </a:bodyPr>
          <a:lstStyle/>
          <a:p>
            <a:pPr marL="0" indent="0" algn="l">
              <a:lnSpc>
                <a:spcPct val="138182"/>
              </a:lnSpc>
              <a:buNone/>
            </a:pPr>
            <a:r>
              <a:rPr lang="en-US" sz="2100" dirty="0">
                <a:solidFill>
                  <a:srgbClr val="211D1D">
                    <a:alpha val="55000"/>
                  </a:srgbClr>
                </a:solidFill>
                <a:latin typeface="Arial" pitchFamily="34" charset="0"/>
                <a:ea typeface="Arial" pitchFamily="34" charset="-122"/>
                <a:cs typeface="Arial" pitchFamily="34" charset="-120"/>
              </a:rPr>
              <a:t>λ = 3, k = 2. P = e⁻³ × 3² / 2! = 0.0498 × 9 / 2 ≈ 0.224 — about 22%.</a:t>
            </a:r>
            <a:endParaRPr lang="en-US" sz="2100" dirty="0"/>
          </a:p>
        </p:txBody>
      </p:sp>
      <p:sp>
        <p:nvSpPr>
          <p:cNvPr id="7" name="Shape 5"/>
          <p:cNvSpPr/>
          <p:nvPr/>
        </p:nvSpPr>
        <p:spPr>
          <a:xfrm>
            <a:off x="1143000" y="4449887"/>
            <a:ext cx="14859000" cy="19050"/>
          </a:xfrm>
          <a:prstGeom prst="rect">
            <a:avLst/>
          </a:prstGeom>
          <a:solidFill>
            <a:srgbClr val="EC3013"/>
          </a:solidFill>
          <a:ln/>
        </p:spPr>
        <p:txBody>
          <a:bodyPr/>
          <a:lstStyle/>
          <a:p>
            <a:endParaRPr lang="en-US"/>
          </a:p>
        </p:txBody>
      </p:sp>
      <p:sp>
        <p:nvSpPr>
          <p:cNvPr id="8" name="Text 6"/>
          <p:cNvSpPr/>
          <p:nvPr/>
        </p:nvSpPr>
        <p:spPr>
          <a:xfrm>
            <a:off x="1143000" y="4713759"/>
            <a:ext cx="16344900" cy="227558"/>
          </a:xfrm>
          <a:prstGeom prst="rect">
            <a:avLst/>
          </a:prstGeom>
          <a:noFill/>
          <a:ln/>
        </p:spPr>
        <p:txBody>
          <a:bodyPr wrap="square" lIns="25400" tIns="25400" rIns="25400" bIns="25400" rtlCol="0" anchor="t">
            <a:noAutofit/>
          </a:bodyPr>
          <a:lstStyle/>
          <a:p>
            <a:pPr marL="0" indent="0" algn="l">
              <a:lnSpc>
                <a:spcPct val="119403"/>
              </a:lnSpc>
              <a:buNone/>
            </a:pPr>
            <a:r>
              <a:rPr lang="en-US" sz="2100" b="1" dirty="0">
                <a:solidFill>
                  <a:srgbClr val="201E1D"/>
                </a:solidFill>
                <a:latin typeface="Arial" pitchFamily="34" charset="0"/>
                <a:ea typeface="Arial" pitchFamily="34" charset="-122"/>
                <a:cs typeface="Arial" pitchFamily="34" charset="-120"/>
              </a:rPr>
              <a:t>2. </a:t>
            </a:r>
            <a:r>
              <a:rPr lang="en-US" sz="2100" dirty="0">
                <a:solidFill>
                  <a:srgbClr val="201E1D"/>
                </a:solidFill>
                <a:latin typeface="Arial" pitchFamily="34" charset="0"/>
                <a:ea typeface="Arial" pitchFamily="34" charset="-122"/>
                <a:cs typeface="Arial" pitchFamily="34" charset="-120"/>
              </a:rPr>
              <a:t>Your eval set has 100 prompts and model B scores 3 points above model A. Have you shown B is better?</a:t>
            </a:r>
            <a:endParaRPr lang="en-US" sz="2100" dirty="0"/>
          </a:p>
        </p:txBody>
      </p:sp>
      <p:sp>
        <p:nvSpPr>
          <p:cNvPr id="9" name="Text 7"/>
          <p:cNvSpPr/>
          <p:nvPr/>
        </p:nvSpPr>
        <p:spPr>
          <a:xfrm>
            <a:off x="1143000" y="5070202"/>
            <a:ext cx="15304770" cy="556840"/>
          </a:xfrm>
          <a:prstGeom prst="rect">
            <a:avLst/>
          </a:prstGeom>
          <a:noFill/>
          <a:ln/>
        </p:spPr>
        <p:txBody>
          <a:bodyPr wrap="square" lIns="25400" tIns="25400" rIns="25400" bIns="25400" rtlCol="0" anchor="t">
            <a:noAutofit/>
          </a:bodyPr>
          <a:lstStyle/>
          <a:p>
            <a:pPr marL="0" indent="0" algn="l">
              <a:lnSpc>
                <a:spcPct val="138182"/>
              </a:lnSpc>
              <a:buNone/>
            </a:pPr>
            <a:r>
              <a:rPr lang="en-US" sz="2100" dirty="0">
                <a:solidFill>
                  <a:srgbClr val="211D1D">
                    <a:alpha val="55000"/>
                  </a:srgbClr>
                </a:solidFill>
                <a:latin typeface="Arial" pitchFamily="34" charset="0"/>
                <a:ea typeface="Arial" pitchFamily="34" charset="-122"/>
                <a:cs typeface="Arial" pitchFamily="34" charset="-120"/>
              </a:rPr>
              <a:t>No. At n = 100 the margin of error is roughly ±10 points, so a 3-point gap is well inside the noise. You need several hundred prompts before a gap that size means anything.</a:t>
            </a:r>
            <a:endParaRPr lang="en-US" sz="2100" dirty="0"/>
          </a:p>
        </p:txBody>
      </p:sp>
      <p:sp>
        <p:nvSpPr>
          <p:cNvPr id="10" name="Shape 8"/>
          <p:cNvSpPr/>
          <p:nvPr/>
        </p:nvSpPr>
        <p:spPr>
          <a:xfrm>
            <a:off x="1143000" y="6091833"/>
            <a:ext cx="14859000" cy="19050"/>
          </a:xfrm>
          <a:prstGeom prst="rect">
            <a:avLst/>
          </a:prstGeom>
          <a:solidFill>
            <a:srgbClr val="EC3013"/>
          </a:solidFill>
          <a:ln/>
        </p:spPr>
        <p:txBody>
          <a:bodyPr/>
          <a:lstStyle/>
          <a:p>
            <a:endParaRPr lang="en-US"/>
          </a:p>
        </p:txBody>
      </p:sp>
      <p:sp>
        <p:nvSpPr>
          <p:cNvPr id="11" name="Text 9"/>
          <p:cNvSpPr/>
          <p:nvPr/>
        </p:nvSpPr>
        <p:spPr>
          <a:xfrm>
            <a:off x="1143000" y="6355705"/>
            <a:ext cx="16344900" cy="227558"/>
          </a:xfrm>
          <a:prstGeom prst="rect">
            <a:avLst/>
          </a:prstGeom>
          <a:noFill/>
          <a:ln/>
        </p:spPr>
        <p:txBody>
          <a:bodyPr wrap="square" lIns="25400" tIns="25400" rIns="25400" bIns="25400" rtlCol="0" anchor="t">
            <a:noAutofit/>
          </a:bodyPr>
          <a:lstStyle/>
          <a:p>
            <a:pPr marL="0" indent="0" algn="l">
              <a:lnSpc>
                <a:spcPct val="119403"/>
              </a:lnSpc>
              <a:buNone/>
            </a:pPr>
            <a:r>
              <a:rPr lang="en-US" sz="2100" b="1" dirty="0">
                <a:solidFill>
                  <a:srgbClr val="201E1D"/>
                </a:solidFill>
                <a:latin typeface="Arial" pitchFamily="34" charset="0"/>
                <a:ea typeface="Arial" pitchFamily="34" charset="-122"/>
                <a:cs typeface="Arial" pitchFamily="34" charset="-120"/>
              </a:rPr>
              <a:t>3. </a:t>
            </a:r>
            <a:r>
              <a:rPr lang="en-US" sz="2100" dirty="0">
                <a:solidFill>
                  <a:srgbClr val="201E1D"/>
                </a:solidFill>
                <a:latin typeface="Arial" pitchFamily="34" charset="0"/>
                <a:ea typeface="Arial" pitchFamily="34" charset="-122"/>
                <a:cs typeface="Arial" pitchFamily="34" charset="-120"/>
              </a:rPr>
              <a:t>A model answers correctly 70% of the time. Out of 5 questions, what is the chance it gets exactly 4 right?</a:t>
            </a:r>
            <a:endParaRPr lang="en-US" sz="2100" dirty="0"/>
          </a:p>
        </p:txBody>
      </p:sp>
      <p:sp>
        <p:nvSpPr>
          <p:cNvPr id="12" name="Text 10"/>
          <p:cNvSpPr/>
          <p:nvPr/>
        </p:nvSpPr>
        <p:spPr>
          <a:xfrm>
            <a:off x="1143000" y="6712148"/>
            <a:ext cx="16344900" cy="194890"/>
          </a:xfrm>
          <a:prstGeom prst="rect">
            <a:avLst/>
          </a:prstGeom>
          <a:noFill/>
          <a:ln/>
        </p:spPr>
        <p:txBody>
          <a:bodyPr wrap="square" lIns="25400" tIns="25400" rIns="25400" bIns="25400" rtlCol="0" anchor="t">
            <a:noAutofit/>
          </a:bodyPr>
          <a:lstStyle/>
          <a:p>
            <a:pPr marL="0" indent="0" algn="l">
              <a:lnSpc>
                <a:spcPct val="138182"/>
              </a:lnSpc>
              <a:buNone/>
            </a:pPr>
            <a:r>
              <a:rPr lang="en-US" sz="2100" dirty="0">
                <a:solidFill>
                  <a:srgbClr val="211D1D">
                    <a:alpha val="55000"/>
                  </a:srgbClr>
                </a:solidFill>
                <a:latin typeface="Arial" pitchFamily="34" charset="0"/>
                <a:ea typeface="Arial" pitchFamily="34" charset="-122"/>
                <a:cs typeface="Arial" pitchFamily="34" charset="-120"/>
              </a:rPr>
              <a:t>⁵C₄ × (0.7)⁴ × (0.3)¹ = 5 × 0.2401 × 0.3 ≈ 0.360 — about 36%.</a:t>
            </a:r>
            <a:endParaRPr lang="en-US" sz="2100" dirty="0"/>
          </a:p>
        </p:txBody>
      </p:sp>
      <p:pic>
        <p:nvPicPr>
          <p:cNvPr id="13"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7">
    <p:bg>
      <p:bgPr>
        <a:solidFill>
          <a:srgbClr val="2D2B2B"/>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FF9783"/>
                </a:solidFill>
                <a:latin typeface="Arial" pitchFamily="34" charset="0"/>
                <a:ea typeface="Arial" pitchFamily="34" charset="-122"/>
                <a:cs typeface="Arial" pitchFamily="34" charset="-120"/>
              </a:rPr>
              <a:t>PART 1 · SELF-CHECK</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F3F2F2"/>
                </a:solidFill>
                <a:latin typeface="Arial" pitchFamily="34" charset="0"/>
                <a:ea typeface="Arial" pitchFamily="34" charset="-122"/>
                <a:cs typeface="Arial" pitchFamily="34" charset="-120"/>
              </a:rPr>
              <a:t>Before we move on</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F3F2F2">
                    <a:alpha val="75000"/>
                  </a:srgbClr>
                </a:solidFill>
                <a:latin typeface="Arial" pitchFamily="34" charset="0"/>
                <a:ea typeface="Arial" pitchFamily="34" charset="-122"/>
                <a:cs typeface="Arial" pitchFamily="34" charset="-120"/>
              </a:rPr>
              <a:t>Five questions. If any of these still feel shaky, say so now — Part 2 builds directly on them.</a:t>
            </a:r>
            <a:endParaRPr lang="en-US" sz="2100" dirty="0"/>
          </a:p>
        </p:txBody>
      </p:sp>
      <p:sp>
        <p:nvSpPr>
          <p:cNvPr id="5" name="Text 3"/>
          <p:cNvSpPr/>
          <p:nvPr/>
        </p:nvSpPr>
        <p:spPr>
          <a:xfrm>
            <a:off x="942975" y="3804419"/>
            <a:ext cx="12503202" cy="2691259"/>
          </a:xfrm>
          <a:prstGeom prst="rect">
            <a:avLst/>
          </a:prstGeom>
          <a:noFill/>
          <a:ln/>
        </p:spPr>
        <p:txBody>
          <a:bodyPr wrap="square" lIns="25400" tIns="25400" rIns="25400" bIns="25400" rtlCol="0" anchor="t">
            <a:normAutofit/>
          </a:bodyPr>
          <a:lstStyle/>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Why does the combinations formula divide by both r! and (n−r)!?</a:t>
            </a:r>
            <a:endParaRPr lang="en-US" sz="2250" dirty="0"/>
          </a:p>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A test is 90% accurate, and the condition affects 1 in 500 people. Is a positive result alarming?</a:t>
            </a:r>
            <a:endParaRPr lang="en-US" sz="2250" dirty="0"/>
          </a:p>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What is the difference between P(A | B) and P(B | A), in a sentence?</a:t>
            </a:r>
            <a:endParaRPr lang="en-US" sz="2250" dirty="0"/>
          </a:p>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You need a fixed number of trials for one of the two distributions. Which one, and why?</a:t>
            </a:r>
            <a:endParaRPr lang="en-US" sz="2250" dirty="0"/>
          </a:p>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Your eval improved by 4 points on 60 prompts. What do you say in the meeting?</a:t>
            </a:r>
            <a:endParaRPr lang="en-US" sz="2250" dirty="0"/>
          </a:p>
        </p:txBody>
      </p:sp>
      <p:pic>
        <p:nvPicPr>
          <p:cNvPr id="6"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8">
    <p:bg>
      <p:bgPr>
        <a:solidFill>
          <a:srgbClr val="EC3013"/>
        </a:solidFill>
        <a:effectLst/>
      </p:bgPr>
    </p:bg>
    <p:spTree>
      <p:nvGrpSpPr>
        <p:cNvPr id="1" name=""/>
        <p:cNvGrpSpPr/>
        <p:nvPr/>
      </p:nvGrpSpPr>
      <p:grpSpPr>
        <a:xfrm>
          <a:off x="0" y="0"/>
          <a:ext cx="0" cy="0"/>
          <a:chOff x="0" y="0"/>
          <a:chExt cx="0" cy="0"/>
        </a:xfrm>
      </p:grpSpPr>
      <p:sp>
        <p:nvSpPr>
          <p:cNvPr id="2" name="Text 0"/>
          <p:cNvSpPr/>
          <p:nvPr/>
        </p:nvSpPr>
        <p:spPr>
          <a:xfrm>
            <a:off x="1031602" y="2782044"/>
            <a:ext cx="2921176" cy="2266950"/>
          </a:xfrm>
          <a:prstGeom prst="rect">
            <a:avLst/>
          </a:prstGeom>
          <a:noFill/>
          <a:ln/>
        </p:spPr>
        <p:txBody>
          <a:bodyPr wrap="square" lIns="25400" tIns="25400" rIns="25400" bIns="25400" rtlCol="0" anchor="t">
            <a:normAutofit lnSpcReduction="10000"/>
          </a:bodyPr>
          <a:lstStyle/>
          <a:p>
            <a:pPr marL="0" indent="0" algn="l">
              <a:lnSpc>
                <a:spcPct val="78261"/>
              </a:lnSpc>
              <a:buNone/>
            </a:pPr>
            <a:r>
              <a:rPr lang="en-US" sz="19500" b="1" kern="0" spc="-390" dirty="0">
                <a:solidFill>
                  <a:srgbClr val="AE1800"/>
                </a:solidFill>
                <a:latin typeface="Arial" pitchFamily="34" charset="0"/>
                <a:ea typeface="Arial" pitchFamily="34" charset="-122"/>
                <a:cs typeface="Arial" pitchFamily="34" charset="-120"/>
              </a:rPr>
              <a:t>02</a:t>
            </a:r>
            <a:endParaRPr lang="en-US" sz="19500" dirty="0"/>
          </a:p>
        </p:txBody>
      </p:sp>
      <p:sp>
        <p:nvSpPr>
          <p:cNvPr id="3" name="Text 1"/>
          <p:cNvSpPr/>
          <p:nvPr/>
        </p:nvSpPr>
        <p:spPr>
          <a:xfrm>
            <a:off x="1107653" y="5468094"/>
            <a:ext cx="5457468"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F3F2F2"/>
                </a:solidFill>
                <a:latin typeface="Arial" pitchFamily="34" charset="0"/>
                <a:ea typeface="Arial" pitchFamily="34" charset="-122"/>
                <a:cs typeface="Arial" pitchFamily="34" charset="-120"/>
              </a:rPr>
              <a:t>Vectors &amp; Meaning</a:t>
            </a:r>
            <a:endParaRPr lang="en-US" sz="4800" dirty="0"/>
          </a:p>
        </p:txBody>
      </p:sp>
      <p:sp>
        <p:nvSpPr>
          <p:cNvPr id="4" name="Text 2"/>
          <p:cNvSpPr/>
          <p:nvPr/>
        </p:nvSpPr>
        <p:spPr>
          <a:xfrm>
            <a:off x="1143000" y="6361956"/>
            <a:ext cx="8989790" cy="9525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3000" dirty="0">
                <a:solidFill>
                  <a:srgbClr val="F3F2F2"/>
                </a:solidFill>
                <a:latin typeface="Arial" pitchFamily="34" charset="0"/>
                <a:ea typeface="Arial" pitchFamily="34" charset="-122"/>
                <a:cs typeface="Arial" pitchFamily="34" charset="-120"/>
              </a:rPr>
              <a:t>Vectors · Embeddings · Semantic space · Similarity metrics · Graphs</a:t>
            </a:r>
            <a:endParaRPr lang="en-US" sz="3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9">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04 · VECTORS, EMBEDDINGS &amp; SEMANTIC SPACE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Do I need this?</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Yes, if you…</a:t>
            </a:r>
            <a:endParaRPr lang="en-US" sz="2550" dirty="0"/>
          </a:p>
        </p:txBody>
      </p:sp>
      <p:sp>
        <p:nvSpPr>
          <p:cNvPr id="6" name="Text 4"/>
          <p:cNvSpPr/>
          <p:nvPr/>
        </p:nvSpPr>
        <p:spPr>
          <a:xfrm>
            <a:off x="1143000" y="3931741"/>
            <a:ext cx="5180076" cy="15926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Touch search, RAG, recommendations, deduplication, clustering, or any system where "find me things like this" is the requirement.</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What breaks without it</a:t>
            </a:r>
            <a:endParaRPr lang="en-US" sz="2550" dirty="0"/>
          </a:p>
        </p:txBody>
      </p:sp>
      <p:sp>
        <p:nvSpPr>
          <p:cNvPr id="9" name="Text 7"/>
          <p:cNvSpPr/>
          <p:nvPr/>
        </p:nvSpPr>
        <p:spPr>
          <a:xfrm>
            <a:off x="6629400" y="3931741"/>
            <a:ext cx="5180076" cy="15926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Vector databases stay a black box, retrieval quality problems stay unfixable, and "the embeddings are bad" becomes an answer instead of a question.</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Time to competence</a:t>
            </a:r>
            <a:endParaRPr lang="en-US" sz="2550" dirty="0"/>
          </a:p>
        </p:txBody>
      </p:sp>
      <p:sp>
        <p:nvSpPr>
          <p:cNvPr id="12" name="Text 10"/>
          <p:cNvSpPr/>
          <p:nvPr/>
        </p:nvSpPr>
        <p:spPr>
          <a:xfrm>
            <a:off x="12115800" y="3931741"/>
            <a:ext cx="518007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Two hours. A vector is a list of numbers. Everything else is what you do with the list.</a:t>
            </a:r>
            <a:endParaRPr lang="en-US" sz="2100" dirty="0"/>
          </a:p>
        </p:txBody>
      </p:sp>
      <p:sp>
        <p:nvSpPr>
          <p:cNvPr id="13" name="Shape 11"/>
          <p:cNvSpPr/>
          <p:nvPr/>
        </p:nvSpPr>
        <p:spPr>
          <a:xfrm>
            <a:off x="1143000" y="7622828"/>
            <a:ext cx="16002000" cy="19050"/>
          </a:xfrm>
          <a:prstGeom prst="rect">
            <a:avLst/>
          </a:prstGeom>
          <a:solidFill>
            <a:srgbClr val="EC3013"/>
          </a:solidFill>
          <a:ln/>
        </p:spPr>
        <p:txBody>
          <a:bodyPr/>
          <a:lstStyle/>
          <a:p>
            <a:endParaRPr lang="en-US"/>
          </a:p>
        </p:txBody>
      </p:sp>
      <p:sp>
        <p:nvSpPr>
          <p:cNvPr id="14" name="Text 12"/>
          <p:cNvSpPr/>
          <p:nvPr/>
        </p:nvSpPr>
        <p:spPr>
          <a:xfrm>
            <a:off x="1143000" y="8001000"/>
            <a:ext cx="2552700" cy="4953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15" name="Text 13"/>
          <p:cNvSpPr/>
          <p:nvPr/>
        </p:nvSpPr>
        <p:spPr>
          <a:xfrm>
            <a:off x="4076700" y="8001000"/>
            <a:ext cx="13460349" cy="4953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Every RAG pipeline is an embedding model, a distance metric and an index. Two of those three are this topic.</a:t>
            </a:r>
            <a:endParaRPr lang="en-US" sz="2100" dirty="0"/>
          </a:p>
        </p:txBody>
      </p:sp>
      <p:pic>
        <p:nvPicPr>
          <p:cNvPr id="16"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04 · PRACTICAL INTUITION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Three terms, in order</a:t>
            </a:r>
            <a:endParaRPr lang="en-US" sz="4800" dirty="0"/>
          </a:p>
        </p:txBody>
      </p:sp>
      <p:sp>
        <p:nvSpPr>
          <p:cNvPr id="4" name="Shape 2"/>
          <p:cNvSpPr/>
          <p:nvPr/>
        </p:nvSpPr>
        <p:spPr>
          <a:xfrm>
            <a:off x="1143000" y="3200400"/>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578572"/>
            <a:ext cx="553212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01</a:t>
            </a:r>
            <a:endParaRPr lang="en-US" sz="1800" dirty="0"/>
          </a:p>
        </p:txBody>
      </p:sp>
      <p:sp>
        <p:nvSpPr>
          <p:cNvPr id="6" name="Text 4"/>
          <p:cNvSpPr/>
          <p:nvPr/>
        </p:nvSpPr>
        <p:spPr>
          <a:xfrm>
            <a:off x="1143000" y="4001467"/>
            <a:ext cx="553212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Vector</a:t>
            </a:r>
            <a:endParaRPr lang="en-US" sz="2100" dirty="0"/>
          </a:p>
        </p:txBody>
      </p:sp>
      <p:sp>
        <p:nvSpPr>
          <p:cNvPr id="7" name="Text 5"/>
          <p:cNvSpPr/>
          <p:nvPr/>
        </p:nvSpPr>
        <p:spPr>
          <a:xfrm>
            <a:off x="1143000" y="4492823"/>
            <a:ext cx="5180076" cy="1566490"/>
          </a:xfrm>
          <a:prstGeom prst="rect">
            <a:avLst/>
          </a:prstGeom>
          <a:noFill/>
          <a:ln/>
        </p:spPr>
        <p:txBody>
          <a:bodyPr wrap="square" lIns="25400" tIns="25400" rIns="25400" bIns="25400" rtlCol="0" anchor="t">
            <a:normAutofit fontScale="925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A list of numbers that represents information mathematically. For example [0.2, 0.8, −0.1]. Nothing more mysterious than a row in a spreadsheet.</a:t>
            </a:r>
            <a:endParaRPr lang="en-US" sz="1800" dirty="0"/>
          </a:p>
        </p:txBody>
      </p:sp>
      <p:sp>
        <p:nvSpPr>
          <p:cNvPr id="8" name="Shape 6"/>
          <p:cNvSpPr/>
          <p:nvPr/>
        </p:nvSpPr>
        <p:spPr>
          <a:xfrm>
            <a:off x="6629400" y="3200400"/>
            <a:ext cx="5029200" cy="19050"/>
          </a:xfrm>
          <a:prstGeom prst="rect">
            <a:avLst/>
          </a:prstGeom>
          <a:solidFill>
            <a:srgbClr val="201E1E">
              <a:alpha val="40000"/>
            </a:srgbClr>
          </a:solidFill>
          <a:ln/>
        </p:spPr>
        <p:txBody>
          <a:bodyPr/>
          <a:lstStyle/>
          <a:p>
            <a:endParaRPr lang="en-US"/>
          </a:p>
        </p:txBody>
      </p:sp>
      <p:sp>
        <p:nvSpPr>
          <p:cNvPr id="9" name="Text 7"/>
          <p:cNvSpPr/>
          <p:nvPr/>
        </p:nvSpPr>
        <p:spPr>
          <a:xfrm>
            <a:off x="6629400" y="3578572"/>
            <a:ext cx="553212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02</a:t>
            </a:r>
            <a:endParaRPr lang="en-US" sz="1800" dirty="0"/>
          </a:p>
        </p:txBody>
      </p:sp>
      <p:sp>
        <p:nvSpPr>
          <p:cNvPr id="10" name="Text 8"/>
          <p:cNvSpPr/>
          <p:nvPr/>
        </p:nvSpPr>
        <p:spPr>
          <a:xfrm>
            <a:off x="6629400" y="4001467"/>
            <a:ext cx="553212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Embedding</a:t>
            </a:r>
            <a:endParaRPr lang="en-US" sz="2100" dirty="0"/>
          </a:p>
        </p:txBody>
      </p:sp>
      <p:sp>
        <p:nvSpPr>
          <p:cNvPr id="11" name="Text 9"/>
          <p:cNvSpPr/>
          <p:nvPr/>
        </p:nvSpPr>
        <p:spPr>
          <a:xfrm>
            <a:off x="6629400" y="4492823"/>
            <a:ext cx="5180076" cy="1566490"/>
          </a:xfrm>
          <a:prstGeom prst="rect">
            <a:avLst/>
          </a:prstGeom>
          <a:noFill/>
          <a:ln/>
        </p:spPr>
        <p:txBody>
          <a:bodyPr wrap="square" lIns="25400" tIns="25400" rIns="25400" bIns="25400" rtlCol="0" anchor="t">
            <a:normAutofit fontScale="85000" lnSpcReduction="100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A vector that captures the </a:t>
            </a:r>
            <a:r>
              <a:rPr lang="en-US" sz="1800" i="1" dirty="0">
                <a:solidFill>
                  <a:srgbClr val="201E1D"/>
                </a:solidFill>
                <a:latin typeface="Arial" pitchFamily="34" charset="0"/>
                <a:ea typeface="Arial" pitchFamily="34" charset="-122"/>
                <a:cs typeface="Arial" pitchFamily="34" charset="-120"/>
              </a:rPr>
              <a:t>meaning </a:t>
            </a:r>
            <a:r>
              <a:rPr lang="en-US" sz="1800" dirty="0">
                <a:solidFill>
                  <a:srgbClr val="201E1D"/>
                </a:solidFill>
                <a:latin typeface="Arial" pitchFamily="34" charset="0"/>
                <a:ea typeface="Arial" pitchFamily="34" charset="-122"/>
                <a:cs typeface="Arial" pitchFamily="34" charset="-120"/>
              </a:rPr>
              <a:t>of a word, sentence, image or product — produced by a model that was trained to place similar things near each other.</a:t>
            </a:r>
            <a:endParaRPr lang="en-US" sz="1800" dirty="0"/>
          </a:p>
        </p:txBody>
      </p:sp>
      <p:sp>
        <p:nvSpPr>
          <p:cNvPr id="12" name="Shape 10"/>
          <p:cNvSpPr/>
          <p:nvPr/>
        </p:nvSpPr>
        <p:spPr>
          <a:xfrm>
            <a:off x="12115800" y="3200400"/>
            <a:ext cx="5029200" cy="19050"/>
          </a:xfrm>
          <a:prstGeom prst="rect">
            <a:avLst/>
          </a:prstGeom>
          <a:solidFill>
            <a:srgbClr val="201E1E">
              <a:alpha val="40000"/>
            </a:srgbClr>
          </a:solidFill>
          <a:ln/>
        </p:spPr>
        <p:txBody>
          <a:bodyPr/>
          <a:lstStyle/>
          <a:p>
            <a:endParaRPr lang="en-US"/>
          </a:p>
        </p:txBody>
      </p:sp>
      <p:sp>
        <p:nvSpPr>
          <p:cNvPr id="13" name="Text 11"/>
          <p:cNvSpPr/>
          <p:nvPr/>
        </p:nvSpPr>
        <p:spPr>
          <a:xfrm>
            <a:off x="12115800" y="3578572"/>
            <a:ext cx="553212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03</a:t>
            </a:r>
            <a:endParaRPr lang="en-US" sz="1800" dirty="0"/>
          </a:p>
        </p:txBody>
      </p:sp>
      <p:sp>
        <p:nvSpPr>
          <p:cNvPr id="14" name="Text 12"/>
          <p:cNvSpPr/>
          <p:nvPr/>
        </p:nvSpPr>
        <p:spPr>
          <a:xfrm>
            <a:off x="12115800" y="4001467"/>
            <a:ext cx="553212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Semantic space</a:t>
            </a:r>
            <a:endParaRPr lang="en-US" sz="2100" dirty="0"/>
          </a:p>
        </p:txBody>
      </p:sp>
      <p:sp>
        <p:nvSpPr>
          <p:cNvPr id="15" name="Text 13"/>
          <p:cNvSpPr/>
          <p:nvPr/>
        </p:nvSpPr>
        <p:spPr>
          <a:xfrm>
            <a:off x="12115800" y="4492823"/>
            <a:ext cx="5180076" cy="1109290"/>
          </a:xfrm>
          <a:prstGeom prst="rect">
            <a:avLst/>
          </a:prstGeom>
          <a:noFill/>
          <a:ln/>
        </p:spPr>
        <p:txBody>
          <a:bodyPr wrap="square" lIns="25400" tIns="25400" rIns="25400" bIns="25400" rtlCol="0" anchor="t">
            <a:normAutofit fontScale="85000" lnSpcReduction="200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The space all those embeddings live in, where position encodes meaning and clusters form around related concepts.</a:t>
            </a:r>
            <a:endParaRPr lang="en-US" sz="1800" dirty="0"/>
          </a:p>
        </p:txBody>
      </p:sp>
      <p:sp>
        <p:nvSpPr>
          <p:cNvPr id="16" name="Shape 14"/>
          <p:cNvSpPr/>
          <p:nvPr/>
        </p:nvSpPr>
        <p:spPr>
          <a:xfrm>
            <a:off x="1143000" y="7165628"/>
            <a:ext cx="16002000" cy="19050"/>
          </a:xfrm>
          <a:prstGeom prst="rect">
            <a:avLst/>
          </a:prstGeom>
          <a:solidFill>
            <a:srgbClr val="EC3013"/>
          </a:solidFill>
          <a:ln/>
        </p:spPr>
        <p:txBody>
          <a:bodyPr/>
          <a:lstStyle/>
          <a:p>
            <a:endParaRPr lang="en-US"/>
          </a:p>
        </p:txBody>
      </p:sp>
      <p:sp>
        <p:nvSpPr>
          <p:cNvPr id="17" name="Text 15"/>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WHY IT MATTERS</a:t>
            </a:r>
            <a:endParaRPr lang="en-US" sz="1800" dirty="0"/>
          </a:p>
        </p:txBody>
      </p:sp>
      <p:sp>
        <p:nvSpPr>
          <p:cNvPr id="18" name="Text 16"/>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Once meaning becomes numbers, a computer can measure it, compare it, sort it and search it. Every semantic feature in every AI product depends on that one move.</a:t>
            </a:r>
            <a:endParaRPr lang="en-US" sz="2100" dirty="0"/>
          </a:p>
        </p:txBody>
      </p:sp>
      <p:pic>
        <p:nvPicPr>
          <p:cNvPr id="19"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04 · DEEPER INTUITION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GPS coordinates, but for meaning</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Just as [latitude, longitude] pinpoints a location on Earth, an embedding's numbers pinpoint a concept's location in meaning-space. Nearby coordinates mean related meaning.</a:t>
            </a:r>
            <a:endParaRPr lang="en-US" sz="2100" dirty="0"/>
          </a:p>
        </p:txBody>
      </p:sp>
      <p:sp>
        <p:nvSpPr>
          <p:cNvPr id="5" name="Shape 3"/>
          <p:cNvSpPr/>
          <p:nvPr/>
        </p:nvSpPr>
        <p:spPr>
          <a:xfrm>
            <a:off x="1143000" y="5497785"/>
            <a:ext cx="16002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229100"/>
            <a:ext cx="16002000" cy="19050"/>
          </a:xfrm>
          <a:prstGeom prst="rect">
            <a:avLst/>
          </a:prstGeom>
          <a:solidFill>
            <a:srgbClr val="201E1E">
              <a:alpha val="40000"/>
            </a:srgbClr>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43000" y="4591050"/>
            <a:ext cx="16002000" cy="563835"/>
          </a:xfrm>
          <a:prstGeom prst="rect">
            <a:avLst/>
          </a:prstGeom>
        </p:spPr>
      </p:pic>
      <p:sp>
        <p:nvSpPr>
          <p:cNvPr id="8" name="Text 5"/>
          <p:cNvSpPr/>
          <p:nvPr/>
        </p:nvSpPr>
        <p:spPr>
          <a:xfrm>
            <a:off x="1143000" y="5651674"/>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x₁, x₂, …</a:t>
            </a:r>
            <a:endParaRPr lang="en-US" sz="1950" dirty="0"/>
          </a:p>
        </p:txBody>
      </p:sp>
      <p:sp>
        <p:nvSpPr>
          <p:cNvPr id="9" name="Text 6"/>
          <p:cNvSpPr/>
          <p:nvPr/>
        </p:nvSpPr>
        <p:spPr>
          <a:xfrm>
            <a:off x="4343400" y="5651674"/>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Each number captures one learned aspect of meaning. These are not human-labelled — the model discovered them during training, and mostly nobody can say what any single one represents.</a:t>
            </a:r>
            <a:endParaRPr lang="en-US" sz="1950" dirty="0"/>
          </a:p>
        </p:txBody>
      </p:sp>
      <p:sp>
        <p:nvSpPr>
          <p:cNvPr id="10" name="Text 7"/>
          <p:cNvSpPr/>
          <p:nvPr/>
        </p:nvSpPr>
        <p:spPr>
          <a:xfrm>
            <a:off x="1143000" y="6527899"/>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n — dimensions</a:t>
            </a:r>
            <a:endParaRPr lang="en-US" sz="1950" dirty="0"/>
          </a:p>
        </p:txBody>
      </p:sp>
      <p:sp>
        <p:nvSpPr>
          <p:cNvPr id="11" name="Text 8"/>
          <p:cNvSpPr/>
          <p:nvPr/>
        </p:nvSpPr>
        <p:spPr>
          <a:xfrm>
            <a:off x="4343400" y="6527899"/>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Real embeddings use hundreds or thousands of dimensions to capture nuance. Our examples use two or three so you can picture them.</a:t>
            </a:r>
            <a:endParaRPr lang="en-US" sz="1950" dirty="0"/>
          </a:p>
        </p:txBody>
      </p:sp>
      <p:sp>
        <p:nvSpPr>
          <p:cNvPr id="12" name="Text 9"/>
          <p:cNvSpPr/>
          <p:nvPr/>
        </p:nvSpPr>
        <p:spPr>
          <a:xfrm>
            <a:off x="1143000" y="7404125"/>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Position</a:t>
            </a:r>
            <a:endParaRPr lang="en-US" sz="1950" dirty="0"/>
          </a:p>
        </p:txBody>
      </p:sp>
      <p:sp>
        <p:nvSpPr>
          <p:cNvPr id="13" name="Text 10"/>
          <p:cNvSpPr/>
          <p:nvPr/>
        </p:nvSpPr>
        <p:spPr>
          <a:xfrm>
            <a:off x="4343400" y="7404125"/>
            <a:ext cx="12008358" cy="531837"/>
          </a:xfrm>
          <a:prstGeom prst="rect">
            <a:avLst/>
          </a:prstGeom>
          <a:noFill/>
          <a:ln/>
        </p:spPr>
        <p:txBody>
          <a:bodyPr wrap="square" lIns="25400" tIns="25400" rIns="25400" bIns="25400" rtlCol="0" anchor="t">
            <a:normAutofit fontScale="925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Meaning is relative. A single embedding tells you nothing; an embedding compared to others tells you everything.</a:t>
            </a:r>
            <a:endParaRPr lang="en-US" sz="1950" dirty="0"/>
          </a:p>
        </p:txBody>
      </p:sp>
      <p:pic>
        <p:nvPicPr>
          <p:cNvPr id="14"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04 · WHY THE FORMULA WORKS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Distance is just Pythagoras</a:t>
            </a:r>
            <a:endParaRPr lang="en-US" sz="4800" dirty="0"/>
          </a:p>
        </p:txBody>
      </p:sp>
      <p:sp>
        <p:nvSpPr>
          <p:cNvPr id="4" name="Shape 2"/>
          <p:cNvSpPr/>
          <p:nvPr/>
        </p:nvSpPr>
        <p:spPr>
          <a:xfrm>
            <a:off x="1143000" y="5237187"/>
            <a:ext cx="16002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3200400"/>
            <a:ext cx="16002000" cy="19050"/>
          </a:xfrm>
          <a:prstGeom prst="rect">
            <a:avLst/>
          </a:prstGeom>
          <a:solidFill>
            <a:srgbClr val="201E1E">
              <a:alpha val="40000"/>
            </a:srgbClr>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43000" y="3562350"/>
            <a:ext cx="16002000" cy="1331937"/>
          </a:xfrm>
          <a:prstGeom prst="rect">
            <a:avLst/>
          </a:prstGeom>
        </p:spPr>
      </p:pic>
      <p:sp>
        <p:nvSpPr>
          <p:cNvPr id="7" name="Text 4"/>
          <p:cNvSpPr/>
          <p:nvPr/>
        </p:nvSpPr>
        <p:spPr>
          <a:xfrm>
            <a:off x="1143000" y="5391076"/>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(xᵢ − yᵢ)</a:t>
            </a:r>
            <a:endParaRPr lang="en-US" sz="1950" dirty="0"/>
          </a:p>
        </p:txBody>
      </p:sp>
      <p:sp>
        <p:nvSpPr>
          <p:cNvPr id="8" name="Text 5"/>
          <p:cNvSpPr/>
          <p:nvPr/>
        </p:nvSpPr>
        <p:spPr>
          <a:xfrm>
            <a:off x="4343400" y="5391076"/>
            <a:ext cx="12008358" cy="531837"/>
          </a:xfrm>
          <a:prstGeom prst="rect">
            <a:avLst/>
          </a:prstGeom>
          <a:noFill/>
          <a:ln/>
        </p:spPr>
        <p:txBody>
          <a:bodyPr wrap="square" lIns="25400" tIns="25400" rIns="25400" bIns="25400" rtlCol="0" anchor="t">
            <a:normAutofit fontScale="925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How far apart the two vectors are along one single dimension. This is the length of one side of a right triangle.</a:t>
            </a:r>
            <a:endParaRPr lang="en-US" sz="1950" dirty="0"/>
          </a:p>
        </p:txBody>
      </p:sp>
      <p:sp>
        <p:nvSpPr>
          <p:cNvPr id="9" name="Text 6"/>
          <p:cNvSpPr/>
          <p:nvPr/>
        </p:nvSpPr>
        <p:spPr>
          <a:xfrm>
            <a:off x="1143000" y="6267301"/>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Squared</a:t>
            </a:r>
            <a:endParaRPr lang="en-US" sz="1950" dirty="0"/>
          </a:p>
        </p:txBody>
      </p:sp>
      <p:sp>
        <p:nvSpPr>
          <p:cNvPr id="10" name="Text 7"/>
          <p:cNvSpPr/>
          <p:nvPr/>
        </p:nvSpPr>
        <p:spPr>
          <a:xfrm>
            <a:off x="4343400" y="6267301"/>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Squaring removes the sign — a gap of −3 is just as much of a gap as +3 — and it is what makes the Pythagoras identity work.</a:t>
            </a:r>
            <a:endParaRPr lang="en-US" sz="1950" dirty="0"/>
          </a:p>
        </p:txBody>
      </p:sp>
      <p:sp>
        <p:nvSpPr>
          <p:cNvPr id="11" name="Text 8"/>
          <p:cNvSpPr/>
          <p:nvPr/>
        </p:nvSpPr>
        <p:spPr>
          <a:xfrm>
            <a:off x="1143000" y="7143527"/>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Σ</a:t>
            </a:r>
            <a:endParaRPr lang="en-US" sz="1950" dirty="0"/>
          </a:p>
        </p:txBody>
      </p:sp>
      <p:sp>
        <p:nvSpPr>
          <p:cNvPr id="12" name="Text 9"/>
          <p:cNvSpPr/>
          <p:nvPr/>
        </p:nvSpPr>
        <p:spPr>
          <a:xfrm>
            <a:off x="4343400" y="7143527"/>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Add up the squared gaps across every dimension. In two dimensions this is a² + b²; in 768 dimensions it is exactly the same idea, 768 terms long.</a:t>
            </a:r>
            <a:endParaRPr lang="en-US" sz="1950" dirty="0"/>
          </a:p>
        </p:txBody>
      </p:sp>
      <p:sp>
        <p:nvSpPr>
          <p:cNvPr id="13" name="Text 10"/>
          <p:cNvSpPr/>
          <p:nvPr/>
        </p:nvSpPr>
        <p:spPr>
          <a:xfrm>
            <a:off x="1143000" y="8019752"/>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a:t>
            </a:r>
            <a:endParaRPr lang="en-US" sz="1950" dirty="0"/>
          </a:p>
        </p:txBody>
      </p:sp>
      <p:sp>
        <p:nvSpPr>
          <p:cNvPr id="14" name="Text 11"/>
          <p:cNvSpPr/>
          <p:nvPr/>
        </p:nvSpPr>
        <p:spPr>
          <a:xfrm>
            <a:off x="4343400" y="8019752"/>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square root undoes the squaring, returning an answer in the same units as the original numbers — a genuine straight-line distance.</a:t>
            </a:r>
            <a:endParaRPr lang="en-US" sz="1950" dirty="0"/>
          </a:p>
        </p:txBody>
      </p:sp>
      <p:pic>
        <p:nvPicPr>
          <p:cNvPr id="15"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04 · WORKED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Distance between two customer profiles</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Two customers are represented as vectors: A = [2, 3] and B = [5, 7]. How far apart are they?</a:t>
            </a:r>
            <a:endParaRPr lang="en-US" sz="2100" dirty="0"/>
          </a:p>
        </p:txBody>
      </p:sp>
      <p:sp>
        <p:nvSpPr>
          <p:cNvPr id="5" name="Shape 3"/>
          <p:cNvSpPr/>
          <p:nvPr/>
        </p:nvSpPr>
        <p:spPr>
          <a:xfrm>
            <a:off x="1143000" y="34290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39508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36079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36079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First dimension: 5 − 2 = </a:t>
            </a:r>
            <a:r>
              <a:rPr lang="en-US" sz="2100" b="1" dirty="0">
                <a:solidFill>
                  <a:srgbClr val="201E1D"/>
                </a:solidFill>
                <a:latin typeface="Arial" pitchFamily="34" charset="0"/>
                <a:ea typeface="Arial" pitchFamily="34" charset="-122"/>
                <a:cs typeface="Arial" pitchFamily="34" charset="-120"/>
              </a:rPr>
              <a:t>3</a:t>
            </a:r>
            <a:endParaRPr lang="en-US" sz="2100" dirty="0"/>
          </a:p>
        </p:txBody>
      </p:sp>
      <p:sp>
        <p:nvSpPr>
          <p:cNvPr id="9" name="Shape 7"/>
          <p:cNvSpPr/>
          <p:nvPr/>
        </p:nvSpPr>
        <p:spPr>
          <a:xfrm>
            <a:off x="1143000" y="44632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1203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1203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Second dimension: 7 − 3 = </a:t>
            </a:r>
            <a:r>
              <a:rPr lang="en-US" sz="2100" b="1" dirty="0">
                <a:solidFill>
                  <a:srgbClr val="201E1D"/>
                </a:solidFill>
                <a:latin typeface="Arial" pitchFamily="34" charset="0"/>
                <a:ea typeface="Arial" pitchFamily="34" charset="-122"/>
                <a:cs typeface="Arial" pitchFamily="34" charset="-120"/>
              </a:rPr>
              <a:t>4</a:t>
            </a:r>
            <a:endParaRPr lang="en-US" sz="2100" dirty="0"/>
          </a:p>
        </p:txBody>
      </p:sp>
      <p:sp>
        <p:nvSpPr>
          <p:cNvPr id="12" name="Shape 10"/>
          <p:cNvSpPr/>
          <p:nvPr/>
        </p:nvSpPr>
        <p:spPr>
          <a:xfrm>
            <a:off x="1143000" y="49755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46326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46326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Square each: 3² = 9, 4² = 16</a:t>
            </a:r>
            <a:endParaRPr lang="en-US" sz="2100" dirty="0"/>
          </a:p>
        </p:txBody>
      </p:sp>
      <p:sp>
        <p:nvSpPr>
          <p:cNvPr id="15" name="Shape 13"/>
          <p:cNvSpPr/>
          <p:nvPr/>
        </p:nvSpPr>
        <p:spPr>
          <a:xfrm>
            <a:off x="1143000" y="5487888"/>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144988"/>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4</a:t>
            </a:r>
            <a:endParaRPr lang="en-US" sz="2100" dirty="0"/>
          </a:p>
        </p:txBody>
      </p:sp>
      <p:sp>
        <p:nvSpPr>
          <p:cNvPr id="17" name="Text 15"/>
          <p:cNvSpPr/>
          <p:nvPr/>
        </p:nvSpPr>
        <p:spPr>
          <a:xfrm>
            <a:off x="1981200" y="5144988"/>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Add: 9 + 16 = </a:t>
            </a:r>
            <a:r>
              <a:rPr lang="en-US" sz="2100" b="1" dirty="0">
                <a:solidFill>
                  <a:srgbClr val="201E1D"/>
                </a:solidFill>
                <a:latin typeface="Arial" pitchFamily="34" charset="0"/>
                <a:ea typeface="Arial" pitchFamily="34" charset="-122"/>
                <a:cs typeface="Arial" pitchFamily="34" charset="-120"/>
              </a:rPr>
              <a:t>25</a:t>
            </a:r>
            <a:endParaRPr lang="en-US" sz="2100" dirty="0"/>
          </a:p>
        </p:txBody>
      </p:sp>
      <p:sp>
        <p:nvSpPr>
          <p:cNvPr id="18" name="Shape 16"/>
          <p:cNvSpPr/>
          <p:nvPr/>
        </p:nvSpPr>
        <p:spPr>
          <a:xfrm>
            <a:off x="1143000" y="6008266"/>
            <a:ext cx="13335000" cy="9525"/>
          </a:xfrm>
          <a:prstGeom prst="rect">
            <a:avLst/>
          </a:prstGeom>
          <a:solidFill>
            <a:srgbClr val="201E1E">
              <a:alpha val="40000"/>
            </a:srgbClr>
          </a:solidFill>
          <a:ln/>
        </p:spPr>
        <p:txBody>
          <a:bodyPr/>
          <a:lstStyle/>
          <a:p>
            <a:endParaRPr lang="en-US"/>
          </a:p>
        </p:txBody>
      </p:sp>
      <p:sp>
        <p:nvSpPr>
          <p:cNvPr id="19" name="Text 17"/>
          <p:cNvSpPr/>
          <p:nvPr/>
        </p:nvSpPr>
        <p:spPr>
          <a:xfrm>
            <a:off x="1143000" y="5657329"/>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20" name="Text 18"/>
          <p:cNvSpPr/>
          <p:nvPr/>
        </p:nvSpPr>
        <p:spPr>
          <a:xfrm>
            <a:off x="1981200" y="5657329"/>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√25 = 5 — a smaller distance means more similar profiles</a:t>
            </a:r>
            <a:endParaRPr lang="en-US" sz="2100" dirty="0"/>
          </a:p>
        </p:txBody>
      </p:sp>
      <p:sp>
        <p:nvSpPr>
          <p:cNvPr id="21" name="Shape 19"/>
          <p:cNvSpPr/>
          <p:nvPr/>
        </p:nvSpPr>
        <p:spPr>
          <a:xfrm>
            <a:off x="1143000" y="6520681"/>
            <a:ext cx="14859000" cy="19050"/>
          </a:xfrm>
          <a:prstGeom prst="rect">
            <a:avLst/>
          </a:prstGeom>
          <a:solidFill>
            <a:srgbClr val="EC3013"/>
          </a:solidFill>
          <a:ln/>
        </p:spPr>
        <p:txBody>
          <a:bodyPr/>
          <a:lstStyle/>
          <a:p>
            <a:endParaRPr lang="en-US"/>
          </a:p>
        </p:txBody>
      </p:sp>
      <p:sp>
        <p:nvSpPr>
          <p:cNvPr id="22" name="Text 20"/>
          <p:cNvSpPr/>
          <p:nvPr/>
        </p:nvSpPr>
        <p:spPr>
          <a:xfrm>
            <a:off x="1143000" y="6784553"/>
            <a:ext cx="16344900" cy="227558"/>
          </a:xfrm>
          <a:prstGeom prst="rect">
            <a:avLst/>
          </a:prstGeom>
          <a:noFill/>
          <a:ln/>
        </p:spPr>
        <p:txBody>
          <a:bodyPr wrap="square" lIns="25400" tIns="25400" rIns="25400" bIns="25400" rtlCol="0" anchor="t">
            <a:normAutofit fontScale="47500" lnSpcReduction="2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Try it yourself. </a:t>
            </a:r>
            <a:r>
              <a:rPr lang="en-US" sz="2175" dirty="0">
                <a:solidFill>
                  <a:srgbClr val="201E1D"/>
                </a:solidFill>
                <a:latin typeface="Arial" pitchFamily="34" charset="0"/>
                <a:ea typeface="Arial" pitchFamily="34" charset="-122"/>
                <a:cs typeface="Arial" pitchFamily="34" charset="-120"/>
              </a:rPr>
              <a:t>Customer C = [2, 4]. Is C closer to A or to B?</a:t>
            </a:r>
            <a:endParaRPr lang="en-US" sz="2175" dirty="0"/>
          </a:p>
        </p:txBody>
      </p:sp>
      <p:sp>
        <p:nvSpPr>
          <p:cNvPr id="23" name="Text 21"/>
          <p:cNvSpPr/>
          <p:nvPr/>
        </p:nvSpPr>
        <p:spPr>
          <a:xfrm>
            <a:off x="1143000" y="7140997"/>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To A. d(A,C) = √(0 + 1) = 1; d(B,C) = √(9 + 9) = √18 ≈ 4.24.</a:t>
            </a:r>
            <a:endParaRPr lang="en-US" sz="1800" dirty="0"/>
          </a:p>
        </p:txBody>
      </p:sp>
      <p:pic>
        <p:nvPicPr>
          <p:cNvPr id="24"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04 · WORKED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A toy semantic map</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Seven words placed by meaning in two dimensions. Similar concepts cluster; unrelated ones stay apart.</a:t>
            </a:r>
            <a:endParaRPr lang="en-US" sz="21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3314700"/>
            <a:ext cx="16002000" cy="4308202"/>
          </a:xfrm>
          <a:prstGeom prst="rect">
            <a:avLst/>
          </a:prstGeom>
        </p:spPr>
      </p:pic>
      <p:sp>
        <p:nvSpPr>
          <p:cNvPr id="6" name="Text 3"/>
          <p:cNvSpPr/>
          <p:nvPr/>
        </p:nvSpPr>
        <p:spPr>
          <a:xfrm>
            <a:off x="1143000" y="7923237"/>
            <a:ext cx="11866562" cy="652090"/>
          </a:xfrm>
          <a:prstGeom prst="rect">
            <a:avLst/>
          </a:prstGeom>
          <a:noFill/>
          <a:ln/>
        </p:spPr>
        <p:txBody>
          <a:bodyPr wrap="square" lIns="25400" tIns="25400" rIns="25400" bIns="25400" rtlCol="0" anchor="t">
            <a:normAutofit fontScale="85000" lnSpcReduction="10000"/>
          </a:bodyPr>
          <a:lstStyle/>
          <a:p>
            <a:pPr marL="0" indent="0" algn="l">
              <a:lnSpc>
                <a:spcPct val="174545"/>
              </a:lnSpc>
              <a:buNone/>
            </a:pPr>
            <a:r>
              <a:rPr lang="en-US" sz="1800" dirty="0">
                <a:solidFill>
                  <a:srgbClr val="211D1D">
                    <a:alpha val="55000"/>
                  </a:srgbClr>
                </a:solidFill>
                <a:latin typeface="Arial" pitchFamily="34" charset="0"/>
                <a:ea typeface="Arial" pitchFamily="34" charset="-122"/>
                <a:cs typeface="Arial" pitchFamily="34" charset="-120"/>
              </a:rPr>
              <a:t>Nothing labelled these axes. The model placed the words, and the grouping is a consequence of how they were used in training text.</a:t>
            </a:r>
            <a:endParaRPr lang="en-US" sz="1800" dirty="0"/>
          </a:p>
        </p:txBody>
      </p:sp>
      <p:pic>
        <p:nvPicPr>
          <p:cNvPr id="7"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04 · WHY IT IS BUILT THIS WAY</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Why hundreds of dimensions</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In two dimensions, "bank" as a riverside and "bank" as a financial institution have nowhere separate to sit. Every extra dimension is another distinction the model can express.</a:t>
            </a:r>
            <a:endParaRPr lang="en-US" sz="2100" dirty="0"/>
          </a:p>
        </p:txBody>
      </p:sp>
      <p:sp>
        <p:nvSpPr>
          <p:cNvPr id="5" name="Shape 3"/>
          <p:cNvSpPr/>
          <p:nvPr/>
        </p:nvSpPr>
        <p:spPr>
          <a:xfrm>
            <a:off x="1143000" y="4548411"/>
            <a:ext cx="3750469" cy="19050"/>
          </a:xfrm>
          <a:prstGeom prst="rect">
            <a:avLst/>
          </a:prstGeom>
          <a:solidFill>
            <a:srgbClr val="201E1E">
              <a:alpha val="40000"/>
            </a:srgbClr>
          </a:solidFill>
          <a:ln/>
        </p:spPr>
        <p:txBody>
          <a:bodyPr/>
          <a:lstStyle/>
          <a:p>
            <a:endParaRPr lang="en-US"/>
          </a:p>
        </p:txBody>
      </p:sp>
      <p:sp>
        <p:nvSpPr>
          <p:cNvPr id="6" name="Text 4"/>
          <p:cNvSpPr/>
          <p:nvPr/>
        </p:nvSpPr>
        <p:spPr>
          <a:xfrm>
            <a:off x="1143000" y="4202090"/>
            <a:ext cx="3634383"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MODEL</a:t>
            </a:r>
            <a:endParaRPr lang="en-US" sz="1800" dirty="0"/>
          </a:p>
        </p:txBody>
      </p:sp>
      <p:sp>
        <p:nvSpPr>
          <p:cNvPr id="7" name="Shape 5"/>
          <p:cNvSpPr/>
          <p:nvPr/>
        </p:nvSpPr>
        <p:spPr>
          <a:xfrm>
            <a:off x="4893469" y="4548411"/>
            <a:ext cx="2633365" cy="19050"/>
          </a:xfrm>
          <a:prstGeom prst="rect">
            <a:avLst/>
          </a:prstGeom>
          <a:solidFill>
            <a:srgbClr val="201E1E">
              <a:alpha val="40000"/>
            </a:srgbClr>
          </a:solidFill>
          <a:ln/>
        </p:spPr>
        <p:txBody>
          <a:bodyPr/>
          <a:lstStyle/>
          <a:p>
            <a:endParaRPr lang="en-US"/>
          </a:p>
        </p:txBody>
      </p:sp>
      <p:sp>
        <p:nvSpPr>
          <p:cNvPr id="8" name="Text 6"/>
          <p:cNvSpPr/>
          <p:nvPr/>
        </p:nvSpPr>
        <p:spPr>
          <a:xfrm>
            <a:off x="5122069" y="4202090"/>
            <a:ext cx="2255166"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DIMENSIONS</a:t>
            </a:r>
            <a:endParaRPr lang="en-US" sz="1800" dirty="0"/>
          </a:p>
        </p:txBody>
      </p:sp>
      <p:sp>
        <p:nvSpPr>
          <p:cNvPr id="9" name="Shape 7"/>
          <p:cNvSpPr/>
          <p:nvPr/>
        </p:nvSpPr>
        <p:spPr>
          <a:xfrm>
            <a:off x="7526834" y="4548411"/>
            <a:ext cx="5571306" cy="19050"/>
          </a:xfrm>
          <a:prstGeom prst="rect">
            <a:avLst/>
          </a:prstGeom>
          <a:solidFill>
            <a:srgbClr val="201E1E">
              <a:alpha val="40000"/>
            </a:srgbClr>
          </a:solidFill>
          <a:ln/>
        </p:spPr>
        <p:txBody>
          <a:bodyPr/>
          <a:lstStyle/>
          <a:p>
            <a:endParaRPr lang="en-US"/>
          </a:p>
        </p:txBody>
      </p:sp>
      <p:sp>
        <p:nvSpPr>
          <p:cNvPr id="10" name="Text 8"/>
          <p:cNvSpPr/>
          <p:nvPr/>
        </p:nvSpPr>
        <p:spPr>
          <a:xfrm>
            <a:off x="7755434" y="4202090"/>
            <a:ext cx="5281246"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BYTES PER VECTOR (FLOAT32)</a:t>
            </a:r>
            <a:endParaRPr lang="en-US" sz="1800" dirty="0"/>
          </a:p>
        </p:txBody>
      </p:sp>
      <p:sp>
        <p:nvSpPr>
          <p:cNvPr id="11" name="Shape 9"/>
          <p:cNvSpPr/>
          <p:nvPr/>
        </p:nvSpPr>
        <p:spPr>
          <a:xfrm>
            <a:off x="13098140" y="4548411"/>
            <a:ext cx="2903860" cy="19050"/>
          </a:xfrm>
          <a:prstGeom prst="rect">
            <a:avLst/>
          </a:prstGeom>
          <a:solidFill>
            <a:srgbClr val="201E1E">
              <a:alpha val="40000"/>
            </a:srgbClr>
          </a:solidFill>
          <a:ln/>
        </p:spPr>
        <p:txBody>
          <a:bodyPr/>
          <a:lstStyle/>
          <a:p>
            <a:endParaRPr lang="en-US"/>
          </a:p>
        </p:txBody>
      </p:sp>
      <p:sp>
        <p:nvSpPr>
          <p:cNvPr id="12" name="Text 10"/>
          <p:cNvSpPr/>
          <p:nvPr/>
        </p:nvSpPr>
        <p:spPr>
          <a:xfrm>
            <a:off x="13326740" y="4202090"/>
            <a:ext cx="2762376"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1M DOCUMENTS</a:t>
            </a:r>
            <a:endParaRPr lang="en-US" sz="1800" dirty="0"/>
          </a:p>
        </p:txBody>
      </p:sp>
      <p:sp>
        <p:nvSpPr>
          <p:cNvPr id="13" name="Shape 11"/>
          <p:cNvSpPr/>
          <p:nvPr/>
        </p:nvSpPr>
        <p:spPr>
          <a:xfrm>
            <a:off x="1143000" y="5129510"/>
            <a:ext cx="3750469" cy="9525"/>
          </a:xfrm>
          <a:prstGeom prst="rect">
            <a:avLst/>
          </a:prstGeom>
          <a:solidFill>
            <a:srgbClr val="201E1E">
              <a:alpha val="40000"/>
            </a:srgbClr>
          </a:solidFill>
          <a:ln/>
        </p:spPr>
        <p:txBody>
          <a:bodyPr/>
          <a:lstStyle/>
          <a:p>
            <a:endParaRPr lang="en-US"/>
          </a:p>
        </p:txBody>
      </p:sp>
      <p:sp>
        <p:nvSpPr>
          <p:cNvPr id="14" name="Text 12"/>
          <p:cNvSpPr/>
          <p:nvPr/>
        </p:nvSpPr>
        <p:spPr>
          <a:xfrm>
            <a:off x="1143000" y="4764485"/>
            <a:ext cx="3634383"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Small / on-device</a:t>
            </a:r>
            <a:endParaRPr lang="en-US" sz="1875" dirty="0"/>
          </a:p>
        </p:txBody>
      </p:sp>
      <p:sp>
        <p:nvSpPr>
          <p:cNvPr id="15" name="Shape 13"/>
          <p:cNvSpPr/>
          <p:nvPr/>
        </p:nvSpPr>
        <p:spPr>
          <a:xfrm>
            <a:off x="4893469" y="5129510"/>
            <a:ext cx="2633365" cy="9525"/>
          </a:xfrm>
          <a:prstGeom prst="rect">
            <a:avLst/>
          </a:prstGeom>
          <a:solidFill>
            <a:srgbClr val="201E1E">
              <a:alpha val="40000"/>
            </a:srgbClr>
          </a:solidFill>
          <a:ln/>
        </p:spPr>
        <p:txBody>
          <a:bodyPr/>
          <a:lstStyle/>
          <a:p>
            <a:endParaRPr lang="en-US"/>
          </a:p>
        </p:txBody>
      </p:sp>
      <p:sp>
        <p:nvSpPr>
          <p:cNvPr id="16" name="Text 14"/>
          <p:cNvSpPr/>
          <p:nvPr/>
        </p:nvSpPr>
        <p:spPr>
          <a:xfrm>
            <a:off x="5122069" y="4764485"/>
            <a:ext cx="2255166"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384</a:t>
            </a:r>
            <a:endParaRPr lang="en-US" sz="1875" dirty="0"/>
          </a:p>
        </p:txBody>
      </p:sp>
      <p:sp>
        <p:nvSpPr>
          <p:cNvPr id="17" name="Shape 15"/>
          <p:cNvSpPr/>
          <p:nvPr/>
        </p:nvSpPr>
        <p:spPr>
          <a:xfrm>
            <a:off x="7526834" y="5129510"/>
            <a:ext cx="5571306" cy="9525"/>
          </a:xfrm>
          <a:prstGeom prst="rect">
            <a:avLst/>
          </a:prstGeom>
          <a:solidFill>
            <a:srgbClr val="201E1E">
              <a:alpha val="40000"/>
            </a:srgbClr>
          </a:solidFill>
          <a:ln/>
        </p:spPr>
        <p:txBody>
          <a:bodyPr/>
          <a:lstStyle/>
          <a:p>
            <a:endParaRPr lang="en-US"/>
          </a:p>
        </p:txBody>
      </p:sp>
      <p:sp>
        <p:nvSpPr>
          <p:cNvPr id="18" name="Text 16"/>
          <p:cNvSpPr/>
          <p:nvPr/>
        </p:nvSpPr>
        <p:spPr>
          <a:xfrm>
            <a:off x="7755434" y="4764485"/>
            <a:ext cx="5281246"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1,536</a:t>
            </a:r>
            <a:endParaRPr lang="en-US" sz="1875" dirty="0"/>
          </a:p>
        </p:txBody>
      </p:sp>
      <p:sp>
        <p:nvSpPr>
          <p:cNvPr id="19" name="Shape 17"/>
          <p:cNvSpPr/>
          <p:nvPr/>
        </p:nvSpPr>
        <p:spPr>
          <a:xfrm>
            <a:off x="13098140" y="5129510"/>
            <a:ext cx="2903860" cy="9525"/>
          </a:xfrm>
          <a:prstGeom prst="rect">
            <a:avLst/>
          </a:prstGeom>
          <a:solidFill>
            <a:srgbClr val="201E1E">
              <a:alpha val="40000"/>
            </a:srgbClr>
          </a:solidFill>
          <a:ln/>
        </p:spPr>
        <p:txBody>
          <a:bodyPr/>
          <a:lstStyle/>
          <a:p>
            <a:endParaRPr lang="en-US"/>
          </a:p>
        </p:txBody>
      </p:sp>
      <p:sp>
        <p:nvSpPr>
          <p:cNvPr id="20" name="Text 18"/>
          <p:cNvSpPr/>
          <p:nvPr/>
        </p:nvSpPr>
        <p:spPr>
          <a:xfrm>
            <a:off x="13326740" y="4764485"/>
            <a:ext cx="2762376"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1.5 GB</a:t>
            </a:r>
            <a:endParaRPr lang="en-US" sz="1875" dirty="0"/>
          </a:p>
        </p:txBody>
      </p:sp>
      <p:sp>
        <p:nvSpPr>
          <p:cNvPr id="21" name="Shape 19"/>
          <p:cNvSpPr/>
          <p:nvPr/>
        </p:nvSpPr>
        <p:spPr>
          <a:xfrm>
            <a:off x="1143000" y="5696322"/>
            <a:ext cx="3750469" cy="9525"/>
          </a:xfrm>
          <a:prstGeom prst="rect">
            <a:avLst/>
          </a:prstGeom>
          <a:solidFill>
            <a:srgbClr val="201E1E">
              <a:alpha val="40000"/>
            </a:srgbClr>
          </a:solidFill>
          <a:ln/>
        </p:spPr>
        <p:txBody>
          <a:bodyPr/>
          <a:lstStyle/>
          <a:p>
            <a:endParaRPr lang="en-US"/>
          </a:p>
        </p:txBody>
      </p:sp>
      <p:sp>
        <p:nvSpPr>
          <p:cNvPr id="22" name="Text 20"/>
          <p:cNvSpPr/>
          <p:nvPr/>
        </p:nvSpPr>
        <p:spPr>
          <a:xfrm>
            <a:off x="1143000" y="5336060"/>
            <a:ext cx="363438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Common general purpose</a:t>
            </a:r>
            <a:endParaRPr lang="en-US" sz="1875" dirty="0"/>
          </a:p>
        </p:txBody>
      </p:sp>
      <p:sp>
        <p:nvSpPr>
          <p:cNvPr id="23" name="Shape 21"/>
          <p:cNvSpPr/>
          <p:nvPr/>
        </p:nvSpPr>
        <p:spPr>
          <a:xfrm>
            <a:off x="4893469" y="5696322"/>
            <a:ext cx="2633365" cy="9525"/>
          </a:xfrm>
          <a:prstGeom prst="rect">
            <a:avLst/>
          </a:prstGeom>
          <a:solidFill>
            <a:srgbClr val="201E1E">
              <a:alpha val="40000"/>
            </a:srgbClr>
          </a:solidFill>
          <a:ln/>
        </p:spPr>
        <p:txBody>
          <a:bodyPr/>
          <a:lstStyle/>
          <a:p>
            <a:endParaRPr lang="en-US"/>
          </a:p>
        </p:txBody>
      </p:sp>
      <p:sp>
        <p:nvSpPr>
          <p:cNvPr id="24" name="Text 22"/>
          <p:cNvSpPr/>
          <p:nvPr/>
        </p:nvSpPr>
        <p:spPr>
          <a:xfrm>
            <a:off x="5122069" y="5336060"/>
            <a:ext cx="225516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768</a:t>
            </a:r>
            <a:endParaRPr lang="en-US" sz="1875" dirty="0"/>
          </a:p>
        </p:txBody>
      </p:sp>
      <p:sp>
        <p:nvSpPr>
          <p:cNvPr id="25" name="Shape 23"/>
          <p:cNvSpPr/>
          <p:nvPr/>
        </p:nvSpPr>
        <p:spPr>
          <a:xfrm>
            <a:off x="7526834" y="5696322"/>
            <a:ext cx="5571306" cy="9525"/>
          </a:xfrm>
          <a:prstGeom prst="rect">
            <a:avLst/>
          </a:prstGeom>
          <a:solidFill>
            <a:srgbClr val="201E1E">
              <a:alpha val="40000"/>
            </a:srgbClr>
          </a:solidFill>
          <a:ln/>
        </p:spPr>
        <p:txBody>
          <a:bodyPr/>
          <a:lstStyle/>
          <a:p>
            <a:endParaRPr lang="en-US"/>
          </a:p>
        </p:txBody>
      </p:sp>
      <p:sp>
        <p:nvSpPr>
          <p:cNvPr id="26" name="Text 24"/>
          <p:cNvSpPr/>
          <p:nvPr/>
        </p:nvSpPr>
        <p:spPr>
          <a:xfrm>
            <a:off x="7755434" y="5336060"/>
            <a:ext cx="528124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3,072</a:t>
            </a:r>
            <a:endParaRPr lang="en-US" sz="1875" dirty="0"/>
          </a:p>
        </p:txBody>
      </p:sp>
      <p:sp>
        <p:nvSpPr>
          <p:cNvPr id="27" name="Shape 25"/>
          <p:cNvSpPr/>
          <p:nvPr/>
        </p:nvSpPr>
        <p:spPr>
          <a:xfrm>
            <a:off x="13098140" y="5696322"/>
            <a:ext cx="2903860" cy="9525"/>
          </a:xfrm>
          <a:prstGeom prst="rect">
            <a:avLst/>
          </a:prstGeom>
          <a:solidFill>
            <a:srgbClr val="201E1E">
              <a:alpha val="40000"/>
            </a:srgbClr>
          </a:solidFill>
          <a:ln/>
        </p:spPr>
        <p:txBody>
          <a:bodyPr/>
          <a:lstStyle/>
          <a:p>
            <a:endParaRPr lang="en-US"/>
          </a:p>
        </p:txBody>
      </p:sp>
      <p:sp>
        <p:nvSpPr>
          <p:cNvPr id="28" name="Text 26"/>
          <p:cNvSpPr/>
          <p:nvPr/>
        </p:nvSpPr>
        <p:spPr>
          <a:xfrm>
            <a:off x="13326740" y="5336060"/>
            <a:ext cx="276237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3.1 GB</a:t>
            </a:r>
            <a:endParaRPr lang="en-US" sz="1875" dirty="0"/>
          </a:p>
        </p:txBody>
      </p:sp>
      <p:sp>
        <p:nvSpPr>
          <p:cNvPr id="29" name="Shape 27"/>
          <p:cNvSpPr/>
          <p:nvPr/>
        </p:nvSpPr>
        <p:spPr>
          <a:xfrm>
            <a:off x="1143000" y="6263134"/>
            <a:ext cx="3750469" cy="9525"/>
          </a:xfrm>
          <a:prstGeom prst="rect">
            <a:avLst/>
          </a:prstGeom>
          <a:solidFill>
            <a:srgbClr val="201E1E">
              <a:alpha val="40000"/>
            </a:srgbClr>
          </a:solidFill>
          <a:ln/>
        </p:spPr>
        <p:txBody>
          <a:bodyPr/>
          <a:lstStyle/>
          <a:p>
            <a:endParaRPr lang="en-US"/>
          </a:p>
        </p:txBody>
      </p:sp>
      <p:sp>
        <p:nvSpPr>
          <p:cNvPr id="30" name="Text 28"/>
          <p:cNvSpPr/>
          <p:nvPr/>
        </p:nvSpPr>
        <p:spPr>
          <a:xfrm>
            <a:off x="1143000" y="5902872"/>
            <a:ext cx="363438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Large commercial</a:t>
            </a:r>
            <a:endParaRPr lang="en-US" sz="1875" dirty="0"/>
          </a:p>
        </p:txBody>
      </p:sp>
      <p:sp>
        <p:nvSpPr>
          <p:cNvPr id="31" name="Shape 29"/>
          <p:cNvSpPr/>
          <p:nvPr/>
        </p:nvSpPr>
        <p:spPr>
          <a:xfrm>
            <a:off x="4893469" y="6263134"/>
            <a:ext cx="2633365" cy="9525"/>
          </a:xfrm>
          <a:prstGeom prst="rect">
            <a:avLst/>
          </a:prstGeom>
          <a:solidFill>
            <a:srgbClr val="201E1E">
              <a:alpha val="40000"/>
            </a:srgbClr>
          </a:solidFill>
          <a:ln/>
        </p:spPr>
        <p:txBody>
          <a:bodyPr/>
          <a:lstStyle/>
          <a:p>
            <a:endParaRPr lang="en-US"/>
          </a:p>
        </p:txBody>
      </p:sp>
      <p:sp>
        <p:nvSpPr>
          <p:cNvPr id="32" name="Text 30"/>
          <p:cNvSpPr/>
          <p:nvPr/>
        </p:nvSpPr>
        <p:spPr>
          <a:xfrm>
            <a:off x="5122069" y="5902872"/>
            <a:ext cx="225516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1,536</a:t>
            </a:r>
            <a:endParaRPr lang="en-US" sz="1875" dirty="0"/>
          </a:p>
        </p:txBody>
      </p:sp>
      <p:sp>
        <p:nvSpPr>
          <p:cNvPr id="33" name="Shape 31"/>
          <p:cNvSpPr/>
          <p:nvPr/>
        </p:nvSpPr>
        <p:spPr>
          <a:xfrm>
            <a:off x="7526834" y="6263134"/>
            <a:ext cx="5571306" cy="9525"/>
          </a:xfrm>
          <a:prstGeom prst="rect">
            <a:avLst/>
          </a:prstGeom>
          <a:solidFill>
            <a:srgbClr val="201E1E">
              <a:alpha val="40000"/>
            </a:srgbClr>
          </a:solidFill>
          <a:ln/>
        </p:spPr>
        <p:txBody>
          <a:bodyPr/>
          <a:lstStyle/>
          <a:p>
            <a:endParaRPr lang="en-US"/>
          </a:p>
        </p:txBody>
      </p:sp>
      <p:sp>
        <p:nvSpPr>
          <p:cNvPr id="34" name="Text 32"/>
          <p:cNvSpPr/>
          <p:nvPr/>
        </p:nvSpPr>
        <p:spPr>
          <a:xfrm>
            <a:off x="7755434" y="5902872"/>
            <a:ext cx="528124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6,144</a:t>
            </a:r>
            <a:endParaRPr lang="en-US" sz="1875" dirty="0"/>
          </a:p>
        </p:txBody>
      </p:sp>
      <p:sp>
        <p:nvSpPr>
          <p:cNvPr id="35" name="Shape 33"/>
          <p:cNvSpPr/>
          <p:nvPr/>
        </p:nvSpPr>
        <p:spPr>
          <a:xfrm>
            <a:off x="13098140" y="6263134"/>
            <a:ext cx="2903860" cy="9525"/>
          </a:xfrm>
          <a:prstGeom prst="rect">
            <a:avLst/>
          </a:prstGeom>
          <a:solidFill>
            <a:srgbClr val="201E1E">
              <a:alpha val="40000"/>
            </a:srgbClr>
          </a:solidFill>
          <a:ln/>
        </p:spPr>
        <p:txBody>
          <a:bodyPr/>
          <a:lstStyle/>
          <a:p>
            <a:endParaRPr lang="en-US"/>
          </a:p>
        </p:txBody>
      </p:sp>
      <p:sp>
        <p:nvSpPr>
          <p:cNvPr id="36" name="Text 34"/>
          <p:cNvSpPr/>
          <p:nvPr/>
        </p:nvSpPr>
        <p:spPr>
          <a:xfrm>
            <a:off x="13326740" y="5902872"/>
            <a:ext cx="276237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6.1 GB</a:t>
            </a:r>
            <a:endParaRPr lang="en-US" sz="1875" dirty="0"/>
          </a:p>
        </p:txBody>
      </p:sp>
      <p:sp>
        <p:nvSpPr>
          <p:cNvPr id="37" name="Shape 35"/>
          <p:cNvSpPr/>
          <p:nvPr/>
        </p:nvSpPr>
        <p:spPr>
          <a:xfrm>
            <a:off x="1143000" y="6829946"/>
            <a:ext cx="3750469" cy="9525"/>
          </a:xfrm>
          <a:prstGeom prst="rect">
            <a:avLst/>
          </a:prstGeom>
          <a:solidFill>
            <a:srgbClr val="201E1E">
              <a:alpha val="40000"/>
            </a:srgbClr>
          </a:solidFill>
          <a:ln/>
        </p:spPr>
        <p:txBody>
          <a:bodyPr/>
          <a:lstStyle/>
          <a:p>
            <a:endParaRPr lang="en-US"/>
          </a:p>
        </p:txBody>
      </p:sp>
      <p:sp>
        <p:nvSpPr>
          <p:cNvPr id="38" name="Text 36"/>
          <p:cNvSpPr/>
          <p:nvPr/>
        </p:nvSpPr>
        <p:spPr>
          <a:xfrm>
            <a:off x="1143000" y="6469684"/>
            <a:ext cx="363438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Largest available</a:t>
            </a:r>
            <a:endParaRPr lang="en-US" sz="1875" dirty="0"/>
          </a:p>
        </p:txBody>
      </p:sp>
      <p:sp>
        <p:nvSpPr>
          <p:cNvPr id="39" name="Shape 37"/>
          <p:cNvSpPr/>
          <p:nvPr/>
        </p:nvSpPr>
        <p:spPr>
          <a:xfrm>
            <a:off x="4893469" y="6829946"/>
            <a:ext cx="2633365" cy="9525"/>
          </a:xfrm>
          <a:prstGeom prst="rect">
            <a:avLst/>
          </a:prstGeom>
          <a:solidFill>
            <a:srgbClr val="201E1E">
              <a:alpha val="40000"/>
            </a:srgbClr>
          </a:solidFill>
          <a:ln/>
        </p:spPr>
        <p:txBody>
          <a:bodyPr/>
          <a:lstStyle/>
          <a:p>
            <a:endParaRPr lang="en-US"/>
          </a:p>
        </p:txBody>
      </p:sp>
      <p:sp>
        <p:nvSpPr>
          <p:cNvPr id="40" name="Text 38"/>
          <p:cNvSpPr/>
          <p:nvPr/>
        </p:nvSpPr>
        <p:spPr>
          <a:xfrm>
            <a:off x="5122069" y="6469684"/>
            <a:ext cx="225516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3,072</a:t>
            </a:r>
            <a:endParaRPr lang="en-US" sz="1875" dirty="0"/>
          </a:p>
        </p:txBody>
      </p:sp>
      <p:sp>
        <p:nvSpPr>
          <p:cNvPr id="41" name="Shape 39"/>
          <p:cNvSpPr/>
          <p:nvPr/>
        </p:nvSpPr>
        <p:spPr>
          <a:xfrm>
            <a:off x="7526834" y="6829946"/>
            <a:ext cx="5571306" cy="9525"/>
          </a:xfrm>
          <a:prstGeom prst="rect">
            <a:avLst/>
          </a:prstGeom>
          <a:solidFill>
            <a:srgbClr val="201E1E">
              <a:alpha val="40000"/>
            </a:srgbClr>
          </a:solidFill>
          <a:ln/>
        </p:spPr>
        <p:txBody>
          <a:bodyPr/>
          <a:lstStyle/>
          <a:p>
            <a:endParaRPr lang="en-US"/>
          </a:p>
        </p:txBody>
      </p:sp>
      <p:sp>
        <p:nvSpPr>
          <p:cNvPr id="42" name="Text 40"/>
          <p:cNvSpPr/>
          <p:nvPr/>
        </p:nvSpPr>
        <p:spPr>
          <a:xfrm>
            <a:off x="7755434" y="6469684"/>
            <a:ext cx="528124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12,288</a:t>
            </a:r>
            <a:endParaRPr lang="en-US" sz="1875" dirty="0"/>
          </a:p>
        </p:txBody>
      </p:sp>
      <p:sp>
        <p:nvSpPr>
          <p:cNvPr id="43" name="Shape 41"/>
          <p:cNvSpPr/>
          <p:nvPr/>
        </p:nvSpPr>
        <p:spPr>
          <a:xfrm>
            <a:off x="13098140" y="6829946"/>
            <a:ext cx="2903860" cy="9525"/>
          </a:xfrm>
          <a:prstGeom prst="rect">
            <a:avLst/>
          </a:prstGeom>
          <a:solidFill>
            <a:srgbClr val="201E1E">
              <a:alpha val="40000"/>
            </a:srgbClr>
          </a:solidFill>
          <a:ln/>
        </p:spPr>
        <p:txBody>
          <a:bodyPr/>
          <a:lstStyle/>
          <a:p>
            <a:endParaRPr lang="en-US"/>
          </a:p>
        </p:txBody>
      </p:sp>
      <p:sp>
        <p:nvSpPr>
          <p:cNvPr id="44" name="Text 42"/>
          <p:cNvSpPr/>
          <p:nvPr/>
        </p:nvSpPr>
        <p:spPr>
          <a:xfrm>
            <a:off x="13326740" y="6469684"/>
            <a:ext cx="276237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12.3 GB</a:t>
            </a:r>
            <a:endParaRPr lang="en-US" sz="1875" dirty="0"/>
          </a:p>
        </p:txBody>
      </p:sp>
      <p:sp>
        <p:nvSpPr>
          <p:cNvPr id="45" name="Shape 43"/>
          <p:cNvSpPr/>
          <p:nvPr/>
        </p:nvSpPr>
        <p:spPr>
          <a:xfrm>
            <a:off x="1143000" y="7165628"/>
            <a:ext cx="16002000" cy="19050"/>
          </a:xfrm>
          <a:prstGeom prst="rect">
            <a:avLst/>
          </a:prstGeom>
          <a:solidFill>
            <a:srgbClr val="EC3013"/>
          </a:solidFill>
          <a:ln/>
        </p:spPr>
        <p:txBody>
          <a:bodyPr/>
          <a:lstStyle/>
          <a:p>
            <a:endParaRPr lang="en-US"/>
          </a:p>
        </p:txBody>
      </p:sp>
      <p:sp>
        <p:nvSpPr>
          <p:cNvPr id="46" name="Text 44"/>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PRO TIP</a:t>
            </a:r>
            <a:endParaRPr lang="en-US" sz="1800" dirty="0"/>
          </a:p>
        </p:txBody>
      </p:sp>
      <p:sp>
        <p:nvSpPr>
          <p:cNvPr id="47" name="Text 45"/>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More dimensions is not free — it costs storage, memory and query latency, all linearly. Bigger embeddings are worth it only if your retrieval quality actually improves; measure before you upgrade.</a:t>
            </a:r>
            <a:endParaRPr lang="en-US" sz="2100" dirty="0"/>
          </a:p>
        </p:txBody>
      </p:sp>
      <p:pic>
        <p:nvPicPr>
          <p:cNvPr id="48"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04 · BUSINESS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"Customers also bought"</a:t>
            </a:r>
            <a:endParaRPr lang="en-US" sz="4800" dirty="0"/>
          </a:p>
        </p:txBody>
      </p:sp>
      <p:sp>
        <p:nvSpPr>
          <p:cNvPr id="4" name="Text 2"/>
          <p:cNvSpPr/>
          <p:nvPr/>
        </p:nvSpPr>
        <p:spPr>
          <a:xfrm>
            <a:off x="1143000" y="2674516"/>
            <a:ext cx="14473616" cy="11354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An e-commerce platform converts each product's description, category and reviews into an embedding vector. Products with nearby embeddings become recommendations — a running shoe sits close to running socks and far from an office chair.</a:t>
            </a:r>
            <a:endParaRPr lang="en-US" sz="2100" dirty="0"/>
          </a:p>
        </p:txBody>
      </p:sp>
      <p:sp>
        <p:nvSpPr>
          <p:cNvPr id="5" name="Shape 3"/>
          <p:cNvSpPr/>
          <p:nvPr/>
        </p:nvSpPr>
        <p:spPr>
          <a:xfrm>
            <a:off x="1143000" y="4676775"/>
            <a:ext cx="5029200" cy="19050"/>
          </a:xfrm>
          <a:prstGeom prst="rect">
            <a:avLst/>
          </a:prstGeom>
          <a:solidFill>
            <a:srgbClr val="201E1E">
              <a:alpha val="40000"/>
            </a:srgbClr>
          </a:solidFill>
          <a:ln/>
        </p:spPr>
        <p:txBody>
          <a:bodyPr/>
          <a:lstStyle/>
          <a:p>
            <a:endParaRPr lang="en-US"/>
          </a:p>
        </p:txBody>
      </p:sp>
      <p:sp>
        <p:nvSpPr>
          <p:cNvPr id="6" name="Text 4"/>
          <p:cNvSpPr/>
          <p:nvPr/>
        </p:nvSpPr>
        <p:spPr>
          <a:xfrm>
            <a:off x="1143000" y="49114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Encode</a:t>
            </a:r>
            <a:endParaRPr lang="en-US" sz="2550" dirty="0"/>
          </a:p>
        </p:txBody>
      </p:sp>
      <p:sp>
        <p:nvSpPr>
          <p:cNvPr id="7" name="Text 5"/>
          <p:cNvSpPr/>
          <p:nvPr/>
        </p:nvSpPr>
        <p:spPr>
          <a:xfrm>
            <a:off x="1143000" y="5417641"/>
            <a:ext cx="5180076" cy="11354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Every product's text becomes one vector. Done once, refreshed when the catalogue changes.</a:t>
            </a:r>
            <a:endParaRPr lang="en-US" sz="2100" dirty="0"/>
          </a:p>
        </p:txBody>
      </p:sp>
      <p:sp>
        <p:nvSpPr>
          <p:cNvPr id="8" name="Shape 6"/>
          <p:cNvSpPr/>
          <p:nvPr/>
        </p:nvSpPr>
        <p:spPr>
          <a:xfrm>
            <a:off x="6629400" y="4676775"/>
            <a:ext cx="5029200" cy="19050"/>
          </a:xfrm>
          <a:prstGeom prst="rect">
            <a:avLst/>
          </a:prstGeom>
          <a:solidFill>
            <a:srgbClr val="201E1E">
              <a:alpha val="40000"/>
            </a:srgbClr>
          </a:solidFill>
          <a:ln/>
        </p:spPr>
        <p:txBody>
          <a:bodyPr/>
          <a:lstStyle/>
          <a:p>
            <a:endParaRPr lang="en-US"/>
          </a:p>
        </p:txBody>
      </p:sp>
      <p:sp>
        <p:nvSpPr>
          <p:cNvPr id="9" name="Text 7"/>
          <p:cNvSpPr/>
          <p:nvPr/>
        </p:nvSpPr>
        <p:spPr>
          <a:xfrm>
            <a:off x="6629400" y="49114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Index</a:t>
            </a:r>
            <a:endParaRPr lang="en-US" sz="2550" dirty="0"/>
          </a:p>
        </p:txBody>
      </p:sp>
      <p:sp>
        <p:nvSpPr>
          <p:cNvPr id="10" name="Text 8"/>
          <p:cNvSpPr/>
          <p:nvPr/>
        </p:nvSpPr>
        <p:spPr>
          <a:xfrm>
            <a:off x="6629400" y="54176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 vectors go into a store that can find nearest neighbours in milliseconds across millions of items.</a:t>
            </a:r>
            <a:endParaRPr lang="en-US" sz="2100" dirty="0"/>
          </a:p>
        </p:txBody>
      </p:sp>
      <p:sp>
        <p:nvSpPr>
          <p:cNvPr id="11" name="Shape 9"/>
          <p:cNvSpPr/>
          <p:nvPr/>
        </p:nvSpPr>
        <p:spPr>
          <a:xfrm>
            <a:off x="12115800" y="4676775"/>
            <a:ext cx="5029200" cy="19050"/>
          </a:xfrm>
          <a:prstGeom prst="rect">
            <a:avLst/>
          </a:prstGeom>
          <a:solidFill>
            <a:srgbClr val="201E1E">
              <a:alpha val="40000"/>
            </a:srgbClr>
          </a:solidFill>
          <a:ln/>
        </p:spPr>
        <p:txBody>
          <a:bodyPr/>
          <a:lstStyle/>
          <a:p>
            <a:endParaRPr lang="en-US"/>
          </a:p>
        </p:txBody>
      </p:sp>
      <p:sp>
        <p:nvSpPr>
          <p:cNvPr id="12" name="Text 10"/>
          <p:cNvSpPr/>
          <p:nvPr/>
        </p:nvSpPr>
        <p:spPr>
          <a:xfrm>
            <a:off x="12115800" y="49114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Serve</a:t>
            </a:r>
            <a:endParaRPr lang="en-US" sz="2550" dirty="0"/>
          </a:p>
        </p:txBody>
      </p:sp>
      <p:sp>
        <p:nvSpPr>
          <p:cNvPr id="13" name="Text 11"/>
          <p:cNvSpPr/>
          <p:nvPr/>
        </p:nvSpPr>
        <p:spPr>
          <a:xfrm>
            <a:off x="12115800" y="54176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shopper views an item; the system returns its nearest neighbours as the recommendation strip.</a:t>
            </a:r>
            <a:endParaRPr lang="en-US" sz="2100" dirty="0"/>
          </a:p>
        </p:txBody>
      </p:sp>
      <p:sp>
        <p:nvSpPr>
          <p:cNvPr id="14" name="Shape 12"/>
          <p:cNvSpPr/>
          <p:nvPr/>
        </p:nvSpPr>
        <p:spPr>
          <a:xfrm>
            <a:off x="1143000" y="7017916"/>
            <a:ext cx="14859000" cy="19050"/>
          </a:xfrm>
          <a:prstGeom prst="rect">
            <a:avLst/>
          </a:prstGeom>
          <a:solidFill>
            <a:srgbClr val="EC3013"/>
          </a:solidFill>
          <a:ln/>
        </p:spPr>
        <p:txBody>
          <a:bodyPr/>
          <a:lstStyle/>
          <a:p>
            <a:endParaRPr lang="en-US"/>
          </a:p>
        </p:txBody>
      </p:sp>
      <p:sp>
        <p:nvSpPr>
          <p:cNvPr id="15" name="Text 13"/>
          <p:cNvSpPr/>
          <p:nvPr/>
        </p:nvSpPr>
        <p:spPr>
          <a:xfrm>
            <a:off x="1143000" y="7281788"/>
            <a:ext cx="16344900" cy="227558"/>
          </a:xfrm>
          <a:prstGeom prst="rect">
            <a:avLst/>
          </a:prstGeom>
          <a:noFill/>
          <a:ln/>
        </p:spPr>
        <p:txBody>
          <a:bodyPr wrap="square" lIns="25400" tIns="25400" rIns="25400" bIns="25400" rtlCol="0" anchor="t">
            <a:normAutofit fontScale="47500" lnSpcReduction="2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Try it yourself. </a:t>
            </a:r>
            <a:r>
              <a:rPr lang="en-US" sz="2175" dirty="0">
                <a:solidFill>
                  <a:srgbClr val="201E1D"/>
                </a:solidFill>
                <a:latin typeface="Arial" pitchFamily="34" charset="0"/>
                <a:ea typeface="Arial" pitchFamily="34" charset="-122"/>
                <a:cs typeface="Arial" pitchFamily="34" charset="-120"/>
              </a:rPr>
              <a:t>Would you expect "laptop bag" to embed closer to "laptop" or "garden hose"?</a:t>
            </a:r>
            <a:endParaRPr lang="en-US" sz="2175" dirty="0"/>
          </a:p>
        </p:txBody>
      </p:sp>
      <p:sp>
        <p:nvSpPr>
          <p:cNvPr id="16" name="Text 14"/>
          <p:cNvSpPr/>
          <p:nvPr/>
        </p:nvSpPr>
        <p:spPr>
          <a:xfrm>
            <a:off x="1143000" y="7638231"/>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Closer to "laptop" — the two words appear in similar contexts and are frequently bought together, so training places them nearby.</a:t>
            </a:r>
            <a:endParaRPr lang="en-US" sz="1800" dirty="0"/>
          </a:p>
        </p:txBody>
      </p:sp>
      <p:pic>
        <p:nvPicPr>
          <p:cNvPr id="17"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04 · AI APPLICATION MAPPING</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Where embeddings show up in AI</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Semantic search</a:t>
            </a:r>
            <a:endParaRPr lang="en-US" sz="2550" dirty="0"/>
          </a:p>
        </p:txBody>
      </p:sp>
      <p:sp>
        <p:nvSpPr>
          <p:cNvPr id="6" name="Text 4"/>
          <p:cNvSpPr/>
          <p:nvPr/>
        </p:nvSpPr>
        <p:spPr>
          <a:xfrm>
            <a:off x="1143000" y="3931741"/>
            <a:ext cx="5180076" cy="15926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Finding results by meaning rather than keyword overlap — "how do I cancel" matches a page titled "ending your subscription".</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RAG retrieval</a:t>
            </a:r>
            <a:endParaRPr lang="en-US" sz="2550" dirty="0"/>
          </a:p>
        </p:txBody>
      </p:sp>
      <p:sp>
        <p:nvSpPr>
          <p:cNvPr id="9" name="Text 7"/>
          <p:cNvSpPr/>
          <p:nvPr/>
        </p:nvSpPr>
        <p:spPr>
          <a:xfrm>
            <a:off x="6629400" y="3931741"/>
            <a:ext cx="518007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Fetching the most relevant documents for a query before the model writes anything.</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Recommendation systems</a:t>
            </a:r>
            <a:endParaRPr lang="en-US" sz="2550" dirty="0"/>
          </a:p>
        </p:txBody>
      </p:sp>
      <p:sp>
        <p:nvSpPr>
          <p:cNvPr id="12" name="Text 10"/>
          <p:cNvSpPr/>
          <p:nvPr/>
        </p:nvSpPr>
        <p:spPr>
          <a:xfrm>
            <a:off x="12115800" y="3931741"/>
            <a:ext cx="518007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Matching users and items by embedding distance rather than hand-written rules.</a:t>
            </a:r>
            <a:endParaRPr lang="en-US" sz="2100" dirty="0"/>
          </a:p>
        </p:txBody>
      </p:sp>
      <p:sp>
        <p:nvSpPr>
          <p:cNvPr id="13" name="Shape 11"/>
          <p:cNvSpPr/>
          <p:nvPr/>
        </p:nvSpPr>
        <p:spPr>
          <a:xfrm>
            <a:off x="1143000" y="6052996"/>
            <a:ext cx="5029200" cy="19050"/>
          </a:xfrm>
          <a:prstGeom prst="rect">
            <a:avLst/>
          </a:prstGeom>
          <a:solidFill>
            <a:srgbClr val="201E1E">
              <a:alpha val="40000"/>
            </a:srgbClr>
          </a:solidFill>
          <a:ln/>
        </p:spPr>
        <p:txBody>
          <a:bodyPr/>
          <a:lstStyle/>
          <a:p>
            <a:endParaRPr lang="en-US"/>
          </a:p>
        </p:txBody>
      </p:sp>
      <p:sp>
        <p:nvSpPr>
          <p:cNvPr id="14" name="Text 12"/>
          <p:cNvSpPr/>
          <p:nvPr/>
        </p:nvSpPr>
        <p:spPr>
          <a:xfrm>
            <a:off x="1143000" y="6390726"/>
            <a:ext cx="5532120" cy="270049"/>
          </a:xfrm>
          <a:prstGeom prst="rect">
            <a:avLst/>
          </a:prstGeom>
          <a:noFill/>
          <a:ln/>
        </p:spPr>
        <p:txBody>
          <a:bodyPr wrap="square" lIns="25400" tIns="25400" rIns="25400" bIns="25400" rtlCol="0" anchor="t">
            <a:no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Machine translation</a:t>
            </a:r>
            <a:endParaRPr lang="en-US" sz="2550" dirty="0"/>
          </a:p>
        </p:txBody>
      </p:sp>
      <p:sp>
        <p:nvSpPr>
          <p:cNvPr id="15" name="Text 13"/>
          <p:cNvSpPr/>
          <p:nvPr/>
        </p:nvSpPr>
        <p:spPr>
          <a:xfrm>
            <a:off x="1143000" y="6896890"/>
            <a:ext cx="5180076" cy="1135484"/>
          </a:xfrm>
          <a:prstGeom prst="rect">
            <a:avLst/>
          </a:prstGeom>
          <a:noFill/>
          <a:ln/>
        </p:spPr>
        <p:txBody>
          <a:bodyPr wrap="square" lIns="25400" tIns="25400" rIns="25400" bIns="25400" rtlCol="0" anchor="t">
            <a:no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Mapping meaning across languages, where the same concept lands in the same region of space.</a:t>
            </a:r>
            <a:endParaRPr lang="en-US" sz="2100" dirty="0"/>
          </a:p>
        </p:txBody>
      </p:sp>
      <p:sp>
        <p:nvSpPr>
          <p:cNvPr id="16" name="Shape 14"/>
          <p:cNvSpPr/>
          <p:nvPr/>
        </p:nvSpPr>
        <p:spPr>
          <a:xfrm>
            <a:off x="6629400" y="6052996"/>
            <a:ext cx="5029200" cy="19050"/>
          </a:xfrm>
          <a:prstGeom prst="rect">
            <a:avLst/>
          </a:prstGeom>
          <a:solidFill>
            <a:srgbClr val="201E1E">
              <a:alpha val="40000"/>
            </a:srgbClr>
          </a:solidFill>
          <a:ln/>
        </p:spPr>
        <p:txBody>
          <a:bodyPr/>
          <a:lstStyle/>
          <a:p>
            <a:endParaRPr lang="en-US"/>
          </a:p>
        </p:txBody>
      </p:sp>
      <p:sp>
        <p:nvSpPr>
          <p:cNvPr id="17" name="Text 15"/>
          <p:cNvSpPr/>
          <p:nvPr/>
        </p:nvSpPr>
        <p:spPr>
          <a:xfrm>
            <a:off x="6629400" y="6390726"/>
            <a:ext cx="5532120" cy="270049"/>
          </a:xfrm>
          <a:prstGeom prst="rect">
            <a:avLst/>
          </a:prstGeom>
          <a:noFill/>
          <a:ln/>
        </p:spPr>
        <p:txBody>
          <a:bodyPr wrap="square" lIns="25400" tIns="25400" rIns="25400" bIns="25400" rtlCol="0" anchor="t">
            <a:no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Duplicate detection</a:t>
            </a:r>
            <a:endParaRPr lang="en-US" sz="2550" dirty="0"/>
          </a:p>
        </p:txBody>
      </p:sp>
      <p:sp>
        <p:nvSpPr>
          <p:cNvPr id="18" name="Text 16"/>
          <p:cNvSpPr/>
          <p:nvPr/>
        </p:nvSpPr>
        <p:spPr>
          <a:xfrm>
            <a:off x="6629400" y="6896890"/>
            <a:ext cx="5180076" cy="678284"/>
          </a:xfrm>
          <a:prstGeom prst="rect">
            <a:avLst/>
          </a:prstGeom>
          <a:noFill/>
          <a:ln/>
        </p:spPr>
        <p:txBody>
          <a:bodyPr wrap="square" lIns="25400" tIns="25400" rIns="25400" bIns="25400" rtlCol="0" anchor="t">
            <a:no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Clustering near-identical support tickets, product listings or fraud patterns together.</a:t>
            </a:r>
            <a:endParaRPr lang="en-US" sz="2100" dirty="0"/>
          </a:p>
        </p:txBody>
      </p:sp>
      <p:sp>
        <p:nvSpPr>
          <p:cNvPr id="19" name="Shape 17"/>
          <p:cNvSpPr/>
          <p:nvPr/>
        </p:nvSpPr>
        <p:spPr>
          <a:xfrm>
            <a:off x="12115800" y="6052996"/>
            <a:ext cx="5029200" cy="19050"/>
          </a:xfrm>
          <a:prstGeom prst="rect">
            <a:avLst/>
          </a:prstGeom>
          <a:solidFill>
            <a:srgbClr val="201E1E">
              <a:alpha val="40000"/>
            </a:srgbClr>
          </a:solidFill>
          <a:ln/>
        </p:spPr>
        <p:txBody>
          <a:bodyPr/>
          <a:lstStyle/>
          <a:p>
            <a:endParaRPr lang="en-US"/>
          </a:p>
        </p:txBody>
      </p:sp>
      <p:sp>
        <p:nvSpPr>
          <p:cNvPr id="20" name="Text 18"/>
          <p:cNvSpPr/>
          <p:nvPr/>
        </p:nvSpPr>
        <p:spPr>
          <a:xfrm>
            <a:off x="12115800" y="6390726"/>
            <a:ext cx="5532120" cy="270049"/>
          </a:xfrm>
          <a:prstGeom prst="rect">
            <a:avLst/>
          </a:prstGeom>
          <a:noFill/>
          <a:ln/>
        </p:spPr>
        <p:txBody>
          <a:bodyPr wrap="square" lIns="25400" tIns="25400" rIns="25400" bIns="25400" rtlCol="0" anchor="t">
            <a:no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Chatbot memory</a:t>
            </a:r>
            <a:endParaRPr lang="en-US" sz="2550" dirty="0"/>
          </a:p>
        </p:txBody>
      </p:sp>
      <p:sp>
        <p:nvSpPr>
          <p:cNvPr id="21" name="Text 19"/>
          <p:cNvSpPr/>
          <p:nvPr/>
        </p:nvSpPr>
        <p:spPr>
          <a:xfrm>
            <a:off x="12115800" y="6896890"/>
            <a:ext cx="5180076" cy="678284"/>
          </a:xfrm>
          <a:prstGeom prst="rect">
            <a:avLst/>
          </a:prstGeom>
          <a:noFill/>
          <a:ln/>
        </p:spPr>
        <p:txBody>
          <a:bodyPr wrap="square" lIns="25400" tIns="25400" rIns="25400" bIns="25400" rtlCol="0" anchor="t">
            <a:no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Recalling the most relevant past exchange from a long conversation history.</a:t>
            </a:r>
            <a:endParaRPr lang="en-US" sz="2100" dirty="0"/>
          </a:p>
        </p:txBody>
      </p:sp>
      <p:pic>
        <p:nvPicPr>
          <p:cNvPr id="22"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SIMILARITY METRICS &amp; VECTOR SEARCH</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Do I need this?</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Yes, if you…</a:t>
            </a:r>
            <a:endParaRPr lang="en-US" sz="2550" dirty="0"/>
          </a:p>
        </p:txBody>
      </p:sp>
      <p:sp>
        <p:nvSpPr>
          <p:cNvPr id="6" name="Text 4"/>
          <p:cNvSpPr/>
          <p:nvPr/>
        </p:nvSpPr>
        <p:spPr>
          <a:xfrm>
            <a:off x="1143000" y="39317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Tune a retriever, set a relevance threshold, debug why RAG returns the wrong chunk, or compare two vector stores.</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What breaks without it</a:t>
            </a:r>
            <a:endParaRPr lang="en-US" sz="2550" dirty="0"/>
          </a:p>
        </p:txBody>
      </p:sp>
      <p:sp>
        <p:nvSpPr>
          <p:cNvPr id="9" name="Text 7"/>
          <p:cNvSpPr/>
          <p:nvPr/>
        </p:nvSpPr>
        <p:spPr>
          <a:xfrm>
            <a:off x="6629400" y="3931741"/>
            <a:ext cx="5180076" cy="15926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You pick the wrong metric for your index, set a similarity cutoff by guesswork, and cannot explain why a long document never gets retrieved.</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Time to competence</a:t>
            </a:r>
            <a:endParaRPr lang="en-US" sz="2550" dirty="0"/>
          </a:p>
        </p:txBody>
      </p:sp>
      <p:sp>
        <p:nvSpPr>
          <p:cNvPr id="12" name="Text 10"/>
          <p:cNvSpPr/>
          <p:nvPr/>
        </p:nvSpPr>
        <p:spPr>
          <a:xfrm>
            <a:off x="12115800" y="3931741"/>
            <a:ext cx="518007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An hour. One formula, and one idea: direction, not length.</a:t>
            </a:r>
            <a:endParaRPr lang="en-US" sz="2100" dirty="0"/>
          </a:p>
        </p:txBody>
      </p:sp>
      <p:sp>
        <p:nvSpPr>
          <p:cNvPr id="13" name="Shape 11"/>
          <p:cNvSpPr/>
          <p:nvPr/>
        </p:nvSpPr>
        <p:spPr>
          <a:xfrm>
            <a:off x="1143000" y="7165628"/>
            <a:ext cx="16002000" cy="19050"/>
          </a:xfrm>
          <a:prstGeom prst="rect">
            <a:avLst/>
          </a:prstGeom>
          <a:solidFill>
            <a:srgbClr val="EC3013"/>
          </a:solidFill>
          <a:ln/>
        </p:spPr>
        <p:txBody>
          <a:bodyPr/>
          <a:lstStyle/>
          <a:p>
            <a:endParaRPr lang="en-US"/>
          </a:p>
        </p:txBody>
      </p:sp>
      <p:sp>
        <p:nvSpPr>
          <p:cNvPr id="14" name="Text 12"/>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15" name="Text 13"/>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Cosine similarity is the default metric in essentially every vector database. The threshold you set on it is the single biggest lever on RAG precision.</a:t>
            </a:r>
            <a:endParaRPr lang="en-US" sz="2100" dirty="0"/>
          </a:p>
        </p:txBody>
      </p:sp>
      <p:pic>
        <p:nvPicPr>
          <p:cNvPr id="16"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9">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DEEPER INTUITION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Compass directions, not distances travelled</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Two hikers could walk very different distances and still be heading in exactly the same direction. Cosine similarity ignores "how far" and measures only "which way".</a:t>
            </a:r>
            <a:endParaRPr lang="en-US" sz="2100" dirty="0"/>
          </a:p>
        </p:txBody>
      </p:sp>
      <p:sp>
        <p:nvSpPr>
          <p:cNvPr id="5" name="Shape 3"/>
          <p:cNvSpPr/>
          <p:nvPr/>
        </p:nvSpPr>
        <p:spPr>
          <a:xfrm>
            <a:off x="1143000" y="5940028"/>
            <a:ext cx="16002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229100"/>
            <a:ext cx="16002000" cy="19050"/>
          </a:xfrm>
          <a:prstGeom prst="rect">
            <a:avLst/>
          </a:prstGeom>
          <a:solidFill>
            <a:srgbClr val="201E1E">
              <a:alpha val="40000"/>
            </a:srgbClr>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43000" y="4591050"/>
            <a:ext cx="16002000" cy="1006078"/>
          </a:xfrm>
          <a:prstGeom prst="rect">
            <a:avLst/>
          </a:prstGeom>
        </p:spPr>
      </p:pic>
      <p:sp>
        <p:nvSpPr>
          <p:cNvPr id="8" name="Text 5"/>
          <p:cNvSpPr/>
          <p:nvPr/>
        </p:nvSpPr>
        <p:spPr>
          <a:xfrm>
            <a:off x="1143000" y="6093916"/>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A · B</a:t>
            </a:r>
            <a:endParaRPr lang="en-US" sz="1950" dirty="0"/>
          </a:p>
        </p:txBody>
      </p:sp>
      <p:sp>
        <p:nvSpPr>
          <p:cNvPr id="9" name="Text 6"/>
          <p:cNvSpPr/>
          <p:nvPr/>
        </p:nvSpPr>
        <p:spPr>
          <a:xfrm>
            <a:off x="4343400" y="6093916"/>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Multiply matching components and add them up. Large when the two vectors push the same way, negative when they oppose.</a:t>
            </a:r>
            <a:endParaRPr lang="en-US" sz="1950" dirty="0"/>
          </a:p>
        </p:txBody>
      </p:sp>
      <p:sp>
        <p:nvSpPr>
          <p:cNvPr id="10" name="Text 7"/>
          <p:cNvSpPr/>
          <p:nvPr/>
        </p:nvSpPr>
        <p:spPr>
          <a:xfrm>
            <a:off x="1143000" y="6970142"/>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‖A‖, ‖B‖</a:t>
            </a:r>
            <a:endParaRPr lang="en-US" sz="1950" dirty="0"/>
          </a:p>
        </p:txBody>
      </p:sp>
      <p:sp>
        <p:nvSpPr>
          <p:cNvPr id="11" name="Text 8"/>
          <p:cNvSpPr/>
          <p:nvPr/>
        </p:nvSpPr>
        <p:spPr>
          <a:xfrm>
            <a:off x="4343400" y="6970142"/>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length of each vector. Dividing by both removes the effect of size, leaving only direction behind.</a:t>
            </a:r>
            <a:endParaRPr lang="en-US" sz="1950" dirty="0"/>
          </a:p>
        </p:txBody>
      </p:sp>
      <p:sp>
        <p:nvSpPr>
          <p:cNvPr id="12" name="Text 9"/>
          <p:cNvSpPr/>
          <p:nvPr/>
        </p:nvSpPr>
        <p:spPr>
          <a:xfrm>
            <a:off x="1143000" y="7676480"/>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cos(θ)</a:t>
            </a:r>
            <a:endParaRPr lang="en-US" sz="1950" dirty="0"/>
          </a:p>
        </p:txBody>
      </p:sp>
      <p:sp>
        <p:nvSpPr>
          <p:cNvPr id="13" name="Text 10"/>
          <p:cNvSpPr/>
          <p:nvPr/>
        </p:nvSpPr>
        <p:spPr>
          <a:xfrm>
            <a:off x="4343400" y="7676480"/>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Ranges from −1 (opposite) through 0 (unrelated) to 1 (identical direction).</a:t>
            </a:r>
            <a:endParaRPr lang="en-US" sz="1950" dirty="0"/>
          </a:p>
        </p:txBody>
      </p:sp>
      <p:sp>
        <p:nvSpPr>
          <p:cNvPr id="14" name="Text 11"/>
          <p:cNvSpPr/>
          <p:nvPr/>
        </p:nvSpPr>
        <p:spPr>
          <a:xfrm>
            <a:off x="1143000" y="8382819"/>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Why not distance?</a:t>
            </a:r>
            <a:endParaRPr lang="en-US" sz="1950" dirty="0"/>
          </a:p>
        </p:txBody>
      </p:sp>
      <p:sp>
        <p:nvSpPr>
          <p:cNvPr id="15" name="Text 12"/>
          <p:cNvSpPr/>
          <p:nvPr/>
        </p:nvSpPr>
        <p:spPr>
          <a:xfrm>
            <a:off x="4343400" y="8382819"/>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Two documents of very different length can share a topic. Distance punishes that; cosine does not.</a:t>
            </a:r>
            <a:endParaRPr lang="en-US" sz="1950" dirty="0"/>
          </a:p>
        </p:txBody>
      </p:sp>
      <p:pic>
        <p:nvPicPr>
          <p:cNvPr id="16"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WHY THE FORMULA WORKS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The dot product, built up</a:t>
            </a:r>
            <a:endParaRPr lang="en-US" sz="4800" dirty="0"/>
          </a:p>
        </p:txBody>
      </p:sp>
      <p:sp>
        <p:nvSpPr>
          <p:cNvPr id="4" name="Shape 2"/>
          <p:cNvSpPr/>
          <p:nvPr/>
        </p:nvSpPr>
        <p:spPr>
          <a:xfrm>
            <a:off x="1143000" y="4925095"/>
            <a:ext cx="16002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3200400"/>
            <a:ext cx="16002000" cy="19050"/>
          </a:xfrm>
          <a:prstGeom prst="rect">
            <a:avLst/>
          </a:prstGeom>
          <a:solidFill>
            <a:srgbClr val="201E1E">
              <a:alpha val="40000"/>
            </a:srgbClr>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43000" y="3562350"/>
            <a:ext cx="16002000" cy="1019845"/>
          </a:xfrm>
          <a:prstGeom prst="rect">
            <a:avLst/>
          </a:prstGeom>
        </p:spPr>
      </p:pic>
      <p:sp>
        <p:nvSpPr>
          <p:cNvPr id="7" name="Text 4"/>
          <p:cNvSpPr/>
          <p:nvPr/>
        </p:nvSpPr>
        <p:spPr>
          <a:xfrm>
            <a:off x="1143000" y="5078983"/>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aᵢbᵢ</a:t>
            </a:r>
            <a:endParaRPr lang="en-US" sz="1950" dirty="0"/>
          </a:p>
        </p:txBody>
      </p:sp>
      <p:sp>
        <p:nvSpPr>
          <p:cNvPr id="8" name="Text 5"/>
          <p:cNvSpPr/>
          <p:nvPr/>
        </p:nvSpPr>
        <p:spPr>
          <a:xfrm>
            <a:off x="4343400" y="5078983"/>
            <a:ext cx="12008358" cy="531837"/>
          </a:xfrm>
          <a:prstGeom prst="rect">
            <a:avLst/>
          </a:prstGeom>
          <a:noFill/>
          <a:ln/>
        </p:spPr>
        <p:txBody>
          <a:bodyPr wrap="square" lIns="25400" tIns="25400" rIns="25400" bIns="25400" rtlCol="0" anchor="t">
            <a:normAutofit fontScale="85000"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One dimension at a time: multiply A's value by B's value. Large only when </a:t>
            </a:r>
            <a:r>
              <a:rPr lang="en-US" sz="1950" i="1" dirty="0">
                <a:solidFill>
                  <a:srgbClr val="201E1D"/>
                </a:solidFill>
                <a:latin typeface="Arial" pitchFamily="34" charset="0"/>
                <a:ea typeface="Arial" pitchFamily="34" charset="-122"/>
                <a:cs typeface="Arial" pitchFamily="34" charset="-120"/>
              </a:rPr>
              <a:t>both </a:t>
            </a:r>
            <a:r>
              <a:rPr lang="en-US" sz="1950" dirty="0">
                <a:solidFill>
                  <a:srgbClr val="201E1D"/>
                </a:solidFill>
                <a:latin typeface="Arial" pitchFamily="34" charset="0"/>
                <a:ea typeface="Arial" pitchFamily="34" charset="-122"/>
                <a:cs typeface="Arial" pitchFamily="34" charset="-120"/>
              </a:rPr>
              <a:t>are large — agreement in that dimension.</a:t>
            </a:r>
            <a:endParaRPr lang="en-US" sz="1950" dirty="0"/>
          </a:p>
        </p:txBody>
      </p:sp>
      <p:sp>
        <p:nvSpPr>
          <p:cNvPr id="9" name="Text 6"/>
          <p:cNvSpPr/>
          <p:nvPr/>
        </p:nvSpPr>
        <p:spPr>
          <a:xfrm>
            <a:off x="1143000" y="5955209"/>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Sign</a:t>
            </a:r>
            <a:endParaRPr lang="en-US" sz="1950" dirty="0"/>
          </a:p>
        </p:txBody>
      </p:sp>
      <p:sp>
        <p:nvSpPr>
          <p:cNvPr id="10" name="Text 7"/>
          <p:cNvSpPr/>
          <p:nvPr/>
        </p:nvSpPr>
        <p:spPr>
          <a:xfrm>
            <a:off x="4343400" y="5955209"/>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If both are negative the product is still positive — they agree on being low. If one is positive and the other negative, the product is negative — they disagree.</a:t>
            </a:r>
            <a:endParaRPr lang="en-US" sz="1950" dirty="0"/>
          </a:p>
        </p:txBody>
      </p:sp>
      <p:sp>
        <p:nvSpPr>
          <p:cNvPr id="11" name="Text 8"/>
          <p:cNvSpPr/>
          <p:nvPr/>
        </p:nvSpPr>
        <p:spPr>
          <a:xfrm>
            <a:off x="1143000" y="6831434"/>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Σ</a:t>
            </a:r>
            <a:endParaRPr lang="en-US" sz="1950" dirty="0"/>
          </a:p>
        </p:txBody>
      </p:sp>
      <p:sp>
        <p:nvSpPr>
          <p:cNvPr id="12" name="Text 9"/>
          <p:cNvSpPr/>
          <p:nvPr/>
        </p:nvSpPr>
        <p:spPr>
          <a:xfrm>
            <a:off x="4343400" y="6831434"/>
            <a:ext cx="12008358" cy="531837"/>
          </a:xfrm>
          <a:prstGeom prst="rect">
            <a:avLst/>
          </a:prstGeom>
          <a:noFill/>
          <a:ln/>
        </p:spPr>
        <p:txBody>
          <a:bodyPr wrap="square" lIns="25400" tIns="25400" rIns="25400" bIns="25400" rtlCol="0" anchor="t">
            <a:normAutofit fontScale="85000"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Add the agreements and disagreements across every dimension. The total is a single number measuring overall alignment.</a:t>
            </a:r>
            <a:endParaRPr lang="en-US" sz="1950" dirty="0"/>
          </a:p>
        </p:txBody>
      </p:sp>
      <p:sp>
        <p:nvSpPr>
          <p:cNvPr id="13" name="Text 10"/>
          <p:cNvSpPr/>
          <p:nvPr/>
        </p:nvSpPr>
        <p:spPr>
          <a:xfrm>
            <a:off x="1143000" y="7707660"/>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Catch</a:t>
            </a:r>
            <a:endParaRPr lang="en-US" sz="1950" dirty="0"/>
          </a:p>
        </p:txBody>
      </p:sp>
      <p:sp>
        <p:nvSpPr>
          <p:cNvPr id="14" name="Text 11"/>
          <p:cNvSpPr/>
          <p:nvPr/>
        </p:nvSpPr>
        <p:spPr>
          <a:xfrm>
            <a:off x="4343400" y="7707660"/>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dot product grows with vector length, so a long document beats a short one on raw score alone. That is precisely what cosine fixes.</a:t>
            </a:r>
            <a:endParaRPr lang="en-US" sz="1950" dirty="0"/>
          </a:p>
        </p:txBody>
      </p:sp>
      <p:pic>
        <p:nvPicPr>
          <p:cNvPr id="15"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WORKED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Cosine similarity, every step</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doctor searches "heart attack treatment", encoded as Q = [0.85, 0.80, 0.10]. Document D1 is "cardiac arrest emergency care", encoded as [0.90, 0.80, 0.10]. How similar are they?</a:t>
            </a:r>
            <a:endParaRPr lang="en-US" sz="2100" dirty="0"/>
          </a:p>
        </p:txBody>
      </p:sp>
      <p:sp>
        <p:nvSpPr>
          <p:cNvPr id="5" name="Shape 3"/>
          <p:cNvSpPr/>
          <p:nvPr/>
        </p:nvSpPr>
        <p:spPr>
          <a:xfrm>
            <a:off x="1143000" y="38862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4080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40651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40651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Dot product: (0.85 × 0.90) + (0.80 × 0.80) + (0.10 × 0.10) = 0.765 + 0.640 + 0.010 = </a:t>
            </a:r>
            <a:r>
              <a:rPr lang="en-US" sz="2100" b="1" dirty="0">
                <a:solidFill>
                  <a:srgbClr val="201E1D"/>
                </a:solidFill>
                <a:latin typeface="Arial" pitchFamily="34" charset="0"/>
                <a:ea typeface="Arial" pitchFamily="34" charset="-122"/>
                <a:cs typeface="Arial" pitchFamily="34" charset="-120"/>
              </a:rPr>
              <a:t>1.415</a:t>
            </a:r>
            <a:endParaRPr lang="en-US" sz="2100" dirty="0"/>
          </a:p>
        </p:txBody>
      </p:sp>
      <p:sp>
        <p:nvSpPr>
          <p:cNvPr id="9" name="Shape 7"/>
          <p:cNvSpPr/>
          <p:nvPr/>
        </p:nvSpPr>
        <p:spPr>
          <a:xfrm>
            <a:off x="1143000" y="49204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5775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5775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‖Q‖ = √(0.85² + 0.80² + 0.10²) = √(0.7225 + 0.64 + 0.01) = √1.3725 ≈ </a:t>
            </a:r>
            <a:r>
              <a:rPr lang="en-US" sz="2100" b="1" dirty="0">
                <a:solidFill>
                  <a:srgbClr val="201E1D"/>
                </a:solidFill>
                <a:latin typeface="Arial" pitchFamily="34" charset="0"/>
                <a:ea typeface="Arial" pitchFamily="34" charset="-122"/>
                <a:cs typeface="Arial" pitchFamily="34" charset="-120"/>
              </a:rPr>
              <a:t>1.172</a:t>
            </a:r>
            <a:endParaRPr lang="en-US" sz="2100" dirty="0"/>
          </a:p>
        </p:txBody>
      </p:sp>
      <p:sp>
        <p:nvSpPr>
          <p:cNvPr id="12" name="Shape 10"/>
          <p:cNvSpPr/>
          <p:nvPr/>
        </p:nvSpPr>
        <p:spPr>
          <a:xfrm>
            <a:off x="1143000" y="54327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50898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50898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‖D1‖ = √(0.90² + 0.80² + 0.10²) = √(0.81 + 0.64 + 0.01) = √1.46 ≈ </a:t>
            </a:r>
            <a:r>
              <a:rPr lang="en-US" sz="2100" b="1" dirty="0">
                <a:solidFill>
                  <a:srgbClr val="201E1D"/>
                </a:solidFill>
                <a:latin typeface="Arial" pitchFamily="34" charset="0"/>
                <a:ea typeface="Arial" pitchFamily="34" charset="-122"/>
                <a:cs typeface="Arial" pitchFamily="34" charset="-120"/>
              </a:rPr>
              <a:t>1.208</a:t>
            </a:r>
            <a:endParaRPr lang="en-US" sz="2100" dirty="0"/>
          </a:p>
        </p:txBody>
      </p:sp>
      <p:sp>
        <p:nvSpPr>
          <p:cNvPr id="15" name="Shape 13"/>
          <p:cNvSpPr/>
          <p:nvPr/>
        </p:nvSpPr>
        <p:spPr>
          <a:xfrm>
            <a:off x="1143000" y="5945088"/>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602188"/>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4</a:t>
            </a:r>
            <a:endParaRPr lang="en-US" sz="2100" dirty="0"/>
          </a:p>
        </p:txBody>
      </p:sp>
      <p:sp>
        <p:nvSpPr>
          <p:cNvPr id="17" name="Text 15"/>
          <p:cNvSpPr/>
          <p:nvPr/>
        </p:nvSpPr>
        <p:spPr>
          <a:xfrm>
            <a:off x="1981200" y="5602188"/>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Multiply the magnitudes: 1.172 × 1.208 ≈ </a:t>
            </a:r>
            <a:r>
              <a:rPr lang="en-US" sz="2100" b="1" dirty="0">
                <a:solidFill>
                  <a:srgbClr val="201E1D"/>
                </a:solidFill>
                <a:latin typeface="Arial" pitchFamily="34" charset="0"/>
                <a:ea typeface="Arial" pitchFamily="34" charset="-122"/>
                <a:cs typeface="Arial" pitchFamily="34" charset="-120"/>
              </a:rPr>
              <a:t>1.416</a:t>
            </a:r>
            <a:endParaRPr lang="en-US" sz="2100" dirty="0"/>
          </a:p>
        </p:txBody>
      </p:sp>
      <p:sp>
        <p:nvSpPr>
          <p:cNvPr id="18" name="Shape 16"/>
          <p:cNvSpPr/>
          <p:nvPr/>
        </p:nvSpPr>
        <p:spPr>
          <a:xfrm>
            <a:off x="1143000" y="6465466"/>
            <a:ext cx="13335000" cy="9525"/>
          </a:xfrm>
          <a:prstGeom prst="rect">
            <a:avLst/>
          </a:prstGeom>
          <a:solidFill>
            <a:srgbClr val="201E1E">
              <a:alpha val="40000"/>
            </a:srgbClr>
          </a:solidFill>
          <a:ln/>
        </p:spPr>
        <p:txBody>
          <a:bodyPr/>
          <a:lstStyle/>
          <a:p>
            <a:endParaRPr lang="en-US"/>
          </a:p>
        </p:txBody>
      </p:sp>
      <p:sp>
        <p:nvSpPr>
          <p:cNvPr id="19" name="Text 17"/>
          <p:cNvSpPr/>
          <p:nvPr/>
        </p:nvSpPr>
        <p:spPr>
          <a:xfrm>
            <a:off x="1143000" y="6114529"/>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20" name="Text 18"/>
          <p:cNvSpPr/>
          <p:nvPr/>
        </p:nvSpPr>
        <p:spPr>
          <a:xfrm>
            <a:off x="1981200" y="6114529"/>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cos(θ) = 1.415 / 1.416 ≈ 0.999 — very nearly identical direction</a:t>
            </a:r>
            <a:endParaRPr lang="en-US" sz="2100" dirty="0"/>
          </a:p>
        </p:txBody>
      </p:sp>
      <p:pic>
        <p:nvPicPr>
          <p:cNvPr id="21"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WORKED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Ranking three documents</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 same query Q = [0.85, 0.80, 0.10] against three candidate documents. The retriever returns them in score order.</a:t>
            </a:r>
            <a:endParaRPr lang="en-US" sz="2100" dirty="0"/>
          </a:p>
        </p:txBody>
      </p:sp>
      <p:sp>
        <p:nvSpPr>
          <p:cNvPr id="5" name="Shape 3"/>
          <p:cNvSpPr/>
          <p:nvPr/>
        </p:nvSpPr>
        <p:spPr>
          <a:xfrm>
            <a:off x="1143000" y="4091211"/>
            <a:ext cx="6160517" cy="19050"/>
          </a:xfrm>
          <a:prstGeom prst="rect">
            <a:avLst/>
          </a:prstGeom>
          <a:solidFill>
            <a:srgbClr val="201E1E">
              <a:alpha val="40000"/>
            </a:srgbClr>
          </a:solidFill>
          <a:ln/>
        </p:spPr>
        <p:txBody>
          <a:bodyPr/>
          <a:lstStyle/>
          <a:p>
            <a:endParaRPr lang="en-US"/>
          </a:p>
        </p:txBody>
      </p:sp>
      <p:sp>
        <p:nvSpPr>
          <p:cNvPr id="6" name="Text 4"/>
          <p:cNvSpPr/>
          <p:nvPr/>
        </p:nvSpPr>
        <p:spPr>
          <a:xfrm>
            <a:off x="1143000" y="3744890"/>
            <a:ext cx="6116733"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DOCUMENT</a:t>
            </a:r>
            <a:endParaRPr lang="en-US" sz="1800" dirty="0"/>
          </a:p>
        </p:txBody>
      </p:sp>
      <p:sp>
        <p:nvSpPr>
          <p:cNvPr id="7" name="Shape 5"/>
          <p:cNvSpPr/>
          <p:nvPr/>
        </p:nvSpPr>
        <p:spPr>
          <a:xfrm>
            <a:off x="7303517" y="4091211"/>
            <a:ext cx="3510260" cy="19050"/>
          </a:xfrm>
          <a:prstGeom prst="rect">
            <a:avLst/>
          </a:prstGeom>
          <a:solidFill>
            <a:srgbClr val="201E1E">
              <a:alpha val="40000"/>
            </a:srgbClr>
          </a:solidFill>
          <a:ln/>
        </p:spPr>
        <p:txBody>
          <a:bodyPr/>
          <a:lstStyle/>
          <a:p>
            <a:endParaRPr lang="en-US"/>
          </a:p>
        </p:txBody>
      </p:sp>
      <p:sp>
        <p:nvSpPr>
          <p:cNvPr id="8" name="Text 6"/>
          <p:cNvSpPr/>
          <p:nvPr/>
        </p:nvSpPr>
        <p:spPr>
          <a:xfrm>
            <a:off x="7532117" y="3744890"/>
            <a:ext cx="3158368"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VECTOR</a:t>
            </a:r>
            <a:endParaRPr lang="en-US" sz="1800" dirty="0"/>
          </a:p>
        </p:txBody>
      </p:sp>
      <p:sp>
        <p:nvSpPr>
          <p:cNvPr id="9" name="Shape 7"/>
          <p:cNvSpPr/>
          <p:nvPr/>
        </p:nvSpPr>
        <p:spPr>
          <a:xfrm>
            <a:off x="10813777" y="4091211"/>
            <a:ext cx="2176388" cy="19050"/>
          </a:xfrm>
          <a:prstGeom prst="rect">
            <a:avLst/>
          </a:prstGeom>
          <a:solidFill>
            <a:srgbClr val="201E1E">
              <a:alpha val="40000"/>
            </a:srgbClr>
          </a:solidFill>
          <a:ln/>
        </p:spPr>
        <p:txBody>
          <a:bodyPr/>
          <a:lstStyle/>
          <a:p>
            <a:endParaRPr lang="en-US"/>
          </a:p>
        </p:txBody>
      </p:sp>
      <p:sp>
        <p:nvSpPr>
          <p:cNvPr id="10" name="Text 8"/>
          <p:cNvSpPr/>
          <p:nvPr/>
        </p:nvSpPr>
        <p:spPr>
          <a:xfrm>
            <a:off x="11042377" y="3744890"/>
            <a:ext cx="1795388"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COS(Θ)</a:t>
            </a:r>
            <a:endParaRPr lang="en-US" sz="1800" dirty="0"/>
          </a:p>
        </p:txBody>
      </p:sp>
      <p:sp>
        <p:nvSpPr>
          <p:cNvPr id="11" name="Shape 9"/>
          <p:cNvSpPr/>
          <p:nvPr/>
        </p:nvSpPr>
        <p:spPr>
          <a:xfrm>
            <a:off x="12990165" y="4091211"/>
            <a:ext cx="3011835" cy="19050"/>
          </a:xfrm>
          <a:prstGeom prst="rect">
            <a:avLst/>
          </a:prstGeom>
          <a:solidFill>
            <a:srgbClr val="201E1E">
              <a:alpha val="40000"/>
            </a:srgbClr>
          </a:solidFill>
          <a:ln/>
        </p:spPr>
        <p:txBody>
          <a:bodyPr/>
          <a:lstStyle/>
          <a:p>
            <a:endParaRPr lang="en-US"/>
          </a:p>
        </p:txBody>
      </p:sp>
      <p:sp>
        <p:nvSpPr>
          <p:cNvPr id="12" name="Text 10"/>
          <p:cNvSpPr/>
          <p:nvPr/>
        </p:nvSpPr>
        <p:spPr>
          <a:xfrm>
            <a:off x="13218765" y="3744890"/>
            <a:ext cx="2873590"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VERDICT</a:t>
            </a:r>
            <a:endParaRPr lang="en-US" sz="1800" dirty="0"/>
          </a:p>
        </p:txBody>
      </p:sp>
      <p:sp>
        <p:nvSpPr>
          <p:cNvPr id="13" name="Shape 11"/>
          <p:cNvSpPr/>
          <p:nvPr/>
        </p:nvSpPr>
        <p:spPr>
          <a:xfrm>
            <a:off x="1143000" y="4672310"/>
            <a:ext cx="6160517" cy="9525"/>
          </a:xfrm>
          <a:prstGeom prst="rect">
            <a:avLst/>
          </a:prstGeom>
          <a:solidFill>
            <a:srgbClr val="201E1E">
              <a:alpha val="40000"/>
            </a:srgbClr>
          </a:solidFill>
          <a:ln/>
        </p:spPr>
        <p:txBody>
          <a:bodyPr/>
          <a:lstStyle/>
          <a:p>
            <a:endParaRPr lang="en-US"/>
          </a:p>
        </p:txBody>
      </p:sp>
      <p:sp>
        <p:nvSpPr>
          <p:cNvPr id="14" name="Text 12"/>
          <p:cNvSpPr/>
          <p:nvPr/>
        </p:nvSpPr>
        <p:spPr>
          <a:xfrm>
            <a:off x="1143000" y="4307285"/>
            <a:ext cx="6116733"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D1 · Cardiac arrest emergency care</a:t>
            </a:r>
            <a:endParaRPr lang="en-US" sz="1875" dirty="0"/>
          </a:p>
        </p:txBody>
      </p:sp>
      <p:sp>
        <p:nvSpPr>
          <p:cNvPr id="15" name="Shape 13"/>
          <p:cNvSpPr/>
          <p:nvPr/>
        </p:nvSpPr>
        <p:spPr>
          <a:xfrm>
            <a:off x="7303517" y="4672310"/>
            <a:ext cx="3510260" cy="9525"/>
          </a:xfrm>
          <a:prstGeom prst="rect">
            <a:avLst/>
          </a:prstGeom>
          <a:solidFill>
            <a:srgbClr val="201E1E">
              <a:alpha val="40000"/>
            </a:srgbClr>
          </a:solidFill>
          <a:ln/>
        </p:spPr>
        <p:txBody>
          <a:bodyPr/>
          <a:lstStyle/>
          <a:p>
            <a:endParaRPr lang="en-US"/>
          </a:p>
        </p:txBody>
      </p:sp>
      <p:sp>
        <p:nvSpPr>
          <p:cNvPr id="16" name="Text 14"/>
          <p:cNvSpPr/>
          <p:nvPr/>
        </p:nvSpPr>
        <p:spPr>
          <a:xfrm>
            <a:off x="7532117" y="4307285"/>
            <a:ext cx="3158368"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[0.90, 0.80, 0.10]</a:t>
            </a:r>
            <a:endParaRPr lang="en-US" sz="1875" dirty="0"/>
          </a:p>
        </p:txBody>
      </p:sp>
      <p:sp>
        <p:nvSpPr>
          <p:cNvPr id="17" name="Shape 15"/>
          <p:cNvSpPr/>
          <p:nvPr/>
        </p:nvSpPr>
        <p:spPr>
          <a:xfrm>
            <a:off x="10813777" y="4672310"/>
            <a:ext cx="2176388" cy="9525"/>
          </a:xfrm>
          <a:prstGeom prst="rect">
            <a:avLst/>
          </a:prstGeom>
          <a:solidFill>
            <a:srgbClr val="201E1E">
              <a:alpha val="40000"/>
            </a:srgbClr>
          </a:solidFill>
          <a:ln/>
        </p:spPr>
        <p:txBody>
          <a:bodyPr/>
          <a:lstStyle/>
          <a:p>
            <a:endParaRPr lang="en-US"/>
          </a:p>
        </p:txBody>
      </p:sp>
      <p:sp>
        <p:nvSpPr>
          <p:cNvPr id="18" name="Text 16"/>
          <p:cNvSpPr/>
          <p:nvPr/>
        </p:nvSpPr>
        <p:spPr>
          <a:xfrm>
            <a:off x="11042377" y="4307285"/>
            <a:ext cx="1795388"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1.00</a:t>
            </a:r>
            <a:endParaRPr lang="en-US" sz="1875" dirty="0"/>
          </a:p>
        </p:txBody>
      </p:sp>
      <p:sp>
        <p:nvSpPr>
          <p:cNvPr id="19" name="Shape 17"/>
          <p:cNvSpPr/>
          <p:nvPr/>
        </p:nvSpPr>
        <p:spPr>
          <a:xfrm>
            <a:off x="12990165" y="4672310"/>
            <a:ext cx="3011835" cy="9525"/>
          </a:xfrm>
          <a:prstGeom prst="rect">
            <a:avLst/>
          </a:prstGeom>
          <a:solidFill>
            <a:srgbClr val="201E1E">
              <a:alpha val="40000"/>
            </a:srgbClr>
          </a:solidFill>
          <a:ln/>
        </p:spPr>
        <p:txBody>
          <a:bodyPr/>
          <a:lstStyle/>
          <a:p>
            <a:endParaRPr lang="en-US"/>
          </a:p>
        </p:txBody>
      </p:sp>
      <p:sp>
        <p:nvSpPr>
          <p:cNvPr id="20" name="Text 18"/>
          <p:cNvSpPr/>
          <p:nvPr/>
        </p:nvSpPr>
        <p:spPr>
          <a:xfrm>
            <a:off x="13218765" y="4307285"/>
            <a:ext cx="2873590"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Retrieved</a:t>
            </a:r>
            <a:endParaRPr lang="en-US" sz="1875" dirty="0"/>
          </a:p>
        </p:txBody>
      </p:sp>
      <p:sp>
        <p:nvSpPr>
          <p:cNvPr id="21" name="Shape 19"/>
          <p:cNvSpPr/>
          <p:nvPr/>
        </p:nvSpPr>
        <p:spPr>
          <a:xfrm>
            <a:off x="1143000" y="5239122"/>
            <a:ext cx="6160517" cy="9525"/>
          </a:xfrm>
          <a:prstGeom prst="rect">
            <a:avLst/>
          </a:prstGeom>
          <a:solidFill>
            <a:srgbClr val="201E1E">
              <a:alpha val="40000"/>
            </a:srgbClr>
          </a:solidFill>
          <a:ln/>
        </p:spPr>
        <p:txBody>
          <a:bodyPr/>
          <a:lstStyle/>
          <a:p>
            <a:endParaRPr lang="en-US"/>
          </a:p>
        </p:txBody>
      </p:sp>
      <p:sp>
        <p:nvSpPr>
          <p:cNvPr id="22" name="Text 20"/>
          <p:cNvSpPr/>
          <p:nvPr/>
        </p:nvSpPr>
        <p:spPr>
          <a:xfrm>
            <a:off x="1143000" y="4878860"/>
            <a:ext cx="611673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D3 · Flu vaccination schedule</a:t>
            </a:r>
            <a:endParaRPr lang="en-US" sz="1875" dirty="0"/>
          </a:p>
        </p:txBody>
      </p:sp>
      <p:sp>
        <p:nvSpPr>
          <p:cNvPr id="23" name="Shape 21"/>
          <p:cNvSpPr/>
          <p:nvPr/>
        </p:nvSpPr>
        <p:spPr>
          <a:xfrm>
            <a:off x="7303517" y="5239122"/>
            <a:ext cx="3510260" cy="9525"/>
          </a:xfrm>
          <a:prstGeom prst="rect">
            <a:avLst/>
          </a:prstGeom>
          <a:solidFill>
            <a:srgbClr val="201E1E">
              <a:alpha val="40000"/>
            </a:srgbClr>
          </a:solidFill>
          <a:ln/>
        </p:spPr>
        <p:txBody>
          <a:bodyPr/>
          <a:lstStyle/>
          <a:p>
            <a:endParaRPr lang="en-US"/>
          </a:p>
        </p:txBody>
      </p:sp>
      <p:sp>
        <p:nvSpPr>
          <p:cNvPr id="24" name="Text 22"/>
          <p:cNvSpPr/>
          <p:nvPr/>
        </p:nvSpPr>
        <p:spPr>
          <a:xfrm>
            <a:off x="7532117" y="4878860"/>
            <a:ext cx="3158368"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[0.20, 0.10, 0.70]</a:t>
            </a:r>
            <a:endParaRPr lang="en-US" sz="1875" dirty="0"/>
          </a:p>
        </p:txBody>
      </p:sp>
      <p:sp>
        <p:nvSpPr>
          <p:cNvPr id="25" name="Shape 23"/>
          <p:cNvSpPr/>
          <p:nvPr/>
        </p:nvSpPr>
        <p:spPr>
          <a:xfrm>
            <a:off x="10813777" y="5239122"/>
            <a:ext cx="2176388" cy="9525"/>
          </a:xfrm>
          <a:prstGeom prst="rect">
            <a:avLst/>
          </a:prstGeom>
          <a:solidFill>
            <a:srgbClr val="201E1E">
              <a:alpha val="40000"/>
            </a:srgbClr>
          </a:solidFill>
          <a:ln/>
        </p:spPr>
        <p:txBody>
          <a:bodyPr/>
          <a:lstStyle/>
          <a:p>
            <a:endParaRPr lang="en-US"/>
          </a:p>
        </p:txBody>
      </p:sp>
      <p:sp>
        <p:nvSpPr>
          <p:cNvPr id="26" name="Text 24"/>
          <p:cNvSpPr/>
          <p:nvPr/>
        </p:nvSpPr>
        <p:spPr>
          <a:xfrm>
            <a:off x="11042377" y="4878860"/>
            <a:ext cx="1795388"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0.37</a:t>
            </a:r>
            <a:endParaRPr lang="en-US" sz="1875" dirty="0"/>
          </a:p>
        </p:txBody>
      </p:sp>
      <p:sp>
        <p:nvSpPr>
          <p:cNvPr id="27" name="Shape 25"/>
          <p:cNvSpPr/>
          <p:nvPr/>
        </p:nvSpPr>
        <p:spPr>
          <a:xfrm>
            <a:off x="12990165" y="5239122"/>
            <a:ext cx="3011835" cy="9525"/>
          </a:xfrm>
          <a:prstGeom prst="rect">
            <a:avLst/>
          </a:prstGeom>
          <a:solidFill>
            <a:srgbClr val="201E1E">
              <a:alpha val="40000"/>
            </a:srgbClr>
          </a:solidFill>
          <a:ln/>
        </p:spPr>
        <p:txBody>
          <a:bodyPr/>
          <a:lstStyle/>
          <a:p>
            <a:endParaRPr lang="en-US"/>
          </a:p>
        </p:txBody>
      </p:sp>
      <p:sp>
        <p:nvSpPr>
          <p:cNvPr id="28" name="Text 26"/>
          <p:cNvSpPr/>
          <p:nvPr/>
        </p:nvSpPr>
        <p:spPr>
          <a:xfrm>
            <a:off x="13218765" y="4878860"/>
            <a:ext cx="287359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Below threshold</a:t>
            </a:r>
            <a:endParaRPr lang="en-US" sz="1875" dirty="0"/>
          </a:p>
        </p:txBody>
      </p:sp>
      <p:sp>
        <p:nvSpPr>
          <p:cNvPr id="29" name="Shape 27"/>
          <p:cNvSpPr/>
          <p:nvPr/>
        </p:nvSpPr>
        <p:spPr>
          <a:xfrm>
            <a:off x="1143000" y="5805934"/>
            <a:ext cx="6160517" cy="9525"/>
          </a:xfrm>
          <a:prstGeom prst="rect">
            <a:avLst/>
          </a:prstGeom>
          <a:solidFill>
            <a:srgbClr val="201E1E">
              <a:alpha val="40000"/>
            </a:srgbClr>
          </a:solidFill>
          <a:ln/>
        </p:spPr>
        <p:txBody>
          <a:bodyPr/>
          <a:lstStyle/>
          <a:p>
            <a:endParaRPr lang="en-US"/>
          </a:p>
        </p:txBody>
      </p:sp>
      <p:sp>
        <p:nvSpPr>
          <p:cNvPr id="30" name="Text 28"/>
          <p:cNvSpPr/>
          <p:nvPr/>
        </p:nvSpPr>
        <p:spPr>
          <a:xfrm>
            <a:off x="1143000" y="5445672"/>
            <a:ext cx="611673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D2 · Diabetes diet management</a:t>
            </a:r>
            <a:endParaRPr lang="en-US" sz="1875" dirty="0"/>
          </a:p>
        </p:txBody>
      </p:sp>
      <p:sp>
        <p:nvSpPr>
          <p:cNvPr id="31" name="Shape 29"/>
          <p:cNvSpPr/>
          <p:nvPr/>
        </p:nvSpPr>
        <p:spPr>
          <a:xfrm>
            <a:off x="7303517" y="5805934"/>
            <a:ext cx="3510260" cy="9525"/>
          </a:xfrm>
          <a:prstGeom prst="rect">
            <a:avLst/>
          </a:prstGeom>
          <a:solidFill>
            <a:srgbClr val="201E1E">
              <a:alpha val="40000"/>
            </a:srgbClr>
          </a:solidFill>
          <a:ln/>
        </p:spPr>
        <p:txBody>
          <a:bodyPr/>
          <a:lstStyle/>
          <a:p>
            <a:endParaRPr lang="en-US"/>
          </a:p>
        </p:txBody>
      </p:sp>
      <p:sp>
        <p:nvSpPr>
          <p:cNvPr id="32" name="Text 30"/>
          <p:cNvSpPr/>
          <p:nvPr/>
        </p:nvSpPr>
        <p:spPr>
          <a:xfrm>
            <a:off x="7532117" y="5445672"/>
            <a:ext cx="3158368"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[0.10, 0.20, 0.90]</a:t>
            </a:r>
            <a:endParaRPr lang="en-US" sz="1875" dirty="0"/>
          </a:p>
        </p:txBody>
      </p:sp>
      <p:sp>
        <p:nvSpPr>
          <p:cNvPr id="33" name="Shape 31"/>
          <p:cNvSpPr/>
          <p:nvPr/>
        </p:nvSpPr>
        <p:spPr>
          <a:xfrm>
            <a:off x="10813777" y="5805934"/>
            <a:ext cx="2176388" cy="9525"/>
          </a:xfrm>
          <a:prstGeom prst="rect">
            <a:avLst/>
          </a:prstGeom>
          <a:solidFill>
            <a:srgbClr val="201E1E">
              <a:alpha val="40000"/>
            </a:srgbClr>
          </a:solidFill>
          <a:ln/>
        </p:spPr>
        <p:txBody>
          <a:bodyPr/>
          <a:lstStyle/>
          <a:p>
            <a:endParaRPr lang="en-US"/>
          </a:p>
        </p:txBody>
      </p:sp>
      <p:sp>
        <p:nvSpPr>
          <p:cNvPr id="34" name="Text 32"/>
          <p:cNvSpPr/>
          <p:nvPr/>
        </p:nvSpPr>
        <p:spPr>
          <a:xfrm>
            <a:off x="11042377" y="5445672"/>
            <a:ext cx="1795388"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0.31</a:t>
            </a:r>
            <a:endParaRPr lang="en-US" sz="1875" dirty="0"/>
          </a:p>
        </p:txBody>
      </p:sp>
      <p:sp>
        <p:nvSpPr>
          <p:cNvPr id="35" name="Shape 33"/>
          <p:cNvSpPr/>
          <p:nvPr/>
        </p:nvSpPr>
        <p:spPr>
          <a:xfrm>
            <a:off x="12990165" y="5805934"/>
            <a:ext cx="3011835" cy="9525"/>
          </a:xfrm>
          <a:prstGeom prst="rect">
            <a:avLst/>
          </a:prstGeom>
          <a:solidFill>
            <a:srgbClr val="201E1E">
              <a:alpha val="40000"/>
            </a:srgbClr>
          </a:solidFill>
          <a:ln/>
        </p:spPr>
        <p:txBody>
          <a:bodyPr/>
          <a:lstStyle/>
          <a:p>
            <a:endParaRPr lang="en-US"/>
          </a:p>
        </p:txBody>
      </p:sp>
      <p:sp>
        <p:nvSpPr>
          <p:cNvPr id="36" name="Text 34"/>
          <p:cNvSpPr/>
          <p:nvPr/>
        </p:nvSpPr>
        <p:spPr>
          <a:xfrm>
            <a:off x="13218765" y="5445672"/>
            <a:ext cx="287359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Below threshold</a:t>
            </a:r>
            <a:endParaRPr lang="en-US" sz="1875" dirty="0"/>
          </a:p>
        </p:txBody>
      </p:sp>
      <p:sp>
        <p:nvSpPr>
          <p:cNvPr id="37" name="Shape 35"/>
          <p:cNvSpPr/>
          <p:nvPr/>
        </p:nvSpPr>
        <p:spPr>
          <a:xfrm>
            <a:off x="1143000" y="7165628"/>
            <a:ext cx="16002000" cy="19050"/>
          </a:xfrm>
          <a:prstGeom prst="rect">
            <a:avLst/>
          </a:prstGeom>
          <a:solidFill>
            <a:srgbClr val="EC3013"/>
          </a:solidFill>
          <a:ln/>
        </p:spPr>
        <p:txBody>
          <a:bodyPr/>
          <a:lstStyle/>
          <a:p>
            <a:endParaRPr lang="en-US"/>
          </a:p>
        </p:txBody>
      </p:sp>
      <p:sp>
        <p:nvSpPr>
          <p:cNvPr id="38" name="Text 36"/>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GOTCHA</a:t>
            </a:r>
            <a:endParaRPr lang="en-US" sz="1800" dirty="0"/>
          </a:p>
        </p:txBody>
      </p:sp>
      <p:sp>
        <p:nvSpPr>
          <p:cNvPr id="39" name="Text 37"/>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retriever always returns its top k, whether or not anything is actually relevant. Without a score threshold, an unanswerable question still gets three confident-looking documents attached to it.</a:t>
            </a:r>
            <a:endParaRPr lang="en-US" sz="2100" dirty="0"/>
          </a:p>
        </p:txBody>
      </p:sp>
      <p:pic>
        <p:nvPicPr>
          <p:cNvPr id="40"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REFERENCE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Cosine or Euclidean?</a:t>
            </a:r>
            <a:endParaRPr lang="en-US" sz="4800" dirty="0"/>
          </a:p>
        </p:txBody>
      </p:sp>
      <p:sp>
        <p:nvSpPr>
          <p:cNvPr id="4" name="Shape 2"/>
          <p:cNvSpPr/>
          <p:nvPr/>
        </p:nvSpPr>
        <p:spPr>
          <a:xfrm>
            <a:off x="1143000" y="3519711"/>
            <a:ext cx="6320358" cy="19050"/>
          </a:xfrm>
          <a:prstGeom prst="rect">
            <a:avLst/>
          </a:prstGeom>
          <a:solidFill>
            <a:srgbClr val="201E1E">
              <a:alpha val="40000"/>
            </a:srgbClr>
          </a:solidFill>
          <a:ln/>
        </p:spPr>
        <p:txBody>
          <a:bodyPr/>
          <a:lstStyle/>
          <a:p>
            <a:endParaRPr lang="en-US"/>
          </a:p>
        </p:txBody>
      </p:sp>
      <p:sp>
        <p:nvSpPr>
          <p:cNvPr id="5" name="Text 3"/>
          <p:cNvSpPr/>
          <p:nvPr/>
        </p:nvSpPr>
        <p:spPr>
          <a:xfrm>
            <a:off x="1143000" y="3173390"/>
            <a:ext cx="6281369"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SITUATION</a:t>
            </a:r>
            <a:endParaRPr lang="en-US" sz="1800" dirty="0"/>
          </a:p>
        </p:txBody>
      </p:sp>
      <p:sp>
        <p:nvSpPr>
          <p:cNvPr id="6" name="Shape 4"/>
          <p:cNvSpPr/>
          <p:nvPr/>
        </p:nvSpPr>
        <p:spPr>
          <a:xfrm>
            <a:off x="7463358" y="3519711"/>
            <a:ext cx="2049289" cy="19050"/>
          </a:xfrm>
          <a:prstGeom prst="rect">
            <a:avLst/>
          </a:prstGeom>
          <a:solidFill>
            <a:srgbClr val="201E1E">
              <a:alpha val="40000"/>
            </a:srgbClr>
          </a:solidFill>
          <a:ln/>
        </p:spPr>
        <p:txBody>
          <a:bodyPr/>
          <a:lstStyle/>
          <a:p>
            <a:endParaRPr lang="en-US"/>
          </a:p>
        </p:txBody>
      </p:sp>
      <p:sp>
        <p:nvSpPr>
          <p:cNvPr id="7" name="Text 5"/>
          <p:cNvSpPr/>
          <p:nvPr/>
        </p:nvSpPr>
        <p:spPr>
          <a:xfrm>
            <a:off x="7691958" y="3173390"/>
            <a:ext cx="1668289"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USE</a:t>
            </a:r>
            <a:endParaRPr lang="en-US" sz="1800" dirty="0"/>
          </a:p>
        </p:txBody>
      </p:sp>
      <p:sp>
        <p:nvSpPr>
          <p:cNvPr id="8" name="Shape 6"/>
          <p:cNvSpPr/>
          <p:nvPr/>
        </p:nvSpPr>
        <p:spPr>
          <a:xfrm>
            <a:off x="9512647" y="3519711"/>
            <a:ext cx="6489353" cy="19050"/>
          </a:xfrm>
          <a:prstGeom prst="rect">
            <a:avLst/>
          </a:prstGeom>
          <a:solidFill>
            <a:srgbClr val="201E1E">
              <a:alpha val="40000"/>
            </a:srgbClr>
          </a:solidFill>
          <a:ln/>
        </p:spPr>
        <p:txBody>
          <a:bodyPr/>
          <a:lstStyle/>
          <a:p>
            <a:endParaRPr lang="en-US"/>
          </a:p>
        </p:txBody>
      </p:sp>
      <p:sp>
        <p:nvSpPr>
          <p:cNvPr id="9" name="Text 7"/>
          <p:cNvSpPr/>
          <p:nvPr/>
        </p:nvSpPr>
        <p:spPr>
          <a:xfrm>
            <a:off x="9741247" y="3173390"/>
            <a:ext cx="6455433"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BECAUSE</a:t>
            </a:r>
            <a:endParaRPr lang="en-US" sz="1800" dirty="0"/>
          </a:p>
        </p:txBody>
      </p:sp>
      <p:sp>
        <p:nvSpPr>
          <p:cNvPr id="10" name="Shape 8"/>
          <p:cNvSpPr/>
          <p:nvPr/>
        </p:nvSpPr>
        <p:spPr>
          <a:xfrm>
            <a:off x="1143000" y="4100810"/>
            <a:ext cx="6320358" cy="9525"/>
          </a:xfrm>
          <a:prstGeom prst="rect">
            <a:avLst/>
          </a:prstGeom>
          <a:solidFill>
            <a:srgbClr val="201E1E">
              <a:alpha val="40000"/>
            </a:srgbClr>
          </a:solidFill>
          <a:ln/>
        </p:spPr>
        <p:txBody>
          <a:bodyPr/>
          <a:lstStyle/>
          <a:p>
            <a:endParaRPr lang="en-US"/>
          </a:p>
        </p:txBody>
      </p:sp>
      <p:sp>
        <p:nvSpPr>
          <p:cNvPr id="11" name="Text 9"/>
          <p:cNvSpPr/>
          <p:nvPr/>
        </p:nvSpPr>
        <p:spPr>
          <a:xfrm>
            <a:off x="1143000" y="3735785"/>
            <a:ext cx="6281369"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Documents of very different lengths</a:t>
            </a:r>
            <a:endParaRPr lang="en-US" sz="1875" dirty="0"/>
          </a:p>
        </p:txBody>
      </p:sp>
      <p:sp>
        <p:nvSpPr>
          <p:cNvPr id="12" name="Shape 10"/>
          <p:cNvSpPr/>
          <p:nvPr/>
        </p:nvSpPr>
        <p:spPr>
          <a:xfrm>
            <a:off x="7463358" y="4100810"/>
            <a:ext cx="2049289" cy="9525"/>
          </a:xfrm>
          <a:prstGeom prst="rect">
            <a:avLst/>
          </a:prstGeom>
          <a:solidFill>
            <a:srgbClr val="201E1E">
              <a:alpha val="40000"/>
            </a:srgbClr>
          </a:solidFill>
          <a:ln/>
        </p:spPr>
        <p:txBody>
          <a:bodyPr/>
          <a:lstStyle/>
          <a:p>
            <a:endParaRPr lang="en-US"/>
          </a:p>
        </p:txBody>
      </p:sp>
      <p:sp>
        <p:nvSpPr>
          <p:cNvPr id="13" name="Text 11"/>
          <p:cNvSpPr/>
          <p:nvPr/>
        </p:nvSpPr>
        <p:spPr>
          <a:xfrm>
            <a:off x="7691958" y="3735785"/>
            <a:ext cx="1668289"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Cosine</a:t>
            </a:r>
            <a:endParaRPr lang="en-US" sz="1875" dirty="0"/>
          </a:p>
        </p:txBody>
      </p:sp>
      <p:sp>
        <p:nvSpPr>
          <p:cNvPr id="14" name="Shape 12"/>
          <p:cNvSpPr/>
          <p:nvPr/>
        </p:nvSpPr>
        <p:spPr>
          <a:xfrm>
            <a:off x="9512647" y="4100810"/>
            <a:ext cx="6489353" cy="9525"/>
          </a:xfrm>
          <a:prstGeom prst="rect">
            <a:avLst/>
          </a:prstGeom>
          <a:solidFill>
            <a:srgbClr val="201E1E">
              <a:alpha val="40000"/>
            </a:srgbClr>
          </a:solidFill>
          <a:ln/>
        </p:spPr>
        <p:txBody>
          <a:bodyPr/>
          <a:lstStyle/>
          <a:p>
            <a:endParaRPr lang="en-US"/>
          </a:p>
        </p:txBody>
      </p:sp>
      <p:sp>
        <p:nvSpPr>
          <p:cNvPr id="15" name="Text 13"/>
          <p:cNvSpPr/>
          <p:nvPr/>
        </p:nvSpPr>
        <p:spPr>
          <a:xfrm>
            <a:off x="9741247" y="3735785"/>
            <a:ext cx="6455433"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Length should not change the topic match</a:t>
            </a:r>
            <a:endParaRPr lang="en-US" sz="1875" dirty="0"/>
          </a:p>
        </p:txBody>
      </p:sp>
      <p:sp>
        <p:nvSpPr>
          <p:cNvPr id="16" name="Shape 14"/>
          <p:cNvSpPr/>
          <p:nvPr/>
        </p:nvSpPr>
        <p:spPr>
          <a:xfrm>
            <a:off x="1143000" y="4667622"/>
            <a:ext cx="6320358" cy="9525"/>
          </a:xfrm>
          <a:prstGeom prst="rect">
            <a:avLst/>
          </a:prstGeom>
          <a:solidFill>
            <a:srgbClr val="201E1E">
              <a:alpha val="40000"/>
            </a:srgbClr>
          </a:solidFill>
          <a:ln/>
        </p:spPr>
        <p:txBody>
          <a:bodyPr/>
          <a:lstStyle/>
          <a:p>
            <a:endParaRPr lang="en-US"/>
          </a:p>
        </p:txBody>
      </p:sp>
      <p:sp>
        <p:nvSpPr>
          <p:cNvPr id="17" name="Text 15"/>
          <p:cNvSpPr/>
          <p:nvPr/>
        </p:nvSpPr>
        <p:spPr>
          <a:xfrm>
            <a:off x="1143000" y="4307360"/>
            <a:ext cx="6281369"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Normalised embeddings (‖v‖ = 1)</a:t>
            </a:r>
            <a:endParaRPr lang="en-US" sz="1875" dirty="0"/>
          </a:p>
        </p:txBody>
      </p:sp>
      <p:sp>
        <p:nvSpPr>
          <p:cNvPr id="18" name="Shape 16"/>
          <p:cNvSpPr/>
          <p:nvPr/>
        </p:nvSpPr>
        <p:spPr>
          <a:xfrm>
            <a:off x="7463358" y="4667622"/>
            <a:ext cx="2049289" cy="9525"/>
          </a:xfrm>
          <a:prstGeom prst="rect">
            <a:avLst/>
          </a:prstGeom>
          <a:solidFill>
            <a:srgbClr val="201E1E">
              <a:alpha val="40000"/>
            </a:srgbClr>
          </a:solidFill>
          <a:ln/>
        </p:spPr>
        <p:txBody>
          <a:bodyPr/>
          <a:lstStyle/>
          <a:p>
            <a:endParaRPr lang="en-US"/>
          </a:p>
        </p:txBody>
      </p:sp>
      <p:sp>
        <p:nvSpPr>
          <p:cNvPr id="19" name="Text 17"/>
          <p:cNvSpPr/>
          <p:nvPr/>
        </p:nvSpPr>
        <p:spPr>
          <a:xfrm>
            <a:off x="7691958" y="4307360"/>
            <a:ext cx="1668289"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Either</a:t>
            </a:r>
            <a:endParaRPr lang="en-US" sz="1875" dirty="0"/>
          </a:p>
        </p:txBody>
      </p:sp>
      <p:sp>
        <p:nvSpPr>
          <p:cNvPr id="20" name="Shape 18"/>
          <p:cNvSpPr/>
          <p:nvPr/>
        </p:nvSpPr>
        <p:spPr>
          <a:xfrm>
            <a:off x="9512647" y="4667622"/>
            <a:ext cx="6489353" cy="9525"/>
          </a:xfrm>
          <a:prstGeom prst="rect">
            <a:avLst/>
          </a:prstGeom>
          <a:solidFill>
            <a:srgbClr val="201E1E">
              <a:alpha val="40000"/>
            </a:srgbClr>
          </a:solidFill>
          <a:ln/>
        </p:spPr>
        <p:txBody>
          <a:bodyPr/>
          <a:lstStyle/>
          <a:p>
            <a:endParaRPr lang="en-US"/>
          </a:p>
        </p:txBody>
      </p:sp>
      <p:sp>
        <p:nvSpPr>
          <p:cNvPr id="21" name="Text 19"/>
          <p:cNvSpPr/>
          <p:nvPr/>
        </p:nvSpPr>
        <p:spPr>
          <a:xfrm>
            <a:off x="9741247" y="4307360"/>
            <a:ext cx="645543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They rank identically once lengths are equal</a:t>
            </a:r>
            <a:endParaRPr lang="en-US" sz="1875" dirty="0"/>
          </a:p>
        </p:txBody>
      </p:sp>
      <p:sp>
        <p:nvSpPr>
          <p:cNvPr id="22" name="Shape 20"/>
          <p:cNvSpPr/>
          <p:nvPr/>
        </p:nvSpPr>
        <p:spPr>
          <a:xfrm>
            <a:off x="1143000" y="5234434"/>
            <a:ext cx="6320358" cy="9525"/>
          </a:xfrm>
          <a:prstGeom prst="rect">
            <a:avLst/>
          </a:prstGeom>
          <a:solidFill>
            <a:srgbClr val="201E1E">
              <a:alpha val="40000"/>
            </a:srgbClr>
          </a:solidFill>
          <a:ln/>
        </p:spPr>
        <p:txBody>
          <a:bodyPr/>
          <a:lstStyle/>
          <a:p>
            <a:endParaRPr lang="en-US"/>
          </a:p>
        </p:txBody>
      </p:sp>
      <p:sp>
        <p:nvSpPr>
          <p:cNvPr id="23" name="Text 21"/>
          <p:cNvSpPr/>
          <p:nvPr/>
        </p:nvSpPr>
        <p:spPr>
          <a:xfrm>
            <a:off x="1143000" y="4874172"/>
            <a:ext cx="6281369"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Physical measurements — price, size, age</a:t>
            </a:r>
            <a:endParaRPr lang="en-US" sz="1875" dirty="0"/>
          </a:p>
        </p:txBody>
      </p:sp>
      <p:sp>
        <p:nvSpPr>
          <p:cNvPr id="24" name="Shape 22"/>
          <p:cNvSpPr/>
          <p:nvPr/>
        </p:nvSpPr>
        <p:spPr>
          <a:xfrm>
            <a:off x="7463358" y="5234434"/>
            <a:ext cx="2049289" cy="9525"/>
          </a:xfrm>
          <a:prstGeom prst="rect">
            <a:avLst/>
          </a:prstGeom>
          <a:solidFill>
            <a:srgbClr val="201E1E">
              <a:alpha val="40000"/>
            </a:srgbClr>
          </a:solidFill>
          <a:ln/>
        </p:spPr>
        <p:txBody>
          <a:bodyPr/>
          <a:lstStyle/>
          <a:p>
            <a:endParaRPr lang="en-US"/>
          </a:p>
        </p:txBody>
      </p:sp>
      <p:sp>
        <p:nvSpPr>
          <p:cNvPr id="25" name="Text 23"/>
          <p:cNvSpPr/>
          <p:nvPr/>
        </p:nvSpPr>
        <p:spPr>
          <a:xfrm>
            <a:off x="7691958" y="4874172"/>
            <a:ext cx="1668289"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Euclidean</a:t>
            </a:r>
            <a:endParaRPr lang="en-US" sz="1875" dirty="0"/>
          </a:p>
        </p:txBody>
      </p:sp>
      <p:sp>
        <p:nvSpPr>
          <p:cNvPr id="26" name="Shape 24"/>
          <p:cNvSpPr/>
          <p:nvPr/>
        </p:nvSpPr>
        <p:spPr>
          <a:xfrm>
            <a:off x="9512647" y="5234434"/>
            <a:ext cx="6489353" cy="9525"/>
          </a:xfrm>
          <a:prstGeom prst="rect">
            <a:avLst/>
          </a:prstGeom>
          <a:solidFill>
            <a:srgbClr val="201E1E">
              <a:alpha val="40000"/>
            </a:srgbClr>
          </a:solidFill>
          <a:ln/>
        </p:spPr>
        <p:txBody>
          <a:bodyPr/>
          <a:lstStyle/>
          <a:p>
            <a:endParaRPr lang="en-US"/>
          </a:p>
        </p:txBody>
      </p:sp>
      <p:sp>
        <p:nvSpPr>
          <p:cNvPr id="27" name="Text 25"/>
          <p:cNvSpPr/>
          <p:nvPr/>
        </p:nvSpPr>
        <p:spPr>
          <a:xfrm>
            <a:off x="9741247" y="4874172"/>
            <a:ext cx="645543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Magnitude genuinely is the signal</a:t>
            </a:r>
            <a:endParaRPr lang="en-US" sz="1875" dirty="0"/>
          </a:p>
        </p:txBody>
      </p:sp>
      <p:sp>
        <p:nvSpPr>
          <p:cNvPr id="28" name="Shape 26"/>
          <p:cNvSpPr/>
          <p:nvPr/>
        </p:nvSpPr>
        <p:spPr>
          <a:xfrm>
            <a:off x="1143000" y="5801246"/>
            <a:ext cx="6320358" cy="9525"/>
          </a:xfrm>
          <a:prstGeom prst="rect">
            <a:avLst/>
          </a:prstGeom>
          <a:solidFill>
            <a:srgbClr val="201E1E">
              <a:alpha val="40000"/>
            </a:srgbClr>
          </a:solidFill>
          <a:ln/>
        </p:spPr>
        <p:txBody>
          <a:bodyPr/>
          <a:lstStyle/>
          <a:p>
            <a:endParaRPr lang="en-US"/>
          </a:p>
        </p:txBody>
      </p:sp>
      <p:sp>
        <p:nvSpPr>
          <p:cNvPr id="29" name="Text 27"/>
          <p:cNvSpPr/>
          <p:nvPr/>
        </p:nvSpPr>
        <p:spPr>
          <a:xfrm>
            <a:off x="1143000" y="5440984"/>
            <a:ext cx="6281369"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Sparse keyword counts</a:t>
            </a:r>
            <a:endParaRPr lang="en-US" sz="1875" dirty="0"/>
          </a:p>
        </p:txBody>
      </p:sp>
      <p:sp>
        <p:nvSpPr>
          <p:cNvPr id="30" name="Shape 28"/>
          <p:cNvSpPr/>
          <p:nvPr/>
        </p:nvSpPr>
        <p:spPr>
          <a:xfrm>
            <a:off x="7463358" y="5801246"/>
            <a:ext cx="2049289" cy="9525"/>
          </a:xfrm>
          <a:prstGeom prst="rect">
            <a:avLst/>
          </a:prstGeom>
          <a:solidFill>
            <a:srgbClr val="201E1E">
              <a:alpha val="40000"/>
            </a:srgbClr>
          </a:solidFill>
          <a:ln/>
        </p:spPr>
        <p:txBody>
          <a:bodyPr/>
          <a:lstStyle/>
          <a:p>
            <a:endParaRPr lang="en-US"/>
          </a:p>
        </p:txBody>
      </p:sp>
      <p:sp>
        <p:nvSpPr>
          <p:cNvPr id="31" name="Text 29"/>
          <p:cNvSpPr/>
          <p:nvPr/>
        </p:nvSpPr>
        <p:spPr>
          <a:xfrm>
            <a:off x="7691958" y="5440984"/>
            <a:ext cx="1668289"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Cosine</a:t>
            </a:r>
            <a:endParaRPr lang="en-US" sz="1875" dirty="0"/>
          </a:p>
        </p:txBody>
      </p:sp>
      <p:sp>
        <p:nvSpPr>
          <p:cNvPr id="32" name="Shape 30"/>
          <p:cNvSpPr/>
          <p:nvPr/>
        </p:nvSpPr>
        <p:spPr>
          <a:xfrm>
            <a:off x="9512647" y="5801246"/>
            <a:ext cx="6489353" cy="9525"/>
          </a:xfrm>
          <a:prstGeom prst="rect">
            <a:avLst/>
          </a:prstGeom>
          <a:solidFill>
            <a:srgbClr val="201E1E">
              <a:alpha val="40000"/>
            </a:srgbClr>
          </a:solidFill>
          <a:ln/>
        </p:spPr>
        <p:txBody>
          <a:bodyPr/>
          <a:lstStyle/>
          <a:p>
            <a:endParaRPr lang="en-US"/>
          </a:p>
        </p:txBody>
      </p:sp>
      <p:sp>
        <p:nvSpPr>
          <p:cNvPr id="33" name="Text 31"/>
          <p:cNvSpPr/>
          <p:nvPr/>
        </p:nvSpPr>
        <p:spPr>
          <a:xfrm>
            <a:off x="9741247" y="5440984"/>
            <a:ext cx="645543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A long document has more of every word</a:t>
            </a:r>
            <a:endParaRPr lang="en-US" sz="1875" dirty="0"/>
          </a:p>
        </p:txBody>
      </p:sp>
      <p:sp>
        <p:nvSpPr>
          <p:cNvPr id="34" name="Shape 32"/>
          <p:cNvSpPr/>
          <p:nvPr/>
        </p:nvSpPr>
        <p:spPr>
          <a:xfrm>
            <a:off x="1143000" y="7165628"/>
            <a:ext cx="16002000" cy="19050"/>
          </a:xfrm>
          <a:prstGeom prst="rect">
            <a:avLst/>
          </a:prstGeom>
          <a:solidFill>
            <a:srgbClr val="EC3013"/>
          </a:solidFill>
          <a:ln/>
        </p:spPr>
        <p:txBody>
          <a:bodyPr/>
          <a:lstStyle/>
          <a:p>
            <a:endParaRPr lang="en-US"/>
          </a:p>
        </p:txBody>
      </p:sp>
      <p:sp>
        <p:nvSpPr>
          <p:cNvPr id="35" name="Text 33"/>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PRO TIP</a:t>
            </a:r>
            <a:endParaRPr lang="en-US" sz="1800" dirty="0"/>
          </a:p>
        </p:txBody>
      </p:sp>
      <p:sp>
        <p:nvSpPr>
          <p:cNvPr id="36" name="Text 34"/>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Most embedding models return vectors already normalised to length 1. When that is true, cosine and Euclidean give the same ranking — so check before you spend an afternoon arguing about the metric.</a:t>
            </a:r>
            <a:endParaRPr lang="en-US" sz="2100" dirty="0"/>
          </a:p>
        </p:txBody>
      </p:sp>
      <p:pic>
        <p:nvPicPr>
          <p:cNvPr id="37"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BUSINESS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"Similar items" on a retail site</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shopper views a red running shoe, embedded as [0.85, 0.15]. Two candidate products are compared against it.</a:t>
            </a:r>
            <a:endParaRPr lang="en-US" sz="2100" dirty="0"/>
          </a:p>
        </p:txBody>
      </p:sp>
      <p:sp>
        <p:nvSpPr>
          <p:cNvPr id="5" name="Shape 3"/>
          <p:cNvSpPr/>
          <p:nvPr/>
        </p:nvSpPr>
        <p:spPr>
          <a:xfrm>
            <a:off x="1143000" y="34290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39508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36079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36079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Blue running shoe [0.90, 0.10] — dot = 0.765 + 0.015 = 0.780, cos ≈ </a:t>
            </a:r>
            <a:r>
              <a:rPr lang="en-US" sz="2100" b="1" dirty="0">
                <a:solidFill>
                  <a:srgbClr val="201E1D"/>
                </a:solidFill>
                <a:latin typeface="Arial" pitchFamily="34" charset="0"/>
                <a:ea typeface="Arial" pitchFamily="34" charset="-122"/>
                <a:cs typeface="Arial" pitchFamily="34" charset="-120"/>
              </a:rPr>
              <a:t>0.999</a:t>
            </a:r>
            <a:endParaRPr lang="en-US" sz="2100" dirty="0"/>
          </a:p>
        </p:txBody>
      </p:sp>
      <p:sp>
        <p:nvSpPr>
          <p:cNvPr id="9" name="Shape 7"/>
          <p:cNvSpPr/>
          <p:nvPr/>
        </p:nvSpPr>
        <p:spPr>
          <a:xfrm>
            <a:off x="1143000" y="44632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1203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1203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Leather office shoe [0.10, 0.90] — dot = 0.085 + 0.135 = 0.220, cos ≈ </a:t>
            </a:r>
            <a:r>
              <a:rPr lang="en-US" sz="2100" b="1" dirty="0">
                <a:solidFill>
                  <a:srgbClr val="201E1D"/>
                </a:solidFill>
                <a:latin typeface="Arial" pitchFamily="34" charset="0"/>
                <a:ea typeface="Arial" pitchFamily="34" charset="-122"/>
                <a:cs typeface="Arial" pitchFamily="34" charset="-120"/>
              </a:rPr>
              <a:t>0.283</a:t>
            </a:r>
            <a:endParaRPr lang="en-US" sz="2100" dirty="0"/>
          </a:p>
        </p:txBody>
      </p:sp>
      <p:sp>
        <p:nvSpPr>
          <p:cNvPr id="12" name="Shape 10"/>
          <p:cNvSpPr/>
          <p:nvPr/>
        </p:nvSpPr>
        <p:spPr>
          <a:xfrm>
            <a:off x="1143000" y="4983584"/>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4632647"/>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14" name="Text 12"/>
          <p:cNvSpPr/>
          <p:nvPr/>
        </p:nvSpPr>
        <p:spPr>
          <a:xfrm>
            <a:off x="1981200" y="4632647"/>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The running shoe is shown first — near-identical direction, despite the colour difference</a:t>
            </a:r>
            <a:endParaRPr lang="en-US" sz="2100" dirty="0"/>
          </a:p>
        </p:txBody>
      </p:sp>
      <p:sp>
        <p:nvSpPr>
          <p:cNvPr id="15" name="Shape 13"/>
          <p:cNvSpPr/>
          <p:nvPr/>
        </p:nvSpPr>
        <p:spPr>
          <a:xfrm>
            <a:off x="1143000" y="5495999"/>
            <a:ext cx="14859000" cy="19050"/>
          </a:xfrm>
          <a:prstGeom prst="rect">
            <a:avLst/>
          </a:prstGeom>
          <a:solidFill>
            <a:srgbClr val="EC3013"/>
          </a:solidFill>
          <a:ln/>
        </p:spPr>
        <p:txBody>
          <a:bodyPr/>
          <a:lstStyle/>
          <a:p>
            <a:endParaRPr lang="en-US"/>
          </a:p>
        </p:txBody>
      </p:sp>
      <p:sp>
        <p:nvSpPr>
          <p:cNvPr id="16" name="Text 14"/>
          <p:cNvSpPr/>
          <p:nvPr/>
        </p:nvSpPr>
        <p:spPr>
          <a:xfrm>
            <a:off x="1143000" y="5759872"/>
            <a:ext cx="16344900" cy="227558"/>
          </a:xfrm>
          <a:prstGeom prst="rect">
            <a:avLst/>
          </a:prstGeom>
          <a:noFill/>
          <a:ln/>
        </p:spPr>
        <p:txBody>
          <a:bodyPr wrap="square" lIns="25400" tIns="25400" rIns="25400" bIns="25400" rtlCol="0" anchor="t">
            <a:normAutofit fontScale="47500" lnSpcReduction="2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Try it yourself. </a:t>
            </a:r>
            <a:r>
              <a:rPr lang="en-US" sz="2175" dirty="0">
                <a:solidFill>
                  <a:srgbClr val="201E1D"/>
                </a:solidFill>
                <a:latin typeface="Arial" pitchFamily="34" charset="0"/>
                <a:ea typeface="Arial" pitchFamily="34" charset="-122"/>
                <a:cs typeface="Arial" pitchFamily="34" charset="-120"/>
              </a:rPr>
              <a:t>Two article embeddings are [1, 0] and [0, 1]. What does a cosine similarity of 0 tell you?</a:t>
            </a:r>
            <a:endParaRPr lang="en-US" sz="2175" dirty="0"/>
          </a:p>
        </p:txBody>
      </p:sp>
      <p:sp>
        <p:nvSpPr>
          <p:cNvPr id="17" name="Text 15"/>
          <p:cNvSpPr/>
          <p:nvPr/>
        </p:nvSpPr>
        <p:spPr>
          <a:xfrm>
            <a:off x="1143000" y="6116315"/>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The vectors are perpendicular — the articles share essentially no topical overlap. Not opposite, just unrelated.</a:t>
            </a:r>
            <a:endParaRPr lang="en-US" sz="1800" dirty="0"/>
          </a:p>
        </p:txBody>
      </p:sp>
      <p:pic>
        <p:nvPicPr>
          <p:cNvPr id="18"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TRY IT YOURSELF</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Hands-on: similarity</a:t>
            </a:r>
            <a:endParaRPr lang="en-US" sz="4800" dirty="0"/>
          </a:p>
        </p:txBody>
      </p:sp>
      <p:sp>
        <p:nvSpPr>
          <p:cNvPr id="4" name="Shape 2"/>
          <p:cNvSpPr/>
          <p:nvPr/>
        </p:nvSpPr>
        <p:spPr>
          <a:xfrm>
            <a:off x="1143000" y="2788890"/>
            <a:ext cx="14859000" cy="19050"/>
          </a:xfrm>
          <a:prstGeom prst="rect">
            <a:avLst/>
          </a:prstGeom>
          <a:solidFill>
            <a:srgbClr val="EC3013"/>
          </a:solidFill>
          <a:ln/>
        </p:spPr>
        <p:txBody>
          <a:bodyPr/>
          <a:lstStyle/>
          <a:p>
            <a:endParaRPr lang="en-US"/>
          </a:p>
        </p:txBody>
      </p:sp>
      <p:sp>
        <p:nvSpPr>
          <p:cNvPr id="5" name="Text 3"/>
          <p:cNvSpPr/>
          <p:nvPr/>
        </p:nvSpPr>
        <p:spPr>
          <a:xfrm>
            <a:off x="1143000" y="3052763"/>
            <a:ext cx="16344900" cy="227558"/>
          </a:xfrm>
          <a:prstGeom prst="rect">
            <a:avLst/>
          </a:prstGeom>
          <a:noFill/>
          <a:ln/>
        </p:spPr>
        <p:txBody>
          <a:bodyPr wrap="square" lIns="25400" tIns="25400" rIns="25400" bIns="25400" rtlCol="0" anchor="t">
            <a:normAutofit fontScale="47500" lnSpcReduction="2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1. </a:t>
            </a:r>
            <a:r>
              <a:rPr lang="en-US" sz="2175" dirty="0">
                <a:solidFill>
                  <a:srgbClr val="201E1D"/>
                </a:solidFill>
                <a:latin typeface="Arial" pitchFamily="34" charset="0"/>
                <a:ea typeface="Arial" pitchFamily="34" charset="-122"/>
                <a:cs typeface="Arial" pitchFamily="34" charset="-120"/>
              </a:rPr>
              <a:t>Two sentence embeddings are A = [1, 2] and B = [2, 4]. What is their cosine similarity?</a:t>
            </a:r>
            <a:endParaRPr lang="en-US" sz="2175" dirty="0"/>
          </a:p>
        </p:txBody>
      </p:sp>
      <p:sp>
        <p:nvSpPr>
          <p:cNvPr id="6" name="Text 4"/>
          <p:cNvSpPr/>
          <p:nvPr/>
        </p:nvSpPr>
        <p:spPr>
          <a:xfrm>
            <a:off x="1143000" y="3409206"/>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B is exactly 2 × A, so they point in the identical direction. cos(θ) = 1.0 — perfectly similar, even though their magnitudes differ.</a:t>
            </a:r>
            <a:endParaRPr lang="en-US" sz="1800" dirty="0"/>
          </a:p>
        </p:txBody>
      </p:sp>
      <p:sp>
        <p:nvSpPr>
          <p:cNvPr id="7" name="Shape 5"/>
          <p:cNvSpPr/>
          <p:nvPr/>
        </p:nvSpPr>
        <p:spPr>
          <a:xfrm>
            <a:off x="1143000" y="4068887"/>
            <a:ext cx="14859000" cy="19050"/>
          </a:xfrm>
          <a:prstGeom prst="rect">
            <a:avLst/>
          </a:prstGeom>
          <a:solidFill>
            <a:srgbClr val="EC3013"/>
          </a:solidFill>
          <a:ln/>
        </p:spPr>
        <p:txBody>
          <a:bodyPr/>
          <a:lstStyle/>
          <a:p>
            <a:endParaRPr lang="en-US"/>
          </a:p>
        </p:txBody>
      </p:sp>
      <p:sp>
        <p:nvSpPr>
          <p:cNvPr id="8" name="Text 6"/>
          <p:cNvSpPr/>
          <p:nvPr/>
        </p:nvSpPr>
        <p:spPr>
          <a:xfrm>
            <a:off x="1143000" y="4332759"/>
            <a:ext cx="16344900" cy="227558"/>
          </a:xfrm>
          <a:prstGeom prst="rect">
            <a:avLst/>
          </a:prstGeom>
          <a:noFill/>
          <a:ln/>
        </p:spPr>
        <p:txBody>
          <a:bodyPr wrap="square" lIns="25400" tIns="25400" rIns="25400" bIns="25400" rtlCol="0" anchor="t">
            <a:normAutofit fontScale="47500" lnSpcReduction="2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2. </a:t>
            </a:r>
            <a:r>
              <a:rPr lang="en-US" sz="2175" dirty="0">
                <a:solidFill>
                  <a:srgbClr val="201E1D"/>
                </a:solidFill>
                <a:latin typeface="Arial" pitchFamily="34" charset="0"/>
                <a:ea typeface="Arial" pitchFamily="34" charset="-122"/>
                <a:cs typeface="Arial" pitchFamily="34" charset="-120"/>
              </a:rPr>
              <a:t>Same two vectors. What is their Euclidean distance, and what does the difference tell you?</a:t>
            </a:r>
            <a:endParaRPr lang="en-US" sz="2175" dirty="0"/>
          </a:p>
        </p:txBody>
      </p:sp>
      <p:sp>
        <p:nvSpPr>
          <p:cNvPr id="9" name="Text 7"/>
          <p:cNvSpPr/>
          <p:nvPr/>
        </p:nvSpPr>
        <p:spPr>
          <a:xfrm>
            <a:off x="1143000" y="4689202"/>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√((2−1)² + (4−2)²) = √5 ≈ 2.24. Distance says "not the same"; cosine says "same topic, different length". For text, cosine is the honest answer.</a:t>
            </a:r>
            <a:endParaRPr lang="en-US" sz="1800" dirty="0"/>
          </a:p>
        </p:txBody>
      </p:sp>
      <p:sp>
        <p:nvSpPr>
          <p:cNvPr id="10" name="Shape 8"/>
          <p:cNvSpPr/>
          <p:nvPr/>
        </p:nvSpPr>
        <p:spPr>
          <a:xfrm>
            <a:off x="1143000" y="5348883"/>
            <a:ext cx="14859000" cy="19050"/>
          </a:xfrm>
          <a:prstGeom prst="rect">
            <a:avLst/>
          </a:prstGeom>
          <a:solidFill>
            <a:srgbClr val="EC3013"/>
          </a:solidFill>
          <a:ln/>
        </p:spPr>
        <p:txBody>
          <a:bodyPr/>
          <a:lstStyle/>
          <a:p>
            <a:endParaRPr lang="en-US"/>
          </a:p>
        </p:txBody>
      </p:sp>
      <p:sp>
        <p:nvSpPr>
          <p:cNvPr id="11" name="Text 9"/>
          <p:cNvSpPr/>
          <p:nvPr/>
        </p:nvSpPr>
        <p:spPr>
          <a:xfrm>
            <a:off x="1143000" y="5612755"/>
            <a:ext cx="16344900" cy="227558"/>
          </a:xfrm>
          <a:prstGeom prst="rect">
            <a:avLst/>
          </a:prstGeom>
          <a:noFill/>
          <a:ln/>
        </p:spPr>
        <p:txBody>
          <a:bodyPr wrap="square" lIns="25400" tIns="25400" rIns="25400" bIns="25400" rtlCol="0" anchor="t">
            <a:normAutofit fontScale="47500" lnSpcReduction="2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3. </a:t>
            </a:r>
            <a:r>
              <a:rPr lang="en-US" sz="2175" dirty="0">
                <a:solidFill>
                  <a:srgbClr val="201E1D"/>
                </a:solidFill>
                <a:latin typeface="Arial" pitchFamily="34" charset="0"/>
                <a:ea typeface="Arial" pitchFamily="34" charset="-122"/>
                <a:cs typeface="Arial" pitchFamily="34" charset="-120"/>
              </a:rPr>
              <a:t>Your RAG system returns a chunk scoring 0.34 as its top hit. What should happen?</a:t>
            </a:r>
            <a:endParaRPr lang="en-US" sz="2175" dirty="0"/>
          </a:p>
        </p:txBody>
      </p:sp>
      <p:sp>
        <p:nvSpPr>
          <p:cNvPr id="12" name="Text 10"/>
          <p:cNvSpPr/>
          <p:nvPr/>
        </p:nvSpPr>
        <p:spPr>
          <a:xfrm>
            <a:off x="1143000" y="5969198"/>
            <a:ext cx="15304770" cy="556840"/>
          </a:xfrm>
          <a:prstGeom prst="rect">
            <a:avLst/>
          </a:prstGeom>
          <a:noFill/>
          <a:ln/>
        </p:spPr>
        <p:txBody>
          <a:bodyPr wrap="square" lIns="25400" tIns="25400" rIns="25400" bIns="25400" rtlCol="0" anchor="t">
            <a:normAutofit fontScale="925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Nothing should be retrieved. A score that low means no document is relevant — the right behaviour is to say so, not to answer from the best of a bad set.</a:t>
            </a:r>
            <a:endParaRPr lang="en-US" sz="1800" dirty="0"/>
          </a:p>
        </p:txBody>
      </p:sp>
      <p:pic>
        <p:nvPicPr>
          <p:cNvPr id="13"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06 · GRAPHS &amp; RELATIONSHIPS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Do I need this?</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Yes, if you…</a:t>
            </a:r>
            <a:endParaRPr lang="en-US" sz="2550" dirty="0"/>
          </a:p>
        </p:txBody>
      </p:sp>
      <p:sp>
        <p:nvSpPr>
          <p:cNvPr id="6" name="Text 4"/>
          <p:cNvSpPr/>
          <p:nvPr/>
        </p:nvSpPr>
        <p:spPr>
          <a:xfrm>
            <a:off x="1143000" y="3931741"/>
            <a:ext cx="5180076" cy="15926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Work with knowledge graphs, customer journeys, fraud rings, org hierarchies, supply chains, or multi-step agent workflows.</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What breaks without it</a:t>
            </a:r>
            <a:endParaRPr lang="en-US" sz="2550" dirty="0"/>
          </a:p>
        </p:txBody>
      </p:sp>
      <p:sp>
        <p:nvSpPr>
          <p:cNvPr id="9" name="Text 7"/>
          <p:cNvSpPr/>
          <p:nvPr/>
        </p:nvSpPr>
        <p:spPr>
          <a:xfrm>
            <a:off x="6629400" y="3931741"/>
            <a:ext cx="5180076" cy="15926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You force relationship data into tables, then wonder why "who else is connected to this account" takes six joins and forty seconds.</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Time to competence</a:t>
            </a:r>
            <a:endParaRPr lang="en-US" sz="2550" dirty="0"/>
          </a:p>
        </p:txBody>
      </p:sp>
      <p:sp>
        <p:nvSpPr>
          <p:cNvPr id="12" name="Text 10"/>
          <p:cNvSpPr/>
          <p:nvPr/>
        </p:nvSpPr>
        <p:spPr>
          <a:xfrm>
            <a:off x="12115800" y="39317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An hour for the vocabulary. Nodes, edges, direction, weight, path — and you can read any diagram in the field.</a:t>
            </a:r>
            <a:endParaRPr lang="en-US" sz="2100" dirty="0"/>
          </a:p>
        </p:txBody>
      </p:sp>
      <p:sp>
        <p:nvSpPr>
          <p:cNvPr id="13" name="Shape 11"/>
          <p:cNvSpPr/>
          <p:nvPr/>
        </p:nvSpPr>
        <p:spPr>
          <a:xfrm>
            <a:off x="1143000" y="7165628"/>
            <a:ext cx="16002000" cy="19050"/>
          </a:xfrm>
          <a:prstGeom prst="rect">
            <a:avLst/>
          </a:prstGeom>
          <a:solidFill>
            <a:srgbClr val="EC3013"/>
          </a:solidFill>
          <a:ln/>
        </p:spPr>
        <p:txBody>
          <a:bodyPr/>
          <a:lstStyle/>
          <a:p>
            <a:endParaRPr lang="en-US"/>
          </a:p>
        </p:txBody>
      </p:sp>
      <p:sp>
        <p:nvSpPr>
          <p:cNvPr id="14" name="Text 12"/>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15" name="Text 13"/>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GraphRAG retrieves by following relationships rather than by embedding distance. It answers the multi-hop questions plain vector search cannot: "which suppliers are affected if this factory stops?"</a:t>
            </a:r>
            <a:endParaRPr lang="en-US" sz="2100" dirty="0"/>
          </a:p>
        </p:txBody>
      </p:sp>
      <p:pic>
        <p:nvPicPr>
          <p:cNvPr id="16"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06 · PRACTICAL INTUITION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Five words and you can read any graph</a:t>
            </a:r>
            <a:endParaRPr lang="en-US" sz="4800" dirty="0"/>
          </a:p>
        </p:txBody>
      </p:sp>
      <p:sp>
        <p:nvSpPr>
          <p:cNvPr id="4" name="Shape 2"/>
          <p:cNvSpPr/>
          <p:nvPr/>
        </p:nvSpPr>
        <p:spPr>
          <a:xfrm>
            <a:off x="1143000" y="3519711"/>
            <a:ext cx="1650206" cy="19050"/>
          </a:xfrm>
          <a:prstGeom prst="rect">
            <a:avLst/>
          </a:prstGeom>
          <a:solidFill>
            <a:srgbClr val="201E1E">
              <a:alpha val="40000"/>
            </a:srgbClr>
          </a:solidFill>
          <a:ln/>
        </p:spPr>
        <p:txBody>
          <a:bodyPr/>
          <a:lstStyle/>
          <a:p>
            <a:endParaRPr lang="en-US"/>
          </a:p>
        </p:txBody>
      </p:sp>
      <p:sp>
        <p:nvSpPr>
          <p:cNvPr id="5" name="Text 3"/>
          <p:cNvSpPr/>
          <p:nvPr/>
        </p:nvSpPr>
        <p:spPr>
          <a:xfrm>
            <a:off x="1143000" y="3173390"/>
            <a:ext cx="1497806"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WORD</a:t>
            </a:r>
            <a:endParaRPr lang="en-US" sz="1800" dirty="0"/>
          </a:p>
        </p:txBody>
      </p:sp>
      <p:sp>
        <p:nvSpPr>
          <p:cNvPr id="6" name="Shape 4"/>
          <p:cNvSpPr/>
          <p:nvPr/>
        </p:nvSpPr>
        <p:spPr>
          <a:xfrm>
            <a:off x="2793206" y="3519711"/>
            <a:ext cx="6820272" cy="19050"/>
          </a:xfrm>
          <a:prstGeom prst="rect">
            <a:avLst/>
          </a:prstGeom>
          <a:solidFill>
            <a:srgbClr val="201E1E">
              <a:alpha val="40000"/>
            </a:srgbClr>
          </a:solidFill>
          <a:ln/>
        </p:spPr>
        <p:txBody>
          <a:bodyPr/>
          <a:lstStyle/>
          <a:p>
            <a:endParaRPr lang="en-US"/>
          </a:p>
        </p:txBody>
      </p:sp>
      <p:sp>
        <p:nvSpPr>
          <p:cNvPr id="7" name="Text 5"/>
          <p:cNvSpPr/>
          <p:nvPr/>
        </p:nvSpPr>
        <p:spPr>
          <a:xfrm>
            <a:off x="3021806" y="3173390"/>
            <a:ext cx="6567680"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WHAT IT IS</a:t>
            </a:r>
            <a:endParaRPr lang="en-US" sz="1800" dirty="0"/>
          </a:p>
        </p:txBody>
      </p:sp>
      <p:sp>
        <p:nvSpPr>
          <p:cNvPr id="8" name="Shape 6"/>
          <p:cNvSpPr/>
          <p:nvPr/>
        </p:nvSpPr>
        <p:spPr>
          <a:xfrm>
            <a:off x="9613478" y="3519711"/>
            <a:ext cx="6388522" cy="19050"/>
          </a:xfrm>
          <a:prstGeom prst="rect">
            <a:avLst/>
          </a:prstGeom>
          <a:solidFill>
            <a:srgbClr val="201E1E">
              <a:alpha val="40000"/>
            </a:srgbClr>
          </a:solidFill>
          <a:ln/>
        </p:spPr>
        <p:txBody>
          <a:bodyPr/>
          <a:lstStyle/>
          <a:p>
            <a:endParaRPr lang="en-US"/>
          </a:p>
        </p:txBody>
      </p:sp>
      <p:sp>
        <p:nvSpPr>
          <p:cNvPr id="9" name="Text 7"/>
          <p:cNvSpPr/>
          <p:nvPr/>
        </p:nvSpPr>
        <p:spPr>
          <a:xfrm>
            <a:off x="9842078" y="3173390"/>
            <a:ext cx="6351577"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IN A REAL SYSTEM</a:t>
            </a:r>
            <a:endParaRPr lang="en-US" sz="1800" dirty="0"/>
          </a:p>
        </p:txBody>
      </p:sp>
      <p:sp>
        <p:nvSpPr>
          <p:cNvPr id="10" name="Shape 8"/>
          <p:cNvSpPr/>
          <p:nvPr/>
        </p:nvSpPr>
        <p:spPr>
          <a:xfrm>
            <a:off x="1143000" y="4100810"/>
            <a:ext cx="1650206" cy="9525"/>
          </a:xfrm>
          <a:prstGeom prst="rect">
            <a:avLst/>
          </a:prstGeom>
          <a:solidFill>
            <a:srgbClr val="201E1E">
              <a:alpha val="40000"/>
            </a:srgbClr>
          </a:solidFill>
          <a:ln/>
        </p:spPr>
        <p:txBody>
          <a:bodyPr/>
          <a:lstStyle/>
          <a:p>
            <a:endParaRPr lang="en-US"/>
          </a:p>
        </p:txBody>
      </p:sp>
      <p:sp>
        <p:nvSpPr>
          <p:cNvPr id="11" name="Text 9"/>
          <p:cNvSpPr/>
          <p:nvPr/>
        </p:nvSpPr>
        <p:spPr>
          <a:xfrm>
            <a:off x="1143000" y="3735785"/>
            <a:ext cx="1497806"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Node</a:t>
            </a:r>
            <a:endParaRPr lang="en-US" sz="1875" dirty="0"/>
          </a:p>
        </p:txBody>
      </p:sp>
      <p:sp>
        <p:nvSpPr>
          <p:cNvPr id="12" name="Shape 10"/>
          <p:cNvSpPr/>
          <p:nvPr/>
        </p:nvSpPr>
        <p:spPr>
          <a:xfrm>
            <a:off x="2793206" y="4100810"/>
            <a:ext cx="6820272" cy="9525"/>
          </a:xfrm>
          <a:prstGeom prst="rect">
            <a:avLst/>
          </a:prstGeom>
          <a:solidFill>
            <a:srgbClr val="201E1E">
              <a:alpha val="40000"/>
            </a:srgbClr>
          </a:solidFill>
          <a:ln/>
        </p:spPr>
        <p:txBody>
          <a:bodyPr/>
          <a:lstStyle/>
          <a:p>
            <a:endParaRPr lang="en-US"/>
          </a:p>
        </p:txBody>
      </p:sp>
      <p:sp>
        <p:nvSpPr>
          <p:cNvPr id="13" name="Text 11"/>
          <p:cNvSpPr/>
          <p:nvPr/>
        </p:nvSpPr>
        <p:spPr>
          <a:xfrm>
            <a:off x="3021806" y="3735785"/>
            <a:ext cx="6567680"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A thing</a:t>
            </a:r>
            <a:endParaRPr lang="en-US" sz="1875" dirty="0"/>
          </a:p>
        </p:txBody>
      </p:sp>
      <p:sp>
        <p:nvSpPr>
          <p:cNvPr id="14" name="Shape 12"/>
          <p:cNvSpPr/>
          <p:nvPr/>
        </p:nvSpPr>
        <p:spPr>
          <a:xfrm>
            <a:off x="9613478" y="4100810"/>
            <a:ext cx="6388522" cy="9525"/>
          </a:xfrm>
          <a:prstGeom prst="rect">
            <a:avLst/>
          </a:prstGeom>
          <a:solidFill>
            <a:srgbClr val="201E1E">
              <a:alpha val="40000"/>
            </a:srgbClr>
          </a:solidFill>
          <a:ln/>
        </p:spPr>
        <p:txBody>
          <a:bodyPr/>
          <a:lstStyle/>
          <a:p>
            <a:endParaRPr lang="en-US"/>
          </a:p>
        </p:txBody>
      </p:sp>
      <p:sp>
        <p:nvSpPr>
          <p:cNvPr id="15" name="Text 13"/>
          <p:cNvSpPr/>
          <p:nvPr/>
        </p:nvSpPr>
        <p:spPr>
          <a:xfrm>
            <a:off x="9842078" y="3735785"/>
            <a:ext cx="6351577"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A customer, a document, a product, a tool</a:t>
            </a:r>
            <a:endParaRPr lang="en-US" sz="1875" dirty="0"/>
          </a:p>
        </p:txBody>
      </p:sp>
      <p:sp>
        <p:nvSpPr>
          <p:cNvPr id="16" name="Shape 14"/>
          <p:cNvSpPr/>
          <p:nvPr/>
        </p:nvSpPr>
        <p:spPr>
          <a:xfrm>
            <a:off x="1143000" y="4667622"/>
            <a:ext cx="1650206" cy="9525"/>
          </a:xfrm>
          <a:prstGeom prst="rect">
            <a:avLst/>
          </a:prstGeom>
          <a:solidFill>
            <a:srgbClr val="201E1E">
              <a:alpha val="40000"/>
            </a:srgbClr>
          </a:solidFill>
          <a:ln/>
        </p:spPr>
        <p:txBody>
          <a:bodyPr/>
          <a:lstStyle/>
          <a:p>
            <a:endParaRPr lang="en-US"/>
          </a:p>
        </p:txBody>
      </p:sp>
      <p:sp>
        <p:nvSpPr>
          <p:cNvPr id="17" name="Text 15"/>
          <p:cNvSpPr/>
          <p:nvPr/>
        </p:nvSpPr>
        <p:spPr>
          <a:xfrm>
            <a:off x="1143000" y="4307360"/>
            <a:ext cx="149780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Edge</a:t>
            </a:r>
            <a:endParaRPr lang="en-US" sz="1875" dirty="0"/>
          </a:p>
        </p:txBody>
      </p:sp>
      <p:sp>
        <p:nvSpPr>
          <p:cNvPr id="18" name="Shape 16"/>
          <p:cNvSpPr/>
          <p:nvPr/>
        </p:nvSpPr>
        <p:spPr>
          <a:xfrm>
            <a:off x="2793206" y="4667622"/>
            <a:ext cx="6820272" cy="9525"/>
          </a:xfrm>
          <a:prstGeom prst="rect">
            <a:avLst/>
          </a:prstGeom>
          <a:solidFill>
            <a:srgbClr val="201E1E">
              <a:alpha val="40000"/>
            </a:srgbClr>
          </a:solidFill>
          <a:ln/>
        </p:spPr>
        <p:txBody>
          <a:bodyPr/>
          <a:lstStyle/>
          <a:p>
            <a:endParaRPr lang="en-US"/>
          </a:p>
        </p:txBody>
      </p:sp>
      <p:sp>
        <p:nvSpPr>
          <p:cNvPr id="19" name="Text 17"/>
          <p:cNvSpPr/>
          <p:nvPr/>
        </p:nvSpPr>
        <p:spPr>
          <a:xfrm>
            <a:off x="3021806" y="4307360"/>
            <a:ext cx="656768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A relationship between two things</a:t>
            </a:r>
            <a:endParaRPr lang="en-US" sz="1875" dirty="0"/>
          </a:p>
        </p:txBody>
      </p:sp>
      <p:sp>
        <p:nvSpPr>
          <p:cNvPr id="20" name="Shape 18"/>
          <p:cNvSpPr/>
          <p:nvPr/>
        </p:nvSpPr>
        <p:spPr>
          <a:xfrm>
            <a:off x="9613478" y="4667622"/>
            <a:ext cx="6388522" cy="9525"/>
          </a:xfrm>
          <a:prstGeom prst="rect">
            <a:avLst/>
          </a:prstGeom>
          <a:solidFill>
            <a:srgbClr val="201E1E">
              <a:alpha val="40000"/>
            </a:srgbClr>
          </a:solidFill>
          <a:ln/>
        </p:spPr>
        <p:txBody>
          <a:bodyPr/>
          <a:lstStyle/>
          <a:p>
            <a:endParaRPr lang="en-US"/>
          </a:p>
        </p:txBody>
      </p:sp>
      <p:sp>
        <p:nvSpPr>
          <p:cNvPr id="21" name="Text 19"/>
          <p:cNvSpPr/>
          <p:nvPr/>
        </p:nvSpPr>
        <p:spPr>
          <a:xfrm>
            <a:off x="9842078" y="4307360"/>
            <a:ext cx="635157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"bought", "cites", "reports to", "calls"</a:t>
            </a:r>
            <a:endParaRPr lang="en-US" sz="1875" dirty="0"/>
          </a:p>
        </p:txBody>
      </p:sp>
      <p:sp>
        <p:nvSpPr>
          <p:cNvPr id="22" name="Shape 20"/>
          <p:cNvSpPr/>
          <p:nvPr/>
        </p:nvSpPr>
        <p:spPr>
          <a:xfrm>
            <a:off x="1143000" y="5234434"/>
            <a:ext cx="1650206" cy="9525"/>
          </a:xfrm>
          <a:prstGeom prst="rect">
            <a:avLst/>
          </a:prstGeom>
          <a:solidFill>
            <a:srgbClr val="201E1E">
              <a:alpha val="40000"/>
            </a:srgbClr>
          </a:solidFill>
          <a:ln/>
        </p:spPr>
        <p:txBody>
          <a:bodyPr/>
          <a:lstStyle/>
          <a:p>
            <a:endParaRPr lang="en-US"/>
          </a:p>
        </p:txBody>
      </p:sp>
      <p:sp>
        <p:nvSpPr>
          <p:cNvPr id="23" name="Text 21"/>
          <p:cNvSpPr/>
          <p:nvPr/>
        </p:nvSpPr>
        <p:spPr>
          <a:xfrm>
            <a:off x="1143000" y="4874172"/>
            <a:ext cx="149780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Direction</a:t>
            </a:r>
            <a:endParaRPr lang="en-US" sz="1875" dirty="0"/>
          </a:p>
        </p:txBody>
      </p:sp>
      <p:sp>
        <p:nvSpPr>
          <p:cNvPr id="24" name="Shape 22"/>
          <p:cNvSpPr/>
          <p:nvPr/>
        </p:nvSpPr>
        <p:spPr>
          <a:xfrm>
            <a:off x="2793206" y="5234434"/>
            <a:ext cx="6820272" cy="9525"/>
          </a:xfrm>
          <a:prstGeom prst="rect">
            <a:avLst/>
          </a:prstGeom>
          <a:solidFill>
            <a:srgbClr val="201E1E">
              <a:alpha val="40000"/>
            </a:srgbClr>
          </a:solidFill>
          <a:ln/>
        </p:spPr>
        <p:txBody>
          <a:bodyPr/>
          <a:lstStyle/>
          <a:p>
            <a:endParaRPr lang="en-US"/>
          </a:p>
        </p:txBody>
      </p:sp>
      <p:sp>
        <p:nvSpPr>
          <p:cNvPr id="25" name="Text 23"/>
          <p:cNvSpPr/>
          <p:nvPr/>
        </p:nvSpPr>
        <p:spPr>
          <a:xfrm>
            <a:off x="3021806" y="4874172"/>
            <a:ext cx="656768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Whether the edge runs one way or both</a:t>
            </a:r>
            <a:endParaRPr lang="en-US" sz="1875" dirty="0"/>
          </a:p>
        </p:txBody>
      </p:sp>
      <p:sp>
        <p:nvSpPr>
          <p:cNvPr id="26" name="Shape 24"/>
          <p:cNvSpPr/>
          <p:nvPr/>
        </p:nvSpPr>
        <p:spPr>
          <a:xfrm>
            <a:off x="9613478" y="5234434"/>
            <a:ext cx="6388522" cy="9525"/>
          </a:xfrm>
          <a:prstGeom prst="rect">
            <a:avLst/>
          </a:prstGeom>
          <a:solidFill>
            <a:srgbClr val="201E1E">
              <a:alpha val="40000"/>
            </a:srgbClr>
          </a:solidFill>
          <a:ln/>
        </p:spPr>
        <p:txBody>
          <a:bodyPr/>
          <a:lstStyle/>
          <a:p>
            <a:endParaRPr lang="en-US"/>
          </a:p>
        </p:txBody>
      </p:sp>
      <p:sp>
        <p:nvSpPr>
          <p:cNvPr id="27" name="Text 25"/>
          <p:cNvSpPr/>
          <p:nvPr/>
        </p:nvSpPr>
        <p:spPr>
          <a:xfrm>
            <a:off x="9842078" y="4874172"/>
            <a:ext cx="635157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"follows" is one-way; "is married to" is not</a:t>
            </a:r>
            <a:endParaRPr lang="en-US" sz="1875" dirty="0"/>
          </a:p>
        </p:txBody>
      </p:sp>
      <p:sp>
        <p:nvSpPr>
          <p:cNvPr id="28" name="Shape 26"/>
          <p:cNvSpPr/>
          <p:nvPr/>
        </p:nvSpPr>
        <p:spPr>
          <a:xfrm>
            <a:off x="1143000" y="5801246"/>
            <a:ext cx="1650206" cy="9525"/>
          </a:xfrm>
          <a:prstGeom prst="rect">
            <a:avLst/>
          </a:prstGeom>
          <a:solidFill>
            <a:srgbClr val="201E1E">
              <a:alpha val="40000"/>
            </a:srgbClr>
          </a:solidFill>
          <a:ln/>
        </p:spPr>
        <p:txBody>
          <a:bodyPr/>
          <a:lstStyle/>
          <a:p>
            <a:endParaRPr lang="en-US"/>
          </a:p>
        </p:txBody>
      </p:sp>
      <p:sp>
        <p:nvSpPr>
          <p:cNvPr id="29" name="Text 27"/>
          <p:cNvSpPr/>
          <p:nvPr/>
        </p:nvSpPr>
        <p:spPr>
          <a:xfrm>
            <a:off x="1143000" y="5440984"/>
            <a:ext cx="149780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Weight</a:t>
            </a:r>
            <a:endParaRPr lang="en-US" sz="1875" dirty="0"/>
          </a:p>
        </p:txBody>
      </p:sp>
      <p:sp>
        <p:nvSpPr>
          <p:cNvPr id="30" name="Shape 28"/>
          <p:cNvSpPr/>
          <p:nvPr/>
        </p:nvSpPr>
        <p:spPr>
          <a:xfrm>
            <a:off x="2793206" y="5801246"/>
            <a:ext cx="6820272" cy="9525"/>
          </a:xfrm>
          <a:prstGeom prst="rect">
            <a:avLst/>
          </a:prstGeom>
          <a:solidFill>
            <a:srgbClr val="201E1E">
              <a:alpha val="40000"/>
            </a:srgbClr>
          </a:solidFill>
          <a:ln/>
        </p:spPr>
        <p:txBody>
          <a:bodyPr/>
          <a:lstStyle/>
          <a:p>
            <a:endParaRPr lang="en-US"/>
          </a:p>
        </p:txBody>
      </p:sp>
      <p:sp>
        <p:nvSpPr>
          <p:cNvPr id="31" name="Text 29"/>
          <p:cNvSpPr/>
          <p:nvPr/>
        </p:nvSpPr>
        <p:spPr>
          <a:xfrm>
            <a:off x="3021806" y="5440984"/>
            <a:ext cx="656768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A number on the edge</a:t>
            </a:r>
            <a:endParaRPr lang="en-US" sz="1875" dirty="0"/>
          </a:p>
        </p:txBody>
      </p:sp>
      <p:sp>
        <p:nvSpPr>
          <p:cNvPr id="32" name="Shape 30"/>
          <p:cNvSpPr/>
          <p:nvPr/>
        </p:nvSpPr>
        <p:spPr>
          <a:xfrm>
            <a:off x="9613478" y="5801246"/>
            <a:ext cx="6388522" cy="9525"/>
          </a:xfrm>
          <a:prstGeom prst="rect">
            <a:avLst/>
          </a:prstGeom>
          <a:solidFill>
            <a:srgbClr val="201E1E">
              <a:alpha val="40000"/>
            </a:srgbClr>
          </a:solidFill>
          <a:ln/>
        </p:spPr>
        <p:txBody>
          <a:bodyPr/>
          <a:lstStyle/>
          <a:p>
            <a:endParaRPr lang="en-US"/>
          </a:p>
        </p:txBody>
      </p:sp>
      <p:sp>
        <p:nvSpPr>
          <p:cNvPr id="33" name="Text 31"/>
          <p:cNvSpPr/>
          <p:nvPr/>
        </p:nvSpPr>
        <p:spPr>
          <a:xfrm>
            <a:off x="9842078" y="5440984"/>
            <a:ext cx="635157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Strength, cost, distance, confidence</a:t>
            </a:r>
            <a:endParaRPr lang="en-US" sz="1875" dirty="0"/>
          </a:p>
        </p:txBody>
      </p:sp>
      <p:sp>
        <p:nvSpPr>
          <p:cNvPr id="34" name="Shape 32"/>
          <p:cNvSpPr/>
          <p:nvPr/>
        </p:nvSpPr>
        <p:spPr>
          <a:xfrm>
            <a:off x="1143000" y="6368058"/>
            <a:ext cx="1650206" cy="9525"/>
          </a:xfrm>
          <a:prstGeom prst="rect">
            <a:avLst/>
          </a:prstGeom>
          <a:solidFill>
            <a:srgbClr val="201E1E">
              <a:alpha val="40000"/>
            </a:srgbClr>
          </a:solidFill>
          <a:ln/>
        </p:spPr>
        <p:txBody>
          <a:bodyPr/>
          <a:lstStyle/>
          <a:p>
            <a:endParaRPr lang="en-US"/>
          </a:p>
        </p:txBody>
      </p:sp>
      <p:sp>
        <p:nvSpPr>
          <p:cNvPr id="35" name="Text 33"/>
          <p:cNvSpPr/>
          <p:nvPr/>
        </p:nvSpPr>
        <p:spPr>
          <a:xfrm>
            <a:off x="1143000" y="6007796"/>
            <a:ext cx="149780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Path</a:t>
            </a:r>
            <a:endParaRPr lang="en-US" sz="1875" dirty="0"/>
          </a:p>
        </p:txBody>
      </p:sp>
      <p:sp>
        <p:nvSpPr>
          <p:cNvPr id="36" name="Shape 34"/>
          <p:cNvSpPr/>
          <p:nvPr/>
        </p:nvSpPr>
        <p:spPr>
          <a:xfrm>
            <a:off x="2793206" y="6368058"/>
            <a:ext cx="6820272" cy="9525"/>
          </a:xfrm>
          <a:prstGeom prst="rect">
            <a:avLst/>
          </a:prstGeom>
          <a:solidFill>
            <a:srgbClr val="201E1E">
              <a:alpha val="40000"/>
            </a:srgbClr>
          </a:solidFill>
          <a:ln/>
        </p:spPr>
        <p:txBody>
          <a:bodyPr/>
          <a:lstStyle/>
          <a:p>
            <a:endParaRPr lang="en-US"/>
          </a:p>
        </p:txBody>
      </p:sp>
      <p:sp>
        <p:nvSpPr>
          <p:cNvPr id="37" name="Text 35"/>
          <p:cNvSpPr/>
          <p:nvPr/>
        </p:nvSpPr>
        <p:spPr>
          <a:xfrm>
            <a:off x="3021806" y="6007796"/>
            <a:ext cx="656768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A chain of edges from one node to another</a:t>
            </a:r>
            <a:endParaRPr lang="en-US" sz="1875" dirty="0"/>
          </a:p>
        </p:txBody>
      </p:sp>
      <p:sp>
        <p:nvSpPr>
          <p:cNvPr id="38" name="Shape 36"/>
          <p:cNvSpPr/>
          <p:nvPr/>
        </p:nvSpPr>
        <p:spPr>
          <a:xfrm>
            <a:off x="9613478" y="6368058"/>
            <a:ext cx="6388522" cy="9525"/>
          </a:xfrm>
          <a:prstGeom prst="rect">
            <a:avLst/>
          </a:prstGeom>
          <a:solidFill>
            <a:srgbClr val="201E1E">
              <a:alpha val="40000"/>
            </a:srgbClr>
          </a:solidFill>
          <a:ln/>
        </p:spPr>
        <p:txBody>
          <a:bodyPr/>
          <a:lstStyle/>
          <a:p>
            <a:endParaRPr lang="en-US"/>
          </a:p>
        </p:txBody>
      </p:sp>
      <p:sp>
        <p:nvSpPr>
          <p:cNvPr id="39" name="Text 37"/>
          <p:cNvSpPr/>
          <p:nvPr/>
        </p:nvSpPr>
        <p:spPr>
          <a:xfrm>
            <a:off x="9842078" y="6007796"/>
            <a:ext cx="635157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How many hops to get from A to B</a:t>
            </a:r>
            <a:endParaRPr lang="en-US" sz="1875" dirty="0"/>
          </a:p>
        </p:txBody>
      </p:sp>
      <p:sp>
        <p:nvSpPr>
          <p:cNvPr id="40" name="Shape 38"/>
          <p:cNvSpPr/>
          <p:nvPr/>
        </p:nvSpPr>
        <p:spPr>
          <a:xfrm>
            <a:off x="1143000" y="7165628"/>
            <a:ext cx="16002000" cy="19050"/>
          </a:xfrm>
          <a:prstGeom prst="rect">
            <a:avLst/>
          </a:prstGeom>
          <a:solidFill>
            <a:srgbClr val="EC3013"/>
          </a:solidFill>
          <a:ln/>
        </p:spPr>
        <p:txBody>
          <a:bodyPr/>
          <a:lstStyle/>
          <a:p>
            <a:endParaRPr lang="en-US"/>
          </a:p>
        </p:txBody>
      </p:sp>
      <p:sp>
        <p:nvSpPr>
          <p:cNvPr id="41" name="Text 39"/>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PRO TIP</a:t>
            </a:r>
            <a:endParaRPr lang="en-US" sz="1800" dirty="0"/>
          </a:p>
        </p:txBody>
      </p:sp>
      <p:sp>
        <p:nvSpPr>
          <p:cNvPr id="42" name="Text 40"/>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graph is also a matrix. The adjacency matrix has a 1 wherever an edge exists — which is why graph algorithms and matrix operations turn out to be the same subject wearing different clothes.</a:t>
            </a:r>
            <a:endParaRPr lang="en-US" sz="2100" dirty="0"/>
          </a:p>
        </p:txBody>
      </p:sp>
      <p:pic>
        <p:nvPicPr>
          <p:cNvPr id="43"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06 · AI APPLICATION MAPPING</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Where graphs show up in AI</a:t>
            </a:r>
            <a:endParaRPr lang="en-US" sz="4800" dirty="0"/>
          </a:p>
        </p:txBody>
      </p:sp>
      <p:sp>
        <p:nvSpPr>
          <p:cNvPr id="4" name="Shape 2"/>
          <p:cNvSpPr/>
          <p:nvPr/>
        </p:nvSpPr>
        <p:spPr>
          <a:xfrm>
            <a:off x="1143000" y="3190875"/>
            <a:ext cx="77724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Knowledge graphs</a:t>
            </a:r>
            <a:endParaRPr lang="en-US" sz="2550" dirty="0"/>
          </a:p>
        </p:txBody>
      </p:sp>
      <p:sp>
        <p:nvSpPr>
          <p:cNvPr id="6" name="Text 4"/>
          <p:cNvSpPr/>
          <p:nvPr/>
        </p:nvSpPr>
        <p:spPr>
          <a:xfrm>
            <a:off x="1143000" y="3931741"/>
            <a:ext cx="8005572"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Facts stored as subject-relation-object triples, so a model can look up what it does not reliably remember.</a:t>
            </a:r>
            <a:endParaRPr lang="en-US" sz="2100" dirty="0"/>
          </a:p>
        </p:txBody>
      </p:sp>
      <p:sp>
        <p:nvSpPr>
          <p:cNvPr id="7" name="Shape 5"/>
          <p:cNvSpPr/>
          <p:nvPr/>
        </p:nvSpPr>
        <p:spPr>
          <a:xfrm>
            <a:off x="9372600" y="3190875"/>
            <a:ext cx="7772400" cy="19050"/>
          </a:xfrm>
          <a:prstGeom prst="rect">
            <a:avLst/>
          </a:prstGeom>
          <a:solidFill>
            <a:srgbClr val="201E1E">
              <a:alpha val="40000"/>
            </a:srgbClr>
          </a:solidFill>
          <a:ln/>
        </p:spPr>
        <p:txBody>
          <a:bodyPr/>
          <a:lstStyle/>
          <a:p>
            <a:endParaRPr lang="en-US"/>
          </a:p>
        </p:txBody>
      </p:sp>
      <p:sp>
        <p:nvSpPr>
          <p:cNvPr id="8" name="Text 6"/>
          <p:cNvSpPr/>
          <p:nvPr/>
        </p:nvSpPr>
        <p:spPr>
          <a:xfrm>
            <a:off x="9372600" y="3425577"/>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GraphRAG</a:t>
            </a:r>
            <a:endParaRPr lang="en-US" sz="2550" dirty="0"/>
          </a:p>
        </p:txBody>
      </p:sp>
      <p:sp>
        <p:nvSpPr>
          <p:cNvPr id="9" name="Text 7"/>
          <p:cNvSpPr/>
          <p:nvPr/>
        </p:nvSpPr>
        <p:spPr>
          <a:xfrm>
            <a:off x="9372600" y="3931741"/>
            <a:ext cx="8005572"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Retrieval that walks relationships instead of measuring distance — the fix for multi-hop questions.</a:t>
            </a:r>
            <a:endParaRPr lang="en-US" sz="2100" dirty="0"/>
          </a:p>
        </p:txBody>
      </p:sp>
      <p:sp>
        <p:nvSpPr>
          <p:cNvPr id="10" name="Shape 8"/>
          <p:cNvSpPr/>
          <p:nvPr/>
        </p:nvSpPr>
        <p:spPr>
          <a:xfrm>
            <a:off x="1143000" y="5396173"/>
            <a:ext cx="7772400" cy="19050"/>
          </a:xfrm>
          <a:prstGeom prst="rect">
            <a:avLst/>
          </a:prstGeom>
          <a:solidFill>
            <a:srgbClr val="201E1E">
              <a:alpha val="40000"/>
            </a:srgbClr>
          </a:solidFill>
          <a:ln/>
        </p:spPr>
        <p:txBody>
          <a:bodyPr/>
          <a:lstStyle/>
          <a:p>
            <a:endParaRPr lang="en-US"/>
          </a:p>
        </p:txBody>
      </p:sp>
      <p:sp>
        <p:nvSpPr>
          <p:cNvPr id="11" name="Text 9"/>
          <p:cNvSpPr/>
          <p:nvPr/>
        </p:nvSpPr>
        <p:spPr>
          <a:xfrm>
            <a:off x="1143000" y="5630875"/>
            <a:ext cx="8549640" cy="270049"/>
          </a:xfrm>
          <a:prstGeom prst="rect">
            <a:avLst/>
          </a:prstGeom>
          <a:noFill/>
          <a:ln/>
        </p:spPr>
        <p:txBody>
          <a:bodyPr wrap="square" lIns="25400" tIns="25400" rIns="25400" bIns="25400" rtlCol="0" anchor="t">
            <a:no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Agent routing</a:t>
            </a:r>
            <a:endParaRPr lang="en-US" sz="2550" dirty="0"/>
          </a:p>
        </p:txBody>
      </p:sp>
      <p:sp>
        <p:nvSpPr>
          <p:cNvPr id="12" name="Text 10"/>
          <p:cNvSpPr/>
          <p:nvPr/>
        </p:nvSpPr>
        <p:spPr>
          <a:xfrm>
            <a:off x="1143000" y="6137039"/>
            <a:ext cx="8005572" cy="678284"/>
          </a:xfrm>
          <a:prstGeom prst="rect">
            <a:avLst/>
          </a:prstGeom>
          <a:noFill/>
          <a:ln/>
        </p:spPr>
        <p:txBody>
          <a:bodyPr wrap="square" lIns="25400" tIns="25400" rIns="25400" bIns="25400" rtlCol="0" anchor="t">
            <a:no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An agent's plan is a path: tools are nodes, and the sequence of calls is the route through them.</a:t>
            </a:r>
            <a:endParaRPr lang="en-US" sz="2100" dirty="0"/>
          </a:p>
        </p:txBody>
      </p:sp>
      <p:sp>
        <p:nvSpPr>
          <p:cNvPr id="13" name="Shape 11"/>
          <p:cNvSpPr/>
          <p:nvPr/>
        </p:nvSpPr>
        <p:spPr>
          <a:xfrm>
            <a:off x="9372600" y="5383294"/>
            <a:ext cx="7772400" cy="19050"/>
          </a:xfrm>
          <a:prstGeom prst="rect">
            <a:avLst/>
          </a:prstGeom>
          <a:solidFill>
            <a:srgbClr val="201E1E">
              <a:alpha val="40000"/>
            </a:srgbClr>
          </a:solidFill>
          <a:ln/>
        </p:spPr>
        <p:txBody>
          <a:bodyPr/>
          <a:lstStyle/>
          <a:p>
            <a:endParaRPr lang="en-US"/>
          </a:p>
        </p:txBody>
      </p:sp>
      <p:sp>
        <p:nvSpPr>
          <p:cNvPr id="14" name="Text 12"/>
          <p:cNvSpPr/>
          <p:nvPr/>
        </p:nvSpPr>
        <p:spPr>
          <a:xfrm>
            <a:off x="9372600" y="5630875"/>
            <a:ext cx="8549640" cy="270049"/>
          </a:xfrm>
          <a:prstGeom prst="rect">
            <a:avLst/>
          </a:prstGeom>
          <a:noFill/>
          <a:ln/>
        </p:spPr>
        <p:txBody>
          <a:bodyPr wrap="square" lIns="25400" tIns="25400" rIns="25400" bIns="25400" rtlCol="0" anchor="t">
            <a:no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Fraud rings</a:t>
            </a:r>
            <a:endParaRPr lang="en-US" sz="2550" dirty="0"/>
          </a:p>
        </p:txBody>
      </p:sp>
      <p:sp>
        <p:nvSpPr>
          <p:cNvPr id="15" name="Text 13"/>
          <p:cNvSpPr/>
          <p:nvPr/>
        </p:nvSpPr>
        <p:spPr>
          <a:xfrm>
            <a:off x="9372600" y="6137039"/>
            <a:ext cx="8005572" cy="678284"/>
          </a:xfrm>
          <a:prstGeom prst="rect">
            <a:avLst/>
          </a:prstGeom>
          <a:noFill/>
          <a:ln/>
        </p:spPr>
        <p:txBody>
          <a:bodyPr wrap="square" lIns="25400" tIns="25400" rIns="25400" bIns="25400" rtlCol="0" anchor="t">
            <a:no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Individually innocent accounts that form a dense cluster of shared devices, addresses and transfers.</a:t>
            </a:r>
            <a:endParaRPr lang="en-US" sz="2100" dirty="0"/>
          </a:p>
        </p:txBody>
      </p:sp>
      <p:sp>
        <p:nvSpPr>
          <p:cNvPr id="16" name="Shape 14"/>
          <p:cNvSpPr/>
          <p:nvPr/>
        </p:nvSpPr>
        <p:spPr>
          <a:xfrm>
            <a:off x="1143000" y="7486175"/>
            <a:ext cx="14859000" cy="19050"/>
          </a:xfrm>
          <a:prstGeom prst="rect">
            <a:avLst/>
          </a:prstGeom>
          <a:solidFill>
            <a:srgbClr val="EC3013"/>
          </a:solidFill>
          <a:ln/>
        </p:spPr>
        <p:txBody>
          <a:bodyPr/>
          <a:lstStyle/>
          <a:p>
            <a:endParaRPr lang="en-US"/>
          </a:p>
        </p:txBody>
      </p:sp>
      <p:sp>
        <p:nvSpPr>
          <p:cNvPr id="17" name="Text 15"/>
          <p:cNvSpPr/>
          <p:nvPr/>
        </p:nvSpPr>
        <p:spPr>
          <a:xfrm>
            <a:off x="1143000" y="7634138"/>
            <a:ext cx="16344900" cy="227558"/>
          </a:xfrm>
          <a:prstGeom prst="rect">
            <a:avLst/>
          </a:prstGeom>
          <a:noFill/>
          <a:ln/>
        </p:spPr>
        <p:txBody>
          <a:bodyPr wrap="square" lIns="25400" tIns="25400" rIns="25400" bIns="25400" rtlCol="0" anchor="t">
            <a:noAutofit/>
          </a:bodyPr>
          <a:lstStyle/>
          <a:p>
            <a:pPr marL="0" indent="0" algn="l">
              <a:lnSpc>
                <a:spcPct val="119403"/>
              </a:lnSpc>
              <a:buNone/>
            </a:pPr>
            <a:r>
              <a:rPr lang="en-US" b="1" dirty="0">
                <a:solidFill>
                  <a:srgbClr val="201E1D"/>
                </a:solidFill>
                <a:latin typeface="Arial" pitchFamily="34" charset="0"/>
                <a:ea typeface="Arial" pitchFamily="34" charset="-122"/>
                <a:cs typeface="Arial" pitchFamily="34" charset="-120"/>
              </a:rPr>
              <a:t>Try it yourself. </a:t>
            </a:r>
            <a:r>
              <a:rPr lang="en-US" dirty="0">
                <a:solidFill>
                  <a:srgbClr val="201E1D"/>
                </a:solidFill>
                <a:latin typeface="Arial" pitchFamily="34" charset="0"/>
                <a:ea typeface="Arial" pitchFamily="34" charset="-122"/>
                <a:cs typeface="Arial" pitchFamily="34" charset="-120"/>
              </a:rPr>
              <a:t>"Which of our suppliers depend on a supplier that depends on this factory?" Vector search or graph?</a:t>
            </a:r>
            <a:endParaRPr lang="en-US" dirty="0"/>
          </a:p>
        </p:txBody>
      </p:sp>
      <p:sp>
        <p:nvSpPr>
          <p:cNvPr id="18" name="Text 16"/>
          <p:cNvSpPr/>
          <p:nvPr/>
        </p:nvSpPr>
        <p:spPr>
          <a:xfrm>
            <a:off x="1143000" y="7990581"/>
            <a:ext cx="16344900" cy="194890"/>
          </a:xfrm>
          <a:prstGeom prst="rect">
            <a:avLst/>
          </a:prstGeom>
          <a:noFill/>
          <a:ln/>
        </p:spPr>
        <p:txBody>
          <a:bodyPr wrap="square" lIns="25400" tIns="25400" rIns="25400" bIns="25400" rtlCol="0" anchor="t">
            <a:noAutofit/>
          </a:bodyPr>
          <a:lstStyle/>
          <a:p>
            <a:pPr marL="0" indent="0" algn="l">
              <a:lnSpc>
                <a:spcPct val="138182"/>
              </a:lnSpc>
              <a:buNone/>
            </a:pPr>
            <a:r>
              <a:rPr lang="en-US" dirty="0">
                <a:solidFill>
                  <a:srgbClr val="211D1D">
                    <a:alpha val="55000"/>
                  </a:srgbClr>
                </a:solidFill>
                <a:latin typeface="Arial" pitchFamily="34" charset="0"/>
                <a:ea typeface="Arial" pitchFamily="34" charset="-122"/>
                <a:cs typeface="Arial" pitchFamily="34" charset="-120"/>
              </a:rPr>
              <a:t>Graph. It is a two-hop relationship question, and embedding distance has no way to express "depends on, twice".</a:t>
            </a:r>
            <a:endParaRPr lang="en-US" dirty="0"/>
          </a:p>
        </p:txBody>
      </p:sp>
      <p:pic>
        <p:nvPicPr>
          <p:cNvPr id="19"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9">
    <p:bg>
      <p:bgPr>
        <a:solidFill>
          <a:srgbClr val="2D2B2B"/>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FF9783"/>
                </a:solidFill>
                <a:latin typeface="Arial" pitchFamily="34" charset="0"/>
                <a:ea typeface="Arial" pitchFamily="34" charset="-122"/>
                <a:cs typeface="Arial" pitchFamily="34" charset="-120"/>
              </a:rPr>
              <a:t>PART 2 · SELF-CHECK</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F3F2F2"/>
                </a:solidFill>
                <a:latin typeface="Arial" pitchFamily="34" charset="0"/>
                <a:ea typeface="Arial" pitchFamily="34" charset="-122"/>
                <a:cs typeface="Arial" pitchFamily="34" charset="-120"/>
              </a:rPr>
              <a:t>Before we move on</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F3F2F2">
                    <a:alpha val="75000"/>
                  </a:srgbClr>
                </a:solidFill>
                <a:latin typeface="Arial" pitchFamily="34" charset="0"/>
                <a:ea typeface="Arial" pitchFamily="34" charset="-122"/>
                <a:cs typeface="Arial" pitchFamily="34" charset="-120"/>
              </a:rPr>
              <a:t>Five questions on representation. Part 3 assumes all five.</a:t>
            </a:r>
            <a:endParaRPr lang="en-US" sz="2100" dirty="0"/>
          </a:p>
        </p:txBody>
      </p:sp>
      <p:sp>
        <p:nvSpPr>
          <p:cNvPr id="5" name="Text 3"/>
          <p:cNvSpPr/>
          <p:nvPr/>
        </p:nvSpPr>
        <p:spPr>
          <a:xfrm>
            <a:off x="942975" y="3804419"/>
            <a:ext cx="11896725" cy="2691259"/>
          </a:xfrm>
          <a:prstGeom prst="rect">
            <a:avLst/>
          </a:prstGeom>
          <a:noFill/>
          <a:ln/>
        </p:spPr>
        <p:txBody>
          <a:bodyPr wrap="square" lIns="25400" tIns="25400" rIns="25400" bIns="25400" rtlCol="0" anchor="t">
            <a:normAutofit/>
          </a:bodyPr>
          <a:lstStyle/>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What is the difference between a vector and an embedding?</a:t>
            </a:r>
            <a:endParaRPr lang="en-US" sz="2250" dirty="0"/>
          </a:p>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Why does the Euclidean distance formula square the differences before adding them?</a:t>
            </a:r>
            <a:endParaRPr lang="en-US" sz="2250" dirty="0"/>
          </a:p>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Two documents on the same topic, one ten times longer. Which metric handles that correctly, and why?</a:t>
            </a:r>
            <a:endParaRPr lang="en-US" sz="2250" dirty="0"/>
          </a:p>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Your retriever's best score is 0.31. What should the system do?</a:t>
            </a:r>
            <a:endParaRPr lang="en-US" sz="2250" dirty="0"/>
          </a:p>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When is a graph the right structure and an embedding the wrong one?</a:t>
            </a:r>
            <a:endParaRPr lang="en-US" sz="2250" dirty="0"/>
          </a:p>
        </p:txBody>
      </p:sp>
      <p:pic>
        <p:nvPicPr>
          <p:cNvPr id="6"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0">
    <p:bg>
      <p:bgPr>
        <a:solidFill>
          <a:srgbClr val="EC3013"/>
        </a:solidFill>
        <a:effectLst/>
      </p:bgPr>
    </p:bg>
    <p:spTree>
      <p:nvGrpSpPr>
        <p:cNvPr id="1" name=""/>
        <p:cNvGrpSpPr/>
        <p:nvPr/>
      </p:nvGrpSpPr>
      <p:grpSpPr>
        <a:xfrm>
          <a:off x="0" y="0"/>
          <a:ext cx="0" cy="0"/>
          <a:chOff x="0" y="0"/>
          <a:chExt cx="0" cy="0"/>
        </a:xfrm>
      </p:grpSpPr>
      <p:sp>
        <p:nvSpPr>
          <p:cNvPr id="2" name="Text 0"/>
          <p:cNvSpPr/>
          <p:nvPr/>
        </p:nvSpPr>
        <p:spPr>
          <a:xfrm>
            <a:off x="1031602" y="2553444"/>
            <a:ext cx="2921176" cy="2266950"/>
          </a:xfrm>
          <a:prstGeom prst="rect">
            <a:avLst/>
          </a:prstGeom>
          <a:noFill/>
          <a:ln/>
        </p:spPr>
        <p:txBody>
          <a:bodyPr wrap="square" lIns="25400" tIns="25400" rIns="25400" bIns="25400" rtlCol="0" anchor="t">
            <a:normAutofit lnSpcReduction="10000"/>
          </a:bodyPr>
          <a:lstStyle/>
          <a:p>
            <a:pPr marL="0" indent="0" algn="l">
              <a:lnSpc>
                <a:spcPct val="78261"/>
              </a:lnSpc>
              <a:buNone/>
            </a:pPr>
            <a:r>
              <a:rPr lang="en-US" sz="19500" b="1" kern="0" spc="-390" dirty="0">
                <a:solidFill>
                  <a:srgbClr val="AE1800"/>
                </a:solidFill>
                <a:latin typeface="Arial" pitchFamily="34" charset="0"/>
                <a:ea typeface="Arial" pitchFamily="34" charset="-122"/>
                <a:cs typeface="Arial" pitchFamily="34" charset="-120"/>
              </a:rPr>
              <a:t>03</a:t>
            </a:r>
            <a:endParaRPr lang="en-US" sz="19500" dirty="0"/>
          </a:p>
        </p:txBody>
      </p:sp>
      <p:sp>
        <p:nvSpPr>
          <p:cNvPr id="3" name="Text 1"/>
          <p:cNvSpPr/>
          <p:nvPr/>
        </p:nvSpPr>
        <p:spPr>
          <a:xfrm>
            <a:off x="1107652" y="5239494"/>
            <a:ext cx="7631613" cy="474762"/>
          </a:xfrm>
          <a:prstGeom prst="rect">
            <a:avLst/>
          </a:prstGeom>
          <a:noFill/>
          <a:ln/>
        </p:spPr>
        <p:txBody>
          <a:bodyPr wrap="square" lIns="25400" tIns="25400" rIns="25400" bIns="25400" rtlCol="0" anchor="t">
            <a:noAutofit/>
          </a:bodyPr>
          <a:lstStyle/>
          <a:p>
            <a:pPr marL="0" indent="0" algn="l">
              <a:lnSpc>
                <a:spcPct val="97959"/>
              </a:lnSpc>
              <a:buNone/>
            </a:pPr>
            <a:r>
              <a:rPr lang="en-US" sz="4800" b="1" kern="0" spc="-72" dirty="0">
                <a:solidFill>
                  <a:srgbClr val="F3F2F2"/>
                </a:solidFill>
                <a:latin typeface="Arial" pitchFamily="34" charset="0"/>
                <a:ea typeface="Arial" pitchFamily="34" charset="-122"/>
                <a:cs typeface="Arial" pitchFamily="34" charset="-120"/>
              </a:rPr>
              <a:t>Matrices &amp; Tensors</a:t>
            </a:r>
            <a:endParaRPr lang="en-US" sz="4800" dirty="0"/>
          </a:p>
        </p:txBody>
      </p:sp>
      <p:sp>
        <p:nvSpPr>
          <p:cNvPr id="4" name="Text 2"/>
          <p:cNvSpPr/>
          <p:nvPr/>
        </p:nvSpPr>
        <p:spPr>
          <a:xfrm>
            <a:off x="1143000" y="6133356"/>
            <a:ext cx="8989790" cy="14097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3000" dirty="0">
                <a:solidFill>
                  <a:srgbClr val="F3F2F2"/>
                </a:solidFill>
                <a:latin typeface="Arial" pitchFamily="34" charset="0"/>
                <a:ea typeface="Arial" pitchFamily="34" charset="-122"/>
                <a:cs typeface="Arial" pitchFamily="34" charset="-120"/>
              </a:rPr>
              <a:t>Shapes · Addition · Scaling · Multiplication · Transpose · Identity · Inverse · Determinant · Attention</a:t>
            </a:r>
            <a:endParaRPr lang="en-US" sz="3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MATRICES, TENSORS &amp; TRANSFORMER OPERATIONS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Do I need this?</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Yes, if you…</a:t>
            </a:r>
            <a:endParaRPr lang="en-US" sz="2550" dirty="0"/>
          </a:p>
        </p:txBody>
      </p:sp>
      <p:sp>
        <p:nvSpPr>
          <p:cNvPr id="6" name="Text 4"/>
          <p:cNvSpPr/>
          <p:nvPr/>
        </p:nvSpPr>
        <p:spPr>
          <a:xfrm>
            <a:off x="1143000" y="39317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Read a model card, debug a shape error, size GPU memory, or want to know what "attention" actually computes.</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What breaks without it</a:t>
            </a:r>
            <a:endParaRPr lang="en-US" sz="2550" dirty="0"/>
          </a:p>
        </p:txBody>
      </p:sp>
      <p:sp>
        <p:nvSpPr>
          <p:cNvPr id="9" name="Text 7"/>
          <p:cNvSpPr/>
          <p:nvPr/>
        </p:nvSpPr>
        <p:spPr>
          <a:xfrm>
            <a:off x="6629400" y="3931741"/>
            <a:ext cx="5180076" cy="15926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Every architecture diagram stays decorative, every shape mismatch is a stack-overflow search, and batching stays magic.</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Time to competence</a:t>
            </a:r>
            <a:endParaRPr lang="en-US" sz="2550" dirty="0"/>
          </a:p>
        </p:txBody>
      </p:sp>
      <p:sp>
        <p:nvSpPr>
          <p:cNvPr id="12" name="Text 10"/>
          <p:cNvSpPr/>
          <p:nvPr/>
        </p:nvSpPr>
        <p:spPr>
          <a:xfrm>
            <a:off x="12115800" y="3931741"/>
            <a:ext cx="5180076" cy="11354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day for the operations, a week for fluency. The single most reusable topic in this session.</a:t>
            </a:r>
            <a:endParaRPr lang="en-US" sz="2100" dirty="0"/>
          </a:p>
        </p:txBody>
      </p:sp>
      <p:sp>
        <p:nvSpPr>
          <p:cNvPr id="13" name="Shape 11"/>
          <p:cNvSpPr/>
          <p:nvPr/>
        </p:nvSpPr>
        <p:spPr>
          <a:xfrm>
            <a:off x="1143000" y="7165628"/>
            <a:ext cx="16002000" cy="19050"/>
          </a:xfrm>
          <a:prstGeom prst="rect">
            <a:avLst/>
          </a:prstGeom>
          <a:solidFill>
            <a:srgbClr val="EC3013"/>
          </a:solidFill>
          <a:ln/>
        </p:spPr>
        <p:txBody>
          <a:bodyPr/>
          <a:lstStyle/>
          <a:p>
            <a:endParaRPr lang="en-US"/>
          </a:p>
        </p:txBody>
      </p:sp>
      <p:sp>
        <p:nvSpPr>
          <p:cNvPr id="14" name="Text 12"/>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15" name="Text 13"/>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Transformers — the architecture behind every current frontier model — run almost entirely on matrix and tensor operations. Attention itself is three matrix multiplications and a softmax.</a:t>
            </a:r>
            <a:endParaRPr lang="en-US" sz="2100" dirty="0"/>
          </a:p>
        </p:txBody>
      </p:sp>
      <p:pic>
        <p:nvPicPr>
          <p:cNvPr id="16"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PRACTICAL INTUITION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Scalar, vector, matrix, tensor</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Each step adds one dimension. Nothing new is introduced — the container just gets one axis deeper.</a:t>
            </a:r>
            <a:endParaRPr lang="en-US" sz="2100" dirty="0"/>
          </a:p>
        </p:txBody>
      </p:sp>
      <p:sp>
        <p:nvSpPr>
          <p:cNvPr id="5" name="Shape 3"/>
          <p:cNvSpPr/>
          <p:nvPr/>
        </p:nvSpPr>
        <p:spPr>
          <a:xfrm>
            <a:off x="1143000" y="3771900"/>
            <a:ext cx="3657600" cy="19050"/>
          </a:xfrm>
          <a:prstGeom prst="rect">
            <a:avLst/>
          </a:prstGeom>
          <a:solidFill>
            <a:srgbClr val="201E1E">
              <a:alpha val="40000"/>
            </a:srgbClr>
          </a:solidFill>
          <a:ln/>
        </p:spPr>
        <p:txBody>
          <a:bodyPr/>
          <a:lstStyle/>
          <a:p>
            <a:endParaRPr lang="en-US"/>
          </a:p>
        </p:txBody>
      </p:sp>
      <p:sp>
        <p:nvSpPr>
          <p:cNvPr id="6" name="Text 4"/>
          <p:cNvSpPr/>
          <p:nvPr/>
        </p:nvSpPr>
        <p:spPr>
          <a:xfrm>
            <a:off x="1143000" y="4150072"/>
            <a:ext cx="402336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0-D</a:t>
            </a:r>
            <a:endParaRPr lang="en-US" sz="1800" dirty="0"/>
          </a:p>
        </p:txBody>
      </p:sp>
      <p:sp>
        <p:nvSpPr>
          <p:cNvPr id="7" name="Text 5"/>
          <p:cNvSpPr/>
          <p:nvPr/>
        </p:nvSpPr>
        <p:spPr>
          <a:xfrm>
            <a:off x="1143000" y="4572967"/>
            <a:ext cx="402336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Scalar</a:t>
            </a:r>
            <a:endParaRPr lang="en-US" sz="2100" dirty="0"/>
          </a:p>
        </p:txBody>
      </p:sp>
      <p:sp>
        <p:nvSpPr>
          <p:cNvPr id="8" name="Text 6"/>
          <p:cNvSpPr/>
          <p:nvPr/>
        </p:nvSpPr>
        <p:spPr>
          <a:xfrm>
            <a:off x="1143000" y="5064323"/>
            <a:ext cx="3767328" cy="652090"/>
          </a:xfrm>
          <a:prstGeom prst="rect">
            <a:avLst/>
          </a:prstGeom>
          <a:noFill/>
          <a:ln/>
        </p:spPr>
        <p:txBody>
          <a:bodyPr wrap="square" lIns="25400" tIns="25400" rIns="25400" bIns="25400" rtlCol="0" anchor="t">
            <a:normAutofit fontScale="70000" lnSpcReduction="200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A single number. </a:t>
            </a:r>
            <a:r>
              <a:rPr lang="en-US" sz="1800" b="1" dirty="0">
                <a:solidFill>
                  <a:srgbClr val="201E1D"/>
                </a:solidFill>
                <a:latin typeface="Arial" pitchFamily="34" charset="0"/>
                <a:ea typeface="Arial" pitchFamily="34" charset="-122"/>
                <a:cs typeface="Arial" pitchFamily="34" charset="-120"/>
              </a:rPr>
              <a:t>7 </a:t>
            </a:r>
            <a:r>
              <a:rPr lang="en-US" sz="1800" dirty="0">
                <a:solidFill>
                  <a:srgbClr val="201E1D"/>
                </a:solidFill>
                <a:latin typeface="Arial" pitchFamily="34" charset="0"/>
                <a:ea typeface="Arial" pitchFamily="34" charset="-122"/>
                <a:cs typeface="Arial" pitchFamily="34" charset="-120"/>
              </a:rPr>
              <a:t>. A temperature, a loss value, a learning rate.</a:t>
            </a:r>
            <a:endParaRPr lang="en-US" sz="1800" dirty="0"/>
          </a:p>
        </p:txBody>
      </p:sp>
      <p:sp>
        <p:nvSpPr>
          <p:cNvPr id="9" name="Shape 7"/>
          <p:cNvSpPr/>
          <p:nvPr/>
        </p:nvSpPr>
        <p:spPr>
          <a:xfrm>
            <a:off x="5257800" y="3771900"/>
            <a:ext cx="3657600" cy="19050"/>
          </a:xfrm>
          <a:prstGeom prst="rect">
            <a:avLst/>
          </a:prstGeom>
          <a:solidFill>
            <a:srgbClr val="201E1E">
              <a:alpha val="40000"/>
            </a:srgbClr>
          </a:solidFill>
          <a:ln/>
        </p:spPr>
        <p:txBody>
          <a:bodyPr/>
          <a:lstStyle/>
          <a:p>
            <a:endParaRPr lang="en-US"/>
          </a:p>
        </p:txBody>
      </p:sp>
      <p:sp>
        <p:nvSpPr>
          <p:cNvPr id="10" name="Text 8"/>
          <p:cNvSpPr/>
          <p:nvPr/>
        </p:nvSpPr>
        <p:spPr>
          <a:xfrm>
            <a:off x="5257800" y="4150072"/>
            <a:ext cx="402336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1-D</a:t>
            </a:r>
            <a:endParaRPr lang="en-US" sz="1800" dirty="0"/>
          </a:p>
        </p:txBody>
      </p:sp>
      <p:sp>
        <p:nvSpPr>
          <p:cNvPr id="11" name="Text 9"/>
          <p:cNvSpPr/>
          <p:nvPr/>
        </p:nvSpPr>
        <p:spPr>
          <a:xfrm>
            <a:off x="5257800" y="4572967"/>
            <a:ext cx="402336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Vector</a:t>
            </a:r>
            <a:endParaRPr lang="en-US" sz="2100" dirty="0"/>
          </a:p>
        </p:txBody>
      </p:sp>
      <p:sp>
        <p:nvSpPr>
          <p:cNvPr id="12" name="Text 10"/>
          <p:cNvSpPr/>
          <p:nvPr/>
        </p:nvSpPr>
        <p:spPr>
          <a:xfrm>
            <a:off x="5257800" y="5064323"/>
            <a:ext cx="3767328" cy="652090"/>
          </a:xfrm>
          <a:prstGeom prst="rect">
            <a:avLst/>
          </a:prstGeom>
          <a:noFill/>
          <a:ln/>
        </p:spPr>
        <p:txBody>
          <a:bodyPr wrap="square" lIns="25400" tIns="25400" rIns="25400" bIns="25400" rtlCol="0" anchor="t">
            <a:normAutofit fontScale="70000" lnSpcReduction="200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A list. </a:t>
            </a:r>
            <a:r>
              <a:rPr lang="en-US" sz="1800" b="1" dirty="0">
                <a:solidFill>
                  <a:srgbClr val="201E1D"/>
                </a:solidFill>
                <a:latin typeface="Arial" pitchFamily="34" charset="0"/>
                <a:ea typeface="Arial" pitchFamily="34" charset="-122"/>
                <a:cs typeface="Arial" pitchFamily="34" charset="-120"/>
              </a:rPr>
              <a:t>[7, 2, 9] </a:t>
            </a:r>
            <a:r>
              <a:rPr lang="en-US" sz="1800" dirty="0">
                <a:solidFill>
                  <a:srgbClr val="201E1D"/>
                </a:solidFill>
                <a:latin typeface="Arial" pitchFamily="34" charset="0"/>
                <a:ea typeface="Arial" pitchFamily="34" charset="-122"/>
                <a:cs typeface="Arial" pitchFamily="34" charset="-120"/>
              </a:rPr>
              <a:t>. One embedding, one row of features.</a:t>
            </a:r>
            <a:endParaRPr lang="en-US" sz="1800" dirty="0"/>
          </a:p>
        </p:txBody>
      </p:sp>
      <p:sp>
        <p:nvSpPr>
          <p:cNvPr id="13" name="Shape 11"/>
          <p:cNvSpPr/>
          <p:nvPr/>
        </p:nvSpPr>
        <p:spPr>
          <a:xfrm>
            <a:off x="9372600" y="3771900"/>
            <a:ext cx="3657600" cy="19050"/>
          </a:xfrm>
          <a:prstGeom prst="rect">
            <a:avLst/>
          </a:prstGeom>
          <a:solidFill>
            <a:srgbClr val="201E1E">
              <a:alpha val="40000"/>
            </a:srgbClr>
          </a:solidFill>
          <a:ln/>
        </p:spPr>
        <p:txBody>
          <a:bodyPr/>
          <a:lstStyle/>
          <a:p>
            <a:endParaRPr lang="en-US"/>
          </a:p>
        </p:txBody>
      </p:sp>
      <p:sp>
        <p:nvSpPr>
          <p:cNvPr id="14" name="Text 12"/>
          <p:cNvSpPr/>
          <p:nvPr/>
        </p:nvSpPr>
        <p:spPr>
          <a:xfrm>
            <a:off x="9372600" y="4150072"/>
            <a:ext cx="402336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2-D</a:t>
            </a:r>
            <a:endParaRPr lang="en-US" sz="1800" dirty="0"/>
          </a:p>
        </p:txBody>
      </p:sp>
      <p:sp>
        <p:nvSpPr>
          <p:cNvPr id="15" name="Text 13"/>
          <p:cNvSpPr/>
          <p:nvPr/>
        </p:nvSpPr>
        <p:spPr>
          <a:xfrm>
            <a:off x="9372600" y="4572967"/>
            <a:ext cx="402336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Matrix</a:t>
            </a:r>
            <a:endParaRPr lang="en-US" sz="2100" dirty="0"/>
          </a:p>
        </p:txBody>
      </p:sp>
      <p:sp>
        <p:nvSpPr>
          <p:cNvPr id="16" name="Text 14"/>
          <p:cNvSpPr/>
          <p:nvPr/>
        </p:nvSpPr>
        <p:spPr>
          <a:xfrm>
            <a:off x="9372600" y="5064323"/>
            <a:ext cx="3767328" cy="652090"/>
          </a:xfrm>
          <a:prstGeom prst="rect">
            <a:avLst/>
          </a:prstGeom>
          <a:noFill/>
          <a:ln/>
        </p:spPr>
        <p:txBody>
          <a:bodyPr wrap="square" lIns="25400" tIns="25400" rIns="25400" bIns="25400" rtlCol="0" anchor="t">
            <a:normAutofit fontScale="70000" lnSpcReduction="200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A grid. </a:t>
            </a:r>
            <a:r>
              <a:rPr lang="en-US" sz="1800" b="1" dirty="0">
                <a:solidFill>
                  <a:srgbClr val="201E1D"/>
                </a:solidFill>
                <a:latin typeface="Arial" pitchFamily="34" charset="0"/>
                <a:ea typeface="Arial" pitchFamily="34" charset="-122"/>
                <a:cs typeface="Arial" pitchFamily="34" charset="-120"/>
              </a:rPr>
              <a:t>[[7, 2], [9, 4]] </a:t>
            </a:r>
            <a:r>
              <a:rPr lang="en-US" sz="1800" dirty="0">
                <a:solidFill>
                  <a:srgbClr val="201E1D"/>
                </a:solidFill>
                <a:latin typeface="Arial" pitchFamily="34" charset="0"/>
                <a:ea typeface="Arial" pitchFamily="34" charset="-122"/>
                <a:cs typeface="Arial" pitchFamily="34" charset="-120"/>
              </a:rPr>
              <a:t>. A batch of embeddings, a weight layer.</a:t>
            </a:r>
            <a:endParaRPr lang="en-US" sz="1800" dirty="0"/>
          </a:p>
        </p:txBody>
      </p:sp>
      <p:sp>
        <p:nvSpPr>
          <p:cNvPr id="17" name="Shape 15"/>
          <p:cNvSpPr/>
          <p:nvPr/>
        </p:nvSpPr>
        <p:spPr>
          <a:xfrm>
            <a:off x="13487400" y="3771900"/>
            <a:ext cx="3657600" cy="19050"/>
          </a:xfrm>
          <a:prstGeom prst="rect">
            <a:avLst/>
          </a:prstGeom>
          <a:solidFill>
            <a:srgbClr val="201E1E">
              <a:alpha val="40000"/>
            </a:srgbClr>
          </a:solidFill>
          <a:ln/>
        </p:spPr>
        <p:txBody>
          <a:bodyPr/>
          <a:lstStyle/>
          <a:p>
            <a:endParaRPr lang="en-US"/>
          </a:p>
        </p:txBody>
      </p:sp>
      <p:sp>
        <p:nvSpPr>
          <p:cNvPr id="18" name="Text 16"/>
          <p:cNvSpPr/>
          <p:nvPr/>
        </p:nvSpPr>
        <p:spPr>
          <a:xfrm>
            <a:off x="13487400" y="4150072"/>
            <a:ext cx="402336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3-D+</a:t>
            </a:r>
            <a:endParaRPr lang="en-US" sz="1800" dirty="0"/>
          </a:p>
        </p:txBody>
      </p:sp>
      <p:sp>
        <p:nvSpPr>
          <p:cNvPr id="19" name="Text 17"/>
          <p:cNvSpPr/>
          <p:nvPr/>
        </p:nvSpPr>
        <p:spPr>
          <a:xfrm>
            <a:off x="13487400" y="4572967"/>
            <a:ext cx="402336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Tensor</a:t>
            </a:r>
            <a:endParaRPr lang="en-US" sz="2100" dirty="0"/>
          </a:p>
        </p:txBody>
      </p:sp>
      <p:sp>
        <p:nvSpPr>
          <p:cNvPr id="20" name="Text 18"/>
          <p:cNvSpPr/>
          <p:nvPr/>
        </p:nvSpPr>
        <p:spPr>
          <a:xfrm>
            <a:off x="13487400" y="5064323"/>
            <a:ext cx="3767328" cy="1109290"/>
          </a:xfrm>
          <a:prstGeom prst="rect">
            <a:avLst/>
          </a:prstGeom>
          <a:noFill/>
          <a:ln/>
        </p:spPr>
        <p:txBody>
          <a:bodyPr wrap="square" lIns="25400" tIns="25400" rIns="25400" bIns="25400" rtlCol="0" anchor="t">
            <a:normAutofit fontScale="85000" lnSpcReduction="200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A stack of matrices. A batch of sequences of embeddings, or an image with three colour channels.</a:t>
            </a:r>
            <a:endParaRPr lang="en-US" sz="1800" dirty="0"/>
          </a:p>
        </p:txBody>
      </p:sp>
      <p:sp>
        <p:nvSpPr>
          <p:cNvPr id="21" name="Shape 19"/>
          <p:cNvSpPr/>
          <p:nvPr/>
        </p:nvSpPr>
        <p:spPr>
          <a:xfrm>
            <a:off x="1143000" y="7165628"/>
            <a:ext cx="16002000" cy="19050"/>
          </a:xfrm>
          <a:prstGeom prst="rect">
            <a:avLst/>
          </a:prstGeom>
          <a:solidFill>
            <a:srgbClr val="EC3013"/>
          </a:solidFill>
          <a:ln/>
        </p:spPr>
        <p:txBody>
          <a:bodyPr/>
          <a:lstStyle/>
          <a:p>
            <a:endParaRPr lang="en-US"/>
          </a:p>
        </p:txBody>
      </p:sp>
      <p:sp>
        <p:nvSpPr>
          <p:cNvPr id="22" name="Text 20"/>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PRO TIP</a:t>
            </a:r>
            <a:endParaRPr lang="en-US" sz="1800" dirty="0"/>
          </a:p>
        </p:txBody>
      </p:sp>
      <p:sp>
        <p:nvSpPr>
          <p:cNvPr id="23" name="Text 21"/>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In practice "tensor" just means "the array object my framework uses", whatever its rank. A PyTorch scalar is still called a tensor.</a:t>
            </a:r>
            <a:endParaRPr lang="en-US" sz="2100" dirty="0"/>
          </a:p>
        </p:txBody>
      </p:sp>
      <p:pic>
        <p:nvPicPr>
          <p:cNvPr id="24"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WHY THE RULES ARE WHAT THEY ARE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Shapes, and why dimensions must line up</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shape is "how many rows by how many columns". Almost every practical error is a shape mismatch.</a:t>
            </a:r>
            <a:endParaRPr lang="en-US" sz="2100" dirty="0"/>
          </a:p>
        </p:txBody>
      </p:sp>
      <p:sp>
        <p:nvSpPr>
          <p:cNvPr id="5" name="Shape 3"/>
          <p:cNvSpPr/>
          <p:nvPr/>
        </p:nvSpPr>
        <p:spPr>
          <a:xfrm>
            <a:off x="1143000" y="5031060"/>
            <a:ext cx="16002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3771900"/>
            <a:ext cx="16002000" cy="19050"/>
          </a:xfrm>
          <a:prstGeom prst="rect">
            <a:avLst/>
          </a:prstGeom>
          <a:solidFill>
            <a:srgbClr val="201E1E">
              <a:alpha val="40000"/>
            </a:srgbClr>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43000" y="4133850"/>
            <a:ext cx="16002000" cy="554310"/>
          </a:xfrm>
          <a:prstGeom prst="rect">
            <a:avLst/>
          </a:prstGeom>
        </p:spPr>
      </p:pic>
      <p:sp>
        <p:nvSpPr>
          <p:cNvPr id="8" name="Text 5"/>
          <p:cNvSpPr/>
          <p:nvPr/>
        </p:nvSpPr>
        <p:spPr>
          <a:xfrm>
            <a:off x="1143000" y="5184949"/>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Inner must match</a:t>
            </a:r>
            <a:endParaRPr lang="en-US" sz="1950" dirty="0"/>
          </a:p>
        </p:txBody>
      </p:sp>
      <p:sp>
        <p:nvSpPr>
          <p:cNvPr id="9" name="Text 6"/>
          <p:cNvSpPr/>
          <p:nvPr/>
        </p:nvSpPr>
        <p:spPr>
          <a:xfrm>
            <a:off x="4343400" y="5184949"/>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n on both sides has to be identical. Each output entry is a sum over n paired terms — if the counts differ, there is nothing to pair the leftovers with.</a:t>
            </a:r>
            <a:endParaRPr lang="en-US" sz="1950" dirty="0"/>
          </a:p>
        </p:txBody>
      </p:sp>
      <p:sp>
        <p:nvSpPr>
          <p:cNvPr id="10" name="Text 7"/>
          <p:cNvSpPr/>
          <p:nvPr/>
        </p:nvSpPr>
        <p:spPr>
          <a:xfrm>
            <a:off x="1143000" y="6061174"/>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Outer survive</a:t>
            </a:r>
            <a:endParaRPr lang="en-US" sz="1950" dirty="0"/>
          </a:p>
        </p:txBody>
      </p:sp>
      <p:sp>
        <p:nvSpPr>
          <p:cNvPr id="11" name="Text 8"/>
          <p:cNvSpPr/>
          <p:nvPr/>
        </p:nvSpPr>
        <p:spPr>
          <a:xfrm>
            <a:off x="4343400" y="6061174"/>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result has as many rows as the first matrix and as many columns as the second. m and p never have to agree with anything.</a:t>
            </a:r>
            <a:endParaRPr lang="en-US" sz="1950" dirty="0"/>
          </a:p>
        </p:txBody>
      </p:sp>
      <p:sp>
        <p:nvSpPr>
          <p:cNvPr id="12" name="Text 9"/>
          <p:cNvSpPr/>
          <p:nvPr/>
        </p:nvSpPr>
        <p:spPr>
          <a:xfrm>
            <a:off x="1143000" y="6937400"/>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Order matters</a:t>
            </a:r>
            <a:endParaRPr lang="en-US" sz="1950" dirty="0"/>
          </a:p>
        </p:txBody>
      </p:sp>
      <p:sp>
        <p:nvSpPr>
          <p:cNvPr id="13" name="Text 10"/>
          <p:cNvSpPr/>
          <p:nvPr/>
        </p:nvSpPr>
        <p:spPr>
          <a:xfrm>
            <a:off x="4343400" y="6937400"/>
            <a:ext cx="12008358" cy="531837"/>
          </a:xfrm>
          <a:prstGeom prst="rect">
            <a:avLst/>
          </a:prstGeom>
          <a:noFill/>
          <a:ln/>
        </p:spPr>
        <p:txBody>
          <a:bodyPr wrap="square" lIns="25400" tIns="25400" rIns="25400" bIns="25400" rtlCol="0" anchor="t">
            <a:normAutofit fontScale="925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A × B and B × A are usually not the same, and often B × A is not even legal. Matrix multiplication is not commutative.</a:t>
            </a:r>
            <a:endParaRPr lang="en-US" sz="1950" dirty="0"/>
          </a:p>
        </p:txBody>
      </p:sp>
      <p:sp>
        <p:nvSpPr>
          <p:cNvPr id="14" name="Text 11"/>
          <p:cNvSpPr/>
          <p:nvPr/>
        </p:nvSpPr>
        <p:spPr>
          <a:xfrm>
            <a:off x="1143000" y="7813625"/>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Reading an error</a:t>
            </a:r>
            <a:endParaRPr lang="en-US" sz="1950" dirty="0"/>
          </a:p>
        </p:txBody>
      </p:sp>
      <p:sp>
        <p:nvSpPr>
          <p:cNvPr id="15" name="Text 12"/>
          <p:cNvSpPr/>
          <p:nvPr/>
        </p:nvSpPr>
        <p:spPr>
          <a:xfrm>
            <a:off x="4343400" y="7813625"/>
            <a:ext cx="12008358" cy="531837"/>
          </a:xfrm>
          <a:prstGeom prst="rect">
            <a:avLst/>
          </a:prstGeom>
          <a:noFill/>
          <a:ln/>
        </p:spPr>
        <p:txBody>
          <a:bodyPr wrap="square" lIns="25400" tIns="25400" rIns="25400" bIns="25400" rtlCol="0" anchor="t">
            <a:normAutofit fontScale="85000"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"shapes cannot be multiplied (32×768 and 512×768)" means the inner numbers are 768 and 512 — one needs transposing.</a:t>
            </a:r>
            <a:endParaRPr lang="en-US" sz="1950" dirty="0"/>
          </a:p>
        </p:txBody>
      </p:sp>
      <p:pic>
        <p:nvPicPr>
          <p:cNvPr id="16"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OPERATION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Addition and subtraction</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Element by element, position by position. Both matrices must have exactly the same shape — there is no clever rule to learn.</a:t>
            </a:r>
            <a:endParaRPr lang="en-US" sz="2100" dirty="0"/>
          </a:p>
        </p:txBody>
      </p:sp>
      <p:sp>
        <p:nvSpPr>
          <p:cNvPr id="5" name="Shape 3"/>
          <p:cNvSpPr/>
          <p:nvPr/>
        </p:nvSpPr>
        <p:spPr>
          <a:xfrm>
            <a:off x="1143000" y="38862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4080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40651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40651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[[1, 2], [3, 4]] + [[5, 6], [7, 8]]</a:t>
            </a:r>
            <a:endParaRPr lang="en-US" sz="2100" dirty="0"/>
          </a:p>
        </p:txBody>
      </p:sp>
      <p:sp>
        <p:nvSpPr>
          <p:cNvPr id="9" name="Shape 7"/>
          <p:cNvSpPr/>
          <p:nvPr/>
        </p:nvSpPr>
        <p:spPr>
          <a:xfrm>
            <a:off x="1143000" y="49204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5775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5775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Top-left: 1 + 5 = </a:t>
            </a:r>
            <a:r>
              <a:rPr lang="en-US" sz="2100" b="1" dirty="0">
                <a:solidFill>
                  <a:srgbClr val="201E1D"/>
                </a:solidFill>
                <a:latin typeface="Arial" pitchFamily="34" charset="0"/>
                <a:ea typeface="Arial" pitchFamily="34" charset="-122"/>
                <a:cs typeface="Arial" pitchFamily="34" charset="-120"/>
              </a:rPr>
              <a:t>6 </a:t>
            </a:r>
            <a:r>
              <a:rPr lang="en-US" sz="2100" dirty="0">
                <a:solidFill>
                  <a:srgbClr val="201E1D"/>
                </a:solidFill>
                <a:latin typeface="Arial" pitchFamily="34" charset="0"/>
                <a:ea typeface="Arial" pitchFamily="34" charset="-122"/>
                <a:cs typeface="Arial" pitchFamily="34" charset="-120"/>
              </a:rPr>
              <a:t>· Top-right: 2 + 6 = </a:t>
            </a:r>
            <a:r>
              <a:rPr lang="en-US" sz="2100" b="1" dirty="0">
                <a:solidFill>
                  <a:srgbClr val="201E1D"/>
                </a:solidFill>
                <a:latin typeface="Arial" pitchFamily="34" charset="0"/>
                <a:ea typeface="Arial" pitchFamily="34" charset="-122"/>
                <a:cs typeface="Arial" pitchFamily="34" charset="-120"/>
              </a:rPr>
              <a:t>8</a:t>
            </a:r>
            <a:endParaRPr lang="en-US" sz="2100" dirty="0"/>
          </a:p>
        </p:txBody>
      </p:sp>
      <p:sp>
        <p:nvSpPr>
          <p:cNvPr id="12" name="Shape 10"/>
          <p:cNvSpPr/>
          <p:nvPr/>
        </p:nvSpPr>
        <p:spPr>
          <a:xfrm>
            <a:off x="1143000" y="54327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50898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50898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Bottom-left: 3 + 7 = </a:t>
            </a:r>
            <a:r>
              <a:rPr lang="en-US" sz="2100" b="1" dirty="0">
                <a:solidFill>
                  <a:srgbClr val="201E1D"/>
                </a:solidFill>
                <a:latin typeface="Arial" pitchFamily="34" charset="0"/>
                <a:ea typeface="Arial" pitchFamily="34" charset="-122"/>
                <a:cs typeface="Arial" pitchFamily="34" charset="-120"/>
              </a:rPr>
              <a:t>10 </a:t>
            </a:r>
            <a:r>
              <a:rPr lang="en-US" sz="2100" dirty="0">
                <a:solidFill>
                  <a:srgbClr val="201E1D"/>
                </a:solidFill>
                <a:latin typeface="Arial" pitchFamily="34" charset="0"/>
                <a:ea typeface="Arial" pitchFamily="34" charset="-122"/>
                <a:cs typeface="Arial" pitchFamily="34" charset="-120"/>
              </a:rPr>
              <a:t>· Bottom-right: 4 + 8 = </a:t>
            </a:r>
            <a:r>
              <a:rPr lang="en-US" sz="2100" b="1" dirty="0">
                <a:solidFill>
                  <a:srgbClr val="201E1D"/>
                </a:solidFill>
                <a:latin typeface="Arial" pitchFamily="34" charset="0"/>
                <a:ea typeface="Arial" pitchFamily="34" charset="-122"/>
                <a:cs typeface="Arial" pitchFamily="34" charset="-120"/>
              </a:rPr>
              <a:t>12</a:t>
            </a:r>
            <a:endParaRPr lang="en-US" sz="2100" dirty="0"/>
          </a:p>
        </p:txBody>
      </p:sp>
      <p:sp>
        <p:nvSpPr>
          <p:cNvPr id="15" name="Shape 13"/>
          <p:cNvSpPr/>
          <p:nvPr/>
        </p:nvSpPr>
        <p:spPr>
          <a:xfrm>
            <a:off x="1143000" y="5953125"/>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602188"/>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17" name="Text 15"/>
          <p:cNvSpPr/>
          <p:nvPr/>
        </p:nvSpPr>
        <p:spPr>
          <a:xfrm>
            <a:off x="1981200" y="5602188"/>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[[6, 8], [10, 12]]</a:t>
            </a:r>
            <a:endParaRPr lang="en-US" sz="2100" dirty="0"/>
          </a:p>
        </p:txBody>
      </p:sp>
      <p:sp>
        <p:nvSpPr>
          <p:cNvPr id="18" name="Shape 16"/>
          <p:cNvSpPr/>
          <p:nvPr/>
        </p:nvSpPr>
        <p:spPr>
          <a:xfrm>
            <a:off x="1143000" y="7165628"/>
            <a:ext cx="16002000" cy="19050"/>
          </a:xfrm>
          <a:prstGeom prst="rect">
            <a:avLst/>
          </a:prstGeom>
          <a:solidFill>
            <a:srgbClr val="EC3013"/>
          </a:solidFill>
          <a:ln/>
        </p:spPr>
        <p:txBody>
          <a:bodyPr/>
          <a:lstStyle/>
          <a:p>
            <a:endParaRPr lang="en-US"/>
          </a:p>
        </p:txBody>
      </p:sp>
      <p:sp>
        <p:nvSpPr>
          <p:cNvPr id="19" name="Text 17"/>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20" name="Text 18"/>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Every residual connection in a transformer is a matrix addition — the layer's output added back to its input. It is the reason very deep networks train at all.</a:t>
            </a:r>
            <a:endParaRPr lang="en-US" sz="2100" dirty="0"/>
          </a:p>
        </p:txBody>
      </p:sp>
      <p:pic>
        <p:nvPicPr>
          <p:cNvPr id="21"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OPERATION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Scalar multiplication</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One number multiplies every entry. The shape does not change; only the size of the values does.</a:t>
            </a:r>
            <a:endParaRPr lang="en-US" sz="2100" dirty="0"/>
          </a:p>
        </p:txBody>
      </p:sp>
      <p:sp>
        <p:nvSpPr>
          <p:cNvPr id="5" name="Shape 3"/>
          <p:cNvSpPr/>
          <p:nvPr/>
        </p:nvSpPr>
        <p:spPr>
          <a:xfrm>
            <a:off x="1143000" y="34290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39508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36079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36079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0.5 × [[4, 6], [8, 10]]</a:t>
            </a:r>
            <a:endParaRPr lang="en-US" sz="2100" dirty="0"/>
          </a:p>
        </p:txBody>
      </p:sp>
      <p:sp>
        <p:nvSpPr>
          <p:cNvPr id="9" name="Shape 7"/>
          <p:cNvSpPr/>
          <p:nvPr/>
        </p:nvSpPr>
        <p:spPr>
          <a:xfrm>
            <a:off x="1143000" y="44632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1203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1203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Each entry halves: 4→2, 6→3, 8→4, 10→5</a:t>
            </a:r>
            <a:endParaRPr lang="en-US" sz="2100" dirty="0"/>
          </a:p>
        </p:txBody>
      </p:sp>
      <p:sp>
        <p:nvSpPr>
          <p:cNvPr id="12" name="Shape 10"/>
          <p:cNvSpPr/>
          <p:nvPr/>
        </p:nvSpPr>
        <p:spPr>
          <a:xfrm>
            <a:off x="1143000" y="4983584"/>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4632647"/>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14" name="Text 12"/>
          <p:cNvSpPr/>
          <p:nvPr/>
        </p:nvSpPr>
        <p:spPr>
          <a:xfrm>
            <a:off x="1981200" y="4632647"/>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[[2, 3], [4, 5]]</a:t>
            </a:r>
            <a:endParaRPr lang="en-US" sz="2100" dirty="0"/>
          </a:p>
        </p:txBody>
      </p:sp>
      <p:sp>
        <p:nvSpPr>
          <p:cNvPr id="15" name="Shape 13"/>
          <p:cNvSpPr/>
          <p:nvPr/>
        </p:nvSpPr>
        <p:spPr>
          <a:xfrm>
            <a:off x="1143000" y="7165628"/>
            <a:ext cx="16002000" cy="19050"/>
          </a:xfrm>
          <a:prstGeom prst="rect">
            <a:avLst/>
          </a:prstGeom>
          <a:solidFill>
            <a:srgbClr val="EC3013"/>
          </a:solidFill>
          <a:ln/>
        </p:spPr>
        <p:txBody>
          <a:bodyPr/>
          <a:lstStyle/>
          <a:p>
            <a:endParaRPr lang="en-US"/>
          </a:p>
        </p:txBody>
      </p:sp>
      <p:sp>
        <p:nvSpPr>
          <p:cNvPr id="16" name="Text 14"/>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17" name="Text 15"/>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 learning rate is a scalar multiplying a whole gradient matrix. Temperature is a scalar dividing a whole logit vector. Attention divides by √d before the softmax. Scaling by one number is everywhere.</a:t>
            </a:r>
            <a:endParaRPr lang="en-US" sz="2100" dirty="0"/>
          </a:p>
        </p:txBody>
      </p:sp>
      <p:pic>
        <p:nvPicPr>
          <p:cNvPr id="18"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WHY THE FORMULA WORKS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Matrix × vector: scoring, all at once</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spreadsheet formula that combines several weighted columns into one score — except this does it for every row simultaneously.</a:t>
            </a:r>
            <a:endParaRPr lang="en-US" sz="2100" dirty="0"/>
          </a:p>
        </p:txBody>
      </p:sp>
      <p:sp>
        <p:nvSpPr>
          <p:cNvPr id="5" name="Shape 3"/>
          <p:cNvSpPr/>
          <p:nvPr/>
        </p:nvSpPr>
        <p:spPr>
          <a:xfrm>
            <a:off x="1143000" y="5695652"/>
            <a:ext cx="16002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229100"/>
            <a:ext cx="16002000" cy="19050"/>
          </a:xfrm>
          <a:prstGeom prst="rect">
            <a:avLst/>
          </a:prstGeom>
          <a:solidFill>
            <a:srgbClr val="201E1E">
              <a:alpha val="40000"/>
            </a:srgbClr>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43000" y="4591050"/>
            <a:ext cx="16002000" cy="761702"/>
          </a:xfrm>
          <a:prstGeom prst="rect">
            <a:avLst/>
          </a:prstGeom>
        </p:spPr>
      </p:pic>
      <p:sp>
        <p:nvSpPr>
          <p:cNvPr id="8" name="Text 5"/>
          <p:cNvSpPr/>
          <p:nvPr/>
        </p:nvSpPr>
        <p:spPr>
          <a:xfrm>
            <a:off x="1143000" y="5849541"/>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Aᵢₖ</a:t>
            </a:r>
            <a:endParaRPr lang="en-US" sz="1950" dirty="0"/>
          </a:p>
        </p:txBody>
      </p:sp>
      <p:sp>
        <p:nvSpPr>
          <p:cNvPr id="9" name="Text 6"/>
          <p:cNvSpPr/>
          <p:nvPr/>
        </p:nvSpPr>
        <p:spPr>
          <a:xfrm>
            <a:off x="4343400" y="5849541"/>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Row i, column k of the matrix — one applicant's value on one feature.</a:t>
            </a:r>
            <a:endParaRPr lang="en-US" sz="1950" dirty="0"/>
          </a:p>
        </p:txBody>
      </p:sp>
      <p:sp>
        <p:nvSpPr>
          <p:cNvPr id="10" name="Text 7"/>
          <p:cNvSpPr/>
          <p:nvPr/>
        </p:nvSpPr>
        <p:spPr>
          <a:xfrm>
            <a:off x="1143000" y="6555879"/>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wₖ</a:t>
            </a:r>
            <a:endParaRPr lang="en-US" sz="1950" dirty="0"/>
          </a:p>
        </p:txBody>
      </p:sp>
      <p:sp>
        <p:nvSpPr>
          <p:cNvPr id="11" name="Text 8"/>
          <p:cNvSpPr/>
          <p:nvPr/>
        </p:nvSpPr>
        <p:spPr>
          <a:xfrm>
            <a:off x="4343400" y="6555879"/>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Entry k of the weight vector — how much that feature counts.</a:t>
            </a:r>
            <a:endParaRPr lang="en-US" sz="1950" dirty="0"/>
          </a:p>
        </p:txBody>
      </p:sp>
      <p:sp>
        <p:nvSpPr>
          <p:cNvPr id="12" name="Text 9"/>
          <p:cNvSpPr/>
          <p:nvPr/>
        </p:nvSpPr>
        <p:spPr>
          <a:xfrm>
            <a:off x="1143000" y="7262217"/>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Σₖ</a:t>
            </a:r>
            <a:endParaRPr lang="en-US" sz="1950" dirty="0"/>
          </a:p>
        </p:txBody>
      </p:sp>
      <p:sp>
        <p:nvSpPr>
          <p:cNvPr id="13" name="Text 10"/>
          <p:cNvSpPr/>
          <p:nvPr/>
        </p:nvSpPr>
        <p:spPr>
          <a:xfrm>
            <a:off x="4343400" y="7262217"/>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Multiply each feature by its weight and add them up. That is a weighted total, and it is also a dot product — the same operation from the similarity topic.</a:t>
            </a:r>
            <a:endParaRPr lang="en-US" sz="1950" dirty="0"/>
          </a:p>
        </p:txBody>
      </p:sp>
      <p:sp>
        <p:nvSpPr>
          <p:cNvPr id="14" name="Text 11"/>
          <p:cNvSpPr/>
          <p:nvPr/>
        </p:nvSpPr>
        <p:spPr>
          <a:xfrm>
            <a:off x="1143000" y="8138443"/>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One row out</a:t>
            </a:r>
            <a:endParaRPr lang="en-US" sz="1950" dirty="0"/>
          </a:p>
        </p:txBody>
      </p:sp>
      <p:sp>
        <p:nvSpPr>
          <p:cNvPr id="15" name="Text 12"/>
          <p:cNvSpPr/>
          <p:nvPr/>
        </p:nvSpPr>
        <p:spPr>
          <a:xfrm>
            <a:off x="4343400" y="8138443"/>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Every row of A produces one number. A thousand applicants, one pass, one column of scores.</a:t>
            </a:r>
            <a:endParaRPr lang="en-US" sz="1950" dirty="0"/>
          </a:p>
        </p:txBody>
      </p:sp>
      <p:pic>
        <p:nvPicPr>
          <p:cNvPr id="16"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BUSINESS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Scoring a loan applicant</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An AI system scores applicants on income, credit and repayment history, each with a different weight: 0.5, 0.3 and 0.2. This is a matrix of applicants × features multiplied by a weight vector.</a:t>
            </a:r>
            <a:endParaRPr lang="en-US" sz="2100" dirty="0"/>
          </a:p>
        </p:txBody>
      </p:sp>
      <p:sp>
        <p:nvSpPr>
          <p:cNvPr id="5" name="Shape 3"/>
          <p:cNvSpPr/>
          <p:nvPr/>
        </p:nvSpPr>
        <p:spPr>
          <a:xfrm>
            <a:off x="1143000" y="38862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4080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40651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40651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Applicant: income = 80, credit = 70, repayment = 90</a:t>
            </a:r>
            <a:endParaRPr lang="en-US" sz="2100" dirty="0"/>
          </a:p>
        </p:txBody>
      </p:sp>
      <p:sp>
        <p:nvSpPr>
          <p:cNvPr id="9" name="Shape 7"/>
          <p:cNvSpPr/>
          <p:nvPr/>
        </p:nvSpPr>
        <p:spPr>
          <a:xfrm>
            <a:off x="1143000" y="49204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5775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5775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0.5 × 80 = </a:t>
            </a:r>
            <a:r>
              <a:rPr lang="en-US" sz="2100" b="1" dirty="0">
                <a:solidFill>
                  <a:srgbClr val="201E1D"/>
                </a:solidFill>
                <a:latin typeface="Arial" pitchFamily="34" charset="0"/>
                <a:ea typeface="Arial" pitchFamily="34" charset="-122"/>
                <a:cs typeface="Arial" pitchFamily="34" charset="-120"/>
              </a:rPr>
              <a:t>40</a:t>
            </a:r>
            <a:endParaRPr lang="en-US" sz="2100" dirty="0"/>
          </a:p>
        </p:txBody>
      </p:sp>
      <p:sp>
        <p:nvSpPr>
          <p:cNvPr id="12" name="Shape 10"/>
          <p:cNvSpPr/>
          <p:nvPr/>
        </p:nvSpPr>
        <p:spPr>
          <a:xfrm>
            <a:off x="1143000" y="54327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50898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50898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0.3 × 70 = </a:t>
            </a:r>
            <a:r>
              <a:rPr lang="en-US" sz="2100" b="1" dirty="0">
                <a:solidFill>
                  <a:srgbClr val="201E1D"/>
                </a:solidFill>
                <a:latin typeface="Arial" pitchFamily="34" charset="0"/>
                <a:ea typeface="Arial" pitchFamily="34" charset="-122"/>
                <a:cs typeface="Arial" pitchFamily="34" charset="-120"/>
              </a:rPr>
              <a:t>21</a:t>
            </a:r>
            <a:endParaRPr lang="en-US" sz="2100" dirty="0"/>
          </a:p>
        </p:txBody>
      </p:sp>
      <p:sp>
        <p:nvSpPr>
          <p:cNvPr id="15" name="Shape 13"/>
          <p:cNvSpPr/>
          <p:nvPr/>
        </p:nvSpPr>
        <p:spPr>
          <a:xfrm>
            <a:off x="1143000" y="5945088"/>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602188"/>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4</a:t>
            </a:r>
            <a:endParaRPr lang="en-US" sz="2100" dirty="0"/>
          </a:p>
        </p:txBody>
      </p:sp>
      <p:sp>
        <p:nvSpPr>
          <p:cNvPr id="17" name="Text 15"/>
          <p:cNvSpPr/>
          <p:nvPr/>
        </p:nvSpPr>
        <p:spPr>
          <a:xfrm>
            <a:off x="1981200" y="5602188"/>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0.2 × 90 = </a:t>
            </a:r>
            <a:r>
              <a:rPr lang="en-US" sz="2100" b="1" dirty="0">
                <a:solidFill>
                  <a:srgbClr val="201E1D"/>
                </a:solidFill>
                <a:latin typeface="Arial" pitchFamily="34" charset="0"/>
                <a:ea typeface="Arial" pitchFamily="34" charset="-122"/>
                <a:cs typeface="Arial" pitchFamily="34" charset="-120"/>
              </a:rPr>
              <a:t>18</a:t>
            </a:r>
            <a:endParaRPr lang="en-US" sz="2100" dirty="0"/>
          </a:p>
        </p:txBody>
      </p:sp>
      <p:sp>
        <p:nvSpPr>
          <p:cNvPr id="18" name="Shape 16"/>
          <p:cNvSpPr/>
          <p:nvPr/>
        </p:nvSpPr>
        <p:spPr>
          <a:xfrm>
            <a:off x="1143000" y="6465466"/>
            <a:ext cx="13335000" cy="9525"/>
          </a:xfrm>
          <a:prstGeom prst="rect">
            <a:avLst/>
          </a:prstGeom>
          <a:solidFill>
            <a:srgbClr val="201E1E">
              <a:alpha val="40000"/>
            </a:srgbClr>
          </a:solidFill>
          <a:ln/>
        </p:spPr>
        <p:txBody>
          <a:bodyPr/>
          <a:lstStyle/>
          <a:p>
            <a:endParaRPr lang="en-US"/>
          </a:p>
        </p:txBody>
      </p:sp>
      <p:sp>
        <p:nvSpPr>
          <p:cNvPr id="19" name="Text 17"/>
          <p:cNvSpPr/>
          <p:nvPr/>
        </p:nvSpPr>
        <p:spPr>
          <a:xfrm>
            <a:off x="1143000" y="6114529"/>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20" name="Text 18"/>
          <p:cNvSpPr/>
          <p:nvPr/>
        </p:nvSpPr>
        <p:spPr>
          <a:xfrm>
            <a:off x="1981200" y="6114529"/>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Score = 40 + 21 + 18 = 79</a:t>
            </a:r>
            <a:endParaRPr lang="en-US" sz="2100" dirty="0"/>
          </a:p>
        </p:txBody>
      </p:sp>
      <p:sp>
        <p:nvSpPr>
          <p:cNvPr id="21" name="Shape 19"/>
          <p:cNvSpPr/>
          <p:nvPr/>
        </p:nvSpPr>
        <p:spPr>
          <a:xfrm>
            <a:off x="1143000" y="7165628"/>
            <a:ext cx="16002000" cy="19050"/>
          </a:xfrm>
          <a:prstGeom prst="rect">
            <a:avLst/>
          </a:prstGeom>
          <a:solidFill>
            <a:srgbClr val="EC3013"/>
          </a:solidFill>
          <a:ln/>
        </p:spPr>
        <p:txBody>
          <a:bodyPr/>
          <a:lstStyle/>
          <a:p>
            <a:endParaRPr lang="en-US"/>
          </a:p>
        </p:txBody>
      </p:sp>
      <p:sp>
        <p:nvSpPr>
          <p:cNvPr id="22" name="Text 20"/>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23" name="Text 21"/>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That single operation — features times weights, summed — is one neuron. A layer is many of them at once, which is exactly a matrix multiplication. A transformer is that, stacked ninety times.</a:t>
            </a:r>
            <a:endParaRPr lang="en-US" sz="2100" dirty="0"/>
          </a:p>
        </p:txBody>
      </p:sp>
      <p:pic>
        <p:nvPicPr>
          <p:cNvPr id="24"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WHY THE FORMULA WORKS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Matrix × matrix: many scorings at once</a:t>
            </a:r>
            <a:endParaRPr lang="en-US" sz="4800" dirty="0"/>
          </a:p>
        </p:txBody>
      </p:sp>
      <p:sp>
        <p:nvSpPr>
          <p:cNvPr id="4" name="Shape 2"/>
          <p:cNvSpPr/>
          <p:nvPr/>
        </p:nvSpPr>
        <p:spPr>
          <a:xfrm>
            <a:off x="1143000" y="4935810"/>
            <a:ext cx="16002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3200400"/>
            <a:ext cx="16002000" cy="19050"/>
          </a:xfrm>
          <a:prstGeom prst="rect">
            <a:avLst/>
          </a:prstGeom>
          <a:solidFill>
            <a:srgbClr val="201E1E">
              <a:alpha val="40000"/>
            </a:srgbClr>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43000" y="3562350"/>
            <a:ext cx="16002000" cy="1030560"/>
          </a:xfrm>
          <a:prstGeom prst="rect">
            <a:avLst/>
          </a:prstGeom>
        </p:spPr>
      </p:pic>
      <p:sp>
        <p:nvSpPr>
          <p:cNvPr id="7" name="Text 4"/>
          <p:cNvSpPr/>
          <p:nvPr/>
        </p:nvSpPr>
        <p:spPr>
          <a:xfrm>
            <a:off x="1143000" y="5089699"/>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The idea</a:t>
            </a:r>
            <a:endParaRPr lang="en-US" sz="1950" dirty="0"/>
          </a:p>
        </p:txBody>
      </p:sp>
      <p:sp>
        <p:nvSpPr>
          <p:cNvPr id="8" name="Text 5"/>
          <p:cNvSpPr/>
          <p:nvPr/>
        </p:nvSpPr>
        <p:spPr>
          <a:xfrm>
            <a:off x="4343400" y="5089699"/>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Matrix × matrix is matrix × vector done once for every column of B. Nothing new — just repeated.</a:t>
            </a:r>
            <a:endParaRPr lang="en-US" sz="1950" dirty="0"/>
          </a:p>
        </p:txBody>
      </p:sp>
      <p:sp>
        <p:nvSpPr>
          <p:cNvPr id="9" name="Text 6"/>
          <p:cNvSpPr/>
          <p:nvPr/>
        </p:nvSpPr>
        <p:spPr>
          <a:xfrm>
            <a:off x="1143000" y="5796037"/>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Row i of A</a:t>
            </a:r>
            <a:endParaRPr lang="en-US" sz="1950" dirty="0"/>
          </a:p>
        </p:txBody>
      </p:sp>
      <p:sp>
        <p:nvSpPr>
          <p:cNvPr id="10" name="Text 7"/>
          <p:cNvSpPr/>
          <p:nvPr/>
        </p:nvSpPr>
        <p:spPr>
          <a:xfrm>
            <a:off x="4343400" y="5796037"/>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Pick one row of the left matrix. This is the thing being scored.</a:t>
            </a:r>
            <a:endParaRPr lang="en-US" sz="1950" dirty="0"/>
          </a:p>
        </p:txBody>
      </p:sp>
      <p:sp>
        <p:nvSpPr>
          <p:cNvPr id="11" name="Text 8"/>
          <p:cNvSpPr/>
          <p:nvPr/>
        </p:nvSpPr>
        <p:spPr>
          <a:xfrm>
            <a:off x="1143000" y="6502375"/>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Column j of B</a:t>
            </a:r>
            <a:endParaRPr lang="en-US" sz="1950" dirty="0"/>
          </a:p>
        </p:txBody>
      </p:sp>
      <p:sp>
        <p:nvSpPr>
          <p:cNvPr id="12" name="Text 9"/>
          <p:cNvSpPr/>
          <p:nvPr/>
        </p:nvSpPr>
        <p:spPr>
          <a:xfrm>
            <a:off x="4343400" y="6502375"/>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Pick one column of the right matrix. This is one set of weights.</a:t>
            </a:r>
            <a:endParaRPr lang="en-US" sz="1950" dirty="0"/>
          </a:p>
        </p:txBody>
      </p:sp>
      <p:sp>
        <p:nvSpPr>
          <p:cNvPr id="13" name="Text 10"/>
          <p:cNvSpPr/>
          <p:nvPr/>
        </p:nvSpPr>
        <p:spPr>
          <a:xfrm>
            <a:off x="1143000" y="7208713"/>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Σₖ AᵢₖBₖⱼ</a:t>
            </a:r>
            <a:endParaRPr lang="en-US" sz="1950" dirty="0"/>
          </a:p>
        </p:txBody>
      </p:sp>
      <p:sp>
        <p:nvSpPr>
          <p:cNvPr id="14" name="Text 11"/>
          <p:cNvSpPr/>
          <p:nvPr/>
        </p:nvSpPr>
        <p:spPr>
          <a:xfrm>
            <a:off x="4343400" y="7208713"/>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Dot those two together — pairwise multiply, then add. One number, landing in position (i, j) of the result.</a:t>
            </a:r>
            <a:endParaRPr lang="en-US" sz="1950" dirty="0"/>
          </a:p>
        </p:txBody>
      </p:sp>
      <p:sp>
        <p:nvSpPr>
          <p:cNvPr id="15" name="Text 12"/>
          <p:cNvSpPr/>
          <p:nvPr/>
        </p:nvSpPr>
        <p:spPr>
          <a:xfrm>
            <a:off x="1143000" y="7915052"/>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Repeat</a:t>
            </a:r>
            <a:endParaRPr lang="en-US" sz="1950" dirty="0"/>
          </a:p>
        </p:txBody>
      </p:sp>
      <p:sp>
        <p:nvSpPr>
          <p:cNvPr id="16" name="Text 13"/>
          <p:cNvSpPr/>
          <p:nvPr/>
        </p:nvSpPr>
        <p:spPr>
          <a:xfrm>
            <a:off x="4343400" y="7915052"/>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Do that for every row-column pair. An m×n by n×p multiply performs m × p dot products of length n.</a:t>
            </a:r>
            <a:endParaRPr lang="en-US" sz="1950" dirty="0"/>
          </a:p>
        </p:txBody>
      </p:sp>
      <p:pic>
        <p:nvPicPr>
          <p:cNvPr id="17"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9">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WORKED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A 2 × 2 multiplication, all four entries</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[[1, 2], [3, 4]] × [[5, 6], [7, 8]]. Row by column, four times.</a:t>
            </a:r>
            <a:endParaRPr lang="en-US" sz="2100" dirty="0"/>
          </a:p>
        </p:txBody>
      </p:sp>
      <p:sp>
        <p:nvSpPr>
          <p:cNvPr id="5" name="Shape 3"/>
          <p:cNvSpPr/>
          <p:nvPr/>
        </p:nvSpPr>
        <p:spPr>
          <a:xfrm>
            <a:off x="1143000" y="34290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39508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36079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36079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Row 1 · Column 1: (1 × 5) + (2 × 7) = 5 + 14 = </a:t>
            </a:r>
            <a:r>
              <a:rPr lang="en-US" sz="2100" b="1" dirty="0">
                <a:solidFill>
                  <a:srgbClr val="201E1D"/>
                </a:solidFill>
                <a:latin typeface="Arial" pitchFamily="34" charset="0"/>
                <a:ea typeface="Arial" pitchFamily="34" charset="-122"/>
                <a:cs typeface="Arial" pitchFamily="34" charset="-120"/>
              </a:rPr>
              <a:t>19</a:t>
            </a:r>
            <a:endParaRPr lang="en-US" sz="2100" dirty="0"/>
          </a:p>
        </p:txBody>
      </p:sp>
      <p:sp>
        <p:nvSpPr>
          <p:cNvPr id="9" name="Shape 7"/>
          <p:cNvSpPr/>
          <p:nvPr/>
        </p:nvSpPr>
        <p:spPr>
          <a:xfrm>
            <a:off x="1143000" y="44632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1203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1203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Row 1 · Column 2: (1 × 6) + (2 × 8) = 6 + 16 = </a:t>
            </a:r>
            <a:r>
              <a:rPr lang="en-US" sz="2100" b="1" dirty="0">
                <a:solidFill>
                  <a:srgbClr val="201E1D"/>
                </a:solidFill>
                <a:latin typeface="Arial" pitchFamily="34" charset="0"/>
                <a:ea typeface="Arial" pitchFamily="34" charset="-122"/>
                <a:cs typeface="Arial" pitchFamily="34" charset="-120"/>
              </a:rPr>
              <a:t>22</a:t>
            </a:r>
            <a:endParaRPr lang="en-US" sz="2100" dirty="0"/>
          </a:p>
        </p:txBody>
      </p:sp>
      <p:sp>
        <p:nvSpPr>
          <p:cNvPr id="12" name="Shape 10"/>
          <p:cNvSpPr/>
          <p:nvPr/>
        </p:nvSpPr>
        <p:spPr>
          <a:xfrm>
            <a:off x="1143000" y="49755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46326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46326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Row 2 · Column 1: (3 × 5) + (4 × 7) = 15 + 28 = </a:t>
            </a:r>
            <a:r>
              <a:rPr lang="en-US" sz="2100" b="1" dirty="0">
                <a:solidFill>
                  <a:srgbClr val="201E1D"/>
                </a:solidFill>
                <a:latin typeface="Arial" pitchFamily="34" charset="0"/>
                <a:ea typeface="Arial" pitchFamily="34" charset="-122"/>
                <a:cs typeface="Arial" pitchFamily="34" charset="-120"/>
              </a:rPr>
              <a:t>43</a:t>
            </a:r>
            <a:endParaRPr lang="en-US" sz="2100" dirty="0"/>
          </a:p>
        </p:txBody>
      </p:sp>
      <p:sp>
        <p:nvSpPr>
          <p:cNvPr id="15" name="Shape 13"/>
          <p:cNvSpPr/>
          <p:nvPr/>
        </p:nvSpPr>
        <p:spPr>
          <a:xfrm>
            <a:off x="1143000" y="5487888"/>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144988"/>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4</a:t>
            </a:r>
            <a:endParaRPr lang="en-US" sz="2100" dirty="0"/>
          </a:p>
        </p:txBody>
      </p:sp>
      <p:sp>
        <p:nvSpPr>
          <p:cNvPr id="17" name="Text 15"/>
          <p:cNvSpPr/>
          <p:nvPr/>
        </p:nvSpPr>
        <p:spPr>
          <a:xfrm>
            <a:off x="1981200" y="5144988"/>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Row 2 · Column 2: (3 × 6) + (4 × 8) = 18 + 32 = </a:t>
            </a:r>
            <a:r>
              <a:rPr lang="en-US" sz="2100" b="1" dirty="0">
                <a:solidFill>
                  <a:srgbClr val="201E1D"/>
                </a:solidFill>
                <a:latin typeface="Arial" pitchFamily="34" charset="0"/>
                <a:ea typeface="Arial" pitchFamily="34" charset="-122"/>
                <a:cs typeface="Arial" pitchFamily="34" charset="-120"/>
              </a:rPr>
              <a:t>50</a:t>
            </a:r>
            <a:endParaRPr lang="en-US" sz="2100" dirty="0"/>
          </a:p>
        </p:txBody>
      </p:sp>
      <p:sp>
        <p:nvSpPr>
          <p:cNvPr id="18" name="Shape 16"/>
          <p:cNvSpPr/>
          <p:nvPr/>
        </p:nvSpPr>
        <p:spPr>
          <a:xfrm>
            <a:off x="1143000" y="6008266"/>
            <a:ext cx="13335000" cy="9525"/>
          </a:xfrm>
          <a:prstGeom prst="rect">
            <a:avLst/>
          </a:prstGeom>
          <a:solidFill>
            <a:srgbClr val="201E1E">
              <a:alpha val="40000"/>
            </a:srgbClr>
          </a:solidFill>
          <a:ln/>
        </p:spPr>
        <p:txBody>
          <a:bodyPr/>
          <a:lstStyle/>
          <a:p>
            <a:endParaRPr lang="en-US"/>
          </a:p>
        </p:txBody>
      </p:sp>
      <p:sp>
        <p:nvSpPr>
          <p:cNvPr id="19" name="Text 17"/>
          <p:cNvSpPr/>
          <p:nvPr/>
        </p:nvSpPr>
        <p:spPr>
          <a:xfrm>
            <a:off x="1143000" y="5657329"/>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20" name="Text 18"/>
          <p:cNvSpPr/>
          <p:nvPr/>
        </p:nvSpPr>
        <p:spPr>
          <a:xfrm>
            <a:off x="1981200" y="5657329"/>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[[19, 22], [43, 50]]</a:t>
            </a:r>
            <a:endParaRPr lang="en-US" sz="2100" dirty="0"/>
          </a:p>
        </p:txBody>
      </p:sp>
      <p:sp>
        <p:nvSpPr>
          <p:cNvPr id="21" name="Shape 19"/>
          <p:cNvSpPr/>
          <p:nvPr/>
        </p:nvSpPr>
        <p:spPr>
          <a:xfrm>
            <a:off x="1143000" y="7165628"/>
            <a:ext cx="16002000" cy="19050"/>
          </a:xfrm>
          <a:prstGeom prst="rect">
            <a:avLst/>
          </a:prstGeom>
          <a:solidFill>
            <a:srgbClr val="201E1E">
              <a:alpha val="40000"/>
            </a:srgbClr>
          </a:solidFill>
          <a:ln/>
        </p:spPr>
        <p:txBody>
          <a:bodyPr/>
          <a:lstStyle/>
          <a:p>
            <a:endParaRPr lang="en-US"/>
          </a:p>
        </p:txBody>
      </p:sp>
      <p:sp>
        <p:nvSpPr>
          <p:cNvPr id="22" name="Text 20"/>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GOTCHA</a:t>
            </a:r>
            <a:endParaRPr lang="en-US" sz="1800" dirty="0"/>
          </a:p>
        </p:txBody>
      </p:sp>
      <p:sp>
        <p:nvSpPr>
          <p:cNvPr id="23" name="Text 21"/>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Reverse the order and you get [[23, 34], [31, 46]] — a completely different answer. Matrix multiplication is not commutative, and that is not a technicality: it is why layer order matters.</a:t>
            </a:r>
            <a:endParaRPr lang="en-US" sz="2100" dirty="0"/>
          </a:p>
        </p:txBody>
      </p:sp>
      <p:pic>
        <p:nvPicPr>
          <p:cNvPr id="24"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OPERATION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Transpose: flip rows and columns</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Row 1 becomes column 1, row 2 becomes column 2. An m×n matrix becomes n×m. That is the entire operation.</a:t>
            </a:r>
            <a:endParaRPr lang="en-US" sz="2100" dirty="0"/>
          </a:p>
        </p:txBody>
      </p:sp>
      <p:sp>
        <p:nvSpPr>
          <p:cNvPr id="5" name="Shape 3"/>
          <p:cNvSpPr/>
          <p:nvPr/>
        </p:nvSpPr>
        <p:spPr>
          <a:xfrm>
            <a:off x="1143000" y="34290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39508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36079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36079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A = [[1, 2, 3], [4, 5, 6]] — shape 2 × 3</a:t>
            </a:r>
            <a:endParaRPr lang="en-US" sz="2100" dirty="0"/>
          </a:p>
        </p:txBody>
      </p:sp>
      <p:sp>
        <p:nvSpPr>
          <p:cNvPr id="9" name="Shape 7"/>
          <p:cNvSpPr/>
          <p:nvPr/>
        </p:nvSpPr>
        <p:spPr>
          <a:xfrm>
            <a:off x="1143000" y="44632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1203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1203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Row 1 of A becomes column 1 of Aᵀ: [1, 2, 3] goes down the left</a:t>
            </a:r>
            <a:endParaRPr lang="en-US" sz="2100" dirty="0"/>
          </a:p>
        </p:txBody>
      </p:sp>
      <p:sp>
        <p:nvSpPr>
          <p:cNvPr id="12" name="Shape 10"/>
          <p:cNvSpPr/>
          <p:nvPr/>
        </p:nvSpPr>
        <p:spPr>
          <a:xfrm>
            <a:off x="1143000" y="49755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46326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46326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Row 2 of A becomes column 2 of Aᵀ: [4, 5, 6] goes down the right</a:t>
            </a:r>
            <a:endParaRPr lang="en-US" sz="2100" dirty="0"/>
          </a:p>
        </p:txBody>
      </p:sp>
      <p:sp>
        <p:nvSpPr>
          <p:cNvPr id="15" name="Shape 13"/>
          <p:cNvSpPr/>
          <p:nvPr/>
        </p:nvSpPr>
        <p:spPr>
          <a:xfrm>
            <a:off x="1143000" y="5495925"/>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144988"/>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17" name="Text 15"/>
          <p:cNvSpPr/>
          <p:nvPr/>
        </p:nvSpPr>
        <p:spPr>
          <a:xfrm>
            <a:off x="1981200" y="5144988"/>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Aᵀ = [[1, 4], [2, 5], [3, 6]] — shape 3 × 2</a:t>
            </a:r>
            <a:endParaRPr lang="en-US" sz="2100" dirty="0"/>
          </a:p>
        </p:txBody>
      </p:sp>
      <p:sp>
        <p:nvSpPr>
          <p:cNvPr id="18" name="Shape 16"/>
          <p:cNvSpPr/>
          <p:nvPr/>
        </p:nvSpPr>
        <p:spPr>
          <a:xfrm>
            <a:off x="1143000" y="6708428"/>
            <a:ext cx="16002000" cy="19050"/>
          </a:xfrm>
          <a:prstGeom prst="rect">
            <a:avLst/>
          </a:prstGeom>
          <a:solidFill>
            <a:srgbClr val="EC3013"/>
          </a:solidFill>
          <a:ln/>
        </p:spPr>
        <p:txBody>
          <a:bodyPr/>
          <a:lstStyle/>
          <a:p>
            <a:endParaRPr lang="en-US"/>
          </a:p>
        </p:txBody>
      </p:sp>
      <p:sp>
        <p:nvSpPr>
          <p:cNvPr id="19" name="Text 17"/>
          <p:cNvSpPr/>
          <p:nvPr/>
        </p:nvSpPr>
        <p:spPr>
          <a:xfrm>
            <a:off x="1143000" y="7086600"/>
            <a:ext cx="2552700" cy="14097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20" name="Text 18"/>
          <p:cNvSpPr/>
          <p:nvPr/>
        </p:nvSpPr>
        <p:spPr>
          <a:xfrm>
            <a:off x="4076700" y="7086600"/>
            <a:ext cx="13460349" cy="1409700"/>
          </a:xfrm>
          <a:prstGeom prst="rect">
            <a:avLst/>
          </a:prstGeom>
          <a:noFill/>
          <a:ln/>
        </p:spPr>
        <p:txBody>
          <a:bodyPr wrap="square" lIns="25400" tIns="25400" rIns="25400" bIns="25400" rtlCol="0" anchor="t">
            <a:normAutofit lnSpcReduction="1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Attention computes Q × Kᵀ. Q and K are both (tokens × dimensions), which cannot be multiplied directly — transposing K makes the inner dimensions match, and turns the product into "every token dotted with every other token".</a:t>
            </a:r>
            <a:endParaRPr lang="en-US" sz="2100" dirty="0"/>
          </a:p>
        </p:txBody>
      </p:sp>
      <p:pic>
        <p:nvPicPr>
          <p:cNvPr id="21"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OPERATION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The identity matrix: matrix multiplication's 1</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Ones down the leading diagonal, zeros everywhere else. Multiply anything by it and nothing changes — A × I = A, exactly as x × 1 = x.</a:t>
            </a:r>
            <a:endParaRPr lang="en-US" sz="2100" dirty="0"/>
          </a:p>
        </p:txBody>
      </p:sp>
      <p:sp>
        <p:nvSpPr>
          <p:cNvPr id="5" name="Shape 3"/>
          <p:cNvSpPr/>
          <p:nvPr/>
        </p:nvSpPr>
        <p:spPr>
          <a:xfrm>
            <a:off x="1143000" y="38862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4080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40651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40651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I = [[1, 0], [0, 1]]</a:t>
            </a:r>
            <a:endParaRPr lang="en-US" sz="2100" dirty="0"/>
          </a:p>
        </p:txBody>
      </p:sp>
      <p:sp>
        <p:nvSpPr>
          <p:cNvPr id="9" name="Shape 7"/>
          <p:cNvSpPr/>
          <p:nvPr/>
        </p:nvSpPr>
        <p:spPr>
          <a:xfrm>
            <a:off x="1143000" y="49204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5775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5775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[[3, 7], [2, 5]] × I — Row 1 · Col 1: (3 × 1) + (7 × 0) = </a:t>
            </a:r>
            <a:r>
              <a:rPr lang="en-US" sz="2100" b="1" dirty="0">
                <a:solidFill>
                  <a:srgbClr val="201E1D"/>
                </a:solidFill>
                <a:latin typeface="Arial" pitchFamily="34" charset="0"/>
                <a:ea typeface="Arial" pitchFamily="34" charset="-122"/>
                <a:cs typeface="Arial" pitchFamily="34" charset="-120"/>
              </a:rPr>
              <a:t>3</a:t>
            </a:r>
            <a:endParaRPr lang="en-US" sz="2100" dirty="0"/>
          </a:p>
        </p:txBody>
      </p:sp>
      <p:sp>
        <p:nvSpPr>
          <p:cNvPr id="12" name="Shape 10"/>
          <p:cNvSpPr/>
          <p:nvPr/>
        </p:nvSpPr>
        <p:spPr>
          <a:xfrm>
            <a:off x="1143000" y="54327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50898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50898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Row 1 · Col 2: (3 × 0) + (7 × 1) = </a:t>
            </a:r>
            <a:r>
              <a:rPr lang="en-US" sz="2100" b="1" dirty="0">
                <a:solidFill>
                  <a:srgbClr val="201E1D"/>
                </a:solidFill>
                <a:latin typeface="Arial" pitchFamily="34" charset="0"/>
                <a:ea typeface="Arial" pitchFamily="34" charset="-122"/>
                <a:cs typeface="Arial" pitchFamily="34" charset="-120"/>
              </a:rPr>
              <a:t>7 </a:t>
            </a:r>
            <a:r>
              <a:rPr lang="en-US" sz="2100" dirty="0">
                <a:solidFill>
                  <a:srgbClr val="201E1D"/>
                </a:solidFill>
                <a:latin typeface="Arial" pitchFamily="34" charset="0"/>
                <a:ea typeface="Arial" pitchFamily="34" charset="-122"/>
                <a:cs typeface="Arial" pitchFamily="34" charset="-120"/>
              </a:rPr>
              <a:t>— the row comes through untouched</a:t>
            </a:r>
            <a:endParaRPr lang="en-US" sz="2100" dirty="0"/>
          </a:p>
        </p:txBody>
      </p:sp>
      <p:sp>
        <p:nvSpPr>
          <p:cNvPr id="15" name="Shape 13"/>
          <p:cNvSpPr/>
          <p:nvPr/>
        </p:nvSpPr>
        <p:spPr>
          <a:xfrm>
            <a:off x="1143000" y="5953125"/>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602188"/>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17" name="Text 15"/>
          <p:cNvSpPr/>
          <p:nvPr/>
        </p:nvSpPr>
        <p:spPr>
          <a:xfrm>
            <a:off x="1981200" y="5602188"/>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[[3, 7], [2, 5]] — unchanged, as promised</a:t>
            </a:r>
            <a:endParaRPr lang="en-US" sz="2100" dirty="0"/>
          </a:p>
        </p:txBody>
      </p:sp>
      <p:sp>
        <p:nvSpPr>
          <p:cNvPr id="18" name="Shape 16"/>
          <p:cNvSpPr/>
          <p:nvPr/>
        </p:nvSpPr>
        <p:spPr>
          <a:xfrm>
            <a:off x="1143000" y="7165628"/>
            <a:ext cx="16002000" cy="19050"/>
          </a:xfrm>
          <a:prstGeom prst="rect">
            <a:avLst/>
          </a:prstGeom>
          <a:solidFill>
            <a:srgbClr val="EC3013"/>
          </a:solidFill>
          <a:ln/>
        </p:spPr>
        <p:txBody>
          <a:bodyPr/>
          <a:lstStyle/>
          <a:p>
            <a:endParaRPr lang="en-US"/>
          </a:p>
        </p:txBody>
      </p:sp>
      <p:sp>
        <p:nvSpPr>
          <p:cNvPr id="19" name="Text 17"/>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WHY IT MATTERS</a:t>
            </a:r>
            <a:endParaRPr lang="en-US" sz="1800" dirty="0"/>
          </a:p>
        </p:txBody>
      </p:sp>
      <p:sp>
        <p:nvSpPr>
          <p:cNvPr id="20" name="Text 18"/>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 identity is how "no transformation" is written down. It is the definition of an inverse (A × A⁻¹ = I), and it is what a residual connection approximates when a layer has learned to do nothing.</a:t>
            </a:r>
            <a:endParaRPr lang="en-US" sz="2100" dirty="0"/>
          </a:p>
        </p:txBody>
      </p:sp>
      <p:pic>
        <p:nvPicPr>
          <p:cNvPr id="21"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CONCEPT</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The inverse: the undo button</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A⁻¹ is the matrix that undoes A. Apply A, then apply A⁻¹, and you are back where you started: A × A⁻¹ = I.</a:t>
            </a:r>
            <a:endParaRPr lang="en-US" sz="2100" dirty="0"/>
          </a:p>
        </p:txBody>
      </p:sp>
      <p:sp>
        <p:nvSpPr>
          <p:cNvPr id="5" name="Shape 3"/>
          <p:cNvSpPr/>
          <p:nvPr/>
        </p:nvSpPr>
        <p:spPr>
          <a:xfrm>
            <a:off x="1143000" y="3762375"/>
            <a:ext cx="5029200" cy="19050"/>
          </a:xfrm>
          <a:prstGeom prst="rect">
            <a:avLst/>
          </a:prstGeom>
          <a:solidFill>
            <a:srgbClr val="201E1E">
              <a:alpha val="40000"/>
            </a:srgbClr>
          </a:solidFill>
          <a:ln/>
        </p:spPr>
        <p:txBody>
          <a:bodyPr/>
          <a:lstStyle/>
          <a:p>
            <a:endParaRPr lang="en-US"/>
          </a:p>
        </p:txBody>
      </p:sp>
      <p:sp>
        <p:nvSpPr>
          <p:cNvPr id="6" name="Text 4"/>
          <p:cNvSpPr/>
          <p:nvPr/>
        </p:nvSpPr>
        <p:spPr>
          <a:xfrm>
            <a:off x="1143000" y="39970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What it is for</a:t>
            </a:r>
            <a:endParaRPr lang="en-US" sz="2550" dirty="0"/>
          </a:p>
        </p:txBody>
      </p:sp>
      <p:sp>
        <p:nvSpPr>
          <p:cNvPr id="7" name="Text 5"/>
          <p:cNvSpPr/>
          <p:nvPr/>
        </p:nvSpPr>
        <p:spPr>
          <a:xfrm>
            <a:off x="1143000" y="45032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Solving systems of equations. If Ax = b and you want x, then x = A⁻¹b. Classical regression is built on exactly this.</a:t>
            </a:r>
            <a:endParaRPr lang="en-US" sz="2100" dirty="0"/>
          </a:p>
        </p:txBody>
      </p:sp>
      <p:sp>
        <p:nvSpPr>
          <p:cNvPr id="8" name="Shape 6"/>
          <p:cNvSpPr/>
          <p:nvPr/>
        </p:nvSpPr>
        <p:spPr>
          <a:xfrm>
            <a:off x="6629400" y="3762375"/>
            <a:ext cx="5029200" cy="19050"/>
          </a:xfrm>
          <a:prstGeom prst="rect">
            <a:avLst/>
          </a:prstGeom>
          <a:solidFill>
            <a:srgbClr val="201E1E">
              <a:alpha val="40000"/>
            </a:srgbClr>
          </a:solidFill>
          <a:ln/>
        </p:spPr>
        <p:txBody>
          <a:bodyPr/>
          <a:lstStyle/>
          <a:p>
            <a:endParaRPr lang="en-US"/>
          </a:p>
        </p:txBody>
      </p:sp>
      <p:sp>
        <p:nvSpPr>
          <p:cNvPr id="9" name="Text 7"/>
          <p:cNvSpPr/>
          <p:nvPr/>
        </p:nvSpPr>
        <p:spPr>
          <a:xfrm>
            <a:off x="6629400" y="39970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When it does not exist</a:t>
            </a:r>
            <a:endParaRPr lang="en-US" sz="2550" dirty="0"/>
          </a:p>
        </p:txBody>
      </p:sp>
      <p:sp>
        <p:nvSpPr>
          <p:cNvPr id="10" name="Text 8"/>
          <p:cNvSpPr/>
          <p:nvPr/>
        </p:nvSpPr>
        <p:spPr>
          <a:xfrm>
            <a:off x="6629400" y="4503241"/>
            <a:ext cx="5180076" cy="15926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If the matrix squashes information away — two rows saying the same thing — there is no way back. Such a matrix is called singular.</a:t>
            </a:r>
            <a:endParaRPr lang="en-US" sz="2100" dirty="0"/>
          </a:p>
        </p:txBody>
      </p:sp>
      <p:sp>
        <p:nvSpPr>
          <p:cNvPr id="11" name="Shape 9"/>
          <p:cNvSpPr/>
          <p:nvPr/>
        </p:nvSpPr>
        <p:spPr>
          <a:xfrm>
            <a:off x="12115800" y="3762375"/>
            <a:ext cx="5029200" cy="19050"/>
          </a:xfrm>
          <a:prstGeom prst="rect">
            <a:avLst/>
          </a:prstGeom>
          <a:solidFill>
            <a:srgbClr val="201E1E">
              <a:alpha val="40000"/>
            </a:srgbClr>
          </a:solidFill>
          <a:ln/>
        </p:spPr>
        <p:txBody>
          <a:bodyPr/>
          <a:lstStyle/>
          <a:p>
            <a:endParaRPr lang="en-US"/>
          </a:p>
        </p:txBody>
      </p:sp>
      <p:sp>
        <p:nvSpPr>
          <p:cNvPr id="12" name="Text 10"/>
          <p:cNvSpPr/>
          <p:nvPr/>
        </p:nvSpPr>
        <p:spPr>
          <a:xfrm>
            <a:off x="12115800" y="39970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Why deep learning skips it</a:t>
            </a:r>
            <a:endParaRPr lang="en-US" sz="2550" dirty="0"/>
          </a:p>
        </p:txBody>
      </p:sp>
      <p:sp>
        <p:nvSpPr>
          <p:cNvPr id="13" name="Text 11"/>
          <p:cNvSpPr/>
          <p:nvPr/>
        </p:nvSpPr>
        <p:spPr>
          <a:xfrm>
            <a:off x="12115800" y="4503241"/>
            <a:ext cx="5180076" cy="20498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Inverting a large matrix is slow and numerically fragile. Gradient descent finds the answer iteratively instead, which is why we spend Part 4 on gradients rather than on this.</a:t>
            </a:r>
            <a:endParaRPr lang="en-US" sz="2100" dirty="0"/>
          </a:p>
        </p:txBody>
      </p:sp>
      <p:sp>
        <p:nvSpPr>
          <p:cNvPr id="14" name="Shape 12"/>
          <p:cNvSpPr/>
          <p:nvPr/>
        </p:nvSpPr>
        <p:spPr>
          <a:xfrm>
            <a:off x="1143000" y="7165628"/>
            <a:ext cx="16002000" cy="19050"/>
          </a:xfrm>
          <a:prstGeom prst="rect">
            <a:avLst/>
          </a:prstGeom>
          <a:solidFill>
            <a:srgbClr val="201E1E">
              <a:alpha val="40000"/>
            </a:srgbClr>
          </a:solidFill>
          <a:ln/>
        </p:spPr>
        <p:txBody>
          <a:bodyPr/>
          <a:lstStyle/>
          <a:p>
            <a:endParaRPr lang="en-US"/>
          </a:p>
        </p:txBody>
      </p:sp>
      <p:sp>
        <p:nvSpPr>
          <p:cNvPr id="15" name="Text 13"/>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GOTCHA</a:t>
            </a:r>
            <a:endParaRPr lang="en-US" sz="1800" dirty="0"/>
          </a:p>
        </p:txBody>
      </p:sp>
      <p:sp>
        <p:nvSpPr>
          <p:cNvPr id="16" name="Text 14"/>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"Nearly singular" is worse than singular. The inverse exists but is enormous and unstable, so tiny changes in the input produce wild changes in the output. That is a numerical-stability problem, and we return to it in Part 4.</a:t>
            </a:r>
            <a:endParaRPr lang="en-US" sz="2100" dirty="0"/>
          </a:p>
        </p:txBody>
      </p:sp>
      <p:pic>
        <p:nvPicPr>
          <p:cNvPr id="17"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CONCEPT</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The determinant: does this squash space?</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85000" lnSpcReduction="1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One number summarising how much a matrix stretches or shrinks the space it acts on. For a 2 × 2 it is two multiplications and a subtraction.</a:t>
            </a:r>
            <a:endParaRPr lang="en-US" sz="2100" dirty="0"/>
          </a:p>
        </p:txBody>
      </p:sp>
      <p:sp>
        <p:nvSpPr>
          <p:cNvPr id="5" name="Shape 3"/>
          <p:cNvSpPr/>
          <p:nvPr/>
        </p:nvSpPr>
        <p:spPr>
          <a:xfrm>
            <a:off x="1143000" y="5711130"/>
            <a:ext cx="16002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229100"/>
            <a:ext cx="16002000" cy="19050"/>
          </a:xfrm>
          <a:prstGeom prst="rect">
            <a:avLst/>
          </a:prstGeom>
          <a:solidFill>
            <a:srgbClr val="201E1E">
              <a:alpha val="40000"/>
            </a:srgbClr>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43000" y="4591050"/>
            <a:ext cx="16002000" cy="777180"/>
          </a:xfrm>
          <a:prstGeom prst="rect">
            <a:avLst/>
          </a:prstGeom>
        </p:spPr>
      </p:pic>
      <p:sp>
        <p:nvSpPr>
          <p:cNvPr id="8" name="Text 5"/>
          <p:cNvSpPr/>
          <p:nvPr/>
        </p:nvSpPr>
        <p:spPr>
          <a:xfrm>
            <a:off x="1143000" y="5865019"/>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Large value</a:t>
            </a:r>
            <a:endParaRPr lang="en-US" sz="1950" dirty="0"/>
          </a:p>
        </p:txBody>
      </p:sp>
      <p:sp>
        <p:nvSpPr>
          <p:cNvPr id="9" name="Text 6"/>
          <p:cNvSpPr/>
          <p:nvPr/>
        </p:nvSpPr>
        <p:spPr>
          <a:xfrm>
            <a:off x="4343400" y="5865019"/>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matrix expands space. Areas get bigger under the transformation.</a:t>
            </a:r>
            <a:endParaRPr lang="en-US" sz="1950" dirty="0"/>
          </a:p>
        </p:txBody>
      </p:sp>
      <p:sp>
        <p:nvSpPr>
          <p:cNvPr id="10" name="Text 7"/>
          <p:cNvSpPr/>
          <p:nvPr/>
        </p:nvSpPr>
        <p:spPr>
          <a:xfrm>
            <a:off x="1143000" y="6571357"/>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Value of 1</a:t>
            </a:r>
            <a:endParaRPr lang="en-US" sz="1950" dirty="0"/>
          </a:p>
        </p:txBody>
      </p:sp>
      <p:sp>
        <p:nvSpPr>
          <p:cNvPr id="11" name="Text 8"/>
          <p:cNvSpPr/>
          <p:nvPr/>
        </p:nvSpPr>
        <p:spPr>
          <a:xfrm>
            <a:off x="4343400" y="6571357"/>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Area is preserved. A pure rotation has determinant 1.</a:t>
            </a:r>
            <a:endParaRPr lang="en-US" sz="1950" dirty="0"/>
          </a:p>
        </p:txBody>
      </p:sp>
      <p:sp>
        <p:nvSpPr>
          <p:cNvPr id="12" name="Text 9"/>
          <p:cNvSpPr/>
          <p:nvPr/>
        </p:nvSpPr>
        <p:spPr>
          <a:xfrm>
            <a:off x="1143000" y="7277695"/>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Value of 0</a:t>
            </a:r>
            <a:endParaRPr lang="en-US" sz="1950" dirty="0"/>
          </a:p>
        </p:txBody>
      </p:sp>
      <p:sp>
        <p:nvSpPr>
          <p:cNvPr id="13" name="Text 10"/>
          <p:cNvSpPr/>
          <p:nvPr/>
        </p:nvSpPr>
        <p:spPr>
          <a:xfrm>
            <a:off x="4343400" y="7277695"/>
            <a:ext cx="12008358" cy="531837"/>
          </a:xfrm>
          <a:prstGeom prst="rect">
            <a:avLst/>
          </a:prstGeom>
          <a:noFill/>
          <a:ln/>
        </p:spPr>
        <p:txBody>
          <a:bodyPr wrap="square" lIns="25400" tIns="25400" rIns="25400" bIns="25400" rtlCol="0" anchor="t">
            <a:normAutofit fontScale="925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matrix flattens space onto a line or a point. Information is destroyed, no inverse exists, and the matrix is singular.</a:t>
            </a:r>
            <a:endParaRPr lang="en-US" sz="1950" dirty="0"/>
          </a:p>
        </p:txBody>
      </p:sp>
      <p:sp>
        <p:nvSpPr>
          <p:cNvPr id="14" name="Text 11"/>
          <p:cNvSpPr/>
          <p:nvPr/>
        </p:nvSpPr>
        <p:spPr>
          <a:xfrm>
            <a:off x="1143000" y="8153921"/>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Negative value</a:t>
            </a:r>
            <a:endParaRPr lang="en-US" sz="1950" dirty="0"/>
          </a:p>
        </p:txBody>
      </p:sp>
      <p:sp>
        <p:nvSpPr>
          <p:cNvPr id="15" name="Text 12"/>
          <p:cNvSpPr/>
          <p:nvPr/>
        </p:nvSpPr>
        <p:spPr>
          <a:xfrm>
            <a:off x="4343400" y="8153921"/>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transformation flips orientation as well as scaling — a reflection.</a:t>
            </a:r>
            <a:endParaRPr lang="en-US" sz="1950" dirty="0"/>
          </a:p>
        </p:txBody>
      </p:sp>
      <p:pic>
        <p:nvPicPr>
          <p:cNvPr id="16"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OPERATION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Reshaping and stacking into tensors</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Reshaping rearranges the same numbers into a different grid. The count never changes — 12 numbers stay 12 numbers, however you fold them.</a:t>
            </a:r>
            <a:endParaRPr lang="en-US" sz="2100" dirty="0"/>
          </a:p>
        </p:txBody>
      </p:sp>
      <p:sp>
        <p:nvSpPr>
          <p:cNvPr id="5" name="Shape 3"/>
          <p:cNvSpPr/>
          <p:nvPr/>
        </p:nvSpPr>
        <p:spPr>
          <a:xfrm>
            <a:off x="1143000" y="4548411"/>
            <a:ext cx="2937570" cy="19050"/>
          </a:xfrm>
          <a:prstGeom prst="rect">
            <a:avLst/>
          </a:prstGeom>
          <a:solidFill>
            <a:srgbClr val="201E1E">
              <a:alpha val="40000"/>
            </a:srgbClr>
          </a:solidFill>
          <a:ln/>
        </p:spPr>
        <p:txBody>
          <a:bodyPr/>
          <a:lstStyle/>
          <a:p>
            <a:endParaRPr lang="en-US"/>
          </a:p>
        </p:txBody>
      </p:sp>
      <p:sp>
        <p:nvSpPr>
          <p:cNvPr id="6" name="Text 4"/>
          <p:cNvSpPr/>
          <p:nvPr/>
        </p:nvSpPr>
        <p:spPr>
          <a:xfrm>
            <a:off x="1143000" y="4202090"/>
            <a:ext cx="2797097"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SHAPE</a:t>
            </a:r>
            <a:endParaRPr lang="en-US" sz="1800" dirty="0"/>
          </a:p>
        </p:txBody>
      </p:sp>
      <p:sp>
        <p:nvSpPr>
          <p:cNvPr id="7" name="Shape 5"/>
          <p:cNvSpPr/>
          <p:nvPr/>
        </p:nvSpPr>
        <p:spPr>
          <a:xfrm>
            <a:off x="4080570" y="4548411"/>
            <a:ext cx="7837736" cy="19050"/>
          </a:xfrm>
          <a:prstGeom prst="rect">
            <a:avLst/>
          </a:prstGeom>
          <a:solidFill>
            <a:srgbClr val="201E1E">
              <a:alpha val="40000"/>
            </a:srgbClr>
          </a:solidFill>
          <a:ln/>
        </p:spPr>
        <p:txBody>
          <a:bodyPr/>
          <a:lstStyle/>
          <a:p>
            <a:endParaRPr lang="en-US"/>
          </a:p>
        </p:txBody>
      </p:sp>
      <p:sp>
        <p:nvSpPr>
          <p:cNvPr id="8" name="Text 6"/>
          <p:cNvSpPr/>
          <p:nvPr/>
        </p:nvSpPr>
        <p:spPr>
          <a:xfrm>
            <a:off x="4309170" y="4202090"/>
            <a:ext cx="7615668"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READS AS</a:t>
            </a:r>
            <a:endParaRPr lang="en-US" sz="1800" dirty="0"/>
          </a:p>
        </p:txBody>
      </p:sp>
      <p:sp>
        <p:nvSpPr>
          <p:cNvPr id="9" name="Shape 7"/>
          <p:cNvSpPr/>
          <p:nvPr/>
        </p:nvSpPr>
        <p:spPr>
          <a:xfrm>
            <a:off x="11918305" y="4548411"/>
            <a:ext cx="4083695" cy="19050"/>
          </a:xfrm>
          <a:prstGeom prst="rect">
            <a:avLst/>
          </a:prstGeom>
          <a:solidFill>
            <a:srgbClr val="201E1E">
              <a:alpha val="40000"/>
            </a:srgbClr>
          </a:solidFill>
          <a:ln/>
        </p:spPr>
        <p:txBody>
          <a:bodyPr/>
          <a:lstStyle/>
          <a:p>
            <a:endParaRPr lang="en-US"/>
          </a:p>
        </p:txBody>
      </p:sp>
      <p:sp>
        <p:nvSpPr>
          <p:cNvPr id="10" name="Text 8"/>
          <p:cNvSpPr/>
          <p:nvPr/>
        </p:nvSpPr>
        <p:spPr>
          <a:xfrm>
            <a:off x="12146905" y="4202090"/>
            <a:ext cx="3977606"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TOTAL NUMBERS</a:t>
            </a:r>
            <a:endParaRPr lang="en-US" sz="1800" dirty="0"/>
          </a:p>
        </p:txBody>
      </p:sp>
      <p:sp>
        <p:nvSpPr>
          <p:cNvPr id="11" name="Shape 9"/>
          <p:cNvSpPr/>
          <p:nvPr/>
        </p:nvSpPr>
        <p:spPr>
          <a:xfrm>
            <a:off x="1143000" y="5129510"/>
            <a:ext cx="2937570" cy="9525"/>
          </a:xfrm>
          <a:prstGeom prst="rect">
            <a:avLst/>
          </a:prstGeom>
          <a:solidFill>
            <a:srgbClr val="201E1E">
              <a:alpha val="40000"/>
            </a:srgbClr>
          </a:solidFill>
          <a:ln/>
        </p:spPr>
        <p:txBody>
          <a:bodyPr/>
          <a:lstStyle/>
          <a:p>
            <a:endParaRPr lang="en-US"/>
          </a:p>
        </p:txBody>
      </p:sp>
      <p:sp>
        <p:nvSpPr>
          <p:cNvPr id="12" name="Text 10"/>
          <p:cNvSpPr/>
          <p:nvPr/>
        </p:nvSpPr>
        <p:spPr>
          <a:xfrm>
            <a:off x="1143000" y="4764485"/>
            <a:ext cx="2797097"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(12,)</a:t>
            </a:r>
            <a:endParaRPr lang="en-US" sz="1875" dirty="0"/>
          </a:p>
        </p:txBody>
      </p:sp>
      <p:sp>
        <p:nvSpPr>
          <p:cNvPr id="13" name="Shape 11"/>
          <p:cNvSpPr/>
          <p:nvPr/>
        </p:nvSpPr>
        <p:spPr>
          <a:xfrm>
            <a:off x="4080570" y="5129510"/>
            <a:ext cx="7837736" cy="9525"/>
          </a:xfrm>
          <a:prstGeom prst="rect">
            <a:avLst/>
          </a:prstGeom>
          <a:solidFill>
            <a:srgbClr val="201E1E">
              <a:alpha val="40000"/>
            </a:srgbClr>
          </a:solidFill>
          <a:ln/>
        </p:spPr>
        <p:txBody>
          <a:bodyPr/>
          <a:lstStyle/>
          <a:p>
            <a:endParaRPr lang="en-US"/>
          </a:p>
        </p:txBody>
      </p:sp>
      <p:sp>
        <p:nvSpPr>
          <p:cNvPr id="14" name="Text 12"/>
          <p:cNvSpPr/>
          <p:nvPr/>
        </p:nvSpPr>
        <p:spPr>
          <a:xfrm>
            <a:off x="4309170" y="4764485"/>
            <a:ext cx="7615668"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One flat list</a:t>
            </a:r>
            <a:endParaRPr lang="en-US" sz="1875" dirty="0"/>
          </a:p>
        </p:txBody>
      </p:sp>
      <p:sp>
        <p:nvSpPr>
          <p:cNvPr id="15" name="Shape 13"/>
          <p:cNvSpPr/>
          <p:nvPr/>
        </p:nvSpPr>
        <p:spPr>
          <a:xfrm>
            <a:off x="11918305" y="5129510"/>
            <a:ext cx="4083695" cy="9525"/>
          </a:xfrm>
          <a:prstGeom prst="rect">
            <a:avLst/>
          </a:prstGeom>
          <a:solidFill>
            <a:srgbClr val="201E1E">
              <a:alpha val="40000"/>
            </a:srgbClr>
          </a:solidFill>
          <a:ln/>
        </p:spPr>
        <p:txBody>
          <a:bodyPr/>
          <a:lstStyle/>
          <a:p>
            <a:endParaRPr lang="en-US"/>
          </a:p>
        </p:txBody>
      </p:sp>
      <p:sp>
        <p:nvSpPr>
          <p:cNvPr id="16" name="Text 14"/>
          <p:cNvSpPr/>
          <p:nvPr/>
        </p:nvSpPr>
        <p:spPr>
          <a:xfrm>
            <a:off x="12146905" y="4764485"/>
            <a:ext cx="3977606"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12</a:t>
            </a:r>
            <a:endParaRPr lang="en-US" sz="1875" dirty="0"/>
          </a:p>
        </p:txBody>
      </p:sp>
      <p:sp>
        <p:nvSpPr>
          <p:cNvPr id="17" name="Shape 15"/>
          <p:cNvSpPr/>
          <p:nvPr/>
        </p:nvSpPr>
        <p:spPr>
          <a:xfrm>
            <a:off x="1143000" y="5696322"/>
            <a:ext cx="2937570" cy="9525"/>
          </a:xfrm>
          <a:prstGeom prst="rect">
            <a:avLst/>
          </a:prstGeom>
          <a:solidFill>
            <a:srgbClr val="201E1E">
              <a:alpha val="40000"/>
            </a:srgbClr>
          </a:solidFill>
          <a:ln/>
        </p:spPr>
        <p:txBody>
          <a:bodyPr/>
          <a:lstStyle/>
          <a:p>
            <a:endParaRPr lang="en-US"/>
          </a:p>
        </p:txBody>
      </p:sp>
      <p:sp>
        <p:nvSpPr>
          <p:cNvPr id="18" name="Text 16"/>
          <p:cNvSpPr/>
          <p:nvPr/>
        </p:nvSpPr>
        <p:spPr>
          <a:xfrm>
            <a:off x="1143000" y="5336060"/>
            <a:ext cx="279709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(3, 4)</a:t>
            </a:r>
            <a:endParaRPr lang="en-US" sz="1875" dirty="0"/>
          </a:p>
        </p:txBody>
      </p:sp>
      <p:sp>
        <p:nvSpPr>
          <p:cNvPr id="19" name="Shape 17"/>
          <p:cNvSpPr/>
          <p:nvPr/>
        </p:nvSpPr>
        <p:spPr>
          <a:xfrm>
            <a:off x="4080570" y="5696322"/>
            <a:ext cx="7837736" cy="9525"/>
          </a:xfrm>
          <a:prstGeom prst="rect">
            <a:avLst/>
          </a:prstGeom>
          <a:solidFill>
            <a:srgbClr val="201E1E">
              <a:alpha val="40000"/>
            </a:srgbClr>
          </a:solidFill>
          <a:ln/>
        </p:spPr>
        <p:txBody>
          <a:bodyPr/>
          <a:lstStyle/>
          <a:p>
            <a:endParaRPr lang="en-US"/>
          </a:p>
        </p:txBody>
      </p:sp>
      <p:sp>
        <p:nvSpPr>
          <p:cNvPr id="20" name="Text 18"/>
          <p:cNvSpPr/>
          <p:nvPr/>
        </p:nvSpPr>
        <p:spPr>
          <a:xfrm>
            <a:off x="4309170" y="5336060"/>
            <a:ext cx="7615668"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 rows of 4</a:t>
            </a:r>
            <a:endParaRPr lang="en-US" sz="1875" dirty="0"/>
          </a:p>
        </p:txBody>
      </p:sp>
      <p:sp>
        <p:nvSpPr>
          <p:cNvPr id="21" name="Shape 19"/>
          <p:cNvSpPr/>
          <p:nvPr/>
        </p:nvSpPr>
        <p:spPr>
          <a:xfrm>
            <a:off x="11918305" y="5696322"/>
            <a:ext cx="4083695" cy="9525"/>
          </a:xfrm>
          <a:prstGeom prst="rect">
            <a:avLst/>
          </a:prstGeom>
          <a:solidFill>
            <a:srgbClr val="201E1E">
              <a:alpha val="40000"/>
            </a:srgbClr>
          </a:solidFill>
          <a:ln/>
        </p:spPr>
        <p:txBody>
          <a:bodyPr/>
          <a:lstStyle/>
          <a:p>
            <a:endParaRPr lang="en-US"/>
          </a:p>
        </p:txBody>
      </p:sp>
      <p:sp>
        <p:nvSpPr>
          <p:cNvPr id="22" name="Text 20"/>
          <p:cNvSpPr/>
          <p:nvPr/>
        </p:nvSpPr>
        <p:spPr>
          <a:xfrm>
            <a:off x="12146905" y="5336060"/>
            <a:ext cx="397760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12</a:t>
            </a:r>
            <a:endParaRPr lang="en-US" sz="1875" dirty="0"/>
          </a:p>
        </p:txBody>
      </p:sp>
      <p:sp>
        <p:nvSpPr>
          <p:cNvPr id="23" name="Shape 21"/>
          <p:cNvSpPr/>
          <p:nvPr/>
        </p:nvSpPr>
        <p:spPr>
          <a:xfrm>
            <a:off x="1143000" y="6263134"/>
            <a:ext cx="2937570" cy="9525"/>
          </a:xfrm>
          <a:prstGeom prst="rect">
            <a:avLst/>
          </a:prstGeom>
          <a:solidFill>
            <a:srgbClr val="201E1E">
              <a:alpha val="40000"/>
            </a:srgbClr>
          </a:solidFill>
          <a:ln/>
        </p:spPr>
        <p:txBody>
          <a:bodyPr/>
          <a:lstStyle/>
          <a:p>
            <a:endParaRPr lang="en-US"/>
          </a:p>
        </p:txBody>
      </p:sp>
      <p:sp>
        <p:nvSpPr>
          <p:cNvPr id="24" name="Text 22"/>
          <p:cNvSpPr/>
          <p:nvPr/>
        </p:nvSpPr>
        <p:spPr>
          <a:xfrm>
            <a:off x="1143000" y="5902872"/>
            <a:ext cx="279709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(2, 2, 3)</a:t>
            </a:r>
            <a:endParaRPr lang="en-US" sz="1875" dirty="0"/>
          </a:p>
        </p:txBody>
      </p:sp>
      <p:sp>
        <p:nvSpPr>
          <p:cNvPr id="25" name="Shape 23"/>
          <p:cNvSpPr/>
          <p:nvPr/>
        </p:nvSpPr>
        <p:spPr>
          <a:xfrm>
            <a:off x="4080570" y="6263134"/>
            <a:ext cx="7837736" cy="9525"/>
          </a:xfrm>
          <a:prstGeom prst="rect">
            <a:avLst/>
          </a:prstGeom>
          <a:solidFill>
            <a:srgbClr val="201E1E">
              <a:alpha val="40000"/>
            </a:srgbClr>
          </a:solidFill>
          <a:ln/>
        </p:spPr>
        <p:txBody>
          <a:bodyPr/>
          <a:lstStyle/>
          <a:p>
            <a:endParaRPr lang="en-US"/>
          </a:p>
        </p:txBody>
      </p:sp>
      <p:sp>
        <p:nvSpPr>
          <p:cNvPr id="26" name="Text 24"/>
          <p:cNvSpPr/>
          <p:nvPr/>
        </p:nvSpPr>
        <p:spPr>
          <a:xfrm>
            <a:off x="4309170" y="5902872"/>
            <a:ext cx="7615668"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 stacked 2×3 matrices</a:t>
            </a:r>
            <a:endParaRPr lang="en-US" sz="1875" dirty="0"/>
          </a:p>
        </p:txBody>
      </p:sp>
      <p:sp>
        <p:nvSpPr>
          <p:cNvPr id="27" name="Shape 25"/>
          <p:cNvSpPr/>
          <p:nvPr/>
        </p:nvSpPr>
        <p:spPr>
          <a:xfrm>
            <a:off x="11918305" y="6263134"/>
            <a:ext cx="4083695" cy="9525"/>
          </a:xfrm>
          <a:prstGeom prst="rect">
            <a:avLst/>
          </a:prstGeom>
          <a:solidFill>
            <a:srgbClr val="201E1E">
              <a:alpha val="40000"/>
            </a:srgbClr>
          </a:solidFill>
          <a:ln/>
        </p:spPr>
        <p:txBody>
          <a:bodyPr/>
          <a:lstStyle/>
          <a:p>
            <a:endParaRPr lang="en-US"/>
          </a:p>
        </p:txBody>
      </p:sp>
      <p:sp>
        <p:nvSpPr>
          <p:cNvPr id="28" name="Text 26"/>
          <p:cNvSpPr/>
          <p:nvPr/>
        </p:nvSpPr>
        <p:spPr>
          <a:xfrm>
            <a:off x="12146905" y="5902872"/>
            <a:ext cx="397760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12</a:t>
            </a:r>
            <a:endParaRPr lang="en-US" sz="1875" dirty="0"/>
          </a:p>
        </p:txBody>
      </p:sp>
      <p:sp>
        <p:nvSpPr>
          <p:cNvPr id="29" name="Shape 27"/>
          <p:cNvSpPr/>
          <p:nvPr/>
        </p:nvSpPr>
        <p:spPr>
          <a:xfrm>
            <a:off x="1143000" y="6829946"/>
            <a:ext cx="2937570" cy="9525"/>
          </a:xfrm>
          <a:prstGeom prst="rect">
            <a:avLst/>
          </a:prstGeom>
          <a:solidFill>
            <a:srgbClr val="201E1E">
              <a:alpha val="40000"/>
            </a:srgbClr>
          </a:solidFill>
          <a:ln/>
        </p:spPr>
        <p:txBody>
          <a:bodyPr/>
          <a:lstStyle/>
          <a:p>
            <a:endParaRPr lang="en-US"/>
          </a:p>
        </p:txBody>
      </p:sp>
      <p:sp>
        <p:nvSpPr>
          <p:cNvPr id="30" name="Text 28"/>
          <p:cNvSpPr/>
          <p:nvPr/>
        </p:nvSpPr>
        <p:spPr>
          <a:xfrm>
            <a:off x="1143000" y="6469684"/>
            <a:ext cx="279709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(32, 512, 768)</a:t>
            </a:r>
            <a:endParaRPr lang="en-US" sz="1875" dirty="0"/>
          </a:p>
        </p:txBody>
      </p:sp>
      <p:sp>
        <p:nvSpPr>
          <p:cNvPr id="31" name="Shape 29"/>
          <p:cNvSpPr/>
          <p:nvPr/>
        </p:nvSpPr>
        <p:spPr>
          <a:xfrm>
            <a:off x="4080570" y="6829946"/>
            <a:ext cx="7837736" cy="9525"/>
          </a:xfrm>
          <a:prstGeom prst="rect">
            <a:avLst/>
          </a:prstGeom>
          <a:solidFill>
            <a:srgbClr val="201E1E">
              <a:alpha val="40000"/>
            </a:srgbClr>
          </a:solidFill>
          <a:ln/>
        </p:spPr>
        <p:txBody>
          <a:bodyPr/>
          <a:lstStyle/>
          <a:p>
            <a:endParaRPr lang="en-US"/>
          </a:p>
        </p:txBody>
      </p:sp>
      <p:sp>
        <p:nvSpPr>
          <p:cNvPr id="32" name="Text 30"/>
          <p:cNvSpPr/>
          <p:nvPr/>
        </p:nvSpPr>
        <p:spPr>
          <a:xfrm>
            <a:off x="4309170" y="6469684"/>
            <a:ext cx="7615668"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32 sequences × 512 tokens × 768 dims</a:t>
            </a:r>
            <a:endParaRPr lang="en-US" sz="1875" dirty="0"/>
          </a:p>
        </p:txBody>
      </p:sp>
      <p:sp>
        <p:nvSpPr>
          <p:cNvPr id="33" name="Shape 31"/>
          <p:cNvSpPr/>
          <p:nvPr/>
        </p:nvSpPr>
        <p:spPr>
          <a:xfrm>
            <a:off x="11918305" y="6829946"/>
            <a:ext cx="4083695" cy="9525"/>
          </a:xfrm>
          <a:prstGeom prst="rect">
            <a:avLst/>
          </a:prstGeom>
          <a:solidFill>
            <a:srgbClr val="201E1E">
              <a:alpha val="40000"/>
            </a:srgbClr>
          </a:solidFill>
          <a:ln/>
        </p:spPr>
        <p:txBody>
          <a:bodyPr/>
          <a:lstStyle/>
          <a:p>
            <a:endParaRPr lang="en-US"/>
          </a:p>
        </p:txBody>
      </p:sp>
      <p:sp>
        <p:nvSpPr>
          <p:cNvPr id="34" name="Text 32"/>
          <p:cNvSpPr/>
          <p:nvPr/>
        </p:nvSpPr>
        <p:spPr>
          <a:xfrm>
            <a:off x="12146905" y="6469684"/>
            <a:ext cx="397760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12,582,912</a:t>
            </a:r>
            <a:endParaRPr lang="en-US" sz="1875" dirty="0"/>
          </a:p>
        </p:txBody>
      </p:sp>
      <p:sp>
        <p:nvSpPr>
          <p:cNvPr id="35" name="Shape 33"/>
          <p:cNvSpPr/>
          <p:nvPr/>
        </p:nvSpPr>
        <p:spPr>
          <a:xfrm>
            <a:off x="1143000" y="7165628"/>
            <a:ext cx="16002000" cy="19050"/>
          </a:xfrm>
          <a:prstGeom prst="rect">
            <a:avLst/>
          </a:prstGeom>
          <a:solidFill>
            <a:srgbClr val="EC3013"/>
          </a:solidFill>
          <a:ln/>
        </p:spPr>
        <p:txBody>
          <a:bodyPr/>
          <a:lstStyle/>
          <a:p>
            <a:endParaRPr lang="en-US"/>
          </a:p>
        </p:txBody>
      </p:sp>
      <p:sp>
        <p:nvSpPr>
          <p:cNvPr id="36" name="Text 34"/>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37" name="Text 35"/>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That last row is a real transformer batch. The leading 32 is the batch dimension — it exists so a GPU can process 32 inputs in the time it would take to process one. Batching is why inference is affordable.</a:t>
            </a:r>
            <a:endParaRPr lang="en-US" sz="2100" dirty="0"/>
          </a:p>
        </p:txBody>
      </p:sp>
      <p:pic>
        <p:nvPicPr>
          <p:cNvPr id="38"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WORKED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Q × Kᵀ: what attention actually computes</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Three tokens, two dimensions each. Q = K = [[1, 0], [0, 1], [1, 1]] — call the rows "cat", "sat", "mat". Q × Kᵀ scores every token against every other token.</a:t>
            </a:r>
            <a:endParaRPr lang="en-US" sz="2100" dirty="0"/>
          </a:p>
        </p:txBody>
      </p:sp>
      <p:sp>
        <p:nvSpPr>
          <p:cNvPr id="5" name="Shape 3"/>
          <p:cNvSpPr/>
          <p:nvPr/>
        </p:nvSpPr>
        <p:spPr>
          <a:xfrm>
            <a:off x="1143000" y="38862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4080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40651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40651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Kᵀ = [[1, 0, 1], [0, 1, 1]] — shape flips from 3×2 to 2×3</a:t>
            </a:r>
            <a:endParaRPr lang="en-US" sz="2100" dirty="0"/>
          </a:p>
        </p:txBody>
      </p:sp>
      <p:sp>
        <p:nvSpPr>
          <p:cNvPr id="9" name="Shape 7"/>
          <p:cNvSpPr/>
          <p:nvPr/>
        </p:nvSpPr>
        <p:spPr>
          <a:xfrm>
            <a:off x="1143000" y="49204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5775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5775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Shapes: (3 × 2) × (2 × 3) = </a:t>
            </a:r>
            <a:r>
              <a:rPr lang="en-US" sz="2100" b="1" dirty="0">
                <a:solidFill>
                  <a:srgbClr val="201E1D"/>
                </a:solidFill>
                <a:latin typeface="Arial" pitchFamily="34" charset="0"/>
                <a:ea typeface="Arial" pitchFamily="34" charset="-122"/>
                <a:cs typeface="Arial" pitchFamily="34" charset="-120"/>
              </a:rPr>
              <a:t>3 × 3 </a:t>
            </a:r>
            <a:r>
              <a:rPr lang="en-US" sz="2100" dirty="0">
                <a:solidFill>
                  <a:srgbClr val="201E1D"/>
                </a:solidFill>
                <a:latin typeface="Arial" pitchFamily="34" charset="0"/>
                <a:ea typeface="Arial" pitchFamily="34" charset="-122"/>
                <a:cs typeface="Arial" pitchFamily="34" charset="-120"/>
              </a:rPr>
              <a:t>— one score per token pair</a:t>
            </a:r>
            <a:endParaRPr lang="en-US" sz="2100" dirty="0"/>
          </a:p>
        </p:txBody>
      </p:sp>
      <p:sp>
        <p:nvSpPr>
          <p:cNvPr id="12" name="Shape 10"/>
          <p:cNvSpPr/>
          <p:nvPr/>
        </p:nvSpPr>
        <p:spPr>
          <a:xfrm>
            <a:off x="1143000" y="54327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50898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50898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Row "cat" · Col "cat": (1×1)+(0×0) = </a:t>
            </a:r>
            <a:r>
              <a:rPr lang="en-US" sz="2100" b="1" dirty="0">
                <a:solidFill>
                  <a:srgbClr val="201E1D"/>
                </a:solidFill>
                <a:latin typeface="Arial" pitchFamily="34" charset="0"/>
                <a:ea typeface="Arial" pitchFamily="34" charset="-122"/>
                <a:cs typeface="Arial" pitchFamily="34" charset="-120"/>
              </a:rPr>
              <a:t>1 </a:t>
            </a:r>
            <a:r>
              <a:rPr lang="en-US" sz="2100" dirty="0">
                <a:solidFill>
                  <a:srgbClr val="201E1D"/>
                </a:solidFill>
                <a:latin typeface="Arial" pitchFamily="34" charset="0"/>
                <a:ea typeface="Arial" pitchFamily="34" charset="-122"/>
                <a:cs typeface="Arial" pitchFamily="34" charset="-120"/>
              </a:rPr>
              <a:t>· vs "sat": (1×0)+(0×1) = </a:t>
            </a:r>
            <a:r>
              <a:rPr lang="en-US" sz="2100" b="1" dirty="0">
                <a:solidFill>
                  <a:srgbClr val="201E1D"/>
                </a:solidFill>
                <a:latin typeface="Arial" pitchFamily="34" charset="0"/>
                <a:ea typeface="Arial" pitchFamily="34" charset="-122"/>
                <a:cs typeface="Arial" pitchFamily="34" charset="-120"/>
              </a:rPr>
              <a:t>0 </a:t>
            </a:r>
            <a:r>
              <a:rPr lang="en-US" sz="2100" dirty="0">
                <a:solidFill>
                  <a:srgbClr val="201E1D"/>
                </a:solidFill>
                <a:latin typeface="Arial" pitchFamily="34" charset="0"/>
                <a:ea typeface="Arial" pitchFamily="34" charset="-122"/>
                <a:cs typeface="Arial" pitchFamily="34" charset="-120"/>
              </a:rPr>
              <a:t>· vs "mat": (1×1)+(0×1) = </a:t>
            </a:r>
            <a:r>
              <a:rPr lang="en-US" sz="2100" b="1" dirty="0">
                <a:solidFill>
                  <a:srgbClr val="201E1D"/>
                </a:solidFill>
                <a:latin typeface="Arial" pitchFamily="34" charset="0"/>
                <a:ea typeface="Arial" pitchFamily="34" charset="-122"/>
                <a:cs typeface="Arial" pitchFamily="34" charset="-120"/>
              </a:rPr>
              <a:t>1</a:t>
            </a:r>
            <a:endParaRPr lang="en-US" sz="2100" dirty="0"/>
          </a:p>
        </p:txBody>
      </p:sp>
      <p:sp>
        <p:nvSpPr>
          <p:cNvPr id="15" name="Shape 13"/>
          <p:cNvSpPr/>
          <p:nvPr/>
        </p:nvSpPr>
        <p:spPr>
          <a:xfrm>
            <a:off x="1143000" y="5945088"/>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602188"/>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4</a:t>
            </a:r>
            <a:endParaRPr lang="en-US" sz="2100" dirty="0"/>
          </a:p>
        </p:txBody>
      </p:sp>
      <p:sp>
        <p:nvSpPr>
          <p:cNvPr id="17" name="Text 15"/>
          <p:cNvSpPr/>
          <p:nvPr/>
        </p:nvSpPr>
        <p:spPr>
          <a:xfrm>
            <a:off x="1981200" y="5602188"/>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Full score matrix: [[1, 0, 1], [0, 1, 1], [1, 1, 2]]</a:t>
            </a:r>
            <a:endParaRPr lang="en-US" sz="2100" dirty="0"/>
          </a:p>
        </p:txBody>
      </p:sp>
      <p:sp>
        <p:nvSpPr>
          <p:cNvPr id="18" name="Shape 16"/>
          <p:cNvSpPr/>
          <p:nvPr/>
        </p:nvSpPr>
        <p:spPr>
          <a:xfrm>
            <a:off x="1143000" y="6465466"/>
            <a:ext cx="13335000" cy="9525"/>
          </a:xfrm>
          <a:prstGeom prst="rect">
            <a:avLst/>
          </a:prstGeom>
          <a:solidFill>
            <a:srgbClr val="201E1E">
              <a:alpha val="40000"/>
            </a:srgbClr>
          </a:solidFill>
          <a:ln/>
        </p:spPr>
        <p:txBody>
          <a:bodyPr/>
          <a:lstStyle/>
          <a:p>
            <a:endParaRPr lang="en-US"/>
          </a:p>
        </p:txBody>
      </p:sp>
      <p:sp>
        <p:nvSpPr>
          <p:cNvPr id="19" name="Text 17"/>
          <p:cNvSpPr/>
          <p:nvPr/>
        </p:nvSpPr>
        <p:spPr>
          <a:xfrm>
            <a:off x="1143000" y="6114529"/>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20" name="Text 18"/>
          <p:cNvSpPr/>
          <p:nvPr/>
        </p:nvSpPr>
        <p:spPr>
          <a:xfrm>
            <a:off x="1981200" y="6114529"/>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"mat" scores 2 against itself and 1 against each other token — it attends most broadly</a:t>
            </a:r>
            <a:endParaRPr lang="en-US" sz="2100" dirty="0"/>
          </a:p>
        </p:txBody>
      </p:sp>
      <p:sp>
        <p:nvSpPr>
          <p:cNvPr id="21" name="Shape 19"/>
          <p:cNvSpPr/>
          <p:nvPr/>
        </p:nvSpPr>
        <p:spPr>
          <a:xfrm>
            <a:off x="1143000" y="7165628"/>
            <a:ext cx="16002000" cy="19050"/>
          </a:xfrm>
          <a:prstGeom prst="rect">
            <a:avLst/>
          </a:prstGeom>
          <a:solidFill>
            <a:srgbClr val="EC3013"/>
          </a:solidFill>
          <a:ln/>
        </p:spPr>
        <p:txBody>
          <a:bodyPr/>
          <a:lstStyle/>
          <a:p>
            <a:endParaRPr lang="en-US"/>
          </a:p>
        </p:txBody>
      </p:sp>
      <p:sp>
        <p:nvSpPr>
          <p:cNvPr id="22" name="Text 20"/>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WHAT HAPPENS NEXT</a:t>
            </a:r>
            <a:endParaRPr lang="en-US" sz="1800" dirty="0"/>
          </a:p>
        </p:txBody>
      </p:sp>
      <p:sp>
        <p:nvSpPr>
          <p:cNvPr id="23" name="Text 21"/>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Divide by √d for stability, softmax each row into probabilities, then multiply by V to blend the values. Attention is that, and nothing else — three multiplications and a softmax.</a:t>
            </a:r>
            <a:endParaRPr lang="en-US" sz="2100" dirty="0"/>
          </a:p>
        </p:txBody>
      </p:sp>
      <p:pic>
        <p:nvPicPr>
          <p:cNvPr id="24"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AI APPLICATION MAPPING</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Where matrices show up in AI</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Attention</a:t>
            </a:r>
            <a:endParaRPr lang="en-US" sz="2550" dirty="0"/>
          </a:p>
        </p:txBody>
      </p:sp>
      <p:sp>
        <p:nvSpPr>
          <p:cNvPr id="6" name="Text 4"/>
          <p:cNvSpPr/>
          <p:nvPr/>
        </p:nvSpPr>
        <p:spPr>
          <a:xfrm>
            <a:off x="1143000" y="39317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Matrix multiplications compare every token to every other token, in one operation per layer per head.</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Every layer's weights</a:t>
            </a:r>
            <a:endParaRPr lang="en-US" sz="2550" dirty="0"/>
          </a:p>
        </p:txBody>
      </p:sp>
      <p:sp>
        <p:nvSpPr>
          <p:cNvPr id="9" name="Text 7"/>
          <p:cNvSpPr/>
          <p:nvPr/>
        </p:nvSpPr>
        <p:spPr>
          <a:xfrm>
            <a:off x="6629400" y="3931741"/>
            <a:ext cx="5180076" cy="15926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dense layer is one matrix multiply plus one addition. A 70-billion-parameter model is a very large number of very large matrices.</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Image processing</a:t>
            </a:r>
            <a:endParaRPr lang="en-US" sz="2550" dirty="0"/>
          </a:p>
        </p:txBody>
      </p:sp>
      <p:sp>
        <p:nvSpPr>
          <p:cNvPr id="12" name="Text 10"/>
          <p:cNvSpPr/>
          <p:nvPr/>
        </p:nvSpPr>
        <p:spPr>
          <a:xfrm>
            <a:off x="12115800" y="3931741"/>
            <a:ext cx="518007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Images are tensors of pixel values — height × width × colour channels, batched.</a:t>
            </a:r>
            <a:endParaRPr lang="en-US" sz="2100" dirty="0"/>
          </a:p>
        </p:txBody>
      </p:sp>
      <p:sp>
        <p:nvSpPr>
          <p:cNvPr id="13" name="Shape 11"/>
          <p:cNvSpPr/>
          <p:nvPr/>
        </p:nvSpPr>
        <p:spPr>
          <a:xfrm>
            <a:off x="1143000" y="5486326"/>
            <a:ext cx="5029200" cy="19050"/>
          </a:xfrm>
          <a:prstGeom prst="rect">
            <a:avLst/>
          </a:prstGeom>
          <a:solidFill>
            <a:srgbClr val="201E1E">
              <a:alpha val="40000"/>
            </a:srgbClr>
          </a:solidFill>
          <a:ln/>
        </p:spPr>
        <p:txBody>
          <a:bodyPr/>
          <a:lstStyle/>
          <a:p>
            <a:endParaRPr lang="en-US"/>
          </a:p>
        </p:txBody>
      </p:sp>
      <p:sp>
        <p:nvSpPr>
          <p:cNvPr id="14" name="Text 12"/>
          <p:cNvSpPr/>
          <p:nvPr/>
        </p:nvSpPr>
        <p:spPr>
          <a:xfrm>
            <a:off x="1143000" y="5721028"/>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Batch processing</a:t>
            </a:r>
            <a:endParaRPr lang="en-US" sz="2550" dirty="0"/>
          </a:p>
        </p:txBody>
      </p:sp>
      <p:sp>
        <p:nvSpPr>
          <p:cNvPr id="15" name="Text 13"/>
          <p:cNvSpPr/>
          <p:nvPr/>
        </p:nvSpPr>
        <p:spPr>
          <a:xfrm>
            <a:off x="1143000" y="6227192"/>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Tensors let a GPU process many inputs at once, which is what makes inference cost per request tolerable.</a:t>
            </a:r>
            <a:endParaRPr lang="en-US" sz="2100" dirty="0"/>
          </a:p>
        </p:txBody>
      </p:sp>
      <p:sp>
        <p:nvSpPr>
          <p:cNvPr id="16" name="Shape 14"/>
          <p:cNvSpPr/>
          <p:nvPr/>
        </p:nvSpPr>
        <p:spPr>
          <a:xfrm>
            <a:off x="6629400" y="5486326"/>
            <a:ext cx="5029200" cy="19050"/>
          </a:xfrm>
          <a:prstGeom prst="rect">
            <a:avLst/>
          </a:prstGeom>
          <a:solidFill>
            <a:srgbClr val="201E1E">
              <a:alpha val="40000"/>
            </a:srgbClr>
          </a:solidFill>
          <a:ln/>
        </p:spPr>
        <p:txBody>
          <a:bodyPr/>
          <a:lstStyle/>
          <a:p>
            <a:endParaRPr lang="en-US"/>
          </a:p>
        </p:txBody>
      </p:sp>
      <p:sp>
        <p:nvSpPr>
          <p:cNvPr id="17" name="Text 15"/>
          <p:cNvSpPr/>
          <p:nvPr/>
        </p:nvSpPr>
        <p:spPr>
          <a:xfrm>
            <a:off x="6629400" y="5721028"/>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Embeddings in bulk</a:t>
            </a:r>
            <a:endParaRPr lang="en-US" sz="2550" dirty="0"/>
          </a:p>
        </p:txBody>
      </p:sp>
      <p:sp>
        <p:nvSpPr>
          <p:cNvPr id="18" name="Text 16"/>
          <p:cNvSpPr/>
          <p:nvPr/>
        </p:nvSpPr>
        <p:spPr>
          <a:xfrm>
            <a:off x="6629400" y="6227192"/>
            <a:ext cx="5180076" cy="11354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Encoding a million documents is one enormous matrix multiply, not a million small ones.</a:t>
            </a:r>
            <a:endParaRPr lang="en-US" sz="2100" dirty="0"/>
          </a:p>
        </p:txBody>
      </p:sp>
      <p:sp>
        <p:nvSpPr>
          <p:cNvPr id="19" name="Shape 17"/>
          <p:cNvSpPr/>
          <p:nvPr/>
        </p:nvSpPr>
        <p:spPr>
          <a:xfrm>
            <a:off x="12115800" y="5486326"/>
            <a:ext cx="5029200" cy="19050"/>
          </a:xfrm>
          <a:prstGeom prst="rect">
            <a:avLst/>
          </a:prstGeom>
          <a:solidFill>
            <a:srgbClr val="201E1E">
              <a:alpha val="40000"/>
            </a:srgbClr>
          </a:solidFill>
          <a:ln/>
        </p:spPr>
        <p:txBody>
          <a:bodyPr/>
          <a:lstStyle/>
          <a:p>
            <a:endParaRPr lang="en-US"/>
          </a:p>
        </p:txBody>
      </p:sp>
      <p:sp>
        <p:nvSpPr>
          <p:cNvPr id="20" name="Text 18"/>
          <p:cNvSpPr/>
          <p:nvPr/>
        </p:nvSpPr>
        <p:spPr>
          <a:xfrm>
            <a:off x="12115800" y="5721028"/>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Quantisation</a:t>
            </a:r>
            <a:endParaRPr lang="en-US" sz="2550" dirty="0"/>
          </a:p>
        </p:txBody>
      </p:sp>
      <p:sp>
        <p:nvSpPr>
          <p:cNvPr id="21" name="Text 19"/>
          <p:cNvSpPr/>
          <p:nvPr/>
        </p:nvSpPr>
        <p:spPr>
          <a:xfrm>
            <a:off x="12115800" y="6227192"/>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Storing the same matrices in 8 or 4 bits instead of 32, trading a little accuracy for a lot of memory.</a:t>
            </a:r>
            <a:endParaRPr lang="en-US" sz="2100" dirty="0"/>
          </a:p>
        </p:txBody>
      </p:sp>
      <p:pic>
        <p:nvPicPr>
          <p:cNvPr id="22"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TRY IT YOURSELF</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Hands-on: matrices</a:t>
            </a:r>
            <a:endParaRPr lang="en-US" sz="4800" dirty="0"/>
          </a:p>
        </p:txBody>
      </p:sp>
      <p:sp>
        <p:nvSpPr>
          <p:cNvPr id="4" name="Shape 2"/>
          <p:cNvSpPr/>
          <p:nvPr/>
        </p:nvSpPr>
        <p:spPr>
          <a:xfrm>
            <a:off x="1143000" y="2788890"/>
            <a:ext cx="14859000" cy="19050"/>
          </a:xfrm>
          <a:prstGeom prst="rect">
            <a:avLst/>
          </a:prstGeom>
          <a:solidFill>
            <a:srgbClr val="EC3013"/>
          </a:solidFill>
          <a:ln/>
        </p:spPr>
        <p:txBody>
          <a:bodyPr/>
          <a:lstStyle/>
          <a:p>
            <a:endParaRPr lang="en-US"/>
          </a:p>
        </p:txBody>
      </p:sp>
      <p:sp>
        <p:nvSpPr>
          <p:cNvPr id="5" name="Text 3"/>
          <p:cNvSpPr/>
          <p:nvPr/>
        </p:nvSpPr>
        <p:spPr>
          <a:xfrm>
            <a:off x="1143000" y="3052763"/>
            <a:ext cx="16344900" cy="227558"/>
          </a:xfrm>
          <a:prstGeom prst="rect">
            <a:avLst/>
          </a:prstGeom>
          <a:noFill/>
          <a:ln/>
        </p:spPr>
        <p:txBody>
          <a:bodyPr wrap="square" lIns="25400" tIns="25400" rIns="25400" bIns="25400" rtlCol="0" anchor="t">
            <a:normAutofit fontScale="47500" lnSpcReduction="2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1. </a:t>
            </a:r>
            <a:r>
              <a:rPr lang="en-US" sz="2175" dirty="0">
                <a:solidFill>
                  <a:srgbClr val="201E1D"/>
                </a:solidFill>
                <a:latin typeface="Arial" pitchFamily="34" charset="0"/>
                <a:ea typeface="Arial" pitchFamily="34" charset="-122"/>
                <a:cs typeface="Arial" pitchFamily="34" charset="-120"/>
              </a:rPr>
              <a:t>Multiply [[2, 0], [1, 3]] × [[1, 4], [2, 5]].</a:t>
            </a:r>
            <a:endParaRPr lang="en-US" sz="2175" dirty="0"/>
          </a:p>
        </p:txBody>
      </p:sp>
      <p:sp>
        <p:nvSpPr>
          <p:cNvPr id="6" name="Text 4"/>
          <p:cNvSpPr/>
          <p:nvPr/>
        </p:nvSpPr>
        <p:spPr>
          <a:xfrm>
            <a:off x="1143000" y="3409206"/>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Row 1: (2×1)+(0×2)=2, (2×4)+(0×5)=8. Row 2: (1×1)+(3×2)=7, (1×4)+(3×5)=19. Answer: [[2, 8], [7, 19]].</a:t>
            </a:r>
            <a:endParaRPr lang="en-US" sz="1800" dirty="0"/>
          </a:p>
        </p:txBody>
      </p:sp>
      <p:sp>
        <p:nvSpPr>
          <p:cNvPr id="7" name="Shape 5"/>
          <p:cNvSpPr/>
          <p:nvPr/>
        </p:nvSpPr>
        <p:spPr>
          <a:xfrm>
            <a:off x="1143000" y="4068887"/>
            <a:ext cx="14859000" cy="19050"/>
          </a:xfrm>
          <a:prstGeom prst="rect">
            <a:avLst/>
          </a:prstGeom>
          <a:solidFill>
            <a:srgbClr val="EC3013"/>
          </a:solidFill>
          <a:ln/>
        </p:spPr>
        <p:txBody>
          <a:bodyPr/>
          <a:lstStyle/>
          <a:p>
            <a:endParaRPr lang="en-US"/>
          </a:p>
        </p:txBody>
      </p:sp>
      <p:sp>
        <p:nvSpPr>
          <p:cNvPr id="8" name="Text 6"/>
          <p:cNvSpPr/>
          <p:nvPr/>
        </p:nvSpPr>
        <p:spPr>
          <a:xfrm>
            <a:off x="1143000" y="4332759"/>
            <a:ext cx="15304770" cy="608558"/>
          </a:xfrm>
          <a:prstGeom prst="rect">
            <a:avLst/>
          </a:prstGeom>
          <a:noFill/>
          <a:ln/>
        </p:spPr>
        <p:txBody>
          <a:bodyPr wrap="square" lIns="25400" tIns="25400" rIns="25400" bIns="25400" rtlCol="0" anchor="t">
            <a:normAutofit/>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2. </a:t>
            </a:r>
            <a:r>
              <a:rPr lang="en-US" sz="2175" dirty="0">
                <a:solidFill>
                  <a:srgbClr val="201E1D"/>
                </a:solidFill>
                <a:latin typeface="Arial" pitchFamily="34" charset="0"/>
                <a:ea typeface="Arial" pitchFamily="34" charset="-122"/>
                <a:cs typeface="Arial" pitchFamily="34" charset="-120"/>
              </a:rPr>
              <a:t>You have a batch of 64 embeddings of 768 dimensions, and a weight matrix of shape 768 × 256. What shape comes out?</a:t>
            </a:r>
            <a:endParaRPr lang="en-US" sz="2175" dirty="0"/>
          </a:p>
        </p:txBody>
      </p:sp>
      <p:sp>
        <p:nvSpPr>
          <p:cNvPr id="9" name="Text 7"/>
          <p:cNvSpPr/>
          <p:nvPr/>
        </p:nvSpPr>
        <p:spPr>
          <a:xfrm>
            <a:off x="1143000" y="5070202"/>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(64 × 768) × (768 × 256) = </a:t>
            </a:r>
            <a:r>
              <a:rPr lang="en-US" sz="1800" b="1" dirty="0">
                <a:solidFill>
                  <a:srgbClr val="211D1D">
                    <a:alpha val="55000"/>
                  </a:srgbClr>
                </a:solidFill>
                <a:latin typeface="Arial" pitchFamily="34" charset="0"/>
                <a:ea typeface="Arial" pitchFamily="34" charset="-122"/>
                <a:cs typeface="Arial" pitchFamily="34" charset="-120"/>
              </a:rPr>
              <a:t>64 × 256</a:t>
            </a:r>
            <a:r>
              <a:rPr lang="en-US" sz="1800" dirty="0">
                <a:solidFill>
                  <a:srgbClr val="211D1D">
                    <a:alpha val="55000"/>
                  </a:srgbClr>
                </a:solidFill>
                <a:latin typeface="Arial" pitchFamily="34" charset="0"/>
                <a:ea typeface="Arial" pitchFamily="34" charset="-122"/>
                <a:cs typeface="Arial" pitchFamily="34" charset="-120"/>
              </a:rPr>
              <a:t>. Inner numbers match and vanish; outer numbers survive.</a:t>
            </a:r>
            <a:endParaRPr lang="en-US" sz="1800" dirty="0"/>
          </a:p>
        </p:txBody>
      </p:sp>
      <p:sp>
        <p:nvSpPr>
          <p:cNvPr id="10" name="Shape 8"/>
          <p:cNvSpPr/>
          <p:nvPr/>
        </p:nvSpPr>
        <p:spPr>
          <a:xfrm>
            <a:off x="1143000" y="5729883"/>
            <a:ext cx="14859000" cy="19050"/>
          </a:xfrm>
          <a:prstGeom prst="rect">
            <a:avLst/>
          </a:prstGeom>
          <a:solidFill>
            <a:srgbClr val="EC3013"/>
          </a:solidFill>
          <a:ln/>
        </p:spPr>
        <p:txBody>
          <a:bodyPr/>
          <a:lstStyle/>
          <a:p>
            <a:endParaRPr lang="en-US"/>
          </a:p>
        </p:txBody>
      </p:sp>
      <p:sp>
        <p:nvSpPr>
          <p:cNvPr id="11" name="Text 9"/>
          <p:cNvSpPr/>
          <p:nvPr/>
        </p:nvSpPr>
        <p:spPr>
          <a:xfrm>
            <a:off x="1143000" y="5993755"/>
            <a:ext cx="16344900" cy="227558"/>
          </a:xfrm>
          <a:prstGeom prst="rect">
            <a:avLst/>
          </a:prstGeom>
          <a:noFill/>
          <a:ln/>
        </p:spPr>
        <p:txBody>
          <a:bodyPr wrap="square" lIns="25400" tIns="25400" rIns="25400" bIns="25400" rtlCol="0" anchor="t">
            <a:normAutofit fontScale="47500" lnSpcReduction="2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3. </a:t>
            </a:r>
            <a:r>
              <a:rPr lang="en-US" sz="2175" dirty="0">
                <a:solidFill>
                  <a:srgbClr val="201E1D"/>
                </a:solidFill>
                <a:latin typeface="Arial" pitchFamily="34" charset="0"/>
                <a:ea typeface="Arial" pitchFamily="34" charset="-122"/>
                <a:cs typeface="Arial" pitchFamily="34" charset="-120"/>
              </a:rPr>
              <a:t>The error says shapes 32×768 and 512×768 cannot be multiplied. What is the fix?</a:t>
            </a:r>
            <a:endParaRPr lang="en-US" sz="2175" dirty="0"/>
          </a:p>
        </p:txBody>
      </p:sp>
      <p:sp>
        <p:nvSpPr>
          <p:cNvPr id="12" name="Text 10"/>
          <p:cNvSpPr/>
          <p:nvPr/>
        </p:nvSpPr>
        <p:spPr>
          <a:xfrm>
            <a:off x="1143000" y="6350198"/>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Transpose the second matrix. (32 × 768) × (768 × 512) is legal and gives 32 × 512 — which is exactly the Q × Kᵀ pattern.</a:t>
            </a:r>
            <a:endParaRPr lang="en-US" sz="1800" dirty="0"/>
          </a:p>
        </p:txBody>
      </p:sp>
      <p:pic>
        <p:nvPicPr>
          <p:cNvPr id="13"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88">
    <p:bg>
      <p:bgPr>
        <a:solidFill>
          <a:srgbClr val="2D2B2B"/>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FF9783"/>
                </a:solidFill>
                <a:latin typeface="Arial" pitchFamily="34" charset="0"/>
                <a:ea typeface="Arial" pitchFamily="34" charset="-122"/>
                <a:cs typeface="Arial" pitchFamily="34" charset="-120"/>
              </a:rPr>
              <a:t>PART 3 · SELF-CHECK</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F3F2F2"/>
                </a:solidFill>
                <a:latin typeface="Arial" pitchFamily="34" charset="0"/>
                <a:ea typeface="Arial" pitchFamily="34" charset="-122"/>
                <a:cs typeface="Arial" pitchFamily="34" charset="-120"/>
              </a:rPr>
              <a:t>Before we move on</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F3F2F2">
                    <a:alpha val="75000"/>
                  </a:srgbClr>
                </a:solidFill>
                <a:latin typeface="Arial" pitchFamily="34" charset="0"/>
                <a:ea typeface="Arial" pitchFamily="34" charset="-122"/>
                <a:cs typeface="Arial" pitchFamily="34" charset="-120"/>
              </a:rPr>
              <a:t>Five questions on the machinery.</a:t>
            </a:r>
            <a:endParaRPr lang="en-US" sz="2100" dirty="0"/>
          </a:p>
        </p:txBody>
      </p:sp>
      <p:sp>
        <p:nvSpPr>
          <p:cNvPr id="5" name="Text 3"/>
          <p:cNvSpPr/>
          <p:nvPr/>
        </p:nvSpPr>
        <p:spPr>
          <a:xfrm>
            <a:off x="942975" y="3804419"/>
            <a:ext cx="11896725" cy="2291209"/>
          </a:xfrm>
          <a:prstGeom prst="rect">
            <a:avLst/>
          </a:prstGeom>
          <a:noFill/>
          <a:ln/>
        </p:spPr>
        <p:txBody>
          <a:bodyPr wrap="square" lIns="25400" tIns="25400" rIns="25400" bIns="25400" rtlCol="0" anchor="t">
            <a:normAutofit/>
          </a:bodyPr>
          <a:lstStyle/>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What shape comes out of (8 × 4) × (4 × 16), and why?</a:t>
            </a:r>
            <a:endParaRPr lang="en-US" sz="2250" dirty="0"/>
          </a:p>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Why is A × B usually not the same as B × A?</a:t>
            </a:r>
            <a:endParaRPr lang="en-US" sz="2250" dirty="0"/>
          </a:p>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What does a determinant of zero tell you about a matrix?</a:t>
            </a:r>
            <a:endParaRPr lang="en-US" sz="2250" dirty="0"/>
          </a:p>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Why does attention transpose K before multiplying?</a:t>
            </a:r>
            <a:endParaRPr lang="en-US" sz="2250" dirty="0"/>
          </a:p>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Where does the batch dimension come from, and what is it for?</a:t>
            </a:r>
            <a:endParaRPr lang="en-US" sz="2250" dirty="0"/>
          </a:p>
        </p:txBody>
      </p:sp>
      <p:pic>
        <p:nvPicPr>
          <p:cNvPr id="6"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89">
    <p:bg>
      <p:bgPr>
        <a:solidFill>
          <a:srgbClr val="EC3013"/>
        </a:solidFill>
        <a:effectLst/>
      </p:bgPr>
    </p:bg>
    <p:spTree>
      <p:nvGrpSpPr>
        <p:cNvPr id="1" name=""/>
        <p:cNvGrpSpPr/>
        <p:nvPr/>
      </p:nvGrpSpPr>
      <p:grpSpPr>
        <a:xfrm>
          <a:off x="0" y="0"/>
          <a:ext cx="0" cy="0"/>
          <a:chOff x="0" y="0"/>
          <a:chExt cx="0" cy="0"/>
        </a:xfrm>
      </p:grpSpPr>
      <p:sp>
        <p:nvSpPr>
          <p:cNvPr id="2" name="Text 0"/>
          <p:cNvSpPr/>
          <p:nvPr/>
        </p:nvSpPr>
        <p:spPr>
          <a:xfrm>
            <a:off x="1031602" y="2782044"/>
            <a:ext cx="2921176" cy="2266950"/>
          </a:xfrm>
          <a:prstGeom prst="rect">
            <a:avLst/>
          </a:prstGeom>
          <a:noFill/>
          <a:ln/>
        </p:spPr>
        <p:txBody>
          <a:bodyPr wrap="square" lIns="25400" tIns="25400" rIns="25400" bIns="25400" rtlCol="0" anchor="t">
            <a:normAutofit lnSpcReduction="10000"/>
          </a:bodyPr>
          <a:lstStyle/>
          <a:p>
            <a:pPr marL="0" indent="0" algn="l">
              <a:lnSpc>
                <a:spcPct val="78261"/>
              </a:lnSpc>
              <a:buNone/>
            </a:pPr>
            <a:r>
              <a:rPr lang="en-US" sz="19500" b="1" kern="0" spc="-390" dirty="0">
                <a:solidFill>
                  <a:srgbClr val="AE1800"/>
                </a:solidFill>
                <a:latin typeface="Arial" pitchFamily="34" charset="0"/>
                <a:ea typeface="Arial" pitchFamily="34" charset="-122"/>
                <a:cs typeface="Arial" pitchFamily="34" charset="-120"/>
              </a:rPr>
              <a:t>04</a:t>
            </a:r>
            <a:endParaRPr lang="en-US" sz="19500" dirty="0"/>
          </a:p>
        </p:txBody>
      </p:sp>
      <p:sp>
        <p:nvSpPr>
          <p:cNvPr id="3" name="Text 1"/>
          <p:cNvSpPr/>
          <p:nvPr/>
        </p:nvSpPr>
        <p:spPr>
          <a:xfrm>
            <a:off x="1107653" y="5468094"/>
            <a:ext cx="6135477"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F3F2F2"/>
                </a:solidFill>
                <a:latin typeface="Arial" pitchFamily="34" charset="0"/>
                <a:ea typeface="Arial" pitchFamily="34" charset="-122"/>
                <a:cs typeface="Arial" pitchFamily="34" charset="-120"/>
              </a:rPr>
              <a:t>Learning &amp; Decisions</a:t>
            </a:r>
            <a:endParaRPr lang="en-US" sz="4800" dirty="0"/>
          </a:p>
        </p:txBody>
      </p:sp>
      <p:sp>
        <p:nvSpPr>
          <p:cNvPr id="4" name="Text 2"/>
          <p:cNvSpPr/>
          <p:nvPr/>
        </p:nvSpPr>
        <p:spPr>
          <a:xfrm>
            <a:off x="1143000" y="6361956"/>
            <a:ext cx="8989790" cy="9525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3000" dirty="0">
                <a:solidFill>
                  <a:srgbClr val="F3F2F2"/>
                </a:solidFill>
                <a:latin typeface="Arial" pitchFamily="34" charset="0"/>
                <a:ea typeface="Arial" pitchFamily="34" charset="-122"/>
                <a:cs typeface="Arial" pitchFamily="34" charset="-120"/>
              </a:rPr>
              <a:t>Logs · Gradients · Softmax &amp; temperature · Entropy · Stability · Evaluation · Agents</a:t>
            </a:r>
            <a:endParaRPr lang="en-US" sz="3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08 · LOGS &amp; EXPONENTIALS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Logs answer "how many times?"</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logarithm asks: how many times do I multiply the base by itself to reach this number? log₁₀(1000) = 3, because 10 × 10 × 10 = 1000.</a:t>
            </a:r>
            <a:endParaRPr lang="en-US" sz="2100" dirty="0"/>
          </a:p>
        </p:txBody>
      </p:sp>
      <p:sp>
        <p:nvSpPr>
          <p:cNvPr id="5" name="Shape 3"/>
          <p:cNvSpPr/>
          <p:nvPr/>
        </p:nvSpPr>
        <p:spPr>
          <a:xfrm>
            <a:off x="1143000" y="5488260"/>
            <a:ext cx="16002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229100"/>
            <a:ext cx="16002000" cy="19050"/>
          </a:xfrm>
          <a:prstGeom prst="rect">
            <a:avLst/>
          </a:prstGeom>
          <a:solidFill>
            <a:srgbClr val="201E1E">
              <a:alpha val="40000"/>
            </a:srgbClr>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43000" y="4591050"/>
            <a:ext cx="16002000" cy="554310"/>
          </a:xfrm>
          <a:prstGeom prst="rect">
            <a:avLst/>
          </a:prstGeom>
        </p:spPr>
      </p:pic>
      <p:sp>
        <p:nvSpPr>
          <p:cNvPr id="8" name="Text 5"/>
          <p:cNvSpPr/>
          <p:nvPr/>
        </p:nvSpPr>
        <p:spPr>
          <a:xfrm>
            <a:off x="1143000" y="5642149"/>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The key property</a:t>
            </a:r>
            <a:endParaRPr lang="en-US" sz="1950" dirty="0"/>
          </a:p>
        </p:txBody>
      </p:sp>
      <p:sp>
        <p:nvSpPr>
          <p:cNvPr id="9" name="Text 6"/>
          <p:cNvSpPr/>
          <p:nvPr/>
        </p:nvSpPr>
        <p:spPr>
          <a:xfrm>
            <a:off x="4343400" y="5642149"/>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Logs turn multiplication into addition. That one identity is why they appear in almost every AI formula.</a:t>
            </a:r>
            <a:endParaRPr lang="en-US" sz="1950" dirty="0"/>
          </a:p>
        </p:txBody>
      </p:sp>
      <p:sp>
        <p:nvSpPr>
          <p:cNvPr id="10" name="Text 7"/>
          <p:cNvSpPr/>
          <p:nvPr/>
        </p:nvSpPr>
        <p:spPr>
          <a:xfrm>
            <a:off x="1143000" y="6348487"/>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Why it matters</a:t>
            </a:r>
            <a:endParaRPr lang="en-US" sz="1950" dirty="0"/>
          </a:p>
        </p:txBody>
      </p:sp>
      <p:sp>
        <p:nvSpPr>
          <p:cNvPr id="11" name="Text 8"/>
          <p:cNvSpPr/>
          <p:nvPr/>
        </p:nvSpPr>
        <p:spPr>
          <a:xfrm>
            <a:off x="4343400" y="6348487"/>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A sentence's probability is every token's probability multiplied together. Multiply 500 numbers below 1 and you underflow to zero. Add 500 logs instead and nothing breaks.</a:t>
            </a:r>
            <a:endParaRPr lang="en-US" sz="1950" dirty="0"/>
          </a:p>
        </p:txBody>
      </p:sp>
      <p:sp>
        <p:nvSpPr>
          <p:cNvPr id="12" name="Text 9"/>
          <p:cNvSpPr/>
          <p:nvPr/>
        </p:nvSpPr>
        <p:spPr>
          <a:xfrm>
            <a:off x="1143000" y="7224713"/>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Direction</a:t>
            </a:r>
            <a:endParaRPr lang="en-US" sz="1950" dirty="0"/>
          </a:p>
        </p:txBody>
      </p:sp>
      <p:sp>
        <p:nvSpPr>
          <p:cNvPr id="13" name="Text 10"/>
          <p:cNvSpPr/>
          <p:nvPr/>
        </p:nvSpPr>
        <p:spPr>
          <a:xfrm>
            <a:off x="4343400" y="7224713"/>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Logs of numbers below 1 are negative. Probabilities are all below 1, so log-probabilities are all negative — which surprises people the first time they see a model's output.</a:t>
            </a:r>
            <a:endParaRPr lang="en-US" sz="1950" dirty="0"/>
          </a:p>
        </p:txBody>
      </p:sp>
      <p:sp>
        <p:nvSpPr>
          <p:cNvPr id="14" name="Text 11"/>
          <p:cNvSpPr/>
          <p:nvPr/>
        </p:nvSpPr>
        <p:spPr>
          <a:xfrm>
            <a:off x="1143000" y="8100938"/>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Compression</a:t>
            </a:r>
            <a:endParaRPr lang="en-US" sz="1950" dirty="0"/>
          </a:p>
        </p:txBody>
      </p:sp>
      <p:sp>
        <p:nvSpPr>
          <p:cNvPr id="15" name="Text 12"/>
          <p:cNvSpPr/>
          <p:nvPr/>
        </p:nvSpPr>
        <p:spPr>
          <a:xfrm>
            <a:off x="4343400" y="8100938"/>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Logs squash huge ranges into readable ones. This is why loss curves, model sizes and cost charts are almost always plotted on a log scale.</a:t>
            </a:r>
            <a:endParaRPr lang="en-US" sz="1950" dirty="0"/>
          </a:p>
        </p:txBody>
      </p:sp>
      <p:pic>
        <p:nvPicPr>
          <p:cNvPr id="16"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08 · LOGS &amp; EXPONENTIALS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Exponentials go the other way</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If a log asks "how many times", an exponential does the multiplying. And e^x has one property AI relies on constantly: it is always positive, whatever you feed it.</a:t>
            </a:r>
            <a:endParaRPr lang="en-US" sz="2100" dirty="0"/>
          </a:p>
        </p:txBody>
      </p:sp>
      <p:sp>
        <p:nvSpPr>
          <p:cNvPr id="5" name="Shape 3"/>
          <p:cNvSpPr/>
          <p:nvPr/>
        </p:nvSpPr>
        <p:spPr>
          <a:xfrm>
            <a:off x="1143000" y="4548411"/>
            <a:ext cx="949003" cy="19050"/>
          </a:xfrm>
          <a:prstGeom prst="rect">
            <a:avLst/>
          </a:prstGeom>
          <a:solidFill>
            <a:srgbClr val="201E1E">
              <a:alpha val="40000"/>
            </a:srgbClr>
          </a:solidFill>
          <a:ln/>
        </p:spPr>
        <p:txBody>
          <a:bodyPr/>
          <a:lstStyle/>
          <a:p>
            <a:endParaRPr lang="en-US"/>
          </a:p>
        </p:txBody>
      </p:sp>
      <p:sp>
        <p:nvSpPr>
          <p:cNvPr id="6" name="Text 4"/>
          <p:cNvSpPr/>
          <p:nvPr/>
        </p:nvSpPr>
        <p:spPr>
          <a:xfrm>
            <a:off x="1143000" y="4202090"/>
            <a:ext cx="796603"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X</a:t>
            </a:r>
            <a:endParaRPr lang="en-US" sz="1800" dirty="0"/>
          </a:p>
        </p:txBody>
      </p:sp>
      <p:sp>
        <p:nvSpPr>
          <p:cNvPr id="7" name="Shape 5"/>
          <p:cNvSpPr/>
          <p:nvPr/>
        </p:nvSpPr>
        <p:spPr>
          <a:xfrm>
            <a:off x="2092003" y="4548411"/>
            <a:ext cx="1970410" cy="19050"/>
          </a:xfrm>
          <a:prstGeom prst="rect">
            <a:avLst/>
          </a:prstGeom>
          <a:solidFill>
            <a:srgbClr val="201E1E">
              <a:alpha val="40000"/>
            </a:srgbClr>
          </a:solidFill>
          <a:ln/>
        </p:spPr>
        <p:txBody>
          <a:bodyPr/>
          <a:lstStyle/>
          <a:p>
            <a:endParaRPr lang="en-US"/>
          </a:p>
        </p:txBody>
      </p:sp>
      <p:sp>
        <p:nvSpPr>
          <p:cNvPr id="8" name="Text 6"/>
          <p:cNvSpPr/>
          <p:nvPr/>
        </p:nvSpPr>
        <p:spPr>
          <a:xfrm>
            <a:off x="2320603" y="4202090"/>
            <a:ext cx="1589410"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E^X</a:t>
            </a:r>
            <a:endParaRPr lang="en-US" sz="1800" dirty="0"/>
          </a:p>
        </p:txBody>
      </p:sp>
      <p:sp>
        <p:nvSpPr>
          <p:cNvPr id="9" name="Shape 7"/>
          <p:cNvSpPr/>
          <p:nvPr/>
        </p:nvSpPr>
        <p:spPr>
          <a:xfrm>
            <a:off x="4062412" y="4548411"/>
            <a:ext cx="11939588" cy="19050"/>
          </a:xfrm>
          <a:prstGeom prst="rect">
            <a:avLst/>
          </a:prstGeom>
          <a:solidFill>
            <a:srgbClr val="201E1E">
              <a:alpha val="40000"/>
            </a:srgbClr>
          </a:solidFill>
          <a:ln/>
        </p:spPr>
        <p:txBody>
          <a:bodyPr/>
          <a:lstStyle/>
          <a:p>
            <a:endParaRPr lang="en-US"/>
          </a:p>
        </p:txBody>
      </p:sp>
      <p:sp>
        <p:nvSpPr>
          <p:cNvPr id="10" name="Text 8"/>
          <p:cNvSpPr/>
          <p:nvPr/>
        </p:nvSpPr>
        <p:spPr>
          <a:xfrm>
            <a:off x="4291013" y="4202090"/>
            <a:ext cx="12069175"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WHAT THAT GIVES YOU</a:t>
            </a:r>
            <a:endParaRPr lang="en-US" sz="1800" dirty="0"/>
          </a:p>
        </p:txBody>
      </p:sp>
      <p:sp>
        <p:nvSpPr>
          <p:cNvPr id="11" name="Shape 9"/>
          <p:cNvSpPr/>
          <p:nvPr/>
        </p:nvSpPr>
        <p:spPr>
          <a:xfrm>
            <a:off x="1143000" y="5129510"/>
            <a:ext cx="949003" cy="9525"/>
          </a:xfrm>
          <a:prstGeom prst="rect">
            <a:avLst/>
          </a:prstGeom>
          <a:solidFill>
            <a:srgbClr val="201E1E">
              <a:alpha val="40000"/>
            </a:srgbClr>
          </a:solidFill>
          <a:ln/>
        </p:spPr>
        <p:txBody>
          <a:bodyPr/>
          <a:lstStyle/>
          <a:p>
            <a:endParaRPr lang="en-US"/>
          </a:p>
        </p:txBody>
      </p:sp>
      <p:sp>
        <p:nvSpPr>
          <p:cNvPr id="12" name="Text 10"/>
          <p:cNvSpPr/>
          <p:nvPr/>
        </p:nvSpPr>
        <p:spPr>
          <a:xfrm>
            <a:off x="1143000" y="4764485"/>
            <a:ext cx="796603"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a:t>
            </a:r>
            <a:endParaRPr lang="en-US" sz="1875" dirty="0"/>
          </a:p>
        </p:txBody>
      </p:sp>
      <p:sp>
        <p:nvSpPr>
          <p:cNvPr id="13" name="Shape 11"/>
          <p:cNvSpPr/>
          <p:nvPr/>
        </p:nvSpPr>
        <p:spPr>
          <a:xfrm>
            <a:off x="2092003" y="5129510"/>
            <a:ext cx="1970410" cy="9525"/>
          </a:xfrm>
          <a:prstGeom prst="rect">
            <a:avLst/>
          </a:prstGeom>
          <a:solidFill>
            <a:srgbClr val="201E1E">
              <a:alpha val="40000"/>
            </a:srgbClr>
          </a:solidFill>
          <a:ln/>
        </p:spPr>
        <p:txBody>
          <a:bodyPr/>
          <a:lstStyle/>
          <a:p>
            <a:endParaRPr lang="en-US"/>
          </a:p>
        </p:txBody>
      </p:sp>
      <p:sp>
        <p:nvSpPr>
          <p:cNvPr id="14" name="Text 12"/>
          <p:cNvSpPr/>
          <p:nvPr/>
        </p:nvSpPr>
        <p:spPr>
          <a:xfrm>
            <a:off x="2320603" y="4764485"/>
            <a:ext cx="1589410"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0.050</a:t>
            </a:r>
            <a:endParaRPr lang="en-US" sz="1875" dirty="0"/>
          </a:p>
        </p:txBody>
      </p:sp>
      <p:sp>
        <p:nvSpPr>
          <p:cNvPr id="15" name="Shape 13"/>
          <p:cNvSpPr/>
          <p:nvPr/>
        </p:nvSpPr>
        <p:spPr>
          <a:xfrm>
            <a:off x="4062412" y="5129510"/>
            <a:ext cx="11939588" cy="9525"/>
          </a:xfrm>
          <a:prstGeom prst="rect">
            <a:avLst/>
          </a:prstGeom>
          <a:solidFill>
            <a:srgbClr val="201E1E">
              <a:alpha val="40000"/>
            </a:srgbClr>
          </a:solidFill>
          <a:ln/>
        </p:spPr>
        <p:txBody>
          <a:bodyPr/>
          <a:lstStyle/>
          <a:p>
            <a:endParaRPr lang="en-US"/>
          </a:p>
        </p:txBody>
      </p:sp>
      <p:sp>
        <p:nvSpPr>
          <p:cNvPr id="16" name="Text 14"/>
          <p:cNvSpPr/>
          <p:nvPr/>
        </p:nvSpPr>
        <p:spPr>
          <a:xfrm>
            <a:off x="4291013" y="4764485"/>
            <a:ext cx="12069175"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A large negative score becomes a small positive number</a:t>
            </a:r>
            <a:endParaRPr lang="en-US" sz="1875" dirty="0"/>
          </a:p>
        </p:txBody>
      </p:sp>
      <p:sp>
        <p:nvSpPr>
          <p:cNvPr id="17" name="Shape 15"/>
          <p:cNvSpPr/>
          <p:nvPr/>
        </p:nvSpPr>
        <p:spPr>
          <a:xfrm>
            <a:off x="1143000" y="5696322"/>
            <a:ext cx="949003" cy="9525"/>
          </a:xfrm>
          <a:prstGeom prst="rect">
            <a:avLst/>
          </a:prstGeom>
          <a:solidFill>
            <a:srgbClr val="201E1E">
              <a:alpha val="40000"/>
            </a:srgbClr>
          </a:solidFill>
          <a:ln/>
        </p:spPr>
        <p:txBody>
          <a:bodyPr/>
          <a:lstStyle/>
          <a:p>
            <a:endParaRPr lang="en-US"/>
          </a:p>
        </p:txBody>
      </p:sp>
      <p:sp>
        <p:nvSpPr>
          <p:cNvPr id="18" name="Text 16"/>
          <p:cNvSpPr/>
          <p:nvPr/>
        </p:nvSpPr>
        <p:spPr>
          <a:xfrm>
            <a:off x="1143000" y="5336060"/>
            <a:ext cx="79660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0</a:t>
            </a:r>
            <a:endParaRPr lang="en-US" sz="1875" dirty="0"/>
          </a:p>
        </p:txBody>
      </p:sp>
      <p:sp>
        <p:nvSpPr>
          <p:cNvPr id="19" name="Shape 17"/>
          <p:cNvSpPr/>
          <p:nvPr/>
        </p:nvSpPr>
        <p:spPr>
          <a:xfrm>
            <a:off x="2092003" y="5696322"/>
            <a:ext cx="1970410" cy="9525"/>
          </a:xfrm>
          <a:prstGeom prst="rect">
            <a:avLst/>
          </a:prstGeom>
          <a:solidFill>
            <a:srgbClr val="201E1E">
              <a:alpha val="40000"/>
            </a:srgbClr>
          </a:solidFill>
          <a:ln/>
        </p:spPr>
        <p:txBody>
          <a:bodyPr/>
          <a:lstStyle/>
          <a:p>
            <a:endParaRPr lang="en-US"/>
          </a:p>
        </p:txBody>
      </p:sp>
      <p:sp>
        <p:nvSpPr>
          <p:cNvPr id="20" name="Text 18"/>
          <p:cNvSpPr/>
          <p:nvPr/>
        </p:nvSpPr>
        <p:spPr>
          <a:xfrm>
            <a:off x="2320603" y="5336060"/>
            <a:ext cx="158941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1.000</a:t>
            </a:r>
            <a:endParaRPr lang="en-US" sz="1875" dirty="0"/>
          </a:p>
        </p:txBody>
      </p:sp>
      <p:sp>
        <p:nvSpPr>
          <p:cNvPr id="21" name="Shape 19"/>
          <p:cNvSpPr/>
          <p:nvPr/>
        </p:nvSpPr>
        <p:spPr>
          <a:xfrm>
            <a:off x="4062412" y="5696322"/>
            <a:ext cx="11939588" cy="9525"/>
          </a:xfrm>
          <a:prstGeom prst="rect">
            <a:avLst/>
          </a:prstGeom>
          <a:solidFill>
            <a:srgbClr val="201E1E">
              <a:alpha val="40000"/>
            </a:srgbClr>
          </a:solidFill>
          <a:ln/>
        </p:spPr>
        <p:txBody>
          <a:bodyPr/>
          <a:lstStyle/>
          <a:p>
            <a:endParaRPr lang="en-US"/>
          </a:p>
        </p:txBody>
      </p:sp>
      <p:sp>
        <p:nvSpPr>
          <p:cNvPr id="22" name="Text 20"/>
          <p:cNvSpPr/>
          <p:nvPr/>
        </p:nvSpPr>
        <p:spPr>
          <a:xfrm>
            <a:off x="4291013" y="5336060"/>
            <a:ext cx="12069175"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Zero maps to one</a:t>
            </a:r>
            <a:endParaRPr lang="en-US" sz="1875" dirty="0"/>
          </a:p>
        </p:txBody>
      </p:sp>
      <p:sp>
        <p:nvSpPr>
          <p:cNvPr id="23" name="Shape 21"/>
          <p:cNvSpPr/>
          <p:nvPr/>
        </p:nvSpPr>
        <p:spPr>
          <a:xfrm>
            <a:off x="1143000" y="6263134"/>
            <a:ext cx="949003" cy="9525"/>
          </a:xfrm>
          <a:prstGeom prst="rect">
            <a:avLst/>
          </a:prstGeom>
          <a:solidFill>
            <a:srgbClr val="201E1E">
              <a:alpha val="40000"/>
            </a:srgbClr>
          </a:solidFill>
          <a:ln/>
        </p:spPr>
        <p:txBody>
          <a:bodyPr/>
          <a:lstStyle/>
          <a:p>
            <a:endParaRPr lang="en-US"/>
          </a:p>
        </p:txBody>
      </p:sp>
      <p:sp>
        <p:nvSpPr>
          <p:cNvPr id="24" name="Text 22"/>
          <p:cNvSpPr/>
          <p:nvPr/>
        </p:nvSpPr>
        <p:spPr>
          <a:xfrm>
            <a:off x="1143000" y="5902872"/>
            <a:ext cx="79660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a:t>
            </a:r>
            <a:endParaRPr lang="en-US" sz="1875" dirty="0"/>
          </a:p>
        </p:txBody>
      </p:sp>
      <p:sp>
        <p:nvSpPr>
          <p:cNvPr id="25" name="Shape 23"/>
          <p:cNvSpPr/>
          <p:nvPr/>
        </p:nvSpPr>
        <p:spPr>
          <a:xfrm>
            <a:off x="2092003" y="6263134"/>
            <a:ext cx="1970410" cy="9525"/>
          </a:xfrm>
          <a:prstGeom prst="rect">
            <a:avLst/>
          </a:prstGeom>
          <a:solidFill>
            <a:srgbClr val="201E1E">
              <a:alpha val="40000"/>
            </a:srgbClr>
          </a:solidFill>
          <a:ln/>
        </p:spPr>
        <p:txBody>
          <a:bodyPr/>
          <a:lstStyle/>
          <a:p>
            <a:endParaRPr lang="en-US"/>
          </a:p>
        </p:txBody>
      </p:sp>
      <p:sp>
        <p:nvSpPr>
          <p:cNvPr id="26" name="Text 24"/>
          <p:cNvSpPr/>
          <p:nvPr/>
        </p:nvSpPr>
        <p:spPr>
          <a:xfrm>
            <a:off x="2320603" y="5902872"/>
            <a:ext cx="158941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2.718</a:t>
            </a:r>
            <a:endParaRPr lang="en-US" sz="1875" dirty="0"/>
          </a:p>
        </p:txBody>
      </p:sp>
      <p:sp>
        <p:nvSpPr>
          <p:cNvPr id="27" name="Shape 25"/>
          <p:cNvSpPr/>
          <p:nvPr/>
        </p:nvSpPr>
        <p:spPr>
          <a:xfrm>
            <a:off x="4062412" y="6263134"/>
            <a:ext cx="11939588" cy="9525"/>
          </a:xfrm>
          <a:prstGeom prst="rect">
            <a:avLst/>
          </a:prstGeom>
          <a:solidFill>
            <a:srgbClr val="201E1E">
              <a:alpha val="40000"/>
            </a:srgbClr>
          </a:solidFill>
          <a:ln/>
        </p:spPr>
        <p:txBody>
          <a:bodyPr/>
          <a:lstStyle/>
          <a:p>
            <a:endParaRPr lang="en-US"/>
          </a:p>
        </p:txBody>
      </p:sp>
      <p:sp>
        <p:nvSpPr>
          <p:cNvPr id="28" name="Text 26"/>
          <p:cNvSpPr/>
          <p:nvPr/>
        </p:nvSpPr>
        <p:spPr>
          <a:xfrm>
            <a:off x="4291013" y="5902872"/>
            <a:ext cx="12069175"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The number e itself</a:t>
            </a:r>
            <a:endParaRPr lang="en-US" sz="1875" dirty="0"/>
          </a:p>
        </p:txBody>
      </p:sp>
      <p:sp>
        <p:nvSpPr>
          <p:cNvPr id="29" name="Shape 27"/>
          <p:cNvSpPr/>
          <p:nvPr/>
        </p:nvSpPr>
        <p:spPr>
          <a:xfrm>
            <a:off x="1143000" y="6829946"/>
            <a:ext cx="949003" cy="9525"/>
          </a:xfrm>
          <a:prstGeom prst="rect">
            <a:avLst/>
          </a:prstGeom>
          <a:solidFill>
            <a:srgbClr val="201E1E">
              <a:alpha val="40000"/>
            </a:srgbClr>
          </a:solidFill>
          <a:ln/>
        </p:spPr>
        <p:txBody>
          <a:bodyPr/>
          <a:lstStyle/>
          <a:p>
            <a:endParaRPr lang="en-US"/>
          </a:p>
        </p:txBody>
      </p:sp>
      <p:sp>
        <p:nvSpPr>
          <p:cNvPr id="30" name="Text 28"/>
          <p:cNvSpPr/>
          <p:nvPr/>
        </p:nvSpPr>
        <p:spPr>
          <a:xfrm>
            <a:off x="1143000" y="6469684"/>
            <a:ext cx="79660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a:t>
            </a:r>
            <a:endParaRPr lang="en-US" sz="1875" dirty="0"/>
          </a:p>
        </p:txBody>
      </p:sp>
      <p:sp>
        <p:nvSpPr>
          <p:cNvPr id="31" name="Shape 29"/>
          <p:cNvSpPr/>
          <p:nvPr/>
        </p:nvSpPr>
        <p:spPr>
          <a:xfrm>
            <a:off x="2092003" y="6829946"/>
            <a:ext cx="1970410" cy="9525"/>
          </a:xfrm>
          <a:prstGeom prst="rect">
            <a:avLst/>
          </a:prstGeom>
          <a:solidFill>
            <a:srgbClr val="201E1E">
              <a:alpha val="40000"/>
            </a:srgbClr>
          </a:solidFill>
          <a:ln/>
        </p:spPr>
        <p:txBody>
          <a:bodyPr/>
          <a:lstStyle/>
          <a:p>
            <a:endParaRPr lang="en-US"/>
          </a:p>
        </p:txBody>
      </p:sp>
      <p:sp>
        <p:nvSpPr>
          <p:cNvPr id="32" name="Text 30"/>
          <p:cNvSpPr/>
          <p:nvPr/>
        </p:nvSpPr>
        <p:spPr>
          <a:xfrm>
            <a:off x="2320603" y="6469684"/>
            <a:ext cx="158941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20.09</a:t>
            </a:r>
            <a:endParaRPr lang="en-US" sz="1875" dirty="0"/>
          </a:p>
        </p:txBody>
      </p:sp>
      <p:sp>
        <p:nvSpPr>
          <p:cNvPr id="33" name="Shape 31"/>
          <p:cNvSpPr/>
          <p:nvPr/>
        </p:nvSpPr>
        <p:spPr>
          <a:xfrm>
            <a:off x="4062412" y="6829946"/>
            <a:ext cx="11939588" cy="9525"/>
          </a:xfrm>
          <a:prstGeom prst="rect">
            <a:avLst/>
          </a:prstGeom>
          <a:solidFill>
            <a:srgbClr val="201E1E">
              <a:alpha val="40000"/>
            </a:srgbClr>
          </a:solidFill>
          <a:ln/>
        </p:spPr>
        <p:txBody>
          <a:bodyPr/>
          <a:lstStyle/>
          <a:p>
            <a:endParaRPr lang="en-US"/>
          </a:p>
        </p:txBody>
      </p:sp>
      <p:sp>
        <p:nvSpPr>
          <p:cNvPr id="34" name="Text 32"/>
          <p:cNvSpPr/>
          <p:nvPr/>
        </p:nvSpPr>
        <p:spPr>
          <a:xfrm>
            <a:off x="4291013" y="6469684"/>
            <a:ext cx="12069175"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A modest score becomes a big weight — gaps get amplified</a:t>
            </a:r>
            <a:endParaRPr lang="en-US" sz="1875" dirty="0"/>
          </a:p>
        </p:txBody>
      </p:sp>
      <p:sp>
        <p:nvSpPr>
          <p:cNvPr id="35" name="Shape 33"/>
          <p:cNvSpPr/>
          <p:nvPr/>
        </p:nvSpPr>
        <p:spPr>
          <a:xfrm>
            <a:off x="1143000" y="7165628"/>
            <a:ext cx="16002000" cy="19050"/>
          </a:xfrm>
          <a:prstGeom prst="rect">
            <a:avLst/>
          </a:prstGeom>
          <a:solidFill>
            <a:srgbClr val="EC3013"/>
          </a:solidFill>
          <a:ln/>
        </p:spPr>
        <p:txBody>
          <a:bodyPr/>
          <a:lstStyle/>
          <a:p>
            <a:endParaRPr lang="en-US"/>
          </a:p>
        </p:txBody>
      </p:sp>
      <p:sp>
        <p:nvSpPr>
          <p:cNvPr id="36" name="Text 34"/>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37" name="Text 35"/>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model's raw scores can be any number, positive or negative. Softmax exponentiates them precisely because e^x makes everything positive — a prerequisite for calling them probabilities.</a:t>
            </a:r>
            <a:endParaRPr lang="en-US" sz="2100" dirty="0"/>
          </a:p>
        </p:txBody>
      </p:sp>
      <p:pic>
        <p:nvPicPr>
          <p:cNvPr id="38"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09 · CALCULUS, GRADIENTS &amp; LEARNING</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Do I need this?</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Yes, if you…</a:t>
            </a:r>
            <a:endParaRPr lang="en-US" sz="2550" dirty="0"/>
          </a:p>
        </p:txBody>
      </p:sp>
      <p:sp>
        <p:nvSpPr>
          <p:cNvPr id="6" name="Text 4"/>
          <p:cNvSpPr/>
          <p:nvPr/>
        </p:nvSpPr>
        <p:spPr>
          <a:xfrm>
            <a:off x="1143000" y="39317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Read a loss curve, choose a learning rate, decide whether a fine-tune is working, or explain training to a stakeholder.</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What breaks without it</a:t>
            </a:r>
            <a:endParaRPr lang="en-US" sz="2550" dirty="0"/>
          </a:p>
        </p:txBody>
      </p:sp>
      <p:sp>
        <p:nvSpPr>
          <p:cNvPr id="9" name="Text 7"/>
          <p:cNvSpPr/>
          <p:nvPr/>
        </p:nvSpPr>
        <p:spPr>
          <a:xfrm>
            <a:off x="6629400" y="3931741"/>
            <a:ext cx="5180076" cy="15926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Training is a black box that either works or does not, loss curves are decoration, and "increase the learning rate" is a suggestion you cannot evaluate.</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Time to competence</a:t>
            </a:r>
            <a:endParaRPr lang="en-US" sz="2550" dirty="0"/>
          </a:p>
        </p:txBody>
      </p:sp>
      <p:sp>
        <p:nvSpPr>
          <p:cNvPr id="12" name="Text 10"/>
          <p:cNvSpPr/>
          <p:nvPr/>
        </p:nvSpPr>
        <p:spPr>
          <a:xfrm>
            <a:off x="12115800" y="39317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Half a day for the intuition. You will never differentiate anything by hand — the framework does that.</a:t>
            </a:r>
            <a:endParaRPr lang="en-US" sz="2100" dirty="0"/>
          </a:p>
        </p:txBody>
      </p:sp>
      <p:sp>
        <p:nvSpPr>
          <p:cNvPr id="13" name="Shape 11"/>
          <p:cNvSpPr/>
          <p:nvPr/>
        </p:nvSpPr>
        <p:spPr>
          <a:xfrm>
            <a:off x="1143000" y="7165628"/>
            <a:ext cx="16002000" cy="19050"/>
          </a:xfrm>
          <a:prstGeom prst="rect">
            <a:avLst/>
          </a:prstGeom>
          <a:solidFill>
            <a:srgbClr val="EC3013"/>
          </a:solidFill>
          <a:ln/>
        </p:spPr>
        <p:txBody>
          <a:bodyPr/>
          <a:lstStyle/>
          <a:p>
            <a:endParaRPr lang="en-US"/>
          </a:p>
        </p:txBody>
      </p:sp>
      <p:sp>
        <p:nvSpPr>
          <p:cNvPr id="14" name="Text 12"/>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15" name="Text 13"/>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Pre-training, fine-tuning, LoRA and RLHF are all the same loop: measure the error, compute the gradient, take a small step. Only the loss function changes.</a:t>
            </a:r>
            <a:endParaRPr lang="en-US" sz="2100" dirty="0"/>
          </a:p>
        </p:txBody>
      </p:sp>
      <p:pic>
        <p:nvPicPr>
          <p:cNvPr id="16"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09 · DEEPER INTUITION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Walking down a foggy hill</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You cannot see the bottom, but you can feel which direction slopes downward under your feet. Take a small step that way, feel again, repeat. That is gradient descent, with error in place of altitude.</a:t>
            </a:r>
            <a:endParaRPr lang="en-US" sz="2100" dirty="0"/>
          </a:p>
        </p:txBody>
      </p:sp>
      <p:sp>
        <p:nvSpPr>
          <p:cNvPr id="5" name="Shape 3"/>
          <p:cNvSpPr/>
          <p:nvPr/>
        </p:nvSpPr>
        <p:spPr>
          <a:xfrm>
            <a:off x="1143000" y="4229100"/>
            <a:ext cx="5029200" cy="19050"/>
          </a:xfrm>
          <a:prstGeom prst="rect">
            <a:avLst/>
          </a:prstGeom>
          <a:solidFill>
            <a:srgbClr val="201E1E">
              <a:alpha val="40000"/>
            </a:srgbClr>
          </a:solidFill>
          <a:ln/>
        </p:spPr>
        <p:txBody>
          <a:bodyPr/>
          <a:lstStyle/>
          <a:p>
            <a:endParaRPr lang="en-US"/>
          </a:p>
        </p:txBody>
      </p:sp>
      <p:sp>
        <p:nvSpPr>
          <p:cNvPr id="6" name="Text 4"/>
          <p:cNvSpPr/>
          <p:nvPr/>
        </p:nvSpPr>
        <p:spPr>
          <a:xfrm>
            <a:off x="1143000" y="4607272"/>
            <a:ext cx="553212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01</a:t>
            </a:r>
            <a:endParaRPr lang="en-US" sz="1800" dirty="0"/>
          </a:p>
        </p:txBody>
      </p:sp>
      <p:sp>
        <p:nvSpPr>
          <p:cNvPr id="7" name="Text 5"/>
          <p:cNvSpPr/>
          <p:nvPr/>
        </p:nvSpPr>
        <p:spPr>
          <a:xfrm>
            <a:off x="1143000" y="5030167"/>
            <a:ext cx="553212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Feel the slope</a:t>
            </a:r>
            <a:endParaRPr lang="en-US" sz="2100" dirty="0"/>
          </a:p>
        </p:txBody>
      </p:sp>
      <p:sp>
        <p:nvSpPr>
          <p:cNvPr id="8" name="Text 6"/>
          <p:cNvSpPr/>
          <p:nvPr/>
        </p:nvSpPr>
        <p:spPr>
          <a:xfrm>
            <a:off x="1143000" y="5521523"/>
            <a:ext cx="5180076" cy="652090"/>
          </a:xfrm>
          <a:prstGeom prst="rect">
            <a:avLst/>
          </a:prstGeom>
          <a:noFill/>
          <a:ln/>
        </p:spPr>
        <p:txBody>
          <a:bodyPr wrap="square" lIns="25400" tIns="25400" rIns="25400" bIns="25400" rtlCol="0" anchor="t">
            <a:normAutofit fontScale="70000" lnSpcReduction="200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The gradient is the direction of steepest increase in error. Its negative points downhill.</a:t>
            </a:r>
            <a:endParaRPr lang="en-US" sz="1800" dirty="0"/>
          </a:p>
        </p:txBody>
      </p:sp>
      <p:sp>
        <p:nvSpPr>
          <p:cNvPr id="9" name="Shape 7"/>
          <p:cNvSpPr/>
          <p:nvPr/>
        </p:nvSpPr>
        <p:spPr>
          <a:xfrm>
            <a:off x="6629400" y="4229100"/>
            <a:ext cx="5029200" cy="19050"/>
          </a:xfrm>
          <a:prstGeom prst="rect">
            <a:avLst/>
          </a:prstGeom>
          <a:solidFill>
            <a:srgbClr val="201E1E">
              <a:alpha val="40000"/>
            </a:srgbClr>
          </a:solidFill>
          <a:ln/>
        </p:spPr>
        <p:txBody>
          <a:bodyPr/>
          <a:lstStyle/>
          <a:p>
            <a:endParaRPr lang="en-US"/>
          </a:p>
        </p:txBody>
      </p:sp>
      <p:sp>
        <p:nvSpPr>
          <p:cNvPr id="10" name="Text 8"/>
          <p:cNvSpPr/>
          <p:nvPr/>
        </p:nvSpPr>
        <p:spPr>
          <a:xfrm>
            <a:off x="6629400" y="4607272"/>
            <a:ext cx="553212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02</a:t>
            </a:r>
            <a:endParaRPr lang="en-US" sz="1800" dirty="0"/>
          </a:p>
        </p:txBody>
      </p:sp>
      <p:sp>
        <p:nvSpPr>
          <p:cNvPr id="11" name="Text 9"/>
          <p:cNvSpPr/>
          <p:nvPr/>
        </p:nvSpPr>
        <p:spPr>
          <a:xfrm>
            <a:off x="6629400" y="5030167"/>
            <a:ext cx="553212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Take a small step</a:t>
            </a:r>
            <a:endParaRPr lang="en-US" sz="2100" dirty="0"/>
          </a:p>
        </p:txBody>
      </p:sp>
      <p:sp>
        <p:nvSpPr>
          <p:cNvPr id="12" name="Text 10"/>
          <p:cNvSpPr/>
          <p:nvPr/>
        </p:nvSpPr>
        <p:spPr>
          <a:xfrm>
            <a:off x="6629400" y="5521523"/>
            <a:ext cx="5180076" cy="1109290"/>
          </a:xfrm>
          <a:prstGeom prst="rect">
            <a:avLst/>
          </a:prstGeom>
          <a:noFill/>
          <a:ln/>
        </p:spPr>
        <p:txBody>
          <a:bodyPr wrap="square" lIns="25400" tIns="25400" rIns="25400" bIns="25400" rtlCol="0" anchor="t">
            <a:normAutofit fontScale="92500"/>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The learning rate decides how big. Too big and you overshoot the valley; too small and you never arrive.</a:t>
            </a:r>
            <a:endParaRPr lang="en-US" sz="1800" dirty="0"/>
          </a:p>
        </p:txBody>
      </p:sp>
      <p:sp>
        <p:nvSpPr>
          <p:cNvPr id="13" name="Shape 11"/>
          <p:cNvSpPr/>
          <p:nvPr/>
        </p:nvSpPr>
        <p:spPr>
          <a:xfrm>
            <a:off x="12115800" y="4229100"/>
            <a:ext cx="5029200" cy="19050"/>
          </a:xfrm>
          <a:prstGeom prst="rect">
            <a:avLst/>
          </a:prstGeom>
          <a:solidFill>
            <a:srgbClr val="201E1E">
              <a:alpha val="40000"/>
            </a:srgbClr>
          </a:solidFill>
          <a:ln/>
        </p:spPr>
        <p:txBody>
          <a:bodyPr/>
          <a:lstStyle/>
          <a:p>
            <a:endParaRPr lang="en-US"/>
          </a:p>
        </p:txBody>
      </p:sp>
      <p:sp>
        <p:nvSpPr>
          <p:cNvPr id="14" name="Text 12"/>
          <p:cNvSpPr/>
          <p:nvPr/>
        </p:nvSpPr>
        <p:spPr>
          <a:xfrm>
            <a:off x="12115800" y="4607272"/>
            <a:ext cx="553212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03</a:t>
            </a:r>
            <a:endParaRPr lang="en-US" sz="1800" dirty="0"/>
          </a:p>
        </p:txBody>
      </p:sp>
      <p:sp>
        <p:nvSpPr>
          <p:cNvPr id="15" name="Text 13"/>
          <p:cNvSpPr/>
          <p:nvPr/>
        </p:nvSpPr>
        <p:spPr>
          <a:xfrm>
            <a:off x="12115800" y="5030167"/>
            <a:ext cx="5532120" cy="229121"/>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b="1" kern="0" spc="-31" dirty="0">
                <a:solidFill>
                  <a:srgbClr val="201E1D"/>
                </a:solidFill>
                <a:latin typeface="Arial" pitchFamily="34" charset="0"/>
                <a:ea typeface="Arial" pitchFamily="34" charset="-122"/>
                <a:cs typeface="Arial" pitchFamily="34" charset="-120"/>
              </a:rPr>
              <a:t>Repeat</a:t>
            </a:r>
            <a:endParaRPr lang="en-US" sz="2100" dirty="0"/>
          </a:p>
        </p:txBody>
      </p:sp>
      <p:sp>
        <p:nvSpPr>
          <p:cNvPr id="16" name="Text 14"/>
          <p:cNvSpPr/>
          <p:nvPr/>
        </p:nvSpPr>
        <p:spPr>
          <a:xfrm>
            <a:off x="12115800" y="5521523"/>
            <a:ext cx="5180076" cy="1109290"/>
          </a:xfrm>
          <a:prstGeom prst="rect">
            <a:avLst/>
          </a:prstGeom>
          <a:noFill/>
          <a:ln/>
        </p:spPr>
        <p:txBody>
          <a:bodyPr wrap="square" lIns="25400" tIns="25400" rIns="25400" bIns="25400" rtlCol="0" anchor="t">
            <a:normAutofit/>
          </a:bodyPr>
          <a:lstStyle/>
          <a:p>
            <a:pPr marL="0" indent="0" algn="l">
              <a:lnSpc>
                <a:spcPct val="174545"/>
              </a:lnSpc>
              <a:buNone/>
            </a:pPr>
            <a:r>
              <a:rPr lang="en-US" sz="1800" dirty="0">
                <a:solidFill>
                  <a:srgbClr val="201E1D"/>
                </a:solidFill>
                <a:latin typeface="Arial" pitchFamily="34" charset="0"/>
                <a:ea typeface="Arial" pitchFamily="34" charset="-122"/>
                <a:cs typeface="Arial" pitchFamily="34" charset="-120"/>
              </a:rPr>
              <a:t>Millions of times, on millions of parameters at once. No single step is clever; the accumulation is.</a:t>
            </a:r>
            <a:endParaRPr lang="en-US" sz="1800" dirty="0"/>
          </a:p>
        </p:txBody>
      </p:sp>
      <p:sp>
        <p:nvSpPr>
          <p:cNvPr id="17" name="Shape 15"/>
          <p:cNvSpPr/>
          <p:nvPr/>
        </p:nvSpPr>
        <p:spPr>
          <a:xfrm>
            <a:off x="1143000" y="7165628"/>
            <a:ext cx="16002000" cy="19050"/>
          </a:xfrm>
          <a:prstGeom prst="rect">
            <a:avLst/>
          </a:prstGeom>
          <a:solidFill>
            <a:srgbClr val="EC3013"/>
          </a:solidFill>
          <a:ln/>
        </p:spPr>
        <p:txBody>
          <a:bodyPr/>
          <a:lstStyle/>
          <a:p>
            <a:endParaRPr lang="en-US"/>
          </a:p>
        </p:txBody>
      </p:sp>
      <p:sp>
        <p:nvSpPr>
          <p:cNvPr id="18" name="Text 16"/>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PRO TIP</a:t>
            </a:r>
            <a:endParaRPr lang="en-US" sz="1800" dirty="0"/>
          </a:p>
        </p:txBody>
      </p:sp>
      <p:sp>
        <p:nvSpPr>
          <p:cNvPr id="19" name="Text 17"/>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 gradient is local. It tells you the slope right where you stand and nothing about the landscape beyond, which is why training can settle in a valley that is not the deepest one available.</a:t>
            </a:r>
            <a:endParaRPr lang="en-US" sz="2100" dirty="0"/>
          </a:p>
        </p:txBody>
      </p:sp>
      <p:pic>
        <p:nvPicPr>
          <p:cNvPr id="20"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09 · WHY THE FORMULA WORKS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A derivative is rise over run</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Take two points on a curve and compute the slope between them. Now slide them closer together. The number that slope settles on is the derivative at that point.</a:t>
            </a:r>
            <a:endParaRPr lang="en-US" sz="2100" dirty="0"/>
          </a:p>
        </p:txBody>
      </p:sp>
      <p:sp>
        <p:nvSpPr>
          <p:cNvPr id="5" name="Shape 3"/>
          <p:cNvSpPr/>
          <p:nvPr/>
        </p:nvSpPr>
        <p:spPr>
          <a:xfrm>
            <a:off x="1143000" y="5663208"/>
            <a:ext cx="16002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229100"/>
            <a:ext cx="16002000" cy="19050"/>
          </a:xfrm>
          <a:prstGeom prst="rect">
            <a:avLst/>
          </a:prstGeom>
          <a:solidFill>
            <a:srgbClr val="201E1E">
              <a:alpha val="40000"/>
            </a:srgbClr>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43000" y="4591050"/>
            <a:ext cx="16002000" cy="729258"/>
          </a:xfrm>
          <a:prstGeom prst="rect">
            <a:avLst/>
          </a:prstGeom>
        </p:spPr>
      </p:pic>
      <p:sp>
        <p:nvSpPr>
          <p:cNvPr id="8" name="Text 5"/>
          <p:cNvSpPr/>
          <p:nvPr/>
        </p:nvSpPr>
        <p:spPr>
          <a:xfrm>
            <a:off x="1143000" y="5817096"/>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Δy</a:t>
            </a:r>
            <a:endParaRPr lang="en-US" sz="1950" dirty="0"/>
          </a:p>
        </p:txBody>
      </p:sp>
      <p:sp>
        <p:nvSpPr>
          <p:cNvPr id="9" name="Text 6"/>
          <p:cNvSpPr/>
          <p:nvPr/>
        </p:nvSpPr>
        <p:spPr>
          <a:xfrm>
            <a:off x="4343400" y="5817096"/>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How much the output moved. In training, how much the loss changed.</a:t>
            </a:r>
            <a:endParaRPr lang="en-US" sz="1950" dirty="0"/>
          </a:p>
        </p:txBody>
      </p:sp>
      <p:sp>
        <p:nvSpPr>
          <p:cNvPr id="10" name="Text 7"/>
          <p:cNvSpPr/>
          <p:nvPr/>
        </p:nvSpPr>
        <p:spPr>
          <a:xfrm>
            <a:off x="1143000" y="6523434"/>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Δx</a:t>
            </a:r>
            <a:endParaRPr lang="en-US" sz="1950" dirty="0"/>
          </a:p>
        </p:txBody>
      </p:sp>
      <p:sp>
        <p:nvSpPr>
          <p:cNvPr id="11" name="Text 8"/>
          <p:cNvSpPr/>
          <p:nvPr/>
        </p:nvSpPr>
        <p:spPr>
          <a:xfrm>
            <a:off x="4343400" y="6523434"/>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How much the input moved. In training, how much we nudged one weight.</a:t>
            </a:r>
            <a:endParaRPr lang="en-US" sz="1950" dirty="0"/>
          </a:p>
        </p:txBody>
      </p:sp>
      <p:sp>
        <p:nvSpPr>
          <p:cNvPr id="12" name="Text 9"/>
          <p:cNvSpPr/>
          <p:nvPr/>
        </p:nvSpPr>
        <p:spPr>
          <a:xfrm>
            <a:off x="1143000" y="7229773"/>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The ratio</a:t>
            </a:r>
            <a:endParaRPr lang="en-US" sz="1950" dirty="0"/>
          </a:p>
        </p:txBody>
      </p:sp>
      <p:sp>
        <p:nvSpPr>
          <p:cNvPr id="13" name="Text 10"/>
          <p:cNvSpPr/>
          <p:nvPr/>
        </p:nvSpPr>
        <p:spPr>
          <a:xfrm>
            <a:off x="4343400" y="7229773"/>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Sensitivity. A large slope means this weight matters a lot right now; a slope near zero means changing it does almost nothing.</a:t>
            </a:r>
            <a:endParaRPr lang="en-US" sz="1950" dirty="0"/>
          </a:p>
        </p:txBody>
      </p:sp>
      <p:sp>
        <p:nvSpPr>
          <p:cNvPr id="14" name="Text 11"/>
          <p:cNvSpPr/>
          <p:nvPr/>
        </p:nvSpPr>
        <p:spPr>
          <a:xfrm>
            <a:off x="1143000" y="8105998"/>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∂L/∂w</a:t>
            </a:r>
            <a:endParaRPr lang="en-US" sz="1950" dirty="0"/>
          </a:p>
        </p:txBody>
      </p:sp>
      <p:sp>
        <p:nvSpPr>
          <p:cNvPr id="15" name="Text 12"/>
          <p:cNvSpPr/>
          <p:nvPr/>
        </p:nvSpPr>
        <p:spPr>
          <a:xfrm>
            <a:off x="4343400" y="8105998"/>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same thing, written for one weight at a time while all the others are held still. That is all the partial-derivative symbol means.</a:t>
            </a:r>
            <a:endParaRPr lang="en-US" sz="1950" dirty="0"/>
          </a:p>
        </p:txBody>
      </p:sp>
      <p:pic>
        <p:nvPicPr>
          <p:cNvPr id="16"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09 · WORKED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Training a model with one weight</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tiny healthcare model predicts a risk score from one input: y = w · x. Currently w = 2 and x = 3, and the true answer is 8.</a:t>
            </a:r>
            <a:endParaRPr lang="en-US" sz="2100" dirty="0"/>
          </a:p>
        </p:txBody>
      </p:sp>
      <p:sp>
        <p:nvSpPr>
          <p:cNvPr id="5" name="Shape 3"/>
          <p:cNvSpPr/>
          <p:nvPr/>
        </p:nvSpPr>
        <p:spPr>
          <a:xfrm>
            <a:off x="1143000" y="34290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39508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36079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36079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Predict: ŷ = w × x = 2 × 3 = </a:t>
            </a:r>
            <a:r>
              <a:rPr lang="en-US" sz="2100" b="1" dirty="0">
                <a:solidFill>
                  <a:srgbClr val="201E1D"/>
                </a:solidFill>
                <a:latin typeface="Arial" pitchFamily="34" charset="0"/>
                <a:ea typeface="Arial" pitchFamily="34" charset="-122"/>
                <a:cs typeface="Arial" pitchFamily="34" charset="-120"/>
              </a:rPr>
              <a:t>6</a:t>
            </a:r>
            <a:endParaRPr lang="en-US" sz="2100" dirty="0"/>
          </a:p>
        </p:txBody>
      </p:sp>
      <p:sp>
        <p:nvSpPr>
          <p:cNvPr id="9" name="Shape 7"/>
          <p:cNvSpPr/>
          <p:nvPr/>
        </p:nvSpPr>
        <p:spPr>
          <a:xfrm>
            <a:off x="1143000" y="44632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1203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1203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Error: actual − predicted = 8 − 6 = </a:t>
            </a:r>
            <a:r>
              <a:rPr lang="en-US" sz="2100" b="1" dirty="0">
                <a:solidFill>
                  <a:srgbClr val="201E1D"/>
                </a:solidFill>
                <a:latin typeface="Arial" pitchFamily="34" charset="0"/>
                <a:ea typeface="Arial" pitchFamily="34" charset="-122"/>
                <a:cs typeface="Arial" pitchFamily="34" charset="-120"/>
              </a:rPr>
              <a:t>2 </a:t>
            </a:r>
            <a:r>
              <a:rPr lang="en-US" sz="2100" dirty="0">
                <a:solidFill>
                  <a:srgbClr val="201E1D"/>
                </a:solidFill>
                <a:latin typeface="Arial" pitchFamily="34" charset="0"/>
                <a:ea typeface="Arial" pitchFamily="34" charset="-122"/>
                <a:cs typeface="Arial" pitchFamily="34" charset="-120"/>
              </a:rPr>
              <a:t>— we are under-predicting</a:t>
            </a:r>
            <a:endParaRPr lang="en-US" sz="2100" dirty="0"/>
          </a:p>
        </p:txBody>
      </p:sp>
      <p:sp>
        <p:nvSpPr>
          <p:cNvPr id="12" name="Shape 10"/>
          <p:cNvSpPr/>
          <p:nvPr/>
        </p:nvSpPr>
        <p:spPr>
          <a:xfrm>
            <a:off x="1143000" y="49755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46326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46326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Direction: increasing w increases the prediction, so w should go </a:t>
            </a:r>
            <a:r>
              <a:rPr lang="en-US" sz="2100" b="1" dirty="0">
                <a:solidFill>
                  <a:srgbClr val="201E1D"/>
                </a:solidFill>
                <a:latin typeface="Arial" pitchFamily="34" charset="0"/>
                <a:ea typeface="Arial" pitchFamily="34" charset="-122"/>
                <a:cs typeface="Arial" pitchFamily="34" charset="-120"/>
              </a:rPr>
              <a:t>up</a:t>
            </a:r>
            <a:endParaRPr lang="en-US" sz="2100" dirty="0"/>
          </a:p>
        </p:txBody>
      </p:sp>
      <p:sp>
        <p:nvSpPr>
          <p:cNvPr id="15" name="Shape 13"/>
          <p:cNvSpPr/>
          <p:nvPr/>
        </p:nvSpPr>
        <p:spPr>
          <a:xfrm>
            <a:off x="1143000" y="5487888"/>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144988"/>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4</a:t>
            </a:r>
            <a:endParaRPr lang="en-US" sz="2100" dirty="0"/>
          </a:p>
        </p:txBody>
      </p:sp>
      <p:sp>
        <p:nvSpPr>
          <p:cNvPr id="17" name="Text 15"/>
          <p:cNvSpPr/>
          <p:nvPr/>
        </p:nvSpPr>
        <p:spPr>
          <a:xfrm>
            <a:off x="1981200" y="5144988"/>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Step: with a small learning rate, w moves 2 → </a:t>
            </a:r>
            <a:r>
              <a:rPr lang="en-US" sz="2100" b="1" dirty="0">
                <a:solidFill>
                  <a:srgbClr val="201E1D"/>
                </a:solidFill>
                <a:latin typeface="Arial" pitchFamily="34" charset="0"/>
                <a:ea typeface="Arial" pitchFamily="34" charset="-122"/>
                <a:cs typeface="Arial" pitchFamily="34" charset="-120"/>
              </a:rPr>
              <a:t>2.2</a:t>
            </a:r>
            <a:endParaRPr lang="en-US" sz="2100" dirty="0"/>
          </a:p>
        </p:txBody>
      </p:sp>
      <p:sp>
        <p:nvSpPr>
          <p:cNvPr id="18" name="Shape 16"/>
          <p:cNvSpPr/>
          <p:nvPr/>
        </p:nvSpPr>
        <p:spPr>
          <a:xfrm>
            <a:off x="1143000" y="6008266"/>
            <a:ext cx="13335000" cy="9525"/>
          </a:xfrm>
          <a:prstGeom prst="rect">
            <a:avLst/>
          </a:prstGeom>
          <a:solidFill>
            <a:srgbClr val="201E1E">
              <a:alpha val="40000"/>
            </a:srgbClr>
          </a:solidFill>
          <a:ln/>
        </p:spPr>
        <p:txBody>
          <a:bodyPr/>
          <a:lstStyle/>
          <a:p>
            <a:endParaRPr lang="en-US"/>
          </a:p>
        </p:txBody>
      </p:sp>
      <p:sp>
        <p:nvSpPr>
          <p:cNvPr id="19" name="Text 17"/>
          <p:cNvSpPr/>
          <p:nvPr/>
        </p:nvSpPr>
        <p:spPr>
          <a:xfrm>
            <a:off x="1143000" y="5657329"/>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20" name="Text 18"/>
          <p:cNvSpPr/>
          <p:nvPr/>
        </p:nvSpPr>
        <p:spPr>
          <a:xfrm>
            <a:off x="1981200" y="5657329"/>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New prediction: 2.2 × 3 = 6.6. Error is now 1.4, down from 2</a:t>
            </a:r>
            <a:endParaRPr lang="en-US" sz="2100" dirty="0"/>
          </a:p>
        </p:txBody>
      </p:sp>
      <p:sp>
        <p:nvSpPr>
          <p:cNvPr id="21" name="Shape 19"/>
          <p:cNvSpPr/>
          <p:nvPr/>
        </p:nvSpPr>
        <p:spPr>
          <a:xfrm>
            <a:off x="1143000" y="7165628"/>
            <a:ext cx="16002000" cy="19050"/>
          </a:xfrm>
          <a:prstGeom prst="rect">
            <a:avLst/>
          </a:prstGeom>
          <a:solidFill>
            <a:srgbClr val="EC3013"/>
          </a:solidFill>
          <a:ln/>
        </p:spPr>
        <p:txBody>
          <a:bodyPr/>
          <a:lstStyle/>
          <a:p>
            <a:endParaRPr lang="en-US"/>
          </a:p>
        </p:txBody>
      </p:sp>
      <p:sp>
        <p:nvSpPr>
          <p:cNvPr id="22" name="Text 20"/>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23" name="Text 21"/>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Replace one weight with 70 billion, one example with a trillion tokens, and one step with several months of GPU time. The loop on this slide is unchanged.</a:t>
            </a:r>
            <a:endParaRPr lang="en-US" sz="2100" dirty="0"/>
          </a:p>
        </p:txBody>
      </p:sp>
      <p:pic>
        <p:nvPicPr>
          <p:cNvPr id="24"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09 · WHY THE FORMULA WORKS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The update rule, term by term</a:t>
            </a:r>
            <a:endParaRPr lang="en-US" sz="4800" dirty="0"/>
          </a:p>
        </p:txBody>
      </p:sp>
      <p:sp>
        <p:nvSpPr>
          <p:cNvPr id="4" name="Shape 2"/>
          <p:cNvSpPr/>
          <p:nvPr/>
        </p:nvSpPr>
        <p:spPr>
          <a:xfrm>
            <a:off x="1143000" y="4806628"/>
            <a:ext cx="16002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3200400"/>
            <a:ext cx="16002000" cy="19050"/>
          </a:xfrm>
          <a:prstGeom prst="rect">
            <a:avLst/>
          </a:prstGeom>
          <a:solidFill>
            <a:srgbClr val="201E1E">
              <a:alpha val="40000"/>
            </a:srgbClr>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43000" y="3562350"/>
            <a:ext cx="16002000" cy="901378"/>
          </a:xfrm>
          <a:prstGeom prst="rect">
            <a:avLst/>
          </a:prstGeom>
        </p:spPr>
      </p:pic>
      <p:sp>
        <p:nvSpPr>
          <p:cNvPr id="7" name="Text 4"/>
          <p:cNvSpPr/>
          <p:nvPr/>
        </p:nvSpPr>
        <p:spPr>
          <a:xfrm>
            <a:off x="1143000" y="4960516"/>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L — loss</a:t>
            </a:r>
            <a:endParaRPr lang="en-US" sz="1950" dirty="0"/>
          </a:p>
        </p:txBody>
      </p:sp>
      <p:sp>
        <p:nvSpPr>
          <p:cNvPr id="8" name="Text 5"/>
          <p:cNvSpPr/>
          <p:nvPr/>
        </p:nvSpPr>
        <p:spPr>
          <a:xfrm>
            <a:off x="4343400" y="4960516"/>
            <a:ext cx="12008358" cy="531837"/>
          </a:xfrm>
          <a:prstGeom prst="rect">
            <a:avLst/>
          </a:prstGeom>
          <a:noFill/>
          <a:ln/>
        </p:spPr>
        <p:txBody>
          <a:bodyPr wrap="square" lIns="25400" tIns="25400" rIns="25400" bIns="25400" rtlCol="0" anchor="t">
            <a:normAutofit fontScale="925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A single number measuring how wrong the prediction is. Squared error, cross-entropy, whatever the task calls for.</a:t>
            </a:r>
            <a:endParaRPr lang="en-US" sz="1950" dirty="0"/>
          </a:p>
        </p:txBody>
      </p:sp>
      <p:sp>
        <p:nvSpPr>
          <p:cNvPr id="9" name="Text 6"/>
          <p:cNvSpPr/>
          <p:nvPr/>
        </p:nvSpPr>
        <p:spPr>
          <a:xfrm>
            <a:off x="1143000" y="5836741"/>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∂L/∂w</a:t>
            </a:r>
            <a:endParaRPr lang="en-US" sz="1950" dirty="0"/>
          </a:p>
        </p:txBody>
      </p:sp>
      <p:sp>
        <p:nvSpPr>
          <p:cNvPr id="10" name="Text 7"/>
          <p:cNvSpPr/>
          <p:nvPr/>
        </p:nvSpPr>
        <p:spPr>
          <a:xfrm>
            <a:off x="4343400" y="5836741"/>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gradient: how much the loss would change if we nudged w slightly. The slope you feel underfoot.</a:t>
            </a:r>
            <a:endParaRPr lang="en-US" sz="1950" dirty="0"/>
          </a:p>
        </p:txBody>
      </p:sp>
      <p:sp>
        <p:nvSpPr>
          <p:cNvPr id="11" name="Text 8"/>
          <p:cNvSpPr/>
          <p:nvPr/>
        </p:nvSpPr>
        <p:spPr>
          <a:xfrm>
            <a:off x="1143000" y="6543080"/>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The minus sign</a:t>
            </a:r>
            <a:endParaRPr lang="en-US" sz="1950" dirty="0"/>
          </a:p>
        </p:txBody>
      </p:sp>
      <p:sp>
        <p:nvSpPr>
          <p:cNvPr id="12" name="Text 9"/>
          <p:cNvSpPr/>
          <p:nvPr/>
        </p:nvSpPr>
        <p:spPr>
          <a:xfrm>
            <a:off x="4343400" y="6543080"/>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gradient points in the direction that </a:t>
            </a:r>
            <a:r>
              <a:rPr lang="en-US" sz="1950" i="1" dirty="0">
                <a:solidFill>
                  <a:srgbClr val="201E1D"/>
                </a:solidFill>
                <a:latin typeface="Arial" pitchFamily="34" charset="0"/>
                <a:ea typeface="Arial" pitchFamily="34" charset="-122"/>
                <a:cs typeface="Arial" pitchFamily="34" charset="-120"/>
              </a:rPr>
              <a:t>increases </a:t>
            </a:r>
            <a:r>
              <a:rPr lang="en-US" sz="1950" dirty="0">
                <a:solidFill>
                  <a:srgbClr val="201E1D"/>
                </a:solidFill>
                <a:latin typeface="Arial" pitchFamily="34" charset="0"/>
                <a:ea typeface="Arial" pitchFamily="34" charset="-122"/>
                <a:cs typeface="Arial" pitchFamily="34" charset="-120"/>
              </a:rPr>
              <a:t>loss. We want less loss, so we move the opposite way. This one sign is the entire idea of descent.</a:t>
            </a:r>
            <a:endParaRPr lang="en-US" sz="1950" dirty="0"/>
          </a:p>
        </p:txBody>
      </p:sp>
      <p:sp>
        <p:nvSpPr>
          <p:cNvPr id="13" name="Text 10"/>
          <p:cNvSpPr/>
          <p:nvPr/>
        </p:nvSpPr>
        <p:spPr>
          <a:xfrm>
            <a:off x="1143000" y="7419305"/>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α — learning rate</a:t>
            </a:r>
            <a:endParaRPr lang="en-US" sz="1950" dirty="0"/>
          </a:p>
        </p:txBody>
      </p:sp>
      <p:sp>
        <p:nvSpPr>
          <p:cNvPr id="14" name="Text 11"/>
          <p:cNvSpPr/>
          <p:nvPr/>
        </p:nvSpPr>
        <p:spPr>
          <a:xfrm>
            <a:off x="4343400" y="7419305"/>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How big a step to take. Too large overshoots the valley; too small takes forever. Typically between 0.1 and 0.00001, and always worth tuning.</a:t>
            </a:r>
            <a:endParaRPr lang="en-US" sz="1950" dirty="0"/>
          </a:p>
        </p:txBody>
      </p:sp>
      <p:pic>
        <p:nvPicPr>
          <p:cNvPr id="15" name="Image 1" descr="preencoded.png"/>
          <p:cNvPicPr>
            <a:picLocks noChangeAspect="1"/>
          </p:cNvPicPr>
          <p:nvPr/>
        </p:nvPicPr>
        <p:blipFill>
          <a:blip r:embed="rId4"/>
          <a:stretch>
            <a:fillRect/>
          </a:stretch>
        </p:blipFill>
        <p:spPr>
          <a:xfrm>
            <a:off x="1143000" y="8987210"/>
            <a:ext cx="5696471" cy="15679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09 · DIAGNOSIS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Reading a loss curve</a:t>
            </a:r>
            <a:endParaRPr lang="en-US" sz="4800" dirty="0"/>
          </a:p>
        </p:txBody>
      </p:sp>
      <p:sp>
        <p:nvSpPr>
          <p:cNvPr id="4" name="Shape 2"/>
          <p:cNvSpPr/>
          <p:nvPr/>
        </p:nvSpPr>
        <p:spPr>
          <a:xfrm>
            <a:off x="1143000" y="3519711"/>
            <a:ext cx="5051375" cy="19050"/>
          </a:xfrm>
          <a:prstGeom prst="rect">
            <a:avLst/>
          </a:prstGeom>
          <a:solidFill>
            <a:srgbClr val="201E1E">
              <a:alpha val="40000"/>
            </a:srgbClr>
          </a:solidFill>
          <a:ln/>
        </p:spPr>
        <p:txBody>
          <a:bodyPr/>
          <a:lstStyle/>
          <a:p>
            <a:endParaRPr lang="en-US"/>
          </a:p>
        </p:txBody>
      </p:sp>
      <p:sp>
        <p:nvSpPr>
          <p:cNvPr id="5" name="Text 3"/>
          <p:cNvSpPr/>
          <p:nvPr/>
        </p:nvSpPr>
        <p:spPr>
          <a:xfrm>
            <a:off x="1143000" y="3173390"/>
            <a:ext cx="4974317"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WHAT THE CURVE DOES</a:t>
            </a:r>
            <a:endParaRPr lang="en-US" sz="1800" dirty="0"/>
          </a:p>
        </p:txBody>
      </p:sp>
      <p:sp>
        <p:nvSpPr>
          <p:cNvPr id="6" name="Shape 4"/>
          <p:cNvSpPr/>
          <p:nvPr/>
        </p:nvSpPr>
        <p:spPr>
          <a:xfrm>
            <a:off x="6194375" y="3519711"/>
            <a:ext cx="4910138" cy="19050"/>
          </a:xfrm>
          <a:prstGeom prst="rect">
            <a:avLst/>
          </a:prstGeom>
          <a:solidFill>
            <a:srgbClr val="201E1E">
              <a:alpha val="40000"/>
            </a:srgbClr>
          </a:solidFill>
          <a:ln/>
        </p:spPr>
        <p:txBody>
          <a:bodyPr/>
          <a:lstStyle/>
          <a:p>
            <a:endParaRPr lang="en-US"/>
          </a:p>
        </p:txBody>
      </p:sp>
      <p:sp>
        <p:nvSpPr>
          <p:cNvPr id="7" name="Text 5"/>
          <p:cNvSpPr/>
          <p:nvPr/>
        </p:nvSpPr>
        <p:spPr>
          <a:xfrm>
            <a:off x="6422975" y="3173390"/>
            <a:ext cx="4600242"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LIKELY CAUSE</a:t>
            </a:r>
            <a:endParaRPr lang="en-US" sz="1800" dirty="0"/>
          </a:p>
        </p:txBody>
      </p:sp>
      <p:sp>
        <p:nvSpPr>
          <p:cNvPr id="8" name="Shape 6"/>
          <p:cNvSpPr/>
          <p:nvPr/>
        </p:nvSpPr>
        <p:spPr>
          <a:xfrm>
            <a:off x="11104513" y="3519711"/>
            <a:ext cx="4897487" cy="19050"/>
          </a:xfrm>
          <a:prstGeom prst="rect">
            <a:avLst/>
          </a:prstGeom>
          <a:solidFill>
            <a:srgbClr val="201E1E">
              <a:alpha val="40000"/>
            </a:srgbClr>
          </a:solidFill>
          <a:ln/>
        </p:spPr>
        <p:txBody>
          <a:bodyPr/>
          <a:lstStyle/>
          <a:p>
            <a:endParaRPr lang="en-US"/>
          </a:p>
        </p:txBody>
      </p:sp>
      <p:sp>
        <p:nvSpPr>
          <p:cNvPr id="9" name="Text 7"/>
          <p:cNvSpPr/>
          <p:nvPr/>
        </p:nvSpPr>
        <p:spPr>
          <a:xfrm>
            <a:off x="11333113" y="3173390"/>
            <a:ext cx="4815812"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WHAT TO DO</a:t>
            </a:r>
            <a:endParaRPr lang="en-US" sz="1800" dirty="0"/>
          </a:p>
        </p:txBody>
      </p:sp>
      <p:sp>
        <p:nvSpPr>
          <p:cNvPr id="10" name="Shape 8"/>
          <p:cNvSpPr/>
          <p:nvPr/>
        </p:nvSpPr>
        <p:spPr>
          <a:xfrm>
            <a:off x="1143000" y="4100810"/>
            <a:ext cx="5051375" cy="9525"/>
          </a:xfrm>
          <a:prstGeom prst="rect">
            <a:avLst/>
          </a:prstGeom>
          <a:solidFill>
            <a:srgbClr val="201E1E">
              <a:alpha val="40000"/>
            </a:srgbClr>
          </a:solidFill>
          <a:ln/>
        </p:spPr>
        <p:txBody>
          <a:bodyPr/>
          <a:lstStyle/>
          <a:p>
            <a:endParaRPr lang="en-US"/>
          </a:p>
        </p:txBody>
      </p:sp>
      <p:sp>
        <p:nvSpPr>
          <p:cNvPr id="11" name="Text 9"/>
          <p:cNvSpPr/>
          <p:nvPr/>
        </p:nvSpPr>
        <p:spPr>
          <a:xfrm>
            <a:off x="1143000" y="3735785"/>
            <a:ext cx="4974317"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Falls smoothly, then flattens</a:t>
            </a:r>
            <a:endParaRPr lang="en-US" sz="1875" dirty="0"/>
          </a:p>
        </p:txBody>
      </p:sp>
      <p:sp>
        <p:nvSpPr>
          <p:cNvPr id="12" name="Shape 10"/>
          <p:cNvSpPr/>
          <p:nvPr/>
        </p:nvSpPr>
        <p:spPr>
          <a:xfrm>
            <a:off x="6194375" y="4100810"/>
            <a:ext cx="4910138" cy="9525"/>
          </a:xfrm>
          <a:prstGeom prst="rect">
            <a:avLst/>
          </a:prstGeom>
          <a:solidFill>
            <a:srgbClr val="201E1E">
              <a:alpha val="40000"/>
            </a:srgbClr>
          </a:solidFill>
          <a:ln/>
        </p:spPr>
        <p:txBody>
          <a:bodyPr/>
          <a:lstStyle/>
          <a:p>
            <a:endParaRPr lang="en-US"/>
          </a:p>
        </p:txBody>
      </p:sp>
      <p:sp>
        <p:nvSpPr>
          <p:cNvPr id="13" name="Text 11"/>
          <p:cNvSpPr/>
          <p:nvPr/>
        </p:nvSpPr>
        <p:spPr>
          <a:xfrm>
            <a:off x="6422975" y="3735785"/>
            <a:ext cx="4600242"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Healthy training, converged</a:t>
            </a:r>
            <a:endParaRPr lang="en-US" sz="1875" dirty="0"/>
          </a:p>
        </p:txBody>
      </p:sp>
      <p:sp>
        <p:nvSpPr>
          <p:cNvPr id="14" name="Shape 12"/>
          <p:cNvSpPr/>
          <p:nvPr/>
        </p:nvSpPr>
        <p:spPr>
          <a:xfrm>
            <a:off x="11104513" y="4100810"/>
            <a:ext cx="4897487" cy="9525"/>
          </a:xfrm>
          <a:prstGeom prst="rect">
            <a:avLst/>
          </a:prstGeom>
          <a:solidFill>
            <a:srgbClr val="201E1E">
              <a:alpha val="40000"/>
            </a:srgbClr>
          </a:solidFill>
          <a:ln/>
        </p:spPr>
        <p:txBody>
          <a:bodyPr/>
          <a:lstStyle/>
          <a:p>
            <a:endParaRPr lang="en-US"/>
          </a:p>
        </p:txBody>
      </p:sp>
      <p:sp>
        <p:nvSpPr>
          <p:cNvPr id="15" name="Text 13"/>
          <p:cNvSpPr/>
          <p:nvPr/>
        </p:nvSpPr>
        <p:spPr>
          <a:xfrm>
            <a:off x="11333113" y="3735785"/>
            <a:ext cx="4815812"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Nothing. Stop when it flattens.</a:t>
            </a:r>
            <a:endParaRPr lang="en-US" sz="1875" dirty="0"/>
          </a:p>
        </p:txBody>
      </p:sp>
      <p:sp>
        <p:nvSpPr>
          <p:cNvPr id="16" name="Shape 14"/>
          <p:cNvSpPr/>
          <p:nvPr/>
        </p:nvSpPr>
        <p:spPr>
          <a:xfrm>
            <a:off x="1143000" y="4667622"/>
            <a:ext cx="5051375" cy="9525"/>
          </a:xfrm>
          <a:prstGeom prst="rect">
            <a:avLst/>
          </a:prstGeom>
          <a:solidFill>
            <a:srgbClr val="201E1E">
              <a:alpha val="40000"/>
            </a:srgbClr>
          </a:solidFill>
          <a:ln/>
        </p:spPr>
        <p:txBody>
          <a:bodyPr/>
          <a:lstStyle/>
          <a:p>
            <a:endParaRPr lang="en-US"/>
          </a:p>
        </p:txBody>
      </p:sp>
      <p:sp>
        <p:nvSpPr>
          <p:cNvPr id="17" name="Text 15"/>
          <p:cNvSpPr/>
          <p:nvPr/>
        </p:nvSpPr>
        <p:spPr>
          <a:xfrm>
            <a:off x="1143000" y="4307360"/>
            <a:ext cx="497431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Falls very slowly, still falling</a:t>
            </a:r>
            <a:endParaRPr lang="en-US" sz="1875" dirty="0"/>
          </a:p>
        </p:txBody>
      </p:sp>
      <p:sp>
        <p:nvSpPr>
          <p:cNvPr id="18" name="Shape 16"/>
          <p:cNvSpPr/>
          <p:nvPr/>
        </p:nvSpPr>
        <p:spPr>
          <a:xfrm>
            <a:off x="6194375" y="4667622"/>
            <a:ext cx="4910138" cy="9525"/>
          </a:xfrm>
          <a:prstGeom prst="rect">
            <a:avLst/>
          </a:prstGeom>
          <a:solidFill>
            <a:srgbClr val="201E1E">
              <a:alpha val="40000"/>
            </a:srgbClr>
          </a:solidFill>
          <a:ln/>
        </p:spPr>
        <p:txBody>
          <a:bodyPr/>
          <a:lstStyle/>
          <a:p>
            <a:endParaRPr lang="en-US"/>
          </a:p>
        </p:txBody>
      </p:sp>
      <p:sp>
        <p:nvSpPr>
          <p:cNvPr id="19" name="Text 17"/>
          <p:cNvSpPr/>
          <p:nvPr/>
        </p:nvSpPr>
        <p:spPr>
          <a:xfrm>
            <a:off x="6422975" y="4307360"/>
            <a:ext cx="4600242"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Learning rate too small</a:t>
            </a:r>
            <a:endParaRPr lang="en-US" sz="1875" dirty="0"/>
          </a:p>
        </p:txBody>
      </p:sp>
      <p:sp>
        <p:nvSpPr>
          <p:cNvPr id="20" name="Shape 18"/>
          <p:cNvSpPr/>
          <p:nvPr/>
        </p:nvSpPr>
        <p:spPr>
          <a:xfrm>
            <a:off x="11104513" y="4667622"/>
            <a:ext cx="4897487" cy="9525"/>
          </a:xfrm>
          <a:prstGeom prst="rect">
            <a:avLst/>
          </a:prstGeom>
          <a:solidFill>
            <a:srgbClr val="201E1E">
              <a:alpha val="40000"/>
            </a:srgbClr>
          </a:solidFill>
          <a:ln/>
        </p:spPr>
        <p:txBody>
          <a:bodyPr/>
          <a:lstStyle/>
          <a:p>
            <a:endParaRPr lang="en-US"/>
          </a:p>
        </p:txBody>
      </p:sp>
      <p:sp>
        <p:nvSpPr>
          <p:cNvPr id="21" name="Text 19"/>
          <p:cNvSpPr/>
          <p:nvPr/>
        </p:nvSpPr>
        <p:spPr>
          <a:xfrm>
            <a:off x="11333113" y="4307360"/>
            <a:ext cx="4815812"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Increase it, often by 3× or 10×</a:t>
            </a:r>
            <a:endParaRPr lang="en-US" sz="1875" dirty="0"/>
          </a:p>
        </p:txBody>
      </p:sp>
      <p:sp>
        <p:nvSpPr>
          <p:cNvPr id="22" name="Shape 20"/>
          <p:cNvSpPr/>
          <p:nvPr/>
        </p:nvSpPr>
        <p:spPr>
          <a:xfrm>
            <a:off x="1143000" y="5234434"/>
            <a:ext cx="5051375" cy="9525"/>
          </a:xfrm>
          <a:prstGeom prst="rect">
            <a:avLst/>
          </a:prstGeom>
          <a:solidFill>
            <a:srgbClr val="201E1E">
              <a:alpha val="40000"/>
            </a:srgbClr>
          </a:solidFill>
          <a:ln/>
        </p:spPr>
        <p:txBody>
          <a:bodyPr/>
          <a:lstStyle/>
          <a:p>
            <a:endParaRPr lang="en-US"/>
          </a:p>
        </p:txBody>
      </p:sp>
      <p:sp>
        <p:nvSpPr>
          <p:cNvPr id="23" name="Text 21"/>
          <p:cNvSpPr/>
          <p:nvPr/>
        </p:nvSpPr>
        <p:spPr>
          <a:xfrm>
            <a:off x="1143000" y="4874172"/>
            <a:ext cx="497431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Jumps around, no clear trend</a:t>
            </a:r>
            <a:endParaRPr lang="en-US" sz="1875" dirty="0"/>
          </a:p>
        </p:txBody>
      </p:sp>
      <p:sp>
        <p:nvSpPr>
          <p:cNvPr id="24" name="Shape 22"/>
          <p:cNvSpPr/>
          <p:nvPr/>
        </p:nvSpPr>
        <p:spPr>
          <a:xfrm>
            <a:off x="6194375" y="5234434"/>
            <a:ext cx="4910138" cy="9525"/>
          </a:xfrm>
          <a:prstGeom prst="rect">
            <a:avLst/>
          </a:prstGeom>
          <a:solidFill>
            <a:srgbClr val="201E1E">
              <a:alpha val="40000"/>
            </a:srgbClr>
          </a:solidFill>
          <a:ln/>
        </p:spPr>
        <p:txBody>
          <a:bodyPr/>
          <a:lstStyle/>
          <a:p>
            <a:endParaRPr lang="en-US"/>
          </a:p>
        </p:txBody>
      </p:sp>
      <p:sp>
        <p:nvSpPr>
          <p:cNvPr id="25" name="Text 23"/>
          <p:cNvSpPr/>
          <p:nvPr/>
        </p:nvSpPr>
        <p:spPr>
          <a:xfrm>
            <a:off x="6422975" y="4874172"/>
            <a:ext cx="4600242"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Learning rate too large</a:t>
            </a:r>
            <a:endParaRPr lang="en-US" sz="1875" dirty="0"/>
          </a:p>
        </p:txBody>
      </p:sp>
      <p:sp>
        <p:nvSpPr>
          <p:cNvPr id="26" name="Shape 24"/>
          <p:cNvSpPr/>
          <p:nvPr/>
        </p:nvSpPr>
        <p:spPr>
          <a:xfrm>
            <a:off x="11104513" y="5234434"/>
            <a:ext cx="4897487" cy="9525"/>
          </a:xfrm>
          <a:prstGeom prst="rect">
            <a:avLst/>
          </a:prstGeom>
          <a:solidFill>
            <a:srgbClr val="201E1E">
              <a:alpha val="40000"/>
            </a:srgbClr>
          </a:solidFill>
          <a:ln/>
        </p:spPr>
        <p:txBody>
          <a:bodyPr/>
          <a:lstStyle/>
          <a:p>
            <a:endParaRPr lang="en-US"/>
          </a:p>
        </p:txBody>
      </p:sp>
      <p:sp>
        <p:nvSpPr>
          <p:cNvPr id="27" name="Text 25"/>
          <p:cNvSpPr/>
          <p:nvPr/>
        </p:nvSpPr>
        <p:spPr>
          <a:xfrm>
            <a:off x="11333113" y="4874172"/>
            <a:ext cx="4815812"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Reduce it; add warmup</a:t>
            </a:r>
            <a:endParaRPr lang="en-US" sz="1875" dirty="0"/>
          </a:p>
        </p:txBody>
      </p:sp>
      <p:sp>
        <p:nvSpPr>
          <p:cNvPr id="28" name="Shape 26"/>
          <p:cNvSpPr/>
          <p:nvPr/>
        </p:nvSpPr>
        <p:spPr>
          <a:xfrm>
            <a:off x="1143000" y="5801246"/>
            <a:ext cx="5051375" cy="9525"/>
          </a:xfrm>
          <a:prstGeom prst="rect">
            <a:avLst/>
          </a:prstGeom>
          <a:solidFill>
            <a:srgbClr val="201E1E">
              <a:alpha val="40000"/>
            </a:srgbClr>
          </a:solidFill>
          <a:ln/>
        </p:spPr>
        <p:txBody>
          <a:bodyPr/>
          <a:lstStyle/>
          <a:p>
            <a:endParaRPr lang="en-US"/>
          </a:p>
        </p:txBody>
      </p:sp>
      <p:sp>
        <p:nvSpPr>
          <p:cNvPr id="29" name="Text 27"/>
          <p:cNvSpPr/>
          <p:nvPr/>
        </p:nvSpPr>
        <p:spPr>
          <a:xfrm>
            <a:off x="1143000" y="5440984"/>
            <a:ext cx="497431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Goes to NaN</a:t>
            </a:r>
            <a:endParaRPr lang="en-US" sz="1875" dirty="0"/>
          </a:p>
        </p:txBody>
      </p:sp>
      <p:sp>
        <p:nvSpPr>
          <p:cNvPr id="30" name="Shape 28"/>
          <p:cNvSpPr/>
          <p:nvPr/>
        </p:nvSpPr>
        <p:spPr>
          <a:xfrm>
            <a:off x="6194375" y="5801246"/>
            <a:ext cx="4910138" cy="9525"/>
          </a:xfrm>
          <a:prstGeom prst="rect">
            <a:avLst/>
          </a:prstGeom>
          <a:solidFill>
            <a:srgbClr val="201E1E">
              <a:alpha val="40000"/>
            </a:srgbClr>
          </a:solidFill>
          <a:ln/>
        </p:spPr>
        <p:txBody>
          <a:bodyPr/>
          <a:lstStyle/>
          <a:p>
            <a:endParaRPr lang="en-US"/>
          </a:p>
        </p:txBody>
      </p:sp>
      <p:sp>
        <p:nvSpPr>
          <p:cNvPr id="31" name="Text 29"/>
          <p:cNvSpPr/>
          <p:nvPr/>
        </p:nvSpPr>
        <p:spPr>
          <a:xfrm>
            <a:off x="6422975" y="5440984"/>
            <a:ext cx="4600242"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Overflow — the step exploded</a:t>
            </a:r>
            <a:endParaRPr lang="en-US" sz="1875" dirty="0"/>
          </a:p>
        </p:txBody>
      </p:sp>
      <p:sp>
        <p:nvSpPr>
          <p:cNvPr id="32" name="Shape 30"/>
          <p:cNvSpPr/>
          <p:nvPr/>
        </p:nvSpPr>
        <p:spPr>
          <a:xfrm>
            <a:off x="11104513" y="5801246"/>
            <a:ext cx="4897487" cy="9525"/>
          </a:xfrm>
          <a:prstGeom prst="rect">
            <a:avLst/>
          </a:prstGeom>
          <a:solidFill>
            <a:srgbClr val="201E1E">
              <a:alpha val="40000"/>
            </a:srgbClr>
          </a:solidFill>
          <a:ln/>
        </p:spPr>
        <p:txBody>
          <a:bodyPr/>
          <a:lstStyle/>
          <a:p>
            <a:endParaRPr lang="en-US"/>
          </a:p>
        </p:txBody>
      </p:sp>
      <p:sp>
        <p:nvSpPr>
          <p:cNvPr id="33" name="Text 31"/>
          <p:cNvSpPr/>
          <p:nvPr/>
        </p:nvSpPr>
        <p:spPr>
          <a:xfrm>
            <a:off x="11333113" y="5440984"/>
            <a:ext cx="4815812"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Reduce the rate, clip gradients</a:t>
            </a:r>
            <a:endParaRPr lang="en-US" sz="1875" dirty="0"/>
          </a:p>
        </p:txBody>
      </p:sp>
      <p:sp>
        <p:nvSpPr>
          <p:cNvPr id="34" name="Shape 32"/>
          <p:cNvSpPr/>
          <p:nvPr/>
        </p:nvSpPr>
        <p:spPr>
          <a:xfrm>
            <a:off x="1143000" y="6368058"/>
            <a:ext cx="5051375" cy="9525"/>
          </a:xfrm>
          <a:prstGeom prst="rect">
            <a:avLst/>
          </a:prstGeom>
          <a:solidFill>
            <a:srgbClr val="201E1E">
              <a:alpha val="40000"/>
            </a:srgbClr>
          </a:solidFill>
          <a:ln/>
        </p:spPr>
        <p:txBody>
          <a:bodyPr/>
          <a:lstStyle/>
          <a:p>
            <a:endParaRPr lang="en-US"/>
          </a:p>
        </p:txBody>
      </p:sp>
      <p:sp>
        <p:nvSpPr>
          <p:cNvPr id="35" name="Text 33"/>
          <p:cNvSpPr/>
          <p:nvPr/>
        </p:nvSpPr>
        <p:spPr>
          <a:xfrm>
            <a:off x="1143000" y="6007796"/>
            <a:ext cx="4974317"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Training loss falls, validation rises</a:t>
            </a:r>
            <a:endParaRPr lang="en-US" sz="1875" dirty="0"/>
          </a:p>
        </p:txBody>
      </p:sp>
      <p:sp>
        <p:nvSpPr>
          <p:cNvPr id="36" name="Shape 34"/>
          <p:cNvSpPr/>
          <p:nvPr/>
        </p:nvSpPr>
        <p:spPr>
          <a:xfrm>
            <a:off x="6194375" y="6368058"/>
            <a:ext cx="4910138" cy="9525"/>
          </a:xfrm>
          <a:prstGeom prst="rect">
            <a:avLst/>
          </a:prstGeom>
          <a:solidFill>
            <a:srgbClr val="201E1E">
              <a:alpha val="40000"/>
            </a:srgbClr>
          </a:solidFill>
          <a:ln/>
        </p:spPr>
        <p:txBody>
          <a:bodyPr/>
          <a:lstStyle/>
          <a:p>
            <a:endParaRPr lang="en-US"/>
          </a:p>
        </p:txBody>
      </p:sp>
      <p:sp>
        <p:nvSpPr>
          <p:cNvPr id="37" name="Text 35"/>
          <p:cNvSpPr/>
          <p:nvPr/>
        </p:nvSpPr>
        <p:spPr>
          <a:xfrm>
            <a:off x="6422975" y="6007796"/>
            <a:ext cx="4600242"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Overfitting</a:t>
            </a:r>
            <a:endParaRPr lang="en-US" sz="1875" dirty="0"/>
          </a:p>
        </p:txBody>
      </p:sp>
      <p:sp>
        <p:nvSpPr>
          <p:cNvPr id="38" name="Shape 36"/>
          <p:cNvSpPr/>
          <p:nvPr/>
        </p:nvSpPr>
        <p:spPr>
          <a:xfrm>
            <a:off x="11104513" y="6368058"/>
            <a:ext cx="4897487" cy="9525"/>
          </a:xfrm>
          <a:prstGeom prst="rect">
            <a:avLst/>
          </a:prstGeom>
          <a:solidFill>
            <a:srgbClr val="201E1E">
              <a:alpha val="40000"/>
            </a:srgbClr>
          </a:solidFill>
          <a:ln/>
        </p:spPr>
        <p:txBody>
          <a:bodyPr/>
          <a:lstStyle/>
          <a:p>
            <a:endParaRPr lang="en-US"/>
          </a:p>
        </p:txBody>
      </p:sp>
      <p:sp>
        <p:nvSpPr>
          <p:cNvPr id="39" name="Text 37"/>
          <p:cNvSpPr/>
          <p:nvPr/>
        </p:nvSpPr>
        <p:spPr>
          <a:xfrm>
            <a:off x="11333113" y="6007796"/>
            <a:ext cx="4815812"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Stop earlier, regularise, add data</a:t>
            </a:r>
            <a:endParaRPr lang="en-US" sz="1875" dirty="0"/>
          </a:p>
        </p:txBody>
      </p:sp>
      <p:sp>
        <p:nvSpPr>
          <p:cNvPr id="40" name="Shape 38"/>
          <p:cNvSpPr/>
          <p:nvPr/>
        </p:nvSpPr>
        <p:spPr>
          <a:xfrm>
            <a:off x="1143000" y="7165628"/>
            <a:ext cx="16002000" cy="19050"/>
          </a:xfrm>
          <a:prstGeom prst="rect">
            <a:avLst/>
          </a:prstGeom>
          <a:solidFill>
            <a:srgbClr val="EC3013"/>
          </a:solidFill>
          <a:ln/>
        </p:spPr>
        <p:txBody>
          <a:bodyPr/>
          <a:lstStyle/>
          <a:p>
            <a:endParaRPr lang="en-US"/>
          </a:p>
        </p:txBody>
      </p:sp>
      <p:sp>
        <p:nvSpPr>
          <p:cNvPr id="41" name="Text 39"/>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PRO TIP</a:t>
            </a:r>
            <a:endParaRPr lang="en-US" sz="1800" dirty="0"/>
          </a:p>
        </p:txBody>
      </p:sp>
      <p:sp>
        <p:nvSpPr>
          <p:cNvPr id="42" name="Text 40"/>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Always plot training and validation loss on the same axes. The gap between them is the single most informative thing about a training run, and neither curve alone shows it.</a:t>
            </a:r>
            <a:endParaRPr lang="en-US" sz="2100" dirty="0"/>
          </a:p>
        </p:txBody>
      </p:sp>
      <p:pic>
        <p:nvPicPr>
          <p:cNvPr id="43"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09 · BUSINESS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Reducing forecast error</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house-price model predicts $130K for a house that sold for $100K. The model must shrink that error before its next prediction.</a:t>
            </a:r>
            <a:endParaRPr lang="en-US" sz="2100" dirty="0"/>
          </a:p>
        </p:txBody>
      </p:sp>
      <p:sp>
        <p:nvSpPr>
          <p:cNvPr id="5" name="Shape 3"/>
          <p:cNvSpPr/>
          <p:nvPr/>
        </p:nvSpPr>
        <p:spPr>
          <a:xfrm>
            <a:off x="1143000" y="38862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4080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40651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40651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Error = actual − predicted = 100 − 130 = </a:t>
            </a:r>
            <a:r>
              <a:rPr lang="en-US" sz="2100" b="1" dirty="0">
                <a:solidFill>
                  <a:srgbClr val="201E1D"/>
                </a:solidFill>
                <a:latin typeface="Arial" pitchFamily="34" charset="0"/>
                <a:ea typeface="Arial" pitchFamily="34" charset="-122"/>
                <a:cs typeface="Arial" pitchFamily="34" charset="-120"/>
              </a:rPr>
              <a:t>−30</a:t>
            </a:r>
            <a:endParaRPr lang="en-US" sz="2100" dirty="0"/>
          </a:p>
        </p:txBody>
      </p:sp>
      <p:sp>
        <p:nvSpPr>
          <p:cNvPr id="9" name="Shape 7"/>
          <p:cNvSpPr/>
          <p:nvPr/>
        </p:nvSpPr>
        <p:spPr>
          <a:xfrm>
            <a:off x="1143000" y="49204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5775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5775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Negative error means over-prediction, so the weights driving the estimate come </a:t>
            </a:r>
            <a:r>
              <a:rPr lang="en-US" sz="2100" b="1" dirty="0">
                <a:solidFill>
                  <a:srgbClr val="201E1D"/>
                </a:solidFill>
                <a:latin typeface="Arial" pitchFamily="34" charset="0"/>
                <a:ea typeface="Arial" pitchFamily="34" charset="-122"/>
                <a:cs typeface="Arial" pitchFamily="34" charset="-120"/>
              </a:rPr>
              <a:t>down</a:t>
            </a:r>
            <a:endParaRPr lang="en-US" sz="2100" dirty="0"/>
          </a:p>
        </p:txBody>
      </p:sp>
      <p:sp>
        <p:nvSpPr>
          <p:cNvPr id="12" name="Shape 10"/>
          <p:cNvSpPr/>
          <p:nvPr/>
        </p:nvSpPr>
        <p:spPr>
          <a:xfrm>
            <a:off x="1143000" y="54327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50898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50898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Each training round repeats this across thousands of houses at once</a:t>
            </a:r>
            <a:endParaRPr lang="en-US" sz="2100" dirty="0"/>
          </a:p>
        </p:txBody>
      </p:sp>
      <p:sp>
        <p:nvSpPr>
          <p:cNvPr id="15" name="Shape 13"/>
          <p:cNvSpPr/>
          <p:nvPr/>
        </p:nvSpPr>
        <p:spPr>
          <a:xfrm>
            <a:off x="1143000" y="5953125"/>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602188"/>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17" name="Text 15"/>
          <p:cNvSpPr/>
          <p:nvPr/>
        </p:nvSpPr>
        <p:spPr>
          <a:xfrm>
            <a:off x="1981200" y="5602188"/>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The error shrinks a little every round — that is all training is</a:t>
            </a:r>
            <a:endParaRPr lang="en-US" sz="2100" dirty="0"/>
          </a:p>
        </p:txBody>
      </p:sp>
      <p:sp>
        <p:nvSpPr>
          <p:cNvPr id="18" name="Shape 16"/>
          <p:cNvSpPr/>
          <p:nvPr/>
        </p:nvSpPr>
        <p:spPr>
          <a:xfrm>
            <a:off x="1143000" y="6465540"/>
            <a:ext cx="14859000" cy="19050"/>
          </a:xfrm>
          <a:prstGeom prst="rect">
            <a:avLst/>
          </a:prstGeom>
          <a:solidFill>
            <a:srgbClr val="EC3013"/>
          </a:solidFill>
          <a:ln/>
        </p:spPr>
        <p:txBody>
          <a:bodyPr/>
          <a:lstStyle/>
          <a:p>
            <a:endParaRPr lang="en-US"/>
          </a:p>
        </p:txBody>
      </p:sp>
      <p:sp>
        <p:nvSpPr>
          <p:cNvPr id="19" name="Text 17"/>
          <p:cNvSpPr/>
          <p:nvPr/>
        </p:nvSpPr>
        <p:spPr>
          <a:xfrm>
            <a:off x="1143000" y="6729413"/>
            <a:ext cx="15304770" cy="608558"/>
          </a:xfrm>
          <a:prstGeom prst="rect">
            <a:avLst/>
          </a:prstGeom>
          <a:noFill/>
          <a:ln/>
        </p:spPr>
        <p:txBody>
          <a:bodyPr wrap="square" lIns="25400" tIns="25400" rIns="25400" bIns="25400" rtlCol="0" anchor="t">
            <a:normAutofit fontScale="85000" lnSpcReduction="1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Try it yourself. </a:t>
            </a:r>
            <a:r>
              <a:rPr lang="en-US" sz="2175" dirty="0">
                <a:solidFill>
                  <a:srgbClr val="201E1D"/>
                </a:solidFill>
                <a:latin typeface="Arial" pitchFamily="34" charset="0"/>
                <a:ea typeface="Arial" pitchFamily="34" charset="-122"/>
                <a:cs typeface="Arial" pitchFamily="34" charset="-120"/>
              </a:rPr>
              <a:t>A sales-forecast model predicts 220 units; actual sales were 180. What is the error, and which way do the weights move?</a:t>
            </a:r>
            <a:endParaRPr lang="en-US" sz="2175" dirty="0"/>
          </a:p>
        </p:txBody>
      </p:sp>
      <p:sp>
        <p:nvSpPr>
          <p:cNvPr id="20" name="Text 18"/>
          <p:cNvSpPr/>
          <p:nvPr/>
        </p:nvSpPr>
        <p:spPr>
          <a:xfrm>
            <a:off x="1143000" y="7466856"/>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Error = 180 − 220 = −40 units. The model over-predicted, so the weights decrease.</a:t>
            </a:r>
            <a:endParaRPr lang="en-US" sz="1800" dirty="0"/>
          </a:p>
        </p:txBody>
      </p:sp>
      <p:pic>
        <p:nvPicPr>
          <p:cNvPr id="21"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99">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09 · AI APPLICATION MAPPING</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Where gradients show up in AI</a:t>
            </a:r>
            <a:endParaRPr lang="en-US" sz="4800" dirty="0"/>
          </a:p>
        </p:txBody>
      </p:sp>
      <p:sp>
        <p:nvSpPr>
          <p:cNvPr id="4" name="Shape 2"/>
          <p:cNvSpPr/>
          <p:nvPr/>
        </p:nvSpPr>
        <p:spPr>
          <a:xfrm>
            <a:off x="1143000" y="3190875"/>
            <a:ext cx="77724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Neural network training</a:t>
            </a:r>
            <a:endParaRPr lang="en-US" sz="2550" dirty="0"/>
          </a:p>
        </p:txBody>
      </p:sp>
      <p:sp>
        <p:nvSpPr>
          <p:cNvPr id="6" name="Text 4"/>
          <p:cNvSpPr/>
          <p:nvPr/>
        </p:nvSpPr>
        <p:spPr>
          <a:xfrm>
            <a:off x="1143000" y="3931741"/>
            <a:ext cx="8005572"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Every layer's weights update via gradients, propagated backwards from the loss through the whole network.</a:t>
            </a:r>
            <a:endParaRPr lang="en-US" sz="2100" dirty="0"/>
          </a:p>
        </p:txBody>
      </p:sp>
      <p:sp>
        <p:nvSpPr>
          <p:cNvPr id="7" name="Shape 5"/>
          <p:cNvSpPr/>
          <p:nvPr/>
        </p:nvSpPr>
        <p:spPr>
          <a:xfrm>
            <a:off x="9372600" y="3190875"/>
            <a:ext cx="7772400" cy="19050"/>
          </a:xfrm>
          <a:prstGeom prst="rect">
            <a:avLst/>
          </a:prstGeom>
          <a:solidFill>
            <a:srgbClr val="201E1E">
              <a:alpha val="40000"/>
            </a:srgbClr>
          </a:solidFill>
          <a:ln/>
        </p:spPr>
        <p:txBody>
          <a:bodyPr/>
          <a:lstStyle/>
          <a:p>
            <a:endParaRPr lang="en-US"/>
          </a:p>
        </p:txBody>
      </p:sp>
      <p:sp>
        <p:nvSpPr>
          <p:cNvPr id="8" name="Text 6"/>
          <p:cNvSpPr/>
          <p:nvPr/>
        </p:nvSpPr>
        <p:spPr>
          <a:xfrm>
            <a:off x="9372600" y="3425577"/>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LLM fine-tuning</a:t>
            </a:r>
            <a:endParaRPr lang="en-US" sz="2550" dirty="0"/>
          </a:p>
        </p:txBody>
      </p:sp>
      <p:sp>
        <p:nvSpPr>
          <p:cNvPr id="9" name="Text 7"/>
          <p:cNvSpPr/>
          <p:nvPr/>
        </p:nvSpPr>
        <p:spPr>
          <a:xfrm>
            <a:off x="9372600" y="3931741"/>
            <a:ext cx="8005572"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Adjusting a pretrained model to a new task. Same loop, smaller learning rate, far fewer steps.</a:t>
            </a:r>
            <a:endParaRPr lang="en-US" sz="2100" dirty="0"/>
          </a:p>
        </p:txBody>
      </p:sp>
      <p:sp>
        <p:nvSpPr>
          <p:cNvPr id="10" name="Shape 8"/>
          <p:cNvSpPr/>
          <p:nvPr/>
        </p:nvSpPr>
        <p:spPr>
          <a:xfrm>
            <a:off x="1143000" y="4571926"/>
            <a:ext cx="7772400" cy="19050"/>
          </a:xfrm>
          <a:prstGeom prst="rect">
            <a:avLst/>
          </a:prstGeom>
          <a:solidFill>
            <a:srgbClr val="201E1E">
              <a:alpha val="40000"/>
            </a:srgbClr>
          </a:solidFill>
          <a:ln/>
        </p:spPr>
        <p:txBody>
          <a:bodyPr/>
          <a:lstStyle/>
          <a:p>
            <a:endParaRPr lang="en-US"/>
          </a:p>
        </p:txBody>
      </p:sp>
      <p:sp>
        <p:nvSpPr>
          <p:cNvPr id="11" name="Text 9"/>
          <p:cNvSpPr/>
          <p:nvPr/>
        </p:nvSpPr>
        <p:spPr>
          <a:xfrm>
            <a:off x="1143000" y="4806628"/>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RLHF and preference tuning</a:t>
            </a:r>
            <a:endParaRPr lang="en-US" sz="2550" dirty="0"/>
          </a:p>
        </p:txBody>
      </p:sp>
      <p:sp>
        <p:nvSpPr>
          <p:cNvPr id="12" name="Text 10"/>
          <p:cNvSpPr/>
          <p:nvPr/>
        </p:nvSpPr>
        <p:spPr>
          <a:xfrm>
            <a:off x="1143000" y="5312792"/>
            <a:ext cx="8005572"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Identical mechanics, with a loss built from human preferences rather than from next-token accuracy.</a:t>
            </a:r>
            <a:endParaRPr lang="en-US" sz="2100" dirty="0"/>
          </a:p>
        </p:txBody>
      </p:sp>
      <p:sp>
        <p:nvSpPr>
          <p:cNvPr id="13" name="Shape 11"/>
          <p:cNvSpPr/>
          <p:nvPr/>
        </p:nvSpPr>
        <p:spPr>
          <a:xfrm>
            <a:off x="9372600" y="4571926"/>
            <a:ext cx="7772400" cy="19050"/>
          </a:xfrm>
          <a:prstGeom prst="rect">
            <a:avLst/>
          </a:prstGeom>
          <a:solidFill>
            <a:srgbClr val="201E1E">
              <a:alpha val="40000"/>
            </a:srgbClr>
          </a:solidFill>
          <a:ln/>
        </p:spPr>
        <p:txBody>
          <a:bodyPr/>
          <a:lstStyle/>
          <a:p>
            <a:endParaRPr lang="en-US"/>
          </a:p>
        </p:txBody>
      </p:sp>
      <p:sp>
        <p:nvSpPr>
          <p:cNvPr id="14" name="Text 12"/>
          <p:cNvSpPr/>
          <p:nvPr/>
        </p:nvSpPr>
        <p:spPr>
          <a:xfrm>
            <a:off x="9372600" y="4806628"/>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Recommendation updates</a:t>
            </a:r>
            <a:endParaRPr lang="en-US" sz="2550" dirty="0"/>
          </a:p>
        </p:txBody>
      </p:sp>
      <p:sp>
        <p:nvSpPr>
          <p:cNvPr id="15" name="Text 13"/>
          <p:cNvSpPr/>
          <p:nvPr/>
        </p:nvSpPr>
        <p:spPr>
          <a:xfrm>
            <a:off x="9372600" y="5312792"/>
            <a:ext cx="8005572"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Continuously improving predictions from click feedback, often online and one batch at a time.</a:t>
            </a:r>
            <a:endParaRPr lang="en-US" sz="2100" dirty="0"/>
          </a:p>
        </p:txBody>
      </p:sp>
      <p:sp>
        <p:nvSpPr>
          <p:cNvPr id="16" name="Shape 14"/>
          <p:cNvSpPr/>
          <p:nvPr/>
        </p:nvSpPr>
        <p:spPr>
          <a:xfrm>
            <a:off x="1143000" y="6455866"/>
            <a:ext cx="14859000" cy="19050"/>
          </a:xfrm>
          <a:prstGeom prst="rect">
            <a:avLst/>
          </a:prstGeom>
          <a:solidFill>
            <a:srgbClr val="EC3013"/>
          </a:solidFill>
          <a:ln/>
        </p:spPr>
        <p:txBody>
          <a:bodyPr/>
          <a:lstStyle/>
          <a:p>
            <a:endParaRPr lang="en-US"/>
          </a:p>
        </p:txBody>
      </p:sp>
      <p:sp>
        <p:nvSpPr>
          <p:cNvPr id="17" name="Text 15"/>
          <p:cNvSpPr/>
          <p:nvPr/>
        </p:nvSpPr>
        <p:spPr>
          <a:xfrm>
            <a:off x="1143000" y="6719739"/>
            <a:ext cx="15304770" cy="608558"/>
          </a:xfrm>
          <a:prstGeom prst="rect">
            <a:avLst/>
          </a:prstGeom>
          <a:noFill/>
          <a:ln/>
        </p:spPr>
        <p:txBody>
          <a:bodyPr wrap="square" lIns="25400" tIns="25400" rIns="25400" bIns="25400" rtlCol="0" anchor="t">
            <a:normAutofit fontScale="85000" lnSpcReduction="1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Try it yourself. </a:t>
            </a:r>
            <a:r>
              <a:rPr lang="en-US" sz="2175" dirty="0">
                <a:solidFill>
                  <a:srgbClr val="201E1D"/>
                </a:solidFill>
                <a:latin typeface="Arial" pitchFamily="34" charset="0"/>
                <a:ea typeface="Arial" pitchFamily="34" charset="-122"/>
                <a:cs typeface="Arial" pitchFamily="34" charset="-120"/>
              </a:rPr>
              <a:t>A model predicts y = w · x with w = 3 and x = 4. The actual value is 20. What is the prediction and error, and should w rise or fall?</a:t>
            </a:r>
            <a:endParaRPr lang="en-US" sz="2175" dirty="0"/>
          </a:p>
        </p:txBody>
      </p:sp>
      <p:sp>
        <p:nvSpPr>
          <p:cNvPr id="18" name="Text 16"/>
          <p:cNvSpPr/>
          <p:nvPr/>
        </p:nvSpPr>
        <p:spPr>
          <a:xfrm>
            <a:off x="1143000" y="7457182"/>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Prediction = 12, error = 20 − 12 = 8. Under-predicting, so w should increase.</a:t>
            </a:r>
            <a:endParaRPr lang="en-US" sz="1800" dirty="0"/>
          </a:p>
        </p:txBody>
      </p:sp>
      <p:pic>
        <p:nvPicPr>
          <p:cNvPr id="19" name="Image 0" descr="preencoded.png"/>
          <p:cNvPicPr>
            <a:picLocks noChangeAspect="1"/>
          </p:cNvPicPr>
          <p:nvPr/>
        </p:nvPicPr>
        <p:blipFill>
          <a:blip r:embed="rId3"/>
          <a:stretch>
            <a:fillRect/>
          </a:stretch>
        </p:blipFill>
        <p:spPr>
          <a:xfrm>
            <a:off x="1143000" y="8987210"/>
            <a:ext cx="5696471" cy="15679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10 · PROBABILITY &amp; TOKEN PREDICTION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Do I need this?</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Yes, if you…</a:t>
            </a:r>
            <a:endParaRPr lang="en-US" sz="2550" dirty="0"/>
          </a:p>
        </p:txBody>
      </p:sp>
      <p:sp>
        <p:nvSpPr>
          <p:cNvPr id="6" name="Text 4"/>
          <p:cNvSpPr/>
          <p:nvPr/>
        </p:nvSpPr>
        <p:spPr>
          <a:xfrm>
            <a:off x="1143000" y="3931741"/>
            <a:ext cx="5180076" cy="15926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Set temperature or top-p, read a logprob, build guardrails, or have to explain to anyone why the model said something odd.</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What breaks without it</a:t>
            </a:r>
            <a:endParaRPr lang="en-US" sz="2550" dirty="0"/>
          </a:p>
        </p:txBody>
      </p:sp>
      <p:sp>
        <p:nvSpPr>
          <p:cNvPr id="9" name="Text 7"/>
          <p:cNvSpPr/>
          <p:nvPr/>
        </p:nvSpPr>
        <p:spPr>
          <a:xfrm>
            <a:off x="6629400" y="39317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Sampling settings get cargo-culted, "make it less creative" has no mechanism behind it, and confidence scores go uninterpreted.</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Time to competence</a:t>
            </a:r>
            <a:endParaRPr lang="en-US" sz="2550" dirty="0"/>
          </a:p>
        </p:txBody>
      </p:sp>
      <p:sp>
        <p:nvSpPr>
          <p:cNvPr id="12" name="Text 10"/>
          <p:cNvSpPr/>
          <p:nvPr/>
        </p:nvSpPr>
        <p:spPr>
          <a:xfrm>
            <a:off x="12115800" y="3931741"/>
            <a:ext cx="5180076" cy="11354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Two hours. One formula, one dial, and a very large payoff in how you talk about models.</a:t>
            </a:r>
            <a:endParaRPr lang="en-US" sz="2100" dirty="0"/>
          </a:p>
        </p:txBody>
      </p:sp>
      <p:sp>
        <p:nvSpPr>
          <p:cNvPr id="13" name="Shape 11"/>
          <p:cNvSpPr/>
          <p:nvPr/>
        </p:nvSpPr>
        <p:spPr>
          <a:xfrm>
            <a:off x="1143000" y="7165628"/>
            <a:ext cx="16002000" cy="19050"/>
          </a:xfrm>
          <a:prstGeom prst="rect">
            <a:avLst/>
          </a:prstGeom>
          <a:solidFill>
            <a:srgbClr val="EC3013"/>
          </a:solidFill>
          <a:ln/>
        </p:spPr>
        <p:txBody>
          <a:bodyPr/>
          <a:lstStyle/>
          <a:p>
            <a:endParaRPr lang="en-US"/>
          </a:p>
        </p:txBody>
      </p:sp>
      <p:sp>
        <p:nvSpPr>
          <p:cNvPr id="14" name="Text 12"/>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15" name="Text 13"/>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An LLM does exactly one thing: produce a probability for every token in its vocabulary, then let a sampler pick one. Repeat. That is the whole system.</a:t>
            </a:r>
            <a:endParaRPr lang="en-US" sz="2100" dirty="0"/>
          </a:p>
        </p:txBody>
      </p:sp>
      <p:pic>
        <p:nvPicPr>
          <p:cNvPr id="16"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10 · PRACTICAL INTUITION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"The capital of France is ___"</a:t>
            </a:r>
            <a:endParaRPr lang="en-US" sz="48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2590800"/>
            <a:ext cx="16002000" cy="3897883"/>
          </a:xfrm>
          <a:prstGeom prst="rect">
            <a:avLst/>
          </a:prstGeom>
        </p:spPr>
      </p:pic>
      <p:sp>
        <p:nvSpPr>
          <p:cNvPr id="5" name="Shape 2"/>
          <p:cNvSpPr/>
          <p:nvPr/>
        </p:nvSpPr>
        <p:spPr>
          <a:xfrm>
            <a:off x="1143000" y="6717283"/>
            <a:ext cx="16002000" cy="19050"/>
          </a:xfrm>
          <a:prstGeom prst="rect">
            <a:avLst/>
          </a:prstGeom>
          <a:solidFill>
            <a:srgbClr val="EC3013"/>
          </a:solidFill>
          <a:ln/>
        </p:spPr>
        <p:txBody>
          <a:bodyPr/>
          <a:lstStyle/>
          <a:p>
            <a:endParaRPr lang="en-US"/>
          </a:p>
        </p:txBody>
      </p:sp>
      <p:sp>
        <p:nvSpPr>
          <p:cNvPr id="6" name="Text 3"/>
          <p:cNvSpPr/>
          <p:nvPr/>
        </p:nvSpPr>
        <p:spPr>
          <a:xfrm>
            <a:off x="1143000" y="7095455"/>
            <a:ext cx="2552700" cy="14097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WHY "PARIS" WINS</a:t>
            </a:r>
            <a:endParaRPr lang="en-US" sz="1800" dirty="0"/>
          </a:p>
        </p:txBody>
      </p:sp>
      <p:sp>
        <p:nvSpPr>
          <p:cNvPr id="7" name="Text 4"/>
          <p:cNvSpPr/>
          <p:nvPr/>
        </p:nvSpPr>
        <p:spPr>
          <a:xfrm>
            <a:off x="4076700" y="7095455"/>
            <a:ext cx="13460349" cy="1409700"/>
          </a:xfrm>
          <a:prstGeom prst="rect">
            <a:avLst/>
          </a:prstGeom>
          <a:noFill/>
          <a:ln/>
        </p:spPr>
        <p:txBody>
          <a:bodyPr wrap="square" lIns="25400" tIns="25400" rIns="25400" bIns="25400" rtlCol="0" anchor="t">
            <a:normAutofit lnSpcReduction="1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 model has seen this sentence millions of times in training, so it assigns Paris 0.91. Nothing is looked up — the fact is a shape in the distribution. At low temperature the top token is picked consistently; at high temperature London occasionally wins.</a:t>
            </a:r>
            <a:endParaRPr lang="en-US" sz="2100" dirty="0"/>
          </a:p>
        </p:txBody>
      </p:sp>
      <p:pic>
        <p:nvPicPr>
          <p:cNvPr id="8" name="Image 1" descr="preencoded.png"/>
          <p:cNvPicPr>
            <a:picLocks noChangeAspect="1"/>
          </p:cNvPicPr>
          <p:nvPr/>
        </p:nvPicPr>
        <p:blipFill>
          <a:blip r:embed="rId4"/>
          <a:stretch>
            <a:fillRect/>
          </a:stretch>
        </p:blipFill>
        <p:spPr>
          <a:xfrm>
            <a:off x="1143000" y="8987210"/>
            <a:ext cx="5826398" cy="156790"/>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10 · WHY THE FORMULA WORKS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Softmax: raw scores into probabilities</a:t>
            </a:r>
            <a:endParaRPr lang="en-US" sz="4800" dirty="0"/>
          </a:p>
        </p:txBody>
      </p:sp>
      <p:sp>
        <p:nvSpPr>
          <p:cNvPr id="4" name="Shape 2"/>
          <p:cNvSpPr/>
          <p:nvPr/>
        </p:nvSpPr>
        <p:spPr>
          <a:xfrm>
            <a:off x="1143000" y="5069012"/>
            <a:ext cx="16002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3200400"/>
            <a:ext cx="16002000" cy="19050"/>
          </a:xfrm>
          <a:prstGeom prst="rect">
            <a:avLst/>
          </a:prstGeom>
          <a:solidFill>
            <a:srgbClr val="201E1E">
              <a:alpha val="40000"/>
            </a:srgbClr>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43000" y="3562350"/>
            <a:ext cx="16002000" cy="1163762"/>
          </a:xfrm>
          <a:prstGeom prst="rect">
            <a:avLst/>
          </a:prstGeom>
        </p:spPr>
      </p:pic>
      <p:sp>
        <p:nvSpPr>
          <p:cNvPr id="7" name="Text 4"/>
          <p:cNvSpPr/>
          <p:nvPr/>
        </p:nvSpPr>
        <p:spPr>
          <a:xfrm>
            <a:off x="1143000" y="5222900"/>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zᵢ — the logit</a:t>
            </a:r>
            <a:endParaRPr lang="en-US" sz="1950" dirty="0"/>
          </a:p>
        </p:txBody>
      </p:sp>
      <p:sp>
        <p:nvSpPr>
          <p:cNvPr id="8" name="Text 5"/>
          <p:cNvSpPr/>
          <p:nvPr/>
        </p:nvSpPr>
        <p:spPr>
          <a:xfrm>
            <a:off x="4343400" y="5222900"/>
            <a:ext cx="12008358" cy="531837"/>
          </a:xfrm>
          <a:prstGeom prst="rect">
            <a:avLst/>
          </a:prstGeom>
          <a:noFill/>
          <a:ln/>
        </p:spPr>
        <p:txBody>
          <a:bodyPr wrap="square" lIns="25400" tIns="25400" rIns="25400" bIns="25400" rtlCol="0" anchor="t">
            <a:normAutofit fontScale="925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model's raw, unnormalised score for token i. It can be any number, positive or negative, and it is not a probability.</a:t>
            </a:r>
            <a:endParaRPr lang="en-US" sz="1950" dirty="0"/>
          </a:p>
        </p:txBody>
      </p:sp>
      <p:sp>
        <p:nvSpPr>
          <p:cNvPr id="9" name="Text 6"/>
          <p:cNvSpPr/>
          <p:nvPr/>
        </p:nvSpPr>
        <p:spPr>
          <a:xfrm>
            <a:off x="1143000" y="6099125"/>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e^zᵢ</a:t>
            </a:r>
            <a:endParaRPr lang="en-US" sz="1950" dirty="0"/>
          </a:p>
        </p:txBody>
      </p:sp>
      <p:sp>
        <p:nvSpPr>
          <p:cNvPr id="10" name="Text 7"/>
          <p:cNvSpPr/>
          <p:nvPr/>
        </p:nvSpPr>
        <p:spPr>
          <a:xfrm>
            <a:off x="4343400" y="6099125"/>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Exponentiating does two jobs at once: it makes every score positive, and it amplifies the gaps so a slightly higher score becomes a much higher weight.</a:t>
            </a:r>
            <a:endParaRPr lang="en-US" sz="1950" dirty="0"/>
          </a:p>
        </p:txBody>
      </p:sp>
      <p:sp>
        <p:nvSpPr>
          <p:cNvPr id="11" name="Text 8"/>
          <p:cNvSpPr/>
          <p:nvPr/>
        </p:nvSpPr>
        <p:spPr>
          <a:xfrm>
            <a:off x="1143000" y="6975351"/>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Σⱼ e^zⱼ</a:t>
            </a:r>
            <a:endParaRPr lang="en-US" sz="1950" dirty="0"/>
          </a:p>
        </p:txBody>
      </p:sp>
      <p:sp>
        <p:nvSpPr>
          <p:cNvPr id="12" name="Text 9"/>
          <p:cNvSpPr/>
          <p:nvPr/>
        </p:nvSpPr>
        <p:spPr>
          <a:xfrm>
            <a:off x="4343400" y="6975351"/>
            <a:ext cx="12008358" cy="531837"/>
          </a:xfrm>
          <a:prstGeom prst="rect">
            <a:avLst/>
          </a:prstGeom>
          <a:noFill/>
          <a:ln/>
        </p:spPr>
        <p:txBody>
          <a:bodyPr wrap="square" lIns="25400" tIns="25400" rIns="25400" bIns="25400" rtlCol="0" anchor="t">
            <a:normAutofit fontScale="85000"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sum over every token in the vocabulary — often 100,000 of them. Dividing by it forces the outputs to add to exactly 1.</a:t>
            </a:r>
            <a:endParaRPr lang="en-US" sz="1950" dirty="0"/>
          </a:p>
        </p:txBody>
      </p:sp>
      <p:sp>
        <p:nvSpPr>
          <p:cNvPr id="13" name="Text 10"/>
          <p:cNvSpPr/>
          <p:nvPr/>
        </p:nvSpPr>
        <p:spPr>
          <a:xfrm>
            <a:off x="1143000" y="7851577"/>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The result</a:t>
            </a:r>
            <a:endParaRPr lang="en-US" sz="1950" dirty="0"/>
          </a:p>
        </p:txBody>
      </p:sp>
      <p:sp>
        <p:nvSpPr>
          <p:cNvPr id="14" name="Text 11"/>
          <p:cNvSpPr/>
          <p:nvPr/>
        </p:nvSpPr>
        <p:spPr>
          <a:xfrm>
            <a:off x="4343400" y="7851577"/>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A valid probability distribution over the whole vocabulary, produced from arbitrary scores. Every token gets a share; nothing is ever exactly zero.</a:t>
            </a:r>
            <a:endParaRPr lang="en-US" sz="1950" dirty="0"/>
          </a:p>
        </p:txBody>
      </p:sp>
      <p:pic>
        <p:nvPicPr>
          <p:cNvPr id="15" name="Image 1" descr="preencoded.png"/>
          <p:cNvPicPr>
            <a:picLocks noChangeAspect="1"/>
          </p:cNvPicPr>
          <p:nvPr/>
        </p:nvPicPr>
        <p:blipFill>
          <a:blip r:embed="rId4"/>
          <a:stretch>
            <a:fillRect/>
          </a:stretch>
        </p:blipFill>
        <p:spPr>
          <a:xfrm>
            <a:off x="1143000" y="8987210"/>
            <a:ext cx="5826398" cy="15679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10 · WORKED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Softmax on four tokens</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Raw logits: Paris 3.2, London 1.1, Berlin 0.6, Apple −1.0.</a:t>
            </a:r>
            <a:endParaRPr lang="en-US" sz="2100" dirty="0"/>
          </a:p>
        </p:txBody>
      </p:sp>
      <p:sp>
        <p:nvSpPr>
          <p:cNvPr id="5" name="Shape 3"/>
          <p:cNvSpPr/>
          <p:nvPr/>
        </p:nvSpPr>
        <p:spPr>
          <a:xfrm>
            <a:off x="1143000" y="34290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39508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36079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36079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e^3.2 = </a:t>
            </a:r>
            <a:r>
              <a:rPr lang="en-US" sz="2100" b="1" dirty="0">
                <a:solidFill>
                  <a:srgbClr val="201E1D"/>
                </a:solidFill>
                <a:latin typeface="Arial" pitchFamily="34" charset="0"/>
                <a:ea typeface="Arial" pitchFamily="34" charset="-122"/>
                <a:cs typeface="Arial" pitchFamily="34" charset="-120"/>
              </a:rPr>
              <a:t>24.53 </a:t>
            </a:r>
            <a:r>
              <a:rPr lang="en-US" sz="2100" dirty="0">
                <a:solidFill>
                  <a:srgbClr val="201E1D"/>
                </a:solidFill>
                <a:latin typeface="Arial" pitchFamily="34" charset="0"/>
                <a:ea typeface="Arial" pitchFamily="34" charset="-122"/>
                <a:cs typeface="Arial" pitchFamily="34" charset="-120"/>
              </a:rPr>
              <a:t>· e^1.1 = </a:t>
            </a:r>
            <a:r>
              <a:rPr lang="en-US" sz="2100" b="1" dirty="0">
                <a:solidFill>
                  <a:srgbClr val="201E1D"/>
                </a:solidFill>
                <a:latin typeface="Arial" pitchFamily="34" charset="0"/>
                <a:ea typeface="Arial" pitchFamily="34" charset="-122"/>
                <a:cs typeface="Arial" pitchFamily="34" charset="-120"/>
              </a:rPr>
              <a:t>3.00 </a:t>
            </a:r>
            <a:r>
              <a:rPr lang="en-US" sz="2100" dirty="0">
                <a:solidFill>
                  <a:srgbClr val="201E1D"/>
                </a:solidFill>
                <a:latin typeface="Arial" pitchFamily="34" charset="0"/>
                <a:ea typeface="Arial" pitchFamily="34" charset="-122"/>
                <a:cs typeface="Arial" pitchFamily="34" charset="-120"/>
              </a:rPr>
              <a:t>· e^0.6 = </a:t>
            </a:r>
            <a:r>
              <a:rPr lang="en-US" sz="2100" b="1" dirty="0">
                <a:solidFill>
                  <a:srgbClr val="201E1D"/>
                </a:solidFill>
                <a:latin typeface="Arial" pitchFamily="34" charset="0"/>
                <a:ea typeface="Arial" pitchFamily="34" charset="-122"/>
                <a:cs typeface="Arial" pitchFamily="34" charset="-120"/>
              </a:rPr>
              <a:t>1.82 </a:t>
            </a:r>
            <a:r>
              <a:rPr lang="en-US" sz="2100" dirty="0">
                <a:solidFill>
                  <a:srgbClr val="201E1D"/>
                </a:solidFill>
                <a:latin typeface="Arial" pitchFamily="34" charset="0"/>
                <a:ea typeface="Arial" pitchFamily="34" charset="-122"/>
                <a:cs typeface="Arial" pitchFamily="34" charset="-120"/>
              </a:rPr>
              <a:t>· e^−1.0 = </a:t>
            </a:r>
            <a:r>
              <a:rPr lang="en-US" sz="2100" b="1" dirty="0">
                <a:solidFill>
                  <a:srgbClr val="201E1D"/>
                </a:solidFill>
                <a:latin typeface="Arial" pitchFamily="34" charset="0"/>
                <a:ea typeface="Arial" pitchFamily="34" charset="-122"/>
                <a:cs typeface="Arial" pitchFamily="34" charset="-120"/>
              </a:rPr>
              <a:t>0.37</a:t>
            </a:r>
            <a:endParaRPr lang="en-US" sz="2100" dirty="0"/>
          </a:p>
        </p:txBody>
      </p:sp>
      <p:sp>
        <p:nvSpPr>
          <p:cNvPr id="9" name="Shape 7"/>
          <p:cNvSpPr/>
          <p:nvPr/>
        </p:nvSpPr>
        <p:spPr>
          <a:xfrm>
            <a:off x="1143000" y="44632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1203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1203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Sum: 24.53 + 3.00 + 1.82 + 0.37 = </a:t>
            </a:r>
            <a:r>
              <a:rPr lang="en-US" sz="2100" b="1" dirty="0">
                <a:solidFill>
                  <a:srgbClr val="201E1D"/>
                </a:solidFill>
                <a:latin typeface="Arial" pitchFamily="34" charset="0"/>
                <a:ea typeface="Arial" pitchFamily="34" charset="-122"/>
                <a:cs typeface="Arial" pitchFamily="34" charset="-120"/>
              </a:rPr>
              <a:t>29.72</a:t>
            </a:r>
            <a:endParaRPr lang="en-US" sz="2100" dirty="0"/>
          </a:p>
        </p:txBody>
      </p:sp>
      <p:sp>
        <p:nvSpPr>
          <p:cNvPr id="12" name="Shape 10"/>
          <p:cNvSpPr/>
          <p:nvPr/>
        </p:nvSpPr>
        <p:spPr>
          <a:xfrm>
            <a:off x="1143000" y="49755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46326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46326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Paris: 24.53 / 29.72 = </a:t>
            </a:r>
            <a:r>
              <a:rPr lang="en-US" sz="2100" b="1" dirty="0">
                <a:solidFill>
                  <a:srgbClr val="201E1D"/>
                </a:solidFill>
                <a:latin typeface="Arial" pitchFamily="34" charset="0"/>
                <a:ea typeface="Arial" pitchFamily="34" charset="-122"/>
                <a:cs typeface="Arial" pitchFamily="34" charset="-120"/>
              </a:rPr>
              <a:t>0.825 </a:t>
            </a:r>
            <a:r>
              <a:rPr lang="en-US" sz="2100" dirty="0">
                <a:solidFill>
                  <a:srgbClr val="201E1D"/>
                </a:solidFill>
                <a:latin typeface="Arial" pitchFamily="34" charset="0"/>
                <a:ea typeface="Arial" pitchFamily="34" charset="-122"/>
                <a:cs typeface="Arial" pitchFamily="34" charset="-120"/>
              </a:rPr>
              <a:t>· London: 3.00 / 29.72 = </a:t>
            </a:r>
            <a:r>
              <a:rPr lang="en-US" sz="2100" b="1" dirty="0">
                <a:solidFill>
                  <a:srgbClr val="201E1D"/>
                </a:solidFill>
                <a:latin typeface="Arial" pitchFamily="34" charset="0"/>
                <a:ea typeface="Arial" pitchFamily="34" charset="-122"/>
                <a:cs typeface="Arial" pitchFamily="34" charset="-120"/>
              </a:rPr>
              <a:t>0.101</a:t>
            </a:r>
            <a:endParaRPr lang="en-US" sz="2100" dirty="0"/>
          </a:p>
        </p:txBody>
      </p:sp>
      <p:sp>
        <p:nvSpPr>
          <p:cNvPr id="15" name="Shape 13"/>
          <p:cNvSpPr/>
          <p:nvPr/>
        </p:nvSpPr>
        <p:spPr>
          <a:xfrm>
            <a:off x="1143000" y="5487888"/>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144988"/>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4</a:t>
            </a:r>
            <a:endParaRPr lang="en-US" sz="2100" dirty="0"/>
          </a:p>
        </p:txBody>
      </p:sp>
      <p:sp>
        <p:nvSpPr>
          <p:cNvPr id="17" name="Text 15"/>
          <p:cNvSpPr/>
          <p:nvPr/>
        </p:nvSpPr>
        <p:spPr>
          <a:xfrm>
            <a:off x="1981200" y="5144988"/>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Berlin: 1.82 / 29.72 = </a:t>
            </a:r>
            <a:r>
              <a:rPr lang="en-US" sz="2100" b="1" dirty="0">
                <a:solidFill>
                  <a:srgbClr val="201E1D"/>
                </a:solidFill>
                <a:latin typeface="Arial" pitchFamily="34" charset="0"/>
                <a:ea typeface="Arial" pitchFamily="34" charset="-122"/>
                <a:cs typeface="Arial" pitchFamily="34" charset="-120"/>
              </a:rPr>
              <a:t>0.061 </a:t>
            </a:r>
            <a:r>
              <a:rPr lang="en-US" sz="2100" dirty="0">
                <a:solidFill>
                  <a:srgbClr val="201E1D"/>
                </a:solidFill>
                <a:latin typeface="Arial" pitchFamily="34" charset="0"/>
                <a:ea typeface="Arial" pitchFamily="34" charset="-122"/>
                <a:cs typeface="Arial" pitchFamily="34" charset="-120"/>
              </a:rPr>
              <a:t>· Apple: 0.37 / 29.72 = </a:t>
            </a:r>
            <a:r>
              <a:rPr lang="en-US" sz="2100" b="1" dirty="0">
                <a:solidFill>
                  <a:srgbClr val="201E1D"/>
                </a:solidFill>
                <a:latin typeface="Arial" pitchFamily="34" charset="0"/>
                <a:ea typeface="Arial" pitchFamily="34" charset="-122"/>
                <a:cs typeface="Arial" pitchFamily="34" charset="-120"/>
              </a:rPr>
              <a:t>0.013</a:t>
            </a:r>
            <a:endParaRPr lang="en-US" sz="2100" dirty="0"/>
          </a:p>
        </p:txBody>
      </p:sp>
      <p:sp>
        <p:nvSpPr>
          <p:cNvPr id="18" name="Shape 16"/>
          <p:cNvSpPr/>
          <p:nvPr/>
        </p:nvSpPr>
        <p:spPr>
          <a:xfrm>
            <a:off x="1143000" y="6008266"/>
            <a:ext cx="13335000" cy="9525"/>
          </a:xfrm>
          <a:prstGeom prst="rect">
            <a:avLst/>
          </a:prstGeom>
          <a:solidFill>
            <a:srgbClr val="201E1E">
              <a:alpha val="40000"/>
            </a:srgbClr>
          </a:solidFill>
          <a:ln/>
        </p:spPr>
        <p:txBody>
          <a:bodyPr/>
          <a:lstStyle/>
          <a:p>
            <a:endParaRPr lang="en-US"/>
          </a:p>
        </p:txBody>
      </p:sp>
      <p:sp>
        <p:nvSpPr>
          <p:cNvPr id="19" name="Text 17"/>
          <p:cNvSpPr/>
          <p:nvPr/>
        </p:nvSpPr>
        <p:spPr>
          <a:xfrm>
            <a:off x="1143000" y="5657329"/>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20" name="Text 18"/>
          <p:cNvSpPr/>
          <p:nvPr/>
        </p:nvSpPr>
        <p:spPr>
          <a:xfrm>
            <a:off x="1981200" y="5657329"/>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0.825 + 0.101 + 0.061 + 0.013 = 1.000 ✓</a:t>
            </a:r>
            <a:endParaRPr lang="en-US" sz="2100" dirty="0"/>
          </a:p>
        </p:txBody>
      </p:sp>
      <p:sp>
        <p:nvSpPr>
          <p:cNvPr id="21" name="Shape 19"/>
          <p:cNvSpPr/>
          <p:nvPr/>
        </p:nvSpPr>
        <p:spPr>
          <a:xfrm>
            <a:off x="1143000" y="7165628"/>
            <a:ext cx="16002000" cy="19050"/>
          </a:xfrm>
          <a:prstGeom prst="rect">
            <a:avLst/>
          </a:prstGeom>
          <a:solidFill>
            <a:srgbClr val="EC3013"/>
          </a:solidFill>
          <a:ln/>
        </p:spPr>
        <p:txBody>
          <a:bodyPr/>
          <a:lstStyle/>
          <a:p>
            <a:endParaRPr lang="en-US"/>
          </a:p>
        </p:txBody>
      </p:sp>
      <p:sp>
        <p:nvSpPr>
          <p:cNvPr id="22" name="Text 20"/>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NOTICE</a:t>
            </a:r>
            <a:endParaRPr lang="en-US" sz="1800" dirty="0"/>
          </a:p>
        </p:txBody>
      </p:sp>
      <p:sp>
        <p:nvSpPr>
          <p:cNvPr id="23" name="Text 21"/>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logit gap of 2.1 between Paris and London becomes a probability ratio of 8 to 1. Exponentiation turns modest score differences into decisive ones — which is exactly what you want from a chooser.</a:t>
            </a:r>
            <a:endParaRPr lang="en-US" sz="2100" dirty="0"/>
          </a:p>
        </p:txBody>
      </p:sp>
      <p:pic>
        <p:nvPicPr>
          <p:cNvPr id="24"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10 · THE DIAL</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Temperature: one number, divided in</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Temperature divides every logit before softmax sees it: softmax(zᵢ / τ). Below 1 it sharpens the distribution, above 1 it flattens it.</a:t>
            </a:r>
            <a:endParaRPr lang="en-US" sz="2100" dirty="0"/>
          </a:p>
        </p:txBody>
      </p:sp>
      <p:sp>
        <p:nvSpPr>
          <p:cNvPr id="5" name="Shape 3"/>
          <p:cNvSpPr/>
          <p:nvPr/>
        </p:nvSpPr>
        <p:spPr>
          <a:xfrm>
            <a:off x="1143000" y="4548411"/>
            <a:ext cx="698822" cy="19050"/>
          </a:xfrm>
          <a:prstGeom prst="rect">
            <a:avLst/>
          </a:prstGeom>
          <a:solidFill>
            <a:srgbClr val="201E1E">
              <a:alpha val="40000"/>
            </a:srgbClr>
          </a:solidFill>
          <a:ln/>
        </p:spPr>
        <p:txBody>
          <a:bodyPr/>
          <a:lstStyle/>
          <a:p>
            <a:endParaRPr lang="en-US"/>
          </a:p>
        </p:txBody>
      </p:sp>
      <p:sp>
        <p:nvSpPr>
          <p:cNvPr id="6" name="Text 4"/>
          <p:cNvSpPr/>
          <p:nvPr/>
        </p:nvSpPr>
        <p:spPr>
          <a:xfrm>
            <a:off x="1143000" y="4202090"/>
            <a:ext cx="546422"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Τ</a:t>
            </a:r>
            <a:endParaRPr lang="en-US" sz="1800" dirty="0"/>
          </a:p>
        </p:txBody>
      </p:sp>
      <p:sp>
        <p:nvSpPr>
          <p:cNvPr id="7" name="Shape 5"/>
          <p:cNvSpPr/>
          <p:nvPr/>
        </p:nvSpPr>
        <p:spPr>
          <a:xfrm>
            <a:off x="1841822" y="4548411"/>
            <a:ext cx="5169098" cy="19050"/>
          </a:xfrm>
          <a:prstGeom prst="rect">
            <a:avLst/>
          </a:prstGeom>
          <a:solidFill>
            <a:srgbClr val="201E1E">
              <a:alpha val="40000"/>
            </a:srgbClr>
          </a:solidFill>
          <a:ln/>
        </p:spPr>
        <p:txBody>
          <a:bodyPr/>
          <a:lstStyle/>
          <a:p>
            <a:endParaRPr lang="en-US"/>
          </a:p>
        </p:txBody>
      </p:sp>
      <p:sp>
        <p:nvSpPr>
          <p:cNvPr id="8" name="Text 6"/>
          <p:cNvSpPr/>
          <p:nvPr/>
        </p:nvSpPr>
        <p:spPr>
          <a:xfrm>
            <a:off x="2070422" y="4202090"/>
            <a:ext cx="4866971"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EFFECT ON THE LOGITS</a:t>
            </a:r>
            <a:endParaRPr lang="en-US" sz="1800" dirty="0"/>
          </a:p>
        </p:txBody>
      </p:sp>
      <p:sp>
        <p:nvSpPr>
          <p:cNvPr id="9" name="Shape 7"/>
          <p:cNvSpPr/>
          <p:nvPr/>
        </p:nvSpPr>
        <p:spPr>
          <a:xfrm>
            <a:off x="7010921" y="4548411"/>
            <a:ext cx="4583981" cy="19050"/>
          </a:xfrm>
          <a:prstGeom prst="rect">
            <a:avLst/>
          </a:prstGeom>
          <a:solidFill>
            <a:srgbClr val="201E1E">
              <a:alpha val="40000"/>
            </a:srgbClr>
          </a:solidFill>
          <a:ln/>
        </p:spPr>
        <p:txBody>
          <a:bodyPr/>
          <a:lstStyle/>
          <a:p>
            <a:endParaRPr lang="en-US"/>
          </a:p>
        </p:txBody>
      </p:sp>
      <p:sp>
        <p:nvSpPr>
          <p:cNvPr id="10" name="Text 8"/>
          <p:cNvSpPr/>
          <p:nvPr/>
        </p:nvSpPr>
        <p:spPr>
          <a:xfrm>
            <a:off x="7239521" y="4202090"/>
            <a:ext cx="4264300"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TOP TOKEN PROBABILITY</a:t>
            </a:r>
            <a:endParaRPr lang="en-US" sz="1800" dirty="0"/>
          </a:p>
        </p:txBody>
      </p:sp>
      <p:sp>
        <p:nvSpPr>
          <p:cNvPr id="11" name="Shape 9"/>
          <p:cNvSpPr/>
          <p:nvPr/>
        </p:nvSpPr>
        <p:spPr>
          <a:xfrm>
            <a:off x="11594902" y="4548411"/>
            <a:ext cx="4407098" cy="19050"/>
          </a:xfrm>
          <a:prstGeom prst="rect">
            <a:avLst/>
          </a:prstGeom>
          <a:solidFill>
            <a:srgbClr val="201E1E">
              <a:alpha val="40000"/>
            </a:srgbClr>
          </a:solidFill>
          <a:ln/>
        </p:spPr>
        <p:txBody>
          <a:bodyPr/>
          <a:lstStyle/>
          <a:p>
            <a:endParaRPr lang="en-US"/>
          </a:p>
        </p:txBody>
      </p:sp>
      <p:sp>
        <p:nvSpPr>
          <p:cNvPr id="12" name="Text 10"/>
          <p:cNvSpPr/>
          <p:nvPr/>
        </p:nvSpPr>
        <p:spPr>
          <a:xfrm>
            <a:off x="11823502" y="4202090"/>
            <a:ext cx="4310711"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USE FOR</a:t>
            </a:r>
            <a:endParaRPr lang="en-US" sz="1800" dirty="0"/>
          </a:p>
        </p:txBody>
      </p:sp>
      <p:sp>
        <p:nvSpPr>
          <p:cNvPr id="13" name="Shape 11"/>
          <p:cNvSpPr/>
          <p:nvPr/>
        </p:nvSpPr>
        <p:spPr>
          <a:xfrm>
            <a:off x="1143000" y="5129510"/>
            <a:ext cx="698822" cy="9525"/>
          </a:xfrm>
          <a:prstGeom prst="rect">
            <a:avLst/>
          </a:prstGeom>
          <a:solidFill>
            <a:srgbClr val="201E1E">
              <a:alpha val="40000"/>
            </a:srgbClr>
          </a:solidFill>
          <a:ln/>
        </p:spPr>
        <p:txBody>
          <a:bodyPr/>
          <a:lstStyle/>
          <a:p>
            <a:endParaRPr lang="en-US"/>
          </a:p>
        </p:txBody>
      </p:sp>
      <p:sp>
        <p:nvSpPr>
          <p:cNvPr id="14" name="Text 12"/>
          <p:cNvSpPr/>
          <p:nvPr/>
        </p:nvSpPr>
        <p:spPr>
          <a:xfrm>
            <a:off x="1143000" y="4764485"/>
            <a:ext cx="546422"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0.2</a:t>
            </a:r>
            <a:endParaRPr lang="en-US" sz="1875" dirty="0"/>
          </a:p>
        </p:txBody>
      </p:sp>
      <p:sp>
        <p:nvSpPr>
          <p:cNvPr id="15" name="Shape 13"/>
          <p:cNvSpPr/>
          <p:nvPr/>
        </p:nvSpPr>
        <p:spPr>
          <a:xfrm>
            <a:off x="1841822" y="5129510"/>
            <a:ext cx="5169098" cy="9525"/>
          </a:xfrm>
          <a:prstGeom prst="rect">
            <a:avLst/>
          </a:prstGeom>
          <a:solidFill>
            <a:srgbClr val="201E1E">
              <a:alpha val="40000"/>
            </a:srgbClr>
          </a:solidFill>
          <a:ln/>
        </p:spPr>
        <p:txBody>
          <a:bodyPr/>
          <a:lstStyle/>
          <a:p>
            <a:endParaRPr lang="en-US"/>
          </a:p>
        </p:txBody>
      </p:sp>
      <p:sp>
        <p:nvSpPr>
          <p:cNvPr id="16" name="Text 14"/>
          <p:cNvSpPr/>
          <p:nvPr/>
        </p:nvSpPr>
        <p:spPr>
          <a:xfrm>
            <a:off x="2070422" y="4764485"/>
            <a:ext cx="4866971"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Divided by 0.2 — gaps grow fivefold</a:t>
            </a:r>
            <a:endParaRPr lang="en-US" sz="1875" dirty="0"/>
          </a:p>
        </p:txBody>
      </p:sp>
      <p:sp>
        <p:nvSpPr>
          <p:cNvPr id="17" name="Shape 15"/>
          <p:cNvSpPr/>
          <p:nvPr/>
        </p:nvSpPr>
        <p:spPr>
          <a:xfrm>
            <a:off x="7010921" y="5129510"/>
            <a:ext cx="4583981" cy="9525"/>
          </a:xfrm>
          <a:prstGeom prst="rect">
            <a:avLst/>
          </a:prstGeom>
          <a:solidFill>
            <a:srgbClr val="201E1E">
              <a:alpha val="40000"/>
            </a:srgbClr>
          </a:solidFill>
          <a:ln/>
        </p:spPr>
        <p:txBody>
          <a:bodyPr/>
          <a:lstStyle/>
          <a:p>
            <a:endParaRPr lang="en-US"/>
          </a:p>
        </p:txBody>
      </p:sp>
      <p:sp>
        <p:nvSpPr>
          <p:cNvPr id="18" name="Text 16"/>
          <p:cNvSpPr/>
          <p:nvPr/>
        </p:nvSpPr>
        <p:spPr>
          <a:xfrm>
            <a:off x="7239521" y="4764485"/>
            <a:ext cx="4264300"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 0.999</a:t>
            </a:r>
            <a:endParaRPr lang="en-US" sz="1875" dirty="0"/>
          </a:p>
        </p:txBody>
      </p:sp>
      <p:sp>
        <p:nvSpPr>
          <p:cNvPr id="19" name="Shape 17"/>
          <p:cNvSpPr/>
          <p:nvPr/>
        </p:nvSpPr>
        <p:spPr>
          <a:xfrm>
            <a:off x="11594902" y="5129510"/>
            <a:ext cx="4407098" cy="9525"/>
          </a:xfrm>
          <a:prstGeom prst="rect">
            <a:avLst/>
          </a:prstGeom>
          <a:solidFill>
            <a:srgbClr val="201E1E">
              <a:alpha val="40000"/>
            </a:srgbClr>
          </a:solidFill>
          <a:ln/>
        </p:spPr>
        <p:txBody>
          <a:bodyPr/>
          <a:lstStyle/>
          <a:p>
            <a:endParaRPr lang="en-US"/>
          </a:p>
        </p:txBody>
      </p:sp>
      <p:sp>
        <p:nvSpPr>
          <p:cNvPr id="20" name="Text 18"/>
          <p:cNvSpPr/>
          <p:nvPr/>
        </p:nvSpPr>
        <p:spPr>
          <a:xfrm>
            <a:off x="11823502" y="4764485"/>
            <a:ext cx="4310711"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Extraction, classification, JSON</a:t>
            </a:r>
            <a:endParaRPr lang="en-US" sz="1875" dirty="0"/>
          </a:p>
        </p:txBody>
      </p:sp>
      <p:sp>
        <p:nvSpPr>
          <p:cNvPr id="21" name="Shape 19"/>
          <p:cNvSpPr/>
          <p:nvPr/>
        </p:nvSpPr>
        <p:spPr>
          <a:xfrm>
            <a:off x="1143000" y="5696322"/>
            <a:ext cx="698822" cy="9525"/>
          </a:xfrm>
          <a:prstGeom prst="rect">
            <a:avLst/>
          </a:prstGeom>
          <a:solidFill>
            <a:srgbClr val="201E1E">
              <a:alpha val="40000"/>
            </a:srgbClr>
          </a:solidFill>
          <a:ln/>
        </p:spPr>
        <p:txBody>
          <a:bodyPr/>
          <a:lstStyle/>
          <a:p>
            <a:endParaRPr lang="en-US"/>
          </a:p>
        </p:txBody>
      </p:sp>
      <p:sp>
        <p:nvSpPr>
          <p:cNvPr id="22" name="Text 20"/>
          <p:cNvSpPr/>
          <p:nvPr/>
        </p:nvSpPr>
        <p:spPr>
          <a:xfrm>
            <a:off x="1143000" y="5336060"/>
            <a:ext cx="546422"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0.7</a:t>
            </a:r>
            <a:endParaRPr lang="en-US" sz="1875" dirty="0"/>
          </a:p>
        </p:txBody>
      </p:sp>
      <p:sp>
        <p:nvSpPr>
          <p:cNvPr id="23" name="Shape 21"/>
          <p:cNvSpPr/>
          <p:nvPr/>
        </p:nvSpPr>
        <p:spPr>
          <a:xfrm>
            <a:off x="1841822" y="5696322"/>
            <a:ext cx="5169098" cy="9525"/>
          </a:xfrm>
          <a:prstGeom prst="rect">
            <a:avLst/>
          </a:prstGeom>
          <a:solidFill>
            <a:srgbClr val="201E1E">
              <a:alpha val="40000"/>
            </a:srgbClr>
          </a:solidFill>
          <a:ln/>
        </p:spPr>
        <p:txBody>
          <a:bodyPr/>
          <a:lstStyle/>
          <a:p>
            <a:endParaRPr lang="en-US"/>
          </a:p>
        </p:txBody>
      </p:sp>
      <p:sp>
        <p:nvSpPr>
          <p:cNvPr id="24" name="Text 22"/>
          <p:cNvSpPr/>
          <p:nvPr/>
        </p:nvSpPr>
        <p:spPr>
          <a:xfrm>
            <a:off x="2070422" y="5336060"/>
            <a:ext cx="486697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Gaps modestly sharpened</a:t>
            </a:r>
            <a:endParaRPr lang="en-US" sz="1875" dirty="0"/>
          </a:p>
        </p:txBody>
      </p:sp>
      <p:sp>
        <p:nvSpPr>
          <p:cNvPr id="25" name="Shape 23"/>
          <p:cNvSpPr/>
          <p:nvPr/>
        </p:nvSpPr>
        <p:spPr>
          <a:xfrm>
            <a:off x="7010921" y="5696322"/>
            <a:ext cx="4583981" cy="9525"/>
          </a:xfrm>
          <a:prstGeom prst="rect">
            <a:avLst/>
          </a:prstGeom>
          <a:solidFill>
            <a:srgbClr val="201E1E">
              <a:alpha val="40000"/>
            </a:srgbClr>
          </a:solidFill>
          <a:ln/>
        </p:spPr>
        <p:txBody>
          <a:bodyPr/>
          <a:lstStyle/>
          <a:p>
            <a:endParaRPr lang="en-US"/>
          </a:p>
        </p:txBody>
      </p:sp>
      <p:sp>
        <p:nvSpPr>
          <p:cNvPr id="26" name="Text 24"/>
          <p:cNvSpPr/>
          <p:nvPr/>
        </p:nvSpPr>
        <p:spPr>
          <a:xfrm>
            <a:off x="7239521" y="5336060"/>
            <a:ext cx="426430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 0.92</a:t>
            </a:r>
            <a:endParaRPr lang="en-US" sz="1875" dirty="0"/>
          </a:p>
        </p:txBody>
      </p:sp>
      <p:sp>
        <p:nvSpPr>
          <p:cNvPr id="27" name="Shape 25"/>
          <p:cNvSpPr/>
          <p:nvPr/>
        </p:nvSpPr>
        <p:spPr>
          <a:xfrm>
            <a:off x="11594902" y="5696322"/>
            <a:ext cx="4407098" cy="9525"/>
          </a:xfrm>
          <a:prstGeom prst="rect">
            <a:avLst/>
          </a:prstGeom>
          <a:solidFill>
            <a:srgbClr val="201E1E">
              <a:alpha val="40000"/>
            </a:srgbClr>
          </a:solidFill>
          <a:ln/>
        </p:spPr>
        <p:txBody>
          <a:bodyPr/>
          <a:lstStyle/>
          <a:p>
            <a:endParaRPr lang="en-US"/>
          </a:p>
        </p:txBody>
      </p:sp>
      <p:sp>
        <p:nvSpPr>
          <p:cNvPr id="28" name="Text 26"/>
          <p:cNvSpPr/>
          <p:nvPr/>
        </p:nvSpPr>
        <p:spPr>
          <a:xfrm>
            <a:off x="11823502" y="5336060"/>
            <a:ext cx="431071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Most assistant work</a:t>
            </a:r>
            <a:endParaRPr lang="en-US" sz="1875" dirty="0"/>
          </a:p>
        </p:txBody>
      </p:sp>
      <p:sp>
        <p:nvSpPr>
          <p:cNvPr id="29" name="Shape 27"/>
          <p:cNvSpPr/>
          <p:nvPr/>
        </p:nvSpPr>
        <p:spPr>
          <a:xfrm>
            <a:off x="1143000" y="6263134"/>
            <a:ext cx="698822" cy="9525"/>
          </a:xfrm>
          <a:prstGeom prst="rect">
            <a:avLst/>
          </a:prstGeom>
          <a:solidFill>
            <a:srgbClr val="201E1E">
              <a:alpha val="40000"/>
            </a:srgbClr>
          </a:solidFill>
          <a:ln/>
        </p:spPr>
        <p:txBody>
          <a:bodyPr/>
          <a:lstStyle/>
          <a:p>
            <a:endParaRPr lang="en-US"/>
          </a:p>
        </p:txBody>
      </p:sp>
      <p:sp>
        <p:nvSpPr>
          <p:cNvPr id="30" name="Text 28"/>
          <p:cNvSpPr/>
          <p:nvPr/>
        </p:nvSpPr>
        <p:spPr>
          <a:xfrm>
            <a:off x="1143000" y="5902872"/>
            <a:ext cx="546422"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1.0</a:t>
            </a:r>
            <a:endParaRPr lang="en-US" sz="1875" dirty="0"/>
          </a:p>
        </p:txBody>
      </p:sp>
      <p:sp>
        <p:nvSpPr>
          <p:cNvPr id="31" name="Shape 29"/>
          <p:cNvSpPr/>
          <p:nvPr/>
        </p:nvSpPr>
        <p:spPr>
          <a:xfrm>
            <a:off x="1841822" y="6263134"/>
            <a:ext cx="5169098" cy="9525"/>
          </a:xfrm>
          <a:prstGeom prst="rect">
            <a:avLst/>
          </a:prstGeom>
          <a:solidFill>
            <a:srgbClr val="201E1E">
              <a:alpha val="40000"/>
            </a:srgbClr>
          </a:solidFill>
          <a:ln/>
        </p:spPr>
        <p:txBody>
          <a:bodyPr/>
          <a:lstStyle/>
          <a:p>
            <a:endParaRPr lang="en-US"/>
          </a:p>
        </p:txBody>
      </p:sp>
      <p:sp>
        <p:nvSpPr>
          <p:cNvPr id="32" name="Text 30"/>
          <p:cNvSpPr/>
          <p:nvPr/>
        </p:nvSpPr>
        <p:spPr>
          <a:xfrm>
            <a:off x="2070422" y="5902872"/>
            <a:ext cx="486697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Unchanged — the raw distribution</a:t>
            </a:r>
            <a:endParaRPr lang="en-US" sz="1875" dirty="0"/>
          </a:p>
        </p:txBody>
      </p:sp>
      <p:sp>
        <p:nvSpPr>
          <p:cNvPr id="33" name="Shape 31"/>
          <p:cNvSpPr/>
          <p:nvPr/>
        </p:nvSpPr>
        <p:spPr>
          <a:xfrm>
            <a:off x="7010921" y="6263134"/>
            <a:ext cx="4583981" cy="9525"/>
          </a:xfrm>
          <a:prstGeom prst="rect">
            <a:avLst/>
          </a:prstGeom>
          <a:solidFill>
            <a:srgbClr val="201E1E">
              <a:alpha val="40000"/>
            </a:srgbClr>
          </a:solidFill>
          <a:ln/>
        </p:spPr>
        <p:txBody>
          <a:bodyPr/>
          <a:lstStyle/>
          <a:p>
            <a:endParaRPr lang="en-US"/>
          </a:p>
        </p:txBody>
      </p:sp>
      <p:sp>
        <p:nvSpPr>
          <p:cNvPr id="34" name="Text 32"/>
          <p:cNvSpPr/>
          <p:nvPr/>
        </p:nvSpPr>
        <p:spPr>
          <a:xfrm>
            <a:off x="7239521" y="5902872"/>
            <a:ext cx="426430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0.825</a:t>
            </a:r>
            <a:endParaRPr lang="en-US" sz="1875" dirty="0"/>
          </a:p>
        </p:txBody>
      </p:sp>
      <p:sp>
        <p:nvSpPr>
          <p:cNvPr id="35" name="Shape 33"/>
          <p:cNvSpPr/>
          <p:nvPr/>
        </p:nvSpPr>
        <p:spPr>
          <a:xfrm>
            <a:off x="11594902" y="6263134"/>
            <a:ext cx="4407098" cy="9525"/>
          </a:xfrm>
          <a:prstGeom prst="rect">
            <a:avLst/>
          </a:prstGeom>
          <a:solidFill>
            <a:srgbClr val="201E1E">
              <a:alpha val="40000"/>
            </a:srgbClr>
          </a:solidFill>
          <a:ln/>
        </p:spPr>
        <p:txBody>
          <a:bodyPr/>
          <a:lstStyle/>
          <a:p>
            <a:endParaRPr lang="en-US"/>
          </a:p>
        </p:txBody>
      </p:sp>
      <p:sp>
        <p:nvSpPr>
          <p:cNvPr id="36" name="Text 34"/>
          <p:cNvSpPr/>
          <p:nvPr/>
        </p:nvSpPr>
        <p:spPr>
          <a:xfrm>
            <a:off x="11823502" y="5902872"/>
            <a:ext cx="431071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The model's honest opinion</a:t>
            </a:r>
            <a:endParaRPr lang="en-US" sz="1875" dirty="0"/>
          </a:p>
        </p:txBody>
      </p:sp>
      <p:sp>
        <p:nvSpPr>
          <p:cNvPr id="37" name="Shape 35"/>
          <p:cNvSpPr/>
          <p:nvPr/>
        </p:nvSpPr>
        <p:spPr>
          <a:xfrm>
            <a:off x="1143000" y="6829946"/>
            <a:ext cx="698822" cy="9525"/>
          </a:xfrm>
          <a:prstGeom prst="rect">
            <a:avLst/>
          </a:prstGeom>
          <a:solidFill>
            <a:srgbClr val="201E1E">
              <a:alpha val="40000"/>
            </a:srgbClr>
          </a:solidFill>
          <a:ln/>
        </p:spPr>
        <p:txBody>
          <a:bodyPr/>
          <a:lstStyle/>
          <a:p>
            <a:endParaRPr lang="en-US"/>
          </a:p>
        </p:txBody>
      </p:sp>
      <p:sp>
        <p:nvSpPr>
          <p:cNvPr id="38" name="Text 36"/>
          <p:cNvSpPr/>
          <p:nvPr/>
        </p:nvSpPr>
        <p:spPr>
          <a:xfrm>
            <a:off x="1143000" y="6469684"/>
            <a:ext cx="546422"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1.5</a:t>
            </a:r>
            <a:endParaRPr lang="en-US" sz="1875" dirty="0"/>
          </a:p>
        </p:txBody>
      </p:sp>
      <p:sp>
        <p:nvSpPr>
          <p:cNvPr id="39" name="Shape 37"/>
          <p:cNvSpPr/>
          <p:nvPr/>
        </p:nvSpPr>
        <p:spPr>
          <a:xfrm>
            <a:off x="1841822" y="6829946"/>
            <a:ext cx="5169098" cy="9525"/>
          </a:xfrm>
          <a:prstGeom prst="rect">
            <a:avLst/>
          </a:prstGeom>
          <a:solidFill>
            <a:srgbClr val="201E1E">
              <a:alpha val="40000"/>
            </a:srgbClr>
          </a:solidFill>
          <a:ln/>
        </p:spPr>
        <p:txBody>
          <a:bodyPr/>
          <a:lstStyle/>
          <a:p>
            <a:endParaRPr lang="en-US"/>
          </a:p>
        </p:txBody>
      </p:sp>
      <p:sp>
        <p:nvSpPr>
          <p:cNvPr id="40" name="Text 38"/>
          <p:cNvSpPr/>
          <p:nvPr/>
        </p:nvSpPr>
        <p:spPr>
          <a:xfrm>
            <a:off x="2070422" y="6469684"/>
            <a:ext cx="486697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Gaps compressed</a:t>
            </a:r>
            <a:endParaRPr lang="en-US" sz="1875" dirty="0"/>
          </a:p>
        </p:txBody>
      </p:sp>
      <p:sp>
        <p:nvSpPr>
          <p:cNvPr id="41" name="Shape 39"/>
          <p:cNvSpPr/>
          <p:nvPr/>
        </p:nvSpPr>
        <p:spPr>
          <a:xfrm>
            <a:off x="7010921" y="6829946"/>
            <a:ext cx="4583981" cy="9525"/>
          </a:xfrm>
          <a:prstGeom prst="rect">
            <a:avLst/>
          </a:prstGeom>
          <a:solidFill>
            <a:srgbClr val="201E1E">
              <a:alpha val="40000"/>
            </a:srgbClr>
          </a:solidFill>
          <a:ln/>
        </p:spPr>
        <p:txBody>
          <a:bodyPr/>
          <a:lstStyle/>
          <a:p>
            <a:endParaRPr lang="en-US"/>
          </a:p>
        </p:txBody>
      </p:sp>
      <p:sp>
        <p:nvSpPr>
          <p:cNvPr id="42" name="Text 40"/>
          <p:cNvSpPr/>
          <p:nvPr/>
        </p:nvSpPr>
        <p:spPr>
          <a:xfrm>
            <a:off x="7239521" y="6469684"/>
            <a:ext cx="426430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 0.63</a:t>
            </a:r>
            <a:endParaRPr lang="en-US" sz="1875" dirty="0"/>
          </a:p>
        </p:txBody>
      </p:sp>
      <p:sp>
        <p:nvSpPr>
          <p:cNvPr id="43" name="Shape 41"/>
          <p:cNvSpPr/>
          <p:nvPr/>
        </p:nvSpPr>
        <p:spPr>
          <a:xfrm>
            <a:off x="11594902" y="6829946"/>
            <a:ext cx="4407098" cy="9525"/>
          </a:xfrm>
          <a:prstGeom prst="rect">
            <a:avLst/>
          </a:prstGeom>
          <a:solidFill>
            <a:srgbClr val="201E1E">
              <a:alpha val="40000"/>
            </a:srgbClr>
          </a:solidFill>
          <a:ln/>
        </p:spPr>
        <p:txBody>
          <a:bodyPr/>
          <a:lstStyle/>
          <a:p>
            <a:endParaRPr lang="en-US"/>
          </a:p>
        </p:txBody>
      </p:sp>
      <p:sp>
        <p:nvSpPr>
          <p:cNvPr id="44" name="Text 42"/>
          <p:cNvSpPr/>
          <p:nvPr/>
        </p:nvSpPr>
        <p:spPr>
          <a:xfrm>
            <a:off x="11823502" y="6469684"/>
            <a:ext cx="4310711"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Brainstorming, variety</a:t>
            </a:r>
            <a:endParaRPr lang="en-US" sz="1875" dirty="0"/>
          </a:p>
        </p:txBody>
      </p:sp>
      <p:sp>
        <p:nvSpPr>
          <p:cNvPr id="45" name="Shape 43"/>
          <p:cNvSpPr/>
          <p:nvPr/>
        </p:nvSpPr>
        <p:spPr>
          <a:xfrm>
            <a:off x="1143000" y="7165628"/>
            <a:ext cx="16002000" cy="19050"/>
          </a:xfrm>
          <a:prstGeom prst="rect">
            <a:avLst/>
          </a:prstGeom>
          <a:solidFill>
            <a:srgbClr val="201E1E">
              <a:alpha val="40000"/>
            </a:srgbClr>
          </a:solidFill>
          <a:ln/>
        </p:spPr>
        <p:txBody>
          <a:bodyPr/>
          <a:lstStyle/>
          <a:p>
            <a:endParaRPr lang="en-US"/>
          </a:p>
        </p:txBody>
      </p:sp>
      <p:sp>
        <p:nvSpPr>
          <p:cNvPr id="46" name="Text 44"/>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GOTCHA</a:t>
            </a:r>
            <a:endParaRPr lang="en-US" sz="1800" dirty="0"/>
          </a:p>
        </p:txBody>
      </p:sp>
      <p:sp>
        <p:nvSpPr>
          <p:cNvPr id="47" name="Text 45"/>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Temperature 0 does not make a model correct — it makes it consistent. It will repeat the same confident wrong answer every time, which is easier to test and no more accurate.</a:t>
            </a:r>
            <a:endParaRPr lang="en-US" sz="2100" dirty="0"/>
          </a:p>
        </p:txBody>
      </p:sp>
      <p:pic>
        <p:nvPicPr>
          <p:cNvPr id="48"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10 · BUSINESS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An AI medical assistant's distribution</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Prompt: "Patient has high fever and persistent cough." The model returns a distribution, not an answer.</a:t>
            </a:r>
            <a:endParaRPr lang="en-US" sz="2100" dirty="0"/>
          </a:p>
        </p:txBody>
      </p:sp>
      <p:sp>
        <p:nvSpPr>
          <p:cNvPr id="5" name="Shape 3"/>
          <p:cNvSpPr/>
          <p:nvPr/>
        </p:nvSpPr>
        <p:spPr>
          <a:xfrm>
            <a:off x="1143000" y="4091211"/>
            <a:ext cx="2690292" cy="19050"/>
          </a:xfrm>
          <a:prstGeom prst="rect">
            <a:avLst/>
          </a:prstGeom>
          <a:solidFill>
            <a:srgbClr val="201E1E">
              <a:alpha val="40000"/>
            </a:srgbClr>
          </a:solidFill>
          <a:ln/>
        </p:spPr>
        <p:txBody>
          <a:bodyPr/>
          <a:lstStyle/>
          <a:p>
            <a:endParaRPr lang="en-US"/>
          </a:p>
        </p:txBody>
      </p:sp>
      <p:sp>
        <p:nvSpPr>
          <p:cNvPr id="6" name="Text 4"/>
          <p:cNvSpPr/>
          <p:nvPr/>
        </p:nvSpPr>
        <p:spPr>
          <a:xfrm>
            <a:off x="1143000" y="3744890"/>
            <a:ext cx="2542400"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SUGGESTION</a:t>
            </a:r>
            <a:endParaRPr lang="en-US" sz="1800" dirty="0"/>
          </a:p>
        </p:txBody>
      </p:sp>
      <p:sp>
        <p:nvSpPr>
          <p:cNvPr id="7" name="Shape 5"/>
          <p:cNvSpPr/>
          <p:nvPr/>
        </p:nvSpPr>
        <p:spPr>
          <a:xfrm>
            <a:off x="3833292" y="4091211"/>
            <a:ext cx="2998440" cy="19050"/>
          </a:xfrm>
          <a:prstGeom prst="rect">
            <a:avLst/>
          </a:prstGeom>
          <a:solidFill>
            <a:srgbClr val="201E1E">
              <a:alpha val="40000"/>
            </a:srgbClr>
          </a:solidFill>
          <a:ln/>
        </p:spPr>
        <p:txBody>
          <a:bodyPr/>
          <a:lstStyle/>
          <a:p>
            <a:endParaRPr lang="en-US"/>
          </a:p>
        </p:txBody>
      </p:sp>
      <p:sp>
        <p:nvSpPr>
          <p:cNvPr id="8" name="Text 6"/>
          <p:cNvSpPr/>
          <p:nvPr/>
        </p:nvSpPr>
        <p:spPr>
          <a:xfrm>
            <a:off x="4061892" y="3744890"/>
            <a:ext cx="2631193"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PROBABILITY</a:t>
            </a:r>
            <a:endParaRPr lang="en-US" sz="1800" dirty="0"/>
          </a:p>
        </p:txBody>
      </p:sp>
      <p:sp>
        <p:nvSpPr>
          <p:cNvPr id="9" name="Shape 7"/>
          <p:cNvSpPr/>
          <p:nvPr/>
        </p:nvSpPr>
        <p:spPr>
          <a:xfrm>
            <a:off x="6831732" y="4091211"/>
            <a:ext cx="9170268" cy="19050"/>
          </a:xfrm>
          <a:prstGeom prst="rect">
            <a:avLst/>
          </a:prstGeom>
          <a:solidFill>
            <a:srgbClr val="201E1E">
              <a:alpha val="40000"/>
            </a:srgbClr>
          </a:solidFill>
          <a:ln/>
        </p:spPr>
        <p:txBody>
          <a:bodyPr/>
          <a:lstStyle/>
          <a:p>
            <a:endParaRPr lang="en-US"/>
          </a:p>
        </p:txBody>
      </p:sp>
      <p:sp>
        <p:nvSpPr>
          <p:cNvPr id="10" name="Text 8"/>
          <p:cNvSpPr/>
          <p:nvPr/>
        </p:nvSpPr>
        <p:spPr>
          <a:xfrm>
            <a:off x="7060332" y="3744890"/>
            <a:ext cx="9216776"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WHAT IT SHOULD TRIGGER</a:t>
            </a:r>
            <a:endParaRPr lang="en-US" sz="1800" dirty="0"/>
          </a:p>
        </p:txBody>
      </p:sp>
      <p:sp>
        <p:nvSpPr>
          <p:cNvPr id="11" name="Shape 9"/>
          <p:cNvSpPr/>
          <p:nvPr/>
        </p:nvSpPr>
        <p:spPr>
          <a:xfrm>
            <a:off x="1143000" y="4672310"/>
            <a:ext cx="2690292" cy="9525"/>
          </a:xfrm>
          <a:prstGeom prst="rect">
            <a:avLst/>
          </a:prstGeom>
          <a:solidFill>
            <a:srgbClr val="201E1E">
              <a:alpha val="40000"/>
            </a:srgbClr>
          </a:solidFill>
          <a:ln/>
        </p:spPr>
        <p:txBody>
          <a:bodyPr/>
          <a:lstStyle/>
          <a:p>
            <a:endParaRPr lang="en-US"/>
          </a:p>
        </p:txBody>
      </p:sp>
      <p:sp>
        <p:nvSpPr>
          <p:cNvPr id="12" name="Text 10"/>
          <p:cNvSpPr/>
          <p:nvPr/>
        </p:nvSpPr>
        <p:spPr>
          <a:xfrm>
            <a:off x="1143000" y="4307285"/>
            <a:ext cx="2542400"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Infection</a:t>
            </a:r>
            <a:endParaRPr lang="en-US" sz="1875" dirty="0"/>
          </a:p>
        </p:txBody>
      </p:sp>
      <p:sp>
        <p:nvSpPr>
          <p:cNvPr id="13" name="Shape 11"/>
          <p:cNvSpPr/>
          <p:nvPr/>
        </p:nvSpPr>
        <p:spPr>
          <a:xfrm>
            <a:off x="3833292" y="4672310"/>
            <a:ext cx="2998440" cy="9525"/>
          </a:xfrm>
          <a:prstGeom prst="rect">
            <a:avLst/>
          </a:prstGeom>
          <a:solidFill>
            <a:srgbClr val="201E1E">
              <a:alpha val="40000"/>
            </a:srgbClr>
          </a:solidFill>
          <a:ln/>
        </p:spPr>
        <p:txBody>
          <a:bodyPr/>
          <a:lstStyle/>
          <a:p>
            <a:endParaRPr lang="en-US"/>
          </a:p>
        </p:txBody>
      </p:sp>
      <p:sp>
        <p:nvSpPr>
          <p:cNvPr id="14" name="Text 12"/>
          <p:cNvSpPr/>
          <p:nvPr/>
        </p:nvSpPr>
        <p:spPr>
          <a:xfrm>
            <a:off x="4061892" y="4307285"/>
            <a:ext cx="2631193"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0.58</a:t>
            </a:r>
            <a:endParaRPr lang="en-US" sz="1875" dirty="0"/>
          </a:p>
        </p:txBody>
      </p:sp>
      <p:sp>
        <p:nvSpPr>
          <p:cNvPr id="15" name="Shape 13"/>
          <p:cNvSpPr/>
          <p:nvPr/>
        </p:nvSpPr>
        <p:spPr>
          <a:xfrm>
            <a:off x="6831732" y="4672310"/>
            <a:ext cx="9170268" cy="9525"/>
          </a:xfrm>
          <a:prstGeom prst="rect">
            <a:avLst/>
          </a:prstGeom>
          <a:solidFill>
            <a:srgbClr val="201E1E">
              <a:alpha val="40000"/>
            </a:srgbClr>
          </a:solidFill>
          <a:ln/>
        </p:spPr>
        <p:txBody>
          <a:bodyPr/>
          <a:lstStyle/>
          <a:p>
            <a:endParaRPr lang="en-US"/>
          </a:p>
        </p:txBody>
      </p:sp>
      <p:sp>
        <p:nvSpPr>
          <p:cNvPr id="16" name="Text 14"/>
          <p:cNvSpPr/>
          <p:nvPr/>
        </p:nvSpPr>
        <p:spPr>
          <a:xfrm>
            <a:off x="7060332" y="4307285"/>
            <a:ext cx="9216776"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Top answer, but well short of confident — surface alternatives</a:t>
            </a:r>
            <a:endParaRPr lang="en-US" sz="1875" dirty="0"/>
          </a:p>
        </p:txBody>
      </p:sp>
      <p:sp>
        <p:nvSpPr>
          <p:cNvPr id="17" name="Shape 15"/>
          <p:cNvSpPr/>
          <p:nvPr/>
        </p:nvSpPr>
        <p:spPr>
          <a:xfrm>
            <a:off x="1143000" y="5239122"/>
            <a:ext cx="2690292" cy="9525"/>
          </a:xfrm>
          <a:prstGeom prst="rect">
            <a:avLst/>
          </a:prstGeom>
          <a:solidFill>
            <a:srgbClr val="201E1E">
              <a:alpha val="40000"/>
            </a:srgbClr>
          </a:solidFill>
          <a:ln/>
        </p:spPr>
        <p:txBody>
          <a:bodyPr/>
          <a:lstStyle/>
          <a:p>
            <a:endParaRPr lang="en-US"/>
          </a:p>
        </p:txBody>
      </p:sp>
      <p:sp>
        <p:nvSpPr>
          <p:cNvPr id="18" name="Text 16"/>
          <p:cNvSpPr/>
          <p:nvPr/>
        </p:nvSpPr>
        <p:spPr>
          <a:xfrm>
            <a:off x="1143000" y="4878860"/>
            <a:ext cx="254240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Pneumonia</a:t>
            </a:r>
            <a:endParaRPr lang="en-US" sz="1875" dirty="0"/>
          </a:p>
        </p:txBody>
      </p:sp>
      <p:sp>
        <p:nvSpPr>
          <p:cNvPr id="19" name="Shape 17"/>
          <p:cNvSpPr/>
          <p:nvPr/>
        </p:nvSpPr>
        <p:spPr>
          <a:xfrm>
            <a:off x="3833292" y="5239122"/>
            <a:ext cx="2998440" cy="9525"/>
          </a:xfrm>
          <a:prstGeom prst="rect">
            <a:avLst/>
          </a:prstGeom>
          <a:solidFill>
            <a:srgbClr val="201E1E">
              <a:alpha val="40000"/>
            </a:srgbClr>
          </a:solidFill>
          <a:ln/>
        </p:spPr>
        <p:txBody>
          <a:bodyPr/>
          <a:lstStyle/>
          <a:p>
            <a:endParaRPr lang="en-US"/>
          </a:p>
        </p:txBody>
      </p:sp>
      <p:sp>
        <p:nvSpPr>
          <p:cNvPr id="20" name="Text 18"/>
          <p:cNvSpPr/>
          <p:nvPr/>
        </p:nvSpPr>
        <p:spPr>
          <a:xfrm>
            <a:off x="4061892" y="4878860"/>
            <a:ext cx="263119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0.27</a:t>
            </a:r>
            <a:endParaRPr lang="en-US" sz="1875" dirty="0"/>
          </a:p>
        </p:txBody>
      </p:sp>
      <p:sp>
        <p:nvSpPr>
          <p:cNvPr id="21" name="Shape 19"/>
          <p:cNvSpPr/>
          <p:nvPr/>
        </p:nvSpPr>
        <p:spPr>
          <a:xfrm>
            <a:off x="6831732" y="5239122"/>
            <a:ext cx="9170268" cy="9525"/>
          </a:xfrm>
          <a:prstGeom prst="rect">
            <a:avLst/>
          </a:prstGeom>
          <a:solidFill>
            <a:srgbClr val="201E1E">
              <a:alpha val="40000"/>
            </a:srgbClr>
          </a:solidFill>
          <a:ln/>
        </p:spPr>
        <p:txBody>
          <a:bodyPr/>
          <a:lstStyle/>
          <a:p>
            <a:endParaRPr lang="en-US"/>
          </a:p>
        </p:txBody>
      </p:sp>
      <p:sp>
        <p:nvSpPr>
          <p:cNvPr id="22" name="Text 20"/>
          <p:cNvSpPr/>
          <p:nvPr/>
        </p:nvSpPr>
        <p:spPr>
          <a:xfrm>
            <a:off x="7060332" y="4878860"/>
            <a:ext cx="921677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Too high to hide from the clinician</a:t>
            </a:r>
            <a:endParaRPr lang="en-US" sz="1875" dirty="0"/>
          </a:p>
        </p:txBody>
      </p:sp>
      <p:sp>
        <p:nvSpPr>
          <p:cNvPr id="23" name="Shape 21"/>
          <p:cNvSpPr/>
          <p:nvPr/>
        </p:nvSpPr>
        <p:spPr>
          <a:xfrm>
            <a:off x="1143000" y="5805934"/>
            <a:ext cx="2690292" cy="9525"/>
          </a:xfrm>
          <a:prstGeom prst="rect">
            <a:avLst/>
          </a:prstGeom>
          <a:solidFill>
            <a:srgbClr val="201E1E">
              <a:alpha val="40000"/>
            </a:srgbClr>
          </a:solidFill>
          <a:ln/>
        </p:spPr>
        <p:txBody>
          <a:bodyPr/>
          <a:lstStyle/>
          <a:p>
            <a:endParaRPr lang="en-US"/>
          </a:p>
        </p:txBody>
      </p:sp>
      <p:sp>
        <p:nvSpPr>
          <p:cNvPr id="24" name="Text 22"/>
          <p:cNvSpPr/>
          <p:nvPr/>
        </p:nvSpPr>
        <p:spPr>
          <a:xfrm>
            <a:off x="1143000" y="5445672"/>
            <a:ext cx="254240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Allergy</a:t>
            </a:r>
            <a:endParaRPr lang="en-US" sz="1875" dirty="0"/>
          </a:p>
        </p:txBody>
      </p:sp>
      <p:sp>
        <p:nvSpPr>
          <p:cNvPr id="25" name="Shape 23"/>
          <p:cNvSpPr/>
          <p:nvPr/>
        </p:nvSpPr>
        <p:spPr>
          <a:xfrm>
            <a:off x="3833292" y="5805934"/>
            <a:ext cx="2998440" cy="9525"/>
          </a:xfrm>
          <a:prstGeom prst="rect">
            <a:avLst/>
          </a:prstGeom>
          <a:solidFill>
            <a:srgbClr val="201E1E">
              <a:alpha val="40000"/>
            </a:srgbClr>
          </a:solidFill>
          <a:ln/>
        </p:spPr>
        <p:txBody>
          <a:bodyPr/>
          <a:lstStyle/>
          <a:p>
            <a:endParaRPr lang="en-US"/>
          </a:p>
        </p:txBody>
      </p:sp>
      <p:sp>
        <p:nvSpPr>
          <p:cNvPr id="26" name="Text 24"/>
          <p:cNvSpPr/>
          <p:nvPr/>
        </p:nvSpPr>
        <p:spPr>
          <a:xfrm>
            <a:off x="4061892" y="5445672"/>
            <a:ext cx="263119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0.12</a:t>
            </a:r>
            <a:endParaRPr lang="en-US" sz="1875" dirty="0"/>
          </a:p>
        </p:txBody>
      </p:sp>
      <p:sp>
        <p:nvSpPr>
          <p:cNvPr id="27" name="Shape 25"/>
          <p:cNvSpPr/>
          <p:nvPr/>
        </p:nvSpPr>
        <p:spPr>
          <a:xfrm>
            <a:off x="6831732" y="5805934"/>
            <a:ext cx="9170268" cy="9525"/>
          </a:xfrm>
          <a:prstGeom prst="rect">
            <a:avLst/>
          </a:prstGeom>
          <a:solidFill>
            <a:srgbClr val="201E1E">
              <a:alpha val="40000"/>
            </a:srgbClr>
          </a:solidFill>
          <a:ln/>
        </p:spPr>
        <p:txBody>
          <a:bodyPr/>
          <a:lstStyle/>
          <a:p>
            <a:endParaRPr lang="en-US"/>
          </a:p>
        </p:txBody>
      </p:sp>
      <p:sp>
        <p:nvSpPr>
          <p:cNvPr id="28" name="Text 26"/>
          <p:cNvSpPr/>
          <p:nvPr/>
        </p:nvSpPr>
        <p:spPr>
          <a:xfrm>
            <a:off x="7060332" y="5445672"/>
            <a:ext cx="921677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Worth listing</a:t>
            </a:r>
            <a:endParaRPr lang="en-US" sz="1875" dirty="0"/>
          </a:p>
        </p:txBody>
      </p:sp>
      <p:sp>
        <p:nvSpPr>
          <p:cNvPr id="29" name="Shape 27"/>
          <p:cNvSpPr/>
          <p:nvPr/>
        </p:nvSpPr>
        <p:spPr>
          <a:xfrm>
            <a:off x="1143000" y="6372746"/>
            <a:ext cx="2690292" cy="9525"/>
          </a:xfrm>
          <a:prstGeom prst="rect">
            <a:avLst/>
          </a:prstGeom>
          <a:solidFill>
            <a:srgbClr val="201E1E">
              <a:alpha val="40000"/>
            </a:srgbClr>
          </a:solidFill>
          <a:ln/>
        </p:spPr>
        <p:txBody>
          <a:bodyPr/>
          <a:lstStyle/>
          <a:p>
            <a:endParaRPr lang="en-US"/>
          </a:p>
        </p:txBody>
      </p:sp>
      <p:sp>
        <p:nvSpPr>
          <p:cNvPr id="30" name="Text 28"/>
          <p:cNvSpPr/>
          <p:nvPr/>
        </p:nvSpPr>
        <p:spPr>
          <a:xfrm>
            <a:off x="1143000" y="6012484"/>
            <a:ext cx="254240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Fracture</a:t>
            </a:r>
            <a:endParaRPr lang="en-US" sz="1875" dirty="0"/>
          </a:p>
        </p:txBody>
      </p:sp>
      <p:sp>
        <p:nvSpPr>
          <p:cNvPr id="31" name="Shape 29"/>
          <p:cNvSpPr/>
          <p:nvPr/>
        </p:nvSpPr>
        <p:spPr>
          <a:xfrm>
            <a:off x="3833292" y="6372746"/>
            <a:ext cx="2998440" cy="9525"/>
          </a:xfrm>
          <a:prstGeom prst="rect">
            <a:avLst/>
          </a:prstGeom>
          <a:solidFill>
            <a:srgbClr val="201E1E">
              <a:alpha val="40000"/>
            </a:srgbClr>
          </a:solidFill>
          <a:ln/>
        </p:spPr>
        <p:txBody>
          <a:bodyPr/>
          <a:lstStyle/>
          <a:p>
            <a:endParaRPr lang="en-US"/>
          </a:p>
        </p:txBody>
      </p:sp>
      <p:sp>
        <p:nvSpPr>
          <p:cNvPr id="32" name="Text 30"/>
          <p:cNvSpPr/>
          <p:nvPr/>
        </p:nvSpPr>
        <p:spPr>
          <a:xfrm>
            <a:off x="4061892" y="6012484"/>
            <a:ext cx="263119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0.03</a:t>
            </a:r>
            <a:endParaRPr lang="en-US" sz="1875" dirty="0"/>
          </a:p>
        </p:txBody>
      </p:sp>
      <p:sp>
        <p:nvSpPr>
          <p:cNvPr id="33" name="Shape 31"/>
          <p:cNvSpPr/>
          <p:nvPr/>
        </p:nvSpPr>
        <p:spPr>
          <a:xfrm>
            <a:off x="6831732" y="6372746"/>
            <a:ext cx="9170268" cy="9525"/>
          </a:xfrm>
          <a:prstGeom prst="rect">
            <a:avLst/>
          </a:prstGeom>
          <a:solidFill>
            <a:srgbClr val="201E1E">
              <a:alpha val="40000"/>
            </a:srgbClr>
          </a:solidFill>
          <a:ln/>
        </p:spPr>
        <p:txBody>
          <a:bodyPr/>
          <a:lstStyle/>
          <a:p>
            <a:endParaRPr lang="en-US"/>
          </a:p>
        </p:txBody>
      </p:sp>
      <p:sp>
        <p:nvSpPr>
          <p:cNvPr id="34" name="Text 32"/>
          <p:cNvSpPr/>
          <p:nvPr/>
        </p:nvSpPr>
        <p:spPr>
          <a:xfrm>
            <a:off x="7060332" y="6012484"/>
            <a:ext cx="921677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Noise</a:t>
            </a:r>
            <a:endParaRPr lang="en-US" sz="1875" dirty="0"/>
          </a:p>
        </p:txBody>
      </p:sp>
      <p:sp>
        <p:nvSpPr>
          <p:cNvPr id="35" name="Shape 33"/>
          <p:cNvSpPr/>
          <p:nvPr/>
        </p:nvSpPr>
        <p:spPr>
          <a:xfrm>
            <a:off x="1143000" y="7165628"/>
            <a:ext cx="16002000" cy="19050"/>
          </a:xfrm>
          <a:prstGeom prst="rect">
            <a:avLst/>
          </a:prstGeom>
          <a:solidFill>
            <a:srgbClr val="EC3013"/>
          </a:solidFill>
          <a:ln/>
        </p:spPr>
        <p:txBody>
          <a:bodyPr/>
          <a:lstStyle/>
          <a:p>
            <a:endParaRPr lang="en-US"/>
          </a:p>
        </p:txBody>
      </p:sp>
      <p:sp>
        <p:nvSpPr>
          <p:cNvPr id="36" name="Text 34"/>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WHY IT MATTERS</a:t>
            </a:r>
            <a:endParaRPr lang="en-US" sz="1800" dirty="0"/>
          </a:p>
        </p:txBody>
      </p:sp>
      <p:sp>
        <p:nvSpPr>
          <p:cNvPr id="37" name="Text 35"/>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In high-stakes domains the distribution — not the top answer — tells you how hard a human should look. A 0.58 top answer and a 0.97 top answer deserve completely different interfaces.</a:t>
            </a:r>
            <a:endParaRPr lang="en-US" sz="2100" dirty="0"/>
          </a:p>
        </p:txBody>
      </p:sp>
      <p:pic>
        <p:nvPicPr>
          <p:cNvPr id="38"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10 · TRY IT YOURSELF</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Hands-on: token prediction</a:t>
            </a:r>
            <a:endParaRPr lang="en-US" sz="4800" dirty="0"/>
          </a:p>
        </p:txBody>
      </p:sp>
      <p:sp>
        <p:nvSpPr>
          <p:cNvPr id="4" name="Shape 2"/>
          <p:cNvSpPr/>
          <p:nvPr/>
        </p:nvSpPr>
        <p:spPr>
          <a:xfrm>
            <a:off x="1143000" y="2788890"/>
            <a:ext cx="14859000" cy="19050"/>
          </a:xfrm>
          <a:prstGeom prst="rect">
            <a:avLst/>
          </a:prstGeom>
          <a:solidFill>
            <a:srgbClr val="EC3013"/>
          </a:solidFill>
          <a:ln/>
        </p:spPr>
        <p:txBody>
          <a:bodyPr/>
          <a:lstStyle/>
          <a:p>
            <a:endParaRPr lang="en-US"/>
          </a:p>
        </p:txBody>
      </p:sp>
      <p:sp>
        <p:nvSpPr>
          <p:cNvPr id="5" name="Text 3"/>
          <p:cNvSpPr/>
          <p:nvPr/>
        </p:nvSpPr>
        <p:spPr>
          <a:xfrm>
            <a:off x="1143000" y="3052763"/>
            <a:ext cx="15304770" cy="608558"/>
          </a:xfrm>
          <a:prstGeom prst="rect">
            <a:avLst/>
          </a:prstGeom>
          <a:noFill/>
          <a:ln/>
        </p:spPr>
        <p:txBody>
          <a:bodyPr wrap="square" lIns="25400" tIns="25400" rIns="25400" bIns="25400" rtlCol="0" anchor="t">
            <a:normAutofit fontScale="85000" lnSpcReduction="2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1. </a:t>
            </a:r>
            <a:r>
              <a:rPr lang="en-US" sz="2175" dirty="0">
                <a:solidFill>
                  <a:srgbClr val="201E1D"/>
                </a:solidFill>
                <a:latin typeface="Arial" pitchFamily="34" charset="0"/>
                <a:ea typeface="Arial" pitchFamily="34" charset="-122"/>
                <a:cs typeface="Arial" pitchFamily="34" charset="-120"/>
              </a:rPr>
              <a:t>A support AI predicts the next phrase after "Your refund will be processed within": "3 days" 0.62, "a week" 0.25, "an hour" 0.09, "a month" 0.04. What does it output at low temperature, and how confident is it?</a:t>
            </a:r>
            <a:endParaRPr lang="en-US" sz="2175" dirty="0"/>
          </a:p>
        </p:txBody>
      </p:sp>
      <p:sp>
        <p:nvSpPr>
          <p:cNvPr id="6" name="Text 4"/>
          <p:cNvSpPr/>
          <p:nvPr/>
        </p:nvSpPr>
        <p:spPr>
          <a:xfrm>
            <a:off x="1143000" y="3790206"/>
            <a:ext cx="15304770" cy="556840"/>
          </a:xfrm>
          <a:prstGeom prst="rect">
            <a:avLst/>
          </a:prstGeom>
          <a:noFill/>
          <a:ln/>
        </p:spPr>
        <p:txBody>
          <a:bodyPr wrap="square" lIns="25400" tIns="25400" rIns="25400" bIns="25400" rtlCol="0" anchor="t">
            <a:normAutofit fontScale="925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"3 days". Fairly confident but not certain — 38% of the probability mass sits on alternatives, so the phrasing is not stable across runs at higher temperature.</a:t>
            </a:r>
            <a:endParaRPr lang="en-US" sz="1800" dirty="0"/>
          </a:p>
        </p:txBody>
      </p:sp>
      <p:sp>
        <p:nvSpPr>
          <p:cNvPr id="7" name="Shape 5"/>
          <p:cNvSpPr/>
          <p:nvPr/>
        </p:nvSpPr>
        <p:spPr>
          <a:xfrm>
            <a:off x="1143000" y="4811837"/>
            <a:ext cx="14859000" cy="19050"/>
          </a:xfrm>
          <a:prstGeom prst="rect">
            <a:avLst/>
          </a:prstGeom>
          <a:solidFill>
            <a:srgbClr val="EC3013"/>
          </a:solidFill>
          <a:ln/>
        </p:spPr>
        <p:txBody>
          <a:bodyPr/>
          <a:lstStyle/>
          <a:p>
            <a:endParaRPr lang="en-US"/>
          </a:p>
        </p:txBody>
      </p:sp>
      <p:sp>
        <p:nvSpPr>
          <p:cNvPr id="8" name="Text 6"/>
          <p:cNvSpPr/>
          <p:nvPr/>
        </p:nvSpPr>
        <p:spPr>
          <a:xfrm>
            <a:off x="1143000" y="5075709"/>
            <a:ext cx="16344900" cy="227558"/>
          </a:xfrm>
          <a:prstGeom prst="rect">
            <a:avLst/>
          </a:prstGeom>
          <a:noFill/>
          <a:ln/>
        </p:spPr>
        <p:txBody>
          <a:bodyPr wrap="square" lIns="25400" tIns="25400" rIns="25400" bIns="25400" rtlCol="0" anchor="t">
            <a:normAutofit fontScale="47500" lnSpcReduction="2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2. </a:t>
            </a:r>
            <a:r>
              <a:rPr lang="en-US" sz="2175" dirty="0">
                <a:solidFill>
                  <a:srgbClr val="201E1D"/>
                </a:solidFill>
                <a:latin typeface="Arial" pitchFamily="34" charset="0"/>
                <a:ea typeface="Arial" pitchFamily="34" charset="-122"/>
                <a:cs typeface="Arial" pitchFamily="34" charset="-120"/>
              </a:rPr>
              <a:t>You are extracting invoice numbers into JSON. What temperature, and why?</a:t>
            </a:r>
            <a:endParaRPr lang="en-US" sz="2175" dirty="0"/>
          </a:p>
        </p:txBody>
      </p:sp>
      <p:sp>
        <p:nvSpPr>
          <p:cNvPr id="9" name="Text 7"/>
          <p:cNvSpPr/>
          <p:nvPr/>
        </p:nvSpPr>
        <p:spPr>
          <a:xfrm>
            <a:off x="1143000" y="5432152"/>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Near 0. There is exactly one right answer, so variety has no value and every point of randomness is a chance to corrupt the output.</a:t>
            </a:r>
            <a:endParaRPr lang="en-US" sz="1800" dirty="0"/>
          </a:p>
        </p:txBody>
      </p:sp>
      <p:sp>
        <p:nvSpPr>
          <p:cNvPr id="10" name="Shape 8"/>
          <p:cNvSpPr/>
          <p:nvPr/>
        </p:nvSpPr>
        <p:spPr>
          <a:xfrm>
            <a:off x="1143000" y="6091833"/>
            <a:ext cx="14859000" cy="19050"/>
          </a:xfrm>
          <a:prstGeom prst="rect">
            <a:avLst/>
          </a:prstGeom>
          <a:solidFill>
            <a:srgbClr val="EC3013"/>
          </a:solidFill>
          <a:ln/>
        </p:spPr>
        <p:txBody>
          <a:bodyPr/>
          <a:lstStyle/>
          <a:p>
            <a:endParaRPr lang="en-US"/>
          </a:p>
        </p:txBody>
      </p:sp>
      <p:sp>
        <p:nvSpPr>
          <p:cNvPr id="11" name="Text 9"/>
          <p:cNvSpPr/>
          <p:nvPr/>
        </p:nvSpPr>
        <p:spPr>
          <a:xfrm>
            <a:off x="1143000" y="6355705"/>
            <a:ext cx="16344900" cy="227558"/>
          </a:xfrm>
          <a:prstGeom prst="rect">
            <a:avLst/>
          </a:prstGeom>
          <a:noFill/>
          <a:ln/>
        </p:spPr>
        <p:txBody>
          <a:bodyPr wrap="square" lIns="25400" tIns="25400" rIns="25400" bIns="25400" rtlCol="0" anchor="t">
            <a:normAutofit fontScale="47500" lnSpcReduction="2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3. </a:t>
            </a:r>
            <a:r>
              <a:rPr lang="en-US" sz="2175" dirty="0">
                <a:solidFill>
                  <a:srgbClr val="201E1D"/>
                </a:solidFill>
                <a:latin typeface="Arial" pitchFamily="34" charset="0"/>
                <a:ea typeface="Arial" pitchFamily="34" charset="-122"/>
                <a:cs typeface="Arial" pitchFamily="34" charset="-120"/>
              </a:rPr>
              <a:t>Two logits are 2.0 and 1.0. Roughly what is the probability of the higher one?</a:t>
            </a:r>
            <a:endParaRPr lang="en-US" sz="2175" dirty="0"/>
          </a:p>
        </p:txBody>
      </p:sp>
      <p:sp>
        <p:nvSpPr>
          <p:cNvPr id="12" name="Text 10"/>
          <p:cNvSpPr/>
          <p:nvPr/>
        </p:nvSpPr>
        <p:spPr>
          <a:xfrm>
            <a:off x="1143000" y="6712148"/>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e² = 7.39, e¹ = 2.72, sum 10.11. So 7.39 / 10.11 ≈ 0.73.</a:t>
            </a:r>
            <a:endParaRPr lang="en-US" sz="1800" dirty="0"/>
          </a:p>
        </p:txBody>
      </p:sp>
      <p:pic>
        <p:nvPicPr>
          <p:cNvPr id="13"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11 · INFORMATION THEORY</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Entropy: how surprised should you be?</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Entropy measures the average surprise in a distribution. A confident model has low entropy; a model that finds everything equally plausible has high entropy.</a:t>
            </a:r>
            <a:endParaRPr lang="en-US" sz="2100" dirty="0"/>
          </a:p>
        </p:txBody>
      </p:sp>
      <p:sp>
        <p:nvSpPr>
          <p:cNvPr id="5" name="Shape 3"/>
          <p:cNvSpPr/>
          <p:nvPr/>
        </p:nvSpPr>
        <p:spPr>
          <a:xfrm>
            <a:off x="1143000" y="5953795"/>
            <a:ext cx="16002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229100"/>
            <a:ext cx="16002000" cy="19050"/>
          </a:xfrm>
          <a:prstGeom prst="rect">
            <a:avLst/>
          </a:prstGeom>
          <a:solidFill>
            <a:srgbClr val="201E1E">
              <a:alpha val="40000"/>
            </a:srgbClr>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43000" y="4591050"/>
            <a:ext cx="16002000" cy="1019845"/>
          </a:xfrm>
          <a:prstGeom prst="rect">
            <a:avLst/>
          </a:prstGeom>
        </p:spPr>
      </p:pic>
      <p:sp>
        <p:nvSpPr>
          <p:cNvPr id="8" name="Text 5"/>
          <p:cNvSpPr/>
          <p:nvPr/>
        </p:nvSpPr>
        <p:spPr>
          <a:xfrm>
            <a:off x="1143000" y="6107683"/>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log₂ Pᵢ</a:t>
            </a:r>
            <a:endParaRPr lang="en-US" sz="1950" dirty="0"/>
          </a:p>
        </p:txBody>
      </p:sp>
      <p:sp>
        <p:nvSpPr>
          <p:cNvPr id="9" name="Text 6"/>
          <p:cNvSpPr/>
          <p:nvPr/>
        </p:nvSpPr>
        <p:spPr>
          <a:xfrm>
            <a:off x="4343400" y="6107683"/>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Probabilities are below 1, so their logs are negative — the rarer the event, the more negative.</a:t>
            </a:r>
            <a:endParaRPr lang="en-US" sz="1950" dirty="0"/>
          </a:p>
        </p:txBody>
      </p:sp>
      <p:sp>
        <p:nvSpPr>
          <p:cNvPr id="10" name="Text 7"/>
          <p:cNvSpPr/>
          <p:nvPr/>
        </p:nvSpPr>
        <p:spPr>
          <a:xfrm>
            <a:off x="1143000" y="6814021"/>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The minus sign</a:t>
            </a:r>
            <a:endParaRPr lang="en-US" sz="1950" dirty="0"/>
          </a:p>
        </p:txBody>
      </p:sp>
      <p:sp>
        <p:nvSpPr>
          <p:cNvPr id="11" name="Text 8"/>
          <p:cNvSpPr/>
          <p:nvPr/>
        </p:nvSpPr>
        <p:spPr>
          <a:xfrm>
            <a:off x="4343400" y="6814021"/>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Flips those negatives back to positive, so surprise is a positive quantity.</a:t>
            </a:r>
            <a:endParaRPr lang="en-US" sz="1950" dirty="0"/>
          </a:p>
        </p:txBody>
      </p:sp>
      <p:sp>
        <p:nvSpPr>
          <p:cNvPr id="12" name="Text 9"/>
          <p:cNvSpPr/>
          <p:nvPr/>
        </p:nvSpPr>
        <p:spPr>
          <a:xfrm>
            <a:off x="1143000" y="7520360"/>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 Pᵢ, then Σ</a:t>
            </a:r>
            <a:endParaRPr lang="en-US" sz="1950" dirty="0"/>
          </a:p>
        </p:txBody>
      </p:sp>
      <p:sp>
        <p:nvSpPr>
          <p:cNvPr id="13" name="Text 10"/>
          <p:cNvSpPr/>
          <p:nvPr/>
        </p:nvSpPr>
        <p:spPr>
          <a:xfrm>
            <a:off x="4343400" y="7520360"/>
            <a:ext cx="12008358" cy="531837"/>
          </a:xfrm>
          <a:prstGeom prst="rect">
            <a:avLst/>
          </a:prstGeom>
          <a:noFill/>
          <a:ln/>
        </p:spPr>
        <p:txBody>
          <a:bodyPr wrap="square" lIns="25400" tIns="25400" rIns="25400" bIns="25400" rtlCol="0" anchor="t">
            <a:normAutofit fontScale="925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Weight each surprise by how often it happens, and add up. Common events count more towards the average.</a:t>
            </a:r>
            <a:endParaRPr lang="en-US" sz="1950" dirty="0"/>
          </a:p>
        </p:txBody>
      </p:sp>
      <p:sp>
        <p:nvSpPr>
          <p:cNvPr id="14" name="Text 11"/>
          <p:cNvSpPr/>
          <p:nvPr/>
        </p:nvSpPr>
        <p:spPr>
          <a:xfrm>
            <a:off x="1143000" y="8396585"/>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Units</a:t>
            </a:r>
            <a:endParaRPr lang="en-US" sz="1950" dirty="0"/>
          </a:p>
        </p:txBody>
      </p:sp>
      <p:sp>
        <p:nvSpPr>
          <p:cNvPr id="15" name="Text 12"/>
          <p:cNvSpPr/>
          <p:nvPr/>
        </p:nvSpPr>
        <p:spPr>
          <a:xfrm>
            <a:off x="4343400" y="8396585"/>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Bits. One bit is a fair coin flip; 100,000 tokens picked uniformly is about 16.6 bits.</a:t>
            </a:r>
            <a:endParaRPr lang="en-US" sz="1950" dirty="0"/>
          </a:p>
        </p:txBody>
      </p:sp>
      <p:pic>
        <p:nvPicPr>
          <p:cNvPr id="16" name="Image 1" descr="preencoded.png"/>
          <p:cNvPicPr>
            <a:picLocks noChangeAspect="1"/>
          </p:cNvPicPr>
          <p:nvPr/>
        </p:nvPicPr>
        <p:blipFill>
          <a:blip r:embed="rId4"/>
          <a:stretch>
            <a:fillRect/>
          </a:stretch>
        </p:blipFill>
        <p:spPr>
          <a:xfrm>
            <a:off x="1143000" y="8987210"/>
            <a:ext cx="5826398" cy="15679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0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11 · INFORMATION THEORY</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Cross-entropy and perplexity</a:t>
            </a:r>
            <a:endParaRPr lang="en-US" sz="4800" dirty="0"/>
          </a:p>
        </p:txBody>
      </p:sp>
      <p:sp>
        <p:nvSpPr>
          <p:cNvPr id="4" name="Shape 2"/>
          <p:cNvSpPr/>
          <p:nvPr/>
        </p:nvSpPr>
        <p:spPr>
          <a:xfrm>
            <a:off x="1143000" y="3190875"/>
            <a:ext cx="77724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Cross-entropy loss</a:t>
            </a:r>
            <a:endParaRPr lang="en-US" sz="2550" dirty="0"/>
          </a:p>
        </p:txBody>
      </p:sp>
      <p:sp>
        <p:nvSpPr>
          <p:cNvPr id="6" name="Text 4"/>
          <p:cNvSpPr/>
          <p:nvPr/>
        </p:nvSpPr>
        <p:spPr>
          <a:xfrm>
            <a:off x="1143000" y="3931741"/>
            <a:ext cx="8005572"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How surprised the model was by the token that actually came next. High probability on the true token means small loss. This is the loss function that trains every language model.</a:t>
            </a:r>
            <a:endParaRPr lang="en-US" sz="2100" dirty="0"/>
          </a:p>
        </p:txBody>
      </p:sp>
      <p:sp>
        <p:nvSpPr>
          <p:cNvPr id="7" name="Shape 5"/>
          <p:cNvSpPr/>
          <p:nvPr/>
        </p:nvSpPr>
        <p:spPr>
          <a:xfrm>
            <a:off x="9372600" y="3190875"/>
            <a:ext cx="7772400" cy="19050"/>
          </a:xfrm>
          <a:prstGeom prst="rect">
            <a:avLst/>
          </a:prstGeom>
          <a:solidFill>
            <a:srgbClr val="201E1E">
              <a:alpha val="40000"/>
            </a:srgbClr>
          </a:solidFill>
          <a:ln/>
        </p:spPr>
        <p:txBody>
          <a:bodyPr/>
          <a:lstStyle/>
          <a:p>
            <a:endParaRPr lang="en-US"/>
          </a:p>
        </p:txBody>
      </p:sp>
      <p:sp>
        <p:nvSpPr>
          <p:cNvPr id="8" name="Text 6"/>
          <p:cNvSpPr/>
          <p:nvPr/>
        </p:nvSpPr>
        <p:spPr>
          <a:xfrm>
            <a:off x="9372600" y="3425577"/>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Perplexity</a:t>
            </a:r>
            <a:endParaRPr lang="en-US" sz="2550" dirty="0"/>
          </a:p>
        </p:txBody>
      </p:sp>
      <p:sp>
        <p:nvSpPr>
          <p:cNvPr id="9" name="Text 7"/>
          <p:cNvSpPr/>
          <p:nvPr/>
        </p:nvSpPr>
        <p:spPr>
          <a:xfrm>
            <a:off x="9372600" y="3931741"/>
            <a:ext cx="8005572"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 raised to the cross-entropy — the same number, made readable. A perplexity of 20 means the model was effectively choosing between 20 equally likely options at each step.</a:t>
            </a:r>
            <a:endParaRPr lang="en-US" sz="2100" dirty="0"/>
          </a:p>
        </p:txBody>
      </p:sp>
      <p:sp>
        <p:nvSpPr>
          <p:cNvPr id="10" name="Shape 8"/>
          <p:cNvSpPr/>
          <p:nvPr/>
        </p:nvSpPr>
        <p:spPr>
          <a:xfrm>
            <a:off x="1143000" y="6262836"/>
            <a:ext cx="2482825" cy="19050"/>
          </a:xfrm>
          <a:prstGeom prst="rect">
            <a:avLst/>
          </a:prstGeom>
          <a:solidFill>
            <a:srgbClr val="201E1E">
              <a:alpha val="40000"/>
            </a:srgbClr>
          </a:solidFill>
          <a:ln/>
        </p:spPr>
        <p:txBody>
          <a:bodyPr/>
          <a:lstStyle/>
          <a:p>
            <a:endParaRPr lang="en-US"/>
          </a:p>
        </p:txBody>
      </p:sp>
      <p:sp>
        <p:nvSpPr>
          <p:cNvPr id="11" name="Text 9"/>
          <p:cNvSpPr/>
          <p:nvPr/>
        </p:nvSpPr>
        <p:spPr>
          <a:xfrm>
            <a:off x="1143000" y="5916516"/>
            <a:ext cx="2330425"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PERPLEXITY</a:t>
            </a:r>
            <a:endParaRPr lang="en-US" sz="1800" dirty="0"/>
          </a:p>
        </p:txBody>
      </p:sp>
      <p:sp>
        <p:nvSpPr>
          <p:cNvPr id="12" name="Shape 10"/>
          <p:cNvSpPr/>
          <p:nvPr/>
        </p:nvSpPr>
        <p:spPr>
          <a:xfrm>
            <a:off x="3625825" y="6262836"/>
            <a:ext cx="6797278" cy="19050"/>
          </a:xfrm>
          <a:prstGeom prst="rect">
            <a:avLst/>
          </a:prstGeom>
          <a:solidFill>
            <a:srgbClr val="201E1E">
              <a:alpha val="40000"/>
            </a:srgbClr>
          </a:solidFill>
          <a:ln/>
        </p:spPr>
        <p:txBody>
          <a:bodyPr/>
          <a:lstStyle/>
          <a:p>
            <a:endParaRPr lang="en-US"/>
          </a:p>
        </p:txBody>
      </p:sp>
      <p:sp>
        <p:nvSpPr>
          <p:cNvPr id="13" name="Text 11"/>
          <p:cNvSpPr/>
          <p:nvPr/>
        </p:nvSpPr>
        <p:spPr>
          <a:xfrm>
            <a:off x="3854425" y="5916516"/>
            <a:ext cx="6543996"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EFFECTIVELY CHOOSING BETWEEN</a:t>
            </a:r>
            <a:endParaRPr lang="en-US" sz="1800" dirty="0"/>
          </a:p>
        </p:txBody>
      </p:sp>
      <p:sp>
        <p:nvSpPr>
          <p:cNvPr id="14" name="Shape 12"/>
          <p:cNvSpPr/>
          <p:nvPr/>
        </p:nvSpPr>
        <p:spPr>
          <a:xfrm>
            <a:off x="10423103" y="6262836"/>
            <a:ext cx="5578897" cy="19050"/>
          </a:xfrm>
          <a:prstGeom prst="rect">
            <a:avLst/>
          </a:prstGeom>
          <a:solidFill>
            <a:srgbClr val="201E1E">
              <a:alpha val="40000"/>
            </a:srgbClr>
          </a:solidFill>
          <a:ln/>
        </p:spPr>
        <p:txBody>
          <a:bodyPr/>
          <a:lstStyle/>
          <a:p>
            <a:endParaRPr lang="en-US"/>
          </a:p>
        </p:txBody>
      </p:sp>
      <p:sp>
        <p:nvSpPr>
          <p:cNvPr id="15" name="Text 13"/>
          <p:cNvSpPr/>
          <p:nvPr/>
        </p:nvSpPr>
        <p:spPr>
          <a:xfrm>
            <a:off x="10651703" y="5916516"/>
            <a:ext cx="5517664"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READS AS</a:t>
            </a:r>
            <a:endParaRPr lang="en-US" sz="1800" dirty="0"/>
          </a:p>
        </p:txBody>
      </p:sp>
      <p:sp>
        <p:nvSpPr>
          <p:cNvPr id="16" name="Shape 14"/>
          <p:cNvSpPr/>
          <p:nvPr/>
        </p:nvSpPr>
        <p:spPr>
          <a:xfrm>
            <a:off x="1143000" y="6843936"/>
            <a:ext cx="2482825" cy="9525"/>
          </a:xfrm>
          <a:prstGeom prst="rect">
            <a:avLst/>
          </a:prstGeom>
          <a:solidFill>
            <a:srgbClr val="201E1E">
              <a:alpha val="40000"/>
            </a:srgbClr>
          </a:solidFill>
          <a:ln/>
        </p:spPr>
        <p:txBody>
          <a:bodyPr/>
          <a:lstStyle/>
          <a:p>
            <a:endParaRPr lang="en-US"/>
          </a:p>
        </p:txBody>
      </p:sp>
      <p:sp>
        <p:nvSpPr>
          <p:cNvPr id="17" name="Text 15"/>
          <p:cNvSpPr/>
          <p:nvPr/>
        </p:nvSpPr>
        <p:spPr>
          <a:xfrm>
            <a:off x="1143000" y="6478911"/>
            <a:ext cx="2330425"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a:t>
            </a:r>
            <a:endParaRPr lang="en-US" sz="1875" dirty="0"/>
          </a:p>
        </p:txBody>
      </p:sp>
      <p:sp>
        <p:nvSpPr>
          <p:cNvPr id="18" name="Shape 16"/>
          <p:cNvSpPr/>
          <p:nvPr/>
        </p:nvSpPr>
        <p:spPr>
          <a:xfrm>
            <a:off x="3625825" y="6843936"/>
            <a:ext cx="6797278" cy="9525"/>
          </a:xfrm>
          <a:prstGeom prst="rect">
            <a:avLst/>
          </a:prstGeom>
          <a:solidFill>
            <a:srgbClr val="201E1E">
              <a:alpha val="40000"/>
            </a:srgbClr>
          </a:solidFill>
          <a:ln/>
        </p:spPr>
        <p:txBody>
          <a:bodyPr/>
          <a:lstStyle/>
          <a:p>
            <a:endParaRPr lang="en-US"/>
          </a:p>
        </p:txBody>
      </p:sp>
      <p:sp>
        <p:nvSpPr>
          <p:cNvPr id="19" name="Text 17"/>
          <p:cNvSpPr/>
          <p:nvPr/>
        </p:nvSpPr>
        <p:spPr>
          <a:xfrm>
            <a:off x="3854425" y="6478911"/>
            <a:ext cx="6543996"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 option</a:t>
            </a:r>
            <a:endParaRPr lang="en-US" sz="1875" dirty="0"/>
          </a:p>
        </p:txBody>
      </p:sp>
      <p:sp>
        <p:nvSpPr>
          <p:cNvPr id="20" name="Shape 18"/>
          <p:cNvSpPr/>
          <p:nvPr/>
        </p:nvSpPr>
        <p:spPr>
          <a:xfrm>
            <a:off x="10423103" y="6843936"/>
            <a:ext cx="5578897" cy="9525"/>
          </a:xfrm>
          <a:prstGeom prst="rect">
            <a:avLst/>
          </a:prstGeom>
          <a:solidFill>
            <a:srgbClr val="201E1E">
              <a:alpha val="40000"/>
            </a:srgbClr>
          </a:solidFill>
          <a:ln/>
        </p:spPr>
        <p:txBody>
          <a:bodyPr/>
          <a:lstStyle/>
          <a:p>
            <a:endParaRPr lang="en-US"/>
          </a:p>
        </p:txBody>
      </p:sp>
      <p:sp>
        <p:nvSpPr>
          <p:cNvPr id="21" name="Text 19"/>
          <p:cNvSpPr/>
          <p:nvPr/>
        </p:nvSpPr>
        <p:spPr>
          <a:xfrm>
            <a:off x="10651703" y="6478911"/>
            <a:ext cx="5517664"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Perfect prediction — memorised</a:t>
            </a:r>
            <a:endParaRPr lang="en-US" sz="1875" dirty="0"/>
          </a:p>
        </p:txBody>
      </p:sp>
      <p:sp>
        <p:nvSpPr>
          <p:cNvPr id="22" name="Shape 20"/>
          <p:cNvSpPr/>
          <p:nvPr/>
        </p:nvSpPr>
        <p:spPr>
          <a:xfrm>
            <a:off x="1143000" y="7410748"/>
            <a:ext cx="2482825" cy="9525"/>
          </a:xfrm>
          <a:prstGeom prst="rect">
            <a:avLst/>
          </a:prstGeom>
          <a:solidFill>
            <a:srgbClr val="201E1E">
              <a:alpha val="40000"/>
            </a:srgbClr>
          </a:solidFill>
          <a:ln/>
        </p:spPr>
        <p:txBody>
          <a:bodyPr/>
          <a:lstStyle/>
          <a:p>
            <a:endParaRPr lang="en-US"/>
          </a:p>
        </p:txBody>
      </p:sp>
      <p:sp>
        <p:nvSpPr>
          <p:cNvPr id="23" name="Text 21"/>
          <p:cNvSpPr/>
          <p:nvPr/>
        </p:nvSpPr>
        <p:spPr>
          <a:xfrm>
            <a:off x="1143000" y="7050485"/>
            <a:ext cx="2330425"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10</a:t>
            </a:r>
            <a:endParaRPr lang="en-US" sz="1875" dirty="0"/>
          </a:p>
        </p:txBody>
      </p:sp>
      <p:sp>
        <p:nvSpPr>
          <p:cNvPr id="24" name="Shape 22"/>
          <p:cNvSpPr/>
          <p:nvPr/>
        </p:nvSpPr>
        <p:spPr>
          <a:xfrm>
            <a:off x="3625825" y="7410748"/>
            <a:ext cx="6797278" cy="9525"/>
          </a:xfrm>
          <a:prstGeom prst="rect">
            <a:avLst/>
          </a:prstGeom>
          <a:solidFill>
            <a:srgbClr val="201E1E">
              <a:alpha val="40000"/>
            </a:srgbClr>
          </a:solidFill>
          <a:ln/>
        </p:spPr>
        <p:txBody>
          <a:bodyPr/>
          <a:lstStyle/>
          <a:p>
            <a:endParaRPr lang="en-US"/>
          </a:p>
        </p:txBody>
      </p:sp>
      <p:sp>
        <p:nvSpPr>
          <p:cNvPr id="25" name="Text 23"/>
          <p:cNvSpPr/>
          <p:nvPr/>
        </p:nvSpPr>
        <p:spPr>
          <a:xfrm>
            <a:off x="3854425" y="7050485"/>
            <a:ext cx="654399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10 options</a:t>
            </a:r>
            <a:endParaRPr lang="en-US" sz="1875" dirty="0"/>
          </a:p>
        </p:txBody>
      </p:sp>
      <p:sp>
        <p:nvSpPr>
          <p:cNvPr id="26" name="Shape 24"/>
          <p:cNvSpPr/>
          <p:nvPr/>
        </p:nvSpPr>
        <p:spPr>
          <a:xfrm>
            <a:off x="10423103" y="7410748"/>
            <a:ext cx="5578897" cy="9525"/>
          </a:xfrm>
          <a:prstGeom prst="rect">
            <a:avLst/>
          </a:prstGeom>
          <a:solidFill>
            <a:srgbClr val="201E1E">
              <a:alpha val="40000"/>
            </a:srgbClr>
          </a:solidFill>
          <a:ln/>
        </p:spPr>
        <p:txBody>
          <a:bodyPr/>
          <a:lstStyle/>
          <a:p>
            <a:endParaRPr lang="en-US"/>
          </a:p>
        </p:txBody>
      </p:sp>
      <p:sp>
        <p:nvSpPr>
          <p:cNvPr id="27" name="Text 25"/>
          <p:cNvSpPr/>
          <p:nvPr/>
        </p:nvSpPr>
        <p:spPr>
          <a:xfrm>
            <a:off x="10651703" y="7050485"/>
            <a:ext cx="5517664"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Strong modern model on familiar text</a:t>
            </a:r>
            <a:endParaRPr lang="en-US" sz="1875" dirty="0"/>
          </a:p>
        </p:txBody>
      </p:sp>
      <p:sp>
        <p:nvSpPr>
          <p:cNvPr id="28" name="Shape 26"/>
          <p:cNvSpPr/>
          <p:nvPr/>
        </p:nvSpPr>
        <p:spPr>
          <a:xfrm>
            <a:off x="1143000" y="7977560"/>
            <a:ext cx="2482825" cy="9525"/>
          </a:xfrm>
          <a:prstGeom prst="rect">
            <a:avLst/>
          </a:prstGeom>
          <a:solidFill>
            <a:srgbClr val="201E1E">
              <a:alpha val="40000"/>
            </a:srgbClr>
          </a:solidFill>
          <a:ln/>
        </p:spPr>
        <p:txBody>
          <a:bodyPr/>
          <a:lstStyle/>
          <a:p>
            <a:endParaRPr lang="en-US"/>
          </a:p>
        </p:txBody>
      </p:sp>
      <p:sp>
        <p:nvSpPr>
          <p:cNvPr id="29" name="Text 27"/>
          <p:cNvSpPr/>
          <p:nvPr/>
        </p:nvSpPr>
        <p:spPr>
          <a:xfrm>
            <a:off x="1143000" y="7617297"/>
            <a:ext cx="2330425"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100</a:t>
            </a:r>
            <a:endParaRPr lang="en-US" sz="1875" dirty="0"/>
          </a:p>
        </p:txBody>
      </p:sp>
      <p:sp>
        <p:nvSpPr>
          <p:cNvPr id="30" name="Shape 28"/>
          <p:cNvSpPr/>
          <p:nvPr/>
        </p:nvSpPr>
        <p:spPr>
          <a:xfrm>
            <a:off x="3625825" y="7977560"/>
            <a:ext cx="6797278" cy="9525"/>
          </a:xfrm>
          <a:prstGeom prst="rect">
            <a:avLst/>
          </a:prstGeom>
          <a:solidFill>
            <a:srgbClr val="201E1E">
              <a:alpha val="40000"/>
            </a:srgbClr>
          </a:solidFill>
          <a:ln/>
        </p:spPr>
        <p:txBody>
          <a:bodyPr/>
          <a:lstStyle/>
          <a:p>
            <a:endParaRPr lang="en-US"/>
          </a:p>
        </p:txBody>
      </p:sp>
      <p:sp>
        <p:nvSpPr>
          <p:cNvPr id="31" name="Text 29"/>
          <p:cNvSpPr/>
          <p:nvPr/>
        </p:nvSpPr>
        <p:spPr>
          <a:xfrm>
            <a:off x="3854425" y="7617297"/>
            <a:ext cx="6543996"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100 options</a:t>
            </a:r>
            <a:endParaRPr lang="en-US" sz="1875" dirty="0"/>
          </a:p>
        </p:txBody>
      </p:sp>
      <p:sp>
        <p:nvSpPr>
          <p:cNvPr id="32" name="Shape 30"/>
          <p:cNvSpPr/>
          <p:nvPr/>
        </p:nvSpPr>
        <p:spPr>
          <a:xfrm>
            <a:off x="10423103" y="7977560"/>
            <a:ext cx="5578897" cy="9525"/>
          </a:xfrm>
          <a:prstGeom prst="rect">
            <a:avLst/>
          </a:prstGeom>
          <a:solidFill>
            <a:srgbClr val="201E1E">
              <a:alpha val="40000"/>
            </a:srgbClr>
          </a:solidFill>
          <a:ln/>
        </p:spPr>
        <p:txBody>
          <a:bodyPr/>
          <a:lstStyle/>
          <a:p>
            <a:endParaRPr lang="en-US"/>
          </a:p>
        </p:txBody>
      </p:sp>
      <p:sp>
        <p:nvSpPr>
          <p:cNvPr id="33" name="Text 31"/>
          <p:cNvSpPr/>
          <p:nvPr/>
        </p:nvSpPr>
        <p:spPr>
          <a:xfrm>
            <a:off x="10651703" y="7617297"/>
            <a:ext cx="5517664"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Weak model, or unfamiliar domain</a:t>
            </a:r>
            <a:endParaRPr lang="en-US" sz="1875" dirty="0"/>
          </a:p>
        </p:txBody>
      </p:sp>
      <p:sp>
        <p:nvSpPr>
          <p:cNvPr id="34" name="Text 32"/>
          <p:cNvSpPr/>
          <p:nvPr/>
        </p:nvSpPr>
        <p:spPr>
          <a:xfrm>
            <a:off x="1143000" y="8292182"/>
            <a:ext cx="17602200" cy="194890"/>
          </a:xfrm>
          <a:prstGeom prst="rect">
            <a:avLst/>
          </a:prstGeom>
          <a:noFill/>
          <a:ln/>
        </p:spPr>
        <p:txBody>
          <a:bodyPr wrap="square" lIns="25400" tIns="25400" rIns="25400" bIns="25400" rtlCol="0" anchor="t">
            <a:normAutofit fontScale="32500" lnSpcReduction="20000"/>
          </a:bodyPr>
          <a:lstStyle/>
          <a:p>
            <a:pPr marL="0" indent="0" algn="l">
              <a:lnSpc>
                <a:spcPct val="174545"/>
              </a:lnSpc>
              <a:buNone/>
            </a:pPr>
            <a:r>
              <a:rPr lang="en-US" sz="1800" dirty="0">
                <a:solidFill>
                  <a:srgbClr val="211D1D">
                    <a:alpha val="55000"/>
                  </a:srgbClr>
                </a:solidFill>
                <a:latin typeface="Arial" pitchFamily="34" charset="0"/>
                <a:ea typeface="Arial" pitchFamily="34" charset="-122"/>
                <a:cs typeface="Arial" pitchFamily="34" charset="-120"/>
              </a:rPr>
              <a:t>Perplexity is only comparable between models that share a tokenizer — two different vocabularies cannot be placed on the same axis.</a:t>
            </a:r>
            <a:endParaRPr lang="en-US" sz="1800" dirty="0"/>
          </a:p>
        </p:txBody>
      </p:sp>
      <p:pic>
        <p:nvPicPr>
          <p:cNvPr id="35"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09">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12 · NUMERICAL STABILITY</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Why softmax subtracts the maximum first</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e^800 is not a large number — it is infinity, as far as a 32-bit float is concerned. So every real implementation subtracts the largest logit before exponentiating.</a:t>
            </a:r>
            <a:endParaRPr lang="en-US" sz="2100" dirty="0"/>
          </a:p>
        </p:txBody>
      </p:sp>
      <p:sp>
        <p:nvSpPr>
          <p:cNvPr id="5" name="Shape 3"/>
          <p:cNvSpPr/>
          <p:nvPr/>
        </p:nvSpPr>
        <p:spPr>
          <a:xfrm>
            <a:off x="1143000" y="5766271"/>
            <a:ext cx="16002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4229100"/>
            <a:ext cx="16002000" cy="19050"/>
          </a:xfrm>
          <a:prstGeom prst="rect">
            <a:avLst/>
          </a:prstGeom>
          <a:solidFill>
            <a:srgbClr val="201E1E">
              <a:alpha val="40000"/>
            </a:srgbClr>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43000" y="4591050"/>
            <a:ext cx="16002000" cy="832321"/>
          </a:xfrm>
          <a:prstGeom prst="rect">
            <a:avLst/>
          </a:prstGeom>
        </p:spPr>
      </p:pic>
      <p:sp>
        <p:nvSpPr>
          <p:cNvPr id="8" name="Text 5"/>
          <p:cNvSpPr/>
          <p:nvPr/>
        </p:nvSpPr>
        <p:spPr>
          <a:xfrm>
            <a:off x="1143000" y="5920160"/>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Why it is safe</a:t>
            </a:r>
            <a:endParaRPr lang="en-US" sz="1950" dirty="0"/>
          </a:p>
        </p:txBody>
      </p:sp>
      <p:sp>
        <p:nvSpPr>
          <p:cNvPr id="9" name="Text 6"/>
          <p:cNvSpPr/>
          <p:nvPr/>
        </p:nvSpPr>
        <p:spPr>
          <a:xfrm>
            <a:off x="4343400" y="5920160"/>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Subtracting the same constant from every logit multiplies top and bottom by the same factor. The result is mathematically identical.</a:t>
            </a:r>
            <a:endParaRPr lang="en-US" sz="1950" dirty="0"/>
          </a:p>
        </p:txBody>
      </p:sp>
      <p:sp>
        <p:nvSpPr>
          <p:cNvPr id="10" name="Text 7"/>
          <p:cNvSpPr/>
          <p:nvPr/>
        </p:nvSpPr>
        <p:spPr>
          <a:xfrm>
            <a:off x="1143000" y="6796385"/>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Why it is necessary</a:t>
            </a:r>
            <a:endParaRPr lang="en-US" sz="1950" dirty="0"/>
          </a:p>
        </p:txBody>
      </p:sp>
      <p:sp>
        <p:nvSpPr>
          <p:cNvPr id="11" name="Text 8"/>
          <p:cNvSpPr/>
          <p:nvPr/>
        </p:nvSpPr>
        <p:spPr>
          <a:xfrm>
            <a:off x="4343400" y="6796385"/>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After subtraction the largest exponent is e⁰ = 1, so nothing can overflow. The smallest terms may underflow to zero, which is harmless.</a:t>
            </a:r>
            <a:endParaRPr lang="en-US" sz="1950" dirty="0"/>
          </a:p>
        </p:txBody>
      </p:sp>
      <p:sp>
        <p:nvSpPr>
          <p:cNvPr id="12" name="Text 9"/>
          <p:cNvSpPr/>
          <p:nvPr/>
        </p:nvSpPr>
        <p:spPr>
          <a:xfrm>
            <a:off x="1143000" y="7672611"/>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The general lesson</a:t>
            </a:r>
            <a:endParaRPr lang="en-US" sz="1950" dirty="0"/>
          </a:p>
        </p:txBody>
      </p:sp>
      <p:sp>
        <p:nvSpPr>
          <p:cNvPr id="13" name="Text 10"/>
          <p:cNvSpPr/>
          <p:nvPr/>
        </p:nvSpPr>
        <p:spPr>
          <a:xfrm>
            <a:off x="4343400" y="7672611"/>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Mathematically equivalent formulas are not equivalent in floating point. Library implementations exist because of exactly this kind of detail.</a:t>
            </a:r>
            <a:endParaRPr lang="en-US" sz="1950" dirty="0"/>
          </a:p>
        </p:txBody>
      </p:sp>
      <p:pic>
        <p:nvPicPr>
          <p:cNvPr id="14" name="Image 1" descr="preencoded.png"/>
          <p:cNvPicPr>
            <a:picLocks noChangeAspect="1"/>
          </p:cNvPicPr>
          <p:nvPr/>
        </p:nvPicPr>
        <p:blipFill>
          <a:blip r:embed="rId4"/>
          <a:stretch>
            <a:fillRect/>
          </a:stretch>
        </p:blipFill>
        <p:spPr>
          <a:xfrm>
            <a:off x="1143000" y="8987210"/>
            <a:ext cx="5826398" cy="15679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12 · NUMERICAL STABILITY</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How many bits per number</a:t>
            </a:r>
            <a:endParaRPr lang="en-US" sz="4800" dirty="0"/>
          </a:p>
        </p:txBody>
      </p:sp>
      <p:sp>
        <p:nvSpPr>
          <p:cNvPr id="4" name="Shape 2"/>
          <p:cNvSpPr/>
          <p:nvPr/>
        </p:nvSpPr>
        <p:spPr>
          <a:xfrm>
            <a:off x="1143000" y="3519711"/>
            <a:ext cx="1773734" cy="19050"/>
          </a:xfrm>
          <a:prstGeom prst="rect">
            <a:avLst/>
          </a:prstGeom>
          <a:solidFill>
            <a:srgbClr val="201E1E">
              <a:alpha val="40000"/>
            </a:srgbClr>
          </a:solidFill>
          <a:ln/>
        </p:spPr>
        <p:txBody>
          <a:bodyPr/>
          <a:lstStyle/>
          <a:p>
            <a:endParaRPr lang="en-US"/>
          </a:p>
        </p:txBody>
      </p:sp>
      <p:sp>
        <p:nvSpPr>
          <p:cNvPr id="5" name="Text 3"/>
          <p:cNvSpPr/>
          <p:nvPr/>
        </p:nvSpPr>
        <p:spPr>
          <a:xfrm>
            <a:off x="1143000" y="3173390"/>
            <a:ext cx="1621334"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FORMAT</a:t>
            </a:r>
            <a:endParaRPr lang="en-US" sz="1800" dirty="0"/>
          </a:p>
        </p:txBody>
      </p:sp>
      <p:sp>
        <p:nvSpPr>
          <p:cNvPr id="6" name="Shape 4"/>
          <p:cNvSpPr/>
          <p:nvPr/>
        </p:nvSpPr>
        <p:spPr>
          <a:xfrm>
            <a:off x="2916734" y="3519711"/>
            <a:ext cx="1431875" cy="19050"/>
          </a:xfrm>
          <a:prstGeom prst="rect">
            <a:avLst/>
          </a:prstGeom>
          <a:solidFill>
            <a:srgbClr val="201E1E">
              <a:alpha val="40000"/>
            </a:srgbClr>
          </a:solidFill>
          <a:ln/>
        </p:spPr>
        <p:txBody>
          <a:bodyPr/>
          <a:lstStyle/>
          <a:p>
            <a:endParaRPr lang="en-US"/>
          </a:p>
        </p:txBody>
      </p:sp>
      <p:sp>
        <p:nvSpPr>
          <p:cNvPr id="7" name="Text 5"/>
          <p:cNvSpPr/>
          <p:nvPr/>
        </p:nvSpPr>
        <p:spPr>
          <a:xfrm>
            <a:off x="3145334" y="3173390"/>
            <a:ext cx="1050875"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BITS</a:t>
            </a:r>
            <a:endParaRPr lang="en-US" sz="1800" dirty="0"/>
          </a:p>
        </p:txBody>
      </p:sp>
      <p:sp>
        <p:nvSpPr>
          <p:cNvPr id="8" name="Shape 6"/>
          <p:cNvSpPr/>
          <p:nvPr/>
        </p:nvSpPr>
        <p:spPr>
          <a:xfrm>
            <a:off x="4348609" y="3519711"/>
            <a:ext cx="4374952" cy="19050"/>
          </a:xfrm>
          <a:prstGeom prst="rect">
            <a:avLst/>
          </a:prstGeom>
          <a:solidFill>
            <a:srgbClr val="201E1E">
              <a:alpha val="40000"/>
            </a:srgbClr>
          </a:solidFill>
          <a:ln/>
        </p:spPr>
        <p:txBody>
          <a:bodyPr/>
          <a:lstStyle/>
          <a:p>
            <a:endParaRPr lang="en-US"/>
          </a:p>
        </p:txBody>
      </p:sp>
      <p:sp>
        <p:nvSpPr>
          <p:cNvPr id="9" name="Text 7"/>
          <p:cNvSpPr/>
          <p:nvPr/>
        </p:nvSpPr>
        <p:spPr>
          <a:xfrm>
            <a:off x="4577209" y="3173390"/>
            <a:ext cx="4049000"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70B MODEL WEIGHTS</a:t>
            </a:r>
            <a:endParaRPr lang="en-US" sz="1800" dirty="0"/>
          </a:p>
        </p:txBody>
      </p:sp>
      <p:sp>
        <p:nvSpPr>
          <p:cNvPr id="10" name="Shape 8"/>
          <p:cNvSpPr/>
          <p:nvPr/>
        </p:nvSpPr>
        <p:spPr>
          <a:xfrm>
            <a:off x="8723561" y="3519711"/>
            <a:ext cx="7278439" cy="19050"/>
          </a:xfrm>
          <a:prstGeom prst="rect">
            <a:avLst/>
          </a:prstGeom>
          <a:solidFill>
            <a:srgbClr val="201E1E">
              <a:alpha val="40000"/>
            </a:srgbClr>
          </a:solidFill>
          <a:ln/>
        </p:spPr>
        <p:txBody>
          <a:bodyPr/>
          <a:lstStyle/>
          <a:p>
            <a:endParaRPr lang="en-US"/>
          </a:p>
        </p:txBody>
      </p:sp>
      <p:sp>
        <p:nvSpPr>
          <p:cNvPr id="11" name="Text 9"/>
          <p:cNvSpPr/>
          <p:nvPr/>
        </p:nvSpPr>
        <p:spPr>
          <a:xfrm>
            <a:off x="8952161" y="3173390"/>
            <a:ext cx="7268193" cy="1923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TRADE-OFF</a:t>
            </a:r>
            <a:endParaRPr lang="en-US" sz="1800" dirty="0"/>
          </a:p>
        </p:txBody>
      </p:sp>
      <p:sp>
        <p:nvSpPr>
          <p:cNvPr id="12" name="Shape 10"/>
          <p:cNvSpPr/>
          <p:nvPr/>
        </p:nvSpPr>
        <p:spPr>
          <a:xfrm>
            <a:off x="1143000" y="4100810"/>
            <a:ext cx="1773734" cy="9525"/>
          </a:xfrm>
          <a:prstGeom prst="rect">
            <a:avLst/>
          </a:prstGeom>
          <a:solidFill>
            <a:srgbClr val="201E1E">
              <a:alpha val="40000"/>
            </a:srgbClr>
          </a:solidFill>
          <a:ln/>
        </p:spPr>
        <p:txBody>
          <a:bodyPr/>
          <a:lstStyle/>
          <a:p>
            <a:endParaRPr lang="en-US"/>
          </a:p>
        </p:txBody>
      </p:sp>
      <p:sp>
        <p:nvSpPr>
          <p:cNvPr id="13" name="Text 11"/>
          <p:cNvSpPr/>
          <p:nvPr/>
        </p:nvSpPr>
        <p:spPr>
          <a:xfrm>
            <a:off x="1143000" y="3735785"/>
            <a:ext cx="1621334"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float32</a:t>
            </a:r>
            <a:endParaRPr lang="en-US" sz="1875" dirty="0"/>
          </a:p>
        </p:txBody>
      </p:sp>
      <p:sp>
        <p:nvSpPr>
          <p:cNvPr id="14" name="Shape 12"/>
          <p:cNvSpPr/>
          <p:nvPr/>
        </p:nvSpPr>
        <p:spPr>
          <a:xfrm>
            <a:off x="2916734" y="4100810"/>
            <a:ext cx="1431875" cy="9525"/>
          </a:xfrm>
          <a:prstGeom prst="rect">
            <a:avLst/>
          </a:prstGeom>
          <a:solidFill>
            <a:srgbClr val="201E1E">
              <a:alpha val="40000"/>
            </a:srgbClr>
          </a:solidFill>
          <a:ln/>
        </p:spPr>
        <p:txBody>
          <a:bodyPr/>
          <a:lstStyle/>
          <a:p>
            <a:endParaRPr lang="en-US"/>
          </a:p>
        </p:txBody>
      </p:sp>
      <p:sp>
        <p:nvSpPr>
          <p:cNvPr id="15" name="Text 13"/>
          <p:cNvSpPr/>
          <p:nvPr/>
        </p:nvSpPr>
        <p:spPr>
          <a:xfrm>
            <a:off x="3145334" y="3735785"/>
            <a:ext cx="1050875"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32</a:t>
            </a:r>
            <a:endParaRPr lang="en-US" sz="1875" dirty="0"/>
          </a:p>
        </p:txBody>
      </p:sp>
      <p:sp>
        <p:nvSpPr>
          <p:cNvPr id="16" name="Shape 14"/>
          <p:cNvSpPr/>
          <p:nvPr/>
        </p:nvSpPr>
        <p:spPr>
          <a:xfrm>
            <a:off x="4348609" y="4100810"/>
            <a:ext cx="4374952" cy="9525"/>
          </a:xfrm>
          <a:prstGeom prst="rect">
            <a:avLst/>
          </a:prstGeom>
          <a:solidFill>
            <a:srgbClr val="201E1E">
              <a:alpha val="40000"/>
            </a:srgbClr>
          </a:solidFill>
          <a:ln/>
        </p:spPr>
        <p:txBody>
          <a:bodyPr/>
          <a:lstStyle/>
          <a:p>
            <a:endParaRPr lang="en-US"/>
          </a:p>
        </p:txBody>
      </p:sp>
      <p:sp>
        <p:nvSpPr>
          <p:cNvPr id="17" name="Text 15"/>
          <p:cNvSpPr/>
          <p:nvPr/>
        </p:nvSpPr>
        <p:spPr>
          <a:xfrm>
            <a:off x="4577209" y="3735785"/>
            <a:ext cx="4049000"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280 GB</a:t>
            </a:r>
            <a:endParaRPr lang="en-US" sz="1875" dirty="0"/>
          </a:p>
        </p:txBody>
      </p:sp>
      <p:sp>
        <p:nvSpPr>
          <p:cNvPr id="18" name="Shape 16"/>
          <p:cNvSpPr/>
          <p:nvPr/>
        </p:nvSpPr>
        <p:spPr>
          <a:xfrm>
            <a:off x="8723561" y="4100810"/>
            <a:ext cx="7278439" cy="9525"/>
          </a:xfrm>
          <a:prstGeom prst="rect">
            <a:avLst/>
          </a:prstGeom>
          <a:solidFill>
            <a:srgbClr val="201E1E">
              <a:alpha val="40000"/>
            </a:srgbClr>
          </a:solidFill>
          <a:ln/>
        </p:spPr>
        <p:txBody>
          <a:bodyPr/>
          <a:lstStyle/>
          <a:p>
            <a:endParaRPr lang="en-US"/>
          </a:p>
        </p:txBody>
      </p:sp>
      <p:sp>
        <p:nvSpPr>
          <p:cNvPr id="19" name="Text 17"/>
          <p:cNvSpPr/>
          <p:nvPr/>
        </p:nvSpPr>
        <p:spPr>
          <a:xfrm>
            <a:off x="8952161" y="3735785"/>
            <a:ext cx="7268193" cy="206100"/>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Full precision, rarely needed for inference</a:t>
            </a:r>
            <a:endParaRPr lang="en-US" sz="1875" dirty="0"/>
          </a:p>
        </p:txBody>
      </p:sp>
      <p:sp>
        <p:nvSpPr>
          <p:cNvPr id="20" name="Shape 18"/>
          <p:cNvSpPr/>
          <p:nvPr/>
        </p:nvSpPr>
        <p:spPr>
          <a:xfrm>
            <a:off x="1143000" y="4667622"/>
            <a:ext cx="1773734" cy="9525"/>
          </a:xfrm>
          <a:prstGeom prst="rect">
            <a:avLst/>
          </a:prstGeom>
          <a:solidFill>
            <a:srgbClr val="201E1E">
              <a:alpha val="40000"/>
            </a:srgbClr>
          </a:solidFill>
          <a:ln/>
        </p:spPr>
        <p:txBody>
          <a:bodyPr/>
          <a:lstStyle/>
          <a:p>
            <a:endParaRPr lang="en-US"/>
          </a:p>
        </p:txBody>
      </p:sp>
      <p:sp>
        <p:nvSpPr>
          <p:cNvPr id="21" name="Text 19"/>
          <p:cNvSpPr/>
          <p:nvPr/>
        </p:nvSpPr>
        <p:spPr>
          <a:xfrm>
            <a:off x="1143000" y="4307360"/>
            <a:ext cx="1621334"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bfloat16</a:t>
            </a:r>
            <a:endParaRPr lang="en-US" sz="1875" dirty="0"/>
          </a:p>
        </p:txBody>
      </p:sp>
      <p:sp>
        <p:nvSpPr>
          <p:cNvPr id="22" name="Shape 20"/>
          <p:cNvSpPr/>
          <p:nvPr/>
        </p:nvSpPr>
        <p:spPr>
          <a:xfrm>
            <a:off x="2916734" y="4667622"/>
            <a:ext cx="1431875" cy="9525"/>
          </a:xfrm>
          <a:prstGeom prst="rect">
            <a:avLst/>
          </a:prstGeom>
          <a:solidFill>
            <a:srgbClr val="201E1E">
              <a:alpha val="40000"/>
            </a:srgbClr>
          </a:solidFill>
          <a:ln/>
        </p:spPr>
        <p:txBody>
          <a:bodyPr/>
          <a:lstStyle/>
          <a:p>
            <a:endParaRPr lang="en-US"/>
          </a:p>
        </p:txBody>
      </p:sp>
      <p:sp>
        <p:nvSpPr>
          <p:cNvPr id="23" name="Text 21"/>
          <p:cNvSpPr/>
          <p:nvPr/>
        </p:nvSpPr>
        <p:spPr>
          <a:xfrm>
            <a:off x="3145334" y="4307360"/>
            <a:ext cx="1050875"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16</a:t>
            </a:r>
            <a:endParaRPr lang="en-US" sz="1875" dirty="0"/>
          </a:p>
        </p:txBody>
      </p:sp>
      <p:sp>
        <p:nvSpPr>
          <p:cNvPr id="24" name="Shape 22"/>
          <p:cNvSpPr/>
          <p:nvPr/>
        </p:nvSpPr>
        <p:spPr>
          <a:xfrm>
            <a:off x="4348609" y="4667622"/>
            <a:ext cx="4374952" cy="9525"/>
          </a:xfrm>
          <a:prstGeom prst="rect">
            <a:avLst/>
          </a:prstGeom>
          <a:solidFill>
            <a:srgbClr val="201E1E">
              <a:alpha val="40000"/>
            </a:srgbClr>
          </a:solidFill>
          <a:ln/>
        </p:spPr>
        <p:txBody>
          <a:bodyPr/>
          <a:lstStyle/>
          <a:p>
            <a:endParaRPr lang="en-US"/>
          </a:p>
        </p:txBody>
      </p:sp>
      <p:sp>
        <p:nvSpPr>
          <p:cNvPr id="25" name="Text 23"/>
          <p:cNvSpPr/>
          <p:nvPr/>
        </p:nvSpPr>
        <p:spPr>
          <a:xfrm>
            <a:off x="4577209" y="4307360"/>
            <a:ext cx="404900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140 GB</a:t>
            </a:r>
            <a:endParaRPr lang="en-US" sz="1875" dirty="0"/>
          </a:p>
        </p:txBody>
      </p:sp>
      <p:sp>
        <p:nvSpPr>
          <p:cNvPr id="26" name="Shape 24"/>
          <p:cNvSpPr/>
          <p:nvPr/>
        </p:nvSpPr>
        <p:spPr>
          <a:xfrm>
            <a:off x="8723561" y="4667622"/>
            <a:ext cx="7278439" cy="9525"/>
          </a:xfrm>
          <a:prstGeom prst="rect">
            <a:avLst/>
          </a:prstGeom>
          <a:solidFill>
            <a:srgbClr val="201E1E">
              <a:alpha val="40000"/>
            </a:srgbClr>
          </a:solidFill>
          <a:ln/>
        </p:spPr>
        <p:txBody>
          <a:bodyPr/>
          <a:lstStyle/>
          <a:p>
            <a:endParaRPr lang="en-US"/>
          </a:p>
        </p:txBody>
      </p:sp>
      <p:sp>
        <p:nvSpPr>
          <p:cNvPr id="27" name="Text 25"/>
          <p:cNvSpPr/>
          <p:nvPr/>
        </p:nvSpPr>
        <p:spPr>
          <a:xfrm>
            <a:off x="8952161" y="4307360"/>
            <a:ext cx="726819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The training default — wide range, less precision</a:t>
            </a:r>
            <a:endParaRPr lang="en-US" sz="1875" dirty="0"/>
          </a:p>
        </p:txBody>
      </p:sp>
      <p:sp>
        <p:nvSpPr>
          <p:cNvPr id="28" name="Shape 26"/>
          <p:cNvSpPr/>
          <p:nvPr/>
        </p:nvSpPr>
        <p:spPr>
          <a:xfrm>
            <a:off x="1143000" y="5234434"/>
            <a:ext cx="1773734" cy="9525"/>
          </a:xfrm>
          <a:prstGeom prst="rect">
            <a:avLst/>
          </a:prstGeom>
          <a:solidFill>
            <a:srgbClr val="201E1E">
              <a:alpha val="40000"/>
            </a:srgbClr>
          </a:solidFill>
          <a:ln/>
        </p:spPr>
        <p:txBody>
          <a:bodyPr/>
          <a:lstStyle/>
          <a:p>
            <a:endParaRPr lang="en-US"/>
          </a:p>
        </p:txBody>
      </p:sp>
      <p:sp>
        <p:nvSpPr>
          <p:cNvPr id="29" name="Text 27"/>
          <p:cNvSpPr/>
          <p:nvPr/>
        </p:nvSpPr>
        <p:spPr>
          <a:xfrm>
            <a:off x="1143000" y="4874172"/>
            <a:ext cx="1621334"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int8</a:t>
            </a:r>
            <a:endParaRPr lang="en-US" sz="1875" dirty="0"/>
          </a:p>
        </p:txBody>
      </p:sp>
      <p:sp>
        <p:nvSpPr>
          <p:cNvPr id="30" name="Shape 28"/>
          <p:cNvSpPr/>
          <p:nvPr/>
        </p:nvSpPr>
        <p:spPr>
          <a:xfrm>
            <a:off x="2916734" y="5234434"/>
            <a:ext cx="1431875" cy="9525"/>
          </a:xfrm>
          <a:prstGeom prst="rect">
            <a:avLst/>
          </a:prstGeom>
          <a:solidFill>
            <a:srgbClr val="201E1E">
              <a:alpha val="40000"/>
            </a:srgbClr>
          </a:solidFill>
          <a:ln/>
        </p:spPr>
        <p:txBody>
          <a:bodyPr/>
          <a:lstStyle/>
          <a:p>
            <a:endParaRPr lang="en-US"/>
          </a:p>
        </p:txBody>
      </p:sp>
      <p:sp>
        <p:nvSpPr>
          <p:cNvPr id="31" name="Text 29"/>
          <p:cNvSpPr/>
          <p:nvPr/>
        </p:nvSpPr>
        <p:spPr>
          <a:xfrm>
            <a:off x="3145334" y="4874172"/>
            <a:ext cx="1050875"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8</a:t>
            </a:r>
            <a:endParaRPr lang="en-US" sz="1875" dirty="0"/>
          </a:p>
        </p:txBody>
      </p:sp>
      <p:sp>
        <p:nvSpPr>
          <p:cNvPr id="32" name="Shape 30"/>
          <p:cNvSpPr/>
          <p:nvPr/>
        </p:nvSpPr>
        <p:spPr>
          <a:xfrm>
            <a:off x="4348609" y="5234434"/>
            <a:ext cx="4374952" cy="9525"/>
          </a:xfrm>
          <a:prstGeom prst="rect">
            <a:avLst/>
          </a:prstGeom>
          <a:solidFill>
            <a:srgbClr val="201E1E">
              <a:alpha val="40000"/>
            </a:srgbClr>
          </a:solidFill>
          <a:ln/>
        </p:spPr>
        <p:txBody>
          <a:bodyPr/>
          <a:lstStyle/>
          <a:p>
            <a:endParaRPr lang="en-US"/>
          </a:p>
        </p:txBody>
      </p:sp>
      <p:sp>
        <p:nvSpPr>
          <p:cNvPr id="33" name="Text 31"/>
          <p:cNvSpPr/>
          <p:nvPr/>
        </p:nvSpPr>
        <p:spPr>
          <a:xfrm>
            <a:off x="4577209" y="4874172"/>
            <a:ext cx="404900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70 GB</a:t>
            </a:r>
            <a:endParaRPr lang="en-US" sz="1875" dirty="0"/>
          </a:p>
        </p:txBody>
      </p:sp>
      <p:sp>
        <p:nvSpPr>
          <p:cNvPr id="34" name="Shape 32"/>
          <p:cNvSpPr/>
          <p:nvPr/>
        </p:nvSpPr>
        <p:spPr>
          <a:xfrm>
            <a:off x="8723561" y="5234434"/>
            <a:ext cx="7278439" cy="9525"/>
          </a:xfrm>
          <a:prstGeom prst="rect">
            <a:avLst/>
          </a:prstGeom>
          <a:solidFill>
            <a:srgbClr val="201E1E">
              <a:alpha val="40000"/>
            </a:srgbClr>
          </a:solidFill>
          <a:ln/>
        </p:spPr>
        <p:txBody>
          <a:bodyPr/>
          <a:lstStyle/>
          <a:p>
            <a:endParaRPr lang="en-US"/>
          </a:p>
        </p:txBody>
      </p:sp>
      <p:sp>
        <p:nvSpPr>
          <p:cNvPr id="35" name="Text 33"/>
          <p:cNvSpPr/>
          <p:nvPr/>
        </p:nvSpPr>
        <p:spPr>
          <a:xfrm>
            <a:off x="8952161" y="4874172"/>
            <a:ext cx="726819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Common quantisation, small quality cost</a:t>
            </a:r>
            <a:endParaRPr lang="en-US" sz="1875" dirty="0"/>
          </a:p>
        </p:txBody>
      </p:sp>
      <p:sp>
        <p:nvSpPr>
          <p:cNvPr id="36" name="Shape 34"/>
          <p:cNvSpPr/>
          <p:nvPr/>
        </p:nvSpPr>
        <p:spPr>
          <a:xfrm>
            <a:off x="1143000" y="5801246"/>
            <a:ext cx="1773734" cy="9525"/>
          </a:xfrm>
          <a:prstGeom prst="rect">
            <a:avLst/>
          </a:prstGeom>
          <a:solidFill>
            <a:srgbClr val="201E1E">
              <a:alpha val="40000"/>
            </a:srgbClr>
          </a:solidFill>
          <a:ln/>
        </p:spPr>
        <p:txBody>
          <a:bodyPr/>
          <a:lstStyle/>
          <a:p>
            <a:endParaRPr lang="en-US"/>
          </a:p>
        </p:txBody>
      </p:sp>
      <p:sp>
        <p:nvSpPr>
          <p:cNvPr id="37" name="Text 35"/>
          <p:cNvSpPr/>
          <p:nvPr/>
        </p:nvSpPr>
        <p:spPr>
          <a:xfrm>
            <a:off x="1143000" y="5440984"/>
            <a:ext cx="1621334"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int4</a:t>
            </a:r>
            <a:endParaRPr lang="en-US" sz="1875" dirty="0"/>
          </a:p>
        </p:txBody>
      </p:sp>
      <p:sp>
        <p:nvSpPr>
          <p:cNvPr id="38" name="Shape 36"/>
          <p:cNvSpPr/>
          <p:nvPr/>
        </p:nvSpPr>
        <p:spPr>
          <a:xfrm>
            <a:off x="2916734" y="5801246"/>
            <a:ext cx="1431875" cy="9525"/>
          </a:xfrm>
          <a:prstGeom prst="rect">
            <a:avLst/>
          </a:prstGeom>
          <a:solidFill>
            <a:srgbClr val="201E1E">
              <a:alpha val="40000"/>
            </a:srgbClr>
          </a:solidFill>
          <a:ln/>
        </p:spPr>
        <p:txBody>
          <a:bodyPr/>
          <a:lstStyle/>
          <a:p>
            <a:endParaRPr lang="en-US"/>
          </a:p>
        </p:txBody>
      </p:sp>
      <p:sp>
        <p:nvSpPr>
          <p:cNvPr id="39" name="Text 37"/>
          <p:cNvSpPr/>
          <p:nvPr/>
        </p:nvSpPr>
        <p:spPr>
          <a:xfrm>
            <a:off x="3145334" y="5440984"/>
            <a:ext cx="1050875"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4</a:t>
            </a:r>
            <a:endParaRPr lang="en-US" sz="1875" dirty="0"/>
          </a:p>
        </p:txBody>
      </p:sp>
      <p:sp>
        <p:nvSpPr>
          <p:cNvPr id="40" name="Shape 38"/>
          <p:cNvSpPr/>
          <p:nvPr/>
        </p:nvSpPr>
        <p:spPr>
          <a:xfrm>
            <a:off x="4348609" y="5801246"/>
            <a:ext cx="4374952" cy="9525"/>
          </a:xfrm>
          <a:prstGeom prst="rect">
            <a:avLst/>
          </a:prstGeom>
          <a:solidFill>
            <a:srgbClr val="201E1E">
              <a:alpha val="40000"/>
            </a:srgbClr>
          </a:solidFill>
          <a:ln/>
        </p:spPr>
        <p:txBody>
          <a:bodyPr/>
          <a:lstStyle/>
          <a:p>
            <a:endParaRPr lang="en-US"/>
          </a:p>
        </p:txBody>
      </p:sp>
      <p:sp>
        <p:nvSpPr>
          <p:cNvPr id="41" name="Text 39"/>
          <p:cNvSpPr/>
          <p:nvPr/>
        </p:nvSpPr>
        <p:spPr>
          <a:xfrm>
            <a:off x="4577209" y="5440984"/>
            <a:ext cx="4049000"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35 GB</a:t>
            </a:r>
            <a:endParaRPr lang="en-US" sz="1875" dirty="0"/>
          </a:p>
        </p:txBody>
      </p:sp>
      <p:sp>
        <p:nvSpPr>
          <p:cNvPr id="42" name="Shape 40"/>
          <p:cNvSpPr/>
          <p:nvPr/>
        </p:nvSpPr>
        <p:spPr>
          <a:xfrm>
            <a:off x="8723561" y="5801246"/>
            <a:ext cx="7278439" cy="9525"/>
          </a:xfrm>
          <a:prstGeom prst="rect">
            <a:avLst/>
          </a:prstGeom>
          <a:solidFill>
            <a:srgbClr val="201E1E">
              <a:alpha val="40000"/>
            </a:srgbClr>
          </a:solidFill>
          <a:ln/>
        </p:spPr>
        <p:txBody>
          <a:bodyPr/>
          <a:lstStyle/>
          <a:p>
            <a:endParaRPr lang="en-US"/>
          </a:p>
        </p:txBody>
      </p:sp>
      <p:sp>
        <p:nvSpPr>
          <p:cNvPr id="43" name="Text 41"/>
          <p:cNvSpPr/>
          <p:nvPr/>
        </p:nvSpPr>
        <p:spPr>
          <a:xfrm>
            <a:off x="8952161" y="5440984"/>
            <a:ext cx="7268193" cy="201338"/>
          </a:xfrm>
          <a:prstGeom prst="rect">
            <a:avLst/>
          </a:prstGeom>
          <a:noFill/>
          <a:ln/>
        </p:spPr>
        <p:txBody>
          <a:bodyPr wrap="square" lIns="25400" tIns="25400" rIns="25400" bIns="25400" rtlCol="0" anchor="ctr">
            <a:normAutofit fontScale="47500" lnSpcReduction="20000"/>
          </a:bodyPr>
          <a:lstStyle/>
          <a:p>
            <a:pPr marL="0" indent="0" algn="l">
              <a:lnSpc>
                <a:spcPct val="133621"/>
              </a:lnSpc>
              <a:buNone/>
            </a:pPr>
            <a:r>
              <a:rPr lang="en-US" sz="1875" dirty="0">
                <a:solidFill>
                  <a:srgbClr val="201E1D"/>
                </a:solidFill>
                <a:latin typeface="Arial" pitchFamily="34" charset="0"/>
                <a:ea typeface="Arial" pitchFamily="34" charset="-122"/>
                <a:cs typeface="Arial" pitchFamily="34" charset="-120"/>
              </a:rPr>
              <a:t>Fits on one large GPU, measurable quality cost</a:t>
            </a:r>
            <a:endParaRPr lang="en-US" sz="1875" dirty="0"/>
          </a:p>
        </p:txBody>
      </p:sp>
      <p:sp>
        <p:nvSpPr>
          <p:cNvPr id="44" name="Shape 42"/>
          <p:cNvSpPr/>
          <p:nvPr/>
        </p:nvSpPr>
        <p:spPr>
          <a:xfrm>
            <a:off x="1143000" y="7165628"/>
            <a:ext cx="16002000" cy="19050"/>
          </a:xfrm>
          <a:prstGeom prst="rect">
            <a:avLst/>
          </a:prstGeom>
          <a:solidFill>
            <a:srgbClr val="EC3013"/>
          </a:solidFill>
          <a:ln/>
        </p:spPr>
        <p:txBody>
          <a:bodyPr/>
          <a:lstStyle/>
          <a:p>
            <a:endParaRPr lang="en-US"/>
          </a:p>
        </p:txBody>
      </p:sp>
      <p:sp>
        <p:nvSpPr>
          <p:cNvPr id="45" name="Text 43"/>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46" name="Text 44"/>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Quantisation is the reason a model that needed a cluster last year runs on a single card this year. The arithmetic above is the whole business case — and the quality cost is what you measure to justify it.</a:t>
            </a:r>
            <a:endParaRPr lang="en-US" sz="2100" dirty="0"/>
          </a:p>
        </p:txBody>
      </p:sp>
      <p:pic>
        <p:nvPicPr>
          <p:cNvPr id="47"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13 · EVALUATION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Four boxes behind every metric</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classifier can be right or wrong in two different ways each. Naming the four cases is most of the work.</a:t>
            </a:r>
            <a:endParaRPr lang="en-US" sz="2100" dirty="0"/>
          </a:p>
        </p:txBody>
      </p:sp>
      <p:sp>
        <p:nvSpPr>
          <p:cNvPr id="5" name="Text 3"/>
          <p:cNvSpPr/>
          <p:nvPr/>
        </p:nvSpPr>
        <p:spPr>
          <a:xfrm>
            <a:off x="1143000" y="3768477"/>
            <a:ext cx="829818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True positive</a:t>
            </a:r>
            <a:endParaRPr lang="en-US" sz="2550" dirty="0"/>
          </a:p>
        </p:txBody>
      </p:sp>
      <p:sp>
        <p:nvSpPr>
          <p:cNvPr id="6" name="Text 4"/>
          <p:cNvSpPr/>
          <p:nvPr/>
        </p:nvSpPr>
        <p:spPr>
          <a:xfrm>
            <a:off x="1143000" y="4274641"/>
            <a:ext cx="8298180"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Flagged, and genuinely was. The system worked.</a:t>
            </a:r>
            <a:endParaRPr lang="en-US" sz="2100" dirty="0"/>
          </a:p>
        </p:txBody>
      </p:sp>
      <p:sp>
        <p:nvSpPr>
          <p:cNvPr id="7" name="Text 5"/>
          <p:cNvSpPr/>
          <p:nvPr/>
        </p:nvSpPr>
        <p:spPr>
          <a:xfrm>
            <a:off x="9601200" y="3768477"/>
            <a:ext cx="829818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False positive</a:t>
            </a:r>
            <a:endParaRPr lang="en-US" sz="2550" dirty="0"/>
          </a:p>
        </p:txBody>
      </p:sp>
      <p:sp>
        <p:nvSpPr>
          <p:cNvPr id="8" name="Text 6"/>
          <p:cNvSpPr/>
          <p:nvPr/>
        </p:nvSpPr>
        <p:spPr>
          <a:xfrm>
            <a:off x="9601200" y="4274641"/>
            <a:ext cx="8298180"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Flagged, but was fine. A false alarm — costs attention and trust.</a:t>
            </a:r>
            <a:endParaRPr lang="en-US" sz="2100" dirty="0"/>
          </a:p>
        </p:txBody>
      </p:sp>
      <p:sp>
        <p:nvSpPr>
          <p:cNvPr id="9" name="Text 7"/>
          <p:cNvSpPr/>
          <p:nvPr/>
        </p:nvSpPr>
        <p:spPr>
          <a:xfrm>
            <a:off x="1143000" y="6511677"/>
            <a:ext cx="829818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False negative</a:t>
            </a:r>
            <a:endParaRPr lang="en-US" sz="2550" dirty="0"/>
          </a:p>
        </p:txBody>
      </p:sp>
      <p:sp>
        <p:nvSpPr>
          <p:cNvPr id="10" name="Text 8"/>
          <p:cNvSpPr/>
          <p:nvPr/>
        </p:nvSpPr>
        <p:spPr>
          <a:xfrm>
            <a:off x="1143000" y="7017841"/>
            <a:ext cx="7770114" cy="678284"/>
          </a:xfrm>
          <a:prstGeom prst="rect">
            <a:avLst/>
          </a:prstGeom>
          <a:noFill/>
          <a:ln/>
        </p:spPr>
        <p:txBody>
          <a:bodyPr wrap="square" lIns="25400" tIns="25400" rIns="25400" bIns="25400" rtlCol="0" anchor="t">
            <a:normAutofit fontScale="85000" lnSpcReduction="1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Not flagged, but should have been. The miss — usually the expensive one.</a:t>
            </a:r>
            <a:endParaRPr lang="en-US" sz="2100" dirty="0"/>
          </a:p>
        </p:txBody>
      </p:sp>
      <p:sp>
        <p:nvSpPr>
          <p:cNvPr id="11" name="Text 9"/>
          <p:cNvSpPr/>
          <p:nvPr/>
        </p:nvSpPr>
        <p:spPr>
          <a:xfrm>
            <a:off x="9601200" y="6511677"/>
            <a:ext cx="829818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True negative</a:t>
            </a:r>
            <a:endParaRPr lang="en-US" sz="2550" dirty="0"/>
          </a:p>
        </p:txBody>
      </p:sp>
      <p:sp>
        <p:nvSpPr>
          <p:cNvPr id="12" name="Text 10"/>
          <p:cNvSpPr/>
          <p:nvPr/>
        </p:nvSpPr>
        <p:spPr>
          <a:xfrm>
            <a:off x="9601200" y="7017841"/>
            <a:ext cx="7770114"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Not flagged, and correctly so. Usually the overwhelming majority.</a:t>
            </a:r>
            <a:endParaRPr lang="en-US" sz="2100" dirty="0"/>
          </a:p>
        </p:txBody>
      </p:sp>
      <p:sp>
        <p:nvSpPr>
          <p:cNvPr id="13" name="Text 11"/>
          <p:cNvSpPr/>
          <p:nvPr/>
        </p:nvSpPr>
        <p:spPr>
          <a:xfrm>
            <a:off x="1143000" y="8415635"/>
            <a:ext cx="1988187"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Predicted positive</a:t>
            </a:r>
            <a:endParaRPr lang="en-US" sz="1800" dirty="0"/>
          </a:p>
        </p:txBody>
      </p:sp>
      <p:sp>
        <p:nvSpPr>
          <p:cNvPr id="14" name="Text 12"/>
          <p:cNvSpPr/>
          <p:nvPr/>
        </p:nvSpPr>
        <p:spPr>
          <a:xfrm>
            <a:off x="15259869" y="8415635"/>
            <a:ext cx="2073645"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Predicted negative</a:t>
            </a:r>
            <a:endParaRPr lang="en-US" sz="1800" dirty="0"/>
          </a:p>
        </p:txBody>
      </p:sp>
      <p:pic>
        <p:nvPicPr>
          <p:cNvPr id="15"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13 · EVALUATION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Precision, recall, and why accuracy lies</a:t>
            </a:r>
            <a:endParaRPr lang="en-US" sz="4800" dirty="0"/>
          </a:p>
        </p:txBody>
      </p:sp>
      <p:sp>
        <p:nvSpPr>
          <p:cNvPr id="4" name="Shape 2"/>
          <p:cNvSpPr/>
          <p:nvPr/>
        </p:nvSpPr>
        <p:spPr>
          <a:xfrm>
            <a:off x="1143000" y="4594920"/>
            <a:ext cx="16002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3200400"/>
            <a:ext cx="16002000" cy="19050"/>
          </a:xfrm>
          <a:prstGeom prst="rect">
            <a:avLst/>
          </a:prstGeom>
          <a:solidFill>
            <a:srgbClr val="201E1E">
              <a:alpha val="40000"/>
            </a:srgbClr>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43000" y="3562350"/>
            <a:ext cx="16002000" cy="689670"/>
          </a:xfrm>
          <a:prstGeom prst="rect">
            <a:avLst/>
          </a:prstGeom>
        </p:spPr>
      </p:pic>
      <p:sp>
        <p:nvSpPr>
          <p:cNvPr id="7" name="Text 4"/>
          <p:cNvSpPr/>
          <p:nvPr/>
        </p:nvSpPr>
        <p:spPr>
          <a:xfrm>
            <a:off x="1143000" y="4748808"/>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Precision</a:t>
            </a:r>
            <a:endParaRPr lang="en-US" sz="1950" dirty="0"/>
          </a:p>
        </p:txBody>
      </p:sp>
      <p:sp>
        <p:nvSpPr>
          <p:cNvPr id="8" name="Text 5"/>
          <p:cNvSpPr/>
          <p:nvPr/>
        </p:nvSpPr>
        <p:spPr>
          <a:xfrm>
            <a:off x="4343400" y="4748808"/>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When the system flags something, how often is it right? Low precision means alert fatigue.</a:t>
            </a:r>
            <a:endParaRPr lang="en-US" sz="1950" dirty="0"/>
          </a:p>
        </p:txBody>
      </p:sp>
      <p:sp>
        <p:nvSpPr>
          <p:cNvPr id="9" name="Text 6"/>
          <p:cNvSpPr/>
          <p:nvPr/>
        </p:nvSpPr>
        <p:spPr>
          <a:xfrm>
            <a:off x="1143000" y="5455146"/>
            <a:ext cx="314325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Recall</a:t>
            </a:r>
            <a:endParaRPr lang="en-US" sz="1950" dirty="0"/>
          </a:p>
        </p:txBody>
      </p:sp>
      <p:sp>
        <p:nvSpPr>
          <p:cNvPr id="10" name="Text 7"/>
          <p:cNvSpPr/>
          <p:nvPr/>
        </p:nvSpPr>
        <p:spPr>
          <a:xfrm>
            <a:off x="4343400" y="5455146"/>
            <a:ext cx="12824460" cy="361950"/>
          </a:xfrm>
          <a:prstGeom prst="rect">
            <a:avLst/>
          </a:prstGeom>
          <a:noFill/>
          <a:ln/>
        </p:spPr>
        <p:txBody>
          <a:bodyPr wrap="square" lIns="25400" tIns="25400" rIns="25400" bIns="25400" rtlCol="0" anchor="t">
            <a:normAutofit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Of everything that should have been flagged, how much did it catch? Low recall means things slip through.</a:t>
            </a:r>
            <a:endParaRPr lang="en-US" sz="1950" dirty="0"/>
          </a:p>
        </p:txBody>
      </p:sp>
      <p:sp>
        <p:nvSpPr>
          <p:cNvPr id="11" name="Text 8"/>
          <p:cNvSpPr/>
          <p:nvPr/>
        </p:nvSpPr>
        <p:spPr>
          <a:xfrm>
            <a:off x="1143000" y="6161484"/>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F₁</a:t>
            </a:r>
            <a:endParaRPr lang="en-US" sz="1950" dirty="0"/>
          </a:p>
        </p:txBody>
      </p:sp>
      <p:sp>
        <p:nvSpPr>
          <p:cNvPr id="12" name="Text 9"/>
          <p:cNvSpPr/>
          <p:nvPr/>
        </p:nvSpPr>
        <p:spPr>
          <a:xfrm>
            <a:off x="4343400" y="6161484"/>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harmonic mean of the two — a single number for when you must have one. It punishes a model that is excellent at one and poor at the other.</a:t>
            </a:r>
            <a:endParaRPr lang="en-US" sz="1950" dirty="0"/>
          </a:p>
        </p:txBody>
      </p:sp>
      <p:sp>
        <p:nvSpPr>
          <p:cNvPr id="13" name="Text 10"/>
          <p:cNvSpPr/>
          <p:nvPr/>
        </p:nvSpPr>
        <p:spPr>
          <a:xfrm>
            <a:off x="1143000" y="7037710"/>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Why accuracy lies</a:t>
            </a:r>
            <a:endParaRPr lang="en-US" sz="1950" dirty="0"/>
          </a:p>
        </p:txBody>
      </p:sp>
      <p:sp>
        <p:nvSpPr>
          <p:cNvPr id="14" name="Text 11"/>
          <p:cNvSpPr/>
          <p:nvPr/>
        </p:nvSpPr>
        <p:spPr>
          <a:xfrm>
            <a:off x="4343400" y="7037710"/>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If 1 in 1,000 transactions is fraud, a model that flags nothing is 99.9% accurate and completely useless. Accuracy hides exactly the errors that matter.</a:t>
            </a:r>
            <a:endParaRPr lang="en-US" sz="1950" dirty="0"/>
          </a:p>
        </p:txBody>
      </p:sp>
      <p:pic>
        <p:nvPicPr>
          <p:cNvPr id="15" name="Image 1" descr="preencoded.png"/>
          <p:cNvPicPr>
            <a:picLocks noChangeAspect="1"/>
          </p:cNvPicPr>
          <p:nvPr/>
        </p:nvPicPr>
        <p:blipFill>
          <a:blip r:embed="rId4"/>
          <a:stretch>
            <a:fillRect/>
          </a:stretch>
        </p:blipFill>
        <p:spPr>
          <a:xfrm>
            <a:off x="1143000" y="8987210"/>
            <a:ext cx="5826398" cy="15679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13 · WORKED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A fraud model, scored honestly</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Out of 10,000 transactions, 100 are fraudulent. The model flags 180 transactions and catches 80 of the real frauds.</a:t>
            </a:r>
            <a:endParaRPr lang="en-US" sz="2100" dirty="0"/>
          </a:p>
        </p:txBody>
      </p:sp>
      <p:sp>
        <p:nvSpPr>
          <p:cNvPr id="5" name="Shape 3"/>
          <p:cNvSpPr/>
          <p:nvPr/>
        </p:nvSpPr>
        <p:spPr>
          <a:xfrm>
            <a:off x="1143000" y="34290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39508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36079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36079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True positives = 80 · False positives = 180 − 80 = </a:t>
            </a:r>
            <a:r>
              <a:rPr lang="en-US" sz="2100" b="1" dirty="0">
                <a:solidFill>
                  <a:srgbClr val="201E1D"/>
                </a:solidFill>
                <a:latin typeface="Arial" pitchFamily="34" charset="0"/>
                <a:ea typeface="Arial" pitchFamily="34" charset="-122"/>
                <a:cs typeface="Arial" pitchFamily="34" charset="-120"/>
              </a:rPr>
              <a:t>100</a:t>
            </a:r>
            <a:endParaRPr lang="en-US" sz="2100" dirty="0"/>
          </a:p>
        </p:txBody>
      </p:sp>
      <p:sp>
        <p:nvSpPr>
          <p:cNvPr id="9" name="Shape 7"/>
          <p:cNvSpPr/>
          <p:nvPr/>
        </p:nvSpPr>
        <p:spPr>
          <a:xfrm>
            <a:off x="1143000" y="44632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1203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1203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False negatives = 100 − 80 = </a:t>
            </a:r>
            <a:r>
              <a:rPr lang="en-US" sz="2100" b="1" dirty="0">
                <a:solidFill>
                  <a:srgbClr val="201E1D"/>
                </a:solidFill>
                <a:latin typeface="Arial" pitchFamily="34" charset="0"/>
                <a:ea typeface="Arial" pitchFamily="34" charset="-122"/>
                <a:cs typeface="Arial" pitchFamily="34" charset="-120"/>
              </a:rPr>
              <a:t>20 </a:t>
            </a:r>
            <a:r>
              <a:rPr lang="en-US" sz="2100" dirty="0">
                <a:solidFill>
                  <a:srgbClr val="201E1D"/>
                </a:solidFill>
                <a:latin typeface="Arial" pitchFamily="34" charset="0"/>
                <a:ea typeface="Arial" pitchFamily="34" charset="-122"/>
                <a:cs typeface="Arial" pitchFamily="34" charset="-120"/>
              </a:rPr>
              <a:t>frauds missed</a:t>
            </a:r>
            <a:endParaRPr lang="en-US" sz="2100" dirty="0"/>
          </a:p>
        </p:txBody>
      </p:sp>
      <p:sp>
        <p:nvSpPr>
          <p:cNvPr id="12" name="Shape 10"/>
          <p:cNvSpPr/>
          <p:nvPr/>
        </p:nvSpPr>
        <p:spPr>
          <a:xfrm>
            <a:off x="1143000" y="49755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46326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46326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Precision = 80 / 180 = </a:t>
            </a:r>
            <a:r>
              <a:rPr lang="en-US" sz="2100" b="1" dirty="0">
                <a:solidFill>
                  <a:srgbClr val="201E1D"/>
                </a:solidFill>
                <a:latin typeface="Arial" pitchFamily="34" charset="0"/>
                <a:ea typeface="Arial" pitchFamily="34" charset="-122"/>
                <a:cs typeface="Arial" pitchFamily="34" charset="-120"/>
              </a:rPr>
              <a:t>0.44 </a:t>
            </a:r>
            <a:r>
              <a:rPr lang="en-US" sz="2100" dirty="0">
                <a:solidFill>
                  <a:srgbClr val="201E1D"/>
                </a:solidFill>
                <a:latin typeface="Arial" pitchFamily="34" charset="0"/>
                <a:ea typeface="Arial" pitchFamily="34" charset="-122"/>
                <a:cs typeface="Arial" pitchFamily="34" charset="-120"/>
              </a:rPr>
              <a:t>— fewer than half the alerts are real</a:t>
            </a:r>
            <a:endParaRPr lang="en-US" sz="2100" dirty="0"/>
          </a:p>
        </p:txBody>
      </p:sp>
      <p:sp>
        <p:nvSpPr>
          <p:cNvPr id="15" name="Shape 13"/>
          <p:cNvSpPr/>
          <p:nvPr/>
        </p:nvSpPr>
        <p:spPr>
          <a:xfrm>
            <a:off x="1143000" y="5487888"/>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144988"/>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4</a:t>
            </a:r>
            <a:endParaRPr lang="en-US" sz="2100" dirty="0"/>
          </a:p>
        </p:txBody>
      </p:sp>
      <p:sp>
        <p:nvSpPr>
          <p:cNvPr id="17" name="Text 15"/>
          <p:cNvSpPr/>
          <p:nvPr/>
        </p:nvSpPr>
        <p:spPr>
          <a:xfrm>
            <a:off x="1981200" y="5144988"/>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Recall = 80 / 100 = </a:t>
            </a:r>
            <a:r>
              <a:rPr lang="en-US" sz="2100" b="1" dirty="0">
                <a:solidFill>
                  <a:srgbClr val="201E1D"/>
                </a:solidFill>
                <a:latin typeface="Arial" pitchFamily="34" charset="0"/>
                <a:ea typeface="Arial" pitchFamily="34" charset="-122"/>
                <a:cs typeface="Arial" pitchFamily="34" charset="-120"/>
              </a:rPr>
              <a:t>0.80 </a:t>
            </a:r>
            <a:r>
              <a:rPr lang="en-US" sz="2100" dirty="0">
                <a:solidFill>
                  <a:srgbClr val="201E1D"/>
                </a:solidFill>
                <a:latin typeface="Arial" pitchFamily="34" charset="0"/>
                <a:ea typeface="Arial" pitchFamily="34" charset="-122"/>
                <a:cs typeface="Arial" pitchFamily="34" charset="-120"/>
              </a:rPr>
              <a:t>— four fifths of fraud caught</a:t>
            </a:r>
            <a:endParaRPr lang="en-US" sz="2100" dirty="0"/>
          </a:p>
        </p:txBody>
      </p:sp>
      <p:sp>
        <p:nvSpPr>
          <p:cNvPr id="18" name="Shape 16"/>
          <p:cNvSpPr/>
          <p:nvPr/>
        </p:nvSpPr>
        <p:spPr>
          <a:xfrm>
            <a:off x="1143000" y="6008266"/>
            <a:ext cx="13335000" cy="9525"/>
          </a:xfrm>
          <a:prstGeom prst="rect">
            <a:avLst/>
          </a:prstGeom>
          <a:solidFill>
            <a:srgbClr val="201E1E">
              <a:alpha val="40000"/>
            </a:srgbClr>
          </a:solidFill>
          <a:ln/>
        </p:spPr>
        <p:txBody>
          <a:bodyPr/>
          <a:lstStyle/>
          <a:p>
            <a:endParaRPr lang="en-US"/>
          </a:p>
        </p:txBody>
      </p:sp>
      <p:sp>
        <p:nvSpPr>
          <p:cNvPr id="19" name="Text 17"/>
          <p:cNvSpPr/>
          <p:nvPr/>
        </p:nvSpPr>
        <p:spPr>
          <a:xfrm>
            <a:off x="1143000" y="5657329"/>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20" name="Text 18"/>
          <p:cNvSpPr/>
          <p:nvPr/>
        </p:nvSpPr>
        <p:spPr>
          <a:xfrm>
            <a:off x="1981200" y="5657329"/>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Accuracy = 9,880 / 10,000 = 98.8% — and it tells you nothing useful</a:t>
            </a:r>
            <a:endParaRPr lang="en-US" sz="2100" dirty="0"/>
          </a:p>
        </p:txBody>
      </p:sp>
      <p:sp>
        <p:nvSpPr>
          <p:cNvPr id="21" name="Shape 19"/>
          <p:cNvSpPr/>
          <p:nvPr/>
        </p:nvSpPr>
        <p:spPr>
          <a:xfrm>
            <a:off x="1143000" y="7165628"/>
            <a:ext cx="16002000" cy="19050"/>
          </a:xfrm>
          <a:prstGeom prst="rect">
            <a:avLst/>
          </a:prstGeom>
          <a:solidFill>
            <a:srgbClr val="EC3013"/>
          </a:solidFill>
          <a:ln/>
        </p:spPr>
        <p:txBody>
          <a:bodyPr/>
          <a:lstStyle/>
          <a:p>
            <a:endParaRPr lang="en-US"/>
          </a:p>
        </p:txBody>
      </p:sp>
      <p:sp>
        <p:nvSpPr>
          <p:cNvPr id="22" name="Text 20"/>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THE REAL QUESTION</a:t>
            </a:r>
            <a:endParaRPr lang="en-US" sz="1800" dirty="0"/>
          </a:p>
        </p:txBody>
      </p:sp>
      <p:sp>
        <p:nvSpPr>
          <p:cNvPr id="23" name="Text 21"/>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Is a missed fraud worse than a false alarm? For payments, usually yes — so you move the threshold to raise recall and accept the extra reviews. That is a business decision the metric cannot make for you.</a:t>
            </a:r>
            <a:endParaRPr lang="en-US" sz="2100" dirty="0"/>
          </a:p>
        </p:txBody>
      </p:sp>
      <p:pic>
        <p:nvPicPr>
          <p:cNvPr id="24"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14 · OPTIMIZATION &amp; AGENT DECISIONING</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Do I need this?</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Yes, if you…</a:t>
            </a:r>
            <a:endParaRPr lang="en-US" sz="2550" dirty="0"/>
          </a:p>
        </p:txBody>
      </p:sp>
      <p:sp>
        <p:nvSpPr>
          <p:cNvPr id="6" name="Text 4"/>
          <p:cNvSpPr/>
          <p:nvPr/>
        </p:nvSpPr>
        <p:spPr>
          <a:xfrm>
            <a:off x="1143000" y="39317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Design an agent, choose between tools, write a reward function, or have to explain why an agent did something unexpected.</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What breaks without it</a:t>
            </a:r>
            <a:endParaRPr lang="en-US" sz="2550" dirty="0"/>
          </a:p>
        </p:txBody>
      </p:sp>
      <p:sp>
        <p:nvSpPr>
          <p:cNvPr id="9" name="Text 7"/>
          <p:cNvSpPr/>
          <p:nvPr/>
        </p:nvSpPr>
        <p:spPr>
          <a:xfrm>
            <a:off x="6629400" y="39317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Agent behaviour looks arbitrary, reward design happens by accident, and loops go unpenalised until they are expensive.</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Time to competence</a:t>
            </a:r>
            <a:endParaRPr lang="en-US" sz="2550" dirty="0"/>
          </a:p>
        </p:txBody>
      </p:sp>
      <p:sp>
        <p:nvSpPr>
          <p:cNvPr id="12" name="Text 10"/>
          <p:cNvSpPr/>
          <p:nvPr/>
        </p:nvSpPr>
        <p:spPr>
          <a:xfrm>
            <a:off x="12115800" y="3931741"/>
            <a:ext cx="5180076" cy="1135484"/>
          </a:xfrm>
          <a:prstGeom prst="rect">
            <a:avLst/>
          </a:prstGeom>
          <a:noFill/>
          <a:ln/>
        </p:spPr>
        <p:txBody>
          <a:bodyPr wrap="square" lIns="25400" tIns="25400" rIns="25400" bIns="25400" rtlCol="0" anchor="t">
            <a:normAutofit fontScale="92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Two hours for the concepts. Utility, argmax, reward, return — four words that cover most of the field.</a:t>
            </a:r>
            <a:endParaRPr lang="en-US" sz="2100" dirty="0"/>
          </a:p>
        </p:txBody>
      </p:sp>
      <p:sp>
        <p:nvSpPr>
          <p:cNvPr id="13" name="Shape 11"/>
          <p:cNvSpPr/>
          <p:nvPr/>
        </p:nvSpPr>
        <p:spPr>
          <a:xfrm>
            <a:off x="1143000" y="7165628"/>
            <a:ext cx="16002000" cy="19050"/>
          </a:xfrm>
          <a:prstGeom prst="rect">
            <a:avLst/>
          </a:prstGeom>
          <a:solidFill>
            <a:srgbClr val="EC3013"/>
          </a:solidFill>
          <a:ln/>
        </p:spPr>
        <p:txBody>
          <a:bodyPr/>
          <a:lstStyle/>
          <a:p>
            <a:endParaRPr lang="en-US"/>
          </a:p>
        </p:txBody>
      </p:sp>
      <p:sp>
        <p:nvSpPr>
          <p:cNvPr id="14" name="Text 12"/>
          <p:cNvSpPr/>
          <p:nvPr/>
        </p:nvSpPr>
        <p:spPr>
          <a:xfrm>
            <a:off x="1143000" y="7543800"/>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IN GENAI</a:t>
            </a:r>
            <a:endParaRPr lang="en-US" sz="1800" dirty="0"/>
          </a:p>
        </p:txBody>
      </p:sp>
      <p:sp>
        <p:nvSpPr>
          <p:cNvPr id="15" name="Text 13"/>
          <p:cNvSpPr/>
          <p:nvPr/>
        </p:nvSpPr>
        <p:spPr>
          <a:xfrm>
            <a:off x="4076700" y="7543800"/>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Modern agentic systems are optimization-driven decision systems. They score the available actions and take the highest scorer, thousands of times over.</a:t>
            </a:r>
            <a:endParaRPr lang="en-US" sz="2100" dirty="0"/>
          </a:p>
        </p:txBody>
      </p:sp>
      <p:pic>
        <p:nvPicPr>
          <p:cNvPr id="16"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14 · PRACTICAL INTUITION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Choosing the right tool</a:t>
            </a:r>
            <a:endParaRPr lang="en-US" sz="4800" dirty="0"/>
          </a:p>
        </p:txBody>
      </p:sp>
      <p:sp>
        <p:nvSpPr>
          <p:cNvPr id="4" name="Text 2"/>
          <p:cNvSpPr/>
          <p:nvPr/>
        </p:nvSpPr>
        <p:spPr>
          <a:xfrm>
            <a:off x="1143000" y="2674516"/>
            <a:ext cx="14473616" cy="678284"/>
          </a:xfrm>
          <a:prstGeom prst="rect">
            <a:avLst/>
          </a:prstGeom>
          <a:noFill/>
          <a:ln/>
        </p:spPr>
        <p:txBody>
          <a:bodyPr wrap="square" lIns="25400" tIns="25400" rIns="25400" bIns="25400" rtlCol="0" anchor="t">
            <a:normAutofit fontScale="85000" lnSpcReduction="1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An assistant is asked to "generate quarterly financial analysis". It scores each available tool by expected usefulness and picks the highest.</a:t>
            </a:r>
            <a:endParaRPr lang="en-US" sz="21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3619500"/>
            <a:ext cx="16002000" cy="3487564"/>
          </a:xfrm>
          <a:prstGeom prst="rect">
            <a:avLst/>
          </a:prstGeom>
        </p:spPr>
      </p:pic>
      <p:sp>
        <p:nvSpPr>
          <p:cNvPr id="6" name="Shape 3"/>
          <p:cNvSpPr/>
          <p:nvPr/>
        </p:nvSpPr>
        <p:spPr>
          <a:xfrm>
            <a:off x="1143000" y="7335664"/>
            <a:ext cx="16002000" cy="19050"/>
          </a:xfrm>
          <a:prstGeom prst="rect">
            <a:avLst/>
          </a:prstGeom>
          <a:solidFill>
            <a:srgbClr val="EC3013"/>
          </a:solidFill>
          <a:ln/>
        </p:spPr>
        <p:txBody>
          <a:bodyPr/>
          <a:lstStyle/>
          <a:p>
            <a:endParaRPr lang="en-US"/>
          </a:p>
        </p:txBody>
      </p:sp>
      <p:sp>
        <p:nvSpPr>
          <p:cNvPr id="7" name="Text 4"/>
          <p:cNvSpPr/>
          <p:nvPr/>
        </p:nvSpPr>
        <p:spPr>
          <a:xfrm>
            <a:off x="1143000" y="7713836"/>
            <a:ext cx="2552700" cy="9525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WHY IT MATTERS</a:t>
            </a:r>
            <a:endParaRPr lang="en-US" sz="1800" dirty="0"/>
          </a:p>
        </p:txBody>
      </p:sp>
      <p:sp>
        <p:nvSpPr>
          <p:cNvPr id="8" name="Text 5"/>
          <p:cNvSpPr/>
          <p:nvPr/>
        </p:nvSpPr>
        <p:spPr>
          <a:xfrm>
            <a:off x="4076700" y="7713836"/>
            <a:ext cx="13460349"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This scoring-and-selecting pattern is the mathematical core of every agent's decision loop. Everything else — memory, planning, retries — is scaffolding around it.</a:t>
            </a:r>
            <a:endParaRPr lang="en-US" sz="2100" dirty="0"/>
          </a:p>
        </p:txBody>
      </p:sp>
      <p:pic>
        <p:nvPicPr>
          <p:cNvPr id="9" name="Image 1" descr="preencoded.png"/>
          <p:cNvPicPr>
            <a:picLocks noChangeAspect="1"/>
          </p:cNvPicPr>
          <p:nvPr/>
        </p:nvPicPr>
        <p:blipFill>
          <a:blip r:embed="rId4"/>
          <a:stretch>
            <a:fillRect/>
          </a:stretch>
        </p:blipFill>
        <p:spPr>
          <a:xfrm>
            <a:off x="1143000" y="8987210"/>
            <a:ext cx="5826398" cy="156790"/>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14 · WHY THE FORMULA WORKS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Utility, argmax and return</a:t>
            </a:r>
            <a:endParaRPr lang="en-US" sz="4800" dirty="0"/>
          </a:p>
        </p:txBody>
      </p:sp>
      <p:sp>
        <p:nvSpPr>
          <p:cNvPr id="4" name="Shape 2"/>
          <p:cNvSpPr/>
          <p:nvPr/>
        </p:nvSpPr>
        <p:spPr>
          <a:xfrm>
            <a:off x="1143000" y="4912965"/>
            <a:ext cx="16002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3200400"/>
            <a:ext cx="16002000" cy="19050"/>
          </a:xfrm>
          <a:prstGeom prst="rect">
            <a:avLst/>
          </a:prstGeom>
          <a:solidFill>
            <a:srgbClr val="201E1E">
              <a:alpha val="40000"/>
            </a:srgbClr>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43000" y="3562350"/>
            <a:ext cx="16002000" cy="1007715"/>
          </a:xfrm>
          <a:prstGeom prst="rect">
            <a:avLst/>
          </a:prstGeom>
        </p:spPr>
      </p:pic>
      <p:sp>
        <p:nvSpPr>
          <p:cNvPr id="7" name="Text 4"/>
          <p:cNvSpPr/>
          <p:nvPr/>
        </p:nvSpPr>
        <p:spPr>
          <a:xfrm>
            <a:off x="1143000" y="5066854"/>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U(a) — utility</a:t>
            </a:r>
            <a:endParaRPr lang="en-US" sz="1950" dirty="0"/>
          </a:p>
        </p:txBody>
      </p:sp>
      <p:sp>
        <p:nvSpPr>
          <p:cNvPr id="8" name="Text 5"/>
          <p:cNvSpPr/>
          <p:nvPr/>
        </p:nvSpPr>
        <p:spPr>
          <a:xfrm>
            <a:off x="4343400" y="5066854"/>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A single score summarising how good action a is expected to be in the current situation. Collapsing many considerations into one number is the whole design problem.</a:t>
            </a:r>
            <a:endParaRPr lang="en-US" sz="1950" dirty="0"/>
          </a:p>
        </p:txBody>
      </p:sp>
      <p:sp>
        <p:nvSpPr>
          <p:cNvPr id="9" name="Text 6"/>
          <p:cNvSpPr/>
          <p:nvPr/>
        </p:nvSpPr>
        <p:spPr>
          <a:xfrm>
            <a:off x="1143000" y="5943079"/>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argmax</a:t>
            </a:r>
            <a:endParaRPr lang="en-US" sz="1950" dirty="0"/>
          </a:p>
        </p:txBody>
      </p:sp>
      <p:sp>
        <p:nvSpPr>
          <p:cNvPr id="10" name="Text 7"/>
          <p:cNvSpPr/>
          <p:nvPr/>
        </p:nvSpPr>
        <p:spPr>
          <a:xfrm>
            <a:off x="4343400" y="5943079"/>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action that makes utility largest." Not an average, not a guess — the best-scoring option. The agent's entire policy, in one symbol.</a:t>
            </a:r>
            <a:endParaRPr lang="en-US" sz="1950" dirty="0"/>
          </a:p>
        </p:txBody>
      </p:sp>
      <p:sp>
        <p:nvSpPr>
          <p:cNvPr id="11" name="Text 8"/>
          <p:cNvSpPr/>
          <p:nvPr/>
        </p:nvSpPr>
        <p:spPr>
          <a:xfrm>
            <a:off x="1143000" y="6819305"/>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r — reward</a:t>
            </a:r>
            <a:endParaRPr lang="en-US" sz="1950" dirty="0"/>
          </a:p>
        </p:txBody>
      </p:sp>
      <p:sp>
        <p:nvSpPr>
          <p:cNvPr id="12" name="Text 9"/>
          <p:cNvSpPr/>
          <p:nvPr/>
        </p:nvSpPr>
        <p:spPr>
          <a:xfrm>
            <a:off x="4343400" y="6819305"/>
            <a:ext cx="12008358" cy="531837"/>
          </a:xfrm>
          <a:prstGeom prst="rect">
            <a:avLst/>
          </a:prstGeom>
          <a:noFill/>
          <a:ln/>
        </p:spPr>
        <p:txBody>
          <a:bodyPr wrap="square" lIns="25400" tIns="25400" rIns="25400" bIns="25400" rtlCol="0" anchor="t">
            <a:normAutofit fontScale="85000" lnSpcReduction="1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The feedback after acting. Positive for good outcomes, negative for bad. Whatever you reward is what you will get more of.</a:t>
            </a:r>
            <a:endParaRPr lang="en-US" sz="1950" dirty="0"/>
          </a:p>
        </p:txBody>
      </p:sp>
      <p:sp>
        <p:nvSpPr>
          <p:cNvPr id="13" name="Text 10"/>
          <p:cNvSpPr/>
          <p:nvPr/>
        </p:nvSpPr>
        <p:spPr>
          <a:xfrm>
            <a:off x="1143000" y="7695530"/>
            <a:ext cx="2943225" cy="531837"/>
          </a:xfrm>
          <a:prstGeom prst="rect">
            <a:avLst/>
          </a:prstGeom>
          <a:noFill/>
          <a:ln/>
        </p:spPr>
        <p:txBody>
          <a:bodyPr wrap="square" lIns="25400" tIns="25400" rIns="25400" bIns="25400" rtlCol="0" anchor="t">
            <a:normAutofit/>
          </a:bodyPr>
          <a:lstStyle/>
          <a:p>
            <a:pPr marL="0" indent="0" algn="l">
              <a:lnSpc>
                <a:spcPct val="113333"/>
              </a:lnSpc>
              <a:buNone/>
            </a:pPr>
            <a:r>
              <a:rPr lang="en-US" sz="1950" b="1" dirty="0">
                <a:solidFill>
                  <a:srgbClr val="AE1800"/>
                </a:solidFill>
                <a:latin typeface="Arial" pitchFamily="34" charset="0"/>
                <a:ea typeface="Arial" pitchFamily="34" charset="-122"/>
                <a:cs typeface="Arial" pitchFamily="34" charset="-120"/>
              </a:rPr>
              <a:t>Return — Σ r</a:t>
            </a:r>
            <a:endParaRPr lang="en-US" sz="1950" dirty="0"/>
          </a:p>
        </p:txBody>
      </p:sp>
      <p:sp>
        <p:nvSpPr>
          <p:cNvPr id="14" name="Text 11"/>
          <p:cNvSpPr/>
          <p:nvPr/>
        </p:nvSpPr>
        <p:spPr>
          <a:xfrm>
            <a:off x="4343400" y="7695530"/>
            <a:ext cx="12008358" cy="531837"/>
          </a:xfrm>
          <a:prstGeom prst="rect">
            <a:avLst/>
          </a:prstGeom>
          <a:noFill/>
          <a:ln/>
        </p:spPr>
        <p:txBody>
          <a:bodyPr wrap="square" lIns="25400" tIns="25400" rIns="25400" bIns="25400" rtlCol="0" anchor="t">
            <a:normAutofit fontScale="77500" lnSpcReduction="20000"/>
          </a:bodyPr>
          <a:lstStyle/>
          <a:p>
            <a:pPr marL="0" indent="0" algn="l">
              <a:lnSpc>
                <a:spcPct val="113333"/>
              </a:lnSpc>
              <a:buNone/>
            </a:pPr>
            <a:r>
              <a:rPr lang="en-US" sz="1950" dirty="0">
                <a:solidFill>
                  <a:srgbClr val="201E1D"/>
                </a:solidFill>
                <a:latin typeface="Arial" pitchFamily="34" charset="0"/>
                <a:ea typeface="Arial" pitchFamily="34" charset="-122"/>
                <a:cs typeface="Arial" pitchFamily="34" charset="-120"/>
              </a:rPr>
              <a:t>Cumulative reward over a whole sequence. Reinforcement learning maximises this, not any single step — which is what lets an agent accept a small cost now for a bigger payoff later.</a:t>
            </a:r>
            <a:endParaRPr lang="en-US" sz="1950" dirty="0"/>
          </a:p>
        </p:txBody>
      </p:sp>
      <p:pic>
        <p:nvPicPr>
          <p:cNvPr id="15" name="Image 1" descr="preencoded.png"/>
          <p:cNvPicPr>
            <a:picLocks noChangeAspect="1"/>
          </p:cNvPicPr>
          <p:nvPr/>
        </p:nvPicPr>
        <p:blipFill>
          <a:blip r:embed="rId4"/>
          <a:stretch>
            <a:fillRect/>
          </a:stretch>
        </p:blipFill>
        <p:spPr>
          <a:xfrm>
            <a:off x="1143000" y="8987210"/>
            <a:ext cx="5826398" cy="156790"/>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14 · BUSINESS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Designing an agent's rewards</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An autonomous research agent is rewarded for good retrievals and penalised for mistakes and for getting stuck.</a:t>
            </a:r>
            <a:endParaRPr lang="en-US" sz="2100" dirty="0"/>
          </a:p>
        </p:txBody>
      </p:sp>
      <p:sp>
        <p:nvSpPr>
          <p:cNvPr id="5" name="Shape 3"/>
          <p:cNvSpPr/>
          <p:nvPr/>
        </p:nvSpPr>
        <p:spPr>
          <a:xfrm>
            <a:off x="1143000" y="3429000"/>
            <a:ext cx="13335000" cy="19050"/>
          </a:xfrm>
          <a:prstGeom prst="rect">
            <a:avLst/>
          </a:prstGeom>
          <a:solidFill>
            <a:srgbClr val="201E1E">
              <a:alpha val="40000"/>
            </a:srgbClr>
          </a:solidFill>
          <a:ln/>
        </p:spPr>
        <p:txBody>
          <a:bodyPr/>
          <a:lstStyle/>
          <a:p>
            <a:endParaRPr lang="en-US"/>
          </a:p>
        </p:txBody>
      </p:sp>
      <p:sp>
        <p:nvSpPr>
          <p:cNvPr id="6" name="Shape 4"/>
          <p:cNvSpPr/>
          <p:nvPr/>
        </p:nvSpPr>
        <p:spPr>
          <a:xfrm>
            <a:off x="1143000" y="3950866"/>
            <a:ext cx="13335000" cy="9525"/>
          </a:xfrm>
          <a:prstGeom prst="rect">
            <a:avLst/>
          </a:prstGeom>
          <a:solidFill>
            <a:srgbClr val="201E1E">
              <a:alpha val="40000"/>
            </a:srgbClr>
          </a:solidFill>
          <a:ln/>
        </p:spPr>
        <p:txBody>
          <a:bodyPr/>
          <a:lstStyle/>
          <a:p>
            <a:endParaRPr lang="en-US"/>
          </a:p>
        </p:txBody>
      </p:sp>
      <p:sp>
        <p:nvSpPr>
          <p:cNvPr id="7" name="Text 5"/>
          <p:cNvSpPr/>
          <p:nvPr/>
        </p:nvSpPr>
        <p:spPr>
          <a:xfrm>
            <a:off x="1143000" y="3607966"/>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1</a:t>
            </a:r>
            <a:endParaRPr lang="en-US" sz="2100" dirty="0"/>
          </a:p>
        </p:txBody>
      </p:sp>
      <p:sp>
        <p:nvSpPr>
          <p:cNvPr id="8" name="Text 6"/>
          <p:cNvSpPr/>
          <p:nvPr/>
        </p:nvSpPr>
        <p:spPr>
          <a:xfrm>
            <a:off x="1981200" y="3607966"/>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Correct retrieval: </a:t>
            </a:r>
            <a:r>
              <a:rPr lang="en-US" sz="2100" b="1" dirty="0">
                <a:solidFill>
                  <a:srgbClr val="201E1D"/>
                </a:solidFill>
                <a:latin typeface="Arial" pitchFamily="34" charset="0"/>
                <a:ea typeface="Arial" pitchFamily="34" charset="-122"/>
                <a:cs typeface="Arial" pitchFamily="34" charset="-120"/>
              </a:rPr>
              <a:t>+15 </a:t>
            </a:r>
            <a:r>
              <a:rPr lang="en-US" sz="2100" dirty="0">
                <a:solidFill>
                  <a:srgbClr val="201E1D"/>
                </a:solidFill>
                <a:latin typeface="Arial" pitchFamily="34" charset="0"/>
                <a:ea typeface="Arial" pitchFamily="34" charset="-122"/>
                <a:cs typeface="Arial" pitchFamily="34" charset="-120"/>
              </a:rPr>
              <a:t>· Incorrect retrieval: </a:t>
            </a:r>
            <a:r>
              <a:rPr lang="en-US" sz="2100" b="1" dirty="0">
                <a:solidFill>
                  <a:srgbClr val="201E1D"/>
                </a:solidFill>
                <a:latin typeface="Arial" pitchFamily="34" charset="0"/>
                <a:ea typeface="Arial" pitchFamily="34" charset="-122"/>
                <a:cs typeface="Arial" pitchFamily="34" charset="-120"/>
              </a:rPr>
              <a:t>−8 </a:t>
            </a:r>
            <a:r>
              <a:rPr lang="en-US" sz="2100" dirty="0">
                <a:solidFill>
                  <a:srgbClr val="201E1D"/>
                </a:solidFill>
                <a:latin typeface="Arial" pitchFamily="34" charset="0"/>
                <a:ea typeface="Arial" pitchFamily="34" charset="-122"/>
                <a:cs typeface="Arial" pitchFamily="34" charset="-120"/>
              </a:rPr>
              <a:t>· Infinite loop: </a:t>
            </a:r>
            <a:r>
              <a:rPr lang="en-US" sz="2100" b="1" dirty="0">
                <a:solidFill>
                  <a:srgbClr val="201E1D"/>
                </a:solidFill>
                <a:latin typeface="Arial" pitchFamily="34" charset="0"/>
                <a:ea typeface="Arial" pitchFamily="34" charset="-122"/>
                <a:cs typeface="Arial" pitchFamily="34" charset="-120"/>
              </a:rPr>
              <a:t>−25</a:t>
            </a:r>
            <a:endParaRPr lang="en-US" sz="2100" dirty="0"/>
          </a:p>
        </p:txBody>
      </p:sp>
      <p:sp>
        <p:nvSpPr>
          <p:cNvPr id="9" name="Shape 7"/>
          <p:cNvSpPr/>
          <p:nvPr/>
        </p:nvSpPr>
        <p:spPr>
          <a:xfrm>
            <a:off x="1143000" y="4463207"/>
            <a:ext cx="13335000" cy="9525"/>
          </a:xfrm>
          <a:prstGeom prst="rect">
            <a:avLst/>
          </a:prstGeom>
          <a:solidFill>
            <a:srgbClr val="201E1E">
              <a:alpha val="40000"/>
            </a:srgbClr>
          </a:solidFill>
          <a:ln/>
        </p:spPr>
        <p:txBody>
          <a:bodyPr/>
          <a:lstStyle/>
          <a:p>
            <a:endParaRPr lang="en-US"/>
          </a:p>
        </p:txBody>
      </p:sp>
      <p:sp>
        <p:nvSpPr>
          <p:cNvPr id="10" name="Text 8"/>
          <p:cNvSpPr/>
          <p:nvPr/>
        </p:nvSpPr>
        <p:spPr>
          <a:xfrm>
            <a:off x="1143000" y="412030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2</a:t>
            </a:r>
            <a:endParaRPr lang="en-US" sz="2100" dirty="0"/>
          </a:p>
        </p:txBody>
      </p:sp>
      <p:sp>
        <p:nvSpPr>
          <p:cNvPr id="11" name="Text 9"/>
          <p:cNvSpPr/>
          <p:nvPr/>
        </p:nvSpPr>
        <p:spPr>
          <a:xfrm>
            <a:off x="1981200" y="412030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The agent performs 2 correct retrievals: 2 × 15 = </a:t>
            </a:r>
            <a:r>
              <a:rPr lang="en-US" sz="2100" b="1" dirty="0">
                <a:solidFill>
                  <a:srgbClr val="201E1D"/>
                </a:solidFill>
                <a:latin typeface="Arial" pitchFamily="34" charset="0"/>
                <a:ea typeface="Arial" pitchFamily="34" charset="-122"/>
                <a:cs typeface="Arial" pitchFamily="34" charset="-120"/>
              </a:rPr>
              <a:t>+30</a:t>
            </a:r>
            <a:endParaRPr lang="en-US" sz="2100" dirty="0"/>
          </a:p>
        </p:txBody>
      </p:sp>
      <p:sp>
        <p:nvSpPr>
          <p:cNvPr id="12" name="Shape 10"/>
          <p:cNvSpPr/>
          <p:nvPr/>
        </p:nvSpPr>
        <p:spPr>
          <a:xfrm>
            <a:off x="1143000" y="4975547"/>
            <a:ext cx="13335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4632647"/>
            <a:ext cx="60960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3</a:t>
            </a:r>
            <a:endParaRPr lang="en-US" sz="2100" dirty="0"/>
          </a:p>
        </p:txBody>
      </p:sp>
      <p:sp>
        <p:nvSpPr>
          <p:cNvPr id="14" name="Text 12"/>
          <p:cNvSpPr/>
          <p:nvPr/>
        </p:nvSpPr>
        <p:spPr>
          <a:xfrm>
            <a:off x="1981200" y="4632647"/>
            <a:ext cx="13746480" cy="221084"/>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201E1D"/>
                </a:solidFill>
                <a:latin typeface="Arial" pitchFamily="34" charset="0"/>
                <a:ea typeface="Arial" pitchFamily="34" charset="-122"/>
                <a:cs typeface="Arial" pitchFamily="34" charset="-120"/>
              </a:rPr>
              <a:t>…and 1 incorrect retrieval: </a:t>
            </a:r>
            <a:r>
              <a:rPr lang="en-US" sz="2100" b="1" dirty="0">
                <a:solidFill>
                  <a:srgbClr val="201E1D"/>
                </a:solidFill>
                <a:latin typeface="Arial" pitchFamily="34" charset="0"/>
                <a:ea typeface="Arial" pitchFamily="34" charset="-122"/>
                <a:cs typeface="Arial" pitchFamily="34" charset="-120"/>
              </a:rPr>
              <a:t>−8</a:t>
            </a:r>
            <a:endParaRPr lang="en-US" sz="2100" dirty="0"/>
          </a:p>
        </p:txBody>
      </p:sp>
      <p:sp>
        <p:nvSpPr>
          <p:cNvPr id="15" name="Shape 13"/>
          <p:cNvSpPr/>
          <p:nvPr/>
        </p:nvSpPr>
        <p:spPr>
          <a:xfrm>
            <a:off x="1143000" y="5495925"/>
            <a:ext cx="13335000" cy="9525"/>
          </a:xfrm>
          <a:prstGeom prst="rect">
            <a:avLst/>
          </a:prstGeom>
          <a:solidFill>
            <a:srgbClr val="201E1E">
              <a:alpha val="40000"/>
            </a:srgbClr>
          </a:solidFill>
          <a:ln/>
        </p:spPr>
        <p:txBody>
          <a:bodyPr/>
          <a:lstStyle/>
          <a:p>
            <a:endParaRPr lang="en-US"/>
          </a:p>
        </p:txBody>
      </p:sp>
      <p:sp>
        <p:nvSpPr>
          <p:cNvPr id="16" name="Text 14"/>
          <p:cNvSpPr/>
          <p:nvPr/>
        </p:nvSpPr>
        <p:spPr>
          <a:xfrm>
            <a:off x="1143000" y="5144988"/>
            <a:ext cx="60960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dirty="0">
                <a:solidFill>
                  <a:srgbClr val="EC3013"/>
                </a:solidFill>
                <a:latin typeface="Arial" pitchFamily="34" charset="0"/>
                <a:ea typeface="Arial" pitchFamily="34" charset="-122"/>
                <a:cs typeface="Arial" pitchFamily="34" charset="-120"/>
              </a:rPr>
              <a:t>=</a:t>
            </a:r>
            <a:endParaRPr lang="en-US" sz="2100" dirty="0"/>
          </a:p>
        </p:txBody>
      </p:sp>
      <p:sp>
        <p:nvSpPr>
          <p:cNvPr id="17" name="Text 15"/>
          <p:cNvSpPr/>
          <p:nvPr/>
        </p:nvSpPr>
        <p:spPr>
          <a:xfrm>
            <a:off x="1981200" y="5144988"/>
            <a:ext cx="13746480" cy="229121"/>
          </a:xfrm>
          <a:prstGeom prst="rect">
            <a:avLst/>
          </a:prstGeom>
          <a:noFill/>
          <a:ln/>
        </p:spPr>
        <p:txBody>
          <a:bodyPr wrap="square" lIns="25400" tIns="25400" rIns="25400" bIns="25400" rtlCol="0" anchor="t">
            <a:normAutofit fontScale="47500" lnSpcReduction="20000"/>
          </a:bodyPr>
          <a:lstStyle/>
          <a:p>
            <a:pPr marL="0" indent="0" algn="l">
              <a:lnSpc>
                <a:spcPct val="123077"/>
              </a:lnSpc>
              <a:buNone/>
            </a:pPr>
            <a:r>
              <a:rPr lang="en-US" sz="2100" b="1" dirty="0">
                <a:solidFill>
                  <a:srgbClr val="201E1D"/>
                </a:solidFill>
                <a:latin typeface="Arial" pitchFamily="34" charset="0"/>
                <a:ea typeface="Arial" pitchFamily="34" charset="-122"/>
                <a:cs typeface="Arial" pitchFamily="34" charset="-120"/>
              </a:rPr>
              <a:t>Total return = 30 − 8 = 22</a:t>
            </a:r>
            <a:endParaRPr lang="en-US" sz="2100" dirty="0"/>
          </a:p>
        </p:txBody>
      </p:sp>
      <p:sp>
        <p:nvSpPr>
          <p:cNvPr id="18" name="Shape 16"/>
          <p:cNvSpPr/>
          <p:nvPr/>
        </p:nvSpPr>
        <p:spPr>
          <a:xfrm>
            <a:off x="1143000" y="6708428"/>
            <a:ext cx="16002000" cy="19050"/>
          </a:xfrm>
          <a:prstGeom prst="rect">
            <a:avLst/>
          </a:prstGeom>
          <a:solidFill>
            <a:srgbClr val="EC3013"/>
          </a:solidFill>
          <a:ln/>
        </p:spPr>
        <p:txBody>
          <a:bodyPr/>
          <a:lstStyle/>
          <a:p>
            <a:endParaRPr lang="en-US"/>
          </a:p>
        </p:txBody>
      </p:sp>
      <p:sp>
        <p:nvSpPr>
          <p:cNvPr id="19" name="Text 17"/>
          <p:cNvSpPr/>
          <p:nvPr/>
        </p:nvSpPr>
        <p:spPr>
          <a:xfrm>
            <a:off x="1143000" y="7086600"/>
            <a:ext cx="2552700" cy="140970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AE1800"/>
                </a:solidFill>
                <a:latin typeface="Arial" pitchFamily="34" charset="0"/>
                <a:ea typeface="Arial" pitchFamily="34" charset="-122"/>
                <a:cs typeface="Arial" pitchFamily="34" charset="-120"/>
              </a:rPr>
              <a:t>PRO TIP</a:t>
            </a:r>
            <a:endParaRPr lang="en-US" sz="1800" dirty="0"/>
          </a:p>
        </p:txBody>
      </p:sp>
      <p:sp>
        <p:nvSpPr>
          <p:cNvPr id="20" name="Text 18"/>
          <p:cNvSpPr/>
          <p:nvPr/>
        </p:nvSpPr>
        <p:spPr>
          <a:xfrm>
            <a:off x="4076700" y="7086600"/>
            <a:ext cx="13460349" cy="1409700"/>
          </a:xfrm>
          <a:prstGeom prst="rect">
            <a:avLst/>
          </a:prstGeom>
          <a:noFill/>
          <a:ln/>
        </p:spPr>
        <p:txBody>
          <a:bodyPr wrap="square" lIns="25400" tIns="25400" rIns="25400" bIns="25400" rtlCol="0" anchor="t">
            <a:normAutofit lnSpcReduction="1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Try it yourself: 3 correct and 2 incorrect gives 45 − 16 = 29. Reward design directly shapes what an agent learns to repeat — if you do not penalise loops, you will get loops — and they will show up on the bill before they show up in the logs.</a:t>
            </a:r>
            <a:endParaRPr lang="en-US" sz="2100" dirty="0"/>
          </a:p>
        </p:txBody>
      </p:sp>
      <p:pic>
        <p:nvPicPr>
          <p:cNvPr id="21"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1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14 · AI APPLICATION MAPPING</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Where optimization shows up in AI</a:t>
            </a:r>
            <a:endParaRPr lang="en-US" sz="4800" dirty="0"/>
          </a:p>
        </p:txBody>
      </p:sp>
      <p:sp>
        <p:nvSpPr>
          <p:cNvPr id="4" name="Shape 2"/>
          <p:cNvSpPr/>
          <p:nvPr/>
        </p:nvSpPr>
        <p:spPr>
          <a:xfrm>
            <a:off x="1143000" y="3190875"/>
            <a:ext cx="77724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Customer service agents</a:t>
            </a:r>
            <a:endParaRPr lang="en-US" sz="2550" dirty="0"/>
          </a:p>
        </p:txBody>
      </p:sp>
      <p:sp>
        <p:nvSpPr>
          <p:cNvPr id="6" name="Text 4"/>
          <p:cNvSpPr/>
          <p:nvPr/>
        </p:nvSpPr>
        <p:spPr>
          <a:xfrm>
            <a:off x="1143000" y="3931741"/>
            <a:ext cx="8005572"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Choosing the best next action in a conversation — answer, ask, escalate, or look something up.</a:t>
            </a:r>
            <a:endParaRPr lang="en-US" sz="2100" dirty="0"/>
          </a:p>
        </p:txBody>
      </p:sp>
      <p:sp>
        <p:nvSpPr>
          <p:cNvPr id="7" name="Shape 5"/>
          <p:cNvSpPr/>
          <p:nvPr/>
        </p:nvSpPr>
        <p:spPr>
          <a:xfrm>
            <a:off x="9372600" y="3190875"/>
            <a:ext cx="7772400" cy="19050"/>
          </a:xfrm>
          <a:prstGeom prst="rect">
            <a:avLst/>
          </a:prstGeom>
          <a:solidFill>
            <a:srgbClr val="201E1E">
              <a:alpha val="40000"/>
            </a:srgbClr>
          </a:solidFill>
          <a:ln/>
        </p:spPr>
        <p:txBody>
          <a:bodyPr/>
          <a:lstStyle/>
          <a:p>
            <a:endParaRPr lang="en-US"/>
          </a:p>
        </p:txBody>
      </p:sp>
      <p:sp>
        <p:nvSpPr>
          <p:cNvPr id="8" name="Text 6"/>
          <p:cNvSpPr/>
          <p:nvPr/>
        </p:nvSpPr>
        <p:spPr>
          <a:xfrm>
            <a:off x="9372600" y="3425577"/>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Workflow automation</a:t>
            </a:r>
            <a:endParaRPr lang="en-US" sz="2550" dirty="0"/>
          </a:p>
        </p:txBody>
      </p:sp>
      <p:sp>
        <p:nvSpPr>
          <p:cNvPr id="9" name="Text 7"/>
          <p:cNvSpPr/>
          <p:nvPr/>
        </p:nvSpPr>
        <p:spPr>
          <a:xfrm>
            <a:off x="9372600" y="3931741"/>
            <a:ext cx="8005572"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Selecting the optimal sequence of tasks, and deciding when a step is worth retrying.</a:t>
            </a:r>
            <a:endParaRPr lang="en-US" sz="2100" dirty="0"/>
          </a:p>
        </p:txBody>
      </p:sp>
      <p:sp>
        <p:nvSpPr>
          <p:cNvPr id="10" name="Shape 8"/>
          <p:cNvSpPr/>
          <p:nvPr/>
        </p:nvSpPr>
        <p:spPr>
          <a:xfrm>
            <a:off x="1143000" y="4571926"/>
            <a:ext cx="7772400" cy="19050"/>
          </a:xfrm>
          <a:prstGeom prst="rect">
            <a:avLst/>
          </a:prstGeom>
          <a:solidFill>
            <a:srgbClr val="201E1E">
              <a:alpha val="40000"/>
            </a:srgbClr>
          </a:solidFill>
          <a:ln/>
        </p:spPr>
        <p:txBody>
          <a:bodyPr/>
          <a:lstStyle/>
          <a:p>
            <a:endParaRPr lang="en-US"/>
          </a:p>
        </p:txBody>
      </p:sp>
      <p:sp>
        <p:nvSpPr>
          <p:cNvPr id="11" name="Text 9"/>
          <p:cNvSpPr/>
          <p:nvPr/>
        </p:nvSpPr>
        <p:spPr>
          <a:xfrm>
            <a:off x="1143000" y="4806628"/>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Resource allocation</a:t>
            </a:r>
            <a:endParaRPr lang="en-US" sz="2550" dirty="0"/>
          </a:p>
        </p:txBody>
      </p:sp>
      <p:sp>
        <p:nvSpPr>
          <p:cNvPr id="12" name="Text 10"/>
          <p:cNvSpPr/>
          <p:nvPr/>
        </p:nvSpPr>
        <p:spPr>
          <a:xfrm>
            <a:off x="1143000" y="5312792"/>
            <a:ext cx="8005572" cy="678284"/>
          </a:xfrm>
          <a:prstGeom prst="rect">
            <a:avLst/>
          </a:prstGeom>
          <a:noFill/>
          <a:ln/>
        </p:spPr>
        <p:txBody>
          <a:bodyPr wrap="square" lIns="25400" tIns="25400" rIns="25400" bIns="25400" rtlCol="0" anchor="t">
            <a:normAutofit fontScale="85000" lnSpcReduction="1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Assigning compute, inventory or staff where the expected return is highest.</a:t>
            </a:r>
            <a:endParaRPr lang="en-US" sz="2100" dirty="0"/>
          </a:p>
        </p:txBody>
      </p:sp>
      <p:sp>
        <p:nvSpPr>
          <p:cNvPr id="13" name="Shape 11"/>
          <p:cNvSpPr/>
          <p:nvPr/>
        </p:nvSpPr>
        <p:spPr>
          <a:xfrm>
            <a:off x="9372600" y="4571926"/>
            <a:ext cx="7772400" cy="19050"/>
          </a:xfrm>
          <a:prstGeom prst="rect">
            <a:avLst/>
          </a:prstGeom>
          <a:solidFill>
            <a:srgbClr val="201E1E">
              <a:alpha val="40000"/>
            </a:srgbClr>
          </a:solidFill>
          <a:ln/>
        </p:spPr>
        <p:txBody>
          <a:bodyPr/>
          <a:lstStyle/>
          <a:p>
            <a:endParaRPr lang="en-US"/>
          </a:p>
        </p:txBody>
      </p:sp>
      <p:sp>
        <p:nvSpPr>
          <p:cNvPr id="14" name="Text 12"/>
          <p:cNvSpPr/>
          <p:nvPr/>
        </p:nvSpPr>
        <p:spPr>
          <a:xfrm>
            <a:off x="9372600" y="4806628"/>
            <a:ext cx="8549640" cy="270049"/>
          </a:xfrm>
          <a:prstGeom prst="rect">
            <a:avLst/>
          </a:prstGeom>
          <a:noFill/>
          <a:ln/>
        </p:spPr>
        <p:txBody>
          <a:bodyPr wrap="square" lIns="25400" tIns="25400" rIns="25400" bIns="25400" rtlCol="0" anchor="t">
            <a:normAutofit fontScale="55000" lnSpcReduction="20000"/>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Dynamic pricing</a:t>
            </a:r>
            <a:endParaRPr lang="en-US" sz="2550" dirty="0"/>
          </a:p>
        </p:txBody>
      </p:sp>
      <p:sp>
        <p:nvSpPr>
          <p:cNvPr id="15" name="Text 13"/>
          <p:cNvSpPr/>
          <p:nvPr/>
        </p:nvSpPr>
        <p:spPr>
          <a:xfrm>
            <a:off x="9372600" y="5312792"/>
            <a:ext cx="8005572" cy="678284"/>
          </a:xfrm>
          <a:prstGeom prst="rect">
            <a:avLst/>
          </a:prstGeom>
          <a:noFill/>
          <a:ln/>
        </p:spPr>
        <p:txBody>
          <a:bodyPr wrap="square" lIns="25400" tIns="25400" rIns="25400" bIns="25400" rtlCol="0" anchor="t">
            <a:normAutofit fontScale="775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Optimising price points for expected revenue, one segment and one moment at a time.</a:t>
            </a:r>
            <a:endParaRPr lang="en-US" sz="2100" dirty="0"/>
          </a:p>
        </p:txBody>
      </p:sp>
      <p:sp>
        <p:nvSpPr>
          <p:cNvPr id="16" name="Shape 14"/>
          <p:cNvSpPr/>
          <p:nvPr/>
        </p:nvSpPr>
        <p:spPr>
          <a:xfrm>
            <a:off x="1143000" y="6455866"/>
            <a:ext cx="14859000" cy="19050"/>
          </a:xfrm>
          <a:prstGeom prst="rect">
            <a:avLst/>
          </a:prstGeom>
          <a:solidFill>
            <a:srgbClr val="EC3013"/>
          </a:solidFill>
          <a:ln/>
        </p:spPr>
        <p:txBody>
          <a:bodyPr/>
          <a:lstStyle/>
          <a:p>
            <a:endParaRPr lang="en-US"/>
          </a:p>
        </p:txBody>
      </p:sp>
      <p:sp>
        <p:nvSpPr>
          <p:cNvPr id="17" name="Text 15"/>
          <p:cNvSpPr/>
          <p:nvPr/>
        </p:nvSpPr>
        <p:spPr>
          <a:xfrm>
            <a:off x="1143000" y="6719739"/>
            <a:ext cx="16344900" cy="227558"/>
          </a:xfrm>
          <a:prstGeom prst="rect">
            <a:avLst/>
          </a:prstGeom>
          <a:noFill/>
          <a:ln/>
        </p:spPr>
        <p:txBody>
          <a:bodyPr wrap="square" lIns="25400" tIns="25400" rIns="25400" bIns="25400" rtlCol="0" anchor="t">
            <a:normAutofit fontScale="47500" lnSpcReduction="20000"/>
          </a:bodyPr>
          <a:lstStyle/>
          <a:p>
            <a:pPr marL="0" indent="0" algn="l">
              <a:lnSpc>
                <a:spcPct val="119403"/>
              </a:lnSpc>
              <a:buNone/>
            </a:pPr>
            <a:r>
              <a:rPr lang="en-US" sz="2175" b="1" dirty="0">
                <a:solidFill>
                  <a:srgbClr val="201E1D"/>
                </a:solidFill>
                <a:latin typeface="Arial" pitchFamily="34" charset="0"/>
                <a:ea typeface="Arial" pitchFamily="34" charset="-122"/>
                <a:cs typeface="Arial" pitchFamily="34" charset="-120"/>
              </a:rPr>
              <a:t>Try it yourself. </a:t>
            </a:r>
            <a:r>
              <a:rPr lang="en-US" sz="2175" dirty="0">
                <a:solidFill>
                  <a:srgbClr val="201E1D"/>
                </a:solidFill>
                <a:latin typeface="Arial" pitchFamily="34" charset="0"/>
                <a:ea typeface="Arial" pitchFamily="34" charset="-122"/>
                <a:cs typeface="Arial" pitchFamily="34" charset="-120"/>
              </a:rPr>
              <a:t>A delivery-routing agent scores three routes: A = 0.75, B = 0.88, C = 0.62. Which does it choose, and why?</a:t>
            </a:r>
            <a:endParaRPr lang="en-US" sz="2175" dirty="0"/>
          </a:p>
        </p:txBody>
      </p:sp>
      <p:sp>
        <p:nvSpPr>
          <p:cNvPr id="18" name="Text 16"/>
          <p:cNvSpPr/>
          <p:nvPr/>
        </p:nvSpPr>
        <p:spPr>
          <a:xfrm>
            <a:off x="1143000" y="7076182"/>
            <a:ext cx="16344900" cy="194890"/>
          </a:xfrm>
          <a:prstGeom prst="rect">
            <a:avLst/>
          </a:prstGeom>
          <a:noFill/>
          <a:ln/>
        </p:spPr>
        <p:txBody>
          <a:bodyPr wrap="square" lIns="25400" tIns="25400" rIns="25400" bIns="25400" rtlCol="0" anchor="t">
            <a:normAutofit fontScale="40000" lnSpcReduction="20000"/>
          </a:bodyPr>
          <a:lstStyle/>
          <a:p>
            <a:pPr marL="0" indent="0" algn="l">
              <a:lnSpc>
                <a:spcPct val="138182"/>
              </a:lnSpc>
              <a:buNone/>
            </a:pPr>
            <a:r>
              <a:rPr lang="en-US" sz="1800" dirty="0">
                <a:solidFill>
                  <a:srgbClr val="211D1D">
                    <a:alpha val="55000"/>
                  </a:srgbClr>
                </a:solidFill>
                <a:latin typeface="Arial" pitchFamily="34" charset="0"/>
                <a:ea typeface="Arial" pitchFamily="34" charset="-122"/>
                <a:cs typeface="Arial" pitchFamily="34" charset="-120"/>
              </a:rPr>
              <a:t>Route B. An optimization-driven agent takes the argmax — the highest-utility action — every time.</a:t>
            </a:r>
            <a:endParaRPr lang="en-US" sz="1800" dirty="0"/>
          </a:p>
        </p:txBody>
      </p:sp>
      <p:pic>
        <p:nvPicPr>
          <p:cNvPr id="19"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19">
    <p:bg>
      <p:bgPr>
        <a:solidFill>
          <a:srgbClr val="2D2B2B"/>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FF9783"/>
                </a:solidFill>
                <a:latin typeface="Arial" pitchFamily="34" charset="0"/>
                <a:ea typeface="Arial" pitchFamily="34" charset="-122"/>
                <a:cs typeface="Arial" pitchFamily="34" charset="-120"/>
              </a:rPr>
              <a:t>PART 4 · SELF-CHECK</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F3F2F2"/>
                </a:solidFill>
                <a:latin typeface="Arial" pitchFamily="34" charset="0"/>
                <a:ea typeface="Arial" pitchFamily="34" charset="-122"/>
                <a:cs typeface="Arial" pitchFamily="34" charset="-120"/>
              </a:rPr>
              <a:t>Before we close</a:t>
            </a:r>
            <a:endParaRPr lang="en-US" sz="4800" dirty="0"/>
          </a:p>
        </p:txBody>
      </p:sp>
      <p:sp>
        <p:nvSpPr>
          <p:cNvPr id="4" name="Text 2"/>
          <p:cNvSpPr/>
          <p:nvPr/>
        </p:nvSpPr>
        <p:spPr>
          <a:xfrm>
            <a:off x="1143000" y="2674516"/>
            <a:ext cx="15457259" cy="221084"/>
          </a:xfrm>
          <a:prstGeom prst="rect">
            <a:avLst/>
          </a:prstGeom>
          <a:noFill/>
          <a:ln/>
        </p:spPr>
        <p:txBody>
          <a:bodyPr wrap="square" lIns="25400" tIns="25400" rIns="25400" bIns="25400" rtlCol="0" anchor="t">
            <a:normAutofit fontScale="40000" lnSpcReduction="20000"/>
          </a:bodyPr>
          <a:lstStyle/>
          <a:p>
            <a:pPr marL="0" indent="0" algn="l">
              <a:lnSpc>
                <a:spcPct val="147692"/>
              </a:lnSpc>
              <a:buNone/>
            </a:pPr>
            <a:r>
              <a:rPr lang="en-US" sz="2100" dirty="0">
                <a:solidFill>
                  <a:srgbClr val="F3F2F2">
                    <a:alpha val="75000"/>
                  </a:srgbClr>
                </a:solidFill>
                <a:latin typeface="Arial" pitchFamily="34" charset="0"/>
                <a:ea typeface="Arial" pitchFamily="34" charset="-122"/>
                <a:cs typeface="Arial" pitchFamily="34" charset="-120"/>
              </a:rPr>
              <a:t>Five questions on learning and decisions.</a:t>
            </a:r>
            <a:endParaRPr lang="en-US" sz="2100" dirty="0"/>
          </a:p>
        </p:txBody>
      </p:sp>
      <p:sp>
        <p:nvSpPr>
          <p:cNvPr id="5" name="Text 3"/>
          <p:cNvSpPr/>
          <p:nvPr/>
        </p:nvSpPr>
        <p:spPr>
          <a:xfrm>
            <a:off x="942975" y="3804419"/>
            <a:ext cx="11896725" cy="2291209"/>
          </a:xfrm>
          <a:prstGeom prst="rect">
            <a:avLst/>
          </a:prstGeom>
          <a:noFill/>
          <a:ln/>
        </p:spPr>
        <p:txBody>
          <a:bodyPr wrap="square" lIns="25400" tIns="25400" rIns="25400" bIns="25400" rtlCol="0" anchor="t">
            <a:normAutofit/>
          </a:bodyPr>
          <a:lstStyle/>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Why does the gradient-descent update rule have a minus sign in it?</a:t>
            </a:r>
            <a:endParaRPr lang="en-US" sz="2250" dirty="0"/>
          </a:p>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What does softmax actually do to a set of raw scores, in two sentences?</a:t>
            </a:r>
            <a:endParaRPr lang="en-US" sz="2250" dirty="0"/>
          </a:p>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Temperature 0 makes a model consistent. Does it make it correct?</a:t>
            </a:r>
            <a:endParaRPr lang="en-US" sz="2250" dirty="0"/>
          </a:p>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A fraud model is 98.8% accurate. What is your next question?</a:t>
            </a:r>
            <a:endParaRPr lang="en-US" sz="2250" dirty="0"/>
          </a:p>
          <a:p>
            <a:pPr marL="0" indent="0" algn="l">
              <a:lnSpc>
                <a:spcPct val="121739"/>
              </a:lnSpc>
              <a:buNone/>
            </a:pPr>
            <a:r>
              <a:rPr lang="en-US" sz="2250" dirty="0">
                <a:solidFill>
                  <a:srgbClr val="F3F2F2"/>
                </a:solidFill>
                <a:latin typeface="Arial" pitchFamily="34" charset="0"/>
                <a:ea typeface="Arial" pitchFamily="34" charset="-122"/>
                <a:cs typeface="Arial" pitchFamily="34" charset="-120"/>
              </a:rPr>
              <a:t>What happens to an agent that is not penalised for looping?</a:t>
            </a:r>
            <a:endParaRPr lang="en-US" sz="2250" dirty="0"/>
          </a:p>
        </p:txBody>
      </p:sp>
      <p:pic>
        <p:nvPicPr>
          <p:cNvPr id="6"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SESSION 2 · CLOSE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Key takeaways</a:t>
            </a:r>
            <a:endParaRPr lang="en-US" sz="4800" dirty="0"/>
          </a:p>
        </p:txBody>
      </p:sp>
      <p:sp>
        <p:nvSpPr>
          <p:cNvPr id="4" name="Text 2"/>
          <p:cNvSpPr/>
          <p:nvPr/>
        </p:nvSpPr>
        <p:spPr>
          <a:xfrm>
            <a:off x="942975" y="3232919"/>
            <a:ext cx="11896725" cy="4234086"/>
          </a:xfrm>
          <a:prstGeom prst="rect">
            <a:avLst/>
          </a:prstGeom>
          <a:noFill/>
          <a:ln/>
        </p:spPr>
        <p:txBody>
          <a:bodyPr wrap="square" lIns="25400" tIns="25400" rIns="25400" bIns="25400" rtlCol="0" anchor="t">
            <a:normAutofit/>
          </a:bodyPr>
          <a:lstStyle/>
          <a:p>
            <a:pPr marL="0" indent="0" algn="l">
              <a:lnSpc>
                <a:spcPct val="121739"/>
              </a:lnSpc>
              <a:buNone/>
            </a:pPr>
            <a:r>
              <a:rPr lang="en-US" sz="2250" dirty="0">
                <a:solidFill>
                  <a:srgbClr val="201E1D"/>
                </a:solidFill>
                <a:latin typeface="Arial" pitchFamily="34" charset="0"/>
                <a:ea typeface="Arial" pitchFamily="34" charset="-122"/>
                <a:cs typeface="Arial" pitchFamily="34" charset="-120"/>
              </a:rPr>
              <a:t>Counting comes first — combinations size the search space before any optimizer touches it</a:t>
            </a:r>
            <a:endParaRPr lang="en-US" sz="2250" dirty="0"/>
          </a:p>
          <a:p>
            <a:pPr marL="0" indent="0" algn="l">
              <a:lnSpc>
                <a:spcPct val="121739"/>
              </a:lnSpc>
              <a:buNone/>
            </a:pPr>
            <a:r>
              <a:rPr lang="en-US" sz="2250" dirty="0">
                <a:solidFill>
                  <a:srgbClr val="201E1D"/>
                </a:solidFill>
                <a:latin typeface="Arial" pitchFamily="34" charset="0"/>
                <a:ea typeface="Arial" pitchFamily="34" charset="-122"/>
                <a:cs typeface="Arial" pitchFamily="34" charset="-120"/>
              </a:rPr>
              <a:t>Bayes lets AI reason under uncertainty, and base rates decide whether an alert means anything</a:t>
            </a:r>
            <a:endParaRPr lang="en-US" sz="2250" dirty="0"/>
          </a:p>
          <a:p>
            <a:pPr marL="0" indent="0" algn="l">
              <a:lnSpc>
                <a:spcPct val="121739"/>
              </a:lnSpc>
              <a:buNone/>
            </a:pPr>
            <a:r>
              <a:rPr lang="en-US" sz="2250" dirty="0">
                <a:solidFill>
                  <a:srgbClr val="201E1D"/>
                </a:solidFill>
                <a:latin typeface="Arial" pitchFamily="34" charset="0"/>
                <a:ea typeface="Arial" pitchFamily="34" charset="-122"/>
                <a:cs typeface="Arial" pitchFamily="34" charset="-120"/>
              </a:rPr>
              <a:t>Binomial answers "how many out of n"; Poisson answers "how many in a window"</a:t>
            </a:r>
            <a:endParaRPr lang="en-US" sz="2250" dirty="0"/>
          </a:p>
          <a:p>
            <a:pPr marL="0" indent="0" algn="l">
              <a:lnSpc>
                <a:spcPct val="121739"/>
              </a:lnSpc>
              <a:buNone/>
            </a:pPr>
            <a:r>
              <a:rPr lang="en-US" sz="2250" dirty="0">
                <a:solidFill>
                  <a:srgbClr val="201E1D"/>
                </a:solidFill>
                <a:latin typeface="Arial" pitchFamily="34" charset="0"/>
                <a:ea typeface="Arial" pitchFamily="34" charset="-122"/>
                <a:cs typeface="Arial" pitchFamily="34" charset="-120"/>
              </a:rPr>
              <a:t>Embeddings turn meaning into numbers; cosine similarity compares direction, not length</a:t>
            </a:r>
            <a:endParaRPr lang="en-US" sz="2250" dirty="0"/>
          </a:p>
          <a:p>
            <a:pPr marL="0" indent="0" algn="l">
              <a:lnSpc>
                <a:spcPct val="121739"/>
              </a:lnSpc>
              <a:buNone/>
            </a:pPr>
            <a:r>
              <a:rPr lang="en-US" sz="2250" dirty="0">
                <a:solidFill>
                  <a:srgbClr val="201E1D"/>
                </a:solidFill>
                <a:latin typeface="Arial" pitchFamily="34" charset="0"/>
                <a:ea typeface="Arial" pitchFamily="34" charset="-122"/>
                <a:cs typeface="Arial" pitchFamily="34" charset="-120"/>
              </a:rPr>
              <a:t>Matrices power every transformer operation — attention is Q × Kᵀ plus a softmax</a:t>
            </a:r>
            <a:endParaRPr lang="en-US" sz="2250" dirty="0"/>
          </a:p>
          <a:p>
            <a:pPr marL="0" indent="0" algn="l">
              <a:lnSpc>
                <a:spcPct val="121739"/>
              </a:lnSpc>
              <a:buNone/>
            </a:pPr>
            <a:r>
              <a:rPr lang="en-US" sz="2250" dirty="0">
                <a:solidFill>
                  <a:srgbClr val="201E1D"/>
                </a:solidFill>
                <a:latin typeface="Arial" pitchFamily="34" charset="0"/>
                <a:ea typeface="Arial" pitchFamily="34" charset="-122"/>
                <a:cs typeface="Arial" pitchFamily="34" charset="-120"/>
              </a:rPr>
              <a:t>Gradients are how models learn from their own mistakes, one small step at a time</a:t>
            </a:r>
            <a:endParaRPr lang="en-US" sz="2250" dirty="0"/>
          </a:p>
          <a:p>
            <a:pPr marL="0" indent="0" algn="l">
              <a:lnSpc>
                <a:spcPct val="121739"/>
              </a:lnSpc>
              <a:buNone/>
            </a:pPr>
            <a:r>
              <a:rPr lang="en-US" sz="2250" dirty="0">
                <a:solidFill>
                  <a:srgbClr val="201E1D"/>
                </a:solidFill>
                <a:latin typeface="Arial" pitchFamily="34" charset="0"/>
                <a:ea typeface="Arial" pitchFamily="34" charset="-122"/>
                <a:cs typeface="Arial" pitchFamily="34" charset="-120"/>
              </a:rPr>
              <a:t>Token probabilities are how an LLM generates text; temperature reshapes the distribution</a:t>
            </a:r>
            <a:endParaRPr lang="en-US" sz="2250" dirty="0"/>
          </a:p>
          <a:p>
            <a:pPr marL="0" indent="0" algn="l">
              <a:lnSpc>
                <a:spcPct val="121739"/>
              </a:lnSpc>
              <a:buNone/>
            </a:pPr>
            <a:r>
              <a:rPr lang="en-US" sz="2250" dirty="0">
                <a:solidFill>
                  <a:srgbClr val="201E1D"/>
                </a:solidFill>
                <a:latin typeface="Arial" pitchFamily="34" charset="0"/>
                <a:ea typeface="Arial" pitchFamily="34" charset="-122"/>
                <a:cs typeface="Arial" pitchFamily="34" charset="-120"/>
              </a:rPr>
              <a:t>Reward scores drive every agent decision — reward what you actually want repeated</a:t>
            </a:r>
            <a:endParaRPr lang="en-US" sz="2250" dirty="0"/>
          </a:p>
        </p:txBody>
      </p:sp>
      <p:pic>
        <p:nvPicPr>
          <p:cNvPr id="5"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SESSION 2 · CHEAT SHEET</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Rules of thumb</a:t>
            </a:r>
            <a:endParaRPr lang="en-US" sz="4800" dirty="0"/>
          </a:p>
        </p:txBody>
      </p:sp>
      <p:sp>
        <p:nvSpPr>
          <p:cNvPr id="4" name="Shape 2"/>
          <p:cNvSpPr/>
          <p:nvPr/>
        </p:nvSpPr>
        <p:spPr>
          <a:xfrm>
            <a:off x="1143000" y="3318495"/>
            <a:ext cx="3707234" cy="19050"/>
          </a:xfrm>
          <a:prstGeom prst="rect">
            <a:avLst/>
          </a:prstGeom>
          <a:solidFill>
            <a:srgbClr val="201E1E">
              <a:alpha val="40000"/>
            </a:srgbClr>
          </a:solidFill>
          <a:ln/>
        </p:spPr>
        <p:txBody>
          <a:bodyPr/>
          <a:lstStyle/>
          <a:p>
            <a:endParaRPr lang="en-US"/>
          </a:p>
        </p:txBody>
      </p:sp>
      <p:sp>
        <p:nvSpPr>
          <p:cNvPr id="5" name="Text 3"/>
          <p:cNvSpPr/>
          <p:nvPr/>
        </p:nvSpPr>
        <p:spPr>
          <a:xfrm>
            <a:off x="1143000" y="3072806"/>
            <a:ext cx="3849358" cy="192308"/>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SITUATION</a:t>
            </a:r>
            <a:endParaRPr lang="en-US" sz="1800" dirty="0"/>
          </a:p>
        </p:txBody>
      </p:sp>
      <p:sp>
        <p:nvSpPr>
          <p:cNvPr id="6" name="Shape 4"/>
          <p:cNvSpPr/>
          <p:nvPr/>
        </p:nvSpPr>
        <p:spPr>
          <a:xfrm>
            <a:off x="4850234" y="3318495"/>
            <a:ext cx="11151766" cy="19050"/>
          </a:xfrm>
          <a:prstGeom prst="rect">
            <a:avLst/>
          </a:prstGeom>
          <a:solidFill>
            <a:srgbClr val="201E1E">
              <a:alpha val="40000"/>
            </a:srgbClr>
          </a:solidFill>
          <a:ln/>
        </p:spPr>
        <p:txBody>
          <a:bodyPr/>
          <a:lstStyle/>
          <a:p>
            <a:endParaRPr lang="en-US"/>
          </a:p>
        </p:txBody>
      </p:sp>
      <p:sp>
        <p:nvSpPr>
          <p:cNvPr id="7" name="Text 5"/>
          <p:cNvSpPr/>
          <p:nvPr/>
        </p:nvSpPr>
        <p:spPr>
          <a:xfrm>
            <a:off x="5078834" y="3072806"/>
            <a:ext cx="12038342" cy="192308"/>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RULE</a:t>
            </a:r>
            <a:endParaRPr lang="en-US" sz="1800" dirty="0"/>
          </a:p>
        </p:txBody>
      </p:sp>
      <p:sp>
        <p:nvSpPr>
          <p:cNvPr id="8" name="Shape 6"/>
          <p:cNvSpPr/>
          <p:nvPr/>
        </p:nvSpPr>
        <p:spPr>
          <a:xfrm>
            <a:off x="1143000" y="3698379"/>
            <a:ext cx="3707234" cy="9525"/>
          </a:xfrm>
          <a:prstGeom prst="rect">
            <a:avLst/>
          </a:prstGeom>
          <a:solidFill>
            <a:srgbClr val="201E1E">
              <a:alpha val="40000"/>
            </a:srgbClr>
          </a:solidFill>
          <a:ln/>
        </p:spPr>
        <p:txBody>
          <a:bodyPr/>
          <a:lstStyle/>
          <a:p>
            <a:endParaRPr lang="en-US"/>
          </a:p>
        </p:txBody>
      </p:sp>
      <p:sp>
        <p:nvSpPr>
          <p:cNvPr id="9" name="Text 7"/>
          <p:cNvSpPr/>
          <p:nvPr/>
        </p:nvSpPr>
        <p:spPr>
          <a:xfrm>
            <a:off x="1143000" y="3437253"/>
            <a:ext cx="3589851" cy="199518"/>
          </a:xfrm>
          <a:prstGeom prst="rect">
            <a:avLst/>
          </a:prstGeom>
          <a:noFill/>
          <a:ln/>
        </p:spPr>
        <p:txBody>
          <a:bodyPr wrap="square" lIns="25400" tIns="25400" rIns="25400" bIns="25400" rtlCol="0" anchor="ctr">
            <a:normAutofit fontScale="475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Sizing a grid search</a:t>
            </a:r>
            <a:endParaRPr lang="en-US" sz="1800" dirty="0"/>
          </a:p>
        </p:txBody>
      </p:sp>
      <p:sp>
        <p:nvSpPr>
          <p:cNvPr id="10" name="Shape 8"/>
          <p:cNvSpPr/>
          <p:nvPr/>
        </p:nvSpPr>
        <p:spPr>
          <a:xfrm>
            <a:off x="4850234" y="3698379"/>
            <a:ext cx="11151766" cy="9525"/>
          </a:xfrm>
          <a:prstGeom prst="rect">
            <a:avLst/>
          </a:prstGeom>
          <a:solidFill>
            <a:srgbClr val="201E1E">
              <a:alpha val="40000"/>
            </a:srgbClr>
          </a:solidFill>
          <a:ln/>
        </p:spPr>
        <p:txBody>
          <a:bodyPr/>
          <a:lstStyle/>
          <a:p>
            <a:endParaRPr lang="en-US"/>
          </a:p>
        </p:txBody>
      </p:sp>
      <p:sp>
        <p:nvSpPr>
          <p:cNvPr id="11" name="Text 9"/>
          <p:cNvSpPr/>
          <p:nvPr/>
        </p:nvSpPr>
        <p:spPr>
          <a:xfrm>
            <a:off x="5078834" y="3437253"/>
            <a:ext cx="11257719" cy="199518"/>
          </a:xfrm>
          <a:prstGeom prst="rect">
            <a:avLst/>
          </a:prstGeom>
          <a:noFill/>
          <a:ln/>
        </p:spPr>
        <p:txBody>
          <a:bodyPr wrap="square" lIns="25400" tIns="25400" rIns="25400" bIns="25400" rtlCol="0" anchor="ctr">
            <a:normAutofit fontScale="475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Counts multiply. Four knobs of five values each is 625 runs, not 20.</a:t>
            </a:r>
            <a:endParaRPr lang="en-US" sz="1800" dirty="0"/>
          </a:p>
        </p:txBody>
      </p:sp>
      <p:sp>
        <p:nvSpPr>
          <p:cNvPr id="12" name="Shape 10"/>
          <p:cNvSpPr/>
          <p:nvPr/>
        </p:nvSpPr>
        <p:spPr>
          <a:xfrm>
            <a:off x="1143000" y="4063975"/>
            <a:ext cx="3707234" cy="9525"/>
          </a:xfrm>
          <a:prstGeom prst="rect">
            <a:avLst/>
          </a:prstGeom>
          <a:solidFill>
            <a:srgbClr val="201E1E">
              <a:alpha val="40000"/>
            </a:srgbClr>
          </a:solidFill>
          <a:ln/>
        </p:spPr>
        <p:txBody>
          <a:bodyPr/>
          <a:lstStyle/>
          <a:p>
            <a:endParaRPr lang="en-US"/>
          </a:p>
        </p:txBody>
      </p:sp>
      <p:sp>
        <p:nvSpPr>
          <p:cNvPr id="13" name="Text 11"/>
          <p:cNvSpPr/>
          <p:nvPr/>
        </p:nvSpPr>
        <p:spPr>
          <a:xfrm>
            <a:off x="1143000" y="3807612"/>
            <a:ext cx="384935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Reading a positive test result</a:t>
            </a:r>
            <a:endParaRPr lang="en-US" sz="1800" dirty="0"/>
          </a:p>
        </p:txBody>
      </p:sp>
      <p:sp>
        <p:nvSpPr>
          <p:cNvPr id="14" name="Shape 12"/>
          <p:cNvSpPr/>
          <p:nvPr/>
        </p:nvSpPr>
        <p:spPr>
          <a:xfrm>
            <a:off x="4850234" y="4063975"/>
            <a:ext cx="11151766" cy="9525"/>
          </a:xfrm>
          <a:prstGeom prst="rect">
            <a:avLst/>
          </a:prstGeom>
          <a:solidFill>
            <a:srgbClr val="201E1E">
              <a:alpha val="40000"/>
            </a:srgbClr>
          </a:solidFill>
          <a:ln/>
        </p:spPr>
        <p:txBody>
          <a:bodyPr/>
          <a:lstStyle/>
          <a:p>
            <a:endParaRPr lang="en-US"/>
          </a:p>
        </p:txBody>
      </p:sp>
      <p:sp>
        <p:nvSpPr>
          <p:cNvPr id="15" name="Text 13"/>
          <p:cNvSpPr/>
          <p:nvPr/>
        </p:nvSpPr>
        <p:spPr>
          <a:xfrm>
            <a:off x="5078834" y="3807612"/>
            <a:ext cx="12038342"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Ask the base rate first. Below 1% prevalence, most positives are false.</a:t>
            </a:r>
            <a:endParaRPr lang="en-US" sz="1800" dirty="0"/>
          </a:p>
        </p:txBody>
      </p:sp>
      <p:sp>
        <p:nvSpPr>
          <p:cNvPr id="16" name="Shape 14"/>
          <p:cNvSpPr/>
          <p:nvPr/>
        </p:nvSpPr>
        <p:spPr>
          <a:xfrm>
            <a:off x="1143000" y="4429571"/>
            <a:ext cx="3707234" cy="9525"/>
          </a:xfrm>
          <a:prstGeom prst="rect">
            <a:avLst/>
          </a:prstGeom>
          <a:solidFill>
            <a:srgbClr val="201E1E">
              <a:alpha val="40000"/>
            </a:srgbClr>
          </a:solidFill>
          <a:ln/>
        </p:spPr>
        <p:txBody>
          <a:bodyPr/>
          <a:lstStyle/>
          <a:p>
            <a:endParaRPr lang="en-US"/>
          </a:p>
        </p:txBody>
      </p:sp>
      <p:sp>
        <p:nvSpPr>
          <p:cNvPr id="17" name="Text 15"/>
          <p:cNvSpPr/>
          <p:nvPr/>
        </p:nvSpPr>
        <p:spPr>
          <a:xfrm>
            <a:off x="1143000" y="4173208"/>
            <a:ext cx="384935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Comparing two eval scores</a:t>
            </a:r>
            <a:endParaRPr lang="en-US" sz="1800" dirty="0"/>
          </a:p>
        </p:txBody>
      </p:sp>
      <p:sp>
        <p:nvSpPr>
          <p:cNvPr id="18" name="Shape 16"/>
          <p:cNvSpPr/>
          <p:nvPr/>
        </p:nvSpPr>
        <p:spPr>
          <a:xfrm>
            <a:off x="4850234" y="4429571"/>
            <a:ext cx="11151766" cy="9525"/>
          </a:xfrm>
          <a:prstGeom prst="rect">
            <a:avLst/>
          </a:prstGeom>
          <a:solidFill>
            <a:srgbClr val="201E1E">
              <a:alpha val="40000"/>
            </a:srgbClr>
          </a:solidFill>
          <a:ln/>
        </p:spPr>
        <p:txBody>
          <a:bodyPr/>
          <a:lstStyle/>
          <a:p>
            <a:endParaRPr lang="en-US"/>
          </a:p>
        </p:txBody>
      </p:sp>
      <p:sp>
        <p:nvSpPr>
          <p:cNvPr id="19" name="Text 17"/>
          <p:cNvSpPr/>
          <p:nvPr/>
        </p:nvSpPr>
        <p:spPr>
          <a:xfrm>
            <a:off x="5078834" y="4173208"/>
            <a:ext cx="12038342"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Margin of error ≈ 1/√n. Under 100 prompts, ignore gaps below 10 points.</a:t>
            </a:r>
            <a:endParaRPr lang="en-US" sz="1800" dirty="0"/>
          </a:p>
        </p:txBody>
      </p:sp>
      <p:sp>
        <p:nvSpPr>
          <p:cNvPr id="20" name="Shape 18"/>
          <p:cNvSpPr/>
          <p:nvPr/>
        </p:nvSpPr>
        <p:spPr>
          <a:xfrm>
            <a:off x="1143000" y="4795168"/>
            <a:ext cx="3707234" cy="9525"/>
          </a:xfrm>
          <a:prstGeom prst="rect">
            <a:avLst/>
          </a:prstGeom>
          <a:solidFill>
            <a:srgbClr val="201E1E">
              <a:alpha val="40000"/>
            </a:srgbClr>
          </a:solidFill>
          <a:ln/>
        </p:spPr>
        <p:txBody>
          <a:bodyPr/>
          <a:lstStyle/>
          <a:p>
            <a:endParaRPr lang="en-US"/>
          </a:p>
        </p:txBody>
      </p:sp>
      <p:sp>
        <p:nvSpPr>
          <p:cNvPr id="21" name="Text 19"/>
          <p:cNvSpPr/>
          <p:nvPr/>
        </p:nvSpPr>
        <p:spPr>
          <a:xfrm>
            <a:off x="1143000" y="4538804"/>
            <a:ext cx="384935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Choosing a similarity metric</a:t>
            </a:r>
            <a:endParaRPr lang="en-US" sz="1800" dirty="0"/>
          </a:p>
        </p:txBody>
      </p:sp>
      <p:sp>
        <p:nvSpPr>
          <p:cNvPr id="22" name="Shape 20"/>
          <p:cNvSpPr/>
          <p:nvPr/>
        </p:nvSpPr>
        <p:spPr>
          <a:xfrm>
            <a:off x="4850234" y="4795168"/>
            <a:ext cx="11151766" cy="9525"/>
          </a:xfrm>
          <a:prstGeom prst="rect">
            <a:avLst/>
          </a:prstGeom>
          <a:solidFill>
            <a:srgbClr val="201E1E">
              <a:alpha val="40000"/>
            </a:srgbClr>
          </a:solidFill>
          <a:ln/>
        </p:spPr>
        <p:txBody>
          <a:bodyPr/>
          <a:lstStyle/>
          <a:p>
            <a:endParaRPr lang="en-US"/>
          </a:p>
        </p:txBody>
      </p:sp>
      <p:sp>
        <p:nvSpPr>
          <p:cNvPr id="23" name="Text 21"/>
          <p:cNvSpPr/>
          <p:nvPr/>
        </p:nvSpPr>
        <p:spPr>
          <a:xfrm>
            <a:off x="5078834" y="4538804"/>
            <a:ext cx="12038342"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Text wants cosine. Physical quantities want Euclidean. Normalised vectors do not care.</a:t>
            </a:r>
            <a:endParaRPr lang="en-US" sz="1800" dirty="0"/>
          </a:p>
        </p:txBody>
      </p:sp>
      <p:sp>
        <p:nvSpPr>
          <p:cNvPr id="24" name="Shape 22"/>
          <p:cNvSpPr/>
          <p:nvPr/>
        </p:nvSpPr>
        <p:spPr>
          <a:xfrm>
            <a:off x="1143000" y="5160764"/>
            <a:ext cx="3707234" cy="9525"/>
          </a:xfrm>
          <a:prstGeom prst="rect">
            <a:avLst/>
          </a:prstGeom>
          <a:solidFill>
            <a:srgbClr val="201E1E">
              <a:alpha val="40000"/>
            </a:srgbClr>
          </a:solidFill>
          <a:ln/>
        </p:spPr>
        <p:txBody>
          <a:bodyPr/>
          <a:lstStyle/>
          <a:p>
            <a:endParaRPr lang="en-US"/>
          </a:p>
        </p:txBody>
      </p:sp>
      <p:sp>
        <p:nvSpPr>
          <p:cNvPr id="25" name="Text 23"/>
          <p:cNvSpPr/>
          <p:nvPr/>
        </p:nvSpPr>
        <p:spPr>
          <a:xfrm>
            <a:off x="1143000" y="4904400"/>
            <a:ext cx="384935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Debugging a shape error</a:t>
            </a:r>
            <a:endParaRPr lang="en-US" sz="1800" dirty="0"/>
          </a:p>
        </p:txBody>
      </p:sp>
      <p:sp>
        <p:nvSpPr>
          <p:cNvPr id="26" name="Shape 24"/>
          <p:cNvSpPr/>
          <p:nvPr/>
        </p:nvSpPr>
        <p:spPr>
          <a:xfrm>
            <a:off x="4850234" y="5160764"/>
            <a:ext cx="11151766" cy="9525"/>
          </a:xfrm>
          <a:prstGeom prst="rect">
            <a:avLst/>
          </a:prstGeom>
          <a:solidFill>
            <a:srgbClr val="201E1E">
              <a:alpha val="40000"/>
            </a:srgbClr>
          </a:solidFill>
          <a:ln/>
        </p:spPr>
        <p:txBody>
          <a:bodyPr/>
          <a:lstStyle/>
          <a:p>
            <a:endParaRPr lang="en-US"/>
          </a:p>
        </p:txBody>
      </p:sp>
      <p:sp>
        <p:nvSpPr>
          <p:cNvPr id="27" name="Text 25"/>
          <p:cNvSpPr/>
          <p:nvPr/>
        </p:nvSpPr>
        <p:spPr>
          <a:xfrm>
            <a:off x="5078834" y="4904400"/>
            <a:ext cx="12038342"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Inner numbers must match. If they do not, something needs transposing.</a:t>
            </a:r>
            <a:endParaRPr lang="en-US" sz="1800" dirty="0"/>
          </a:p>
        </p:txBody>
      </p:sp>
      <p:sp>
        <p:nvSpPr>
          <p:cNvPr id="28" name="Shape 26"/>
          <p:cNvSpPr/>
          <p:nvPr/>
        </p:nvSpPr>
        <p:spPr>
          <a:xfrm>
            <a:off x="1143000" y="5526360"/>
            <a:ext cx="3707234" cy="9525"/>
          </a:xfrm>
          <a:prstGeom prst="rect">
            <a:avLst/>
          </a:prstGeom>
          <a:solidFill>
            <a:srgbClr val="201E1E">
              <a:alpha val="40000"/>
            </a:srgbClr>
          </a:solidFill>
          <a:ln/>
        </p:spPr>
        <p:txBody>
          <a:bodyPr/>
          <a:lstStyle/>
          <a:p>
            <a:endParaRPr lang="en-US"/>
          </a:p>
        </p:txBody>
      </p:sp>
      <p:sp>
        <p:nvSpPr>
          <p:cNvPr id="29" name="Text 27"/>
          <p:cNvSpPr/>
          <p:nvPr/>
        </p:nvSpPr>
        <p:spPr>
          <a:xfrm>
            <a:off x="1143000" y="5269997"/>
            <a:ext cx="384935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Setting a learning rate</a:t>
            </a:r>
            <a:endParaRPr lang="en-US" sz="1800" dirty="0"/>
          </a:p>
        </p:txBody>
      </p:sp>
      <p:sp>
        <p:nvSpPr>
          <p:cNvPr id="30" name="Shape 28"/>
          <p:cNvSpPr/>
          <p:nvPr/>
        </p:nvSpPr>
        <p:spPr>
          <a:xfrm>
            <a:off x="4850234" y="5526360"/>
            <a:ext cx="11151766" cy="9525"/>
          </a:xfrm>
          <a:prstGeom prst="rect">
            <a:avLst/>
          </a:prstGeom>
          <a:solidFill>
            <a:srgbClr val="201E1E">
              <a:alpha val="40000"/>
            </a:srgbClr>
          </a:solidFill>
          <a:ln/>
        </p:spPr>
        <p:txBody>
          <a:bodyPr/>
          <a:lstStyle/>
          <a:p>
            <a:endParaRPr lang="en-US"/>
          </a:p>
        </p:txBody>
      </p:sp>
      <p:sp>
        <p:nvSpPr>
          <p:cNvPr id="31" name="Text 29"/>
          <p:cNvSpPr/>
          <p:nvPr/>
        </p:nvSpPr>
        <p:spPr>
          <a:xfrm>
            <a:off x="5078834" y="5269997"/>
            <a:ext cx="12038342"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Loss jumping means too high. Loss crawling means too low. Change by 3× or 10×, not 10%.</a:t>
            </a:r>
            <a:endParaRPr lang="en-US" sz="1800" dirty="0"/>
          </a:p>
        </p:txBody>
      </p:sp>
      <p:sp>
        <p:nvSpPr>
          <p:cNvPr id="32" name="Shape 30"/>
          <p:cNvSpPr/>
          <p:nvPr/>
        </p:nvSpPr>
        <p:spPr>
          <a:xfrm>
            <a:off x="1143000" y="5891957"/>
            <a:ext cx="3707234" cy="9525"/>
          </a:xfrm>
          <a:prstGeom prst="rect">
            <a:avLst/>
          </a:prstGeom>
          <a:solidFill>
            <a:srgbClr val="201E1E">
              <a:alpha val="40000"/>
            </a:srgbClr>
          </a:solidFill>
          <a:ln/>
        </p:spPr>
        <p:txBody>
          <a:bodyPr/>
          <a:lstStyle/>
          <a:p>
            <a:endParaRPr lang="en-US"/>
          </a:p>
        </p:txBody>
      </p:sp>
      <p:sp>
        <p:nvSpPr>
          <p:cNvPr id="33" name="Text 31"/>
          <p:cNvSpPr/>
          <p:nvPr/>
        </p:nvSpPr>
        <p:spPr>
          <a:xfrm>
            <a:off x="1143000" y="5635593"/>
            <a:ext cx="384935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Setting temperature</a:t>
            </a:r>
            <a:endParaRPr lang="en-US" sz="1800" dirty="0"/>
          </a:p>
        </p:txBody>
      </p:sp>
      <p:sp>
        <p:nvSpPr>
          <p:cNvPr id="34" name="Shape 32"/>
          <p:cNvSpPr/>
          <p:nvPr/>
        </p:nvSpPr>
        <p:spPr>
          <a:xfrm>
            <a:off x="4850234" y="5891957"/>
            <a:ext cx="11151766" cy="9525"/>
          </a:xfrm>
          <a:prstGeom prst="rect">
            <a:avLst/>
          </a:prstGeom>
          <a:solidFill>
            <a:srgbClr val="201E1E">
              <a:alpha val="40000"/>
            </a:srgbClr>
          </a:solidFill>
          <a:ln/>
        </p:spPr>
        <p:txBody>
          <a:bodyPr/>
          <a:lstStyle/>
          <a:p>
            <a:endParaRPr lang="en-US"/>
          </a:p>
        </p:txBody>
      </p:sp>
      <p:sp>
        <p:nvSpPr>
          <p:cNvPr id="35" name="Text 33"/>
          <p:cNvSpPr/>
          <p:nvPr/>
        </p:nvSpPr>
        <p:spPr>
          <a:xfrm>
            <a:off x="5078834" y="5635593"/>
            <a:ext cx="12038342"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One right answer means near 0. Many acceptable answers means 0.7 to 1.0.</a:t>
            </a:r>
            <a:endParaRPr lang="en-US" sz="1800" dirty="0"/>
          </a:p>
        </p:txBody>
      </p:sp>
      <p:sp>
        <p:nvSpPr>
          <p:cNvPr id="36" name="Shape 34"/>
          <p:cNvSpPr/>
          <p:nvPr/>
        </p:nvSpPr>
        <p:spPr>
          <a:xfrm>
            <a:off x="1143000" y="6257553"/>
            <a:ext cx="3707234" cy="9525"/>
          </a:xfrm>
          <a:prstGeom prst="rect">
            <a:avLst/>
          </a:prstGeom>
          <a:solidFill>
            <a:srgbClr val="201E1E">
              <a:alpha val="40000"/>
            </a:srgbClr>
          </a:solidFill>
          <a:ln/>
        </p:spPr>
        <p:txBody>
          <a:bodyPr/>
          <a:lstStyle/>
          <a:p>
            <a:endParaRPr lang="en-US"/>
          </a:p>
        </p:txBody>
      </p:sp>
      <p:sp>
        <p:nvSpPr>
          <p:cNvPr id="37" name="Text 35"/>
          <p:cNvSpPr/>
          <p:nvPr/>
        </p:nvSpPr>
        <p:spPr>
          <a:xfrm>
            <a:off x="1143000" y="6001189"/>
            <a:ext cx="384935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Reading an accuracy figure</a:t>
            </a:r>
            <a:endParaRPr lang="en-US" sz="1800" dirty="0"/>
          </a:p>
        </p:txBody>
      </p:sp>
      <p:sp>
        <p:nvSpPr>
          <p:cNvPr id="38" name="Shape 36"/>
          <p:cNvSpPr/>
          <p:nvPr/>
        </p:nvSpPr>
        <p:spPr>
          <a:xfrm>
            <a:off x="4850234" y="6257553"/>
            <a:ext cx="11151766" cy="9525"/>
          </a:xfrm>
          <a:prstGeom prst="rect">
            <a:avLst/>
          </a:prstGeom>
          <a:solidFill>
            <a:srgbClr val="201E1E">
              <a:alpha val="40000"/>
            </a:srgbClr>
          </a:solidFill>
          <a:ln/>
        </p:spPr>
        <p:txBody>
          <a:bodyPr/>
          <a:lstStyle/>
          <a:p>
            <a:endParaRPr lang="en-US"/>
          </a:p>
        </p:txBody>
      </p:sp>
      <p:sp>
        <p:nvSpPr>
          <p:cNvPr id="39" name="Text 37"/>
          <p:cNvSpPr/>
          <p:nvPr/>
        </p:nvSpPr>
        <p:spPr>
          <a:xfrm>
            <a:off x="5078834" y="6001189"/>
            <a:ext cx="12038342"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On rare events accuracy is meaningless. Ask for precision and recall.</a:t>
            </a:r>
            <a:endParaRPr lang="en-US" sz="1800" dirty="0"/>
          </a:p>
        </p:txBody>
      </p:sp>
      <p:sp>
        <p:nvSpPr>
          <p:cNvPr id="40" name="Shape 38"/>
          <p:cNvSpPr/>
          <p:nvPr/>
        </p:nvSpPr>
        <p:spPr>
          <a:xfrm>
            <a:off x="1143000" y="6623149"/>
            <a:ext cx="3707234" cy="9525"/>
          </a:xfrm>
          <a:prstGeom prst="rect">
            <a:avLst/>
          </a:prstGeom>
          <a:solidFill>
            <a:srgbClr val="201E1E">
              <a:alpha val="40000"/>
            </a:srgbClr>
          </a:solidFill>
          <a:ln/>
        </p:spPr>
        <p:txBody>
          <a:bodyPr/>
          <a:lstStyle/>
          <a:p>
            <a:endParaRPr lang="en-US"/>
          </a:p>
        </p:txBody>
      </p:sp>
      <p:sp>
        <p:nvSpPr>
          <p:cNvPr id="41" name="Text 39"/>
          <p:cNvSpPr/>
          <p:nvPr/>
        </p:nvSpPr>
        <p:spPr>
          <a:xfrm>
            <a:off x="1143000" y="6366786"/>
            <a:ext cx="3849358"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Designing agent rewards</a:t>
            </a:r>
            <a:endParaRPr lang="en-US" sz="1800" dirty="0"/>
          </a:p>
        </p:txBody>
      </p:sp>
      <p:sp>
        <p:nvSpPr>
          <p:cNvPr id="42" name="Shape 40"/>
          <p:cNvSpPr/>
          <p:nvPr/>
        </p:nvSpPr>
        <p:spPr>
          <a:xfrm>
            <a:off x="4850234" y="6623149"/>
            <a:ext cx="11151766" cy="9525"/>
          </a:xfrm>
          <a:prstGeom prst="rect">
            <a:avLst/>
          </a:prstGeom>
          <a:solidFill>
            <a:srgbClr val="201E1E">
              <a:alpha val="40000"/>
            </a:srgbClr>
          </a:solidFill>
          <a:ln/>
        </p:spPr>
        <p:txBody>
          <a:bodyPr/>
          <a:lstStyle/>
          <a:p>
            <a:endParaRPr lang="en-US"/>
          </a:p>
        </p:txBody>
      </p:sp>
      <p:sp>
        <p:nvSpPr>
          <p:cNvPr id="43" name="Text 41"/>
          <p:cNvSpPr/>
          <p:nvPr/>
        </p:nvSpPr>
        <p:spPr>
          <a:xfrm>
            <a:off x="5078834" y="6366786"/>
            <a:ext cx="12038342"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Whatever you reward is what you will get. Penalise loops explicitly.</a:t>
            </a:r>
            <a:endParaRPr lang="en-US" sz="1800" dirty="0"/>
          </a:p>
        </p:txBody>
      </p:sp>
      <p:pic>
        <p:nvPicPr>
          <p:cNvPr id="44"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SESSION 2 · REFERENCE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Every formula from today</a:t>
            </a:r>
            <a:endParaRPr lang="en-US" sz="4800" dirty="0"/>
          </a:p>
        </p:txBody>
      </p:sp>
      <p:sp>
        <p:nvSpPr>
          <p:cNvPr id="4" name="Shape 2"/>
          <p:cNvSpPr/>
          <p:nvPr/>
        </p:nvSpPr>
        <p:spPr>
          <a:xfrm>
            <a:off x="1143000" y="3318495"/>
            <a:ext cx="3583260" cy="19050"/>
          </a:xfrm>
          <a:prstGeom prst="rect">
            <a:avLst/>
          </a:prstGeom>
          <a:solidFill>
            <a:srgbClr val="201E1E">
              <a:alpha val="40000"/>
            </a:srgbClr>
          </a:solidFill>
          <a:ln/>
        </p:spPr>
        <p:txBody>
          <a:bodyPr/>
          <a:lstStyle/>
          <a:p>
            <a:endParaRPr lang="en-US"/>
          </a:p>
        </p:txBody>
      </p:sp>
      <p:sp>
        <p:nvSpPr>
          <p:cNvPr id="5" name="Text 3"/>
          <p:cNvSpPr/>
          <p:nvPr/>
        </p:nvSpPr>
        <p:spPr>
          <a:xfrm>
            <a:off x="1143000" y="3072806"/>
            <a:ext cx="3712986" cy="192308"/>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NAME</a:t>
            </a:r>
            <a:endParaRPr lang="en-US" sz="1800" dirty="0"/>
          </a:p>
        </p:txBody>
      </p:sp>
      <p:sp>
        <p:nvSpPr>
          <p:cNvPr id="6" name="Shape 4"/>
          <p:cNvSpPr/>
          <p:nvPr/>
        </p:nvSpPr>
        <p:spPr>
          <a:xfrm>
            <a:off x="4726260" y="3318495"/>
            <a:ext cx="5287491" cy="19050"/>
          </a:xfrm>
          <a:prstGeom prst="rect">
            <a:avLst/>
          </a:prstGeom>
          <a:solidFill>
            <a:srgbClr val="201E1E">
              <a:alpha val="40000"/>
            </a:srgbClr>
          </a:solidFill>
          <a:ln/>
        </p:spPr>
        <p:txBody>
          <a:bodyPr/>
          <a:lstStyle/>
          <a:p>
            <a:endParaRPr lang="en-US"/>
          </a:p>
        </p:txBody>
      </p:sp>
      <p:sp>
        <p:nvSpPr>
          <p:cNvPr id="7" name="Text 5"/>
          <p:cNvSpPr/>
          <p:nvPr/>
        </p:nvSpPr>
        <p:spPr>
          <a:xfrm>
            <a:off x="4954860" y="3072806"/>
            <a:ext cx="5359040" cy="192308"/>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FORMULA</a:t>
            </a:r>
            <a:endParaRPr lang="en-US" sz="1800" dirty="0"/>
          </a:p>
        </p:txBody>
      </p:sp>
      <p:sp>
        <p:nvSpPr>
          <p:cNvPr id="8" name="Shape 6"/>
          <p:cNvSpPr/>
          <p:nvPr/>
        </p:nvSpPr>
        <p:spPr>
          <a:xfrm>
            <a:off x="10013752" y="3318495"/>
            <a:ext cx="5988248" cy="19050"/>
          </a:xfrm>
          <a:prstGeom prst="rect">
            <a:avLst/>
          </a:prstGeom>
          <a:solidFill>
            <a:srgbClr val="201E1E">
              <a:alpha val="40000"/>
            </a:srgbClr>
          </a:solidFill>
          <a:ln/>
        </p:spPr>
        <p:txBody>
          <a:bodyPr/>
          <a:lstStyle/>
          <a:p>
            <a:endParaRPr lang="en-US"/>
          </a:p>
        </p:txBody>
      </p:sp>
      <p:sp>
        <p:nvSpPr>
          <p:cNvPr id="9" name="Text 7"/>
          <p:cNvSpPr/>
          <p:nvPr/>
        </p:nvSpPr>
        <p:spPr>
          <a:xfrm>
            <a:off x="10242352" y="3072806"/>
            <a:ext cx="6358473" cy="192308"/>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SAYS</a:t>
            </a:r>
            <a:endParaRPr lang="en-US" sz="1800" dirty="0"/>
          </a:p>
        </p:txBody>
      </p:sp>
      <p:sp>
        <p:nvSpPr>
          <p:cNvPr id="10" name="Shape 8"/>
          <p:cNvSpPr/>
          <p:nvPr/>
        </p:nvSpPr>
        <p:spPr>
          <a:xfrm>
            <a:off x="1143000" y="3698379"/>
            <a:ext cx="3583260" cy="9525"/>
          </a:xfrm>
          <a:prstGeom prst="rect">
            <a:avLst/>
          </a:prstGeom>
          <a:solidFill>
            <a:srgbClr val="201E1E">
              <a:alpha val="40000"/>
            </a:srgbClr>
          </a:solidFill>
          <a:ln/>
        </p:spPr>
        <p:txBody>
          <a:bodyPr/>
          <a:lstStyle/>
          <a:p>
            <a:endParaRPr lang="en-US"/>
          </a:p>
        </p:txBody>
      </p:sp>
      <p:sp>
        <p:nvSpPr>
          <p:cNvPr id="11" name="Text 9"/>
          <p:cNvSpPr/>
          <p:nvPr/>
        </p:nvSpPr>
        <p:spPr>
          <a:xfrm>
            <a:off x="1143000" y="3437253"/>
            <a:ext cx="3462158" cy="199518"/>
          </a:xfrm>
          <a:prstGeom prst="rect">
            <a:avLst/>
          </a:prstGeom>
          <a:noFill/>
          <a:ln/>
        </p:spPr>
        <p:txBody>
          <a:bodyPr wrap="square" lIns="25400" tIns="25400" rIns="25400" bIns="25400" rtlCol="0" anchor="ctr">
            <a:normAutofit fontScale="475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Permutations</a:t>
            </a:r>
            <a:endParaRPr lang="en-US" sz="1800" dirty="0"/>
          </a:p>
        </p:txBody>
      </p:sp>
      <p:sp>
        <p:nvSpPr>
          <p:cNvPr id="12" name="Shape 10"/>
          <p:cNvSpPr/>
          <p:nvPr/>
        </p:nvSpPr>
        <p:spPr>
          <a:xfrm>
            <a:off x="4726260" y="3698379"/>
            <a:ext cx="5287491" cy="9525"/>
          </a:xfrm>
          <a:prstGeom prst="rect">
            <a:avLst/>
          </a:prstGeom>
          <a:solidFill>
            <a:srgbClr val="201E1E">
              <a:alpha val="40000"/>
            </a:srgbClr>
          </a:solidFill>
          <a:ln/>
        </p:spPr>
        <p:txBody>
          <a:bodyPr/>
          <a:lstStyle/>
          <a:p>
            <a:endParaRPr lang="en-US"/>
          </a:p>
        </p:txBody>
      </p:sp>
      <p:sp>
        <p:nvSpPr>
          <p:cNvPr id="13" name="Text 11"/>
          <p:cNvSpPr/>
          <p:nvPr/>
        </p:nvSpPr>
        <p:spPr>
          <a:xfrm>
            <a:off x="4954860" y="3437253"/>
            <a:ext cx="4988916" cy="199518"/>
          </a:xfrm>
          <a:prstGeom prst="rect">
            <a:avLst/>
          </a:prstGeom>
          <a:noFill/>
          <a:ln/>
        </p:spPr>
        <p:txBody>
          <a:bodyPr wrap="square" lIns="25400" tIns="25400" rIns="25400" bIns="25400" rtlCol="0" anchor="ctr">
            <a:normAutofit fontScale="475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ⁿPᵣ = n! / (n−r)!</a:t>
            </a:r>
            <a:endParaRPr lang="en-US" sz="1800" dirty="0"/>
          </a:p>
        </p:txBody>
      </p:sp>
      <p:sp>
        <p:nvSpPr>
          <p:cNvPr id="14" name="Shape 12"/>
          <p:cNvSpPr/>
          <p:nvPr/>
        </p:nvSpPr>
        <p:spPr>
          <a:xfrm>
            <a:off x="10013752" y="3698379"/>
            <a:ext cx="5988248" cy="9525"/>
          </a:xfrm>
          <a:prstGeom prst="rect">
            <a:avLst/>
          </a:prstGeom>
          <a:solidFill>
            <a:srgbClr val="201E1E">
              <a:alpha val="40000"/>
            </a:srgbClr>
          </a:solidFill>
          <a:ln/>
        </p:spPr>
        <p:txBody>
          <a:bodyPr/>
          <a:lstStyle/>
          <a:p>
            <a:endParaRPr lang="en-US"/>
          </a:p>
        </p:txBody>
      </p:sp>
      <p:sp>
        <p:nvSpPr>
          <p:cNvPr id="15" name="Text 13"/>
          <p:cNvSpPr/>
          <p:nvPr/>
        </p:nvSpPr>
        <p:spPr>
          <a:xfrm>
            <a:off x="10242352" y="3437253"/>
            <a:ext cx="5939296" cy="199518"/>
          </a:xfrm>
          <a:prstGeom prst="rect">
            <a:avLst/>
          </a:prstGeom>
          <a:noFill/>
          <a:ln/>
        </p:spPr>
        <p:txBody>
          <a:bodyPr wrap="square" lIns="25400" tIns="25400" rIns="25400" bIns="25400" rtlCol="0" anchor="ctr">
            <a:normAutofit fontScale="475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Ordered picks of r from n</a:t>
            </a:r>
            <a:endParaRPr lang="en-US" sz="1800" dirty="0"/>
          </a:p>
        </p:txBody>
      </p:sp>
      <p:sp>
        <p:nvSpPr>
          <p:cNvPr id="16" name="Shape 14"/>
          <p:cNvSpPr/>
          <p:nvPr/>
        </p:nvSpPr>
        <p:spPr>
          <a:xfrm>
            <a:off x="1143000" y="4063975"/>
            <a:ext cx="3583260" cy="9525"/>
          </a:xfrm>
          <a:prstGeom prst="rect">
            <a:avLst/>
          </a:prstGeom>
          <a:solidFill>
            <a:srgbClr val="201E1E">
              <a:alpha val="40000"/>
            </a:srgbClr>
          </a:solidFill>
          <a:ln/>
        </p:spPr>
        <p:txBody>
          <a:bodyPr/>
          <a:lstStyle/>
          <a:p>
            <a:endParaRPr lang="en-US"/>
          </a:p>
        </p:txBody>
      </p:sp>
      <p:sp>
        <p:nvSpPr>
          <p:cNvPr id="17" name="Text 15"/>
          <p:cNvSpPr/>
          <p:nvPr/>
        </p:nvSpPr>
        <p:spPr>
          <a:xfrm>
            <a:off x="1143000" y="3807612"/>
            <a:ext cx="3712986"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Combinations</a:t>
            </a:r>
            <a:endParaRPr lang="en-US" sz="1800" dirty="0"/>
          </a:p>
        </p:txBody>
      </p:sp>
      <p:sp>
        <p:nvSpPr>
          <p:cNvPr id="18" name="Shape 16"/>
          <p:cNvSpPr/>
          <p:nvPr/>
        </p:nvSpPr>
        <p:spPr>
          <a:xfrm>
            <a:off x="4726260" y="4063975"/>
            <a:ext cx="5287491" cy="9525"/>
          </a:xfrm>
          <a:prstGeom prst="rect">
            <a:avLst/>
          </a:prstGeom>
          <a:solidFill>
            <a:srgbClr val="201E1E">
              <a:alpha val="40000"/>
            </a:srgbClr>
          </a:solidFill>
          <a:ln/>
        </p:spPr>
        <p:txBody>
          <a:bodyPr/>
          <a:lstStyle/>
          <a:p>
            <a:endParaRPr lang="en-US"/>
          </a:p>
        </p:txBody>
      </p:sp>
      <p:sp>
        <p:nvSpPr>
          <p:cNvPr id="19" name="Text 17"/>
          <p:cNvSpPr/>
          <p:nvPr/>
        </p:nvSpPr>
        <p:spPr>
          <a:xfrm>
            <a:off x="4954860" y="3807612"/>
            <a:ext cx="53590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ⁿCᵣ = n! / (r!(n−r)!)</a:t>
            </a:r>
            <a:endParaRPr lang="en-US" sz="1800" dirty="0"/>
          </a:p>
        </p:txBody>
      </p:sp>
      <p:sp>
        <p:nvSpPr>
          <p:cNvPr id="20" name="Shape 18"/>
          <p:cNvSpPr/>
          <p:nvPr/>
        </p:nvSpPr>
        <p:spPr>
          <a:xfrm>
            <a:off x="10013752" y="4063975"/>
            <a:ext cx="5988248" cy="9525"/>
          </a:xfrm>
          <a:prstGeom prst="rect">
            <a:avLst/>
          </a:prstGeom>
          <a:solidFill>
            <a:srgbClr val="201E1E">
              <a:alpha val="40000"/>
            </a:srgbClr>
          </a:solidFill>
          <a:ln/>
        </p:spPr>
        <p:txBody>
          <a:bodyPr/>
          <a:lstStyle/>
          <a:p>
            <a:endParaRPr lang="en-US"/>
          </a:p>
        </p:txBody>
      </p:sp>
      <p:sp>
        <p:nvSpPr>
          <p:cNvPr id="21" name="Text 19"/>
          <p:cNvSpPr/>
          <p:nvPr/>
        </p:nvSpPr>
        <p:spPr>
          <a:xfrm>
            <a:off x="10242352" y="3807612"/>
            <a:ext cx="635847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Groups of r from n, order ignored</a:t>
            </a:r>
            <a:endParaRPr lang="en-US" sz="1800" dirty="0"/>
          </a:p>
        </p:txBody>
      </p:sp>
      <p:sp>
        <p:nvSpPr>
          <p:cNvPr id="22" name="Shape 20"/>
          <p:cNvSpPr/>
          <p:nvPr/>
        </p:nvSpPr>
        <p:spPr>
          <a:xfrm>
            <a:off x="1143000" y="4429571"/>
            <a:ext cx="3583260" cy="9525"/>
          </a:xfrm>
          <a:prstGeom prst="rect">
            <a:avLst/>
          </a:prstGeom>
          <a:solidFill>
            <a:srgbClr val="201E1E">
              <a:alpha val="40000"/>
            </a:srgbClr>
          </a:solidFill>
          <a:ln/>
        </p:spPr>
        <p:txBody>
          <a:bodyPr/>
          <a:lstStyle/>
          <a:p>
            <a:endParaRPr lang="en-US"/>
          </a:p>
        </p:txBody>
      </p:sp>
      <p:sp>
        <p:nvSpPr>
          <p:cNvPr id="23" name="Text 21"/>
          <p:cNvSpPr/>
          <p:nvPr/>
        </p:nvSpPr>
        <p:spPr>
          <a:xfrm>
            <a:off x="1143000" y="4173208"/>
            <a:ext cx="3712986"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Conditional</a:t>
            </a:r>
            <a:endParaRPr lang="en-US" sz="1800" dirty="0"/>
          </a:p>
        </p:txBody>
      </p:sp>
      <p:sp>
        <p:nvSpPr>
          <p:cNvPr id="24" name="Shape 22"/>
          <p:cNvSpPr/>
          <p:nvPr/>
        </p:nvSpPr>
        <p:spPr>
          <a:xfrm>
            <a:off x="4726260" y="4429571"/>
            <a:ext cx="5287491" cy="9525"/>
          </a:xfrm>
          <a:prstGeom prst="rect">
            <a:avLst/>
          </a:prstGeom>
          <a:solidFill>
            <a:srgbClr val="201E1E">
              <a:alpha val="40000"/>
            </a:srgbClr>
          </a:solidFill>
          <a:ln/>
        </p:spPr>
        <p:txBody>
          <a:bodyPr/>
          <a:lstStyle/>
          <a:p>
            <a:endParaRPr lang="en-US"/>
          </a:p>
        </p:txBody>
      </p:sp>
      <p:sp>
        <p:nvSpPr>
          <p:cNvPr id="25" name="Text 23"/>
          <p:cNvSpPr/>
          <p:nvPr/>
        </p:nvSpPr>
        <p:spPr>
          <a:xfrm>
            <a:off x="4954860" y="4173208"/>
            <a:ext cx="53590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P(A|B) = P(A and B) / P(B)</a:t>
            </a:r>
            <a:endParaRPr lang="en-US" sz="1800" dirty="0"/>
          </a:p>
        </p:txBody>
      </p:sp>
      <p:sp>
        <p:nvSpPr>
          <p:cNvPr id="26" name="Shape 24"/>
          <p:cNvSpPr/>
          <p:nvPr/>
        </p:nvSpPr>
        <p:spPr>
          <a:xfrm>
            <a:off x="10013752" y="4429571"/>
            <a:ext cx="5988248" cy="9525"/>
          </a:xfrm>
          <a:prstGeom prst="rect">
            <a:avLst/>
          </a:prstGeom>
          <a:solidFill>
            <a:srgbClr val="201E1E">
              <a:alpha val="40000"/>
            </a:srgbClr>
          </a:solidFill>
          <a:ln/>
        </p:spPr>
        <p:txBody>
          <a:bodyPr/>
          <a:lstStyle/>
          <a:p>
            <a:endParaRPr lang="en-US"/>
          </a:p>
        </p:txBody>
      </p:sp>
      <p:sp>
        <p:nvSpPr>
          <p:cNvPr id="27" name="Text 25"/>
          <p:cNvSpPr/>
          <p:nvPr/>
        </p:nvSpPr>
        <p:spPr>
          <a:xfrm>
            <a:off x="10242352" y="4173208"/>
            <a:ext cx="635847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Probability inside a smaller world</a:t>
            </a:r>
            <a:endParaRPr lang="en-US" sz="1800" dirty="0"/>
          </a:p>
        </p:txBody>
      </p:sp>
      <p:sp>
        <p:nvSpPr>
          <p:cNvPr id="28" name="Shape 26"/>
          <p:cNvSpPr/>
          <p:nvPr/>
        </p:nvSpPr>
        <p:spPr>
          <a:xfrm>
            <a:off x="1143000" y="4795168"/>
            <a:ext cx="3583260" cy="9525"/>
          </a:xfrm>
          <a:prstGeom prst="rect">
            <a:avLst/>
          </a:prstGeom>
          <a:solidFill>
            <a:srgbClr val="201E1E">
              <a:alpha val="40000"/>
            </a:srgbClr>
          </a:solidFill>
          <a:ln/>
        </p:spPr>
        <p:txBody>
          <a:bodyPr/>
          <a:lstStyle/>
          <a:p>
            <a:endParaRPr lang="en-US"/>
          </a:p>
        </p:txBody>
      </p:sp>
      <p:sp>
        <p:nvSpPr>
          <p:cNvPr id="29" name="Text 27"/>
          <p:cNvSpPr/>
          <p:nvPr/>
        </p:nvSpPr>
        <p:spPr>
          <a:xfrm>
            <a:off x="1143000" y="4538804"/>
            <a:ext cx="3712986"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Bayes</a:t>
            </a:r>
            <a:endParaRPr lang="en-US" sz="1800" dirty="0"/>
          </a:p>
        </p:txBody>
      </p:sp>
      <p:sp>
        <p:nvSpPr>
          <p:cNvPr id="30" name="Shape 28"/>
          <p:cNvSpPr/>
          <p:nvPr/>
        </p:nvSpPr>
        <p:spPr>
          <a:xfrm>
            <a:off x="4726260" y="4795168"/>
            <a:ext cx="5287491" cy="9525"/>
          </a:xfrm>
          <a:prstGeom prst="rect">
            <a:avLst/>
          </a:prstGeom>
          <a:solidFill>
            <a:srgbClr val="201E1E">
              <a:alpha val="40000"/>
            </a:srgbClr>
          </a:solidFill>
          <a:ln/>
        </p:spPr>
        <p:txBody>
          <a:bodyPr/>
          <a:lstStyle/>
          <a:p>
            <a:endParaRPr lang="en-US"/>
          </a:p>
        </p:txBody>
      </p:sp>
      <p:sp>
        <p:nvSpPr>
          <p:cNvPr id="31" name="Text 29"/>
          <p:cNvSpPr/>
          <p:nvPr/>
        </p:nvSpPr>
        <p:spPr>
          <a:xfrm>
            <a:off x="4954860" y="4538804"/>
            <a:ext cx="53590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P(A|B) = P(B|A)P(A) / P(B)</a:t>
            </a:r>
            <a:endParaRPr lang="en-US" sz="1800" dirty="0"/>
          </a:p>
        </p:txBody>
      </p:sp>
      <p:sp>
        <p:nvSpPr>
          <p:cNvPr id="32" name="Shape 30"/>
          <p:cNvSpPr/>
          <p:nvPr/>
        </p:nvSpPr>
        <p:spPr>
          <a:xfrm>
            <a:off x="10013752" y="4795168"/>
            <a:ext cx="5988248" cy="9525"/>
          </a:xfrm>
          <a:prstGeom prst="rect">
            <a:avLst/>
          </a:prstGeom>
          <a:solidFill>
            <a:srgbClr val="201E1E">
              <a:alpha val="40000"/>
            </a:srgbClr>
          </a:solidFill>
          <a:ln/>
        </p:spPr>
        <p:txBody>
          <a:bodyPr/>
          <a:lstStyle/>
          <a:p>
            <a:endParaRPr lang="en-US"/>
          </a:p>
        </p:txBody>
      </p:sp>
      <p:sp>
        <p:nvSpPr>
          <p:cNvPr id="33" name="Text 31"/>
          <p:cNvSpPr/>
          <p:nvPr/>
        </p:nvSpPr>
        <p:spPr>
          <a:xfrm>
            <a:off x="10242352" y="4538804"/>
            <a:ext cx="635847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Update a belief with evidence</a:t>
            </a:r>
            <a:endParaRPr lang="en-US" sz="1800" dirty="0"/>
          </a:p>
        </p:txBody>
      </p:sp>
      <p:sp>
        <p:nvSpPr>
          <p:cNvPr id="34" name="Shape 32"/>
          <p:cNvSpPr/>
          <p:nvPr/>
        </p:nvSpPr>
        <p:spPr>
          <a:xfrm>
            <a:off x="1143000" y="5160764"/>
            <a:ext cx="3583260" cy="9525"/>
          </a:xfrm>
          <a:prstGeom prst="rect">
            <a:avLst/>
          </a:prstGeom>
          <a:solidFill>
            <a:srgbClr val="201E1E">
              <a:alpha val="40000"/>
            </a:srgbClr>
          </a:solidFill>
          <a:ln/>
        </p:spPr>
        <p:txBody>
          <a:bodyPr/>
          <a:lstStyle/>
          <a:p>
            <a:endParaRPr lang="en-US"/>
          </a:p>
        </p:txBody>
      </p:sp>
      <p:sp>
        <p:nvSpPr>
          <p:cNvPr id="35" name="Text 33"/>
          <p:cNvSpPr/>
          <p:nvPr/>
        </p:nvSpPr>
        <p:spPr>
          <a:xfrm>
            <a:off x="1143000" y="4904400"/>
            <a:ext cx="3712986"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Binomial</a:t>
            </a:r>
            <a:endParaRPr lang="en-US" sz="1800" dirty="0"/>
          </a:p>
        </p:txBody>
      </p:sp>
      <p:sp>
        <p:nvSpPr>
          <p:cNvPr id="36" name="Shape 34"/>
          <p:cNvSpPr/>
          <p:nvPr/>
        </p:nvSpPr>
        <p:spPr>
          <a:xfrm>
            <a:off x="4726260" y="5160764"/>
            <a:ext cx="5287491" cy="9525"/>
          </a:xfrm>
          <a:prstGeom prst="rect">
            <a:avLst/>
          </a:prstGeom>
          <a:solidFill>
            <a:srgbClr val="201E1E">
              <a:alpha val="40000"/>
            </a:srgbClr>
          </a:solidFill>
          <a:ln/>
        </p:spPr>
        <p:txBody>
          <a:bodyPr/>
          <a:lstStyle/>
          <a:p>
            <a:endParaRPr lang="en-US"/>
          </a:p>
        </p:txBody>
      </p:sp>
      <p:sp>
        <p:nvSpPr>
          <p:cNvPr id="37" name="Text 35"/>
          <p:cNvSpPr/>
          <p:nvPr/>
        </p:nvSpPr>
        <p:spPr>
          <a:xfrm>
            <a:off x="4954860" y="4904400"/>
            <a:ext cx="53590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P(X=k) = ⁿCₖ pᵏ(1−p)ⁿ⁻ᵏ</a:t>
            </a:r>
            <a:endParaRPr lang="en-US" sz="1800" dirty="0"/>
          </a:p>
        </p:txBody>
      </p:sp>
      <p:sp>
        <p:nvSpPr>
          <p:cNvPr id="38" name="Shape 36"/>
          <p:cNvSpPr/>
          <p:nvPr/>
        </p:nvSpPr>
        <p:spPr>
          <a:xfrm>
            <a:off x="10013752" y="5160764"/>
            <a:ext cx="5988248" cy="9525"/>
          </a:xfrm>
          <a:prstGeom prst="rect">
            <a:avLst/>
          </a:prstGeom>
          <a:solidFill>
            <a:srgbClr val="201E1E">
              <a:alpha val="40000"/>
            </a:srgbClr>
          </a:solidFill>
          <a:ln/>
        </p:spPr>
        <p:txBody>
          <a:bodyPr/>
          <a:lstStyle/>
          <a:p>
            <a:endParaRPr lang="en-US"/>
          </a:p>
        </p:txBody>
      </p:sp>
      <p:sp>
        <p:nvSpPr>
          <p:cNvPr id="39" name="Text 37"/>
          <p:cNvSpPr/>
          <p:nvPr/>
        </p:nvSpPr>
        <p:spPr>
          <a:xfrm>
            <a:off x="10242352" y="4904400"/>
            <a:ext cx="635847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k successes out of n trials</a:t>
            </a:r>
            <a:endParaRPr lang="en-US" sz="1800" dirty="0"/>
          </a:p>
        </p:txBody>
      </p:sp>
      <p:sp>
        <p:nvSpPr>
          <p:cNvPr id="40" name="Shape 38"/>
          <p:cNvSpPr/>
          <p:nvPr/>
        </p:nvSpPr>
        <p:spPr>
          <a:xfrm>
            <a:off x="1143000" y="5526360"/>
            <a:ext cx="3583260" cy="9525"/>
          </a:xfrm>
          <a:prstGeom prst="rect">
            <a:avLst/>
          </a:prstGeom>
          <a:solidFill>
            <a:srgbClr val="201E1E">
              <a:alpha val="40000"/>
            </a:srgbClr>
          </a:solidFill>
          <a:ln/>
        </p:spPr>
        <p:txBody>
          <a:bodyPr/>
          <a:lstStyle/>
          <a:p>
            <a:endParaRPr lang="en-US"/>
          </a:p>
        </p:txBody>
      </p:sp>
      <p:sp>
        <p:nvSpPr>
          <p:cNvPr id="41" name="Text 39"/>
          <p:cNvSpPr/>
          <p:nvPr/>
        </p:nvSpPr>
        <p:spPr>
          <a:xfrm>
            <a:off x="1143000" y="5269997"/>
            <a:ext cx="3712986"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Poisson</a:t>
            </a:r>
            <a:endParaRPr lang="en-US" sz="1800" dirty="0"/>
          </a:p>
        </p:txBody>
      </p:sp>
      <p:sp>
        <p:nvSpPr>
          <p:cNvPr id="42" name="Shape 40"/>
          <p:cNvSpPr/>
          <p:nvPr/>
        </p:nvSpPr>
        <p:spPr>
          <a:xfrm>
            <a:off x="4726260" y="5526360"/>
            <a:ext cx="5287491" cy="9525"/>
          </a:xfrm>
          <a:prstGeom prst="rect">
            <a:avLst/>
          </a:prstGeom>
          <a:solidFill>
            <a:srgbClr val="201E1E">
              <a:alpha val="40000"/>
            </a:srgbClr>
          </a:solidFill>
          <a:ln/>
        </p:spPr>
        <p:txBody>
          <a:bodyPr/>
          <a:lstStyle/>
          <a:p>
            <a:endParaRPr lang="en-US"/>
          </a:p>
        </p:txBody>
      </p:sp>
      <p:sp>
        <p:nvSpPr>
          <p:cNvPr id="43" name="Text 41"/>
          <p:cNvSpPr/>
          <p:nvPr/>
        </p:nvSpPr>
        <p:spPr>
          <a:xfrm>
            <a:off x="4954860" y="5269997"/>
            <a:ext cx="53590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P(X=k) = e^(−λ) λᵏ / k!</a:t>
            </a:r>
            <a:endParaRPr lang="en-US" sz="1800" dirty="0"/>
          </a:p>
        </p:txBody>
      </p:sp>
      <p:sp>
        <p:nvSpPr>
          <p:cNvPr id="44" name="Shape 42"/>
          <p:cNvSpPr/>
          <p:nvPr/>
        </p:nvSpPr>
        <p:spPr>
          <a:xfrm>
            <a:off x="10013752" y="5526360"/>
            <a:ext cx="5988248" cy="9525"/>
          </a:xfrm>
          <a:prstGeom prst="rect">
            <a:avLst/>
          </a:prstGeom>
          <a:solidFill>
            <a:srgbClr val="201E1E">
              <a:alpha val="40000"/>
            </a:srgbClr>
          </a:solidFill>
          <a:ln/>
        </p:spPr>
        <p:txBody>
          <a:bodyPr/>
          <a:lstStyle/>
          <a:p>
            <a:endParaRPr lang="en-US"/>
          </a:p>
        </p:txBody>
      </p:sp>
      <p:sp>
        <p:nvSpPr>
          <p:cNvPr id="45" name="Text 43"/>
          <p:cNvSpPr/>
          <p:nvPr/>
        </p:nvSpPr>
        <p:spPr>
          <a:xfrm>
            <a:off x="10242352" y="5269997"/>
            <a:ext cx="635847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k rare events in a window</a:t>
            </a:r>
            <a:endParaRPr lang="en-US" sz="1800" dirty="0"/>
          </a:p>
        </p:txBody>
      </p:sp>
      <p:sp>
        <p:nvSpPr>
          <p:cNvPr id="46" name="Shape 44"/>
          <p:cNvSpPr/>
          <p:nvPr/>
        </p:nvSpPr>
        <p:spPr>
          <a:xfrm>
            <a:off x="1143000" y="5891957"/>
            <a:ext cx="3583260" cy="9525"/>
          </a:xfrm>
          <a:prstGeom prst="rect">
            <a:avLst/>
          </a:prstGeom>
          <a:solidFill>
            <a:srgbClr val="201E1E">
              <a:alpha val="40000"/>
            </a:srgbClr>
          </a:solidFill>
          <a:ln/>
        </p:spPr>
        <p:txBody>
          <a:bodyPr/>
          <a:lstStyle/>
          <a:p>
            <a:endParaRPr lang="en-US"/>
          </a:p>
        </p:txBody>
      </p:sp>
      <p:sp>
        <p:nvSpPr>
          <p:cNvPr id="47" name="Text 45"/>
          <p:cNvSpPr/>
          <p:nvPr/>
        </p:nvSpPr>
        <p:spPr>
          <a:xfrm>
            <a:off x="1143000" y="5635593"/>
            <a:ext cx="3712986"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Euclidean distance</a:t>
            </a:r>
            <a:endParaRPr lang="en-US" sz="1800" dirty="0"/>
          </a:p>
        </p:txBody>
      </p:sp>
      <p:sp>
        <p:nvSpPr>
          <p:cNvPr id="48" name="Shape 46"/>
          <p:cNvSpPr/>
          <p:nvPr/>
        </p:nvSpPr>
        <p:spPr>
          <a:xfrm>
            <a:off x="4726260" y="5891957"/>
            <a:ext cx="5287491" cy="9525"/>
          </a:xfrm>
          <a:prstGeom prst="rect">
            <a:avLst/>
          </a:prstGeom>
          <a:solidFill>
            <a:srgbClr val="201E1E">
              <a:alpha val="40000"/>
            </a:srgbClr>
          </a:solidFill>
          <a:ln/>
        </p:spPr>
        <p:txBody>
          <a:bodyPr/>
          <a:lstStyle/>
          <a:p>
            <a:endParaRPr lang="en-US"/>
          </a:p>
        </p:txBody>
      </p:sp>
      <p:sp>
        <p:nvSpPr>
          <p:cNvPr id="49" name="Text 47"/>
          <p:cNvSpPr/>
          <p:nvPr/>
        </p:nvSpPr>
        <p:spPr>
          <a:xfrm>
            <a:off x="4954860" y="5635593"/>
            <a:ext cx="53590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√Σ(xᵢ − yᵢ)²</a:t>
            </a:r>
            <a:endParaRPr lang="en-US" sz="1800" dirty="0"/>
          </a:p>
        </p:txBody>
      </p:sp>
      <p:sp>
        <p:nvSpPr>
          <p:cNvPr id="50" name="Shape 48"/>
          <p:cNvSpPr/>
          <p:nvPr/>
        </p:nvSpPr>
        <p:spPr>
          <a:xfrm>
            <a:off x="10013752" y="5891957"/>
            <a:ext cx="5988248" cy="9525"/>
          </a:xfrm>
          <a:prstGeom prst="rect">
            <a:avLst/>
          </a:prstGeom>
          <a:solidFill>
            <a:srgbClr val="201E1E">
              <a:alpha val="40000"/>
            </a:srgbClr>
          </a:solidFill>
          <a:ln/>
        </p:spPr>
        <p:txBody>
          <a:bodyPr/>
          <a:lstStyle/>
          <a:p>
            <a:endParaRPr lang="en-US"/>
          </a:p>
        </p:txBody>
      </p:sp>
      <p:sp>
        <p:nvSpPr>
          <p:cNvPr id="51" name="Text 49"/>
          <p:cNvSpPr/>
          <p:nvPr/>
        </p:nvSpPr>
        <p:spPr>
          <a:xfrm>
            <a:off x="10242352" y="5635593"/>
            <a:ext cx="635847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Straight-line gap between vectors</a:t>
            </a:r>
            <a:endParaRPr lang="en-US" sz="1800" dirty="0"/>
          </a:p>
        </p:txBody>
      </p:sp>
      <p:sp>
        <p:nvSpPr>
          <p:cNvPr id="52" name="Shape 50"/>
          <p:cNvSpPr/>
          <p:nvPr/>
        </p:nvSpPr>
        <p:spPr>
          <a:xfrm>
            <a:off x="1143000" y="6257553"/>
            <a:ext cx="3583260" cy="9525"/>
          </a:xfrm>
          <a:prstGeom prst="rect">
            <a:avLst/>
          </a:prstGeom>
          <a:solidFill>
            <a:srgbClr val="201E1E">
              <a:alpha val="40000"/>
            </a:srgbClr>
          </a:solidFill>
          <a:ln/>
        </p:spPr>
        <p:txBody>
          <a:bodyPr/>
          <a:lstStyle/>
          <a:p>
            <a:endParaRPr lang="en-US"/>
          </a:p>
        </p:txBody>
      </p:sp>
      <p:sp>
        <p:nvSpPr>
          <p:cNvPr id="53" name="Text 51"/>
          <p:cNvSpPr/>
          <p:nvPr/>
        </p:nvSpPr>
        <p:spPr>
          <a:xfrm>
            <a:off x="1143000" y="6001189"/>
            <a:ext cx="3712986"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Cosine similarity</a:t>
            </a:r>
            <a:endParaRPr lang="en-US" sz="1800" dirty="0"/>
          </a:p>
        </p:txBody>
      </p:sp>
      <p:sp>
        <p:nvSpPr>
          <p:cNvPr id="54" name="Shape 52"/>
          <p:cNvSpPr/>
          <p:nvPr/>
        </p:nvSpPr>
        <p:spPr>
          <a:xfrm>
            <a:off x="4726260" y="6257553"/>
            <a:ext cx="5287491" cy="9525"/>
          </a:xfrm>
          <a:prstGeom prst="rect">
            <a:avLst/>
          </a:prstGeom>
          <a:solidFill>
            <a:srgbClr val="201E1E">
              <a:alpha val="40000"/>
            </a:srgbClr>
          </a:solidFill>
          <a:ln/>
        </p:spPr>
        <p:txBody>
          <a:bodyPr/>
          <a:lstStyle/>
          <a:p>
            <a:endParaRPr lang="en-US"/>
          </a:p>
        </p:txBody>
      </p:sp>
      <p:sp>
        <p:nvSpPr>
          <p:cNvPr id="55" name="Text 53"/>
          <p:cNvSpPr/>
          <p:nvPr/>
        </p:nvSpPr>
        <p:spPr>
          <a:xfrm>
            <a:off x="4954860" y="6001189"/>
            <a:ext cx="53590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(A·B) / (‖A‖‖B‖)</a:t>
            </a:r>
            <a:endParaRPr lang="en-US" sz="1800" dirty="0"/>
          </a:p>
        </p:txBody>
      </p:sp>
      <p:sp>
        <p:nvSpPr>
          <p:cNvPr id="56" name="Shape 54"/>
          <p:cNvSpPr/>
          <p:nvPr/>
        </p:nvSpPr>
        <p:spPr>
          <a:xfrm>
            <a:off x="10013752" y="6257553"/>
            <a:ext cx="5988248" cy="9525"/>
          </a:xfrm>
          <a:prstGeom prst="rect">
            <a:avLst/>
          </a:prstGeom>
          <a:solidFill>
            <a:srgbClr val="201E1E">
              <a:alpha val="40000"/>
            </a:srgbClr>
          </a:solidFill>
          <a:ln/>
        </p:spPr>
        <p:txBody>
          <a:bodyPr/>
          <a:lstStyle/>
          <a:p>
            <a:endParaRPr lang="en-US"/>
          </a:p>
        </p:txBody>
      </p:sp>
      <p:sp>
        <p:nvSpPr>
          <p:cNvPr id="57" name="Text 55"/>
          <p:cNvSpPr/>
          <p:nvPr/>
        </p:nvSpPr>
        <p:spPr>
          <a:xfrm>
            <a:off x="10242352" y="6001189"/>
            <a:ext cx="635847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Same direction, ignoring length</a:t>
            </a:r>
            <a:endParaRPr lang="en-US" sz="1800" dirty="0"/>
          </a:p>
        </p:txBody>
      </p:sp>
      <p:sp>
        <p:nvSpPr>
          <p:cNvPr id="58" name="Shape 56"/>
          <p:cNvSpPr/>
          <p:nvPr/>
        </p:nvSpPr>
        <p:spPr>
          <a:xfrm>
            <a:off x="1143000" y="6623149"/>
            <a:ext cx="3583260" cy="9525"/>
          </a:xfrm>
          <a:prstGeom prst="rect">
            <a:avLst/>
          </a:prstGeom>
          <a:solidFill>
            <a:srgbClr val="201E1E">
              <a:alpha val="40000"/>
            </a:srgbClr>
          </a:solidFill>
          <a:ln/>
        </p:spPr>
        <p:txBody>
          <a:bodyPr/>
          <a:lstStyle/>
          <a:p>
            <a:endParaRPr lang="en-US"/>
          </a:p>
        </p:txBody>
      </p:sp>
      <p:sp>
        <p:nvSpPr>
          <p:cNvPr id="59" name="Text 57"/>
          <p:cNvSpPr/>
          <p:nvPr/>
        </p:nvSpPr>
        <p:spPr>
          <a:xfrm>
            <a:off x="1143000" y="6366786"/>
            <a:ext cx="3712986"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Matrix product</a:t>
            </a:r>
            <a:endParaRPr lang="en-US" sz="1800" dirty="0"/>
          </a:p>
        </p:txBody>
      </p:sp>
      <p:sp>
        <p:nvSpPr>
          <p:cNvPr id="60" name="Shape 58"/>
          <p:cNvSpPr/>
          <p:nvPr/>
        </p:nvSpPr>
        <p:spPr>
          <a:xfrm>
            <a:off x="4726260" y="6623149"/>
            <a:ext cx="5287491" cy="9525"/>
          </a:xfrm>
          <a:prstGeom prst="rect">
            <a:avLst/>
          </a:prstGeom>
          <a:solidFill>
            <a:srgbClr val="201E1E">
              <a:alpha val="40000"/>
            </a:srgbClr>
          </a:solidFill>
          <a:ln/>
        </p:spPr>
        <p:txBody>
          <a:bodyPr/>
          <a:lstStyle/>
          <a:p>
            <a:endParaRPr lang="en-US"/>
          </a:p>
        </p:txBody>
      </p:sp>
      <p:sp>
        <p:nvSpPr>
          <p:cNvPr id="61" name="Text 59"/>
          <p:cNvSpPr/>
          <p:nvPr/>
        </p:nvSpPr>
        <p:spPr>
          <a:xfrm>
            <a:off x="4954860" y="6366786"/>
            <a:ext cx="53590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(AB)ᵢⱼ = Σₖ AᵢₖBₖⱼ</a:t>
            </a:r>
            <a:endParaRPr lang="en-US" sz="1800" dirty="0"/>
          </a:p>
        </p:txBody>
      </p:sp>
      <p:sp>
        <p:nvSpPr>
          <p:cNvPr id="62" name="Shape 60"/>
          <p:cNvSpPr/>
          <p:nvPr/>
        </p:nvSpPr>
        <p:spPr>
          <a:xfrm>
            <a:off x="10013752" y="6623149"/>
            <a:ext cx="5988248" cy="9525"/>
          </a:xfrm>
          <a:prstGeom prst="rect">
            <a:avLst/>
          </a:prstGeom>
          <a:solidFill>
            <a:srgbClr val="201E1E">
              <a:alpha val="40000"/>
            </a:srgbClr>
          </a:solidFill>
          <a:ln/>
        </p:spPr>
        <p:txBody>
          <a:bodyPr/>
          <a:lstStyle/>
          <a:p>
            <a:endParaRPr lang="en-US"/>
          </a:p>
        </p:txBody>
      </p:sp>
      <p:sp>
        <p:nvSpPr>
          <p:cNvPr id="63" name="Text 61"/>
          <p:cNvSpPr/>
          <p:nvPr/>
        </p:nvSpPr>
        <p:spPr>
          <a:xfrm>
            <a:off x="10242352" y="6366786"/>
            <a:ext cx="635847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Row dotted with column</a:t>
            </a:r>
            <a:endParaRPr lang="en-US" sz="1800" dirty="0"/>
          </a:p>
        </p:txBody>
      </p:sp>
      <p:sp>
        <p:nvSpPr>
          <p:cNvPr id="64" name="Shape 62"/>
          <p:cNvSpPr/>
          <p:nvPr/>
        </p:nvSpPr>
        <p:spPr>
          <a:xfrm>
            <a:off x="1143000" y="6988746"/>
            <a:ext cx="3583260" cy="9525"/>
          </a:xfrm>
          <a:prstGeom prst="rect">
            <a:avLst/>
          </a:prstGeom>
          <a:solidFill>
            <a:srgbClr val="201E1E">
              <a:alpha val="40000"/>
            </a:srgbClr>
          </a:solidFill>
          <a:ln/>
        </p:spPr>
        <p:txBody>
          <a:bodyPr/>
          <a:lstStyle/>
          <a:p>
            <a:endParaRPr lang="en-US"/>
          </a:p>
        </p:txBody>
      </p:sp>
      <p:sp>
        <p:nvSpPr>
          <p:cNvPr id="65" name="Text 63"/>
          <p:cNvSpPr/>
          <p:nvPr/>
        </p:nvSpPr>
        <p:spPr>
          <a:xfrm>
            <a:off x="1143000" y="6732382"/>
            <a:ext cx="3712986"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Gradient descent</a:t>
            </a:r>
            <a:endParaRPr lang="en-US" sz="1800" dirty="0"/>
          </a:p>
        </p:txBody>
      </p:sp>
      <p:sp>
        <p:nvSpPr>
          <p:cNvPr id="66" name="Shape 64"/>
          <p:cNvSpPr/>
          <p:nvPr/>
        </p:nvSpPr>
        <p:spPr>
          <a:xfrm>
            <a:off x="4726260" y="6988746"/>
            <a:ext cx="5287491" cy="9525"/>
          </a:xfrm>
          <a:prstGeom prst="rect">
            <a:avLst/>
          </a:prstGeom>
          <a:solidFill>
            <a:srgbClr val="201E1E">
              <a:alpha val="40000"/>
            </a:srgbClr>
          </a:solidFill>
          <a:ln/>
        </p:spPr>
        <p:txBody>
          <a:bodyPr/>
          <a:lstStyle/>
          <a:p>
            <a:endParaRPr lang="en-US"/>
          </a:p>
        </p:txBody>
      </p:sp>
      <p:sp>
        <p:nvSpPr>
          <p:cNvPr id="67" name="Text 65"/>
          <p:cNvSpPr/>
          <p:nvPr/>
        </p:nvSpPr>
        <p:spPr>
          <a:xfrm>
            <a:off x="4954860" y="6732382"/>
            <a:ext cx="53590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w ← w − α ∂L/∂w</a:t>
            </a:r>
            <a:endParaRPr lang="en-US" sz="1800" dirty="0"/>
          </a:p>
        </p:txBody>
      </p:sp>
      <p:sp>
        <p:nvSpPr>
          <p:cNvPr id="68" name="Shape 66"/>
          <p:cNvSpPr/>
          <p:nvPr/>
        </p:nvSpPr>
        <p:spPr>
          <a:xfrm>
            <a:off x="10013752" y="6988746"/>
            <a:ext cx="5988248" cy="9525"/>
          </a:xfrm>
          <a:prstGeom prst="rect">
            <a:avLst/>
          </a:prstGeom>
          <a:solidFill>
            <a:srgbClr val="201E1E">
              <a:alpha val="40000"/>
            </a:srgbClr>
          </a:solidFill>
          <a:ln/>
        </p:spPr>
        <p:txBody>
          <a:bodyPr/>
          <a:lstStyle/>
          <a:p>
            <a:endParaRPr lang="en-US"/>
          </a:p>
        </p:txBody>
      </p:sp>
      <p:sp>
        <p:nvSpPr>
          <p:cNvPr id="69" name="Text 67"/>
          <p:cNvSpPr/>
          <p:nvPr/>
        </p:nvSpPr>
        <p:spPr>
          <a:xfrm>
            <a:off x="10242352" y="6732382"/>
            <a:ext cx="635847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Step downhill by the learning rate</a:t>
            </a:r>
            <a:endParaRPr lang="en-US" sz="1800" dirty="0"/>
          </a:p>
        </p:txBody>
      </p:sp>
      <p:sp>
        <p:nvSpPr>
          <p:cNvPr id="70" name="Shape 68"/>
          <p:cNvSpPr/>
          <p:nvPr/>
        </p:nvSpPr>
        <p:spPr>
          <a:xfrm>
            <a:off x="1143000" y="7354342"/>
            <a:ext cx="3583260" cy="9525"/>
          </a:xfrm>
          <a:prstGeom prst="rect">
            <a:avLst/>
          </a:prstGeom>
          <a:solidFill>
            <a:srgbClr val="201E1E">
              <a:alpha val="40000"/>
            </a:srgbClr>
          </a:solidFill>
          <a:ln/>
        </p:spPr>
        <p:txBody>
          <a:bodyPr/>
          <a:lstStyle/>
          <a:p>
            <a:endParaRPr lang="en-US"/>
          </a:p>
        </p:txBody>
      </p:sp>
      <p:sp>
        <p:nvSpPr>
          <p:cNvPr id="71" name="Text 69"/>
          <p:cNvSpPr/>
          <p:nvPr/>
        </p:nvSpPr>
        <p:spPr>
          <a:xfrm>
            <a:off x="1143000" y="7097978"/>
            <a:ext cx="3712986"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Softmax</a:t>
            </a:r>
            <a:endParaRPr lang="en-US" sz="1800" dirty="0"/>
          </a:p>
        </p:txBody>
      </p:sp>
      <p:sp>
        <p:nvSpPr>
          <p:cNvPr id="72" name="Shape 70"/>
          <p:cNvSpPr/>
          <p:nvPr/>
        </p:nvSpPr>
        <p:spPr>
          <a:xfrm>
            <a:off x="4726260" y="7354342"/>
            <a:ext cx="5287491" cy="9525"/>
          </a:xfrm>
          <a:prstGeom prst="rect">
            <a:avLst/>
          </a:prstGeom>
          <a:solidFill>
            <a:srgbClr val="201E1E">
              <a:alpha val="40000"/>
            </a:srgbClr>
          </a:solidFill>
          <a:ln/>
        </p:spPr>
        <p:txBody>
          <a:bodyPr/>
          <a:lstStyle/>
          <a:p>
            <a:endParaRPr lang="en-US"/>
          </a:p>
        </p:txBody>
      </p:sp>
      <p:sp>
        <p:nvSpPr>
          <p:cNvPr id="73" name="Text 71"/>
          <p:cNvSpPr/>
          <p:nvPr/>
        </p:nvSpPr>
        <p:spPr>
          <a:xfrm>
            <a:off x="4954860" y="7097978"/>
            <a:ext cx="53590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e^(zᵢ−m) / Σ e^(zⱼ−m)</a:t>
            </a:r>
            <a:endParaRPr lang="en-US" sz="1800" dirty="0"/>
          </a:p>
        </p:txBody>
      </p:sp>
      <p:sp>
        <p:nvSpPr>
          <p:cNvPr id="74" name="Shape 72"/>
          <p:cNvSpPr/>
          <p:nvPr/>
        </p:nvSpPr>
        <p:spPr>
          <a:xfrm>
            <a:off x="10013752" y="7354342"/>
            <a:ext cx="5988248" cy="9525"/>
          </a:xfrm>
          <a:prstGeom prst="rect">
            <a:avLst/>
          </a:prstGeom>
          <a:solidFill>
            <a:srgbClr val="201E1E">
              <a:alpha val="40000"/>
            </a:srgbClr>
          </a:solidFill>
          <a:ln/>
        </p:spPr>
        <p:txBody>
          <a:bodyPr/>
          <a:lstStyle/>
          <a:p>
            <a:endParaRPr lang="en-US"/>
          </a:p>
        </p:txBody>
      </p:sp>
      <p:sp>
        <p:nvSpPr>
          <p:cNvPr id="75" name="Text 73"/>
          <p:cNvSpPr/>
          <p:nvPr/>
        </p:nvSpPr>
        <p:spPr>
          <a:xfrm>
            <a:off x="10242352" y="7097978"/>
            <a:ext cx="635847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Scores into probabilities, safely</a:t>
            </a:r>
            <a:endParaRPr lang="en-US" sz="1800" dirty="0"/>
          </a:p>
        </p:txBody>
      </p:sp>
      <p:sp>
        <p:nvSpPr>
          <p:cNvPr id="76" name="Shape 74"/>
          <p:cNvSpPr/>
          <p:nvPr/>
        </p:nvSpPr>
        <p:spPr>
          <a:xfrm>
            <a:off x="1143000" y="7719938"/>
            <a:ext cx="3583260" cy="9525"/>
          </a:xfrm>
          <a:prstGeom prst="rect">
            <a:avLst/>
          </a:prstGeom>
          <a:solidFill>
            <a:srgbClr val="201E1E">
              <a:alpha val="40000"/>
            </a:srgbClr>
          </a:solidFill>
          <a:ln/>
        </p:spPr>
        <p:txBody>
          <a:bodyPr/>
          <a:lstStyle/>
          <a:p>
            <a:endParaRPr lang="en-US"/>
          </a:p>
        </p:txBody>
      </p:sp>
      <p:sp>
        <p:nvSpPr>
          <p:cNvPr id="77" name="Text 75"/>
          <p:cNvSpPr/>
          <p:nvPr/>
        </p:nvSpPr>
        <p:spPr>
          <a:xfrm>
            <a:off x="1143000" y="7463574"/>
            <a:ext cx="3712986"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Entropy</a:t>
            </a:r>
            <a:endParaRPr lang="en-US" sz="1800" dirty="0"/>
          </a:p>
        </p:txBody>
      </p:sp>
      <p:sp>
        <p:nvSpPr>
          <p:cNvPr id="78" name="Shape 76"/>
          <p:cNvSpPr/>
          <p:nvPr/>
        </p:nvSpPr>
        <p:spPr>
          <a:xfrm>
            <a:off x="4726260" y="7719938"/>
            <a:ext cx="5287491" cy="9525"/>
          </a:xfrm>
          <a:prstGeom prst="rect">
            <a:avLst/>
          </a:prstGeom>
          <a:solidFill>
            <a:srgbClr val="201E1E">
              <a:alpha val="40000"/>
            </a:srgbClr>
          </a:solidFill>
          <a:ln/>
        </p:spPr>
        <p:txBody>
          <a:bodyPr/>
          <a:lstStyle/>
          <a:p>
            <a:endParaRPr lang="en-US"/>
          </a:p>
        </p:txBody>
      </p:sp>
      <p:sp>
        <p:nvSpPr>
          <p:cNvPr id="79" name="Text 77"/>
          <p:cNvSpPr/>
          <p:nvPr/>
        </p:nvSpPr>
        <p:spPr>
          <a:xfrm>
            <a:off x="4954860" y="7463574"/>
            <a:ext cx="53590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−Σ P log₂ P</a:t>
            </a:r>
            <a:endParaRPr lang="en-US" sz="1800" dirty="0"/>
          </a:p>
        </p:txBody>
      </p:sp>
      <p:sp>
        <p:nvSpPr>
          <p:cNvPr id="80" name="Shape 78"/>
          <p:cNvSpPr/>
          <p:nvPr/>
        </p:nvSpPr>
        <p:spPr>
          <a:xfrm>
            <a:off x="10013752" y="7719938"/>
            <a:ext cx="5988248" cy="9525"/>
          </a:xfrm>
          <a:prstGeom prst="rect">
            <a:avLst/>
          </a:prstGeom>
          <a:solidFill>
            <a:srgbClr val="201E1E">
              <a:alpha val="40000"/>
            </a:srgbClr>
          </a:solidFill>
          <a:ln/>
        </p:spPr>
        <p:txBody>
          <a:bodyPr/>
          <a:lstStyle/>
          <a:p>
            <a:endParaRPr lang="en-US"/>
          </a:p>
        </p:txBody>
      </p:sp>
      <p:sp>
        <p:nvSpPr>
          <p:cNvPr id="81" name="Text 79"/>
          <p:cNvSpPr/>
          <p:nvPr/>
        </p:nvSpPr>
        <p:spPr>
          <a:xfrm>
            <a:off x="10242352" y="7463574"/>
            <a:ext cx="635847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Average surprise, in bits</a:t>
            </a:r>
            <a:endParaRPr lang="en-US" sz="1800" dirty="0"/>
          </a:p>
        </p:txBody>
      </p:sp>
      <p:sp>
        <p:nvSpPr>
          <p:cNvPr id="82" name="Shape 80"/>
          <p:cNvSpPr/>
          <p:nvPr/>
        </p:nvSpPr>
        <p:spPr>
          <a:xfrm>
            <a:off x="1143000" y="8085534"/>
            <a:ext cx="3583260" cy="9525"/>
          </a:xfrm>
          <a:prstGeom prst="rect">
            <a:avLst/>
          </a:prstGeom>
          <a:solidFill>
            <a:srgbClr val="201E1E">
              <a:alpha val="40000"/>
            </a:srgbClr>
          </a:solidFill>
          <a:ln/>
        </p:spPr>
        <p:txBody>
          <a:bodyPr/>
          <a:lstStyle/>
          <a:p>
            <a:endParaRPr lang="en-US"/>
          </a:p>
        </p:txBody>
      </p:sp>
      <p:sp>
        <p:nvSpPr>
          <p:cNvPr id="83" name="Text 81"/>
          <p:cNvSpPr/>
          <p:nvPr/>
        </p:nvSpPr>
        <p:spPr>
          <a:xfrm>
            <a:off x="1143000" y="7829171"/>
            <a:ext cx="3712986"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Precision / recall</a:t>
            </a:r>
            <a:endParaRPr lang="en-US" sz="1800" dirty="0"/>
          </a:p>
        </p:txBody>
      </p:sp>
      <p:sp>
        <p:nvSpPr>
          <p:cNvPr id="84" name="Shape 82"/>
          <p:cNvSpPr/>
          <p:nvPr/>
        </p:nvSpPr>
        <p:spPr>
          <a:xfrm>
            <a:off x="4726260" y="8085534"/>
            <a:ext cx="5287491" cy="9525"/>
          </a:xfrm>
          <a:prstGeom prst="rect">
            <a:avLst/>
          </a:prstGeom>
          <a:solidFill>
            <a:srgbClr val="201E1E">
              <a:alpha val="40000"/>
            </a:srgbClr>
          </a:solidFill>
          <a:ln/>
        </p:spPr>
        <p:txBody>
          <a:bodyPr/>
          <a:lstStyle/>
          <a:p>
            <a:endParaRPr lang="en-US"/>
          </a:p>
        </p:txBody>
      </p:sp>
      <p:sp>
        <p:nvSpPr>
          <p:cNvPr id="85" name="Text 83"/>
          <p:cNvSpPr/>
          <p:nvPr/>
        </p:nvSpPr>
        <p:spPr>
          <a:xfrm>
            <a:off x="4954860" y="7829171"/>
            <a:ext cx="53590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TP/(TP+FP) · TP/(TP+FN)</a:t>
            </a:r>
            <a:endParaRPr lang="en-US" sz="1800" dirty="0"/>
          </a:p>
        </p:txBody>
      </p:sp>
      <p:sp>
        <p:nvSpPr>
          <p:cNvPr id="86" name="Shape 84"/>
          <p:cNvSpPr/>
          <p:nvPr/>
        </p:nvSpPr>
        <p:spPr>
          <a:xfrm>
            <a:off x="10013752" y="8085534"/>
            <a:ext cx="5988248" cy="9525"/>
          </a:xfrm>
          <a:prstGeom prst="rect">
            <a:avLst/>
          </a:prstGeom>
          <a:solidFill>
            <a:srgbClr val="201E1E">
              <a:alpha val="40000"/>
            </a:srgbClr>
          </a:solidFill>
          <a:ln/>
        </p:spPr>
        <p:txBody>
          <a:bodyPr/>
          <a:lstStyle/>
          <a:p>
            <a:endParaRPr lang="en-US"/>
          </a:p>
        </p:txBody>
      </p:sp>
      <p:sp>
        <p:nvSpPr>
          <p:cNvPr id="87" name="Text 85"/>
          <p:cNvSpPr/>
          <p:nvPr/>
        </p:nvSpPr>
        <p:spPr>
          <a:xfrm>
            <a:off x="10242352" y="7829171"/>
            <a:ext cx="635847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Alert quality · coverage</a:t>
            </a:r>
            <a:endParaRPr lang="en-US" sz="1800" dirty="0"/>
          </a:p>
        </p:txBody>
      </p:sp>
      <p:sp>
        <p:nvSpPr>
          <p:cNvPr id="88" name="Shape 86"/>
          <p:cNvSpPr/>
          <p:nvPr/>
        </p:nvSpPr>
        <p:spPr>
          <a:xfrm>
            <a:off x="1143000" y="8451131"/>
            <a:ext cx="3583260" cy="9525"/>
          </a:xfrm>
          <a:prstGeom prst="rect">
            <a:avLst/>
          </a:prstGeom>
          <a:solidFill>
            <a:srgbClr val="201E1E">
              <a:alpha val="40000"/>
            </a:srgbClr>
          </a:solidFill>
          <a:ln/>
        </p:spPr>
        <p:txBody>
          <a:bodyPr/>
          <a:lstStyle/>
          <a:p>
            <a:endParaRPr lang="en-US"/>
          </a:p>
        </p:txBody>
      </p:sp>
      <p:sp>
        <p:nvSpPr>
          <p:cNvPr id="89" name="Text 87"/>
          <p:cNvSpPr/>
          <p:nvPr/>
        </p:nvSpPr>
        <p:spPr>
          <a:xfrm>
            <a:off x="1143000" y="8194767"/>
            <a:ext cx="3712986"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Agent choice</a:t>
            </a:r>
            <a:endParaRPr lang="en-US" sz="1800" dirty="0"/>
          </a:p>
        </p:txBody>
      </p:sp>
      <p:sp>
        <p:nvSpPr>
          <p:cNvPr id="90" name="Shape 88"/>
          <p:cNvSpPr/>
          <p:nvPr/>
        </p:nvSpPr>
        <p:spPr>
          <a:xfrm>
            <a:off x="4726260" y="8451131"/>
            <a:ext cx="5287491" cy="9525"/>
          </a:xfrm>
          <a:prstGeom prst="rect">
            <a:avLst/>
          </a:prstGeom>
          <a:solidFill>
            <a:srgbClr val="201E1E">
              <a:alpha val="40000"/>
            </a:srgbClr>
          </a:solidFill>
          <a:ln/>
        </p:spPr>
        <p:txBody>
          <a:bodyPr/>
          <a:lstStyle/>
          <a:p>
            <a:endParaRPr lang="en-US"/>
          </a:p>
        </p:txBody>
      </p:sp>
      <p:sp>
        <p:nvSpPr>
          <p:cNvPr id="91" name="Text 89"/>
          <p:cNvSpPr/>
          <p:nvPr/>
        </p:nvSpPr>
        <p:spPr>
          <a:xfrm>
            <a:off x="4954860" y="8194767"/>
            <a:ext cx="5359040"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 = argmax U(a)</a:t>
            </a:r>
            <a:endParaRPr lang="en-US" sz="1800" dirty="0"/>
          </a:p>
        </p:txBody>
      </p:sp>
      <p:sp>
        <p:nvSpPr>
          <p:cNvPr id="92" name="Shape 90"/>
          <p:cNvSpPr/>
          <p:nvPr/>
        </p:nvSpPr>
        <p:spPr>
          <a:xfrm>
            <a:off x="10013752" y="8451131"/>
            <a:ext cx="5988248" cy="9525"/>
          </a:xfrm>
          <a:prstGeom prst="rect">
            <a:avLst/>
          </a:prstGeom>
          <a:solidFill>
            <a:srgbClr val="201E1E">
              <a:alpha val="40000"/>
            </a:srgbClr>
          </a:solidFill>
          <a:ln/>
        </p:spPr>
        <p:txBody>
          <a:bodyPr/>
          <a:lstStyle/>
          <a:p>
            <a:endParaRPr lang="en-US"/>
          </a:p>
        </p:txBody>
      </p:sp>
      <p:sp>
        <p:nvSpPr>
          <p:cNvPr id="93" name="Text 91"/>
          <p:cNvSpPr/>
          <p:nvPr/>
        </p:nvSpPr>
        <p:spPr>
          <a:xfrm>
            <a:off x="10242352" y="8194767"/>
            <a:ext cx="6358473"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Take the highest-scoring action</a:t>
            </a:r>
            <a:endParaRPr lang="en-US" sz="1800" dirty="0"/>
          </a:p>
        </p:txBody>
      </p:sp>
      <p:pic>
        <p:nvPicPr>
          <p:cNvPr id="94"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SESSION 2 · GLOSSARY</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fontScale="70000" lnSpcReduction="20000"/>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Terms, in one line each</a:t>
            </a:r>
            <a:endParaRPr lang="en-US" sz="4800" dirty="0"/>
          </a:p>
        </p:txBody>
      </p:sp>
      <p:sp>
        <p:nvSpPr>
          <p:cNvPr id="4" name="Shape 2"/>
          <p:cNvSpPr/>
          <p:nvPr/>
        </p:nvSpPr>
        <p:spPr>
          <a:xfrm>
            <a:off x="1143000" y="3318495"/>
            <a:ext cx="3000301" cy="19050"/>
          </a:xfrm>
          <a:prstGeom prst="rect">
            <a:avLst/>
          </a:prstGeom>
          <a:solidFill>
            <a:srgbClr val="201E1E">
              <a:alpha val="40000"/>
            </a:srgbClr>
          </a:solidFill>
          <a:ln/>
        </p:spPr>
        <p:txBody>
          <a:bodyPr/>
          <a:lstStyle/>
          <a:p>
            <a:endParaRPr lang="en-US"/>
          </a:p>
        </p:txBody>
      </p:sp>
      <p:sp>
        <p:nvSpPr>
          <p:cNvPr id="5" name="Text 3"/>
          <p:cNvSpPr/>
          <p:nvPr/>
        </p:nvSpPr>
        <p:spPr>
          <a:xfrm>
            <a:off x="1143000" y="3072806"/>
            <a:ext cx="3071731" cy="192308"/>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TERM</a:t>
            </a:r>
            <a:endParaRPr lang="en-US" sz="1800" dirty="0"/>
          </a:p>
        </p:txBody>
      </p:sp>
      <p:sp>
        <p:nvSpPr>
          <p:cNvPr id="6" name="Shape 4"/>
          <p:cNvSpPr/>
          <p:nvPr/>
        </p:nvSpPr>
        <p:spPr>
          <a:xfrm>
            <a:off x="4143301" y="3318495"/>
            <a:ext cx="11858699" cy="19050"/>
          </a:xfrm>
          <a:prstGeom prst="rect">
            <a:avLst/>
          </a:prstGeom>
          <a:solidFill>
            <a:srgbClr val="201E1E">
              <a:alpha val="40000"/>
            </a:srgbClr>
          </a:solidFill>
          <a:ln/>
        </p:spPr>
        <p:txBody>
          <a:bodyPr/>
          <a:lstStyle/>
          <a:p>
            <a:endParaRPr lang="en-US"/>
          </a:p>
        </p:txBody>
      </p:sp>
      <p:sp>
        <p:nvSpPr>
          <p:cNvPr id="7" name="Text 5"/>
          <p:cNvSpPr/>
          <p:nvPr/>
        </p:nvSpPr>
        <p:spPr>
          <a:xfrm>
            <a:off x="4371901" y="3072806"/>
            <a:ext cx="12815969" cy="192308"/>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IN ONE LINE</a:t>
            </a:r>
            <a:endParaRPr lang="en-US" sz="1800" dirty="0"/>
          </a:p>
        </p:txBody>
      </p:sp>
      <p:sp>
        <p:nvSpPr>
          <p:cNvPr id="8" name="Shape 6"/>
          <p:cNvSpPr/>
          <p:nvPr/>
        </p:nvSpPr>
        <p:spPr>
          <a:xfrm>
            <a:off x="1143000" y="3698379"/>
            <a:ext cx="3000301" cy="9525"/>
          </a:xfrm>
          <a:prstGeom prst="rect">
            <a:avLst/>
          </a:prstGeom>
          <a:solidFill>
            <a:srgbClr val="201E1E">
              <a:alpha val="40000"/>
            </a:srgbClr>
          </a:solidFill>
          <a:ln/>
        </p:spPr>
        <p:txBody>
          <a:bodyPr/>
          <a:lstStyle/>
          <a:p>
            <a:endParaRPr lang="en-US"/>
          </a:p>
        </p:txBody>
      </p:sp>
      <p:sp>
        <p:nvSpPr>
          <p:cNvPr id="9" name="Text 7"/>
          <p:cNvSpPr/>
          <p:nvPr/>
        </p:nvSpPr>
        <p:spPr>
          <a:xfrm>
            <a:off x="1143000" y="3437253"/>
            <a:ext cx="2861710" cy="199518"/>
          </a:xfrm>
          <a:prstGeom prst="rect">
            <a:avLst/>
          </a:prstGeom>
          <a:noFill/>
          <a:ln/>
        </p:spPr>
        <p:txBody>
          <a:bodyPr wrap="square" lIns="25400" tIns="25400" rIns="25400" bIns="25400" rtlCol="0" anchor="ctr">
            <a:normAutofit fontScale="475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Combination</a:t>
            </a:r>
            <a:endParaRPr lang="en-US" sz="1800" dirty="0"/>
          </a:p>
        </p:txBody>
      </p:sp>
      <p:sp>
        <p:nvSpPr>
          <p:cNvPr id="10" name="Shape 8"/>
          <p:cNvSpPr/>
          <p:nvPr/>
        </p:nvSpPr>
        <p:spPr>
          <a:xfrm>
            <a:off x="4143301" y="3698379"/>
            <a:ext cx="11858699" cy="9525"/>
          </a:xfrm>
          <a:prstGeom prst="rect">
            <a:avLst/>
          </a:prstGeom>
          <a:solidFill>
            <a:srgbClr val="201E1E">
              <a:alpha val="40000"/>
            </a:srgbClr>
          </a:solidFill>
          <a:ln/>
        </p:spPr>
        <p:txBody>
          <a:bodyPr/>
          <a:lstStyle/>
          <a:p>
            <a:endParaRPr lang="en-US"/>
          </a:p>
        </p:txBody>
      </p:sp>
      <p:sp>
        <p:nvSpPr>
          <p:cNvPr id="11" name="Text 9"/>
          <p:cNvSpPr/>
          <p:nvPr/>
        </p:nvSpPr>
        <p:spPr>
          <a:xfrm>
            <a:off x="4371901" y="3437253"/>
            <a:ext cx="11985860" cy="199518"/>
          </a:xfrm>
          <a:prstGeom prst="rect">
            <a:avLst/>
          </a:prstGeom>
          <a:noFill/>
          <a:ln/>
        </p:spPr>
        <p:txBody>
          <a:bodyPr wrap="square" lIns="25400" tIns="25400" rIns="25400" bIns="25400" rtlCol="0" anchor="ctr">
            <a:normAutofit fontScale="475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 group chosen from a larger set, where order does not matter</a:t>
            </a:r>
            <a:endParaRPr lang="en-US" sz="1800" dirty="0"/>
          </a:p>
        </p:txBody>
      </p:sp>
      <p:sp>
        <p:nvSpPr>
          <p:cNvPr id="12" name="Shape 10"/>
          <p:cNvSpPr/>
          <p:nvPr/>
        </p:nvSpPr>
        <p:spPr>
          <a:xfrm>
            <a:off x="1143000" y="4063975"/>
            <a:ext cx="3000301" cy="9525"/>
          </a:xfrm>
          <a:prstGeom prst="rect">
            <a:avLst/>
          </a:prstGeom>
          <a:solidFill>
            <a:srgbClr val="201E1E">
              <a:alpha val="40000"/>
            </a:srgbClr>
          </a:solidFill>
          <a:ln/>
        </p:spPr>
        <p:txBody>
          <a:bodyPr/>
          <a:lstStyle/>
          <a:p>
            <a:endParaRPr lang="en-US"/>
          </a:p>
        </p:txBody>
      </p:sp>
      <p:sp>
        <p:nvSpPr>
          <p:cNvPr id="13" name="Text 11"/>
          <p:cNvSpPr/>
          <p:nvPr/>
        </p:nvSpPr>
        <p:spPr>
          <a:xfrm>
            <a:off x="1143000" y="3807612"/>
            <a:ext cx="3071731"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Prior · Posterior</a:t>
            </a:r>
            <a:endParaRPr lang="en-US" sz="1800" dirty="0"/>
          </a:p>
        </p:txBody>
      </p:sp>
      <p:sp>
        <p:nvSpPr>
          <p:cNvPr id="14" name="Shape 12"/>
          <p:cNvSpPr/>
          <p:nvPr/>
        </p:nvSpPr>
        <p:spPr>
          <a:xfrm>
            <a:off x="4143301" y="4063975"/>
            <a:ext cx="11858699" cy="9525"/>
          </a:xfrm>
          <a:prstGeom prst="rect">
            <a:avLst/>
          </a:prstGeom>
          <a:solidFill>
            <a:srgbClr val="201E1E">
              <a:alpha val="40000"/>
            </a:srgbClr>
          </a:solidFill>
          <a:ln/>
        </p:spPr>
        <p:txBody>
          <a:bodyPr/>
          <a:lstStyle/>
          <a:p>
            <a:endParaRPr lang="en-US"/>
          </a:p>
        </p:txBody>
      </p:sp>
      <p:sp>
        <p:nvSpPr>
          <p:cNvPr id="15" name="Text 13"/>
          <p:cNvSpPr/>
          <p:nvPr/>
        </p:nvSpPr>
        <p:spPr>
          <a:xfrm>
            <a:off x="4371901" y="3807612"/>
            <a:ext cx="1281596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What you believed before evidence · what you believe after</a:t>
            </a:r>
            <a:endParaRPr lang="en-US" sz="1800" dirty="0"/>
          </a:p>
        </p:txBody>
      </p:sp>
      <p:sp>
        <p:nvSpPr>
          <p:cNvPr id="16" name="Shape 14"/>
          <p:cNvSpPr/>
          <p:nvPr/>
        </p:nvSpPr>
        <p:spPr>
          <a:xfrm>
            <a:off x="1143000" y="4429571"/>
            <a:ext cx="3000301" cy="9525"/>
          </a:xfrm>
          <a:prstGeom prst="rect">
            <a:avLst/>
          </a:prstGeom>
          <a:solidFill>
            <a:srgbClr val="201E1E">
              <a:alpha val="40000"/>
            </a:srgbClr>
          </a:solidFill>
          <a:ln/>
        </p:spPr>
        <p:txBody>
          <a:bodyPr/>
          <a:lstStyle/>
          <a:p>
            <a:endParaRPr lang="en-US"/>
          </a:p>
        </p:txBody>
      </p:sp>
      <p:sp>
        <p:nvSpPr>
          <p:cNvPr id="17" name="Text 15"/>
          <p:cNvSpPr/>
          <p:nvPr/>
        </p:nvSpPr>
        <p:spPr>
          <a:xfrm>
            <a:off x="1143000" y="4173208"/>
            <a:ext cx="3071731"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Base rate</a:t>
            </a:r>
            <a:endParaRPr lang="en-US" sz="1800" dirty="0"/>
          </a:p>
        </p:txBody>
      </p:sp>
      <p:sp>
        <p:nvSpPr>
          <p:cNvPr id="18" name="Shape 16"/>
          <p:cNvSpPr/>
          <p:nvPr/>
        </p:nvSpPr>
        <p:spPr>
          <a:xfrm>
            <a:off x="4143301" y="4429571"/>
            <a:ext cx="11858699" cy="9525"/>
          </a:xfrm>
          <a:prstGeom prst="rect">
            <a:avLst/>
          </a:prstGeom>
          <a:solidFill>
            <a:srgbClr val="201E1E">
              <a:alpha val="40000"/>
            </a:srgbClr>
          </a:solidFill>
          <a:ln/>
        </p:spPr>
        <p:txBody>
          <a:bodyPr/>
          <a:lstStyle/>
          <a:p>
            <a:endParaRPr lang="en-US"/>
          </a:p>
        </p:txBody>
      </p:sp>
      <p:sp>
        <p:nvSpPr>
          <p:cNvPr id="19" name="Text 17"/>
          <p:cNvSpPr/>
          <p:nvPr/>
        </p:nvSpPr>
        <p:spPr>
          <a:xfrm>
            <a:off x="4371901" y="4173208"/>
            <a:ext cx="1281596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How common something is before you look at any evidence</a:t>
            </a:r>
            <a:endParaRPr lang="en-US" sz="1800" dirty="0"/>
          </a:p>
        </p:txBody>
      </p:sp>
      <p:sp>
        <p:nvSpPr>
          <p:cNvPr id="20" name="Shape 18"/>
          <p:cNvSpPr/>
          <p:nvPr/>
        </p:nvSpPr>
        <p:spPr>
          <a:xfrm>
            <a:off x="1143000" y="4795168"/>
            <a:ext cx="3000301" cy="9525"/>
          </a:xfrm>
          <a:prstGeom prst="rect">
            <a:avLst/>
          </a:prstGeom>
          <a:solidFill>
            <a:srgbClr val="201E1E">
              <a:alpha val="40000"/>
            </a:srgbClr>
          </a:solidFill>
          <a:ln/>
        </p:spPr>
        <p:txBody>
          <a:bodyPr/>
          <a:lstStyle/>
          <a:p>
            <a:endParaRPr lang="en-US"/>
          </a:p>
        </p:txBody>
      </p:sp>
      <p:sp>
        <p:nvSpPr>
          <p:cNvPr id="21" name="Text 19"/>
          <p:cNvSpPr/>
          <p:nvPr/>
        </p:nvSpPr>
        <p:spPr>
          <a:xfrm>
            <a:off x="1143000" y="4538804"/>
            <a:ext cx="3071731"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Embedding</a:t>
            </a:r>
            <a:endParaRPr lang="en-US" sz="1800" dirty="0"/>
          </a:p>
        </p:txBody>
      </p:sp>
      <p:sp>
        <p:nvSpPr>
          <p:cNvPr id="22" name="Shape 20"/>
          <p:cNvSpPr/>
          <p:nvPr/>
        </p:nvSpPr>
        <p:spPr>
          <a:xfrm>
            <a:off x="4143301" y="4795168"/>
            <a:ext cx="11858699" cy="9525"/>
          </a:xfrm>
          <a:prstGeom prst="rect">
            <a:avLst/>
          </a:prstGeom>
          <a:solidFill>
            <a:srgbClr val="201E1E">
              <a:alpha val="40000"/>
            </a:srgbClr>
          </a:solidFill>
          <a:ln/>
        </p:spPr>
        <p:txBody>
          <a:bodyPr/>
          <a:lstStyle/>
          <a:p>
            <a:endParaRPr lang="en-US"/>
          </a:p>
        </p:txBody>
      </p:sp>
      <p:sp>
        <p:nvSpPr>
          <p:cNvPr id="23" name="Text 21"/>
          <p:cNvSpPr/>
          <p:nvPr/>
        </p:nvSpPr>
        <p:spPr>
          <a:xfrm>
            <a:off x="4371901" y="4538804"/>
            <a:ext cx="1281596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 vector that encodes the meaning of a piece of content</a:t>
            </a:r>
            <a:endParaRPr lang="en-US" sz="1800" dirty="0"/>
          </a:p>
        </p:txBody>
      </p:sp>
      <p:sp>
        <p:nvSpPr>
          <p:cNvPr id="24" name="Shape 22"/>
          <p:cNvSpPr/>
          <p:nvPr/>
        </p:nvSpPr>
        <p:spPr>
          <a:xfrm>
            <a:off x="1143000" y="5160764"/>
            <a:ext cx="3000301" cy="9525"/>
          </a:xfrm>
          <a:prstGeom prst="rect">
            <a:avLst/>
          </a:prstGeom>
          <a:solidFill>
            <a:srgbClr val="201E1E">
              <a:alpha val="40000"/>
            </a:srgbClr>
          </a:solidFill>
          <a:ln/>
        </p:spPr>
        <p:txBody>
          <a:bodyPr/>
          <a:lstStyle/>
          <a:p>
            <a:endParaRPr lang="en-US"/>
          </a:p>
        </p:txBody>
      </p:sp>
      <p:sp>
        <p:nvSpPr>
          <p:cNvPr id="25" name="Text 23"/>
          <p:cNvSpPr/>
          <p:nvPr/>
        </p:nvSpPr>
        <p:spPr>
          <a:xfrm>
            <a:off x="1143000" y="4904400"/>
            <a:ext cx="3071731"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Semantic space</a:t>
            </a:r>
            <a:endParaRPr lang="en-US" sz="1800" dirty="0"/>
          </a:p>
        </p:txBody>
      </p:sp>
      <p:sp>
        <p:nvSpPr>
          <p:cNvPr id="26" name="Shape 24"/>
          <p:cNvSpPr/>
          <p:nvPr/>
        </p:nvSpPr>
        <p:spPr>
          <a:xfrm>
            <a:off x="4143301" y="5160764"/>
            <a:ext cx="11858699" cy="9525"/>
          </a:xfrm>
          <a:prstGeom prst="rect">
            <a:avLst/>
          </a:prstGeom>
          <a:solidFill>
            <a:srgbClr val="201E1E">
              <a:alpha val="40000"/>
            </a:srgbClr>
          </a:solidFill>
          <a:ln/>
        </p:spPr>
        <p:txBody>
          <a:bodyPr/>
          <a:lstStyle/>
          <a:p>
            <a:endParaRPr lang="en-US"/>
          </a:p>
        </p:txBody>
      </p:sp>
      <p:sp>
        <p:nvSpPr>
          <p:cNvPr id="27" name="Text 25"/>
          <p:cNvSpPr/>
          <p:nvPr/>
        </p:nvSpPr>
        <p:spPr>
          <a:xfrm>
            <a:off x="4371901" y="4904400"/>
            <a:ext cx="1281596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The space embeddings live in, where nearness means related meaning</a:t>
            </a:r>
            <a:endParaRPr lang="en-US" sz="1800" dirty="0"/>
          </a:p>
        </p:txBody>
      </p:sp>
      <p:sp>
        <p:nvSpPr>
          <p:cNvPr id="28" name="Shape 26"/>
          <p:cNvSpPr/>
          <p:nvPr/>
        </p:nvSpPr>
        <p:spPr>
          <a:xfrm>
            <a:off x="1143000" y="5526360"/>
            <a:ext cx="3000301" cy="9525"/>
          </a:xfrm>
          <a:prstGeom prst="rect">
            <a:avLst/>
          </a:prstGeom>
          <a:solidFill>
            <a:srgbClr val="201E1E">
              <a:alpha val="40000"/>
            </a:srgbClr>
          </a:solidFill>
          <a:ln/>
        </p:spPr>
        <p:txBody>
          <a:bodyPr/>
          <a:lstStyle/>
          <a:p>
            <a:endParaRPr lang="en-US"/>
          </a:p>
        </p:txBody>
      </p:sp>
      <p:sp>
        <p:nvSpPr>
          <p:cNvPr id="29" name="Text 27"/>
          <p:cNvSpPr/>
          <p:nvPr/>
        </p:nvSpPr>
        <p:spPr>
          <a:xfrm>
            <a:off x="1143000" y="5269997"/>
            <a:ext cx="3071731"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Dot product</a:t>
            </a:r>
            <a:endParaRPr lang="en-US" sz="1800" dirty="0"/>
          </a:p>
        </p:txBody>
      </p:sp>
      <p:sp>
        <p:nvSpPr>
          <p:cNvPr id="30" name="Shape 28"/>
          <p:cNvSpPr/>
          <p:nvPr/>
        </p:nvSpPr>
        <p:spPr>
          <a:xfrm>
            <a:off x="4143301" y="5526360"/>
            <a:ext cx="11858699" cy="9525"/>
          </a:xfrm>
          <a:prstGeom prst="rect">
            <a:avLst/>
          </a:prstGeom>
          <a:solidFill>
            <a:srgbClr val="201E1E">
              <a:alpha val="40000"/>
            </a:srgbClr>
          </a:solidFill>
          <a:ln/>
        </p:spPr>
        <p:txBody>
          <a:bodyPr/>
          <a:lstStyle/>
          <a:p>
            <a:endParaRPr lang="en-US"/>
          </a:p>
        </p:txBody>
      </p:sp>
      <p:sp>
        <p:nvSpPr>
          <p:cNvPr id="31" name="Text 29"/>
          <p:cNvSpPr/>
          <p:nvPr/>
        </p:nvSpPr>
        <p:spPr>
          <a:xfrm>
            <a:off x="4371901" y="5269997"/>
            <a:ext cx="1281596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Pairwise multiply, then sum — a measure of alignment</a:t>
            </a:r>
            <a:endParaRPr lang="en-US" sz="1800" dirty="0"/>
          </a:p>
        </p:txBody>
      </p:sp>
      <p:sp>
        <p:nvSpPr>
          <p:cNvPr id="32" name="Shape 30"/>
          <p:cNvSpPr/>
          <p:nvPr/>
        </p:nvSpPr>
        <p:spPr>
          <a:xfrm>
            <a:off x="1143000" y="5891957"/>
            <a:ext cx="3000301" cy="9525"/>
          </a:xfrm>
          <a:prstGeom prst="rect">
            <a:avLst/>
          </a:prstGeom>
          <a:solidFill>
            <a:srgbClr val="201E1E">
              <a:alpha val="40000"/>
            </a:srgbClr>
          </a:solidFill>
          <a:ln/>
        </p:spPr>
        <p:txBody>
          <a:bodyPr/>
          <a:lstStyle/>
          <a:p>
            <a:endParaRPr lang="en-US"/>
          </a:p>
        </p:txBody>
      </p:sp>
      <p:sp>
        <p:nvSpPr>
          <p:cNvPr id="33" name="Text 31"/>
          <p:cNvSpPr/>
          <p:nvPr/>
        </p:nvSpPr>
        <p:spPr>
          <a:xfrm>
            <a:off x="1143000" y="5635593"/>
            <a:ext cx="3071731"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Tensor</a:t>
            </a:r>
            <a:endParaRPr lang="en-US" sz="1800" dirty="0"/>
          </a:p>
        </p:txBody>
      </p:sp>
      <p:sp>
        <p:nvSpPr>
          <p:cNvPr id="34" name="Shape 32"/>
          <p:cNvSpPr/>
          <p:nvPr/>
        </p:nvSpPr>
        <p:spPr>
          <a:xfrm>
            <a:off x="4143301" y="5891957"/>
            <a:ext cx="11858699" cy="9525"/>
          </a:xfrm>
          <a:prstGeom prst="rect">
            <a:avLst/>
          </a:prstGeom>
          <a:solidFill>
            <a:srgbClr val="201E1E">
              <a:alpha val="40000"/>
            </a:srgbClr>
          </a:solidFill>
          <a:ln/>
        </p:spPr>
        <p:txBody>
          <a:bodyPr/>
          <a:lstStyle/>
          <a:p>
            <a:endParaRPr lang="en-US"/>
          </a:p>
        </p:txBody>
      </p:sp>
      <p:sp>
        <p:nvSpPr>
          <p:cNvPr id="35" name="Text 33"/>
          <p:cNvSpPr/>
          <p:nvPr/>
        </p:nvSpPr>
        <p:spPr>
          <a:xfrm>
            <a:off x="4371901" y="5635593"/>
            <a:ext cx="1281596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An array of any rank; in practice, whatever your framework holds</a:t>
            </a:r>
            <a:endParaRPr lang="en-US" sz="1800" dirty="0"/>
          </a:p>
        </p:txBody>
      </p:sp>
      <p:sp>
        <p:nvSpPr>
          <p:cNvPr id="36" name="Shape 34"/>
          <p:cNvSpPr/>
          <p:nvPr/>
        </p:nvSpPr>
        <p:spPr>
          <a:xfrm>
            <a:off x="1143000" y="6257553"/>
            <a:ext cx="3000301" cy="9525"/>
          </a:xfrm>
          <a:prstGeom prst="rect">
            <a:avLst/>
          </a:prstGeom>
          <a:solidFill>
            <a:srgbClr val="201E1E">
              <a:alpha val="40000"/>
            </a:srgbClr>
          </a:solidFill>
          <a:ln/>
        </p:spPr>
        <p:txBody>
          <a:bodyPr/>
          <a:lstStyle/>
          <a:p>
            <a:endParaRPr lang="en-US"/>
          </a:p>
        </p:txBody>
      </p:sp>
      <p:sp>
        <p:nvSpPr>
          <p:cNvPr id="37" name="Text 35"/>
          <p:cNvSpPr/>
          <p:nvPr/>
        </p:nvSpPr>
        <p:spPr>
          <a:xfrm>
            <a:off x="1143000" y="6001189"/>
            <a:ext cx="3071731"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Logit</a:t>
            </a:r>
            <a:endParaRPr lang="en-US" sz="1800" dirty="0"/>
          </a:p>
        </p:txBody>
      </p:sp>
      <p:sp>
        <p:nvSpPr>
          <p:cNvPr id="38" name="Shape 36"/>
          <p:cNvSpPr/>
          <p:nvPr/>
        </p:nvSpPr>
        <p:spPr>
          <a:xfrm>
            <a:off x="4143301" y="6257553"/>
            <a:ext cx="11858699" cy="9525"/>
          </a:xfrm>
          <a:prstGeom prst="rect">
            <a:avLst/>
          </a:prstGeom>
          <a:solidFill>
            <a:srgbClr val="201E1E">
              <a:alpha val="40000"/>
            </a:srgbClr>
          </a:solidFill>
          <a:ln/>
        </p:spPr>
        <p:txBody>
          <a:bodyPr/>
          <a:lstStyle/>
          <a:p>
            <a:endParaRPr lang="en-US"/>
          </a:p>
        </p:txBody>
      </p:sp>
      <p:sp>
        <p:nvSpPr>
          <p:cNvPr id="39" name="Text 37"/>
          <p:cNvSpPr/>
          <p:nvPr/>
        </p:nvSpPr>
        <p:spPr>
          <a:xfrm>
            <a:off x="4371901" y="6001189"/>
            <a:ext cx="1281596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 raw model score, before softmax turns it into a probability</a:t>
            </a:r>
            <a:endParaRPr lang="en-US" sz="1800" dirty="0"/>
          </a:p>
        </p:txBody>
      </p:sp>
      <p:sp>
        <p:nvSpPr>
          <p:cNvPr id="40" name="Shape 38"/>
          <p:cNvSpPr/>
          <p:nvPr/>
        </p:nvSpPr>
        <p:spPr>
          <a:xfrm>
            <a:off x="1143000" y="6623149"/>
            <a:ext cx="3000301" cy="9525"/>
          </a:xfrm>
          <a:prstGeom prst="rect">
            <a:avLst/>
          </a:prstGeom>
          <a:solidFill>
            <a:srgbClr val="201E1E">
              <a:alpha val="40000"/>
            </a:srgbClr>
          </a:solidFill>
          <a:ln/>
        </p:spPr>
        <p:txBody>
          <a:bodyPr/>
          <a:lstStyle/>
          <a:p>
            <a:endParaRPr lang="en-US"/>
          </a:p>
        </p:txBody>
      </p:sp>
      <p:sp>
        <p:nvSpPr>
          <p:cNvPr id="41" name="Text 39"/>
          <p:cNvSpPr/>
          <p:nvPr/>
        </p:nvSpPr>
        <p:spPr>
          <a:xfrm>
            <a:off x="1143000" y="6366786"/>
            <a:ext cx="3071731"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Softmax</a:t>
            </a:r>
            <a:endParaRPr lang="en-US" sz="1800" dirty="0"/>
          </a:p>
        </p:txBody>
      </p:sp>
      <p:sp>
        <p:nvSpPr>
          <p:cNvPr id="42" name="Shape 40"/>
          <p:cNvSpPr/>
          <p:nvPr/>
        </p:nvSpPr>
        <p:spPr>
          <a:xfrm>
            <a:off x="4143301" y="6623149"/>
            <a:ext cx="11858699" cy="9525"/>
          </a:xfrm>
          <a:prstGeom prst="rect">
            <a:avLst/>
          </a:prstGeom>
          <a:solidFill>
            <a:srgbClr val="201E1E">
              <a:alpha val="40000"/>
            </a:srgbClr>
          </a:solidFill>
          <a:ln/>
        </p:spPr>
        <p:txBody>
          <a:bodyPr/>
          <a:lstStyle/>
          <a:p>
            <a:endParaRPr lang="en-US"/>
          </a:p>
        </p:txBody>
      </p:sp>
      <p:sp>
        <p:nvSpPr>
          <p:cNvPr id="43" name="Text 41"/>
          <p:cNvSpPr/>
          <p:nvPr/>
        </p:nvSpPr>
        <p:spPr>
          <a:xfrm>
            <a:off x="4371901" y="6366786"/>
            <a:ext cx="1281596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The function that turns arbitrary scores into a distribution summing to 1</a:t>
            </a:r>
            <a:endParaRPr lang="en-US" sz="1800" dirty="0"/>
          </a:p>
        </p:txBody>
      </p:sp>
      <p:sp>
        <p:nvSpPr>
          <p:cNvPr id="44" name="Shape 42"/>
          <p:cNvSpPr/>
          <p:nvPr/>
        </p:nvSpPr>
        <p:spPr>
          <a:xfrm>
            <a:off x="1143000" y="6988746"/>
            <a:ext cx="3000301" cy="9525"/>
          </a:xfrm>
          <a:prstGeom prst="rect">
            <a:avLst/>
          </a:prstGeom>
          <a:solidFill>
            <a:srgbClr val="201E1E">
              <a:alpha val="40000"/>
            </a:srgbClr>
          </a:solidFill>
          <a:ln/>
        </p:spPr>
        <p:txBody>
          <a:bodyPr/>
          <a:lstStyle/>
          <a:p>
            <a:endParaRPr lang="en-US"/>
          </a:p>
        </p:txBody>
      </p:sp>
      <p:sp>
        <p:nvSpPr>
          <p:cNvPr id="45" name="Text 43"/>
          <p:cNvSpPr/>
          <p:nvPr/>
        </p:nvSpPr>
        <p:spPr>
          <a:xfrm>
            <a:off x="1143000" y="6732382"/>
            <a:ext cx="3071731"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Temperature</a:t>
            </a:r>
            <a:endParaRPr lang="en-US" sz="1800" dirty="0"/>
          </a:p>
        </p:txBody>
      </p:sp>
      <p:sp>
        <p:nvSpPr>
          <p:cNvPr id="46" name="Shape 44"/>
          <p:cNvSpPr/>
          <p:nvPr/>
        </p:nvSpPr>
        <p:spPr>
          <a:xfrm>
            <a:off x="4143301" y="6988746"/>
            <a:ext cx="11858699" cy="9525"/>
          </a:xfrm>
          <a:prstGeom prst="rect">
            <a:avLst/>
          </a:prstGeom>
          <a:solidFill>
            <a:srgbClr val="201E1E">
              <a:alpha val="40000"/>
            </a:srgbClr>
          </a:solidFill>
          <a:ln/>
        </p:spPr>
        <p:txBody>
          <a:bodyPr/>
          <a:lstStyle/>
          <a:p>
            <a:endParaRPr lang="en-US"/>
          </a:p>
        </p:txBody>
      </p:sp>
      <p:sp>
        <p:nvSpPr>
          <p:cNvPr id="47" name="Text 45"/>
          <p:cNvSpPr/>
          <p:nvPr/>
        </p:nvSpPr>
        <p:spPr>
          <a:xfrm>
            <a:off x="4371901" y="6732382"/>
            <a:ext cx="1281596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A divisor on the logits that sharpens or flattens the distribution</a:t>
            </a:r>
            <a:endParaRPr lang="en-US" sz="1800" dirty="0"/>
          </a:p>
        </p:txBody>
      </p:sp>
      <p:sp>
        <p:nvSpPr>
          <p:cNvPr id="48" name="Shape 46"/>
          <p:cNvSpPr/>
          <p:nvPr/>
        </p:nvSpPr>
        <p:spPr>
          <a:xfrm>
            <a:off x="1143000" y="7354342"/>
            <a:ext cx="3000301" cy="9525"/>
          </a:xfrm>
          <a:prstGeom prst="rect">
            <a:avLst/>
          </a:prstGeom>
          <a:solidFill>
            <a:srgbClr val="201E1E">
              <a:alpha val="40000"/>
            </a:srgbClr>
          </a:solidFill>
          <a:ln/>
        </p:spPr>
        <p:txBody>
          <a:bodyPr/>
          <a:lstStyle/>
          <a:p>
            <a:endParaRPr lang="en-US"/>
          </a:p>
        </p:txBody>
      </p:sp>
      <p:sp>
        <p:nvSpPr>
          <p:cNvPr id="49" name="Text 47"/>
          <p:cNvSpPr/>
          <p:nvPr/>
        </p:nvSpPr>
        <p:spPr>
          <a:xfrm>
            <a:off x="1143000" y="7097978"/>
            <a:ext cx="3071731"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Loss</a:t>
            </a:r>
            <a:endParaRPr lang="en-US" sz="1800" dirty="0"/>
          </a:p>
        </p:txBody>
      </p:sp>
      <p:sp>
        <p:nvSpPr>
          <p:cNvPr id="50" name="Shape 48"/>
          <p:cNvSpPr/>
          <p:nvPr/>
        </p:nvSpPr>
        <p:spPr>
          <a:xfrm>
            <a:off x="4143301" y="7354342"/>
            <a:ext cx="11858699" cy="9525"/>
          </a:xfrm>
          <a:prstGeom prst="rect">
            <a:avLst/>
          </a:prstGeom>
          <a:solidFill>
            <a:srgbClr val="201E1E">
              <a:alpha val="40000"/>
            </a:srgbClr>
          </a:solidFill>
          <a:ln/>
        </p:spPr>
        <p:txBody>
          <a:bodyPr/>
          <a:lstStyle/>
          <a:p>
            <a:endParaRPr lang="en-US"/>
          </a:p>
        </p:txBody>
      </p:sp>
      <p:sp>
        <p:nvSpPr>
          <p:cNvPr id="51" name="Text 49"/>
          <p:cNvSpPr/>
          <p:nvPr/>
        </p:nvSpPr>
        <p:spPr>
          <a:xfrm>
            <a:off x="4371901" y="7097978"/>
            <a:ext cx="1281596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One number measuring how wrong a prediction was</a:t>
            </a:r>
            <a:endParaRPr lang="en-US" sz="1800" dirty="0"/>
          </a:p>
        </p:txBody>
      </p:sp>
      <p:sp>
        <p:nvSpPr>
          <p:cNvPr id="52" name="Shape 50"/>
          <p:cNvSpPr/>
          <p:nvPr/>
        </p:nvSpPr>
        <p:spPr>
          <a:xfrm>
            <a:off x="1143000" y="7719938"/>
            <a:ext cx="3000301" cy="9525"/>
          </a:xfrm>
          <a:prstGeom prst="rect">
            <a:avLst/>
          </a:prstGeom>
          <a:solidFill>
            <a:srgbClr val="201E1E">
              <a:alpha val="40000"/>
            </a:srgbClr>
          </a:solidFill>
          <a:ln/>
        </p:spPr>
        <p:txBody>
          <a:bodyPr/>
          <a:lstStyle/>
          <a:p>
            <a:endParaRPr lang="en-US"/>
          </a:p>
        </p:txBody>
      </p:sp>
      <p:sp>
        <p:nvSpPr>
          <p:cNvPr id="53" name="Text 51"/>
          <p:cNvSpPr/>
          <p:nvPr/>
        </p:nvSpPr>
        <p:spPr>
          <a:xfrm>
            <a:off x="1143000" y="7463574"/>
            <a:ext cx="3071731"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Gradient</a:t>
            </a:r>
            <a:endParaRPr lang="en-US" sz="1800" dirty="0"/>
          </a:p>
        </p:txBody>
      </p:sp>
      <p:sp>
        <p:nvSpPr>
          <p:cNvPr id="54" name="Shape 52"/>
          <p:cNvSpPr/>
          <p:nvPr/>
        </p:nvSpPr>
        <p:spPr>
          <a:xfrm>
            <a:off x="4143301" y="7719938"/>
            <a:ext cx="11858699" cy="9525"/>
          </a:xfrm>
          <a:prstGeom prst="rect">
            <a:avLst/>
          </a:prstGeom>
          <a:solidFill>
            <a:srgbClr val="201E1E">
              <a:alpha val="40000"/>
            </a:srgbClr>
          </a:solidFill>
          <a:ln/>
        </p:spPr>
        <p:txBody>
          <a:bodyPr/>
          <a:lstStyle/>
          <a:p>
            <a:endParaRPr lang="en-US"/>
          </a:p>
        </p:txBody>
      </p:sp>
      <p:sp>
        <p:nvSpPr>
          <p:cNvPr id="55" name="Text 53"/>
          <p:cNvSpPr/>
          <p:nvPr/>
        </p:nvSpPr>
        <p:spPr>
          <a:xfrm>
            <a:off x="4371901" y="7463574"/>
            <a:ext cx="1281596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The direction and steepness of the loss surface at the current point</a:t>
            </a:r>
            <a:endParaRPr lang="en-US" sz="1800" dirty="0"/>
          </a:p>
        </p:txBody>
      </p:sp>
      <p:sp>
        <p:nvSpPr>
          <p:cNvPr id="56" name="Shape 54"/>
          <p:cNvSpPr/>
          <p:nvPr/>
        </p:nvSpPr>
        <p:spPr>
          <a:xfrm>
            <a:off x="1143000" y="8085534"/>
            <a:ext cx="3000301" cy="9525"/>
          </a:xfrm>
          <a:prstGeom prst="rect">
            <a:avLst/>
          </a:prstGeom>
          <a:solidFill>
            <a:srgbClr val="201E1E">
              <a:alpha val="40000"/>
            </a:srgbClr>
          </a:solidFill>
          <a:ln/>
        </p:spPr>
        <p:txBody>
          <a:bodyPr/>
          <a:lstStyle/>
          <a:p>
            <a:endParaRPr lang="en-US"/>
          </a:p>
        </p:txBody>
      </p:sp>
      <p:sp>
        <p:nvSpPr>
          <p:cNvPr id="57" name="Text 55"/>
          <p:cNvSpPr/>
          <p:nvPr/>
        </p:nvSpPr>
        <p:spPr>
          <a:xfrm>
            <a:off x="1143000" y="7829171"/>
            <a:ext cx="3071731"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Learning rate</a:t>
            </a:r>
            <a:endParaRPr lang="en-US" sz="1800" dirty="0"/>
          </a:p>
        </p:txBody>
      </p:sp>
      <p:sp>
        <p:nvSpPr>
          <p:cNvPr id="58" name="Shape 56"/>
          <p:cNvSpPr/>
          <p:nvPr/>
        </p:nvSpPr>
        <p:spPr>
          <a:xfrm>
            <a:off x="4143301" y="8085534"/>
            <a:ext cx="11858699" cy="9525"/>
          </a:xfrm>
          <a:prstGeom prst="rect">
            <a:avLst/>
          </a:prstGeom>
          <a:solidFill>
            <a:srgbClr val="201E1E">
              <a:alpha val="40000"/>
            </a:srgbClr>
          </a:solidFill>
          <a:ln/>
        </p:spPr>
        <p:txBody>
          <a:bodyPr/>
          <a:lstStyle/>
          <a:p>
            <a:endParaRPr lang="en-US"/>
          </a:p>
        </p:txBody>
      </p:sp>
      <p:sp>
        <p:nvSpPr>
          <p:cNvPr id="59" name="Text 57"/>
          <p:cNvSpPr/>
          <p:nvPr/>
        </p:nvSpPr>
        <p:spPr>
          <a:xfrm>
            <a:off x="4371901" y="7829171"/>
            <a:ext cx="1281596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How large a step training takes along that direction</a:t>
            </a:r>
            <a:endParaRPr lang="en-US" sz="1800" dirty="0"/>
          </a:p>
        </p:txBody>
      </p:sp>
      <p:sp>
        <p:nvSpPr>
          <p:cNvPr id="60" name="Shape 58"/>
          <p:cNvSpPr/>
          <p:nvPr/>
        </p:nvSpPr>
        <p:spPr>
          <a:xfrm>
            <a:off x="1143000" y="8451131"/>
            <a:ext cx="3000301" cy="9525"/>
          </a:xfrm>
          <a:prstGeom prst="rect">
            <a:avLst/>
          </a:prstGeom>
          <a:solidFill>
            <a:srgbClr val="201E1E">
              <a:alpha val="40000"/>
            </a:srgbClr>
          </a:solidFill>
          <a:ln/>
        </p:spPr>
        <p:txBody>
          <a:bodyPr/>
          <a:lstStyle/>
          <a:p>
            <a:endParaRPr lang="en-US"/>
          </a:p>
        </p:txBody>
      </p:sp>
      <p:sp>
        <p:nvSpPr>
          <p:cNvPr id="61" name="Text 59"/>
          <p:cNvSpPr/>
          <p:nvPr/>
        </p:nvSpPr>
        <p:spPr>
          <a:xfrm>
            <a:off x="1143000" y="8194767"/>
            <a:ext cx="3071731"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Perplexity</a:t>
            </a:r>
            <a:endParaRPr lang="en-US" sz="1800" dirty="0"/>
          </a:p>
        </p:txBody>
      </p:sp>
      <p:sp>
        <p:nvSpPr>
          <p:cNvPr id="62" name="Shape 60"/>
          <p:cNvSpPr/>
          <p:nvPr/>
        </p:nvSpPr>
        <p:spPr>
          <a:xfrm>
            <a:off x="4143301" y="8451131"/>
            <a:ext cx="11858699" cy="9525"/>
          </a:xfrm>
          <a:prstGeom prst="rect">
            <a:avLst/>
          </a:prstGeom>
          <a:solidFill>
            <a:srgbClr val="201E1E">
              <a:alpha val="40000"/>
            </a:srgbClr>
          </a:solidFill>
          <a:ln/>
        </p:spPr>
        <p:txBody>
          <a:bodyPr/>
          <a:lstStyle/>
          <a:p>
            <a:endParaRPr lang="en-US"/>
          </a:p>
        </p:txBody>
      </p:sp>
      <p:sp>
        <p:nvSpPr>
          <p:cNvPr id="63" name="Text 61"/>
          <p:cNvSpPr/>
          <p:nvPr/>
        </p:nvSpPr>
        <p:spPr>
          <a:xfrm>
            <a:off x="4371901" y="8194767"/>
            <a:ext cx="12815969" cy="194756"/>
          </a:xfrm>
          <a:prstGeom prst="rect">
            <a:avLst/>
          </a:prstGeom>
          <a:noFill/>
          <a:ln/>
        </p:spPr>
        <p:txBody>
          <a:bodyPr wrap="square" lIns="25400" tIns="25400" rIns="25400" bIns="25400" rtlCol="0" anchor="ctr">
            <a:normAutofit fontScale="40000" lnSpcReduction="20000"/>
          </a:bodyPr>
          <a:lstStyle/>
          <a:p>
            <a:pPr marL="0" indent="0" algn="l">
              <a:lnSpc>
                <a:spcPct val="135273"/>
              </a:lnSpc>
              <a:buNone/>
            </a:pPr>
            <a:r>
              <a:rPr lang="en-US" sz="1800" dirty="0">
                <a:solidFill>
                  <a:srgbClr val="201E1D"/>
                </a:solidFill>
                <a:latin typeface="Arial" pitchFamily="34" charset="0"/>
                <a:ea typeface="Arial" pitchFamily="34" charset="-122"/>
                <a:cs typeface="Arial" pitchFamily="34" charset="-120"/>
              </a:rPr>
              <a:t>How many options the model was effectively choosing between</a:t>
            </a:r>
            <a:endParaRPr lang="en-US" sz="1800" dirty="0"/>
          </a:p>
        </p:txBody>
      </p:sp>
      <p:pic>
        <p:nvPicPr>
          <p:cNvPr id="64" name="Image 0" descr="preencoded.png"/>
          <p:cNvPicPr>
            <a:picLocks noChangeAspect="1"/>
          </p:cNvPicPr>
          <p:nvPr/>
        </p:nvPicPr>
        <p:blipFill>
          <a:blip r:embed="rId3"/>
          <a:stretch>
            <a:fillRect/>
          </a:stretch>
        </p:blipFill>
        <p:spPr>
          <a:xfrm>
            <a:off x="1143000" y="8987210"/>
            <a:ext cx="5826398" cy="156790"/>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SESSION 2 · CLOSE</a:t>
            </a:r>
            <a:endParaRPr lang="en-US" sz="1800" dirty="0"/>
          </a:p>
        </p:txBody>
      </p:sp>
      <p:sp>
        <p:nvSpPr>
          <p:cNvPr id="3" name="Text 1"/>
          <p:cNvSpPr/>
          <p:nvPr/>
        </p:nvSpPr>
        <p:spPr>
          <a:xfrm>
            <a:off x="1074539" y="3771900"/>
            <a:ext cx="17677507" cy="1181100"/>
          </a:xfrm>
          <a:prstGeom prst="rect">
            <a:avLst/>
          </a:prstGeom>
          <a:noFill/>
          <a:ln/>
        </p:spPr>
        <p:txBody>
          <a:bodyPr wrap="square" lIns="25400" tIns="25400" rIns="25400" bIns="25400" rtlCol="0" anchor="t">
            <a:normAutofit lnSpcReduction="10000"/>
          </a:bodyPr>
          <a:lstStyle/>
          <a:p>
            <a:pPr marL="0" indent="0" algn="l">
              <a:lnSpc>
                <a:spcPct val="83916"/>
              </a:lnSpc>
              <a:buNone/>
            </a:pPr>
            <a:r>
              <a:rPr lang="en-US" sz="9300" b="1" kern="0" spc="-186" dirty="0">
                <a:solidFill>
                  <a:srgbClr val="201E1D"/>
                </a:solidFill>
                <a:latin typeface="Arial" pitchFamily="34" charset="0"/>
                <a:ea typeface="Arial" pitchFamily="34" charset="-122"/>
                <a:cs typeface="Arial" pitchFamily="34" charset="-120"/>
              </a:rPr>
              <a:t>Thank you</a:t>
            </a:r>
            <a:endParaRPr lang="en-US" sz="9300" dirty="0"/>
          </a:p>
        </p:txBody>
      </p:sp>
      <p:sp>
        <p:nvSpPr>
          <p:cNvPr id="4" name="Text 2"/>
          <p:cNvSpPr/>
          <p:nvPr/>
        </p:nvSpPr>
        <p:spPr>
          <a:xfrm>
            <a:off x="1143000" y="5372100"/>
            <a:ext cx="8989790" cy="9525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3000" dirty="0">
                <a:solidFill>
                  <a:srgbClr val="211D1D">
                    <a:alpha val="55000"/>
                  </a:srgbClr>
                </a:solidFill>
                <a:latin typeface="Arial" pitchFamily="34" charset="0"/>
                <a:ea typeface="Arial" pitchFamily="34" charset="-122"/>
                <a:cs typeface="Arial" pitchFamily="34" charset="-120"/>
              </a:rPr>
              <a:t>Nothing in modern AI is beyond the mathematics we covered today. The rest is scale and engineering.</a:t>
            </a:r>
            <a:endParaRPr lang="en-US" sz="3000" dirty="0"/>
          </a:p>
        </p:txBody>
      </p:sp>
      <p:sp>
        <p:nvSpPr>
          <p:cNvPr id="5" name="Text 3"/>
          <p:cNvSpPr/>
          <p:nvPr/>
        </p:nvSpPr>
        <p:spPr>
          <a:xfrm>
            <a:off x="1143000" y="8987210"/>
            <a:ext cx="1813999"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Mr. Amit Pandey</a:t>
            </a:r>
            <a:endParaRPr lang="en-US" sz="1800" dirty="0"/>
          </a:p>
        </p:txBody>
      </p:sp>
      <p:sp>
        <p:nvSpPr>
          <p:cNvPr id="6" name="Text 4"/>
          <p:cNvSpPr/>
          <p:nvPr/>
        </p:nvSpPr>
        <p:spPr>
          <a:xfrm>
            <a:off x="2963540" y="8987210"/>
            <a:ext cx="152326"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3211116" y="8987210"/>
            <a:ext cx="2421776" cy="194890"/>
          </a:xfrm>
          <a:prstGeom prst="rect">
            <a:avLst/>
          </a:prstGeom>
          <a:noFill/>
          <a:ln/>
        </p:spPr>
        <p:txBody>
          <a:bodyPr wrap="square" lIns="25400" tIns="25400" rIns="25400" bIns="25400" rtlCol="0" anchor="t">
            <a:normAutofit fontScale="40000" lnSpcReduction="20000"/>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Foundation Session 2</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1350</TotalTime>
  <Words>19951</Words>
  <Application>Microsoft Macintosh PowerPoint</Application>
  <PresentationFormat>Custom</PresentationFormat>
  <Paragraphs>1925</Paragraphs>
  <Slides>126</Slides>
  <Notes>124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126</vt:i4>
      </vt:variant>
    </vt:vector>
  </HeadingPairs>
  <TitlesOfParts>
    <vt:vector size="12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Amit Pandey</cp:lastModifiedBy>
  <cp:revision>15</cp:revision>
  <dcterms:created xsi:type="dcterms:W3CDTF">2026-08-28T06:28:41Z</dcterms:created>
  <dcterms:modified xsi:type="dcterms:W3CDTF">2026-08-29T06:21:30Z</dcterms:modified>
</cp:coreProperties>
</file>