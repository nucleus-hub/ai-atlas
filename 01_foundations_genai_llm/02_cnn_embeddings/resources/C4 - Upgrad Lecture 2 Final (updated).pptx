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4" r:id="rId2"/>
    <p:sldMasterId id="2147483666" r:id="rId3"/>
  </p:sldMasterIdLst>
  <p:notesMasterIdLst>
    <p:notesMasterId r:id="rId9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8" r:id="rId54"/>
    <p:sldId id="309" r:id="rId55"/>
    <p:sldId id="310" r:id="rId56"/>
    <p:sldId id="311" r:id="rId57"/>
    <p:sldId id="312" r:id="rId58"/>
    <p:sldId id="313" r:id="rId59"/>
    <p:sldId id="314" r:id="rId60"/>
    <p:sldId id="315" r:id="rId61"/>
    <p:sldId id="320" r:id="rId62"/>
    <p:sldId id="321" r:id="rId63"/>
    <p:sldId id="322" r:id="rId64"/>
    <p:sldId id="323" r:id="rId65"/>
    <p:sldId id="324" r:id="rId66"/>
    <p:sldId id="325" r:id="rId67"/>
    <p:sldId id="326" r:id="rId68"/>
    <p:sldId id="327" r:id="rId69"/>
    <p:sldId id="328" r:id="rId70"/>
    <p:sldId id="329" r:id="rId71"/>
    <p:sldId id="330" r:id="rId72"/>
    <p:sldId id="331" r:id="rId73"/>
    <p:sldId id="332" r:id="rId74"/>
    <p:sldId id="333" r:id="rId75"/>
    <p:sldId id="336" r:id="rId76"/>
    <p:sldId id="337" r:id="rId77"/>
    <p:sldId id="338" r:id="rId78"/>
    <p:sldId id="339" r:id="rId79"/>
    <p:sldId id="340" r:id="rId80"/>
    <p:sldId id="341" r:id="rId81"/>
    <p:sldId id="342" r:id="rId82"/>
    <p:sldId id="343" r:id="rId83"/>
    <p:sldId id="344" r:id="rId84"/>
    <p:sldId id="345" r:id="rId85"/>
    <p:sldId id="346" r:id="rId86"/>
    <p:sldId id="347" r:id="rId87"/>
    <p:sldId id="348" r:id="rId88"/>
    <p:sldId id="349" r:id="rId89"/>
  </p:sldIdLst>
  <p:sldSz cx="9144000" cy="5143500" type="screen16x9"/>
  <p:notesSz cx="6858000" cy="9144000"/>
  <p:embeddedFontLst>
    <p:embeddedFont>
      <p:font typeface="Cambria" panose="02040503050406030204" pitchFamily="18" charset="0"/>
      <p:regular r:id="rId91"/>
      <p:bold r:id="rId92"/>
      <p:italic r:id="rId93"/>
      <p:boldItalic r:id="rId94"/>
    </p:embeddedFont>
    <p:embeddedFont>
      <p:font typeface="Consolas" panose="020B0609020204030204" pitchFamily="49" charset="0"/>
      <p:regular r:id="rId95"/>
      <p:bold r:id="rId96"/>
      <p:italic r:id="rId97"/>
      <p:boldItalic r:id="rId98"/>
    </p:embeddedFont>
    <p:embeddedFont>
      <p:font typeface="Roboto Mono" panose="020F0502020204030204" pitchFamily="49" charset="0"/>
      <p:regular r:id="rId99"/>
      <p:bold r:id="rId100"/>
      <p:italic r:id="rId101"/>
      <p:boldItalic r:id="rId10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7" roundtripDataSignature="AMtx7miDe7HpqS2ikuPqfdXyBoGIHGpOf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B066BF9-1EB7-473C-A631-622A104801DE}">
  <a:tblStyle styleId="{FB066BF9-1EB7-473C-A631-622A104801DE}"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418"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07" Type="http://customschemas.google.com/relationships/presentationmetadata" Target="metadata"/><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font" Target="fonts/font12.fntdata"/><Relationship Id="rId5" Type="http://schemas.openxmlformats.org/officeDocument/2006/relationships/slide" Target="slides/slide2.xml"/><Relationship Id="rId90" Type="http://schemas.openxmlformats.org/officeDocument/2006/relationships/notesMaster" Target="notesMasters/notesMaster1.xml"/><Relationship Id="rId95" Type="http://schemas.openxmlformats.org/officeDocument/2006/relationships/font" Target="fonts/font5.fntdata"/><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8"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font" Target="fonts/font1.fntdata"/><Relationship Id="rId96" Type="http://schemas.openxmlformats.org/officeDocument/2006/relationships/font" Target="fonts/font6.fntdata"/><Relationship Id="rId11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font" Target="fonts/font4.fntdata"/><Relationship Id="rId99" Type="http://schemas.openxmlformats.org/officeDocument/2006/relationships/font" Target="fonts/font9.fntdata"/><Relationship Id="rId101" Type="http://schemas.openxmlformats.org/officeDocument/2006/relationships/font" Target="fonts/font11.fnt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viewProps" Target="viewProps.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font" Target="fonts/font7.fntdata"/><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font" Target="fonts/font2.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theme" Target="theme/theme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font" Target="fonts/font10.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font" Target="fonts/font3.fntdata"/><Relationship Id="rId98" Type="http://schemas.openxmlformats.org/officeDocument/2006/relationships/font" Target="fonts/font8.fntdata"/><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f6a040a5a3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g3f6a040a5a3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f62c33a15b_2_0:notes"/>
          <p:cNvSpPr>
            <a:spLocks noGrp="1" noRot="1" noChangeAspect="1"/>
          </p:cNvSpPr>
          <p:nvPr>
            <p:ph type="sldImg" idx="2"/>
          </p:nvPr>
        </p:nvSpPr>
        <p:spPr>
          <a:xfrm>
            <a:off x="0" y="0"/>
            <a:ext cx="2250000" cy="225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 name="Google Shape;90;g3f62c33a15b_2_0:notes"/>
          <p:cNvSpPr txBox="1">
            <a:spLocks noGrp="1"/>
          </p:cNvSpPr>
          <p:nvPr>
            <p:ph type="body" idx="1"/>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91" name="Google Shape;91;g3f62c33a15b_2_0:notes"/>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Calibri"/>
                <a:ea typeface="Calibri"/>
                <a:cs typeface="Calibri"/>
                <a:sym typeface="Calibri"/>
              </a:rPr>
              <a:t>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f62c33a15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g3f62c33a15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f62c33a15b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f62c33a15b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f62c33a15b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g3f62c33a15b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f62c33a15b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g3f62c33a15b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f62c33a15b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g3f62c33a15b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f62c33a15b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3f62c33a15b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f62c33a15b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g3f62c33a15b_0_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f62c33a15b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g3f62c33a15b_0_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f62c33a15b_0_5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0" name="Google Shape;240;g3f62c33a15b_0_5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f62c33a15b_0_6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1" name="Google Shape;271;g3f62c33a15b_0_6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f62c33a15b_0_6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9" name="Google Shape;309;g3f62c33a15b_0_6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f62c33a15b_0_6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1" name="Google Shape;341;g3f62c33a15b_0_6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3f62c33a15b_0_7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0" name="Google Shape;380;g3f62c33a15b_0_7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3f62c33a15b_0_7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6" name="Google Shape;446;g3f62c33a15b_0_7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3f62c33a15b_0_8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5" name="Google Shape;455;g3f62c33a15b_0_8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4" name="Google Shape;46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6" name="Google Shape;50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1" name="Google Shape;55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0" name="Google Shape;57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9" name="Google Shape;58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3" name="Google Shape;60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7" name="Google Shape;61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7" name="Google Shape;637;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2" name="Google Shape;66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1" name="Google Shape;68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Big Picture</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The whole pipeline is solving this problem:</a:t>
            </a:r>
            <a:endParaRPr>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i="1">
                <a:solidFill>
                  <a:schemeClr val="dk1"/>
                </a:solidFill>
              </a:rPr>
              <a:t>Fit a noisy sine wave using a degree-9 polynomial, but prevent overfitting using Ridge regularization — and evaluate honestly using cross-validation.</a:t>
            </a:r>
            <a:endParaRPr i="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It's a textbook demonstration of the </a:t>
            </a:r>
            <a:r>
              <a:rPr lang="en" b="1">
                <a:solidFill>
                  <a:schemeClr val="dk1"/>
                </a:solidFill>
              </a:rPr>
              <a:t>bias-variance tradeoff</a:t>
            </a:r>
            <a:r>
              <a:rPr lang="en">
                <a:solidFill>
                  <a:schemeClr val="dk1"/>
                </a:solidFill>
              </a:rPr>
              <a:t> in practice — exactly connecting to what we discussed earlier about regularization and large weights!</a:t>
            </a:r>
            <a:endParaRPr>
              <a:solidFill>
                <a:schemeClr val="dk1"/>
              </a:solidFill>
            </a:endParaRPr>
          </a:p>
          <a:p>
            <a:pPr marL="0" lvl="0" indent="0" algn="l" rtl="0">
              <a:lnSpc>
                <a:spcPct val="100000"/>
              </a:lnSpc>
              <a:spcBef>
                <a:spcPts val="1200"/>
              </a:spcBef>
              <a:spcAft>
                <a:spcPts val="0"/>
              </a:spcAft>
              <a:buClr>
                <a:schemeClr val="dk1"/>
              </a:buClr>
              <a:buSzPts val="1100"/>
              <a:buFont typeface="Arial"/>
              <a:buNone/>
            </a:pPr>
            <a:endParaRPr>
              <a:solidFill>
                <a:srgbClr val="188038"/>
              </a:solidFill>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endParaRPr>
              <a:solidFill>
                <a:srgbClr val="188038"/>
              </a:solidFill>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numpy</a:t>
            </a:r>
            <a:r>
              <a:rPr lang="en">
                <a:solidFill>
                  <a:schemeClr val="dk1"/>
                </a:solidFill>
              </a:rPr>
              <a:t> → data generation</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Pipeline</a:t>
            </a:r>
            <a:r>
              <a:rPr lang="en">
                <a:solidFill>
                  <a:schemeClr val="dk1"/>
                </a:solidFill>
              </a:rPr>
              <a:t> → chain preprocessing + model</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PolynomialFeatures</a:t>
            </a:r>
            <a:r>
              <a:rPr lang="en">
                <a:solidFill>
                  <a:schemeClr val="dk1"/>
                </a:solidFill>
              </a:rPr>
              <a:t> → create nonlinear features</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StandardScaler</a:t>
            </a:r>
            <a:r>
              <a:rPr lang="en">
                <a:solidFill>
                  <a:schemeClr val="dk1"/>
                </a:solidFill>
              </a:rPr>
              <a:t> → normalize features</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Ridge</a:t>
            </a:r>
            <a:r>
              <a:rPr lang="en">
                <a:solidFill>
                  <a:schemeClr val="dk1"/>
                </a:solidFill>
              </a:rPr>
              <a:t> → linear model with L2 regularization</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train_test_split</a:t>
            </a:r>
            <a:r>
              <a:rPr lang="en">
                <a:solidFill>
                  <a:schemeClr val="dk1"/>
                </a:solidFill>
              </a:rPr>
              <a:t> → split data</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cross_val_score</a:t>
            </a:r>
            <a:r>
              <a:rPr lang="en">
                <a:solidFill>
                  <a:schemeClr val="dk1"/>
                </a:solidFill>
              </a:rPr>
              <a:t> → evaluate model</a:t>
            </a:r>
            <a:endParaRPr>
              <a:solidFill>
                <a:schemeClr val="dk1"/>
              </a:solidFill>
            </a:endParaRPr>
          </a:p>
          <a:p>
            <a:pPr marL="0" lvl="0" indent="0" algn="l" rtl="0">
              <a:lnSpc>
                <a:spcPct val="115000"/>
              </a:lnSpc>
              <a:spcBef>
                <a:spcPts val="2400"/>
              </a:spcBef>
              <a:spcAft>
                <a:spcPts val="0"/>
              </a:spcAft>
              <a:buClr>
                <a:schemeClr val="dk1"/>
              </a:buClr>
              <a:buSzPts val="1100"/>
              <a:buFont typeface="Arial"/>
              <a:buNone/>
            </a:pPr>
            <a:r>
              <a:rPr lang="en" sz="2300" b="1">
                <a:solidFill>
                  <a:schemeClr val="dk1"/>
                </a:solidFill>
              </a:rPr>
              <a:t>🎲 2. Create Dataset</a:t>
            </a:r>
            <a:endParaRPr sz="2300" b="1">
              <a:solidFill>
                <a:schemeClr val="dk1"/>
              </a:solidFill>
            </a:endParaRPr>
          </a:p>
          <a:p>
            <a:pPr marL="0" lvl="0" indent="0" algn="l" rtl="0">
              <a:lnSpc>
                <a:spcPct val="115000"/>
              </a:lnSpc>
              <a:spcBef>
                <a:spcPts val="600"/>
              </a:spcBef>
              <a:spcAft>
                <a:spcPts val="0"/>
              </a:spcAft>
              <a:buClr>
                <a:schemeClr val="dk1"/>
              </a:buClr>
              <a:buSzPts val="1100"/>
              <a:buFont typeface="Arial"/>
              <a:buNone/>
            </a:pPr>
            <a:r>
              <a:rPr lang="en">
                <a:solidFill>
                  <a:schemeClr val="dk1"/>
                </a:solidFill>
              </a:rPr>
              <a:t>np.random.seed(42)</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X = np.sort(np.random.rand(80,1), axis=0)</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y = np.sin(2*np.pi*X).ravel() + np.random.normal(0, 0.15, 80)</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 sz="1700" b="1">
                <a:solidFill>
                  <a:schemeClr val="dk1"/>
                </a:solidFill>
              </a:rPr>
              <a:t>🔍 What’s happening?</a:t>
            </a:r>
            <a:endParaRPr sz="1700" b="1">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(a) Input data</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a:buNone/>
            </a:pPr>
            <a:r>
              <a:rPr lang="en">
                <a:solidFill>
                  <a:schemeClr val="dk1"/>
                </a:solidFill>
              </a:rPr>
              <a:t>X = random numbers between 0 and 1</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 80 samples: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X shape = (80, 1)</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(b) True function</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a:buNone/>
            </a:pPr>
            <a:r>
              <a:rPr lang="en">
                <a:solidFill>
                  <a:schemeClr val="dk1"/>
                </a:solidFill>
              </a:rPr>
              <a:t>y_true = sin(2πX)</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 Nonlinear function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(c) Add noise</a:t>
            </a:r>
            <a:endParaRPr sz="1300" b="1">
              <a:solidFill>
                <a:schemeClr val="dk1"/>
              </a:solidFill>
            </a:endParaRPr>
          </a:p>
          <a:p>
            <a:pPr marL="0" lvl="0" indent="0" algn="l" rtl="0">
              <a:lnSpc>
                <a:spcPct val="115000"/>
              </a:lnSpc>
              <a:spcBef>
                <a:spcPts val="400"/>
              </a:spcBef>
              <a:spcAft>
                <a:spcPts val="0"/>
              </a:spcAft>
              <a:buClr>
                <a:schemeClr val="dk1"/>
              </a:buClr>
              <a:buSzPts val="1100"/>
              <a:buFont typeface="Arial"/>
              <a:buNone/>
            </a:pPr>
            <a:r>
              <a:rPr lang="en">
                <a:solidFill>
                  <a:schemeClr val="dk1"/>
                </a:solidFill>
              </a:rPr>
              <a:t>+ Gaussian noise (mean=0, std=0.15)</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 Makes problem realistic</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2400"/>
              </a:spcBef>
              <a:spcAft>
                <a:spcPts val="0"/>
              </a:spcAft>
              <a:buClr>
                <a:schemeClr val="dk1"/>
              </a:buClr>
              <a:buSzPts val="1100"/>
              <a:buFont typeface="Arial"/>
              <a:buNone/>
            </a:pPr>
            <a:r>
              <a:rPr lang="en" sz="2300" b="1">
                <a:solidFill>
                  <a:schemeClr val="dk1"/>
                </a:solidFill>
              </a:rPr>
              <a:t>✂️ 3. Train-Test Split</a:t>
            </a:r>
            <a:endParaRPr sz="2300" b="1">
              <a:solidFill>
                <a:schemeClr val="dk1"/>
              </a:solidFill>
            </a:endParaRPr>
          </a:p>
          <a:p>
            <a:pPr marL="0" lvl="0" indent="0" algn="l" rtl="0">
              <a:lnSpc>
                <a:spcPct val="115000"/>
              </a:lnSpc>
              <a:spcBef>
                <a:spcPts val="600"/>
              </a:spcBef>
              <a:spcAft>
                <a:spcPts val="0"/>
              </a:spcAft>
              <a:buClr>
                <a:schemeClr val="dk1"/>
              </a:buClr>
              <a:buSzPts val="1100"/>
              <a:buFont typeface="Arial"/>
              <a:buNone/>
            </a:pPr>
            <a:r>
              <a:rPr lang="en">
                <a:solidFill>
                  <a:schemeClr val="dk1"/>
                </a:solidFill>
              </a:rPr>
              <a:t>X_train, X_test, y_train, y_test = train_test_split(X, y, test_size=0.2)</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 Split:</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80% training</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20% testing</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2400"/>
              </a:spcBef>
              <a:spcAft>
                <a:spcPts val="0"/>
              </a:spcAft>
              <a:buClr>
                <a:schemeClr val="dk1"/>
              </a:buClr>
              <a:buSzPts val="1100"/>
              <a:buFont typeface="Arial"/>
              <a:buNone/>
            </a:pPr>
            <a:r>
              <a:rPr lang="en" sz="2300" b="1">
                <a:solidFill>
                  <a:schemeClr val="dk1"/>
                </a:solidFill>
              </a:rPr>
              <a:t>🔧 4. Pipeline Construction (MOST IMPORTANT)</a:t>
            </a:r>
            <a:endParaRPr sz="2300" b="1">
              <a:solidFill>
                <a:schemeClr val="dk1"/>
              </a:solidFill>
            </a:endParaRPr>
          </a:p>
          <a:p>
            <a:pPr marL="0" lvl="0" indent="0" algn="l" rtl="0">
              <a:lnSpc>
                <a:spcPct val="115000"/>
              </a:lnSpc>
              <a:spcBef>
                <a:spcPts val="600"/>
              </a:spcBef>
              <a:spcAft>
                <a:spcPts val="0"/>
              </a:spcAft>
              <a:buClr>
                <a:schemeClr val="dk1"/>
              </a:buClr>
              <a:buSzPts val="1100"/>
              <a:buFont typeface="Arial"/>
              <a:buNone/>
            </a:pPr>
            <a:r>
              <a:rPr lang="en">
                <a:solidFill>
                  <a:schemeClr val="dk1"/>
                </a:solidFill>
              </a:rPr>
              <a:t>pipe = Pipeline([</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   ('poly',   PolynomialFeatures(degree=9)),</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   ('scaler', StandardScaler()),</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   ('model',  Ridge(alpha=1.0))</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 sz="1700" b="1">
                <a:solidFill>
                  <a:schemeClr val="dk1"/>
                </a:solidFill>
              </a:rPr>
              <a:t>🔁 What Pipeline means</a:t>
            </a:r>
            <a:endParaRPr sz="1700" b="1">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a:solidFill>
                  <a:schemeClr val="dk1"/>
                </a:solidFill>
              </a:rPr>
              <a:t>Data flows step-by-step through transformations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X → Polynomial → Scaling → Ridge model</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 sz="1700" b="1">
                <a:solidFill>
                  <a:schemeClr val="dk1"/>
                </a:solidFill>
              </a:rPr>
              <a:t>🔹 Step 1: PolynomialFeatures(degree=9)</a:t>
            </a:r>
            <a:endParaRPr sz="17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Transforms: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x → [1, x, x², x³, ..., x⁹]</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 Converts linear model → nonlinear model</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 sz="1700" b="1">
                <a:solidFill>
                  <a:schemeClr val="dk1"/>
                </a:solidFill>
              </a:rPr>
              <a:t>🔹 Step 2: StandardScaler()</a:t>
            </a:r>
            <a:endParaRPr sz="1700" b="1">
              <a:solidFill>
                <a:schemeClr val="dk1"/>
              </a:solidFill>
            </a:endParaRPr>
          </a:p>
          <a:p>
            <a:pPr marL="0" lvl="0" indent="0" algn="l" rtl="0">
              <a:lnSpc>
                <a:spcPct val="115000"/>
              </a:lnSpc>
              <a:spcBef>
                <a:spcPts val="400"/>
              </a:spcBef>
              <a:spcAft>
                <a:spcPts val="0"/>
              </a:spcAft>
              <a:buClr>
                <a:schemeClr val="dk1"/>
              </a:buClr>
              <a:buSzPts val="1100"/>
              <a:buFont typeface="Arial"/>
              <a:buNone/>
            </a:pPr>
            <a:r>
              <a:rPr lang="en">
                <a:solidFill>
                  <a:schemeClr val="dk1"/>
                </a:solidFill>
              </a:rPr>
              <a:t>(mean = 0, variance = 1)</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 Why needed?</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Polynomial features explode in magnitude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Scaling stabilizes training</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 sz="1700" b="1">
                <a:solidFill>
                  <a:schemeClr val="dk1"/>
                </a:solidFill>
              </a:rPr>
              <a:t>🔹 Step 3: Ridge(alpha=1.0)</a:t>
            </a:r>
            <a:endParaRPr sz="17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Model:</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min⁡∣∣y−Xw∣∣2+α∣∣w∣∣2\min ||y - Xw||^2 + \alpha ||w||^2min∣∣y−Xw∣∣2+α∣∣w∣∣2</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 Prevents overfitting</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2400"/>
              </a:spcBef>
              <a:spcAft>
                <a:spcPts val="0"/>
              </a:spcAft>
              <a:buClr>
                <a:schemeClr val="dk1"/>
              </a:buClr>
              <a:buSzPts val="1100"/>
              <a:buFont typeface="Arial"/>
              <a:buNone/>
            </a:pPr>
            <a:r>
              <a:rPr lang="en" sz="2300" b="1">
                <a:solidFill>
                  <a:schemeClr val="dk1"/>
                </a:solidFill>
              </a:rPr>
              <a:t>🎯 5. Train the Model</a:t>
            </a:r>
            <a:endParaRPr sz="2300" b="1">
              <a:solidFill>
                <a:schemeClr val="dk1"/>
              </a:solidFill>
            </a:endParaRPr>
          </a:p>
          <a:p>
            <a:pPr marL="0" lvl="0" indent="0" algn="l" rtl="0">
              <a:lnSpc>
                <a:spcPct val="115000"/>
              </a:lnSpc>
              <a:spcBef>
                <a:spcPts val="600"/>
              </a:spcBef>
              <a:spcAft>
                <a:spcPts val="0"/>
              </a:spcAft>
              <a:buClr>
                <a:schemeClr val="dk1"/>
              </a:buClr>
              <a:buSzPts val="1100"/>
              <a:buFont typeface="Arial"/>
              <a:buNone/>
            </a:pPr>
            <a:r>
              <a:rPr lang="en">
                <a:solidFill>
                  <a:schemeClr val="dk1"/>
                </a:solidFill>
              </a:rPr>
              <a:t>pipe.fit(X_train, y_train)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 Internally:</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X_train</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 polynomial features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 scaling</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 fit ridge regression</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2400"/>
              </a:spcBef>
              <a:spcAft>
                <a:spcPts val="0"/>
              </a:spcAft>
              <a:buClr>
                <a:schemeClr val="dk1"/>
              </a:buClr>
              <a:buSzPts val="1100"/>
              <a:buFont typeface="Arial"/>
              <a:buNone/>
            </a:pPr>
            <a:r>
              <a:rPr lang="en" sz="2300" b="1">
                <a:solidFill>
                  <a:schemeClr val="dk1"/>
                </a:solidFill>
              </a:rPr>
              <a:t>📊 6. Evaluate Performance</a:t>
            </a:r>
            <a:endParaRPr sz="2300" b="1">
              <a:solidFill>
                <a:schemeClr val="dk1"/>
              </a:solidFill>
            </a:endParaRPr>
          </a:p>
          <a:p>
            <a:pPr marL="0" lvl="0" indent="0" algn="l" rtl="0">
              <a:lnSpc>
                <a:spcPct val="115000"/>
              </a:lnSpc>
              <a:spcBef>
                <a:spcPts val="600"/>
              </a:spcBef>
              <a:spcAft>
                <a:spcPts val="0"/>
              </a:spcAft>
              <a:buClr>
                <a:schemeClr val="dk1"/>
              </a:buClr>
              <a:buSzPts val="1100"/>
              <a:buFont typeface="Arial"/>
              <a:buNone/>
            </a:pPr>
            <a:r>
              <a:rPr lang="en">
                <a:solidFill>
                  <a:schemeClr val="dk1"/>
                </a:solidFill>
              </a:rPr>
              <a:t>train_r2 = pipe.score(X_train, y_train)</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test_r2  = pipe.score(X_test,  y_test)</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 sz="1700" b="1">
                <a:solidFill>
                  <a:schemeClr val="dk1"/>
                </a:solidFill>
              </a:rPr>
              <a:t>What is </a:t>
            </a:r>
            <a:r>
              <a:rPr lang="en" sz="1700" b="1">
                <a:solidFill>
                  <a:srgbClr val="188038"/>
                </a:solidFill>
                <a:latin typeface="Roboto Mono"/>
                <a:ea typeface="Roboto Mono"/>
                <a:cs typeface="Roboto Mono"/>
                <a:sym typeface="Roboto Mono"/>
              </a:rPr>
              <a:t>.score()</a:t>
            </a:r>
            <a:r>
              <a:rPr lang="en" sz="1700" b="1">
                <a:solidFill>
                  <a:schemeClr val="dk1"/>
                </a:solidFill>
              </a:rPr>
              <a:t>?</a:t>
            </a:r>
            <a:endParaRPr sz="17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 Returns </a:t>
            </a:r>
            <a:r>
              <a:rPr lang="en" b="1">
                <a:solidFill>
                  <a:schemeClr val="dk1"/>
                </a:solidFill>
              </a:rPr>
              <a:t>R² score</a:t>
            </a:r>
            <a:r>
              <a:rPr lang="en">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R2=1−errorvarianceR^2 = 1 - \frac{\text{error}}{\text{variance}}R2=1−varianceerror​</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After fitting on </a:t>
            </a:r>
            <a:r>
              <a:rPr lang="en">
                <a:solidFill>
                  <a:srgbClr val="188038"/>
                </a:solidFill>
                <a:latin typeface="Roboto Mono"/>
                <a:ea typeface="Roboto Mono"/>
                <a:cs typeface="Roboto Mono"/>
                <a:sym typeface="Roboto Mono"/>
              </a:rPr>
              <a:t>X_train, y_train</a:t>
            </a:r>
            <a:r>
              <a:rPr lang="en">
                <a:solidFill>
                  <a:schemeClr val="dk1"/>
                </a:solidFill>
              </a:rPr>
              <a:t>, it computes R² (coefficient of determination) on both the training set and the held-out test set, printing them to three decimal places. Comparing train R² vs. test R² is a quick overfitting check — if train R² is much higher than test R², the model is overfitting despite the regularization.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Finally, it runs 5-fold cross-validation (</a:t>
            </a:r>
            <a:r>
              <a:rPr lang="en">
                <a:solidFill>
                  <a:srgbClr val="188038"/>
                </a:solidFill>
                <a:latin typeface="Roboto Mono"/>
                <a:ea typeface="Roboto Mono"/>
                <a:cs typeface="Roboto Mono"/>
                <a:sym typeface="Roboto Mono"/>
              </a:rPr>
              <a:t>cv=5</a:t>
            </a:r>
            <a:r>
              <a:rPr lang="en">
                <a:solidFill>
                  <a:schemeClr val="dk1"/>
                </a:solidFill>
              </a:rPr>
              <a:t>) over the whole pipeline and prints the mean R² across folds ± the standard deviation, giving a more robust estimate of how well this degree-9 Ridge model generalizes than a single train/test split would.</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7" name="Google Shape;70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3f6a040a5a3_1_60:notes"/>
          <p:cNvSpPr>
            <a:spLocks noGrp="1" noRot="1" noChangeAspect="1"/>
          </p:cNvSpPr>
          <p:nvPr>
            <p:ph type="sldImg" idx="2"/>
          </p:nvPr>
        </p:nvSpPr>
        <p:spPr>
          <a:xfrm>
            <a:off x="685800" y="857250"/>
            <a:ext cx="5486400" cy="231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7" name="Google Shape;717;g3f6a040a5a3_1_60:notes"/>
          <p:cNvSpPr txBox="1">
            <a:spLocks noGrp="1"/>
          </p:cNvSpPr>
          <p:nvPr>
            <p:ph type="body" idx="1"/>
          </p:nvPr>
        </p:nvSpPr>
        <p:spPr>
          <a:xfrm>
            <a:off x="685800" y="3300413"/>
            <a:ext cx="5486400" cy="27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718" name="Google Shape;718;g3f6a040a5a3_1_60: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31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2" name="Google Shape;75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1" name="Google Shape;791;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9" name="Google Shape;799;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5" name="Google Shape;815;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0" name="Google Shape;840;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8" name="Google Shape;848;p20: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849" name="Google Shape;849;p20: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Calibri"/>
                <a:ea typeface="Calibri"/>
                <a:cs typeface="Calibri"/>
                <a:sym typeface="Calibri"/>
              </a:rPr>
              <a:t>37</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5" name="Google Shape;975;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2" name="Google Shape;982;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9" name="Google Shape;1009;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p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8" name="Google Shape;1018;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4" name="Google Shape;1084;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p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7" name="Google Shape;1107;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2"/>
        <p:cNvGrpSpPr/>
        <p:nvPr/>
      </p:nvGrpSpPr>
      <p:grpSpPr>
        <a:xfrm>
          <a:off x="0" y="0"/>
          <a:ext cx="0" cy="0"/>
          <a:chOff x="0" y="0"/>
          <a:chExt cx="0" cy="0"/>
        </a:xfrm>
      </p:grpSpPr>
      <p:sp>
        <p:nvSpPr>
          <p:cNvPr id="1213" name="Google Shape;1213;p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4" name="Google Shape;1214;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7"/>
        <p:cNvGrpSpPr/>
        <p:nvPr/>
      </p:nvGrpSpPr>
      <p:grpSpPr>
        <a:xfrm>
          <a:off x="0" y="0"/>
          <a:ext cx="0" cy="0"/>
          <a:chOff x="0" y="0"/>
          <a:chExt cx="0" cy="0"/>
        </a:xfrm>
      </p:grpSpPr>
      <p:sp>
        <p:nvSpPr>
          <p:cNvPr id="1278" name="Google Shape;1278;p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9" name="Google Shape;1279;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5"/>
        <p:cNvGrpSpPr/>
        <p:nvPr/>
      </p:nvGrpSpPr>
      <p:grpSpPr>
        <a:xfrm>
          <a:off x="0" y="0"/>
          <a:ext cx="0" cy="0"/>
          <a:chOff x="0" y="0"/>
          <a:chExt cx="0" cy="0"/>
        </a:xfrm>
      </p:grpSpPr>
      <p:sp>
        <p:nvSpPr>
          <p:cNvPr id="1366" name="Google Shape;1366;p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7" name="Google Shape;1367;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1"/>
        <p:cNvGrpSpPr/>
        <p:nvPr/>
      </p:nvGrpSpPr>
      <p:grpSpPr>
        <a:xfrm>
          <a:off x="0" y="0"/>
          <a:ext cx="0" cy="0"/>
          <a:chOff x="0" y="0"/>
          <a:chExt cx="0" cy="0"/>
        </a:xfrm>
      </p:grpSpPr>
      <p:sp>
        <p:nvSpPr>
          <p:cNvPr id="1412" name="Google Shape;1412;p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3" name="Google Shape;1413;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torch.autograd</a:t>
            </a:r>
            <a:r>
              <a:rPr lang="en">
                <a:solidFill>
                  <a:schemeClr val="dk1"/>
                </a:solidFill>
              </a:rPr>
              <a:t> is PyTorch's automatic differentiation engine — the machinery that computes gradients for you, which is what makes training neural networks with backpropagation practical without hand-deriving derivatives for every operation.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Here's the core idea: when you create a tensor with </a:t>
            </a:r>
            <a:r>
              <a:rPr lang="en">
                <a:solidFill>
                  <a:srgbClr val="188038"/>
                </a:solidFill>
                <a:latin typeface="Roboto Mono"/>
                <a:ea typeface="Roboto Mono"/>
                <a:cs typeface="Roboto Mono"/>
                <a:sym typeface="Roboto Mono"/>
              </a:rPr>
              <a:t>requires_grad=True</a:t>
            </a:r>
            <a:r>
              <a:rPr lang="en">
                <a:solidFill>
                  <a:schemeClr val="dk1"/>
                </a:solidFill>
              </a:rPr>
              <a:t>, PyTorch starts tracking every operation performed on it. As you run your forward pass — matrix multiplies, activations, losses, whatever — PyTorch builds a computation graph behind the scenes, recording each operation and how it connects to the ones before it. This graph is dynamic, built on the fly each time you run the forward pass (this is PyTorch's "define-by-run" style, as opposed to older static-graph frameworks).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Once you have a scalar output (typically your loss), calling </a:t>
            </a:r>
            <a:r>
              <a:rPr lang="en">
                <a:solidFill>
                  <a:srgbClr val="188038"/>
                </a:solidFill>
                <a:latin typeface="Roboto Mono"/>
                <a:ea typeface="Roboto Mono"/>
                <a:cs typeface="Roboto Mono"/>
                <a:sym typeface="Roboto Mono"/>
              </a:rPr>
              <a:t>.backward()</a:t>
            </a:r>
            <a:r>
              <a:rPr lang="en">
                <a:solidFill>
                  <a:schemeClr val="dk1"/>
                </a:solidFill>
              </a:rPr>
              <a:t> on it triggers autograd to walk the graph backward from that output to every tensor that had </a:t>
            </a:r>
            <a:r>
              <a:rPr lang="en">
                <a:solidFill>
                  <a:srgbClr val="188038"/>
                </a:solidFill>
                <a:latin typeface="Roboto Mono"/>
                <a:ea typeface="Roboto Mono"/>
                <a:cs typeface="Roboto Mono"/>
                <a:sym typeface="Roboto Mono"/>
              </a:rPr>
              <a:t>requires_grad=True</a:t>
            </a:r>
            <a:r>
              <a:rPr lang="en">
                <a:solidFill>
                  <a:schemeClr val="dk1"/>
                </a:solidFill>
              </a:rPr>
              <a:t>. At each step it applies the chain rule, using each operation's known local derivative, and accumulates the result into that tensor's </a:t>
            </a:r>
            <a:r>
              <a:rPr lang="en">
                <a:solidFill>
                  <a:srgbClr val="188038"/>
                </a:solidFill>
                <a:latin typeface="Roboto Mono"/>
                <a:ea typeface="Roboto Mono"/>
                <a:cs typeface="Roboto Mono"/>
                <a:sym typeface="Roboto Mono"/>
              </a:rPr>
              <a:t>.grad</a:t>
            </a:r>
            <a:r>
              <a:rPr lang="en">
                <a:solidFill>
                  <a:schemeClr val="dk1"/>
                </a:solidFill>
              </a:rPr>
              <a:t> attribute. So if you write </a:t>
            </a:r>
            <a:r>
              <a:rPr lang="en">
                <a:solidFill>
                  <a:srgbClr val="188038"/>
                </a:solidFill>
                <a:latin typeface="Roboto Mono"/>
                <a:ea typeface="Roboto Mono"/>
                <a:cs typeface="Roboto Mono"/>
                <a:sym typeface="Roboto Mono"/>
              </a:rPr>
              <a:t>loss.backward()</a:t>
            </a:r>
            <a:r>
              <a:rPr lang="en">
                <a:solidFill>
                  <a:schemeClr val="dk1"/>
                </a:solidFill>
              </a:rPr>
              <a:t>, PyTorch automatically computes ∂loss/∂w for every parameter w in your model — this is exactly what feeds into the update rules we discussed earlier for Adam: it needs those gradients g_t to compute m_t and v_t.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A few practical details worth knowing: gradients accumulate by default, so you typically call </a:t>
            </a:r>
            <a:r>
              <a:rPr lang="en">
                <a:solidFill>
                  <a:srgbClr val="188038"/>
                </a:solidFill>
                <a:latin typeface="Roboto Mono"/>
                <a:ea typeface="Roboto Mono"/>
                <a:cs typeface="Roboto Mono"/>
                <a:sym typeface="Roboto Mono"/>
              </a:rPr>
              <a:t>optimizer.zero_grad()</a:t>
            </a:r>
            <a:r>
              <a:rPr lang="en">
                <a:solidFill>
                  <a:schemeClr val="dk1"/>
                </a:solidFill>
              </a:rPr>
              <a:t> before each </a:t>
            </a:r>
            <a:r>
              <a:rPr lang="en">
                <a:solidFill>
                  <a:srgbClr val="188038"/>
                </a:solidFill>
                <a:latin typeface="Roboto Mono"/>
                <a:ea typeface="Roboto Mono"/>
                <a:cs typeface="Roboto Mono"/>
                <a:sym typeface="Roboto Mono"/>
              </a:rPr>
              <a:t>backward()</a:t>
            </a:r>
            <a:r>
              <a:rPr lang="en">
                <a:solidFill>
                  <a:schemeClr val="dk1"/>
                </a:solidFill>
              </a:rPr>
              <a:t> call to avoid mixing gradients from different batches. Autograd tracks operations via a "tape" of </a:t>
            </a:r>
            <a:r>
              <a:rPr lang="en">
                <a:solidFill>
                  <a:srgbClr val="188038"/>
                </a:solidFill>
                <a:latin typeface="Roboto Mono"/>
                <a:ea typeface="Roboto Mono"/>
                <a:cs typeface="Roboto Mono"/>
                <a:sym typeface="Roboto Mono"/>
              </a:rPr>
              <a:t>Function</a:t>
            </a:r>
            <a:r>
              <a:rPr lang="en">
                <a:solidFill>
                  <a:schemeClr val="dk1"/>
                </a:solidFill>
              </a:rPr>
              <a:t> objects (each op knows how to compute both its forward result and its backward/gradient rule), and once </a:t>
            </a:r>
            <a:r>
              <a:rPr lang="en">
                <a:solidFill>
                  <a:srgbClr val="188038"/>
                </a:solidFill>
                <a:latin typeface="Roboto Mono"/>
                <a:ea typeface="Roboto Mono"/>
                <a:cs typeface="Roboto Mono"/>
                <a:sym typeface="Roboto Mono"/>
              </a:rPr>
              <a:t>.backward()</a:t>
            </a:r>
            <a:r>
              <a:rPr lang="en">
                <a:solidFill>
                  <a:schemeClr val="dk1"/>
                </a:solidFill>
              </a:rPr>
              <a:t> runs, that graph is freed by default unless you pass </a:t>
            </a:r>
            <a:r>
              <a:rPr lang="en">
                <a:solidFill>
                  <a:srgbClr val="188038"/>
                </a:solidFill>
                <a:latin typeface="Roboto Mono"/>
                <a:ea typeface="Roboto Mono"/>
                <a:cs typeface="Roboto Mono"/>
                <a:sym typeface="Roboto Mono"/>
              </a:rPr>
              <a:t>retain_graph=True</a:t>
            </a:r>
            <a:r>
              <a:rPr lang="en">
                <a:solidFill>
                  <a:schemeClr val="dk1"/>
                </a:solidFill>
              </a:rPr>
              <a:t>. You can also temporarily disable tracking with </a:t>
            </a:r>
            <a:r>
              <a:rPr lang="en">
                <a:solidFill>
                  <a:srgbClr val="188038"/>
                </a:solidFill>
                <a:latin typeface="Roboto Mono"/>
                <a:ea typeface="Roboto Mono"/>
                <a:cs typeface="Roboto Mono"/>
                <a:sym typeface="Roboto Mono"/>
              </a:rPr>
              <a:t>torch.no_grad()</a:t>
            </a:r>
            <a:r>
              <a:rPr lang="en">
                <a:solidFill>
                  <a:schemeClr val="dk1"/>
                </a:solidFill>
              </a:rPr>
              <a:t> when you don't need gradients, such as during evaluation or inference — this saves memory and computation.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In short: autograd is what turns "define a forward computation" into "get gradients for free," and it's the piece that connects your model architecture to the optimizers (SGD, Adam, AdamW, RMSProp) — those optimizers just consume the </a:t>
            </a:r>
            <a:r>
              <a:rPr lang="en">
                <a:solidFill>
                  <a:srgbClr val="188038"/>
                </a:solidFill>
                <a:latin typeface="Roboto Mono"/>
                <a:ea typeface="Roboto Mono"/>
                <a:cs typeface="Roboto Mono"/>
                <a:sym typeface="Roboto Mono"/>
              </a:rPr>
              <a:t>.grad</a:t>
            </a:r>
            <a:r>
              <a:rPr lang="en">
                <a:solidFill>
                  <a:schemeClr val="dk1"/>
                </a:solidFill>
              </a:rPr>
              <a:t> values that autograd computed and use them to update parameters, exactly as in the update rule θ_t = θ_{t-1} − η·m̂_t/(√v̂_t + ε) from the Adam slide.</a:t>
            </a:r>
            <a:endParaRPr>
              <a:solidFill>
                <a:schemeClr val="dk1"/>
              </a:solidFill>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7"/>
        <p:cNvGrpSpPr/>
        <p:nvPr/>
      </p:nvGrpSpPr>
      <p:grpSpPr>
        <a:xfrm>
          <a:off x="0" y="0"/>
          <a:ext cx="0" cy="0"/>
          <a:chOff x="0" y="0"/>
          <a:chExt cx="0" cy="0"/>
        </a:xfrm>
      </p:grpSpPr>
      <p:sp>
        <p:nvSpPr>
          <p:cNvPr id="1438" name="Google Shape;1438;p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9" name="Google Shape;1439;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First conv layer (</a:t>
            </a:r>
            <a:r>
              <a:rPr lang="en" b="1">
                <a:solidFill>
                  <a:srgbClr val="188038"/>
                </a:solidFill>
                <a:latin typeface="Roboto Mono"/>
                <a:ea typeface="Roboto Mono"/>
                <a:cs typeface="Roboto Mono"/>
                <a:sym typeface="Roboto Mono"/>
              </a:rPr>
              <a:t>self.conv1</a:t>
            </a:r>
            <a:r>
              <a:rPr lang="en" b="1">
                <a:solidFill>
                  <a:schemeClr val="dk1"/>
                </a:solidFill>
              </a:rPr>
              <a:t>):</a:t>
            </a:r>
            <a:r>
              <a:rPr lang="en">
                <a:solidFill>
                  <a:schemeClr val="dk1"/>
                </a:solidFill>
              </a:rPr>
              <a:t> </a:t>
            </a:r>
            <a:r>
              <a:rPr lang="en">
                <a:solidFill>
                  <a:srgbClr val="188038"/>
                </a:solidFill>
                <a:latin typeface="Roboto Mono"/>
                <a:ea typeface="Roboto Mono"/>
                <a:cs typeface="Roboto Mono"/>
                <a:sym typeface="Roboto Mono"/>
              </a:rPr>
              <a:t>nn.Conv2d(1, 16, kernel_size=3, padding=1)</a:t>
            </a:r>
            <a:r>
              <a:rPr lang="en">
                <a:solidFill>
                  <a:schemeClr val="dk1"/>
                </a:solidFill>
              </a:rPr>
              <a:t> uses 16 filters. Each filter is 3×3 in spatial size and spans 1 input channel (since the input is grayscale, matching what we discussed earlier — a filter's depth always equals the input's channel count). So this layer takes a 1-channel image and produces 16 separate feature maps, one per filter — exactly the "stacking feature maps along a new depth dimension" idea from before.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Second conv layer (</a:t>
            </a:r>
            <a:r>
              <a:rPr lang="en" b="1">
                <a:solidFill>
                  <a:srgbClr val="188038"/>
                </a:solidFill>
                <a:latin typeface="Roboto Mono"/>
                <a:ea typeface="Roboto Mono"/>
                <a:cs typeface="Roboto Mono"/>
                <a:sym typeface="Roboto Mono"/>
              </a:rPr>
              <a:t>self.conv2</a:t>
            </a:r>
            <a:r>
              <a:rPr lang="en" b="1">
                <a:solidFill>
                  <a:schemeClr val="dk1"/>
                </a:solidFill>
              </a:rPr>
              <a:t>):</a:t>
            </a:r>
            <a:r>
              <a:rPr lang="en">
                <a:solidFill>
                  <a:schemeClr val="dk1"/>
                </a:solidFill>
              </a:rPr>
              <a:t> </a:t>
            </a:r>
            <a:r>
              <a:rPr lang="en">
                <a:solidFill>
                  <a:srgbClr val="188038"/>
                </a:solidFill>
                <a:latin typeface="Roboto Mono"/>
                <a:ea typeface="Roboto Mono"/>
                <a:cs typeface="Roboto Mono"/>
                <a:sym typeface="Roboto Mono"/>
              </a:rPr>
              <a:t>nn.Conv2d(16, 32, kernel_size=3, padding=1)</a:t>
            </a:r>
            <a:r>
              <a:rPr lang="en">
                <a:solidFill>
                  <a:schemeClr val="dk1"/>
                </a:solidFill>
              </a:rPr>
              <a:t> uses 32 filters. This time each filter is 3×3×16 — it has to span all 16 channels coming in from the previous layer, not just a single channel, because (as we covered) once you have a multi-channel volume, each filter in the next layer extends across the full depth. The result is 32 output feature maps.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So the filter count doubles at each stage: 16 → 32. The other components in this network — </a:t>
            </a:r>
            <a:r>
              <a:rPr lang="en">
                <a:solidFill>
                  <a:srgbClr val="188038"/>
                </a:solidFill>
                <a:latin typeface="Roboto Mono"/>
                <a:ea typeface="Roboto Mono"/>
                <a:cs typeface="Roboto Mono"/>
                <a:sym typeface="Roboto Mono"/>
              </a:rPr>
              <a:t>MaxPool2d</a:t>
            </a:r>
            <a:r>
              <a:rPr lang="en">
                <a:solidFill>
                  <a:schemeClr val="dk1"/>
                </a:solidFill>
              </a:rPr>
              <a:t>, </a:t>
            </a:r>
            <a:r>
              <a:rPr lang="en">
                <a:solidFill>
                  <a:srgbClr val="188038"/>
                </a:solidFill>
                <a:latin typeface="Roboto Mono"/>
                <a:ea typeface="Roboto Mono"/>
                <a:cs typeface="Roboto Mono"/>
                <a:sym typeface="Roboto Mono"/>
              </a:rPr>
              <a:t>ReLU</a:t>
            </a:r>
            <a:r>
              <a:rPr lang="en">
                <a:solidFill>
                  <a:schemeClr val="dk1"/>
                </a:solidFill>
              </a:rPr>
              <a:t>, and the final </a:t>
            </a:r>
            <a:r>
              <a:rPr lang="en">
                <a:solidFill>
                  <a:srgbClr val="188038"/>
                </a:solidFill>
                <a:latin typeface="Roboto Mono"/>
                <a:ea typeface="Roboto Mono"/>
                <a:cs typeface="Roboto Mono"/>
                <a:sym typeface="Roboto Mono"/>
              </a:rPr>
              <a:t>Linear</a:t>
            </a:r>
            <a:r>
              <a:rPr lang="en">
                <a:solidFill>
                  <a:schemeClr val="dk1"/>
                </a:solidFill>
              </a:rPr>
              <a:t> layer — aren't convolutional filters at all, so they don't have a "number of filters" in the same sense: pooling just downsamples spatially (28×28 → 14×14 → 7×7 after two poolings), ReLU is a pointwise nonlinearity, and the fully connected layer at the end flattens the final 32×7×7 volume into a vector and maps it to 10 output class scores.</a:t>
            </a:r>
            <a:endParaRPr>
              <a:solidFill>
                <a:schemeClr val="dk1"/>
              </a:solidFill>
            </a:endParaRPr>
          </a:p>
          <a:p>
            <a:pPr marL="0" lvl="0" indent="0" algn="l" rtl="0">
              <a:lnSpc>
                <a:spcPct val="100000"/>
              </a:lnSpc>
              <a:spcBef>
                <a:spcPts val="120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7"/>
        <p:cNvGrpSpPr/>
        <p:nvPr/>
      </p:nvGrpSpPr>
      <p:grpSpPr>
        <a:xfrm>
          <a:off x="0" y="0"/>
          <a:ext cx="0" cy="0"/>
          <a:chOff x="0" y="0"/>
          <a:chExt cx="0" cy="0"/>
        </a:xfrm>
      </p:grpSpPr>
      <p:sp>
        <p:nvSpPr>
          <p:cNvPr id="1508" name="Google Shape;1508;p3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09" name="Google Shape;1509;p32: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1510" name="Google Shape;1510;p32: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Calibri"/>
                <a:ea typeface="Calibri"/>
                <a:cs typeface="Calibri"/>
                <a:sym typeface="Calibri"/>
              </a:rPr>
              <a:t>49</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5"/>
        <p:cNvGrpSpPr/>
        <p:nvPr/>
      </p:nvGrpSpPr>
      <p:grpSpPr>
        <a:xfrm>
          <a:off x="0" y="0"/>
          <a:ext cx="0" cy="0"/>
          <a:chOff x="0" y="0"/>
          <a:chExt cx="0" cy="0"/>
        </a:xfrm>
      </p:grpSpPr>
      <p:sp>
        <p:nvSpPr>
          <p:cNvPr id="1606" name="Google Shape;1606;p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7" name="Google Shape;1607;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0"/>
        <p:cNvGrpSpPr/>
        <p:nvPr/>
      </p:nvGrpSpPr>
      <p:grpSpPr>
        <a:xfrm>
          <a:off x="0" y="0"/>
          <a:ext cx="0" cy="0"/>
          <a:chOff x="0" y="0"/>
          <a:chExt cx="0" cy="0"/>
        </a:xfrm>
      </p:grpSpPr>
      <p:sp>
        <p:nvSpPr>
          <p:cNvPr id="1661" name="Google Shape;1661;g3f6a040a5a3_1_97:notes"/>
          <p:cNvSpPr>
            <a:spLocks noGrp="1" noRot="1" noChangeAspect="1"/>
          </p:cNvSpPr>
          <p:nvPr>
            <p:ph type="sldImg" idx="2"/>
          </p:nvPr>
        </p:nvSpPr>
        <p:spPr>
          <a:xfrm>
            <a:off x="685800" y="857250"/>
            <a:ext cx="5486400" cy="231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2" name="Google Shape;1662;g3f6a040a5a3_1_97:notes"/>
          <p:cNvSpPr txBox="1">
            <a:spLocks noGrp="1"/>
          </p:cNvSpPr>
          <p:nvPr>
            <p:ph type="body" idx="1"/>
          </p:nvPr>
        </p:nvSpPr>
        <p:spPr>
          <a:xfrm>
            <a:off x="685800" y="3300413"/>
            <a:ext cx="5486400" cy="27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663" name="Google Shape;1663;g3f6a040a5a3_1_97: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5"/>
        <p:cNvGrpSpPr/>
        <p:nvPr/>
      </p:nvGrpSpPr>
      <p:grpSpPr>
        <a:xfrm>
          <a:off x="0" y="0"/>
          <a:ext cx="0" cy="0"/>
          <a:chOff x="0" y="0"/>
          <a:chExt cx="0" cy="0"/>
        </a:xfrm>
      </p:grpSpPr>
      <p:sp>
        <p:nvSpPr>
          <p:cNvPr id="1696" name="Google Shape;1696;p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7" name="Google Shape;1697;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3"/>
        <p:cNvGrpSpPr/>
        <p:nvPr/>
      </p:nvGrpSpPr>
      <p:grpSpPr>
        <a:xfrm>
          <a:off x="0" y="0"/>
          <a:ext cx="0" cy="0"/>
          <a:chOff x="0" y="0"/>
          <a:chExt cx="0" cy="0"/>
        </a:xfrm>
      </p:grpSpPr>
      <p:sp>
        <p:nvSpPr>
          <p:cNvPr id="1704" name="Google Shape;1704;p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5" name="Google Shape;1705;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2"/>
        <p:cNvGrpSpPr/>
        <p:nvPr/>
      </p:nvGrpSpPr>
      <p:grpSpPr>
        <a:xfrm>
          <a:off x="0" y="0"/>
          <a:ext cx="0" cy="0"/>
          <a:chOff x="0" y="0"/>
          <a:chExt cx="0" cy="0"/>
        </a:xfrm>
      </p:grpSpPr>
      <p:sp>
        <p:nvSpPr>
          <p:cNvPr id="1713" name="Google Shape;1713;p38: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4" name="Google Shape;1714;p38: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715" name="Google Shape;1715;p38: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6"/>
        <p:cNvGrpSpPr/>
        <p:nvPr/>
      </p:nvGrpSpPr>
      <p:grpSpPr>
        <a:xfrm>
          <a:off x="0" y="0"/>
          <a:ext cx="0" cy="0"/>
          <a:chOff x="0" y="0"/>
          <a:chExt cx="0" cy="0"/>
        </a:xfrm>
      </p:grpSpPr>
      <p:sp>
        <p:nvSpPr>
          <p:cNvPr id="1747" name="Google Shape;1747;p39: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8" name="Google Shape;1748;p3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749" name="Google Shape;1749;p3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4"/>
        <p:cNvGrpSpPr/>
        <p:nvPr/>
      </p:nvGrpSpPr>
      <p:grpSpPr>
        <a:xfrm>
          <a:off x="0" y="0"/>
          <a:ext cx="0" cy="0"/>
          <a:chOff x="0" y="0"/>
          <a:chExt cx="0" cy="0"/>
        </a:xfrm>
      </p:grpSpPr>
      <p:sp>
        <p:nvSpPr>
          <p:cNvPr id="1845" name="Google Shape;1845;p40: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6" name="Google Shape;1846;p4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r>
              <a:rPr lang="en" b="1">
                <a:solidFill>
                  <a:schemeClr val="dk1"/>
                </a:solidFill>
              </a:rPr>
              <a:t>How the one-hot / bag-of-words vectors are built</a:t>
            </a:r>
            <a:endParaRPr sz="13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The two sentences share one fixed 8-word vocabulary, indexed 0–7: 0=the, 1=sad, 2=dog, 3=runs, 4=away, 5=boring, 6=cat, 7=happy. “Sad” and “boring” aren’t in either sentence — they’re just other words from the training vocabulary, included to show that most slots stay at 0.</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For each sentence, put a 1 at the index of every vocabulary word it contains, and 0 everywhere else (word order doesn’t matter — that’s why it's called a “bag” of words). Function words like “is” are typically dropped as stopwords before counting, since they carry little meaning.</a:t>
            </a:r>
            <a:endParaRPr>
              <a:solidFill>
                <a:schemeClr val="dk1"/>
              </a:solidFill>
            </a:endParaRPr>
          </a:p>
          <a:p>
            <a:pPr marL="228600" lvl="0" indent="0" algn="l" rtl="0">
              <a:lnSpc>
                <a:spcPct val="115000"/>
              </a:lnSpc>
              <a:spcBef>
                <a:spcPts val="1200"/>
              </a:spcBef>
              <a:spcAft>
                <a:spcPts val="0"/>
              </a:spcAft>
              <a:buClr>
                <a:schemeClr val="dk1"/>
              </a:buClr>
              <a:buSzPts val="1100"/>
              <a:buFont typeface="Arial"/>
              <a:buNone/>
            </a:pPr>
            <a:r>
              <a:rPr lang="en" b="1">
                <a:solidFill>
                  <a:schemeClr val="dk1"/>
                </a:solidFill>
              </a:rPr>
              <a:t>“The cat is happy”</a:t>
            </a:r>
            <a:r>
              <a:rPr lang="en">
                <a:solidFill>
                  <a:schemeClr val="dk1"/>
                </a:solidFill>
              </a:rPr>
              <a:t> → contains the(0), cat(6), happy(7); “is” is dropped as a stopword → [1,0,0,0,0,0,1,1].</a:t>
            </a:r>
            <a:endParaRPr>
              <a:solidFill>
                <a:schemeClr val="dk1"/>
              </a:solidFill>
            </a:endParaRPr>
          </a:p>
          <a:p>
            <a:pPr marL="228600" lvl="0" indent="0" algn="l" rtl="0">
              <a:lnSpc>
                <a:spcPct val="115000"/>
              </a:lnSpc>
              <a:spcBef>
                <a:spcPts val="1200"/>
              </a:spcBef>
              <a:spcAft>
                <a:spcPts val="0"/>
              </a:spcAft>
              <a:buClr>
                <a:schemeClr val="dk1"/>
              </a:buClr>
              <a:buSzPts val="1100"/>
              <a:buFont typeface="Arial"/>
              <a:buNone/>
            </a:pPr>
            <a:r>
              <a:rPr lang="en" b="1">
                <a:solidFill>
                  <a:schemeClr val="dk1"/>
                </a:solidFill>
              </a:rPr>
              <a:t>“The dog runs away”</a:t>
            </a:r>
            <a:r>
              <a:rPr lang="en">
                <a:solidFill>
                  <a:schemeClr val="dk1"/>
                </a:solidFill>
              </a:rPr>
              <a:t> → contains the(0), dog(2), runs(3), away(4) → [1,0,1,1,1,0,0,0].</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What is a sparse vector?</a:t>
            </a:r>
            <a:endParaRPr sz="13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A sparse vector is one where almost all entries are 0, with only a few nonzero. These two examples look fairly “full” because the vocabulary is tiny (8 words), but a real bag-of-words vocabulary has tens of thousands of words — so a normal sentence (maybe 10–20 words) still only lights up 10–20 indices out of 20,000+. That's what “sparse” means: huge vectors that are almost entirely zero, which wastes memory and computation and gives the model very little to generalize from.</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Why are “happy” and “joyful” treated as unrelated?</a:t>
            </a:r>
            <a:endParaRPr sz="13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Every word gets its own independent axis/index, assigned arbitrarily (alphabetically, or by order of appearance) — there's no notion of meaning behind the assignment. “Happy” being at index 7 and “joyful” being at, say, index 42 is purely coincidental bookkeeping. Their one-hot vectors are orthogonal (dot product = 0) and have the same Euclidean distance apart as “happy” and any totally unrelated word like “table”. The model only ever sees whether a word is present in a sentence, never how it relates to other words — so two synonyms that never happen to appear in the exact same training sentences look exactly as unrelated to the model as two random words. This blind spot is exactly what motivates learned word embeddings (coming up next), where similar words end up close together in vector space instead of on arbitrary, unrelated axes.</a:t>
            </a:r>
            <a:endParaRPr>
              <a:solidFill>
                <a:schemeClr val="dk1"/>
              </a:solidFill>
            </a:endParaRPr>
          </a:p>
        </p:txBody>
      </p:sp>
      <p:sp>
        <p:nvSpPr>
          <p:cNvPr id="1847" name="Google Shape;1847;p4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1"/>
        <p:cNvGrpSpPr/>
        <p:nvPr/>
      </p:nvGrpSpPr>
      <p:grpSpPr>
        <a:xfrm>
          <a:off x="0" y="0"/>
          <a:ext cx="0" cy="0"/>
          <a:chOff x="0" y="0"/>
          <a:chExt cx="0" cy="0"/>
        </a:xfrm>
      </p:grpSpPr>
      <p:sp>
        <p:nvSpPr>
          <p:cNvPr id="1882" name="Google Shape;1882;p41: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3" name="Google Shape;1883;p4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884" name="Google Shape;1884;p4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6"/>
        <p:cNvGrpSpPr/>
        <p:nvPr/>
      </p:nvGrpSpPr>
      <p:grpSpPr>
        <a:xfrm>
          <a:off x="0" y="0"/>
          <a:ext cx="0" cy="0"/>
          <a:chOff x="0" y="0"/>
          <a:chExt cx="0" cy="0"/>
        </a:xfrm>
      </p:grpSpPr>
      <p:sp>
        <p:nvSpPr>
          <p:cNvPr id="1897" name="Google Shape;1897;p42: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8" name="Google Shape;1898;p4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Speaker Note:</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This slide introduces one-hot encoding — the simplest way to represent words as numbers that a machine can process.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We start with a small vocabulary of five words: king, queen, man, woman, and cat. In practice, a real NLP vocabulary like GPT's contains around 50,000 such words.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Using sklearn's OneHotEncoder, each word gets converted into a vector that is all zeros except for a single 1 at the position corresponding to that word. So "king" becomes [1,0,0,0,0], "queen" becomes [0,1,0,0,0], and so on. The position of the 1 is the word's identity — nothing more.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The shape of our output matrix is 5×5 here, but in production with 50,000 words, this explodes to a 50,000×50,000 matrix — that's 2.5 billion values, almost all of them zero. This is called a sparse, high-dimensional representation, and it's deeply inefficient.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Now here's the critical problem this slide is pointing to. When we compute cosine similarity between "king" and "queen" — two words that are semantically very close — we get 0.0. That's because their one-hot vectors are perfectly perpendicular; they share no common dimensions at all. One-hot encoding treats every word as equally distant from every other word. It captures absolutely no semantic relationship.</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This is the fundamental limitation that motivates word embeddings — a dense, low-dimensional representation where "king" and "queen" actually end up geometrically close to each other.</a:t>
            </a:r>
            <a:endParaRPr>
              <a:solidFill>
                <a:schemeClr val="dk1"/>
              </a:solidFill>
            </a:endParaRPr>
          </a:p>
          <a:p>
            <a:pPr marL="0" lvl="0" indent="0" algn="l" rtl="0">
              <a:lnSpc>
                <a:spcPct val="100000"/>
              </a:lnSpc>
              <a:spcBef>
                <a:spcPts val="1200"/>
              </a:spcBef>
              <a:spcAft>
                <a:spcPts val="0"/>
              </a:spcAft>
              <a:buSzPts val="1100"/>
              <a:buNone/>
            </a:pPr>
            <a:endParaRPr/>
          </a:p>
        </p:txBody>
      </p:sp>
      <p:sp>
        <p:nvSpPr>
          <p:cNvPr id="1899" name="Google Shape;1899;p4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7"/>
        <p:cNvGrpSpPr/>
        <p:nvPr/>
      </p:nvGrpSpPr>
      <p:grpSpPr>
        <a:xfrm>
          <a:off x="0" y="0"/>
          <a:ext cx="0" cy="0"/>
          <a:chOff x="0" y="0"/>
          <a:chExt cx="0" cy="0"/>
        </a:xfrm>
      </p:grpSpPr>
      <p:sp>
        <p:nvSpPr>
          <p:cNvPr id="1958" name="Google Shape;1958;p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9" name="Google Shape;1959;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5"/>
        <p:cNvGrpSpPr/>
        <p:nvPr/>
      </p:nvGrpSpPr>
      <p:grpSpPr>
        <a:xfrm>
          <a:off x="0" y="0"/>
          <a:ext cx="0" cy="0"/>
          <a:chOff x="0" y="0"/>
          <a:chExt cx="0" cy="0"/>
        </a:xfrm>
      </p:grpSpPr>
      <p:sp>
        <p:nvSpPr>
          <p:cNvPr id="1986" name="Google Shape;1986;p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7" name="Google Shape;1987;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6"/>
        <p:cNvGrpSpPr/>
        <p:nvPr/>
      </p:nvGrpSpPr>
      <p:grpSpPr>
        <a:xfrm>
          <a:off x="0" y="0"/>
          <a:ext cx="0" cy="0"/>
          <a:chOff x="0" y="0"/>
          <a:chExt cx="0" cy="0"/>
        </a:xfrm>
      </p:grpSpPr>
      <p:sp>
        <p:nvSpPr>
          <p:cNvPr id="2007" name="Google Shape;2007;g3f6a040a5a3_1_132:notes"/>
          <p:cNvSpPr>
            <a:spLocks noGrp="1" noRot="1" noChangeAspect="1"/>
          </p:cNvSpPr>
          <p:nvPr>
            <p:ph type="sldImg" idx="2"/>
          </p:nvPr>
        </p:nvSpPr>
        <p:spPr>
          <a:xfrm>
            <a:off x="685800" y="857250"/>
            <a:ext cx="5486400" cy="231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8" name="Google Shape;2008;g3f6a040a5a3_1_132:notes"/>
          <p:cNvSpPr txBox="1">
            <a:spLocks noGrp="1"/>
          </p:cNvSpPr>
          <p:nvPr>
            <p:ph type="body" idx="1"/>
          </p:nvPr>
        </p:nvSpPr>
        <p:spPr>
          <a:xfrm>
            <a:off x="685800" y="3300413"/>
            <a:ext cx="5486400" cy="27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009" name="Google Shape;2009;g3f6a040a5a3_1_132: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61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6"/>
        <p:cNvGrpSpPr/>
        <p:nvPr/>
      </p:nvGrpSpPr>
      <p:grpSpPr>
        <a:xfrm>
          <a:off x="0" y="0"/>
          <a:ext cx="0" cy="0"/>
          <a:chOff x="0" y="0"/>
          <a:chExt cx="0" cy="0"/>
        </a:xfrm>
      </p:grpSpPr>
      <p:sp>
        <p:nvSpPr>
          <p:cNvPr id="2067" name="Google Shape;2067;p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8" name="Google Shape;2068;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3"/>
        <p:cNvGrpSpPr/>
        <p:nvPr/>
      </p:nvGrpSpPr>
      <p:grpSpPr>
        <a:xfrm>
          <a:off x="0" y="0"/>
          <a:ext cx="0" cy="0"/>
          <a:chOff x="0" y="0"/>
          <a:chExt cx="0" cy="0"/>
        </a:xfrm>
      </p:grpSpPr>
      <p:sp>
        <p:nvSpPr>
          <p:cNvPr id="2094" name="Google Shape;2094;p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5" name="Google Shape;2095;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9"/>
        <p:cNvGrpSpPr/>
        <p:nvPr/>
      </p:nvGrpSpPr>
      <p:grpSpPr>
        <a:xfrm>
          <a:off x="0" y="0"/>
          <a:ext cx="0" cy="0"/>
          <a:chOff x="0" y="0"/>
          <a:chExt cx="0" cy="0"/>
        </a:xfrm>
      </p:grpSpPr>
      <p:sp>
        <p:nvSpPr>
          <p:cNvPr id="2120" name="Google Shape;2120;p52: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1" name="Google Shape;2121;p5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122" name="Google Shape;2122;p5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64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6"/>
        <p:cNvGrpSpPr/>
        <p:nvPr/>
      </p:nvGrpSpPr>
      <p:grpSpPr>
        <a:xfrm>
          <a:off x="0" y="0"/>
          <a:ext cx="0" cy="0"/>
          <a:chOff x="0" y="0"/>
          <a:chExt cx="0" cy="0"/>
        </a:xfrm>
      </p:grpSpPr>
      <p:sp>
        <p:nvSpPr>
          <p:cNvPr id="2157" name="Google Shape;2157;p53: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8" name="Google Shape;2158;p5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159" name="Google Shape;2159;p5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65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4"/>
        <p:cNvGrpSpPr/>
        <p:nvPr/>
      </p:nvGrpSpPr>
      <p:grpSpPr>
        <a:xfrm>
          <a:off x="0" y="0"/>
          <a:ext cx="0" cy="0"/>
          <a:chOff x="0" y="0"/>
          <a:chExt cx="0" cy="0"/>
        </a:xfrm>
      </p:grpSpPr>
      <p:sp>
        <p:nvSpPr>
          <p:cNvPr id="2295" name="Google Shape;2295;p54: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6" name="Google Shape;2296;p54: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297" name="Google Shape;2297;p54: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66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6"/>
        <p:cNvGrpSpPr/>
        <p:nvPr/>
      </p:nvGrpSpPr>
      <p:grpSpPr>
        <a:xfrm>
          <a:off x="0" y="0"/>
          <a:ext cx="0" cy="0"/>
          <a:chOff x="0" y="0"/>
          <a:chExt cx="0" cy="0"/>
        </a:xfrm>
      </p:grpSpPr>
      <p:sp>
        <p:nvSpPr>
          <p:cNvPr id="2327" name="Google Shape;2327;p55: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8" name="Google Shape;2328;p5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r>
              <a:rPr lang="en" b="1">
                <a:solidFill>
                  <a:schemeClr val="dk1"/>
                </a:solidFill>
              </a:rPr>
              <a:t>How the king − man + woman ≈ queen arithmetic is derived</a:t>
            </a:r>
            <a:endParaRPr sz="13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vec(“word”) means the learned embedding vector for that word — a point in the dense space discussed earlier on this slide (e.g. the 300-dim vector). These vectors are NOT hand-built to satisfy this arithmetic; the arithmetic is an emergent property that shows up after training.</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During training (skip-gram / CBOW, as covered for context windows), a word's vector is pulled toward whatever lets the model predict its neighbors well. If a relationship recurs across many word pairs in the corpus — “man is to woman” the same way “king is to queen”, or “France is to Paris” the same way “Germany is to Berlin” — the model ends up placing those pairs so that the offset (difference vector) between them points in roughly the same direction and has roughly the same length, for every pair sharing that relationship.</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Gender example, rearranged algebraically:</a:t>
            </a:r>
            <a:endParaRPr>
              <a:solidFill>
                <a:schemeClr val="dk1"/>
              </a:solidFill>
            </a:endParaRPr>
          </a:p>
          <a:p>
            <a:pPr marL="228600" lvl="0" indent="0" algn="l" rtl="0">
              <a:lnSpc>
                <a:spcPct val="115000"/>
              </a:lnSpc>
              <a:spcBef>
                <a:spcPts val="1200"/>
              </a:spcBef>
              <a:spcAft>
                <a:spcPts val="0"/>
              </a:spcAft>
              <a:buClr>
                <a:schemeClr val="dk1"/>
              </a:buClr>
              <a:buSzPts val="1100"/>
              <a:buFont typeface="Arial"/>
              <a:buNone/>
            </a:pPr>
            <a:r>
              <a:rPr lang="en">
                <a:solidFill>
                  <a:schemeClr val="dk1"/>
                </a:solidFill>
              </a:rPr>
              <a:t>vec(king) − vec(man) + vec(woman) = vec(king) + [vec(woman) − vec(man)]. The bracketed term [vec(woman) − vec(man)] is the “male → female” offset direction, learned from many such male/female word pairs. Adding that same offset to vec(king) moves it to roughly where a “female royal” word would sit — which is where vec(queen) happens to be. The result is a new point in the space, not an existing word; we then search for the real word vector closest to it (by cosine similarity), and that nearest neighbor is “queen”.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Capital-of example, same logic:</a:t>
            </a:r>
            <a:endParaRPr>
              <a:solidFill>
                <a:schemeClr val="dk1"/>
              </a:solidFill>
            </a:endParaRPr>
          </a:p>
          <a:p>
            <a:pPr marL="228600" lvl="0" indent="0" algn="l" rtl="0">
              <a:lnSpc>
                <a:spcPct val="115000"/>
              </a:lnSpc>
              <a:spcBef>
                <a:spcPts val="1200"/>
              </a:spcBef>
              <a:spcAft>
                <a:spcPts val="0"/>
              </a:spcAft>
              <a:buClr>
                <a:schemeClr val="dk1"/>
              </a:buClr>
              <a:buSzPts val="1100"/>
              <a:buFont typeface="Arial"/>
              <a:buNone/>
            </a:pPr>
            <a:r>
              <a:rPr lang="en">
                <a:solidFill>
                  <a:schemeClr val="dk1"/>
                </a:solidFill>
              </a:rPr>
              <a:t>vec(Paris) − vec(France) + vec(Germany) = vec(Paris) + [vec(Germany) − vec(France)]. Here [vec(Germany) − vec(France)] is a “country identity” shift. Since Paris and Berlin both hold the same relation to their country (“capital of”), shifting Paris by the France→Germany offset lands near Berlin, and Berlin is the nearest real word vector to that point.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Why this works — and where it doesn't</a:t>
            </a:r>
            <a:endParaRPr sz="13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This only emerges reliably when the embeddings are trained on a huge corpus, so the same relationship is reinforced across thousands of examples (many gender pairs, many country/capital pairs); it was first popularized by the word2vec paper (Mikolov et al., 2013). The ≈ matters — the arithmetic gives an approximate point, found by nearest-neighbor search, and it works best for clean, frequent, systematic relationships. Rarer or noisier relationships, or words with few training examples, often break the pattern.</a:t>
            </a:r>
            <a:endParaRPr>
              <a:solidFill>
                <a:schemeClr val="dk1"/>
              </a:solidFill>
            </a:endParaRPr>
          </a:p>
        </p:txBody>
      </p:sp>
      <p:sp>
        <p:nvSpPr>
          <p:cNvPr id="2329" name="Google Shape;2329;p5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67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1"/>
        <p:cNvGrpSpPr/>
        <p:nvPr/>
      </p:nvGrpSpPr>
      <p:grpSpPr>
        <a:xfrm>
          <a:off x="0" y="0"/>
          <a:ext cx="0" cy="0"/>
          <a:chOff x="0" y="0"/>
          <a:chExt cx="0" cy="0"/>
        </a:xfrm>
      </p:grpSpPr>
      <p:sp>
        <p:nvSpPr>
          <p:cNvPr id="2402" name="Google Shape;2402;p56: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3" name="Google Shape;2403;p56: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404" name="Google Shape;2404;p56: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68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7"/>
        <p:cNvGrpSpPr/>
        <p:nvPr/>
      </p:nvGrpSpPr>
      <p:grpSpPr>
        <a:xfrm>
          <a:off x="0" y="0"/>
          <a:ext cx="0" cy="0"/>
          <a:chOff x="0" y="0"/>
          <a:chExt cx="0" cy="0"/>
        </a:xfrm>
      </p:grpSpPr>
      <p:sp>
        <p:nvSpPr>
          <p:cNvPr id="2468" name="Google Shape;2468;p57: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9" name="Google Shape;2469;p5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470" name="Google Shape;2470;p5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69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2"/>
        <p:cNvGrpSpPr/>
        <p:nvPr/>
      </p:nvGrpSpPr>
      <p:grpSpPr>
        <a:xfrm>
          <a:off x="0" y="0"/>
          <a:ext cx="0" cy="0"/>
          <a:chOff x="0" y="0"/>
          <a:chExt cx="0" cy="0"/>
        </a:xfrm>
      </p:grpSpPr>
      <p:sp>
        <p:nvSpPr>
          <p:cNvPr id="2483" name="Google Shape;2483;p58: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4" name="Google Shape;2484;p58: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485" name="Google Shape;2485;p58: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70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2"/>
        <p:cNvGrpSpPr/>
        <p:nvPr/>
      </p:nvGrpSpPr>
      <p:grpSpPr>
        <a:xfrm>
          <a:off x="0" y="0"/>
          <a:ext cx="0" cy="0"/>
          <a:chOff x="0" y="0"/>
          <a:chExt cx="0" cy="0"/>
        </a:xfrm>
      </p:grpSpPr>
      <p:sp>
        <p:nvSpPr>
          <p:cNvPr id="2513" name="Google Shape;2513;p60: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4" name="Google Shape;2514;p6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800"/>
              </a:spcBef>
              <a:spcAft>
                <a:spcPts val="0"/>
              </a:spcAft>
              <a:buClr>
                <a:schemeClr val="dk1"/>
              </a:buClr>
              <a:buSzPts val="1100"/>
              <a:buFont typeface="Arial"/>
              <a:buNone/>
            </a:pPr>
            <a:r>
              <a:rPr lang="en" sz="1700" b="1">
                <a:solidFill>
                  <a:schemeClr val="dk1"/>
                </a:solidFill>
              </a:rPr>
              <a:t>What is Gensim?</a:t>
            </a:r>
            <a:endParaRPr sz="17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Gensim is an open-source Python package developed by </a:t>
            </a:r>
            <a:r>
              <a:rPr lang="en" b="1">
                <a:solidFill>
                  <a:schemeClr val="dk1"/>
                </a:solidFill>
              </a:rPr>
              <a:t>Radim Řehůřek</a:t>
            </a:r>
            <a:r>
              <a:rPr lang="en">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It is designed for</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Word2Vec</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Doc2Vec</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FastText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Topic Modeling (LDA, LSI)</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Similarity Search</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Text preprocessing</a:t>
            </a:r>
            <a:endParaRPr>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 sz="1700" b="1">
                <a:solidFill>
                  <a:schemeClr val="dk1"/>
                </a:solidFill>
              </a:rPr>
              <a:t>What is Word2Vec?</a:t>
            </a:r>
            <a:endParaRPr sz="17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Word2Vec (Mikolov et al., 2013) is a neural-network technique that learns a dense vector for every word by training a shallow network on a large text corpus. Words that tend to appear in similar contexts end up with similar vectors — this slide's two cards are its two ways of setting up that training.</a:t>
            </a:r>
            <a:endParaRPr>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 sz="1700" b="1">
                <a:solidFill>
                  <a:schemeClr val="dk1"/>
                </a:solidFill>
              </a:rPr>
              <a:t>Skip-gram vs. CBOW</a:t>
            </a:r>
            <a:endParaRPr sz="17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Skip-gram: </a:t>
            </a:r>
            <a:r>
              <a:rPr lang="en">
                <a:solidFill>
                  <a:schemeClr val="dk1"/>
                </a:solidFill>
              </a:rPr>
              <a:t>the model takes ONE center word as input and tries to predict the words around it (its context). Each occurrence of a word yields several training examples (one per context word), which is why it learns rare words well.</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CBOW (Continuous Bag of Words): </a:t>
            </a:r>
            <a:r>
              <a:rPr lang="en">
                <a:solidFill>
                  <a:schemeClr val="dk1"/>
                </a:solidFill>
              </a:rPr>
              <a:t>the model takes the surrounding CONTEXT words as input and tries to predict the single center word. Context words are averaged into one signal, so training is faster — good when frequent words dominate the corpus.</a:t>
            </a:r>
            <a:endParaRPr>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 sz="1700" b="1">
                <a:solidFill>
                  <a:schemeClr val="dk1"/>
                </a:solidFill>
              </a:rPr>
              <a:t>Walking through the Gensim code</a:t>
            </a:r>
            <a:endParaRPr sz="17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from gensim.models import Word2Vec: </a:t>
            </a:r>
            <a:r>
              <a:rPr lang="en">
                <a:solidFill>
                  <a:schemeClr val="dk1"/>
                </a:solidFill>
              </a:rPr>
              <a:t>brings in Gensim's Word2Vec class — Gensim is the Python library used here to actually train the model (see “What is Gensim?” above).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sentences = [[...], [...], ...]: </a:t>
            </a:r>
            <a:r>
              <a:rPr lang="en">
                <a:solidFill>
                  <a:schemeClr val="dk1"/>
                </a:solidFill>
              </a:rPr>
              <a:t>the training corpus. Each inner list is one already-tokenized sentence (a list of word strings); Word2Vec learns from co-occurrence patterns across all of these sentences.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model = Word2Vec(sentences, vector_size=100, window=3, min_count=1, sg=1): </a:t>
            </a:r>
            <a:r>
              <a:rPr lang="en">
                <a:solidFill>
                  <a:schemeClr val="dk1"/>
                </a:solidFill>
              </a:rPr>
              <a:t>trains the model. vector_size=100 sets each word's embedding to 100 dimensions; window=3 sets the context radius (±3 words on each side); min_count=1 keeps every word that appears at least once (normally set higher to drop rare noise); sg=1 selects Skip-gram (sg=0 would select CBOW).</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result = model.wv.most_similar(positive=[“king”,“woman”], negative=[“man”]): </a:t>
            </a:r>
            <a:r>
              <a:rPr lang="en">
                <a:solidFill>
                  <a:schemeClr val="dk1"/>
                </a:solidFill>
              </a:rPr>
              <a:t>the same king − man + woman ≈ queen analogy explained on the “Dense Representations” slide. positive=[...] lists vectors to ADD, negative=[...] lists vectors to SUBTRACT; Gensim adds/subtracts those word vectors and returns the words whose vectors are nearest (by cosine similarity) to the result, ranked most-similar first.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print(result[0]): </a:t>
            </a:r>
            <a:r>
              <a:rPr lang="en">
                <a:solidFill>
                  <a:schemeClr val="dk1"/>
                </a:solidFill>
              </a:rPr>
              <a:t>result is a ranked list of (word, similarity_score) tuples; result[0] is the closest match — here, on a real-scale corpus, that would be (‘queen’, 0.9991…). On this toy 4-sentence corpus the model hasn't actually seen enough data to learn that relationship well; the output in the comment shows what a properly-trained model would return.</a:t>
            </a:r>
            <a:endParaRPr>
              <a:solidFill>
                <a:schemeClr val="dk1"/>
              </a:solidFill>
            </a:endParaRPr>
          </a:p>
          <a:p>
            <a:pPr marL="0" lvl="0" indent="0" algn="l" rtl="0">
              <a:lnSpc>
                <a:spcPct val="100000"/>
              </a:lnSpc>
              <a:spcBef>
                <a:spcPts val="1200"/>
              </a:spcBef>
              <a:spcAft>
                <a:spcPts val="0"/>
              </a:spcAft>
              <a:buSzPts val="1100"/>
              <a:buNone/>
            </a:pPr>
            <a:endParaRPr/>
          </a:p>
        </p:txBody>
      </p:sp>
      <p:sp>
        <p:nvSpPr>
          <p:cNvPr id="2515" name="Google Shape;2515;p6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71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4"/>
        <p:cNvGrpSpPr/>
        <p:nvPr/>
      </p:nvGrpSpPr>
      <p:grpSpPr>
        <a:xfrm>
          <a:off x="0" y="0"/>
          <a:ext cx="0" cy="0"/>
          <a:chOff x="0" y="0"/>
          <a:chExt cx="0" cy="0"/>
        </a:xfrm>
      </p:grpSpPr>
      <p:sp>
        <p:nvSpPr>
          <p:cNvPr id="2535" name="Google Shape;2535;p59: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6" name="Google Shape;2536;p5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537" name="Google Shape;2537;p5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72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8"/>
        <p:cNvGrpSpPr/>
        <p:nvPr/>
      </p:nvGrpSpPr>
      <p:grpSpPr>
        <a:xfrm>
          <a:off x="0" y="0"/>
          <a:ext cx="0" cy="0"/>
          <a:chOff x="0" y="0"/>
          <a:chExt cx="0" cy="0"/>
        </a:xfrm>
      </p:grpSpPr>
      <p:sp>
        <p:nvSpPr>
          <p:cNvPr id="2569" name="Google Shape;2569;p63: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0" name="Google Shape;2570;p6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571" name="Google Shape;2571;p6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73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7"/>
        <p:cNvGrpSpPr/>
        <p:nvPr/>
      </p:nvGrpSpPr>
      <p:grpSpPr>
        <a:xfrm>
          <a:off x="0" y="0"/>
          <a:ext cx="0" cy="0"/>
          <a:chOff x="0" y="0"/>
          <a:chExt cx="0" cy="0"/>
        </a:xfrm>
      </p:grpSpPr>
      <p:sp>
        <p:nvSpPr>
          <p:cNvPr id="2588" name="Google Shape;2588;p6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89" name="Google Shape;2589;p64: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2590" name="Google Shape;2590;p64: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 sz="1800" b="0" i="0" u="none" strike="noStrike" cap="none">
                <a:solidFill>
                  <a:schemeClr val="dk1"/>
                </a:solidFill>
                <a:latin typeface="Calibri"/>
                <a:ea typeface="Calibri"/>
                <a:cs typeface="Calibri"/>
                <a:sym typeface="Calibri"/>
              </a:rPr>
              <a:t>74</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4"/>
        <p:cNvGrpSpPr/>
        <p:nvPr/>
      </p:nvGrpSpPr>
      <p:grpSpPr>
        <a:xfrm>
          <a:off x="0" y="0"/>
          <a:ext cx="0" cy="0"/>
          <a:chOff x="0" y="0"/>
          <a:chExt cx="0" cy="0"/>
        </a:xfrm>
      </p:grpSpPr>
      <p:sp>
        <p:nvSpPr>
          <p:cNvPr id="2715" name="Google Shape;2715;g3f62c33a15b_2_74: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6" name="Google Shape;2716;g3f62c33a15b_2_74: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717" name="Google Shape;2717;g3f62c33a15b_2_74: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75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3"/>
        <p:cNvGrpSpPr/>
        <p:nvPr/>
      </p:nvGrpSpPr>
      <p:grpSpPr>
        <a:xfrm>
          <a:off x="0" y="0"/>
          <a:ext cx="0" cy="0"/>
          <a:chOff x="0" y="0"/>
          <a:chExt cx="0" cy="0"/>
        </a:xfrm>
      </p:grpSpPr>
      <p:sp>
        <p:nvSpPr>
          <p:cNvPr id="2764" name="Google Shape;2764;h6f02bdc278a38c2b_0_222: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5" name="Google Shape;2765;h6f02bdc278a38c2b_0_22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766" name="Google Shape;2766;h6f02bdc278a38c2b_0_22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76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2"/>
        <p:cNvGrpSpPr/>
        <p:nvPr/>
      </p:nvGrpSpPr>
      <p:grpSpPr>
        <a:xfrm>
          <a:off x="0" y="0"/>
          <a:ext cx="0" cy="0"/>
          <a:chOff x="0" y="0"/>
          <a:chExt cx="0" cy="0"/>
        </a:xfrm>
      </p:grpSpPr>
      <p:sp>
        <p:nvSpPr>
          <p:cNvPr id="2823" name="Google Shape;2823;g3f62c33a15b_2_131: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4" name="Google Shape;2824;g3f62c33a15b_2_13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825" name="Google Shape;2825;g3f62c33a15b_2_13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77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6"/>
        <p:cNvGrpSpPr/>
        <p:nvPr/>
      </p:nvGrpSpPr>
      <p:grpSpPr>
        <a:xfrm>
          <a:off x="0" y="0"/>
          <a:ext cx="0" cy="0"/>
          <a:chOff x="0" y="0"/>
          <a:chExt cx="0" cy="0"/>
        </a:xfrm>
      </p:grpSpPr>
      <p:sp>
        <p:nvSpPr>
          <p:cNvPr id="2877" name="Google Shape;2877;g3f62c33a15b_2_183: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8" name="Google Shape;2878;g3f62c33a15b_2_18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879" name="Google Shape;2879;g3f62c33a15b_2_18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78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0"/>
        <p:cNvGrpSpPr/>
        <p:nvPr/>
      </p:nvGrpSpPr>
      <p:grpSpPr>
        <a:xfrm>
          <a:off x="0" y="0"/>
          <a:ext cx="0" cy="0"/>
          <a:chOff x="0" y="0"/>
          <a:chExt cx="0" cy="0"/>
        </a:xfrm>
      </p:grpSpPr>
      <p:sp>
        <p:nvSpPr>
          <p:cNvPr id="2931" name="Google Shape;2931;g3f62c33a15b_2_235: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2" name="Google Shape;2932;g3f62c33a15b_2_23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933" name="Google Shape;2933;g3f62c33a15b_2_23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79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3"/>
        <p:cNvGrpSpPr/>
        <p:nvPr/>
      </p:nvGrpSpPr>
      <p:grpSpPr>
        <a:xfrm>
          <a:off x="0" y="0"/>
          <a:ext cx="0" cy="0"/>
          <a:chOff x="0" y="0"/>
          <a:chExt cx="0" cy="0"/>
        </a:xfrm>
      </p:grpSpPr>
      <p:sp>
        <p:nvSpPr>
          <p:cNvPr id="2994" name="Google Shape;2994;g3f62c33a15b_2_296: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5" name="Google Shape;2995;g3f62c33a15b_2_296: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996" name="Google Shape;2996;g3f62c33a15b_2_296: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80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0"/>
        <p:cNvGrpSpPr/>
        <p:nvPr/>
      </p:nvGrpSpPr>
      <p:grpSpPr>
        <a:xfrm>
          <a:off x="0" y="0"/>
          <a:ext cx="0" cy="0"/>
          <a:chOff x="0" y="0"/>
          <a:chExt cx="0" cy="0"/>
        </a:xfrm>
      </p:grpSpPr>
      <p:sp>
        <p:nvSpPr>
          <p:cNvPr id="3051" name="Google Shape;3051;g3f62c33a15b_2_351: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2" name="Google Shape;3052;g3f62c33a15b_2_351: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3053" name="Google Shape;3053;g3f62c33a15b_2_351: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81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7"/>
        <p:cNvGrpSpPr/>
        <p:nvPr/>
      </p:nvGrpSpPr>
      <p:grpSpPr>
        <a:xfrm>
          <a:off x="0" y="0"/>
          <a:ext cx="0" cy="0"/>
          <a:chOff x="0" y="0"/>
          <a:chExt cx="0" cy="0"/>
        </a:xfrm>
      </p:grpSpPr>
      <p:sp>
        <p:nvSpPr>
          <p:cNvPr id="3078" name="Google Shape;3078;g3f62c33a15b_2_376: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9" name="Google Shape;3079;g3f62c33a15b_2_376: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3080" name="Google Shape;3080;g3f62c33a15b_2_376: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82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6"/>
        <p:cNvGrpSpPr/>
        <p:nvPr/>
      </p:nvGrpSpPr>
      <p:grpSpPr>
        <a:xfrm>
          <a:off x="0" y="0"/>
          <a:ext cx="0" cy="0"/>
          <a:chOff x="0" y="0"/>
          <a:chExt cx="0" cy="0"/>
        </a:xfrm>
      </p:grpSpPr>
      <p:sp>
        <p:nvSpPr>
          <p:cNvPr id="3107" name="Google Shape;3107;g3f62c33a15b_2_403: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8" name="Google Shape;3108;g3f62c33a15b_2_40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3109" name="Google Shape;3109;g3f62c33a15b_2_40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83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7"/>
        <p:cNvGrpSpPr/>
        <p:nvPr/>
      </p:nvGrpSpPr>
      <p:grpSpPr>
        <a:xfrm>
          <a:off x="0" y="0"/>
          <a:ext cx="0" cy="0"/>
          <a:chOff x="0" y="0"/>
          <a:chExt cx="0" cy="0"/>
        </a:xfrm>
      </p:grpSpPr>
      <p:sp>
        <p:nvSpPr>
          <p:cNvPr id="3158" name="Google Shape;3158;g3f62c33a15b_2_452: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9" name="Google Shape;3159;g3f62c33a15b_2_45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3160" name="Google Shape;3160;g3f62c33a15b_2_45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84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7"/>
        <p:cNvGrpSpPr/>
        <p:nvPr/>
      </p:nvGrpSpPr>
      <p:grpSpPr>
        <a:xfrm>
          <a:off x="0" y="0"/>
          <a:ext cx="0" cy="0"/>
          <a:chOff x="0" y="0"/>
          <a:chExt cx="0" cy="0"/>
        </a:xfrm>
      </p:grpSpPr>
      <p:sp>
        <p:nvSpPr>
          <p:cNvPr id="3198" name="Google Shape;3198;g3f62c33a15b_2_490: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9" name="Google Shape;3199;g3f62c33a15b_2_49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3200" name="Google Shape;3200;g3f62c33a15b_2_49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85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8"/>
        <p:cNvGrpSpPr/>
        <p:nvPr/>
      </p:nvGrpSpPr>
      <p:grpSpPr>
        <a:xfrm>
          <a:off x="0" y="0"/>
          <a:ext cx="0" cy="0"/>
          <a:chOff x="0" y="0"/>
          <a:chExt cx="0" cy="0"/>
        </a:xfrm>
      </p:grpSpPr>
      <p:sp>
        <p:nvSpPr>
          <p:cNvPr id="3269" name="Google Shape;3269;p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70" name="Google Shape;3270;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6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sp>
        <p:nvSpPr>
          <p:cNvPr id="13" name="Google Shape;13;p7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4" name="Google Shape;14;p7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5" name="Google Shape;15;p7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7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8" name="Google Shape;18;p7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7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1" name="Google Shape;21;p7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2" name="Google Shape;22;p7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7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5" name="Google Shape;25;p7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7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7" name="Google Shape;27;p7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7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0" name="Google Shape;30;p7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3" name="Google Shape;33;p7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p7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
        <p:cNvGrpSpPr/>
        <p:nvPr/>
      </p:nvGrpSpPr>
      <p:grpSpPr>
        <a:xfrm>
          <a:off x="0" y="0"/>
          <a:ext cx="0" cy="0"/>
          <a:chOff x="0" y="0"/>
          <a:chExt cx="0" cy="0"/>
        </a:xfrm>
      </p:grpSpPr>
      <p:sp>
        <p:nvSpPr>
          <p:cNvPr id="36" name="Google Shape;36;p7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7" name="Google Shape;37;p7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8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8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1" name="Google Shape;41;p8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2" name="Google Shape;42;p8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3" name="Google Shape;43;p8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8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6" name="Google Shape;46;p8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8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9" name="Google Shape;49;p8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0" name="Google Shape;50;p8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1"/>
        <p:cNvGrpSpPr/>
        <p:nvPr/>
      </p:nvGrpSpPr>
      <p:grpSpPr>
        <a:xfrm>
          <a:off x="0" y="0"/>
          <a:ext cx="0" cy="0"/>
          <a:chOff x="0" y="0"/>
          <a:chExt cx="0" cy="0"/>
        </a:xfrm>
      </p:grpSpPr>
      <p:sp>
        <p:nvSpPr>
          <p:cNvPr id="52" name="Google Shape;52;p83"/>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3" name="Google Shape;53;p83"/>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rm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1200"/>
              </a:spcBef>
              <a:spcAft>
                <a:spcPts val="0"/>
              </a:spcAft>
              <a:buClr>
                <a:schemeClr val="dk1"/>
              </a:buClr>
              <a:buSzPts val="1800"/>
              <a:buChar char="○"/>
              <a:defRPr/>
            </a:lvl2pPr>
            <a:lvl3pPr marL="1371600" lvl="2" indent="-342900" algn="l">
              <a:lnSpc>
                <a:spcPct val="115000"/>
              </a:lnSpc>
              <a:spcBef>
                <a:spcPts val="1200"/>
              </a:spcBef>
              <a:spcAft>
                <a:spcPts val="0"/>
              </a:spcAft>
              <a:buClr>
                <a:schemeClr val="dk1"/>
              </a:buClr>
              <a:buSzPts val="1800"/>
              <a:buChar char="■"/>
              <a:defRPr/>
            </a:lvl3pPr>
            <a:lvl4pPr marL="1828800" lvl="3" indent="-342900" algn="l">
              <a:lnSpc>
                <a:spcPct val="115000"/>
              </a:lnSpc>
              <a:spcBef>
                <a:spcPts val="1200"/>
              </a:spcBef>
              <a:spcAft>
                <a:spcPts val="0"/>
              </a:spcAft>
              <a:buClr>
                <a:schemeClr val="dk1"/>
              </a:buClr>
              <a:buSzPts val="1800"/>
              <a:buChar char="●"/>
              <a:defRPr/>
            </a:lvl4pPr>
            <a:lvl5pPr marL="2286000" lvl="4" indent="-342900" algn="l">
              <a:lnSpc>
                <a:spcPct val="115000"/>
              </a:lnSpc>
              <a:spcBef>
                <a:spcPts val="1200"/>
              </a:spcBef>
              <a:spcAft>
                <a:spcPts val="0"/>
              </a:spcAft>
              <a:buClr>
                <a:schemeClr val="dk1"/>
              </a:buClr>
              <a:buSzPts val="1800"/>
              <a:buChar char="○"/>
              <a:defRPr/>
            </a:lvl5pPr>
            <a:lvl6pPr marL="2743200" lvl="5" indent="-342900" algn="l">
              <a:lnSpc>
                <a:spcPct val="115000"/>
              </a:lnSpc>
              <a:spcBef>
                <a:spcPts val="1200"/>
              </a:spcBef>
              <a:spcAft>
                <a:spcPts val="0"/>
              </a:spcAft>
              <a:buClr>
                <a:schemeClr val="dk1"/>
              </a:buClr>
              <a:buSzPts val="1800"/>
              <a:buChar char="■"/>
              <a:defRPr/>
            </a:lvl6pPr>
            <a:lvl7pPr marL="3200400" lvl="6" indent="-342900" algn="l">
              <a:lnSpc>
                <a:spcPct val="115000"/>
              </a:lnSpc>
              <a:spcBef>
                <a:spcPts val="1200"/>
              </a:spcBef>
              <a:spcAft>
                <a:spcPts val="0"/>
              </a:spcAft>
              <a:buClr>
                <a:schemeClr val="dk1"/>
              </a:buClr>
              <a:buSzPts val="1800"/>
              <a:buChar char="●"/>
              <a:defRPr/>
            </a:lvl7pPr>
            <a:lvl8pPr marL="3657600" lvl="7" indent="-342900" algn="l">
              <a:lnSpc>
                <a:spcPct val="115000"/>
              </a:lnSpc>
              <a:spcBef>
                <a:spcPts val="1200"/>
              </a:spcBef>
              <a:spcAft>
                <a:spcPts val="0"/>
              </a:spcAft>
              <a:buClr>
                <a:schemeClr val="dk1"/>
              </a:buClr>
              <a:buSzPts val="1800"/>
              <a:buChar char="○"/>
              <a:defRPr/>
            </a:lvl8pPr>
            <a:lvl9pPr marL="4114800" lvl="8" indent="-342900" algn="l">
              <a:lnSpc>
                <a:spcPct val="115000"/>
              </a:lnSpc>
              <a:spcBef>
                <a:spcPts val="1200"/>
              </a:spcBef>
              <a:spcAft>
                <a:spcPts val="1200"/>
              </a:spcAft>
              <a:buClr>
                <a:schemeClr val="dk1"/>
              </a:buClr>
              <a:buSzPts val="1800"/>
              <a:buChar char="■"/>
              <a:defRPr/>
            </a:lvl9pPr>
          </a:lstStyle>
          <a:p>
            <a:endParaRPr/>
          </a:p>
        </p:txBody>
      </p:sp>
      <p:sp>
        <p:nvSpPr>
          <p:cNvPr id="54" name="Google Shape;54;p83"/>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5" name="Google Shape;55;p83"/>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 name="Google Shape;56;p8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Blank 1">
  <p:cSld name="Blank">
    <p:bg>
      <p:bgPr>
        <a:solidFill>
          <a:schemeClr val="lt1"/>
        </a:solidFill>
        <a:effectLst/>
      </p:bgPr>
    </p:bg>
    <p:spTree>
      <p:nvGrpSpPr>
        <p:cNvPr id="1" name="Shape 57"/>
        <p:cNvGrpSpPr/>
        <p:nvPr/>
      </p:nvGrpSpPr>
      <p:grpSpPr>
        <a:xfrm>
          <a:off x="0" y="0"/>
          <a:ext cx="0" cy="0"/>
          <a:chOff x="0" y="0"/>
          <a:chExt cx="0" cy="0"/>
        </a:xfrm>
      </p:grpSpPr>
      <p:sp>
        <p:nvSpPr>
          <p:cNvPr id="58" name="Google Shape;58;p84"/>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9" name="Google Shape;59;p84"/>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0" name="Google Shape;60;p84"/>
          <p:cNvSpPr txBox="1">
            <a:spLocks noGrp="1"/>
          </p:cNvSpPr>
          <p:nvPr>
            <p:ph type="sldNum" idx="12"/>
          </p:nvPr>
        </p:nvSpPr>
        <p:spPr>
          <a:xfrm>
            <a:off x="6583680" y="4783455"/>
            <a:ext cx="2103000" cy="153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61"/>
        <p:cNvGrpSpPr/>
        <p:nvPr/>
      </p:nvGrpSpPr>
      <p:grpSpPr>
        <a:xfrm>
          <a:off x="0" y="0"/>
          <a:ext cx="0" cy="0"/>
          <a:chOff x="0" y="0"/>
          <a:chExt cx="0" cy="0"/>
        </a:xfrm>
      </p:grpSpPr>
      <p:sp>
        <p:nvSpPr>
          <p:cNvPr id="62" name="Google Shape;62;p85"/>
          <p:cNvSpPr txBox="1">
            <a:spLocks noGrp="1"/>
          </p:cNvSpPr>
          <p:nvPr>
            <p:ph type="title"/>
          </p:nvPr>
        </p:nvSpPr>
        <p:spPr>
          <a:xfrm>
            <a:off x="700118" y="443102"/>
            <a:ext cx="7318500" cy="5676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800"/>
              <a:buNone/>
              <a:defRPr sz="3600" b="0" i="0">
                <a:solidFill>
                  <a:srgbClr val="002060"/>
                </a:solidFill>
                <a:latin typeface="Times New Roman"/>
                <a:ea typeface="Times New Roman"/>
                <a:cs typeface="Times New Roman"/>
                <a:sym typeface="Times New Roman"/>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85"/>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4" name="Google Shape;64;p85"/>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5" name="Google Shape;65;p85"/>
          <p:cNvSpPr txBox="1">
            <a:spLocks noGrp="1"/>
          </p:cNvSpPr>
          <p:nvPr>
            <p:ph type="sldNum" idx="12"/>
          </p:nvPr>
        </p:nvSpPr>
        <p:spPr>
          <a:xfrm>
            <a:off x="6583680" y="4783455"/>
            <a:ext cx="2103000" cy="153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7"/>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6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6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68"/>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6.jp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7.jp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9.jp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0.jp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32.png"/><Relationship Id="rId4" Type="http://schemas.openxmlformats.org/officeDocument/2006/relationships/image" Target="../media/image31.png"/></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28.png"/><Relationship Id="rId4" Type="http://schemas.openxmlformats.org/officeDocument/2006/relationships/image" Target="../media/image34.png"/></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jpg"/><Relationship Id="rId7" Type="http://schemas.openxmlformats.org/officeDocument/2006/relationships/image" Target="../media/image38.png"/><Relationship Id="rId2" Type="http://schemas.openxmlformats.org/officeDocument/2006/relationships/notesSlide" Target="../notesSlides/notesSlide86.xml"/><Relationship Id="rId1" Type="http://schemas.openxmlformats.org/officeDocument/2006/relationships/slideLayout" Target="../slideLayouts/slideLayout1.xml"/><Relationship Id="rId6" Type="http://schemas.openxmlformats.org/officeDocument/2006/relationships/image" Target="../media/image37.jpg"/><Relationship Id="rId5" Type="http://schemas.openxmlformats.org/officeDocument/2006/relationships/image" Target="../media/image36.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3"/>
        <p:cNvGrpSpPr/>
        <p:nvPr/>
      </p:nvGrpSpPr>
      <p:grpSpPr>
        <a:xfrm>
          <a:off x="0" y="0"/>
          <a:ext cx="0" cy="0"/>
          <a:chOff x="0" y="0"/>
          <a:chExt cx="0" cy="0"/>
        </a:xfrm>
      </p:grpSpPr>
      <p:sp>
        <p:nvSpPr>
          <p:cNvPr id="74" name="Google Shape;74;p1"/>
          <p:cNvSpPr txBox="1"/>
          <p:nvPr/>
        </p:nvSpPr>
        <p:spPr>
          <a:xfrm>
            <a:off x="685800" y="82600"/>
            <a:ext cx="7772400" cy="14700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4400"/>
              <a:buFont typeface="Arial"/>
              <a:buNone/>
            </a:pPr>
            <a:r>
              <a:rPr lang="en" sz="4400" b="1" i="0" u="none" strike="noStrike" cap="none">
                <a:solidFill>
                  <a:srgbClr val="C00000"/>
                </a:solidFill>
                <a:latin typeface="Calibri"/>
                <a:ea typeface="Calibri"/>
                <a:cs typeface="Calibri"/>
                <a:sym typeface="Calibri"/>
              </a:rPr>
              <a:t>Fundamental Concepts, CNN and Embeddings</a:t>
            </a:r>
            <a:endParaRPr sz="3700" b="1" i="0" u="none" strike="noStrike" cap="none">
              <a:solidFill>
                <a:srgbClr val="C00000"/>
              </a:solidFill>
              <a:latin typeface="Calibri"/>
              <a:ea typeface="Calibri"/>
              <a:cs typeface="Calibri"/>
              <a:sym typeface="Calibri"/>
            </a:endParaRPr>
          </a:p>
        </p:txBody>
      </p:sp>
      <p:sp>
        <p:nvSpPr>
          <p:cNvPr id="75" name="Google Shape;75;p1"/>
          <p:cNvSpPr txBox="1"/>
          <p:nvPr/>
        </p:nvSpPr>
        <p:spPr>
          <a:xfrm>
            <a:off x="1371600" y="1552600"/>
            <a:ext cx="6400800" cy="1470000"/>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448"/>
              </a:spcBef>
              <a:spcAft>
                <a:spcPts val="0"/>
              </a:spcAft>
              <a:buClr>
                <a:srgbClr val="000000"/>
              </a:buClr>
              <a:buSzPts val="2900"/>
              <a:buFont typeface="Arial"/>
              <a:buNone/>
            </a:pPr>
            <a:r>
              <a:rPr lang="en" sz="2900" b="1" i="0" u="none" strike="noStrike" cap="none">
                <a:solidFill>
                  <a:srgbClr val="002060"/>
                </a:solidFill>
                <a:latin typeface="Calibri"/>
                <a:ea typeface="Calibri"/>
                <a:cs typeface="Calibri"/>
                <a:sym typeface="Calibri"/>
              </a:rPr>
              <a:t>Dr. Sabyasachi Mukhopadhyay</a:t>
            </a:r>
            <a:endParaRPr sz="2900" b="1" i="0" u="none" strike="noStrike" cap="none">
              <a:solidFill>
                <a:schemeClr val="dk1"/>
              </a:solidFill>
              <a:latin typeface="Calibri"/>
              <a:ea typeface="Calibri"/>
              <a:cs typeface="Calibri"/>
              <a:sym typeface="Calibri"/>
            </a:endParaRPr>
          </a:p>
          <a:p>
            <a:pPr marL="0" marR="0" lvl="0" indent="0" algn="ctr" rtl="0">
              <a:lnSpc>
                <a:spcPct val="100000"/>
              </a:lnSpc>
              <a:spcBef>
                <a:spcPts val="448"/>
              </a:spcBef>
              <a:spcAft>
                <a:spcPts val="0"/>
              </a:spcAft>
              <a:buClr>
                <a:schemeClr val="dk1"/>
              </a:buClr>
              <a:buSzPts val="1100"/>
              <a:buFont typeface="Arial"/>
              <a:buNone/>
            </a:pPr>
            <a:r>
              <a:rPr lang="en" sz="2400" b="1" i="0" u="none" strike="noStrike" cap="none">
                <a:solidFill>
                  <a:srgbClr val="002060"/>
                </a:solidFill>
                <a:latin typeface="Calibri"/>
                <a:ea typeface="Calibri"/>
                <a:cs typeface="Calibri"/>
                <a:sym typeface="Calibri"/>
              </a:rPr>
              <a:t>Teaching Fellow, Dept. of CSE</a:t>
            </a:r>
            <a:endParaRPr sz="2400" b="1" i="0" u="none" strike="noStrike" cap="none">
              <a:solidFill>
                <a:schemeClr val="dk1"/>
              </a:solidFill>
              <a:latin typeface="Calibri"/>
              <a:ea typeface="Calibri"/>
              <a:cs typeface="Calibri"/>
              <a:sym typeface="Calibri"/>
            </a:endParaRPr>
          </a:p>
          <a:p>
            <a:pPr marL="0" marR="0" lvl="0" indent="0" algn="ctr" rtl="0">
              <a:lnSpc>
                <a:spcPct val="100000"/>
              </a:lnSpc>
              <a:spcBef>
                <a:spcPts val="448"/>
              </a:spcBef>
              <a:spcAft>
                <a:spcPts val="0"/>
              </a:spcAft>
              <a:buClr>
                <a:srgbClr val="000000"/>
              </a:buClr>
              <a:buSzPts val="2900"/>
              <a:buFont typeface="Arial"/>
              <a:buNone/>
            </a:pPr>
            <a:r>
              <a:rPr lang="en" sz="2400" b="1" i="0" u="none" strike="noStrike" cap="none">
                <a:solidFill>
                  <a:schemeClr val="dk1"/>
                </a:solidFill>
                <a:latin typeface="Calibri"/>
                <a:ea typeface="Calibri"/>
                <a:cs typeface="Calibri"/>
                <a:sym typeface="Calibri"/>
              </a:rPr>
              <a:t>IIT Kharagpur</a:t>
            </a:r>
            <a:endParaRPr sz="2400" b="1" i="0" u="none" strike="noStrike" cap="none">
              <a:solidFill>
                <a:schemeClr val="dk1"/>
              </a:solidFill>
              <a:latin typeface="Calibri"/>
              <a:ea typeface="Calibri"/>
              <a:cs typeface="Calibri"/>
              <a:sym typeface="Calibri"/>
            </a:endParaRPr>
          </a:p>
        </p:txBody>
      </p:sp>
      <p:pic>
        <p:nvPicPr>
          <p:cNvPr id="76" name="Google Shape;76;p1"/>
          <p:cNvPicPr preferRelativeResize="0"/>
          <p:nvPr/>
        </p:nvPicPr>
        <p:blipFill rotWithShape="1">
          <a:blip r:embed="rId4">
            <a:alphaModFix/>
          </a:blip>
          <a:srcRect/>
          <a:stretch/>
        </p:blipFill>
        <p:spPr>
          <a:xfrm>
            <a:off x="2846650" y="3022600"/>
            <a:ext cx="1106651" cy="1238477"/>
          </a:xfrm>
          <a:prstGeom prst="rect">
            <a:avLst/>
          </a:prstGeom>
          <a:noFill/>
          <a:ln>
            <a:noFill/>
          </a:ln>
        </p:spPr>
      </p:pic>
      <p:pic>
        <p:nvPicPr>
          <p:cNvPr id="77" name="Google Shape;77;p1"/>
          <p:cNvPicPr preferRelativeResize="0"/>
          <p:nvPr/>
        </p:nvPicPr>
        <p:blipFill rotWithShape="1">
          <a:blip r:embed="rId5">
            <a:alphaModFix/>
          </a:blip>
          <a:srcRect l="22319" r="21419" b="5553"/>
          <a:stretch/>
        </p:blipFill>
        <p:spPr>
          <a:xfrm>
            <a:off x="5266350" y="3065963"/>
            <a:ext cx="1031000" cy="1151750"/>
          </a:xfrm>
          <a:prstGeom prst="rect">
            <a:avLst/>
          </a:prstGeom>
          <a:noFill/>
          <a:ln>
            <a:noFill/>
          </a:ln>
        </p:spPr>
      </p:pic>
      <p:sp>
        <p:nvSpPr>
          <p:cNvPr id="78" name="Google Shape;78;p1"/>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2"/>
        <p:cNvGrpSpPr/>
        <p:nvPr/>
      </p:nvGrpSpPr>
      <p:grpSpPr>
        <a:xfrm>
          <a:off x="0" y="0"/>
          <a:ext cx="0" cy="0"/>
          <a:chOff x="0" y="0"/>
          <a:chExt cx="0" cy="0"/>
        </a:xfrm>
      </p:grpSpPr>
      <p:pic>
        <p:nvPicPr>
          <p:cNvPr id="83" name="Google Shape;83;g3f6a040a5a3_1_0"/>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84" name="Google Shape;84;g3f6a040a5a3_1_0"/>
          <p:cNvSpPr/>
          <p:nvPr/>
        </p:nvSpPr>
        <p:spPr>
          <a:xfrm>
            <a:off x="240625" y="1458550"/>
            <a:ext cx="5885400" cy="3840600"/>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Clr>
                <a:srgbClr val="1B2E45"/>
              </a:buClr>
              <a:buSzPts val="1500"/>
              <a:buFont typeface="Calibri"/>
              <a:buChar char="•"/>
            </a:pPr>
            <a:r>
              <a:rPr lang="en" sz="1500" b="0" i="0" u="none" strike="noStrike" cap="none">
                <a:solidFill>
                  <a:srgbClr val="1B2E45"/>
                </a:solidFill>
                <a:latin typeface="Calibri"/>
                <a:ea typeface="Calibri"/>
                <a:cs typeface="Calibri"/>
                <a:sym typeface="Calibri"/>
              </a:rPr>
              <a:t>Forward Pass: Input flows through network → produces prediction ŷ</a:t>
            </a:r>
            <a:endParaRPr sz="15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600"/>
              </a:spcBef>
              <a:spcAft>
                <a:spcPts val="0"/>
              </a:spcAft>
              <a:buClr>
                <a:srgbClr val="1B2E45"/>
              </a:buClr>
              <a:buSzPts val="1500"/>
              <a:buFont typeface="Calibri"/>
              <a:buChar char="•"/>
            </a:pPr>
            <a:r>
              <a:rPr lang="en" sz="1500" b="0" i="0" u="none" strike="noStrike" cap="none">
                <a:solidFill>
                  <a:srgbClr val="1B2E45"/>
                </a:solidFill>
                <a:latin typeface="Calibri"/>
                <a:ea typeface="Calibri"/>
                <a:cs typeface="Calibri"/>
                <a:sym typeface="Calibri"/>
              </a:rPr>
              <a:t>Loss Function: Measure error between ŷ and true label y</a:t>
            </a:r>
            <a:endParaRPr sz="1500" b="0" i="0" u="none" strike="noStrike" cap="none">
              <a:solidFill>
                <a:srgbClr val="000000"/>
              </a:solidFill>
              <a:latin typeface="Calibri"/>
              <a:ea typeface="Calibri"/>
              <a:cs typeface="Calibri"/>
              <a:sym typeface="Calibri"/>
            </a:endParaRPr>
          </a:p>
          <a:p>
            <a:pPr marL="635000" marR="0" lvl="1" indent="-317500" algn="l" rtl="0">
              <a:lnSpc>
                <a:spcPct val="100000"/>
              </a:lnSpc>
              <a:spcBef>
                <a:spcPts val="600"/>
              </a:spcBef>
              <a:spcAft>
                <a:spcPts val="0"/>
              </a:spcAft>
              <a:buClr>
                <a:srgbClr val="8899A6"/>
              </a:buClr>
              <a:buSzPts val="1300"/>
              <a:buFont typeface="Calibri"/>
              <a:buChar char="•"/>
            </a:pPr>
            <a:r>
              <a:rPr lang="en" sz="1300" b="0" i="0" u="none" strike="noStrike" cap="none">
                <a:solidFill>
                  <a:srgbClr val="8899A6"/>
                </a:solidFill>
                <a:latin typeface="Calibri"/>
                <a:ea typeface="Calibri"/>
                <a:cs typeface="Calibri"/>
                <a:sym typeface="Calibri"/>
              </a:rPr>
              <a:t>MSE for regression: L = (1/n)Σ(yᵢ - ŷᵢ)²</a:t>
            </a:r>
            <a:endParaRPr sz="1500" b="0" i="0" u="none" strike="noStrike" cap="none">
              <a:solidFill>
                <a:srgbClr val="000000"/>
              </a:solidFill>
              <a:latin typeface="Calibri"/>
              <a:ea typeface="Calibri"/>
              <a:cs typeface="Calibri"/>
              <a:sym typeface="Calibri"/>
            </a:endParaRPr>
          </a:p>
          <a:p>
            <a:pPr marL="635000" marR="0" lvl="1" indent="-317500" algn="l" rtl="0">
              <a:lnSpc>
                <a:spcPct val="100000"/>
              </a:lnSpc>
              <a:spcBef>
                <a:spcPts val="600"/>
              </a:spcBef>
              <a:spcAft>
                <a:spcPts val="0"/>
              </a:spcAft>
              <a:buClr>
                <a:srgbClr val="8899A6"/>
              </a:buClr>
              <a:buSzPts val="1300"/>
              <a:buFont typeface="Calibri"/>
              <a:buChar char="•"/>
            </a:pPr>
            <a:r>
              <a:rPr lang="en" sz="1300" b="0" i="0" u="none" strike="noStrike" cap="none">
                <a:solidFill>
                  <a:srgbClr val="8899A6"/>
                </a:solidFill>
                <a:latin typeface="Calibri"/>
                <a:ea typeface="Calibri"/>
                <a:cs typeface="Calibri"/>
                <a:sym typeface="Calibri"/>
              </a:rPr>
              <a:t>Cross-entropy for classification: L = −Σ yᵢ log(ŷᵢ)</a:t>
            </a:r>
            <a:endParaRPr sz="15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600"/>
              </a:spcBef>
              <a:spcAft>
                <a:spcPts val="0"/>
              </a:spcAft>
              <a:buClr>
                <a:srgbClr val="1B2E45"/>
              </a:buClr>
              <a:buSzPts val="1500"/>
              <a:buFont typeface="Calibri"/>
              <a:buChar char="•"/>
            </a:pPr>
            <a:r>
              <a:rPr lang="en" sz="1500" b="0" i="0" u="none" strike="noStrike" cap="none">
                <a:solidFill>
                  <a:srgbClr val="1B2E45"/>
                </a:solidFill>
                <a:latin typeface="Calibri"/>
                <a:ea typeface="Calibri"/>
                <a:cs typeface="Calibri"/>
                <a:sym typeface="Calibri"/>
              </a:rPr>
              <a:t>Backward Pass: Compute gradient of loss w.r.t. each weight using chain rule</a:t>
            </a:r>
            <a:endParaRPr sz="1500" b="0" i="0" u="none" strike="noStrike" cap="none">
              <a:solidFill>
                <a:srgbClr val="000000"/>
              </a:solidFill>
              <a:latin typeface="Calibri"/>
              <a:ea typeface="Calibri"/>
              <a:cs typeface="Calibri"/>
              <a:sym typeface="Calibri"/>
            </a:endParaRPr>
          </a:p>
          <a:p>
            <a:pPr marL="635000" marR="0" lvl="1" indent="-317500" algn="l" rtl="0">
              <a:lnSpc>
                <a:spcPct val="100000"/>
              </a:lnSpc>
              <a:spcBef>
                <a:spcPts val="600"/>
              </a:spcBef>
              <a:spcAft>
                <a:spcPts val="0"/>
              </a:spcAft>
              <a:buClr>
                <a:srgbClr val="8899A6"/>
              </a:buClr>
              <a:buSzPts val="1300"/>
              <a:buFont typeface="Calibri"/>
              <a:buChar char="•"/>
            </a:pPr>
            <a:r>
              <a:rPr lang="en" sz="1300" b="0" i="0" u="none" strike="noStrike" cap="none">
                <a:solidFill>
                  <a:srgbClr val="8899A6"/>
                </a:solidFill>
                <a:latin typeface="Calibri"/>
                <a:ea typeface="Calibri"/>
                <a:cs typeface="Calibri"/>
                <a:sym typeface="Calibri"/>
              </a:rPr>
              <a:t>∂L/∂w = ∂L/∂ŷ · ∂ŷ/∂z · ∂z/∂w  (chain rule, layer by layer)</a:t>
            </a:r>
            <a:endParaRPr sz="15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600"/>
              </a:spcBef>
              <a:spcAft>
                <a:spcPts val="0"/>
              </a:spcAft>
              <a:buClr>
                <a:srgbClr val="1B2E45"/>
              </a:buClr>
              <a:buSzPts val="1500"/>
              <a:buFont typeface="Calibri"/>
              <a:buChar char="•"/>
            </a:pPr>
            <a:r>
              <a:rPr lang="en" sz="1500" b="0" i="0" u="none" strike="noStrike" cap="none">
                <a:solidFill>
                  <a:srgbClr val="1B2E45"/>
                </a:solidFill>
                <a:latin typeface="Calibri"/>
                <a:ea typeface="Calibri"/>
                <a:cs typeface="Calibri"/>
                <a:sym typeface="Calibri"/>
              </a:rPr>
              <a:t>Gradient Descent Update: w ← w − η · ∂L/∂w  (η = learning rate)</a:t>
            </a:r>
            <a:endParaRPr sz="15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600"/>
              </a:spcBef>
              <a:spcAft>
                <a:spcPts val="0"/>
              </a:spcAft>
              <a:buClr>
                <a:srgbClr val="1B2E45"/>
              </a:buClr>
              <a:buSzPts val="1500"/>
              <a:buFont typeface="Calibri"/>
              <a:buChar char="•"/>
            </a:pPr>
            <a:r>
              <a:rPr lang="en" sz="1500" b="0" i="0" u="none" strike="noStrike" cap="none">
                <a:solidFill>
                  <a:srgbClr val="1B2E45"/>
                </a:solidFill>
                <a:latin typeface="Calibri"/>
                <a:ea typeface="Calibri"/>
                <a:cs typeface="Calibri"/>
                <a:sym typeface="Calibri"/>
              </a:rPr>
              <a:t>Key challenges: Vanishing gradients (deep nets), overfitting, local minima</a:t>
            </a:r>
            <a:endParaRPr sz="1500" b="0" i="0" u="none" strike="noStrike" cap="none">
              <a:solidFill>
                <a:srgbClr val="000000"/>
              </a:solidFill>
              <a:latin typeface="Calibri"/>
              <a:ea typeface="Calibri"/>
              <a:cs typeface="Calibri"/>
              <a:sym typeface="Calibri"/>
            </a:endParaRPr>
          </a:p>
        </p:txBody>
      </p:sp>
      <p:sp>
        <p:nvSpPr>
          <p:cNvPr id="85" name="Google Shape;85;g3f6a040a5a3_1_0"/>
          <p:cNvSpPr txBox="1"/>
          <p:nvPr/>
        </p:nvSpPr>
        <p:spPr>
          <a:xfrm>
            <a:off x="695100" y="166300"/>
            <a:ext cx="7435800" cy="7857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Backpropagation — How Neural Networks Learn</a:t>
            </a:r>
            <a:endParaRPr sz="2800" b="1" i="0" u="none" strike="noStrike" cap="none">
              <a:solidFill>
                <a:srgbClr val="000000"/>
              </a:solidFill>
              <a:latin typeface="Calibri"/>
              <a:ea typeface="Calibri"/>
              <a:cs typeface="Calibri"/>
              <a:sym typeface="Calibri"/>
            </a:endParaRPr>
          </a:p>
        </p:txBody>
      </p:sp>
      <p:pic>
        <p:nvPicPr>
          <p:cNvPr id="86" name="Google Shape;86;g3f6a040a5a3_1_0"/>
          <p:cNvPicPr preferRelativeResize="0"/>
          <p:nvPr/>
        </p:nvPicPr>
        <p:blipFill rotWithShape="1">
          <a:blip r:embed="rId5">
            <a:alphaModFix/>
          </a:blip>
          <a:srcRect/>
          <a:stretch/>
        </p:blipFill>
        <p:spPr>
          <a:xfrm>
            <a:off x="6126025" y="1312750"/>
            <a:ext cx="3017976" cy="3489850"/>
          </a:xfrm>
          <a:prstGeom prst="rect">
            <a:avLst/>
          </a:prstGeom>
          <a:noFill/>
          <a:ln>
            <a:noFill/>
          </a:ln>
        </p:spPr>
      </p:pic>
      <p:sp>
        <p:nvSpPr>
          <p:cNvPr id="87" name="Google Shape;87;g3f6a040a5a3_1_0"/>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
        <p:cNvGrpSpPr/>
        <p:nvPr/>
      </p:nvGrpSpPr>
      <p:grpSpPr>
        <a:xfrm>
          <a:off x="0" y="0"/>
          <a:ext cx="0" cy="0"/>
          <a:chOff x="0" y="0"/>
          <a:chExt cx="0" cy="0"/>
        </a:xfrm>
      </p:grpSpPr>
      <p:sp>
        <p:nvSpPr>
          <p:cNvPr id="93" name="Google Shape;93;g3f62c33a15b_2_0"/>
          <p:cNvSpPr/>
          <p:nvPr/>
        </p:nvSpPr>
        <p:spPr>
          <a:xfrm>
            <a:off x="342900" y="219456"/>
            <a:ext cx="84561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761"/>
              </a:buClr>
              <a:buSzPts val="2300"/>
              <a:buFont typeface="Cambria"/>
              <a:buNone/>
            </a:pPr>
            <a:r>
              <a:rPr lang="en" sz="2300" b="1" i="0" u="none" strike="noStrike" cap="none">
                <a:solidFill>
                  <a:srgbClr val="1E2761"/>
                </a:solidFill>
                <a:latin typeface="Cambria"/>
                <a:ea typeface="Cambria"/>
                <a:cs typeface="Cambria"/>
                <a:sym typeface="Cambria"/>
              </a:rPr>
              <a:t>What We'll Cover</a:t>
            </a:r>
            <a:endParaRPr sz="2300" b="0" i="0" u="none" strike="noStrike" cap="none">
              <a:solidFill>
                <a:schemeClr val="dk1"/>
              </a:solidFill>
              <a:latin typeface="Calibri"/>
              <a:ea typeface="Calibri"/>
              <a:cs typeface="Calibri"/>
              <a:sym typeface="Calibri"/>
            </a:endParaRPr>
          </a:p>
        </p:txBody>
      </p:sp>
      <p:sp>
        <p:nvSpPr>
          <p:cNvPr id="94" name="Google Shape;94;g3f62c33a15b_2_0"/>
          <p:cNvSpPr/>
          <p:nvPr/>
        </p:nvSpPr>
        <p:spPr>
          <a:xfrm>
            <a:off x="342900" y="630936"/>
            <a:ext cx="84561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A6472"/>
              </a:buClr>
              <a:buSzPts val="1100"/>
              <a:buFont typeface="Calibri"/>
              <a:buNone/>
            </a:pPr>
            <a:r>
              <a:rPr lang="en" sz="1100" b="0" i="1" u="none" strike="noStrike" cap="none">
                <a:solidFill>
                  <a:srgbClr val="5A6472"/>
                </a:solidFill>
                <a:latin typeface="Calibri"/>
                <a:ea typeface="Calibri"/>
                <a:cs typeface="Calibri"/>
                <a:sym typeface="Calibri"/>
              </a:rPr>
              <a:t>Six core building blocks behind training a neural network</a:t>
            </a:r>
            <a:endParaRPr sz="1100" b="0" i="0" u="none" strike="noStrike" cap="none">
              <a:solidFill>
                <a:schemeClr val="dk1"/>
              </a:solidFill>
              <a:latin typeface="Calibri"/>
              <a:ea typeface="Calibri"/>
              <a:cs typeface="Calibri"/>
              <a:sym typeface="Calibri"/>
            </a:endParaRPr>
          </a:p>
        </p:txBody>
      </p:sp>
      <p:sp>
        <p:nvSpPr>
          <p:cNvPr id="95" name="Google Shape;95;g3f62c33a15b_2_0"/>
          <p:cNvSpPr/>
          <p:nvPr/>
        </p:nvSpPr>
        <p:spPr>
          <a:xfrm>
            <a:off x="342900" y="1028700"/>
            <a:ext cx="2704200" cy="1841400"/>
          </a:xfrm>
          <a:prstGeom prst="roundRect">
            <a:avLst>
              <a:gd name="adj" fmla="val 2607"/>
            </a:avLst>
          </a:prstGeom>
          <a:solidFill>
            <a:srgbClr val="FFFFFF"/>
          </a:solidFill>
          <a:ln w="9525" cap="flat" cmpd="sng">
            <a:solidFill>
              <a:srgbClr val="E3E6EA"/>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g3f62c33a15b_2_0"/>
          <p:cNvSpPr/>
          <p:nvPr/>
        </p:nvSpPr>
        <p:spPr>
          <a:xfrm>
            <a:off x="342900" y="1028700"/>
            <a:ext cx="2704200" cy="61800"/>
          </a:xfrm>
          <a:prstGeom prst="roundRect">
            <a:avLst>
              <a:gd name="adj" fmla="val 77778"/>
            </a:avLst>
          </a:prstGeom>
          <a:solidFill>
            <a:srgbClr val="D2694A"/>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g3f62c33a15b_2_0"/>
          <p:cNvSpPr/>
          <p:nvPr/>
        </p:nvSpPr>
        <p:spPr>
          <a:xfrm>
            <a:off x="342900" y="1059561"/>
            <a:ext cx="2704200" cy="34200"/>
          </a:xfrm>
          <a:prstGeom prst="rect">
            <a:avLst/>
          </a:prstGeom>
          <a:solidFill>
            <a:srgbClr val="D2694A"/>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g3f62c33a15b_2_0"/>
          <p:cNvSpPr/>
          <p:nvPr/>
        </p:nvSpPr>
        <p:spPr>
          <a:xfrm>
            <a:off x="534924" y="1179576"/>
            <a:ext cx="2320200" cy="28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2694A"/>
              </a:buClr>
              <a:buSzPts val="800"/>
              <a:buFont typeface="Calibri"/>
              <a:buNone/>
            </a:pPr>
            <a:r>
              <a:rPr lang="en" sz="800" b="1" i="0" u="none" strike="noStrike" cap="none">
                <a:solidFill>
                  <a:srgbClr val="D2694A"/>
                </a:solidFill>
                <a:latin typeface="Calibri"/>
                <a:ea typeface="Calibri"/>
                <a:cs typeface="Calibri"/>
                <a:sym typeface="Calibri"/>
              </a:rPr>
              <a:t>01  </a:t>
            </a:r>
            <a:r>
              <a:rPr lang="en" sz="1200" b="1" i="0" u="none" strike="noStrike" cap="none">
                <a:solidFill>
                  <a:srgbClr val="2B2F33"/>
                </a:solidFill>
                <a:latin typeface="Calibri"/>
                <a:ea typeface="Calibri"/>
                <a:cs typeface="Calibri"/>
                <a:sym typeface="Calibri"/>
              </a:rPr>
              <a:t>Backpropagation</a:t>
            </a:r>
            <a:endParaRPr sz="800" b="0" i="0" u="none" strike="noStrike" cap="none">
              <a:solidFill>
                <a:schemeClr val="dk1"/>
              </a:solidFill>
              <a:latin typeface="Calibri"/>
              <a:ea typeface="Calibri"/>
              <a:cs typeface="Calibri"/>
              <a:sym typeface="Calibri"/>
            </a:endParaRPr>
          </a:p>
        </p:txBody>
      </p:sp>
      <p:cxnSp>
        <p:nvCxnSpPr>
          <p:cNvPr id="99" name="Google Shape;99;g3f62c33a15b_2_0"/>
          <p:cNvCxnSpPr/>
          <p:nvPr/>
        </p:nvCxnSpPr>
        <p:spPr>
          <a:xfrm>
            <a:off x="534924" y="1495044"/>
            <a:ext cx="2320200" cy="0"/>
          </a:xfrm>
          <a:prstGeom prst="straightConnector1">
            <a:avLst/>
          </a:prstGeom>
          <a:noFill/>
          <a:ln w="9525" cap="flat" cmpd="sng">
            <a:solidFill>
              <a:srgbClr val="E0E0E0"/>
            </a:solidFill>
            <a:prstDash val="solid"/>
            <a:round/>
            <a:headEnd type="none" w="sm" len="sm"/>
            <a:tailEnd type="none" w="sm" len="sm"/>
          </a:ln>
        </p:spPr>
      </p:cxnSp>
      <p:sp>
        <p:nvSpPr>
          <p:cNvPr id="100" name="Google Shape;100;g3f62c33a15b_2_0"/>
          <p:cNvSpPr/>
          <p:nvPr/>
        </p:nvSpPr>
        <p:spPr>
          <a:xfrm>
            <a:off x="534924" y="1577340"/>
            <a:ext cx="2320200" cy="5829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3A3F44"/>
              </a:buClr>
              <a:buSzPts val="900"/>
              <a:buFont typeface="Calibri"/>
              <a:buNone/>
            </a:pPr>
            <a:r>
              <a:rPr lang="en" sz="900" b="0" i="0" u="none" strike="noStrike" cap="none">
                <a:solidFill>
                  <a:srgbClr val="3A3F44"/>
                </a:solidFill>
                <a:latin typeface="Calibri"/>
                <a:ea typeface="Calibri"/>
                <a:cs typeface="Calibri"/>
                <a:sym typeface="Calibri"/>
              </a:rPr>
              <a:t>Chain rule flows error backward through the network to update every weight.</a:t>
            </a:r>
            <a:endParaRPr sz="900" b="0" i="0" u="none" strike="noStrike" cap="none">
              <a:solidFill>
                <a:schemeClr val="dk1"/>
              </a:solidFill>
              <a:latin typeface="Calibri"/>
              <a:ea typeface="Calibri"/>
              <a:cs typeface="Calibri"/>
              <a:sym typeface="Calibri"/>
            </a:endParaRPr>
          </a:p>
        </p:txBody>
      </p:sp>
      <p:sp>
        <p:nvSpPr>
          <p:cNvPr id="101" name="Google Shape;101;g3f62c33a15b_2_0"/>
          <p:cNvSpPr/>
          <p:nvPr/>
        </p:nvSpPr>
        <p:spPr>
          <a:xfrm>
            <a:off x="534924" y="2239137"/>
            <a:ext cx="733800" cy="219300"/>
          </a:xfrm>
          <a:prstGeom prst="roundRect">
            <a:avLst>
              <a:gd name="adj" fmla="val 50000"/>
            </a:avLst>
          </a:prstGeom>
          <a:solidFill>
            <a:srgbClr val="F7E4DE"/>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g3f62c33a15b_2_0"/>
          <p:cNvSpPr/>
          <p:nvPr/>
        </p:nvSpPr>
        <p:spPr>
          <a:xfrm>
            <a:off x="534924" y="2239137"/>
            <a:ext cx="733800" cy="219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D2694A"/>
              </a:buClr>
              <a:buSzPts val="800"/>
              <a:buFont typeface="Calibri"/>
              <a:buNone/>
            </a:pPr>
            <a:r>
              <a:rPr lang="en" sz="800" b="1" i="0" u="none" strike="noStrike" cap="none">
                <a:solidFill>
                  <a:srgbClr val="D2694A"/>
                </a:solidFill>
                <a:latin typeface="Calibri"/>
                <a:ea typeface="Calibri"/>
                <a:cs typeface="Calibri"/>
                <a:sym typeface="Calibri"/>
              </a:rPr>
              <a:t>chain rule</a:t>
            </a:r>
            <a:endParaRPr sz="800" b="0" i="0" u="none" strike="noStrike" cap="none">
              <a:solidFill>
                <a:schemeClr val="dk1"/>
              </a:solidFill>
              <a:latin typeface="Calibri"/>
              <a:ea typeface="Calibri"/>
              <a:cs typeface="Calibri"/>
              <a:sym typeface="Calibri"/>
            </a:endParaRPr>
          </a:p>
        </p:txBody>
      </p:sp>
      <p:sp>
        <p:nvSpPr>
          <p:cNvPr id="103" name="Google Shape;103;g3f62c33a15b_2_0"/>
          <p:cNvSpPr/>
          <p:nvPr/>
        </p:nvSpPr>
        <p:spPr>
          <a:xfrm>
            <a:off x="1364742" y="2239137"/>
            <a:ext cx="1083600" cy="219300"/>
          </a:xfrm>
          <a:prstGeom prst="roundRect">
            <a:avLst>
              <a:gd name="adj" fmla="val 50000"/>
            </a:avLst>
          </a:prstGeom>
          <a:solidFill>
            <a:srgbClr val="F7E4DE"/>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g3f62c33a15b_2_0"/>
          <p:cNvSpPr/>
          <p:nvPr/>
        </p:nvSpPr>
        <p:spPr>
          <a:xfrm>
            <a:off x="1364742" y="2239137"/>
            <a:ext cx="1083600" cy="219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D2694A"/>
              </a:buClr>
              <a:buSzPts val="800"/>
              <a:buFont typeface="Calibri"/>
              <a:buNone/>
            </a:pPr>
            <a:r>
              <a:rPr lang="en" sz="800" b="1" i="0" u="none" strike="noStrike" cap="none">
                <a:solidFill>
                  <a:srgbClr val="D2694A"/>
                </a:solidFill>
                <a:latin typeface="Calibri"/>
                <a:ea typeface="Calibri"/>
                <a:cs typeface="Calibri"/>
                <a:sym typeface="Calibri"/>
              </a:rPr>
              <a:t>gradient descent</a:t>
            </a:r>
            <a:endParaRPr sz="800" b="0" i="0" u="none" strike="noStrike" cap="none">
              <a:solidFill>
                <a:schemeClr val="dk1"/>
              </a:solidFill>
              <a:latin typeface="Calibri"/>
              <a:ea typeface="Calibri"/>
              <a:cs typeface="Calibri"/>
              <a:sym typeface="Calibri"/>
            </a:endParaRPr>
          </a:p>
        </p:txBody>
      </p:sp>
      <p:sp>
        <p:nvSpPr>
          <p:cNvPr id="105" name="Google Shape;105;g3f62c33a15b_2_0"/>
          <p:cNvSpPr/>
          <p:nvPr/>
        </p:nvSpPr>
        <p:spPr>
          <a:xfrm>
            <a:off x="534924" y="2540889"/>
            <a:ext cx="2320200" cy="246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2694A"/>
              </a:buClr>
              <a:buSzPts val="900"/>
              <a:buFont typeface="Cambria"/>
              <a:buNone/>
            </a:pPr>
            <a:r>
              <a:rPr lang="en" sz="900" b="1" i="1" u="none" strike="noStrike" cap="none">
                <a:solidFill>
                  <a:srgbClr val="D2694A"/>
                </a:solidFill>
                <a:latin typeface="Cambria"/>
                <a:ea typeface="Cambria"/>
                <a:cs typeface="Cambria"/>
                <a:sym typeface="Cambria"/>
              </a:rPr>
              <a:t>∂L/∂w = ∂L/∂ŷ · ∂ŷ/∂w</a:t>
            </a:r>
            <a:endParaRPr sz="900" b="0" i="0" u="none" strike="noStrike" cap="none">
              <a:solidFill>
                <a:schemeClr val="dk1"/>
              </a:solidFill>
              <a:latin typeface="Calibri"/>
              <a:ea typeface="Calibri"/>
              <a:cs typeface="Calibri"/>
              <a:sym typeface="Calibri"/>
            </a:endParaRPr>
          </a:p>
        </p:txBody>
      </p:sp>
      <p:sp>
        <p:nvSpPr>
          <p:cNvPr id="106" name="Google Shape;106;g3f62c33a15b_2_0"/>
          <p:cNvSpPr/>
          <p:nvPr/>
        </p:nvSpPr>
        <p:spPr>
          <a:xfrm>
            <a:off x="3218688" y="1028700"/>
            <a:ext cx="2704200" cy="1841400"/>
          </a:xfrm>
          <a:prstGeom prst="roundRect">
            <a:avLst>
              <a:gd name="adj" fmla="val 2607"/>
            </a:avLst>
          </a:prstGeom>
          <a:solidFill>
            <a:srgbClr val="FFFFFF"/>
          </a:solidFill>
          <a:ln w="9525" cap="flat" cmpd="sng">
            <a:solidFill>
              <a:srgbClr val="E3E6EA"/>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g3f62c33a15b_2_0"/>
          <p:cNvSpPr/>
          <p:nvPr/>
        </p:nvSpPr>
        <p:spPr>
          <a:xfrm>
            <a:off x="3218688" y="1028700"/>
            <a:ext cx="2704200" cy="61800"/>
          </a:xfrm>
          <a:prstGeom prst="roundRect">
            <a:avLst>
              <a:gd name="adj" fmla="val 77778"/>
            </a:avLst>
          </a:prstGeom>
          <a:solidFill>
            <a:srgbClr val="27AE60"/>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g3f62c33a15b_2_0"/>
          <p:cNvSpPr/>
          <p:nvPr/>
        </p:nvSpPr>
        <p:spPr>
          <a:xfrm>
            <a:off x="3218688" y="1059561"/>
            <a:ext cx="2704200" cy="34200"/>
          </a:xfrm>
          <a:prstGeom prst="rect">
            <a:avLst/>
          </a:prstGeom>
          <a:solidFill>
            <a:srgbClr val="27AE60"/>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g3f62c33a15b_2_0"/>
          <p:cNvSpPr/>
          <p:nvPr/>
        </p:nvSpPr>
        <p:spPr>
          <a:xfrm>
            <a:off x="3410712" y="1179576"/>
            <a:ext cx="2320200" cy="28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7AE60"/>
              </a:buClr>
              <a:buSzPts val="800"/>
              <a:buFont typeface="Calibri"/>
              <a:buNone/>
            </a:pPr>
            <a:r>
              <a:rPr lang="en" sz="800" b="1" i="0" u="none" strike="noStrike" cap="none">
                <a:solidFill>
                  <a:srgbClr val="27AE60"/>
                </a:solidFill>
                <a:latin typeface="Calibri"/>
                <a:ea typeface="Calibri"/>
                <a:cs typeface="Calibri"/>
                <a:sym typeface="Calibri"/>
              </a:rPr>
              <a:t>02  </a:t>
            </a:r>
            <a:r>
              <a:rPr lang="en" sz="1200" b="1" i="0" u="none" strike="noStrike" cap="none">
                <a:solidFill>
                  <a:srgbClr val="2B2F33"/>
                </a:solidFill>
                <a:latin typeface="Calibri"/>
                <a:ea typeface="Calibri"/>
                <a:cs typeface="Calibri"/>
                <a:sym typeface="Calibri"/>
              </a:rPr>
              <a:t>Loss Function</a:t>
            </a:r>
            <a:endParaRPr sz="800" b="0" i="0" u="none" strike="noStrike" cap="none">
              <a:solidFill>
                <a:schemeClr val="dk1"/>
              </a:solidFill>
              <a:latin typeface="Calibri"/>
              <a:ea typeface="Calibri"/>
              <a:cs typeface="Calibri"/>
              <a:sym typeface="Calibri"/>
            </a:endParaRPr>
          </a:p>
        </p:txBody>
      </p:sp>
      <p:cxnSp>
        <p:nvCxnSpPr>
          <p:cNvPr id="110" name="Google Shape;110;g3f62c33a15b_2_0"/>
          <p:cNvCxnSpPr/>
          <p:nvPr/>
        </p:nvCxnSpPr>
        <p:spPr>
          <a:xfrm>
            <a:off x="3410712" y="1495044"/>
            <a:ext cx="2320200" cy="0"/>
          </a:xfrm>
          <a:prstGeom prst="straightConnector1">
            <a:avLst/>
          </a:prstGeom>
          <a:noFill/>
          <a:ln w="9525" cap="flat" cmpd="sng">
            <a:solidFill>
              <a:srgbClr val="E0E0E0"/>
            </a:solidFill>
            <a:prstDash val="solid"/>
            <a:round/>
            <a:headEnd type="none" w="sm" len="sm"/>
            <a:tailEnd type="none" w="sm" len="sm"/>
          </a:ln>
        </p:spPr>
      </p:cxnSp>
      <p:sp>
        <p:nvSpPr>
          <p:cNvPr id="111" name="Google Shape;111;g3f62c33a15b_2_0"/>
          <p:cNvSpPr/>
          <p:nvPr/>
        </p:nvSpPr>
        <p:spPr>
          <a:xfrm>
            <a:off x="3410712" y="1577340"/>
            <a:ext cx="2320200" cy="5829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3A3F44"/>
              </a:buClr>
              <a:buSzPts val="900"/>
              <a:buFont typeface="Calibri"/>
              <a:buNone/>
            </a:pPr>
            <a:r>
              <a:rPr lang="en" sz="900" b="0" i="0" u="none" strike="noStrike" cap="none">
                <a:solidFill>
                  <a:srgbClr val="3A3F44"/>
                </a:solidFill>
                <a:latin typeface="Calibri"/>
                <a:ea typeface="Calibri"/>
                <a:cs typeface="Calibri"/>
                <a:sym typeface="Calibri"/>
              </a:rPr>
              <a:t>Measures how wrong the model's predictions are — training minimises this.</a:t>
            </a:r>
            <a:endParaRPr sz="900" b="0" i="0" u="none" strike="noStrike" cap="none">
              <a:solidFill>
                <a:schemeClr val="dk1"/>
              </a:solidFill>
              <a:latin typeface="Calibri"/>
              <a:ea typeface="Calibri"/>
              <a:cs typeface="Calibri"/>
              <a:sym typeface="Calibri"/>
            </a:endParaRPr>
          </a:p>
        </p:txBody>
      </p:sp>
      <p:sp>
        <p:nvSpPr>
          <p:cNvPr id="112" name="Google Shape;112;g3f62c33a15b_2_0"/>
          <p:cNvSpPr/>
          <p:nvPr/>
        </p:nvSpPr>
        <p:spPr>
          <a:xfrm>
            <a:off x="3410712" y="2239137"/>
            <a:ext cx="325800" cy="219300"/>
          </a:xfrm>
          <a:prstGeom prst="roundRect">
            <a:avLst>
              <a:gd name="adj" fmla="val 50000"/>
            </a:avLst>
          </a:prstGeom>
          <a:solidFill>
            <a:srgbClr val="D8F0E2"/>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g3f62c33a15b_2_0"/>
          <p:cNvSpPr/>
          <p:nvPr/>
        </p:nvSpPr>
        <p:spPr>
          <a:xfrm>
            <a:off x="3410712" y="2239137"/>
            <a:ext cx="325800" cy="219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AE60"/>
              </a:buClr>
              <a:buSzPts val="800"/>
              <a:buFont typeface="Calibri"/>
              <a:buNone/>
            </a:pPr>
            <a:r>
              <a:rPr lang="en" sz="800" b="1" i="0" u="none" strike="noStrike" cap="none">
                <a:solidFill>
                  <a:srgbClr val="27AE60"/>
                </a:solidFill>
                <a:latin typeface="Calibri"/>
                <a:ea typeface="Calibri"/>
                <a:cs typeface="Calibri"/>
                <a:sym typeface="Calibri"/>
              </a:rPr>
              <a:t>MSE</a:t>
            </a:r>
            <a:endParaRPr sz="800" b="0" i="0" u="none" strike="noStrike" cap="none">
              <a:solidFill>
                <a:schemeClr val="dk1"/>
              </a:solidFill>
              <a:latin typeface="Calibri"/>
              <a:ea typeface="Calibri"/>
              <a:cs typeface="Calibri"/>
              <a:sym typeface="Calibri"/>
            </a:endParaRPr>
          </a:p>
        </p:txBody>
      </p:sp>
      <p:sp>
        <p:nvSpPr>
          <p:cNvPr id="114" name="Google Shape;114;g3f62c33a15b_2_0"/>
          <p:cNvSpPr/>
          <p:nvPr/>
        </p:nvSpPr>
        <p:spPr>
          <a:xfrm>
            <a:off x="3832479" y="2239137"/>
            <a:ext cx="908700" cy="219300"/>
          </a:xfrm>
          <a:prstGeom prst="roundRect">
            <a:avLst>
              <a:gd name="adj" fmla="val 50000"/>
            </a:avLst>
          </a:prstGeom>
          <a:solidFill>
            <a:srgbClr val="D8F0E2"/>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g3f62c33a15b_2_0"/>
          <p:cNvSpPr/>
          <p:nvPr/>
        </p:nvSpPr>
        <p:spPr>
          <a:xfrm>
            <a:off x="3832479" y="2239137"/>
            <a:ext cx="908700" cy="219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AE60"/>
              </a:buClr>
              <a:buSzPts val="800"/>
              <a:buFont typeface="Calibri"/>
              <a:buNone/>
            </a:pPr>
            <a:r>
              <a:rPr lang="en" sz="800" b="1" i="0" u="none" strike="noStrike" cap="none">
                <a:solidFill>
                  <a:srgbClr val="27AE60"/>
                </a:solidFill>
                <a:latin typeface="Calibri"/>
                <a:ea typeface="Calibri"/>
                <a:cs typeface="Calibri"/>
                <a:sym typeface="Calibri"/>
              </a:rPr>
              <a:t>Cross-entropy</a:t>
            </a:r>
            <a:endParaRPr sz="800" b="0" i="0" u="none" strike="noStrike" cap="none">
              <a:solidFill>
                <a:schemeClr val="dk1"/>
              </a:solidFill>
              <a:latin typeface="Calibri"/>
              <a:ea typeface="Calibri"/>
              <a:cs typeface="Calibri"/>
              <a:sym typeface="Calibri"/>
            </a:endParaRPr>
          </a:p>
        </p:txBody>
      </p:sp>
      <p:sp>
        <p:nvSpPr>
          <p:cNvPr id="116" name="Google Shape;116;g3f62c33a15b_2_0"/>
          <p:cNvSpPr/>
          <p:nvPr/>
        </p:nvSpPr>
        <p:spPr>
          <a:xfrm>
            <a:off x="3410712" y="2540889"/>
            <a:ext cx="2320200" cy="246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7AE60"/>
              </a:buClr>
              <a:buSzPts val="900"/>
              <a:buFont typeface="Cambria"/>
              <a:buNone/>
            </a:pPr>
            <a:r>
              <a:rPr lang="en" sz="900" b="1" i="1" u="none" strike="noStrike" cap="none">
                <a:solidFill>
                  <a:srgbClr val="27AE60"/>
                </a:solidFill>
                <a:latin typeface="Cambria"/>
                <a:ea typeface="Cambria"/>
                <a:cs typeface="Cambria"/>
                <a:sym typeface="Cambria"/>
              </a:rPr>
              <a:t>L = −Σ yᵢ log(ŷᵢ)</a:t>
            </a:r>
            <a:endParaRPr sz="900" b="0" i="0" u="none" strike="noStrike" cap="none">
              <a:solidFill>
                <a:schemeClr val="dk1"/>
              </a:solidFill>
              <a:latin typeface="Calibri"/>
              <a:ea typeface="Calibri"/>
              <a:cs typeface="Calibri"/>
              <a:sym typeface="Calibri"/>
            </a:endParaRPr>
          </a:p>
        </p:txBody>
      </p:sp>
      <p:sp>
        <p:nvSpPr>
          <p:cNvPr id="117" name="Google Shape;117;g3f62c33a15b_2_0"/>
          <p:cNvSpPr/>
          <p:nvPr/>
        </p:nvSpPr>
        <p:spPr>
          <a:xfrm>
            <a:off x="6094476" y="1028700"/>
            <a:ext cx="2704200" cy="1841400"/>
          </a:xfrm>
          <a:prstGeom prst="roundRect">
            <a:avLst>
              <a:gd name="adj" fmla="val 2607"/>
            </a:avLst>
          </a:prstGeom>
          <a:solidFill>
            <a:srgbClr val="FFFFFF"/>
          </a:solidFill>
          <a:ln w="9525" cap="flat" cmpd="sng">
            <a:solidFill>
              <a:srgbClr val="E3E6EA"/>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g3f62c33a15b_2_0"/>
          <p:cNvSpPr/>
          <p:nvPr/>
        </p:nvSpPr>
        <p:spPr>
          <a:xfrm>
            <a:off x="6094476" y="1028700"/>
            <a:ext cx="2704200" cy="61800"/>
          </a:xfrm>
          <a:prstGeom prst="roundRect">
            <a:avLst>
              <a:gd name="adj" fmla="val 77778"/>
            </a:avLst>
          </a:prstGeom>
          <a:solidFill>
            <a:srgbClr val="7D5BA6"/>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g3f62c33a15b_2_0"/>
          <p:cNvSpPr/>
          <p:nvPr/>
        </p:nvSpPr>
        <p:spPr>
          <a:xfrm>
            <a:off x="6094476" y="1059561"/>
            <a:ext cx="2704200" cy="34200"/>
          </a:xfrm>
          <a:prstGeom prst="rect">
            <a:avLst/>
          </a:prstGeom>
          <a:solidFill>
            <a:srgbClr val="7D5BA6"/>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g3f62c33a15b_2_0"/>
          <p:cNvSpPr/>
          <p:nvPr/>
        </p:nvSpPr>
        <p:spPr>
          <a:xfrm>
            <a:off x="6286500" y="1179576"/>
            <a:ext cx="2320200" cy="28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D5BA6"/>
              </a:buClr>
              <a:buSzPts val="800"/>
              <a:buFont typeface="Calibri"/>
              <a:buNone/>
            </a:pPr>
            <a:r>
              <a:rPr lang="en" sz="800" b="1" i="0" u="none" strike="noStrike" cap="none">
                <a:solidFill>
                  <a:srgbClr val="7D5BA6"/>
                </a:solidFill>
                <a:latin typeface="Calibri"/>
                <a:ea typeface="Calibri"/>
                <a:cs typeface="Calibri"/>
                <a:sym typeface="Calibri"/>
              </a:rPr>
              <a:t>03  </a:t>
            </a:r>
            <a:r>
              <a:rPr lang="en" sz="1200" b="1" i="0" u="none" strike="noStrike" cap="none">
                <a:solidFill>
                  <a:srgbClr val="2B2F33"/>
                </a:solidFill>
                <a:latin typeface="Calibri"/>
                <a:ea typeface="Calibri"/>
                <a:cs typeface="Calibri"/>
                <a:sym typeface="Calibri"/>
              </a:rPr>
              <a:t>Parameter vs Hyperparameter</a:t>
            </a:r>
            <a:endParaRPr sz="800" b="0" i="0" u="none" strike="noStrike" cap="none">
              <a:solidFill>
                <a:schemeClr val="dk1"/>
              </a:solidFill>
              <a:latin typeface="Calibri"/>
              <a:ea typeface="Calibri"/>
              <a:cs typeface="Calibri"/>
              <a:sym typeface="Calibri"/>
            </a:endParaRPr>
          </a:p>
        </p:txBody>
      </p:sp>
      <p:cxnSp>
        <p:nvCxnSpPr>
          <p:cNvPr id="121" name="Google Shape;121;g3f62c33a15b_2_0"/>
          <p:cNvCxnSpPr/>
          <p:nvPr/>
        </p:nvCxnSpPr>
        <p:spPr>
          <a:xfrm>
            <a:off x="6286500" y="1495044"/>
            <a:ext cx="2320200" cy="0"/>
          </a:xfrm>
          <a:prstGeom prst="straightConnector1">
            <a:avLst/>
          </a:prstGeom>
          <a:noFill/>
          <a:ln w="9525" cap="flat" cmpd="sng">
            <a:solidFill>
              <a:srgbClr val="E0E0E0"/>
            </a:solidFill>
            <a:prstDash val="solid"/>
            <a:round/>
            <a:headEnd type="none" w="sm" len="sm"/>
            <a:tailEnd type="none" w="sm" len="sm"/>
          </a:ln>
        </p:spPr>
      </p:cxnSp>
      <p:sp>
        <p:nvSpPr>
          <p:cNvPr id="122" name="Google Shape;122;g3f62c33a15b_2_0"/>
          <p:cNvSpPr/>
          <p:nvPr/>
        </p:nvSpPr>
        <p:spPr>
          <a:xfrm>
            <a:off x="6286500" y="1577340"/>
            <a:ext cx="2320200" cy="5829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3A3F44"/>
              </a:buClr>
              <a:buSzPts val="900"/>
              <a:buFont typeface="Calibri"/>
              <a:buNone/>
            </a:pPr>
            <a:r>
              <a:rPr lang="en" sz="900" b="0" i="0" u="none" strike="noStrike" cap="none">
                <a:solidFill>
                  <a:srgbClr val="3A3F44"/>
                </a:solidFill>
                <a:latin typeface="Calibri"/>
                <a:ea typeface="Calibri"/>
                <a:cs typeface="Calibri"/>
                <a:sym typeface="Calibri"/>
              </a:rPr>
              <a:t>Parameters are learned from data; hyperparameters are set before training begins.</a:t>
            </a:r>
            <a:endParaRPr sz="900" b="0" i="0" u="none" strike="noStrike" cap="none">
              <a:solidFill>
                <a:schemeClr val="dk1"/>
              </a:solidFill>
              <a:latin typeface="Calibri"/>
              <a:ea typeface="Calibri"/>
              <a:cs typeface="Calibri"/>
              <a:sym typeface="Calibri"/>
            </a:endParaRPr>
          </a:p>
        </p:txBody>
      </p:sp>
      <p:sp>
        <p:nvSpPr>
          <p:cNvPr id="123" name="Google Shape;123;g3f62c33a15b_2_0"/>
          <p:cNvSpPr/>
          <p:nvPr/>
        </p:nvSpPr>
        <p:spPr>
          <a:xfrm>
            <a:off x="6286500" y="2239137"/>
            <a:ext cx="908700" cy="219300"/>
          </a:xfrm>
          <a:prstGeom prst="roundRect">
            <a:avLst>
              <a:gd name="adj" fmla="val 50000"/>
            </a:avLst>
          </a:prstGeom>
          <a:solidFill>
            <a:srgbClr val="E8E1EF"/>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g3f62c33a15b_2_0"/>
          <p:cNvSpPr/>
          <p:nvPr/>
        </p:nvSpPr>
        <p:spPr>
          <a:xfrm>
            <a:off x="6286500" y="2239137"/>
            <a:ext cx="908700" cy="219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D5BA6"/>
              </a:buClr>
              <a:buSzPts val="800"/>
              <a:buFont typeface="Calibri"/>
              <a:buNone/>
            </a:pPr>
            <a:r>
              <a:rPr lang="en" sz="800" b="1" i="0" u="none" strike="noStrike" cap="none">
                <a:solidFill>
                  <a:srgbClr val="7D5BA6"/>
                </a:solidFill>
                <a:latin typeface="Calibri"/>
                <a:ea typeface="Calibri"/>
                <a:cs typeface="Calibri"/>
                <a:sym typeface="Calibri"/>
              </a:rPr>
              <a:t>weights, bias</a:t>
            </a:r>
            <a:endParaRPr sz="800" b="0" i="0" u="none" strike="noStrike" cap="none">
              <a:solidFill>
                <a:schemeClr val="dk1"/>
              </a:solidFill>
              <a:latin typeface="Calibri"/>
              <a:ea typeface="Calibri"/>
              <a:cs typeface="Calibri"/>
              <a:sym typeface="Calibri"/>
            </a:endParaRPr>
          </a:p>
        </p:txBody>
      </p:sp>
      <p:sp>
        <p:nvSpPr>
          <p:cNvPr id="125" name="Google Shape;125;g3f62c33a15b_2_0"/>
          <p:cNvSpPr/>
          <p:nvPr/>
        </p:nvSpPr>
        <p:spPr>
          <a:xfrm>
            <a:off x="7291197" y="2239137"/>
            <a:ext cx="733800" cy="219300"/>
          </a:xfrm>
          <a:prstGeom prst="roundRect">
            <a:avLst>
              <a:gd name="adj" fmla="val 50000"/>
            </a:avLst>
          </a:prstGeom>
          <a:solidFill>
            <a:srgbClr val="E8E1EF"/>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g3f62c33a15b_2_0"/>
          <p:cNvSpPr/>
          <p:nvPr/>
        </p:nvSpPr>
        <p:spPr>
          <a:xfrm>
            <a:off x="7291197" y="2239137"/>
            <a:ext cx="733800" cy="219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D5BA6"/>
              </a:buClr>
              <a:buSzPts val="800"/>
              <a:buFont typeface="Calibri"/>
              <a:buNone/>
            </a:pPr>
            <a:r>
              <a:rPr lang="en" sz="800" b="1" i="0" u="none" strike="noStrike" cap="none">
                <a:solidFill>
                  <a:srgbClr val="7D5BA6"/>
                </a:solidFill>
                <a:latin typeface="Calibri"/>
                <a:ea typeface="Calibri"/>
                <a:cs typeface="Calibri"/>
                <a:sym typeface="Calibri"/>
              </a:rPr>
              <a:t>lr, epochs</a:t>
            </a:r>
            <a:endParaRPr sz="800" b="0" i="0" u="none" strike="noStrike" cap="none">
              <a:solidFill>
                <a:schemeClr val="dk1"/>
              </a:solidFill>
              <a:latin typeface="Calibri"/>
              <a:ea typeface="Calibri"/>
              <a:cs typeface="Calibri"/>
              <a:sym typeface="Calibri"/>
            </a:endParaRPr>
          </a:p>
        </p:txBody>
      </p:sp>
      <p:sp>
        <p:nvSpPr>
          <p:cNvPr id="127" name="Google Shape;127;g3f62c33a15b_2_0"/>
          <p:cNvSpPr/>
          <p:nvPr/>
        </p:nvSpPr>
        <p:spPr>
          <a:xfrm>
            <a:off x="6286500" y="2540889"/>
            <a:ext cx="2320200" cy="246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D5BA6"/>
              </a:buClr>
              <a:buSzPts val="900"/>
              <a:buFont typeface="Cambria"/>
              <a:buNone/>
            </a:pPr>
            <a:r>
              <a:rPr lang="en" sz="900" b="1" i="1" u="none" strike="noStrike" cap="none">
                <a:solidFill>
                  <a:srgbClr val="7D5BA6"/>
                </a:solidFill>
                <a:latin typeface="Cambria"/>
                <a:ea typeface="Cambria"/>
                <a:cs typeface="Cambria"/>
                <a:sym typeface="Cambria"/>
              </a:rPr>
              <a:t>params: w, b   vs   lr, batch size</a:t>
            </a:r>
            <a:endParaRPr sz="900" b="0" i="0" u="none" strike="noStrike" cap="none">
              <a:solidFill>
                <a:schemeClr val="dk1"/>
              </a:solidFill>
              <a:latin typeface="Calibri"/>
              <a:ea typeface="Calibri"/>
              <a:cs typeface="Calibri"/>
              <a:sym typeface="Calibri"/>
            </a:endParaRPr>
          </a:p>
        </p:txBody>
      </p:sp>
      <p:sp>
        <p:nvSpPr>
          <p:cNvPr id="128" name="Google Shape;128;g3f62c33a15b_2_0"/>
          <p:cNvSpPr/>
          <p:nvPr/>
        </p:nvSpPr>
        <p:spPr>
          <a:xfrm>
            <a:off x="342900" y="3062097"/>
            <a:ext cx="2704200" cy="1841400"/>
          </a:xfrm>
          <a:prstGeom prst="roundRect">
            <a:avLst>
              <a:gd name="adj" fmla="val 2607"/>
            </a:avLst>
          </a:prstGeom>
          <a:solidFill>
            <a:srgbClr val="FFFFFF"/>
          </a:solidFill>
          <a:ln w="9525" cap="flat" cmpd="sng">
            <a:solidFill>
              <a:srgbClr val="E3E6EA"/>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g3f62c33a15b_2_0"/>
          <p:cNvSpPr/>
          <p:nvPr/>
        </p:nvSpPr>
        <p:spPr>
          <a:xfrm>
            <a:off x="342900" y="3062097"/>
            <a:ext cx="2704200" cy="61800"/>
          </a:xfrm>
          <a:prstGeom prst="roundRect">
            <a:avLst>
              <a:gd name="adj" fmla="val 77778"/>
            </a:avLst>
          </a:prstGeom>
          <a:solidFill>
            <a:srgbClr val="2E86C1"/>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3f62c33a15b_2_0"/>
          <p:cNvSpPr/>
          <p:nvPr/>
        </p:nvSpPr>
        <p:spPr>
          <a:xfrm>
            <a:off x="342900" y="3092958"/>
            <a:ext cx="2704200" cy="34200"/>
          </a:xfrm>
          <a:prstGeom prst="rect">
            <a:avLst/>
          </a:prstGeom>
          <a:solidFill>
            <a:srgbClr val="2E86C1"/>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3f62c33a15b_2_0"/>
          <p:cNvSpPr/>
          <p:nvPr/>
        </p:nvSpPr>
        <p:spPr>
          <a:xfrm>
            <a:off x="534924" y="3212973"/>
            <a:ext cx="2320200" cy="28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86C1"/>
              </a:buClr>
              <a:buSzPts val="800"/>
              <a:buFont typeface="Calibri"/>
              <a:buNone/>
            </a:pPr>
            <a:r>
              <a:rPr lang="en" sz="800" b="1" i="0" u="none" strike="noStrike" cap="none">
                <a:solidFill>
                  <a:srgbClr val="2E86C1"/>
                </a:solidFill>
                <a:latin typeface="Calibri"/>
                <a:ea typeface="Calibri"/>
                <a:cs typeface="Calibri"/>
                <a:sym typeface="Calibri"/>
              </a:rPr>
              <a:t>04  </a:t>
            </a:r>
            <a:r>
              <a:rPr lang="en" sz="1200" b="1" i="0" u="none" strike="noStrike" cap="none">
                <a:solidFill>
                  <a:srgbClr val="2B2F33"/>
                </a:solidFill>
                <a:latin typeface="Calibri"/>
                <a:ea typeface="Calibri"/>
                <a:cs typeface="Calibri"/>
                <a:sym typeface="Calibri"/>
              </a:rPr>
              <a:t>Train / Test / Validation</a:t>
            </a:r>
            <a:endParaRPr sz="800" b="0" i="0" u="none" strike="noStrike" cap="none">
              <a:solidFill>
                <a:schemeClr val="dk1"/>
              </a:solidFill>
              <a:latin typeface="Calibri"/>
              <a:ea typeface="Calibri"/>
              <a:cs typeface="Calibri"/>
              <a:sym typeface="Calibri"/>
            </a:endParaRPr>
          </a:p>
        </p:txBody>
      </p:sp>
      <p:cxnSp>
        <p:nvCxnSpPr>
          <p:cNvPr id="132" name="Google Shape;132;g3f62c33a15b_2_0"/>
          <p:cNvCxnSpPr/>
          <p:nvPr/>
        </p:nvCxnSpPr>
        <p:spPr>
          <a:xfrm>
            <a:off x="534924" y="3528441"/>
            <a:ext cx="2320200" cy="0"/>
          </a:xfrm>
          <a:prstGeom prst="straightConnector1">
            <a:avLst/>
          </a:prstGeom>
          <a:noFill/>
          <a:ln w="9525" cap="flat" cmpd="sng">
            <a:solidFill>
              <a:srgbClr val="E0E0E0"/>
            </a:solidFill>
            <a:prstDash val="solid"/>
            <a:round/>
            <a:headEnd type="none" w="sm" len="sm"/>
            <a:tailEnd type="none" w="sm" len="sm"/>
          </a:ln>
        </p:spPr>
      </p:cxnSp>
      <p:sp>
        <p:nvSpPr>
          <p:cNvPr id="133" name="Google Shape;133;g3f62c33a15b_2_0"/>
          <p:cNvSpPr/>
          <p:nvPr/>
        </p:nvSpPr>
        <p:spPr>
          <a:xfrm>
            <a:off x="534924" y="3610737"/>
            <a:ext cx="2320200" cy="5829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3A3F44"/>
              </a:buClr>
              <a:buSzPts val="900"/>
              <a:buFont typeface="Calibri"/>
              <a:buNone/>
            </a:pPr>
            <a:r>
              <a:rPr lang="en" sz="900" b="0" i="0" u="none" strike="noStrike" cap="none">
                <a:solidFill>
                  <a:srgbClr val="3A3F44"/>
                </a:solidFill>
                <a:latin typeface="Calibri"/>
                <a:ea typeface="Calibri"/>
                <a:cs typeface="Calibri"/>
                <a:sym typeface="Calibri"/>
              </a:rPr>
              <a:t>Data is split to fit the model, tune it, and fairly judge it on unseen examples.</a:t>
            </a:r>
            <a:endParaRPr sz="900" b="0" i="0" u="none" strike="noStrike" cap="none">
              <a:solidFill>
                <a:schemeClr val="dk1"/>
              </a:solidFill>
              <a:latin typeface="Calibri"/>
              <a:ea typeface="Calibri"/>
              <a:cs typeface="Calibri"/>
              <a:sym typeface="Calibri"/>
            </a:endParaRPr>
          </a:p>
        </p:txBody>
      </p:sp>
      <p:sp>
        <p:nvSpPr>
          <p:cNvPr id="134" name="Google Shape;134;g3f62c33a15b_2_0"/>
          <p:cNvSpPr/>
          <p:nvPr/>
        </p:nvSpPr>
        <p:spPr>
          <a:xfrm>
            <a:off x="534924" y="4272534"/>
            <a:ext cx="675600" cy="219300"/>
          </a:xfrm>
          <a:prstGeom prst="roundRect">
            <a:avLst>
              <a:gd name="adj" fmla="val 50000"/>
            </a:avLst>
          </a:prstGeom>
          <a:solidFill>
            <a:srgbClr val="D9E9F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g3f62c33a15b_2_0"/>
          <p:cNvSpPr/>
          <p:nvPr/>
        </p:nvSpPr>
        <p:spPr>
          <a:xfrm>
            <a:off x="534924" y="4272534"/>
            <a:ext cx="675600" cy="219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E86C1"/>
              </a:buClr>
              <a:buSzPts val="800"/>
              <a:buFont typeface="Calibri"/>
              <a:buNone/>
            </a:pPr>
            <a:r>
              <a:rPr lang="en" sz="800" b="1" i="0" u="none" strike="noStrike" cap="none">
                <a:solidFill>
                  <a:srgbClr val="2E86C1"/>
                </a:solidFill>
                <a:latin typeface="Calibri"/>
                <a:ea typeface="Calibri"/>
                <a:cs typeface="Calibri"/>
                <a:sym typeface="Calibri"/>
              </a:rPr>
              <a:t>train set</a:t>
            </a:r>
            <a:endParaRPr sz="800" b="0" i="0" u="none" strike="noStrike" cap="none">
              <a:solidFill>
                <a:schemeClr val="dk1"/>
              </a:solidFill>
              <a:latin typeface="Calibri"/>
              <a:ea typeface="Calibri"/>
              <a:cs typeface="Calibri"/>
              <a:sym typeface="Calibri"/>
            </a:endParaRPr>
          </a:p>
        </p:txBody>
      </p:sp>
      <p:sp>
        <p:nvSpPr>
          <p:cNvPr id="136" name="Google Shape;136;g3f62c33a15b_2_0"/>
          <p:cNvSpPr/>
          <p:nvPr/>
        </p:nvSpPr>
        <p:spPr>
          <a:xfrm>
            <a:off x="1306449" y="4272534"/>
            <a:ext cx="967200" cy="219300"/>
          </a:xfrm>
          <a:prstGeom prst="roundRect">
            <a:avLst>
              <a:gd name="adj" fmla="val 50000"/>
            </a:avLst>
          </a:prstGeom>
          <a:solidFill>
            <a:srgbClr val="D9E9F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g3f62c33a15b_2_0"/>
          <p:cNvSpPr/>
          <p:nvPr/>
        </p:nvSpPr>
        <p:spPr>
          <a:xfrm>
            <a:off x="1306449" y="4272534"/>
            <a:ext cx="967200" cy="219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E86C1"/>
              </a:buClr>
              <a:buSzPts val="800"/>
              <a:buFont typeface="Calibri"/>
              <a:buNone/>
            </a:pPr>
            <a:r>
              <a:rPr lang="en" sz="800" b="1" i="0" u="none" strike="noStrike" cap="none">
                <a:solidFill>
                  <a:srgbClr val="2E86C1"/>
                </a:solidFill>
                <a:latin typeface="Calibri"/>
                <a:ea typeface="Calibri"/>
                <a:cs typeface="Calibri"/>
                <a:sym typeface="Calibri"/>
              </a:rPr>
              <a:t>val / test set</a:t>
            </a:r>
            <a:endParaRPr sz="800" b="0" i="0" u="none" strike="noStrike" cap="none">
              <a:solidFill>
                <a:schemeClr val="dk1"/>
              </a:solidFill>
              <a:latin typeface="Calibri"/>
              <a:ea typeface="Calibri"/>
              <a:cs typeface="Calibri"/>
              <a:sym typeface="Calibri"/>
            </a:endParaRPr>
          </a:p>
        </p:txBody>
      </p:sp>
      <p:sp>
        <p:nvSpPr>
          <p:cNvPr id="138" name="Google Shape;138;g3f62c33a15b_2_0"/>
          <p:cNvSpPr/>
          <p:nvPr/>
        </p:nvSpPr>
        <p:spPr>
          <a:xfrm>
            <a:off x="534924" y="4574286"/>
            <a:ext cx="2320200" cy="246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86C1"/>
              </a:buClr>
              <a:buSzPts val="900"/>
              <a:buFont typeface="Cambria"/>
              <a:buNone/>
            </a:pPr>
            <a:r>
              <a:rPr lang="en" sz="900" b="1" i="1" u="none" strike="noStrike" cap="none">
                <a:solidFill>
                  <a:srgbClr val="2E86C1"/>
                </a:solidFill>
                <a:latin typeface="Cambria"/>
                <a:ea typeface="Cambria"/>
                <a:cs typeface="Cambria"/>
                <a:sym typeface="Cambria"/>
              </a:rPr>
              <a:t>typical split ≈ 70 / 15 / 15</a:t>
            </a:r>
            <a:endParaRPr sz="900" b="0" i="0" u="none" strike="noStrike" cap="none">
              <a:solidFill>
                <a:schemeClr val="dk1"/>
              </a:solidFill>
              <a:latin typeface="Calibri"/>
              <a:ea typeface="Calibri"/>
              <a:cs typeface="Calibri"/>
              <a:sym typeface="Calibri"/>
            </a:endParaRPr>
          </a:p>
        </p:txBody>
      </p:sp>
      <p:sp>
        <p:nvSpPr>
          <p:cNvPr id="139" name="Google Shape;139;g3f62c33a15b_2_0"/>
          <p:cNvSpPr/>
          <p:nvPr/>
        </p:nvSpPr>
        <p:spPr>
          <a:xfrm>
            <a:off x="3218688" y="3062097"/>
            <a:ext cx="2704200" cy="1841400"/>
          </a:xfrm>
          <a:prstGeom prst="roundRect">
            <a:avLst>
              <a:gd name="adj" fmla="val 2607"/>
            </a:avLst>
          </a:prstGeom>
          <a:solidFill>
            <a:srgbClr val="FFFFFF"/>
          </a:solidFill>
          <a:ln w="9525" cap="flat" cmpd="sng">
            <a:solidFill>
              <a:srgbClr val="E3E6EA"/>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g3f62c33a15b_2_0"/>
          <p:cNvSpPr/>
          <p:nvPr/>
        </p:nvSpPr>
        <p:spPr>
          <a:xfrm>
            <a:off x="3218688" y="3062097"/>
            <a:ext cx="2704200" cy="61800"/>
          </a:xfrm>
          <a:prstGeom prst="roundRect">
            <a:avLst>
              <a:gd name="adj" fmla="val 77778"/>
            </a:avLst>
          </a:prstGeom>
          <a:solidFill>
            <a:srgbClr val="D68910"/>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g3f62c33a15b_2_0"/>
          <p:cNvSpPr/>
          <p:nvPr/>
        </p:nvSpPr>
        <p:spPr>
          <a:xfrm>
            <a:off x="3218688" y="3092958"/>
            <a:ext cx="2704200" cy="34200"/>
          </a:xfrm>
          <a:prstGeom prst="rect">
            <a:avLst/>
          </a:prstGeom>
          <a:solidFill>
            <a:srgbClr val="D68910"/>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g3f62c33a15b_2_0"/>
          <p:cNvSpPr/>
          <p:nvPr/>
        </p:nvSpPr>
        <p:spPr>
          <a:xfrm>
            <a:off x="3410712" y="3212973"/>
            <a:ext cx="2320200" cy="28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68910"/>
              </a:buClr>
              <a:buSzPts val="800"/>
              <a:buFont typeface="Calibri"/>
              <a:buNone/>
            </a:pPr>
            <a:r>
              <a:rPr lang="en" sz="800" b="1" i="0" u="none" strike="noStrike" cap="none">
                <a:solidFill>
                  <a:srgbClr val="D68910"/>
                </a:solidFill>
                <a:latin typeface="Calibri"/>
                <a:ea typeface="Calibri"/>
                <a:cs typeface="Calibri"/>
                <a:sym typeface="Calibri"/>
              </a:rPr>
              <a:t>05  </a:t>
            </a:r>
            <a:r>
              <a:rPr lang="en" sz="1200" b="1" i="0" u="none" strike="noStrike" cap="none">
                <a:solidFill>
                  <a:srgbClr val="2B2F33"/>
                </a:solidFill>
                <a:latin typeface="Calibri"/>
                <a:ea typeface="Calibri"/>
                <a:cs typeface="Calibri"/>
                <a:sym typeface="Calibri"/>
              </a:rPr>
              <a:t>Overfitting / Underfitting</a:t>
            </a:r>
            <a:endParaRPr sz="800" b="0" i="0" u="none" strike="noStrike" cap="none">
              <a:solidFill>
                <a:schemeClr val="dk1"/>
              </a:solidFill>
              <a:latin typeface="Calibri"/>
              <a:ea typeface="Calibri"/>
              <a:cs typeface="Calibri"/>
              <a:sym typeface="Calibri"/>
            </a:endParaRPr>
          </a:p>
        </p:txBody>
      </p:sp>
      <p:cxnSp>
        <p:nvCxnSpPr>
          <p:cNvPr id="143" name="Google Shape;143;g3f62c33a15b_2_0"/>
          <p:cNvCxnSpPr/>
          <p:nvPr/>
        </p:nvCxnSpPr>
        <p:spPr>
          <a:xfrm>
            <a:off x="3410712" y="3528441"/>
            <a:ext cx="2320200" cy="0"/>
          </a:xfrm>
          <a:prstGeom prst="straightConnector1">
            <a:avLst/>
          </a:prstGeom>
          <a:noFill/>
          <a:ln w="9525" cap="flat" cmpd="sng">
            <a:solidFill>
              <a:srgbClr val="E0E0E0"/>
            </a:solidFill>
            <a:prstDash val="solid"/>
            <a:round/>
            <a:headEnd type="none" w="sm" len="sm"/>
            <a:tailEnd type="none" w="sm" len="sm"/>
          </a:ln>
        </p:spPr>
      </p:cxnSp>
      <p:sp>
        <p:nvSpPr>
          <p:cNvPr id="144" name="Google Shape;144;g3f62c33a15b_2_0"/>
          <p:cNvSpPr/>
          <p:nvPr/>
        </p:nvSpPr>
        <p:spPr>
          <a:xfrm>
            <a:off x="3410712" y="3610737"/>
            <a:ext cx="2320200" cy="5829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3A3F44"/>
              </a:buClr>
              <a:buSzPts val="900"/>
              <a:buFont typeface="Calibri"/>
              <a:buNone/>
            </a:pPr>
            <a:r>
              <a:rPr lang="en" sz="900" b="0" i="0" u="none" strike="noStrike" cap="none">
                <a:solidFill>
                  <a:srgbClr val="3A3F44"/>
                </a:solidFill>
                <a:latin typeface="Calibri"/>
                <a:ea typeface="Calibri"/>
                <a:cs typeface="Calibri"/>
                <a:sym typeface="Calibri"/>
              </a:rPr>
              <a:t>Overfitting memorises training data; underfitting fails to capture the pattern at all.</a:t>
            </a:r>
            <a:endParaRPr sz="900" b="0" i="0" u="none" strike="noStrike" cap="none">
              <a:solidFill>
                <a:schemeClr val="dk1"/>
              </a:solidFill>
              <a:latin typeface="Calibri"/>
              <a:ea typeface="Calibri"/>
              <a:cs typeface="Calibri"/>
              <a:sym typeface="Calibri"/>
            </a:endParaRPr>
          </a:p>
        </p:txBody>
      </p:sp>
      <p:sp>
        <p:nvSpPr>
          <p:cNvPr id="145" name="Google Shape;145;g3f62c33a15b_2_0"/>
          <p:cNvSpPr/>
          <p:nvPr/>
        </p:nvSpPr>
        <p:spPr>
          <a:xfrm>
            <a:off x="3410712" y="4272534"/>
            <a:ext cx="908700" cy="219300"/>
          </a:xfrm>
          <a:prstGeom prst="roundRect">
            <a:avLst>
              <a:gd name="adj" fmla="val 50000"/>
            </a:avLst>
          </a:prstGeom>
          <a:solidFill>
            <a:srgbClr val="F8EAD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g3f62c33a15b_2_0"/>
          <p:cNvSpPr/>
          <p:nvPr/>
        </p:nvSpPr>
        <p:spPr>
          <a:xfrm>
            <a:off x="3410712" y="4272534"/>
            <a:ext cx="908700" cy="219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D68910"/>
              </a:buClr>
              <a:buSzPts val="800"/>
              <a:buFont typeface="Calibri"/>
              <a:buNone/>
            </a:pPr>
            <a:r>
              <a:rPr lang="en" sz="800" b="1" i="0" u="none" strike="noStrike" cap="none">
                <a:solidFill>
                  <a:srgbClr val="D68910"/>
                </a:solidFill>
                <a:latin typeface="Calibri"/>
                <a:ea typeface="Calibri"/>
                <a:cs typeface="Calibri"/>
                <a:sym typeface="Calibri"/>
              </a:rPr>
              <a:t>high variance</a:t>
            </a:r>
            <a:endParaRPr sz="800" b="0" i="0" u="none" strike="noStrike" cap="none">
              <a:solidFill>
                <a:schemeClr val="dk1"/>
              </a:solidFill>
              <a:latin typeface="Calibri"/>
              <a:ea typeface="Calibri"/>
              <a:cs typeface="Calibri"/>
              <a:sym typeface="Calibri"/>
            </a:endParaRPr>
          </a:p>
        </p:txBody>
      </p:sp>
      <p:sp>
        <p:nvSpPr>
          <p:cNvPr id="147" name="Google Shape;147;g3f62c33a15b_2_0"/>
          <p:cNvSpPr/>
          <p:nvPr/>
        </p:nvSpPr>
        <p:spPr>
          <a:xfrm>
            <a:off x="4415409" y="4272534"/>
            <a:ext cx="675600" cy="219300"/>
          </a:xfrm>
          <a:prstGeom prst="roundRect">
            <a:avLst>
              <a:gd name="adj" fmla="val 50000"/>
            </a:avLst>
          </a:prstGeom>
          <a:solidFill>
            <a:srgbClr val="F8EAD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g3f62c33a15b_2_0"/>
          <p:cNvSpPr/>
          <p:nvPr/>
        </p:nvSpPr>
        <p:spPr>
          <a:xfrm>
            <a:off x="4415409" y="4272534"/>
            <a:ext cx="675600" cy="219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D68910"/>
              </a:buClr>
              <a:buSzPts val="800"/>
              <a:buFont typeface="Calibri"/>
              <a:buNone/>
            </a:pPr>
            <a:r>
              <a:rPr lang="en" sz="800" b="1" i="0" u="none" strike="noStrike" cap="none">
                <a:solidFill>
                  <a:srgbClr val="D68910"/>
                </a:solidFill>
                <a:latin typeface="Calibri"/>
                <a:ea typeface="Calibri"/>
                <a:cs typeface="Calibri"/>
                <a:sym typeface="Calibri"/>
              </a:rPr>
              <a:t>high bias</a:t>
            </a:r>
            <a:endParaRPr sz="800" b="0" i="0" u="none" strike="noStrike" cap="none">
              <a:solidFill>
                <a:schemeClr val="dk1"/>
              </a:solidFill>
              <a:latin typeface="Calibri"/>
              <a:ea typeface="Calibri"/>
              <a:cs typeface="Calibri"/>
              <a:sym typeface="Calibri"/>
            </a:endParaRPr>
          </a:p>
        </p:txBody>
      </p:sp>
      <p:sp>
        <p:nvSpPr>
          <p:cNvPr id="149" name="Google Shape;149;g3f62c33a15b_2_0"/>
          <p:cNvSpPr/>
          <p:nvPr/>
        </p:nvSpPr>
        <p:spPr>
          <a:xfrm>
            <a:off x="3410712" y="4574286"/>
            <a:ext cx="2320200" cy="246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68910"/>
              </a:buClr>
              <a:buSzPts val="900"/>
              <a:buFont typeface="Cambria"/>
              <a:buNone/>
            </a:pPr>
            <a:r>
              <a:rPr lang="en" sz="900" b="1" i="1" u="none" strike="noStrike" cap="none">
                <a:solidFill>
                  <a:srgbClr val="D68910"/>
                </a:solidFill>
                <a:latin typeface="Cambria"/>
                <a:ea typeface="Cambria"/>
                <a:cs typeface="Cambria"/>
                <a:sym typeface="Cambria"/>
              </a:rPr>
              <a:t>watch the train–validation loss gap</a:t>
            </a:r>
            <a:endParaRPr sz="900" b="0" i="0" u="none" strike="noStrike" cap="none">
              <a:solidFill>
                <a:schemeClr val="dk1"/>
              </a:solidFill>
              <a:latin typeface="Calibri"/>
              <a:ea typeface="Calibri"/>
              <a:cs typeface="Calibri"/>
              <a:sym typeface="Calibri"/>
            </a:endParaRPr>
          </a:p>
        </p:txBody>
      </p:sp>
      <p:sp>
        <p:nvSpPr>
          <p:cNvPr id="150" name="Google Shape;150;g3f62c33a15b_2_0"/>
          <p:cNvSpPr/>
          <p:nvPr/>
        </p:nvSpPr>
        <p:spPr>
          <a:xfrm>
            <a:off x="6094476" y="3062097"/>
            <a:ext cx="2704200" cy="1841400"/>
          </a:xfrm>
          <a:prstGeom prst="roundRect">
            <a:avLst>
              <a:gd name="adj" fmla="val 2607"/>
            </a:avLst>
          </a:prstGeom>
          <a:solidFill>
            <a:srgbClr val="FFFFFF"/>
          </a:solidFill>
          <a:ln w="9525" cap="flat" cmpd="sng">
            <a:solidFill>
              <a:srgbClr val="E3E6EA"/>
            </a:solidFill>
            <a:prstDash val="solid"/>
            <a:round/>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g3f62c33a15b_2_0"/>
          <p:cNvSpPr/>
          <p:nvPr/>
        </p:nvSpPr>
        <p:spPr>
          <a:xfrm>
            <a:off x="6094476" y="3062097"/>
            <a:ext cx="2704200" cy="61800"/>
          </a:xfrm>
          <a:prstGeom prst="roundRect">
            <a:avLst>
              <a:gd name="adj" fmla="val 77778"/>
            </a:avLst>
          </a:prstGeom>
          <a:solidFill>
            <a:srgbClr val="17A398"/>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g3f62c33a15b_2_0"/>
          <p:cNvSpPr/>
          <p:nvPr/>
        </p:nvSpPr>
        <p:spPr>
          <a:xfrm>
            <a:off x="6094476" y="3092958"/>
            <a:ext cx="2704200" cy="34200"/>
          </a:xfrm>
          <a:prstGeom prst="rect">
            <a:avLst/>
          </a:prstGeom>
          <a:solidFill>
            <a:srgbClr val="17A398"/>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g3f62c33a15b_2_0"/>
          <p:cNvSpPr/>
          <p:nvPr/>
        </p:nvSpPr>
        <p:spPr>
          <a:xfrm>
            <a:off x="6286500" y="3212973"/>
            <a:ext cx="2320200" cy="28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7A398"/>
              </a:buClr>
              <a:buSzPts val="800"/>
              <a:buFont typeface="Calibri"/>
              <a:buNone/>
            </a:pPr>
            <a:r>
              <a:rPr lang="en" sz="800" b="1" i="0" u="none" strike="noStrike" cap="none">
                <a:solidFill>
                  <a:srgbClr val="17A398"/>
                </a:solidFill>
                <a:latin typeface="Calibri"/>
                <a:ea typeface="Calibri"/>
                <a:cs typeface="Calibri"/>
                <a:sym typeface="Calibri"/>
              </a:rPr>
              <a:t>06  </a:t>
            </a:r>
            <a:r>
              <a:rPr lang="en" sz="1200" b="1" i="0" u="none" strike="noStrike" cap="none">
                <a:solidFill>
                  <a:srgbClr val="2B2F33"/>
                </a:solidFill>
                <a:latin typeface="Calibri"/>
                <a:ea typeface="Calibri"/>
                <a:cs typeface="Calibri"/>
                <a:sym typeface="Calibri"/>
              </a:rPr>
              <a:t>Regularization</a:t>
            </a:r>
            <a:endParaRPr sz="800" b="0" i="0" u="none" strike="noStrike" cap="none">
              <a:solidFill>
                <a:schemeClr val="dk1"/>
              </a:solidFill>
              <a:latin typeface="Calibri"/>
              <a:ea typeface="Calibri"/>
              <a:cs typeface="Calibri"/>
              <a:sym typeface="Calibri"/>
            </a:endParaRPr>
          </a:p>
        </p:txBody>
      </p:sp>
      <p:cxnSp>
        <p:nvCxnSpPr>
          <p:cNvPr id="154" name="Google Shape;154;g3f62c33a15b_2_0"/>
          <p:cNvCxnSpPr/>
          <p:nvPr/>
        </p:nvCxnSpPr>
        <p:spPr>
          <a:xfrm>
            <a:off x="6286500" y="3528441"/>
            <a:ext cx="2320200" cy="0"/>
          </a:xfrm>
          <a:prstGeom prst="straightConnector1">
            <a:avLst/>
          </a:prstGeom>
          <a:noFill/>
          <a:ln w="9525" cap="flat" cmpd="sng">
            <a:solidFill>
              <a:srgbClr val="E0E0E0"/>
            </a:solidFill>
            <a:prstDash val="solid"/>
            <a:round/>
            <a:headEnd type="none" w="sm" len="sm"/>
            <a:tailEnd type="none" w="sm" len="sm"/>
          </a:ln>
        </p:spPr>
      </p:cxnSp>
      <p:sp>
        <p:nvSpPr>
          <p:cNvPr id="155" name="Google Shape;155;g3f62c33a15b_2_0"/>
          <p:cNvSpPr/>
          <p:nvPr/>
        </p:nvSpPr>
        <p:spPr>
          <a:xfrm>
            <a:off x="6286500" y="3610737"/>
            <a:ext cx="2320200" cy="5829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3A3F44"/>
              </a:buClr>
              <a:buSzPts val="900"/>
              <a:buFont typeface="Calibri"/>
              <a:buNone/>
            </a:pPr>
            <a:r>
              <a:rPr lang="en" sz="900" b="0" i="0" u="none" strike="noStrike" cap="none">
                <a:solidFill>
                  <a:srgbClr val="3A3F44"/>
                </a:solidFill>
                <a:latin typeface="Calibri"/>
                <a:ea typeface="Calibri"/>
                <a:cs typeface="Calibri"/>
                <a:sym typeface="Calibri"/>
              </a:rPr>
              <a:t>Techniques that constrain the model to curb overfitting and improve generalisation.</a:t>
            </a:r>
            <a:endParaRPr sz="900" b="0" i="0" u="none" strike="noStrike" cap="none">
              <a:solidFill>
                <a:schemeClr val="dk1"/>
              </a:solidFill>
              <a:latin typeface="Calibri"/>
              <a:ea typeface="Calibri"/>
              <a:cs typeface="Calibri"/>
              <a:sym typeface="Calibri"/>
            </a:endParaRPr>
          </a:p>
        </p:txBody>
      </p:sp>
      <p:sp>
        <p:nvSpPr>
          <p:cNvPr id="156" name="Google Shape;156;g3f62c33a15b_2_0"/>
          <p:cNvSpPr/>
          <p:nvPr/>
        </p:nvSpPr>
        <p:spPr>
          <a:xfrm>
            <a:off x="6286500" y="4272534"/>
            <a:ext cx="558900" cy="219300"/>
          </a:xfrm>
          <a:prstGeom prst="roundRect">
            <a:avLst>
              <a:gd name="adj" fmla="val 50000"/>
            </a:avLst>
          </a:prstGeom>
          <a:solidFill>
            <a:srgbClr val="D5EEEC"/>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g3f62c33a15b_2_0"/>
          <p:cNvSpPr/>
          <p:nvPr/>
        </p:nvSpPr>
        <p:spPr>
          <a:xfrm>
            <a:off x="6286500" y="4272534"/>
            <a:ext cx="558900" cy="219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7A398"/>
              </a:buClr>
              <a:buSzPts val="800"/>
              <a:buFont typeface="Calibri"/>
              <a:buNone/>
            </a:pPr>
            <a:r>
              <a:rPr lang="en" sz="800" b="1" i="0" u="none" strike="noStrike" cap="none">
                <a:solidFill>
                  <a:srgbClr val="17A398"/>
                </a:solidFill>
                <a:latin typeface="Calibri"/>
                <a:ea typeface="Calibri"/>
                <a:cs typeface="Calibri"/>
                <a:sym typeface="Calibri"/>
              </a:rPr>
              <a:t>L1 / L2</a:t>
            </a:r>
            <a:endParaRPr sz="800" b="0" i="0" u="none" strike="noStrike" cap="none">
              <a:solidFill>
                <a:schemeClr val="dk1"/>
              </a:solidFill>
              <a:latin typeface="Calibri"/>
              <a:ea typeface="Calibri"/>
              <a:cs typeface="Calibri"/>
              <a:sym typeface="Calibri"/>
            </a:endParaRPr>
          </a:p>
        </p:txBody>
      </p:sp>
      <p:sp>
        <p:nvSpPr>
          <p:cNvPr id="158" name="Google Shape;158;g3f62c33a15b_2_0"/>
          <p:cNvSpPr/>
          <p:nvPr/>
        </p:nvSpPr>
        <p:spPr>
          <a:xfrm>
            <a:off x="6941439" y="4272534"/>
            <a:ext cx="558900" cy="219300"/>
          </a:xfrm>
          <a:prstGeom prst="roundRect">
            <a:avLst>
              <a:gd name="adj" fmla="val 50000"/>
            </a:avLst>
          </a:prstGeom>
          <a:solidFill>
            <a:srgbClr val="D5EEEC"/>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g3f62c33a15b_2_0"/>
          <p:cNvSpPr/>
          <p:nvPr/>
        </p:nvSpPr>
        <p:spPr>
          <a:xfrm>
            <a:off x="6941439" y="4272534"/>
            <a:ext cx="558900" cy="219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7A398"/>
              </a:buClr>
              <a:buSzPts val="800"/>
              <a:buFont typeface="Calibri"/>
              <a:buNone/>
            </a:pPr>
            <a:r>
              <a:rPr lang="en" sz="800" b="1" i="0" u="none" strike="noStrike" cap="none">
                <a:solidFill>
                  <a:srgbClr val="17A398"/>
                </a:solidFill>
                <a:latin typeface="Calibri"/>
                <a:ea typeface="Calibri"/>
                <a:cs typeface="Calibri"/>
                <a:sym typeface="Calibri"/>
              </a:rPr>
              <a:t>Dropout</a:t>
            </a:r>
            <a:endParaRPr sz="800" b="0" i="0" u="none" strike="noStrike" cap="none">
              <a:solidFill>
                <a:schemeClr val="dk1"/>
              </a:solidFill>
              <a:latin typeface="Calibri"/>
              <a:ea typeface="Calibri"/>
              <a:cs typeface="Calibri"/>
              <a:sym typeface="Calibri"/>
            </a:endParaRPr>
          </a:p>
        </p:txBody>
      </p:sp>
      <p:sp>
        <p:nvSpPr>
          <p:cNvPr id="160" name="Google Shape;160;g3f62c33a15b_2_0"/>
          <p:cNvSpPr/>
          <p:nvPr/>
        </p:nvSpPr>
        <p:spPr>
          <a:xfrm>
            <a:off x="6286500" y="4574286"/>
            <a:ext cx="2320200" cy="246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7A398"/>
              </a:buClr>
              <a:buSzPts val="900"/>
              <a:buFont typeface="Cambria"/>
              <a:buNone/>
            </a:pPr>
            <a:r>
              <a:rPr lang="en" sz="900" b="1" i="1" u="none" strike="noStrike" cap="none">
                <a:solidFill>
                  <a:srgbClr val="17A398"/>
                </a:solidFill>
                <a:latin typeface="Cambria"/>
                <a:ea typeface="Cambria"/>
                <a:cs typeface="Cambria"/>
                <a:sym typeface="Cambria"/>
              </a:rPr>
              <a:t>L_reg = L + λ Σ w²</a:t>
            </a:r>
            <a:endParaRPr sz="900" b="0" i="0" u="none" strike="noStrike" cap="none">
              <a:solidFill>
                <a:schemeClr val="dk1"/>
              </a:solidFill>
              <a:latin typeface="Calibri"/>
              <a:ea typeface="Calibri"/>
              <a:cs typeface="Calibri"/>
              <a:sym typeface="Calibri"/>
            </a:endParaRPr>
          </a:p>
        </p:txBody>
      </p:sp>
      <p:sp>
        <p:nvSpPr>
          <p:cNvPr id="161" name="Google Shape;161;g3f62c33a15b_2_0"/>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5"/>
        <p:cNvGrpSpPr/>
        <p:nvPr/>
      </p:nvGrpSpPr>
      <p:grpSpPr>
        <a:xfrm>
          <a:off x="0" y="0"/>
          <a:ext cx="0" cy="0"/>
          <a:chOff x="0" y="0"/>
          <a:chExt cx="0" cy="0"/>
        </a:xfrm>
      </p:grpSpPr>
      <p:pic>
        <p:nvPicPr>
          <p:cNvPr id="166" name="Google Shape;166;g3f62c33a15b_0_0"/>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167" name="Google Shape;167;g3f62c33a15b_0_0"/>
          <p:cNvSpPr txBox="1"/>
          <p:nvPr/>
        </p:nvSpPr>
        <p:spPr>
          <a:xfrm>
            <a:off x="695100" y="166300"/>
            <a:ext cx="7435800" cy="7857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Backpropagation — How Neural Networks Learn</a:t>
            </a:r>
            <a:endParaRPr sz="2800" b="1" i="0" u="none" strike="noStrike" cap="none">
              <a:solidFill>
                <a:srgbClr val="000000"/>
              </a:solidFill>
              <a:latin typeface="Calibri"/>
              <a:ea typeface="Calibri"/>
              <a:cs typeface="Calibri"/>
              <a:sym typeface="Calibri"/>
            </a:endParaRPr>
          </a:p>
        </p:txBody>
      </p:sp>
      <p:pic>
        <p:nvPicPr>
          <p:cNvPr id="168" name="Google Shape;168;g3f62c33a15b_0_0"/>
          <p:cNvPicPr preferRelativeResize="0"/>
          <p:nvPr/>
        </p:nvPicPr>
        <p:blipFill rotWithShape="1">
          <a:blip r:embed="rId5">
            <a:alphaModFix/>
          </a:blip>
          <a:srcRect b="16660"/>
          <a:stretch/>
        </p:blipFill>
        <p:spPr>
          <a:xfrm>
            <a:off x="808142" y="1030375"/>
            <a:ext cx="7054782" cy="1778325"/>
          </a:xfrm>
          <a:prstGeom prst="rect">
            <a:avLst/>
          </a:prstGeom>
          <a:noFill/>
          <a:ln>
            <a:noFill/>
          </a:ln>
        </p:spPr>
      </p:pic>
      <p:sp>
        <p:nvSpPr>
          <p:cNvPr id="169" name="Google Shape;169;g3f62c33a15b_0_0"/>
          <p:cNvSpPr txBox="1"/>
          <p:nvPr/>
        </p:nvSpPr>
        <p:spPr>
          <a:xfrm>
            <a:off x="106925" y="4608250"/>
            <a:ext cx="66426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2"/>
                </a:solidFill>
                <a:latin typeface="Arial"/>
                <a:ea typeface="Arial"/>
                <a:cs typeface="Arial"/>
                <a:sym typeface="Arial"/>
              </a:rPr>
              <a:t>Slides taken from “CS231n: Deep Learning for Computer Vision Stanford”</a:t>
            </a:r>
            <a:endParaRPr sz="1100" b="0" i="0" u="none" strike="noStrike" cap="none">
              <a:solidFill>
                <a:schemeClr val="dk2"/>
              </a:solidFill>
              <a:latin typeface="Arial"/>
              <a:ea typeface="Arial"/>
              <a:cs typeface="Arial"/>
              <a:sym typeface="Arial"/>
            </a:endParaRPr>
          </a:p>
        </p:txBody>
      </p:sp>
      <p:sp>
        <p:nvSpPr>
          <p:cNvPr id="170" name="Google Shape;170;g3f62c33a15b_0_0"/>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4"/>
        <p:cNvGrpSpPr/>
        <p:nvPr/>
      </p:nvGrpSpPr>
      <p:grpSpPr>
        <a:xfrm>
          <a:off x="0" y="0"/>
          <a:ext cx="0" cy="0"/>
          <a:chOff x="0" y="0"/>
          <a:chExt cx="0" cy="0"/>
        </a:xfrm>
      </p:grpSpPr>
      <p:pic>
        <p:nvPicPr>
          <p:cNvPr id="175" name="Google Shape;175;g3f62c33a15b_0_7"/>
          <p:cNvPicPr preferRelativeResize="0"/>
          <p:nvPr/>
        </p:nvPicPr>
        <p:blipFill rotWithShape="1">
          <a:blip r:embed="rId4">
            <a:alphaModFix/>
          </a:blip>
          <a:srcRect/>
          <a:stretch/>
        </p:blipFill>
        <p:spPr>
          <a:xfrm>
            <a:off x="695101" y="952001"/>
            <a:ext cx="7265324" cy="3367450"/>
          </a:xfrm>
          <a:prstGeom prst="rect">
            <a:avLst/>
          </a:prstGeom>
          <a:noFill/>
          <a:ln>
            <a:noFill/>
          </a:ln>
        </p:spPr>
      </p:pic>
      <p:pic>
        <p:nvPicPr>
          <p:cNvPr id="176" name="Google Shape;176;g3f62c33a15b_0_7"/>
          <p:cNvPicPr preferRelativeResize="0"/>
          <p:nvPr/>
        </p:nvPicPr>
        <p:blipFill rotWithShape="1">
          <a:blip r:embed="rId5">
            <a:alphaModFix/>
          </a:blip>
          <a:srcRect/>
          <a:stretch/>
        </p:blipFill>
        <p:spPr>
          <a:xfrm>
            <a:off x="8369125" y="0"/>
            <a:ext cx="774877" cy="867174"/>
          </a:xfrm>
          <a:prstGeom prst="rect">
            <a:avLst/>
          </a:prstGeom>
          <a:noFill/>
          <a:ln>
            <a:noFill/>
          </a:ln>
        </p:spPr>
      </p:pic>
      <p:sp>
        <p:nvSpPr>
          <p:cNvPr id="177" name="Google Shape;177;g3f62c33a15b_0_7"/>
          <p:cNvSpPr txBox="1"/>
          <p:nvPr/>
        </p:nvSpPr>
        <p:spPr>
          <a:xfrm>
            <a:off x="695100" y="166300"/>
            <a:ext cx="7435800" cy="7857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Backpropagation — How Neural Networks Learn</a:t>
            </a:r>
            <a:endParaRPr sz="2800" b="1" i="0" u="none" strike="noStrike" cap="none">
              <a:solidFill>
                <a:srgbClr val="000000"/>
              </a:solidFill>
              <a:latin typeface="Calibri"/>
              <a:ea typeface="Calibri"/>
              <a:cs typeface="Calibri"/>
              <a:sym typeface="Calibri"/>
            </a:endParaRPr>
          </a:p>
        </p:txBody>
      </p:sp>
      <p:sp>
        <p:nvSpPr>
          <p:cNvPr id="178" name="Google Shape;178;g3f62c33a15b_0_7"/>
          <p:cNvSpPr txBox="1"/>
          <p:nvPr/>
        </p:nvSpPr>
        <p:spPr>
          <a:xfrm>
            <a:off x="106925" y="4608250"/>
            <a:ext cx="66426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2"/>
                </a:solidFill>
                <a:latin typeface="Arial"/>
                <a:ea typeface="Arial"/>
                <a:cs typeface="Arial"/>
                <a:sym typeface="Arial"/>
              </a:rPr>
              <a:t>Slides taken from “CS231n: Deep Learning for Computer Vision Stanford”</a:t>
            </a:r>
            <a:endParaRPr sz="1100" b="0" i="0" u="none" strike="noStrike" cap="none">
              <a:solidFill>
                <a:schemeClr val="dk2"/>
              </a:solidFill>
              <a:latin typeface="Arial"/>
              <a:ea typeface="Arial"/>
              <a:cs typeface="Arial"/>
              <a:sym typeface="Arial"/>
            </a:endParaRPr>
          </a:p>
        </p:txBody>
      </p:sp>
      <p:sp>
        <p:nvSpPr>
          <p:cNvPr id="179" name="Google Shape;179;g3f62c33a15b_0_7"/>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3"/>
        <p:cNvGrpSpPr/>
        <p:nvPr/>
      </p:nvGrpSpPr>
      <p:grpSpPr>
        <a:xfrm>
          <a:off x="0" y="0"/>
          <a:ext cx="0" cy="0"/>
          <a:chOff x="0" y="0"/>
          <a:chExt cx="0" cy="0"/>
        </a:xfrm>
      </p:grpSpPr>
      <p:pic>
        <p:nvPicPr>
          <p:cNvPr id="184" name="Google Shape;184;g3f62c33a15b_0_14"/>
          <p:cNvPicPr preferRelativeResize="0"/>
          <p:nvPr/>
        </p:nvPicPr>
        <p:blipFill rotWithShape="1">
          <a:blip r:embed="rId4">
            <a:alphaModFix/>
          </a:blip>
          <a:srcRect/>
          <a:stretch/>
        </p:blipFill>
        <p:spPr>
          <a:xfrm>
            <a:off x="695100" y="952000"/>
            <a:ext cx="7311601" cy="3427700"/>
          </a:xfrm>
          <a:prstGeom prst="rect">
            <a:avLst/>
          </a:prstGeom>
          <a:noFill/>
          <a:ln>
            <a:noFill/>
          </a:ln>
        </p:spPr>
      </p:pic>
      <p:pic>
        <p:nvPicPr>
          <p:cNvPr id="185" name="Google Shape;185;g3f62c33a15b_0_14"/>
          <p:cNvPicPr preferRelativeResize="0"/>
          <p:nvPr/>
        </p:nvPicPr>
        <p:blipFill rotWithShape="1">
          <a:blip r:embed="rId5">
            <a:alphaModFix/>
          </a:blip>
          <a:srcRect/>
          <a:stretch/>
        </p:blipFill>
        <p:spPr>
          <a:xfrm>
            <a:off x="8369125" y="0"/>
            <a:ext cx="774877" cy="867174"/>
          </a:xfrm>
          <a:prstGeom prst="rect">
            <a:avLst/>
          </a:prstGeom>
          <a:noFill/>
          <a:ln>
            <a:noFill/>
          </a:ln>
        </p:spPr>
      </p:pic>
      <p:sp>
        <p:nvSpPr>
          <p:cNvPr id="186" name="Google Shape;186;g3f62c33a15b_0_14"/>
          <p:cNvSpPr txBox="1"/>
          <p:nvPr/>
        </p:nvSpPr>
        <p:spPr>
          <a:xfrm>
            <a:off x="695100" y="166300"/>
            <a:ext cx="7435800" cy="7857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Backpropagation — How Neural Networks Learn</a:t>
            </a:r>
            <a:endParaRPr sz="2800" b="1" i="0" u="none" strike="noStrike" cap="none">
              <a:solidFill>
                <a:srgbClr val="000000"/>
              </a:solidFill>
              <a:latin typeface="Calibri"/>
              <a:ea typeface="Calibri"/>
              <a:cs typeface="Calibri"/>
              <a:sym typeface="Calibri"/>
            </a:endParaRPr>
          </a:p>
        </p:txBody>
      </p:sp>
      <p:sp>
        <p:nvSpPr>
          <p:cNvPr id="187" name="Google Shape;187;g3f62c33a15b_0_14"/>
          <p:cNvSpPr txBox="1"/>
          <p:nvPr/>
        </p:nvSpPr>
        <p:spPr>
          <a:xfrm>
            <a:off x="106925" y="4608250"/>
            <a:ext cx="66426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2"/>
                </a:solidFill>
                <a:latin typeface="Arial"/>
                <a:ea typeface="Arial"/>
                <a:cs typeface="Arial"/>
                <a:sym typeface="Arial"/>
              </a:rPr>
              <a:t>Slides taken from “CS231n: Deep Learning for Computer Vision Stanford”</a:t>
            </a:r>
            <a:endParaRPr sz="1100" b="0" i="0" u="none" strike="noStrike" cap="none">
              <a:solidFill>
                <a:schemeClr val="dk2"/>
              </a:solidFill>
              <a:latin typeface="Arial"/>
              <a:ea typeface="Arial"/>
              <a:cs typeface="Arial"/>
              <a:sym typeface="Arial"/>
            </a:endParaRPr>
          </a:p>
        </p:txBody>
      </p:sp>
      <p:sp>
        <p:nvSpPr>
          <p:cNvPr id="188" name="Google Shape;188;g3f62c33a15b_0_14"/>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2"/>
        <p:cNvGrpSpPr/>
        <p:nvPr/>
      </p:nvGrpSpPr>
      <p:grpSpPr>
        <a:xfrm>
          <a:off x="0" y="0"/>
          <a:ext cx="0" cy="0"/>
          <a:chOff x="0" y="0"/>
          <a:chExt cx="0" cy="0"/>
        </a:xfrm>
      </p:grpSpPr>
      <p:pic>
        <p:nvPicPr>
          <p:cNvPr id="193" name="Google Shape;193;g3f62c33a15b_0_21"/>
          <p:cNvPicPr preferRelativeResize="0"/>
          <p:nvPr/>
        </p:nvPicPr>
        <p:blipFill rotWithShape="1">
          <a:blip r:embed="rId4">
            <a:alphaModFix/>
          </a:blip>
          <a:srcRect/>
          <a:stretch/>
        </p:blipFill>
        <p:spPr>
          <a:xfrm>
            <a:off x="695100" y="867175"/>
            <a:ext cx="7435799" cy="3504012"/>
          </a:xfrm>
          <a:prstGeom prst="rect">
            <a:avLst/>
          </a:prstGeom>
          <a:noFill/>
          <a:ln>
            <a:noFill/>
          </a:ln>
        </p:spPr>
      </p:pic>
      <p:pic>
        <p:nvPicPr>
          <p:cNvPr id="194" name="Google Shape;194;g3f62c33a15b_0_21"/>
          <p:cNvPicPr preferRelativeResize="0"/>
          <p:nvPr/>
        </p:nvPicPr>
        <p:blipFill rotWithShape="1">
          <a:blip r:embed="rId5">
            <a:alphaModFix/>
          </a:blip>
          <a:srcRect/>
          <a:stretch/>
        </p:blipFill>
        <p:spPr>
          <a:xfrm>
            <a:off x="8369125" y="0"/>
            <a:ext cx="774877" cy="867174"/>
          </a:xfrm>
          <a:prstGeom prst="rect">
            <a:avLst/>
          </a:prstGeom>
          <a:noFill/>
          <a:ln>
            <a:noFill/>
          </a:ln>
        </p:spPr>
      </p:pic>
      <p:sp>
        <p:nvSpPr>
          <p:cNvPr id="195" name="Google Shape;195;g3f62c33a15b_0_21"/>
          <p:cNvSpPr txBox="1"/>
          <p:nvPr/>
        </p:nvSpPr>
        <p:spPr>
          <a:xfrm>
            <a:off x="695100" y="166300"/>
            <a:ext cx="7435800" cy="7857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Backpropagation — How Neural Networks Learn</a:t>
            </a:r>
            <a:endParaRPr sz="2800" b="1" i="0" u="none" strike="noStrike" cap="none">
              <a:solidFill>
                <a:srgbClr val="000000"/>
              </a:solidFill>
              <a:latin typeface="Calibri"/>
              <a:ea typeface="Calibri"/>
              <a:cs typeface="Calibri"/>
              <a:sym typeface="Calibri"/>
            </a:endParaRPr>
          </a:p>
        </p:txBody>
      </p:sp>
      <p:sp>
        <p:nvSpPr>
          <p:cNvPr id="196" name="Google Shape;196;g3f62c33a15b_0_21"/>
          <p:cNvSpPr txBox="1"/>
          <p:nvPr/>
        </p:nvSpPr>
        <p:spPr>
          <a:xfrm>
            <a:off x="106925" y="4608250"/>
            <a:ext cx="66426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2"/>
                </a:solidFill>
                <a:latin typeface="Arial"/>
                <a:ea typeface="Arial"/>
                <a:cs typeface="Arial"/>
                <a:sym typeface="Arial"/>
              </a:rPr>
              <a:t>Slides taken from “CS231n: Deep Learning for Computer Vision Stanford”</a:t>
            </a:r>
            <a:endParaRPr sz="1100" b="0" i="0" u="none" strike="noStrike" cap="none">
              <a:solidFill>
                <a:schemeClr val="dk2"/>
              </a:solidFill>
              <a:latin typeface="Arial"/>
              <a:ea typeface="Arial"/>
              <a:cs typeface="Arial"/>
              <a:sym typeface="Arial"/>
            </a:endParaRPr>
          </a:p>
        </p:txBody>
      </p:sp>
      <p:sp>
        <p:nvSpPr>
          <p:cNvPr id="197" name="Google Shape;197;g3f62c33a15b_0_21"/>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1"/>
        <p:cNvGrpSpPr/>
        <p:nvPr/>
      </p:nvGrpSpPr>
      <p:grpSpPr>
        <a:xfrm>
          <a:off x="0" y="0"/>
          <a:ext cx="0" cy="0"/>
          <a:chOff x="0" y="0"/>
          <a:chExt cx="0" cy="0"/>
        </a:xfrm>
      </p:grpSpPr>
      <p:pic>
        <p:nvPicPr>
          <p:cNvPr id="202" name="Google Shape;202;g3f62c33a15b_0_28"/>
          <p:cNvPicPr preferRelativeResize="0"/>
          <p:nvPr/>
        </p:nvPicPr>
        <p:blipFill rotWithShape="1">
          <a:blip r:embed="rId4">
            <a:alphaModFix/>
          </a:blip>
          <a:srcRect/>
          <a:stretch/>
        </p:blipFill>
        <p:spPr>
          <a:xfrm>
            <a:off x="695100" y="778850"/>
            <a:ext cx="7435800" cy="3532174"/>
          </a:xfrm>
          <a:prstGeom prst="rect">
            <a:avLst/>
          </a:prstGeom>
          <a:noFill/>
          <a:ln>
            <a:noFill/>
          </a:ln>
        </p:spPr>
      </p:pic>
      <p:pic>
        <p:nvPicPr>
          <p:cNvPr id="203" name="Google Shape;203;g3f62c33a15b_0_28"/>
          <p:cNvPicPr preferRelativeResize="0"/>
          <p:nvPr/>
        </p:nvPicPr>
        <p:blipFill rotWithShape="1">
          <a:blip r:embed="rId5">
            <a:alphaModFix/>
          </a:blip>
          <a:srcRect/>
          <a:stretch/>
        </p:blipFill>
        <p:spPr>
          <a:xfrm>
            <a:off x="8369125" y="0"/>
            <a:ext cx="774877" cy="867174"/>
          </a:xfrm>
          <a:prstGeom prst="rect">
            <a:avLst/>
          </a:prstGeom>
          <a:noFill/>
          <a:ln>
            <a:noFill/>
          </a:ln>
        </p:spPr>
      </p:pic>
      <p:sp>
        <p:nvSpPr>
          <p:cNvPr id="204" name="Google Shape;204;g3f62c33a15b_0_28"/>
          <p:cNvSpPr txBox="1"/>
          <p:nvPr/>
        </p:nvSpPr>
        <p:spPr>
          <a:xfrm>
            <a:off x="695100" y="166300"/>
            <a:ext cx="7435800" cy="7857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Backpropagation — How Neural Networks Learn</a:t>
            </a:r>
            <a:endParaRPr sz="2800" b="1" i="0" u="none" strike="noStrike" cap="none">
              <a:solidFill>
                <a:srgbClr val="000000"/>
              </a:solidFill>
              <a:latin typeface="Calibri"/>
              <a:ea typeface="Calibri"/>
              <a:cs typeface="Calibri"/>
              <a:sym typeface="Calibri"/>
            </a:endParaRPr>
          </a:p>
        </p:txBody>
      </p:sp>
      <p:sp>
        <p:nvSpPr>
          <p:cNvPr id="205" name="Google Shape;205;g3f62c33a15b_0_28"/>
          <p:cNvSpPr txBox="1"/>
          <p:nvPr/>
        </p:nvSpPr>
        <p:spPr>
          <a:xfrm>
            <a:off x="106925" y="4608250"/>
            <a:ext cx="66426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2"/>
                </a:solidFill>
                <a:latin typeface="Arial"/>
                <a:ea typeface="Arial"/>
                <a:cs typeface="Arial"/>
                <a:sym typeface="Arial"/>
              </a:rPr>
              <a:t>Slides taken from “CS231n: Deep Learning for Computer Vision Stanford”</a:t>
            </a:r>
            <a:endParaRPr sz="1100" b="0" i="0" u="none" strike="noStrike" cap="none">
              <a:solidFill>
                <a:schemeClr val="dk2"/>
              </a:solidFill>
              <a:latin typeface="Arial"/>
              <a:ea typeface="Arial"/>
              <a:cs typeface="Arial"/>
              <a:sym typeface="Arial"/>
            </a:endParaRPr>
          </a:p>
        </p:txBody>
      </p:sp>
      <p:sp>
        <p:nvSpPr>
          <p:cNvPr id="206" name="Google Shape;206;g3f62c33a15b_0_28"/>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0"/>
        <p:cNvGrpSpPr/>
        <p:nvPr/>
      </p:nvGrpSpPr>
      <p:grpSpPr>
        <a:xfrm>
          <a:off x="0" y="0"/>
          <a:ext cx="0" cy="0"/>
          <a:chOff x="0" y="0"/>
          <a:chExt cx="0" cy="0"/>
        </a:xfrm>
      </p:grpSpPr>
      <p:pic>
        <p:nvPicPr>
          <p:cNvPr id="211" name="Google Shape;211;g3f62c33a15b_0_35"/>
          <p:cNvPicPr preferRelativeResize="0"/>
          <p:nvPr/>
        </p:nvPicPr>
        <p:blipFill rotWithShape="1">
          <a:blip r:embed="rId4">
            <a:alphaModFix/>
          </a:blip>
          <a:srcRect/>
          <a:stretch/>
        </p:blipFill>
        <p:spPr>
          <a:xfrm>
            <a:off x="695100" y="885034"/>
            <a:ext cx="7435800" cy="3575760"/>
          </a:xfrm>
          <a:prstGeom prst="rect">
            <a:avLst/>
          </a:prstGeom>
          <a:noFill/>
          <a:ln>
            <a:noFill/>
          </a:ln>
        </p:spPr>
      </p:pic>
      <p:pic>
        <p:nvPicPr>
          <p:cNvPr id="212" name="Google Shape;212;g3f62c33a15b_0_35"/>
          <p:cNvPicPr preferRelativeResize="0"/>
          <p:nvPr/>
        </p:nvPicPr>
        <p:blipFill rotWithShape="1">
          <a:blip r:embed="rId5">
            <a:alphaModFix/>
          </a:blip>
          <a:srcRect/>
          <a:stretch/>
        </p:blipFill>
        <p:spPr>
          <a:xfrm>
            <a:off x="8369125" y="0"/>
            <a:ext cx="774877" cy="867174"/>
          </a:xfrm>
          <a:prstGeom prst="rect">
            <a:avLst/>
          </a:prstGeom>
          <a:noFill/>
          <a:ln>
            <a:noFill/>
          </a:ln>
        </p:spPr>
      </p:pic>
      <p:sp>
        <p:nvSpPr>
          <p:cNvPr id="213" name="Google Shape;213;g3f62c33a15b_0_35"/>
          <p:cNvSpPr txBox="1"/>
          <p:nvPr/>
        </p:nvSpPr>
        <p:spPr>
          <a:xfrm>
            <a:off x="695100" y="166300"/>
            <a:ext cx="7435800" cy="7857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Backpropagation — How Neural Networks Learn</a:t>
            </a:r>
            <a:endParaRPr sz="2800" b="1" i="0" u="none" strike="noStrike" cap="none">
              <a:solidFill>
                <a:srgbClr val="000000"/>
              </a:solidFill>
              <a:latin typeface="Calibri"/>
              <a:ea typeface="Calibri"/>
              <a:cs typeface="Calibri"/>
              <a:sym typeface="Calibri"/>
            </a:endParaRPr>
          </a:p>
        </p:txBody>
      </p:sp>
      <p:sp>
        <p:nvSpPr>
          <p:cNvPr id="214" name="Google Shape;214;g3f62c33a15b_0_35"/>
          <p:cNvSpPr txBox="1"/>
          <p:nvPr/>
        </p:nvSpPr>
        <p:spPr>
          <a:xfrm>
            <a:off x="106925" y="4608250"/>
            <a:ext cx="66426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2"/>
                </a:solidFill>
                <a:latin typeface="Arial"/>
                <a:ea typeface="Arial"/>
                <a:cs typeface="Arial"/>
                <a:sym typeface="Arial"/>
              </a:rPr>
              <a:t>Slides taken from “CS231n: Deep Learning for Computer Vision Stanford”</a:t>
            </a:r>
            <a:endParaRPr sz="1100" b="0" i="0" u="none" strike="noStrike" cap="none">
              <a:solidFill>
                <a:schemeClr val="dk2"/>
              </a:solidFill>
              <a:latin typeface="Arial"/>
              <a:ea typeface="Arial"/>
              <a:cs typeface="Arial"/>
              <a:sym typeface="Arial"/>
            </a:endParaRPr>
          </a:p>
        </p:txBody>
      </p:sp>
      <p:sp>
        <p:nvSpPr>
          <p:cNvPr id="215" name="Google Shape;215;g3f62c33a15b_0_35"/>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9"/>
        <p:cNvGrpSpPr/>
        <p:nvPr/>
      </p:nvGrpSpPr>
      <p:grpSpPr>
        <a:xfrm>
          <a:off x="0" y="0"/>
          <a:ext cx="0" cy="0"/>
          <a:chOff x="0" y="0"/>
          <a:chExt cx="0" cy="0"/>
        </a:xfrm>
      </p:grpSpPr>
      <p:pic>
        <p:nvPicPr>
          <p:cNvPr id="220" name="Google Shape;220;g3f62c33a15b_0_42"/>
          <p:cNvPicPr preferRelativeResize="0"/>
          <p:nvPr/>
        </p:nvPicPr>
        <p:blipFill rotWithShape="1">
          <a:blip r:embed="rId4">
            <a:alphaModFix/>
          </a:blip>
          <a:srcRect/>
          <a:stretch/>
        </p:blipFill>
        <p:spPr>
          <a:xfrm>
            <a:off x="695100" y="952000"/>
            <a:ext cx="7520726" cy="3505850"/>
          </a:xfrm>
          <a:prstGeom prst="rect">
            <a:avLst/>
          </a:prstGeom>
          <a:noFill/>
          <a:ln>
            <a:noFill/>
          </a:ln>
        </p:spPr>
      </p:pic>
      <p:pic>
        <p:nvPicPr>
          <p:cNvPr id="221" name="Google Shape;221;g3f62c33a15b_0_42"/>
          <p:cNvPicPr preferRelativeResize="0"/>
          <p:nvPr/>
        </p:nvPicPr>
        <p:blipFill rotWithShape="1">
          <a:blip r:embed="rId5">
            <a:alphaModFix/>
          </a:blip>
          <a:srcRect/>
          <a:stretch/>
        </p:blipFill>
        <p:spPr>
          <a:xfrm>
            <a:off x="8369125" y="0"/>
            <a:ext cx="774877" cy="867174"/>
          </a:xfrm>
          <a:prstGeom prst="rect">
            <a:avLst/>
          </a:prstGeom>
          <a:noFill/>
          <a:ln>
            <a:noFill/>
          </a:ln>
        </p:spPr>
      </p:pic>
      <p:sp>
        <p:nvSpPr>
          <p:cNvPr id="222" name="Google Shape;222;g3f62c33a15b_0_42"/>
          <p:cNvSpPr txBox="1"/>
          <p:nvPr/>
        </p:nvSpPr>
        <p:spPr>
          <a:xfrm>
            <a:off x="695100" y="166300"/>
            <a:ext cx="7435800" cy="7857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Backpropagation — How Neural Networks Learn</a:t>
            </a:r>
            <a:endParaRPr sz="2800" b="1" i="0" u="none" strike="noStrike" cap="none">
              <a:solidFill>
                <a:srgbClr val="000000"/>
              </a:solidFill>
              <a:latin typeface="Calibri"/>
              <a:ea typeface="Calibri"/>
              <a:cs typeface="Calibri"/>
              <a:sym typeface="Calibri"/>
            </a:endParaRPr>
          </a:p>
        </p:txBody>
      </p:sp>
      <p:sp>
        <p:nvSpPr>
          <p:cNvPr id="223" name="Google Shape;223;g3f62c33a15b_0_42"/>
          <p:cNvSpPr txBox="1"/>
          <p:nvPr/>
        </p:nvSpPr>
        <p:spPr>
          <a:xfrm>
            <a:off x="106925" y="4608250"/>
            <a:ext cx="66426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2"/>
                </a:solidFill>
                <a:latin typeface="Arial"/>
                <a:ea typeface="Arial"/>
                <a:cs typeface="Arial"/>
                <a:sym typeface="Arial"/>
              </a:rPr>
              <a:t>Slides taken from “CS231n: Deep Learning for Computer Vision Stanford”</a:t>
            </a:r>
            <a:endParaRPr sz="1100" b="0" i="0" u="none" strike="noStrike" cap="none">
              <a:solidFill>
                <a:schemeClr val="dk2"/>
              </a:solidFill>
              <a:latin typeface="Arial"/>
              <a:ea typeface="Arial"/>
              <a:cs typeface="Arial"/>
              <a:sym typeface="Arial"/>
            </a:endParaRPr>
          </a:p>
        </p:txBody>
      </p:sp>
      <p:sp>
        <p:nvSpPr>
          <p:cNvPr id="224" name="Google Shape;224;g3f62c33a15b_0_42"/>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8"/>
        <p:cNvGrpSpPr/>
        <p:nvPr/>
      </p:nvGrpSpPr>
      <p:grpSpPr>
        <a:xfrm>
          <a:off x="0" y="0"/>
          <a:ext cx="0" cy="0"/>
          <a:chOff x="0" y="0"/>
          <a:chExt cx="0" cy="0"/>
        </a:xfrm>
      </p:grpSpPr>
      <p:pic>
        <p:nvPicPr>
          <p:cNvPr id="229" name="Google Shape;229;g3f62c33a15b_0_49"/>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230" name="Google Shape;230;g3f62c33a15b_0_49"/>
          <p:cNvSpPr txBox="1"/>
          <p:nvPr/>
        </p:nvSpPr>
        <p:spPr>
          <a:xfrm>
            <a:off x="695100" y="166300"/>
            <a:ext cx="7435800" cy="7857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Backpropagation — How Neural Networks Learn</a:t>
            </a:r>
            <a:endParaRPr sz="2800" b="1" i="0" u="none" strike="noStrike" cap="none">
              <a:solidFill>
                <a:srgbClr val="000000"/>
              </a:solidFill>
              <a:latin typeface="Calibri"/>
              <a:ea typeface="Calibri"/>
              <a:cs typeface="Calibri"/>
              <a:sym typeface="Calibri"/>
            </a:endParaRPr>
          </a:p>
        </p:txBody>
      </p:sp>
      <p:sp>
        <p:nvSpPr>
          <p:cNvPr id="231" name="Google Shape;231;g3f62c33a15b_0_49"/>
          <p:cNvSpPr txBox="1"/>
          <p:nvPr/>
        </p:nvSpPr>
        <p:spPr>
          <a:xfrm>
            <a:off x="106925" y="4608250"/>
            <a:ext cx="66426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2"/>
                </a:solidFill>
                <a:latin typeface="Arial"/>
                <a:ea typeface="Arial"/>
                <a:cs typeface="Arial"/>
                <a:sym typeface="Arial"/>
              </a:rPr>
              <a:t>Slides taken from “CS231n: Deep Learning for Computer Vision Stanford”</a:t>
            </a:r>
            <a:endParaRPr sz="1100" b="0" i="0" u="none" strike="noStrike" cap="none">
              <a:solidFill>
                <a:schemeClr val="dk2"/>
              </a:solidFill>
              <a:latin typeface="Arial"/>
              <a:ea typeface="Arial"/>
              <a:cs typeface="Arial"/>
              <a:sym typeface="Arial"/>
            </a:endParaRPr>
          </a:p>
        </p:txBody>
      </p:sp>
      <p:sp>
        <p:nvSpPr>
          <p:cNvPr id="232" name="Google Shape;232;g3f62c33a15b_0_49"/>
          <p:cNvSpPr txBox="1"/>
          <p:nvPr/>
        </p:nvSpPr>
        <p:spPr>
          <a:xfrm>
            <a:off x="695100" y="1178750"/>
            <a:ext cx="46380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If we consider the weight </a:t>
            </a:r>
            <a:r>
              <a:rPr lang="en" sz="1800" b="0" i="1" u="none" strike="noStrike" cap="none">
                <a:solidFill>
                  <a:schemeClr val="dk2"/>
                </a:solidFill>
                <a:latin typeface="Arial"/>
                <a:ea typeface="Arial"/>
                <a:cs typeface="Arial"/>
                <a:sym typeface="Arial"/>
              </a:rPr>
              <a:t>z</a:t>
            </a:r>
            <a:r>
              <a:rPr lang="en" sz="1800" b="0" i="0" u="none" strike="noStrike" cap="none">
                <a:solidFill>
                  <a:schemeClr val="dk2"/>
                </a:solidFill>
                <a:latin typeface="Arial"/>
                <a:ea typeface="Arial"/>
                <a:cs typeface="Arial"/>
                <a:sym typeface="Arial"/>
              </a:rPr>
              <a:t> and learning rate as 0.1, then the updated value of z, </a:t>
            </a:r>
            <a:endParaRPr sz="1800" b="0" i="0" u="none" strike="noStrike" cap="none">
              <a:solidFill>
                <a:schemeClr val="dk2"/>
              </a:solidFill>
              <a:latin typeface="Arial"/>
              <a:ea typeface="Arial"/>
              <a:cs typeface="Arial"/>
              <a:sym typeface="Arial"/>
            </a:endParaRPr>
          </a:p>
        </p:txBody>
      </p:sp>
      <p:pic>
        <p:nvPicPr>
          <p:cNvPr id="233" name="Google Shape;233;g3f62c33a15b_0_49"/>
          <p:cNvPicPr preferRelativeResize="0"/>
          <p:nvPr/>
        </p:nvPicPr>
        <p:blipFill rotWithShape="1">
          <a:blip r:embed="rId5">
            <a:alphaModFix/>
          </a:blip>
          <a:srcRect/>
          <a:stretch/>
        </p:blipFill>
        <p:spPr>
          <a:xfrm>
            <a:off x="1001425" y="2144400"/>
            <a:ext cx="1543050" cy="647700"/>
          </a:xfrm>
          <a:prstGeom prst="rect">
            <a:avLst/>
          </a:prstGeom>
          <a:noFill/>
          <a:ln>
            <a:noFill/>
          </a:ln>
        </p:spPr>
      </p:pic>
      <p:pic>
        <p:nvPicPr>
          <p:cNvPr id="234" name="Google Shape;234;g3f62c33a15b_0_49"/>
          <p:cNvPicPr preferRelativeResize="0"/>
          <p:nvPr/>
        </p:nvPicPr>
        <p:blipFill rotWithShape="1">
          <a:blip r:embed="rId6">
            <a:alphaModFix/>
          </a:blip>
          <a:srcRect/>
          <a:stretch/>
        </p:blipFill>
        <p:spPr>
          <a:xfrm>
            <a:off x="1001425" y="2857525"/>
            <a:ext cx="3314700" cy="381000"/>
          </a:xfrm>
          <a:prstGeom prst="rect">
            <a:avLst/>
          </a:prstGeom>
          <a:noFill/>
          <a:ln>
            <a:noFill/>
          </a:ln>
        </p:spPr>
      </p:pic>
      <p:pic>
        <p:nvPicPr>
          <p:cNvPr id="235" name="Google Shape;235;g3f62c33a15b_0_49"/>
          <p:cNvPicPr preferRelativeResize="0"/>
          <p:nvPr/>
        </p:nvPicPr>
        <p:blipFill rotWithShape="1">
          <a:blip r:embed="rId7">
            <a:alphaModFix/>
          </a:blip>
          <a:srcRect/>
          <a:stretch/>
        </p:blipFill>
        <p:spPr>
          <a:xfrm>
            <a:off x="5169450" y="1675150"/>
            <a:ext cx="3563789" cy="2385800"/>
          </a:xfrm>
          <a:prstGeom prst="rect">
            <a:avLst/>
          </a:prstGeom>
          <a:noFill/>
          <a:ln>
            <a:noFill/>
          </a:ln>
        </p:spPr>
      </p:pic>
      <p:sp>
        <p:nvSpPr>
          <p:cNvPr id="236" name="Google Shape;236;g3f62c33a15b_0_49"/>
          <p:cNvSpPr/>
          <p:nvPr/>
        </p:nvSpPr>
        <p:spPr>
          <a:xfrm>
            <a:off x="619325" y="3447138"/>
            <a:ext cx="4343400" cy="952500"/>
          </a:xfrm>
          <a:prstGeom prst="rect">
            <a:avLst/>
          </a:prstGeom>
          <a:solidFill>
            <a:schemeClr val="lt1"/>
          </a:solidFill>
          <a:ln w="19050" cap="flat" cmpd="sng">
            <a:solidFill>
              <a:srgbClr val="1E2761"/>
            </a:solidFill>
            <a:prstDash val="solid"/>
            <a:round/>
            <a:headEnd type="none" w="sm" len="sm"/>
            <a:tailEnd type="none" w="sm" len="sm"/>
          </a:ln>
        </p:spPr>
        <p:txBody>
          <a:bodyPr spcFirstLastPara="1" wrap="square" lIns="182875" tIns="91425" rIns="18287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1E2761"/>
                </a:solidFill>
                <a:latin typeface="Calibri"/>
                <a:ea typeface="Calibri"/>
                <a:cs typeface="Calibri"/>
                <a:sym typeface="Calibri"/>
              </a:rPr>
              <a:t>💡 Key Insight: </a:t>
            </a:r>
            <a:r>
              <a:rPr lang="en" sz="1400" b="0" i="0" u="none" strike="noStrike" cap="none">
                <a:solidFill>
                  <a:srgbClr val="2C3E50"/>
                </a:solidFill>
                <a:latin typeface="Calibri"/>
                <a:ea typeface="Calibri"/>
                <a:cs typeface="Calibri"/>
                <a:sym typeface="Calibri"/>
              </a:rPr>
              <a:t>The weight z is nudged slightly opposite to the gradient, reducing the loss with each step.</a:t>
            </a:r>
            <a:endParaRPr sz="1400" b="0" i="0" u="none" strike="noStrike" cap="none">
              <a:solidFill>
                <a:srgbClr val="000000"/>
              </a:solidFill>
              <a:latin typeface="Arial"/>
              <a:ea typeface="Arial"/>
              <a:cs typeface="Arial"/>
              <a:sym typeface="Arial"/>
            </a:endParaRPr>
          </a:p>
        </p:txBody>
      </p:sp>
      <p:sp>
        <p:nvSpPr>
          <p:cNvPr id="237" name="Google Shape;237;g3f62c33a15b_0_49"/>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1"/>
        <p:cNvGrpSpPr/>
        <p:nvPr/>
      </p:nvGrpSpPr>
      <p:grpSpPr>
        <a:xfrm>
          <a:off x="0" y="0"/>
          <a:ext cx="0" cy="0"/>
          <a:chOff x="0" y="0"/>
          <a:chExt cx="0" cy="0"/>
        </a:xfrm>
      </p:grpSpPr>
      <p:pic>
        <p:nvPicPr>
          <p:cNvPr id="242" name="Google Shape;242;g3f62c33a15b_0_597"/>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243" name="Google Shape;243;g3f62c33a15b_0_597"/>
          <p:cNvSpPr/>
          <p:nvPr/>
        </p:nvSpPr>
        <p:spPr>
          <a:xfrm>
            <a:off x="365760" y="91440"/>
            <a:ext cx="7863900" cy="658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A237E"/>
              </a:buClr>
              <a:buSzPts val="3000"/>
              <a:buFont typeface="Calibri"/>
              <a:buNone/>
            </a:pPr>
            <a:r>
              <a:rPr lang="en" sz="3000" b="1" i="0" u="none" strike="noStrike" cap="none">
                <a:solidFill>
                  <a:srgbClr val="1A237E"/>
                </a:solidFill>
                <a:latin typeface="Calibri"/>
                <a:ea typeface="Calibri"/>
                <a:cs typeface="Calibri"/>
                <a:sym typeface="Calibri"/>
              </a:rPr>
              <a:t>What is a Loss Function?</a:t>
            </a:r>
            <a:endParaRPr sz="3000" b="0" i="0" u="none" strike="noStrike" cap="none">
              <a:solidFill>
                <a:srgbClr val="000000"/>
              </a:solidFill>
              <a:latin typeface="Calibri"/>
              <a:ea typeface="Calibri"/>
              <a:cs typeface="Calibri"/>
              <a:sym typeface="Calibri"/>
            </a:endParaRPr>
          </a:p>
        </p:txBody>
      </p:sp>
      <p:sp>
        <p:nvSpPr>
          <p:cNvPr id="244" name="Google Shape;244;g3f62c33a15b_0_597"/>
          <p:cNvSpPr/>
          <p:nvPr/>
        </p:nvSpPr>
        <p:spPr>
          <a:xfrm>
            <a:off x="365760" y="91440"/>
            <a:ext cx="7863900" cy="658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A237E"/>
              </a:buClr>
              <a:buSzPts val="3000"/>
              <a:buFont typeface="Calibri"/>
              <a:buNone/>
            </a:pPr>
            <a:r>
              <a:rPr lang="en" sz="3000" b="1" i="0" u="none" strike="noStrike" cap="none">
                <a:solidFill>
                  <a:srgbClr val="1A237E"/>
                </a:solidFill>
                <a:latin typeface="Calibri"/>
                <a:ea typeface="Calibri"/>
                <a:cs typeface="Calibri"/>
                <a:sym typeface="Calibri"/>
              </a:rPr>
              <a:t>What is a Loss Function?</a:t>
            </a:r>
            <a:endParaRPr sz="3000" b="0" i="0" u="none" strike="noStrike" cap="none">
              <a:solidFill>
                <a:srgbClr val="000000"/>
              </a:solidFill>
              <a:latin typeface="Calibri"/>
              <a:ea typeface="Calibri"/>
              <a:cs typeface="Calibri"/>
              <a:sym typeface="Calibri"/>
            </a:endParaRPr>
          </a:p>
        </p:txBody>
      </p:sp>
      <p:sp>
        <p:nvSpPr>
          <p:cNvPr id="245" name="Google Shape;245;g3f62c33a15b_0_597"/>
          <p:cNvSpPr/>
          <p:nvPr/>
        </p:nvSpPr>
        <p:spPr>
          <a:xfrm>
            <a:off x="274320" y="914400"/>
            <a:ext cx="5120700" cy="2286000"/>
          </a:xfrm>
          <a:prstGeom prst="rect">
            <a:avLst/>
          </a:prstGeom>
          <a:solidFill>
            <a:srgbClr val="E8EAF6"/>
          </a:solidFill>
          <a:ln w="12700" cap="flat" cmpd="sng">
            <a:solidFill>
              <a:srgbClr val="9FA8DA"/>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g3f62c33a15b_0_597"/>
          <p:cNvSpPr/>
          <p:nvPr/>
        </p:nvSpPr>
        <p:spPr>
          <a:xfrm>
            <a:off x="274320" y="914400"/>
            <a:ext cx="5120700" cy="438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 sz="1600" b="1" i="0" u="none" strike="noStrike" cap="none">
                <a:solidFill>
                  <a:schemeClr val="dk1"/>
                </a:solidFill>
                <a:latin typeface="Calibri"/>
                <a:ea typeface="Calibri"/>
                <a:cs typeface="Calibri"/>
                <a:sym typeface="Calibri"/>
              </a:rPr>
              <a:t>Definition</a:t>
            </a:r>
            <a:endParaRPr sz="1600" b="0" i="0" u="none" strike="noStrike" cap="none">
              <a:solidFill>
                <a:schemeClr val="dk1"/>
              </a:solidFill>
              <a:latin typeface="Calibri"/>
              <a:ea typeface="Calibri"/>
              <a:cs typeface="Calibri"/>
              <a:sym typeface="Calibri"/>
            </a:endParaRPr>
          </a:p>
        </p:txBody>
      </p:sp>
      <p:sp>
        <p:nvSpPr>
          <p:cNvPr id="247" name="Google Shape;247;g3f62c33a15b_0_597"/>
          <p:cNvSpPr/>
          <p:nvPr/>
        </p:nvSpPr>
        <p:spPr>
          <a:xfrm>
            <a:off x="457200" y="1417320"/>
            <a:ext cx="4755000" cy="1691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300"/>
              <a:buFont typeface="Calibri"/>
              <a:buNone/>
            </a:pPr>
            <a:r>
              <a:rPr lang="en" sz="1300" b="0" i="0" u="none" strike="noStrike" cap="none">
                <a:solidFill>
                  <a:srgbClr val="37474F"/>
                </a:solidFill>
                <a:latin typeface="Calibri"/>
                <a:ea typeface="Calibri"/>
                <a:cs typeface="Calibri"/>
                <a:sym typeface="Calibri"/>
              </a:rPr>
              <a:t>A loss function (cost function) measures how far the model's predictions are from the true labels.</a:t>
            </a: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300"/>
              <a:buFont typeface="Calibri"/>
              <a:buNone/>
            </a:pP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37474F"/>
              </a:buClr>
              <a:buSzPts val="1300"/>
              <a:buFont typeface="Calibri"/>
              <a:buNone/>
            </a:pPr>
            <a:r>
              <a:rPr lang="en" sz="1300" b="0" i="0" u="none" strike="noStrike" cap="none">
                <a:solidFill>
                  <a:srgbClr val="37474F"/>
                </a:solidFill>
                <a:latin typeface="Calibri"/>
                <a:ea typeface="Calibri"/>
                <a:cs typeface="Calibri"/>
                <a:sym typeface="Calibri"/>
              </a:rPr>
              <a:t>The optimizer uses the loss to update model parameters via backpropagation — lower loss means better predictions.</a:t>
            </a:r>
            <a:endParaRPr sz="1300" b="0" i="0" u="none" strike="noStrike" cap="none">
              <a:solidFill>
                <a:srgbClr val="000000"/>
              </a:solidFill>
              <a:latin typeface="Calibri"/>
              <a:ea typeface="Calibri"/>
              <a:cs typeface="Calibri"/>
              <a:sym typeface="Calibri"/>
            </a:endParaRPr>
          </a:p>
        </p:txBody>
      </p:sp>
      <p:sp>
        <p:nvSpPr>
          <p:cNvPr id="248" name="Google Shape;248;g3f62c33a15b_0_597"/>
          <p:cNvSpPr/>
          <p:nvPr/>
        </p:nvSpPr>
        <p:spPr>
          <a:xfrm>
            <a:off x="5623560" y="914400"/>
            <a:ext cx="3246000" cy="2286000"/>
          </a:xfrm>
          <a:prstGeom prst="rect">
            <a:avLst/>
          </a:prstGeom>
          <a:solidFill>
            <a:srgbClr val="F5F5F5"/>
          </a:solidFill>
          <a:ln w="12700" cap="flat" cmpd="sng">
            <a:solidFill>
              <a:srgbClr val="BDBDBD"/>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g3f62c33a15b_0_597"/>
          <p:cNvSpPr/>
          <p:nvPr/>
        </p:nvSpPr>
        <p:spPr>
          <a:xfrm>
            <a:off x="5623560" y="914400"/>
            <a:ext cx="3246000" cy="438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 sz="1600" b="1" i="0" u="none" strike="noStrike" cap="none">
                <a:solidFill>
                  <a:schemeClr val="dk1"/>
                </a:solidFill>
                <a:latin typeface="Calibri"/>
                <a:ea typeface="Calibri"/>
                <a:cs typeface="Calibri"/>
                <a:sym typeface="Calibri"/>
              </a:rPr>
              <a:t>Training Loop</a:t>
            </a:r>
            <a:endParaRPr sz="1600" b="0" i="0" u="none" strike="noStrike" cap="none">
              <a:solidFill>
                <a:schemeClr val="dk1"/>
              </a:solidFill>
              <a:latin typeface="Calibri"/>
              <a:ea typeface="Calibri"/>
              <a:cs typeface="Calibri"/>
              <a:sym typeface="Calibri"/>
            </a:endParaRPr>
          </a:p>
        </p:txBody>
      </p:sp>
      <p:sp>
        <p:nvSpPr>
          <p:cNvPr id="250" name="Google Shape;250;g3f62c33a15b_0_597"/>
          <p:cNvSpPr/>
          <p:nvPr/>
        </p:nvSpPr>
        <p:spPr>
          <a:xfrm>
            <a:off x="5760720" y="1426464"/>
            <a:ext cx="29262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1.  Forward pass → get ŷ</a:t>
            </a:r>
            <a:endParaRPr sz="1200" b="0" i="0" u="none" strike="noStrike" cap="none">
              <a:solidFill>
                <a:srgbClr val="000000"/>
              </a:solidFill>
              <a:latin typeface="Calibri"/>
              <a:ea typeface="Calibri"/>
              <a:cs typeface="Calibri"/>
              <a:sym typeface="Calibri"/>
            </a:endParaRPr>
          </a:p>
        </p:txBody>
      </p:sp>
      <p:sp>
        <p:nvSpPr>
          <p:cNvPr id="251" name="Google Shape;251;g3f62c33a15b_0_597"/>
          <p:cNvSpPr/>
          <p:nvPr/>
        </p:nvSpPr>
        <p:spPr>
          <a:xfrm>
            <a:off x="5760720" y="1764792"/>
            <a:ext cx="29262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C62828"/>
              </a:buClr>
              <a:buSzPts val="1200"/>
              <a:buFont typeface="Calibri"/>
              <a:buNone/>
            </a:pPr>
            <a:r>
              <a:rPr lang="en" sz="1200" b="1" i="0" u="none" strike="noStrike" cap="none">
                <a:solidFill>
                  <a:srgbClr val="C62828"/>
                </a:solidFill>
                <a:latin typeface="Calibri"/>
                <a:ea typeface="Calibri"/>
                <a:cs typeface="Calibri"/>
                <a:sym typeface="Calibri"/>
              </a:rPr>
              <a:t>2.  Compute loss: L(y, ŷ)</a:t>
            </a:r>
            <a:endParaRPr sz="1200" b="0" i="0" u="none" strike="noStrike" cap="none">
              <a:solidFill>
                <a:srgbClr val="000000"/>
              </a:solidFill>
              <a:latin typeface="Calibri"/>
              <a:ea typeface="Calibri"/>
              <a:cs typeface="Calibri"/>
              <a:sym typeface="Calibri"/>
            </a:endParaRPr>
          </a:p>
        </p:txBody>
      </p:sp>
      <p:sp>
        <p:nvSpPr>
          <p:cNvPr id="252" name="Google Shape;252;g3f62c33a15b_0_597"/>
          <p:cNvSpPr/>
          <p:nvPr/>
        </p:nvSpPr>
        <p:spPr>
          <a:xfrm>
            <a:off x="5760720" y="2103120"/>
            <a:ext cx="29262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3.  Backprop gradients</a:t>
            </a:r>
            <a:endParaRPr sz="1200" b="0" i="0" u="none" strike="noStrike" cap="none">
              <a:solidFill>
                <a:srgbClr val="000000"/>
              </a:solidFill>
              <a:latin typeface="Calibri"/>
              <a:ea typeface="Calibri"/>
              <a:cs typeface="Calibri"/>
              <a:sym typeface="Calibri"/>
            </a:endParaRPr>
          </a:p>
        </p:txBody>
      </p:sp>
      <p:sp>
        <p:nvSpPr>
          <p:cNvPr id="253" name="Google Shape;253;g3f62c33a15b_0_597"/>
          <p:cNvSpPr/>
          <p:nvPr/>
        </p:nvSpPr>
        <p:spPr>
          <a:xfrm>
            <a:off x="5760720" y="2441448"/>
            <a:ext cx="29262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4.  Update weights (optimizer)</a:t>
            </a:r>
            <a:endParaRPr sz="1200" b="0" i="0" u="none" strike="noStrike" cap="none">
              <a:solidFill>
                <a:srgbClr val="000000"/>
              </a:solidFill>
              <a:latin typeface="Calibri"/>
              <a:ea typeface="Calibri"/>
              <a:cs typeface="Calibri"/>
              <a:sym typeface="Calibri"/>
            </a:endParaRPr>
          </a:p>
        </p:txBody>
      </p:sp>
      <p:sp>
        <p:nvSpPr>
          <p:cNvPr id="254" name="Google Shape;254;g3f62c33a15b_0_597"/>
          <p:cNvSpPr/>
          <p:nvPr/>
        </p:nvSpPr>
        <p:spPr>
          <a:xfrm>
            <a:off x="5760720" y="2779776"/>
            <a:ext cx="29262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5.  Repeat until loss ↓</a:t>
            </a:r>
            <a:endParaRPr sz="1200" b="0" i="0" u="none" strike="noStrike" cap="none">
              <a:solidFill>
                <a:srgbClr val="000000"/>
              </a:solidFill>
              <a:latin typeface="Calibri"/>
              <a:ea typeface="Calibri"/>
              <a:cs typeface="Calibri"/>
              <a:sym typeface="Calibri"/>
            </a:endParaRPr>
          </a:p>
        </p:txBody>
      </p:sp>
      <p:sp>
        <p:nvSpPr>
          <p:cNvPr id="255" name="Google Shape;255;g3f62c33a15b_0_597"/>
          <p:cNvSpPr/>
          <p:nvPr/>
        </p:nvSpPr>
        <p:spPr>
          <a:xfrm>
            <a:off x="365760" y="3310128"/>
            <a:ext cx="84126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237E"/>
              </a:buClr>
              <a:buSzPts val="1200"/>
              <a:buFont typeface="Calibri"/>
              <a:buNone/>
            </a:pPr>
            <a:r>
              <a:rPr lang="en" sz="1200" b="1" i="0" u="none" strike="noStrike" cap="none">
                <a:solidFill>
                  <a:srgbClr val="1A237E"/>
                </a:solidFill>
                <a:latin typeface="Calibri"/>
                <a:ea typeface="Calibri"/>
                <a:cs typeface="Calibri"/>
                <a:sym typeface="Calibri"/>
              </a:rPr>
              <a:t>Choose your loss function based on the task:</a:t>
            </a:r>
            <a:endParaRPr sz="1200" b="0" i="0" u="none" strike="noStrike" cap="none">
              <a:solidFill>
                <a:srgbClr val="000000"/>
              </a:solidFill>
              <a:latin typeface="Calibri"/>
              <a:ea typeface="Calibri"/>
              <a:cs typeface="Calibri"/>
              <a:sym typeface="Calibri"/>
            </a:endParaRPr>
          </a:p>
        </p:txBody>
      </p:sp>
      <p:sp>
        <p:nvSpPr>
          <p:cNvPr id="256" name="Google Shape;256;g3f62c33a15b_0_597"/>
          <p:cNvSpPr/>
          <p:nvPr/>
        </p:nvSpPr>
        <p:spPr>
          <a:xfrm>
            <a:off x="274320" y="3657600"/>
            <a:ext cx="2788800" cy="1206900"/>
          </a:xfrm>
          <a:prstGeom prst="rect">
            <a:avLst/>
          </a:prstGeom>
          <a:solidFill>
            <a:srgbClr val="E3F2FD"/>
          </a:solidFill>
          <a:ln w="12700" cap="flat" cmpd="sng">
            <a:solidFill>
              <a:srgbClr val="1565C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g3f62c33a15b_0_597"/>
          <p:cNvSpPr/>
          <p:nvPr/>
        </p:nvSpPr>
        <p:spPr>
          <a:xfrm>
            <a:off x="384048" y="3712464"/>
            <a:ext cx="25785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565C0"/>
              </a:buClr>
              <a:buSzPts val="1300"/>
              <a:buFont typeface="Calibri"/>
              <a:buNone/>
            </a:pPr>
            <a:r>
              <a:rPr lang="en" sz="1300" b="1" i="0" u="none" strike="noStrike" cap="none">
                <a:solidFill>
                  <a:srgbClr val="1565C0"/>
                </a:solidFill>
                <a:latin typeface="Calibri"/>
                <a:ea typeface="Calibri"/>
                <a:cs typeface="Calibri"/>
                <a:sym typeface="Calibri"/>
              </a:rPr>
              <a:t>Regression</a:t>
            </a:r>
            <a:endParaRPr sz="1300" b="0" i="0" u="none" strike="noStrike" cap="none">
              <a:solidFill>
                <a:srgbClr val="000000"/>
              </a:solidFill>
              <a:latin typeface="Calibri"/>
              <a:ea typeface="Calibri"/>
              <a:cs typeface="Calibri"/>
              <a:sym typeface="Calibri"/>
            </a:endParaRPr>
          </a:p>
        </p:txBody>
      </p:sp>
      <p:sp>
        <p:nvSpPr>
          <p:cNvPr id="258" name="Google Shape;258;g3f62c33a15b_0_597"/>
          <p:cNvSpPr/>
          <p:nvPr/>
        </p:nvSpPr>
        <p:spPr>
          <a:xfrm>
            <a:off x="384048" y="4005072"/>
            <a:ext cx="25785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565C0"/>
              </a:buClr>
              <a:buSzPts val="1150"/>
              <a:buFont typeface="Calibri"/>
              <a:buNone/>
            </a:pPr>
            <a:r>
              <a:rPr lang="en" sz="1150" b="1" i="0" u="none" strike="noStrike" cap="none">
                <a:solidFill>
                  <a:srgbClr val="1565C0"/>
                </a:solidFill>
                <a:latin typeface="Calibri"/>
                <a:ea typeface="Calibri"/>
                <a:cs typeface="Calibri"/>
                <a:sym typeface="Calibri"/>
              </a:rPr>
              <a:t>→  MSE</a:t>
            </a:r>
            <a:endParaRPr sz="1150" b="0" i="0" u="none" strike="noStrike" cap="none">
              <a:solidFill>
                <a:srgbClr val="000000"/>
              </a:solidFill>
              <a:latin typeface="Calibri"/>
              <a:ea typeface="Calibri"/>
              <a:cs typeface="Calibri"/>
              <a:sym typeface="Calibri"/>
            </a:endParaRPr>
          </a:p>
        </p:txBody>
      </p:sp>
      <p:sp>
        <p:nvSpPr>
          <p:cNvPr id="259" name="Google Shape;259;g3f62c33a15b_0_597"/>
          <p:cNvSpPr/>
          <p:nvPr/>
        </p:nvSpPr>
        <p:spPr>
          <a:xfrm>
            <a:off x="384048" y="4297680"/>
            <a:ext cx="2578500" cy="493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1" u="none" strike="noStrike" cap="none">
                <a:solidFill>
                  <a:srgbClr val="37474F"/>
                </a:solidFill>
                <a:latin typeface="Calibri"/>
                <a:ea typeface="Calibri"/>
                <a:cs typeface="Calibri"/>
                <a:sym typeface="Calibri"/>
              </a:rPr>
              <a:t>Continuous output</a:t>
            </a:r>
            <a:endParaRPr sz="11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37474F"/>
              </a:buClr>
              <a:buSzPts val="1100"/>
              <a:buFont typeface="Calibri"/>
              <a:buNone/>
            </a:pPr>
            <a:r>
              <a:rPr lang="en" sz="1100" b="0" i="1" u="none" strike="noStrike" cap="none">
                <a:solidFill>
                  <a:srgbClr val="37474F"/>
                </a:solidFill>
                <a:latin typeface="Calibri"/>
                <a:ea typeface="Calibri"/>
                <a:cs typeface="Calibri"/>
                <a:sym typeface="Calibri"/>
              </a:rPr>
              <a:t>e.g. house price</a:t>
            </a:r>
            <a:endParaRPr sz="1100" b="0" i="0" u="none" strike="noStrike" cap="none">
              <a:solidFill>
                <a:srgbClr val="000000"/>
              </a:solidFill>
              <a:latin typeface="Calibri"/>
              <a:ea typeface="Calibri"/>
              <a:cs typeface="Calibri"/>
              <a:sym typeface="Calibri"/>
            </a:endParaRPr>
          </a:p>
        </p:txBody>
      </p:sp>
      <p:sp>
        <p:nvSpPr>
          <p:cNvPr id="260" name="Google Shape;260;g3f62c33a15b_0_597"/>
          <p:cNvSpPr/>
          <p:nvPr/>
        </p:nvSpPr>
        <p:spPr>
          <a:xfrm>
            <a:off x="3246120" y="3657600"/>
            <a:ext cx="2788800" cy="1206900"/>
          </a:xfrm>
          <a:prstGeom prst="rect">
            <a:avLst/>
          </a:prstGeom>
          <a:solidFill>
            <a:srgbClr val="E8F5E9"/>
          </a:solidFill>
          <a:ln w="12700" cap="flat" cmpd="sng">
            <a:solidFill>
              <a:srgbClr val="2E7D32"/>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g3f62c33a15b_0_597"/>
          <p:cNvSpPr/>
          <p:nvPr/>
        </p:nvSpPr>
        <p:spPr>
          <a:xfrm>
            <a:off x="3355848" y="3712464"/>
            <a:ext cx="25785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E7D32"/>
              </a:buClr>
              <a:buSzPts val="1300"/>
              <a:buFont typeface="Calibri"/>
              <a:buNone/>
            </a:pPr>
            <a:r>
              <a:rPr lang="en" sz="1300" b="1" i="0" u="none" strike="noStrike" cap="none">
                <a:solidFill>
                  <a:srgbClr val="2E7D32"/>
                </a:solidFill>
                <a:latin typeface="Calibri"/>
                <a:ea typeface="Calibri"/>
                <a:cs typeface="Calibri"/>
                <a:sym typeface="Calibri"/>
              </a:rPr>
              <a:t>Binary Classification</a:t>
            </a:r>
            <a:endParaRPr sz="1300" b="0" i="0" u="none" strike="noStrike" cap="none">
              <a:solidFill>
                <a:srgbClr val="000000"/>
              </a:solidFill>
              <a:latin typeface="Calibri"/>
              <a:ea typeface="Calibri"/>
              <a:cs typeface="Calibri"/>
              <a:sym typeface="Calibri"/>
            </a:endParaRPr>
          </a:p>
        </p:txBody>
      </p:sp>
      <p:sp>
        <p:nvSpPr>
          <p:cNvPr id="262" name="Google Shape;262;g3f62c33a15b_0_597"/>
          <p:cNvSpPr/>
          <p:nvPr/>
        </p:nvSpPr>
        <p:spPr>
          <a:xfrm>
            <a:off x="3355848" y="4005072"/>
            <a:ext cx="25785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E7D32"/>
              </a:buClr>
              <a:buSzPts val="1150"/>
              <a:buFont typeface="Calibri"/>
              <a:buNone/>
            </a:pPr>
            <a:r>
              <a:rPr lang="en" sz="1150" b="1" i="0" u="none" strike="noStrike" cap="none">
                <a:solidFill>
                  <a:srgbClr val="2E7D32"/>
                </a:solidFill>
                <a:latin typeface="Calibri"/>
                <a:ea typeface="Calibri"/>
                <a:cs typeface="Calibri"/>
                <a:sym typeface="Calibri"/>
              </a:rPr>
              <a:t>→  Binary Cross-Entropy</a:t>
            </a:r>
            <a:endParaRPr sz="1150" b="0" i="0" u="none" strike="noStrike" cap="none">
              <a:solidFill>
                <a:srgbClr val="000000"/>
              </a:solidFill>
              <a:latin typeface="Calibri"/>
              <a:ea typeface="Calibri"/>
              <a:cs typeface="Calibri"/>
              <a:sym typeface="Calibri"/>
            </a:endParaRPr>
          </a:p>
        </p:txBody>
      </p:sp>
      <p:sp>
        <p:nvSpPr>
          <p:cNvPr id="263" name="Google Shape;263;g3f62c33a15b_0_597"/>
          <p:cNvSpPr/>
          <p:nvPr/>
        </p:nvSpPr>
        <p:spPr>
          <a:xfrm>
            <a:off x="3355848" y="4297680"/>
            <a:ext cx="2578500" cy="493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1" u="none" strike="noStrike" cap="none">
                <a:solidFill>
                  <a:srgbClr val="37474F"/>
                </a:solidFill>
                <a:latin typeface="Calibri"/>
                <a:ea typeface="Calibri"/>
                <a:cs typeface="Calibri"/>
                <a:sym typeface="Calibri"/>
              </a:rPr>
              <a:t>2-class output</a:t>
            </a:r>
            <a:endParaRPr sz="11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37474F"/>
              </a:buClr>
              <a:buSzPts val="1100"/>
              <a:buFont typeface="Calibri"/>
              <a:buNone/>
            </a:pPr>
            <a:r>
              <a:rPr lang="en" sz="1100" b="0" i="1" u="none" strike="noStrike" cap="none">
                <a:solidFill>
                  <a:srgbClr val="37474F"/>
                </a:solidFill>
                <a:latin typeface="Calibri"/>
                <a:ea typeface="Calibri"/>
                <a:cs typeface="Calibri"/>
                <a:sym typeface="Calibri"/>
              </a:rPr>
              <a:t>e.g. spam / not spam</a:t>
            </a:r>
            <a:endParaRPr sz="1100" b="0" i="0" u="none" strike="noStrike" cap="none">
              <a:solidFill>
                <a:srgbClr val="000000"/>
              </a:solidFill>
              <a:latin typeface="Calibri"/>
              <a:ea typeface="Calibri"/>
              <a:cs typeface="Calibri"/>
              <a:sym typeface="Calibri"/>
            </a:endParaRPr>
          </a:p>
        </p:txBody>
      </p:sp>
      <p:sp>
        <p:nvSpPr>
          <p:cNvPr id="264" name="Google Shape;264;g3f62c33a15b_0_597"/>
          <p:cNvSpPr/>
          <p:nvPr/>
        </p:nvSpPr>
        <p:spPr>
          <a:xfrm>
            <a:off x="6217920" y="3657600"/>
            <a:ext cx="2788800" cy="1206900"/>
          </a:xfrm>
          <a:prstGeom prst="rect">
            <a:avLst/>
          </a:prstGeom>
          <a:solidFill>
            <a:srgbClr val="F3E5F5"/>
          </a:solidFill>
          <a:ln w="12700" cap="flat" cmpd="sng">
            <a:solidFill>
              <a:srgbClr val="6A1B9A"/>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g3f62c33a15b_0_597"/>
          <p:cNvSpPr/>
          <p:nvPr/>
        </p:nvSpPr>
        <p:spPr>
          <a:xfrm>
            <a:off x="6327648" y="3712464"/>
            <a:ext cx="25785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A1B9A"/>
              </a:buClr>
              <a:buSzPts val="1300"/>
              <a:buFont typeface="Calibri"/>
              <a:buNone/>
            </a:pPr>
            <a:r>
              <a:rPr lang="en" sz="1300" b="1" i="0" u="none" strike="noStrike" cap="none">
                <a:solidFill>
                  <a:srgbClr val="6A1B9A"/>
                </a:solidFill>
                <a:latin typeface="Calibri"/>
                <a:ea typeface="Calibri"/>
                <a:cs typeface="Calibri"/>
                <a:sym typeface="Calibri"/>
              </a:rPr>
              <a:t>Multi-class</a:t>
            </a:r>
            <a:endParaRPr sz="1300" b="0" i="0" u="none" strike="noStrike" cap="none">
              <a:solidFill>
                <a:srgbClr val="000000"/>
              </a:solidFill>
              <a:latin typeface="Calibri"/>
              <a:ea typeface="Calibri"/>
              <a:cs typeface="Calibri"/>
              <a:sym typeface="Calibri"/>
            </a:endParaRPr>
          </a:p>
        </p:txBody>
      </p:sp>
      <p:sp>
        <p:nvSpPr>
          <p:cNvPr id="266" name="Google Shape;266;g3f62c33a15b_0_597"/>
          <p:cNvSpPr/>
          <p:nvPr/>
        </p:nvSpPr>
        <p:spPr>
          <a:xfrm>
            <a:off x="6327648" y="4005072"/>
            <a:ext cx="25785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A1B9A"/>
              </a:buClr>
              <a:buSzPts val="1150"/>
              <a:buFont typeface="Calibri"/>
              <a:buNone/>
            </a:pPr>
            <a:r>
              <a:rPr lang="en" sz="1150" b="1" i="0" u="none" strike="noStrike" cap="none">
                <a:solidFill>
                  <a:srgbClr val="6A1B9A"/>
                </a:solidFill>
                <a:latin typeface="Calibri"/>
                <a:ea typeface="Calibri"/>
                <a:cs typeface="Calibri"/>
                <a:sym typeface="Calibri"/>
              </a:rPr>
              <a:t>→  Categorical Cross-Entropy</a:t>
            </a:r>
            <a:endParaRPr sz="1150" b="0" i="0" u="none" strike="noStrike" cap="none">
              <a:solidFill>
                <a:srgbClr val="000000"/>
              </a:solidFill>
              <a:latin typeface="Calibri"/>
              <a:ea typeface="Calibri"/>
              <a:cs typeface="Calibri"/>
              <a:sym typeface="Calibri"/>
            </a:endParaRPr>
          </a:p>
        </p:txBody>
      </p:sp>
      <p:sp>
        <p:nvSpPr>
          <p:cNvPr id="267" name="Google Shape;267;g3f62c33a15b_0_597"/>
          <p:cNvSpPr/>
          <p:nvPr/>
        </p:nvSpPr>
        <p:spPr>
          <a:xfrm>
            <a:off x="6327648" y="4297680"/>
            <a:ext cx="2578500" cy="493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1" u="none" strike="noStrike" cap="none">
                <a:solidFill>
                  <a:srgbClr val="37474F"/>
                </a:solidFill>
                <a:latin typeface="Calibri"/>
                <a:ea typeface="Calibri"/>
                <a:cs typeface="Calibri"/>
                <a:sym typeface="Calibri"/>
              </a:rPr>
              <a:t>3+ classes</a:t>
            </a:r>
            <a:endParaRPr sz="11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37474F"/>
              </a:buClr>
              <a:buSzPts val="1100"/>
              <a:buFont typeface="Calibri"/>
              <a:buNone/>
            </a:pPr>
            <a:r>
              <a:rPr lang="en" sz="1100" b="0" i="1" u="none" strike="noStrike" cap="none">
                <a:solidFill>
                  <a:srgbClr val="37474F"/>
                </a:solidFill>
                <a:latin typeface="Calibri"/>
                <a:ea typeface="Calibri"/>
                <a:cs typeface="Calibri"/>
                <a:sym typeface="Calibri"/>
              </a:rPr>
              <a:t>e.g. cat / dog / bird</a:t>
            </a:r>
            <a:endParaRPr sz="1100" b="0" i="0" u="none" strike="noStrike" cap="none">
              <a:solidFill>
                <a:srgbClr val="000000"/>
              </a:solidFill>
              <a:latin typeface="Calibri"/>
              <a:ea typeface="Calibri"/>
              <a:cs typeface="Calibri"/>
              <a:sym typeface="Calibri"/>
            </a:endParaRPr>
          </a:p>
        </p:txBody>
      </p:sp>
      <p:sp>
        <p:nvSpPr>
          <p:cNvPr id="268" name="Google Shape;268;g3f62c33a15b_0_597"/>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2"/>
        <p:cNvGrpSpPr/>
        <p:nvPr/>
      </p:nvGrpSpPr>
      <p:grpSpPr>
        <a:xfrm>
          <a:off x="0" y="0"/>
          <a:ext cx="0" cy="0"/>
          <a:chOff x="0" y="0"/>
          <a:chExt cx="0" cy="0"/>
        </a:xfrm>
      </p:grpSpPr>
      <p:pic>
        <p:nvPicPr>
          <p:cNvPr id="273" name="Google Shape;273;g3f62c33a15b_0_626"/>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274" name="Google Shape;274;g3f62c33a15b_0_626"/>
          <p:cNvSpPr/>
          <p:nvPr/>
        </p:nvSpPr>
        <p:spPr>
          <a:xfrm>
            <a:off x="365760" y="91440"/>
            <a:ext cx="7863900" cy="658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A237E"/>
              </a:buClr>
              <a:buSzPts val="3000"/>
              <a:buFont typeface="Calibri"/>
              <a:buNone/>
            </a:pPr>
            <a:r>
              <a:rPr lang="en" sz="3000" b="1" i="0" u="none" strike="noStrike" cap="none">
                <a:solidFill>
                  <a:srgbClr val="1A237E"/>
                </a:solidFill>
                <a:latin typeface="Calibri"/>
                <a:ea typeface="Calibri"/>
                <a:cs typeface="Calibri"/>
                <a:sym typeface="Calibri"/>
              </a:rPr>
              <a:t>Loss Function 1 — Mean Squared Error (MSE)</a:t>
            </a:r>
            <a:endParaRPr sz="3000" b="0" i="0" u="none" strike="noStrike" cap="none">
              <a:solidFill>
                <a:srgbClr val="000000"/>
              </a:solidFill>
              <a:latin typeface="Calibri"/>
              <a:ea typeface="Calibri"/>
              <a:cs typeface="Calibri"/>
              <a:sym typeface="Calibri"/>
            </a:endParaRPr>
          </a:p>
        </p:txBody>
      </p:sp>
      <p:sp>
        <p:nvSpPr>
          <p:cNvPr id="275" name="Google Shape;275;g3f62c33a15b_0_626"/>
          <p:cNvSpPr/>
          <p:nvPr/>
        </p:nvSpPr>
        <p:spPr>
          <a:xfrm>
            <a:off x="274320" y="914400"/>
            <a:ext cx="5074800" cy="3977700"/>
          </a:xfrm>
          <a:prstGeom prst="rect">
            <a:avLst/>
          </a:prstGeom>
          <a:solidFill>
            <a:srgbClr val="E3F2FD"/>
          </a:solidFill>
          <a:ln w="12700" cap="flat" cmpd="sng">
            <a:solidFill>
              <a:srgbClr val="90CAF9"/>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62c33a15b_0_626"/>
          <p:cNvSpPr/>
          <p:nvPr/>
        </p:nvSpPr>
        <p:spPr>
          <a:xfrm>
            <a:off x="274320" y="914400"/>
            <a:ext cx="5074800" cy="438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 sz="1600" b="1" i="0" u="none" strike="noStrike" cap="none">
                <a:solidFill>
                  <a:schemeClr val="dk1"/>
                </a:solidFill>
                <a:latin typeface="Calibri"/>
                <a:ea typeface="Calibri"/>
                <a:cs typeface="Calibri"/>
                <a:sym typeface="Calibri"/>
              </a:rPr>
              <a:t>Mean Squared Error  —  Regression Tasks</a:t>
            </a:r>
            <a:endParaRPr sz="1600" b="0" i="0" u="none" strike="noStrike" cap="none">
              <a:solidFill>
                <a:schemeClr val="dk1"/>
              </a:solidFill>
              <a:latin typeface="Calibri"/>
              <a:ea typeface="Calibri"/>
              <a:cs typeface="Calibri"/>
              <a:sym typeface="Calibri"/>
            </a:endParaRPr>
          </a:p>
        </p:txBody>
      </p:sp>
      <p:sp>
        <p:nvSpPr>
          <p:cNvPr id="277" name="Google Shape;277;g3f62c33a15b_0_626"/>
          <p:cNvSpPr/>
          <p:nvPr/>
        </p:nvSpPr>
        <p:spPr>
          <a:xfrm>
            <a:off x="411480" y="1444752"/>
            <a:ext cx="4800600" cy="530400"/>
          </a:xfrm>
          <a:prstGeom prst="rect">
            <a:avLst/>
          </a:prstGeom>
          <a:solidFill>
            <a:srgbClr val="FFFFFF"/>
          </a:solidFill>
          <a:ln w="15225" cap="flat" cmpd="sng">
            <a:solidFill>
              <a:srgbClr val="1565C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g3f62c33a15b_0_626"/>
          <p:cNvSpPr/>
          <p:nvPr/>
        </p:nvSpPr>
        <p:spPr>
          <a:xfrm>
            <a:off x="521208" y="1444752"/>
            <a:ext cx="4581000" cy="530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565C0"/>
              </a:buClr>
              <a:buSzPts val="1300"/>
              <a:buFont typeface="Consolas"/>
              <a:buNone/>
            </a:pPr>
            <a:r>
              <a:rPr lang="en" sz="1300" b="1" i="0" u="none" strike="noStrike" cap="none">
                <a:solidFill>
                  <a:srgbClr val="1565C0"/>
                </a:solidFill>
                <a:latin typeface="Consolas"/>
                <a:ea typeface="Consolas"/>
                <a:cs typeface="Consolas"/>
                <a:sym typeface="Consolas"/>
              </a:rPr>
              <a:t>MSE  =  (1/n) × Σ (yᵢ − ŷᵢ)²</a:t>
            </a:r>
            <a:endParaRPr sz="1300" b="0" i="0" u="none" strike="noStrike" cap="none">
              <a:solidFill>
                <a:srgbClr val="000000"/>
              </a:solidFill>
              <a:latin typeface="Calibri"/>
              <a:ea typeface="Calibri"/>
              <a:cs typeface="Calibri"/>
              <a:sym typeface="Calibri"/>
            </a:endParaRPr>
          </a:p>
        </p:txBody>
      </p:sp>
      <p:sp>
        <p:nvSpPr>
          <p:cNvPr id="279" name="Google Shape;279;g3f62c33a15b_0_626"/>
          <p:cNvSpPr/>
          <p:nvPr/>
        </p:nvSpPr>
        <p:spPr>
          <a:xfrm>
            <a:off x="457200" y="2066544"/>
            <a:ext cx="466350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565C0"/>
              </a:buClr>
              <a:buSzPts val="1150"/>
              <a:buFont typeface="Calibri"/>
              <a:buNone/>
            </a:pPr>
            <a:r>
              <a:rPr lang="en" sz="1150" b="1" i="0" u="none" strike="noStrike" cap="none">
                <a:solidFill>
                  <a:srgbClr val="1565C0"/>
                </a:solidFill>
                <a:latin typeface="Calibri"/>
                <a:ea typeface="Calibri"/>
                <a:cs typeface="Calibri"/>
                <a:sym typeface="Calibri"/>
              </a:rPr>
              <a:t>Where:</a:t>
            </a:r>
            <a:endParaRPr sz="1150" b="0" i="0" u="none" strike="noStrike" cap="none">
              <a:solidFill>
                <a:srgbClr val="000000"/>
              </a:solidFill>
              <a:latin typeface="Calibri"/>
              <a:ea typeface="Calibri"/>
              <a:cs typeface="Calibri"/>
              <a:sym typeface="Calibri"/>
            </a:endParaRPr>
          </a:p>
        </p:txBody>
      </p:sp>
      <p:sp>
        <p:nvSpPr>
          <p:cNvPr id="280" name="Google Shape;280;g3f62c33a15b_0_626"/>
          <p:cNvSpPr/>
          <p:nvPr/>
        </p:nvSpPr>
        <p:spPr>
          <a:xfrm>
            <a:off x="548640" y="2304288"/>
            <a:ext cx="45720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onsolas"/>
              <a:buNone/>
            </a:pPr>
            <a:r>
              <a:rPr lang="en" sz="1200" b="0" i="0" u="none" strike="noStrike" cap="none">
                <a:solidFill>
                  <a:srgbClr val="37474F"/>
                </a:solidFill>
                <a:latin typeface="Consolas"/>
                <a:ea typeface="Consolas"/>
                <a:cs typeface="Consolas"/>
                <a:sym typeface="Consolas"/>
              </a:rPr>
              <a:t>yᵢ  =  actual (true) value</a:t>
            </a:r>
            <a:endParaRPr sz="1200" b="0" i="0" u="none" strike="noStrike" cap="none">
              <a:solidFill>
                <a:srgbClr val="000000"/>
              </a:solidFill>
              <a:latin typeface="Calibri"/>
              <a:ea typeface="Calibri"/>
              <a:cs typeface="Calibri"/>
              <a:sym typeface="Calibri"/>
            </a:endParaRPr>
          </a:p>
        </p:txBody>
      </p:sp>
      <p:sp>
        <p:nvSpPr>
          <p:cNvPr id="281" name="Google Shape;281;g3f62c33a15b_0_626"/>
          <p:cNvSpPr/>
          <p:nvPr/>
        </p:nvSpPr>
        <p:spPr>
          <a:xfrm>
            <a:off x="548640" y="2578608"/>
            <a:ext cx="45720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onsolas"/>
              <a:buNone/>
            </a:pPr>
            <a:r>
              <a:rPr lang="en" sz="1200" b="0" i="0" u="none" strike="noStrike" cap="none">
                <a:solidFill>
                  <a:srgbClr val="37474F"/>
                </a:solidFill>
                <a:latin typeface="Consolas"/>
                <a:ea typeface="Consolas"/>
                <a:cs typeface="Consolas"/>
                <a:sym typeface="Consolas"/>
              </a:rPr>
              <a:t>ŷᵢ  =  predicted value</a:t>
            </a:r>
            <a:endParaRPr sz="1200" b="0" i="0" u="none" strike="noStrike" cap="none">
              <a:solidFill>
                <a:srgbClr val="000000"/>
              </a:solidFill>
              <a:latin typeface="Calibri"/>
              <a:ea typeface="Calibri"/>
              <a:cs typeface="Calibri"/>
              <a:sym typeface="Calibri"/>
            </a:endParaRPr>
          </a:p>
        </p:txBody>
      </p:sp>
      <p:sp>
        <p:nvSpPr>
          <p:cNvPr id="282" name="Google Shape;282;g3f62c33a15b_0_626"/>
          <p:cNvSpPr/>
          <p:nvPr/>
        </p:nvSpPr>
        <p:spPr>
          <a:xfrm>
            <a:off x="548640" y="2852928"/>
            <a:ext cx="45720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onsolas"/>
              <a:buNone/>
            </a:pPr>
            <a:r>
              <a:rPr lang="en" sz="1200" b="0" i="0" u="none" strike="noStrike" cap="none">
                <a:solidFill>
                  <a:srgbClr val="37474F"/>
                </a:solidFill>
                <a:latin typeface="Consolas"/>
                <a:ea typeface="Consolas"/>
                <a:cs typeface="Consolas"/>
                <a:sym typeface="Consolas"/>
              </a:rPr>
              <a:t>n   =  number of samples</a:t>
            </a:r>
            <a:endParaRPr sz="1200" b="0" i="0" u="none" strike="noStrike" cap="none">
              <a:solidFill>
                <a:srgbClr val="000000"/>
              </a:solidFill>
              <a:latin typeface="Calibri"/>
              <a:ea typeface="Calibri"/>
              <a:cs typeface="Calibri"/>
              <a:sym typeface="Calibri"/>
            </a:endParaRPr>
          </a:p>
        </p:txBody>
      </p:sp>
      <p:sp>
        <p:nvSpPr>
          <p:cNvPr id="283" name="Google Shape;283;g3f62c33a15b_0_626"/>
          <p:cNvSpPr/>
          <p:nvPr/>
        </p:nvSpPr>
        <p:spPr>
          <a:xfrm>
            <a:off x="548640" y="3127248"/>
            <a:ext cx="45720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onsolas"/>
              <a:buNone/>
            </a:pPr>
            <a:r>
              <a:rPr lang="en" sz="1200" b="0" i="0" u="none" strike="noStrike" cap="none">
                <a:solidFill>
                  <a:srgbClr val="37474F"/>
                </a:solidFill>
                <a:latin typeface="Consolas"/>
                <a:ea typeface="Consolas"/>
                <a:cs typeface="Consolas"/>
                <a:sym typeface="Consolas"/>
              </a:rPr>
              <a:t>Σ   =  sum over all samples</a:t>
            </a:r>
            <a:endParaRPr sz="1200" b="0" i="0" u="none" strike="noStrike" cap="none">
              <a:solidFill>
                <a:srgbClr val="000000"/>
              </a:solidFill>
              <a:latin typeface="Calibri"/>
              <a:ea typeface="Calibri"/>
              <a:cs typeface="Calibri"/>
              <a:sym typeface="Calibri"/>
            </a:endParaRPr>
          </a:p>
        </p:txBody>
      </p:sp>
      <p:sp>
        <p:nvSpPr>
          <p:cNvPr id="284" name="Google Shape;284;g3f62c33a15b_0_626"/>
          <p:cNvSpPr/>
          <p:nvPr/>
        </p:nvSpPr>
        <p:spPr>
          <a:xfrm>
            <a:off x="457200" y="3456432"/>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565C0"/>
              </a:buClr>
              <a:buSzPts val="1200"/>
              <a:buFont typeface="Calibri"/>
              <a:buNone/>
            </a:pPr>
            <a:r>
              <a:rPr lang="en" sz="1200" b="1" i="0" u="none" strike="noStrike" cap="none">
                <a:solidFill>
                  <a:srgbClr val="1565C0"/>
                </a:solidFill>
                <a:latin typeface="Calibri"/>
                <a:ea typeface="Calibri"/>
                <a:cs typeface="Calibri"/>
                <a:sym typeface="Calibri"/>
              </a:rPr>
              <a:t>Key Properties</a:t>
            </a:r>
            <a:endParaRPr sz="1200" b="0" i="0" u="none" strike="noStrike" cap="none">
              <a:solidFill>
                <a:srgbClr val="000000"/>
              </a:solidFill>
              <a:latin typeface="Calibri"/>
              <a:ea typeface="Calibri"/>
              <a:cs typeface="Calibri"/>
              <a:sym typeface="Calibri"/>
            </a:endParaRPr>
          </a:p>
        </p:txBody>
      </p:sp>
      <p:sp>
        <p:nvSpPr>
          <p:cNvPr id="285" name="Google Shape;285;g3f62c33a15b_0_626"/>
          <p:cNvSpPr/>
          <p:nvPr/>
        </p:nvSpPr>
        <p:spPr>
          <a:xfrm>
            <a:off x="548640" y="3749040"/>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 Penalises large errors more heavily (squared)</a:t>
            </a:r>
            <a:endParaRPr sz="1200" b="0" i="0" u="none" strike="noStrike" cap="none">
              <a:solidFill>
                <a:srgbClr val="000000"/>
              </a:solidFill>
              <a:latin typeface="Calibri"/>
              <a:ea typeface="Calibri"/>
              <a:cs typeface="Calibri"/>
              <a:sym typeface="Calibri"/>
            </a:endParaRPr>
          </a:p>
        </p:txBody>
      </p:sp>
      <p:sp>
        <p:nvSpPr>
          <p:cNvPr id="286" name="Google Shape;286;g3f62c33a15b_0_626"/>
          <p:cNvSpPr/>
          <p:nvPr/>
        </p:nvSpPr>
        <p:spPr>
          <a:xfrm>
            <a:off x="548640" y="4023360"/>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 Always non-negative; perfect fit → MSE = 0</a:t>
            </a:r>
            <a:endParaRPr sz="1200" b="0" i="0" u="none" strike="noStrike" cap="none">
              <a:solidFill>
                <a:srgbClr val="000000"/>
              </a:solidFill>
              <a:latin typeface="Calibri"/>
              <a:ea typeface="Calibri"/>
              <a:cs typeface="Calibri"/>
              <a:sym typeface="Calibri"/>
            </a:endParaRPr>
          </a:p>
        </p:txBody>
      </p:sp>
      <p:sp>
        <p:nvSpPr>
          <p:cNvPr id="287" name="Google Shape;287;g3f62c33a15b_0_626"/>
          <p:cNvSpPr/>
          <p:nvPr/>
        </p:nvSpPr>
        <p:spPr>
          <a:xfrm>
            <a:off x="548640" y="4297680"/>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 Differentiable → works well with gradient descent</a:t>
            </a:r>
            <a:endParaRPr sz="1200" b="0" i="0" u="none" strike="noStrike" cap="none">
              <a:solidFill>
                <a:srgbClr val="000000"/>
              </a:solidFill>
              <a:latin typeface="Calibri"/>
              <a:ea typeface="Calibri"/>
              <a:cs typeface="Calibri"/>
              <a:sym typeface="Calibri"/>
            </a:endParaRPr>
          </a:p>
        </p:txBody>
      </p:sp>
      <p:sp>
        <p:nvSpPr>
          <p:cNvPr id="288" name="Google Shape;288;g3f62c33a15b_0_626"/>
          <p:cNvSpPr/>
          <p:nvPr/>
        </p:nvSpPr>
        <p:spPr>
          <a:xfrm>
            <a:off x="5532120" y="914400"/>
            <a:ext cx="3337500" cy="3977700"/>
          </a:xfrm>
          <a:prstGeom prst="rect">
            <a:avLst/>
          </a:prstGeom>
          <a:solidFill>
            <a:srgbClr val="F5F5F5"/>
          </a:solidFill>
          <a:ln w="12700" cap="flat" cmpd="sng">
            <a:solidFill>
              <a:srgbClr val="BDBDBD"/>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g3f62c33a15b_0_626"/>
          <p:cNvSpPr/>
          <p:nvPr/>
        </p:nvSpPr>
        <p:spPr>
          <a:xfrm>
            <a:off x="5532120" y="914400"/>
            <a:ext cx="3337500" cy="438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 sz="1600" b="1" i="0" u="none" strike="noStrike" cap="none">
                <a:solidFill>
                  <a:schemeClr val="dk1"/>
                </a:solidFill>
                <a:latin typeface="Calibri"/>
                <a:ea typeface="Calibri"/>
                <a:cs typeface="Calibri"/>
                <a:sym typeface="Calibri"/>
              </a:rPr>
              <a:t>Intuition</a:t>
            </a:r>
            <a:endParaRPr sz="1600" b="0" i="0" u="none" strike="noStrike" cap="none">
              <a:solidFill>
                <a:schemeClr val="dk1"/>
              </a:solidFill>
              <a:latin typeface="Calibri"/>
              <a:ea typeface="Calibri"/>
              <a:cs typeface="Calibri"/>
              <a:sym typeface="Calibri"/>
            </a:endParaRPr>
          </a:p>
        </p:txBody>
      </p:sp>
      <p:sp>
        <p:nvSpPr>
          <p:cNvPr id="290" name="Google Shape;290;g3f62c33a15b_0_626"/>
          <p:cNvSpPr/>
          <p:nvPr/>
        </p:nvSpPr>
        <p:spPr>
          <a:xfrm>
            <a:off x="5669280" y="1435608"/>
            <a:ext cx="3063300" cy="34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1" u="none" strike="noStrike" cap="none">
                <a:solidFill>
                  <a:srgbClr val="37474F"/>
                </a:solidFill>
                <a:latin typeface="Calibri"/>
                <a:ea typeface="Calibri"/>
                <a:cs typeface="Calibri"/>
                <a:sym typeface="Calibri"/>
              </a:rPr>
              <a:t>Imagine you're predicting house prices:</a:t>
            </a:r>
            <a:endParaRPr sz="1200" b="0" i="0" u="none" strike="noStrike" cap="none">
              <a:solidFill>
                <a:srgbClr val="000000"/>
              </a:solidFill>
              <a:latin typeface="Calibri"/>
              <a:ea typeface="Calibri"/>
              <a:cs typeface="Calibri"/>
              <a:sym typeface="Calibri"/>
            </a:endParaRPr>
          </a:p>
        </p:txBody>
      </p:sp>
      <p:sp>
        <p:nvSpPr>
          <p:cNvPr id="291" name="Google Shape;291;g3f62c33a15b_0_626"/>
          <p:cNvSpPr/>
          <p:nvPr/>
        </p:nvSpPr>
        <p:spPr>
          <a:xfrm>
            <a:off x="5669280" y="1865376"/>
            <a:ext cx="960000" cy="347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Calibri"/>
              <a:buNone/>
            </a:pPr>
            <a:r>
              <a:rPr lang="en" sz="1050" b="1" i="0" u="none" strike="noStrike" cap="none">
                <a:solidFill>
                  <a:schemeClr val="dk1"/>
                </a:solidFill>
                <a:latin typeface="Calibri"/>
                <a:ea typeface="Calibri"/>
                <a:cs typeface="Calibri"/>
                <a:sym typeface="Calibri"/>
              </a:rPr>
              <a:t>Actual (y)</a:t>
            </a:r>
            <a:endParaRPr sz="1050" b="0" i="0" u="none" strike="noStrike" cap="none">
              <a:solidFill>
                <a:schemeClr val="dk1"/>
              </a:solidFill>
              <a:latin typeface="Calibri"/>
              <a:ea typeface="Calibri"/>
              <a:cs typeface="Calibri"/>
              <a:sym typeface="Calibri"/>
            </a:endParaRPr>
          </a:p>
        </p:txBody>
      </p:sp>
      <p:sp>
        <p:nvSpPr>
          <p:cNvPr id="292" name="Google Shape;292;g3f62c33a15b_0_626"/>
          <p:cNvSpPr/>
          <p:nvPr/>
        </p:nvSpPr>
        <p:spPr>
          <a:xfrm>
            <a:off x="6629400" y="1865376"/>
            <a:ext cx="1097400" cy="347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Calibri"/>
              <a:buNone/>
            </a:pPr>
            <a:r>
              <a:rPr lang="en" sz="1050" b="1" i="0" u="none" strike="noStrike" cap="none">
                <a:solidFill>
                  <a:schemeClr val="dk1"/>
                </a:solidFill>
                <a:latin typeface="Calibri"/>
                <a:ea typeface="Calibri"/>
                <a:cs typeface="Calibri"/>
                <a:sym typeface="Calibri"/>
              </a:rPr>
              <a:t>Predicted (ŷ)</a:t>
            </a:r>
            <a:endParaRPr sz="1050" b="0" i="0" u="none" strike="noStrike" cap="none">
              <a:solidFill>
                <a:schemeClr val="dk1"/>
              </a:solidFill>
              <a:latin typeface="Calibri"/>
              <a:ea typeface="Calibri"/>
              <a:cs typeface="Calibri"/>
              <a:sym typeface="Calibri"/>
            </a:endParaRPr>
          </a:p>
        </p:txBody>
      </p:sp>
      <p:sp>
        <p:nvSpPr>
          <p:cNvPr id="293" name="Google Shape;293;g3f62c33a15b_0_626"/>
          <p:cNvSpPr/>
          <p:nvPr/>
        </p:nvSpPr>
        <p:spPr>
          <a:xfrm>
            <a:off x="7726680" y="1865376"/>
            <a:ext cx="914400" cy="347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Calibri"/>
              <a:buNone/>
            </a:pPr>
            <a:r>
              <a:rPr lang="en" sz="1050" b="1" i="0" u="none" strike="noStrike" cap="none">
                <a:solidFill>
                  <a:schemeClr val="dk1"/>
                </a:solidFill>
                <a:latin typeface="Calibri"/>
                <a:ea typeface="Calibri"/>
                <a:cs typeface="Calibri"/>
                <a:sym typeface="Calibri"/>
              </a:rPr>
              <a:t>Error²</a:t>
            </a:r>
            <a:endParaRPr sz="1050" b="0" i="0" u="none" strike="noStrike" cap="none">
              <a:solidFill>
                <a:schemeClr val="dk1"/>
              </a:solidFill>
              <a:latin typeface="Calibri"/>
              <a:ea typeface="Calibri"/>
              <a:cs typeface="Calibri"/>
              <a:sym typeface="Calibri"/>
            </a:endParaRPr>
          </a:p>
        </p:txBody>
      </p:sp>
      <p:sp>
        <p:nvSpPr>
          <p:cNvPr id="294" name="Google Shape;294;g3f62c33a15b_0_626"/>
          <p:cNvSpPr/>
          <p:nvPr/>
        </p:nvSpPr>
        <p:spPr>
          <a:xfrm>
            <a:off x="5669280" y="2212848"/>
            <a:ext cx="960000" cy="347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300K</a:t>
            </a:r>
            <a:endParaRPr sz="1050" b="0" i="0" u="none" strike="noStrike" cap="none">
              <a:solidFill>
                <a:srgbClr val="000000"/>
              </a:solidFill>
              <a:latin typeface="Calibri"/>
              <a:ea typeface="Calibri"/>
              <a:cs typeface="Calibri"/>
              <a:sym typeface="Calibri"/>
            </a:endParaRPr>
          </a:p>
        </p:txBody>
      </p:sp>
      <p:sp>
        <p:nvSpPr>
          <p:cNvPr id="295" name="Google Shape;295;g3f62c33a15b_0_626"/>
          <p:cNvSpPr/>
          <p:nvPr/>
        </p:nvSpPr>
        <p:spPr>
          <a:xfrm>
            <a:off x="6629400" y="2212848"/>
            <a:ext cx="1097400" cy="347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280K</a:t>
            </a:r>
            <a:endParaRPr sz="1050" b="0" i="0" u="none" strike="noStrike" cap="none">
              <a:solidFill>
                <a:srgbClr val="000000"/>
              </a:solidFill>
              <a:latin typeface="Calibri"/>
              <a:ea typeface="Calibri"/>
              <a:cs typeface="Calibri"/>
              <a:sym typeface="Calibri"/>
            </a:endParaRPr>
          </a:p>
        </p:txBody>
      </p:sp>
      <p:sp>
        <p:nvSpPr>
          <p:cNvPr id="296" name="Google Shape;296;g3f62c33a15b_0_626"/>
          <p:cNvSpPr/>
          <p:nvPr/>
        </p:nvSpPr>
        <p:spPr>
          <a:xfrm>
            <a:off x="7726680" y="2212848"/>
            <a:ext cx="914400" cy="347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400M</a:t>
            </a:r>
            <a:endParaRPr sz="1050" b="0" i="0" u="none" strike="noStrike" cap="none">
              <a:solidFill>
                <a:srgbClr val="000000"/>
              </a:solidFill>
              <a:latin typeface="Calibri"/>
              <a:ea typeface="Calibri"/>
              <a:cs typeface="Calibri"/>
              <a:sym typeface="Calibri"/>
            </a:endParaRPr>
          </a:p>
        </p:txBody>
      </p:sp>
      <p:sp>
        <p:nvSpPr>
          <p:cNvPr id="297" name="Google Shape;297;g3f62c33a15b_0_626"/>
          <p:cNvSpPr/>
          <p:nvPr/>
        </p:nvSpPr>
        <p:spPr>
          <a:xfrm>
            <a:off x="5669280" y="2560320"/>
            <a:ext cx="960000" cy="347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450K</a:t>
            </a:r>
            <a:endParaRPr sz="1050" b="0" i="0" u="none" strike="noStrike" cap="none">
              <a:solidFill>
                <a:srgbClr val="000000"/>
              </a:solidFill>
              <a:latin typeface="Calibri"/>
              <a:ea typeface="Calibri"/>
              <a:cs typeface="Calibri"/>
              <a:sym typeface="Calibri"/>
            </a:endParaRPr>
          </a:p>
        </p:txBody>
      </p:sp>
      <p:sp>
        <p:nvSpPr>
          <p:cNvPr id="298" name="Google Shape;298;g3f62c33a15b_0_626"/>
          <p:cNvSpPr/>
          <p:nvPr/>
        </p:nvSpPr>
        <p:spPr>
          <a:xfrm>
            <a:off x="6629400" y="2560320"/>
            <a:ext cx="1097400" cy="347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460K</a:t>
            </a:r>
            <a:endParaRPr sz="1050" b="0" i="0" u="none" strike="noStrike" cap="none">
              <a:solidFill>
                <a:srgbClr val="000000"/>
              </a:solidFill>
              <a:latin typeface="Calibri"/>
              <a:ea typeface="Calibri"/>
              <a:cs typeface="Calibri"/>
              <a:sym typeface="Calibri"/>
            </a:endParaRPr>
          </a:p>
        </p:txBody>
      </p:sp>
      <p:sp>
        <p:nvSpPr>
          <p:cNvPr id="299" name="Google Shape;299;g3f62c33a15b_0_626"/>
          <p:cNvSpPr/>
          <p:nvPr/>
        </p:nvSpPr>
        <p:spPr>
          <a:xfrm>
            <a:off x="7726680" y="2560320"/>
            <a:ext cx="914400" cy="347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100M</a:t>
            </a:r>
            <a:endParaRPr sz="1050" b="0" i="0" u="none" strike="noStrike" cap="none">
              <a:solidFill>
                <a:srgbClr val="000000"/>
              </a:solidFill>
              <a:latin typeface="Calibri"/>
              <a:ea typeface="Calibri"/>
              <a:cs typeface="Calibri"/>
              <a:sym typeface="Calibri"/>
            </a:endParaRPr>
          </a:p>
        </p:txBody>
      </p:sp>
      <p:sp>
        <p:nvSpPr>
          <p:cNvPr id="300" name="Google Shape;300;g3f62c33a15b_0_626"/>
          <p:cNvSpPr/>
          <p:nvPr/>
        </p:nvSpPr>
        <p:spPr>
          <a:xfrm>
            <a:off x="5669280" y="2907792"/>
            <a:ext cx="960000" cy="347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200K</a:t>
            </a:r>
            <a:endParaRPr sz="1050" b="0" i="0" u="none" strike="noStrike" cap="none">
              <a:solidFill>
                <a:srgbClr val="000000"/>
              </a:solidFill>
              <a:latin typeface="Calibri"/>
              <a:ea typeface="Calibri"/>
              <a:cs typeface="Calibri"/>
              <a:sym typeface="Calibri"/>
            </a:endParaRPr>
          </a:p>
        </p:txBody>
      </p:sp>
      <p:sp>
        <p:nvSpPr>
          <p:cNvPr id="301" name="Google Shape;301;g3f62c33a15b_0_626"/>
          <p:cNvSpPr/>
          <p:nvPr/>
        </p:nvSpPr>
        <p:spPr>
          <a:xfrm>
            <a:off x="6629400" y="2907792"/>
            <a:ext cx="1097400" cy="347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250K</a:t>
            </a:r>
            <a:endParaRPr sz="1050" b="0" i="0" u="none" strike="noStrike" cap="none">
              <a:solidFill>
                <a:srgbClr val="000000"/>
              </a:solidFill>
              <a:latin typeface="Calibri"/>
              <a:ea typeface="Calibri"/>
              <a:cs typeface="Calibri"/>
              <a:sym typeface="Calibri"/>
            </a:endParaRPr>
          </a:p>
        </p:txBody>
      </p:sp>
      <p:sp>
        <p:nvSpPr>
          <p:cNvPr id="302" name="Google Shape;302;g3f62c33a15b_0_626"/>
          <p:cNvSpPr/>
          <p:nvPr/>
        </p:nvSpPr>
        <p:spPr>
          <a:xfrm>
            <a:off x="7726680" y="2907792"/>
            <a:ext cx="914400" cy="347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2500M</a:t>
            </a:r>
            <a:endParaRPr sz="1050" b="0" i="0" u="none" strike="noStrike" cap="none">
              <a:solidFill>
                <a:srgbClr val="000000"/>
              </a:solidFill>
              <a:latin typeface="Calibri"/>
              <a:ea typeface="Calibri"/>
              <a:cs typeface="Calibri"/>
              <a:sym typeface="Calibri"/>
            </a:endParaRPr>
          </a:p>
        </p:txBody>
      </p:sp>
      <p:sp>
        <p:nvSpPr>
          <p:cNvPr id="303" name="Google Shape;303;g3f62c33a15b_0_626"/>
          <p:cNvSpPr/>
          <p:nvPr/>
        </p:nvSpPr>
        <p:spPr>
          <a:xfrm>
            <a:off x="5669280" y="3319272"/>
            <a:ext cx="3063300" cy="658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MSE  =  (400M + 100M + 2500M) / 3</a:t>
            </a:r>
            <a:endParaRPr sz="11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        ≈  1,000M  (penalises the 50K miss most!)</a:t>
            </a:r>
            <a:endParaRPr sz="1100" b="0" i="0" u="none" strike="noStrike" cap="none">
              <a:solidFill>
                <a:srgbClr val="000000"/>
              </a:solidFill>
              <a:latin typeface="Calibri"/>
              <a:ea typeface="Calibri"/>
              <a:cs typeface="Calibri"/>
              <a:sym typeface="Calibri"/>
            </a:endParaRPr>
          </a:p>
        </p:txBody>
      </p:sp>
      <p:sp>
        <p:nvSpPr>
          <p:cNvPr id="304" name="Google Shape;304;g3f62c33a15b_0_626"/>
          <p:cNvSpPr/>
          <p:nvPr/>
        </p:nvSpPr>
        <p:spPr>
          <a:xfrm>
            <a:off x="5669280" y="4069080"/>
            <a:ext cx="3063300" cy="658500"/>
          </a:xfrm>
          <a:prstGeom prst="roundRect">
            <a:avLst>
              <a:gd name="adj" fmla="val 11111"/>
            </a:avLst>
          </a:prstGeom>
          <a:solidFill>
            <a:srgbClr val="E3F2FD"/>
          </a:solidFill>
          <a:ln w="15225" cap="flat" cmpd="sng">
            <a:solidFill>
              <a:srgbClr val="1565C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g3f62c33a15b_0_626"/>
          <p:cNvSpPr/>
          <p:nvPr/>
        </p:nvSpPr>
        <p:spPr>
          <a:xfrm>
            <a:off x="5760720" y="4105656"/>
            <a:ext cx="2880300" cy="585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565C0"/>
              </a:buClr>
              <a:buSzPts val="1150"/>
              <a:buFont typeface="Calibri"/>
              <a:buNone/>
            </a:pPr>
            <a:r>
              <a:rPr lang="en" sz="1150" b="1" i="0" u="none" strike="noStrike" cap="none">
                <a:solidFill>
                  <a:srgbClr val="1565C0"/>
                </a:solidFill>
                <a:latin typeface="Calibri"/>
                <a:ea typeface="Calibri"/>
                <a:cs typeface="Calibri"/>
                <a:sym typeface="Calibri"/>
              </a:rPr>
              <a:t>✔  Use when: output is a continuous</a:t>
            </a:r>
            <a:endParaRPr sz="115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1565C0"/>
              </a:buClr>
              <a:buSzPts val="1150"/>
              <a:buFont typeface="Calibri"/>
              <a:buNone/>
            </a:pPr>
            <a:r>
              <a:rPr lang="en" sz="1150" b="1" i="0" u="none" strike="noStrike" cap="none">
                <a:solidFill>
                  <a:srgbClr val="1565C0"/>
                </a:solidFill>
                <a:latin typeface="Calibri"/>
                <a:ea typeface="Calibri"/>
                <a:cs typeface="Calibri"/>
                <a:sym typeface="Calibri"/>
              </a:rPr>
              <a:t>    number (regression problems)</a:t>
            </a:r>
            <a:endParaRPr sz="1150" b="0" i="0" u="none" strike="noStrike" cap="none">
              <a:solidFill>
                <a:srgbClr val="000000"/>
              </a:solidFill>
              <a:latin typeface="Calibri"/>
              <a:ea typeface="Calibri"/>
              <a:cs typeface="Calibri"/>
              <a:sym typeface="Calibri"/>
            </a:endParaRPr>
          </a:p>
        </p:txBody>
      </p:sp>
      <p:sp>
        <p:nvSpPr>
          <p:cNvPr id="306" name="Google Shape;306;g3f62c33a15b_0_626"/>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0"/>
        <p:cNvGrpSpPr/>
        <p:nvPr/>
      </p:nvGrpSpPr>
      <p:grpSpPr>
        <a:xfrm>
          <a:off x="0" y="0"/>
          <a:ext cx="0" cy="0"/>
          <a:chOff x="0" y="0"/>
          <a:chExt cx="0" cy="0"/>
        </a:xfrm>
      </p:grpSpPr>
      <p:pic>
        <p:nvPicPr>
          <p:cNvPr id="311" name="Google Shape;311;g3f62c33a15b_0_662"/>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312" name="Google Shape;312;g3f62c33a15b_0_662"/>
          <p:cNvSpPr/>
          <p:nvPr/>
        </p:nvSpPr>
        <p:spPr>
          <a:xfrm>
            <a:off x="365760" y="91440"/>
            <a:ext cx="7863900" cy="658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A237E"/>
              </a:buClr>
              <a:buSzPts val="3000"/>
              <a:buFont typeface="Calibri"/>
              <a:buNone/>
            </a:pPr>
            <a:r>
              <a:rPr lang="en" sz="3000" b="1" i="0" u="none" strike="noStrike" cap="none">
                <a:solidFill>
                  <a:srgbClr val="1A237E"/>
                </a:solidFill>
                <a:latin typeface="Calibri"/>
                <a:ea typeface="Calibri"/>
                <a:cs typeface="Calibri"/>
                <a:sym typeface="Calibri"/>
              </a:rPr>
              <a:t>Loss Function 2 — Binary Cross-Entropy (BCE)</a:t>
            </a:r>
            <a:endParaRPr sz="3000" b="0" i="0" u="none" strike="noStrike" cap="none">
              <a:solidFill>
                <a:srgbClr val="000000"/>
              </a:solidFill>
              <a:latin typeface="Calibri"/>
              <a:ea typeface="Calibri"/>
              <a:cs typeface="Calibri"/>
              <a:sym typeface="Calibri"/>
            </a:endParaRPr>
          </a:p>
        </p:txBody>
      </p:sp>
      <p:sp>
        <p:nvSpPr>
          <p:cNvPr id="313" name="Google Shape;313;g3f62c33a15b_0_662"/>
          <p:cNvSpPr/>
          <p:nvPr/>
        </p:nvSpPr>
        <p:spPr>
          <a:xfrm>
            <a:off x="274320" y="914400"/>
            <a:ext cx="5074800" cy="3977700"/>
          </a:xfrm>
          <a:prstGeom prst="rect">
            <a:avLst/>
          </a:prstGeom>
          <a:solidFill>
            <a:srgbClr val="E8F5E9"/>
          </a:solidFill>
          <a:ln w="12700" cap="flat" cmpd="sng">
            <a:solidFill>
              <a:srgbClr val="A5D6A7"/>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 name="Google Shape;314;g3f62c33a15b_0_662"/>
          <p:cNvSpPr/>
          <p:nvPr/>
        </p:nvSpPr>
        <p:spPr>
          <a:xfrm>
            <a:off x="274320" y="914400"/>
            <a:ext cx="5074800" cy="438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 sz="1600" b="1" i="0" u="none" strike="noStrike" cap="none">
                <a:solidFill>
                  <a:schemeClr val="dk1"/>
                </a:solidFill>
                <a:latin typeface="Calibri"/>
                <a:ea typeface="Calibri"/>
                <a:cs typeface="Calibri"/>
                <a:sym typeface="Calibri"/>
              </a:rPr>
              <a:t>Binary Cross-Entropy  —  2-Class Classification</a:t>
            </a:r>
            <a:endParaRPr sz="1600" b="0" i="0" u="none" strike="noStrike" cap="none">
              <a:solidFill>
                <a:schemeClr val="dk1"/>
              </a:solidFill>
              <a:latin typeface="Calibri"/>
              <a:ea typeface="Calibri"/>
              <a:cs typeface="Calibri"/>
              <a:sym typeface="Calibri"/>
            </a:endParaRPr>
          </a:p>
        </p:txBody>
      </p:sp>
      <p:sp>
        <p:nvSpPr>
          <p:cNvPr id="315" name="Google Shape;315;g3f62c33a15b_0_662"/>
          <p:cNvSpPr/>
          <p:nvPr/>
        </p:nvSpPr>
        <p:spPr>
          <a:xfrm>
            <a:off x="411480" y="1444752"/>
            <a:ext cx="4800600" cy="530400"/>
          </a:xfrm>
          <a:prstGeom prst="rect">
            <a:avLst/>
          </a:prstGeom>
          <a:solidFill>
            <a:srgbClr val="FFFFFF"/>
          </a:solidFill>
          <a:ln w="15225"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g3f62c33a15b_0_662"/>
          <p:cNvSpPr/>
          <p:nvPr/>
        </p:nvSpPr>
        <p:spPr>
          <a:xfrm>
            <a:off x="521208" y="1444752"/>
            <a:ext cx="4581000" cy="530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E7D32"/>
              </a:buClr>
              <a:buSzPts val="1300"/>
              <a:buFont typeface="Consolas"/>
              <a:buNone/>
            </a:pPr>
            <a:r>
              <a:rPr lang="en" sz="1300" b="1" i="0" u="none" strike="noStrike" cap="none">
                <a:solidFill>
                  <a:srgbClr val="2E7D32"/>
                </a:solidFill>
                <a:latin typeface="Consolas"/>
                <a:ea typeface="Consolas"/>
                <a:cs typeface="Consolas"/>
                <a:sym typeface="Consolas"/>
              </a:rPr>
              <a:t>BCE = −(1/n) × Σ [yᵢ log(ŷᵢ) + (1−yᵢ) log(1−ŷᵢ)]</a:t>
            </a:r>
            <a:endParaRPr sz="1300" b="0" i="0" u="none" strike="noStrike" cap="none">
              <a:solidFill>
                <a:srgbClr val="000000"/>
              </a:solidFill>
              <a:latin typeface="Calibri"/>
              <a:ea typeface="Calibri"/>
              <a:cs typeface="Calibri"/>
              <a:sym typeface="Calibri"/>
            </a:endParaRPr>
          </a:p>
        </p:txBody>
      </p:sp>
      <p:sp>
        <p:nvSpPr>
          <p:cNvPr id="317" name="Google Shape;317;g3f62c33a15b_0_662"/>
          <p:cNvSpPr/>
          <p:nvPr/>
        </p:nvSpPr>
        <p:spPr>
          <a:xfrm>
            <a:off x="457200" y="2066544"/>
            <a:ext cx="466350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E7D32"/>
              </a:buClr>
              <a:buSzPts val="1150"/>
              <a:buFont typeface="Calibri"/>
              <a:buNone/>
            </a:pPr>
            <a:r>
              <a:rPr lang="en" sz="1150" b="1" i="0" u="none" strike="noStrike" cap="none">
                <a:solidFill>
                  <a:srgbClr val="2E7D32"/>
                </a:solidFill>
                <a:latin typeface="Calibri"/>
                <a:ea typeface="Calibri"/>
                <a:cs typeface="Calibri"/>
                <a:sym typeface="Calibri"/>
              </a:rPr>
              <a:t>Where:</a:t>
            </a:r>
            <a:endParaRPr sz="1150" b="0" i="0" u="none" strike="noStrike" cap="none">
              <a:solidFill>
                <a:srgbClr val="000000"/>
              </a:solidFill>
              <a:latin typeface="Calibri"/>
              <a:ea typeface="Calibri"/>
              <a:cs typeface="Calibri"/>
              <a:sym typeface="Calibri"/>
            </a:endParaRPr>
          </a:p>
        </p:txBody>
      </p:sp>
      <p:sp>
        <p:nvSpPr>
          <p:cNvPr id="318" name="Google Shape;318;g3f62c33a15b_0_662"/>
          <p:cNvSpPr/>
          <p:nvPr/>
        </p:nvSpPr>
        <p:spPr>
          <a:xfrm>
            <a:off x="548640" y="2304288"/>
            <a:ext cx="45720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onsolas"/>
              <a:buNone/>
            </a:pPr>
            <a:r>
              <a:rPr lang="en" sz="1200" b="0" i="0" u="none" strike="noStrike" cap="none">
                <a:solidFill>
                  <a:srgbClr val="37474F"/>
                </a:solidFill>
                <a:latin typeface="Consolas"/>
                <a:ea typeface="Consolas"/>
                <a:cs typeface="Consolas"/>
                <a:sym typeface="Consolas"/>
              </a:rPr>
              <a:t>yᵢ  =  true label  (0 or 1)</a:t>
            </a:r>
            <a:endParaRPr sz="1200" b="0" i="0" u="none" strike="noStrike" cap="none">
              <a:solidFill>
                <a:srgbClr val="000000"/>
              </a:solidFill>
              <a:latin typeface="Calibri"/>
              <a:ea typeface="Calibri"/>
              <a:cs typeface="Calibri"/>
              <a:sym typeface="Calibri"/>
            </a:endParaRPr>
          </a:p>
        </p:txBody>
      </p:sp>
      <p:sp>
        <p:nvSpPr>
          <p:cNvPr id="319" name="Google Shape;319;g3f62c33a15b_0_662"/>
          <p:cNvSpPr/>
          <p:nvPr/>
        </p:nvSpPr>
        <p:spPr>
          <a:xfrm>
            <a:off x="548640" y="2578608"/>
            <a:ext cx="45720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onsolas"/>
              <a:buNone/>
            </a:pPr>
            <a:r>
              <a:rPr lang="en" sz="1200" b="0" i="0" u="none" strike="noStrike" cap="none">
                <a:solidFill>
                  <a:srgbClr val="37474F"/>
                </a:solidFill>
                <a:latin typeface="Consolas"/>
                <a:ea typeface="Consolas"/>
                <a:cs typeface="Consolas"/>
                <a:sym typeface="Consolas"/>
              </a:rPr>
              <a:t>ŷᵢ  =  predicted probability  (0 to 1)</a:t>
            </a:r>
            <a:endParaRPr sz="1200" b="0" i="0" u="none" strike="noStrike" cap="none">
              <a:solidFill>
                <a:srgbClr val="000000"/>
              </a:solidFill>
              <a:latin typeface="Calibri"/>
              <a:ea typeface="Calibri"/>
              <a:cs typeface="Calibri"/>
              <a:sym typeface="Calibri"/>
            </a:endParaRPr>
          </a:p>
        </p:txBody>
      </p:sp>
      <p:sp>
        <p:nvSpPr>
          <p:cNvPr id="320" name="Google Shape;320;g3f62c33a15b_0_662"/>
          <p:cNvSpPr/>
          <p:nvPr/>
        </p:nvSpPr>
        <p:spPr>
          <a:xfrm>
            <a:off x="548640" y="2852928"/>
            <a:ext cx="45720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onsolas"/>
              <a:buNone/>
            </a:pPr>
            <a:r>
              <a:rPr lang="en" sz="1200" b="0" i="0" u="none" strike="noStrike" cap="none">
                <a:solidFill>
                  <a:srgbClr val="37474F"/>
                </a:solidFill>
                <a:latin typeface="Consolas"/>
                <a:ea typeface="Consolas"/>
                <a:cs typeface="Consolas"/>
                <a:sym typeface="Consolas"/>
              </a:rPr>
              <a:t>log =  natural logarithm</a:t>
            </a:r>
            <a:endParaRPr sz="1200" b="0" i="0" u="none" strike="noStrike" cap="none">
              <a:solidFill>
                <a:srgbClr val="000000"/>
              </a:solidFill>
              <a:latin typeface="Calibri"/>
              <a:ea typeface="Calibri"/>
              <a:cs typeface="Calibri"/>
              <a:sym typeface="Calibri"/>
            </a:endParaRPr>
          </a:p>
        </p:txBody>
      </p:sp>
      <p:sp>
        <p:nvSpPr>
          <p:cNvPr id="321" name="Google Shape;321;g3f62c33a15b_0_662"/>
          <p:cNvSpPr/>
          <p:nvPr/>
        </p:nvSpPr>
        <p:spPr>
          <a:xfrm>
            <a:off x="457200" y="3218688"/>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E7D32"/>
              </a:buClr>
              <a:buSzPts val="1200"/>
              <a:buFont typeface="Calibri"/>
              <a:buNone/>
            </a:pPr>
            <a:r>
              <a:rPr lang="en" sz="1200" b="1" i="0" u="none" strike="noStrike" cap="none">
                <a:solidFill>
                  <a:srgbClr val="2E7D32"/>
                </a:solidFill>
                <a:latin typeface="Calibri"/>
                <a:ea typeface="Calibri"/>
                <a:cs typeface="Calibri"/>
                <a:sym typeface="Calibri"/>
              </a:rPr>
              <a:t>Key Properties</a:t>
            </a:r>
            <a:endParaRPr sz="1200" b="0" i="0" u="none" strike="noStrike" cap="none">
              <a:solidFill>
                <a:srgbClr val="000000"/>
              </a:solidFill>
              <a:latin typeface="Calibri"/>
              <a:ea typeface="Calibri"/>
              <a:cs typeface="Calibri"/>
              <a:sym typeface="Calibri"/>
            </a:endParaRPr>
          </a:p>
        </p:txBody>
      </p:sp>
      <p:sp>
        <p:nvSpPr>
          <p:cNvPr id="322" name="Google Shape;322;g3f62c33a15b_0_662"/>
          <p:cNvSpPr/>
          <p:nvPr/>
        </p:nvSpPr>
        <p:spPr>
          <a:xfrm>
            <a:off x="548640" y="3493008"/>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 Uses log to heavily penalise confident wrong predictions</a:t>
            </a:r>
            <a:endParaRPr sz="1200" b="0" i="0" u="none" strike="noStrike" cap="none">
              <a:solidFill>
                <a:srgbClr val="000000"/>
              </a:solidFill>
              <a:latin typeface="Calibri"/>
              <a:ea typeface="Calibri"/>
              <a:cs typeface="Calibri"/>
              <a:sym typeface="Calibri"/>
            </a:endParaRPr>
          </a:p>
        </p:txBody>
      </p:sp>
      <p:sp>
        <p:nvSpPr>
          <p:cNvPr id="323" name="Google Shape;323;g3f62c33a15b_0_662"/>
          <p:cNvSpPr/>
          <p:nvPr/>
        </p:nvSpPr>
        <p:spPr>
          <a:xfrm>
            <a:off x="548640" y="3767328"/>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 Output layer uses Sigmoid (squashes output to 0–1)</a:t>
            </a:r>
            <a:endParaRPr sz="1200" b="0" i="0" u="none" strike="noStrike" cap="none">
              <a:solidFill>
                <a:srgbClr val="000000"/>
              </a:solidFill>
              <a:latin typeface="Calibri"/>
              <a:ea typeface="Calibri"/>
              <a:cs typeface="Calibri"/>
              <a:sym typeface="Calibri"/>
            </a:endParaRPr>
          </a:p>
        </p:txBody>
      </p:sp>
      <p:sp>
        <p:nvSpPr>
          <p:cNvPr id="324" name="Google Shape;324;g3f62c33a15b_0_662"/>
          <p:cNvSpPr/>
          <p:nvPr/>
        </p:nvSpPr>
        <p:spPr>
          <a:xfrm>
            <a:off x="548640" y="4041648"/>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 Perfect predictions → BCE = 0</a:t>
            </a:r>
            <a:endParaRPr sz="1200" b="0" i="0" u="none" strike="noStrike" cap="none">
              <a:solidFill>
                <a:srgbClr val="000000"/>
              </a:solidFill>
              <a:latin typeface="Calibri"/>
              <a:ea typeface="Calibri"/>
              <a:cs typeface="Calibri"/>
              <a:sym typeface="Calibri"/>
            </a:endParaRPr>
          </a:p>
        </p:txBody>
      </p:sp>
      <p:sp>
        <p:nvSpPr>
          <p:cNvPr id="325" name="Google Shape;325;g3f62c33a15b_0_662"/>
          <p:cNvSpPr/>
          <p:nvPr/>
        </p:nvSpPr>
        <p:spPr>
          <a:xfrm>
            <a:off x="548640" y="4315968"/>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 Sensitive to class imbalance</a:t>
            </a:r>
            <a:endParaRPr sz="1200" b="0" i="0" u="none" strike="noStrike" cap="none">
              <a:solidFill>
                <a:srgbClr val="000000"/>
              </a:solidFill>
              <a:latin typeface="Calibri"/>
              <a:ea typeface="Calibri"/>
              <a:cs typeface="Calibri"/>
              <a:sym typeface="Calibri"/>
            </a:endParaRPr>
          </a:p>
        </p:txBody>
      </p:sp>
      <p:sp>
        <p:nvSpPr>
          <p:cNvPr id="326" name="Google Shape;326;g3f62c33a15b_0_662"/>
          <p:cNvSpPr/>
          <p:nvPr/>
        </p:nvSpPr>
        <p:spPr>
          <a:xfrm>
            <a:off x="5532120" y="914400"/>
            <a:ext cx="3337500" cy="3977700"/>
          </a:xfrm>
          <a:prstGeom prst="rect">
            <a:avLst/>
          </a:prstGeom>
          <a:solidFill>
            <a:srgbClr val="F5F5F5"/>
          </a:solidFill>
          <a:ln w="12700" cap="flat" cmpd="sng">
            <a:solidFill>
              <a:srgbClr val="BDBDBD"/>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g3f62c33a15b_0_662"/>
          <p:cNvSpPr/>
          <p:nvPr/>
        </p:nvSpPr>
        <p:spPr>
          <a:xfrm>
            <a:off x="5532120" y="914400"/>
            <a:ext cx="3337500" cy="438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 sz="1600" b="1" i="0" u="none" strike="noStrike" cap="none">
                <a:solidFill>
                  <a:schemeClr val="dk1"/>
                </a:solidFill>
                <a:latin typeface="Calibri"/>
                <a:ea typeface="Calibri"/>
                <a:cs typeface="Calibri"/>
                <a:sym typeface="Calibri"/>
              </a:rPr>
              <a:t>Intuition</a:t>
            </a:r>
            <a:endParaRPr sz="1600" b="0" i="0" u="none" strike="noStrike" cap="none">
              <a:solidFill>
                <a:schemeClr val="dk1"/>
              </a:solidFill>
              <a:latin typeface="Calibri"/>
              <a:ea typeface="Calibri"/>
              <a:cs typeface="Calibri"/>
              <a:sym typeface="Calibri"/>
            </a:endParaRPr>
          </a:p>
        </p:txBody>
      </p:sp>
      <p:sp>
        <p:nvSpPr>
          <p:cNvPr id="328" name="Google Shape;328;g3f62c33a15b_0_662"/>
          <p:cNvSpPr/>
          <p:nvPr/>
        </p:nvSpPr>
        <p:spPr>
          <a:xfrm>
            <a:off x="5669280" y="1435608"/>
            <a:ext cx="30633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1" u="none" strike="noStrike" cap="none">
                <a:solidFill>
                  <a:srgbClr val="37474F"/>
                </a:solidFill>
                <a:latin typeface="Calibri"/>
                <a:ea typeface="Calibri"/>
                <a:cs typeface="Calibri"/>
                <a:sym typeface="Calibri"/>
              </a:rPr>
              <a:t>Spam classifier example:</a:t>
            </a:r>
            <a:endParaRPr sz="1200" b="0" i="0" u="none" strike="noStrike" cap="none">
              <a:solidFill>
                <a:srgbClr val="000000"/>
              </a:solidFill>
              <a:latin typeface="Calibri"/>
              <a:ea typeface="Calibri"/>
              <a:cs typeface="Calibri"/>
              <a:sym typeface="Calibri"/>
            </a:endParaRPr>
          </a:p>
        </p:txBody>
      </p:sp>
      <p:sp>
        <p:nvSpPr>
          <p:cNvPr id="329" name="Google Shape;329;g3f62c33a15b_0_662"/>
          <p:cNvSpPr/>
          <p:nvPr/>
        </p:nvSpPr>
        <p:spPr>
          <a:xfrm>
            <a:off x="5669280" y="1801368"/>
            <a:ext cx="3063300" cy="960000"/>
          </a:xfrm>
          <a:prstGeom prst="rect">
            <a:avLst/>
          </a:prstGeom>
          <a:solidFill>
            <a:srgbClr val="F1F8E9"/>
          </a:solidFill>
          <a:ln w="10150" cap="flat" cmpd="sng">
            <a:solidFill>
              <a:srgbClr val="A5D6A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g3f62c33a15b_0_662"/>
          <p:cNvSpPr/>
          <p:nvPr/>
        </p:nvSpPr>
        <p:spPr>
          <a:xfrm>
            <a:off x="5760720" y="1856232"/>
            <a:ext cx="28347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E7D32"/>
              </a:buClr>
              <a:buSzPts val="1100"/>
              <a:buFont typeface="Calibri"/>
              <a:buNone/>
            </a:pPr>
            <a:r>
              <a:rPr lang="en" sz="1100" b="1" i="0" u="none" strike="noStrike" cap="none">
                <a:solidFill>
                  <a:srgbClr val="2E7D32"/>
                </a:solidFill>
                <a:latin typeface="Calibri"/>
                <a:ea typeface="Calibri"/>
                <a:cs typeface="Calibri"/>
                <a:sym typeface="Calibri"/>
              </a:rPr>
              <a:t>Correct &amp; Confident</a:t>
            </a:r>
            <a:endParaRPr sz="1100" b="0" i="0" u="none" strike="noStrike" cap="none">
              <a:solidFill>
                <a:srgbClr val="000000"/>
              </a:solidFill>
              <a:latin typeface="Calibri"/>
              <a:ea typeface="Calibri"/>
              <a:cs typeface="Calibri"/>
              <a:sym typeface="Calibri"/>
            </a:endParaRPr>
          </a:p>
        </p:txBody>
      </p:sp>
      <p:sp>
        <p:nvSpPr>
          <p:cNvPr id="331" name="Google Shape;331;g3f62c33a15b_0_662"/>
          <p:cNvSpPr/>
          <p:nvPr/>
        </p:nvSpPr>
        <p:spPr>
          <a:xfrm>
            <a:off x="5760720" y="2093976"/>
            <a:ext cx="2834700" cy="640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onsolas"/>
              <a:buNone/>
            </a:pPr>
            <a:r>
              <a:rPr lang="en" sz="1100" b="0" i="0" u="none" strike="noStrike" cap="none">
                <a:solidFill>
                  <a:srgbClr val="37474F"/>
                </a:solidFill>
                <a:latin typeface="Consolas"/>
                <a:ea typeface="Consolas"/>
                <a:cs typeface="Consolas"/>
                <a:sym typeface="Consolas"/>
              </a:rPr>
              <a:t>True label: Spam (y=1)</a:t>
            </a:r>
            <a:endParaRPr sz="11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37474F"/>
              </a:buClr>
              <a:buSzPts val="1100"/>
              <a:buFont typeface="Consolas"/>
              <a:buNone/>
            </a:pPr>
            <a:r>
              <a:rPr lang="en" sz="1100" b="0" i="0" u="none" strike="noStrike" cap="none">
                <a:solidFill>
                  <a:srgbClr val="37474F"/>
                </a:solidFill>
                <a:latin typeface="Consolas"/>
                <a:ea typeface="Consolas"/>
                <a:cs typeface="Consolas"/>
                <a:sym typeface="Consolas"/>
              </a:rPr>
              <a:t>Predicted:  0.95</a:t>
            </a:r>
            <a:endParaRPr sz="11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37474F"/>
              </a:buClr>
              <a:buSzPts val="1100"/>
              <a:buFont typeface="Consolas"/>
              <a:buNone/>
            </a:pPr>
            <a:r>
              <a:rPr lang="en" sz="1100" b="0" i="0" u="none" strike="noStrike" cap="none">
                <a:solidFill>
                  <a:srgbClr val="37474F"/>
                </a:solidFill>
                <a:latin typeface="Consolas"/>
                <a:ea typeface="Consolas"/>
                <a:cs typeface="Consolas"/>
                <a:sym typeface="Consolas"/>
              </a:rPr>
              <a:t>Loss:       Very low ≈ 0.05</a:t>
            </a:r>
            <a:endParaRPr sz="1100" b="0" i="0" u="none" strike="noStrike" cap="none">
              <a:solidFill>
                <a:srgbClr val="000000"/>
              </a:solidFill>
              <a:latin typeface="Calibri"/>
              <a:ea typeface="Calibri"/>
              <a:cs typeface="Calibri"/>
              <a:sym typeface="Calibri"/>
            </a:endParaRPr>
          </a:p>
        </p:txBody>
      </p:sp>
      <p:sp>
        <p:nvSpPr>
          <p:cNvPr id="332" name="Google Shape;332;g3f62c33a15b_0_662"/>
          <p:cNvSpPr/>
          <p:nvPr/>
        </p:nvSpPr>
        <p:spPr>
          <a:xfrm>
            <a:off x="5669280" y="2834640"/>
            <a:ext cx="3063300" cy="960000"/>
          </a:xfrm>
          <a:prstGeom prst="rect">
            <a:avLst/>
          </a:prstGeom>
          <a:solidFill>
            <a:srgbClr val="FFEBEE"/>
          </a:solidFill>
          <a:ln w="10150" cap="flat" cmpd="sng">
            <a:solidFill>
              <a:srgbClr val="EF9A9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g3f62c33a15b_0_662"/>
          <p:cNvSpPr/>
          <p:nvPr/>
        </p:nvSpPr>
        <p:spPr>
          <a:xfrm>
            <a:off x="5760720" y="2889504"/>
            <a:ext cx="28347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C62828"/>
              </a:buClr>
              <a:buSzPts val="1100"/>
              <a:buFont typeface="Calibri"/>
              <a:buNone/>
            </a:pPr>
            <a:r>
              <a:rPr lang="en" sz="1100" b="1" i="0" u="none" strike="noStrike" cap="none">
                <a:solidFill>
                  <a:srgbClr val="C62828"/>
                </a:solidFill>
                <a:latin typeface="Calibri"/>
                <a:ea typeface="Calibri"/>
                <a:cs typeface="Calibri"/>
                <a:sym typeface="Calibri"/>
              </a:rPr>
              <a:t>Wrong &amp; Confident</a:t>
            </a:r>
            <a:endParaRPr sz="1100" b="0" i="0" u="none" strike="noStrike" cap="none">
              <a:solidFill>
                <a:srgbClr val="000000"/>
              </a:solidFill>
              <a:latin typeface="Calibri"/>
              <a:ea typeface="Calibri"/>
              <a:cs typeface="Calibri"/>
              <a:sym typeface="Calibri"/>
            </a:endParaRPr>
          </a:p>
        </p:txBody>
      </p:sp>
      <p:sp>
        <p:nvSpPr>
          <p:cNvPr id="334" name="Google Shape;334;g3f62c33a15b_0_662"/>
          <p:cNvSpPr/>
          <p:nvPr/>
        </p:nvSpPr>
        <p:spPr>
          <a:xfrm>
            <a:off x="5760720" y="3127248"/>
            <a:ext cx="2834700" cy="640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onsolas"/>
              <a:buNone/>
            </a:pPr>
            <a:r>
              <a:rPr lang="en" sz="1100" b="0" i="0" u="none" strike="noStrike" cap="none">
                <a:solidFill>
                  <a:srgbClr val="37474F"/>
                </a:solidFill>
                <a:latin typeface="Consolas"/>
                <a:ea typeface="Consolas"/>
                <a:cs typeface="Consolas"/>
                <a:sym typeface="Consolas"/>
              </a:rPr>
              <a:t>True label: Spam (y=1)</a:t>
            </a:r>
            <a:endParaRPr sz="11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37474F"/>
              </a:buClr>
              <a:buSzPts val="1100"/>
              <a:buFont typeface="Consolas"/>
              <a:buNone/>
            </a:pPr>
            <a:r>
              <a:rPr lang="en" sz="1100" b="0" i="0" u="none" strike="noStrike" cap="none">
                <a:solidFill>
                  <a:srgbClr val="37474F"/>
                </a:solidFill>
                <a:latin typeface="Consolas"/>
                <a:ea typeface="Consolas"/>
                <a:cs typeface="Consolas"/>
                <a:sym typeface="Consolas"/>
              </a:rPr>
              <a:t>Predicted:  0.05</a:t>
            </a:r>
            <a:endParaRPr sz="11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37474F"/>
              </a:buClr>
              <a:buSzPts val="1100"/>
              <a:buFont typeface="Consolas"/>
              <a:buNone/>
            </a:pPr>
            <a:r>
              <a:rPr lang="en" sz="1100" b="0" i="0" u="none" strike="noStrike" cap="none">
                <a:solidFill>
                  <a:srgbClr val="37474F"/>
                </a:solidFill>
                <a:latin typeface="Consolas"/>
                <a:ea typeface="Consolas"/>
                <a:cs typeface="Consolas"/>
                <a:sym typeface="Consolas"/>
              </a:rPr>
              <a:t>Loss:       Very HIGH ≈ 3.0</a:t>
            </a:r>
            <a:endParaRPr sz="1100" b="0" i="0" u="none" strike="noStrike" cap="none">
              <a:solidFill>
                <a:srgbClr val="000000"/>
              </a:solidFill>
              <a:latin typeface="Calibri"/>
              <a:ea typeface="Calibri"/>
              <a:cs typeface="Calibri"/>
              <a:sym typeface="Calibri"/>
            </a:endParaRPr>
          </a:p>
        </p:txBody>
      </p:sp>
      <p:sp>
        <p:nvSpPr>
          <p:cNvPr id="335" name="Google Shape;335;g3f62c33a15b_0_662"/>
          <p:cNvSpPr/>
          <p:nvPr/>
        </p:nvSpPr>
        <p:spPr>
          <a:xfrm>
            <a:off x="5669280" y="3813048"/>
            <a:ext cx="3063300" cy="621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1" u="none" strike="noStrike" cap="none">
                <a:solidFill>
                  <a:srgbClr val="37474F"/>
                </a:solidFill>
                <a:latin typeface="Calibri"/>
                <a:ea typeface="Calibri"/>
                <a:cs typeface="Calibri"/>
                <a:sym typeface="Calibri"/>
              </a:rPr>
              <a:t>BCE punishes confident mistakes far more than timid ones — this drives the model to be both accurate AND calibrated.</a:t>
            </a:r>
            <a:endParaRPr sz="1100" b="0" i="0" u="none" strike="noStrike" cap="none">
              <a:solidFill>
                <a:srgbClr val="000000"/>
              </a:solidFill>
              <a:latin typeface="Calibri"/>
              <a:ea typeface="Calibri"/>
              <a:cs typeface="Calibri"/>
              <a:sym typeface="Calibri"/>
            </a:endParaRPr>
          </a:p>
        </p:txBody>
      </p:sp>
      <p:sp>
        <p:nvSpPr>
          <p:cNvPr id="336" name="Google Shape;336;g3f62c33a15b_0_662"/>
          <p:cNvSpPr/>
          <p:nvPr/>
        </p:nvSpPr>
        <p:spPr>
          <a:xfrm>
            <a:off x="411480" y="4617720"/>
            <a:ext cx="8321100" cy="329100"/>
          </a:xfrm>
          <a:prstGeom prst="roundRect">
            <a:avLst>
              <a:gd name="adj" fmla="val 22222"/>
            </a:avLst>
          </a:prstGeom>
          <a:solidFill>
            <a:srgbClr val="E8F5E9"/>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g3f62c33a15b_0_662"/>
          <p:cNvSpPr/>
          <p:nvPr/>
        </p:nvSpPr>
        <p:spPr>
          <a:xfrm>
            <a:off x="548640" y="4636008"/>
            <a:ext cx="80466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E7D32"/>
              </a:buClr>
              <a:buSzPts val="1200"/>
              <a:buFont typeface="Calibri"/>
              <a:buNone/>
            </a:pPr>
            <a:r>
              <a:rPr lang="en" sz="1200" b="1" i="0" u="none" strike="noStrike" cap="none">
                <a:solidFill>
                  <a:srgbClr val="2E7D32"/>
                </a:solidFill>
                <a:latin typeface="Calibri"/>
                <a:ea typeface="Calibri"/>
                <a:cs typeface="Calibri"/>
                <a:sym typeface="Calibri"/>
              </a:rPr>
              <a:t>✔  Use when: binary outcome — spam/not spam, fraud/not fraud, malignant/benign</a:t>
            </a:r>
            <a:endParaRPr sz="1200" b="0" i="0" u="none" strike="noStrike" cap="none">
              <a:solidFill>
                <a:srgbClr val="000000"/>
              </a:solidFill>
              <a:latin typeface="Calibri"/>
              <a:ea typeface="Calibri"/>
              <a:cs typeface="Calibri"/>
              <a:sym typeface="Calibri"/>
            </a:endParaRPr>
          </a:p>
        </p:txBody>
      </p:sp>
      <p:sp>
        <p:nvSpPr>
          <p:cNvPr id="338" name="Google Shape;338;g3f62c33a15b_0_662"/>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2"/>
        <p:cNvGrpSpPr/>
        <p:nvPr/>
      </p:nvGrpSpPr>
      <p:grpSpPr>
        <a:xfrm>
          <a:off x="0" y="0"/>
          <a:ext cx="0" cy="0"/>
          <a:chOff x="0" y="0"/>
          <a:chExt cx="0" cy="0"/>
        </a:xfrm>
      </p:grpSpPr>
      <p:sp>
        <p:nvSpPr>
          <p:cNvPr id="343" name="Google Shape;343;g3f62c33a15b_0_692"/>
          <p:cNvSpPr/>
          <p:nvPr/>
        </p:nvSpPr>
        <p:spPr>
          <a:xfrm>
            <a:off x="274320" y="914400"/>
            <a:ext cx="5074800" cy="3977700"/>
          </a:xfrm>
          <a:prstGeom prst="rect">
            <a:avLst/>
          </a:prstGeom>
          <a:solidFill>
            <a:srgbClr val="F3E5F5"/>
          </a:solidFill>
          <a:ln w="12700" cap="flat" cmpd="sng">
            <a:solidFill>
              <a:srgbClr val="CE93D8"/>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44" name="Google Shape;344;g3f62c33a15b_0_692"/>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345" name="Google Shape;345;g3f62c33a15b_0_692"/>
          <p:cNvSpPr/>
          <p:nvPr/>
        </p:nvSpPr>
        <p:spPr>
          <a:xfrm>
            <a:off x="274325" y="91450"/>
            <a:ext cx="8229600" cy="658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A237E"/>
              </a:buClr>
              <a:buSzPts val="3000"/>
              <a:buFont typeface="Calibri"/>
              <a:buNone/>
            </a:pPr>
            <a:r>
              <a:rPr lang="en" sz="3000" b="1" i="0" u="none" strike="noStrike" cap="none">
                <a:solidFill>
                  <a:srgbClr val="1A237E"/>
                </a:solidFill>
                <a:latin typeface="Calibri"/>
                <a:ea typeface="Calibri"/>
                <a:cs typeface="Calibri"/>
                <a:sym typeface="Calibri"/>
              </a:rPr>
              <a:t>Loss Function 3 — Categorical Cross-Entropy (CCE)</a:t>
            </a:r>
            <a:endParaRPr sz="3000" b="0" i="0" u="none" strike="noStrike" cap="none">
              <a:solidFill>
                <a:srgbClr val="000000"/>
              </a:solidFill>
              <a:latin typeface="Calibri"/>
              <a:ea typeface="Calibri"/>
              <a:cs typeface="Calibri"/>
              <a:sym typeface="Calibri"/>
            </a:endParaRPr>
          </a:p>
        </p:txBody>
      </p:sp>
      <p:sp>
        <p:nvSpPr>
          <p:cNvPr id="346" name="Google Shape;346;g3f62c33a15b_0_692"/>
          <p:cNvSpPr/>
          <p:nvPr/>
        </p:nvSpPr>
        <p:spPr>
          <a:xfrm>
            <a:off x="274320" y="914400"/>
            <a:ext cx="5074800" cy="438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 sz="1600" b="1" i="0" u="none" strike="noStrike" cap="none">
                <a:solidFill>
                  <a:schemeClr val="dk1"/>
                </a:solidFill>
                <a:latin typeface="Calibri"/>
                <a:ea typeface="Calibri"/>
                <a:cs typeface="Calibri"/>
                <a:sym typeface="Calibri"/>
              </a:rPr>
              <a:t>Categorical Cross-Entropy  —  Multi-Class Tasks</a:t>
            </a:r>
            <a:endParaRPr sz="1600" b="0" i="0" u="none" strike="noStrike" cap="none">
              <a:solidFill>
                <a:schemeClr val="dk1"/>
              </a:solidFill>
              <a:latin typeface="Calibri"/>
              <a:ea typeface="Calibri"/>
              <a:cs typeface="Calibri"/>
              <a:sym typeface="Calibri"/>
            </a:endParaRPr>
          </a:p>
        </p:txBody>
      </p:sp>
      <p:sp>
        <p:nvSpPr>
          <p:cNvPr id="347" name="Google Shape;347;g3f62c33a15b_0_692"/>
          <p:cNvSpPr/>
          <p:nvPr/>
        </p:nvSpPr>
        <p:spPr>
          <a:xfrm>
            <a:off x="411480" y="1444752"/>
            <a:ext cx="4800600" cy="530400"/>
          </a:xfrm>
          <a:prstGeom prst="rect">
            <a:avLst/>
          </a:prstGeom>
          <a:solidFill>
            <a:srgbClr val="FFFFFF"/>
          </a:solidFill>
          <a:ln w="15225" cap="flat" cmpd="sng">
            <a:solidFill>
              <a:srgbClr val="6A1B9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g3f62c33a15b_0_692"/>
          <p:cNvSpPr/>
          <p:nvPr/>
        </p:nvSpPr>
        <p:spPr>
          <a:xfrm>
            <a:off x="521208" y="1444752"/>
            <a:ext cx="4581000" cy="530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A1B9A"/>
              </a:buClr>
              <a:buSzPts val="1300"/>
              <a:buFont typeface="Consolas"/>
              <a:buNone/>
            </a:pPr>
            <a:r>
              <a:rPr lang="en" sz="1300" b="1" i="0" u="none" strike="noStrike" cap="none">
                <a:solidFill>
                  <a:srgbClr val="6A1B9A"/>
                </a:solidFill>
                <a:latin typeface="Consolas"/>
                <a:ea typeface="Consolas"/>
                <a:cs typeface="Consolas"/>
                <a:sym typeface="Consolas"/>
              </a:rPr>
              <a:t>CCE = −(1/n) × Σᵢ Σc  yᵢ</a:t>
            </a:r>
            <a:r>
              <a:rPr lang="en" sz="900" b="1" i="0" u="none" strike="noStrike" cap="none">
                <a:solidFill>
                  <a:srgbClr val="6A1B9A"/>
                </a:solidFill>
                <a:latin typeface="Consolas"/>
                <a:ea typeface="Consolas"/>
                <a:cs typeface="Consolas"/>
                <a:sym typeface="Consolas"/>
              </a:rPr>
              <a:t>c</a:t>
            </a:r>
            <a:r>
              <a:rPr lang="en" sz="1300" b="1" i="0" u="none" strike="noStrike" cap="none">
                <a:solidFill>
                  <a:srgbClr val="6A1B9A"/>
                </a:solidFill>
                <a:latin typeface="Consolas"/>
                <a:ea typeface="Consolas"/>
                <a:cs typeface="Consolas"/>
                <a:sym typeface="Consolas"/>
              </a:rPr>
              <a:t> · log(ŷᵢ</a:t>
            </a:r>
            <a:r>
              <a:rPr lang="en" sz="900" b="1" i="0" u="none" strike="noStrike" cap="none">
                <a:solidFill>
                  <a:srgbClr val="6A1B9A"/>
                </a:solidFill>
                <a:latin typeface="Consolas"/>
                <a:ea typeface="Consolas"/>
                <a:cs typeface="Consolas"/>
                <a:sym typeface="Consolas"/>
              </a:rPr>
              <a:t>c</a:t>
            </a:r>
            <a:r>
              <a:rPr lang="en" sz="1300" b="1" i="0" u="none" strike="noStrike" cap="none">
                <a:solidFill>
                  <a:srgbClr val="6A1B9A"/>
                </a:solidFill>
                <a:latin typeface="Consolas"/>
                <a:ea typeface="Consolas"/>
                <a:cs typeface="Consolas"/>
                <a:sym typeface="Consolas"/>
              </a:rPr>
              <a:t>)</a:t>
            </a:r>
            <a:endParaRPr sz="1300" b="0" i="0" u="none" strike="noStrike" cap="none">
              <a:solidFill>
                <a:srgbClr val="000000"/>
              </a:solidFill>
              <a:latin typeface="Calibri"/>
              <a:ea typeface="Calibri"/>
              <a:cs typeface="Calibri"/>
              <a:sym typeface="Calibri"/>
            </a:endParaRPr>
          </a:p>
        </p:txBody>
      </p:sp>
      <p:sp>
        <p:nvSpPr>
          <p:cNvPr id="349" name="Google Shape;349;g3f62c33a15b_0_692"/>
          <p:cNvSpPr/>
          <p:nvPr/>
        </p:nvSpPr>
        <p:spPr>
          <a:xfrm>
            <a:off x="457200" y="2066544"/>
            <a:ext cx="466350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A1B9A"/>
              </a:buClr>
              <a:buSzPts val="1150"/>
              <a:buFont typeface="Calibri"/>
              <a:buNone/>
            </a:pPr>
            <a:r>
              <a:rPr lang="en" sz="1150" b="1" i="0" u="none" strike="noStrike" cap="none">
                <a:solidFill>
                  <a:srgbClr val="6A1B9A"/>
                </a:solidFill>
                <a:latin typeface="Calibri"/>
                <a:ea typeface="Calibri"/>
                <a:cs typeface="Calibri"/>
                <a:sym typeface="Calibri"/>
              </a:rPr>
              <a:t>Where:</a:t>
            </a:r>
            <a:endParaRPr sz="1150" b="0" i="0" u="none" strike="noStrike" cap="none">
              <a:solidFill>
                <a:srgbClr val="000000"/>
              </a:solidFill>
              <a:latin typeface="Calibri"/>
              <a:ea typeface="Calibri"/>
              <a:cs typeface="Calibri"/>
              <a:sym typeface="Calibri"/>
            </a:endParaRPr>
          </a:p>
        </p:txBody>
      </p:sp>
      <p:sp>
        <p:nvSpPr>
          <p:cNvPr id="350" name="Google Shape;350;g3f62c33a15b_0_692"/>
          <p:cNvSpPr/>
          <p:nvPr/>
        </p:nvSpPr>
        <p:spPr>
          <a:xfrm>
            <a:off x="548640" y="2304288"/>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50"/>
              <a:buFont typeface="Consolas"/>
              <a:buNone/>
            </a:pPr>
            <a:r>
              <a:rPr lang="en" sz="1150" b="0" i="0" u="none" strike="noStrike" cap="none">
                <a:solidFill>
                  <a:srgbClr val="37474F"/>
                </a:solidFill>
                <a:latin typeface="Consolas"/>
                <a:ea typeface="Consolas"/>
                <a:cs typeface="Consolas"/>
                <a:sym typeface="Consolas"/>
              </a:rPr>
              <a:t>yᵢc =  1 if sample i belongs to class c, else 0</a:t>
            </a:r>
            <a:endParaRPr sz="1150" b="0" i="0" u="none" strike="noStrike" cap="none">
              <a:solidFill>
                <a:srgbClr val="000000"/>
              </a:solidFill>
              <a:latin typeface="Calibri"/>
              <a:ea typeface="Calibri"/>
              <a:cs typeface="Calibri"/>
              <a:sym typeface="Calibri"/>
            </a:endParaRPr>
          </a:p>
        </p:txBody>
      </p:sp>
      <p:sp>
        <p:nvSpPr>
          <p:cNvPr id="351" name="Google Shape;351;g3f62c33a15b_0_692"/>
          <p:cNvSpPr/>
          <p:nvPr/>
        </p:nvSpPr>
        <p:spPr>
          <a:xfrm>
            <a:off x="548640" y="2578608"/>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50"/>
              <a:buFont typeface="Consolas"/>
              <a:buNone/>
            </a:pPr>
            <a:r>
              <a:rPr lang="en" sz="1150" b="0" i="0" u="none" strike="noStrike" cap="none">
                <a:solidFill>
                  <a:srgbClr val="37474F"/>
                </a:solidFill>
                <a:latin typeface="Consolas"/>
                <a:ea typeface="Consolas"/>
                <a:cs typeface="Consolas"/>
                <a:sym typeface="Consolas"/>
              </a:rPr>
              <a:t>ŷᵢc =  predicted probability for class c</a:t>
            </a:r>
            <a:endParaRPr sz="1150" b="0" i="0" u="none" strike="noStrike" cap="none">
              <a:solidFill>
                <a:srgbClr val="000000"/>
              </a:solidFill>
              <a:latin typeface="Calibri"/>
              <a:ea typeface="Calibri"/>
              <a:cs typeface="Calibri"/>
              <a:sym typeface="Calibri"/>
            </a:endParaRPr>
          </a:p>
        </p:txBody>
      </p:sp>
      <p:sp>
        <p:nvSpPr>
          <p:cNvPr id="352" name="Google Shape;352;g3f62c33a15b_0_692"/>
          <p:cNvSpPr/>
          <p:nvPr/>
        </p:nvSpPr>
        <p:spPr>
          <a:xfrm>
            <a:off x="548640" y="2852928"/>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50"/>
              <a:buFont typeface="Consolas"/>
              <a:buNone/>
            </a:pPr>
            <a:r>
              <a:rPr lang="en" sz="1150" b="0" i="0" u="none" strike="noStrike" cap="none">
                <a:solidFill>
                  <a:srgbClr val="37474F"/>
                </a:solidFill>
                <a:latin typeface="Consolas"/>
                <a:ea typeface="Consolas"/>
                <a:cs typeface="Consolas"/>
                <a:sym typeface="Consolas"/>
              </a:rPr>
              <a:t>C   =  total number of classes</a:t>
            </a:r>
            <a:endParaRPr sz="1150" b="0" i="0" u="none" strike="noStrike" cap="none">
              <a:solidFill>
                <a:srgbClr val="000000"/>
              </a:solidFill>
              <a:latin typeface="Calibri"/>
              <a:ea typeface="Calibri"/>
              <a:cs typeface="Calibri"/>
              <a:sym typeface="Calibri"/>
            </a:endParaRPr>
          </a:p>
        </p:txBody>
      </p:sp>
      <p:sp>
        <p:nvSpPr>
          <p:cNvPr id="353" name="Google Shape;353;g3f62c33a15b_0_692"/>
          <p:cNvSpPr/>
          <p:nvPr/>
        </p:nvSpPr>
        <p:spPr>
          <a:xfrm>
            <a:off x="548640" y="3127248"/>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50"/>
              <a:buFont typeface="Consolas"/>
              <a:buNone/>
            </a:pPr>
            <a:r>
              <a:rPr lang="en" sz="1150" b="0" i="0" u="none" strike="noStrike" cap="none">
                <a:solidFill>
                  <a:srgbClr val="37474F"/>
                </a:solidFill>
                <a:latin typeface="Consolas"/>
                <a:ea typeface="Consolas"/>
                <a:cs typeface="Consolas"/>
                <a:sym typeface="Consolas"/>
              </a:rPr>
              <a:t>Σc  =  sum over all classes</a:t>
            </a:r>
            <a:endParaRPr sz="1150" b="0" i="0" u="none" strike="noStrike" cap="none">
              <a:solidFill>
                <a:srgbClr val="000000"/>
              </a:solidFill>
              <a:latin typeface="Calibri"/>
              <a:ea typeface="Calibri"/>
              <a:cs typeface="Calibri"/>
              <a:sym typeface="Calibri"/>
            </a:endParaRPr>
          </a:p>
        </p:txBody>
      </p:sp>
      <p:sp>
        <p:nvSpPr>
          <p:cNvPr id="354" name="Google Shape;354;g3f62c33a15b_0_692"/>
          <p:cNvSpPr/>
          <p:nvPr/>
        </p:nvSpPr>
        <p:spPr>
          <a:xfrm>
            <a:off x="457200" y="3456432"/>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A1B9A"/>
              </a:buClr>
              <a:buSzPts val="1200"/>
              <a:buFont typeface="Calibri"/>
              <a:buNone/>
            </a:pPr>
            <a:r>
              <a:rPr lang="en" sz="1200" b="1" i="0" u="none" strike="noStrike" cap="none">
                <a:solidFill>
                  <a:srgbClr val="6A1B9A"/>
                </a:solidFill>
                <a:latin typeface="Calibri"/>
                <a:ea typeface="Calibri"/>
                <a:cs typeface="Calibri"/>
                <a:sym typeface="Calibri"/>
              </a:rPr>
              <a:t>Key Properties</a:t>
            </a:r>
            <a:endParaRPr sz="1200" b="0" i="0" u="none" strike="noStrike" cap="none">
              <a:solidFill>
                <a:srgbClr val="000000"/>
              </a:solidFill>
              <a:latin typeface="Calibri"/>
              <a:ea typeface="Calibri"/>
              <a:cs typeface="Calibri"/>
              <a:sym typeface="Calibri"/>
            </a:endParaRPr>
          </a:p>
        </p:txBody>
      </p:sp>
      <p:sp>
        <p:nvSpPr>
          <p:cNvPr id="355" name="Google Shape;355;g3f62c33a15b_0_692"/>
          <p:cNvSpPr/>
          <p:nvPr/>
        </p:nvSpPr>
        <p:spPr>
          <a:xfrm>
            <a:off x="548640" y="3749040"/>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 Generalisation of BCE to K &gt; 2 classes</a:t>
            </a:r>
            <a:endParaRPr sz="1200" b="0" i="0" u="none" strike="noStrike" cap="none">
              <a:solidFill>
                <a:srgbClr val="000000"/>
              </a:solidFill>
              <a:latin typeface="Calibri"/>
              <a:ea typeface="Calibri"/>
              <a:cs typeface="Calibri"/>
              <a:sym typeface="Calibri"/>
            </a:endParaRPr>
          </a:p>
        </p:txBody>
      </p:sp>
      <p:sp>
        <p:nvSpPr>
          <p:cNvPr id="356" name="Google Shape;356;g3f62c33a15b_0_692"/>
          <p:cNvSpPr/>
          <p:nvPr/>
        </p:nvSpPr>
        <p:spPr>
          <a:xfrm>
            <a:off x="548640" y="4023360"/>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 Output layer uses Softmax (all probs sum to 1)</a:t>
            </a:r>
            <a:endParaRPr sz="1200" b="0" i="0" u="none" strike="noStrike" cap="none">
              <a:solidFill>
                <a:srgbClr val="000000"/>
              </a:solidFill>
              <a:latin typeface="Calibri"/>
              <a:ea typeface="Calibri"/>
              <a:cs typeface="Calibri"/>
              <a:sym typeface="Calibri"/>
            </a:endParaRPr>
          </a:p>
        </p:txBody>
      </p:sp>
      <p:sp>
        <p:nvSpPr>
          <p:cNvPr id="357" name="Google Shape;357;g3f62c33a15b_0_692"/>
          <p:cNvSpPr/>
          <p:nvPr/>
        </p:nvSpPr>
        <p:spPr>
          <a:xfrm>
            <a:off x="548640" y="4297680"/>
            <a:ext cx="46635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 Only the log of the true class probability contributes</a:t>
            </a:r>
            <a:endParaRPr sz="1200" b="0" i="0" u="none" strike="noStrike" cap="none">
              <a:solidFill>
                <a:srgbClr val="000000"/>
              </a:solidFill>
              <a:latin typeface="Calibri"/>
              <a:ea typeface="Calibri"/>
              <a:cs typeface="Calibri"/>
              <a:sym typeface="Calibri"/>
            </a:endParaRPr>
          </a:p>
        </p:txBody>
      </p:sp>
      <p:sp>
        <p:nvSpPr>
          <p:cNvPr id="358" name="Google Shape;358;g3f62c33a15b_0_692"/>
          <p:cNvSpPr/>
          <p:nvPr/>
        </p:nvSpPr>
        <p:spPr>
          <a:xfrm>
            <a:off x="5532120" y="914400"/>
            <a:ext cx="3337500" cy="3977700"/>
          </a:xfrm>
          <a:prstGeom prst="rect">
            <a:avLst/>
          </a:prstGeom>
          <a:solidFill>
            <a:srgbClr val="F5F5F5"/>
          </a:solidFill>
          <a:ln w="12700" cap="flat" cmpd="sng">
            <a:solidFill>
              <a:srgbClr val="BDBDBD"/>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g3f62c33a15b_0_692"/>
          <p:cNvSpPr/>
          <p:nvPr/>
        </p:nvSpPr>
        <p:spPr>
          <a:xfrm>
            <a:off x="5532120" y="914400"/>
            <a:ext cx="3337500" cy="438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 sz="1600" b="1" i="0" u="none" strike="noStrike" cap="none">
                <a:solidFill>
                  <a:schemeClr val="dk1"/>
                </a:solidFill>
                <a:latin typeface="Calibri"/>
                <a:ea typeface="Calibri"/>
                <a:cs typeface="Calibri"/>
                <a:sym typeface="Calibri"/>
              </a:rPr>
              <a:t>Intuition</a:t>
            </a:r>
            <a:endParaRPr sz="1600" b="0" i="0" u="none" strike="noStrike" cap="none">
              <a:solidFill>
                <a:schemeClr val="dk1"/>
              </a:solidFill>
              <a:latin typeface="Calibri"/>
              <a:ea typeface="Calibri"/>
              <a:cs typeface="Calibri"/>
              <a:sym typeface="Calibri"/>
            </a:endParaRPr>
          </a:p>
        </p:txBody>
      </p:sp>
      <p:sp>
        <p:nvSpPr>
          <p:cNvPr id="360" name="Google Shape;360;g3f62c33a15b_0_692"/>
          <p:cNvSpPr/>
          <p:nvPr/>
        </p:nvSpPr>
        <p:spPr>
          <a:xfrm>
            <a:off x="5669280" y="1435608"/>
            <a:ext cx="30633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1" u="none" strike="noStrike" cap="none">
                <a:solidFill>
                  <a:srgbClr val="37474F"/>
                </a:solidFill>
                <a:latin typeface="Calibri"/>
                <a:ea typeface="Calibri"/>
                <a:cs typeface="Calibri"/>
                <a:sym typeface="Calibri"/>
              </a:rPr>
              <a:t>Image classifier: Cat / Dog / Bird</a:t>
            </a:r>
            <a:endParaRPr sz="1200" b="0" i="0" u="none" strike="noStrike" cap="none">
              <a:solidFill>
                <a:srgbClr val="000000"/>
              </a:solidFill>
              <a:latin typeface="Calibri"/>
              <a:ea typeface="Calibri"/>
              <a:cs typeface="Calibri"/>
              <a:sym typeface="Calibri"/>
            </a:endParaRPr>
          </a:p>
        </p:txBody>
      </p:sp>
      <p:sp>
        <p:nvSpPr>
          <p:cNvPr id="361" name="Google Shape;361;g3f62c33a15b_0_692"/>
          <p:cNvSpPr/>
          <p:nvPr/>
        </p:nvSpPr>
        <p:spPr>
          <a:xfrm>
            <a:off x="5669280" y="1783080"/>
            <a:ext cx="1005900" cy="329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Calibri"/>
              <a:buNone/>
            </a:pPr>
            <a:r>
              <a:rPr lang="en" sz="1050" b="1" i="0" u="none" strike="noStrike" cap="none">
                <a:solidFill>
                  <a:schemeClr val="dk1"/>
                </a:solidFill>
                <a:latin typeface="Calibri"/>
                <a:ea typeface="Calibri"/>
                <a:cs typeface="Calibri"/>
                <a:sym typeface="Calibri"/>
              </a:rPr>
              <a:t>Class</a:t>
            </a:r>
            <a:endParaRPr sz="1050" b="0" i="0" u="none" strike="noStrike" cap="none">
              <a:solidFill>
                <a:schemeClr val="dk1"/>
              </a:solidFill>
              <a:latin typeface="Calibri"/>
              <a:ea typeface="Calibri"/>
              <a:cs typeface="Calibri"/>
              <a:sym typeface="Calibri"/>
            </a:endParaRPr>
          </a:p>
        </p:txBody>
      </p:sp>
      <p:sp>
        <p:nvSpPr>
          <p:cNvPr id="362" name="Google Shape;362;g3f62c33a15b_0_692"/>
          <p:cNvSpPr/>
          <p:nvPr/>
        </p:nvSpPr>
        <p:spPr>
          <a:xfrm>
            <a:off x="6675120" y="1783080"/>
            <a:ext cx="1097400" cy="329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Calibri"/>
              <a:buNone/>
            </a:pPr>
            <a:r>
              <a:rPr lang="en" sz="1050" b="1" i="0" u="none" strike="noStrike" cap="none">
                <a:solidFill>
                  <a:schemeClr val="dk1"/>
                </a:solidFill>
                <a:latin typeface="Calibri"/>
                <a:ea typeface="Calibri"/>
                <a:cs typeface="Calibri"/>
                <a:sym typeface="Calibri"/>
              </a:rPr>
              <a:t>Softmax ŷ</a:t>
            </a:r>
            <a:endParaRPr sz="1050" b="0" i="0" u="none" strike="noStrike" cap="none">
              <a:solidFill>
                <a:schemeClr val="dk1"/>
              </a:solidFill>
              <a:latin typeface="Calibri"/>
              <a:ea typeface="Calibri"/>
              <a:cs typeface="Calibri"/>
              <a:sym typeface="Calibri"/>
            </a:endParaRPr>
          </a:p>
        </p:txBody>
      </p:sp>
      <p:sp>
        <p:nvSpPr>
          <p:cNvPr id="363" name="Google Shape;363;g3f62c33a15b_0_692"/>
          <p:cNvSpPr/>
          <p:nvPr/>
        </p:nvSpPr>
        <p:spPr>
          <a:xfrm>
            <a:off x="7772400" y="1783080"/>
            <a:ext cx="731400" cy="329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050"/>
              <a:buFont typeface="Calibri"/>
              <a:buNone/>
            </a:pPr>
            <a:r>
              <a:rPr lang="en" sz="1050" b="1" i="0" u="none" strike="noStrike" cap="none">
                <a:solidFill>
                  <a:schemeClr val="dk1"/>
                </a:solidFill>
                <a:latin typeface="Calibri"/>
                <a:ea typeface="Calibri"/>
                <a:cs typeface="Calibri"/>
                <a:sym typeface="Calibri"/>
              </a:rPr>
              <a:t>True y</a:t>
            </a:r>
            <a:endParaRPr sz="1050" b="0" i="0" u="none" strike="noStrike" cap="none">
              <a:solidFill>
                <a:schemeClr val="dk1"/>
              </a:solidFill>
              <a:latin typeface="Calibri"/>
              <a:ea typeface="Calibri"/>
              <a:cs typeface="Calibri"/>
              <a:sym typeface="Calibri"/>
            </a:endParaRPr>
          </a:p>
        </p:txBody>
      </p:sp>
      <p:sp>
        <p:nvSpPr>
          <p:cNvPr id="364" name="Google Shape;364;g3f62c33a15b_0_692"/>
          <p:cNvSpPr/>
          <p:nvPr/>
        </p:nvSpPr>
        <p:spPr>
          <a:xfrm>
            <a:off x="5669280" y="2112264"/>
            <a:ext cx="1005900" cy="329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Cat 🐱</a:t>
            </a:r>
            <a:endParaRPr sz="1050" b="0" i="0" u="none" strike="noStrike" cap="none">
              <a:solidFill>
                <a:srgbClr val="000000"/>
              </a:solidFill>
              <a:latin typeface="Calibri"/>
              <a:ea typeface="Calibri"/>
              <a:cs typeface="Calibri"/>
              <a:sym typeface="Calibri"/>
            </a:endParaRPr>
          </a:p>
        </p:txBody>
      </p:sp>
      <p:sp>
        <p:nvSpPr>
          <p:cNvPr id="365" name="Google Shape;365;g3f62c33a15b_0_692"/>
          <p:cNvSpPr/>
          <p:nvPr/>
        </p:nvSpPr>
        <p:spPr>
          <a:xfrm>
            <a:off x="6675120" y="2112264"/>
            <a:ext cx="1097400" cy="329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0.70</a:t>
            </a:r>
            <a:endParaRPr sz="1050" b="0" i="0" u="none" strike="noStrike" cap="none">
              <a:solidFill>
                <a:srgbClr val="000000"/>
              </a:solidFill>
              <a:latin typeface="Calibri"/>
              <a:ea typeface="Calibri"/>
              <a:cs typeface="Calibri"/>
              <a:sym typeface="Calibri"/>
            </a:endParaRPr>
          </a:p>
        </p:txBody>
      </p:sp>
      <p:sp>
        <p:nvSpPr>
          <p:cNvPr id="366" name="Google Shape;366;g3f62c33a15b_0_692"/>
          <p:cNvSpPr/>
          <p:nvPr/>
        </p:nvSpPr>
        <p:spPr>
          <a:xfrm>
            <a:off x="7772400" y="2112264"/>
            <a:ext cx="731400" cy="329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A1B9A"/>
              </a:buClr>
              <a:buSzPts val="1050"/>
              <a:buFont typeface="Calibri"/>
              <a:buNone/>
            </a:pPr>
            <a:r>
              <a:rPr lang="en" sz="1050" b="1" i="0" u="none" strike="noStrike" cap="none">
                <a:solidFill>
                  <a:srgbClr val="6A1B9A"/>
                </a:solidFill>
                <a:latin typeface="Calibri"/>
                <a:ea typeface="Calibri"/>
                <a:cs typeface="Calibri"/>
                <a:sym typeface="Calibri"/>
              </a:rPr>
              <a:t>1</a:t>
            </a:r>
            <a:endParaRPr sz="1050" b="0" i="0" u="none" strike="noStrike" cap="none">
              <a:solidFill>
                <a:srgbClr val="000000"/>
              </a:solidFill>
              <a:latin typeface="Calibri"/>
              <a:ea typeface="Calibri"/>
              <a:cs typeface="Calibri"/>
              <a:sym typeface="Calibri"/>
            </a:endParaRPr>
          </a:p>
        </p:txBody>
      </p:sp>
      <p:sp>
        <p:nvSpPr>
          <p:cNvPr id="367" name="Google Shape;367;g3f62c33a15b_0_692"/>
          <p:cNvSpPr/>
          <p:nvPr/>
        </p:nvSpPr>
        <p:spPr>
          <a:xfrm>
            <a:off x="5669280" y="2441448"/>
            <a:ext cx="1005900" cy="329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Dog 🐶</a:t>
            </a:r>
            <a:endParaRPr sz="1050" b="0" i="0" u="none" strike="noStrike" cap="none">
              <a:solidFill>
                <a:srgbClr val="000000"/>
              </a:solidFill>
              <a:latin typeface="Calibri"/>
              <a:ea typeface="Calibri"/>
              <a:cs typeface="Calibri"/>
              <a:sym typeface="Calibri"/>
            </a:endParaRPr>
          </a:p>
        </p:txBody>
      </p:sp>
      <p:sp>
        <p:nvSpPr>
          <p:cNvPr id="368" name="Google Shape;368;g3f62c33a15b_0_692"/>
          <p:cNvSpPr/>
          <p:nvPr/>
        </p:nvSpPr>
        <p:spPr>
          <a:xfrm>
            <a:off x="6675120" y="2441448"/>
            <a:ext cx="1097400" cy="329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0.20</a:t>
            </a:r>
            <a:endParaRPr sz="1050" b="0" i="0" u="none" strike="noStrike" cap="none">
              <a:solidFill>
                <a:srgbClr val="000000"/>
              </a:solidFill>
              <a:latin typeface="Calibri"/>
              <a:ea typeface="Calibri"/>
              <a:cs typeface="Calibri"/>
              <a:sym typeface="Calibri"/>
            </a:endParaRPr>
          </a:p>
        </p:txBody>
      </p:sp>
      <p:sp>
        <p:nvSpPr>
          <p:cNvPr id="369" name="Google Shape;369;g3f62c33a15b_0_692"/>
          <p:cNvSpPr/>
          <p:nvPr/>
        </p:nvSpPr>
        <p:spPr>
          <a:xfrm>
            <a:off x="7772400" y="2441448"/>
            <a:ext cx="731400" cy="329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0</a:t>
            </a:r>
            <a:endParaRPr sz="1050" b="0" i="0" u="none" strike="noStrike" cap="none">
              <a:solidFill>
                <a:srgbClr val="000000"/>
              </a:solidFill>
              <a:latin typeface="Calibri"/>
              <a:ea typeface="Calibri"/>
              <a:cs typeface="Calibri"/>
              <a:sym typeface="Calibri"/>
            </a:endParaRPr>
          </a:p>
        </p:txBody>
      </p:sp>
      <p:sp>
        <p:nvSpPr>
          <p:cNvPr id="370" name="Google Shape;370;g3f62c33a15b_0_692"/>
          <p:cNvSpPr/>
          <p:nvPr/>
        </p:nvSpPr>
        <p:spPr>
          <a:xfrm>
            <a:off x="5669280" y="2770632"/>
            <a:ext cx="1005900" cy="329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Bird 🐦</a:t>
            </a:r>
            <a:endParaRPr sz="1050" b="0" i="0" u="none" strike="noStrike" cap="none">
              <a:solidFill>
                <a:srgbClr val="000000"/>
              </a:solidFill>
              <a:latin typeface="Calibri"/>
              <a:ea typeface="Calibri"/>
              <a:cs typeface="Calibri"/>
              <a:sym typeface="Calibri"/>
            </a:endParaRPr>
          </a:p>
        </p:txBody>
      </p:sp>
      <p:sp>
        <p:nvSpPr>
          <p:cNvPr id="371" name="Google Shape;371;g3f62c33a15b_0_692"/>
          <p:cNvSpPr/>
          <p:nvPr/>
        </p:nvSpPr>
        <p:spPr>
          <a:xfrm>
            <a:off x="6675120" y="2770632"/>
            <a:ext cx="1097400" cy="329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0.10</a:t>
            </a:r>
            <a:endParaRPr sz="1050" b="0" i="0" u="none" strike="noStrike" cap="none">
              <a:solidFill>
                <a:srgbClr val="000000"/>
              </a:solidFill>
              <a:latin typeface="Calibri"/>
              <a:ea typeface="Calibri"/>
              <a:cs typeface="Calibri"/>
              <a:sym typeface="Calibri"/>
            </a:endParaRPr>
          </a:p>
        </p:txBody>
      </p:sp>
      <p:sp>
        <p:nvSpPr>
          <p:cNvPr id="372" name="Google Shape;372;g3f62c33a15b_0_692"/>
          <p:cNvSpPr/>
          <p:nvPr/>
        </p:nvSpPr>
        <p:spPr>
          <a:xfrm>
            <a:off x="7772400" y="2770632"/>
            <a:ext cx="731400" cy="329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12121"/>
              </a:buClr>
              <a:buSzPts val="1050"/>
              <a:buFont typeface="Calibri"/>
              <a:buNone/>
            </a:pPr>
            <a:r>
              <a:rPr lang="en" sz="1050" b="0" i="0" u="none" strike="noStrike" cap="none">
                <a:solidFill>
                  <a:srgbClr val="212121"/>
                </a:solidFill>
                <a:latin typeface="Calibri"/>
                <a:ea typeface="Calibri"/>
                <a:cs typeface="Calibri"/>
                <a:sym typeface="Calibri"/>
              </a:rPr>
              <a:t>0</a:t>
            </a:r>
            <a:endParaRPr sz="1050" b="0" i="0" u="none" strike="noStrike" cap="none">
              <a:solidFill>
                <a:srgbClr val="000000"/>
              </a:solidFill>
              <a:latin typeface="Calibri"/>
              <a:ea typeface="Calibri"/>
              <a:cs typeface="Calibri"/>
              <a:sym typeface="Calibri"/>
            </a:endParaRPr>
          </a:p>
        </p:txBody>
      </p:sp>
      <p:sp>
        <p:nvSpPr>
          <p:cNvPr id="373" name="Google Shape;373;g3f62c33a15b_0_692"/>
          <p:cNvSpPr/>
          <p:nvPr/>
        </p:nvSpPr>
        <p:spPr>
          <a:xfrm>
            <a:off x="5669280" y="3090672"/>
            <a:ext cx="30633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A1B9A"/>
              </a:buClr>
              <a:buSzPts val="1200"/>
              <a:buFont typeface="Consolas"/>
              <a:buNone/>
            </a:pPr>
            <a:r>
              <a:rPr lang="en" sz="1200" b="1" i="0" u="none" strike="noStrike" cap="none">
                <a:solidFill>
                  <a:srgbClr val="6A1B9A"/>
                </a:solidFill>
                <a:latin typeface="Consolas"/>
                <a:ea typeface="Consolas"/>
                <a:cs typeface="Consolas"/>
                <a:sym typeface="Consolas"/>
              </a:rPr>
              <a:t>Loss  = −log(0.70)  ≈  0.36</a:t>
            </a:r>
            <a:endParaRPr sz="1200" b="0" i="0" u="none" strike="noStrike" cap="none">
              <a:solidFill>
                <a:srgbClr val="000000"/>
              </a:solidFill>
              <a:latin typeface="Calibri"/>
              <a:ea typeface="Calibri"/>
              <a:cs typeface="Calibri"/>
              <a:sym typeface="Calibri"/>
            </a:endParaRPr>
          </a:p>
        </p:txBody>
      </p:sp>
      <p:sp>
        <p:nvSpPr>
          <p:cNvPr id="374" name="Google Shape;374;g3f62c33a15b_0_692"/>
          <p:cNvSpPr/>
          <p:nvPr/>
        </p:nvSpPr>
        <p:spPr>
          <a:xfrm>
            <a:off x="5669280" y="3429000"/>
            <a:ext cx="3063300" cy="685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50"/>
              <a:buFont typeface="Calibri"/>
              <a:buNone/>
            </a:pPr>
            <a:r>
              <a:rPr lang="en" sz="1150" b="0" i="1" u="none" strike="noStrike" cap="none">
                <a:solidFill>
                  <a:srgbClr val="37474F"/>
                </a:solidFill>
                <a:latin typeface="Calibri"/>
                <a:ea typeface="Calibri"/>
                <a:cs typeface="Calibri"/>
                <a:sym typeface="Calibri"/>
              </a:rPr>
              <a:t>Only the probability of the TRUE class (Cat) matters. Higher confidence in the correct class → lower loss.</a:t>
            </a:r>
            <a:endParaRPr sz="1150" b="0" i="0" u="none" strike="noStrike" cap="none">
              <a:solidFill>
                <a:srgbClr val="000000"/>
              </a:solidFill>
              <a:latin typeface="Calibri"/>
              <a:ea typeface="Calibri"/>
              <a:cs typeface="Calibri"/>
              <a:sym typeface="Calibri"/>
            </a:endParaRPr>
          </a:p>
        </p:txBody>
      </p:sp>
      <p:sp>
        <p:nvSpPr>
          <p:cNvPr id="375" name="Google Shape;375;g3f62c33a15b_0_692"/>
          <p:cNvSpPr/>
          <p:nvPr/>
        </p:nvSpPr>
        <p:spPr>
          <a:xfrm>
            <a:off x="5669280" y="4206240"/>
            <a:ext cx="3063300" cy="567000"/>
          </a:xfrm>
          <a:prstGeom prst="roundRect">
            <a:avLst>
              <a:gd name="adj" fmla="val 12903"/>
            </a:avLst>
          </a:prstGeom>
          <a:solidFill>
            <a:srgbClr val="F3E5F5"/>
          </a:solidFill>
          <a:ln w="15225" cap="flat" cmpd="sng">
            <a:solidFill>
              <a:srgbClr val="6A1B9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 name="Google Shape;376;g3f62c33a15b_0_692"/>
          <p:cNvSpPr/>
          <p:nvPr/>
        </p:nvSpPr>
        <p:spPr>
          <a:xfrm>
            <a:off x="5760720" y="4233672"/>
            <a:ext cx="2880300" cy="512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A1B9A"/>
              </a:buClr>
              <a:buSzPts val="1150"/>
              <a:buFont typeface="Calibri"/>
              <a:buNone/>
            </a:pPr>
            <a:r>
              <a:rPr lang="en" sz="1150" b="1" i="0" u="none" strike="noStrike" cap="none">
                <a:solidFill>
                  <a:srgbClr val="6A1B9A"/>
                </a:solidFill>
                <a:latin typeface="Calibri"/>
                <a:ea typeface="Calibri"/>
                <a:cs typeface="Calibri"/>
                <a:sym typeface="Calibri"/>
              </a:rPr>
              <a:t>✔  Use when: 3+ mutually exclusive</a:t>
            </a:r>
            <a:endParaRPr sz="115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6A1B9A"/>
              </a:buClr>
              <a:buSzPts val="1150"/>
              <a:buFont typeface="Calibri"/>
              <a:buNone/>
            </a:pPr>
            <a:r>
              <a:rPr lang="en" sz="1150" b="1" i="0" u="none" strike="noStrike" cap="none">
                <a:solidFill>
                  <a:srgbClr val="6A1B9A"/>
                </a:solidFill>
                <a:latin typeface="Calibri"/>
                <a:ea typeface="Calibri"/>
                <a:cs typeface="Calibri"/>
                <a:sym typeface="Calibri"/>
              </a:rPr>
              <a:t>    classes (one label per sample)</a:t>
            </a:r>
            <a:endParaRPr sz="1150" b="0" i="0" u="none" strike="noStrike" cap="none">
              <a:solidFill>
                <a:srgbClr val="000000"/>
              </a:solidFill>
              <a:latin typeface="Calibri"/>
              <a:ea typeface="Calibri"/>
              <a:cs typeface="Calibri"/>
              <a:sym typeface="Calibri"/>
            </a:endParaRPr>
          </a:p>
        </p:txBody>
      </p:sp>
      <p:sp>
        <p:nvSpPr>
          <p:cNvPr id="377" name="Google Shape;377;g3f62c33a15b_0_692"/>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81"/>
        <p:cNvGrpSpPr/>
        <p:nvPr/>
      </p:nvGrpSpPr>
      <p:grpSpPr>
        <a:xfrm>
          <a:off x="0" y="0"/>
          <a:ext cx="0" cy="0"/>
          <a:chOff x="0" y="0"/>
          <a:chExt cx="0" cy="0"/>
        </a:xfrm>
      </p:grpSpPr>
      <p:pic>
        <p:nvPicPr>
          <p:cNvPr id="382" name="Google Shape;382;g3f62c33a15b_0_729"/>
          <p:cNvPicPr preferRelativeResize="0"/>
          <p:nvPr/>
        </p:nvPicPr>
        <p:blipFill rotWithShape="1">
          <a:blip r:embed="rId4">
            <a:alphaModFix/>
          </a:blip>
          <a:srcRect/>
          <a:stretch/>
        </p:blipFill>
        <p:spPr>
          <a:xfrm>
            <a:off x="8369125" y="0"/>
            <a:ext cx="774877" cy="867174"/>
          </a:xfrm>
          <a:prstGeom prst="rect">
            <a:avLst/>
          </a:prstGeom>
          <a:noFill/>
          <a:ln>
            <a:noFill/>
          </a:ln>
        </p:spPr>
      </p:pic>
      <p:cxnSp>
        <p:nvCxnSpPr>
          <p:cNvPr id="383" name="Google Shape;383;g3f62c33a15b_0_729"/>
          <p:cNvCxnSpPr/>
          <p:nvPr/>
        </p:nvCxnSpPr>
        <p:spPr>
          <a:xfrm rot="10800000" flipH="1">
            <a:off x="274320" y="2743200"/>
            <a:ext cx="1371600" cy="1371600"/>
          </a:xfrm>
          <a:prstGeom prst="straightConnector1">
            <a:avLst/>
          </a:prstGeom>
          <a:noFill/>
          <a:ln w="9525" cap="flat" cmpd="sng">
            <a:solidFill>
              <a:srgbClr val="BDBDBD">
                <a:alpha val="30196"/>
              </a:srgbClr>
            </a:solidFill>
            <a:prstDash val="solid"/>
            <a:round/>
            <a:headEnd type="none" w="sm" len="sm"/>
            <a:tailEnd type="none" w="sm" len="sm"/>
          </a:ln>
        </p:spPr>
      </p:cxnSp>
      <p:cxnSp>
        <p:nvCxnSpPr>
          <p:cNvPr id="384" name="Google Shape;384;g3f62c33a15b_0_729"/>
          <p:cNvCxnSpPr/>
          <p:nvPr/>
        </p:nvCxnSpPr>
        <p:spPr>
          <a:xfrm rot="10800000" flipH="1">
            <a:off x="3200400" y="3840600"/>
            <a:ext cx="2286000" cy="731400"/>
          </a:xfrm>
          <a:prstGeom prst="straightConnector1">
            <a:avLst/>
          </a:prstGeom>
          <a:noFill/>
          <a:ln w="9525" cap="flat" cmpd="sng">
            <a:solidFill>
              <a:srgbClr val="BDBDBD">
                <a:alpha val="30196"/>
              </a:srgbClr>
            </a:solidFill>
            <a:prstDash val="solid"/>
            <a:round/>
            <a:headEnd type="none" w="sm" len="sm"/>
            <a:tailEnd type="none" w="sm" len="sm"/>
          </a:ln>
        </p:spPr>
      </p:cxnSp>
      <p:cxnSp>
        <p:nvCxnSpPr>
          <p:cNvPr id="385" name="Google Shape;385;g3f62c33a15b_0_729"/>
          <p:cNvCxnSpPr/>
          <p:nvPr/>
        </p:nvCxnSpPr>
        <p:spPr>
          <a:xfrm rot="10800000" flipH="1">
            <a:off x="7772400" y="2743320"/>
            <a:ext cx="1280100" cy="2103000"/>
          </a:xfrm>
          <a:prstGeom prst="straightConnector1">
            <a:avLst/>
          </a:prstGeom>
          <a:noFill/>
          <a:ln w="9525" cap="flat" cmpd="sng">
            <a:solidFill>
              <a:srgbClr val="BDBDBD">
                <a:alpha val="30196"/>
              </a:srgbClr>
            </a:solidFill>
            <a:prstDash val="solid"/>
            <a:round/>
            <a:headEnd type="none" w="sm" len="sm"/>
            <a:tailEnd type="none" w="sm" len="sm"/>
          </a:ln>
        </p:spPr>
      </p:cxnSp>
      <p:cxnSp>
        <p:nvCxnSpPr>
          <p:cNvPr id="386" name="Google Shape;386;g3f62c33a15b_0_729"/>
          <p:cNvCxnSpPr/>
          <p:nvPr/>
        </p:nvCxnSpPr>
        <p:spPr>
          <a:xfrm flipH="1">
            <a:off x="1645800" y="1097280"/>
            <a:ext cx="640200" cy="1645800"/>
          </a:xfrm>
          <a:prstGeom prst="straightConnector1">
            <a:avLst/>
          </a:prstGeom>
          <a:noFill/>
          <a:ln w="9525" cap="flat" cmpd="sng">
            <a:solidFill>
              <a:srgbClr val="BDBDBD">
                <a:alpha val="30196"/>
              </a:srgbClr>
            </a:solidFill>
            <a:prstDash val="solid"/>
            <a:round/>
            <a:headEnd type="none" w="sm" len="sm"/>
            <a:tailEnd type="none" w="sm" len="sm"/>
          </a:ln>
        </p:spPr>
      </p:cxnSp>
      <p:cxnSp>
        <p:nvCxnSpPr>
          <p:cNvPr id="387" name="Google Shape;387;g3f62c33a15b_0_729"/>
          <p:cNvCxnSpPr/>
          <p:nvPr/>
        </p:nvCxnSpPr>
        <p:spPr>
          <a:xfrm flipH="1">
            <a:off x="7772520" y="182880"/>
            <a:ext cx="1188600" cy="4663500"/>
          </a:xfrm>
          <a:prstGeom prst="straightConnector1">
            <a:avLst/>
          </a:prstGeom>
          <a:noFill/>
          <a:ln w="9525" cap="flat" cmpd="sng">
            <a:solidFill>
              <a:srgbClr val="BDBDBD">
                <a:alpha val="30196"/>
              </a:srgbClr>
            </a:solidFill>
            <a:prstDash val="solid"/>
            <a:round/>
            <a:headEnd type="none" w="sm" len="sm"/>
            <a:tailEnd type="none" w="sm" len="sm"/>
          </a:ln>
        </p:spPr>
      </p:cxnSp>
      <p:sp>
        <p:nvSpPr>
          <p:cNvPr id="388" name="Google Shape;388;g3f62c33a15b_0_729"/>
          <p:cNvSpPr/>
          <p:nvPr/>
        </p:nvSpPr>
        <p:spPr>
          <a:xfrm>
            <a:off x="2249424" y="106070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 name="Google Shape;389;g3f62c33a15b_0_729"/>
          <p:cNvSpPr/>
          <p:nvPr/>
        </p:nvSpPr>
        <p:spPr>
          <a:xfrm>
            <a:off x="4535424" y="32918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 name="Google Shape;390;g3f62c33a15b_0_729"/>
          <p:cNvSpPr/>
          <p:nvPr/>
        </p:nvSpPr>
        <p:spPr>
          <a:xfrm>
            <a:off x="6821424" y="160934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 name="Google Shape;391;g3f62c33a15b_0_729"/>
          <p:cNvSpPr/>
          <p:nvPr/>
        </p:nvSpPr>
        <p:spPr>
          <a:xfrm>
            <a:off x="237744" y="407822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 name="Google Shape;392;g3f62c33a15b_0_729"/>
          <p:cNvSpPr/>
          <p:nvPr/>
        </p:nvSpPr>
        <p:spPr>
          <a:xfrm>
            <a:off x="1609344" y="270662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g3f62c33a15b_0_729"/>
          <p:cNvSpPr/>
          <p:nvPr/>
        </p:nvSpPr>
        <p:spPr>
          <a:xfrm>
            <a:off x="3163824" y="453542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g3f62c33a15b_0_729"/>
          <p:cNvSpPr/>
          <p:nvPr/>
        </p:nvSpPr>
        <p:spPr>
          <a:xfrm>
            <a:off x="5449824" y="380390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g3f62c33a15b_0_729"/>
          <p:cNvSpPr/>
          <p:nvPr/>
        </p:nvSpPr>
        <p:spPr>
          <a:xfrm>
            <a:off x="7735824" y="480974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g3f62c33a15b_0_729"/>
          <p:cNvSpPr/>
          <p:nvPr/>
        </p:nvSpPr>
        <p:spPr>
          <a:xfrm>
            <a:off x="365760" y="91440"/>
            <a:ext cx="7863900" cy="658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A237E"/>
              </a:buClr>
              <a:buSzPts val="3000"/>
              <a:buFont typeface="Calibri"/>
              <a:buNone/>
            </a:pPr>
            <a:r>
              <a:rPr lang="en" sz="3000" b="1" i="0" u="none" strike="noStrike" cap="none">
                <a:solidFill>
                  <a:srgbClr val="1A237E"/>
                </a:solidFill>
                <a:latin typeface="Calibri"/>
                <a:ea typeface="Calibri"/>
                <a:cs typeface="Calibri"/>
                <a:sym typeface="Calibri"/>
              </a:rPr>
              <a:t>Comparing the Three Loss Functions</a:t>
            </a:r>
            <a:endParaRPr sz="3000" b="0" i="0" u="none" strike="noStrike" cap="none">
              <a:solidFill>
                <a:srgbClr val="000000"/>
              </a:solidFill>
              <a:latin typeface="Calibri"/>
              <a:ea typeface="Calibri"/>
              <a:cs typeface="Calibri"/>
              <a:sym typeface="Calibri"/>
            </a:endParaRPr>
          </a:p>
        </p:txBody>
      </p:sp>
      <p:cxnSp>
        <p:nvCxnSpPr>
          <p:cNvPr id="397" name="Google Shape;397;g3f62c33a15b_0_729"/>
          <p:cNvCxnSpPr/>
          <p:nvPr/>
        </p:nvCxnSpPr>
        <p:spPr>
          <a:xfrm>
            <a:off x="365760" y="786384"/>
            <a:ext cx="7772400" cy="0"/>
          </a:xfrm>
          <a:prstGeom prst="straightConnector1">
            <a:avLst/>
          </a:prstGeom>
          <a:noFill/>
          <a:ln w="12700" cap="flat" cmpd="sng">
            <a:solidFill>
              <a:srgbClr val="00838F"/>
            </a:solidFill>
            <a:prstDash val="solid"/>
            <a:round/>
            <a:headEnd type="none" w="sm" len="sm"/>
            <a:tailEnd type="none" w="sm" len="sm"/>
          </a:ln>
        </p:spPr>
      </p:cxnSp>
      <p:sp>
        <p:nvSpPr>
          <p:cNvPr id="398" name="Google Shape;398;g3f62c33a15b_0_729"/>
          <p:cNvSpPr/>
          <p:nvPr/>
        </p:nvSpPr>
        <p:spPr>
          <a:xfrm>
            <a:off x="228600" y="914400"/>
            <a:ext cx="2834700" cy="4160400"/>
          </a:xfrm>
          <a:prstGeom prst="rect">
            <a:avLst/>
          </a:prstGeom>
          <a:solidFill>
            <a:srgbClr val="E3F2FD"/>
          </a:solidFill>
          <a:ln w="12700" cap="flat" cmpd="sng">
            <a:solidFill>
              <a:srgbClr val="90CAF9"/>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g3f62c33a15b_0_729"/>
          <p:cNvSpPr/>
          <p:nvPr/>
        </p:nvSpPr>
        <p:spPr>
          <a:xfrm>
            <a:off x="228600" y="914400"/>
            <a:ext cx="2834700" cy="438900"/>
          </a:xfrm>
          <a:prstGeom prst="rect">
            <a:avLst/>
          </a:prstGeom>
          <a:solidFill>
            <a:srgbClr val="1565C0"/>
          </a:solidFill>
          <a:ln w="12700" cap="flat" cmpd="sng">
            <a:solidFill>
              <a:srgbClr val="1565C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 name="Google Shape;400;g3f62c33a15b_0_729"/>
          <p:cNvSpPr/>
          <p:nvPr/>
        </p:nvSpPr>
        <p:spPr>
          <a:xfrm>
            <a:off x="228600" y="914400"/>
            <a:ext cx="2834700" cy="438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 sz="1400" b="1" i="0" u="none" strike="noStrike" cap="none">
                <a:solidFill>
                  <a:srgbClr val="FFFFFF"/>
                </a:solidFill>
                <a:latin typeface="Calibri"/>
                <a:ea typeface="Calibri"/>
                <a:cs typeface="Calibri"/>
                <a:sym typeface="Calibri"/>
              </a:rPr>
              <a:t>MSE</a:t>
            </a:r>
            <a:endParaRPr sz="1400" b="0" i="0" u="none" strike="noStrike" cap="none">
              <a:solidFill>
                <a:srgbClr val="000000"/>
              </a:solidFill>
              <a:latin typeface="Calibri"/>
              <a:ea typeface="Calibri"/>
              <a:cs typeface="Calibri"/>
              <a:sym typeface="Calibri"/>
            </a:endParaRPr>
          </a:p>
        </p:txBody>
      </p:sp>
      <p:sp>
        <p:nvSpPr>
          <p:cNvPr id="401" name="Google Shape;401;g3f62c33a15b_0_729"/>
          <p:cNvSpPr/>
          <p:nvPr/>
        </p:nvSpPr>
        <p:spPr>
          <a:xfrm>
            <a:off x="338328" y="1426464"/>
            <a:ext cx="2615100" cy="384000"/>
          </a:xfrm>
          <a:prstGeom prst="rect">
            <a:avLst/>
          </a:prstGeom>
          <a:solidFill>
            <a:srgbClr val="FFFFFF"/>
          </a:solidFill>
          <a:ln w="10150" cap="flat" cmpd="sng">
            <a:solidFill>
              <a:srgbClr val="1565C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g3f62c33a15b_0_729"/>
          <p:cNvSpPr/>
          <p:nvPr/>
        </p:nvSpPr>
        <p:spPr>
          <a:xfrm>
            <a:off x="356616" y="1444752"/>
            <a:ext cx="2578500" cy="347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565C0"/>
              </a:buClr>
              <a:buSzPts val="1000"/>
              <a:buFont typeface="Consolas"/>
              <a:buNone/>
            </a:pPr>
            <a:r>
              <a:rPr lang="en" sz="1000" b="1" i="0" u="none" strike="noStrike" cap="none">
                <a:solidFill>
                  <a:srgbClr val="1565C0"/>
                </a:solidFill>
                <a:latin typeface="Consolas"/>
                <a:ea typeface="Consolas"/>
                <a:cs typeface="Consolas"/>
                <a:sym typeface="Consolas"/>
              </a:rPr>
              <a:t>(1/n)Σ(y−ŷ)²</a:t>
            </a:r>
            <a:endParaRPr sz="1000" b="0" i="0" u="none" strike="noStrike" cap="none">
              <a:solidFill>
                <a:srgbClr val="000000"/>
              </a:solidFill>
              <a:latin typeface="Calibri"/>
              <a:ea typeface="Calibri"/>
              <a:cs typeface="Calibri"/>
              <a:sym typeface="Calibri"/>
            </a:endParaRPr>
          </a:p>
        </p:txBody>
      </p:sp>
      <p:sp>
        <p:nvSpPr>
          <p:cNvPr id="403" name="Google Shape;403;g3f62c33a15b_0_729"/>
          <p:cNvSpPr/>
          <p:nvPr/>
        </p:nvSpPr>
        <p:spPr>
          <a:xfrm>
            <a:off x="356616" y="1901952"/>
            <a:ext cx="8229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565C0"/>
              </a:buClr>
              <a:buSzPts val="1100"/>
              <a:buFont typeface="Calibri"/>
              <a:buNone/>
            </a:pPr>
            <a:r>
              <a:rPr lang="en" sz="1100" b="1" i="0" u="none" strike="noStrike" cap="none">
                <a:solidFill>
                  <a:srgbClr val="1565C0"/>
                </a:solidFill>
                <a:latin typeface="Calibri"/>
                <a:ea typeface="Calibri"/>
                <a:cs typeface="Calibri"/>
                <a:sym typeface="Calibri"/>
              </a:rPr>
              <a:t>Task:</a:t>
            </a:r>
            <a:endParaRPr sz="1100" b="0" i="0" u="none" strike="noStrike" cap="none">
              <a:solidFill>
                <a:srgbClr val="000000"/>
              </a:solidFill>
              <a:latin typeface="Calibri"/>
              <a:ea typeface="Calibri"/>
              <a:cs typeface="Calibri"/>
              <a:sym typeface="Calibri"/>
            </a:endParaRPr>
          </a:p>
        </p:txBody>
      </p:sp>
      <p:sp>
        <p:nvSpPr>
          <p:cNvPr id="404" name="Google Shape;404;g3f62c33a15b_0_729"/>
          <p:cNvSpPr/>
          <p:nvPr/>
        </p:nvSpPr>
        <p:spPr>
          <a:xfrm>
            <a:off x="356616" y="2139696"/>
            <a:ext cx="25785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Regression</a:t>
            </a:r>
            <a:endParaRPr sz="1100" b="0" i="0" u="none" strike="noStrike" cap="none">
              <a:solidFill>
                <a:srgbClr val="000000"/>
              </a:solidFill>
              <a:latin typeface="Calibri"/>
              <a:ea typeface="Calibri"/>
              <a:cs typeface="Calibri"/>
              <a:sym typeface="Calibri"/>
            </a:endParaRPr>
          </a:p>
        </p:txBody>
      </p:sp>
      <p:sp>
        <p:nvSpPr>
          <p:cNvPr id="405" name="Google Shape;405;g3f62c33a15b_0_729"/>
          <p:cNvSpPr/>
          <p:nvPr/>
        </p:nvSpPr>
        <p:spPr>
          <a:xfrm>
            <a:off x="356616" y="2432304"/>
            <a:ext cx="8229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565C0"/>
              </a:buClr>
              <a:buSzPts val="1100"/>
              <a:buFont typeface="Calibri"/>
              <a:buNone/>
            </a:pPr>
            <a:r>
              <a:rPr lang="en" sz="1100" b="1" i="0" u="none" strike="noStrike" cap="none">
                <a:solidFill>
                  <a:srgbClr val="1565C0"/>
                </a:solidFill>
                <a:latin typeface="Calibri"/>
                <a:ea typeface="Calibri"/>
                <a:cs typeface="Calibri"/>
                <a:sym typeface="Calibri"/>
              </a:rPr>
              <a:t>Output:</a:t>
            </a:r>
            <a:endParaRPr sz="1100" b="0" i="0" u="none" strike="noStrike" cap="none">
              <a:solidFill>
                <a:srgbClr val="000000"/>
              </a:solidFill>
              <a:latin typeface="Calibri"/>
              <a:ea typeface="Calibri"/>
              <a:cs typeface="Calibri"/>
              <a:sym typeface="Calibri"/>
            </a:endParaRPr>
          </a:p>
        </p:txBody>
      </p:sp>
      <p:sp>
        <p:nvSpPr>
          <p:cNvPr id="406" name="Google Shape;406;g3f62c33a15b_0_729"/>
          <p:cNvSpPr/>
          <p:nvPr/>
        </p:nvSpPr>
        <p:spPr>
          <a:xfrm>
            <a:off x="356616" y="2670048"/>
            <a:ext cx="25785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Continuous number</a:t>
            </a:r>
            <a:endParaRPr sz="1100" b="0" i="0" u="none" strike="noStrike" cap="none">
              <a:solidFill>
                <a:srgbClr val="000000"/>
              </a:solidFill>
              <a:latin typeface="Calibri"/>
              <a:ea typeface="Calibri"/>
              <a:cs typeface="Calibri"/>
              <a:sym typeface="Calibri"/>
            </a:endParaRPr>
          </a:p>
        </p:txBody>
      </p:sp>
      <p:sp>
        <p:nvSpPr>
          <p:cNvPr id="407" name="Google Shape;407;g3f62c33a15b_0_729"/>
          <p:cNvSpPr/>
          <p:nvPr/>
        </p:nvSpPr>
        <p:spPr>
          <a:xfrm>
            <a:off x="356616" y="2962656"/>
            <a:ext cx="8229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565C0"/>
              </a:buClr>
              <a:buSzPts val="1100"/>
              <a:buFont typeface="Calibri"/>
              <a:buNone/>
            </a:pPr>
            <a:r>
              <a:rPr lang="en" sz="1100" b="1" i="0" u="none" strike="noStrike" cap="none">
                <a:solidFill>
                  <a:srgbClr val="1565C0"/>
                </a:solidFill>
                <a:latin typeface="Calibri"/>
                <a:ea typeface="Calibri"/>
                <a:cs typeface="Calibri"/>
                <a:sym typeface="Calibri"/>
              </a:rPr>
              <a:t>Activation:</a:t>
            </a:r>
            <a:endParaRPr sz="1100" b="0" i="0" u="none" strike="noStrike" cap="none">
              <a:solidFill>
                <a:srgbClr val="000000"/>
              </a:solidFill>
              <a:latin typeface="Calibri"/>
              <a:ea typeface="Calibri"/>
              <a:cs typeface="Calibri"/>
              <a:sym typeface="Calibri"/>
            </a:endParaRPr>
          </a:p>
        </p:txBody>
      </p:sp>
      <p:sp>
        <p:nvSpPr>
          <p:cNvPr id="408" name="Google Shape;408;g3f62c33a15b_0_729"/>
          <p:cNvSpPr/>
          <p:nvPr/>
        </p:nvSpPr>
        <p:spPr>
          <a:xfrm>
            <a:off x="356616" y="3200400"/>
            <a:ext cx="25785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None / Linear</a:t>
            </a:r>
            <a:endParaRPr sz="1100" b="0" i="0" u="none" strike="noStrike" cap="none">
              <a:solidFill>
                <a:srgbClr val="000000"/>
              </a:solidFill>
              <a:latin typeface="Calibri"/>
              <a:ea typeface="Calibri"/>
              <a:cs typeface="Calibri"/>
              <a:sym typeface="Calibri"/>
            </a:endParaRPr>
          </a:p>
        </p:txBody>
      </p:sp>
      <p:sp>
        <p:nvSpPr>
          <p:cNvPr id="409" name="Google Shape;409;g3f62c33a15b_0_729"/>
          <p:cNvSpPr/>
          <p:nvPr/>
        </p:nvSpPr>
        <p:spPr>
          <a:xfrm>
            <a:off x="356616" y="3493008"/>
            <a:ext cx="8229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565C0"/>
              </a:buClr>
              <a:buSzPts val="1100"/>
              <a:buFont typeface="Calibri"/>
              <a:buNone/>
            </a:pPr>
            <a:r>
              <a:rPr lang="en" sz="1100" b="1" i="0" u="none" strike="noStrike" cap="none">
                <a:solidFill>
                  <a:srgbClr val="1565C0"/>
                </a:solidFill>
                <a:latin typeface="Calibri"/>
                <a:ea typeface="Calibri"/>
                <a:cs typeface="Calibri"/>
                <a:sym typeface="Calibri"/>
              </a:rPr>
              <a:t>Example:</a:t>
            </a:r>
            <a:endParaRPr sz="1100" b="0" i="0" u="none" strike="noStrike" cap="none">
              <a:solidFill>
                <a:srgbClr val="000000"/>
              </a:solidFill>
              <a:latin typeface="Calibri"/>
              <a:ea typeface="Calibri"/>
              <a:cs typeface="Calibri"/>
              <a:sym typeface="Calibri"/>
            </a:endParaRPr>
          </a:p>
        </p:txBody>
      </p:sp>
      <p:sp>
        <p:nvSpPr>
          <p:cNvPr id="410" name="Google Shape;410;g3f62c33a15b_0_729"/>
          <p:cNvSpPr/>
          <p:nvPr/>
        </p:nvSpPr>
        <p:spPr>
          <a:xfrm>
            <a:off x="356616" y="3730752"/>
            <a:ext cx="25785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House price, temperature, stock value</a:t>
            </a:r>
            <a:endParaRPr sz="1100" b="0" i="0" u="none" strike="noStrike" cap="none">
              <a:solidFill>
                <a:srgbClr val="000000"/>
              </a:solidFill>
              <a:latin typeface="Calibri"/>
              <a:ea typeface="Calibri"/>
              <a:cs typeface="Calibri"/>
              <a:sym typeface="Calibri"/>
            </a:endParaRPr>
          </a:p>
        </p:txBody>
      </p:sp>
      <p:sp>
        <p:nvSpPr>
          <p:cNvPr id="411" name="Google Shape;411;g3f62c33a15b_0_729"/>
          <p:cNvSpPr/>
          <p:nvPr/>
        </p:nvSpPr>
        <p:spPr>
          <a:xfrm>
            <a:off x="356616" y="4023360"/>
            <a:ext cx="8229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565C0"/>
              </a:buClr>
              <a:buSzPts val="1100"/>
              <a:buFont typeface="Calibri"/>
              <a:buNone/>
            </a:pPr>
            <a:r>
              <a:rPr lang="en" sz="1100" b="1" i="0" u="none" strike="noStrike" cap="none">
                <a:solidFill>
                  <a:srgbClr val="1565C0"/>
                </a:solidFill>
                <a:latin typeface="Calibri"/>
                <a:ea typeface="Calibri"/>
                <a:cs typeface="Calibri"/>
                <a:sym typeface="Calibri"/>
              </a:rPr>
              <a:t>Penalty:</a:t>
            </a:r>
            <a:endParaRPr sz="1100" b="0" i="0" u="none" strike="noStrike" cap="none">
              <a:solidFill>
                <a:srgbClr val="000000"/>
              </a:solidFill>
              <a:latin typeface="Calibri"/>
              <a:ea typeface="Calibri"/>
              <a:cs typeface="Calibri"/>
              <a:sym typeface="Calibri"/>
            </a:endParaRPr>
          </a:p>
        </p:txBody>
      </p:sp>
      <p:sp>
        <p:nvSpPr>
          <p:cNvPr id="412" name="Google Shape;412;g3f62c33a15b_0_729"/>
          <p:cNvSpPr/>
          <p:nvPr/>
        </p:nvSpPr>
        <p:spPr>
          <a:xfrm>
            <a:off x="356616" y="4261104"/>
            <a:ext cx="25785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Squares the error — large errors hurt more</a:t>
            </a:r>
            <a:endParaRPr sz="1100" b="0" i="0" u="none" strike="noStrike" cap="none">
              <a:solidFill>
                <a:srgbClr val="000000"/>
              </a:solidFill>
              <a:latin typeface="Calibri"/>
              <a:ea typeface="Calibri"/>
              <a:cs typeface="Calibri"/>
              <a:sym typeface="Calibri"/>
            </a:endParaRPr>
          </a:p>
        </p:txBody>
      </p:sp>
      <p:sp>
        <p:nvSpPr>
          <p:cNvPr id="413" name="Google Shape;413;g3f62c33a15b_0_729"/>
          <p:cNvSpPr/>
          <p:nvPr/>
        </p:nvSpPr>
        <p:spPr>
          <a:xfrm>
            <a:off x="3182112" y="914400"/>
            <a:ext cx="2834700" cy="4160400"/>
          </a:xfrm>
          <a:prstGeom prst="rect">
            <a:avLst/>
          </a:prstGeom>
          <a:solidFill>
            <a:srgbClr val="E8F5E9"/>
          </a:solidFill>
          <a:ln w="12700" cap="flat" cmpd="sng">
            <a:solidFill>
              <a:srgbClr val="A5D6A7"/>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 name="Google Shape;414;g3f62c33a15b_0_729"/>
          <p:cNvSpPr/>
          <p:nvPr/>
        </p:nvSpPr>
        <p:spPr>
          <a:xfrm>
            <a:off x="3182112" y="914400"/>
            <a:ext cx="2834700" cy="438900"/>
          </a:xfrm>
          <a:prstGeom prst="rect">
            <a:avLst/>
          </a:prstGeom>
          <a:solidFill>
            <a:srgbClr val="2E7D32"/>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g3f62c33a15b_0_729"/>
          <p:cNvSpPr/>
          <p:nvPr/>
        </p:nvSpPr>
        <p:spPr>
          <a:xfrm>
            <a:off x="3182112" y="914400"/>
            <a:ext cx="2834700" cy="438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 sz="1400" b="1" i="0" u="none" strike="noStrike" cap="none">
                <a:solidFill>
                  <a:srgbClr val="FFFFFF"/>
                </a:solidFill>
                <a:latin typeface="Calibri"/>
                <a:ea typeface="Calibri"/>
                <a:cs typeface="Calibri"/>
                <a:sym typeface="Calibri"/>
              </a:rPr>
              <a:t>Binary Cross-Entropy</a:t>
            </a:r>
            <a:endParaRPr sz="1400" b="0" i="0" u="none" strike="noStrike" cap="none">
              <a:solidFill>
                <a:srgbClr val="000000"/>
              </a:solidFill>
              <a:latin typeface="Calibri"/>
              <a:ea typeface="Calibri"/>
              <a:cs typeface="Calibri"/>
              <a:sym typeface="Calibri"/>
            </a:endParaRPr>
          </a:p>
        </p:txBody>
      </p:sp>
      <p:sp>
        <p:nvSpPr>
          <p:cNvPr id="416" name="Google Shape;416;g3f62c33a15b_0_729"/>
          <p:cNvSpPr/>
          <p:nvPr/>
        </p:nvSpPr>
        <p:spPr>
          <a:xfrm>
            <a:off x="3291840" y="1426464"/>
            <a:ext cx="2615100" cy="384000"/>
          </a:xfrm>
          <a:prstGeom prst="rect">
            <a:avLst/>
          </a:prstGeom>
          <a:solidFill>
            <a:srgbClr val="FFFFFF"/>
          </a:solidFill>
          <a:ln w="1015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 name="Google Shape;417;g3f62c33a15b_0_729"/>
          <p:cNvSpPr/>
          <p:nvPr/>
        </p:nvSpPr>
        <p:spPr>
          <a:xfrm>
            <a:off x="3310128" y="1444752"/>
            <a:ext cx="2578500" cy="347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2E7D32"/>
              </a:buClr>
              <a:buSzPts val="1000"/>
              <a:buFont typeface="Consolas"/>
              <a:buNone/>
            </a:pPr>
            <a:r>
              <a:rPr lang="en" sz="1000" b="1" i="0" u="none" strike="noStrike" cap="none">
                <a:solidFill>
                  <a:srgbClr val="2E7D32"/>
                </a:solidFill>
                <a:latin typeface="Consolas"/>
                <a:ea typeface="Consolas"/>
                <a:cs typeface="Consolas"/>
                <a:sym typeface="Consolas"/>
              </a:rPr>
              <a:t>−[y log(ŷ)+(1−y)log(1−ŷ)]</a:t>
            </a:r>
            <a:endParaRPr sz="1000" b="0" i="0" u="none" strike="noStrike" cap="none">
              <a:solidFill>
                <a:srgbClr val="000000"/>
              </a:solidFill>
              <a:latin typeface="Calibri"/>
              <a:ea typeface="Calibri"/>
              <a:cs typeface="Calibri"/>
              <a:sym typeface="Calibri"/>
            </a:endParaRPr>
          </a:p>
        </p:txBody>
      </p:sp>
      <p:sp>
        <p:nvSpPr>
          <p:cNvPr id="418" name="Google Shape;418;g3f62c33a15b_0_729"/>
          <p:cNvSpPr/>
          <p:nvPr/>
        </p:nvSpPr>
        <p:spPr>
          <a:xfrm>
            <a:off x="3310128" y="1901952"/>
            <a:ext cx="8229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E7D32"/>
              </a:buClr>
              <a:buSzPts val="1100"/>
              <a:buFont typeface="Calibri"/>
              <a:buNone/>
            </a:pPr>
            <a:r>
              <a:rPr lang="en" sz="1100" b="1" i="0" u="none" strike="noStrike" cap="none">
                <a:solidFill>
                  <a:srgbClr val="2E7D32"/>
                </a:solidFill>
                <a:latin typeface="Calibri"/>
                <a:ea typeface="Calibri"/>
                <a:cs typeface="Calibri"/>
                <a:sym typeface="Calibri"/>
              </a:rPr>
              <a:t>Task:</a:t>
            </a:r>
            <a:endParaRPr sz="1100" b="0" i="0" u="none" strike="noStrike" cap="none">
              <a:solidFill>
                <a:srgbClr val="000000"/>
              </a:solidFill>
              <a:latin typeface="Calibri"/>
              <a:ea typeface="Calibri"/>
              <a:cs typeface="Calibri"/>
              <a:sym typeface="Calibri"/>
            </a:endParaRPr>
          </a:p>
        </p:txBody>
      </p:sp>
      <p:sp>
        <p:nvSpPr>
          <p:cNvPr id="419" name="Google Shape;419;g3f62c33a15b_0_729"/>
          <p:cNvSpPr/>
          <p:nvPr/>
        </p:nvSpPr>
        <p:spPr>
          <a:xfrm>
            <a:off x="3310128" y="2139696"/>
            <a:ext cx="25785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Binary Classification</a:t>
            </a:r>
            <a:endParaRPr sz="1100" b="0" i="0" u="none" strike="noStrike" cap="none">
              <a:solidFill>
                <a:srgbClr val="000000"/>
              </a:solidFill>
              <a:latin typeface="Calibri"/>
              <a:ea typeface="Calibri"/>
              <a:cs typeface="Calibri"/>
              <a:sym typeface="Calibri"/>
            </a:endParaRPr>
          </a:p>
        </p:txBody>
      </p:sp>
      <p:sp>
        <p:nvSpPr>
          <p:cNvPr id="420" name="Google Shape;420;g3f62c33a15b_0_729"/>
          <p:cNvSpPr/>
          <p:nvPr/>
        </p:nvSpPr>
        <p:spPr>
          <a:xfrm>
            <a:off x="3310128" y="2432304"/>
            <a:ext cx="8229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E7D32"/>
              </a:buClr>
              <a:buSzPts val="1100"/>
              <a:buFont typeface="Calibri"/>
              <a:buNone/>
            </a:pPr>
            <a:r>
              <a:rPr lang="en" sz="1100" b="1" i="0" u="none" strike="noStrike" cap="none">
                <a:solidFill>
                  <a:srgbClr val="2E7D32"/>
                </a:solidFill>
                <a:latin typeface="Calibri"/>
                <a:ea typeface="Calibri"/>
                <a:cs typeface="Calibri"/>
                <a:sym typeface="Calibri"/>
              </a:rPr>
              <a:t>Output:</a:t>
            </a:r>
            <a:endParaRPr sz="1100" b="0" i="0" u="none" strike="noStrike" cap="none">
              <a:solidFill>
                <a:srgbClr val="000000"/>
              </a:solidFill>
              <a:latin typeface="Calibri"/>
              <a:ea typeface="Calibri"/>
              <a:cs typeface="Calibri"/>
              <a:sym typeface="Calibri"/>
            </a:endParaRPr>
          </a:p>
        </p:txBody>
      </p:sp>
      <p:sp>
        <p:nvSpPr>
          <p:cNvPr id="421" name="Google Shape;421;g3f62c33a15b_0_729"/>
          <p:cNvSpPr/>
          <p:nvPr/>
        </p:nvSpPr>
        <p:spPr>
          <a:xfrm>
            <a:off x="3310128" y="2670048"/>
            <a:ext cx="25785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Probability (0–1)</a:t>
            </a:r>
            <a:endParaRPr sz="1100" b="0" i="0" u="none" strike="noStrike" cap="none">
              <a:solidFill>
                <a:srgbClr val="000000"/>
              </a:solidFill>
              <a:latin typeface="Calibri"/>
              <a:ea typeface="Calibri"/>
              <a:cs typeface="Calibri"/>
              <a:sym typeface="Calibri"/>
            </a:endParaRPr>
          </a:p>
        </p:txBody>
      </p:sp>
      <p:sp>
        <p:nvSpPr>
          <p:cNvPr id="422" name="Google Shape;422;g3f62c33a15b_0_729"/>
          <p:cNvSpPr/>
          <p:nvPr/>
        </p:nvSpPr>
        <p:spPr>
          <a:xfrm>
            <a:off x="3310128" y="2962656"/>
            <a:ext cx="8229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E7D32"/>
              </a:buClr>
              <a:buSzPts val="1100"/>
              <a:buFont typeface="Calibri"/>
              <a:buNone/>
            </a:pPr>
            <a:r>
              <a:rPr lang="en" sz="1100" b="1" i="0" u="none" strike="noStrike" cap="none">
                <a:solidFill>
                  <a:srgbClr val="2E7D32"/>
                </a:solidFill>
                <a:latin typeface="Calibri"/>
                <a:ea typeface="Calibri"/>
                <a:cs typeface="Calibri"/>
                <a:sym typeface="Calibri"/>
              </a:rPr>
              <a:t>Activation:</a:t>
            </a:r>
            <a:endParaRPr sz="1100" b="0" i="0" u="none" strike="noStrike" cap="none">
              <a:solidFill>
                <a:srgbClr val="000000"/>
              </a:solidFill>
              <a:latin typeface="Calibri"/>
              <a:ea typeface="Calibri"/>
              <a:cs typeface="Calibri"/>
              <a:sym typeface="Calibri"/>
            </a:endParaRPr>
          </a:p>
        </p:txBody>
      </p:sp>
      <p:sp>
        <p:nvSpPr>
          <p:cNvPr id="423" name="Google Shape;423;g3f62c33a15b_0_729"/>
          <p:cNvSpPr/>
          <p:nvPr/>
        </p:nvSpPr>
        <p:spPr>
          <a:xfrm>
            <a:off x="3310128" y="3200400"/>
            <a:ext cx="25785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Sigmoid</a:t>
            </a:r>
            <a:endParaRPr sz="1100" b="0" i="0" u="none" strike="noStrike" cap="none">
              <a:solidFill>
                <a:srgbClr val="000000"/>
              </a:solidFill>
              <a:latin typeface="Calibri"/>
              <a:ea typeface="Calibri"/>
              <a:cs typeface="Calibri"/>
              <a:sym typeface="Calibri"/>
            </a:endParaRPr>
          </a:p>
        </p:txBody>
      </p:sp>
      <p:sp>
        <p:nvSpPr>
          <p:cNvPr id="424" name="Google Shape;424;g3f62c33a15b_0_729"/>
          <p:cNvSpPr/>
          <p:nvPr/>
        </p:nvSpPr>
        <p:spPr>
          <a:xfrm>
            <a:off x="3310128" y="3493008"/>
            <a:ext cx="8229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E7D32"/>
              </a:buClr>
              <a:buSzPts val="1100"/>
              <a:buFont typeface="Calibri"/>
              <a:buNone/>
            </a:pPr>
            <a:r>
              <a:rPr lang="en" sz="1100" b="1" i="0" u="none" strike="noStrike" cap="none">
                <a:solidFill>
                  <a:srgbClr val="2E7D32"/>
                </a:solidFill>
                <a:latin typeface="Calibri"/>
                <a:ea typeface="Calibri"/>
                <a:cs typeface="Calibri"/>
                <a:sym typeface="Calibri"/>
              </a:rPr>
              <a:t>Example:</a:t>
            </a:r>
            <a:endParaRPr sz="1100" b="0" i="0" u="none" strike="noStrike" cap="none">
              <a:solidFill>
                <a:srgbClr val="000000"/>
              </a:solidFill>
              <a:latin typeface="Calibri"/>
              <a:ea typeface="Calibri"/>
              <a:cs typeface="Calibri"/>
              <a:sym typeface="Calibri"/>
            </a:endParaRPr>
          </a:p>
        </p:txBody>
      </p:sp>
      <p:sp>
        <p:nvSpPr>
          <p:cNvPr id="425" name="Google Shape;425;g3f62c33a15b_0_729"/>
          <p:cNvSpPr/>
          <p:nvPr/>
        </p:nvSpPr>
        <p:spPr>
          <a:xfrm>
            <a:off x="3310128" y="3730752"/>
            <a:ext cx="25785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Spam detection, fraud, disease</a:t>
            </a:r>
            <a:endParaRPr sz="1100" b="0" i="0" u="none" strike="noStrike" cap="none">
              <a:solidFill>
                <a:srgbClr val="000000"/>
              </a:solidFill>
              <a:latin typeface="Calibri"/>
              <a:ea typeface="Calibri"/>
              <a:cs typeface="Calibri"/>
              <a:sym typeface="Calibri"/>
            </a:endParaRPr>
          </a:p>
        </p:txBody>
      </p:sp>
      <p:sp>
        <p:nvSpPr>
          <p:cNvPr id="426" name="Google Shape;426;g3f62c33a15b_0_729"/>
          <p:cNvSpPr/>
          <p:nvPr/>
        </p:nvSpPr>
        <p:spPr>
          <a:xfrm>
            <a:off x="3310128" y="4023360"/>
            <a:ext cx="8229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E7D32"/>
              </a:buClr>
              <a:buSzPts val="1100"/>
              <a:buFont typeface="Calibri"/>
              <a:buNone/>
            </a:pPr>
            <a:r>
              <a:rPr lang="en" sz="1100" b="1" i="0" u="none" strike="noStrike" cap="none">
                <a:solidFill>
                  <a:srgbClr val="2E7D32"/>
                </a:solidFill>
                <a:latin typeface="Calibri"/>
                <a:ea typeface="Calibri"/>
                <a:cs typeface="Calibri"/>
                <a:sym typeface="Calibri"/>
              </a:rPr>
              <a:t>Penalty:</a:t>
            </a:r>
            <a:endParaRPr sz="1100" b="0" i="0" u="none" strike="noStrike" cap="none">
              <a:solidFill>
                <a:srgbClr val="000000"/>
              </a:solidFill>
              <a:latin typeface="Calibri"/>
              <a:ea typeface="Calibri"/>
              <a:cs typeface="Calibri"/>
              <a:sym typeface="Calibri"/>
            </a:endParaRPr>
          </a:p>
        </p:txBody>
      </p:sp>
      <p:sp>
        <p:nvSpPr>
          <p:cNvPr id="427" name="Google Shape;427;g3f62c33a15b_0_729"/>
          <p:cNvSpPr/>
          <p:nvPr/>
        </p:nvSpPr>
        <p:spPr>
          <a:xfrm>
            <a:off x="3310128" y="4261104"/>
            <a:ext cx="25785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log penalises confident mistakes heavily</a:t>
            </a:r>
            <a:endParaRPr sz="1100" b="0" i="0" u="none" strike="noStrike" cap="none">
              <a:solidFill>
                <a:srgbClr val="000000"/>
              </a:solidFill>
              <a:latin typeface="Calibri"/>
              <a:ea typeface="Calibri"/>
              <a:cs typeface="Calibri"/>
              <a:sym typeface="Calibri"/>
            </a:endParaRPr>
          </a:p>
        </p:txBody>
      </p:sp>
      <p:sp>
        <p:nvSpPr>
          <p:cNvPr id="428" name="Google Shape;428;g3f62c33a15b_0_729"/>
          <p:cNvSpPr/>
          <p:nvPr/>
        </p:nvSpPr>
        <p:spPr>
          <a:xfrm>
            <a:off x="6135624" y="914400"/>
            <a:ext cx="2834700" cy="4160400"/>
          </a:xfrm>
          <a:prstGeom prst="rect">
            <a:avLst/>
          </a:prstGeom>
          <a:solidFill>
            <a:srgbClr val="F3E5F5"/>
          </a:solidFill>
          <a:ln w="12700" cap="flat" cmpd="sng">
            <a:solidFill>
              <a:srgbClr val="CE93D8"/>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 name="Google Shape;429;g3f62c33a15b_0_729"/>
          <p:cNvSpPr/>
          <p:nvPr/>
        </p:nvSpPr>
        <p:spPr>
          <a:xfrm>
            <a:off x="6135624" y="914400"/>
            <a:ext cx="2834700" cy="438900"/>
          </a:xfrm>
          <a:prstGeom prst="rect">
            <a:avLst/>
          </a:prstGeom>
          <a:solidFill>
            <a:srgbClr val="6A1B9A"/>
          </a:solidFill>
          <a:ln w="12700" cap="flat" cmpd="sng">
            <a:solidFill>
              <a:srgbClr val="6A1B9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 name="Google Shape;430;g3f62c33a15b_0_729"/>
          <p:cNvSpPr/>
          <p:nvPr/>
        </p:nvSpPr>
        <p:spPr>
          <a:xfrm>
            <a:off x="6135624" y="914400"/>
            <a:ext cx="2834700" cy="438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 sz="1400" b="1" i="0" u="none" strike="noStrike" cap="none">
                <a:solidFill>
                  <a:srgbClr val="FFFFFF"/>
                </a:solidFill>
                <a:latin typeface="Calibri"/>
                <a:ea typeface="Calibri"/>
                <a:cs typeface="Calibri"/>
                <a:sym typeface="Calibri"/>
              </a:rPr>
              <a:t>Categorical Cross-Entropy</a:t>
            </a:r>
            <a:endParaRPr sz="1400" b="0" i="0" u="none" strike="noStrike" cap="none">
              <a:solidFill>
                <a:srgbClr val="000000"/>
              </a:solidFill>
              <a:latin typeface="Calibri"/>
              <a:ea typeface="Calibri"/>
              <a:cs typeface="Calibri"/>
              <a:sym typeface="Calibri"/>
            </a:endParaRPr>
          </a:p>
        </p:txBody>
      </p:sp>
      <p:sp>
        <p:nvSpPr>
          <p:cNvPr id="431" name="Google Shape;431;g3f62c33a15b_0_729"/>
          <p:cNvSpPr/>
          <p:nvPr/>
        </p:nvSpPr>
        <p:spPr>
          <a:xfrm>
            <a:off x="6245352" y="1426464"/>
            <a:ext cx="2615100" cy="384000"/>
          </a:xfrm>
          <a:prstGeom prst="rect">
            <a:avLst/>
          </a:prstGeom>
          <a:solidFill>
            <a:srgbClr val="FFFFFF"/>
          </a:solidFill>
          <a:ln w="10150" cap="flat" cmpd="sng">
            <a:solidFill>
              <a:srgbClr val="6A1B9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 name="Google Shape;432;g3f62c33a15b_0_729"/>
          <p:cNvSpPr/>
          <p:nvPr/>
        </p:nvSpPr>
        <p:spPr>
          <a:xfrm>
            <a:off x="6263640" y="1444752"/>
            <a:ext cx="2578500" cy="347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A1B9A"/>
              </a:buClr>
              <a:buSzPts val="1000"/>
              <a:buFont typeface="Consolas"/>
              <a:buNone/>
            </a:pPr>
            <a:r>
              <a:rPr lang="en" sz="1000" b="1" i="0" u="none" strike="noStrike" cap="none">
                <a:solidFill>
                  <a:srgbClr val="6A1B9A"/>
                </a:solidFill>
                <a:latin typeface="Consolas"/>
                <a:ea typeface="Consolas"/>
                <a:cs typeface="Consolas"/>
                <a:sym typeface="Consolas"/>
              </a:rPr>
              <a:t>−Σc  y_c · log(ŷ_c)</a:t>
            </a:r>
            <a:endParaRPr sz="1000" b="0" i="0" u="none" strike="noStrike" cap="none">
              <a:solidFill>
                <a:srgbClr val="000000"/>
              </a:solidFill>
              <a:latin typeface="Calibri"/>
              <a:ea typeface="Calibri"/>
              <a:cs typeface="Calibri"/>
              <a:sym typeface="Calibri"/>
            </a:endParaRPr>
          </a:p>
        </p:txBody>
      </p:sp>
      <p:sp>
        <p:nvSpPr>
          <p:cNvPr id="433" name="Google Shape;433;g3f62c33a15b_0_729"/>
          <p:cNvSpPr/>
          <p:nvPr/>
        </p:nvSpPr>
        <p:spPr>
          <a:xfrm>
            <a:off x="6263640" y="1901952"/>
            <a:ext cx="8229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A1B9A"/>
              </a:buClr>
              <a:buSzPts val="1100"/>
              <a:buFont typeface="Calibri"/>
              <a:buNone/>
            </a:pPr>
            <a:r>
              <a:rPr lang="en" sz="1100" b="1" i="0" u="none" strike="noStrike" cap="none">
                <a:solidFill>
                  <a:srgbClr val="6A1B9A"/>
                </a:solidFill>
                <a:latin typeface="Calibri"/>
                <a:ea typeface="Calibri"/>
                <a:cs typeface="Calibri"/>
                <a:sym typeface="Calibri"/>
              </a:rPr>
              <a:t>Task:</a:t>
            </a:r>
            <a:endParaRPr sz="1100" b="0" i="0" u="none" strike="noStrike" cap="none">
              <a:solidFill>
                <a:srgbClr val="000000"/>
              </a:solidFill>
              <a:latin typeface="Calibri"/>
              <a:ea typeface="Calibri"/>
              <a:cs typeface="Calibri"/>
              <a:sym typeface="Calibri"/>
            </a:endParaRPr>
          </a:p>
        </p:txBody>
      </p:sp>
      <p:sp>
        <p:nvSpPr>
          <p:cNvPr id="434" name="Google Shape;434;g3f62c33a15b_0_729"/>
          <p:cNvSpPr/>
          <p:nvPr/>
        </p:nvSpPr>
        <p:spPr>
          <a:xfrm>
            <a:off x="6263640" y="2139696"/>
            <a:ext cx="25785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Multi-Class Classification</a:t>
            </a:r>
            <a:endParaRPr sz="1100" b="0" i="0" u="none" strike="noStrike" cap="none">
              <a:solidFill>
                <a:srgbClr val="000000"/>
              </a:solidFill>
              <a:latin typeface="Calibri"/>
              <a:ea typeface="Calibri"/>
              <a:cs typeface="Calibri"/>
              <a:sym typeface="Calibri"/>
            </a:endParaRPr>
          </a:p>
        </p:txBody>
      </p:sp>
      <p:sp>
        <p:nvSpPr>
          <p:cNvPr id="435" name="Google Shape;435;g3f62c33a15b_0_729"/>
          <p:cNvSpPr/>
          <p:nvPr/>
        </p:nvSpPr>
        <p:spPr>
          <a:xfrm>
            <a:off x="6263640" y="2432304"/>
            <a:ext cx="8229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A1B9A"/>
              </a:buClr>
              <a:buSzPts val="1100"/>
              <a:buFont typeface="Calibri"/>
              <a:buNone/>
            </a:pPr>
            <a:r>
              <a:rPr lang="en" sz="1100" b="1" i="0" u="none" strike="noStrike" cap="none">
                <a:solidFill>
                  <a:srgbClr val="6A1B9A"/>
                </a:solidFill>
                <a:latin typeface="Calibri"/>
                <a:ea typeface="Calibri"/>
                <a:cs typeface="Calibri"/>
                <a:sym typeface="Calibri"/>
              </a:rPr>
              <a:t>Output:</a:t>
            </a:r>
            <a:endParaRPr sz="1100" b="0" i="0" u="none" strike="noStrike" cap="none">
              <a:solidFill>
                <a:srgbClr val="000000"/>
              </a:solidFill>
              <a:latin typeface="Calibri"/>
              <a:ea typeface="Calibri"/>
              <a:cs typeface="Calibri"/>
              <a:sym typeface="Calibri"/>
            </a:endParaRPr>
          </a:p>
        </p:txBody>
      </p:sp>
      <p:sp>
        <p:nvSpPr>
          <p:cNvPr id="436" name="Google Shape;436;g3f62c33a15b_0_729"/>
          <p:cNvSpPr/>
          <p:nvPr/>
        </p:nvSpPr>
        <p:spPr>
          <a:xfrm>
            <a:off x="6263640" y="2670048"/>
            <a:ext cx="25785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Prob. per class (sums to 1)</a:t>
            </a:r>
            <a:endParaRPr sz="1100" b="0" i="0" u="none" strike="noStrike" cap="none">
              <a:solidFill>
                <a:srgbClr val="000000"/>
              </a:solidFill>
              <a:latin typeface="Calibri"/>
              <a:ea typeface="Calibri"/>
              <a:cs typeface="Calibri"/>
              <a:sym typeface="Calibri"/>
            </a:endParaRPr>
          </a:p>
        </p:txBody>
      </p:sp>
      <p:sp>
        <p:nvSpPr>
          <p:cNvPr id="437" name="Google Shape;437;g3f62c33a15b_0_729"/>
          <p:cNvSpPr/>
          <p:nvPr/>
        </p:nvSpPr>
        <p:spPr>
          <a:xfrm>
            <a:off x="6263640" y="2962656"/>
            <a:ext cx="8229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A1B9A"/>
              </a:buClr>
              <a:buSzPts val="1100"/>
              <a:buFont typeface="Calibri"/>
              <a:buNone/>
            </a:pPr>
            <a:r>
              <a:rPr lang="en" sz="1100" b="1" i="0" u="none" strike="noStrike" cap="none">
                <a:solidFill>
                  <a:srgbClr val="6A1B9A"/>
                </a:solidFill>
                <a:latin typeface="Calibri"/>
                <a:ea typeface="Calibri"/>
                <a:cs typeface="Calibri"/>
                <a:sym typeface="Calibri"/>
              </a:rPr>
              <a:t>Activation:</a:t>
            </a:r>
            <a:endParaRPr sz="1100" b="0" i="0" u="none" strike="noStrike" cap="none">
              <a:solidFill>
                <a:srgbClr val="000000"/>
              </a:solidFill>
              <a:latin typeface="Calibri"/>
              <a:ea typeface="Calibri"/>
              <a:cs typeface="Calibri"/>
              <a:sym typeface="Calibri"/>
            </a:endParaRPr>
          </a:p>
        </p:txBody>
      </p:sp>
      <p:sp>
        <p:nvSpPr>
          <p:cNvPr id="438" name="Google Shape;438;g3f62c33a15b_0_729"/>
          <p:cNvSpPr/>
          <p:nvPr/>
        </p:nvSpPr>
        <p:spPr>
          <a:xfrm>
            <a:off x="6263640" y="3200400"/>
            <a:ext cx="25785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Softmax</a:t>
            </a:r>
            <a:endParaRPr sz="1100" b="0" i="0" u="none" strike="noStrike" cap="none">
              <a:solidFill>
                <a:srgbClr val="000000"/>
              </a:solidFill>
              <a:latin typeface="Calibri"/>
              <a:ea typeface="Calibri"/>
              <a:cs typeface="Calibri"/>
              <a:sym typeface="Calibri"/>
            </a:endParaRPr>
          </a:p>
        </p:txBody>
      </p:sp>
      <p:sp>
        <p:nvSpPr>
          <p:cNvPr id="439" name="Google Shape;439;g3f62c33a15b_0_729"/>
          <p:cNvSpPr/>
          <p:nvPr/>
        </p:nvSpPr>
        <p:spPr>
          <a:xfrm>
            <a:off x="6263640" y="3493008"/>
            <a:ext cx="8229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A1B9A"/>
              </a:buClr>
              <a:buSzPts val="1100"/>
              <a:buFont typeface="Calibri"/>
              <a:buNone/>
            </a:pPr>
            <a:r>
              <a:rPr lang="en" sz="1100" b="1" i="0" u="none" strike="noStrike" cap="none">
                <a:solidFill>
                  <a:srgbClr val="6A1B9A"/>
                </a:solidFill>
                <a:latin typeface="Calibri"/>
                <a:ea typeface="Calibri"/>
                <a:cs typeface="Calibri"/>
                <a:sym typeface="Calibri"/>
              </a:rPr>
              <a:t>Example:</a:t>
            </a:r>
            <a:endParaRPr sz="1100" b="0" i="0" u="none" strike="noStrike" cap="none">
              <a:solidFill>
                <a:srgbClr val="000000"/>
              </a:solidFill>
              <a:latin typeface="Calibri"/>
              <a:ea typeface="Calibri"/>
              <a:cs typeface="Calibri"/>
              <a:sym typeface="Calibri"/>
            </a:endParaRPr>
          </a:p>
        </p:txBody>
      </p:sp>
      <p:sp>
        <p:nvSpPr>
          <p:cNvPr id="440" name="Google Shape;440;g3f62c33a15b_0_729"/>
          <p:cNvSpPr/>
          <p:nvPr/>
        </p:nvSpPr>
        <p:spPr>
          <a:xfrm>
            <a:off x="6263640" y="3730752"/>
            <a:ext cx="25785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MNIST digits, image classification</a:t>
            </a:r>
            <a:endParaRPr sz="1100" b="0" i="0" u="none" strike="noStrike" cap="none">
              <a:solidFill>
                <a:srgbClr val="000000"/>
              </a:solidFill>
              <a:latin typeface="Calibri"/>
              <a:ea typeface="Calibri"/>
              <a:cs typeface="Calibri"/>
              <a:sym typeface="Calibri"/>
            </a:endParaRPr>
          </a:p>
        </p:txBody>
      </p:sp>
      <p:sp>
        <p:nvSpPr>
          <p:cNvPr id="441" name="Google Shape;441;g3f62c33a15b_0_729"/>
          <p:cNvSpPr/>
          <p:nvPr/>
        </p:nvSpPr>
        <p:spPr>
          <a:xfrm>
            <a:off x="6263640" y="4023360"/>
            <a:ext cx="8229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A1B9A"/>
              </a:buClr>
              <a:buSzPts val="1100"/>
              <a:buFont typeface="Calibri"/>
              <a:buNone/>
            </a:pPr>
            <a:r>
              <a:rPr lang="en" sz="1100" b="1" i="0" u="none" strike="noStrike" cap="none">
                <a:solidFill>
                  <a:srgbClr val="6A1B9A"/>
                </a:solidFill>
                <a:latin typeface="Calibri"/>
                <a:ea typeface="Calibri"/>
                <a:cs typeface="Calibri"/>
                <a:sym typeface="Calibri"/>
              </a:rPr>
              <a:t>Penalty:</a:t>
            </a:r>
            <a:endParaRPr sz="1100" b="0" i="0" u="none" strike="noStrike" cap="none">
              <a:solidFill>
                <a:srgbClr val="000000"/>
              </a:solidFill>
              <a:latin typeface="Calibri"/>
              <a:ea typeface="Calibri"/>
              <a:cs typeface="Calibri"/>
              <a:sym typeface="Calibri"/>
            </a:endParaRPr>
          </a:p>
        </p:txBody>
      </p:sp>
      <p:sp>
        <p:nvSpPr>
          <p:cNvPr id="442" name="Google Shape;442;g3f62c33a15b_0_729"/>
          <p:cNvSpPr/>
          <p:nvPr/>
        </p:nvSpPr>
        <p:spPr>
          <a:xfrm>
            <a:off x="6263640" y="4261104"/>
            <a:ext cx="25785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rgbClr val="37474F"/>
                </a:solidFill>
                <a:latin typeface="Calibri"/>
                <a:ea typeface="Calibri"/>
                <a:cs typeface="Calibri"/>
                <a:sym typeface="Calibri"/>
              </a:rPr>
              <a:t>Only true-class probability matters</a:t>
            </a:r>
            <a:endParaRPr sz="1100" b="0" i="0" u="none" strike="noStrike" cap="none">
              <a:solidFill>
                <a:srgbClr val="000000"/>
              </a:solidFill>
              <a:latin typeface="Calibri"/>
              <a:ea typeface="Calibri"/>
              <a:cs typeface="Calibri"/>
              <a:sym typeface="Calibri"/>
            </a:endParaRPr>
          </a:p>
        </p:txBody>
      </p:sp>
      <p:sp>
        <p:nvSpPr>
          <p:cNvPr id="443" name="Google Shape;443;g3f62c33a15b_0_729"/>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g3f62c33a15b_0_793"/>
          <p:cNvSpPr/>
          <p:nvPr/>
        </p:nvSpPr>
        <p:spPr>
          <a:xfrm>
            <a:off x="132375" y="181485"/>
            <a:ext cx="8229600" cy="68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Quiz 1</a:t>
            </a:r>
            <a:endParaRPr sz="2600" b="0" i="0" u="none" strike="noStrike" cap="none">
              <a:solidFill>
                <a:srgbClr val="000000"/>
              </a:solidFill>
              <a:latin typeface="Calibri"/>
              <a:ea typeface="Calibri"/>
              <a:cs typeface="Calibri"/>
              <a:sym typeface="Calibri"/>
            </a:endParaRPr>
          </a:p>
        </p:txBody>
      </p:sp>
      <p:pic>
        <p:nvPicPr>
          <p:cNvPr id="449" name="Google Shape;449;g3f62c33a15b_0_793"/>
          <p:cNvPicPr preferRelativeResize="0"/>
          <p:nvPr/>
        </p:nvPicPr>
        <p:blipFill rotWithShape="1">
          <a:blip r:embed="rId3">
            <a:alphaModFix/>
          </a:blip>
          <a:srcRect/>
          <a:stretch/>
        </p:blipFill>
        <p:spPr>
          <a:xfrm>
            <a:off x="8369125" y="0"/>
            <a:ext cx="774877" cy="867174"/>
          </a:xfrm>
          <a:prstGeom prst="rect">
            <a:avLst/>
          </a:prstGeom>
          <a:noFill/>
          <a:ln>
            <a:noFill/>
          </a:ln>
        </p:spPr>
      </p:pic>
      <p:sp>
        <p:nvSpPr>
          <p:cNvPr id="450" name="Google Shape;450;g3f62c33a15b_0_793"/>
          <p:cNvSpPr txBox="1"/>
          <p:nvPr/>
        </p:nvSpPr>
        <p:spPr>
          <a:xfrm>
            <a:off x="354350" y="1187800"/>
            <a:ext cx="5809800" cy="2559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en" sz="1700" b="0" i="0" u="none" strike="noStrike" cap="none">
                <a:solidFill>
                  <a:srgbClr val="000000"/>
                </a:solidFill>
                <a:latin typeface="Calibri"/>
                <a:ea typeface="Calibri"/>
                <a:cs typeface="Calibri"/>
                <a:sym typeface="Calibri"/>
              </a:rPr>
              <a:t>You are building a model to classify images into 5 categories (cat, dog, bird, horse, fish). Which loss function should you use? </a:t>
            </a:r>
            <a:endParaRPr sz="1700" b="0" i="0" u="none" strike="noStrike" cap="none">
              <a:solidFill>
                <a:srgbClr val="000000"/>
              </a:solidFill>
              <a:latin typeface="Calibri"/>
              <a:ea typeface="Calibri"/>
              <a:cs typeface="Calibri"/>
              <a:sym typeface="Calibri"/>
            </a:endParaRPr>
          </a:p>
          <a:p>
            <a:pPr marL="457200" marR="0" lvl="0" indent="-336550" algn="l" rtl="0">
              <a:lnSpc>
                <a:spcPct val="115000"/>
              </a:lnSpc>
              <a:spcBef>
                <a:spcPts val="1200"/>
              </a:spcBef>
              <a:spcAft>
                <a:spcPts val="0"/>
              </a:spcAft>
              <a:buClr>
                <a:srgbClr val="000000"/>
              </a:buClr>
              <a:buSzPts val="1700"/>
              <a:buFont typeface="Calibri"/>
              <a:buChar char="●"/>
            </a:pPr>
            <a:r>
              <a:rPr lang="en" sz="1700" b="1" i="0" u="none" strike="noStrike" cap="none">
                <a:solidFill>
                  <a:srgbClr val="000000"/>
                </a:solidFill>
                <a:latin typeface="Calibri"/>
                <a:ea typeface="Calibri"/>
                <a:cs typeface="Calibri"/>
                <a:sym typeface="Calibri"/>
              </a:rPr>
              <a:t>A)</a:t>
            </a:r>
            <a:r>
              <a:rPr lang="en" sz="1700" b="0" i="0" u="none" strike="noStrike" cap="none">
                <a:solidFill>
                  <a:srgbClr val="000000"/>
                </a:solidFill>
                <a:latin typeface="Calibri"/>
                <a:ea typeface="Calibri"/>
                <a:cs typeface="Calibri"/>
                <a:sym typeface="Calibri"/>
              </a:rPr>
              <a:t> Mean Squared Error (MSE)</a:t>
            </a:r>
            <a:endParaRPr sz="1700" b="0" i="0" u="none" strike="noStrike" cap="none">
              <a:solidFill>
                <a:srgbClr val="000000"/>
              </a:solidFill>
              <a:latin typeface="Calibri"/>
              <a:ea typeface="Calibri"/>
              <a:cs typeface="Calibri"/>
              <a:sym typeface="Calibri"/>
            </a:endParaRPr>
          </a:p>
          <a:p>
            <a:pPr marL="457200" marR="0" lvl="0" indent="-336550" algn="l" rtl="0">
              <a:lnSpc>
                <a:spcPct val="115000"/>
              </a:lnSpc>
              <a:spcBef>
                <a:spcPts val="0"/>
              </a:spcBef>
              <a:spcAft>
                <a:spcPts val="0"/>
              </a:spcAft>
              <a:buClr>
                <a:srgbClr val="000000"/>
              </a:buClr>
              <a:buSzPts val="1700"/>
              <a:buFont typeface="Calibri"/>
              <a:buChar char="●"/>
            </a:pPr>
            <a:r>
              <a:rPr lang="en" sz="1700" b="1" i="0" u="none" strike="noStrike" cap="none">
                <a:solidFill>
                  <a:srgbClr val="000000"/>
                </a:solidFill>
                <a:latin typeface="Calibri"/>
                <a:ea typeface="Calibri"/>
                <a:cs typeface="Calibri"/>
                <a:sym typeface="Calibri"/>
              </a:rPr>
              <a:t>B)</a:t>
            </a:r>
            <a:r>
              <a:rPr lang="en" sz="1700" b="0" i="0" u="none" strike="noStrike" cap="none">
                <a:solidFill>
                  <a:srgbClr val="000000"/>
                </a:solidFill>
                <a:latin typeface="Calibri"/>
                <a:ea typeface="Calibri"/>
                <a:cs typeface="Calibri"/>
                <a:sym typeface="Calibri"/>
              </a:rPr>
              <a:t> Binary Cross-Entropy</a:t>
            </a:r>
            <a:endParaRPr sz="1700" b="0" i="0" u="none" strike="noStrike" cap="none">
              <a:solidFill>
                <a:srgbClr val="000000"/>
              </a:solidFill>
              <a:latin typeface="Calibri"/>
              <a:ea typeface="Calibri"/>
              <a:cs typeface="Calibri"/>
              <a:sym typeface="Calibri"/>
            </a:endParaRPr>
          </a:p>
          <a:p>
            <a:pPr marL="457200" marR="0" lvl="0" indent="-336550" algn="l" rtl="0">
              <a:lnSpc>
                <a:spcPct val="115000"/>
              </a:lnSpc>
              <a:spcBef>
                <a:spcPts val="0"/>
              </a:spcBef>
              <a:spcAft>
                <a:spcPts val="0"/>
              </a:spcAft>
              <a:buClr>
                <a:srgbClr val="000000"/>
              </a:buClr>
              <a:buSzPts val="1700"/>
              <a:buFont typeface="Calibri"/>
              <a:buChar char="●"/>
            </a:pPr>
            <a:r>
              <a:rPr lang="en" sz="1700" b="1" i="0" u="none" strike="noStrike" cap="none">
                <a:solidFill>
                  <a:srgbClr val="000000"/>
                </a:solidFill>
                <a:latin typeface="Calibri"/>
                <a:ea typeface="Calibri"/>
                <a:cs typeface="Calibri"/>
                <a:sym typeface="Calibri"/>
              </a:rPr>
              <a:t>C)</a:t>
            </a:r>
            <a:r>
              <a:rPr lang="en" sz="1700" b="0" i="0" u="none" strike="noStrike" cap="none">
                <a:solidFill>
                  <a:srgbClr val="000000"/>
                </a:solidFill>
                <a:latin typeface="Calibri"/>
                <a:ea typeface="Calibri"/>
                <a:cs typeface="Calibri"/>
                <a:sym typeface="Calibri"/>
              </a:rPr>
              <a:t> Categorical Cross-Entropy</a:t>
            </a:r>
            <a:endParaRPr sz="1700" b="0" i="0" u="none" strike="noStrike" cap="none">
              <a:solidFill>
                <a:srgbClr val="000000"/>
              </a:solidFill>
              <a:latin typeface="Calibri"/>
              <a:ea typeface="Calibri"/>
              <a:cs typeface="Calibri"/>
              <a:sym typeface="Calibri"/>
            </a:endParaRPr>
          </a:p>
          <a:p>
            <a:pPr marL="457200" marR="0" lvl="0" indent="-336550" algn="l" rtl="0">
              <a:lnSpc>
                <a:spcPct val="115000"/>
              </a:lnSpc>
              <a:spcBef>
                <a:spcPts val="0"/>
              </a:spcBef>
              <a:spcAft>
                <a:spcPts val="0"/>
              </a:spcAft>
              <a:buClr>
                <a:srgbClr val="000000"/>
              </a:buClr>
              <a:buSzPts val="1700"/>
              <a:buFont typeface="Calibri"/>
              <a:buChar char="●"/>
            </a:pPr>
            <a:r>
              <a:rPr lang="en" sz="1700" b="1" i="0" u="none" strike="noStrike" cap="none">
                <a:solidFill>
                  <a:srgbClr val="000000"/>
                </a:solidFill>
                <a:latin typeface="Calibri"/>
                <a:ea typeface="Calibri"/>
                <a:cs typeface="Calibri"/>
                <a:sym typeface="Calibri"/>
              </a:rPr>
              <a:t>D)</a:t>
            </a:r>
            <a:r>
              <a:rPr lang="en" sz="1700" b="0" i="0" u="none" strike="noStrike" cap="none">
                <a:solidFill>
                  <a:srgbClr val="000000"/>
                </a:solidFill>
                <a:latin typeface="Calibri"/>
                <a:ea typeface="Calibri"/>
                <a:cs typeface="Calibri"/>
                <a:sym typeface="Calibri"/>
              </a:rPr>
              <a:t> Mean Absolute Error (MAE)</a:t>
            </a:r>
            <a:endParaRPr sz="1700" b="0" i="0" u="none" strike="noStrike" cap="none">
              <a:solidFill>
                <a:srgbClr val="000000"/>
              </a:solidFill>
              <a:latin typeface="Calibri"/>
              <a:ea typeface="Calibri"/>
              <a:cs typeface="Calibri"/>
              <a:sym typeface="Calibri"/>
            </a:endParaRPr>
          </a:p>
          <a:p>
            <a:pPr marL="0" marR="0" lvl="0" indent="0" algn="l" rtl="0">
              <a:lnSpc>
                <a:spcPct val="100000"/>
              </a:lnSpc>
              <a:spcBef>
                <a:spcPts val="1200"/>
              </a:spcBef>
              <a:spcAft>
                <a:spcPts val="0"/>
              </a:spcAft>
              <a:buClr>
                <a:srgbClr val="000000"/>
              </a:buClr>
              <a:buSzPts val="1700"/>
              <a:buFont typeface="Arial"/>
              <a:buNone/>
            </a:pPr>
            <a:endParaRPr sz="1700" b="0" i="0" u="none" strike="noStrike" cap="none">
              <a:solidFill>
                <a:srgbClr val="000000"/>
              </a:solidFill>
              <a:latin typeface="Calibri"/>
              <a:ea typeface="Calibri"/>
              <a:cs typeface="Calibri"/>
              <a:sym typeface="Calibri"/>
            </a:endParaRPr>
          </a:p>
        </p:txBody>
      </p:sp>
      <p:sp>
        <p:nvSpPr>
          <p:cNvPr id="451" name="Google Shape;451;g3f62c33a15b_0_793"/>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17</a:t>
            </a:r>
            <a:endParaRPr/>
          </a:p>
        </p:txBody>
      </p:sp>
      <p:pic>
        <p:nvPicPr>
          <p:cNvPr id="452" name="Google Shape;452;g3f62c33a15b_0_793"/>
          <p:cNvPicPr preferRelativeResize="0"/>
          <p:nvPr/>
        </p:nvPicPr>
        <p:blipFill>
          <a:blip r:embed="rId4">
            <a:alphaModFix/>
          </a:blip>
          <a:stretch>
            <a:fillRect/>
          </a:stretch>
        </p:blipFill>
        <p:spPr>
          <a:xfrm>
            <a:off x="6316550" y="1019685"/>
            <a:ext cx="2554128" cy="362141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g3f62c33a15b_0_800"/>
          <p:cNvSpPr/>
          <p:nvPr/>
        </p:nvSpPr>
        <p:spPr>
          <a:xfrm>
            <a:off x="132375" y="181485"/>
            <a:ext cx="8229600" cy="68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Quiz 1</a:t>
            </a:r>
            <a:endParaRPr sz="2600" b="0" i="0" u="none" strike="noStrike" cap="none">
              <a:solidFill>
                <a:srgbClr val="000000"/>
              </a:solidFill>
              <a:latin typeface="Calibri"/>
              <a:ea typeface="Calibri"/>
              <a:cs typeface="Calibri"/>
              <a:sym typeface="Calibri"/>
            </a:endParaRPr>
          </a:p>
        </p:txBody>
      </p:sp>
      <p:pic>
        <p:nvPicPr>
          <p:cNvPr id="458" name="Google Shape;458;g3f62c33a15b_0_800"/>
          <p:cNvPicPr preferRelativeResize="0"/>
          <p:nvPr/>
        </p:nvPicPr>
        <p:blipFill rotWithShape="1">
          <a:blip r:embed="rId3">
            <a:alphaModFix/>
          </a:blip>
          <a:srcRect/>
          <a:stretch/>
        </p:blipFill>
        <p:spPr>
          <a:xfrm>
            <a:off x="8369125" y="0"/>
            <a:ext cx="774877" cy="867174"/>
          </a:xfrm>
          <a:prstGeom prst="rect">
            <a:avLst/>
          </a:prstGeom>
          <a:noFill/>
          <a:ln>
            <a:noFill/>
          </a:ln>
        </p:spPr>
      </p:pic>
      <p:sp>
        <p:nvSpPr>
          <p:cNvPr id="459" name="Google Shape;459;g3f62c33a15b_0_800"/>
          <p:cNvSpPr txBox="1"/>
          <p:nvPr/>
        </p:nvSpPr>
        <p:spPr>
          <a:xfrm>
            <a:off x="354350" y="1187800"/>
            <a:ext cx="5809800" cy="2559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en" sz="1700" b="0" i="0" u="none" strike="noStrike" cap="none">
                <a:solidFill>
                  <a:srgbClr val="000000"/>
                </a:solidFill>
                <a:latin typeface="Calibri"/>
                <a:ea typeface="Calibri"/>
                <a:cs typeface="Calibri"/>
                <a:sym typeface="Calibri"/>
              </a:rPr>
              <a:t>You are building a model to classify images into 5 categories (cat, dog, bird, horse, fish). Which loss function should you use? </a:t>
            </a:r>
            <a:endParaRPr sz="1700" b="0" i="0" u="none" strike="noStrike" cap="none">
              <a:solidFill>
                <a:srgbClr val="000000"/>
              </a:solidFill>
              <a:latin typeface="Calibri"/>
              <a:ea typeface="Calibri"/>
              <a:cs typeface="Calibri"/>
              <a:sym typeface="Calibri"/>
            </a:endParaRPr>
          </a:p>
          <a:p>
            <a:pPr marL="457200" marR="0" lvl="0" indent="-336550" algn="l" rtl="0">
              <a:lnSpc>
                <a:spcPct val="115000"/>
              </a:lnSpc>
              <a:spcBef>
                <a:spcPts val="1200"/>
              </a:spcBef>
              <a:spcAft>
                <a:spcPts val="0"/>
              </a:spcAft>
              <a:buClr>
                <a:srgbClr val="000000"/>
              </a:buClr>
              <a:buSzPts val="1700"/>
              <a:buFont typeface="Calibri"/>
              <a:buChar char="●"/>
            </a:pPr>
            <a:r>
              <a:rPr lang="en" sz="1700" b="1" i="0" u="none" strike="noStrike" cap="none">
                <a:solidFill>
                  <a:srgbClr val="000000"/>
                </a:solidFill>
                <a:latin typeface="Calibri"/>
                <a:ea typeface="Calibri"/>
                <a:cs typeface="Calibri"/>
                <a:sym typeface="Calibri"/>
              </a:rPr>
              <a:t>A)</a:t>
            </a:r>
            <a:r>
              <a:rPr lang="en" sz="1700" b="0" i="0" u="none" strike="noStrike" cap="none">
                <a:solidFill>
                  <a:srgbClr val="000000"/>
                </a:solidFill>
                <a:latin typeface="Calibri"/>
                <a:ea typeface="Calibri"/>
                <a:cs typeface="Calibri"/>
                <a:sym typeface="Calibri"/>
              </a:rPr>
              <a:t> Mean Squared Error (MSE)</a:t>
            </a:r>
            <a:endParaRPr sz="1700" b="0" i="0" u="none" strike="noStrike" cap="none">
              <a:solidFill>
                <a:srgbClr val="000000"/>
              </a:solidFill>
              <a:latin typeface="Calibri"/>
              <a:ea typeface="Calibri"/>
              <a:cs typeface="Calibri"/>
              <a:sym typeface="Calibri"/>
            </a:endParaRPr>
          </a:p>
          <a:p>
            <a:pPr marL="457200" marR="0" lvl="0" indent="-336550" algn="l" rtl="0">
              <a:lnSpc>
                <a:spcPct val="115000"/>
              </a:lnSpc>
              <a:spcBef>
                <a:spcPts val="0"/>
              </a:spcBef>
              <a:spcAft>
                <a:spcPts val="0"/>
              </a:spcAft>
              <a:buClr>
                <a:srgbClr val="000000"/>
              </a:buClr>
              <a:buSzPts val="1700"/>
              <a:buFont typeface="Calibri"/>
              <a:buChar char="●"/>
            </a:pPr>
            <a:r>
              <a:rPr lang="en" sz="1700" b="1" i="0" u="none" strike="noStrike" cap="none">
                <a:solidFill>
                  <a:srgbClr val="000000"/>
                </a:solidFill>
                <a:latin typeface="Calibri"/>
                <a:ea typeface="Calibri"/>
                <a:cs typeface="Calibri"/>
                <a:sym typeface="Calibri"/>
              </a:rPr>
              <a:t>B)</a:t>
            </a:r>
            <a:r>
              <a:rPr lang="en" sz="1700" b="0" i="0" u="none" strike="noStrike" cap="none">
                <a:solidFill>
                  <a:srgbClr val="000000"/>
                </a:solidFill>
                <a:latin typeface="Calibri"/>
                <a:ea typeface="Calibri"/>
                <a:cs typeface="Calibri"/>
                <a:sym typeface="Calibri"/>
              </a:rPr>
              <a:t> Binary Cross-Entropy</a:t>
            </a:r>
            <a:endParaRPr sz="1700" b="0" i="0" u="none" strike="noStrike" cap="none">
              <a:solidFill>
                <a:srgbClr val="000000"/>
              </a:solidFill>
              <a:latin typeface="Calibri"/>
              <a:ea typeface="Calibri"/>
              <a:cs typeface="Calibri"/>
              <a:sym typeface="Calibri"/>
            </a:endParaRPr>
          </a:p>
          <a:p>
            <a:pPr marL="457200" marR="0" lvl="0" indent="-336550" algn="l" rtl="0">
              <a:lnSpc>
                <a:spcPct val="115000"/>
              </a:lnSpc>
              <a:spcBef>
                <a:spcPts val="0"/>
              </a:spcBef>
              <a:spcAft>
                <a:spcPts val="0"/>
              </a:spcAft>
              <a:buClr>
                <a:srgbClr val="000000"/>
              </a:buClr>
              <a:buSzPts val="1700"/>
              <a:buFont typeface="Calibri"/>
              <a:buChar char="●"/>
            </a:pPr>
            <a:r>
              <a:rPr lang="en" sz="1700" b="1" i="0" u="none" strike="noStrike" cap="none">
                <a:solidFill>
                  <a:srgbClr val="000000"/>
                </a:solidFill>
                <a:latin typeface="Calibri"/>
                <a:ea typeface="Calibri"/>
                <a:cs typeface="Calibri"/>
                <a:sym typeface="Calibri"/>
              </a:rPr>
              <a:t>C)</a:t>
            </a:r>
            <a:r>
              <a:rPr lang="en" sz="1700" b="0" i="0" u="none" strike="noStrike" cap="none">
                <a:solidFill>
                  <a:srgbClr val="000000"/>
                </a:solidFill>
                <a:latin typeface="Calibri"/>
                <a:ea typeface="Calibri"/>
                <a:cs typeface="Calibri"/>
                <a:sym typeface="Calibri"/>
              </a:rPr>
              <a:t> Categorical Cross-Entropy ✅</a:t>
            </a:r>
            <a:endParaRPr sz="1700" b="0" i="0" u="none" strike="noStrike" cap="none">
              <a:solidFill>
                <a:srgbClr val="000000"/>
              </a:solidFill>
              <a:latin typeface="Calibri"/>
              <a:ea typeface="Calibri"/>
              <a:cs typeface="Calibri"/>
              <a:sym typeface="Calibri"/>
            </a:endParaRPr>
          </a:p>
          <a:p>
            <a:pPr marL="457200" marR="0" lvl="0" indent="-336550" algn="l" rtl="0">
              <a:lnSpc>
                <a:spcPct val="115000"/>
              </a:lnSpc>
              <a:spcBef>
                <a:spcPts val="0"/>
              </a:spcBef>
              <a:spcAft>
                <a:spcPts val="0"/>
              </a:spcAft>
              <a:buClr>
                <a:srgbClr val="000000"/>
              </a:buClr>
              <a:buSzPts val="1700"/>
              <a:buFont typeface="Calibri"/>
              <a:buChar char="●"/>
            </a:pPr>
            <a:r>
              <a:rPr lang="en" sz="1700" b="1" i="0" u="none" strike="noStrike" cap="none">
                <a:solidFill>
                  <a:srgbClr val="000000"/>
                </a:solidFill>
                <a:latin typeface="Calibri"/>
                <a:ea typeface="Calibri"/>
                <a:cs typeface="Calibri"/>
                <a:sym typeface="Calibri"/>
              </a:rPr>
              <a:t>D)</a:t>
            </a:r>
            <a:r>
              <a:rPr lang="en" sz="1700" b="0" i="0" u="none" strike="noStrike" cap="none">
                <a:solidFill>
                  <a:srgbClr val="000000"/>
                </a:solidFill>
                <a:latin typeface="Calibri"/>
                <a:ea typeface="Calibri"/>
                <a:cs typeface="Calibri"/>
                <a:sym typeface="Calibri"/>
              </a:rPr>
              <a:t> Mean Absolute Error (MAE)</a:t>
            </a:r>
            <a:endParaRPr sz="1700" b="0" i="0" u="none" strike="noStrike" cap="none">
              <a:solidFill>
                <a:srgbClr val="000000"/>
              </a:solidFill>
              <a:latin typeface="Calibri"/>
              <a:ea typeface="Calibri"/>
              <a:cs typeface="Calibri"/>
              <a:sym typeface="Calibri"/>
            </a:endParaRPr>
          </a:p>
          <a:p>
            <a:pPr marL="0" marR="0" lvl="0" indent="0" algn="l" rtl="0">
              <a:lnSpc>
                <a:spcPct val="100000"/>
              </a:lnSpc>
              <a:spcBef>
                <a:spcPts val="1200"/>
              </a:spcBef>
              <a:spcAft>
                <a:spcPts val="0"/>
              </a:spcAft>
              <a:buClr>
                <a:srgbClr val="000000"/>
              </a:buClr>
              <a:buSzPts val="1700"/>
              <a:buFont typeface="Arial"/>
              <a:buNone/>
            </a:pPr>
            <a:endParaRPr sz="1700" b="0" i="0" u="none" strike="noStrike" cap="none">
              <a:solidFill>
                <a:srgbClr val="000000"/>
              </a:solidFill>
              <a:latin typeface="Calibri"/>
              <a:ea typeface="Calibri"/>
              <a:cs typeface="Calibri"/>
              <a:sym typeface="Calibri"/>
            </a:endParaRPr>
          </a:p>
        </p:txBody>
      </p:sp>
      <p:sp>
        <p:nvSpPr>
          <p:cNvPr id="460" name="Google Shape;460;g3f62c33a15b_0_800"/>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18</a:t>
            </a:r>
            <a:endParaRPr/>
          </a:p>
        </p:txBody>
      </p:sp>
      <p:pic>
        <p:nvPicPr>
          <p:cNvPr id="461" name="Google Shape;461;g3f62c33a15b_0_800"/>
          <p:cNvPicPr preferRelativeResize="0"/>
          <p:nvPr/>
        </p:nvPicPr>
        <p:blipFill>
          <a:blip r:embed="rId4">
            <a:alphaModFix/>
          </a:blip>
          <a:stretch>
            <a:fillRect/>
          </a:stretch>
        </p:blipFill>
        <p:spPr>
          <a:xfrm>
            <a:off x="6316550" y="1019685"/>
            <a:ext cx="2554128" cy="362141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4"/>
          <p:cNvSpPr/>
          <p:nvPr/>
        </p:nvSpPr>
        <p:spPr>
          <a:xfrm>
            <a:off x="457200" y="228600"/>
            <a:ext cx="8229600" cy="594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3000"/>
              <a:buFont typeface="Calibri"/>
              <a:buNone/>
            </a:pPr>
            <a:r>
              <a:rPr lang="en" sz="3000" b="1" i="0" u="none" strike="noStrike" cap="none">
                <a:solidFill>
                  <a:srgbClr val="1E293B"/>
                </a:solidFill>
                <a:latin typeface="Calibri"/>
                <a:ea typeface="Calibri"/>
                <a:cs typeface="Calibri"/>
                <a:sym typeface="Calibri"/>
              </a:rPr>
              <a:t>Train / Validation / Test Sets</a:t>
            </a:r>
            <a:endParaRPr sz="3000" b="0" i="0" u="none" strike="noStrike" cap="none">
              <a:solidFill>
                <a:srgbClr val="000000"/>
              </a:solidFill>
              <a:latin typeface="Calibri"/>
              <a:ea typeface="Calibri"/>
              <a:cs typeface="Calibri"/>
              <a:sym typeface="Calibri"/>
            </a:endParaRPr>
          </a:p>
        </p:txBody>
      </p:sp>
      <p:sp>
        <p:nvSpPr>
          <p:cNvPr id="467" name="Google Shape;467;p4"/>
          <p:cNvSpPr/>
          <p:nvPr/>
        </p:nvSpPr>
        <p:spPr>
          <a:xfrm>
            <a:off x="457200" y="777240"/>
            <a:ext cx="8229600" cy="320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1400"/>
              <a:buFont typeface="Calibri"/>
              <a:buNone/>
            </a:pPr>
            <a:r>
              <a:rPr lang="en" sz="1400" b="0" i="1" u="none" strike="noStrike" cap="none">
                <a:solidFill>
                  <a:srgbClr val="64748B"/>
                </a:solidFill>
                <a:latin typeface="Calibri"/>
                <a:ea typeface="Calibri"/>
                <a:cs typeface="Calibri"/>
                <a:sym typeface="Calibri"/>
              </a:rPr>
              <a:t>Why splitting your data correctly matters</a:t>
            </a:r>
            <a:endParaRPr sz="1400" b="0" i="0" u="none" strike="noStrike" cap="none">
              <a:solidFill>
                <a:srgbClr val="000000"/>
              </a:solidFill>
              <a:latin typeface="Calibri"/>
              <a:ea typeface="Calibri"/>
              <a:cs typeface="Calibri"/>
              <a:sym typeface="Calibri"/>
            </a:endParaRPr>
          </a:p>
        </p:txBody>
      </p:sp>
      <p:sp>
        <p:nvSpPr>
          <p:cNvPr id="468" name="Google Shape;468;p4"/>
          <p:cNvSpPr/>
          <p:nvPr/>
        </p:nvSpPr>
        <p:spPr>
          <a:xfrm>
            <a:off x="457200" y="1280160"/>
            <a:ext cx="5760600" cy="502800"/>
          </a:xfrm>
          <a:prstGeom prst="rect">
            <a:avLst/>
          </a:prstGeom>
          <a:solidFill>
            <a:srgbClr val="2563EB"/>
          </a:solidFill>
          <a:ln w="12700"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 name="Google Shape;469;p4"/>
          <p:cNvSpPr/>
          <p:nvPr/>
        </p:nvSpPr>
        <p:spPr>
          <a:xfrm>
            <a:off x="457200" y="1280160"/>
            <a:ext cx="57606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300"/>
              <a:buFont typeface="Calibri"/>
              <a:buNone/>
            </a:pPr>
            <a:r>
              <a:rPr lang="en" sz="1300" b="1" i="0" u="none" strike="noStrike" cap="none">
                <a:solidFill>
                  <a:srgbClr val="FFFFFF"/>
                </a:solidFill>
                <a:latin typeface="Calibri"/>
                <a:ea typeface="Calibri"/>
                <a:cs typeface="Calibri"/>
                <a:sym typeface="Calibri"/>
              </a:rPr>
              <a:t>Training Set  80%</a:t>
            </a:r>
            <a:endParaRPr sz="1300" b="0" i="0" u="none" strike="noStrike" cap="none">
              <a:solidFill>
                <a:srgbClr val="000000"/>
              </a:solidFill>
              <a:latin typeface="Calibri"/>
              <a:ea typeface="Calibri"/>
              <a:cs typeface="Calibri"/>
              <a:sym typeface="Calibri"/>
            </a:endParaRPr>
          </a:p>
        </p:txBody>
      </p:sp>
      <p:sp>
        <p:nvSpPr>
          <p:cNvPr id="470" name="Google Shape;470;p4"/>
          <p:cNvSpPr/>
          <p:nvPr/>
        </p:nvSpPr>
        <p:spPr>
          <a:xfrm>
            <a:off x="6217920" y="1280160"/>
            <a:ext cx="1234500" cy="502800"/>
          </a:xfrm>
          <a:prstGeom prst="rect">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1" name="Google Shape;471;p4"/>
          <p:cNvSpPr/>
          <p:nvPr/>
        </p:nvSpPr>
        <p:spPr>
          <a:xfrm>
            <a:off x="6217920" y="1280160"/>
            <a:ext cx="12345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Val  10%</a:t>
            </a:r>
            <a:endParaRPr sz="1100" b="0" i="0" u="none" strike="noStrike" cap="none">
              <a:solidFill>
                <a:srgbClr val="000000"/>
              </a:solidFill>
              <a:latin typeface="Calibri"/>
              <a:ea typeface="Calibri"/>
              <a:cs typeface="Calibri"/>
              <a:sym typeface="Calibri"/>
            </a:endParaRPr>
          </a:p>
        </p:txBody>
      </p:sp>
      <p:sp>
        <p:nvSpPr>
          <p:cNvPr id="472" name="Google Shape;472;p4"/>
          <p:cNvSpPr/>
          <p:nvPr/>
        </p:nvSpPr>
        <p:spPr>
          <a:xfrm>
            <a:off x="7452360" y="1280160"/>
            <a:ext cx="1234500" cy="502800"/>
          </a:xfrm>
          <a:prstGeom prst="rect">
            <a:avLst/>
          </a:prstGeom>
          <a:solidFill>
            <a:srgbClr val="059669"/>
          </a:solidFill>
          <a:ln w="12700"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3" name="Google Shape;473;p4"/>
          <p:cNvSpPr/>
          <p:nvPr/>
        </p:nvSpPr>
        <p:spPr>
          <a:xfrm>
            <a:off x="7452360" y="1280160"/>
            <a:ext cx="12345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00"/>
              <a:buFont typeface="Calibri"/>
              <a:buNone/>
            </a:pPr>
            <a:r>
              <a:rPr lang="en" sz="1100" b="1" i="0" u="none" strike="noStrike" cap="none">
                <a:solidFill>
                  <a:srgbClr val="FFFFFF"/>
                </a:solidFill>
                <a:latin typeface="Calibri"/>
                <a:ea typeface="Calibri"/>
                <a:cs typeface="Calibri"/>
                <a:sym typeface="Calibri"/>
              </a:rPr>
              <a:t>Test  10%</a:t>
            </a:r>
            <a:endParaRPr sz="1100" b="0" i="0" u="none" strike="noStrike" cap="none">
              <a:solidFill>
                <a:srgbClr val="000000"/>
              </a:solidFill>
              <a:latin typeface="Calibri"/>
              <a:ea typeface="Calibri"/>
              <a:cs typeface="Calibri"/>
              <a:sym typeface="Calibri"/>
            </a:endParaRPr>
          </a:p>
        </p:txBody>
      </p:sp>
      <p:sp>
        <p:nvSpPr>
          <p:cNvPr id="474" name="Google Shape;474;p4"/>
          <p:cNvSpPr/>
          <p:nvPr/>
        </p:nvSpPr>
        <p:spPr>
          <a:xfrm>
            <a:off x="502920" y="2103120"/>
            <a:ext cx="2606100" cy="2469000"/>
          </a:xfrm>
          <a:prstGeom prst="rect">
            <a:avLst/>
          </a:prstGeom>
          <a:solidFill>
            <a:srgbClr val="E2E8F0"/>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5" name="Google Shape;475;p4"/>
          <p:cNvSpPr/>
          <p:nvPr/>
        </p:nvSpPr>
        <p:spPr>
          <a:xfrm>
            <a:off x="457200" y="2057400"/>
            <a:ext cx="2606100" cy="2469000"/>
          </a:xfrm>
          <a:prstGeom prst="rect">
            <a:avLst/>
          </a:prstGeom>
          <a:solidFill>
            <a:srgbClr val="EFF6FF"/>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 name="Google Shape;476;p4"/>
          <p:cNvSpPr/>
          <p:nvPr/>
        </p:nvSpPr>
        <p:spPr>
          <a:xfrm>
            <a:off x="457200" y="2057400"/>
            <a:ext cx="2606100" cy="63900"/>
          </a:xfrm>
          <a:prstGeom prst="rect">
            <a:avLst/>
          </a:prstGeom>
          <a:solidFill>
            <a:srgbClr val="2563EB"/>
          </a:solidFill>
          <a:ln w="12700"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7" name="Google Shape;477;p4"/>
          <p:cNvSpPr/>
          <p:nvPr/>
        </p:nvSpPr>
        <p:spPr>
          <a:xfrm>
            <a:off x="1485900" y="2167128"/>
            <a:ext cx="548700" cy="548700"/>
          </a:xfrm>
          <a:prstGeom prst="ellipse">
            <a:avLst/>
          </a:prstGeom>
          <a:solidFill>
            <a:srgbClr val="DBEAFE"/>
          </a:solidFill>
          <a:ln w="19050"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8" name="Google Shape;478;p4"/>
          <p:cNvSpPr/>
          <p:nvPr/>
        </p:nvSpPr>
        <p:spPr>
          <a:xfrm>
            <a:off x="1485900" y="2167128"/>
            <a:ext cx="548700" cy="54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Calibri"/>
              <a:buNone/>
            </a:pPr>
            <a:r>
              <a:rPr lang="en" sz="1600" b="0" i="0" u="none" strike="noStrike" cap="none">
                <a:solidFill>
                  <a:srgbClr val="000000"/>
                </a:solidFill>
                <a:latin typeface="Calibri"/>
                <a:ea typeface="Calibri"/>
                <a:cs typeface="Calibri"/>
                <a:sym typeface="Calibri"/>
              </a:rPr>
              <a:t>🏋️</a:t>
            </a:r>
            <a:endParaRPr sz="1600" b="0" i="0" u="none" strike="noStrike" cap="none">
              <a:solidFill>
                <a:srgbClr val="000000"/>
              </a:solidFill>
              <a:latin typeface="Calibri"/>
              <a:ea typeface="Calibri"/>
              <a:cs typeface="Calibri"/>
              <a:sym typeface="Calibri"/>
            </a:endParaRPr>
          </a:p>
        </p:txBody>
      </p:sp>
      <p:sp>
        <p:nvSpPr>
          <p:cNvPr id="479" name="Google Shape;479;p4"/>
          <p:cNvSpPr/>
          <p:nvPr/>
        </p:nvSpPr>
        <p:spPr>
          <a:xfrm>
            <a:off x="548640" y="2807208"/>
            <a:ext cx="2423100" cy="384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563EB"/>
              </a:buClr>
              <a:buSzPts val="1400"/>
              <a:buFont typeface="Calibri"/>
              <a:buNone/>
            </a:pPr>
            <a:r>
              <a:rPr lang="en" sz="1400" b="1" i="0" u="none" strike="noStrike" cap="none">
                <a:solidFill>
                  <a:srgbClr val="2563EB"/>
                </a:solidFill>
                <a:latin typeface="Calibri"/>
                <a:ea typeface="Calibri"/>
                <a:cs typeface="Calibri"/>
                <a:sym typeface="Calibri"/>
              </a:rPr>
              <a:t>Training Set</a:t>
            </a:r>
            <a:endParaRPr sz="1400" b="0" i="0" u="none" strike="noStrike" cap="none">
              <a:solidFill>
                <a:srgbClr val="000000"/>
              </a:solidFill>
              <a:latin typeface="Calibri"/>
              <a:ea typeface="Calibri"/>
              <a:cs typeface="Calibri"/>
              <a:sym typeface="Calibri"/>
            </a:endParaRPr>
          </a:p>
        </p:txBody>
      </p:sp>
      <p:sp>
        <p:nvSpPr>
          <p:cNvPr id="480" name="Google Shape;480;p4"/>
          <p:cNvSpPr/>
          <p:nvPr/>
        </p:nvSpPr>
        <p:spPr>
          <a:xfrm>
            <a:off x="594360" y="3246120"/>
            <a:ext cx="2377500" cy="10974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34155"/>
              </a:buClr>
              <a:buSzPts val="1000"/>
              <a:buFont typeface="Calibri"/>
              <a:buChar char="•"/>
            </a:pPr>
            <a:r>
              <a:rPr lang="en" sz="1000" b="0" i="0" u="none" strike="noStrike" cap="none">
                <a:solidFill>
                  <a:srgbClr val="334155"/>
                </a:solidFill>
                <a:latin typeface="Calibri"/>
                <a:ea typeface="Calibri"/>
                <a:cs typeface="Calibri"/>
                <a:sym typeface="Calibri"/>
              </a:rPr>
              <a:t>Model learns weights &amp; patterns</a:t>
            </a:r>
            <a:endParaRPr sz="10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200"/>
              </a:spcBef>
              <a:spcAft>
                <a:spcPts val="0"/>
              </a:spcAft>
              <a:buClr>
                <a:srgbClr val="334155"/>
              </a:buClr>
              <a:buSzPts val="1000"/>
              <a:buFont typeface="Calibri"/>
              <a:buChar char="•"/>
            </a:pPr>
            <a:r>
              <a:rPr lang="en" sz="1000" b="0" i="0" u="none" strike="noStrike" cap="none">
                <a:solidFill>
                  <a:srgbClr val="334155"/>
                </a:solidFill>
                <a:latin typeface="Calibri"/>
                <a:ea typeface="Calibri"/>
                <a:cs typeface="Calibri"/>
                <a:sym typeface="Calibri"/>
              </a:rPr>
              <a:t>Largest split (~60–80%)</a:t>
            </a:r>
            <a:endParaRPr sz="10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200"/>
              </a:spcBef>
              <a:spcAft>
                <a:spcPts val="0"/>
              </a:spcAft>
              <a:buClr>
                <a:srgbClr val="334155"/>
              </a:buClr>
              <a:buSzPts val="1000"/>
              <a:buFont typeface="Calibri"/>
              <a:buChar char="•"/>
            </a:pPr>
            <a:r>
              <a:rPr lang="en" sz="1000" b="0" i="0" u="none" strike="noStrike" cap="none">
                <a:solidFill>
                  <a:srgbClr val="334155"/>
                </a:solidFill>
                <a:latin typeface="Calibri"/>
                <a:ea typeface="Calibri"/>
                <a:cs typeface="Calibri"/>
                <a:sym typeface="Calibri"/>
              </a:rPr>
              <a:t>Directly used in backpropagation</a:t>
            </a:r>
            <a:endParaRPr sz="10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200"/>
              </a:spcBef>
              <a:spcAft>
                <a:spcPts val="0"/>
              </a:spcAft>
              <a:buClr>
                <a:srgbClr val="334155"/>
              </a:buClr>
              <a:buSzPts val="1000"/>
              <a:buFont typeface="Calibri"/>
              <a:buChar char="•"/>
            </a:pPr>
            <a:r>
              <a:rPr lang="en" sz="1000" b="0" i="0" u="none" strike="noStrike" cap="none">
                <a:solidFill>
                  <a:srgbClr val="334155"/>
                </a:solidFill>
                <a:latin typeface="Calibri"/>
                <a:ea typeface="Calibri"/>
                <a:cs typeface="Calibri"/>
                <a:sym typeface="Calibri"/>
              </a:rPr>
              <a:t>More data → better generalization</a:t>
            </a:r>
            <a:endParaRPr sz="1000" b="0" i="0" u="none" strike="noStrike" cap="none">
              <a:solidFill>
                <a:srgbClr val="000000"/>
              </a:solidFill>
              <a:latin typeface="Calibri"/>
              <a:ea typeface="Calibri"/>
              <a:cs typeface="Calibri"/>
              <a:sym typeface="Calibri"/>
            </a:endParaRPr>
          </a:p>
        </p:txBody>
      </p:sp>
      <p:sp>
        <p:nvSpPr>
          <p:cNvPr id="481" name="Google Shape;481;p4"/>
          <p:cNvSpPr/>
          <p:nvPr/>
        </p:nvSpPr>
        <p:spPr>
          <a:xfrm>
            <a:off x="548640" y="4270248"/>
            <a:ext cx="2423100" cy="274200"/>
          </a:xfrm>
          <a:prstGeom prst="rect">
            <a:avLst/>
          </a:prstGeom>
          <a:solidFill>
            <a:srgbClr val="DBEAFE"/>
          </a:solidFill>
          <a:ln w="9525"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2" name="Google Shape;482;p4"/>
          <p:cNvSpPr/>
          <p:nvPr/>
        </p:nvSpPr>
        <p:spPr>
          <a:xfrm>
            <a:off x="566928" y="4270248"/>
            <a:ext cx="2386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563EB"/>
              </a:buClr>
              <a:buSzPts val="850"/>
              <a:buFont typeface="Calibri"/>
              <a:buNone/>
            </a:pPr>
            <a:r>
              <a:rPr lang="en" sz="850" b="0" i="1" u="none" strike="noStrike" cap="none">
                <a:solidFill>
                  <a:srgbClr val="2563EB"/>
                </a:solidFill>
                <a:latin typeface="Calibri"/>
                <a:ea typeface="Calibri"/>
                <a:cs typeface="Calibri"/>
                <a:sym typeface="Calibri"/>
              </a:rPr>
              <a:t>⚠  Memorizing train data = overfitting</a:t>
            </a:r>
            <a:endParaRPr sz="850" b="0" i="0" u="none" strike="noStrike" cap="none">
              <a:solidFill>
                <a:srgbClr val="000000"/>
              </a:solidFill>
              <a:latin typeface="Calibri"/>
              <a:ea typeface="Calibri"/>
              <a:cs typeface="Calibri"/>
              <a:sym typeface="Calibri"/>
            </a:endParaRPr>
          </a:p>
        </p:txBody>
      </p:sp>
      <p:sp>
        <p:nvSpPr>
          <p:cNvPr id="483" name="Google Shape;483;p4"/>
          <p:cNvSpPr/>
          <p:nvPr/>
        </p:nvSpPr>
        <p:spPr>
          <a:xfrm>
            <a:off x="3310128" y="2103120"/>
            <a:ext cx="2606100" cy="2469000"/>
          </a:xfrm>
          <a:prstGeom prst="rect">
            <a:avLst/>
          </a:prstGeom>
          <a:solidFill>
            <a:srgbClr val="E2E8F0"/>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4"/>
          <p:cNvSpPr/>
          <p:nvPr/>
        </p:nvSpPr>
        <p:spPr>
          <a:xfrm>
            <a:off x="3264408" y="2057400"/>
            <a:ext cx="2606100" cy="2469000"/>
          </a:xfrm>
          <a:prstGeom prst="rect">
            <a:avLst/>
          </a:prstGeom>
          <a:solidFill>
            <a:srgbClr val="F5F3FF"/>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4"/>
          <p:cNvSpPr/>
          <p:nvPr/>
        </p:nvSpPr>
        <p:spPr>
          <a:xfrm>
            <a:off x="3264408" y="2057400"/>
            <a:ext cx="2606100" cy="63900"/>
          </a:xfrm>
          <a:prstGeom prst="rect">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6" name="Google Shape;486;p4"/>
          <p:cNvSpPr/>
          <p:nvPr/>
        </p:nvSpPr>
        <p:spPr>
          <a:xfrm>
            <a:off x="4293108" y="2167128"/>
            <a:ext cx="548700" cy="548700"/>
          </a:xfrm>
          <a:prstGeom prst="ellipse">
            <a:avLst/>
          </a:prstGeom>
          <a:solidFill>
            <a:srgbClr val="EDE9FE"/>
          </a:solidFill>
          <a:ln w="1905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7" name="Google Shape;487;p4"/>
          <p:cNvSpPr/>
          <p:nvPr/>
        </p:nvSpPr>
        <p:spPr>
          <a:xfrm>
            <a:off x="4293108" y="2167128"/>
            <a:ext cx="548700" cy="54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Calibri"/>
              <a:buNone/>
            </a:pPr>
            <a:r>
              <a:rPr lang="en" sz="1600" b="0" i="0" u="none" strike="noStrike" cap="none">
                <a:solidFill>
                  <a:srgbClr val="000000"/>
                </a:solidFill>
                <a:latin typeface="Calibri"/>
                <a:ea typeface="Calibri"/>
                <a:cs typeface="Calibri"/>
                <a:sym typeface="Calibri"/>
              </a:rPr>
              <a:t>🔧</a:t>
            </a:r>
            <a:endParaRPr sz="1600" b="0" i="0" u="none" strike="noStrike" cap="none">
              <a:solidFill>
                <a:srgbClr val="000000"/>
              </a:solidFill>
              <a:latin typeface="Calibri"/>
              <a:ea typeface="Calibri"/>
              <a:cs typeface="Calibri"/>
              <a:sym typeface="Calibri"/>
            </a:endParaRPr>
          </a:p>
        </p:txBody>
      </p:sp>
      <p:sp>
        <p:nvSpPr>
          <p:cNvPr id="488" name="Google Shape;488;p4"/>
          <p:cNvSpPr/>
          <p:nvPr/>
        </p:nvSpPr>
        <p:spPr>
          <a:xfrm>
            <a:off x="3355848" y="2807208"/>
            <a:ext cx="2423100" cy="384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C3AED"/>
              </a:buClr>
              <a:buSzPts val="1400"/>
              <a:buFont typeface="Calibri"/>
              <a:buNone/>
            </a:pPr>
            <a:r>
              <a:rPr lang="en" sz="1400" b="1" i="0" u="none" strike="noStrike" cap="none">
                <a:solidFill>
                  <a:srgbClr val="7C3AED"/>
                </a:solidFill>
                <a:latin typeface="Calibri"/>
                <a:ea typeface="Calibri"/>
                <a:cs typeface="Calibri"/>
                <a:sym typeface="Calibri"/>
              </a:rPr>
              <a:t>Validation Set</a:t>
            </a:r>
            <a:endParaRPr sz="1400" b="0" i="0" u="none" strike="noStrike" cap="none">
              <a:solidFill>
                <a:srgbClr val="000000"/>
              </a:solidFill>
              <a:latin typeface="Calibri"/>
              <a:ea typeface="Calibri"/>
              <a:cs typeface="Calibri"/>
              <a:sym typeface="Calibri"/>
            </a:endParaRPr>
          </a:p>
        </p:txBody>
      </p:sp>
      <p:sp>
        <p:nvSpPr>
          <p:cNvPr id="489" name="Google Shape;489;p4"/>
          <p:cNvSpPr/>
          <p:nvPr/>
        </p:nvSpPr>
        <p:spPr>
          <a:xfrm>
            <a:off x="3401568" y="3246120"/>
            <a:ext cx="2377500" cy="10974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34155"/>
              </a:buClr>
              <a:buSzPts val="1000"/>
              <a:buFont typeface="Calibri"/>
              <a:buChar char="•"/>
            </a:pPr>
            <a:r>
              <a:rPr lang="en" sz="1000" b="0" i="0" u="none" strike="noStrike" cap="none">
                <a:solidFill>
                  <a:srgbClr val="334155"/>
                </a:solidFill>
                <a:latin typeface="Calibri"/>
                <a:ea typeface="Calibri"/>
                <a:cs typeface="Calibri"/>
                <a:sym typeface="Calibri"/>
              </a:rPr>
              <a:t>Tune hyperparameters &amp; architecture</a:t>
            </a:r>
            <a:endParaRPr sz="10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200"/>
              </a:spcBef>
              <a:spcAft>
                <a:spcPts val="0"/>
              </a:spcAft>
              <a:buClr>
                <a:srgbClr val="334155"/>
              </a:buClr>
              <a:buSzPts val="1000"/>
              <a:buFont typeface="Calibri"/>
              <a:buChar char="•"/>
            </a:pPr>
            <a:r>
              <a:rPr lang="en" sz="1000" b="0" i="0" u="none" strike="noStrike" cap="none">
                <a:solidFill>
                  <a:srgbClr val="334155"/>
                </a:solidFill>
                <a:latin typeface="Calibri"/>
                <a:ea typeface="Calibri"/>
                <a:cs typeface="Calibri"/>
                <a:sym typeface="Calibri"/>
              </a:rPr>
              <a:t>Monitor val loss to stop early</a:t>
            </a:r>
            <a:endParaRPr sz="10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200"/>
              </a:spcBef>
              <a:spcAft>
                <a:spcPts val="0"/>
              </a:spcAft>
              <a:buClr>
                <a:srgbClr val="334155"/>
              </a:buClr>
              <a:buSzPts val="1000"/>
              <a:buFont typeface="Calibri"/>
              <a:buChar char="•"/>
            </a:pPr>
            <a:r>
              <a:rPr lang="en" sz="1000" b="0" i="0" u="none" strike="noStrike" cap="none">
                <a:solidFill>
                  <a:srgbClr val="334155"/>
                </a:solidFill>
                <a:latin typeface="Calibri"/>
                <a:ea typeface="Calibri"/>
                <a:cs typeface="Calibri"/>
                <a:sym typeface="Calibri"/>
              </a:rPr>
              <a:t>Guides model selection decisions</a:t>
            </a:r>
            <a:endParaRPr sz="10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200"/>
              </a:spcBef>
              <a:spcAft>
                <a:spcPts val="0"/>
              </a:spcAft>
              <a:buClr>
                <a:srgbClr val="334155"/>
              </a:buClr>
              <a:buSzPts val="1000"/>
              <a:buFont typeface="Calibri"/>
              <a:buChar char="•"/>
            </a:pPr>
            <a:r>
              <a:rPr lang="en" sz="1000" b="0" i="0" u="none" strike="noStrike" cap="none">
                <a:solidFill>
                  <a:srgbClr val="334155"/>
                </a:solidFill>
                <a:latin typeface="Calibri"/>
                <a:ea typeface="Calibri"/>
                <a:cs typeface="Calibri"/>
                <a:sym typeface="Calibri"/>
              </a:rPr>
              <a:t>Not used in gradient updates</a:t>
            </a:r>
            <a:endParaRPr sz="1000" b="0" i="0" u="none" strike="noStrike" cap="none">
              <a:solidFill>
                <a:srgbClr val="000000"/>
              </a:solidFill>
              <a:latin typeface="Calibri"/>
              <a:ea typeface="Calibri"/>
              <a:cs typeface="Calibri"/>
              <a:sym typeface="Calibri"/>
            </a:endParaRPr>
          </a:p>
        </p:txBody>
      </p:sp>
      <p:sp>
        <p:nvSpPr>
          <p:cNvPr id="490" name="Google Shape;490;p4"/>
          <p:cNvSpPr/>
          <p:nvPr/>
        </p:nvSpPr>
        <p:spPr>
          <a:xfrm>
            <a:off x="3355848" y="4270248"/>
            <a:ext cx="2423100" cy="274200"/>
          </a:xfrm>
          <a:prstGeom prst="rect">
            <a:avLst/>
          </a:prstGeom>
          <a:solidFill>
            <a:srgbClr val="EDE9FE"/>
          </a:solidFill>
          <a:ln w="9525"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1" name="Google Shape;491;p4"/>
          <p:cNvSpPr/>
          <p:nvPr/>
        </p:nvSpPr>
        <p:spPr>
          <a:xfrm>
            <a:off x="3374136" y="4270248"/>
            <a:ext cx="2386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C3AED"/>
              </a:buClr>
              <a:buSzPts val="850"/>
              <a:buFont typeface="Calibri"/>
              <a:buNone/>
            </a:pPr>
            <a:r>
              <a:rPr lang="en" sz="850" b="0" i="1" u="none" strike="noStrike" cap="none">
                <a:solidFill>
                  <a:srgbClr val="7C3AED"/>
                </a:solidFill>
                <a:latin typeface="Calibri"/>
                <a:ea typeface="Calibri"/>
                <a:cs typeface="Calibri"/>
                <a:sym typeface="Calibri"/>
              </a:rPr>
              <a:t>⚠  Leaking val labels biases selection</a:t>
            </a:r>
            <a:endParaRPr sz="850" b="0" i="0" u="none" strike="noStrike" cap="none">
              <a:solidFill>
                <a:srgbClr val="000000"/>
              </a:solidFill>
              <a:latin typeface="Calibri"/>
              <a:ea typeface="Calibri"/>
              <a:cs typeface="Calibri"/>
              <a:sym typeface="Calibri"/>
            </a:endParaRPr>
          </a:p>
        </p:txBody>
      </p:sp>
      <p:sp>
        <p:nvSpPr>
          <p:cNvPr id="492" name="Google Shape;492;p4"/>
          <p:cNvSpPr/>
          <p:nvPr/>
        </p:nvSpPr>
        <p:spPr>
          <a:xfrm>
            <a:off x="6117336" y="2103120"/>
            <a:ext cx="2606100" cy="2469000"/>
          </a:xfrm>
          <a:prstGeom prst="rect">
            <a:avLst/>
          </a:prstGeom>
          <a:solidFill>
            <a:srgbClr val="E2E8F0"/>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 name="Google Shape;493;p4"/>
          <p:cNvSpPr/>
          <p:nvPr/>
        </p:nvSpPr>
        <p:spPr>
          <a:xfrm>
            <a:off x="6071616" y="2057400"/>
            <a:ext cx="2606100" cy="2469000"/>
          </a:xfrm>
          <a:prstGeom prst="rect">
            <a:avLst/>
          </a:prstGeom>
          <a:solidFill>
            <a:srgbClr val="ECFDF5"/>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4" name="Google Shape;494;p4"/>
          <p:cNvSpPr/>
          <p:nvPr/>
        </p:nvSpPr>
        <p:spPr>
          <a:xfrm>
            <a:off x="6071616" y="2057400"/>
            <a:ext cx="2606100" cy="63900"/>
          </a:xfrm>
          <a:prstGeom prst="rect">
            <a:avLst/>
          </a:prstGeom>
          <a:solidFill>
            <a:srgbClr val="059669"/>
          </a:solidFill>
          <a:ln w="12700"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5" name="Google Shape;495;p4"/>
          <p:cNvSpPr/>
          <p:nvPr/>
        </p:nvSpPr>
        <p:spPr>
          <a:xfrm>
            <a:off x="7100316" y="2167128"/>
            <a:ext cx="548700" cy="548700"/>
          </a:xfrm>
          <a:prstGeom prst="ellipse">
            <a:avLst/>
          </a:prstGeom>
          <a:solidFill>
            <a:srgbClr val="D1FAE5"/>
          </a:solidFill>
          <a:ln w="19050"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6" name="Google Shape;496;p4"/>
          <p:cNvSpPr/>
          <p:nvPr/>
        </p:nvSpPr>
        <p:spPr>
          <a:xfrm>
            <a:off x="7100316" y="2167128"/>
            <a:ext cx="548700" cy="54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600"/>
              <a:buFont typeface="Calibri"/>
              <a:buNone/>
            </a:pPr>
            <a:r>
              <a:rPr lang="en" sz="1600" b="0" i="0" u="none" strike="noStrike" cap="none">
                <a:solidFill>
                  <a:srgbClr val="000000"/>
                </a:solidFill>
                <a:latin typeface="Calibri"/>
                <a:ea typeface="Calibri"/>
                <a:cs typeface="Calibri"/>
                <a:sym typeface="Calibri"/>
              </a:rPr>
              <a:t>📊</a:t>
            </a:r>
            <a:endParaRPr sz="1600" b="0" i="0" u="none" strike="noStrike" cap="none">
              <a:solidFill>
                <a:srgbClr val="000000"/>
              </a:solidFill>
              <a:latin typeface="Calibri"/>
              <a:ea typeface="Calibri"/>
              <a:cs typeface="Calibri"/>
              <a:sym typeface="Calibri"/>
            </a:endParaRPr>
          </a:p>
        </p:txBody>
      </p:sp>
      <p:sp>
        <p:nvSpPr>
          <p:cNvPr id="497" name="Google Shape;497;p4"/>
          <p:cNvSpPr/>
          <p:nvPr/>
        </p:nvSpPr>
        <p:spPr>
          <a:xfrm>
            <a:off x="6163056" y="2807208"/>
            <a:ext cx="2423100" cy="384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59669"/>
              </a:buClr>
              <a:buSzPts val="1400"/>
              <a:buFont typeface="Calibri"/>
              <a:buNone/>
            </a:pPr>
            <a:r>
              <a:rPr lang="en" sz="1400" b="1" i="0" u="none" strike="noStrike" cap="none">
                <a:solidFill>
                  <a:srgbClr val="059669"/>
                </a:solidFill>
                <a:latin typeface="Calibri"/>
                <a:ea typeface="Calibri"/>
                <a:cs typeface="Calibri"/>
                <a:sym typeface="Calibri"/>
              </a:rPr>
              <a:t>Test Set</a:t>
            </a:r>
            <a:endParaRPr sz="1400" b="0" i="0" u="none" strike="noStrike" cap="none">
              <a:solidFill>
                <a:srgbClr val="000000"/>
              </a:solidFill>
              <a:latin typeface="Calibri"/>
              <a:ea typeface="Calibri"/>
              <a:cs typeface="Calibri"/>
              <a:sym typeface="Calibri"/>
            </a:endParaRPr>
          </a:p>
        </p:txBody>
      </p:sp>
      <p:sp>
        <p:nvSpPr>
          <p:cNvPr id="498" name="Google Shape;498;p4"/>
          <p:cNvSpPr/>
          <p:nvPr/>
        </p:nvSpPr>
        <p:spPr>
          <a:xfrm>
            <a:off x="6208776" y="3246120"/>
            <a:ext cx="2377500" cy="10974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34155"/>
              </a:buClr>
              <a:buSzPts val="1000"/>
              <a:buFont typeface="Calibri"/>
              <a:buChar char="•"/>
            </a:pPr>
            <a:r>
              <a:rPr lang="en" sz="1000" b="0" i="0" u="none" strike="noStrike" cap="none">
                <a:solidFill>
                  <a:srgbClr val="334155"/>
                </a:solidFill>
                <a:latin typeface="Calibri"/>
                <a:ea typeface="Calibri"/>
                <a:cs typeface="Calibri"/>
                <a:sym typeface="Calibri"/>
              </a:rPr>
              <a:t>Final unbiased performance estimate</a:t>
            </a:r>
            <a:endParaRPr sz="10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200"/>
              </a:spcBef>
              <a:spcAft>
                <a:spcPts val="0"/>
              </a:spcAft>
              <a:buClr>
                <a:srgbClr val="334155"/>
              </a:buClr>
              <a:buSzPts val="1000"/>
              <a:buFont typeface="Calibri"/>
              <a:buChar char="•"/>
            </a:pPr>
            <a:r>
              <a:rPr lang="en" sz="1000" b="0" i="0" u="none" strike="noStrike" cap="none">
                <a:solidFill>
                  <a:srgbClr val="334155"/>
                </a:solidFill>
                <a:latin typeface="Calibri"/>
                <a:ea typeface="Calibri"/>
                <a:cs typeface="Calibri"/>
                <a:sym typeface="Calibri"/>
              </a:rPr>
              <a:t>Used ONLY once — at the very end</a:t>
            </a:r>
            <a:endParaRPr sz="10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200"/>
              </a:spcBef>
              <a:spcAft>
                <a:spcPts val="0"/>
              </a:spcAft>
              <a:buClr>
                <a:srgbClr val="334155"/>
              </a:buClr>
              <a:buSzPts val="1000"/>
              <a:buFont typeface="Calibri"/>
              <a:buChar char="•"/>
            </a:pPr>
            <a:r>
              <a:rPr lang="en" sz="1000" b="0" i="0" u="none" strike="noStrike" cap="none">
                <a:solidFill>
                  <a:srgbClr val="334155"/>
                </a:solidFill>
                <a:latin typeface="Calibri"/>
                <a:ea typeface="Calibri"/>
                <a:cs typeface="Calibri"/>
                <a:sym typeface="Calibri"/>
              </a:rPr>
              <a:t>Never drives any design choice</a:t>
            </a:r>
            <a:endParaRPr sz="10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200"/>
              </a:spcBef>
              <a:spcAft>
                <a:spcPts val="0"/>
              </a:spcAft>
              <a:buClr>
                <a:srgbClr val="334155"/>
              </a:buClr>
              <a:buSzPts val="1000"/>
              <a:buFont typeface="Calibri"/>
              <a:buChar char="•"/>
            </a:pPr>
            <a:r>
              <a:rPr lang="en" sz="1000" b="0" i="0" u="none" strike="noStrike" cap="none">
                <a:solidFill>
                  <a:srgbClr val="334155"/>
                </a:solidFill>
                <a:latin typeface="Calibri"/>
                <a:ea typeface="Calibri"/>
                <a:cs typeface="Calibri"/>
                <a:sym typeface="Calibri"/>
              </a:rPr>
              <a:t>Reports real-world generalisation</a:t>
            </a:r>
            <a:endParaRPr sz="1000" b="0" i="0" u="none" strike="noStrike" cap="none">
              <a:solidFill>
                <a:srgbClr val="000000"/>
              </a:solidFill>
              <a:latin typeface="Calibri"/>
              <a:ea typeface="Calibri"/>
              <a:cs typeface="Calibri"/>
              <a:sym typeface="Calibri"/>
            </a:endParaRPr>
          </a:p>
        </p:txBody>
      </p:sp>
      <p:sp>
        <p:nvSpPr>
          <p:cNvPr id="499" name="Google Shape;499;p4"/>
          <p:cNvSpPr/>
          <p:nvPr/>
        </p:nvSpPr>
        <p:spPr>
          <a:xfrm>
            <a:off x="6163056" y="4270248"/>
            <a:ext cx="2423100" cy="274200"/>
          </a:xfrm>
          <a:prstGeom prst="rect">
            <a:avLst/>
          </a:prstGeom>
          <a:solidFill>
            <a:srgbClr val="D1FAE5"/>
          </a:soli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0" name="Google Shape;500;p4"/>
          <p:cNvSpPr/>
          <p:nvPr/>
        </p:nvSpPr>
        <p:spPr>
          <a:xfrm>
            <a:off x="6181344" y="4270248"/>
            <a:ext cx="23865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59669"/>
              </a:buClr>
              <a:buSzPts val="850"/>
              <a:buFont typeface="Calibri"/>
              <a:buNone/>
            </a:pPr>
            <a:r>
              <a:rPr lang="en" sz="850" b="0" i="1" u="none" strike="noStrike" cap="none">
                <a:solidFill>
                  <a:srgbClr val="059669"/>
                </a:solidFill>
                <a:latin typeface="Calibri"/>
                <a:ea typeface="Calibri"/>
                <a:cs typeface="Calibri"/>
                <a:sym typeface="Calibri"/>
              </a:rPr>
              <a:t>⚠  Peeking at test = data leakage!</a:t>
            </a:r>
            <a:endParaRPr sz="850" b="0" i="0" u="none" strike="noStrike" cap="none">
              <a:solidFill>
                <a:srgbClr val="000000"/>
              </a:solidFill>
              <a:latin typeface="Calibri"/>
              <a:ea typeface="Calibri"/>
              <a:cs typeface="Calibri"/>
              <a:sym typeface="Calibri"/>
            </a:endParaRPr>
          </a:p>
        </p:txBody>
      </p:sp>
      <p:sp>
        <p:nvSpPr>
          <p:cNvPr id="501" name="Google Shape;501;p4"/>
          <p:cNvSpPr/>
          <p:nvPr/>
        </p:nvSpPr>
        <p:spPr>
          <a:xfrm>
            <a:off x="457200" y="4709160"/>
            <a:ext cx="8229600" cy="320100"/>
          </a:xfrm>
          <a:prstGeom prst="rect">
            <a:avLst/>
          </a:prstGeom>
          <a:solidFill>
            <a:srgbClr val="F1F5F9"/>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2" name="Google Shape;502;p4"/>
          <p:cNvSpPr/>
          <p:nvPr/>
        </p:nvSpPr>
        <p:spPr>
          <a:xfrm>
            <a:off x="457200" y="4709160"/>
            <a:ext cx="82296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00"/>
              <a:buFont typeface="Calibri"/>
              <a:buNone/>
            </a:pPr>
            <a:r>
              <a:rPr lang="en" sz="1000" b="1" i="0" u="none" strike="noStrike" cap="none">
                <a:solidFill>
                  <a:srgbClr val="1E293B"/>
                </a:solidFill>
                <a:latin typeface="Calibri"/>
                <a:ea typeface="Calibri"/>
                <a:cs typeface="Calibri"/>
                <a:sym typeface="Calibri"/>
              </a:rPr>
              <a:t>Key Rule: </a:t>
            </a:r>
            <a:r>
              <a:rPr lang="en" sz="1000" b="0" i="0" u="none" strike="noStrike" cap="none">
                <a:solidFill>
                  <a:srgbClr val="475569"/>
                </a:solidFill>
                <a:latin typeface="Calibri"/>
                <a:ea typeface="Calibri"/>
                <a:cs typeface="Calibri"/>
                <a:sym typeface="Calibri"/>
              </a:rPr>
              <a:t>Each split must remain independent. Never let information from validation or test sets influence training decisions.</a:t>
            </a:r>
            <a:endParaRPr sz="1000" b="0" i="0" u="none" strike="noStrike" cap="none">
              <a:solidFill>
                <a:srgbClr val="000000"/>
              </a:solidFill>
              <a:latin typeface="Calibri"/>
              <a:ea typeface="Calibri"/>
              <a:cs typeface="Calibri"/>
              <a:sym typeface="Calibri"/>
            </a:endParaRPr>
          </a:p>
        </p:txBody>
      </p:sp>
      <p:sp>
        <p:nvSpPr>
          <p:cNvPr id="503" name="Google Shape;503;p4"/>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07"/>
        <p:cNvGrpSpPr/>
        <p:nvPr/>
      </p:nvGrpSpPr>
      <p:grpSpPr>
        <a:xfrm>
          <a:off x="0" y="0"/>
          <a:ext cx="0" cy="0"/>
          <a:chOff x="0" y="0"/>
          <a:chExt cx="0" cy="0"/>
        </a:xfrm>
      </p:grpSpPr>
      <p:pic>
        <p:nvPicPr>
          <p:cNvPr id="508" name="Google Shape;508;p5"/>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509" name="Google Shape;509;p5"/>
          <p:cNvSpPr/>
          <p:nvPr/>
        </p:nvSpPr>
        <p:spPr>
          <a:xfrm>
            <a:off x="365760" y="164592"/>
            <a:ext cx="7863900" cy="594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A237E"/>
              </a:buClr>
              <a:buSzPts val="3000"/>
              <a:buFont typeface="Calibri"/>
              <a:buNone/>
            </a:pPr>
            <a:r>
              <a:rPr lang="en" sz="3000" b="1" i="0" u="none" strike="noStrike" cap="none">
                <a:solidFill>
                  <a:srgbClr val="1A237E"/>
                </a:solidFill>
                <a:latin typeface="Calibri"/>
                <a:ea typeface="Calibri"/>
                <a:cs typeface="Calibri"/>
                <a:sym typeface="Calibri"/>
              </a:rPr>
              <a:t>Underfitting, Good Fit &amp; Overfitting</a:t>
            </a:r>
            <a:endParaRPr sz="3000" b="0" i="0" u="none" strike="noStrike" cap="none">
              <a:solidFill>
                <a:srgbClr val="000000"/>
              </a:solidFill>
              <a:latin typeface="Calibri"/>
              <a:ea typeface="Calibri"/>
              <a:cs typeface="Calibri"/>
              <a:sym typeface="Calibri"/>
            </a:endParaRPr>
          </a:p>
        </p:txBody>
      </p:sp>
      <p:cxnSp>
        <p:nvCxnSpPr>
          <p:cNvPr id="510" name="Google Shape;510;p5"/>
          <p:cNvCxnSpPr/>
          <p:nvPr/>
        </p:nvCxnSpPr>
        <p:spPr>
          <a:xfrm rot="10800000" flipH="1">
            <a:off x="274320" y="2743200"/>
            <a:ext cx="1371600" cy="1371600"/>
          </a:xfrm>
          <a:prstGeom prst="straightConnector1">
            <a:avLst/>
          </a:prstGeom>
          <a:noFill/>
          <a:ln w="9525" cap="flat" cmpd="sng">
            <a:solidFill>
              <a:srgbClr val="BDBDBD">
                <a:alpha val="30196"/>
              </a:srgbClr>
            </a:solidFill>
            <a:prstDash val="solid"/>
            <a:round/>
            <a:headEnd type="none" w="sm" len="sm"/>
            <a:tailEnd type="none" w="sm" len="sm"/>
          </a:ln>
        </p:spPr>
      </p:cxnSp>
      <p:cxnSp>
        <p:nvCxnSpPr>
          <p:cNvPr id="511" name="Google Shape;511;p5"/>
          <p:cNvCxnSpPr/>
          <p:nvPr/>
        </p:nvCxnSpPr>
        <p:spPr>
          <a:xfrm>
            <a:off x="1645920" y="2743200"/>
            <a:ext cx="1554600" cy="1828800"/>
          </a:xfrm>
          <a:prstGeom prst="straightConnector1">
            <a:avLst/>
          </a:prstGeom>
          <a:noFill/>
          <a:ln w="9525" cap="flat" cmpd="sng">
            <a:solidFill>
              <a:srgbClr val="BDBDBD">
                <a:alpha val="30196"/>
              </a:srgbClr>
            </a:solidFill>
            <a:prstDash val="solid"/>
            <a:round/>
            <a:headEnd type="none" w="sm" len="sm"/>
            <a:tailEnd type="none" w="sm" len="sm"/>
          </a:ln>
        </p:spPr>
      </p:cxnSp>
      <p:cxnSp>
        <p:nvCxnSpPr>
          <p:cNvPr id="512" name="Google Shape;512;p5"/>
          <p:cNvCxnSpPr/>
          <p:nvPr/>
        </p:nvCxnSpPr>
        <p:spPr>
          <a:xfrm rot="10800000" flipH="1">
            <a:off x="3200400" y="3840600"/>
            <a:ext cx="2286000" cy="731400"/>
          </a:xfrm>
          <a:prstGeom prst="straightConnector1">
            <a:avLst/>
          </a:prstGeom>
          <a:noFill/>
          <a:ln w="9525" cap="flat" cmpd="sng">
            <a:solidFill>
              <a:srgbClr val="BDBDBD">
                <a:alpha val="30196"/>
              </a:srgbClr>
            </a:solidFill>
            <a:prstDash val="solid"/>
            <a:round/>
            <a:headEnd type="none" w="sm" len="sm"/>
            <a:tailEnd type="none" w="sm" len="sm"/>
          </a:ln>
        </p:spPr>
      </p:cxnSp>
      <p:cxnSp>
        <p:nvCxnSpPr>
          <p:cNvPr id="513" name="Google Shape;513;p5"/>
          <p:cNvCxnSpPr/>
          <p:nvPr/>
        </p:nvCxnSpPr>
        <p:spPr>
          <a:xfrm rot="10800000" flipH="1">
            <a:off x="7772400" y="2743320"/>
            <a:ext cx="1280100" cy="2103000"/>
          </a:xfrm>
          <a:prstGeom prst="straightConnector1">
            <a:avLst/>
          </a:prstGeom>
          <a:noFill/>
          <a:ln w="9525" cap="flat" cmpd="sng">
            <a:solidFill>
              <a:srgbClr val="BDBDBD">
                <a:alpha val="30196"/>
              </a:srgbClr>
            </a:solidFill>
            <a:prstDash val="solid"/>
            <a:round/>
            <a:headEnd type="none" w="sm" len="sm"/>
            <a:tailEnd type="none" w="sm" len="sm"/>
          </a:ln>
        </p:spPr>
      </p:cxnSp>
      <p:cxnSp>
        <p:nvCxnSpPr>
          <p:cNvPr id="514" name="Google Shape;514;p5"/>
          <p:cNvCxnSpPr/>
          <p:nvPr/>
        </p:nvCxnSpPr>
        <p:spPr>
          <a:xfrm flipH="1">
            <a:off x="1645800" y="1097280"/>
            <a:ext cx="640200" cy="1645800"/>
          </a:xfrm>
          <a:prstGeom prst="straightConnector1">
            <a:avLst/>
          </a:prstGeom>
          <a:noFill/>
          <a:ln w="9525" cap="flat" cmpd="sng">
            <a:solidFill>
              <a:srgbClr val="BDBDBD">
                <a:alpha val="30196"/>
              </a:srgbClr>
            </a:solidFill>
            <a:prstDash val="solid"/>
            <a:round/>
            <a:headEnd type="none" w="sm" len="sm"/>
            <a:tailEnd type="none" w="sm" len="sm"/>
          </a:ln>
        </p:spPr>
      </p:cxnSp>
      <p:cxnSp>
        <p:nvCxnSpPr>
          <p:cNvPr id="515" name="Google Shape;515;p5"/>
          <p:cNvCxnSpPr/>
          <p:nvPr/>
        </p:nvCxnSpPr>
        <p:spPr>
          <a:xfrm flipH="1">
            <a:off x="7772520" y="182880"/>
            <a:ext cx="1188600" cy="4663500"/>
          </a:xfrm>
          <a:prstGeom prst="straightConnector1">
            <a:avLst/>
          </a:prstGeom>
          <a:noFill/>
          <a:ln w="9525" cap="flat" cmpd="sng">
            <a:solidFill>
              <a:srgbClr val="BDBDBD">
                <a:alpha val="30196"/>
              </a:srgbClr>
            </a:solidFill>
            <a:prstDash val="solid"/>
            <a:round/>
            <a:headEnd type="none" w="sm" len="sm"/>
            <a:tailEnd type="none" w="sm" len="sm"/>
          </a:ln>
        </p:spPr>
      </p:cxnSp>
      <p:sp>
        <p:nvSpPr>
          <p:cNvPr id="516" name="Google Shape;516;p5"/>
          <p:cNvSpPr/>
          <p:nvPr/>
        </p:nvSpPr>
        <p:spPr>
          <a:xfrm>
            <a:off x="2249424" y="106070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7" name="Google Shape;517;p5"/>
          <p:cNvSpPr/>
          <p:nvPr/>
        </p:nvSpPr>
        <p:spPr>
          <a:xfrm>
            <a:off x="6821424" y="160934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8" name="Google Shape;518;p5"/>
          <p:cNvSpPr/>
          <p:nvPr/>
        </p:nvSpPr>
        <p:spPr>
          <a:xfrm>
            <a:off x="237744" y="407822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9" name="Google Shape;519;p5"/>
          <p:cNvSpPr/>
          <p:nvPr/>
        </p:nvSpPr>
        <p:spPr>
          <a:xfrm>
            <a:off x="1609344" y="270662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0" name="Google Shape;520;p5"/>
          <p:cNvSpPr/>
          <p:nvPr/>
        </p:nvSpPr>
        <p:spPr>
          <a:xfrm>
            <a:off x="5449824" y="380390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1" name="Google Shape;521;p5"/>
          <p:cNvSpPr/>
          <p:nvPr/>
        </p:nvSpPr>
        <p:spPr>
          <a:xfrm>
            <a:off x="182880" y="896112"/>
            <a:ext cx="2926200" cy="4160400"/>
          </a:xfrm>
          <a:prstGeom prst="rect">
            <a:avLst/>
          </a:prstGeom>
          <a:solidFill>
            <a:srgbClr val="FFF3E0"/>
          </a:solidFill>
          <a:ln w="12700" cap="flat" cmpd="sng">
            <a:solidFill>
              <a:srgbClr val="FFCC8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2" name="Google Shape;522;p5"/>
          <p:cNvSpPr/>
          <p:nvPr/>
        </p:nvSpPr>
        <p:spPr>
          <a:xfrm>
            <a:off x="182880" y="896112"/>
            <a:ext cx="2926200" cy="457200"/>
          </a:xfrm>
          <a:prstGeom prst="rect">
            <a:avLst/>
          </a:prstGeom>
          <a:solidFill>
            <a:srgbClr val="E65100"/>
          </a:solidFill>
          <a:ln w="12700" cap="flat" cmpd="sng">
            <a:solidFill>
              <a:srgbClr val="E651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p5"/>
          <p:cNvSpPr/>
          <p:nvPr/>
        </p:nvSpPr>
        <p:spPr>
          <a:xfrm>
            <a:off x="182880" y="896112"/>
            <a:ext cx="292620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 sz="1600" b="1" i="0" u="none" strike="noStrike" cap="none">
                <a:solidFill>
                  <a:srgbClr val="FFFFFF"/>
                </a:solidFill>
                <a:latin typeface="Calibri"/>
                <a:ea typeface="Calibri"/>
                <a:cs typeface="Calibri"/>
                <a:sym typeface="Calibri"/>
              </a:rPr>
              <a:t>Underfitting</a:t>
            </a:r>
            <a:endParaRPr sz="1600" b="0" i="0" u="none" strike="noStrike" cap="none">
              <a:solidFill>
                <a:srgbClr val="000000"/>
              </a:solidFill>
              <a:latin typeface="Calibri"/>
              <a:ea typeface="Calibri"/>
              <a:cs typeface="Calibri"/>
              <a:sym typeface="Calibri"/>
            </a:endParaRPr>
          </a:p>
        </p:txBody>
      </p:sp>
      <p:sp>
        <p:nvSpPr>
          <p:cNvPr id="524" name="Google Shape;524;p5"/>
          <p:cNvSpPr/>
          <p:nvPr/>
        </p:nvSpPr>
        <p:spPr>
          <a:xfrm>
            <a:off x="320040" y="1408176"/>
            <a:ext cx="2651700" cy="530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50"/>
              <a:buFont typeface="Calibri"/>
              <a:buNone/>
            </a:pPr>
            <a:r>
              <a:rPr lang="en" sz="1150" b="0" i="1" u="none" strike="noStrike" cap="none">
                <a:solidFill>
                  <a:srgbClr val="37474F"/>
                </a:solidFill>
                <a:latin typeface="Calibri"/>
                <a:ea typeface="Calibri"/>
                <a:cs typeface="Calibri"/>
                <a:sym typeface="Calibri"/>
              </a:rPr>
              <a:t>Model is too simple — fails to capture data patterns.</a:t>
            </a:r>
            <a:endParaRPr sz="1150" b="0" i="0" u="none" strike="noStrike" cap="none">
              <a:solidFill>
                <a:srgbClr val="000000"/>
              </a:solidFill>
              <a:latin typeface="Calibri"/>
              <a:ea typeface="Calibri"/>
              <a:cs typeface="Calibri"/>
              <a:sym typeface="Calibri"/>
            </a:endParaRPr>
          </a:p>
        </p:txBody>
      </p:sp>
      <p:sp>
        <p:nvSpPr>
          <p:cNvPr id="525" name="Google Shape;525;p5"/>
          <p:cNvSpPr/>
          <p:nvPr/>
        </p:nvSpPr>
        <p:spPr>
          <a:xfrm>
            <a:off x="320040" y="1993392"/>
            <a:ext cx="2651700" cy="8229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7474F"/>
              </a:buClr>
              <a:buSzPts val="1200"/>
              <a:buFont typeface="Calibri"/>
              <a:buChar char="•"/>
            </a:pPr>
            <a:r>
              <a:rPr lang="en" sz="1200" b="0" i="0" u="none" strike="noStrike" cap="none">
                <a:solidFill>
                  <a:srgbClr val="37474F"/>
                </a:solidFill>
                <a:latin typeface="Calibri"/>
                <a:ea typeface="Calibri"/>
                <a:cs typeface="Calibri"/>
                <a:sym typeface="Calibri"/>
              </a:rPr>
              <a:t>High training error</a:t>
            </a:r>
            <a:endParaRPr sz="12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400"/>
              </a:spcBef>
              <a:spcAft>
                <a:spcPts val="0"/>
              </a:spcAft>
              <a:buClr>
                <a:srgbClr val="37474F"/>
              </a:buClr>
              <a:buSzPts val="1200"/>
              <a:buFont typeface="Calibri"/>
              <a:buChar char="•"/>
            </a:pPr>
            <a:r>
              <a:rPr lang="en" sz="1200" b="0" i="0" u="none" strike="noStrike" cap="none">
                <a:solidFill>
                  <a:srgbClr val="37474F"/>
                </a:solidFill>
                <a:latin typeface="Calibri"/>
                <a:ea typeface="Calibri"/>
                <a:cs typeface="Calibri"/>
                <a:sym typeface="Calibri"/>
              </a:rPr>
              <a:t>High test/validation error</a:t>
            </a:r>
            <a:endParaRPr sz="12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400"/>
              </a:spcBef>
              <a:spcAft>
                <a:spcPts val="0"/>
              </a:spcAft>
              <a:buClr>
                <a:srgbClr val="37474F"/>
              </a:buClr>
              <a:buSzPts val="1200"/>
              <a:buFont typeface="Calibri"/>
              <a:buChar char="•"/>
            </a:pPr>
            <a:r>
              <a:rPr lang="en" sz="1200" b="0" i="0" u="none" strike="noStrike" cap="none">
                <a:solidFill>
                  <a:srgbClr val="37474F"/>
                </a:solidFill>
                <a:latin typeface="Calibri"/>
                <a:ea typeface="Calibri"/>
                <a:cs typeface="Calibri"/>
                <a:sym typeface="Calibri"/>
              </a:rPr>
              <a:t>Model ignores key trends</a:t>
            </a:r>
            <a:endParaRPr sz="1200" b="0" i="0" u="none" strike="noStrike" cap="none">
              <a:solidFill>
                <a:srgbClr val="000000"/>
              </a:solidFill>
              <a:latin typeface="Calibri"/>
              <a:ea typeface="Calibri"/>
              <a:cs typeface="Calibri"/>
              <a:sym typeface="Calibri"/>
            </a:endParaRPr>
          </a:p>
        </p:txBody>
      </p:sp>
      <p:sp>
        <p:nvSpPr>
          <p:cNvPr id="526" name="Google Shape;526;p5"/>
          <p:cNvSpPr/>
          <p:nvPr/>
        </p:nvSpPr>
        <p:spPr>
          <a:xfrm>
            <a:off x="320040" y="2889504"/>
            <a:ext cx="2651700" cy="475500"/>
          </a:xfrm>
          <a:prstGeom prst="rect">
            <a:avLst/>
          </a:prstGeom>
          <a:solidFill>
            <a:srgbClr val="FFFFFF"/>
          </a:solidFill>
          <a:ln w="12700" cap="flat" cmpd="sng">
            <a:solidFill>
              <a:srgbClr val="FFCC8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p5"/>
          <p:cNvSpPr/>
          <p:nvPr/>
        </p:nvSpPr>
        <p:spPr>
          <a:xfrm>
            <a:off x="384048" y="2916936"/>
            <a:ext cx="2523600" cy="420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050"/>
              <a:buFont typeface="Calibri"/>
              <a:buNone/>
            </a:pPr>
            <a:r>
              <a:rPr lang="en" sz="1050" b="0" i="0" u="none" strike="noStrike" cap="none">
                <a:solidFill>
                  <a:srgbClr val="37474F"/>
                </a:solidFill>
                <a:latin typeface="Calibri"/>
                <a:ea typeface="Calibri"/>
                <a:cs typeface="Calibri"/>
                <a:sym typeface="Calibri"/>
              </a:rPr>
              <a:t>Cause: Too simple model / too little training</a:t>
            </a:r>
            <a:endParaRPr sz="1050" b="0" i="0" u="none" strike="noStrike" cap="none">
              <a:solidFill>
                <a:srgbClr val="000000"/>
              </a:solidFill>
              <a:latin typeface="Calibri"/>
              <a:ea typeface="Calibri"/>
              <a:cs typeface="Calibri"/>
              <a:sym typeface="Calibri"/>
            </a:endParaRPr>
          </a:p>
        </p:txBody>
      </p:sp>
      <p:sp>
        <p:nvSpPr>
          <p:cNvPr id="528" name="Google Shape;528;p5"/>
          <p:cNvSpPr/>
          <p:nvPr/>
        </p:nvSpPr>
        <p:spPr>
          <a:xfrm>
            <a:off x="320040" y="3447288"/>
            <a:ext cx="2651700" cy="475500"/>
          </a:xfrm>
          <a:prstGeom prst="rect">
            <a:avLst/>
          </a:prstGeom>
          <a:solidFill>
            <a:srgbClr val="E65100">
              <a:alpha val="18039"/>
            </a:srgbClr>
          </a:solidFill>
          <a:ln w="10150" cap="flat" cmpd="sng">
            <a:solidFill>
              <a:srgbClr val="E651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p5"/>
          <p:cNvSpPr/>
          <p:nvPr/>
        </p:nvSpPr>
        <p:spPr>
          <a:xfrm>
            <a:off x="384048" y="3474720"/>
            <a:ext cx="2523600" cy="420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050"/>
              <a:buFont typeface="Calibri"/>
              <a:buNone/>
            </a:pPr>
            <a:r>
              <a:rPr lang="en" sz="1050" b="0" i="0" u="none" strike="noStrike" cap="none">
                <a:solidFill>
                  <a:srgbClr val="37474F"/>
                </a:solidFill>
                <a:latin typeface="Calibri"/>
                <a:ea typeface="Calibri"/>
                <a:cs typeface="Calibri"/>
                <a:sym typeface="Calibri"/>
              </a:rPr>
              <a:t>Fix: More layers, more features, train longer</a:t>
            </a:r>
            <a:endParaRPr sz="1050" b="0" i="0" u="none" strike="noStrike" cap="none">
              <a:solidFill>
                <a:srgbClr val="000000"/>
              </a:solidFill>
              <a:latin typeface="Calibri"/>
              <a:ea typeface="Calibri"/>
              <a:cs typeface="Calibri"/>
              <a:sym typeface="Calibri"/>
            </a:endParaRPr>
          </a:p>
        </p:txBody>
      </p:sp>
      <p:sp>
        <p:nvSpPr>
          <p:cNvPr id="530" name="Google Shape;530;p5"/>
          <p:cNvSpPr/>
          <p:nvPr/>
        </p:nvSpPr>
        <p:spPr>
          <a:xfrm>
            <a:off x="3246120" y="896112"/>
            <a:ext cx="2926200" cy="4160400"/>
          </a:xfrm>
          <a:prstGeom prst="rect">
            <a:avLst/>
          </a:prstGeom>
          <a:solidFill>
            <a:srgbClr val="E8F5E9"/>
          </a:solidFill>
          <a:ln w="12700" cap="flat" cmpd="sng">
            <a:solidFill>
              <a:srgbClr val="A5D6A7"/>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1" name="Google Shape;531;p5"/>
          <p:cNvSpPr/>
          <p:nvPr/>
        </p:nvSpPr>
        <p:spPr>
          <a:xfrm>
            <a:off x="3246120" y="896112"/>
            <a:ext cx="2926200" cy="457200"/>
          </a:xfrm>
          <a:prstGeom prst="rect">
            <a:avLst/>
          </a:prstGeom>
          <a:solidFill>
            <a:srgbClr val="2E7D32"/>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2" name="Google Shape;532;p5"/>
          <p:cNvSpPr/>
          <p:nvPr/>
        </p:nvSpPr>
        <p:spPr>
          <a:xfrm>
            <a:off x="3246120" y="896112"/>
            <a:ext cx="292620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 sz="1600" b="1" i="0" u="none" strike="noStrike" cap="none">
                <a:solidFill>
                  <a:srgbClr val="FFFFFF"/>
                </a:solidFill>
                <a:latin typeface="Calibri"/>
                <a:ea typeface="Calibri"/>
                <a:cs typeface="Calibri"/>
                <a:sym typeface="Calibri"/>
              </a:rPr>
              <a:t>Good Fit</a:t>
            </a:r>
            <a:endParaRPr sz="1600" b="0" i="0" u="none" strike="noStrike" cap="none">
              <a:solidFill>
                <a:srgbClr val="000000"/>
              </a:solidFill>
              <a:latin typeface="Calibri"/>
              <a:ea typeface="Calibri"/>
              <a:cs typeface="Calibri"/>
              <a:sym typeface="Calibri"/>
            </a:endParaRPr>
          </a:p>
        </p:txBody>
      </p:sp>
      <p:sp>
        <p:nvSpPr>
          <p:cNvPr id="533" name="Google Shape;533;p5"/>
          <p:cNvSpPr/>
          <p:nvPr/>
        </p:nvSpPr>
        <p:spPr>
          <a:xfrm>
            <a:off x="3383280" y="1408176"/>
            <a:ext cx="2651700" cy="530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50"/>
              <a:buFont typeface="Calibri"/>
              <a:buNone/>
            </a:pPr>
            <a:r>
              <a:rPr lang="en" sz="1150" b="0" i="1" u="none" strike="noStrike" cap="none">
                <a:solidFill>
                  <a:srgbClr val="37474F"/>
                </a:solidFill>
                <a:latin typeface="Calibri"/>
                <a:ea typeface="Calibri"/>
                <a:cs typeface="Calibri"/>
                <a:sym typeface="Calibri"/>
              </a:rPr>
              <a:t>Model learns patterns well and generalizes to new data.</a:t>
            </a:r>
            <a:endParaRPr sz="1150" b="0" i="0" u="none" strike="noStrike" cap="none">
              <a:solidFill>
                <a:srgbClr val="000000"/>
              </a:solidFill>
              <a:latin typeface="Calibri"/>
              <a:ea typeface="Calibri"/>
              <a:cs typeface="Calibri"/>
              <a:sym typeface="Calibri"/>
            </a:endParaRPr>
          </a:p>
        </p:txBody>
      </p:sp>
      <p:sp>
        <p:nvSpPr>
          <p:cNvPr id="534" name="Google Shape;534;p5"/>
          <p:cNvSpPr/>
          <p:nvPr/>
        </p:nvSpPr>
        <p:spPr>
          <a:xfrm>
            <a:off x="3383280" y="1993392"/>
            <a:ext cx="2651700" cy="8229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7474F"/>
              </a:buClr>
              <a:buSzPts val="1200"/>
              <a:buFont typeface="Calibri"/>
              <a:buChar char="•"/>
            </a:pPr>
            <a:r>
              <a:rPr lang="en" sz="1200" b="0" i="0" u="none" strike="noStrike" cap="none">
                <a:solidFill>
                  <a:srgbClr val="37474F"/>
                </a:solidFill>
                <a:latin typeface="Calibri"/>
                <a:ea typeface="Calibri"/>
                <a:cs typeface="Calibri"/>
                <a:sym typeface="Calibri"/>
              </a:rPr>
              <a:t>Low training error</a:t>
            </a:r>
            <a:endParaRPr sz="12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400"/>
              </a:spcBef>
              <a:spcAft>
                <a:spcPts val="0"/>
              </a:spcAft>
              <a:buClr>
                <a:srgbClr val="37474F"/>
              </a:buClr>
              <a:buSzPts val="1200"/>
              <a:buFont typeface="Calibri"/>
              <a:buChar char="•"/>
            </a:pPr>
            <a:r>
              <a:rPr lang="en" sz="1200" b="0" i="0" u="none" strike="noStrike" cap="none">
                <a:solidFill>
                  <a:srgbClr val="37474F"/>
                </a:solidFill>
                <a:latin typeface="Calibri"/>
                <a:ea typeface="Calibri"/>
                <a:cs typeface="Calibri"/>
                <a:sym typeface="Calibri"/>
              </a:rPr>
              <a:t>Low test/validation error</a:t>
            </a:r>
            <a:endParaRPr sz="12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400"/>
              </a:spcBef>
              <a:spcAft>
                <a:spcPts val="0"/>
              </a:spcAft>
              <a:buClr>
                <a:srgbClr val="37474F"/>
              </a:buClr>
              <a:buSzPts val="1200"/>
              <a:buFont typeface="Calibri"/>
              <a:buChar char="•"/>
            </a:pPr>
            <a:r>
              <a:rPr lang="en" sz="1200" b="0" i="0" u="none" strike="noStrike" cap="none">
                <a:solidFill>
                  <a:srgbClr val="37474F"/>
                </a:solidFill>
                <a:latin typeface="Calibri"/>
                <a:ea typeface="Calibri"/>
                <a:cs typeface="Calibri"/>
                <a:sym typeface="Calibri"/>
              </a:rPr>
              <a:t>Balanced complexity</a:t>
            </a:r>
            <a:endParaRPr sz="1200" b="0" i="0" u="none" strike="noStrike" cap="none">
              <a:solidFill>
                <a:srgbClr val="000000"/>
              </a:solidFill>
              <a:latin typeface="Calibri"/>
              <a:ea typeface="Calibri"/>
              <a:cs typeface="Calibri"/>
              <a:sym typeface="Calibri"/>
            </a:endParaRPr>
          </a:p>
        </p:txBody>
      </p:sp>
      <p:sp>
        <p:nvSpPr>
          <p:cNvPr id="535" name="Google Shape;535;p5"/>
          <p:cNvSpPr/>
          <p:nvPr/>
        </p:nvSpPr>
        <p:spPr>
          <a:xfrm>
            <a:off x="3383280" y="2889504"/>
            <a:ext cx="2651700" cy="475500"/>
          </a:xfrm>
          <a:prstGeom prst="rect">
            <a:avLst/>
          </a:prstGeom>
          <a:solidFill>
            <a:srgbClr val="FFFFFF"/>
          </a:solidFill>
          <a:ln w="12700" cap="flat" cmpd="sng">
            <a:solidFill>
              <a:srgbClr val="A5D6A7"/>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6" name="Google Shape;536;p5"/>
          <p:cNvSpPr/>
          <p:nvPr/>
        </p:nvSpPr>
        <p:spPr>
          <a:xfrm>
            <a:off x="3447288" y="2916936"/>
            <a:ext cx="2523600" cy="420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050"/>
              <a:buFont typeface="Calibri"/>
              <a:buNone/>
            </a:pPr>
            <a:r>
              <a:rPr lang="en" sz="1050" b="0" i="0" u="none" strike="noStrike" cap="none">
                <a:solidFill>
                  <a:srgbClr val="37474F"/>
                </a:solidFill>
                <a:latin typeface="Calibri"/>
                <a:ea typeface="Calibri"/>
                <a:cs typeface="Calibri"/>
                <a:sym typeface="Calibri"/>
              </a:rPr>
              <a:t>Cause: Right model + right training data</a:t>
            </a:r>
            <a:endParaRPr sz="1050" b="0" i="0" u="none" strike="noStrike" cap="none">
              <a:solidFill>
                <a:srgbClr val="000000"/>
              </a:solidFill>
              <a:latin typeface="Calibri"/>
              <a:ea typeface="Calibri"/>
              <a:cs typeface="Calibri"/>
              <a:sym typeface="Calibri"/>
            </a:endParaRPr>
          </a:p>
        </p:txBody>
      </p:sp>
      <p:sp>
        <p:nvSpPr>
          <p:cNvPr id="537" name="Google Shape;537;p5"/>
          <p:cNvSpPr/>
          <p:nvPr/>
        </p:nvSpPr>
        <p:spPr>
          <a:xfrm>
            <a:off x="3383280" y="3447288"/>
            <a:ext cx="2651700" cy="475500"/>
          </a:xfrm>
          <a:prstGeom prst="rect">
            <a:avLst/>
          </a:prstGeom>
          <a:solidFill>
            <a:srgbClr val="2E7D32">
              <a:alpha val="18039"/>
            </a:srgbClr>
          </a:solidFill>
          <a:ln w="1015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p5"/>
          <p:cNvSpPr/>
          <p:nvPr/>
        </p:nvSpPr>
        <p:spPr>
          <a:xfrm>
            <a:off x="3447288" y="3474720"/>
            <a:ext cx="2523600" cy="420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050"/>
              <a:buFont typeface="Calibri"/>
              <a:buNone/>
            </a:pPr>
            <a:r>
              <a:rPr lang="en" sz="1050" b="0" i="0" u="none" strike="noStrike" cap="none">
                <a:solidFill>
                  <a:srgbClr val="37474F"/>
                </a:solidFill>
                <a:latin typeface="Calibri"/>
                <a:ea typeface="Calibri"/>
                <a:cs typeface="Calibri"/>
                <a:sym typeface="Calibri"/>
              </a:rPr>
              <a:t>Fix: This is the goal!</a:t>
            </a:r>
            <a:endParaRPr sz="1050" b="0" i="0" u="none" strike="noStrike" cap="none">
              <a:solidFill>
                <a:srgbClr val="000000"/>
              </a:solidFill>
              <a:latin typeface="Calibri"/>
              <a:ea typeface="Calibri"/>
              <a:cs typeface="Calibri"/>
              <a:sym typeface="Calibri"/>
            </a:endParaRPr>
          </a:p>
        </p:txBody>
      </p:sp>
      <p:sp>
        <p:nvSpPr>
          <p:cNvPr id="539" name="Google Shape;539;p5"/>
          <p:cNvSpPr/>
          <p:nvPr/>
        </p:nvSpPr>
        <p:spPr>
          <a:xfrm>
            <a:off x="6309360" y="896112"/>
            <a:ext cx="2926200" cy="4160400"/>
          </a:xfrm>
          <a:prstGeom prst="rect">
            <a:avLst/>
          </a:prstGeom>
          <a:solidFill>
            <a:srgbClr val="FFEBEE"/>
          </a:solidFill>
          <a:ln w="12700" cap="flat" cmpd="sng">
            <a:solidFill>
              <a:srgbClr val="EF9A9A"/>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0" name="Google Shape;540;p5"/>
          <p:cNvSpPr/>
          <p:nvPr/>
        </p:nvSpPr>
        <p:spPr>
          <a:xfrm>
            <a:off x="6309360" y="896112"/>
            <a:ext cx="2926200" cy="457200"/>
          </a:xfrm>
          <a:prstGeom prst="rect">
            <a:avLst/>
          </a:prstGeom>
          <a:solidFill>
            <a:srgbClr val="C62828"/>
          </a:solidFill>
          <a:ln w="12700" cap="flat" cmpd="sng">
            <a:solidFill>
              <a:srgbClr val="C6282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1" name="Google Shape;541;p5"/>
          <p:cNvSpPr/>
          <p:nvPr/>
        </p:nvSpPr>
        <p:spPr>
          <a:xfrm>
            <a:off x="6309360" y="896112"/>
            <a:ext cx="292620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 sz="1600" b="1" i="0" u="none" strike="noStrike" cap="none">
                <a:solidFill>
                  <a:srgbClr val="FFFFFF"/>
                </a:solidFill>
                <a:latin typeface="Calibri"/>
                <a:ea typeface="Calibri"/>
                <a:cs typeface="Calibri"/>
                <a:sym typeface="Calibri"/>
              </a:rPr>
              <a:t>Overfitting</a:t>
            </a:r>
            <a:endParaRPr sz="1600" b="0" i="0" u="none" strike="noStrike" cap="none">
              <a:solidFill>
                <a:srgbClr val="000000"/>
              </a:solidFill>
              <a:latin typeface="Calibri"/>
              <a:ea typeface="Calibri"/>
              <a:cs typeface="Calibri"/>
              <a:sym typeface="Calibri"/>
            </a:endParaRPr>
          </a:p>
        </p:txBody>
      </p:sp>
      <p:sp>
        <p:nvSpPr>
          <p:cNvPr id="542" name="Google Shape;542;p5"/>
          <p:cNvSpPr/>
          <p:nvPr/>
        </p:nvSpPr>
        <p:spPr>
          <a:xfrm>
            <a:off x="6446520" y="1408176"/>
            <a:ext cx="2651700" cy="530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50"/>
              <a:buFont typeface="Calibri"/>
              <a:buNone/>
            </a:pPr>
            <a:r>
              <a:rPr lang="en" sz="1150" b="0" i="1" u="none" strike="noStrike" cap="none">
                <a:solidFill>
                  <a:srgbClr val="37474F"/>
                </a:solidFill>
                <a:latin typeface="Calibri"/>
                <a:ea typeface="Calibri"/>
                <a:cs typeface="Calibri"/>
                <a:sym typeface="Calibri"/>
              </a:rPr>
              <a:t>Model memorizes training data — fails on unseen data.</a:t>
            </a:r>
            <a:endParaRPr sz="1150" b="0" i="0" u="none" strike="noStrike" cap="none">
              <a:solidFill>
                <a:srgbClr val="000000"/>
              </a:solidFill>
              <a:latin typeface="Calibri"/>
              <a:ea typeface="Calibri"/>
              <a:cs typeface="Calibri"/>
              <a:sym typeface="Calibri"/>
            </a:endParaRPr>
          </a:p>
        </p:txBody>
      </p:sp>
      <p:sp>
        <p:nvSpPr>
          <p:cNvPr id="543" name="Google Shape;543;p5"/>
          <p:cNvSpPr/>
          <p:nvPr/>
        </p:nvSpPr>
        <p:spPr>
          <a:xfrm>
            <a:off x="6446520" y="1993392"/>
            <a:ext cx="2651700" cy="8229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7474F"/>
              </a:buClr>
              <a:buSzPts val="1200"/>
              <a:buFont typeface="Calibri"/>
              <a:buChar char="•"/>
            </a:pPr>
            <a:r>
              <a:rPr lang="en" sz="1200" b="0" i="0" u="none" strike="noStrike" cap="none">
                <a:solidFill>
                  <a:srgbClr val="37474F"/>
                </a:solidFill>
                <a:latin typeface="Calibri"/>
                <a:ea typeface="Calibri"/>
                <a:cs typeface="Calibri"/>
                <a:sym typeface="Calibri"/>
              </a:rPr>
              <a:t>Very low training error</a:t>
            </a:r>
            <a:endParaRPr sz="12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400"/>
              </a:spcBef>
              <a:spcAft>
                <a:spcPts val="0"/>
              </a:spcAft>
              <a:buClr>
                <a:srgbClr val="37474F"/>
              </a:buClr>
              <a:buSzPts val="1200"/>
              <a:buFont typeface="Calibri"/>
              <a:buChar char="•"/>
            </a:pPr>
            <a:r>
              <a:rPr lang="en" sz="1200" b="0" i="0" u="none" strike="noStrike" cap="none">
                <a:solidFill>
                  <a:srgbClr val="37474F"/>
                </a:solidFill>
                <a:latin typeface="Calibri"/>
                <a:ea typeface="Calibri"/>
                <a:cs typeface="Calibri"/>
                <a:sym typeface="Calibri"/>
              </a:rPr>
              <a:t>High test/validation error</a:t>
            </a:r>
            <a:endParaRPr sz="12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400"/>
              </a:spcBef>
              <a:spcAft>
                <a:spcPts val="0"/>
              </a:spcAft>
              <a:buClr>
                <a:srgbClr val="37474F"/>
              </a:buClr>
              <a:buSzPts val="1200"/>
              <a:buFont typeface="Calibri"/>
              <a:buChar char="•"/>
            </a:pPr>
            <a:r>
              <a:rPr lang="en" sz="1200" b="0" i="0" u="none" strike="noStrike" cap="none">
                <a:solidFill>
                  <a:srgbClr val="37474F"/>
                </a:solidFill>
                <a:latin typeface="Calibri"/>
                <a:ea typeface="Calibri"/>
                <a:cs typeface="Calibri"/>
                <a:sym typeface="Calibri"/>
              </a:rPr>
              <a:t>Fits noise, not signal</a:t>
            </a:r>
            <a:endParaRPr sz="1200" b="0" i="0" u="none" strike="noStrike" cap="none">
              <a:solidFill>
                <a:srgbClr val="000000"/>
              </a:solidFill>
              <a:latin typeface="Calibri"/>
              <a:ea typeface="Calibri"/>
              <a:cs typeface="Calibri"/>
              <a:sym typeface="Calibri"/>
            </a:endParaRPr>
          </a:p>
        </p:txBody>
      </p:sp>
      <p:sp>
        <p:nvSpPr>
          <p:cNvPr id="544" name="Google Shape;544;p5"/>
          <p:cNvSpPr/>
          <p:nvPr/>
        </p:nvSpPr>
        <p:spPr>
          <a:xfrm>
            <a:off x="6446520" y="2889504"/>
            <a:ext cx="2651700" cy="475500"/>
          </a:xfrm>
          <a:prstGeom prst="rect">
            <a:avLst/>
          </a:prstGeom>
          <a:solidFill>
            <a:srgbClr val="FFFFFF"/>
          </a:solidFill>
          <a:ln w="12700" cap="flat" cmpd="sng">
            <a:solidFill>
              <a:srgbClr val="EF9A9A"/>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5" name="Google Shape;545;p5"/>
          <p:cNvSpPr/>
          <p:nvPr/>
        </p:nvSpPr>
        <p:spPr>
          <a:xfrm>
            <a:off x="6510528" y="2916936"/>
            <a:ext cx="2523600" cy="420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050"/>
              <a:buFont typeface="Calibri"/>
              <a:buNone/>
            </a:pPr>
            <a:r>
              <a:rPr lang="en" sz="1050" b="0" i="0" u="none" strike="noStrike" cap="none">
                <a:solidFill>
                  <a:srgbClr val="37474F"/>
                </a:solidFill>
                <a:latin typeface="Calibri"/>
                <a:ea typeface="Calibri"/>
                <a:cs typeface="Calibri"/>
                <a:sym typeface="Calibri"/>
              </a:rPr>
              <a:t>Cause: Too complex model / too little data</a:t>
            </a:r>
            <a:endParaRPr sz="1050" b="0" i="0" u="none" strike="noStrike" cap="none">
              <a:solidFill>
                <a:srgbClr val="000000"/>
              </a:solidFill>
              <a:latin typeface="Calibri"/>
              <a:ea typeface="Calibri"/>
              <a:cs typeface="Calibri"/>
              <a:sym typeface="Calibri"/>
            </a:endParaRPr>
          </a:p>
        </p:txBody>
      </p:sp>
      <p:sp>
        <p:nvSpPr>
          <p:cNvPr id="546" name="Google Shape;546;p5"/>
          <p:cNvSpPr/>
          <p:nvPr/>
        </p:nvSpPr>
        <p:spPr>
          <a:xfrm>
            <a:off x="6446520" y="3447288"/>
            <a:ext cx="2651700" cy="475500"/>
          </a:xfrm>
          <a:prstGeom prst="rect">
            <a:avLst/>
          </a:prstGeom>
          <a:solidFill>
            <a:srgbClr val="C62828">
              <a:alpha val="18039"/>
            </a:srgbClr>
          </a:solidFill>
          <a:ln w="10150" cap="flat" cmpd="sng">
            <a:solidFill>
              <a:srgbClr val="C6282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7" name="Google Shape;547;p5"/>
          <p:cNvSpPr/>
          <p:nvPr/>
        </p:nvSpPr>
        <p:spPr>
          <a:xfrm>
            <a:off x="6510528" y="3474720"/>
            <a:ext cx="2523600" cy="420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050"/>
              <a:buFont typeface="Calibri"/>
              <a:buNone/>
            </a:pPr>
            <a:r>
              <a:rPr lang="en" sz="1050" b="0" i="0" u="none" strike="noStrike" cap="none">
                <a:solidFill>
                  <a:srgbClr val="37474F"/>
                </a:solidFill>
                <a:latin typeface="Calibri"/>
                <a:ea typeface="Calibri"/>
                <a:cs typeface="Calibri"/>
                <a:sym typeface="Calibri"/>
              </a:rPr>
              <a:t>Fix: Regularization, dropout, more data</a:t>
            </a:r>
            <a:endParaRPr sz="1050" b="0" i="0" u="none" strike="noStrike" cap="none">
              <a:solidFill>
                <a:srgbClr val="000000"/>
              </a:solidFill>
              <a:latin typeface="Calibri"/>
              <a:ea typeface="Calibri"/>
              <a:cs typeface="Calibri"/>
              <a:sym typeface="Calibri"/>
            </a:endParaRPr>
          </a:p>
        </p:txBody>
      </p:sp>
      <p:sp>
        <p:nvSpPr>
          <p:cNvPr id="548" name="Google Shape;548;p5"/>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52"/>
        <p:cNvGrpSpPr/>
        <p:nvPr/>
      </p:nvGrpSpPr>
      <p:grpSpPr>
        <a:xfrm>
          <a:off x="0" y="0"/>
          <a:ext cx="0" cy="0"/>
          <a:chOff x="0" y="0"/>
          <a:chExt cx="0" cy="0"/>
        </a:xfrm>
      </p:grpSpPr>
      <p:pic>
        <p:nvPicPr>
          <p:cNvPr id="553" name="Google Shape;553;p7"/>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554" name="Google Shape;554;p7"/>
          <p:cNvSpPr/>
          <p:nvPr/>
        </p:nvSpPr>
        <p:spPr>
          <a:xfrm>
            <a:off x="228593" y="100750"/>
            <a:ext cx="8686800" cy="658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0E8F0"/>
              </a:buClr>
              <a:buSzPts val="2400"/>
              <a:buFont typeface="Calibri"/>
              <a:buNone/>
            </a:pPr>
            <a:r>
              <a:rPr lang="en" sz="2400" b="1" i="0" u="none" strike="noStrike" cap="none">
                <a:solidFill>
                  <a:schemeClr val="dk1"/>
                </a:solidFill>
                <a:latin typeface="Calibri"/>
                <a:ea typeface="Calibri"/>
                <a:cs typeface="Calibri"/>
                <a:sym typeface="Calibri"/>
              </a:rPr>
              <a:t>What Are Overfitting &amp; Underfitting?</a:t>
            </a:r>
            <a:endParaRPr sz="2400" b="0" i="0" u="none" strike="noStrike" cap="none">
              <a:solidFill>
                <a:schemeClr val="dk1"/>
              </a:solidFill>
              <a:latin typeface="Calibri"/>
              <a:ea typeface="Calibri"/>
              <a:cs typeface="Calibri"/>
              <a:sym typeface="Calibri"/>
            </a:endParaRPr>
          </a:p>
        </p:txBody>
      </p:sp>
      <p:sp>
        <p:nvSpPr>
          <p:cNvPr id="555" name="Google Shape;555;p7"/>
          <p:cNvSpPr/>
          <p:nvPr/>
        </p:nvSpPr>
        <p:spPr>
          <a:xfrm>
            <a:off x="274325" y="3429000"/>
            <a:ext cx="2762100" cy="1508700"/>
          </a:xfrm>
          <a:prstGeom prst="rect">
            <a:avLst/>
          </a:prstGeom>
          <a:solidFill>
            <a:schemeClr val="lt1"/>
          </a:solidFill>
          <a:ln w="19050" cap="flat" cmpd="sng">
            <a:solidFill>
              <a:srgbClr val="FF4B6E"/>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6" name="Google Shape;556;p7"/>
          <p:cNvSpPr/>
          <p:nvPr/>
        </p:nvSpPr>
        <p:spPr>
          <a:xfrm>
            <a:off x="434695" y="3456432"/>
            <a:ext cx="24945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4B6E"/>
              </a:buClr>
              <a:buSzPts val="1300"/>
              <a:buFont typeface="Calibri"/>
              <a:buNone/>
            </a:pPr>
            <a:r>
              <a:rPr lang="en" sz="1300" b="1" i="0" u="none" strike="noStrike" cap="none">
                <a:solidFill>
                  <a:srgbClr val="FF4B6E"/>
                </a:solidFill>
                <a:latin typeface="Calibri"/>
                <a:ea typeface="Calibri"/>
                <a:cs typeface="Calibri"/>
                <a:sym typeface="Calibri"/>
              </a:rPr>
              <a:t>Underfitting</a:t>
            </a:r>
            <a:endParaRPr sz="1300" b="0" i="0" u="none" strike="noStrike" cap="none">
              <a:solidFill>
                <a:schemeClr val="dk1"/>
              </a:solidFill>
              <a:latin typeface="Calibri"/>
              <a:ea typeface="Calibri"/>
              <a:cs typeface="Calibri"/>
              <a:sym typeface="Calibri"/>
            </a:endParaRPr>
          </a:p>
        </p:txBody>
      </p:sp>
      <p:sp>
        <p:nvSpPr>
          <p:cNvPr id="557" name="Google Shape;557;p7"/>
          <p:cNvSpPr/>
          <p:nvPr/>
        </p:nvSpPr>
        <p:spPr>
          <a:xfrm>
            <a:off x="434695" y="3785616"/>
            <a:ext cx="2539200" cy="109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050"/>
              <a:buFont typeface="Calibri"/>
              <a:buNone/>
            </a:pPr>
            <a:r>
              <a:rPr lang="en" sz="1050" b="0" i="0" u="none" strike="noStrike" cap="none">
                <a:solidFill>
                  <a:schemeClr val="dk1"/>
                </a:solidFill>
                <a:latin typeface="Calibri"/>
                <a:ea typeface="Calibri"/>
                <a:cs typeface="Calibri"/>
                <a:sym typeface="Calibri"/>
              </a:rPr>
              <a:t>Model too simple — misses patterns in training data. High bias, low variance. Degree-1 poly on curved data.</a:t>
            </a:r>
            <a:endParaRPr sz="1050" b="0" i="0" u="none" strike="noStrike" cap="none">
              <a:solidFill>
                <a:schemeClr val="dk1"/>
              </a:solidFill>
              <a:latin typeface="Calibri"/>
              <a:ea typeface="Calibri"/>
              <a:cs typeface="Calibri"/>
              <a:sym typeface="Calibri"/>
            </a:endParaRPr>
          </a:p>
        </p:txBody>
      </p:sp>
      <p:sp>
        <p:nvSpPr>
          <p:cNvPr id="558" name="Google Shape;558;p7"/>
          <p:cNvSpPr/>
          <p:nvPr/>
        </p:nvSpPr>
        <p:spPr>
          <a:xfrm>
            <a:off x="3259000" y="3429000"/>
            <a:ext cx="2762100" cy="1508700"/>
          </a:xfrm>
          <a:prstGeom prst="rect">
            <a:avLst/>
          </a:prstGeom>
          <a:solidFill>
            <a:schemeClr val="lt1"/>
          </a:solidFill>
          <a:ln w="19050" cap="flat" cmpd="sng">
            <a:solidFill>
              <a:srgbClr val="00C9B1"/>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9" name="Google Shape;559;p7"/>
          <p:cNvSpPr/>
          <p:nvPr/>
        </p:nvSpPr>
        <p:spPr>
          <a:xfrm>
            <a:off x="3259000" y="3429000"/>
            <a:ext cx="53400" cy="1508700"/>
          </a:xfrm>
          <a:prstGeom prst="rect">
            <a:avLst/>
          </a:prstGeom>
          <a:solidFill>
            <a:srgbClr val="00C9B1"/>
          </a:solidFill>
          <a:ln w="12700" cap="flat" cmpd="sng">
            <a:solidFill>
              <a:srgbClr val="00C9B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0" name="Google Shape;560;p7"/>
          <p:cNvSpPr/>
          <p:nvPr/>
        </p:nvSpPr>
        <p:spPr>
          <a:xfrm>
            <a:off x="3419371" y="3456432"/>
            <a:ext cx="24945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C9B1"/>
              </a:buClr>
              <a:buSzPts val="1300"/>
              <a:buFont typeface="Calibri"/>
              <a:buNone/>
            </a:pPr>
            <a:r>
              <a:rPr lang="en" sz="1300" b="1" i="0" u="none" strike="noStrike" cap="none">
                <a:solidFill>
                  <a:srgbClr val="00C9B1"/>
                </a:solidFill>
                <a:latin typeface="Calibri"/>
                <a:ea typeface="Calibri"/>
                <a:cs typeface="Calibri"/>
                <a:sym typeface="Calibri"/>
              </a:rPr>
              <a:t>Good Fit</a:t>
            </a:r>
            <a:endParaRPr sz="1300" b="0" i="0" u="none" strike="noStrike" cap="none">
              <a:solidFill>
                <a:schemeClr val="dk1"/>
              </a:solidFill>
              <a:latin typeface="Calibri"/>
              <a:ea typeface="Calibri"/>
              <a:cs typeface="Calibri"/>
              <a:sym typeface="Calibri"/>
            </a:endParaRPr>
          </a:p>
        </p:txBody>
      </p:sp>
      <p:sp>
        <p:nvSpPr>
          <p:cNvPr id="561" name="Google Shape;561;p7"/>
          <p:cNvSpPr/>
          <p:nvPr/>
        </p:nvSpPr>
        <p:spPr>
          <a:xfrm>
            <a:off x="3419371" y="3785616"/>
            <a:ext cx="2539200" cy="109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050"/>
              <a:buFont typeface="Calibri"/>
              <a:buNone/>
            </a:pPr>
            <a:r>
              <a:rPr lang="en" sz="1050" b="0" i="0" u="none" strike="noStrike" cap="none">
                <a:solidFill>
                  <a:schemeClr val="dk1"/>
                </a:solidFill>
                <a:latin typeface="Calibri"/>
                <a:ea typeface="Calibri"/>
                <a:cs typeface="Calibri"/>
                <a:sym typeface="Calibri"/>
              </a:rPr>
              <a:t>Captures the true pattern without memorising noise. Low bias + low variance. The goal of every model.</a:t>
            </a:r>
            <a:endParaRPr sz="1050" b="0" i="0" u="none" strike="noStrike" cap="none">
              <a:solidFill>
                <a:schemeClr val="dk1"/>
              </a:solidFill>
              <a:latin typeface="Calibri"/>
              <a:ea typeface="Calibri"/>
              <a:cs typeface="Calibri"/>
              <a:sym typeface="Calibri"/>
            </a:endParaRPr>
          </a:p>
        </p:txBody>
      </p:sp>
      <p:sp>
        <p:nvSpPr>
          <p:cNvPr id="562" name="Google Shape;562;p7"/>
          <p:cNvSpPr/>
          <p:nvPr/>
        </p:nvSpPr>
        <p:spPr>
          <a:xfrm>
            <a:off x="6199128" y="3429000"/>
            <a:ext cx="2762100" cy="1508700"/>
          </a:xfrm>
          <a:prstGeom prst="rect">
            <a:avLst/>
          </a:prstGeom>
          <a:solidFill>
            <a:schemeClr val="lt1"/>
          </a:solidFill>
          <a:ln w="19050" cap="flat" cmpd="sng">
            <a:solidFill>
              <a:srgbClr val="FFB830"/>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3" name="Google Shape;563;p7"/>
          <p:cNvSpPr/>
          <p:nvPr/>
        </p:nvSpPr>
        <p:spPr>
          <a:xfrm>
            <a:off x="6199128" y="3429000"/>
            <a:ext cx="53400" cy="1508700"/>
          </a:xfrm>
          <a:prstGeom prst="rect">
            <a:avLst/>
          </a:prstGeom>
          <a:solidFill>
            <a:srgbClr val="FFB830"/>
          </a:solidFill>
          <a:ln w="12700" cap="flat" cmpd="sng">
            <a:solidFill>
              <a:srgbClr val="FFB83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4" name="Google Shape;564;p7"/>
          <p:cNvSpPr/>
          <p:nvPr/>
        </p:nvSpPr>
        <p:spPr>
          <a:xfrm>
            <a:off x="6359499" y="3456432"/>
            <a:ext cx="24945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B830"/>
              </a:buClr>
              <a:buSzPts val="1300"/>
              <a:buFont typeface="Calibri"/>
              <a:buNone/>
            </a:pPr>
            <a:r>
              <a:rPr lang="en" sz="1300" b="1" i="0" u="none" strike="noStrike" cap="none">
                <a:solidFill>
                  <a:srgbClr val="FFB830"/>
                </a:solidFill>
                <a:latin typeface="Calibri"/>
                <a:ea typeface="Calibri"/>
                <a:cs typeface="Calibri"/>
                <a:sym typeface="Calibri"/>
              </a:rPr>
              <a:t>Overfitting</a:t>
            </a:r>
            <a:endParaRPr sz="1300" b="0" i="0" u="none" strike="noStrike" cap="none">
              <a:solidFill>
                <a:schemeClr val="dk1"/>
              </a:solidFill>
              <a:latin typeface="Calibri"/>
              <a:ea typeface="Calibri"/>
              <a:cs typeface="Calibri"/>
              <a:sym typeface="Calibri"/>
            </a:endParaRPr>
          </a:p>
        </p:txBody>
      </p:sp>
      <p:sp>
        <p:nvSpPr>
          <p:cNvPr id="565" name="Google Shape;565;p7"/>
          <p:cNvSpPr/>
          <p:nvPr/>
        </p:nvSpPr>
        <p:spPr>
          <a:xfrm>
            <a:off x="6359499" y="3785616"/>
            <a:ext cx="2539200" cy="109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050"/>
              <a:buFont typeface="Calibri"/>
              <a:buNone/>
            </a:pPr>
            <a:r>
              <a:rPr lang="en" sz="1050" b="0" i="0" u="none" strike="noStrike" cap="none">
                <a:solidFill>
                  <a:schemeClr val="dk1"/>
                </a:solidFill>
                <a:latin typeface="Calibri"/>
                <a:ea typeface="Calibri"/>
                <a:cs typeface="Calibri"/>
                <a:sym typeface="Calibri"/>
              </a:rPr>
              <a:t>Model too complex — memorises noise. Low train error, high val error. High variance, low bias.</a:t>
            </a:r>
            <a:endParaRPr sz="1050" b="0" i="0" u="none" strike="noStrike" cap="none">
              <a:solidFill>
                <a:schemeClr val="dk1"/>
              </a:solidFill>
              <a:latin typeface="Calibri"/>
              <a:ea typeface="Calibri"/>
              <a:cs typeface="Calibri"/>
              <a:sym typeface="Calibri"/>
            </a:endParaRPr>
          </a:p>
        </p:txBody>
      </p:sp>
      <p:pic>
        <p:nvPicPr>
          <p:cNvPr id="566" name="Google Shape;566;p7"/>
          <p:cNvPicPr preferRelativeResize="0"/>
          <p:nvPr/>
        </p:nvPicPr>
        <p:blipFill rotWithShape="1">
          <a:blip r:embed="rId5">
            <a:alphaModFix/>
          </a:blip>
          <a:srcRect/>
          <a:stretch/>
        </p:blipFill>
        <p:spPr>
          <a:xfrm>
            <a:off x="254100" y="896525"/>
            <a:ext cx="8635800" cy="2395200"/>
          </a:xfrm>
          <a:prstGeom prst="rect">
            <a:avLst/>
          </a:prstGeom>
          <a:solidFill>
            <a:schemeClr val="lt1"/>
          </a:solidFill>
          <a:ln w="19050" cap="flat" cmpd="sng">
            <a:solidFill>
              <a:schemeClr val="lt1"/>
            </a:solidFill>
            <a:prstDash val="solid"/>
            <a:round/>
            <a:headEnd type="none" w="sm" len="sm"/>
            <a:tailEnd type="none" w="sm" len="sm"/>
          </a:ln>
          <a:effectLst>
            <a:outerShdw blurRad="101600" dist="38100" dir="8100000" algn="bl" rotWithShape="0">
              <a:srgbClr val="000000">
                <a:alpha val="30196"/>
              </a:srgbClr>
            </a:outerShdw>
          </a:effectLst>
        </p:spPr>
      </p:pic>
      <p:sp>
        <p:nvSpPr>
          <p:cNvPr id="567" name="Google Shape;567;p7"/>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71"/>
        <p:cNvGrpSpPr/>
        <p:nvPr/>
      </p:nvGrpSpPr>
      <p:grpSpPr>
        <a:xfrm>
          <a:off x="0" y="0"/>
          <a:ext cx="0" cy="0"/>
          <a:chOff x="0" y="0"/>
          <a:chExt cx="0" cy="0"/>
        </a:xfrm>
      </p:grpSpPr>
      <p:pic>
        <p:nvPicPr>
          <p:cNvPr id="572" name="Google Shape;572;p8"/>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573" name="Google Shape;573;p8"/>
          <p:cNvSpPr/>
          <p:nvPr/>
        </p:nvSpPr>
        <p:spPr>
          <a:xfrm>
            <a:off x="228593" y="100750"/>
            <a:ext cx="8686800" cy="658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0E8F0"/>
              </a:buClr>
              <a:buSzPts val="2400"/>
              <a:buFont typeface="Calibri"/>
              <a:buNone/>
            </a:pPr>
            <a:r>
              <a:rPr lang="en" sz="2400" b="1" i="0" u="none" strike="noStrike" cap="none">
                <a:solidFill>
                  <a:schemeClr val="dk1"/>
                </a:solidFill>
                <a:latin typeface="Calibri"/>
                <a:ea typeface="Calibri"/>
                <a:cs typeface="Calibri"/>
                <a:sym typeface="Calibri"/>
              </a:rPr>
              <a:t>The Bias–Variance Tradeoff</a:t>
            </a:r>
            <a:endParaRPr sz="2400" b="1" i="0" u="none" strike="noStrike" cap="none">
              <a:solidFill>
                <a:schemeClr val="dk1"/>
              </a:solidFill>
              <a:latin typeface="Calibri"/>
              <a:ea typeface="Calibri"/>
              <a:cs typeface="Calibri"/>
              <a:sym typeface="Calibri"/>
            </a:endParaRPr>
          </a:p>
        </p:txBody>
      </p:sp>
      <p:pic>
        <p:nvPicPr>
          <p:cNvPr id="574" name="Google Shape;574;p8"/>
          <p:cNvPicPr preferRelativeResize="0"/>
          <p:nvPr/>
        </p:nvPicPr>
        <p:blipFill rotWithShape="1">
          <a:blip r:embed="rId5">
            <a:alphaModFix/>
          </a:blip>
          <a:srcRect t="70" b="70"/>
          <a:stretch/>
        </p:blipFill>
        <p:spPr>
          <a:xfrm>
            <a:off x="274320" y="777240"/>
            <a:ext cx="4754881" cy="3013966"/>
          </a:xfrm>
          <a:prstGeom prst="rect">
            <a:avLst/>
          </a:prstGeom>
          <a:noFill/>
          <a:ln>
            <a:noFill/>
          </a:ln>
        </p:spPr>
      </p:pic>
      <p:sp>
        <p:nvSpPr>
          <p:cNvPr id="575" name="Google Shape;575;p8"/>
          <p:cNvSpPr/>
          <p:nvPr/>
        </p:nvSpPr>
        <p:spPr>
          <a:xfrm>
            <a:off x="5159075" y="987155"/>
            <a:ext cx="3566100" cy="896100"/>
          </a:xfrm>
          <a:prstGeom prst="rect">
            <a:avLst/>
          </a:prstGeom>
          <a:solidFill>
            <a:schemeClr val="lt1"/>
          </a:solidFill>
          <a:ln w="19050" cap="flat" cmpd="sng">
            <a:solidFill>
              <a:srgbClr val="FF4B6E"/>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6" name="Google Shape;576;p8"/>
          <p:cNvSpPr/>
          <p:nvPr/>
        </p:nvSpPr>
        <p:spPr>
          <a:xfrm>
            <a:off x="5341955" y="1023731"/>
            <a:ext cx="32919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4B6E"/>
              </a:buClr>
              <a:buSzPts val="1300"/>
              <a:buFont typeface="Calibri"/>
              <a:buNone/>
            </a:pPr>
            <a:r>
              <a:rPr lang="en" sz="1300" b="1" i="0" u="none" strike="noStrike" cap="none">
                <a:solidFill>
                  <a:srgbClr val="FF4B6E"/>
                </a:solidFill>
                <a:latin typeface="Calibri"/>
                <a:ea typeface="Calibri"/>
                <a:cs typeface="Calibri"/>
                <a:sym typeface="Calibri"/>
              </a:rPr>
              <a:t>High Bias</a:t>
            </a:r>
            <a:endParaRPr sz="1300" b="0" i="0" u="none" strike="noStrike" cap="none">
              <a:solidFill>
                <a:schemeClr val="dk1"/>
              </a:solidFill>
              <a:latin typeface="Calibri"/>
              <a:ea typeface="Calibri"/>
              <a:cs typeface="Calibri"/>
              <a:sym typeface="Calibri"/>
            </a:endParaRPr>
          </a:p>
        </p:txBody>
      </p:sp>
      <p:sp>
        <p:nvSpPr>
          <p:cNvPr id="577" name="Google Shape;577;p8"/>
          <p:cNvSpPr/>
          <p:nvPr/>
        </p:nvSpPr>
        <p:spPr>
          <a:xfrm>
            <a:off x="5341955" y="1334627"/>
            <a:ext cx="3291900" cy="512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050"/>
              <a:buFont typeface="Calibri"/>
              <a:buNone/>
            </a:pPr>
            <a:r>
              <a:rPr lang="en" sz="1050" b="0" i="0" u="none" strike="noStrike" cap="none">
                <a:solidFill>
                  <a:schemeClr val="dk1"/>
                </a:solidFill>
                <a:latin typeface="Calibri"/>
                <a:ea typeface="Calibri"/>
                <a:cs typeface="Calibri"/>
                <a:sym typeface="Calibri"/>
              </a:rPr>
              <a:t>Underfitting. Model assumptions too rigid. Increases training error.</a:t>
            </a:r>
            <a:endParaRPr sz="1050" b="0" i="0" u="none" strike="noStrike" cap="none">
              <a:solidFill>
                <a:schemeClr val="dk1"/>
              </a:solidFill>
              <a:latin typeface="Calibri"/>
              <a:ea typeface="Calibri"/>
              <a:cs typeface="Calibri"/>
              <a:sym typeface="Calibri"/>
            </a:endParaRPr>
          </a:p>
        </p:txBody>
      </p:sp>
      <p:sp>
        <p:nvSpPr>
          <p:cNvPr id="578" name="Google Shape;578;p8"/>
          <p:cNvSpPr/>
          <p:nvPr/>
        </p:nvSpPr>
        <p:spPr>
          <a:xfrm>
            <a:off x="5159075" y="2011283"/>
            <a:ext cx="3566100" cy="896100"/>
          </a:xfrm>
          <a:prstGeom prst="rect">
            <a:avLst/>
          </a:prstGeom>
          <a:solidFill>
            <a:schemeClr val="lt1"/>
          </a:solidFill>
          <a:ln w="19050" cap="flat" cmpd="sng">
            <a:solidFill>
              <a:srgbClr val="FFB830"/>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9" name="Google Shape;579;p8"/>
          <p:cNvSpPr/>
          <p:nvPr/>
        </p:nvSpPr>
        <p:spPr>
          <a:xfrm>
            <a:off x="5341955" y="2047859"/>
            <a:ext cx="32919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B830"/>
              </a:buClr>
              <a:buSzPts val="1300"/>
              <a:buFont typeface="Calibri"/>
              <a:buNone/>
            </a:pPr>
            <a:r>
              <a:rPr lang="en" sz="1300" b="1" i="0" u="none" strike="noStrike" cap="none">
                <a:solidFill>
                  <a:srgbClr val="FFB830"/>
                </a:solidFill>
                <a:latin typeface="Calibri"/>
                <a:ea typeface="Calibri"/>
                <a:cs typeface="Calibri"/>
                <a:sym typeface="Calibri"/>
              </a:rPr>
              <a:t>High Variance</a:t>
            </a:r>
            <a:endParaRPr sz="1300" b="0" i="0" u="none" strike="noStrike" cap="none">
              <a:solidFill>
                <a:schemeClr val="dk1"/>
              </a:solidFill>
              <a:latin typeface="Calibri"/>
              <a:ea typeface="Calibri"/>
              <a:cs typeface="Calibri"/>
              <a:sym typeface="Calibri"/>
            </a:endParaRPr>
          </a:p>
        </p:txBody>
      </p:sp>
      <p:sp>
        <p:nvSpPr>
          <p:cNvPr id="580" name="Google Shape;580;p8"/>
          <p:cNvSpPr/>
          <p:nvPr/>
        </p:nvSpPr>
        <p:spPr>
          <a:xfrm>
            <a:off x="5341955" y="2358755"/>
            <a:ext cx="3291900" cy="512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050"/>
              <a:buFont typeface="Calibri"/>
              <a:buNone/>
            </a:pPr>
            <a:r>
              <a:rPr lang="en" sz="1050" b="0" i="0" u="none" strike="noStrike" cap="none">
                <a:solidFill>
                  <a:schemeClr val="dk1"/>
                </a:solidFill>
                <a:latin typeface="Calibri"/>
                <a:ea typeface="Calibri"/>
                <a:cs typeface="Calibri"/>
                <a:sym typeface="Calibri"/>
              </a:rPr>
              <a:t>Overfitting. Model too sensitive to training data. Val error diverges.</a:t>
            </a:r>
            <a:endParaRPr sz="1050" b="0" i="0" u="none" strike="noStrike" cap="none">
              <a:solidFill>
                <a:schemeClr val="dk1"/>
              </a:solidFill>
              <a:latin typeface="Calibri"/>
              <a:ea typeface="Calibri"/>
              <a:cs typeface="Calibri"/>
              <a:sym typeface="Calibri"/>
            </a:endParaRPr>
          </a:p>
        </p:txBody>
      </p:sp>
      <p:sp>
        <p:nvSpPr>
          <p:cNvPr id="581" name="Google Shape;581;p8"/>
          <p:cNvSpPr/>
          <p:nvPr/>
        </p:nvSpPr>
        <p:spPr>
          <a:xfrm>
            <a:off x="5159075" y="3035411"/>
            <a:ext cx="3566100" cy="896100"/>
          </a:xfrm>
          <a:prstGeom prst="rect">
            <a:avLst/>
          </a:prstGeom>
          <a:solidFill>
            <a:schemeClr val="lt1"/>
          </a:solidFill>
          <a:ln w="19050" cap="flat" cmpd="sng">
            <a:solidFill>
              <a:srgbClr val="00C9B1"/>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2" name="Google Shape;582;p8"/>
          <p:cNvSpPr/>
          <p:nvPr/>
        </p:nvSpPr>
        <p:spPr>
          <a:xfrm>
            <a:off x="5341955" y="3071987"/>
            <a:ext cx="32919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C9B1"/>
              </a:buClr>
              <a:buSzPts val="1300"/>
              <a:buFont typeface="Calibri"/>
              <a:buNone/>
            </a:pPr>
            <a:r>
              <a:rPr lang="en" sz="1300" b="1" i="0" u="none" strike="noStrike" cap="none">
                <a:solidFill>
                  <a:srgbClr val="00C9B1"/>
                </a:solidFill>
                <a:latin typeface="Calibri"/>
                <a:ea typeface="Calibri"/>
                <a:cs typeface="Calibri"/>
                <a:sym typeface="Calibri"/>
              </a:rPr>
              <a:t>Sweet Spot</a:t>
            </a:r>
            <a:endParaRPr sz="1300" b="0" i="0" u="none" strike="noStrike" cap="none">
              <a:solidFill>
                <a:schemeClr val="dk1"/>
              </a:solidFill>
              <a:latin typeface="Calibri"/>
              <a:ea typeface="Calibri"/>
              <a:cs typeface="Calibri"/>
              <a:sym typeface="Calibri"/>
            </a:endParaRPr>
          </a:p>
        </p:txBody>
      </p:sp>
      <p:sp>
        <p:nvSpPr>
          <p:cNvPr id="583" name="Google Shape;583;p8"/>
          <p:cNvSpPr/>
          <p:nvPr/>
        </p:nvSpPr>
        <p:spPr>
          <a:xfrm>
            <a:off x="5341955" y="3382883"/>
            <a:ext cx="3291900" cy="512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050"/>
              <a:buFont typeface="Calibri"/>
              <a:buNone/>
            </a:pPr>
            <a:r>
              <a:rPr lang="en" sz="1050" b="0" i="0" u="none" strike="noStrike" cap="none">
                <a:solidFill>
                  <a:schemeClr val="dk1"/>
                </a:solidFill>
                <a:latin typeface="Calibri"/>
                <a:ea typeface="Calibri"/>
                <a:cs typeface="Calibri"/>
                <a:sym typeface="Calibri"/>
              </a:rPr>
              <a:t>Minimise total error = Bias² + Variance + irreducible noise.</a:t>
            </a:r>
            <a:endParaRPr sz="1050" b="0" i="0" u="none" strike="noStrike" cap="none">
              <a:solidFill>
                <a:schemeClr val="dk1"/>
              </a:solidFill>
              <a:latin typeface="Calibri"/>
              <a:ea typeface="Calibri"/>
              <a:cs typeface="Calibri"/>
              <a:sym typeface="Calibri"/>
            </a:endParaRPr>
          </a:p>
        </p:txBody>
      </p:sp>
      <p:sp>
        <p:nvSpPr>
          <p:cNvPr id="584" name="Google Shape;584;p8"/>
          <p:cNvSpPr/>
          <p:nvPr/>
        </p:nvSpPr>
        <p:spPr>
          <a:xfrm>
            <a:off x="5159075" y="4032107"/>
            <a:ext cx="3566100" cy="896100"/>
          </a:xfrm>
          <a:prstGeom prst="rect">
            <a:avLst/>
          </a:prstGeom>
          <a:solidFill>
            <a:schemeClr val="lt1"/>
          </a:solidFill>
          <a:ln w="19050" cap="flat" cmpd="sng">
            <a:solidFill>
              <a:srgbClr val="00C9B1"/>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5" name="Google Shape;585;p8"/>
          <p:cNvSpPr/>
          <p:nvPr/>
        </p:nvSpPr>
        <p:spPr>
          <a:xfrm>
            <a:off x="5296235" y="4068683"/>
            <a:ext cx="3383400" cy="841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C9B1"/>
              </a:buClr>
              <a:buSzPts val="1200"/>
              <a:buFont typeface="Courier New"/>
              <a:buNone/>
            </a:pPr>
            <a:r>
              <a:rPr lang="en" sz="1200" b="1" i="0" u="none" strike="noStrike" cap="none">
                <a:solidFill>
                  <a:srgbClr val="00C9B1"/>
                </a:solidFill>
                <a:latin typeface="Courier New"/>
                <a:ea typeface="Courier New"/>
                <a:cs typeface="Courier New"/>
                <a:sym typeface="Courier New"/>
              </a:rPr>
              <a:t>Total Error  =  Bias²  +  Variance  +  ε</a:t>
            </a:r>
            <a:endParaRPr sz="1200" b="0" i="0" u="none" strike="noStrike" cap="none">
              <a:solidFill>
                <a:schemeClr val="dk1"/>
              </a:solidFill>
              <a:latin typeface="Calibri"/>
              <a:ea typeface="Calibri"/>
              <a:cs typeface="Calibri"/>
              <a:sym typeface="Calibri"/>
            </a:endParaRPr>
          </a:p>
        </p:txBody>
      </p:sp>
      <p:sp>
        <p:nvSpPr>
          <p:cNvPr id="586" name="Google Shape;586;p8"/>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0"/>
        <p:cNvGrpSpPr/>
        <p:nvPr/>
      </p:nvGrpSpPr>
      <p:grpSpPr>
        <a:xfrm>
          <a:off x="0" y="0"/>
          <a:ext cx="0" cy="0"/>
          <a:chOff x="0" y="0"/>
          <a:chExt cx="0" cy="0"/>
        </a:xfrm>
      </p:grpSpPr>
      <p:pic>
        <p:nvPicPr>
          <p:cNvPr id="591" name="Google Shape;591;p6"/>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592" name="Google Shape;592;p6"/>
          <p:cNvSpPr txBox="1"/>
          <p:nvPr/>
        </p:nvSpPr>
        <p:spPr>
          <a:xfrm>
            <a:off x="1502551" y="89250"/>
            <a:ext cx="6618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Overfitting, Underfitting &amp; Regularization</a:t>
            </a:r>
            <a:endParaRPr sz="2800" b="1" i="0" u="none" strike="noStrike" cap="none">
              <a:solidFill>
                <a:srgbClr val="000000"/>
              </a:solidFill>
              <a:latin typeface="Calibri"/>
              <a:ea typeface="Calibri"/>
              <a:cs typeface="Calibri"/>
              <a:sym typeface="Calibri"/>
            </a:endParaRPr>
          </a:p>
        </p:txBody>
      </p:sp>
      <p:sp>
        <p:nvSpPr>
          <p:cNvPr id="593" name="Google Shape;593;p6"/>
          <p:cNvSpPr/>
          <p:nvPr/>
        </p:nvSpPr>
        <p:spPr>
          <a:xfrm>
            <a:off x="55900" y="1108650"/>
            <a:ext cx="3885300" cy="3795300"/>
          </a:xfrm>
          <a:prstGeom prst="rect">
            <a:avLst/>
          </a:prstGeom>
          <a:solidFill>
            <a:srgbClr val="FFFFFF"/>
          </a:solidFill>
          <a:ln w="12550" cap="flat" cmpd="sng">
            <a:solidFill>
              <a:srgbClr val="94D2BD"/>
            </a:solidFill>
            <a:prstDash val="solid"/>
            <a:round/>
            <a:headEnd type="none" w="sm" len="sm"/>
            <a:tailEnd type="none" w="sm" len="sm"/>
          </a:ln>
          <a:effectLst>
            <a:outerShdw blurRad="50202" dist="25101" dir="8100000" algn="bl" rotWithShape="0">
              <a:srgbClr val="000000">
                <a:alpha val="10196"/>
              </a:srgbClr>
            </a:outerShdw>
          </a:effectLst>
        </p:spPr>
        <p:txBody>
          <a:bodyPr spcFirstLastPara="1" wrap="square" lIns="90350" tIns="90350" rIns="90350" bIns="903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4" name="Google Shape;594;p6"/>
          <p:cNvSpPr/>
          <p:nvPr/>
        </p:nvSpPr>
        <p:spPr>
          <a:xfrm>
            <a:off x="236628" y="1199014"/>
            <a:ext cx="3524400" cy="45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A9396"/>
              </a:buClr>
              <a:buSzPts val="1482"/>
              <a:buFont typeface="Calibri"/>
              <a:buNone/>
            </a:pPr>
            <a:r>
              <a:rPr lang="en" sz="1482" b="1" i="0" u="none" strike="noStrike" cap="none">
                <a:solidFill>
                  <a:srgbClr val="0A9396"/>
                </a:solidFill>
                <a:latin typeface="Calibri"/>
                <a:ea typeface="Calibri"/>
                <a:cs typeface="Calibri"/>
                <a:sym typeface="Calibri"/>
              </a:rPr>
              <a:t>Bias-Variance Tradeoff</a:t>
            </a:r>
            <a:endParaRPr sz="1482" b="0" i="0" u="none" strike="noStrike" cap="none">
              <a:solidFill>
                <a:srgbClr val="000000"/>
              </a:solidFill>
              <a:latin typeface="Calibri"/>
              <a:ea typeface="Calibri"/>
              <a:cs typeface="Calibri"/>
              <a:sym typeface="Calibri"/>
            </a:endParaRPr>
          </a:p>
        </p:txBody>
      </p:sp>
      <p:sp>
        <p:nvSpPr>
          <p:cNvPr id="595" name="Google Shape;595;p6"/>
          <p:cNvSpPr/>
          <p:nvPr/>
        </p:nvSpPr>
        <p:spPr>
          <a:xfrm>
            <a:off x="236628" y="1696017"/>
            <a:ext cx="3524400" cy="2982000"/>
          </a:xfrm>
          <a:prstGeom prst="rect">
            <a:avLst/>
          </a:prstGeom>
          <a:noFill/>
          <a:ln>
            <a:noFill/>
          </a:ln>
        </p:spPr>
        <p:txBody>
          <a:bodyPr spcFirstLastPara="1" wrap="square" lIns="0" tIns="0" rIns="0" bIns="0" anchor="t" anchorCtr="0">
            <a:noAutofit/>
          </a:bodyPr>
          <a:lstStyle/>
          <a:p>
            <a:pPr marL="338864" marR="0" lvl="0" indent="-338864" algn="l" rtl="0">
              <a:lnSpc>
                <a:spcPct val="100000"/>
              </a:lnSpc>
              <a:spcBef>
                <a:spcPts val="0"/>
              </a:spcBef>
              <a:spcAft>
                <a:spcPts val="0"/>
              </a:spcAft>
              <a:buClr>
                <a:srgbClr val="1B2E45"/>
              </a:buClr>
              <a:buSzPts val="1285"/>
              <a:buFont typeface="Calibri"/>
              <a:buChar char="•"/>
            </a:pPr>
            <a:r>
              <a:rPr lang="en" sz="1285" b="0" i="0" u="none" strike="noStrike" cap="none">
                <a:solidFill>
                  <a:srgbClr val="1B2E45"/>
                </a:solidFill>
                <a:latin typeface="Calibri"/>
                <a:ea typeface="Calibri"/>
                <a:cs typeface="Calibri"/>
                <a:sym typeface="Calibri"/>
              </a:rPr>
              <a:t>Underfitting (High Bias): Model too simple, cannot capture patterns</a:t>
            </a:r>
            <a:endParaRPr sz="1285" b="0" i="0" u="none" strike="noStrike" cap="none">
              <a:solidFill>
                <a:srgbClr val="000000"/>
              </a:solidFill>
              <a:latin typeface="Calibri"/>
              <a:ea typeface="Calibri"/>
              <a:cs typeface="Calibri"/>
              <a:sym typeface="Calibri"/>
            </a:endParaRPr>
          </a:p>
          <a:p>
            <a:pPr marL="338864" marR="0" lvl="0" indent="-338864" algn="l" rtl="0">
              <a:lnSpc>
                <a:spcPct val="100000"/>
              </a:lnSpc>
              <a:spcBef>
                <a:spcPts val="593"/>
              </a:spcBef>
              <a:spcAft>
                <a:spcPts val="0"/>
              </a:spcAft>
              <a:buClr>
                <a:srgbClr val="1B2E45"/>
              </a:buClr>
              <a:buSzPts val="1285"/>
              <a:buFont typeface="Calibri"/>
              <a:buChar char="•"/>
            </a:pPr>
            <a:r>
              <a:rPr lang="en" sz="1285" b="0" i="0" u="none" strike="noStrike" cap="none">
                <a:solidFill>
                  <a:srgbClr val="1B2E45"/>
                </a:solidFill>
                <a:latin typeface="Calibri"/>
                <a:ea typeface="Calibri"/>
                <a:cs typeface="Calibri"/>
                <a:sym typeface="Calibri"/>
              </a:rPr>
              <a:t>Overfitting (High Variance): Model memorizes training data, fails on new data</a:t>
            </a:r>
            <a:endParaRPr sz="1285" b="0" i="0" u="none" strike="noStrike" cap="none">
              <a:solidFill>
                <a:srgbClr val="000000"/>
              </a:solidFill>
              <a:latin typeface="Calibri"/>
              <a:ea typeface="Calibri"/>
              <a:cs typeface="Calibri"/>
              <a:sym typeface="Calibri"/>
            </a:endParaRPr>
          </a:p>
          <a:p>
            <a:pPr marL="338864" marR="0" lvl="0" indent="-338864" algn="l" rtl="0">
              <a:lnSpc>
                <a:spcPct val="100000"/>
              </a:lnSpc>
              <a:spcBef>
                <a:spcPts val="593"/>
              </a:spcBef>
              <a:spcAft>
                <a:spcPts val="0"/>
              </a:spcAft>
              <a:buClr>
                <a:srgbClr val="1B2E45"/>
              </a:buClr>
              <a:buSzPts val="1285"/>
              <a:buFont typeface="Calibri"/>
              <a:buChar char="•"/>
            </a:pPr>
            <a:r>
              <a:rPr lang="en" sz="1285" b="0" i="0" u="none" strike="noStrike" cap="none">
                <a:solidFill>
                  <a:srgbClr val="1B2E45"/>
                </a:solidFill>
                <a:latin typeface="Calibri"/>
                <a:ea typeface="Calibri"/>
                <a:cs typeface="Calibri"/>
                <a:sym typeface="Calibri"/>
              </a:rPr>
              <a:t>The sweet spot: Generalizes well to unseen data</a:t>
            </a:r>
            <a:endParaRPr sz="1285" b="0" i="0" u="none" strike="noStrike" cap="none">
              <a:solidFill>
                <a:srgbClr val="000000"/>
              </a:solidFill>
              <a:latin typeface="Calibri"/>
              <a:ea typeface="Calibri"/>
              <a:cs typeface="Calibri"/>
              <a:sym typeface="Calibri"/>
            </a:endParaRPr>
          </a:p>
          <a:p>
            <a:pPr marL="338864" marR="0" lvl="0" indent="-338864" algn="l" rtl="0">
              <a:lnSpc>
                <a:spcPct val="100000"/>
              </a:lnSpc>
              <a:spcBef>
                <a:spcPts val="593"/>
              </a:spcBef>
              <a:spcAft>
                <a:spcPts val="0"/>
              </a:spcAft>
              <a:buClr>
                <a:srgbClr val="1B2E45"/>
              </a:buClr>
              <a:buSzPts val="1285"/>
              <a:buFont typeface="Calibri"/>
              <a:buChar char="•"/>
            </a:pPr>
            <a:r>
              <a:rPr lang="en" sz="1285" b="0" i="0" u="none" strike="noStrike" cap="none">
                <a:solidFill>
                  <a:srgbClr val="1B2E45"/>
                </a:solidFill>
                <a:latin typeface="Calibri"/>
                <a:ea typeface="Calibri"/>
                <a:cs typeface="Calibri"/>
                <a:sym typeface="Calibri"/>
              </a:rPr>
              <a:t>Monitored via Train/Validation/Test split</a:t>
            </a:r>
            <a:endParaRPr sz="1285" b="0" i="0" u="none" strike="noStrike" cap="none">
              <a:solidFill>
                <a:srgbClr val="000000"/>
              </a:solidFill>
              <a:latin typeface="Calibri"/>
              <a:ea typeface="Calibri"/>
              <a:cs typeface="Calibri"/>
              <a:sym typeface="Calibri"/>
            </a:endParaRPr>
          </a:p>
          <a:p>
            <a:pPr marL="338864" marR="0" lvl="0" indent="-338864" algn="l" rtl="0">
              <a:lnSpc>
                <a:spcPct val="100000"/>
              </a:lnSpc>
              <a:spcBef>
                <a:spcPts val="593"/>
              </a:spcBef>
              <a:spcAft>
                <a:spcPts val="0"/>
              </a:spcAft>
              <a:buClr>
                <a:srgbClr val="1B2E45"/>
              </a:buClr>
              <a:buSzPts val="1285"/>
              <a:buFont typeface="Calibri"/>
              <a:buChar char="•"/>
            </a:pPr>
            <a:r>
              <a:rPr lang="en" sz="1285" b="0" i="0" u="none" strike="noStrike" cap="none">
                <a:solidFill>
                  <a:srgbClr val="1B2E45"/>
                </a:solidFill>
                <a:latin typeface="Calibri"/>
                <a:ea typeface="Calibri"/>
                <a:cs typeface="Calibri"/>
                <a:sym typeface="Calibri"/>
              </a:rPr>
              <a:t>Training accuracy vs Validation accuracy gap = overfitting signal</a:t>
            </a:r>
            <a:endParaRPr sz="1285" b="0" i="0" u="none" strike="noStrike" cap="none">
              <a:solidFill>
                <a:srgbClr val="000000"/>
              </a:solidFill>
              <a:latin typeface="Calibri"/>
              <a:ea typeface="Calibri"/>
              <a:cs typeface="Calibri"/>
              <a:sym typeface="Calibri"/>
            </a:endParaRPr>
          </a:p>
        </p:txBody>
      </p:sp>
      <p:sp>
        <p:nvSpPr>
          <p:cNvPr id="596" name="Google Shape;596;p6"/>
          <p:cNvSpPr/>
          <p:nvPr/>
        </p:nvSpPr>
        <p:spPr>
          <a:xfrm>
            <a:off x="4483736" y="1108650"/>
            <a:ext cx="3885300" cy="3795300"/>
          </a:xfrm>
          <a:prstGeom prst="rect">
            <a:avLst/>
          </a:prstGeom>
          <a:solidFill>
            <a:srgbClr val="FFFFFF"/>
          </a:solidFill>
          <a:ln w="12550" cap="flat" cmpd="sng">
            <a:solidFill>
              <a:srgbClr val="94D2BD"/>
            </a:solidFill>
            <a:prstDash val="solid"/>
            <a:round/>
            <a:headEnd type="none" w="sm" len="sm"/>
            <a:tailEnd type="none" w="sm" len="sm"/>
          </a:ln>
          <a:effectLst>
            <a:outerShdw blurRad="50202" dist="25101" dir="8100000" algn="bl" rotWithShape="0">
              <a:srgbClr val="000000">
                <a:alpha val="10196"/>
              </a:srgbClr>
            </a:outerShdw>
          </a:effectLst>
        </p:spPr>
        <p:txBody>
          <a:bodyPr spcFirstLastPara="1" wrap="square" lIns="90350" tIns="90350" rIns="90350" bIns="903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p6"/>
          <p:cNvSpPr/>
          <p:nvPr/>
        </p:nvSpPr>
        <p:spPr>
          <a:xfrm>
            <a:off x="4664464" y="1199014"/>
            <a:ext cx="3524400" cy="45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E9B00"/>
              </a:buClr>
              <a:buSzPts val="1482"/>
              <a:buFont typeface="Calibri"/>
              <a:buNone/>
            </a:pPr>
            <a:r>
              <a:rPr lang="en" sz="1482" b="1" i="0" u="none" strike="noStrike" cap="none">
                <a:solidFill>
                  <a:srgbClr val="EE9B00"/>
                </a:solidFill>
                <a:latin typeface="Calibri"/>
                <a:ea typeface="Calibri"/>
                <a:cs typeface="Calibri"/>
                <a:sym typeface="Calibri"/>
              </a:rPr>
              <a:t>Regularization Techniques</a:t>
            </a:r>
            <a:endParaRPr sz="1482" b="0" i="0" u="none" strike="noStrike" cap="none">
              <a:solidFill>
                <a:srgbClr val="000000"/>
              </a:solidFill>
              <a:latin typeface="Calibri"/>
              <a:ea typeface="Calibri"/>
              <a:cs typeface="Calibri"/>
              <a:sym typeface="Calibri"/>
            </a:endParaRPr>
          </a:p>
        </p:txBody>
      </p:sp>
      <p:sp>
        <p:nvSpPr>
          <p:cNvPr id="598" name="Google Shape;598;p6"/>
          <p:cNvSpPr/>
          <p:nvPr/>
        </p:nvSpPr>
        <p:spPr>
          <a:xfrm>
            <a:off x="4664464" y="1696017"/>
            <a:ext cx="3524400" cy="2982000"/>
          </a:xfrm>
          <a:prstGeom prst="rect">
            <a:avLst/>
          </a:prstGeom>
          <a:noFill/>
          <a:ln>
            <a:noFill/>
          </a:ln>
        </p:spPr>
        <p:txBody>
          <a:bodyPr spcFirstLastPara="1" wrap="square" lIns="0" tIns="0" rIns="0" bIns="0" anchor="t" anchorCtr="0">
            <a:noAutofit/>
          </a:bodyPr>
          <a:lstStyle/>
          <a:p>
            <a:pPr marL="338864" marR="0" lvl="0" indent="-338864" algn="l" rtl="0">
              <a:lnSpc>
                <a:spcPct val="100000"/>
              </a:lnSpc>
              <a:spcBef>
                <a:spcPts val="0"/>
              </a:spcBef>
              <a:spcAft>
                <a:spcPts val="0"/>
              </a:spcAft>
              <a:buClr>
                <a:srgbClr val="1B2E45"/>
              </a:buClr>
              <a:buSzPts val="1285"/>
              <a:buFont typeface="Calibri"/>
              <a:buChar char="•"/>
            </a:pPr>
            <a:r>
              <a:rPr lang="en" sz="1285" b="0" i="0" u="none" strike="noStrike" cap="none">
                <a:solidFill>
                  <a:srgbClr val="1B2E45"/>
                </a:solidFill>
                <a:latin typeface="Calibri"/>
                <a:ea typeface="Calibri"/>
                <a:cs typeface="Calibri"/>
                <a:sym typeface="Calibri"/>
              </a:rPr>
              <a:t>L2 Regularization (Weight Decay): Penalize large weights in loss function</a:t>
            </a:r>
            <a:endParaRPr sz="1285" b="0" i="0" u="none" strike="noStrike" cap="none">
              <a:solidFill>
                <a:srgbClr val="000000"/>
              </a:solidFill>
              <a:latin typeface="Calibri"/>
              <a:ea typeface="Calibri"/>
              <a:cs typeface="Calibri"/>
              <a:sym typeface="Calibri"/>
            </a:endParaRPr>
          </a:p>
          <a:p>
            <a:pPr marL="338864" marR="0" lvl="0" indent="-338864" algn="l" rtl="0">
              <a:lnSpc>
                <a:spcPct val="100000"/>
              </a:lnSpc>
              <a:spcBef>
                <a:spcPts val="593"/>
              </a:spcBef>
              <a:spcAft>
                <a:spcPts val="0"/>
              </a:spcAft>
              <a:buClr>
                <a:srgbClr val="1B2E45"/>
              </a:buClr>
              <a:buSzPts val="1285"/>
              <a:buFont typeface="Calibri"/>
              <a:buChar char="•"/>
            </a:pPr>
            <a:r>
              <a:rPr lang="en" sz="1285" b="0" i="0" u="none" strike="noStrike" cap="none">
                <a:solidFill>
                  <a:srgbClr val="1B2E45"/>
                </a:solidFill>
                <a:latin typeface="Calibri"/>
                <a:ea typeface="Calibri"/>
                <a:cs typeface="Calibri"/>
                <a:sym typeface="Calibri"/>
              </a:rPr>
              <a:t>L1 Regularization: Induces sparsity (feature selection)</a:t>
            </a:r>
            <a:endParaRPr sz="1285" b="0" i="0" u="none" strike="noStrike" cap="none">
              <a:solidFill>
                <a:srgbClr val="000000"/>
              </a:solidFill>
              <a:latin typeface="Calibri"/>
              <a:ea typeface="Calibri"/>
              <a:cs typeface="Calibri"/>
              <a:sym typeface="Calibri"/>
            </a:endParaRPr>
          </a:p>
          <a:p>
            <a:pPr marL="338864" marR="0" lvl="0" indent="-338864" algn="l" rtl="0">
              <a:lnSpc>
                <a:spcPct val="100000"/>
              </a:lnSpc>
              <a:spcBef>
                <a:spcPts val="593"/>
              </a:spcBef>
              <a:spcAft>
                <a:spcPts val="0"/>
              </a:spcAft>
              <a:buClr>
                <a:srgbClr val="1B2E45"/>
              </a:buClr>
              <a:buSzPts val="1285"/>
              <a:buFont typeface="Calibri"/>
              <a:buChar char="•"/>
            </a:pPr>
            <a:r>
              <a:rPr lang="en" sz="1285" b="0" i="0" u="none" strike="noStrike" cap="none">
                <a:solidFill>
                  <a:srgbClr val="1B2E45"/>
                </a:solidFill>
                <a:latin typeface="Calibri"/>
                <a:ea typeface="Calibri"/>
                <a:cs typeface="Calibri"/>
                <a:sym typeface="Calibri"/>
              </a:rPr>
              <a:t>Dropout: Randomly zero out neurons during training (prevents co-adaptation)</a:t>
            </a:r>
            <a:endParaRPr sz="1285" b="0" i="0" u="none" strike="noStrike" cap="none">
              <a:solidFill>
                <a:srgbClr val="000000"/>
              </a:solidFill>
              <a:latin typeface="Calibri"/>
              <a:ea typeface="Calibri"/>
              <a:cs typeface="Calibri"/>
              <a:sym typeface="Calibri"/>
            </a:endParaRPr>
          </a:p>
          <a:p>
            <a:pPr marL="338864" marR="0" lvl="0" indent="-338864" algn="l" rtl="0">
              <a:lnSpc>
                <a:spcPct val="100000"/>
              </a:lnSpc>
              <a:spcBef>
                <a:spcPts val="593"/>
              </a:spcBef>
              <a:spcAft>
                <a:spcPts val="0"/>
              </a:spcAft>
              <a:buClr>
                <a:srgbClr val="1B2E45"/>
              </a:buClr>
              <a:buSzPts val="1285"/>
              <a:buFont typeface="Calibri"/>
              <a:buChar char="•"/>
            </a:pPr>
            <a:r>
              <a:rPr lang="en" sz="1285" b="0" i="0" u="none" strike="noStrike" cap="none">
                <a:solidFill>
                  <a:srgbClr val="1B2E45"/>
                </a:solidFill>
                <a:latin typeface="Calibri"/>
                <a:ea typeface="Calibri"/>
                <a:cs typeface="Calibri"/>
                <a:sym typeface="Calibri"/>
              </a:rPr>
              <a:t>Batch Normalization: Normalize layer activations for stable training</a:t>
            </a:r>
            <a:endParaRPr sz="1285" b="0" i="0" u="none" strike="noStrike" cap="none">
              <a:solidFill>
                <a:srgbClr val="000000"/>
              </a:solidFill>
              <a:latin typeface="Calibri"/>
              <a:ea typeface="Calibri"/>
              <a:cs typeface="Calibri"/>
              <a:sym typeface="Calibri"/>
            </a:endParaRPr>
          </a:p>
          <a:p>
            <a:pPr marL="338864" marR="0" lvl="0" indent="-338864" algn="l" rtl="0">
              <a:lnSpc>
                <a:spcPct val="100000"/>
              </a:lnSpc>
              <a:spcBef>
                <a:spcPts val="593"/>
              </a:spcBef>
              <a:spcAft>
                <a:spcPts val="0"/>
              </a:spcAft>
              <a:buClr>
                <a:srgbClr val="1B2E45"/>
              </a:buClr>
              <a:buSzPts val="1285"/>
              <a:buFont typeface="Calibri"/>
              <a:buChar char="•"/>
            </a:pPr>
            <a:r>
              <a:rPr lang="en" sz="1285" b="0" i="0" u="none" strike="noStrike" cap="none">
                <a:solidFill>
                  <a:srgbClr val="1B2E45"/>
                </a:solidFill>
                <a:latin typeface="Calibri"/>
                <a:ea typeface="Calibri"/>
                <a:cs typeface="Calibri"/>
                <a:sym typeface="Calibri"/>
              </a:rPr>
              <a:t>Data Augmentation: Expand training set with transforms (flip, crop, noise)</a:t>
            </a:r>
            <a:endParaRPr sz="1285" b="0" i="0" u="none" strike="noStrike" cap="none">
              <a:solidFill>
                <a:srgbClr val="000000"/>
              </a:solidFill>
              <a:latin typeface="Calibri"/>
              <a:ea typeface="Calibri"/>
              <a:cs typeface="Calibri"/>
              <a:sym typeface="Calibri"/>
            </a:endParaRPr>
          </a:p>
          <a:p>
            <a:pPr marL="338864" marR="0" lvl="0" indent="-338864" algn="l" rtl="0">
              <a:lnSpc>
                <a:spcPct val="100000"/>
              </a:lnSpc>
              <a:spcBef>
                <a:spcPts val="593"/>
              </a:spcBef>
              <a:spcAft>
                <a:spcPts val="0"/>
              </a:spcAft>
              <a:buClr>
                <a:srgbClr val="1B2E45"/>
              </a:buClr>
              <a:buSzPts val="1285"/>
              <a:buFont typeface="Calibri"/>
              <a:buChar char="•"/>
            </a:pPr>
            <a:r>
              <a:rPr lang="en" sz="1285" b="0" i="0" u="none" strike="noStrike" cap="none">
                <a:solidFill>
                  <a:srgbClr val="1B2E45"/>
                </a:solidFill>
                <a:latin typeface="Calibri"/>
                <a:ea typeface="Calibri"/>
                <a:cs typeface="Calibri"/>
                <a:sym typeface="Calibri"/>
              </a:rPr>
              <a:t>Early Stopping: Stop training when validation loss starts increasing</a:t>
            </a:r>
            <a:endParaRPr sz="1285" b="0" i="0" u="none" strike="noStrike" cap="none">
              <a:solidFill>
                <a:srgbClr val="000000"/>
              </a:solidFill>
              <a:latin typeface="Calibri"/>
              <a:ea typeface="Calibri"/>
              <a:cs typeface="Calibri"/>
              <a:sym typeface="Calibri"/>
            </a:endParaRPr>
          </a:p>
        </p:txBody>
      </p:sp>
      <p:pic>
        <p:nvPicPr>
          <p:cNvPr id="599" name="Google Shape;599;p6"/>
          <p:cNvPicPr preferRelativeResize="0"/>
          <p:nvPr/>
        </p:nvPicPr>
        <p:blipFill rotWithShape="1">
          <a:blip r:embed="rId5">
            <a:alphaModFix/>
          </a:blip>
          <a:srcRect/>
          <a:stretch/>
        </p:blipFill>
        <p:spPr>
          <a:xfrm>
            <a:off x="1961770" y="3625580"/>
            <a:ext cx="1640213" cy="1187134"/>
          </a:xfrm>
          <a:prstGeom prst="rect">
            <a:avLst/>
          </a:prstGeom>
          <a:noFill/>
          <a:ln>
            <a:noFill/>
          </a:ln>
        </p:spPr>
      </p:pic>
      <p:sp>
        <p:nvSpPr>
          <p:cNvPr id="600" name="Google Shape;600;p6"/>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04"/>
        <p:cNvGrpSpPr/>
        <p:nvPr/>
      </p:nvGrpSpPr>
      <p:grpSpPr>
        <a:xfrm>
          <a:off x="0" y="0"/>
          <a:ext cx="0" cy="0"/>
          <a:chOff x="0" y="0"/>
          <a:chExt cx="0" cy="0"/>
        </a:xfrm>
      </p:grpSpPr>
      <p:pic>
        <p:nvPicPr>
          <p:cNvPr id="605" name="Google Shape;605;p9"/>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606" name="Google Shape;606;p9"/>
          <p:cNvSpPr/>
          <p:nvPr/>
        </p:nvSpPr>
        <p:spPr>
          <a:xfrm>
            <a:off x="228593" y="100750"/>
            <a:ext cx="8686800" cy="658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0E8F0"/>
              </a:buClr>
              <a:buSzPts val="2400"/>
              <a:buFont typeface="Calibri"/>
              <a:buNone/>
            </a:pPr>
            <a:r>
              <a:rPr lang="en" sz="2400" b="1" i="0" u="none" strike="noStrike" cap="none">
                <a:solidFill>
                  <a:schemeClr val="dk1"/>
                </a:solidFill>
                <a:latin typeface="Calibri"/>
                <a:ea typeface="Calibri"/>
                <a:cs typeface="Calibri"/>
                <a:sym typeface="Calibri"/>
              </a:rPr>
              <a:t>Detecting Overfitting — Training vs Validation Loss</a:t>
            </a:r>
            <a:endParaRPr sz="2400" b="1" i="0" u="none" strike="noStrike" cap="none">
              <a:solidFill>
                <a:schemeClr val="dk1"/>
              </a:solidFill>
              <a:latin typeface="Calibri"/>
              <a:ea typeface="Calibri"/>
              <a:cs typeface="Calibri"/>
              <a:sym typeface="Calibri"/>
            </a:endParaRPr>
          </a:p>
        </p:txBody>
      </p:sp>
      <p:sp>
        <p:nvSpPr>
          <p:cNvPr id="607" name="Google Shape;607;p9"/>
          <p:cNvSpPr/>
          <p:nvPr/>
        </p:nvSpPr>
        <p:spPr>
          <a:xfrm>
            <a:off x="214857" y="4322038"/>
            <a:ext cx="201300" cy="201300"/>
          </a:xfrm>
          <a:prstGeom prst="ellipse">
            <a:avLst/>
          </a:prstGeom>
          <a:solidFill>
            <a:srgbClr val="FF4B6E"/>
          </a:solidFill>
          <a:ln w="12700" cap="flat" cmpd="sng">
            <a:solidFill>
              <a:srgbClr val="FF4B6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8" name="Google Shape;608;p9"/>
          <p:cNvSpPr/>
          <p:nvPr/>
        </p:nvSpPr>
        <p:spPr>
          <a:xfrm>
            <a:off x="470890" y="4276318"/>
            <a:ext cx="2606100" cy="3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000"/>
              <a:buFont typeface="Calibri"/>
              <a:buNone/>
            </a:pPr>
            <a:r>
              <a:rPr lang="en" sz="1000" b="0" i="0" u="none" strike="noStrike" cap="none">
                <a:solidFill>
                  <a:schemeClr val="dk1"/>
                </a:solidFill>
                <a:latin typeface="Calibri"/>
                <a:ea typeface="Calibri"/>
                <a:cs typeface="Calibri"/>
                <a:sym typeface="Calibri"/>
              </a:rPr>
              <a:t>Train loss ↓ but val loss ↑ → overfitting. Stop training early or add regularization.</a:t>
            </a:r>
            <a:endParaRPr sz="1000" b="0" i="0" u="none" strike="noStrike" cap="none">
              <a:solidFill>
                <a:schemeClr val="dk1"/>
              </a:solidFill>
              <a:latin typeface="Calibri"/>
              <a:ea typeface="Calibri"/>
              <a:cs typeface="Calibri"/>
              <a:sym typeface="Calibri"/>
            </a:endParaRPr>
          </a:p>
        </p:txBody>
      </p:sp>
      <p:sp>
        <p:nvSpPr>
          <p:cNvPr id="609" name="Google Shape;609;p9"/>
          <p:cNvSpPr/>
          <p:nvPr/>
        </p:nvSpPr>
        <p:spPr>
          <a:xfrm>
            <a:off x="3140938" y="4322038"/>
            <a:ext cx="201300" cy="201300"/>
          </a:xfrm>
          <a:prstGeom prst="ellipse">
            <a:avLst/>
          </a:prstGeom>
          <a:solidFill>
            <a:srgbClr val="00C9B1"/>
          </a:solidFill>
          <a:ln w="12700" cap="flat" cmpd="sng">
            <a:solidFill>
              <a:srgbClr val="00C9B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0" name="Google Shape;610;p9"/>
          <p:cNvSpPr/>
          <p:nvPr/>
        </p:nvSpPr>
        <p:spPr>
          <a:xfrm>
            <a:off x="3396970" y="4276318"/>
            <a:ext cx="2606100" cy="3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000"/>
              <a:buFont typeface="Calibri"/>
              <a:buNone/>
            </a:pPr>
            <a:r>
              <a:rPr lang="en" sz="1000" b="0" i="0" u="none" strike="noStrike" cap="none">
                <a:solidFill>
                  <a:schemeClr val="dk1"/>
                </a:solidFill>
                <a:latin typeface="Calibri"/>
                <a:ea typeface="Calibri"/>
                <a:cs typeface="Calibri"/>
                <a:sym typeface="Calibri"/>
              </a:rPr>
              <a:t>With regularization, val loss tracks train loss — the gap shrinks significantly.</a:t>
            </a:r>
            <a:endParaRPr sz="1000" b="0" i="0" u="none" strike="noStrike" cap="none">
              <a:solidFill>
                <a:schemeClr val="dk1"/>
              </a:solidFill>
              <a:latin typeface="Calibri"/>
              <a:ea typeface="Calibri"/>
              <a:cs typeface="Calibri"/>
              <a:sym typeface="Calibri"/>
            </a:endParaRPr>
          </a:p>
        </p:txBody>
      </p:sp>
      <p:sp>
        <p:nvSpPr>
          <p:cNvPr id="611" name="Google Shape;611;p9"/>
          <p:cNvSpPr/>
          <p:nvPr/>
        </p:nvSpPr>
        <p:spPr>
          <a:xfrm>
            <a:off x="6067018" y="4322038"/>
            <a:ext cx="201300" cy="201300"/>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2" name="Google Shape;612;p9"/>
          <p:cNvSpPr/>
          <p:nvPr/>
        </p:nvSpPr>
        <p:spPr>
          <a:xfrm>
            <a:off x="6323049" y="4276318"/>
            <a:ext cx="2606100" cy="3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000"/>
              <a:buFont typeface="Calibri"/>
              <a:buNone/>
            </a:pPr>
            <a:r>
              <a:rPr lang="en" sz="1000" b="0" i="0" u="none" strike="noStrike" cap="none">
                <a:solidFill>
                  <a:schemeClr val="dk1"/>
                </a:solidFill>
                <a:latin typeface="Calibri"/>
                <a:ea typeface="Calibri"/>
                <a:cs typeface="Calibri"/>
                <a:sym typeface="Calibri"/>
              </a:rPr>
              <a:t>Both losses staying high → underfitting. Increase model capacity or train longer.</a:t>
            </a:r>
            <a:endParaRPr sz="1000" b="0" i="0" u="none" strike="noStrike" cap="none">
              <a:solidFill>
                <a:schemeClr val="dk1"/>
              </a:solidFill>
              <a:latin typeface="Calibri"/>
              <a:ea typeface="Calibri"/>
              <a:cs typeface="Calibri"/>
              <a:sym typeface="Calibri"/>
            </a:endParaRPr>
          </a:p>
        </p:txBody>
      </p:sp>
      <p:pic>
        <p:nvPicPr>
          <p:cNvPr id="613" name="Google Shape;613;p9"/>
          <p:cNvPicPr preferRelativeResize="0"/>
          <p:nvPr/>
        </p:nvPicPr>
        <p:blipFill rotWithShape="1">
          <a:blip r:embed="rId5">
            <a:alphaModFix/>
          </a:blip>
          <a:srcRect/>
          <a:stretch/>
        </p:blipFill>
        <p:spPr>
          <a:xfrm>
            <a:off x="622888" y="1106523"/>
            <a:ext cx="8154275" cy="2930442"/>
          </a:xfrm>
          <a:prstGeom prst="rect">
            <a:avLst/>
          </a:prstGeom>
          <a:noFill/>
          <a:ln>
            <a:noFill/>
          </a:ln>
        </p:spPr>
      </p:pic>
      <p:sp>
        <p:nvSpPr>
          <p:cNvPr id="614" name="Google Shape;614;p9"/>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18"/>
        <p:cNvGrpSpPr/>
        <p:nvPr/>
      </p:nvGrpSpPr>
      <p:grpSpPr>
        <a:xfrm>
          <a:off x="0" y="0"/>
          <a:ext cx="0" cy="0"/>
          <a:chOff x="0" y="0"/>
          <a:chExt cx="0" cy="0"/>
        </a:xfrm>
      </p:grpSpPr>
      <p:pic>
        <p:nvPicPr>
          <p:cNvPr id="619" name="Google Shape;619;p10"/>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620" name="Google Shape;620;p10"/>
          <p:cNvSpPr/>
          <p:nvPr/>
        </p:nvSpPr>
        <p:spPr>
          <a:xfrm>
            <a:off x="228593" y="100750"/>
            <a:ext cx="8686800" cy="658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0E8F0"/>
              </a:buClr>
              <a:buSzPts val="2400"/>
              <a:buFont typeface="Calibri"/>
              <a:buNone/>
            </a:pPr>
            <a:r>
              <a:rPr lang="en" sz="2400" b="1" i="0" u="none" strike="noStrike" cap="none">
                <a:solidFill>
                  <a:schemeClr val="dk1"/>
                </a:solidFill>
                <a:latin typeface="Calibri"/>
                <a:ea typeface="Calibri"/>
                <a:cs typeface="Calibri"/>
                <a:sym typeface="Calibri"/>
              </a:rPr>
              <a:t>Regularization — Penalise Complexity</a:t>
            </a:r>
            <a:endParaRPr sz="2400" b="1" i="0" u="none" strike="noStrike" cap="none">
              <a:solidFill>
                <a:schemeClr val="dk1"/>
              </a:solidFill>
              <a:latin typeface="Calibri"/>
              <a:ea typeface="Calibri"/>
              <a:cs typeface="Calibri"/>
              <a:sym typeface="Calibri"/>
            </a:endParaRPr>
          </a:p>
        </p:txBody>
      </p:sp>
      <p:pic>
        <p:nvPicPr>
          <p:cNvPr id="621" name="Google Shape;621;p10"/>
          <p:cNvPicPr preferRelativeResize="0"/>
          <p:nvPr/>
        </p:nvPicPr>
        <p:blipFill rotWithShape="1">
          <a:blip r:embed="rId5">
            <a:alphaModFix/>
          </a:blip>
          <a:srcRect l="1390" r="1390"/>
          <a:stretch/>
        </p:blipFill>
        <p:spPr>
          <a:xfrm>
            <a:off x="4937710" y="891696"/>
            <a:ext cx="3931919" cy="2559363"/>
          </a:xfrm>
          <a:prstGeom prst="rect">
            <a:avLst/>
          </a:prstGeom>
          <a:noFill/>
          <a:ln>
            <a:noFill/>
          </a:ln>
        </p:spPr>
      </p:pic>
      <p:sp>
        <p:nvSpPr>
          <p:cNvPr id="622" name="Google Shape;622;p10"/>
          <p:cNvSpPr/>
          <p:nvPr/>
        </p:nvSpPr>
        <p:spPr>
          <a:xfrm>
            <a:off x="274320" y="777240"/>
            <a:ext cx="4480500" cy="365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C9B1"/>
              </a:buClr>
              <a:buSzPts val="1500"/>
              <a:buFont typeface="Calibri"/>
              <a:buNone/>
            </a:pPr>
            <a:r>
              <a:rPr lang="en" sz="1500" b="1" i="0" u="none" strike="noStrike" cap="none">
                <a:solidFill>
                  <a:srgbClr val="00C9B1"/>
                </a:solidFill>
                <a:latin typeface="Calibri"/>
                <a:ea typeface="Calibri"/>
                <a:cs typeface="Calibri"/>
                <a:sym typeface="Calibri"/>
              </a:rPr>
              <a:t>What is Regularization?</a:t>
            </a:r>
            <a:endParaRPr sz="1500" b="0" i="0" u="none" strike="noStrike" cap="none">
              <a:solidFill>
                <a:schemeClr val="dk1"/>
              </a:solidFill>
              <a:latin typeface="Calibri"/>
              <a:ea typeface="Calibri"/>
              <a:cs typeface="Calibri"/>
              <a:sym typeface="Calibri"/>
            </a:endParaRPr>
          </a:p>
        </p:txBody>
      </p:sp>
      <p:sp>
        <p:nvSpPr>
          <p:cNvPr id="623" name="Google Shape;623;p10"/>
          <p:cNvSpPr/>
          <p:nvPr/>
        </p:nvSpPr>
        <p:spPr>
          <a:xfrm>
            <a:off x="274320" y="1170432"/>
            <a:ext cx="4480500" cy="68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150"/>
              <a:buFont typeface="Calibri"/>
              <a:buNone/>
            </a:pPr>
            <a:r>
              <a:rPr lang="en" sz="1150" b="0" i="0" u="none" strike="noStrike" cap="none">
                <a:solidFill>
                  <a:schemeClr val="dk1"/>
                </a:solidFill>
                <a:latin typeface="Calibri"/>
                <a:ea typeface="Calibri"/>
                <a:cs typeface="Calibri"/>
                <a:sym typeface="Calibri"/>
              </a:rPr>
              <a:t>Adds a penalty term to the loss function to discourage large weights. Forces the model to stay simple and generalize better.</a:t>
            </a:r>
            <a:endParaRPr sz="1150" b="0" i="0" u="none" strike="noStrike" cap="none">
              <a:solidFill>
                <a:schemeClr val="dk1"/>
              </a:solidFill>
              <a:latin typeface="Calibri"/>
              <a:ea typeface="Calibri"/>
              <a:cs typeface="Calibri"/>
              <a:sym typeface="Calibri"/>
            </a:endParaRPr>
          </a:p>
        </p:txBody>
      </p:sp>
      <p:sp>
        <p:nvSpPr>
          <p:cNvPr id="624" name="Google Shape;624;p10"/>
          <p:cNvSpPr/>
          <p:nvPr/>
        </p:nvSpPr>
        <p:spPr>
          <a:xfrm>
            <a:off x="274320" y="1920240"/>
            <a:ext cx="4480500" cy="713100"/>
          </a:xfrm>
          <a:prstGeom prst="rect">
            <a:avLst/>
          </a:prstGeom>
          <a:solidFill>
            <a:schemeClr val="lt1"/>
          </a:solidFill>
          <a:ln w="19050" cap="flat" cmpd="sng">
            <a:solidFill>
              <a:srgbClr val="00C9B1"/>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5" name="Google Shape;625;p10"/>
          <p:cNvSpPr/>
          <p:nvPr/>
        </p:nvSpPr>
        <p:spPr>
          <a:xfrm>
            <a:off x="274320" y="1920240"/>
            <a:ext cx="54900" cy="713100"/>
          </a:xfrm>
          <a:prstGeom prst="rect">
            <a:avLst/>
          </a:prstGeom>
          <a:solidFill>
            <a:srgbClr val="00C9B1"/>
          </a:solidFill>
          <a:ln w="12700" cap="flat" cmpd="sng">
            <a:solidFill>
              <a:srgbClr val="00C9B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6" name="Google Shape;626;p10"/>
          <p:cNvSpPr/>
          <p:nvPr/>
        </p:nvSpPr>
        <p:spPr>
          <a:xfrm>
            <a:off x="457200" y="1956816"/>
            <a:ext cx="42063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C9B1"/>
              </a:buClr>
              <a:buSzPts val="1200"/>
              <a:buFont typeface="Calibri"/>
              <a:buNone/>
            </a:pPr>
            <a:r>
              <a:rPr lang="en" sz="1200" b="1" i="0" u="none" strike="noStrike" cap="none">
                <a:solidFill>
                  <a:srgbClr val="00C9B1"/>
                </a:solidFill>
                <a:latin typeface="Calibri"/>
                <a:ea typeface="Calibri"/>
                <a:cs typeface="Calibri"/>
                <a:sym typeface="Calibri"/>
              </a:rPr>
              <a:t>L2 (Ridge)</a:t>
            </a:r>
            <a:endParaRPr sz="1200" b="0" i="0" u="none" strike="noStrike" cap="none">
              <a:solidFill>
                <a:schemeClr val="dk1"/>
              </a:solidFill>
              <a:latin typeface="Calibri"/>
              <a:ea typeface="Calibri"/>
              <a:cs typeface="Calibri"/>
              <a:sym typeface="Calibri"/>
            </a:endParaRPr>
          </a:p>
        </p:txBody>
      </p:sp>
      <p:sp>
        <p:nvSpPr>
          <p:cNvPr id="627" name="Google Shape;627;p10"/>
          <p:cNvSpPr/>
          <p:nvPr/>
        </p:nvSpPr>
        <p:spPr>
          <a:xfrm>
            <a:off x="457200" y="2212848"/>
            <a:ext cx="42063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050"/>
              <a:buFont typeface="Courier New"/>
              <a:buNone/>
            </a:pPr>
            <a:r>
              <a:rPr lang="en" sz="1050" b="0" i="0" u="none" strike="noStrike" cap="none">
                <a:solidFill>
                  <a:schemeClr val="dk1"/>
                </a:solidFill>
                <a:latin typeface="Calibri"/>
                <a:ea typeface="Calibri"/>
                <a:cs typeface="Calibri"/>
                <a:sym typeface="Calibri"/>
              </a:rPr>
              <a:t>Loss + λ·Σw²   Shrinks all weights smoothly toward zero.</a:t>
            </a:r>
            <a:endParaRPr sz="1050" b="0" i="0" u="none" strike="noStrike" cap="none">
              <a:solidFill>
                <a:schemeClr val="dk1"/>
              </a:solidFill>
              <a:latin typeface="Calibri"/>
              <a:ea typeface="Calibri"/>
              <a:cs typeface="Calibri"/>
              <a:sym typeface="Calibri"/>
            </a:endParaRPr>
          </a:p>
        </p:txBody>
      </p:sp>
      <p:sp>
        <p:nvSpPr>
          <p:cNvPr id="628" name="Google Shape;628;p10"/>
          <p:cNvSpPr/>
          <p:nvPr/>
        </p:nvSpPr>
        <p:spPr>
          <a:xfrm>
            <a:off x="274320" y="2724912"/>
            <a:ext cx="4480500" cy="713100"/>
          </a:xfrm>
          <a:prstGeom prst="rect">
            <a:avLst/>
          </a:prstGeom>
          <a:solidFill>
            <a:schemeClr val="lt1"/>
          </a:solidFill>
          <a:ln w="19050" cap="flat" cmpd="sng">
            <a:solidFill>
              <a:srgbClr val="FF4B6E"/>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9" name="Google Shape;629;p10"/>
          <p:cNvSpPr/>
          <p:nvPr/>
        </p:nvSpPr>
        <p:spPr>
          <a:xfrm>
            <a:off x="274320" y="2724912"/>
            <a:ext cx="54900" cy="713100"/>
          </a:xfrm>
          <a:prstGeom prst="rect">
            <a:avLst/>
          </a:prstGeom>
          <a:solidFill>
            <a:srgbClr val="FF4B6E"/>
          </a:solidFill>
          <a:ln w="12700" cap="flat" cmpd="sng">
            <a:solidFill>
              <a:srgbClr val="FF4B6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0" name="Google Shape;630;p10"/>
          <p:cNvSpPr/>
          <p:nvPr/>
        </p:nvSpPr>
        <p:spPr>
          <a:xfrm>
            <a:off x="457200" y="2761488"/>
            <a:ext cx="42063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4B6E"/>
              </a:buClr>
              <a:buSzPts val="1200"/>
              <a:buFont typeface="Calibri"/>
              <a:buNone/>
            </a:pPr>
            <a:r>
              <a:rPr lang="en" sz="1200" b="1" i="0" u="none" strike="noStrike" cap="none">
                <a:solidFill>
                  <a:srgbClr val="FF4B6E"/>
                </a:solidFill>
                <a:latin typeface="Calibri"/>
                <a:ea typeface="Calibri"/>
                <a:cs typeface="Calibri"/>
                <a:sym typeface="Calibri"/>
              </a:rPr>
              <a:t>L1 (Lasso)</a:t>
            </a:r>
            <a:endParaRPr sz="1200" b="0" i="0" u="none" strike="noStrike" cap="none">
              <a:solidFill>
                <a:schemeClr val="dk1"/>
              </a:solidFill>
              <a:latin typeface="Calibri"/>
              <a:ea typeface="Calibri"/>
              <a:cs typeface="Calibri"/>
              <a:sym typeface="Calibri"/>
            </a:endParaRPr>
          </a:p>
        </p:txBody>
      </p:sp>
      <p:sp>
        <p:nvSpPr>
          <p:cNvPr id="631" name="Google Shape;631;p10"/>
          <p:cNvSpPr/>
          <p:nvPr/>
        </p:nvSpPr>
        <p:spPr>
          <a:xfrm>
            <a:off x="457200" y="3017520"/>
            <a:ext cx="42063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050"/>
              <a:buFont typeface="Courier New"/>
              <a:buNone/>
            </a:pPr>
            <a:r>
              <a:rPr lang="en" sz="1050" b="0" i="0" u="none" strike="noStrike" cap="none">
                <a:solidFill>
                  <a:schemeClr val="dk1"/>
                </a:solidFill>
                <a:latin typeface="Calibri"/>
                <a:ea typeface="Calibri"/>
                <a:cs typeface="Calibri"/>
                <a:sym typeface="Calibri"/>
              </a:rPr>
              <a:t>Loss + λ·Σ|w|  Drives some weights exactly to zero (feature selection).</a:t>
            </a:r>
            <a:endParaRPr sz="1050" b="0" i="0" u="none" strike="noStrike" cap="none">
              <a:solidFill>
                <a:schemeClr val="dk1"/>
              </a:solidFill>
              <a:latin typeface="Calibri"/>
              <a:ea typeface="Calibri"/>
              <a:cs typeface="Calibri"/>
              <a:sym typeface="Calibri"/>
            </a:endParaRPr>
          </a:p>
        </p:txBody>
      </p:sp>
      <p:sp>
        <p:nvSpPr>
          <p:cNvPr id="632" name="Google Shape;632;p10"/>
          <p:cNvSpPr/>
          <p:nvPr/>
        </p:nvSpPr>
        <p:spPr>
          <a:xfrm>
            <a:off x="274320" y="3584448"/>
            <a:ext cx="8595300" cy="1371600"/>
          </a:xfrm>
          <a:prstGeom prst="rect">
            <a:avLst/>
          </a:prstGeom>
          <a:solidFill>
            <a:schemeClr val="lt1"/>
          </a:solidFill>
          <a:ln w="12700" cap="flat" cmpd="sng">
            <a:solidFill>
              <a:srgbClr val="00C9B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3" name="Google Shape;633;p10"/>
          <p:cNvSpPr/>
          <p:nvPr/>
        </p:nvSpPr>
        <p:spPr>
          <a:xfrm>
            <a:off x="384048" y="3657600"/>
            <a:ext cx="8376000" cy="1225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 Sklearn: Ridge (L2) &amp; Lasso (L1)</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from sklearn.linear_model import Ridge, Lasso</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050"/>
              <a:buFont typeface="Calibri"/>
              <a:buNone/>
            </a:pP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ridge = Ridge(alpha=1.0)    # alpha = λ</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ridge.fit(X_train, y_train)</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050"/>
              <a:buFont typeface="Calibri"/>
              <a:buNone/>
            </a:pP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lasso = Lasso(alpha=0.1)</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lasso.fit(X_train, y_train)</a:t>
            </a:r>
            <a:endParaRPr sz="1050" b="0" i="0" u="none" strike="noStrike" cap="none">
              <a:solidFill>
                <a:schemeClr val="dk1"/>
              </a:solidFill>
              <a:latin typeface="Calibri"/>
              <a:ea typeface="Calibri"/>
              <a:cs typeface="Calibri"/>
              <a:sym typeface="Calibri"/>
            </a:endParaRPr>
          </a:p>
        </p:txBody>
      </p:sp>
      <p:sp>
        <p:nvSpPr>
          <p:cNvPr id="634" name="Google Shape;634;p10"/>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8"/>
        <p:cNvGrpSpPr/>
        <p:nvPr/>
      </p:nvGrpSpPr>
      <p:grpSpPr>
        <a:xfrm>
          <a:off x="0" y="0"/>
          <a:ext cx="0" cy="0"/>
          <a:chOff x="0" y="0"/>
          <a:chExt cx="0" cy="0"/>
        </a:xfrm>
      </p:grpSpPr>
      <p:pic>
        <p:nvPicPr>
          <p:cNvPr id="639" name="Google Shape;639;p11"/>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640" name="Google Shape;640;p11"/>
          <p:cNvSpPr/>
          <p:nvPr/>
        </p:nvSpPr>
        <p:spPr>
          <a:xfrm>
            <a:off x="228593" y="100750"/>
            <a:ext cx="8686800" cy="658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0E8F0"/>
              </a:buClr>
              <a:buSzPts val="2400"/>
              <a:buFont typeface="Calibri"/>
              <a:buNone/>
            </a:pPr>
            <a:r>
              <a:rPr lang="en" sz="2400" b="1" i="0" u="none" strike="noStrike" cap="none">
                <a:solidFill>
                  <a:schemeClr val="dk1"/>
                </a:solidFill>
                <a:latin typeface="Calibri"/>
                <a:ea typeface="Calibri"/>
                <a:cs typeface="Calibri"/>
                <a:sym typeface="Calibri"/>
              </a:rPr>
              <a:t>L1 vs L2 — Geometry &amp; Sparsity</a:t>
            </a:r>
            <a:endParaRPr sz="2400" b="1" i="0" u="none" strike="noStrike" cap="none">
              <a:solidFill>
                <a:schemeClr val="dk1"/>
              </a:solidFill>
              <a:latin typeface="Calibri"/>
              <a:ea typeface="Calibri"/>
              <a:cs typeface="Calibri"/>
              <a:sym typeface="Calibri"/>
            </a:endParaRPr>
          </a:p>
        </p:txBody>
      </p:sp>
      <p:sp>
        <p:nvSpPr>
          <p:cNvPr id="641" name="Google Shape;641;p11"/>
          <p:cNvSpPr/>
          <p:nvPr/>
        </p:nvSpPr>
        <p:spPr>
          <a:xfrm>
            <a:off x="274325" y="981324"/>
            <a:ext cx="4206300" cy="2763000"/>
          </a:xfrm>
          <a:prstGeom prst="rect">
            <a:avLst/>
          </a:prstGeom>
          <a:solidFill>
            <a:schemeClr val="lt1"/>
          </a:solidFill>
          <a:ln w="19050" cap="flat" cmpd="sng">
            <a:solidFill>
              <a:srgbClr val="FF4B6E"/>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2" name="Google Shape;642;p11"/>
          <p:cNvSpPr/>
          <p:nvPr/>
        </p:nvSpPr>
        <p:spPr>
          <a:xfrm>
            <a:off x="274325" y="981324"/>
            <a:ext cx="54900" cy="2763000"/>
          </a:xfrm>
          <a:prstGeom prst="rect">
            <a:avLst/>
          </a:prstGeom>
          <a:solidFill>
            <a:srgbClr val="FF4B6E"/>
          </a:solidFill>
          <a:ln w="12700" cap="flat" cmpd="sng">
            <a:solidFill>
              <a:srgbClr val="FF4B6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3" name="Google Shape;643;p11"/>
          <p:cNvSpPr/>
          <p:nvPr/>
        </p:nvSpPr>
        <p:spPr>
          <a:xfrm>
            <a:off x="457205" y="1024495"/>
            <a:ext cx="3931800" cy="34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4B6E"/>
              </a:buClr>
              <a:buSzPts val="1600"/>
              <a:buFont typeface="Calibri"/>
              <a:buNone/>
            </a:pPr>
            <a:r>
              <a:rPr lang="en" sz="1600" b="1" i="0" u="none" strike="noStrike" cap="none">
                <a:solidFill>
                  <a:srgbClr val="FF4B6E"/>
                </a:solidFill>
                <a:latin typeface="Calibri"/>
                <a:ea typeface="Calibri"/>
                <a:cs typeface="Calibri"/>
                <a:sym typeface="Calibri"/>
              </a:rPr>
              <a:t>L1 — Lasso</a:t>
            </a:r>
            <a:endParaRPr sz="1600" b="0" i="0" u="none" strike="noStrike" cap="none">
              <a:solidFill>
                <a:schemeClr val="dk1"/>
              </a:solidFill>
              <a:latin typeface="Calibri"/>
              <a:ea typeface="Calibri"/>
              <a:cs typeface="Calibri"/>
              <a:sym typeface="Calibri"/>
            </a:endParaRPr>
          </a:p>
        </p:txBody>
      </p:sp>
      <p:sp>
        <p:nvSpPr>
          <p:cNvPr id="644" name="Google Shape;644;p11"/>
          <p:cNvSpPr/>
          <p:nvPr/>
        </p:nvSpPr>
        <p:spPr>
          <a:xfrm>
            <a:off x="457205" y="1343955"/>
            <a:ext cx="3931800" cy="258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899AA"/>
              </a:buClr>
              <a:buSzPts val="1100"/>
              <a:buFont typeface="Calibri"/>
              <a:buNone/>
            </a:pPr>
            <a:r>
              <a:rPr lang="en" sz="1100" b="0" i="1" u="none" strike="noStrike" cap="none">
                <a:solidFill>
                  <a:srgbClr val="8899AA"/>
                </a:solidFill>
                <a:latin typeface="Calibri"/>
                <a:ea typeface="Calibri"/>
                <a:cs typeface="Calibri"/>
                <a:sym typeface="Calibri"/>
              </a:rPr>
              <a:t>Constraint: diamond shape</a:t>
            </a:r>
            <a:endParaRPr sz="1100" b="0" i="0" u="none" strike="noStrike" cap="none">
              <a:solidFill>
                <a:schemeClr val="dk1"/>
              </a:solidFill>
              <a:latin typeface="Calibri"/>
              <a:ea typeface="Calibri"/>
              <a:cs typeface="Calibri"/>
              <a:sym typeface="Calibri"/>
            </a:endParaRPr>
          </a:p>
        </p:txBody>
      </p:sp>
      <p:sp>
        <p:nvSpPr>
          <p:cNvPr id="645" name="Google Shape;645;p11"/>
          <p:cNvSpPr/>
          <p:nvPr/>
        </p:nvSpPr>
        <p:spPr>
          <a:xfrm>
            <a:off x="457205" y="2230000"/>
            <a:ext cx="3931800" cy="1410811"/>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dk1"/>
              </a:buClr>
              <a:buSzPts val="1400"/>
              <a:buFont typeface="Calibri"/>
              <a:buChar char="•"/>
            </a:pPr>
            <a:r>
              <a:rPr lang="en" sz="1400" b="0" i="0" u="none" strike="noStrike" cap="none">
                <a:solidFill>
                  <a:schemeClr val="dk1"/>
                </a:solidFill>
                <a:latin typeface="Calibri"/>
                <a:ea typeface="Calibri"/>
                <a:cs typeface="Calibri"/>
                <a:sym typeface="Calibri"/>
              </a:rPr>
              <a:t>Penalty: λ · Σ|wᵢ|</a:t>
            </a:r>
            <a:endParaRPr sz="14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400"/>
              <a:buFont typeface="Calibri"/>
              <a:buChar char="•"/>
            </a:pPr>
            <a:r>
              <a:rPr lang="en" sz="1400" b="0" i="0" u="none" strike="noStrike" cap="none">
                <a:solidFill>
                  <a:schemeClr val="dk1"/>
                </a:solidFill>
                <a:latin typeface="Calibri"/>
                <a:ea typeface="Calibri"/>
                <a:cs typeface="Calibri"/>
                <a:sym typeface="Calibri"/>
              </a:rPr>
              <a:t>Creates sparse models (weights → 0)</a:t>
            </a:r>
            <a:endParaRPr sz="14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400"/>
              <a:buFont typeface="Calibri"/>
              <a:buChar char="•"/>
            </a:pPr>
            <a:r>
              <a:rPr lang="en" sz="1400" b="0" i="0" u="none" strike="noStrike" cap="none">
                <a:solidFill>
                  <a:schemeClr val="dk1"/>
                </a:solidFill>
                <a:latin typeface="Calibri"/>
                <a:ea typeface="Calibri"/>
                <a:cs typeface="Calibri"/>
                <a:sym typeface="Calibri"/>
              </a:rPr>
              <a:t>Good for feature selection</a:t>
            </a:r>
            <a:endParaRPr sz="14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400"/>
              <a:buFont typeface="Calibri"/>
              <a:buChar char="•"/>
            </a:pPr>
            <a:r>
              <a:rPr lang="en" sz="1400" b="0" i="0" u="none" strike="noStrike" cap="none">
                <a:solidFill>
                  <a:schemeClr val="dk1"/>
                </a:solidFill>
                <a:latin typeface="Calibri"/>
                <a:ea typeface="Calibri"/>
                <a:cs typeface="Calibri"/>
                <a:sym typeface="Calibri"/>
              </a:rPr>
              <a:t>Non-differentiable at 0</a:t>
            </a:r>
            <a:endParaRPr sz="14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400"/>
              <a:buFont typeface="Calibri"/>
              <a:buChar char="•"/>
            </a:pPr>
            <a:r>
              <a:rPr lang="en" sz="1400" b="0" i="0" u="none" strike="noStrike" cap="none">
                <a:solidFill>
                  <a:schemeClr val="dk1"/>
                </a:solidFill>
                <a:latin typeface="Calibri"/>
                <a:ea typeface="Calibri"/>
                <a:cs typeface="Calibri"/>
                <a:sym typeface="Calibri"/>
              </a:rPr>
              <a:t>Solver: coordinate descent</a:t>
            </a:r>
            <a:endParaRPr sz="1400" b="0" i="0" u="none" strike="noStrike" cap="none">
              <a:solidFill>
                <a:schemeClr val="dk1"/>
              </a:solidFill>
              <a:latin typeface="Calibri"/>
              <a:ea typeface="Calibri"/>
              <a:cs typeface="Calibri"/>
              <a:sym typeface="Calibri"/>
            </a:endParaRPr>
          </a:p>
        </p:txBody>
      </p:sp>
      <p:sp>
        <p:nvSpPr>
          <p:cNvPr id="646" name="Google Shape;646;p11"/>
          <p:cNvSpPr/>
          <p:nvPr/>
        </p:nvSpPr>
        <p:spPr>
          <a:xfrm>
            <a:off x="274325" y="3778760"/>
            <a:ext cx="4206300" cy="1122300"/>
          </a:xfrm>
          <a:prstGeom prst="rect">
            <a:avLst/>
          </a:prstGeom>
          <a:solidFill>
            <a:schemeClr val="lt1"/>
          </a:solidFill>
          <a:ln w="12700" cap="flat" cmpd="sng">
            <a:solidFill>
              <a:srgbClr val="00C9B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7" name="Google Shape;647;p11"/>
          <p:cNvSpPr/>
          <p:nvPr/>
        </p:nvSpPr>
        <p:spPr>
          <a:xfrm>
            <a:off x="384053" y="3847832"/>
            <a:ext cx="3986700" cy="98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9CDCFE"/>
              </a:buClr>
              <a:buSzPts val="1000"/>
              <a:buFont typeface="Courier New"/>
              <a:buNone/>
            </a:pPr>
            <a:r>
              <a:rPr lang="en" sz="1400" b="0" i="0" u="none" strike="noStrike" cap="none">
                <a:solidFill>
                  <a:schemeClr val="dk1"/>
                </a:solidFill>
                <a:latin typeface="Calibri"/>
                <a:ea typeface="Calibri"/>
                <a:cs typeface="Calibri"/>
                <a:sym typeface="Calibri"/>
              </a:rPr>
              <a:t># L1 pushes weights to zero</a:t>
            </a: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400" b="0" i="0" u="none" strike="noStrike" cap="none">
                <a:solidFill>
                  <a:schemeClr val="dk1"/>
                </a:solidFill>
                <a:latin typeface="Calibri"/>
                <a:ea typeface="Calibri"/>
                <a:cs typeface="Calibri"/>
                <a:sym typeface="Calibri"/>
              </a:rPr>
              <a:t>lasso = Lasso(alpha=0.5)</a:t>
            </a: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400" b="0" i="0" u="none" strike="noStrike" cap="none">
                <a:solidFill>
                  <a:schemeClr val="dk1"/>
                </a:solidFill>
                <a:latin typeface="Calibri"/>
                <a:ea typeface="Calibri"/>
                <a:cs typeface="Calibri"/>
                <a:sym typeface="Calibri"/>
              </a:rPr>
              <a:t>print(lasso.coef_)</a:t>
            </a: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400" b="0" i="0" u="none" strike="noStrike" cap="none">
                <a:solidFill>
                  <a:schemeClr val="dk1"/>
                </a:solidFill>
                <a:latin typeface="Calibri"/>
                <a:ea typeface="Calibri"/>
                <a:cs typeface="Calibri"/>
                <a:sym typeface="Calibri"/>
              </a:rPr>
              <a:t># → [0. 1.23 0. 0. 0.87]</a:t>
            </a:r>
            <a:endParaRPr sz="1400" b="0" i="0" u="none" strike="noStrike" cap="none">
              <a:solidFill>
                <a:schemeClr val="dk1"/>
              </a:solidFill>
              <a:latin typeface="Calibri"/>
              <a:ea typeface="Calibri"/>
              <a:cs typeface="Calibri"/>
              <a:sym typeface="Calibri"/>
            </a:endParaRPr>
          </a:p>
        </p:txBody>
      </p:sp>
      <p:sp>
        <p:nvSpPr>
          <p:cNvPr id="648" name="Google Shape;648;p11"/>
          <p:cNvSpPr/>
          <p:nvPr/>
        </p:nvSpPr>
        <p:spPr>
          <a:xfrm>
            <a:off x="4709157" y="981324"/>
            <a:ext cx="4206300" cy="2763000"/>
          </a:xfrm>
          <a:prstGeom prst="rect">
            <a:avLst/>
          </a:prstGeom>
          <a:solidFill>
            <a:schemeClr val="lt1"/>
          </a:solidFill>
          <a:ln w="19050" cap="flat" cmpd="sng">
            <a:solidFill>
              <a:srgbClr val="00C9B1"/>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9" name="Google Shape;649;p11"/>
          <p:cNvSpPr/>
          <p:nvPr/>
        </p:nvSpPr>
        <p:spPr>
          <a:xfrm>
            <a:off x="4709157" y="981324"/>
            <a:ext cx="54900" cy="2763000"/>
          </a:xfrm>
          <a:prstGeom prst="rect">
            <a:avLst/>
          </a:prstGeom>
          <a:solidFill>
            <a:srgbClr val="00C9B1"/>
          </a:solidFill>
          <a:ln w="12700" cap="flat" cmpd="sng">
            <a:solidFill>
              <a:srgbClr val="00C9B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0" name="Google Shape;650;p11"/>
          <p:cNvSpPr/>
          <p:nvPr/>
        </p:nvSpPr>
        <p:spPr>
          <a:xfrm>
            <a:off x="4892037" y="1024495"/>
            <a:ext cx="3931800" cy="34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C9B1"/>
              </a:buClr>
              <a:buSzPts val="1600"/>
              <a:buFont typeface="Calibri"/>
              <a:buNone/>
            </a:pPr>
            <a:r>
              <a:rPr lang="en" sz="1600" b="1" i="0" u="none" strike="noStrike" cap="none">
                <a:solidFill>
                  <a:srgbClr val="00C9B1"/>
                </a:solidFill>
                <a:latin typeface="Calibri"/>
                <a:ea typeface="Calibri"/>
                <a:cs typeface="Calibri"/>
                <a:sym typeface="Calibri"/>
              </a:rPr>
              <a:t>L2 — Ridge</a:t>
            </a:r>
            <a:endParaRPr sz="1600" b="0" i="0" u="none" strike="noStrike" cap="none">
              <a:solidFill>
                <a:schemeClr val="dk1"/>
              </a:solidFill>
              <a:latin typeface="Calibri"/>
              <a:ea typeface="Calibri"/>
              <a:cs typeface="Calibri"/>
              <a:sym typeface="Calibri"/>
            </a:endParaRPr>
          </a:p>
        </p:txBody>
      </p:sp>
      <p:sp>
        <p:nvSpPr>
          <p:cNvPr id="651" name="Google Shape;651;p11"/>
          <p:cNvSpPr/>
          <p:nvPr/>
        </p:nvSpPr>
        <p:spPr>
          <a:xfrm>
            <a:off x="4892037" y="1343955"/>
            <a:ext cx="3931800" cy="258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899AA"/>
              </a:buClr>
              <a:buSzPts val="1100"/>
              <a:buFont typeface="Calibri"/>
              <a:buNone/>
            </a:pPr>
            <a:r>
              <a:rPr lang="en" sz="1100" b="0" i="1" u="none" strike="noStrike" cap="none">
                <a:solidFill>
                  <a:srgbClr val="8899AA"/>
                </a:solidFill>
                <a:latin typeface="Calibri"/>
                <a:ea typeface="Calibri"/>
                <a:cs typeface="Calibri"/>
                <a:sym typeface="Calibri"/>
              </a:rPr>
              <a:t>Constraint: circle shape</a:t>
            </a:r>
            <a:endParaRPr sz="1100" b="0" i="0" u="none" strike="noStrike" cap="none">
              <a:solidFill>
                <a:schemeClr val="dk1"/>
              </a:solidFill>
              <a:latin typeface="Calibri"/>
              <a:ea typeface="Calibri"/>
              <a:cs typeface="Calibri"/>
              <a:sym typeface="Calibri"/>
            </a:endParaRPr>
          </a:p>
        </p:txBody>
      </p:sp>
      <p:sp>
        <p:nvSpPr>
          <p:cNvPr id="652" name="Google Shape;652;p11"/>
          <p:cNvSpPr/>
          <p:nvPr/>
        </p:nvSpPr>
        <p:spPr>
          <a:xfrm>
            <a:off x="4892037" y="2230000"/>
            <a:ext cx="3931800" cy="1410811"/>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dk1"/>
              </a:buClr>
              <a:buSzPts val="1400"/>
              <a:buFont typeface="Calibri"/>
              <a:buChar char="•"/>
            </a:pPr>
            <a:r>
              <a:rPr lang="en" sz="1400" b="0" i="0" u="none" strike="noStrike" cap="none">
                <a:solidFill>
                  <a:schemeClr val="dk1"/>
                </a:solidFill>
                <a:latin typeface="Calibri"/>
                <a:ea typeface="Calibri"/>
                <a:cs typeface="Calibri"/>
                <a:sym typeface="Calibri"/>
              </a:rPr>
              <a:t>Penalty: λ · Σwᵢ²</a:t>
            </a:r>
            <a:endParaRPr sz="14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400"/>
              <a:buFont typeface="Calibri"/>
              <a:buChar char="•"/>
            </a:pPr>
            <a:r>
              <a:rPr lang="en" sz="1400" b="0" i="0" u="none" strike="noStrike" cap="none">
                <a:solidFill>
                  <a:schemeClr val="dk1"/>
                </a:solidFill>
                <a:latin typeface="Calibri"/>
                <a:ea typeface="Calibri"/>
                <a:cs typeface="Calibri"/>
                <a:sym typeface="Calibri"/>
              </a:rPr>
              <a:t>Shrinks all weights uniformly</a:t>
            </a:r>
            <a:endParaRPr sz="14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400"/>
              <a:buFont typeface="Calibri"/>
              <a:buChar char="•"/>
            </a:pPr>
            <a:r>
              <a:rPr lang="en" sz="1400" b="0" i="0" u="none" strike="noStrike" cap="none">
                <a:solidFill>
                  <a:schemeClr val="dk1"/>
                </a:solidFill>
                <a:latin typeface="Calibri"/>
                <a:ea typeface="Calibri"/>
                <a:cs typeface="Calibri"/>
                <a:sym typeface="Calibri"/>
              </a:rPr>
              <a:t>No exact zeros — keeps all features</a:t>
            </a:r>
            <a:endParaRPr sz="14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400"/>
              <a:buFont typeface="Calibri"/>
              <a:buChar char="•"/>
            </a:pPr>
            <a:r>
              <a:rPr lang="en" sz="1400" b="0" i="0" u="none" strike="noStrike" cap="none">
                <a:solidFill>
                  <a:schemeClr val="dk1"/>
                </a:solidFill>
                <a:latin typeface="Calibri"/>
                <a:ea typeface="Calibri"/>
                <a:cs typeface="Calibri"/>
                <a:sym typeface="Calibri"/>
              </a:rPr>
              <a:t>Differentiable everywhere</a:t>
            </a:r>
            <a:endParaRPr sz="14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400"/>
              <a:buFont typeface="Calibri"/>
              <a:buChar char="•"/>
            </a:pPr>
            <a:r>
              <a:rPr lang="en" sz="1400" b="0" i="0" u="none" strike="noStrike" cap="none">
                <a:solidFill>
                  <a:schemeClr val="dk1"/>
                </a:solidFill>
                <a:latin typeface="Calibri"/>
                <a:ea typeface="Calibri"/>
                <a:cs typeface="Calibri"/>
                <a:sym typeface="Calibri"/>
              </a:rPr>
              <a:t>Has analytical closed-form solution</a:t>
            </a:r>
            <a:endParaRPr sz="1400" b="0" i="0" u="none" strike="noStrike" cap="none">
              <a:solidFill>
                <a:schemeClr val="dk1"/>
              </a:solidFill>
              <a:latin typeface="Calibri"/>
              <a:ea typeface="Calibri"/>
              <a:cs typeface="Calibri"/>
              <a:sym typeface="Calibri"/>
            </a:endParaRPr>
          </a:p>
        </p:txBody>
      </p:sp>
      <p:sp>
        <p:nvSpPr>
          <p:cNvPr id="653" name="Google Shape;653;p11"/>
          <p:cNvSpPr/>
          <p:nvPr/>
        </p:nvSpPr>
        <p:spPr>
          <a:xfrm>
            <a:off x="4709157" y="3778760"/>
            <a:ext cx="4206300" cy="1122300"/>
          </a:xfrm>
          <a:prstGeom prst="rect">
            <a:avLst/>
          </a:prstGeom>
          <a:solidFill>
            <a:schemeClr val="lt1"/>
          </a:solidFill>
          <a:ln w="12700" cap="flat" cmpd="sng">
            <a:solidFill>
              <a:srgbClr val="00C9B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4" name="Google Shape;654;p11"/>
          <p:cNvSpPr/>
          <p:nvPr/>
        </p:nvSpPr>
        <p:spPr>
          <a:xfrm>
            <a:off x="4818885" y="3847832"/>
            <a:ext cx="3986700" cy="98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9CDCFE"/>
              </a:buClr>
              <a:buSzPts val="1000"/>
              <a:buFont typeface="Courier New"/>
              <a:buNone/>
            </a:pPr>
            <a:r>
              <a:rPr lang="en" sz="1400" b="0" i="0" u="none" strike="noStrike" cap="none">
                <a:solidFill>
                  <a:schemeClr val="dk1"/>
                </a:solidFill>
                <a:latin typeface="Calibri"/>
                <a:ea typeface="Calibri"/>
                <a:cs typeface="Calibri"/>
                <a:sym typeface="Calibri"/>
              </a:rPr>
              <a:t># L2 shrinks weights evenly</a:t>
            </a: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400" b="0" i="0" u="none" strike="noStrike" cap="none">
                <a:solidFill>
                  <a:schemeClr val="dk1"/>
                </a:solidFill>
                <a:latin typeface="Calibri"/>
                <a:ea typeface="Calibri"/>
                <a:cs typeface="Calibri"/>
                <a:sym typeface="Calibri"/>
              </a:rPr>
              <a:t>ridge = Ridge(alpha=1.0)</a:t>
            </a: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400" b="0" i="0" u="none" strike="noStrike" cap="none">
                <a:solidFill>
                  <a:schemeClr val="dk1"/>
                </a:solidFill>
                <a:latin typeface="Calibri"/>
                <a:ea typeface="Calibri"/>
                <a:cs typeface="Calibri"/>
                <a:sym typeface="Calibri"/>
              </a:rPr>
              <a:t>print(ridge.coef_)</a:t>
            </a: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400" b="0" i="0" u="none" strike="noStrike" cap="none">
                <a:solidFill>
                  <a:schemeClr val="dk1"/>
                </a:solidFill>
                <a:latin typeface="Calibri"/>
                <a:ea typeface="Calibri"/>
                <a:cs typeface="Calibri"/>
                <a:sym typeface="Calibri"/>
              </a:rPr>
              <a:t># → [0.12 0.88 0.03 0.21 0.75]</a:t>
            </a:r>
            <a:endParaRPr sz="1400" b="0" i="0" u="none" strike="noStrike" cap="none">
              <a:solidFill>
                <a:schemeClr val="dk1"/>
              </a:solidFill>
              <a:latin typeface="Calibri"/>
              <a:ea typeface="Calibri"/>
              <a:cs typeface="Calibri"/>
              <a:sym typeface="Calibri"/>
            </a:endParaRPr>
          </a:p>
        </p:txBody>
      </p:sp>
      <p:sp>
        <p:nvSpPr>
          <p:cNvPr id="655" name="Google Shape;655;p11"/>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26</a:t>
            </a:r>
            <a:endParaRPr/>
          </a:p>
        </p:txBody>
      </p:sp>
      <p:sp>
        <p:nvSpPr>
          <p:cNvPr id="656" name="Google Shape;656;p11"/>
          <p:cNvSpPr/>
          <p:nvPr/>
        </p:nvSpPr>
        <p:spPr>
          <a:xfrm>
            <a:off x="2173105" y="1670000"/>
            <a:ext cx="500000" cy="500000"/>
          </a:xfrm>
          <a:prstGeom prst="diamond">
            <a:avLst/>
          </a:prstGeom>
          <a:solidFill>
            <a:srgbClr val="FF4B6E">
              <a:alpha val="18039"/>
            </a:srgbClr>
          </a:solidFill>
          <a:ln w="19050" cap="flat" cmpd="sng">
            <a:solidFill>
              <a:srgbClr val="FF4B6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57" name="Google Shape;657;p11"/>
          <p:cNvSpPr/>
          <p:nvPr/>
        </p:nvSpPr>
        <p:spPr>
          <a:xfrm>
            <a:off x="2378105" y="1625000"/>
            <a:ext cx="90000" cy="90000"/>
          </a:xfrm>
          <a:prstGeom prst="ellipse">
            <a:avLst/>
          </a:prstGeom>
          <a:solidFill>
            <a:srgbClr val="FF4B6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58" name="Google Shape;658;p11"/>
          <p:cNvSpPr/>
          <p:nvPr/>
        </p:nvSpPr>
        <p:spPr>
          <a:xfrm>
            <a:off x="6607937" y="1670000"/>
            <a:ext cx="500000" cy="500000"/>
          </a:xfrm>
          <a:prstGeom prst="ellipse">
            <a:avLst/>
          </a:prstGeom>
          <a:solidFill>
            <a:srgbClr val="00C9B1">
              <a:alpha val="18039"/>
            </a:srgbClr>
          </a:solidFill>
          <a:ln w="19050" cap="flat" cmpd="sng">
            <a:solidFill>
              <a:srgbClr val="00C9B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59" name="Google Shape;659;p11"/>
          <p:cNvSpPr/>
          <p:nvPr/>
        </p:nvSpPr>
        <p:spPr>
          <a:xfrm>
            <a:off x="7062937" y="1875000"/>
            <a:ext cx="90000" cy="90000"/>
          </a:xfrm>
          <a:prstGeom prst="ellipse">
            <a:avLst/>
          </a:prstGeom>
          <a:solidFill>
            <a:srgbClr val="00C9B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63"/>
        <p:cNvGrpSpPr/>
        <p:nvPr/>
      </p:nvGrpSpPr>
      <p:grpSpPr>
        <a:xfrm>
          <a:off x="0" y="0"/>
          <a:ext cx="0" cy="0"/>
          <a:chOff x="0" y="0"/>
          <a:chExt cx="0" cy="0"/>
        </a:xfrm>
      </p:grpSpPr>
      <p:pic>
        <p:nvPicPr>
          <p:cNvPr id="664" name="Google Shape;664;p12"/>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665" name="Google Shape;665;p12"/>
          <p:cNvSpPr/>
          <p:nvPr/>
        </p:nvSpPr>
        <p:spPr>
          <a:xfrm>
            <a:off x="228600" y="100750"/>
            <a:ext cx="8332800" cy="658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0E8F0"/>
              </a:buClr>
              <a:buSzPts val="2400"/>
              <a:buFont typeface="Calibri"/>
              <a:buNone/>
            </a:pPr>
            <a:r>
              <a:rPr lang="en" sz="2400" b="1" i="0" u="none" strike="noStrike" cap="none">
                <a:solidFill>
                  <a:schemeClr val="dk1"/>
                </a:solidFill>
                <a:latin typeface="Calibri"/>
                <a:ea typeface="Calibri"/>
                <a:cs typeface="Calibri"/>
                <a:sym typeface="Calibri"/>
              </a:rPr>
              <a:t>More Regularization Techniques — Dropout &amp; Early Stopping</a:t>
            </a:r>
            <a:endParaRPr sz="2400" b="1" i="0" u="none" strike="noStrike" cap="none">
              <a:solidFill>
                <a:schemeClr val="dk1"/>
              </a:solidFill>
              <a:latin typeface="Calibri"/>
              <a:ea typeface="Calibri"/>
              <a:cs typeface="Calibri"/>
              <a:sym typeface="Calibri"/>
            </a:endParaRPr>
          </a:p>
        </p:txBody>
      </p:sp>
      <p:sp>
        <p:nvSpPr>
          <p:cNvPr id="666" name="Google Shape;666;p12"/>
          <p:cNvSpPr/>
          <p:nvPr/>
        </p:nvSpPr>
        <p:spPr>
          <a:xfrm>
            <a:off x="274325" y="976875"/>
            <a:ext cx="4114800" cy="2044500"/>
          </a:xfrm>
          <a:prstGeom prst="rect">
            <a:avLst/>
          </a:prstGeom>
          <a:solidFill>
            <a:schemeClr val="lt1"/>
          </a:solidFill>
          <a:ln w="19050" cap="flat" cmpd="sng">
            <a:solidFill>
              <a:srgbClr val="00C9B1"/>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7" name="Google Shape;667;p12"/>
          <p:cNvSpPr/>
          <p:nvPr/>
        </p:nvSpPr>
        <p:spPr>
          <a:xfrm>
            <a:off x="274325" y="976875"/>
            <a:ext cx="54900" cy="2044500"/>
          </a:xfrm>
          <a:prstGeom prst="rect">
            <a:avLst/>
          </a:prstGeom>
          <a:solidFill>
            <a:srgbClr val="00C9B1"/>
          </a:solidFill>
          <a:ln w="12700" cap="flat" cmpd="sng">
            <a:solidFill>
              <a:srgbClr val="00C9B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8" name="Google Shape;668;p12"/>
          <p:cNvSpPr/>
          <p:nvPr/>
        </p:nvSpPr>
        <p:spPr>
          <a:xfrm>
            <a:off x="457205" y="1020372"/>
            <a:ext cx="3840600" cy="330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C9B1"/>
              </a:buClr>
              <a:buSzPts val="1500"/>
              <a:buFont typeface="Calibri"/>
              <a:buNone/>
            </a:pPr>
            <a:r>
              <a:rPr lang="en" sz="1500" b="1" i="0" u="none" strike="noStrike" cap="none">
                <a:solidFill>
                  <a:srgbClr val="00C9B1"/>
                </a:solidFill>
                <a:latin typeface="Calibri"/>
                <a:ea typeface="Calibri"/>
                <a:cs typeface="Calibri"/>
                <a:sym typeface="Calibri"/>
              </a:rPr>
              <a:t>Dropout</a:t>
            </a:r>
            <a:endParaRPr sz="1500" b="0" i="0" u="none" strike="noStrike" cap="none">
              <a:solidFill>
                <a:schemeClr val="dk1"/>
              </a:solidFill>
              <a:latin typeface="Calibri"/>
              <a:ea typeface="Calibri"/>
              <a:cs typeface="Calibri"/>
              <a:sym typeface="Calibri"/>
            </a:endParaRPr>
          </a:p>
        </p:txBody>
      </p:sp>
      <p:sp>
        <p:nvSpPr>
          <p:cNvPr id="669" name="Google Shape;669;p12"/>
          <p:cNvSpPr/>
          <p:nvPr/>
        </p:nvSpPr>
        <p:spPr>
          <a:xfrm>
            <a:off x="457205" y="1350948"/>
            <a:ext cx="3840600" cy="739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100"/>
              <a:buFont typeface="Calibri"/>
              <a:buNone/>
            </a:pPr>
            <a:r>
              <a:rPr lang="en" sz="1100" b="0" i="0" u="none" strike="noStrike" cap="none">
                <a:solidFill>
                  <a:schemeClr val="dk1"/>
                </a:solidFill>
                <a:latin typeface="Calibri"/>
                <a:ea typeface="Calibri"/>
                <a:cs typeface="Calibri"/>
                <a:sym typeface="Calibri"/>
              </a:rPr>
              <a:t>Randomly zero-out neurons during training (rate p). Forces network to learn redundant representations and prevents co-adaptation.</a:t>
            </a:r>
            <a:endParaRPr sz="1100" b="0" i="0" u="none" strike="noStrike" cap="none">
              <a:solidFill>
                <a:schemeClr val="dk1"/>
              </a:solidFill>
              <a:latin typeface="Calibri"/>
              <a:ea typeface="Calibri"/>
              <a:cs typeface="Calibri"/>
              <a:sym typeface="Calibri"/>
            </a:endParaRPr>
          </a:p>
        </p:txBody>
      </p:sp>
      <p:sp>
        <p:nvSpPr>
          <p:cNvPr id="670" name="Google Shape;670;p12"/>
          <p:cNvSpPr/>
          <p:nvPr/>
        </p:nvSpPr>
        <p:spPr>
          <a:xfrm>
            <a:off x="274325" y="3056025"/>
            <a:ext cx="4114800" cy="1827000"/>
          </a:xfrm>
          <a:prstGeom prst="rect">
            <a:avLst/>
          </a:prstGeom>
          <a:solidFill>
            <a:schemeClr val="lt1"/>
          </a:solidFill>
          <a:ln w="12700" cap="flat" cmpd="sng">
            <a:solidFill>
              <a:srgbClr val="00C9B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1" name="Google Shape;671;p12"/>
          <p:cNvSpPr/>
          <p:nvPr/>
        </p:nvSpPr>
        <p:spPr>
          <a:xfrm>
            <a:off x="384053" y="3125620"/>
            <a:ext cx="3895200" cy="1687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9CDCFE"/>
              </a:buClr>
              <a:buSzPts val="1000"/>
              <a:buFont typeface="Courier New"/>
              <a:buNone/>
            </a:pPr>
            <a:r>
              <a:rPr lang="en" sz="1200" b="0" i="0" u="none" strike="noStrike" cap="none">
                <a:solidFill>
                  <a:schemeClr val="dk1"/>
                </a:solidFill>
                <a:latin typeface="Calibri"/>
                <a:ea typeface="Calibri"/>
                <a:cs typeface="Calibri"/>
                <a:sym typeface="Calibri"/>
              </a:rPr>
              <a:t>import torch.nn as nn</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0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200" b="0" i="0" u="none" strike="noStrike" cap="none">
                <a:solidFill>
                  <a:schemeClr val="dk1"/>
                </a:solidFill>
                <a:latin typeface="Calibri"/>
                <a:ea typeface="Calibri"/>
                <a:cs typeface="Calibri"/>
                <a:sym typeface="Calibri"/>
              </a:rPr>
              <a:t>model = nn.Sequential(</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200" b="0" i="0" u="none" strike="noStrike" cap="none">
                <a:solidFill>
                  <a:schemeClr val="dk1"/>
                </a:solidFill>
                <a:latin typeface="Calibri"/>
                <a:ea typeface="Calibri"/>
                <a:cs typeface="Calibri"/>
                <a:sym typeface="Calibri"/>
              </a:rPr>
              <a:t>    nn.Linear(128, 64),  # 128 in → 64 out</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200" b="0" i="0" u="none" strike="noStrike" cap="none">
                <a:solidFill>
                  <a:schemeClr val="dk1"/>
                </a:solidFill>
                <a:latin typeface="Calibri"/>
                <a:ea typeface="Calibri"/>
                <a:cs typeface="Calibri"/>
                <a:sym typeface="Calibri"/>
              </a:rPr>
              <a:t>    nn.ReLU(),            # activation</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200" b="0" i="0" u="none" strike="noStrike" cap="none">
                <a:solidFill>
                  <a:schemeClr val="dk1"/>
                </a:solidFill>
                <a:latin typeface="Calibri"/>
                <a:ea typeface="Calibri"/>
                <a:cs typeface="Calibri"/>
                <a:sym typeface="Calibri"/>
              </a:rPr>
              <a:t>    nn.Dropout(p=0.5),   # 50% dropout</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200" b="0" i="0" u="none" strike="noStrike" cap="none">
                <a:solidFill>
                  <a:schemeClr val="dk1"/>
                </a:solidFill>
                <a:latin typeface="Calibri"/>
                <a:ea typeface="Calibri"/>
                <a:cs typeface="Calibri"/>
                <a:sym typeface="Calibri"/>
              </a:rPr>
              <a:t>    nn.Linear(64, 10)    # 64 in → 10 out</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200" b="0" i="0" u="none" strike="noStrike" cap="none">
                <a:solidFill>
                  <a:schemeClr val="dk1"/>
                </a:solidFill>
                <a:latin typeface="Calibri"/>
                <a:ea typeface="Calibri"/>
                <a:cs typeface="Calibri"/>
                <a:sym typeface="Calibri"/>
              </a:rPr>
              <a:t>)</a:t>
            </a:r>
            <a:endParaRPr sz="1200" b="0" i="0" u="none" strike="noStrike" cap="none">
              <a:solidFill>
                <a:schemeClr val="dk1"/>
              </a:solidFill>
              <a:latin typeface="Calibri"/>
              <a:ea typeface="Calibri"/>
              <a:cs typeface="Calibri"/>
              <a:sym typeface="Calibri"/>
            </a:endParaRPr>
          </a:p>
        </p:txBody>
      </p:sp>
      <p:sp>
        <p:nvSpPr>
          <p:cNvPr id="672" name="Google Shape;672;p12"/>
          <p:cNvSpPr/>
          <p:nvPr/>
        </p:nvSpPr>
        <p:spPr>
          <a:xfrm>
            <a:off x="4754880" y="976875"/>
            <a:ext cx="4114800" cy="2044500"/>
          </a:xfrm>
          <a:prstGeom prst="rect">
            <a:avLst/>
          </a:prstGeom>
          <a:solidFill>
            <a:schemeClr val="lt1"/>
          </a:solidFill>
          <a:ln w="19050" cap="flat" cmpd="sng">
            <a:solidFill>
              <a:srgbClr val="FFB830"/>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3" name="Google Shape;673;p12"/>
          <p:cNvSpPr/>
          <p:nvPr/>
        </p:nvSpPr>
        <p:spPr>
          <a:xfrm>
            <a:off x="4754880" y="976875"/>
            <a:ext cx="54900" cy="2044500"/>
          </a:xfrm>
          <a:prstGeom prst="rect">
            <a:avLst/>
          </a:prstGeom>
          <a:solidFill>
            <a:srgbClr val="FFB830"/>
          </a:solidFill>
          <a:ln w="12700" cap="flat" cmpd="sng">
            <a:solidFill>
              <a:srgbClr val="FFB83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4" name="Google Shape;674;p12"/>
          <p:cNvSpPr/>
          <p:nvPr/>
        </p:nvSpPr>
        <p:spPr>
          <a:xfrm>
            <a:off x="4937760" y="1020372"/>
            <a:ext cx="3840600" cy="330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B830"/>
              </a:buClr>
              <a:buSzPts val="1500"/>
              <a:buFont typeface="Calibri"/>
              <a:buNone/>
            </a:pPr>
            <a:r>
              <a:rPr lang="en" sz="1500" b="1" i="0" u="none" strike="noStrike" cap="none">
                <a:solidFill>
                  <a:srgbClr val="FFB830"/>
                </a:solidFill>
                <a:latin typeface="Calibri"/>
                <a:ea typeface="Calibri"/>
                <a:cs typeface="Calibri"/>
                <a:sym typeface="Calibri"/>
              </a:rPr>
              <a:t>Early Stopping</a:t>
            </a:r>
            <a:endParaRPr sz="1500" b="0" i="0" u="none" strike="noStrike" cap="none">
              <a:solidFill>
                <a:schemeClr val="dk1"/>
              </a:solidFill>
              <a:latin typeface="Calibri"/>
              <a:ea typeface="Calibri"/>
              <a:cs typeface="Calibri"/>
              <a:sym typeface="Calibri"/>
            </a:endParaRPr>
          </a:p>
        </p:txBody>
      </p:sp>
      <p:sp>
        <p:nvSpPr>
          <p:cNvPr id="675" name="Google Shape;675;p12"/>
          <p:cNvSpPr/>
          <p:nvPr/>
        </p:nvSpPr>
        <p:spPr>
          <a:xfrm>
            <a:off x="4937760" y="1350948"/>
            <a:ext cx="3840600" cy="739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100"/>
              <a:buFont typeface="Calibri"/>
              <a:buNone/>
            </a:pPr>
            <a:r>
              <a:rPr lang="en" sz="1100" b="0" i="0" u="none" strike="noStrike" cap="none">
                <a:solidFill>
                  <a:schemeClr val="dk1"/>
                </a:solidFill>
                <a:latin typeface="Calibri"/>
                <a:ea typeface="Calibri"/>
                <a:cs typeface="Calibri"/>
                <a:sym typeface="Calibri"/>
              </a:rPr>
              <a:t>Monitor validation loss. Stop training when it stops improving (patience window). Keeps the best checkpoint automatically.</a:t>
            </a:r>
            <a:endParaRPr sz="1100" b="0" i="0" u="none" strike="noStrike" cap="none">
              <a:solidFill>
                <a:schemeClr val="dk1"/>
              </a:solidFill>
              <a:latin typeface="Calibri"/>
              <a:ea typeface="Calibri"/>
              <a:cs typeface="Calibri"/>
              <a:sym typeface="Calibri"/>
            </a:endParaRPr>
          </a:p>
        </p:txBody>
      </p:sp>
      <p:sp>
        <p:nvSpPr>
          <p:cNvPr id="676" name="Google Shape;676;p12"/>
          <p:cNvSpPr/>
          <p:nvPr/>
        </p:nvSpPr>
        <p:spPr>
          <a:xfrm>
            <a:off x="4754880" y="3056025"/>
            <a:ext cx="4114800" cy="1827000"/>
          </a:xfrm>
          <a:prstGeom prst="rect">
            <a:avLst/>
          </a:prstGeom>
          <a:solidFill>
            <a:schemeClr val="lt1"/>
          </a:solidFill>
          <a:ln w="12700" cap="flat" cmpd="sng">
            <a:solidFill>
              <a:srgbClr val="00C9B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7" name="Google Shape;677;p12"/>
          <p:cNvSpPr/>
          <p:nvPr/>
        </p:nvSpPr>
        <p:spPr>
          <a:xfrm>
            <a:off x="4864608" y="3125620"/>
            <a:ext cx="3895200" cy="1687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9CDCFE"/>
              </a:buClr>
              <a:buSzPts val="1000"/>
              <a:buFont typeface="Courier New"/>
              <a:buNone/>
            </a:pPr>
            <a:r>
              <a:rPr lang="en" sz="1200" b="0" i="0" u="none" strike="noStrike" cap="none">
                <a:solidFill>
                  <a:schemeClr val="dk1"/>
                </a:solidFill>
                <a:latin typeface="Calibri"/>
                <a:ea typeface="Calibri"/>
                <a:cs typeface="Calibri"/>
                <a:sym typeface="Calibri"/>
              </a:rPr>
              <a:t>from tensorflow.keras.callbacks import EarlyStopping</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000"/>
              <a:buFont typeface="Calibri"/>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200" b="0" i="0" u="none" strike="noStrike" cap="none">
                <a:solidFill>
                  <a:schemeClr val="dk1"/>
                </a:solidFill>
                <a:latin typeface="Calibri"/>
                <a:ea typeface="Calibri"/>
                <a:cs typeface="Calibri"/>
                <a:sym typeface="Calibri"/>
              </a:rPr>
              <a:t>cb = EarlyStopping(</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200" b="0" i="0" u="none" strike="noStrike" cap="none">
                <a:solidFill>
                  <a:schemeClr val="dk1"/>
                </a:solidFill>
                <a:latin typeface="Calibri"/>
                <a:ea typeface="Calibri"/>
                <a:cs typeface="Calibri"/>
                <a:sym typeface="Calibri"/>
              </a:rPr>
              <a:t>    monitor='val_loss',  # metric to watch</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200" b="0" i="0" u="none" strike="noStrike" cap="none">
                <a:solidFill>
                  <a:schemeClr val="dk1"/>
                </a:solidFill>
                <a:latin typeface="Calibri"/>
                <a:ea typeface="Calibri"/>
                <a:cs typeface="Calibri"/>
                <a:sym typeface="Calibri"/>
              </a:rPr>
              <a:t>    patience=5,          # patience window: 5 epochs</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200" b="0" i="0" u="none" strike="noStrike" cap="none">
                <a:solidFill>
                  <a:schemeClr val="dk1"/>
                </a:solidFill>
                <a:latin typeface="Calibri"/>
                <a:ea typeface="Calibri"/>
                <a:cs typeface="Calibri"/>
                <a:sym typeface="Calibri"/>
              </a:rPr>
              <a:t>    restore_best_weights=True # keep best weights</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200" b="0" i="0" u="none" strike="noStrike" cap="none">
                <a:solidFill>
                  <a:schemeClr val="dk1"/>
                </a:solidFill>
                <a:latin typeface="Calibri"/>
                <a:ea typeface="Calibri"/>
                <a:cs typeface="Calibri"/>
                <a:sym typeface="Calibri"/>
              </a:rPr>
              <a:t>)</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000"/>
              <a:buFont typeface="Calibri"/>
              <a:buNone/>
            </a:pPr>
            <a:r>
              <a:rPr lang="en" sz="1200" b="0" i="0" u="none" strike="noStrike" cap="none">
                <a:solidFill>
                  <a:schemeClr val="dk1"/>
                </a:solidFill>
                <a:latin typeface="Calibri"/>
                <a:ea typeface="Calibri"/>
                <a:cs typeface="Calibri"/>
                <a:sym typeface="Calibri"/>
              </a:rPr>
              <a:t># callbacks: hooks run during training</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00"/>
              <a:buFont typeface="Courier New"/>
              <a:buNone/>
            </a:pPr>
            <a:r>
              <a:rPr lang="en" sz="1200" b="0" i="0" u="none" strike="noStrike" cap="none">
                <a:solidFill>
                  <a:schemeClr val="dk1"/>
                </a:solidFill>
                <a:latin typeface="Calibri"/>
                <a:ea typeface="Calibri"/>
                <a:cs typeface="Calibri"/>
                <a:sym typeface="Calibri"/>
              </a:rPr>
              <a:t>model.fit(X, y, callbacks=[cb])</a:t>
            </a:r>
            <a:endParaRPr sz="1200" b="0" i="0" u="none" strike="noStrike" cap="none">
              <a:solidFill>
                <a:schemeClr val="dk1"/>
              </a:solidFill>
              <a:latin typeface="Calibri"/>
              <a:ea typeface="Calibri"/>
              <a:cs typeface="Calibri"/>
              <a:sym typeface="Calibri"/>
            </a:endParaRPr>
          </a:p>
        </p:txBody>
      </p:sp>
      <p:sp>
        <p:nvSpPr>
          <p:cNvPr id="678" name="Google Shape;678;p12"/>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82"/>
        <p:cNvGrpSpPr/>
        <p:nvPr/>
      </p:nvGrpSpPr>
      <p:grpSpPr>
        <a:xfrm>
          <a:off x="0" y="0"/>
          <a:ext cx="0" cy="0"/>
          <a:chOff x="0" y="0"/>
          <a:chExt cx="0" cy="0"/>
        </a:xfrm>
      </p:grpSpPr>
      <p:pic>
        <p:nvPicPr>
          <p:cNvPr id="683" name="Google Shape;683;p13"/>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684" name="Google Shape;684;p13"/>
          <p:cNvSpPr/>
          <p:nvPr/>
        </p:nvSpPr>
        <p:spPr>
          <a:xfrm>
            <a:off x="228600" y="100750"/>
            <a:ext cx="8332800" cy="658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0E8F0"/>
              </a:buClr>
              <a:buSzPts val="2400"/>
              <a:buFont typeface="Calibri"/>
              <a:buNone/>
            </a:pPr>
            <a:r>
              <a:rPr lang="en" sz="2400" b="1" i="0" u="none" strike="noStrike" cap="none">
                <a:solidFill>
                  <a:schemeClr val="dk1"/>
                </a:solidFill>
                <a:latin typeface="Calibri"/>
                <a:ea typeface="Calibri"/>
                <a:cs typeface="Calibri"/>
                <a:sym typeface="Calibri"/>
              </a:rPr>
              <a:t>Putting It Together — Sklearn Pipeline</a:t>
            </a:r>
            <a:endParaRPr sz="2400" b="1" i="0" u="none" strike="noStrike" cap="none">
              <a:solidFill>
                <a:schemeClr val="dk1"/>
              </a:solidFill>
              <a:latin typeface="Calibri"/>
              <a:ea typeface="Calibri"/>
              <a:cs typeface="Calibri"/>
              <a:sym typeface="Calibri"/>
            </a:endParaRPr>
          </a:p>
        </p:txBody>
      </p:sp>
      <p:sp>
        <p:nvSpPr>
          <p:cNvPr id="685" name="Google Shape;685;p13"/>
          <p:cNvSpPr/>
          <p:nvPr/>
        </p:nvSpPr>
        <p:spPr>
          <a:xfrm>
            <a:off x="274283" y="1148533"/>
            <a:ext cx="4206300" cy="2651700"/>
          </a:xfrm>
          <a:prstGeom prst="rect">
            <a:avLst/>
          </a:prstGeom>
          <a:solidFill>
            <a:schemeClr val="lt1"/>
          </a:solidFill>
          <a:ln w="12700" cap="flat" cmpd="sng">
            <a:solidFill>
              <a:srgbClr val="00C9B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6" name="Google Shape;686;p13"/>
          <p:cNvSpPr/>
          <p:nvPr/>
        </p:nvSpPr>
        <p:spPr>
          <a:xfrm>
            <a:off x="384010" y="1221685"/>
            <a:ext cx="3986700" cy="2505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9CDCFE"/>
              </a:buClr>
              <a:buSzPts val="1050"/>
              <a:buFont typeface="Courier New"/>
              <a:buNone/>
            </a:pPr>
            <a:r>
              <a:rPr lang="en" sz="1150" b="0" i="0" u="none" strike="noStrike" cap="none">
                <a:solidFill>
                  <a:schemeClr val="dk1"/>
                </a:solidFill>
                <a:latin typeface="Calibri"/>
                <a:ea typeface="Calibri"/>
                <a:cs typeface="Calibri"/>
                <a:sym typeface="Calibri"/>
              </a:rPr>
              <a:t>#import packages</a:t>
            </a:r>
            <a:endParaRPr sz="11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150" b="0" i="0" u="none" strike="noStrike" cap="none">
                <a:solidFill>
                  <a:schemeClr val="dk1"/>
                </a:solidFill>
                <a:latin typeface="Calibri"/>
                <a:ea typeface="Calibri"/>
                <a:cs typeface="Calibri"/>
                <a:sym typeface="Calibri"/>
              </a:rPr>
              <a:t>import numpy as np  # numerical arrays</a:t>
            </a:r>
            <a:endParaRPr sz="11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150" b="0" i="0" u="none" strike="noStrike" cap="none">
                <a:solidFill>
                  <a:schemeClr val="dk1"/>
                </a:solidFill>
                <a:latin typeface="Calibri"/>
                <a:ea typeface="Calibri"/>
                <a:cs typeface="Calibri"/>
                <a:sym typeface="Calibri"/>
              </a:rPr>
              <a:t>from sklearn.pipeline import Pipeline  # chain steps together</a:t>
            </a:r>
            <a:endParaRPr sz="11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150" b="0" i="0" u="none" strike="noStrike" cap="none">
                <a:solidFill>
                  <a:schemeClr val="dk1"/>
                </a:solidFill>
                <a:latin typeface="Calibri"/>
                <a:ea typeface="Calibri"/>
                <a:cs typeface="Calibri"/>
                <a:sym typeface="Calibri"/>
              </a:rPr>
              <a:t>from sklearn.preprocessing import (</a:t>
            </a:r>
            <a:endParaRPr sz="11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150" b="0" i="0" u="none" strike="noStrike" cap="none">
                <a:solidFill>
                  <a:schemeClr val="dk1"/>
                </a:solidFill>
                <a:latin typeface="Calibri"/>
                <a:ea typeface="Calibri"/>
                <a:cs typeface="Calibri"/>
                <a:sym typeface="Calibri"/>
              </a:rPr>
              <a:t>    PolynomialFeatures, StandardScaler)  # features + scaling</a:t>
            </a:r>
            <a:endParaRPr sz="11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150" b="0" i="0" u="none" strike="noStrike" cap="none">
                <a:solidFill>
                  <a:schemeClr val="dk1"/>
                </a:solidFill>
                <a:latin typeface="Calibri"/>
                <a:ea typeface="Calibri"/>
                <a:cs typeface="Calibri"/>
                <a:sym typeface="Calibri"/>
              </a:rPr>
              <a:t>from sklearn.linear_model import Ridge  # L2-regularized model</a:t>
            </a:r>
            <a:endParaRPr sz="11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150" b="0" i="0" u="none" strike="noStrike" cap="none">
                <a:solidFill>
                  <a:schemeClr val="dk1"/>
                </a:solidFill>
                <a:latin typeface="Calibri"/>
                <a:ea typeface="Calibri"/>
                <a:cs typeface="Calibri"/>
                <a:sym typeface="Calibri"/>
              </a:rPr>
              <a:t>from sklearn.model_selection import (</a:t>
            </a:r>
            <a:endParaRPr sz="11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150" b="0" i="0" u="none" strike="noStrike" cap="none">
                <a:solidFill>
                  <a:schemeClr val="dk1"/>
                </a:solidFill>
                <a:latin typeface="Calibri"/>
                <a:ea typeface="Calibri"/>
                <a:cs typeface="Calibri"/>
                <a:sym typeface="Calibri"/>
              </a:rPr>
              <a:t>    train_test_split, cross_val_score)  # split and CV helpers</a:t>
            </a:r>
            <a:endParaRPr sz="11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150" b="0" i="0" u="none" strike="noStrike" cap="none">
                <a:solidFill>
                  <a:schemeClr val="dk1"/>
                </a:solidFill>
                <a:latin typeface="Calibri"/>
                <a:ea typeface="Calibri"/>
                <a:cs typeface="Calibri"/>
                <a:sym typeface="Calibri"/>
              </a:rPr>
              <a:t># reproducible synthetic dataset (X, y, train/test split)</a:t>
            </a:r>
            <a:endParaRPr sz="11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150" b="0" i="0" u="none" strike="noStrike" cap="none">
                <a:solidFill>
                  <a:schemeClr val="dk1"/>
                </a:solidFill>
                <a:latin typeface="Calibri"/>
                <a:ea typeface="Calibri"/>
                <a:cs typeface="Calibri"/>
                <a:sym typeface="Calibri"/>
              </a:rPr>
              <a:t>np.random.seed(42)  # reproducibility</a:t>
            </a:r>
            <a:endParaRPr sz="11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150" b="0" i="0" u="none" strike="noStrike" cap="none">
                <a:solidFill>
                  <a:schemeClr val="dk1"/>
                </a:solidFill>
                <a:latin typeface="Calibri"/>
                <a:ea typeface="Calibri"/>
                <a:cs typeface="Calibri"/>
                <a:sym typeface="Calibri"/>
              </a:rPr>
              <a:t>X = np.sort(np.random.rand(80,1), axis=0)  # 80 sorted x-values</a:t>
            </a:r>
            <a:endParaRPr sz="11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150" b="0" i="0" u="none" strike="noStrike" cap="none">
                <a:solidFill>
                  <a:schemeClr val="dk1"/>
                </a:solidFill>
                <a:latin typeface="Calibri"/>
                <a:ea typeface="Calibri"/>
                <a:cs typeface="Calibri"/>
                <a:sym typeface="Calibri"/>
              </a:rPr>
              <a:t>y = np.sin(2*np.pi*X).ravel() +     np.random.normal(0, 0.15, 80)</a:t>
            </a:r>
            <a:endParaRPr sz="11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150" b="0" i="0" u="none" strike="noStrike" cap="none">
                <a:solidFill>
                  <a:schemeClr val="dk1"/>
                </a:solidFill>
                <a:latin typeface="Calibri"/>
                <a:ea typeface="Calibri"/>
                <a:cs typeface="Calibri"/>
                <a:sym typeface="Calibri"/>
              </a:rPr>
              <a:t>X_train, X_test, y_train, y_test =     train_test_split(X, y, test_size=0.2)</a:t>
            </a:r>
            <a:endParaRPr sz="1150" b="0" i="0" u="none" strike="noStrike" cap="none">
              <a:solidFill>
                <a:schemeClr val="dk1"/>
              </a:solidFill>
              <a:latin typeface="Calibri"/>
              <a:ea typeface="Calibri"/>
              <a:cs typeface="Calibri"/>
              <a:sym typeface="Calibri"/>
            </a:endParaRPr>
          </a:p>
        </p:txBody>
      </p:sp>
      <p:sp>
        <p:nvSpPr>
          <p:cNvPr id="687" name="Google Shape;687;p13"/>
          <p:cNvSpPr/>
          <p:nvPr/>
        </p:nvSpPr>
        <p:spPr>
          <a:xfrm>
            <a:off x="4663402" y="1148533"/>
            <a:ext cx="4206300" cy="2651700"/>
          </a:xfrm>
          <a:prstGeom prst="rect">
            <a:avLst/>
          </a:prstGeom>
          <a:solidFill>
            <a:schemeClr val="lt1"/>
          </a:solidFill>
          <a:ln w="12700" cap="flat" cmpd="sng">
            <a:solidFill>
              <a:srgbClr val="00C9B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8" name="Google Shape;688;p13"/>
          <p:cNvSpPr/>
          <p:nvPr/>
        </p:nvSpPr>
        <p:spPr>
          <a:xfrm>
            <a:off x="4773130" y="1221685"/>
            <a:ext cx="3986700" cy="2505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 Regularized polynomial pipeline</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pipe = Pipeline([  # define 3-step pipeline</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    ('poly',   PolynomialFeatures(degree=9)),  # features</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    ('scaler', StandardScaler()),  # step 2: standardize</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    ('model',  Ridge(alpha=1.0))   # L2</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pipe.fit(X_train, y_train)  # fit all steps on train data</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050"/>
              <a:buFont typeface="Calibri"/>
              <a:buNone/>
            </a:pPr>
            <a:r>
              <a:rPr lang="en" sz="1050" b="0" i="0" u="none" strike="noStrike" cap="none">
                <a:solidFill>
                  <a:schemeClr val="dk1"/>
                </a:solidFill>
                <a:latin typeface="Calibri"/>
                <a:ea typeface="Calibri"/>
                <a:cs typeface="Calibri"/>
                <a:sym typeface="Calibri"/>
              </a:rPr>
              <a:t># evaluate on train and test sets</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train_r2 = pipe.score(X_train, y_train)  # R² on train data</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test_r2  = pipe.score(X_test,  y_test)  # R² on test data</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print(f"Train R²: {train_r2:.3f}")</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print(f"Test  R²: {test_r2:.3f}")</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050"/>
              <a:buFont typeface="Calibri"/>
              <a:buNone/>
            </a:pP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 Cross-validation</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cv = cross_val_score(pipe, X, y, cv=5)  # 5-fold CV scores</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CDCFE"/>
              </a:buClr>
              <a:buSzPts val="1050"/>
              <a:buFont typeface="Courier New"/>
              <a:buNone/>
            </a:pPr>
            <a:r>
              <a:rPr lang="en" sz="1050" b="0" i="0" u="none" strike="noStrike" cap="none">
                <a:solidFill>
                  <a:schemeClr val="dk1"/>
                </a:solidFill>
                <a:latin typeface="Calibri"/>
                <a:ea typeface="Calibri"/>
                <a:cs typeface="Calibri"/>
                <a:sym typeface="Calibri"/>
              </a:rPr>
              <a:t>print(f"CV: {cv.mean():.3f} ± {cv.std():.3f}")  # mean ± std</a:t>
            </a:r>
            <a:endParaRPr sz="1050" b="0" i="0" u="none" strike="noStrike" cap="none">
              <a:solidFill>
                <a:schemeClr val="dk1"/>
              </a:solidFill>
              <a:latin typeface="Calibri"/>
              <a:ea typeface="Calibri"/>
              <a:cs typeface="Calibri"/>
              <a:sym typeface="Calibri"/>
            </a:endParaRPr>
          </a:p>
        </p:txBody>
      </p:sp>
      <p:sp>
        <p:nvSpPr>
          <p:cNvPr id="689" name="Google Shape;689;p13"/>
          <p:cNvSpPr/>
          <p:nvPr/>
        </p:nvSpPr>
        <p:spPr>
          <a:xfrm>
            <a:off x="274283" y="3919165"/>
            <a:ext cx="2743200" cy="621900"/>
          </a:xfrm>
          <a:prstGeom prst="rect">
            <a:avLst/>
          </a:prstGeom>
          <a:solidFill>
            <a:schemeClr val="lt1"/>
          </a:solidFill>
          <a:ln w="19050" cap="flat" cmpd="sng">
            <a:solidFill>
              <a:srgbClr val="00C9B1"/>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0" name="Google Shape;690;p13"/>
          <p:cNvSpPr/>
          <p:nvPr/>
        </p:nvSpPr>
        <p:spPr>
          <a:xfrm>
            <a:off x="438874" y="3955741"/>
            <a:ext cx="2514600" cy="54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050"/>
              <a:buFont typeface="Calibri"/>
              <a:buNone/>
            </a:pPr>
            <a:r>
              <a:rPr lang="en" sz="1050" b="0" i="0" u="none" strike="noStrike" cap="none">
                <a:solidFill>
                  <a:schemeClr val="dk1"/>
                </a:solidFill>
                <a:latin typeface="Calibri"/>
                <a:ea typeface="Calibri"/>
                <a:cs typeface="Calibri"/>
                <a:sym typeface="Calibri"/>
              </a:rPr>
              <a:t>✔  Always hold out a test set — never tune on it.</a:t>
            </a:r>
            <a:endParaRPr sz="1050" b="0" i="0" u="none" strike="noStrike" cap="none">
              <a:solidFill>
                <a:schemeClr val="dk1"/>
              </a:solidFill>
              <a:latin typeface="Calibri"/>
              <a:ea typeface="Calibri"/>
              <a:cs typeface="Calibri"/>
              <a:sym typeface="Calibri"/>
            </a:endParaRPr>
          </a:p>
        </p:txBody>
      </p:sp>
      <p:sp>
        <p:nvSpPr>
          <p:cNvPr id="691" name="Google Shape;691;p13"/>
          <p:cNvSpPr/>
          <p:nvPr/>
        </p:nvSpPr>
        <p:spPr>
          <a:xfrm>
            <a:off x="3200363" y="3919165"/>
            <a:ext cx="2743200" cy="621900"/>
          </a:xfrm>
          <a:prstGeom prst="rect">
            <a:avLst/>
          </a:prstGeom>
          <a:solidFill>
            <a:schemeClr val="lt1"/>
          </a:solidFill>
          <a:ln w="19050" cap="flat" cmpd="sng">
            <a:solidFill>
              <a:srgbClr val="FFB830"/>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2" name="Google Shape;692;p13"/>
          <p:cNvSpPr/>
          <p:nvPr/>
        </p:nvSpPr>
        <p:spPr>
          <a:xfrm>
            <a:off x="3364955" y="3955741"/>
            <a:ext cx="2514600" cy="54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050"/>
              <a:buFont typeface="Calibri"/>
              <a:buNone/>
            </a:pPr>
            <a:r>
              <a:rPr lang="en" sz="1050" b="0" i="0" u="none" strike="noStrike" cap="none">
                <a:solidFill>
                  <a:schemeClr val="dk1"/>
                </a:solidFill>
                <a:latin typeface="Calibri"/>
                <a:ea typeface="Calibri"/>
                <a:cs typeface="Calibri"/>
                <a:sym typeface="Calibri"/>
              </a:rPr>
              <a:t>✔  Use cross-validation to get stable performance estimates.</a:t>
            </a:r>
            <a:endParaRPr sz="1050" b="0" i="0" u="none" strike="noStrike" cap="none">
              <a:solidFill>
                <a:schemeClr val="dk1"/>
              </a:solidFill>
              <a:latin typeface="Calibri"/>
              <a:ea typeface="Calibri"/>
              <a:cs typeface="Calibri"/>
              <a:sym typeface="Calibri"/>
            </a:endParaRPr>
          </a:p>
        </p:txBody>
      </p:sp>
      <p:sp>
        <p:nvSpPr>
          <p:cNvPr id="693" name="Google Shape;693;p13"/>
          <p:cNvSpPr/>
          <p:nvPr/>
        </p:nvSpPr>
        <p:spPr>
          <a:xfrm>
            <a:off x="6126443" y="3919165"/>
            <a:ext cx="2743200" cy="621900"/>
          </a:xfrm>
          <a:prstGeom prst="rect">
            <a:avLst/>
          </a:prstGeom>
          <a:solidFill>
            <a:schemeClr val="lt1"/>
          </a:solidFill>
          <a:ln w="19050" cap="flat" cmpd="sng">
            <a:solidFill>
              <a:srgbClr val="FF4B6E"/>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4" name="Google Shape;694;p13"/>
          <p:cNvSpPr/>
          <p:nvPr/>
        </p:nvSpPr>
        <p:spPr>
          <a:xfrm>
            <a:off x="6291035" y="3955741"/>
            <a:ext cx="2514600" cy="54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0E8F0"/>
              </a:buClr>
              <a:buSzPts val="1050"/>
              <a:buFont typeface="Calibri"/>
              <a:buNone/>
            </a:pPr>
            <a:r>
              <a:rPr lang="en" sz="1050" b="0" i="0" u="none" strike="noStrike" cap="none">
                <a:solidFill>
                  <a:schemeClr val="dk1"/>
                </a:solidFill>
                <a:latin typeface="Calibri"/>
                <a:ea typeface="Calibri"/>
                <a:cs typeface="Calibri"/>
                <a:sym typeface="Calibri"/>
              </a:rPr>
              <a:t>✔  Tune α (lambda) with GridSearchCV or validation curve.</a:t>
            </a:r>
            <a:endParaRPr sz="1050" b="0" i="0" u="none" strike="noStrike" cap="none">
              <a:solidFill>
                <a:schemeClr val="dk1"/>
              </a:solidFill>
              <a:latin typeface="Calibri"/>
              <a:ea typeface="Calibri"/>
              <a:cs typeface="Calibri"/>
              <a:sym typeface="Calibri"/>
            </a:endParaRPr>
          </a:p>
        </p:txBody>
      </p:sp>
      <p:sp>
        <p:nvSpPr>
          <p:cNvPr id="695" name="Google Shape;695;p13"/>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14"/>
          <p:cNvSpPr/>
          <p:nvPr/>
        </p:nvSpPr>
        <p:spPr>
          <a:xfrm>
            <a:off x="132375" y="181485"/>
            <a:ext cx="8229600" cy="68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Quiz 2</a:t>
            </a:r>
            <a:endParaRPr sz="2600" b="0" i="0" u="none" strike="noStrike" cap="none">
              <a:solidFill>
                <a:srgbClr val="000000"/>
              </a:solidFill>
              <a:latin typeface="Calibri"/>
              <a:ea typeface="Calibri"/>
              <a:cs typeface="Calibri"/>
              <a:sym typeface="Calibri"/>
            </a:endParaRPr>
          </a:p>
        </p:txBody>
      </p:sp>
      <p:pic>
        <p:nvPicPr>
          <p:cNvPr id="701" name="Google Shape;701;p14"/>
          <p:cNvPicPr preferRelativeResize="0"/>
          <p:nvPr/>
        </p:nvPicPr>
        <p:blipFill rotWithShape="1">
          <a:blip r:embed="rId3">
            <a:alphaModFix/>
          </a:blip>
          <a:srcRect/>
          <a:stretch/>
        </p:blipFill>
        <p:spPr>
          <a:xfrm>
            <a:off x="8369125" y="0"/>
            <a:ext cx="774877" cy="867174"/>
          </a:xfrm>
          <a:prstGeom prst="rect">
            <a:avLst/>
          </a:prstGeom>
          <a:noFill/>
          <a:ln>
            <a:noFill/>
          </a:ln>
        </p:spPr>
      </p:pic>
      <p:sp>
        <p:nvSpPr>
          <p:cNvPr id="702" name="Google Shape;702;p14"/>
          <p:cNvSpPr txBox="1"/>
          <p:nvPr/>
        </p:nvSpPr>
        <p:spPr>
          <a:xfrm>
            <a:off x="354350" y="1187800"/>
            <a:ext cx="5809800" cy="2867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700"/>
              <a:buFont typeface="Arial"/>
              <a:buNone/>
            </a:pPr>
            <a:r>
              <a:rPr lang="en" sz="1700" b="0" i="0" u="none" strike="noStrike" cap="none">
                <a:solidFill>
                  <a:srgbClr val="000000"/>
                </a:solidFill>
                <a:latin typeface="Calibri"/>
                <a:ea typeface="Calibri"/>
                <a:cs typeface="Calibri"/>
                <a:sym typeface="Calibri"/>
              </a:rPr>
              <a:t>A model achieves 98% training accuracy but only 61% validation accuracy. Which action is MOST likely to help WITHOUT adding more training data?</a:t>
            </a:r>
            <a:endParaRPr sz="17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0"/>
              </a:spcAft>
              <a:buClr>
                <a:srgbClr val="000000"/>
              </a:buClr>
              <a:buSzPts val="1700"/>
              <a:buFont typeface="Arial"/>
              <a:buNone/>
            </a:pPr>
            <a:r>
              <a:rPr lang="en" sz="1700" b="1" i="0" u="none" strike="noStrike" cap="none">
                <a:solidFill>
                  <a:srgbClr val="000000"/>
                </a:solidFill>
                <a:latin typeface="Calibri"/>
                <a:ea typeface="Calibri"/>
                <a:cs typeface="Calibri"/>
                <a:sym typeface="Calibri"/>
              </a:rPr>
              <a:t>A)</a:t>
            </a:r>
            <a:r>
              <a:rPr lang="en" sz="1700" b="0" i="0" u="none" strike="noStrike" cap="none">
                <a:solidFill>
                  <a:srgbClr val="000000"/>
                </a:solidFill>
                <a:latin typeface="Calibri"/>
                <a:ea typeface="Calibri"/>
                <a:cs typeface="Calibri"/>
                <a:sym typeface="Calibri"/>
              </a:rPr>
              <a:t> Increase the number of layers and neurons</a:t>
            </a:r>
            <a:endParaRPr sz="17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0"/>
              </a:spcAft>
              <a:buClr>
                <a:srgbClr val="000000"/>
              </a:buClr>
              <a:buSzPts val="1700"/>
              <a:buFont typeface="Arial"/>
              <a:buNone/>
            </a:pPr>
            <a:r>
              <a:rPr lang="en" sz="1700" b="1" i="0" u="none" strike="noStrike" cap="none">
                <a:solidFill>
                  <a:srgbClr val="000000"/>
                </a:solidFill>
                <a:latin typeface="Calibri"/>
                <a:ea typeface="Calibri"/>
                <a:cs typeface="Calibri"/>
                <a:sym typeface="Calibri"/>
              </a:rPr>
              <a:t>B)</a:t>
            </a:r>
            <a:r>
              <a:rPr lang="en" sz="1700" b="0" i="0" u="none" strike="noStrike" cap="none">
                <a:solidFill>
                  <a:srgbClr val="000000"/>
                </a:solidFill>
                <a:latin typeface="Calibri"/>
                <a:ea typeface="Calibri"/>
                <a:cs typeface="Calibri"/>
                <a:sym typeface="Calibri"/>
              </a:rPr>
              <a:t> Apply L2 regularization (weight decay) </a:t>
            </a:r>
            <a:endParaRPr sz="17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0"/>
              </a:spcAft>
              <a:buClr>
                <a:srgbClr val="000000"/>
              </a:buClr>
              <a:buSzPts val="1700"/>
              <a:buFont typeface="Arial"/>
              <a:buNone/>
            </a:pPr>
            <a:r>
              <a:rPr lang="en" sz="1700" b="1" i="0" u="none" strike="noStrike" cap="none">
                <a:solidFill>
                  <a:srgbClr val="000000"/>
                </a:solidFill>
                <a:latin typeface="Calibri"/>
                <a:ea typeface="Calibri"/>
                <a:cs typeface="Calibri"/>
                <a:sym typeface="Calibri"/>
              </a:rPr>
              <a:t>C)</a:t>
            </a:r>
            <a:r>
              <a:rPr lang="en" sz="1700" b="0" i="0" u="none" strike="noStrike" cap="none">
                <a:solidFill>
                  <a:srgbClr val="000000"/>
                </a:solidFill>
                <a:latin typeface="Calibri"/>
                <a:ea typeface="Calibri"/>
                <a:cs typeface="Calibri"/>
                <a:sym typeface="Calibri"/>
              </a:rPr>
              <a:t> Train for more epochs to reach convergence</a:t>
            </a:r>
            <a:endParaRPr sz="17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1200"/>
              </a:spcAft>
              <a:buClr>
                <a:srgbClr val="000000"/>
              </a:buClr>
              <a:buSzPts val="1700"/>
              <a:buFont typeface="Arial"/>
              <a:buNone/>
            </a:pPr>
            <a:r>
              <a:rPr lang="en" sz="1700" b="1" i="0" u="none" strike="noStrike" cap="none">
                <a:solidFill>
                  <a:srgbClr val="000000"/>
                </a:solidFill>
                <a:latin typeface="Calibri"/>
                <a:ea typeface="Calibri"/>
                <a:cs typeface="Calibri"/>
                <a:sym typeface="Calibri"/>
              </a:rPr>
              <a:t>D)</a:t>
            </a:r>
            <a:r>
              <a:rPr lang="en" sz="1700" b="0" i="0" u="none" strike="noStrike" cap="none">
                <a:solidFill>
                  <a:srgbClr val="000000"/>
                </a:solidFill>
                <a:latin typeface="Calibri"/>
                <a:ea typeface="Calibri"/>
                <a:cs typeface="Calibri"/>
                <a:sym typeface="Calibri"/>
              </a:rPr>
              <a:t> Remove the validation set and retrain on all data</a:t>
            </a:r>
            <a:endParaRPr sz="1700" b="0" i="0" u="none" strike="noStrike" cap="none">
              <a:solidFill>
                <a:srgbClr val="000000"/>
              </a:solidFill>
              <a:latin typeface="Calibri"/>
              <a:ea typeface="Calibri"/>
              <a:cs typeface="Calibri"/>
              <a:sym typeface="Calibri"/>
            </a:endParaRPr>
          </a:p>
        </p:txBody>
      </p:sp>
      <p:sp>
        <p:nvSpPr>
          <p:cNvPr id="703" name="Google Shape;703;p14"/>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29</a:t>
            </a:r>
            <a:endParaRPr/>
          </a:p>
        </p:txBody>
      </p:sp>
      <p:pic>
        <p:nvPicPr>
          <p:cNvPr id="704" name="Google Shape;704;p14"/>
          <p:cNvPicPr preferRelativeResize="0"/>
          <p:nvPr/>
        </p:nvPicPr>
        <p:blipFill>
          <a:blip r:embed="rId4">
            <a:alphaModFix/>
          </a:blip>
          <a:stretch>
            <a:fillRect/>
          </a:stretch>
        </p:blipFill>
        <p:spPr>
          <a:xfrm>
            <a:off x="6316550" y="1019685"/>
            <a:ext cx="2554128" cy="362141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15"/>
          <p:cNvSpPr/>
          <p:nvPr/>
        </p:nvSpPr>
        <p:spPr>
          <a:xfrm>
            <a:off x="132375" y="181485"/>
            <a:ext cx="8229600" cy="685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Quiz 2</a:t>
            </a:r>
            <a:endParaRPr sz="2600" b="0" i="0" u="none" strike="noStrike" cap="none">
              <a:solidFill>
                <a:srgbClr val="000000"/>
              </a:solidFill>
              <a:latin typeface="Calibri"/>
              <a:ea typeface="Calibri"/>
              <a:cs typeface="Calibri"/>
              <a:sym typeface="Calibri"/>
            </a:endParaRPr>
          </a:p>
        </p:txBody>
      </p:sp>
      <p:pic>
        <p:nvPicPr>
          <p:cNvPr id="710" name="Google Shape;710;p15"/>
          <p:cNvPicPr preferRelativeResize="0"/>
          <p:nvPr/>
        </p:nvPicPr>
        <p:blipFill rotWithShape="1">
          <a:blip r:embed="rId3">
            <a:alphaModFix/>
          </a:blip>
          <a:srcRect/>
          <a:stretch/>
        </p:blipFill>
        <p:spPr>
          <a:xfrm>
            <a:off x="8369125" y="0"/>
            <a:ext cx="774877" cy="867174"/>
          </a:xfrm>
          <a:prstGeom prst="rect">
            <a:avLst/>
          </a:prstGeom>
          <a:noFill/>
          <a:ln>
            <a:noFill/>
          </a:ln>
        </p:spPr>
      </p:pic>
      <p:sp>
        <p:nvSpPr>
          <p:cNvPr id="711" name="Google Shape;711;p15"/>
          <p:cNvSpPr txBox="1"/>
          <p:nvPr/>
        </p:nvSpPr>
        <p:spPr>
          <a:xfrm>
            <a:off x="354350" y="1187800"/>
            <a:ext cx="5809800" cy="2867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700"/>
              <a:buFont typeface="Arial"/>
              <a:buNone/>
            </a:pPr>
            <a:r>
              <a:rPr lang="en" sz="1700" b="0" i="0" u="none" strike="noStrike" cap="none">
                <a:solidFill>
                  <a:srgbClr val="000000"/>
                </a:solidFill>
                <a:latin typeface="Calibri"/>
                <a:ea typeface="Calibri"/>
                <a:cs typeface="Calibri"/>
                <a:sym typeface="Calibri"/>
              </a:rPr>
              <a:t>A model achieves 98% training accuracy but only 61% validation accuracy. Which action is MOST likely to help WITHOUT adding more training data?</a:t>
            </a:r>
            <a:endParaRPr sz="17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0"/>
              </a:spcAft>
              <a:buClr>
                <a:srgbClr val="000000"/>
              </a:buClr>
              <a:buSzPts val="1700"/>
              <a:buFont typeface="Arial"/>
              <a:buNone/>
            </a:pPr>
            <a:r>
              <a:rPr lang="en" sz="1700" b="1" i="0" u="none" strike="noStrike" cap="none">
                <a:solidFill>
                  <a:srgbClr val="000000"/>
                </a:solidFill>
                <a:latin typeface="Calibri"/>
                <a:ea typeface="Calibri"/>
                <a:cs typeface="Calibri"/>
                <a:sym typeface="Calibri"/>
              </a:rPr>
              <a:t>A)</a:t>
            </a:r>
            <a:r>
              <a:rPr lang="en" sz="1700" b="0" i="0" u="none" strike="noStrike" cap="none">
                <a:solidFill>
                  <a:srgbClr val="000000"/>
                </a:solidFill>
                <a:latin typeface="Calibri"/>
                <a:ea typeface="Calibri"/>
                <a:cs typeface="Calibri"/>
                <a:sym typeface="Calibri"/>
              </a:rPr>
              <a:t> Increase the number of layers and neurons</a:t>
            </a:r>
            <a:endParaRPr sz="17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0"/>
              </a:spcAft>
              <a:buClr>
                <a:srgbClr val="000000"/>
              </a:buClr>
              <a:buSzPts val="1700"/>
              <a:buFont typeface="Arial"/>
              <a:buNone/>
            </a:pPr>
            <a:r>
              <a:rPr lang="en" sz="1700" b="1" i="0" u="none" strike="noStrike" cap="none">
                <a:solidFill>
                  <a:srgbClr val="000000"/>
                </a:solidFill>
                <a:latin typeface="Calibri"/>
                <a:ea typeface="Calibri"/>
                <a:cs typeface="Calibri"/>
                <a:sym typeface="Calibri"/>
              </a:rPr>
              <a:t>B)</a:t>
            </a:r>
            <a:r>
              <a:rPr lang="en" sz="1700" b="0" i="0" u="none" strike="noStrike" cap="none">
                <a:solidFill>
                  <a:srgbClr val="000000"/>
                </a:solidFill>
                <a:latin typeface="Calibri"/>
                <a:ea typeface="Calibri"/>
                <a:cs typeface="Calibri"/>
                <a:sym typeface="Calibri"/>
              </a:rPr>
              <a:t> Apply L2 regularization (weight decay) </a:t>
            </a:r>
            <a:endParaRPr sz="17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0"/>
              </a:spcAft>
              <a:buClr>
                <a:srgbClr val="000000"/>
              </a:buClr>
              <a:buSzPts val="1700"/>
              <a:buFont typeface="Arial"/>
              <a:buNone/>
            </a:pPr>
            <a:r>
              <a:rPr lang="en" sz="1700" b="1" i="0" u="none" strike="noStrike" cap="none">
                <a:solidFill>
                  <a:srgbClr val="000000"/>
                </a:solidFill>
                <a:latin typeface="Calibri"/>
                <a:ea typeface="Calibri"/>
                <a:cs typeface="Calibri"/>
                <a:sym typeface="Calibri"/>
              </a:rPr>
              <a:t>C)</a:t>
            </a:r>
            <a:r>
              <a:rPr lang="en" sz="1700" b="0" i="0" u="none" strike="noStrike" cap="none">
                <a:solidFill>
                  <a:srgbClr val="000000"/>
                </a:solidFill>
                <a:latin typeface="Calibri"/>
                <a:ea typeface="Calibri"/>
                <a:cs typeface="Calibri"/>
                <a:sym typeface="Calibri"/>
              </a:rPr>
              <a:t> Train for more epochs to reach convergence</a:t>
            </a:r>
            <a:endParaRPr sz="1700" b="0" i="0" u="none" strike="noStrike" cap="none">
              <a:solidFill>
                <a:srgbClr val="000000"/>
              </a:solidFill>
              <a:latin typeface="Calibri"/>
              <a:ea typeface="Calibri"/>
              <a:cs typeface="Calibri"/>
              <a:sym typeface="Calibri"/>
            </a:endParaRPr>
          </a:p>
          <a:p>
            <a:pPr marL="457200" marR="0" lvl="0" indent="0" algn="l" rtl="0">
              <a:lnSpc>
                <a:spcPct val="115000"/>
              </a:lnSpc>
              <a:spcBef>
                <a:spcPts val="1200"/>
              </a:spcBef>
              <a:spcAft>
                <a:spcPts val="1200"/>
              </a:spcAft>
              <a:buClr>
                <a:srgbClr val="000000"/>
              </a:buClr>
              <a:buSzPts val="1700"/>
              <a:buFont typeface="Arial"/>
              <a:buNone/>
            </a:pPr>
            <a:r>
              <a:rPr lang="en" sz="1700" b="1" i="0" u="none" strike="noStrike" cap="none">
                <a:solidFill>
                  <a:srgbClr val="000000"/>
                </a:solidFill>
                <a:latin typeface="Calibri"/>
                <a:ea typeface="Calibri"/>
                <a:cs typeface="Calibri"/>
                <a:sym typeface="Calibri"/>
              </a:rPr>
              <a:t>D)</a:t>
            </a:r>
            <a:r>
              <a:rPr lang="en" sz="1700" b="0" i="0" u="none" strike="noStrike" cap="none">
                <a:solidFill>
                  <a:srgbClr val="000000"/>
                </a:solidFill>
                <a:latin typeface="Calibri"/>
                <a:ea typeface="Calibri"/>
                <a:cs typeface="Calibri"/>
                <a:sym typeface="Calibri"/>
              </a:rPr>
              <a:t> Remove the validation set and retrain on all data</a:t>
            </a:r>
            <a:endParaRPr sz="1700" b="0" i="0" u="none" strike="noStrike" cap="none">
              <a:solidFill>
                <a:srgbClr val="000000"/>
              </a:solidFill>
              <a:latin typeface="Calibri"/>
              <a:ea typeface="Calibri"/>
              <a:cs typeface="Calibri"/>
              <a:sym typeface="Calibri"/>
            </a:endParaRPr>
          </a:p>
        </p:txBody>
      </p:sp>
      <p:sp>
        <p:nvSpPr>
          <p:cNvPr id="712" name="Google Shape;712;p15"/>
          <p:cNvSpPr txBox="1"/>
          <p:nvPr/>
        </p:nvSpPr>
        <p:spPr>
          <a:xfrm>
            <a:off x="4531806" y="2722854"/>
            <a:ext cx="5097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700"/>
              <a:buFont typeface="Arial"/>
              <a:buNone/>
            </a:pPr>
            <a:r>
              <a:rPr lang="en" sz="17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713" name="Google Shape;713;p15"/>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30</a:t>
            </a:r>
            <a:endParaRPr/>
          </a:p>
        </p:txBody>
      </p:sp>
      <p:pic>
        <p:nvPicPr>
          <p:cNvPr id="714" name="Google Shape;714;p15"/>
          <p:cNvPicPr preferRelativeResize="0"/>
          <p:nvPr/>
        </p:nvPicPr>
        <p:blipFill>
          <a:blip r:embed="rId4">
            <a:alphaModFix/>
          </a:blip>
          <a:stretch>
            <a:fillRect/>
          </a:stretch>
        </p:blipFill>
        <p:spPr>
          <a:xfrm>
            <a:off x="6316550" y="1019685"/>
            <a:ext cx="2554128" cy="362141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19"/>
        <p:cNvGrpSpPr/>
        <p:nvPr/>
      </p:nvGrpSpPr>
      <p:grpSpPr>
        <a:xfrm>
          <a:off x="0" y="0"/>
          <a:ext cx="0" cy="0"/>
          <a:chOff x="0" y="0"/>
          <a:chExt cx="0" cy="0"/>
        </a:xfrm>
      </p:grpSpPr>
      <p:sp>
        <p:nvSpPr>
          <p:cNvPr id="720" name="Google Shape;720;g3f6a040a5a3_1_60"/>
          <p:cNvSpPr/>
          <p:nvPr/>
        </p:nvSpPr>
        <p:spPr>
          <a:xfrm>
            <a:off x="411480" y="308610"/>
            <a:ext cx="5898000" cy="514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1295C"/>
              </a:buClr>
              <a:buSzPts val="2600"/>
              <a:buFont typeface="Cambria"/>
              <a:buNone/>
            </a:pPr>
            <a:r>
              <a:rPr lang="en" sz="2600" b="1" i="0" u="none" strike="noStrike" cap="none">
                <a:solidFill>
                  <a:srgbClr val="21295C"/>
                </a:solidFill>
                <a:latin typeface="Cambria"/>
                <a:ea typeface="Cambria"/>
                <a:cs typeface="Cambria"/>
                <a:sym typeface="Cambria"/>
              </a:rPr>
              <a:t>Diagnosing the Overfitting Gap</a:t>
            </a:r>
            <a:endParaRPr sz="2600" b="0" i="0" u="none" strike="noStrike" cap="none">
              <a:solidFill>
                <a:schemeClr val="dk1"/>
              </a:solidFill>
              <a:latin typeface="Calibri"/>
              <a:ea typeface="Calibri"/>
              <a:cs typeface="Calibri"/>
              <a:sym typeface="Calibri"/>
            </a:endParaRPr>
          </a:p>
        </p:txBody>
      </p:sp>
      <p:sp>
        <p:nvSpPr>
          <p:cNvPr id="721" name="Google Shape;721;g3f6a040a5a3_1_60"/>
          <p:cNvSpPr/>
          <p:nvPr/>
        </p:nvSpPr>
        <p:spPr>
          <a:xfrm>
            <a:off x="411480" y="788670"/>
            <a:ext cx="58980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B6472"/>
              </a:buClr>
              <a:buSzPts val="1200"/>
              <a:buFont typeface="Calibri"/>
              <a:buNone/>
            </a:pPr>
            <a:r>
              <a:rPr lang="en" sz="1200" b="0" i="1" u="none" strike="noStrike" cap="none">
                <a:solidFill>
                  <a:srgbClr val="5B6472"/>
                </a:solidFill>
                <a:latin typeface="Calibri"/>
                <a:ea typeface="Calibri"/>
                <a:cs typeface="Calibri"/>
                <a:sym typeface="Calibri"/>
              </a:rPr>
              <a:t>Which fix helps most — without adding more training data?</a:t>
            </a:r>
            <a:endParaRPr sz="1200" b="0" i="0" u="none" strike="noStrike" cap="none">
              <a:solidFill>
                <a:schemeClr val="dk1"/>
              </a:solidFill>
              <a:latin typeface="Calibri"/>
              <a:ea typeface="Calibri"/>
              <a:cs typeface="Calibri"/>
              <a:sym typeface="Calibri"/>
            </a:endParaRPr>
          </a:p>
        </p:txBody>
      </p:sp>
      <p:sp>
        <p:nvSpPr>
          <p:cNvPr id="722" name="Google Shape;722;g3f6a040a5a3_1_60"/>
          <p:cNvSpPr/>
          <p:nvPr/>
        </p:nvSpPr>
        <p:spPr>
          <a:xfrm>
            <a:off x="6583680" y="274320"/>
            <a:ext cx="2160300" cy="857400"/>
          </a:xfrm>
          <a:prstGeom prst="roundRect">
            <a:avLst>
              <a:gd name="adj" fmla="val 8000"/>
            </a:avLst>
          </a:prstGeom>
          <a:solidFill>
            <a:srgbClr val="21295C"/>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3" name="Google Shape;723;g3f6a040a5a3_1_60"/>
          <p:cNvSpPr/>
          <p:nvPr/>
        </p:nvSpPr>
        <p:spPr>
          <a:xfrm>
            <a:off x="6583680" y="342900"/>
            <a:ext cx="21603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900"/>
              <a:buFont typeface="Cambria"/>
              <a:buNone/>
            </a:pPr>
            <a:r>
              <a:rPr lang="en" sz="1900" b="1" i="0" u="none" strike="noStrike" cap="none">
                <a:solidFill>
                  <a:srgbClr val="FFFFFF"/>
                </a:solidFill>
                <a:latin typeface="Cambria"/>
                <a:ea typeface="Cambria"/>
                <a:cs typeface="Cambria"/>
                <a:sym typeface="Cambria"/>
              </a:rPr>
              <a:t>98%</a:t>
            </a:r>
            <a:r>
              <a:rPr lang="en" sz="1900" b="0" i="0" u="none" strike="noStrike" cap="none">
                <a:solidFill>
                  <a:srgbClr val="9FB0D9"/>
                </a:solidFill>
                <a:latin typeface="Cambria"/>
                <a:ea typeface="Cambria"/>
                <a:cs typeface="Cambria"/>
                <a:sym typeface="Cambria"/>
              </a:rPr>
              <a:t>  →  </a:t>
            </a:r>
            <a:r>
              <a:rPr lang="en" sz="1900" b="1" i="0" u="none" strike="noStrike" cap="none">
                <a:solidFill>
                  <a:srgbClr val="FFB627"/>
                </a:solidFill>
                <a:latin typeface="Cambria"/>
                <a:ea typeface="Cambria"/>
                <a:cs typeface="Cambria"/>
                <a:sym typeface="Cambria"/>
              </a:rPr>
              <a:t>61%</a:t>
            </a:r>
            <a:endParaRPr sz="1900" b="0" i="0" u="none" strike="noStrike" cap="none">
              <a:solidFill>
                <a:schemeClr val="dk1"/>
              </a:solidFill>
              <a:latin typeface="Calibri"/>
              <a:ea typeface="Calibri"/>
              <a:cs typeface="Calibri"/>
              <a:sym typeface="Calibri"/>
            </a:endParaRPr>
          </a:p>
        </p:txBody>
      </p:sp>
      <p:sp>
        <p:nvSpPr>
          <p:cNvPr id="724" name="Google Shape;724;g3f6a040a5a3_1_60"/>
          <p:cNvSpPr/>
          <p:nvPr/>
        </p:nvSpPr>
        <p:spPr>
          <a:xfrm>
            <a:off x="6686550" y="788670"/>
            <a:ext cx="1954500" cy="30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CADCFC"/>
              </a:buClr>
              <a:buSzPts val="900"/>
              <a:buFont typeface="Calibri"/>
              <a:buNone/>
            </a:pPr>
            <a:r>
              <a:rPr lang="en" sz="900" b="0" i="0" u="none" strike="noStrike" cap="none">
                <a:solidFill>
                  <a:srgbClr val="CADCFC"/>
                </a:solidFill>
                <a:latin typeface="Calibri"/>
                <a:ea typeface="Calibri"/>
                <a:cs typeface="Calibri"/>
                <a:sym typeface="Calibri"/>
              </a:rPr>
              <a:t>train vs. validation accuracy — a 37-pt gap</a:t>
            </a:r>
            <a:endParaRPr sz="900" b="0" i="0" u="none" strike="noStrike" cap="none">
              <a:solidFill>
                <a:schemeClr val="dk1"/>
              </a:solidFill>
              <a:latin typeface="Calibri"/>
              <a:ea typeface="Calibri"/>
              <a:cs typeface="Calibri"/>
              <a:sym typeface="Calibri"/>
            </a:endParaRPr>
          </a:p>
        </p:txBody>
      </p:sp>
      <p:sp>
        <p:nvSpPr>
          <p:cNvPr id="725" name="Google Shape;725;g3f6a040a5a3_1_60"/>
          <p:cNvSpPr/>
          <p:nvPr/>
        </p:nvSpPr>
        <p:spPr>
          <a:xfrm>
            <a:off x="411480" y="1268730"/>
            <a:ext cx="4114800" cy="1748700"/>
          </a:xfrm>
          <a:prstGeom prst="roundRect">
            <a:avLst>
              <a:gd name="adj" fmla="val 3922"/>
            </a:avLst>
          </a:prstGeom>
          <a:solidFill>
            <a:srgbClr val="F4F7FA"/>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 name="Google Shape;726;g3f6a040a5a3_1_60"/>
          <p:cNvSpPr/>
          <p:nvPr/>
        </p:nvSpPr>
        <p:spPr>
          <a:xfrm>
            <a:off x="651510" y="1508760"/>
            <a:ext cx="411600" cy="411600"/>
          </a:xfrm>
          <a:prstGeom prst="ellipse">
            <a:avLst/>
          </a:prstGeom>
          <a:solidFill>
            <a:srgbClr val="AEB8C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7" name="Google Shape;727;g3f6a040a5a3_1_60"/>
          <p:cNvSpPr/>
          <p:nvPr/>
        </p:nvSpPr>
        <p:spPr>
          <a:xfrm>
            <a:off x="651510" y="1508760"/>
            <a:ext cx="4116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700"/>
              <a:buFont typeface="Calibri"/>
              <a:buNone/>
            </a:pPr>
            <a:r>
              <a:rPr lang="en" sz="1700" b="1" i="0" u="none" strike="noStrike" cap="none">
                <a:solidFill>
                  <a:srgbClr val="FFFFFF"/>
                </a:solidFill>
                <a:latin typeface="Calibri"/>
                <a:ea typeface="Calibri"/>
                <a:cs typeface="Calibri"/>
                <a:sym typeface="Calibri"/>
              </a:rPr>
              <a:t>A</a:t>
            </a:r>
            <a:endParaRPr sz="1700" b="0" i="0" u="none" strike="noStrike" cap="none">
              <a:solidFill>
                <a:schemeClr val="dk1"/>
              </a:solidFill>
              <a:latin typeface="Calibri"/>
              <a:ea typeface="Calibri"/>
              <a:cs typeface="Calibri"/>
              <a:sym typeface="Calibri"/>
            </a:endParaRPr>
          </a:p>
        </p:txBody>
      </p:sp>
      <p:sp>
        <p:nvSpPr>
          <p:cNvPr id="728" name="Google Shape;728;g3f6a040a5a3_1_60"/>
          <p:cNvSpPr/>
          <p:nvPr/>
        </p:nvSpPr>
        <p:spPr>
          <a:xfrm>
            <a:off x="3977640" y="1460754"/>
            <a:ext cx="342900" cy="342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B85042"/>
              </a:buClr>
              <a:buSzPts val="1800"/>
              <a:buFont typeface="Calibri"/>
              <a:buNone/>
            </a:pPr>
            <a:r>
              <a:rPr lang="en" sz="1800" b="1" i="0" u="none" strike="noStrike" cap="none">
                <a:solidFill>
                  <a:srgbClr val="B85042"/>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729" name="Google Shape;729;g3f6a040a5a3_1_60"/>
          <p:cNvSpPr/>
          <p:nvPr/>
        </p:nvSpPr>
        <p:spPr>
          <a:xfrm>
            <a:off x="1200150" y="1460754"/>
            <a:ext cx="2674500" cy="44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1295C"/>
              </a:buClr>
              <a:buSzPts val="1400"/>
              <a:buFont typeface="Calibri"/>
              <a:buNone/>
            </a:pPr>
            <a:r>
              <a:rPr lang="en" sz="1400" b="1" i="0" u="none" strike="noStrike" cap="none">
                <a:solidFill>
                  <a:srgbClr val="21295C"/>
                </a:solidFill>
                <a:latin typeface="Calibri"/>
                <a:ea typeface="Calibri"/>
                <a:cs typeface="Calibri"/>
                <a:sym typeface="Calibri"/>
              </a:rPr>
              <a:t>Add layers / neurons</a:t>
            </a:r>
            <a:endParaRPr sz="1400" b="0" i="0" u="none" strike="noStrike" cap="none">
              <a:solidFill>
                <a:schemeClr val="dk1"/>
              </a:solidFill>
              <a:latin typeface="Calibri"/>
              <a:ea typeface="Calibri"/>
              <a:cs typeface="Calibri"/>
              <a:sym typeface="Calibri"/>
            </a:endParaRPr>
          </a:p>
        </p:txBody>
      </p:sp>
      <p:sp>
        <p:nvSpPr>
          <p:cNvPr id="730" name="Google Shape;730;g3f6a040a5a3_1_60"/>
          <p:cNvSpPr/>
          <p:nvPr/>
        </p:nvSpPr>
        <p:spPr>
          <a:xfrm>
            <a:off x="651510" y="2091690"/>
            <a:ext cx="3634500" cy="7545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5B6472"/>
              </a:buClr>
              <a:buSzPts val="1100"/>
              <a:buFont typeface="Calibri"/>
              <a:buNone/>
            </a:pPr>
            <a:r>
              <a:rPr lang="en" sz="1100" b="0" i="0" u="none" strike="noStrike" cap="none">
                <a:solidFill>
                  <a:srgbClr val="5B6472"/>
                </a:solidFill>
                <a:latin typeface="Calibri"/>
                <a:ea typeface="Calibri"/>
                <a:cs typeface="Calibri"/>
                <a:sym typeface="Calibri"/>
              </a:rPr>
              <a:t>Increases capacity — the model already has too much; this widens the gap.</a:t>
            </a:r>
            <a:endParaRPr sz="1100" b="0" i="0" u="none" strike="noStrike" cap="none">
              <a:solidFill>
                <a:schemeClr val="dk1"/>
              </a:solidFill>
              <a:latin typeface="Calibri"/>
              <a:ea typeface="Calibri"/>
              <a:cs typeface="Calibri"/>
              <a:sym typeface="Calibri"/>
            </a:endParaRPr>
          </a:p>
        </p:txBody>
      </p:sp>
      <p:sp>
        <p:nvSpPr>
          <p:cNvPr id="731" name="Google Shape;731;g3f6a040a5a3_1_60"/>
          <p:cNvSpPr/>
          <p:nvPr/>
        </p:nvSpPr>
        <p:spPr>
          <a:xfrm>
            <a:off x="4766310" y="1268730"/>
            <a:ext cx="4114800" cy="1748700"/>
          </a:xfrm>
          <a:prstGeom prst="roundRect">
            <a:avLst>
              <a:gd name="adj" fmla="val 3922"/>
            </a:avLst>
          </a:prstGeom>
          <a:solidFill>
            <a:srgbClr val="EAF3F4"/>
          </a:solidFill>
          <a:ln w="14300" cap="flat" cmpd="sng">
            <a:solidFill>
              <a:srgbClr val="1C7293"/>
            </a:solidFill>
            <a:prstDash val="solid"/>
            <a:round/>
            <a:headEnd type="none" w="sm" len="sm"/>
            <a:tailEnd type="none" w="sm" len="sm"/>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2" name="Google Shape;732;g3f6a040a5a3_1_60"/>
          <p:cNvSpPr/>
          <p:nvPr/>
        </p:nvSpPr>
        <p:spPr>
          <a:xfrm>
            <a:off x="5006340" y="1508760"/>
            <a:ext cx="411600" cy="411600"/>
          </a:xfrm>
          <a:prstGeom prst="ellipse">
            <a:avLst/>
          </a:prstGeom>
          <a:solidFill>
            <a:srgbClr val="1C7293"/>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3" name="Google Shape;733;g3f6a040a5a3_1_60"/>
          <p:cNvSpPr/>
          <p:nvPr/>
        </p:nvSpPr>
        <p:spPr>
          <a:xfrm>
            <a:off x="5006340" y="1508760"/>
            <a:ext cx="4116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700"/>
              <a:buFont typeface="Calibri"/>
              <a:buNone/>
            </a:pPr>
            <a:r>
              <a:rPr lang="en" sz="1700" b="1" i="0" u="none" strike="noStrike" cap="none">
                <a:solidFill>
                  <a:srgbClr val="FFFFFF"/>
                </a:solidFill>
                <a:latin typeface="Calibri"/>
                <a:ea typeface="Calibri"/>
                <a:cs typeface="Calibri"/>
                <a:sym typeface="Calibri"/>
              </a:rPr>
              <a:t>B</a:t>
            </a:r>
            <a:endParaRPr sz="1700" b="0" i="0" u="none" strike="noStrike" cap="none">
              <a:solidFill>
                <a:schemeClr val="dk1"/>
              </a:solidFill>
              <a:latin typeface="Calibri"/>
              <a:ea typeface="Calibri"/>
              <a:cs typeface="Calibri"/>
              <a:sym typeface="Calibri"/>
            </a:endParaRPr>
          </a:p>
        </p:txBody>
      </p:sp>
      <p:sp>
        <p:nvSpPr>
          <p:cNvPr id="734" name="Google Shape;734;g3f6a040a5a3_1_60"/>
          <p:cNvSpPr/>
          <p:nvPr/>
        </p:nvSpPr>
        <p:spPr>
          <a:xfrm>
            <a:off x="8332470" y="1460754"/>
            <a:ext cx="342900" cy="342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C7293"/>
              </a:buClr>
              <a:buSzPts val="1800"/>
              <a:buFont typeface="Calibri"/>
              <a:buNone/>
            </a:pPr>
            <a:r>
              <a:rPr lang="en" sz="1800" b="1" i="0" u="none" strike="noStrike" cap="none">
                <a:solidFill>
                  <a:srgbClr val="1C7293"/>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735" name="Google Shape;735;g3f6a040a5a3_1_60"/>
          <p:cNvSpPr/>
          <p:nvPr/>
        </p:nvSpPr>
        <p:spPr>
          <a:xfrm>
            <a:off x="5554980" y="1460754"/>
            <a:ext cx="2674500" cy="44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1295C"/>
              </a:buClr>
              <a:buSzPts val="1400"/>
              <a:buFont typeface="Calibri"/>
              <a:buNone/>
            </a:pPr>
            <a:r>
              <a:rPr lang="en" sz="1400" b="1" i="0" u="none" strike="noStrike" cap="none">
                <a:solidFill>
                  <a:srgbClr val="21295C"/>
                </a:solidFill>
                <a:latin typeface="Calibri"/>
                <a:ea typeface="Calibri"/>
                <a:cs typeface="Calibri"/>
                <a:sym typeface="Calibri"/>
              </a:rPr>
              <a:t>Apply L2 regularization</a:t>
            </a:r>
            <a:endParaRPr sz="1400" b="0" i="0" u="none" strike="noStrike" cap="none">
              <a:solidFill>
                <a:schemeClr val="dk1"/>
              </a:solidFill>
              <a:latin typeface="Calibri"/>
              <a:ea typeface="Calibri"/>
              <a:cs typeface="Calibri"/>
              <a:sym typeface="Calibri"/>
            </a:endParaRPr>
          </a:p>
        </p:txBody>
      </p:sp>
      <p:sp>
        <p:nvSpPr>
          <p:cNvPr id="736" name="Google Shape;736;g3f6a040a5a3_1_60"/>
          <p:cNvSpPr/>
          <p:nvPr/>
        </p:nvSpPr>
        <p:spPr>
          <a:xfrm>
            <a:off x="5006340" y="2091690"/>
            <a:ext cx="3634500" cy="7545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5B6472"/>
              </a:buClr>
              <a:buSzPts val="1100"/>
              <a:buFont typeface="Calibri"/>
              <a:buNone/>
            </a:pPr>
            <a:r>
              <a:rPr lang="en" sz="1100" b="0" i="0" u="none" strike="noStrike" cap="none">
                <a:solidFill>
                  <a:srgbClr val="5B6472"/>
                </a:solidFill>
                <a:latin typeface="Calibri"/>
                <a:ea typeface="Calibri"/>
                <a:cs typeface="Calibri"/>
                <a:sym typeface="Calibri"/>
              </a:rPr>
              <a:t>Shrinks weights, discourages memorizing noise — directly targets overfitting.</a:t>
            </a:r>
            <a:endParaRPr sz="1100" b="0" i="0" u="none" strike="noStrike" cap="none">
              <a:solidFill>
                <a:schemeClr val="dk1"/>
              </a:solidFill>
              <a:latin typeface="Calibri"/>
              <a:ea typeface="Calibri"/>
              <a:cs typeface="Calibri"/>
              <a:sym typeface="Calibri"/>
            </a:endParaRPr>
          </a:p>
        </p:txBody>
      </p:sp>
      <p:sp>
        <p:nvSpPr>
          <p:cNvPr id="737" name="Google Shape;737;g3f6a040a5a3_1_60"/>
          <p:cNvSpPr/>
          <p:nvPr/>
        </p:nvSpPr>
        <p:spPr>
          <a:xfrm>
            <a:off x="411480" y="3257550"/>
            <a:ext cx="4114800" cy="1748700"/>
          </a:xfrm>
          <a:prstGeom prst="roundRect">
            <a:avLst>
              <a:gd name="adj" fmla="val 3922"/>
            </a:avLst>
          </a:prstGeom>
          <a:solidFill>
            <a:srgbClr val="F4F7FA"/>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8" name="Google Shape;738;g3f6a040a5a3_1_60"/>
          <p:cNvSpPr/>
          <p:nvPr/>
        </p:nvSpPr>
        <p:spPr>
          <a:xfrm>
            <a:off x="651510" y="3497580"/>
            <a:ext cx="411600" cy="411600"/>
          </a:xfrm>
          <a:prstGeom prst="ellipse">
            <a:avLst/>
          </a:prstGeom>
          <a:solidFill>
            <a:srgbClr val="AEB8C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 name="Google Shape;739;g3f6a040a5a3_1_60"/>
          <p:cNvSpPr/>
          <p:nvPr/>
        </p:nvSpPr>
        <p:spPr>
          <a:xfrm>
            <a:off x="651510" y="3497580"/>
            <a:ext cx="4116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700"/>
              <a:buFont typeface="Calibri"/>
              <a:buNone/>
            </a:pPr>
            <a:r>
              <a:rPr lang="en" sz="1700" b="1" i="0" u="none" strike="noStrike" cap="none">
                <a:solidFill>
                  <a:srgbClr val="FFFFFF"/>
                </a:solidFill>
                <a:latin typeface="Calibri"/>
                <a:ea typeface="Calibri"/>
                <a:cs typeface="Calibri"/>
                <a:sym typeface="Calibri"/>
              </a:rPr>
              <a:t>C</a:t>
            </a:r>
            <a:endParaRPr sz="1700" b="0" i="0" u="none" strike="noStrike" cap="none">
              <a:solidFill>
                <a:schemeClr val="dk1"/>
              </a:solidFill>
              <a:latin typeface="Calibri"/>
              <a:ea typeface="Calibri"/>
              <a:cs typeface="Calibri"/>
              <a:sym typeface="Calibri"/>
            </a:endParaRPr>
          </a:p>
        </p:txBody>
      </p:sp>
      <p:sp>
        <p:nvSpPr>
          <p:cNvPr id="740" name="Google Shape;740;g3f6a040a5a3_1_60"/>
          <p:cNvSpPr/>
          <p:nvPr/>
        </p:nvSpPr>
        <p:spPr>
          <a:xfrm>
            <a:off x="3977640" y="3449574"/>
            <a:ext cx="342900" cy="342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B85042"/>
              </a:buClr>
              <a:buSzPts val="1800"/>
              <a:buFont typeface="Calibri"/>
              <a:buNone/>
            </a:pPr>
            <a:r>
              <a:rPr lang="en" sz="1800" b="1" i="0" u="none" strike="noStrike" cap="none">
                <a:solidFill>
                  <a:srgbClr val="B85042"/>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741" name="Google Shape;741;g3f6a040a5a3_1_60"/>
          <p:cNvSpPr/>
          <p:nvPr/>
        </p:nvSpPr>
        <p:spPr>
          <a:xfrm>
            <a:off x="1200150" y="3449574"/>
            <a:ext cx="2674500" cy="44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1295C"/>
              </a:buClr>
              <a:buSzPts val="1400"/>
              <a:buFont typeface="Calibri"/>
              <a:buNone/>
            </a:pPr>
            <a:r>
              <a:rPr lang="en" sz="1400" b="1" i="0" u="none" strike="noStrike" cap="none">
                <a:solidFill>
                  <a:srgbClr val="21295C"/>
                </a:solidFill>
                <a:latin typeface="Calibri"/>
                <a:ea typeface="Calibri"/>
                <a:cs typeface="Calibri"/>
                <a:sym typeface="Calibri"/>
              </a:rPr>
              <a:t>Train more epochs</a:t>
            </a:r>
            <a:endParaRPr sz="1400" b="0" i="0" u="none" strike="noStrike" cap="none">
              <a:solidFill>
                <a:schemeClr val="dk1"/>
              </a:solidFill>
              <a:latin typeface="Calibri"/>
              <a:ea typeface="Calibri"/>
              <a:cs typeface="Calibri"/>
              <a:sym typeface="Calibri"/>
            </a:endParaRPr>
          </a:p>
        </p:txBody>
      </p:sp>
      <p:sp>
        <p:nvSpPr>
          <p:cNvPr id="742" name="Google Shape;742;g3f6a040a5a3_1_60"/>
          <p:cNvSpPr/>
          <p:nvPr/>
        </p:nvSpPr>
        <p:spPr>
          <a:xfrm>
            <a:off x="651510" y="4080510"/>
            <a:ext cx="3634500" cy="7545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5B6472"/>
              </a:buClr>
              <a:buSzPts val="1100"/>
              <a:buFont typeface="Calibri"/>
              <a:buNone/>
            </a:pPr>
            <a:r>
              <a:rPr lang="en" sz="1100" b="0" i="0" u="none" strike="noStrike" cap="none">
                <a:solidFill>
                  <a:srgbClr val="5B6472"/>
                </a:solidFill>
                <a:latin typeface="Calibri"/>
                <a:ea typeface="Calibri"/>
                <a:cs typeface="Calibri"/>
                <a:sym typeface="Calibri"/>
              </a:rPr>
              <a:t>Model has likely converged; more epochs just deepens the overfit.</a:t>
            </a:r>
            <a:endParaRPr sz="1100" b="0" i="0" u="none" strike="noStrike" cap="none">
              <a:solidFill>
                <a:schemeClr val="dk1"/>
              </a:solidFill>
              <a:latin typeface="Calibri"/>
              <a:ea typeface="Calibri"/>
              <a:cs typeface="Calibri"/>
              <a:sym typeface="Calibri"/>
            </a:endParaRPr>
          </a:p>
        </p:txBody>
      </p:sp>
      <p:sp>
        <p:nvSpPr>
          <p:cNvPr id="743" name="Google Shape;743;g3f6a040a5a3_1_60"/>
          <p:cNvSpPr/>
          <p:nvPr/>
        </p:nvSpPr>
        <p:spPr>
          <a:xfrm>
            <a:off x="4766310" y="3257550"/>
            <a:ext cx="4114800" cy="1748700"/>
          </a:xfrm>
          <a:prstGeom prst="roundRect">
            <a:avLst>
              <a:gd name="adj" fmla="val 3922"/>
            </a:avLst>
          </a:prstGeom>
          <a:solidFill>
            <a:srgbClr val="F4F7FA"/>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4" name="Google Shape;744;g3f6a040a5a3_1_60"/>
          <p:cNvSpPr/>
          <p:nvPr/>
        </p:nvSpPr>
        <p:spPr>
          <a:xfrm>
            <a:off x="5006340" y="3497580"/>
            <a:ext cx="411600" cy="411600"/>
          </a:xfrm>
          <a:prstGeom prst="ellipse">
            <a:avLst/>
          </a:prstGeom>
          <a:solidFill>
            <a:srgbClr val="AEB8C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5" name="Google Shape;745;g3f6a040a5a3_1_60"/>
          <p:cNvSpPr/>
          <p:nvPr/>
        </p:nvSpPr>
        <p:spPr>
          <a:xfrm>
            <a:off x="5006340" y="3497580"/>
            <a:ext cx="4116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700"/>
              <a:buFont typeface="Calibri"/>
              <a:buNone/>
            </a:pPr>
            <a:r>
              <a:rPr lang="en" sz="1700" b="1" i="0" u="none" strike="noStrike" cap="none">
                <a:solidFill>
                  <a:srgbClr val="FFFFFF"/>
                </a:solidFill>
                <a:latin typeface="Calibri"/>
                <a:ea typeface="Calibri"/>
                <a:cs typeface="Calibri"/>
                <a:sym typeface="Calibri"/>
              </a:rPr>
              <a:t>D</a:t>
            </a:r>
            <a:endParaRPr sz="1700" b="0" i="0" u="none" strike="noStrike" cap="none">
              <a:solidFill>
                <a:schemeClr val="dk1"/>
              </a:solidFill>
              <a:latin typeface="Calibri"/>
              <a:ea typeface="Calibri"/>
              <a:cs typeface="Calibri"/>
              <a:sym typeface="Calibri"/>
            </a:endParaRPr>
          </a:p>
        </p:txBody>
      </p:sp>
      <p:sp>
        <p:nvSpPr>
          <p:cNvPr id="746" name="Google Shape;746;g3f6a040a5a3_1_60"/>
          <p:cNvSpPr/>
          <p:nvPr/>
        </p:nvSpPr>
        <p:spPr>
          <a:xfrm>
            <a:off x="8332470" y="3449574"/>
            <a:ext cx="342900" cy="342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B85042"/>
              </a:buClr>
              <a:buSzPts val="1800"/>
              <a:buFont typeface="Calibri"/>
              <a:buNone/>
            </a:pPr>
            <a:r>
              <a:rPr lang="en" sz="1800" b="1" i="0" u="none" strike="noStrike" cap="none">
                <a:solidFill>
                  <a:srgbClr val="B85042"/>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747" name="Google Shape;747;g3f6a040a5a3_1_60"/>
          <p:cNvSpPr/>
          <p:nvPr/>
        </p:nvSpPr>
        <p:spPr>
          <a:xfrm>
            <a:off x="5554980" y="3449574"/>
            <a:ext cx="2674500" cy="44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1295C"/>
              </a:buClr>
              <a:buSzPts val="1400"/>
              <a:buFont typeface="Calibri"/>
              <a:buNone/>
            </a:pPr>
            <a:r>
              <a:rPr lang="en" sz="1400" b="1" i="0" u="none" strike="noStrike" cap="none">
                <a:solidFill>
                  <a:srgbClr val="21295C"/>
                </a:solidFill>
                <a:latin typeface="Calibri"/>
                <a:ea typeface="Calibri"/>
                <a:cs typeface="Calibri"/>
                <a:sym typeface="Calibri"/>
              </a:rPr>
              <a:t>Drop the validation set</a:t>
            </a:r>
            <a:endParaRPr sz="1400" b="0" i="0" u="none" strike="noStrike" cap="none">
              <a:solidFill>
                <a:schemeClr val="dk1"/>
              </a:solidFill>
              <a:latin typeface="Calibri"/>
              <a:ea typeface="Calibri"/>
              <a:cs typeface="Calibri"/>
              <a:sym typeface="Calibri"/>
            </a:endParaRPr>
          </a:p>
        </p:txBody>
      </p:sp>
      <p:sp>
        <p:nvSpPr>
          <p:cNvPr id="748" name="Google Shape;748;g3f6a040a5a3_1_60"/>
          <p:cNvSpPr/>
          <p:nvPr/>
        </p:nvSpPr>
        <p:spPr>
          <a:xfrm>
            <a:off x="5006340" y="4080510"/>
            <a:ext cx="3634500" cy="7545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5B6472"/>
              </a:buClr>
              <a:buSzPts val="1100"/>
              <a:buFont typeface="Calibri"/>
              <a:buNone/>
            </a:pPr>
            <a:r>
              <a:rPr lang="en" sz="1100" b="0" i="0" u="none" strike="noStrike" cap="none">
                <a:solidFill>
                  <a:srgbClr val="5B6472"/>
                </a:solidFill>
                <a:latin typeface="Calibri"/>
                <a:ea typeface="Calibri"/>
                <a:cs typeface="Calibri"/>
                <a:sym typeface="Calibri"/>
              </a:rPr>
              <a:t>Hides the problem instead of fixing it — no way to detect overfitting anymore.</a:t>
            </a:r>
            <a:endParaRPr sz="1100" b="0" i="0" u="none" strike="noStrike" cap="none">
              <a:solidFill>
                <a:schemeClr val="dk1"/>
              </a:solidFill>
              <a:latin typeface="Calibri"/>
              <a:ea typeface="Calibri"/>
              <a:cs typeface="Calibri"/>
              <a:sym typeface="Calibri"/>
            </a:endParaRPr>
          </a:p>
        </p:txBody>
      </p:sp>
      <p:sp>
        <p:nvSpPr>
          <p:cNvPr id="749" name="Google Shape;749;g3f6a040a5a3_1_60"/>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53"/>
        <p:cNvGrpSpPr/>
        <p:nvPr/>
      </p:nvGrpSpPr>
      <p:grpSpPr>
        <a:xfrm>
          <a:off x="0" y="0"/>
          <a:ext cx="0" cy="0"/>
          <a:chOff x="0" y="0"/>
          <a:chExt cx="0" cy="0"/>
        </a:xfrm>
      </p:grpSpPr>
      <p:pic>
        <p:nvPicPr>
          <p:cNvPr id="754" name="Google Shape;754;p3"/>
          <p:cNvPicPr preferRelativeResize="0"/>
          <p:nvPr/>
        </p:nvPicPr>
        <p:blipFill rotWithShape="1">
          <a:blip r:embed="rId4">
            <a:alphaModFix/>
          </a:blip>
          <a:srcRect/>
          <a:stretch/>
        </p:blipFill>
        <p:spPr>
          <a:xfrm>
            <a:off x="8369125" y="0"/>
            <a:ext cx="774877" cy="867174"/>
          </a:xfrm>
          <a:prstGeom prst="rect">
            <a:avLst/>
          </a:prstGeom>
          <a:noFill/>
          <a:ln>
            <a:noFill/>
          </a:ln>
        </p:spPr>
      </p:pic>
      <p:cxnSp>
        <p:nvCxnSpPr>
          <p:cNvPr id="755" name="Google Shape;755;p3"/>
          <p:cNvCxnSpPr/>
          <p:nvPr/>
        </p:nvCxnSpPr>
        <p:spPr>
          <a:xfrm rot="10800000" flipH="1">
            <a:off x="274320" y="2743200"/>
            <a:ext cx="1371600" cy="1371600"/>
          </a:xfrm>
          <a:prstGeom prst="straightConnector1">
            <a:avLst/>
          </a:prstGeom>
          <a:noFill/>
          <a:ln w="9525" cap="flat" cmpd="sng">
            <a:solidFill>
              <a:srgbClr val="BDBDBD">
                <a:alpha val="30196"/>
              </a:srgbClr>
            </a:solidFill>
            <a:prstDash val="solid"/>
            <a:round/>
            <a:headEnd type="none" w="sm" len="sm"/>
            <a:tailEnd type="none" w="sm" len="sm"/>
          </a:ln>
        </p:spPr>
      </p:cxnSp>
      <p:cxnSp>
        <p:nvCxnSpPr>
          <p:cNvPr id="756" name="Google Shape;756;p3"/>
          <p:cNvCxnSpPr/>
          <p:nvPr/>
        </p:nvCxnSpPr>
        <p:spPr>
          <a:xfrm>
            <a:off x="1645920" y="2743200"/>
            <a:ext cx="1554600" cy="1828800"/>
          </a:xfrm>
          <a:prstGeom prst="straightConnector1">
            <a:avLst/>
          </a:prstGeom>
          <a:noFill/>
          <a:ln w="9525" cap="flat" cmpd="sng">
            <a:solidFill>
              <a:srgbClr val="BDBDBD">
                <a:alpha val="30196"/>
              </a:srgbClr>
            </a:solidFill>
            <a:prstDash val="solid"/>
            <a:round/>
            <a:headEnd type="none" w="sm" len="sm"/>
            <a:tailEnd type="none" w="sm" len="sm"/>
          </a:ln>
        </p:spPr>
      </p:cxnSp>
      <p:cxnSp>
        <p:nvCxnSpPr>
          <p:cNvPr id="757" name="Google Shape;757;p3"/>
          <p:cNvCxnSpPr/>
          <p:nvPr/>
        </p:nvCxnSpPr>
        <p:spPr>
          <a:xfrm>
            <a:off x="5486400" y="3840480"/>
            <a:ext cx="2286000" cy="1005900"/>
          </a:xfrm>
          <a:prstGeom prst="straightConnector1">
            <a:avLst/>
          </a:prstGeom>
          <a:noFill/>
          <a:ln w="9525" cap="flat" cmpd="sng">
            <a:solidFill>
              <a:srgbClr val="BDBDBD">
                <a:alpha val="30196"/>
              </a:srgbClr>
            </a:solidFill>
            <a:prstDash val="solid"/>
            <a:round/>
            <a:headEnd type="none" w="sm" len="sm"/>
            <a:tailEnd type="none" w="sm" len="sm"/>
          </a:ln>
        </p:spPr>
      </p:cxnSp>
      <p:cxnSp>
        <p:nvCxnSpPr>
          <p:cNvPr id="758" name="Google Shape;758;p3"/>
          <p:cNvCxnSpPr/>
          <p:nvPr/>
        </p:nvCxnSpPr>
        <p:spPr>
          <a:xfrm rot="10800000" flipH="1">
            <a:off x="7772400" y="2743320"/>
            <a:ext cx="1280100" cy="2103000"/>
          </a:xfrm>
          <a:prstGeom prst="straightConnector1">
            <a:avLst/>
          </a:prstGeom>
          <a:noFill/>
          <a:ln w="9525" cap="flat" cmpd="sng">
            <a:solidFill>
              <a:srgbClr val="BDBDBD">
                <a:alpha val="30196"/>
              </a:srgbClr>
            </a:solidFill>
            <a:prstDash val="solid"/>
            <a:round/>
            <a:headEnd type="none" w="sm" len="sm"/>
            <a:tailEnd type="none" w="sm" len="sm"/>
          </a:ln>
        </p:spPr>
      </p:cxnSp>
      <p:cxnSp>
        <p:nvCxnSpPr>
          <p:cNvPr id="759" name="Google Shape;759;p3"/>
          <p:cNvCxnSpPr/>
          <p:nvPr/>
        </p:nvCxnSpPr>
        <p:spPr>
          <a:xfrm flipH="1">
            <a:off x="1645800" y="1097280"/>
            <a:ext cx="640200" cy="1645800"/>
          </a:xfrm>
          <a:prstGeom prst="straightConnector1">
            <a:avLst/>
          </a:prstGeom>
          <a:noFill/>
          <a:ln w="9525" cap="flat" cmpd="sng">
            <a:solidFill>
              <a:srgbClr val="BDBDBD">
                <a:alpha val="30196"/>
              </a:srgbClr>
            </a:solidFill>
            <a:prstDash val="solid"/>
            <a:round/>
            <a:headEnd type="none" w="sm" len="sm"/>
            <a:tailEnd type="none" w="sm" len="sm"/>
          </a:ln>
        </p:spPr>
      </p:cxnSp>
      <p:cxnSp>
        <p:nvCxnSpPr>
          <p:cNvPr id="760" name="Google Shape;760;p3"/>
          <p:cNvCxnSpPr/>
          <p:nvPr/>
        </p:nvCxnSpPr>
        <p:spPr>
          <a:xfrm flipH="1">
            <a:off x="5486400" y="1645920"/>
            <a:ext cx="1371600" cy="2194500"/>
          </a:xfrm>
          <a:prstGeom prst="straightConnector1">
            <a:avLst/>
          </a:prstGeom>
          <a:noFill/>
          <a:ln w="9525" cap="flat" cmpd="sng">
            <a:solidFill>
              <a:srgbClr val="BDBDBD">
                <a:alpha val="30196"/>
              </a:srgbClr>
            </a:solidFill>
            <a:prstDash val="solid"/>
            <a:round/>
            <a:headEnd type="none" w="sm" len="sm"/>
            <a:tailEnd type="none" w="sm" len="sm"/>
          </a:ln>
        </p:spPr>
      </p:cxnSp>
      <p:cxnSp>
        <p:nvCxnSpPr>
          <p:cNvPr id="761" name="Google Shape;761;p3"/>
          <p:cNvCxnSpPr/>
          <p:nvPr/>
        </p:nvCxnSpPr>
        <p:spPr>
          <a:xfrm flipH="1">
            <a:off x="7772520" y="182880"/>
            <a:ext cx="1188600" cy="4663500"/>
          </a:xfrm>
          <a:prstGeom prst="straightConnector1">
            <a:avLst/>
          </a:prstGeom>
          <a:noFill/>
          <a:ln w="9525" cap="flat" cmpd="sng">
            <a:solidFill>
              <a:srgbClr val="BDBDBD">
                <a:alpha val="30196"/>
              </a:srgbClr>
            </a:solidFill>
            <a:prstDash val="solid"/>
            <a:round/>
            <a:headEnd type="none" w="sm" len="sm"/>
            <a:tailEnd type="none" w="sm" len="sm"/>
          </a:ln>
        </p:spPr>
      </p:cxnSp>
      <p:sp>
        <p:nvSpPr>
          <p:cNvPr id="762" name="Google Shape;762;p3"/>
          <p:cNvSpPr/>
          <p:nvPr/>
        </p:nvSpPr>
        <p:spPr>
          <a:xfrm>
            <a:off x="2249424" y="106070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3" name="Google Shape;763;p3"/>
          <p:cNvSpPr/>
          <p:nvPr/>
        </p:nvSpPr>
        <p:spPr>
          <a:xfrm>
            <a:off x="6821424" y="160934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4" name="Google Shape;764;p3"/>
          <p:cNvSpPr/>
          <p:nvPr/>
        </p:nvSpPr>
        <p:spPr>
          <a:xfrm>
            <a:off x="237744" y="407822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5" name="Google Shape;765;p3"/>
          <p:cNvSpPr/>
          <p:nvPr/>
        </p:nvSpPr>
        <p:spPr>
          <a:xfrm>
            <a:off x="1609344" y="270662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6" name="Google Shape;766;p3"/>
          <p:cNvSpPr/>
          <p:nvPr/>
        </p:nvSpPr>
        <p:spPr>
          <a:xfrm>
            <a:off x="5449824" y="3803904"/>
            <a:ext cx="73200" cy="73200"/>
          </a:xfrm>
          <a:prstGeom prst="ellipse">
            <a:avLst/>
          </a:prstGeom>
          <a:solidFill>
            <a:srgbClr val="9E9E9E">
              <a:alpha val="40000"/>
            </a:srgbClr>
          </a:solidFill>
          <a:ln w="12700" cap="flat" cmpd="sng">
            <a:solidFill>
              <a:srgbClr val="9E9E9E">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7" name="Google Shape;767;p3"/>
          <p:cNvSpPr/>
          <p:nvPr/>
        </p:nvSpPr>
        <p:spPr>
          <a:xfrm>
            <a:off x="365760" y="210380"/>
            <a:ext cx="7863900" cy="594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A237E"/>
              </a:buClr>
              <a:buSzPts val="3000"/>
              <a:buFont typeface="Calibri"/>
              <a:buNone/>
            </a:pPr>
            <a:r>
              <a:rPr lang="en" sz="3000" b="1" i="0" u="none" strike="noStrike" cap="none">
                <a:solidFill>
                  <a:srgbClr val="1A237E"/>
                </a:solidFill>
                <a:latin typeface="Calibri"/>
                <a:ea typeface="Calibri"/>
                <a:cs typeface="Calibri"/>
                <a:sym typeface="Calibri"/>
              </a:rPr>
              <a:t>Parameters vs Hyperparameters</a:t>
            </a:r>
            <a:endParaRPr sz="3000" b="0" i="0" u="none" strike="noStrike" cap="none">
              <a:solidFill>
                <a:srgbClr val="000000"/>
              </a:solidFill>
              <a:latin typeface="Calibri"/>
              <a:ea typeface="Calibri"/>
              <a:cs typeface="Calibri"/>
              <a:sym typeface="Calibri"/>
            </a:endParaRPr>
          </a:p>
        </p:txBody>
      </p:sp>
      <p:sp>
        <p:nvSpPr>
          <p:cNvPr id="768" name="Google Shape;768;p3"/>
          <p:cNvSpPr/>
          <p:nvPr/>
        </p:nvSpPr>
        <p:spPr>
          <a:xfrm>
            <a:off x="274320" y="914400"/>
            <a:ext cx="3931800" cy="4023300"/>
          </a:xfrm>
          <a:prstGeom prst="rect">
            <a:avLst/>
          </a:prstGeom>
          <a:solidFill>
            <a:srgbClr val="E3F2FD"/>
          </a:solidFill>
          <a:ln w="12700" cap="flat" cmpd="sng">
            <a:solidFill>
              <a:srgbClr val="90CAF9"/>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9" name="Google Shape;769;p3"/>
          <p:cNvSpPr/>
          <p:nvPr/>
        </p:nvSpPr>
        <p:spPr>
          <a:xfrm>
            <a:off x="274320" y="914400"/>
            <a:ext cx="3931800" cy="45720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0" name="Google Shape;770;p3"/>
          <p:cNvSpPr/>
          <p:nvPr/>
        </p:nvSpPr>
        <p:spPr>
          <a:xfrm>
            <a:off x="274320" y="914400"/>
            <a:ext cx="393180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 sz="1800" b="1" i="0" u="none" strike="noStrike" cap="none">
                <a:solidFill>
                  <a:srgbClr val="FFFFFF"/>
                </a:solidFill>
                <a:latin typeface="Calibri"/>
                <a:ea typeface="Calibri"/>
                <a:cs typeface="Calibri"/>
                <a:sym typeface="Calibri"/>
              </a:rPr>
              <a:t>Parameters</a:t>
            </a:r>
            <a:endParaRPr sz="1800" b="0" i="0" u="none" strike="noStrike" cap="none">
              <a:solidFill>
                <a:srgbClr val="000000"/>
              </a:solidFill>
              <a:latin typeface="Calibri"/>
              <a:ea typeface="Calibri"/>
              <a:cs typeface="Calibri"/>
              <a:sym typeface="Calibri"/>
            </a:endParaRPr>
          </a:p>
        </p:txBody>
      </p:sp>
      <p:sp>
        <p:nvSpPr>
          <p:cNvPr id="771" name="Google Shape;771;p3"/>
          <p:cNvSpPr/>
          <p:nvPr/>
        </p:nvSpPr>
        <p:spPr>
          <a:xfrm>
            <a:off x="502920" y="1481328"/>
            <a:ext cx="3520500" cy="10059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7474F"/>
              </a:buClr>
              <a:buSzPts val="1300"/>
              <a:buFont typeface="Calibri"/>
              <a:buChar char="•"/>
            </a:pPr>
            <a:r>
              <a:rPr lang="en" sz="1300" b="0" i="0" u="none" strike="noStrike" cap="none">
                <a:solidFill>
                  <a:srgbClr val="37474F"/>
                </a:solidFill>
                <a:latin typeface="Calibri"/>
                <a:ea typeface="Calibri"/>
                <a:cs typeface="Calibri"/>
                <a:sym typeface="Calibri"/>
              </a:rPr>
              <a:t>Learned automatically during training</a:t>
            </a:r>
            <a:endParaRPr sz="13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400"/>
              </a:spcBef>
              <a:spcAft>
                <a:spcPts val="0"/>
              </a:spcAft>
              <a:buClr>
                <a:srgbClr val="37474F"/>
              </a:buClr>
              <a:buSzPts val="1300"/>
              <a:buFont typeface="Calibri"/>
              <a:buChar char="•"/>
            </a:pPr>
            <a:r>
              <a:rPr lang="en" sz="1300" b="0" i="0" u="none" strike="noStrike" cap="none">
                <a:solidFill>
                  <a:srgbClr val="37474F"/>
                </a:solidFill>
                <a:latin typeface="Calibri"/>
                <a:ea typeface="Calibri"/>
                <a:cs typeface="Calibri"/>
                <a:sym typeface="Calibri"/>
              </a:rPr>
              <a:t>Internal to the model</a:t>
            </a:r>
            <a:endParaRPr sz="13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400"/>
              </a:spcBef>
              <a:spcAft>
                <a:spcPts val="0"/>
              </a:spcAft>
              <a:buClr>
                <a:srgbClr val="37474F"/>
              </a:buClr>
              <a:buSzPts val="1300"/>
              <a:buFont typeface="Calibri"/>
              <a:buChar char="•"/>
            </a:pPr>
            <a:r>
              <a:rPr lang="en" sz="1300" b="0" i="0" u="none" strike="noStrike" cap="none">
                <a:solidFill>
                  <a:srgbClr val="37474F"/>
                </a:solidFill>
                <a:latin typeface="Calibri"/>
                <a:ea typeface="Calibri"/>
                <a:cs typeface="Calibri"/>
                <a:sym typeface="Calibri"/>
              </a:rPr>
              <a:t>Updated by the optimizer (e.g. gradient descent)</a:t>
            </a:r>
            <a:endParaRPr sz="1300" b="0" i="0" u="none" strike="noStrike" cap="none">
              <a:solidFill>
                <a:srgbClr val="000000"/>
              </a:solidFill>
              <a:latin typeface="Calibri"/>
              <a:ea typeface="Calibri"/>
              <a:cs typeface="Calibri"/>
              <a:sym typeface="Calibri"/>
            </a:endParaRPr>
          </a:p>
        </p:txBody>
      </p:sp>
      <p:sp>
        <p:nvSpPr>
          <p:cNvPr id="772" name="Google Shape;772;p3"/>
          <p:cNvSpPr/>
          <p:nvPr/>
        </p:nvSpPr>
        <p:spPr>
          <a:xfrm>
            <a:off x="457200" y="2578608"/>
            <a:ext cx="3520500" cy="914400"/>
          </a:xfrm>
          <a:prstGeom prst="rect">
            <a:avLst/>
          </a:prstGeom>
          <a:solidFill>
            <a:srgbClr val="FFFFFF"/>
          </a:solidFill>
          <a:ln w="12700" cap="flat" cmpd="sng">
            <a:solidFill>
              <a:srgbClr val="90CAF9"/>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3" name="Google Shape;773;p3"/>
          <p:cNvSpPr/>
          <p:nvPr/>
        </p:nvSpPr>
        <p:spPr>
          <a:xfrm>
            <a:off x="548640" y="2615184"/>
            <a:ext cx="32004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838F"/>
              </a:buClr>
              <a:buSzPts val="1200"/>
              <a:buFont typeface="Calibri"/>
              <a:buNone/>
            </a:pPr>
            <a:r>
              <a:rPr lang="en" sz="1200" b="1" i="0" u="none" strike="noStrike" cap="none">
                <a:solidFill>
                  <a:srgbClr val="00838F"/>
                </a:solidFill>
                <a:latin typeface="Calibri"/>
                <a:ea typeface="Calibri"/>
                <a:cs typeface="Calibri"/>
                <a:sym typeface="Calibri"/>
              </a:rPr>
              <a:t>Examples</a:t>
            </a:r>
            <a:endParaRPr sz="1200" b="0" i="0" u="none" strike="noStrike" cap="none">
              <a:solidFill>
                <a:srgbClr val="000000"/>
              </a:solidFill>
              <a:latin typeface="Calibri"/>
              <a:ea typeface="Calibri"/>
              <a:cs typeface="Calibri"/>
              <a:sym typeface="Calibri"/>
            </a:endParaRPr>
          </a:p>
        </p:txBody>
      </p:sp>
      <p:sp>
        <p:nvSpPr>
          <p:cNvPr id="774" name="Google Shape;774;p3"/>
          <p:cNvSpPr/>
          <p:nvPr/>
        </p:nvSpPr>
        <p:spPr>
          <a:xfrm>
            <a:off x="548640" y="2871216"/>
            <a:ext cx="3200400" cy="548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 Weights &amp; biases in a neural network</a:t>
            </a: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 Coefficients in linear regression</a:t>
            </a:r>
            <a:endParaRPr sz="1200" b="0" i="0" u="none" strike="noStrike" cap="none">
              <a:solidFill>
                <a:srgbClr val="000000"/>
              </a:solidFill>
              <a:latin typeface="Calibri"/>
              <a:ea typeface="Calibri"/>
              <a:cs typeface="Calibri"/>
              <a:sym typeface="Calibri"/>
            </a:endParaRPr>
          </a:p>
        </p:txBody>
      </p:sp>
      <p:sp>
        <p:nvSpPr>
          <p:cNvPr id="775" name="Google Shape;775;p3"/>
          <p:cNvSpPr/>
          <p:nvPr/>
        </p:nvSpPr>
        <p:spPr>
          <a:xfrm>
            <a:off x="457200" y="3657600"/>
            <a:ext cx="3520500" cy="320100"/>
          </a:xfrm>
          <a:prstGeom prst="roundRect">
            <a:avLst>
              <a:gd name="adj" fmla="val 22857"/>
            </a:avLst>
          </a:prstGeom>
          <a:solidFill>
            <a:srgbClr val="00838F">
              <a:alpha val="20000"/>
            </a:srgbClr>
          </a:solidFill>
          <a:ln w="1015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6" name="Google Shape;776;p3"/>
          <p:cNvSpPr/>
          <p:nvPr/>
        </p:nvSpPr>
        <p:spPr>
          <a:xfrm>
            <a:off x="457200" y="3657600"/>
            <a:ext cx="3520500" cy="320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838F"/>
              </a:buClr>
              <a:buSzPts val="1100"/>
              <a:buFont typeface="Calibri"/>
              <a:buNone/>
            </a:pPr>
            <a:r>
              <a:rPr lang="en" sz="1100" b="1" i="0" u="none" strike="noStrike" cap="none">
                <a:solidFill>
                  <a:srgbClr val="00838F"/>
                </a:solidFill>
                <a:latin typeface="Calibri"/>
                <a:ea typeface="Calibri"/>
                <a:cs typeface="Calibri"/>
                <a:sym typeface="Calibri"/>
              </a:rPr>
              <a:t>Set by: Optimizer  •  Not chosen by you</a:t>
            </a:r>
            <a:endParaRPr sz="1100" b="0" i="0" u="none" strike="noStrike" cap="none">
              <a:solidFill>
                <a:srgbClr val="000000"/>
              </a:solidFill>
              <a:latin typeface="Calibri"/>
              <a:ea typeface="Calibri"/>
              <a:cs typeface="Calibri"/>
              <a:sym typeface="Calibri"/>
            </a:endParaRPr>
          </a:p>
        </p:txBody>
      </p:sp>
      <p:sp>
        <p:nvSpPr>
          <p:cNvPr id="777" name="Google Shape;777;p3"/>
          <p:cNvSpPr/>
          <p:nvPr/>
        </p:nvSpPr>
        <p:spPr>
          <a:xfrm>
            <a:off x="4937760" y="914400"/>
            <a:ext cx="3931800" cy="4023300"/>
          </a:xfrm>
          <a:prstGeom prst="rect">
            <a:avLst/>
          </a:prstGeom>
          <a:solidFill>
            <a:srgbClr val="E0F7FA"/>
          </a:solidFill>
          <a:ln w="12700" cap="flat" cmpd="sng">
            <a:solidFill>
              <a:srgbClr val="80DEEA"/>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8" name="Google Shape;778;p3"/>
          <p:cNvSpPr/>
          <p:nvPr/>
        </p:nvSpPr>
        <p:spPr>
          <a:xfrm>
            <a:off x="4937760" y="914400"/>
            <a:ext cx="3931800" cy="457200"/>
          </a:xfrm>
          <a:prstGeom prst="rect">
            <a:avLst/>
          </a:prstGeom>
          <a:solidFill>
            <a:srgbClr val="00ACC1"/>
          </a:solidFill>
          <a:ln w="12700" cap="flat" cmpd="sng">
            <a:solidFill>
              <a:srgbClr val="00ACC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9" name="Google Shape;779;p3"/>
          <p:cNvSpPr/>
          <p:nvPr/>
        </p:nvSpPr>
        <p:spPr>
          <a:xfrm>
            <a:off x="4937760" y="914400"/>
            <a:ext cx="393180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 sz="1800" b="1" i="0" u="none" strike="noStrike" cap="none">
                <a:solidFill>
                  <a:srgbClr val="FFFFFF"/>
                </a:solidFill>
                <a:latin typeface="Calibri"/>
                <a:ea typeface="Calibri"/>
                <a:cs typeface="Calibri"/>
                <a:sym typeface="Calibri"/>
              </a:rPr>
              <a:t>Hyperparameters</a:t>
            </a:r>
            <a:endParaRPr sz="1800" b="0" i="0" u="none" strike="noStrike" cap="none">
              <a:solidFill>
                <a:srgbClr val="000000"/>
              </a:solidFill>
              <a:latin typeface="Calibri"/>
              <a:ea typeface="Calibri"/>
              <a:cs typeface="Calibri"/>
              <a:sym typeface="Calibri"/>
            </a:endParaRPr>
          </a:p>
        </p:txBody>
      </p:sp>
      <p:sp>
        <p:nvSpPr>
          <p:cNvPr id="780" name="Google Shape;780;p3"/>
          <p:cNvSpPr/>
          <p:nvPr/>
        </p:nvSpPr>
        <p:spPr>
          <a:xfrm>
            <a:off x="5166360" y="1481328"/>
            <a:ext cx="3520500" cy="10059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7474F"/>
              </a:buClr>
              <a:buSzPts val="1300"/>
              <a:buFont typeface="Calibri"/>
              <a:buChar char="•"/>
            </a:pPr>
            <a:r>
              <a:rPr lang="en" sz="1300" b="0" i="0" u="none" strike="noStrike" cap="none">
                <a:solidFill>
                  <a:srgbClr val="37474F"/>
                </a:solidFill>
                <a:latin typeface="Calibri"/>
                <a:ea typeface="Calibri"/>
                <a:cs typeface="Calibri"/>
                <a:sym typeface="Calibri"/>
              </a:rPr>
              <a:t>Set before training begins</a:t>
            </a:r>
            <a:endParaRPr sz="13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400"/>
              </a:spcBef>
              <a:spcAft>
                <a:spcPts val="0"/>
              </a:spcAft>
              <a:buClr>
                <a:srgbClr val="37474F"/>
              </a:buClr>
              <a:buSzPts val="1300"/>
              <a:buFont typeface="Calibri"/>
              <a:buChar char="•"/>
            </a:pPr>
            <a:r>
              <a:rPr lang="en" sz="1300" b="0" i="0" u="none" strike="noStrike" cap="none">
                <a:solidFill>
                  <a:srgbClr val="37474F"/>
                </a:solidFill>
                <a:latin typeface="Calibri"/>
                <a:ea typeface="Calibri"/>
                <a:cs typeface="Calibri"/>
                <a:sym typeface="Calibri"/>
              </a:rPr>
              <a:t>External configuration of the model</a:t>
            </a:r>
            <a:endParaRPr sz="13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400"/>
              </a:spcBef>
              <a:spcAft>
                <a:spcPts val="0"/>
              </a:spcAft>
              <a:buClr>
                <a:srgbClr val="37474F"/>
              </a:buClr>
              <a:buSzPts val="1300"/>
              <a:buFont typeface="Calibri"/>
              <a:buChar char="•"/>
            </a:pPr>
            <a:r>
              <a:rPr lang="en" sz="1300" b="0" i="0" u="none" strike="noStrike" cap="none">
                <a:solidFill>
                  <a:srgbClr val="37474F"/>
                </a:solidFill>
                <a:latin typeface="Calibri"/>
                <a:ea typeface="Calibri"/>
                <a:cs typeface="Calibri"/>
                <a:sym typeface="Calibri"/>
              </a:rPr>
              <a:t>Chosen &amp; tuned by the data scientist</a:t>
            </a:r>
            <a:endParaRPr sz="1300" b="0" i="0" u="none" strike="noStrike" cap="none">
              <a:solidFill>
                <a:srgbClr val="000000"/>
              </a:solidFill>
              <a:latin typeface="Calibri"/>
              <a:ea typeface="Calibri"/>
              <a:cs typeface="Calibri"/>
              <a:sym typeface="Calibri"/>
            </a:endParaRPr>
          </a:p>
        </p:txBody>
      </p:sp>
      <p:sp>
        <p:nvSpPr>
          <p:cNvPr id="781" name="Google Shape;781;p3"/>
          <p:cNvSpPr/>
          <p:nvPr/>
        </p:nvSpPr>
        <p:spPr>
          <a:xfrm>
            <a:off x="5120640" y="2578608"/>
            <a:ext cx="3520500" cy="914400"/>
          </a:xfrm>
          <a:prstGeom prst="rect">
            <a:avLst/>
          </a:prstGeom>
          <a:solidFill>
            <a:srgbClr val="FFFFFF"/>
          </a:solidFill>
          <a:ln w="12700" cap="flat" cmpd="sng">
            <a:solidFill>
              <a:srgbClr val="80DEEA"/>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2" name="Google Shape;782;p3"/>
          <p:cNvSpPr/>
          <p:nvPr/>
        </p:nvSpPr>
        <p:spPr>
          <a:xfrm>
            <a:off x="5212080" y="2615184"/>
            <a:ext cx="32004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838F"/>
              </a:buClr>
              <a:buSzPts val="1200"/>
              <a:buFont typeface="Calibri"/>
              <a:buNone/>
            </a:pPr>
            <a:r>
              <a:rPr lang="en" sz="1200" b="1" i="0" u="none" strike="noStrike" cap="none">
                <a:solidFill>
                  <a:srgbClr val="00838F"/>
                </a:solidFill>
                <a:latin typeface="Calibri"/>
                <a:ea typeface="Calibri"/>
                <a:cs typeface="Calibri"/>
                <a:sym typeface="Calibri"/>
              </a:rPr>
              <a:t>Examples</a:t>
            </a:r>
            <a:endParaRPr sz="1200" b="0" i="0" u="none" strike="noStrike" cap="none">
              <a:solidFill>
                <a:srgbClr val="000000"/>
              </a:solidFill>
              <a:latin typeface="Calibri"/>
              <a:ea typeface="Calibri"/>
              <a:cs typeface="Calibri"/>
              <a:sym typeface="Calibri"/>
            </a:endParaRPr>
          </a:p>
        </p:txBody>
      </p:sp>
      <p:sp>
        <p:nvSpPr>
          <p:cNvPr id="783" name="Google Shape;783;p3"/>
          <p:cNvSpPr/>
          <p:nvPr/>
        </p:nvSpPr>
        <p:spPr>
          <a:xfrm>
            <a:off x="5212080" y="2871216"/>
            <a:ext cx="3200400" cy="548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 Learning rate, batch size, epochs</a:t>
            </a:r>
            <a:endParaRPr sz="12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37474F"/>
              </a:buClr>
              <a:buSzPts val="1200"/>
              <a:buFont typeface="Calibri"/>
              <a:buNone/>
            </a:pPr>
            <a:r>
              <a:rPr lang="en" sz="1200" b="0" i="0" u="none" strike="noStrike" cap="none">
                <a:solidFill>
                  <a:srgbClr val="37474F"/>
                </a:solidFill>
                <a:latin typeface="Calibri"/>
                <a:ea typeface="Calibri"/>
                <a:cs typeface="Calibri"/>
                <a:sym typeface="Calibri"/>
              </a:rPr>
              <a:t>• Number of layers, dropout rate</a:t>
            </a:r>
            <a:endParaRPr sz="1200" b="0" i="0" u="none" strike="noStrike" cap="none">
              <a:solidFill>
                <a:srgbClr val="000000"/>
              </a:solidFill>
              <a:latin typeface="Calibri"/>
              <a:ea typeface="Calibri"/>
              <a:cs typeface="Calibri"/>
              <a:sym typeface="Calibri"/>
            </a:endParaRPr>
          </a:p>
        </p:txBody>
      </p:sp>
      <p:sp>
        <p:nvSpPr>
          <p:cNvPr id="784" name="Google Shape;784;p3"/>
          <p:cNvSpPr/>
          <p:nvPr/>
        </p:nvSpPr>
        <p:spPr>
          <a:xfrm>
            <a:off x="5120640" y="3657600"/>
            <a:ext cx="3520500" cy="320100"/>
          </a:xfrm>
          <a:prstGeom prst="roundRect">
            <a:avLst>
              <a:gd name="adj" fmla="val 22857"/>
            </a:avLst>
          </a:prstGeom>
          <a:solidFill>
            <a:srgbClr val="00ACC1">
              <a:alpha val="20000"/>
            </a:srgbClr>
          </a:solidFill>
          <a:ln w="10150" cap="flat" cmpd="sng">
            <a:solidFill>
              <a:srgbClr val="00ACC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5" name="Google Shape;785;p3"/>
          <p:cNvSpPr/>
          <p:nvPr/>
        </p:nvSpPr>
        <p:spPr>
          <a:xfrm>
            <a:off x="5120640" y="3657600"/>
            <a:ext cx="3520500" cy="320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838F"/>
              </a:buClr>
              <a:buSzPts val="1100"/>
              <a:buFont typeface="Calibri"/>
              <a:buNone/>
            </a:pPr>
            <a:r>
              <a:rPr lang="en" sz="1100" b="1" i="0" u="none" strike="noStrike" cap="none">
                <a:solidFill>
                  <a:srgbClr val="00838F"/>
                </a:solidFill>
                <a:latin typeface="Calibri"/>
                <a:ea typeface="Calibri"/>
                <a:cs typeface="Calibri"/>
                <a:sym typeface="Calibri"/>
              </a:rPr>
              <a:t>Set by: You  •  Chosen before training</a:t>
            </a:r>
            <a:endParaRPr sz="1100" b="0" i="0" u="none" strike="noStrike" cap="none">
              <a:solidFill>
                <a:srgbClr val="000000"/>
              </a:solidFill>
              <a:latin typeface="Calibri"/>
              <a:ea typeface="Calibri"/>
              <a:cs typeface="Calibri"/>
              <a:sym typeface="Calibri"/>
            </a:endParaRPr>
          </a:p>
        </p:txBody>
      </p:sp>
      <p:sp>
        <p:nvSpPr>
          <p:cNvPr id="786" name="Google Shape;786;p3"/>
          <p:cNvSpPr/>
          <p:nvPr/>
        </p:nvSpPr>
        <p:spPr>
          <a:xfrm>
            <a:off x="4169664" y="2468880"/>
            <a:ext cx="804600" cy="493800"/>
          </a:xfrm>
          <a:prstGeom prst="ellipse">
            <a:avLst/>
          </a:prstGeom>
          <a:solidFill>
            <a:srgbClr val="1A237E"/>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7" name="Google Shape;787;p3"/>
          <p:cNvSpPr/>
          <p:nvPr/>
        </p:nvSpPr>
        <p:spPr>
          <a:xfrm>
            <a:off x="4169664" y="2468880"/>
            <a:ext cx="804600" cy="4938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 sz="1400" b="1" i="0" u="none" strike="noStrike" cap="none">
                <a:solidFill>
                  <a:srgbClr val="FFFFFF"/>
                </a:solidFill>
                <a:latin typeface="Calibri"/>
                <a:ea typeface="Calibri"/>
                <a:cs typeface="Calibri"/>
                <a:sym typeface="Calibri"/>
              </a:rPr>
              <a:t>VS</a:t>
            </a:r>
            <a:endParaRPr sz="1400" b="0" i="0" u="none" strike="noStrike" cap="none">
              <a:solidFill>
                <a:srgbClr val="000000"/>
              </a:solidFill>
              <a:latin typeface="Calibri"/>
              <a:ea typeface="Calibri"/>
              <a:cs typeface="Calibri"/>
              <a:sym typeface="Calibri"/>
            </a:endParaRPr>
          </a:p>
        </p:txBody>
      </p:sp>
      <p:sp>
        <p:nvSpPr>
          <p:cNvPr id="788" name="Google Shape;788;p3"/>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92"/>
        <p:cNvGrpSpPr/>
        <p:nvPr/>
      </p:nvGrpSpPr>
      <p:grpSpPr>
        <a:xfrm>
          <a:off x="0" y="0"/>
          <a:ext cx="0" cy="0"/>
          <a:chOff x="0" y="0"/>
          <a:chExt cx="0" cy="0"/>
        </a:xfrm>
      </p:grpSpPr>
      <p:pic>
        <p:nvPicPr>
          <p:cNvPr id="793" name="Google Shape;793;p16"/>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794" name="Google Shape;794;p16"/>
          <p:cNvSpPr/>
          <p:nvPr/>
        </p:nvSpPr>
        <p:spPr>
          <a:xfrm>
            <a:off x="228600" y="100750"/>
            <a:ext cx="8332800" cy="658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0E8F0"/>
              </a:buClr>
              <a:buSzPts val="2400"/>
              <a:buFont typeface="Calibri"/>
              <a:buNone/>
            </a:pPr>
            <a:r>
              <a:rPr lang="en" sz="2400" b="1" i="0" u="none" strike="noStrike" cap="none">
                <a:solidFill>
                  <a:schemeClr val="dk1"/>
                </a:solidFill>
                <a:latin typeface="Calibri"/>
                <a:ea typeface="Calibri"/>
                <a:cs typeface="Calibri"/>
                <a:sym typeface="Calibri"/>
              </a:rPr>
              <a:t>Summary — Quick Reference</a:t>
            </a:r>
            <a:endParaRPr sz="2400" b="1" i="0" u="none" strike="noStrike" cap="none">
              <a:solidFill>
                <a:schemeClr val="dk1"/>
              </a:solidFill>
              <a:latin typeface="Calibri"/>
              <a:ea typeface="Calibri"/>
              <a:cs typeface="Calibri"/>
              <a:sym typeface="Calibri"/>
            </a:endParaRPr>
          </a:p>
        </p:txBody>
      </p:sp>
      <p:graphicFrame>
        <p:nvGraphicFramePr>
          <p:cNvPr id="795" name="Google Shape;795;p16"/>
          <p:cNvGraphicFramePr/>
          <p:nvPr/>
        </p:nvGraphicFramePr>
        <p:xfrm>
          <a:off x="274308" y="1275640"/>
          <a:ext cx="3000000" cy="3000000"/>
        </p:xfrm>
        <a:graphic>
          <a:graphicData uri="http://schemas.openxmlformats.org/drawingml/2006/table">
            <a:tbl>
              <a:tblPr>
                <a:noFill/>
                <a:tableStyleId>{FB066BF9-1EB7-473C-A631-622A104801DE}</a:tableStyleId>
              </a:tblPr>
              <a:tblGrid>
                <a:gridCol w="1371600">
                  <a:extLst>
                    <a:ext uri="{9D8B030D-6E8A-4147-A177-3AD203B41FA5}">
                      <a16:colId xmlns:a16="http://schemas.microsoft.com/office/drawing/2014/main" val="20000"/>
                    </a:ext>
                  </a:extLst>
                </a:gridCol>
                <a:gridCol w="1920250">
                  <a:extLst>
                    <a:ext uri="{9D8B030D-6E8A-4147-A177-3AD203B41FA5}">
                      <a16:colId xmlns:a16="http://schemas.microsoft.com/office/drawing/2014/main" val="20001"/>
                    </a:ext>
                  </a:extLst>
                </a:gridCol>
                <a:gridCol w="2560325">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66925">
                <a:tc>
                  <a:txBody>
                    <a:bodyPr/>
                    <a:lstStyle/>
                    <a:p>
                      <a:pPr marL="0" marR="0" lvl="0" indent="0" algn="ctr" rtl="0">
                        <a:lnSpc>
                          <a:spcPct val="100000"/>
                        </a:lnSpc>
                        <a:spcBef>
                          <a:spcPts val="0"/>
                        </a:spcBef>
                        <a:spcAft>
                          <a:spcPts val="0"/>
                        </a:spcAft>
                        <a:buClr>
                          <a:srgbClr val="E0E8F0"/>
                        </a:buClr>
                        <a:buSzPts val="1100"/>
                        <a:buFont typeface="Calibri"/>
                        <a:buNone/>
                      </a:pPr>
                      <a:r>
                        <a:rPr lang="en" sz="1500" b="1" u="none" strike="noStrike" cap="none">
                          <a:solidFill>
                            <a:schemeClr val="dk1"/>
                          </a:solidFill>
                          <a:latin typeface="Calibri"/>
                          <a:ea typeface="Calibri"/>
                          <a:cs typeface="Calibri"/>
                          <a:sym typeface="Calibri"/>
                        </a:rPr>
                        <a:t>Problem</a:t>
                      </a:r>
                      <a:endParaRPr sz="1500" u="none" strike="noStrike" cap="none">
                        <a:solidFill>
                          <a:schemeClr val="dk1"/>
                        </a:solidFill>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E0E8F0"/>
                        </a:buClr>
                        <a:buSzPts val="1100"/>
                        <a:buFont typeface="Calibri"/>
                        <a:buNone/>
                      </a:pPr>
                      <a:r>
                        <a:rPr lang="en" sz="1500" b="1" u="none" strike="noStrike" cap="none">
                          <a:solidFill>
                            <a:schemeClr val="dk1"/>
                          </a:solidFill>
                          <a:latin typeface="Calibri"/>
                          <a:ea typeface="Calibri"/>
                          <a:cs typeface="Calibri"/>
                          <a:sym typeface="Calibri"/>
                        </a:rPr>
                        <a:t>Symptom</a:t>
                      </a:r>
                      <a:endParaRPr sz="1500" u="none" strike="noStrike" cap="none">
                        <a:solidFill>
                          <a:schemeClr val="dk1"/>
                        </a:solidFill>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E0E8F0"/>
                        </a:buClr>
                        <a:buSzPts val="1100"/>
                        <a:buFont typeface="Calibri"/>
                        <a:buNone/>
                      </a:pPr>
                      <a:r>
                        <a:rPr lang="en" sz="1500" b="1" u="none" strike="noStrike" cap="none">
                          <a:solidFill>
                            <a:schemeClr val="dk1"/>
                          </a:solidFill>
                          <a:latin typeface="Calibri"/>
                          <a:ea typeface="Calibri"/>
                          <a:cs typeface="Calibri"/>
                          <a:sym typeface="Calibri"/>
                        </a:rPr>
                        <a:t>Fix</a:t>
                      </a:r>
                      <a:endParaRPr sz="1500" u="none" strike="noStrike" cap="none">
                        <a:solidFill>
                          <a:schemeClr val="dk1"/>
                        </a:solidFill>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E0E8F0"/>
                        </a:buClr>
                        <a:buSzPts val="1100"/>
                        <a:buFont typeface="Calibri"/>
                        <a:buNone/>
                      </a:pPr>
                      <a:r>
                        <a:rPr lang="en" sz="1500" b="1" u="none" strike="noStrike" cap="none">
                          <a:solidFill>
                            <a:schemeClr val="dk1"/>
                          </a:solidFill>
                          <a:latin typeface="Calibri"/>
                          <a:ea typeface="Calibri"/>
                          <a:cs typeface="Calibri"/>
                          <a:sym typeface="Calibri"/>
                        </a:rPr>
                        <a:t>Code Lever</a:t>
                      </a:r>
                      <a:endParaRPr sz="1500" u="none" strike="noStrike" cap="none">
                        <a:solidFill>
                          <a:schemeClr val="dk1"/>
                        </a:solidFill>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66925">
                <a:tc>
                  <a:txBody>
                    <a:bodyPr/>
                    <a:lstStyle/>
                    <a:p>
                      <a:pPr marL="0" marR="0" lvl="0" indent="0" algn="ctr" rtl="0">
                        <a:lnSpc>
                          <a:spcPct val="100000"/>
                        </a:lnSpc>
                        <a:spcBef>
                          <a:spcPts val="0"/>
                        </a:spcBef>
                        <a:spcAft>
                          <a:spcPts val="0"/>
                        </a:spcAft>
                        <a:buClr>
                          <a:srgbClr val="FF4B6E"/>
                        </a:buClr>
                        <a:buSzPts val="1100"/>
                        <a:buFont typeface="Calibri"/>
                        <a:buNone/>
                      </a:pPr>
                      <a:r>
                        <a:rPr lang="en" sz="1500" b="1" u="none" strike="noStrike" cap="none">
                          <a:solidFill>
                            <a:srgbClr val="FF4B6E"/>
                          </a:solidFill>
                          <a:latin typeface="Calibri"/>
                          <a:ea typeface="Calibri"/>
                          <a:cs typeface="Calibri"/>
                          <a:sym typeface="Calibri"/>
                        </a:rPr>
                        <a:t>Underfitting</a:t>
                      </a:r>
                      <a:endParaRPr sz="1500" u="none" strike="noStrike" cap="none">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E0E8F0"/>
                        </a:buClr>
                        <a:buSzPts val="1100"/>
                        <a:buFont typeface="Calibri"/>
                        <a:buNone/>
                      </a:pPr>
                      <a:r>
                        <a:rPr lang="en" sz="1500" u="none" strike="noStrike" cap="none">
                          <a:solidFill>
                            <a:schemeClr val="dk1"/>
                          </a:solidFill>
                          <a:latin typeface="Calibri"/>
                          <a:ea typeface="Calibri"/>
                          <a:cs typeface="Calibri"/>
                          <a:sym typeface="Calibri"/>
                        </a:rPr>
                        <a:t>High train + val error</a:t>
                      </a:r>
                      <a:endParaRPr sz="1500" u="none" strike="noStrike" cap="none">
                        <a:solidFill>
                          <a:schemeClr val="dk1"/>
                        </a:solidFill>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E0E8F0"/>
                        </a:buClr>
                        <a:buSzPts val="1100"/>
                        <a:buFont typeface="Calibri"/>
                        <a:buNone/>
                      </a:pPr>
                      <a:r>
                        <a:rPr lang="en" sz="1500" u="none" strike="noStrike" cap="none">
                          <a:solidFill>
                            <a:schemeClr val="dk1"/>
                          </a:solidFill>
                          <a:latin typeface="Calibri"/>
                          <a:ea typeface="Calibri"/>
                          <a:cs typeface="Calibri"/>
                          <a:sym typeface="Calibri"/>
                        </a:rPr>
                        <a:t>Bigger model, more features, more epochs</a:t>
                      </a:r>
                      <a:endParaRPr sz="1500" u="none" strike="noStrike" cap="none">
                        <a:solidFill>
                          <a:schemeClr val="dk1"/>
                        </a:solidFill>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9CDCFE"/>
                        </a:buClr>
                        <a:buSzPts val="1100"/>
                        <a:buFont typeface="Courier New"/>
                        <a:buNone/>
                      </a:pPr>
                      <a:r>
                        <a:rPr lang="en" sz="1500" u="none" strike="noStrike" cap="none">
                          <a:solidFill>
                            <a:srgbClr val="3D85C6"/>
                          </a:solidFill>
                          <a:latin typeface="Calibri"/>
                          <a:ea typeface="Calibri"/>
                          <a:cs typeface="Calibri"/>
                          <a:sym typeface="Calibri"/>
                        </a:rPr>
                        <a:t>degree=↑, layers=↑, epochs=↑</a:t>
                      </a:r>
                      <a:endParaRPr sz="1500" u="none" strike="noStrike" cap="none">
                        <a:solidFill>
                          <a:srgbClr val="3D85C6"/>
                        </a:solidFill>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566925">
                <a:tc>
                  <a:txBody>
                    <a:bodyPr/>
                    <a:lstStyle/>
                    <a:p>
                      <a:pPr marL="0" marR="0" lvl="0" indent="0" algn="ctr" rtl="0">
                        <a:lnSpc>
                          <a:spcPct val="100000"/>
                        </a:lnSpc>
                        <a:spcBef>
                          <a:spcPts val="0"/>
                        </a:spcBef>
                        <a:spcAft>
                          <a:spcPts val="0"/>
                        </a:spcAft>
                        <a:buClr>
                          <a:srgbClr val="FFB830"/>
                        </a:buClr>
                        <a:buSzPts val="1100"/>
                        <a:buFont typeface="Calibri"/>
                        <a:buNone/>
                      </a:pPr>
                      <a:r>
                        <a:rPr lang="en" sz="1500" b="1" u="none" strike="noStrike" cap="none">
                          <a:solidFill>
                            <a:srgbClr val="FFB830"/>
                          </a:solidFill>
                          <a:latin typeface="Calibri"/>
                          <a:ea typeface="Calibri"/>
                          <a:cs typeface="Calibri"/>
                          <a:sym typeface="Calibri"/>
                        </a:rPr>
                        <a:t>Overfitting</a:t>
                      </a:r>
                      <a:endParaRPr sz="1500" u="none" strike="noStrike" cap="none">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E0E8F0"/>
                        </a:buClr>
                        <a:buSzPts val="1100"/>
                        <a:buFont typeface="Calibri"/>
                        <a:buNone/>
                      </a:pPr>
                      <a:r>
                        <a:rPr lang="en" sz="1500" u="none" strike="noStrike" cap="none">
                          <a:solidFill>
                            <a:schemeClr val="dk1"/>
                          </a:solidFill>
                          <a:latin typeface="Calibri"/>
                          <a:ea typeface="Calibri"/>
                          <a:cs typeface="Calibri"/>
                          <a:sym typeface="Calibri"/>
                        </a:rPr>
                        <a:t>Low train, high val error</a:t>
                      </a:r>
                      <a:endParaRPr sz="1500" u="none" strike="noStrike" cap="none">
                        <a:solidFill>
                          <a:schemeClr val="dk1"/>
                        </a:solidFill>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E0E8F0"/>
                        </a:buClr>
                        <a:buSzPts val="1100"/>
                        <a:buFont typeface="Calibri"/>
                        <a:buNone/>
                      </a:pPr>
                      <a:r>
                        <a:rPr lang="en" sz="1500" u="none" strike="noStrike" cap="none">
                          <a:solidFill>
                            <a:schemeClr val="dk1"/>
                          </a:solidFill>
                          <a:latin typeface="Calibri"/>
                          <a:ea typeface="Calibri"/>
                          <a:cs typeface="Calibri"/>
                          <a:sym typeface="Calibri"/>
                        </a:rPr>
                        <a:t>Regularize, dropout, more data</a:t>
                      </a:r>
                      <a:endParaRPr sz="1500" u="none" strike="noStrike" cap="none">
                        <a:solidFill>
                          <a:schemeClr val="dk1"/>
                        </a:solidFill>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9CDCFE"/>
                        </a:buClr>
                        <a:buSzPts val="1100"/>
                        <a:buFont typeface="Courier New"/>
                        <a:buNone/>
                      </a:pPr>
                      <a:r>
                        <a:rPr lang="en" sz="1500" u="none" strike="noStrike" cap="none">
                          <a:solidFill>
                            <a:srgbClr val="3D85C6"/>
                          </a:solidFill>
                          <a:latin typeface="Calibri"/>
                          <a:ea typeface="Calibri"/>
                          <a:cs typeface="Calibri"/>
                          <a:sym typeface="Calibri"/>
                        </a:rPr>
                        <a:t>Ridge/Lasso alpha=↑, Dropout(p)</a:t>
                      </a:r>
                      <a:endParaRPr sz="1500" u="none" strike="noStrike" cap="none">
                        <a:solidFill>
                          <a:srgbClr val="3D85C6"/>
                        </a:solidFill>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566925">
                <a:tc>
                  <a:txBody>
                    <a:bodyPr/>
                    <a:lstStyle/>
                    <a:p>
                      <a:pPr marL="0" marR="0" lvl="0" indent="0" algn="ctr" rtl="0">
                        <a:lnSpc>
                          <a:spcPct val="100000"/>
                        </a:lnSpc>
                        <a:spcBef>
                          <a:spcPts val="0"/>
                        </a:spcBef>
                        <a:spcAft>
                          <a:spcPts val="0"/>
                        </a:spcAft>
                        <a:buClr>
                          <a:srgbClr val="8899AA"/>
                        </a:buClr>
                        <a:buSzPts val="1100"/>
                        <a:buFont typeface="Calibri"/>
                        <a:buNone/>
                      </a:pPr>
                      <a:r>
                        <a:rPr lang="en" sz="1500" b="1" u="none" strike="noStrike" cap="none">
                          <a:latin typeface="Calibri"/>
                          <a:ea typeface="Calibri"/>
                          <a:cs typeface="Calibri"/>
                          <a:sym typeface="Calibri"/>
                        </a:rPr>
                        <a:t>High Variance</a:t>
                      </a:r>
                      <a:endParaRPr sz="1500" u="none" strike="noStrike" cap="none">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E0E8F0"/>
                        </a:buClr>
                        <a:buSzPts val="1100"/>
                        <a:buFont typeface="Calibri"/>
                        <a:buNone/>
                      </a:pPr>
                      <a:r>
                        <a:rPr lang="en" sz="1500" u="none" strike="noStrike" cap="none">
                          <a:solidFill>
                            <a:schemeClr val="dk1"/>
                          </a:solidFill>
                          <a:latin typeface="Calibri"/>
                          <a:ea typeface="Calibri"/>
                          <a:cs typeface="Calibri"/>
                          <a:sym typeface="Calibri"/>
                        </a:rPr>
                        <a:t>Train &gt;&gt; Val score</a:t>
                      </a:r>
                      <a:endParaRPr sz="1500" u="none" strike="noStrike" cap="none">
                        <a:solidFill>
                          <a:schemeClr val="dk1"/>
                        </a:solidFill>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E0E8F0"/>
                        </a:buClr>
                        <a:buSzPts val="1100"/>
                        <a:buFont typeface="Calibri"/>
                        <a:buNone/>
                      </a:pPr>
                      <a:r>
                        <a:rPr lang="en" sz="1500" u="none" strike="noStrike" cap="none">
                          <a:solidFill>
                            <a:schemeClr val="dk1"/>
                          </a:solidFill>
                          <a:latin typeface="Calibri"/>
                          <a:ea typeface="Calibri"/>
                          <a:cs typeface="Calibri"/>
                          <a:sym typeface="Calibri"/>
                        </a:rPr>
                        <a:t>L2 penalty, cross-validate</a:t>
                      </a:r>
                      <a:endParaRPr sz="1500" u="none" strike="noStrike" cap="none">
                        <a:solidFill>
                          <a:schemeClr val="dk1"/>
                        </a:solidFill>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9CDCFE"/>
                        </a:buClr>
                        <a:buSzPts val="1100"/>
                        <a:buFont typeface="Courier New"/>
                        <a:buNone/>
                      </a:pPr>
                      <a:r>
                        <a:rPr lang="en" sz="1500" u="none" strike="noStrike" cap="none">
                          <a:solidFill>
                            <a:srgbClr val="3D85C6"/>
                          </a:solidFill>
                          <a:latin typeface="Calibri"/>
                          <a:ea typeface="Calibri"/>
                          <a:cs typeface="Calibri"/>
                          <a:sym typeface="Calibri"/>
                        </a:rPr>
                        <a:t>Ridge(alpha), cross_val_score</a:t>
                      </a:r>
                      <a:endParaRPr sz="1500" u="none" strike="noStrike" cap="none">
                        <a:solidFill>
                          <a:srgbClr val="3D85C6"/>
                        </a:solidFill>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566925">
                <a:tc>
                  <a:txBody>
                    <a:bodyPr/>
                    <a:lstStyle/>
                    <a:p>
                      <a:pPr marL="0" marR="0" lvl="0" indent="0" algn="ctr" rtl="0">
                        <a:lnSpc>
                          <a:spcPct val="100000"/>
                        </a:lnSpc>
                        <a:spcBef>
                          <a:spcPts val="0"/>
                        </a:spcBef>
                        <a:spcAft>
                          <a:spcPts val="0"/>
                        </a:spcAft>
                        <a:buClr>
                          <a:srgbClr val="8899AA"/>
                        </a:buClr>
                        <a:buSzPts val="1100"/>
                        <a:buFont typeface="Calibri"/>
                        <a:buNone/>
                      </a:pPr>
                      <a:r>
                        <a:rPr lang="en" sz="1500" b="1" u="none" strike="noStrike" cap="none">
                          <a:latin typeface="Calibri"/>
                          <a:ea typeface="Calibri"/>
                          <a:cs typeface="Calibri"/>
                          <a:sym typeface="Calibri"/>
                        </a:rPr>
                        <a:t>High Bias</a:t>
                      </a:r>
                      <a:endParaRPr sz="1500" u="none" strike="noStrike" cap="none">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E0E8F0"/>
                        </a:buClr>
                        <a:buSzPts val="1100"/>
                        <a:buFont typeface="Calibri"/>
                        <a:buNone/>
                      </a:pPr>
                      <a:r>
                        <a:rPr lang="en" sz="1500" u="none" strike="noStrike" cap="none">
                          <a:solidFill>
                            <a:schemeClr val="dk1"/>
                          </a:solidFill>
                          <a:latin typeface="Calibri"/>
                          <a:ea typeface="Calibri"/>
                          <a:cs typeface="Calibri"/>
                          <a:sym typeface="Calibri"/>
                        </a:rPr>
                        <a:t>Both scores low</a:t>
                      </a:r>
                      <a:endParaRPr sz="1500" u="none" strike="noStrike" cap="none">
                        <a:solidFill>
                          <a:schemeClr val="dk1"/>
                        </a:solidFill>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E0E8F0"/>
                        </a:buClr>
                        <a:buSzPts val="1100"/>
                        <a:buFont typeface="Calibri"/>
                        <a:buNone/>
                      </a:pPr>
                      <a:r>
                        <a:rPr lang="en" sz="1500" u="none" strike="noStrike" cap="none">
                          <a:solidFill>
                            <a:schemeClr val="dk1"/>
                          </a:solidFill>
                          <a:latin typeface="Calibri"/>
                          <a:ea typeface="Calibri"/>
                          <a:cs typeface="Calibri"/>
                          <a:sym typeface="Calibri"/>
                        </a:rPr>
                        <a:t>Add polynomial features, tune model class</a:t>
                      </a:r>
                      <a:endParaRPr sz="1500" u="none" strike="noStrike" cap="none">
                        <a:solidFill>
                          <a:schemeClr val="dk1"/>
                        </a:solidFill>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9CDCFE"/>
                        </a:buClr>
                        <a:buSzPts val="1100"/>
                        <a:buFont typeface="Courier New"/>
                        <a:buNone/>
                      </a:pPr>
                      <a:r>
                        <a:rPr lang="en" sz="1500" u="none" strike="noStrike" cap="none">
                          <a:solidFill>
                            <a:srgbClr val="3D85C6"/>
                          </a:solidFill>
                          <a:latin typeface="Calibri"/>
                          <a:ea typeface="Calibri"/>
                          <a:cs typeface="Calibri"/>
                          <a:sym typeface="Calibri"/>
                        </a:rPr>
                        <a:t>PolynomialFeatures(degree=↑)</a:t>
                      </a:r>
                      <a:endParaRPr sz="1500" u="none" strike="noStrike" cap="none">
                        <a:solidFill>
                          <a:srgbClr val="3D85C6"/>
                        </a:solidFill>
                        <a:latin typeface="Calibri"/>
                        <a:ea typeface="Calibri"/>
                        <a:cs typeface="Calibri"/>
                        <a:sym typeface="Calibri"/>
                      </a:endParaRPr>
                    </a:p>
                  </a:txBody>
                  <a:tcPr marL="91450" marR="91450" marT="45725" marB="45725">
                    <a:lnL w="12700" cap="flat" cmpd="sng">
                      <a:solidFill>
                        <a:srgbClr val="1E3A52"/>
                      </a:solidFill>
                      <a:prstDash val="solid"/>
                      <a:round/>
                      <a:headEnd type="none" w="sm" len="sm"/>
                      <a:tailEnd type="none" w="sm" len="sm"/>
                    </a:lnL>
                    <a:lnR w="12700" cap="flat" cmpd="sng">
                      <a:solidFill>
                        <a:srgbClr val="1E3A52"/>
                      </a:solidFill>
                      <a:prstDash val="solid"/>
                      <a:round/>
                      <a:headEnd type="none" w="sm" len="sm"/>
                      <a:tailEnd type="none" w="sm" len="sm"/>
                    </a:lnR>
                    <a:lnT w="12700" cap="flat" cmpd="sng">
                      <a:solidFill>
                        <a:srgbClr val="1E3A52"/>
                      </a:solidFill>
                      <a:prstDash val="solid"/>
                      <a:round/>
                      <a:headEnd type="none" w="sm" len="sm"/>
                      <a:tailEnd type="none" w="sm" len="sm"/>
                    </a:lnT>
                    <a:lnB w="12700" cap="flat" cmpd="sng">
                      <a:solidFill>
                        <a:srgbClr val="1E3A52"/>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
        <p:nvSpPr>
          <p:cNvPr id="796" name="Google Shape;796;p16"/>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00"/>
        <p:cNvGrpSpPr/>
        <p:nvPr/>
      </p:nvGrpSpPr>
      <p:grpSpPr>
        <a:xfrm>
          <a:off x="0" y="0"/>
          <a:ext cx="0" cy="0"/>
          <a:chOff x="0" y="0"/>
          <a:chExt cx="0" cy="0"/>
        </a:xfrm>
      </p:grpSpPr>
      <p:pic>
        <p:nvPicPr>
          <p:cNvPr id="801" name="Google Shape;801;p17"/>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802" name="Google Shape;802;p17"/>
          <p:cNvSpPr/>
          <p:nvPr/>
        </p:nvSpPr>
        <p:spPr>
          <a:xfrm>
            <a:off x="365760" y="164592"/>
            <a:ext cx="7863900" cy="594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A237E"/>
              </a:buClr>
              <a:buSzPts val="3000"/>
              <a:buFont typeface="Calibri"/>
              <a:buNone/>
            </a:pPr>
            <a:r>
              <a:rPr lang="en" sz="3000" b="1" i="0" u="none" strike="noStrike" cap="none">
                <a:solidFill>
                  <a:srgbClr val="1A237E"/>
                </a:solidFill>
                <a:latin typeface="Calibri"/>
                <a:ea typeface="Calibri"/>
                <a:cs typeface="Calibri"/>
                <a:sym typeface="Calibri"/>
              </a:rPr>
              <a:t>The Bias-Variance Tradeoff</a:t>
            </a:r>
            <a:endParaRPr sz="3000" b="0" i="0" u="none" strike="noStrike" cap="none">
              <a:solidFill>
                <a:srgbClr val="000000"/>
              </a:solidFill>
              <a:latin typeface="Calibri"/>
              <a:ea typeface="Calibri"/>
              <a:cs typeface="Calibri"/>
              <a:sym typeface="Calibri"/>
            </a:endParaRPr>
          </a:p>
        </p:txBody>
      </p:sp>
      <p:sp>
        <p:nvSpPr>
          <p:cNvPr id="803" name="Google Shape;803;p17"/>
          <p:cNvSpPr/>
          <p:nvPr/>
        </p:nvSpPr>
        <p:spPr>
          <a:xfrm>
            <a:off x="274383" y="1011663"/>
            <a:ext cx="3931800" cy="2103000"/>
          </a:xfrm>
          <a:prstGeom prst="rect">
            <a:avLst/>
          </a:prstGeom>
          <a:solidFill>
            <a:srgbClr val="FFF3E0"/>
          </a:solidFill>
          <a:ln w="12700" cap="flat" cmpd="sng">
            <a:solidFill>
              <a:srgbClr val="FFCC8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04" name="Google Shape;804;p17"/>
          <p:cNvSpPr/>
          <p:nvPr/>
        </p:nvSpPr>
        <p:spPr>
          <a:xfrm>
            <a:off x="274383" y="1011663"/>
            <a:ext cx="3931800" cy="438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500"/>
              <a:buFont typeface="Calibri"/>
              <a:buNone/>
            </a:pPr>
            <a:r>
              <a:rPr lang="en" sz="1500" b="1" i="0" u="none" strike="noStrike" cap="none">
                <a:solidFill>
                  <a:schemeClr val="dk1"/>
                </a:solidFill>
                <a:latin typeface="Calibri"/>
                <a:ea typeface="Calibri"/>
                <a:cs typeface="Calibri"/>
                <a:sym typeface="Calibri"/>
              </a:rPr>
              <a:t>High Bias  =  Underfitting</a:t>
            </a:r>
            <a:endParaRPr sz="1500" b="0" i="0" u="none" strike="noStrike" cap="none">
              <a:solidFill>
                <a:schemeClr val="dk1"/>
              </a:solidFill>
              <a:latin typeface="Calibri"/>
              <a:ea typeface="Calibri"/>
              <a:cs typeface="Calibri"/>
              <a:sym typeface="Calibri"/>
            </a:endParaRPr>
          </a:p>
        </p:txBody>
      </p:sp>
      <p:sp>
        <p:nvSpPr>
          <p:cNvPr id="805" name="Google Shape;805;p17"/>
          <p:cNvSpPr/>
          <p:nvPr/>
        </p:nvSpPr>
        <p:spPr>
          <a:xfrm>
            <a:off x="457263" y="1523727"/>
            <a:ext cx="3566100" cy="1463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50"/>
              <a:buFont typeface="Calibri"/>
              <a:buNone/>
            </a:pPr>
            <a:r>
              <a:rPr lang="en" sz="1250" b="0" i="0" u="none" strike="noStrike" cap="none">
                <a:solidFill>
                  <a:schemeClr val="dk1"/>
                </a:solidFill>
                <a:latin typeface="Calibri"/>
                <a:ea typeface="Calibri"/>
                <a:cs typeface="Calibri"/>
                <a:sym typeface="Calibri"/>
              </a:rPr>
              <a:t>Model assumptions are too rigid.</a:t>
            </a:r>
            <a:endParaRPr sz="12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37474F"/>
              </a:buClr>
              <a:buSzPts val="1250"/>
              <a:buFont typeface="Calibri"/>
              <a:buNone/>
            </a:pPr>
            <a:r>
              <a:rPr lang="en" sz="1250" b="0" i="0" u="none" strike="noStrike" cap="none">
                <a:solidFill>
                  <a:schemeClr val="dk1"/>
                </a:solidFill>
                <a:latin typeface="Calibri"/>
                <a:ea typeface="Calibri"/>
                <a:cs typeface="Calibri"/>
                <a:sym typeface="Calibri"/>
              </a:rPr>
              <a:t>Cannot capture patterns → high error on both train and test.</a:t>
            </a:r>
            <a:endParaRPr sz="12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37474F"/>
              </a:buClr>
              <a:buSzPts val="1250"/>
              <a:buFont typeface="Calibri"/>
              <a:buNone/>
            </a:pPr>
            <a:r>
              <a:rPr lang="en" sz="1250" b="0" i="0" u="none" strike="noStrike" cap="none">
                <a:solidFill>
                  <a:schemeClr val="dk1"/>
                </a:solidFill>
                <a:latin typeface="Calibri"/>
                <a:ea typeface="Calibri"/>
                <a:cs typeface="Calibri"/>
                <a:sym typeface="Calibri"/>
              </a:rPr>
              <a:t>Like fitting a straight line through a curved dataset.</a:t>
            </a:r>
            <a:endParaRPr sz="1250" b="0" i="0" u="none" strike="noStrike" cap="none">
              <a:solidFill>
                <a:schemeClr val="dk1"/>
              </a:solidFill>
              <a:latin typeface="Calibri"/>
              <a:ea typeface="Calibri"/>
              <a:cs typeface="Calibri"/>
              <a:sym typeface="Calibri"/>
            </a:endParaRPr>
          </a:p>
        </p:txBody>
      </p:sp>
      <p:sp>
        <p:nvSpPr>
          <p:cNvPr id="806" name="Google Shape;806;p17"/>
          <p:cNvSpPr/>
          <p:nvPr/>
        </p:nvSpPr>
        <p:spPr>
          <a:xfrm>
            <a:off x="4937823" y="1011663"/>
            <a:ext cx="3931800" cy="2103000"/>
          </a:xfrm>
          <a:prstGeom prst="rect">
            <a:avLst/>
          </a:prstGeom>
          <a:solidFill>
            <a:srgbClr val="FFEBEE"/>
          </a:solidFill>
          <a:ln w="12700" cap="flat" cmpd="sng">
            <a:solidFill>
              <a:srgbClr val="EF9A9A"/>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07" name="Google Shape;807;p17"/>
          <p:cNvSpPr/>
          <p:nvPr/>
        </p:nvSpPr>
        <p:spPr>
          <a:xfrm>
            <a:off x="4937823" y="1011663"/>
            <a:ext cx="3931800" cy="438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500"/>
              <a:buFont typeface="Calibri"/>
              <a:buNone/>
            </a:pPr>
            <a:r>
              <a:rPr lang="en" sz="1500" b="1" i="0" u="none" strike="noStrike" cap="none">
                <a:solidFill>
                  <a:schemeClr val="dk1"/>
                </a:solidFill>
                <a:latin typeface="Calibri"/>
                <a:ea typeface="Calibri"/>
                <a:cs typeface="Calibri"/>
                <a:sym typeface="Calibri"/>
              </a:rPr>
              <a:t>High Variance  =  Overfitting</a:t>
            </a:r>
            <a:endParaRPr sz="1500" b="0" i="0" u="none" strike="noStrike" cap="none">
              <a:solidFill>
                <a:schemeClr val="dk1"/>
              </a:solidFill>
              <a:latin typeface="Calibri"/>
              <a:ea typeface="Calibri"/>
              <a:cs typeface="Calibri"/>
              <a:sym typeface="Calibri"/>
            </a:endParaRPr>
          </a:p>
        </p:txBody>
      </p:sp>
      <p:sp>
        <p:nvSpPr>
          <p:cNvPr id="808" name="Google Shape;808;p17"/>
          <p:cNvSpPr/>
          <p:nvPr/>
        </p:nvSpPr>
        <p:spPr>
          <a:xfrm>
            <a:off x="5120702" y="1523727"/>
            <a:ext cx="3566100" cy="1463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50"/>
              <a:buFont typeface="Calibri"/>
              <a:buNone/>
            </a:pPr>
            <a:r>
              <a:rPr lang="en" sz="1250" b="0" i="0" u="none" strike="noStrike" cap="none">
                <a:solidFill>
                  <a:schemeClr val="dk1"/>
                </a:solidFill>
                <a:latin typeface="Calibri"/>
                <a:ea typeface="Calibri"/>
                <a:cs typeface="Calibri"/>
                <a:sym typeface="Calibri"/>
              </a:rPr>
              <a:t>Model is too sensitive to training data.</a:t>
            </a:r>
            <a:endParaRPr sz="12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37474F"/>
              </a:buClr>
              <a:buSzPts val="1250"/>
              <a:buFont typeface="Calibri"/>
              <a:buNone/>
            </a:pPr>
            <a:r>
              <a:rPr lang="en" sz="1250" b="0" i="0" u="none" strike="noStrike" cap="none">
                <a:solidFill>
                  <a:schemeClr val="dk1"/>
                </a:solidFill>
                <a:latin typeface="Calibri"/>
                <a:ea typeface="Calibri"/>
                <a:cs typeface="Calibri"/>
                <a:sym typeface="Calibri"/>
              </a:rPr>
              <a:t>Captures noise as if it were signal → low train error, high test error.</a:t>
            </a:r>
            <a:endParaRPr sz="12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37474F"/>
              </a:buClr>
              <a:buSzPts val="1250"/>
              <a:buFont typeface="Calibri"/>
              <a:buNone/>
            </a:pPr>
            <a:r>
              <a:rPr lang="en" sz="1250" b="0" i="0" u="none" strike="noStrike" cap="none">
                <a:solidFill>
                  <a:schemeClr val="dk1"/>
                </a:solidFill>
                <a:latin typeface="Calibri"/>
                <a:ea typeface="Calibri"/>
                <a:cs typeface="Calibri"/>
                <a:sym typeface="Calibri"/>
              </a:rPr>
              <a:t>Like a complex curve that passes through every point.</a:t>
            </a:r>
            <a:endParaRPr sz="1250" b="0" i="0" u="none" strike="noStrike" cap="none">
              <a:solidFill>
                <a:schemeClr val="dk1"/>
              </a:solidFill>
              <a:latin typeface="Calibri"/>
              <a:ea typeface="Calibri"/>
              <a:cs typeface="Calibri"/>
              <a:sym typeface="Calibri"/>
            </a:endParaRPr>
          </a:p>
        </p:txBody>
      </p:sp>
      <p:sp>
        <p:nvSpPr>
          <p:cNvPr id="809" name="Google Shape;809;p17"/>
          <p:cNvSpPr/>
          <p:nvPr/>
        </p:nvSpPr>
        <p:spPr>
          <a:xfrm>
            <a:off x="1371663" y="3297663"/>
            <a:ext cx="6400800" cy="1645800"/>
          </a:xfrm>
          <a:prstGeom prst="rect">
            <a:avLst/>
          </a:prstGeom>
          <a:solidFill>
            <a:srgbClr val="E8F5E9"/>
          </a:solidFill>
          <a:ln w="12700" cap="flat" cmpd="sng">
            <a:solidFill>
              <a:srgbClr val="A5D6A7"/>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10" name="Google Shape;810;p17"/>
          <p:cNvSpPr/>
          <p:nvPr/>
        </p:nvSpPr>
        <p:spPr>
          <a:xfrm>
            <a:off x="1371663" y="3297663"/>
            <a:ext cx="6400800" cy="438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 sz="1600" b="1" i="0" u="none" strike="noStrike" cap="none">
                <a:solidFill>
                  <a:schemeClr val="dk1"/>
                </a:solidFill>
                <a:latin typeface="Calibri"/>
                <a:ea typeface="Calibri"/>
                <a:cs typeface="Calibri"/>
                <a:sym typeface="Calibri"/>
              </a:rPr>
              <a:t>The Sweet Spot — Good Fit</a:t>
            </a:r>
            <a:endParaRPr sz="1600" b="0" i="0" u="none" strike="noStrike" cap="none">
              <a:solidFill>
                <a:schemeClr val="dk1"/>
              </a:solidFill>
              <a:latin typeface="Calibri"/>
              <a:ea typeface="Calibri"/>
              <a:cs typeface="Calibri"/>
              <a:sym typeface="Calibri"/>
            </a:endParaRPr>
          </a:p>
        </p:txBody>
      </p:sp>
      <p:sp>
        <p:nvSpPr>
          <p:cNvPr id="811" name="Google Shape;811;p17"/>
          <p:cNvSpPr/>
          <p:nvPr/>
        </p:nvSpPr>
        <p:spPr>
          <a:xfrm>
            <a:off x="1554543" y="3809727"/>
            <a:ext cx="6035100" cy="1005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37474F"/>
              </a:buClr>
              <a:buSzPts val="1300"/>
              <a:buFont typeface="Calibri"/>
              <a:buNone/>
            </a:pPr>
            <a:r>
              <a:rPr lang="en" sz="1300" b="0" i="0" u="none" strike="noStrike" cap="none">
                <a:solidFill>
                  <a:schemeClr val="dk1"/>
                </a:solidFill>
                <a:latin typeface="Calibri"/>
                <a:ea typeface="Calibri"/>
                <a:cs typeface="Calibri"/>
                <a:sym typeface="Calibri"/>
              </a:rPr>
              <a:t>Balance bias and variance by tuning hyperparameters, regularizing the model, and validating carefully on held-out data. Monitored via the gap between Training Loss and Validation Loss.</a:t>
            </a:r>
            <a:endParaRPr sz="1300" b="0" i="0" u="none" strike="noStrike" cap="none">
              <a:solidFill>
                <a:schemeClr val="dk1"/>
              </a:solidFill>
              <a:latin typeface="Calibri"/>
              <a:ea typeface="Calibri"/>
              <a:cs typeface="Calibri"/>
              <a:sym typeface="Calibri"/>
            </a:endParaRPr>
          </a:p>
        </p:txBody>
      </p:sp>
      <p:sp>
        <p:nvSpPr>
          <p:cNvPr id="812" name="Google Shape;812;p17"/>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6"/>
        <p:cNvGrpSpPr/>
        <p:nvPr/>
      </p:nvGrpSpPr>
      <p:grpSpPr>
        <a:xfrm>
          <a:off x="0" y="0"/>
          <a:ext cx="0" cy="0"/>
          <a:chOff x="0" y="0"/>
          <a:chExt cx="0" cy="0"/>
        </a:xfrm>
      </p:grpSpPr>
      <p:pic>
        <p:nvPicPr>
          <p:cNvPr id="817" name="Google Shape;817;p18"/>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818" name="Google Shape;818;p18"/>
          <p:cNvSpPr/>
          <p:nvPr/>
        </p:nvSpPr>
        <p:spPr>
          <a:xfrm>
            <a:off x="365760" y="164592"/>
            <a:ext cx="7863900" cy="594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A237E"/>
              </a:buClr>
              <a:buSzPts val="3000"/>
              <a:buFont typeface="Calibri"/>
              <a:buNone/>
            </a:pPr>
            <a:r>
              <a:rPr lang="en" sz="3000" b="1" i="0" u="none" strike="noStrike" cap="none">
                <a:solidFill>
                  <a:srgbClr val="1A237E"/>
                </a:solidFill>
                <a:latin typeface="Calibri"/>
                <a:ea typeface="Calibri"/>
                <a:cs typeface="Calibri"/>
                <a:sym typeface="Calibri"/>
              </a:rPr>
              <a:t>Detecting Overfitting — Train vs Validation Loss</a:t>
            </a:r>
            <a:endParaRPr sz="3000" b="0" i="0" u="none" strike="noStrike" cap="none">
              <a:solidFill>
                <a:srgbClr val="000000"/>
              </a:solidFill>
              <a:latin typeface="Calibri"/>
              <a:ea typeface="Calibri"/>
              <a:cs typeface="Calibri"/>
              <a:sym typeface="Calibri"/>
            </a:endParaRPr>
          </a:p>
        </p:txBody>
      </p:sp>
      <p:sp>
        <p:nvSpPr>
          <p:cNvPr id="819" name="Google Shape;819;p18"/>
          <p:cNvSpPr/>
          <p:nvPr/>
        </p:nvSpPr>
        <p:spPr>
          <a:xfrm>
            <a:off x="274320" y="960120"/>
            <a:ext cx="5029200" cy="1645800"/>
          </a:xfrm>
          <a:prstGeom prst="rect">
            <a:avLst/>
          </a:prstGeom>
          <a:solidFill>
            <a:srgbClr val="FFEBEE"/>
          </a:solidFill>
          <a:ln w="12700" cap="flat" cmpd="sng">
            <a:solidFill>
              <a:srgbClr val="EF9A9A"/>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20" name="Google Shape;820;p18"/>
          <p:cNvSpPr/>
          <p:nvPr/>
        </p:nvSpPr>
        <p:spPr>
          <a:xfrm>
            <a:off x="274320" y="960120"/>
            <a:ext cx="5029200" cy="420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 sz="1400" b="1" i="0" u="none" strike="noStrike" cap="none">
                <a:solidFill>
                  <a:schemeClr val="dk1"/>
                </a:solidFill>
                <a:latin typeface="Calibri"/>
                <a:ea typeface="Calibri"/>
                <a:cs typeface="Calibri"/>
                <a:sym typeface="Calibri"/>
              </a:rPr>
              <a:t>Train loss ↓  but  Val loss ↑</a:t>
            </a:r>
            <a:endParaRPr sz="1400" b="0" i="0" u="none" strike="noStrike" cap="none">
              <a:solidFill>
                <a:schemeClr val="dk1"/>
              </a:solidFill>
              <a:latin typeface="Calibri"/>
              <a:ea typeface="Calibri"/>
              <a:cs typeface="Calibri"/>
              <a:sym typeface="Calibri"/>
            </a:endParaRPr>
          </a:p>
        </p:txBody>
      </p:sp>
      <p:sp>
        <p:nvSpPr>
          <p:cNvPr id="821" name="Google Shape;821;p18"/>
          <p:cNvSpPr/>
          <p:nvPr/>
        </p:nvSpPr>
        <p:spPr>
          <a:xfrm>
            <a:off x="457200" y="1435608"/>
            <a:ext cx="4663500" cy="109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50"/>
              <a:buFont typeface="Calibri"/>
              <a:buNone/>
            </a:pPr>
            <a:r>
              <a:rPr lang="en" sz="1250" b="0" i="0" u="none" strike="noStrike" cap="none">
                <a:solidFill>
                  <a:schemeClr val="dk1"/>
                </a:solidFill>
                <a:latin typeface="Calibri"/>
                <a:ea typeface="Calibri"/>
                <a:cs typeface="Calibri"/>
                <a:sym typeface="Calibri"/>
              </a:rPr>
              <a:t>Classic overfitting signal. Model memorizes training data and fails to generalize. → Stop early or add regularization.</a:t>
            </a:r>
            <a:endParaRPr sz="1250" b="0" i="0" u="none" strike="noStrike" cap="none">
              <a:solidFill>
                <a:schemeClr val="dk1"/>
              </a:solidFill>
              <a:latin typeface="Calibri"/>
              <a:ea typeface="Calibri"/>
              <a:cs typeface="Calibri"/>
              <a:sym typeface="Calibri"/>
            </a:endParaRPr>
          </a:p>
        </p:txBody>
      </p:sp>
      <p:sp>
        <p:nvSpPr>
          <p:cNvPr id="822" name="Google Shape;822;p18"/>
          <p:cNvSpPr/>
          <p:nvPr/>
        </p:nvSpPr>
        <p:spPr>
          <a:xfrm>
            <a:off x="274320" y="2788920"/>
            <a:ext cx="5029200" cy="1645800"/>
          </a:xfrm>
          <a:prstGeom prst="rect">
            <a:avLst/>
          </a:prstGeom>
          <a:solidFill>
            <a:srgbClr val="FFF3E0"/>
          </a:solidFill>
          <a:ln w="12700" cap="flat" cmpd="sng">
            <a:solidFill>
              <a:srgbClr val="FFCC8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23" name="Google Shape;823;p18"/>
          <p:cNvSpPr/>
          <p:nvPr/>
        </p:nvSpPr>
        <p:spPr>
          <a:xfrm>
            <a:off x="274320" y="2788920"/>
            <a:ext cx="5029200" cy="420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Calibri"/>
              <a:buNone/>
            </a:pPr>
            <a:r>
              <a:rPr lang="en" sz="1400" b="1" i="0" u="none" strike="noStrike" cap="none">
                <a:solidFill>
                  <a:schemeClr val="dk1"/>
                </a:solidFill>
                <a:latin typeface="Calibri"/>
                <a:ea typeface="Calibri"/>
                <a:cs typeface="Calibri"/>
                <a:sym typeface="Calibri"/>
              </a:rPr>
              <a:t>Both losses staying high</a:t>
            </a:r>
            <a:endParaRPr sz="1400" b="0" i="0" u="none" strike="noStrike" cap="none">
              <a:solidFill>
                <a:schemeClr val="dk1"/>
              </a:solidFill>
              <a:latin typeface="Calibri"/>
              <a:ea typeface="Calibri"/>
              <a:cs typeface="Calibri"/>
              <a:sym typeface="Calibri"/>
            </a:endParaRPr>
          </a:p>
        </p:txBody>
      </p:sp>
      <p:sp>
        <p:nvSpPr>
          <p:cNvPr id="824" name="Google Shape;824;p18"/>
          <p:cNvSpPr/>
          <p:nvPr/>
        </p:nvSpPr>
        <p:spPr>
          <a:xfrm>
            <a:off x="457200" y="3264408"/>
            <a:ext cx="4663500" cy="109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250"/>
              <a:buFont typeface="Calibri"/>
              <a:buNone/>
            </a:pPr>
            <a:r>
              <a:rPr lang="en" sz="1250" b="0" i="0" u="none" strike="noStrike" cap="none">
                <a:solidFill>
                  <a:schemeClr val="dk1"/>
                </a:solidFill>
                <a:latin typeface="Calibri"/>
                <a:ea typeface="Calibri"/>
                <a:cs typeface="Calibri"/>
                <a:sym typeface="Calibri"/>
              </a:rPr>
              <a:t>Classic underfitting signal. Model lacks capacity to learn the task. → Increase model complexity or train longer.</a:t>
            </a:r>
            <a:endParaRPr sz="1250" b="0" i="0" u="none" strike="noStrike" cap="none">
              <a:solidFill>
                <a:schemeClr val="dk1"/>
              </a:solidFill>
              <a:latin typeface="Calibri"/>
              <a:ea typeface="Calibri"/>
              <a:cs typeface="Calibri"/>
              <a:sym typeface="Calibri"/>
            </a:endParaRPr>
          </a:p>
        </p:txBody>
      </p:sp>
      <p:sp>
        <p:nvSpPr>
          <p:cNvPr id="825" name="Google Shape;825;p18"/>
          <p:cNvSpPr/>
          <p:nvPr/>
        </p:nvSpPr>
        <p:spPr>
          <a:xfrm>
            <a:off x="5486400" y="960120"/>
            <a:ext cx="3383400" cy="3474600"/>
          </a:xfrm>
          <a:prstGeom prst="rect">
            <a:avLst/>
          </a:prstGeom>
          <a:solidFill>
            <a:srgbClr val="E0F7FA"/>
          </a:solidFill>
          <a:ln w="12700" cap="flat" cmpd="sng">
            <a:solidFill>
              <a:srgbClr val="80DEEA"/>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26" name="Google Shape;826;p18"/>
          <p:cNvSpPr/>
          <p:nvPr/>
        </p:nvSpPr>
        <p:spPr>
          <a:xfrm>
            <a:off x="5486400" y="960120"/>
            <a:ext cx="3383400" cy="420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500"/>
              <a:buFont typeface="Calibri"/>
              <a:buNone/>
            </a:pPr>
            <a:r>
              <a:rPr lang="en" sz="1500" b="1" i="0" u="none" strike="noStrike" cap="none">
                <a:solidFill>
                  <a:schemeClr val="dk1"/>
                </a:solidFill>
                <a:latin typeface="Calibri"/>
                <a:ea typeface="Calibri"/>
                <a:cs typeface="Calibri"/>
                <a:sym typeface="Calibri"/>
              </a:rPr>
              <a:t>Key Remedies</a:t>
            </a:r>
            <a:endParaRPr sz="1500" b="0" i="0" u="none" strike="noStrike" cap="none">
              <a:solidFill>
                <a:schemeClr val="dk1"/>
              </a:solidFill>
              <a:latin typeface="Calibri"/>
              <a:ea typeface="Calibri"/>
              <a:cs typeface="Calibri"/>
              <a:sym typeface="Calibri"/>
            </a:endParaRPr>
          </a:p>
        </p:txBody>
      </p:sp>
      <p:sp>
        <p:nvSpPr>
          <p:cNvPr id="827" name="Google Shape;827;p18"/>
          <p:cNvSpPr/>
          <p:nvPr/>
        </p:nvSpPr>
        <p:spPr>
          <a:xfrm>
            <a:off x="5623560" y="1481328"/>
            <a:ext cx="30633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838F"/>
              </a:buClr>
              <a:buSzPts val="1200"/>
              <a:buFont typeface="Calibri"/>
              <a:buNone/>
            </a:pPr>
            <a:r>
              <a:rPr lang="en" sz="1200" b="1" i="0" u="none" strike="noStrike" cap="none">
                <a:solidFill>
                  <a:schemeClr val="dk1"/>
                </a:solidFill>
                <a:latin typeface="Calibri"/>
                <a:ea typeface="Calibri"/>
                <a:cs typeface="Calibri"/>
                <a:sym typeface="Calibri"/>
              </a:rPr>
              <a:t>Regularization</a:t>
            </a:r>
            <a:endParaRPr sz="1200" b="0" i="0" u="none" strike="noStrike" cap="none">
              <a:solidFill>
                <a:schemeClr val="dk1"/>
              </a:solidFill>
              <a:latin typeface="Calibri"/>
              <a:ea typeface="Calibri"/>
              <a:cs typeface="Calibri"/>
              <a:sym typeface="Calibri"/>
            </a:endParaRPr>
          </a:p>
        </p:txBody>
      </p:sp>
      <p:sp>
        <p:nvSpPr>
          <p:cNvPr id="828" name="Google Shape;828;p18"/>
          <p:cNvSpPr/>
          <p:nvPr/>
        </p:nvSpPr>
        <p:spPr>
          <a:xfrm>
            <a:off x="5623560" y="1719072"/>
            <a:ext cx="30633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chemeClr val="dk1"/>
                </a:solidFill>
                <a:latin typeface="Calibri"/>
                <a:ea typeface="Calibri"/>
                <a:cs typeface="Calibri"/>
                <a:sym typeface="Calibri"/>
              </a:rPr>
              <a:t>L1 / L2 penalize large weights</a:t>
            </a:r>
            <a:endParaRPr sz="1100" b="0" i="0" u="none" strike="noStrike" cap="none">
              <a:solidFill>
                <a:schemeClr val="dk1"/>
              </a:solidFill>
              <a:latin typeface="Calibri"/>
              <a:ea typeface="Calibri"/>
              <a:cs typeface="Calibri"/>
              <a:sym typeface="Calibri"/>
            </a:endParaRPr>
          </a:p>
        </p:txBody>
      </p:sp>
      <p:sp>
        <p:nvSpPr>
          <p:cNvPr id="829" name="Google Shape;829;p18"/>
          <p:cNvSpPr/>
          <p:nvPr/>
        </p:nvSpPr>
        <p:spPr>
          <a:xfrm>
            <a:off x="5623560" y="2103120"/>
            <a:ext cx="30633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838F"/>
              </a:buClr>
              <a:buSzPts val="1200"/>
              <a:buFont typeface="Calibri"/>
              <a:buNone/>
            </a:pPr>
            <a:r>
              <a:rPr lang="en" sz="1200" b="1" i="0" u="none" strike="noStrike" cap="none">
                <a:solidFill>
                  <a:schemeClr val="dk1"/>
                </a:solidFill>
                <a:latin typeface="Calibri"/>
                <a:ea typeface="Calibri"/>
                <a:cs typeface="Calibri"/>
                <a:sym typeface="Calibri"/>
              </a:rPr>
              <a:t>Dropout</a:t>
            </a:r>
            <a:endParaRPr sz="1200" b="0" i="0" u="none" strike="noStrike" cap="none">
              <a:solidFill>
                <a:schemeClr val="dk1"/>
              </a:solidFill>
              <a:latin typeface="Calibri"/>
              <a:ea typeface="Calibri"/>
              <a:cs typeface="Calibri"/>
              <a:sym typeface="Calibri"/>
            </a:endParaRPr>
          </a:p>
        </p:txBody>
      </p:sp>
      <p:sp>
        <p:nvSpPr>
          <p:cNvPr id="830" name="Google Shape;830;p18"/>
          <p:cNvSpPr/>
          <p:nvPr/>
        </p:nvSpPr>
        <p:spPr>
          <a:xfrm>
            <a:off x="5623560" y="2340864"/>
            <a:ext cx="30633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chemeClr val="dk1"/>
                </a:solidFill>
                <a:latin typeface="Calibri"/>
                <a:ea typeface="Calibri"/>
                <a:cs typeface="Calibri"/>
                <a:sym typeface="Calibri"/>
              </a:rPr>
              <a:t>Randomly zero neurons during training</a:t>
            </a:r>
            <a:endParaRPr sz="1100" b="0" i="0" u="none" strike="noStrike" cap="none">
              <a:solidFill>
                <a:schemeClr val="dk1"/>
              </a:solidFill>
              <a:latin typeface="Calibri"/>
              <a:ea typeface="Calibri"/>
              <a:cs typeface="Calibri"/>
              <a:sym typeface="Calibri"/>
            </a:endParaRPr>
          </a:p>
        </p:txBody>
      </p:sp>
      <p:sp>
        <p:nvSpPr>
          <p:cNvPr id="831" name="Google Shape;831;p18"/>
          <p:cNvSpPr/>
          <p:nvPr/>
        </p:nvSpPr>
        <p:spPr>
          <a:xfrm>
            <a:off x="5623560" y="2724912"/>
            <a:ext cx="30633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838F"/>
              </a:buClr>
              <a:buSzPts val="1200"/>
              <a:buFont typeface="Calibri"/>
              <a:buNone/>
            </a:pPr>
            <a:r>
              <a:rPr lang="en" sz="1200" b="1" i="0" u="none" strike="noStrike" cap="none">
                <a:solidFill>
                  <a:schemeClr val="dk1"/>
                </a:solidFill>
                <a:latin typeface="Calibri"/>
                <a:ea typeface="Calibri"/>
                <a:cs typeface="Calibri"/>
                <a:sym typeface="Calibri"/>
              </a:rPr>
              <a:t>Early Stopping</a:t>
            </a:r>
            <a:endParaRPr sz="1200" b="0" i="0" u="none" strike="noStrike" cap="none">
              <a:solidFill>
                <a:schemeClr val="dk1"/>
              </a:solidFill>
              <a:latin typeface="Calibri"/>
              <a:ea typeface="Calibri"/>
              <a:cs typeface="Calibri"/>
              <a:sym typeface="Calibri"/>
            </a:endParaRPr>
          </a:p>
        </p:txBody>
      </p:sp>
      <p:sp>
        <p:nvSpPr>
          <p:cNvPr id="832" name="Google Shape;832;p18"/>
          <p:cNvSpPr/>
          <p:nvPr/>
        </p:nvSpPr>
        <p:spPr>
          <a:xfrm>
            <a:off x="5623560" y="2962656"/>
            <a:ext cx="30633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chemeClr val="dk1"/>
                </a:solidFill>
                <a:latin typeface="Calibri"/>
                <a:ea typeface="Calibri"/>
                <a:cs typeface="Calibri"/>
                <a:sym typeface="Calibri"/>
              </a:rPr>
              <a:t>Stop when val loss starts rising</a:t>
            </a:r>
            <a:endParaRPr sz="1100" b="0" i="0" u="none" strike="noStrike" cap="none">
              <a:solidFill>
                <a:schemeClr val="dk1"/>
              </a:solidFill>
              <a:latin typeface="Calibri"/>
              <a:ea typeface="Calibri"/>
              <a:cs typeface="Calibri"/>
              <a:sym typeface="Calibri"/>
            </a:endParaRPr>
          </a:p>
        </p:txBody>
      </p:sp>
      <p:sp>
        <p:nvSpPr>
          <p:cNvPr id="833" name="Google Shape;833;p18"/>
          <p:cNvSpPr/>
          <p:nvPr/>
        </p:nvSpPr>
        <p:spPr>
          <a:xfrm>
            <a:off x="5623560" y="3346704"/>
            <a:ext cx="30633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838F"/>
              </a:buClr>
              <a:buSzPts val="1200"/>
              <a:buFont typeface="Calibri"/>
              <a:buNone/>
            </a:pPr>
            <a:r>
              <a:rPr lang="en" sz="1200" b="1" i="0" u="none" strike="noStrike" cap="none">
                <a:solidFill>
                  <a:schemeClr val="dk1"/>
                </a:solidFill>
                <a:latin typeface="Calibri"/>
                <a:ea typeface="Calibri"/>
                <a:cs typeface="Calibri"/>
                <a:sym typeface="Calibri"/>
              </a:rPr>
              <a:t>More Data</a:t>
            </a:r>
            <a:endParaRPr sz="1200" b="0" i="0" u="none" strike="noStrike" cap="none">
              <a:solidFill>
                <a:schemeClr val="dk1"/>
              </a:solidFill>
              <a:latin typeface="Calibri"/>
              <a:ea typeface="Calibri"/>
              <a:cs typeface="Calibri"/>
              <a:sym typeface="Calibri"/>
            </a:endParaRPr>
          </a:p>
        </p:txBody>
      </p:sp>
      <p:sp>
        <p:nvSpPr>
          <p:cNvPr id="834" name="Google Shape;834;p18"/>
          <p:cNvSpPr/>
          <p:nvPr/>
        </p:nvSpPr>
        <p:spPr>
          <a:xfrm>
            <a:off x="5623560" y="3584448"/>
            <a:ext cx="30633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chemeClr val="dk1"/>
                </a:solidFill>
                <a:latin typeface="Calibri"/>
                <a:ea typeface="Calibri"/>
                <a:cs typeface="Calibri"/>
                <a:sym typeface="Calibri"/>
              </a:rPr>
              <a:t>Reduces variance significantly</a:t>
            </a:r>
            <a:endParaRPr sz="1100" b="0" i="0" u="none" strike="noStrike" cap="none">
              <a:solidFill>
                <a:schemeClr val="dk1"/>
              </a:solidFill>
              <a:latin typeface="Calibri"/>
              <a:ea typeface="Calibri"/>
              <a:cs typeface="Calibri"/>
              <a:sym typeface="Calibri"/>
            </a:endParaRPr>
          </a:p>
        </p:txBody>
      </p:sp>
      <p:sp>
        <p:nvSpPr>
          <p:cNvPr id="835" name="Google Shape;835;p18"/>
          <p:cNvSpPr/>
          <p:nvPr/>
        </p:nvSpPr>
        <p:spPr>
          <a:xfrm>
            <a:off x="5623560" y="3968496"/>
            <a:ext cx="30633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838F"/>
              </a:buClr>
              <a:buSzPts val="1200"/>
              <a:buFont typeface="Calibri"/>
              <a:buNone/>
            </a:pPr>
            <a:r>
              <a:rPr lang="en" sz="1200" b="1" i="0" u="none" strike="noStrike" cap="none">
                <a:solidFill>
                  <a:schemeClr val="dk1"/>
                </a:solidFill>
                <a:latin typeface="Calibri"/>
                <a:ea typeface="Calibri"/>
                <a:cs typeface="Calibri"/>
                <a:sym typeface="Calibri"/>
              </a:rPr>
              <a:t>Cross-Validation</a:t>
            </a:r>
            <a:endParaRPr sz="1200" b="0" i="0" u="none" strike="noStrike" cap="none">
              <a:solidFill>
                <a:schemeClr val="dk1"/>
              </a:solidFill>
              <a:latin typeface="Calibri"/>
              <a:ea typeface="Calibri"/>
              <a:cs typeface="Calibri"/>
              <a:sym typeface="Calibri"/>
            </a:endParaRPr>
          </a:p>
        </p:txBody>
      </p:sp>
      <p:sp>
        <p:nvSpPr>
          <p:cNvPr id="836" name="Google Shape;836;p18"/>
          <p:cNvSpPr/>
          <p:nvPr/>
        </p:nvSpPr>
        <p:spPr>
          <a:xfrm>
            <a:off x="5623560" y="4206240"/>
            <a:ext cx="30633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7474F"/>
              </a:buClr>
              <a:buSzPts val="1100"/>
              <a:buFont typeface="Calibri"/>
              <a:buNone/>
            </a:pPr>
            <a:r>
              <a:rPr lang="en" sz="1100" b="0" i="0" u="none" strike="noStrike" cap="none">
                <a:solidFill>
                  <a:schemeClr val="dk1"/>
                </a:solidFill>
                <a:latin typeface="Calibri"/>
                <a:ea typeface="Calibri"/>
                <a:cs typeface="Calibri"/>
                <a:sym typeface="Calibri"/>
              </a:rPr>
              <a:t>Robust estimate of true performance</a:t>
            </a:r>
            <a:endParaRPr sz="1100" b="0" i="0" u="none" strike="noStrike" cap="none">
              <a:solidFill>
                <a:schemeClr val="dk1"/>
              </a:solidFill>
              <a:latin typeface="Calibri"/>
              <a:ea typeface="Calibri"/>
              <a:cs typeface="Calibri"/>
              <a:sym typeface="Calibri"/>
            </a:endParaRPr>
          </a:p>
        </p:txBody>
      </p:sp>
      <p:sp>
        <p:nvSpPr>
          <p:cNvPr id="837" name="Google Shape;837;p18"/>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1"/>
        <p:cNvGrpSpPr/>
        <p:nvPr/>
      </p:nvGrpSpPr>
      <p:grpSpPr>
        <a:xfrm>
          <a:off x="0" y="0"/>
          <a:ext cx="0" cy="0"/>
          <a:chOff x="0" y="0"/>
          <a:chExt cx="0" cy="0"/>
        </a:xfrm>
      </p:grpSpPr>
      <p:pic>
        <p:nvPicPr>
          <p:cNvPr id="842" name="Google Shape;842;p19"/>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843" name="Google Shape;843;p19"/>
          <p:cNvSpPr/>
          <p:nvPr/>
        </p:nvSpPr>
        <p:spPr>
          <a:xfrm>
            <a:off x="365760" y="164592"/>
            <a:ext cx="7863900" cy="594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A237E"/>
              </a:buClr>
              <a:buSzPts val="3000"/>
              <a:buFont typeface="Calibri"/>
              <a:buNone/>
            </a:pPr>
            <a:r>
              <a:rPr lang="en" sz="3000" b="1" i="0" u="none" strike="noStrike" cap="none">
                <a:solidFill>
                  <a:srgbClr val="1A237E"/>
                </a:solidFill>
                <a:latin typeface="Calibri"/>
                <a:ea typeface="Calibri"/>
                <a:cs typeface="Calibri"/>
                <a:sym typeface="Calibri"/>
              </a:rPr>
              <a:t>Quick Reference Summary</a:t>
            </a:r>
            <a:endParaRPr sz="3000" b="0" i="0" u="none" strike="noStrike" cap="none">
              <a:solidFill>
                <a:srgbClr val="000000"/>
              </a:solidFill>
              <a:latin typeface="Calibri"/>
              <a:ea typeface="Calibri"/>
              <a:cs typeface="Calibri"/>
              <a:sym typeface="Calibri"/>
            </a:endParaRPr>
          </a:p>
        </p:txBody>
      </p:sp>
      <p:graphicFrame>
        <p:nvGraphicFramePr>
          <p:cNvPr id="844" name="Google Shape;844;p19"/>
          <p:cNvGraphicFramePr/>
          <p:nvPr/>
        </p:nvGraphicFramePr>
        <p:xfrm>
          <a:off x="274320" y="960120"/>
          <a:ext cx="8595400" cy="3840450"/>
        </p:xfrm>
        <a:graphic>
          <a:graphicData uri="http://schemas.openxmlformats.org/drawingml/2006/table">
            <a:tbl>
              <a:tblPr>
                <a:noFill/>
                <a:tableStyleId>{FB066BF9-1EB7-473C-A631-622A104801DE}</a:tableStyleId>
              </a:tblPr>
              <a:tblGrid>
                <a:gridCol w="1691650">
                  <a:extLst>
                    <a:ext uri="{9D8B030D-6E8A-4147-A177-3AD203B41FA5}">
                      <a16:colId xmlns:a16="http://schemas.microsoft.com/office/drawing/2014/main" val="20000"/>
                    </a:ext>
                  </a:extLst>
                </a:gridCol>
                <a:gridCol w="3291850">
                  <a:extLst>
                    <a:ext uri="{9D8B030D-6E8A-4147-A177-3AD203B41FA5}">
                      <a16:colId xmlns:a16="http://schemas.microsoft.com/office/drawing/2014/main" val="20001"/>
                    </a:ext>
                  </a:extLst>
                </a:gridCol>
                <a:gridCol w="1691650">
                  <a:extLst>
                    <a:ext uri="{9D8B030D-6E8A-4147-A177-3AD203B41FA5}">
                      <a16:colId xmlns:a16="http://schemas.microsoft.com/office/drawing/2014/main" val="20002"/>
                    </a:ext>
                  </a:extLst>
                </a:gridCol>
                <a:gridCol w="1920250">
                  <a:extLst>
                    <a:ext uri="{9D8B030D-6E8A-4147-A177-3AD203B41FA5}">
                      <a16:colId xmlns:a16="http://schemas.microsoft.com/office/drawing/2014/main" val="20003"/>
                    </a:ext>
                  </a:extLst>
                </a:gridCol>
              </a:tblGrid>
              <a:tr h="640075">
                <a:tc>
                  <a:txBody>
                    <a:bodyPr/>
                    <a:lstStyle/>
                    <a:p>
                      <a:pPr marL="0" marR="0" lvl="0" indent="0" algn="ctr" rtl="0">
                        <a:lnSpc>
                          <a:spcPct val="100000"/>
                        </a:lnSpc>
                        <a:spcBef>
                          <a:spcPts val="0"/>
                        </a:spcBef>
                        <a:spcAft>
                          <a:spcPts val="0"/>
                        </a:spcAft>
                        <a:buClr>
                          <a:srgbClr val="FFFFFF"/>
                        </a:buClr>
                        <a:buSzPts val="1300"/>
                        <a:buFont typeface="Calibri"/>
                        <a:buNone/>
                      </a:pPr>
                      <a:r>
                        <a:rPr lang="en" sz="1300" b="1" u="none" strike="noStrike" cap="none">
                          <a:solidFill>
                            <a:srgbClr val="FFFFFF"/>
                          </a:solidFill>
                          <a:latin typeface="Calibri"/>
                          <a:ea typeface="Calibri"/>
                          <a:cs typeface="Calibri"/>
                          <a:sym typeface="Calibri"/>
                        </a:rPr>
                        <a:t>Concept</a:t>
                      </a:r>
                      <a:endParaRPr sz="13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1A237E"/>
                    </a:solidFill>
                  </a:tcPr>
                </a:tc>
                <a:tc>
                  <a:txBody>
                    <a:bodyPr/>
                    <a:lstStyle/>
                    <a:p>
                      <a:pPr marL="0" marR="0" lvl="0" indent="0" algn="ctr" rtl="0">
                        <a:lnSpc>
                          <a:spcPct val="100000"/>
                        </a:lnSpc>
                        <a:spcBef>
                          <a:spcPts val="0"/>
                        </a:spcBef>
                        <a:spcAft>
                          <a:spcPts val="0"/>
                        </a:spcAft>
                        <a:buClr>
                          <a:srgbClr val="FFFFFF"/>
                        </a:buClr>
                        <a:buSzPts val="1300"/>
                        <a:buFont typeface="Calibri"/>
                        <a:buNone/>
                      </a:pPr>
                      <a:r>
                        <a:rPr lang="en" sz="1300" b="1" u="none" strike="noStrike" cap="none">
                          <a:solidFill>
                            <a:srgbClr val="FFFFFF"/>
                          </a:solidFill>
                          <a:latin typeface="Calibri"/>
                          <a:ea typeface="Calibri"/>
                          <a:cs typeface="Calibri"/>
                          <a:sym typeface="Calibri"/>
                        </a:rPr>
                        <a:t>What it is</a:t>
                      </a:r>
                      <a:endParaRPr sz="13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1A237E"/>
                    </a:solidFill>
                  </a:tcPr>
                </a:tc>
                <a:tc>
                  <a:txBody>
                    <a:bodyPr/>
                    <a:lstStyle/>
                    <a:p>
                      <a:pPr marL="0" marR="0" lvl="0" indent="0" algn="ctr" rtl="0">
                        <a:lnSpc>
                          <a:spcPct val="100000"/>
                        </a:lnSpc>
                        <a:spcBef>
                          <a:spcPts val="0"/>
                        </a:spcBef>
                        <a:spcAft>
                          <a:spcPts val="0"/>
                        </a:spcAft>
                        <a:buClr>
                          <a:srgbClr val="FFFFFF"/>
                        </a:buClr>
                        <a:buSzPts val="1300"/>
                        <a:buFont typeface="Calibri"/>
                        <a:buNone/>
                      </a:pPr>
                      <a:r>
                        <a:rPr lang="en" sz="1300" b="1" u="none" strike="noStrike" cap="none">
                          <a:solidFill>
                            <a:srgbClr val="FFFFFF"/>
                          </a:solidFill>
                          <a:latin typeface="Calibri"/>
                          <a:ea typeface="Calibri"/>
                          <a:cs typeface="Calibri"/>
                          <a:sym typeface="Calibri"/>
                        </a:rPr>
                        <a:t>Who sets it</a:t>
                      </a:r>
                      <a:endParaRPr sz="13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1A237E"/>
                    </a:solidFill>
                  </a:tcPr>
                </a:tc>
                <a:tc>
                  <a:txBody>
                    <a:bodyPr/>
                    <a:lstStyle/>
                    <a:p>
                      <a:pPr marL="0" marR="0" lvl="0" indent="0" algn="ctr" rtl="0">
                        <a:lnSpc>
                          <a:spcPct val="100000"/>
                        </a:lnSpc>
                        <a:spcBef>
                          <a:spcPts val="0"/>
                        </a:spcBef>
                        <a:spcAft>
                          <a:spcPts val="0"/>
                        </a:spcAft>
                        <a:buClr>
                          <a:srgbClr val="FFFFFF"/>
                        </a:buClr>
                        <a:buSzPts val="1300"/>
                        <a:buFont typeface="Calibri"/>
                        <a:buNone/>
                      </a:pPr>
                      <a:r>
                        <a:rPr lang="en" sz="1300" b="1" u="none" strike="noStrike" cap="none">
                          <a:solidFill>
                            <a:srgbClr val="FFFFFF"/>
                          </a:solidFill>
                          <a:latin typeface="Calibri"/>
                          <a:ea typeface="Calibri"/>
                          <a:cs typeface="Calibri"/>
                          <a:sym typeface="Calibri"/>
                        </a:rPr>
                        <a:t>Goal</a:t>
                      </a:r>
                      <a:endParaRPr sz="13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1A237E"/>
                    </a:solidFill>
                  </a:tcPr>
                </a:tc>
                <a:extLst>
                  <a:ext uri="{0D108BD9-81ED-4DB2-BD59-A6C34878D82A}">
                    <a16:rowId xmlns:a16="http://schemas.microsoft.com/office/drawing/2014/main" val="10000"/>
                  </a:ext>
                </a:extLst>
              </a:tr>
              <a:tr h="640075">
                <a:tc>
                  <a:txBody>
                    <a:bodyPr/>
                    <a:lstStyle/>
                    <a:p>
                      <a:pPr marL="0" marR="0" lvl="0" indent="0" algn="ctr" rtl="0">
                        <a:lnSpc>
                          <a:spcPct val="100000"/>
                        </a:lnSpc>
                        <a:spcBef>
                          <a:spcPts val="0"/>
                        </a:spcBef>
                        <a:spcAft>
                          <a:spcPts val="0"/>
                        </a:spcAft>
                        <a:buClr>
                          <a:srgbClr val="00838F"/>
                        </a:buClr>
                        <a:buSzPts val="1200"/>
                        <a:buFont typeface="Calibri"/>
                        <a:buNone/>
                      </a:pPr>
                      <a:r>
                        <a:rPr lang="en" sz="1200" b="1" u="none" strike="noStrike" cap="none">
                          <a:solidFill>
                            <a:srgbClr val="00838F"/>
                          </a:solidFill>
                          <a:latin typeface="Calibri"/>
                          <a:ea typeface="Calibri"/>
                          <a:cs typeface="Calibri"/>
                          <a:sym typeface="Calibri"/>
                        </a:rPr>
                        <a:t>Parameters</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E3F2FD"/>
                    </a:solidFill>
                  </a:tcPr>
                </a:tc>
                <a:tc>
                  <a:txBody>
                    <a:bodyPr/>
                    <a:lstStyle/>
                    <a:p>
                      <a:pPr marL="0" marR="0" lvl="0" indent="0" algn="l" rtl="0">
                        <a:lnSpc>
                          <a:spcPct val="100000"/>
                        </a:lnSpc>
                        <a:spcBef>
                          <a:spcPts val="0"/>
                        </a:spcBef>
                        <a:spcAft>
                          <a:spcPts val="0"/>
                        </a:spcAft>
                        <a:buClr>
                          <a:srgbClr val="37474F"/>
                        </a:buClr>
                        <a:buSzPts val="1200"/>
                        <a:buFont typeface="Calibri"/>
                        <a:buNone/>
                      </a:pPr>
                      <a:r>
                        <a:rPr lang="en" sz="1200" u="none" strike="noStrike" cap="none">
                          <a:solidFill>
                            <a:srgbClr val="37474F"/>
                          </a:solidFill>
                          <a:latin typeface="Calibri"/>
                          <a:ea typeface="Calibri"/>
                          <a:cs typeface="Calibri"/>
                          <a:sym typeface="Calibri"/>
                        </a:rPr>
                        <a:t>Weights &amp; biases — learned during training</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37474F"/>
                        </a:buClr>
                        <a:buSzPts val="1200"/>
                        <a:buFont typeface="Calibri"/>
                        <a:buNone/>
                      </a:pPr>
                      <a:r>
                        <a:rPr lang="en" sz="1200" u="none" strike="noStrike" cap="none">
                          <a:solidFill>
                            <a:srgbClr val="37474F"/>
                          </a:solidFill>
                          <a:latin typeface="Calibri"/>
                          <a:ea typeface="Calibri"/>
                          <a:cs typeface="Calibri"/>
                          <a:sym typeface="Calibri"/>
                        </a:rPr>
                        <a:t>Optimizer (auto)</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37474F"/>
                        </a:buClr>
                        <a:buSzPts val="1200"/>
                        <a:buFont typeface="Calibri"/>
                        <a:buNone/>
                      </a:pPr>
                      <a:r>
                        <a:rPr lang="en" sz="1200" u="none" strike="noStrike" cap="none">
                          <a:solidFill>
                            <a:srgbClr val="37474F"/>
                          </a:solidFill>
                          <a:latin typeface="Calibri"/>
                          <a:ea typeface="Calibri"/>
                          <a:cs typeface="Calibri"/>
                          <a:sym typeface="Calibri"/>
                        </a:rPr>
                        <a:t>Minimize loss function</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640075">
                <a:tc>
                  <a:txBody>
                    <a:bodyPr/>
                    <a:lstStyle/>
                    <a:p>
                      <a:pPr marL="0" marR="0" lvl="0" indent="0" algn="ctr" rtl="0">
                        <a:lnSpc>
                          <a:spcPct val="100000"/>
                        </a:lnSpc>
                        <a:spcBef>
                          <a:spcPts val="0"/>
                        </a:spcBef>
                        <a:spcAft>
                          <a:spcPts val="0"/>
                        </a:spcAft>
                        <a:buClr>
                          <a:srgbClr val="00838F"/>
                        </a:buClr>
                        <a:buSzPts val="1200"/>
                        <a:buFont typeface="Calibri"/>
                        <a:buNone/>
                      </a:pPr>
                      <a:r>
                        <a:rPr lang="en" sz="1200" b="1" u="none" strike="noStrike" cap="none">
                          <a:solidFill>
                            <a:srgbClr val="00838F"/>
                          </a:solidFill>
                          <a:latin typeface="Calibri"/>
                          <a:ea typeface="Calibri"/>
                          <a:cs typeface="Calibri"/>
                          <a:sym typeface="Calibri"/>
                        </a:rPr>
                        <a:t>Hyperparameters</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E0F7FA"/>
                    </a:solidFill>
                  </a:tcPr>
                </a:tc>
                <a:tc>
                  <a:txBody>
                    <a:bodyPr/>
                    <a:lstStyle/>
                    <a:p>
                      <a:pPr marL="0" marR="0" lvl="0" indent="0" algn="l" rtl="0">
                        <a:lnSpc>
                          <a:spcPct val="100000"/>
                        </a:lnSpc>
                        <a:spcBef>
                          <a:spcPts val="0"/>
                        </a:spcBef>
                        <a:spcAft>
                          <a:spcPts val="0"/>
                        </a:spcAft>
                        <a:buClr>
                          <a:srgbClr val="37474F"/>
                        </a:buClr>
                        <a:buSzPts val="1200"/>
                        <a:buFont typeface="Calibri"/>
                        <a:buNone/>
                      </a:pPr>
                      <a:r>
                        <a:rPr lang="en" sz="1200" u="none" strike="noStrike" cap="none">
                          <a:solidFill>
                            <a:srgbClr val="37474F"/>
                          </a:solidFill>
                          <a:latin typeface="Calibri"/>
                          <a:ea typeface="Calibri"/>
                          <a:cs typeface="Calibri"/>
                          <a:sym typeface="Calibri"/>
                        </a:rPr>
                        <a:t>Learning rate, layers, epochs, batch size, etc.</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37474F"/>
                        </a:buClr>
                        <a:buSzPts val="1200"/>
                        <a:buFont typeface="Calibri"/>
                        <a:buNone/>
                      </a:pPr>
                      <a:r>
                        <a:rPr lang="en" sz="1200" u="none" strike="noStrike" cap="none">
                          <a:solidFill>
                            <a:srgbClr val="37474F"/>
                          </a:solidFill>
                          <a:latin typeface="Calibri"/>
                          <a:ea typeface="Calibri"/>
                          <a:cs typeface="Calibri"/>
                          <a:sym typeface="Calibri"/>
                        </a:rPr>
                        <a:t>User</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37474F"/>
                        </a:buClr>
                        <a:buSzPts val="1200"/>
                        <a:buFont typeface="Calibri"/>
                        <a:buNone/>
                      </a:pPr>
                      <a:r>
                        <a:rPr lang="en" sz="1200" u="none" strike="noStrike" cap="none">
                          <a:solidFill>
                            <a:srgbClr val="37474F"/>
                          </a:solidFill>
                          <a:latin typeface="Calibri"/>
                          <a:ea typeface="Calibri"/>
                          <a:cs typeface="Calibri"/>
                          <a:sym typeface="Calibri"/>
                        </a:rPr>
                        <a:t>Best model architecture</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640075">
                <a:tc>
                  <a:txBody>
                    <a:bodyPr/>
                    <a:lstStyle/>
                    <a:p>
                      <a:pPr marL="0" marR="0" lvl="0" indent="0" algn="ctr" rtl="0">
                        <a:lnSpc>
                          <a:spcPct val="100000"/>
                        </a:lnSpc>
                        <a:spcBef>
                          <a:spcPts val="0"/>
                        </a:spcBef>
                        <a:spcAft>
                          <a:spcPts val="0"/>
                        </a:spcAft>
                        <a:buClr>
                          <a:srgbClr val="E65100"/>
                        </a:buClr>
                        <a:buSzPts val="1200"/>
                        <a:buFont typeface="Calibri"/>
                        <a:buNone/>
                      </a:pPr>
                      <a:r>
                        <a:rPr lang="en" sz="1200" b="1" u="none" strike="noStrike" cap="none">
                          <a:solidFill>
                            <a:srgbClr val="E65100"/>
                          </a:solidFill>
                          <a:latin typeface="Calibri"/>
                          <a:ea typeface="Calibri"/>
                          <a:cs typeface="Calibri"/>
                          <a:sym typeface="Calibri"/>
                        </a:rPr>
                        <a:t>Underfitting</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F3E0"/>
                    </a:solidFill>
                  </a:tcPr>
                </a:tc>
                <a:tc>
                  <a:txBody>
                    <a:bodyPr/>
                    <a:lstStyle/>
                    <a:p>
                      <a:pPr marL="0" marR="0" lvl="0" indent="0" algn="l" rtl="0">
                        <a:lnSpc>
                          <a:spcPct val="100000"/>
                        </a:lnSpc>
                        <a:spcBef>
                          <a:spcPts val="0"/>
                        </a:spcBef>
                        <a:spcAft>
                          <a:spcPts val="0"/>
                        </a:spcAft>
                        <a:buClr>
                          <a:srgbClr val="37474F"/>
                        </a:buClr>
                        <a:buSzPts val="1200"/>
                        <a:buFont typeface="Calibri"/>
                        <a:buNone/>
                      </a:pPr>
                      <a:r>
                        <a:rPr lang="en" sz="1200" u="none" strike="noStrike" cap="none">
                          <a:solidFill>
                            <a:srgbClr val="37474F"/>
                          </a:solidFill>
                          <a:latin typeface="Calibri"/>
                          <a:ea typeface="Calibri"/>
                          <a:cs typeface="Calibri"/>
                          <a:sym typeface="Calibri"/>
                        </a:rPr>
                        <a:t>Model too simple — misses patterns in data</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37474F"/>
                        </a:buClr>
                        <a:buSzPts val="1200"/>
                        <a:buFont typeface="Calibri"/>
                        <a:buNone/>
                      </a:pPr>
                      <a:r>
                        <a:rPr lang="en" sz="1200" u="none" strike="noStrike" cap="none">
                          <a:solidFill>
                            <a:srgbClr val="37474F"/>
                          </a:solidFill>
                          <a:latin typeface="Calibri"/>
                          <a:ea typeface="Calibri"/>
                          <a:cs typeface="Calibri"/>
                          <a:sym typeface="Calibri"/>
                        </a:rPr>
                        <a:t>—</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37474F"/>
                        </a:buClr>
                        <a:buSzPts val="1200"/>
                        <a:buFont typeface="Calibri"/>
                        <a:buNone/>
                      </a:pPr>
                      <a:r>
                        <a:rPr lang="en" sz="1200" u="none" strike="noStrike" cap="none">
                          <a:solidFill>
                            <a:srgbClr val="37474F"/>
                          </a:solidFill>
                          <a:latin typeface="Calibri"/>
                          <a:ea typeface="Calibri"/>
                          <a:cs typeface="Calibri"/>
                          <a:sym typeface="Calibri"/>
                        </a:rPr>
                        <a:t>Add complexity / train more</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640075">
                <a:tc>
                  <a:txBody>
                    <a:bodyPr/>
                    <a:lstStyle/>
                    <a:p>
                      <a:pPr marL="0" marR="0" lvl="0" indent="0" algn="ctr" rtl="0">
                        <a:lnSpc>
                          <a:spcPct val="100000"/>
                        </a:lnSpc>
                        <a:spcBef>
                          <a:spcPts val="0"/>
                        </a:spcBef>
                        <a:spcAft>
                          <a:spcPts val="0"/>
                        </a:spcAft>
                        <a:buClr>
                          <a:srgbClr val="2E7D32"/>
                        </a:buClr>
                        <a:buSzPts val="1200"/>
                        <a:buFont typeface="Calibri"/>
                        <a:buNone/>
                      </a:pPr>
                      <a:r>
                        <a:rPr lang="en" sz="1200" b="1" u="none" strike="noStrike" cap="none">
                          <a:solidFill>
                            <a:srgbClr val="2E7D32"/>
                          </a:solidFill>
                          <a:latin typeface="Calibri"/>
                          <a:ea typeface="Calibri"/>
                          <a:cs typeface="Calibri"/>
                          <a:sym typeface="Calibri"/>
                        </a:rPr>
                        <a:t>Good Fit</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E8F5E9"/>
                    </a:solidFill>
                  </a:tcPr>
                </a:tc>
                <a:tc>
                  <a:txBody>
                    <a:bodyPr/>
                    <a:lstStyle/>
                    <a:p>
                      <a:pPr marL="0" marR="0" lvl="0" indent="0" algn="l" rtl="0">
                        <a:lnSpc>
                          <a:spcPct val="100000"/>
                        </a:lnSpc>
                        <a:spcBef>
                          <a:spcPts val="0"/>
                        </a:spcBef>
                        <a:spcAft>
                          <a:spcPts val="0"/>
                        </a:spcAft>
                        <a:buClr>
                          <a:srgbClr val="37474F"/>
                        </a:buClr>
                        <a:buSzPts val="1200"/>
                        <a:buFont typeface="Calibri"/>
                        <a:buNone/>
                      </a:pPr>
                      <a:r>
                        <a:rPr lang="en" sz="1200" u="none" strike="noStrike" cap="none">
                          <a:solidFill>
                            <a:srgbClr val="37474F"/>
                          </a:solidFill>
                          <a:latin typeface="Calibri"/>
                          <a:ea typeface="Calibri"/>
                          <a:cs typeface="Calibri"/>
                          <a:sym typeface="Calibri"/>
                        </a:rPr>
                        <a:t>Right balance of complexity &amp; generalization</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37474F"/>
                        </a:buClr>
                        <a:buSzPts val="1200"/>
                        <a:buFont typeface="Calibri"/>
                        <a:buNone/>
                      </a:pPr>
                      <a:r>
                        <a:rPr lang="en" sz="1200" u="none" strike="noStrike" cap="none">
                          <a:solidFill>
                            <a:srgbClr val="37474F"/>
                          </a:solidFill>
                          <a:latin typeface="Calibri"/>
                          <a:ea typeface="Calibri"/>
                          <a:cs typeface="Calibri"/>
                          <a:sym typeface="Calibri"/>
                        </a:rPr>
                        <a:t>—</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37474F"/>
                        </a:buClr>
                        <a:buSzPts val="1200"/>
                        <a:buFont typeface="Calibri"/>
                        <a:buNone/>
                      </a:pPr>
                      <a:r>
                        <a:rPr lang="en" sz="1200" u="none" strike="noStrike" cap="none">
                          <a:solidFill>
                            <a:srgbClr val="37474F"/>
                          </a:solidFill>
                          <a:latin typeface="Calibri"/>
                          <a:ea typeface="Calibri"/>
                          <a:cs typeface="Calibri"/>
                          <a:sym typeface="Calibri"/>
                        </a:rPr>
                        <a:t>This is the goal  ✓</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640075">
                <a:tc>
                  <a:txBody>
                    <a:bodyPr/>
                    <a:lstStyle/>
                    <a:p>
                      <a:pPr marL="0" marR="0" lvl="0" indent="0" algn="ctr" rtl="0">
                        <a:lnSpc>
                          <a:spcPct val="100000"/>
                        </a:lnSpc>
                        <a:spcBef>
                          <a:spcPts val="0"/>
                        </a:spcBef>
                        <a:spcAft>
                          <a:spcPts val="0"/>
                        </a:spcAft>
                        <a:buClr>
                          <a:srgbClr val="C62828"/>
                        </a:buClr>
                        <a:buSzPts val="1200"/>
                        <a:buFont typeface="Calibri"/>
                        <a:buNone/>
                      </a:pPr>
                      <a:r>
                        <a:rPr lang="en" sz="1200" b="1" u="none" strike="noStrike" cap="none">
                          <a:solidFill>
                            <a:srgbClr val="C62828"/>
                          </a:solidFill>
                          <a:latin typeface="Calibri"/>
                          <a:ea typeface="Calibri"/>
                          <a:cs typeface="Calibri"/>
                          <a:sym typeface="Calibri"/>
                        </a:rPr>
                        <a:t>Overfitting</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EBEE"/>
                    </a:solidFill>
                  </a:tcPr>
                </a:tc>
                <a:tc>
                  <a:txBody>
                    <a:bodyPr/>
                    <a:lstStyle/>
                    <a:p>
                      <a:pPr marL="0" marR="0" lvl="0" indent="0" algn="l" rtl="0">
                        <a:lnSpc>
                          <a:spcPct val="100000"/>
                        </a:lnSpc>
                        <a:spcBef>
                          <a:spcPts val="0"/>
                        </a:spcBef>
                        <a:spcAft>
                          <a:spcPts val="0"/>
                        </a:spcAft>
                        <a:buClr>
                          <a:srgbClr val="37474F"/>
                        </a:buClr>
                        <a:buSzPts val="1200"/>
                        <a:buFont typeface="Calibri"/>
                        <a:buNone/>
                      </a:pPr>
                      <a:r>
                        <a:rPr lang="en" sz="1200" u="none" strike="noStrike" cap="none">
                          <a:solidFill>
                            <a:srgbClr val="37474F"/>
                          </a:solidFill>
                          <a:latin typeface="Calibri"/>
                          <a:ea typeface="Calibri"/>
                          <a:cs typeface="Calibri"/>
                          <a:sym typeface="Calibri"/>
                        </a:rPr>
                        <a:t>Model memorizes training data, fails on new data</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37474F"/>
                        </a:buClr>
                        <a:buSzPts val="1200"/>
                        <a:buFont typeface="Calibri"/>
                        <a:buNone/>
                      </a:pPr>
                      <a:r>
                        <a:rPr lang="en" sz="1200" u="none" strike="noStrike" cap="none">
                          <a:solidFill>
                            <a:srgbClr val="37474F"/>
                          </a:solidFill>
                          <a:latin typeface="Calibri"/>
                          <a:ea typeface="Calibri"/>
                          <a:cs typeface="Calibri"/>
                          <a:sym typeface="Calibri"/>
                        </a:rPr>
                        <a:t>—</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37474F"/>
                        </a:buClr>
                        <a:buSzPts val="1200"/>
                        <a:buFont typeface="Calibri"/>
                        <a:buNone/>
                      </a:pPr>
                      <a:r>
                        <a:rPr lang="en" sz="1200" u="none" strike="noStrike" cap="none">
                          <a:solidFill>
                            <a:srgbClr val="37474F"/>
                          </a:solidFill>
                          <a:latin typeface="Calibri"/>
                          <a:ea typeface="Calibri"/>
                          <a:cs typeface="Calibri"/>
                          <a:sym typeface="Calibri"/>
                        </a:rPr>
                        <a:t>Regularize / simplify</a:t>
                      </a:r>
                      <a:endParaRPr sz="1200" u="none" strike="noStrike" cap="none">
                        <a:latin typeface="Calibri"/>
                        <a:ea typeface="Calibri"/>
                        <a:cs typeface="Calibri"/>
                        <a:sym typeface="Calibri"/>
                      </a:endParaRPr>
                    </a:p>
                  </a:txBody>
                  <a:tcPr marL="91450" marR="91450" marT="45725" marB="45725">
                    <a:lnL w="9525" cap="flat" cmpd="sng">
                      <a:solidFill>
                        <a:srgbClr val="CFD8DC"/>
                      </a:solidFill>
                      <a:prstDash val="solid"/>
                      <a:round/>
                      <a:headEnd type="none" w="sm" len="sm"/>
                      <a:tailEnd type="none" w="sm" len="sm"/>
                    </a:lnL>
                    <a:lnR w="9525" cap="flat" cmpd="sng">
                      <a:solidFill>
                        <a:srgbClr val="CFD8DC"/>
                      </a:solidFill>
                      <a:prstDash val="solid"/>
                      <a:round/>
                      <a:headEnd type="none" w="sm" len="sm"/>
                      <a:tailEnd type="none" w="sm" len="sm"/>
                    </a:lnR>
                    <a:lnT w="9525" cap="flat" cmpd="sng">
                      <a:solidFill>
                        <a:srgbClr val="CFD8DC"/>
                      </a:solidFill>
                      <a:prstDash val="solid"/>
                      <a:round/>
                      <a:headEnd type="none" w="sm" len="sm"/>
                      <a:tailEnd type="none" w="sm" len="sm"/>
                    </a:lnT>
                    <a:lnB w="9525" cap="flat" cmpd="sng">
                      <a:solidFill>
                        <a:srgbClr val="CFD8DC"/>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845" name="Google Shape;845;p19"/>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850"/>
        <p:cNvGrpSpPr/>
        <p:nvPr/>
      </p:nvGrpSpPr>
      <p:grpSpPr>
        <a:xfrm>
          <a:off x="0" y="0"/>
          <a:ext cx="0" cy="0"/>
          <a:chOff x="0" y="0"/>
          <a:chExt cx="0" cy="0"/>
        </a:xfrm>
      </p:grpSpPr>
      <p:sp>
        <p:nvSpPr>
          <p:cNvPr id="851" name="Google Shape;851;p20"/>
          <p:cNvSpPr/>
          <p:nvPr/>
        </p:nvSpPr>
        <p:spPr>
          <a:xfrm>
            <a:off x="274320" y="109728"/>
            <a:ext cx="8595300" cy="5028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2200"/>
              <a:buFont typeface="Calibri"/>
              <a:buNone/>
            </a:pPr>
            <a:r>
              <a:rPr lang="en" sz="2200" b="1" i="0" u="none" strike="noStrike" cap="none">
                <a:solidFill>
                  <a:srgbClr val="1E293B"/>
                </a:solidFill>
                <a:latin typeface="Calibri"/>
                <a:ea typeface="Calibri"/>
                <a:cs typeface="Calibri"/>
                <a:sym typeface="Calibri"/>
              </a:rPr>
              <a:t>From Perceptron to Specialized Architectures</a:t>
            </a:r>
            <a:endParaRPr sz="2200" b="0" i="0" u="none" strike="noStrike" cap="none">
              <a:solidFill>
                <a:schemeClr val="dk1"/>
              </a:solidFill>
              <a:latin typeface="Calibri"/>
              <a:ea typeface="Calibri"/>
              <a:cs typeface="Calibri"/>
              <a:sym typeface="Calibri"/>
            </a:endParaRPr>
          </a:p>
        </p:txBody>
      </p:sp>
      <p:sp>
        <p:nvSpPr>
          <p:cNvPr id="852" name="Google Shape;852;p20"/>
          <p:cNvSpPr/>
          <p:nvPr/>
        </p:nvSpPr>
        <p:spPr>
          <a:xfrm>
            <a:off x="3200400" y="621792"/>
            <a:ext cx="2743200" cy="27300"/>
          </a:xfrm>
          <a:prstGeom prst="rect">
            <a:avLst/>
          </a:prstGeom>
          <a:solidFill>
            <a:srgbClr val="0EA5E9"/>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3" name="Google Shape;853;p20"/>
          <p:cNvSpPr/>
          <p:nvPr/>
        </p:nvSpPr>
        <p:spPr>
          <a:xfrm>
            <a:off x="228600" y="4206240"/>
            <a:ext cx="8686800" cy="36600"/>
          </a:xfrm>
          <a:prstGeom prst="rect">
            <a:avLst/>
          </a:prstGeom>
          <a:solidFill>
            <a:srgbClr val="CBD5E1"/>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4" name="Google Shape;854;p20"/>
          <p:cNvSpPr/>
          <p:nvPr/>
        </p:nvSpPr>
        <p:spPr>
          <a:xfrm>
            <a:off x="8823960" y="4142232"/>
            <a:ext cx="109800" cy="164700"/>
          </a:xfrm>
          <a:prstGeom prst="rect">
            <a:avLst/>
          </a:prstGeom>
          <a:solidFill>
            <a:srgbClr val="0EA5E9"/>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5" name="Google Shape;855;p20"/>
          <p:cNvSpPr/>
          <p:nvPr/>
        </p:nvSpPr>
        <p:spPr>
          <a:xfrm>
            <a:off x="164592" y="749808"/>
            <a:ext cx="1664100" cy="3291900"/>
          </a:xfrm>
          <a:prstGeom prst="rect">
            <a:avLst/>
          </a:prstGeom>
          <a:solidFill>
            <a:srgbClr val="FFFFFF"/>
          </a:solidFill>
          <a:ln w="15225" cap="flat" cmpd="sng">
            <a:solidFill>
              <a:srgbClr val="6366F1"/>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6" name="Google Shape;856;p20"/>
          <p:cNvSpPr/>
          <p:nvPr/>
        </p:nvSpPr>
        <p:spPr>
          <a:xfrm>
            <a:off x="164592" y="749808"/>
            <a:ext cx="1664100" cy="63900"/>
          </a:xfrm>
          <a:prstGeom prst="rect">
            <a:avLst/>
          </a:prstGeom>
          <a:solidFill>
            <a:srgbClr val="6366F1"/>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7" name="Google Shape;857;p20"/>
          <p:cNvSpPr/>
          <p:nvPr/>
        </p:nvSpPr>
        <p:spPr>
          <a:xfrm>
            <a:off x="237744" y="841248"/>
            <a:ext cx="1518000" cy="201300"/>
          </a:xfrm>
          <a:prstGeom prst="rect">
            <a:avLst/>
          </a:prstGeom>
          <a:solidFill>
            <a:srgbClr val="6366F1">
              <a:alpha val="14902"/>
            </a:srgbClr>
          </a:solidFill>
          <a:ln w="9525"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8" name="Google Shape;858;p20"/>
          <p:cNvSpPr/>
          <p:nvPr/>
        </p:nvSpPr>
        <p:spPr>
          <a:xfrm>
            <a:off x="237744" y="841248"/>
            <a:ext cx="15180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366F1"/>
              </a:buClr>
              <a:buSzPts val="800"/>
              <a:buFont typeface="Calibri"/>
              <a:buNone/>
            </a:pPr>
            <a:r>
              <a:rPr lang="en" sz="800" b="1" i="0" u="none" strike="noStrike" cap="none">
                <a:solidFill>
                  <a:srgbClr val="6366F1"/>
                </a:solidFill>
                <a:latin typeface="Calibri"/>
                <a:ea typeface="Calibri"/>
                <a:cs typeface="Calibri"/>
                <a:sym typeface="Calibri"/>
              </a:rPr>
              <a:t>1958</a:t>
            </a:r>
            <a:endParaRPr sz="800" b="0" i="0" u="none" strike="noStrike" cap="none">
              <a:solidFill>
                <a:schemeClr val="dk1"/>
              </a:solidFill>
              <a:latin typeface="Calibri"/>
              <a:ea typeface="Calibri"/>
              <a:cs typeface="Calibri"/>
              <a:sym typeface="Calibri"/>
            </a:endParaRPr>
          </a:p>
        </p:txBody>
      </p:sp>
      <p:sp>
        <p:nvSpPr>
          <p:cNvPr id="859" name="Google Shape;859;p20"/>
          <p:cNvSpPr/>
          <p:nvPr/>
        </p:nvSpPr>
        <p:spPr>
          <a:xfrm>
            <a:off x="219456" y="1069848"/>
            <a:ext cx="1554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300"/>
              <a:buFont typeface="Calibri"/>
              <a:buNone/>
            </a:pPr>
            <a:r>
              <a:rPr lang="en" sz="1300" b="1" i="0" u="none" strike="noStrike" cap="none">
                <a:solidFill>
                  <a:srgbClr val="1E293B"/>
                </a:solidFill>
                <a:latin typeface="Calibri"/>
                <a:ea typeface="Calibri"/>
                <a:cs typeface="Calibri"/>
                <a:sym typeface="Calibri"/>
              </a:rPr>
              <a:t>Perceptron</a:t>
            </a:r>
            <a:endParaRPr sz="1300" b="0" i="0" u="none" strike="noStrike" cap="none">
              <a:solidFill>
                <a:schemeClr val="dk1"/>
              </a:solidFill>
              <a:latin typeface="Calibri"/>
              <a:ea typeface="Calibri"/>
              <a:cs typeface="Calibri"/>
              <a:sym typeface="Calibri"/>
            </a:endParaRPr>
          </a:p>
        </p:txBody>
      </p:sp>
      <p:sp>
        <p:nvSpPr>
          <p:cNvPr id="860" name="Google Shape;860;p20"/>
          <p:cNvSpPr/>
          <p:nvPr/>
        </p:nvSpPr>
        <p:spPr>
          <a:xfrm>
            <a:off x="237744" y="1389888"/>
            <a:ext cx="1518000" cy="1005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1" name="Google Shape;861;p20"/>
          <p:cNvSpPr/>
          <p:nvPr/>
        </p:nvSpPr>
        <p:spPr>
          <a:xfrm>
            <a:off x="283464" y="1481328"/>
            <a:ext cx="183000" cy="183000"/>
          </a:xfrm>
          <a:prstGeom prst="ellipse">
            <a:avLst/>
          </a:prstGeom>
          <a:solidFill>
            <a:srgbClr val="E2E8F0"/>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862" name="Google Shape;862;p20"/>
          <p:cNvCxnSpPr/>
          <p:nvPr/>
        </p:nvCxnSpPr>
        <p:spPr>
          <a:xfrm>
            <a:off x="466344" y="1572768"/>
            <a:ext cx="502800" cy="0"/>
          </a:xfrm>
          <a:prstGeom prst="straightConnector1">
            <a:avLst/>
          </a:prstGeom>
          <a:noFill/>
          <a:ln w="12700" cap="flat" cmpd="sng">
            <a:solidFill>
              <a:srgbClr val="818CF8"/>
            </a:solidFill>
            <a:prstDash val="solid"/>
            <a:round/>
            <a:headEnd type="none" w="sm" len="sm"/>
            <a:tailEnd type="none" w="sm" len="sm"/>
          </a:ln>
        </p:spPr>
      </p:cxnSp>
      <p:sp>
        <p:nvSpPr>
          <p:cNvPr id="863" name="Google Shape;863;p20"/>
          <p:cNvSpPr/>
          <p:nvPr/>
        </p:nvSpPr>
        <p:spPr>
          <a:xfrm>
            <a:off x="283464" y="1801368"/>
            <a:ext cx="183000" cy="183000"/>
          </a:xfrm>
          <a:prstGeom prst="ellipse">
            <a:avLst/>
          </a:prstGeom>
          <a:solidFill>
            <a:srgbClr val="E2E8F0"/>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864" name="Google Shape;864;p20"/>
          <p:cNvCxnSpPr/>
          <p:nvPr/>
        </p:nvCxnSpPr>
        <p:spPr>
          <a:xfrm>
            <a:off x="466344" y="1892808"/>
            <a:ext cx="502800" cy="0"/>
          </a:xfrm>
          <a:prstGeom prst="straightConnector1">
            <a:avLst/>
          </a:prstGeom>
          <a:noFill/>
          <a:ln w="12700" cap="flat" cmpd="sng">
            <a:solidFill>
              <a:srgbClr val="818CF8"/>
            </a:solidFill>
            <a:prstDash val="solid"/>
            <a:round/>
            <a:headEnd type="none" w="sm" len="sm"/>
            <a:tailEnd type="none" w="sm" len="sm"/>
          </a:ln>
        </p:spPr>
      </p:cxnSp>
      <p:sp>
        <p:nvSpPr>
          <p:cNvPr id="865" name="Google Shape;865;p20"/>
          <p:cNvSpPr/>
          <p:nvPr/>
        </p:nvSpPr>
        <p:spPr>
          <a:xfrm>
            <a:off x="283464" y="2121408"/>
            <a:ext cx="183000" cy="183000"/>
          </a:xfrm>
          <a:prstGeom prst="ellipse">
            <a:avLst/>
          </a:prstGeom>
          <a:solidFill>
            <a:srgbClr val="E2E8F0"/>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866" name="Google Shape;866;p20"/>
          <p:cNvCxnSpPr/>
          <p:nvPr/>
        </p:nvCxnSpPr>
        <p:spPr>
          <a:xfrm>
            <a:off x="466344" y="2212848"/>
            <a:ext cx="502800" cy="0"/>
          </a:xfrm>
          <a:prstGeom prst="straightConnector1">
            <a:avLst/>
          </a:prstGeom>
          <a:noFill/>
          <a:ln w="12700" cap="flat" cmpd="sng">
            <a:solidFill>
              <a:srgbClr val="818CF8"/>
            </a:solidFill>
            <a:prstDash val="solid"/>
            <a:round/>
            <a:headEnd type="none" w="sm" len="sm"/>
            <a:tailEnd type="none" w="sm" len="sm"/>
          </a:ln>
        </p:spPr>
      </p:cxnSp>
      <p:sp>
        <p:nvSpPr>
          <p:cNvPr id="867" name="Google Shape;867;p20"/>
          <p:cNvSpPr/>
          <p:nvPr/>
        </p:nvSpPr>
        <p:spPr>
          <a:xfrm>
            <a:off x="877824" y="1755648"/>
            <a:ext cx="347400" cy="347400"/>
          </a:xfrm>
          <a:prstGeom prst="ellipse">
            <a:avLst/>
          </a:prstGeom>
          <a:solidFill>
            <a:srgbClr val="6366F1">
              <a:alpha val="70196"/>
            </a:srgbClr>
          </a:solidFill>
          <a:ln w="1905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868" name="Google Shape;868;p20"/>
          <p:cNvCxnSpPr/>
          <p:nvPr/>
        </p:nvCxnSpPr>
        <p:spPr>
          <a:xfrm>
            <a:off x="1225296" y="1929384"/>
            <a:ext cx="411600" cy="0"/>
          </a:xfrm>
          <a:prstGeom prst="straightConnector1">
            <a:avLst/>
          </a:prstGeom>
          <a:noFill/>
          <a:ln w="12700" cap="flat" cmpd="sng">
            <a:solidFill>
              <a:srgbClr val="818CF8"/>
            </a:solidFill>
            <a:prstDash val="solid"/>
            <a:round/>
            <a:headEnd type="none" w="sm" len="sm"/>
            <a:tailEnd type="none" w="sm" len="sm"/>
          </a:ln>
        </p:spPr>
      </p:cxnSp>
      <p:sp>
        <p:nvSpPr>
          <p:cNvPr id="869" name="Google Shape;869;p20"/>
          <p:cNvSpPr/>
          <p:nvPr/>
        </p:nvSpPr>
        <p:spPr>
          <a:xfrm>
            <a:off x="1527048" y="1837944"/>
            <a:ext cx="183000" cy="183000"/>
          </a:xfrm>
          <a:prstGeom prst="ellipse">
            <a:avLst/>
          </a:prstGeom>
          <a:solidFill>
            <a:srgbClr val="E2E8F0"/>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0" name="Google Shape;870;p20"/>
          <p:cNvSpPr/>
          <p:nvPr/>
        </p:nvSpPr>
        <p:spPr>
          <a:xfrm>
            <a:off x="877824" y="1755648"/>
            <a:ext cx="3474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0" i="0" u="none" strike="noStrike" cap="none">
                <a:solidFill>
                  <a:srgbClr val="FFFFFF"/>
                </a:solidFill>
                <a:latin typeface="Calibri"/>
                <a:ea typeface="Calibri"/>
                <a:cs typeface="Calibri"/>
                <a:sym typeface="Calibri"/>
              </a:rPr>
              <a:t>Σ</a:t>
            </a:r>
            <a:endParaRPr sz="1200" b="0" i="0" u="none" strike="noStrike" cap="none">
              <a:solidFill>
                <a:schemeClr val="dk1"/>
              </a:solidFill>
              <a:latin typeface="Calibri"/>
              <a:ea typeface="Calibri"/>
              <a:cs typeface="Calibri"/>
              <a:sym typeface="Calibri"/>
            </a:endParaRPr>
          </a:p>
        </p:txBody>
      </p:sp>
      <p:sp>
        <p:nvSpPr>
          <p:cNvPr id="871" name="Google Shape;871;p20"/>
          <p:cNvSpPr/>
          <p:nvPr/>
        </p:nvSpPr>
        <p:spPr>
          <a:xfrm>
            <a:off x="237744" y="2441448"/>
            <a:ext cx="1518000" cy="1417200"/>
          </a:xfrm>
          <a:prstGeom prst="rect">
            <a:avLst/>
          </a:prstGeom>
          <a:noFill/>
          <a:ln>
            <a:noFill/>
          </a:ln>
        </p:spPr>
        <p:txBody>
          <a:bodyPr spcFirstLastPara="1" wrap="square" lIns="38100" tIns="38100" rIns="38100" bIns="38100" anchor="t" anchorCtr="0">
            <a:noAutofit/>
          </a:bodyPr>
          <a:lstStyle/>
          <a:p>
            <a:pPr marL="0" marR="0" lvl="0" indent="0" algn="l" rtl="0">
              <a:lnSpc>
                <a:spcPct val="125000"/>
              </a:lnSpc>
              <a:spcBef>
                <a:spcPts val="0"/>
              </a:spcBef>
              <a:spcAft>
                <a:spcPts val="0"/>
              </a:spcAft>
              <a:buClr>
                <a:srgbClr val="6366F1"/>
              </a:buClr>
              <a:buSzPts val="900"/>
              <a:buFont typeface="Calibri"/>
              <a:buNone/>
            </a:pPr>
            <a:r>
              <a:rPr lang="en" sz="900" b="1" i="0" u="none" strike="noStrike" cap="none">
                <a:solidFill>
                  <a:srgbClr val="6366F1"/>
                </a:solidFill>
                <a:latin typeface="Calibri"/>
                <a:ea typeface="Calibri"/>
                <a:cs typeface="Calibri"/>
                <a:sym typeface="Calibri"/>
              </a:rPr>
              <a:t>Single neuron</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Binary output</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Linear boundary</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Step activation</a:t>
            </a:r>
            <a:endParaRPr sz="900" b="0" i="0" u="none" strike="noStrike" cap="none">
              <a:solidFill>
                <a:schemeClr val="dk1"/>
              </a:solidFill>
              <a:latin typeface="Calibri"/>
              <a:ea typeface="Calibri"/>
              <a:cs typeface="Calibri"/>
              <a:sym typeface="Calibri"/>
            </a:endParaRPr>
          </a:p>
        </p:txBody>
      </p:sp>
      <p:sp>
        <p:nvSpPr>
          <p:cNvPr id="872" name="Google Shape;872;p20"/>
          <p:cNvSpPr/>
          <p:nvPr/>
        </p:nvSpPr>
        <p:spPr>
          <a:xfrm>
            <a:off x="914400" y="4142232"/>
            <a:ext cx="164700" cy="164700"/>
          </a:xfrm>
          <a:prstGeom prst="ellipse">
            <a:avLst/>
          </a:prstGeom>
          <a:solidFill>
            <a:srgbClr val="6366F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3" name="Google Shape;873;p20"/>
          <p:cNvSpPr/>
          <p:nvPr/>
        </p:nvSpPr>
        <p:spPr>
          <a:xfrm>
            <a:off x="1901952" y="749808"/>
            <a:ext cx="1664100" cy="3291900"/>
          </a:xfrm>
          <a:prstGeom prst="rect">
            <a:avLst/>
          </a:prstGeom>
          <a:solidFill>
            <a:srgbClr val="FFFFFF"/>
          </a:solidFill>
          <a:ln w="15225" cap="flat" cmpd="sng">
            <a:solidFill>
              <a:srgbClr val="0EA5E9"/>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4" name="Google Shape;874;p20"/>
          <p:cNvSpPr/>
          <p:nvPr/>
        </p:nvSpPr>
        <p:spPr>
          <a:xfrm>
            <a:off x="1901952" y="749808"/>
            <a:ext cx="1664100" cy="63900"/>
          </a:xfrm>
          <a:prstGeom prst="rect">
            <a:avLst/>
          </a:prstGeom>
          <a:solidFill>
            <a:srgbClr val="0EA5E9"/>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5" name="Google Shape;875;p20"/>
          <p:cNvSpPr/>
          <p:nvPr/>
        </p:nvSpPr>
        <p:spPr>
          <a:xfrm>
            <a:off x="1975104" y="841248"/>
            <a:ext cx="1518000" cy="201300"/>
          </a:xfrm>
          <a:prstGeom prst="rect">
            <a:avLst/>
          </a:prstGeom>
          <a:solidFill>
            <a:srgbClr val="0EA5E9">
              <a:alpha val="14902"/>
            </a:srgbClr>
          </a:solidFill>
          <a:ln w="9525"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6" name="Google Shape;876;p20"/>
          <p:cNvSpPr/>
          <p:nvPr/>
        </p:nvSpPr>
        <p:spPr>
          <a:xfrm>
            <a:off x="1975104" y="841248"/>
            <a:ext cx="15180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EA5E9"/>
              </a:buClr>
              <a:buSzPts val="800"/>
              <a:buFont typeface="Calibri"/>
              <a:buNone/>
            </a:pPr>
            <a:r>
              <a:rPr lang="en" sz="800" b="1" i="0" u="none" strike="noStrike" cap="none">
                <a:solidFill>
                  <a:srgbClr val="0EA5E9"/>
                </a:solidFill>
                <a:latin typeface="Calibri"/>
                <a:ea typeface="Calibri"/>
                <a:cs typeface="Calibri"/>
                <a:sym typeface="Calibri"/>
              </a:rPr>
              <a:t>1980s</a:t>
            </a:r>
            <a:endParaRPr sz="800" b="0" i="0" u="none" strike="noStrike" cap="none">
              <a:solidFill>
                <a:schemeClr val="dk1"/>
              </a:solidFill>
              <a:latin typeface="Calibri"/>
              <a:ea typeface="Calibri"/>
              <a:cs typeface="Calibri"/>
              <a:sym typeface="Calibri"/>
            </a:endParaRPr>
          </a:p>
        </p:txBody>
      </p:sp>
      <p:sp>
        <p:nvSpPr>
          <p:cNvPr id="877" name="Google Shape;877;p20"/>
          <p:cNvSpPr/>
          <p:nvPr/>
        </p:nvSpPr>
        <p:spPr>
          <a:xfrm>
            <a:off x="1956816" y="1069848"/>
            <a:ext cx="1554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300"/>
              <a:buFont typeface="Calibri"/>
              <a:buNone/>
            </a:pPr>
            <a:r>
              <a:rPr lang="en" sz="1300" b="1" i="0" u="none" strike="noStrike" cap="none">
                <a:solidFill>
                  <a:srgbClr val="1E293B"/>
                </a:solidFill>
                <a:latin typeface="Calibri"/>
                <a:ea typeface="Calibri"/>
                <a:cs typeface="Calibri"/>
                <a:sym typeface="Calibri"/>
              </a:rPr>
              <a:t>MLP</a:t>
            </a:r>
            <a:endParaRPr sz="1300" b="0" i="0" u="none" strike="noStrike" cap="none">
              <a:solidFill>
                <a:schemeClr val="dk1"/>
              </a:solidFill>
              <a:latin typeface="Calibri"/>
              <a:ea typeface="Calibri"/>
              <a:cs typeface="Calibri"/>
              <a:sym typeface="Calibri"/>
            </a:endParaRPr>
          </a:p>
        </p:txBody>
      </p:sp>
      <p:sp>
        <p:nvSpPr>
          <p:cNvPr id="878" name="Google Shape;878;p20"/>
          <p:cNvSpPr/>
          <p:nvPr/>
        </p:nvSpPr>
        <p:spPr>
          <a:xfrm>
            <a:off x="1975104" y="1389888"/>
            <a:ext cx="1518000" cy="1005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9" name="Google Shape;879;p20"/>
          <p:cNvSpPr/>
          <p:nvPr/>
        </p:nvSpPr>
        <p:spPr>
          <a:xfrm>
            <a:off x="2048256" y="1481328"/>
            <a:ext cx="183000" cy="183000"/>
          </a:xfrm>
          <a:prstGeom prst="ellipse">
            <a:avLst/>
          </a:prstGeom>
          <a:solidFill>
            <a:srgbClr val="E2E8F0"/>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0" name="Google Shape;880;p20"/>
          <p:cNvSpPr/>
          <p:nvPr/>
        </p:nvSpPr>
        <p:spPr>
          <a:xfrm>
            <a:off x="2048256" y="1801368"/>
            <a:ext cx="183000" cy="183000"/>
          </a:xfrm>
          <a:prstGeom prst="ellipse">
            <a:avLst/>
          </a:prstGeom>
          <a:solidFill>
            <a:srgbClr val="E2E8F0"/>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1" name="Google Shape;881;p20"/>
          <p:cNvSpPr/>
          <p:nvPr/>
        </p:nvSpPr>
        <p:spPr>
          <a:xfrm>
            <a:off x="2048256" y="2121408"/>
            <a:ext cx="183000" cy="183000"/>
          </a:xfrm>
          <a:prstGeom prst="ellipse">
            <a:avLst/>
          </a:prstGeom>
          <a:solidFill>
            <a:srgbClr val="E2E8F0"/>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2" name="Google Shape;882;p20"/>
          <p:cNvSpPr/>
          <p:nvPr/>
        </p:nvSpPr>
        <p:spPr>
          <a:xfrm>
            <a:off x="2642616" y="1591056"/>
            <a:ext cx="183000" cy="183000"/>
          </a:xfrm>
          <a:prstGeom prst="ellipse">
            <a:avLst/>
          </a:prstGeom>
          <a:solidFill>
            <a:srgbClr val="0EA5E9">
              <a:alpha val="80000"/>
            </a:srgbClr>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3" name="Google Shape;883;p20"/>
          <p:cNvSpPr/>
          <p:nvPr/>
        </p:nvSpPr>
        <p:spPr>
          <a:xfrm>
            <a:off x="2642616" y="1837944"/>
            <a:ext cx="183000" cy="183000"/>
          </a:xfrm>
          <a:prstGeom prst="ellipse">
            <a:avLst/>
          </a:prstGeom>
          <a:solidFill>
            <a:srgbClr val="0EA5E9">
              <a:alpha val="80000"/>
            </a:srgbClr>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4" name="Google Shape;884;p20"/>
          <p:cNvSpPr/>
          <p:nvPr/>
        </p:nvSpPr>
        <p:spPr>
          <a:xfrm>
            <a:off x="2642616" y="2084832"/>
            <a:ext cx="183000" cy="183000"/>
          </a:xfrm>
          <a:prstGeom prst="ellipse">
            <a:avLst/>
          </a:prstGeom>
          <a:solidFill>
            <a:srgbClr val="0EA5E9">
              <a:alpha val="80000"/>
            </a:srgbClr>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5" name="Google Shape;885;p20"/>
          <p:cNvSpPr/>
          <p:nvPr/>
        </p:nvSpPr>
        <p:spPr>
          <a:xfrm>
            <a:off x="3236976" y="1709928"/>
            <a:ext cx="183000" cy="183000"/>
          </a:xfrm>
          <a:prstGeom prst="ellipse">
            <a:avLst/>
          </a:prstGeom>
          <a:solidFill>
            <a:srgbClr val="E2E8F0"/>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6" name="Google Shape;886;p20"/>
          <p:cNvSpPr/>
          <p:nvPr/>
        </p:nvSpPr>
        <p:spPr>
          <a:xfrm>
            <a:off x="3236976" y="1956816"/>
            <a:ext cx="183000" cy="183000"/>
          </a:xfrm>
          <a:prstGeom prst="ellipse">
            <a:avLst/>
          </a:prstGeom>
          <a:solidFill>
            <a:srgbClr val="E2E8F0"/>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887" name="Google Shape;887;p20"/>
          <p:cNvCxnSpPr/>
          <p:nvPr/>
        </p:nvCxnSpPr>
        <p:spPr>
          <a:xfrm>
            <a:off x="2231136" y="1572768"/>
            <a:ext cx="411600" cy="109800"/>
          </a:xfrm>
          <a:prstGeom prst="straightConnector1">
            <a:avLst/>
          </a:prstGeom>
          <a:noFill/>
          <a:ln w="9525" cap="flat" cmpd="sng">
            <a:solidFill>
              <a:srgbClr val="CBD5E1"/>
            </a:solidFill>
            <a:prstDash val="solid"/>
            <a:round/>
            <a:headEnd type="none" w="sm" len="sm"/>
            <a:tailEnd type="none" w="sm" len="sm"/>
          </a:ln>
        </p:spPr>
      </p:cxnSp>
      <p:cxnSp>
        <p:nvCxnSpPr>
          <p:cNvPr id="888" name="Google Shape;888;p20"/>
          <p:cNvCxnSpPr/>
          <p:nvPr/>
        </p:nvCxnSpPr>
        <p:spPr>
          <a:xfrm>
            <a:off x="2231136" y="1572768"/>
            <a:ext cx="411600" cy="356700"/>
          </a:xfrm>
          <a:prstGeom prst="straightConnector1">
            <a:avLst/>
          </a:prstGeom>
          <a:noFill/>
          <a:ln w="9525" cap="flat" cmpd="sng">
            <a:solidFill>
              <a:srgbClr val="CBD5E1"/>
            </a:solidFill>
            <a:prstDash val="solid"/>
            <a:round/>
            <a:headEnd type="none" w="sm" len="sm"/>
            <a:tailEnd type="none" w="sm" len="sm"/>
          </a:ln>
        </p:spPr>
      </p:cxnSp>
      <p:cxnSp>
        <p:nvCxnSpPr>
          <p:cNvPr id="889" name="Google Shape;889;p20"/>
          <p:cNvCxnSpPr/>
          <p:nvPr/>
        </p:nvCxnSpPr>
        <p:spPr>
          <a:xfrm>
            <a:off x="2231136" y="1572768"/>
            <a:ext cx="411600" cy="603600"/>
          </a:xfrm>
          <a:prstGeom prst="straightConnector1">
            <a:avLst/>
          </a:prstGeom>
          <a:noFill/>
          <a:ln w="9525" cap="flat" cmpd="sng">
            <a:solidFill>
              <a:srgbClr val="CBD5E1"/>
            </a:solidFill>
            <a:prstDash val="solid"/>
            <a:round/>
            <a:headEnd type="none" w="sm" len="sm"/>
            <a:tailEnd type="none" w="sm" len="sm"/>
          </a:ln>
        </p:spPr>
      </p:cxnSp>
      <p:cxnSp>
        <p:nvCxnSpPr>
          <p:cNvPr id="890" name="Google Shape;890;p20"/>
          <p:cNvCxnSpPr/>
          <p:nvPr/>
        </p:nvCxnSpPr>
        <p:spPr>
          <a:xfrm>
            <a:off x="2231136" y="1892808"/>
            <a:ext cx="411600" cy="0"/>
          </a:xfrm>
          <a:prstGeom prst="straightConnector1">
            <a:avLst/>
          </a:prstGeom>
          <a:noFill/>
          <a:ln w="9525" cap="flat" cmpd="sng">
            <a:solidFill>
              <a:srgbClr val="CBD5E1"/>
            </a:solidFill>
            <a:prstDash val="solid"/>
            <a:round/>
            <a:headEnd type="none" w="sm" len="sm"/>
            <a:tailEnd type="none" w="sm" len="sm"/>
          </a:ln>
        </p:spPr>
      </p:cxnSp>
      <p:cxnSp>
        <p:nvCxnSpPr>
          <p:cNvPr id="891" name="Google Shape;891;p20"/>
          <p:cNvCxnSpPr/>
          <p:nvPr/>
        </p:nvCxnSpPr>
        <p:spPr>
          <a:xfrm>
            <a:off x="2231136" y="1892808"/>
            <a:ext cx="411600" cy="36600"/>
          </a:xfrm>
          <a:prstGeom prst="straightConnector1">
            <a:avLst/>
          </a:prstGeom>
          <a:noFill/>
          <a:ln w="9525" cap="flat" cmpd="sng">
            <a:solidFill>
              <a:srgbClr val="CBD5E1"/>
            </a:solidFill>
            <a:prstDash val="solid"/>
            <a:round/>
            <a:headEnd type="none" w="sm" len="sm"/>
            <a:tailEnd type="none" w="sm" len="sm"/>
          </a:ln>
        </p:spPr>
      </p:cxnSp>
      <p:cxnSp>
        <p:nvCxnSpPr>
          <p:cNvPr id="892" name="Google Shape;892;p20"/>
          <p:cNvCxnSpPr/>
          <p:nvPr/>
        </p:nvCxnSpPr>
        <p:spPr>
          <a:xfrm>
            <a:off x="2231136" y="1892808"/>
            <a:ext cx="411600" cy="283500"/>
          </a:xfrm>
          <a:prstGeom prst="straightConnector1">
            <a:avLst/>
          </a:prstGeom>
          <a:noFill/>
          <a:ln w="9525" cap="flat" cmpd="sng">
            <a:solidFill>
              <a:srgbClr val="CBD5E1"/>
            </a:solidFill>
            <a:prstDash val="solid"/>
            <a:round/>
            <a:headEnd type="none" w="sm" len="sm"/>
            <a:tailEnd type="none" w="sm" len="sm"/>
          </a:ln>
        </p:spPr>
      </p:cxnSp>
      <p:cxnSp>
        <p:nvCxnSpPr>
          <p:cNvPr id="893" name="Google Shape;893;p20"/>
          <p:cNvCxnSpPr/>
          <p:nvPr/>
        </p:nvCxnSpPr>
        <p:spPr>
          <a:xfrm>
            <a:off x="2231136" y="2212848"/>
            <a:ext cx="411600" cy="0"/>
          </a:xfrm>
          <a:prstGeom prst="straightConnector1">
            <a:avLst/>
          </a:prstGeom>
          <a:noFill/>
          <a:ln w="9525" cap="flat" cmpd="sng">
            <a:solidFill>
              <a:srgbClr val="CBD5E1"/>
            </a:solidFill>
            <a:prstDash val="solid"/>
            <a:round/>
            <a:headEnd type="none" w="sm" len="sm"/>
            <a:tailEnd type="none" w="sm" len="sm"/>
          </a:ln>
        </p:spPr>
      </p:cxnSp>
      <p:cxnSp>
        <p:nvCxnSpPr>
          <p:cNvPr id="894" name="Google Shape;894;p20"/>
          <p:cNvCxnSpPr/>
          <p:nvPr/>
        </p:nvCxnSpPr>
        <p:spPr>
          <a:xfrm>
            <a:off x="2231136" y="2212848"/>
            <a:ext cx="411600" cy="0"/>
          </a:xfrm>
          <a:prstGeom prst="straightConnector1">
            <a:avLst/>
          </a:prstGeom>
          <a:noFill/>
          <a:ln w="9525" cap="flat" cmpd="sng">
            <a:solidFill>
              <a:srgbClr val="CBD5E1"/>
            </a:solidFill>
            <a:prstDash val="solid"/>
            <a:round/>
            <a:headEnd type="none" w="sm" len="sm"/>
            <a:tailEnd type="none" w="sm" len="sm"/>
          </a:ln>
        </p:spPr>
      </p:cxnSp>
      <p:cxnSp>
        <p:nvCxnSpPr>
          <p:cNvPr id="895" name="Google Shape;895;p20"/>
          <p:cNvCxnSpPr/>
          <p:nvPr/>
        </p:nvCxnSpPr>
        <p:spPr>
          <a:xfrm>
            <a:off x="2231136" y="2212848"/>
            <a:ext cx="411600" cy="0"/>
          </a:xfrm>
          <a:prstGeom prst="straightConnector1">
            <a:avLst/>
          </a:prstGeom>
          <a:noFill/>
          <a:ln w="9525" cap="flat" cmpd="sng">
            <a:solidFill>
              <a:srgbClr val="CBD5E1"/>
            </a:solidFill>
            <a:prstDash val="solid"/>
            <a:round/>
            <a:headEnd type="none" w="sm" len="sm"/>
            <a:tailEnd type="none" w="sm" len="sm"/>
          </a:ln>
        </p:spPr>
      </p:cxnSp>
      <p:cxnSp>
        <p:nvCxnSpPr>
          <p:cNvPr id="896" name="Google Shape;896;p20"/>
          <p:cNvCxnSpPr/>
          <p:nvPr/>
        </p:nvCxnSpPr>
        <p:spPr>
          <a:xfrm>
            <a:off x="2825496" y="1682496"/>
            <a:ext cx="411600" cy="118800"/>
          </a:xfrm>
          <a:prstGeom prst="straightConnector1">
            <a:avLst/>
          </a:prstGeom>
          <a:noFill/>
          <a:ln w="9525" cap="flat" cmpd="sng">
            <a:solidFill>
              <a:srgbClr val="CBD5E1"/>
            </a:solidFill>
            <a:prstDash val="solid"/>
            <a:round/>
            <a:headEnd type="none" w="sm" len="sm"/>
            <a:tailEnd type="none" w="sm" len="sm"/>
          </a:ln>
        </p:spPr>
      </p:cxnSp>
      <p:cxnSp>
        <p:nvCxnSpPr>
          <p:cNvPr id="897" name="Google Shape;897;p20"/>
          <p:cNvCxnSpPr/>
          <p:nvPr/>
        </p:nvCxnSpPr>
        <p:spPr>
          <a:xfrm>
            <a:off x="2825496" y="1682496"/>
            <a:ext cx="411600" cy="365700"/>
          </a:xfrm>
          <a:prstGeom prst="straightConnector1">
            <a:avLst/>
          </a:prstGeom>
          <a:noFill/>
          <a:ln w="9525" cap="flat" cmpd="sng">
            <a:solidFill>
              <a:srgbClr val="CBD5E1"/>
            </a:solidFill>
            <a:prstDash val="solid"/>
            <a:round/>
            <a:headEnd type="none" w="sm" len="sm"/>
            <a:tailEnd type="none" w="sm" len="sm"/>
          </a:ln>
        </p:spPr>
      </p:cxnSp>
      <p:cxnSp>
        <p:nvCxnSpPr>
          <p:cNvPr id="898" name="Google Shape;898;p20"/>
          <p:cNvCxnSpPr/>
          <p:nvPr/>
        </p:nvCxnSpPr>
        <p:spPr>
          <a:xfrm>
            <a:off x="2825496" y="1929384"/>
            <a:ext cx="411600" cy="0"/>
          </a:xfrm>
          <a:prstGeom prst="straightConnector1">
            <a:avLst/>
          </a:prstGeom>
          <a:noFill/>
          <a:ln w="9525" cap="flat" cmpd="sng">
            <a:solidFill>
              <a:srgbClr val="CBD5E1"/>
            </a:solidFill>
            <a:prstDash val="solid"/>
            <a:round/>
            <a:headEnd type="none" w="sm" len="sm"/>
            <a:tailEnd type="none" w="sm" len="sm"/>
          </a:ln>
        </p:spPr>
      </p:cxnSp>
      <p:cxnSp>
        <p:nvCxnSpPr>
          <p:cNvPr id="899" name="Google Shape;899;p20"/>
          <p:cNvCxnSpPr/>
          <p:nvPr/>
        </p:nvCxnSpPr>
        <p:spPr>
          <a:xfrm>
            <a:off x="2825496" y="1929384"/>
            <a:ext cx="411600" cy="118800"/>
          </a:xfrm>
          <a:prstGeom prst="straightConnector1">
            <a:avLst/>
          </a:prstGeom>
          <a:noFill/>
          <a:ln w="9525" cap="flat" cmpd="sng">
            <a:solidFill>
              <a:srgbClr val="CBD5E1"/>
            </a:solidFill>
            <a:prstDash val="solid"/>
            <a:round/>
            <a:headEnd type="none" w="sm" len="sm"/>
            <a:tailEnd type="none" w="sm" len="sm"/>
          </a:ln>
        </p:spPr>
      </p:cxnSp>
      <p:cxnSp>
        <p:nvCxnSpPr>
          <p:cNvPr id="900" name="Google Shape;900;p20"/>
          <p:cNvCxnSpPr/>
          <p:nvPr/>
        </p:nvCxnSpPr>
        <p:spPr>
          <a:xfrm>
            <a:off x="2825496" y="2176272"/>
            <a:ext cx="411600" cy="0"/>
          </a:xfrm>
          <a:prstGeom prst="straightConnector1">
            <a:avLst/>
          </a:prstGeom>
          <a:noFill/>
          <a:ln w="9525" cap="flat" cmpd="sng">
            <a:solidFill>
              <a:srgbClr val="CBD5E1"/>
            </a:solidFill>
            <a:prstDash val="solid"/>
            <a:round/>
            <a:headEnd type="none" w="sm" len="sm"/>
            <a:tailEnd type="none" w="sm" len="sm"/>
          </a:ln>
        </p:spPr>
      </p:cxnSp>
      <p:cxnSp>
        <p:nvCxnSpPr>
          <p:cNvPr id="901" name="Google Shape;901;p20"/>
          <p:cNvCxnSpPr/>
          <p:nvPr/>
        </p:nvCxnSpPr>
        <p:spPr>
          <a:xfrm>
            <a:off x="2825496" y="2176272"/>
            <a:ext cx="411600" cy="0"/>
          </a:xfrm>
          <a:prstGeom prst="straightConnector1">
            <a:avLst/>
          </a:prstGeom>
          <a:noFill/>
          <a:ln w="9525" cap="flat" cmpd="sng">
            <a:solidFill>
              <a:srgbClr val="CBD5E1"/>
            </a:solidFill>
            <a:prstDash val="solid"/>
            <a:round/>
            <a:headEnd type="none" w="sm" len="sm"/>
            <a:tailEnd type="none" w="sm" len="sm"/>
          </a:ln>
        </p:spPr>
      </p:cxnSp>
      <p:sp>
        <p:nvSpPr>
          <p:cNvPr id="902" name="Google Shape;902;p20"/>
          <p:cNvSpPr/>
          <p:nvPr/>
        </p:nvSpPr>
        <p:spPr>
          <a:xfrm>
            <a:off x="1975104" y="2441448"/>
            <a:ext cx="1518000" cy="1417200"/>
          </a:xfrm>
          <a:prstGeom prst="rect">
            <a:avLst/>
          </a:prstGeom>
          <a:noFill/>
          <a:ln>
            <a:noFill/>
          </a:ln>
        </p:spPr>
        <p:txBody>
          <a:bodyPr spcFirstLastPara="1" wrap="square" lIns="38100" tIns="38100" rIns="38100" bIns="38100" anchor="t" anchorCtr="0">
            <a:noAutofit/>
          </a:bodyPr>
          <a:lstStyle/>
          <a:p>
            <a:pPr marL="0" marR="0" lvl="0" indent="0" algn="l" rtl="0">
              <a:lnSpc>
                <a:spcPct val="125000"/>
              </a:lnSpc>
              <a:spcBef>
                <a:spcPts val="0"/>
              </a:spcBef>
              <a:spcAft>
                <a:spcPts val="0"/>
              </a:spcAft>
              <a:buClr>
                <a:srgbClr val="0EA5E9"/>
              </a:buClr>
              <a:buSzPts val="900"/>
              <a:buFont typeface="Calibri"/>
              <a:buNone/>
            </a:pPr>
            <a:r>
              <a:rPr lang="en" sz="900" b="1" i="0" u="none" strike="noStrike" cap="none">
                <a:solidFill>
                  <a:srgbClr val="0EA5E9"/>
                </a:solidFill>
                <a:latin typeface="Calibri"/>
                <a:ea typeface="Calibri"/>
                <a:cs typeface="Calibri"/>
                <a:sym typeface="Calibri"/>
              </a:rPr>
              <a:t>Hidden layers</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Backpropagation</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Non-linear fn</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Universal approx</a:t>
            </a:r>
            <a:endParaRPr sz="900" b="0" i="0" u="none" strike="noStrike" cap="none">
              <a:solidFill>
                <a:schemeClr val="dk1"/>
              </a:solidFill>
              <a:latin typeface="Calibri"/>
              <a:ea typeface="Calibri"/>
              <a:cs typeface="Calibri"/>
              <a:sym typeface="Calibri"/>
            </a:endParaRPr>
          </a:p>
        </p:txBody>
      </p:sp>
      <p:sp>
        <p:nvSpPr>
          <p:cNvPr id="903" name="Google Shape;903;p20"/>
          <p:cNvSpPr/>
          <p:nvPr/>
        </p:nvSpPr>
        <p:spPr>
          <a:xfrm>
            <a:off x="2651760" y="4142232"/>
            <a:ext cx="164700" cy="164700"/>
          </a:xfrm>
          <a:prstGeom prst="ellipse">
            <a:avLst/>
          </a:prstGeom>
          <a:solidFill>
            <a:srgbClr val="0EA5E9"/>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4" name="Google Shape;904;p20"/>
          <p:cNvSpPr/>
          <p:nvPr/>
        </p:nvSpPr>
        <p:spPr>
          <a:xfrm>
            <a:off x="3639312" y="749808"/>
            <a:ext cx="1664100" cy="3291900"/>
          </a:xfrm>
          <a:prstGeom prst="rect">
            <a:avLst/>
          </a:prstGeom>
          <a:solidFill>
            <a:srgbClr val="FFFFFF"/>
          </a:solidFill>
          <a:ln w="15225" cap="flat" cmpd="sng">
            <a:solidFill>
              <a:srgbClr val="10B981"/>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5" name="Google Shape;905;p20"/>
          <p:cNvSpPr/>
          <p:nvPr/>
        </p:nvSpPr>
        <p:spPr>
          <a:xfrm>
            <a:off x="3639312" y="749808"/>
            <a:ext cx="1664100" cy="63900"/>
          </a:xfrm>
          <a:prstGeom prst="rect">
            <a:avLst/>
          </a:prstGeom>
          <a:solidFill>
            <a:srgbClr val="10B981"/>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6" name="Google Shape;906;p20"/>
          <p:cNvSpPr/>
          <p:nvPr/>
        </p:nvSpPr>
        <p:spPr>
          <a:xfrm>
            <a:off x="3712464" y="841248"/>
            <a:ext cx="1518000" cy="201300"/>
          </a:xfrm>
          <a:prstGeom prst="rect">
            <a:avLst/>
          </a:prstGeom>
          <a:solidFill>
            <a:srgbClr val="10B981">
              <a:alpha val="14902"/>
            </a:srgbClr>
          </a:solidFill>
          <a:ln w="9525"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7" name="Google Shape;907;p20"/>
          <p:cNvSpPr/>
          <p:nvPr/>
        </p:nvSpPr>
        <p:spPr>
          <a:xfrm>
            <a:off x="3712464" y="841248"/>
            <a:ext cx="15180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0B981"/>
              </a:buClr>
              <a:buSzPts val="800"/>
              <a:buFont typeface="Calibri"/>
              <a:buNone/>
            </a:pPr>
            <a:r>
              <a:rPr lang="en" sz="800" b="1" i="0" u="none" strike="noStrike" cap="none">
                <a:solidFill>
                  <a:srgbClr val="10B981"/>
                </a:solidFill>
                <a:latin typeface="Calibri"/>
                <a:ea typeface="Calibri"/>
                <a:cs typeface="Calibri"/>
                <a:sym typeface="Calibri"/>
              </a:rPr>
              <a:t>1990s</a:t>
            </a:r>
            <a:endParaRPr sz="800" b="0" i="0" u="none" strike="noStrike" cap="none">
              <a:solidFill>
                <a:schemeClr val="dk1"/>
              </a:solidFill>
              <a:latin typeface="Calibri"/>
              <a:ea typeface="Calibri"/>
              <a:cs typeface="Calibri"/>
              <a:sym typeface="Calibri"/>
            </a:endParaRPr>
          </a:p>
        </p:txBody>
      </p:sp>
      <p:sp>
        <p:nvSpPr>
          <p:cNvPr id="908" name="Google Shape;908;p20"/>
          <p:cNvSpPr/>
          <p:nvPr/>
        </p:nvSpPr>
        <p:spPr>
          <a:xfrm>
            <a:off x="3694176" y="1069848"/>
            <a:ext cx="1554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300"/>
              <a:buFont typeface="Calibri"/>
              <a:buNone/>
            </a:pPr>
            <a:r>
              <a:rPr lang="en" sz="1300" b="1" i="0" u="none" strike="noStrike" cap="none">
                <a:solidFill>
                  <a:srgbClr val="1E293B"/>
                </a:solidFill>
                <a:latin typeface="Calibri"/>
                <a:ea typeface="Calibri"/>
                <a:cs typeface="Calibri"/>
                <a:sym typeface="Calibri"/>
              </a:rPr>
              <a:t>CNN</a:t>
            </a:r>
            <a:endParaRPr sz="1300" b="0" i="0" u="none" strike="noStrike" cap="none">
              <a:solidFill>
                <a:schemeClr val="dk1"/>
              </a:solidFill>
              <a:latin typeface="Calibri"/>
              <a:ea typeface="Calibri"/>
              <a:cs typeface="Calibri"/>
              <a:sym typeface="Calibri"/>
            </a:endParaRPr>
          </a:p>
        </p:txBody>
      </p:sp>
      <p:sp>
        <p:nvSpPr>
          <p:cNvPr id="909" name="Google Shape;909;p20"/>
          <p:cNvSpPr/>
          <p:nvPr/>
        </p:nvSpPr>
        <p:spPr>
          <a:xfrm>
            <a:off x="3712464" y="1389888"/>
            <a:ext cx="1518000" cy="1005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0" name="Google Shape;910;p20"/>
          <p:cNvSpPr/>
          <p:nvPr/>
        </p:nvSpPr>
        <p:spPr>
          <a:xfrm>
            <a:off x="3785616" y="1527048"/>
            <a:ext cx="201300" cy="749700"/>
          </a:xfrm>
          <a:prstGeom prst="rect">
            <a:avLst/>
          </a:prstGeom>
          <a:solidFill>
            <a:srgbClr val="BFDBFE"/>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1" name="Google Shape;911;p20"/>
          <p:cNvSpPr/>
          <p:nvPr/>
        </p:nvSpPr>
        <p:spPr>
          <a:xfrm>
            <a:off x="4041648" y="1527048"/>
            <a:ext cx="201300" cy="749700"/>
          </a:xfrm>
          <a:prstGeom prst="rect">
            <a:avLst/>
          </a:prstGeom>
          <a:solidFill>
            <a:srgbClr val="BBF7D0"/>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2" name="Google Shape;912;p20"/>
          <p:cNvSpPr/>
          <p:nvPr/>
        </p:nvSpPr>
        <p:spPr>
          <a:xfrm>
            <a:off x="4297680" y="1527048"/>
            <a:ext cx="201300" cy="749700"/>
          </a:xfrm>
          <a:prstGeom prst="rect">
            <a:avLst/>
          </a:prstGeom>
          <a:solidFill>
            <a:srgbClr val="BFDBFE"/>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3" name="Google Shape;913;p20"/>
          <p:cNvSpPr/>
          <p:nvPr/>
        </p:nvSpPr>
        <p:spPr>
          <a:xfrm>
            <a:off x="4608576" y="1645920"/>
            <a:ext cx="146400" cy="521100"/>
          </a:xfrm>
          <a:prstGeom prst="rect">
            <a:avLst/>
          </a:prstGeom>
          <a:solidFill>
            <a:srgbClr val="DBEAFE"/>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4" name="Google Shape;914;p20"/>
          <p:cNvSpPr/>
          <p:nvPr/>
        </p:nvSpPr>
        <p:spPr>
          <a:xfrm>
            <a:off x="4828032" y="1737360"/>
            <a:ext cx="109800" cy="347400"/>
          </a:xfrm>
          <a:prstGeom prst="rect">
            <a:avLst/>
          </a:prstGeom>
          <a:solidFill>
            <a:srgbClr val="10B981">
              <a:alpha val="60000"/>
            </a:srgbClr>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5" name="Google Shape;915;p20"/>
          <p:cNvSpPr/>
          <p:nvPr/>
        </p:nvSpPr>
        <p:spPr>
          <a:xfrm>
            <a:off x="3785616" y="2304288"/>
            <a:ext cx="731400" cy="109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600"/>
              <a:buFont typeface="Calibri"/>
              <a:buNone/>
            </a:pPr>
            <a:r>
              <a:rPr lang="en" sz="600" b="0" i="0" u="none" strike="noStrike" cap="none">
                <a:solidFill>
                  <a:srgbClr val="64748B"/>
                </a:solidFill>
                <a:latin typeface="Calibri"/>
                <a:ea typeface="Calibri"/>
                <a:cs typeface="Calibri"/>
                <a:sym typeface="Calibri"/>
              </a:rPr>
              <a:t>conv</a:t>
            </a:r>
            <a:endParaRPr sz="600" b="0" i="0" u="none" strike="noStrike" cap="none">
              <a:solidFill>
                <a:schemeClr val="dk1"/>
              </a:solidFill>
              <a:latin typeface="Calibri"/>
              <a:ea typeface="Calibri"/>
              <a:cs typeface="Calibri"/>
              <a:sym typeface="Calibri"/>
            </a:endParaRPr>
          </a:p>
        </p:txBody>
      </p:sp>
      <p:sp>
        <p:nvSpPr>
          <p:cNvPr id="916" name="Google Shape;916;p20"/>
          <p:cNvSpPr/>
          <p:nvPr/>
        </p:nvSpPr>
        <p:spPr>
          <a:xfrm>
            <a:off x="4535424" y="2304288"/>
            <a:ext cx="274200" cy="109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600"/>
              <a:buFont typeface="Calibri"/>
              <a:buNone/>
            </a:pPr>
            <a:r>
              <a:rPr lang="en" sz="600" b="0" i="0" u="none" strike="noStrike" cap="none">
                <a:solidFill>
                  <a:srgbClr val="64748B"/>
                </a:solidFill>
                <a:latin typeface="Calibri"/>
                <a:ea typeface="Calibri"/>
                <a:cs typeface="Calibri"/>
                <a:sym typeface="Calibri"/>
              </a:rPr>
              <a:t>pool</a:t>
            </a:r>
            <a:endParaRPr sz="600" b="0" i="0" u="none" strike="noStrike" cap="none">
              <a:solidFill>
                <a:schemeClr val="dk1"/>
              </a:solidFill>
              <a:latin typeface="Calibri"/>
              <a:ea typeface="Calibri"/>
              <a:cs typeface="Calibri"/>
              <a:sym typeface="Calibri"/>
            </a:endParaRPr>
          </a:p>
        </p:txBody>
      </p:sp>
      <p:sp>
        <p:nvSpPr>
          <p:cNvPr id="917" name="Google Shape;917;p20"/>
          <p:cNvSpPr/>
          <p:nvPr/>
        </p:nvSpPr>
        <p:spPr>
          <a:xfrm>
            <a:off x="4791456" y="2304288"/>
            <a:ext cx="228600" cy="109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600"/>
              <a:buFont typeface="Calibri"/>
              <a:buNone/>
            </a:pPr>
            <a:r>
              <a:rPr lang="en" sz="600" b="0" i="0" u="none" strike="noStrike" cap="none">
                <a:solidFill>
                  <a:srgbClr val="64748B"/>
                </a:solidFill>
                <a:latin typeface="Calibri"/>
                <a:ea typeface="Calibri"/>
                <a:cs typeface="Calibri"/>
                <a:sym typeface="Calibri"/>
              </a:rPr>
              <a:t>FC</a:t>
            </a:r>
            <a:endParaRPr sz="600" b="0" i="0" u="none" strike="noStrike" cap="none">
              <a:solidFill>
                <a:schemeClr val="dk1"/>
              </a:solidFill>
              <a:latin typeface="Calibri"/>
              <a:ea typeface="Calibri"/>
              <a:cs typeface="Calibri"/>
              <a:sym typeface="Calibri"/>
            </a:endParaRPr>
          </a:p>
        </p:txBody>
      </p:sp>
      <p:sp>
        <p:nvSpPr>
          <p:cNvPr id="918" name="Google Shape;918;p20"/>
          <p:cNvSpPr/>
          <p:nvPr/>
        </p:nvSpPr>
        <p:spPr>
          <a:xfrm>
            <a:off x="3712464" y="2441448"/>
            <a:ext cx="1518000" cy="1417200"/>
          </a:xfrm>
          <a:prstGeom prst="rect">
            <a:avLst/>
          </a:prstGeom>
          <a:noFill/>
          <a:ln>
            <a:noFill/>
          </a:ln>
        </p:spPr>
        <p:txBody>
          <a:bodyPr spcFirstLastPara="1" wrap="square" lIns="38100" tIns="38100" rIns="38100" bIns="38100" anchor="t" anchorCtr="0">
            <a:noAutofit/>
          </a:bodyPr>
          <a:lstStyle/>
          <a:p>
            <a:pPr marL="0" marR="0" lvl="0" indent="0" algn="l" rtl="0">
              <a:lnSpc>
                <a:spcPct val="125000"/>
              </a:lnSpc>
              <a:spcBef>
                <a:spcPts val="0"/>
              </a:spcBef>
              <a:spcAft>
                <a:spcPts val="0"/>
              </a:spcAft>
              <a:buClr>
                <a:srgbClr val="10B981"/>
              </a:buClr>
              <a:buSzPts val="900"/>
              <a:buFont typeface="Calibri"/>
              <a:buNone/>
            </a:pPr>
            <a:r>
              <a:rPr lang="en" sz="900" b="1" i="0" u="none" strike="noStrike" cap="none">
                <a:solidFill>
                  <a:srgbClr val="10B981"/>
                </a:solidFill>
                <a:latin typeface="Calibri"/>
                <a:ea typeface="Calibri"/>
                <a:cs typeface="Calibri"/>
                <a:sym typeface="Calibri"/>
              </a:rPr>
              <a:t>Conv filters</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Spatial hierarchy</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Weight sharing</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Image/vision tasks</a:t>
            </a:r>
            <a:endParaRPr sz="900" b="0" i="0" u="none" strike="noStrike" cap="none">
              <a:solidFill>
                <a:schemeClr val="dk1"/>
              </a:solidFill>
              <a:latin typeface="Calibri"/>
              <a:ea typeface="Calibri"/>
              <a:cs typeface="Calibri"/>
              <a:sym typeface="Calibri"/>
            </a:endParaRPr>
          </a:p>
        </p:txBody>
      </p:sp>
      <p:sp>
        <p:nvSpPr>
          <p:cNvPr id="919" name="Google Shape;919;p20"/>
          <p:cNvSpPr/>
          <p:nvPr/>
        </p:nvSpPr>
        <p:spPr>
          <a:xfrm>
            <a:off x="4389120" y="4142232"/>
            <a:ext cx="164700" cy="164700"/>
          </a:xfrm>
          <a:prstGeom prst="ellipse">
            <a:avLst/>
          </a:prstGeom>
          <a:solidFill>
            <a:srgbClr val="10B98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0" name="Google Shape;920;p20"/>
          <p:cNvSpPr/>
          <p:nvPr/>
        </p:nvSpPr>
        <p:spPr>
          <a:xfrm>
            <a:off x="5376672" y="749808"/>
            <a:ext cx="1664100" cy="3291900"/>
          </a:xfrm>
          <a:prstGeom prst="rect">
            <a:avLst/>
          </a:prstGeom>
          <a:solidFill>
            <a:srgbClr val="FFFFFF"/>
          </a:solidFill>
          <a:ln w="15225" cap="flat" cmpd="sng">
            <a:solidFill>
              <a:srgbClr val="F59E0B"/>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1" name="Google Shape;921;p20"/>
          <p:cNvSpPr/>
          <p:nvPr/>
        </p:nvSpPr>
        <p:spPr>
          <a:xfrm>
            <a:off x="5376672" y="749808"/>
            <a:ext cx="1664100" cy="6390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2" name="Google Shape;922;p20"/>
          <p:cNvSpPr/>
          <p:nvPr/>
        </p:nvSpPr>
        <p:spPr>
          <a:xfrm>
            <a:off x="5449824" y="841248"/>
            <a:ext cx="1518000" cy="201300"/>
          </a:xfrm>
          <a:prstGeom prst="rect">
            <a:avLst/>
          </a:prstGeom>
          <a:solidFill>
            <a:srgbClr val="F59E0B">
              <a:alpha val="14902"/>
            </a:srgbClr>
          </a:solidFill>
          <a:ln w="9525"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3" name="Google Shape;923;p20"/>
          <p:cNvSpPr/>
          <p:nvPr/>
        </p:nvSpPr>
        <p:spPr>
          <a:xfrm>
            <a:off x="5449824" y="841248"/>
            <a:ext cx="15180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59E0B"/>
              </a:buClr>
              <a:buSzPts val="800"/>
              <a:buFont typeface="Calibri"/>
              <a:buNone/>
            </a:pPr>
            <a:r>
              <a:rPr lang="en" sz="800" b="1" i="0" u="none" strike="noStrike" cap="none">
                <a:solidFill>
                  <a:srgbClr val="F59E0B"/>
                </a:solidFill>
                <a:latin typeface="Calibri"/>
                <a:ea typeface="Calibri"/>
                <a:cs typeface="Calibri"/>
                <a:sym typeface="Calibri"/>
              </a:rPr>
              <a:t>1990s</a:t>
            </a:r>
            <a:endParaRPr sz="800" b="0" i="0" u="none" strike="noStrike" cap="none">
              <a:solidFill>
                <a:schemeClr val="dk1"/>
              </a:solidFill>
              <a:latin typeface="Calibri"/>
              <a:ea typeface="Calibri"/>
              <a:cs typeface="Calibri"/>
              <a:sym typeface="Calibri"/>
            </a:endParaRPr>
          </a:p>
        </p:txBody>
      </p:sp>
      <p:sp>
        <p:nvSpPr>
          <p:cNvPr id="924" name="Google Shape;924;p20"/>
          <p:cNvSpPr/>
          <p:nvPr/>
        </p:nvSpPr>
        <p:spPr>
          <a:xfrm>
            <a:off x="5431536" y="1069848"/>
            <a:ext cx="1554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300"/>
              <a:buFont typeface="Calibri"/>
              <a:buNone/>
            </a:pPr>
            <a:r>
              <a:rPr lang="en" sz="1300" b="1" i="0" u="none" strike="noStrike" cap="none">
                <a:solidFill>
                  <a:srgbClr val="1E293B"/>
                </a:solidFill>
                <a:latin typeface="Calibri"/>
                <a:ea typeface="Calibri"/>
                <a:cs typeface="Calibri"/>
                <a:sym typeface="Calibri"/>
              </a:rPr>
              <a:t>RNN / LSTM</a:t>
            </a:r>
            <a:endParaRPr sz="1300" b="0" i="0" u="none" strike="noStrike" cap="none">
              <a:solidFill>
                <a:schemeClr val="dk1"/>
              </a:solidFill>
              <a:latin typeface="Calibri"/>
              <a:ea typeface="Calibri"/>
              <a:cs typeface="Calibri"/>
              <a:sym typeface="Calibri"/>
            </a:endParaRPr>
          </a:p>
        </p:txBody>
      </p:sp>
      <p:sp>
        <p:nvSpPr>
          <p:cNvPr id="925" name="Google Shape;925;p20"/>
          <p:cNvSpPr/>
          <p:nvPr/>
        </p:nvSpPr>
        <p:spPr>
          <a:xfrm>
            <a:off x="5449824" y="1389888"/>
            <a:ext cx="1518000" cy="1005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6" name="Google Shape;926;p20"/>
          <p:cNvSpPr/>
          <p:nvPr/>
        </p:nvSpPr>
        <p:spPr>
          <a:xfrm>
            <a:off x="5541264" y="1709928"/>
            <a:ext cx="320100" cy="320100"/>
          </a:xfrm>
          <a:prstGeom prst="rect">
            <a:avLst/>
          </a:prstGeom>
          <a:solidFill>
            <a:srgbClr val="F59E0B">
              <a:alpha val="50196"/>
            </a:srgbClr>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7" name="Google Shape;927;p20"/>
          <p:cNvSpPr/>
          <p:nvPr/>
        </p:nvSpPr>
        <p:spPr>
          <a:xfrm>
            <a:off x="5541264" y="1709928"/>
            <a:ext cx="320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00"/>
              <a:buFont typeface="Calibri"/>
              <a:buNone/>
            </a:pPr>
            <a:r>
              <a:rPr lang="en" sz="1000" b="1" i="1" u="none" strike="noStrike" cap="none">
                <a:solidFill>
                  <a:srgbClr val="1E293B"/>
                </a:solidFill>
                <a:latin typeface="Calibri"/>
                <a:ea typeface="Calibri"/>
                <a:cs typeface="Calibri"/>
                <a:sym typeface="Calibri"/>
              </a:rPr>
              <a:t>h</a:t>
            </a:r>
            <a:endParaRPr sz="1000" b="0" i="0" u="none" strike="noStrike" cap="none">
              <a:solidFill>
                <a:schemeClr val="dk1"/>
              </a:solidFill>
              <a:latin typeface="Calibri"/>
              <a:ea typeface="Calibri"/>
              <a:cs typeface="Calibri"/>
              <a:sym typeface="Calibri"/>
            </a:endParaRPr>
          </a:p>
        </p:txBody>
      </p:sp>
      <p:cxnSp>
        <p:nvCxnSpPr>
          <p:cNvPr id="928" name="Google Shape;928;p20"/>
          <p:cNvCxnSpPr/>
          <p:nvPr/>
        </p:nvCxnSpPr>
        <p:spPr>
          <a:xfrm>
            <a:off x="5861304" y="1869948"/>
            <a:ext cx="183000" cy="0"/>
          </a:xfrm>
          <a:prstGeom prst="straightConnector1">
            <a:avLst/>
          </a:prstGeom>
          <a:noFill/>
          <a:ln w="15225" cap="flat" cmpd="sng">
            <a:solidFill>
              <a:srgbClr val="F59E0B"/>
            </a:solidFill>
            <a:prstDash val="solid"/>
            <a:round/>
            <a:headEnd type="none" w="sm" len="sm"/>
            <a:tailEnd type="none" w="sm" len="sm"/>
          </a:ln>
        </p:spPr>
      </p:cxnSp>
      <p:cxnSp>
        <p:nvCxnSpPr>
          <p:cNvPr id="929" name="Google Shape;929;p20"/>
          <p:cNvCxnSpPr/>
          <p:nvPr/>
        </p:nvCxnSpPr>
        <p:spPr>
          <a:xfrm>
            <a:off x="5701284" y="1527048"/>
            <a:ext cx="0" cy="183000"/>
          </a:xfrm>
          <a:prstGeom prst="straightConnector1">
            <a:avLst/>
          </a:prstGeom>
          <a:noFill/>
          <a:ln w="12700" cap="flat" cmpd="sng">
            <a:solidFill>
              <a:srgbClr val="94A3B8"/>
            </a:solidFill>
            <a:prstDash val="solid"/>
            <a:round/>
            <a:headEnd type="none" w="sm" len="sm"/>
            <a:tailEnd type="none" w="sm" len="sm"/>
          </a:ln>
        </p:spPr>
      </p:cxnSp>
      <p:sp>
        <p:nvSpPr>
          <p:cNvPr id="930" name="Google Shape;930;p20"/>
          <p:cNvSpPr/>
          <p:nvPr/>
        </p:nvSpPr>
        <p:spPr>
          <a:xfrm>
            <a:off x="5609844" y="1435608"/>
            <a:ext cx="183000" cy="128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700"/>
              <a:buFont typeface="Calibri"/>
              <a:buNone/>
            </a:pPr>
            <a:r>
              <a:rPr lang="en" sz="700" b="0" i="1" u="none" strike="noStrike" cap="none">
                <a:solidFill>
                  <a:srgbClr val="64748B"/>
                </a:solidFill>
                <a:latin typeface="Calibri"/>
                <a:ea typeface="Calibri"/>
                <a:cs typeface="Calibri"/>
                <a:sym typeface="Calibri"/>
              </a:rPr>
              <a:t>x1</a:t>
            </a:r>
            <a:endParaRPr sz="700" b="0" i="0" u="none" strike="noStrike" cap="none">
              <a:solidFill>
                <a:schemeClr val="dk1"/>
              </a:solidFill>
              <a:latin typeface="Calibri"/>
              <a:ea typeface="Calibri"/>
              <a:cs typeface="Calibri"/>
              <a:sym typeface="Calibri"/>
            </a:endParaRPr>
          </a:p>
        </p:txBody>
      </p:sp>
      <p:sp>
        <p:nvSpPr>
          <p:cNvPr id="931" name="Google Shape;931;p20"/>
          <p:cNvSpPr/>
          <p:nvPr/>
        </p:nvSpPr>
        <p:spPr>
          <a:xfrm>
            <a:off x="5952744" y="1709928"/>
            <a:ext cx="320100" cy="320100"/>
          </a:xfrm>
          <a:prstGeom prst="rect">
            <a:avLst/>
          </a:prstGeom>
          <a:solidFill>
            <a:srgbClr val="F59E0B">
              <a:alpha val="50196"/>
            </a:srgbClr>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2" name="Google Shape;932;p20"/>
          <p:cNvSpPr/>
          <p:nvPr/>
        </p:nvSpPr>
        <p:spPr>
          <a:xfrm>
            <a:off x="5952744" y="1709928"/>
            <a:ext cx="320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00"/>
              <a:buFont typeface="Calibri"/>
              <a:buNone/>
            </a:pPr>
            <a:r>
              <a:rPr lang="en" sz="1000" b="1" i="1" u="none" strike="noStrike" cap="none">
                <a:solidFill>
                  <a:srgbClr val="1E293B"/>
                </a:solidFill>
                <a:latin typeface="Calibri"/>
                <a:ea typeface="Calibri"/>
                <a:cs typeface="Calibri"/>
                <a:sym typeface="Calibri"/>
              </a:rPr>
              <a:t>h</a:t>
            </a:r>
            <a:endParaRPr sz="1000" b="0" i="0" u="none" strike="noStrike" cap="none">
              <a:solidFill>
                <a:schemeClr val="dk1"/>
              </a:solidFill>
              <a:latin typeface="Calibri"/>
              <a:ea typeface="Calibri"/>
              <a:cs typeface="Calibri"/>
              <a:sym typeface="Calibri"/>
            </a:endParaRPr>
          </a:p>
        </p:txBody>
      </p:sp>
      <p:cxnSp>
        <p:nvCxnSpPr>
          <p:cNvPr id="933" name="Google Shape;933;p20"/>
          <p:cNvCxnSpPr/>
          <p:nvPr/>
        </p:nvCxnSpPr>
        <p:spPr>
          <a:xfrm>
            <a:off x="6272784" y="1869948"/>
            <a:ext cx="183000" cy="0"/>
          </a:xfrm>
          <a:prstGeom prst="straightConnector1">
            <a:avLst/>
          </a:prstGeom>
          <a:noFill/>
          <a:ln w="15225" cap="flat" cmpd="sng">
            <a:solidFill>
              <a:srgbClr val="F59E0B"/>
            </a:solidFill>
            <a:prstDash val="solid"/>
            <a:round/>
            <a:headEnd type="none" w="sm" len="sm"/>
            <a:tailEnd type="none" w="sm" len="sm"/>
          </a:ln>
        </p:spPr>
      </p:cxnSp>
      <p:cxnSp>
        <p:nvCxnSpPr>
          <p:cNvPr id="934" name="Google Shape;934;p20"/>
          <p:cNvCxnSpPr/>
          <p:nvPr/>
        </p:nvCxnSpPr>
        <p:spPr>
          <a:xfrm>
            <a:off x="6112764" y="1527048"/>
            <a:ext cx="0" cy="183000"/>
          </a:xfrm>
          <a:prstGeom prst="straightConnector1">
            <a:avLst/>
          </a:prstGeom>
          <a:noFill/>
          <a:ln w="12700" cap="flat" cmpd="sng">
            <a:solidFill>
              <a:srgbClr val="94A3B8"/>
            </a:solidFill>
            <a:prstDash val="solid"/>
            <a:round/>
            <a:headEnd type="none" w="sm" len="sm"/>
            <a:tailEnd type="none" w="sm" len="sm"/>
          </a:ln>
        </p:spPr>
      </p:cxnSp>
      <p:sp>
        <p:nvSpPr>
          <p:cNvPr id="935" name="Google Shape;935;p20"/>
          <p:cNvSpPr/>
          <p:nvPr/>
        </p:nvSpPr>
        <p:spPr>
          <a:xfrm>
            <a:off x="6021324" y="1435608"/>
            <a:ext cx="183000" cy="128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700"/>
              <a:buFont typeface="Calibri"/>
              <a:buNone/>
            </a:pPr>
            <a:r>
              <a:rPr lang="en" sz="700" b="0" i="1" u="none" strike="noStrike" cap="none">
                <a:solidFill>
                  <a:srgbClr val="64748B"/>
                </a:solidFill>
                <a:latin typeface="Calibri"/>
                <a:ea typeface="Calibri"/>
                <a:cs typeface="Calibri"/>
                <a:sym typeface="Calibri"/>
              </a:rPr>
              <a:t>x2</a:t>
            </a:r>
            <a:endParaRPr sz="700" b="0" i="0" u="none" strike="noStrike" cap="none">
              <a:solidFill>
                <a:schemeClr val="dk1"/>
              </a:solidFill>
              <a:latin typeface="Calibri"/>
              <a:ea typeface="Calibri"/>
              <a:cs typeface="Calibri"/>
              <a:sym typeface="Calibri"/>
            </a:endParaRPr>
          </a:p>
        </p:txBody>
      </p:sp>
      <p:sp>
        <p:nvSpPr>
          <p:cNvPr id="936" name="Google Shape;936;p20"/>
          <p:cNvSpPr/>
          <p:nvPr/>
        </p:nvSpPr>
        <p:spPr>
          <a:xfrm>
            <a:off x="6364224" y="1709928"/>
            <a:ext cx="320100" cy="320100"/>
          </a:xfrm>
          <a:prstGeom prst="rect">
            <a:avLst/>
          </a:prstGeom>
          <a:solidFill>
            <a:srgbClr val="F59E0B">
              <a:alpha val="50196"/>
            </a:srgbClr>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7" name="Google Shape;937;p20"/>
          <p:cNvSpPr/>
          <p:nvPr/>
        </p:nvSpPr>
        <p:spPr>
          <a:xfrm>
            <a:off x="6364224" y="1709928"/>
            <a:ext cx="320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00"/>
              <a:buFont typeface="Calibri"/>
              <a:buNone/>
            </a:pPr>
            <a:r>
              <a:rPr lang="en" sz="1000" b="1" i="1" u="none" strike="noStrike" cap="none">
                <a:solidFill>
                  <a:srgbClr val="1E293B"/>
                </a:solidFill>
                <a:latin typeface="Calibri"/>
                <a:ea typeface="Calibri"/>
                <a:cs typeface="Calibri"/>
                <a:sym typeface="Calibri"/>
              </a:rPr>
              <a:t>h</a:t>
            </a:r>
            <a:endParaRPr sz="1000" b="0" i="0" u="none" strike="noStrike" cap="none">
              <a:solidFill>
                <a:schemeClr val="dk1"/>
              </a:solidFill>
              <a:latin typeface="Calibri"/>
              <a:ea typeface="Calibri"/>
              <a:cs typeface="Calibri"/>
              <a:sym typeface="Calibri"/>
            </a:endParaRPr>
          </a:p>
        </p:txBody>
      </p:sp>
      <p:cxnSp>
        <p:nvCxnSpPr>
          <p:cNvPr id="938" name="Google Shape;938;p20"/>
          <p:cNvCxnSpPr/>
          <p:nvPr/>
        </p:nvCxnSpPr>
        <p:spPr>
          <a:xfrm>
            <a:off x="6524244" y="1527048"/>
            <a:ext cx="0" cy="183000"/>
          </a:xfrm>
          <a:prstGeom prst="straightConnector1">
            <a:avLst/>
          </a:prstGeom>
          <a:noFill/>
          <a:ln w="12700" cap="flat" cmpd="sng">
            <a:solidFill>
              <a:srgbClr val="94A3B8"/>
            </a:solidFill>
            <a:prstDash val="solid"/>
            <a:round/>
            <a:headEnd type="none" w="sm" len="sm"/>
            <a:tailEnd type="none" w="sm" len="sm"/>
          </a:ln>
        </p:spPr>
      </p:cxnSp>
      <p:sp>
        <p:nvSpPr>
          <p:cNvPr id="939" name="Google Shape;939;p20"/>
          <p:cNvSpPr/>
          <p:nvPr/>
        </p:nvSpPr>
        <p:spPr>
          <a:xfrm>
            <a:off x="6432804" y="1435608"/>
            <a:ext cx="183000" cy="128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700"/>
              <a:buFont typeface="Calibri"/>
              <a:buNone/>
            </a:pPr>
            <a:r>
              <a:rPr lang="en" sz="700" b="0" i="1" u="none" strike="noStrike" cap="none">
                <a:solidFill>
                  <a:srgbClr val="64748B"/>
                </a:solidFill>
                <a:latin typeface="Calibri"/>
                <a:ea typeface="Calibri"/>
                <a:cs typeface="Calibri"/>
                <a:sym typeface="Calibri"/>
              </a:rPr>
              <a:t>x3</a:t>
            </a:r>
            <a:endParaRPr sz="700" b="0" i="0" u="none" strike="noStrike" cap="none">
              <a:solidFill>
                <a:schemeClr val="dk1"/>
              </a:solidFill>
              <a:latin typeface="Calibri"/>
              <a:ea typeface="Calibri"/>
              <a:cs typeface="Calibri"/>
              <a:sym typeface="Calibri"/>
            </a:endParaRPr>
          </a:p>
        </p:txBody>
      </p:sp>
      <p:cxnSp>
        <p:nvCxnSpPr>
          <p:cNvPr id="940" name="Google Shape;940;p20"/>
          <p:cNvCxnSpPr/>
          <p:nvPr/>
        </p:nvCxnSpPr>
        <p:spPr>
          <a:xfrm>
            <a:off x="5705856" y="1572768"/>
            <a:ext cx="658500" cy="0"/>
          </a:xfrm>
          <a:prstGeom prst="straightConnector1">
            <a:avLst/>
          </a:prstGeom>
          <a:noFill/>
          <a:ln w="10150" cap="flat" cmpd="sng">
            <a:solidFill>
              <a:srgbClr val="F59E0B"/>
            </a:solidFill>
            <a:prstDash val="dash"/>
            <a:round/>
            <a:headEnd type="none" w="sm" len="sm"/>
            <a:tailEnd type="none" w="sm" len="sm"/>
          </a:ln>
        </p:spPr>
      </p:cxnSp>
      <p:sp>
        <p:nvSpPr>
          <p:cNvPr id="941" name="Google Shape;941;p20"/>
          <p:cNvSpPr/>
          <p:nvPr/>
        </p:nvSpPr>
        <p:spPr>
          <a:xfrm>
            <a:off x="5449824" y="2441448"/>
            <a:ext cx="1518000" cy="1417200"/>
          </a:xfrm>
          <a:prstGeom prst="rect">
            <a:avLst/>
          </a:prstGeom>
          <a:noFill/>
          <a:ln>
            <a:noFill/>
          </a:ln>
        </p:spPr>
        <p:txBody>
          <a:bodyPr spcFirstLastPara="1" wrap="square" lIns="38100" tIns="38100" rIns="38100" bIns="38100" anchor="t" anchorCtr="0">
            <a:noAutofit/>
          </a:bodyPr>
          <a:lstStyle/>
          <a:p>
            <a:pPr marL="0" marR="0" lvl="0" indent="0" algn="l" rtl="0">
              <a:lnSpc>
                <a:spcPct val="125000"/>
              </a:lnSpc>
              <a:spcBef>
                <a:spcPts val="0"/>
              </a:spcBef>
              <a:spcAft>
                <a:spcPts val="0"/>
              </a:spcAft>
              <a:buClr>
                <a:srgbClr val="F59E0B"/>
              </a:buClr>
              <a:buSzPts val="900"/>
              <a:buFont typeface="Calibri"/>
              <a:buNone/>
            </a:pPr>
            <a:r>
              <a:rPr lang="en" sz="900" b="1" i="0" u="none" strike="noStrike" cap="none">
                <a:solidFill>
                  <a:srgbClr val="F59E0B"/>
                </a:solidFill>
                <a:latin typeface="Calibri"/>
                <a:ea typeface="Calibri"/>
                <a:cs typeface="Calibri"/>
                <a:sym typeface="Calibri"/>
              </a:rPr>
              <a:t>Sequential data</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Hidden state</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Long-term memory</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NLP / time-series</a:t>
            </a:r>
            <a:endParaRPr sz="900" b="0" i="0" u="none" strike="noStrike" cap="none">
              <a:solidFill>
                <a:schemeClr val="dk1"/>
              </a:solidFill>
              <a:latin typeface="Calibri"/>
              <a:ea typeface="Calibri"/>
              <a:cs typeface="Calibri"/>
              <a:sym typeface="Calibri"/>
            </a:endParaRPr>
          </a:p>
        </p:txBody>
      </p:sp>
      <p:sp>
        <p:nvSpPr>
          <p:cNvPr id="942" name="Google Shape;942;p20"/>
          <p:cNvSpPr/>
          <p:nvPr/>
        </p:nvSpPr>
        <p:spPr>
          <a:xfrm>
            <a:off x="6126480" y="4142232"/>
            <a:ext cx="164700" cy="164700"/>
          </a:xfrm>
          <a:prstGeom prst="ellipse">
            <a:avLst/>
          </a:prstGeom>
          <a:solidFill>
            <a:srgbClr val="F59E0B"/>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3" name="Google Shape;943;p20"/>
          <p:cNvSpPr/>
          <p:nvPr/>
        </p:nvSpPr>
        <p:spPr>
          <a:xfrm>
            <a:off x="7114032" y="749808"/>
            <a:ext cx="1664100" cy="3291900"/>
          </a:xfrm>
          <a:prstGeom prst="rect">
            <a:avLst/>
          </a:prstGeom>
          <a:solidFill>
            <a:srgbClr val="FFFFFF"/>
          </a:solidFill>
          <a:ln w="15225" cap="flat" cmpd="sng">
            <a:solidFill>
              <a:srgbClr val="EC4899"/>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4" name="Google Shape;944;p20"/>
          <p:cNvSpPr/>
          <p:nvPr/>
        </p:nvSpPr>
        <p:spPr>
          <a:xfrm>
            <a:off x="7114032" y="749808"/>
            <a:ext cx="1664100" cy="63900"/>
          </a:xfrm>
          <a:prstGeom prst="rect">
            <a:avLst/>
          </a:prstGeom>
          <a:solidFill>
            <a:srgbClr val="EC4899"/>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5" name="Google Shape;945;p20"/>
          <p:cNvSpPr/>
          <p:nvPr/>
        </p:nvSpPr>
        <p:spPr>
          <a:xfrm>
            <a:off x="7187184" y="841248"/>
            <a:ext cx="1518000" cy="201300"/>
          </a:xfrm>
          <a:prstGeom prst="rect">
            <a:avLst/>
          </a:prstGeom>
          <a:solidFill>
            <a:srgbClr val="EC4899">
              <a:alpha val="14902"/>
            </a:srgbClr>
          </a:solidFill>
          <a:ln w="9525"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6" name="Google Shape;946;p20"/>
          <p:cNvSpPr/>
          <p:nvPr/>
        </p:nvSpPr>
        <p:spPr>
          <a:xfrm>
            <a:off x="7187184" y="841248"/>
            <a:ext cx="15180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C4899"/>
              </a:buClr>
              <a:buSzPts val="800"/>
              <a:buFont typeface="Calibri"/>
              <a:buNone/>
            </a:pPr>
            <a:r>
              <a:rPr lang="en" sz="800" b="1" i="0" u="none" strike="noStrike" cap="none">
                <a:solidFill>
                  <a:srgbClr val="EC4899"/>
                </a:solidFill>
                <a:latin typeface="Calibri"/>
                <a:ea typeface="Calibri"/>
                <a:cs typeface="Calibri"/>
                <a:sym typeface="Calibri"/>
              </a:rPr>
              <a:t>2017–now</a:t>
            </a:r>
            <a:endParaRPr sz="800" b="0" i="0" u="none" strike="noStrike" cap="none">
              <a:solidFill>
                <a:schemeClr val="dk1"/>
              </a:solidFill>
              <a:latin typeface="Calibri"/>
              <a:ea typeface="Calibri"/>
              <a:cs typeface="Calibri"/>
              <a:sym typeface="Calibri"/>
            </a:endParaRPr>
          </a:p>
        </p:txBody>
      </p:sp>
      <p:sp>
        <p:nvSpPr>
          <p:cNvPr id="947" name="Google Shape;947;p20"/>
          <p:cNvSpPr/>
          <p:nvPr/>
        </p:nvSpPr>
        <p:spPr>
          <a:xfrm>
            <a:off x="7168896" y="1069848"/>
            <a:ext cx="1554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300"/>
              <a:buFont typeface="Calibri"/>
              <a:buNone/>
            </a:pPr>
            <a:r>
              <a:rPr lang="en" sz="1300" b="1" i="0" u="none" strike="noStrike" cap="none">
                <a:solidFill>
                  <a:srgbClr val="1E293B"/>
                </a:solidFill>
                <a:latin typeface="Calibri"/>
                <a:ea typeface="Calibri"/>
                <a:cs typeface="Calibri"/>
                <a:sym typeface="Calibri"/>
              </a:rPr>
              <a:t>Transformer</a:t>
            </a:r>
            <a:endParaRPr sz="1300" b="0" i="0" u="none" strike="noStrike" cap="none">
              <a:solidFill>
                <a:schemeClr val="dk1"/>
              </a:solidFill>
              <a:latin typeface="Calibri"/>
              <a:ea typeface="Calibri"/>
              <a:cs typeface="Calibri"/>
              <a:sym typeface="Calibri"/>
            </a:endParaRPr>
          </a:p>
        </p:txBody>
      </p:sp>
      <p:sp>
        <p:nvSpPr>
          <p:cNvPr id="948" name="Google Shape;948;p20"/>
          <p:cNvSpPr/>
          <p:nvPr/>
        </p:nvSpPr>
        <p:spPr>
          <a:xfrm>
            <a:off x="7187184" y="1389888"/>
            <a:ext cx="1518000" cy="1005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9" name="Google Shape;949;p20"/>
          <p:cNvSpPr/>
          <p:nvPr/>
        </p:nvSpPr>
        <p:spPr>
          <a:xfrm>
            <a:off x="7260336" y="1527048"/>
            <a:ext cx="1280100" cy="201300"/>
          </a:xfrm>
          <a:prstGeom prst="rect">
            <a:avLst/>
          </a:prstGeom>
          <a:solidFill>
            <a:srgbClr val="EC4899">
              <a:alpha val="20000"/>
            </a:srgbClr>
          </a:solidFill>
          <a:ln w="1015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0" name="Google Shape;950;p20"/>
          <p:cNvSpPr/>
          <p:nvPr/>
        </p:nvSpPr>
        <p:spPr>
          <a:xfrm>
            <a:off x="7278624" y="1563624"/>
            <a:ext cx="205800" cy="128100"/>
          </a:xfrm>
          <a:prstGeom prst="rect">
            <a:avLst/>
          </a:prstGeom>
          <a:solidFill>
            <a:srgbClr val="EC4899">
              <a:alpha val="70196"/>
            </a:srgbClr>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1" name="Google Shape;951;p20"/>
          <p:cNvSpPr/>
          <p:nvPr/>
        </p:nvSpPr>
        <p:spPr>
          <a:xfrm>
            <a:off x="7520940" y="1563624"/>
            <a:ext cx="493800" cy="128100"/>
          </a:xfrm>
          <a:prstGeom prst="rect">
            <a:avLst/>
          </a:prstGeom>
          <a:solidFill>
            <a:srgbClr val="EC4899">
              <a:alpha val="70196"/>
            </a:srgbClr>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2" name="Google Shape;952;p20"/>
          <p:cNvSpPr/>
          <p:nvPr/>
        </p:nvSpPr>
        <p:spPr>
          <a:xfrm>
            <a:off x="8051292" y="1563624"/>
            <a:ext cx="288000" cy="128100"/>
          </a:xfrm>
          <a:prstGeom prst="rect">
            <a:avLst/>
          </a:prstGeom>
          <a:solidFill>
            <a:srgbClr val="EC4899">
              <a:alpha val="70196"/>
            </a:srgbClr>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3" name="Google Shape;953;p20"/>
          <p:cNvSpPr/>
          <p:nvPr/>
        </p:nvSpPr>
        <p:spPr>
          <a:xfrm>
            <a:off x="8375904" y="1563624"/>
            <a:ext cx="164700" cy="128100"/>
          </a:xfrm>
          <a:prstGeom prst="rect">
            <a:avLst/>
          </a:prstGeom>
          <a:solidFill>
            <a:srgbClr val="EC4899">
              <a:alpha val="70196"/>
            </a:srgbClr>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4" name="Google Shape;954;p20"/>
          <p:cNvSpPr/>
          <p:nvPr/>
        </p:nvSpPr>
        <p:spPr>
          <a:xfrm>
            <a:off x="7260336" y="1527048"/>
            <a:ext cx="502800" cy="201300"/>
          </a:xfrm>
          <a:prstGeom prst="rect">
            <a:avLst/>
          </a:prstGeom>
          <a:no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Clr>
                <a:srgbClr val="1E293B"/>
              </a:buClr>
              <a:buSzPts val="600"/>
              <a:buFont typeface="Calibri"/>
              <a:buNone/>
            </a:pPr>
            <a:r>
              <a:rPr lang="en" sz="600" b="0" i="0" u="none" strike="noStrike" cap="none">
                <a:solidFill>
                  <a:srgbClr val="1E293B"/>
                </a:solidFill>
                <a:latin typeface="Calibri"/>
                <a:ea typeface="Calibri"/>
                <a:cs typeface="Calibri"/>
                <a:sym typeface="Calibri"/>
              </a:rPr>
              <a:t>Head 1</a:t>
            </a:r>
            <a:endParaRPr sz="600" b="0" i="0" u="none" strike="noStrike" cap="none">
              <a:solidFill>
                <a:schemeClr val="dk1"/>
              </a:solidFill>
              <a:latin typeface="Calibri"/>
              <a:ea typeface="Calibri"/>
              <a:cs typeface="Calibri"/>
              <a:sym typeface="Calibri"/>
            </a:endParaRPr>
          </a:p>
        </p:txBody>
      </p:sp>
      <p:sp>
        <p:nvSpPr>
          <p:cNvPr id="955" name="Google Shape;955;p20"/>
          <p:cNvSpPr/>
          <p:nvPr/>
        </p:nvSpPr>
        <p:spPr>
          <a:xfrm>
            <a:off x="7260336" y="1783080"/>
            <a:ext cx="1280100" cy="201300"/>
          </a:xfrm>
          <a:prstGeom prst="rect">
            <a:avLst/>
          </a:prstGeom>
          <a:solidFill>
            <a:srgbClr val="6366F1">
              <a:alpha val="20000"/>
            </a:srgbClr>
          </a:solidFill>
          <a:ln w="1015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6" name="Google Shape;956;p20"/>
          <p:cNvSpPr/>
          <p:nvPr/>
        </p:nvSpPr>
        <p:spPr>
          <a:xfrm>
            <a:off x="7278624" y="1819656"/>
            <a:ext cx="205800" cy="128100"/>
          </a:xfrm>
          <a:prstGeom prst="rect">
            <a:avLst/>
          </a:prstGeom>
          <a:solidFill>
            <a:srgbClr val="6366F1">
              <a:alpha val="70196"/>
            </a:srgbClr>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7" name="Google Shape;957;p20"/>
          <p:cNvSpPr/>
          <p:nvPr/>
        </p:nvSpPr>
        <p:spPr>
          <a:xfrm>
            <a:off x="7520940" y="1819656"/>
            <a:ext cx="493800" cy="128100"/>
          </a:xfrm>
          <a:prstGeom prst="rect">
            <a:avLst/>
          </a:prstGeom>
          <a:solidFill>
            <a:srgbClr val="6366F1">
              <a:alpha val="70196"/>
            </a:srgbClr>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8" name="Google Shape;958;p20"/>
          <p:cNvSpPr/>
          <p:nvPr/>
        </p:nvSpPr>
        <p:spPr>
          <a:xfrm>
            <a:off x="8051292" y="1819656"/>
            <a:ext cx="288000" cy="128100"/>
          </a:xfrm>
          <a:prstGeom prst="rect">
            <a:avLst/>
          </a:prstGeom>
          <a:solidFill>
            <a:srgbClr val="6366F1">
              <a:alpha val="70196"/>
            </a:srgbClr>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9" name="Google Shape;959;p20"/>
          <p:cNvSpPr/>
          <p:nvPr/>
        </p:nvSpPr>
        <p:spPr>
          <a:xfrm>
            <a:off x="8375904" y="1819656"/>
            <a:ext cx="164700" cy="128100"/>
          </a:xfrm>
          <a:prstGeom prst="rect">
            <a:avLst/>
          </a:prstGeom>
          <a:solidFill>
            <a:srgbClr val="6366F1">
              <a:alpha val="70196"/>
            </a:srgbClr>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0" name="Google Shape;960;p20"/>
          <p:cNvSpPr/>
          <p:nvPr/>
        </p:nvSpPr>
        <p:spPr>
          <a:xfrm>
            <a:off x="7260336" y="1783080"/>
            <a:ext cx="502800" cy="201300"/>
          </a:xfrm>
          <a:prstGeom prst="rect">
            <a:avLst/>
          </a:prstGeom>
          <a:no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Clr>
                <a:srgbClr val="1E293B"/>
              </a:buClr>
              <a:buSzPts val="600"/>
              <a:buFont typeface="Calibri"/>
              <a:buNone/>
            </a:pPr>
            <a:r>
              <a:rPr lang="en" sz="600" b="0" i="0" u="none" strike="noStrike" cap="none">
                <a:solidFill>
                  <a:srgbClr val="1E293B"/>
                </a:solidFill>
                <a:latin typeface="Calibri"/>
                <a:ea typeface="Calibri"/>
                <a:cs typeface="Calibri"/>
                <a:sym typeface="Calibri"/>
              </a:rPr>
              <a:t>Head 2</a:t>
            </a:r>
            <a:endParaRPr sz="600" b="0" i="0" u="none" strike="noStrike" cap="none">
              <a:solidFill>
                <a:schemeClr val="dk1"/>
              </a:solidFill>
              <a:latin typeface="Calibri"/>
              <a:ea typeface="Calibri"/>
              <a:cs typeface="Calibri"/>
              <a:sym typeface="Calibri"/>
            </a:endParaRPr>
          </a:p>
        </p:txBody>
      </p:sp>
      <p:sp>
        <p:nvSpPr>
          <p:cNvPr id="961" name="Google Shape;961;p20"/>
          <p:cNvSpPr/>
          <p:nvPr/>
        </p:nvSpPr>
        <p:spPr>
          <a:xfrm>
            <a:off x="7260336" y="2039112"/>
            <a:ext cx="1280100" cy="201300"/>
          </a:xfrm>
          <a:prstGeom prst="rect">
            <a:avLst/>
          </a:prstGeom>
          <a:solidFill>
            <a:srgbClr val="10B981">
              <a:alpha val="20000"/>
            </a:srgbClr>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2" name="Google Shape;962;p20"/>
          <p:cNvSpPr/>
          <p:nvPr/>
        </p:nvSpPr>
        <p:spPr>
          <a:xfrm>
            <a:off x="7278624" y="2075688"/>
            <a:ext cx="205800" cy="128100"/>
          </a:xfrm>
          <a:prstGeom prst="rect">
            <a:avLst/>
          </a:prstGeom>
          <a:solidFill>
            <a:srgbClr val="10B981">
              <a:alpha val="70196"/>
            </a:srgbClr>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3" name="Google Shape;963;p20"/>
          <p:cNvSpPr/>
          <p:nvPr/>
        </p:nvSpPr>
        <p:spPr>
          <a:xfrm>
            <a:off x="7520940" y="2075688"/>
            <a:ext cx="493800" cy="128100"/>
          </a:xfrm>
          <a:prstGeom prst="rect">
            <a:avLst/>
          </a:prstGeom>
          <a:solidFill>
            <a:srgbClr val="10B981">
              <a:alpha val="70196"/>
            </a:srgbClr>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4" name="Google Shape;964;p20"/>
          <p:cNvSpPr/>
          <p:nvPr/>
        </p:nvSpPr>
        <p:spPr>
          <a:xfrm>
            <a:off x="8051292" y="2075688"/>
            <a:ext cx="288000" cy="128100"/>
          </a:xfrm>
          <a:prstGeom prst="rect">
            <a:avLst/>
          </a:prstGeom>
          <a:solidFill>
            <a:srgbClr val="10B981">
              <a:alpha val="70196"/>
            </a:srgbClr>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5" name="Google Shape;965;p20"/>
          <p:cNvSpPr/>
          <p:nvPr/>
        </p:nvSpPr>
        <p:spPr>
          <a:xfrm>
            <a:off x="8375904" y="2075688"/>
            <a:ext cx="164700" cy="128100"/>
          </a:xfrm>
          <a:prstGeom prst="rect">
            <a:avLst/>
          </a:prstGeom>
          <a:solidFill>
            <a:srgbClr val="10B981">
              <a:alpha val="70196"/>
            </a:srgbClr>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6" name="Google Shape;966;p20"/>
          <p:cNvSpPr/>
          <p:nvPr/>
        </p:nvSpPr>
        <p:spPr>
          <a:xfrm>
            <a:off x="7260336" y="2039112"/>
            <a:ext cx="502800" cy="201300"/>
          </a:xfrm>
          <a:prstGeom prst="rect">
            <a:avLst/>
          </a:prstGeom>
          <a:no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Clr>
                <a:srgbClr val="1E293B"/>
              </a:buClr>
              <a:buSzPts val="600"/>
              <a:buFont typeface="Calibri"/>
              <a:buNone/>
            </a:pPr>
            <a:r>
              <a:rPr lang="en" sz="600" b="0" i="0" u="none" strike="noStrike" cap="none">
                <a:solidFill>
                  <a:srgbClr val="1E293B"/>
                </a:solidFill>
                <a:latin typeface="Calibri"/>
                <a:ea typeface="Calibri"/>
                <a:cs typeface="Calibri"/>
                <a:sym typeface="Calibri"/>
              </a:rPr>
              <a:t>Head 3</a:t>
            </a:r>
            <a:endParaRPr sz="600" b="0" i="0" u="none" strike="noStrike" cap="none">
              <a:solidFill>
                <a:schemeClr val="dk1"/>
              </a:solidFill>
              <a:latin typeface="Calibri"/>
              <a:ea typeface="Calibri"/>
              <a:cs typeface="Calibri"/>
              <a:sym typeface="Calibri"/>
            </a:endParaRPr>
          </a:p>
        </p:txBody>
      </p:sp>
      <p:sp>
        <p:nvSpPr>
          <p:cNvPr id="967" name="Google Shape;967;p20"/>
          <p:cNvSpPr/>
          <p:nvPr/>
        </p:nvSpPr>
        <p:spPr>
          <a:xfrm>
            <a:off x="7260336" y="2304288"/>
            <a:ext cx="1280100" cy="109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600"/>
              <a:buFont typeface="Calibri"/>
              <a:buNone/>
            </a:pPr>
            <a:r>
              <a:rPr lang="en" sz="600" b="0" i="0" u="none" strike="noStrike" cap="none">
                <a:solidFill>
                  <a:srgbClr val="64748B"/>
                </a:solidFill>
                <a:latin typeface="Calibri"/>
                <a:ea typeface="Calibri"/>
                <a:cs typeface="Calibri"/>
                <a:sym typeface="Calibri"/>
              </a:rPr>
              <a:t>Multi-Head Attention</a:t>
            </a:r>
            <a:endParaRPr sz="600" b="0" i="0" u="none" strike="noStrike" cap="none">
              <a:solidFill>
                <a:schemeClr val="dk1"/>
              </a:solidFill>
              <a:latin typeface="Calibri"/>
              <a:ea typeface="Calibri"/>
              <a:cs typeface="Calibri"/>
              <a:sym typeface="Calibri"/>
            </a:endParaRPr>
          </a:p>
        </p:txBody>
      </p:sp>
      <p:sp>
        <p:nvSpPr>
          <p:cNvPr id="968" name="Google Shape;968;p20"/>
          <p:cNvSpPr/>
          <p:nvPr/>
        </p:nvSpPr>
        <p:spPr>
          <a:xfrm>
            <a:off x="7187184" y="2441448"/>
            <a:ext cx="1518000" cy="1417200"/>
          </a:xfrm>
          <a:prstGeom prst="rect">
            <a:avLst/>
          </a:prstGeom>
          <a:noFill/>
          <a:ln>
            <a:noFill/>
          </a:ln>
        </p:spPr>
        <p:txBody>
          <a:bodyPr spcFirstLastPara="1" wrap="square" lIns="38100" tIns="38100" rIns="38100" bIns="38100" anchor="t" anchorCtr="0">
            <a:noAutofit/>
          </a:bodyPr>
          <a:lstStyle/>
          <a:p>
            <a:pPr marL="0" marR="0" lvl="0" indent="0" algn="l" rtl="0">
              <a:lnSpc>
                <a:spcPct val="125000"/>
              </a:lnSpc>
              <a:spcBef>
                <a:spcPts val="0"/>
              </a:spcBef>
              <a:spcAft>
                <a:spcPts val="0"/>
              </a:spcAft>
              <a:buClr>
                <a:srgbClr val="EC4899"/>
              </a:buClr>
              <a:buSzPts val="900"/>
              <a:buFont typeface="Calibri"/>
              <a:buNone/>
            </a:pPr>
            <a:r>
              <a:rPr lang="en" sz="900" b="1" i="0" u="none" strike="noStrike" cap="none">
                <a:solidFill>
                  <a:srgbClr val="EC4899"/>
                </a:solidFill>
                <a:latin typeface="Calibri"/>
                <a:ea typeface="Calibri"/>
                <a:cs typeface="Calibri"/>
                <a:sym typeface="Calibri"/>
              </a:rPr>
              <a:t>Self-attention</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Parallelizable</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Positional enc.</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LLMs / GPT / BERT</a:t>
            </a:r>
            <a:endParaRPr sz="900" b="0" i="0" u="none" strike="noStrike" cap="none">
              <a:solidFill>
                <a:schemeClr val="dk1"/>
              </a:solidFill>
              <a:latin typeface="Calibri"/>
              <a:ea typeface="Calibri"/>
              <a:cs typeface="Calibri"/>
              <a:sym typeface="Calibri"/>
            </a:endParaRPr>
          </a:p>
        </p:txBody>
      </p:sp>
      <p:sp>
        <p:nvSpPr>
          <p:cNvPr id="969" name="Google Shape;969;p20"/>
          <p:cNvSpPr/>
          <p:nvPr/>
        </p:nvSpPr>
        <p:spPr>
          <a:xfrm>
            <a:off x="7863840" y="4142232"/>
            <a:ext cx="164700" cy="164700"/>
          </a:xfrm>
          <a:prstGeom prst="ellipse">
            <a:avLst/>
          </a:prstGeom>
          <a:solidFill>
            <a:srgbClr val="EC4899"/>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0" name="Google Shape;970;p20"/>
          <p:cNvSpPr/>
          <p:nvPr/>
        </p:nvSpPr>
        <p:spPr>
          <a:xfrm>
            <a:off x="228600" y="4828032"/>
            <a:ext cx="36576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4A3B8"/>
              </a:buClr>
              <a:buSzPts val="800"/>
              <a:buFont typeface="Calibri"/>
              <a:buNone/>
            </a:pPr>
            <a:r>
              <a:rPr lang="en" sz="800" b="0" i="0" u="none" strike="noStrike" cap="none">
                <a:solidFill>
                  <a:srgbClr val="94A3B8"/>
                </a:solidFill>
                <a:latin typeface="Calibri"/>
                <a:ea typeface="Calibri"/>
                <a:cs typeface="Calibri"/>
                <a:sym typeface="Calibri"/>
              </a:rPr>
              <a:t>Deep Learning · IIT Kharagpur</a:t>
            </a:r>
            <a:endParaRPr sz="800" b="0" i="0" u="none" strike="noStrike" cap="none">
              <a:solidFill>
                <a:schemeClr val="dk1"/>
              </a:solidFill>
              <a:latin typeface="Calibri"/>
              <a:ea typeface="Calibri"/>
              <a:cs typeface="Calibri"/>
              <a:sym typeface="Calibri"/>
            </a:endParaRPr>
          </a:p>
        </p:txBody>
      </p:sp>
      <p:sp>
        <p:nvSpPr>
          <p:cNvPr id="971" name="Google Shape;971;p20"/>
          <p:cNvSpPr/>
          <p:nvPr/>
        </p:nvSpPr>
        <p:spPr>
          <a:xfrm>
            <a:off x="228600" y="4828032"/>
            <a:ext cx="8686800" cy="2013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94A3B8"/>
              </a:buClr>
              <a:buSzPts val="800"/>
              <a:buFont typeface="Calibri"/>
              <a:buNone/>
            </a:pPr>
            <a:r>
              <a:rPr lang="en" sz="800" b="0" i="1" u="none" strike="noStrike" cap="none">
                <a:solidFill>
                  <a:srgbClr val="94A3B8"/>
                </a:solidFill>
                <a:latin typeface="Calibri"/>
                <a:ea typeface="Calibri"/>
                <a:cs typeface="Calibri"/>
                <a:sym typeface="Calibri"/>
              </a:rPr>
              <a:t>Complexity &amp; Specialization →</a:t>
            </a:r>
            <a:endParaRPr sz="800" b="0" i="0" u="none" strike="noStrike" cap="none">
              <a:solidFill>
                <a:schemeClr val="dk1"/>
              </a:solidFill>
              <a:latin typeface="Calibri"/>
              <a:ea typeface="Calibri"/>
              <a:cs typeface="Calibri"/>
              <a:sym typeface="Calibri"/>
            </a:endParaRPr>
          </a:p>
        </p:txBody>
      </p:sp>
      <p:sp>
        <p:nvSpPr>
          <p:cNvPr id="972" name="Google Shape;972;p20"/>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pic>
        <p:nvPicPr>
          <p:cNvPr id="977" name="Google Shape;977;p21"/>
          <p:cNvPicPr preferRelativeResize="0"/>
          <p:nvPr/>
        </p:nvPicPr>
        <p:blipFill rotWithShape="1">
          <a:blip r:embed="rId3">
            <a:alphaModFix/>
          </a:blip>
          <a:srcRect/>
          <a:stretch/>
        </p:blipFill>
        <p:spPr>
          <a:xfrm>
            <a:off x="152400" y="152400"/>
            <a:ext cx="8839199" cy="4554643"/>
          </a:xfrm>
          <a:prstGeom prst="rect">
            <a:avLst/>
          </a:prstGeom>
          <a:noFill/>
          <a:ln>
            <a:noFill/>
          </a:ln>
        </p:spPr>
      </p:pic>
      <p:sp>
        <p:nvSpPr>
          <p:cNvPr id="978" name="Google Shape;978;p21"/>
          <p:cNvSpPr txBox="1"/>
          <p:nvPr/>
        </p:nvSpPr>
        <p:spPr>
          <a:xfrm>
            <a:off x="152400" y="4720000"/>
            <a:ext cx="8839199" cy="36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 sz="1100" b="0" i="1" u="none" strike="noStrike" cap="none">
                <a:solidFill>
                  <a:srgbClr val="6B7280"/>
                </a:solidFill>
                <a:latin typeface="Calibri"/>
                <a:ea typeface="Calibri"/>
                <a:cs typeface="Calibri"/>
                <a:sym typeface="Calibri"/>
              </a:rPr>
              <a:t>This lecture continues with CNN below. RNN/LSTM and Transformer architectures are covered in an upcoming session.</a:t>
            </a:r>
            <a:endParaRPr/>
          </a:p>
        </p:txBody>
      </p:sp>
      <p:sp>
        <p:nvSpPr>
          <p:cNvPr id="979" name="Google Shape;979;p21"/>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83"/>
        <p:cNvGrpSpPr/>
        <p:nvPr/>
      </p:nvGrpSpPr>
      <p:grpSpPr>
        <a:xfrm>
          <a:off x="0" y="0"/>
          <a:ext cx="0" cy="0"/>
          <a:chOff x="0" y="0"/>
          <a:chExt cx="0" cy="0"/>
        </a:xfrm>
      </p:grpSpPr>
      <p:pic>
        <p:nvPicPr>
          <p:cNvPr id="984" name="Google Shape;984;p22"/>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985" name="Google Shape;985;p22"/>
          <p:cNvSpPr txBox="1"/>
          <p:nvPr/>
        </p:nvSpPr>
        <p:spPr>
          <a:xfrm>
            <a:off x="1512201" y="98876"/>
            <a:ext cx="6618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Convolutional Neural Networks (CNNs)</a:t>
            </a:r>
            <a:endParaRPr sz="28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00"/>
              <a:buFont typeface="Arial"/>
              <a:buNone/>
            </a:pPr>
            <a:endParaRPr sz="2600" b="1" i="0" u="none" strike="noStrike" cap="none">
              <a:solidFill>
                <a:srgbClr val="0D1B2A"/>
              </a:solidFill>
              <a:latin typeface="Calibri"/>
              <a:ea typeface="Calibri"/>
              <a:cs typeface="Calibri"/>
              <a:sym typeface="Calibri"/>
            </a:endParaRPr>
          </a:p>
        </p:txBody>
      </p:sp>
      <p:sp>
        <p:nvSpPr>
          <p:cNvPr id="986" name="Google Shape;986;p22"/>
          <p:cNvSpPr/>
          <p:nvPr/>
        </p:nvSpPr>
        <p:spPr>
          <a:xfrm>
            <a:off x="320090" y="922370"/>
            <a:ext cx="3931800" cy="3520500"/>
          </a:xfrm>
          <a:prstGeom prst="rect">
            <a:avLst/>
          </a:prstGeom>
          <a:solidFill>
            <a:schemeClr val="lt1"/>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7" name="Google Shape;987;p22"/>
          <p:cNvSpPr/>
          <p:nvPr/>
        </p:nvSpPr>
        <p:spPr>
          <a:xfrm>
            <a:off x="320090" y="922370"/>
            <a:ext cx="91500" cy="35205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8" name="Google Shape;988;p22"/>
          <p:cNvSpPr/>
          <p:nvPr/>
        </p:nvSpPr>
        <p:spPr>
          <a:xfrm>
            <a:off x="548690" y="1059530"/>
            <a:ext cx="34746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FF6FF"/>
              </a:buClr>
              <a:buSzPts val="1600"/>
              <a:buFont typeface="Calibri"/>
              <a:buNone/>
            </a:pPr>
            <a:r>
              <a:rPr lang="en" sz="1600" b="1" i="0" u="none" strike="noStrike" cap="none">
                <a:solidFill>
                  <a:schemeClr val="dk1"/>
                </a:solidFill>
                <a:latin typeface="Calibri"/>
                <a:ea typeface="Calibri"/>
                <a:cs typeface="Calibri"/>
                <a:sym typeface="Calibri"/>
              </a:rPr>
              <a:t>Definition</a:t>
            </a:r>
            <a:endParaRPr sz="1600" b="0" i="0" u="none" strike="noStrike" cap="none">
              <a:solidFill>
                <a:schemeClr val="dk1"/>
              </a:solidFill>
              <a:latin typeface="Calibri"/>
              <a:ea typeface="Calibri"/>
              <a:cs typeface="Calibri"/>
              <a:sym typeface="Calibri"/>
            </a:endParaRPr>
          </a:p>
        </p:txBody>
      </p:sp>
      <p:sp>
        <p:nvSpPr>
          <p:cNvPr id="989" name="Google Shape;989;p22"/>
          <p:cNvSpPr/>
          <p:nvPr/>
        </p:nvSpPr>
        <p:spPr>
          <a:xfrm>
            <a:off x="548690" y="1516730"/>
            <a:ext cx="3520500" cy="2743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C3E50"/>
              </a:buClr>
              <a:buSzPts val="1250"/>
              <a:buFont typeface="Calibri"/>
              <a:buNone/>
            </a:pPr>
            <a:r>
              <a:rPr lang="en" sz="1250" b="0" i="0" u="none" strike="noStrike" cap="none">
                <a:solidFill>
                  <a:schemeClr val="dk1"/>
                </a:solidFill>
                <a:latin typeface="Calibri"/>
                <a:ea typeface="Calibri"/>
                <a:cs typeface="Calibri"/>
                <a:sym typeface="Calibri"/>
              </a:rPr>
              <a:t>A Convolutional Neural Network (CNN) is a specialized deep learning architecture designed to process grid-structured data — primarily images.</a:t>
            </a:r>
            <a:endParaRPr sz="12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50"/>
              <a:buFont typeface="Calibri"/>
              <a:buNone/>
            </a:pPr>
            <a:endParaRPr sz="12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2C3E50"/>
              </a:buClr>
              <a:buSzPts val="1250"/>
              <a:buFont typeface="Calibri"/>
              <a:buNone/>
            </a:pPr>
            <a:r>
              <a:rPr lang="en" sz="1250" b="0" i="0" u="none" strike="noStrike" cap="none">
                <a:solidFill>
                  <a:schemeClr val="dk1"/>
                </a:solidFill>
                <a:latin typeface="Calibri"/>
                <a:ea typeface="Calibri"/>
                <a:cs typeface="Calibri"/>
                <a:sym typeface="Calibri"/>
              </a:rPr>
              <a:t>Inspired by the visual cortex, CNNs use learnable filters that slide over input data to detect spatial patterns like edges, textures, and shapes.</a:t>
            </a:r>
            <a:endParaRPr sz="12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50"/>
              <a:buFont typeface="Calibri"/>
              <a:buNone/>
            </a:pPr>
            <a:endParaRPr sz="12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2C3E50"/>
              </a:buClr>
              <a:buSzPts val="1250"/>
              <a:buFont typeface="Calibri"/>
              <a:buNone/>
            </a:pPr>
            <a:r>
              <a:rPr lang="en" sz="1250" b="0" i="0" u="none" strike="noStrike" cap="none">
                <a:solidFill>
                  <a:schemeClr val="dk1"/>
                </a:solidFill>
                <a:latin typeface="Calibri"/>
                <a:ea typeface="Calibri"/>
                <a:cs typeface="Calibri"/>
                <a:sym typeface="Calibri"/>
              </a:rPr>
              <a:t>They achieve translation invariance, meaning a learned feature can be detected regardless of where it appears in the image.</a:t>
            </a:r>
            <a:endParaRPr sz="1250" b="0" i="0" u="none" strike="noStrike" cap="none">
              <a:solidFill>
                <a:schemeClr val="dk1"/>
              </a:solidFill>
              <a:latin typeface="Calibri"/>
              <a:ea typeface="Calibri"/>
              <a:cs typeface="Calibri"/>
              <a:sym typeface="Calibri"/>
            </a:endParaRPr>
          </a:p>
        </p:txBody>
      </p:sp>
      <p:sp>
        <p:nvSpPr>
          <p:cNvPr id="990" name="Google Shape;990;p22"/>
          <p:cNvSpPr/>
          <p:nvPr/>
        </p:nvSpPr>
        <p:spPr>
          <a:xfrm>
            <a:off x="4663490" y="922370"/>
            <a:ext cx="4114800" cy="1051500"/>
          </a:xfrm>
          <a:prstGeom prst="rect">
            <a:avLst/>
          </a:prstGeom>
          <a:solidFill>
            <a:schemeClr val="lt1"/>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1" name="Google Shape;991;p22"/>
          <p:cNvSpPr/>
          <p:nvPr/>
        </p:nvSpPr>
        <p:spPr>
          <a:xfrm>
            <a:off x="4663490" y="922370"/>
            <a:ext cx="502800" cy="10515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2" name="Google Shape;992;p22"/>
          <p:cNvSpPr/>
          <p:nvPr/>
        </p:nvSpPr>
        <p:spPr>
          <a:xfrm>
            <a:off x="4663490" y="922370"/>
            <a:ext cx="502800" cy="1051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800"/>
              <a:buFont typeface="Calibri"/>
              <a:buNone/>
            </a:pPr>
            <a:r>
              <a:rPr lang="en" sz="1800" b="0" i="0" u="none" strike="noStrike" cap="none">
                <a:solidFill>
                  <a:srgbClr val="1A2E42"/>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993" name="Google Shape;993;p22"/>
          <p:cNvSpPr/>
          <p:nvPr/>
        </p:nvSpPr>
        <p:spPr>
          <a:xfrm>
            <a:off x="5257850" y="1032098"/>
            <a:ext cx="33834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FF6FF"/>
              </a:buClr>
              <a:buSzPts val="1300"/>
              <a:buFont typeface="Calibri"/>
              <a:buNone/>
            </a:pPr>
            <a:r>
              <a:rPr lang="en" sz="1300" b="1" i="0" u="none" strike="noStrike" cap="none">
                <a:solidFill>
                  <a:schemeClr val="dk1"/>
                </a:solidFill>
                <a:latin typeface="Calibri"/>
                <a:ea typeface="Calibri"/>
                <a:cs typeface="Calibri"/>
                <a:sym typeface="Calibri"/>
              </a:rPr>
              <a:t>Local Connectivity</a:t>
            </a:r>
            <a:endParaRPr sz="1300" b="0" i="0" u="none" strike="noStrike" cap="none">
              <a:solidFill>
                <a:schemeClr val="dk1"/>
              </a:solidFill>
              <a:latin typeface="Calibri"/>
              <a:ea typeface="Calibri"/>
              <a:cs typeface="Calibri"/>
              <a:sym typeface="Calibri"/>
            </a:endParaRPr>
          </a:p>
        </p:txBody>
      </p:sp>
      <p:sp>
        <p:nvSpPr>
          <p:cNvPr id="994" name="Google Shape;994;p22"/>
          <p:cNvSpPr/>
          <p:nvPr/>
        </p:nvSpPr>
        <p:spPr>
          <a:xfrm>
            <a:off x="5257850" y="1379570"/>
            <a:ext cx="3383400" cy="502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100" b="0" i="0" u="none" strike="noStrike" cap="none">
                <a:solidFill>
                  <a:schemeClr val="dk1"/>
                </a:solidFill>
                <a:latin typeface="Calibri"/>
                <a:ea typeface="Calibri"/>
                <a:cs typeface="Calibri"/>
                <a:sym typeface="Calibri"/>
              </a:rPr>
              <a:t>Neurons connect to small regions, not the entire input</a:t>
            </a:r>
            <a:endParaRPr sz="1100" b="0" i="0" u="none" strike="noStrike" cap="none">
              <a:solidFill>
                <a:schemeClr val="dk1"/>
              </a:solidFill>
              <a:latin typeface="Calibri"/>
              <a:ea typeface="Calibri"/>
              <a:cs typeface="Calibri"/>
              <a:sym typeface="Calibri"/>
            </a:endParaRPr>
          </a:p>
        </p:txBody>
      </p:sp>
      <p:sp>
        <p:nvSpPr>
          <p:cNvPr id="995" name="Google Shape;995;p22"/>
          <p:cNvSpPr/>
          <p:nvPr/>
        </p:nvSpPr>
        <p:spPr>
          <a:xfrm>
            <a:off x="4663490" y="2129378"/>
            <a:ext cx="4114800" cy="1051500"/>
          </a:xfrm>
          <a:prstGeom prst="rect">
            <a:avLst/>
          </a:prstGeom>
          <a:solidFill>
            <a:schemeClr val="lt1"/>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6" name="Google Shape;996;p22"/>
          <p:cNvSpPr/>
          <p:nvPr/>
        </p:nvSpPr>
        <p:spPr>
          <a:xfrm>
            <a:off x="4663490" y="2129378"/>
            <a:ext cx="502800" cy="1051500"/>
          </a:xfrm>
          <a:prstGeom prst="rect">
            <a:avLst/>
          </a:prstGeom>
          <a:solidFill>
            <a:srgbClr val="C0E4F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7" name="Google Shape;997;p22"/>
          <p:cNvSpPr/>
          <p:nvPr/>
        </p:nvSpPr>
        <p:spPr>
          <a:xfrm>
            <a:off x="4663490" y="2129378"/>
            <a:ext cx="502800" cy="1051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800"/>
              <a:buFont typeface="Calibri"/>
              <a:buNone/>
            </a:pPr>
            <a:r>
              <a:rPr lang="en" sz="1800" b="0" i="0" u="none" strike="noStrike" cap="none">
                <a:solidFill>
                  <a:srgbClr val="1A2E42"/>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998" name="Google Shape;998;p22"/>
          <p:cNvSpPr/>
          <p:nvPr/>
        </p:nvSpPr>
        <p:spPr>
          <a:xfrm>
            <a:off x="5257850" y="2239106"/>
            <a:ext cx="33834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FF6FF"/>
              </a:buClr>
              <a:buSzPts val="1300"/>
              <a:buFont typeface="Calibri"/>
              <a:buNone/>
            </a:pPr>
            <a:r>
              <a:rPr lang="en" sz="1300" b="1" i="0" u="none" strike="noStrike" cap="none">
                <a:solidFill>
                  <a:schemeClr val="dk1"/>
                </a:solidFill>
                <a:latin typeface="Calibri"/>
                <a:ea typeface="Calibri"/>
                <a:cs typeface="Calibri"/>
                <a:sym typeface="Calibri"/>
              </a:rPr>
              <a:t>Shared Weights</a:t>
            </a:r>
            <a:endParaRPr sz="1300" b="0" i="0" u="none" strike="noStrike" cap="none">
              <a:solidFill>
                <a:schemeClr val="dk1"/>
              </a:solidFill>
              <a:latin typeface="Calibri"/>
              <a:ea typeface="Calibri"/>
              <a:cs typeface="Calibri"/>
              <a:sym typeface="Calibri"/>
            </a:endParaRPr>
          </a:p>
        </p:txBody>
      </p:sp>
      <p:sp>
        <p:nvSpPr>
          <p:cNvPr id="999" name="Google Shape;999;p22"/>
          <p:cNvSpPr/>
          <p:nvPr/>
        </p:nvSpPr>
        <p:spPr>
          <a:xfrm>
            <a:off x="5257850" y="2586578"/>
            <a:ext cx="3383400" cy="502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100" b="0" i="0" u="none" strike="noStrike" cap="none">
                <a:solidFill>
                  <a:schemeClr val="dk1"/>
                </a:solidFill>
                <a:latin typeface="Calibri"/>
                <a:ea typeface="Calibri"/>
                <a:cs typeface="Calibri"/>
                <a:sym typeface="Calibri"/>
              </a:rPr>
              <a:t>Same filter applied across all spatial locations</a:t>
            </a:r>
            <a:endParaRPr sz="1100" b="0" i="0" u="none" strike="noStrike" cap="none">
              <a:solidFill>
                <a:schemeClr val="dk1"/>
              </a:solidFill>
              <a:latin typeface="Calibri"/>
              <a:ea typeface="Calibri"/>
              <a:cs typeface="Calibri"/>
              <a:sym typeface="Calibri"/>
            </a:endParaRPr>
          </a:p>
        </p:txBody>
      </p:sp>
      <p:sp>
        <p:nvSpPr>
          <p:cNvPr id="1000" name="Google Shape;1000;p22"/>
          <p:cNvSpPr/>
          <p:nvPr/>
        </p:nvSpPr>
        <p:spPr>
          <a:xfrm>
            <a:off x="4663490" y="3336386"/>
            <a:ext cx="4114800" cy="1051500"/>
          </a:xfrm>
          <a:prstGeom prst="rect">
            <a:avLst/>
          </a:prstGeom>
          <a:solidFill>
            <a:schemeClr val="lt1"/>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1" name="Google Shape;1001;p22"/>
          <p:cNvSpPr/>
          <p:nvPr/>
        </p:nvSpPr>
        <p:spPr>
          <a:xfrm>
            <a:off x="4663490" y="3336386"/>
            <a:ext cx="502800" cy="1051500"/>
          </a:xfrm>
          <a:prstGeom prst="rect">
            <a:avLst/>
          </a:prstGeom>
          <a:solidFill>
            <a:srgbClr val="EFF6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2" name="Google Shape;1002;p22"/>
          <p:cNvSpPr/>
          <p:nvPr/>
        </p:nvSpPr>
        <p:spPr>
          <a:xfrm>
            <a:off x="4663490" y="3336386"/>
            <a:ext cx="502800" cy="1051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800"/>
              <a:buFont typeface="Calibri"/>
              <a:buNone/>
            </a:pPr>
            <a:r>
              <a:rPr lang="en" sz="1800" b="0" i="0" u="none" strike="noStrike" cap="none">
                <a:solidFill>
                  <a:srgbClr val="1A2E42"/>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1003" name="Google Shape;1003;p22"/>
          <p:cNvSpPr/>
          <p:nvPr/>
        </p:nvSpPr>
        <p:spPr>
          <a:xfrm>
            <a:off x="5257850" y="3446114"/>
            <a:ext cx="33834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FF6FF"/>
              </a:buClr>
              <a:buSzPts val="1300"/>
              <a:buFont typeface="Calibri"/>
              <a:buNone/>
            </a:pPr>
            <a:r>
              <a:rPr lang="en" sz="1300" b="1" i="0" u="none" strike="noStrike" cap="none">
                <a:solidFill>
                  <a:schemeClr val="dk1"/>
                </a:solidFill>
                <a:latin typeface="Calibri"/>
                <a:ea typeface="Calibri"/>
                <a:cs typeface="Calibri"/>
                <a:sym typeface="Calibri"/>
              </a:rPr>
              <a:t>Spatial Hierarchy</a:t>
            </a:r>
            <a:endParaRPr sz="1300" b="0" i="0" u="none" strike="noStrike" cap="none">
              <a:solidFill>
                <a:schemeClr val="dk1"/>
              </a:solidFill>
              <a:latin typeface="Calibri"/>
              <a:ea typeface="Calibri"/>
              <a:cs typeface="Calibri"/>
              <a:sym typeface="Calibri"/>
            </a:endParaRPr>
          </a:p>
        </p:txBody>
      </p:sp>
      <p:sp>
        <p:nvSpPr>
          <p:cNvPr id="1004" name="Google Shape;1004;p22"/>
          <p:cNvSpPr/>
          <p:nvPr/>
        </p:nvSpPr>
        <p:spPr>
          <a:xfrm>
            <a:off x="5257850" y="3793586"/>
            <a:ext cx="3383400" cy="502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100" b="0" i="0" u="none" strike="noStrike" cap="none">
                <a:solidFill>
                  <a:schemeClr val="dk1"/>
                </a:solidFill>
                <a:latin typeface="Calibri"/>
                <a:ea typeface="Calibri"/>
                <a:cs typeface="Calibri"/>
                <a:sym typeface="Calibri"/>
              </a:rPr>
              <a:t>Low-level → high-level features through stacked layers</a:t>
            </a:r>
            <a:endParaRPr sz="1100" b="0" i="0" u="none" strike="noStrike" cap="none">
              <a:solidFill>
                <a:schemeClr val="dk1"/>
              </a:solidFill>
              <a:latin typeface="Calibri"/>
              <a:ea typeface="Calibri"/>
              <a:cs typeface="Calibri"/>
              <a:sym typeface="Calibri"/>
            </a:endParaRPr>
          </a:p>
        </p:txBody>
      </p:sp>
      <p:sp>
        <p:nvSpPr>
          <p:cNvPr id="1005" name="Google Shape;1005;p22"/>
          <p:cNvSpPr/>
          <p:nvPr/>
        </p:nvSpPr>
        <p:spPr>
          <a:xfrm>
            <a:off x="320090" y="4534250"/>
            <a:ext cx="85038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000" b="0" i="1" u="none" strike="noStrike" cap="none">
                <a:solidFill>
                  <a:srgbClr val="64748B"/>
                </a:solidFill>
                <a:latin typeface="Calibri"/>
                <a:ea typeface="Calibri"/>
                <a:cs typeface="Calibri"/>
                <a:sym typeface="Calibri"/>
              </a:rPr>
              <a:t>Originally proposed by LeCun et al. (1989) for digit recognition.</a:t>
            </a:r>
            <a:endParaRPr sz="1000" b="0" i="0" u="none" strike="noStrike" cap="none">
              <a:solidFill>
                <a:schemeClr val="dk1"/>
              </a:solidFill>
              <a:latin typeface="Calibri"/>
              <a:ea typeface="Calibri"/>
              <a:cs typeface="Calibri"/>
              <a:sym typeface="Calibri"/>
            </a:endParaRPr>
          </a:p>
        </p:txBody>
      </p:sp>
      <p:sp>
        <p:nvSpPr>
          <p:cNvPr id="1006" name="Google Shape;1006;p22"/>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0"/>
        <p:cNvGrpSpPr/>
        <p:nvPr/>
      </p:nvGrpSpPr>
      <p:grpSpPr>
        <a:xfrm>
          <a:off x="0" y="0"/>
          <a:ext cx="0" cy="0"/>
          <a:chOff x="0" y="0"/>
          <a:chExt cx="0" cy="0"/>
        </a:xfrm>
      </p:grpSpPr>
      <p:pic>
        <p:nvPicPr>
          <p:cNvPr id="1011" name="Google Shape;1011;p23"/>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1012" name="Google Shape;1012;p23"/>
          <p:cNvSpPr txBox="1"/>
          <p:nvPr/>
        </p:nvSpPr>
        <p:spPr>
          <a:xfrm>
            <a:off x="1512201" y="98876"/>
            <a:ext cx="6618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Convolutional Neural Networks (CNNs)</a:t>
            </a:r>
            <a:endParaRPr sz="28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00"/>
              <a:buFont typeface="Arial"/>
              <a:buNone/>
            </a:pPr>
            <a:endParaRPr sz="2600" b="1" i="0" u="none" strike="noStrike" cap="none">
              <a:solidFill>
                <a:srgbClr val="0D1B2A"/>
              </a:solidFill>
              <a:latin typeface="Calibri"/>
              <a:ea typeface="Calibri"/>
              <a:cs typeface="Calibri"/>
              <a:sym typeface="Calibri"/>
            </a:endParaRPr>
          </a:p>
        </p:txBody>
      </p:sp>
      <p:pic>
        <p:nvPicPr>
          <p:cNvPr id="1013" name="Google Shape;1013;p23"/>
          <p:cNvPicPr preferRelativeResize="0"/>
          <p:nvPr/>
        </p:nvPicPr>
        <p:blipFill rotWithShape="1">
          <a:blip r:embed="rId5">
            <a:alphaModFix/>
          </a:blip>
          <a:srcRect/>
          <a:stretch/>
        </p:blipFill>
        <p:spPr>
          <a:xfrm>
            <a:off x="298651" y="737775"/>
            <a:ext cx="6959250" cy="2799800"/>
          </a:xfrm>
          <a:prstGeom prst="rect">
            <a:avLst/>
          </a:prstGeom>
          <a:noFill/>
          <a:ln>
            <a:noFill/>
          </a:ln>
        </p:spPr>
      </p:pic>
      <p:sp>
        <p:nvSpPr>
          <p:cNvPr id="1014" name="Google Shape;1014;p23"/>
          <p:cNvSpPr/>
          <p:nvPr/>
        </p:nvSpPr>
        <p:spPr>
          <a:xfrm>
            <a:off x="180567" y="3537564"/>
            <a:ext cx="7588500" cy="1602000"/>
          </a:xfrm>
          <a:prstGeom prst="rect">
            <a:avLst/>
          </a:prstGeom>
          <a:noFill/>
          <a:ln>
            <a:noFill/>
          </a:ln>
        </p:spPr>
        <p:txBody>
          <a:bodyPr spcFirstLastPara="1" wrap="square" lIns="0" tIns="0" rIns="0" bIns="0" anchor="t" anchorCtr="0">
            <a:noAutofit/>
          </a:bodyPr>
          <a:lstStyle/>
          <a:p>
            <a:pPr marL="316192" marR="0" lvl="0" indent="-316191" algn="l" rtl="0">
              <a:lnSpc>
                <a:spcPct val="100000"/>
              </a:lnSpc>
              <a:spcBef>
                <a:spcPts val="0"/>
              </a:spcBef>
              <a:spcAft>
                <a:spcPts val="0"/>
              </a:spcAft>
              <a:buClr>
                <a:srgbClr val="1B2E45"/>
              </a:buClr>
              <a:buSzPts val="1107"/>
              <a:buFont typeface="Calibri"/>
              <a:buChar char="•"/>
            </a:pPr>
            <a:r>
              <a:rPr lang="en" sz="1107" b="0" i="0" u="none" strike="noStrike" cap="none">
                <a:solidFill>
                  <a:srgbClr val="1B2E45"/>
                </a:solidFill>
                <a:latin typeface="Calibri"/>
                <a:ea typeface="Calibri"/>
                <a:cs typeface="Calibri"/>
                <a:sym typeface="Calibri"/>
              </a:rPr>
              <a:t>Convolution: Slide a small filter (kernel) over image to detect local features (edges, textures, patterns)</a:t>
            </a:r>
            <a:endParaRPr sz="1107" b="0" i="0" u="none" strike="noStrike" cap="none">
              <a:solidFill>
                <a:srgbClr val="000000"/>
              </a:solidFill>
              <a:latin typeface="Calibri"/>
              <a:ea typeface="Calibri"/>
              <a:cs typeface="Calibri"/>
              <a:sym typeface="Calibri"/>
            </a:endParaRPr>
          </a:p>
          <a:p>
            <a:pPr marL="316192" marR="0" lvl="0" indent="-316191" algn="l" rtl="0">
              <a:lnSpc>
                <a:spcPct val="100000"/>
              </a:lnSpc>
              <a:spcBef>
                <a:spcPts val="461"/>
              </a:spcBef>
              <a:spcAft>
                <a:spcPts val="0"/>
              </a:spcAft>
              <a:buClr>
                <a:srgbClr val="1B2E45"/>
              </a:buClr>
              <a:buSzPts val="1107"/>
              <a:buFont typeface="Calibri"/>
              <a:buChar char="•"/>
            </a:pPr>
            <a:r>
              <a:rPr lang="en" sz="1107" b="0" i="0" u="none" strike="noStrike" cap="none">
                <a:solidFill>
                  <a:srgbClr val="1B2E45"/>
                </a:solidFill>
                <a:latin typeface="Calibri"/>
                <a:ea typeface="Calibri"/>
                <a:cs typeface="Calibri"/>
                <a:sym typeface="Calibri"/>
              </a:rPr>
              <a:t>Parameter sharing: Same filter weights reused across all spatial locations → fewer parameters</a:t>
            </a:r>
            <a:endParaRPr sz="1107" b="0" i="0" u="none" strike="noStrike" cap="none">
              <a:solidFill>
                <a:srgbClr val="000000"/>
              </a:solidFill>
              <a:latin typeface="Calibri"/>
              <a:ea typeface="Calibri"/>
              <a:cs typeface="Calibri"/>
              <a:sym typeface="Calibri"/>
            </a:endParaRPr>
          </a:p>
          <a:p>
            <a:pPr marL="316192" marR="0" lvl="0" indent="-316191" algn="l" rtl="0">
              <a:lnSpc>
                <a:spcPct val="100000"/>
              </a:lnSpc>
              <a:spcBef>
                <a:spcPts val="461"/>
              </a:spcBef>
              <a:spcAft>
                <a:spcPts val="0"/>
              </a:spcAft>
              <a:buClr>
                <a:srgbClr val="1B2E45"/>
              </a:buClr>
              <a:buSzPts val="1107"/>
              <a:buFont typeface="Calibri"/>
              <a:buChar char="•"/>
            </a:pPr>
            <a:r>
              <a:rPr lang="en" sz="1107" b="0" i="0" u="none" strike="noStrike" cap="none">
                <a:solidFill>
                  <a:srgbClr val="1B2E45"/>
                </a:solidFill>
                <a:latin typeface="Calibri"/>
                <a:ea typeface="Calibri"/>
                <a:cs typeface="Calibri"/>
                <a:sym typeface="Calibri"/>
              </a:rPr>
              <a:t>Pooling: Downsample feature maps (MaxPool, AvgPool) → spatial invariance</a:t>
            </a:r>
            <a:endParaRPr sz="1107" b="0" i="0" u="none" strike="noStrike" cap="none">
              <a:solidFill>
                <a:srgbClr val="000000"/>
              </a:solidFill>
              <a:latin typeface="Calibri"/>
              <a:ea typeface="Calibri"/>
              <a:cs typeface="Calibri"/>
              <a:sym typeface="Calibri"/>
            </a:endParaRPr>
          </a:p>
          <a:p>
            <a:pPr marL="316192" marR="0" lvl="0" indent="-316191" algn="l" rtl="0">
              <a:lnSpc>
                <a:spcPct val="100000"/>
              </a:lnSpc>
              <a:spcBef>
                <a:spcPts val="461"/>
              </a:spcBef>
              <a:spcAft>
                <a:spcPts val="0"/>
              </a:spcAft>
              <a:buClr>
                <a:srgbClr val="1B2E45"/>
              </a:buClr>
              <a:buSzPts val="1107"/>
              <a:buFont typeface="Calibri"/>
              <a:buChar char="•"/>
            </a:pPr>
            <a:r>
              <a:rPr lang="en" sz="1107" b="0" i="0" u="none" strike="noStrike" cap="none">
                <a:solidFill>
                  <a:srgbClr val="1B2E45"/>
                </a:solidFill>
                <a:latin typeface="Calibri"/>
                <a:ea typeface="Calibri"/>
                <a:cs typeface="Calibri"/>
                <a:sym typeface="Calibri"/>
              </a:rPr>
              <a:t>Stacking layers: Low-level (edges) → Mid-level (shapes) → High-level (object parts) → Class</a:t>
            </a:r>
            <a:endParaRPr sz="1107" b="0" i="0" u="none" strike="noStrike" cap="none">
              <a:solidFill>
                <a:srgbClr val="000000"/>
              </a:solidFill>
              <a:latin typeface="Calibri"/>
              <a:ea typeface="Calibri"/>
              <a:cs typeface="Calibri"/>
              <a:sym typeface="Calibri"/>
            </a:endParaRPr>
          </a:p>
          <a:p>
            <a:pPr marL="316192" marR="0" lvl="0" indent="-316191" algn="l" rtl="0">
              <a:lnSpc>
                <a:spcPct val="100000"/>
              </a:lnSpc>
              <a:spcBef>
                <a:spcPts val="461"/>
              </a:spcBef>
              <a:spcAft>
                <a:spcPts val="0"/>
              </a:spcAft>
              <a:buClr>
                <a:srgbClr val="1B2E45"/>
              </a:buClr>
              <a:buSzPts val="1107"/>
              <a:buFont typeface="Calibri"/>
              <a:buChar char="•"/>
            </a:pPr>
            <a:r>
              <a:rPr lang="en" sz="1107" b="0" i="0" u="none" strike="noStrike" cap="none">
                <a:solidFill>
                  <a:srgbClr val="1B2E45"/>
                </a:solidFill>
                <a:latin typeface="Calibri"/>
                <a:ea typeface="Calibri"/>
                <a:cs typeface="Calibri"/>
                <a:sym typeface="Calibri"/>
              </a:rPr>
              <a:t>AlexNet (2012) — revolutionized image recognition; ResNet, VGG, EfficientNet followed</a:t>
            </a:r>
            <a:endParaRPr sz="1107" b="0" i="0" u="none" strike="noStrike" cap="none">
              <a:solidFill>
                <a:srgbClr val="000000"/>
              </a:solidFill>
              <a:latin typeface="Calibri"/>
              <a:ea typeface="Calibri"/>
              <a:cs typeface="Calibri"/>
              <a:sym typeface="Calibri"/>
            </a:endParaRPr>
          </a:p>
        </p:txBody>
      </p:sp>
      <p:sp>
        <p:nvSpPr>
          <p:cNvPr id="1015" name="Google Shape;1015;p23"/>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9"/>
        <p:cNvGrpSpPr/>
        <p:nvPr/>
      </p:nvGrpSpPr>
      <p:grpSpPr>
        <a:xfrm>
          <a:off x="0" y="0"/>
          <a:ext cx="0" cy="0"/>
          <a:chOff x="0" y="0"/>
          <a:chExt cx="0" cy="0"/>
        </a:xfrm>
      </p:grpSpPr>
      <p:pic>
        <p:nvPicPr>
          <p:cNvPr id="1020" name="Google Shape;1020;p24"/>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1021" name="Google Shape;1021;p24"/>
          <p:cNvSpPr txBox="1"/>
          <p:nvPr/>
        </p:nvSpPr>
        <p:spPr>
          <a:xfrm>
            <a:off x="1052950" y="98875"/>
            <a:ext cx="6618600" cy="7683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600"/>
              <a:buFont typeface="Arial"/>
              <a:buNone/>
            </a:pPr>
            <a:r>
              <a:rPr lang="en" sz="2600" b="1" i="0" u="none" strike="noStrike" cap="none">
                <a:solidFill>
                  <a:srgbClr val="0D1B2A"/>
                </a:solidFill>
                <a:latin typeface="Calibri"/>
                <a:ea typeface="Calibri"/>
                <a:cs typeface="Calibri"/>
                <a:sym typeface="Calibri"/>
              </a:rPr>
              <a:t>CNN Architecture</a:t>
            </a:r>
            <a:endParaRPr sz="2600" b="1" i="0" u="none" strike="noStrike" cap="none">
              <a:solidFill>
                <a:srgbClr val="0D1B2A"/>
              </a:solidFill>
              <a:latin typeface="Calibri"/>
              <a:ea typeface="Calibri"/>
              <a:cs typeface="Calibri"/>
              <a:sym typeface="Calibri"/>
            </a:endParaRPr>
          </a:p>
        </p:txBody>
      </p:sp>
      <p:sp>
        <p:nvSpPr>
          <p:cNvPr id="1022" name="Google Shape;1022;p24"/>
          <p:cNvSpPr/>
          <p:nvPr/>
        </p:nvSpPr>
        <p:spPr>
          <a:xfrm>
            <a:off x="228600" y="1087490"/>
            <a:ext cx="777300" cy="1097400"/>
          </a:xfrm>
          <a:prstGeom prst="rect">
            <a:avLst/>
          </a:prstGeom>
          <a:solidFill>
            <a:srgbClr val="B8D8F0"/>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3" name="Google Shape;1023;p24"/>
          <p:cNvSpPr/>
          <p:nvPr/>
        </p:nvSpPr>
        <p:spPr>
          <a:xfrm>
            <a:off x="228600" y="1087490"/>
            <a:ext cx="777300" cy="109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000"/>
              <a:buFont typeface="Calibri"/>
              <a:buNone/>
            </a:pPr>
            <a:r>
              <a:rPr lang="en" sz="1000" b="1" i="0" u="none" strike="noStrike" cap="none">
                <a:solidFill>
                  <a:srgbClr val="1A2E42"/>
                </a:solidFill>
                <a:latin typeface="Calibri"/>
                <a:ea typeface="Calibri"/>
                <a:cs typeface="Calibri"/>
                <a:sym typeface="Calibri"/>
              </a:rPr>
              <a:t>Input</a:t>
            </a:r>
            <a:endParaRPr sz="10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2E42"/>
              </a:buClr>
              <a:buSzPts val="1000"/>
              <a:buFont typeface="Calibri"/>
              <a:buNone/>
            </a:pPr>
            <a:r>
              <a:rPr lang="en" sz="1000" b="1" i="0" u="none" strike="noStrike" cap="none">
                <a:solidFill>
                  <a:srgbClr val="1A2E42"/>
                </a:solidFill>
                <a:latin typeface="Calibri"/>
                <a:ea typeface="Calibri"/>
                <a:cs typeface="Calibri"/>
                <a:sym typeface="Calibri"/>
              </a:rPr>
              <a:t>Image</a:t>
            </a:r>
            <a:endParaRPr sz="1000" b="0" i="0" u="none" strike="noStrike" cap="none">
              <a:solidFill>
                <a:schemeClr val="dk1"/>
              </a:solidFill>
              <a:latin typeface="Calibri"/>
              <a:ea typeface="Calibri"/>
              <a:cs typeface="Calibri"/>
              <a:sym typeface="Calibri"/>
            </a:endParaRPr>
          </a:p>
        </p:txBody>
      </p:sp>
      <p:sp>
        <p:nvSpPr>
          <p:cNvPr id="1024" name="Google Shape;1024;p24"/>
          <p:cNvSpPr/>
          <p:nvPr/>
        </p:nvSpPr>
        <p:spPr>
          <a:xfrm>
            <a:off x="1005840" y="1599554"/>
            <a:ext cx="164700" cy="73200"/>
          </a:xfrm>
          <a:prstGeom prst="rect">
            <a:avLst/>
          </a:prstGeom>
          <a:solidFill>
            <a:srgbClr val="1A608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5" name="Google Shape;1025;p24"/>
          <p:cNvSpPr/>
          <p:nvPr/>
        </p:nvSpPr>
        <p:spPr>
          <a:xfrm>
            <a:off x="1033272" y="1498970"/>
            <a:ext cx="1830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800"/>
              <a:buFont typeface="Calibri"/>
              <a:buNone/>
            </a:pPr>
            <a:r>
              <a:rPr lang="en" sz="800" b="0" i="0" u="none" strike="noStrike" cap="none">
                <a:solidFill>
                  <a:srgbClr val="1A6080"/>
                </a:solidFill>
                <a:latin typeface="Calibri"/>
                <a:ea typeface="Calibri"/>
                <a:cs typeface="Calibri"/>
                <a:sym typeface="Calibri"/>
              </a:rPr>
              <a:t>▶</a:t>
            </a:r>
            <a:endParaRPr sz="800" b="0" i="0" u="none" strike="noStrike" cap="none">
              <a:solidFill>
                <a:schemeClr val="dk1"/>
              </a:solidFill>
              <a:latin typeface="Calibri"/>
              <a:ea typeface="Calibri"/>
              <a:cs typeface="Calibri"/>
              <a:sym typeface="Calibri"/>
            </a:endParaRPr>
          </a:p>
        </p:txBody>
      </p:sp>
      <p:sp>
        <p:nvSpPr>
          <p:cNvPr id="1026" name="Google Shape;1026;p24"/>
          <p:cNvSpPr/>
          <p:nvPr/>
        </p:nvSpPr>
        <p:spPr>
          <a:xfrm>
            <a:off x="1170432" y="1087490"/>
            <a:ext cx="777300" cy="1097400"/>
          </a:xfrm>
          <a:prstGeom prst="rect">
            <a:avLst/>
          </a:prstGeom>
          <a:solidFill>
            <a:srgbClr val="C5E9F5"/>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7" name="Google Shape;1027;p24"/>
          <p:cNvSpPr/>
          <p:nvPr/>
        </p:nvSpPr>
        <p:spPr>
          <a:xfrm>
            <a:off x="1170432" y="1087490"/>
            <a:ext cx="777300" cy="109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000"/>
              <a:buFont typeface="Calibri"/>
              <a:buNone/>
            </a:pPr>
            <a:r>
              <a:rPr lang="en" sz="1000" b="1" i="0" u="none" strike="noStrike" cap="none">
                <a:solidFill>
                  <a:srgbClr val="1A2E42"/>
                </a:solidFill>
                <a:latin typeface="Calibri"/>
                <a:ea typeface="Calibri"/>
                <a:cs typeface="Calibri"/>
                <a:sym typeface="Calibri"/>
              </a:rPr>
              <a:t>Conv</a:t>
            </a:r>
            <a:endParaRPr sz="10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2E42"/>
              </a:buClr>
              <a:buSzPts val="1000"/>
              <a:buFont typeface="Calibri"/>
              <a:buNone/>
            </a:pPr>
            <a:r>
              <a:rPr lang="en" sz="1000" b="1" i="0" u="none" strike="noStrike" cap="none">
                <a:solidFill>
                  <a:srgbClr val="1A2E42"/>
                </a:solidFill>
                <a:latin typeface="Calibri"/>
                <a:ea typeface="Calibri"/>
                <a:cs typeface="Calibri"/>
                <a:sym typeface="Calibri"/>
              </a:rPr>
              <a:t>Layer</a:t>
            </a:r>
            <a:endParaRPr sz="1000" b="0" i="0" u="none" strike="noStrike" cap="none">
              <a:solidFill>
                <a:schemeClr val="dk1"/>
              </a:solidFill>
              <a:latin typeface="Calibri"/>
              <a:ea typeface="Calibri"/>
              <a:cs typeface="Calibri"/>
              <a:sym typeface="Calibri"/>
            </a:endParaRPr>
          </a:p>
        </p:txBody>
      </p:sp>
      <p:sp>
        <p:nvSpPr>
          <p:cNvPr id="1028" name="Google Shape;1028;p24"/>
          <p:cNvSpPr/>
          <p:nvPr/>
        </p:nvSpPr>
        <p:spPr>
          <a:xfrm>
            <a:off x="1947672" y="1599554"/>
            <a:ext cx="164700" cy="73200"/>
          </a:xfrm>
          <a:prstGeom prst="rect">
            <a:avLst/>
          </a:prstGeom>
          <a:solidFill>
            <a:srgbClr val="1A608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9" name="Google Shape;1029;p24"/>
          <p:cNvSpPr/>
          <p:nvPr/>
        </p:nvSpPr>
        <p:spPr>
          <a:xfrm>
            <a:off x="1975104" y="1498970"/>
            <a:ext cx="1830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800"/>
              <a:buFont typeface="Calibri"/>
              <a:buNone/>
            </a:pPr>
            <a:r>
              <a:rPr lang="en" sz="800" b="0" i="0" u="none" strike="noStrike" cap="none">
                <a:solidFill>
                  <a:srgbClr val="1A6080"/>
                </a:solidFill>
                <a:latin typeface="Calibri"/>
                <a:ea typeface="Calibri"/>
                <a:cs typeface="Calibri"/>
                <a:sym typeface="Calibri"/>
              </a:rPr>
              <a:t>▶</a:t>
            </a:r>
            <a:endParaRPr sz="800" b="0" i="0" u="none" strike="noStrike" cap="none">
              <a:solidFill>
                <a:schemeClr val="dk1"/>
              </a:solidFill>
              <a:latin typeface="Calibri"/>
              <a:ea typeface="Calibri"/>
              <a:cs typeface="Calibri"/>
              <a:sym typeface="Calibri"/>
            </a:endParaRPr>
          </a:p>
        </p:txBody>
      </p:sp>
      <p:sp>
        <p:nvSpPr>
          <p:cNvPr id="1030" name="Google Shape;1030;p24"/>
          <p:cNvSpPr/>
          <p:nvPr/>
        </p:nvSpPr>
        <p:spPr>
          <a:xfrm>
            <a:off x="2112264" y="1087490"/>
            <a:ext cx="777300" cy="1097400"/>
          </a:xfrm>
          <a:prstGeom prst="rect">
            <a:avLst/>
          </a:prstGeom>
          <a:solidFill>
            <a:srgbClr val="B8E8F8"/>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1" name="Google Shape;1031;p24"/>
          <p:cNvSpPr/>
          <p:nvPr/>
        </p:nvSpPr>
        <p:spPr>
          <a:xfrm>
            <a:off x="2112264" y="1087490"/>
            <a:ext cx="777300" cy="109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000"/>
              <a:buFont typeface="Calibri"/>
              <a:buNone/>
            </a:pPr>
            <a:r>
              <a:rPr lang="en" sz="1000" b="1" i="0" u="none" strike="noStrike" cap="none">
                <a:solidFill>
                  <a:srgbClr val="1A2E42"/>
                </a:solidFill>
                <a:latin typeface="Calibri"/>
                <a:ea typeface="Calibri"/>
                <a:cs typeface="Calibri"/>
                <a:sym typeface="Calibri"/>
              </a:rPr>
              <a:t>ReLU</a:t>
            </a:r>
            <a:endParaRPr sz="10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2E42"/>
              </a:buClr>
              <a:buSzPts val="1000"/>
              <a:buFont typeface="Calibri"/>
              <a:buNone/>
            </a:pPr>
            <a:r>
              <a:rPr lang="en" sz="1000" b="1" i="0" u="none" strike="noStrike" cap="none">
                <a:solidFill>
                  <a:srgbClr val="1A2E42"/>
                </a:solidFill>
                <a:latin typeface="Calibri"/>
                <a:ea typeface="Calibri"/>
                <a:cs typeface="Calibri"/>
                <a:sym typeface="Calibri"/>
              </a:rPr>
              <a:t>Activ.</a:t>
            </a:r>
            <a:endParaRPr sz="1000" b="0" i="0" u="none" strike="noStrike" cap="none">
              <a:solidFill>
                <a:schemeClr val="dk1"/>
              </a:solidFill>
              <a:latin typeface="Calibri"/>
              <a:ea typeface="Calibri"/>
              <a:cs typeface="Calibri"/>
              <a:sym typeface="Calibri"/>
            </a:endParaRPr>
          </a:p>
        </p:txBody>
      </p:sp>
      <p:sp>
        <p:nvSpPr>
          <p:cNvPr id="1032" name="Google Shape;1032;p24"/>
          <p:cNvSpPr/>
          <p:nvPr/>
        </p:nvSpPr>
        <p:spPr>
          <a:xfrm>
            <a:off x="2889504" y="1599554"/>
            <a:ext cx="164700" cy="73200"/>
          </a:xfrm>
          <a:prstGeom prst="rect">
            <a:avLst/>
          </a:prstGeom>
          <a:solidFill>
            <a:srgbClr val="1A608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3" name="Google Shape;1033;p24"/>
          <p:cNvSpPr/>
          <p:nvPr/>
        </p:nvSpPr>
        <p:spPr>
          <a:xfrm>
            <a:off x="2916936" y="1498970"/>
            <a:ext cx="1830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800"/>
              <a:buFont typeface="Calibri"/>
              <a:buNone/>
            </a:pPr>
            <a:r>
              <a:rPr lang="en" sz="800" b="0" i="0" u="none" strike="noStrike" cap="none">
                <a:solidFill>
                  <a:srgbClr val="1A6080"/>
                </a:solidFill>
                <a:latin typeface="Calibri"/>
                <a:ea typeface="Calibri"/>
                <a:cs typeface="Calibri"/>
                <a:sym typeface="Calibri"/>
              </a:rPr>
              <a:t>▶</a:t>
            </a:r>
            <a:endParaRPr sz="800" b="0" i="0" u="none" strike="noStrike" cap="none">
              <a:solidFill>
                <a:schemeClr val="dk1"/>
              </a:solidFill>
              <a:latin typeface="Calibri"/>
              <a:ea typeface="Calibri"/>
              <a:cs typeface="Calibri"/>
              <a:sym typeface="Calibri"/>
            </a:endParaRPr>
          </a:p>
        </p:txBody>
      </p:sp>
      <p:sp>
        <p:nvSpPr>
          <p:cNvPr id="1034" name="Google Shape;1034;p24"/>
          <p:cNvSpPr/>
          <p:nvPr/>
        </p:nvSpPr>
        <p:spPr>
          <a:xfrm>
            <a:off x="3054096" y="1087490"/>
            <a:ext cx="777300" cy="1097400"/>
          </a:xfrm>
          <a:prstGeom prst="rect">
            <a:avLst/>
          </a:prstGeom>
          <a:solidFill>
            <a:srgbClr val="B0EAF8"/>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5" name="Google Shape;1035;p24"/>
          <p:cNvSpPr/>
          <p:nvPr/>
        </p:nvSpPr>
        <p:spPr>
          <a:xfrm>
            <a:off x="3054096" y="1087490"/>
            <a:ext cx="777300" cy="109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000"/>
              <a:buFont typeface="Calibri"/>
              <a:buNone/>
            </a:pPr>
            <a:r>
              <a:rPr lang="en" sz="1000" b="1" i="0" u="none" strike="noStrike" cap="none">
                <a:solidFill>
                  <a:srgbClr val="1A2E42"/>
                </a:solidFill>
                <a:latin typeface="Calibri"/>
                <a:ea typeface="Calibri"/>
                <a:cs typeface="Calibri"/>
                <a:sym typeface="Calibri"/>
              </a:rPr>
              <a:t>Pooling</a:t>
            </a:r>
            <a:endParaRPr sz="10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2E42"/>
              </a:buClr>
              <a:buSzPts val="1000"/>
              <a:buFont typeface="Calibri"/>
              <a:buNone/>
            </a:pPr>
            <a:r>
              <a:rPr lang="en" sz="1000" b="1" i="0" u="none" strike="noStrike" cap="none">
                <a:solidFill>
                  <a:srgbClr val="1A2E42"/>
                </a:solidFill>
                <a:latin typeface="Calibri"/>
                <a:ea typeface="Calibri"/>
                <a:cs typeface="Calibri"/>
                <a:sym typeface="Calibri"/>
              </a:rPr>
              <a:t>Layer</a:t>
            </a:r>
            <a:endParaRPr sz="1000" b="0" i="0" u="none" strike="noStrike" cap="none">
              <a:solidFill>
                <a:schemeClr val="dk1"/>
              </a:solidFill>
              <a:latin typeface="Calibri"/>
              <a:ea typeface="Calibri"/>
              <a:cs typeface="Calibri"/>
              <a:sym typeface="Calibri"/>
            </a:endParaRPr>
          </a:p>
        </p:txBody>
      </p:sp>
      <p:sp>
        <p:nvSpPr>
          <p:cNvPr id="1036" name="Google Shape;1036;p24"/>
          <p:cNvSpPr/>
          <p:nvPr/>
        </p:nvSpPr>
        <p:spPr>
          <a:xfrm>
            <a:off x="3831336" y="1599554"/>
            <a:ext cx="164700" cy="73200"/>
          </a:xfrm>
          <a:prstGeom prst="rect">
            <a:avLst/>
          </a:prstGeom>
          <a:solidFill>
            <a:srgbClr val="1A608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7" name="Google Shape;1037;p24"/>
          <p:cNvSpPr/>
          <p:nvPr/>
        </p:nvSpPr>
        <p:spPr>
          <a:xfrm>
            <a:off x="3858768" y="1498970"/>
            <a:ext cx="1830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800"/>
              <a:buFont typeface="Calibri"/>
              <a:buNone/>
            </a:pPr>
            <a:r>
              <a:rPr lang="en" sz="800" b="0" i="0" u="none" strike="noStrike" cap="none">
                <a:solidFill>
                  <a:srgbClr val="1A6080"/>
                </a:solidFill>
                <a:latin typeface="Calibri"/>
                <a:ea typeface="Calibri"/>
                <a:cs typeface="Calibri"/>
                <a:sym typeface="Calibri"/>
              </a:rPr>
              <a:t>▶</a:t>
            </a:r>
            <a:endParaRPr sz="800" b="0" i="0" u="none" strike="noStrike" cap="none">
              <a:solidFill>
                <a:schemeClr val="dk1"/>
              </a:solidFill>
              <a:latin typeface="Calibri"/>
              <a:ea typeface="Calibri"/>
              <a:cs typeface="Calibri"/>
              <a:sym typeface="Calibri"/>
            </a:endParaRPr>
          </a:p>
        </p:txBody>
      </p:sp>
      <p:sp>
        <p:nvSpPr>
          <p:cNvPr id="1038" name="Google Shape;1038;p24"/>
          <p:cNvSpPr/>
          <p:nvPr/>
        </p:nvSpPr>
        <p:spPr>
          <a:xfrm>
            <a:off x="3995928" y="1087490"/>
            <a:ext cx="777300" cy="1097400"/>
          </a:xfrm>
          <a:prstGeom prst="rect">
            <a:avLst/>
          </a:prstGeom>
          <a:solidFill>
            <a:srgbClr val="A8EEF8"/>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9" name="Google Shape;1039;p24"/>
          <p:cNvSpPr/>
          <p:nvPr/>
        </p:nvSpPr>
        <p:spPr>
          <a:xfrm>
            <a:off x="3995928" y="1087490"/>
            <a:ext cx="777300" cy="109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000"/>
              <a:buFont typeface="Calibri"/>
              <a:buNone/>
            </a:pPr>
            <a:r>
              <a:rPr lang="en" sz="1000" b="1" i="0" u="none" strike="noStrike" cap="none">
                <a:solidFill>
                  <a:srgbClr val="1A2E42"/>
                </a:solidFill>
                <a:latin typeface="Calibri"/>
                <a:ea typeface="Calibri"/>
                <a:cs typeface="Calibri"/>
                <a:sym typeface="Calibri"/>
              </a:rPr>
              <a:t>Conv</a:t>
            </a:r>
            <a:endParaRPr sz="10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2E42"/>
              </a:buClr>
              <a:buSzPts val="1000"/>
              <a:buFont typeface="Calibri"/>
              <a:buNone/>
            </a:pPr>
            <a:r>
              <a:rPr lang="en" sz="1000" b="1" i="0" u="none" strike="noStrike" cap="none">
                <a:solidFill>
                  <a:srgbClr val="1A2E42"/>
                </a:solidFill>
                <a:latin typeface="Calibri"/>
                <a:ea typeface="Calibri"/>
                <a:cs typeface="Calibri"/>
                <a:sym typeface="Calibri"/>
              </a:rPr>
              <a:t>Layer</a:t>
            </a:r>
            <a:endParaRPr sz="1000" b="0" i="0" u="none" strike="noStrike" cap="none">
              <a:solidFill>
                <a:schemeClr val="dk1"/>
              </a:solidFill>
              <a:latin typeface="Calibri"/>
              <a:ea typeface="Calibri"/>
              <a:cs typeface="Calibri"/>
              <a:sym typeface="Calibri"/>
            </a:endParaRPr>
          </a:p>
        </p:txBody>
      </p:sp>
      <p:sp>
        <p:nvSpPr>
          <p:cNvPr id="1040" name="Google Shape;1040;p24"/>
          <p:cNvSpPr/>
          <p:nvPr/>
        </p:nvSpPr>
        <p:spPr>
          <a:xfrm>
            <a:off x="4773168" y="1599554"/>
            <a:ext cx="164700" cy="73200"/>
          </a:xfrm>
          <a:prstGeom prst="rect">
            <a:avLst/>
          </a:prstGeom>
          <a:solidFill>
            <a:srgbClr val="1A608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1" name="Google Shape;1041;p24"/>
          <p:cNvSpPr/>
          <p:nvPr/>
        </p:nvSpPr>
        <p:spPr>
          <a:xfrm>
            <a:off x="4800600" y="1498970"/>
            <a:ext cx="1830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800"/>
              <a:buFont typeface="Calibri"/>
              <a:buNone/>
            </a:pPr>
            <a:r>
              <a:rPr lang="en" sz="800" b="0" i="0" u="none" strike="noStrike" cap="none">
                <a:solidFill>
                  <a:srgbClr val="1A6080"/>
                </a:solidFill>
                <a:latin typeface="Calibri"/>
                <a:ea typeface="Calibri"/>
                <a:cs typeface="Calibri"/>
                <a:sym typeface="Calibri"/>
              </a:rPr>
              <a:t>▶</a:t>
            </a:r>
            <a:endParaRPr sz="800" b="0" i="0" u="none" strike="noStrike" cap="none">
              <a:solidFill>
                <a:schemeClr val="dk1"/>
              </a:solidFill>
              <a:latin typeface="Calibri"/>
              <a:ea typeface="Calibri"/>
              <a:cs typeface="Calibri"/>
              <a:sym typeface="Calibri"/>
            </a:endParaRPr>
          </a:p>
        </p:txBody>
      </p:sp>
      <p:sp>
        <p:nvSpPr>
          <p:cNvPr id="1042" name="Google Shape;1042;p24"/>
          <p:cNvSpPr/>
          <p:nvPr/>
        </p:nvSpPr>
        <p:spPr>
          <a:xfrm>
            <a:off x="4937760" y="1087490"/>
            <a:ext cx="685800" cy="1097400"/>
          </a:xfrm>
          <a:prstGeom prst="rect">
            <a:avLst/>
          </a:prstGeom>
          <a:solidFill>
            <a:srgbClr val="C0DAEE"/>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3" name="Google Shape;1043;p24"/>
          <p:cNvSpPr/>
          <p:nvPr/>
        </p:nvSpPr>
        <p:spPr>
          <a:xfrm>
            <a:off x="4937760" y="1087490"/>
            <a:ext cx="685800" cy="109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000"/>
              <a:buFont typeface="Calibri"/>
              <a:buNone/>
            </a:pPr>
            <a:r>
              <a:rPr lang="en" sz="1000" b="1" i="0" u="none" strike="noStrike" cap="none">
                <a:solidFill>
                  <a:srgbClr val="1A2E42"/>
                </a:solidFill>
                <a:latin typeface="Calibri"/>
                <a:ea typeface="Calibri"/>
                <a:cs typeface="Calibri"/>
                <a:sym typeface="Calibri"/>
              </a:rPr>
              <a:t>Flatten</a:t>
            </a:r>
            <a:endParaRPr sz="1000" b="0" i="0" u="none" strike="noStrike" cap="none">
              <a:solidFill>
                <a:schemeClr val="dk1"/>
              </a:solidFill>
              <a:latin typeface="Calibri"/>
              <a:ea typeface="Calibri"/>
              <a:cs typeface="Calibri"/>
              <a:sym typeface="Calibri"/>
            </a:endParaRPr>
          </a:p>
        </p:txBody>
      </p:sp>
      <p:sp>
        <p:nvSpPr>
          <p:cNvPr id="1044" name="Google Shape;1044;p24"/>
          <p:cNvSpPr/>
          <p:nvPr/>
        </p:nvSpPr>
        <p:spPr>
          <a:xfrm>
            <a:off x="5623560" y="1599554"/>
            <a:ext cx="164700" cy="73200"/>
          </a:xfrm>
          <a:prstGeom prst="rect">
            <a:avLst/>
          </a:prstGeom>
          <a:solidFill>
            <a:srgbClr val="1A608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5" name="Google Shape;1045;p24"/>
          <p:cNvSpPr/>
          <p:nvPr/>
        </p:nvSpPr>
        <p:spPr>
          <a:xfrm>
            <a:off x="5650992" y="1498970"/>
            <a:ext cx="1830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800"/>
              <a:buFont typeface="Calibri"/>
              <a:buNone/>
            </a:pPr>
            <a:r>
              <a:rPr lang="en" sz="800" b="0" i="0" u="none" strike="noStrike" cap="none">
                <a:solidFill>
                  <a:srgbClr val="1A6080"/>
                </a:solidFill>
                <a:latin typeface="Calibri"/>
                <a:ea typeface="Calibri"/>
                <a:cs typeface="Calibri"/>
                <a:sym typeface="Calibri"/>
              </a:rPr>
              <a:t>▶</a:t>
            </a:r>
            <a:endParaRPr sz="800" b="0" i="0" u="none" strike="noStrike" cap="none">
              <a:solidFill>
                <a:schemeClr val="dk1"/>
              </a:solidFill>
              <a:latin typeface="Calibri"/>
              <a:ea typeface="Calibri"/>
              <a:cs typeface="Calibri"/>
              <a:sym typeface="Calibri"/>
            </a:endParaRPr>
          </a:p>
        </p:txBody>
      </p:sp>
      <p:sp>
        <p:nvSpPr>
          <p:cNvPr id="1046" name="Google Shape;1046;p24"/>
          <p:cNvSpPr/>
          <p:nvPr/>
        </p:nvSpPr>
        <p:spPr>
          <a:xfrm>
            <a:off x="5788152" y="1087490"/>
            <a:ext cx="777300" cy="1097400"/>
          </a:xfrm>
          <a:prstGeom prst="rect">
            <a:avLst/>
          </a:prstGeom>
          <a:solidFill>
            <a:srgbClr val="B8D8F0"/>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7" name="Google Shape;1047;p24"/>
          <p:cNvSpPr/>
          <p:nvPr/>
        </p:nvSpPr>
        <p:spPr>
          <a:xfrm>
            <a:off x="5788152" y="1087490"/>
            <a:ext cx="777300" cy="109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000"/>
              <a:buFont typeface="Calibri"/>
              <a:buNone/>
            </a:pPr>
            <a:r>
              <a:rPr lang="en" sz="1000" b="1" i="0" u="none" strike="noStrike" cap="none">
                <a:solidFill>
                  <a:srgbClr val="1A2E42"/>
                </a:solidFill>
                <a:latin typeface="Calibri"/>
                <a:ea typeface="Calibri"/>
                <a:cs typeface="Calibri"/>
                <a:sym typeface="Calibri"/>
              </a:rPr>
              <a:t>Fully</a:t>
            </a:r>
            <a:endParaRPr sz="10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2E42"/>
              </a:buClr>
              <a:buSzPts val="1000"/>
              <a:buFont typeface="Calibri"/>
              <a:buNone/>
            </a:pPr>
            <a:r>
              <a:rPr lang="en" sz="1000" b="1" i="0" u="none" strike="noStrike" cap="none">
                <a:solidFill>
                  <a:srgbClr val="1A2E42"/>
                </a:solidFill>
                <a:latin typeface="Calibri"/>
                <a:ea typeface="Calibri"/>
                <a:cs typeface="Calibri"/>
                <a:sym typeface="Calibri"/>
              </a:rPr>
              <a:t>Connected</a:t>
            </a:r>
            <a:endParaRPr sz="1000" b="0" i="0" u="none" strike="noStrike" cap="none">
              <a:solidFill>
                <a:schemeClr val="dk1"/>
              </a:solidFill>
              <a:latin typeface="Calibri"/>
              <a:ea typeface="Calibri"/>
              <a:cs typeface="Calibri"/>
              <a:sym typeface="Calibri"/>
            </a:endParaRPr>
          </a:p>
        </p:txBody>
      </p:sp>
      <p:sp>
        <p:nvSpPr>
          <p:cNvPr id="1048" name="Google Shape;1048;p24"/>
          <p:cNvSpPr/>
          <p:nvPr/>
        </p:nvSpPr>
        <p:spPr>
          <a:xfrm>
            <a:off x="6565392" y="1599554"/>
            <a:ext cx="164700" cy="73200"/>
          </a:xfrm>
          <a:prstGeom prst="rect">
            <a:avLst/>
          </a:prstGeom>
          <a:solidFill>
            <a:srgbClr val="1A608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9" name="Google Shape;1049;p24"/>
          <p:cNvSpPr/>
          <p:nvPr/>
        </p:nvSpPr>
        <p:spPr>
          <a:xfrm>
            <a:off x="6592824" y="1498970"/>
            <a:ext cx="1830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800"/>
              <a:buFont typeface="Calibri"/>
              <a:buNone/>
            </a:pPr>
            <a:r>
              <a:rPr lang="en" sz="800" b="0" i="0" u="none" strike="noStrike" cap="none">
                <a:solidFill>
                  <a:srgbClr val="1A6080"/>
                </a:solidFill>
                <a:latin typeface="Calibri"/>
                <a:ea typeface="Calibri"/>
                <a:cs typeface="Calibri"/>
                <a:sym typeface="Calibri"/>
              </a:rPr>
              <a:t>▶</a:t>
            </a:r>
            <a:endParaRPr sz="800" b="0" i="0" u="none" strike="noStrike" cap="none">
              <a:solidFill>
                <a:schemeClr val="dk1"/>
              </a:solidFill>
              <a:latin typeface="Calibri"/>
              <a:ea typeface="Calibri"/>
              <a:cs typeface="Calibri"/>
              <a:sym typeface="Calibri"/>
            </a:endParaRPr>
          </a:p>
        </p:txBody>
      </p:sp>
      <p:sp>
        <p:nvSpPr>
          <p:cNvPr id="1050" name="Google Shape;1050;p24"/>
          <p:cNvSpPr/>
          <p:nvPr/>
        </p:nvSpPr>
        <p:spPr>
          <a:xfrm>
            <a:off x="6729984" y="1087490"/>
            <a:ext cx="777300" cy="1097400"/>
          </a:xfrm>
          <a:prstGeom prst="rect">
            <a:avLst/>
          </a:prstGeom>
          <a:solidFill>
            <a:srgbClr val="FF6B6B"/>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1" name="Google Shape;1051;p24"/>
          <p:cNvSpPr/>
          <p:nvPr/>
        </p:nvSpPr>
        <p:spPr>
          <a:xfrm>
            <a:off x="6729984" y="1087490"/>
            <a:ext cx="777300" cy="109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000"/>
              <a:buFont typeface="Calibri"/>
              <a:buNone/>
            </a:pPr>
            <a:r>
              <a:rPr lang="en" sz="1000" b="1" i="0" u="none" strike="noStrike" cap="none">
                <a:solidFill>
                  <a:srgbClr val="1A2E42"/>
                </a:solidFill>
                <a:latin typeface="Calibri"/>
                <a:ea typeface="Calibri"/>
                <a:cs typeface="Calibri"/>
                <a:sym typeface="Calibri"/>
              </a:rPr>
              <a:t>Softmax</a:t>
            </a:r>
            <a:endParaRPr sz="10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2E42"/>
              </a:buClr>
              <a:buSzPts val="1000"/>
              <a:buFont typeface="Calibri"/>
              <a:buNone/>
            </a:pPr>
            <a:r>
              <a:rPr lang="en" sz="1000" b="1" i="0" u="none" strike="noStrike" cap="none">
                <a:solidFill>
                  <a:srgbClr val="1A2E42"/>
                </a:solidFill>
                <a:latin typeface="Calibri"/>
                <a:ea typeface="Calibri"/>
                <a:cs typeface="Calibri"/>
                <a:sym typeface="Calibri"/>
              </a:rPr>
              <a:t>Output</a:t>
            </a:r>
            <a:endParaRPr sz="1000" b="0" i="0" u="none" strike="noStrike" cap="none">
              <a:solidFill>
                <a:schemeClr val="dk1"/>
              </a:solidFill>
              <a:latin typeface="Calibri"/>
              <a:ea typeface="Calibri"/>
              <a:cs typeface="Calibri"/>
              <a:sym typeface="Calibri"/>
            </a:endParaRPr>
          </a:p>
        </p:txBody>
      </p:sp>
      <p:cxnSp>
        <p:nvCxnSpPr>
          <p:cNvPr id="1052" name="Google Shape;1052;p24"/>
          <p:cNvCxnSpPr/>
          <p:nvPr/>
        </p:nvCxnSpPr>
        <p:spPr>
          <a:xfrm>
            <a:off x="617250" y="2184770"/>
            <a:ext cx="0" cy="274200"/>
          </a:xfrm>
          <a:prstGeom prst="straightConnector1">
            <a:avLst/>
          </a:prstGeom>
          <a:noFill/>
          <a:ln w="12700" cap="flat" cmpd="sng">
            <a:solidFill>
              <a:srgbClr val="1A6080"/>
            </a:solidFill>
            <a:prstDash val="dash"/>
            <a:round/>
            <a:headEnd type="none" w="sm" len="sm"/>
            <a:tailEnd type="none" w="sm" len="sm"/>
          </a:ln>
        </p:spPr>
      </p:cxnSp>
      <p:sp>
        <p:nvSpPr>
          <p:cNvPr id="1053" name="Google Shape;1053;p24"/>
          <p:cNvSpPr/>
          <p:nvPr/>
        </p:nvSpPr>
        <p:spPr>
          <a:xfrm>
            <a:off x="167250" y="2504810"/>
            <a:ext cx="9000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950"/>
              <a:buFont typeface="Calibri"/>
              <a:buNone/>
            </a:pPr>
            <a:r>
              <a:rPr lang="en" sz="950" b="0" i="0" u="none" strike="noStrike" cap="none">
                <a:solidFill>
                  <a:srgbClr val="1A6080"/>
                </a:solidFill>
                <a:latin typeface="Calibri"/>
                <a:ea typeface="Calibri"/>
                <a:cs typeface="Calibri"/>
                <a:sym typeface="Calibri"/>
              </a:rPr>
              <a:t>Raw pixels</a:t>
            </a:r>
            <a:endParaRPr sz="95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950"/>
              <a:buFont typeface="Calibri"/>
              <a:buNone/>
            </a:pPr>
            <a:r>
              <a:rPr lang="en" sz="950" b="0" i="0" u="none" strike="noStrike" cap="none">
                <a:solidFill>
                  <a:srgbClr val="1A6080"/>
                </a:solidFill>
                <a:latin typeface="Calibri"/>
                <a:ea typeface="Calibri"/>
                <a:cs typeface="Calibri"/>
                <a:sym typeface="Calibri"/>
              </a:rPr>
              <a:t>224×224×3</a:t>
            </a:r>
            <a:endParaRPr sz="950" b="0" i="0" u="none" strike="noStrike" cap="none">
              <a:solidFill>
                <a:schemeClr val="dk1"/>
              </a:solidFill>
              <a:latin typeface="Calibri"/>
              <a:ea typeface="Calibri"/>
              <a:cs typeface="Calibri"/>
              <a:sym typeface="Calibri"/>
            </a:endParaRPr>
          </a:p>
        </p:txBody>
      </p:sp>
      <p:cxnSp>
        <p:nvCxnSpPr>
          <p:cNvPr id="1054" name="Google Shape;1054;p24"/>
          <p:cNvCxnSpPr/>
          <p:nvPr/>
        </p:nvCxnSpPr>
        <p:spPr>
          <a:xfrm>
            <a:off x="1559082" y="2184770"/>
            <a:ext cx="0" cy="274200"/>
          </a:xfrm>
          <a:prstGeom prst="straightConnector1">
            <a:avLst/>
          </a:prstGeom>
          <a:noFill/>
          <a:ln w="12700" cap="flat" cmpd="sng">
            <a:solidFill>
              <a:srgbClr val="1A6080"/>
            </a:solidFill>
            <a:prstDash val="dash"/>
            <a:round/>
            <a:headEnd type="none" w="sm" len="sm"/>
            <a:tailEnd type="none" w="sm" len="sm"/>
          </a:ln>
        </p:spPr>
      </p:cxnSp>
      <p:sp>
        <p:nvSpPr>
          <p:cNvPr id="1055" name="Google Shape;1055;p24"/>
          <p:cNvSpPr/>
          <p:nvPr/>
        </p:nvSpPr>
        <p:spPr>
          <a:xfrm>
            <a:off x="1109082" y="2504810"/>
            <a:ext cx="9000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950"/>
              <a:buFont typeface="Calibri"/>
              <a:buNone/>
            </a:pPr>
            <a:r>
              <a:rPr lang="en" sz="950" b="0" i="0" u="none" strike="noStrike" cap="none">
                <a:solidFill>
                  <a:srgbClr val="1A6080"/>
                </a:solidFill>
                <a:latin typeface="Calibri"/>
                <a:ea typeface="Calibri"/>
                <a:cs typeface="Calibri"/>
                <a:sym typeface="Calibri"/>
              </a:rPr>
              <a:t>Detects local</a:t>
            </a:r>
            <a:endParaRPr sz="95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950"/>
              <a:buFont typeface="Calibri"/>
              <a:buNone/>
            </a:pPr>
            <a:r>
              <a:rPr lang="en" sz="950" b="0" i="0" u="none" strike="noStrike" cap="none">
                <a:solidFill>
                  <a:srgbClr val="1A6080"/>
                </a:solidFill>
                <a:latin typeface="Calibri"/>
                <a:ea typeface="Calibri"/>
                <a:cs typeface="Calibri"/>
                <a:sym typeface="Calibri"/>
              </a:rPr>
              <a:t>features</a:t>
            </a:r>
            <a:endParaRPr sz="950" b="0" i="0" u="none" strike="noStrike" cap="none">
              <a:solidFill>
                <a:schemeClr val="dk1"/>
              </a:solidFill>
              <a:latin typeface="Calibri"/>
              <a:ea typeface="Calibri"/>
              <a:cs typeface="Calibri"/>
              <a:sym typeface="Calibri"/>
            </a:endParaRPr>
          </a:p>
        </p:txBody>
      </p:sp>
      <p:cxnSp>
        <p:nvCxnSpPr>
          <p:cNvPr id="1056" name="Google Shape;1056;p24"/>
          <p:cNvCxnSpPr/>
          <p:nvPr/>
        </p:nvCxnSpPr>
        <p:spPr>
          <a:xfrm>
            <a:off x="2500914" y="2184770"/>
            <a:ext cx="0" cy="274200"/>
          </a:xfrm>
          <a:prstGeom prst="straightConnector1">
            <a:avLst/>
          </a:prstGeom>
          <a:noFill/>
          <a:ln w="12700" cap="flat" cmpd="sng">
            <a:solidFill>
              <a:srgbClr val="1A6080"/>
            </a:solidFill>
            <a:prstDash val="dash"/>
            <a:round/>
            <a:headEnd type="none" w="sm" len="sm"/>
            <a:tailEnd type="none" w="sm" len="sm"/>
          </a:ln>
        </p:spPr>
      </p:cxnSp>
      <p:sp>
        <p:nvSpPr>
          <p:cNvPr id="1057" name="Google Shape;1057;p24"/>
          <p:cNvSpPr/>
          <p:nvPr/>
        </p:nvSpPr>
        <p:spPr>
          <a:xfrm>
            <a:off x="2050914" y="2504810"/>
            <a:ext cx="9000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950"/>
              <a:buFont typeface="Calibri"/>
              <a:buNone/>
            </a:pPr>
            <a:r>
              <a:rPr lang="en" sz="950" b="0" i="0" u="none" strike="noStrike" cap="none">
                <a:solidFill>
                  <a:srgbClr val="1A6080"/>
                </a:solidFill>
                <a:latin typeface="Calibri"/>
                <a:ea typeface="Calibri"/>
                <a:cs typeface="Calibri"/>
                <a:sym typeface="Calibri"/>
              </a:rPr>
              <a:t>Adds non-</a:t>
            </a:r>
            <a:endParaRPr sz="95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950"/>
              <a:buFont typeface="Calibri"/>
              <a:buNone/>
            </a:pPr>
            <a:r>
              <a:rPr lang="en" sz="950" b="0" i="0" u="none" strike="noStrike" cap="none">
                <a:solidFill>
                  <a:srgbClr val="1A6080"/>
                </a:solidFill>
                <a:latin typeface="Calibri"/>
                <a:ea typeface="Calibri"/>
                <a:cs typeface="Calibri"/>
                <a:sym typeface="Calibri"/>
              </a:rPr>
              <a:t>linearity</a:t>
            </a:r>
            <a:endParaRPr sz="950" b="0" i="0" u="none" strike="noStrike" cap="none">
              <a:solidFill>
                <a:schemeClr val="dk1"/>
              </a:solidFill>
              <a:latin typeface="Calibri"/>
              <a:ea typeface="Calibri"/>
              <a:cs typeface="Calibri"/>
              <a:sym typeface="Calibri"/>
            </a:endParaRPr>
          </a:p>
        </p:txBody>
      </p:sp>
      <p:cxnSp>
        <p:nvCxnSpPr>
          <p:cNvPr id="1058" name="Google Shape;1058;p24"/>
          <p:cNvCxnSpPr/>
          <p:nvPr/>
        </p:nvCxnSpPr>
        <p:spPr>
          <a:xfrm>
            <a:off x="3442746" y="2184770"/>
            <a:ext cx="0" cy="274200"/>
          </a:xfrm>
          <a:prstGeom prst="straightConnector1">
            <a:avLst/>
          </a:prstGeom>
          <a:noFill/>
          <a:ln w="12700" cap="flat" cmpd="sng">
            <a:solidFill>
              <a:srgbClr val="1A6080"/>
            </a:solidFill>
            <a:prstDash val="dash"/>
            <a:round/>
            <a:headEnd type="none" w="sm" len="sm"/>
            <a:tailEnd type="none" w="sm" len="sm"/>
          </a:ln>
        </p:spPr>
      </p:cxnSp>
      <p:sp>
        <p:nvSpPr>
          <p:cNvPr id="1059" name="Google Shape;1059;p24"/>
          <p:cNvSpPr/>
          <p:nvPr/>
        </p:nvSpPr>
        <p:spPr>
          <a:xfrm>
            <a:off x="2992746" y="2504810"/>
            <a:ext cx="9000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950"/>
              <a:buFont typeface="Calibri"/>
              <a:buNone/>
            </a:pPr>
            <a:r>
              <a:rPr lang="en" sz="950" b="0" i="0" u="none" strike="noStrike" cap="none">
                <a:solidFill>
                  <a:srgbClr val="1A6080"/>
                </a:solidFill>
                <a:latin typeface="Calibri"/>
                <a:ea typeface="Calibri"/>
                <a:cs typeface="Calibri"/>
                <a:sym typeface="Calibri"/>
              </a:rPr>
              <a:t>Downsamples</a:t>
            </a:r>
            <a:endParaRPr sz="95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950"/>
              <a:buFont typeface="Calibri"/>
              <a:buNone/>
            </a:pPr>
            <a:r>
              <a:rPr lang="en" sz="950" b="0" i="0" u="none" strike="noStrike" cap="none">
                <a:solidFill>
                  <a:srgbClr val="1A6080"/>
                </a:solidFill>
                <a:latin typeface="Calibri"/>
                <a:ea typeface="Calibri"/>
                <a:cs typeface="Calibri"/>
                <a:sym typeface="Calibri"/>
              </a:rPr>
              <a:t>feature maps</a:t>
            </a:r>
            <a:endParaRPr sz="950" b="0" i="0" u="none" strike="noStrike" cap="none">
              <a:solidFill>
                <a:schemeClr val="dk1"/>
              </a:solidFill>
              <a:latin typeface="Calibri"/>
              <a:ea typeface="Calibri"/>
              <a:cs typeface="Calibri"/>
              <a:sym typeface="Calibri"/>
            </a:endParaRPr>
          </a:p>
        </p:txBody>
      </p:sp>
      <p:cxnSp>
        <p:nvCxnSpPr>
          <p:cNvPr id="1060" name="Google Shape;1060;p24"/>
          <p:cNvCxnSpPr/>
          <p:nvPr/>
        </p:nvCxnSpPr>
        <p:spPr>
          <a:xfrm>
            <a:off x="4384578" y="2184770"/>
            <a:ext cx="0" cy="274200"/>
          </a:xfrm>
          <a:prstGeom prst="straightConnector1">
            <a:avLst/>
          </a:prstGeom>
          <a:noFill/>
          <a:ln w="12700" cap="flat" cmpd="sng">
            <a:solidFill>
              <a:srgbClr val="1A6080"/>
            </a:solidFill>
            <a:prstDash val="dash"/>
            <a:round/>
            <a:headEnd type="none" w="sm" len="sm"/>
            <a:tailEnd type="none" w="sm" len="sm"/>
          </a:ln>
        </p:spPr>
      </p:cxnSp>
      <p:sp>
        <p:nvSpPr>
          <p:cNvPr id="1061" name="Google Shape;1061;p24"/>
          <p:cNvSpPr/>
          <p:nvPr/>
        </p:nvSpPr>
        <p:spPr>
          <a:xfrm>
            <a:off x="3934578" y="2504810"/>
            <a:ext cx="9000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950"/>
              <a:buFont typeface="Calibri"/>
              <a:buNone/>
            </a:pPr>
            <a:r>
              <a:rPr lang="en" sz="950" b="0" i="0" u="none" strike="noStrike" cap="none">
                <a:solidFill>
                  <a:srgbClr val="1A6080"/>
                </a:solidFill>
                <a:latin typeface="Calibri"/>
                <a:ea typeface="Calibri"/>
                <a:cs typeface="Calibri"/>
                <a:sym typeface="Calibri"/>
              </a:rPr>
              <a:t>Learns deeper</a:t>
            </a:r>
            <a:endParaRPr sz="95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950"/>
              <a:buFont typeface="Calibri"/>
              <a:buNone/>
            </a:pPr>
            <a:r>
              <a:rPr lang="en" sz="950" b="0" i="0" u="none" strike="noStrike" cap="none">
                <a:solidFill>
                  <a:srgbClr val="1A6080"/>
                </a:solidFill>
                <a:latin typeface="Calibri"/>
                <a:ea typeface="Calibri"/>
                <a:cs typeface="Calibri"/>
                <a:sym typeface="Calibri"/>
              </a:rPr>
              <a:t>features</a:t>
            </a:r>
            <a:endParaRPr sz="950" b="0" i="0" u="none" strike="noStrike" cap="none">
              <a:solidFill>
                <a:schemeClr val="dk1"/>
              </a:solidFill>
              <a:latin typeface="Calibri"/>
              <a:ea typeface="Calibri"/>
              <a:cs typeface="Calibri"/>
              <a:sym typeface="Calibri"/>
            </a:endParaRPr>
          </a:p>
        </p:txBody>
      </p:sp>
      <p:cxnSp>
        <p:nvCxnSpPr>
          <p:cNvPr id="1062" name="Google Shape;1062;p24"/>
          <p:cNvCxnSpPr/>
          <p:nvPr/>
        </p:nvCxnSpPr>
        <p:spPr>
          <a:xfrm>
            <a:off x="5280660" y="2184770"/>
            <a:ext cx="0" cy="274200"/>
          </a:xfrm>
          <a:prstGeom prst="straightConnector1">
            <a:avLst/>
          </a:prstGeom>
          <a:noFill/>
          <a:ln w="12700" cap="flat" cmpd="sng">
            <a:solidFill>
              <a:srgbClr val="1A6080"/>
            </a:solidFill>
            <a:prstDash val="dash"/>
            <a:round/>
            <a:headEnd type="none" w="sm" len="sm"/>
            <a:tailEnd type="none" w="sm" len="sm"/>
          </a:ln>
        </p:spPr>
      </p:cxnSp>
      <p:sp>
        <p:nvSpPr>
          <p:cNvPr id="1063" name="Google Shape;1063;p24"/>
          <p:cNvSpPr/>
          <p:nvPr/>
        </p:nvSpPr>
        <p:spPr>
          <a:xfrm>
            <a:off x="4830660" y="2504810"/>
            <a:ext cx="9000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950"/>
              <a:buFont typeface="Calibri"/>
              <a:buNone/>
            </a:pPr>
            <a:r>
              <a:rPr lang="en" sz="950" b="0" i="0" u="none" strike="noStrike" cap="none">
                <a:solidFill>
                  <a:srgbClr val="1A6080"/>
                </a:solidFill>
                <a:latin typeface="Calibri"/>
                <a:ea typeface="Calibri"/>
                <a:cs typeface="Calibri"/>
                <a:sym typeface="Calibri"/>
              </a:rPr>
              <a:t>Reshapes to</a:t>
            </a:r>
            <a:endParaRPr sz="95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950"/>
              <a:buFont typeface="Calibri"/>
              <a:buNone/>
            </a:pPr>
            <a:r>
              <a:rPr lang="en" sz="950" b="0" i="0" u="none" strike="noStrike" cap="none">
                <a:solidFill>
                  <a:srgbClr val="1A6080"/>
                </a:solidFill>
                <a:latin typeface="Calibri"/>
                <a:ea typeface="Calibri"/>
                <a:cs typeface="Calibri"/>
                <a:sym typeface="Calibri"/>
              </a:rPr>
              <a:t>1D vector</a:t>
            </a:r>
            <a:endParaRPr sz="950" b="0" i="0" u="none" strike="noStrike" cap="none">
              <a:solidFill>
                <a:schemeClr val="dk1"/>
              </a:solidFill>
              <a:latin typeface="Calibri"/>
              <a:ea typeface="Calibri"/>
              <a:cs typeface="Calibri"/>
              <a:sym typeface="Calibri"/>
            </a:endParaRPr>
          </a:p>
        </p:txBody>
      </p:sp>
      <p:cxnSp>
        <p:nvCxnSpPr>
          <p:cNvPr id="1064" name="Google Shape;1064;p24"/>
          <p:cNvCxnSpPr/>
          <p:nvPr/>
        </p:nvCxnSpPr>
        <p:spPr>
          <a:xfrm>
            <a:off x="6176802" y="2184770"/>
            <a:ext cx="0" cy="274200"/>
          </a:xfrm>
          <a:prstGeom prst="straightConnector1">
            <a:avLst/>
          </a:prstGeom>
          <a:noFill/>
          <a:ln w="12700" cap="flat" cmpd="sng">
            <a:solidFill>
              <a:srgbClr val="1A6080"/>
            </a:solidFill>
            <a:prstDash val="dash"/>
            <a:round/>
            <a:headEnd type="none" w="sm" len="sm"/>
            <a:tailEnd type="none" w="sm" len="sm"/>
          </a:ln>
        </p:spPr>
      </p:cxnSp>
      <p:sp>
        <p:nvSpPr>
          <p:cNvPr id="1065" name="Google Shape;1065;p24"/>
          <p:cNvSpPr/>
          <p:nvPr/>
        </p:nvSpPr>
        <p:spPr>
          <a:xfrm>
            <a:off x="5726802" y="2504810"/>
            <a:ext cx="9000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950"/>
              <a:buFont typeface="Calibri"/>
              <a:buNone/>
            </a:pPr>
            <a:r>
              <a:rPr lang="en" sz="950" b="0" i="0" u="none" strike="noStrike" cap="none">
                <a:solidFill>
                  <a:srgbClr val="1A6080"/>
                </a:solidFill>
                <a:latin typeface="Calibri"/>
                <a:ea typeface="Calibri"/>
                <a:cs typeface="Calibri"/>
                <a:sym typeface="Calibri"/>
              </a:rPr>
              <a:t>Dense layer:</a:t>
            </a:r>
            <a:endParaRPr sz="95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950"/>
              <a:buFont typeface="Calibri"/>
              <a:buNone/>
            </a:pPr>
            <a:r>
              <a:rPr lang="en" sz="950" b="0" i="0" u="none" strike="noStrike" cap="none">
                <a:solidFill>
                  <a:srgbClr val="1A6080"/>
                </a:solidFill>
                <a:latin typeface="Calibri"/>
                <a:ea typeface="Calibri"/>
                <a:cs typeface="Calibri"/>
                <a:sym typeface="Calibri"/>
              </a:rPr>
              <a:t>classifies</a:t>
            </a:r>
            <a:endParaRPr sz="950" b="0" i="0" u="none" strike="noStrike" cap="none">
              <a:solidFill>
                <a:schemeClr val="dk1"/>
              </a:solidFill>
              <a:latin typeface="Calibri"/>
              <a:ea typeface="Calibri"/>
              <a:cs typeface="Calibri"/>
              <a:sym typeface="Calibri"/>
            </a:endParaRPr>
          </a:p>
        </p:txBody>
      </p:sp>
      <p:cxnSp>
        <p:nvCxnSpPr>
          <p:cNvPr id="1066" name="Google Shape;1066;p24"/>
          <p:cNvCxnSpPr/>
          <p:nvPr/>
        </p:nvCxnSpPr>
        <p:spPr>
          <a:xfrm>
            <a:off x="7118634" y="2184770"/>
            <a:ext cx="0" cy="274200"/>
          </a:xfrm>
          <a:prstGeom prst="straightConnector1">
            <a:avLst/>
          </a:prstGeom>
          <a:noFill/>
          <a:ln w="12700" cap="flat" cmpd="sng">
            <a:solidFill>
              <a:srgbClr val="1A6080"/>
            </a:solidFill>
            <a:prstDash val="dash"/>
            <a:round/>
            <a:headEnd type="none" w="sm" len="sm"/>
            <a:tailEnd type="none" w="sm" len="sm"/>
          </a:ln>
        </p:spPr>
      </p:cxnSp>
      <p:sp>
        <p:nvSpPr>
          <p:cNvPr id="1067" name="Google Shape;1067;p24"/>
          <p:cNvSpPr/>
          <p:nvPr/>
        </p:nvSpPr>
        <p:spPr>
          <a:xfrm>
            <a:off x="6668634" y="2504810"/>
            <a:ext cx="9000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950"/>
              <a:buFont typeface="Calibri"/>
              <a:buNone/>
            </a:pPr>
            <a:r>
              <a:rPr lang="en" sz="950" b="0" i="0" u="none" strike="noStrike" cap="none">
                <a:solidFill>
                  <a:srgbClr val="1A6080"/>
                </a:solidFill>
                <a:latin typeface="Calibri"/>
                <a:ea typeface="Calibri"/>
                <a:cs typeface="Calibri"/>
                <a:sym typeface="Calibri"/>
              </a:rPr>
              <a:t>Outputs class</a:t>
            </a:r>
            <a:endParaRPr sz="95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950"/>
              <a:buFont typeface="Calibri"/>
              <a:buNone/>
            </a:pPr>
            <a:r>
              <a:rPr lang="en" sz="950" b="0" i="0" u="none" strike="noStrike" cap="none">
                <a:solidFill>
                  <a:srgbClr val="1A6080"/>
                </a:solidFill>
                <a:latin typeface="Calibri"/>
                <a:ea typeface="Calibri"/>
                <a:cs typeface="Calibri"/>
                <a:sym typeface="Calibri"/>
              </a:rPr>
              <a:t>probabilities</a:t>
            </a:r>
            <a:endParaRPr sz="950" b="0" i="0" u="none" strike="noStrike" cap="none">
              <a:solidFill>
                <a:schemeClr val="dk1"/>
              </a:solidFill>
              <a:latin typeface="Calibri"/>
              <a:ea typeface="Calibri"/>
              <a:cs typeface="Calibri"/>
              <a:sym typeface="Calibri"/>
            </a:endParaRPr>
          </a:p>
        </p:txBody>
      </p:sp>
      <p:sp>
        <p:nvSpPr>
          <p:cNvPr id="1068" name="Google Shape;1068;p24"/>
          <p:cNvSpPr/>
          <p:nvPr/>
        </p:nvSpPr>
        <p:spPr>
          <a:xfrm>
            <a:off x="228600" y="3144890"/>
            <a:ext cx="86868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B4D8"/>
              </a:buClr>
              <a:buSzPts val="1200"/>
              <a:buFont typeface="Calibri"/>
              <a:buNone/>
            </a:pPr>
            <a:r>
              <a:rPr lang="en" sz="1200" b="0" i="1" u="none" strike="noStrike" cap="none">
                <a:solidFill>
                  <a:srgbClr val="00B4D8"/>
                </a:solidFill>
                <a:latin typeface="Calibri"/>
                <a:ea typeface="Calibri"/>
                <a:cs typeface="Calibri"/>
                <a:sym typeface="Calibri"/>
              </a:rPr>
              <a:t>Feature Map Depth Increases →  Spatial Size Decreases →</a:t>
            </a:r>
            <a:endParaRPr sz="1200" b="0" i="0" u="none" strike="noStrike" cap="none">
              <a:solidFill>
                <a:schemeClr val="dk1"/>
              </a:solidFill>
              <a:latin typeface="Calibri"/>
              <a:ea typeface="Calibri"/>
              <a:cs typeface="Calibri"/>
              <a:sym typeface="Calibri"/>
            </a:endParaRPr>
          </a:p>
        </p:txBody>
      </p:sp>
      <p:sp>
        <p:nvSpPr>
          <p:cNvPr id="1069" name="Google Shape;1069;p24"/>
          <p:cNvSpPr/>
          <p:nvPr/>
        </p:nvSpPr>
        <p:spPr>
          <a:xfrm>
            <a:off x="457200" y="3556370"/>
            <a:ext cx="2560200" cy="1097400"/>
          </a:xfrm>
          <a:prstGeom prst="rect">
            <a:avLst/>
          </a:prstGeom>
          <a:solidFill>
            <a:srgbClr val="DDE8F5"/>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0" name="Google Shape;1070;p24"/>
          <p:cNvSpPr/>
          <p:nvPr/>
        </p:nvSpPr>
        <p:spPr>
          <a:xfrm>
            <a:off x="457200" y="3556370"/>
            <a:ext cx="2560200" cy="549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1" name="Google Shape;1071;p24"/>
          <p:cNvSpPr/>
          <p:nvPr/>
        </p:nvSpPr>
        <p:spPr>
          <a:xfrm>
            <a:off x="457200" y="3647810"/>
            <a:ext cx="25602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Early Layers</a:t>
            </a:r>
            <a:endParaRPr sz="1300" b="0" i="0" u="none" strike="noStrike" cap="none">
              <a:solidFill>
                <a:schemeClr val="dk1"/>
              </a:solidFill>
              <a:latin typeface="Calibri"/>
              <a:ea typeface="Calibri"/>
              <a:cs typeface="Calibri"/>
              <a:sym typeface="Calibri"/>
            </a:endParaRPr>
          </a:p>
        </p:txBody>
      </p:sp>
      <p:sp>
        <p:nvSpPr>
          <p:cNvPr id="1072" name="Google Shape;1072;p24"/>
          <p:cNvSpPr/>
          <p:nvPr/>
        </p:nvSpPr>
        <p:spPr>
          <a:xfrm>
            <a:off x="457200" y="4013570"/>
            <a:ext cx="2560200" cy="594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1150"/>
              <a:buFont typeface="Calibri"/>
              <a:buNone/>
            </a:pPr>
            <a:r>
              <a:rPr lang="en" sz="1150" b="0" i="0" u="none" strike="noStrike" cap="none">
                <a:solidFill>
                  <a:srgbClr val="1A6080"/>
                </a:solidFill>
                <a:latin typeface="Calibri"/>
                <a:ea typeface="Calibri"/>
                <a:cs typeface="Calibri"/>
                <a:sym typeface="Calibri"/>
              </a:rPr>
              <a:t>Detect edges &amp; simple patterns</a:t>
            </a:r>
            <a:endParaRPr sz="1150" b="0" i="0" u="none" strike="noStrike" cap="none">
              <a:solidFill>
                <a:schemeClr val="dk1"/>
              </a:solidFill>
              <a:latin typeface="Calibri"/>
              <a:ea typeface="Calibri"/>
              <a:cs typeface="Calibri"/>
              <a:sym typeface="Calibri"/>
            </a:endParaRPr>
          </a:p>
        </p:txBody>
      </p:sp>
      <p:sp>
        <p:nvSpPr>
          <p:cNvPr id="1073" name="Google Shape;1073;p24"/>
          <p:cNvSpPr/>
          <p:nvPr/>
        </p:nvSpPr>
        <p:spPr>
          <a:xfrm>
            <a:off x="3291840" y="3556370"/>
            <a:ext cx="2560200" cy="1097400"/>
          </a:xfrm>
          <a:prstGeom prst="rect">
            <a:avLst/>
          </a:prstGeom>
          <a:solidFill>
            <a:srgbClr val="DDE8F5"/>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4" name="Google Shape;1074;p24"/>
          <p:cNvSpPr/>
          <p:nvPr/>
        </p:nvSpPr>
        <p:spPr>
          <a:xfrm>
            <a:off x="3291840" y="3556370"/>
            <a:ext cx="2560200" cy="549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5" name="Google Shape;1075;p24"/>
          <p:cNvSpPr/>
          <p:nvPr/>
        </p:nvSpPr>
        <p:spPr>
          <a:xfrm>
            <a:off x="3291840" y="3647810"/>
            <a:ext cx="25602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Mid Layers</a:t>
            </a:r>
            <a:endParaRPr sz="1300" b="0" i="0" u="none" strike="noStrike" cap="none">
              <a:solidFill>
                <a:schemeClr val="dk1"/>
              </a:solidFill>
              <a:latin typeface="Calibri"/>
              <a:ea typeface="Calibri"/>
              <a:cs typeface="Calibri"/>
              <a:sym typeface="Calibri"/>
            </a:endParaRPr>
          </a:p>
        </p:txBody>
      </p:sp>
      <p:sp>
        <p:nvSpPr>
          <p:cNvPr id="1076" name="Google Shape;1076;p24"/>
          <p:cNvSpPr/>
          <p:nvPr/>
        </p:nvSpPr>
        <p:spPr>
          <a:xfrm>
            <a:off x="3291840" y="4013570"/>
            <a:ext cx="2560200" cy="594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1150"/>
              <a:buFont typeface="Calibri"/>
              <a:buNone/>
            </a:pPr>
            <a:r>
              <a:rPr lang="en" sz="1150" b="0" i="0" u="none" strike="noStrike" cap="none">
                <a:solidFill>
                  <a:srgbClr val="1A6080"/>
                </a:solidFill>
                <a:latin typeface="Calibri"/>
                <a:ea typeface="Calibri"/>
                <a:cs typeface="Calibri"/>
                <a:sym typeface="Calibri"/>
              </a:rPr>
              <a:t>Textures, shapes, object parts</a:t>
            </a:r>
            <a:endParaRPr sz="1150" b="0" i="0" u="none" strike="noStrike" cap="none">
              <a:solidFill>
                <a:schemeClr val="dk1"/>
              </a:solidFill>
              <a:latin typeface="Calibri"/>
              <a:ea typeface="Calibri"/>
              <a:cs typeface="Calibri"/>
              <a:sym typeface="Calibri"/>
            </a:endParaRPr>
          </a:p>
        </p:txBody>
      </p:sp>
      <p:sp>
        <p:nvSpPr>
          <p:cNvPr id="1077" name="Google Shape;1077;p24"/>
          <p:cNvSpPr/>
          <p:nvPr/>
        </p:nvSpPr>
        <p:spPr>
          <a:xfrm>
            <a:off x="6126480" y="3556370"/>
            <a:ext cx="2560200" cy="1097400"/>
          </a:xfrm>
          <a:prstGeom prst="rect">
            <a:avLst/>
          </a:prstGeom>
          <a:solidFill>
            <a:srgbClr val="DDE8F5"/>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8" name="Google Shape;1078;p24"/>
          <p:cNvSpPr/>
          <p:nvPr/>
        </p:nvSpPr>
        <p:spPr>
          <a:xfrm>
            <a:off x="6126480" y="3556370"/>
            <a:ext cx="2560200" cy="549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9" name="Google Shape;1079;p24"/>
          <p:cNvSpPr/>
          <p:nvPr/>
        </p:nvSpPr>
        <p:spPr>
          <a:xfrm>
            <a:off x="6126480" y="3647810"/>
            <a:ext cx="25602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Deep Layers</a:t>
            </a:r>
            <a:endParaRPr sz="1300" b="0" i="0" u="none" strike="noStrike" cap="none">
              <a:solidFill>
                <a:schemeClr val="dk1"/>
              </a:solidFill>
              <a:latin typeface="Calibri"/>
              <a:ea typeface="Calibri"/>
              <a:cs typeface="Calibri"/>
              <a:sym typeface="Calibri"/>
            </a:endParaRPr>
          </a:p>
        </p:txBody>
      </p:sp>
      <p:sp>
        <p:nvSpPr>
          <p:cNvPr id="1080" name="Google Shape;1080;p24"/>
          <p:cNvSpPr/>
          <p:nvPr/>
        </p:nvSpPr>
        <p:spPr>
          <a:xfrm>
            <a:off x="6126480" y="4013570"/>
            <a:ext cx="2560200" cy="594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1150"/>
              <a:buFont typeface="Calibri"/>
              <a:buNone/>
            </a:pPr>
            <a:r>
              <a:rPr lang="en" sz="1150" b="0" i="0" u="none" strike="noStrike" cap="none">
                <a:solidFill>
                  <a:srgbClr val="1A6080"/>
                </a:solidFill>
                <a:latin typeface="Calibri"/>
                <a:ea typeface="Calibri"/>
                <a:cs typeface="Calibri"/>
                <a:sym typeface="Calibri"/>
              </a:rPr>
              <a:t>High-level semantic concepts</a:t>
            </a:r>
            <a:endParaRPr sz="1150" b="0" i="0" u="none" strike="noStrike" cap="none">
              <a:solidFill>
                <a:schemeClr val="dk1"/>
              </a:solidFill>
              <a:latin typeface="Calibri"/>
              <a:ea typeface="Calibri"/>
              <a:cs typeface="Calibri"/>
              <a:sym typeface="Calibri"/>
            </a:endParaRPr>
          </a:p>
        </p:txBody>
      </p:sp>
      <p:sp>
        <p:nvSpPr>
          <p:cNvPr id="1081" name="Google Shape;1081;p24"/>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85"/>
        <p:cNvGrpSpPr/>
        <p:nvPr/>
      </p:nvGrpSpPr>
      <p:grpSpPr>
        <a:xfrm>
          <a:off x="0" y="0"/>
          <a:ext cx="0" cy="0"/>
          <a:chOff x="0" y="0"/>
          <a:chExt cx="0" cy="0"/>
        </a:xfrm>
      </p:grpSpPr>
      <p:pic>
        <p:nvPicPr>
          <p:cNvPr id="1086" name="Google Shape;1086;p25"/>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1087" name="Google Shape;1087;p25"/>
          <p:cNvSpPr txBox="1"/>
          <p:nvPr/>
        </p:nvSpPr>
        <p:spPr>
          <a:xfrm>
            <a:off x="1052950" y="98875"/>
            <a:ext cx="6618600" cy="7683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600"/>
              <a:buFont typeface="Arial"/>
              <a:buNone/>
            </a:pPr>
            <a:r>
              <a:rPr lang="en" sz="2600" b="1" i="0" u="none" strike="noStrike" cap="none">
                <a:solidFill>
                  <a:srgbClr val="0D1B2A"/>
                </a:solidFill>
                <a:latin typeface="Calibri"/>
                <a:ea typeface="Calibri"/>
                <a:cs typeface="Calibri"/>
                <a:sym typeface="Calibri"/>
              </a:rPr>
              <a:t>Key CNN Components</a:t>
            </a:r>
            <a:endParaRPr sz="2600" b="1" i="0" u="none" strike="noStrike" cap="none">
              <a:solidFill>
                <a:srgbClr val="0D1B2A"/>
              </a:solidFill>
              <a:latin typeface="Calibri"/>
              <a:ea typeface="Calibri"/>
              <a:cs typeface="Calibri"/>
              <a:sym typeface="Calibri"/>
            </a:endParaRPr>
          </a:p>
        </p:txBody>
      </p:sp>
      <p:sp>
        <p:nvSpPr>
          <p:cNvPr id="1088" name="Google Shape;1088;p25"/>
          <p:cNvSpPr/>
          <p:nvPr/>
        </p:nvSpPr>
        <p:spPr>
          <a:xfrm>
            <a:off x="274320" y="1097280"/>
            <a:ext cx="4206300" cy="1664100"/>
          </a:xfrm>
          <a:prstGeom prst="rect">
            <a:avLst/>
          </a:prstGeom>
          <a:solidFill>
            <a:schemeClr val="lt1"/>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9" name="Google Shape;1089;p25"/>
          <p:cNvSpPr/>
          <p:nvPr/>
        </p:nvSpPr>
        <p:spPr>
          <a:xfrm>
            <a:off x="274320" y="1097280"/>
            <a:ext cx="4206300" cy="4116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0" name="Google Shape;1090;p25"/>
          <p:cNvSpPr/>
          <p:nvPr/>
        </p:nvSpPr>
        <p:spPr>
          <a:xfrm>
            <a:off x="365760" y="1097280"/>
            <a:ext cx="40233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2E42"/>
              </a:buClr>
              <a:buSzPts val="1350"/>
              <a:buFont typeface="Calibri"/>
              <a:buNone/>
            </a:pPr>
            <a:r>
              <a:rPr lang="en" sz="1350" b="1" i="0" u="none" strike="noStrike" cap="none">
                <a:solidFill>
                  <a:schemeClr val="dk1"/>
                </a:solidFill>
                <a:latin typeface="Calibri"/>
                <a:ea typeface="Calibri"/>
                <a:cs typeface="Calibri"/>
                <a:sym typeface="Calibri"/>
              </a:rPr>
              <a:t>⊞  Convolutional Layer</a:t>
            </a:r>
            <a:endParaRPr sz="1350" b="0" i="0" u="none" strike="noStrike" cap="none">
              <a:solidFill>
                <a:schemeClr val="dk1"/>
              </a:solidFill>
              <a:latin typeface="Calibri"/>
              <a:ea typeface="Calibri"/>
              <a:cs typeface="Calibri"/>
              <a:sym typeface="Calibri"/>
            </a:endParaRPr>
          </a:p>
        </p:txBody>
      </p:sp>
      <p:sp>
        <p:nvSpPr>
          <p:cNvPr id="1091" name="Google Shape;1091;p25"/>
          <p:cNvSpPr/>
          <p:nvPr/>
        </p:nvSpPr>
        <p:spPr>
          <a:xfrm>
            <a:off x="4709160" y="1097280"/>
            <a:ext cx="4206300" cy="1664100"/>
          </a:xfrm>
          <a:prstGeom prst="rect">
            <a:avLst/>
          </a:prstGeom>
          <a:solidFill>
            <a:schemeClr val="lt1"/>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2" name="Google Shape;1092;p25"/>
          <p:cNvSpPr/>
          <p:nvPr/>
        </p:nvSpPr>
        <p:spPr>
          <a:xfrm>
            <a:off x="4709160" y="1097280"/>
            <a:ext cx="4206300" cy="411600"/>
          </a:xfrm>
          <a:prstGeom prst="rect">
            <a:avLst/>
          </a:prstGeom>
          <a:solidFill>
            <a:srgbClr val="E67E2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3" name="Google Shape;1093;p25"/>
          <p:cNvSpPr/>
          <p:nvPr/>
        </p:nvSpPr>
        <p:spPr>
          <a:xfrm>
            <a:off x="4800600" y="1097280"/>
            <a:ext cx="40233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2E42"/>
              </a:buClr>
              <a:buSzPts val="1350"/>
              <a:buFont typeface="Calibri"/>
              <a:buNone/>
            </a:pPr>
            <a:r>
              <a:rPr lang="en" sz="1350" b="1" i="0" u="none" strike="noStrike" cap="none">
                <a:solidFill>
                  <a:schemeClr val="dk1"/>
                </a:solidFill>
                <a:latin typeface="Calibri"/>
                <a:ea typeface="Calibri"/>
                <a:cs typeface="Calibri"/>
                <a:sym typeface="Calibri"/>
              </a:rPr>
              <a:t>⚡  Activation (ReLU)</a:t>
            </a:r>
            <a:endParaRPr sz="1350" b="0" i="0" u="none" strike="noStrike" cap="none">
              <a:solidFill>
                <a:schemeClr val="dk1"/>
              </a:solidFill>
              <a:latin typeface="Calibri"/>
              <a:ea typeface="Calibri"/>
              <a:cs typeface="Calibri"/>
              <a:sym typeface="Calibri"/>
            </a:endParaRPr>
          </a:p>
        </p:txBody>
      </p:sp>
      <p:sp>
        <p:nvSpPr>
          <p:cNvPr id="1094" name="Google Shape;1094;p25"/>
          <p:cNvSpPr/>
          <p:nvPr/>
        </p:nvSpPr>
        <p:spPr>
          <a:xfrm>
            <a:off x="274320" y="2926080"/>
            <a:ext cx="4206300" cy="1664100"/>
          </a:xfrm>
          <a:prstGeom prst="rect">
            <a:avLst/>
          </a:prstGeom>
          <a:solidFill>
            <a:schemeClr val="lt1"/>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5" name="Google Shape;1095;p25"/>
          <p:cNvSpPr/>
          <p:nvPr/>
        </p:nvSpPr>
        <p:spPr>
          <a:xfrm>
            <a:off x="274320" y="2926080"/>
            <a:ext cx="4206300" cy="411600"/>
          </a:xfrm>
          <a:prstGeom prst="rect">
            <a:avLst/>
          </a:prstGeom>
          <a:solidFill>
            <a:srgbClr val="8E44A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6" name="Google Shape;1096;p25"/>
          <p:cNvSpPr/>
          <p:nvPr/>
        </p:nvSpPr>
        <p:spPr>
          <a:xfrm>
            <a:off x="365760" y="2926080"/>
            <a:ext cx="40233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2E42"/>
              </a:buClr>
              <a:buSzPts val="1350"/>
              <a:buFont typeface="Calibri"/>
              <a:buNone/>
            </a:pPr>
            <a:r>
              <a:rPr lang="en" sz="1350" b="1" i="0" u="none" strike="noStrike" cap="none">
                <a:solidFill>
                  <a:schemeClr val="dk1"/>
                </a:solidFill>
                <a:latin typeface="Calibri"/>
                <a:ea typeface="Calibri"/>
                <a:cs typeface="Calibri"/>
                <a:sym typeface="Calibri"/>
              </a:rPr>
              <a:t>⊟  Pooling Layer</a:t>
            </a:r>
            <a:endParaRPr sz="1350" b="0" i="0" u="none" strike="noStrike" cap="none">
              <a:solidFill>
                <a:schemeClr val="dk1"/>
              </a:solidFill>
              <a:latin typeface="Calibri"/>
              <a:ea typeface="Calibri"/>
              <a:cs typeface="Calibri"/>
              <a:sym typeface="Calibri"/>
            </a:endParaRPr>
          </a:p>
        </p:txBody>
      </p:sp>
      <p:sp>
        <p:nvSpPr>
          <p:cNvPr id="1097" name="Google Shape;1097;p25"/>
          <p:cNvSpPr/>
          <p:nvPr/>
        </p:nvSpPr>
        <p:spPr>
          <a:xfrm>
            <a:off x="4709160" y="2926080"/>
            <a:ext cx="4206300" cy="1664100"/>
          </a:xfrm>
          <a:prstGeom prst="rect">
            <a:avLst/>
          </a:prstGeom>
          <a:solidFill>
            <a:schemeClr val="lt1"/>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8" name="Google Shape;1098;p25"/>
          <p:cNvSpPr/>
          <p:nvPr/>
        </p:nvSpPr>
        <p:spPr>
          <a:xfrm>
            <a:off x="4709160" y="2926080"/>
            <a:ext cx="4206300" cy="411600"/>
          </a:xfrm>
          <a:prstGeom prst="rect">
            <a:avLst/>
          </a:prstGeom>
          <a:solidFill>
            <a:srgbClr val="C0392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9" name="Google Shape;1099;p25"/>
          <p:cNvSpPr/>
          <p:nvPr/>
        </p:nvSpPr>
        <p:spPr>
          <a:xfrm>
            <a:off x="4800600" y="2926080"/>
            <a:ext cx="40233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2E42"/>
              </a:buClr>
              <a:buSzPts val="1350"/>
              <a:buFont typeface="Calibri"/>
              <a:buNone/>
            </a:pPr>
            <a:r>
              <a:rPr lang="en" sz="1350" b="1" i="0" u="none" strike="noStrike" cap="none">
                <a:solidFill>
                  <a:schemeClr val="dk1"/>
                </a:solidFill>
                <a:latin typeface="Calibri"/>
                <a:ea typeface="Calibri"/>
                <a:cs typeface="Calibri"/>
                <a:sym typeface="Calibri"/>
              </a:rPr>
              <a:t>◎  Fully Connected Layer</a:t>
            </a:r>
            <a:endParaRPr sz="1350" b="0" i="0" u="none" strike="noStrike" cap="none">
              <a:solidFill>
                <a:schemeClr val="dk1"/>
              </a:solidFill>
              <a:latin typeface="Calibri"/>
              <a:ea typeface="Calibri"/>
              <a:cs typeface="Calibri"/>
              <a:sym typeface="Calibri"/>
            </a:endParaRPr>
          </a:p>
        </p:txBody>
      </p:sp>
      <p:sp>
        <p:nvSpPr>
          <p:cNvPr id="1100" name="Google Shape;1100;p25"/>
          <p:cNvSpPr/>
          <p:nvPr/>
        </p:nvSpPr>
        <p:spPr>
          <a:xfrm>
            <a:off x="384048" y="1554480"/>
            <a:ext cx="3931800" cy="1170300"/>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Clr>
                <a:schemeClr val="dk1"/>
              </a:buClr>
              <a:buSzPts val="1100"/>
              <a:buFont typeface="Calibri"/>
              <a:buChar char="•"/>
            </a:pPr>
            <a:r>
              <a:rPr lang="en" sz="1100" b="0" i="0" u="none" strike="noStrike" cap="none">
                <a:solidFill>
                  <a:schemeClr val="dk1"/>
                </a:solidFill>
                <a:latin typeface="Calibri"/>
                <a:ea typeface="Calibri"/>
                <a:cs typeface="Calibri"/>
                <a:sym typeface="Calibri"/>
              </a:rPr>
              <a:t>Applies learnable filters (kernels) via dot product</a:t>
            </a:r>
            <a:endParaRPr sz="1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100"/>
              <a:buFont typeface="Calibri"/>
              <a:buChar char="•"/>
            </a:pPr>
            <a:r>
              <a:rPr lang="en" sz="1100" b="0" i="0" u="none" strike="noStrike" cap="none">
                <a:solidFill>
                  <a:schemeClr val="dk1"/>
                </a:solidFill>
                <a:latin typeface="Calibri"/>
                <a:ea typeface="Calibri"/>
                <a:cs typeface="Calibri"/>
                <a:sym typeface="Calibri"/>
              </a:rPr>
              <a:t>Produces feature maps capturing spatial patterns</a:t>
            </a:r>
            <a:endParaRPr sz="1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100"/>
              <a:buFont typeface="Calibri"/>
              <a:buChar char="•"/>
            </a:pPr>
            <a:r>
              <a:rPr lang="en" sz="1100" b="0" i="0" u="none" strike="noStrike" cap="none">
                <a:solidFill>
                  <a:schemeClr val="dk1"/>
                </a:solidFill>
                <a:latin typeface="Calibri"/>
                <a:ea typeface="Calibri"/>
                <a:cs typeface="Calibri"/>
                <a:sym typeface="Calibri"/>
              </a:rPr>
              <a:t>Parameters: kernel size, stride, padding, # filters</a:t>
            </a:r>
            <a:endParaRPr sz="1100" b="0" i="0" u="none" strike="noStrike" cap="none">
              <a:solidFill>
                <a:schemeClr val="dk1"/>
              </a:solidFill>
              <a:latin typeface="Calibri"/>
              <a:ea typeface="Calibri"/>
              <a:cs typeface="Calibri"/>
              <a:sym typeface="Calibri"/>
            </a:endParaRPr>
          </a:p>
        </p:txBody>
      </p:sp>
      <p:sp>
        <p:nvSpPr>
          <p:cNvPr id="1101" name="Google Shape;1101;p25"/>
          <p:cNvSpPr/>
          <p:nvPr/>
        </p:nvSpPr>
        <p:spPr>
          <a:xfrm>
            <a:off x="4818888" y="1554480"/>
            <a:ext cx="3931800" cy="1170300"/>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Clr>
                <a:schemeClr val="dk1"/>
              </a:buClr>
              <a:buSzPts val="1100"/>
              <a:buFont typeface="Calibri"/>
              <a:buChar char="•"/>
            </a:pPr>
            <a:r>
              <a:rPr lang="en" sz="1100" b="0" i="0" u="none" strike="noStrike" cap="none">
                <a:solidFill>
                  <a:schemeClr val="dk1"/>
                </a:solidFill>
                <a:latin typeface="Calibri"/>
                <a:ea typeface="Calibri"/>
                <a:cs typeface="Calibri"/>
                <a:sym typeface="Calibri"/>
              </a:rPr>
              <a:t>Introduces non-linearity: f(x) = max(0, x)</a:t>
            </a:r>
            <a:endParaRPr sz="1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100"/>
              <a:buFont typeface="Calibri"/>
              <a:buChar char="•"/>
            </a:pPr>
            <a:r>
              <a:rPr lang="en" sz="1100" b="0" i="0" u="none" strike="noStrike" cap="none">
                <a:solidFill>
                  <a:schemeClr val="dk1"/>
                </a:solidFill>
                <a:latin typeface="Calibri"/>
                <a:ea typeface="Calibri"/>
                <a:cs typeface="Calibri"/>
                <a:sym typeface="Calibri"/>
              </a:rPr>
              <a:t>Prevents vanishing gradient problem</a:t>
            </a:r>
            <a:endParaRPr sz="1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100"/>
              <a:buFont typeface="Calibri"/>
              <a:buChar char="•"/>
            </a:pPr>
            <a:r>
              <a:rPr lang="en" sz="1100" b="0" i="0" u="none" strike="noStrike" cap="none">
                <a:solidFill>
                  <a:schemeClr val="dk1"/>
                </a:solidFill>
                <a:latin typeface="Calibri"/>
                <a:ea typeface="Calibri"/>
                <a:cs typeface="Calibri"/>
                <a:sym typeface="Calibri"/>
              </a:rPr>
              <a:t>Variants: Leaky ReLU, ELU, GELU</a:t>
            </a:r>
            <a:endParaRPr sz="1100" b="0" i="0" u="none" strike="noStrike" cap="none">
              <a:solidFill>
                <a:schemeClr val="dk1"/>
              </a:solidFill>
              <a:latin typeface="Calibri"/>
              <a:ea typeface="Calibri"/>
              <a:cs typeface="Calibri"/>
              <a:sym typeface="Calibri"/>
            </a:endParaRPr>
          </a:p>
        </p:txBody>
      </p:sp>
      <p:sp>
        <p:nvSpPr>
          <p:cNvPr id="1102" name="Google Shape;1102;p25"/>
          <p:cNvSpPr/>
          <p:nvPr/>
        </p:nvSpPr>
        <p:spPr>
          <a:xfrm>
            <a:off x="384048" y="3383280"/>
            <a:ext cx="3931800" cy="1170300"/>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Clr>
                <a:schemeClr val="dk1"/>
              </a:buClr>
              <a:buSzPts val="1100"/>
              <a:buFont typeface="Calibri"/>
              <a:buChar char="•"/>
            </a:pPr>
            <a:r>
              <a:rPr lang="en" sz="1100" b="0" i="0" u="none" strike="noStrike" cap="none">
                <a:solidFill>
                  <a:schemeClr val="dk1"/>
                </a:solidFill>
                <a:latin typeface="Calibri"/>
                <a:ea typeface="Calibri"/>
                <a:cs typeface="Calibri"/>
                <a:sym typeface="Calibri"/>
              </a:rPr>
              <a:t>Reduces spatial dimensions (downsampling)</a:t>
            </a:r>
            <a:endParaRPr sz="1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100"/>
              <a:buFont typeface="Calibri"/>
              <a:buChar char="•"/>
            </a:pPr>
            <a:r>
              <a:rPr lang="en" sz="1100" b="0" i="0" u="none" strike="noStrike" cap="none">
                <a:solidFill>
                  <a:schemeClr val="dk1"/>
                </a:solidFill>
                <a:latin typeface="Calibri"/>
                <a:ea typeface="Calibri"/>
                <a:cs typeface="Calibri"/>
                <a:sym typeface="Calibri"/>
              </a:rPr>
              <a:t>Max pooling takes the maximum value in region</a:t>
            </a:r>
            <a:endParaRPr sz="1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100"/>
              <a:buFont typeface="Calibri"/>
              <a:buChar char="•"/>
            </a:pPr>
            <a:r>
              <a:rPr lang="en" sz="1100" b="0" i="0" u="none" strike="noStrike" cap="none">
                <a:solidFill>
                  <a:schemeClr val="dk1"/>
                </a:solidFill>
                <a:latin typeface="Calibri"/>
                <a:ea typeface="Calibri"/>
                <a:cs typeface="Calibri"/>
                <a:sym typeface="Calibri"/>
              </a:rPr>
              <a:t>Provides translation invariance, reduces parameters</a:t>
            </a:r>
            <a:endParaRPr sz="1100" b="0" i="0" u="none" strike="noStrike" cap="none">
              <a:solidFill>
                <a:schemeClr val="dk1"/>
              </a:solidFill>
              <a:latin typeface="Calibri"/>
              <a:ea typeface="Calibri"/>
              <a:cs typeface="Calibri"/>
              <a:sym typeface="Calibri"/>
            </a:endParaRPr>
          </a:p>
        </p:txBody>
      </p:sp>
      <p:sp>
        <p:nvSpPr>
          <p:cNvPr id="1103" name="Google Shape;1103;p25"/>
          <p:cNvSpPr/>
          <p:nvPr/>
        </p:nvSpPr>
        <p:spPr>
          <a:xfrm>
            <a:off x="4818888" y="3383280"/>
            <a:ext cx="3931800" cy="1170300"/>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Clr>
                <a:schemeClr val="dk1"/>
              </a:buClr>
              <a:buSzPts val="1100"/>
              <a:buFont typeface="Calibri"/>
              <a:buChar char="•"/>
            </a:pPr>
            <a:r>
              <a:rPr lang="en" sz="1100" b="0" i="0" u="none" strike="noStrike" cap="none">
                <a:solidFill>
                  <a:schemeClr val="dk1"/>
                </a:solidFill>
                <a:latin typeface="Calibri"/>
                <a:ea typeface="Calibri"/>
                <a:cs typeface="Calibri"/>
                <a:sym typeface="Calibri"/>
              </a:rPr>
              <a:t>Combines all spatial features into a vector</a:t>
            </a:r>
            <a:endParaRPr sz="1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100"/>
              <a:buFont typeface="Calibri"/>
              <a:buChar char="•"/>
            </a:pPr>
            <a:r>
              <a:rPr lang="en" sz="1100" b="0" i="0" u="none" strike="noStrike" cap="none">
                <a:solidFill>
                  <a:schemeClr val="dk1"/>
                </a:solidFill>
                <a:latin typeface="Calibri"/>
                <a:ea typeface="Calibri"/>
                <a:cs typeface="Calibri"/>
                <a:sym typeface="Calibri"/>
              </a:rPr>
              <a:t>Performs final classification/regression</a:t>
            </a:r>
            <a:endParaRPr sz="11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1100"/>
              <a:buFont typeface="Calibri"/>
              <a:buChar char="•"/>
            </a:pPr>
            <a:r>
              <a:rPr lang="en" sz="1100" b="0" i="0" u="none" strike="noStrike" cap="none">
                <a:solidFill>
                  <a:schemeClr val="dk1"/>
                </a:solidFill>
                <a:latin typeface="Calibri"/>
                <a:ea typeface="Calibri"/>
                <a:cs typeface="Calibri"/>
                <a:sym typeface="Calibri"/>
              </a:rPr>
              <a:t>Often uses Dropout for regularization</a:t>
            </a:r>
            <a:endParaRPr sz="1100" b="0" i="0" u="none" strike="noStrike" cap="none">
              <a:solidFill>
                <a:schemeClr val="dk1"/>
              </a:solidFill>
              <a:latin typeface="Calibri"/>
              <a:ea typeface="Calibri"/>
              <a:cs typeface="Calibri"/>
              <a:sym typeface="Calibri"/>
            </a:endParaRPr>
          </a:p>
        </p:txBody>
      </p:sp>
      <p:sp>
        <p:nvSpPr>
          <p:cNvPr id="1104" name="Google Shape;1104;p25"/>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08"/>
        <p:cNvGrpSpPr/>
        <p:nvPr/>
      </p:nvGrpSpPr>
      <p:grpSpPr>
        <a:xfrm>
          <a:off x="0" y="0"/>
          <a:ext cx="0" cy="0"/>
          <a:chOff x="0" y="0"/>
          <a:chExt cx="0" cy="0"/>
        </a:xfrm>
      </p:grpSpPr>
      <p:pic>
        <p:nvPicPr>
          <p:cNvPr id="1109" name="Google Shape;1109;p26"/>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1110" name="Google Shape;1110;p26"/>
          <p:cNvSpPr txBox="1"/>
          <p:nvPr/>
        </p:nvSpPr>
        <p:spPr>
          <a:xfrm>
            <a:off x="1052950" y="98875"/>
            <a:ext cx="6618600" cy="7683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600"/>
              <a:buFont typeface="Arial"/>
              <a:buNone/>
            </a:pPr>
            <a:r>
              <a:rPr lang="en" sz="2600" b="1" i="0" u="none" strike="noStrike" cap="none">
                <a:solidFill>
                  <a:srgbClr val="0D1B2A"/>
                </a:solidFill>
                <a:latin typeface="Calibri"/>
                <a:ea typeface="Calibri"/>
                <a:cs typeface="Calibri"/>
                <a:sym typeface="Calibri"/>
              </a:rPr>
              <a:t>Convolution: Matrix Operation</a:t>
            </a:r>
            <a:endParaRPr sz="2600" b="1" i="0" u="none" strike="noStrike" cap="none">
              <a:solidFill>
                <a:srgbClr val="0D1B2A"/>
              </a:solidFill>
              <a:latin typeface="Calibri"/>
              <a:ea typeface="Calibri"/>
              <a:cs typeface="Calibri"/>
              <a:sym typeface="Calibri"/>
            </a:endParaRPr>
          </a:p>
        </p:txBody>
      </p:sp>
      <p:sp>
        <p:nvSpPr>
          <p:cNvPr id="1111" name="Google Shape;1111;p26"/>
          <p:cNvSpPr/>
          <p:nvPr/>
        </p:nvSpPr>
        <p:spPr>
          <a:xfrm>
            <a:off x="320040" y="1005840"/>
            <a:ext cx="29262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6080"/>
              </a:buClr>
              <a:buSzPts val="1100"/>
              <a:buFont typeface="Calibri"/>
              <a:buNone/>
            </a:pPr>
            <a:r>
              <a:rPr lang="en" sz="1100" b="0" i="0" u="none" strike="noStrike" cap="none">
                <a:solidFill>
                  <a:srgbClr val="1A6080"/>
                </a:solidFill>
                <a:latin typeface="Calibri"/>
                <a:ea typeface="Calibri"/>
                <a:cs typeface="Calibri"/>
                <a:sym typeface="Calibri"/>
              </a:rPr>
              <a:t>Input image  (5×5)</a:t>
            </a:r>
            <a:endParaRPr sz="1100" b="0" i="0" u="none" strike="noStrike" cap="none">
              <a:solidFill>
                <a:schemeClr val="dk1"/>
              </a:solidFill>
              <a:latin typeface="Calibri"/>
              <a:ea typeface="Calibri"/>
              <a:cs typeface="Calibri"/>
              <a:sym typeface="Calibri"/>
            </a:endParaRPr>
          </a:p>
        </p:txBody>
      </p:sp>
      <p:sp>
        <p:nvSpPr>
          <p:cNvPr id="1112" name="Google Shape;1112;p26"/>
          <p:cNvSpPr/>
          <p:nvPr/>
        </p:nvSpPr>
        <p:spPr>
          <a:xfrm>
            <a:off x="4069080" y="1005840"/>
            <a:ext cx="21945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2C69B"/>
              </a:buClr>
              <a:buSzPts val="1100"/>
              <a:buFont typeface="Calibri"/>
              <a:buNone/>
            </a:pPr>
            <a:r>
              <a:rPr lang="en" sz="1100" b="0" i="0" u="none" strike="noStrike" cap="none">
                <a:solidFill>
                  <a:srgbClr val="52C69B"/>
                </a:solidFill>
                <a:latin typeface="Calibri"/>
                <a:ea typeface="Calibri"/>
                <a:cs typeface="Calibri"/>
                <a:sym typeface="Calibri"/>
              </a:rPr>
              <a:t>Filter / kernel  (3×3)</a:t>
            </a:r>
            <a:endParaRPr sz="1100" b="0" i="0" u="none" strike="noStrike" cap="none">
              <a:solidFill>
                <a:schemeClr val="dk1"/>
              </a:solidFill>
              <a:latin typeface="Calibri"/>
              <a:ea typeface="Calibri"/>
              <a:cs typeface="Calibri"/>
              <a:sym typeface="Calibri"/>
            </a:endParaRPr>
          </a:p>
        </p:txBody>
      </p:sp>
      <p:sp>
        <p:nvSpPr>
          <p:cNvPr id="1113" name="Google Shape;1113;p26"/>
          <p:cNvSpPr/>
          <p:nvPr/>
        </p:nvSpPr>
        <p:spPr>
          <a:xfrm>
            <a:off x="6720840" y="1005840"/>
            <a:ext cx="22860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9E7D"/>
              </a:buClr>
              <a:buSzPts val="1100"/>
              <a:buFont typeface="Calibri"/>
              <a:buNone/>
            </a:pPr>
            <a:r>
              <a:rPr lang="en" sz="1100" b="0" i="0" u="none" strike="noStrike" cap="none">
                <a:solidFill>
                  <a:srgbClr val="FF9E7D"/>
                </a:solidFill>
                <a:latin typeface="Calibri"/>
                <a:ea typeface="Calibri"/>
                <a:cs typeface="Calibri"/>
                <a:sym typeface="Calibri"/>
              </a:rPr>
              <a:t>Feature map  (3×3)</a:t>
            </a:r>
            <a:endParaRPr sz="1100" b="0" i="0" u="none" strike="noStrike" cap="none">
              <a:solidFill>
                <a:schemeClr val="dk1"/>
              </a:solidFill>
              <a:latin typeface="Calibri"/>
              <a:ea typeface="Calibri"/>
              <a:cs typeface="Calibri"/>
              <a:sym typeface="Calibri"/>
            </a:endParaRPr>
          </a:p>
        </p:txBody>
      </p:sp>
      <p:sp>
        <p:nvSpPr>
          <p:cNvPr id="1114" name="Google Shape;1114;p26"/>
          <p:cNvSpPr/>
          <p:nvPr/>
        </p:nvSpPr>
        <p:spPr>
          <a:xfrm>
            <a:off x="320040" y="1280160"/>
            <a:ext cx="457200" cy="457200"/>
          </a:xfrm>
          <a:prstGeom prst="rect">
            <a:avLst/>
          </a:prstGeom>
          <a:solidFill>
            <a:srgbClr val="C8E8F8"/>
          </a:solidFill>
          <a:ln w="1905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5" name="Google Shape;1115;p26"/>
          <p:cNvSpPr/>
          <p:nvPr/>
        </p:nvSpPr>
        <p:spPr>
          <a:xfrm>
            <a:off x="320040" y="1280160"/>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1</a:t>
            </a:r>
            <a:endParaRPr sz="1300" b="0" i="0" u="none" strike="noStrike" cap="none">
              <a:solidFill>
                <a:schemeClr val="dk1"/>
              </a:solidFill>
              <a:latin typeface="Calibri"/>
              <a:ea typeface="Calibri"/>
              <a:cs typeface="Calibri"/>
              <a:sym typeface="Calibri"/>
            </a:endParaRPr>
          </a:p>
        </p:txBody>
      </p:sp>
      <p:sp>
        <p:nvSpPr>
          <p:cNvPr id="1116" name="Google Shape;1116;p26"/>
          <p:cNvSpPr/>
          <p:nvPr/>
        </p:nvSpPr>
        <p:spPr>
          <a:xfrm>
            <a:off x="813816" y="1280160"/>
            <a:ext cx="457200" cy="457200"/>
          </a:xfrm>
          <a:prstGeom prst="rect">
            <a:avLst/>
          </a:prstGeom>
          <a:solidFill>
            <a:srgbClr val="C8E8F8"/>
          </a:solidFill>
          <a:ln w="1905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7" name="Google Shape;1117;p26"/>
          <p:cNvSpPr/>
          <p:nvPr/>
        </p:nvSpPr>
        <p:spPr>
          <a:xfrm>
            <a:off x="813816" y="1280160"/>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2</a:t>
            </a:r>
            <a:endParaRPr sz="1300" b="0" i="0" u="none" strike="noStrike" cap="none">
              <a:solidFill>
                <a:schemeClr val="dk1"/>
              </a:solidFill>
              <a:latin typeface="Calibri"/>
              <a:ea typeface="Calibri"/>
              <a:cs typeface="Calibri"/>
              <a:sym typeface="Calibri"/>
            </a:endParaRPr>
          </a:p>
        </p:txBody>
      </p:sp>
      <p:sp>
        <p:nvSpPr>
          <p:cNvPr id="1118" name="Google Shape;1118;p26"/>
          <p:cNvSpPr/>
          <p:nvPr/>
        </p:nvSpPr>
        <p:spPr>
          <a:xfrm>
            <a:off x="1307592" y="1280160"/>
            <a:ext cx="457200" cy="457200"/>
          </a:xfrm>
          <a:prstGeom prst="rect">
            <a:avLst/>
          </a:prstGeom>
          <a:solidFill>
            <a:srgbClr val="C8E8F8"/>
          </a:solidFill>
          <a:ln w="1905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9" name="Google Shape;1119;p26"/>
          <p:cNvSpPr/>
          <p:nvPr/>
        </p:nvSpPr>
        <p:spPr>
          <a:xfrm>
            <a:off x="1307592" y="1280160"/>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3</a:t>
            </a:r>
            <a:endParaRPr sz="1300" b="0" i="0" u="none" strike="noStrike" cap="none">
              <a:solidFill>
                <a:schemeClr val="dk1"/>
              </a:solidFill>
              <a:latin typeface="Calibri"/>
              <a:ea typeface="Calibri"/>
              <a:cs typeface="Calibri"/>
              <a:sym typeface="Calibri"/>
            </a:endParaRPr>
          </a:p>
        </p:txBody>
      </p:sp>
      <p:sp>
        <p:nvSpPr>
          <p:cNvPr id="1120" name="Google Shape;1120;p26"/>
          <p:cNvSpPr/>
          <p:nvPr/>
        </p:nvSpPr>
        <p:spPr>
          <a:xfrm>
            <a:off x="1801368" y="1280160"/>
            <a:ext cx="457200" cy="457200"/>
          </a:xfrm>
          <a:prstGeom prst="rect">
            <a:avLst/>
          </a:prstGeom>
          <a:solidFill>
            <a:srgbClr val="EAF1FB"/>
          </a:solidFill>
          <a:ln w="9525" cap="flat" cmpd="sng">
            <a:solidFill>
              <a:srgbClr val="1E3A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1" name="Google Shape;1121;p26"/>
          <p:cNvSpPr/>
          <p:nvPr/>
        </p:nvSpPr>
        <p:spPr>
          <a:xfrm>
            <a:off x="1801368" y="1280160"/>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A7890"/>
              </a:buClr>
              <a:buSzPts val="1300"/>
              <a:buFont typeface="Calibri"/>
              <a:buNone/>
            </a:pPr>
            <a:r>
              <a:rPr lang="en" sz="1300" b="0" i="0" u="none" strike="noStrike" cap="none">
                <a:solidFill>
                  <a:srgbClr val="4A7890"/>
                </a:solidFill>
                <a:latin typeface="Calibri"/>
                <a:ea typeface="Calibri"/>
                <a:cs typeface="Calibri"/>
                <a:sym typeface="Calibri"/>
              </a:rPr>
              <a:t>0</a:t>
            </a:r>
            <a:endParaRPr sz="1300" b="0" i="0" u="none" strike="noStrike" cap="none">
              <a:solidFill>
                <a:schemeClr val="dk1"/>
              </a:solidFill>
              <a:latin typeface="Calibri"/>
              <a:ea typeface="Calibri"/>
              <a:cs typeface="Calibri"/>
              <a:sym typeface="Calibri"/>
            </a:endParaRPr>
          </a:p>
        </p:txBody>
      </p:sp>
      <p:sp>
        <p:nvSpPr>
          <p:cNvPr id="1122" name="Google Shape;1122;p26"/>
          <p:cNvSpPr/>
          <p:nvPr/>
        </p:nvSpPr>
        <p:spPr>
          <a:xfrm>
            <a:off x="2295144" y="1280160"/>
            <a:ext cx="457200" cy="457200"/>
          </a:xfrm>
          <a:prstGeom prst="rect">
            <a:avLst/>
          </a:prstGeom>
          <a:solidFill>
            <a:srgbClr val="EAF1FB"/>
          </a:solidFill>
          <a:ln w="9525" cap="flat" cmpd="sng">
            <a:solidFill>
              <a:srgbClr val="1E3A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3" name="Google Shape;1123;p26"/>
          <p:cNvSpPr/>
          <p:nvPr/>
        </p:nvSpPr>
        <p:spPr>
          <a:xfrm>
            <a:off x="2295144" y="1280160"/>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A7890"/>
              </a:buClr>
              <a:buSzPts val="1300"/>
              <a:buFont typeface="Calibri"/>
              <a:buNone/>
            </a:pPr>
            <a:r>
              <a:rPr lang="en" sz="1300" b="0" i="0" u="none" strike="noStrike" cap="none">
                <a:solidFill>
                  <a:srgbClr val="4A7890"/>
                </a:solidFill>
                <a:latin typeface="Calibri"/>
                <a:ea typeface="Calibri"/>
                <a:cs typeface="Calibri"/>
                <a:sym typeface="Calibri"/>
              </a:rPr>
              <a:t>1</a:t>
            </a:r>
            <a:endParaRPr sz="1300" b="0" i="0" u="none" strike="noStrike" cap="none">
              <a:solidFill>
                <a:schemeClr val="dk1"/>
              </a:solidFill>
              <a:latin typeface="Calibri"/>
              <a:ea typeface="Calibri"/>
              <a:cs typeface="Calibri"/>
              <a:sym typeface="Calibri"/>
            </a:endParaRPr>
          </a:p>
        </p:txBody>
      </p:sp>
      <p:sp>
        <p:nvSpPr>
          <p:cNvPr id="1124" name="Google Shape;1124;p26"/>
          <p:cNvSpPr/>
          <p:nvPr/>
        </p:nvSpPr>
        <p:spPr>
          <a:xfrm>
            <a:off x="320040" y="1773936"/>
            <a:ext cx="457200" cy="457200"/>
          </a:xfrm>
          <a:prstGeom prst="rect">
            <a:avLst/>
          </a:prstGeom>
          <a:solidFill>
            <a:srgbClr val="C8E8F8"/>
          </a:solidFill>
          <a:ln w="1905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5" name="Google Shape;1125;p26"/>
          <p:cNvSpPr/>
          <p:nvPr/>
        </p:nvSpPr>
        <p:spPr>
          <a:xfrm>
            <a:off x="320040" y="1773936"/>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0</a:t>
            </a:r>
            <a:endParaRPr sz="1300" b="0" i="0" u="none" strike="noStrike" cap="none">
              <a:solidFill>
                <a:schemeClr val="dk1"/>
              </a:solidFill>
              <a:latin typeface="Calibri"/>
              <a:ea typeface="Calibri"/>
              <a:cs typeface="Calibri"/>
              <a:sym typeface="Calibri"/>
            </a:endParaRPr>
          </a:p>
        </p:txBody>
      </p:sp>
      <p:sp>
        <p:nvSpPr>
          <p:cNvPr id="1126" name="Google Shape;1126;p26"/>
          <p:cNvSpPr/>
          <p:nvPr/>
        </p:nvSpPr>
        <p:spPr>
          <a:xfrm>
            <a:off x="813816" y="1773936"/>
            <a:ext cx="457200" cy="457200"/>
          </a:xfrm>
          <a:prstGeom prst="rect">
            <a:avLst/>
          </a:prstGeom>
          <a:solidFill>
            <a:srgbClr val="C8E8F8"/>
          </a:solidFill>
          <a:ln w="1905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7" name="Google Shape;1127;p26"/>
          <p:cNvSpPr/>
          <p:nvPr/>
        </p:nvSpPr>
        <p:spPr>
          <a:xfrm>
            <a:off x="813816" y="1773936"/>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1</a:t>
            </a:r>
            <a:endParaRPr sz="1300" b="0" i="0" u="none" strike="noStrike" cap="none">
              <a:solidFill>
                <a:schemeClr val="dk1"/>
              </a:solidFill>
              <a:latin typeface="Calibri"/>
              <a:ea typeface="Calibri"/>
              <a:cs typeface="Calibri"/>
              <a:sym typeface="Calibri"/>
            </a:endParaRPr>
          </a:p>
        </p:txBody>
      </p:sp>
      <p:sp>
        <p:nvSpPr>
          <p:cNvPr id="1128" name="Google Shape;1128;p26"/>
          <p:cNvSpPr/>
          <p:nvPr/>
        </p:nvSpPr>
        <p:spPr>
          <a:xfrm>
            <a:off x="1307592" y="1773936"/>
            <a:ext cx="457200" cy="457200"/>
          </a:xfrm>
          <a:prstGeom prst="rect">
            <a:avLst/>
          </a:prstGeom>
          <a:solidFill>
            <a:srgbClr val="C8E8F8"/>
          </a:solidFill>
          <a:ln w="1905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9" name="Google Shape;1129;p26"/>
          <p:cNvSpPr/>
          <p:nvPr/>
        </p:nvSpPr>
        <p:spPr>
          <a:xfrm>
            <a:off x="1307592" y="1773936"/>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2</a:t>
            </a:r>
            <a:endParaRPr sz="1300" b="0" i="0" u="none" strike="noStrike" cap="none">
              <a:solidFill>
                <a:schemeClr val="dk1"/>
              </a:solidFill>
              <a:latin typeface="Calibri"/>
              <a:ea typeface="Calibri"/>
              <a:cs typeface="Calibri"/>
              <a:sym typeface="Calibri"/>
            </a:endParaRPr>
          </a:p>
        </p:txBody>
      </p:sp>
      <p:sp>
        <p:nvSpPr>
          <p:cNvPr id="1130" name="Google Shape;1130;p26"/>
          <p:cNvSpPr/>
          <p:nvPr/>
        </p:nvSpPr>
        <p:spPr>
          <a:xfrm>
            <a:off x="1801368" y="1773936"/>
            <a:ext cx="457200" cy="457200"/>
          </a:xfrm>
          <a:prstGeom prst="rect">
            <a:avLst/>
          </a:prstGeom>
          <a:solidFill>
            <a:srgbClr val="EAF1FB"/>
          </a:solidFill>
          <a:ln w="9525" cap="flat" cmpd="sng">
            <a:solidFill>
              <a:srgbClr val="1E3A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1" name="Google Shape;1131;p26"/>
          <p:cNvSpPr/>
          <p:nvPr/>
        </p:nvSpPr>
        <p:spPr>
          <a:xfrm>
            <a:off x="1801368" y="1773936"/>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A7890"/>
              </a:buClr>
              <a:buSzPts val="1300"/>
              <a:buFont typeface="Calibri"/>
              <a:buNone/>
            </a:pPr>
            <a:r>
              <a:rPr lang="en" sz="1300" b="0" i="0" u="none" strike="noStrike" cap="none">
                <a:solidFill>
                  <a:srgbClr val="4A7890"/>
                </a:solidFill>
                <a:latin typeface="Calibri"/>
                <a:ea typeface="Calibri"/>
                <a:cs typeface="Calibri"/>
                <a:sym typeface="Calibri"/>
              </a:rPr>
              <a:t>3</a:t>
            </a:r>
            <a:endParaRPr sz="1300" b="0" i="0" u="none" strike="noStrike" cap="none">
              <a:solidFill>
                <a:schemeClr val="dk1"/>
              </a:solidFill>
              <a:latin typeface="Calibri"/>
              <a:ea typeface="Calibri"/>
              <a:cs typeface="Calibri"/>
              <a:sym typeface="Calibri"/>
            </a:endParaRPr>
          </a:p>
        </p:txBody>
      </p:sp>
      <p:sp>
        <p:nvSpPr>
          <p:cNvPr id="1132" name="Google Shape;1132;p26"/>
          <p:cNvSpPr/>
          <p:nvPr/>
        </p:nvSpPr>
        <p:spPr>
          <a:xfrm>
            <a:off x="2295144" y="1773936"/>
            <a:ext cx="457200" cy="457200"/>
          </a:xfrm>
          <a:prstGeom prst="rect">
            <a:avLst/>
          </a:prstGeom>
          <a:solidFill>
            <a:srgbClr val="EAF1FB"/>
          </a:solidFill>
          <a:ln w="9525" cap="flat" cmpd="sng">
            <a:solidFill>
              <a:srgbClr val="1E3A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3" name="Google Shape;1133;p26"/>
          <p:cNvSpPr/>
          <p:nvPr/>
        </p:nvSpPr>
        <p:spPr>
          <a:xfrm>
            <a:off x="2295144" y="1773936"/>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A7890"/>
              </a:buClr>
              <a:buSzPts val="1300"/>
              <a:buFont typeface="Calibri"/>
              <a:buNone/>
            </a:pPr>
            <a:r>
              <a:rPr lang="en" sz="1300" b="0" i="0" u="none" strike="noStrike" cap="none">
                <a:solidFill>
                  <a:srgbClr val="4A7890"/>
                </a:solidFill>
                <a:latin typeface="Calibri"/>
                <a:ea typeface="Calibri"/>
                <a:cs typeface="Calibri"/>
                <a:sym typeface="Calibri"/>
              </a:rPr>
              <a:t>0</a:t>
            </a:r>
            <a:endParaRPr sz="1300" b="0" i="0" u="none" strike="noStrike" cap="none">
              <a:solidFill>
                <a:schemeClr val="dk1"/>
              </a:solidFill>
              <a:latin typeface="Calibri"/>
              <a:ea typeface="Calibri"/>
              <a:cs typeface="Calibri"/>
              <a:sym typeface="Calibri"/>
            </a:endParaRPr>
          </a:p>
        </p:txBody>
      </p:sp>
      <p:sp>
        <p:nvSpPr>
          <p:cNvPr id="1134" name="Google Shape;1134;p26"/>
          <p:cNvSpPr/>
          <p:nvPr/>
        </p:nvSpPr>
        <p:spPr>
          <a:xfrm>
            <a:off x="320040" y="2267712"/>
            <a:ext cx="457200" cy="457200"/>
          </a:xfrm>
          <a:prstGeom prst="rect">
            <a:avLst/>
          </a:prstGeom>
          <a:solidFill>
            <a:srgbClr val="C8E8F8"/>
          </a:solidFill>
          <a:ln w="1905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5" name="Google Shape;1135;p26"/>
          <p:cNvSpPr/>
          <p:nvPr/>
        </p:nvSpPr>
        <p:spPr>
          <a:xfrm>
            <a:off x="320040" y="2267712"/>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1</a:t>
            </a:r>
            <a:endParaRPr sz="1300" b="0" i="0" u="none" strike="noStrike" cap="none">
              <a:solidFill>
                <a:schemeClr val="dk1"/>
              </a:solidFill>
              <a:latin typeface="Calibri"/>
              <a:ea typeface="Calibri"/>
              <a:cs typeface="Calibri"/>
              <a:sym typeface="Calibri"/>
            </a:endParaRPr>
          </a:p>
        </p:txBody>
      </p:sp>
      <p:sp>
        <p:nvSpPr>
          <p:cNvPr id="1136" name="Google Shape;1136;p26"/>
          <p:cNvSpPr/>
          <p:nvPr/>
        </p:nvSpPr>
        <p:spPr>
          <a:xfrm>
            <a:off x="813816" y="2267712"/>
            <a:ext cx="457200" cy="457200"/>
          </a:xfrm>
          <a:prstGeom prst="rect">
            <a:avLst/>
          </a:prstGeom>
          <a:solidFill>
            <a:srgbClr val="C8E8F8"/>
          </a:solidFill>
          <a:ln w="1905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7" name="Google Shape;1137;p26"/>
          <p:cNvSpPr/>
          <p:nvPr/>
        </p:nvSpPr>
        <p:spPr>
          <a:xfrm>
            <a:off x="813816" y="2267712"/>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3</a:t>
            </a:r>
            <a:endParaRPr sz="1300" b="0" i="0" u="none" strike="noStrike" cap="none">
              <a:solidFill>
                <a:schemeClr val="dk1"/>
              </a:solidFill>
              <a:latin typeface="Calibri"/>
              <a:ea typeface="Calibri"/>
              <a:cs typeface="Calibri"/>
              <a:sym typeface="Calibri"/>
            </a:endParaRPr>
          </a:p>
        </p:txBody>
      </p:sp>
      <p:sp>
        <p:nvSpPr>
          <p:cNvPr id="1138" name="Google Shape;1138;p26"/>
          <p:cNvSpPr/>
          <p:nvPr/>
        </p:nvSpPr>
        <p:spPr>
          <a:xfrm>
            <a:off x="1307592" y="2267712"/>
            <a:ext cx="457200" cy="457200"/>
          </a:xfrm>
          <a:prstGeom prst="rect">
            <a:avLst/>
          </a:prstGeom>
          <a:solidFill>
            <a:srgbClr val="C8E8F8"/>
          </a:solidFill>
          <a:ln w="1905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9" name="Google Shape;1139;p26"/>
          <p:cNvSpPr/>
          <p:nvPr/>
        </p:nvSpPr>
        <p:spPr>
          <a:xfrm>
            <a:off x="1307592" y="2267712"/>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2</a:t>
            </a:r>
            <a:endParaRPr sz="1300" b="0" i="0" u="none" strike="noStrike" cap="none">
              <a:solidFill>
                <a:schemeClr val="dk1"/>
              </a:solidFill>
              <a:latin typeface="Calibri"/>
              <a:ea typeface="Calibri"/>
              <a:cs typeface="Calibri"/>
              <a:sym typeface="Calibri"/>
            </a:endParaRPr>
          </a:p>
        </p:txBody>
      </p:sp>
      <p:sp>
        <p:nvSpPr>
          <p:cNvPr id="1140" name="Google Shape;1140;p26"/>
          <p:cNvSpPr/>
          <p:nvPr/>
        </p:nvSpPr>
        <p:spPr>
          <a:xfrm>
            <a:off x="1801368" y="2267712"/>
            <a:ext cx="457200" cy="457200"/>
          </a:xfrm>
          <a:prstGeom prst="rect">
            <a:avLst/>
          </a:prstGeom>
          <a:solidFill>
            <a:srgbClr val="EAF1FB"/>
          </a:solidFill>
          <a:ln w="9525" cap="flat" cmpd="sng">
            <a:solidFill>
              <a:srgbClr val="1E3A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1" name="Google Shape;1141;p26"/>
          <p:cNvSpPr/>
          <p:nvPr/>
        </p:nvSpPr>
        <p:spPr>
          <a:xfrm>
            <a:off x="1801368" y="2267712"/>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A7890"/>
              </a:buClr>
              <a:buSzPts val="1300"/>
              <a:buFont typeface="Calibri"/>
              <a:buNone/>
            </a:pPr>
            <a:r>
              <a:rPr lang="en" sz="1300" b="0" i="0" u="none" strike="noStrike" cap="none">
                <a:solidFill>
                  <a:srgbClr val="4A7890"/>
                </a:solidFill>
                <a:latin typeface="Calibri"/>
                <a:ea typeface="Calibri"/>
                <a:cs typeface="Calibri"/>
                <a:sym typeface="Calibri"/>
              </a:rPr>
              <a:t>1</a:t>
            </a:r>
            <a:endParaRPr sz="1300" b="0" i="0" u="none" strike="noStrike" cap="none">
              <a:solidFill>
                <a:schemeClr val="dk1"/>
              </a:solidFill>
              <a:latin typeface="Calibri"/>
              <a:ea typeface="Calibri"/>
              <a:cs typeface="Calibri"/>
              <a:sym typeface="Calibri"/>
            </a:endParaRPr>
          </a:p>
        </p:txBody>
      </p:sp>
      <p:sp>
        <p:nvSpPr>
          <p:cNvPr id="1142" name="Google Shape;1142;p26"/>
          <p:cNvSpPr/>
          <p:nvPr/>
        </p:nvSpPr>
        <p:spPr>
          <a:xfrm>
            <a:off x="2295144" y="2267712"/>
            <a:ext cx="457200" cy="457200"/>
          </a:xfrm>
          <a:prstGeom prst="rect">
            <a:avLst/>
          </a:prstGeom>
          <a:solidFill>
            <a:srgbClr val="EAF1FB"/>
          </a:solidFill>
          <a:ln w="9525" cap="flat" cmpd="sng">
            <a:solidFill>
              <a:srgbClr val="1E3A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3" name="Google Shape;1143;p26"/>
          <p:cNvSpPr/>
          <p:nvPr/>
        </p:nvSpPr>
        <p:spPr>
          <a:xfrm>
            <a:off x="2295144" y="2267712"/>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A7890"/>
              </a:buClr>
              <a:buSzPts val="1300"/>
              <a:buFont typeface="Calibri"/>
              <a:buNone/>
            </a:pPr>
            <a:r>
              <a:rPr lang="en" sz="1300" b="0" i="0" u="none" strike="noStrike" cap="none">
                <a:solidFill>
                  <a:srgbClr val="4A7890"/>
                </a:solidFill>
                <a:latin typeface="Calibri"/>
                <a:ea typeface="Calibri"/>
                <a:cs typeface="Calibri"/>
                <a:sym typeface="Calibri"/>
              </a:rPr>
              <a:t>2</a:t>
            </a:r>
            <a:endParaRPr sz="1300" b="0" i="0" u="none" strike="noStrike" cap="none">
              <a:solidFill>
                <a:schemeClr val="dk1"/>
              </a:solidFill>
              <a:latin typeface="Calibri"/>
              <a:ea typeface="Calibri"/>
              <a:cs typeface="Calibri"/>
              <a:sym typeface="Calibri"/>
            </a:endParaRPr>
          </a:p>
        </p:txBody>
      </p:sp>
      <p:sp>
        <p:nvSpPr>
          <p:cNvPr id="1144" name="Google Shape;1144;p26"/>
          <p:cNvSpPr/>
          <p:nvPr/>
        </p:nvSpPr>
        <p:spPr>
          <a:xfrm>
            <a:off x="320040" y="2761488"/>
            <a:ext cx="457200" cy="457200"/>
          </a:xfrm>
          <a:prstGeom prst="rect">
            <a:avLst/>
          </a:prstGeom>
          <a:solidFill>
            <a:srgbClr val="EAF1FB"/>
          </a:solidFill>
          <a:ln w="9525" cap="flat" cmpd="sng">
            <a:solidFill>
              <a:srgbClr val="1E3A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5" name="Google Shape;1145;p26"/>
          <p:cNvSpPr/>
          <p:nvPr/>
        </p:nvSpPr>
        <p:spPr>
          <a:xfrm>
            <a:off x="320040" y="2761488"/>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A7890"/>
              </a:buClr>
              <a:buSzPts val="1300"/>
              <a:buFont typeface="Calibri"/>
              <a:buNone/>
            </a:pPr>
            <a:r>
              <a:rPr lang="en" sz="1300" b="0" i="0" u="none" strike="noStrike" cap="none">
                <a:solidFill>
                  <a:srgbClr val="4A7890"/>
                </a:solidFill>
                <a:latin typeface="Calibri"/>
                <a:ea typeface="Calibri"/>
                <a:cs typeface="Calibri"/>
                <a:sym typeface="Calibri"/>
              </a:rPr>
              <a:t>2</a:t>
            </a:r>
            <a:endParaRPr sz="1300" b="0" i="0" u="none" strike="noStrike" cap="none">
              <a:solidFill>
                <a:schemeClr val="dk1"/>
              </a:solidFill>
              <a:latin typeface="Calibri"/>
              <a:ea typeface="Calibri"/>
              <a:cs typeface="Calibri"/>
              <a:sym typeface="Calibri"/>
            </a:endParaRPr>
          </a:p>
        </p:txBody>
      </p:sp>
      <p:sp>
        <p:nvSpPr>
          <p:cNvPr id="1146" name="Google Shape;1146;p26"/>
          <p:cNvSpPr/>
          <p:nvPr/>
        </p:nvSpPr>
        <p:spPr>
          <a:xfrm>
            <a:off x="813816" y="2761488"/>
            <a:ext cx="457200" cy="457200"/>
          </a:xfrm>
          <a:prstGeom prst="rect">
            <a:avLst/>
          </a:prstGeom>
          <a:solidFill>
            <a:srgbClr val="EAF1FB"/>
          </a:solidFill>
          <a:ln w="9525" cap="flat" cmpd="sng">
            <a:solidFill>
              <a:srgbClr val="1E3A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7" name="Google Shape;1147;p26"/>
          <p:cNvSpPr/>
          <p:nvPr/>
        </p:nvSpPr>
        <p:spPr>
          <a:xfrm>
            <a:off x="813816" y="2761488"/>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A7890"/>
              </a:buClr>
              <a:buSzPts val="1300"/>
              <a:buFont typeface="Calibri"/>
              <a:buNone/>
            </a:pPr>
            <a:r>
              <a:rPr lang="en" sz="1300" b="0" i="0" u="none" strike="noStrike" cap="none">
                <a:solidFill>
                  <a:srgbClr val="4A7890"/>
                </a:solidFill>
                <a:latin typeface="Calibri"/>
                <a:ea typeface="Calibri"/>
                <a:cs typeface="Calibri"/>
                <a:sym typeface="Calibri"/>
              </a:rPr>
              <a:t>0</a:t>
            </a:r>
            <a:endParaRPr sz="1300" b="0" i="0" u="none" strike="noStrike" cap="none">
              <a:solidFill>
                <a:schemeClr val="dk1"/>
              </a:solidFill>
              <a:latin typeface="Calibri"/>
              <a:ea typeface="Calibri"/>
              <a:cs typeface="Calibri"/>
              <a:sym typeface="Calibri"/>
            </a:endParaRPr>
          </a:p>
        </p:txBody>
      </p:sp>
      <p:sp>
        <p:nvSpPr>
          <p:cNvPr id="1148" name="Google Shape;1148;p26"/>
          <p:cNvSpPr/>
          <p:nvPr/>
        </p:nvSpPr>
        <p:spPr>
          <a:xfrm>
            <a:off x="1307592" y="2761488"/>
            <a:ext cx="457200" cy="457200"/>
          </a:xfrm>
          <a:prstGeom prst="rect">
            <a:avLst/>
          </a:prstGeom>
          <a:solidFill>
            <a:srgbClr val="EAF1FB"/>
          </a:solidFill>
          <a:ln w="9525" cap="flat" cmpd="sng">
            <a:solidFill>
              <a:srgbClr val="1E3A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9" name="Google Shape;1149;p26"/>
          <p:cNvSpPr/>
          <p:nvPr/>
        </p:nvSpPr>
        <p:spPr>
          <a:xfrm>
            <a:off x="1307592" y="2761488"/>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A7890"/>
              </a:buClr>
              <a:buSzPts val="1300"/>
              <a:buFont typeface="Calibri"/>
              <a:buNone/>
            </a:pPr>
            <a:r>
              <a:rPr lang="en" sz="1300" b="0" i="0" u="none" strike="noStrike" cap="none">
                <a:solidFill>
                  <a:srgbClr val="4A7890"/>
                </a:solidFill>
                <a:latin typeface="Calibri"/>
                <a:ea typeface="Calibri"/>
                <a:cs typeface="Calibri"/>
                <a:sym typeface="Calibri"/>
              </a:rPr>
              <a:t>1</a:t>
            </a:r>
            <a:endParaRPr sz="1300" b="0" i="0" u="none" strike="noStrike" cap="none">
              <a:solidFill>
                <a:schemeClr val="dk1"/>
              </a:solidFill>
              <a:latin typeface="Calibri"/>
              <a:ea typeface="Calibri"/>
              <a:cs typeface="Calibri"/>
              <a:sym typeface="Calibri"/>
            </a:endParaRPr>
          </a:p>
        </p:txBody>
      </p:sp>
      <p:sp>
        <p:nvSpPr>
          <p:cNvPr id="1150" name="Google Shape;1150;p26"/>
          <p:cNvSpPr/>
          <p:nvPr/>
        </p:nvSpPr>
        <p:spPr>
          <a:xfrm>
            <a:off x="1801368" y="2761488"/>
            <a:ext cx="457200" cy="457200"/>
          </a:xfrm>
          <a:prstGeom prst="rect">
            <a:avLst/>
          </a:prstGeom>
          <a:solidFill>
            <a:srgbClr val="EAF1FB"/>
          </a:solidFill>
          <a:ln w="9525" cap="flat" cmpd="sng">
            <a:solidFill>
              <a:srgbClr val="1E3A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1" name="Google Shape;1151;p26"/>
          <p:cNvSpPr/>
          <p:nvPr/>
        </p:nvSpPr>
        <p:spPr>
          <a:xfrm>
            <a:off x="1801368" y="2761488"/>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A7890"/>
              </a:buClr>
              <a:buSzPts val="1300"/>
              <a:buFont typeface="Calibri"/>
              <a:buNone/>
            </a:pPr>
            <a:r>
              <a:rPr lang="en" sz="1300" b="0" i="0" u="none" strike="noStrike" cap="none">
                <a:solidFill>
                  <a:srgbClr val="4A7890"/>
                </a:solidFill>
                <a:latin typeface="Calibri"/>
                <a:ea typeface="Calibri"/>
                <a:cs typeface="Calibri"/>
                <a:sym typeface="Calibri"/>
              </a:rPr>
              <a:t>3</a:t>
            </a:r>
            <a:endParaRPr sz="1300" b="0" i="0" u="none" strike="noStrike" cap="none">
              <a:solidFill>
                <a:schemeClr val="dk1"/>
              </a:solidFill>
              <a:latin typeface="Calibri"/>
              <a:ea typeface="Calibri"/>
              <a:cs typeface="Calibri"/>
              <a:sym typeface="Calibri"/>
            </a:endParaRPr>
          </a:p>
        </p:txBody>
      </p:sp>
      <p:sp>
        <p:nvSpPr>
          <p:cNvPr id="1152" name="Google Shape;1152;p26"/>
          <p:cNvSpPr/>
          <p:nvPr/>
        </p:nvSpPr>
        <p:spPr>
          <a:xfrm>
            <a:off x="2295144" y="2761488"/>
            <a:ext cx="457200" cy="457200"/>
          </a:xfrm>
          <a:prstGeom prst="rect">
            <a:avLst/>
          </a:prstGeom>
          <a:solidFill>
            <a:srgbClr val="EAF1FB"/>
          </a:solidFill>
          <a:ln w="9525" cap="flat" cmpd="sng">
            <a:solidFill>
              <a:srgbClr val="1E3A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3" name="Google Shape;1153;p26"/>
          <p:cNvSpPr/>
          <p:nvPr/>
        </p:nvSpPr>
        <p:spPr>
          <a:xfrm>
            <a:off x="2295144" y="2761488"/>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A7890"/>
              </a:buClr>
              <a:buSzPts val="1300"/>
              <a:buFont typeface="Calibri"/>
              <a:buNone/>
            </a:pPr>
            <a:r>
              <a:rPr lang="en" sz="1300" b="0" i="0" u="none" strike="noStrike" cap="none">
                <a:solidFill>
                  <a:srgbClr val="4A7890"/>
                </a:solidFill>
                <a:latin typeface="Calibri"/>
                <a:ea typeface="Calibri"/>
                <a:cs typeface="Calibri"/>
                <a:sym typeface="Calibri"/>
              </a:rPr>
              <a:t>1</a:t>
            </a:r>
            <a:endParaRPr sz="1300" b="0" i="0" u="none" strike="noStrike" cap="none">
              <a:solidFill>
                <a:schemeClr val="dk1"/>
              </a:solidFill>
              <a:latin typeface="Calibri"/>
              <a:ea typeface="Calibri"/>
              <a:cs typeface="Calibri"/>
              <a:sym typeface="Calibri"/>
            </a:endParaRPr>
          </a:p>
        </p:txBody>
      </p:sp>
      <p:sp>
        <p:nvSpPr>
          <p:cNvPr id="1154" name="Google Shape;1154;p26"/>
          <p:cNvSpPr/>
          <p:nvPr/>
        </p:nvSpPr>
        <p:spPr>
          <a:xfrm>
            <a:off x="320040" y="3255264"/>
            <a:ext cx="457200" cy="457200"/>
          </a:xfrm>
          <a:prstGeom prst="rect">
            <a:avLst/>
          </a:prstGeom>
          <a:solidFill>
            <a:srgbClr val="EAF1FB"/>
          </a:solidFill>
          <a:ln w="9525" cap="flat" cmpd="sng">
            <a:solidFill>
              <a:srgbClr val="1E3A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5" name="Google Shape;1155;p26"/>
          <p:cNvSpPr/>
          <p:nvPr/>
        </p:nvSpPr>
        <p:spPr>
          <a:xfrm>
            <a:off x="320040" y="3255264"/>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A7890"/>
              </a:buClr>
              <a:buSzPts val="1300"/>
              <a:buFont typeface="Calibri"/>
              <a:buNone/>
            </a:pPr>
            <a:r>
              <a:rPr lang="en" sz="1300" b="0" i="0" u="none" strike="noStrike" cap="none">
                <a:solidFill>
                  <a:srgbClr val="4A7890"/>
                </a:solidFill>
                <a:latin typeface="Calibri"/>
                <a:ea typeface="Calibri"/>
                <a:cs typeface="Calibri"/>
                <a:sym typeface="Calibri"/>
              </a:rPr>
              <a:t>0</a:t>
            </a:r>
            <a:endParaRPr sz="1300" b="0" i="0" u="none" strike="noStrike" cap="none">
              <a:solidFill>
                <a:schemeClr val="dk1"/>
              </a:solidFill>
              <a:latin typeface="Calibri"/>
              <a:ea typeface="Calibri"/>
              <a:cs typeface="Calibri"/>
              <a:sym typeface="Calibri"/>
            </a:endParaRPr>
          </a:p>
        </p:txBody>
      </p:sp>
      <p:sp>
        <p:nvSpPr>
          <p:cNvPr id="1156" name="Google Shape;1156;p26"/>
          <p:cNvSpPr/>
          <p:nvPr/>
        </p:nvSpPr>
        <p:spPr>
          <a:xfrm>
            <a:off x="813816" y="3255264"/>
            <a:ext cx="457200" cy="457200"/>
          </a:xfrm>
          <a:prstGeom prst="rect">
            <a:avLst/>
          </a:prstGeom>
          <a:solidFill>
            <a:srgbClr val="EAF1FB"/>
          </a:solidFill>
          <a:ln w="9525" cap="flat" cmpd="sng">
            <a:solidFill>
              <a:srgbClr val="1E3A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7" name="Google Shape;1157;p26"/>
          <p:cNvSpPr/>
          <p:nvPr/>
        </p:nvSpPr>
        <p:spPr>
          <a:xfrm>
            <a:off x="813816" y="3255264"/>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A7890"/>
              </a:buClr>
              <a:buSzPts val="1300"/>
              <a:buFont typeface="Calibri"/>
              <a:buNone/>
            </a:pPr>
            <a:r>
              <a:rPr lang="en" sz="1300" b="0" i="0" u="none" strike="noStrike" cap="none">
                <a:solidFill>
                  <a:srgbClr val="4A7890"/>
                </a:solidFill>
                <a:latin typeface="Calibri"/>
                <a:ea typeface="Calibri"/>
                <a:cs typeface="Calibri"/>
                <a:sym typeface="Calibri"/>
              </a:rPr>
              <a:t>1</a:t>
            </a:r>
            <a:endParaRPr sz="1300" b="0" i="0" u="none" strike="noStrike" cap="none">
              <a:solidFill>
                <a:schemeClr val="dk1"/>
              </a:solidFill>
              <a:latin typeface="Calibri"/>
              <a:ea typeface="Calibri"/>
              <a:cs typeface="Calibri"/>
              <a:sym typeface="Calibri"/>
            </a:endParaRPr>
          </a:p>
        </p:txBody>
      </p:sp>
      <p:sp>
        <p:nvSpPr>
          <p:cNvPr id="1158" name="Google Shape;1158;p26"/>
          <p:cNvSpPr/>
          <p:nvPr/>
        </p:nvSpPr>
        <p:spPr>
          <a:xfrm>
            <a:off x="1307592" y="3255264"/>
            <a:ext cx="457200" cy="457200"/>
          </a:xfrm>
          <a:prstGeom prst="rect">
            <a:avLst/>
          </a:prstGeom>
          <a:solidFill>
            <a:srgbClr val="EAF1FB"/>
          </a:solidFill>
          <a:ln w="9525" cap="flat" cmpd="sng">
            <a:solidFill>
              <a:srgbClr val="1E3A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9" name="Google Shape;1159;p26"/>
          <p:cNvSpPr/>
          <p:nvPr/>
        </p:nvSpPr>
        <p:spPr>
          <a:xfrm>
            <a:off x="1307592" y="3255264"/>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A7890"/>
              </a:buClr>
              <a:buSzPts val="1300"/>
              <a:buFont typeface="Calibri"/>
              <a:buNone/>
            </a:pPr>
            <a:r>
              <a:rPr lang="en" sz="1300" b="0" i="0" u="none" strike="noStrike" cap="none">
                <a:solidFill>
                  <a:srgbClr val="4A7890"/>
                </a:solidFill>
                <a:latin typeface="Calibri"/>
                <a:ea typeface="Calibri"/>
                <a:cs typeface="Calibri"/>
                <a:sym typeface="Calibri"/>
              </a:rPr>
              <a:t>2</a:t>
            </a:r>
            <a:endParaRPr sz="1300" b="0" i="0" u="none" strike="noStrike" cap="none">
              <a:solidFill>
                <a:schemeClr val="dk1"/>
              </a:solidFill>
              <a:latin typeface="Calibri"/>
              <a:ea typeface="Calibri"/>
              <a:cs typeface="Calibri"/>
              <a:sym typeface="Calibri"/>
            </a:endParaRPr>
          </a:p>
        </p:txBody>
      </p:sp>
      <p:sp>
        <p:nvSpPr>
          <p:cNvPr id="1160" name="Google Shape;1160;p26"/>
          <p:cNvSpPr/>
          <p:nvPr/>
        </p:nvSpPr>
        <p:spPr>
          <a:xfrm>
            <a:off x="1801368" y="3255264"/>
            <a:ext cx="457200" cy="457200"/>
          </a:xfrm>
          <a:prstGeom prst="rect">
            <a:avLst/>
          </a:prstGeom>
          <a:solidFill>
            <a:srgbClr val="EAF1FB"/>
          </a:solidFill>
          <a:ln w="9525" cap="flat" cmpd="sng">
            <a:solidFill>
              <a:srgbClr val="1E3A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1" name="Google Shape;1161;p26"/>
          <p:cNvSpPr/>
          <p:nvPr/>
        </p:nvSpPr>
        <p:spPr>
          <a:xfrm>
            <a:off x="1801368" y="3255264"/>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A7890"/>
              </a:buClr>
              <a:buSzPts val="1300"/>
              <a:buFont typeface="Calibri"/>
              <a:buNone/>
            </a:pPr>
            <a:r>
              <a:rPr lang="en" sz="1300" b="0" i="0" u="none" strike="noStrike" cap="none">
                <a:solidFill>
                  <a:srgbClr val="4A7890"/>
                </a:solidFill>
                <a:latin typeface="Calibri"/>
                <a:ea typeface="Calibri"/>
                <a:cs typeface="Calibri"/>
                <a:sym typeface="Calibri"/>
              </a:rPr>
              <a:t>1</a:t>
            </a:r>
            <a:endParaRPr sz="1300" b="0" i="0" u="none" strike="noStrike" cap="none">
              <a:solidFill>
                <a:schemeClr val="dk1"/>
              </a:solidFill>
              <a:latin typeface="Calibri"/>
              <a:ea typeface="Calibri"/>
              <a:cs typeface="Calibri"/>
              <a:sym typeface="Calibri"/>
            </a:endParaRPr>
          </a:p>
        </p:txBody>
      </p:sp>
      <p:sp>
        <p:nvSpPr>
          <p:cNvPr id="1162" name="Google Shape;1162;p26"/>
          <p:cNvSpPr/>
          <p:nvPr/>
        </p:nvSpPr>
        <p:spPr>
          <a:xfrm>
            <a:off x="2295144" y="3255264"/>
            <a:ext cx="457200" cy="457200"/>
          </a:xfrm>
          <a:prstGeom prst="rect">
            <a:avLst/>
          </a:prstGeom>
          <a:solidFill>
            <a:srgbClr val="EAF1FB"/>
          </a:solidFill>
          <a:ln w="9525" cap="flat" cmpd="sng">
            <a:solidFill>
              <a:srgbClr val="1E3A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3" name="Google Shape;1163;p26"/>
          <p:cNvSpPr/>
          <p:nvPr/>
        </p:nvSpPr>
        <p:spPr>
          <a:xfrm>
            <a:off x="2295144" y="3255264"/>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4A7890"/>
              </a:buClr>
              <a:buSzPts val="1300"/>
              <a:buFont typeface="Calibri"/>
              <a:buNone/>
            </a:pPr>
            <a:r>
              <a:rPr lang="en" sz="1300" b="0" i="0" u="none" strike="noStrike" cap="none">
                <a:solidFill>
                  <a:srgbClr val="4A7890"/>
                </a:solidFill>
                <a:latin typeface="Calibri"/>
                <a:ea typeface="Calibri"/>
                <a:cs typeface="Calibri"/>
                <a:sym typeface="Calibri"/>
              </a:rPr>
              <a:t>0</a:t>
            </a:r>
            <a:endParaRPr sz="1300" b="0" i="0" u="none" strike="noStrike" cap="none">
              <a:solidFill>
                <a:schemeClr val="dk1"/>
              </a:solidFill>
              <a:latin typeface="Calibri"/>
              <a:ea typeface="Calibri"/>
              <a:cs typeface="Calibri"/>
              <a:sym typeface="Calibri"/>
            </a:endParaRPr>
          </a:p>
        </p:txBody>
      </p:sp>
      <p:sp>
        <p:nvSpPr>
          <p:cNvPr id="1164" name="Google Shape;1164;p26"/>
          <p:cNvSpPr/>
          <p:nvPr/>
        </p:nvSpPr>
        <p:spPr>
          <a:xfrm>
            <a:off x="3611880" y="2194560"/>
            <a:ext cx="4116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2200"/>
              <a:buFont typeface="Calibri"/>
              <a:buNone/>
            </a:pPr>
            <a:r>
              <a:rPr lang="en" sz="2200" b="0" i="0" u="none" strike="noStrike" cap="none">
                <a:solidFill>
                  <a:srgbClr val="1A6080"/>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1165" name="Google Shape;1165;p26"/>
          <p:cNvSpPr/>
          <p:nvPr/>
        </p:nvSpPr>
        <p:spPr>
          <a:xfrm>
            <a:off x="4069080" y="1280160"/>
            <a:ext cx="457200" cy="457200"/>
          </a:xfrm>
          <a:prstGeom prst="rect">
            <a:avLst/>
          </a:prstGeom>
          <a:solidFill>
            <a:srgbClr val="C8EDD8"/>
          </a:solidFill>
          <a:ln w="127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6" name="Google Shape;1166;p26"/>
          <p:cNvSpPr/>
          <p:nvPr/>
        </p:nvSpPr>
        <p:spPr>
          <a:xfrm>
            <a:off x="4069080" y="1280160"/>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2C69B"/>
              </a:buClr>
              <a:buSzPts val="1300"/>
              <a:buFont typeface="Calibri"/>
              <a:buNone/>
            </a:pPr>
            <a:r>
              <a:rPr lang="en" sz="1300" b="1" i="0" u="none" strike="noStrike" cap="none">
                <a:solidFill>
                  <a:srgbClr val="52C69B"/>
                </a:solidFill>
                <a:latin typeface="Calibri"/>
                <a:ea typeface="Calibri"/>
                <a:cs typeface="Calibri"/>
                <a:sym typeface="Calibri"/>
              </a:rPr>
              <a:t>-1</a:t>
            </a:r>
            <a:endParaRPr sz="1300" b="0" i="0" u="none" strike="noStrike" cap="none">
              <a:solidFill>
                <a:schemeClr val="dk1"/>
              </a:solidFill>
              <a:latin typeface="Calibri"/>
              <a:ea typeface="Calibri"/>
              <a:cs typeface="Calibri"/>
              <a:sym typeface="Calibri"/>
            </a:endParaRPr>
          </a:p>
        </p:txBody>
      </p:sp>
      <p:sp>
        <p:nvSpPr>
          <p:cNvPr id="1167" name="Google Shape;1167;p26"/>
          <p:cNvSpPr/>
          <p:nvPr/>
        </p:nvSpPr>
        <p:spPr>
          <a:xfrm>
            <a:off x="4562856" y="1280160"/>
            <a:ext cx="457200" cy="457200"/>
          </a:xfrm>
          <a:prstGeom prst="rect">
            <a:avLst/>
          </a:prstGeom>
          <a:solidFill>
            <a:srgbClr val="C8EDD8"/>
          </a:solidFill>
          <a:ln w="127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8" name="Google Shape;1168;p26"/>
          <p:cNvSpPr/>
          <p:nvPr/>
        </p:nvSpPr>
        <p:spPr>
          <a:xfrm>
            <a:off x="4562856" y="1280160"/>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2C69B"/>
              </a:buClr>
              <a:buSzPts val="1300"/>
              <a:buFont typeface="Calibri"/>
              <a:buNone/>
            </a:pPr>
            <a:r>
              <a:rPr lang="en" sz="1300" b="1" i="0" u="none" strike="noStrike" cap="none">
                <a:solidFill>
                  <a:srgbClr val="52C69B"/>
                </a:solidFill>
                <a:latin typeface="Calibri"/>
                <a:ea typeface="Calibri"/>
                <a:cs typeface="Calibri"/>
                <a:sym typeface="Calibri"/>
              </a:rPr>
              <a:t>0</a:t>
            </a:r>
            <a:endParaRPr sz="1300" b="0" i="0" u="none" strike="noStrike" cap="none">
              <a:solidFill>
                <a:schemeClr val="dk1"/>
              </a:solidFill>
              <a:latin typeface="Calibri"/>
              <a:ea typeface="Calibri"/>
              <a:cs typeface="Calibri"/>
              <a:sym typeface="Calibri"/>
            </a:endParaRPr>
          </a:p>
        </p:txBody>
      </p:sp>
      <p:sp>
        <p:nvSpPr>
          <p:cNvPr id="1169" name="Google Shape;1169;p26"/>
          <p:cNvSpPr/>
          <p:nvPr/>
        </p:nvSpPr>
        <p:spPr>
          <a:xfrm>
            <a:off x="5056632" y="1280160"/>
            <a:ext cx="457200" cy="457200"/>
          </a:xfrm>
          <a:prstGeom prst="rect">
            <a:avLst/>
          </a:prstGeom>
          <a:solidFill>
            <a:srgbClr val="C8EDD8"/>
          </a:solidFill>
          <a:ln w="127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0" name="Google Shape;1170;p26"/>
          <p:cNvSpPr/>
          <p:nvPr/>
        </p:nvSpPr>
        <p:spPr>
          <a:xfrm>
            <a:off x="5056632" y="1280160"/>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2C69B"/>
              </a:buClr>
              <a:buSzPts val="1300"/>
              <a:buFont typeface="Calibri"/>
              <a:buNone/>
            </a:pPr>
            <a:r>
              <a:rPr lang="en" sz="1300" b="1" i="0" u="none" strike="noStrike" cap="none">
                <a:solidFill>
                  <a:srgbClr val="52C69B"/>
                </a:solidFill>
                <a:latin typeface="Calibri"/>
                <a:ea typeface="Calibri"/>
                <a:cs typeface="Calibri"/>
                <a:sym typeface="Calibri"/>
              </a:rPr>
              <a:t>1</a:t>
            </a:r>
            <a:endParaRPr sz="1300" b="0" i="0" u="none" strike="noStrike" cap="none">
              <a:solidFill>
                <a:schemeClr val="dk1"/>
              </a:solidFill>
              <a:latin typeface="Calibri"/>
              <a:ea typeface="Calibri"/>
              <a:cs typeface="Calibri"/>
              <a:sym typeface="Calibri"/>
            </a:endParaRPr>
          </a:p>
        </p:txBody>
      </p:sp>
      <p:sp>
        <p:nvSpPr>
          <p:cNvPr id="1171" name="Google Shape;1171;p26"/>
          <p:cNvSpPr/>
          <p:nvPr/>
        </p:nvSpPr>
        <p:spPr>
          <a:xfrm>
            <a:off x="4069080" y="1773936"/>
            <a:ext cx="457200" cy="457200"/>
          </a:xfrm>
          <a:prstGeom prst="rect">
            <a:avLst/>
          </a:prstGeom>
          <a:solidFill>
            <a:srgbClr val="C8EDD8"/>
          </a:solidFill>
          <a:ln w="127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2" name="Google Shape;1172;p26"/>
          <p:cNvSpPr/>
          <p:nvPr/>
        </p:nvSpPr>
        <p:spPr>
          <a:xfrm>
            <a:off x="4069080" y="1773936"/>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2C69B"/>
              </a:buClr>
              <a:buSzPts val="1300"/>
              <a:buFont typeface="Calibri"/>
              <a:buNone/>
            </a:pPr>
            <a:r>
              <a:rPr lang="en" sz="1300" b="1" i="0" u="none" strike="noStrike" cap="none">
                <a:solidFill>
                  <a:srgbClr val="52C69B"/>
                </a:solidFill>
                <a:latin typeface="Calibri"/>
                <a:ea typeface="Calibri"/>
                <a:cs typeface="Calibri"/>
                <a:sym typeface="Calibri"/>
              </a:rPr>
              <a:t>-2</a:t>
            </a:r>
            <a:endParaRPr sz="1300" b="0" i="0" u="none" strike="noStrike" cap="none">
              <a:solidFill>
                <a:schemeClr val="dk1"/>
              </a:solidFill>
              <a:latin typeface="Calibri"/>
              <a:ea typeface="Calibri"/>
              <a:cs typeface="Calibri"/>
              <a:sym typeface="Calibri"/>
            </a:endParaRPr>
          </a:p>
        </p:txBody>
      </p:sp>
      <p:sp>
        <p:nvSpPr>
          <p:cNvPr id="1173" name="Google Shape;1173;p26"/>
          <p:cNvSpPr/>
          <p:nvPr/>
        </p:nvSpPr>
        <p:spPr>
          <a:xfrm>
            <a:off x="4562856" y="1773936"/>
            <a:ext cx="457200" cy="457200"/>
          </a:xfrm>
          <a:prstGeom prst="rect">
            <a:avLst/>
          </a:prstGeom>
          <a:solidFill>
            <a:srgbClr val="C8EDD8"/>
          </a:solidFill>
          <a:ln w="127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4" name="Google Shape;1174;p26"/>
          <p:cNvSpPr/>
          <p:nvPr/>
        </p:nvSpPr>
        <p:spPr>
          <a:xfrm>
            <a:off x="4562856" y="1773936"/>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2C69B"/>
              </a:buClr>
              <a:buSzPts val="1300"/>
              <a:buFont typeface="Calibri"/>
              <a:buNone/>
            </a:pPr>
            <a:r>
              <a:rPr lang="en" sz="1300" b="1" i="0" u="none" strike="noStrike" cap="none">
                <a:solidFill>
                  <a:srgbClr val="52C69B"/>
                </a:solidFill>
                <a:latin typeface="Calibri"/>
                <a:ea typeface="Calibri"/>
                <a:cs typeface="Calibri"/>
                <a:sym typeface="Calibri"/>
              </a:rPr>
              <a:t>0</a:t>
            </a:r>
            <a:endParaRPr sz="1300" b="0" i="0" u="none" strike="noStrike" cap="none">
              <a:solidFill>
                <a:schemeClr val="dk1"/>
              </a:solidFill>
              <a:latin typeface="Calibri"/>
              <a:ea typeface="Calibri"/>
              <a:cs typeface="Calibri"/>
              <a:sym typeface="Calibri"/>
            </a:endParaRPr>
          </a:p>
        </p:txBody>
      </p:sp>
      <p:sp>
        <p:nvSpPr>
          <p:cNvPr id="1175" name="Google Shape;1175;p26"/>
          <p:cNvSpPr/>
          <p:nvPr/>
        </p:nvSpPr>
        <p:spPr>
          <a:xfrm>
            <a:off x="5056632" y="1773936"/>
            <a:ext cx="457200" cy="457200"/>
          </a:xfrm>
          <a:prstGeom prst="rect">
            <a:avLst/>
          </a:prstGeom>
          <a:solidFill>
            <a:srgbClr val="C8EDD8"/>
          </a:solidFill>
          <a:ln w="127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6" name="Google Shape;1176;p26"/>
          <p:cNvSpPr/>
          <p:nvPr/>
        </p:nvSpPr>
        <p:spPr>
          <a:xfrm>
            <a:off x="5056632" y="1773936"/>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2C69B"/>
              </a:buClr>
              <a:buSzPts val="1300"/>
              <a:buFont typeface="Calibri"/>
              <a:buNone/>
            </a:pPr>
            <a:r>
              <a:rPr lang="en" sz="1300" b="1" i="0" u="none" strike="noStrike" cap="none">
                <a:solidFill>
                  <a:srgbClr val="52C69B"/>
                </a:solidFill>
                <a:latin typeface="Calibri"/>
                <a:ea typeface="Calibri"/>
                <a:cs typeface="Calibri"/>
                <a:sym typeface="Calibri"/>
              </a:rPr>
              <a:t>2</a:t>
            </a:r>
            <a:endParaRPr sz="1300" b="0" i="0" u="none" strike="noStrike" cap="none">
              <a:solidFill>
                <a:schemeClr val="dk1"/>
              </a:solidFill>
              <a:latin typeface="Calibri"/>
              <a:ea typeface="Calibri"/>
              <a:cs typeface="Calibri"/>
              <a:sym typeface="Calibri"/>
            </a:endParaRPr>
          </a:p>
        </p:txBody>
      </p:sp>
      <p:sp>
        <p:nvSpPr>
          <p:cNvPr id="1177" name="Google Shape;1177;p26"/>
          <p:cNvSpPr/>
          <p:nvPr/>
        </p:nvSpPr>
        <p:spPr>
          <a:xfrm>
            <a:off x="4069080" y="2267712"/>
            <a:ext cx="457200" cy="457200"/>
          </a:xfrm>
          <a:prstGeom prst="rect">
            <a:avLst/>
          </a:prstGeom>
          <a:solidFill>
            <a:srgbClr val="C8EDD8"/>
          </a:solidFill>
          <a:ln w="127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8" name="Google Shape;1178;p26"/>
          <p:cNvSpPr/>
          <p:nvPr/>
        </p:nvSpPr>
        <p:spPr>
          <a:xfrm>
            <a:off x="4069080" y="2267712"/>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2C69B"/>
              </a:buClr>
              <a:buSzPts val="1300"/>
              <a:buFont typeface="Calibri"/>
              <a:buNone/>
            </a:pPr>
            <a:r>
              <a:rPr lang="en" sz="1300" b="1" i="0" u="none" strike="noStrike" cap="none">
                <a:solidFill>
                  <a:srgbClr val="52C69B"/>
                </a:solidFill>
                <a:latin typeface="Calibri"/>
                <a:ea typeface="Calibri"/>
                <a:cs typeface="Calibri"/>
                <a:sym typeface="Calibri"/>
              </a:rPr>
              <a:t>-1</a:t>
            </a:r>
            <a:endParaRPr sz="1300" b="0" i="0" u="none" strike="noStrike" cap="none">
              <a:solidFill>
                <a:schemeClr val="dk1"/>
              </a:solidFill>
              <a:latin typeface="Calibri"/>
              <a:ea typeface="Calibri"/>
              <a:cs typeface="Calibri"/>
              <a:sym typeface="Calibri"/>
            </a:endParaRPr>
          </a:p>
        </p:txBody>
      </p:sp>
      <p:sp>
        <p:nvSpPr>
          <p:cNvPr id="1179" name="Google Shape;1179;p26"/>
          <p:cNvSpPr/>
          <p:nvPr/>
        </p:nvSpPr>
        <p:spPr>
          <a:xfrm>
            <a:off x="4562856" y="2267712"/>
            <a:ext cx="457200" cy="457200"/>
          </a:xfrm>
          <a:prstGeom prst="rect">
            <a:avLst/>
          </a:prstGeom>
          <a:solidFill>
            <a:srgbClr val="C8EDD8"/>
          </a:solidFill>
          <a:ln w="127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0" name="Google Shape;1180;p26"/>
          <p:cNvSpPr/>
          <p:nvPr/>
        </p:nvSpPr>
        <p:spPr>
          <a:xfrm>
            <a:off x="4562856" y="2267712"/>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2C69B"/>
              </a:buClr>
              <a:buSzPts val="1300"/>
              <a:buFont typeface="Calibri"/>
              <a:buNone/>
            </a:pPr>
            <a:r>
              <a:rPr lang="en" sz="1300" b="1" i="0" u="none" strike="noStrike" cap="none">
                <a:solidFill>
                  <a:srgbClr val="52C69B"/>
                </a:solidFill>
                <a:latin typeface="Calibri"/>
                <a:ea typeface="Calibri"/>
                <a:cs typeface="Calibri"/>
                <a:sym typeface="Calibri"/>
              </a:rPr>
              <a:t>0</a:t>
            </a:r>
            <a:endParaRPr sz="1300" b="0" i="0" u="none" strike="noStrike" cap="none">
              <a:solidFill>
                <a:schemeClr val="dk1"/>
              </a:solidFill>
              <a:latin typeface="Calibri"/>
              <a:ea typeface="Calibri"/>
              <a:cs typeface="Calibri"/>
              <a:sym typeface="Calibri"/>
            </a:endParaRPr>
          </a:p>
        </p:txBody>
      </p:sp>
      <p:sp>
        <p:nvSpPr>
          <p:cNvPr id="1181" name="Google Shape;1181;p26"/>
          <p:cNvSpPr/>
          <p:nvPr/>
        </p:nvSpPr>
        <p:spPr>
          <a:xfrm>
            <a:off x="5056632" y="2267712"/>
            <a:ext cx="457200" cy="457200"/>
          </a:xfrm>
          <a:prstGeom prst="rect">
            <a:avLst/>
          </a:prstGeom>
          <a:solidFill>
            <a:srgbClr val="C8EDD8"/>
          </a:solidFill>
          <a:ln w="127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2" name="Google Shape;1182;p26"/>
          <p:cNvSpPr/>
          <p:nvPr/>
        </p:nvSpPr>
        <p:spPr>
          <a:xfrm>
            <a:off x="5056632" y="2267712"/>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2C69B"/>
              </a:buClr>
              <a:buSzPts val="1300"/>
              <a:buFont typeface="Calibri"/>
              <a:buNone/>
            </a:pPr>
            <a:r>
              <a:rPr lang="en" sz="1300" b="1" i="0" u="none" strike="noStrike" cap="none">
                <a:solidFill>
                  <a:srgbClr val="52C69B"/>
                </a:solidFill>
                <a:latin typeface="Calibri"/>
                <a:ea typeface="Calibri"/>
                <a:cs typeface="Calibri"/>
                <a:sym typeface="Calibri"/>
              </a:rPr>
              <a:t>1</a:t>
            </a:r>
            <a:endParaRPr sz="1300" b="0" i="0" u="none" strike="noStrike" cap="none">
              <a:solidFill>
                <a:schemeClr val="dk1"/>
              </a:solidFill>
              <a:latin typeface="Calibri"/>
              <a:ea typeface="Calibri"/>
              <a:cs typeface="Calibri"/>
              <a:sym typeface="Calibri"/>
            </a:endParaRPr>
          </a:p>
        </p:txBody>
      </p:sp>
      <p:sp>
        <p:nvSpPr>
          <p:cNvPr id="1183" name="Google Shape;1183;p26"/>
          <p:cNvSpPr/>
          <p:nvPr/>
        </p:nvSpPr>
        <p:spPr>
          <a:xfrm>
            <a:off x="6199632" y="2194560"/>
            <a:ext cx="4116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2200"/>
              <a:buFont typeface="Calibri"/>
              <a:buNone/>
            </a:pPr>
            <a:r>
              <a:rPr lang="en" sz="2200" b="0" i="0" u="none" strike="noStrike" cap="none">
                <a:solidFill>
                  <a:srgbClr val="1A6080"/>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1184" name="Google Shape;1184;p26"/>
          <p:cNvSpPr/>
          <p:nvPr/>
        </p:nvSpPr>
        <p:spPr>
          <a:xfrm>
            <a:off x="6720840" y="1280160"/>
            <a:ext cx="457200" cy="457200"/>
          </a:xfrm>
          <a:prstGeom prst="rect">
            <a:avLst/>
          </a:prstGeom>
          <a:solidFill>
            <a:srgbClr val="FFE0CC"/>
          </a:solidFill>
          <a:ln w="19050" cap="flat" cmpd="sng">
            <a:solidFill>
              <a:srgbClr val="FF6B3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5" name="Google Shape;1185;p26"/>
          <p:cNvSpPr/>
          <p:nvPr/>
        </p:nvSpPr>
        <p:spPr>
          <a:xfrm>
            <a:off x="6720840" y="1280160"/>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9E7D"/>
              </a:buClr>
              <a:buSzPts val="1300"/>
              <a:buFont typeface="Calibri"/>
              <a:buNone/>
            </a:pPr>
            <a:r>
              <a:rPr lang="en" sz="1300" b="1" i="0" u="none" strike="noStrike" cap="none">
                <a:solidFill>
                  <a:srgbClr val="FF9E7D"/>
                </a:solidFill>
                <a:latin typeface="Calibri"/>
                <a:ea typeface="Calibri"/>
                <a:cs typeface="Calibri"/>
                <a:sym typeface="Calibri"/>
              </a:rPr>
              <a:t>7</a:t>
            </a:r>
            <a:endParaRPr sz="1300" b="0" i="0" u="none" strike="noStrike" cap="none">
              <a:solidFill>
                <a:schemeClr val="dk1"/>
              </a:solidFill>
              <a:latin typeface="Calibri"/>
              <a:ea typeface="Calibri"/>
              <a:cs typeface="Calibri"/>
              <a:sym typeface="Calibri"/>
            </a:endParaRPr>
          </a:p>
        </p:txBody>
      </p:sp>
      <p:sp>
        <p:nvSpPr>
          <p:cNvPr id="1186" name="Google Shape;1186;p26"/>
          <p:cNvSpPr/>
          <p:nvPr/>
        </p:nvSpPr>
        <p:spPr>
          <a:xfrm>
            <a:off x="7214616" y="1280160"/>
            <a:ext cx="457200" cy="457200"/>
          </a:xfrm>
          <a:prstGeom prst="rect">
            <a:avLst/>
          </a:prstGeom>
          <a:solidFill>
            <a:srgbClr val="E8E8F8"/>
          </a:solidFill>
          <a:ln w="9525" cap="flat" cmpd="sng">
            <a:solidFill>
              <a:srgbClr val="D5D5E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7" name="Google Shape;1187;p26"/>
          <p:cNvSpPr/>
          <p:nvPr/>
        </p:nvSpPr>
        <p:spPr>
          <a:xfrm>
            <a:off x="7214616" y="1280160"/>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888AA"/>
              </a:buClr>
              <a:buSzPts val="1300"/>
              <a:buFont typeface="Calibri"/>
              <a:buNone/>
            </a:pPr>
            <a:r>
              <a:rPr lang="en" sz="1300" b="0" i="0" u="none" strike="noStrike" cap="none">
                <a:solidFill>
                  <a:srgbClr val="8888AA"/>
                </a:solidFill>
                <a:latin typeface="Calibri"/>
                <a:ea typeface="Calibri"/>
                <a:cs typeface="Calibri"/>
                <a:sym typeface="Calibri"/>
              </a:rPr>
              <a:t>0</a:t>
            </a:r>
            <a:endParaRPr sz="1300" b="0" i="0" u="none" strike="noStrike" cap="none">
              <a:solidFill>
                <a:schemeClr val="dk1"/>
              </a:solidFill>
              <a:latin typeface="Calibri"/>
              <a:ea typeface="Calibri"/>
              <a:cs typeface="Calibri"/>
              <a:sym typeface="Calibri"/>
            </a:endParaRPr>
          </a:p>
        </p:txBody>
      </p:sp>
      <p:sp>
        <p:nvSpPr>
          <p:cNvPr id="1188" name="Google Shape;1188;p26"/>
          <p:cNvSpPr/>
          <p:nvPr/>
        </p:nvSpPr>
        <p:spPr>
          <a:xfrm>
            <a:off x="7708392" y="1280160"/>
            <a:ext cx="457200" cy="457200"/>
          </a:xfrm>
          <a:prstGeom prst="rect">
            <a:avLst/>
          </a:prstGeom>
          <a:solidFill>
            <a:srgbClr val="E8E8F8"/>
          </a:solidFill>
          <a:ln w="9525" cap="flat" cmpd="sng">
            <a:solidFill>
              <a:srgbClr val="D5D5E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9" name="Google Shape;1189;p26"/>
          <p:cNvSpPr/>
          <p:nvPr/>
        </p:nvSpPr>
        <p:spPr>
          <a:xfrm>
            <a:off x="7708392" y="1280160"/>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888AA"/>
              </a:buClr>
              <a:buSzPts val="1300"/>
              <a:buFont typeface="Calibri"/>
              <a:buNone/>
            </a:pPr>
            <a:r>
              <a:rPr lang="en" sz="1300" b="0" i="0" u="none" strike="noStrike" cap="none">
                <a:solidFill>
                  <a:srgbClr val="8888AA"/>
                </a:solidFill>
                <a:latin typeface="Calibri"/>
                <a:ea typeface="Calibri"/>
                <a:cs typeface="Calibri"/>
                <a:sym typeface="Calibri"/>
              </a:rPr>
              <a:t>-6</a:t>
            </a:r>
            <a:endParaRPr sz="1300" b="0" i="0" u="none" strike="noStrike" cap="none">
              <a:solidFill>
                <a:schemeClr val="dk1"/>
              </a:solidFill>
              <a:latin typeface="Calibri"/>
              <a:ea typeface="Calibri"/>
              <a:cs typeface="Calibri"/>
              <a:sym typeface="Calibri"/>
            </a:endParaRPr>
          </a:p>
        </p:txBody>
      </p:sp>
      <p:sp>
        <p:nvSpPr>
          <p:cNvPr id="1190" name="Google Shape;1190;p26"/>
          <p:cNvSpPr/>
          <p:nvPr/>
        </p:nvSpPr>
        <p:spPr>
          <a:xfrm>
            <a:off x="6720840" y="1773936"/>
            <a:ext cx="457200" cy="457200"/>
          </a:xfrm>
          <a:prstGeom prst="rect">
            <a:avLst/>
          </a:prstGeom>
          <a:solidFill>
            <a:srgbClr val="E8E8F8"/>
          </a:solidFill>
          <a:ln w="9525" cap="flat" cmpd="sng">
            <a:solidFill>
              <a:srgbClr val="D5D5E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1" name="Google Shape;1191;p26"/>
          <p:cNvSpPr/>
          <p:nvPr/>
        </p:nvSpPr>
        <p:spPr>
          <a:xfrm>
            <a:off x="6720840" y="1773936"/>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888AA"/>
              </a:buClr>
              <a:buSzPts val="1300"/>
              <a:buFont typeface="Calibri"/>
              <a:buNone/>
            </a:pPr>
            <a:r>
              <a:rPr lang="en" sz="1300" b="0" i="0" u="none" strike="noStrike" cap="none">
                <a:solidFill>
                  <a:srgbClr val="8888AA"/>
                </a:solidFill>
                <a:latin typeface="Calibri"/>
                <a:ea typeface="Calibri"/>
                <a:cs typeface="Calibri"/>
                <a:sym typeface="Calibri"/>
              </a:rPr>
              <a:t>3</a:t>
            </a:r>
            <a:endParaRPr sz="1300" b="0" i="0" u="none" strike="noStrike" cap="none">
              <a:solidFill>
                <a:schemeClr val="dk1"/>
              </a:solidFill>
              <a:latin typeface="Calibri"/>
              <a:ea typeface="Calibri"/>
              <a:cs typeface="Calibri"/>
              <a:sym typeface="Calibri"/>
            </a:endParaRPr>
          </a:p>
        </p:txBody>
      </p:sp>
      <p:sp>
        <p:nvSpPr>
          <p:cNvPr id="1192" name="Google Shape;1192;p26"/>
          <p:cNvSpPr/>
          <p:nvPr/>
        </p:nvSpPr>
        <p:spPr>
          <a:xfrm>
            <a:off x="7214616" y="1773936"/>
            <a:ext cx="457200" cy="457200"/>
          </a:xfrm>
          <a:prstGeom prst="rect">
            <a:avLst/>
          </a:prstGeom>
          <a:solidFill>
            <a:srgbClr val="E8E8F8"/>
          </a:solidFill>
          <a:ln w="9525" cap="flat" cmpd="sng">
            <a:solidFill>
              <a:srgbClr val="D5D5E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3" name="Google Shape;1193;p26"/>
          <p:cNvSpPr/>
          <p:nvPr/>
        </p:nvSpPr>
        <p:spPr>
          <a:xfrm>
            <a:off x="7214616" y="1773936"/>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888AA"/>
              </a:buClr>
              <a:buSzPts val="1300"/>
              <a:buFont typeface="Calibri"/>
              <a:buNone/>
            </a:pPr>
            <a:r>
              <a:rPr lang="en" sz="1300" b="0" i="0" u="none" strike="noStrike" cap="none">
                <a:solidFill>
                  <a:srgbClr val="8888AA"/>
                </a:solidFill>
                <a:latin typeface="Calibri"/>
                <a:ea typeface="Calibri"/>
                <a:cs typeface="Calibri"/>
                <a:sym typeface="Calibri"/>
              </a:rPr>
              <a:t>1</a:t>
            </a:r>
            <a:endParaRPr sz="1300" b="0" i="0" u="none" strike="noStrike" cap="none">
              <a:solidFill>
                <a:schemeClr val="dk1"/>
              </a:solidFill>
              <a:latin typeface="Calibri"/>
              <a:ea typeface="Calibri"/>
              <a:cs typeface="Calibri"/>
              <a:sym typeface="Calibri"/>
            </a:endParaRPr>
          </a:p>
        </p:txBody>
      </p:sp>
      <p:sp>
        <p:nvSpPr>
          <p:cNvPr id="1194" name="Google Shape;1194;p26"/>
          <p:cNvSpPr/>
          <p:nvPr/>
        </p:nvSpPr>
        <p:spPr>
          <a:xfrm>
            <a:off x="7708392" y="1773936"/>
            <a:ext cx="457200" cy="457200"/>
          </a:xfrm>
          <a:prstGeom prst="rect">
            <a:avLst/>
          </a:prstGeom>
          <a:solidFill>
            <a:srgbClr val="E8E8F8"/>
          </a:solidFill>
          <a:ln w="9525" cap="flat" cmpd="sng">
            <a:solidFill>
              <a:srgbClr val="D5D5E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5" name="Google Shape;1195;p26"/>
          <p:cNvSpPr/>
          <p:nvPr/>
        </p:nvSpPr>
        <p:spPr>
          <a:xfrm>
            <a:off x="7708392" y="1773936"/>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888AA"/>
              </a:buClr>
              <a:buSzPts val="1300"/>
              <a:buFont typeface="Calibri"/>
              <a:buNone/>
            </a:pPr>
            <a:r>
              <a:rPr lang="en" sz="1300" b="0" i="0" u="none" strike="noStrike" cap="none">
                <a:solidFill>
                  <a:srgbClr val="8888AA"/>
                </a:solidFill>
                <a:latin typeface="Calibri"/>
                <a:ea typeface="Calibri"/>
                <a:cs typeface="Calibri"/>
                <a:sym typeface="Calibri"/>
              </a:rPr>
              <a:t>-2</a:t>
            </a:r>
            <a:endParaRPr sz="1300" b="0" i="0" u="none" strike="noStrike" cap="none">
              <a:solidFill>
                <a:schemeClr val="dk1"/>
              </a:solidFill>
              <a:latin typeface="Calibri"/>
              <a:ea typeface="Calibri"/>
              <a:cs typeface="Calibri"/>
              <a:sym typeface="Calibri"/>
            </a:endParaRPr>
          </a:p>
        </p:txBody>
      </p:sp>
      <p:sp>
        <p:nvSpPr>
          <p:cNvPr id="1196" name="Google Shape;1196;p26"/>
          <p:cNvSpPr/>
          <p:nvPr/>
        </p:nvSpPr>
        <p:spPr>
          <a:xfrm>
            <a:off x="6720840" y="2267712"/>
            <a:ext cx="457200" cy="457200"/>
          </a:xfrm>
          <a:prstGeom prst="rect">
            <a:avLst/>
          </a:prstGeom>
          <a:solidFill>
            <a:srgbClr val="E8E8F8"/>
          </a:solidFill>
          <a:ln w="9525" cap="flat" cmpd="sng">
            <a:solidFill>
              <a:srgbClr val="D5D5E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7" name="Google Shape;1197;p26"/>
          <p:cNvSpPr/>
          <p:nvPr/>
        </p:nvSpPr>
        <p:spPr>
          <a:xfrm>
            <a:off x="6720840" y="2267712"/>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888AA"/>
              </a:buClr>
              <a:buSzPts val="1300"/>
              <a:buFont typeface="Calibri"/>
              <a:buNone/>
            </a:pPr>
            <a:r>
              <a:rPr lang="en" sz="1300" b="0" i="0" u="none" strike="noStrike" cap="none">
                <a:solidFill>
                  <a:srgbClr val="8888AA"/>
                </a:solidFill>
                <a:latin typeface="Calibri"/>
                <a:ea typeface="Calibri"/>
                <a:cs typeface="Calibri"/>
                <a:sym typeface="Calibri"/>
              </a:rPr>
              <a:t>1</a:t>
            </a:r>
            <a:endParaRPr sz="1300" b="0" i="0" u="none" strike="noStrike" cap="none">
              <a:solidFill>
                <a:schemeClr val="dk1"/>
              </a:solidFill>
              <a:latin typeface="Calibri"/>
              <a:ea typeface="Calibri"/>
              <a:cs typeface="Calibri"/>
              <a:sym typeface="Calibri"/>
            </a:endParaRPr>
          </a:p>
        </p:txBody>
      </p:sp>
      <p:sp>
        <p:nvSpPr>
          <p:cNvPr id="1198" name="Google Shape;1198;p26"/>
          <p:cNvSpPr/>
          <p:nvPr/>
        </p:nvSpPr>
        <p:spPr>
          <a:xfrm>
            <a:off x="7214616" y="2267712"/>
            <a:ext cx="457200" cy="457200"/>
          </a:xfrm>
          <a:prstGeom prst="rect">
            <a:avLst/>
          </a:prstGeom>
          <a:solidFill>
            <a:srgbClr val="E8E8F8"/>
          </a:solidFill>
          <a:ln w="9525" cap="flat" cmpd="sng">
            <a:solidFill>
              <a:srgbClr val="D5D5E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9" name="Google Shape;1199;p26"/>
          <p:cNvSpPr/>
          <p:nvPr/>
        </p:nvSpPr>
        <p:spPr>
          <a:xfrm>
            <a:off x="7214616" y="2267712"/>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888AA"/>
              </a:buClr>
              <a:buSzPts val="1300"/>
              <a:buFont typeface="Calibri"/>
              <a:buNone/>
            </a:pPr>
            <a:r>
              <a:rPr lang="en" sz="1300" b="0" i="0" u="none" strike="noStrike" cap="none">
                <a:solidFill>
                  <a:srgbClr val="8888AA"/>
                </a:solidFill>
                <a:latin typeface="Calibri"/>
                <a:ea typeface="Calibri"/>
                <a:cs typeface="Calibri"/>
                <a:sym typeface="Calibri"/>
              </a:rPr>
              <a:t>4</a:t>
            </a:r>
            <a:endParaRPr sz="1300" b="0" i="0" u="none" strike="noStrike" cap="none">
              <a:solidFill>
                <a:schemeClr val="dk1"/>
              </a:solidFill>
              <a:latin typeface="Calibri"/>
              <a:ea typeface="Calibri"/>
              <a:cs typeface="Calibri"/>
              <a:sym typeface="Calibri"/>
            </a:endParaRPr>
          </a:p>
        </p:txBody>
      </p:sp>
      <p:sp>
        <p:nvSpPr>
          <p:cNvPr id="1200" name="Google Shape;1200;p26"/>
          <p:cNvSpPr/>
          <p:nvPr/>
        </p:nvSpPr>
        <p:spPr>
          <a:xfrm>
            <a:off x="7708392" y="2267712"/>
            <a:ext cx="457200" cy="457200"/>
          </a:xfrm>
          <a:prstGeom prst="rect">
            <a:avLst/>
          </a:prstGeom>
          <a:solidFill>
            <a:srgbClr val="E8E8F8"/>
          </a:solidFill>
          <a:ln w="9525" cap="flat" cmpd="sng">
            <a:solidFill>
              <a:srgbClr val="D5D5E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1" name="Google Shape;1201;p26"/>
          <p:cNvSpPr/>
          <p:nvPr/>
        </p:nvSpPr>
        <p:spPr>
          <a:xfrm>
            <a:off x="7708392" y="2267712"/>
            <a:ext cx="4572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888AA"/>
              </a:buClr>
              <a:buSzPts val="1300"/>
              <a:buFont typeface="Calibri"/>
              <a:buNone/>
            </a:pPr>
            <a:r>
              <a:rPr lang="en" sz="1300" b="0" i="0" u="none" strike="noStrike" cap="none">
                <a:solidFill>
                  <a:srgbClr val="8888AA"/>
                </a:solidFill>
                <a:latin typeface="Calibri"/>
                <a:ea typeface="Calibri"/>
                <a:cs typeface="Calibri"/>
                <a:sym typeface="Calibri"/>
              </a:rPr>
              <a:t>-2</a:t>
            </a:r>
            <a:endParaRPr sz="1300" b="0" i="0" u="none" strike="noStrike" cap="none">
              <a:solidFill>
                <a:schemeClr val="dk1"/>
              </a:solidFill>
              <a:latin typeface="Calibri"/>
              <a:ea typeface="Calibri"/>
              <a:cs typeface="Calibri"/>
              <a:sym typeface="Calibri"/>
            </a:endParaRPr>
          </a:p>
        </p:txBody>
      </p:sp>
      <p:sp>
        <p:nvSpPr>
          <p:cNvPr id="1202" name="Google Shape;1202;p26"/>
          <p:cNvSpPr/>
          <p:nvPr/>
        </p:nvSpPr>
        <p:spPr>
          <a:xfrm>
            <a:off x="283464" y="1243584"/>
            <a:ext cx="1518000" cy="366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3" name="Google Shape;1203;p26"/>
          <p:cNvSpPr/>
          <p:nvPr/>
        </p:nvSpPr>
        <p:spPr>
          <a:xfrm>
            <a:off x="283464" y="1243584"/>
            <a:ext cx="36600" cy="15180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4" name="Google Shape;1204;p26"/>
          <p:cNvSpPr/>
          <p:nvPr/>
        </p:nvSpPr>
        <p:spPr>
          <a:xfrm>
            <a:off x="1764792" y="1243584"/>
            <a:ext cx="36600" cy="15180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5" name="Google Shape;1205;p26"/>
          <p:cNvSpPr/>
          <p:nvPr/>
        </p:nvSpPr>
        <p:spPr>
          <a:xfrm>
            <a:off x="283464" y="2724912"/>
            <a:ext cx="1518000" cy="366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6" name="Google Shape;1206;p26"/>
          <p:cNvSpPr/>
          <p:nvPr/>
        </p:nvSpPr>
        <p:spPr>
          <a:xfrm>
            <a:off x="320040" y="3246120"/>
            <a:ext cx="8503800" cy="1508700"/>
          </a:xfrm>
          <a:prstGeom prst="rect">
            <a:avLst/>
          </a:prstGeom>
          <a:solidFill>
            <a:srgbClr val="DDE8F5"/>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7" name="Google Shape;1207;p26"/>
          <p:cNvSpPr/>
          <p:nvPr/>
        </p:nvSpPr>
        <p:spPr>
          <a:xfrm>
            <a:off x="320040" y="3246120"/>
            <a:ext cx="8503800" cy="456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8" name="Google Shape;1208;p26"/>
          <p:cNvSpPr/>
          <p:nvPr/>
        </p:nvSpPr>
        <p:spPr>
          <a:xfrm>
            <a:off x="502920" y="3337560"/>
            <a:ext cx="82296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6080"/>
              </a:buClr>
              <a:buSzPts val="1100"/>
              <a:buFont typeface="Calibri"/>
              <a:buNone/>
            </a:pPr>
            <a:r>
              <a:rPr lang="en" sz="1100" b="0" i="0" u="none" strike="noStrike" cap="none">
                <a:solidFill>
                  <a:srgbClr val="1A6080"/>
                </a:solidFill>
                <a:latin typeface="Calibri"/>
                <a:ea typeface="Calibri"/>
                <a:cs typeface="Calibri"/>
                <a:sym typeface="Calibri"/>
              </a:rPr>
              <a:t>Dot product — highlighted patch × kernel:</a:t>
            </a:r>
            <a:endParaRPr sz="1100" b="0" i="0" u="none" strike="noStrike" cap="none">
              <a:solidFill>
                <a:schemeClr val="dk1"/>
              </a:solidFill>
              <a:latin typeface="Calibri"/>
              <a:ea typeface="Calibri"/>
              <a:cs typeface="Calibri"/>
              <a:sym typeface="Calibri"/>
            </a:endParaRPr>
          </a:p>
        </p:txBody>
      </p:sp>
      <p:sp>
        <p:nvSpPr>
          <p:cNvPr id="1209" name="Google Shape;1209;p26"/>
          <p:cNvSpPr/>
          <p:nvPr/>
        </p:nvSpPr>
        <p:spPr>
          <a:xfrm>
            <a:off x="502920" y="3630168"/>
            <a:ext cx="82296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2E42"/>
              </a:buClr>
              <a:buSzPts val="1250"/>
              <a:buFont typeface="Calibri"/>
              <a:buNone/>
            </a:pPr>
            <a:r>
              <a:rPr lang="en" sz="1250" b="0" i="0" u="none" strike="noStrike" cap="none">
                <a:solidFill>
                  <a:srgbClr val="1A2E42"/>
                </a:solidFill>
                <a:latin typeface="Calibri"/>
                <a:ea typeface="Calibri"/>
                <a:cs typeface="Calibri"/>
                <a:sym typeface="Calibri"/>
              </a:rPr>
              <a:t>(1×-1) + (2×0) + (3×1) + (0×-2) + (1×0) + (2×2) + (1×-1) + (3×0) + (2×1)  =  7</a:t>
            </a:r>
            <a:endParaRPr sz="1250" b="0" i="0" u="none" strike="noStrike" cap="none">
              <a:solidFill>
                <a:schemeClr val="dk1"/>
              </a:solidFill>
              <a:latin typeface="Calibri"/>
              <a:ea typeface="Calibri"/>
              <a:cs typeface="Calibri"/>
              <a:sym typeface="Calibri"/>
            </a:endParaRPr>
          </a:p>
        </p:txBody>
      </p:sp>
      <p:sp>
        <p:nvSpPr>
          <p:cNvPr id="1210" name="Google Shape;1210;p26"/>
          <p:cNvSpPr/>
          <p:nvPr/>
        </p:nvSpPr>
        <p:spPr>
          <a:xfrm>
            <a:off x="502920" y="4050792"/>
            <a:ext cx="8229600" cy="594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A6070"/>
              </a:buClr>
              <a:buSzPts val="1150"/>
              <a:buFont typeface="Calibri"/>
              <a:buNone/>
            </a:pPr>
            <a:r>
              <a:rPr lang="en" sz="1150" b="0" i="0" u="none" strike="noStrike" cap="none">
                <a:solidFill>
                  <a:srgbClr val="2A6070"/>
                </a:solidFill>
                <a:latin typeface="Calibri"/>
                <a:ea typeface="Calibri"/>
                <a:cs typeface="Calibri"/>
                <a:sym typeface="Calibri"/>
              </a:rPr>
              <a:t>The filter slides across every 3×3 patch (stride = 1). Each position produces one value via element-wise multiply &amp; sum → builds the full feature map.</a:t>
            </a:r>
            <a:endParaRPr sz="1150" b="0" i="0" u="none" strike="noStrike" cap="none">
              <a:solidFill>
                <a:schemeClr val="dk1"/>
              </a:solidFill>
              <a:latin typeface="Calibri"/>
              <a:ea typeface="Calibri"/>
              <a:cs typeface="Calibri"/>
              <a:sym typeface="Calibri"/>
            </a:endParaRPr>
          </a:p>
        </p:txBody>
      </p:sp>
      <p:sp>
        <p:nvSpPr>
          <p:cNvPr id="1211" name="Google Shape;1211;p26"/>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15"/>
        <p:cNvGrpSpPr/>
        <p:nvPr/>
      </p:nvGrpSpPr>
      <p:grpSpPr>
        <a:xfrm>
          <a:off x="0" y="0"/>
          <a:ext cx="0" cy="0"/>
          <a:chOff x="0" y="0"/>
          <a:chExt cx="0" cy="0"/>
        </a:xfrm>
      </p:grpSpPr>
      <p:pic>
        <p:nvPicPr>
          <p:cNvPr id="1216" name="Google Shape;1216;p27"/>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1217" name="Google Shape;1217;p27"/>
          <p:cNvSpPr txBox="1"/>
          <p:nvPr/>
        </p:nvSpPr>
        <p:spPr>
          <a:xfrm>
            <a:off x="1052950" y="98875"/>
            <a:ext cx="6618600" cy="7683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600"/>
              <a:buFont typeface="Arial"/>
              <a:buNone/>
            </a:pPr>
            <a:r>
              <a:rPr lang="en" sz="2600" b="1" i="0" u="none" strike="noStrike" cap="none">
                <a:solidFill>
                  <a:srgbClr val="0D1B2A"/>
                </a:solidFill>
                <a:latin typeface="Calibri"/>
                <a:ea typeface="Calibri"/>
                <a:cs typeface="Calibri"/>
                <a:sym typeface="Calibri"/>
              </a:rPr>
              <a:t>Pooling Layer — Matrix Example</a:t>
            </a:r>
            <a:endParaRPr sz="2600" b="1" i="0" u="none" strike="noStrike" cap="none">
              <a:solidFill>
                <a:srgbClr val="0D1B2A"/>
              </a:solidFill>
              <a:latin typeface="Calibri"/>
              <a:ea typeface="Calibri"/>
              <a:cs typeface="Calibri"/>
              <a:sym typeface="Calibri"/>
            </a:endParaRPr>
          </a:p>
        </p:txBody>
      </p:sp>
      <p:sp>
        <p:nvSpPr>
          <p:cNvPr id="1218" name="Google Shape;1218;p27"/>
          <p:cNvSpPr/>
          <p:nvPr/>
        </p:nvSpPr>
        <p:spPr>
          <a:xfrm>
            <a:off x="283533" y="941540"/>
            <a:ext cx="29262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6080"/>
              </a:buClr>
              <a:buSzPts val="1100"/>
              <a:buFont typeface="Calibri"/>
              <a:buNone/>
            </a:pPr>
            <a:r>
              <a:rPr lang="en" sz="1100" b="0" i="0" u="none" strike="noStrike" cap="none">
                <a:solidFill>
                  <a:srgbClr val="1A6080"/>
                </a:solidFill>
                <a:latin typeface="Calibri"/>
                <a:ea typeface="Calibri"/>
                <a:cs typeface="Calibri"/>
                <a:sym typeface="Calibri"/>
              </a:rPr>
              <a:t>Input feature map  (4×4)</a:t>
            </a:r>
            <a:endParaRPr sz="1100" b="0" i="0" u="none" strike="noStrike" cap="none">
              <a:solidFill>
                <a:schemeClr val="dk1"/>
              </a:solidFill>
              <a:latin typeface="Calibri"/>
              <a:ea typeface="Calibri"/>
              <a:cs typeface="Calibri"/>
              <a:sym typeface="Calibri"/>
            </a:endParaRPr>
          </a:p>
        </p:txBody>
      </p:sp>
      <p:sp>
        <p:nvSpPr>
          <p:cNvPr id="1219" name="Google Shape;1219;p27"/>
          <p:cNvSpPr/>
          <p:nvPr/>
        </p:nvSpPr>
        <p:spPr>
          <a:xfrm>
            <a:off x="283533" y="1170140"/>
            <a:ext cx="493800" cy="493800"/>
          </a:xfrm>
          <a:prstGeom prst="rect">
            <a:avLst/>
          </a:prstGeom>
          <a:solidFill>
            <a:srgbClr val="C5E4F5"/>
          </a:solidFill>
          <a:ln w="15225"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0" name="Google Shape;1220;p27"/>
          <p:cNvSpPr/>
          <p:nvPr/>
        </p:nvSpPr>
        <p:spPr>
          <a:xfrm>
            <a:off x="283533" y="1170140"/>
            <a:ext cx="49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12</a:t>
            </a:r>
            <a:endParaRPr sz="1400" b="0" i="0" u="none" strike="noStrike" cap="none">
              <a:solidFill>
                <a:schemeClr val="dk1"/>
              </a:solidFill>
              <a:latin typeface="Calibri"/>
              <a:ea typeface="Calibri"/>
              <a:cs typeface="Calibri"/>
              <a:sym typeface="Calibri"/>
            </a:endParaRPr>
          </a:p>
        </p:txBody>
      </p:sp>
      <p:sp>
        <p:nvSpPr>
          <p:cNvPr id="1221" name="Google Shape;1221;p27"/>
          <p:cNvSpPr/>
          <p:nvPr/>
        </p:nvSpPr>
        <p:spPr>
          <a:xfrm>
            <a:off x="813885" y="1170140"/>
            <a:ext cx="493800" cy="493800"/>
          </a:xfrm>
          <a:prstGeom prst="rect">
            <a:avLst/>
          </a:prstGeom>
          <a:solidFill>
            <a:srgbClr val="C5E4F5"/>
          </a:solidFill>
          <a:ln w="15225"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2" name="Google Shape;1222;p27"/>
          <p:cNvSpPr/>
          <p:nvPr/>
        </p:nvSpPr>
        <p:spPr>
          <a:xfrm>
            <a:off x="813885" y="1170140"/>
            <a:ext cx="49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20</a:t>
            </a:r>
            <a:endParaRPr sz="1400" b="0" i="0" u="none" strike="noStrike" cap="none">
              <a:solidFill>
                <a:schemeClr val="dk1"/>
              </a:solidFill>
              <a:latin typeface="Calibri"/>
              <a:ea typeface="Calibri"/>
              <a:cs typeface="Calibri"/>
              <a:sym typeface="Calibri"/>
            </a:endParaRPr>
          </a:p>
        </p:txBody>
      </p:sp>
      <p:sp>
        <p:nvSpPr>
          <p:cNvPr id="1223" name="Google Shape;1223;p27"/>
          <p:cNvSpPr/>
          <p:nvPr/>
        </p:nvSpPr>
        <p:spPr>
          <a:xfrm>
            <a:off x="1344237" y="1170140"/>
            <a:ext cx="493800" cy="493800"/>
          </a:xfrm>
          <a:prstGeom prst="rect">
            <a:avLst/>
          </a:prstGeom>
          <a:solidFill>
            <a:srgbClr val="C8EED8"/>
          </a:solidFill>
          <a:ln w="15225"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4" name="Google Shape;1224;p27"/>
          <p:cNvSpPr/>
          <p:nvPr/>
        </p:nvSpPr>
        <p:spPr>
          <a:xfrm>
            <a:off x="1344237" y="1170140"/>
            <a:ext cx="49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8</a:t>
            </a:r>
            <a:endParaRPr sz="1400" b="0" i="0" u="none" strike="noStrike" cap="none">
              <a:solidFill>
                <a:schemeClr val="dk1"/>
              </a:solidFill>
              <a:latin typeface="Calibri"/>
              <a:ea typeface="Calibri"/>
              <a:cs typeface="Calibri"/>
              <a:sym typeface="Calibri"/>
            </a:endParaRPr>
          </a:p>
        </p:txBody>
      </p:sp>
      <p:sp>
        <p:nvSpPr>
          <p:cNvPr id="1225" name="Google Shape;1225;p27"/>
          <p:cNvSpPr/>
          <p:nvPr/>
        </p:nvSpPr>
        <p:spPr>
          <a:xfrm>
            <a:off x="1874588" y="1170140"/>
            <a:ext cx="493800" cy="493800"/>
          </a:xfrm>
          <a:prstGeom prst="rect">
            <a:avLst/>
          </a:prstGeom>
          <a:solidFill>
            <a:srgbClr val="C8EED8"/>
          </a:solidFill>
          <a:ln w="15225"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6" name="Google Shape;1226;p27"/>
          <p:cNvSpPr/>
          <p:nvPr/>
        </p:nvSpPr>
        <p:spPr>
          <a:xfrm>
            <a:off x="1874588" y="1170140"/>
            <a:ext cx="49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1227" name="Google Shape;1227;p27"/>
          <p:cNvSpPr/>
          <p:nvPr/>
        </p:nvSpPr>
        <p:spPr>
          <a:xfrm>
            <a:off x="283533" y="1700492"/>
            <a:ext cx="493800" cy="493800"/>
          </a:xfrm>
          <a:prstGeom prst="rect">
            <a:avLst/>
          </a:prstGeom>
          <a:solidFill>
            <a:srgbClr val="C5E4F5"/>
          </a:solidFill>
          <a:ln w="15225"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8" name="Google Shape;1228;p27"/>
          <p:cNvSpPr/>
          <p:nvPr/>
        </p:nvSpPr>
        <p:spPr>
          <a:xfrm>
            <a:off x="283533" y="1700492"/>
            <a:ext cx="49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18</a:t>
            </a:r>
            <a:endParaRPr sz="1400" b="0" i="0" u="none" strike="noStrike" cap="none">
              <a:solidFill>
                <a:schemeClr val="dk1"/>
              </a:solidFill>
              <a:latin typeface="Calibri"/>
              <a:ea typeface="Calibri"/>
              <a:cs typeface="Calibri"/>
              <a:sym typeface="Calibri"/>
            </a:endParaRPr>
          </a:p>
        </p:txBody>
      </p:sp>
      <p:sp>
        <p:nvSpPr>
          <p:cNvPr id="1229" name="Google Shape;1229;p27"/>
          <p:cNvSpPr/>
          <p:nvPr/>
        </p:nvSpPr>
        <p:spPr>
          <a:xfrm>
            <a:off x="813885" y="1700492"/>
            <a:ext cx="493800" cy="493800"/>
          </a:xfrm>
          <a:prstGeom prst="rect">
            <a:avLst/>
          </a:prstGeom>
          <a:solidFill>
            <a:srgbClr val="C5E4F5"/>
          </a:solidFill>
          <a:ln w="15225"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0" name="Google Shape;1230;p27"/>
          <p:cNvSpPr/>
          <p:nvPr/>
        </p:nvSpPr>
        <p:spPr>
          <a:xfrm>
            <a:off x="813885" y="1700492"/>
            <a:ext cx="49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36</a:t>
            </a:r>
            <a:endParaRPr sz="1400" b="0" i="0" u="none" strike="noStrike" cap="none">
              <a:solidFill>
                <a:schemeClr val="dk1"/>
              </a:solidFill>
              <a:latin typeface="Calibri"/>
              <a:ea typeface="Calibri"/>
              <a:cs typeface="Calibri"/>
              <a:sym typeface="Calibri"/>
            </a:endParaRPr>
          </a:p>
        </p:txBody>
      </p:sp>
      <p:sp>
        <p:nvSpPr>
          <p:cNvPr id="1231" name="Google Shape;1231;p27"/>
          <p:cNvSpPr/>
          <p:nvPr/>
        </p:nvSpPr>
        <p:spPr>
          <a:xfrm>
            <a:off x="1344237" y="1700492"/>
            <a:ext cx="493800" cy="493800"/>
          </a:xfrm>
          <a:prstGeom prst="rect">
            <a:avLst/>
          </a:prstGeom>
          <a:solidFill>
            <a:srgbClr val="C8EED8"/>
          </a:solidFill>
          <a:ln w="15225"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2" name="Google Shape;1232;p27"/>
          <p:cNvSpPr/>
          <p:nvPr/>
        </p:nvSpPr>
        <p:spPr>
          <a:xfrm>
            <a:off x="1344237" y="1700492"/>
            <a:ext cx="49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14</a:t>
            </a:r>
            <a:endParaRPr sz="1400" b="0" i="0" u="none" strike="noStrike" cap="none">
              <a:solidFill>
                <a:schemeClr val="dk1"/>
              </a:solidFill>
              <a:latin typeface="Calibri"/>
              <a:ea typeface="Calibri"/>
              <a:cs typeface="Calibri"/>
              <a:sym typeface="Calibri"/>
            </a:endParaRPr>
          </a:p>
        </p:txBody>
      </p:sp>
      <p:sp>
        <p:nvSpPr>
          <p:cNvPr id="1233" name="Google Shape;1233;p27"/>
          <p:cNvSpPr/>
          <p:nvPr/>
        </p:nvSpPr>
        <p:spPr>
          <a:xfrm>
            <a:off x="1874588" y="1700492"/>
            <a:ext cx="493800" cy="493800"/>
          </a:xfrm>
          <a:prstGeom prst="rect">
            <a:avLst/>
          </a:prstGeom>
          <a:solidFill>
            <a:srgbClr val="C8EED8"/>
          </a:solidFill>
          <a:ln w="15225"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4" name="Google Shape;1234;p27"/>
          <p:cNvSpPr/>
          <p:nvPr/>
        </p:nvSpPr>
        <p:spPr>
          <a:xfrm>
            <a:off x="1874588" y="1700492"/>
            <a:ext cx="49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6</a:t>
            </a:r>
            <a:endParaRPr sz="1400" b="0" i="0" u="none" strike="noStrike" cap="none">
              <a:solidFill>
                <a:schemeClr val="dk1"/>
              </a:solidFill>
              <a:latin typeface="Calibri"/>
              <a:ea typeface="Calibri"/>
              <a:cs typeface="Calibri"/>
              <a:sym typeface="Calibri"/>
            </a:endParaRPr>
          </a:p>
        </p:txBody>
      </p:sp>
      <p:sp>
        <p:nvSpPr>
          <p:cNvPr id="1235" name="Google Shape;1235;p27"/>
          <p:cNvSpPr/>
          <p:nvPr/>
        </p:nvSpPr>
        <p:spPr>
          <a:xfrm>
            <a:off x="283533" y="2230844"/>
            <a:ext cx="493800" cy="493800"/>
          </a:xfrm>
          <a:prstGeom prst="rect">
            <a:avLst/>
          </a:prstGeom>
          <a:solidFill>
            <a:srgbClr val="FDDEBA"/>
          </a:solidFill>
          <a:ln w="15225"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6" name="Google Shape;1236;p27"/>
          <p:cNvSpPr/>
          <p:nvPr/>
        </p:nvSpPr>
        <p:spPr>
          <a:xfrm>
            <a:off x="283533" y="2230844"/>
            <a:ext cx="49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5</a:t>
            </a:r>
            <a:endParaRPr sz="1400" b="0" i="0" u="none" strike="noStrike" cap="none">
              <a:solidFill>
                <a:schemeClr val="dk1"/>
              </a:solidFill>
              <a:latin typeface="Calibri"/>
              <a:ea typeface="Calibri"/>
              <a:cs typeface="Calibri"/>
              <a:sym typeface="Calibri"/>
            </a:endParaRPr>
          </a:p>
        </p:txBody>
      </p:sp>
      <p:sp>
        <p:nvSpPr>
          <p:cNvPr id="1237" name="Google Shape;1237;p27"/>
          <p:cNvSpPr/>
          <p:nvPr/>
        </p:nvSpPr>
        <p:spPr>
          <a:xfrm>
            <a:off x="813885" y="2230844"/>
            <a:ext cx="493800" cy="493800"/>
          </a:xfrm>
          <a:prstGeom prst="rect">
            <a:avLst/>
          </a:prstGeom>
          <a:solidFill>
            <a:srgbClr val="FDDEBA"/>
          </a:solidFill>
          <a:ln w="15225"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8" name="Google Shape;1238;p27"/>
          <p:cNvSpPr/>
          <p:nvPr/>
        </p:nvSpPr>
        <p:spPr>
          <a:xfrm>
            <a:off x="813885" y="2230844"/>
            <a:ext cx="49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11</a:t>
            </a:r>
            <a:endParaRPr sz="1400" b="0" i="0" u="none" strike="noStrike" cap="none">
              <a:solidFill>
                <a:schemeClr val="dk1"/>
              </a:solidFill>
              <a:latin typeface="Calibri"/>
              <a:ea typeface="Calibri"/>
              <a:cs typeface="Calibri"/>
              <a:sym typeface="Calibri"/>
            </a:endParaRPr>
          </a:p>
        </p:txBody>
      </p:sp>
      <p:sp>
        <p:nvSpPr>
          <p:cNvPr id="1239" name="Google Shape;1239;p27"/>
          <p:cNvSpPr/>
          <p:nvPr/>
        </p:nvSpPr>
        <p:spPr>
          <a:xfrm>
            <a:off x="1344237" y="2230844"/>
            <a:ext cx="493800" cy="493800"/>
          </a:xfrm>
          <a:prstGeom prst="rect">
            <a:avLst/>
          </a:prstGeom>
          <a:solidFill>
            <a:srgbClr val="EED5FF"/>
          </a:solidFill>
          <a:ln w="15225" cap="flat" cmpd="sng">
            <a:solidFill>
              <a:srgbClr val="A855F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0" name="Google Shape;1240;p27"/>
          <p:cNvSpPr/>
          <p:nvPr/>
        </p:nvSpPr>
        <p:spPr>
          <a:xfrm>
            <a:off x="1344237" y="2230844"/>
            <a:ext cx="49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22</a:t>
            </a:r>
            <a:endParaRPr sz="1400" b="0" i="0" u="none" strike="noStrike" cap="none">
              <a:solidFill>
                <a:schemeClr val="dk1"/>
              </a:solidFill>
              <a:latin typeface="Calibri"/>
              <a:ea typeface="Calibri"/>
              <a:cs typeface="Calibri"/>
              <a:sym typeface="Calibri"/>
            </a:endParaRPr>
          </a:p>
        </p:txBody>
      </p:sp>
      <p:sp>
        <p:nvSpPr>
          <p:cNvPr id="1241" name="Google Shape;1241;p27"/>
          <p:cNvSpPr/>
          <p:nvPr/>
        </p:nvSpPr>
        <p:spPr>
          <a:xfrm>
            <a:off x="1874588" y="2230844"/>
            <a:ext cx="493800" cy="493800"/>
          </a:xfrm>
          <a:prstGeom prst="rect">
            <a:avLst/>
          </a:prstGeom>
          <a:solidFill>
            <a:srgbClr val="EED5FF"/>
          </a:solidFill>
          <a:ln w="15225" cap="flat" cmpd="sng">
            <a:solidFill>
              <a:srgbClr val="A855F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2" name="Google Shape;1242;p27"/>
          <p:cNvSpPr/>
          <p:nvPr/>
        </p:nvSpPr>
        <p:spPr>
          <a:xfrm>
            <a:off x="1874588" y="2230844"/>
            <a:ext cx="49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30</a:t>
            </a:r>
            <a:endParaRPr sz="1400" b="0" i="0" u="none" strike="noStrike" cap="none">
              <a:solidFill>
                <a:schemeClr val="dk1"/>
              </a:solidFill>
              <a:latin typeface="Calibri"/>
              <a:ea typeface="Calibri"/>
              <a:cs typeface="Calibri"/>
              <a:sym typeface="Calibri"/>
            </a:endParaRPr>
          </a:p>
        </p:txBody>
      </p:sp>
      <p:sp>
        <p:nvSpPr>
          <p:cNvPr id="1243" name="Google Shape;1243;p27"/>
          <p:cNvSpPr/>
          <p:nvPr/>
        </p:nvSpPr>
        <p:spPr>
          <a:xfrm>
            <a:off x="283533" y="2761196"/>
            <a:ext cx="493800" cy="493800"/>
          </a:xfrm>
          <a:prstGeom prst="rect">
            <a:avLst/>
          </a:prstGeom>
          <a:solidFill>
            <a:srgbClr val="FDDEBA"/>
          </a:solidFill>
          <a:ln w="15225"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4" name="Google Shape;1244;p27"/>
          <p:cNvSpPr/>
          <p:nvPr/>
        </p:nvSpPr>
        <p:spPr>
          <a:xfrm>
            <a:off x="283533" y="2761196"/>
            <a:ext cx="49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245" name="Google Shape;1245;p27"/>
          <p:cNvSpPr/>
          <p:nvPr/>
        </p:nvSpPr>
        <p:spPr>
          <a:xfrm>
            <a:off x="813885" y="2761196"/>
            <a:ext cx="493800" cy="493800"/>
          </a:xfrm>
          <a:prstGeom prst="rect">
            <a:avLst/>
          </a:prstGeom>
          <a:solidFill>
            <a:srgbClr val="FDDEBA"/>
          </a:solidFill>
          <a:ln w="15225"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6" name="Google Shape;1246;p27"/>
          <p:cNvSpPr/>
          <p:nvPr/>
        </p:nvSpPr>
        <p:spPr>
          <a:xfrm>
            <a:off x="813885" y="2761196"/>
            <a:ext cx="49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7</a:t>
            </a:r>
            <a:endParaRPr sz="1400" b="0" i="0" u="none" strike="noStrike" cap="none">
              <a:solidFill>
                <a:schemeClr val="dk1"/>
              </a:solidFill>
              <a:latin typeface="Calibri"/>
              <a:ea typeface="Calibri"/>
              <a:cs typeface="Calibri"/>
              <a:sym typeface="Calibri"/>
            </a:endParaRPr>
          </a:p>
        </p:txBody>
      </p:sp>
      <p:sp>
        <p:nvSpPr>
          <p:cNvPr id="1247" name="Google Shape;1247;p27"/>
          <p:cNvSpPr/>
          <p:nvPr/>
        </p:nvSpPr>
        <p:spPr>
          <a:xfrm>
            <a:off x="1344237" y="2761196"/>
            <a:ext cx="493800" cy="493800"/>
          </a:xfrm>
          <a:prstGeom prst="rect">
            <a:avLst/>
          </a:prstGeom>
          <a:solidFill>
            <a:srgbClr val="EED5FF"/>
          </a:solidFill>
          <a:ln w="15225" cap="flat" cmpd="sng">
            <a:solidFill>
              <a:srgbClr val="A855F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8" name="Google Shape;1248;p27"/>
          <p:cNvSpPr/>
          <p:nvPr/>
        </p:nvSpPr>
        <p:spPr>
          <a:xfrm>
            <a:off x="1344237" y="2761196"/>
            <a:ext cx="49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17</a:t>
            </a:r>
            <a:endParaRPr sz="1400" b="0" i="0" u="none" strike="noStrike" cap="none">
              <a:solidFill>
                <a:schemeClr val="dk1"/>
              </a:solidFill>
              <a:latin typeface="Calibri"/>
              <a:ea typeface="Calibri"/>
              <a:cs typeface="Calibri"/>
              <a:sym typeface="Calibri"/>
            </a:endParaRPr>
          </a:p>
        </p:txBody>
      </p:sp>
      <p:sp>
        <p:nvSpPr>
          <p:cNvPr id="1249" name="Google Shape;1249;p27"/>
          <p:cNvSpPr/>
          <p:nvPr/>
        </p:nvSpPr>
        <p:spPr>
          <a:xfrm>
            <a:off x="1874588" y="2761196"/>
            <a:ext cx="493800" cy="493800"/>
          </a:xfrm>
          <a:prstGeom prst="rect">
            <a:avLst/>
          </a:prstGeom>
          <a:solidFill>
            <a:srgbClr val="EED5FF"/>
          </a:solidFill>
          <a:ln w="15225" cap="flat" cmpd="sng">
            <a:solidFill>
              <a:srgbClr val="A855F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0" name="Google Shape;1250;p27"/>
          <p:cNvSpPr/>
          <p:nvPr/>
        </p:nvSpPr>
        <p:spPr>
          <a:xfrm>
            <a:off x="1874588" y="2761196"/>
            <a:ext cx="493800" cy="493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25</a:t>
            </a:r>
            <a:endParaRPr sz="1400" b="0" i="0" u="none" strike="noStrike" cap="none">
              <a:solidFill>
                <a:schemeClr val="dk1"/>
              </a:solidFill>
              <a:latin typeface="Calibri"/>
              <a:ea typeface="Calibri"/>
              <a:cs typeface="Calibri"/>
              <a:sym typeface="Calibri"/>
            </a:endParaRPr>
          </a:p>
        </p:txBody>
      </p:sp>
      <p:sp>
        <p:nvSpPr>
          <p:cNvPr id="1251" name="Google Shape;1251;p27"/>
          <p:cNvSpPr/>
          <p:nvPr/>
        </p:nvSpPr>
        <p:spPr>
          <a:xfrm>
            <a:off x="1307661" y="1115276"/>
            <a:ext cx="36600" cy="2194500"/>
          </a:xfrm>
          <a:prstGeom prst="rect">
            <a:avLst/>
          </a:prstGeom>
          <a:solidFill>
            <a:srgbClr val="1A2E4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2" name="Google Shape;1252;p27"/>
          <p:cNvSpPr/>
          <p:nvPr/>
        </p:nvSpPr>
        <p:spPr>
          <a:xfrm>
            <a:off x="228668" y="2194268"/>
            <a:ext cx="2194500" cy="36600"/>
          </a:xfrm>
          <a:prstGeom prst="rect">
            <a:avLst/>
          </a:prstGeom>
          <a:solidFill>
            <a:srgbClr val="1A2E4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3" name="Google Shape;1253;p27"/>
          <p:cNvSpPr/>
          <p:nvPr/>
        </p:nvSpPr>
        <p:spPr>
          <a:xfrm>
            <a:off x="3255332" y="1810220"/>
            <a:ext cx="1280100" cy="54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1000"/>
              <a:buFont typeface="Calibri"/>
              <a:buNone/>
            </a:pPr>
            <a:r>
              <a:rPr lang="en" sz="1000" b="0" i="1" u="none" strike="noStrike" cap="none">
                <a:solidFill>
                  <a:srgbClr val="1A6080"/>
                </a:solidFill>
                <a:latin typeface="Calibri"/>
                <a:ea typeface="Calibri"/>
                <a:cs typeface="Calibri"/>
                <a:sym typeface="Calibri"/>
              </a:rPr>
              <a:t>Max Pool</a:t>
            </a:r>
            <a:endParaRPr sz="10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1000"/>
              <a:buFont typeface="Calibri"/>
              <a:buNone/>
            </a:pPr>
            <a:r>
              <a:rPr lang="en" sz="1000" b="0" i="1" u="none" strike="noStrike" cap="none">
                <a:solidFill>
                  <a:srgbClr val="1A6080"/>
                </a:solidFill>
                <a:latin typeface="Calibri"/>
                <a:ea typeface="Calibri"/>
                <a:cs typeface="Calibri"/>
                <a:sym typeface="Calibri"/>
              </a:rPr>
              <a:t>(2×2, stride 2)</a:t>
            </a:r>
            <a:endParaRPr sz="1000" b="0" i="0" u="none" strike="noStrike" cap="none">
              <a:solidFill>
                <a:schemeClr val="dk1"/>
              </a:solidFill>
              <a:latin typeface="Calibri"/>
              <a:ea typeface="Calibri"/>
              <a:cs typeface="Calibri"/>
              <a:sym typeface="Calibri"/>
            </a:endParaRPr>
          </a:p>
        </p:txBody>
      </p:sp>
      <p:sp>
        <p:nvSpPr>
          <p:cNvPr id="1254" name="Google Shape;1254;p27"/>
          <p:cNvSpPr/>
          <p:nvPr/>
        </p:nvSpPr>
        <p:spPr>
          <a:xfrm>
            <a:off x="3392493" y="2267420"/>
            <a:ext cx="10059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B4D8"/>
              </a:buClr>
              <a:buSzPts val="2400"/>
              <a:buFont typeface="Calibri"/>
              <a:buNone/>
            </a:pPr>
            <a:r>
              <a:rPr lang="en" sz="2400" b="0" i="0" u="none" strike="noStrike" cap="none">
                <a:solidFill>
                  <a:srgbClr val="00B4D8"/>
                </a:solidFill>
                <a:latin typeface="Calibri"/>
                <a:ea typeface="Calibri"/>
                <a:cs typeface="Calibri"/>
                <a:sym typeface="Calibri"/>
              </a:rPr>
              <a:t>→</a:t>
            </a:r>
            <a:endParaRPr sz="2400" b="0" i="0" u="none" strike="noStrike" cap="none">
              <a:solidFill>
                <a:schemeClr val="dk1"/>
              </a:solidFill>
              <a:latin typeface="Calibri"/>
              <a:ea typeface="Calibri"/>
              <a:cs typeface="Calibri"/>
              <a:sym typeface="Calibri"/>
            </a:endParaRPr>
          </a:p>
        </p:txBody>
      </p:sp>
      <p:sp>
        <p:nvSpPr>
          <p:cNvPr id="1255" name="Google Shape;1255;p27"/>
          <p:cNvSpPr/>
          <p:nvPr/>
        </p:nvSpPr>
        <p:spPr>
          <a:xfrm>
            <a:off x="4672653" y="941540"/>
            <a:ext cx="27432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6080"/>
              </a:buClr>
              <a:buSzPts val="1100"/>
              <a:buFont typeface="Calibri"/>
              <a:buNone/>
            </a:pPr>
            <a:r>
              <a:rPr lang="en" sz="1100" b="0" i="0" u="none" strike="noStrike" cap="none">
                <a:solidFill>
                  <a:srgbClr val="1A6080"/>
                </a:solidFill>
                <a:latin typeface="Calibri"/>
                <a:ea typeface="Calibri"/>
                <a:cs typeface="Calibri"/>
                <a:sym typeface="Calibri"/>
              </a:rPr>
              <a:t>Max-pooled output  (2×2)</a:t>
            </a:r>
            <a:endParaRPr sz="1100" b="0" i="0" u="none" strike="noStrike" cap="none">
              <a:solidFill>
                <a:schemeClr val="dk1"/>
              </a:solidFill>
              <a:latin typeface="Calibri"/>
              <a:ea typeface="Calibri"/>
              <a:cs typeface="Calibri"/>
              <a:sym typeface="Calibri"/>
            </a:endParaRPr>
          </a:p>
        </p:txBody>
      </p:sp>
      <p:sp>
        <p:nvSpPr>
          <p:cNvPr id="1256" name="Google Shape;1256;p27"/>
          <p:cNvSpPr/>
          <p:nvPr/>
        </p:nvSpPr>
        <p:spPr>
          <a:xfrm>
            <a:off x="4672653" y="1170140"/>
            <a:ext cx="658500" cy="658500"/>
          </a:xfrm>
          <a:prstGeom prst="rect">
            <a:avLst/>
          </a:prstGeom>
          <a:solidFill>
            <a:srgbClr val="C5E4F5"/>
          </a:solidFill>
          <a:ln w="2540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7" name="Google Shape;1257;p27"/>
          <p:cNvSpPr/>
          <p:nvPr/>
        </p:nvSpPr>
        <p:spPr>
          <a:xfrm>
            <a:off x="4672653" y="1170140"/>
            <a:ext cx="658500" cy="658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2200"/>
              <a:buFont typeface="Calibri"/>
              <a:buNone/>
            </a:pPr>
            <a:r>
              <a:rPr lang="en" sz="2200" b="1" i="0" u="none" strike="noStrike" cap="none">
                <a:solidFill>
                  <a:srgbClr val="1A2E42"/>
                </a:solidFill>
                <a:latin typeface="Calibri"/>
                <a:ea typeface="Calibri"/>
                <a:cs typeface="Calibri"/>
                <a:sym typeface="Calibri"/>
              </a:rPr>
              <a:t>36</a:t>
            </a:r>
            <a:endParaRPr sz="2200" b="0" i="0" u="none" strike="noStrike" cap="none">
              <a:solidFill>
                <a:schemeClr val="dk1"/>
              </a:solidFill>
              <a:latin typeface="Calibri"/>
              <a:ea typeface="Calibri"/>
              <a:cs typeface="Calibri"/>
              <a:sym typeface="Calibri"/>
            </a:endParaRPr>
          </a:p>
        </p:txBody>
      </p:sp>
      <p:sp>
        <p:nvSpPr>
          <p:cNvPr id="1258" name="Google Shape;1258;p27"/>
          <p:cNvSpPr/>
          <p:nvPr/>
        </p:nvSpPr>
        <p:spPr>
          <a:xfrm>
            <a:off x="5404173" y="1170140"/>
            <a:ext cx="658500" cy="658500"/>
          </a:xfrm>
          <a:prstGeom prst="rect">
            <a:avLst/>
          </a:prstGeom>
          <a:solidFill>
            <a:srgbClr val="C8EED8"/>
          </a:solidFill>
          <a:ln w="254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9" name="Google Shape;1259;p27"/>
          <p:cNvSpPr/>
          <p:nvPr/>
        </p:nvSpPr>
        <p:spPr>
          <a:xfrm>
            <a:off x="5404173" y="1170140"/>
            <a:ext cx="658500" cy="658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2200"/>
              <a:buFont typeface="Calibri"/>
              <a:buNone/>
            </a:pPr>
            <a:r>
              <a:rPr lang="en" sz="2200" b="1" i="0" u="none" strike="noStrike" cap="none">
                <a:solidFill>
                  <a:srgbClr val="1A2E42"/>
                </a:solidFill>
                <a:latin typeface="Calibri"/>
                <a:ea typeface="Calibri"/>
                <a:cs typeface="Calibri"/>
                <a:sym typeface="Calibri"/>
              </a:rPr>
              <a:t>14</a:t>
            </a:r>
            <a:endParaRPr sz="2200" b="0" i="0" u="none" strike="noStrike" cap="none">
              <a:solidFill>
                <a:schemeClr val="dk1"/>
              </a:solidFill>
              <a:latin typeface="Calibri"/>
              <a:ea typeface="Calibri"/>
              <a:cs typeface="Calibri"/>
              <a:sym typeface="Calibri"/>
            </a:endParaRPr>
          </a:p>
        </p:txBody>
      </p:sp>
      <p:sp>
        <p:nvSpPr>
          <p:cNvPr id="1260" name="Google Shape;1260;p27"/>
          <p:cNvSpPr/>
          <p:nvPr/>
        </p:nvSpPr>
        <p:spPr>
          <a:xfrm>
            <a:off x="4672653" y="1901660"/>
            <a:ext cx="658500" cy="658500"/>
          </a:xfrm>
          <a:prstGeom prst="rect">
            <a:avLst/>
          </a:prstGeom>
          <a:solidFill>
            <a:srgbClr val="FDDEBA"/>
          </a:solidFill>
          <a:ln w="25400"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1" name="Google Shape;1261;p27"/>
          <p:cNvSpPr/>
          <p:nvPr/>
        </p:nvSpPr>
        <p:spPr>
          <a:xfrm>
            <a:off x="4672653" y="1901660"/>
            <a:ext cx="658500" cy="658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2200"/>
              <a:buFont typeface="Calibri"/>
              <a:buNone/>
            </a:pPr>
            <a:r>
              <a:rPr lang="en" sz="2200" b="1" i="0" u="none" strike="noStrike" cap="none">
                <a:solidFill>
                  <a:srgbClr val="1A2E42"/>
                </a:solidFill>
                <a:latin typeface="Calibri"/>
                <a:ea typeface="Calibri"/>
                <a:cs typeface="Calibri"/>
                <a:sym typeface="Calibri"/>
              </a:rPr>
              <a:t>11</a:t>
            </a:r>
            <a:endParaRPr sz="2200" b="0" i="0" u="none" strike="noStrike" cap="none">
              <a:solidFill>
                <a:schemeClr val="dk1"/>
              </a:solidFill>
              <a:latin typeface="Calibri"/>
              <a:ea typeface="Calibri"/>
              <a:cs typeface="Calibri"/>
              <a:sym typeface="Calibri"/>
            </a:endParaRPr>
          </a:p>
        </p:txBody>
      </p:sp>
      <p:sp>
        <p:nvSpPr>
          <p:cNvPr id="1262" name="Google Shape;1262;p27"/>
          <p:cNvSpPr/>
          <p:nvPr/>
        </p:nvSpPr>
        <p:spPr>
          <a:xfrm>
            <a:off x="5404173" y="1901660"/>
            <a:ext cx="658500" cy="658500"/>
          </a:xfrm>
          <a:prstGeom prst="rect">
            <a:avLst/>
          </a:prstGeom>
          <a:solidFill>
            <a:srgbClr val="EED5FF"/>
          </a:solidFill>
          <a:ln w="25400" cap="flat" cmpd="sng">
            <a:solidFill>
              <a:srgbClr val="A855F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3" name="Google Shape;1263;p27"/>
          <p:cNvSpPr/>
          <p:nvPr/>
        </p:nvSpPr>
        <p:spPr>
          <a:xfrm>
            <a:off x="5404173" y="1901660"/>
            <a:ext cx="658500" cy="658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2200"/>
              <a:buFont typeface="Calibri"/>
              <a:buNone/>
            </a:pPr>
            <a:r>
              <a:rPr lang="en" sz="2200" b="1" i="0" u="none" strike="noStrike" cap="none">
                <a:solidFill>
                  <a:srgbClr val="1A2E42"/>
                </a:solidFill>
                <a:latin typeface="Calibri"/>
                <a:ea typeface="Calibri"/>
                <a:cs typeface="Calibri"/>
                <a:sym typeface="Calibri"/>
              </a:rPr>
              <a:t>30</a:t>
            </a:r>
            <a:endParaRPr sz="2200" b="0" i="0" u="none" strike="noStrike" cap="none">
              <a:solidFill>
                <a:schemeClr val="dk1"/>
              </a:solidFill>
              <a:latin typeface="Calibri"/>
              <a:ea typeface="Calibri"/>
              <a:cs typeface="Calibri"/>
              <a:sym typeface="Calibri"/>
            </a:endParaRPr>
          </a:p>
        </p:txBody>
      </p:sp>
      <p:sp>
        <p:nvSpPr>
          <p:cNvPr id="1264" name="Google Shape;1264;p27"/>
          <p:cNvSpPr/>
          <p:nvPr/>
        </p:nvSpPr>
        <p:spPr>
          <a:xfrm>
            <a:off x="283532" y="4004780"/>
            <a:ext cx="8595300" cy="1005900"/>
          </a:xfrm>
          <a:prstGeom prst="rect">
            <a:avLst/>
          </a:prstGeom>
          <a:solidFill>
            <a:srgbClr val="DDE8F5"/>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5" name="Google Shape;1265;p27"/>
          <p:cNvSpPr/>
          <p:nvPr/>
        </p:nvSpPr>
        <p:spPr>
          <a:xfrm>
            <a:off x="283532" y="4004780"/>
            <a:ext cx="8595300" cy="456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6" name="Google Shape;1266;p27"/>
          <p:cNvSpPr/>
          <p:nvPr/>
        </p:nvSpPr>
        <p:spPr>
          <a:xfrm>
            <a:off x="466413" y="4077932"/>
            <a:ext cx="82296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6080"/>
              </a:buClr>
              <a:buSzPts val="1100"/>
              <a:buFont typeface="Calibri"/>
              <a:buNone/>
            </a:pPr>
            <a:r>
              <a:rPr lang="en" sz="1100" b="1" i="0" u="none" strike="noStrike" cap="none">
                <a:solidFill>
                  <a:srgbClr val="1A6080"/>
                </a:solidFill>
                <a:latin typeface="Calibri"/>
                <a:ea typeface="Calibri"/>
                <a:cs typeface="Calibri"/>
                <a:sym typeface="Calibri"/>
              </a:rPr>
              <a:t>Window colour key  +  How Max Pooling works:</a:t>
            </a:r>
            <a:endParaRPr sz="1100" b="0" i="0" u="none" strike="noStrike" cap="none">
              <a:solidFill>
                <a:schemeClr val="dk1"/>
              </a:solidFill>
              <a:latin typeface="Calibri"/>
              <a:ea typeface="Calibri"/>
              <a:cs typeface="Calibri"/>
              <a:sym typeface="Calibri"/>
            </a:endParaRPr>
          </a:p>
        </p:txBody>
      </p:sp>
      <p:sp>
        <p:nvSpPr>
          <p:cNvPr id="1267" name="Google Shape;1267;p27"/>
          <p:cNvSpPr/>
          <p:nvPr/>
        </p:nvSpPr>
        <p:spPr>
          <a:xfrm>
            <a:off x="466413" y="4809452"/>
            <a:ext cx="82296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A6070"/>
              </a:buClr>
              <a:buSzPts val="1050"/>
              <a:buFont typeface="Calibri"/>
              <a:buNone/>
            </a:pPr>
            <a:r>
              <a:rPr lang="en" sz="1050" b="0" i="0" u="none" strike="noStrike" cap="none">
                <a:solidFill>
                  <a:srgbClr val="2A6070"/>
                </a:solidFill>
                <a:latin typeface="Calibri"/>
                <a:ea typeface="Calibri"/>
                <a:cs typeface="Calibri"/>
                <a:sym typeface="Calibri"/>
              </a:rPr>
              <a:t>Each 2×2 window slides with stride 2 — max value per window fills one output cell → 4×4 becomes 2×2.</a:t>
            </a:r>
            <a:endParaRPr sz="1050" b="0" i="0" u="none" strike="noStrike" cap="none">
              <a:solidFill>
                <a:schemeClr val="dk1"/>
              </a:solidFill>
              <a:latin typeface="Calibri"/>
              <a:ea typeface="Calibri"/>
              <a:cs typeface="Calibri"/>
              <a:sym typeface="Calibri"/>
            </a:endParaRPr>
          </a:p>
        </p:txBody>
      </p:sp>
      <p:sp>
        <p:nvSpPr>
          <p:cNvPr id="1268" name="Google Shape;1268;p27"/>
          <p:cNvSpPr/>
          <p:nvPr/>
        </p:nvSpPr>
        <p:spPr>
          <a:xfrm>
            <a:off x="466413" y="4352252"/>
            <a:ext cx="146400" cy="1464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9" name="Google Shape;1269;p27"/>
          <p:cNvSpPr/>
          <p:nvPr/>
        </p:nvSpPr>
        <p:spPr>
          <a:xfrm>
            <a:off x="685869" y="4324820"/>
            <a:ext cx="39318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A5068"/>
              </a:buClr>
              <a:buSzPts val="1050"/>
              <a:buFont typeface="Calibri"/>
              <a:buNone/>
            </a:pPr>
            <a:r>
              <a:rPr lang="en" sz="1050" b="0" i="0" u="none" strike="noStrike" cap="none">
                <a:solidFill>
                  <a:srgbClr val="2A5068"/>
                </a:solidFill>
                <a:latin typeface="Calibri"/>
                <a:ea typeface="Calibri"/>
                <a:cs typeface="Calibri"/>
                <a:sym typeface="Calibri"/>
              </a:rPr>
              <a:t>TL → max = 36</a:t>
            </a:r>
            <a:endParaRPr sz="1050" b="0" i="0" u="none" strike="noStrike" cap="none">
              <a:solidFill>
                <a:schemeClr val="dk1"/>
              </a:solidFill>
              <a:latin typeface="Calibri"/>
              <a:ea typeface="Calibri"/>
              <a:cs typeface="Calibri"/>
              <a:sym typeface="Calibri"/>
            </a:endParaRPr>
          </a:p>
        </p:txBody>
      </p:sp>
      <p:sp>
        <p:nvSpPr>
          <p:cNvPr id="1270" name="Google Shape;1270;p27"/>
          <p:cNvSpPr/>
          <p:nvPr/>
        </p:nvSpPr>
        <p:spPr>
          <a:xfrm>
            <a:off x="4764093" y="4352252"/>
            <a:ext cx="146400" cy="146400"/>
          </a:xfrm>
          <a:prstGeom prst="rect">
            <a:avLst/>
          </a:prstGeom>
          <a:solidFill>
            <a:srgbClr val="1D9E7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1" name="Google Shape;1271;p27"/>
          <p:cNvSpPr/>
          <p:nvPr/>
        </p:nvSpPr>
        <p:spPr>
          <a:xfrm>
            <a:off x="4983549" y="4324820"/>
            <a:ext cx="39318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A5068"/>
              </a:buClr>
              <a:buSzPts val="1050"/>
              <a:buFont typeface="Calibri"/>
              <a:buNone/>
            </a:pPr>
            <a:r>
              <a:rPr lang="en" sz="1050" b="0" i="0" u="none" strike="noStrike" cap="none">
                <a:solidFill>
                  <a:srgbClr val="2A5068"/>
                </a:solidFill>
                <a:latin typeface="Calibri"/>
                <a:ea typeface="Calibri"/>
                <a:cs typeface="Calibri"/>
                <a:sym typeface="Calibri"/>
              </a:rPr>
              <a:t>TR → max = 14</a:t>
            </a:r>
            <a:endParaRPr sz="1050" b="0" i="0" u="none" strike="noStrike" cap="none">
              <a:solidFill>
                <a:schemeClr val="dk1"/>
              </a:solidFill>
              <a:latin typeface="Calibri"/>
              <a:ea typeface="Calibri"/>
              <a:cs typeface="Calibri"/>
              <a:sym typeface="Calibri"/>
            </a:endParaRPr>
          </a:p>
        </p:txBody>
      </p:sp>
      <p:sp>
        <p:nvSpPr>
          <p:cNvPr id="1272" name="Google Shape;1272;p27"/>
          <p:cNvSpPr/>
          <p:nvPr/>
        </p:nvSpPr>
        <p:spPr>
          <a:xfrm>
            <a:off x="466413" y="4608284"/>
            <a:ext cx="146400" cy="146400"/>
          </a:xfrm>
          <a:prstGeom prst="rect">
            <a:avLst/>
          </a:prstGeom>
          <a:solidFill>
            <a:srgbClr val="E67E2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3" name="Google Shape;1273;p27"/>
          <p:cNvSpPr/>
          <p:nvPr/>
        </p:nvSpPr>
        <p:spPr>
          <a:xfrm>
            <a:off x="685869" y="4580852"/>
            <a:ext cx="39318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A5068"/>
              </a:buClr>
              <a:buSzPts val="1050"/>
              <a:buFont typeface="Calibri"/>
              <a:buNone/>
            </a:pPr>
            <a:r>
              <a:rPr lang="en" sz="1050" b="0" i="0" u="none" strike="noStrike" cap="none">
                <a:solidFill>
                  <a:srgbClr val="2A5068"/>
                </a:solidFill>
                <a:latin typeface="Calibri"/>
                <a:ea typeface="Calibri"/>
                <a:cs typeface="Calibri"/>
                <a:sym typeface="Calibri"/>
              </a:rPr>
              <a:t>BL → max = 11</a:t>
            </a:r>
            <a:endParaRPr sz="1050" b="0" i="0" u="none" strike="noStrike" cap="none">
              <a:solidFill>
                <a:schemeClr val="dk1"/>
              </a:solidFill>
              <a:latin typeface="Calibri"/>
              <a:ea typeface="Calibri"/>
              <a:cs typeface="Calibri"/>
              <a:sym typeface="Calibri"/>
            </a:endParaRPr>
          </a:p>
        </p:txBody>
      </p:sp>
      <p:sp>
        <p:nvSpPr>
          <p:cNvPr id="1274" name="Google Shape;1274;p27"/>
          <p:cNvSpPr/>
          <p:nvPr/>
        </p:nvSpPr>
        <p:spPr>
          <a:xfrm>
            <a:off x="4764093" y="4608284"/>
            <a:ext cx="146400" cy="146400"/>
          </a:xfrm>
          <a:prstGeom prst="rect">
            <a:avLst/>
          </a:prstGeom>
          <a:solidFill>
            <a:srgbClr val="A855F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5" name="Google Shape;1275;p27"/>
          <p:cNvSpPr/>
          <p:nvPr/>
        </p:nvSpPr>
        <p:spPr>
          <a:xfrm>
            <a:off x="4983549" y="4580852"/>
            <a:ext cx="39318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A5068"/>
              </a:buClr>
              <a:buSzPts val="1050"/>
              <a:buFont typeface="Calibri"/>
              <a:buNone/>
            </a:pPr>
            <a:r>
              <a:rPr lang="en" sz="1050" b="0" i="0" u="none" strike="noStrike" cap="none">
                <a:solidFill>
                  <a:srgbClr val="2A5068"/>
                </a:solidFill>
                <a:latin typeface="Calibri"/>
                <a:ea typeface="Calibri"/>
                <a:cs typeface="Calibri"/>
                <a:sym typeface="Calibri"/>
              </a:rPr>
              <a:t>BR → max = 30</a:t>
            </a:r>
            <a:endParaRPr sz="1050" b="0" i="0" u="none" strike="noStrike" cap="none">
              <a:solidFill>
                <a:schemeClr val="dk1"/>
              </a:solidFill>
              <a:latin typeface="Calibri"/>
              <a:ea typeface="Calibri"/>
              <a:cs typeface="Calibri"/>
              <a:sym typeface="Calibri"/>
            </a:endParaRPr>
          </a:p>
        </p:txBody>
      </p:sp>
      <p:sp>
        <p:nvSpPr>
          <p:cNvPr id="1276" name="Google Shape;1276;p27"/>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80"/>
        <p:cNvGrpSpPr/>
        <p:nvPr/>
      </p:nvGrpSpPr>
      <p:grpSpPr>
        <a:xfrm>
          <a:off x="0" y="0"/>
          <a:ext cx="0" cy="0"/>
          <a:chOff x="0" y="0"/>
          <a:chExt cx="0" cy="0"/>
        </a:xfrm>
      </p:grpSpPr>
      <p:pic>
        <p:nvPicPr>
          <p:cNvPr id="1281" name="Google Shape;1281;p28"/>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1282" name="Google Shape;1282;p28"/>
          <p:cNvSpPr txBox="1"/>
          <p:nvPr/>
        </p:nvSpPr>
        <p:spPr>
          <a:xfrm>
            <a:off x="1052950" y="98875"/>
            <a:ext cx="6618600" cy="7683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600"/>
              <a:buFont typeface="Arial"/>
              <a:buNone/>
            </a:pPr>
            <a:r>
              <a:rPr lang="en" sz="2600" b="1" i="0" u="none" strike="noStrike" cap="none">
                <a:solidFill>
                  <a:srgbClr val="0D1B2A"/>
                </a:solidFill>
                <a:latin typeface="Calibri"/>
                <a:ea typeface="Calibri"/>
                <a:cs typeface="Calibri"/>
                <a:sym typeface="Calibri"/>
              </a:rPr>
              <a:t>Fully Connected Layer — Matrix Example</a:t>
            </a:r>
            <a:endParaRPr sz="2600" b="1" i="0" u="none" strike="noStrike" cap="none">
              <a:solidFill>
                <a:srgbClr val="0D1B2A"/>
              </a:solidFill>
              <a:latin typeface="Calibri"/>
              <a:ea typeface="Calibri"/>
              <a:cs typeface="Calibri"/>
              <a:sym typeface="Calibri"/>
            </a:endParaRPr>
          </a:p>
        </p:txBody>
      </p:sp>
      <p:sp>
        <p:nvSpPr>
          <p:cNvPr id="1283" name="Google Shape;1283;p28"/>
          <p:cNvSpPr/>
          <p:nvPr/>
        </p:nvSpPr>
        <p:spPr>
          <a:xfrm>
            <a:off x="274320" y="900002"/>
            <a:ext cx="50292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85FA5"/>
              </a:buClr>
              <a:buSzPts val="1100"/>
              <a:buFont typeface="Calibri"/>
              <a:buNone/>
            </a:pPr>
            <a:r>
              <a:rPr lang="en" sz="1100" b="1" i="0" u="none" strike="noStrike" cap="none">
                <a:solidFill>
                  <a:srgbClr val="185FA5"/>
                </a:solidFill>
                <a:latin typeface="Calibri"/>
                <a:ea typeface="Calibri"/>
                <a:cs typeface="Calibri"/>
                <a:sym typeface="Calibri"/>
              </a:rPr>
              <a:t>Step 1 — Flatten pooled feature map into a vector</a:t>
            </a:r>
            <a:endParaRPr sz="1100" b="0" i="0" u="none" strike="noStrike" cap="none">
              <a:solidFill>
                <a:schemeClr val="dk1"/>
              </a:solidFill>
              <a:latin typeface="Calibri"/>
              <a:ea typeface="Calibri"/>
              <a:cs typeface="Calibri"/>
              <a:sym typeface="Calibri"/>
            </a:endParaRPr>
          </a:p>
        </p:txBody>
      </p:sp>
      <p:sp>
        <p:nvSpPr>
          <p:cNvPr id="1284" name="Google Shape;1284;p28"/>
          <p:cNvSpPr/>
          <p:nvPr/>
        </p:nvSpPr>
        <p:spPr>
          <a:xfrm>
            <a:off x="274320" y="1170432"/>
            <a:ext cx="438900" cy="438900"/>
          </a:xfrm>
          <a:prstGeom prst="rect">
            <a:avLst/>
          </a:prstGeom>
          <a:solidFill>
            <a:srgbClr val="C8E8F8"/>
          </a:solidFill>
          <a:ln w="1270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5" name="Google Shape;1285;p28"/>
          <p:cNvSpPr/>
          <p:nvPr/>
        </p:nvSpPr>
        <p:spPr>
          <a:xfrm>
            <a:off x="274320" y="1170432"/>
            <a:ext cx="438900" cy="438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36</a:t>
            </a:r>
            <a:endParaRPr sz="1300" b="0" i="0" u="none" strike="noStrike" cap="none">
              <a:solidFill>
                <a:schemeClr val="dk1"/>
              </a:solidFill>
              <a:latin typeface="Calibri"/>
              <a:ea typeface="Calibri"/>
              <a:cs typeface="Calibri"/>
              <a:sym typeface="Calibri"/>
            </a:endParaRPr>
          </a:p>
        </p:txBody>
      </p:sp>
      <p:sp>
        <p:nvSpPr>
          <p:cNvPr id="1286" name="Google Shape;1286;p28"/>
          <p:cNvSpPr/>
          <p:nvPr/>
        </p:nvSpPr>
        <p:spPr>
          <a:xfrm>
            <a:off x="758952" y="1170432"/>
            <a:ext cx="438900" cy="438900"/>
          </a:xfrm>
          <a:prstGeom prst="rect">
            <a:avLst/>
          </a:prstGeom>
          <a:solidFill>
            <a:srgbClr val="C8E8F8"/>
          </a:solidFill>
          <a:ln w="1270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7" name="Google Shape;1287;p28"/>
          <p:cNvSpPr/>
          <p:nvPr/>
        </p:nvSpPr>
        <p:spPr>
          <a:xfrm>
            <a:off x="758952" y="1170432"/>
            <a:ext cx="438900" cy="438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22</a:t>
            </a:r>
            <a:endParaRPr sz="1300" b="0" i="0" u="none" strike="noStrike" cap="none">
              <a:solidFill>
                <a:schemeClr val="dk1"/>
              </a:solidFill>
              <a:latin typeface="Calibri"/>
              <a:ea typeface="Calibri"/>
              <a:cs typeface="Calibri"/>
              <a:sym typeface="Calibri"/>
            </a:endParaRPr>
          </a:p>
        </p:txBody>
      </p:sp>
      <p:sp>
        <p:nvSpPr>
          <p:cNvPr id="1288" name="Google Shape;1288;p28"/>
          <p:cNvSpPr/>
          <p:nvPr/>
        </p:nvSpPr>
        <p:spPr>
          <a:xfrm>
            <a:off x="274320" y="1655064"/>
            <a:ext cx="438900" cy="438900"/>
          </a:xfrm>
          <a:prstGeom prst="rect">
            <a:avLst/>
          </a:prstGeom>
          <a:solidFill>
            <a:srgbClr val="C8E8F8"/>
          </a:solidFill>
          <a:ln w="1270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9" name="Google Shape;1289;p28"/>
          <p:cNvSpPr/>
          <p:nvPr/>
        </p:nvSpPr>
        <p:spPr>
          <a:xfrm>
            <a:off x="274320" y="1655064"/>
            <a:ext cx="438900" cy="438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30</a:t>
            </a:r>
            <a:endParaRPr sz="1300" b="0" i="0" u="none" strike="noStrike" cap="none">
              <a:solidFill>
                <a:schemeClr val="dk1"/>
              </a:solidFill>
              <a:latin typeface="Calibri"/>
              <a:ea typeface="Calibri"/>
              <a:cs typeface="Calibri"/>
              <a:sym typeface="Calibri"/>
            </a:endParaRPr>
          </a:p>
        </p:txBody>
      </p:sp>
      <p:sp>
        <p:nvSpPr>
          <p:cNvPr id="1290" name="Google Shape;1290;p28"/>
          <p:cNvSpPr/>
          <p:nvPr/>
        </p:nvSpPr>
        <p:spPr>
          <a:xfrm>
            <a:off x="758952" y="1655064"/>
            <a:ext cx="438900" cy="438900"/>
          </a:xfrm>
          <a:prstGeom prst="rect">
            <a:avLst/>
          </a:prstGeom>
          <a:solidFill>
            <a:srgbClr val="C8E8F8"/>
          </a:solidFill>
          <a:ln w="1270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1" name="Google Shape;1291;p28"/>
          <p:cNvSpPr/>
          <p:nvPr/>
        </p:nvSpPr>
        <p:spPr>
          <a:xfrm>
            <a:off x="758952" y="1655064"/>
            <a:ext cx="438900" cy="438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25</a:t>
            </a:r>
            <a:endParaRPr sz="1300" b="0" i="0" u="none" strike="noStrike" cap="none">
              <a:solidFill>
                <a:schemeClr val="dk1"/>
              </a:solidFill>
              <a:latin typeface="Calibri"/>
              <a:ea typeface="Calibri"/>
              <a:cs typeface="Calibri"/>
              <a:sym typeface="Calibri"/>
            </a:endParaRPr>
          </a:p>
        </p:txBody>
      </p:sp>
      <p:sp>
        <p:nvSpPr>
          <p:cNvPr id="1292" name="Google Shape;1292;p28"/>
          <p:cNvSpPr/>
          <p:nvPr/>
        </p:nvSpPr>
        <p:spPr>
          <a:xfrm>
            <a:off x="1371600" y="1353312"/>
            <a:ext cx="685800" cy="54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1100"/>
              <a:buFont typeface="Calibri"/>
              <a:buNone/>
            </a:pPr>
            <a:r>
              <a:rPr lang="en" sz="1100" b="0" i="1" u="none" strike="noStrike" cap="none">
                <a:solidFill>
                  <a:srgbClr val="64748B"/>
                </a:solidFill>
                <a:latin typeface="Calibri"/>
                <a:ea typeface="Calibri"/>
                <a:cs typeface="Calibri"/>
                <a:sym typeface="Calibri"/>
              </a:rPr>
              <a:t>→</a:t>
            </a:r>
            <a:endParaRPr sz="11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64748B"/>
              </a:buClr>
              <a:buSzPts val="1100"/>
              <a:buFont typeface="Calibri"/>
              <a:buNone/>
            </a:pPr>
            <a:r>
              <a:rPr lang="en" sz="1100" b="0" i="1" u="none" strike="noStrike" cap="none">
                <a:solidFill>
                  <a:srgbClr val="64748B"/>
                </a:solidFill>
                <a:latin typeface="Calibri"/>
                <a:ea typeface="Calibri"/>
                <a:cs typeface="Calibri"/>
                <a:sym typeface="Calibri"/>
              </a:rPr>
              <a:t>flatten</a:t>
            </a:r>
            <a:endParaRPr sz="1100" b="0" i="0" u="none" strike="noStrike" cap="none">
              <a:solidFill>
                <a:schemeClr val="dk1"/>
              </a:solidFill>
              <a:latin typeface="Calibri"/>
              <a:ea typeface="Calibri"/>
              <a:cs typeface="Calibri"/>
              <a:sym typeface="Calibri"/>
            </a:endParaRPr>
          </a:p>
        </p:txBody>
      </p:sp>
      <p:sp>
        <p:nvSpPr>
          <p:cNvPr id="1293" name="Google Shape;1293;p28"/>
          <p:cNvSpPr/>
          <p:nvPr/>
        </p:nvSpPr>
        <p:spPr>
          <a:xfrm>
            <a:off x="2148840" y="1371600"/>
            <a:ext cx="420600" cy="420600"/>
          </a:xfrm>
          <a:prstGeom prst="rect">
            <a:avLst/>
          </a:prstGeom>
          <a:solidFill>
            <a:srgbClr val="C8E8F8"/>
          </a:solidFill>
          <a:ln w="1270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4" name="Google Shape;1294;p28"/>
          <p:cNvSpPr/>
          <p:nvPr/>
        </p:nvSpPr>
        <p:spPr>
          <a:xfrm>
            <a:off x="2148840" y="1371600"/>
            <a:ext cx="420600" cy="420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36</a:t>
            </a:r>
            <a:endParaRPr sz="1300" b="0" i="0" u="none" strike="noStrike" cap="none">
              <a:solidFill>
                <a:schemeClr val="dk1"/>
              </a:solidFill>
              <a:latin typeface="Calibri"/>
              <a:ea typeface="Calibri"/>
              <a:cs typeface="Calibri"/>
              <a:sym typeface="Calibri"/>
            </a:endParaRPr>
          </a:p>
        </p:txBody>
      </p:sp>
      <p:sp>
        <p:nvSpPr>
          <p:cNvPr id="1295" name="Google Shape;1295;p28"/>
          <p:cNvSpPr/>
          <p:nvPr/>
        </p:nvSpPr>
        <p:spPr>
          <a:xfrm>
            <a:off x="2651760" y="1371600"/>
            <a:ext cx="420600" cy="420600"/>
          </a:xfrm>
          <a:prstGeom prst="rect">
            <a:avLst/>
          </a:prstGeom>
          <a:solidFill>
            <a:srgbClr val="C8E8F8"/>
          </a:solidFill>
          <a:ln w="1270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6" name="Google Shape;1296;p28"/>
          <p:cNvSpPr/>
          <p:nvPr/>
        </p:nvSpPr>
        <p:spPr>
          <a:xfrm>
            <a:off x="2651760" y="1371600"/>
            <a:ext cx="420600" cy="420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22</a:t>
            </a:r>
            <a:endParaRPr sz="1300" b="0" i="0" u="none" strike="noStrike" cap="none">
              <a:solidFill>
                <a:schemeClr val="dk1"/>
              </a:solidFill>
              <a:latin typeface="Calibri"/>
              <a:ea typeface="Calibri"/>
              <a:cs typeface="Calibri"/>
              <a:sym typeface="Calibri"/>
            </a:endParaRPr>
          </a:p>
        </p:txBody>
      </p:sp>
      <p:sp>
        <p:nvSpPr>
          <p:cNvPr id="1297" name="Google Shape;1297;p28"/>
          <p:cNvSpPr/>
          <p:nvPr/>
        </p:nvSpPr>
        <p:spPr>
          <a:xfrm>
            <a:off x="3154680" y="1371600"/>
            <a:ext cx="420600" cy="420600"/>
          </a:xfrm>
          <a:prstGeom prst="rect">
            <a:avLst/>
          </a:prstGeom>
          <a:solidFill>
            <a:srgbClr val="C8E8F8"/>
          </a:solidFill>
          <a:ln w="1270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8" name="Google Shape;1298;p28"/>
          <p:cNvSpPr/>
          <p:nvPr/>
        </p:nvSpPr>
        <p:spPr>
          <a:xfrm>
            <a:off x="3154680" y="1371600"/>
            <a:ext cx="420600" cy="420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30</a:t>
            </a:r>
            <a:endParaRPr sz="1300" b="0" i="0" u="none" strike="noStrike" cap="none">
              <a:solidFill>
                <a:schemeClr val="dk1"/>
              </a:solidFill>
              <a:latin typeface="Calibri"/>
              <a:ea typeface="Calibri"/>
              <a:cs typeface="Calibri"/>
              <a:sym typeface="Calibri"/>
            </a:endParaRPr>
          </a:p>
        </p:txBody>
      </p:sp>
      <p:sp>
        <p:nvSpPr>
          <p:cNvPr id="1299" name="Google Shape;1299;p28"/>
          <p:cNvSpPr/>
          <p:nvPr/>
        </p:nvSpPr>
        <p:spPr>
          <a:xfrm>
            <a:off x="3657600" y="1371600"/>
            <a:ext cx="420600" cy="420600"/>
          </a:xfrm>
          <a:prstGeom prst="rect">
            <a:avLst/>
          </a:prstGeom>
          <a:solidFill>
            <a:srgbClr val="C8E8F8"/>
          </a:solidFill>
          <a:ln w="1270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0" name="Google Shape;1300;p28"/>
          <p:cNvSpPr/>
          <p:nvPr/>
        </p:nvSpPr>
        <p:spPr>
          <a:xfrm>
            <a:off x="3657600" y="1371600"/>
            <a:ext cx="420600" cy="420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300"/>
              <a:buFont typeface="Calibri"/>
              <a:buNone/>
            </a:pPr>
            <a:r>
              <a:rPr lang="en" sz="1300" b="1" i="0" u="none" strike="noStrike" cap="none">
                <a:solidFill>
                  <a:srgbClr val="1A2E42"/>
                </a:solidFill>
                <a:latin typeface="Calibri"/>
                <a:ea typeface="Calibri"/>
                <a:cs typeface="Calibri"/>
                <a:sym typeface="Calibri"/>
              </a:rPr>
              <a:t>25</a:t>
            </a:r>
            <a:endParaRPr sz="1300" b="0" i="0" u="none" strike="noStrike" cap="none">
              <a:solidFill>
                <a:schemeClr val="dk1"/>
              </a:solidFill>
              <a:latin typeface="Calibri"/>
              <a:ea typeface="Calibri"/>
              <a:cs typeface="Calibri"/>
              <a:sym typeface="Calibri"/>
            </a:endParaRPr>
          </a:p>
        </p:txBody>
      </p:sp>
      <p:sp>
        <p:nvSpPr>
          <p:cNvPr id="1301" name="Google Shape;1301;p28"/>
          <p:cNvSpPr/>
          <p:nvPr/>
        </p:nvSpPr>
        <p:spPr>
          <a:xfrm>
            <a:off x="2148840" y="1847088"/>
            <a:ext cx="2194500" cy="228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1000"/>
              <a:buFont typeface="Calibri"/>
              <a:buNone/>
            </a:pPr>
            <a:r>
              <a:rPr lang="en" sz="1000" b="0" i="0" u="none" strike="noStrike" cap="none">
                <a:solidFill>
                  <a:srgbClr val="64748B"/>
                </a:solidFill>
                <a:latin typeface="Calibri"/>
                <a:ea typeface="Calibri"/>
                <a:cs typeface="Calibri"/>
                <a:sym typeface="Calibri"/>
              </a:rPr>
              <a:t>x  (1×4 input vector)</a:t>
            </a:r>
            <a:endParaRPr sz="1000" b="0" i="0" u="none" strike="noStrike" cap="none">
              <a:solidFill>
                <a:schemeClr val="dk1"/>
              </a:solidFill>
              <a:latin typeface="Calibri"/>
              <a:ea typeface="Calibri"/>
              <a:cs typeface="Calibri"/>
              <a:sym typeface="Calibri"/>
            </a:endParaRPr>
          </a:p>
        </p:txBody>
      </p:sp>
      <p:sp>
        <p:nvSpPr>
          <p:cNvPr id="1302" name="Google Shape;1302;p28"/>
          <p:cNvSpPr/>
          <p:nvPr/>
        </p:nvSpPr>
        <p:spPr>
          <a:xfrm>
            <a:off x="274320" y="2148840"/>
            <a:ext cx="82296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85FA5"/>
              </a:buClr>
              <a:buSzPts val="1100"/>
              <a:buFont typeface="Calibri"/>
              <a:buNone/>
            </a:pPr>
            <a:r>
              <a:rPr lang="en" sz="1100" b="1" i="0" u="none" strike="noStrike" cap="none">
                <a:solidFill>
                  <a:srgbClr val="185FA5"/>
                </a:solidFill>
                <a:latin typeface="Calibri"/>
                <a:ea typeface="Calibri"/>
                <a:cs typeface="Calibri"/>
                <a:sym typeface="Calibri"/>
              </a:rPr>
              <a:t>Step 2 — Multiply by weight matrix  W  (3×4)  →  scores for 3 classes</a:t>
            </a:r>
            <a:endParaRPr sz="1100" b="0" i="0" u="none" strike="noStrike" cap="none">
              <a:solidFill>
                <a:schemeClr val="dk1"/>
              </a:solidFill>
              <a:latin typeface="Calibri"/>
              <a:ea typeface="Calibri"/>
              <a:cs typeface="Calibri"/>
              <a:sym typeface="Calibri"/>
            </a:endParaRPr>
          </a:p>
        </p:txBody>
      </p:sp>
      <p:sp>
        <p:nvSpPr>
          <p:cNvPr id="1303" name="Google Shape;1303;p28"/>
          <p:cNvSpPr/>
          <p:nvPr/>
        </p:nvSpPr>
        <p:spPr>
          <a:xfrm>
            <a:off x="256032" y="2990088"/>
            <a:ext cx="255900" cy="329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FF6FF"/>
              </a:buClr>
              <a:buSzPts val="1400"/>
              <a:buFont typeface="Calibri"/>
              <a:buNone/>
            </a:pPr>
            <a:r>
              <a:rPr lang="en" sz="1400" b="1" i="1" u="none" strike="noStrike" cap="none">
                <a:solidFill>
                  <a:srgbClr val="EFF6FF"/>
                </a:solidFill>
                <a:latin typeface="Calibri"/>
                <a:ea typeface="Calibri"/>
                <a:cs typeface="Calibri"/>
                <a:sym typeface="Calibri"/>
              </a:rPr>
              <a:t>W</a:t>
            </a:r>
            <a:endParaRPr sz="1400" b="0" i="0" u="none" strike="noStrike" cap="none">
              <a:solidFill>
                <a:schemeClr val="dk1"/>
              </a:solidFill>
              <a:latin typeface="Calibri"/>
              <a:ea typeface="Calibri"/>
              <a:cs typeface="Calibri"/>
              <a:sym typeface="Calibri"/>
            </a:endParaRPr>
          </a:p>
        </p:txBody>
      </p:sp>
      <p:sp>
        <p:nvSpPr>
          <p:cNvPr id="1304" name="Google Shape;1304;p28"/>
          <p:cNvSpPr/>
          <p:nvPr/>
        </p:nvSpPr>
        <p:spPr>
          <a:xfrm>
            <a:off x="228600" y="3310128"/>
            <a:ext cx="3657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900"/>
              <a:buFont typeface="Calibri"/>
              <a:buNone/>
            </a:pPr>
            <a:r>
              <a:rPr lang="en" sz="900" b="0" i="0" u="none" strike="noStrike" cap="none">
                <a:solidFill>
                  <a:srgbClr val="64748B"/>
                </a:solidFill>
                <a:latin typeface="Calibri"/>
                <a:ea typeface="Calibri"/>
                <a:cs typeface="Calibri"/>
                <a:sym typeface="Calibri"/>
              </a:rPr>
              <a:t>(3×4)</a:t>
            </a:r>
            <a:endParaRPr sz="900" b="0" i="0" u="none" strike="noStrike" cap="none">
              <a:solidFill>
                <a:schemeClr val="dk1"/>
              </a:solidFill>
              <a:latin typeface="Calibri"/>
              <a:ea typeface="Calibri"/>
              <a:cs typeface="Calibri"/>
              <a:sym typeface="Calibri"/>
            </a:endParaRPr>
          </a:p>
        </p:txBody>
      </p:sp>
      <p:sp>
        <p:nvSpPr>
          <p:cNvPr id="1305" name="Google Shape;1305;p28"/>
          <p:cNvSpPr/>
          <p:nvPr/>
        </p:nvSpPr>
        <p:spPr>
          <a:xfrm>
            <a:off x="658368" y="2487168"/>
            <a:ext cx="548700" cy="301800"/>
          </a:xfrm>
          <a:prstGeom prst="rect">
            <a:avLst/>
          </a:prstGeom>
          <a:solidFill>
            <a:srgbClr val="E6F1FB"/>
          </a:solidFill>
          <a:ln w="9525" cap="flat" cmpd="sng">
            <a:solidFill>
              <a:srgbClr val="0C447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6" name="Google Shape;1306;p28"/>
          <p:cNvSpPr/>
          <p:nvPr/>
        </p:nvSpPr>
        <p:spPr>
          <a:xfrm>
            <a:off x="658368" y="2487168"/>
            <a:ext cx="5487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447C"/>
              </a:buClr>
              <a:buSzPts val="1100"/>
              <a:buFont typeface="Calibri"/>
              <a:buNone/>
            </a:pPr>
            <a:r>
              <a:rPr lang="en" sz="1100" b="1" i="0" u="none" strike="noStrike" cap="none">
                <a:solidFill>
                  <a:srgbClr val="0C447C"/>
                </a:solidFill>
                <a:latin typeface="Calibri"/>
                <a:ea typeface="Calibri"/>
                <a:cs typeface="Calibri"/>
                <a:sym typeface="Calibri"/>
              </a:rPr>
              <a:t>0.2</a:t>
            </a:r>
            <a:endParaRPr sz="1100" b="0" i="0" u="none" strike="noStrike" cap="none">
              <a:solidFill>
                <a:schemeClr val="dk1"/>
              </a:solidFill>
              <a:latin typeface="Calibri"/>
              <a:ea typeface="Calibri"/>
              <a:cs typeface="Calibri"/>
              <a:sym typeface="Calibri"/>
            </a:endParaRPr>
          </a:p>
        </p:txBody>
      </p:sp>
      <p:sp>
        <p:nvSpPr>
          <p:cNvPr id="1307" name="Google Shape;1307;p28"/>
          <p:cNvSpPr/>
          <p:nvPr/>
        </p:nvSpPr>
        <p:spPr>
          <a:xfrm>
            <a:off x="1243584" y="2487168"/>
            <a:ext cx="548700" cy="301800"/>
          </a:xfrm>
          <a:prstGeom prst="rect">
            <a:avLst/>
          </a:prstGeom>
          <a:solidFill>
            <a:srgbClr val="E6F1FB"/>
          </a:solidFill>
          <a:ln w="9525" cap="flat" cmpd="sng">
            <a:solidFill>
              <a:srgbClr val="0C447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8" name="Google Shape;1308;p28"/>
          <p:cNvSpPr/>
          <p:nvPr/>
        </p:nvSpPr>
        <p:spPr>
          <a:xfrm>
            <a:off x="1243584" y="2487168"/>
            <a:ext cx="5487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447C"/>
              </a:buClr>
              <a:buSzPts val="1100"/>
              <a:buFont typeface="Calibri"/>
              <a:buNone/>
            </a:pPr>
            <a:r>
              <a:rPr lang="en" sz="1100" b="1" i="0" u="none" strike="noStrike" cap="none">
                <a:solidFill>
                  <a:srgbClr val="0C447C"/>
                </a:solidFill>
                <a:latin typeface="Calibri"/>
                <a:ea typeface="Calibri"/>
                <a:cs typeface="Calibri"/>
                <a:sym typeface="Calibri"/>
              </a:rPr>
              <a:t>-0.1</a:t>
            </a:r>
            <a:endParaRPr sz="1100" b="0" i="0" u="none" strike="noStrike" cap="none">
              <a:solidFill>
                <a:schemeClr val="dk1"/>
              </a:solidFill>
              <a:latin typeface="Calibri"/>
              <a:ea typeface="Calibri"/>
              <a:cs typeface="Calibri"/>
              <a:sym typeface="Calibri"/>
            </a:endParaRPr>
          </a:p>
        </p:txBody>
      </p:sp>
      <p:sp>
        <p:nvSpPr>
          <p:cNvPr id="1309" name="Google Shape;1309;p28"/>
          <p:cNvSpPr/>
          <p:nvPr/>
        </p:nvSpPr>
        <p:spPr>
          <a:xfrm>
            <a:off x="1828800" y="2487168"/>
            <a:ext cx="548700" cy="301800"/>
          </a:xfrm>
          <a:prstGeom prst="rect">
            <a:avLst/>
          </a:prstGeom>
          <a:solidFill>
            <a:srgbClr val="E6F1FB"/>
          </a:solidFill>
          <a:ln w="9525" cap="flat" cmpd="sng">
            <a:solidFill>
              <a:srgbClr val="0C447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0" name="Google Shape;1310;p28"/>
          <p:cNvSpPr/>
          <p:nvPr/>
        </p:nvSpPr>
        <p:spPr>
          <a:xfrm>
            <a:off x="1828800" y="2487168"/>
            <a:ext cx="5487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447C"/>
              </a:buClr>
              <a:buSzPts val="1100"/>
              <a:buFont typeface="Calibri"/>
              <a:buNone/>
            </a:pPr>
            <a:r>
              <a:rPr lang="en" sz="1100" b="1" i="0" u="none" strike="noStrike" cap="none">
                <a:solidFill>
                  <a:srgbClr val="0C447C"/>
                </a:solidFill>
                <a:latin typeface="Calibri"/>
                <a:ea typeface="Calibri"/>
                <a:cs typeface="Calibri"/>
                <a:sym typeface="Calibri"/>
              </a:rPr>
              <a:t>0.4</a:t>
            </a:r>
            <a:endParaRPr sz="1100" b="0" i="0" u="none" strike="noStrike" cap="none">
              <a:solidFill>
                <a:schemeClr val="dk1"/>
              </a:solidFill>
              <a:latin typeface="Calibri"/>
              <a:ea typeface="Calibri"/>
              <a:cs typeface="Calibri"/>
              <a:sym typeface="Calibri"/>
            </a:endParaRPr>
          </a:p>
        </p:txBody>
      </p:sp>
      <p:sp>
        <p:nvSpPr>
          <p:cNvPr id="1311" name="Google Shape;1311;p28"/>
          <p:cNvSpPr/>
          <p:nvPr/>
        </p:nvSpPr>
        <p:spPr>
          <a:xfrm>
            <a:off x="2414016" y="2487168"/>
            <a:ext cx="548700" cy="301800"/>
          </a:xfrm>
          <a:prstGeom prst="rect">
            <a:avLst/>
          </a:prstGeom>
          <a:solidFill>
            <a:srgbClr val="E6F1FB"/>
          </a:solidFill>
          <a:ln w="9525" cap="flat" cmpd="sng">
            <a:solidFill>
              <a:srgbClr val="0C447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2" name="Google Shape;1312;p28"/>
          <p:cNvSpPr/>
          <p:nvPr/>
        </p:nvSpPr>
        <p:spPr>
          <a:xfrm>
            <a:off x="2414016" y="2487168"/>
            <a:ext cx="5487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447C"/>
              </a:buClr>
              <a:buSzPts val="1100"/>
              <a:buFont typeface="Calibri"/>
              <a:buNone/>
            </a:pPr>
            <a:r>
              <a:rPr lang="en" sz="1100" b="1" i="0" u="none" strike="noStrike" cap="none">
                <a:solidFill>
                  <a:srgbClr val="0C447C"/>
                </a:solidFill>
                <a:latin typeface="Calibri"/>
                <a:ea typeface="Calibri"/>
                <a:cs typeface="Calibri"/>
                <a:sym typeface="Calibri"/>
              </a:rPr>
              <a:t>0.1</a:t>
            </a:r>
            <a:endParaRPr sz="1100" b="0" i="0" u="none" strike="noStrike" cap="none">
              <a:solidFill>
                <a:schemeClr val="dk1"/>
              </a:solidFill>
              <a:latin typeface="Calibri"/>
              <a:ea typeface="Calibri"/>
              <a:cs typeface="Calibri"/>
              <a:sym typeface="Calibri"/>
            </a:endParaRPr>
          </a:p>
        </p:txBody>
      </p:sp>
      <p:sp>
        <p:nvSpPr>
          <p:cNvPr id="1313" name="Google Shape;1313;p28"/>
          <p:cNvSpPr/>
          <p:nvPr/>
        </p:nvSpPr>
        <p:spPr>
          <a:xfrm>
            <a:off x="658368" y="2825496"/>
            <a:ext cx="548700" cy="301800"/>
          </a:xfrm>
          <a:prstGeom prst="rect">
            <a:avLst/>
          </a:prstGeom>
          <a:solidFill>
            <a:srgbClr val="EAF3DE"/>
          </a:solidFill>
          <a:ln w="9525" cap="flat" cmpd="sng">
            <a:solidFill>
              <a:srgbClr val="3B6D1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4" name="Google Shape;1314;p28"/>
          <p:cNvSpPr/>
          <p:nvPr/>
        </p:nvSpPr>
        <p:spPr>
          <a:xfrm>
            <a:off x="658368" y="2825496"/>
            <a:ext cx="5487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3B6D11"/>
              </a:buClr>
              <a:buSzPts val="1100"/>
              <a:buFont typeface="Calibri"/>
              <a:buNone/>
            </a:pPr>
            <a:r>
              <a:rPr lang="en" sz="1100" b="1" i="0" u="none" strike="noStrike" cap="none">
                <a:solidFill>
                  <a:srgbClr val="3B6D11"/>
                </a:solidFill>
                <a:latin typeface="Calibri"/>
                <a:ea typeface="Calibri"/>
                <a:cs typeface="Calibri"/>
                <a:sym typeface="Calibri"/>
              </a:rPr>
              <a:t>-0.3</a:t>
            </a:r>
            <a:endParaRPr sz="1100" b="0" i="0" u="none" strike="noStrike" cap="none">
              <a:solidFill>
                <a:schemeClr val="dk1"/>
              </a:solidFill>
              <a:latin typeface="Calibri"/>
              <a:ea typeface="Calibri"/>
              <a:cs typeface="Calibri"/>
              <a:sym typeface="Calibri"/>
            </a:endParaRPr>
          </a:p>
        </p:txBody>
      </p:sp>
      <p:sp>
        <p:nvSpPr>
          <p:cNvPr id="1315" name="Google Shape;1315;p28"/>
          <p:cNvSpPr/>
          <p:nvPr/>
        </p:nvSpPr>
        <p:spPr>
          <a:xfrm>
            <a:off x="1243584" y="2825496"/>
            <a:ext cx="548700" cy="301800"/>
          </a:xfrm>
          <a:prstGeom prst="rect">
            <a:avLst/>
          </a:prstGeom>
          <a:solidFill>
            <a:srgbClr val="EAF3DE"/>
          </a:solidFill>
          <a:ln w="9525" cap="flat" cmpd="sng">
            <a:solidFill>
              <a:srgbClr val="3B6D1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6" name="Google Shape;1316;p28"/>
          <p:cNvSpPr/>
          <p:nvPr/>
        </p:nvSpPr>
        <p:spPr>
          <a:xfrm>
            <a:off x="1243584" y="2825496"/>
            <a:ext cx="5487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3B6D11"/>
              </a:buClr>
              <a:buSzPts val="1100"/>
              <a:buFont typeface="Calibri"/>
              <a:buNone/>
            </a:pPr>
            <a:r>
              <a:rPr lang="en" sz="1100" b="1" i="0" u="none" strike="noStrike" cap="none">
                <a:solidFill>
                  <a:srgbClr val="3B6D11"/>
                </a:solidFill>
                <a:latin typeface="Calibri"/>
                <a:ea typeface="Calibri"/>
                <a:cs typeface="Calibri"/>
                <a:sym typeface="Calibri"/>
              </a:rPr>
              <a:t>0.5</a:t>
            </a:r>
            <a:endParaRPr sz="1100" b="0" i="0" u="none" strike="noStrike" cap="none">
              <a:solidFill>
                <a:schemeClr val="dk1"/>
              </a:solidFill>
              <a:latin typeface="Calibri"/>
              <a:ea typeface="Calibri"/>
              <a:cs typeface="Calibri"/>
              <a:sym typeface="Calibri"/>
            </a:endParaRPr>
          </a:p>
        </p:txBody>
      </p:sp>
      <p:sp>
        <p:nvSpPr>
          <p:cNvPr id="1317" name="Google Shape;1317;p28"/>
          <p:cNvSpPr/>
          <p:nvPr/>
        </p:nvSpPr>
        <p:spPr>
          <a:xfrm>
            <a:off x="1828800" y="2825496"/>
            <a:ext cx="548700" cy="301800"/>
          </a:xfrm>
          <a:prstGeom prst="rect">
            <a:avLst/>
          </a:prstGeom>
          <a:solidFill>
            <a:srgbClr val="EAF3DE"/>
          </a:solidFill>
          <a:ln w="9525" cap="flat" cmpd="sng">
            <a:solidFill>
              <a:srgbClr val="3B6D1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8" name="Google Shape;1318;p28"/>
          <p:cNvSpPr/>
          <p:nvPr/>
        </p:nvSpPr>
        <p:spPr>
          <a:xfrm>
            <a:off x="1828800" y="2825496"/>
            <a:ext cx="5487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3B6D11"/>
              </a:buClr>
              <a:buSzPts val="1100"/>
              <a:buFont typeface="Calibri"/>
              <a:buNone/>
            </a:pPr>
            <a:r>
              <a:rPr lang="en" sz="1100" b="1" i="0" u="none" strike="noStrike" cap="none">
                <a:solidFill>
                  <a:srgbClr val="3B6D11"/>
                </a:solidFill>
                <a:latin typeface="Calibri"/>
                <a:ea typeface="Calibri"/>
                <a:cs typeface="Calibri"/>
                <a:sym typeface="Calibri"/>
              </a:rPr>
              <a:t>0.1</a:t>
            </a:r>
            <a:endParaRPr sz="1100" b="0" i="0" u="none" strike="noStrike" cap="none">
              <a:solidFill>
                <a:schemeClr val="dk1"/>
              </a:solidFill>
              <a:latin typeface="Calibri"/>
              <a:ea typeface="Calibri"/>
              <a:cs typeface="Calibri"/>
              <a:sym typeface="Calibri"/>
            </a:endParaRPr>
          </a:p>
        </p:txBody>
      </p:sp>
      <p:sp>
        <p:nvSpPr>
          <p:cNvPr id="1319" name="Google Shape;1319;p28"/>
          <p:cNvSpPr/>
          <p:nvPr/>
        </p:nvSpPr>
        <p:spPr>
          <a:xfrm>
            <a:off x="2414016" y="2825496"/>
            <a:ext cx="548700" cy="301800"/>
          </a:xfrm>
          <a:prstGeom prst="rect">
            <a:avLst/>
          </a:prstGeom>
          <a:solidFill>
            <a:srgbClr val="EAF3DE"/>
          </a:solidFill>
          <a:ln w="9525" cap="flat" cmpd="sng">
            <a:solidFill>
              <a:srgbClr val="3B6D1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0" name="Google Shape;1320;p28"/>
          <p:cNvSpPr/>
          <p:nvPr/>
        </p:nvSpPr>
        <p:spPr>
          <a:xfrm>
            <a:off x="2414016" y="2825496"/>
            <a:ext cx="5487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3B6D11"/>
              </a:buClr>
              <a:buSzPts val="1100"/>
              <a:buFont typeface="Calibri"/>
              <a:buNone/>
            </a:pPr>
            <a:r>
              <a:rPr lang="en" sz="1100" b="1" i="0" u="none" strike="noStrike" cap="none">
                <a:solidFill>
                  <a:srgbClr val="3B6D11"/>
                </a:solidFill>
                <a:latin typeface="Calibri"/>
                <a:ea typeface="Calibri"/>
                <a:cs typeface="Calibri"/>
                <a:sym typeface="Calibri"/>
              </a:rPr>
              <a:t>-0.2</a:t>
            </a:r>
            <a:endParaRPr sz="1100" b="0" i="0" u="none" strike="noStrike" cap="none">
              <a:solidFill>
                <a:schemeClr val="dk1"/>
              </a:solidFill>
              <a:latin typeface="Calibri"/>
              <a:ea typeface="Calibri"/>
              <a:cs typeface="Calibri"/>
              <a:sym typeface="Calibri"/>
            </a:endParaRPr>
          </a:p>
        </p:txBody>
      </p:sp>
      <p:sp>
        <p:nvSpPr>
          <p:cNvPr id="1321" name="Google Shape;1321;p28"/>
          <p:cNvSpPr/>
          <p:nvPr/>
        </p:nvSpPr>
        <p:spPr>
          <a:xfrm>
            <a:off x="658368" y="3163824"/>
            <a:ext cx="548700" cy="301800"/>
          </a:xfrm>
          <a:prstGeom prst="rect">
            <a:avLst/>
          </a:prstGeom>
          <a:solidFill>
            <a:srgbClr val="FAECE7"/>
          </a:solidFill>
          <a:ln w="9525" cap="flat" cmpd="sng">
            <a:solidFill>
              <a:srgbClr val="712B1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2" name="Google Shape;1322;p28"/>
          <p:cNvSpPr/>
          <p:nvPr/>
        </p:nvSpPr>
        <p:spPr>
          <a:xfrm>
            <a:off x="658368" y="3163824"/>
            <a:ext cx="5487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12B13"/>
              </a:buClr>
              <a:buSzPts val="1100"/>
              <a:buFont typeface="Calibri"/>
              <a:buNone/>
            </a:pPr>
            <a:r>
              <a:rPr lang="en" sz="1100" b="1" i="0" u="none" strike="noStrike" cap="none">
                <a:solidFill>
                  <a:srgbClr val="712B13"/>
                </a:solidFill>
                <a:latin typeface="Calibri"/>
                <a:ea typeface="Calibri"/>
                <a:cs typeface="Calibri"/>
                <a:sym typeface="Calibri"/>
              </a:rPr>
              <a:t>0.1</a:t>
            </a:r>
            <a:endParaRPr sz="1100" b="0" i="0" u="none" strike="noStrike" cap="none">
              <a:solidFill>
                <a:schemeClr val="dk1"/>
              </a:solidFill>
              <a:latin typeface="Calibri"/>
              <a:ea typeface="Calibri"/>
              <a:cs typeface="Calibri"/>
              <a:sym typeface="Calibri"/>
            </a:endParaRPr>
          </a:p>
        </p:txBody>
      </p:sp>
      <p:sp>
        <p:nvSpPr>
          <p:cNvPr id="1323" name="Google Shape;1323;p28"/>
          <p:cNvSpPr/>
          <p:nvPr/>
        </p:nvSpPr>
        <p:spPr>
          <a:xfrm>
            <a:off x="1243584" y="3163824"/>
            <a:ext cx="548700" cy="301800"/>
          </a:xfrm>
          <a:prstGeom prst="rect">
            <a:avLst/>
          </a:prstGeom>
          <a:solidFill>
            <a:srgbClr val="FAECE7"/>
          </a:solidFill>
          <a:ln w="9525" cap="flat" cmpd="sng">
            <a:solidFill>
              <a:srgbClr val="712B1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4" name="Google Shape;1324;p28"/>
          <p:cNvSpPr/>
          <p:nvPr/>
        </p:nvSpPr>
        <p:spPr>
          <a:xfrm>
            <a:off x="1243584" y="3163824"/>
            <a:ext cx="5487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12B13"/>
              </a:buClr>
              <a:buSzPts val="1100"/>
              <a:buFont typeface="Calibri"/>
              <a:buNone/>
            </a:pPr>
            <a:r>
              <a:rPr lang="en" sz="1100" b="1" i="0" u="none" strike="noStrike" cap="none">
                <a:solidFill>
                  <a:srgbClr val="712B13"/>
                </a:solidFill>
                <a:latin typeface="Calibri"/>
                <a:ea typeface="Calibri"/>
                <a:cs typeface="Calibri"/>
                <a:sym typeface="Calibri"/>
              </a:rPr>
              <a:t>0.2</a:t>
            </a:r>
            <a:endParaRPr sz="1100" b="0" i="0" u="none" strike="noStrike" cap="none">
              <a:solidFill>
                <a:schemeClr val="dk1"/>
              </a:solidFill>
              <a:latin typeface="Calibri"/>
              <a:ea typeface="Calibri"/>
              <a:cs typeface="Calibri"/>
              <a:sym typeface="Calibri"/>
            </a:endParaRPr>
          </a:p>
        </p:txBody>
      </p:sp>
      <p:sp>
        <p:nvSpPr>
          <p:cNvPr id="1325" name="Google Shape;1325;p28"/>
          <p:cNvSpPr/>
          <p:nvPr/>
        </p:nvSpPr>
        <p:spPr>
          <a:xfrm>
            <a:off x="1828800" y="3163824"/>
            <a:ext cx="548700" cy="301800"/>
          </a:xfrm>
          <a:prstGeom prst="rect">
            <a:avLst/>
          </a:prstGeom>
          <a:solidFill>
            <a:srgbClr val="FAECE7"/>
          </a:solidFill>
          <a:ln w="9525" cap="flat" cmpd="sng">
            <a:solidFill>
              <a:srgbClr val="712B1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6" name="Google Shape;1326;p28"/>
          <p:cNvSpPr/>
          <p:nvPr/>
        </p:nvSpPr>
        <p:spPr>
          <a:xfrm>
            <a:off x="1828800" y="3163824"/>
            <a:ext cx="5487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12B13"/>
              </a:buClr>
              <a:buSzPts val="1100"/>
              <a:buFont typeface="Calibri"/>
              <a:buNone/>
            </a:pPr>
            <a:r>
              <a:rPr lang="en" sz="1100" b="1" i="0" u="none" strike="noStrike" cap="none">
                <a:solidFill>
                  <a:srgbClr val="712B13"/>
                </a:solidFill>
                <a:latin typeface="Calibri"/>
                <a:ea typeface="Calibri"/>
                <a:cs typeface="Calibri"/>
                <a:sym typeface="Calibri"/>
              </a:rPr>
              <a:t>-0.3</a:t>
            </a:r>
            <a:endParaRPr sz="1100" b="0" i="0" u="none" strike="noStrike" cap="none">
              <a:solidFill>
                <a:schemeClr val="dk1"/>
              </a:solidFill>
              <a:latin typeface="Calibri"/>
              <a:ea typeface="Calibri"/>
              <a:cs typeface="Calibri"/>
              <a:sym typeface="Calibri"/>
            </a:endParaRPr>
          </a:p>
        </p:txBody>
      </p:sp>
      <p:sp>
        <p:nvSpPr>
          <p:cNvPr id="1327" name="Google Shape;1327;p28"/>
          <p:cNvSpPr/>
          <p:nvPr/>
        </p:nvSpPr>
        <p:spPr>
          <a:xfrm>
            <a:off x="2414016" y="3163824"/>
            <a:ext cx="548700" cy="301800"/>
          </a:xfrm>
          <a:prstGeom prst="rect">
            <a:avLst/>
          </a:prstGeom>
          <a:solidFill>
            <a:srgbClr val="FAECE7"/>
          </a:solidFill>
          <a:ln w="9525" cap="flat" cmpd="sng">
            <a:solidFill>
              <a:srgbClr val="712B1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8" name="Google Shape;1328;p28"/>
          <p:cNvSpPr/>
          <p:nvPr/>
        </p:nvSpPr>
        <p:spPr>
          <a:xfrm>
            <a:off x="2414016" y="3163824"/>
            <a:ext cx="5487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12B13"/>
              </a:buClr>
              <a:buSzPts val="1100"/>
              <a:buFont typeface="Calibri"/>
              <a:buNone/>
            </a:pPr>
            <a:r>
              <a:rPr lang="en" sz="1100" b="1" i="0" u="none" strike="noStrike" cap="none">
                <a:solidFill>
                  <a:srgbClr val="712B13"/>
                </a:solidFill>
                <a:latin typeface="Calibri"/>
                <a:ea typeface="Calibri"/>
                <a:cs typeface="Calibri"/>
                <a:sym typeface="Calibri"/>
              </a:rPr>
              <a:t>0.5</a:t>
            </a:r>
            <a:endParaRPr sz="1100" b="0" i="0" u="none" strike="noStrike" cap="none">
              <a:solidFill>
                <a:schemeClr val="dk1"/>
              </a:solidFill>
              <a:latin typeface="Calibri"/>
              <a:ea typeface="Calibri"/>
              <a:cs typeface="Calibri"/>
              <a:sym typeface="Calibri"/>
            </a:endParaRPr>
          </a:p>
        </p:txBody>
      </p:sp>
      <p:sp>
        <p:nvSpPr>
          <p:cNvPr id="1329" name="Google Shape;1329;p28"/>
          <p:cNvSpPr/>
          <p:nvPr/>
        </p:nvSpPr>
        <p:spPr>
          <a:xfrm>
            <a:off x="3044952" y="2852928"/>
            <a:ext cx="274200" cy="329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FF6FF"/>
              </a:buClr>
              <a:buSzPts val="1600"/>
              <a:buFont typeface="Calibri"/>
              <a:buNone/>
            </a:pPr>
            <a:r>
              <a:rPr lang="en" sz="1600" b="0" i="0" u="none" strike="noStrike" cap="none">
                <a:solidFill>
                  <a:srgbClr val="EFF6FF"/>
                </a:solidFill>
                <a:latin typeface="Calibri"/>
                <a:ea typeface="Calibri"/>
                <a:cs typeface="Calibri"/>
                <a:sym typeface="Calibri"/>
              </a:rPr>
              <a:t>×</a:t>
            </a:r>
            <a:endParaRPr sz="1600" b="0" i="0" u="none" strike="noStrike" cap="none">
              <a:solidFill>
                <a:schemeClr val="dk1"/>
              </a:solidFill>
              <a:latin typeface="Calibri"/>
              <a:ea typeface="Calibri"/>
              <a:cs typeface="Calibri"/>
              <a:sym typeface="Calibri"/>
            </a:endParaRPr>
          </a:p>
        </p:txBody>
      </p:sp>
      <p:sp>
        <p:nvSpPr>
          <p:cNvPr id="1330" name="Google Shape;1330;p28"/>
          <p:cNvSpPr/>
          <p:nvPr/>
        </p:nvSpPr>
        <p:spPr>
          <a:xfrm>
            <a:off x="3364992" y="2487168"/>
            <a:ext cx="466200" cy="242400"/>
          </a:xfrm>
          <a:prstGeom prst="rect">
            <a:avLst/>
          </a:prstGeom>
          <a:solidFill>
            <a:srgbClr val="C8E8F8"/>
          </a:solidFill>
          <a:ln w="1015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1" name="Google Shape;1331;p28"/>
          <p:cNvSpPr/>
          <p:nvPr/>
        </p:nvSpPr>
        <p:spPr>
          <a:xfrm>
            <a:off x="3364992" y="2487168"/>
            <a:ext cx="466200" cy="242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100"/>
              <a:buFont typeface="Calibri"/>
              <a:buNone/>
            </a:pPr>
            <a:r>
              <a:rPr lang="en" sz="1100" b="1" i="0" u="none" strike="noStrike" cap="none">
                <a:solidFill>
                  <a:srgbClr val="1A2E42"/>
                </a:solidFill>
                <a:latin typeface="Calibri"/>
                <a:ea typeface="Calibri"/>
                <a:cs typeface="Calibri"/>
                <a:sym typeface="Calibri"/>
              </a:rPr>
              <a:t>36</a:t>
            </a:r>
            <a:endParaRPr sz="1100" b="0" i="0" u="none" strike="noStrike" cap="none">
              <a:solidFill>
                <a:schemeClr val="dk1"/>
              </a:solidFill>
              <a:latin typeface="Calibri"/>
              <a:ea typeface="Calibri"/>
              <a:cs typeface="Calibri"/>
              <a:sym typeface="Calibri"/>
            </a:endParaRPr>
          </a:p>
        </p:txBody>
      </p:sp>
      <p:sp>
        <p:nvSpPr>
          <p:cNvPr id="1332" name="Google Shape;1332;p28"/>
          <p:cNvSpPr/>
          <p:nvPr/>
        </p:nvSpPr>
        <p:spPr>
          <a:xfrm>
            <a:off x="3364992" y="2775204"/>
            <a:ext cx="466200" cy="242400"/>
          </a:xfrm>
          <a:prstGeom prst="rect">
            <a:avLst/>
          </a:prstGeom>
          <a:solidFill>
            <a:srgbClr val="C8E8F8"/>
          </a:solidFill>
          <a:ln w="1015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3" name="Google Shape;1333;p28"/>
          <p:cNvSpPr/>
          <p:nvPr/>
        </p:nvSpPr>
        <p:spPr>
          <a:xfrm>
            <a:off x="3364992" y="2775204"/>
            <a:ext cx="466200" cy="242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100"/>
              <a:buFont typeface="Calibri"/>
              <a:buNone/>
            </a:pPr>
            <a:r>
              <a:rPr lang="en" sz="1100" b="1" i="0" u="none" strike="noStrike" cap="none">
                <a:solidFill>
                  <a:srgbClr val="1A2E42"/>
                </a:solidFill>
                <a:latin typeface="Calibri"/>
                <a:ea typeface="Calibri"/>
                <a:cs typeface="Calibri"/>
                <a:sym typeface="Calibri"/>
              </a:rPr>
              <a:t>22</a:t>
            </a:r>
            <a:endParaRPr sz="1100" b="0" i="0" u="none" strike="noStrike" cap="none">
              <a:solidFill>
                <a:schemeClr val="dk1"/>
              </a:solidFill>
              <a:latin typeface="Calibri"/>
              <a:ea typeface="Calibri"/>
              <a:cs typeface="Calibri"/>
              <a:sym typeface="Calibri"/>
            </a:endParaRPr>
          </a:p>
        </p:txBody>
      </p:sp>
      <p:sp>
        <p:nvSpPr>
          <p:cNvPr id="1334" name="Google Shape;1334;p28"/>
          <p:cNvSpPr/>
          <p:nvPr/>
        </p:nvSpPr>
        <p:spPr>
          <a:xfrm>
            <a:off x="3364992" y="3063240"/>
            <a:ext cx="466200" cy="242400"/>
          </a:xfrm>
          <a:prstGeom prst="rect">
            <a:avLst/>
          </a:prstGeom>
          <a:solidFill>
            <a:srgbClr val="C8E8F8"/>
          </a:solidFill>
          <a:ln w="1015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5" name="Google Shape;1335;p28"/>
          <p:cNvSpPr/>
          <p:nvPr/>
        </p:nvSpPr>
        <p:spPr>
          <a:xfrm>
            <a:off x="3364992" y="3063240"/>
            <a:ext cx="466200" cy="242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100"/>
              <a:buFont typeface="Calibri"/>
              <a:buNone/>
            </a:pPr>
            <a:r>
              <a:rPr lang="en" sz="1100" b="1" i="0" u="none" strike="noStrike" cap="none">
                <a:solidFill>
                  <a:srgbClr val="1A2E42"/>
                </a:solidFill>
                <a:latin typeface="Calibri"/>
                <a:ea typeface="Calibri"/>
                <a:cs typeface="Calibri"/>
                <a:sym typeface="Calibri"/>
              </a:rPr>
              <a:t>30</a:t>
            </a:r>
            <a:endParaRPr sz="1100" b="0" i="0" u="none" strike="noStrike" cap="none">
              <a:solidFill>
                <a:schemeClr val="dk1"/>
              </a:solidFill>
              <a:latin typeface="Calibri"/>
              <a:ea typeface="Calibri"/>
              <a:cs typeface="Calibri"/>
              <a:sym typeface="Calibri"/>
            </a:endParaRPr>
          </a:p>
        </p:txBody>
      </p:sp>
      <p:sp>
        <p:nvSpPr>
          <p:cNvPr id="1336" name="Google Shape;1336;p28"/>
          <p:cNvSpPr/>
          <p:nvPr/>
        </p:nvSpPr>
        <p:spPr>
          <a:xfrm>
            <a:off x="3364992" y="3351276"/>
            <a:ext cx="466200" cy="242400"/>
          </a:xfrm>
          <a:prstGeom prst="rect">
            <a:avLst/>
          </a:prstGeom>
          <a:solidFill>
            <a:srgbClr val="C8E8F8"/>
          </a:solidFill>
          <a:ln w="1015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7" name="Google Shape;1337;p28"/>
          <p:cNvSpPr/>
          <p:nvPr/>
        </p:nvSpPr>
        <p:spPr>
          <a:xfrm>
            <a:off x="3364992" y="3351276"/>
            <a:ext cx="466200" cy="242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100"/>
              <a:buFont typeface="Calibri"/>
              <a:buNone/>
            </a:pPr>
            <a:r>
              <a:rPr lang="en" sz="1100" b="1" i="0" u="none" strike="noStrike" cap="none">
                <a:solidFill>
                  <a:srgbClr val="1A2E42"/>
                </a:solidFill>
                <a:latin typeface="Calibri"/>
                <a:ea typeface="Calibri"/>
                <a:cs typeface="Calibri"/>
                <a:sym typeface="Calibri"/>
              </a:rPr>
              <a:t>25</a:t>
            </a:r>
            <a:endParaRPr sz="1100" b="0" i="0" u="none" strike="noStrike" cap="none">
              <a:solidFill>
                <a:schemeClr val="dk1"/>
              </a:solidFill>
              <a:latin typeface="Calibri"/>
              <a:ea typeface="Calibri"/>
              <a:cs typeface="Calibri"/>
              <a:sym typeface="Calibri"/>
            </a:endParaRPr>
          </a:p>
        </p:txBody>
      </p:sp>
      <p:sp>
        <p:nvSpPr>
          <p:cNvPr id="1338" name="Google Shape;1338;p28"/>
          <p:cNvSpPr/>
          <p:nvPr/>
        </p:nvSpPr>
        <p:spPr>
          <a:xfrm>
            <a:off x="3364992" y="3675888"/>
            <a:ext cx="4662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900"/>
              <a:buFont typeface="Calibri"/>
              <a:buNone/>
            </a:pPr>
            <a:r>
              <a:rPr lang="en" sz="900" b="0" i="0" u="none" strike="noStrike" cap="none">
                <a:solidFill>
                  <a:srgbClr val="64748B"/>
                </a:solidFill>
                <a:latin typeface="Calibri"/>
                <a:ea typeface="Calibri"/>
                <a:cs typeface="Calibri"/>
                <a:sym typeface="Calibri"/>
              </a:rPr>
              <a:t>x</a:t>
            </a:r>
            <a:endParaRPr sz="9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64748B"/>
              </a:buClr>
              <a:buSzPts val="900"/>
              <a:buFont typeface="Calibri"/>
              <a:buNone/>
            </a:pPr>
            <a:r>
              <a:rPr lang="en" sz="900" b="0" i="0" u="none" strike="noStrike" cap="none">
                <a:solidFill>
                  <a:srgbClr val="64748B"/>
                </a:solidFill>
                <a:latin typeface="Calibri"/>
                <a:ea typeface="Calibri"/>
                <a:cs typeface="Calibri"/>
                <a:sym typeface="Calibri"/>
              </a:rPr>
              <a:t>(4×1)</a:t>
            </a:r>
            <a:endParaRPr sz="900" b="0" i="0" u="none" strike="noStrike" cap="none">
              <a:solidFill>
                <a:schemeClr val="dk1"/>
              </a:solidFill>
              <a:latin typeface="Calibri"/>
              <a:ea typeface="Calibri"/>
              <a:cs typeface="Calibri"/>
              <a:sym typeface="Calibri"/>
            </a:endParaRPr>
          </a:p>
        </p:txBody>
      </p:sp>
      <p:sp>
        <p:nvSpPr>
          <p:cNvPr id="1339" name="Google Shape;1339;p28"/>
          <p:cNvSpPr/>
          <p:nvPr/>
        </p:nvSpPr>
        <p:spPr>
          <a:xfrm>
            <a:off x="3904488" y="2852928"/>
            <a:ext cx="255900" cy="329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FF6FF"/>
              </a:buClr>
              <a:buSzPts val="1600"/>
              <a:buFont typeface="Calibri"/>
              <a:buNone/>
            </a:pPr>
            <a:r>
              <a:rPr lang="en" sz="1600" b="0" i="0" u="none" strike="noStrike" cap="none">
                <a:solidFill>
                  <a:srgbClr val="EFF6FF"/>
                </a:solidFill>
                <a:latin typeface="Calibri"/>
                <a:ea typeface="Calibri"/>
                <a:cs typeface="Calibri"/>
                <a:sym typeface="Calibri"/>
              </a:rPr>
              <a:t>=</a:t>
            </a:r>
            <a:endParaRPr sz="1600" b="0" i="0" u="none" strike="noStrike" cap="none">
              <a:solidFill>
                <a:schemeClr val="dk1"/>
              </a:solidFill>
              <a:latin typeface="Calibri"/>
              <a:ea typeface="Calibri"/>
              <a:cs typeface="Calibri"/>
              <a:sym typeface="Calibri"/>
            </a:endParaRPr>
          </a:p>
        </p:txBody>
      </p:sp>
      <p:sp>
        <p:nvSpPr>
          <p:cNvPr id="1340" name="Google Shape;1340;p28"/>
          <p:cNvSpPr/>
          <p:nvPr/>
        </p:nvSpPr>
        <p:spPr>
          <a:xfrm>
            <a:off x="4215384" y="2487168"/>
            <a:ext cx="548700" cy="301800"/>
          </a:xfrm>
          <a:prstGeom prst="rect">
            <a:avLst/>
          </a:prstGeom>
          <a:solidFill>
            <a:srgbClr val="E6F1FB"/>
          </a:solidFill>
          <a:ln w="12700" cap="flat" cmpd="sng">
            <a:solidFill>
              <a:srgbClr val="0C447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1" name="Google Shape;1341;p28"/>
          <p:cNvSpPr/>
          <p:nvPr/>
        </p:nvSpPr>
        <p:spPr>
          <a:xfrm>
            <a:off x="4215384" y="2487168"/>
            <a:ext cx="5487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447C"/>
              </a:buClr>
              <a:buSzPts val="1100"/>
              <a:buFont typeface="Calibri"/>
              <a:buNone/>
            </a:pPr>
            <a:r>
              <a:rPr lang="en" sz="1100" b="1" i="0" u="none" strike="noStrike" cap="none">
                <a:solidFill>
                  <a:srgbClr val="0C447C"/>
                </a:solidFill>
                <a:latin typeface="Calibri"/>
                <a:ea typeface="Calibri"/>
                <a:cs typeface="Calibri"/>
                <a:sym typeface="Calibri"/>
              </a:rPr>
              <a:t>19.5</a:t>
            </a:r>
            <a:endParaRPr sz="1100" b="0" i="0" u="none" strike="noStrike" cap="none">
              <a:solidFill>
                <a:schemeClr val="dk1"/>
              </a:solidFill>
              <a:latin typeface="Calibri"/>
              <a:ea typeface="Calibri"/>
              <a:cs typeface="Calibri"/>
              <a:sym typeface="Calibri"/>
            </a:endParaRPr>
          </a:p>
        </p:txBody>
      </p:sp>
      <p:sp>
        <p:nvSpPr>
          <p:cNvPr id="1342" name="Google Shape;1342;p28"/>
          <p:cNvSpPr/>
          <p:nvPr/>
        </p:nvSpPr>
        <p:spPr>
          <a:xfrm>
            <a:off x="4855464" y="2487168"/>
            <a:ext cx="548700" cy="30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447C"/>
              </a:buClr>
              <a:buSzPts val="1000"/>
              <a:buFont typeface="Calibri"/>
              <a:buNone/>
            </a:pPr>
            <a:r>
              <a:rPr lang="en" sz="1000" b="1" i="0" u="none" strike="noStrike" cap="none">
                <a:solidFill>
                  <a:srgbClr val="0C447C"/>
                </a:solidFill>
                <a:latin typeface="Calibri"/>
                <a:ea typeface="Calibri"/>
                <a:cs typeface="Calibri"/>
                <a:sym typeface="Calibri"/>
              </a:rPr>
              <a:t>Cat</a:t>
            </a:r>
            <a:endParaRPr sz="1000" b="0" i="0" u="none" strike="noStrike" cap="none">
              <a:solidFill>
                <a:schemeClr val="dk1"/>
              </a:solidFill>
              <a:latin typeface="Calibri"/>
              <a:ea typeface="Calibri"/>
              <a:cs typeface="Calibri"/>
              <a:sym typeface="Calibri"/>
            </a:endParaRPr>
          </a:p>
        </p:txBody>
      </p:sp>
      <p:sp>
        <p:nvSpPr>
          <p:cNvPr id="1343" name="Google Shape;1343;p28"/>
          <p:cNvSpPr/>
          <p:nvPr/>
        </p:nvSpPr>
        <p:spPr>
          <a:xfrm>
            <a:off x="4215384" y="2825496"/>
            <a:ext cx="548700" cy="301800"/>
          </a:xfrm>
          <a:prstGeom prst="rect">
            <a:avLst/>
          </a:prstGeom>
          <a:solidFill>
            <a:srgbClr val="EAF3DE"/>
          </a:solidFill>
          <a:ln w="12700" cap="flat" cmpd="sng">
            <a:solidFill>
              <a:srgbClr val="3B6D1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4" name="Google Shape;1344;p28"/>
          <p:cNvSpPr/>
          <p:nvPr/>
        </p:nvSpPr>
        <p:spPr>
          <a:xfrm>
            <a:off x="4215384" y="2825496"/>
            <a:ext cx="5487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3B6D11"/>
              </a:buClr>
              <a:buSzPts val="1100"/>
              <a:buFont typeface="Calibri"/>
              <a:buNone/>
            </a:pPr>
            <a:r>
              <a:rPr lang="en" sz="1100" b="1" i="0" u="none" strike="noStrike" cap="none">
                <a:solidFill>
                  <a:srgbClr val="3B6D11"/>
                </a:solidFill>
                <a:latin typeface="Calibri"/>
                <a:ea typeface="Calibri"/>
                <a:cs typeface="Calibri"/>
                <a:sym typeface="Calibri"/>
              </a:rPr>
              <a:t>-1.8</a:t>
            </a:r>
            <a:endParaRPr sz="1100" b="0" i="0" u="none" strike="noStrike" cap="none">
              <a:solidFill>
                <a:schemeClr val="dk1"/>
              </a:solidFill>
              <a:latin typeface="Calibri"/>
              <a:ea typeface="Calibri"/>
              <a:cs typeface="Calibri"/>
              <a:sym typeface="Calibri"/>
            </a:endParaRPr>
          </a:p>
        </p:txBody>
      </p:sp>
      <p:sp>
        <p:nvSpPr>
          <p:cNvPr id="1345" name="Google Shape;1345;p28"/>
          <p:cNvSpPr/>
          <p:nvPr/>
        </p:nvSpPr>
        <p:spPr>
          <a:xfrm>
            <a:off x="4855464" y="2825496"/>
            <a:ext cx="548700" cy="30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B6D11"/>
              </a:buClr>
              <a:buSzPts val="1000"/>
              <a:buFont typeface="Calibri"/>
              <a:buNone/>
            </a:pPr>
            <a:r>
              <a:rPr lang="en" sz="1000" b="1" i="0" u="none" strike="noStrike" cap="none">
                <a:solidFill>
                  <a:srgbClr val="3B6D11"/>
                </a:solidFill>
                <a:latin typeface="Calibri"/>
                <a:ea typeface="Calibri"/>
                <a:cs typeface="Calibri"/>
                <a:sym typeface="Calibri"/>
              </a:rPr>
              <a:t>Dog</a:t>
            </a:r>
            <a:endParaRPr sz="1000" b="0" i="0" u="none" strike="noStrike" cap="none">
              <a:solidFill>
                <a:schemeClr val="dk1"/>
              </a:solidFill>
              <a:latin typeface="Calibri"/>
              <a:ea typeface="Calibri"/>
              <a:cs typeface="Calibri"/>
              <a:sym typeface="Calibri"/>
            </a:endParaRPr>
          </a:p>
        </p:txBody>
      </p:sp>
      <p:sp>
        <p:nvSpPr>
          <p:cNvPr id="1346" name="Google Shape;1346;p28"/>
          <p:cNvSpPr/>
          <p:nvPr/>
        </p:nvSpPr>
        <p:spPr>
          <a:xfrm>
            <a:off x="4215384" y="3163824"/>
            <a:ext cx="548700" cy="301800"/>
          </a:xfrm>
          <a:prstGeom prst="rect">
            <a:avLst/>
          </a:prstGeom>
          <a:solidFill>
            <a:srgbClr val="FAECE7"/>
          </a:solidFill>
          <a:ln w="12700" cap="flat" cmpd="sng">
            <a:solidFill>
              <a:srgbClr val="712B1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7" name="Google Shape;1347;p28"/>
          <p:cNvSpPr/>
          <p:nvPr/>
        </p:nvSpPr>
        <p:spPr>
          <a:xfrm>
            <a:off x="4215384" y="3163824"/>
            <a:ext cx="5487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12B13"/>
              </a:buClr>
              <a:buSzPts val="1100"/>
              <a:buFont typeface="Calibri"/>
              <a:buNone/>
            </a:pPr>
            <a:r>
              <a:rPr lang="en" sz="1100" b="1" i="0" u="none" strike="noStrike" cap="none">
                <a:solidFill>
                  <a:srgbClr val="712B13"/>
                </a:solidFill>
                <a:latin typeface="Calibri"/>
                <a:ea typeface="Calibri"/>
                <a:cs typeface="Calibri"/>
                <a:sym typeface="Calibri"/>
              </a:rPr>
              <a:t>11.5</a:t>
            </a:r>
            <a:endParaRPr sz="1100" b="0" i="0" u="none" strike="noStrike" cap="none">
              <a:solidFill>
                <a:schemeClr val="dk1"/>
              </a:solidFill>
              <a:latin typeface="Calibri"/>
              <a:ea typeface="Calibri"/>
              <a:cs typeface="Calibri"/>
              <a:sym typeface="Calibri"/>
            </a:endParaRPr>
          </a:p>
        </p:txBody>
      </p:sp>
      <p:sp>
        <p:nvSpPr>
          <p:cNvPr id="1348" name="Google Shape;1348;p28"/>
          <p:cNvSpPr/>
          <p:nvPr/>
        </p:nvSpPr>
        <p:spPr>
          <a:xfrm>
            <a:off x="4855464" y="3163824"/>
            <a:ext cx="548700" cy="30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12B13"/>
              </a:buClr>
              <a:buSzPts val="1000"/>
              <a:buFont typeface="Calibri"/>
              <a:buNone/>
            </a:pPr>
            <a:r>
              <a:rPr lang="en" sz="1000" b="1" i="0" u="none" strike="noStrike" cap="none">
                <a:solidFill>
                  <a:srgbClr val="712B13"/>
                </a:solidFill>
                <a:latin typeface="Calibri"/>
                <a:ea typeface="Calibri"/>
                <a:cs typeface="Calibri"/>
                <a:sym typeface="Calibri"/>
              </a:rPr>
              <a:t>Bird</a:t>
            </a:r>
            <a:endParaRPr sz="1000" b="0" i="0" u="none" strike="noStrike" cap="none">
              <a:solidFill>
                <a:schemeClr val="dk1"/>
              </a:solidFill>
              <a:latin typeface="Calibri"/>
              <a:ea typeface="Calibri"/>
              <a:cs typeface="Calibri"/>
              <a:sym typeface="Calibri"/>
            </a:endParaRPr>
          </a:p>
        </p:txBody>
      </p:sp>
      <p:sp>
        <p:nvSpPr>
          <p:cNvPr id="1349" name="Google Shape;1349;p28"/>
          <p:cNvSpPr/>
          <p:nvPr/>
        </p:nvSpPr>
        <p:spPr>
          <a:xfrm>
            <a:off x="4215384" y="3538728"/>
            <a:ext cx="5487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900"/>
              <a:buFont typeface="Calibri"/>
              <a:buNone/>
            </a:pPr>
            <a:r>
              <a:rPr lang="en" sz="900" b="0" i="0" u="none" strike="noStrike" cap="none">
                <a:solidFill>
                  <a:srgbClr val="64748B"/>
                </a:solidFill>
                <a:latin typeface="Calibri"/>
                <a:ea typeface="Calibri"/>
                <a:cs typeface="Calibri"/>
                <a:sym typeface="Calibri"/>
              </a:rPr>
              <a:t>scores</a:t>
            </a:r>
            <a:endParaRPr sz="9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64748B"/>
              </a:buClr>
              <a:buSzPts val="900"/>
              <a:buFont typeface="Calibri"/>
              <a:buNone/>
            </a:pPr>
            <a:r>
              <a:rPr lang="en" sz="900" b="0" i="0" u="none" strike="noStrike" cap="none">
                <a:solidFill>
                  <a:srgbClr val="64748B"/>
                </a:solidFill>
                <a:latin typeface="Calibri"/>
                <a:ea typeface="Calibri"/>
                <a:cs typeface="Calibri"/>
                <a:sym typeface="Calibri"/>
              </a:rPr>
              <a:t>(3×1)</a:t>
            </a:r>
            <a:endParaRPr sz="900" b="0" i="0" u="none" strike="noStrike" cap="none">
              <a:solidFill>
                <a:schemeClr val="dk1"/>
              </a:solidFill>
              <a:latin typeface="Calibri"/>
              <a:ea typeface="Calibri"/>
              <a:cs typeface="Calibri"/>
              <a:sym typeface="Calibri"/>
            </a:endParaRPr>
          </a:p>
        </p:txBody>
      </p:sp>
      <p:sp>
        <p:nvSpPr>
          <p:cNvPr id="1350" name="Google Shape;1350;p28"/>
          <p:cNvSpPr/>
          <p:nvPr/>
        </p:nvSpPr>
        <p:spPr>
          <a:xfrm>
            <a:off x="5513832" y="2871216"/>
            <a:ext cx="12801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1000"/>
              <a:buFont typeface="Calibri"/>
              <a:buNone/>
            </a:pPr>
            <a:r>
              <a:rPr lang="en" sz="1000" b="0" i="1" u="none" strike="noStrike" cap="none">
                <a:solidFill>
                  <a:srgbClr val="64748B"/>
                </a:solidFill>
                <a:latin typeface="Calibri"/>
                <a:ea typeface="Calibri"/>
                <a:cs typeface="Calibri"/>
                <a:sym typeface="Calibri"/>
              </a:rPr>
              <a:t>→ Softmax →</a:t>
            </a:r>
            <a:endParaRPr sz="10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64748B"/>
              </a:buClr>
              <a:buSzPts val="1000"/>
              <a:buFont typeface="Calibri"/>
              <a:buNone/>
            </a:pPr>
            <a:r>
              <a:rPr lang="en" sz="1000" b="0" i="1" u="none" strike="noStrike" cap="none">
                <a:solidFill>
                  <a:srgbClr val="64748B"/>
                </a:solidFill>
                <a:latin typeface="Calibri"/>
                <a:ea typeface="Calibri"/>
                <a:cs typeface="Calibri"/>
                <a:sym typeface="Calibri"/>
              </a:rPr>
              <a:t>probabilities</a:t>
            </a:r>
            <a:endParaRPr sz="1000" b="0" i="0" u="none" strike="noStrike" cap="none">
              <a:solidFill>
                <a:schemeClr val="dk1"/>
              </a:solidFill>
              <a:latin typeface="Calibri"/>
              <a:ea typeface="Calibri"/>
              <a:cs typeface="Calibri"/>
              <a:sym typeface="Calibri"/>
            </a:endParaRPr>
          </a:p>
        </p:txBody>
      </p:sp>
      <p:sp>
        <p:nvSpPr>
          <p:cNvPr id="1351" name="Google Shape;1351;p28"/>
          <p:cNvSpPr/>
          <p:nvPr/>
        </p:nvSpPr>
        <p:spPr>
          <a:xfrm>
            <a:off x="6885432" y="2487168"/>
            <a:ext cx="603600" cy="301800"/>
          </a:xfrm>
          <a:prstGeom prst="rect">
            <a:avLst/>
          </a:prstGeom>
          <a:solidFill>
            <a:srgbClr val="E6F1FB"/>
          </a:solidFill>
          <a:ln w="12700" cap="flat" cmpd="sng">
            <a:solidFill>
              <a:srgbClr val="0C447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2" name="Google Shape;1352;p28"/>
          <p:cNvSpPr/>
          <p:nvPr/>
        </p:nvSpPr>
        <p:spPr>
          <a:xfrm>
            <a:off x="6885432" y="2487168"/>
            <a:ext cx="6036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C447C"/>
              </a:buClr>
              <a:buSzPts val="1100"/>
              <a:buFont typeface="Calibri"/>
              <a:buNone/>
            </a:pPr>
            <a:r>
              <a:rPr lang="en" sz="1100" b="1" i="0" u="none" strike="noStrike" cap="none">
                <a:solidFill>
                  <a:srgbClr val="0C447C"/>
                </a:solidFill>
                <a:latin typeface="Calibri"/>
                <a:ea typeface="Calibri"/>
                <a:cs typeface="Calibri"/>
                <a:sym typeface="Calibri"/>
              </a:rPr>
              <a:t>100.0%</a:t>
            </a:r>
            <a:endParaRPr sz="1100" b="0" i="0" u="none" strike="noStrike" cap="none">
              <a:solidFill>
                <a:schemeClr val="dk1"/>
              </a:solidFill>
              <a:latin typeface="Calibri"/>
              <a:ea typeface="Calibri"/>
              <a:cs typeface="Calibri"/>
              <a:sym typeface="Calibri"/>
            </a:endParaRPr>
          </a:p>
        </p:txBody>
      </p:sp>
      <p:sp>
        <p:nvSpPr>
          <p:cNvPr id="1353" name="Google Shape;1353;p28"/>
          <p:cNvSpPr/>
          <p:nvPr/>
        </p:nvSpPr>
        <p:spPr>
          <a:xfrm>
            <a:off x="7562088" y="2487168"/>
            <a:ext cx="548700" cy="30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C447C"/>
              </a:buClr>
              <a:buSzPts val="1000"/>
              <a:buFont typeface="Calibri"/>
              <a:buNone/>
            </a:pPr>
            <a:r>
              <a:rPr lang="en" sz="1000" b="1" i="0" u="none" strike="noStrike" cap="none">
                <a:solidFill>
                  <a:srgbClr val="0C447C"/>
                </a:solidFill>
                <a:latin typeface="Calibri"/>
                <a:ea typeface="Calibri"/>
                <a:cs typeface="Calibri"/>
                <a:sym typeface="Calibri"/>
              </a:rPr>
              <a:t>Cat</a:t>
            </a:r>
            <a:endParaRPr sz="1000" b="0" i="0" u="none" strike="noStrike" cap="none">
              <a:solidFill>
                <a:schemeClr val="dk1"/>
              </a:solidFill>
              <a:latin typeface="Calibri"/>
              <a:ea typeface="Calibri"/>
              <a:cs typeface="Calibri"/>
              <a:sym typeface="Calibri"/>
            </a:endParaRPr>
          </a:p>
        </p:txBody>
      </p:sp>
      <p:sp>
        <p:nvSpPr>
          <p:cNvPr id="1354" name="Google Shape;1354;p28"/>
          <p:cNvSpPr/>
          <p:nvPr/>
        </p:nvSpPr>
        <p:spPr>
          <a:xfrm>
            <a:off x="6885432" y="2825496"/>
            <a:ext cx="603600" cy="301800"/>
          </a:xfrm>
          <a:prstGeom prst="rect">
            <a:avLst/>
          </a:prstGeom>
          <a:solidFill>
            <a:srgbClr val="EAF3DE"/>
          </a:solidFill>
          <a:ln w="12700" cap="flat" cmpd="sng">
            <a:solidFill>
              <a:srgbClr val="3B6D1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5" name="Google Shape;1355;p28"/>
          <p:cNvSpPr/>
          <p:nvPr/>
        </p:nvSpPr>
        <p:spPr>
          <a:xfrm>
            <a:off x="6885432" y="2825496"/>
            <a:ext cx="6036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3B6D11"/>
              </a:buClr>
              <a:buSzPts val="1100"/>
              <a:buFont typeface="Calibri"/>
              <a:buNone/>
            </a:pPr>
            <a:r>
              <a:rPr lang="en" sz="1100" b="1" i="0" u="none" strike="noStrike" cap="none">
                <a:solidFill>
                  <a:srgbClr val="3B6D11"/>
                </a:solidFill>
                <a:latin typeface="Calibri"/>
                <a:ea typeface="Calibri"/>
                <a:cs typeface="Calibri"/>
                <a:sym typeface="Calibri"/>
              </a:rPr>
              <a:t>0.0%</a:t>
            </a:r>
            <a:endParaRPr sz="1100" b="0" i="0" u="none" strike="noStrike" cap="none">
              <a:solidFill>
                <a:schemeClr val="dk1"/>
              </a:solidFill>
              <a:latin typeface="Calibri"/>
              <a:ea typeface="Calibri"/>
              <a:cs typeface="Calibri"/>
              <a:sym typeface="Calibri"/>
            </a:endParaRPr>
          </a:p>
        </p:txBody>
      </p:sp>
      <p:sp>
        <p:nvSpPr>
          <p:cNvPr id="1356" name="Google Shape;1356;p28"/>
          <p:cNvSpPr/>
          <p:nvPr/>
        </p:nvSpPr>
        <p:spPr>
          <a:xfrm>
            <a:off x="7562088" y="2825496"/>
            <a:ext cx="548700" cy="30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B6D11"/>
              </a:buClr>
              <a:buSzPts val="1000"/>
              <a:buFont typeface="Calibri"/>
              <a:buNone/>
            </a:pPr>
            <a:r>
              <a:rPr lang="en" sz="1000" b="1" i="0" u="none" strike="noStrike" cap="none">
                <a:solidFill>
                  <a:srgbClr val="3B6D11"/>
                </a:solidFill>
                <a:latin typeface="Calibri"/>
                <a:ea typeface="Calibri"/>
                <a:cs typeface="Calibri"/>
                <a:sym typeface="Calibri"/>
              </a:rPr>
              <a:t>Dog</a:t>
            </a:r>
            <a:endParaRPr sz="1000" b="0" i="0" u="none" strike="noStrike" cap="none">
              <a:solidFill>
                <a:schemeClr val="dk1"/>
              </a:solidFill>
              <a:latin typeface="Calibri"/>
              <a:ea typeface="Calibri"/>
              <a:cs typeface="Calibri"/>
              <a:sym typeface="Calibri"/>
            </a:endParaRPr>
          </a:p>
        </p:txBody>
      </p:sp>
      <p:sp>
        <p:nvSpPr>
          <p:cNvPr id="1357" name="Google Shape;1357;p28"/>
          <p:cNvSpPr/>
          <p:nvPr/>
        </p:nvSpPr>
        <p:spPr>
          <a:xfrm>
            <a:off x="6885432" y="3163824"/>
            <a:ext cx="603600" cy="301800"/>
          </a:xfrm>
          <a:prstGeom prst="rect">
            <a:avLst/>
          </a:prstGeom>
          <a:solidFill>
            <a:srgbClr val="FAECE7"/>
          </a:solidFill>
          <a:ln w="12700" cap="flat" cmpd="sng">
            <a:solidFill>
              <a:srgbClr val="712B1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8" name="Google Shape;1358;p28"/>
          <p:cNvSpPr/>
          <p:nvPr/>
        </p:nvSpPr>
        <p:spPr>
          <a:xfrm>
            <a:off x="6885432" y="3163824"/>
            <a:ext cx="603600" cy="30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12B13"/>
              </a:buClr>
              <a:buSzPts val="1100"/>
              <a:buFont typeface="Calibri"/>
              <a:buNone/>
            </a:pPr>
            <a:r>
              <a:rPr lang="en" sz="1100" b="1" i="0" u="none" strike="noStrike" cap="none">
                <a:solidFill>
                  <a:srgbClr val="712B13"/>
                </a:solidFill>
                <a:latin typeface="Calibri"/>
                <a:ea typeface="Calibri"/>
                <a:cs typeface="Calibri"/>
                <a:sym typeface="Calibri"/>
              </a:rPr>
              <a:t>0.0%</a:t>
            </a:r>
            <a:endParaRPr sz="1100" b="0" i="0" u="none" strike="noStrike" cap="none">
              <a:solidFill>
                <a:schemeClr val="dk1"/>
              </a:solidFill>
              <a:latin typeface="Calibri"/>
              <a:ea typeface="Calibri"/>
              <a:cs typeface="Calibri"/>
              <a:sym typeface="Calibri"/>
            </a:endParaRPr>
          </a:p>
        </p:txBody>
      </p:sp>
      <p:sp>
        <p:nvSpPr>
          <p:cNvPr id="1359" name="Google Shape;1359;p28"/>
          <p:cNvSpPr/>
          <p:nvPr/>
        </p:nvSpPr>
        <p:spPr>
          <a:xfrm>
            <a:off x="7562088" y="3163824"/>
            <a:ext cx="548700" cy="30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12B13"/>
              </a:buClr>
              <a:buSzPts val="1000"/>
              <a:buFont typeface="Calibri"/>
              <a:buNone/>
            </a:pPr>
            <a:r>
              <a:rPr lang="en" sz="1000" b="1" i="0" u="none" strike="noStrike" cap="none">
                <a:solidFill>
                  <a:srgbClr val="712B13"/>
                </a:solidFill>
                <a:latin typeface="Calibri"/>
                <a:ea typeface="Calibri"/>
                <a:cs typeface="Calibri"/>
                <a:sym typeface="Calibri"/>
              </a:rPr>
              <a:t>Bird</a:t>
            </a:r>
            <a:endParaRPr sz="1000" b="0" i="0" u="none" strike="noStrike" cap="none">
              <a:solidFill>
                <a:schemeClr val="dk1"/>
              </a:solidFill>
              <a:latin typeface="Calibri"/>
              <a:ea typeface="Calibri"/>
              <a:cs typeface="Calibri"/>
              <a:sym typeface="Calibri"/>
            </a:endParaRPr>
          </a:p>
        </p:txBody>
      </p:sp>
      <p:sp>
        <p:nvSpPr>
          <p:cNvPr id="1360" name="Google Shape;1360;p28"/>
          <p:cNvSpPr/>
          <p:nvPr/>
        </p:nvSpPr>
        <p:spPr>
          <a:xfrm>
            <a:off x="274320" y="4041648"/>
            <a:ext cx="8595300" cy="914400"/>
          </a:xfrm>
          <a:prstGeom prst="rect">
            <a:avLst/>
          </a:prstGeom>
          <a:solidFill>
            <a:srgbClr val="EFF6FF"/>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1" name="Google Shape;1361;p28"/>
          <p:cNvSpPr/>
          <p:nvPr/>
        </p:nvSpPr>
        <p:spPr>
          <a:xfrm>
            <a:off x="274320" y="4041648"/>
            <a:ext cx="8595300" cy="456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2" name="Google Shape;1362;p28"/>
          <p:cNvSpPr/>
          <p:nvPr/>
        </p:nvSpPr>
        <p:spPr>
          <a:xfrm>
            <a:off x="457200" y="4114800"/>
            <a:ext cx="82296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6080"/>
              </a:buClr>
              <a:buSzPts val="1100"/>
              <a:buFont typeface="Calibri"/>
              <a:buNone/>
            </a:pPr>
            <a:r>
              <a:rPr lang="en" sz="1100" b="1" i="0" u="none" strike="noStrike" cap="none">
                <a:solidFill>
                  <a:srgbClr val="1A6080"/>
                </a:solidFill>
                <a:latin typeface="Calibri"/>
                <a:ea typeface="Calibri"/>
                <a:cs typeface="Calibri"/>
                <a:sym typeface="Calibri"/>
              </a:rPr>
              <a:t>How the Fully Connected layer works:</a:t>
            </a:r>
            <a:endParaRPr sz="1100" b="0" i="0" u="none" strike="noStrike" cap="none">
              <a:solidFill>
                <a:schemeClr val="dk1"/>
              </a:solidFill>
              <a:latin typeface="Calibri"/>
              <a:ea typeface="Calibri"/>
              <a:cs typeface="Calibri"/>
              <a:sym typeface="Calibri"/>
            </a:endParaRPr>
          </a:p>
        </p:txBody>
      </p:sp>
      <p:sp>
        <p:nvSpPr>
          <p:cNvPr id="1363" name="Google Shape;1363;p28"/>
          <p:cNvSpPr/>
          <p:nvPr/>
        </p:nvSpPr>
        <p:spPr>
          <a:xfrm>
            <a:off x="457200" y="4370832"/>
            <a:ext cx="8229600" cy="512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A6070"/>
              </a:buClr>
              <a:buSzPts val="1150"/>
              <a:buFont typeface="Calibri"/>
              <a:buNone/>
            </a:pPr>
            <a:r>
              <a:rPr lang="en" sz="1150" b="0" i="0" u="none" strike="noStrike" cap="none">
                <a:solidFill>
                  <a:srgbClr val="2A6070"/>
                </a:solidFill>
                <a:latin typeface="Calibri"/>
                <a:ea typeface="Calibri"/>
                <a:cs typeface="Calibri"/>
                <a:sym typeface="Calibri"/>
              </a:rPr>
              <a:t>The flattened vector x is multiplied by weight matrix W: score = W·x + b. Each row of W learns which combination of features predicts a class. Softmax then converts raw scores into probabilities that sum to 1.</a:t>
            </a:r>
            <a:endParaRPr sz="1150" b="0" i="0" u="none" strike="noStrike" cap="none">
              <a:solidFill>
                <a:schemeClr val="dk1"/>
              </a:solidFill>
              <a:latin typeface="Calibri"/>
              <a:ea typeface="Calibri"/>
              <a:cs typeface="Calibri"/>
              <a:sym typeface="Calibri"/>
            </a:endParaRPr>
          </a:p>
        </p:txBody>
      </p:sp>
      <p:sp>
        <p:nvSpPr>
          <p:cNvPr id="1364" name="Google Shape;1364;p28"/>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368"/>
        <p:cNvGrpSpPr/>
        <p:nvPr/>
      </p:nvGrpSpPr>
      <p:grpSpPr>
        <a:xfrm>
          <a:off x="0" y="0"/>
          <a:ext cx="0" cy="0"/>
          <a:chOff x="0" y="0"/>
          <a:chExt cx="0" cy="0"/>
        </a:xfrm>
      </p:grpSpPr>
      <p:sp>
        <p:nvSpPr>
          <p:cNvPr id="1369" name="Google Shape;1369;p29"/>
          <p:cNvSpPr/>
          <p:nvPr/>
        </p:nvSpPr>
        <p:spPr>
          <a:xfrm>
            <a:off x="457200" y="256032"/>
            <a:ext cx="8229600" cy="567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97316"/>
              </a:buClr>
              <a:buSzPts val="3200"/>
              <a:buFont typeface="Calibri"/>
              <a:buNone/>
            </a:pPr>
            <a:r>
              <a:rPr lang="en" sz="3200" b="1" i="0" u="none" strike="noStrike" cap="none">
                <a:solidFill>
                  <a:schemeClr val="dk1"/>
                </a:solidFill>
                <a:latin typeface="Calibri"/>
                <a:ea typeface="Calibri"/>
                <a:cs typeface="Calibri"/>
                <a:sym typeface="Calibri"/>
              </a:rPr>
              <a:t>Scikit learn</a:t>
            </a:r>
            <a:r>
              <a:rPr lang="en" sz="3200" b="0" i="0" u="none" strike="noStrike" cap="none">
                <a:solidFill>
                  <a:srgbClr val="94A3B8"/>
                </a:solidFill>
                <a:latin typeface="Calibri"/>
                <a:ea typeface="Calibri"/>
                <a:cs typeface="Calibri"/>
                <a:sym typeface="Calibri"/>
              </a:rPr>
              <a:t>  →  </a:t>
            </a:r>
            <a:r>
              <a:rPr lang="en" sz="3200" b="1" i="0" u="none" strike="noStrike" cap="none">
                <a:solidFill>
                  <a:schemeClr val="dk1"/>
                </a:solidFill>
                <a:latin typeface="Calibri"/>
                <a:ea typeface="Calibri"/>
                <a:cs typeface="Calibri"/>
                <a:sym typeface="Calibri"/>
              </a:rPr>
              <a:t>PyTorch</a:t>
            </a:r>
            <a:endParaRPr sz="3200" b="0" i="0" u="none" strike="noStrike" cap="none">
              <a:solidFill>
                <a:schemeClr val="dk1"/>
              </a:solidFill>
              <a:latin typeface="Calibri"/>
              <a:ea typeface="Calibri"/>
              <a:cs typeface="Calibri"/>
              <a:sym typeface="Calibri"/>
            </a:endParaRPr>
          </a:p>
        </p:txBody>
      </p:sp>
      <p:sp>
        <p:nvSpPr>
          <p:cNvPr id="1370" name="Google Shape;1370;p29"/>
          <p:cNvSpPr/>
          <p:nvPr/>
        </p:nvSpPr>
        <p:spPr>
          <a:xfrm>
            <a:off x="457200" y="804672"/>
            <a:ext cx="8229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4A3B8"/>
              </a:buClr>
              <a:buSzPts val="1300"/>
              <a:buFont typeface="Calibri"/>
              <a:buNone/>
            </a:pPr>
            <a:r>
              <a:rPr lang="en" sz="1300" b="0" i="1" u="none" strike="noStrike" cap="none">
                <a:solidFill>
                  <a:srgbClr val="94A3B8"/>
                </a:solidFill>
                <a:latin typeface="Calibri"/>
                <a:ea typeface="Calibri"/>
                <a:cs typeface="Calibri"/>
                <a:sym typeface="Calibri"/>
              </a:rPr>
              <a:t>Why we make the move — and what changes</a:t>
            </a:r>
            <a:endParaRPr sz="1300" b="0" i="0" u="none" strike="noStrike" cap="none">
              <a:solidFill>
                <a:srgbClr val="000000"/>
              </a:solidFill>
              <a:latin typeface="Calibri"/>
              <a:ea typeface="Calibri"/>
              <a:cs typeface="Calibri"/>
              <a:sym typeface="Calibri"/>
            </a:endParaRPr>
          </a:p>
        </p:txBody>
      </p:sp>
      <p:cxnSp>
        <p:nvCxnSpPr>
          <p:cNvPr id="1371" name="Google Shape;1371;p29"/>
          <p:cNvCxnSpPr/>
          <p:nvPr/>
        </p:nvCxnSpPr>
        <p:spPr>
          <a:xfrm>
            <a:off x="2286000" y="1152144"/>
            <a:ext cx="4572000" cy="0"/>
          </a:xfrm>
          <a:prstGeom prst="straightConnector1">
            <a:avLst/>
          </a:prstGeom>
          <a:noFill/>
          <a:ln w="12700" cap="flat" cmpd="sng">
            <a:solidFill>
              <a:srgbClr val="E2E8F0"/>
            </a:solidFill>
            <a:prstDash val="solid"/>
            <a:round/>
            <a:headEnd type="none" w="sm" len="sm"/>
            <a:tailEnd type="none" w="sm" len="sm"/>
          </a:ln>
        </p:spPr>
      </p:cxnSp>
      <p:sp>
        <p:nvSpPr>
          <p:cNvPr id="1372" name="Google Shape;1372;p29"/>
          <p:cNvSpPr/>
          <p:nvPr/>
        </p:nvSpPr>
        <p:spPr>
          <a:xfrm>
            <a:off x="356616" y="1298448"/>
            <a:ext cx="2651700" cy="1371600"/>
          </a:xfrm>
          <a:prstGeom prst="rect">
            <a:avLst/>
          </a:prstGeom>
          <a:solidFill>
            <a:srgbClr val="CBD5E1">
              <a:alpha val="40000"/>
            </a:srgbClr>
          </a:solidFill>
          <a:ln w="12700" cap="flat" cmpd="sng">
            <a:solidFill>
              <a:srgbClr val="CBD5E1">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3" name="Google Shape;1373;p29"/>
          <p:cNvSpPr/>
          <p:nvPr/>
        </p:nvSpPr>
        <p:spPr>
          <a:xfrm>
            <a:off x="320040" y="1261872"/>
            <a:ext cx="2651700" cy="1371600"/>
          </a:xfrm>
          <a:prstGeom prst="rect">
            <a:avLst/>
          </a:prstGeom>
          <a:solidFill>
            <a:srgbClr val="F8FAFC"/>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4" name="Google Shape;1374;p29"/>
          <p:cNvSpPr/>
          <p:nvPr/>
        </p:nvSpPr>
        <p:spPr>
          <a:xfrm>
            <a:off x="320040" y="1261872"/>
            <a:ext cx="50400" cy="1371600"/>
          </a:xfrm>
          <a:prstGeom prst="rect">
            <a:avLst/>
          </a:prstGeom>
          <a:solidFill>
            <a:srgbClr val="F97316"/>
          </a:solidFill>
          <a:ln w="12700" cap="flat" cmpd="sng">
            <a:solidFill>
              <a:srgbClr val="F9731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5" name="Google Shape;1375;p29"/>
          <p:cNvSpPr/>
          <p:nvPr/>
        </p:nvSpPr>
        <p:spPr>
          <a:xfrm>
            <a:off x="457200" y="1353312"/>
            <a:ext cx="24507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150"/>
              <a:buFont typeface="Calibri"/>
              <a:buNone/>
            </a:pPr>
            <a:r>
              <a:rPr lang="en" sz="1150" b="1" i="0" u="none" strike="noStrike" cap="none">
                <a:solidFill>
                  <a:srgbClr val="1E293B"/>
                </a:solidFill>
                <a:latin typeface="Calibri"/>
                <a:ea typeface="Calibri"/>
                <a:cs typeface="Calibri"/>
                <a:sym typeface="Calibri"/>
              </a:rPr>
              <a:t>⚙️  Fixed vs. Flexible Pipelines</a:t>
            </a:r>
            <a:endParaRPr sz="1150" b="0" i="0" u="none" strike="noStrike" cap="none">
              <a:solidFill>
                <a:srgbClr val="000000"/>
              </a:solidFill>
              <a:latin typeface="Calibri"/>
              <a:ea typeface="Calibri"/>
              <a:cs typeface="Calibri"/>
              <a:sym typeface="Calibri"/>
            </a:endParaRPr>
          </a:p>
        </p:txBody>
      </p:sp>
      <p:cxnSp>
        <p:nvCxnSpPr>
          <p:cNvPr id="1376" name="Google Shape;1376;p29"/>
          <p:cNvCxnSpPr/>
          <p:nvPr/>
        </p:nvCxnSpPr>
        <p:spPr>
          <a:xfrm>
            <a:off x="457200" y="1719072"/>
            <a:ext cx="2377500" cy="0"/>
          </a:xfrm>
          <a:prstGeom prst="straightConnector1">
            <a:avLst/>
          </a:prstGeom>
          <a:noFill/>
          <a:ln w="9525" cap="flat" cmpd="sng">
            <a:solidFill>
              <a:srgbClr val="E2E8F0"/>
            </a:solidFill>
            <a:prstDash val="solid"/>
            <a:round/>
            <a:headEnd type="none" w="sm" len="sm"/>
            <a:tailEnd type="none" w="sm" len="sm"/>
          </a:ln>
        </p:spPr>
      </p:cxnSp>
      <p:sp>
        <p:nvSpPr>
          <p:cNvPr id="1377" name="Google Shape;1377;p29"/>
          <p:cNvSpPr/>
          <p:nvPr/>
        </p:nvSpPr>
        <p:spPr>
          <a:xfrm>
            <a:off x="457200" y="1764792"/>
            <a:ext cx="2423100" cy="777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75569"/>
              </a:buClr>
              <a:buSzPts val="950"/>
              <a:buFont typeface="Calibri"/>
              <a:buNone/>
            </a:pPr>
            <a:r>
              <a:rPr lang="en" sz="950" b="0" i="0" u="none" strike="noStrike" cap="none">
                <a:solidFill>
                  <a:srgbClr val="475569"/>
                </a:solidFill>
                <a:latin typeface="Calibri"/>
                <a:ea typeface="Calibri"/>
                <a:cs typeface="Calibri"/>
                <a:sym typeface="Calibri"/>
              </a:rPr>
              <a:t>sklearn wraps algorithms in rigid fit/predict APIs. PyTorch lets you define any forward pass — custom loops, dynamic graphs, research ideas.</a:t>
            </a:r>
            <a:endParaRPr sz="950" b="0" i="0" u="none" strike="noStrike" cap="none">
              <a:solidFill>
                <a:srgbClr val="000000"/>
              </a:solidFill>
              <a:latin typeface="Calibri"/>
              <a:ea typeface="Calibri"/>
              <a:cs typeface="Calibri"/>
              <a:sym typeface="Calibri"/>
            </a:endParaRPr>
          </a:p>
        </p:txBody>
      </p:sp>
      <p:sp>
        <p:nvSpPr>
          <p:cNvPr id="1378" name="Google Shape;1378;p29"/>
          <p:cNvSpPr/>
          <p:nvPr/>
        </p:nvSpPr>
        <p:spPr>
          <a:xfrm>
            <a:off x="3209544" y="1298448"/>
            <a:ext cx="2651700" cy="1371600"/>
          </a:xfrm>
          <a:prstGeom prst="rect">
            <a:avLst/>
          </a:prstGeom>
          <a:solidFill>
            <a:srgbClr val="CBD5E1">
              <a:alpha val="40000"/>
            </a:srgbClr>
          </a:solidFill>
          <a:ln w="12700" cap="flat" cmpd="sng">
            <a:solidFill>
              <a:srgbClr val="CBD5E1">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9" name="Google Shape;1379;p29"/>
          <p:cNvSpPr/>
          <p:nvPr/>
        </p:nvSpPr>
        <p:spPr>
          <a:xfrm>
            <a:off x="3172968" y="1261872"/>
            <a:ext cx="2651700" cy="1371600"/>
          </a:xfrm>
          <a:prstGeom prst="rect">
            <a:avLst/>
          </a:prstGeom>
          <a:solidFill>
            <a:srgbClr val="F8FAFC"/>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0" name="Google Shape;1380;p29"/>
          <p:cNvSpPr/>
          <p:nvPr/>
        </p:nvSpPr>
        <p:spPr>
          <a:xfrm>
            <a:off x="3172968" y="1261872"/>
            <a:ext cx="50400" cy="1371600"/>
          </a:xfrm>
          <a:prstGeom prst="rect">
            <a:avLst/>
          </a:prstGeom>
          <a:solidFill>
            <a:srgbClr val="EE4C2C"/>
          </a:solidFill>
          <a:ln w="12700" cap="flat" cmpd="sng">
            <a:solidFill>
              <a:srgbClr val="EE4C2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1" name="Google Shape;1381;p29"/>
          <p:cNvSpPr/>
          <p:nvPr/>
        </p:nvSpPr>
        <p:spPr>
          <a:xfrm>
            <a:off x="3310128" y="1353312"/>
            <a:ext cx="24507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150"/>
              <a:buFont typeface="Calibri"/>
              <a:buNone/>
            </a:pPr>
            <a:r>
              <a:rPr lang="en" sz="1150" b="1" i="0" u="none" strike="noStrike" cap="none">
                <a:solidFill>
                  <a:srgbClr val="1E293B"/>
                </a:solidFill>
                <a:latin typeface="Calibri"/>
                <a:ea typeface="Calibri"/>
                <a:cs typeface="Calibri"/>
                <a:sym typeface="Calibri"/>
              </a:rPr>
              <a:t>🧠  Shallow vs. Deep Models</a:t>
            </a:r>
            <a:endParaRPr sz="1150" b="0" i="0" u="none" strike="noStrike" cap="none">
              <a:solidFill>
                <a:srgbClr val="000000"/>
              </a:solidFill>
              <a:latin typeface="Calibri"/>
              <a:ea typeface="Calibri"/>
              <a:cs typeface="Calibri"/>
              <a:sym typeface="Calibri"/>
            </a:endParaRPr>
          </a:p>
        </p:txBody>
      </p:sp>
      <p:cxnSp>
        <p:nvCxnSpPr>
          <p:cNvPr id="1382" name="Google Shape;1382;p29"/>
          <p:cNvCxnSpPr/>
          <p:nvPr/>
        </p:nvCxnSpPr>
        <p:spPr>
          <a:xfrm>
            <a:off x="3310128" y="1719072"/>
            <a:ext cx="2377500" cy="0"/>
          </a:xfrm>
          <a:prstGeom prst="straightConnector1">
            <a:avLst/>
          </a:prstGeom>
          <a:noFill/>
          <a:ln w="9525" cap="flat" cmpd="sng">
            <a:solidFill>
              <a:srgbClr val="E2E8F0"/>
            </a:solidFill>
            <a:prstDash val="solid"/>
            <a:round/>
            <a:headEnd type="none" w="sm" len="sm"/>
            <a:tailEnd type="none" w="sm" len="sm"/>
          </a:ln>
        </p:spPr>
      </p:cxnSp>
      <p:sp>
        <p:nvSpPr>
          <p:cNvPr id="1383" name="Google Shape;1383;p29"/>
          <p:cNvSpPr/>
          <p:nvPr/>
        </p:nvSpPr>
        <p:spPr>
          <a:xfrm>
            <a:off x="3310128" y="1764792"/>
            <a:ext cx="2423100" cy="777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75569"/>
              </a:buClr>
              <a:buSzPts val="950"/>
              <a:buFont typeface="Calibri"/>
              <a:buNone/>
            </a:pPr>
            <a:r>
              <a:rPr lang="en" sz="950" b="0" i="0" u="none" strike="noStrike" cap="none">
                <a:solidFill>
                  <a:srgbClr val="475569"/>
                </a:solidFill>
                <a:latin typeface="Calibri"/>
                <a:ea typeface="Calibri"/>
                <a:cs typeface="Calibri"/>
                <a:sym typeface="Calibri"/>
              </a:rPr>
              <a:t>sklearn excels at classical ML (SVMs, trees, linear models). Deep networks — CNNs, RNNs, Transformers — need PyTorch's layer-level control.</a:t>
            </a:r>
            <a:endParaRPr sz="950" b="0" i="0" u="none" strike="noStrike" cap="none">
              <a:solidFill>
                <a:srgbClr val="000000"/>
              </a:solidFill>
              <a:latin typeface="Calibri"/>
              <a:ea typeface="Calibri"/>
              <a:cs typeface="Calibri"/>
              <a:sym typeface="Calibri"/>
            </a:endParaRPr>
          </a:p>
        </p:txBody>
      </p:sp>
      <p:sp>
        <p:nvSpPr>
          <p:cNvPr id="1384" name="Google Shape;1384;p29"/>
          <p:cNvSpPr/>
          <p:nvPr/>
        </p:nvSpPr>
        <p:spPr>
          <a:xfrm>
            <a:off x="6062472" y="1298448"/>
            <a:ext cx="2651700" cy="1371600"/>
          </a:xfrm>
          <a:prstGeom prst="rect">
            <a:avLst/>
          </a:prstGeom>
          <a:solidFill>
            <a:srgbClr val="CBD5E1">
              <a:alpha val="40000"/>
            </a:srgbClr>
          </a:solidFill>
          <a:ln w="12700" cap="flat" cmpd="sng">
            <a:solidFill>
              <a:srgbClr val="CBD5E1">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5" name="Google Shape;1385;p29"/>
          <p:cNvSpPr/>
          <p:nvPr/>
        </p:nvSpPr>
        <p:spPr>
          <a:xfrm>
            <a:off x="6025896" y="1261872"/>
            <a:ext cx="2651700" cy="1371600"/>
          </a:xfrm>
          <a:prstGeom prst="rect">
            <a:avLst/>
          </a:prstGeom>
          <a:solidFill>
            <a:srgbClr val="F8FAFC"/>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6" name="Google Shape;1386;p29"/>
          <p:cNvSpPr/>
          <p:nvPr/>
        </p:nvSpPr>
        <p:spPr>
          <a:xfrm>
            <a:off x="6025896" y="1261872"/>
            <a:ext cx="50400" cy="1371600"/>
          </a:xfrm>
          <a:prstGeom prst="rect">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7" name="Google Shape;1387;p29"/>
          <p:cNvSpPr/>
          <p:nvPr/>
        </p:nvSpPr>
        <p:spPr>
          <a:xfrm>
            <a:off x="6163056" y="1353312"/>
            <a:ext cx="24507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150"/>
              <a:buFont typeface="Calibri"/>
              <a:buNone/>
            </a:pPr>
            <a:r>
              <a:rPr lang="en" sz="1150" b="1" i="0" u="none" strike="noStrike" cap="none">
                <a:solidFill>
                  <a:srgbClr val="1E293B"/>
                </a:solidFill>
                <a:latin typeface="Calibri"/>
                <a:ea typeface="Calibri"/>
                <a:cs typeface="Calibri"/>
                <a:sym typeface="Calibri"/>
              </a:rPr>
              <a:t>⚡  CPU-only vs. GPU Acceleration</a:t>
            </a:r>
            <a:endParaRPr sz="1150" b="0" i="0" u="none" strike="noStrike" cap="none">
              <a:solidFill>
                <a:srgbClr val="000000"/>
              </a:solidFill>
              <a:latin typeface="Calibri"/>
              <a:ea typeface="Calibri"/>
              <a:cs typeface="Calibri"/>
              <a:sym typeface="Calibri"/>
            </a:endParaRPr>
          </a:p>
        </p:txBody>
      </p:sp>
      <p:cxnSp>
        <p:nvCxnSpPr>
          <p:cNvPr id="1388" name="Google Shape;1388;p29"/>
          <p:cNvCxnSpPr/>
          <p:nvPr/>
        </p:nvCxnSpPr>
        <p:spPr>
          <a:xfrm>
            <a:off x="6163056" y="1719072"/>
            <a:ext cx="2377500" cy="0"/>
          </a:xfrm>
          <a:prstGeom prst="straightConnector1">
            <a:avLst/>
          </a:prstGeom>
          <a:noFill/>
          <a:ln w="9525" cap="flat" cmpd="sng">
            <a:solidFill>
              <a:srgbClr val="E2E8F0"/>
            </a:solidFill>
            <a:prstDash val="solid"/>
            <a:round/>
            <a:headEnd type="none" w="sm" len="sm"/>
            <a:tailEnd type="none" w="sm" len="sm"/>
          </a:ln>
        </p:spPr>
      </p:cxnSp>
      <p:sp>
        <p:nvSpPr>
          <p:cNvPr id="1389" name="Google Shape;1389;p29"/>
          <p:cNvSpPr/>
          <p:nvPr/>
        </p:nvSpPr>
        <p:spPr>
          <a:xfrm>
            <a:off x="6163056" y="1764792"/>
            <a:ext cx="2423100" cy="777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75569"/>
              </a:buClr>
              <a:buSzPts val="950"/>
              <a:buFont typeface="Calibri"/>
              <a:buNone/>
            </a:pPr>
            <a:r>
              <a:rPr lang="en" sz="950" b="0" i="0" u="none" strike="noStrike" cap="none">
                <a:solidFill>
                  <a:srgbClr val="475569"/>
                </a:solidFill>
                <a:latin typeface="Calibri"/>
                <a:ea typeface="Calibri"/>
                <a:cs typeface="Calibri"/>
                <a:sym typeface="Calibri"/>
              </a:rPr>
              <a:t>sklearn runs on CPU. PyTorch moves tensors to GPU with .to('cuda'), enabling 10–100× speedups on large datasets and models.</a:t>
            </a:r>
            <a:endParaRPr sz="950" b="0" i="0" u="none" strike="noStrike" cap="none">
              <a:solidFill>
                <a:srgbClr val="000000"/>
              </a:solidFill>
              <a:latin typeface="Calibri"/>
              <a:ea typeface="Calibri"/>
              <a:cs typeface="Calibri"/>
              <a:sym typeface="Calibri"/>
            </a:endParaRPr>
          </a:p>
        </p:txBody>
      </p:sp>
      <p:sp>
        <p:nvSpPr>
          <p:cNvPr id="1390" name="Google Shape;1390;p29"/>
          <p:cNvSpPr/>
          <p:nvPr/>
        </p:nvSpPr>
        <p:spPr>
          <a:xfrm>
            <a:off x="356616" y="2798064"/>
            <a:ext cx="2651700" cy="1371600"/>
          </a:xfrm>
          <a:prstGeom prst="rect">
            <a:avLst/>
          </a:prstGeom>
          <a:solidFill>
            <a:srgbClr val="CBD5E1">
              <a:alpha val="40000"/>
            </a:srgbClr>
          </a:solidFill>
          <a:ln w="12700" cap="flat" cmpd="sng">
            <a:solidFill>
              <a:srgbClr val="CBD5E1">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1" name="Google Shape;1391;p29"/>
          <p:cNvSpPr/>
          <p:nvPr/>
        </p:nvSpPr>
        <p:spPr>
          <a:xfrm>
            <a:off x="320040" y="2761488"/>
            <a:ext cx="2651700" cy="1371600"/>
          </a:xfrm>
          <a:prstGeom prst="rect">
            <a:avLst/>
          </a:prstGeom>
          <a:solidFill>
            <a:srgbClr val="F8FAFC"/>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2" name="Google Shape;1392;p29"/>
          <p:cNvSpPr/>
          <p:nvPr/>
        </p:nvSpPr>
        <p:spPr>
          <a:xfrm>
            <a:off x="320040" y="2761488"/>
            <a:ext cx="50400" cy="1371600"/>
          </a:xfrm>
          <a:prstGeom prst="rect">
            <a:avLst/>
          </a:prstGeom>
          <a:solidFill>
            <a:srgbClr val="0284C7"/>
          </a:solidFill>
          <a:ln w="12700" cap="flat" cmpd="sng">
            <a:solidFill>
              <a:srgbClr val="0284C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3" name="Google Shape;1393;p29"/>
          <p:cNvSpPr/>
          <p:nvPr/>
        </p:nvSpPr>
        <p:spPr>
          <a:xfrm>
            <a:off x="457200" y="2852928"/>
            <a:ext cx="24507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150"/>
              <a:buFont typeface="Calibri"/>
              <a:buNone/>
            </a:pPr>
            <a:r>
              <a:rPr lang="en" sz="1150" b="1" i="0" u="none" strike="noStrike" cap="none">
                <a:solidFill>
                  <a:srgbClr val="1E293B"/>
                </a:solidFill>
                <a:latin typeface="Calibri"/>
                <a:ea typeface="Calibri"/>
                <a:cs typeface="Calibri"/>
                <a:sym typeface="Calibri"/>
              </a:rPr>
              <a:t>🔁  Manual vs. Autograd</a:t>
            </a:r>
            <a:endParaRPr sz="1150" b="0" i="0" u="none" strike="noStrike" cap="none">
              <a:solidFill>
                <a:srgbClr val="000000"/>
              </a:solidFill>
              <a:latin typeface="Calibri"/>
              <a:ea typeface="Calibri"/>
              <a:cs typeface="Calibri"/>
              <a:sym typeface="Calibri"/>
            </a:endParaRPr>
          </a:p>
        </p:txBody>
      </p:sp>
      <p:cxnSp>
        <p:nvCxnSpPr>
          <p:cNvPr id="1394" name="Google Shape;1394;p29"/>
          <p:cNvCxnSpPr/>
          <p:nvPr/>
        </p:nvCxnSpPr>
        <p:spPr>
          <a:xfrm>
            <a:off x="457200" y="3218688"/>
            <a:ext cx="2377500" cy="0"/>
          </a:xfrm>
          <a:prstGeom prst="straightConnector1">
            <a:avLst/>
          </a:prstGeom>
          <a:noFill/>
          <a:ln w="9525" cap="flat" cmpd="sng">
            <a:solidFill>
              <a:srgbClr val="E2E8F0"/>
            </a:solidFill>
            <a:prstDash val="solid"/>
            <a:round/>
            <a:headEnd type="none" w="sm" len="sm"/>
            <a:tailEnd type="none" w="sm" len="sm"/>
          </a:ln>
        </p:spPr>
      </p:cxnSp>
      <p:sp>
        <p:nvSpPr>
          <p:cNvPr id="1395" name="Google Shape;1395;p29"/>
          <p:cNvSpPr/>
          <p:nvPr/>
        </p:nvSpPr>
        <p:spPr>
          <a:xfrm>
            <a:off x="457200" y="3264408"/>
            <a:ext cx="2423100" cy="777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75569"/>
              </a:buClr>
              <a:buSzPts val="950"/>
              <a:buFont typeface="Calibri"/>
              <a:buNone/>
            </a:pPr>
            <a:r>
              <a:rPr lang="en" sz="950" b="0" i="0" u="none" strike="noStrike" cap="none">
                <a:solidFill>
                  <a:srgbClr val="475569"/>
                </a:solidFill>
                <a:latin typeface="Calibri"/>
                <a:ea typeface="Calibri"/>
                <a:cs typeface="Calibri"/>
                <a:sym typeface="Calibri"/>
              </a:rPr>
              <a:t>In sklearn, gradients don't exist. PyTorch's autograd engine computes them automatically — essential for training any neural network.</a:t>
            </a:r>
            <a:endParaRPr sz="950" b="0" i="0" u="none" strike="noStrike" cap="none">
              <a:solidFill>
                <a:srgbClr val="000000"/>
              </a:solidFill>
              <a:latin typeface="Calibri"/>
              <a:ea typeface="Calibri"/>
              <a:cs typeface="Calibri"/>
              <a:sym typeface="Calibri"/>
            </a:endParaRPr>
          </a:p>
        </p:txBody>
      </p:sp>
      <p:sp>
        <p:nvSpPr>
          <p:cNvPr id="1396" name="Google Shape;1396;p29"/>
          <p:cNvSpPr/>
          <p:nvPr/>
        </p:nvSpPr>
        <p:spPr>
          <a:xfrm>
            <a:off x="3209544" y="2798064"/>
            <a:ext cx="2651700" cy="1371600"/>
          </a:xfrm>
          <a:prstGeom prst="rect">
            <a:avLst/>
          </a:prstGeom>
          <a:solidFill>
            <a:srgbClr val="CBD5E1">
              <a:alpha val="40000"/>
            </a:srgbClr>
          </a:solidFill>
          <a:ln w="12700" cap="flat" cmpd="sng">
            <a:solidFill>
              <a:srgbClr val="CBD5E1">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7" name="Google Shape;1397;p29"/>
          <p:cNvSpPr/>
          <p:nvPr/>
        </p:nvSpPr>
        <p:spPr>
          <a:xfrm>
            <a:off x="3172968" y="2761488"/>
            <a:ext cx="2651700" cy="1371600"/>
          </a:xfrm>
          <a:prstGeom prst="rect">
            <a:avLst/>
          </a:prstGeom>
          <a:solidFill>
            <a:srgbClr val="F8FAFC"/>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8" name="Google Shape;1398;p29"/>
          <p:cNvSpPr/>
          <p:nvPr/>
        </p:nvSpPr>
        <p:spPr>
          <a:xfrm>
            <a:off x="3172968" y="2761488"/>
            <a:ext cx="50400" cy="1371600"/>
          </a:xfrm>
          <a:prstGeom prst="rect">
            <a:avLst/>
          </a:prstGeom>
          <a:solidFill>
            <a:srgbClr val="059669"/>
          </a:solidFill>
          <a:ln w="12700"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9" name="Google Shape;1399;p29"/>
          <p:cNvSpPr/>
          <p:nvPr/>
        </p:nvSpPr>
        <p:spPr>
          <a:xfrm>
            <a:off x="3310128" y="2852928"/>
            <a:ext cx="24507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150"/>
              <a:buFont typeface="Calibri"/>
              <a:buNone/>
            </a:pPr>
            <a:r>
              <a:rPr lang="en" sz="1150" b="1" i="0" u="none" strike="noStrike" cap="none">
                <a:solidFill>
                  <a:srgbClr val="1E293B"/>
                </a:solidFill>
                <a:latin typeface="Calibri"/>
                <a:ea typeface="Calibri"/>
                <a:cs typeface="Calibri"/>
                <a:sym typeface="Calibri"/>
              </a:rPr>
              <a:t>🔬  Black-box vs. Full Transparency</a:t>
            </a:r>
            <a:endParaRPr sz="1150" b="0" i="0" u="none" strike="noStrike" cap="none">
              <a:solidFill>
                <a:srgbClr val="000000"/>
              </a:solidFill>
              <a:latin typeface="Calibri"/>
              <a:ea typeface="Calibri"/>
              <a:cs typeface="Calibri"/>
              <a:sym typeface="Calibri"/>
            </a:endParaRPr>
          </a:p>
        </p:txBody>
      </p:sp>
      <p:cxnSp>
        <p:nvCxnSpPr>
          <p:cNvPr id="1400" name="Google Shape;1400;p29"/>
          <p:cNvCxnSpPr/>
          <p:nvPr/>
        </p:nvCxnSpPr>
        <p:spPr>
          <a:xfrm>
            <a:off x="3310128" y="3218688"/>
            <a:ext cx="2377500" cy="0"/>
          </a:xfrm>
          <a:prstGeom prst="straightConnector1">
            <a:avLst/>
          </a:prstGeom>
          <a:noFill/>
          <a:ln w="9525" cap="flat" cmpd="sng">
            <a:solidFill>
              <a:srgbClr val="E2E8F0"/>
            </a:solidFill>
            <a:prstDash val="solid"/>
            <a:round/>
            <a:headEnd type="none" w="sm" len="sm"/>
            <a:tailEnd type="none" w="sm" len="sm"/>
          </a:ln>
        </p:spPr>
      </p:cxnSp>
      <p:sp>
        <p:nvSpPr>
          <p:cNvPr id="1401" name="Google Shape;1401;p29"/>
          <p:cNvSpPr/>
          <p:nvPr/>
        </p:nvSpPr>
        <p:spPr>
          <a:xfrm>
            <a:off x="3310128" y="3264408"/>
            <a:ext cx="2423100" cy="777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75569"/>
              </a:buClr>
              <a:buSzPts val="950"/>
              <a:buFont typeface="Calibri"/>
              <a:buNone/>
            </a:pPr>
            <a:r>
              <a:rPr lang="en" sz="950" b="0" i="0" u="none" strike="noStrike" cap="none">
                <a:solidFill>
                  <a:srgbClr val="475569"/>
                </a:solidFill>
                <a:latin typeface="Calibri"/>
                <a:ea typeface="Calibri"/>
                <a:cs typeface="Calibri"/>
                <a:sym typeface="Calibri"/>
              </a:rPr>
              <a:t>sklearn hides internals. PyTorch exposes every weight, activation, and loss — you control and inspect everything for research &amp; debugging.</a:t>
            </a:r>
            <a:endParaRPr sz="950" b="0" i="0" u="none" strike="noStrike" cap="none">
              <a:solidFill>
                <a:srgbClr val="000000"/>
              </a:solidFill>
              <a:latin typeface="Calibri"/>
              <a:ea typeface="Calibri"/>
              <a:cs typeface="Calibri"/>
              <a:sym typeface="Calibri"/>
            </a:endParaRPr>
          </a:p>
        </p:txBody>
      </p:sp>
      <p:sp>
        <p:nvSpPr>
          <p:cNvPr id="1402" name="Google Shape;1402;p29"/>
          <p:cNvSpPr/>
          <p:nvPr/>
        </p:nvSpPr>
        <p:spPr>
          <a:xfrm>
            <a:off x="6062472" y="2798064"/>
            <a:ext cx="2651700" cy="1371600"/>
          </a:xfrm>
          <a:prstGeom prst="rect">
            <a:avLst/>
          </a:prstGeom>
          <a:solidFill>
            <a:srgbClr val="CBD5E1">
              <a:alpha val="40000"/>
            </a:srgbClr>
          </a:solidFill>
          <a:ln w="12700" cap="flat" cmpd="sng">
            <a:solidFill>
              <a:srgbClr val="CBD5E1">
                <a:alpha val="4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3" name="Google Shape;1403;p29"/>
          <p:cNvSpPr/>
          <p:nvPr/>
        </p:nvSpPr>
        <p:spPr>
          <a:xfrm>
            <a:off x="6025896" y="2761488"/>
            <a:ext cx="2651700" cy="1371600"/>
          </a:xfrm>
          <a:prstGeom prst="rect">
            <a:avLst/>
          </a:prstGeom>
          <a:solidFill>
            <a:srgbClr val="F8FAFC"/>
          </a:solidFill>
          <a:ln w="12700"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4" name="Google Shape;1404;p29"/>
          <p:cNvSpPr/>
          <p:nvPr/>
        </p:nvSpPr>
        <p:spPr>
          <a:xfrm>
            <a:off x="6025896" y="2761488"/>
            <a:ext cx="50400" cy="1371600"/>
          </a:xfrm>
          <a:prstGeom prst="rect">
            <a:avLst/>
          </a:prstGeom>
          <a:solidFill>
            <a:srgbClr val="DC2626"/>
          </a:solidFill>
          <a:ln w="1270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5" name="Google Shape;1405;p29"/>
          <p:cNvSpPr/>
          <p:nvPr/>
        </p:nvSpPr>
        <p:spPr>
          <a:xfrm>
            <a:off x="6163056" y="2852928"/>
            <a:ext cx="24507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150"/>
              <a:buFont typeface="Calibri"/>
              <a:buNone/>
            </a:pPr>
            <a:r>
              <a:rPr lang="en" sz="1150" b="1" i="0" u="none" strike="noStrike" cap="none">
                <a:solidFill>
                  <a:srgbClr val="1E293B"/>
                </a:solidFill>
                <a:latin typeface="Calibri"/>
                <a:ea typeface="Calibri"/>
                <a:cs typeface="Calibri"/>
                <a:sym typeface="Calibri"/>
              </a:rPr>
              <a:t>🌍  Local Tools vs. Industry Standard</a:t>
            </a:r>
            <a:endParaRPr sz="1150" b="0" i="0" u="none" strike="noStrike" cap="none">
              <a:solidFill>
                <a:srgbClr val="000000"/>
              </a:solidFill>
              <a:latin typeface="Calibri"/>
              <a:ea typeface="Calibri"/>
              <a:cs typeface="Calibri"/>
              <a:sym typeface="Calibri"/>
            </a:endParaRPr>
          </a:p>
        </p:txBody>
      </p:sp>
      <p:cxnSp>
        <p:nvCxnSpPr>
          <p:cNvPr id="1406" name="Google Shape;1406;p29"/>
          <p:cNvCxnSpPr/>
          <p:nvPr/>
        </p:nvCxnSpPr>
        <p:spPr>
          <a:xfrm>
            <a:off x="6163056" y="3218688"/>
            <a:ext cx="2377500" cy="0"/>
          </a:xfrm>
          <a:prstGeom prst="straightConnector1">
            <a:avLst/>
          </a:prstGeom>
          <a:noFill/>
          <a:ln w="9525" cap="flat" cmpd="sng">
            <a:solidFill>
              <a:srgbClr val="E2E8F0"/>
            </a:solidFill>
            <a:prstDash val="solid"/>
            <a:round/>
            <a:headEnd type="none" w="sm" len="sm"/>
            <a:tailEnd type="none" w="sm" len="sm"/>
          </a:ln>
        </p:spPr>
      </p:cxnSp>
      <p:sp>
        <p:nvSpPr>
          <p:cNvPr id="1407" name="Google Shape;1407;p29"/>
          <p:cNvSpPr/>
          <p:nvPr/>
        </p:nvSpPr>
        <p:spPr>
          <a:xfrm>
            <a:off x="6163056" y="3264408"/>
            <a:ext cx="2423100" cy="777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75569"/>
              </a:buClr>
              <a:buSzPts val="950"/>
              <a:buFont typeface="Calibri"/>
              <a:buNone/>
            </a:pPr>
            <a:r>
              <a:rPr lang="en" sz="950" b="0" i="0" u="none" strike="noStrike" cap="none">
                <a:solidFill>
                  <a:srgbClr val="475569"/>
                </a:solidFill>
                <a:latin typeface="Calibri"/>
                <a:ea typeface="Calibri"/>
                <a:cs typeface="Calibri"/>
                <a:sym typeface="Calibri"/>
              </a:rPr>
              <a:t>PyTorch powers research at Meta, Google, Tesla &amp; top universities. Moving to PyTorch means speaking the language of modern deep learning.</a:t>
            </a:r>
            <a:endParaRPr sz="950" b="0" i="0" u="none" strike="noStrike" cap="none">
              <a:solidFill>
                <a:srgbClr val="000000"/>
              </a:solidFill>
              <a:latin typeface="Calibri"/>
              <a:ea typeface="Calibri"/>
              <a:cs typeface="Calibri"/>
              <a:sym typeface="Calibri"/>
            </a:endParaRPr>
          </a:p>
        </p:txBody>
      </p:sp>
      <p:sp>
        <p:nvSpPr>
          <p:cNvPr id="1408" name="Google Shape;1408;p29"/>
          <p:cNvSpPr/>
          <p:nvPr/>
        </p:nvSpPr>
        <p:spPr>
          <a:xfrm>
            <a:off x="320040" y="4773168"/>
            <a:ext cx="8503800" cy="274200"/>
          </a:xfrm>
          <a:prstGeom prst="rect">
            <a:avLst/>
          </a:prstGeom>
          <a:solidFill>
            <a:srgbClr val="FFF7ED"/>
          </a:solidFill>
          <a:ln w="12700" cap="flat" cmpd="sng">
            <a:solidFill>
              <a:srgbClr val="FED7A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9" name="Google Shape;1409;p29"/>
          <p:cNvSpPr/>
          <p:nvPr/>
        </p:nvSpPr>
        <p:spPr>
          <a:xfrm>
            <a:off x="411480" y="4773168"/>
            <a:ext cx="83211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E4C2C"/>
              </a:buClr>
              <a:buSzPts val="950"/>
              <a:buFont typeface="Calibri"/>
              <a:buNone/>
            </a:pPr>
            <a:r>
              <a:rPr lang="en" sz="950" b="1" i="0" u="none" strike="noStrike" cap="none">
                <a:solidFill>
                  <a:srgbClr val="EE4C2C"/>
                </a:solidFill>
                <a:latin typeface="Calibri"/>
                <a:ea typeface="Calibri"/>
                <a:cs typeface="Calibri"/>
                <a:sym typeface="Calibri"/>
              </a:rPr>
              <a:t>Bottom line: </a:t>
            </a:r>
            <a:r>
              <a:rPr lang="en" sz="950" b="0" i="0" u="none" strike="noStrike" cap="none">
                <a:solidFill>
                  <a:srgbClr val="475569"/>
                </a:solidFill>
                <a:latin typeface="Calibri"/>
                <a:ea typeface="Calibri"/>
                <a:cs typeface="Calibri"/>
                <a:sym typeface="Calibri"/>
              </a:rPr>
              <a:t>sklearn is a great starting point. But deep learning at scale demands the flexibility, power, and ecosystem that only PyTorch delivers.</a:t>
            </a:r>
            <a:endParaRPr sz="950" b="0" i="0" u="none" strike="noStrike" cap="none">
              <a:solidFill>
                <a:srgbClr val="000000"/>
              </a:solidFill>
              <a:latin typeface="Calibri"/>
              <a:ea typeface="Calibri"/>
              <a:cs typeface="Calibri"/>
              <a:sym typeface="Calibri"/>
            </a:endParaRPr>
          </a:p>
        </p:txBody>
      </p:sp>
      <p:sp>
        <p:nvSpPr>
          <p:cNvPr id="1410" name="Google Shape;1410;p29"/>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46</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14"/>
        <p:cNvGrpSpPr/>
        <p:nvPr/>
      </p:nvGrpSpPr>
      <p:grpSpPr>
        <a:xfrm>
          <a:off x="0" y="0"/>
          <a:ext cx="0" cy="0"/>
          <a:chOff x="0" y="0"/>
          <a:chExt cx="0" cy="0"/>
        </a:xfrm>
      </p:grpSpPr>
      <p:sp>
        <p:nvSpPr>
          <p:cNvPr id="1415" name="Google Shape;1415;p30"/>
          <p:cNvSpPr/>
          <p:nvPr/>
        </p:nvSpPr>
        <p:spPr>
          <a:xfrm>
            <a:off x="320040" y="109728"/>
            <a:ext cx="5029200" cy="502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A1A"/>
              </a:buClr>
              <a:buSzPts val="3400"/>
              <a:buFont typeface="Calibri"/>
              <a:buNone/>
            </a:pPr>
            <a:r>
              <a:rPr lang="en" sz="2800" b="1" i="0" u="none" strike="noStrike" cap="none">
                <a:solidFill>
                  <a:srgbClr val="1A1A1A"/>
                </a:solidFill>
                <a:latin typeface="Calibri"/>
                <a:ea typeface="Calibri"/>
                <a:cs typeface="Calibri"/>
                <a:sym typeface="Calibri"/>
              </a:rPr>
              <a:t>PyTorch</a:t>
            </a:r>
            <a:endParaRPr sz="2800" b="0" i="0" u="none" strike="noStrike" cap="none">
              <a:solidFill>
                <a:srgbClr val="000000"/>
              </a:solidFill>
              <a:latin typeface="Calibri"/>
              <a:ea typeface="Calibri"/>
              <a:cs typeface="Calibri"/>
              <a:sym typeface="Calibri"/>
            </a:endParaRPr>
          </a:p>
        </p:txBody>
      </p:sp>
      <p:sp>
        <p:nvSpPr>
          <p:cNvPr id="1416" name="Google Shape;1416;p30"/>
          <p:cNvSpPr/>
          <p:nvPr/>
        </p:nvSpPr>
        <p:spPr>
          <a:xfrm>
            <a:off x="320040" y="621792"/>
            <a:ext cx="50292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7D32"/>
              </a:buClr>
              <a:buSzPts val="1800"/>
              <a:buFont typeface="Calibri"/>
              <a:buNone/>
            </a:pPr>
            <a:r>
              <a:rPr lang="en" sz="1800" b="0" i="1" u="none" strike="noStrike" cap="none">
                <a:solidFill>
                  <a:srgbClr val="C00000"/>
                </a:solidFill>
                <a:latin typeface="Calibri"/>
                <a:ea typeface="Calibri"/>
                <a:cs typeface="Calibri"/>
                <a:sym typeface="Calibri"/>
              </a:rPr>
              <a:t>Deep Learning in Python</a:t>
            </a:r>
            <a:endParaRPr sz="1800" b="0" i="0" u="none" strike="noStrike" cap="none">
              <a:solidFill>
                <a:srgbClr val="C00000"/>
              </a:solidFill>
              <a:latin typeface="Calibri"/>
              <a:ea typeface="Calibri"/>
              <a:cs typeface="Calibri"/>
              <a:sym typeface="Calibri"/>
            </a:endParaRPr>
          </a:p>
        </p:txBody>
      </p:sp>
      <p:sp>
        <p:nvSpPr>
          <p:cNvPr id="1417" name="Google Shape;1417;p30"/>
          <p:cNvSpPr/>
          <p:nvPr/>
        </p:nvSpPr>
        <p:spPr>
          <a:xfrm>
            <a:off x="274320" y="1078992"/>
            <a:ext cx="4206300" cy="1051500"/>
          </a:xfrm>
          <a:prstGeom prst="rect">
            <a:avLst/>
          </a:prstGeom>
          <a:solidFill>
            <a:srgbClr val="FFFFFF"/>
          </a:solidFill>
          <a:ln w="9525"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8" name="Google Shape;1418;p30"/>
          <p:cNvSpPr/>
          <p:nvPr/>
        </p:nvSpPr>
        <p:spPr>
          <a:xfrm>
            <a:off x="384048" y="1133856"/>
            <a:ext cx="40416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A1A"/>
              </a:buClr>
              <a:buSzPts val="1300"/>
              <a:buFont typeface="Calibri"/>
              <a:buNone/>
            </a:pPr>
            <a:r>
              <a:rPr lang="en" sz="1300" b="1" i="0" u="none" strike="noStrike" cap="none">
                <a:solidFill>
                  <a:srgbClr val="1A1A1A"/>
                </a:solidFill>
                <a:latin typeface="Calibri"/>
                <a:ea typeface="Calibri"/>
                <a:cs typeface="Calibri"/>
                <a:sym typeface="Calibri"/>
              </a:rPr>
              <a:t>Neural Network Building Blocks</a:t>
            </a:r>
            <a:endParaRPr sz="1300" b="0" i="0" u="none" strike="noStrike" cap="none">
              <a:solidFill>
                <a:srgbClr val="000000"/>
              </a:solidFill>
              <a:latin typeface="Calibri"/>
              <a:ea typeface="Calibri"/>
              <a:cs typeface="Calibri"/>
              <a:sym typeface="Calibri"/>
            </a:endParaRPr>
          </a:p>
        </p:txBody>
      </p:sp>
      <p:sp>
        <p:nvSpPr>
          <p:cNvPr id="1419" name="Google Shape;1419;p30"/>
          <p:cNvSpPr/>
          <p:nvPr/>
        </p:nvSpPr>
        <p:spPr>
          <a:xfrm>
            <a:off x="384048" y="1444752"/>
            <a:ext cx="4041600" cy="621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333333"/>
              </a:buClr>
              <a:buSzPts val="1100"/>
              <a:buFont typeface="Calibri"/>
              <a:buNone/>
            </a:pPr>
            <a:r>
              <a:rPr lang="en" sz="1100" b="0" i="0" u="none" strike="noStrike" cap="none">
                <a:solidFill>
                  <a:srgbClr val="333333"/>
                </a:solidFill>
                <a:latin typeface="Calibri"/>
                <a:ea typeface="Calibri"/>
                <a:cs typeface="Calibri"/>
                <a:sym typeface="Calibri"/>
              </a:rPr>
              <a:t>torch.nn.Module, Linear, Conv2d, RNN/LSTM/GRU, Transformer — composable layers with autograd support</a:t>
            </a:r>
            <a:endParaRPr sz="1100" b="0" i="0" u="none" strike="noStrike" cap="none">
              <a:solidFill>
                <a:srgbClr val="000000"/>
              </a:solidFill>
              <a:latin typeface="Calibri"/>
              <a:ea typeface="Calibri"/>
              <a:cs typeface="Calibri"/>
              <a:sym typeface="Calibri"/>
            </a:endParaRPr>
          </a:p>
        </p:txBody>
      </p:sp>
      <p:sp>
        <p:nvSpPr>
          <p:cNvPr id="1420" name="Google Shape;1420;p30"/>
          <p:cNvSpPr/>
          <p:nvPr/>
        </p:nvSpPr>
        <p:spPr>
          <a:xfrm>
            <a:off x="4663440" y="1078992"/>
            <a:ext cx="4206300" cy="1051500"/>
          </a:xfrm>
          <a:prstGeom prst="rect">
            <a:avLst/>
          </a:prstGeom>
          <a:solidFill>
            <a:srgbClr val="FFFFFF"/>
          </a:solidFill>
          <a:ln w="9525"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1" name="Google Shape;1421;p30"/>
          <p:cNvSpPr/>
          <p:nvPr/>
        </p:nvSpPr>
        <p:spPr>
          <a:xfrm>
            <a:off x="4773168" y="1133856"/>
            <a:ext cx="40416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A1A"/>
              </a:buClr>
              <a:buSzPts val="1300"/>
              <a:buFont typeface="Calibri"/>
              <a:buNone/>
            </a:pPr>
            <a:r>
              <a:rPr lang="en" sz="1300" b="1" i="0" u="none" strike="noStrike" cap="none">
                <a:solidFill>
                  <a:srgbClr val="1A1A1A"/>
                </a:solidFill>
                <a:latin typeface="Calibri"/>
                <a:ea typeface="Calibri"/>
                <a:cs typeface="Calibri"/>
                <a:sym typeface="Calibri"/>
              </a:rPr>
              <a:t>Autograd &amp; Optimization</a:t>
            </a:r>
            <a:endParaRPr sz="1300" b="0" i="0" u="none" strike="noStrike" cap="none">
              <a:solidFill>
                <a:srgbClr val="000000"/>
              </a:solidFill>
              <a:latin typeface="Calibri"/>
              <a:ea typeface="Calibri"/>
              <a:cs typeface="Calibri"/>
              <a:sym typeface="Calibri"/>
            </a:endParaRPr>
          </a:p>
        </p:txBody>
      </p:sp>
      <p:sp>
        <p:nvSpPr>
          <p:cNvPr id="1422" name="Google Shape;1422;p30"/>
          <p:cNvSpPr/>
          <p:nvPr/>
        </p:nvSpPr>
        <p:spPr>
          <a:xfrm>
            <a:off x="4773168" y="1444752"/>
            <a:ext cx="4041600" cy="621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333333"/>
              </a:buClr>
              <a:buSzPts val="1100"/>
              <a:buFont typeface="Calibri"/>
              <a:buNone/>
            </a:pPr>
            <a:r>
              <a:rPr lang="en" sz="1100" b="0" i="0" u="none" strike="noStrike" cap="none">
                <a:solidFill>
                  <a:srgbClr val="333333"/>
                </a:solidFill>
                <a:latin typeface="Calibri"/>
                <a:ea typeface="Calibri"/>
                <a:cs typeface="Calibri"/>
                <a:sym typeface="Calibri"/>
              </a:rPr>
              <a:t>Automatic differentiation via torch.autograd · SGD, Adam, AdamW, RMSProp · Learning rate schedulers</a:t>
            </a:r>
            <a:endParaRPr sz="1100" b="0" i="0" u="none" strike="noStrike" cap="none">
              <a:solidFill>
                <a:srgbClr val="000000"/>
              </a:solidFill>
              <a:latin typeface="Calibri"/>
              <a:ea typeface="Calibri"/>
              <a:cs typeface="Calibri"/>
              <a:sym typeface="Calibri"/>
            </a:endParaRPr>
          </a:p>
        </p:txBody>
      </p:sp>
      <p:sp>
        <p:nvSpPr>
          <p:cNvPr id="1423" name="Google Shape;1423;p30"/>
          <p:cNvSpPr/>
          <p:nvPr/>
        </p:nvSpPr>
        <p:spPr>
          <a:xfrm>
            <a:off x="274320" y="2304288"/>
            <a:ext cx="4206300" cy="1051500"/>
          </a:xfrm>
          <a:prstGeom prst="rect">
            <a:avLst/>
          </a:prstGeom>
          <a:solidFill>
            <a:srgbClr val="FFFFFF"/>
          </a:solidFill>
          <a:ln w="9525"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4" name="Google Shape;1424;p30"/>
          <p:cNvSpPr/>
          <p:nvPr/>
        </p:nvSpPr>
        <p:spPr>
          <a:xfrm>
            <a:off x="384048" y="2359152"/>
            <a:ext cx="40416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A1A"/>
              </a:buClr>
              <a:buSzPts val="1300"/>
              <a:buFont typeface="Calibri"/>
              <a:buNone/>
            </a:pPr>
            <a:r>
              <a:rPr lang="en" sz="1300" b="1" i="0" u="none" strike="noStrike" cap="none">
                <a:solidFill>
                  <a:srgbClr val="1A1A1A"/>
                </a:solidFill>
                <a:latin typeface="Calibri"/>
                <a:ea typeface="Calibri"/>
                <a:cs typeface="Calibri"/>
                <a:sym typeface="Calibri"/>
              </a:rPr>
              <a:t>Data Loading &amp; Preprocessing</a:t>
            </a:r>
            <a:endParaRPr sz="1300" b="0" i="0" u="none" strike="noStrike" cap="none">
              <a:solidFill>
                <a:srgbClr val="000000"/>
              </a:solidFill>
              <a:latin typeface="Calibri"/>
              <a:ea typeface="Calibri"/>
              <a:cs typeface="Calibri"/>
              <a:sym typeface="Calibri"/>
            </a:endParaRPr>
          </a:p>
        </p:txBody>
      </p:sp>
      <p:sp>
        <p:nvSpPr>
          <p:cNvPr id="1425" name="Google Shape;1425;p30"/>
          <p:cNvSpPr/>
          <p:nvPr/>
        </p:nvSpPr>
        <p:spPr>
          <a:xfrm>
            <a:off x="384048" y="2670048"/>
            <a:ext cx="4041600" cy="621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333333"/>
              </a:buClr>
              <a:buSzPts val="1100"/>
              <a:buFont typeface="Calibri"/>
              <a:buNone/>
            </a:pPr>
            <a:r>
              <a:rPr lang="en" sz="1100" b="0" i="0" u="none" strike="noStrike" cap="none">
                <a:solidFill>
                  <a:srgbClr val="333333"/>
                </a:solidFill>
                <a:latin typeface="Calibri"/>
                <a:ea typeface="Calibri"/>
                <a:cs typeface="Calibri"/>
                <a:sym typeface="Calibri"/>
              </a:rPr>
              <a:t>Dataset, DataLoader, torchvision.transforms · Batching, shuffling, augmentation · Custom Dataset API</a:t>
            </a:r>
            <a:endParaRPr sz="1100" b="0" i="0" u="none" strike="noStrike" cap="none">
              <a:solidFill>
                <a:srgbClr val="000000"/>
              </a:solidFill>
              <a:latin typeface="Calibri"/>
              <a:ea typeface="Calibri"/>
              <a:cs typeface="Calibri"/>
              <a:sym typeface="Calibri"/>
            </a:endParaRPr>
          </a:p>
        </p:txBody>
      </p:sp>
      <p:sp>
        <p:nvSpPr>
          <p:cNvPr id="1426" name="Google Shape;1426;p30"/>
          <p:cNvSpPr/>
          <p:nvPr/>
        </p:nvSpPr>
        <p:spPr>
          <a:xfrm>
            <a:off x="4663440" y="2304288"/>
            <a:ext cx="4206300" cy="1051500"/>
          </a:xfrm>
          <a:prstGeom prst="rect">
            <a:avLst/>
          </a:prstGeom>
          <a:solidFill>
            <a:srgbClr val="FFFFFF"/>
          </a:solidFill>
          <a:ln w="9525"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7" name="Google Shape;1427;p30"/>
          <p:cNvSpPr/>
          <p:nvPr/>
        </p:nvSpPr>
        <p:spPr>
          <a:xfrm>
            <a:off x="4773168" y="2359152"/>
            <a:ext cx="40416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A1A"/>
              </a:buClr>
              <a:buSzPts val="1300"/>
              <a:buFont typeface="Calibri"/>
              <a:buNone/>
            </a:pPr>
            <a:r>
              <a:rPr lang="en" sz="1300" b="1" i="0" u="none" strike="noStrike" cap="none">
                <a:solidFill>
                  <a:srgbClr val="1A1A1A"/>
                </a:solidFill>
                <a:latin typeface="Calibri"/>
                <a:ea typeface="Calibri"/>
                <a:cs typeface="Calibri"/>
                <a:sym typeface="Calibri"/>
              </a:rPr>
              <a:t>Key Design Principles</a:t>
            </a:r>
            <a:endParaRPr sz="1300" b="0" i="0" u="none" strike="noStrike" cap="none">
              <a:solidFill>
                <a:srgbClr val="000000"/>
              </a:solidFill>
              <a:latin typeface="Calibri"/>
              <a:ea typeface="Calibri"/>
              <a:cs typeface="Calibri"/>
              <a:sym typeface="Calibri"/>
            </a:endParaRPr>
          </a:p>
        </p:txBody>
      </p:sp>
      <p:sp>
        <p:nvSpPr>
          <p:cNvPr id="1428" name="Google Shape;1428;p30"/>
          <p:cNvSpPr/>
          <p:nvPr/>
        </p:nvSpPr>
        <p:spPr>
          <a:xfrm>
            <a:off x="4773168" y="2670048"/>
            <a:ext cx="4041600" cy="621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333333"/>
              </a:buClr>
              <a:buSzPts val="1100"/>
              <a:buFont typeface="Calibri"/>
              <a:buNone/>
            </a:pPr>
            <a:r>
              <a:rPr lang="en" sz="1100" b="0" i="0" u="none" strike="noStrike" cap="none">
                <a:solidFill>
                  <a:srgbClr val="333333"/>
                </a:solidFill>
                <a:latin typeface="Calibri"/>
                <a:ea typeface="Calibri"/>
                <a:cs typeface="Calibri"/>
                <a:sym typeface="Calibri"/>
              </a:rPr>
              <a:t>Dynamic computation graph · Pythonic &amp; debuggable · NumPy-compatible tensors · GPU/CPU seamless switching</a:t>
            </a:r>
            <a:endParaRPr sz="1100" b="0" i="0" u="none" strike="noStrike" cap="none">
              <a:solidFill>
                <a:srgbClr val="000000"/>
              </a:solidFill>
              <a:latin typeface="Calibri"/>
              <a:ea typeface="Calibri"/>
              <a:cs typeface="Calibri"/>
              <a:sym typeface="Calibri"/>
            </a:endParaRPr>
          </a:p>
        </p:txBody>
      </p:sp>
      <p:sp>
        <p:nvSpPr>
          <p:cNvPr id="1429" name="Google Shape;1429;p30"/>
          <p:cNvSpPr/>
          <p:nvPr/>
        </p:nvSpPr>
        <p:spPr>
          <a:xfrm>
            <a:off x="274320" y="3529584"/>
            <a:ext cx="4206300" cy="1051500"/>
          </a:xfrm>
          <a:prstGeom prst="rect">
            <a:avLst/>
          </a:prstGeom>
          <a:solidFill>
            <a:srgbClr val="FFFFFF"/>
          </a:solidFill>
          <a:ln w="9525"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0" name="Google Shape;1430;p30"/>
          <p:cNvSpPr/>
          <p:nvPr/>
        </p:nvSpPr>
        <p:spPr>
          <a:xfrm>
            <a:off x="384048" y="3584448"/>
            <a:ext cx="40416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A1A"/>
              </a:buClr>
              <a:buSzPts val="1300"/>
              <a:buFont typeface="Calibri"/>
              <a:buNone/>
            </a:pPr>
            <a:r>
              <a:rPr lang="en" sz="1300" b="1" i="0" u="none" strike="noStrike" cap="none">
                <a:solidFill>
                  <a:srgbClr val="1A1A1A"/>
                </a:solidFill>
                <a:latin typeface="Calibri"/>
                <a:ea typeface="Calibri"/>
                <a:cs typeface="Calibri"/>
                <a:sym typeface="Calibri"/>
              </a:rPr>
              <a:t>Model Training &amp; Evaluation</a:t>
            </a:r>
            <a:endParaRPr sz="1300" b="0" i="0" u="none" strike="noStrike" cap="none">
              <a:solidFill>
                <a:srgbClr val="000000"/>
              </a:solidFill>
              <a:latin typeface="Calibri"/>
              <a:ea typeface="Calibri"/>
              <a:cs typeface="Calibri"/>
              <a:sym typeface="Calibri"/>
            </a:endParaRPr>
          </a:p>
        </p:txBody>
      </p:sp>
      <p:sp>
        <p:nvSpPr>
          <p:cNvPr id="1431" name="Google Shape;1431;p30"/>
          <p:cNvSpPr/>
          <p:nvPr/>
        </p:nvSpPr>
        <p:spPr>
          <a:xfrm>
            <a:off x="384048" y="3895344"/>
            <a:ext cx="4041600" cy="621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333333"/>
              </a:buClr>
              <a:buSzPts val="1100"/>
              <a:buFont typeface="Calibri"/>
              <a:buNone/>
            </a:pPr>
            <a:r>
              <a:rPr lang="en" sz="1100" b="0" i="0" u="none" strike="noStrike" cap="none">
                <a:solidFill>
                  <a:srgbClr val="333333"/>
                </a:solidFill>
                <a:latin typeface="Calibri"/>
                <a:ea typeface="Calibri"/>
                <a:cs typeface="Calibri"/>
                <a:sym typeface="Calibri"/>
              </a:rPr>
              <a:t>Training loops, loss functions (CrossEntropy, MSE, NLL) · Checkpointing · TorchScript &amp; ONNX export</a:t>
            </a:r>
            <a:endParaRPr sz="1100" b="0" i="0" u="none" strike="noStrike" cap="none">
              <a:solidFill>
                <a:srgbClr val="000000"/>
              </a:solidFill>
              <a:latin typeface="Calibri"/>
              <a:ea typeface="Calibri"/>
              <a:cs typeface="Calibri"/>
              <a:sym typeface="Calibri"/>
            </a:endParaRPr>
          </a:p>
        </p:txBody>
      </p:sp>
      <p:sp>
        <p:nvSpPr>
          <p:cNvPr id="1432" name="Google Shape;1432;p30"/>
          <p:cNvSpPr/>
          <p:nvPr/>
        </p:nvSpPr>
        <p:spPr>
          <a:xfrm>
            <a:off x="4663440" y="3529584"/>
            <a:ext cx="4206300" cy="1051500"/>
          </a:xfrm>
          <a:prstGeom prst="rect">
            <a:avLst/>
          </a:prstGeom>
          <a:solidFill>
            <a:srgbClr val="FFFFFF"/>
          </a:solidFill>
          <a:ln w="9525"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3" name="Google Shape;1433;p30"/>
          <p:cNvSpPr/>
          <p:nvPr/>
        </p:nvSpPr>
        <p:spPr>
          <a:xfrm>
            <a:off x="4773168" y="3584448"/>
            <a:ext cx="40416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1A1A"/>
              </a:buClr>
              <a:buSzPts val="1300"/>
              <a:buFont typeface="Calibri"/>
              <a:buNone/>
            </a:pPr>
            <a:r>
              <a:rPr lang="en" sz="1300" b="1" i="0" u="none" strike="noStrike" cap="none">
                <a:solidFill>
                  <a:srgbClr val="1A1A1A"/>
                </a:solidFill>
                <a:latin typeface="Calibri"/>
                <a:ea typeface="Calibri"/>
                <a:cs typeface="Calibri"/>
                <a:sym typeface="Calibri"/>
              </a:rPr>
              <a:t>Ecosystem &amp; Use Cases</a:t>
            </a:r>
            <a:endParaRPr sz="1300" b="0" i="0" u="none" strike="noStrike" cap="none">
              <a:solidFill>
                <a:srgbClr val="000000"/>
              </a:solidFill>
              <a:latin typeface="Calibri"/>
              <a:ea typeface="Calibri"/>
              <a:cs typeface="Calibri"/>
              <a:sym typeface="Calibri"/>
            </a:endParaRPr>
          </a:p>
        </p:txBody>
      </p:sp>
      <p:sp>
        <p:nvSpPr>
          <p:cNvPr id="1434" name="Google Shape;1434;p30"/>
          <p:cNvSpPr/>
          <p:nvPr/>
        </p:nvSpPr>
        <p:spPr>
          <a:xfrm>
            <a:off x="4773168" y="3895344"/>
            <a:ext cx="4041600" cy="621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333333"/>
              </a:buClr>
              <a:buSzPts val="1100"/>
              <a:buFont typeface="Calibri"/>
              <a:buNone/>
            </a:pPr>
            <a:r>
              <a:rPr lang="en" sz="1100" b="0" i="0" u="none" strike="noStrike" cap="none">
                <a:solidFill>
                  <a:srgbClr val="333333"/>
                </a:solidFill>
                <a:latin typeface="Calibri"/>
                <a:ea typeface="Calibri"/>
                <a:cs typeface="Calibri"/>
                <a:sym typeface="Calibri"/>
              </a:rPr>
              <a:t>torchvision, torchaudio, torchtext · Hugging Face integration · Used in CV, NLP, RL, generative AI</a:t>
            </a:r>
            <a:endParaRPr sz="1100" b="0" i="0" u="none" strike="noStrike" cap="none">
              <a:solidFill>
                <a:srgbClr val="000000"/>
              </a:solidFill>
              <a:latin typeface="Calibri"/>
              <a:ea typeface="Calibri"/>
              <a:cs typeface="Calibri"/>
              <a:sym typeface="Calibri"/>
            </a:endParaRPr>
          </a:p>
        </p:txBody>
      </p:sp>
      <p:pic>
        <p:nvPicPr>
          <p:cNvPr id="1435" name="Google Shape;1435;p30"/>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1436" name="Google Shape;1436;p30"/>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47</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40"/>
        <p:cNvGrpSpPr/>
        <p:nvPr/>
      </p:nvGrpSpPr>
      <p:grpSpPr>
        <a:xfrm>
          <a:off x="0" y="0"/>
          <a:ext cx="0" cy="0"/>
          <a:chOff x="0" y="0"/>
          <a:chExt cx="0" cy="0"/>
        </a:xfrm>
      </p:grpSpPr>
      <p:sp>
        <p:nvSpPr>
          <p:cNvPr id="1441" name="Google Shape;1441;p31"/>
          <p:cNvSpPr txBox="1"/>
          <p:nvPr/>
        </p:nvSpPr>
        <p:spPr>
          <a:xfrm>
            <a:off x="272050" y="970015"/>
            <a:ext cx="5961000" cy="3777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import torch                     # Core PyTorch library</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import torch.nn as nn           # Neural network module</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class SimpleCNN(nn.Module):                     # Define a simple CNN model</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def __init__(self):</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super().__init__()</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 First convolution layer:</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self.conv1 = nn.Conv2d(1, 16, kernel_size=3, padding=1)  #Input: 1 channel (grayscale), Output: 16 feature maps and kernel size = 3x3, padding=1 keeps spatial size same</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 Second convolution layer</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self.conv2 = nn.Conv2d(16, 32, kernel_size=3, padding=1)   # Input: 16 channels → Output: 32 feature maps</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 MaxPooling layer</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self.pool = nn.MaxPool2d(2, 2)  # Reduces spatial dimensions by half (e.g., 28x28 → 14x14)</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 Activation function</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self.relu = nn.ReLU()</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 Fully connected layer:</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 After two poolings: 28 → 14 → 7</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000" b="0" i="0" u="none" strike="noStrike" cap="none">
                <a:solidFill>
                  <a:schemeClr val="dk2"/>
                </a:solidFill>
                <a:latin typeface="Calibri"/>
                <a:ea typeface="Calibri"/>
                <a:cs typeface="Calibri"/>
                <a:sym typeface="Calibri"/>
              </a:rPr>
              <a:t>        # Final feature map size = 32 × 7 × 7</a:t>
            </a:r>
            <a:endParaRPr sz="1000" b="0" i="0" u="none" strike="noStrike" cap="none">
              <a:solidFill>
                <a:schemeClr val="dk2"/>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chemeClr val="dk2"/>
                </a:solidFill>
                <a:latin typeface="Calibri"/>
                <a:ea typeface="Calibri"/>
                <a:cs typeface="Calibri"/>
                <a:sym typeface="Calibri"/>
              </a:rPr>
              <a:t>        self.fc = nn.Linear(32 * 7 * 7, 10)  # 10 output classes</a:t>
            </a:r>
            <a:endParaRPr sz="1600" b="0" i="0" u="none" strike="noStrike" cap="none">
              <a:solidFill>
                <a:schemeClr val="dk2"/>
              </a:solidFill>
              <a:latin typeface="Arial"/>
              <a:ea typeface="Arial"/>
              <a:cs typeface="Arial"/>
              <a:sym typeface="Arial"/>
            </a:endParaRPr>
          </a:p>
        </p:txBody>
      </p:sp>
      <p:pic>
        <p:nvPicPr>
          <p:cNvPr id="1442" name="Google Shape;1442;p31"/>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1443" name="Google Shape;1443;p31"/>
          <p:cNvSpPr txBox="1"/>
          <p:nvPr/>
        </p:nvSpPr>
        <p:spPr>
          <a:xfrm>
            <a:off x="1052950" y="98875"/>
            <a:ext cx="6618600" cy="7683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600"/>
              <a:buFont typeface="Arial"/>
              <a:buNone/>
            </a:pPr>
            <a:r>
              <a:rPr lang="en" sz="2600" b="1" i="0" u="none" strike="noStrike" cap="none">
                <a:solidFill>
                  <a:srgbClr val="0D1B2A"/>
                </a:solidFill>
                <a:latin typeface="Calibri"/>
                <a:ea typeface="Calibri"/>
                <a:cs typeface="Calibri"/>
                <a:sym typeface="Calibri"/>
              </a:rPr>
              <a:t>CNN in PyTorch</a:t>
            </a:r>
            <a:endParaRPr sz="2600" b="1" i="0" u="none" strike="noStrike" cap="none">
              <a:solidFill>
                <a:srgbClr val="0D1B2A"/>
              </a:solidFill>
              <a:latin typeface="Calibri"/>
              <a:ea typeface="Calibri"/>
              <a:cs typeface="Calibri"/>
              <a:sym typeface="Calibri"/>
            </a:endParaRPr>
          </a:p>
        </p:txBody>
      </p:sp>
      <p:sp>
        <p:nvSpPr>
          <p:cNvPr id="1444" name="Google Shape;1444;p31"/>
          <p:cNvSpPr/>
          <p:nvPr/>
        </p:nvSpPr>
        <p:spPr>
          <a:xfrm>
            <a:off x="6400800" y="959710"/>
            <a:ext cx="2514600" cy="868800"/>
          </a:xfrm>
          <a:prstGeom prst="rect">
            <a:avLst/>
          </a:prstGeom>
          <a:solidFill>
            <a:srgbClr val="E0F3FF"/>
          </a:solidFill>
          <a:ln w="9525"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5" name="Google Shape;1445;p31"/>
          <p:cNvSpPr/>
          <p:nvPr/>
        </p:nvSpPr>
        <p:spPr>
          <a:xfrm>
            <a:off x="6400800" y="959710"/>
            <a:ext cx="73200" cy="8688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6" name="Google Shape;1446;p31"/>
          <p:cNvSpPr/>
          <p:nvPr/>
        </p:nvSpPr>
        <p:spPr>
          <a:xfrm>
            <a:off x="6565392" y="1032862"/>
            <a:ext cx="22860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2E42"/>
              </a:buClr>
              <a:buSzPts val="1000"/>
              <a:buFont typeface="Consolas"/>
              <a:buNone/>
            </a:pPr>
            <a:r>
              <a:rPr lang="en" sz="1000" b="1" i="0" u="none" strike="noStrike" cap="none">
                <a:solidFill>
                  <a:srgbClr val="1A2E42"/>
                </a:solidFill>
                <a:latin typeface="Consolas"/>
                <a:ea typeface="Consolas"/>
                <a:cs typeface="Consolas"/>
                <a:sym typeface="Consolas"/>
              </a:rPr>
              <a:t>nn.Conv2d(in, out, k)</a:t>
            </a:r>
            <a:endParaRPr sz="1000" b="0" i="0" u="none" strike="noStrike" cap="none">
              <a:solidFill>
                <a:schemeClr val="dk1"/>
              </a:solidFill>
              <a:latin typeface="Calibri"/>
              <a:ea typeface="Calibri"/>
              <a:cs typeface="Calibri"/>
              <a:sym typeface="Calibri"/>
            </a:endParaRPr>
          </a:p>
        </p:txBody>
      </p:sp>
      <p:sp>
        <p:nvSpPr>
          <p:cNvPr id="1447" name="Google Shape;1447;p31"/>
          <p:cNvSpPr/>
          <p:nvPr/>
        </p:nvSpPr>
        <p:spPr>
          <a:xfrm>
            <a:off x="6565392" y="1307182"/>
            <a:ext cx="2286000" cy="475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A6070"/>
              </a:buClr>
              <a:buSzPts val="950"/>
              <a:buFont typeface="Calibri"/>
              <a:buNone/>
            </a:pPr>
            <a:r>
              <a:rPr lang="en" sz="950" b="0" i="0" u="none" strike="noStrike" cap="none">
                <a:solidFill>
                  <a:srgbClr val="2A6070"/>
                </a:solidFill>
                <a:latin typeface="Calibri"/>
                <a:ea typeface="Calibri"/>
                <a:cs typeface="Calibri"/>
                <a:sym typeface="Calibri"/>
              </a:rPr>
              <a:t>Learnable 2D filters. Params: in/out channels, kernel_size, padding.</a:t>
            </a:r>
            <a:endParaRPr sz="950" b="0" i="0" u="none" strike="noStrike" cap="none">
              <a:solidFill>
                <a:schemeClr val="dk1"/>
              </a:solidFill>
              <a:latin typeface="Calibri"/>
              <a:ea typeface="Calibri"/>
              <a:cs typeface="Calibri"/>
              <a:sym typeface="Calibri"/>
            </a:endParaRPr>
          </a:p>
        </p:txBody>
      </p:sp>
      <p:sp>
        <p:nvSpPr>
          <p:cNvPr id="1448" name="Google Shape;1448;p31"/>
          <p:cNvSpPr/>
          <p:nvPr/>
        </p:nvSpPr>
        <p:spPr>
          <a:xfrm>
            <a:off x="6400800" y="1938118"/>
            <a:ext cx="2514600" cy="868800"/>
          </a:xfrm>
          <a:prstGeom prst="rect">
            <a:avLst/>
          </a:prstGeom>
          <a:solidFill>
            <a:srgbClr val="C8EED8"/>
          </a:solidFill>
          <a:ln w="9525"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9" name="Google Shape;1449;p31"/>
          <p:cNvSpPr/>
          <p:nvPr/>
        </p:nvSpPr>
        <p:spPr>
          <a:xfrm>
            <a:off x="6400800" y="1938118"/>
            <a:ext cx="73200" cy="868800"/>
          </a:xfrm>
          <a:prstGeom prst="rect">
            <a:avLst/>
          </a:prstGeom>
          <a:solidFill>
            <a:srgbClr val="1D9E7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0" name="Google Shape;1450;p31"/>
          <p:cNvSpPr/>
          <p:nvPr/>
        </p:nvSpPr>
        <p:spPr>
          <a:xfrm>
            <a:off x="6565392" y="2011270"/>
            <a:ext cx="22860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2E42"/>
              </a:buClr>
              <a:buSzPts val="1000"/>
              <a:buFont typeface="Consolas"/>
              <a:buNone/>
            </a:pPr>
            <a:r>
              <a:rPr lang="en" sz="1000" b="1" i="0" u="none" strike="noStrike" cap="none">
                <a:solidFill>
                  <a:srgbClr val="1A2E42"/>
                </a:solidFill>
                <a:latin typeface="Consolas"/>
                <a:ea typeface="Consolas"/>
                <a:cs typeface="Consolas"/>
                <a:sym typeface="Consolas"/>
              </a:rPr>
              <a:t>nn.MaxPool2d(2, 2)</a:t>
            </a:r>
            <a:endParaRPr sz="1000" b="0" i="0" u="none" strike="noStrike" cap="none">
              <a:solidFill>
                <a:schemeClr val="dk1"/>
              </a:solidFill>
              <a:latin typeface="Calibri"/>
              <a:ea typeface="Calibri"/>
              <a:cs typeface="Calibri"/>
              <a:sym typeface="Calibri"/>
            </a:endParaRPr>
          </a:p>
        </p:txBody>
      </p:sp>
      <p:sp>
        <p:nvSpPr>
          <p:cNvPr id="1451" name="Google Shape;1451;p31"/>
          <p:cNvSpPr/>
          <p:nvPr/>
        </p:nvSpPr>
        <p:spPr>
          <a:xfrm>
            <a:off x="6565392" y="2285590"/>
            <a:ext cx="2286000" cy="475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A6070"/>
              </a:buClr>
              <a:buSzPts val="950"/>
              <a:buFont typeface="Calibri"/>
              <a:buNone/>
            </a:pPr>
            <a:r>
              <a:rPr lang="en" sz="950" b="0" i="0" u="none" strike="noStrike" cap="none">
                <a:solidFill>
                  <a:srgbClr val="2A6070"/>
                </a:solidFill>
                <a:latin typeface="Calibri"/>
                <a:ea typeface="Calibri"/>
                <a:cs typeface="Calibri"/>
                <a:sym typeface="Calibri"/>
              </a:rPr>
              <a:t>Takes max over 2×2 windows — halves H and W.</a:t>
            </a:r>
            <a:endParaRPr sz="950" b="0" i="0" u="none" strike="noStrike" cap="none">
              <a:solidFill>
                <a:schemeClr val="dk1"/>
              </a:solidFill>
              <a:latin typeface="Calibri"/>
              <a:ea typeface="Calibri"/>
              <a:cs typeface="Calibri"/>
              <a:sym typeface="Calibri"/>
            </a:endParaRPr>
          </a:p>
        </p:txBody>
      </p:sp>
      <p:sp>
        <p:nvSpPr>
          <p:cNvPr id="1452" name="Google Shape;1452;p31"/>
          <p:cNvSpPr/>
          <p:nvPr/>
        </p:nvSpPr>
        <p:spPr>
          <a:xfrm>
            <a:off x="6400800" y="2916526"/>
            <a:ext cx="2514600" cy="868800"/>
          </a:xfrm>
          <a:prstGeom prst="rect">
            <a:avLst/>
          </a:prstGeom>
          <a:solidFill>
            <a:srgbClr val="FEF3E2"/>
          </a:solidFill>
          <a:ln w="9525"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3" name="Google Shape;1453;p31"/>
          <p:cNvSpPr/>
          <p:nvPr/>
        </p:nvSpPr>
        <p:spPr>
          <a:xfrm>
            <a:off x="6400800" y="2916526"/>
            <a:ext cx="73200" cy="868800"/>
          </a:xfrm>
          <a:prstGeom prst="rect">
            <a:avLst/>
          </a:prstGeom>
          <a:solidFill>
            <a:srgbClr val="E67E2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4" name="Google Shape;1454;p31"/>
          <p:cNvSpPr/>
          <p:nvPr/>
        </p:nvSpPr>
        <p:spPr>
          <a:xfrm>
            <a:off x="6565392" y="2989678"/>
            <a:ext cx="22860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2E42"/>
              </a:buClr>
              <a:buSzPts val="1000"/>
              <a:buFont typeface="Consolas"/>
              <a:buNone/>
            </a:pPr>
            <a:r>
              <a:rPr lang="en" sz="1000" b="1" i="0" u="none" strike="noStrike" cap="none">
                <a:solidFill>
                  <a:srgbClr val="1A2E42"/>
                </a:solidFill>
                <a:latin typeface="Consolas"/>
                <a:ea typeface="Consolas"/>
                <a:cs typeface="Consolas"/>
                <a:sym typeface="Consolas"/>
              </a:rPr>
              <a:t>nn.ReLU()</a:t>
            </a:r>
            <a:endParaRPr sz="1000" b="0" i="0" u="none" strike="noStrike" cap="none">
              <a:solidFill>
                <a:schemeClr val="dk1"/>
              </a:solidFill>
              <a:latin typeface="Calibri"/>
              <a:ea typeface="Calibri"/>
              <a:cs typeface="Calibri"/>
              <a:sym typeface="Calibri"/>
            </a:endParaRPr>
          </a:p>
        </p:txBody>
      </p:sp>
      <p:sp>
        <p:nvSpPr>
          <p:cNvPr id="1455" name="Google Shape;1455;p31"/>
          <p:cNvSpPr/>
          <p:nvPr/>
        </p:nvSpPr>
        <p:spPr>
          <a:xfrm>
            <a:off x="6565392" y="3263998"/>
            <a:ext cx="2286000" cy="475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A6070"/>
              </a:buClr>
              <a:buSzPts val="950"/>
              <a:buFont typeface="Calibri"/>
              <a:buNone/>
            </a:pPr>
            <a:r>
              <a:rPr lang="en" sz="950" b="0" i="0" u="none" strike="noStrike" cap="none">
                <a:solidFill>
                  <a:srgbClr val="2A6070"/>
                </a:solidFill>
                <a:latin typeface="Calibri"/>
                <a:ea typeface="Calibri"/>
                <a:cs typeface="Calibri"/>
                <a:sym typeface="Calibri"/>
              </a:rPr>
              <a:t>f(x) = max(0, x). Applied after every conv layer.</a:t>
            </a:r>
            <a:endParaRPr sz="950" b="0" i="0" u="none" strike="noStrike" cap="none">
              <a:solidFill>
                <a:schemeClr val="dk1"/>
              </a:solidFill>
              <a:latin typeface="Calibri"/>
              <a:ea typeface="Calibri"/>
              <a:cs typeface="Calibri"/>
              <a:sym typeface="Calibri"/>
            </a:endParaRPr>
          </a:p>
        </p:txBody>
      </p:sp>
      <p:sp>
        <p:nvSpPr>
          <p:cNvPr id="1456" name="Google Shape;1456;p31"/>
          <p:cNvSpPr/>
          <p:nvPr/>
        </p:nvSpPr>
        <p:spPr>
          <a:xfrm>
            <a:off x="6400800" y="3894934"/>
            <a:ext cx="2514600" cy="868800"/>
          </a:xfrm>
          <a:prstGeom prst="rect">
            <a:avLst/>
          </a:prstGeom>
          <a:solidFill>
            <a:srgbClr val="EED5FF"/>
          </a:solidFill>
          <a:ln w="9525" cap="flat" cmpd="sng">
            <a:solidFill>
              <a:srgbClr val="A855F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7" name="Google Shape;1457;p31"/>
          <p:cNvSpPr/>
          <p:nvPr/>
        </p:nvSpPr>
        <p:spPr>
          <a:xfrm>
            <a:off x="6400800" y="3894934"/>
            <a:ext cx="73200" cy="868800"/>
          </a:xfrm>
          <a:prstGeom prst="rect">
            <a:avLst/>
          </a:prstGeom>
          <a:solidFill>
            <a:srgbClr val="A855F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8" name="Google Shape;1458;p31"/>
          <p:cNvSpPr/>
          <p:nvPr/>
        </p:nvSpPr>
        <p:spPr>
          <a:xfrm>
            <a:off x="6565392" y="3968086"/>
            <a:ext cx="22860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A2E42"/>
              </a:buClr>
              <a:buSzPts val="1000"/>
              <a:buFont typeface="Consolas"/>
              <a:buNone/>
            </a:pPr>
            <a:r>
              <a:rPr lang="en" sz="1000" b="1" i="0" u="none" strike="noStrike" cap="none">
                <a:solidFill>
                  <a:srgbClr val="1A2E42"/>
                </a:solidFill>
                <a:latin typeface="Consolas"/>
                <a:ea typeface="Consolas"/>
                <a:cs typeface="Consolas"/>
                <a:sym typeface="Consolas"/>
              </a:rPr>
              <a:t>nn.Linear(in, out)</a:t>
            </a:r>
            <a:endParaRPr sz="1000" b="0" i="0" u="none" strike="noStrike" cap="none">
              <a:solidFill>
                <a:schemeClr val="dk1"/>
              </a:solidFill>
              <a:latin typeface="Calibri"/>
              <a:ea typeface="Calibri"/>
              <a:cs typeface="Calibri"/>
              <a:sym typeface="Calibri"/>
            </a:endParaRPr>
          </a:p>
        </p:txBody>
      </p:sp>
      <p:sp>
        <p:nvSpPr>
          <p:cNvPr id="1459" name="Google Shape;1459;p31"/>
          <p:cNvSpPr/>
          <p:nvPr/>
        </p:nvSpPr>
        <p:spPr>
          <a:xfrm>
            <a:off x="6565392" y="4242406"/>
            <a:ext cx="2286000" cy="475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A6070"/>
              </a:buClr>
              <a:buSzPts val="950"/>
              <a:buFont typeface="Calibri"/>
              <a:buNone/>
            </a:pPr>
            <a:r>
              <a:rPr lang="en" sz="950" b="0" i="0" u="none" strike="noStrike" cap="none">
                <a:solidFill>
                  <a:srgbClr val="2A6070"/>
                </a:solidFill>
                <a:latin typeface="Calibri"/>
                <a:ea typeface="Calibri"/>
                <a:cs typeface="Calibri"/>
                <a:sym typeface="Calibri"/>
              </a:rPr>
              <a:t>Flattened features → class scores.</a:t>
            </a:r>
            <a:endParaRPr sz="950" b="0" i="0" u="none" strike="noStrike" cap="none">
              <a:solidFill>
                <a:schemeClr val="dk1"/>
              </a:solidFill>
              <a:latin typeface="Calibri"/>
              <a:ea typeface="Calibri"/>
              <a:cs typeface="Calibri"/>
              <a:sym typeface="Calibri"/>
            </a:endParaRPr>
          </a:p>
        </p:txBody>
      </p:sp>
      <p:sp>
        <p:nvSpPr>
          <p:cNvPr id="1460" name="Google Shape;1460;p31"/>
          <p:cNvSpPr/>
          <p:nvPr/>
        </p:nvSpPr>
        <p:spPr>
          <a:xfrm flipH="1">
            <a:off x="5605570" y="3661680"/>
            <a:ext cx="351600" cy="496500"/>
          </a:xfrm>
          <a:prstGeom prst="rect">
            <a:avLst/>
          </a:prstGeom>
          <a:solidFill>
            <a:srgbClr val="FF6B6B"/>
          </a:solidFill>
          <a:ln>
            <a:noFill/>
          </a:ln>
          <a:effectLst>
            <a:outerShdw blurRad="45971" dist="17239" dir="8100000" algn="bl" rotWithShape="0">
              <a:srgbClr val="000000">
                <a:alpha val="14902"/>
              </a:srgbClr>
            </a:outerShdw>
          </a:effectLst>
        </p:spPr>
        <p:txBody>
          <a:bodyPr spcFirstLastPara="1" wrap="square" lIns="41375" tIns="41375" rIns="41375" bIns="413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1" name="Google Shape;1461;p31"/>
          <p:cNvSpPr/>
          <p:nvPr/>
        </p:nvSpPr>
        <p:spPr>
          <a:xfrm flipH="1">
            <a:off x="5531088" y="3893375"/>
            <a:ext cx="74400" cy="33000"/>
          </a:xfrm>
          <a:prstGeom prst="rect">
            <a:avLst/>
          </a:prstGeom>
          <a:solidFill>
            <a:srgbClr val="1A6080"/>
          </a:solidFill>
          <a:ln>
            <a:noFill/>
          </a:ln>
        </p:spPr>
        <p:txBody>
          <a:bodyPr spcFirstLastPara="1" wrap="square" lIns="41375" tIns="41375" rIns="41375" bIns="413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2" name="Google Shape;1462;p31"/>
          <p:cNvSpPr/>
          <p:nvPr/>
        </p:nvSpPr>
        <p:spPr>
          <a:xfrm flipH="1">
            <a:off x="5510276" y="3847864"/>
            <a:ext cx="82800" cy="12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362"/>
              <a:buFont typeface="Calibri"/>
              <a:buNone/>
            </a:pPr>
            <a:r>
              <a:rPr lang="en" sz="362" b="0" i="0" u="none" strike="noStrike" cap="none">
                <a:solidFill>
                  <a:srgbClr val="1A6080"/>
                </a:solidFill>
                <a:latin typeface="Calibri"/>
                <a:ea typeface="Calibri"/>
                <a:cs typeface="Calibri"/>
                <a:sym typeface="Calibri"/>
              </a:rPr>
              <a:t>▶</a:t>
            </a:r>
            <a:endParaRPr sz="362" b="0" i="0" u="none" strike="noStrike" cap="none">
              <a:solidFill>
                <a:schemeClr val="dk1"/>
              </a:solidFill>
              <a:latin typeface="Calibri"/>
              <a:ea typeface="Calibri"/>
              <a:cs typeface="Calibri"/>
              <a:sym typeface="Calibri"/>
            </a:endParaRPr>
          </a:p>
        </p:txBody>
      </p:sp>
      <p:sp>
        <p:nvSpPr>
          <p:cNvPr id="1463" name="Google Shape;1463;p31"/>
          <p:cNvSpPr/>
          <p:nvPr/>
        </p:nvSpPr>
        <p:spPr>
          <a:xfrm flipH="1">
            <a:off x="5179414" y="3661680"/>
            <a:ext cx="351600" cy="496500"/>
          </a:xfrm>
          <a:prstGeom prst="rect">
            <a:avLst/>
          </a:prstGeom>
          <a:solidFill>
            <a:srgbClr val="B8D8F0"/>
          </a:solidFill>
          <a:ln>
            <a:noFill/>
          </a:ln>
          <a:effectLst>
            <a:outerShdw blurRad="45971" dist="17239" dir="8100000" algn="bl" rotWithShape="0">
              <a:srgbClr val="000000">
                <a:alpha val="14902"/>
              </a:srgbClr>
            </a:outerShdw>
          </a:effectLst>
        </p:spPr>
        <p:txBody>
          <a:bodyPr spcFirstLastPara="1" wrap="square" lIns="41375" tIns="41375" rIns="41375" bIns="413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4" name="Google Shape;1464;p31"/>
          <p:cNvSpPr/>
          <p:nvPr/>
        </p:nvSpPr>
        <p:spPr>
          <a:xfrm flipH="1">
            <a:off x="5104932" y="3893375"/>
            <a:ext cx="74400" cy="33000"/>
          </a:xfrm>
          <a:prstGeom prst="rect">
            <a:avLst/>
          </a:prstGeom>
          <a:solidFill>
            <a:srgbClr val="1A6080"/>
          </a:solidFill>
          <a:ln>
            <a:noFill/>
          </a:ln>
        </p:spPr>
        <p:txBody>
          <a:bodyPr spcFirstLastPara="1" wrap="square" lIns="41375" tIns="41375" rIns="41375" bIns="413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5" name="Google Shape;1465;p31"/>
          <p:cNvSpPr/>
          <p:nvPr/>
        </p:nvSpPr>
        <p:spPr>
          <a:xfrm flipH="1">
            <a:off x="5179414" y="3661680"/>
            <a:ext cx="351600" cy="496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452"/>
              <a:buFont typeface="Calibri"/>
              <a:buNone/>
            </a:pPr>
            <a:r>
              <a:rPr lang="en" sz="452" b="1" i="0" u="none" strike="noStrike" cap="none">
                <a:solidFill>
                  <a:srgbClr val="1A2E42"/>
                </a:solidFill>
                <a:latin typeface="Calibri"/>
                <a:ea typeface="Calibri"/>
                <a:cs typeface="Calibri"/>
                <a:sym typeface="Calibri"/>
              </a:rPr>
              <a:t>Fully</a:t>
            </a:r>
            <a:endParaRPr sz="452"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2E42"/>
              </a:buClr>
              <a:buSzPts val="452"/>
              <a:buFont typeface="Calibri"/>
              <a:buNone/>
            </a:pPr>
            <a:r>
              <a:rPr lang="en" sz="452" b="1" i="0" u="none" strike="noStrike" cap="none">
                <a:solidFill>
                  <a:srgbClr val="1A2E42"/>
                </a:solidFill>
                <a:latin typeface="Calibri"/>
                <a:ea typeface="Calibri"/>
                <a:cs typeface="Calibri"/>
                <a:sym typeface="Calibri"/>
              </a:rPr>
              <a:t>Connected</a:t>
            </a:r>
            <a:endParaRPr sz="452" b="0" i="0" u="none" strike="noStrike" cap="none">
              <a:solidFill>
                <a:schemeClr val="dk1"/>
              </a:solidFill>
              <a:latin typeface="Calibri"/>
              <a:ea typeface="Calibri"/>
              <a:cs typeface="Calibri"/>
              <a:sym typeface="Calibri"/>
            </a:endParaRPr>
          </a:p>
        </p:txBody>
      </p:sp>
      <p:sp>
        <p:nvSpPr>
          <p:cNvPr id="1466" name="Google Shape;1466;p31"/>
          <p:cNvSpPr/>
          <p:nvPr/>
        </p:nvSpPr>
        <p:spPr>
          <a:xfrm flipH="1">
            <a:off x="5084119" y="3847864"/>
            <a:ext cx="82800" cy="12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362"/>
              <a:buFont typeface="Calibri"/>
              <a:buNone/>
            </a:pPr>
            <a:r>
              <a:rPr lang="en" sz="362" b="0" i="0" u="none" strike="noStrike" cap="none">
                <a:solidFill>
                  <a:srgbClr val="1A6080"/>
                </a:solidFill>
                <a:latin typeface="Calibri"/>
                <a:ea typeface="Calibri"/>
                <a:cs typeface="Calibri"/>
                <a:sym typeface="Calibri"/>
              </a:rPr>
              <a:t>▶</a:t>
            </a:r>
            <a:endParaRPr sz="362" b="0" i="0" u="none" strike="noStrike" cap="none">
              <a:solidFill>
                <a:schemeClr val="dk1"/>
              </a:solidFill>
              <a:latin typeface="Calibri"/>
              <a:ea typeface="Calibri"/>
              <a:cs typeface="Calibri"/>
              <a:sym typeface="Calibri"/>
            </a:endParaRPr>
          </a:p>
        </p:txBody>
      </p:sp>
      <p:sp>
        <p:nvSpPr>
          <p:cNvPr id="1467" name="Google Shape;1467;p31"/>
          <p:cNvSpPr/>
          <p:nvPr/>
        </p:nvSpPr>
        <p:spPr>
          <a:xfrm flipH="1">
            <a:off x="4753258" y="3661680"/>
            <a:ext cx="351600" cy="496500"/>
          </a:xfrm>
          <a:prstGeom prst="rect">
            <a:avLst/>
          </a:prstGeom>
          <a:solidFill>
            <a:srgbClr val="C0DAEE"/>
          </a:solidFill>
          <a:ln>
            <a:noFill/>
          </a:ln>
          <a:effectLst>
            <a:outerShdw blurRad="45971" dist="17239" dir="8100000" algn="bl" rotWithShape="0">
              <a:srgbClr val="000000">
                <a:alpha val="14902"/>
              </a:srgbClr>
            </a:outerShdw>
          </a:effectLst>
        </p:spPr>
        <p:txBody>
          <a:bodyPr spcFirstLastPara="1" wrap="square" lIns="41375" tIns="41375" rIns="41375" bIns="413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8" name="Google Shape;1468;p31"/>
          <p:cNvSpPr/>
          <p:nvPr/>
        </p:nvSpPr>
        <p:spPr>
          <a:xfrm flipH="1">
            <a:off x="4678776" y="3893375"/>
            <a:ext cx="74400" cy="33000"/>
          </a:xfrm>
          <a:prstGeom prst="rect">
            <a:avLst/>
          </a:prstGeom>
          <a:solidFill>
            <a:srgbClr val="1A6080"/>
          </a:solidFill>
          <a:ln>
            <a:noFill/>
          </a:ln>
        </p:spPr>
        <p:txBody>
          <a:bodyPr spcFirstLastPara="1" wrap="square" lIns="41375" tIns="41375" rIns="41375" bIns="413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9" name="Google Shape;1469;p31"/>
          <p:cNvSpPr/>
          <p:nvPr/>
        </p:nvSpPr>
        <p:spPr>
          <a:xfrm flipH="1">
            <a:off x="4753258" y="3661680"/>
            <a:ext cx="351600" cy="496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452"/>
              <a:buFont typeface="Calibri"/>
              <a:buNone/>
            </a:pPr>
            <a:r>
              <a:rPr lang="en" sz="452" b="1" i="0" u="none" strike="noStrike" cap="none">
                <a:solidFill>
                  <a:srgbClr val="1A2E42"/>
                </a:solidFill>
                <a:latin typeface="Calibri"/>
                <a:ea typeface="Calibri"/>
                <a:cs typeface="Calibri"/>
                <a:sym typeface="Calibri"/>
              </a:rPr>
              <a:t>Flatten</a:t>
            </a:r>
            <a:endParaRPr sz="452" b="0" i="0" u="none" strike="noStrike" cap="none">
              <a:solidFill>
                <a:schemeClr val="dk1"/>
              </a:solidFill>
              <a:latin typeface="Calibri"/>
              <a:ea typeface="Calibri"/>
              <a:cs typeface="Calibri"/>
              <a:sym typeface="Calibri"/>
            </a:endParaRPr>
          </a:p>
        </p:txBody>
      </p:sp>
      <p:sp>
        <p:nvSpPr>
          <p:cNvPr id="1470" name="Google Shape;1470;p31"/>
          <p:cNvSpPr/>
          <p:nvPr/>
        </p:nvSpPr>
        <p:spPr>
          <a:xfrm flipH="1">
            <a:off x="5605570" y="3661680"/>
            <a:ext cx="351600" cy="496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452"/>
              <a:buFont typeface="Calibri"/>
              <a:buNone/>
            </a:pPr>
            <a:r>
              <a:rPr lang="en" sz="452" b="1" i="0" u="none" strike="noStrike" cap="none">
                <a:solidFill>
                  <a:srgbClr val="1A2E42"/>
                </a:solidFill>
                <a:latin typeface="Calibri"/>
                <a:ea typeface="Calibri"/>
                <a:cs typeface="Calibri"/>
                <a:sym typeface="Calibri"/>
              </a:rPr>
              <a:t>Softmax</a:t>
            </a:r>
            <a:endParaRPr sz="452"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2E42"/>
              </a:buClr>
              <a:buSzPts val="452"/>
              <a:buFont typeface="Calibri"/>
              <a:buNone/>
            </a:pPr>
            <a:r>
              <a:rPr lang="en" sz="452" b="1" i="0" u="none" strike="noStrike" cap="none">
                <a:solidFill>
                  <a:srgbClr val="1A2E42"/>
                </a:solidFill>
                <a:latin typeface="Calibri"/>
                <a:ea typeface="Calibri"/>
                <a:cs typeface="Calibri"/>
                <a:sym typeface="Calibri"/>
              </a:rPr>
              <a:t>Output</a:t>
            </a:r>
            <a:endParaRPr sz="452" b="0" i="0" u="none" strike="noStrike" cap="none">
              <a:solidFill>
                <a:schemeClr val="dk1"/>
              </a:solidFill>
              <a:latin typeface="Calibri"/>
              <a:ea typeface="Calibri"/>
              <a:cs typeface="Calibri"/>
              <a:sym typeface="Calibri"/>
            </a:endParaRPr>
          </a:p>
        </p:txBody>
      </p:sp>
      <p:sp>
        <p:nvSpPr>
          <p:cNvPr id="1471" name="Google Shape;1471;p31"/>
          <p:cNvSpPr/>
          <p:nvPr/>
        </p:nvSpPr>
        <p:spPr>
          <a:xfrm flipH="1">
            <a:off x="4657963" y="3847864"/>
            <a:ext cx="82800" cy="12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362"/>
              <a:buFont typeface="Calibri"/>
              <a:buNone/>
            </a:pPr>
            <a:r>
              <a:rPr lang="en" sz="362" b="0" i="0" u="none" strike="noStrike" cap="none">
                <a:solidFill>
                  <a:srgbClr val="1A6080"/>
                </a:solidFill>
                <a:latin typeface="Calibri"/>
                <a:ea typeface="Calibri"/>
                <a:cs typeface="Calibri"/>
                <a:sym typeface="Calibri"/>
              </a:rPr>
              <a:t>▶</a:t>
            </a:r>
            <a:endParaRPr sz="362" b="0" i="0" u="none" strike="noStrike" cap="none">
              <a:solidFill>
                <a:schemeClr val="dk1"/>
              </a:solidFill>
              <a:latin typeface="Calibri"/>
              <a:ea typeface="Calibri"/>
              <a:cs typeface="Calibri"/>
              <a:sym typeface="Calibri"/>
            </a:endParaRPr>
          </a:p>
        </p:txBody>
      </p:sp>
      <p:sp>
        <p:nvSpPr>
          <p:cNvPr id="1472" name="Google Shape;1472;p31"/>
          <p:cNvSpPr/>
          <p:nvPr/>
        </p:nvSpPr>
        <p:spPr>
          <a:xfrm flipH="1">
            <a:off x="4327102" y="3661680"/>
            <a:ext cx="351600" cy="496500"/>
          </a:xfrm>
          <a:prstGeom prst="rect">
            <a:avLst/>
          </a:prstGeom>
          <a:solidFill>
            <a:srgbClr val="A8EEF8"/>
          </a:solidFill>
          <a:ln>
            <a:noFill/>
          </a:ln>
          <a:effectLst>
            <a:outerShdw blurRad="45971" dist="17239" dir="8100000" algn="bl" rotWithShape="0">
              <a:srgbClr val="000000">
                <a:alpha val="14902"/>
              </a:srgbClr>
            </a:outerShdw>
          </a:effectLst>
        </p:spPr>
        <p:txBody>
          <a:bodyPr spcFirstLastPara="1" wrap="square" lIns="41375" tIns="41375" rIns="41375" bIns="413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3" name="Google Shape;1473;p31"/>
          <p:cNvSpPr/>
          <p:nvPr/>
        </p:nvSpPr>
        <p:spPr>
          <a:xfrm flipH="1">
            <a:off x="4327102" y="3661680"/>
            <a:ext cx="351600" cy="496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452"/>
              <a:buFont typeface="Calibri"/>
              <a:buNone/>
            </a:pPr>
            <a:r>
              <a:rPr lang="en" sz="452" b="1" i="0" u="none" strike="noStrike" cap="none">
                <a:solidFill>
                  <a:srgbClr val="1A2E42"/>
                </a:solidFill>
                <a:latin typeface="Calibri"/>
                <a:ea typeface="Calibri"/>
                <a:cs typeface="Calibri"/>
                <a:sym typeface="Calibri"/>
              </a:rPr>
              <a:t>Conv</a:t>
            </a:r>
            <a:endParaRPr sz="452"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2E42"/>
              </a:buClr>
              <a:buSzPts val="452"/>
              <a:buFont typeface="Calibri"/>
              <a:buNone/>
            </a:pPr>
            <a:r>
              <a:rPr lang="en" sz="452" b="1" i="0" u="none" strike="noStrike" cap="none">
                <a:solidFill>
                  <a:srgbClr val="1A2E42"/>
                </a:solidFill>
                <a:latin typeface="Calibri"/>
                <a:ea typeface="Calibri"/>
                <a:cs typeface="Calibri"/>
                <a:sym typeface="Calibri"/>
              </a:rPr>
              <a:t>Layer</a:t>
            </a:r>
            <a:endParaRPr sz="452" b="0" i="0" u="none" strike="noStrike" cap="none">
              <a:solidFill>
                <a:schemeClr val="dk1"/>
              </a:solidFill>
              <a:latin typeface="Calibri"/>
              <a:ea typeface="Calibri"/>
              <a:cs typeface="Calibri"/>
              <a:sym typeface="Calibri"/>
            </a:endParaRPr>
          </a:p>
        </p:txBody>
      </p:sp>
      <p:sp>
        <p:nvSpPr>
          <p:cNvPr id="1474" name="Google Shape;1474;p31"/>
          <p:cNvSpPr/>
          <p:nvPr/>
        </p:nvSpPr>
        <p:spPr>
          <a:xfrm flipH="1">
            <a:off x="4252619" y="3893375"/>
            <a:ext cx="74400" cy="33000"/>
          </a:xfrm>
          <a:prstGeom prst="rect">
            <a:avLst/>
          </a:prstGeom>
          <a:solidFill>
            <a:srgbClr val="1A6080"/>
          </a:solidFill>
          <a:ln>
            <a:noFill/>
          </a:ln>
        </p:spPr>
        <p:txBody>
          <a:bodyPr spcFirstLastPara="1" wrap="square" lIns="41375" tIns="41375" rIns="41375" bIns="413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5" name="Google Shape;1475;p31"/>
          <p:cNvSpPr/>
          <p:nvPr/>
        </p:nvSpPr>
        <p:spPr>
          <a:xfrm flipH="1">
            <a:off x="4231807" y="3847864"/>
            <a:ext cx="82800" cy="12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362"/>
              <a:buFont typeface="Calibri"/>
              <a:buNone/>
            </a:pPr>
            <a:r>
              <a:rPr lang="en" sz="362" b="0" i="0" u="none" strike="noStrike" cap="none">
                <a:solidFill>
                  <a:srgbClr val="1A6080"/>
                </a:solidFill>
                <a:latin typeface="Calibri"/>
                <a:ea typeface="Calibri"/>
                <a:cs typeface="Calibri"/>
                <a:sym typeface="Calibri"/>
              </a:rPr>
              <a:t>▶</a:t>
            </a:r>
            <a:endParaRPr sz="362" b="0" i="0" u="none" strike="noStrike" cap="none">
              <a:solidFill>
                <a:schemeClr val="dk1"/>
              </a:solidFill>
              <a:latin typeface="Calibri"/>
              <a:ea typeface="Calibri"/>
              <a:cs typeface="Calibri"/>
              <a:sym typeface="Calibri"/>
            </a:endParaRPr>
          </a:p>
        </p:txBody>
      </p:sp>
      <p:sp>
        <p:nvSpPr>
          <p:cNvPr id="1476" name="Google Shape;1476;p31"/>
          <p:cNvSpPr/>
          <p:nvPr/>
        </p:nvSpPr>
        <p:spPr>
          <a:xfrm flipH="1">
            <a:off x="3900945" y="3661680"/>
            <a:ext cx="351600" cy="496500"/>
          </a:xfrm>
          <a:prstGeom prst="rect">
            <a:avLst/>
          </a:prstGeom>
          <a:solidFill>
            <a:srgbClr val="B0EAF8"/>
          </a:solidFill>
          <a:ln>
            <a:noFill/>
          </a:ln>
          <a:effectLst>
            <a:outerShdw blurRad="45971" dist="17239" dir="8100000" algn="bl" rotWithShape="0">
              <a:srgbClr val="000000">
                <a:alpha val="14902"/>
              </a:srgbClr>
            </a:outerShdw>
          </a:effectLst>
        </p:spPr>
        <p:txBody>
          <a:bodyPr spcFirstLastPara="1" wrap="square" lIns="41375" tIns="41375" rIns="41375" bIns="413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7" name="Google Shape;1477;p31"/>
          <p:cNvSpPr/>
          <p:nvPr/>
        </p:nvSpPr>
        <p:spPr>
          <a:xfrm flipH="1">
            <a:off x="3900945" y="3661680"/>
            <a:ext cx="351600" cy="496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452"/>
              <a:buFont typeface="Calibri"/>
              <a:buNone/>
            </a:pPr>
            <a:r>
              <a:rPr lang="en" sz="452" b="1" i="0" u="none" strike="noStrike" cap="none">
                <a:solidFill>
                  <a:srgbClr val="1A2E42"/>
                </a:solidFill>
                <a:latin typeface="Calibri"/>
                <a:ea typeface="Calibri"/>
                <a:cs typeface="Calibri"/>
                <a:sym typeface="Calibri"/>
              </a:rPr>
              <a:t>Pooling</a:t>
            </a:r>
            <a:endParaRPr sz="452"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2E42"/>
              </a:buClr>
              <a:buSzPts val="452"/>
              <a:buFont typeface="Calibri"/>
              <a:buNone/>
            </a:pPr>
            <a:r>
              <a:rPr lang="en" sz="452" b="1" i="0" u="none" strike="noStrike" cap="none">
                <a:solidFill>
                  <a:srgbClr val="1A2E42"/>
                </a:solidFill>
                <a:latin typeface="Calibri"/>
                <a:ea typeface="Calibri"/>
                <a:cs typeface="Calibri"/>
                <a:sym typeface="Calibri"/>
              </a:rPr>
              <a:t>Layer</a:t>
            </a:r>
            <a:endParaRPr sz="452" b="0" i="0" u="none" strike="noStrike" cap="none">
              <a:solidFill>
                <a:schemeClr val="dk1"/>
              </a:solidFill>
              <a:latin typeface="Calibri"/>
              <a:ea typeface="Calibri"/>
              <a:cs typeface="Calibri"/>
              <a:sym typeface="Calibri"/>
            </a:endParaRPr>
          </a:p>
        </p:txBody>
      </p:sp>
      <p:sp>
        <p:nvSpPr>
          <p:cNvPr id="1478" name="Google Shape;1478;p31"/>
          <p:cNvSpPr/>
          <p:nvPr/>
        </p:nvSpPr>
        <p:spPr>
          <a:xfrm flipH="1">
            <a:off x="3826463" y="3893375"/>
            <a:ext cx="74400" cy="33000"/>
          </a:xfrm>
          <a:prstGeom prst="rect">
            <a:avLst/>
          </a:prstGeom>
          <a:solidFill>
            <a:srgbClr val="1A6080"/>
          </a:solidFill>
          <a:ln>
            <a:noFill/>
          </a:ln>
        </p:spPr>
        <p:txBody>
          <a:bodyPr spcFirstLastPara="1" wrap="square" lIns="41375" tIns="41375" rIns="41375" bIns="413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9" name="Google Shape;1479;p31"/>
          <p:cNvSpPr/>
          <p:nvPr/>
        </p:nvSpPr>
        <p:spPr>
          <a:xfrm flipH="1">
            <a:off x="3805651" y="3847864"/>
            <a:ext cx="82800" cy="12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362"/>
              <a:buFont typeface="Calibri"/>
              <a:buNone/>
            </a:pPr>
            <a:r>
              <a:rPr lang="en" sz="362" b="0" i="0" u="none" strike="noStrike" cap="none">
                <a:solidFill>
                  <a:srgbClr val="1A6080"/>
                </a:solidFill>
                <a:latin typeface="Calibri"/>
                <a:ea typeface="Calibri"/>
                <a:cs typeface="Calibri"/>
                <a:sym typeface="Calibri"/>
              </a:rPr>
              <a:t>▶</a:t>
            </a:r>
            <a:endParaRPr sz="362" b="0" i="0" u="none" strike="noStrike" cap="none">
              <a:solidFill>
                <a:schemeClr val="dk1"/>
              </a:solidFill>
              <a:latin typeface="Calibri"/>
              <a:ea typeface="Calibri"/>
              <a:cs typeface="Calibri"/>
              <a:sym typeface="Calibri"/>
            </a:endParaRPr>
          </a:p>
        </p:txBody>
      </p:sp>
      <p:sp>
        <p:nvSpPr>
          <p:cNvPr id="1480" name="Google Shape;1480;p31"/>
          <p:cNvSpPr/>
          <p:nvPr/>
        </p:nvSpPr>
        <p:spPr>
          <a:xfrm flipH="1">
            <a:off x="3516189" y="3661680"/>
            <a:ext cx="310200" cy="496500"/>
          </a:xfrm>
          <a:prstGeom prst="rect">
            <a:avLst/>
          </a:prstGeom>
          <a:solidFill>
            <a:srgbClr val="B8E8F8"/>
          </a:solidFill>
          <a:ln>
            <a:noFill/>
          </a:ln>
          <a:effectLst>
            <a:outerShdw blurRad="45971" dist="17239" dir="8100000" algn="bl" rotWithShape="0">
              <a:srgbClr val="000000">
                <a:alpha val="14902"/>
              </a:srgbClr>
            </a:outerShdw>
          </a:effectLst>
        </p:spPr>
        <p:txBody>
          <a:bodyPr spcFirstLastPara="1" wrap="square" lIns="41375" tIns="41375" rIns="41375" bIns="413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1" name="Google Shape;1481;p31"/>
          <p:cNvSpPr/>
          <p:nvPr/>
        </p:nvSpPr>
        <p:spPr>
          <a:xfrm flipH="1">
            <a:off x="3516189" y="3661680"/>
            <a:ext cx="310200" cy="496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452"/>
              <a:buFont typeface="Calibri"/>
              <a:buNone/>
            </a:pPr>
            <a:r>
              <a:rPr lang="en" sz="452" b="1" i="0" u="none" strike="noStrike" cap="none">
                <a:solidFill>
                  <a:srgbClr val="1A2E42"/>
                </a:solidFill>
                <a:latin typeface="Calibri"/>
                <a:ea typeface="Calibri"/>
                <a:cs typeface="Calibri"/>
                <a:sym typeface="Calibri"/>
              </a:rPr>
              <a:t>ReLU</a:t>
            </a:r>
            <a:endParaRPr sz="452"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2E42"/>
              </a:buClr>
              <a:buSzPts val="452"/>
              <a:buFont typeface="Calibri"/>
              <a:buNone/>
            </a:pPr>
            <a:r>
              <a:rPr lang="en" sz="452" b="1" i="0" u="none" strike="noStrike" cap="none">
                <a:solidFill>
                  <a:srgbClr val="1A2E42"/>
                </a:solidFill>
                <a:latin typeface="Calibri"/>
                <a:ea typeface="Calibri"/>
                <a:cs typeface="Calibri"/>
                <a:sym typeface="Calibri"/>
              </a:rPr>
              <a:t>Activ.</a:t>
            </a:r>
            <a:endParaRPr sz="452" b="0" i="0" u="none" strike="noStrike" cap="none">
              <a:solidFill>
                <a:schemeClr val="dk1"/>
              </a:solidFill>
              <a:latin typeface="Calibri"/>
              <a:ea typeface="Calibri"/>
              <a:cs typeface="Calibri"/>
              <a:sym typeface="Calibri"/>
            </a:endParaRPr>
          </a:p>
        </p:txBody>
      </p:sp>
      <p:sp>
        <p:nvSpPr>
          <p:cNvPr id="1482" name="Google Shape;1482;p31"/>
          <p:cNvSpPr/>
          <p:nvPr/>
        </p:nvSpPr>
        <p:spPr>
          <a:xfrm flipH="1">
            <a:off x="3441681" y="3893375"/>
            <a:ext cx="74400" cy="33000"/>
          </a:xfrm>
          <a:prstGeom prst="rect">
            <a:avLst/>
          </a:prstGeom>
          <a:solidFill>
            <a:srgbClr val="1A6080"/>
          </a:solidFill>
          <a:ln>
            <a:noFill/>
          </a:ln>
        </p:spPr>
        <p:txBody>
          <a:bodyPr spcFirstLastPara="1" wrap="square" lIns="41375" tIns="41375" rIns="41375" bIns="413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3" name="Google Shape;1483;p31"/>
          <p:cNvSpPr/>
          <p:nvPr/>
        </p:nvSpPr>
        <p:spPr>
          <a:xfrm flipH="1">
            <a:off x="3420869" y="3847864"/>
            <a:ext cx="82800" cy="12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362"/>
              <a:buFont typeface="Calibri"/>
              <a:buNone/>
            </a:pPr>
            <a:r>
              <a:rPr lang="en" sz="362" b="0" i="0" u="none" strike="noStrike" cap="none">
                <a:solidFill>
                  <a:srgbClr val="1A6080"/>
                </a:solidFill>
                <a:latin typeface="Calibri"/>
                <a:ea typeface="Calibri"/>
                <a:cs typeface="Calibri"/>
                <a:sym typeface="Calibri"/>
              </a:rPr>
              <a:t>▶</a:t>
            </a:r>
            <a:endParaRPr sz="362" b="0" i="0" u="none" strike="noStrike" cap="none">
              <a:solidFill>
                <a:schemeClr val="dk1"/>
              </a:solidFill>
              <a:latin typeface="Calibri"/>
              <a:ea typeface="Calibri"/>
              <a:cs typeface="Calibri"/>
              <a:sym typeface="Calibri"/>
            </a:endParaRPr>
          </a:p>
        </p:txBody>
      </p:sp>
      <p:sp>
        <p:nvSpPr>
          <p:cNvPr id="1484" name="Google Shape;1484;p31"/>
          <p:cNvSpPr/>
          <p:nvPr/>
        </p:nvSpPr>
        <p:spPr>
          <a:xfrm flipH="1">
            <a:off x="3090007" y="3661680"/>
            <a:ext cx="351600" cy="496500"/>
          </a:xfrm>
          <a:prstGeom prst="rect">
            <a:avLst/>
          </a:prstGeom>
          <a:solidFill>
            <a:srgbClr val="C5E9F5"/>
          </a:solidFill>
          <a:ln>
            <a:noFill/>
          </a:ln>
          <a:effectLst>
            <a:outerShdw blurRad="45971" dist="17239" dir="8100000" algn="bl" rotWithShape="0">
              <a:srgbClr val="000000">
                <a:alpha val="14902"/>
              </a:srgbClr>
            </a:outerShdw>
          </a:effectLst>
        </p:spPr>
        <p:txBody>
          <a:bodyPr spcFirstLastPara="1" wrap="square" lIns="41375" tIns="41375" rIns="41375" bIns="413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5" name="Google Shape;1485;p31"/>
          <p:cNvSpPr/>
          <p:nvPr/>
        </p:nvSpPr>
        <p:spPr>
          <a:xfrm flipH="1">
            <a:off x="3015525" y="3893375"/>
            <a:ext cx="74400" cy="33000"/>
          </a:xfrm>
          <a:prstGeom prst="rect">
            <a:avLst/>
          </a:prstGeom>
          <a:solidFill>
            <a:srgbClr val="1A6080"/>
          </a:solidFill>
          <a:ln>
            <a:noFill/>
          </a:ln>
        </p:spPr>
        <p:txBody>
          <a:bodyPr spcFirstLastPara="1" wrap="square" lIns="41375" tIns="41375" rIns="41375" bIns="413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6" name="Google Shape;1486;p31"/>
          <p:cNvSpPr/>
          <p:nvPr/>
        </p:nvSpPr>
        <p:spPr>
          <a:xfrm flipH="1">
            <a:off x="3090007" y="3661680"/>
            <a:ext cx="351600" cy="496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452"/>
              <a:buFont typeface="Calibri"/>
              <a:buNone/>
            </a:pPr>
            <a:r>
              <a:rPr lang="en" sz="452" b="1" i="0" u="none" strike="noStrike" cap="none">
                <a:solidFill>
                  <a:srgbClr val="1A2E42"/>
                </a:solidFill>
                <a:latin typeface="Calibri"/>
                <a:ea typeface="Calibri"/>
                <a:cs typeface="Calibri"/>
                <a:sym typeface="Calibri"/>
              </a:rPr>
              <a:t>Conv</a:t>
            </a:r>
            <a:endParaRPr sz="452"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2E42"/>
              </a:buClr>
              <a:buSzPts val="452"/>
              <a:buFont typeface="Calibri"/>
              <a:buNone/>
            </a:pPr>
            <a:r>
              <a:rPr lang="en" sz="452" b="1" i="0" u="none" strike="noStrike" cap="none">
                <a:solidFill>
                  <a:srgbClr val="1A2E42"/>
                </a:solidFill>
                <a:latin typeface="Calibri"/>
                <a:ea typeface="Calibri"/>
                <a:cs typeface="Calibri"/>
                <a:sym typeface="Calibri"/>
              </a:rPr>
              <a:t>Layer</a:t>
            </a:r>
            <a:endParaRPr sz="452" b="0" i="0" u="none" strike="noStrike" cap="none">
              <a:solidFill>
                <a:schemeClr val="dk1"/>
              </a:solidFill>
              <a:latin typeface="Calibri"/>
              <a:ea typeface="Calibri"/>
              <a:cs typeface="Calibri"/>
              <a:sym typeface="Calibri"/>
            </a:endParaRPr>
          </a:p>
        </p:txBody>
      </p:sp>
      <p:sp>
        <p:nvSpPr>
          <p:cNvPr id="1487" name="Google Shape;1487;p31"/>
          <p:cNvSpPr/>
          <p:nvPr/>
        </p:nvSpPr>
        <p:spPr>
          <a:xfrm flipH="1">
            <a:off x="2994713" y="3847864"/>
            <a:ext cx="82800" cy="12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362"/>
              <a:buFont typeface="Calibri"/>
              <a:buNone/>
            </a:pPr>
            <a:r>
              <a:rPr lang="en" sz="362" b="0" i="0" u="none" strike="noStrike" cap="none">
                <a:solidFill>
                  <a:srgbClr val="1A6080"/>
                </a:solidFill>
                <a:latin typeface="Calibri"/>
                <a:ea typeface="Calibri"/>
                <a:cs typeface="Calibri"/>
                <a:sym typeface="Calibri"/>
              </a:rPr>
              <a:t>▶</a:t>
            </a:r>
            <a:endParaRPr sz="362" b="0" i="0" u="none" strike="noStrike" cap="none">
              <a:solidFill>
                <a:schemeClr val="dk1"/>
              </a:solidFill>
              <a:latin typeface="Calibri"/>
              <a:ea typeface="Calibri"/>
              <a:cs typeface="Calibri"/>
              <a:sym typeface="Calibri"/>
            </a:endParaRPr>
          </a:p>
        </p:txBody>
      </p:sp>
      <p:sp>
        <p:nvSpPr>
          <p:cNvPr id="1488" name="Google Shape;1488;p31"/>
          <p:cNvSpPr/>
          <p:nvPr/>
        </p:nvSpPr>
        <p:spPr>
          <a:xfrm flipH="1">
            <a:off x="2663851" y="3661680"/>
            <a:ext cx="351600" cy="496500"/>
          </a:xfrm>
          <a:prstGeom prst="rect">
            <a:avLst/>
          </a:prstGeom>
          <a:solidFill>
            <a:srgbClr val="B8D8F0"/>
          </a:solidFill>
          <a:ln>
            <a:noFill/>
          </a:ln>
          <a:effectLst>
            <a:outerShdw blurRad="45971" dist="17239" dir="8100000" algn="bl" rotWithShape="0">
              <a:srgbClr val="000000">
                <a:alpha val="14902"/>
              </a:srgbClr>
            </a:outerShdw>
          </a:effectLst>
        </p:spPr>
        <p:txBody>
          <a:bodyPr spcFirstLastPara="1" wrap="square" lIns="41375" tIns="41375" rIns="41375" bIns="413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9" name="Google Shape;1489;p31"/>
          <p:cNvSpPr/>
          <p:nvPr/>
        </p:nvSpPr>
        <p:spPr>
          <a:xfrm flipH="1">
            <a:off x="2663851" y="3661680"/>
            <a:ext cx="351600" cy="496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452"/>
              <a:buFont typeface="Calibri"/>
              <a:buNone/>
            </a:pPr>
            <a:r>
              <a:rPr lang="en" sz="452" b="1" i="0" u="none" strike="noStrike" cap="none">
                <a:solidFill>
                  <a:srgbClr val="1A2E42"/>
                </a:solidFill>
                <a:latin typeface="Calibri"/>
                <a:ea typeface="Calibri"/>
                <a:cs typeface="Calibri"/>
                <a:sym typeface="Calibri"/>
              </a:rPr>
              <a:t>Input</a:t>
            </a:r>
            <a:endParaRPr sz="452"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2E42"/>
              </a:buClr>
              <a:buSzPts val="452"/>
              <a:buFont typeface="Calibri"/>
              <a:buNone/>
            </a:pPr>
            <a:r>
              <a:rPr lang="en" sz="452" b="1" i="0" u="none" strike="noStrike" cap="none">
                <a:solidFill>
                  <a:srgbClr val="1A2E42"/>
                </a:solidFill>
                <a:latin typeface="Calibri"/>
                <a:ea typeface="Calibri"/>
                <a:cs typeface="Calibri"/>
                <a:sym typeface="Calibri"/>
              </a:rPr>
              <a:t>Image</a:t>
            </a:r>
            <a:endParaRPr sz="452" b="0" i="0" u="none" strike="noStrike" cap="none">
              <a:solidFill>
                <a:schemeClr val="dk1"/>
              </a:solidFill>
              <a:latin typeface="Calibri"/>
              <a:ea typeface="Calibri"/>
              <a:cs typeface="Calibri"/>
              <a:sym typeface="Calibri"/>
            </a:endParaRPr>
          </a:p>
        </p:txBody>
      </p:sp>
      <p:cxnSp>
        <p:nvCxnSpPr>
          <p:cNvPr id="1490" name="Google Shape;1490;p31"/>
          <p:cNvCxnSpPr/>
          <p:nvPr/>
        </p:nvCxnSpPr>
        <p:spPr>
          <a:xfrm>
            <a:off x="2839651" y="4158169"/>
            <a:ext cx="0" cy="124200"/>
          </a:xfrm>
          <a:prstGeom prst="straightConnector1">
            <a:avLst/>
          </a:prstGeom>
          <a:noFill/>
          <a:ln w="9525" cap="flat" cmpd="sng">
            <a:solidFill>
              <a:srgbClr val="1A6080"/>
            </a:solidFill>
            <a:prstDash val="dash"/>
            <a:round/>
            <a:headEnd type="none" w="sm" len="sm"/>
            <a:tailEnd type="none" w="sm" len="sm"/>
          </a:ln>
        </p:spPr>
      </p:cxnSp>
      <p:sp>
        <p:nvSpPr>
          <p:cNvPr id="1491" name="Google Shape;1491;p31"/>
          <p:cNvSpPr/>
          <p:nvPr/>
        </p:nvSpPr>
        <p:spPr>
          <a:xfrm>
            <a:off x="2639651" y="4302978"/>
            <a:ext cx="400000" cy="22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430"/>
              <a:buFont typeface="Calibri"/>
              <a:buNone/>
            </a:pPr>
            <a:r>
              <a:rPr lang="en" sz="430" b="0" i="0" u="none" strike="noStrike" cap="none">
                <a:solidFill>
                  <a:srgbClr val="1A6080"/>
                </a:solidFill>
                <a:latin typeface="Calibri"/>
                <a:ea typeface="Calibri"/>
                <a:cs typeface="Calibri"/>
                <a:sym typeface="Calibri"/>
              </a:rPr>
              <a:t>Raw pixels</a:t>
            </a:r>
            <a:endParaRPr sz="43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430"/>
              <a:buFont typeface="Calibri"/>
              <a:buNone/>
            </a:pPr>
            <a:r>
              <a:rPr lang="en" sz="430" b="0" i="0" u="none" strike="noStrike" cap="none">
                <a:solidFill>
                  <a:srgbClr val="1A6080"/>
                </a:solidFill>
                <a:latin typeface="Calibri"/>
                <a:ea typeface="Calibri"/>
                <a:cs typeface="Calibri"/>
                <a:sym typeface="Calibri"/>
              </a:rPr>
              <a:t>224×224×3</a:t>
            </a:r>
            <a:endParaRPr sz="430" b="0" i="0" u="none" strike="noStrike" cap="none">
              <a:solidFill>
                <a:schemeClr val="dk1"/>
              </a:solidFill>
              <a:latin typeface="Calibri"/>
              <a:ea typeface="Calibri"/>
              <a:cs typeface="Calibri"/>
              <a:sym typeface="Calibri"/>
            </a:endParaRPr>
          </a:p>
        </p:txBody>
      </p:sp>
      <p:cxnSp>
        <p:nvCxnSpPr>
          <p:cNvPr id="1492" name="Google Shape;1492;p31"/>
          <p:cNvCxnSpPr/>
          <p:nvPr/>
        </p:nvCxnSpPr>
        <p:spPr>
          <a:xfrm>
            <a:off x="3265807" y="4158169"/>
            <a:ext cx="0" cy="124200"/>
          </a:xfrm>
          <a:prstGeom prst="straightConnector1">
            <a:avLst/>
          </a:prstGeom>
          <a:noFill/>
          <a:ln w="9525" cap="flat" cmpd="sng">
            <a:solidFill>
              <a:srgbClr val="1A6080"/>
            </a:solidFill>
            <a:prstDash val="dash"/>
            <a:round/>
            <a:headEnd type="none" w="sm" len="sm"/>
            <a:tailEnd type="none" w="sm" len="sm"/>
          </a:ln>
        </p:spPr>
      </p:cxnSp>
      <p:sp>
        <p:nvSpPr>
          <p:cNvPr id="1493" name="Google Shape;1493;p31"/>
          <p:cNvSpPr/>
          <p:nvPr/>
        </p:nvSpPr>
        <p:spPr>
          <a:xfrm>
            <a:off x="3065807" y="4302978"/>
            <a:ext cx="400000" cy="22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430"/>
              <a:buFont typeface="Calibri"/>
              <a:buNone/>
            </a:pPr>
            <a:r>
              <a:rPr lang="en" sz="430" b="0" i="0" u="none" strike="noStrike" cap="none">
                <a:solidFill>
                  <a:srgbClr val="1A6080"/>
                </a:solidFill>
                <a:latin typeface="Calibri"/>
                <a:ea typeface="Calibri"/>
                <a:cs typeface="Calibri"/>
                <a:sym typeface="Calibri"/>
              </a:rPr>
              <a:t>Detects local</a:t>
            </a:r>
            <a:endParaRPr sz="43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430"/>
              <a:buFont typeface="Calibri"/>
              <a:buNone/>
            </a:pPr>
            <a:r>
              <a:rPr lang="en" sz="430" b="0" i="0" u="none" strike="noStrike" cap="none">
                <a:solidFill>
                  <a:srgbClr val="1A6080"/>
                </a:solidFill>
                <a:latin typeface="Calibri"/>
                <a:ea typeface="Calibri"/>
                <a:cs typeface="Calibri"/>
                <a:sym typeface="Calibri"/>
              </a:rPr>
              <a:t>features</a:t>
            </a:r>
            <a:endParaRPr sz="430" b="0" i="0" u="none" strike="noStrike" cap="none">
              <a:solidFill>
                <a:schemeClr val="dk1"/>
              </a:solidFill>
              <a:latin typeface="Calibri"/>
              <a:ea typeface="Calibri"/>
              <a:cs typeface="Calibri"/>
              <a:sym typeface="Calibri"/>
            </a:endParaRPr>
          </a:p>
        </p:txBody>
      </p:sp>
      <p:cxnSp>
        <p:nvCxnSpPr>
          <p:cNvPr id="1494" name="Google Shape;1494;p31"/>
          <p:cNvCxnSpPr/>
          <p:nvPr/>
        </p:nvCxnSpPr>
        <p:spPr>
          <a:xfrm>
            <a:off x="3671289" y="4158169"/>
            <a:ext cx="0" cy="124200"/>
          </a:xfrm>
          <a:prstGeom prst="straightConnector1">
            <a:avLst/>
          </a:prstGeom>
          <a:noFill/>
          <a:ln w="9525" cap="flat" cmpd="sng">
            <a:solidFill>
              <a:srgbClr val="1A6080"/>
            </a:solidFill>
            <a:prstDash val="dash"/>
            <a:round/>
            <a:headEnd type="none" w="sm" len="sm"/>
            <a:tailEnd type="none" w="sm" len="sm"/>
          </a:ln>
        </p:spPr>
      </p:cxnSp>
      <p:sp>
        <p:nvSpPr>
          <p:cNvPr id="1495" name="Google Shape;1495;p31"/>
          <p:cNvSpPr/>
          <p:nvPr/>
        </p:nvSpPr>
        <p:spPr>
          <a:xfrm>
            <a:off x="3471289" y="4302978"/>
            <a:ext cx="400000" cy="22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430"/>
              <a:buFont typeface="Calibri"/>
              <a:buNone/>
            </a:pPr>
            <a:r>
              <a:rPr lang="en" sz="430" b="0" i="0" u="none" strike="noStrike" cap="none">
                <a:solidFill>
                  <a:srgbClr val="1A6080"/>
                </a:solidFill>
                <a:latin typeface="Calibri"/>
                <a:ea typeface="Calibri"/>
                <a:cs typeface="Calibri"/>
                <a:sym typeface="Calibri"/>
              </a:rPr>
              <a:t>Adds non-</a:t>
            </a:r>
            <a:endParaRPr sz="43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430"/>
              <a:buFont typeface="Calibri"/>
              <a:buNone/>
            </a:pPr>
            <a:r>
              <a:rPr lang="en" sz="430" b="0" i="0" u="none" strike="noStrike" cap="none">
                <a:solidFill>
                  <a:srgbClr val="1A6080"/>
                </a:solidFill>
                <a:latin typeface="Calibri"/>
                <a:ea typeface="Calibri"/>
                <a:cs typeface="Calibri"/>
                <a:sym typeface="Calibri"/>
              </a:rPr>
              <a:t>linearity</a:t>
            </a:r>
            <a:endParaRPr sz="430" b="0" i="0" u="none" strike="noStrike" cap="none">
              <a:solidFill>
                <a:schemeClr val="dk1"/>
              </a:solidFill>
              <a:latin typeface="Calibri"/>
              <a:ea typeface="Calibri"/>
              <a:cs typeface="Calibri"/>
              <a:sym typeface="Calibri"/>
            </a:endParaRPr>
          </a:p>
        </p:txBody>
      </p:sp>
      <p:cxnSp>
        <p:nvCxnSpPr>
          <p:cNvPr id="1496" name="Google Shape;1496;p31"/>
          <p:cNvCxnSpPr/>
          <p:nvPr/>
        </p:nvCxnSpPr>
        <p:spPr>
          <a:xfrm>
            <a:off x="4076745" y="4158169"/>
            <a:ext cx="0" cy="124200"/>
          </a:xfrm>
          <a:prstGeom prst="straightConnector1">
            <a:avLst/>
          </a:prstGeom>
          <a:noFill/>
          <a:ln w="9525" cap="flat" cmpd="sng">
            <a:solidFill>
              <a:srgbClr val="1A6080"/>
            </a:solidFill>
            <a:prstDash val="dash"/>
            <a:round/>
            <a:headEnd type="none" w="sm" len="sm"/>
            <a:tailEnd type="none" w="sm" len="sm"/>
          </a:ln>
        </p:spPr>
      </p:cxnSp>
      <p:sp>
        <p:nvSpPr>
          <p:cNvPr id="1497" name="Google Shape;1497;p31"/>
          <p:cNvSpPr/>
          <p:nvPr/>
        </p:nvSpPr>
        <p:spPr>
          <a:xfrm>
            <a:off x="3876745" y="4302978"/>
            <a:ext cx="400000" cy="22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430"/>
              <a:buFont typeface="Calibri"/>
              <a:buNone/>
            </a:pPr>
            <a:r>
              <a:rPr lang="en" sz="430" b="0" i="0" u="none" strike="noStrike" cap="none">
                <a:solidFill>
                  <a:srgbClr val="1A6080"/>
                </a:solidFill>
                <a:latin typeface="Calibri"/>
                <a:ea typeface="Calibri"/>
                <a:cs typeface="Calibri"/>
                <a:sym typeface="Calibri"/>
              </a:rPr>
              <a:t>Downsamples</a:t>
            </a:r>
            <a:endParaRPr sz="43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430"/>
              <a:buFont typeface="Calibri"/>
              <a:buNone/>
            </a:pPr>
            <a:r>
              <a:rPr lang="en" sz="430" b="0" i="0" u="none" strike="noStrike" cap="none">
                <a:solidFill>
                  <a:srgbClr val="1A6080"/>
                </a:solidFill>
                <a:latin typeface="Calibri"/>
                <a:ea typeface="Calibri"/>
                <a:cs typeface="Calibri"/>
                <a:sym typeface="Calibri"/>
              </a:rPr>
              <a:t>feature maps</a:t>
            </a:r>
            <a:endParaRPr sz="430" b="0" i="0" u="none" strike="noStrike" cap="none">
              <a:solidFill>
                <a:schemeClr val="dk1"/>
              </a:solidFill>
              <a:latin typeface="Calibri"/>
              <a:ea typeface="Calibri"/>
              <a:cs typeface="Calibri"/>
              <a:sym typeface="Calibri"/>
            </a:endParaRPr>
          </a:p>
        </p:txBody>
      </p:sp>
      <p:cxnSp>
        <p:nvCxnSpPr>
          <p:cNvPr id="1498" name="Google Shape;1498;p31"/>
          <p:cNvCxnSpPr/>
          <p:nvPr/>
        </p:nvCxnSpPr>
        <p:spPr>
          <a:xfrm>
            <a:off x="4502902" y="4158169"/>
            <a:ext cx="0" cy="124200"/>
          </a:xfrm>
          <a:prstGeom prst="straightConnector1">
            <a:avLst/>
          </a:prstGeom>
          <a:noFill/>
          <a:ln w="9525" cap="flat" cmpd="sng">
            <a:solidFill>
              <a:srgbClr val="1A6080"/>
            </a:solidFill>
            <a:prstDash val="dash"/>
            <a:round/>
            <a:headEnd type="none" w="sm" len="sm"/>
            <a:tailEnd type="none" w="sm" len="sm"/>
          </a:ln>
        </p:spPr>
      </p:cxnSp>
      <p:sp>
        <p:nvSpPr>
          <p:cNvPr id="1499" name="Google Shape;1499;p31"/>
          <p:cNvSpPr/>
          <p:nvPr/>
        </p:nvSpPr>
        <p:spPr>
          <a:xfrm>
            <a:off x="4302902" y="4302978"/>
            <a:ext cx="400000" cy="22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430"/>
              <a:buFont typeface="Calibri"/>
              <a:buNone/>
            </a:pPr>
            <a:r>
              <a:rPr lang="en" sz="430" b="0" i="0" u="none" strike="noStrike" cap="none">
                <a:solidFill>
                  <a:srgbClr val="1A6080"/>
                </a:solidFill>
                <a:latin typeface="Calibri"/>
                <a:ea typeface="Calibri"/>
                <a:cs typeface="Calibri"/>
                <a:sym typeface="Calibri"/>
              </a:rPr>
              <a:t>Learns deeper</a:t>
            </a:r>
            <a:endParaRPr sz="43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430"/>
              <a:buFont typeface="Calibri"/>
              <a:buNone/>
            </a:pPr>
            <a:r>
              <a:rPr lang="en" sz="430" b="0" i="0" u="none" strike="noStrike" cap="none">
                <a:solidFill>
                  <a:srgbClr val="1A6080"/>
                </a:solidFill>
                <a:latin typeface="Calibri"/>
                <a:ea typeface="Calibri"/>
                <a:cs typeface="Calibri"/>
                <a:sym typeface="Calibri"/>
              </a:rPr>
              <a:t>features</a:t>
            </a:r>
            <a:endParaRPr sz="430" b="0" i="0" u="none" strike="noStrike" cap="none">
              <a:solidFill>
                <a:schemeClr val="dk1"/>
              </a:solidFill>
              <a:latin typeface="Calibri"/>
              <a:ea typeface="Calibri"/>
              <a:cs typeface="Calibri"/>
              <a:sym typeface="Calibri"/>
            </a:endParaRPr>
          </a:p>
        </p:txBody>
      </p:sp>
      <p:cxnSp>
        <p:nvCxnSpPr>
          <p:cNvPr id="1500" name="Google Shape;1500;p31"/>
          <p:cNvCxnSpPr/>
          <p:nvPr/>
        </p:nvCxnSpPr>
        <p:spPr>
          <a:xfrm>
            <a:off x="4929058" y="4158169"/>
            <a:ext cx="0" cy="124200"/>
          </a:xfrm>
          <a:prstGeom prst="straightConnector1">
            <a:avLst/>
          </a:prstGeom>
          <a:noFill/>
          <a:ln w="9525" cap="flat" cmpd="sng">
            <a:solidFill>
              <a:srgbClr val="1A6080"/>
            </a:solidFill>
            <a:prstDash val="dash"/>
            <a:round/>
            <a:headEnd type="none" w="sm" len="sm"/>
            <a:tailEnd type="none" w="sm" len="sm"/>
          </a:ln>
        </p:spPr>
      </p:cxnSp>
      <p:sp>
        <p:nvSpPr>
          <p:cNvPr id="1501" name="Google Shape;1501;p31"/>
          <p:cNvSpPr/>
          <p:nvPr/>
        </p:nvSpPr>
        <p:spPr>
          <a:xfrm>
            <a:off x="4729058" y="4302978"/>
            <a:ext cx="400000" cy="22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430"/>
              <a:buFont typeface="Calibri"/>
              <a:buNone/>
            </a:pPr>
            <a:r>
              <a:rPr lang="en" sz="430" b="0" i="0" u="none" strike="noStrike" cap="none">
                <a:solidFill>
                  <a:srgbClr val="1A6080"/>
                </a:solidFill>
                <a:latin typeface="Calibri"/>
                <a:ea typeface="Calibri"/>
                <a:cs typeface="Calibri"/>
                <a:sym typeface="Calibri"/>
              </a:rPr>
              <a:t>Reshapes to</a:t>
            </a:r>
            <a:endParaRPr sz="43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430"/>
              <a:buFont typeface="Calibri"/>
              <a:buNone/>
            </a:pPr>
            <a:r>
              <a:rPr lang="en" sz="430" b="0" i="0" u="none" strike="noStrike" cap="none">
                <a:solidFill>
                  <a:srgbClr val="1A6080"/>
                </a:solidFill>
                <a:latin typeface="Calibri"/>
                <a:ea typeface="Calibri"/>
                <a:cs typeface="Calibri"/>
                <a:sym typeface="Calibri"/>
              </a:rPr>
              <a:t>1D vector</a:t>
            </a:r>
            <a:endParaRPr sz="430" b="0" i="0" u="none" strike="noStrike" cap="none">
              <a:solidFill>
                <a:schemeClr val="dk1"/>
              </a:solidFill>
              <a:latin typeface="Calibri"/>
              <a:ea typeface="Calibri"/>
              <a:cs typeface="Calibri"/>
              <a:sym typeface="Calibri"/>
            </a:endParaRPr>
          </a:p>
        </p:txBody>
      </p:sp>
      <p:cxnSp>
        <p:nvCxnSpPr>
          <p:cNvPr id="1502" name="Google Shape;1502;p31"/>
          <p:cNvCxnSpPr/>
          <p:nvPr/>
        </p:nvCxnSpPr>
        <p:spPr>
          <a:xfrm>
            <a:off x="5355214" y="4158169"/>
            <a:ext cx="0" cy="124200"/>
          </a:xfrm>
          <a:prstGeom prst="straightConnector1">
            <a:avLst/>
          </a:prstGeom>
          <a:noFill/>
          <a:ln w="9525" cap="flat" cmpd="sng">
            <a:solidFill>
              <a:srgbClr val="1A6080"/>
            </a:solidFill>
            <a:prstDash val="dash"/>
            <a:round/>
            <a:headEnd type="none" w="sm" len="sm"/>
            <a:tailEnd type="none" w="sm" len="sm"/>
          </a:ln>
        </p:spPr>
      </p:cxnSp>
      <p:sp>
        <p:nvSpPr>
          <p:cNvPr id="1503" name="Google Shape;1503;p31"/>
          <p:cNvSpPr/>
          <p:nvPr/>
        </p:nvSpPr>
        <p:spPr>
          <a:xfrm>
            <a:off x="5155214" y="4302978"/>
            <a:ext cx="400000" cy="22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430"/>
              <a:buFont typeface="Calibri"/>
              <a:buNone/>
            </a:pPr>
            <a:r>
              <a:rPr lang="en" sz="430" b="0" i="0" u="none" strike="noStrike" cap="none">
                <a:solidFill>
                  <a:srgbClr val="1A6080"/>
                </a:solidFill>
                <a:latin typeface="Calibri"/>
                <a:ea typeface="Calibri"/>
                <a:cs typeface="Calibri"/>
                <a:sym typeface="Calibri"/>
              </a:rPr>
              <a:t>Dense layer:</a:t>
            </a:r>
            <a:endParaRPr sz="43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430"/>
              <a:buFont typeface="Calibri"/>
              <a:buNone/>
            </a:pPr>
            <a:r>
              <a:rPr lang="en" sz="430" b="0" i="0" u="none" strike="noStrike" cap="none">
                <a:solidFill>
                  <a:srgbClr val="1A6080"/>
                </a:solidFill>
                <a:latin typeface="Calibri"/>
                <a:ea typeface="Calibri"/>
                <a:cs typeface="Calibri"/>
                <a:sym typeface="Calibri"/>
              </a:rPr>
              <a:t>classifies</a:t>
            </a:r>
            <a:endParaRPr sz="430" b="0" i="0" u="none" strike="noStrike" cap="none">
              <a:solidFill>
                <a:schemeClr val="dk1"/>
              </a:solidFill>
              <a:latin typeface="Calibri"/>
              <a:ea typeface="Calibri"/>
              <a:cs typeface="Calibri"/>
              <a:sym typeface="Calibri"/>
            </a:endParaRPr>
          </a:p>
        </p:txBody>
      </p:sp>
      <p:cxnSp>
        <p:nvCxnSpPr>
          <p:cNvPr id="1504" name="Google Shape;1504;p31"/>
          <p:cNvCxnSpPr/>
          <p:nvPr/>
        </p:nvCxnSpPr>
        <p:spPr>
          <a:xfrm>
            <a:off x="5781370" y="4158169"/>
            <a:ext cx="0" cy="124200"/>
          </a:xfrm>
          <a:prstGeom prst="straightConnector1">
            <a:avLst/>
          </a:prstGeom>
          <a:noFill/>
          <a:ln w="9525" cap="flat" cmpd="sng">
            <a:solidFill>
              <a:srgbClr val="1A6080"/>
            </a:solidFill>
            <a:prstDash val="dash"/>
            <a:round/>
            <a:headEnd type="none" w="sm" len="sm"/>
            <a:tailEnd type="none" w="sm" len="sm"/>
          </a:ln>
        </p:spPr>
      </p:cxnSp>
      <p:sp>
        <p:nvSpPr>
          <p:cNvPr id="1505" name="Google Shape;1505;p31"/>
          <p:cNvSpPr/>
          <p:nvPr/>
        </p:nvSpPr>
        <p:spPr>
          <a:xfrm>
            <a:off x="5581370" y="4302978"/>
            <a:ext cx="400000" cy="22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430"/>
              <a:buFont typeface="Calibri"/>
              <a:buNone/>
            </a:pPr>
            <a:r>
              <a:rPr lang="en" sz="430" b="0" i="0" u="none" strike="noStrike" cap="none">
                <a:solidFill>
                  <a:srgbClr val="1A6080"/>
                </a:solidFill>
                <a:latin typeface="Calibri"/>
                <a:ea typeface="Calibri"/>
                <a:cs typeface="Calibri"/>
                <a:sym typeface="Calibri"/>
              </a:rPr>
              <a:t>Outputs class</a:t>
            </a:r>
            <a:endParaRPr sz="43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A6080"/>
              </a:buClr>
              <a:buSzPts val="430"/>
              <a:buFont typeface="Calibri"/>
              <a:buNone/>
            </a:pPr>
            <a:r>
              <a:rPr lang="en" sz="430" b="0" i="0" u="none" strike="noStrike" cap="none">
                <a:solidFill>
                  <a:srgbClr val="1A6080"/>
                </a:solidFill>
                <a:latin typeface="Calibri"/>
                <a:ea typeface="Calibri"/>
                <a:cs typeface="Calibri"/>
                <a:sym typeface="Calibri"/>
              </a:rPr>
              <a:t>probabilities</a:t>
            </a:r>
            <a:endParaRPr sz="430" b="0" i="0" u="none" strike="noStrike" cap="none">
              <a:solidFill>
                <a:schemeClr val="dk1"/>
              </a:solidFill>
              <a:latin typeface="Calibri"/>
              <a:ea typeface="Calibri"/>
              <a:cs typeface="Calibri"/>
              <a:sym typeface="Calibri"/>
            </a:endParaRPr>
          </a:p>
        </p:txBody>
      </p:sp>
      <p:sp>
        <p:nvSpPr>
          <p:cNvPr id="1506" name="Google Shape;1506;p31"/>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48</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11"/>
        <p:cNvGrpSpPr/>
        <p:nvPr/>
      </p:nvGrpSpPr>
      <p:grpSpPr>
        <a:xfrm>
          <a:off x="0" y="0"/>
          <a:ext cx="0" cy="0"/>
          <a:chOff x="0" y="0"/>
          <a:chExt cx="0" cy="0"/>
        </a:xfrm>
      </p:grpSpPr>
      <p:sp>
        <p:nvSpPr>
          <p:cNvPr id="1512" name="Google Shape;1512;p32"/>
          <p:cNvSpPr/>
          <p:nvPr/>
        </p:nvSpPr>
        <p:spPr>
          <a:xfrm>
            <a:off x="5441476" y="3685032"/>
            <a:ext cx="1188600" cy="822900"/>
          </a:xfrm>
          <a:prstGeom prst="rect">
            <a:avLst/>
          </a:prstGeom>
          <a:solidFill>
            <a:srgbClr val="DCFCE7"/>
          </a:solidFill>
          <a:ln w="19050" cap="flat" cmpd="sng">
            <a:solidFill>
              <a:srgbClr val="22C55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3" name="Google Shape;1513;p32"/>
          <p:cNvSpPr/>
          <p:nvPr/>
        </p:nvSpPr>
        <p:spPr>
          <a:xfrm>
            <a:off x="5441476" y="3776472"/>
            <a:ext cx="1188600" cy="237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6534"/>
              </a:buClr>
              <a:buSzPts val="950"/>
              <a:buFont typeface="Calibri"/>
              <a:buNone/>
            </a:pPr>
            <a:r>
              <a:rPr lang="en" sz="950" b="1" i="0" u="none" strike="noStrike" cap="none">
                <a:solidFill>
                  <a:srgbClr val="166534"/>
                </a:solidFill>
                <a:latin typeface="Calibri"/>
                <a:ea typeface="Calibri"/>
                <a:cs typeface="Calibri"/>
                <a:sym typeface="Calibri"/>
              </a:rPr>
              <a:t>Output</a:t>
            </a:r>
            <a:endParaRPr sz="950" b="0" i="0" u="none" strike="noStrike" cap="none">
              <a:solidFill>
                <a:schemeClr val="dk1"/>
              </a:solidFill>
              <a:latin typeface="Calibri"/>
              <a:ea typeface="Calibri"/>
              <a:cs typeface="Calibri"/>
              <a:sym typeface="Calibri"/>
            </a:endParaRPr>
          </a:p>
        </p:txBody>
      </p:sp>
      <p:sp>
        <p:nvSpPr>
          <p:cNvPr id="1514" name="Google Shape;1514;p32"/>
          <p:cNvSpPr/>
          <p:nvPr/>
        </p:nvSpPr>
        <p:spPr>
          <a:xfrm>
            <a:off x="5487196" y="4014216"/>
            <a:ext cx="1097400" cy="329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6534"/>
              </a:buClr>
              <a:buSzPts val="800"/>
              <a:buFont typeface="Calibri"/>
              <a:buNone/>
            </a:pPr>
            <a:r>
              <a:rPr lang="en" sz="800" b="0" i="0" u="none" strike="noStrike" cap="none">
                <a:solidFill>
                  <a:srgbClr val="166534"/>
                </a:solidFill>
                <a:latin typeface="Calibri"/>
                <a:ea typeface="Calibri"/>
                <a:cs typeface="Calibri"/>
                <a:sym typeface="Calibri"/>
              </a:rPr>
              <a:t>10 class scores</a:t>
            </a:r>
            <a:endParaRPr sz="800" b="0" i="0" u="none" strike="noStrike" cap="none">
              <a:solidFill>
                <a:schemeClr val="dk1"/>
              </a:solidFill>
              <a:latin typeface="Calibri"/>
              <a:ea typeface="Calibri"/>
              <a:cs typeface="Calibri"/>
              <a:sym typeface="Calibri"/>
            </a:endParaRPr>
          </a:p>
        </p:txBody>
      </p:sp>
      <p:sp>
        <p:nvSpPr>
          <p:cNvPr id="1515" name="Google Shape;1515;p32"/>
          <p:cNvSpPr/>
          <p:nvPr/>
        </p:nvSpPr>
        <p:spPr>
          <a:xfrm>
            <a:off x="5496340" y="4270248"/>
            <a:ext cx="1079100" cy="183000"/>
          </a:xfrm>
          <a:prstGeom prst="rect">
            <a:avLst/>
          </a:prstGeom>
          <a:solidFill>
            <a:srgbClr val="22C55E">
              <a:alpha val="21961"/>
            </a:srgbClr>
          </a:solidFill>
          <a:ln w="12700" cap="flat" cmpd="sng">
            <a:solidFill>
              <a:srgbClr val="22C55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6" name="Google Shape;1516;p32"/>
          <p:cNvSpPr/>
          <p:nvPr/>
        </p:nvSpPr>
        <p:spPr>
          <a:xfrm>
            <a:off x="5496340" y="4270248"/>
            <a:ext cx="10791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6534"/>
              </a:buClr>
              <a:buSzPts val="750"/>
              <a:buFont typeface="Calibri"/>
              <a:buNone/>
            </a:pPr>
            <a:r>
              <a:rPr lang="en" sz="750" b="1" i="0" u="none" strike="noStrike" cap="none">
                <a:solidFill>
                  <a:srgbClr val="166534"/>
                </a:solidFill>
                <a:latin typeface="Calibri"/>
                <a:ea typeface="Calibri"/>
                <a:cs typeface="Calibri"/>
                <a:sym typeface="Calibri"/>
              </a:rPr>
              <a:t>logits</a:t>
            </a:r>
            <a:endParaRPr sz="750" b="0" i="0" u="none" strike="noStrike" cap="none">
              <a:solidFill>
                <a:schemeClr val="dk1"/>
              </a:solidFill>
              <a:latin typeface="Calibri"/>
              <a:ea typeface="Calibri"/>
              <a:cs typeface="Calibri"/>
              <a:sym typeface="Calibri"/>
            </a:endParaRPr>
          </a:p>
        </p:txBody>
      </p:sp>
      <p:sp>
        <p:nvSpPr>
          <p:cNvPr id="1517" name="Google Shape;1517;p32"/>
          <p:cNvSpPr/>
          <p:nvPr/>
        </p:nvSpPr>
        <p:spPr>
          <a:xfrm>
            <a:off x="274320" y="91440"/>
            <a:ext cx="8595300" cy="384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2200"/>
              <a:buFont typeface="Calibri"/>
              <a:buNone/>
            </a:pPr>
            <a:r>
              <a:rPr lang="en" sz="2200" b="1" i="0" u="none" strike="noStrike" cap="none">
                <a:solidFill>
                  <a:srgbClr val="1E293B"/>
                </a:solidFill>
                <a:latin typeface="Calibri"/>
                <a:ea typeface="Calibri"/>
                <a:cs typeface="Calibri"/>
                <a:sym typeface="Calibri"/>
              </a:rPr>
              <a:t>SimpleCNN — Forward Pass</a:t>
            </a:r>
            <a:endParaRPr sz="2200" b="0" i="0" u="none" strike="noStrike" cap="none">
              <a:solidFill>
                <a:schemeClr val="dk1"/>
              </a:solidFill>
              <a:latin typeface="Calibri"/>
              <a:ea typeface="Calibri"/>
              <a:cs typeface="Calibri"/>
              <a:sym typeface="Calibri"/>
            </a:endParaRPr>
          </a:p>
        </p:txBody>
      </p:sp>
      <p:sp>
        <p:nvSpPr>
          <p:cNvPr id="1518" name="Google Shape;1518;p32"/>
          <p:cNvSpPr/>
          <p:nvPr/>
        </p:nvSpPr>
        <p:spPr>
          <a:xfrm>
            <a:off x="6289480" y="566928"/>
            <a:ext cx="2834700" cy="4160400"/>
          </a:xfrm>
          <a:prstGeom prst="rect">
            <a:avLst/>
          </a:prstGeom>
          <a:solidFill>
            <a:srgbClr val="1E293B"/>
          </a:solidFill>
          <a:ln w="12700" cap="flat" cmpd="sng">
            <a:solidFill>
              <a:srgbClr val="33415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9" name="Google Shape;1519;p32"/>
          <p:cNvSpPr/>
          <p:nvPr/>
        </p:nvSpPr>
        <p:spPr>
          <a:xfrm>
            <a:off x="6327648" y="658368"/>
            <a:ext cx="26151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8BDF8"/>
              </a:buClr>
              <a:buSzPts val="900"/>
              <a:buFont typeface="Consolas"/>
              <a:buNone/>
            </a:pPr>
            <a:r>
              <a:rPr lang="en" sz="900" b="1" i="0" u="none" strike="noStrike" cap="none">
                <a:solidFill>
                  <a:srgbClr val="38BDF8"/>
                </a:solidFill>
                <a:latin typeface="Consolas"/>
                <a:ea typeface="Consolas"/>
                <a:cs typeface="Consolas"/>
                <a:sym typeface="Consolas"/>
              </a:rPr>
              <a:t>forward(self, x)</a:t>
            </a:r>
            <a:endParaRPr sz="900" b="0" i="0" u="none" strike="noStrike" cap="none">
              <a:solidFill>
                <a:schemeClr val="dk1"/>
              </a:solidFill>
              <a:latin typeface="Calibri"/>
              <a:ea typeface="Calibri"/>
              <a:cs typeface="Calibri"/>
              <a:sym typeface="Calibri"/>
            </a:endParaRPr>
          </a:p>
        </p:txBody>
      </p:sp>
      <p:sp>
        <p:nvSpPr>
          <p:cNvPr id="1520" name="Google Shape;1520;p32"/>
          <p:cNvSpPr/>
          <p:nvPr/>
        </p:nvSpPr>
        <p:spPr>
          <a:xfrm>
            <a:off x="6327648" y="932688"/>
            <a:ext cx="26151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800"/>
              <a:buFont typeface="Consolas"/>
              <a:buNone/>
            </a:pPr>
            <a:r>
              <a:rPr lang="en" sz="800" b="0" i="0" u="none" strike="noStrike" cap="none">
                <a:solidFill>
                  <a:srgbClr val="64748B"/>
                </a:solidFill>
                <a:latin typeface="Consolas"/>
                <a:ea typeface="Consolas"/>
                <a:cs typeface="Consolas"/>
                <a:sym typeface="Consolas"/>
              </a:rPr>
              <a:t># Block 1</a:t>
            </a:r>
            <a:endParaRPr sz="800" b="0" i="0" u="none" strike="noStrike" cap="none">
              <a:solidFill>
                <a:schemeClr val="dk1"/>
              </a:solidFill>
              <a:latin typeface="Calibri"/>
              <a:ea typeface="Calibri"/>
              <a:cs typeface="Calibri"/>
              <a:sym typeface="Calibri"/>
            </a:endParaRPr>
          </a:p>
        </p:txBody>
      </p:sp>
      <p:sp>
        <p:nvSpPr>
          <p:cNvPr id="1521" name="Google Shape;1521;p32"/>
          <p:cNvSpPr/>
          <p:nvPr/>
        </p:nvSpPr>
        <p:spPr>
          <a:xfrm>
            <a:off x="6327648" y="1156716"/>
            <a:ext cx="26151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2E8F0"/>
              </a:buClr>
              <a:buSzPts val="800"/>
              <a:buFont typeface="Consolas"/>
              <a:buNone/>
            </a:pPr>
            <a:r>
              <a:rPr lang="en" sz="800" b="0" i="0" u="none" strike="noStrike" cap="none">
                <a:solidFill>
                  <a:srgbClr val="E2E8F0"/>
                </a:solidFill>
                <a:latin typeface="Consolas"/>
                <a:ea typeface="Consolas"/>
                <a:cs typeface="Consolas"/>
                <a:sym typeface="Consolas"/>
              </a:rPr>
              <a:t>x = self.pool(</a:t>
            </a:r>
            <a:endParaRPr sz="800" b="0" i="0" u="none" strike="noStrike" cap="none">
              <a:solidFill>
                <a:schemeClr val="dk1"/>
              </a:solidFill>
              <a:latin typeface="Calibri"/>
              <a:ea typeface="Calibri"/>
              <a:cs typeface="Calibri"/>
              <a:sym typeface="Calibri"/>
            </a:endParaRPr>
          </a:p>
        </p:txBody>
      </p:sp>
      <p:sp>
        <p:nvSpPr>
          <p:cNvPr id="1522" name="Google Shape;1522;p32"/>
          <p:cNvSpPr/>
          <p:nvPr/>
        </p:nvSpPr>
        <p:spPr>
          <a:xfrm>
            <a:off x="6327648" y="1380744"/>
            <a:ext cx="26151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2E8F0"/>
              </a:buClr>
              <a:buSzPts val="800"/>
              <a:buFont typeface="Consolas"/>
              <a:buNone/>
            </a:pPr>
            <a:r>
              <a:rPr lang="en" sz="800" b="0" i="0" u="none" strike="noStrike" cap="none">
                <a:solidFill>
                  <a:srgbClr val="E2E8F0"/>
                </a:solidFill>
                <a:latin typeface="Consolas"/>
                <a:ea typeface="Consolas"/>
                <a:cs typeface="Consolas"/>
                <a:sym typeface="Consolas"/>
              </a:rPr>
              <a:t>      self.relu(</a:t>
            </a:r>
            <a:endParaRPr sz="800" b="0" i="0" u="none" strike="noStrike" cap="none">
              <a:solidFill>
                <a:schemeClr val="dk1"/>
              </a:solidFill>
              <a:latin typeface="Calibri"/>
              <a:ea typeface="Calibri"/>
              <a:cs typeface="Calibri"/>
              <a:sym typeface="Calibri"/>
            </a:endParaRPr>
          </a:p>
        </p:txBody>
      </p:sp>
      <p:sp>
        <p:nvSpPr>
          <p:cNvPr id="1523" name="Google Shape;1523;p32"/>
          <p:cNvSpPr/>
          <p:nvPr/>
        </p:nvSpPr>
        <p:spPr>
          <a:xfrm>
            <a:off x="6327648" y="1604772"/>
            <a:ext cx="26151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2E8F0"/>
              </a:buClr>
              <a:buSzPts val="800"/>
              <a:buFont typeface="Consolas"/>
              <a:buNone/>
            </a:pPr>
            <a:r>
              <a:rPr lang="en" sz="800" b="0" i="0" u="none" strike="noStrike" cap="none">
                <a:solidFill>
                  <a:srgbClr val="E2E8F0"/>
                </a:solidFill>
                <a:latin typeface="Consolas"/>
                <a:ea typeface="Consolas"/>
                <a:cs typeface="Consolas"/>
                <a:sym typeface="Consolas"/>
              </a:rPr>
              <a:t>        self.conv1(x)))</a:t>
            </a:r>
            <a:endParaRPr sz="800" b="0" i="0" u="none" strike="noStrike" cap="none">
              <a:solidFill>
                <a:schemeClr val="dk1"/>
              </a:solidFill>
              <a:latin typeface="Calibri"/>
              <a:ea typeface="Calibri"/>
              <a:cs typeface="Calibri"/>
              <a:sym typeface="Calibri"/>
            </a:endParaRPr>
          </a:p>
        </p:txBody>
      </p:sp>
      <p:sp>
        <p:nvSpPr>
          <p:cNvPr id="1524" name="Google Shape;1524;p32"/>
          <p:cNvSpPr/>
          <p:nvPr/>
        </p:nvSpPr>
        <p:spPr>
          <a:xfrm>
            <a:off x="6327648" y="2052828"/>
            <a:ext cx="26151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800"/>
              <a:buFont typeface="Consolas"/>
              <a:buNone/>
            </a:pPr>
            <a:r>
              <a:rPr lang="en" sz="800" b="0" i="0" u="none" strike="noStrike" cap="none">
                <a:solidFill>
                  <a:srgbClr val="64748B"/>
                </a:solidFill>
                <a:latin typeface="Consolas"/>
                <a:ea typeface="Consolas"/>
                <a:cs typeface="Consolas"/>
                <a:sym typeface="Consolas"/>
              </a:rPr>
              <a:t># Block 2</a:t>
            </a:r>
            <a:endParaRPr sz="800" b="0" i="0" u="none" strike="noStrike" cap="none">
              <a:solidFill>
                <a:schemeClr val="dk1"/>
              </a:solidFill>
              <a:latin typeface="Calibri"/>
              <a:ea typeface="Calibri"/>
              <a:cs typeface="Calibri"/>
              <a:sym typeface="Calibri"/>
            </a:endParaRPr>
          </a:p>
        </p:txBody>
      </p:sp>
      <p:sp>
        <p:nvSpPr>
          <p:cNvPr id="1525" name="Google Shape;1525;p32"/>
          <p:cNvSpPr/>
          <p:nvPr/>
        </p:nvSpPr>
        <p:spPr>
          <a:xfrm>
            <a:off x="6327648" y="2276856"/>
            <a:ext cx="26151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2E8F0"/>
              </a:buClr>
              <a:buSzPts val="800"/>
              <a:buFont typeface="Consolas"/>
              <a:buNone/>
            </a:pPr>
            <a:r>
              <a:rPr lang="en" sz="800" b="0" i="0" u="none" strike="noStrike" cap="none">
                <a:solidFill>
                  <a:srgbClr val="E2E8F0"/>
                </a:solidFill>
                <a:latin typeface="Consolas"/>
                <a:ea typeface="Consolas"/>
                <a:cs typeface="Consolas"/>
                <a:sym typeface="Consolas"/>
              </a:rPr>
              <a:t>x = self.pool(</a:t>
            </a:r>
            <a:endParaRPr sz="800" b="0" i="0" u="none" strike="noStrike" cap="none">
              <a:solidFill>
                <a:schemeClr val="dk1"/>
              </a:solidFill>
              <a:latin typeface="Calibri"/>
              <a:ea typeface="Calibri"/>
              <a:cs typeface="Calibri"/>
              <a:sym typeface="Calibri"/>
            </a:endParaRPr>
          </a:p>
        </p:txBody>
      </p:sp>
      <p:sp>
        <p:nvSpPr>
          <p:cNvPr id="1526" name="Google Shape;1526;p32"/>
          <p:cNvSpPr/>
          <p:nvPr/>
        </p:nvSpPr>
        <p:spPr>
          <a:xfrm>
            <a:off x="6327648" y="2500884"/>
            <a:ext cx="26151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2E8F0"/>
              </a:buClr>
              <a:buSzPts val="800"/>
              <a:buFont typeface="Consolas"/>
              <a:buNone/>
            </a:pPr>
            <a:r>
              <a:rPr lang="en" sz="800" b="0" i="0" u="none" strike="noStrike" cap="none">
                <a:solidFill>
                  <a:srgbClr val="E2E8F0"/>
                </a:solidFill>
                <a:latin typeface="Consolas"/>
                <a:ea typeface="Consolas"/>
                <a:cs typeface="Consolas"/>
                <a:sym typeface="Consolas"/>
              </a:rPr>
              <a:t>      self.relu(</a:t>
            </a:r>
            <a:endParaRPr sz="800" b="0" i="0" u="none" strike="noStrike" cap="none">
              <a:solidFill>
                <a:schemeClr val="dk1"/>
              </a:solidFill>
              <a:latin typeface="Calibri"/>
              <a:ea typeface="Calibri"/>
              <a:cs typeface="Calibri"/>
              <a:sym typeface="Calibri"/>
            </a:endParaRPr>
          </a:p>
        </p:txBody>
      </p:sp>
      <p:sp>
        <p:nvSpPr>
          <p:cNvPr id="1527" name="Google Shape;1527;p32"/>
          <p:cNvSpPr/>
          <p:nvPr/>
        </p:nvSpPr>
        <p:spPr>
          <a:xfrm>
            <a:off x="6327648" y="2724912"/>
            <a:ext cx="26151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2E8F0"/>
              </a:buClr>
              <a:buSzPts val="800"/>
              <a:buFont typeface="Consolas"/>
              <a:buNone/>
            </a:pPr>
            <a:r>
              <a:rPr lang="en" sz="800" b="0" i="0" u="none" strike="noStrike" cap="none">
                <a:solidFill>
                  <a:srgbClr val="E2E8F0"/>
                </a:solidFill>
                <a:latin typeface="Consolas"/>
                <a:ea typeface="Consolas"/>
                <a:cs typeface="Consolas"/>
                <a:sym typeface="Consolas"/>
              </a:rPr>
              <a:t>        self.conv2(x)))</a:t>
            </a:r>
            <a:endParaRPr sz="800" b="0" i="0" u="none" strike="noStrike" cap="none">
              <a:solidFill>
                <a:schemeClr val="dk1"/>
              </a:solidFill>
              <a:latin typeface="Calibri"/>
              <a:ea typeface="Calibri"/>
              <a:cs typeface="Calibri"/>
              <a:sym typeface="Calibri"/>
            </a:endParaRPr>
          </a:p>
        </p:txBody>
      </p:sp>
      <p:sp>
        <p:nvSpPr>
          <p:cNvPr id="1528" name="Google Shape;1528;p32"/>
          <p:cNvSpPr/>
          <p:nvPr/>
        </p:nvSpPr>
        <p:spPr>
          <a:xfrm>
            <a:off x="6327648" y="3172968"/>
            <a:ext cx="26151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800"/>
              <a:buFont typeface="Consolas"/>
              <a:buNone/>
            </a:pPr>
            <a:r>
              <a:rPr lang="en" sz="800" b="0" i="0" u="none" strike="noStrike" cap="none">
                <a:solidFill>
                  <a:srgbClr val="64748B"/>
                </a:solidFill>
                <a:latin typeface="Consolas"/>
                <a:ea typeface="Consolas"/>
                <a:cs typeface="Consolas"/>
                <a:sym typeface="Consolas"/>
              </a:rPr>
              <a:t># Flatten</a:t>
            </a:r>
            <a:endParaRPr sz="800" b="0" i="0" u="none" strike="noStrike" cap="none">
              <a:solidFill>
                <a:schemeClr val="dk1"/>
              </a:solidFill>
              <a:latin typeface="Calibri"/>
              <a:ea typeface="Calibri"/>
              <a:cs typeface="Calibri"/>
              <a:sym typeface="Calibri"/>
            </a:endParaRPr>
          </a:p>
        </p:txBody>
      </p:sp>
      <p:sp>
        <p:nvSpPr>
          <p:cNvPr id="1529" name="Google Shape;1529;p32"/>
          <p:cNvSpPr/>
          <p:nvPr/>
        </p:nvSpPr>
        <p:spPr>
          <a:xfrm>
            <a:off x="6327648" y="3396996"/>
            <a:ext cx="26151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2E8F0"/>
              </a:buClr>
              <a:buSzPts val="800"/>
              <a:buFont typeface="Consolas"/>
              <a:buNone/>
            </a:pPr>
            <a:r>
              <a:rPr lang="en" sz="800" b="0" i="0" u="none" strike="noStrike" cap="none">
                <a:solidFill>
                  <a:srgbClr val="E2E8F0"/>
                </a:solidFill>
                <a:latin typeface="Consolas"/>
                <a:ea typeface="Consolas"/>
                <a:cs typeface="Consolas"/>
                <a:sym typeface="Consolas"/>
              </a:rPr>
              <a:t>x = x.view(</a:t>
            </a:r>
            <a:endParaRPr sz="800" b="0" i="0" u="none" strike="noStrike" cap="none">
              <a:solidFill>
                <a:schemeClr val="dk1"/>
              </a:solidFill>
              <a:latin typeface="Calibri"/>
              <a:ea typeface="Calibri"/>
              <a:cs typeface="Calibri"/>
              <a:sym typeface="Calibri"/>
            </a:endParaRPr>
          </a:p>
        </p:txBody>
      </p:sp>
      <p:sp>
        <p:nvSpPr>
          <p:cNvPr id="1530" name="Google Shape;1530;p32"/>
          <p:cNvSpPr/>
          <p:nvPr/>
        </p:nvSpPr>
        <p:spPr>
          <a:xfrm>
            <a:off x="6327648" y="3621024"/>
            <a:ext cx="26151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2E8F0"/>
              </a:buClr>
              <a:buSzPts val="800"/>
              <a:buFont typeface="Consolas"/>
              <a:buNone/>
            </a:pPr>
            <a:r>
              <a:rPr lang="en" sz="800" b="0" i="0" u="none" strike="noStrike" cap="none">
                <a:solidFill>
                  <a:srgbClr val="E2E8F0"/>
                </a:solidFill>
                <a:latin typeface="Consolas"/>
                <a:ea typeface="Consolas"/>
                <a:cs typeface="Consolas"/>
                <a:sym typeface="Consolas"/>
              </a:rPr>
              <a:t>  x.size(0), -1)</a:t>
            </a:r>
            <a:endParaRPr sz="800" b="0" i="0" u="none" strike="noStrike" cap="none">
              <a:solidFill>
                <a:schemeClr val="dk1"/>
              </a:solidFill>
              <a:latin typeface="Calibri"/>
              <a:ea typeface="Calibri"/>
              <a:cs typeface="Calibri"/>
              <a:sym typeface="Calibri"/>
            </a:endParaRPr>
          </a:p>
        </p:txBody>
      </p:sp>
      <p:sp>
        <p:nvSpPr>
          <p:cNvPr id="1531" name="Google Shape;1531;p32"/>
          <p:cNvSpPr/>
          <p:nvPr/>
        </p:nvSpPr>
        <p:spPr>
          <a:xfrm>
            <a:off x="6327648" y="4069080"/>
            <a:ext cx="26151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800"/>
              <a:buFont typeface="Consolas"/>
              <a:buNone/>
            </a:pPr>
            <a:r>
              <a:rPr lang="en" sz="800" b="0" i="0" u="none" strike="noStrike" cap="none">
                <a:solidFill>
                  <a:srgbClr val="64748B"/>
                </a:solidFill>
                <a:latin typeface="Consolas"/>
                <a:ea typeface="Consolas"/>
                <a:cs typeface="Consolas"/>
                <a:sym typeface="Consolas"/>
              </a:rPr>
              <a:t># Output</a:t>
            </a:r>
            <a:endParaRPr sz="800" b="0" i="0" u="none" strike="noStrike" cap="none">
              <a:solidFill>
                <a:schemeClr val="dk1"/>
              </a:solidFill>
              <a:latin typeface="Calibri"/>
              <a:ea typeface="Calibri"/>
              <a:cs typeface="Calibri"/>
              <a:sym typeface="Calibri"/>
            </a:endParaRPr>
          </a:p>
        </p:txBody>
      </p:sp>
      <p:sp>
        <p:nvSpPr>
          <p:cNvPr id="1532" name="Google Shape;1532;p32"/>
          <p:cNvSpPr/>
          <p:nvPr/>
        </p:nvSpPr>
        <p:spPr>
          <a:xfrm>
            <a:off x="6327648" y="4293108"/>
            <a:ext cx="26151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2E8F0"/>
              </a:buClr>
              <a:buSzPts val="800"/>
              <a:buFont typeface="Consolas"/>
              <a:buNone/>
            </a:pPr>
            <a:r>
              <a:rPr lang="en" sz="800" b="0" i="0" u="none" strike="noStrike" cap="none">
                <a:solidFill>
                  <a:srgbClr val="E2E8F0"/>
                </a:solidFill>
                <a:latin typeface="Consolas"/>
                <a:ea typeface="Consolas"/>
                <a:cs typeface="Consolas"/>
                <a:sym typeface="Consolas"/>
              </a:rPr>
              <a:t>return self.fc(x)</a:t>
            </a:r>
            <a:endParaRPr sz="800" b="0" i="0" u="none" strike="noStrike" cap="none">
              <a:solidFill>
                <a:schemeClr val="dk1"/>
              </a:solidFill>
              <a:latin typeface="Calibri"/>
              <a:ea typeface="Calibri"/>
              <a:cs typeface="Calibri"/>
              <a:sym typeface="Calibri"/>
            </a:endParaRPr>
          </a:p>
        </p:txBody>
      </p:sp>
      <p:sp>
        <p:nvSpPr>
          <p:cNvPr id="1533" name="Google Shape;1533;p32"/>
          <p:cNvSpPr/>
          <p:nvPr/>
        </p:nvSpPr>
        <p:spPr>
          <a:xfrm>
            <a:off x="201168" y="576072"/>
            <a:ext cx="5806500" cy="1152000"/>
          </a:xfrm>
          <a:prstGeom prst="rect">
            <a:avLst/>
          </a:prstGeom>
          <a:solidFill>
            <a:srgbClr val="F1F5F9"/>
          </a:solidFill>
          <a:ln w="10150" cap="flat" cmpd="sng">
            <a:solidFill>
              <a:srgbClr val="CBD5E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4" name="Google Shape;1534;p32"/>
          <p:cNvSpPr/>
          <p:nvPr/>
        </p:nvSpPr>
        <p:spPr>
          <a:xfrm>
            <a:off x="228600" y="576072"/>
            <a:ext cx="5760600" cy="201300"/>
          </a:xfrm>
          <a:prstGeom prst="rect">
            <a:avLst/>
          </a:prstGeom>
          <a:no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Clr>
                <a:srgbClr val="94A3B8"/>
              </a:buClr>
              <a:buSzPts val="750"/>
              <a:buFont typeface="Consolas"/>
              <a:buNone/>
            </a:pPr>
            <a:r>
              <a:rPr lang="en" sz="750" b="0" i="0" u="none" strike="noStrike" cap="none">
                <a:solidFill>
                  <a:srgbClr val="94A3B8"/>
                </a:solidFill>
                <a:latin typeface="Consolas"/>
                <a:ea typeface="Consolas"/>
                <a:cs typeface="Consolas"/>
                <a:sym typeface="Consolas"/>
              </a:rPr>
              <a:t>Block 1  ·  x = self.pool(self.relu(self.conv1(x)))</a:t>
            </a:r>
            <a:endParaRPr sz="750" b="0" i="0" u="none" strike="noStrike" cap="none">
              <a:solidFill>
                <a:schemeClr val="dk1"/>
              </a:solidFill>
              <a:latin typeface="Calibri"/>
              <a:ea typeface="Calibri"/>
              <a:cs typeface="Calibri"/>
              <a:sym typeface="Calibri"/>
            </a:endParaRPr>
          </a:p>
        </p:txBody>
      </p:sp>
      <p:sp>
        <p:nvSpPr>
          <p:cNvPr id="1535" name="Google Shape;1535;p32"/>
          <p:cNvSpPr/>
          <p:nvPr/>
        </p:nvSpPr>
        <p:spPr>
          <a:xfrm>
            <a:off x="228600" y="777240"/>
            <a:ext cx="1079100" cy="932700"/>
          </a:xfrm>
          <a:prstGeom prst="rect">
            <a:avLst/>
          </a:prstGeom>
          <a:solidFill>
            <a:srgbClr val="E2E8F0"/>
          </a:solidFill>
          <a:ln w="19050" cap="flat" cmpd="sng">
            <a:solidFill>
              <a:srgbClr val="94A3B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6" name="Google Shape;1536;p32"/>
          <p:cNvSpPr/>
          <p:nvPr/>
        </p:nvSpPr>
        <p:spPr>
          <a:xfrm>
            <a:off x="228600" y="868680"/>
            <a:ext cx="1079100" cy="237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334155"/>
              </a:buClr>
              <a:buSzPts val="950"/>
              <a:buFont typeface="Calibri"/>
              <a:buNone/>
            </a:pPr>
            <a:r>
              <a:rPr lang="en" sz="950" b="1" i="0" u="none" strike="noStrike" cap="none">
                <a:solidFill>
                  <a:srgbClr val="334155"/>
                </a:solidFill>
                <a:latin typeface="Calibri"/>
                <a:ea typeface="Calibri"/>
                <a:cs typeface="Calibri"/>
                <a:sym typeface="Calibri"/>
              </a:rPr>
              <a:t>Input</a:t>
            </a:r>
            <a:endParaRPr sz="950" b="0" i="0" u="none" strike="noStrike" cap="none">
              <a:solidFill>
                <a:schemeClr val="dk1"/>
              </a:solidFill>
              <a:latin typeface="Calibri"/>
              <a:ea typeface="Calibri"/>
              <a:cs typeface="Calibri"/>
              <a:sym typeface="Calibri"/>
            </a:endParaRPr>
          </a:p>
        </p:txBody>
      </p:sp>
      <p:sp>
        <p:nvSpPr>
          <p:cNvPr id="1537" name="Google Shape;1537;p32"/>
          <p:cNvSpPr/>
          <p:nvPr/>
        </p:nvSpPr>
        <p:spPr>
          <a:xfrm>
            <a:off x="274320" y="1106424"/>
            <a:ext cx="987600" cy="329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334155"/>
              </a:buClr>
              <a:buSzPts val="800"/>
              <a:buFont typeface="Calibri"/>
              <a:buNone/>
            </a:pPr>
            <a:r>
              <a:rPr lang="en" sz="800" b="0" i="0" u="none" strike="noStrike" cap="none">
                <a:solidFill>
                  <a:srgbClr val="334155"/>
                </a:solidFill>
                <a:latin typeface="Calibri"/>
                <a:ea typeface="Calibri"/>
                <a:cs typeface="Calibri"/>
                <a:sym typeface="Calibri"/>
              </a:rPr>
              <a:t>1 ch · grayscale</a:t>
            </a:r>
            <a:endParaRPr sz="800" b="0" i="0" u="none" strike="noStrike" cap="none">
              <a:solidFill>
                <a:schemeClr val="dk1"/>
              </a:solidFill>
              <a:latin typeface="Calibri"/>
              <a:ea typeface="Calibri"/>
              <a:cs typeface="Calibri"/>
              <a:sym typeface="Calibri"/>
            </a:endParaRPr>
          </a:p>
        </p:txBody>
      </p:sp>
      <p:sp>
        <p:nvSpPr>
          <p:cNvPr id="1538" name="Google Shape;1538;p32"/>
          <p:cNvSpPr/>
          <p:nvPr/>
        </p:nvSpPr>
        <p:spPr>
          <a:xfrm>
            <a:off x="283464" y="1472184"/>
            <a:ext cx="969300" cy="183000"/>
          </a:xfrm>
          <a:prstGeom prst="rect">
            <a:avLst/>
          </a:prstGeom>
          <a:solidFill>
            <a:srgbClr val="94A3B8">
              <a:alpha val="21961"/>
            </a:srgbClr>
          </a:solidFill>
          <a:ln w="12700" cap="flat" cmpd="sng">
            <a:solidFill>
              <a:srgbClr val="94A3B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9" name="Google Shape;1539;p32"/>
          <p:cNvSpPr/>
          <p:nvPr/>
        </p:nvSpPr>
        <p:spPr>
          <a:xfrm>
            <a:off x="283464" y="1472184"/>
            <a:ext cx="9693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334155"/>
              </a:buClr>
              <a:buSzPts val="750"/>
              <a:buFont typeface="Calibri"/>
              <a:buNone/>
            </a:pPr>
            <a:r>
              <a:rPr lang="en" sz="750" b="1" i="0" u="none" strike="noStrike" cap="none">
                <a:solidFill>
                  <a:srgbClr val="334155"/>
                </a:solidFill>
                <a:latin typeface="Calibri"/>
                <a:ea typeface="Calibri"/>
                <a:cs typeface="Calibri"/>
                <a:sym typeface="Calibri"/>
              </a:rPr>
              <a:t>1×28×28</a:t>
            </a:r>
            <a:endParaRPr sz="750" b="0" i="0" u="none" strike="noStrike" cap="none">
              <a:solidFill>
                <a:schemeClr val="dk1"/>
              </a:solidFill>
              <a:latin typeface="Calibri"/>
              <a:ea typeface="Calibri"/>
              <a:cs typeface="Calibri"/>
              <a:sym typeface="Calibri"/>
            </a:endParaRPr>
          </a:p>
        </p:txBody>
      </p:sp>
      <p:cxnSp>
        <p:nvCxnSpPr>
          <p:cNvPr id="1540" name="Google Shape;1540;p32"/>
          <p:cNvCxnSpPr/>
          <p:nvPr/>
        </p:nvCxnSpPr>
        <p:spPr>
          <a:xfrm>
            <a:off x="1325880" y="1243584"/>
            <a:ext cx="146400" cy="0"/>
          </a:xfrm>
          <a:prstGeom prst="straightConnector1">
            <a:avLst/>
          </a:prstGeom>
          <a:noFill/>
          <a:ln w="17775" cap="flat" cmpd="sng">
            <a:solidFill>
              <a:srgbClr val="94A3B8"/>
            </a:solidFill>
            <a:prstDash val="solid"/>
            <a:round/>
            <a:headEnd type="none" w="sm" len="sm"/>
            <a:tailEnd type="triangle" w="med" len="med"/>
          </a:ln>
        </p:spPr>
      </p:cxnSp>
      <p:sp>
        <p:nvSpPr>
          <p:cNvPr id="1541" name="Google Shape;1541;p32"/>
          <p:cNvSpPr/>
          <p:nvPr/>
        </p:nvSpPr>
        <p:spPr>
          <a:xfrm>
            <a:off x="1472184" y="777240"/>
            <a:ext cx="1079100" cy="932700"/>
          </a:xfrm>
          <a:prstGeom prst="rect">
            <a:avLst/>
          </a:prstGeom>
          <a:solidFill>
            <a:srgbClr val="DBEAFE"/>
          </a:solidFill>
          <a:ln w="19050" cap="flat" cmpd="sng">
            <a:solidFill>
              <a:srgbClr val="3B82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2" name="Google Shape;1542;p32"/>
          <p:cNvSpPr/>
          <p:nvPr/>
        </p:nvSpPr>
        <p:spPr>
          <a:xfrm>
            <a:off x="1472184" y="868680"/>
            <a:ext cx="1079100" cy="237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D4ED8"/>
              </a:buClr>
              <a:buSzPts val="950"/>
              <a:buFont typeface="Calibri"/>
              <a:buNone/>
            </a:pPr>
            <a:r>
              <a:rPr lang="en" sz="950" b="1" i="0" u="none" strike="noStrike" cap="none">
                <a:solidFill>
                  <a:srgbClr val="1D4ED8"/>
                </a:solidFill>
                <a:latin typeface="Calibri"/>
                <a:ea typeface="Calibri"/>
                <a:cs typeface="Calibri"/>
                <a:sym typeface="Calibri"/>
              </a:rPr>
              <a:t>Conv2d</a:t>
            </a:r>
            <a:endParaRPr sz="950" b="0" i="0" u="none" strike="noStrike" cap="none">
              <a:solidFill>
                <a:schemeClr val="dk1"/>
              </a:solidFill>
              <a:latin typeface="Calibri"/>
              <a:ea typeface="Calibri"/>
              <a:cs typeface="Calibri"/>
              <a:sym typeface="Calibri"/>
            </a:endParaRPr>
          </a:p>
        </p:txBody>
      </p:sp>
      <p:sp>
        <p:nvSpPr>
          <p:cNvPr id="1543" name="Google Shape;1543;p32"/>
          <p:cNvSpPr/>
          <p:nvPr/>
        </p:nvSpPr>
        <p:spPr>
          <a:xfrm>
            <a:off x="1517904" y="1106424"/>
            <a:ext cx="987600" cy="329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D4ED8"/>
              </a:buClr>
              <a:buSzPts val="800"/>
              <a:buFont typeface="Calibri"/>
              <a:buNone/>
            </a:pPr>
            <a:r>
              <a:rPr lang="en" sz="800" b="0" i="0" u="none" strike="noStrike" cap="none">
                <a:solidFill>
                  <a:srgbClr val="1D4ED8"/>
                </a:solidFill>
                <a:latin typeface="Calibri"/>
                <a:ea typeface="Calibri"/>
                <a:cs typeface="Calibri"/>
                <a:sym typeface="Calibri"/>
              </a:rPr>
              <a:t>1→16 ch</a:t>
            </a:r>
            <a:endParaRPr sz="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D4ED8"/>
              </a:buClr>
              <a:buSzPts val="800"/>
              <a:buFont typeface="Calibri"/>
              <a:buNone/>
            </a:pPr>
            <a:r>
              <a:rPr lang="en" sz="800" b="0" i="0" u="none" strike="noStrike" cap="none">
                <a:solidFill>
                  <a:srgbClr val="1D4ED8"/>
                </a:solidFill>
                <a:latin typeface="Calibri"/>
                <a:ea typeface="Calibri"/>
                <a:cs typeface="Calibri"/>
                <a:sym typeface="Calibri"/>
              </a:rPr>
              <a:t>3×3 pad=1</a:t>
            </a:r>
            <a:endParaRPr sz="800" b="0" i="0" u="none" strike="noStrike" cap="none">
              <a:solidFill>
                <a:schemeClr val="dk1"/>
              </a:solidFill>
              <a:latin typeface="Calibri"/>
              <a:ea typeface="Calibri"/>
              <a:cs typeface="Calibri"/>
              <a:sym typeface="Calibri"/>
            </a:endParaRPr>
          </a:p>
        </p:txBody>
      </p:sp>
      <p:sp>
        <p:nvSpPr>
          <p:cNvPr id="1544" name="Google Shape;1544;p32"/>
          <p:cNvSpPr/>
          <p:nvPr/>
        </p:nvSpPr>
        <p:spPr>
          <a:xfrm>
            <a:off x="1527048" y="1472184"/>
            <a:ext cx="969300" cy="183000"/>
          </a:xfrm>
          <a:prstGeom prst="rect">
            <a:avLst/>
          </a:prstGeom>
          <a:solidFill>
            <a:srgbClr val="3B82F6">
              <a:alpha val="21961"/>
            </a:srgbClr>
          </a:solidFill>
          <a:ln w="12700" cap="flat" cmpd="sng">
            <a:solidFill>
              <a:srgbClr val="3B82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5" name="Google Shape;1545;p32"/>
          <p:cNvSpPr/>
          <p:nvPr/>
        </p:nvSpPr>
        <p:spPr>
          <a:xfrm>
            <a:off x="1527048" y="1472184"/>
            <a:ext cx="9693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D4ED8"/>
              </a:buClr>
              <a:buSzPts val="750"/>
              <a:buFont typeface="Calibri"/>
              <a:buNone/>
            </a:pPr>
            <a:r>
              <a:rPr lang="en" sz="750" b="1" i="0" u="none" strike="noStrike" cap="none">
                <a:solidFill>
                  <a:srgbClr val="1D4ED8"/>
                </a:solidFill>
                <a:latin typeface="Calibri"/>
                <a:ea typeface="Calibri"/>
                <a:cs typeface="Calibri"/>
                <a:sym typeface="Calibri"/>
              </a:rPr>
              <a:t>16×28×28</a:t>
            </a:r>
            <a:endParaRPr sz="750" b="0" i="0" u="none" strike="noStrike" cap="none">
              <a:solidFill>
                <a:schemeClr val="dk1"/>
              </a:solidFill>
              <a:latin typeface="Calibri"/>
              <a:ea typeface="Calibri"/>
              <a:cs typeface="Calibri"/>
              <a:sym typeface="Calibri"/>
            </a:endParaRPr>
          </a:p>
        </p:txBody>
      </p:sp>
      <p:cxnSp>
        <p:nvCxnSpPr>
          <p:cNvPr id="1546" name="Google Shape;1546;p32"/>
          <p:cNvCxnSpPr/>
          <p:nvPr/>
        </p:nvCxnSpPr>
        <p:spPr>
          <a:xfrm>
            <a:off x="2569464" y="1243584"/>
            <a:ext cx="146400" cy="0"/>
          </a:xfrm>
          <a:prstGeom prst="straightConnector1">
            <a:avLst/>
          </a:prstGeom>
          <a:noFill/>
          <a:ln w="17775" cap="flat" cmpd="sng">
            <a:solidFill>
              <a:srgbClr val="94A3B8"/>
            </a:solidFill>
            <a:prstDash val="solid"/>
            <a:round/>
            <a:headEnd type="none" w="sm" len="sm"/>
            <a:tailEnd type="triangle" w="med" len="med"/>
          </a:ln>
        </p:spPr>
      </p:cxnSp>
      <p:sp>
        <p:nvSpPr>
          <p:cNvPr id="1547" name="Google Shape;1547;p32"/>
          <p:cNvSpPr/>
          <p:nvPr/>
        </p:nvSpPr>
        <p:spPr>
          <a:xfrm>
            <a:off x="2715768" y="777240"/>
            <a:ext cx="1079100" cy="932700"/>
          </a:xfrm>
          <a:prstGeom prst="rect">
            <a:avLst/>
          </a:prstGeom>
          <a:solidFill>
            <a:srgbClr val="CCFBF1"/>
          </a:solidFill>
          <a:ln w="19050"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8" name="Google Shape;1548;p32"/>
          <p:cNvSpPr/>
          <p:nvPr/>
        </p:nvSpPr>
        <p:spPr>
          <a:xfrm>
            <a:off x="2715768" y="868680"/>
            <a:ext cx="1079100" cy="237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F766E"/>
              </a:buClr>
              <a:buSzPts val="950"/>
              <a:buFont typeface="Calibri"/>
              <a:buNone/>
            </a:pPr>
            <a:r>
              <a:rPr lang="en" sz="950" b="1" i="0" u="none" strike="noStrike" cap="none">
                <a:solidFill>
                  <a:srgbClr val="0F766E"/>
                </a:solidFill>
                <a:latin typeface="Calibri"/>
                <a:ea typeface="Calibri"/>
                <a:cs typeface="Calibri"/>
                <a:sym typeface="Calibri"/>
              </a:rPr>
              <a:t>ReLU</a:t>
            </a:r>
            <a:endParaRPr sz="950" b="0" i="0" u="none" strike="noStrike" cap="none">
              <a:solidFill>
                <a:schemeClr val="dk1"/>
              </a:solidFill>
              <a:latin typeface="Calibri"/>
              <a:ea typeface="Calibri"/>
              <a:cs typeface="Calibri"/>
              <a:sym typeface="Calibri"/>
            </a:endParaRPr>
          </a:p>
        </p:txBody>
      </p:sp>
      <p:sp>
        <p:nvSpPr>
          <p:cNvPr id="1549" name="Google Shape;1549;p32"/>
          <p:cNvSpPr/>
          <p:nvPr/>
        </p:nvSpPr>
        <p:spPr>
          <a:xfrm>
            <a:off x="2761488" y="1106424"/>
            <a:ext cx="987600" cy="329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F766E"/>
              </a:buClr>
              <a:buSzPts val="800"/>
              <a:buFont typeface="Calibri"/>
              <a:buNone/>
            </a:pPr>
            <a:r>
              <a:rPr lang="en" sz="800" b="0" i="0" u="none" strike="noStrike" cap="none">
                <a:solidFill>
                  <a:srgbClr val="0F766E"/>
                </a:solidFill>
                <a:latin typeface="Calibri"/>
                <a:ea typeface="Calibri"/>
                <a:cs typeface="Calibri"/>
                <a:sym typeface="Calibri"/>
              </a:rPr>
              <a:t>non-linear</a:t>
            </a:r>
            <a:endParaRPr sz="800" b="0" i="0" u="none" strike="noStrike" cap="none">
              <a:solidFill>
                <a:schemeClr val="dk1"/>
              </a:solidFill>
              <a:latin typeface="Calibri"/>
              <a:ea typeface="Calibri"/>
              <a:cs typeface="Calibri"/>
              <a:sym typeface="Calibri"/>
            </a:endParaRPr>
          </a:p>
        </p:txBody>
      </p:sp>
      <p:sp>
        <p:nvSpPr>
          <p:cNvPr id="1550" name="Google Shape;1550;p32"/>
          <p:cNvSpPr/>
          <p:nvPr/>
        </p:nvSpPr>
        <p:spPr>
          <a:xfrm>
            <a:off x="2770632" y="1472184"/>
            <a:ext cx="969300" cy="183000"/>
          </a:xfrm>
          <a:prstGeom prst="rect">
            <a:avLst/>
          </a:prstGeom>
          <a:solidFill>
            <a:srgbClr val="14B8A6">
              <a:alpha val="21961"/>
            </a:srgbClr>
          </a:solidFill>
          <a:ln w="12700"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1" name="Google Shape;1551;p32"/>
          <p:cNvSpPr/>
          <p:nvPr/>
        </p:nvSpPr>
        <p:spPr>
          <a:xfrm>
            <a:off x="2770632" y="1472184"/>
            <a:ext cx="9693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F766E"/>
              </a:buClr>
              <a:buSzPts val="750"/>
              <a:buFont typeface="Calibri"/>
              <a:buNone/>
            </a:pPr>
            <a:r>
              <a:rPr lang="en" sz="750" b="1" i="0" u="none" strike="noStrike" cap="none">
                <a:solidFill>
                  <a:srgbClr val="0F766E"/>
                </a:solidFill>
                <a:latin typeface="Calibri"/>
                <a:ea typeface="Calibri"/>
                <a:cs typeface="Calibri"/>
                <a:sym typeface="Calibri"/>
              </a:rPr>
              <a:t>16×28×28</a:t>
            </a:r>
            <a:endParaRPr sz="750" b="0" i="0" u="none" strike="noStrike" cap="none">
              <a:solidFill>
                <a:schemeClr val="dk1"/>
              </a:solidFill>
              <a:latin typeface="Calibri"/>
              <a:ea typeface="Calibri"/>
              <a:cs typeface="Calibri"/>
              <a:sym typeface="Calibri"/>
            </a:endParaRPr>
          </a:p>
        </p:txBody>
      </p:sp>
      <p:cxnSp>
        <p:nvCxnSpPr>
          <p:cNvPr id="1552" name="Google Shape;1552;p32"/>
          <p:cNvCxnSpPr/>
          <p:nvPr/>
        </p:nvCxnSpPr>
        <p:spPr>
          <a:xfrm>
            <a:off x="3813048" y="1243584"/>
            <a:ext cx="146400" cy="0"/>
          </a:xfrm>
          <a:prstGeom prst="straightConnector1">
            <a:avLst/>
          </a:prstGeom>
          <a:noFill/>
          <a:ln w="17775" cap="flat" cmpd="sng">
            <a:solidFill>
              <a:srgbClr val="94A3B8"/>
            </a:solidFill>
            <a:prstDash val="solid"/>
            <a:round/>
            <a:headEnd type="none" w="sm" len="sm"/>
            <a:tailEnd type="triangle" w="med" len="med"/>
          </a:ln>
        </p:spPr>
      </p:cxnSp>
      <p:sp>
        <p:nvSpPr>
          <p:cNvPr id="1553" name="Google Shape;1553;p32"/>
          <p:cNvSpPr/>
          <p:nvPr/>
        </p:nvSpPr>
        <p:spPr>
          <a:xfrm>
            <a:off x="3959352" y="777240"/>
            <a:ext cx="1079100" cy="932700"/>
          </a:xfrm>
          <a:prstGeom prst="rect">
            <a:avLst/>
          </a:prstGeom>
          <a:solidFill>
            <a:srgbClr val="EDE9FE"/>
          </a:solidFill>
          <a:ln w="19050" cap="flat" cmpd="sng">
            <a:solidFill>
              <a:srgbClr val="8B5C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4" name="Google Shape;1554;p32"/>
          <p:cNvSpPr/>
          <p:nvPr/>
        </p:nvSpPr>
        <p:spPr>
          <a:xfrm>
            <a:off x="3959352" y="868680"/>
            <a:ext cx="1079100" cy="237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D28D9"/>
              </a:buClr>
              <a:buSzPts val="950"/>
              <a:buFont typeface="Calibri"/>
              <a:buNone/>
            </a:pPr>
            <a:r>
              <a:rPr lang="en" sz="950" b="1" i="0" u="none" strike="noStrike" cap="none">
                <a:solidFill>
                  <a:srgbClr val="6D28D9"/>
                </a:solidFill>
                <a:latin typeface="Calibri"/>
                <a:ea typeface="Calibri"/>
                <a:cs typeface="Calibri"/>
                <a:sym typeface="Calibri"/>
              </a:rPr>
              <a:t>MaxPool2d</a:t>
            </a:r>
            <a:endParaRPr sz="950" b="0" i="0" u="none" strike="noStrike" cap="none">
              <a:solidFill>
                <a:schemeClr val="dk1"/>
              </a:solidFill>
              <a:latin typeface="Calibri"/>
              <a:ea typeface="Calibri"/>
              <a:cs typeface="Calibri"/>
              <a:sym typeface="Calibri"/>
            </a:endParaRPr>
          </a:p>
        </p:txBody>
      </p:sp>
      <p:sp>
        <p:nvSpPr>
          <p:cNvPr id="1555" name="Google Shape;1555;p32"/>
          <p:cNvSpPr/>
          <p:nvPr/>
        </p:nvSpPr>
        <p:spPr>
          <a:xfrm>
            <a:off x="4005072" y="1106424"/>
            <a:ext cx="987600" cy="329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D28D9"/>
              </a:buClr>
              <a:buSzPts val="800"/>
              <a:buFont typeface="Calibri"/>
              <a:buNone/>
            </a:pPr>
            <a:r>
              <a:rPr lang="en" sz="800" b="0" i="0" u="none" strike="noStrike" cap="none">
                <a:solidFill>
                  <a:srgbClr val="6D28D9"/>
                </a:solidFill>
                <a:latin typeface="Calibri"/>
                <a:ea typeface="Calibri"/>
                <a:cs typeface="Calibri"/>
                <a:sym typeface="Calibri"/>
              </a:rPr>
              <a:t>2×2 stride 2</a:t>
            </a:r>
            <a:endParaRPr sz="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6D28D9"/>
              </a:buClr>
              <a:buSzPts val="800"/>
              <a:buFont typeface="Calibri"/>
              <a:buNone/>
            </a:pPr>
            <a:r>
              <a:rPr lang="en" sz="800" b="0" i="0" u="none" strike="noStrike" cap="none">
                <a:solidFill>
                  <a:srgbClr val="6D28D9"/>
                </a:solidFill>
                <a:latin typeface="Calibri"/>
                <a:ea typeface="Calibri"/>
                <a:cs typeface="Calibri"/>
                <a:sym typeface="Calibri"/>
              </a:rPr>
              <a:t>28→14</a:t>
            </a:r>
            <a:endParaRPr sz="800" b="0" i="0" u="none" strike="noStrike" cap="none">
              <a:solidFill>
                <a:schemeClr val="dk1"/>
              </a:solidFill>
              <a:latin typeface="Calibri"/>
              <a:ea typeface="Calibri"/>
              <a:cs typeface="Calibri"/>
              <a:sym typeface="Calibri"/>
            </a:endParaRPr>
          </a:p>
        </p:txBody>
      </p:sp>
      <p:sp>
        <p:nvSpPr>
          <p:cNvPr id="1556" name="Google Shape;1556;p32"/>
          <p:cNvSpPr/>
          <p:nvPr/>
        </p:nvSpPr>
        <p:spPr>
          <a:xfrm>
            <a:off x="4014216" y="1472184"/>
            <a:ext cx="969300" cy="183000"/>
          </a:xfrm>
          <a:prstGeom prst="rect">
            <a:avLst/>
          </a:prstGeom>
          <a:solidFill>
            <a:srgbClr val="8B5CF6">
              <a:alpha val="21961"/>
            </a:srgbClr>
          </a:solidFill>
          <a:ln w="12700" cap="flat" cmpd="sng">
            <a:solidFill>
              <a:srgbClr val="8B5C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7" name="Google Shape;1557;p32"/>
          <p:cNvSpPr/>
          <p:nvPr/>
        </p:nvSpPr>
        <p:spPr>
          <a:xfrm>
            <a:off x="4014216" y="1472184"/>
            <a:ext cx="9693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D28D9"/>
              </a:buClr>
              <a:buSzPts val="750"/>
              <a:buFont typeface="Calibri"/>
              <a:buNone/>
            </a:pPr>
            <a:r>
              <a:rPr lang="en" sz="750" b="1" i="0" u="none" strike="noStrike" cap="none">
                <a:solidFill>
                  <a:srgbClr val="6D28D9"/>
                </a:solidFill>
                <a:latin typeface="Calibri"/>
                <a:ea typeface="Calibri"/>
                <a:cs typeface="Calibri"/>
                <a:sym typeface="Calibri"/>
              </a:rPr>
              <a:t>16×14×14</a:t>
            </a:r>
            <a:endParaRPr sz="750" b="0" i="0" u="none" strike="noStrike" cap="none">
              <a:solidFill>
                <a:schemeClr val="dk1"/>
              </a:solidFill>
              <a:latin typeface="Calibri"/>
              <a:ea typeface="Calibri"/>
              <a:cs typeface="Calibri"/>
              <a:sym typeface="Calibri"/>
            </a:endParaRPr>
          </a:p>
        </p:txBody>
      </p:sp>
      <p:sp>
        <p:nvSpPr>
          <p:cNvPr id="1558" name="Google Shape;1558;p32"/>
          <p:cNvSpPr/>
          <p:nvPr/>
        </p:nvSpPr>
        <p:spPr>
          <a:xfrm>
            <a:off x="201168" y="2075688"/>
            <a:ext cx="5806500" cy="1152000"/>
          </a:xfrm>
          <a:prstGeom prst="rect">
            <a:avLst/>
          </a:prstGeom>
          <a:solidFill>
            <a:srgbClr val="F1F5F9"/>
          </a:solidFill>
          <a:ln w="10150" cap="flat" cmpd="sng">
            <a:solidFill>
              <a:srgbClr val="CBD5E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9" name="Google Shape;1559;p32"/>
          <p:cNvSpPr/>
          <p:nvPr/>
        </p:nvSpPr>
        <p:spPr>
          <a:xfrm>
            <a:off x="228600" y="2075688"/>
            <a:ext cx="5760600" cy="201300"/>
          </a:xfrm>
          <a:prstGeom prst="rect">
            <a:avLst/>
          </a:prstGeom>
          <a:no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Clr>
                <a:srgbClr val="94A3B8"/>
              </a:buClr>
              <a:buSzPts val="750"/>
              <a:buFont typeface="Consolas"/>
              <a:buNone/>
            </a:pPr>
            <a:r>
              <a:rPr lang="en" sz="750" b="0" i="0" u="none" strike="noStrike" cap="none">
                <a:solidFill>
                  <a:srgbClr val="94A3B8"/>
                </a:solidFill>
                <a:latin typeface="Consolas"/>
                <a:ea typeface="Consolas"/>
                <a:cs typeface="Consolas"/>
                <a:sym typeface="Consolas"/>
              </a:rPr>
              <a:t>Block 2  ·  x = self.pool(self.relu(self.conv2(x)))</a:t>
            </a:r>
            <a:endParaRPr sz="750" b="0" i="0" u="none" strike="noStrike" cap="none">
              <a:solidFill>
                <a:schemeClr val="dk1"/>
              </a:solidFill>
              <a:latin typeface="Calibri"/>
              <a:ea typeface="Calibri"/>
              <a:cs typeface="Calibri"/>
              <a:sym typeface="Calibri"/>
            </a:endParaRPr>
          </a:p>
        </p:txBody>
      </p:sp>
      <p:cxnSp>
        <p:nvCxnSpPr>
          <p:cNvPr id="1560" name="Google Shape;1560;p32"/>
          <p:cNvCxnSpPr/>
          <p:nvPr/>
        </p:nvCxnSpPr>
        <p:spPr>
          <a:xfrm>
            <a:off x="4498848" y="1892808"/>
            <a:ext cx="0" cy="384000"/>
          </a:xfrm>
          <a:prstGeom prst="straightConnector1">
            <a:avLst/>
          </a:prstGeom>
          <a:noFill/>
          <a:ln w="17775" cap="flat" cmpd="sng">
            <a:solidFill>
              <a:srgbClr val="94A3B8"/>
            </a:solidFill>
            <a:prstDash val="solid"/>
            <a:round/>
            <a:headEnd type="none" w="sm" len="sm"/>
            <a:tailEnd type="triangle" w="med" len="med"/>
          </a:ln>
        </p:spPr>
      </p:cxnSp>
      <p:sp>
        <p:nvSpPr>
          <p:cNvPr id="1561" name="Google Shape;1561;p32"/>
          <p:cNvSpPr/>
          <p:nvPr/>
        </p:nvSpPr>
        <p:spPr>
          <a:xfrm>
            <a:off x="228600" y="2276856"/>
            <a:ext cx="1079100" cy="932700"/>
          </a:xfrm>
          <a:prstGeom prst="rect">
            <a:avLst/>
          </a:prstGeom>
          <a:solidFill>
            <a:srgbClr val="DBEAFE"/>
          </a:solidFill>
          <a:ln w="19050" cap="flat" cmpd="sng">
            <a:solidFill>
              <a:srgbClr val="3B82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2" name="Google Shape;1562;p32"/>
          <p:cNvSpPr/>
          <p:nvPr/>
        </p:nvSpPr>
        <p:spPr>
          <a:xfrm>
            <a:off x="228600" y="2368296"/>
            <a:ext cx="1079100" cy="237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D4ED8"/>
              </a:buClr>
              <a:buSzPts val="950"/>
              <a:buFont typeface="Calibri"/>
              <a:buNone/>
            </a:pPr>
            <a:r>
              <a:rPr lang="en" sz="950" b="1" i="0" u="none" strike="noStrike" cap="none">
                <a:solidFill>
                  <a:srgbClr val="1D4ED8"/>
                </a:solidFill>
                <a:latin typeface="Calibri"/>
                <a:ea typeface="Calibri"/>
                <a:cs typeface="Calibri"/>
                <a:sym typeface="Calibri"/>
              </a:rPr>
              <a:t>Conv2d</a:t>
            </a:r>
            <a:endParaRPr sz="950" b="0" i="0" u="none" strike="noStrike" cap="none">
              <a:solidFill>
                <a:schemeClr val="dk1"/>
              </a:solidFill>
              <a:latin typeface="Calibri"/>
              <a:ea typeface="Calibri"/>
              <a:cs typeface="Calibri"/>
              <a:sym typeface="Calibri"/>
            </a:endParaRPr>
          </a:p>
        </p:txBody>
      </p:sp>
      <p:sp>
        <p:nvSpPr>
          <p:cNvPr id="1563" name="Google Shape;1563;p32"/>
          <p:cNvSpPr/>
          <p:nvPr/>
        </p:nvSpPr>
        <p:spPr>
          <a:xfrm>
            <a:off x="274320" y="2606040"/>
            <a:ext cx="987600" cy="329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D4ED8"/>
              </a:buClr>
              <a:buSzPts val="800"/>
              <a:buFont typeface="Calibri"/>
              <a:buNone/>
            </a:pPr>
            <a:r>
              <a:rPr lang="en" sz="800" b="0" i="0" u="none" strike="noStrike" cap="none">
                <a:solidFill>
                  <a:srgbClr val="1D4ED8"/>
                </a:solidFill>
                <a:latin typeface="Calibri"/>
                <a:ea typeface="Calibri"/>
                <a:cs typeface="Calibri"/>
                <a:sym typeface="Calibri"/>
              </a:rPr>
              <a:t>16→32 ch</a:t>
            </a:r>
            <a:endParaRPr sz="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1D4ED8"/>
              </a:buClr>
              <a:buSzPts val="800"/>
              <a:buFont typeface="Calibri"/>
              <a:buNone/>
            </a:pPr>
            <a:r>
              <a:rPr lang="en" sz="800" b="0" i="0" u="none" strike="noStrike" cap="none">
                <a:solidFill>
                  <a:srgbClr val="1D4ED8"/>
                </a:solidFill>
                <a:latin typeface="Calibri"/>
                <a:ea typeface="Calibri"/>
                <a:cs typeface="Calibri"/>
                <a:sym typeface="Calibri"/>
              </a:rPr>
              <a:t>3×3 pad=1</a:t>
            </a:r>
            <a:endParaRPr sz="800" b="0" i="0" u="none" strike="noStrike" cap="none">
              <a:solidFill>
                <a:schemeClr val="dk1"/>
              </a:solidFill>
              <a:latin typeface="Calibri"/>
              <a:ea typeface="Calibri"/>
              <a:cs typeface="Calibri"/>
              <a:sym typeface="Calibri"/>
            </a:endParaRPr>
          </a:p>
        </p:txBody>
      </p:sp>
      <p:sp>
        <p:nvSpPr>
          <p:cNvPr id="1564" name="Google Shape;1564;p32"/>
          <p:cNvSpPr/>
          <p:nvPr/>
        </p:nvSpPr>
        <p:spPr>
          <a:xfrm>
            <a:off x="283464" y="2971800"/>
            <a:ext cx="969300" cy="183000"/>
          </a:xfrm>
          <a:prstGeom prst="rect">
            <a:avLst/>
          </a:prstGeom>
          <a:solidFill>
            <a:srgbClr val="3B82F6">
              <a:alpha val="21961"/>
            </a:srgbClr>
          </a:solidFill>
          <a:ln w="12700" cap="flat" cmpd="sng">
            <a:solidFill>
              <a:srgbClr val="3B82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5" name="Google Shape;1565;p32"/>
          <p:cNvSpPr/>
          <p:nvPr/>
        </p:nvSpPr>
        <p:spPr>
          <a:xfrm>
            <a:off x="283464" y="2971800"/>
            <a:ext cx="9693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D4ED8"/>
              </a:buClr>
              <a:buSzPts val="750"/>
              <a:buFont typeface="Calibri"/>
              <a:buNone/>
            </a:pPr>
            <a:r>
              <a:rPr lang="en" sz="750" b="1" i="0" u="none" strike="noStrike" cap="none">
                <a:solidFill>
                  <a:srgbClr val="1D4ED8"/>
                </a:solidFill>
                <a:latin typeface="Calibri"/>
                <a:ea typeface="Calibri"/>
                <a:cs typeface="Calibri"/>
                <a:sym typeface="Calibri"/>
              </a:rPr>
              <a:t>32×14×14</a:t>
            </a:r>
            <a:endParaRPr sz="750" b="0" i="0" u="none" strike="noStrike" cap="none">
              <a:solidFill>
                <a:schemeClr val="dk1"/>
              </a:solidFill>
              <a:latin typeface="Calibri"/>
              <a:ea typeface="Calibri"/>
              <a:cs typeface="Calibri"/>
              <a:sym typeface="Calibri"/>
            </a:endParaRPr>
          </a:p>
        </p:txBody>
      </p:sp>
      <p:cxnSp>
        <p:nvCxnSpPr>
          <p:cNvPr id="1566" name="Google Shape;1566;p32"/>
          <p:cNvCxnSpPr/>
          <p:nvPr/>
        </p:nvCxnSpPr>
        <p:spPr>
          <a:xfrm>
            <a:off x="1325880" y="2743200"/>
            <a:ext cx="146400" cy="0"/>
          </a:xfrm>
          <a:prstGeom prst="straightConnector1">
            <a:avLst/>
          </a:prstGeom>
          <a:noFill/>
          <a:ln w="17775" cap="flat" cmpd="sng">
            <a:solidFill>
              <a:srgbClr val="94A3B8"/>
            </a:solidFill>
            <a:prstDash val="solid"/>
            <a:round/>
            <a:headEnd type="none" w="sm" len="sm"/>
            <a:tailEnd type="triangle" w="med" len="med"/>
          </a:ln>
        </p:spPr>
      </p:cxnSp>
      <p:sp>
        <p:nvSpPr>
          <p:cNvPr id="1567" name="Google Shape;1567;p32"/>
          <p:cNvSpPr/>
          <p:nvPr/>
        </p:nvSpPr>
        <p:spPr>
          <a:xfrm>
            <a:off x="1472184" y="2276856"/>
            <a:ext cx="1079100" cy="932700"/>
          </a:xfrm>
          <a:prstGeom prst="rect">
            <a:avLst/>
          </a:prstGeom>
          <a:solidFill>
            <a:srgbClr val="CCFBF1"/>
          </a:solidFill>
          <a:ln w="19050"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8" name="Google Shape;1568;p32"/>
          <p:cNvSpPr/>
          <p:nvPr/>
        </p:nvSpPr>
        <p:spPr>
          <a:xfrm>
            <a:off x="1472184" y="2368296"/>
            <a:ext cx="1079100" cy="237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F766E"/>
              </a:buClr>
              <a:buSzPts val="950"/>
              <a:buFont typeface="Calibri"/>
              <a:buNone/>
            </a:pPr>
            <a:r>
              <a:rPr lang="en" sz="950" b="1" i="0" u="none" strike="noStrike" cap="none">
                <a:solidFill>
                  <a:srgbClr val="0F766E"/>
                </a:solidFill>
                <a:latin typeface="Calibri"/>
                <a:ea typeface="Calibri"/>
                <a:cs typeface="Calibri"/>
                <a:sym typeface="Calibri"/>
              </a:rPr>
              <a:t>ReLU</a:t>
            </a:r>
            <a:endParaRPr sz="950" b="0" i="0" u="none" strike="noStrike" cap="none">
              <a:solidFill>
                <a:schemeClr val="dk1"/>
              </a:solidFill>
              <a:latin typeface="Calibri"/>
              <a:ea typeface="Calibri"/>
              <a:cs typeface="Calibri"/>
              <a:sym typeface="Calibri"/>
            </a:endParaRPr>
          </a:p>
        </p:txBody>
      </p:sp>
      <p:sp>
        <p:nvSpPr>
          <p:cNvPr id="1569" name="Google Shape;1569;p32"/>
          <p:cNvSpPr/>
          <p:nvPr/>
        </p:nvSpPr>
        <p:spPr>
          <a:xfrm>
            <a:off x="1517904" y="2606040"/>
            <a:ext cx="987600" cy="329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F766E"/>
              </a:buClr>
              <a:buSzPts val="800"/>
              <a:buFont typeface="Calibri"/>
              <a:buNone/>
            </a:pPr>
            <a:r>
              <a:rPr lang="en" sz="800" b="0" i="0" u="none" strike="noStrike" cap="none">
                <a:solidFill>
                  <a:srgbClr val="0F766E"/>
                </a:solidFill>
                <a:latin typeface="Calibri"/>
                <a:ea typeface="Calibri"/>
                <a:cs typeface="Calibri"/>
                <a:sym typeface="Calibri"/>
              </a:rPr>
              <a:t>non-linear</a:t>
            </a:r>
            <a:endParaRPr sz="800" b="0" i="0" u="none" strike="noStrike" cap="none">
              <a:solidFill>
                <a:schemeClr val="dk1"/>
              </a:solidFill>
              <a:latin typeface="Calibri"/>
              <a:ea typeface="Calibri"/>
              <a:cs typeface="Calibri"/>
              <a:sym typeface="Calibri"/>
            </a:endParaRPr>
          </a:p>
        </p:txBody>
      </p:sp>
      <p:sp>
        <p:nvSpPr>
          <p:cNvPr id="1570" name="Google Shape;1570;p32"/>
          <p:cNvSpPr/>
          <p:nvPr/>
        </p:nvSpPr>
        <p:spPr>
          <a:xfrm>
            <a:off x="1527048" y="2971800"/>
            <a:ext cx="969300" cy="183000"/>
          </a:xfrm>
          <a:prstGeom prst="rect">
            <a:avLst/>
          </a:prstGeom>
          <a:solidFill>
            <a:srgbClr val="14B8A6">
              <a:alpha val="21961"/>
            </a:srgbClr>
          </a:solidFill>
          <a:ln w="12700"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1" name="Google Shape;1571;p32"/>
          <p:cNvSpPr/>
          <p:nvPr/>
        </p:nvSpPr>
        <p:spPr>
          <a:xfrm>
            <a:off x="1527048" y="2971800"/>
            <a:ext cx="9693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F766E"/>
              </a:buClr>
              <a:buSzPts val="750"/>
              <a:buFont typeface="Calibri"/>
              <a:buNone/>
            </a:pPr>
            <a:r>
              <a:rPr lang="en" sz="750" b="1" i="0" u="none" strike="noStrike" cap="none">
                <a:solidFill>
                  <a:srgbClr val="0F766E"/>
                </a:solidFill>
                <a:latin typeface="Calibri"/>
                <a:ea typeface="Calibri"/>
                <a:cs typeface="Calibri"/>
                <a:sym typeface="Calibri"/>
              </a:rPr>
              <a:t>32×14×14</a:t>
            </a:r>
            <a:endParaRPr sz="750" b="0" i="0" u="none" strike="noStrike" cap="none">
              <a:solidFill>
                <a:schemeClr val="dk1"/>
              </a:solidFill>
              <a:latin typeface="Calibri"/>
              <a:ea typeface="Calibri"/>
              <a:cs typeface="Calibri"/>
              <a:sym typeface="Calibri"/>
            </a:endParaRPr>
          </a:p>
        </p:txBody>
      </p:sp>
      <p:cxnSp>
        <p:nvCxnSpPr>
          <p:cNvPr id="1572" name="Google Shape;1572;p32"/>
          <p:cNvCxnSpPr/>
          <p:nvPr/>
        </p:nvCxnSpPr>
        <p:spPr>
          <a:xfrm>
            <a:off x="2569464" y="2743200"/>
            <a:ext cx="146400" cy="0"/>
          </a:xfrm>
          <a:prstGeom prst="straightConnector1">
            <a:avLst/>
          </a:prstGeom>
          <a:noFill/>
          <a:ln w="17775" cap="flat" cmpd="sng">
            <a:solidFill>
              <a:srgbClr val="94A3B8"/>
            </a:solidFill>
            <a:prstDash val="solid"/>
            <a:round/>
            <a:headEnd type="none" w="sm" len="sm"/>
            <a:tailEnd type="triangle" w="med" len="med"/>
          </a:ln>
        </p:spPr>
      </p:cxnSp>
      <p:sp>
        <p:nvSpPr>
          <p:cNvPr id="1573" name="Google Shape;1573;p32"/>
          <p:cNvSpPr/>
          <p:nvPr/>
        </p:nvSpPr>
        <p:spPr>
          <a:xfrm>
            <a:off x="2715768" y="2276856"/>
            <a:ext cx="1079100" cy="932700"/>
          </a:xfrm>
          <a:prstGeom prst="rect">
            <a:avLst/>
          </a:prstGeom>
          <a:solidFill>
            <a:srgbClr val="EDE9FE"/>
          </a:solidFill>
          <a:ln w="19050" cap="flat" cmpd="sng">
            <a:solidFill>
              <a:srgbClr val="8B5C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4" name="Google Shape;1574;p32"/>
          <p:cNvSpPr/>
          <p:nvPr/>
        </p:nvSpPr>
        <p:spPr>
          <a:xfrm>
            <a:off x="2715768" y="2368296"/>
            <a:ext cx="1079100" cy="237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D28D9"/>
              </a:buClr>
              <a:buSzPts val="950"/>
              <a:buFont typeface="Calibri"/>
              <a:buNone/>
            </a:pPr>
            <a:r>
              <a:rPr lang="en" sz="950" b="1" i="0" u="none" strike="noStrike" cap="none">
                <a:solidFill>
                  <a:srgbClr val="6D28D9"/>
                </a:solidFill>
                <a:latin typeface="Calibri"/>
                <a:ea typeface="Calibri"/>
                <a:cs typeface="Calibri"/>
                <a:sym typeface="Calibri"/>
              </a:rPr>
              <a:t>MaxPool2d</a:t>
            </a:r>
            <a:endParaRPr sz="950" b="0" i="0" u="none" strike="noStrike" cap="none">
              <a:solidFill>
                <a:schemeClr val="dk1"/>
              </a:solidFill>
              <a:latin typeface="Calibri"/>
              <a:ea typeface="Calibri"/>
              <a:cs typeface="Calibri"/>
              <a:sym typeface="Calibri"/>
            </a:endParaRPr>
          </a:p>
        </p:txBody>
      </p:sp>
      <p:sp>
        <p:nvSpPr>
          <p:cNvPr id="1575" name="Google Shape;1575;p32"/>
          <p:cNvSpPr/>
          <p:nvPr/>
        </p:nvSpPr>
        <p:spPr>
          <a:xfrm>
            <a:off x="2761488" y="2606040"/>
            <a:ext cx="987600" cy="329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D28D9"/>
              </a:buClr>
              <a:buSzPts val="800"/>
              <a:buFont typeface="Calibri"/>
              <a:buNone/>
            </a:pPr>
            <a:r>
              <a:rPr lang="en" sz="800" b="0" i="0" u="none" strike="noStrike" cap="none">
                <a:solidFill>
                  <a:srgbClr val="6D28D9"/>
                </a:solidFill>
                <a:latin typeface="Calibri"/>
                <a:ea typeface="Calibri"/>
                <a:cs typeface="Calibri"/>
                <a:sym typeface="Calibri"/>
              </a:rPr>
              <a:t>2×2 stride 2</a:t>
            </a:r>
            <a:endParaRPr sz="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6D28D9"/>
              </a:buClr>
              <a:buSzPts val="800"/>
              <a:buFont typeface="Calibri"/>
              <a:buNone/>
            </a:pPr>
            <a:r>
              <a:rPr lang="en" sz="800" b="0" i="0" u="none" strike="noStrike" cap="none">
                <a:solidFill>
                  <a:srgbClr val="6D28D9"/>
                </a:solidFill>
                <a:latin typeface="Calibri"/>
                <a:ea typeface="Calibri"/>
                <a:cs typeface="Calibri"/>
                <a:sym typeface="Calibri"/>
              </a:rPr>
              <a:t>14→7</a:t>
            </a:r>
            <a:endParaRPr sz="800" b="0" i="0" u="none" strike="noStrike" cap="none">
              <a:solidFill>
                <a:schemeClr val="dk1"/>
              </a:solidFill>
              <a:latin typeface="Calibri"/>
              <a:ea typeface="Calibri"/>
              <a:cs typeface="Calibri"/>
              <a:sym typeface="Calibri"/>
            </a:endParaRPr>
          </a:p>
        </p:txBody>
      </p:sp>
      <p:sp>
        <p:nvSpPr>
          <p:cNvPr id="1576" name="Google Shape;1576;p32"/>
          <p:cNvSpPr/>
          <p:nvPr/>
        </p:nvSpPr>
        <p:spPr>
          <a:xfrm>
            <a:off x="2770632" y="2971800"/>
            <a:ext cx="969300" cy="183000"/>
          </a:xfrm>
          <a:prstGeom prst="rect">
            <a:avLst/>
          </a:prstGeom>
          <a:solidFill>
            <a:srgbClr val="8B5CF6">
              <a:alpha val="21961"/>
            </a:srgbClr>
          </a:solidFill>
          <a:ln w="12700" cap="flat" cmpd="sng">
            <a:solidFill>
              <a:srgbClr val="8B5C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7" name="Google Shape;1577;p32"/>
          <p:cNvSpPr/>
          <p:nvPr/>
        </p:nvSpPr>
        <p:spPr>
          <a:xfrm>
            <a:off x="2770632" y="2971800"/>
            <a:ext cx="9693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D28D9"/>
              </a:buClr>
              <a:buSzPts val="750"/>
              <a:buFont typeface="Calibri"/>
              <a:buNone/>
            </a:pPr>
            <a:r>
              <a:rPr lang="en" sz="750" b="1" i="0" u="none" strike="noStrike" cap="none">
                <a:solidFill>
                  <a:srgbClr val="6D28D9"/>
                </a:solidFill>
                <a:latin typeface="Calibri"/>
                <a:ea typeface="Calibri"/>
                <a:cs typeface="Calibri"/>
                <a:sym typeface="Calibri"/>
              </a:rPr>
              <a:t>32×7×7</a:t>
            </a:r>
            <a:endParaRPr sz="750" b="0" i="0" u="none" strike="noStrike" cap="none">
              <a:solidFill>
                <a:schemeClr val="dk1"/>
              </a:solidFill>
              <a:latin typeface="Calibri"/>
              <a:ea typeface="Calibri"/>
              <a:cs typeface="Calibri"/>
              <a:sym typeface="Calibri"/>
            </a:endParaRPr>
          </a:p>
        </p:txBody>
      </p:sp>
      <p:cxnSp>
        <p:nvCxnSpPr>
          <p:cNvPr id="1578" name="Google Shape;1578;p32"/>
          <p:cNvCxnSpPr/>
          <p:nvPr/>
        </p:nvCxnSpPr>
        <p:spPr>
          <a:xfrm>
            <a:off x="3813048" y="2743200"/>
            <a:ext cx="146400" cy="0"/>
          </a:xfrm>
          <a:prstGeom prst="straightConnector1">
            <a:avLst/>
          </a:prstGeom>
          <a:noFill/>
          <a:ln w="17775" cap="flat" cmpd="sng">
            <a:solidFill>
              <a:srgbClr val="94A3B8"/>
            </a:solidFill>
            <a:prstDash val="solid"/>
            <a:round/>
            <a:headEnd type="none" w="sm" len="sm"/>
            <a:tailEnd type="triangle" w="med" len="med"/>
          </a:ln>
        </p:spPr>
      </p:cxnSp>
      <p:sp>
        <p:nvSpPr>
          <p:cNvPr id="1579" name="Google Shape;1579;p32"/>
          <p:cNvSpPr/>
          <p:nvPr/>
        </p:nvSpPr>
        <p:spPr>
          <a:xfrm>
            <a:off x="3959352" y="2276856"/>
            <a:ext cx="1079100" cy="932700"/>
          </a:xfrm>
          <a:prstGeom prst="rect">
            <a:avLst/>
          </a:prstGeom>
          <a:solidFill>
            <a:srgbClr val="FEF3C7"/>
          </a:solidFill>
          <a:ln w="1905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0" name="Google Shape;1580;p32"/>
          <p:cNvSpPr/>
          <p:nvPr/>
        </p:nvSpPr>
        <p:spPr>
          <a:xfrm>
            <a:off x="3959352" y="2368296"/>
            <a:ext cx="1079100" cy="237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2400E"/>
              </a:buClr>
              <a:buSzPts val="950"/>
              <a:buFont typeface="Calibri"/>
              <a:buNone/>
            </a:pPr>
            <a:r>
              <a:rPr lang="en" sz="950" b="1" i="0" u="none" strike="noStrike" cap="none">
                <a:solidFill>
                  <a:srgbClr val="92400E"/>
                </a:solidFill>
                <a:latin typeface="Calibri"/>
                <a:ea typeface="Calibri"/>
                <a:cs typeface="Calibri"/>
                <a:sym typeface="Calibri"/>
              </a:rPr>
              <a:t>Flatten</a:t>
            </a:r>
            <a:endParaRPr sz="950" b="0" i="0" u="none" strike="noStrike" cap="none">
              <a:solidFill>
                <a:schemeClr val="dk1"/>
              </a:solidFill>
              <a:latin typeface="Calibri"/>
              <a:ea typeface="Calibri"/>
              <a:cs typeface="Calibri"/>
              <a:sym typeface="Calibri"/>
            </a:endParaRPr>
          </a:p>
        </p:txBody>
      </p:sp>
      <p:sp>
        <p:nvSpPr>
          <p:cNvPr id="1581" name="Google Shape;1581;p32"/>
          <p:cNvSpPr/>
          <p:nvPr/>
        </p:nvSpPr>
        <p:spPr>
          <a:xfrm>
            <a:off x="4005072" y="2606040"/>
            <a:ext cx="987600" cy="329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2400E"/>
              </a:buClr>
              <a:buSzPts val="800"/>
              <a:buFont typeface="Calibri"/>
              <a:buNone/>
            </a:pPr>
            <a:r>
              <a:rPr lang="en" sz="800" b="0" i="0" u="none" strike="noStrike" cap="none">
                <a:solidFill>
                  <a:srgbClr val="92400E"/>
                </a:solidFill>
                <a:latin typeface="Calibri"/>
                <a:ea typeface="Calibri"/>
                <a:cs typeface="Calibri"/>
                <a:sym typeface="Calibri"/>
              </a:rPr>
              <a:t>x.view(-1)</a:t>
            </a:r>
            <a:endParaRPr sz="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92400E"/>
              </a:buClr>
              <a:buSzPts val="800"/>
              <a:buFont typeface="Calibri"/>
              <a:buNone/>
            </a:pPr>
            <a:r>
              <a:rPr lang="en" sz="800" b="0" i="0" u="none" strike="noStrike" cap="none">
                <a:solidFill>
                  <a:srgbClr val="92400E"/>
                </a:solidFill>
                <a:latin typeface="Calibri"/>
                <a:ea typeface="Calibri"/>
                <a:cs typeface="Calibri"/>
                <a:sym typeface="Calibri"/>
              </a:rPr>
              <a:t>32×7×7=1568</a:t>
            </a:r>
            <a:endParaRPr sz="800" b="0" i="0" u="none" strike="noStrike" cap="none">
              <a:solidFill>
                <a:schemeClr val="dk1"/>
              </a:solidFill>
              <a:latin typeface="Calibri"/>
              <a:ea typeface="Calibri"/>
              <a:cs typeface="Calibri"/>
              <a:sym typeface="Calibri"/>
            </a:endParaRPr>
          </a:p>
        </p:txBody>
      </p:sp>
      <p:sp>
        <p:nvSpPr>
          <p:cNvPr id="1582" name="Google Shape;1582;p32"/>
          <p:cNvSpPr/>
          <p:nvPr/>
        </p:nvSpPr>
        <p:spPr>
          <a:xfrm>
            <a:off x="4014216" y="2971800"/>
            <a:ext cx="969300" cy="183000"/>
          </a:xfrm>
          <a:prstGeom prst="rect">
            <a:avLst/>
          </a:prstGeom>
          <a:solidFill>
            <a:srgbClr val="F59E0B">
              <a:alpha val="21961"/>
            </a:srgbClr>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3" name="Google Shape;1583;p32"/>
          <p:cNvSpPr/>
          <p:nvPr/>
        </p:nvSpPr>
        <p:spPr>
          <a:xfrm>
            <a:off x="4014216" y="2971800"/>
            <a:ext cx="9693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2400E"/>
              </a:buClr>
              <a:buSzPts val="750"/>
              <a:buFont typeface="Calibri"/>
              <a:buNone/>
            </a:pPr>
            <a:r>
              <a:rPr lang="en" sz="750" b="1" i="0" u="none" strike="noStrike" cap="none">
                <a:solidFill>
                  <a:srgbClr val="92400E"/>
                </a:solidFill>
                <a:latin typeface="Calibri"/>
                <a:ea typeface="Calibri"/>
                <a:cs typeface="Calibri"/>
                <a:sym typeface="Calibri"/>
              </a:rPr>
              <a:t>1568</a:t>
            </a:r>
            <a:endParaRPr sz="750" b="0" i="0" u="none" strike="noStrike" cap="none">
              <a:solidFill>
                <a:schemeClr val="dk1"/>
              </a:solidFill>
              <a:latin typeface="Calibri"/>
              <a:ea typeface="Calibri"/>
              <a:cs typeface="Calibri"/>
              <a:sym typeface="Calibri"/>
            </a:endParaRPr>
          </a:p>
        </p:txBody>
      </p:sp>
      <p:cxnSp>
        <p:nvCxnSpPr>
          <p:cNvPr id="1584" name="Google Shape;1584;p32"/>
          <p:cNvCxnSpPr/>
          <p:nvPr/>
        </p:nvCxnSpPr>
        <p:spPr>
          <a:xfrm>
            <a:off x="4498848" y="3392424"/>
            <a:ext cx="0" cy="292500"/>
          </a:xfrm>
          <a:prstGeom prst="straightConnector1">
            <a:avLst/>
          </a:prstGeom>
          <a:noFill/>
          <a:ln w="17775" cap="flat" cmpd="sng">
            <a:solidFill>
              <a:srgbClr val="94A3B8"/>
            </a:solidFill>
            <a:prstDash val="solid"/>
            <a:round/>
            <a:headEnd type="none" w="sm" len="sm"/>
            <a:tailEnd type="triangle" w="med" len="med"/>
          </a:ln>
        </p:spPr>
      </p:cxnSp>
      <p:sp>
        <p:nvSpPr>
          <p:cNvPr id="1585" name="Google Shape;1585;p32"/>
          <p:cNvSpPr/>
          <p:nvPr/>
        </p:nvSpPr>
        <p:spPr>
          <a:xfrm>
            <a:off x="3767328" y="3685032"/>
            <a:ext cx="1463100" cy="822900"/>
          </a:xfrm>
          <a:prstGeom prst="rect">
            <a:avLst/>
          </a:prstGeom>
          <a:solidFill>
            <a:srgbClr val="FFE4E6"/>
          </a:solidFill>
          <a:ln w="19050" cap="flat" cmpd="sng">
            <a:solidFill>
              <a:srgbClr val="F43F5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6" name="Google Shape;1586;p32"/>
          <p:cNvSpPr/>
          <p:nvPr/>
        </p:nvSpPr>
        <p:spPr>
          <a:xfrm>
            <a:off x="3767328" y="3776472"/>
            <a:ext cx="1463100" cy="237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F1239"/>
              </a:buClr>
              <a:buSzPts val="950"/>
              <a:buFont typeface="Calibri"/>
              <a:buNone/>
            </a:pPr>
            <a:r>
              <a:rPr lang="en" sz="950" b="1" i="0" u="none" strike="noStrike" cap="none">
                <a:solidFill>
                  <a:srgbClr val="9F1239"/>
                </a:solidFill>
                <a:latin typeface="Calibri"/>
                <a:ea typeface="Calibri"/>
                <a:cs typeface="Calibri"/>
                <a:sym typeface="Calibri"/>
              </a:rPr>
              <a:t>Linear (FC)</a:t>
            </a:r>
            <a:endParaRPr sz="950" b="0" i="0" u="none" strike="noStrike" cap="none">
              <a:solidFill>
                <a:schemeClr val="dk1"/>
              </a:solidFill>
              <a:latin typeface="Calibri"/>
              <a:ea typeface="Calibri"/>
              <a:cs typeface="Calibri"/>
              <a:sym typeface="Calibri"/>
            </a:endParaRPr>
          </a:p>
        </p:txBody>
      </p:sp>
      <p:sp>
        <p:nvSpPr>
          <p:cNvPr id="1587" name="Google Shape;1587;p32"/>
          <p:cNvSpPr/>
          <p:nvPr/>
        </p:nvSpPr>
        <p:spPr>
          <a:xfrm>
            <a:off x="3813048" y="4014216"/>
            <a:ext cx="1371600" cy="329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F1239"/>
              </a:buClr>
              <a:buSzPts val="800"/>
              <a:buFont typeface="Calibri"/>
              <a:buNone/>
            </a:pPr>
            <a:r>
              <a:rPr lang="en" sz="800" b="0" i="0" u="none" strike="noStrike" cap="none">
                <a:solidFill>
                  <a:srgbClr val="9F1239"/>
                </a:solidFill>
                <a:latin typeface="Calibri"/>
                <a:ea typeface="Calibri"/>
                <a:cs typeface="Calibri"/>
                <a:sym typeface="Calibri"/>
              </a:rPr>
              <a:t>self.fc(x)  ·  1568→10</a:t>
            </a:r>
            <a:endParaRPr sz="800" b="0" i="0" u="none" strike="noStrike" cap="none">
              <a:solidFill>
                <a:schemeClr val="dk1"/>
              </a:solidFill>
              <a:latin typeface="Calibri"/>
              <a:ea typeface="Calibri"/>
              <a:cs typeface="Calibri"/>
              <a:sym typeface="Calibri"/>
            </a:endParaRPr>
          </a:p>
        </p:txBody>
      </p:sp>
      <p:sp>
        <p:nvSpPr>
          <p:cNvPr id="1588" name="Google Shape;1588;p32"/>
          <p:cNvSpPr/>
          <p:nvPr/>
        </p:nvSpPr>
        <p:spPr>
          <a:xfrm>
            <a:off x="3822192" y="4270248"/>
            <a:ext cx="1353300" cy="183000"/>
          </a:xfrm>
          <a:prstGeom prst="rect">
            <a:avLst/>
          </a:prstGeom>
          <a:solidFill>
            <a:srgbClr val="F43F5E">
              <a:alpha val="21961"/>
            </a:srgbClr>
          </a:solidFill>
          <a:ln w="12700" cap="flat" cmpd="sng">
            <a:solidFill>
              <a:srgbClr val="F43F5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9" name="Google Shape;1589;p32"/>
          <p:cNvSpPr/>
          <p:nvPr/>
        </p:nvSpPr>
        <p:spPr>
          <a:xfrm>
            <a:off x="3822192" y="4270248"/>
            <a:ext cx="13533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F1239"/>
              </a:buClr>
              <a:buSzPts val="750"/>
              <a:buFont typeface="Calibri"/>
              <a:buNone/>
            </a:pPr>
            <a:r>
              <a:rPr lang="en" sz="750" b="1" i="0" u="none" strike="noStrike" cap="none">
                <a:solidFill>
                  <a:srgbClr val="9F1239"/>
                </a:solidFill>
                <a:latin typeface="Calibri"/>
                <a:ea typeface="Calibri"/>
                <a:cs typeface="Calibri"/>
                <a:sym typeface="Calibri"/>
              </a:rPr>
              <a:t>10 logits</a:t>
            </a:r>
            <a:endParaRPr sz="750" b="0" i="0" u="none" strike="noStrike" cap="none">
              <a:solidFill>
                <a:schemeClr val="dk1"/>
              </a:solidFill>
              <a:latin typeface="Calibri"/>
              <a:ea typeface="Calibri"/>
              <a:cs typeface="Calibri"/>
              <a:sym typeface="Calibri"/>
            </a:endParaRPr>
          </a:p>
        </p:txBody>
      </p:sp>
      <p:cxnSp>
        <p:nvCxnSpPr>
          <p:cNvPr id="1590" name="Google Shape;1590;p32"/>
          <p:cNvCxnSpPr/>
          <p:nvPr/>
        </p:nvCxnSpPr>
        <p:spPr>
          <a:xfrm>
            <a:off x="5276088" y="4096512"/>
            <a:ext cx="457200" cy="0"/>
          </a:xfrm>
          <a:prstGeom prst="straightConnector1">
            <a:avLst/>
          </a:prstGeom>
          <a:noFill/>
          <a:ln w="17775" cap="flat" cmpd="sng">
            <a:solidFill>
              <a:srgbClr val="94A3B8"/>
            </a:solidFill>
            <a:prstDash val="solid"/>
            <a:round/>
            <a:headEnd type="none" w="sm" len="sm"/>
            <a:tailEnd type="triangle" w="med" len="med"/>
          </a:ln>
        </p:spPr>
      </p:cxnSp>
      <p:sp>
        <p:nvSpPr>
          <p:cNvPr id="1591" name="Google Shape;1591;p32"/>
          <p:cNvSpPr/>
          <p:nvPr/>
        </p:nvSpPr>
        <p:spPr>
          <a:xfrm>
            <a:off x="274320" y="4846320"/>
            <a:ext cx="137100" cy="137100"/>
          </a:xfrm>
          <a:prstGeom prst="rect">
            <a:avLst/>
          </a:prstGeom>
          <a:solidFill>
            <a:srgbClr val="DBEAFE"/>
          </a:solidFill>
          <a:ln w="12700" cap="flat" cmpd="sng">
            <a:solidFill>
              <a:srgbClr val="3B82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2" name="Google Shape;1592;p32"/>
          <p:cNvSpPr/>
          <p:nvPr/>
        </p:nvSpPr>
        <p:spPr>
          <a:xfrm>
            <a:off x="457200" y="4846320"/>
            <a:ext cx="731400" cy="13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800"/>
              <a:buFont typeface="Calibri"/>
              <a:buNone/>
            </a:pPr>
            <a:r>
              <a:rPr lang="en" sz="800" b="0" i="0" u="none" strike="noStrike" cap="none">
                <a:solidFill>
                  <a:srgbClr val="475569"/>
                </a:solidFill>
                <a:latin typeface="Calibri"/>
                <a:ea typeface="Calibri"/>
                <a:cs typeface="Calibri"/>
                <a:sym typeface="Calibri"/>
              </a:rPr>
              <a:t>Conv</a:t>
            </a:r>
            <a:endParaRPr sz="800" b="0" i="0" u="none" strike="noStrike" cap="none">
              <a:solidFill>
                <a:schemeClr val="dk1"/>
              </a:solidFill>
              <a:latin typeface="Calibri"/>
              <a:ea typeface="Calibri"/>
              <a:cs typeface="Calibri"/>
              <a:sym typeface="Calibri"/>
            </a:endParaRPr>
          </a:p>
        </p:txBody>
      </p:sp>
      <p:sp>
        <p:nvSpPr>
          <p:cNvPr id="1593" name="Google Shape;1593;p32"/>
          <p:cNvSpPr/>
          <p:nvPr/>
        </p:nvSpPr>
        <p:spPr>
          <a:xfrm>
            <a:off x="1234440" y="4846320"/>
            <a:ext cx="137100" cy="137100"/>
          </a:xfrm>
          <a:prstGeom prst="rect">
            <a:avLst/>
          </a:prstGeom>
          <a:solidFill>
            <a:srgbClr val="CCFBF1"/>
          </a:solidFill>
          <a:ln w="12700"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4" name="Google Shape;1594;p32"/>
          <p:cNvSpPr/>
          <p:nvPr/>
        </p:nvSpPr>
        <p:spPr>
          <a:xfrm>
            <a:off x="1417320" y="4846320"/>
            <a:ext cx="731400" cy="13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800"/>
              <a:buFont typeface="Calibri"/>
              <a:buNone/>
            </a:pPr>
            <a:r>
              <a:rPr lang="en" sz="800" b="0" i="0" u="none" strike="noStrike" cap="none">
                <a:solidFill>
                  <a:srgbClr val="475569"/>
                </a:solidFill>
                <a:latin typeface="Calibri"/>
                <a:ea typeface="Calibri"/>
                <a:cs typeface="Calibri"/>
                <a:sym typeface="Calibri"/>
              </a:rPr>
              <a:t>ReLU</a:t>
            </a:r>
            <a:endParaRPr sz="800" b="0" i="0" u="none" strike="noStrike" cap="none">
              <a:solidFill>
                <a:schemeClr val="dk1"/>
              </a:solidFill>
              <a:latin typeface="Calibri"/>
              <a:ea typeface="Calibri"/>
              <a:cs typeface="Calibri"/>
              <a:sym typeface="Calibri"/>
            </a:endParaRPr>
          </a:p>
        </p:txBody>
      </p:sp>
      <p:sp>
        <p:nvSpPr>
          <p:cNvPr id="1595" name="Google Shape;1595;p32"/>
          <p:cNvSpPr/>
          <p:nvPr/>
        </p:nvSpPr>
        <p:spPr>
          <a:xfrm>
            <a:off x="2194560" y="4846320"/>
            <a:ext cx="137100" cy="137100"/>
          </a:xfrm>
          <a:prstGeom prst="rect">
            <a:avLst/>
          </a:prstGeom>
          <a:solidFill>
            <a:srgbClr val="EDE9FE"/>
          </a:solidFill>
          <a:ln w="12700" cap="flat" cmpd="sng">
            <a:solidFill>
              <a:srgbClr val="8B5C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6" name="Google Shape;1596;p32"/>
          <p:cNvSpPr/>
          <p:nvPr/>
        </p:nvSpPr>
        <p:spPr>
          <a:xfrm>
            <a:off x="2377440" y="4846320"/>
            <a:ext cx="731400" cy="13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800"/>
              <a:buFont typeface="Calibri"/>
              <a:buNone/>
            </a:pPr>
            <a:r>
              <a:rPr lang="en" sz="800" b="0" i="0" u="none" strike="noStrike" cap="none">
                <a:solidFill>
                  <a:srgbClr val="475569"/>
                </a:solidFill>
                <a:latin typeface="Calibri"/>
                <a:ea typeface="Calibri"/>
                <a:cs typeface="Calibri"/>
                <a:sym typeface="Calibri"/>
              </a:rPr>
              <a:t>Pool</a:t>
            </a:r>
            <a:endParaRPr sz="800" b="0" i="0" u="none" strike="noStrike" cap="none">
              <a:solidFill>
                <a:schemeClr val="dk1"/>
              </a:solidFill>
              <a:latin typeface="Calibri"/>
              <a:ea typeface="Calibri"/>
              <a:cs typeface="Calibri"/>
              <a:sym typeface="Calibri"/>
            </a:endParaRPr>
          </a:p>
        </p:txBody>
      </p:sp>
      <p:sp>
        <p:nvSpPr>
          <p:cNvPr id="1597" name="Google Shape;1597;p32"/>
          <p:cNvSpPr/>
          <p:nvPr/>
        </p:nvSpPr>
        <p:spPr>
          <a:xfrm>
            <a:off x="3154680" y="4846320"/>
            <a:ext cx="137100" cy="137100"/>
          </a:xfrm>
          <a:prstGeom prst="rect">
            <a:avLst/>
          </a:prstGeom>
          <a:solidFill>
            <a:srgbClr val="FEF3C7"/>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8" name="Google Shape;1598;p32"/>
          <p:cNvSpPr/>
          <p:nvPr/>
        </p:nvSpPr>
        <p:spPr>
          <a:xfrm>
            <a:off x="3337560" y="4846320"/>
            <a:ext cx="731400" cy="13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800"/>
              <a:buFont typeface="Calibri"/>
              <a:buNone/>
            </a:pPr>
            <a:r>
              <a:rPr lang="en" sz="800" b="0" i="0" u="none" strike="noStrike" cap="none">
                <a:solidFill>
                  <a:srgbClr val="475569"/>
                </a:solidFill>
                <a:latin typeface="Calibri"/>
                <a:ea typeface="Calibri"/>
                <a:cs typeface="Calibri"/>
                <a:sym typeface="Calibri"/>
              </a:rPr>
              <a:t>Flatten</a:t>
            </a:r>
            <a:endParaRPr sz="800" b="0" i="0" u="none" strike="noStrike" cap="none">
              <a:solidFill>
                <a:schemeClr val="dk1"/>
              </a:solidFill>
              <a:latin typeface="Calibri"/>
              <a:ea typeface="Calibri"/>
              <a:cs typeface="Calibri"/>
              <a:sym typeface="Calibri"/>
            </a:endParaRPr>
          </a:p>
        </p:txBody>
      </p:sp>
      <p:sp>
        <p:nvSpPr>
          <p:cNvPr id="1599" name="Google Shape;1599;p32"/>
          <p:cNvSpPr/>
          <p:nvPr/>
        </p:nvSpPr>
        <p:spPr>
          <a:xfrm>
            <a:off x="4114800" y="4846320"/>
            <a:ext cx="137100" cy="137100"/>
          </a:xfrm>
          <a:prstGeom prst="rect">
            <a:avLst/>
          </a:prstGeom>
          <a:solidFill>
            <a:srgbClr val="FFE4E6"/>
          </a:solidFill>
          <a:ln w="12700" cap="flat" cmpd="sng">
            <a:solidFill>
              <a:srgbClr val="F43F5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0" name="Google Shape;1600;p32"/>
          <p:cNvSpPr/>
          <p:nvPr/>
        </p:nvSpPr>
        <p:spPr>
          <a:xfrm>
            <a:off x="4297680" y="4846320"/>
            <a:ext cx="731400" cy="13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800"/>
              <a:buFont typeface="Calibri"/>
              <a:buNone/>
            </a:pPr>
            <a:r>
              <a:rPr lang="en" sz="800" b="0" i="0" u="none" strike="noStrike" cap="none">
                <a:solidFill>
                  <a:srgbClr val="475569"/>
                </a:solidFill>
                <a:latin typeface="Calibri"/>
                <a:ea typeface="Calibri"/>
                <a:cs typeface="Calibri"/>
                <a:sym typeface="Calibri"/>
              </a:rPr>
              <a:t>FC</a:t>
            </a:r>
            <a:endParaRPr sz="800" b="0" i="0" u="none" strike="noStrike" cap="none">
              <a:solidFill>
                <a:schemeClr val="dk1"/>
              </a:solidFill>
              <a:latin typeface="Calibri"/>
              <a:ea typeface="Calibri"/>
              <a:cs typeface="Calibri"/>
              <a:sym typeface="Calibri"/>
            </a:endParaRPr>
          </a:p>
        </p:txBody>
      </p:sp>
      <p:sp>
        <p:nvSpPr>
          <p:cNvPr id="1601" name="Google Shape;1601;p32"/>
          <p:cNvSpPr/>
          <p:nvPr/>
        </p:nvSpPr>
        <p:spPr>
          <a:xfrm>
            <a:off x="5074920" y="4846320"/>
            <a:ext cx="137100" cy="137100"/>
          </a:xfrm>
          <a:prstGeom prst="rect">
            <a:avLst/>
          </a:prstGeom>
          <a:solidFill>
            <a:srgbClr val="DCFCE7"/>
          </a:solidFill>
          <a:ln w="12700" cap="flat" cmpd="sng">
            <a:solidFill>
              <a:srgbClr val="22C55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2" name="Google Shape;1602;p32"/>
          <p:cNvSpPr/>
          <p:nvPr/>
        </p:nvSpPr>
        <p:spPr>
          <a:xfrm>
            <a:off x="5257800" y="4846320"/>
            <a:ext cx="731400" cy="13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75569"/>
              </a:buClr>
              <a:buSzPts val="800"/>
              <a:buFont typeface="Calibri"/>
              <a:buNone/>
            </a:pPr>
            <a:r>
              <a:rPr lang="en" sz="800" b="0" i="0" u="none" strike="noStrike" cap="none">
                <a:solidFill>
                  <a:srgbClr val="475569"/>
                </a:solidFill>
                <a:latin typeface="Calibri"/>
                <a:ea typeface="Calibri"/>
                <a:cs typeface="Calibri"/>
                <a:sym typeface="Calibri"/>
              </a:rPr>
              <a:t>Output</a:t>
            </a:r>
            <a:endParaRPr sz="800" b="0" i="0" u="none" strike="noStrike" cap="none">
              <a:solidFill>
                <a:schemeClr val="dk1"/>
              </a:solidFill>
              <a:latin typeface="Calibri"/>
              <a:ea typeface="Calibri"/>
              <a:cs typeface="Calibri"/>
              <a:sym typeface="Calibri"/>
            </a:endParaRPr>
          </a:p>
        </p:txBody>
      </p:sp>
      <p:sp>
        <p:nvSpPr>
          <p:cNvPr id="1603" name="Google Shape;1603;p32"/>
          <p:cNvSpPr/>
          <p:nvPr/>
        </p:nvSpPr>
        <p:spPr>
          <a:xfrm>
            <a:off x="5029200" y="4828032"/>
            <a:ext cx="3840600" cy="1647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94A3B8"/>
              </a:buClr>
              <a:buSzPts val="800"/>
              <a:buFont typeface="Calibri"/>
              <a:buNone/>
            </a:pPr>
            <a:r>
              <a:rPr lang="en" sz="800" b="0" i="0" u="none" strike="noStrike" cap="none">
                <a:solidFill>
                  <a:srgbClr val="94A3B8"/>
                </a:solidFill>
                <a:latin typeface="Calibri"/>
                <a:ea typeface="Calibri"/>
                <a:cs typeface="Calibri"/>
                <a:sym typeface="Calibri"/>
              </a:rPr>
              <a:t>Deep Learning · IIT Kharagpur</a:t>
            </a:r>
            <a:endParaRPr sz="800" b="0" i="0" u="none" strike="noStrike" cap="none">
              <a:solidFill>
                <a:schemeClr val="dk1"/>
              </a:solidFill>
              <a:latin typeface="Calibri"/>
              <a:ea typeface="Calibri"/>
              <a:cs typeface="Calibri"/>
              <a:sym typeface="Calibri"/>
            </a:endParaRPr>
          </a:p>
        </p:txBody>
      </p:sp>
      <p:sp>
        <p:nvSpPr>
          <p:cNvPr id="1604" name="Google Shape;1604;p32"/>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49</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08"/>
        <p:cNvGrpSpPr/>
        <p:nvPr/>
      </p:nvGrpSpPr>
      <p:grpSpPr>
        <a:xfrm>
          <a:off x="0" y="0"/>
          <a:ext cx="0" cy="0"/>
          <a:chOff x="0" y="0"/>
          <a:chExt cx="0" cy="0"/>
        </a:xfrm>
      </p:grpSpPr>
      <p:pic>
        <p:nvPicPr>
          <p:cNvPr id="1609" name="Google Shape;1609;p33"/>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1610" name="Google Shape;1610;p33"/>
          <p:cNvSpPr txBox="1"/>
          <p:nvPr/>
        </p:nvSpPr>
        <p:spPr>
          <a:xfrm>
            <a:off x="1052950" y="98875"/>
            <a:ext cx="6618600" cy="7683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600"/>
              <a:buFont typeface="Arial"/>
              <a:buNone/>
            </a:pPr>
            <a:r>
              <a:rPr lang="en" sz="2600" b="1" i="0" u="none" strike="noStrike" cap="none">
                <a:solidFill>
                  <a:srgbClr val="0D1B2A"/>
                </a:solidFill>
                <a:latin typeface="Calibri"/>
                <a:ea typeface="Calibri"/>
                <a:cs typeface="Calibri"/>
                <a:sym typeface="Calibri"/>
              </a:rPr>
              <a:t>CNN Applications &amp; Famous Architectures</a:t>
            </a:r>
            <a:endParaRPr sz="2600" b="1" i="0" u="none" strike="noStrike" cap="none">
              <a:solidFill>
                <a:srgbClr val="0D1B2A"/>
              </a:solidFill>
              <a:latin typeface="Calibri"/>
              <a:ea typeface="Calibri"/>
              <a:cs typeface="Calibri"/>
              <a:sym typeface="Calibri"/>
            </a:endParaRPr>
          </a:p>
        </p:txBody>
      </p:sp>
      <p:sp>
        <p:nvSpPr>
          <p:cNvPr id="1611" name="Google Shape;1611;p33"/>
          <p:cNvSpPr/>
          <p:nvPr/>
        </p:nvSpPr>
        <p:spPr>
          <a:xfrm>
            <a:off x="274320" y="1097280"/>
            <a:ext cx="2743200" cy="2377500"/>
          </a:xfrm>
          <a:prstGeom prst="rect">
            <a:avLst/>
          </a:prstGeom>
          <a:solidFill>
            <a:srgbClr val="B8E2F5"/>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2" name="Google Shape;1612;p33"/>
          <p:cNvSpPr/>
          <p:nvPr/>
        </p:nvSpPr>
        <p:spPr>
          <a:xfrm>
            <a:off x="274320" y="1097280"/>
            <a:ext cx="2743200" cy="438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Computer Vision</a:t>
            </a:r>
            <a:endParaRPr sz="1400" b="0" i="0" u="none" strike="noStrike" cap="none">
              <a:solidFill>
                <a:schemeClr val="dk1"/>
              </a:solidFill>
              <a:latin typeface="Calibri"/>
              <a:ea typeface="Calibri"/>
              <a:cs typeface="Calibri"/>
              <a:sym typeface="Calibri"/>
            </a:endParaRPr>
          </a:p>
        </p:txBody>
      </p:sp>
      <p:sp>
        <p:nvSpPr>
          <p:cNvPr id="1613" name="Google Shape;1613;p33"/>
          <p:cNvSpPr/>
          <p:nvPr/>
        </p:nvSpPr>
        <p:spPr>
          <a:xfrm>
            <a:off x="274320" y="1536192"/>
            <a:ext cx="2743200" cy="366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4" name="Google Shape;1614;p33"/>
          <p:cNvSpPr/>
          <p:nvPr/>
        </p:nvSpPr>
        <p:spPr>
          <a:xfrm>
            <a:off x="365760" y="1609344"/>
            <a:ext cx="2560200" cy="1828800"/>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Clr>
                <a:srgbClr val="1A2E42"/>
              </a:buClr>
              <a:buSzPts val="1150"/>
              <a:buFont typeface="Calibri"/>
              <a:buChar char="•"/>
            </a:pPr>
            <a:r>
              <a:rPr lang="en" sz="1150" b="0" i="0" u="none" strike="noStrike" cap="none">
                <a:solidFill>
                  <a:srgbClr val="1A2E42"/>
                </a:solidFill>
                <a:latin typeface="Calibri"/>
                <a:ea typeface="Calibri"/>
                <a:cs typeface="Calibri"/>
                <a:sym typeface="Calibri"/>
              </a:rPr>
              <a:t>Image Classification</a:t>
            </a:r>
            <a:endParaRPr sz="11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A2E42"/>
              </a:buClr>
              <a:buSzPts val="1150"/>
              <a:buFont typeface="Calibri"/>
              <a:buChar char="•"/>
            </a:pPr>
            <a:r>
              <a:rPr lang="en" sz="1150" b="0" i="0" u="none" strike="noStrike" cap="none">
                <a:solidFill>
                  <a:srgbClr val="1A2E42"/>
                </a:solidFill>
                <a:latin typeface="Calibri"/>
                <a:ea typeface="Calibri"/>
                <a:cs typeface="Calibri"/>
                <a:sym typeface="Calibri"/>
              </a:rPr>
              <a:t>Object Detection (YOLO)</a:t>
            </a:r>
            <a:endParaRPr sz="11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A2E42"/>
              </a:buClr>
              <a:buSzPts val="1150"/>
              <a:buFont typeface="Calibri"/>
              <a:buChar char="•"/>
            </a:pPr>
            <a:r>
              <a:rPr lang="en" sz="1150" b="0" i="0" u="none" strike="noStrike" cap="none">
                <a:solidFill>
                  <a:srgbClr val="1A2E42"/>
                </a:solidFill>
                <a:latin typeface="Calibri"/>
                <a:ea typeface="Calibri"/>
                <a:cs typeface="Calibri"/>
                <a:sym typeface="Calibri"/>
              </a:rPr>
              <a:t>Semantic Segmentation</a:t>
            </a:r>
            <a:endParaRPr sz="11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A2E42"/>
              </a:buClr>
              <a:buSzPts val="1150"/>
              <a:buFont typeface="Calibri"/>
              <a:buChar char="•"/>
            </a:pPr>
            <a:r>
              <a:rPr lang="en" sz="1150" b="0" i="0" u="none" strike="noStrike" cap="none">
                <a:solidFill>
                  <a:srgbClr val="1A2E42"/>
                </a:solidFill>
                <a:latin typeface="Calibri"/>
                <a:ea typeface="Calibri"/>
                <a:cs typeface="Calibri"/>
                <a:sym typeface="Calibri"/>
              </a:rPr>
              <a:t>Facial Recognition</a:t>
            </a:r>
            <a:endParaRPr sz="1150" b="0" i="0" u="none" strike="noStrike" cap="none">
              <a:solidFill>
                <a:schemeClr val="dk1"/>
              </a:solidFill>
              <a:latin typeface="Calibri"/>
              <a:ea typeface="Calibri"/>
              <a:cs typeface="Calibri"/>
              <a:sym typeface="Calibri"/>
            </a:endParaRPr>
          </a:p>
        </p:txBody>
      </p:sp>
      <p:sp>
        <p:nvSpPr>
          <p:cNvPr id="1615" name="Google Shape;1615;p33"/>
          <p:cNvSpPr/>
          <p:nvPr/>
        </p:nvSpPr>
        <p:spPr>
          <a:xfrm>
            <a:off x="3200400" y="1097280"/>
            <a:ext cx="2743200" cy="2377500"/>
          </a:xfrm>
          <a:prstGeom prst="rect">
            <a:avLst/>
          </a:prstGeom>
          <a:solidFill>
            <a:srgbClr val="BAE5F0"/>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6" name="Google Shape;1616;p33"/>
          <p:cNvSpPr/>
          <p:nvPr/>
        </p:nvSpPr>
        <p:spPr>
          <a:xfrm>
            <a:off x="3200400" y="1097280"/>
            <a:ext cx="2743200" cy="438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Medical Imaging</a:t>
            </a:r>
            <a:endParaRPr sz="1400" b="0" i="0" u="none" strike="noStrike" cap="none">
              <a:solidFill>
                <a:schemeClr val="dk1"/>
              </a:solidFill>
              <a:latin typeface="Calibri"/>
              <a:ea typeface="Calibri"/>
              <a:cs typeface="Calibri"/>
              <a:sym typeface="Calibri"/>
            </a:endParaRPr>
          </a:p>
        </p:txBody>
      </p:sp>
      <p:sp>
        <p:nvSpPr>
          <p:cNvPr id="1617" name="Google Shape;1617;p33"/>
          <p:cNvSpPr/>
          <p:nvPr/>
        </p:nvSpPr>
        <p:spPr>
          <a:xfrm>
            <a:off x="3200400" y="1536192"/>
            <a:ext cx="2743200" cy="366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8" name="Google Shape;1618;p33"/>
          <p:cNvSpPr/>
          <p:nvPr/>
        </p:nvSpPr>
        <p:spPr>
          <a:xfrm>
            <a:off x="3291840" y="1609344"/>
            <a:ext cx="2560200" cy="1828800"/>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Clr>
                <a:srgbClr val="1A2E42"/>
              </a:buClr>
              <a:buSzPts val="1150"/>
              <a:buFont typeface="Calibri"/>
              <a:buChar char="•"/>
            </a:pPr>
            <a:r>
              <a:rPr lang="en" sz="1150" b="0" i="0" u="none" strike="noStrike" cap="none">
                <a:solidFill>
                  <a:srgbClr val="1A2E42"/>
                </a:solidFill>
                <a:latin typeface="Calibri"/>
                <a:ea typeface="Calibri"/>
                <a:cs typeface="Calibri"/>
                <a:sym typeface="Calibri"/>
              </a:rPr>
              <a:t>Tumor Detection in MRI</a:t>
            </a:r>
            <a:endParaRPr sz="11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A2E42"/>
              </a:buClr>
              <a:buSzPts val="1150"/>
              <a:buFont typeface="Calibri"/>
              <a:buChar char="•"/>
            </a:pPr>
            <a:r>
              <a:rPr lang="en" sz="1150" b="0" i="0" u="none" strike="noStrike" cap="none">
                <a:solidFill>
                  <a:srgbClr val="1A2E42"/>
                </a:solidFill>
                <a:latin typeface="Calibri"/>
                <a:ea typeface="Calibri"/>
                <a:cs typeface="Calibri"/>
                <a:sym typeface="Calibri"/>
              </a:rPr>
              <a:t>Diabetic Retinopathy</a:t>
            </a:r>
            <a:endParaRPr sz="11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A2E42"/>
              </a:buClr>
              <a:buSzPts val="1150"/>
              <a:buFont typeface="Calibri"/>
              <a:buChar char="•"/>
            </a:pPr>
            <a:r>
              <a:rPr lang="en" sz="1150" b="0" i="0" u="none" strike="noStrike" cap="none">
                <a:solidFill>
                  <a:srgbClr val="1A2E42"/>
                </a:solidFill>
                <a:latin typeface="Calibri"/>
                <a:ea typeface="Calibri"/>
                <a:cs typeface="Calibri"/>
                <a:sym typeface="Calibri"/>
              </a:rPr>
              <a:t>Histopathology Analysis</a:t>
            </a:r>
            <a:endParaRPr sz="11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A2E42"/>
              </a:buClr>
              <a:buSzPts val="1150"/>
              <a:buFont typeface="Calibri"/>
              <a:buChar char="•"/>
            </a:pPr>
            <a:r>
              <a:rPr lang="en" sz="1150" b="0" i="0" u="none" strike="noStrike" cap="none">
                <a:solidFill>
                  <a:srgbClr val="1A2E42"/>
                </a:solidFill>
                <a:latin typeface="Calibri"/>
                <a:ea typeface="Calibri"/>
                <a:cs typeface="Calibri"/>
                <a:sym typeface="Calibri"/>
              </a:rPr>
              <a:t>COVID-19 CT Screening</a:t>
            </a:r>
            <a:endParaRPr sz="1150" b="0" i="0" u="none" strike="noStrike" cap="none">
              <a:solidFill>
                <a:schemeClr val="dk1"/>
              </a:solidFill>
              <a:latin typeface="Calibri"/>
              <a:ea typeface="Calibri"/>
              <a:cs typeface="Calibri"/>
              <a:sym typeface="Calibri"/>
            </a:endParaRPr>
          </a:p>
        </p:txBody>
      </p:sp>
      <p:sp>
        <p:nvSpPr>
          <p:cNvPr id="1619" name="Google Shape;1619;p33"/>
          <p:cNvSpPr/>
          <p:nvPr/>
        </p:nvSpPr>
        <p:spPr>
          <a:xfrm>
            <a:off x="6126480" y="1097280"/>
            <a:ext cx="2743200" cy="2377500"/>
          </a:xfrm>
          <a:prstGeom prst="rect">
            <a:avLst/>
          </a:prstGeom>
          <a:solidFill>
            <a:srgbClr val="B8EDE8"/>
          </a:solidFill>
          <a:ln>
            <a:noFill/>
          </a:ln>
          <a:effectLst>
            <a:outerShdw blurRad="101600" dist="38100" dir="8100000" algn="bl" rotWithShape="0">
              <a:srgbClr val="000000">
                <a:alpha val="14902"/>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0" name="Google Shape;1620;p33"/>
          <p:cNvSpPr/>
          <p:nvPr/>
        </p:nvSpPr>
        <p:spPr>
          <a:xfrm>
            <a:off x="6126480" y="1097280"/>
            <a:ext cx="2743200" cy="438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400"/>
              <a:buFont typeface="Calibri"/>
              <a:buNone/>
            </a:pPr>
            <a:r>
              <a:rPr lang="en" sz="1400" b="1" i="0" u="none" strike="noStrike" cap="none">
                <a:solidFill>
                  <a:srgbClr val="1A2E42"/>
                </a:solidFill>
                <a:latin typeface="Calibri"/>
                <a:ea typeface="Calibri"/>
                <a:cs typeface="Calibri"/>
                <a:sym typeface="Calibri"/>
              </a:rPr>
              <a:t>Other Domains</a:t>
            </a:r>
            <a:endParaRPr sz="1400" b="0" i="0" u="none" strike="noStrike" cap="none">
              <a:solidFill>
                <a:schemeClr val="dk1"/>
              </a:solidFill>
              <a:latin typeface="Calibri"/>
              <a:ea typeface="Calibri"/>
              <a:cs typeface="Calibri"/>
              <a:sym typeface="Calibri"/>
            </a:endParaRPr>
          </a:p>
        </p:txBody>
      </p:sp>
      <p:sp>
        <p:nvSpPr>
          <p:cNvPr id="1621" name="Google Shape;1621;p33"/>
          <p:cNvSpPr/>
          <p:nvPr/>
        </p:nvSpPr>
        <p:spPr>
          <a:xfrm>
            <a:off x="6126480" y="1536192"/>
            <a:ext cx="2743200" cy="36600"/>
          </a:xfrm>
          <a:prstGeom prst="rect">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2" name="Google Shape;1622;p33"/>
          <p:cNvSpPr/>
          <p:nvPr/>
        </p:nvSpPr>
        <p:spPr>
          <a:xfrm>
            <a:off x="6217920" y="1609344"/>
            <a:ext cx="2560200" cy="1828800"/>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Clr>
                <a:srgbClr val="1A2E42"/>
              </a:buClr>
              <a:buSzPts val="1150"/>
              <a:buFont typeface="Calibri"/>
              <a:buChar char="•"/>
            </a:pPr>
            <a:r>
              <a:rPr lang="en" sz="1150" b="0" i="0" u="none" strike="noStrike" cap="none">
                <a:solidFill>
                  <a:srgbClr val="1A2E42"/>
                </a:solidFill>
                <a:latin typeface="Calibri"/>
                <a:ea typeface="Calibri"/>
                <a:cs typeface="Calibri"/>
                <a:sym typeface="Calibri"/>
              </a:rPr>
              <a:t>NLP (Text-CNN)</a:t>
            </a:r>
            <a:endParaRPr sz="11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A2E42"/>
              </a:buClr>
              <a:buSzPts val="1150"/>
              <a:buFont typeface="Calibri"/>
              <a:buChar char="•"/>
            </a:pPr>
            <a:r>
              <a:rPr lang="en" sz="1150" b="0" i="0" u="none" strike="noStrike" cap="none">
                <a:solidFill>
                  <a:srgbClr val="1A2E42"/>
                </a:solidFill>
                <a:latin typeface="Calibri"/>
                <a:ea typeface="Calibri"/>
                <a:cs typeface="Calibri"/>
                <a:sym typeface="Calibri"/>
              </a:rPr>
              <a:t>Audio Classification</a:t>
            </a:r>
            <a:endParaRPr sz="11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A2E42"/>
              </a:buClr>
              <a:buSzPts val="1150"/>
              <a:buFont typeface="Calibri"/>
              <a:buChar char="•"/>
            </a:pPr>
            <a:r>
              <a:rPr lang="en" sz="1150" b="0" i="0" u="none" strike="noStrike" cap="none">
                <a:solidFill>
                  <a:srgbClr val="1A2E42"/>
                </a:solidFill>
                <a:latin typeface="Calibri"/>
                <a:ea typeface="Calibri"/>
                <a:cs typeface="Calibri"/>
                <a:sym typeface="Calibri"/>
              </a:rPr>
              <a:t>Video Understanding</a:t>
            </a:r>
            <a:endParaRPr sz="11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1A2E42"/>
              </a:buClr>
              <a:buSzPts val="1150"/>
              <a:buFont typeface="Calibri"/>
              <a:buChar char="•"/>
            </a:pPr>
            <a:r>
              <a:rPr lang="en" sz="1150" b="0" i="0" u="none" strike="noStrike" cap="none">
                <a:solidFill>
                  <a:srgbClr val="1A2E42"/>
                </a:solidFill>
                <a:latin typeface="Calibri"/>
                <a:ea typeface="Calibri"/>
                <a:cs typeface="Calibri"/>
                <a:sym typeface="Calibri"/>
              </a:rPr>
              <a:t>Autonomous Driving</a:t>
            </a:r>
            <a:endParaRPr sz="1150" b="0" i="0" u="none" strike="noStrike" cap="none">
              <a:solidFill>
                <a:schemeClr val="dk1"/>
              </a:solidFill>
              <a:latin typeface="Calibri"/>
              <a:ea typeface="Calibri"/>
              <a:cs typeface="Calibri"/>
              <a:sym typeface="Calibri"/>
            </a:endParaRPr>
          </a:p>
        </p:txBody>
      </p:sp>
      <p:sp>
        <p:nvSpPr>
          <p:cNvPr id="1623" name="Google Shape;1623;p33"/>
          <p:cNvSpPr/>
          <p:nvPr/>
        </p:nvSpPr>
        <p:spPr>
          <a:xfrm>
            <a:off x="274320" y="3703320"/>
            <a:ext cx="85953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B4D8"/>
              </a:buClr>
              <a:buSzPts val="1400"/>
              <a:buFont typeface="Calibri"/>
              <a:buNone/>
            </a:pPr>
            <a:r>
              <a:rPr lang="en" sz="1400" b="1" i="0" u="none" strike="noStrike" cap="none">
                <a:solidFill>
                  <a:srgbClr val="00B4D8"/>
                </a:solidFill>
                <a:latin typeface="Calibri"/>
                <a:ea typeface="Calibri"/>
                <a:cs typeface="Calibri"/>
                <a:sym typeface="Calibri"/>
              </a:rPr>
              <a:t>Landmark CNN Architectures</a:t>
            </a:r>
            <a:endParaRPr sz="1400" b="0" i="0" u="none" strike="noStrike" cap="none">
              <a:solidFill>
                <a:schemeClr val="dk1"/>
              </a:solidFill>
              <a:latin typeface="Calibri"/>
              <a:ea typeface="Calibri"/>
              <a:cs typeface="Calibri"/>
              <a:sym typeface="Calibri"/>
            </a:endParaRPr>
          </a:p>
        </p:txBody>
      </p:sp>
      <p:sp>
        <p:nvSpPr>
          <p:cNvPr id="1624" name="Google Shape;1624;p33"/>
          <p:cNvSpPr/>
          <p:nvPr/>
        </p:nvSpPr>
        <p:spPr>
          <a:xfrm>
            <a:off x="274320" y="4114800"/>
            <a:ext cx="8595300" cy="54900"/>
          </a:xfrm>
          <a:prstGeom prst="rect">
            <a:avLst/>
          </a:prstGeom>
          <a:solidFill>
            <a:srgbClr val="DDE8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5" name="Google Shape;1625;p33"/>
          <p:cNvSpPr/>
          <p:nvPr/>
        </p:nvSpPr>
        <p:spPr>
          <a:xfrm>
            <a:off x="777240" y="4005072"/>
            <a:ext cx="255900" cy="255900"/>
          </a:xfrm>
          <a:prstGeom prst="ellipse">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6" name="Google Shape;1626;p33"/>
          <p:cNvSpPr/>
          <p:nvPr/>
        </p:nvSpPr>
        <p:spPr>
          <a:xfrm>
            <a:off x="274320" y="4315968"/>
            <a:ext cx="12801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050"/>
              <a:buFont typeface="Calibri"/>
              <a:buNone/>
            </a:pPr>
            <a:r>
              <a:rPr lang="en" sz="1050" b="1" i="0" u="none" strike="noStrike" cap="none">
                <a:solidFill>
                  <a:srgbClr val="1A2E42"/>
                </a:solidFill>
                <a:latin typeface="Calibri"/>
                <a:ea typeface="Calibri"/>
                <a:cs typeface="Calibri"/>
                <a:sym typeface="Calibri"/>
              </a:rPr>
              <a:t>LeNet</a:t>
            </a:r>
            <a:endParaRPr sz="1050" b="0" i="0" u="none" strike="noStrike" cap="none">
              <a:solidFill>
                <a:schemeClr val="dk1"/>
              </a:solidFill>
              <a:latin typeface="Calibri"/>
              <a:ea typeface="Calibri"/>
              <a:cs typeface="Calibri"/>
              <a:sym typeface="Calibri"/>
            </a:endParaRPr>
          </a:p>
        </p:txBody>
      </p:sp>
      <p:sp>
        <p:nvSpPr>
          <p:cNvPr id="1627" name="Google Shape;1627;p33"/>
          <p:cNvSpPr/>
          <p:nvPr/>
        </p:nvSpPr>
        <p:spPr>
          <a:xfrm>
            <a:off x="274320" y="4572000"/>
            <a:ext cx="1280100" cy="228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1000"/>
              <a:buFont typeface="Calibri"/>
              <a:buNone/>
            </a:pPr>
            <a:r>
              <a:rPr lang="en" sz="1000" b="0" i="0" u="none" strike="noStrike" cap="none">
                <a:solidFill>
                  <a:srgbClr val="1A6080"/>
                </a:solidFill>
                <a:latin typeface="Calibri"/>
                <a:ea typeface="Calibri"/>
                <a:cs typeface="Calibri"/>
                <a:sym typeface="Calibri"/>
              </a:rPr>
              <a:t>1989</a:t>
            </a:r>
            <a:endParaRPr sz="1000" b="0" i="0" u="none" strike="noStrike" cap="none">
              <a:solidFill>
                <a:schemeClr val="dk1"/>
              </a:solidFill>
              <a:latin typeface="Calibri"/>
              <a:ea typeface="Calibri"/>
              <a:cs typeface="Calibri"/>
              <a:sym typeface="Calibri"/>
            </a:endParaRPr>
          </a:p>
        </p:txBody>
      </p:sp>
      <p:sp>
        <p:nvSpPr>
          <p:cNvPr id="1628" name="Google Shape;1628;p33"/>
          <p:cNvSpPr/>
          <p:nvPr/>
        </p:nvSpPr>
        <p:spPr>
          <a:xfrm>
            <a:off x="2514600" y="4005072"/>
            <a:ext cx="255900" cy="255900"/>
          </a:xfrm>
          <a:prstGeom prst="ellipse">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9" name="Google Shape;1629;p33"/>
          <p:cNvSpPr/>
          <p:nvPr/>
        </p:nvSpPr>
        <p:spPr>
          <a:xfrm>
            <a:off x="2011680" y="4315968"/>
            <a:ext cx="12801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050"/>
              <a:buFont typeface="Calibri"/>
              <a:buNone/>
            </a:pPr>
            <a:r>
              <a:rPr lang="en" sz="1050" b="1" i="0" u="none" strike="noStrike" cap="none">
                <a:solidFill>
                  <a:srgbClr val="1A2E42"/>
                </a:solidFill>
                <a:latin typeface="Calibri"/>
                <a:ea typeface="Calibri"/>
                <a:cs typeface="Calibri"/>
                <a:sym typeface="Calibri"/>
              </a:rPr>
              <a:t>AlexNet</a:t>
            </a:r>
            <a:endParaRPr sz="1050" b="0" i="0" u="none" strike="noStrike" cap="none">
              <a:solidFill>
                <a:schemeClr val="dk1"/>
              </a:solidFill>
              <a:latin typeface="Calibri"/>
              <a:ea typeface="Calibri"/>
              <a:cs typeface="Calibri"/>
              <a:sym typeface="Calibri"/>
            </a:endParaRPr>
          </a:p>
        </p:txBody>
      </p:sp>
      <p:sp>
        <p:nvSpPr>
          <p:cNvPr id="1630" name="Google Shape;1630;p33"/>
          <p:cNvSpPr/>
          <p:nvPr/>
        </p:nvSpPr>
        <p:spPr>
          <a:xfrm>
            <a:off x="2011680" y="4572000"/>
            <a:ext cx="1280100" cy="228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1000"/>
              <a:buFont typeface="Calibri"/>
              <a:buNone/>
            </a:pPr>
            <a:r>
              <a:rPr lang="en" sz="1000" b="0" i="0" u="none" strike="noStrike" cap="none">
                <a:solidFill>
                  <a:srgbClr val="1A6080"/>
                </a:solidFill>
                <a:latin typeface="Calibri"/>
                <a:ea typeface="Calibri"/>
                <a:cs typeface="Calibri"/>
                <a:sym typeface="Calibri"/>
              </a:rPr>
              <a:t>2012</a:t>
            </a:r>
            <a:endParaRPr sz="1000" b="0" i="0" u="none" strike="noStrike" cap="none">
              <a:solidFill>
                <a:schemeClr val="dk1"/>
              </a:solidFill>
              <a:latin typeface="Calibri"/>
              <a:ea typeface="Calibri"/>
              <a:cs typeface="Calibri"/>
              <a:sym typeface="Calibri"/>
            </a:endParaRPr>
          </a:p>
        </p:txBody>
      </p:sp>
      <p:sp>
        <p:nvSpPr>
          <p:cNvPr id="1631" name="Google Shape;1631;p33"/>
          <p:cNvSpPr/>
          <p:nvPr/>
        </p:nvSpPr>
        <p:spPr>
          <a:xfrm>
            <a:off x="4251960" y="4005072"/>
            <a:ext cx="255900" cy="255900"/>
          </a:xfrm>
          <a:prstGeom prst="ellipse">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2" name="Google Shape;1632;p33"/>
          <p:cNvSpPr/>
          <p:nvPr/>
        </p:nvSpPr>
        <p:spPr>
          <a:xfrm>
            <a:off x="3749040" y="4315968"/>
            <a:ext cx="12801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050"/>
              <a:buFont typeface="Calibri"/>
              <a:buNone/>
            </a:pPr>
            <a:r>
              <a:rPr lang="en" sz="1050" b="1" i="0" u="none" strike="noStrike" cap="none">
                <a:solidFill>
                  <a:srgbClr val="1A2E42"/>
                </a:solidFill>
                <a:latin typeface="Calibri"/>
                <a:ea typeface="Calibri"/>
                <a:cs typeface="Calibri"/>
                <a:sym typeface="Calibri"/>
              </a:rPr>
              <a:t>VGGNet</a:t>
            </a:r>
            <a:endParaRPr sz="1050" b="0" i="0" u="none" strike="noStrike" cap="none">
              <a:solidFill>
                <a:schemeClr val="dk1"/>
              </a:solidFill>
              <a:latin typeface="Calibri"/>
              <a:ea typeface="Calibri"/>
              <a:cs typeface="Calibri"/>
              <a:sym typeface="Calibri"/>
            </a:endParaRPr>
          </a:p>
        </p:txBody>
      </p:sp>
      <p:sp>
        <p:nvSpPr>
          <p:cNvPr id="1633" name="Google Shape;1633;p33"/>
          <p:cNvSpPr/>
          <p:nvPr/>
        </p:nvSpPr>
        <p:spPr>
          <a:xfrm>
            <a:off x="3749040" y="4572000"/>
            <a:ext cx="1280100" cy="228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1000"/>
              <a:buFont typeface="Calibri"/>
              <a:buNone/>
            </a:pPr>
            <a:r>
              <a:rPr lang="en" sz="1000" b="0" i="0" u="none" strike="noStrike" cap="none">
                <a:solidFill>
                  <a:srgbClr val="1A6080"/>
                </a:solidFill>
                <a:latin typeface="Calibri"/>
                <a:ea typeface="Calibri"/>
                <a:cs typeface="Calibri"/>
                <a:sym typeface="Calibri"/>
              </a:rPr>
              <a:t>2014</a:t>
            </a:r>
            <a:endParaRPr sz="1000" b="0" i="0" u="none" strike="noStrike" cap="none">
              <a:solidFill>
                <a:schemeClr val="dk1"/>
              </a:solidFill>
              <a:latin typeface="Calibri"/>
              <a:ea typeface="Calibri"/>
              <a:cs typeface="Calibri"/>
              <a:sym typeface="Calibri"/>
            </a:endParaRPr>
          </a:p>
        </p:txBody>
      </p:sp>
      <p:sp>
        <p:nvSpPr>
          <p:cNvPr id="1634" name="Google Shape;1634;p33"/>
          <p:cNvSpPr/>
          <p:nvPr/>
        </p:nvSpPr>
        <p:spPr>
          <a:xfrm>
            <a:off x="5989320" y="4005072"/>
            <a:ext cx="255900" cy="255900"/>
          </a:xfrm>
          <a:prstGeom prst="ellipse">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5" name="Google Shape;1635;p33"/>
          <p:cNvSpPr/>
          <p:nvPr/>
        </p:nvSpPr>
        <p:spPr>
          <a:xfrm>
            <a:off x="5486400" y="4315968"/>
            <a:ext cx="12801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050"/>
              <a:buFont typeface="Calibri"/>
              <a:buNone/>
            </a:pPr>
            <a:r>
              <a:rPr lang="en" sz="1050" b="1" i="0" u="none" strike="noStrike" cap="none">
                <a:solidFill>
                  <a:srgbClr val="1A2E42"/>
                </a:solidFill>
                <a:latin typeface="Calibri"/>
                <a:ea typeface="Calibri"/>
                <a:cs typeface="Calibri"/>
                <a:sym typeface="Calibri"/>
              </a:rPr>
              <a:t>ResNet</a:t>
            </a:r>
            <a:endParaRPr sz="1050" b="0" i="0" u="none" strike="noStrike" cap="none">
              <a:solidFill>
                <a:schemeClr val="dk1"/>
              </a:solidFill>
              <a:latin typeface="Calibri"/>
              <a:ea typeface="Calibri"/>
              <a:cs typeface="Calibri"/>
              <a:sym typeface="Calibri"/>
            </a:endParaRPr>
          </a:p>
        </p:txBody>
      </p:sp>
      <p:sp>
        <p:nvSpPr>
          <p:cNvPr id="1636" name="Google Shape;1636;p33"/>
          <p:cNvSpPr/>
          <p:nvPr/>
        </p:nvSpPr>
        <p:spPr>
          <a:xfrm>
            <a:off x="5486400" y="4572000"/>
            <a:ext cx="1280100" cy="228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1000"/>
              <a:buFont typeface="Calibri"/>
              <a:buNone/>
            </a:pPr>
            <a:r>
              <a:rPr lang="en" sz="1000" b="0" i="0" u="none" strike="noStrike" cap="none">
                <a:solidFill>
                  <a:srgbClr val="1A6080"/>
                </a:solidFill>
                <a:latin typeface="Calibri"/>
                <a:ea typeface="Calibri"/>
                <a:cs typeface="Calibri"/>
                <a:sym typeface="Calibri"/>
              </a:rPr>
              <a:t>2015</a:t>
            </a:r>
            <a:endParaRPr sz="1000" b="0" i="0" u="none" strike="noStrike" cap="none">
              <a:solidFill>
                <a:schemeClr val="dk1"/>
              </a:solidFill>
              <a:latin typeface="Calibri"/>
              <a:ea typeface="Calibri"/>
              <a:cs typeface="Calibri"/>
              <a:sym typeface="Calibri"/>
            </a:endParaRPr>
          </a:p>
        </p:txBody>
      </p:sp>
      <p:sp>
        <p:nvSpPr>
          <p:cNvPr id="1637" name="Google Shape;1637;p33"/>
          <p:cNvSpPr/>
          <p:nvPr/>
        </p:nvSpPr>
        <p:spPr>
          <a:xfrm>
            <a:off x="7726680" y="4005072"/>
            <a:ext cx="255900" cy="255900"/>
          </a:xfrm>
          <a:prstGeom prst="ellipse">
            <a:avLst/>
          </a:prstGeom>
          <a:solidFill>
            <a:srgbClr val="00B4D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8" name="Google Shape;1638;p33"/>
          <p:cNvSpPr/>
          <p:nvPr/>
        </p:nvSpPr>
        <p:spPr>
          <a:xfrm>
            <a:off x="7223760" y="4315968"/>
            <a:ext cx="12801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2E42"/>
              </a:buClr>
              <a:buSzPts val="1050"/>
              <a:buFont typeface="Calibri"/>
              <a:buNone/>
            </a:pPr>
            <a:r>
              <a:rPr lang="en" sz="1050" b="1" i="0" u="none" strike="noStrike" cap="none">
                <a:solidFill>
                  <a:srgbClr val="1A2E42"/>
                </a:solidFill>
                <a:latin typeface="Calibri"/>
                <a:ea typeface="Calibri"/>
                <a:cs typeface="Calibri"/>
                <a:sym typeface="Calibri"/>
              </a:rPr>
              <a:t>EfficientNet</a:t>
            </a:r>
            <a:endParaRPr sz="1050" b="0" i="0" u="none" strike="noStrike" cap="none">
              <a:solidFill>
                <a:schemeClr val="dk1"/>
              </a:solidFill>
              <a:latin typeface="Calibri"/>
              <a:ea typeface="Calibri"/>
              <a:cs typeface="Calibri"/>
              <a:sym typeface="Calibri"/>
            </a:endParaRPr>
          </a:p>
        </p:txBody>
      </p:sp>
      <p:sp>
        <p:nvSpPr>
          <p:cNvPr id="1639" name="Google Shape;1639;p33"/>
          <p:cNvSpPr/>
          <p:nvPr/>
        </p:nvSpPr>
        <p:spPr>
          <a:xfrm>
            <a:off x="7223760" y="4572000"/>
            <a:ext cx="1280100" cy="228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A6080"/>
              </a:buClr>
              <a:buSzPts val="1000"/>
              <a:buFont typeface="Calibri"/>
              <a:buNone/>
            </a:pPr>
            <a:r>
              <a:rPr lang="en" sz="1000" b="0" i="0" u="none" strike="noStrike" cap="none">
                <a:solidFill>
                  <a:srgbClr val="1A6080"/>
                </a:solidFill>
                <a:latin typeface="Calibri"/>
                <a:ea typeface="Calibri"/>
                <a:cs typeface="Calibri"/>
                <a:sym typeface="Calibri"/>
              </a:rPr>
              <a:t>2019</a:t>
            </a:r>
            <a:endParaRPr sz="1000" b="0" i="0" u="none" strike="noStrike" cap="none">
              <a:solidFill>
                <a:schemeClr val="dk1"/>
              </a:solidFill>
              <a:latin typeface="Calibri"/>
              <a:ea typeface="Calibri"/>
              <a:cs typeface="Calibri"/>
              <a:sym typeface="Calibri"/>
            </a:endParaRPr>
          </a:p>
        </p:txBody>
      </p:sp>
      <p:sp>
        <p:nvSpPr>
          <p:cNvPr id="1640" name="Google Shape;1640;p33"/>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50</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64"/>
        <p:cNvGrpSpPr/>
        <p:nvPr/>
      </p:nvGrpSpPr>
      <p:grpSpPr>
        <a:xfrm>
          <a:off x="0" y="0"/>
          <a:ext cx="0" cy="0"/>
          <a:chOff x="0" y="0"/>
          <a:chExt cx="0" cy="0"/>
        </a:xfrm>
      </p:grpSpPr>
      <p:sp>
        <p:nvSpPr>
          <p:cNvPr id="1665" name="Google Shape;1665;g3f6a040a5a3_1_97"/>
          <p:cNvSpPr/>
          <p:nvPr/>
        </p:nvSpPr>
        <p:spPr>
          <a:xfrm>
            <a:off x="411480" y="308610"/>
            <a:ext cx="5966700" cy="44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1295C"/>
              </a:buClr>
              <a:buSzPts val="2300"/>
              <a:buFont typeface="Cambria"/>
              <a:buNone/>
            </a:pPr>
            <a:r>
              <a:rPr lang="en" sz="2300" b="1" i="0" u="none" strike="noStrike" cap="none">
                <a:solidFill>
                  <a:srgbClr val="21295C"/>
                </a:solidFill>
                <a:latin typeface="Cambria"/>
                <a:ea typeface="Cambria"/>
                <a:cs typeface="Cambria"/>
                <a:sym typeface="Cambria"/>
              </a:rPr>
              <a:t>CNNs &amp; Long-Range Dependencies</a:t>
            </a:r>
            <a:endParaRPr sz="2300" b="0" i="0" u="none" strike="noStrike" cap="none">
              <a:solidFill>
                <a:schemeClr val="dk1"/>
              </a:solidFill>
              <a:latin typeface="Calibri"/>
              <a:ea typeface="Calibri"/>
              <a:cs typeface="Calibri"/>
              <a:sym typeface="Calibri"/>
            </a:endParaRPr>
          </a:p>
        </p:txBody>
      </p:sp>
      <p:sp>
        <p:nvSpPr>
          <p:cNvPr id="1666" name="Google Shape;1666;g3f6a040a5a3_1_97"/>
          <p:cNvSpPr/>
          <p:nvPr/>
        </p:nvSpPr>
        <p:spPr>
          <a:xfrm>
            <a:off x="411480" y="788670"/>
            <a:ext cx="59667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B6472"/>
              </a:buClr>
              <a:buSzPts val="1100"/>
              <a:buFont typeface="Calibri"/>
              <a:buNone/>
            </a:pPr>
            <a:r>
              <a:rPr lang="en" sz="1100" b="0" i="1" u="none" strike="noStrike" cap="none">
                <a:solidFill>
                  <a:srgbClr val="5B6472"/>
                </a:solidFill>
                <a:latin typeface="Calibri"/>
                <a:ea typeface="Calibri"/>
                <a:cs typeface="Calibri"/>
                <a:sym typeface="Calibri"/>
              </a:rPr>
              <a:t>Word 1 must inform word 1000 — theoretically reachable, practically hard</a:t>
            </a:r>
            <a:endParaRPr sz="1100" b="0" i="0" u="none" strike="noStrike" cap="none">
              <a:solidFill>
                <a:schemeClr val="dk1"/>
              </a:solidFill>
              <a:latin typeface="Calibri"/>
              <a:ea typeface="Calibri"/>
              <a:cs typeface="Calibri"/>
              <a:sym typeface="Calibri"/>
            </a:endParaRPr>
          </a:p>
        </p:txBody>
      </p:sp>
      <p:sp>
        <p:nvSpPr>
          <p:cNvPr id="1667" name="Google Shape;1667;g3f6a040a5a3_1_97"/>
          <p:cNvSpPr/>
          <p:nvPr/>
        </p:nvSpPr>
        <p:spPr>
          <a:xfrm>
            <a:off x="6583680" y="274320"/>
            <a:ext cx="2160300" cy="857400"/>
          </a:xfrm>
          <a:prstGeom prst="roundRect">
            <a:avLst>
              <a:gd name="adj" fmla="val 8000"/>
            </a:avLst>
          </a:prstGeom>
          <a:solidFill>
            <a:srgbClr val="21295C"/>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8" name="Google Shape;1668;g3f6a040a5a3_1_97"/>
          <p:cNvSpPr/>
          <p:nvPr/>
        </p:nvSpPr>
        <p:spPr>
          <a:xfrm>
            <a:off x="6583680" y="342900"/>
            <a:ext cx="21603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B627"/>
              </a:buClr>
              <a:buSzPts val="1900"/>
              <a:buFont typeface="Cambria"/>
              <a:buNone/>
            </a:pPr>
            <a:r>
              <a:rPr lang="en" sz="1900" b="1" i="0" u="none" strike="noStrike" cap="none">
                <a:solidFill>
                  <a:srgbClr val="FFB627"/>
                </a:solidFill>
                <a:latin typeface="Cambria"/>
                <a:ea typeface="Cambria"/>
                <a:cs typeface="Cambria"/>
                <a:sym typeface="Cambria"/>
              </a:rPr>
              <a:t>1</a:t>
            </a:r>
            <a:r>
              <a:rPr lang="en" sz="1900" b="0" i="0" u="none" strike="noStrike" cap="none">
                <a:solidFill>
                  <a:srgbClr val="9FB0D9"/>
                </a:solidFill>
                <a:latin typeface="Cambria"/>
                <a:ea typeface="Cambria"/>
                <a:cs typeface="Cambria"/>
                <a:sym typeface="Cambria"/>
              </a:rPr>
              <a:t>  →  </a:t>
            </a:r>
            <a:r>
              <a:rPr lang="en" sz="1900" b="1" i="0" u="none" strike="noStrike" cap="none">
                <a:solidFill>
                  <a:srgbClr val="FFFFFF"/>
                </a:solidFill>
                <a:latin typeface="Cambria"/>
                <a:ea typeface="Cambria"/>
                <a:cs typeface="Cambria"/>
                <a:sym typeface="Cambria"/>
              </a:rPr>
              <a:t>1000</a:t>
            </a:r>
            <a:endParaRPr sz="1900" b="0" i="0" u="none" strike="noStrike" cap="none">
              <a:solidFill>
                <a:schemeClr val="dk1"/>
              </a:solidFill>
              <a:latin typeface="Calibri"/>
              <a:ea typeface="Calibri"/>
              <a:cs typeface="Calibri"/>
              <a:sym typeface="Calibri"/>
            </a:endParaRPr>
          </a:p>
        </p:txBody>
      </p:sp>
      <p:sp>
        <p:nvSpPr>
          <p:cNvPr id="1669" name="Google Shape;1669;g3f6a040a5a3_1_97"/>
          <p:cNvSpPr/>
          <p:nvPr/>
        </p:nvSpPr>
        <p:spPr>
          <a:xfrm>
            <a:off x="6686550" y="788670"/>
            <a:ext cx="1954500" cy="30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CADCFC"/>
              </a:buClr>
              <a:buSzPts val="900"/>
              <a:buFont typeface="Calibri"/>
              <a:buNone/>
            </a:pPr>
            <a:r>
              <a:rPr lang="en" sz="900" b="0" i="0" u="none" strike="noStrike" cap="none">
                <a:solidFill>
                  <a:srgbClr val="CADCFC"/>
                </a:solidFill>
                <a:latin typeface="Calibri"/>
                <a:ea typeface="Calibri"/>
                <a:cs typeface="Calibri"/>
                <a:sym typeface="Calibri"/>
              </a:rPr>
              <a:t>word positions a CNN must bridge, layer by layer</a:t>
            </a:r>
            <a:endParaRPr sz="900" b="0" i="0" u="none" strike="noStrike" cap="none">
              <a:solidFill>
                <a:schemeClr val="dk1"/>
              </a:solidFill>
              <a:latin typeface="Calibri"/>
              <a:ea typeface="Calibri"/>
              <a:cs typeface="Calibri"/>
              <a:sym typeface="Calibri"/>
            </a:endParaRPr>
          </a:p>
        </p:txBody>
      </p:sp>
      <p:sp>
        <p:nvSpPr>
          <p:cNvPr id="1670" name="Google Shape;1670;g3f6a040a5a3_1_97"/>
          <p:cNvSpPr/>
          <p:nvPr/>
        </p:nvSpPr>
        <p:spPr>
          <a:xfrm>
            <a:off x="411480" y="1268730"/>
            <a:ext cx="4114800" cy="1748700"/>
          </a:xfrm>
          <a:prstGeom prst="roundRect">
            <a:avLst>
              <a:gd name="adj" fmla="val 3922"/>
            </a:avLst>
          </a:prstGeom>
          <a:solidFill>
            <a:srgbClr val="F4F7FA"/>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1" name="Google Shape;1671;g3f6a040a5a3_1_97"/>
          <p:cNvSpPr/>
          <p:nvPr/>
        </p:nvSpPr>
        <p:spPr>
          <a:xfrm>
            <a:off x="651510" y="1508760"/>
            <a:ext cx="411600" cy="411600"/>
          </a:xfrm>
          <a:prstGeom prst="ellipse">
            <a:avLst/>
          </a:prstGeom>
          <a:solidFill>
            <a:srgbClr val="AEB8C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2" name="Google Shape;1672;g3f6a040a5a3_1_97"/>
          <p:cNvSpPr/>
          <p:nvPr/>
        </p:nvSpPr>
        <p:spPr>
          <a:xfrm>
            <a:off x="651510" y="1508760"/>
            <a:ext cx="4116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700"/>
              <a:buFont typeface="Calibri"/>
              <a:buNone/>
            </a:pPr>
            <a:r>
              <a:rPr lang="en" sz="1700" b="1" i="0" u="none" strike="noStrike" cap="none">
                <a:solidFill>
                  <a:srgbClr val="FFFFFF"/>
                </a:solidFill>
                <a:latin typeface="Calibri"/>
                <a:ea typeface="Calibri"/>
                <a:cs typeface="Calibri"/>
                <a:sym typeface="Calibri"/>
              </a:rPr>
              <a:t>A</a:t>
            </a:r>
            <a:endParaRPr sz="1700" b="0" i="0" u="none" strike="noStrike" cap="none">
              <a:solidFill>
                <a:schemeClr val="dk1"/>
              </a:solidFill>
              <a:latin typeface="Calibri"/>
              <a:ea typeface="Calibri"/>
              <a:cs typeface="Calibri"/>
              <a:sym typeface="Calibri"/>
            </a:endParaRPr>
          </a:p>
        </p:txBody>
      </p:sp>
      <p:sp>
        <p:nvSpPr>
          <p:cNvPr id="1673" name="Google Shape;1673;g3f6a040a5a3_1_97"/>
          <p:cNvSpPr/>
          <p:nvPr/>
        </p:nvSpPr>
        <p:spPr>
          <a:xfrm>
            <a:off x="3977640" y="1460754"/>
            <a:ext cx="342900" cy="342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B85042"/>
              </a:buClr>
              <a:buSzPts val="1800"/>
              <a:buFont typeface="Calibri"/>
              <a:buNone/>
            </a:pPr>
            <a:r>
              <a:rPr lang="en" sz="1800" b="1" i="0" u="none" strike="noStrike" cap="none">
                <a:solidFill>
                  <a:srgbClr val="B85042"/>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1674" name="Google Shape;1674;g3f6a040a5a3_1_97"/>
          <p:cNvSpPr/>
          <p:nvPr/>
        </p:nvSpPr>
        <p:spPr>
          <a:xfrm>
            <a:off x="1200150" y="1447038"/>
            <a:ext cx="2674500" cy="480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1295C"/>
              </a:buClr>
              <a:buSzPts val="1200"/>
              <a:buFont typeface="Calibri"/>
              <a:buNone/>
            </a:pPr>
            <a:r>
              <a:rPr lang="en" sz="1200" b="1" i="0" u="none" strike="noStrike" cap="none">
                <a:solidFill>
                  <a:srgbClr val="21295C"/>
                </a:solidFill>
                <a:latin typeface="Calibri"/>
                <a:ea typeface="Calibri"/>
                <a:cs typeface="Calibri"/>
                <a:sym typeface="Calibri"/>
              </a:rPr>
              <a:t>CNNs cannot process sequences</a:t>
            </a:r>
            <a:endParaRPr sz="1200" b="0" i="0" u="none" strike="noStrike" cap="none">
              <a:solidFill>
                <a:schemeClr val="dk1"/>
              </a:solidFill>
              <a:latin typeface="Calibri"/>
              <a:ea typeface="Calibri"/>
              <a:cs typeface="Calibri"/>
              <a:sym typeface="Calibri"/>
            </a:endParaRPr>
          </a:p>
        </p:txBody>
      </p:sp>
      <p:sp>
        <p:nvSpPr>
          <p:cNvPr id="1675" name="Google Shape;1675;g3f6a040a5a3_1_97"/>
          <p:cNvSpPr/>
          <p:nvPr/>
        </p:nvSpPr>
        <p:spPr>
          <a:xfrm>
            <a:off x="651510" y="2091690"/>
            <a:ext cx="3634500" cy="7545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5B6472"/>
              </a:buClr>
              <a:buSzPts val="1000"/>
              <a:buFont typeface="Calibri"/>
              <a:buNone/>
            </a:pPr>
            <a:r>
              <a:rPr lang="en" sz="1000" b="0" i="0" u="none" strike="noStrike" cap="none">
                <a:solidFill>
                  <a:srgbClr val="5B6472"/>
                </a:solidFill>
                <a:latin typeface="Calibri"/>
                <a:ea typeface="Calibri"/>
                <a:cs typeface="Calibri"/>
                <a:sym typeface="Calibri"/>
              </a:rPr>
              <a:t>False — 1D convolutions handle sequences routinely (text, audio). Sequence support isn't the issue.</a:t>
            </a:r>
            <a:endParaRPr sz="1000" b="0" i="0" u="none" strike="noStrike" cap="none">
              <a:solidFill>
                <a:schemeClr val="dk1"/>
              </a:solidFill>
              <a:latin typeface="Calibri"/>
              <a:ea typeface="Calibri"/>
              <a:cs typeface="Calibri"/>
              <a:sym typeface="Calibri"/>
            </a:endParaRPr>
          </a:p>
        </p:txBody>
      </p:sp>
      <p:sp>
        <p:nvSpPr>
          <p:cNvPr id="1676" name="Google Shape;1676;g3f6a040a5a3_1_97"/>
          <p:cNvSpPr/>
          <p:nvPr/>
        </p:nvSpPr>
        <p:spPr>
          <a:xfrm>
            <a:off x="4766310" y="1268730"/>
            <a:ext cx="4114800" cy="1748700"/>
          </a:xfrm>
          <a:prstGeom prst="roundRect">
            <a:avLst>
              <a:gd name="adj" fmla="val 3922"/>
            </a:avLst>
          </a:prstGeom>
          <a:solidFill>
            <a:srgbClr val="EAF3F4"/>
          </a:solidFill>
          <a:ln w="14300" cap="flat" cmpd="sng">
            <a:solidFill>
              <a:srgbClr val="1C7293"/>
            </a:solidFill>
            <a:prstDash val="solid"/>
            <a:round/>
            <a:headEnd type="none" w="sm" len="sm"/>
            <a:tailEnd type="none" w="sm" len="sm"/>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7" name="Google Shape;1677;g3f6a040a5a3_1_97"/>
          <p:cNvSpPr/>
          <p:nvPr/>
        </p:nvSpPr>
        <p:spPr>
          <a:xfrm>
            <a:off x="5006340" y="1508760"/>
            <a:ext cx="411600" cy="411600"/>
          </a:xfrm>
          <a:prstGeom prst="ellipse">
            <a:avLst/>
          </a:prstGeom>
          <a:solidFill>
            <a:srgbClr val="1C7293"/>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8" name="Google Shape;1678;g3f6a040a5a3_1_97"/>
          <p:cNvSpPr/>
          <p:nvPr/>
        </p:nvSpPr>
        <p:spPr>
          <a:xfrm>
            <a:off x="5006340" y="1508760"/>
            <a:ext cx="4116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700"/>
              <a:buFont typeface="Calibri"/>
              <a:buNone/>
            </a:pPr>
            <a:r>
              <a:rPr lang="en" sz="1700" b="1" i="0" u="none" strike="noStrike" cap="none">
                <a:solidFill>
                  <a:srgbClr val="FFFFFF"/>
                </a:solidFill>
                <a:latin typeface="Calibri"/>
                <a:ea typeface="Calibri"/>
                <a:cs typeface="Calibri"/>
                <a:sym typeface="Calibri"/>
              </a:rPr>
              <a:t>B</a:t>
            </a:r>
            <a:endParaRPr sz="1700" b="0" i="0" u="none" strike="noStrike" cap="none">
              <a:solidFill>
                <a:schemeClr val="dk1"/>
              </a:solidFill>
              <a:latin typeface="Calibri"/>
              <a:ea typeface="Calibri"/>
              <a:cs typeface="Calibri"/>
              <a:sym typeface="Calibri"/>
            </a:endParaRPr>
          </a:p>
        </p:txBody>
      </p:sp>
      <p:sp>
        <p:nvSpPr>
          <p:cNvPr id="1679" name="Google Shape;1679;g3f6a040a5a3_1_97"/>
          <p:cNvSpPr/>
          <p:nvPr/>
        </p:nvSpPr>
        <p:spPr>
          <a:xfrm>
            <a:off x="8332470" y="1460754"/>
            <a:ext cx="342900" cy="342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C7293"/>
              </a:buClr>
              <a:buSzPts val="1800"/>
              <a:buFont typeface="Calibri"/>
              <a:buNone/>
            </a:pPr>
            <a:r>
              <a:rPr lang="en" sz="1800" b="1" i="0" u="none" strike="noStrike" cap="none">
                <a:solidFill>
                  <a:srgbClr val="1C7293"/>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1680" name="Google Shape;1680;g3f6a040a5a3_1_97"/>
          <p:cNvSpPr/>
          <p:nvPr/>
        </p:nvSpPr>
        <p:spPr>
          <a:xfrm>
            <a:off x="5554980" y="1447038"/>
            <a:ext cx="2674500" cy="480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1295C"/>
              </a:buClr>
              <a:buSzPts val="1200"/>
              <a:buFont typeface="Calibri"/>
              <a:buNone/>
            </a:pPr>
            <a:r>
              <a:rPr lang="en" sz="1200" b="1" i="0" u="none" strike="noStrike" cap="none">
                <a:solidFill>
                  <a:srgbClr val="21295C"/>
                </a:solidFill>
                <a:latin typeface="Calibri"/>
                <a:ea typeface="Calibri"/>
                <a:cs typeface="Calibri"/>
                <a:sym typeface="Calibri"/>
              </a:rPr>
              <a:t>Info must travel through many layers</a:t>
            </a:r>
            <a:endParaRPr sz="1200" b="0" i="0" u="none" strike="noStrike" cap="none">
              <a:solidFill>
                <a:schemeClr val="dk1"/>
              </a:solidFill>
              <a:latin typeface="Calibri"/>
              <a:ea typeface="Calibri"/>
              <a:cs typeface="Calibri"/>
              <a:sym typeface="Calibri"/>
            </a:endParaRPr>
          </a:p>
        </p:txBody>
      </p:sp>
      <p:sp>
        <p:nvSpPr>
          <p:cNvPr id="1681" name="Google Shape;1681;g3f6a040a5a3_1_97"/>
          <p:cNvSpPr/>
          <p:nvPr/>
        </p:nvSpPr>
        <p:spPr>
          <a:xfrm>
            <a:off x="5006340" y="2091690"/>
            <a:ext cx="3634500" cy="7545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5B6472"/>
              </a:buClr>
              <a:buSzPts val="1000"/>
              <a:buFont typeface="Calibri"/>
              <a:buNone/>
            </a:pPr>
            <a:r>
              <a:rPr lang="en" sz="1000" b="0" i="0" u="none" strike="noStrike" cap="none">
                <a:solidFill>
                  <a:srgbClr val="5B6472"/>
                </a:solidFill>
                <a:latin typeface="Calibri"/>
                <a:ea typeface="Calibri"/>
                <a:cs typeface="Calibri"/>
                <a:sym typeface="Calibri"/>
              </a:rPr>
              <a:t>Correct — local receptive fields mean distant positions connect only via deep stacks; signal is harder to learn and represent over many hops.</a:t>
            </a:r>
            <a:endParaRPr sz="1000" b="0" i="0" u="none" strike="noStrike" cap="none">
              <a:solidFill>
                <a:schemeClr val="dk1"/>
              </a:solidFill>
              <a:latin typeface="Calibri"/>
              <a:ea typeface="Calibri"/>
              <a:cs typeface="Calibri"/>
              <a:sym typeface="Calibri"/>
            </a:endParaRPr>
          </a:p>
        </p:txBody>
      </p:sp>
      <p:sp>
        <p:nvSpPr>
          <p:cNvPr id="1682" name="Google Shape;1682;g3f6a040a5a3_1_97"/>
          <p:cNvSpPr/>
          <p:nvPr/>
        </p:nvSpPr>
        <p:spPr>
          <a:xfrm>
            <a:off x="411480" y="3257550"/>
            <a:ext cx="4114800" cy="1748700"/>
          </a:xfrm>
          <a:prstGeom prst="roundRect">
            <a:avLst>
              <a:gd name="adj" fmla="val 3922"/>
            </a:avLst>
          </a:prstGeom>
          <a:solidFill>
            <a:srgbClr val="F4F7FA"/>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3" name="Google Shape;1683;g3f6a040a5a3_1_97"/>
          <p:cNvSpPr/>
          <p:nvPr/>
        </p:nvSpPr>
        <p:spPr>
          <a:xfrm>
            <a:off x="651510" y="3497580"/>
            <a:ext cx="411600" cy="411600"/>
          </a:xfrm>
          <a:prstGeom prst="ellipse">
            <a:avLst/>
          </a:prstGeom>
          <a:solidFill>
            <a:srgbClr val="AEB8C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4" name="Google Shape;1684;g3f6a040a5a3_1_97"/>
          <p:cNvSpPr/>
          <p:nvPr/>
        </p:nvSpPr>
        <p:spPr>
          <a:xfrm>
            <a:off x="651510" y="3497580"/>
            <a:ext cx="4116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700"/>
              <a:buFont typeface="Calibri"/>
              <a:buNone/>
            </a:pPr>
            <a:r>
              <a:rPr lang="en" sz="1700" b="1" i="0" u="none" strike="noStrike" cap="none">
                <a:solidFill>
                  <a:srgbClr val="FFFFFF"/>
                </a:solidFill>
                <a:latin typeface="Calibri"/>
                <a:ea typeface="Calibri"/>
                <a:cs typeface="Calibri"/>
                <a:sym typeface="Calibri"/>
              </a:rPr>
              <a:t>C</a:t>
            </a:r>
            <a:endParaRPr sz="1700" b="0" i="0" u="none" strike="noStrike" cap="none">
              <a:solidFill>
                <a:schemeClr val="dk1"/>
              </a:solidFill>
              <a:latin typeface="Calibri"/>
              <a:ea typeface="Calibri"/>
              <a:cs typeface="Calibri"/>
              <a:sym typeface="Calibri"/>
            </a:endParaRPr>
          </a:p>
        </p:txBody>
      </p:sp>
      <p:sp>
        <p:nvSpPr>
          <p:cNvPr id="1685" name="Google Shape;1685;g3f6a040a5a3_1_97"/>
          <p:cNvSpPr/>
          <p:nvPr/>
        </p:nvSpPr>
        <p:spPr>
          <a:xfrm>
            <a:off x="3977640" y="3449574"/>
            <a:ext cx="342900" cy="342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B85042"/>
              </a:buClr>
              <a:buSzPts val="1800"/>
              <a:buFont typeface="Calibri"/>
              <a:buNone/>
            </a:pPr>
            <a:r>
              <a:rPr lang="en" sz="1800" b="1" i="0" u="none" strike="noStrike" cap="none">
                <a:solidFill>
                  <a:srgbClr val="B85042"/>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1686" name="Google Shape;1686;g3f6a040a5a3_1_97"/>
          <p:cNvSpPr/>
          <p:nvPr/>
        </p:nvSpPr>
        <p:spPr>
          <a:xfrm>
            <a:off x="1200150" y="3435858"/>
            <a:ext cx="2674500" cy="480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1295C"/>
              </a:buClr>
              <a:buSzPts val="1200"/>
              <a:buFont typeface="Calibri"/>
              <a:buNone/>
            </a:pPr>
            <a:r>
              <a:rPr lang="en" sz="1200" b="1" i="0" u="none" strike="noStrike" cap="none">
                <a:solidFill>
                  <a:srgbClr val="21295C"/>
                </a:solidFill>
                <a:latin typeface="Calibri"/>
                <a:ea typeface="Calibri"/>
                <a:cs typeface="Calibri"/>
                <a:sym typeface="Calibri"/>
              </a:rPr>
              <a:t>CNNs cannot use gradient descent</a:t>
            </a:r>
            <a:endParaRPr sz="1200" b="0" i="0" u="none" strike="noStrike" cap="none">
              <a:solidFill>
                <a:schemeClr val="dk1"/>
              </a:solidFill>
              <a:latin typeface="Calibri"/>
              <a:ea typeface="Calibri"/>
              <a:cs typeface="Calibri"/>
              <a:sym typeface="Calibri"/>
            </a:endParaRPr>
          </a:p>
        </p:txBody>
      </p:sp>
      <p:sp>
        <p:nvSpPr>
          <p:cNvPr id="1687" name="Google Shape;1687;g3f6a040a5a3_1_97"/>
          <p:cNvSpPr/>
          <p:nvPr/>
        </p:nvSpPr>
        <p:spPr>
          <a:xfrm>
            <a:off x="651510" y="4080510"/>
            <a:ext cx="3634500" cy="7545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5B6472"/>
              </a:buClr>
              <a:buSzPts val="1000"/>
              <a:buFont typeface="Calibri"/>
              <a:buNone/>
            </a:pPr>
            <a:r>
              <a:rPr lang="en" sz="1000" b="0" i="0" u="none" strike="noStrike" cap="none">
                <a:solidFill>
                  <a:srgbClr val="5B6472"/>
                </a:solidFill>
                <a:latin typeface="Calibri"/>
                <a:ea typeface="Calibri"/>
                <a:cs typeface="Calibri"/>
                <a:sym typeface="Calibri"/>
              </a:rPr>
              <a:t>False — CNNs are trained by ordinary backprop and gradient descent, same as any differentiable network.</a:t>
            </a:r>
            <a:endParaRPr sz="1000" b="0" i="0" u="none" strike="noStrike" cap="none">
              <a:solidFill>
                <a:schemeClr val="dk1"/>
              </a:solidFill>
              <a:latin typeface="Calibri"/>
              <a:ea typeface="Calibri"/>
              <a:cs typeface="Calibri"/>
              <a:sym typeface="Calibri"/>
            </a:endParaRPr>
          </a:p>
        </p:txBody>
      </p:sp>
      <p:sp>
        <p:nvSpPr>
          <p:cNvPr id="1688" name="Google Shape;1688;g3f6a040a5a3_1_97"/>
          <p:cNvSpPr/>
          <p:nvPr/>
        </p:nvSpPr>
        <p:spPr>
          <a:xfrm>
            <a:off x="4766310" y="3257550"/>
            <a:ext cx="4114800" cy="1748700"/>
          </a:xfrm>
          <a:prstGeom prst="roundRect">
            <a:avLst>
              <a:gd name="adj" fmla="val 3922"/>
            </a:avLst>
          </a:prstGeom>
          <a:solidFill>
            <a:srgbClr val="F4F7FA"/>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9" name="Google Shape;1689;g3f6a040a5a3_1_97"/>
          <p:cNvSpPr/>
          <p:nvPr/>
        </p:nvSpPr>
        <p:spPr>
          <a:xfrm>
            <a:off x="5006340" y="3497580"/>
            <a:ext cx="411600" cy="411600"/>
          </a:xfrm>
          <a:prstGeom prst="ellipse">
            <a:avLst/>
          </a:prstGeom>
          <a:solidFill>
            <a:srgbClr val="AEB8C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0" name="Google Shape;1690;g3f6a040a5a3_1_97"/>
          <p:cNvSpPr/>
          <p:nvPr/>
        </p:nvSpPr>
        <p:spPr>
          <a:xfrm>
            <a:off x="5006340" y="3497580"/>
            <a:ext cx="411600" cy="411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700"/>
              <a:buFont typeface="Calibri"/>
              <a:buNone/>
            </a:pPr>
            <a:r>
              <a:rPr lang="en" sz="1700" b="1" i="0" u="none" strike="noStrike" cap="none">
                <a:solidFill>
                  <a:srgbClr val="FFFFFF"/>
                </a:solidFill>
                <a:latin typeface="Calibri"/>
                <a:ea typeface="Calibri"/>
                <a:cs typeface="Calibri"/>
                <a:sym typeface="Calibri"/>
              </a:rPr>
              <a:t>D</a:t>
            </a:r>
            <a:endParaRPr sz="1700" b="0" i="0" u="none" strike="noStrike" cap="none">
              <a:solidFill>
                <a:schemeClr val="dk1"/>
              </a:solidFill>
              <a:latin typeface="Calibri"/>
              <a:ea typeface="Calibri"/>
              <a:cs typeface="Calibri"/>
              <a:sym typeface="Calibri"/>
            </a:endParaRPr>
          </a:p>
        </p:txBody>
      </p:sp>
      <p:sp>
        <p:nvSpPr>
          <p:cNvPr id="1691" name="Google Shape;1691;g3f6a040a5a3_1_97"/>
          <p:cNvSpPr/>
          <p:nvPr/>
        </p:nvSpPr>
        <p:spPr>
          <a:xfrm>
            <a:off x="8332470" y="3449574"/>
            <a:ext cx="342900" cy="342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B85042"/>
              </a:buClr>
              <a:buSzPts val="1800"/>
              <a:buFont typeface="Calibri"/>
              <a:buNone/>
            </a:pPr>
            <a:r>
              <a:rPr lang="en" sz="1800" b="1" i="0" u="none" strike="noStrike" cap="none">
                <a:solidFill>
                  <a:srgbClr val="B85042"/>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1692" name="Google Shape;1692;g3f6a040a5a3_1_97"/>
          <p:cNvSpPr/>
          <p:nvPr/>
        </p:nvSpPr>
        <p:spPr>
          <a:xfrm>
            <a:off x="5554980" y="3435858"/>
            <a:ext cx="2674500" cy="480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1295C"/>
              </a:buClr>
              <a:buSzPts val="1200"/>
              <a:buFont typeface="Calibri"/>
              <a:buNone/>
            </a:pPr>
            <a:r>
              <a:rPr lang="en" sz="1200" b="1" i="0" u="none" strike="noStrike" cap="none">
                <a:solidFill>
                  <a:srgbClr val="21295C"/>
                </a:solidFill>
                <a:latin typeface="Calibri"/>
                <a:ea typeface="Calibri"/>
                <a:cs typeface="Calibri"/>
                <a:sym typeface="Calibri"/>
              </a:rPr>
              <a:t>CNNs require one-hot encodings</a:t>
            </a:r>
            <a:endParaRPr sz="1200" b="0" i="0" u="none" strike="noStrike" cap="none">
              <a:solidFill>
                <a:schemeClr val="dk1"/>
              </a:solidFill>
              <a:latin typeface="Calibri"/>
              <a:ea typeface="Calibri"/>
              <a:cs typeface="Calibri"/>
              <a:sym typeface="Calibri"/>
            </a:endParaRPr>
          </a:p>
        </p:txBody>
      </p:sp>
      <p:sp>
        <p:nvSpPr>
          <p:cNvPr id="1693" name="Google Shape;1693;g3f6a040a5a3_1_97"/>
          <p:cNvSpPr/>
          <p:nvPr/>
        </p:nvSpPr>
        <p:spPr>
          <a:xfrm>
            <a:off x="5006340" y="4080510"/>
            <a:ext cx="3634500" cy="7545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5B6472"/>
              </a:buClr>
              <a:buSzPts val="1000"/>
              <a:buFont typeface="Calibri"/>
              <a:buNone/>
            </a:pPr>
            <a:r>
              <a:rPr lang="en" sz="1000" b="0" i="0" u="none" strike="noStrike" cap="none">
                <a:solidFill>
                  <a:srgbClr val="5B6472"/>
                </a:solidFill>
                <a:latin typeface="Calibri"/>
                <a:ea typeface="Calibri"/>
                <a:cs typeface="Calibri"/>
                <a:sym typeface="Calibri"/>
              </a:rPr>
              <a:t>False — input representation is flexible: embeddings, raw pixels, etc. Not a CNN requirement.</a:t>
            </a:r>
            <a:endParaRPr sz="1000" b="0" i="0" u="none" strike="noStrike" cap="none">
              <a:solidFill>
                <a:schemeClr val="dk1"/>
              </a:solidFill>
              <a:latin typeface="Calibri"/>
              <a:ea typeface="Calibri"/>
              <a:cs typeface="Calibri"/>
              <a:sym typeface="Calibri"/>
            </a:endParaRPr>
          </a:p>
        </p:txBody>
      </p:sp>
      <p:sp>
        <p:nvSpPr>
          <p:cNvPr id="1694" name="Google Shape;1694;g3f6a040a5a3_1_97"/>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53</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98"/>
        <p:cNvGrpSpPr/>
        <p:nvPr/>
      </p:nvGrpSpPr>
      <p:grpSpPr>
        <a:xfrm>
          <a:off x="0" y="0"/>
          <a:ext cx="0" cy="0"/>
          <a:chOff x="0" y="0"/>
          <a:chExt cx="0" cy="0"/>
        </a:xfrm>
      </p:grpSpPr>
      <p:pic>
        <p:nvPicPr>
          <p:cNvPr id="1699" name="Google Shape;1699;p36"/>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1700" name="Google Shape;1700;p36"/>
          <p:cNvSpPr txBox="1"/>
          <p:nvPr/>
        </p:nvSpPr>
        <p:spPr>
          <a:xfrm>
            <a:off x="1262700" y="200875"/>
            <a:ext cx="6618600" cy="8673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600"/>
              <a:buFont typeface="Arial"/>
              <a:buNone/>
            </a:pPr>
            <a:r>
              <a:rPr lang="en" sz="2600" b="1" i="0" u="none" strike="noStrike" cap="none">
                <a:solidFill>
                  <a:srgbClr val="0D1B2A"/>
                </a:solidFill>
                <a:latin typeface="Calibri"/>
                <a:ea typeface="Calibri"/>
                <a:cs typeface="Calibri"/>
                <a:sym typeface="Calibri"/>
              </a:rPr>
              <a:t>Drawbacks of CNN</a:t>
            </a:r>
            <a:endParaRPr sz="2600" b="1" i="0" u="none" strike="noStrike" cap="none">
              <a:solidFill>
                <a:srgbClr val="0D1B2A"/>
              </a:solidFill>
              <a:latin typeface="Calibri"/>
              <a:ea typeface="Calibri"/>
              <a:cs typeface="Calibri"/>
              <a:sym typeface="Calibri"/>
            </a:endParaRPr>
          </a:p>
        </p:txBody>
      </p:sp>
      <p:sp>
        <p:nvSpPr>
          <p:cNvPr id="1701" name="Google Shape;1701;p36"/>
          <p:cNvSpPr/>
          <p:nvPr/>
        </p:nvSpPr>
        <p:spPr>
          <a:xfrm>
            <a:off x="457200" y="1070640"/>
            <a:ext cx="8229600" cy="3840600"/>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600"/>
              </a:spcBef>
              <a:spcAft>
                <a:spcPts val="0"/>
              </a:spcAft>
              <a:buClr>
                <a:srgbClr val="1B2E45"/>
              </a:buClr>
              <a:buSzPts val="1500"/>
              <a:buFont typeface="Calibri"/>
              <a:buChar char="•"/>
            </a:pPr>
            <a:r>
              <a:rPr lang="en" sz="1500" b="0" i="0" u="none" strike="noStrike" cap="none">
                <a:solidFill>
                  <a:srgbClr val="1B2E45"/>
                </a:solidFill>
                <a:latin typeface="Calibri"/>
                <a:ea typeface="Calibri"/>
                <a:cs typeface="Calibri"/>
                <a:sym typeface="Calibri"/>
              </a:rPr>
              <a:t>CNNs are designed to process fixed-size input images and generate fixed-size outputs. They struggle with variable-length sequences, such as sentences in natural language processing (NLP) or varying-length videos.</a:t>
            </a:r>
            <a:endParaRPr sz="1500" b="0" i="0" u="none" strike="noStrike" cap="none">
              <a:solidFill>
                <a:srgbClr val="1B2E45"/>
              </a:solidFill>
              <a:latin typeface="Calibri"/>
              <a:ea typeface="Calibri"/>
              <a:cs typeface="Calibri"/>
              <a:sym typeface="Calibri"/>
            </a:endParaRPr>
          </a:p>
          <a:p>
            <a:pPr marL="0" marR="0" lvl="0" indent="0" algn="l" rtl="0">
              <a:lnSpc>
                <a:spcPct val="100000"/>
              </a:lnSpc>
              <a:spcBef>
                <a:spcPts val="600"/>
              </a:spcBef>
              <a:spcAft>
                <a:spcPts val="0"/>
              </a:spcAft>
              <a:buClr>
                <a:srgbClr val="000000"/>
              </a:buClr>
              <a:buSzPts val="1500"/>
              <a:buFont typeface="Arial"/>
              <a:buNone/>
            </a:pPr>
            <a:endParaRPr sz="1500" b="0" i="0" u="none" strike="noStrike" cap="none">
              <a:solidFill>
                <a:srgbClr val="1B2E45"/>
              </a:solidFill>
              <a:latin typeface="Calibri"/>
              <a:ea typeface="Calibri"/>
              <a:cs typeface="Calibri"/>
              <a:sym typeface="Calibri"/>
            </a:endParaRPr>
          </a:p>
          <a:p>
            <a:pPr marL="0" marR="0" lvl="0" indent="0" algn="l" rtl="0">
              <a:lnSpc>
                <a:spcPct val="100000"/>
              </a:lnSpc>
              <a:spcBef>
                <a:spcPts val="600"/>
              </a:spcBef>
              <a:spcAft>
                <a:spcPts val="0"/>
              </a:spcAft>
              <a:buClr>
                <a:srgbClr val="000000"/>
              </a:buClr>
              <a:buSzPts val="1500"/>
              <a:buFont typeface="Arial"/>
              <a:buNone/>
            </a:pPr>
            <a:endParaRPr sz="1500" b="0" i="0" u="none" strike="noStrike" cap="none">
              <a:solidFill>
                <a:srgbClr val="1B2E45"/>
              </a:solidFill>
              <a:latin typeface="Calibri"/>
              <a:ea typeface="Calibri"/>
              <a:cs typeface="Calibri"/>
              <a:sym typeface="Calibri"/>
            </a:endParaRPr>
          </a:p>
          <a:p>
            <a:pPr marL="342900" marR="0" lvl="0" indent="-342900" algn="l" rtl="0">
              <a:lnSpc>
                <a:spcPct val="100000"/>
              </a:lnSpc>
              <a:spcBef>
                <a:spcPts val="600"/>
              </a:spcBef>
              <a:spcAft>
                <a:spcPts val="0"/>
              </a:spcAft>
              <a:buClr>
                <a:srgbClr val="1B2E45"/>
              </a:buClr>
              <a:buSzPts val="1500"/>
              <a:buFont typeface="Calibri"/>
              <a:buChar char="•"/>
            </a:pPr>
            <a:r>
              <a:rPr lang="en" sz="1500" b="0" i="0" u="none" strike="noStrike" cap="none">
                <a:solidFill>
                  <a:srgbClr val="1B2E45"/>
                </a:solidFill>
                <a:latin typeface="Calibri"/>
                <a:ea typeface="Calibri"/>
                <a:cs typeface="Calibri"/>
                <a:sym typeface="Calibri"/>
              </a:rPr>
              <a:t>CNNs process data points independently or within a small local window. They cannot inherently capture the temporal relationship or context across time steps, making them inefficient for tasks where order matters, like stock forecasting or text generation.</a:t>
            </a:r>
            <a:endParaRPr sz="1500" b="0" i="0" u="none" strike="noStrike" cap="none">
              <a:solidFill>
                <a:srgbClr val="1B2E45"/>
              </a:solidFill>
              <a:latin typeface="Calibri"/>
              <a:ea typeface="Calibri"/>
              <a:cs typeface="Calibri"/>
              <a:sym typeface="Calibri"/>
            </a:endParaRPr>
          </a:p>
          <a:p>
            <a:pPr marL="0" marR="0" lvl="0" indent="0" algn="l" rtl="0">
              <a:lnSpc>
                <a:spcPct val="100000"/>
              </a:lnSpc>
              <a:spcBef>
                <a:spcPts val="600"/>
              </a:spcBef>
              <a:spcAft>
                <a:spcPts val="0"/>
              </a:spcAft>
              <a:buClr>
                <a:srgbClr val="000000"/>
              </a:buClr>
              <a:buSzPts val="1500"/>
              <a:buFont typeface="Arial"/>
              <a:buNone/>
            </a:pPr>
            <a:endParaRPr sz="1500" b="0" i="0" u="none" strike="noStrike" cap="none">
              <a:solidFill>
                <a:srgbClr val="1B2E45"/>
              </a:solidFill>
              <a:latin typeface="Calibri"/>
              <a:ea typeface="Calibri"/>
              <a:cs typeface="Calibri"/>
              <a:sym typeface="Calibri"/>
            </a:endParaRPr>
          </a:p>
        </p:txBody>
      </p:sp>
      <p:sp>
        <p:nvSpPr>
          <p:cNvPr id="1702" name="Google Shape;1702;p36"/>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54</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6"/>
        <p:cNvGrpSpPr/>
        <p:nvPr/>
      </p:nvGrpSpPr>
      <p:grpSpPr>
        <a:xfrm>
          <a:off x="0" y="0"/>
          <a:ext cx="0" cy="0"/>
          <a:chOff x="0" y="0"/>
          <a:chExt cx="0" cy="0"/>
        </a:xfrm>
      </p:grpSpPr>
      <p:pic>
        <p:nvPicPr>
          <p:cNvPr id="1707" name="Google Shape;1707;p37"/>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1708" name="Google Shape;1708;p37"/>
          <p:cNvSpPr txBox="1"/>
          <p:nvPr/>
        </p:nvSpPr>
        <p:spPr>
          <a:xfrm>
            <a:off x="1512201" y="98876"/>
            <a:ext cx="6618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D1B2A"/>
              </a:buClr>
              <a:buSzPts val="2600"/>
              <a:buFont typeface="Calibri"/>
              <a:buNone/>
            </a:pPr>
            <a:r>
              <a:rPr lang="en" sz="2600" b="1" i="0" u="none" strike="noStrike" cap="none">
                <a:solidFill>
                  <a:srgbClr val="0D1B2A"/>
                </a:solidFill>
                <a:latin typeface="Calibri"/>
                <a:ea typeface="Calibri"/>
                <a:cs typeface="Calibri"/>
                <a:sym typeface="Calibri"/>
              </a:rPr>
              <a:t>Convolutional Neural Networks (CNNs)</a:t>
            </a:r>
            <a:endParaRPr sz="28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00"/>
              <a:buFont typeface="Arial"/>
              <a:buNone/>
            </a:pPr>
            <a:endParaRPr sz="2600" b="1" i="0" u="none" strike="noStrike" cap="none">
              <a:solidFill>
                <a:srgbClr val="0D1B2A"/>
              </a:solidFill>
              <a:latin typeface="Calibri"/>
              <a:ea typeface="Calibri"/>
              <a:cs typeface="Calibri"/>
              <a:sym typeface="Calibri"/>
            </a:endParaRPr>
          </a:p>
        </p:txBody>
      </p:sp>
      <p:pic>
        <p:nvPicPr>
          <p:cNvPr id="1709" name="Google Shape;1709;p37"/>
          <p:cNvPicPr preferRelativeResize="0"/>
          <p:nvPr/>
        </p:nvPicPr>
        <p:blipFill rotWithShape="1">
          <a:blip r:embed="rId5">
            <a:alphaModFix/>
          </a:blip>
          <a:srcRect/>
          <a:stretch/>
        </p:blipFill>
        <p:spPr>
          <a:xfrm>
            <a:off x="298651" y="737775"/>
            <a:ext cx="6959250" cy="2799800"/>
          </a:xfrm>
          <a:prstGeom prst="rect">
            <a:avLst/>
          </a:prstGeom>
          <a:noFill/>
          <a:ln>
            <a:noFill/>
          </a:ln>
        </p:spPr>
      </p:pic>
      <p:sp>
        <p:nvSpPr>
          <p:cNvPr id="1710" name="Google Shape;1710;p37"/>
          <p:cNvSpPr/>
          <p:nvPr/>
        </p:nvSpPr>
        <p:spPr>
          <a:xfrm>
            <a:off x="180567" y="3537564"/>
            <a:ext cx="7588500" cy="1602000"/>
          </a:xfrm>
          <a:prstGeom prst="rect">
            <a:avLst/>
          </a:prstGeom>
          <a:noFill/>
          <a:ln>
            <a:noFill/>
          </a:ln>
        </p:spPr>
        <p:txBody>
          <a:bodyPr spcFirstLastPara="1" wrap="square" lIns="0" tIns="0" rIns="0" bIns="0" anchor="t" anchorCtr="0">
            <a:noAutofit/>
          </a:bodyPr>
          <a:lstStyle/>
          <a:p>
            <a:pPr marL="316192" marR="0" lvl="0" indent="-316191" algn="l" rtl="0">
              <a:lnSpc>
                <a:spcPct val="100000"/>
              </a:lnSpc>
              <a:spcBef>
                <a:spcPts val="0"/>
              </a:spcBef>
              <a:spcAft>
                <a:spcPts val="0"/>
              </a:spcAft>
              <a:buClr>
                <a:srgbClr val="1B2E45"/>
              </a:buClr>
              <a:buSzPts val="1107"/>
              <a:buFont typeface="Calibri"/>
              <a:buChar char="•"/>
            </a:pPr>
            <a:r>
              <a:rPr lang="en" sz="1107" b="0" i="0" u="none" strike="noStrike" cap="none">
                <a:solidFill>
                  <a:srgbClr val="1B2E45"/>
                </a:solidFill>
                <a:latin typeface="Calibri"/>
                <a:ea typeface="Calibri"/>
                <a:cs typeface="Calibri"/>
                <a:sym typeface="Calibri"/>
              </a:rPr>
              <a:t>Convolution: Slide a small filter (kernel) over image to detect local features (edges, textures, patterns)</a:t>
            </a:r>
            <a:endParaRPr sz="1107" b="0" i="0" u="none" strike="noStrike" cap="none">
              <a:solidFill>
                <a:srgbClr val="000000"/>
              </a:solidFill>
              <a:latin typeface="Calibri"/>
              <a:ea typeface="Calibri"/>
              <a:cs typeface="Calibri"/>
              <a:sym typeface="Calibri"/>
            </a:endParaRPr>
          </a:p>
          <a:p>
            <a:pPr marL="316192" marR="0" lvl="0" indent="-316191" algn="l" rtl="0">
              <a:lnSpc>
                <a:spcPct val="100000"/>
              </a:lnSpc>
              <a:spcBef>
                <a:spcPts val="461"/>
              </a:spcBef>
              <a:spcAft>
                <a:spcPts val="0"/>
              </a:spcAft>
              <a:buClr>
                <a:srgbClr val="1B2E45"/>
              </a:buClr>
              <a:buSzPts val="1107"/>
              <a:buFont typeface="Calibri"/>
              <a:buChar char="•"/>
            </a:pPr>
            <a:r>
              <a:rPr lang="en" sz="1107" b="0" i="0" u="none" strike="noStrike" cap="none">
                <a:solidFill>
                  <a:srgbClr val="1B2E45"/>
                </a:solidFill>
                <a:latin typeface="Calibri"/>
                <a:ea typeface="Calibri"/>
                <a:cs typeface="Calibri"/>
                <a:sym typeface="Calibri"/>
              </a:rPr>
              <a:t>Parameter sharing: Same filter weights reused across all spatial locations → fewer parameters</a:t>
            </a:r>
            <a:endParaRPr sz="1107" b="0" i="0" u="none" strike="noStrike" cap="none">
              <a:solidFill>
                <a:srgbClr val="000000"/>
              </a:solidFill>
              <a:latin typeface="Calibri"/>
              <a:ea typeface="Calibri"/>
              <a:cs typeface="Calibri"/>
              <a:sym typeface="Calibri"/>
            </a:endParaRPr>
          </a:p>
          <a:p>
            <a:pPr marL="316192" marR="0" lvl="0" indent="-316191" algn="l" rtl="0">
              <a:lnSpc>
                <a:spcPct val="100000"/>
              </a:lnSpc>
              <a:spcBef>
                <a:spcPts val="461"/>
              </a:spcBef>
              <a:spcAft>
                <a:spcPts val="0"/>
              </a:spcAft>
              <a:buClr>
                <a:srgbClr val="1B2E45"/>
              </a:buClr>
              <a:buSzPts val="1107"/>
              <a:buFont typeface="Calibri"/>
              <a:buChar char="•"/>
            </a:pPr>
            <a:r>
              <a:rPr lang="en" sz="1107" b="0" i="0" u="none" strike="noStrike" cap="none">
                <a:solidFill>
                  <a:srgbClr val="1B2E45"/>
                </a:solidFill>
                <a:latin typeface="Calibri"/>
                <a:ea typeface="Calibri"/>
                <a:cs typeface="Calibri"/>
                <a:sym typeface="Calibri"/>
              </a:rPr>
              <a:t>Pooling: Downsample feature maps (MaxPool, AvgPool) → spatial invariance</a:t>
            </a:r>
            <a:endParaRPr sz="1107" b="0" i="0" u="none" strike="noStrike" cap="none">
              <a:solidFill>
                <a:srgbClr val="000000"/>
              </a:solidFill>
              <a:latin typeface="Calibri"/>
              <a:ea typeface="Calibri"/>
              <a:cs typeface="Calibri"/>
              <a:sym typeface="Calibri"/>
            </a:endParaRPr>
          </a:p>
          <a:p>
            <a:pPr marL="316192" marR="0" lvl="0" indent="-316191" algn="l" rtl="0">
              <a:lnSpc>
                <a:spcPct val="100000"/>
              </a:lnSpc>
              <a:spcBef>
                <a:spcPts val="461"/>
              </a:spcBef>
              <a:spcAft>
                <a:spcPts val="0"/>
              </a:spcAft>
              <a:buClr>
                <a:srgbClr val="1B2E45"/>
              </a:buClr>
              <a:buSzPts val="1107"/>
              <a:buFont typeface="Calibri"/>
              <a:buChar char="•"/>
            </a:pPr>
            <a:r>
              <a:rPr lang="en" sz="1107" b="0" i="0" u="none" strike="noStrike" cap="none">
                <a:solidFill>
                  <a:srgbClr val="1B2E45"/>
                </a:solidFill>
                <a:latin typeface="Calibri"/>
                <a:ea typeface="Calibri"/>
                <a:cs typeface="Calibri"/>
                <a:sym typeface="Calibri"/>
              </a:rPr>
              <a:t>Stacking layers: Low-level (edges) → Mid-level (shapes) → High-level (object parts) → Class</a:t>
            </a:r>
            <a:endParaRPr sz="1107" b="0" i="0" u="none" strike="noStrike" cap="none">
              <a:solidFill>
                <a:srgbClr val="000000"/>
              </a:solidFill>
              <a:latin typeface="Calibri"/>
              <a:ea typeface="Calibri"/>
              <a:cs typeface="Calibri"/>
              <a:sym typeface="Calibri"/>
            </a:endParaRPr>
          </a:p>
          <a:p>
            <a:pPr marL="316192" marR="0" lvl="0" indent="-316191" algn="l" rtl="0">
              <a:lnSpc>
                <a:spcPct val="100000"/>
              </a:lnSpc>
              <a:spcBef>
                <a:spcPts val="461"/>
              </a:spcBef>
              <a:spcAft>
                <a:spcPts val="0"/>
              </a:spcAft>
              <a:buClr>
                <a:srgbClr val="1B2E45"/>
              </a:buClr>
              <a:buSzPts val="1107"/>
              <a:buFont typeface="Calibri"/>
              <a:buChar char="•"/>
            </a:pPr>
            <a:r>
              <a:rPr lang="en" sz="1107" b="0" i="0" u="none" strike="noStrike" cap="none">
                <a:solidFill>
                  <a:srgbClr val="1B2E45"/>
                </a:solidFill>
                <a:latin typeface="Calibri"/>
                <a:ea typeface="Calibri"/>
                <a:cs typeface="Calibri"/>
                <a:sym typeface="Calibri"/>
              </a:rPr>
              <a:t>AlexNet (2012) — revolutionized image recognition; ResNet, VGG, EfficientNet followed</a:t>
            </a:r>
            <a:endParaRPr sz="1107" b="0" i="0" u="none" strike="noStrike" cap="none">
              <a:solidFill>
                <a:srgbClr val="000000"/>
              </a:solidFill>
              <a:latin typeface="Calibri"/>
              <a:ea typeface="Calibri"/>
              <a:cs typeface="Calibri"/>
              <a:sym typeface="Calibri"/>
            </a:endParaRPr>
          </a:p>
        </p:txBody>
      </p:sp>
      <p:sp>
        <p:nvSpPr>
          <p:cNvPr id="1711" name="Google Shape;1711;p37"/>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55</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Shape 1716"/>
        <p:cNvGrpSpPr/>
        <p:nvPr/>
      </p:nvGrpSpPr>
      <p:grpSpPr>
        <a:xfrm>
          <a:off x="0" y="0"/>
          <a:ext cx="0" cy="0"/>
          <a:chOff x="0" y="0"/>
          <a:chExt cx="0" cy="0"/>
        </a:xfrm>
      </p:grpSpPr>
      <p:sp>
        <p:nvSpPr>
          <p:cNvPr id="1717" name="Google Shape;1717;p38"/>
          <p:cNvSpPr/>
          <p:nvPr/>
        </p:nvSpPr>
        <p:spPr>
          <a:xfrm>
            <a:off x="0" y="0"/>
            <a:ext cx="9144000" cy="6390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8" name="Google Shape;1718;p38"/>
          <p:cNvSpPr/>
          <p:nvPr/>
        </p:nvSpPr>
        <p:spPr>
          <a:xfrm>
            <a:off x="347472" y="164592"/>
            <a:ext cx="63900" cy="51210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9" name="Google Shape;1719;p38"/>
          <p:cNvSpPr/>
          <p:nvPr/>
        </p:nvSpPr>
        <p:spPr>
          <a:xfrm>
            <a:off x="521208" y="146304"/>
            <a:ext cx="8229600" cy="54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B3A6B"/>
              </a:buClr>
              <a:buSzPts val="2600"/>
              <a:buFont typeface="Calibri"/>
              <a:buNone/>
            </a:pPr>
            <a:r>
              <a:rPr lang="en" sz="2600" b="1" i="0" u="none" strike="noStrike" cap="none">
                <a:solidFill>
                  <a:srgbClr val="1B3A6B"/>
                </a:solidFill>
                <a:latin typeface="Calibri"/>
                <a:ea typeface="Calibri"/>
                <a:cs typeface="Calibri"/>
                <a:sym typeface="Calibri"/>
              </a:rPr>
              <a:t>Feature Learning through Embeddings</a:t>
            </a:r>
            <a:endParaRPr sz="2600" b="0" i="0" u="none" strike="noStrike" cap="none">
              <a:solidFill>
                <a:schemeClr val="dk1"/>
              </a:solidFill>
              <a:latin typeface="Calibri"/>
              <a:ea typeface="Calibri"/>
              <a:cs typeface="Calibri"/>
              <a:sym typeface="Calibri"/>
            </a:endParaRPr>
          </a:p>
        </p:txBody>
      </p:sp>
      <p:cxnSp>
        <p:nvCxnSpPr>
          <p:cNvPr id="1720" name="Google Shape;1720;p38"/>
          <p:cNvCxnSpPr/>
          <p:nvPr/>
        </p:nvCxnSpPr>
        <p:spPr>
          <a:xfrm>
            <a:off x="347472" y="713232"/>
            <a:ext cx="8449200" cy="0"/>
          </a:xfrm>
          <a:prstGeom prst="straightConnector1">
            <a:avLst/>
          </a:prstGeom>
          <a:noFill/>
          <a:ln w="15225" cap="flat" cmpd="sng">
            <a:solidFill>
              <a:srgbClr val="1B3A6B"/>
            </a:solidFill>
            <a:prstDash val="solid"/>
            <a:round/>
            <a:headEnd type="none" w="sm" len="sm"/>
            <a:tailEnd type="none" w="sm" len="sm"/>
          </a:ln>
        </p:spPr>
      </p:cxnSp>
      <p:sp>
        <p:nvSpPr>
          <p:cNvPr id="1721" name="Google Shape;1721;p38"/>
          <p:cNvSpPr/>
          <p:nvPr/>
        </p:nvSpPr>
        <p:spPr>
          <a:xfrm>
            <a:off x="347472" y="749808"/>
            <a:ext cx="84492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1200"/>
              <a:buFont typeface="Calibri"/>
              <a:buNone/>
            </a:pPr>
            <a:r>
              <a:rPr lang="en" sz="1200" b="0" i="1" u="none" strike="noStrike" cap="none">
                <a:solidFill>
                  <a:srgbClr val="6B7280"/>
                </a:solidFill>
                <a:latin typeface="Calibri"/>
                <a:ea typeface="Calibri"/>
                <a:cs typeface="Calibri"/>
                <a:sym typeface="Calibri"/>
              </a:rPr>
              <a:t>A motivating journey: from hand-crafted statistics to learned dense vectors</a:t>
            </a:r>
            <a:endParaRPr sz="1200" b="0" i="0" u="none" strike="noStrike" cap="none">
              <a:solidFill>
                <a:schemeClr val="dk1"/>
              </a:solidFill>
              <a:latin typeface="Calibri"/>
              <a:ea typeface="Calibri"/>
              <a:cs typeface="Calibri"/>
              <a:sym typeface="Calibri"/>
            </a:endParaRPr>
          </a:p>
        </p:txBody>
      </p:sp>
      <p:sp>
        <p:nvSpPr>
          <p:cNvPr id="1722" name="Google Shape;1722;p38"/>
          <p:cNvSpPr/>
          <p:nvPr/>
        </p:nvSpPr>
        <p:spPr>
          <a:xfrm>
            <a:off x="347472" y="1078992"/>
            <a:ext cx="8449200" cy="310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11827"/>
              </a:buClr>
              <a:buSzPts val="1400"/>
              <a:buFont typeface="Calibri"/>
              <a:buNone/>
            </a:pPr>
            <a:r>
              <a:rPr lang="en" sz="1400" b="0" i="1" u="none" strike="noStrike" cap="none">
                <a:solidFill>
                  <a:srgbClr val="111827"/>
                </a:solidFill>
                <a:latin typeface="Calibri"/>
                <a:ea typeface="Calibri"/>
                <a:cs typeface="Calibri"/>
                <a:sym typeface="Calibri"/>
              </a:rPr>
              <a:t>How do we turn raw text into something a machine can learn from?</a:t>
            </a:r>
            <a:endParaRPr sz="1400" b="0" i="0" u="none" strike="noStrike" cap="none">
              <a:solidFill>
                <a:schemeClr val="dk1"/>
              </a:solidFill>
              <a:latin typeface="Calibri"/>
              <a:ea typeface="Calibri"/>
              <a:cs typeface="Calibri"/>
              <a:sym typeface="Calibri"/>
            </a:endParaRPr>
          </a:p>
        </p:txBody>
      </p:sp>
      <p:sp>
        <p:nvSpPr>
          <p:cNvPr id="1723" name="Google Shape;1723;p38"/>
          <p:cNvSpPr/>
          <p:nvPr/>
        </p:nvSpPr>
        <p:spPr>
          <a:xfrm>
            <a:off x="384048" y="1481328"/>
            <a:ext cx="2469000" cy="2286000"/>
          </a:xfrm>
          <a:prstGeom prst="rect">
            <a:avLst/>
          </a:prstGeom>
          <a:solidFill>
            <a:srgbClr val="EFF6FF"/>
          </a:solidFill>
          <a:ln w="19050"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4" name="Google Shape;1724;p38"/>
          <p:cNvSpPr/>
          <p:nvPr/>
        </p:nvSpPr>
        <p:spPr>
          <a:xfrm>
            <a:off x="384048" y="1481328"/>
            <a:ext cx="2469000" cy="73200"/>
          </a:xfrm>
          <a:prstGeom prst="rect">
            <a:avLst/>
          </a:prstGeom>
          <a:solidFill>
            <a:srgbClr val="2563EB"/>
          </a:solidFill>
          <a:ln w="12700"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5" name="Google Shape;1725;p38"/>
          <p:cNvSpPr/>
          <p:nvPr/>
        </p:nvSpPr>
        <p:spPr>
          <a:xfrm>
            <a:off x="384048" y="1645920"/>
            <a:ext cx="24690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800"/>
              <a:buFont typeface="Calibri"/>
              <a:buNone/>
            </a:pPr>
            <a:r>
              <a:rPr lang="en" sz="2800" b="0" i="0" u="none" strike="noStrike" cap="none">
                <a:solidFill>
                  <a:srgbClr val="000000"/>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p:txBody>
      </p:sp>
      <p:sp>
        <p:nvSpPr>
          <p:cNvPr id="1726" name="Google Shape;1726;p38"/>
          <p:cNvSpPr/>
          <p:nvPr/>
        </p:nvSpPr>
        <p:spPr>
          <a:xfrm>
            <a:off x="493776" y="2176272"/>
            <a:ext cx="22494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563EB"/>
              </a:buClr>
              <a:buSzPts val="1600"/>
              <a:buFont typeface="Calibri"/>
              <a:buNone/>
            </a:pPr>
            <a:r>
              <a:rPr lang="en" sz="1600" b="1" i="0" u="none" strike="noStrike" cap="none">
                <a:solidFill>
                  <a:srgbClr val="2563EB"/>
                </a:solidFill>
                <a:latin typeface="Calibri"/>
                <a:ea typeface="Calibri"/>
                <a:cs typeface="Calibri"/>
                <a:sym typeface="Calibri"/>
              </a:rPr>
              <a:t>Raw Text</a:t>
            </a:r>
            <a:endParaRPr sz="1600" b="0" i="0" u="none" strike="noStrike" cap="none">
              <a:solidFill>
                <a:schemeClr val="dk1"/>
              </a:solidFill>
              <a:latin typeface="Calibri"/>
              <a:ea typeface="Calibri"/>
              <a:cs typeface="Calibri"/>
              <a:sym typeface="Calibri"/>
            </a:endParaRPr>
          </a:p>
        </p:txBody>
      </p:sp>
      <p:cxnSp>
        <p:nvCxnSpPr>
          <p:cNvPr id="1727" name="Google Shape;1727;p38"/>
          <p:cNvCxnSpPr/>
          <p:nvPr/>
        </p:nvCxnSpPr>
        <p:spPr>
          <a:xfrm>
            <a:off x="612648" y="2542032"/>
            <a:ext cx="2011800" cy="0"/>
          </a:xfrm>
          <a:prstGeom prst="straightConnector1">
            <a:avLst/>
          </a:prstGeom>
          <a:noFill/>
          <a:ln w="10150" cap="flat" cmpd="sng">
            <a:solidFill>
              <a:srgbClr val="2563EB">
                <a:alpha val="60000"/>
              </a:srgbClr>
            </a:solidFill>
            <a:prstDash val="solid"/>
            <a:round/>
            <a:headEnd type="none" w="sm" len="sm"/>
            <a:tailEnd type="none" w="sm" len="sm"/>
          </a:ln>
        </p:spPr>
      </p:cxnSp>
      <p:sp>
        <p:nvSpPr>
          <p:cNvPr id="1728" name="Google Shape;1728;p38"/>
          <p:cNvSpPr/>
          <p:nvPr/>
        </p:nvSpPr>
        <p:spPr>
          <a:xfrm>
            <a:off x="493776" y="2624328"/>
            <a:ext cx="2249400" cy="822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11827"/>
              </a:buClr>
              <a:buSzPts val="1250"/>
              <a:buFont typeface="Calibri"/>
              <a:buNone/>
            </a:pPr>
            <a:r>
              <a:rPr lang="en" sz="1250" b="0" i="1" u="none" strike="noStrike" cap="none">
                <a:solidFill>
                  <a:srgbClr val="111827"/>
                </a:solidFill>
                <a:latin typeface="Calibri"/>
                <a:ea typeface="Calibri"/>
                <a:cs typeface="Calibri"/>
                <a:sym typeface="Calibri"/>
              </a:rPr>
              <a:t>"The cat sat on the mat"</a:t>
            </a:r>
            <a:endParaRPr sz="1250" b="0" i="0" u="none" strike="noStrike" cap="none">
              <a:solidFill>
                <a:schemeClr val="dk1"/>
              </a:solidFill>
              <a:latin typeface="Calibri"/>
              <a:ea typeface="Calibri"/>
              <a:cs typeface="Calibri"/>
              <a:sym typeface="Calibri"/>
            </a:endParaRPr>
          </a:p>
        </p:txBody>
      </p:sp>
      <p:cxnSp>
        <p:nvCxnSpPr>
          <p:cNvPr id="1729" name="Google Shape;1729;p38"/>
          <p:cNvCxnSpPr/>
          <p:nvPr/>
        </p:nvCxnSpPr>
        <p:spPr>
          <a:xfrm>
            <a:off x="2907792" y="2624328"/>
            <a:ext cx="347400" cy="0"/>
          </a:xfrm>
          <a:prstGeom prst="straightConnector1">
            <a:avLst/>
          </a:prstGeom>
          <a:noFill/>
          <a:ln w="25400" cap="flat" cmpd="sng">
            <a:solidFill>
              <a:srgbClr val="1B3A6B"/>
            </a:solidFill>
            <a:prstDash val="solid"/>
            <a:round/>
            <a:headEnd type="none" w="sm" len="sm"/>
            <a:tailEnd type="stealth" w="med" len="med"/>
          </a:ln>
        </p:spPr>
      </p:cxnSp>
      <p:sp>
        <p:nvSpPr>
          <p:cNvPr id="1730" name="Google Shape;1730;p38"/>
          <p:cNvSpPr/>
          <p:nvPr/>
        </p:nvSpPr>
        <p:spPr>
          <a:xfrm>
            <a:off x="3282696" y="1481328"/>
            <a:ext cx="2469000" cy="2286000"/>
          </a:xfrm>
          <a:prstGeom prst="rect">
            <a:avLst/>
          </a:prstGeom>
          <a:solidFill>
            <a:srgbClr val="F0FDF4"/>
          </a:solidFill>
          <a:ln w="1905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1" name="Google Shape;1731;p38"/>
          <p:cNvSpPr/>
          <p:nvPr/>
        </p:nvSpPr>
        <p:spPr>
          <a:xfrm>
            <a:off x="3282696" y="1481328"/>
            <a:ext cx="2469000" cy="732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2" name="Google Shape;1732;p38"/>
          <p:cNvSpPr/>
          <p:nvPr/>
        </p:nvSpPr>
        <p:spPr>
          <a:xfrm>
            <a:off x="3282696" y="1645920"/>
            <a:ext cx="24690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800"/>
              <a:buFont typeface="Calibri"/>
              <a:buNone/>
            </a:pPr>
            <a:r>
              <a:rPr lang="en" sz="2800" b="0" i="0" u="none" strike="noStrike" cap="none">
                <a:solidFill>
                  <a:srgbClr val="000000"/>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p:txBody>
      </p:sp>
      <p:sp>
        <p:nvSpPr>
          <p:cNvPr id="1733" name="Google Shape;1733;p38"/>
          <p:cNvSpPr/>
          <p:nvPr/>
        </p:nvSpPr>
        <p:spPr>
          <a:xfrm>
            <a:off x="3392424" y="2176272"/>
            <a:ext cx="22494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9488"/>
              </a:buClr>
              <a:buSzPts val="1600"/>
              <a:buFont typeface="Calibri"/>
              <a:buNone/>
            </a:pPr>
            <a:r>
              <a:rPr lang="en" sz="1600" b="1" i="0" u="none" strike="noStrike" cap="none">
                <a:solidFill>
                  <a:srgbClr val="0D9488"/>
                </a:solidFill>
                <a:latin typeface="Calibri"/>
                <a:ea typeface="Calibri"/>
                <a:cs typeface="Calibri"/>
                <a:sym typeface="Calibri"/>
              </a:rPr>
              <a:t>Representation</a:t>
            </a:r>
            <a:endParaRPr sz="1600" b="0" i="0" u="none" strike="noStrike" cap="none">
              <a:solidFill>
                <a:schemeClr val="dk1"/>
              </a:solidFill>
              <a:latin typeface="Calibri"/>
              <a:ea typeface="Calibri"/>
              <a:cs typeface="Calibri"/>
              <a:sym typeface="Calibri"/>
            </a:endParaRPr>
          </a:p>
        </p:txBody>
      </p:sp>
      <p:cxnSp>
        <p:nvCxnSpPr>
          <p:cNvPr id="1734" name="Google Shape;1734;p38"/>
          <p:cNvCxnSpPr/>
          <p:nvPr/>
        </p:nvCxnSpPr>
        <p:spPr>
          <a:xfrm>
            <a:off x="3511296" y="2542032"/>
            <a:ext cx="2011800" cy="0"/>
          </a:xfrm>
          <a:prstGeom prst="straightConnector1">
            <a:avLst/>
          </a:prstGeom>
          <a:noFill/>
          <a:ln w="10150" cap="flat" cmpd="sng">
            <a:solidFill>
              <a:srgbClr val="0D9488">
                <a:alpha val="60000"/>
              </a:srgbClr>
            </a:solidFill>
            <a:prstDash val="solid"/>
            <a:round/>
            <a:headEnd type="none" w="sm" len="sm"/>
            <a:tailEnd type="none" w="sm" len="sm"/>
          </a:ln>
        </p:spPr>
      </p:cxnSp>
      <p:sp>
        <p:nvSpPr>
          <p:cNvPr id="1735" name="Google Shape;1735;p38"/>
          <p:cNvSpPr/>
          <p:nvPr/>
        </p:nvSpPr>
        <p:spPr>
          <a:xfrm>
            <a:off x="3392424" y="2624328"/>
            <a:ext cx="2249400" cy="822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11827"/>
              </a:buClr>
              <a:buSzPts val="1250"/>
              <a:buFont typeface="Calibri"/>
              <a:buNone/>
            </a:pPr>
            <a:r>
              <a:rPr lang="en" sz="1250" b="0" i="1" u="none" strike="noStrike" cap="none">
                <a:solidFill>
                  <a:srgbClr val="111827"/>
                </a:solidFill>
                <a:latin typeface="Calibri"/>
                <a:ea typeface="Calibri"/>
                <a:cs typeface="Calibri"/>
                <a:sym typeface="Calibri"/>
              </a:rPr>
              <a:t>Vectors, numbers, tensors</a:t>
            </a:r>
            <a:endParaRPr sz="1250" b="0" i="0" u="none" strike="noStrike" cap="none">
              <a:solidFill>
                <a:schemeClr val="dk1"/>
              </a:solidFill>
              <a:latin typeface="Calibri"/>
              <a:ea typeface="Calibri"/>
              <a:cs typeface="Calibri"/>
              <a:sym typeface="Calibri"/>
            </a:endParaRPr>
          </a:p>
        </p:txBody>
      </p:sp>
      <p:cxnSp>
        <p:nvCxnSpPr>
          <p:cNvPr id="1736" name="Google Shape;1736;p38"/>
          <p:cNvCxnSpPr/>
          <p:nvPr/>
        </p:nvCxnSpPr>
        <p:spPr>
          <a:xfrm>
            <a:off x="5806440" y="2624328"/>
            <a:ext cx="347400" cy="0"/>
          </a:xfrm>
          <a:prstGeom prst="straightConnector1">
            <a:avLst/>
          </a:prstGeom>
          <a:noFill/>
          <a:ln w="25400" cap="flat" cmpd="sng">
            <a:solidFill>
              <a:srgbClr val="1B3A6B"/>
            </a:solidFill>
            <a:prstDash val="solid"/>
            <a:round/>
            <a:headEnd type="none" w="sm" len="sm"/>
            <a:tailEnd type="stealth" w="med" len="med"/>
          </a:ln>
        </p:spPr>
      </p:cxnSp>
      <p:sp>
        <p:nvSpPr>
          <p:cNvPr id="1737" name="Google Shape;1737;p38"/>
          <p:cNvSpPr/>
          <p:nvPr/>
        </p:nvSpPr>
        <p:spPr>
          <a:xfrm>
            <a:off x="6181344" y="1481328"/>
            <a:ext cx="2469000" cy="2286000"/>
          </a:xfrm>
          <a:prstGeom prst="rect">
            <a:avLst/>
          </a:prstGeom>
          <a:solidFill>
            <a:srgbClr val="FFF7ED"/>
          </a:solidFill>
          <a:ln w="1905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8" name="Google Shape;1738;p38"/>
          <p:cNvSpPr/>
          <p:nvPr/>
        </p:nvSpPr>
        <p:spPr>
          <a:xfrm>
            <a:off x="6181344" y="1481328"/>
            <a:ext cx="2469000" cy="73200"/>
          </a:xfrm>
          <a:prstGeom prst="rect">
            <a:avLst/>
          </a:prstGeom>
          <a:solidFill>
            <a:srgbClr val="EA580C"/>
          </a:solidFill>
          <a:ln w="1270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9" name="Google Shape;1739;p38"/>
          <p:cNvSpPr/>
          <p:nvPr/>
        </p:nvSpPr>
        <p:spPr>
          <a:xfrm>
            <a:off x="6181344" y="1645920"/>
            <a:ext cx="2469000" cy="502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800"/>
              <a:buFont typeface="Calibri"/>
              <a:buNone/>
            </a:pPr>
            <a:r>
              <a:rPr lang="en" sz="2800" b="0" i="0" u="none" strike="noStrike" cap="none">
                <a:solidFill>
                  <a:srgbClr val="000000"/>
                </a:solidFill>
                <a:latin typeface="Calibri"/>
                <a:ea typeface="Calibri"/>
                <a:cs typeface="Calibri"/>
                <a:sym typeface="Calibri"/>
              </a:rPr>
              <a:t>🧠</a:t>
            </a:r>
            <a:endParaRPr sz="2800" b="0" i="0" u="none" strike="noStrike" cap="none">
              <a:solidFill>
                <a:schemeClr val="dk1"/>
              </a:solidFill>
              <a:latin typeface="Calibri"/>
              <a:ea typeface="Calibri"/>
              <a:cs typeface="Calibri"/>
              <a:sym typeface="Calibri"/>
            </a:endParaRPr>
          </a:p>
        </p:txBody>
      </p:sp>
      <p:sp>
        <p:nvSpPr>
          <p:cNvPr id="1740" name="Google Shape;1740;p38"/>
          <p:cNvSpPr/>
          <p:nvPr/>
        </p:nvSpPr>
        <p:spPr>
          <a:xfrm>
            <a:off x="6291072" y="2176272"/>
            <a:ext cx="22494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A580C"/>
              </a:buClr>
              <a:buSzPts val="1600"/>
              <a:buFont typeface="Calibri"/>
              <a:buNone/>
            </a:pPr>
            <a:r>
              <a:rPr lang="en" sz="1600" b="1" i="0" u="none" strike="noStrike" cap="none">
                <a:solidFill>
                  <a:srgbClr val="EA580C"/>
                </a:solidFill>
                <a:latin typeface="Calibri"/>
                <a:ea typeface="Calibri"/>
                <a:cs typeface="Calibri"/>
                <a:sym typeface="Calibri"/>
              </a:rPr>
              <a:t>ML Model</a:t>
            </a:r>
            <a:endParaRPr sz="1600" b="0" i="0" u="none" strike="noStrike" cap="none">
              <a:solidFill>
                <a:schemeClr val="dk1"/>
              </a:solidFill>
              <a:latin typeface="Calibri"/>
              <a:ea typeface="Calibri"/>
              <a:cs typeface="Calibri"/>
              <a:sym typeface="Calibri"/>
            </a:endParaRPr>
          </a:p>
        </p:txBody>
      </p:sp>
      <p:cxnSp>
        <p:nvCxnSpPr>
          <p:cNvPr id="1741" name="Google Shape;1741;p38"/>
          <p:cNvCxnSpPr/>
          <p:nvPr/>
        </p:nvCxnSpPr>
        <p:spPr>
          <a:xfrm>
            <a:off x="6409944" y="2542032"/>
            <a:ext cx="2011800" cy="0"/>
          </a:xfrm>
          <a:prstGeom prst="straightConnector1">
            <a:avLst/>
          </a:prstGeom>
          <a:noFill/>
          <a:ln w="10150" cap="flat" cmpd="sng">
            <a:solidFill>
              <a:srgbClr val="EA580C">
                <a:alpha val="60000"/>
              </a:srgbClr>
            </a:solidFill>
            <a:prstDash val="solid"/>
            <a:round/>
            <a:headEnd type="none" w="sm" len="sm"/>
            <a:tailEnd type="none" w="sm" len="sm"/>
          </a:ln>
        </p:spPr>
      </p:cxnSp>
      <p:sp>
        <p:nvSpPr>
          <p:cNvPr id="1742" name="Google Shape;1742;p38"/>
          <p:cNvSpPr/>
          <p:nvPr/>
        </p:nvSpPr>
        <p:spPr>
          <a:xfrm>
            <a:off x="6291072" y="2624328"/>
            <a:ext cx="2249400" cy="822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11827"/>
              </a:buClr>
              <a:buSzPts val="1250"/>
              <a:buFont typeface="Calibri"/>
              <a:buNone/>
            </a:pPr>
            <a:r>
              <a:rPr lang="en" sz="1250" b="0" i="1" u="none" strike="noStrike" cap="none">
                <a:solidFill>
                  <a:srgbClr val="111827"/>
                </a:solidFill>
                <a:latin typeface="Calibri"/>
                <a:ea typeface="Calibri"/>
                <a:cs typeface="Calibri"/>
                <a:sym typeface="Calibri"/>
              </a:rPr>
              <a:t>Classification, generation…</a:t>
            </a:r>
            <a:endParaRPr sz="1250" b="0" i="0" u="none" strike="noStrike" cap="none">
              <a:solidFill>
                <a:schemeClr val="dk1"/>
              </a:solidFill>
              <a:latin typeface="Calibri"/>
              <a:ea typeface="Calibri"/>
              <a:cs typeface="Calibri"/>
              <a:sym typeface="Calibri"/>
            </a:endParaRPr>
          </a:p>
        </p:txBody>
      </p:sp>
      <p:sp>
        <p:nvSpPr>
          <p:cNvPr id="1743" name="Google Shape;1743;p38"/>
          <p:cNvSpPr/>
          <p:nvPr/>
        </p:nvSpPr>
        <p:spPr>
          <a:xfrm>
            <a:off x="347472" y="3858768"/>
            <a:ext cx="8449200" cy="40230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4" name="Google Shape;1744;p38"/>
          <p:cNvSpPr/>
          <p:nvPr/>
        </p:nvSpPr>
        <p:spPr>
          <a:xfrm>
            <a:off x="457200" y="3858768"/>
            <a:ext cx="82296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300"/>
              <a:buFont typeface="Calibri"/>
              <a:buNone/>
            </a:pPr>
            <a:r>
              <a:rPr lang="en" sz="1300" b="1" i="0" u="none" strike="noStrike" cap="none">
                <a:solidFill>
                  <a:srgbClr val="FFFFFF"/>
                </a:solidFill>
                <a:latin typeface="Calibri"/>
                <a:ea typeface="Calibri"/>
                <a:cs typeface="Calibri"/>
                <a:sym typeface="Calibri"/>
              </a:rPr>
              <a:t>The representation step is the key bottleneck — and the biggest opportunity.</a:t>
            </a:r>
            <a:endParaRPr sz="1300" b="0" i="0" u="none" strike="noStrike" cap="none">
              <a:solidFill>
                <a:schemeClr val="dk1"/>
              </a:solidFill>
              <a:latin typeface="Calibri"/>
              <a:ea typeface="Calibri"/>
              <a:cs typeface="Calibri"/>
              <a:sym typeface="Calibri"/>
            </a:endParaRPr>
          </a:p>
        </p:txBody>
      </p:sp>
      <p:sp>
        <p:nvSpPr>
          <p:cNvPr id="1745" name="Google Shape;1745;p38"/>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56</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Shape 1750"/>
        <p:cNvGrpSpPr/>
        <p:nvPr/>
      </p:nvGrpSpPr>
      <p:grpSpPr>
        <a:xfrm>
          <a:off x="0" y="0"/>
          <a:ext cx="0" cy="0"/>
          <a:chOff x="0" y="0"/>
          <a:chExt cx="0" cy="0"/>
        </a:xfrm>
      </p:grpSpPr>
      <p:sp>
        <p:nvSpPr>
          <p:cNvPr id="1751" name="Google Shape;1751;p39"/>
          <p:cNvSpPr/>
          <p:nvPr/>
        </p:nvSpPr>
        <p:spPr>
          <a:xfrm>
            <a:off x="0" y="0"/>
            <a:ext cx="9144000" cy="63900"/>
          </a:xfrm>
          <a:prstGeom prst="rect">
            <a:avLst/>
          </a:prstGeom>
          <a:solidFill>
            <a:srgbClr val="2563EB"/>
          </a:solidFill>
          <a:ln w="12700"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2" name="Google Shape;1752;p39"/>
          <p:cNvSpPr/>
          <p:nvPr/>
        </p:nvSpPr>
        <p:spPr>
          <a:xfrm>
            <a:off x="347472" y="164592"/>
            <a:ext cx="63900" cy="512100"/>
          </a:xfrm>
          <a:prstGeom prst="rect">
            <a:avLst/>
          </a:prstGeom>
          <a:solidFill>
            <a:srgbClr val="2563EB"/>
          </a:solidFill>
          <a:ln w="12700"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3" name="Google Shape;1753;p39"/>
          <p:cNvSpPr/>
          <p:nvPr/>
        </p:nvSpPr>
        <p:spPr>
          <a:xfrm>
            <a:off x="521208" y="146304"/>
            <a:ext cx="8229600" cy="54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563EB"/>
              </a:buClr>
              <a:buSzPts val="2600"/>
              <a:buFont typeface="Calibri"/>
              <a:buNone/>
            </a:pPr>
            <a:r>
              <a:rPr lang="en" sz="2600" b="1" i="0" u="none" strike="noStrike" cap="none">
                <a:solidFill>
                  <a:srgbClr val="2563EB"/>
                </a:solidFill>
                <a:latin typeface="Calibri"/>
                <a:ea typeface="Calibri"/>
                <a:cs typeface="Calibri"/>
                <a:sym typeface="Calibri"/>
              </a:rPr>
              <a:t>One-Hot Vector Representation</a:t>
            </a:r>
            <a:endParaRPr sz="2600" b="0" i="0" u="none" strike="noStrike" cap="none">
              <a:solidFill>
                <a:schemeClr val="dk1"/>
              </a:solidFill>
              <a:latin typeface="Calibri"/>
              <a:ea typeface="Calibri"/>
              <a:cs typeface="Calibri"/>
              <a:sym typeface="Calibri"/>
            </a:endParaRPr>
          </a:p>
        </p:txBody>
      </p:sp>
      <p:cxnSp>
        <p:nvCxnSpPr>
          <p:cNvPr id="1754" name="Google Shape;1754;p39"/>
          <p:cNvCxnSpPr/>
          <p:nvPr/>
        </p:nvCxnSpPr>
        <p:spPr>
          <a:xfrm>
            <a:off x="347472" y="713232"/>
            <a:ext cx="8449200" cy="0"/>
          </a:xfrm>
          <a:prstGeom prst="straightConnector1">
            <a:avLst/>
          </a:prstGeom>
          <a:noFill/>
          <a:ln w="15225" cap="flat" cmpd="sng">
            <a:solidFill>
              <a:srgbClr val="2563EB"/>
            </a:solidFill>
            <a:prstDash val="solid"/>
            <a:round/>
            <a:headEnd type="none" w="sm" len="sm"/>
            <a:tailEnd type="none" w="sm" len="sm"/>
          </a:ln>
        </p:spPr>
      </p:cxnSp>
      <p:sp>
        <p:nvSpPr>
          <p:cNvPr id="1755" name="Google Shape;1755;p39"/>
          <p:cNvSpPr/>
          <p:nvPr/>
        </p:nvSpPr>
        <p:spPr>
          <a:xfrm>
            <a:off x="347472" y="749808"/>
            <a:ext cx="84492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1200"/>
              <a:buFont typeface="Calibri"/>
              <a:buNone/>
            </a:pPr>
            <a:r>
              <a:rPr lang="en" sz="1200" b="0" i="1" u="none" strike="noStrike" cap="none">
                <a:solidFill>
                  <a:srgbClr val="6B7280"/>
                </a:solidFill>
                <a:latin typeface="Calibri"/>
                <a:ea typeface="Calibri"/>
                <a:cs typeface="Calibri"/>
                <a:sym typeface="Calibri"/>
              </a:rPr>
              <a:t>Step 1: Assign every word a unique index in a fixed vocabulary</a:t>
            </a:r>
            <a:endParaRPr sz="1200" b="0" i="0" u="none" strike="noStrike" cap="none">
              <a:solidFill>
                <a:schemeClr val="dk1"/>
              </a:solidFill>
              <a:latin typeface="Calibri"/>
              <a:ea typeface="Calibri"/>
              <a:cs typeface="Calibri"/>
              <a:sym typeface="Calibri"/>
            </a:endParaRPr>
          </a:p>
        </p:txBody>
      </p:sp>
      <p:sp>
        <p:nvSpPr>
          <p:cNvPr id="1756" name="Google Shape;1756;p39"/>
          <p:cNvSpPr/>
          <p:nvPr/>
        </p:nvSpPr>
        <p:spPr>
          <a:xfrm>
            <a:off x="347472" y="1078992"/>
            <a:ext cx="7680900" cy="42060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7" name="Google Shape;1757;p39"/>
          <p:cNvSpPr/>
          <p:nvPr/>
        </p:nvSpPr>
        <p:spPr>
          <a:xfrm>
            <a:off x="347472" y="1078992"/>
            <a:ext cx="960000" cy="21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3C5FD"/>
              </a:buClr>
              <a:buSzPts val="1000"/>
              <a:buFont typeface="Courier New"/>
              <a:buNone/>
            </a:pPr>
            <a:r>
              <a:rPr lang="en" sz="1000" b="0" i="0" u="none" strike="noStrike" cap="none">
                <a:solidFill>
                  <a:srgbClr val="93C5FD"/>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1758" name="Google Shape;1758;p39"/>
          <p:cNvSpPr/>
          <p:nvPr/>
        </p:nvSpPr>
        <p:spPr>
          <a:xfrm>
            <a:off x="347472" y="1289304"/>
            <a:ext cx="960000" cy="21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00"/>
              <a:buFont typeface="Courier New"/>
              <a:buNone/>
            </a:pPr>
            <a:r>
              <a:rPr lang="en" sz="1100" b="1" i="0" u="none" strike="noStrike" cap="none">
                <a:solidFill>
                  <a:srgbClr val="FFFFFF"/>
                </a:solidFill>
                <a:latin typeface="Courier New"/>
                <a:ea typeface="Courier New"/>
                <a:cs typeface="Courier New"/>
                <a:sym typeface="Courier New"/>
              </a:rPr>
              <a:t>cat</a:t>
            </a:r>
            <a:endParaRPr sz="1100" b="0" i="0" u="none" strike="noStrike" cap="none">
              <a:solidFill>
                <a:schemeClr val="dk1"/>
              </a:solidFill>
              <a:latin typeface="Calibri"/>
              <a:ea typeface="Calibri"/>
              <a:cs typeface="Calibri"/>
              <a:sym typeface="Calibri"/>
            </a:endParaRPr>
          </a:p>
        </p:txBody>
      </p:sp>
      <p:sp>
        <p:nvSpPr>
          <p:cNvPr id="1759" name="Google Shape;1759;p39"/>
          <p:cNvSpPr/>
          <p:nvPr/>
        </p:nvSpPr>
        <p:spPr>
          <a:xfrm>
            <a:off x="1307592" y="1078992"/>
            <a:ext cx="960000" cy="21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3C5FD"/>
              </a:buClr>
              <a:buSzPts val="1000"/>
              <a:buFont typeface="Courier New"/>
              <a:buNone/>
            </a:pPr>
            <a:r>
              <a:rPr lang="en" sz="1000" b="0" i="0" u="none" strike="noStrike" cap="none">
                <a:solidFill>
                  <a:srgbClr val="93C5FD"/>
                </a:solidFill>
                <a:latin typeface="Courier New"/>
                <a:ea typeface="Courier New"/>
                <a:cs typeface="Courier New"/>
                <a:sym typeface="Courier New"/>
              </a:rPr>
              <a:t>1</a:t>
            </a:r>
            <a:endParaRPr sz="1000" b="0" i="0" u="none" strike="noStrike" cap="none">
              <a:solidFill>
                <a:schemeClr val="dk1"/>
              </a:solidFill>
              <a:latin typeface="Calibri"/>
              <a:ea typeface="Calibri"/>
              <a:cs typeface="Calibri"/>
              <a:sym typeface="Calibri"/>
            </a:endParaRPr>
          </a:p>
        </p:txBody>
      </p:sp>
      <p:sp>
        <p:nvSpPr>
          <p:cNvPr id="1760" name="Google Shape;1760;p39"/>
          <p:cNvSpPr/>
          <p:nvPr/>
        </p:nvSpPr>
        <p:spPr>
          <a:xfrm>
            <a:off x="1307592" y="1289304"/>
            <a:ext cx="960000" cy="21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00"/>
              <a:buFont typeface="Courier New"/>
              <a:buNone/>
            </a:pPr>
            <a:r>
              <a:rPr lang="en" sz="1100" b="1" i="0" u="none" strike="noStrike" cap="none">
                <a:solidFill>
                  <a:srgbClr val="FFFFFF"/>
                </a:solidFill>
                <a:latin typeface="Courier New"/>
                <a:ea typeface="Courier New"/>
                <a:cs typeface="Courier New"/>
                <a:sym typeface="Courier New"/>
              </a:rPr>
              <a:t>dog</a:t>
            </a:r>
            <a:endParaRPr sz="1100" b="0" i="0" u="none" strike="noStrike" cap="none">
              <a:solidFill>
                <a:schemeClr val="dk1"/>
              </a:solidFill>
              <a:latin typeface="Calibri"/>
              <a:ea typeface="Calibri"/>
              <a:cs typeface="Calibri"/>
              <a:sym typeface="Calibri"/>
            </a:endParaRPr>
          </a:p>
        </p:txBody>
      </p:sp>
      <p:cxnSp>
        <p:nvCxnSpPr>
          <p:cNvPr id="1761" name="Google Shape;1761;p39"/>
          <p:cNvCxnSpPr/>
          <p:nvPr/>
        </p:nvCxnSpPr>
        <p:spPr>
          <a:xfrm>
            <a:off x="1307592" y="1078992"/>
            <a:ext cx="0" cy="420600"/>
          </a:xfrm>
          <a:prstGeom prst="straightConnector1">
            <a:avLst/>
          </a:prstGeom>
          <a:noFill/>
          <a:ln w="9525" cap="flat" cmpd="sng">
            <a:solidFill>
              <a:srgbClr val="334D7A"/>
            </a:solidFill>
            <a:prstDash val="solid"/>
            <a:round/>
            <a:headEnd type="none" w="sm" len="sm"/>
            <a:tailEnd type="none" w="sm" len="sm"/>
          </a:ln>
        </p:spPr>
      </p:cxnSp>
      <p:sp>
        <p:nvSpPr>
          <p:cNvPr id="1762" name="Google Shape;1762;p39"/>
          <p:cNvSpPr/>
          <p:nvPr/>
        </p:nvSpPr>
        <p:spPr>
          <a:xfrm>
            <a:off x="2267712" y="1078992"/>
            <a:ext cx="960000" cy="21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3C5FD"/>
              </a:buClr>
              <a:buSzPts val="1000"/>
              <a:buFont typeface="Courier New"/>
              <a:buNone/>
            </a:pPr>
            <a:r>
              <a:rPr lang="en" sz="1000" b="0" i="0" u="none" strike="noStrike" cap="none">
                <a:solidFill>
                  <a:srgbClr val="93C5FD"/>
                </a:solidFill>
                <a:latin typeface="Courier New"/>
                <a:ea typeface="Courier New"/>
                <a:cs typeface="Courier New"/>
                <a:sym typeface="Courier New"/>
              </a:rPr>
              <a:t>2</a:t>
            </a:r>
            <a:endParaRPr sz="1000" b="0" i="0" u="none" strike="noStrike" cap="none">
              <a:solidFill>
                <a:schemeClr val="dk1"/>
              </a:solidFill>
              <a:latin typeface="Calibri"/>
              <a:ea typeface="Calibri"/>
              <a:cs typeface="Calibri"/>
              <a:sym typeface="Calibri"/>
            </a:endParaRPr>
          </a:p>
        </p:txBody>
      </p:sp>
      <p:sp>
        <p:nvSpPr>
          <p:cNvPr id="1763" name="Google Shape;1763;p39"/>
          <p:cNvSpPr/>
          <p:nvPr/>
        </p:nvSpPr>
        <p:spPr>
          <a:xfrm>
            <a:off x="2267712" y="1289304"/>
            <a:ext cx="960000" cy="21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00"/>
              <a:buFont typeface="Courier New"/>
              <a:buNone/>
            </a:pPr>
            <a:r>
              <a:rPr lang="en" sz="1100" b="1" i="0" u="none" strike="noStrike" cap="none">
                <a:solidFill>
                  <a:srgbClr val="FFFFFF"/>
                </a:solidFill>
                <a:latin typeface="Courier New"/>
                <a:ea typeface="Courier New"/>
                <a:cs typeface="Courier New"/>
                <a:sym typeface="Courier New"/>
              </a:rPr>
              <a:t>king</a:t>
            </a:r>
            <a:endParaRPr sz="1100" b="0" i="0" u="none" strike="noStrike" cap="none">
              <a:solidFill>
                <a:schemeClr val="dk1"/>
              </a:solidFill>
              <a:latin typeface="Calibri"/>
              <a:ea typeface="Calibri"/>
              <a:cs typeface="Calibri"/>
              <a:sym typeface="Calibri"/>
            </a:endParaRPr>
          </a:p>
        </p:txBody>
      </p:sp>
      <p:cxnSp>
        <p:nvCxnSpPr>
          <p:cNvPr id="1764" name="Google Shape;1764;p39"/>
          <p:cNvCxnSpPr/>
          <p:nvPr/>
        </p:nvCxnSpPr>
        <p:spPr>
          <a:xfrm>
            <a:off x="2267712" y="1078992"/>
            <a:ext cx="0" cy="420600"/>
          </a:xfrm>
          <a:prstGeom prst="straightConnector1">
            <a:avLst/>
          </a:prstGeom>
          <a:noFill/>
          <a:ln w="9525" cap="flat" cmpd="sng">
            <a:solidFill>
              <a:srgbClr val="334D7A"/>
            </a:solidFill>
            <a:prstDash val="solid"/>
            <a:round/>
            <a:headEnd type="none" w="sm" len="sm"/>
            <a:tailEnd type="none" w="sm" len="sm"/>
          </a:ln>
        </p:spPr>
      </p:cxnSp>
      <p:sp>
        <p:nvSpPr>
          <p:cNvPr id="1765" name="Google Shape;1765;p39"/>
          <p:cNvSpPr/>
          <p:nvPr/>
        </p:nvSpPr>
        <p:spPr>
          <a:xfrm>
            <a:off x="3227832" y="1078992"/>
            <a:ext cx="960000" cy="21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3C5FD"/>
              </a:buClr>
              <a:buSzPts val="1000"/>
              <a:buFont typeface="Courier New"/>
              <a:buNone/>
            </a:pPr>
            <a:r>
              <a:rPr lang="en" sz="1000" b="0" i="0" u="none" strike="noStrike" cap="none">
                <a:solidFill>
                  <a:srgbClr val="93C5FD"/>
                </a:solidFill>
                <a:latin typeface="Courier New"/>
                <a:ea typeface="Courier New"/>
                <a:cs typeface="Courier New"/>
                <a:sym typeface="Courier New"/>
              </a:rPr>
              <a:t>3</a:t>
            </a:r>
            <a:endParaRPr sz="1000" b="0" i="0" u="none" strike="noStrike" cap="none">
              <a:solidFill>
                <a:schemeClr val="dk1"/>
              </a:solidFill>
              <a:latin typeface="Calibri"/>
              <a:ea typeface="Calibri"/>
              <a:cs typeface="Calibri"/>
              <a:sym typeface="Calibri"/>
            </a:endParaRPr>
          </a:p>
        </p:txBody>
      </p:sp>
      <p:sp>
        <p:nvSpPr>
          <p:cNvPr id="1766" name="Google Shape;1766;p39"/>
          <p:cNvSpPr/>
          <p:nvPr/>
        </p:nvSpPr>
        <p:spPr>
          <a:xfrm>
            <a:off x="3227832" y="1289304"/>
            <a:ext cx="960000" cy="21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00"/>
              <a:buFont typeface="Courier New"/>
              <a:buNone/>
            </a:pPr>
            <a:r>
              <a:rPr lang="en" sz="1100" b="1" i="0" u="none" strike="noStrike" cap="none">
                <a:solidFill>
                  <a:srgbClr val="FFFFFF"/>
                </a:solidFill>
                <a:latin typeface="Courier New"/>
                <a:ea typeface="Courier New"/>
                <a:cs typeface="Courier New"/>
                <a:sym typeface="Courier New"/>
              </a:rPr>
              <a:t>queen</a:t>
            </a:r>
            <a:endParaRPr sz="1100" b="0" i="0" u="none" strike="noStrike" cap="none">
              <a:solidFill>
                <a:schemeClr val="dk1"/>
              </a:solidFill>
              <a:latin typeface="Calibri"/>
              <a:ea typeface="Calibri"/>
              <a:cs typeface="Calibri"/>
              <a:sym typeface="Calibri"/>
            </a:endParaRPr>
          </a:p>
        </p:txBody>
      </p:sp>
      <p:cxnSp>
        <p:nvCxnSpPr>
          <p:cNvPr id="1767" name="Google Shape;1767;p39"/>
          <p:cNvCxnSpPr/>
          <p:nvPr/>
        </p:nvCxnSpPr>
        <p:spPr>
          <a:xfrm>
            <a:off x="3227832" y="1078992"/>
            <a:ext cx="0" cy="420600"/>
          </a:xfrm>
          <a:prstGeom prst="straightConnector1">
            <a:avLst/>
          </a:prstGeom>
          <a:noFill/>
          <a:ln w="9525" cap="flat" cmpd="sng">
            <a:solidFill>
              <a:srgbClr val="334D7A"/>
            </a:solidFill>
            <a:prstDash val="solid"/>
            <a:round/>
            <a:headEnd type="none" w="sm" len="sm"/>
            <a:tailEnd type="none" w="sm" len="sm"/>
          </a:ln>
        </p:spPr>
      </p:cxnSp>
      <p:sp>
        <p:nvSpPr>
          <p:cNvPr id="1768" name="Google Shape;1768;p39"/>
          <p:cNvSpPr/>
          <p:nvPr/>
        </p:nvSpPr>
        <p:spPr>
          <a:xfrm>
            <a:off x="4187952" y="1078992"/>
            <a:ext cx="960000" cy="21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3C5FD"/>
              </a:buClr>
              <a:buSzPts val="1000"/>
              <a:buFont typeface="Courier New"/>
              <a:buNone/>
            </a:pPr>
            <a:r>
              <a:rPr lang="en" sz="1000" b="0" i="0" u="none" strike="noStrike" cap="none">
                <a:solidFill>
                  <a:srgbClr val="93C5FD"/>
                </a:solidFill>
                <a:latin typeface="Courier New"/>
                <a:ea typeface="Courier New"/>
                <a:cs typeface="Courier New"/>
                <a:sym typeface="Courier New"/>
              </a:rPr>
              <a:t>4</a:t>
            </a:r>
            <a:endParaRPr sz="1000" b="0" i="0" u="none" strike="noStrike" cap="none">
              <a:solidFill>
                <a:schemeClr val="dk1"/>
              </a:solidFill>
              <a:latin typeface="Calibri"/>
              <a:ea typeface="Calibri"/>
              <a:cs typeface="Calibri"/>
              <a:sym typeface="Calibri"/>
            </a:endParaRPr>
          </a:p>
        </p:txBody>
      </p:sp>
      <p:sp>
        <p:nvSpPr>
          <p:cNvPr id="1769" name="Google Shape;1769;p39"/>
          <p:cNvSpPr/>
          <p:nvPr/>
        </p:nvSpPr>
        <p:spPr>
          <a:xfrm>
            <a:off x="4187952" y="1289304"/>
            <a:ext cx="960000" cy="21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00"/>
              <a:buFont typeface="Courier New"/>
              <a:buNone/>
            </a:pPr>
            <a:r>
              <a:rPr lang="en" sz="1100" b="1" i="0" u="none" strike="noStrike" cap="none">
                <a:solidFill>
                  <a:srgbClr val="FFFFFF"/>
                </a:solidFill>
                <a:latin typeface="Courier New"/>
                <a:ea typeface="Courier New"/>
                <a:cs typeface="Courier New"/>
                <a:sym typeface="Courier New"/>
              </a:rPr>
              <a:t>apple</a:t>
            </a:r>
            <a:endParaRPr sz="1100" b="0" i="0" u="none" strike="noStrike" cap="none">
              <a:solidFill>
                <a:schemeClr val="dk1"/>
              </a:solidFill>
              <a:latin typeface="Calibri"/>
              <a:ea typeface="Calibri"/>
              <a:cs typeface="Calibri"/>
              <a:sym typeface="Calibri"/>
            </a:endParaRPr>
          </a:p>
        </p:txBody>
      </p:sp>
      <p:cxnSp>
        <p:nvCxnSpPr>
          <p:cNvPr id="1770" name="Google Shape;1770;p39"/>
          <p:cNvCxnSpPr/>
          <p:nvPr/>
        </p:nvCxnSpPr>
        <p:spPr>
          <a:xfrm>
            <a:off x="4187952" y="1078992"/>
            <a:ext cx="0" cy="420600"/>
          </a:xfrm>
          <a:prstGeom prst="straightConnector1">
            <a:avLst/>
          </a:prstGeom>
          <a:noFill/>
          <a:ln w="9525" cap="flat" cmpd="sng">
            <a:solidFill>
              <a:srgbClr val="334D7A"/>
            </a:solidFill>
            <a:prstDash val="solid"/>
            <a:round/>
            <a:headEnd type="none" w="sm" len="sm"/>
            <a:tailEnd type="none" w="sm" len="sm"/>
          </a:ln>
        </p:spPr>
      </p:cxnSp>
      <p:sp>
        <p:nvSpPr>
          <p:cNvPr id="1771" name="Google Shape;1771;p39"/>
          <p:cNvSpPr/>
          <p:nvPr/>
        </p:nvSpPr>
        <p:spPr>
          <a:xfrm>
            <a:off x="5148072" y="1078992"/>
            <a:ext cx="960000" cy="21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3C5FD"/>
              </a:buClr>
              <a:buSzPts val="1000"/>
              <a:buFont typeface="Courier New"/>
              <a:buNone/>
            </a:pPr>
            <a:r>
              <a:rPr lang="en" sz="1000" b="0" i="0" u="none" strike="noStrike" cap="none">
                <a:solidFill>
                  <a:srgbClr val="93C5FD"/>
                </a:solidFill>
                <a:latin typeface="Courier New"/>
                <a:ea typeface="Courier New"/>
                <a:cs typeface="Courier New"/>
                <a:sym typeface="Courier New"/>
              </a:rPr>
              <a:t>5</a:t>
            </a:r>
            <a:endParaRPr sz="1000" b="0" i="0" u="none" strike="noStrike" cap="none">
              <a:solidFill>
                <a:schemeClr val="dk1"/>
              </a:solidFill>
              <a:latin typeface="Calibri"/>
              <a:ea typeface="Calibri"/>
              <a:cs typeface="Calibri"/>
              <a:sym typeface="Calibri"/>
            </a:endParaRPr>
          </a:p>
        </p:txBody>
      </p:sp>
      <p:sp>
        <p:nvSpPr>
          <p:cNvPr id="1772" name="Google Shape;1772;p39"/>
          <p:cNvSpPr/>
          <p:nvPr/>
        </p:nvSpPr>
        <p:spPr>
          <a:xfrm>
            <a:off x="5148072" y="1289304"/>
            <a:ext cx="960000" cy="21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00"/>
              <a:buFont typeface="Courier New"/>
              <a:buNone/>
            </a:pPr>
            <a:r>
              <a:rPr lang="en" sz="1100" b="1" i="0" u="none" strike="noStrike" cap="none">
                <a:solidFill>
                  <a:srgbClr val="FFFFFF"/>
                </a:solidFill>
                <a:latin typeface="Courier New"/>
                <a:ea typeface="Courier New"/>
                <a:cs typeface="Courier New"/>
                <a:sym typeface="Courier New"/>
              </a:rPr>
              <a:t>runs</a:t>
            </a:r>
            <a:endParaRPr sz="1100" b="0" i="0" u="none" strike="noStrike" cap="none">
              <a:solidFill>
                <a:schemeClr val="dk1"/>
              </a:solidFill>
              <a:latin typeface="Calibri"/>
              <a:ea typeface="Calibri"/>
              <a:cs typeface="Calibri"/>
              <a:sym typeface="Calibri"/>
            </a:endParaRPr>
          </a:p>
        </p:txBody>
      </p:sp>
      <p:cxnSp>
        <p:nvCxnSpPr>
          <p:cNvPr id="1773" name="Google Shape;1773;p39"/>
          <p:cNvCxnSpPr/>
          <p:nvPr/>
        </p:nvCxnSpPr>
        <p:spPr>
          <a:xfrm>
            <a:off x="5148072" y="1078992"/>
            <a:ext cx="0" cy="420600"/>
          </a:xfrm>
          <a:prstGeom prst="straightConnector1">
            <a:avLst/>
          </a:prstGeom>
          <a:noFill/>
          <a:ln w="9525" cap="flat" cmpd="sng">
            <a:solidFill>
              <a:srgbClr val="334D7A"/>
            </a:solidFill>
            <a:prstDash val="solid"/>
            <a:round/>
            <a:headEnd type="none" w="sm" len="sm"/>
            <a:tailEnd type="none" w="sm" len="sm"/>
          </a:ln>
        </p:spPr>
      </p:cxnSp>
      <p:sp>
        <p:nvSpPr>
          <p:cNvPr id="1774" name="Google Shape;1774;p39"/>
          <p:cNvSpPr/>
          <p:nvPr/>
        </p:nvSpPr>
        <p:spPr>
          <a:xfrm>
            <a:off x="6108192" y="1078992"/>
            <a:ext cx="960000" cy="21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3C5FD"/>
              </a:buClr>
              <a:buSzPts val="1000"/>
              <a:buFont typeface="Courier New"/>
              <a:buNone/>
            </a:pPr>
            <a:r>
              <a:rPr lang="en" sz="1000" b="0" i="0" u="none" strike="noStrike" cap="none">
                <a:solidFill>
                  <a:srgbClr val="93C5FD"/>
                </a:solidFill>
                <a:latin typeface="Courier New"/>
                <a:ea typeface="Courier New"/>
                <a:cs typeface="Courier New"/>
                <a:sym typeface="Courier New"/>
              </a:rPr>
              <a:t>6</a:t>
            </a:r>
            <a:endParaRPr sz="1000" b="0" i="0" u="none" strike="noStrike" cap="none">
              <a:solidFill>
                <a:schemeClr val="dk1"/>
              </a:solidFill>
              <a:latin typeface="Calibri"/>
              <a:ea typeface="Calibri"/>
              <a:cs typeface="Calibri"/>
              <a:sym typeface="Calibri"/>
            </a:endParaRPr>
          </a:p>
        </p:txBody>
      </p:sp>
      <p:sp>
        <p:nvSpPr>
          <p:cNvPr id="1775" name="Google Shape;1775;p39"/>
          <p:cNvSpPr/>
          <p:nvPr/>
        </p:nvSpPr>
        <p:spPr>
          <a:xfrm>
            <a:off x="6108192" y="1289304"/>
            <a:ext cx="960000" cy="21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00"/>
              <a:buFont typeface="Courier New"/>
              <a:buNone/>
            </a:pPr>
            <a:r>
              <a:rPr lang="en" sz="1100" b="1" i="0" u="none" strike="noStrike" cap="none">
                <a:solidFill>
                  <a:srgbClr val="FFFFFF"/>
                </a:solidFill>
                <a:latin typeface="Courier New"/>
                <a:ea typeface="Courier New"/>
                <a:cs typeface="Courier New"/>
                <a:sym typeface="Courier New"/>
              </a:rPr>
              <a:t>happy</a:t>
            </a:r>
            <a:endParaRPr sz="1100" b="0" i="0" u="none" strike="noStrike" cap="none">
              <a:solidFill>
                <a:schemeClr val="dk1"/>
              </a:solidFill>
              <a:latin typeface="Calibri"/>
              <a:ea typeface="Calibri"/>
              <a:cs typeface="Calibri"/>
              <a:sym typeface="Calibri"/>
            </a:endParaRPr>
          </a:p>
        </p:txBody>
      </p:sp>
      <p:cxnSp>
        <p:nvCxnSpPr>
          <p:cNvPr id="1776" name="Google Shape;1776;p39"/>
          <p:cNvCxnSpPr/>
          <p:nvPr/>
        </p:nvCxnSpPr>
        <p:spPr>
          <a:xfrm>
            <a:off x="6108192" y="1078992"/>
            <a:ext cx="0" cy="420600"/>
          </a:xfrm>
          <a:prstGeom prst="straightConnector1">
            <a:avLst/>
          </a:prstGeom>
          <a:noFill/>
          <a:ln w="9525" cap="flat" cmpd="sng">
            <a:solidFill>
              <a:srgbClr val="334D7A"/>
            </a:solidFill>
            <a:prstDash val="solid"/>
            <a:round/>
            <a:headEnd type="none" w="sm" len="sm"/>
            <a:tailEnd type="none" w="sm" len="sm"/>
          </a:ln>
        </p:spPr>
      </p:cxnSp>
      <p:sp>
        <p:nvSpPr>
          <p:cNvPr id="1777" name="Google Shape;1777;p39"/>
          <p:cNvSpPr/>
          <p:nvPr/>
        </p:nvSpPr>
        <p:spPr>
          <a:xfrm>
            <a:off x="7068312" y="1078992"/>
            <a:ext cx="960000" cy="21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3C5FD"/>
              </a:buClr>
              <a:buSzPts val="1000"/>
              <a:buFont typeface="Courier New"/>
              <a:buNone/>
            </a:pPr>
            <a:r>
              <a:rPr lang="en" sz="1000" b="0" i="0" u="none" strike="noStrike" cap="none">
                <a:solidFill>
                  <a:srgbClr val="93C5FD"/>
                </a:solidFill>
                <a:latin typeface="Courier New"/>
                <a:ea typeface="Courier New"/>
                <a:cs typeface="Courier New"/>
                <a:sym typeface="Courier New"/>
              </a:rPr>
              <a:t>7</a:t>
            </a:r>
            <a:endParaRPr sz="1000" b="0" i="0" u="none" strike="noStrike" cap="none">
              <a:solidFill>
                <a:schemeClr val="dk1"/>
              </a:solidFill>
              <a:latin typeface="Calibri"/>
              <a:ea typeface="Calibri"/>
              <a:cs typeface="Calibri"/>
              <a:sym typeface="Calibri"/>
            </a:endParaRPr>
          </a:p>
        </p:txBody>
      </p:sp>
      <p:sp>
        <p:nvSpPr>
          <p:cNvPr id="1778" name="Google Shape;1778;p39"/>
          <p:cNvSpPr/>
          <p:nvPr/>
        </p:nvSpPr>
        <p:spPr>
          <a:xfrm>
            <a:off x="7068312" y="1289304"/>
            <a:ext cx="960000" cy="21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00"/>
              <a:buFont typeface="Courier New"/>
              <a:buNone/>
            </a:pPr>
            <a:r>
              <a:rPr lang="en" sz="1100" b="1" i="0" u="none" strike="noStrike" cap="none">
                <a:solidFill>
                  <a:srgbClr val="FFFFFF"/>
                </a:solidFill>
                <a:latin typeface="Courier New"/>
                <a:ea typeface="Courier New"/>
                <a:cs typeface="Courier New"/>
                <a:sym typeface="Courier New"/>
              </a:rPr>
              <a:t>the</a:t>
            </a:r>
            <a:endParaRPr sz="1100" b="0" i="0" u="none" strike="noStrike" cap="none">
              <a:solidFill>
                <a:schemeClr val="dk1"/>
              </a:solidFill>
              <a:latin typeface="Calibri"/>
              <a:ea typeface="Calibri"/>
              <a:cs typeface="Calibri"/>
              <a:sym typeface="Calibri"/>
            </a:endParaRPr>
          </a:p>
        </p:txBody>
      </p:sp>
      <p:cxnSp>
        <p:nvCxnSpPr>
          <p:cNvPr id="1779" name="Google Shape;1779;p39"/>
          <p:cNvCxnSpPr/>
          <p:nvPr/>
        </p:nvCxnSpPr>
        <p:spPr>
          <a:xfrm>
            <a:off x="7068312" y="1078992"/>
            <a:ext cx="0" cy="420600"/>
          </a:xfrm>
          <a:prstGeom prst="straightConnector1">
            <a:avLst/>
          </a:prstGeom>
          <a:noFill/>
          <a:ln w="9525" cap="flat" cmpd="sng">
            <a:solidFill>
              <a:srgbClr val="334D7A"/>
            </a:solidFill>
            <a:prstDash val="solid"/>
            <a:round/>
            <a:headEnd type="none" w="sm" len="sm"/>
            <a:tailEnd type="none" w="sm" len="sm"/>
          </a:ln>
        </p:spPr>
      </p:cxnSp>
      <p:sp>
        <p:nvSpPr>
          <p:cNvPr id="1780" name="Google Shape;1780;p39"/>
          <p:cNvSpPr/>
          <p:nvPr/>
        </p:nvSpPr>
        <p:spPr>
          <a:xfrm>
            <a:off x="4291983" y="731600"/>
            <a:ext cx="32004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563EB"/>
              </a:buClr>
              <a:buSzPts val="1100"/>
              <a:buFont typeface="Calibri"/>
              <a:buNone/>
            </a:pPr>
            <a:r>
              <a:rPr lang="en" sz="1100" b="1" i="0" u="none" strike="noStrike" cap="none">
                <a:solidFill>
                  <a:srgbClr val="2563EB"/>
                </a:solidFill>
                <a:latin typeface="Calibri"/>
                <a:ea typeface="Calibri"/>
                <a:cs typeface="Calibri"/>
                <a:sym typeface="Calibri"/>
              </a:rPr>
              <a:t>Vocabulary (|V| = 8)</a:t>
            </a:r>
            <a:endParaRPr sz="1100" b="0" i="0" u="none" strike="noStrike" cap="none">
              <a:solidFill>
                <a:schemeClr val="dk1"/>
              </a:solidFill>
              <a:latin typeface="Calibri"/>
              <a:ea typeface="Calibri"/>
              <a:cs typeface="Calibri"/>
              <a:sym typeface="Calibri"/>
            </a:endParaRPr>
          </a:p>
        </p:txBody>
      </p:sp>
      <p:sp>
        <p:nvSpPr>
          <p:cNvPr id="1781" name="Google Shape;1781;p39"/>
          <p:cNvSpPr/>
          <p:nvPr/>
        </p:nvSpPr>
        <p:spPr>
          <a:xfrm>
            <a:off x="347472" y="1920240"/>
            <a:ext cx="749700" cy="475500"/>
          </a:xfrm>
          <a:prstGeom prst="rect">
            <a:avLst/>
          </a:prstGeom>
          <a:solidFill>
            <a:srgbClr val="DBEAFE"/>
          </a:solidFill>
          <a:ln w="15225"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2" name="Google Shape;1782;p39"/>
          <p:cNvSpPr/>
          <p:nvPr/>
        </p:nvSpPr>
        <p:spPr>
          <a:xfrm>
            <a:off x="347472" y="1920240"/>
            <a:ext cx="7497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563EB"/>
              </a:buClr>
              <a:buSzPts val="1300"/>
              <a:buFont typeface="Courier New"/>
              <a:buNone/>
            </a:pPr>
            <a:r>
              <a:rPr lang="en" sz="1300" b="1" i="0" u="none" strike="noStrike" cap="none">
                <a:solidFill>
                  <a:srgbClr val="2563EB"/>
                </a:solidFill>
                <a:latin typeface="Courier New"/>
                <a:ea typeface="Courier New"/>
                <a:cs typeface="Courier New"/>
                <a:sym typeface="Courier New"/>
              </a:rPr>
              <a:t>cat</a:t>
            </a:r>
            <a:endParaRPr sz="1300" b="0" i="0" u="none" strike="noStrike" cap="none">
              <a:solidFill>
                <a:schemeClr val="dk1"/>
              </a:solidFill>
              <a:latin typeface="Calibri"/>
              <a:ea typeface="Calibri"/>
              <a:cs typeface="Calibri"/>
              <a:sym typeface="Calibri"/>
            </a:endParaRPr>
          </a:p>
        </p:txBody>
      </p:sp>
      <p:cxnSp>
        <p:nvCxnSpPr>
          <p:cNvPr id="1783" name="Google Shape;1783;p39"/>
          <p:cNvCxnSpPr/>
          <p:nvPr/>
        </p:nvCxnSpPr>
        <p:spPr>
          <a:xfrm>
            <a:off x="1115568" y="2157984"/>
            <a:ext cx="255900" cy="0"/>
          </a:xfrm>
          <a:prstGeom prst="straightConnector1">
            <a:avLst/>
          </a:prstGeom>
          <a:noFill/>
          <a:ln w="19050" cap="flat" cmpd="sng">
            <a:solidFill>
              <a:srgbClr val="2563EB"/>
            </a:solidFill>
            <a:prstDash val="solid"/>
            <a:round/>
            <a:headEnd type="none" w="sm" len="sm"/>
            <a:tailEnd type="stealth" w="med" len="med"/>
          </a:ln>
        </p:spPr>
      </p:cxnSp>
      <p:sp>
        <p:nvSpPr>
          <p:cNvPr id="1784" name="Google Shape;1784;p39"/>
          <p:cNvSpPr/>
          <p:nvPr/>
        </p:nvSpPr>
        <p:spPr>
          <a:xfrm>
            <a:off x="1399032" y="1920240"/>
            <a:ext cx="960000" cy="475500"/>
          </a:xfrm>
          <a:prstGeom prst="rect">
            <a:avLst/>
          </a:prstGeom>
          <a:solidFill>
            <a:srgbClr val="DBEAFE"/>
          </a:solidFill>
          <a:ln w="22850"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5" name="Google Shape;1785;p39"/>
          <p:cNvSpPr/>
          <p:nvPr/>
        </p:nvSpPr>
        <p:spPr>
          <a:xfrm>
            <a:off x="1399032" y="1920240"/>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563EB"/>
              </a:buClr>
              <a:buSzPts val="1400"/>
              <a:buFont typeface="Courier New"/>
              <a:buNone/>
            </a:pPr>
            <a:r>
              <a:rPr lang="en" sz="1400" b="1" i="0" u="none" strike="noStrike" cap="none">
                <a:solidFill>
                  <a:srgbClr val="2563EB"/>
                </a:solidFill>
                <a:latin typeface="Courier New"/>
                <a:ea typeface="Courier New"/>
                <a:cs typeface="Courier New"/>
                <a:sym typeface="Courier New"/>
              </a:rPr>
              <a:t>1</a:t>
            </a:r>
            <a:endParaRPr sz="1400" b="0" i="0" u="none" strike="noStrike" cap="none">
              <a:solidFill>
                <a:schemeClr val="dk1"/>
              </a:solidFill>
              <a:latin typeface="Calibri"/>
              <a:ea typeface="Calibri"/>
              <a:cs typeface="Calibri"/>
              <a:sym typeface="Calibri"/>
            </a:endParaRPr>
          </a:p>
        </p:txBody>
      </p:sp>
      <p:sp>
        <p:nvSpPr>
          <p:cNvPr id="1786" name="Google Shape;1786;p39"/>
          <p:cNvSpPr/>
          <p:nvPr/>
        </p:nvSpPr>
        <p:spPr>
          <a:xfrm>
            <a:off x="2359152" y="1920240"/>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7" name="Google Shape;1787;p39"/>
          <p:cNvSpPr/>
          <p:nvPr/>
        </p:nvSpPr>
        <p:spPr>
          <a:xfrm>
            <a:off x="2359152" y="1920240"/>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788" name="Google Shape;1788;p39"/>
          <p:cNvSpPr/>
          <p:nvPr/>
        </p:nvSpPr>
        <p:spPr>
          <a:xfrm>
            <a:off x="3319272" y="1920240"/>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9" name="Google Shape;1789;p39"/>
          <p:cNvSpPr/>
          <p:nvPr/>
        </p:nvSpPr>
        <p:spPr>
          <a:xfrm>
            <a:off x="3319272" y="1920240"/>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790" name="Google Shape;1790;p39"/>
          <p:cNvSpPr/>
          <p:nvPr/>
        </p:nvSpPr>
        <p:spPr>
          <a:xfrm>
            <a:off x="4279392" y="1920240"/>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1" name="Google Shape;1791;p39"/>
          <p:cNvSpPr/>
          <p:nvPr/>
        </p:nvSpPr>
        <p:spPr>
          <a:xfrm>
            <a:off x="4279392" y="1920240"/>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792" name="Google Shape;1792;p39"/>
          <p:cNvSpPr/>
          <p:nvPr/>
        </p:nvSpPr>
        <p:spPr>
          <a:xfrm>
            <a:off x="5239512" y="1920240"/>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3" name="Google Shape;1793;p39"/>
          <p:cNvSpPr/>
          <p:nvPr/>
        </p:nvSpPr>
        <p:spPr>
          <a:xfrm>
            <a:off x="5239512" y="1920240"/>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794" name="Google Shape;1794;p39"/>
          <p:cNvSpPr/>
          <p:nvPr/>
        </p:nvSpPr>
        <p:spPr>
          <a:xfrm>
            <a:off x="6199632" y="1920240"/>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5" name="Google Shape;1795;p39"/>
          <p:cNvSpPr/>
          <p:nvPr/>
        </p:nvSpPr>
        <p:spPr>
          <a:xfrm>
            <a:off x="6199632" y="1920240"/>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796" name="Google Shape;1796;p39"/>
          <p:cNvSpPr/>
          <p:nvPr/>
        </p:nvSpPr>
        <p:spPr>
          <a:xfrm>
            <a:off x="7159752" y="1920240"/>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7" name="Google Shape;1797;p39"/>
          <p:cNvSpPr/>
          <p:nvPr/>
        </p:nvSpPr>
        <p:spPr>
          <a:xfrm>
            <a:off x="7159752" y="1920240"/>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798" name="Google Shape;1798;p39"/>
          <p:cNvSpPr/>
          <p:nvPr/>
        </p:nvSpPr>
        <p:spPr>
          <a:xfrm>
            <a:off x="8119872" y="1920240"/>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9" name="Google Shape;1799;p39"/>
          <p:cNvSpPr/>
          <p:nvPr/>
        </p:nvSpPr>
        <p:spPr>
          <a:xfrm>
            <a:off x="8119872" y="1920240"/>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800" name="Google Shape;1800;p39"/>
          <p:cNvSpPr/>
          <p:nvPr/>
        </p:nvSpPr>
        <p:spPr>
          <a:xfrm>
            <a:off x="9189720" y="2029968"/>
            <a:ext cx="22860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563EB"/>
              </a:buClr>
              <a:buSzPts val="1000"/>
              <a:buFont typeface="Calibri"/>
              <a:buNone/>
            </a:pPr>
            <a:r>
              <a:rPr lang="en" sz="1000" b="0" i="1" u="none" strike="noStrike" cap="none">
                <a:solidFill>
                  <a:srgbClr val="2563EB"/>
                </a:solidFill>
                <a:latin typeface="Calibri"/>
                <a:ea typeface="Calibri"/>
                <a:cs typeface="Calibri"/>
                <a:sym typeface="Calibri"/>
              </a:rPr>
              <a:t>← 8-dim vector, exactly one '1'</a:t>
            </a:r>
            <a:endParaRPr sz="1000" b="0" i="0" u="none" strike="noStrike" cap="none">
              <a:solidFill>
                <a:schemeClr val="dk1"/>
              </a:solidFill>
              <a:latin typeface="Calibri"/>
              <a:ea typeface="Calibri"/>
              <a:cs typeface="Calibri"/>
              <a:sym typeface="Calibri"/>
            </a:endParaRPr>
          </a:p>
        </p:txBody>
      </p:sp>
      <p:sp>
        <p:nvSpPr>
          <p:cNvPr id="1801" name="Google Shape;1801;p39"/>
          <p:cNvSpPr/>
          <p:nvPr/>
        </p:nvSpPr>
        <p:spPr>
          <a:xfrm>
            <a:off x="347472" y="2852928"/>
            <a:ext cx="749700" cy="475500"/>
          </a:xfrm>
          <a:prstGeom prst="rect">
            <a:avLst/>
          </a:prstGeom>
          <a:solidFill>
            <a:srgbClr val="EDE9FE"/>
          </a:solidFill>
          <a:ln w="15225"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2" name="Google Shape;1802;p39"/>
          <p:cNvSpPr/>
          <p:nvPr/>
        </p:nvSpPr>
        <p:spPr>
          <a:xfrm>
            <a:off x="347472" y="2852928"/>
            <a:ext cx="7497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C3AED"/>
              </a:buClr>
              <a:buSzPts val="1300"/>
              <a:buFont typeface="Courier New"/>
              <a:buNone/>
            </a:pPr>
            <a:r>
              <a:rPr lang="en" sz="1300" b="1" i="0" u="none" strike="noStrike" cap="none">
                <a:solidFill>
                  <a:srgbClr val="7C3AED"/>
                </a:solidFill>
                <a:latin typeface="Courier New"/>
                <a:ea typeface="Courier New"/>
                <a:cs typeface="Courier New"/>
                <a:sym typeface="Courier New"/>
              </a:rPr>
              <a:t>king</a:t>
            </a:r>
            <a:endParaRPr sz="1300" b="0" i="0" u="none" strike="noStrike" cap="none">
              <a:solidFill>
                <a:schemeClr val="dk1"/>
              </a:solidFill>
              <a:latin typeface="Calibri"/>
              <a:ea typeface="Calibri"/>
              <a:cs typeface="Calibri"/>
              <a:sym typeface="Calibri"/>
            </a:endParaRPr>
          </a:p>
        </p:txBody>
      </p:sp>
      <p:cxnSp>
        <p:nvCxnSpPr>
          <p:cNvPr id="1803" name="Google Shape;1803;p39"/>
          <p:cNvCxnSpPr/>
          <p:nvPr/>
        </p:nvCxnSpPr>
        <p:spPr>
          <a:xfrm>
            <a:off x="1115568" y="3090672"/>
            <a:ext cx="255900" cy="0"/>
          </a:xfrm>
          <a:prstGeom prst="straightConnector1">
            <a:avLst/>
          </a:prstGeom>
          <a:noFill/>
          <a:ln w="19050" cap="flat" cmpd="sng">
            <a:solidFill>
              <a:srgbClr val="7C3AED"/>
            </a:solidFill>
            <a:prstDash val="solid"/>
            <a:round/>
            <a:headEnd type="none" w="sm" len="sm"/>
            <a:tailEnd type="stealth" w="med" len="med"/>
          </a:ln>
        </p:spPr>
      </p:cxnSp>
      <p:sp>
        <p:nvSpPr>
          <p:cNvPr id="1804" name="Google Shape;1804;p39"/>
          <p:cNvSpPr/>
          <p:nvPr/>
        </p:nvSpPr>
        <p:spPr>
          <a:xfrm>
            <a:off x="1399032" y="2852928"/>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5" name="Google Shape;1805;p39"/>
          <p:cNvSpPr/>
          <p:nvPr/>
        </p:nvSpPr>
        <p:spPr>
          <a:xfrm>
            <a:off x="1399032" y="2852928"/>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806" name="Google Shape;1806;p39"/>
          <p:cNvSpPr/>
          <p:nvPr/>
        </p:nvSpPr>
        <p:spPr>
          <a:xfrm>
            <a:off x="2359152" y="2852928"/>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7" name="Google Shape;1807;p39"/>
          <p:cNvSpPr/>
          <p:nvPr/>
        </p:nvSpPr>
        <p:spPr>
          <a:xfrm>
            <a:off x="2359152" y="2852928"/>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808" name="Google Shape;1808;p39"/>
          <p:cNvSpPr/>
          <p:nvPr/>
        </p:nvSpPr>
        <p:spPr>
          <a:xfrm>
            <a:off x="3319272" y="2852928"/>
            <a:ext cx="960000" cy="475500"/>
          </a:xfrm>
          <a:prstGeom prst="rect">
            <a:avLst/>
          </a:prstGeom>
          <a:solidFill>
            <a:srgbClr val="EDE9FE"/>
          </a:solidFill>
          <a:ln w="2285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9" name="Google Shape;1809;p39"/>
          <p:cNvSpPr/>
          <p:nvPr/>
        </p:nvSpPr>
        <p:spPr>
          <a:xfrm>
            <a:off x="3319272" y="2852928"/>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C3AED"/>
              </a:buClr>
              <a:buSzPts val="1400"/>
              <a:buFont typeface="Courier New"/>
              <a:buNone/>
            </a:pPr>
            <a:r>
              <a:rPr lang="en" sz="1400" b="1" i="0" u="none" strike="noStrike" cap="none">
                <a:solidFill>
                  <a:srgbClr val="7C3AED"/>
                </a:solidFill>
                <a:latin typeface="Courier New"/>
                <a:ea typeface="Courier New"/>
                <a:cs typeface="Courier New"/>
                <a:sym typeface="Courier New"/>
              </a:rPr>
              <a:t>1</a:t>
            </a:r>
            <a:endParaRPr sz="1400" b="0" i="0" u="none" strike="noStrike" cap="none">
              <a:solidFill>
                <a:schemeClr val="dk1"/>
              </a:solidFill>
              <a:latin typeface="Calibri"/>
              <a:ea typeface="Calibri"/>
              <a:cs typeface="Calibri"/>
              <a:sym typeface="Calibri"/>
            </a:endParaRPr>
          </a:p>
        </p:txBody>
      </p:sp>
      <p:sp>
        <p:nvSpPr>
          <p:cNvPr id="1810" name="Google Shape;1810;p39"/>
          <p:cNvSpPr/>
          <p:nvPr/>
        </p:nvSpPr>
        <p:spPr>
          <a:xfrm>
            <a:off x="4279392" y="2852928"/>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1" name="Google Shape;1811;p39"/>
          <p:cNvSpPr/>
          <p:nvPr/>
        </p:nvSpPr>
        <p:spPr>
          <a:xfrm>
            <a:off x="4279392" y="2852928"/>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812" name="Google Shape;1812;p39"/>
          <p:cNvSpPr/>
          <p:nvPr/>
        </p:nvSpPr>
        <p:spPr>
          <a:xfrm>
            <a:off x="5239512" y="2852928"/>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3" name="Google Shape;1813;p39"/>
          <p:cNvSpPr/>
          <p:nvPr/>
        </p:nvSpPr>
        <p:spPr>
          <a:xfrm>
            <a:off x="5239512" y="2852928"/>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814" name="Google Shape;1814;p39"/>
          <p:cNvSpPr/>
          <p:nvPr/>
        </p:nvSpPr>
        <p:spPr>
          <a:xfrm>
            <a:off x="6199632" y="2852928"/>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5" name="Google Shape;1815;p39"/>
          <p:cNvSpPr/>
          <p:nvPr/>
        </p:nvSpPr>
        <p:spPr>
          <a:xfrm>
            <a:off x="6199632" y="2852928"/>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816" name="Google Shape;1816;p39"/>
          <p:cNvSpPr/>
          <p:nvPr/>
        </p:nvSpPr>
        <p:spPr>
          <a:xfrm>
            <a:off x="7159752" y="2852928"/>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7" name="Google Shape;1817;p39"/>
          <p:cNvSpPr/>
          <p:nvPr/>
        </p:nvSpPr>
        <p:spPr>
          <a:xfrm>
            <a:off x="7159752" y="2852928"/>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818" name="Google Shape;1818;p39"/>
          <p:cNvSpPr/>
          <p:nvPr/>
        </p:nvSpPr>
        <p:spPr>
          <a:xfrm>
            <a:off x="8119872" y="2852928"/>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9" name="Google Shape;1819;p39"/>
          <p:cNvSpPr/>
          <p:nvPr/>
        </p:nvSpPr>
        <p:spPr>
          <a:xfrm>
            <a:off x="8119872" y="2852928"/>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820" name="Google Shape;1820;p39"/>
          <p:cNvSpPr/>
          <p:nvPr/>
        </p:nvSpPr>
        <p:spPr>
          <a:xfrm>
            <a:off x="9189720" y="2962656"/>
            <a:ext cx="22860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C3AED"/>
              </a:buClr>
              <a:buSzPts val="1000"/>
              <a:buFont typeface="Calibri"/>
              <a:buNone/>
            </a:pPr>
            <a:r>
              <a:rPr lang="en" sz="1000" b="0" i="1" u="none" strike="noStrike" cap="none">
                <a:solidFill>
                  <a:srgbClr val="7C3AED"/>
                </a:solidFill>
                <a:latin typeface="Calibri"/>
                <a:ea typeface="Calibri"/>
                <a:cs typeface="Calibri"/>
                <a:sym typeface="Calibri"/>
              </a:rPr>
              <a:t>← 8-dim vector, exactly one '1'</a:t>
            </a:r>
            <a:endParaRPr sz="1000" b="0" i="0" u="none" strike="noStrike" cap="none">
              <a:solidFill>
                <a:schemeClr val="dk1"/>
              </a:solidFill>
              <a:latin typeface="Calibri"/>
              <a:ea typeface="Calibri"/>
              <a:cs typeface="Calibri"/>
              <a:sym typeface="Calibri"/>
            </a:endParaRPr>
          </a:p>
        </p:txBody>
      </p:sp>
      <p:sp>
        <p:nvSpPr>
          <p:cNvPr id="1821" name="Google Shape;1821;p39"/>
          <p:cNvSpPr/>
          <p:nvPr/>
        </p:nvSpPr>
        <p:spPr>
          <a:xfrm>
            <a:off x="347472" y="3785616"/>
            <a:ext cx="749700" cy="475500"/>
          </a:xfrm>
          <a:prstGeom prst="rect">
            <a:avLst/>
          </a:prstGeom>
          <a:solidFill>
            <a:srgbClr val="FED7AA"/>
          </a:solidFill>
          <a:ln w="15225"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2" name="Google Shape;1822;p39"/>
          <p:cNvSpPr/>
          <p:nvPr/>
        </p:nvSpPr>
        <p:spPr>
          <a:xfrm>
            <a:off x="347472" y="3785616"/>
            <a:ext cx="7497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A580C"/>
              </a:buClr>
              <a:buSzPts val="1300"/>
              <a:buFont typeface="Courier New"/>
              <a:buNone/>
            </a:pPr>
            <a:r>
              <a:rPr lang="en" sz="1300" b="1" i="0" u="none" strike="noStrike" cap="none">
                <a:solidFill>
                  <a:srgbClr val="EA580C"/>
                </a:solidFill>
                <a:latin typeface="Courier New"/>
                <a:ea typeface="Courier New"/>
                <a:cs typeface="Courier New"/>
                <a:sym typeface="Courier New"/>
              </a:rPr>
              <a:t>queen</a:t>
            </a:r>
            <a:endParaRPr sz="1300" b="0" i="0" u="none" strike="noStrike" cap="none">
              <a:solidFill>
                <a:schemeClr val="dk1"/>
              </a:solidFill>
              <a:latin typeface="Calibri"/>
              <a:ea typeface="Calibri"/>
              <a:cs typeface="Calibri"/>
              <a:sym typeface="Calibri"/>
            </a:endParaRPr>
          </a:p>
        </p:txBody>
      </p:sp>
      <p:cxnSp>
        <p:nvCxnSpPr>
          <p:cNvPr id="1823" name="Google Shape;1823;p39"/>
          <p:cNvCxnSpPr/>
          <p:nvPr/>
        </p:nvCxnSpPr>
        <p:spPr>
          <a:xfrm>
            <a:off x="1115568" y="4023360"/>
            <a:ext cx="255900" cy="0"/>
          </a:xfrm>
          <a:prstGeom prst="straightConnector1">
            <a:avLst/>
          </a:prstGeom>
          <a:noFill/>
          <a:ln w="19050" cap="flat" cmpd="sng">
            <a:solidFill>
              <a:srgbClr val="EA580C"/>
            </a:solidFill>
            <a:prstDash val="solid"/>
            <a:round/>
            <a:headEnd type="none" w="sm" len="sm"/>
            <a:tailEnd type="stealth" w="med" len="med"/>
          </a:ln>
        </p:spPr>
      </p:cxnSp>
      <p:sp>
        <p:nvSpPr>
          <p:cNvPr id="1824" name="Google Shape;1824;p39"/>
          <p:cNvSpPr/>
          <p:nvPr/>
        </p:nvSpPr>
        <p:spPr>
          <a:xfrm>
            <a:off x="1399032" y="3785616"/>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5" name="Google Shape;1825;p39"/>
          <p:cNvSpPr/>
          <p:nvPr/>
        </p:nvSpPr>
        <p:spPr>
          <a:xfrm>
            <a:off x="1399032" y="3785616"/>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826" name="Google Shape;1826;p39"/>
          <p:cNvSpPr/>
          <p:nvPr/>
        </p:nvSpPr>
        <p:spPr>
          <a:xfrm>
            <a:off x="2359152" y="3785616"/>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7" name="Google Shape;1827;p39"/>
          <p:cNvSpPr/>
          <p:nvPr/>
        </p:nvSpPr>
        <p:spPr>
          <a:xfrm>
            <a:off x="2359152" y="3785616"/>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828" name="Google Shape;1828;p39"/>
          <p:cNvSpPr/>
          <p:nvPr/>
        </p:nvSpPr>
        <p:spPr>
          <a:xfrm>
            <a:off x="3319272" y="3785616"/>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9" name="Google Shape;1829;p39"/>
          <p:cNvSpPr/>
          <p:nvPr/>
        </p:nvSpPr>
        <p:spPr>
          <a:xfrm>
            <a:off x="3319272" y="3785616"/>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830" name="Google Shape;1830;p39"/>
          <p:cNvSpPr/>
          <p:nvPr/>
        </p:nvSpPr>
        <p:spPr>
          <a:xfrm>
            <a:off x="4279392" y="3785616"/>
            <a:ext cx="960000" cy="475500"/>
          </a:xfrm>
          <a:prstGeom prst="rect">
            <a:avLst/>
          </a:prstGeom>
          <a:solidFill>
            <a:srgbClr val="FED7AA"/>
          </a:solidFill>
          <a:ln w="2285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1" name="Google Shape;1831;p39"/>
          <p:cNvSpPr/>
          <p:nvPr/>
        </p:nvSpPr>
        <p:spPr>
          <a:xfrm>
            <a:off x="4279392" y="3785616"/>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A580C"/>
              </a:buClr>
              <a:buSzPts val="1400"/>
              <a:buFont typeface="Courier New"/>
              <a:buNone/>
            </a:pPr>
            <a:r>
              <a:rPr lang="en" sz="1400" b="1" i="0" u="none" strike="noStrike" cap="none">
                <a:solidFill>
                  <a:srgbClr val="EA580C"/>
                </a:solidFill>
                <a:latin typeface="Courier New"/>
                <a:ea typeface="Courier New"/>
                <a:cs typeface="Courier New"/>
                <a:sym typeface="Courier New"/>
              </a:rPr>
              <a:t>1</a:t>
            </a:r>
            <a:endParaRPr sz="1400" b="0" i="0" u="none" strike="noStrike" cap="none">
              <a:solidFill>
                <a:schemeClr val="dk1"/>
              </a:solidFill>
              <a:latin typeface="Calibri"/>
              <a:ea typeface="Calibri"/>
              <a:cs typeface="Calibri"/>
              <a:sym typeface="Calibri"/>
            </a:endParaRPr>
          </a:p>
        </p:txBody>
      </p:sp>
      <p:sp>
        <p:nvSpPr>
          <p:cNvPr id="1832" name="Google Shape;1832;p39"/>
          <p:cNvSpPr/>
          <p:nvPr/>
        </p:nvSpPr>
        <p:spPr>
          <a:xfrm>
            <a:off x="5239512" y="3785616"/>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3" name="Google Shape;1833;p39"/>
          <p:cNvSpPr/>
          <p:nvPr/>
        </p:nvSpPr>
        <p:spPr>
          <a:xfrm>
            <a:off x="5239512" y="3785616"/>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834" name="Google Shape;1834;p39"/>
          <p:cNvSpPr/>
          <p:nvPr/>
        </p:nvSpPr>
        <p:spPr>
          <a:xfrm>
            <a:off x="6199632" y="3785616"/>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5" name="Google Shape;1835;p39"/>
          <p:cNvSpPr/>
          <p:nvPr/>
        </p:nvSpPr>
        <p:spPr>
          <a:xfrm>
            <a:off x="6199632" y="3785616"/>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836" name="Google Shape;1836;p39"/>
          <p:cNvSpPr/>
          <p:nvPr/>
        </p:nvSpPr>
        <p:spPr>
          <a:xfrm>
            <a:off x="7159752" y="3785616"/>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7" name="Google Shape;1837;p39"/>
          <p:cNvSpPr/>
          <p:nvPr/>
        </p:nvSpPr>
        <p:spPr>
          <a:xfrm>
            <a:off x="7159752" y="3785616"/>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838" name="Google Shape;1838;p39"/>
          <p:cNvSpPr/>
          <p:nvPr/>
        </p:nvSpPr>
        <p:spPr>
          <a:xfrm>
            <a:off x="8119872" y="3785616"/>
            <a:ext cx="960000" cy="4755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9" name="Google Shape;1839;p39"/>
          <p:cNvSpPr/>
          <p:nvPr/>
        </p:nvSpPr>
        <p:spPr>
          <a:xfrm>
            <a:off x="8119872" y="3785616"/>
            <a:ext cx="960000" cy="475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400"/>
              <a:buFont typeface="Courier New"/>
              <a:buNone/>
            </a:pPr>
            <a:r>
              <a:rPr lang="en" sz="1400" b="0" i="0" u="none" strike="noStrike" cap="none">
                <a:solidFill>
                  <a:srgbClr val="6B7280"/>
                </a:solidFill>
                <a:latin typeface="Courier New"/>
                <a:ea typeface="Courier New"/>
                <a:cs typeface="Courier New"/>
                <a:sym typeface="Courier New"/>
              </a:rPr>
              <a:t>0</a:t>
            </a:r>
            <a:endParaRPr sz="1400" b="0" i="0" u="none" strike="noStrike" cap="none">
              <a:solidFill>
                <a:schemeClr val="dk1"/>
              </a:solidFill>
              <a:latin typeface="Calibri"/>
              <a:ea typeface="Calibri"/>
              <a:cs typeface="Calibri"/>
              <a:sym typeface="Calibri"/>
            </a:endParaRPr>
          </a:p>
        </p:txBody>
      </p:sp>
      <p:sp>
        <p:nvSpPr>
          <p:cNvPr id="1840" name="Google Shape;1840;p39"/>
          <p:cNvSpPr/>
          <p:nvPr/>
        </p:nvSpPr>
        <p:spPr>
          <a:xfrm>
            <a:off x="9189720" y="3895344"/>
            <a:ext cx="22860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A580C"/>
              </a:buClr>
              <a:buSzPts val="1000"/>
              <a:buFont typeface="Calibri"/>
              <a:buNone/>
            </a:pPr>
            <a:r>
              <a:rPr lang="en" sz="1000" b="0" i="1" u="none" strike="noStrike" cap="none">
                <a:solidFill>
                  <a:srgbClr val="EA580C"/>
                </a:solidFill>
                <a:latin typeface="Calibri"/>
                <a:ea typeface="Calibri"/>
                <a:cs typeface="Calibri"/>
                <a:sym typeface="Calibri"/>
              </a:rPr>
              <a:t>← 8-dim vector, exactly one '1'</a:t>
            </a:r>
            <a:endParaRPr sz="1000" b="0" i="0" u="none" strike="noStrike" cap="none">
              <a:solidFill>
                <a:schemeClr val="dk1"/>
              </a:solidFill>
              <a:latin typeface="Calibri"/>
              <a:ea typeface="Calibri"/>
              <a:cs typeface="Calibri"/>
              <a:sym typeface="Calibri"/>
            </a:endParaRPr>
          </a:p>
        </p:txBody>
      </p:sp>
      <p:sp>
        <p:nvSpPr>
          <p:cNvPr id="1841" name="Google Shape;1841;p39"/>
          <p:cNvSpPr/>
          <p:nvPr/>
        </p:nvSpPr>
        <p:spPr>
          <a:xfrm>
            <a:off x="347472" y="4663440"/>
            <a:ext cx="8449200" cy="365700"/>
          </a:xfrm>
          <a:prstGeom prst="rect">
            <a:avLst/>
          </a:prstGeom>
          <a:solidFill>
            <a:srgbClr val="EFF6FF"/>
          </a:solidFill>
          <a:ln w="12700"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2" name="Google Shape;1842;p39"/>
          <p:cNvSpPr/>
          <p:nvPr/>
        </p:nvSpPr>
        <p:spPr>
          <a:xfrm>
            <a:off x="502920" y="4663440"/>
            <a:ext cx="8229600" cy="365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563EB"/>
              </a:buClr>
              <a:buSzPts val="1150"/>
              <a:buFont typeface="Calibri"/>
              <a:buNone/>
            </a:pPr>
            <a:r>
              <a:rPr lang="en" sz="1150" b="1" i="0" u="none" strike="noStrike" cap="none">
                <a:solidFill>
                  <a:srgbClr val="2563EB"/>
                </a:solidFill>
                <a:latin typeface="Calibri"/>
                <a:ea typeface="Calibri"/>
                <a:cs typeface="Calibri"/>
                <a:sym typeface="Calibri"/>
              </a:rPr>
              <a:t>Key property: </a:t>
            </a:r>
            <a:r>
              <a:rPr lang="en" sz="1150" b="0" i="0" u="none" strike="noStrike" cap="none">
                <a:solidFill>
                  <a:srgbClr val="111827"/>
                </a:solidFill>
                <a:latin typeface="Calibri"/>
                <a:ea typeface="Calibri"/>
                <a:cs typeface="Calibri"/>
                <a:sym typeface="Calibri"/>
              </a:rPr>
              <a:t>Each word is a point in high-dimensional space. The '1' is at index i, everything else is 0.</a:t>
            </a:r>
            <a:endParaRPr sz="1150" b="0" i="0" u="none" strike="noStrike" cap="none">
              <a:solidFill>
                <a:schemeClr val="dk1"/>
              </a:solidFill>
              <a:latin typeface="Calibri"/>
              <a:ea typeface="Calibri"/>
              <a:cs typeface="Calibri"/>
              <a:sym typeface="Calibri"/>
            </a:endParaRPr>
          </a:p>
        </p:txBody>
      </p:sp>
      <p:sp>
        <p:nvSpPr>
          <p:cNvPr id="1843" name="Google Shape;1843;p39"/>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57</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Shape 1848"/>
        <p:cNvGrpSpPr/>
        <p:nvPr/>
      </p:nvGrpSpPr>
      <p:grpSpPr>
        <a:xfrm>
          <a:off x="0" y="0"/>
          <a:ext cx="0" cy="0"/>
          <a:chOff x="0" y="0"/>
          <a:chExt cx="0" cy="0"/>
        </a:xfrm>
      </p:grpSpPr>
      <p:sp>
        <p:nvSpPr>
          <p:cNvPr id="1849" name="Google Shape;1849;p40"/>
          <p:cNvSpPr/>
          <p:nvPr/>
        </p:nvSpPr>
        <p:spPr>
          <a:xfrm>
            <a:off x="0" y="0"/>
            <a:ext cx="9144000" cy="639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0" name="Google Shape;1850;p40"/>
          <p:cNvSpPr/>
          <p:nvPr/>
        </p:nvSpPr>
        <p:spPr>
          <a:xfrm>
            <a:off x="347472" y="164592"/>
            <a:ext cx="63900" cy="5121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1" name="Google Shape;1851;p40"/>
          <p:cNvSpPr/>
          <p:nvPr/>
        </p:nvSpPr>
        <p:spPr>
          <a:xfrm>
            <a:off x="521208" y="146304"/>
            <a:ext cx="8229600" cy="54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9488"/>
              </a:buClr>
              <a:buSzPts val="2600"/>
              <a:buFont typeface="Calibri"/>
              <a:buNone/>
            </a:pPr>
            <a:r>
              <a:rPr lang="en" sz="2600" b="1" i="0" u="none" strike="noStrike" cap="none">
                <a:solidFill>
                  <a:srgbClr val="0D9488"/>
                </a:solidFill>
                <a:latin typeface="Calibri"/>
                <a:ea typeface="Calibri"/>
                <a:cs typeface="Calibri"/>
                <a:sym typeface="Calibri"/>
              </a:rPr>
              <a:t>Classification with One-Hot Vectors</a:t>
            </a:r>
            <a:endParaRPr sz="2600" b="0" i="0" u="none" strike="noStrike" cap="none">
              <a:solidFill>
                <a:schemeClr val="dk1"/>
              </a:solidFill>
              <a:latin typeface="Calibri"/>
              <a:ea typeface="Calibri"/>
              <a:cs typeface="Calibri"/>
              <a:sym typeface="Calibri"/>
            </a:endParaRPr>
          </a:p>
        </p:txBody>
      </p:sp>
      <p:cxnSp>
        <p:nvCxnSpPr>
          <p:cNvPr id="1852" name="Google Shape;1852;p40"/>
          <p:cNvCxnSpPr/>
          <p:nvPr/>
        </p:nvCxnSpPr>
        <p:spPr>
          <a:xfrm>
            <a:off x="347472" y="713232"/>
            <a:ext cx="8449200" cy="0"/>
          </a:xfrm>
          <a:prstGeom prst="straightConnector1">
            <a:avLst/>
          </a:prstGeom>
          <a:noFill/>
          <a:ln w="15225" cap="flat" cmpd="sng">
            <a:solidFill>
              <a:srgbClr val="0D9488"/>
            </a:solidFill>
            <a:prstDash val="solid"/>
            <a:round/>
            <a:headEnd type="none" w="sm" len="sm"/>
            <a:tailEnd type="none" w="sm" len="sm"/>
          </a:ln>
        </p:spPr>
      </p:cxnSp>
      <p:sp>
        <p:nvSpPr>
          <p:cNvPr id="1853" name="Google Shape;1853;p40"/>
          <p:cNvSpPr/>
          <p:nvPr/>
        </p:nvSpPr>
        <p:spPr>
          <a:xfrm>
            <a:off x="347472" y="749808"/>
            <a:ext cx="84492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1200"/>
              <a:buFont typeface="Calibri"/>
              <a:buNone/>
            </a:pPr>
            <a:r>
              <a:rPr lang="en" sz="1200" b="0" i="1" u="none" strike="noStrike" cap="none">
                <a:solidFill>
                  <a:srgbClr val="6B7280"/>
                </a:solidFill>
                <a:latin typeface="Calibri"/>
                <a:ea typeface="Calibri"/>
                <a:cs typeface="Calibri"/>
                <a:sym typeface="Calibri"/>
              </a:rPr>
              <a:t>Example: sentiment classification — can a linear model separate positive from negative?</a:t>
            </a:r>
            <a:endParaRPr sz="1200" b="0" i="0" u="none" strike="noStrike" cap="none">
              <a:solidFill>
                <a:schemeClr val="dk1"/>
              </a:solidFill>
              <a:latin typeface="Calibri"/>
              <a:ea typeface="Calibri"/>
              <a:cs typeface="Calibri"/>
              <a:sym typeface="Calibri"/>
            </a:endParaRPr>
          </a:p>
        </p:txBody>
      </p:sp>
      <p:sp>
        <p:nvSpPr>
          <p:cNvPr id="1854" name="Google Shape;1854;p40"/>
          <p:cNvSpPr/>
          <p:nvPr/>
        </p:nvSpPr>
        <p:spPr>
          <a:xfrm>
            <a:off x="347472" y="868680"/>
            <a:ext cx="42063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9488"/>
              </a:buClr>
              <a:buSzPts val="1300"/>
              <a:buFont typeface="Calibri"/>
              <a:buNone/>
            </a:pPr>
            <a:r>
              <a:rPr lang="en" sz="1300" b="1" i="0" u="none" strike="noStrike" cap="none">
                <a:solidFill>
                  <a:srgbClr val="0D9488"/>
                </a:solidFill>
                <a:latin typeface="Calibri"/>
                <a:ea typeface="Calibri"/>
                <a:cs typeface="Calibri"/>
                <a:sym typeface="Calibri"/>
              </a:rPr>
              <a:t>Bag-of-Words Representation</a:t>
            </a:r>
            <a:endParaRPr sz="1300" b="0" i="0" u="none" strike="noStrike" cap="none">
              <a:solidFill>
                <a:schemeClr val="dk1"/>
              </a:solidFill>
              <a:latin typeface="Calibri"/>
              <a:ea typeface="Calibri"/>
              <a:cs typeface="Calibri"/>
              <a:sym typeface="Calibri"/>
            </a:endParaRPr>
          </a:p>
        </p:txBody>
      </p:sp>
      <p:sp>
        <p:nvSpPr>
          <p:cNvPr id="1855" name="Google Shape;1855;p40"/>
          <p:cNvSpPr/>
          <p:nvPr/>
        </p:nvSpPr>
        <p:spPr>
          <a:xfrm>
            <a:off x="347472" y="1188720"/>
            <a:ext cx="4206300" cy="1234500"/>
          </a:xfrm>
          <a:prstGeom prst="rect">
            <a:avLst/>
          </a:prstGeom>
          <a:solidFill>
            <a:srgbClr val="F0FDF4"/>
          </a:solidFill>
          <a:ln w="15225"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6" name="Google Shape;1856;p40"/>
          <p:cNvSpPr/>
          <p:nvPr/>
        </p:nvSpPr>
        <p:spPr>
          <a:xfrm>
            <a:off x="438912" y="1243584"/>
            <a:ext cx="822900" cy="219600"/>
          </a:xfrm>
          <a:prstGeom prst="roundRect">
            <a:avLst>
              <a:gd name="adj" fmla="val 25000"/>
            </a:avLst>
          </a:prstGeom>
          <a:solidFill>
            <a:srgbClr val="16A34A"/>
          </a:solidFill>
          <a:ln w="127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7" name="Google Shape;1857;p40"/>
          <p:cNvSpPr/>
          <p:nvPr/>
        </p:nvSpPr>
        <p:spPr>
          <a:xfrm>
            <a:off x="438912" y="1243584"/>
            <a:ext cx="822900" cy="219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900"/>
              <a:buFont typeface="Calibri"/>
              <a:buNone/>
            </a:pPr>
            <a:r>
              <a:rPr lang="en" sz="900" b="1" i="0" u="none" strike="noStrike" cap="none">
                <a:solidFill>
                  <a:srgbClr val="FFFFFF"/>
                </a:solidFill>
                <a:latin typeface="Calibri"/>
                <a:ea typeface="Calibri"/>
                <a:cs typeface="Calibri"/>
                <a:sym typeface="Calibri"/>
              </a:rPr>
              <a:t>POSITIVE</a:t>
            </a:r>
            <a:endParaRPr sz="900" b="0" i="0" u="none" strike="noStrike" cap="none">
              <a:solidFill>
                <a:schemeClr val="dk1"/>
              </a:solidFill>
              <a:latin typeface="Calibri"/>
              <a:ea typeface="Calibri"/>
              <a:cs typeface="Calibri"/>
              <a:sym typeface="Calibri"/>
            </a:endParaRPr>
          </a:p>
        </p:txBody>
      </p:sp>
      <p:sp>
        <p:nvSpPr>
          <p:cNvPr id="1858" name="Google Shape;1858;p40"/>
          <p:cNvSpPr/>
          <p:nvPr/>
        </p:nvSpPr>
        <p:spPr>
          <a:xfrm>
            <a:off x="438912" y="1508760"/>
            <a:ext cx="27432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827"/>
              </a:buClr>
              <a:buSzPts val="1250"/>
              <a:buFont typeface="Courier New"/>
              <a:buNone/>
            </a:pPr>
            <a:r>
              <a:rPr lang="en" sz="1250" b="1" i="0" u="none" strike="noStrike" cap="none">
                <a:solidFill>
                  <a:srgbClr val="111827"/>
                </a:solidFill>
                <a:latin typeface="Courier New"/>
                <a:ea typeface="Courier New"/>
                <a:cs typeface="Courier New"/>
                <a:sym typeface="Courier New"/>
              </a:rPr>
              <a:t>"The cat is happy"</a:t>
            </a:r>
            <a:endParaRPr sz="1250" b="0" i="0" u="none" strike="noStrike" cap="none">
              <a:solidFill>
                <a:schemeClr val="dk1"/>
              </a:solidFill>
              <a:latin typeface="Calibri"/>
              <a:ea typeface="Calibri"/>
              <a:cs typeface="Calibri"/>
              <a:sym typeface="Calibri"/>
            </a:endParaRPr>
          </a:p>
        </p:txBody>
      </p:sp>
      <p:sp>
        <p:nvSpPr>
          <p:cNvPr id="1859" name="Google Shape;1859;p40"/>
          <p:cNvSpPr/>
          <p:nvPr/>
        </p:nvSpPr>
        <p:spPr>
          <a:xfrm>
            <a:off x="438912" y="1783080"/>
            <a:ext cx="39318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6A34A"/>
              </a:buClr>
              <a:buSzPts val="1100"/>
              <a:buFont typeface="Courier New"/>
              <a:buNone/>
            </a:pPr>
            <a:r>
              <a:rPr lang="en" sz="1100" b="0" i="0" u="none" strike="noStrike" cap="none">
                <a:solidFill>
                  <a:srgbClr val="16A34A"/>
                </a:solidFill>
                <a:latin typeface="Courier New"/>
                <a:ea typeface="Courier New"/>
                <a:cs typeface="Courier New"/>
                <a:sym typeface="Courier New"/>
              </a:rPr>
              <a:t>→  [1, 0, 0, 0, 0, 0, 1, 1]</a:t>
            </a:r>
            <a:endParaRPr sz="1100" b="0" i="0" u="none" strike="noStrike" cap="none">
              <a:solidFill>
                <a:schemeClr val="dk1"/>
              </a:solidFill>
              <a:latin typeface="Calibri"/>
              <a:ea typeface="Calibri"/>
              <a:cs typeface="Calibri"/>
              <a:sym typeface="Calibri"/>
            </a:endParaRPr>
          </a:p>
        </p:txBody>
      </p:sp>
      <p:sp>
        <p:nvSpPr>
          <p:cNvPr id="1860" name="Google Shape;1860;p40"/>
          <p:cNvSpPr/>
          <p:nvPr/>
        </p:nvSpPr>
        <p:spPr>
          <a:xfrm>
            <a:off x="347472" y="2514600"/>
            <a:ext cx="4206300" cy="1234500"/>
          </a:xfrm>
          <a:prstGeom prst="rect">
            <a:avLst/>
          </a:prstGeom>
          <a:solidFill>
            <a:srgbClr val="FEE2E2"/>
          </a:solidFill>
          <a:ln w="15225"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1" name="Google Shape;1861;p40"/>
          <p:cNvSpPr/>
          <p:nvPr/>
        </p:nvSpPr>
        <p:spPr>
          <a:xfrm>
            <a:off x="438912" y="2569464"/>
            <a:ext cx="822900" cy="219600"/>
          </a:xfrm>
          <a:prstGeom prst="roundRect">
            <a:avLst>
              <a:gd name="adj" fmla="val 25000"/>
            </a:avLst>
          </a:prstGeom>
          <a:solidFill>
            <a:srgbClr val="DC2626"/>
          </a:solidFill>
          <a:ln w="1270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2" name="Google Shape;1862;p40"/>
          <p:cNvSpPr/>
          <p:nvPr/>
        </p:nvSpPr>
        <p:spPr>
          <a:xfrm>
            <a:off x="438912" y="2569464"/>
            <a:ext cx="822900" cy="219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900"/>
              <a:buFont typeface="Calibri"/>
              <a:buNone/>
            </a:pPr>
            <a:r>
              <a:rPr lang="en" sz="900" b="1" i="0" u="none" strike="noStrike" cap="none">
                <a:solidFill>
                  <a:srgbClr val="FFFFFF"/>
                </a:solidFill>
                <a:latin typeface="Calibri"/>
                <a:ea typeface="Calibri"/>
                <a:cs typeface="Calibri"/>
                <a:sym typeface="Calibri"/>
              </a:rPr>
              <a:t>NEGATIVE</a:t>
            </a:r>
            <a:endParaRPr sz="900" b="0" i="0" u="none" strike="noStrike" cap="none">
              <a:solidFill>
                <a:schemeClr val="dk1"/>
              </a:solidFill>
              <a:latin typeface="Calibri"/>
              <a:ea typeface="Calibri"/>
              <a:cs typeface="Calibri"/>
              <a:sym typeface="Calibri"/>
            </a:endParaRPr>
          </a:p>
        </p:txBody>
      </p:sp>
      <p:sp>
        <p:nvSpPr>
          <p:cNvPr id="1863" name="Google Shape;1863;p40"/>
          <p:cNvSpPr/>
          <p:nvPr/>
        </p:nvSpPr>
        <p:spPr>
          <a:xfrm>
            <a:off x="438912" y="2834640"/>
            <a:ext cx="29262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827"/>
              </a:buClr>
              <a:buSzPts val="1250"/>
              <a:buFont typeface="Courier New"/>
              <a:buNone/>
            </a:pPr>
            <a:r>
              <a:rPr lang="en" sz="1250" b="1" i="0" u="none" strike="noStrike" cap="none">
                <a:solidFill>
                  <a:srgbClr val="111827"/>
                </a:solidFill>
                <a:latin typeface="Courier New"/>
                <a:ea typeface="Courier New"/>
                <a:cs typeface="Courier New"/>
                <a:sym typeface="Courier New"/>
              </a:rPr>
              <a:t>"The dog runs away"</a:t>
            </a:r>
            <a:endParaRPr sz="1250" b="0" i="0" u="none" strike="noStrike" cap="none">
              <a:solidFill>
                <a:schemeClr val="dk1"/>
              </a:solidFill>
              <a:latin typeface="Calibri"/>
              <a:ea typeface="Calibri"/>
              <a:cs typeface="Calibri"/>
              <a:sym typeface="Calibri"/>
            </a:endParaRPr>
          </a:p>
        </p:txBody>
      </p:sp>
      <p:sp>
        <p:nvSpPr>
          <p:cNvPr id="1864" name="Google Shape;1864;p40"/>
          <p:cNvSpPr/>
          <p:nvPr/>
        </p:nvSpPr>
        <p:spPr>
          <a:xfrm>
            <a:off x="438912" y="3108960"/>
            <a:ext cx="39318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2626"/>
              </a:buClr>
              <a:buSzPts val="1100"/>
              <a:buFont typeface="Courier New"/>
              <a:buNone/>
            </a:pPr>
            <a:r>
              <a:rPr lang="en" sz="1100" b="0" i="0" u="none" strike="noStrike" cap="none">
                <a:solidFill>
                  <a:srgbClr val="DC2626"/>
                </a:solidFill>
                <a:latin typeface="Courier New"/>
                <a:ea typeface="Courier New"/>
                <a:cs typeface="Courier New"/>
                <a:sym typeface="Courier New"/>
              </a:rPr>
              <a:t>→  [1, 0, 1, 1, 1, 0, 0, 0]</a:t>
            </a:r>
            <a:endParaRPr sz="1100" b="0" i="0" u="none" strike="noStrike" cap="none">
              <a:solidFill>
                <a:schemeClr val="dk1"/>
              </a:solidFill>
              <a:latin typeface="Calibri"/>
              <a:ea typeface="Calibri"/>
              <a:cs typeface="Calibri"/>
              <a:sym typeface="Calibri"/>
            </a:endParaRPr>
          </a:p>
        </p:txBody>
      </p:sp>
      <p:cxnSp>
        <p:nvCxnSpPr>
          <p:cNvPr id="1865" name="Google Shape;1865;p40"/>
          <p:cNvCxnSpPr/>
          <p:nvPr/>
        </p:nvCxnSpPr>
        <p:spPr>
          <a:xfrm>
            <a:off x="4590288" y="2331720"/>
            <a:ext cx="457200" cy="0"/>
          </a:xfrm>
          <a:prstGeom prst="straightConnector1">
            <a:avLst/>
          </a:prstGeom>
          <a:noFill/>
          <a:ln w="25400" cap="flat" cmpd="sng">
            <a:solidFill>
              <a:srgbClr val="1B3A6B"/>
            </a:solidFill>
            <a:prstDash val="solid"/>
            <a:round/>
            <a:headEnd type="none" w="sm" len="sm"/>
            <a:tailEnd type="stealth" w="med" len="med"/>
          </a:ln>
        </p:spPr>
      </p:cxnSp>
      <p:sp>
        <p:nvSpPr>
          <p:cNvPr id="1866" name="Google Shape;1866;p40"/>
          <p:cNvSpPr/>
          <p:nvPr/>
        </p:nvSpPr>
        <p:spPr>
          <a:xfrm>
            <a:off x="5074920" y="1920240"/>
            <a:ext cx="1828800" cy="82290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7" name="Google Shape;1867;p40"/>
          <p:cNvSpPr/>
          <p:nvPr/>
        </p:nvSpPr>
        <p:spPr>
          <a:xfrm>
            <a:off x="5074920" y="1920240"/>
            <a:ext cx="1828800" cy="822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300"/>
              <a:buFont typeface="Calibri"/>
              <a:buNone/>
            </a:pPr>
            <a:r>
              <a:rPr lang="en" sz="1300" b="1" i="0" u="none" strike="noStrike" cap="none">
                <a:solidFill>
                  <a:srgbClr val="FFFFFF"/>
                </a:solidFill>
                <a:latin typeface="Calibri"/>
                <a:ea typeface="Calibri"/>
                <a:cs typeface="Calibri"/>
                <a:sym typeface="Calibri"/>
              </a:rPr>
              <a:t>Linear</a:t>
            </a:r>
            <a:endParaRPr sz="13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300"/>
              <a:buFont typeface="Calibri"/>
              <a:buNone/>
            </a:pPr>
            <a:r>
              <a:rPr lang="en" sz="1300" b="1" i="0" u="none" strike="noStrike" cap="none">
                <a:solidFill>
                  <a:srgbClr val="FFFFFF"/>
                </a:solidFill>
                <a:latin typeface="Calibri"/>
                <a:ea typeface="Calibri"/>
                <a:cs typeface="Calibri"/>
                <a:sym typeface="Calibri"/>
              </a:rPr>
              <a:t>Classifier</a:t>
            </a:r>
            <a:endParaRPr sz="1300" b="0" i="0" u="none" strike="noStrike" cap="none">
              <a:solidFill>
                <a:schemeClr val="dk1"/>
              </a:solidFill>
              <a:latin typeface="Calibri"/>
              <a:ea typeface="Calibri"/>
              <a:cs typeface="Calibri"/>
              <a:sym typeface="Calibri"/>
            </a:endParaRPr>
          </a:p>
        </p:txBody>
      </p:sp>
      <p:sp>
        <p:nvSpPr>
          <p:cNvPr id="1868" name="Google Shape;1868;p40"/>
          <p:cNvSpPr/>
          <p:nvPr/>
        </p:nvSpPr>
        <p:spPr>
          <a:xfrm>
            <a:off x="5074920" y="2798064"/>
            <a:ext cx="1828800" cy="237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w · x + b</a:t>
            </a:r>
            <a:endParaRPr sz="1000" b="0" i="0" u="none" strike="noStrike" cap="none">
              <a:solidFill>
                <a:schemeClr val="dk1"/>
              </a:solidFill>
              <a:latin typeface="Calibri"/>
              <a:ea typeface="Calibri"/>
              <a:cs typeface="Calibri"/>
              <a:sym typeface="Calibri"/>
            </a:endParaRPr>
          </a:p>
        </p:txBody>
      </p:sp>
      <p:cxnSp>
        <p:nvCxnSpPr>
          <p:cNvPr id="1869" name="Google Shape;1869;p40"/>
          <p:cNvCxnSpPr/>
          <p:nvPr/>
        </p:nvCxnSpPr>
        <p:spPr>
          <a:xfrm>
            <a:off x="6931152" y="2331720"/>
            <a:ext cx="457200" cy="0"/>
          </a:xfrm>
          <a:prstGeom prst="straightConnector1">
            <a:avLst/>
          </a:prstGeom>
          <a:noFill/>
          <a:ln w="25400" cap="flat" cmpd="sng">
            <a:solidFill>
              <a:srgbClr val="1B3A6B"/>
            </a:solidFill>
            <a:prstDash val="solid"/>
            <a:round/>
            <a:headEnd type="none" w="sm" len="sm"/>
            <a:tailEnd type="stealth" w="med" len="med"/>
          </a:ln>
        </p:spPr>
      </p:cxnSp>
      <p:sp>
        <p:nvSpPr>
          <p:cNvPr id="1870" name="Google Shape;1870;p40"/>
          <p:cNvSpPr/>
          <p:nvPr/>
        </p:nvSpPr>
        <p:spPr>
          <a:xfrm>
            <a:off x="7406640" y="1719072"/>
            <a:ext cx="1389900" cy="567000"/>
          </a:xfrm>
          <a:prstGeom prst="rect">
            <a:avLst/>
          </a:prstGeom>
          <a:solidFill>
            <a:srgbClr val="F0FDF4"/>
          </a:solidFill>
          <a:ln w="1905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1" name="Google Shape;1871;p40"/>
          <p:cNvSpPr/>
          <p:nvPr/>
        </p:nvSpPr>
        <p:spPr>
          <a:xfrm>
            <a:off x="7406640" y="1719072"/>
            <a:ext cx="1389900" cy="567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A34A"/>
              </a:buClr>
              <a:buSzPts val="1600"/>
              <a:buFont typeface="Calibri"/>
              <a:buNone/>
            </a:pPr>
            <a:r>
              <a:rPr lang="en" sz="1600" b="0" i="0" u="none" strike="noStrike" cap="none">
                <a:solidFill>
                  <a:srgbClr val="16A34A"/>
                </a:solidFill>
                <a:latin typeface="Calibri"/>
                <a:ea typeface="Calibri"/>
                <a:cs typeface="Calibri"/>
                <a:sym typeface="Calibri"/>
              </a:rPr>
              <a:t>😊 +1</a:t>
            </a:r>
            <a:endParaRPr sz="1600" b="0" i="0" u="none" strike="noStrike" cap="none">
              <a:solidFill>
                <a:schemeClr val="dk1"/>
              </a:solidFill>
              <a:latin typeface="Calibri"/>
              <a:ea typeface="Calibri"/>
              <a:cs typeface="Calibri"/>
              <a:sym typeface="Calibri"/>
            </a:endParaRPr>
          </a:p>
        </p:txBody>
      </p:sp>
      <p:sp>
        <p:nvSpPr>
          <p:cNvPr id="1872" name="Google Shape;1872;p40"/>
          <p:cNvSpPr/>
          <p:nvPr/>
        </p:nvSpPr>
        <p:spPr>
          <a:xfrm>
            <a:off x="7406640" y="2395728"/>
            <a:ext cx="1389900" cy="567000"/>
          </a:xfrm>
          <a:prstGeom prst="rect">
            <a:avLst/>
          </a:prstGeom>
          <a:solidFill>
            <a:srgbClr val="FEE2E2"/>
          </a:solidFill>
          <a:ln w="1905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3" name="Google Shape;1873;p40"/>
          <p:cNvSpPr/>
          <p:nvPr/>
        </p:nvSpPr>
        <p:spPr>
          <a:xfrm>
            <a:off x="7406640" y="2395728"/>
            <a:ext cx="1389900" cy="567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DC2626"/>
              </a:buClr>
              <a:buSzPts val="1600"/>
              <a:buFont typeface="Calibri"/>
              <a:buNone/>
            </a:pPr>
            <a:r>
              <a:rPr lang="en" sz="1600" b="0" i="0" u="none" strike="noStrike" cap="none">
                <a:solidFill>
                  <a:srgbClr val="DC2626"/>
                </a:solidFill>
                <a:latin typeface="Calibri"/>
                <a:ea typeface="Calibri"/>
                <a:cs typeface="Calibri"/>
                <a:sym typeface="Calibri"/>
              </a:rPr>
              <a:t>😞 −1</a:t>
            </a:r>
            <a:endParaRPr sz="1600" b="0" i="0" u="none" strike="noStrike" cap="none">
              <a:solidFill>
                <a:schemeClr val="dk1"/>
              </a:solidFill>
              <a:latin typeface="Calibri"/>
              <a:ea typeface="Calibri"/>
              <a:cs typeface="Calibri"/>
              <a:sym typeface="Calibri"/>
            </a:endParaRPr>
          </a:p>
        </p:txBody>
      </p:sp>
      <p:sp>
        <p:nvSpPr>
          <p:cNvPr id="1874" name="Google Shape;1874;p40"/>
          <p:cNvSpPr/>
          <p:nvPr/>
        </p:nvSpPr>
        <p:spPr>
          <a:xfrm>
            <a:off x="347472" y="3858768"/>
            <a:ext cx="41604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6A34A"/>
              </a:buClr>
              <a:buSzPts val="1200"/>
              <a:buFont typeface="Calibri"/>
              <a:buNone/>
            </a:pPr>
            <a:r>
              <a:rPr lang="en" sz="1200" b="1" i="0" u="none" strike="noStrike" cap="none">
                <a:solidFill>
                  <a:srgbClr val="16A34A"/>
                </a:solidFill>
                <a:latin typeface="Calibri"/>
                <a:ea typeface="Calibri"/>
                <a:cs typeface="Calibri"/>
                <a:sym typeface="Calibri"/>
              </a:rPr>
              <a:t>✅  What works</a:t>
            </a:r>
            <a:endParaRPr sz="1200" b="0" i="0" u="none" strike="noStrike" cap="none">
              <a:solidFill>
                <a:schemeClr val="dk1"/>
              </a:solidFill>
              <a:latin typeface="Calibri"/>
              <a:ea typeface="Calibri"/>
              <a:cs typeface="Calibri"/>
              <a:sym typeface="Calibri"/>
            </a:endParaRPr>
          </a:p>
        </p:txBody>
      </p:sp>
      <p:sp>
        <p:nvSpPr>
          <p:cNvPr id="1875" name="Google Shape;1875;p40"/>
          <p:cNvSpPr/>
          <p:nvPr/>
        </p:nvSpPr>
        <p:spPr>
          <a:xfrm>
            <a:off x="347472" y="4096512"/>
            <a:ext cx="4160400" cy="621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6A34A"/>
              </a:buClr>
              <a:buSzPts val="1150"/>
              <a:buFont typeface="Calibri"/>
              <a:buNone/>
            </a:pPr>
            <a:r>
              <a:rPr lang="en" sz="1150" b="0" i="0" u="none" strike="noStrike" cap="none">
                <a:solidFill>
                  <a:srgbClr val="16A34A"/>
                </a:solidFill>
                <a:latin typeface="Calibri"/>
                <a:ea typeface="Calibri"/>
                <a:cs typeface="Calibri"/>
                <a:sym typeface="Calibri"/>
              </a:rPr>
              <a:t>• </a:t>
            </a:r>
            <a:r>
              <a:rPr lang="en" sz="1150" b="0" i="0" u="none" strike="noStrike" cap="none">
                <a:solidFill>
                  <a:srgbClr val="111827"/>
                </a:solidFill>
                <a:latin typeface="Calibri"/>
                <a:ea typeface="Calibri"/>
                <a:cs typeface="Calibri"/>
                <a:sym typeface="Calibri"/>
              </a:rPr>
              <a:t>Simple, fast, interpretable weights</a:t>
            </a:r>
            <a:br>
              <a:rPr lang="en" sz="1150" b="0" i="0" u="none" strike="noStrike" cap="none">
                <a:solidFill>
                  <a:srgbClr val="111827"/>
                </a:solidFill>
                <a:latin typeface="Calibri"/>
                <a:ea typeface="Calibri"/>
                <a:cs typeface="Calibri"/>
                <a:sym typeface="Calibri"/>
              </a:rPr>
            </a:br>
            <a:r>
              <a:rPr lang="en" sz="1150" b="0" i="0" u="none" strike="noStrike" cap="none">
                <a:solidFill>
                  <a:srgbClr val="16A34A"/>
                </a:solidFill>
                <a:latin typeface="Calibri"/>
                <a:ea typeface="Calibri"/>
                <a:cs typeface="Calibri"/>
                <a:sym typeface="Calibri"/>
              </a:rPr>
              <a:t>• </a:t>
            </a:r>
            <a:r>
              <a:rPr lang="en" sz="1150" b="0" i="0" u="none" strike="noStrike" cap="none">
                <a:solidFill>
                  <a:srgbClr val="111827"/>
                </a:solidFill>
                <a:latin typeface="Calibri"/>
                <a:ea typeface="Calibri"/>
                <a:cs typeface="Calibri"/>
                <a:sym typeface="Calibri"/>
              </a:rPr>
              <a:t>Works for word-frequency signals</a:t>
            </a:r>
            <a:endParaRPr sz="1150" b="0" i="0" u="none" strike="noStrike" cap="none">
              <a:solidFill>
                <a:schemeClr val="dk1"/>
              </a:solidFill>
              <a:latin typeface="Calibri"/>
              <a:ea typeface="Calibri"/>
              <a:cs typeface="Calibri"/>
              <a:sym typeface="Calibri"/>
            </a:endParaRPr>
          </a:p>
        </p:txBody>
      </p:sp>
      <p:sp>
        <p:nvSpPr>
          <p:cNvPr id="1876" name="Google Shape;1876;p40"/>
          <p:cNvSpPr/>
          <p:nvPr/>
        </p:nvSpPr>
        <p:spPr>
          <a:xfrm>
            <a:off x="4663440" y="3858768"/>
            <a:ext cx="41331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A580C"/>
              </a:buClr>
              <a:buSzPts val="1200"/>
              <a:buFont typeface="Calibri"/>
              <a:buNone/>
            </a:pPr>
            <a:r>
              <a:rPr lang="en" sz="1200" b="1" i="0" u="none" strike="noStrike" cap="none">
                <a:solidFill>
                  <a:srgbClr val="EA580C"/>
                </a:solidFill>
                <a:latin typeface="Calibri"/>
                <a:ea typeface="Calibri"/>
                <a:cs typeface="Calibri"/>
                <a:sym typeface="Calibri"/>
              </a:rPr>
              <a:t>⚠️  What struggles</a:t>
            </a:r>
            <a:endParaRPr sz="1200" b="0" i="0" u="none" strike="noStrike" cap="none">
              <a:solidFill>
                <a:schemeClr val="dk1"/>
              </a:solidFill>
              <a:latin typeface="Calibri"/>
              <a:ea typeface="Calibri"/>
              <a:cs typeface="Calibri"/>
              <a:sym typeface="Calibri"/>
            </a:endParaRPr>
          </a:p>
        </p:txBody>
      </p:sp>
      <p:sp>
        <p:nvSpPr>
          <p:cNvPr id="1877" name="Google Shape;1877;p40"/>
          <p:cNvSpPr/>
          <p:nvPr/>
        </p:nvSpPr>
        <p:spPr>
          <a:xfrm>
            <a:off x="4663440" y="4096512"/>
            <a:ext cx="4133100" cy="621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A580C"/>
              </a:buClr>
              <a:buSzPts val="1150"/>
              <a:buFont typeface="Calibri"/>
              <a:buNone/>
            </a:pPr>
            <a:r>
              <a:rPr lang="en" sz="1150" b="0" i="0" u="none" strike="noStrike" cap="none">
                <a:solidFill>
                  <a:srgbClr val="EA580C"/>
                </a:solidFill>
                <a:latin typeface="Calibri"/>
                <a:ea typeface="Calibri"/>
                <a:cs typeface="Calibri"/>
                <a:sym typeface="Calibri"/>
              </a:rPr>
              <a:t>• </a:t>
            </a:r>
            <a:r>
              <a:rPr lang="en" sz="1150" b="0" i="0" u="none" strike="noStrike" cap="none">
                <a:solidFill>
                  <a:srgbClr val="111827"/>
                </a:solidFill>
                <a:latin typeface="Calibri"/>
                <a:ea typeface="Calibri"/>
                <a:cs typeface="Calibri"/>
                <a:sym typeface="Calibri"/>
              </a:rPr>
              <a:t>"happy" and "joyful" treated as unrelated</a:t>
            </a:r>
            <a:br>
              <a:rPr lang="en" sz="1150" b="0" i="0" u="none" strike="noStrike" cap="none">
                <a:solidFill>
                  <a:srgbClr val="111827"/>
                </a:solidFill>
                <a:latin typeface="Calibri"/>
                <a:ea typeface="Calibri"/>
                <a:cs typeface="Calibri"/>
                <a:sym typeface="Calibri"/>
              </a:rPr>
            </a:br>
            <a:r>
              <a:rPr lang="en" sz="1150" b="0" i="0" u="none" strike="noStrike" cap="none">
                <a:solidFill>
                  <a:srgbClr val="EA580C"/>
                </a:solidFill>
                <a:latin typeface="Calibri"/>
                <a:ea typeface="Calibri"/>
                <a:cs typeface="Calibri"/>
                <a:sym typeface="Calibri"/>
              </a:rPr>
              <a:t>• </a:t>
            </a:r>
            <a:r>
              <a:rPr lang="en" sz="1150" b="0" i="0" u="none" strike="noStrike" cap="none">
                <a:solidFill>
                  <a:srgbClr val="111827"/>
                </a:solidFill>
                <a:latin typeface="Calibri"/>
                <a:ea typeface="Calibri"/>
                <a:cs typeface="Calibri"/>
                <a:sym typeface="Calibri"/>
              </a:rPr>
              <a:t>Sparse vectors → huge, mostly-zero inputs</a:t>
            </a:r>
            <a:endParaRPr sz="1150" b="0" i="0" u="none" strike="noStrike" cap="none">
              <a:solidFill>
                <a:schemeClr val="dk1"/>
              </a:solidFill>
              <a:latin typeface="Calibri"/>
              <a:ea typeface="Calibri"/>
              <a:cs typeface="Calibri"/>
              <a:sym typeface="Calibri"/>
            </a:endParaRPr>
          </a:p>
        </p:txBody>
      </p:sp>
      <p:sp>
        <p:nvSpPr>
          <p:cNvPr id="1878" name="Google Shape;1878;p40"/>
          <p:cNvSpPr/>
          <p:nvPr/>
        </p:nvSpPr>
        <p:spPr>
          <a:xfrm>
            <a:off x="5074920" y="3072000"/>
            <a:ext cx="3721620" cy="755000"/>
          </a:xfrm>
          <a:prstGeom prst="rect">
            <a:avLst/>
          </a:prstGeom>
          <a:solidFill>
            <a:srgbClr val="F0FDFA"/>
          </a:solidFill>
          <a:ln w="12700" cap="flat" cmpd="sng">
            <a:solidFill>
              <a:srgbClr val="0D9488"/>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9" name="Google Shape;1879;p40"/>
          <p:cNvSpPr/>
          <p:nvPr/>
        </p:nvSpPr>
        <p:spPr>
          <a:xfrm>
            <a:off x="5174920" y="3072000"/>
            <a:ext cx="3521620" cy="75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827"/>
              </a:buClr>
              <a:buSzPts val="850"/>
              <a:buFont typeface="Calibri"/>
              <a:buNone/>
            </a:pPr>
            <a:r>
              <a:rPr lang="en" sz="850" b="1" i="0" u="none" strike="noStrike" cap="none">
                <a:solidFill>
                  <a:srgbClr val="0D9488"/>
                </a:solidFill>
                <a:latin typeface="Calibri"/>
                <a:ea typeface="Calibri"/>
                <a:cs typeface="Calibri"/>
                <a:sym typeface="Calibri"/>
              </a:rPr>
              <a:t>How the vectors are built</a:t>
            </a:r>
            <a:endParaRPr sz="850" b="0" i="0" u="none" strike="noStrike" cap="none">
              <a:solidFill>
                <a:schemeClr val="dk1"/>
              </a:solidFill>
              <a:latin typeface="Calibri"/>
              <a:ea typeface="Calibri"/>
              <a:cs typeface="Calibri"/>
              <a:sym typeface="Calibri"/>
            </a:endParaRPr>
          </a:p>
          <a:p>
            <a:pPr marL="0" marR="0" lvl="0" indent="0" algn="l" rtl="0">
              <a:lnSpc>
                <a:spcPct val="100000"/>
              </a:lnSpc>
              <a:spcBef>
                <a:spcPts val="30"/>
              </a:spcBef>
              <a:spcAft>
                <a:spcPts val="0"/>
              </a:spcAft>
              <a:buClr>
                <a:srgbClr val="111827"/>
              </a:buClr>
              <a:buSzPts val="750"/>
              <a:buFont typeface="Calibri"/>
              <a:buNone/>
            </a:pPr>
            <a:r>
              <a:rPr lang="en" sz="750" b="0" i="0" u="none" strike="noStrike" cap="none">
                <a:solidFill>
                  <a:srgbClr val="111827"/>
                </a:solidFill>
                <a:latin typeface="Calibri"/>
                <a:ea typeface="Calibri"/>
                <a:cs typeface="Calibri"/>
                <a:sym typeface="Calibri"/>
              </a:rPr>
              <a:t>Vocab (idx 0–7): the, sad, dog, runs, away, boring, cat, happy</a:t>
            </a:r>
            <a:endParaRPr sz="7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11827"/>
              </a:buClr>
              <a:buSzPts val="750"/>
              <a:buFont typeface="Calibri"/>
              <a:buNone/>
            </a:pPr>
            <a:r>
              <a:rPr lang="en" sz="750" b="0" i="0" u="none" strike="noStrike" cap="none">
                <a:solidFill>
                  <a:srgbClr val="111827"/>
                </a:solidFill>
                <a:latin typeface="Calibri"/>
                <a:ea typeface="Calibri"/>
                <a:cs typeface="Calibri"/>
                <a:sym typeface="Calibri"/>
              </a:rPr>
              <a:t>“The cat is happy” → the,cat,happy (idx 0,6,7) → [1,0,0,0,0,0,1,1]</a:t>
            </a:r>
            <a:endParaRPr sz="7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11827"/>
              </a:buClr>
              <a:buSzPts val="750"/>
              <a:buFont typeface="Calibri"/>
              <a:buNone/>
            </a:pPr>
            <a:r>
              <a:rPr lang="en" sz="750" b="0" i="0" u="none" strike="noStrike" cap="none">
                <a:solidFill>
                  <a:srgbClr val="111827"/>
                </a:solidFill>
                <a:latin typeface="Calibri"/>
                <a:ea typeface="Calibri"/>
                <a:cs typeface="Calibri"/>
                <a:sym typeface="Calibri"/>
              </a:rPr>
              <a:t>“The dog runs away” → the,dog,runs,away (idx 0,2,3,4) → [1,0,1,1,1,0,0,0]</a:t>
            </a:r>
            <a:endParaRPr sz="7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11827"/>
              </a:buClr>
              <a:buSzPts val="750"/>
              <a:buFont typeface="Calibri"/>
              <a:buNone/>
            </a:pPr>
            <a:r>
              <a:rPr lang="en" sz="750" b="0" i="0" u="none" strike="noStrike" cap="none">
                <a:solidFill>
                  <a:srgbClr val="111827"/>
                </a:solidFill>
                <a:latin typeface="Calibri"/>
                <a:ea typeface="Calibri"/>
                <a:cs typeface="Calibri"/>
                <a:sym typeface="Calibri"/>
              </a:rPr>
              <a:t>Sparse vector: mostly 0s — real vocabs have 20,000+ words</a:t>
            </a:r>
            <a:endParaRPr sz="7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11827"/>
              </a:buClr>
              <a:buSzPts val="750"/>
              <a:buFont typeface="Calibri"/>
              <a:buNone/>
            </a:pPr>
            <a:r>
              <a:rPr lang="en" sz="750" b="0" i="0" u="none" strike="noStrike" cap="none">
                <a:solidFill>
                  <a:srgbClr val="111827"/>
                </a:solidFill>
                <a:latin typeface="Calibri"/>
                <a:ea typeface="Calibri"/>
                <a:cs typeface="Calibri"/>
                <a:sym typeface="Calibri"/>
              </a:rPr>
              <a:t>“happy”/“joyful” = separate axes → orthogonal, look unrelated</a:t>
            </a:r>
            <a:endParaRPr sz="750" b="0" i="0" u="none" strike="noStrike" cap="none">
              <a:solidFill>
                <a:schemeClr val="dk1"/>
              </a:solidFill>
              <a:latin typeface="Calibri"/>
              <a:ea typeface="Calibri"/>
              <a:cs typeface="Calibri"/>
              <a:sym typeface="Calibri"/>
            </a:endParaRPr>
          </a:p>
        </p:txBody>
      </p:sp>
      <p:sp>
        <p:nvSpPr>
          <p:cNvPr id="1880" name="Google Shape;1880;p40"/>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58</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85"/>
        <p:cNvGrpSpPr/>
        <p:nvPr/>
      </p:nvGrpSpPr>
      <p:grpSpPr>
        <a:xfrm>
          <a:off x="0" y="0"/>
          <a:ext cx="0" cy="0"/>
          <a:chOff x="0" y="0"/>
          <a:chExt cx="0" cy="0"/>
        </a:xfrm>
      </p:grpSpPr>
      <p:sp>
        <p:nvSpPr>
          <p:cNvPr id="1886" name="Google Shape;1886;p41"/>
          <p:cNvSpPr/>
          <p:nvPr/>
        </p:nvSpPr>
        <p:spPr>
          <a:xfrm>
            <a:off x="0" y="0"/>
            <a:ext cx="109800" cy="5143500"/>
          </a:xfrm>
          <a:prstGeom prst="rect">
            <a:avLst/>
          </a:prstGeom>
          <a:solidFill>
            <a:srgbClr val="0077AA"/>
          </a:solidFill>
          <a:ln w="12700" cap="flat" cmpd="sng">
            <a:solidFill>
              <a:srgbClr val="0077A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7" name="Google Shape;1887;p41"/>
          <p:cNvSpPr/>
          <p:nvPr/>
        </p:nvSpPr>
        <p:spPr>
          <a:xfrm>
            <a:off x="310515" y="1280160"/>
            <a:ext cx="8503800" cy="1463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1F26"/>
              </a:buClr>
              <a:buSzPts val="5200"/>
              <a:buFont typeface="Calibri"/>
              <a:buNone/>
            </a:pPr>
            <a:r>
              <a:rPr lang="en" sz="4400" b="1" i="0" u="none" strike="noStrike" cap="none">
                <a:solidFill>
                  <a:srgbClr val="1A1F26"/>
                </a:solidFill>
                <a:latin typeface="Calibri"/>
                <a:ea typeface="Calibri"/>
                <a:cs typeface="Calibri"/>
                <a:sym typeface="Calibri"/>
              </a:rPr>
              <a:t>One-Hot Vectors</a:t>
            </a:r>
            <a:endParaRPr sz="4400" b="0" i="0" u="none" strike="noStrike" cap="none">
              <a:solidFill>
                <a:schemeClr val="dk1"/>
              </a:solidFill>
              <a:latin typeface="Calibri"/>
              <a:ea typeface="Calibri"/>
              <a:cs typeface="Calibri"/>
              <a:sym typeface="Calibri"/>
            </a:endParaRPr>
          </a:p>
        </p:txBody>
      </p:sp>
      <p:sp>
        <p:nvSpPr>
          <p:cNvPr id="1888" name="Google Shape;1888;p41"/>
          <p:cNvSpPr/>
          <p:nvPr/>
        </p:nvSpPr>
        <p:spPr>
          <a:xfrm>
            <a:off x="320040" y="2834640"/>
            <a:ext cx="8503800" cy="731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270"/>
              </a:buClr>
              <a:buSzPts val="2000"/>
              <a:buFont typeface="Calibri"/>
              <a:buNone/>
            </a:pPr>
            <a:r>
              <a:rPr lang="en" sz="2100" b="0" i="0" u="none" strike="noStrike" cap="none">
                <a:solidFill>
                  <a:srgbClr val="5A6270"/>
                </a:solidFill>
                <a:latin typeface="Calibri"/>
                <a:ea typeface="Calibri"/>
                <a:cs typeface="Calibri"/>
                <a:sym typeface="Calibri"/>
              </a:rPr>
              <a:t>Where every NLP pipeline once began</a:t>
            </a:r>
            <a:endParaRPr sz="2100" b="0" i="0" u="none" strike="noStrike" cap="none">
              <a:solidFill>
                <a:schemeClr val="dk1"/>
              </a:solidFill>
              <a:latin typeface="Calibri"/>
              <a:ea typeface="Calibri"/>
              <a:cs typeface="Calibri"/>
              <a:sym typeface="Calibri"/>
            </a:endParaRPr>
          </a:p>
        </p:txBody>
      </p:sp>
      <p:sp>
        <p:nvSpPr>
          <p:cNvPr id="1889" name="Google Shape;1889;p41"/>
          <p:cNvSpPr/>
          <p:nvPr/>
        </p:nvSpPr>
        <p:spPr>
          <a:xfrm>
            <a:off x="320040" y="4389120"/>
            <a:ext cx="109800" cy="109800"/>
          </a:xfrm>
          <a:prstGeom prst="ellipse">
            <a:avLst/>
          </a:prstGeom>
          <a:solidFill>
            <a:srgbClr val="0077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0" name="Google Shape;1890;p41"/>
          <p:cNvSpPr/>
          <p:nvPr/>
        </p:nvSpPr>
        <p:spPr>
          <a:xfrm>
            <a:off x="640080" y="4389120"/>
            <a:ext cx="109800" cy="109800"/>
          </a:xfrm>
          <a:prstGeom prst="ellipse">
            <a:avLst/>
          </a:prstGeom>
          <a:solidFill>
            <a:srgbClr val="5A62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1" name="Google Shape;1891;p41"/>
          <p:cNvSpPr/>
          <p:nvPr/>
        </p:nvSpPr>
        <p:spPr>
          <a:xfrm>
            <a:off x="960120" y="4389120"/>
            <a:ext cx="109800" cy="109800"/>
          </a:xfrm>
          <a:prstGeom prst="ellipse">
            <a:avLst/>
          </a:prstGeom>
          <a:solidFill>
            <a:srgbClr val="5A62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2" name="Google Shape;1892;p41"/>
          <p:cNvSpPr/>
          <p:nvPr/>
        </p:nvSpPr>
        <p:spPr>
          <a:xfrm>
            <a:off x="1280160" y="4389120"/>
            <a:ext cx="109800" cy="109800"/>
          </a:xfrm>
          <a:prstGeom prst="ellipse">
            <a:avLst/>
          </a:prstGeom>
          <a:solidFill>
            <a:srgbClr val="5A62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3" name="Google Shape;1893;p41"/>
          <p:cNvSpPr/>
          <p:nvPr/>
        </p:nvSpPr>
        <p:spPr>
          <a:xfrm>
            <a:off x="1600200" y="4389120"/>
            <a:ext cx="109800" cy="109800"/>
          </a:xfrm>
          <a:prstGeom prst="ellipse">
            <a:avLst/>
          </a:prstGeom>
          <a:solidFill>
            <a:srgbClr val="5A62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894" name="Google Shape;1894;p41"/>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1895" name="Google Shape;1895;p41"/>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59</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00"/>
        <p:cNvGrpSpPr/>
        <p:nvPr/>
      </p:nvGrpSpPr>
      <p:grpSpPr>
        <a:xfrm>
          <a:off x="0" y="0"/>
          <a:ext cx="0" cy="0"/>
          <a:chOff x="0" y="0"/>
          <a:chExt cx="0" cy="0"/>
        </a:xfrm>
      </p:grpSpPr>
      <p:sp>
        <p:nvSpPr>
          <p:cNvPr id="1901" name="Google Shape;1901;p42"/>
          <p:cNvSpPr/>
          <p:nvPr/>
        </p:nvSpPr>
        <p:spPr>
          <a:xfrm>
            <a:off x="3543857" y="411480"/>
            <a:ext cx="8412600" cy="594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1F26"/>
              </a:buClr>
              <a:buSzPts val="3400"/>
              <a:buFont typeface="Calibri"/>
              <a:buNone/>
            </a:pPr>
            <a:r>
              <a:rPr lang="en" sz="2800" b="1" i="0" u="none" strike="noStrike" cap="none">
                <a:solidFill>
                  <a:srgbClr val="1A1F26"/>
                </a:solidFill>
                <a:latin typeface="Calibri"/>
                <a:ea typeface="Calibri"/>
                <a:cs typeface="Calibri"/>
                <a:sym typeface="Calibri"/>
              </a:rPr>
              <a:t>One-Hot Encoding</a:t>
            </a:r>
            <a:endParaRPr sz="2800" b="0" i="0" u="none" strike="noStrike" cap="none">
              <a:solidFill>
                <a:schemeClr val="dk1"/>
              </a:solidFill>
              <a:latin typeface="Calibri"/>
              <a:ea typeface="Calibri"/>
              <a:cs typeface="Calibri"/>
              <a:sym typeface="Calibri"/>
            </a:endParaRPr>
          </a:p>
        </p:txBody>
      </p:sp>
      <p:sp>
        <p:nvSpPr>
          <p:cNvPr id="1902" name="Google Shape;1902;p42"/>
          <p:cNvSpPr/>
          <p:nvPr/>
        </p:nvSpPr>
        <p:spPr>
          <a:xfrm>
            <a:off x="320040" y="1143000"/>
            <a:ext cx="4755000" cy="3474600"/>
          </a:xfrm>
          <a:prstGeom prst="rect">
            <a:avLst/>
          </a:prstGeom>
          <a:solidFill>
            <a:schemeClr val="lt1"/>
          </a:solidFill>
          <a:ln w="12700" cap="flat" cmpd="sng">
            <a:solidFill>
              <a:srgbClr val="0077AA"/>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3" name="Google Shape;1903;p42"/>
          <p:cNvSpPr/>
          <p:nvPr/>
        </p:nvSpPr>
        <p:spPr>
          <a:xfrm>
            <a:off x="320040" y="1143000"/>
            <a:ext cx="1645800" cy="255900"/>
          </a:xfrm>
          <a:prstGeom prst="rect">
            <a:avLst/>
          </a:prstGeom>
          <a:solidFill>
            <a:schemeClr val="lt1"/>
          </a:solidFill>
          <a:ln w="9525"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4" name="Google Shape;1904;p42"/>
          <p:cNvSpPr/>
          <p:nvPr/>
        </p:nvSpPr>
        <p:spPr>
          <a:xfrm>
            <a:off x="320040" y="1143000"/>
            <a:ext cx="1645800" cy="255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8F9FA"/>
              </a:buClr>
              <a:buSzPts val="900"/>
              <a:buFont typeface="Calibri"/>
              <a:buNone/>
            </a:pPr>
            <a:r>
              <a:rPr lang="en" sz="900" b="1" i="0" u="none" strike="noStrike" cap="none">
                <a:solidFill>
                  <a:schemeClr val="dk1"/>
                </a:solidFill>
                <a:latin typeface="Calibri"/>
                <a:ea typeface="Calibri"/>
                <a:cs typeface="Calibri"/>
                <a:sym typeface="Calibri"/>
              </a:rPr>
              <a:t>Python</a:t>
            </a:r>
            <a:endParaRPr sz="900" b="0" i="0" u="none" strike="noStrike" cap="none">
              <a:solidFill>
                <a:schemeClr val="dk1"/>
              </a:solidFill>
              <a:latin typeface="Calibri"/>
              <a:ea typeface="Calibri"/>
              <a:cs typeface="Calibri"/>
              <a:sym typeface="Calibri"/>
            </a:endParaRPr>
          </a:p>
        </p:txBody>
      </p:sp>
      <p:sp>
        <p:nvSpPr>
          <p:cNvPr id="1905" name="Google Shape;1905;p42"/>
          <p:cNvSpPr/>
          <p:nvPr/>
        </p:nvSpPr>
        <p:spPr>
          <a:xfrm>
            <a:off x="429768" y="1477425"/>
            <a:ext cx="4535400" cy="3072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from sklearn.preprocessing import OneHotEncoder</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import numpy as np</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950"/>
              <a:buFont typeface="Calibri"/>
              <a:buNone/>
            </a:pP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vocab = ["king", "queen", "man", "woman", "cat"]</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 Vocab size = 50,000 in production!</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950"/>
              <a:buFont typeface="Calibri"/>
              <a:buNone/>
            </a:pP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encoder = OneHotEncoder(sparse_output=False)</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vectors = encoder.fit_transform([[w] for w in vocab])</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950"/>
              <a:buFont typeface="Calibri"/>
              <a:buNone/>
            </a:pP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print(vectors.shape)  # (5, 5) → (50000, 50000) in prod</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 king   = [1, 0, 0, 0, 0]</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 queen  = [0, 1, 0, 0, 0]</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 man    = [0, 0, 1, 0, 0]</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950"/>
              <a:buFont typeface="Calibri"/>
              <a:buNone/>
            </a:pP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 Cosine similarity?</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from numpy.linalg import norm</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cos = lambda a,b: np.dot(a,b)/(norm(a)*norm(b))</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print(cos(vectors[0], vectors[1]))  # 0.0 ← king ≠ queen??</a:t>
            </a:r>
            <a:endParaRPr sz="1050" b="0" i="0" u="none" strike="noStrike" cap="none">
              <a:solidFill>
                <a:schemeClr val="dk1"/>
              </a:solidFill>
              <a:latin typeface="Calibri"/>
              <a:ea typeface="Calibri"/>
              <a:cs typeface="Calibri"/>
              <a:sym typeface="Calibri"/>
            </a:endParaRPr>
          </a:p>
        </p:txBody>
      </p:sp>
      <p:sp>
        <p:nvSpPr>
          <p:cNvPr id="1906" name="Google Shape;1906;p42"/>
          <p:cNvSpPr/>
          <p:nvPr/>
        </p:nvSpPr>
        <p:spPr>
          <a:xfrm>
            <a:off x="5303520" y="1143000"/>
            <a:ext cx="3474600" cy="1005900"/>
          </a:xfrm>
          <a:prstGeom prst="rect">
            <a:avLst/>
          </a:prstGeom>
          <a:solidFill>
            <a:schemeClr val="lt1"/>
          </a:solidFill>
          <a:ln w="15225" cap="flat" cmpd="sng">
            <a:solidFill>
              <a:srgbClr val="EF4444"/>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7" name="Google Shape;1907;p42"/>
          <p:cNvSpPr/>
          <p:nvPr/>
        </p:nvSpPr>
        <p:spPr>
          <a:xfrm>
            <a:off x="5303520" y="1143000"/>
            <a:ext cx="3474600" cy="54900"/>
          </a:xfrm>
          <a:prstGeom prst="rect">
            <a:avLst/>
          </a:prstGeom>
          <a:solidFill>
            <a:srgbClr val="EF4444"/>
          </a:solidFill>
          <a:ln w="12700" cap="flat" cmpd="sng">
            <a:solidFill>
              <a:srgbClr val="EF444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8" name="Google Shape;1908;p42"/>
          <p:cNvSpPr/>
          <p:nvPr/>
        </p:nvSpPr>
        <p:spPr>
          <a:xfrm>
            <a:off x="5440680" y="1216152"/>
            <a:ext cx="32004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EF4444"/>
              </a:buClr>
              <a:buSzPts val="1300"/>
              <a:buFont typeface="Calibri"/>
              <a:buNone/>
            </a:pPr>
            <a:r>
              <a:rPr lang="en" sz="1700" b="1" i="0" u="none" strike="noStrike" cap="none">
                <a:solidFill>
                  <a:srgbClr val="EF4444"/>
                </a:solidFill>
                <a:latin typeface="Calibri"/>
                <a:ea typeface="Calibri"/>
                <a:cs typeface="Calibri"/>
                <a:sym typeface="Calibri"/>
              </a:rPr>
              <a:t>⚡  Sparse &amp; Huge</a:t>
            </a:r>
            <a:endParaRPr sz="1700" b="0" i="0" u="none" strike="noStrike" cap="none">
              <a:solidFill>
                <a:schemeClr val="dk1"/>
              </a:solidFill>
              <a:latin typeface="Calibri"/>
              <a:ea typeface="Calibri"/>
              <a:cs typeface="Calibri"/>
              <a:sym typeface="Calibri"/>
            </a:endParaRPr>
          </a:p>
        </p:txBody>
      </p:sp>
      <p:sp>
        <p:nvSpPr>
          <p:cNvPr id="1909" name="Google Shape;1909;p42"/>
          <p:cNvSpPr/>
          <p:nvPr/>
        </p:nvSpPr>
        <p:spPr>
          <a:xfrm>
            <a:off x="5440680" y="1508760"/>
            <a:ext cx="3200400" cy="502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270"/>
              </a:buClr>
              <a:buSzPts val="1050"/>
              <a:buFont typeface="Calibri"/>
              <a:buNone/>
            </a:pPr>
            <a:r>
              <a:rPr lang="en" sz="1200" b="0" i="0" u="none" strike="noStrike" cap="none">
                <a:solidFill>
                  <a:schemeClr val="dk1"/>
                </a:solidFill>
                <a:latin typeface="Calibri"/>
                <a:ea typeface="Calibri"/>
                <a:cs typeface="Calibri"/>
                <a:sym typeface="Calibri"/>
              </a:rPr>
              <a:t>50K vocab → 50K-dim vector. 2.5GB matrix. Most values are 0.</a:t>
            </a:r>
            <a:endParaRPr sz="1200" b="0" i="0" u="none" strike="noStrike" cap="none">
              <a:solidFill>
                <a:schemeClr val="dk1"/>
              </a:solidFill>
              <a:latin typeface="Calibri"/>
              <a:ea typeface="Calibri"/>
              <a:cs typeface="Calibri"/>
              <a:sym typeface="Calibri"/>
            </a:endParaRPr>
          </a:p>
        </p:txBody>
      </p:sp>
      <p:sp>
        <p:nvSpPr>
          <p:cNvPr id="1910" name="Google Shape;1910;p42"/>
          <p:cNvSpPr/>
          <p:nvPr/>
        </p:nvSpPr>
        <p:spPr>
          <a:xfrm>
            <a:off x="5303520" y="2258568"/>
            <a:ext cx="3474600" cy="1005900"/>
          </a:xfrm>
          <a:prstGeom prst="rect">
            <a:avLst/>
          </a:prstGeom>
          <a:solidFill>
            <a:schemeClr val="lt1"/>
          </a:solidFill>
          <a:ln w="15225" cap="flat" cmpd="sng">
            <a:solidFill>
              <a:srgbClr val="C00000"/>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1" name="Google Shape;1911;p42"/>
          <p:cNvSpPr/>
          <p:nvPr/>
        </p:nvSpPr>
        <p:spPr>
          <a:xfrm>
            <a:off x="5303520" y="2258568"/>
            <a:ext cx="3474600" cy="54900"/>
          </a:xfrm>
          <a:prstGeom prst="rect">
            <a:avLst/>
          </a:prstGeom>
          <a:solidFill>
            <a:srgbClr val="EF4444"/>
          </a:solidFill>
          <a:ln w="12700" cap="flat" cmpd="sng">
            <a:solidFill>
              <a:srgbClr val="EF444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2" name="Google Shape;1912;p42"/>
          <p:cNvSpPr/>
          <p:nvPr/>
        </p:nvSpPr>
        <p:spPr>
          <a:xfrm>
            <a:off x="5440680" y="2331720"/>
            <a:ext cx="32004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EF4444"/>
              </a:buClr>
              <a:buSzPts val="1300"/>
              <a:buFont typeface="Calibri"/>
              <a:buNone/>
            </a:pPr>
            <a:r>
              <a:rPr lang="en" sz="1700" b="1" i="0" u="none" strike="noStrike" cap="none">
                <a:solidFill>
                  <a:srgbClr val="EF4444"/>
                </a:solidFill>
                <a:latin typeface="Calibri"/>
                <a:ea typeface="Calibri"/>
                <a:cs typeface="Calibri"/>
                <a:sym typeface="Calibri"/>
              </a:rPr>
              <a:t>🧠  No Semantics</a:t>
            </a:r>
            <a:endParaRPr sz="1700" b="0" i="0" u="none" strike="noStrike" cap="none">
              <a:solidFill>
                <a:schemeClr val="dk1"/>
              </a:solidFill>
              <a:latin typeface="Calibri"/>
              <a:ea typeface="Calibri"/>
              <a:cs typeface="Calibri"/>
              <a:sym typeface="Calibri"/>
            </a:endParaRPr>
          </a:p>
        </p:txBody>
      </p:sp>
      <p:sp>
        <p:nvSpPr>
          <p:cNvPr id="1913" name="Google Shape;1913;p42"/>
          <p:cNvSpPr/>
          <p:nvPr/>
        </p:nvSpPr>
        <p:spPr>
          <a:xfrm>
            <a:off x="5440680" y="2624328"/>
            <a:ext cx="3200400" cy="502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270"/>
              </a:buClr>
              <a:buSzPts val="1050"/>
              <a:buFont typeface="Calibri"/>
              <a:buNone/>
            </a:pPr>
            <a:r>
              <a:rPr lang="en" sz="1200" b="0" i="0" u="none" strike="noStrike" cap="none">
                <a:solidFill>
                  <a:schemeClr val="dk1"/>
                </a:solidFill>
                <a:latin typeface="Calibri"/>
                <a:ea typeface="Calibri"/>
                <a:cs typeface="Calibri"/>
                <a:sym typeface="Calibri"/>
              </a:rPr>
              <a:t>cos(king, queen) = 0.0. The model has no idea they're related.</a:t>
            </a:r>
            <a:endParaRPr sz="1200" b="0" i="0" u="none" strike="noStrike" cap="none">
              <a:solidFill>
                <a:schemeClr val="dk1"/>
              </a:solidFill>
              <a:latin typeface="Calibri"/>
              <a:ea typeface="Calibri"/>
              <a:cs typeface="Calibri"/>
              <a:sym typeface="Calibri"/>
            </a:endParaRPr>
          </a:p>
        </p:txBody>
      </p:sp>
      <p:sp>
        <p:nvSpPr>
          <p:cNvPr id="1914" name="Google Shape;1914;p42"/>
          <p:cNvSpPr/>
          <p:nvPr/>
        </p:nvSpPr>
        <p:spPr>
          <a:xfrm>
            <a:off x="5303520" y="3374136"/>
            <a:ext cx="3474600" cy="1005900"/>
          </a:xfrm>
          <a:prstGeom prst="rect">
            <a:avLst/>
          </a:prstGeom>
          <a:solidFill>
            <a:schemeClr val="lt1"/>
          </a:solidFill>
          <a:ln w="15225" cap="flat" cmpd="sng">
            <a:solidFill>
              <a:srgbClr val="EF4444"/>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5" name="Google Shape;1915;p42"/>
          <p:cNvSpPr/>
          <p:nvPr/>
        </p:nvSpPr>
        <p:spPr>
          <a:xfrm>
            <a:off x="5303520" y="3374136"/>
            <a:ext cx="3474600" cy="54900"/>
          </a:xfrm>
          <a:prstGeom prst="rect">
            <a:avLst/>
          </a:prstGeom>
          <a:solidFill>
            <a:srgbClr val="EF4444"/>
          </a:solidFill>
          <a:ln w="12700" cap="flat" cmpd="sng">
            <a:solidFill>
              <a:srgbClr val="EF444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6" name="Google Shape;1916;p42"/>
          <p:cNvSpPr/>
          <p:nvPr/>
        </p:nvSpPr>
        <p:spPr>
          <a:xfrm>
            <a:off x="5440680" y="3447288"/>
            <a:ext cx="32004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EF4444"/>
              </a:buClr>
              <a:buSzPts val="1300"/>
              <a:buFont typeface="Calibri"/>
              <a:buNone/>
            </a:pPr>
            <a:r>
              <a:rPr lang="en" sz="1700" b="1" i="0" u="none" strike="noStrike" cap="none">
                <a:solidFill>
                  <a:srgbClr val="EF4444"/>
                </a:solidFill>
                <a:latin typeface="Calibri"/>
                <a:ea typeface="Calibri"/>
                <a:cs typeface="Calibri"/>
                <a:sym typeface="Calibri"/>
              </a:rPr>
              <a:t>🔗  No Relationships</a:t>
            </a:r>
            <a:endParaRPr sz="1700" b="0" i="0" u="none" strike="noStrike" cap="none">
              <a:solidFill>
                <a:schemeClr val="dk1"/>
              </a:solidFill>
              <a:latin typeface="Calibri"/>
              <a:ea typeface="Calibri"/>
              <a:cs typeface="Calibri"/>
              <a:sym typeface="Calibri"/>
            </a:endParaRPr>
          </a:p>
        </p:txBody>
      </p:sp>
      <p:sp>
        <p:nvSpPr>
          <p:cNvPr id="1917" name="Google Shape;1917;p42"/>
          <p:cNvSpPr/>
          <p:nvPr/>
        </p:nvSpPr>
        <p:spPr>
          <a:xfrm>
            <a:off x="5440680" y="3739896"/>
            <a:ext cx="3200400" cy="502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270"/>
              </a:buClr>
              <a:buSzPts val="1050"/>
              <a:buFont typeface="Calibri"/>
              <a:buNone/>
            </a:pPr>
            <a:r>
              <a:rPr lang="en" sz="1200" b="0" i="0" u="none" strike="noStrike" cap="none">
                <a:solidFill>
                  <a:schemeClr val="dk1"/>
                </a:solidFill>
                <a:latin typeface="Calibri"/>
                <a:ea typeface="Calibri"/>
                <a:cs typeface="Calibri"/>
                <a:sym typeface="Calibri"/>
              </a:rPr>
              <a:t>king − man + woman = ??? The math is meaningless.</a:t>
            </a:r>
            <a:endParaRPr sz="1200" b="0" i="0" u="none" strike="noStrike" cap="none">
              <a:solidFill>
                <a:schemeClr val="dk1"/>
              </a:solidFill>
              <a:latin typeface="Calibri"/>
              <a:ea typeface="Calibri"/>
              <a:cs typeface="Calibri"/>
              <a:sym typeface="Calibri"/>
            </a:endParaRPr>
          </a:p>
        </p:txBody>
      </p:sp>
      <p:sp>
        <p:nvSpPr>
          <p:cNvPr id="1918" name="Google Shape;1918;p42"/>
          <p:cNvSpPr/>
          <p:nvPr/>
        </p:nvSpPr>
        <p:spPr>
          <a:xfrm>
            <a:off x="320040" y="4663440"/>
            <a:ext cx="8503800" cy="34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59E0B"/>
              </a:buClr>
              <a:buSzPts val="1300"/>
              <a:buFont typeface="Calibri"/>
              <a:buNone/>
            </a:pPr>
            <a:r>
              <a:rPr lang="en" sz="1400" b="1" i="0" u="none" strike="noStrike" cap="none">
                <a:solidFill>
                  <a:schemeClr val="dk1"/>
                </a:solidFill>
                <a:latin typeface="Calibri"/>
                <a:ea typeface="Calibri"/>
                <a:cs typeface="Calibri"/>
                <a:sym typeface="Calibri"/>
              </a:rPr>
              <a:t>→  We need dense, meaningful representations.</a:t>
            </a:r>
            <a:endParaRPr sz="1400" b="0" i="0" u="none" strike="noStrike" cap="none">
              <a:solidFill>
                <a:schemeClr val="dk1"/>
              </a:solidFill>
              <a:latin typeface="Calibri"/>
              <a:ea typeface="Calibri"/>
              <a:cs typeface="Calibri"/>
              <a:sym typeface="Calibri"/>
            </a:endParaRPr>
          </a:p>
        </p:txBody>
      </p:sp>
      <p:pic>
        <p:nvPicPr>
          <p:cNvPr id="1919" name="Google Shape;1919;p42"/>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1920" name="Google Shape;1920;p42"/>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60</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960"/>
        <p:cNvGrpSpPr/>
        <p:nvPr/>
      </p:nvGrpSpPr>
      <p:grpSpPr>
        <a:xfrm>
          <a:off x="0" y="0"/>
          <a:ext cx="0" cy="0"/>
          <a:chOff x="0" y="0"/>
          <a:chExt cx="0" cy="0"/>
        </a:xfrm>
      </p:grpSpPr>
      <p:sp>
        <p:nvSpPr>
          <p:cNvPr id="1961" name="Google Shape;1961;p47"/>
          <p:cNvSpPr/>
          <p:nvPr/>
        </p:nvSpPr>
        <p:spPr>
          <a:xfrm>
            <a:off x="0" y="0"/>
            <a:ext cx="9144000" cy="960000"/>
          </a:xfrm>
          <a:prstGeom prst="rect">
            <a:avLst/>
          </a:prstGeom>
          <a:solidFill>
            <a:srgbClr val="0F1E3C"/>
          </a:solidFill>
          <a:ln w="12700" cap="flat" cmpd="sng">
            <a:solidFill>
              <a:srgbClr val="0F1E3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2" name="Google Shape;1962;p47"/>
          <p:cNvSpPr/>
          <p:nvPr/>
        </p:nvSpPr>
        <p:spPr>
          <a:xfrm>
            <a:off x="365760" y="91440"/>
            <a:ext cx="8412600" cy="68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800"/>
              <a:buFont typeface="Calibri"/>
              <a:buNone/>
            </a:pPr>
            <a:r>
              <a:rPr lang="en" sz="2800" b="1" i="0" u="none" strike="noStrike" cap="none">
                <a:solidFill>
                  <a:srgbClr val="FFFFFF"/>
                </a:solidFill>
                <a:latin typeface="Calibri"/>
                <a:ea typeface="Calibri"/>
                <a:cs typeface="Calibri"/>
                <a:sym typeface="Calibri"/>
              </a:rPr>
              <a:t>The Search Engine Synonym Problem</a:t>
            </a:r>
            <a:endParaRPr sz="2800" b="0" i="0" u="none" strike="noStrike" cap="none">
              <a:solidFill>
                <a:srgbClr val="000000"/>
              </a:solidFill>
              <a:latin typeface="Calibri"/>
              <a:ea typeface="Calibri"/>
              <a:cs typeface="Calibri"/>
              <a:sym typeface="Calibri"/>
            </a:endParaRPr>
          </a:p>
        </p:txBody>
      </p:sp>
      <p:sp>
        <p:nvSpPr>
          <p:cNvPr id="1963" name="Google Shape;1963;p47"/>
          <p:cNvSpPr/>
          <p:nvPr/>
        </p:nvSpPr>
        <p:spPr>
          <a:xfrm>
            <a:off x="365760" y="1097280"/>
            <a:ext cx="8412600" cy="1234500"/>
          </a:xfrm>
          <a:prstGeom prst="rect">
            <a:avLst/>
          </a:prstGeom>
          <a:solidFill>
            <a:srgbClr val="EAF6FB"/>
          </a:solidFill>
          <a:ln w="25400" cap="flat" cmpd="sng">
            <a:solidFill>
              <a:srgbClr val="00B4D8"/>
            </a:solidFill>
            <a:prstDash val="solid"/>
            <a:round/>
            <a:headEnd type="none" w="sm" len="sm"/>
            <a:tailEnd type="none" w="sm" len="sm"/>
          </a:ln>
          <a:effectLst>
            <a:outerShdw blurRad="101600" dist="38100" dir="8100000" algn="bl" rotWithShape="0">
              <a:srgbClr val="000000">
                <a:alpha val="1215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4" name="Google Shape;1964;p47"/>
          <p:cNvSpPr/>
          <p:nvPr/>
        </p:nvSpPr>
        <p:spPr>
          <a:xfrm>
            <a:off x="548640" y="1170432"/>
            <a:ext cx="8046600" cy="502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E3C"/>
              </a:buClr>
              <a:buSzPts val="1500"/>
              <a:buFont typeface="Calibri"/>
              <a:buNone/>
            </a:pPr>
            <a:r>
              <a:rPr lang="en" sz="1500" b="1" i="0" u="none" strike="noStrike" cap="none">
                <a:solidFill>
                  <a:srgbClr val="0F1E3C"/>
                </a:solidFill>
                <a:latin typeface="Calibri"/>
                <a:ea typeface="Calibri"/>
                <a:cs typeface="Calibri"/>
                <a:sym typeface="Calibri"/>
              </a:rPr>
              <a:t>📋  Scenario: </a:t>
            </a:r>
            <a:r>
              <a:rPr lang="en" sz="1500" b="0" i="0" u="none" strike="noStrike" cap="none">
                <a:solidFill>
                  <a:srgbClr val="0F1E3C"/>
                </a:solidFill>
                <a:latin typeface="Calibri"/>
                <a:ea typeface="Calibri"/>
                <a:cs typeface="Calibri"/>
                <a:sym typeface="Calibri"/>
              </a:rPr>
              <a:t>A search engine observes that users who search </a:t>
            </a:r>
            <a:r>
              <a:rPr lang="en" sz="1500" b="1" i="0" u="none" strike="noStrike" cap="none">
                <a:solidFill>
                  <a:srgbClr val="00B4D8"/>
                </a:solidFill>
                <a:latin typeface="Calibri"/>
                <a:ea typeface="Calibri"/>
                <a:cs typeface="Calibri"/>
                <a:sym typeface="Calibri"/>
              </a:rPr>
              <a:t>"car"</a:t>
            </a:r>
            <a:r>
              <a:rPr lang="en" sz="1500" b="0" i="0" u="none" strike="noStrike" cap="none">
                <a:solidFill>
                  <a:srgbClr val="0F1E3C"/>
                </a:solidFill>
                <a:latin typeface="Calibri"/>
                <a:ea typeface="Calibri"/>
                <a:cs typeface="Calibri"/>
                <a:sym typeface="Calibri"/>
              </a:rPr>
              <a:t> often click the same pages as users who search </a:t>
            </a:r>
            <a:r>
              <a:rPr lang="en" sz="1500" b="1" i="0" u="none" strike="noStrike" cap="none">
                <a:solidFill>
                  <a:srgbClr val="00B4D8"/>
                </a:solidFill>
                <a:latin typeface="Calibri"/>
                <a:ea typeface="Calibri"/>
                <a:cs typeface="Calibri"/>
                <a:sym typeface="Calibri"/>
              </a:rPr>
              <a:t>"automobile".</a:t>
            </a:r>
            <a:endParaRPr sz="1500" b="0" i="0" u="none" strike="noStrike" cap="none">
              <a:solidFill>
                <a:srgbClr val="000000"/>
              </a:solidFill>
              <a:latin typeface="Calibri"/>
              <a:ea typeface="Calibri"/>
              <a:cs typeface="Calibri"/>
              <a:sym typeface="Calibri"/>
            </a:endParaRPr>
          </a:p>
        </p:txBody>
      </p:sp>
      <p:sp>
        <p:nvSpPr>
          <p:cNvPr id="1965" name="Google Shape;1965;p47"/>
          <p:cNvSpPr/>
          <p:nvPr/>
        </p:nvSpPr>
        <p:spPr>
          <a:xfrm>
            <a:off x="548640" y="1691640"/>
            <a:ext cx="8046600" cy="502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E63946"/>
              </a:buClr>
              <a:buSzPts val="1500"/>
              <a:buFont typeface="Calibri"/>
              <a:buNone/>
            </a:pPr>
            <a:r>
              <a:rPr lang="en" sz="1500" b="1" i="0" u="none" strike="noStrike" cap="none">
                <a:solidFill>
                  <a:srgbClr val="E63946"/>
                </a:solidFill>
                <a:latin typeface="Calibri"/>
                <a:ea typeface="Calibri"/>
                <a:cs typeface="Calibri"/>
                <a:sym typeface="Calibri"/>
              </a:rPr>
              <a:t>🔍  Observation: </a:t>
            </a:r>
            <a:r>
              <a:rPr lang="en" sz="1500" b="0" i="0" u="none" strike="noStrike" cap="none">
                <a:solidFill>
                  <a:srgbClr val="0F1E3C"/>
                </a:solidFill>
                <a:latin typeface="Calibri"/>
                <a:ea typeface="Calibri"/>
                <a:cs typeface="Calibri"/>
                <a:sym typeface="Calibri"/>
              </a:rPr>
              <a:t>Despite identical intent, the system returns different results — it treats the two words as completely unrelated.</a:t>
            </a:r>
            <a:endParaRPr sz="1500" b="0" i="0" u="none" strike="noStrike" cap="none">
              <a:solidFill>
                <a:srgbClr val="000000"/>
              </a:solidFill>
              <a:latin typeface="Calibri"/>
              <a:ea typeface="Calibri"/>
              <a:cs typeface="Calibri"/>
              <a:sym typeface="Calibri"/>
            </a:endParaRPr>
          </a:p>
        </p:txBody>
      </p:sp>
      <p:sp>
        <p:nvSpPr>
          <p:cNvPr id="1966" name="Google Shape;1966;p47"/>
          <p:cNvSpPr/>
          <p:nvPr/>
        </p:nvSpPr>
        <p:spPr>
          <a:xfrm>
            <a:off x="365760" y="2487168"/>
            <a:ext cx="8412600" cy="594300"/>
          </a:xfrm>
          <a:prstGeom prst="rect">
            <a:avLst/>
          </a:prstGeom>
          <a:solidFill>
            <a:srgbClr val="0F1E3C"/>
          </a:solidFill>
          <a:ln w="12700" cap="flat" cmpd="sng">
            <a:solidFill>
              <a:srgbClr val="0F1E3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7" name="Google Shape;1967;p47"/>
          <p:cNvSpPr/>
          <p:nvPr/>
        </p:nvSpPr>
        <p:spPr>
          <a:xfrm>
            <a:off x="548640" y="2578608"/>
            <a:ext cx="80466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600"/>
              <a:buFont typeface="Calibri"/>
              <a:buNone/>
            </a:pPr>
            <a:r>
              <a:rPr lang="en" sz="1600" b="1" i="0" u="none" strike="noStrike" cap="none">
                <a:solidFill>
                  <a:srgbClr val="FFFFFF"/>
                </a:solidFill>
                <a:latin typeface="Calibri"/>
                <a:ea typeface="Calibri"/>
                <a:cs typeface="Calibri"/>
                <a:sym typeface="Calibri"/>
              </a:rPr>
              <a:t>❓  Question: As an engineer, which approach do you choose to fix this?</a:t>
            </a:r>
            <a:endParaRPr sz="1600" b="0" i="0" u="none" strike="noStrike" cap="none">
              <a:solidFill>
                <a:srgbClr val="000000"/>
              </a:solidFill>
              <a:latin typeface="Calibri"/>
              <a:ea typeface="Calibri"/>
              <a:cs typeface="Calibri"/>
              <a:sym typeface="Calibri"/>
            </a:endParaRPr>
          </a:p>
        </p:txBody>
      </p:sp>
      <p:sp>
        <p:nvSpPr>
          <p:cNvPr id="1968" name="Google Shape;1968;p47"/>
          <p:cNvSpPr/>
          <p:nvPr/>
        </p:nvSpPr>
        <p:spPr>
          <a:xfrm>
            <a:off x="365760" y="3246120"/>
            <a:ext cx="8412600" cy="347400"/>
          </a:xfrm>
          <a:prstGeom prst="rect">
            <a:avLst/>
          </a:prstGeom>
          <a:solidFill>
            <a:srgbClr val="F5F7FA"/>
          </a:solidFill>
          <a:ln w="12700" cap="flat" cmpd="sng">
            <a:solidFill>
              <a:srgbClr val="DDE8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9" name="Google Shape;1969;p47"/>
          <p:cNvSpPr/>
          <p:nvPr/>
        </p:nvSpPr>
        <p:spPr>
          <a:xfrm>
            <a:off x="365760" y="3246120"/>
            <a:ext cx="347400" cy="347400"/>
          </a:xfrm>
          <a:prstGeom prst="rect">
            <a:avLst/>
          </a:prstGeom>
          <a:solidFill>
            <a:srgbClr val="0096B4"/>
          </a:solidFill>
          <a:ln w="12700" cap="flat" cmpd="sng">
            <a:solidFill>
              <a:srgbClr val="0096B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0" name="Google Shape;1970;p47"/>
          <p:cNvSpPr/>
          <p:nvPr/>
        </p:nvSpPr>
        <p:spPr>
          <a:xfrm>
            <a:off x="365760" y="3246120"/>
            <a:ext cx="3474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300"/>
              <a:buFont typeface="Calibri"/>
              <a:buNone/>
            </a:pPr>
            <a:r>
              <a:rPr lang="en" sz="1300" b="1" i="0" u="none" strike="noStrike" cap="none">
                <a:solidFill>
                  <a:srgbClr val="FFFFFF"/>
                </a:solidFill>
                <a:latin typeface="Calibri"/>
                <a:ea typeface="Calibri"/>
                <a:cs typeface="Calibri"/>
                <a:sym typeface="Calibri"/>
              </a:rPr>
              <a:t>A</a:t>
            </a:r>
            <a:endParaRPr sz="1300" b="0" i="0" u="none" strike="noStrike" cap="none">
              <a:solidFill>
                <a:srgbClr val="000000"/>
              </a:solidFill>
              <a:latin typeface="Calibri"/>
              <a:ea typeface="Calibri"/>
              <a:cs typeface="Calibri"/>
              <a:sym typeface="Calibri"/>
            </a:endParaRPr>
          </a:p>
        </p:txBody>
      </p:sp>
      <p:sp>
        <p:nvSpPr>
          <p:cNvPr id="1971" name="Google Shape;1971;p47"/>
          <p:cNvSpPr/>
          <p:nvPr/>
        </p:nvSpPr>
        <p:spPr>
          <a:xfrm>
            <a:off x="777240" y="3282696"/>
            <a:ext cx="78639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300"/>
              <a:buFont typeface="Calibri"/>
              <a:buNone/>
            </a:pPr>
            <a:r>
              <a:rPr lang="en" sz="1300" b="0" i="0" u="none" strike="noStrike" cap="none">
                <a:solidFill>
                  <a:srgbClr val="0F1E3C"/>
                </a:solidFill>
                <a:latin typeface="Calibri"/>
                <a:ea typeface="Calibri"/>
                <a:cs typeface="Calibri"/>
                <a:sym typeface="Calibri"/>
              </a:rPr>
              <a:t>One-hot representations + cosine similarity</a:t>
            </a:r>
            <a:endParaRPr sz="1300" b="0" i="0" u="none" strike="noStrike" cap="none">
              <a:solidFill>
                <a:srgbClr val="000000"/>
              </a:solidFill>
              <a:latin typeface="Calibri"/>
              <a:ea typeface="Calibri"/>
              <a:cs typeface="Calibri"/>
              <a:sym typeface="Calibri"/>
            </a:endParaRPr>
          </a:p>
        </p:txBody>
      </p:sp>
      <p:sp>
        <p:nvSpPr>
          <p:cNvPr id="1972" name="Google Shape;1972;p47"/>
          <p:cNvSpPr/>
          <p:nvPr/>
        </p:nvSpPr>
        <p:spPr>
          <a:xfrm>
            <a:off x="365760" y="3666744"/>
            <a:ext cx="8412600" cy="347400"/>
          </a:xfrm>
          <a:prstGeom prst="rect">
            <a:avLst/>
          </a:prstGeom>
          <a:solidFill>
            <a:srgbClr val="F5F7FA"/>
          </a:solidFill>
          <a:ln w="12700" cap="flat" cmpd="sng">
            <a:solidFill>
              <a:srgbClr val="DDE8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3" name="Google Shape;1973;p47"/>
          <p:cNvSpPr/>
          <p:nvPr/>
        </p:nvSpPr>
        <p:spPr>
          <a:xfrm>
            <a:off x="365760" y="3666744"/>
            <a:ext cx="347400" cy="347400"/>
          </a:xfrm>
          <a:prstGeom prst="rect">
            <a:avLst/>
          </a:prstGeom>
          <a:solidFill>
            <a:srgbClr val="0096B4"/>
          </a:solidFill>
          <a:ln w="12700" cap="flat" cmpd="sng">
            <a:solidFill>
              <a:srgbClr val="0096B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4" name="Google Shape;1974;p47"/>
          <p:cNvSpPr/>
          <p:nvPr/>
        </p:nvSpPr>
        <p:spPr>
          <a:xfrm>
            <a:off x="365760" y="3666744"/>
            <a:ext cx="3474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300"/>
              <a:buFont typeface="Calibri"/>
              <a:buNone/>
            </a:pPr>
            <a:r>
              <a:rPr lang="en" sz="1300" b="1" i="0" u="none" strike="noStrike" cap="none">
                <a:solidFill>
                  <a:srgbClr val="FFFFFF"/>
                </a:solidFill>
                <a:latin typeface="Calibri"/>
                <a:ea typeface="Calibri"/>
                <a:cs typeface="Calibri"/>
                <a:sym typeface="Calibri"/>
              </a:rPr>
              <a:t>B</a:t>
            </a:r>
            <a:endParaRPr sz="1300" b="0" i="0" u="none" strike="noStrike" cap="none">
              <a:solidFill>
                <a:srgbClr val="000000"/>
              </a:solidFill>
              <a:latin typeface="Calibri"/>
              <a:ea typeface="Calibri"/>
              <a:cs typeface="Calibri"/>
              <a:sym typeface="Calibri"/>
            </a:endParaRPr>
          </a:p>
        </p:txBody>
      </p:sp>
      <p:sp>
        <p:nvSpPr>
          <p:cNvPr id="1975" name="Google Shape;1975;p47"/>
          <p:cNvSpPr/>
          <p:nvPr/>
        </p:nvSpPr>
        <p:spPr>
          <a:xfrm>
            <a:off x="777240" y="3703320"/>
            <a:ext cx="78639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300"/>
              <a:buFont typeface="Calibri"/>
              <a:buNone/>
            </a:pPr>
            <a:r>
              <a:rPr lang="en" sz="1300" b="0" i="0" u="none" strike="noStrike" cap="none">
                <a:solidFill>
                  <a:srgbClr val="0F1E3C"/>
                </a:solidFill>
                <a:latin typeface="Calibri"/>
                <a:ea typeface="Calibri"/>
                <a:cs typeface="Calibri"/>
                <a:sym typeface="Calibri"/>
              </a:rPr>
              <a:t>Hardcoded synonym table (car ↔ automobile)</a:t>
            </a:r>
            <a:endParaRPr sz="1300" b="0" i="0" u="none" strike="noStrike" cap="none">
              <a:solidFill>
                <a:srgbClr val="000000"/>
              </a:solidFill>
              <a:latin typeface="Calibri"/>
              <a:ea typeface="Calibri"/>
              <a:cs typeface="Calibri"/>
              <a:sym typeface="Calibri"/>
            </a:endParaRPr>
          </a:p>
        </p:txBody>
      </p:sp>
      <p:sp>
        <p:nvSpPr>
          <p:cNvPr id="1976" name="Google Shape;1976;p47"/>
          <p:cNvSpPr/>
          <p:nvPr/>
        </p:nvSpPr>
        <p:spPr>
          <a:xfrm>
            <a:off x="365760" y="4087368"/>
            <a:ext cx="8412600" cy="347400"/>
          </a:xfrm>
          <a:prstGeom prst="rect">
            <a:avLst/>
          </a:prstGeom>
          <a:solidFill>
            <a:srgbClr val="F5F7FA"/>
          </a:solidFill>
          <a:ln w="12700" cap="flat" cmpd="sng">
            <a:solidFill>
              <a:srgbClr val="DDE8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7" name="Google Shape;1977;p47"/>
          <p:cNvSpPr/>
          <p:nvPr/>
        </p:nvSpPr>
        <p:spPr>
          <a:xfrm>
            <a:off x="365760" y="4087368"/>
            <a:ext cx="347400" cy="347400"/>
          </a:xfrm>
          <a:prstGeom prst="rect">
            <a:avLst/>
          </a:prstGeom>
          <a:solidFill>
            <a:srgbClr val="0096B4"/>
          </a:solidFill>
          <a:ln w="12700" cap="flat" cmpd="sng">
            <a:solidFill>
              <a:srgbClr val="0096B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8" name="Google Shape;1978;p47"/>
          <p:cNvSpPr/>
          <p:nvPr/>
        </p:nvSpPr>
        <p:spPr>
          <a:xfrm>
            <a:off x="365760" y="4087368"/>
            <a:ext cx="3474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300"/>
              <a:buFont typeface="Calibri"/>
              <a:buNone/>
            </a:pPr>
            <a:r>
              <a:rPr lang="en" sz="1300" b="1" i="0" u="none" strike="noStrike" cap="none">
                <a:solidFill>
                  <a:srgbClr val="FFFFFF"/>
                </a:solidFill>
                <a:latin typeface="Calibri"/>
                <a:ea typeface="Calibri"/>
                <a:cs typeface="Calibri"/>
                <a:sym typeface="Calibri"/>
              </a:rPr>
              <a:t>C</a:t>
            </a:r>
            <a:endParaRPr sz="1300" b="0" i="0" u="none" strike="noStrike" cap="none">
              <a:solidFill>
                <a:srgbClr val="000000"/>
              </a:solidFill>
              <a:latin typeface="Calibri"/>
              <a:ea typeface="Calibri"/>
              <a:cs typeface="Calibri"/>
              <a:sym typeface="Calibri"/>
            </a:endParaRPr>
          </a:p>
        </p:txBody>
      </p:sp>
      <p:sp>
        <p:nvSpPr>
          <p:cNvPr id="1979" name="Google Shape;1979;p47"/>
          <p:cNvSpPr/>
          <p:nvPr/>
        </p:nvSpPr>
        <p:spPr>
          <a:xfrm>
            <a:off x="777240" y="4123944"/>
            <a:ext cx="78639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300"/>
              <a:buFont typeface="Calibri"/>
              <a:buNone/>
            </a:pPr>
            <a:r>
              <a:rPr lang="en" sz="1300" b="0" i="0" u="none" strike="noStrike" cap="none">
                <a:solidFill>
                  <a:srgbClr val="0F1E3C"/>
                </a:solidFill>
                <a:latin typeface="Calibri"/>
                <a:ea typeface="Calibri"/>
                <a:cs typeface="Calibri"/>
                <a:sym typeface="Calibri"/>
              </a:rPr>
              <a:t>PCA on one-hot vectors</a:t>
            </a:r>
            <a:endParaRPr sz="1300" b="0" i="0" u="none" strike="noStrike" cap="none">
              <a:solidFill>
                <a:srgbClr val="000000"/>
              </a:solidFill>
              <a:latin typeface="Calibri"/>
              <a:ea typeface="Calibri"/>
              <a:cs typeface="Calibri"/>
              <a:sym typeface="Calibri"/>
            </a:endParaRPr>
          </a:p>
        </p:txBody>
      </p:sp>
      <p:sp>
        <p:nvSpPr>
          <p:cNvPr id="1980" name="Google Shape;1980;p47"/>
          <p:cNvSpPr/>
          <p:nvPr/>
        </p:nvSpPr>
        <p:spPr>
          <a:xfrm>
            <a:off x="365760" y="4507992"/>
            <a:ext cx="8412600" cy="347400"/>
          </a:xfrm>
          <a:prstGeom prst="rect">
            <a:avLst/>
          </a:prstGeom>
          <a:solidFill>
            <a:srgbClr val="F5F7FA"/>
          </a:solidFill>
          <a:ln w="12700" cap="flat" cmpd="sng">
            <a:solidFill>
              <a:srgbClr val="DDE8E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1" name="Google Shape;1981;p47"/>
          <p:cNvSpPr/>
          <p:nvPr/>
        </p:nvSpPr>
        <p:spPr>
          <a:xfrm>
            <a:off x="365760" y="4507992"/>
            <a:ext cx="347400" cy="347400"/>
          </a:xfrm>
          <a:prstGeom prst="rect">
            <a:avLst/>
          </a:prstGeom>
          <a:solidFill>
            <a:srgbClr val="0096B4"/>
          </a:solidFill>
          <a:ln w="12700" cap="flat" cmpd="sng">
            <a:solidFill>
              <a:srgbClr val="0096B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2" name="Google Shape;1982;p47"/>
          <p:cNvSpPr/>
          <p:nvPr/>
        </p:nvSpPr>
        <p:spPr>
          <a:xfrm>
            <a:off x="365760" y="4507992"/>
            <a:ext cx="3474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300"/>
              <a:buFont typeface="Calibri"/>
              <a:buNone/>
            </a:pPr>
            <a:r>
              <a:rPr lang="en" sz="1300" b="1" i="0" u="none" strike="noStrike" cap="none">
                <a:solidFill>
                  <a:srgbClr val="FFFFFF"/>
                </a:solidFill>
                <a:latin typeface="Calibri"/>
                <a:ea typeface="Calibri"/>
                <a:cs typeface="Calibri"/>
                <a:sym typeface="Calibri"/>
              </a:rPr>
              <a:t>D</a:t>
            </a:r>
            <a:endParaRPr sz="1300" b="0" i="0" u="none" strike="noStrike" cap="none">
              <a:solidFill>
                <a:srgbClr val="000000"/>
              </a:solidFill>
              <a:latin typeface="Calibri"/>
              <a:ea typeface="Calibri"/>
              <a:cs typeface="Calibri"/>
              <a:sym typeface="Calibri"/>
            </a:endParaRPr>
          </a:p>
        </p:txBody>
      </p:sp>
      <p:sp>
        <p:nvSpPr>
          <p:cNvPr id="1983" name="Google Shape;1983;p47"/>
          <p:cNvSpPr/>
          <p:nvPr/>
        </p:nvSpPr>
        <p:spPr>
          <a:xfrm>
            <a:off x="777240" y="4544568"/>
            <a:ext cx="78639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300"/>
              <a:buFont typeface="Calibri"/>
              <a:buNone/>
            </a:pPr>
            <a:r>
              <a:rPr lang="en" sz="1300" b="0" i="0" u="none" strike="noStrike" cap="none">
                <a:solidFill>
                  <a:srgbClr val="0F1E3C"/>
                </a:solidFill>
                <a:latin typeface="Calibri"/>
                <a:ea typeface="Calibri"/>
                <a:cs typeface="Calibri"/>
                <a:sym typeface="Calibri"/>
              </a:rPr>
              <a:t>None of the above</a:t>
            </a:r>
            <a:endParaRPr sz="1300" b="0" i="0" u="none" strike="noStrike" cap="none">
              <a:solidFill>
                <a:srgbClr val="000000"/>
              </a:solidFill>
              <a:latin typeface="Calibri"/>
              <a:ea typeface="Calibri"/>
              <a:cs typeface="Calibri"/>
              <a:sym typeface="Calibri"/>
            </a:endParaRPr>
          </a:p>
        </p:txBody>
      </p:sp>
      <p:sp>
        <p:nvSpPr>
          <p:cNvPr id="1984" name="Google Shape;1984;p47"/>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65</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988"/>
        <p:cNvGrpSpPr/>
        <p:nvPr/>
      </p:nvGrpSpPr>
      <p:grpSpPr>
        <a:xfrm>
          <a:off x="0" y="0"/>
          <a:ext cx="0" cy="0"/>
          <a:chOff x="0" y="0"/>
          <a:chExt cx="0" cy="0"/>
        </a:xfrm>
      </p:grpSpPr>
      <p:sp>
        <p:nvSpPr>
          <p:cNvPr id="1989" name="Google Shape;1989;p48"/>
          <p:cNvSpPr/>
          <p:nvPr/>
        </p:nvSpPr>
        <p:spPr>
          <a:xfrm>
            <a:off x="0" y="0"/>
            <a:ext cx="9144000" cy="960000"/>
          </a:xfrm>
          <a:prstGeom prst="rect">
            <a:avLst/>
          </a:prstGeom>
          <a:solidFill>
            <a:srgbClr val="0F1E3C"/>
          </a:solidFill>
          <a:ln w="12700" cap="flat" cmpd="sng">
            <a:solidFill>
              <a:srgbClr val="0F1E3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0" name="Google Shape;1990;p48"/>
          <p:cNvSpPr/>
          <p:nvPr/>
        </p:nvSpPr>
        <p:spPr>
          <a:xfrm>
            <a:off x="365760" y="91440"/>
            <a:ext cx="8412600" cy="68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600"/>
              <a:buFont typeface="Calibri"/>
              <a:buNone/>
            </a:pPr>
            <a:r>
              <a:rPr lang="en" sz="2600" b="1" i="0" u="none" strike="noStrike" cap="none">
                <a:solidFill>
                  <a:srgbClr val="FFFFFF"/>
                </a:solidFill>
                <a:latin typeface="Calibri"/>
                <a:ea typeface="Calibri"/>
                <a:cs typeface="Calibri"/>
                <a:sym typeface="Calibri"/>
              </a:rPr>
              <a:t>Option A — One-Hot Vectors + Cosine Similarity</a:t>
            </a:r>
            <a:endParaRPr sz="2600" b="0" i="0" u="none" strike="noStrike" cap="none">
              <a:solidFill>
                <a:srgbClr val="000000"/>
              </a:solidFill>
              <a:latin typeface="Calibri"/>
              <a:ea typeface="Calibri"/>
              <a:cs typeface="Calibri"/>
              <a:sym typeface="Calibri"/>
            </a:endParaRPr>
          </a:p>
        </p:txBody>
      </p:sp>
      <p:sp>
        <p:nvSpPr>
          <p:cNvPr id="1991" name="Google Shape;1991;p48"/>
          <p:cNvSpPr/>
          <p:nvPr/>
        </p:nvSpPr>
        <p:spPr>
          <a:xfrm>
            <a:off x="365760" y="1078992"/>
            <a:ext cx="39318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B4D8"/>
              </a:buClr>
              <a:buSzPts val="1700"/>
              <a:buFont typeface="Calibri"/>
              <a:buNone/>
            </a:pPr>
            <a:r>
              <a:rPr lang="en" sz="1700" b="1" i="0" u="none" strike="noStrike" cap="none">
                <a:solidFill>
                  <a:srgbClr val="00B4D8"/>
                </a:solidFill>
                <a:latin typeface="Calibri"/>
                <a:ea typeface="Calibri"/>
                <a:cs typeface="Calibri"/>
                <a:sym typeface="Calibri"/>
              </a:rPr>
              <a:t>Representation</a:t>
            </a:r>
            <a:endParaRPr sz="1700" b="0" i="0" u="none" strike="noStrike" cap="none">
              <a:solidFill>
                <a:srgbClr val="000000"/>
              </a:solidFill>
              <a:latin typeface="Calibri"/>
              <a:ea typeface="Calibri"/>
              <a:cs typeface="Calibri"/>
              <a:sym typeface="Calibri"/>
            </a:endParaRPr>
          </a:p>
        </p:txBody>
      </p:sp>
      <p:sp>
        <p:nvSpPr>
          <p:cNvPr id="1992" name="Google Shape;1992;p48"/>
          <p:cNvSpPr/>
          <p:nvPr/>
        </p:nvSpPr>
        <p:spPr>
          <a:xfrm>
            <a:off x="365760" y="1508760"/>
            <a:ext cx="3840600" cy="530400"/>
          </a:xfrm>
          <a:prstGeom prst="rect">
            <a:avLst/>
          </a:prstGeom>
          <a:solidFill>
            <a:srgbClr val="EAF6FB"/>
          </a:solidFill>
          <a:ln w="1905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3" name="Google Shape;1993;p48"/>
          <p:cNvSpPr/>
          <p:nvPr/>
        </p:nvSpPr>
        <p:spPr>
          <a:xfrm>
            <a:off x="502920" y="1600200"/>
            <a:ext cx="3657600" cy="32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E3C"/>
              </a:buClr>
              <a:buSzPts val="1400"/>
              <a:buFont typeface="Calibri"/>
              <a:buNone/>
            </a:pPr>
            <a:r>
              <a:rPr lang="en" sz="1400" b="1" i="0" u="none" strike="noStrike" cap="none">
                <a:solidFill>
                  <a:srgbClr val="0F1E3C"/>
                </a:solidFill>
                <a:latin typeface="Calibri"/>
                <a:ea typeface="Calibri"/>
                <a:cs typeface="Calibri"/>
                <a:sym typeface="Calibri"/>
              </a:rPr>
              <a:t>car  </a:t>
            </a:r>
            <a:r>
              <a:rPr lang="en" sz="1400" b="0" i="0" u="none" strike="noStrike" cap="none">
                <a:solidFill>
                  <a:srgbClr val="8FA3B1"/>
                </a:solidFill>
                <a:latin typeface="Calibri"/>
                <a:ea typeface="Calibri"/>
                <a:cs typeface="Calibri"/>
                <a:sym typeface="Calibri"/>
              </a:rPr>
              <a:t>→  </a:t>
            </a:r>
            <a:r>
              <a:rPr lang="en" sz="1400" b="0" i="0" u="none" strike="noStrike" cap="none">
                <a:solidFill>
                  <a:srgbClr val="00B4D8"/>
                </a:solidFill>
                <a:latin typeface="Consolas"/>
                <a:ea typeface="Consolas"/>
                <a:cs typeface="Consolas"/>
                <a:sym typeface="Consolas"/>
              </a:rPr>
              <a:t>[1, 0, 0, 0, 0, ...]</a:t>
            </a:r>
            <a:endParaRPr sz="1400" b="0" i="0" u="none" strike="noStrike" cap="none">
              <a:solidFill>
                <a:srgbClr val="000000"/>
              </a:solidFill>
              <a:latin typeface="Calibri"/>
              <a:ea typeface="Calibri"/>
              <a:cs typeface="Calibri"/>
              <a:sym typeface="Calibri"/>
            </a:endParaRPr>
          </a:p>
        </p:txBody>
      </p:sp>
      <p:sp>
        <p:nvSpPr>
          <p:cNvPr id="1994" name="Google Shape;1994;p48"/>
          <p:cNvSpPr/>
          <p:nvPr/>
        </p:nvSpPr>
        <p:spPr>
          <a:xfrm>
            <a:off x="365760" y="2167128"/>
            <a:ext cx="3840600" cy="530400"/>
          </a:xfrm>
          <a:prstGeom prst="rect">
            <a:avLst/>
          </a:prstGeom>
          <a:solidFill>
            <a:srgbClr val="EAF6FB"/>
          </a:solidFill>
          <a:ln w="1905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5" name="Google Shape;1995;p48"/>
          <p:cNvSpPr/>
          <p:nvPr/>
        </p:nvSpPr>
        <p:spPr>
          <a:xfrm>
            <a:off x="502920" y="2258568"/>
            <a:ext cx="3657600" cy="32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E3C"/>
              </a:buClr>
              <a:buSzPts val="1400"/>
              <a:buFont typeface="Calibri"/>
              <a:buNone/>
            </a:pPr>
            <a:r>
              <a:rPr lang="en" sz="1400" b="1" i="0" u="none" strike="noStrike" cap="none">
                <a:solidFill>
                  <a:srgbClr val="0F1E3C"/>
                </a:solidFill>
                <a:latin typeface="Calibri"/>
                <a:ea typeface="Calibri"/>
                <a:cs typeface="Calibri"/>
                <a:sym typeface="Calibri"/>
              </a:rPr>
              <a:t>automobile  </a:t>
            </a:r>
            <a:r>
              <a:rPr lang="en" sz="1400" b="0" i="0" u="none" strike="noStrike" cap="none">
                <a:solidFill>
                  <a:srgbClr val="8FA3B1"/>
                </a:solidFill>
                <a:latin typeface="Calibri"/>
                <a:ea typeface="Calibri"/>
                <a:cs typeface="Calibri"/>
                <a:sym typeface="Calibri"/>
              </a:rPr>
              <a:t>→  </a:t>
            </a:r>
            <a:r>
              <a:rPr lang="en" sz="1400" b="0" i="0" u="none" strike="noStrike" cap="none">
                <a:solidFill>
                  <a:srgbClr val="00B4D8"/>
                </a:solidFill>
                <a:latin typeface="Consolas"/>
                <a:ea typeface="Consolas"/>
                <a:cs typeface="Consolas"/>
                <a:sym typeface="Consolas"/>
              </a:rPr>
              <a:t>[0, 1, 0, 0, 0, ...]</a:t>
            </a:r>
            <a:endParaRPr sz="1400" b="0" i="0" u="none" strike="noStrike" cap="none">
              <a:solidFill>
                <a:srgbClr val="000000"/>
              </a:solidFill>
              <a:latin typeface="Calibri"/>
              <a:ea typeface="Calibri"/>
              <a:cs typeface="Calibri"/>
              <a:sym typeface="Calibri"/>
            </a:endParaRPr>
          </a:p>
        </p:txBody>
      </p:sp>
      <p:sp>
        <p:nvSpPr>
          <p:cNvPr id="1996" name="Google Shape;1996;p48"/>
          <p:cNvSpPr/>
          <p:nvPr/>
        </p:nvSpPr>
        <p:spPr>
          <a:xfrm>
            <a:off x="365760" y="2825496"/>
            <a:ext cx="3840600" cy="530400"/>
          </a:xfrm>
          <a:prstGeom prst="rect">
            <a:avLst/>
          </a:prstGeom>
          <a:solidFill>
            <a:srgbClr val="FFF3F3"/>
          </a:solidFill>
          <a:ln w="19050" cap="flat" cmpd="sng">
            <a:solidFill>
              <a:srgbClr val="E6394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7" name="Google Shape;1997;p48"/>
          <p:cNvSpPr/>
          <p:nvPr/>
        </p:nvSpPr>
        <p:spPr>
          <a:xfrm>
            <a:off x="502920" y="2916936"/>
            <a:ext cx="3657600" cy="32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E3C"/>
              </a:buClr>
              <a:buSzPts val="1400"/>
              <a:buFont typeface="Calibri"/>
              <a:buNone/>
            </a:pPr>
            <a:r>
              <a:rPr lang="en" sz="1400" b="1" i="0" u="none" strike="noStrike" cap="none">
                <a:solidFill>
                  <a:srgbClr val="0F1E3C"/>
                </a:solidFill>
                <a:latin typeface="Calibri"/>
                <a:ea typeface="Calibri"/>
                <a:cs typeface="Calibri"/>
                <a:sym typeface="Calibri"/>
              </a:rPr>
              <a:t>banana  </a:t>
            </a:r>
            <a:r>
              <a:rPr lang="en" sz="1400" b="0" i="0" u="none" strike="noStrike" cap="none">
                <a:solidFill>
                  <a:srgbClr val="8FA3B1"/>
                </a:solidFill>
                <a:latin typeface="Calibri"/>
                <a:ea typeface="Calibri"/>
                <a:cs typeface="Calibri"/>
                <a:sym typeface="Calibri"/>
              </a:rPr>
              <a:t>→  </a:t>
            </a:r>
            <a:r>
              <a:rPr lang="en" sz="1400" b="0" i="0" u="none" strike="noStrike" cap="none">
                <a:solidFill>
                  <a:srgbClr val="E63946"/>
                </a:solidFill>
                <a:latin typeface="Consolas"/>
                <a:ea typeface="Consolas"/>
                <a:cs typeface="Consolas"/>
                <a:sym typeface="Consolas"/>
              </a:rPr>
              <a:t>[0, 0, 1, 0, 0, ...]</a:t>
            </a:r>
            <a:endParaRPr sz="1400" b="0" i="0" u="none" strike="noStrike" cap="none">
              <a:solidFill>
                <a:srgbClr val="000000"/>
              </a:solidFill>
              <a:latin typeface="Calibri"/>
              <a:ea typeface="Calibri"/>
              <a:cs typeface="Calibri"/>
              <a:sym typeface="Calibri"/>
            </a:endParaRPr>
          </a:p>
        </p:txBody>
      </p:sp>
      <p:sp>
        <p:nvSpPr>
          <p:cNvPr id="1998" name="Google Shape;1998;p48"/>
          <p:cNvSpPr/>
          <p:nvPr/>
        </p:nvSpPr>
        <p:spPr>
          <a:xfrm>
            <a:off x="4754880" y="1078992"/>
            <a:ext cx="40233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63946"/>
              </a:buClr>
              <a:buSzPts val="1700"/>
              <a:buFont typeface="Calibri"/>
              <a:buNone/>
            </a:pPr>
            <a:r>
              <a:rPr lang="en" sz="1700" b="1" i="0" u="none" strike="noStrike" cap="none">
                <a:solidFill>
                  <a:srgbClr val="E63946"/>
                </a:solidFill>
                <a:latin typeface="Calibri"/>
                <a:ea typeface="Calibri"/>
                <a:cs typeface="Calibri"/>
                <a:sym typeface="Calibri"/>
              </a:rPr>
              <a:t>What Goes Wrong?</a:t>
            </a:r>
            <a:endParaRPr sz="1700" b="0" i="0" u="none" strike="noStrike" cap="none">
              <a:solidFill>
                <a:srgbClr val="000000"/>
              </a:solidFill>
              <a:latin typeface="Calibri"/>
              <a:ea typeface="Calibri"/>
              <a:cs typeface="Calibri"/>
              <a:sym typeface="Calibri"/>
            </a:endParaRPr>
          </a:p>
        </p:txBody>
      </p:sp>
      <p:sp>
        <p:nvSpPr>
          <p:cNvPr id="1999" name="Google Shape;1999;p48"/>
          <p:cNvSpPr/>
          <p:nvPr/>
        </p:nvSpPr>
        <p:spPr>
          <a:xfrm>
            <a:off x="4754880" y="1508760"/>
            <a:ext cx="4023300" cy="1097400"/>
          </a:xfrm>
          <a:prstGeom prst="rect">
            <a:avLst/>
          </a:prstGeom>
          <a:solidFill>
            <a:srgbClr val="FFF3F3"/>
          </a:solidFill>
          <a:ln w="19050" cap="flat" cmpd="sng">
            <a:solidFill>
              <a:srgbClr val="E63946"/>
            </a:solidFill>
            <a:prstDash val="solid"/>
            <a:round/>
            <a:headEnd type="none" w="sm" len="sm"/>
            <a:tailEnd type="none" w="sm" len="sm"/>
          </a:ln>
          <a:effectLst>
            <a:outerShdw blurRad="101600" dist="38100" dir="8100000" algn="bl" rotWithShape="0">
              <a:srgbClr val="000000">
                <a:alpha val="1215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0" name="Google Shape;2000;p48"/>
          <p:cNvSpPr/>
          <p:nvPr/>
        </p:nvSpPr>
        <p:spPr>
          <a:xfrm>
            <a:off x="4892040" y="1600200"/>
            <a:ext cx="3749100" cy="868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F1E3C"/>
              </a:buClr>
              <a:buSzPts val="1400"/>
              <a:buFont typeface="Consolas"/>
              <a:buNone/>
            </a:pPr>
            <a:r>
              <a:rPr lang="en" sz="1400" b="0" i="0" u="none" strike="noStrike" cap="none">
                <a:solidFill>
                  <a:srgbClr val="0F1E3C"/>
                </a:solidFill>
                <a:latin typeface="Consolas"/>
                <a:ea typeface="Consolas"/>
                <a:cs typeface="Consolas"/>
                <a:sym typeface="Consolas"/>
              </a:rPr>
              <a:t>cos(car, automobile)  =  </a:t>
            </a:r>
            <a:r>
              <a:rPr lang="en" sz="2200" b="1" i="0" u="none" strike="noStrike" cap="none">
                <a:solidFill>
                  <a:srgbClr val="E63946"/>
                </a:solidFill>
                <a:latin typeface="Consolas"/>
                <a:ea typeface="Consolas"/>
                <a:cs typeface="Consolas"/>
                <a:sym typeface="Consolas"/>
              </a:rPr>
              <a:t>0</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F1E3C"/>
              </a:buClr>
              <a:buSzPts val="1400"/>
              <a:buFont typeface="Consolas"/>
              <a:buNone/>
            </a:pPr>
            <a:r>
              <a:rPr lang="en" sz="1400" b="0" i="0" u="none" strike="noStrike" cap="none">
                <a:solidFill>
                  <a:srgbClr val="0F1E3C"/>
                </a:solidFill>
                <a:latin typeface="Consolas"/>
                <a:ea typeface="Consolas"/>
                <a:cs typeface="Consolas"/>
                <a:sym typeface="Consolas"/>
              </a:rPr>
              <a:t>cos(car, banana)  =  </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E63946"/>
              </a:buClr>
              <a:buSzPts val="2200"/>
              <a:buFont typeface="Consolas"/>
              <a:buNone/>
            </a:pPr>
            <a:r>
              <a:rPr lang="en" sz="2200" b="1" i="0" u="none" strike="noStrike" cap="none">
                <a:solidFill>
                  <a:srgbClr val="E63946"/>
                </a:solidFill>
                <a:latin typeface="Consolas"/>
                <a:ea typeface="Consolas"/>
                <a:cs typeface="Consolas"/>
                <a:sym typeface="Consolas"/>
              </a:rPr>
              <a:t>0</a:t>
            </a:r>
            <a:endParaRPr sz="1400" b="0" i="0" u="none" strike="noStrike" cap="none">
              <a:solidFill>
                <a:srgbClr val="000000"/>
              </a:solidFill>
              <a:latin typeface="Calibri"/>
              <a:ea typeface="Calibri"/>
              <a:cs typeface="Calibri"/>
              <a:sym typeface="Calibri"/>
            </a:endParaRPr>
          </a:p>
        </p:txBody>
      </p:sp>
      <p:sp>
        <p:nvSpPr>
          <p:cNvPr id="2001" name="Google Shape;2001;p48"/>
          <p:cNvSpPr/>
          <p:nvPr/>
        </p:nvSpPr>
        <p:spPr>
          <a:xfrm>
            <a:off x="4754880" y="2743200"/>
            <a:ext cx="4023300" cy="1005900"/>
          </a:xfrm>
          <a:prstGeom prst="rect">
            <a:avLst/>
          </a:prstGeom>
          <a:solidFill>
            <a:srgbClr val="0F1E3C"/>
          </a:solidFill>
          <a:ln w="12700" cap="flat" cmpd="sng">
            <a:solidFill>
              <a:srgbClr val="0F1E3C"/>
            </a:solidFill>
            <a:prstDash val="solid"/>
            <a:round/>
            <a:headEnd type="none" w="sm" len="sm"/>
            <a:tailEnd type="none" w="sm" len="sm"/>
          </a:ln>
          <a:effectLst>
            <a:outerShdw blurRad="101600" dist="38100" dir="8100000" algn="bl" rotWithShape="0">
              <a:srgbClr val="000000">
                <a:alpha val="1215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2" name="Google Shape;2002;p48"/>
          <p:cNvSpPr/>
          <p:nvPr/>
        </p:nvSpPr>
        <p:spPr>
          <a:xfrm>
            <a:off x="4892040" y="2816352"/>
            <a:ext cx="3749100" cy="859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E63946"/>
              </a:buClr>
              <a:buSzPts val="1300"/>
              <a:buFont typeface="Calibri"/>
              <a:buNone/>
            </a:pPr>
            <a:r>
              <a:rPr lang="en" sz="1300" b="1" i="0" u="none" strike="noStrike" cap="none">
                <a:solidFill>
                  <a:srgbClr val="E63946"/>
                </a:solidFill>
                <a:latin typeface="Calibri"/>
                <a:ea typeface="Calibri"/>
                <a:cs typeface="Calibri"/>
                <a:sym typeface="Calibri"/>
              </a:rPr>
              <a:t>❌  Verdict</a:t>
            </a:r>
            <a:br>
              <a:rPr lang="en" sz="1300" b="1" i="0" u="none" strike="noStrike" cap="none">
                <a:solidFill>
                  <a:srgbClr val="E63946"/>
                </a:solidFill>
                <a:latin typeface="Calibri"/>
                <a:ea typeface="Calibri"/>
                <a:cs typeface="Calibri"/>
                <a:sym typeface="Calibri"/>
              </a:rPr>
            </a:b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E8F4F8"/>
              </a:buClr>
              <a:buSzPts val="1300"/>
              <a:buFont typeface="Calibri"/>
              <a:buNone/>
            </a:pPr>
            <a:r>
              <a:rPr lang="en" sz="1300" b="0" i="0" u="none" strike="noStrike" cap="none">
                <a:solidFill>
                  <a:srgbClr val="E8F4F8"/>
                </a:solidFill>
                <a:latin typeface="Calibri"/>
                <a:ea typeface="Calibri"/>
                <a:cs typeface="Calibri"/>
                <a:sym typeface="Calibri"/>
              </a:rPr>
              <a:t>"car" and "automobile" are no closer than "car" and "banana". Click behavior is completely ignored.</a:t>
            </a:r>
            <a:endParaRPr sz="1300" b="0" i="0" u="none" strike="noStrike" cap="none">
              <a:solidFill>
                <a:srgbClr val="000000"/>
              </a:solidFill>
              <a:latin typeface="Calibri"/>
              <a:ea typeface="Calibri"/>
              <a:cs typeface="Calibri"/>
              <a:sym typeface="Calibri"/>
            </a:endParaRPr>
          </a:p>
        </p:txBody>
      </p:sp>
      <p:sp>
        <p:nvSpPr>
          <p:cNvPr id="2003" name="Google Shape;2003;p48"/>
          <p:cNvSpPr/>
          <p:nvPr/>
        </p:nvSpPr>
        <p:spPr>
          <a:xfrm>
            <a:off x="365760" y="4480560"/>
            <a:ext cx="8412600" cy="292500"/>
          </a:xfrm>
          <a:prstGeom prst="rect">
            <a:avLst/>
          </a:prstGeom>
          <a:solidFill>
            <a:srgbClr val="FFF3F3"/>
          </a:solidFill>
          <a:ln w="12700" cap="flat" cmpd="sng">
            <a:solidFill>
              <a:srgbClr val="E6394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4" name="Google Shape;2004;p48"/>
          <p:cNvSpPr/>
          <p:nvPr/>
        </p:nvSpPr>
        <p:spPr>
          <a:xfrm>
            <a:off x="548640" y="4517136"/>
            <a:ext cx="36576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63946"/>
              </a:buClr>
              <a:buSzPts val="1300"/>
              <a:buFont typeface="Calibri"/>
              <a:buNone/>
            </a:pPr>
            <a:r>
              <a:rPr lang="en" sz="1300" b="1" i="0" u="none" strike="noStrike" cap="none">
                <a:solidFill>
                  <a:srgbClr val="E63946"/>
                </a:solidFill>
                <a:latin typeface="Calibri"/>
                <a:ea typeface="Calibri"/>
                <a:cs typeface="Calibri"/>
                <a:sym typeface="Calibri"/>
              </a:rPr>
              <a:t>Answer A is ❌ Wrong</a:t>
            </a:r>
            <a:endParaRPr sz="1300" b="0" i="0" u="none" strike="noStrike" cap="none">
              <a:solidFill>
                <a:srgbClr val="000000"/>
              </a:solidFill>
              <a:latin typeface="Calibri"/>
              <a:ea typeface="Calibri"/>
              <a:cs typeface="Calibri"/>
              <a:sym typeface="Calibri"/>
            </a:endParaRPr>
          </a:p>
        </p:txBody>
      </p:sp>
      <p:sp>
        <p:nvSpPr>
          <p:cNvPr id="2005" name="Google Shape;2005;p48"/>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66</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10"/>
        <p:cNvGrpSpPr/>
        <p:nvPr/>
      </p:nvGrpSpPr>
      <p:grpSpPr>
        <a:xfrm>
          <a:off x="0" y="0"/>
          <a:ext cx="0" cy="0"/>
          <a:chOff x="0" y="0"/>
          <a:chExt cx="0" cy="0"/>
        </a:xfrm>
      </p:grpSpPr>
      <p:sp>
        <p:nvSpPr>
          <p:cNvPr id="2011" name="Google Shape;2011;g3f6a040a5a3_1_132"/>
          <p:cNvSpPr/>
          <p:nvPr/>
        </p:nvSpPr>
        <p:spPr>
          <a:xfrm>
            <a:off x="411480" y="240030"/>
            <a:ext cx="82983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1295C"/>
              </a:buClr>
              <a:buSzPts val="2300"/>
              <a:buFont typeface="Cambria"/>
              <a:buNone/>
            </a:pPr>
            <a:r>
              <a:rPr lang="en" sz="2300" b="1" i="0" u="none" strike="noStrike" cap="none">
                <a:solidFill>
                  <a:srgbClr val="21295C"/>
                </a:solidFill>
                <a:latin typeface="Cambria"/>
                <a:ea typeface="Cambria"/>
                <a:cs typeface="Cambria"/>
                <a:sym typeface="Cambria"/>
              </a:rPr>
              <a:t>PCA Doesn't Discover Meaning</a:t>
            </a:r>
            <a:endParaRPr sz="2300" b="0" i="0" u="none" strike="noStrike" cap="none">
              <a:solidFill>
                <a:schemeClr val="dk1"/>
              </a:solidFill>
              <a:latin typeface="Calibri"/>
              <a:ea typeface="Calibri"/>
              <a:cs typeface="Calibri"/>
              <a:sym typeface="Calibri"/>
            </a:endParaRPr>
          </a:p>
        </p:txBody>
      </p:sp>
      <p:sp>
        <p:nvSpPr>
          <p:cNvPr id="2012" name="Google Shape;2012;g3f6a040a5a3_1_132"/>
          <p:cNvSpPr/>
          <p:nvPr/>
        </p:nvSpPr>
        <p:spPr>
          <a:xfrm>
            <a:off x="411480" y="651510"/>
            <a:ext cx="8298300" cy="24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B6472"/>
              </a:buClr>
              <a:buSzPts val="1100"/>
              <a:buFont typeface="Calibri"/>
              <a:buNone/>
            </a:pPr>
            <a:r>
              <a:rPr lang="en" sz="1100" b="0" i="1" u="none" strike="noStrike" cap="none">
                <a:solidFill>
                  <a:srgbClr val="5B6472"/>
                </a:solidFill>
                <a:latin typeface="Calibri"/>
                <a:ea typeface="Calibri"/>
                <a:cs typeface="Calibri"/>
                <a:sym typeface="Calibri"/>
              </a:rPr>
              <a:t>It only reflects the structure that's already in the data</a:t>
            </a:r>
            <a:endParaRPr sz="1100" b="0" i="0" u="none" strike="noStrike" cap="none">
              <a:solidFill>
                <a:schemeClr val="dk1"/>
              </a:solidFill>
              <a:latin typeface="Calibri"/>
              <a:ea typeface="Calibri"/>
              <a:cs typeface="Calibri"/>
              <a:sym typeface="Calibri"/>
            </a:endParaRPr>
          </a:p>
        </p:txBody>
      </p:sp>
      <p:sp>
        <p:nvSpPr>
          <p:cNvPr id="2013" name="Google Shape;2013;g3f6a040a5a3_1_132"/>
          <p:cNvSpPr/>
          <p:nvPr/>
        </p:nvSpPr>
        <p:spPr>
          <a:xfrm>
            <a:off x="411480" y="891540"/>
            <a:ext cx="4011900" cy="3360300"/>
          </a:xfrm>
          <a:prstGeom prst="roundRect">
            <a:avLst>
              <a:gd name="adj" fmla="val 2449"/>
            </a:avLst>
          </a:prstGeom>
          <a:solidFill>
            <a:srgbClr val="F9FAFB"/>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4" name="Google Shape;2014;g3f6a040a5a3_1_132"/>
          <p:cNvSpPr/>
          <p:nvPr/>
        </p:nvSpPr>
        <p:spPr>
          <a:xfrm>
            <a:off x="411480" y="891540"/>
            <a:ext cx="4011900" cy="445800"/>
          </a:xfrm>
          <a:prstGeom prst="roundRect">
            <a:avLst>
              <a:gd name="adj" fmla="val 18462"/>
            </a:avLst>
          </a:prstGeom>
          <a:solidFill>
            <a:srgbClr val="AEB8C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5" name="Google Shape;2015;g3f6a040a5a3_1_132"/>
          <p:cNvSpPr/>
          <p:nvPr/>
        </p:nvSpPr>
        <p:spPr>
          <a:xfrm>
            <a:off x="411480" y="1110996"/>
            <a:ext cx="4011900" cy="226200"/>
          </a:xfrm>
          <a:prstGeom prst="rect">
            <a:avLst/>
          </a:prstGeom>
          <a:solidFill>
            <a:srgbClr val="AEB8C4"/>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6" name="Google Shape;2016;g3f6a040a5a3_1_132"/>
          <p:cNvSpPr/>
          <p:nvPr/>
        </p:nvSpPr>
        <p:spPr>
          <a:xfrm>
            <a:off x="617220" y="891540"/>
            <a:ext cx="3600600" cy="44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Calibri"/>
              <a:buNone/>
            </a:pPr>
            <a:r>
              <a:rPr lang="en" sz="1200" b="1" i="0" u="none" strike="noStrike" cap="none">
                <a:solidFill>
                  <a:srgbClr val="FFFFFF"/>
                </a:solidFill>
                <a:latin typeface="Calibri"/>
                <a:ea typeface="Calibri"/>
                <a:cs typeface="Calibri"/>
                <a:sym typeface="Calibri"/>
              </a:rPr>
              <a:t>One-Hot Input  →  PCA Output</a:t>
            </a:r>
            <a:endParaRPr sz="1200" b="0" i="0" u="none" strike="noStrike" cap="none">
              <a:solidFill>
                <a:schemeClr val="dk1"/>
              </a:solidFill>
              <a:latin typeface="Calibri"/>
              <a:ea typeface="Calibri"/>
              <a:cs typeface="Calibri"/>
              <a:sym typeface="Calibri"/>
            </a:endParaRPr>
          </a:p>
        </p:txBody>
      </p:sp>
      <p:cxnSp>
        <p:nvCxnSpPr>
          <p:cNvPr id="2017" name="Google Shape;2017;g3f6a040a5a3_1_132"/>
          <p:cNvCxnSpPr/>
          <p:nvPr/>
        </p:nvCxnSpPr>
        <p:spPr>
          <a:xfrm>
            <a:off x="2417445" y="1885950"/>
            <a:ext cx="594000" cy="342900"/>
          </a:xfrm>
          <a:prstGeom prst="straightConnector1">
            <a:avLst/>
          </a:prstGeom>
          <a:noFill/>
          <a:ln w="9525" cap="flat" cmpd="sng">
            <a:solidFill>
              <a:srgbClr val="E3E8ED"/>
            </a:solidFill>
            <a:prstDash val="solid"/>
            <a:round/>
            <a:headEnd type="none" w="sm" len="sm"/>
            <a:tailEnd type="none" w="sm" len="sm"/>
          </a:ln>
        </p:spPr>
      </p:cxnSp>
      <p:cxnSp>
        <p:nvCxnSpPr>
          <p:cNvPr id="2018" name="Google Shape;2018;g3f6a040a5a3_1_132"/>
          <p:cNvCxnSpPr/>
          <p:nvPr/>
        </p:nvCxnSpPr>
        <p:spPr>
          <a:xfrm>
            <a:off x="2417445" y="1885950"/>
            <a:ext cx="594000" cy="1028700"/>
          </a:xfrm>
          <a:prstGeom prst="straightConnector1">
            <a:avLst/>
          </a:prstGeom>
          <a:noFill/>
          <a:ln w="9525" cap="flat" cmpd="sng">
            <a:solidFill>
              <a:srgbClr val="E3E8ED"/>
            </a:solidFill>
            <a:prstDash val="solid"/>
            <a:round/>
            <a:headEnd type="none" w="sm" len="sm"/>
            <a:tailEnd type="none" w="sm" len="sm"/>
          </a:ln>
        </p:spPr>
      </p:cxnSp>
      <p:cxnSp>
        <p:nvCxnSpPr>
          <p:cNvPr id="2019" name="Google Shape;2019;g3f6a040a5a3_1_132"/>
          <p:cNvCxnSpPr/>
          <p:nvPr/>
        </p:nvCxnSpPr>
        <p:spPr>
          <a:xfrm>
            <a:off x="2417445" y="1885950"/>
            <a:ext cx="0" cy="1371600"/>
          </a:xfrm>
          <a:prstGeom prst="straightConnector1">
            <a:avLst/>
          </a:prstGeom>
          <a:noFill/>
          <a:ln w="9525" cap="flat" cmpd="sng">
            <a:solidFill>
              <a:srgbClr val="E3E8ED"/>
            </a:solidFill>
            <a:prstDash val="solid"/>
            <a:round/>
            <a:headEnd type="none" w="sm" len="sm"/>
            <a:tailEnd type="none" w="sm" len="sm"/>
          </a:ln>
        </p:spPr>
      </p:cxnSp>
      <p:cxnSp>
        <p:nvCxnSpPr>
          <p:cNvPr id="2020" name="Google Shape;2020;g3f6a040a5a3_1_132"/>
          <p:cNvCxnSpPr/>
          <p:nvPr/>
        </p:nvCxnSpPr>
        <p:spPr>
          <a:xfrm flipH="1">
            <a:off x="1823445" y="1885950"/>
            <a:ext cx="594000" cy="1028700"/>
          </a:xfrm>
          <a:prstGeom prst="straightConnector1">
            <a:avLst/>
          </a:prstGeom>
          <a:noFill/>
          <a:ln w="9525" cap="flat" cmpd="sng">
            <a:solidFill>
              <a:srgbClr val="E3E8ED"/>
            </a:solidFill>
            <a:prstDash val="solid"/>
            <a:round/>
            <a:headEnd type="none" w="sm" len="sm"/>
            <a:tailEnd type="none" w="sm" len="sm"/>
          </a:ln>
        </p:spPr>
      </p:cxnSp>
      <p:cxnSp>
        <p:nvCxnSpPr>
          <p:cNvPr id="2021" name="Google Shape;2021;g3f6a040a5a3_1_132"/>
          <p:cNvCxnSpPr/>
          <p:nvPr/>
        </p:nvCxnSpPr>
        <p:spPr>
          <a:xfrm flipH="1">
            <a:off x="1823445" y="1885950"/>
            <a:ext cx="594000" cy="342900"/>
          </a:xfrm>
          <a:prstGeom prst="straightConnector1">
            <a:avLst/>
          </a:prstGeom>
          <a:noFill/>
          <a:ln w="9525" cap="flat" cmpd="sng">
            <a:solidFill>
              <a:srgbClr val="E3E8ED"/>
            </a:solidFill>
            <a:prstDash val="solid"/>
            <a:round/>
            <a:headEnd type="none" w="sm" len="sm"/>
            <a:tailEnd type="none" w="sm" len="sm"/>
          </a:ln>
        </p:spPr>
      </p:cxnSp>
      <p:cxnSp>
        <p:nvCxnSpPr>
          <p:cNvPr id="2022" name="Google Shape;2022;g3f6a040a5a3_1_132"/>
          <p:cNvCxnSpPr/>
          <p:nvPr/>
        </p:nvCxnSpPr>
        <p:spPr>
          <a:xfrm>
            <a:off x="3011366" y="2228850"/>
            <a:ext cx="0" cy="685800"/>
          </a:xfrm>
          <a:prstGeom prst="straightConnector1">
            <a:avLst/>
          </a:prstGeom>
          <a:noFill/>
          <a:ln w="9525" cap="flat" cmpd="sng">
            <a:solidFill>
              <a:srgbClr val="E3E8ED"/>
            </a:solidFill>
            <a:prstDash val="solid"/>
            <a:round/>
            <a:headEnd type="none" w="sm" len="sm"/>
            <a:tailEnd type="none" w="sm" len="sm"/>
          </a:ln>
        </p:spPr>
      </p:cxnSp>
      <p:cxnSp>
        <p:nvCxnSpPr>
          <p:cNvPr id="2023" name="Google Shape;2023;g3f6a040a5a3_1_132"/>
          <p:cNvCxnSpPr/>
          <p:nvPr/>
        </p:nvCxnSpPr>
        <p:spPr>
          <a:xfrm flipH="1">
            <a:off x="2417366" y="2228850"/>
            <a:ext cx="594000" cy="1028700"/>
          </a:xfrm>
          <a:prstGeom prst="straightConnector1">
            <a:avLst/>
          </a:prstGeom>
          <a:noFill/>
          <a:ln w="9525" cap="flat" cmpd="sng">
            <a:solidFill>
              <a:srgbClr val="E3E8ED"/>
            </a:solidFill>
            <a:prstDash val="solid"/>
            <a:round/>
            <a:headEnd type="none" w="sm" len="sm"/>
            <a:tailEnd type="none" w="sm" len="sm"/>
          </a:ln>
        </p:spPr>
      </p:cxnSp>
      <p:cxnSp>
        <p:nvCxnSpPr>
          <p:cNvPr id="2024" name="Google Shape;2024;g3f6a040a5a3_1_132"/>
          <p:cNvCxnSpPr/>
          <p:nvPr/>
        </p:nvCxnSpPr>
        <p:spPr>
          <a:xfrm flipH="1">
            <a:off x="1823665" y="2228850"/>
            <a:ext cx="1187700" cy="685800"/>
          </a:xfrm>
          <a:prstGeom prst="straightConnector1">
            <a:avLst/>
          </a:prstGeom>
          <a:noFill/>
          <a:ln w="9525" cap="flat" cmpd="sng">
            <a:solidFill>
              <a:srgbClr val="E3E8ED"/>
            </a:solidFill>
            <a:prstDash val="solid"/>
            <a:round/>
            <a:headEnd type="none" w="sm" len="sm"/>
            <a:tailEnd type="none" w="sm" len="sm"/>
          </a:ln>
        </p:spPr>
      </p:cxnSp>
      <p:cxnSp>
        <p:nvCxnSpPr>
          <p:cNvPr id="2025" name="Google Shape;2025;g3f6a040a5a3_1_132"/>
          <p:cNvCxnSpPr/>
          <p:nvPr/>
        </p:nvCxnSpPr>
        <p:spPr>
          <a:xfrm rot="10800000">
            <a:off x="1823665" y="2228850"/>
            <a:ext cx="1187700" cy="0"/>
          </a:xfrm>
          <a:prstGeom prst="straightConnector1">
            <a:avLst/>
          </a:prstGeom>
          <a:noFill/>
          <a:ln w="9525" cap="flat" cmpd="sng">
            <a:solidFill>
              <a:srgbClr val="E3E8ED"/>
            </a:solidFill>
            <a:prstDash val="solid"/>
            <a:round/>
            <a:headEnd type="none" w="sm" len="sm"/>
            <a:tailEnd type="none" w="sm" len="sm"/>
          </a:ln>
        </p:spPr>
      </p:cxnSp>
      <p:cxnSp>
        <p:nvCxnSpPr>
          <p:cNvPr id="2026" name="Google Shape;2026;g3f6a040a5a3_1_132"/>
          <p:cNvCxnSpPr/>
          <p:nvPr/>
        </p:nvCxnSpPr>
        <p:spPr>
          <a:xfrm flipH="1">
            <a:off x="2417366" y="2914650"/>
            <a:ext cx="594000" cy="342900"/>
          </a:xfrm>
          <a:prstGeom prst="straightConnector1">
            <a:avLst/>
          </a:prstGeom>
          <a:noFill/>
          <a:ln w="9525" cap="flat" cmpd="sng">
            <a:solidFill>
              <a:srgbClr val="E3E8ED"/>
            </a:solidFill>
            <a:prstDash val="solid"/>
            <a:round/>
            <a:headEnd type="none" w="sm" len="sm"/>
            <a:tailEnd type="none" w="sm" len="sm"/>
          </a:ln>
        </p:spPr>
      </p:cxnSp>
      <p:cxnSp>
        <p:nvCxnSpPr>
          <p:cNvPr id="2027" name="Google Shape;2027;g3f6a040a5a3_1_132"/>
          <p:cNvCxnSpPr/>
          <p:nvPr/>
        </p:nvCxnSpPr>
        <p:spPr>
          <a:xfrm rot="10800000">
            <a:off x="1823665" y="2914650"/>
            <a:ext cx="1187700" cy="0"/>
          </a:xfrm>
          <a:prstGeom prst="straightConnector1">
            <a:avLst/>
          </a:prstGeom>
          <a:noFill/>
          <a:ln w="9525" cap="flat" cmpd="sng">
            <a:solidFill>
              <a:srgbClr val="E3E8ED"/>
            </a:solidFill>
            <a:prstDash val="solid"/>
            <a:round/>
            <a:headEnd type="none" w="sm" len="sm"/>
            <a:tailEnd type="none" w="sm" len="sm"/>
          </a:ln>
        </p:spPr>
      </p:cxnSp>
      <p:cxnSp>
        <p:nvCxnSpPr>
          <p:cNvPr id="2028" name="Google Shape;2028;g3f6a040a5a3_1_132"/>
          <p:cNvCxnSpPr/>
          <p:nvPr/>
        </p:nvCxnSpPr>
        <p:spPr>
          <a:xfrm rot="10800000">
            <a:off x="1823665" y="2228850"/>
            <a:ext cx="1187700" cy="685800"/>
          </a:xfrm>
          <a:prstGeom prst="straightConnector1">
            <a:avLst/>
          </a:prstGeom>
          <a:noFill/>
          <a:ln w="9525" cap="flat" cmpd="sng">
            <a:solidFill>
              <a:srgbClr val="E3E8ED"/>
            </a:solidFill>
            <a:prstDash val="solid"/>
            <a:round/>
            <a:headEnd type="none" w="sm" len="sm"/>
            <a:tailEnd type="none" w="sm" len="sm"/>
          </a:ln>
        </p:spPr>
      </p:cxnSp>
      <p:cxnSp>
        <p:nvCxnSpPr>
          <p:cNvPr id="2029" name="Google Shape;2029;g3f6a040a5a3_1_132"/>
          <p:cNvCxnSpPr/>
          <p:nvPr/>
        </p:nvCxnSpPr>
        <p:spPr>
          <a:xfrm rot="10800000">
            <a:off x="1823445" y="2914650"/>
            <a:ext cx="594000" cy="342900"/>
          </a:xfrm>
          <a:prstGeom prst="straightConnector1">
            <a:avLst/>
          </a:prstGeom>
          <a:noFill/>
          <a:ln w="9525" cap="flat" cmpd="sng">
            <a:solidFill>
              <a:srgbClr val="E3E8ED"/>
            </a:solidFill>
            <a:prstDash val="solid"/>
            <a:round/>
            <a:headEnd type="none" w="sm" len="sm"/>
            <a:tailEnd type="none" w="sm" len="sm"/>
          </a:ln>
        </p:spPr>
      </p:cxnSp>
      <p:cxnSp>
        <p:nvCxnSpPr>
          <p:cNvPr id="2030" name="Google Shape;2030;g3f6a040a5a3_1_132"/>
          <p:cNvCxnSpPr/>
          <p:nvPr/>
        </p:nvCxnSpPr>
        <p:spPr>
          <a:xfrm rot="10800000">
            <a:off x="1823445" y="2228850"/>
            <a:ext cx="594000" cy="1028700"/>
          </a:xfrm>
          <a:prstGeom prst="straightConnector1">
            <a:avLst/>
          </a:prstGeom>
          <a:noFill/>
          <a:ln w="9525" cap="flat" cmpd="sng">
            <a:solidFill>
              <a:srgbClr val="E3E8ED"/>
            </a:solidFill>
            <a:prstDash val="solid"/>
            <a:round/>
            <a:headEnd type="none" w="sm" len="sm"/>
            <a:tailEnd type="none" w="sm" len="sm"/>
          </a:ln>
        </p:spPr>
      </p:cxnSp>
      <p:cxnSp>
        <p:nvCxnSpPr>
          <p:cNvPr id="2031" name="Google Shape;2031;g3f6a040a5a3_1_132"/>
          <p:cNvCxnSpPr/>
          <p:nvPr/>
        </p:nvCxnSpPr>
        <p:spPr>
          <a:xfrm rot="10800000">
            <a:off x="1823525" y="2228850"/>
            <a:ext cx="0" cy="685800"/>
          </a:xfrm>
          <a:prstGeom prst="straightConnector1">
            <a:avLst/>
          </a:prstGeom>
          <a:noFill/>
          <a:ln w="9525" cap="flat" cmpd="sng">
            <a:solidFill>
              <a:srgbClr val="E3E8ED"/>
            </a:solidFill>
            <a:prstDash val="solid"/>
            <a:round/>
            <a:headEnd type="none" w="sm" len="sm"/>
            <a:tailEnd type="none" w="sm" len="sm"/>
          </a:ln>
        </p:spPr>
      </p:cxnSp>
      <p:sp>
        <p:nvSpPr>
          <p:cNvPr id="2032" name="Google Shape;2032;g3f6a040a5a3_1_132"/>
          <p:cNvSpPr/>
          <p:nvPr/>
        </p:nvSpPr>
        <p:spPr>
          <a:xfrm>
            <a:off x="2280285" y="1748790"/>
            <a:ext cx="274200" cy="274200"/>
          </a:xfrm>
          <a:prstGeom prst="ellipse">
            <a:avLst/>
          </a:prstGeom>
          <a:solidFill>
            <a:srgbClr val="8A97A6"/>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3" name="Google Shape;2033;g3f6a040a5a3_1_132"/>
          <p:cNvSpPr/>
          <p:nvPr/>
        </p:nvSpPr>
        <p:spPr>
          <a:xfrm>
            <a:off x="2005965" y="1495044"/>
            <a:ext cx="823200" cy="233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B6472"/>
              </a:buClr>
              <a:buSzPts val="800"/>
              <a:buFont typeface="Calibri"/>
              <a:buNone/>
            </a:pPr>
            <a:r>
              <a:rPr lang="en" sz="800" b="1" i="0" u="none" strike="noStrike" cap="none">
                <a:solidFill>
                  <a:srgbClr val="5B6472"/>
                </a:solidFill>
                <a:latin typeface="Calibri"/>
                <a:ea typeface="Calibri"/>
                <a:cs typeface="Calibri"/>
                <a:sym typeface="Calibri"/>
              </a:rPr>
              <a:t>car</a:t>
            </a:r>
            <a:endParaRPr sz="800" b="0" i="0" u="none" strike="noStrike" cap="none">
              <a:solidFill>
                <a:schemeClr val="dk1"/>
              </a:solidFill>
              <a:latin typeface="Calibri"/>
              <a:ea typeface="Calibri"/>
              <a:cs typeface="Calibri"/>
              <a:sym typeface="Calibri"/>
            </a:endParaRPr>
          </a:p>
        </p:txBody>
      </p:sp>
      <p:sp>
        <p:nvSpPr>
          <p:cNvPr id="2034" name="Google Shape;2034;g3f6a040a5a3_1_132"/>
          <p:cNvSpPr/>
          <p:nvPr/>
        </p:nvSpPr>
        <p:spPr>
          <a:xfrm>
            <a:off x="2874206" y="2091690"/>
            <a:ext cx="274200" cy="274200"/>
          </a:xfrm>
          <a:prstGeom prst="ellipse">
            <a:avLst/>
          </a:prstGeom>
          <a:solidFill>
            <a:srgbClr val="8A97A6"/>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5" name="Google Shape;2035;g3f6a040a5a3_1_132"/>
          <p:cNvSpPr/>
          <p:nvPr/>
        </p:nvSpPr>
        <p:spPr>
          <a:xfrm>
            <a:off x="2896845" y="1975104"/>
            <a:ext cx="823200" cy="233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B6472"/>
              </a:buClr>
              <a:buSzPts val="800"/>
              <a:buFont typeface="Calibri"/>
              <a:buNone/>
            </a:pPr>
            <a:r>
              <a:rPr lang="en" sz="800" b="1" i="0" u="none" strike="noStrike" cap="none">
                <a:solidFill>
                  <a:srgbClr val="5B6472"/>
                </a:solidFill>
                <a:latin typeface="Calibri"/>
                <a:ea typeface="Calibri"/>
                <a:cs typeface="Calibri"/>
                <a:sym typeface="Calibri"/>
              </a:rPr>
              <a:t>bus</a:t>
            </a:r>
            <a:endParaRPr sz="800" b="0" i="0" u="none" strike="noStrike" cap="none">
              <a:solidFill>
                <a:schemeClr val="dk1"/>
              </a:solidFill>
              <a:latin typeface="Calibri"/>
              <a:ea typeface="Calibri"/>
              <a:cs typeface="Calibri"/>
              <a:sym typeface="Calibri"/>
            </a:endParaRPr>
          </a:p>
        </p:txBody>
      </p:sp>
      <p:sp>
        <p:nvSpPr>
          <p:cNvPr id="2036" name="Google Shape;2036;g3f6a040a5a3_1_132"/>
          <p:cNvSpPr/>
          <p:nvPr/>
        </p:nvSpPr>
        <p:spPr>
          <a:xfrm>
            <a:off x="2874206" y="2777490"/>
            <a:ext cx="274200" cy="274200"/>
          </a:xfrm>
          <a:prstGeom prst="ellipse">
            <a:avLst/>
          </a:prstGeom>
          <a:solidFill>
            <a:srgbClr val="8A97A6"/>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7" name="Google Shape;2037;g3f6a040a5a3_1_132"/>
          <p:cNvSpPr/>
          <p:nvPr/>
        </p:nvSpPr>
        <p:spPr>
          <a:xfrm>
            <a:off x="2896845" y="2935224"/>
            <a:ext cx="823200" cy="233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B6472"/>
              </a:buClr>
              <a:buSzPts val="800"/>
              <a:buFont typeface="Calibri"/>
              <a:buNone/>
            </a:pPr>
            <a:r>
              <a:rPr lang="en" sz="800" b="1" i="0" u="none" strike="noStrike" cap="none">
                <a:solidFill>
                  <a:srgbClr val="5B6472"/>
                </a:solidFill>
                <a:latin typeface="Calibri"/>
                <a:ea typeface="Calibri"/>
                <a:cs typeface="Calibri"/>
                <a:sym typeface="Calibri"/>
              </a:rPr>
              <a:t>banana</a:t>
            </a:r>
            <a:endParaRPr sz="800" b="0" i="0" u="none" strike="noStrike" cap="none">
              <a:solidFill>
                <a:schemeClr val="dk1"/>
              </a:solidFill>
              <a:latin typeface="Calibri"/>
              <a:ea typeface="Calibri"/>
              <a:cs typeface="Calibri"/>
              <a:sym typeface="Calibri"/>
            </a:endParaRPr>
          </a:p>
        </p:txBody>
      </p:sp>
      <p:sp>
        <p:nvSpPr>
          <p:cNvPr id="2038" name="Google Shape;2038;g3f6a040a5a3_1_132"/>
          <p:cNvSpPr/>
          <p:nvPr/>
        </p:nvSpPr>
        <p:spPr>
          <a:xfrm>
            <a:off x="2280285" y="3120390"/>
            <a:ext cx="274200" cy="274200"/>
          </a:xfrm>
          <a:prstGeom prst="ellipse">
            <a:avLst/>
          </a:prstGeom>
          <a:solidFill>
            <a:srgbClr val="8A97A6"/>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9" name="Google Shape;2039;g3f6a040a5a3_1_132"/>
          <p:cNvSpPr/>
          <p:nvPr/>
        </p:nvSpPr>
        <p:spPr>
          <a:xfrm>
            <a:off x="2005965" y="3415284"/>
            <a:ext cx="823200" cy="233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B6472"/>
              </a:buClr>
              <a:buSzPts val="800"/>
              <a:buFont typeface="Calibri"/>
              <a:buNone/>
            </a:pPr>
            <a:r>
              <a:rPr lang="en" sz="800" b="1" i="0" u="none" strike="noStrike" cap="none">
                <a:solidFill>
                  <a:srgbClr val="5B6472"/>
                </a:solidFill>
                <a:latin typeface="Calibri"/>
                <a:ea typeface="Calibri"/>
                <a:cs typeface="Calibri"/>
                <a:sym typeface="Calibri"/>
              </a:rPr>
              <a:t>apple</a:t>
            </a:r>
            <a:endParaRPr sz="800" b="0" i="0" u="none" strike="noStrike" cap="none">
              <a:solidFill>
                <a:schemeClr val="dk1"/>
              </a:solidFill>
              <a:latin typeface="Calibri"/>
              <a:ea typeface="Calibri"/>
              <a:cs typeface="Calibri"/>
              <a:sym typeface="Calibri"/>
            </a:endParaRPr>
          </a:p>
        </p:txBody>
      </p:sp>
      <p:sp>
        <p:nvSpPr>
          <p:cNvPr id="2040" name="Google Shape;2040;g3f6a040a5a3_1_132"/>
          <p:cNvSpPr/>
          <p:nvPr/>
        </p:nvSpPr>
        <p:spPr>
          <a:xfrm>
            <a:off x="1686365" y="2777490"/>
            <a:ext cx="274200" cy="274200"/>
          </a:xfrm>
          <a:prstGeom prst="ellipse">
            <a:avLst/>
          </a:prstGeom>
          <a:solidFill>
            <a:srgbClr val="8A97A6"/>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1" name="Google Shape;2041;g3f6a040a5a3_1_132"/>
          <p:cNvSpPr/>
          <p:nvPr/>
        </p:nvSpPr>
        <p:spPr>
          <a:xfrm>
            <a:off x="1115085" y="2935224"/>
            <a:ext cx="823200" cy="233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B6472"/>
              </a:buClr>
              <a:buSzPts val="800"/>
              <a:buFont typeface="Calibri"/>
              <a:buNone/>
            </a:pPr>
            <a:r>
              <a:rPr lang="en" sz="800" b="1" i="0" u="none" strike="noStrike" cap="none">
                <a:solidFill>
                  <a:srgbClr val="5B6472"/>
                </a:solidFill>
                <a:latin typeface="Calibri"/>
                <a:ea typeface="Calibri"/>
                <a:cs typeface="Calibri"/>
                <a:sym typeface="Calibri"/>
              </a:rPr>
              <a:t>cloud</a:t>
            </a:r>
            <a:endParaRPr sz="800" b="0" i="0" u="none" strike="noStrike" cap="none">
              <a:solidFill>
                <a:schemeClr val="dk1"/>
              </a:solidFill>
              <a:latin typeface="Calibri"/>
              <a:ea typeface="Calibri"/>
              <a:cs typeface="Calibri"/>
              <a:sym typeface="Calibri"/>
            </a:endParaRPr>
          </a:p>
        </p:txBody>
      </p:sp>
      <p:sp>
        <p:nvSpPr>
          <p:cNvPr id="2042" name="Google Shape;2042;g3f6a040a5a3_1_132"/>
          <p:cNvSpPr/>
          <p:nvPr/>
        </p:nvSpPr>
        <p:spPr>
          <a:xfrm>
            <a:off x="1686365" y="2091690"/>
            <a:ext cx="274200" cy="274200"/>
          </a:xfrm>
          <a:prstGeom prst="ellipse">
            <a:avLst/>
          </a:prstGeom>
          <a:solidFill>
            <a:srgbClr val="8A97A6"/>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3" name="Google Shape;2043;g3f6a040a5a3_1_132"/>
          <p:cNvSpPr/>
          <p:nvPr/>
        </p:nvSpPr>
        <p:spPr>
          <a:xfrm>
            <a:off x="1115085" y="1975104"/>
            <a:ext cx="823200" cy="233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B6472"/>
              </a:buClr>
              <a:buSzPts val="800"/>
              <a:buFont typeface="Calibri"/>
              <a:buNone/>
            </a:pPr>
            <a:r>
              <a:rPr lang="en" sz="800" b="1" i="0" u="none" strike="noStrike" cap="none">
                <a:solidFill>
                  <a:srgbClr val="5B6472"/>
                </a:solidFill>
                <a:latin typeface="Calibri"/>
                <a:ea typeface="Calibri"/>
                <a:cs typeface="Calibri"/>
                <a:sym typeface="Calibri"/>
              </a:rPr>
              <a:t>chair</a:t>
            </a:r>
            <a:endParaRPr sz="800" b="0" i="0" u="none" strike="noStrike" cap="none">
              <a:solidFill>
                <a:schemeClr val="dk1"/>
              </a:solidFill>
              <a:latin typeface="Calibri"/>
              <a:ea typeface="Calibri"/>
              <a:cs typeface="Calibri"/>
              <a:sym typeface="Calibri"/>
            </a:endParaRPr>
          </a:p>
        </p:txBody>
      </p:sp>
      <p:sp>
        <p:nvSpPr>
          <p:cNvPr id="2044" name="Google Shape;2044;g3f6a040a5a3_1_132"/>
          <p:cNvSpPr/>
          <p:nvPr/>
        </p:nvSpPr>
        <p:spPr>
          <a:xfrm>
            <a:off x="651510" y="3826764"/>
            <a:ext cx="3531900" cy="288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B6472"/>
              </a:buClr>
              <a:buSzPts val="900"/>
              <a:buFont typeface="Calibri"/>
              <a:buNone/>
            </a:pPr>
            <a:r>
              <a:rPr lang="en" sz="900" b="0" i="1" u="none" strike="noStrike" cap="none">
                <a:solidFill>
                  <a:srgbClr val="5B6472"/>
                </a:solidFill>
                <a:latin typeface="Calibri"/>
                <a:ea typeface="Calibri"/>
                <a:cs typeface="Calibri"/>
                <a:sym typeface="Calibri"/>
              </a:rPr>
              <a:t>Still symmetric — no clusters, no meaning recovered</a:t>
            </a:r>
            <a:endParaRPr sz="900" b="0" i="0" u="none" strike="noStrike" cap="none">
              <a:solidFill>
                <a:schemeClr val="dk1"/>
              </a:solidFill>
              <a:latin typeface="Calibri"/>
              <a:ea typeface="Calibri"/>
              <a:cs typeface="Calibri"/>
              <a:sym typeface="Calibri"/>
            </a:endParaRPr>
          </a:p>
        </p:txBody>
      </p:sp>
      <p:sp>
        <p:nvSpPr>
          <p:cNvPr id="2045" name="Google Shape;2045;g3f6a040a5a3_1_132"/>
          <p:cNvSpPr/>
          <p:nvPr/>
        </p:nvSpPr>
        <p:spPr>
          <a:xfrm>
            <a:off x="4732020" y="891540"/>
            <a:ext cx="4011900" cy="3360300"/>
          </a:xfrm>
          <a:prstGeom prst="roundRect">
            <a:avLst>
              <a:gd name="adj" fmla="val 2449"/>
            </a:avLst>
          </a:prstGeom>
          <a:solidFill>
            <a:srgbClr val="F9FAFB"/>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6" name="Google Shape;2046;g3f6a040a5a3_1_132"/>
          <p:cNvSpPr/>
          <p:nvPr/>
        </p:nvSpPr>
        <p:spPr>
          <a:xfrm>
            <a:off x="4732020" y="891540"/>
            <a:ext cx="4011900" cy="445800"/>
          </a:xfrm>
          <a:prstGeom prst="roundRect">
            <a:avLst>
              <a:gd name="adj" fmla="val 18462"/>
            </a:avLst>
          </a:prstGeom>
          <a:solidFill>
            <a:srgbClr val="1C7293"/>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7" name="Google Shape;2047;g3f6a040a5a3_1_132"/>
          <p:cNvSpPr/>
          <p:nvPr/>
        </p:nvSpPr>
        <p:spPr>
          <a:xfrm>
            <a:off x="4732020" y="1110996"/>
            <a:ext cx="4011900" cy="226200"/>
          </a:xfrm>
          <a:prstGeom prst="rect">
            <a:avLst/>
          </a:prstGeom>
          <a:solidFill>
            <a:srgbClr val="1C7293"/>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8" name="Google Shape;2048;g3f6a040a5a3_1_132"/>
          <p:cNvSpPr/>
          <p:nvPr/>
        </p:nvSpPr>
        <p:spPr>
          <a:xfrm>
            <a:off x="4937760" y="891540"/>
            <a:ext cx="3600600" cy="44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200"/>
              <a:buFont typeface="Calibri"/>
              <a:buNone/>
            </a:pPr>
            <a:r>
              <a:rPr lang="en" sz="1200" b="1" i="0" u="none" strike="noStrike" cap="none">
                <a:solidFill>
                  <a:srgbClr val="FFFFFF"/>
                </a:solidFill>
                <a:latin typeface="Calibri"/>
                <a:ea typeface="Calibri"/>
                <a:cs typeface="Calibri"/>
                <a:sym typeface="Calibri"/>
              </a:rPr>
              <a:t>Trained Embeddings  →  PCA Output</a:t>
            </a:r>
            <a:endParaRPr sz="1200" b="0" i="0" u="none" strike="noStrike" cap="none">
              <a:solidFill>
                <a:schemeClr val="dk1"/>
              </a:solidFill>
              <a:latin typeface="Calibri"/>
              <a:ea typeface="Calibri"/>
              <a:cs typeface="Calibri"/>
              <a:sym typeface="Calibri"/>
            </a:endParaRPr>
          </a:p>
        </p:txBody>
      </p:sp>
      <p:sp>
        <p:nvSpPr>
          <p:cNvPr id="2049" name="Google Shape;2049;g3f6a040a5a3_1_132"/>
          <p:cNvSpPr/>
          <p:nvPr/>
        </p:nvSpPr>
        <p:spPr>
          <a:xfrm>
            <a:off x="5736717" y="2221992"/>
            <a:ext cx="219300" cy="219300"/>
          </a:xfrm>
          <a:prstGeom prst="ellipse">
            <a:avLst/>
          </a:prstGeom>
          <a:solidFill>
            <a:srgbClr val="065A82"/>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0" name="Google Shape;2050;g3f6a040a5a3_1_132"/>
          <p:cNvSpPr/>
          <p:nvPr/>
        </p:nvSpPr>
        <p:spPr>
          <a:xfrm>
            <a:off x="5469255" y="2468880"/>
            <a:ext cx="754500" cy="192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1295C"/>
              </a:buClr>
              <a:buSzPts val="800"/>
              <a:buFont typeface="Calibri"/>
              <a:buNone/>
            </a:pPr>
            <a:r>
              <a:rPr lang="en" sz="800" b="1" i="0" u="none" strike="noStrike" cap="none">
                <a:solidFill>
                  <a:srgbClr val="21295C"/>
                </a:solidFill>
                <a:latin typeface="Calibri"/>
                <a:ea typeface="Calibri"/>
                <a:cs typeface="Calibri"/>
                <a:sym typeface="Calibri"/>
              </a:rPr>
              <a:t>car</a:t>
            </a:r>
            <a:endParaRPr sz="800" b="0" i="0" u="none" strike="noStrike" cap="none">
              <a:solidFill>
                <a:schemeClr val="dk1"/>
              </a:solidFill>
              <a:latin typeface="Calibri"/>
              <a:ea typeface="Calibri"/>
              <a:cs typeface="Calibri"/>
              <a:sym typeface="Calibri"/>
            </a:endParaRPr>
          </a:p>
        </p:txBody>
      </p:sp>
      <p:sp>
        <p:nvSpPr>
          <p:cNvPr id="2051" name="Google Shape;2051;g3f6a040a5a3_1_132"/>
          <p:cNvSpPr/>
          <p:nvPr/>
        </p:nvSpPr>
        <p:spPr>
          <a:xfrm>
            <a:off x="6113907" y="2427732"/>
            <a:ext cx="219300" cy="219300"/>
          </a:xfrm>
          <a:prstGeom prst="ellipse">
            <a:avLst/>
          </a:prstGeom>
          <a:solidFill>
            <a:srgbClr val="065A82"/>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2" name="Google Shape;2052;g3f6a040a5a3_1_132"/>
          <p:cNvSpPr/>
          <p:nvPr/>
        </p:nvSpPr>
        <p:spPr>
          <a:xfrm>
            <a:off x="5846445" y="2674620"/>
            <a:ext cx="754500" cy="192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1295C"/>
              </a:buClr>
              <a:buSzPts val="800"/>
              <a:buFont typeface="Calibri"/>
              <a:buNone/>
            </a:pPr>
            <a:r>
              <a:rPr lang="en" sz="800" b="1" i="0" u="none" strike="noStrike" cap="none">
                <a:solidFill>
                  <a:srgbClr val="21295C"/>
                </a:solidFill>
                <a:latin typeface="Calibri"/>
                <a:ea typeface="Calibri"/>
                <a:cs typeface="Calibri"/>
                <a:sym typeface="Calibri"/>
              </a:rPr>
              <a:t>bus</a:t>
            </a:r>
            <a:endParaRPr sz="800" b="0" i="0" u="none" strike="noStrike" cap="none">
              <a:solidFill>
                <a:schemeClr val="dk1"/>
              </a:solidFill>
              <a:latin typeface="Calibri"/>
              <a:ea typeface="Calibri"/>
              <a:cs typeface="Calibri"/>
              <a:sym typeface="Calibri"/>
            </a:endParaRPr>
          </a:p>
        </p:txBody>
      </p:sp>
      <p:sp>
        <p:nvSpPr>
          <p:cNvPr id="2053" name="Google Shape;2053;g3f6a040a5a3_1_132"/>
          <p:cNvSpPr/>
          <p:nvPr/>
        </p:nvSpPr>
        <p:spPr>
          <a:xfrm>
            <a:off x="5908167" y="2770632"/>
            <a:ext cx="219300" cy="219300"/>
          </a:xfrm>
          <a:prstGeom prst="ellipse">
            <a:avLst/>
          </a:prstGeom>
          <a:solidFill>
            <a:srgbClr val="065A82"/>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4" name="Google Shape;2054;g3f6a040a5a3_1_132"/>
          <p:cNvSpPr/>
          <p:nvPr/>
        </p:nvSpPr>
        <p:spPr>
          <a:xfrm>
            <a:off x="5640705" y="3017520"/>
            <a:ext cx="754500" cy="192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1295C"/>
              </a:buClr>
              <a:buSzPts val="800"/>
              <a:buFont typeface="Calibri"/>
              <a:buNone/>
            </a:pPr>
            <a:r>
              <a:rPr lang="en" sz="800" b="1" i="0" u="none" strike="noStrike" cap="none">
                <a:solidFill>
                  <a:srgbClr val="21295C"/>
                </a:solidFill>
                <a:latin typeface="Calibri"/>
                <a:ea typeface="Calibri"/>
                <a:cs typeface="Calibri"/>
                <a:sym typeface="Calibri"/>
              </a:rPr>
              <a:t>auto</a:t>
            </a:r>
            <a:endParaRPr sz="800" b="0" i="0" u="none" strike="noStrike" cap="none">
              <a:solidFill>
                <a:schemeClr val="dk1"/>
              </a:solidFill>
              <a:latin typeface="Calibri"/>
              <a:ea typeface="Calibri"/>
              <a:cs typeface="Calibri"/>
              <a:sym typeface="Calibri"/>
            </a:endParaRPr>
          </a:p>
        </p:txBody>
      </p:sp>
      <p:sp>
        <p:nvSpPr>
          <p:cNvPr id="2055" name="Google Shape;2055;g3f6a040a5a3_1_132"/>
          <p:cNvSpPr/>
          <p:nvPr/>
        </p:nvSpPr>
        <p:spPr>
          <a:xfrm>
            <a:off x="7314057" y="2119122"/>
            <a:ext cx="219300" cy="219300"/>
          </a:xfrm>
          <a:prstGeom prst="ellipse">
            <a:avLst/>
          </a:prstGeom>
          <a:solidFill>
            <a:srgbClr val="FFB627"/>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6" name="Google Shape;2056;g3f6a040a5a3_1_132"/>
          <p:cNvSpPr/>
          <p:nvPr/>
        </p:nvSpPr>
        <p:spPr>
          <a:xfrm>
            <a:off x="7046595" y="2366010"/>
            <a:ext cx="754500" cy="192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1295C"/>
              </a:buClr>
              <a:buSzPts val="800"/>
              <a:buFont typeface="Calibri"/>
              <a:buNone/>
            </a:pPr>
            <a:r>
              <a:rPr lang="en" sz="800" b="1" i="0" u="none" strike="noStrike" cap="none">
                <a:solidFill>
                  <a:srgbClr val="21295C"/>
                </a:solidFill>
                <a:latin typeface="Calibri"/>
                <a:ea typeface="Calibri"/>
                <a:cs typeface="Calibri"/>
                <a:sym typeface="Calibri"/>
              </a:rPr>
              <a:t>banana</a:t>
            </a:r>
            <a:endParaRPr sz="800" b="0" i="0" u="none" strike="noStrike" cap="none">
              <a:solidFill>
                <a:schemeClr val="dk1"/>
              </a:solidFill>
              <a:latin typeface="Calibri"/>
              <a:ea typeface="Calibri"/>
              <a:cs typeface="Calibri"/>
              <a:sym typeface="Calibri"/>
            </a:endParaRPr>
          </a:p>
        </p:txBody>
      </p:sp>
      <p:sp>
        <p:nvSpPr>
          <p:cNvPr id="2057" name="Google Shape;2057;g3f6a040a5a3_1_132"/>
          <p:cNvSpPr/>
          <p:nvPr/>
        </p:nvSpPr>
        <p:spPr>
          <a:xfrm>
            <a:off x="7691247" y="2427732"/>
            <a:ext cx="219300" cy="219300"/>
          </a:xfrm>
          <a:prstGeom prst="ellipse">
            <a:avLst/>
          </a:prstGeom>
          <a:solidFill>
            <a:srgbClr val="FFB627"/>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8" name="Google Shape;2058;g3f6a040a5a3_1_132"/>
          <p:cNvSpPr/>
          <p:nvPr/>
        </p:nvSpPr>
        <p:spPr>
          <a:xfrm>
            <a:off x="7423785" y="2674620"/>
            <a:ext cx="754500" cy="192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1295C"/>
              </a:buClr>
              <a:buSzPts val="800"/>
              <a:buFont typeface="Calibri"/>
              <a:buNone/>
            </a:pPr>
            <a:r>
              <a:rPr lang="en" sz="800" b="1" i="0" u="none" strike="noStrike" cap="none">
                <a:solidFill>
                  <a:srgbClr val="21295C"/>
                </a:solidFill>
                <a:latin typeface="Calibri"/>
                <a:ea typeface="Calibri"/>
                <a:cs typeface="Calibri"/>
                <a:sym typeface="Calibri"/>
              </a:rPr>
              <a:t>apple</a:t>
            </a:r>
            <a:endParaRPr sz="800" b="0" i="0" u="none" strike="noStrike" cap="none">
              <a:solidFill>
                <a:schemeClr val="dk1"/>
              </a:solidFill>
              <a:latin typeface="Calibri"/>
              <a:ea typeface="Calibri"/>
              <a:cs typeface="Calibri"/>
              <a:sym typeface="Calibri"/>
            </a:endParaRPr>
          </a:p>
        </p:txBody>
      </p:sp>
      <p:sp>
        <p:nvSpPr>
          <p:cNvPr id="2059" name="Google Shape;2059;g3f6a040a5a3_1_132"/>
          <p:cNvSpPr/>
          <p:nvPr/>
        </p:nvSpPr>
        <p:spPr>
          <a:xfrm>
            <a:off x="7416927" y="2736342"/>
            <a:ext cx="219300" cy="219300"/>
          </a:xfrm>
          <a:prstGeom prst="ellipse">
            <a:avLst/>
          </a:prstGeom>
          <a:solidFill>
            <a:srgbClr val="FFB627"/>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0" name="Google Shape;2060;g3f6a040a5a3_1_132"/>
          <p:cNvSpPr/>
          <p:nvPr/>
        </p:nvSpPr>
        <p:spPr>
          <a:xfrm>
            <a:off x="7149465" y="2983230"/>
            <a:ext cx="754500" cy="192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1295C"/>
              </a:buClr>
              <a:buSzPts val="800"/>
              <a:buFont typeface="Calibri"/>
              <a:buNone/>
            </a:pPr>
            <a:r>
              <a:rPr lang="en" sz="800" b="1" i="0" u="none" strike="noStrike" cap="none">
                <a:solidFill>
                  <a:srgbClr val="21295C"/>
                </a:solidFill>
                <a:latin typeface="Calibri"/>
                <a:ea typeface="Calibri"/>
                <a:cs typeface="Calibri"/>
                <a:sym typeface="Calibri"/>
              </a:rPr>
              <a:t>mango</a:t>
            </a:r>
            <a:endParaRPr sz="800" b="0" i="0" u="none" strike="noStrike" cap="none">
              <a:solidFill>
                <a:schemeClr val="dk1"/>
              </a:solidFill>
              <a:latin typeface="Calibri"/>
              <a:ea typeface="Calibri"/>
              <a:cs typeface="Calibri"/>
              <a:sym typeface="Calibri"/>
            </a:endParaRPr>
          </a:p>
        </p:txBody>
      </p:sp>
      <p:sp>
        <p:nvSpPr>
          <p:cNvPr id="2061" name="Google Shape;2061;g3f6a040a5a3_1_132"/>
          <p:cNvSpPr/>
          <p:nvPr/>
        </p:nvSpPr>
        <p:spPr>
          <a:xfrm>
            <a:off x="4972050" y="3826764"/>
            <a:ext cx="3531900" cy="288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C7293"/>
              </a:buClr>
              <a:buSzPts val="900"/>
              <a:buFont typeface="Calibri"/>
              <a:buNone/>
            </a:pPr>
            <a:r>
              <a:rPr lang="en" sz="900" b="1" i="1" u="none" strike="noStrike" cap="none">
                <a:solidFill>
                  <a:srgbClr val="1C7293"/>
                </a:solidFill>
                <a:latin typeface="Calibri"/>
                <a:ea typeface="Calibri"/>
                <a:cs typeface="Calibri"/>
                <a:sym typeface="Calibri"/>
              </a:rPr>
              <a:t>Real clusters survive — meaning was already encoded</a:t>
            </a:r>
            <a:endParaRPr sz="900" b="0" i="0" u="none" strike="noStrike" cap="none">
              <a:solidFill>
                <a:schemeClr val="dk1"/>
              </a:solidFill>
              <a:latin typeface="Calibri"/>
              <a:ea typeface="Calibri"/>
              <a:cs typeface="Calibri"/>
              <a:sym typeface="Calibri"/>
            </a:endParaRPr>
          </a:p>
        </p:txBody>
      </p:sp>
      <p:sp>
        <p:nvSpPr>
          <p:cNvPr id="2062" name="Google Shape;2062;g3f6a040a5a3_1_132"/>
          <p:cNvSpPr/>
          <p:nvPr/>
        </p:nvSpPr>
        <p:spPr>
          <a:xfrm>
            <a:off x="411480" y="4389120"/>
            <a:ext cx="8318700" cy="514500"/>
          </a:xfrm>
          <a:prstGeom prst="roundRect">
            <a:avLst>
              <a:gd name="adj" fmla="val 13333"/>
            </a:avLst>
          </a:prstGeom>
          <a:solidFill>
            <a:srgbClr val="21295C"/>
          </a:solidFill>
          <a:ln>
            <a:noFill/>
          </a:ln>
          <a:effectLst>
            <a:outerShdw blurRad="76200" dist="28575" dir="5400000" algn="bl" rotWithShape="0">
              <a:srgbClr val="BFC9D6">
                <a:alpha val="30196"/>
              </a:srgbClr>
            </a:outerShdw>
          </a:effectLst>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3" name="Google Shape;2063;g3f6a040a5a3_1_132"/>
          <p:cNvSpPr/>
          <p:nvPr/>
        </p:nvSpPr>
        <p:spPr>
          <a:xfrm>
            <a:off x="617220" y="4389120"/>
            <a:ext cx="7886700" cy="514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B627"/>
              </a:buClr>
              <a:buSzPts val="1100"/>
              <a:buFont typeface="Calibri"/>
              <a:buNone/>
            </a:pPr>
            <a:r>
              <a:rPr lang="en" sz="1100" b="1" i="0" u="none" strike="noStrike" cap="none">
                <a:solidFill>
                  <a:srgbClr val="FFB627"/>
                </a:solidFill>
                <a:latin typeface="Calibri"/>
                <a:ea typeface="Calibri"/>
                <a:cs typeface="Calibri"/>
                <a:sym typeface="Calibri"/>
              </a:rPr>
              <a:t>PCA is a mirror, not a mind reader — </a:t>
            </a:r>
            <a:r>
              <a:rPr lang="en" sz="1100" b="0" i="0" u="none" strike="noStrike" cap="none">
                <a:solidFill>
                  <a:srgbClr val="FFFFFF"/>
                </a:solidFill>
                <a:latin typeface="Calibri"/>
                <a:ea typeface="Calibri"/>
                <a:cs typeface="Calibri"/>
                <a:sym typeface="Calibri"/>
              </a:rPr>
              <a:t>it can only compress meaning that was already learned, never invent it.</a:t>
            </a:r>
            <a:endParaRPr sz="1100" b="0" i="0" u="none" strike="noStrike" cap="none">
              <a:solidFill>
                <a:schemeClr val="dk1"/>
              </a:solidFill>
              <a:latin typeface="Calibri"/>
              <a:ea typeface="Calibri"/>
              <a:cs typeface="Calibri"/>
              <a:sym typeface="Calibri"/>
            </a:endParaRPr>
          </a:p>
        </p:txBody>
      </p:sp>
      <p:sp>
        <p:nvSpPr>
          <p:cNvPr id="2064" name="Google Shape;2064;g3f6a040a5a3_1_132"/>
          <p:cNvSpPr/>
          <p:nvPr/>
        </p:nvSpPr>
        <p:spPr>
          <a:xfrm>
            <a:off x="4595482" y="127956"/>
            <a:ext cx="8412600" cy="68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600"/>
              <a:buFont typeface="Calibri"/>
              <a:buNone/>
            </a:pPr>
            <a:r>
              <a:rPr lang="en" sz="2300" b="1" i="0" u="none" strike="noStrike" cap="none">
                <a:solidFill>
                  <a:srgbClr val="DC2626"/>
                </a:solidFill>
                <a:latin typeface="Calibri"/>
                <a:ea typeface="Calibri"/>
                <a:cs typeface="Calibri"/>
                <a:sym typeface="Calibri"/>
              </a:rPr>
              <a:t>Option C — PCA on One-Hot Vectors</a:t>
            </a:r>
            <a:endParaRPr sz="2300" b="0" i="0" u="none" strike="noStrike" cap="none">
              <a:solidFill>
                <a:srgbClr val="DC2626"/>
              </a:solidFill>
              <a:latin typeface="Calibri"/>
              <a:ea typeface="Calibri"/>
              <a:cs typeface="Calibri"/>
              <a:sym typeface="Calibri"/>
            </a:endParaRPr>
          </a:p>
        </p:txBody>
      </p:sp>
      <p:sp>
        <p:nvSpPr>
          <p:cNvPr id="2065" name="Google Shape;2065;g3f6a040a5a3_1_132"/>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67</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069"/>
        <p:cNvGrpSpPr/>
        <p:nvPr/>
      </p:nvGrpSpPr>
      <p:grpSpPr>
        <a:xfrm>
          <a:off x="0" y="0"/>
          <a:ext cx="0" cy="0"/>
          <a:chOff x="0" y="0"/>
          <a:chExt cx="0" cy="0"/>
        </a:xfrm>
      </p:grpSpPr>
      <p:sp>
        <p:nvSpPr>
          <p:cNvPr id="2070" name="Google Shape;2070;p50"/>
          <p:cNvSpPr/>
          <p:nvPr/>
        </p:nvSpPr>
        <p:spPr>
          <a:xfrm>
            <a:off x="0" y="0"/>
            <a:ext cx="9144000" cy="960000"/>
          </a:xfrm>
          <a:prstGeom prst="rect">
            <a:avLst/>
          </a:prstGeom>
          <a:solidFill>
            <a:srgbClr val="0F1E3C"/>
          </a:solidFill>
          <a:ln w="12700" cap="flat" cmpd="sng">
            <a:solidFill>
              <a:srgbClr val="0F1E3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1" name="Google Shape;2071;p50"/>
          <p:cNvSpPr/>
          <p:nvPr/>
        </p:nvSpPr>
        <p:spPr>
          <a:xfrm>
            <a:off x="365760" y="91440"/>
            <a:ext cx="8412600" cy="68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600"/>
              <a:buFont typeface="Calibri"/>
              <a:buNone/>
            </a:pPr>
            <a:r>
              <a:rPr lang="en" sz="2600" b="1" i="0" u="none" strike="noStrike" cap="none">
                <a:solidFill>
                  <a:srgbClr val="FFFFFF"/>
                </a:solidFill>
                <a:latin typeface="Calibri"/>
                <a:ea typeface="Calibri"/>
                <a:cs typeface="Calibri"/>
                <a:sym typeface="Calibri"/>
              </a:rPr>
              <a:t>Option B — Hardcoded Synonym Table</a:t>
            </a:r>
            <a:endParaRPr sz="2600" b="0" i="0" u="none" strike="noStrike" cap="none">
              <a:solidFill>
                <a:srgbClr val="000000"/>
              </a:solidFill>
              <a:latin typeface="Calibri"/>
              <a:ea typeface="Calibri"/>
              <a:cs typeface="Calibri"/>
              <a:sym typeface="Calibri"/>
            </a:endParaRPr>
          </a:p>
        </p:txBody>
      </p:sp>
      <p:sp>
        <p:nvSpPr>
          <p:cNvPr id="2072" name="Google Shape;2072;p50"/>
          <p:cNvSpPr/>
          <p:nvPr/>
        </p:nvSpPr>
        <p:spPr>
          <a:xfrm>
            <a:off x="365760" y="1078992"/>
            <a:ext cx="3931800" cy="3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DC653"/>
              </a:buClr>
              <a:buSzPts val="1800"/>
              <a:buFont typeface="Calibri"/>
              <a:buNone/>
            </a:pPr>
            <a:r>
              <a:rPr lang="en" sz="1800" b="1" i="0" u="none" strike="noStrike" cap="none">
                <a:solidFill>
                  <a:srgbClr val="2DC653"/>
                </a:solidFill>
                <a:latin typeface="Calibri"/>
                <a:ea typeface="Calibri"/>
                <a:cs typeface="Calibri"/>
                <a:sym typeface="Calibri"/>
              </a:rPr>
              <a:t>✅  Pros</a:t>
            </a:r>
            <a:endParaRPr sz="1800" b="0" i="0" u="none" strike="noStrike" cap="none">
              <a:solidFill>
                <a:srgbClr val="000000"/>
              </a:solidFill>
              <a:latin typeface="Calibri"/>
              <a:ea typeface="Calibri"/>
              <a:cs typeface="Calibri"/>
              <a:sym typeface="Calibri"/>
            </a:endParaRPr>
          </a:p>
        </p:txBody>
      </p:sp>
      <p:sp>
        <p:nvSpPr>
          <p:cNvPr id="2073" name="Google Shape;2073;p50"/>
          <p:cNvSpPr/>
          <p:nvPr/>
        </p:nvSpPr>
        <p:spPr>
          <a:xfrm>
            <a:off x="4846320" y="1078992"/>
            <a:ext cx="3931800" cy="3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63946"/>
              </a:buClr>
              <a:buSzPts val="1800"/>
              <a:buFont typeface="Calibri"/>
              <a:buNone/>
            </a:pPr>
            <a:r>
              <a:rPr lang="en" sz="1800" b="1" i="0" u="none" strike="noStrike" cap="none">
                <a:solidFill>
                  <a:srgbClr val="E63946"/>
                </a:solidFill>
                <a:latin typeface="Calibri"/>
                <a:ea typeface="Calibri"/>
                <a:cs typeface="Calibri"/>
                <a:sym typeface="Calibri"/>
              </a:rPr>
              <a:t>❌  Cons</a:t>
            </a:r>
            <a:endParaRPr sz="1800" b="0" i="0" u="none" strike="noStrike" cap="none">
              <a:solidFill>
                <a:srgbClr val="000000"/>
              </a:solidFill>
              <a:latin typeface="Calibri"/>
              <a:ea typeface="Calibri"/>
              <a:cs typeface="Calibri"/>
              <a:sym typeface="Calibri"/>
            </a:endParaRPr>
          </a:p>
        </p:txBody>
      </p:sp>
      <p:sp>
        <p:nvSpPr>
          <p:cNvPr id="2074" name="Google Shape;2074;p50"/>
          <p:cNvSpPr/>
          <p:nvPr/>
        </p:nvSpPr>
        <p:spPr>
          <a:xfrm>
            <a:off x="365760" y="1572768"/>
            <a:ext cx="3931800" cy="420600"/>
          </a:xfrm>
          <a:prstGeom prst="rect">
            <a:avLst/>
          </a:prstGeom>
          <a:solidFill>
            <a:srgbClr val="F0FFF4"/>
          </a:solidFill>
          <a:ln w="12700" cap="flat" cmpd="sng">
            <a:solidFill>
              <a:srgbClr val="2DC65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5" name="Google Shape;2075;p50"/>
          <p:cNvSpPr/>
          <p:nvPr/>
        </p:nvSpPr>
        <p:spPr>
          <a:xfrm>
            <a:off x="502920" y="1627632"/>
            <a:ext cx="36576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300"/>
              <a:buFont typeface="Calibri"/>
              <a:buNone/>
            </a:pPr>
            <a:r>
              <a:rPr lang="en" sz="1300" b="0" i="0" u="none" strike="noStrike" cap="none">
                <a:solidFill>
                  <a:srgbClr val="0F1E3C"/>
                </a:solidFill>
                <a:latin typeface="Calibri"/>
                <a:ea typeface="Calibri"/>
                <a:cs typeface="Calibri"/>
                <a:sym typeface="Calibri"/>
              </a:rPr>
              <a:t>• Fixes the observed problem immediately</a:t>
            </a:r>
            <a:endParaRPr sz="1300" b="0" i="0" u="none" strike="noStrike" cap="none">
              <a:solidFill>
                <a:srgbClr val="000000"/>
              </a:solidFill>
              <a:latin typeface="Calibri"/>
              <a:ea typeface="Calibri"/>
              <a:cs typeface="Calibri"/>
              <a:sym typeface="Calibri"/>
            </a:endParaRPr>
          </a:p>
        </p:txBody>
      </p:sp>
      <p:sp>
        <p:nvSpPr>
          <p:cNvPr id="2076" name="Google Shape;2076;p50"/>
          <p:cNvSpPr/>
          <p:nvPr/>
        </p:nvSpPr>
        <p:spPr>
          <a:xfrm>
            <a:off x="365760" y="2103120"/>
            <a:ext cx="3931800" cy="420600"/>
          </a:xfrm>
          <a:prstGeom prst="rect">
            <a:avLst/>
          </a:prstGeom>
          <a:solidFill>
            <a:srgbClr val="F0FFF4"/>
          </a:solidFill>
          <a:ln w="12700" cap="flat" cmpd="sng">
            <a:solidFill>
              <a:srgbClr val="2DC65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7" name="Google Shape;2077;p50"/>
          <p:cNvSpPr/>
          <p:nvPr/>
        </p:nvSpPr>
        <p:spPr>
          <a:xfrm>
            <a:off x="502920" y="2157984"/>
            <a:ext cx="36576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300"/>
              <a:buFont typeface="Calibri"/>
              <a:buNone/>
            </a:pPr>
            <a:r>
              <a:rPr lang="en" sz="1300" b="0" i="0" u="none" strike="noStrike" cap="none">
                <a:solidFill>
                  <a:srgbClr val="0F1E3C"/>
                </a:solidFill>
                <a:latin typeface="Calibri"/>
                <a:ea typeface="Calibri"/>
                <a:cs typeface="Calibri"/>
                <a:sym typeface="Calibri"/>
              </a:rPr>
              <a:t>• Easy to implement and deploy</a:t>
            </a:r>
            <a:endParaRPr sz="1300" b="0" i="0" u="none" strike="noStrike" cap="none">
              <a:solidFill>
                <a:srgbClr val="000000"/>
              </a:solidFill>
              <a:latin typeface="Calibri"/>
              <a:ea typeface="Calibri"/>
              <a:cs typeface="Calibri"/>
              <a:sym typeface="Calibri"/>
            </a:endParaRPr>
          </a:p>
        </p:txBody>
      </p:sp>
      <p:sp>
        <p:nvSpPr>
          <p:cNvPr id="2078" name="Google Shape;2078;p50"/>
          <p:cNvSpPr/>
          <p:nvPr/>
        </p:nvSpPr>
        <p:spPr>
          <a:xfrm>
            <a:off x="365760" y="2633472"/>
            <a:ext cx="3931800" cy="420600"/>
          </a:xfrm>
          <a:prstGeom prst="rect">
            <a:avLst/>
          </a:prstGeom>
          <a:solidFill>
            <a:srgbClr val="F0FFF4"/>
          </a:solidFill>
          <a:ln w="12700" cap="flat" cmpd="sng">
            <a:solidFill>
              <a:srgbClr val="2DC65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9" name="Google Shape;2079;p50"/>
          <p:cNvSpPr/>
          <p:nvPr/>
        </p:nvSpPr>
        <p:spPr>
          <a:xfrm>
            <a:off x="502920" y="2688336"/>
            <a:ext cx="36576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300"/>
              <a:buFont typeface="Calibri"/>
              <a:buNone/>
            </a:pPr>
            <a:r>
              <a:rPr lang="en" sz="1300" b="0" i="0" u="none" strike="noStrike" cap="none">
                <a:solidFill>
                  <a:srgbClr val="0F1E3C"/>
                </a:solidFill>
                <a:latin typeface="Calibri"/>
                <a:ea typeface="Calibri"/>
                <a:cs typeface="Calibri"/>
                <a:sym typeface="Calibri"/>
              </a:rPr>
              <a:t>• Widely used in commercial search engines</a:t>
            </a:r>
            <a:endParaRPr sz="1300" b="0" i="0" u="none" strike="noStrike" cap="none">
              <a:solidFill>
                <a:srgbClr val="000000"/>
              </a:solidFill>
              <a:latin typeface="Calibri"/>
              <a:ea typeface="Calibri"/>
              <a:cs typeface="Calibri"/>
              <a:sym typeface="Calibri"/>
            </a:endParaRPr>
          </a:p>
        </p:txBody>
      </p:sp>
      <p:sp>
        <p:nvSpPr>
          <p:cNvPr id="2080" name="Google Shape;2080;p50"/>
          <p:cNvSpPr/>
          <p:nvPr/>
        </p:nvSpPr>
        <p:spPr>
          <a:xfrm>
            <a:off x="365760" y="3163824"/>
            <a:ext cx="3931800" cy="420600"/>
          </a:xfrm>
          <a:prstGeom prst="rect">
            <a:avLst/>
          </a:prstGeom>
          <a:solidFill>
            <a:srgbClr val="F0FFF4"/>
          </a:solidFill>
          <a:ln w="12700" cap="flat" cmpd="sng">
            <a:solidFill>
              <a:srgbClr val="2DC65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1" name="Google Shape;2081;p50"/>
          <p:cNvSpPr/>
          <p:nvPr/>
        </p:nvSpPr>
        <p:spPr>
          <a:xfrm>
            <a:off x="502920" y="3218688"/>
            <a:ext cx="36576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300"/>
              <a:buFont typeface="Calibri"/>
              <a:buNone/>
            </a:pPr>
            <a:r>
              <a:rPr lang="en" sz="1300" b="0" i="0" u="none" strike="noStrike" cap="none">
                <a:solidFill>
                  <a:srgbClr val="0F1E3C"/>
                </a:solidFill>
                <a:latin typeface="Calibri"/>
                <a:ea typeface="Calibri"/>
                <a:cs typeface="Calibri"/>
                <a:sym typeface="Calibri"/>
              </a:rPr>
              <a:t>• No training data required</a:t>
            </a:r>
            <a:endParaRPr sz="1300" b="0" i="0" u="none" strike="noStrike" cap="none">
              <a:solidFill>
                <a:srgbClr val="000000"/>
              </a:solidFill>
              <a:latin typeface="Calibri"/>
              <a:ea typeface="Calibri"/>
              <a:cs typeface="Calibri"/>
              <a:sym typeface="Calibri"/>
            </a:endParaRPr>
          </a:p>
        </p:txBody>
      </p:sp>
      <p:sp>
        <p:nvSpPr>
          <p:cNvPr id="2082" name="Google Shape;2082;p50"/>
          <p:cNvSpPr/>
          <p:nvPr/>
        </p:nvSpPr>
        <p:spPr>
          <a:xfrm>
            <a:off x="4846320" y="1572768"/>
            <a:ext cx="3931800" cy="420600"/>
          </a:xfrm>
          <a:prstGeom prst="rect">
            <a:avLst/>
          </a:prstGeom>
          <a:solidFill>
            <a:srgbClr val="FFF3F3"/>
          </a:solidFill>
          <a:ln w="12700" cap="flat" cmpd="sng">
            <a:solidFill>
              <a:srgbClr val="E6394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3" name="Google Shape;2083;p50"/>
          <p:cNvSpPr/>
          <p:nvPr/>
        </p:nvSpPr>
        <p:spPr>
          <a:xfrm>
            <a:off x="4983480" y="1627632"/>
            <a:ext cx="36576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300"/>
              <a:buFont typeface="Calibri"/>
              <a:buNone/>
            </a:pPr>
            <a:r>
              <a:rPr lang="en" sz="1300" b="0" i="0" u="none" strike="noStrike" cap="none">
                <a:solidFill>
                  <a:srgbClr val="0F1E3C"/>
                </a:solidFill>
                <a:latin typeface="Calibri"/>
                <a:ea typeface="Calibri"/>
                <a:cs typeface="Calibri"/>
                <a:sym typeface="Calibri"/>
              </a:rPr>
              <a:t>• Does not scale — manual maintenance</a:t>
            </a:r>
            <a:endParaRPr sz="1300" b="0" i="0" u="none" strike="noStrike" cap="none">
              <a:solidFill>
                <a:srgbClr val="000000"/>
              </a:solidFill>
              <a:latin typeface="Calibri"/>
              <a:ea typeface="Calibri"/>
              <a:cs typeface="Calibri"/>
              <a:sym typeface="Calibri"/>
            </a:endParaRPr>
          </a:p>
        </p:txBody>
      </p:sp>
      <p:sp>
        <p:nvSpPr>
          <p:cNvPr id="2084" name="Google Shape;2084;p50"/>
          <p:cNvSpPr/>
          <p:nvPr/>
        </p:nvSpPr>
        <p:spPr>
          <a:xfrm>
            <a:off x="4846320" y="2103120"/>
            <a:ext cx="3931800" cy="420600"/>
          </a:xfrm>
          <a:prstGeom prst="rect">
            <a:avLst/>
          </a:prstGeom>
          <a:solidFill>
            <a:srgbClr val="FFF3F3"/>
          </a:solidFill>
          <a:ln w="12700" cap="flat" cmpd="sng">
            <a:solidFill>
              <a:srgbClr val="E6394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5" name="Google Shape;2085;p50"/>
          <p:cNvSpPr/>
          <p:nvPr/>
        </p:nvSpPr>
        <p:spPr>
          <a:xfrm>
            <a:off x="4983480" y="2157984"/>
            <a:ext cx="36576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300"/>
              <a:buFont typeface="Calibri"/>
              <a:buNone/>
            </a:pPr>
            <a:r>
              <a:rPr lang="en" sz="1300" b="0" i="0" u="none" strike="noStrike" cap="none">
                <a:solidFill>
                  <a:srgbClr val="0F1E3C"/>
                </a:solidFill>
                <a:latin typeface="Calibri"/>
                <a:ea typeface="Calibri"/>
                <a:cs typeface="Calibri"/>
                <a:sym typeface="Calibri"/>
              </a:rPr>
              <a:t>• Misses context-dependent synonyms</a:t>
            </a:r>
            <a:endParaRPr sz="1300" b="0" i="0" u="none" strike="noStrike" cap="none">
              <a:solidFill>
                <a:srgbClr val="000000"/>
              </a:solidFill>
              <a:latin typeface="Calibri"/>
              <a:ea typeface="Calibri"/>
              <a:cs typeface="Calibri"/>
              <a:sym typeface="Calibri"/>
            </a:endParaRPr>
          </a:p>
        </p:txBody>
      </p:sp>
      <p:sp>
        <p:nvSpPr>
          <p:cNvPr id="2086" name="Google Shape;2086;p50"/>
          <p:cNvSpPr/>
          <p:nvPr/>
        </p:nvSpPr>
        <p:spPr>
          <a:xfrm>
            <a:off x="4846320" y="2633472"/>
            <a:ext cx="3931800" cy="420600"/>
          </a:xfrm>
          <a:prstGeom prst="rect">
            <a:avLst/>
          </a:prstGeom>
          <a:solidFill>
            <a:srgbClr val="FFF3F3"/>
          </a:solidFill>
          <a:ln w="12700" cap="flat" cmpd="sng">
            <a:solidFill>
              <a:srgbClr val="E6394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7" name="Google Shape;2087;p50"/>
          <p:cNvSpPr/>
          <p:nvPr/>
        </p:nvSpPr>
        <p:spPr>
          <a:xfrm>
            <a:off x="4983480" y="2688336"/>
            <a:ext cx="36576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300"/>
              <a:buFont typeface="Calibri"/>
              <a:buNone/>
            </a:pPr>
            <a:r>
              <a:rPr lang="en" sz="1300" b="0" i="0" u="none" strike="noStrike" cap="none">
                <a:solidFill>
                  <a:srgbClr val="0F1E3C"/>
                </a:solidFill>
                <a:latin typeface="Calibri"/>
                <a:ea typeface="Calibri"/>
                <a:cs typeface="Calibri"/>
                <a:sym typeface="Calibri"/>
              </a:rPr>
              <a:t>• Cannot discover new relationships automatically</a:t>
            </a:r>
            <a:endParaRPr sz="1300" b="0" i="0" u="none" strike="noStrike" cap="none">
              <a:solidFill>
                <a:srgbClr val="000000"/>
              </a:solidFill>
              <a:latin typeface="Calibri"/>
              <a:ea typeface="Calibri"/>
              <a:cs typeface="Calibri"/>
              <a:sym typeface="Calibri"/>
            </a:endParaRPr>
          </a:p>
        </p:txBody>
      </p:sp>
      <p:sp>
        <p:nvSpPr>
          <p:cNvPr id="2088" name="Google Shape;2088;p50"/>
          <p:cNvSpPr/>
          <p:nvPr/>
        </p:nvSpPr>
        <p:spPr>
          <a:xfrm>
            <a:off x="4846320" y="3163824"/>
            <a:ext cx="3931800" cy="420600"/>
          </a:xfrm>
          <a:prstGeom prst="rect">
            <a:avLst/>
          </a:prstGeom>
          <a:solidFill>
            <a:srgbClr val="FFF3F3"/>
          </a:solidFill>
          <a:ln w="12700" cap="flat" cmpd="sng">
            <a:solidFill>
              <a:srgbClr val="E6394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9" name="Google Shape;2089;p50"/>
          <p:cNvSpPr/>
          <p:nvPr/>
        </p:nvSpPr>
        <p:spPr>
          <a:xfrm>
            <a:off x="4983480" y="3218688"/>
            <a:ext cx="36576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300"/>
              <a:buFont typeface="Calibri"/>
              <a:buNone/>
            </a:pPr>
            <a:r>
              <a:rPr lang="en" sz="1300" b="0" i="0" u="none" strike="noStrike" cap="none">
                <a:solidFill>
                  <a:srgbClr val="0F1E3C"/>
                </a:solidFill>
                <a:latin typeface="Calibri"/>
                <a:ea typeface="Calibri"/>
                <a:cs typeface="Calibri"/>
                <a:sym typeface="Calibri"/>
              </a:rPr>
              <a:t>• Brittle — one engineer's judgment</a:t>
            </a:r>
            <a:endParaRPr sz="1300" b="0" i="0" u="none" strike="noStrike" cap="none">
              <a:solidFill>
                <a:srgbClr val="000000"/>
              </a:solidFill>
              <a:latin typeface="Calibri"/>
              <a:ea typeface="Calibri"/>
              <a:cs typeface="Calibri"/>
              <a:sym typeface="Calibri"/>
            </a:endParaRPr>
          </a:p>
        </p:txBody>
      </p:sp>
      <p:sp>
        <p:nvSpPr>
          <p:cNvPr id="2090" name="Google Shape;2090;p50"/>
          <p:cNvSpPr/>
          <p:nvPr/>
        </p:nvSpPr>
        <p:spPr>
          <a:xfrm>
            <a:off x="365760" y="3767328"/>
            <a:ext cx="8412600" cy="1051500"/>
          </a:xfrm>
          <a:prstGeom prst="rect">
            <a:avLst/>
          </a:prstGeom>
          <a:solidFill>
            <a:srgbClr val="FFFBEA"/>
          </a:solidFill>
          <a:ln w="25400" cap="flat" cmpd="sng">
            <a:solidFill>
              <a:srgbClr val="F4A261"/>
            </a:solidFill>
            <a:prstDash val="solid"/>
            <a:round/>
            <a:headEnd type="none" w="sm" len="sm"/>
            <a:tailEnd type="none" w="sm" len="sm"/>
          </a:ln>
          <a:effectLst>
            <a:outerShdw blurRad="101600" dist="38100" dir="8100000" algn="bl" rotWithShape="0">
              <a:srgbClr val="000000">
                <a:alpha val="1215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1" name="Google Shape;2091;p50"/>
          <p:cNvSpPr/>
          <p:nvPr/>
        </p:nvSpPr>
        <p:spPr>
          <a:xfrm>
            <a:off x="548640" y="3822192"/>
            <a:ext cx="8046600" cy="914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4A261"/>
              </a:buClr>
              <a:buSzPts val="1300"/>
              <a:buFont typeface="Calibri"/>
              <a:buNone/>
            </a:pPr>
            <a:r>
              <a:rPr lang="en" sz="1300" b="1" i="0" u="none" strike="noStrike" cap="none">
                <a:solidFill>
                  <a:srgbClr val="F4A261"/>
                </a:solidFill>
                <a:latin typeface="Calibri"/>
                <a:ea typeface="Calibri"/>
                <a:cs typeface="Calibri"/>
                <a:sym typeface="Calibri"/>
              </a:rPr>
              <a:t>⚠️  Context matters!</a:t>
            </a:r>
            <a:br>
              <a:rPr lang="en" sz="1300" b="1" i="0" u="none" strike="noStrike" cap="none">
                <a:solidFill>
                  <a:srgbClr val="F4A261"/>
                </a:solidFill>
                <a:latin typeface="Calibri"/>
                <a:ea typeface="Calibri"/>
                <a:cs typeface="Calibri"/>
                <a:sym typeface="Calibri"/>
              </a:rPr>
            </a:br>
            <a:endParaRPr sz="13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F1E3C"/>
              </a:buClr>
              <a:buSzPts val="1300"/>
              <a:buFont typeface="Calibri"/>
              <a:buNone/>
            </a:pPr>
            <a:r>
              <a:rPr lang="en" sz="1300" b="0" i="0" u="none" strike="noStrike" cap="none">
                <a:solidFill>
                  <a:srgbClr val="0F1E3C"/>
                </a:solidFill>
                <a:latin typeface="Calibri"/>
                <a:ea typeface="Calibri"/>
                <a:cs typeface="Calibri"/>
                <a:sym typeface="Calibri"/>
              </a:rPr>
              <a:t>In a practical engineering interview: </a:t>
            </a:r>
            <a:r>
              <a:rPr lang="en" sz="1300" b="1" i="0" u="none" strike="noStrike" cap="none">
                <a:solidFill>
                  <a:srgbClr val="00B4D8"/>
                </a:solidFill>
                <a:latin typeface="Calibri"/>
                <a:ea typeface="Calibri"/>
                <a:cs typeface="Calibri"/>
                <a:sym typeface="Calibri"/>
              </a:rPr>
              <a:t>B is a reasonable pragmatic answer.</a:t>
            </a:r>
            <a:br>
              <a:rPr lang="en" sz="1300" b="1" i="0" u="none" strike="noStrike" cap="none">
                <a:solidFill>
                  <a:srgbClr val="00B4D8"/>
                </a:solidFill>
                <a:latin typeface="Calibri"/>
                <a:ea typeface="Calibri"/>
                <a:cs typeface="Calibri"/>
                <a:sym typeface="Calibri"/>
              </a:rPr>
            </a:br>
            <a:r>
              <a:rPr lang="en" sz="1300" b="0" i="0" u="none" strike="noStrike" cap="none">
                <a:solidFill>
                  <a:srgbClr val="0F1E3C"/>
                </a:solidFill>
                <a:latin typeface="Calibri"/>
                <a:ea typeface="Calibri"/>
                <a:cs typeface="Calibri"/>
                <a:sym typeface="Calibri"/>
              </a:rPr>
              <a:t>In an ML/representation-learning exam: </a:t>
            </a:r>
            <a:r>
              <a:rPr lang="en" sz="1300" b="1" i="0" u="none" strike="noStrike" cap="none">
                <a:solidFill>
                  <a:srgbClr val="00B4D8"/>
                </a:solidFill>
                <a:latin typeface="Calibri"/>
                <a:ea typeface="Calibri"/>
                <a:cs typeface="Calibri"/>
                <a:sym typeface="Calibri"/>
              </a:rPr>
              <a:t>D (dense embeddings) is the intended answer.</a:t>
            </a:r>
            <a:endParaRPr sz="1300" b="0" i="0" u="none" strike="noStrike" cap="none">
              <a:solidFill>
                <a:srgbClr val="000000"/>
              </a:solidFill>
              <a:latin typeface="Calibri"/>
              <a:ea typeface="Calibri"/>
              <a:cs typeface="Calibri"/>
              <a:sym typeface="Calibri"/>
            </a:endParaRPr>
          </a:p>
        </p:txBody>
      </p:sp>
      <p:sp>
        <p:nvSpPr>
          <p:cNvPr id="2092" name="Google Shape;2092;p50"/>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68</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096"/>
        <p:cNvGrpSpPr/>
        <p:nvPr/>
      </p:nvGrpSpPr>
      <p:grpSpPr>
        <a:xfrm>
          <a:off x="0" y="0"/>
          <a:ext cx="0" cy="0"/>
          <a:chOff x="0" y="0"/>
          <a:chExt cx="0" cy="0"/>
        </a:xfrm>
      </p:grpSpPr>
      <p:sp>
        <p:nvSpPr>
          <p:cNvPr id="2097" name="Google Shape;2097;p51"/>
          <p:cNvSpPr/>
          <p:nvPr/>
        </p:nvSpPr>
        <p:spPr>
          <a:xfrm>
            <a:off x="0" y="0"/>
            <a:ext cx="9144000" cy="960000"/>
          </a:xfrm>
          <a:prstGeom prst="rect">
            <a:avLst/>
          </a:prstGeom>
          <a:solidFill>
            <a:srgbClr val="0F1E3C"/>
          </a:solidFill>
          <a:ln w="12700" cap="flat" cmpd="sng">
            <a:solidFill>
              <a:srgbClr val="0F1E3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8" name="Google Shape;2098;p51"/>
          <p:cNvSpPr/>
          <p:nvPr/>
        </p:nvSpPr>
        <p:spPr>
          <a:xfrm>
            <a:off x="365760" y="91440"/>
            <a:ext cx="8412600" cy="68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600"/>
              <a:buFont typeface="Calibri"/>
              <a:buNone/>
            </a:pPr>
            <a:r>
              <a:rPr lang="en" sz="2600" b="1" i="0" u="none" strike="noStrike" cap="none">
                <a:solidFill>
                  <a:srgbClr val="FFFFFF"/>
                </a:solidFill>
                <a:latin typeface="Calibri"/>
                <a:ea typeface="Calibri"/>
                <a:cs typeface="Calibri"/>
                <a:sym typeface="Calibri"/>
              </a:rPr>
              <a:t>Option D</a:t>
            </a:r>
            <a:endParaRPr sz="2600" b="0" i="0" u="none" strike="noStrike" cap="none">
              <a:solidFill>
                <a:srgbClr val="000000"/>
              </a:solidFill>
              <a:latin typeface="Calibri"/>
              <a:ea typeface="Calibri"/>
              <a:cs typeface="Calibri"/>
              <a:sym typeface="Calibri"/>
            </a:endParaRPr>
          </a:p>
        </p:txBody>
      </p:sp>
      <p:sp>
        <p:nvSpPr>
          <p:cNvPr id="2099" name="Google Shape;2099;p51"/>
          <p:cNvSpPr/>
          <p:nvPr/>
        </p:nvSpPr>
        <p:spPr>
          <a:xfrm>
            <a:off x="365760" y="1051560"/>
            <a:ext cx="22860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B4D8"/>
              </a:buClr>
              <a:buSzPts val="1600"/>
              <a:buFont typeface="Calibri"/>
              <a:buNone/>
            </a:pPr>
            <a:r>
              <a:rPr lang="en" sz="1600" b="1" i="0" u="none" strike="noStrike" cap="none">
                <a:solidFill>
                  <a:srgbClr val="00B4D8"/>
                </a:solidFill>
                <a:latin typeface="Calibri"/>
                <a:ea typeface="Calibri"/>
                <a:cs typeface="Calibri"/>
                <a:sym typeface="Calibri"/>
              </a:rPr>
              <a:t>Core Idea</a:t>
            </a:r>
            <a:endParaRPr sz="1600" b="0" i="0" u="none" strike="noStrike" cap="none">
              <a:solidFill>
                <a:srgbClr val="000000"/>
              </a:solidFill>
              <a:latin typeface="Calibri"/>
              <a:ea typeface="Calibri"/>
              <a:cs typeface="Calibri"/>
              <a:sym typeface="Calibri"/>
            </a:endParaRPr>
          </a:p>
        </p:txBody>
      </p:sp>
      <p:sp>
        <p:nvSpPr>
          <p:cNvPr id="2100" name="Google Shape;2100;p51"/>
          <p:cNvSpPr/>
          <p:nvPr/>
        </p:nvSpPr>
        <p:spPr>
          <a:xfrm>
            <a:off x="365760" y="1417320"/>
            <a:ext cx="84126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500"/>
              <a:buFont typeface="Calibri"/>
              <a:buNone/>
            </a:pPr>
            <a:r>
              <a:rPr lang="en" sz="1500" b="0" i="1" u="none" strike="noStrike" cap="none">
                <a:solidFill>
                  <a:srgbClr val="0F1E3C"/>
                </a:solidFill>
                <a:latin typeface="Calibri"/>
                <a:ea typeface="Calibri"/>
                <a:cs typeface="Calibri"/>
                <a:sym typeface="Calibri"/>
              </a:rPr>
              <a:t>Words that lead to similar user behavior should have similar vector representations.</a:t>
            </a:r>
            <a:endParaRPr sz="1500" b="0" i="0" u="none" strike="noStrike" cap="none">
              <a:solidFill>
                <a:srgbClr val="000000"/>
              </a:solidFill>
              <a:latin typeface="Calibri"/>
              <a:ea typeface="Calibri"/>
              <a:cs typeface="Calibri"/>
              <a:sym typeface="Calibri"/>
            </a:endParaRPr>
          </a:p>
        </p:txBody>
      </p:sp>
      <p:sp>
        <p:nvSpPr>
          <p:cNvPr id="2101" name="Google Shape;2101;p51"/>
          <p:cNvSpPr/>
          <p:nvPr/>
        </p:nvSpPr>
        <p:spPr>
          <a:xfrm>
            <a:off x="365760" y="1874520"/>
            <a:ext cx="4206300" cy="2103000"/>
          </a:xfrm>
          <a:prstGeom prst="rect">
            <a:avLst/>
          </a:prstGeom>
          <a:solidFill>
            <a:srgbClr val="FFF3F3"/>
          </a:solidFill>
          <a:ln w="25400" cap="flat" cmpd="sng">
            <a:solidFill>
              <a:srgbClr val="E63946"/>
            </a:solidFill>
            <a:prstDash val="solid"/>
            <a:round/>
            <a:headEnd type="none" w="sm" len="sm"/>
            <a:tailEnd type="none" w="sm" len="sm"/>
          </a:ln>
          <a:effectLst>
            <a:outerShdw blurRad="101600" dist="38100" dir="8100000" algn="bl" rotWithShape="0">
              <a:srgbClr val="000000">
                <a:alpha val="1215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2" name="Google Shape;2102;p51"/>
          <p:cNvSpPr/>
          <p:nvPr/>
        </p:nvSpPr>
        <p:spPr>
          <a:xfrm>
            <a:off x="502920" y="1947672"/>
            <a:ext cx="39318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63946"/>
              </a:buClr>
              <a:buSzPts val="1400"/>
              <a:buFont typeface="Calibri"/>
              <a:buNone/>
            </a:pPr>
            <a:r>
              <a:rPr lang="en" sz="1400" b="1" i="0" u="none" strike="noStrike" cap="none">
                <a:solidFill>
                  <a:srgbClr val="E63946"/>
                </a:solidFill>
                <a:latin typeface="Calibri"/>
                <a:ea typeface="Calibri"/>
                <a:cs typeface="Calibri"/>
                <a:sym typeface="Calibri"/>
              </a:rPr>
              <a:t>❌  One-Hot Space</a:t>
            </a:r>
            <a:endParaRPr sz="1400" b="0" i="0" u="none" strike="noStrike" cap="none">
              <a:solidFill>
                <a:srgbClr val="000000"/>
              </a:solidFill>
              <a:latin typeface="Calibri"/>
              <a:ea typeface="Calibri"/>
              <a:cs typeface="Calibri"/>
              <a:sym typeface="Calibri"/>
            </a:endParaRPr>
          </a:p>
        </p:txBody>
      </p:sp>
      <p:sp>
        <p:nvSpPr>
          <p:cNvPr id="2103" name="Google Shape;2103;p51"/>
          <p:cNvSpPr/>
          <p:nvPr/>
        </p:nvSpPr>
        <p:spPr>
          <a:xfrm>
            <a:off x="502920" y="2359152"/>
            <a:ext cx="3931800" cy="3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200"/>
              <a:buFont typeface="Consolas"/>
              <a:buNone/>
            </a:pPr>
            <a:r>
              <a:rPr lang="en" sz="1200" b="0" i="0" u="none" strike="noStrike" cap="none">
                <a:solidFill>
                  <a:srgbClr val="0F1E3C"/>
                </a:solidFill>
                <a:latin typeface="Consolas"/>
                <a:ea typeface="Consolas"/>
                <a:cs typeface="Consolas"/>
                <a:sym typeface="Consolas"/>
              </a:rPr>
              <a:t>car        → [1, 0, 0, 0, 0, ...]</a:t>
            </a:r>
            <a:endParaRPr sz="1200" b="0" i="0" u="none" strike="noStrike" cap="none">
              <a:solidFill>
                <a:srgbClr val="000000"/>
              </a:solidFill>
              <a:latin typeface="Calibri"/>
              <a:ea typeface="Calibri"/>
              <a:cs typeface="Calibri"/>
              <a:sym typeface="Calibri"/>
            </a:endParaRPr>
          </a:p>
        </p:txBody>
      </p:sp>
      <p:sp>
        <p:nvSpPr>
          <p:cNvPr id="2104" name="Google Shape;2104;p51"/>
          <p:cNvSpPr/>
          <p:nvPr/>
        </p:nvSpPr>
        <p:spPr>
          <a:xfrm>
            <a:off x="502920" y="2816352"/>
            <a:ext cx="3931800" cy="3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200"/>
              <a:buFont typeface="Consolas"/>
              <a:buNone/>
            </a:pPr>
            <a:r>
              <a:rPr lang="en" sz="1200" b="0" i="0" u="none" strike="noStrike" cap="none">
                <a:solidFill>
                  <a:srgbClr val="0F1E3C"/>
                </a:solidFill>
                <a:latin typeface="Consolas"/>
                <a:ea typeface="Consolas"/>
                <a:cs typeface="Consolas"/>
                <a:sym typeface="Consolas"/>
              </a:rPr>
              <a:t>automobile → [0, 1, 0, 0, 0, ...]</a:t>
            </a:r>
            <a:endParaRPr sz="1200" b="0" i="0" u="none" strike="noStrike" cap="none">
              <a:solidFill>
                <a:srgbClr val="000000"/>
              </a:solidFill>
              <a:latin typeface="Calibri"/>
              <a:ea typeface="Calibri"/>
              <a:cs typeface="Calibri"/>
              <a:sym typeface="Calibri"/>
            </a:endParaRPr>
          </a:p>
        </p:txBody>
      </p:sp>
      <p:sp>
        <p:nvSpPr>
          <p:cNvPr id="2105" name="Google Shape;2105;p51"/>
          <p:cNvSpPr/>
          <p:nvPr/>
        </p:nvSpPr>
        <p:spPr>
          <a:xfrm>
            <a:off x="502920" y="3273552"/>
            <a:ext cx="3931800" cy="3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200"/>
              <a:buFont typeface="Consolas"/>
              <a:buNone/>
            </a:pPr>
            <a:r>
              <a:rPr lang="en" sz="1200" b="0" i="0" u="none" strike="noStrike" cap="none">
                <a:solidFill>
                  <a:srgbClr val="0F1E3C"/>
                </a:solidFill>
                <a:latin typeface="Consolas"/>
                <a:ea typeface="Consolas"/>
                <a:cs typeface="Consolas"/>
                <a:sym typeface="Consolas"/>
              </a:rPr>
              <a:t>cos similarity = 0</a:t>
            </a:r>
            <a:endParaRPr sz="1200" b="0" i="0" u="none" strike="noStrike" cap="none">
              <a:solidFill>
                <a:srgbClr val="000000"/>
              </a:solidFill>
              <a:latin typeface="Calibri"/>
              <a:ea typeface="Calibri"/>
              <a:cs typeface="Calibri"/>
              <a:sym typeface="Calibri"/>
            </a:endParaRPr>
          </a:p>
        </p:txBody>
      </p:sp>
      <p:sp>
        <p:nvSpPr>
          <p:cNvPr id="2106" name="Google Shape;2106;p51"/>
          <p:cNvSpPr/>
          <p:nvPr/>
        </p:nvSpPr>
        <p:spPr>
          <a:xfrm>
            <a:off x="4800600" y="1874520"/>
            <a:ext cx="4206300" cy="2103000"/>
          </a:xfrm>
          <a:prstGeom prst="rect">
            <a:avLst/>
          </a:prstGeom>
          <a:solidFill>
            <a:srgbClr val="F0FFF4"/>
          </a:solidFill>
          <a:ln w="25400" cap="flat" cmpd="sng">
            <a:solidFill>
              <a:srgbClr val="2DC653"/>
            </a:solidFill>
            <a:prstDash val="solid"/>
            <a:round/>
            <a:headEnd type="none" w="sm" len="sm"/>
            <a:tailEnd type="none" w="sm" len="sm"/>
          </a:ln>
          <a:effectLst>
            <a:outerShdw blurRad="101600" dist="38100" dir="8100000" algn="bl" rotWithShape="0">
              <a:srgbClr val="000000">
                <a:alpha val="12157"/>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7" name="Google Shape;2107;p51"/>
          <p:cNvSpPr/>
          <p:nvPr/>
        </p:nvSpPr>
        <p:spPr>
          <a:xfrm>
            <a:off x="4937760" y="1947672"/>
            <a:ext cx="39318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DC653"/>
              </a:buClr>
              <a:buSzPts val="1400"/>
              <a:buFont typeface="Calibri"/>
              <a:buNone/>
            </a:pPr>
            <a:r>
              <a:rPr lang="en" sz="1400" b="1" i="0" u="none" strike="noStrike" cap="none">
                <a:solidFill>
                  <a:srgbClr val="2DC653"/>
                </a:solidFill>
                <a:latin typeface="Calibri"/>
                <a:ea typeface="Calibri"/>
                <a:cs typeface="Calibri"/>
                <a:sym typeface="Calibri"/>
              </a:rPr>
              <a:t>✅  Dense Embedding Space</a:t>
            </a:r>
            <a:endParaRPr sz="1400" b="0" i="0" u="none" strike="noStrike" cap="none">
              <a:solidFill>
                <a:srgbClr val="000000"/>
              </a:solidFill>
              <a:latin typeface="Calibri"/>
              <a:ea typeface="Calibri"/>
              <a:cs typeface="Calibri"/>
              <a:sym typeface="Calibri"/>
            </a:endParaRPr>
          </a:p>
        </p:txBody>
      </p:sp>
      <p:sp>
        <p:nvSpPr>
          <p:cNvPr id="2108" name="Google Shape;2108;p51"/>
          <p:cNvSpPr/>
          <p:nvPr/>
        </p:nvSpPr>
        <p:spPr>
          <a:xfrm>
            <a:off x="4937760" y="2359152"/>
            <a:ext cx="3931800" cy="3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200"/>
              <a:buFont typeface="Consolas"/>
              <a:buNone/>
            </a:pPr>
            <a:r>
              <a:rPr lang="en" sz="1200" b="0" i="0" u="none" strike="noStrike" cap="none">
                <a:solidFill>
                  <a:srgbClr val="0F1E3C"/>
                </a:solidFill>
                <a:latin typeface="Consolas"/>
                <a:ea typeface="Consolas"/>
                <a:cs typeface="Consolas"/>
                <a:sym typeface="Consolas"/>
              </a:rPr>
              <a:t>car        → [0.21, -0.37, 0.88, ...]</a:t>
            </a:r>
            <a:endParaRPr sz="1200" b="0" i="0" u="none" strike="noStrike" cap="none">
              <a:solidFill>
                <a:srgbClr val="000000"/>
              </a:solidFill>
              <a:latin typeface="Calibri"/>
              <a:ea typeface="Calibri"/>
              <a:cs typeface="Calibri"/>
              <a:sym typeface="Calibri"/>
            </a:endParaRPr>
          </a:p>
        </p:txBody>
      </p:sp>
      <p:sp>
        <p:nvSpPr>
          <p:cNvPr id="2109" name="Google Shape;2109;p51"/>
          <p:cNvSpPr/>
          <p:nvPr/>
        </p:nvSpPr>
        <p:spPr>
          <a:xfrm>
            <a:off x="4937760" y="2816352"/>
            <a:ext cx="3931800" cy="3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200"/>
              <a:buFont typeface="Consolas"/>
              <a:buNone/>
            </a:pPr>
            <a:r>
              <a:rPr lang="en" sz="1200" b="0" i="0" u="none" strike="noStrike" cap="none">
                <a:solidFill>
                  <a:srgbClr val="0F1E3C"/>
                </a:solidFill>
                <a:latin typeface="Consolas"/>
                <a:ea typeface="Consolas"/>
                <a:cs typeface="Consolas"/>
                <a:sym typeface="Consolas"/>
              </a:rPr>
              <a:t>automobile → [0.19, -0.35, 0.85, ...]</a:t>
            </a:r>
            <a:endParaRPr sz="1200" b="0" i="0" u="none" strike="noStrike" cap="none">
              <a:solidFill>
                <a:srgbClr val="000000"/>
              </a:solidFill>
              <a:latin typeface="Calibri"/>
              <a:ea typeface="Calibri"/>
              <a:cs typeface="Calibri"/>
              <a:sym typeface="Calibri"/>
            </a:endParaRPr>
          </a:p>
        </p:txBody>
      </p:sp>
      <p:sp>
        <p:nvSpPr>
          <p:cNvPr id="2110" name="Google Shape;2110;p51"/>
          <p:cNvSpPr/>
          <p:nvPr/>
        </p:nvSpPr>
        <p:spPr>
          <a:xfrm>
            <a:off x="4937760" y="3273552"/>
            <a:ext cx="3931800" cy="3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200"/>
              <a:buFont typeface="Consolas"/>
              <a:buNone/>
            </a:pPr>
            <a:r>
              <a:rPr lang="en" sz="1200" b="0" i="0" u="none" strike="noStrike" cap="none">
                <a:solidFill>
                  <a:srgbClr val="0F1E3C"/>
                </a:solidFill>
                <a:latin typeface="Consolas"/>
                <a:ea typeface="Consolas"/>
                <a:cs typeface="Consolas"/>
                <a:sym typeface="Consolas"/>
              </a:rPr>
              <a:t>cos similarity ≈ 0.99  🎯</a:t>
            </a:r>
            <a:endParaRPr sz="1200" b="0" i="0" u="none" strike="noStrike" cap="none">
              <a:solidFill>
                <a:srgbClr val="000000"/>
              </a:solidFill>
              <a:latin typeface="Calibri"/>
              <a:ea typeface="Calibri"/>
              <a:cs typeface="Calibri"/>
              <a:sym typeface="Calibri"/>
            </a:endParaRPr>
          </a:p>
        </p:txBody>
      </p:sp>
      <p:sp>
        <p:nvSpPr>
          <p:cNvPr id="2111" name="Google Shape;2111;p51"/>
          <p:cNvSpPr/>
          <p:nvPr/>
        </p:nvSpPr>
        <p:spPr>
          <a:xfrm>
            <a:off x="365760" y="4096512"/>
            <a:ext cx="41148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B4D8"/>
              </a:buClr>
              <a:buSzPts val="1500"/>
              <a:buFont typeface="Calibri"/>
              <a:buNone/>
            </a:pPr>
            <a:r>
              <a:rPr lang="en" sz="1500" b="1" i="0" u="none" strike="noStrike" cap="none">
                <a:solidFill>
                  <a:srgbClr val="00B4D8"/>
                </a:solidFill>
                <a:latin typeface="Calibri"/>
                <a:ea typeface="Calibri"/>
                <a:cs typeface="Calibri"/>
                <a:sym typeface="Calibri"/>
              </a:rPr>
              <a:t>How to learn these embeddings:</a:t>
            </a:r>
            <a:endParaRPr sz="1500" b="0" i="0" u="none" strike="noStrike" cap="none">
              <a:solidFill>
                <a:srgbClr val="000000"/>
              </a:solidFill>
              <a:latin typeface="Calibri"/>
              <a:ea typeface="Calibri"/>
              <a:cs typeface="Calibri"/>
              <a:sym typeface="Calibri"/>
            </a:endParaRPr>
          </a:p>
        </p:txBody>
      </p:sp>
      <p:sp>
        <p:nvSpPr>
          <p:cNvPr id="2112" name="Google Shape;2112;p51"/>
          <p:cNvSpPr/>
          <p:nvPr/>
        </p:nvSpPr>
        <p:spPr>
          <a:xfrm>
            <a:off x="365760" y="4480560"/>
            <a:ext cx="255900" cy="255900"/>
          </a:xfrm>
          <a:prstGeom prst="ellipse">
            <a:avLst/>
          </a:prstGeom>
          <a:solidFill>
            <a:srgbClr val="00B4D8"/>
          </a:solidFill>
          <a:ln w="1270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3" name="Google Shape;2113;p51"/>
          <p:cNvSpPr/>
          <p:nvPr/>
        </p:nvSpPr>
        <p:spPr>
          <a:xfrm>
            <a:off x="685800" y="4480560"/>
            <a:ext cx="25602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200"/>
              <a:buFont typeface="Calibri"/>
              <a:buNone/>
            </a:pPr>
            <a:r>
              <a:rPr lang="en" sz="1200" b="0" i="0" u="none" strike="noStrike" cap="none">
                <a:solidFill>
                  <a:srgbClr val="0F1E3C"/>
                </a:solidFill>
                <a:latin typeface="Calibri"/>
                <a:ea typeface="Calibri"/>
                <a:cs typeface="Calibri"/>
                <a:sym typeface="Calibri"/>
              </a:rPr>
              <a:t>Word2Vec / GloVe on text corpora</a:t>
            </a:r>
            <a:endParaRPr sz="1200" b="0" i="0" u="none" strike="noStrike" cap="none">
              <a:solidFill>
                <a:srgbClr val="000000"/>
              </a:solidFill>
              <a:latin typeface="Calibri"/>
              <a:ea typeface="Calibri"/>
              <a:cs typeface="Calibri"/>
              <a:sym typeface="Calibri"/>
            </a:endParaRPr>
          </a:p>
        </p:txBody>
      </p:sp>
      <p:sp>
        <p:nvSpPr>
          <p:cNvPr id="2114" name="Google Shape;2114;p51"/>
          <p:cNvSpPr/>
          <p:nvPr/>
        </p:nvSpPr>
        <p:spPr>
          <a:xfrm>
            <a:off x="3246120" y="4480560"/>
            <a:ext cx="255900" cy="255900"/>
          </a:xfrm>
          <a:prstGeom prst="ellipse">
            <a:avLst/>
          </a:prstGeom>
          <a:solidFill>
            <a:srgbClr val="00B4D8"/>
          </a:solidFill>
          <a:ln w="1270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5" name="Google Shape;2115;p51"/>
          <p:cNvSpPr/>
          <p:nvPr/>
        </p:nvSpPr>
        <p:spPr>
          <a:xfrm>
            <a:off x="3566160" y="4480560"/>
            <a:ext cx="25602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200"/>
              <a:buFont typeface="Calibri"/>
              <a:buNone/>
            </a:pPr>
            <a:r>
              <a:rPr lang="en" sz="1200" b="0" i="0" u="none" strike="noStrike" cap="none">
                <a:solidFill>
                  <a:srgbClr val="0F1E3C"/>
                </a:solidFill>
                <a:latin typeface="Calibri"/>
                <a:ea typeface="Calibri"/>
                <a:cs typeface="Calibri"/>
                <a:sym typeface="Calibri"/>
              </a:rPr>
              <a:t>Query-document click graphs</a:t>
            </a:r>
            <a:endParaRPr sz="1200" b="0" i="0" u="none" strike="noStrike" cap="none">
              <a:solidFill>
                <a:srgbClr val="000000"/>
              </a:solidFill>
              <a:latin typeface="Calibri"/>
              <a:ea typeface="Calibri"/>
              <a:cs typeface="Calibri"/>
              <a:sym typeface="Calibri"/>
            </a:endParaRPr>
          </a:p>
        </p:txBody>
      </p:sp>
      <p:sp>
        <p:nvSpPr>
          <p:cNvPr id="2116" name="Google Shape;2116;p51"/>
          <p:cNvSpPr/>
          <p:nvPr/>
        </p:nvSpPr>
        <p:spPr>
          <a:xfrm>
            <a:off x="6126480" y="4480560"/>
            <a:ext cx="255900" cy="255900"/>
          </a:xfrm>
          <a:prstGeom prst="ellipse">
            <a:avLst/>
          </a:prstGeom>
          <a:solidFill>
            <a:srgbClr val="00B4D8"/>
          </a:solidFill>
          <a:ln w="12700" cap="flat" cmpd="sng">
            <a:solidFill>
              <a:srgbClr val="00B4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7" name="Google Shape;2117;p51"/>
          <p:cNvSpPr/>
          <p:nvPr/>
        </p:nvSpPr>
        <p:spPr>
          <a:xfrm>
            <a:off x="6446520" y="4480560"/>
            <a:ext cx="25602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E3C"/>
              </a:buClr>
              <a:buSzPts val="1200"/>
              <a:buFont typeface="Calibri"/>
              <a:buNone/>
            </a:pPr>
            <a:r>
              <a:rPr lang="en" sz="1200" b="0" i="0" u="none" strike="noStrike" cap="none">
                <a:solidFill>
                  <a:srgbClr val="0F1E3C"/>
                </a:solidFill>
                <a:latin typeface="Calibri"/>
                <a:ea typeface="Calibri"/>
                <a:cs typeface="Calibri"/>
                <a:sym typeface="Calibri"/>
              </a:rPr>
              <a:t>Neural retrieval models (DPR, BERT)</a:t>
            </a:r>
            <a:endParaRPr sz="1200" b="0" i="0" u="none" strike="noStrike" cap="none">
              <a:solidFill>
                <a:srgbClr val="000000"/>
              </a:solidFill>
              <a:latin typeface="Calibri"/>
              <a:ea typeface="Calibri"/>
              <a:cs typeface="Calibri"/>
              <a:sym typeface="Calibri"/>
            </a:endParaRPr>
          </a:p>
        </p:txBody>
      </p:sp>
      <p:sp>
        <p:nvSpPr>
          <p:cNvPr id="2118" name="Google Shape;2118;p51"/>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69</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Shape 2123"/>
        <p:cNvGrpSpPr/>
        <p:nvPr/>
      </p:nvGrpSpPr>
      <p:grpSpPr>
        <a:xfrm>
          <a:off x="0" y="0"/>
          <a:ext cx="0" cy="0"/>
          <a:chOff x="0" y="0"/>
          <a:chExt cx="0" cy="0"/>
        </a:xfrm>
      </p:grpSpPr>
      <p:sp>
        <p:nvSpPr>
          <p:cNvPr id="2124" name="Google Shape;2124;p52"/>
          <p:cNvSpPr/>
          <p:nvPr/>
        </p:nvSpPr>
        <p:spPr>
          <a:xfrm>
            <a:off x="0" y="0"/>
            <a:ext cx="9144000" cy="63900"/>
          </a:xfrm>
          <a:prstGeom prst="rect">
            <a:avLst/>
          </a:prstGeom>
          <a:solidFill>
            <a:srgbClr val="DC2626"/>
          </a:solidFill>
          <a:ln w="1270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5" name="Google Shape;2125;p52"/>
          <p:cNvSpPr/>
          <p:nvPr/>
        </p:nvSpPr>
        <p:spPr>
          <a:xfrm>
            <a:off x="347472" y="164592"/>
            <a:ext cx="63900" cy="512100"/>
          </a:xfrm>
          <a:prstGeom prst="rect">
            <a:avLst/>
          </a:prstGeom>
          <a:solidFill>
            <a:srgbClr val="DC2626"/>
          </a:solidFill>
          <a:ln w="1270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6" name="Google Shape;2126;p52"/>
          <p:cNvSpPr/>
          <p:nvPr/>
        </p:nvSpPr>
        <p:spPr>
          <a:xfrm>
            <a:off x="521208" y="146304"/>
            <a:ext cx="8229600" cy="54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2626"/>
              </a:buClr>
              <a:buSzPts val="2600"/>
              <a:buFont typeface="Calibri"/>
              <a:buNone/>
            </a:pPr>
            <a:r>
              <a:rPr lang="en" sz="2600" b="1" i="0" u="none" strike="noStrike" cap="none">
                <a:solidFill>
                  <a:srgbClr val="DC2626"/>
                </a:solidFill>
                <a:latin typeface="Calibri"/>
                <a:ea typeface="Calibri"/>
                <a:cs typeface="Calibri"/>
                <a:sym typeface="Calibri"/>
              </a:rPr>
              <a:t>Limitations of Sparse Representations</a:t>
            </a:r>
            <a:endParaRPr sz="2600" b="0" i="0" u="none" strike="noStrike" cap="none">
              <a:solidFill>
                <a:schemeClr val="dk1"/>
              </a:solidFill>
              <a:latin typeface="Calibri"/>
              <a:ea typeface="Calibri"/>
              <a:cs typeface="Calibri"/>
              <a:sym typeface="Calibri"/>
            </a:endParaRPr>
          </a:p>
        </p:txBody>
      </p:sp>
      <p:cxnSp>
        <p:nvCxnSpPr>
          <p:cNvPr id="2127" name="Google Shape;2127;p52"/>
          <p:cNvCxnSpPr/>
          <p:nvPr/>
        </p:nvCxnSpPr>
        <p:spPr>
          <a:xfrm>
            <a:off x="347472" y="713232"/>
            <a:ext cx="8449200" cy="0"/>
          </a:xfrm>
          <a:prstGeom prst="straightConnector1">
            <a:avLst/>
          </a:prstGeom>
          <a:noFill/>
          <a:ln w="15225" cap="flat" cmpd="sng">
            <a:solidFill>
              <a:srgbClr val="DC2626"/>
            </a:solidFill>
            <a:prstDash val="solid"/>
            <a:round/>
            <a:headEnd type="none" w="sm" len="sm"/>
            <a:tailEnd type="none" w="sm" len="sm"/>
          </a:ln>
        </p:spPr>
      </p:cxnSp>
      <p:sp>
        <p:nvSpPr>
          <p:cNvPr id="2128" name="Google Shape;2128;p52"/>
          <p:cNvSpPr/>
          <p:nvPr/>
        </p:nvSpPr>
        <p:spPr>
          <a:xfrm>
            <a:off x="347472" y="638797"/>
            <a:ext cx="84492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2129" name="Google Shape;2129;p52"/>
          <p:cNvSpPr/>
          <p:nvPr/>
        </p:nvSpPr>
        <p:spPr>
          <a:xfrm>
            <a:off x="347472" y="896112"/>
            <a:ext cx="4041600" cy="1691700"/>
          </a:xfrm>
          <a:prstGeom prst="rect">
            <a:avLst/>
          </a:prstGeom>
          <a:solidFill>
            <a:srgbClr val="FEF2F2"/>
          </a:solidFill>
          <a:ln w="1905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0" name="Google Shape;2130;p52"/>
          <p:cNvSpPr/>
          <p:nvPr/>
        </p:nvSpPr>
        <p:spPr>
          <a:xfrm>
            <a:off x="347472" y="896112"/>
            <a:ext cx="4041600" cy="63900"/>
          </a:xfrm>
          <a:prstGeom prst="rect">
            <a:avLst/>
          </a:prstGeom>
          <a:solidFill>
            <a:srgbClr val="DC2626"/>
          </a:solidFill>
          <a:ln w="1270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1" name="Google Shape;2131;p52"/>
          <p:cNvSpPr/>
          <p:nvPr/>
        </p:nvSpPr>
        <p:spPr>
          <a:xfrm>
            <a:off x="475488" y="1005840"/>
            <a:ext cx="37857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2626"/>
              </a:buClr>
              <a:buSzPts val="1300"/>
              <a:buFont typeface="Calibri"/>
              <a:buNone/>
            </a:pPr>
            <a:r>
              <a:rPr lang="en" sz="1300" b="1" i="0" u="none" strike="noStrike" cap="none">
                <a:solidFill>
                  <a:srgbClr val="DC2626"/>
                </a:solidFill>
                <a:latin typeface="Calibri"/>
                <a:ea typeface="Calibri"/>
                <a:cs typeface="Calibri"/>
                <a:sym typeface="Calibri"/>
              </a:rPr>
              <a:t>🔤  No Semantic Meaning</a:t>
            </a:r>
            <a:endParaRPr sz="1300" b="0" i="0" u="none" strike="noStrike" cap="none">
              <a:solidFill>
                <a:schemeClr val="dk1"/>
              </a:solidFill>
              <a:latin typeface="Calibri"/>
              <a:ea typeface="Calibri"/>
              <a:cs typeface="Calibri"/>
              <a:sym typeface="Calibri"/>
            </a:endParaRPr>
          </a:p>
        </p:txBody>
      </p:sp>
      <p:sp>
        <p:nvSpPr>
          <p:cNvPr id="2132" name="Google Shape;2132;p52"/>
          <p:cNvSpPr/>
          <p:nvPr/>
        </p:nvSpPr>
        <p:spPr>
          <a:xfrm>
            <a:off x="475488" y="1335024"/>
            <a:ext cx="2414100" cy="64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11827"/>
              </a:buClr>
              <a:buSzPts val="1150"/>
              <a:buFont typeface="Calibri"/>
              <a:buNone/>
            </a:pPr>
            <a:r>
              <a:rPr lang="en" sz="1150" b="0" i="0" u="none" strike="noStrike" cap="none">
                <a:solidFill>
                  <a:srgbClr val="111827"/>
                </a:solidFill>
                <a:latin typeface="Calibri"/>
                <a:ea typeface="Calibri"/>
                <a:cs typeface="Calibri"/>
                <a:sym typeface="Calibri"/>
              </a:rPr>
              <a:t>"king" and "queen" are two unrelated dimensions — dot product = 0</a:t>
            </a:r>
            <a:endParaRPr sz="1150" b="0" i="0" u="none" strike="noStrike" cap="none">
              <a:solidFill>
                <a:schemeClr val="dk1"/>
              </a:solidFill>
              <a:latin typeface="Calibri"/>
              <a:ea typeface="Calibri"/>
              <a:cs typeface="Calibri"/>
              <a:sym typeface="Calibri"/>
            </a:endParaRPr>
          </a:p>
        </p:txBody>
      </p:sp>
      <p:sp>
        <p:nvSpPr>
          <p:cNvPr id="2133" name="Google Shape;2133;p52"/>
          <p:cNvSpPr/>
          <p:nvPr/>
        </p:nvSpPr>
        <p:spPr>
          <a:xfrm>
            <a:off x="2962656" y="1280160"/>
            <a:ext cx="1316700" cy="512100"/>
          </a:xfrm>
          <a:prstGeom prst="roundRect">
            <a:avLst>
              <a:gd name="adj" fmla="val 14286"/>
            </a:avLst>
          </a:prstGeom>
          <a:solidFill>
            <a:srgbClr val="1E293B"/>
          </a:solidFill>
          <a:ln w="12700" cap="flat" cmpd="sng">
            <a:solidFill>
              <a:srgbClr val="33415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4" name="Google Shape;2134;p52"/>
          <p:cNvSpPr/>
          <p:nvPr/>
        </p:nvSpPr>
        <p:spPr>
          <a:xfrm>
            <a:off x="3099816" y="1280160"/>
            <a:ext cx="1134000" cy="512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2E8F0"/>
              </a:buClr>
              <a:buSzPts val="950"/>
              <a:buFont typeface="Courier New"/>
              <a:buNone/>
            </a:pPr>
            <a:r>
              <a:rPr lang="en" sz="950" b="0" i="0" u="none" strike="noStrike" cap="none">
                <a:solidFill>
                  <a:srgbClr val="E2E8F0"/>
                </a:solidFill>
                <a:latin typeface="Courier New"/>
                <a:ea typeface="Courier New"/>
                <a:cs typeface="Courier New"/>
                <a:sym typeface="Courier New"/>
              </a:rPr>
              <a:t>"cat" ≠ "kitten" in TF-IDF</a:t>
            </a:r>
            <a:endParaRPr sz="950" b="0" i="0" u="none" strike="noStrike" cap="none">
              <a:solidFill>
                <a:schemeClr val="dk1"/>
              </a:solidFill>
              <a:latin typeface="Calibri"/>
              <a:ea typeface="Calibri"/>
              <a:cs typeface="Calibri"/>
              <a:sym typeface="Calibri"/>
            </a:endParaRPr>
          </a:p>
        </p:txBody>
      </p:sp>
      <p:sp>
        <p:nvSpPr>
          <p:cNvPr id="2135" name="Google Shape;2135;p52"/>
          <p:cNvSpPr/>
          <p:nvPr/>
        </p:nvSpPr>
        <p:spPr>
          <a:xfrm>
            <a:off x="4553712" y="896112"/>
            <a:ext cx="4041600" cy="1691700"/>
          </a:xfrm>
          <a:prstGeom prst="rect">
            <a:avLst/>
          </a:prstGeom>
          <a:solidFill>
            <a:srgbClr val="FFF7ED"/>
          </a:solidFill>
          <a:ln w="1905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6" name="Google Shape;2136;p52"/>
          <p:cNvSpPr/>
          <p:nvPr/>
        </p:nvSpPr>
        <p:spPr>
          <a:xfrm>
            <a:off x="4553712" y="896112"/>
            <a:ext cx="4041600" cy="63900"/>
          </a:xfrm>
          <a:prstGeom prst="rect">
            <a:avLst/>
          </a:prstGeom>
          <a:solidFill>
            <a:srgbClr val="EA580C"/>
          </a:solidFill>
          <a:ln w="1270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7" name="Google Shape;2137;p52"/>
          <p:cNvSpPr/>
          <p:nvPr/>
        </p:nvSpPr>
        <p:spPr>
          <a:xfrm>
            <a:off x="4681728" y="1005840"/>
            <a:ext cx="37857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A580C"/>
              </a:buClr>
              <a:buSzPts val="1300"/>
              <a:buFont typeface="Calibri"/>
              <a:buNone/>
            </a:pPr>
            <a:r>
              <a:rPr lang="en" sz="1300" b="1" i="0" u="none" strike="noStrike" cap="none">
                <a:solidFill>
                  <a:srgbClr val="EA580C"/>
                </a:solidFill>
                <a:latin typeface="Calibri"/>
                <a:ea typeface="Calibri"/>
                <a:cs typeface="Calibri"/>
                <a:sym typeface="Calibri"/>
              </a:rPr>
              <a:t>📏  Curse of Dimensionality</a:t>
            </a:r>
            <a:endParaRPr sz="1300" b="0" i="0" u="none" strike="noStrike" cap="none">
              <a:solidFill>
                <a:schemeClr val="dk1"/>
              </a:solidFill>
              <a:latin typeface="Calibri"/>
              <a:ea typeface="Calibri"/>
              <a:cs typeface="Calibri"/>
              <a:sym typeface="Calibri"/>
            </a:endParaRPr>
          </a:p>
        </p:txBody>
      </p:sp>
      <p:sp>
        <p:nvSpPr>
          <p:cNvPr id="2138" name="Google Shape;2138;p52"/>
          <p:cNvSpPr/>
          <p:nvPr/>
        </p:nvSpPr>
        <p:spPr>
          <a:xfrm>
            <a:off x="4681728" y="1335024"/>
            <a:ext cx="2414100" cy="64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11827"/>
              </a:buClr>
              <a:buSzPts val="1150"/>
              <a:buFont typeface="Calibri"/>
              <a:buNone/>
            </a:pPr>
            <a:r>
              <a:rPr lang="en" sz="1150" b="0" i="0" u="none" strike="noStrike" cap="none">
                <a:solidFill>
                  <a:srgbClr val="111827"/>
                </a:solidFill>
                <a:latin typeface="Calibri"/>
                <a:ea typeface="Calibri"/>
                <a:cs typeface="Calibri"/>
                <a:sym typeface="Calibri"/>
              </a:rPr>
              <a:t>Vocabulary of 100k words = 100k-dim vectors with 99%+ zeros</a:t>
            </a:r>
            <a:endParaRPr sz="1150" b="0" i="0" u="none" strike="noStrike" cap="none">
              <a:solidFill>
                <a:schemeClr val="dk1"/>
              </a:solidFill>
              <a:latin typeface="Calibri"/>
              <a:ea typeface="Calibri"/>
              <a:cs typeface="Calibri"/>
              <a:sym typeface="Calibri"/>
            </a:endParaRPr>
          </a:p>
        </p:txBody>
      </p:sp>
      <p:sp>
        <p:nvSpPr>
          <p:cNvPr id="2139" name="Google Shape;2139;p52"/>
          <p:cNvSpPr/>
          <p:nvPr/>
        </p:nvSpPr>
        <p:spPr>
          <a:xfrm>
            <a:off x="7168896" y="1280160"/>
            <a:ext cx="1316700" cy="512100"/>
          </a:xfrm>
          <a:prstGeom prst="roundRect">
            <a:avLst>
              <a:gd name="adj" fmla="val 14286"/>
            </a:avLst>
          </a:prstGeom>
          <a:solidFill>
            <a:srgbClr val="1E293B"/>
          </a:solidFill>
          <a:ln w="12700" cap="flat" cmpd="sng">
            <a:solidFill>
              <a:srgbClr val="33415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0" name="Google Shape;2140;p52"/>
          <p:cNvSpPr/>
          <p:nvPr/>
        </p:nvSpPr>
        <p:spPr>
          <a:xfrm>
            <a:off x="7306056" y="1280160"/>
            <a:ext cx="1134000" cy="512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2E8F0"/>
              </a:buClr>
              <a:buSzPts val="950"/>
              <a:buFont typeface="Courier New"/>
              <a:buNone/>
            </a:pPr>
            <a:r>
              <a:rPr lang="en" sz="950" b="0" i="0" u="none" strike="noStrike" cap="none">
                <a:solidFill>
                  <a:srgbClr val="E2E8F0"/>
                </a:solidFill>
                <a:latin typeface="Courier New"/>
                <a:ea typeface="Courier New"/>
                <a:cs typeface="Courier New"/>
                <a:sym typeface="Courier New"/>
              </a:rPr>
              <a:t>99%+ entries are zero</a:t>
            </a:r>
            <a:endParaRPr sz="950" b="0" i="0" u="none" strike="noStrike" cap="none">
              <a:solidFill>
                <a:schemeClr val="dk1"/>
              </a:solidFill>
              <a:latin typeface="Calibri"/>
              <a:ea typeface="Calibri"/>
              <a:cs typeface="Calibri"/>
              <a:sym typeface="Calibri"/>
            </a:endParaRPr>
          </a:p>
        </p:txBody>
      </p:sp>
      <p:sp>
        <p:nvSpPr>
          <p:cNvPr id="2141" name="Google Shape;2141;p52"/>
          <p:cNvSpPr/>
          <p:nvPr/>
        </p:nvSpPr>
        <p:spPr>
          <a:xfrm>
            <a:off x="347472" y="2734056"/>
            <a:ext cx="4041600" cy="1691700"/>
          </a:xfrm>
          <a:prstGeom prst="rect">
            <a:avLst/>
          </a:prstGeom>
          <a:solidFill>
            <a:srgbClr val="F5F3FF"/>
          </a:solidFill>
          <a:ln w="1905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2" name="Google Shape;2142;p52"/>
          <p:cNvSpPr/>
          <p:nvPr/>
        </p:nvSpPr>
        <p:spPr>
          <a:xfrm>
            <a:off x="347472" y="2734056"/>
            <a:ext cx="4041600" cy="63900"/>
          </a:xfrm>
          <a:prstGeom prst="rect">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3" name="Google Shape;2143;p52"/>
          <p:cNvSpPr/>
          <p:nvPr/>
        </p:nvSpPr>
        <p:spPr>
          <a:xfrm>
            <a:off x="475488" y="2843784"/>
            <a:ext cx="37857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C3AED"/>
              </a:buClr>
              <a:buSzPts val="1300"/>
              <a:buFont typeface="Calibri"/>
              <a:buNone/>
            </a:pPr>
            <a:r>
              <a:rPr lang="en" sz="1300" b="1" i="0" u="none" strike="noStrike" cap="none">
                <a:solidFill>
                  <a:srgbClr val="7C3AED"/>
                </a:solidFill>
                <a:latin typeface="Calibri"/>
                <a:ea typeface="Calibri"/>
                <a:cs typeface="Calibri"/>
                <a:sym typeface="Calibri"/>
              </a:rPr>
              <a:t>🔀  No Word Order</a:t>
            </a:r>
            <a:endParaRPr sz="1300" b="0" i="0" u="none" strike="noStrike" cap="none">
              <a:solidFill>
                <a:schemeClr val="dk1"/>
              </a:solidFill>
              <a:latin typeface="Calibri"/>
              <a:ea typeface="Calibri"/>
              <a:cs typeface="Calibri"/>
              <a:sym typeface="Calibri"/>
            </a:endParaRPr>
          </a:p>
        </p:txBody>
      </p:sp>
      <p:sp>
        <p:nvSpPr>
          <p:cNvPr id="2144" name="Google Shape;2144;p52"/>
          <p:cNvSpPr/>
          <p:nvPr/>
        </p:nvSpPr>
        <p:spPr>
          <a:xfrm>
            <a:off x="475488" y="3172968"/>
            <a:ext cx="2414100" cy="64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11827"/>
              </a:buClr>
              <a:buSzPts val="1150"/>
              <a:buFont typeface="Calibri"/>
              <a:buNone/>
            </a:pPr>
            <a:r>
              <a:rPr lang="en" sz="1150" b="0" i="0" u="none" strike="noStrike" cap="none">
                <a:solidFill>
                  <a:srgbClr val="111827"/>
                </a:solidFill>
                <a:latin typeface="Calibri"/>
                <a:ea typeface="Calibri"/>
                <a:cs typeface="Calibri"/>
                <a:sym typeface="Calibri"/>
              </a:rPr>
              <a:t>"dog bites man" and "man bites dog" have identical representations</a:t>
            </a:r>
            <a:endParaRPr sz="1150" b="0" i="0" u="none" strike="noStrike" cap="none">
              <a:solidFill>
                <a:schemeClr val="dk1"/>
              </a:solidFill>
              <a:latin typeface="Calibri"/>
              <a:ea typeface="Calibri"/>
              <a:cs typeface="Calibri"/>
              <a:sym typeface="Calibri"/>
            </a:endParaRPr>
          </a:p>
        </p:txBody>
      </p:sp>
      <p:sp>
        <p:nvSpPr>
          <p:cNvPr id="2145" name="Google Shape;2145;p52"/>
          <p:cNvSpPr/>
          <p:nvPr/>
        </p:nvSpPr>
        <p:spPr>
          <a:xfrm>
            <a:off x="2962656" y="3118104"/>
            <a:ext cx="1316700" cy="512100"/>
          </a:xfrm>
          <a:prstGeom prst="roundRect">
            <a:avLst>
              <a:gd name="adj" fmla="val 14286"/>
            </a:avLst>
          </a:prstGeom>
          <a:solidFill>
            <a:srgbClr val="1E293B"/>
          </a:solidFill>
          <a:ln w="12700" cap="flat" cmpd="sng">
            <a:solidFill>
              <a:srgbClr val="33415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6" name="Google Shape;2146;p52"/>
          <p:cNvSpPr/>
          <p:nvPr/>
        </p:nvSpPr>
        <p:spPr>
          <a:xfrm>
            <a:off x="3099816" y="3118104"/>
            <a:ext cx="1134000" cy="512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2E8F0"/>
              </a:buClr>
              <a:buSzPts val="950"/>
              <a:buFont typeface="Courier New"/>
              <a:buNone/>
            </a:pPr>
            <a:r>
              <a:rPr lang="en" sz="950" b="0" i="0" u="none" strike="noStrike" cap="none">
                <a:solidFill>
                  <a:srgbClr val="E2E8F0"/>
                </a:solidFill>
                <a:latin typeface="Courier New"/>
                <a:ea typeface="Courier New"/>
                <a:cs typeface="Courier New"/>
                <a:sym typeface="Courier New"/>
              </a:rPr>
              <a:t>Bag-of-words assumption</a:t>
            </a:r>
            <a:endParaRPr sz="950" b="0" i="0" u="none" strike="noStrike" cap="none">
              <a:solidFill>
                <a:schemeClr val="dk1"/>
              </a:solidFill>
              <a:latin typeface="Calibri"/>
              <a:ea typeface="Calibri"/>
              <a:cs typeface="Calibri"/>
              <a:sym typeface="Calibri"/>
            </a:endParaRPr>
          </a:p>
        </p:txBody>
      </p:sp>
      <p:sp>
        <p:nvSpPr>
          <p:cNvPr id="2147" name="Google Shape;2147;p52"/>
          <p:cNvSpPr/>
          <p:nvPr/>
        </p:nvSpPr>
        <p:spPr>
          <a:xfrm>
            <a:off x="4553712" y="2734056"/>
            <a:ext cx="4041600" cy="1691700"/>
          </a:xfrm>
          <a:prstGeom prst="rect">
            <a:avLst/>
          </a:prstGeom>
          <a:solidFill>
            <a:srgbClr val="F0FDF4"/>
          </a:solidFill>
          <a:ln w="1905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8" name="Google Shape;2148;p52"/>
          <p:cNvSpPr/>
          <p:nvPr/>
        </p:nvSpPr>
        <p:spPr>
          <a:xfrm>
            <a:off x="4553712" y="2734056"/>
            <a:ext cx="4041600" cy="63900"/>
          </a:xfrm>
          <a:prstGeom prst="rect">
            <a:avLst/>
          </a:prstGeom>
          <a:solidFill>
            <a:srgbClr val="16A34A"/>
          </a:solidFill>
          <a:ln w="127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9" name="Google Shape;2149;p52"/>
          <p:cNvSpPr/>
          <p:nvPr/>
        </p:nvSpPr>
        <p:spPr>
          <a:xfrm>
            <a:off x="4681728" y="2843784"/>
            <a:ext cx="37857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6A34A"/>
              </a:buClr>
              <a:buSzPts val="1300"/>
              <a:buFont typeface="Calibri"/>
              <a:buNone/>
            </a:pPr>
            <a:r>
              <a:rPr lang="en" sz="1300" b="1" i="0" u="none" strike="noStrike" cap="none">
                <a:solidFill>
                  <a:srgbClr val="16A34A"/>
                </a:solidFill>
                <a:latin typeface="Calibri"/>
                <a:ea typeface="Calibri"/>
                <a:cs typeface="Calibri"/>
                <a:sym typeface="Calibri"/>
              </a:rPr>
              <a:t>🆕  Out-of-Vocabulary</a:t>
            </a:r>
            <a:endParaRPr sz="1300" b="0" i="0" u="none" strike="noStrike" cap="none">
              <a:solidFill>
                <a:schemeClr val="dk1"/>
              </a:solidFill>
              <a:latin typeface="Calibri"/>
              <a:ea typeface="Calibri"/>
              <a:cs typeface="Calibri"/>
              <a:sym typeface="Calibri"/>
            </a:endParaRPr>
          </a:p>
        </p:txBody>
      </p:sp>
      <p:sp>
        <p:nvSpPr>
          <p:cNvPr id="2150" name="Google Shape;2150;p52"/>
          <p:cNvSpPr/>
          <p:nvPr/>
        </p:nvSpPr>
        <p:spPr>
          <a:xfrm>
            <a:off x="4681728" y="3172968"/>
            <a:ext cx="2414100" cy="64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11827"/>
              </a:buClr>
              <a:buSzPts val="1150"/>
              <a:buFont typeface="Calibri"/>
              <a:buNone/>
            </a:pPr>
            <a:r>
              <a:rPr lang="en" sz="1150" b="0" i="0" u="none" strike="noStrike" cap="none">
                <a:solidFill>
                  <a:srgbClr val="111827"/>
                </a:solidFill>
                <a:latin typeface="Calibri"/>
                <a:ea typeface="Calibri"/>
                <a:cs typeface="Calibri"/>
                <a:sym typeface="Calibri"/>
              </a:rPr>
              <a:t>New words at test time have no vector — model is completely blind</a:t>
            </a:r>
            <a:endParaRPr sz="1150" b="0" i="0" u="none" strike="noStrike" cap="none">
              <a:solidFill>
                <a:schemeClr val="dk1"/>
              </a:solidFill>
              <a:latin typeface="Calibri"/>
              <a:ea typeface="Calibri"/>
              <a:cs typeface="Calibri"/>
              <a:sym typeface="Calibri"/>
            </a:endParaRPr>
          </a:p>
        </p:txBody>
      </p:sp>
      <p:sp>
        <p:nvSpPr>
          <p:cNvPr id="2151" name="Google Shape;2151;p52"/>
          <p:cNvSpPr/>
          <p:nvPr/>
        </p:nvSpPr>
        <p:spPr>
          <a:xfrm>
            <a:off x="7168896" y="3118104"/>
            <a:ext cx="1316700" cy="512100"/>
          </a:xfrm>
          <a:prstGeom prst="roundRect">
            <a:avLst>
              <a:gd name="adj" fmla="val 14286"/>
            </a:avLst>
          </a:prstGeom>
          <a:solidFill>
            <a:srgbClr val="1E293B"/>
          </a:solidFill>
          <a:ln w="12700" cap="flat" cmpd="sng">
            <a:solidFill>
              <a:srgbClr val="33415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2" name="Google Shape;2152;p52"/>
          <p:cNvSpPr/>
          <p:nvPr/>
        </p:nvSpPr>
        <p:spPr>
          <a:xfrm>
            <a:off x="7306056" y="3118104"/>
            <a:ext cx="1134000" cy="512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2E8F0"/>
              </a:buClr>
              <a:buSzPts val="950"/>
              <a:buFont typeface="Courier New"/>
              <a:buNone/>
            </a:pPr>
            <a:r>
              <a:rPr lang="en" sz="950" b="0" i="0" u="none" strike="noStrike" cap="none">
                <a:solidFill>
                  <a:srgbClr val="E2E8F0"/>
                </a:solidFill>
                <a:latin typeface="Courier New"/>
                <a:ea typeface="Courier New"/>
                <a:cs typeface="Courier New"/>
                <a:sym typeface="Courier New"/>
              </a:rPr>
              <a:t>Zero vector = no info</a:t>
            </a:r>
            <a:endParaRPr sz="950" b="0" i="0" u="none" strike="noStrike" cap="none">
              <a:solidFill>
                <a:schemeClr val="dk1"/>
              </a:solidFill>
              <a:latin typeface="Calibri"/>
              <a:ea typeface="Calibri"/>
              <a:cs typeface="Calibri"/>
              <a:sym typeface="Calibri"/>
            </a:endParaRPr>
          </a:p>
        </p:txBody>
      </p:sp>
      <p:sp>
        <p:nvSpPr>
          <p:cNvPr id="2153" name="Google Shape;2153;p52"/>
          <p:cNvSpPr/>
          <p:nvPr/>
        </p:nvSpPr>
        <p:spPr>
          <a:xfrm>
            <a:off x="347472" y="4389120"/>
            <a:ext cx="8449200" cy="420600"/>
          </a:xfrm>
          <a:prstGeom prst="rect">
            <a:avLst/>
          </a:prstGeom>
          <a:solidFill>
            <a:srgbClr val="DC2626"/>
          </a:solidFill>
          <a:ln w="1270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4" name="Google Shape;2154;p52"/>
          <p:cNvSpPr/>
          <p:nvPr/>
        </p:nvSpPr>
        <p:spPr>
          <a:xfrm>
            <a:off x="502920" y="4389120"/>
            <a:ext cx="8229600" cy="420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300"/>
              <a:buFont typeface="Calibri"/>
              <a:buNone/>
            </a:pPr>
            <a:r>
              <a:rPr lang="en" sz="1300" b="1" i="1" u="none" strike="noStrike" cap="none">
                <a:solidFill>
                  <a:srgbClr val="FFFFFF"/>
                </a:solidFill>
                <a:latin typeface="Calibri"/>
                <a:ea typeface="Calibri"/>
                <a:cs typeface="Calibri"/>
                <a:sym typeface="Calibri"/>
              </a:rPr>
              <a:t>→  These are fundamental flaws. We need a smarter representation.</a:t>
            </a:r>
            <a:endParaRPr sz="1300" b="0" i="0" u="none" strike="noStrike" cap="none">
              <a:solidFill>
                <a:schemeClr val="dk1"/>
              </a:solidFill>
              <a:latin typeface="Calibri"/>
              <a:ea typeface="Calibri"/>
              <a:cs typeface="Calibri"/>
              <a:sym typeface="Calibri"/>
            </a:endParaRPr>
          </a:p>
        </p:txBody>
      </p:sp>
      <p:sp>
        <p:nvSpPr>
          <p:cNvPr id="2155" name="Google Shape;2155;p52"/>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70</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Shape 2160"/>
        <p:cNvGrpSpPr/>
        <p:nvPr/>
      </p:nvGrpSpPr>
      <p:grpSpPr>
        <a:xfrm>
          <a:off x="0" y="0"/>
          <a:ext cx="0" cy="0"/>
          <a:chOff x="0" y="0"/>
          <a:chExt cx="0" cy="0"/>
        </a:xfrm>
      </p:grpSpPr>
      <p:sp>
        <p:nvSpPr>
          <p:cNvPr id="2161" name="Google Shape;2161;p53"/>
          <p:cNvSpPr/>
          <p:nvPr/>
        </p:nvSpPr>
        <p:spPr>
          <a:xfrm>
            <a:off x="0" y="0"/>
            <a:ext cx="9144000" cy="63900"/>
          </a:xfrm>
          <a:prstGeom prst="rect">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2" name="Google Shape;2162;p53"/>
          <p:cNvSpPr/>
          <p:nvPr/>
        </p:nvSpPr>
        <p:spPr>
          <a:xfrm>
            <a:off x="347472" y="164592"/>
            <a:ext cx="63900" cy="512100"/>
          </a:xfrm>
          <a:prstGeom prst="rect">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3" name="Google Shape;2163;p53"/>
          <p:cNvSpPr/>
          <p:nvPr/>
        </p:nvSpPr>
        <p:spPr>
          <a:xfrm>
            <a:off x="521208" y="146304"/>
            <a:ext cx="8229600" cy="54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C3AED"/>
              </a:buClr>
              <a:buSzPts val="2600"/>
              <a:buFont typeface="Calibri"/>
              <a:buNone/>
            </a:pPr>
            <a:r>
              <a:rPr lang="en" sz="2600" b="1" i="0" u="none" strike="noStrike" cap="none">
                <a:solidFill>
                  <a:srgbClr val="7C3AED"/>
                </a:solidFill>
                <a:latin typeface="Calibri"/>
                <a:ea typeface="Calibri"/>
                <a:cs typeface="Calibri"/>
                <a:sym typeface="Calibri"/>
              </a:rPr>
              <a:t>Why Sparsity Breaks Similarity</a:t>
            </a:r>
            <a:endParaRPr sz="2600" b="0" i="0" u="none" strike="noStrike" cap="none">
              <a:solidFill>
                <a:schemeClr val="dk1"/>
              </a:solidFill>
              <a:latin typeface="Calibri"/>
              <a:ea typeface="Calibri"/>
              <a:cs typeface="Calibri"/>
              <a:sym typeface="Calibri"/>
            </a:endParaRPr>
          </a:p>
        </p:txBody>
      </p:sp>
      <p:cxnSp>
        <p:nvCxnSpPr>
          <p:cNvPr id="2164" name="Google Shape;2164;p53"/>
          <p:cNvCxnSpPr/>
          <p:nvPr/>
        </p:nvCxnSpPr>
        <p:spPr>
          <a:xfrm>
            <a:off x="347472" y="713232"/>
            <a:ext cx="8449200" cy="0"/>
          </a:xfrm>
          <a:prstGeom prst="straightConnector1">
            <a:avLst/>
          </a:prstGeom>
          <a:noFill/>
          <a:ln w="15225" cap="flat" cmpd="sng">
            <a:solidFill>
              <a:srgbClr val="7C3AED"/>
            </a:solidFill>
            <a:prstDash val="solid"/>
            <a:round/>
            <a:headEnd type="none" w="sm" len="sm"/>
            <a:tailEnd type="none" w="sm" len="sm"/>
          </a:ln>
        </p:spPr>
      </p:cxnSp>
      <p:sp>
        <p:nvSpPr>
          <p:cNvPr id="2165" name="Google Shape;2165;p53"/>
          <p:cNvSpPr/>
          <p:nvPr/>
        </p:nvSpPr>
        <p:spPr>
          <a:xfrm>
            <a:off x="347472" y="749808"/>
            <a:ext cx="84492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1200"/>
              <a:buFont typeface="Calibri"/>
              <a:buNone/>
            </a:pPr>
            <a:r>
              <a:rPr lang="en" sz="1200" b="0" i="1" u="none" strike="noStrike" cap="none">
                <a:solidFill>
                  <a:srgbClr val="6B7280"/>
                </a:solidFill>
                <a:latin typeface="Calibri"/>
                <a:ea typeface="Calibri"/>
                <a:cs typeface="Calibri"/>
                <a:sym typeface="Calibri"/>
              </a:rPr>
              <a:t>The dot product between any two one-hot vectors is always zero</a:t>
            </a:r>
            <a:endParaRPr sz="1200" b="0" i="0" u="none" strike="noStrike" cap="none">
              <a:solidFill>
                <a:schemeClr val="dk1"/>
              </a:solidFill>
              <a:latin typeface="Calibri"/>
              <a:ea typeface="Calibri"/>
              <a:cs typeface="Calibri"/>
              <a:sym typeface="Calibri"/>
            </a:endParaRPr>
          </a:p>
        </p:txBody>
      </p:sp>
      <p:sp>
        <p:nvSpPr>
          <p:cNvPr id="2166" name="Google Shape;2166;p53"/>
          <p:cNvSpPr/>
          <p:nvPr/>
        </p:nvSpPr>
        <p:spPr>
          <a:xfrm>
            <a:off x="347472" y="896112"/>
            <a:ext cx="54864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C3AED"/>
              </a:buClr>
              <a:buSzPts val="1300"/>
              <a:buFont typeface="Calibri"/>
              <a:buNone/>
            </a:pPr>
            <a:r>
              <a:rPr lang="en" sz="1300" b="1" i="0" u="none" strike="noStrike" cap="none">
                <a:solidFill>
                  <a:srgbClr val="7C3AED"/>
                </a:solidFill>
                <a:latin typeface="Calibri"/>
                <a:ea typeface="Calibri"/>
                <a:cs typeface="Calibri"/>
                <a:sym typeface="Calibri"/>
              </a:rPr>
              <a:t>Cosine Similarity between one-hot vectors:</a:t>
            </a:r>
            <a:endParaRPr sz="1300" b="0" i="0" u="none" strike="noStrike" cap="none">
              <a:solidFill>
                <a:schemeClr val="dk1"/>
              </a:solidFill>
              <a:latin typeface="Calibri"/>
              <a:ea typeface="Calibri"/>
              <a:cs typeface="Calibri"/>
              <a:sym typeface="Calibri"/>
            </a:endParaRPr>
          </a:p>
        </p:txBody>
      </p:sp>
      <p:sp>
        <p:nvSpPr>
          <p:cNvPr id="2167" name="Google Shape;2167;p53"/>
          <p:cNvSpPr/>
          <p:nvPr/>
        </p:nvSpPr>
        <p:spPr>
          <a:xfrm>
            <a:off x="347472" y="1298448"/>
            <a:ext cx="713100" cy="402300"/>
          </a:xfrm>
          <a:prstGeom prst="rect">
            <a:avLst/>
          </a:prstGeom>
          <a:solidFill>
            <a:srgbClr val="DBEAFE"/>
          </a:solidFill>
          <a:ln w="15225"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8" name="Google Shape;2168;p53"/>
          <p:cNvSpPr/>
          <p:nvPr/>
        </p:nvSpPr>
        <p:spPr>
          <a:xfrm>
            <a:off x="347472" y="1298448"/>
            <a:ext cx="7131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563EB"/>
              </a:buClr>
              <a:buSzPts val="1100"/>
              <a:buFont typeface="Courier New"/>
              <a:buNone/>
            </a:pPr>
            <a:r>
              <a:rPr lang="en" sz="1100" b="1" i="0" u="none" strike="noStrike" cap="none">
                <a:solidFill>
                  <a:srgbClr val="2563EB"/>
                </a:solidFill>
                <a:latin typeface="Courier New"/>
                <a:ea typeface="Courier New"/>
                <a:cs typeface="Courier New"/>
                <a:sym typeface="Courier New"/>
              </a:rPr>
              <a:t>cat</a:t>
            </a:r>
            <a:endParaRPr sz="1100" b="0" i="0" u="none" strike="noStrike" cap="none">
              <a:solidFill>
                <a:schemeClr val="dk1"/>
              </a:solidFill>
              <a:latin typeface="Calibri"/>
              <a:ea typeface="Calibri"/>
              <a:cs typeface="Calibri"/>
              <a:sym typeface="Calibri"/>
            </a:endParaRPr>
          </a:p>
        </p:txBody>
      </p:sp>
      <p:sp>
        <p:nvSpPr>
          <p:cNvPr id="2169" name="Google Shape;2169;p53"/>
          <p:cNvSpPr/>
          <p:nvPr/>
        </p:nvSpPr>
        <p:spPr>
          <a:xfrm>
            <a:off x="1097280" y="1298448"/>
            <a:ext cx="292500" cy="402300"/>
          </a:xfrm>
          <a:prstGeom prst="rect">
            <a:avLst/>
          </a:prstGeom>
          <a:solidFill>
            <a:srgbClr val="DBEAFE"/>
          </a:solidFill>
          <a:ln w="19050"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0" name="Google Shape;2170;p53"/>
          <p:cNvSpPr/>
          <p:nvPr/>
        </p:nvSpPr>
        <p:spPr>
          <a:xfrm>
            <a:off x="1097280" y="1298448"/>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563EB"/>
              </a:buClr>
              <a:buSzPts val="1000"/>
              <a:buFont typeface="Courier New"/>
              <a:buNone/>
            </a:pPr>
            <a:r>
              <a:rPr lang="en" sz="1000" b="1" i="0" u="none" strike="noStrike" cap="none">
                <a:solidFill>
                  <a:srgbClr val="2563EB"/>
                </a:solidFill>
                <a:latin typeface="Courier New"/>
                <a:ea typeface="Courier New"/>
                <a:cs typeface="Courier New"/>
                <a:sym typeface="Courier New"/>
              </a:rPr>
              <a:t>1</a:t>
            </a:r>
            <a:endParaRPr sz="1000" b="0" i="0" u="none" strike="noStrike" cap="none">
              <a:solidFill>
                <a:schemeClr val="dk1"/>
              </a:solidFill>
              <a:latin typeface="Calibri"/>
              <a:ea typeface="Calibri"/>
              <a:cs typeface="Calibri"/>
              <a:sym typeface="Calibri"/>
            </a:endParaRPr>
          </a:p>
        </p:txBody>
      </p:sp>
      <p:sp>
        <p:nvSpPr>
          <p:cNvPr id="2171" name="Google Shape;2171;p53"/>
          <p:cNvSpPr/>
          <p:nvPr/>
        </p:nvSpPr>
        <p:spPr>
          <a:xfrm>
            <a:off x="1389888" y="1298448"/>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2" name="Google Shape;2172;p53"/>
          <p:cNvSpPr/>
          <p:nvPr/>
        </p:nvSpPr>
        <p:spPr>
          <a:xfrm>
            <a:off x="1389888" y="1298448"/>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173" name="Google Shape;2173;p53"/>
          <p:cNvSpPr/>
          <p:nvPr/>
        </p:nvSpPr>
        <p:spPr>
          <a:xfrm>
            <a:off x="1682496" y="1298448"/>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4" name="Google Shape;2174;p53"/>
          <p:cNvSpPr/>
          <p:nvPr/>
        </p:nvSpPr>
        <p:spPr>
          <a:xfrm>
            <a:off x="1682496" y="1298448"/>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175" name="Google Shape;2175;p53"/>
          <p:cNvSpPr/>
          <p:nvPr/>
        </p:nvSpPr>
        <p:spPr>
          <a:xfrm>
            <a:off x="1975104" y="1298448"/>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6" name="Google Shape;2176;p53"/>
          <p:cNvSpPr/>
          <p:nvPr/>
        </p:nvSpPr>
        <p:spPr>
          <a:xfrm>
            <a:off x="1975104" y="1298448"/>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177" name="Google Shape;2177;p53"/>
          <p:cNvSpPr/>
          <p:nvPr/>
        </p:nvSpPr>
        <p:spPr>
          <a:xfrm>
            <a:off x="2267712" y="1298448"/>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8" name="Google Shape;2178;p53"/>
          <p:cNvSpPr/>
          <p:nvPr/>
        </p:nvSpPr>
        <p:spPr>
          <a:xfrm>
            <a:off x="2267712" y="1298448"/>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179" name="Google Shape;2179;p53"/>
          <p:cNvSpPr/>
          <p:nvPr/>
        </p:nvSpPr>
        <p:spPr>
          <a:xfrm>
            <a:off x="2560320" y="1298448"/>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0" name="Google Shape;2180;p53"/>
          <p:cNvSpPr/>
          <p:nvPr/>
        </p:nvSpPr>
        <p:spPr>
          <a:xfrm>
            <a:off x="2560320" y="1298448"/>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181" name="Google Shape;2181;p53"/>
          <p:cNvSpPr/>
          <p:nvPr/>
        </p:nvSpPr>
        <p:spPr>
          <a:xfrm>
            <a:off x="2852928" y="1298448"/>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2" name="Google Shape;2182;p53"/>
          <p:cNvSpPr/>
          <p:nvPr/>
        </p:nvSpPr>
        <p:spPr>
          <a:xfrm>
            <a:off x="2852928" y="1298448"/>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183" name="Google Shape;2183;p53"/>
          <p:cNvSpPr/>
          <p:nvPr/>
        </p:nvSpPr>
        <p:spPr>
          <a:xfrm>
            <a:off x="3145536" y="1298448"/>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4" name="Google Shape;2184;p53"/>
          <p:cNvSpPr/>
          <p:nvPr/>
        </p:nvSpPr>
        <p:spPr>
          <a:xfrm>
            <a:off x="3145536" y="1298448"/>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185" name="Google Shape;2185;p53"/>
          <p:cNvSpPr/>
          <p:nvPr/>
        </p:nvSpPr>
        <p:spPr>
          <a:xfrm>
            <a:off x="3566160" y="1298448"/>
            <a:ext cx="2559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B3A6B"/>
              </a:buClr>
              <a:buSzPts val="2200"/>
              <a:buFont typeface="Calibri"/>
              <a:buNone/>
            </a:pPr>
            <a:r>
              <a:rPr lang="en" sz="2200" b="1" i="0" u="none" strike="noStrike" cap="none">
                <a:solidFill>
                  <a:srgbClr val="1B3A6B"/>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2186" name="Google Shape;2186;p53"/>
          <p:cNvSpPr/>
          <p:nvPr/>
        </p:nvSpPr>
        <p:spPr>
          <a:xfrm>
            <a:off x="3858768" y="1298448"/>
            <a:ext cx="713100" cy="402300"/>
          </a:xfrm>
          <a:prstGeom prst="rect">
            <a:avLst/>
          </a:prstGeom>
          <a:solidFill>
            <a:srgbClr val="EDE9FE"/>
          </a:solidFill>
          <a:ln w="15225"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7" name="Google Shape;2187;p53"/>
          <p:cNvSpPr/>
          <p:nvPr/>
        </p:nvSpPr>
        <p:spPr>
          <a:xfrm>
            <a:off x="3858768" y="1298448"/>
            <a:ext cx="7131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C3AED"/>
              </a:buClr>
              <a:buSzPts val="1100"/>
              <a:buFont typeface="Courier New"/>
              <a:buNone/>
            </a:pPr>
            <a:r>
              <a:rPr lang="en" sz="1100" b="1" i="0" u="none" strike="noStrike" cap="none">
                <a:solidFill>
                  <a:srgbClr val="7C3AED"/>
                </a:solidFill>
                <a:latin typeface="Courier New"/>
                <a:ea typeface="Courier New"/>
                <a:cs typeface="Courier New"/>
                <a:sym typeface="Courier New"/>
              </a:rPr>
              <a:t>kitten</a:t>
            </a:r>
            <a:endParaRPr sz="1100" b="0" i="0" u="none" strike="noStrike" cap="none">
              <a:solidFill>
                <a:schemeClr val="dk1"/>
              </a:solidFill>
              <a:latin typeface="Calibri"/>
              <a:ea typeface="Calibri"/>
              <a:cs typeface="Calibri"/>
              <a:sym typeface="Calibri"/>
            </a:endParaRPr>
          </a:p>
        </p:txBody>
      </p:sp>
      <p:sp>
        <p:nvSpPr>
          <p:cNvPr id="2188" name="Google Shape;2188;p53"/>
          <p:cNvSpPr/>
          <p:nvPr/>
        </p:nvSpPr>
        <p:spPr>
          <a:xfrm>
            <a:off x="4608576" y="1298448"/>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9" name="Google Shape;2189;p53"/>
          <p:cNvSpPr/>
          <p:nvPr/>
        </p:nvSpPr>
        <p:spPr>
          <a:xfrm>
            <a:off x="4608576" y="1298448"/>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190" name="Google Shape;2190;p53"/>
          <p:cNvSpPr/>
          <p:nvPr/>
        </p:nvSpPr>
        <p:spPr>
          <a:xfrm>
            <a:off x="4901184" y="1298448"/>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1" name="Google Shape;2191;p53"/>
          <p:cNvSpPr/>
          <p:nvPr/>
        </p:nvSpPr>
        <p:spPr>
          <a:xfrm>
            <a:off x="4901184" y="1298448"/>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192" name="Google Shape;2192;p53"/>
          <p:cNvSpPr/>
          <p:nvPr/>
        </p:nvSpPr>
        <p:spPr>
          <a:xfrm>
            <a:off x="5193792" y="1298448"/>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3" name="Google Shape;2193;p53"/>
          <p:cNvSpPr/>
          <p:nvPr/>
        </p:nvSpPr>
        <p:spPr>
          <a:xfrm>
            <a:off x="5193792" y="1298448"/>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194" name="Google Shape;2194;p53"/>
          <p:cNvSpPr/>
          <p:nvPr/>
        </p:nvSpPr>
        <p:spPr>
          <a:xfrm>
            <a:off x="5486400" y="1298448"/>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5" name="Google Shape;2195;p53"/>
          <p:cNvSpPr/>
          <p:nvPr/>
        </p:nvSpPr>
        <p:spPr>
          <a:xfrm>
            <a:off x="5486400" y="1298448"/>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196" name="Google Shape;2196;p53"/>
          <p:cNvSpPr/>
          <p:nvPr/>
        </p:nvSpPr>
        <p:spPr>
          <a:xfrm>
            <a:off x="5779008" y="1298448"/>
            <a:ext cx="292500" cy="402300"/>
          </a:xfrm>
          <a:prstGeom prst="rect">
            <a:avLst/>
          </a:prstGeom>
          <a:solidFill>
            <a:srgbClr val="EDE9FE"/>
          </a:solidFill>
          <a:ln w="1905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7" name="Google Shape;2197;p53"/>
          <p:cNvSpPr/>
          <p:nvPr/>
        </p:nvSpPr>
        <p:spPr>
          <a:xfrm>
            <a:off x="5779008" y="1298448"/>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C3AED"/>
              </a:buClr>
              <a:buSzPts val="1000"/>
              <a:buFont typeface="Courier New"/>
              <a:buNone/>
            </a:pPr>
            <a:r>
              <a:rPr lang="en" sz="1000" b="1" i="0" u="none" strike="noStrike" cap="none">
                <a:solidFill>
                  <a:srgbClr val="7C3AED"/>
                </a:solidFill>
                <a:latin typeface="Courier New"/>
                <a:ea typeface="Courier New"/>
                <a:cs typeface="Courier New"/>
                <a:sym typeface="Courier New"/>
              </a:rPr>
              <a:t>1</a:t>
            </a:r>
            <a:endParaRPr sz="1000" b="0" i="0" u="none" strike="noStrike" cap="none">
              <a:solidFill>
                <a:schemeClr val="dk1"/>
              </a:solidFill>
              <a:latin typeface="Calibri"/>
              <a:ea typeface="Calibri"/>
              <a:cs typeface="Calibri"/>
              <a:sym typeface="Calibri"/>
            </a:endParaRPr>
          </a:p>
        </p:txBody>
      </p:sp>
      <p:sp>
        <p:nvSpPr>
          <p:cNvPr id="2198" name="Google Shape;2198;p53"/>
          <p:cNvSpPr/>
          <p:nvPr/>
        </p:nvSpPr>
        <p:spPr>
          <a:xfrm>
            <a:off x="6071616" y="1298448"/>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9" name="Google Shape;2199;p53"/>
          <p:cNvSpPr/>
          <p:nvPr/>
        </p:nvSpPr>
        <p:spPr>
          <a:xfrm>
            <a:off x="6071616" y="1298448"/>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00" name="Google Shape;2200;p53"/>
          <p:cNvSpPr/>
          <p:nvPr/>
        </p:nvSpPr>
        <p:spPr>
          <a:xfrm>
            <a:off x="6364224" y="1298448"/>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1" name="Google Shape;2201;p53"/>
          <p:cNvSpPr/>
          <p:nvPr/>
        </p:nvSpPr>
        <p:spPr>
          <a:xfrm>
            <a:off x="6364224" y="1298448"/>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02" name="Google Shape;2202;p53"/>
          <p:cNvSpPr/>
          <p:nvPr/>
        </p:nvSpPr>
        <p:spPr>
          <a:xfrm>
            <a:off x="6656832" y="1298448"/>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3" name="Google Shape;2203;p53"/>
          <p:cNvSpPr/>
          <p:nvPr/>
        </p:nvSpPr>
        <p:spPr>
          <a:xfrm>
            <a:off x="6656832" y="1298448"/>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04" name="Google Shape;2204;p53"/>
          <p:cNvSpPr/>
          <p:nvPr/>
        </p:nvSpPr>
        <p:spPr>
          <a:xfrm>
            <a:off x="7040880" y="1298448"/>
            <a:ext cx="2376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B3A6B"/>
              </a:buClr>
              <a:buSzPts val="1600"/>
              <a:buFont typeface="Calibri"/>
              <a:buNone/>
            </a:pPr>
            <a:r>
              <a:rPr lang="en" sz="1600" b="1" i="0" u="none" strike="noStrike" cap="none">
                <a:solidFill>
                  <a:srgbClr val="1B3A6B"/>
                </a:solidFill>
                <a:latin typeface="Calibri"/>
                <a:ea typeface="Calibri"/>
                <a:cs typeface="Calibri"/>
                <a:sym typeface="Calibri"/>
              </a:rPr>
              <a:t>=</a:t>
            </a:r>
            <a:endParaRPr sz="1600" b="0" i="0" u="none" strike="noStrike" cap="none">
              <a:solidFill>
                <a:schemeClr val="dk1"/>
              </a:solidFill>
              <a:latin typeface="Calibri"/>
              <a:ea typeface="Calibri"/>
              <a:cs typeface="Calibri"/>
              <a:sym typeface="Calibri"/>
            </a:endParaRPr>
          </a:p>
        </p:txBody>
      </p:sp>
      <p:sp>
        <p:nvSpPr>
          <p:cNvPr id="2205" name="Google Shape;2205;p53"/>
          <p:cNvSpPr/>
          <p:nvPr/>
        </p:nvSpPr>
        <p:spPr>
          <a:xfrm>
            <a:off x="7296912" y="1353312"/>
            <a:ext cx="512100" cy="292500"/>
          </a:xfrm>
          <a:prstGeom prst="rect">
            <a:avLst/>
          </a:prstGeom>
          <a:solidFill>
            <a:srgbClr val="FEE2E2"/>
          </a:solidFill>
          <a:ln w="15225"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6" name="Google Shape;2206;p53"/>
          <p:cNvSpPr/>
          <p:nvPr/>
        </p:nvSpPr>
        <p:spPr>
          <a:xfrm>
            <a:off x="7296912" y="1353312"/>
            <a:ext cx="5121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DC2626"/>
              </a:buClr>
              <a:buSzPts val="1300"/>
              <a:buFont typeface="Courier New"/>
              <a:buNone/>
            </a:pPr>
            <a:r>
              <a:rPr lang="en" sz="1300" b="1" i="0" u="none" strike="noStrike" cap="none">
                <a:solidFill>
                  <a:srgbClr val="DC2626"/>
                </a:solidFill>
                <a:latin typeface="Courier New"/>
                <a:ea typeface="Courier New"/>
                <a:cs typeface="Courier New"/>
                <a:sym typeface="Courier New"/>
              </a:rPr>
              <a:t>0.00</a:t>
            </a:r>
            <a:endParaRPr sz="1300" b="0" i="0" u="none" strike="noStrike" cap="none">
              <a:solidFill>
                <a:schemeClr val="dk1"/>
              </a:solidFill>
              <a:latin typeface="Calibri"/>
              <a:ea typeface="Calibri"/>
              <a:cs typeface="Calibri"/>
              <a:sym typeface="Calibri"/>
            </a:endParaRPr>
          </a:p>
        </p:txBody>
      </p:sp>
      <p:sp>
        <p:nvSpPr>
          <p:cNvPr id="2207" name="Google Shape;2207;p53"/>
          <p:cNvSpPr/>
          <p:nvPr/>
        </p:nvSpPr>
        <p:spPr>
          <a:xfrm>
            <a:off x="7836408" y="1371600"/>
            <a:ext cx="11886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1000"/>
              <a:buFont typeface="Calibri"/>
              <a:buNone/>
            </a:pPr>
            <a:r>
              <a:rPr lang="en" sz="1000" b="0" i="1" u="none" strike="noStrike" cap="none">
                <a:solidFill>
                  <a:srgbClr val="6B7280"/>
                </a:solidFill>
                <a:latin typeface="Calibri"/>
                <a:ea typeface="Calibri"/>
                <a:cs typeface="Calibri"/>
                <a:sym typeface="Calibri"/>
              </a:rPr>
              <a:t>synonyms!</a:t>
            </a:r>
            <a:endParaRPr sz="1000" b="0" i="0" u="none" strike="noStrike" cap="none">
              <a:solidFill>
                <a:schemeClr val="dk1"/>
              </a:solidFill>
              <a:latin typeface="Calibri"/>
              <a:ea typeface="Calibri"/>
              <a:cs typeface="Calibri"/>
              <a:sym typeface="Calibri"/>
            </a:endParaRPr>
          </a:p>
        </p:txBody>
      </p:sp>
      <p:sp>
        <p:nvSpPr>
          <p:cNvPr id="2208" name="Google Shape;2208;p53"/>
          <p:cNvSpPr/>
          <p:nvPr/>
        </p:nvSpPr>
        <p:spPr>
          <a:xfrm>
            <a:off x="347472" y="2249424"/>
            <a:ext cx="713100" cy="402300"/>
          </a:xfrm>
          <a:prstGeom prst="rect">
            <a:avLst/>
          </a:prstGeom>
          <a:solidFill>
            <a:srgbClr val="DBEAFE"/>
          </a:solidFill>
          <a:ln w="15225"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9" name="Google Shape;2209;p53"/>
          <p:cNvSpPr/>
          <p:nvPr/>
        </p:nvSpPr>
        <p:spPr>
          <a:xfrm>
            <a:off x="347472" y="2249424"/>
            <a:ext cx="7131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563EB"/>
              </a:buClr>
              <a:buSzPts val="1100"/>
              <a:buFont typeface="Courier New"/>
              <a:buNone/>
            </a:pPr>
            <a:r>
              <a:rPr lang="en" sz="1100" b="1" i="0" u="none" strike="noStrike" cap="none">
                <a:solidFill>
                  <a:srgbClr val="2563EB"/>
                </a:solidFill>
                <a:latin typeface="Courier New"/>
                <a:ea typeface="Courier New"/>
                <a:cs typeface="Courier New"/>
                <a:sym typeface="Courier New"/>
              </a:rPr>
              <a:t>king</a:t>
            </a:r>
            <a:endParaRPr sz="1100" b="0" i="0" u="none" strike="noStrike" cap="none">
              <a:solidFill>
                <a:schemeClr val="dk1"/>
              </a:solidFill>
              <a:latin typeface="Calibri"/>
              <a:ea typeface="Calibri"/>
              <a:cs typeface="Calibri"/>
              <a:sym typeface="Calibri"/>
            </a:endParaRPr>
          </a:p>
        </p:txBody>
      </p:sp>
      <p:sp>
        <p:nvSpPr>
          <p:cNvPr id="2210" name="Google Shape;2210;p53"/>
          <p:cNvSpPr/>
          <p:nvPr/>
        </p:nvSpPr>
        <p:spPr>
          <a:xfrm>
            <a:off x="1097280" y="2249424"/>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1" name="Google Shape;2211;p53"/>
          <p:cNvSpPr/>
          <p:nvPr/>
        </p:nvSpPr>
        <p:spPr>
          <a:xfrm>
            <a:off x="1097280" y="2249424"/>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12" name="Google Shape;2212;p53"/>
          <p:cNvSpPr/>
          <p:nvPr/>
        </p:nvSpPr>
        <p:spPr>
          <a:xfrm>
            <a:off x="1389888" y="2249424"/>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3" name="Google Shape;2213;p53"/>
          <p:cNvSpPr/>
          <p:nvPr/>
        </p:nvSpPr>
        <p:spPr>
          <a:xfrm>
            <a:off x="1389888" y="2249424"/>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14" name="Google Shape;2214;p53"/>
          <p:cNvSpPr/>
          <p:nvPr/>
        </p:nvSpPr>
        <p:spPr>
          <a:xfrm>
            <a:off x="1682496" y="2249424"/>
            <a:ext cx="292500" cy="402300"/>
          </a:xfrm>
          <a:prstGeom prst="rect">
            <a:avLst/>
          </a:prstGeom>
          <a:solidFill>
            <a:srgbClr val="DBEAFE"/>
          </a:solidFill>
          <a:ln w="19050"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5" name="Google Shape;2215;p53"/>
          <p:cNvSpPr/>
          <p:nvPr/>
        </p:nvSpPr>
        <p:spPr>
          <a:xfrm>
            <a:off x="1682496" y="2249424"/>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563EB"/>
              </a:buClr>
              <a:buSzPts val="1000"/>
              <a:buFont typeface="Courier New"/>
              <a:buNone/>
            </a:pPr>
            <a:r>
              <a:rPr lang="en" sz="1000" b="1" i="0" u="none" strike="noStrike" cap="none">
                <a:solidFill>
                  <a:srgbClr val="2563EB"/>
                </a:solidFill>
                <a:latin typeface="Courier New"/>
                <a:ea typeface="Courier New"/>
                <a:cs typeface="Courier New"/>
                <a:sym typeface="Courier New"/>
              </a:rPr>
              <a:t>1</a:t>
            </a:r>
            <a:endParaRPr sz="1000" b="0" i="0" u="none" strike="noStrike" cap="none">
              <a:solidFill>
                <a:schemeClr val="dk1"/>
              </a:solidFill>
              <a:latin typeface="Calibri"/>
              <a:ea typeface="Calibri"/>
              <a:cs typeface="Calibri"/>
              <a:sym typeface="Calibri"/>
            </a:endParaRPr>
          </a:p>
        </p:txBody>
      </p:sp>
      <p:sp>
        <p:nvSpPr>
          <p:cNvPr id="2216" name="Google Shape;2216;p53"/>
          <p:cNvSpPr/>
          <p:nvPr/>
        </p:nvSpPr>
        <p:spPr>
          <a:xfrm>
            <a:off x="1975104" y="2249424"/>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7" name="Google Shape;2217;p53"/>
          <p:cNvSpPr/>
          <p:nvPr/>
        </p:nvSpPr>
        <p:spPr>
          <a:xfrm>
            <a:off x="1975104" y="2249424"/>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18" name="Google Shape;2218;p53"/>
          <p:cNvSpPr/>
          <p:nvPr/>
        </p:nvSpPr>
        <p:spPr>
          <a:xfrm>
            <a:off x="2267712" y="2249424"/>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9" name="Google Shape;2219;p53"/>
          <p:cNvSpPr/>
          <p:nvPr/>
        </p:nvSpPr>
        <p:spPr>
          <a:xfrm>
            <a:off x="2267712" y="2249424"/>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20" name="Google Shape;2220;p53"/>
          <p:cNvSpPr/>
          <p:nvPr/>
        </p:nvSpPr>
        <p:spPr>
          <a:xfrm>
            <a:off x="2560320" y="2249424"/>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1" name="Google Shape;2221;p53"/>
          <p:cNvSpPr/>
          <p:nvPr/>
        </p:nvSpPr>
        <p:spPr>
          <a:xfrm>
            <a:off x="2560320" y="2249424"/>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22" name="Google Shape;2222;p53"/>
          <p:cNvSpPr/>
          <p:nvPr/>
        </p:nvSpPr>
        <p:spPr>
          <a:xfrm>
            <a:off x="2852928" y="2249424"/>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3" name="Google Shape;2223;p53"/>
          <p:cNvSpPr/>
          <p:nvPr/>
        </p:nvSpPr>
        <p:spPr>
          <a:xfrm>
            <a:off x="2852928" y="2249424"/>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24" name="Google Shape;2224;p53"/>
          <p:cNvSpPr/>
          <p:nvPr/>
        </p:nvSpPr>
        <p:spPr>
          <a:xfrm>
            <a:off x="3145536" y="2249424"/>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5" name="Google Shape;2225;p53"/>
          <p:cNvSpPr/>
          <p:nvPr/>
        </p:nvSpPr>
        <p:spPr>
          <a:xfrm>
            <a:off x="3145536" y="2249424"/>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26" name="Google Shape;2226;p53"/>
          <p:cNvSpPr/>
          <p:nvPr/>
        </p:nvSpPr>
        <p:spPr>
          <a:xfrm>
            <a:off x="3566160" y="2249424"/>
            <a:ext cx="2559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B3A6B"/>
              </a:buClr>
              <a:buSzPts val="2200"/>
              <a:buFont typeface="Calibri"/>
              <a:buNone/>
            </a:pPr>
            <a:r>
              <a:rPr lang="en" sz="2200" b="1" i="0" u="none" strike="noStrike" cap="none">
                <a:solidFill>
                  <a:srgbClr val="1B3A6B"/>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2227" name="Google Shape;2227;p53"/>
          <p:cNvSpPr/>
          <p:nvPr/>
        </p:nvSpPr>
        <p:spPr>
          <a:xfrm>
            <a:off x="3858768" y="2249424"/>
            <a:ext cx="713100" cy="402300"/>
          </a:xfrm>
          <a:prstGeom prst="rect">
            <a:avLst/>
          </a:prstGeom>
          <a:solidFill>
            <a:srgbClr val="EDE9FE"/>
          </a:solidFill>
          <a:ln w="15225"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8" name="Google Shape;2228;p53"/>
          <p:cNvSpPr/>
          <p:nvPr/>
        </p:nvSpPr>
        <p:spPr>
          <a:xfrm>
            <a:off x="3858768" y="2249424"/>
            <a:ext cx="7131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C3AED"/>
              </a:buClr>
              <a:buSzPts val="1100"/>
              <a:buFont typeface="Courier New"/>
              <a:buNone/>
            </a:pPr>
            <a:r>
              <a:rPr lang="en" sz="1100" b="1" i="0" u="none" strike="noStrike" cap="none">
                <a:solidFill>
                  <a:srgbClr val="7C3AED"/>
                </a:solidFill>
                <a:latin typeface="Courier New"/>
                <a:ea typeface="Courier New"/>
                <a:cs typeface="Courier New"/>
                <a:sym typeface="Courier New"/>
              </a:rPr>
              <a:t>queen</a:t>
            </a:r>
            <a:endParaRPr sz="1100" b="0" i="0" u="none" strike="noStrike" cap="none">
              <a:solidFill>
                <a:schemeClr val="dk1"/>
              </a:solidFill>
              <a:latin typeface="Calibri"/>
              <a:ea typeface="Calibri"/>
              <a:cs typeface="Calibri"/>
              <a:sym typeface="Calibri"/>
            </a:endParaRPr>
          </a:p>
        </p:txBody>
      </p:sp>
      <p:sp>
        <p:nvSpPr>
          <p:cNvPr id="2229" name="Google Shape;2229;p53"/>
          <p:cNvSpPr/>
          <p:nvPr/>
        </p:nvSpPr>
        <p:spPr>
          <a:xfrm>
            <a:off x="4608576" y="2249424"/>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0" name="Google Shape;2230;p53"/>
          <p:cNvSpPr/>
          <p:nvPr/>
        </p:nvSpPr>
        <p:spPr>
          <a:xfrm>
            <a:off x="4608576" y="2249424"/>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31" name="Google Shape;2231;p53"/>
          <p:cNvSpPr/>
          <p:nvPr/>
        </p:nvSpPr>
        <p:spPr>
          <a:xfrm>
            <a:off x="4901184" y="2249424"/>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2" name="Google Shape;2232;p53"/>
          <p:cNvSpPr/>
          <p:nvPr/>
        </p:nvSpPr>
        <p:spPr>
          <a:xfrm>
            <a:off x="4901184" y="2249424"/>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33" name="Google Shape;2233;p53"/>
          <p:cNvSpPr/>
          <p:nvPr/>
        </p:nvSpPr>
        <p:spPr>
          <a:xfrm>
            <a:off x="5193792" y="2249424"/>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4" name="Google Shape;2234;p53"/>
          <p:cNvSpPr/>
          <p:nvPr/>
        </p:nvSpPr>
        <p:spPr>
          <a:xfrm>
            <a:off x="5193792" y="2249424"/>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35" name="Google Shape;2235;p53"/>
          <p:cNvSpPr/>
          <p:nvPr/>
        </p:nvSpPr>
        <p:spPr>
          <a:xfrm>
            <a:off x="5486400" y="2249424"/>
            <a:ext cx="292500" cy="402300"/>
          </a:xfrm>
          <a:prstGeom prst="rect">
            <a:avLst/>
          </a:prstGeom>
          <a:solidFill>
            <a:srgbClr val="EDE9FE"/>
          </a:solidFill>
          <a:ln w="1905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6" name="Google Shape;2236;p53"/>
          <p:cNvSpPr/>
          <p:nvPr/>
        </p:nvSpPr>
        <p:spPr>
          <a:xfrm>
            <a:off x="5486400" y="2249424"/>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C3AED"/>
              </a:buClr>
              <a:buSzPts val="1000"/>
              <a:buFont typeface="Courier New"/>
              <a:buNone/>
            </a:pPr>
            <a:r>
              <a:rPr lang="en" sz="1000" b="1" i="0" u="none" strike="noStrike" cap="none">
                <a:solidFill>
                  <a:srgbClr val="7C3AED"/>
                </a:solidFill>
                <a:latin typeface="Courier New"/>
                <a:ea typeface="Courier New"/>
                <a:cs typeface="Courier New"/>
                <a:sym typeface="Courier New"/>
              </a:rPr>
              <a:t>1</a:t>
            </a:r>
            <a:endParaRPr sz="1000" b="0" i="0" u="none" strike="noStrike" cap="none">
              <a:solidFill>
                <a:schemeClr val="dk1"/>
              </a:solidFill>
              <a:latin typeface="Calibri"/>
              <a:ea typeface="Calibri"/>
              <a:cs typeface="Calibri"/>
              <a:sym typeface="Calibri"/>
            </a:endParaRPr>
          </a:p>
        </p:txBody>
      </p:sp>
      <p:sp>
        <p:nvSpPr>
          <p:cNvPr id="2237" name="Google Shape;2237;p53"/>
          <p:cNvSpPr/>
          <p:nvPr/>
        </p:nvSpPr>
        <p:spPr>
          <a:xfrm>
            <a:off x="5779008" y="2249424"/>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8" name="Google Shape;2238;p53"/>
          <p:cNvSpPr/>
          <p:nvPr/>
        </p:nvSpPr>
        <p:spPr>
          <a:xfrm>
            <a:off x="5779008" y="2249424"/>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39" name="Google Shape;2239;p53"/>
          <p:cNvSpPr/>
          <p:nvPr/>
        </p:nvSpPr>
        <p:spPr>
          <a:xfrm>
            <a:off x="6071616" y="2249424"/>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0" name="Google Shape;2240;p53"/>
          <p:cNvSpPr/>
          <p:nvPr/>
        </p:nvSpPr>
        <p:spPr>
          <a:xfrm>
            <a:off x="6071616" y="2249424"/>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41" name="Google Shape;2241;p53"/>
          <p:cNvSpPr/>
          <p:nvPr/>
        </p:nvSpPr>
        <p:spPr>
          <a:xfrm>
            <a:off x="6364224" y="2249424"/>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2" name="Google Shape;2242;p53"/>
          <p:cNvSpPr/>
          <p:nvPr/>
        </p:nvSpPr>
        <p:spPr>
          <a:xfrm>
            <a:off x="6364224" y="2249424"/>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43" name="Google Shape;2243;p53"/>
          <p:cNvSpPr/>
          <p:nvPr/>
        </p:nvSpPr>
        <p:spPr>
          <a:xfrm>
            <a:off x="6656832" y="2249424"/>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4" name="Google Shape;2244;p53"/>
          <p:cNvSpPr/>
          <p:nvPr/>
        </p:nvSpPr>
        <p:spPr>
          <a:xfrm>
            <a:off x="6656832" y="2249424"/>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45" name="Google Shape;2245;p53"/>
          <p:cNvSpPr/>
          <p:nvPr/>
        </p:nvSpPr>
        <p:spPr>
          <a:xfrm>
            <a:off x="7040880" y="2249424"/>
            <a:ext cx="2376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B3A6B"/>
              </a:buClr>
              <a:buSzPts val="1600"/>
              <a:buFont typeface="Calibri"/>
              <a:buNone/>
            </a:pPr>
            <a:r>
              <a:rPr lang="en" sz="1600" b="1" i="0" u="none" strike="noStrike" cap="none">
                <a:solidFill>
                  <a:srgbClr val="1B3A6B"/>
                </a:solidFill>
                <a:latin typeface="Calibri"/>
                <a:ea typeface="Calibri"/>
                <a:cs typeface="Calibri"/>
                <a:sym typeface="Calibri"/>
              </a:rPr>
              <a:t>=</a:t>
            </a:r>
            <a:endParaRPr sz="1600" b="0" i="0" u="none" strike="noStrike" cap="none">
              <a:solidFill>
                <a:schemeClr val="dk1"/>
              </a:solidFill>
              <a:latin typeface="Calibri"/>
              <a:ea typeface="Calibri"/>
              <a:cs typeface="Calibri"/>
              <a:sym typeface="Calibri"/>
            </a:endParaRPr>
          </a:p>
        </p:txBody>
      </p:sp>
      <p:sp>
        <p:nvSpPr>
          <p:cNvPr id="2246" name="Google Shape;2246;p53"/>
          <p:cNvSpPr/>
          <p:nvPr/>
        </p:nvSpPr>
        <p:spPr>
          <a:xfrm>
            <a:off x="7296912" y="2304288"/>
            <a:ext cx="512100" cy="292500"/>
          </a:xfrm>
          <a:prstGeom prst="rect">
            <a:avLst/>
          </a:prstGeom>
          <a:solidFill>
            <a:srgbClr val="FEE2E2"/>
          </a:solidFill>
          <a:ln w="15225"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7" name="Google Shape;2247;p53"/>
          <p:cNvSpPr/>
          <p:nvPr/>
        </p:nvSpPr>
        <p:spPr>
          <a:xfrm>
            <a:off x="7296912" y="2304288"/>
            <a:ext cx="5121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DC2626"/>
              </a:buClr>
              <a:buSzPts val="1300"/>
              <a:buFont typeface="Courier New"/>
              <a:buNone/>
            </a:pPr>
            <a:r>
              <a:rPr lang="en" sz="1300" b="1" i="0" u="none" strike="noStrike" cap="none">
                <a:solidFill>
                  <a:srgbClr val="DC2626"/>
                </a:solidFill>
                <a:latin typeface="Courier New"/>
                <a:ea typeface="Courier New"/>
                <a:cs typeface="Courier New"/>
                <a:sym typeface="Courier New"/>
              </a:rPr>
              <a:t>0.00</a:t>
            </a:r>
            <a:endParaRPr sz="1300" b="0" i="0" u="none" strike="noStrike" cap="none">
              <a:solidFill>
                <a:schemeClr val="dk1"/>
              </a:solidFill>
              <a:latin typeface="Calibri"/>
              <a:ea typeface="Calibri"/>
              <a:cs typeface="Calibri"/>
              <a:sym typeface="Calibri"/>
            </a:endParaRPr>
          </a:p>
        </p:txBody>
      </p:sp>
      <p:sp>
        <p:nvSpPr>
          <p:cNvPr id="2248" name="Google Shape;2248;p53"/>
          <p:cNvSpPr/>
          <p:nvPr/>
        </p:nvSpPr>
        <p:spPr>
          <a:xfrm>
            <a:off x="7836408" y="2322576"/>
            <a:ext cx="11886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1000"/>
              <a:buFont typeface="Calibri"/>
              <a:buNone/>
            </a:pPr>
            <a:r>
              <a:rPr lang="en" sz="1000" b="0" i="1" u="none" strike="noStrike" cap="none">
                <a:solidFill>
                  <a:srgbClr val="6B7280"/>
                </a:solidFill>
                <a:latin typeface="Calibri"/>
                <a:ea typeface="Calibri"/>
                <a:cs typeface="Calibri"/>
                <a:sym typeface="Calibri"/>
              </a:rPr>
              <a:t>antonyms?</a:t>
            </a:r>
            <a:endParaRPr sz="1000" b="0" i="0" u="none" strike="noStrike" cap="none">
              <a:solidFill>
                <a:schemeClr val="dk1"/>
              </a:solidFill>
              <a:latin typeface="Calibri"/>
              <a:ea typeface="Calibri"/>
              <a:cs typeface="Calibri"/>
              <a:sym typeface="Calibri"/>
            </a:endParaRPr>
          </a:p>
        </p:txBody>
      </p:sp>
      <p:sp>
        <p:nvSpPr>
          <p:cNvPr id="2249" name="Google Shape;2249;p53"/>
          <p:cNvSpPr/>
          <p:nvPr/>
        </p:nvSpPr>
        <p:spPr>
          <a:xfrm>
            <a:off x="347472" y="3200400"/>
            <a:ext cx="713100" cy="402300"/>
          </a:xfrm>
          <a:prstGeom prst="rect">
            <a:avLst/>
          </a:prstGeom>
          <a:solidFill>
            <a:srgbClr val="DBEAFE"/>
          </a:solidFill>
          <a:ln w="15225"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0" name="Google Shape;2250;p53"/>
          <p:cNvSpPr/>
          <p:nvPr/>
        </p:nvSpPr>
        <p:spPr>
          <a:xfrm>
            <a:off x="347472" y="3200400"/>
            <a:ext cx="7131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563EB"/>
              </a:buClr>
              <a:buSzPts val="1100"/>
              <a:buFont typeface="Courier New"/>
              <a:buNone/>
            </a:pPr>
            <a:r>
              <a:rPr lang="en" sz="1100" b="1" i="0" u="none" strike="noStrike" cap="none">
                <a:solidFill>
                  <a:srgbClr val="2563EB"/>
                </a:solidFill>
                <a:latin typeface="Courier New"/>
                <a:ea typeface="Courier New"/>
                <a:cs typeface="Courier New"/>
                <a:sym typeface="Courier New"/>
              </a:rPr>
              <a:t>happy</a:t>
            </a:r>
            <a:endParaRPr sz="1100" b="0" i="0" u="none" strike="noStrike" cap="none">
              <a:solidFill>
                <a:schemeClr val="dk1"/>
              </a:solidFill>
              <a:latin typeface="Calibri"/>
              <a:ea typeface="Calibri"/>
              <a:cs typeface="Calibri"/>
              <a:sym typeface="Calibri"/>
            </a:endParaRPr>
          </a:p>
        </p:txBody>
      </p:sp>
      <p:sp>
        <p:nvSpPr>
          <p:cNvPr id="2251" name="Google Shape;2251;p53"/>
          <p:cNvSpPr/>
          <p:nvPr/>
        </p:nvSpPr>
        <p:spPr>
          <a:xfrm>
            <a:off x="1097280" y="3200400"/>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2" name="Google Shape;2252;p53"/>
          <p:cNvSpPr/>
          <p:nvPr/>
        </p:nvSpPr>
        <p:spPr>
          <a:xfrm>
            <a:off x="1097280" y="3200400"/>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53" name="Google Shape;2253;p53"/>
          <p:cNvSpPr/>
          <p:nvPr/>
        </p:nvSpPr>
        <p:spPr>
          <a:xfrm>
            <a:off x="1389888" y="3200400"/>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4" name="Google Shape;2254;p53"/>
          <p:cNvSpPr/>
          <p:nvPr/>
        </p:nvSpPr>
        <p:spPr>
          <a:xfrm>
            <a:off x="1389888" y="3200400"/>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55" name="Google Shape;2255;p53"/>
          <p:cNvSpPr/>
          <p:nvPr/>
        </p:nvSpPr>
        <p:spPr>
          <a:xfrm>
            <a:off x="1682496" y="3200400"/>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6" name="Google Shape;2256;p53"/>
          <p:cNvSpPr/>
          <p:nvPr/>
        </p:nvSpPr>
        <p:spPr>
          <a:xfrm>
            <a:off x="1682496" y="3200400"/>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57" name="Google Shape;2257;p53"/>
          <p:cNvSpPr/>
          <p:nvPr/>
        </p:nvSpPr>
        <p:spPr>
          <a:xfrm>
            <a:off x="1975104" y="3200400"/>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8" name="Google Shape;2258;p53"/>
          <p:cNvSpPr/>
          <p:nvPr/>
        </p:nvSpPr>
        <p:spPr>
          <a:xfrm>
            <a:off x="1975104" y="3200400"/>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59" name="Google Shape;2259;p53"/>
          <p:cNvSpPr/>
          <p:nvPr/>
        </p:nvSpPr>
        <p:spPr>
          <a:xfrm>
            <a:off x="2267712" y="3200400"/>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0" name="Google Shape;2260;p53"/>
          <p:cNvSpPr/>
          <p:nvPr/>
        </p:nvSpPr>
        <p:spPr>
          <a:xfrm>
            <a:off x="2267712" y="3200400"/>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61" name="Google Shape;2261;p53"/>
          <p:cNvSpPr/>
          <p:nvPr/>
        </p:nvSpPr>
        <p:spPr>
          <a:xfrm>
            <a:off x="2560320" y="3200400"/>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2" name="Google Shape;2262;p53"/>
          <p:cNvSpPr/>
          <p:nvPr/>
        </p:nvSpPr>
        <p:spPr>
          <a:xfrm>
            <a:off x="2560320" y="3200400"/>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63" name="Google Shape;2263;p53"/>
          <p:cNvSpPr/>
          <p:nvPr/>
        </p:nvSpPr>
        <p:spPr>
          <a:xfrm>
            <a:off x="2852928" y="3200400"/>
            <a:ext cx="292500" cy="402300"/>
          </a:xfrm>
          <a:prstGeom prst="rect">
            <a:avLst/>
          </a:prstGeom>
          <a:solidFill>
            <a:srgbClr val="DBEAFE"/>
          </a:solidFill>
          <a:ln w="19050"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4" name="Google Shape;2264;p53"/>
          <p:cNvSpPr/>
          <p:nvPr/>
        </p:nvSpPr>
        <p:spPr>
          <a:xfrm>
            <a:off x="2852928" y="3200400"/>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563EB"/>
              </a:buClr>
              <a:buSzPts val="1000"/>
              <a:buFont typeface="Courier New"/>
              <a:buNone/>
            </a:pPr>
            <a:r>
              <a:rPr lang="en" sz="1000" b="1" i="0" u="none" strike="noStrike" cap="none">
                <a:solidFill>
                  <a:srgbClr val="2563EB"/>
                </a:solidFill>
                <a:latin typeface="Courier New"/>
                <a:ea typeface="Courier New"/>
                <a:cs typeface="Courier New"/>
                <a:sym typeface="Courier New"/>
              </a:rPr>
              <a:t>1</a:t>
            </a:r>
            <a:endParaRPr sz="1000" b="0" i="0" u="none" strike="noStrike" cap="none">
              <a:solidFill>
                <a:schemeClr val="dk1"/>
              </a:solidFill>
              <a:latin typeface="Calibri"/>
              <a:ea typeface="Calibri"/>
              <a:cs typeface="Calibri"/>
              <a:sym typeface="Calibri"/>
            </a:endParaRPr>
          </a:p>
        </p:txBody>
      </p:sp>
      <p:sp>
        <p:nvSpPr>
          <p:cNvPr id="2265" name="Google Shape;2265;p53"/>
          <p:cNvSpPr/>
          <p:nvPr/>
        </p:nvSpPr>
        <p:spPr>
          <a:xfrm>
            <a:off x="3145536" y="3200400"/>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6" name="Google Shape;2266;p53"/>
          <p:cNvSpPr/>
          <p:nvPr/>
        </p:nvSpPr>
        <p:spPr>
          <a:xfrm>
            <a:off x="3145536" y="3200400"/>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67" name="Google Shape;2267;p53"/>
          <p:cNvSpPr/>
          <p:nvPr/>
        </p:nvSpPr>
        <p:spPr>
          <a:xfrm>
            <a:off x="3566160" y="3200400"/>
            <a:ext cx="2559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B3A6B"/>
              </a:buClr>
              <a:buSzPts val="2200"/>
              <a:buFont typeface="Calibri"/>
              <a:buNone/>
            </a:pPr>
            <a:r>
              <a:rPr lang="en" sz="2200" b="1" i="0" u="none" strike="noStrike" cap="none">
                <a:solidFill>
                  <a:srgbClr val="1B3A6B"/>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2268" name="Google Shape;2268;p53"/>
          <p:cNvSpPr/>
          <p:nvPr/>
        </p:nvSpPr>
        <p:spPr>
          <a:xfrm>
            <a:off x="3858768" y="3200400"/>
            <a:ext cx="713100" cy="402300"/>
          </a:xfrm>
          <a:prstGeom prst="rect">
            <a:avLst/>
          </a:prstGeom>
          <a:solidFill>
            <a:srgbClr val="EDE9FE"/>
          </a:solidFill>
          <a:ln w="15225"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9" name="Google Shape;2269;p53"/>
          <p:cNvSpPr/>
          <p:nvPr/>
        </p:nvSpPr>
        <p:spPr>
          <a:xfrm>
            <a:off x="3858768" y="3200400"/>
            <a:ext cx="7131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C3AED"/>
              </a:buClr>
              <a:buSzPts val="1100"/>
              <a:buFont typeface="Courier New"/>
              <a:buNone/>
            </a:pPr>
            <a:r>
              <a:rPr lang="en" sz="1100" b="1" i="0" u="none" strike="noStrike" cap="none">
                <a:solidFill>
                  <a:srgbClr val="7C3AED"/>
                </a:solidFill>
                <a:latin typeface="Courier New"/>
                <a:ea typeface="Courier New"/>
                <a:cs typeface="Courier New"/>
                <a:sym typeface="Courier New"/>
              </a:rPr>
              <a:t>dog</a:t>
            </a:r>
            <a:endParaRPr sz="1100" b="0" i="0" u="none" strike="noStrike" cap="none">
              <a:solidFill>
                <a:schemeClr val="dk1"/>
              </a:solidFill>
              <a:latin typeface="Calibri"/>
              <a:ea typeface="Calibri"/>
              <a:cs typeface="Calibri"/>
              <a:sym typeface="Calibri"/>
            </a:endParaRPr>
          </a:p>
        </p:txBody>
      </p:sp>
      <p:sp>
        <p:nvSpPr>
          <p:cNvPr id="2270" name="Google Shape;2270;p53"/>
          <p:cNvSpPr/>
          <p:nvPr/>
        </p:nvSpPr>
        <p:spPr>
          <a:xfrm>
            <a:off x="4608576" y="3200400"/>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1" name="Google Shape;2271;p53"/>
          <p:cNvSpPr/>
          <p:nvPr/>
        </p:nvSpPr>
        <p:spPr>
          <a:xfrm>
            <a:off x="4608576" y="3200400"/>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72" name="Google Shape;2272;p53"/>
          <p:cNvSpPr/>
          <p:nvPr/>
        </p:nvSpPr>
        <p:spPr>
          <a:xfrm>
            <a:off x="4901184" y="3200400"/>
            <a:ext cx="292500" cy="402300"/>
          </a:xfrm>
          <a:prstGeom prst="rect">
            <a:avLst/>
          </a:prstGeom>
          <a:solidFill>
            <a:srgbClr val="EDE9FE"/>
          </a:solidFill>
          <a:ln w="1905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3" name="Google Shape;2273;p53"/>
          <p:cNvSpPr/>
          <p:nvPr/>
        </p:nvSpPr>
        <p:spPr>
          <a:xfrm>
            <a:off x="4901184" y="3200400"/>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C3AED"/>
              </a:buClr>
              <a:buSzPts val="1000"/>
              <a:buFont typeface="Courier New"/>
              <a:buNone/>
            </a:pPr>
            <a:r>
              <a:rPr lang="en" sz="1000" b="1" i="0" u="none" strike="noStrike" cap="none">
                <a:solidFill>
                  <a:srgbClr val="7C3AED"/>
                </a:solidFill>
                <a:latin typeface="Courier New"/>
                <a:ea typeface="Courier New"/>
                <a:cs typeface="Courier New"/>
                <a:sym typeface="Courier New"/>
              </a:rPr>
              <a:t>1</a:t>
            </a:r>
            <a:endParaRPr sz="1000" b="0" i="0" u="none" strike="noStrike" cap="none">
              <a:solidFill>
                <a:schemeClr val="dk1"/>
              </a:solidFill>
              <a:latin typeface="Calibri"/>
              <a:ea typeface="Calibri"/>
              <a:cs typeface="Calibri"/>
              <a:sym typeface="Calibri"/>
            </a:endParaRPr>
          </a:p>
        </p:txBody>
      </p:sp>
      <p:sp>
        <p:nvSpPr>
          <p:cNvPr id="2274" name="Google Shape;2274;p53"/>
          <p:cNvSpPr/>
          <p:nvPr/>
        </p:nvSpPr>
        <p:spPr>
          <a:xfrm>
            <a:off x="5193792" y="3200400"/>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5" name="Google Shape;2275;p53"/>
          <p:cNvSpPr/>
          <p:nvPr/>
        </p:nvSpPr>
        <p:spPr>
          <a:xfrm>
            <a:off x="5193792" y="3200400"/>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76" name="Google Shape;2276;p53"/>
          <p:cNvSpPr/>
          <p:nvPr/>
        </p:nvSpPr>
        <p:spPr>
          <a:xfrm>
            <a:off x="5486400" y="3200400"/>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7" name="Google Shape;2277;p53"/>
          <p:cNvSpPr/>
          <p:nvPr/>
        </p:nvSpPr>
        <p:spPr>
          <a:xfrm>
            <a:off x="5486400" y="3200400"/>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78" name="Google Shape;2278;p53"/>
          <p:cNvSpPr/>
          <p:nvPr/>
        </p:nvSpPr>
        <p:spPr>
          <a:xfrm>
            <a:off x="5779008" y="3200400"/>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9" name="Google Shape;2279;p53"/>
          <p:cNvSpPr/>
          <p:nvPr/>
        </p:nvSpPr>
        <p:spPr>
          <a:xfrm>
            <a:off x="5779008" y="3200400"/>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80" name="Google Shape;2280;p53"/>
          <p:cNvSpPr/>
          <p:nvPr/>
        </p:nvSpPr>
        <p:spPr>
          <a:xfrm>
            <a:off x="6071616" y="3200400"/>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1" name="Google Shape;2281;p53"/>
          <p:cNvSpPr/>
          <p:nvPr/>
        </p:nvSpPr>
        <p:spPr>
          <a:xfrm>
            <a:off x="6071616" y="3200400"/>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82" name="Google Shape;2282;p53"/>
          <p:cNvSpPr/>
          <p:nvPr/>
        </p:nvSpPr>
        <p:spPr>
          <a:xfrm>
            <a:off x="6364224" y="3200400"/>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3" name="Google Shape;2283;p53"/>
          <p:cNvSpPr/>
          <p:nvPr/>
        </p:nvSpPr>
        <p:spPr>
          <a:xfrm>
            <a:off x="6364224" y="3200400"/>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84" name="Google Shape;2284;p53"/>
          <p:cNvSpPr/>
          <p:nvPr/>
        </p:nvSpPr>
        <p:spPr>
          <a:xfrm>
            <a:off x="6656832" y="3200400"/>
            <a:ext cx="292500" cy="4023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5" name="Google Shape;2285;p53"/>
          <p:cNvSpPr/>
          <p:nvPr/>
        </p:nvSpPr>
        <p:spPr>
          <a:xfrm>
            <a:off x="6656832" y="3200400"/>
            <a:ext cx="2925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000"/>
              <a:buFont typeface="Courier New"/>
              <a:buNone/>
            </a:pPr>
            <a:r>
              <a:rPr lang="en" sz="1000" b="0" i="0" u="none" strike="noStrike" cap="none">
                <a:solidFill>
                  <a:srgbClr val="6B7280"/>
                </a:solidFill>
                <a:latin typeface="Courier New"/>
                <a:ea typeface="Courier New"/>
                <a:cs typeface="Courier New"/>
                <a:sym typeface="Courier New"/>
              </a:rPr>
              <a:t>0</a:t>
            </a:r>
            <a:endParaRPr sz="1000" b="0" i="0" u="none" strike="noStrike" cap="none">
              <a:solidFill>
                <a:schemeClr val="dk1"/>
              </a:solidFill>
              <a:latin typeface="Calibri"/>
              <a:ea typeface="Calibri"/>
              <a:cs typeface="Calibri"/>
              <a:sym typeface="Calibri"/>
            </a:endParaRPr>
          </a:p>
        </p:txBody>
      </p:sp>
      <p:sp>
        <p:nvSpPr>
          <p:cNvPr id="2286" name="Google Shape;2286;p53"/>
          <p:cNvSpPr/>
          <p:nvPr/>
        </p:nvSpPr>
        <p:spPr>
          <a:xfrm>
            <a:off x="7040880" y="3200400"/>
            <a:ext cx="2376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B3A6B"/>
              </a:buClr>
              <a:buSzPts val="1600"/>
              <a:buFont typeface="Calibri"/>
              <a:buNone/>
            </a:pPr>
            <a:r>
              <a:rPr lang="en" sz="1600" b="1" i="0" u="none" strike="noStrike" cap="none">
                <a:solidFill>
                  <a:srgbClr val="1B3A6B"/>
                </a:solidFill>
                <a:latin typeface="Calibri"/>
                <a:ea typeface="Calibri"/>
                <a:cs typeface="Calibri"/>
                <a:sym typeface="Calibri"/>
              </a:rPr>
              <a:t>=</a:t>
            </a:r>
            <a:endParaRPr sz="1600" b="0" i="0" u="none" strike="noStrike" cap="none">
              <a:solidFill>
                <a:schemeClr val="dk1"/>
              </a:solidFill>
              <a:latin typeface="Calibri"/>
              <a:ea typeface="Calibri"/>
              <a:cs typeface="Calibri"/>
              <a:sym typeface="Calibri"/>
            </a:endParaRPr>
          </a:p>
        </p:txBody>
      </p:sp>
      <p:sp>
        <p:nvSpPr>
          <p:cNvPr id="2287" name="Google Shape;2287;p53"/>
          <p:cNvSpPr/>
          <p:nvPr/>
        </p:nvSpPr>
        <p:spPr>
          <a:xfrm>
            <a:off x="7296912" y="3255264"/>
            <a:ext cx="512100" cy="292500"/>
          </a:xfrm>
          <a:prstGeom prst="rect">
            <a:avLst/>
          </a:prstGeom>
          <a:solidFill>
            <a:srgbClr val="FEE2E2"/>
          </a:solidFill>
          <a:ln w="15225"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8" name="Google Shape;2288;p53"/>
          <p:cNvSpPr/>
          <p:nvPr/>
        </p:nvSpPr>
        <p:spPr>
          <a:xfrm>
            <a:off x="7296912" y="3255264"/>
            <a:ext cx="5121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DC2626"/>
              </a:buClr>
              <a:buSzPts val="1300"/>
              <a:buFont typeface="Courier New"/>
              <a:buNone/>
            </a:pPr>
            <a:r>
              <a:rPr lang="en" sz="1300" b="1" i="0" u="none" strike="noStrike" cap="none">
                <a:solidFill>
                  <a:srgbClr val="DC2626"/>
                </a:solidFill>
                <a:latin typeface="Courier New"/>
                <a:ea typeface="Courier New"/>
                <a:cs typeface="Courier New"/>
                <a:sym typeface="Courier New"/>
              </a:rPr>
              <a:t>0.00</a:t>
            </a:r>
            <a:endParaRPr sz="1300" b="0" i="0" u="none" strike="noStrike" cap="none">
              <a:solidFill>
                <a:schemeClr val="dk1"/>
              </a:solidFill>
              <a:latin typeface="Calibri"/>
              <a:ea typeface="Calibri"/>
              <a:cs typeface="Calibri"/>
              <a:sym typeface="Calibri"/>
            </a:endParaRPr>
          </a:p>
        </p:txBody>
      </p:sp>
      <p:sp>
        <p:nvSpPr>
          <p:cNvPr id="2289" name="Google Shape;2289;p53"/>
          <p:cNvSpPr/>
          <p:nvPr/>
        </p:nvSpPr>
        <p:spPr>
          <a:xfrm>
            <a:off x="7836408" y="3273552"/>
            <a:ext cx="11886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1000"/>
              <a:buFont typeface="Calibri"/>
              <a:buNone/>
            </a:pPr>
            <a:r>
              <a:rPr lang="en" sz="1000" b="0" i="1" u="none" strike="noStrike" cap="none">
                <a:solidFill>
                  <a:srgbClr val="6B7280"/>
                </a:solidFill>
                <a:latin typeface="Calibri"/>
                <a:ea typeface="Calibri"/>
                <a:cs typeface="Calibri"/>
                <a:sym typeface="Calibri"/>
              </a:rPr>
              <a:t>unrelated!</a:t>
            </a:r>
            <a:endParaRPr sz="1000" b="0" i="0" u="none" strike="noStrike" cap="none">
              <a:solidFill>
                <a:schemeClr val="dk1"/>
              </a:solidFill>
              <a:latin typeface="Calibri"/>
              <a:ea typeface="Calibri"/>
              <a:cs typeface="Calibri"/>
              <a:sym typeface="Calibri"/>
            </a:endParaRPr>
          </a:p>
        </p:txBody>
      </p:sp>
      <p:sp>
        <p:nvSpPr>
          <p:cNvPr id="2290" name="Google Shape;2290;p53"/>
          <p:cNvSpPr/>
          <p:nvPr/>
        </p:nvSpPr>
        <p:spPr>
          <a:xfrm>
            <a:off x="347472" y="4224528"/>
            <a:ext cx="8449200" cy="685800"/>
          </a:xfrm>
          <a:prstGeom prst="rect">
            <a:avLst/>
          </a:prstGeom>
          <a:solidFill>
            <a:srgbClr val="EDE9FE"/>
          </a:solidFill>
          <a:ln w="15225"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1" name="Google Shape;2291;p53"/>
          <p:cNvSpPr/>
          <p:nvPr/>
        </p:nvSpPr>
        <p:spPr>
          <a:xfrm>
            <a:off x="502920" y="4261104"/>
            <a:ext cx="10059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C3AED"/>
              </a:buClr>
              <a:buSzPts val="1200"/>
              <a:buFont typeface="Calibri"/>
              <a:buNone/>
            </a:pPr>
            <a:r>
              <a:rPr lang="en" sz="1200" b="1" i="0" u="none" strike="noStrike" cap="none">
                <a:solidFill>
                  <a:srgbClr val="7C3AED"/>
                </a:solidFill>
                <a:latin typeface="Calibri"/>
                <a:ea typeface="Calibri"/>
                <a:cs typeface="Calibri"/>
                <a:sym typeface="Calibri"/>
              </a:rPr>
              <a:t>💡  Insight</a:t>
            </a:r>
            <a:endParaRPr sz="1200" b="0" i="0" u="none" strike="noStrike" cap="none">
              <a:solidFill>
                <a:schemeClr val="dk1"/>
              </a:solidFill>
              <a:latin typeface="Calibri"/>
              <a:ea typeface="Calibri"/>
              <a:cs typeface="Calibri"/>
              <a:sym typeface="Calibri"/>
            </a:endParaRPr>
          </a:p>
        </p:txBody>
      </p:sp>
      <p:sp>
        <p:nvSpPr>
          <p:cNvPr id="2292" name="Google Shape;2292;p53"/>
          <p:cNvSpPr/>
          <p:nvPr/>
        </p:nvSpPr>
        <p:spPr>
          <a:xfrm>
            <a:off x="502920" y="4507992"/>
            <a:ext cx="8229600" cy="365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827"/>
              </a:buClr>
              <a:buSzPts val="1100"/>
              <a:buFont typeface="Calibri"/>
              <a:buNone/>
            </a:pPr>
            <a:r>
              <a:rPr lang="en" sz="1100" b="0" i="0" u="none" strike="noStrike" cap="none">
                <a:solidFill>
                  <a:srgbClr val="111827"/>
                </a:solidFill>
                <a:latin typeface="Calibri"/>
                <a:ea typeface="Calibri"/>
                <a:cs typeface="Calibri"/>
                <a:sym typeface="Calibri"/>
              </a:rPr>
              <a:t>One-hot vectors are orthogonal by construction — the model can never discover that "cat" and "kitten" are related.</a:t>
            </a:r>
            <a:endParaRPr sz="11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11827"/>
              </a:buClr>
              <a:buSzPts val="1100"/>
              <a:buFont typeface="Calibri"/>
              <a:buNone/>
            </a:pPr>
            <a:r>
              <a:rPr lang="en" sz="1100" b="0" i="0" u="none" strike="noStrike" cap="none">
                <a:solidFill>
                  <a:srgbClr val="111827"/>
                </a:solidFill>
                <a:latin typeface="Calibri"/>
                <a:ea typeface="Calibri"/>
                <a:cs typeface="Calibri"/>
                <a:sym typeface="Calibri"/>
              </a:rPr>
              <a:t>We need a representation where similar words are geometrically close.</a:t>
            </a:r>
            <a:endParaRPr sz="1100" b="0" i="0" u="none" strike="noStrike" cap="none">
              <a:solidFill>
                <a:schemeClr val="dk1"/>
              </a:solidFill>
              <a:latin typeface="Calibri"/>
              <a:ea typeface="Calibri"/>
              <a:cs typeface="Calibri"/>
              <a:sym typeface="Calibri"/>
            </a:endParaRPr>
          </a:p>
        </p:txBody>
      </p:sp>
      <p:sp>
        <p:nvSpPr>
          <p:cNvPr id="2293" name="Google Shape;2293;p53"/>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71</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Shape 2298"/>
        <p:cNvGrpSpPr/>
        <p:nvPr/>
      </p:nvGrpSpPr>
      <p:grpSpPr>
        <a:xfrm>
          <a:off x="0" y="0"/>
          <a:ext cx="0" cy="0"/>
          <a:chOff x="0" y="0"/>
          <a:chExt cx="0" cy="0"/>
        </a:xfrm>
      </p:grpSpPr>
      <p:sp>
        <p:nvSpPr>
          <p:cNvPr id="2299" name="Google Shape;2299;p54"/>
          <p:cNvSpPr/>
          <p:nvPr/>
        </p:nvSpPr>
        <p:spPr>
          <a:xfrm>
            <a:off x="0" y="0"/>
            <a:ext cx="9144000" cy="639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0" name="Google Shape;2300;p54"/>
          <p:cNvSpPr/>
          <p:nvPr/>
        </p:nvSpPr>
        <p:spPr>
          <a:xfrm>
            <a:off x="347472" y="164592"/>
            <a:ext cx="63900" cy="5121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1" name="Google Shape;2301;p54"/>
          <p:cNvSpPr/>
          <p:nvPr/>
        </p:nvSpPr>
        <p:spPr>
          <a:xfrm>
            <a:off x="521208" y="146304"/>
            <a:ext cx="8229600" cy="54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9488"/>
              </a:buClr>
              <a:buSzPts val="2600"/>
              <a:buFont typeface="Calibri"/>
              <a:buNone/>
            </a:pPr>
            <a:r>
              <a:rPr lang="en" sz="2600" b="1" i="0" u="none" strike="noStrike" cap="none">
                <a:solidFill>
                  <a:srgbClr val="0D9488"/>
                </a:solidFill>
                <a:latin typeface="Calibri"/>
                <a:ea typeface="Calibri"/>
                <a:cs typeface="Calibri"/>
                <a:sym typeface="Calibri"/>
              </a:rPr>
              <a:t>Distributional Semantics — Words by Context</a:t>
            </a:r>
            <a:endParaRPr sz="2600" b="0" i="0" u="none" strike="noStrike" cap="none">
              <a:solidFill>
                <a:schemeClr val="dk1"/>
              </a:solidFill>
              <a:latin typeface="Calibri"/>
              <a:ea typeface="Calibri"/>
              <a:cs typeface="Calibri"/>
              <a:sym typeface="Calibri"/>
            </a:endParaRPr>
          </a:p>
        </p:txBody>
      </p:sp>
      <p:cxnSp>
        <p:nvCxnSpPr>
          <p:cNvPr id="2302" name="Google Shape;2302;p54"/>
          <p:cNvCxnSpPr/>
          <p:nvPr/>
        </p:nvCxnSpPr>
        <p:spPr>
          <a:xfrm>
            <a:off x="347472" y="713232"/>
            <a:ext cx="8449200" cy="0"/>
          </a:xfrm>
          <a:prstGeom prst="straightConnector1">
            <a:avLst/>
          </a:prstGeom>
          <a:noFill/>
          <a:ln w="15225" cap="flat" cmpd="sng">
            <a:solidFill>
              <a:srgbClr val="0D9488"/>
            </a:solidFill>
            <a:prstDash val="solid"/>
            <a:round/>
            <a:headEnd type="none" w="sm" len="sm"/>
            <a:tailEnd type="none" w="sm" len="sm"/>
          </a:ln>
        </p:spPr>
      </p:cxnSp>
      <p:sp>
        <p:nvSpPr>
          <p:cNvPr id="2303" name="Google Shape;2303;p54"/>
          <p:cNvSpPr/>
          <p:nvPr/>
        </p:nvSpPr>
        <p:spPr>
          <a:xfrm>
            <a:off x="347472" y="663466"/>
            <a:ext cx="84492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1200"/>
              <a:buFont typeface="Calibri"/>
              <a:buNone/>
            </a:pPr>
            <a:r>
              <a:rPr lang="en" sz="1200" b="0" i="1" u="none" strike="noStrike" cap="none">
                <a:solidFill>
                  <a:srgbClr val="6B7280"/>
                </a:solidFill>
                <a:latin typeface="Calibri"/>
                <a:ea typeface="Calibri"/>
                <a:cs typeface="Calibri"/>
                <a:sym typeface="Calibri"/>
              </a:rPr>
              <a:t>"You shall know a word by the company it keeps" — J. R. Firth, 1957</a:t>
            </a:r>
            <a:endParaRPr sz="1200" b="0" i="0" u="none" strike="noStrike" cap="none">
              <a:solidFill>
                <a:schemeClr val="dk1"/>
              </a:solidFill>
              <a:latin typeface="Calibri"/>
              <a:ea typeface="Calibri"/>
              <a:cs typeface="Calibri"/>
              <a:sym typeface="Calibri"/>
            </a:endParaRPr>
          </a:p>
        </p:txBody>
      </p:sp>
      <p:sp>
        <p:nvSpPr>
          <p:cNvPr id="2304" name="Google Shape;2304;p54"/>
          <p:cNvSpPr/>
          <p:nvPr/>
        </p:nvSpPr>
        <p:spPr>
          <a:xfrm>
            <a:off x="347472" y="914400"/>
            <a:ext cx="4572000" cy="2834700"/>
          </a:xfrm>
          <a:prstGeom prst="rect">
            <a:avLst/>
          </a:prstGeom>
          <a:solidFill>
            <a:srgbClr val="F0FDFA"/>
          </a:solidFill>
          <a:ln w="15225"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5" name="Google Shape;2305;p54"/>
          <p:cNvSpPr/>
          <p:nvPr/>
        </p:nvSpPr>
        <p:spPr>
          <a:xfrm>
            <a:off x="502920" y="987552"/>
            <a:ext cx="22860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9488"/>
              </a:buClr>
              <a:buSzPts val="1300"/>
              <a:buFont typeface="Calibri"/>
              <a:buNone/>
            </a:pPr>
            <a:r>
              <a:rPr lang="en" sz="1300" b="1" i="0" u="none" strike="noStrike" cap="none">
                <a:solidFill>
                  <a:srgbClr val="0D9488"/>
                </a:solidFill>
                <a:latin typeface="Calibri"/>
                <a:ea typeface="Calibri"/>
                <a:cs typeface="Calibri"/>
                <a:sym typeface="Calibri"/>
              </a:rPr>
              <a:t>The Big Idea</a:t>
            </a:r>
            <a:endParaRPr sz="1300" b="0" i="0" u="none" strike="noStrike" cap="none">
              <a:solidFill>
                <a:schemeClr val="dk1"/>
              </a:solidFill>
              <a:latin typeface="Calibri"/>
              <a:ea typeface="Calibri"/>
              <a:cs typeface="Calibri"/>
              <a:sym typeface="Calibri"/>
            </a:endParaRPr>
          </a:p>
        </p:txBody>
      </p:sp>
      <p:sp>
        <p:nvSpPr>
          <p:cNvPr id="2306" name="Google Shape;2306;p54"/>
          <p:cNvSpPr/>
          <p:nvPr/>
        </p:nvSpPr>
        <p:spPr>
          <a:xfrm>
            <a:off x="502920" y="1353312"/>
            <a:ext cx="4251900" cy="43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D9488"/>
              </a:buClr>
              <a:buSzPts val="1200"/>
              <a:buFont typeface="Calibri"/>
              <a:buNone/>
            </a:pPr>
            <a:r>
              <a:rPr lang="en" sz="1200" b="1" i="0" u="none" strike="noStrike" cap="none">
                <a:solidFill>
                  <a:srgbClr val="0D9488"/>
                </a:solidFill>
                <a:latin typeface="Calibri"/>
                <a:ea typeface="Calibri"/>
                <a:cs typeface="Calibri"/>
                <a:sym typeface="Calibri"/>
              </a:rPr>
              <a:t>①  </a:t>
            </a:r>
            <a:r>
              <a:rPr lang="en" sz="1200" b="1" i="0" u="none" strike="noStrike" cap="none">
                <a:solidFill>
                  <a:srgbClr val="111827"/>
                </a:solidFill>
                <a:latin typeface="Calibri"/>
                <a:ea typeface="Calibri"/>
                <a:cs typeface="Calibri"/>
                <a:sym typeface="Calibri"/>
              </a:rPr>
              <a:t>A word's meaning</a:t>
            </a:r>
            <a:r>
              <a:rPr lang="en" sz="1200" b="0" i="0" u="none" strike="noStrike" cap="none">
                <a:solidFill>
                  <a:srgbClr val="111827"/>
                </a:solidFill>
                <a:latin typeface="Calibri"/>
                <a:ea typeface="Calibri"/>
                <a:cs typeface="Calibri"/>
                <a:sym typeface="Calibri"/>
              </a:rPr>
              <a:t> is defined by the words that frequently appear around it.</a:t>
            </a:r>
            <a:endParaRPr sz="1200" b="0" i="0" u="none" strike="noStrike" cap="none">
              <a:solidFill>
                <a:schemeClr val="dk1"/>
              </a:solidFill>
              <a:latin typeface="Calibri"/>
              <a:ea typeface="Calibri"/>
              <a:cs typeface="Calibri"/>
              <a:sym typeface="Calibri"/>
            </a:endParaRPr>
          </a:p>
        </p:txBody>
      </p:sp>
      <p:sp>
        <p:nvSpPr>
          <p:cNvPr id="2307" name="Google Shape;2307;p54"/>
          <p:cNvSpPr/>
          <p:nvPr/>
        </p:nvSpPr>
        <p:spPr>
          <a:xfrm>
            <a:off x="502920" y="1847088"/>
            <a:ext cx="4251900" cy="43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D9488"/>
              </a:buClr>
              <a:buSzPts val="1200"/>
              <a:buFont typeface="Calibri"/>
              <a:buNone/>
            </a:pPr>
            <a:r>
              <a:rPr lang="en" sz="1200" b="1" i="0" u="none" strike="noStrike" cap="none">
                <a:solidFill>
                  <a:srgbClr val="0D9488"/>
                </a:solidFill>
                <a:latin typeface="Calibri"/>
                <a:ea typeface="Calibri"/>
                <a:cs typeface="Calibri"/>
                <a:sym typeface="Calibri"/>
              </a:rPr>
              <a:t>②  </a:t>
            </a:r>
            <a:r>
              <a:rPr lang="en" sz="1200" b="1" i="0" u="none" strike="noStrike" cap="none">
                <a:solidFill>
                  <a:srgbClr val="111827"/>
                </a:solidFill>
                <a:latin typeface="Calibri"/>
                <a:ea typeface="Calibri"/>
                <a:cs typeface="Calibri"/>
                <a:sym typeface="Calibri"/>
              </a:rPr>
              <a:t>Context window:</a:t>
            </a:r>
            <a:r>
              <a:rPr lang="en" sz="1200" b="0" i="0" u="none" strike="noStrike" cap="none">
                <a:solidFill>
                  <a:srgbClr val="111827"/>
                </a:solidFill>
                <a:latin typeface="Calibri"/>
                <a:ea typeface="Calibri"/>
                <a:cs typeface="Calibri"/>
                <a:sym typeface="Calibri"/>
              </a:rPr>
              <a:t> look at ±k words on either side of the target word.</a:t>
            </a:r>
            <a:endParaRPr sz="1200" b="0" i="0" u="none" strike="noStrike" cap="none">
              <a:solidFill>
                <a:schemeClr val="dk1"/>
              </a:solidFill>
              <a:latin typeface="Calibri"/>
              <a:ea typeface="Calibri"/>
              <a:cs typeface="Calibri"/>
              <a:sym typeface="Calibri"/>
            </a:endParaRPr>
          </a:p>
        </p:txBody>
      </p:sp>
      <p:sp>
        <p:nvSpPr>
          <p:cNvPr id="2308" name="Google Shape;2308;p54"/>
          <p:cNvSpPr/>
          <p:nvPr/>
        </p:nvSpPr>
        <p:spPr>
          <a:xfrm>
            <a:off x="502920" y="2340864"/>
            <a:ext cx="4251900" cy="43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D9488"/>
              </a:buClr>
              <a:buSzPts val="1200"/>
              <a:buFont typeface="Calibri"/>
              <a:buNone/>
            </a:pPr>
            <a:r>
              <a:rPr lang="en" sz="1200" b="1" i="0" u="none" strike="noStrike" cap="none">
                <a:solidFill>
                  <a:srgbClr val="0D9488"/>
                </a:solidFill>
                <a:latin typeface="Calibri"/>
                <a:ea typeface="Calibri"/>
                <a:cs typeface="Calibri"/>
                <a:sym typeface="Calibri"/>
              </a:rPr>
              <a:t>③  </a:t>
            </a:r>
            <a:r>
              <a:rPr lang="en" sz="1200" b="1" i="0" u="none" strike="noStrike" cap="none">
                <a:solidFill>
                  <a:srgbClr val="111827"/>
                </a:solidFill>
                <a:latin typeface="Calibri"/>
                <a:ea typeface="Calibri"/>
                <a:cs typeface="Calibri"/>
                <a:sym typeface="Calibri"/>
              </a:rPr>
              <a:t>Build a vector</a:t>
            </a:r>
            <a:r>
              <a:rPr lang="en" sz="1200" b="0" i="0" u="none" strike="noStrike" cap="none">
                <a:solidFill>
                  <a:srgbClr val="111827"/>
                </a:solidFill>
                <a:latin typeface="Calibri"/>
                <a:ea typeface="Calibri"/>
                <a:cs typeface="Calibri"/>
                <a:sym typeface="Calibri"/>
              </a:rPr>
              <a:t> from the distribution of context words across a large corpus.</a:t>
            </a:r>
            <a:endParaRPr sz="1200" b="0" i="0" u="none" strike="noStrike" cap="none">
              <a:solidFill>
                <a:schemeClr val="dk1"/>
              </a:solidFill>
              <a:latin typeface="Calibri"/>
              <a:ea typeface="Calibri"/>
              <a:cs typeface="Calibri"/>
              <a:sym typeface="Calibri"/>
            </a:endParaRPr>
          </a:p>
        </p:txBody>
      </p:sp>
      <p:sp>
        <p:nvSpPr>
          <p:cNvPr id="2309" name="Google Shape;2309;p54"/>
          <p:cNvSpPr/>
          <p:nvPr/>
        </p:nvSpPr>
        <p:spPr>
          <a:xfrm>
            <a:off x="502920" y="2834640"/>
            <a:ext cx="4251900" cy="43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D9488"/>
              </a:buClr>
              <a:buSzPts val="1200"/>
              <a:buFont typeface="Calibri"/>
              <a:buNone/>
            </a:pPr>
            <a:r>
              <a:rPr lang="en" sz="1200" b="1" i="0" u="none" strike="noStrike" cap="none">
                <a:solidFill>
                  <a:srgbClr val="0D9488"/>
                </a:solidFill>
                <a:latin typeface="Calibri"/>
                <a:ea typeface="Calibri"/>
                <a:cs typeface="Calibri"/>
                <a:sym typeface="Calibri"/>
              </a:rPr>
              <a:t>④  </a:t>
            </a:r>
            <a:r>
              <a:rPr lang="en" sz="1200" b="1" i="0" u="none" strike="noStrike" cap="none">
                <a:solidFill>
                  <a:srgbClr val="111827"/>
                </a:solidFill>
                <a:latin typeface="Calibri"/>
                <a:ea typeface="Calibri"/>
                <a:cs typeface="Calibri"/>
                <a:sym typeface="Calibri"/>
              </a:rPr>
              <a:t>Similar contexts</a:t>
            </a:r>
            <a:r>
              <a:rPr lang="en" sz="1200" b="0" i="0" u="none" strike="noStrike" cap="none">
                <a:solidFill>
                  <a:srgbClr val="111827"/>
                </a:solidFill>
                <a:latin typeface="Calibri"/>
                <a:ea typeface="Calibri"/>
                <a:cs typeface="Calibri"/>
                <a:sym typeface="Calibri"/>
              </a:rPr>
              <a:t> → similar meaning → similar vectors.</a:t>
            </a:r>
            <a:endParaRPr sz="1200" b="0" i="0" u="none" strike="noStrike" cap="none">
              <a:solidFill>
                <a:schemeClr val="dk1"/>
              </a:solidFill>
              <a:latin typeface="Calibri"/>
              <a:ea typeface="Calibri"/>
              <a:cs typeface="Calibri"/>
              <a:sym typeface="Calibri"/>
            </a:endParaRPr>
          </a:p>
        </p:txBody>
      </p:sp>
      <p:sp>
        <p:nvSpPr>
          <p:cNvPr id="2310" name="Google Shape;2310;p54"/>
          <p:cNvSpPr/>
          <p:nvPr/>
        </p:nvSpPr>
        <p:spPr>
          <a:xfrm>
            <a:off x="5047488" y="914400"/>
            <a:ext cx="3749100" cy="2834700"/>
          </a:xfrm>
          <a:prstGeom prst="rect">
            <a:avLst/>
          </a:prstGeom>
          <a:solidFill>
            <a:srgbClr val="FFFBEB"/>
          </a:solidFill>
          <a:ln w="15225"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1" name="Google Shape;2311;p54"/>
          <p:cNvSpPr/>
          <p:nvPr/>
        </p:nvSpPr>
        <p:spPr>
          <a:xfrm>
            <a:off x="5193792" y="987552"/>
            <a:ext cx="32919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59E0B"/>
              </a:buClr>
              <a:buSzPts val="1200"/>
              <a:buFont typeface="Calibri"/>
              <a:buNone/>
            </a:pPr>
            <a:r>
              <a:rPr lang="en" sz="1200" b="1" i="0" u="none" strike="noStrike" cap="none">
                <a:solidFill>
                  <a:srgbClr val="F59E0B"/>
                </a:solidFill>
                <a:latin typeface="Calibri"/>
                <a:ea typeface="Calibri"/>
                <a:cs typeface="Calibri"/>
                <a:sym typeface="Calibri"/>
              </a:rPr>
              <a:t>Context Window  (k = 2)</a:t>
            </a:r>
            <a:endParaRPr sz="1200" b="0" i="0" u="none" strike="noStrike" cap="none">
              <a:solidFill>
                <a:schemeClr val="dk1"/>
              </a:solidFill>
              <a:latin typeface="Calibri"/>
              <a:ea typeface="Calibri"/>
              <a:cs typeface="Calibri"/>
              <a:sym typeface="Calibri"/>
            </a:endParaRPr>
          </a:p>
        </p:txBody>
      </p:sp>
      <p:sp>
        <p:nvSpPr>
          <p:cNvPr id="2312" name="Google Shape;2312;p54"/>
          <p:cNvSpPr/>
          <p:nvPr/>
        </p:nvSpPr>
        <p:spPr>
          <a:xfrm>
            <a:off x="5120640" y="1389888"/>
            <a:ext cx="3566100" cy="512100"/>
          </a:xfrm>
          <a:prstGeom prst="rect">
            <a:avLst/>
          </a:prstGeom>
          <a:solidFill>
            <a:srgbClr val="FFFFFF"/>
          </a:solidFill>
          <a:ln w="1015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3" name="Google Shape;2313;p54"/>
          <p:cNvSpPr/>
          <p:nvPr/>
        </p:nvSpPr>
        <p:spPr>
          <a:xfrm>
            <a:off x="5193792" y="1417320"/>
            <a:ext cx="3420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827"/>
              </a:buClr>
              <a:buSzPts val="950"/>
              <a:buFont typeface="Calibri"/>
              <a:buNone/>
            </a:pPr>
            <a:r>
              <a:rPr lang="en" sz="950" b="0" i="0" u="none" strike="noStrike" cap="none">
                <a:solidFill>
                  <a:srgbClr val="111827"/>
                </a:solidFill>
                <a:latin typeface="Calibri"/>
                <a:ea typeface="Calibri"/>
                <a:cs typeface="Calibri"/>
                <a:sym typeface="Calibri"/>
              </a:rPr>
              <a:t>…government debt problems turning into </a:t>
            </a:r>
            <a:r>
              <a:rPr lang="en" sz="950" b="1" i="0" u="none" strike="noStrike" cap="none">
                <a:solidFill>
                  <a:srgbClr val="FFFFFF"/>
                </a:solidFill>
                <a:highlight>
                  <a:srgbClr val="7C3AED"/>
                </a:highlight>
                <a:latin typeface="Calibri"/>
                <a:ea typeface="Calibri"/>
                <a:cs typeface="Calibri"/>
                <a:sym typeface="Calibri"/>
              </a:rPr>
              <a:t>banking</a:t>
            </a:r>
            <a:r>
              <a:rPr lang="en" sz="950" b="0" i="0" u="none" strike="noStrike" cap="none">
                <a:solidFill>
                  <a:srgbClr val="111827"/>
                </a:solidFill>
                <a:latin typeface="Calibri"/>
                <a:ea typeface="Calibri"/>
                <a:cs typeface="Calibri"/>
                <a:sym typeface="Calibri"/>
              </a:rPr>
              <a:t> crises as happened in 2009…</a:t>
            </a:r>
            <a:endParaRPr sz="950" b="0" i="0" u="none" strike="noStrike" cap="none">
              <a:solidFill>
                <a:schemeClr val="dk1"/>
              </a:solidFill>
              <a:latin typeface="Calibri"/>
              <a:ea typeface="Calibri"/>
              <a:cs typeface="Calibri"/>
              <a:sym typeface="Calibri"/>
            </a:endParaRPr>
          </a:p>
        </p:txBody>
      </p:sp>
      <p:sp>
        <p:nvSpPr>
          <p:cNvPr id="2314" name="Google Shape;2314;p54"/>
          <p:cNvSpPr/>
          <p:nvPr/>
        </p:nvSpPr>
        <p:spPr>
          <a:xfrm>
            <a:off x="5120640" y="2029968"/>
            <a:ext cx="3566100" cy="512100"/>
          </a:xfrm>
          <a:prstGeom prst="rect">
            <a:avLst/>
          </a:prstGeom>
          <a:solidFill>
            <a:srgbClr val="FFFFFF"/>
          </a:solidFill>
          <a:ln w="1015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5" name="Google Shape;2315;p54"/>
          <p:cNvSpPr/>
          <p:nvPr/>
        </p:nvSpPr>
        <p:spPr>
          <a:xfrm>
            <a:off x="5193792" y="2057400"/>
            <a:ext cx="3420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827"/>
              </a:buClr>
              <a:buSzPts val="950"/>
              <a:buFont typeface="Calibri"/>
              <a:buNone/>
            </a:pPr>
            <a:r>
              <a:rPr lang="en" sz="950" b="0" i="0" u="none" strike="noStrike" cap="none">
                <a:solidFill>
                  <a:srgbClr val="111827"/>
                </a:solidFill>
                <a:latin typeface="Calibri"/>
                <a:ea typeface="Calibri"/>
                <a:cs typeface="Calibri"/>
                <a:sym typeface="Calibri"/>
              </a:rPr>
              <a:t>…saying that Europe needs unified </a:t>
            </a:r>
            <a:r>
              <a:rPr lang="en" sz="950" b="1" i="0" u="none" strike="noStrike" cap="none">
                <a:solidFill>
                  <a:srgbClr val="FFFFFF"/>
                </a:solidFill>
                <a:highlight>
                  <a:srgbClr val="7C3AED"/>
                </a:highlight>
                <a:latin typeface="Calibri"/>
                <a:ea typeface="Calibri"/>
                <a:cs typeface="Calibri"/>
                <a:sym typeface="Calibri"/>
              </a:rPr>
              <a:t>banking</a:t>
            </a:r>
            <a:r>
              <a:rPr lang="en" sz="950" b="0" i="0" u="none" strike="noStrike" cap="none">
                <a:solidFill>
                  <a:srgbClr val="111827"/>
                </a:solidFill>
                <a:latin typeface="Calibri"/>
                <a:ea typeface="Calibri"/>
                <a:cs typeface="Calibri"/>
                <a:sym typeface="Calibri"/>
              </a:rPr>
              <a:t> regulation to replace the hodgepodge…</a:t>
            </a:r>
            <a:endParaRPr sz="950" b="0" i="0" u="none" strike="noStrike" cap="none">
              <a:solidFill>
                <a:schemeClr val="dk1"/>
              </a:solidFill>
              <a:latin typeface="Calibri"/>
              <a:ea typeface="Calibri"/>
              <a:cs typeface="Calibri"/>
              <a:sym typeface="Calibri"/>
            </a:endParaRPr>
          </a:p>
        </p:txBody>
      </p:sp>
      <p:sp>
        <p:nvSpPr>
          <p:cNvPr id="2316" name="Google Shape;2316;p54"/>
          <p:cNvSpPr/>
          <p:nvPr/>
        </p:nvSpPr>
        <p:spPr>
          <a:xfrm>
            <a:off x="5120640" y="2670048"/>
            <a:ext cx="3566100" cy="512100"/>
          </a:xfrm>
          <a:prstGeom prst="rect">
            <a:avLst/>
          </a:prstGeom>
          <a:solidFill>
            <a:srgbClr val="FFFFFF"/>
          </a:solidFill>
          <a:ln w="1015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7" name="Google Shape;2317;p54"/>
          <p:cNvSpPr/>
          <p:nvPr/>
        </p:nvSpPr>
        <p:spPr>
          <a:xfrm>
            <a:off x="5193792" y="2697480"/>
            <a:ext cx="34200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827"/>
              </a:buClr>
              <a:buSzPts val="950"/>
              <a:buFont typeface="Calibri"/>
              <a:buNone/>
            </a:pPr>
            <a:r>
              <a:rPr lang="en" sz="950" b="0" i="0" u="none" strike="noStrike" cap="none">
                <a:solidFill>
                  <a:srgbClr val="111827"/>
                </a:solidFill>
                <a:latin typeface="Calibri"/>
                <a:ea typeface="Calibri"/>
                <a:cs typeface="Calibri"/>
                <a:sym typeface="Calibri"/>
              </a:rPr>
              <a:t>…India has just given its </a:t>
            </a:r>
            <a:r>
              <a:rPr lang="en" sz="950" b="1" i="0" u="none" strike="noStrike" cap="none">
                <a:solidFill>
                  <a:srgbClr val="FFFFFF"/>
                </a:solidFill>
                <a:highlight>
                  <a:srgbClr val="7C3AED"/>
                </a:highlight>
                <a:latin typeface="Calibri"/>
                <a:ea typeface="Calibri"/>
                <a:cs typeface="Calibri"/>
                <a:sym typeface="Calibri"/>
              </a:rPr>
              <a:t>banking</a:t>
            </a:r>
            <a:r>
              <a:rPr lang="en" sz="950" b="0" i="0" u="none" strike="noStrike" cap="none">
                <a:solidFill>
                  <a:srgbClr val="111827"/>
                </a:solidFill>
                <a:latin typeface="Calibri"/>
                <a:ea typeface="Calibri"/>
                <a:cs typeface="Calibri"/>
                <a:sym typeface="Calibri"/>
              </a:rPr>
              <a:t> system a shot in the arm…</a:t>
            </a:r>
            <a:endParaRPr sz="950" b="0" i="0" u="none" strike="noStrike" cap="none">
              <a:solidFill>
                <a:schemeClr val="dk1"/>
              </a:solidFill>
              <a:latin typeface="Calibri"/>
              <a:ea typeface="Calibri"/>
              <a:cs typeface="Calibri"/>
              <a:sym typeface="Calibri"/>
            </a:endParaRPr>
          </a:p>
        </p:txBody>
      </p:sp>
      <p:cxnSp>
        <p:nvCxnSpPr>
          <p:cNvPr id="2318" name="Google Shape;2318;p54"/>
          <p:cNvCxnSpPr/>
          <p:nvPr/>
        </p:nvCxnSpPr>
        <p:spPr>
          <a:xfrm>
            <a:off x="5699447" y="3206894"/>
            <a:ext cx="0" cy="274200"/>
          </a:xfrm>
          <a:prstGeom prst="straightConnector1">
            <a:avLst/>
          </a:prstGeom>
          <a:noFill/>
          <a:ln w="25400" cap="flat" cmpd="sng">
            <a:solidFill>
              <a:srgbClr val="0D9488"/>
            </a:solidFill>
            <a:prstDash val="solid"/>
            <a:round/>
            <a:headEnd type="none" w="sm" len="sm"/>
            <a:tailEnd type="stealth" w="med" len="med"/>
          </a:ln>
        </p:spPr>
      </p:cxnSp>
      <p:cxnSp>
        <p:nvCxnSpPr>
          <p:cNvPr id="2319" name="Google Shape;2319;p54"/>
          <p:cNvCxnSpPr/>
          <p:nvPr/>
        </p:nvCxnSpPr>
        <p:spPr>
          <a:xfrm>
            <a:off x="6504119" y="3206894"/>
            <a:ext cx="0" cy="274200"/>
          </a:xfrm>
          <a:prstGeom prst="straightConnector1">
            <a:avLst/>
          </a:prstGeom>
          <a:noFill/>
          <a:ln w="25400" cap="flat" cmpd="sng">
            <a:solidFill>
              <a:srgbClr val="0D9488"/>
            </a:solidFill>
            <a:prstDash val="solid"/>
            <a:round/>
            <a:headEnd type="none" w="sm" len="sm"/>
            <a:tailEnd type="stealth" w="med" len="med"/>
          </a:ln>
        </p:spPr>
      </p:cxnSp>
      <p:sp>
        <p:nvSpPr>
          <p:cNvPr id="2320" name="Google Shape;2320;p54"/>
          <p:cNvSpPr/>
          <p:nvPr/>
        </p:nvSpPr>
        <p:spPr>
          <a:xfrm>
            <a:off x="5132519" y="3508646"/>
            <a:ext cx="3566100" cy="255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9488"/>
              </a:buClr>
              <a:buSzPts val="1100"/>
              <a:buFont typeface="Calibri"/>
              <a:buNone/>
            </a:pPr>
            <a:r>
              <a:rPr lang="en" sz="1100" b="1" i="0" u="none" strike="noStrike" cap="none">
                <a:solidFill>
                  <a:srgbClr val="0D9488"/>
                </a:solidFill>
                <a:latin typeface="Calibri"/>
                <a:ea typeface="Calibri"/>
                <a:cs typeface="Calibri"/>
                <a:sym typeface="Calibri"/>
              </a:rPr>
              <a:t>These context words will represent  banking</a:t>
            </a:r>
            <a:endParaRPr sz="1100" b="0" i="0" u="none" strike="noStrike" cap="none">
              <a:solidFill>
                <a:schemeClr val="dk1"/>
              </a:solidFill>
              <a:latin typeface="Calibri"/>
              <a:ea typeface="Calibri"/>
              <a:cs typeface="Calibri"/>
              <a:sym typeface="Calibri"/>
            </a:endParaRPr>
          </a:p>
        </p:txBody>
      </p:sp>
      <p:sp>
        <p:nvSpPr>
          <p:cNvPr id="2321" name="Google Shape;2321;p54"/>
          <p:cNvSpPr/>
          <p:nvPr/>
        </p:nvSpPr>
        <p:spPr>
          <a:xfrm>
            <a:off x="347472" y="3858768"/>
            <a:ext cx="8449200" cy="567000"/>
          </a:xfrm>
          <a:prstGeom prst="rect">
            <a:avLst/>
          </a:prstGeom>
          <a:solidFill>
            <a:srgbClr val="F0FDF4"/>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2" name="Google Shape;2322;p54"/>
          <p:cNvSpPr/>
          <p:nvPr/>
        </p:nvSpPr>
        <p:spPr>
          <a:xfrm>
            <a:off x="502920" y="3895344"/>
            <a:ext cx="10974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9488"/>
              </a:buClr>
              <a:buSzPts val="1200"/>
              <a:buFont typeface="Calibri"/>
              <a:buNone/>
            </a:pPr>
            <a:r>
              <a:rPr lang="en" sz="1200" b="1" i="0" u="none" strike="noStrike" cap="none">
                <a:solidFill>
                  <a:srgbClr val="0D9488"/>
                </a:solidFill>
                <a:latin typeface="Calibri"/>
                <a:ea typeface="Calibri"/>
                <a:cs typeface="Calibri"/>
                <a:sym typeface="Calibri"/>
              </a:rPr>
              <a:t>💡  Key shift:</a:t>
            </a:r>
            <a:endParaRPr sz="1200" b="0" i="0" u="none" strike="noStrike" cap="none">
              <a:solidFill>
                <a:schemeClr val="dk1"/>
              </a:solidFill>
              <a:latin typeface="Calibri"/>
              <a:ea typeface="Calibri"/>
              <a:cs typeface="Calibri"/>
              <a:sym typeface="Calibri"/>
            </a:endParaRPr>
          </a:p>
        </p:txBody>
      </p:sp>
      <p:sp>
        <p:nvSpPr>
          <p:cNvPr id="2323" name="Google Shape;2323;p54"/>
          <p:cNvSpPr/>
          <p:nvPr/>
        </p:nvSpPr>
        <p:spPr>
          <a:xfrm>
            <a:off x="1627632" y="3895344"/>
            <a:ext cx="70410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827"/>
              </a:buClr>
              <a:buSzPts val="1200"/>
              <a:buFont typeface="Calibri"/>
              <a:buNone/>
            </a:pPr>
            <a:r>
              <a:rPr lang="en" sz="1200" b="0" i="0" u="none" strike="noStrike" cap="none">
                <a:solidFill>
                  <a:srgbClr val="111827"/>
                </a:solidFill>
                <a:latin typeface="Calibri"/>
                <a:ea typeface="Calibri"/>
                <a:cs typeface="Calibri"/>
                <a:sym typeface="Calibri"/>
              </a:rPr>
              <a:t>Instead of a word's position in a fixed vocabulary, we encode what words it co-occurs with.</a:t>
            </a:r>
            <a:endParaRPr sz="1200" b="0" i="0" u="none" strike="noStrike" cap="none">
              <a:solidFill>
                <a:schemeClr val="dk1"/>
              </a:solidFill>
              <a:latin typeface="Calibri"/>
              <a:ea typeface="Calibri"/>
              <a:cs typeface="Calibri"/>
              <a:sym typeface="Calibri"/>
            </a:endParaRPr>
          </a:p>
        </p:txBody>
      </p:sp>
      <p:sp>
        <p:nvSpPr>
          <p:cNvPr id="2324" name="Google Shape;2324;p54"/>
          <p:cNvSpPr/>
          <p:nvPr/>
        </p:nvSpPr>
        <p:spPr>
          <a:xfrm>
            <a:off x="502920" y="4160520"/>
            <a:ext cx="82296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1100"/>
              <a:buFont typeface="Calibri"/>
              <a:buNone/>
            </a:pPr>
            <a:r>
              <a:rPr lang="en" sz="1100" b="0" i="1" u="none" strike="noStrike" cap="none">
                <a:solidFill>
                  <a:srgbClr val="6B7280"/>
                </a:solidFill>
                <a:latin typeface="Calibri"/>
                <a:ea typeface="Calibri"/>
                <a:cs typeface="Calibri"/>
                <a:sym typeface="Calibri"/>
              </a:rPr>
              <a:t>Count co-occurrences → compress → dense vector.  This is the road to word embeddings.</a:t>
            </a:r>
            <a:endParaRPr sz="1100" b="0" i="0" u="none" strike="noStrike" cap="none">
              <a:solidFill>
                <a:schemeClr val="dk1"/>
              </a:solidFill>
              <a:latin typeface="Calibri"/>
              <a:ea typeface="Calibri"/>
              <a:cs typeface="Calibri"/>
              <a:sym typeface="Calibri"/>
            </a:endParaRPr>
          </a:p>
        </p:txBody>
      </p:sp>
      <p:sp>
        <p:nvSpPr>
          <p:cNvPr id="2325" name="Google Shape;2325;p54"/>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72</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Shape 2330"/>
        <p:cNvGrpSpPr/>
        <p:nvPr/>
      </p:nvGrpSpPr>
      <p:grpSpPr>
        <a:xfrm>
          <a:off x="0" y="0"/>
          <a:ext cx="0" cy="0"/>
          <a:chOff x="0" y="0"/>
          <a:chExt cx="0" cy="0"/>
        </a:xfrm>
      </p:grpSpPr>
      <p:sp>
        <p:nvSpPr>
          <p:cNvPr id="2331" name="Google Shape;2331;p55"/>
          <p:cNvSpPr/>
          <p:nvPr/>
        </p:nvSpPr>
        <p:spPr>
          <a:xfrm>
            <a:off x="0" y="0"/>
            <a:ext cx="9144000" cy="6390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2" name="Google Shape;2332;p55"/>
          <p:cNvSpPr/>
          <p:nvPr/>
        </p:nvSpPr>
        <p:spPr>
          <a:xfrm>
            <a:off x="347472" y="164592"/>
            <a:ext cx="63900" cy="51210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3" name="Google Shape;2333;p55"/>
          <p:cNvSpPr/>
          <p:nvPr/>
        </p:nvSpPr>
        <p:spPr>
          <a:xfrm>
            <a:off x="521208" y="146304"/>
            <a:ext cx="8229600" cy="54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B3A6B"/>
              </a:buClr>
              <a:buSzPts val="2600"/>
              <a:buFont typeface="Calibri"/>
              <a:buNone/>
            </a:pPr>
            <a:r>
              <a:rPr lang="en" sz="2600" b="1" i="0" u="none" strike="noStrike" cap="none">
                <a:solidFill>
                  <a:srgbClr val="1B3A6B"/>
                </a:solidFill>
                <a:latin typeface="Calibri"/>
                <a:ea typeface="Calibri"/>
                <a:cs typeface="Calibri"/>
                <a:sym typeface="Calibri"/>
              </a:rPr>
              <a:t>Dense Representations — Distributed Semantics</a:t>
            </a:r>
            <a:endParaRPr sz="2600" b="0" i="0" u="none" strike="noStrike" cap="none">
              <a:solidFill>
                <a:schemeClr val="dk1"/>
              </a:solidFill>
              <a:latin typeface="Calibri"/>
              <a:ea typeface="Calibri"/>
              <a:cs typeface="Calibri"/>
              <a:sym typeface="Calibri"/>
            </a:endParaRPr>
          </a:p>
        </p:txBody>
      </p:sp>
      <p:cxnSp>
        <p:nvCxnSpPr>
          <p:cNvPr id="2334" name="Google Shape;2334;p55"/>
          <p:cNvCxnSpPr/>
          <p:nvPr/>
        </p:nvCxnSpPr>
        <p:spPr>
          <a:xfrm>
            <a:off x="347472" y="713232"/>
            <a:ext cx="8449200" cy="0"/>
          </a:xfrm>
          <a:prstGeom prst="straightConnector1">
            <a:avLst/>
          </a:prstGeom>
          <a:noFill/>
          <a:ln w="15225" cap="flat" cmpd="sng">
            <a:solidFill>
              <a:srgbClr val="1B3A6B"/>
            </a:solidFill>
            <a:prstDash val="solid"/>
            <a:round/>
            <a:headEnd type="none" w="sm" len="sm"/>
            <a:tailEnd type="none" w="sm" len="sm"/>
          </a:ln>
        </p:spPr>
      </p:cxnSp>
      <p:sp>
        <p:nvSpPr>
          <p:cNvPr id="2335" name="Google Shape;2335;p55"/>
          <p:cNvSpPr/>
          <p:nvPr/>
        </p:nvSpPr>
        <p:spPr>
          <a:xfrm>
            <a:off x="347472" y="749808"/>
            <a:ext cx="84492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1200"/>
              <a:buFont typeface="Calibri"/>
              <a:buNone/>
            </a:pPr>
            <a:r>
              <a:rPr lang="en" sz="1200" b="0" i="1" u="none" strike="noStrike" cap="none">
                <a:solidFill>
                  <a:srgbClr val="6B7280"/>
                </a:solidFill>
                <a:latin typeface="Calibri"/>
                <a:ea typeface="Calibri"/>
                <a:cs typeface="Calibri"/>
                <a:sym typeface="Calibri"/>
              </a:rPr>
              <a:t>Replace one sparse index with a short, dense vector where every dimension carries meaning</a:t>
            </a:r>
            <a:endParaRPr sz="1200" b="0" i="0" u="none" strike="noStrike" cap="none">
              <a:solidFill>
                <a:schemeClr val="dk1"/>
              </a:solidFill>
              <a:latin typeface="Calibri"/>
              <a:ea typeface="Calibri"/>
              <a:cs typeface="Calibri"/>
              <a:sym typeface="Calibri"/>
            </a:endParaRPr>
          </a:p>
        </p:txBody>
      </p:sp>
      <p:sp>
        <p:nvSpPr>
          <p:cNvPr id="2336" name="Google Shape;2336;p55"/>
          <p:cNvSpPr/>
          <p:nvPr/>
        </p:nvSpPr>
        <p:spPr>
          <a:xfrm>
            <a:off x="347472" y="914400"/>
            <a:ext cx="36576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2626"/>
              </a:buClr>
              <a:buSzPts val="1300"/>
              <a:buFont typeface="Calibri"/>
              <a:buNone/>
            </a:pPr>
            <a:r>
              <a:rPr lang="en" sz="1300" b="1" i="0" u="none" strike="noStrike" cap="none">
                <a:solidFill>
                  <a:srgbClr val="DC2626"/>
                </a:solidFill>
                <a:latin typeface="Calibri"/>
                <a:ea typeface="Calibri"/>
                <a:cs typeface="Calibri"/>
                <a:sym typeface="Calibri"/>
              </a:rPr>
              <a:t>SPARSE (One-Hot)</a:t>
            </a:r>
            <a:endParaRPr sz="1300" b="0" i="0" u="none" strike="noStrike" cap="none">
              <a:solidFill>
                <a:schemeClr val="dk1"/>
              </a:solidFill>
              <a:latin typeface="Calibri"/>
              <a:ea typeface="Calibri"/>
              <a:cs typeface="Calibri"/>
              <a:sym typeface="Calibri"/>
            </a:endParaRPr>
          </a:p>
        </p:txBody>
      </p:sp>
      <p:sp>
        <p:nvSpPr>
          <p:cNvPr id="2337" name="Google Shape;2337;p55"/>
          <p:cNvSpPr/>
          <p:nvPr/>
        </p:nvSpPr>
        <p:spPr>
          <a:xfrm>
            <a:off x="347472" y="1243584"/>
            <a:ext cx="310800" cy="4572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8" name="Google Shape;2338;p55"/>
          <p:cNvSpPr/>
          <p:nvPr/>
        </p:nvSpPr>
        <p:spPr>
          <a:xfrm>
            <a:off x="347472" y="1243584"/>
            <a:ext cx="3108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100"/>
              <a:buFont typeface="Courier New"/>
              <a:buNone/>
            </a:pPr>
            <a:r>
              <a:rPr lang="en" sz="1100" b="0" i="0" u="none" strike="noStrike" cap="none">
                <a:solidFill>
                  <a:srgbClr val="6B7280"/>
                </a:solidFill>
                <a:latin typeface="Courier New"/>
                <a:ea typeface="Courier New"/>
                <a:cs typeface="Courier New"/>
                <a:sym typeface="Courier New"/>
              </a:rPr>
              <a:t>0</a:t>
            </a:r>
            <a:endParaRPr sz="1100" b="0" i="0" u="none" strike="noStrike" cap="none">
              <a:solidFill>
                <a:schemeClr val="dk1"/>
              </a:solidFill>
              <a:latin typeface="Calibri"/>
              <a:ea typeface="Calibri"/>
              <a:cs typeface="Calibri"/>
              <a:sym typeface="Calibri"/>
            </a:endParaRPr>
          </a:p>
        </p:txBody>
      </p:sp>
      <p:sp>
        <p:nvSpPr>
          <p:cNvPr id="2339" name="Google Shape;2339;p55"/>
          <p:cNvSpPr/>
          <p:nvPr/>
        </p:nvSpPr>
        <p:spPr>
          <a:xfrm>
            <a:off x="694944" y="1243584"/>
            <a:ext cx="310800" cy="4572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0" name="Google Shape;2340;p55"/>
          <p:cNvSpPr/>
          <p:nvPr/>
        </p:nvSpPr>
        <p:spPr>
          <a:xfrm>
            <a:off x="694944" y="1243584"/>
            <a:ext cx="3108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100"/>
              <a:buFont typeface="Courier New"/>
              <a:buNone/>
            </a:pPr>
            <a:r>
              <a:rPr lang="en" sz="1100" b="0" i="0" u="none" strike="noStrike" cap="none">
                <a:solidFill>
                  <a:srgbClr val="6B7280"/>
                </a:solidFill>
                <a:latin typeface="Courier New"/>
                <a:ea typeface="Courier New"/>
                <a:cs typeface="Courier New"/>
                <a:sym typeface="Courier New"/>
              </a:rPr>
              <a:t>0</a:t>
            </a:r>
            <a:endParaRPr sz="1100" b="0" i="0" u="none" strike="noStrike" cap="none">
              <a:solidFill>
                <a:schemeClr val="dk1"/>
              </a:solidFill>
              <a:latin typeface="Calibri"/>
              <a:ea typeface="Calibri"/>
              <a:cs typeface="Calibri"/>
              <a:sym typeface="Calibri"/>
            </a:endParaRPr>
          </a:p>
        </p:txBody>
      </p:sp>
      <p:sp>
        <p:nvSpPr>
          <p:cNvPr id="2341" name="Google Shape;2341;p55"/>
          <p:cNvSpPr/>
          <p:nvPr/>
        </p:nvSpPr>
        <p:spPr>
          <a:xfrm>
            <a:off x="1042416" y="1243584"/>
            <a:ext cx="310800" cy="457200"/>
          </a:xfrm>
          <a:prstGeom prst="rect">
            <a:avLst/>
          </a:prstGeom>
          <a:solidFill>
            <a:srgbClr val="FEE2E2"/>
          </a:solidFill>
          <a:ln w="2285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2" name="Google Shape;2342;p55"/>
          <p:cNvSpPr/>
          <p:nvPr/>
        </p:nvSpPr>
        <p:spPr>
          <a:xfrm>
            <a:off x="1042416" y="1243584"/>
            <a:ext cx="3108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DC2626"/>
              </a:buClr>
              <a:buSzPts val="1100"/>
              <a:buFont typeface="Courier New"/>
              <a:buNone/>
            </a:pPr>
            <a:r>
              <a:rPr lang="en" sz="1100" b="1" i="0" u="none" strike="noStrike" cap="none">
                <a:solidFill>
                  <a:srgbClr val="DC2626"/>
                </a:solidFill>
                <a:latin typeface="Courier New"/>
                <a:ea typeface="Courier New"/>
                <a:cs typeface="Courier New"/>
                <a:sym typeface="Courier New"/>
              </a:rPr>
              <a:t>1</a:t>
            </a:r>
            <a:endParaRPr sz="1100" b="0" i="0" u="none" strike="noStrike" cap="none">
              <a:solidFill>
                <a:schemeClr val="dk1"/>
              </a:solidFill>
              <a:latin typeface="Calibri"/>
              <a:ea typeface="Calibri"/>
              <a:cs typeface="Calibri"/>
              <a:sym typeface="Calibri"/>
            </a:endParaRPr>
          </a:p>
        </p:txBody>
      </p:sp>
      <p:sp>
        <p:nvSpPr>
          <p:cNvPr id="2343" name="Google Shape;2343;p55"/>
          <p:cNvSpPr/>
          <p:nvPr/>
        </p:nvSpPr>
        <p:spPr>
          <a:xfrm>
            <a:off x="1389888" y="1243584"/>
            <a:ext cx="310800" cy="4572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4" name="Google Shape;2344;p55"/>
          <p:cNvSpPr/>
          <p:nvPr/>
        </p:nvSpPr>
        <p:spPr>
          <a:xfrm>
            <a:off x="1389888" y="1243584"/>
            <a:ext cx="3108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100"/>
              <a:buFont typeface="Courier New"/>
              <a:buNone/>
            </a:pPr>
            <a:r>
              <a:rPr lang="en" sz="1100" b="0" i="0" u="none" strike="noStrike" cap="none">
                <a:solidFill>
                  <a:srgbClr val="6B7280"/>
                </a:solidFill>
                <a:latin typeface="Courier New"/>
                <a:ea typeface="Courier New"/>
                <a:cs typeface="Courier New"/>
                <a:sym typeface="Courier New"/>
              </a:rPr>
              <a:t>0</a:t>
            </a:r>
            <a:endParaRPr sz="1100" b="0" i="0" u="none" strike="noStrike" cap="none">
              <a:solidFill>
                <a:schemeClr val="dk1"/>
              </a:solidFill>
              <a:latin typeface="Calibri"/>
              <a:ea typeface="Calibri"/>
              <a:cs typeface="Calibri"/>
              <a:sym typeface="Calibri"/>
            </a:endParaRPr>
          </a:p>
        </p:txBody>
      </p:sp>
      <p:sp>
        <p:nvSpPr>
          <p:cNvPr id="2345" name="Google Shape;2345;p55"/>
          <p:cNvSpPr/>
          <p:nvPr/>
        </p:nvSpPr>
        <p:spPr>
          <a:xfrm>
            <a:off x="1737360" y="1243584"/>
            <a:ext cx="310800" cy="4572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6" name="Google Shape;2346;p55"/>
          <p:cNvSpPr/>
          <p:nvPr/>
        </p:nvSpPr>
        <p:spPr>
          <a:xfrm>
            <a:off x="1737360" y="1243584"/>
            <a:ext cx="3108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100"/>
              <a:buFont typeface="Courier New"/>
              <a:buNone/>
            </a:pPr>
            <a:r>
              <a:rPr lang="en" sz="1100" b="0" i="0" u="none" strike="noStrike" cap="none">
                <a:solidFill>
                  <a:srgbClr val="6B7280"/>
                </a:solidFill>
                <a:latin typeface="Courier New"/>
                <a:ea typeface="Courier New"/>
                <a:cs typeface="Courier New"/>
                <a:sym typeface="Courier New"/>
              </a:rPr>
              <a:t>0</a:t>
            </a:r>
            <a:endParaRPr sz="1100" b="0" i="0" u="none" strike="noStrike" cap="none">
              <a:solidFill>
                <a:schemeClr val="dk1"/>
              </a:solidFill>
              <a:latin typeface="Calibri"/>
              <a:ea typeface="Calibri"/>
              <a:cs typeface="Calibri"/>
              <a:sym typeface="Calibri"/>
            </a:endParaRPr>
          </a:p>
        </p:txBody>
      </p:sp>
      <p:sp>
        <p:nvSpPr>
          <p:cNvPr id="2347" name="Google Shape;2347;p55"/>
          <p:cNvSpPr/>
          <p:nvPr/>
        </p:nvSpPr>
        <p:spPr>
          <a:xfrm>
            <a:off x="2084832" y="1243584"/>
            <a:ext cx="310800" cy="4572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8" name="Google Shape;2348;p55"/>
          <p:cNvSpPr/>
          <p:nvPr/>
        </p:nvSpPr>
        <p:spPr>
          <a:xfrm>
            <a:off x="2084832" y="1243584"/>
            <a:ext cx="3108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100"/>
              <a:buFont typeface="Courier New"/>
              <a:buNone/>
            </a:pPr>
            <a:r>
              <a:rPr lang="en" sz="1100" b="0" i="0" u="none" strike="noStrike" cap="none">
                <a:solidFill>
                  <a:srgbClr val="6B7280"/>
                </a:solidFill>
                <a:latin typeface="Courier New"/>
                <a:ea typeface="Courier New"/>
                <a:cs typeface="Courier New"/>
                <a:sym typeface="Courier New"/>
              </a:rPr>
              <a:t>0</a:t>
            </a:r>
            <a:endParaRPr sz="1100" b="0" i="0" u="none" strike="noStrike" cap="none">
              <a:solidFill>
                <a:schemeClr val="dk1"/>
              </a:solidFill>
              <a:latin typeface="Calibri"/>
              <a:ea typeface="Calibri"/>
              <a:cs typeface="Calibri"/>
              <a:sym typeface="Calibri"/>
            </a:endParaRPr>
          </a:p>
        </p:txBody>
      </p:sp>
      <p:sp>
        <p:nvSpPr>
          <p:cNvPr id="2349" name="Google Shape;2349;p55"/>
          <p:cNvSpPr/>
          <p:nvPr/>
        </p:nvSpPr>
        <p:spPr>
          <a:xfrm>
            <a:off x="2432304" y="1243584"/>
            <a:ext cx="310800" cy="4572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0" name="Google Shape;2350;p55"/>
          <p:cNvSpPr/>
          <p:nvPr/>
        </p:nvSpPr>
        <p:spPr>
          <a:xfrm>
            <a:off x="2432304" y="1243584"/>
            <a:ext cx="3108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100"/>
              <a:buFont typeface="Courier New"/>
              <a:buNone/>
            </a:pPr>
            <a:r>
              <a:rPr lang="en" sz="1100" b="0" i="0" u="none" strike="noStrike" cap="none">
                <a:solidFill>
                  <a:srgbClr val="6B7280"/>
                </a:solidFill>
                <a:latin typeface="Courier New"/>
                <a:ea typeface="Courier New"/>
                <a:cs typeface="Courier New"/>
                <a:sym typeface="Courier New"/>
              </a:rPr>
              <a:t>0</a:t>
            </a:r>
            <a:endParaRPr sz="1100" b="0" i="0" u="none" strike="noStrike" cap="none">
              <a:solidFill>
                <a:schemeClr val="dk1"/>
              </a:solidFill>
              <a:latin typeface="Calibri"/>
              <a:ea typeface="Calibri"/>
              <a:cs typeface="Calibri"/>
              <a:sym typeface="Calibri"/>
            </a:endParaRPr>
          </a:p>
        </p:txBody>
      </p:sp>
      <p:sp>
        <p:nvSpPr>
          <p:cNvPr id="2351" name="Google Shape;2351;p55"/>
          <p:cNvSpPr/>
          <p:nvPr/>
        </p:nvSpPr>
        <p:spPr>
          <a:xfrm>
            <a:off x="2779776" y="1243584"/>
            <a:ext cx="310800" cy="4572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2" name="Google Shape;2352;p55"/>
          <p:cNvSpPr/>
          <p:nvPr/>
        </p:nvSpPr>
        <p:spPr>
          <a:xfrm>
            <a:off x="2779776" y="1243584"/>
            <a:ext cx="3108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100"/>
              <a:buFont typeface="Courier New"/>
              <a:buNone/>
            </a:pPr>
            <a:r>
              <a:rPr lang="en" sz="1100" b="0" i="0" u="none" strike="noStrike" cap="none">
                <a:solidFill>
                  <a:srgbClr val="6B7280"/>
                </a:solidFill>
                <a:latin typeface="Courier New"/>
                <a:ea typeface="Courier New"/>
                <a:cs typeface="Courier New"/>
                <a:sym typeface="Courier New"/>
              </a:rPr>
              <a:t>0</a:t>
            </a:r>
            <a:endParaRPr sz="1100" b="0" i="0" u="none" strike="noStrike" cap="none">
              <a:solidFill>
                <a:schemeClr val="dk1"/>
              </a:solidFill>
              <a:latin typeface="Calibri"/>
              <a:ea typeface="Calibri"/>
              <a:cs typeface="Calibri"/>
              <a:sym typeface="Calibri"/>
            </a:endParaRPr>
          </a:p>
        </p:txBody>
      </p:sp>
      <p:sp>
        <p:nvSpPr>
          <p:cNvPr id="2353" name="Google Shape;2353;p55"/>
          <p:cNvSpPr/>
          <p:nvPr/>
        </p:nvSpPr>
        <p:spPr>
          <a:xfrm>
            <a:off x="3127248" y="1243584"/>
            <a:ext cx="310800" cy="4572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4" name="Google Shape;2354;p55"/>
          <p:cNvSpPr/>
          <p:nvPr/>
        </p:nvSpPr>
        <p:spPr>
          <a:xfrm>
            <a:off x="3127248" y="1243584"/>
            <a:ext cx="3108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100"/>
              <a:buFont typeface="Courier New"/>
              <a:buNone/>
            </a:pPr>
            <a:r>
              <a:rPr lang="en" sz="1100" b="0" i="0" u="none" strike="noStrike" cap="none">
                <a:solidFill>
                  <a:srgbClr val="6B7280"/>
                </a:solidFill>
                <a:latin typeface="Courier New"/>
                <a:ea typeface="Courier New"/>
                <a:cs typeface="Courier New"/>
                <a:sym typeface="Courier New"/>
              </a:rPr>
              <a:t>0</a:t>
            </a:r>
            <a:endParaRPr sz="1100" b="0" i="0" u="none" strike="noStrike" cap="none">
              <a:solidFill>
                <a:schemeClr val="dk1"/>
              </a:solidFill>
              <a:latin typeface="Calibri"/>
              <a:ea typeface="Calibri"/>
              <a:cs typeface="Calibri"/>
              <a:sym typeface="Calibri"/>
            </a:endParaRPr>
          </a:p>
        </p:txBody>
      </p:sp>
      <p:sp>
        <p:nvSpPr>
          <p:cNvPr id="2355" name="Google Shape;2355;p55"/>
          <p:cNvSpPr/>
          <p:nvPr/>
        </p:nvSpPr>
        <p:spPr>
          <a:xfrm>
            <a:off x="3474720" y="1243584"/>
            <a:ext cx="310800" cy="4572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6" name="Google Shape;2356;p55"/>
          <p:cNvSpPr/>
          <p:nvPr/>
        </p:nvSpPr>
        <p:spPr>
          <a:xfrm>
            <a:off x="3474720" y="1243584"/>
            <a:ext cx="3108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100"/>
              <a:buFont typeface="Courier New"/>
              <a:buNone/>
            </a:pPr>
            <a:r>
              <a:rPr lang="en" sz="1100" b="0" i="0" u="none" strike="noStrike" cap="none">
                <a:solidFill>
                  <a:srgbClr val="6B7280"/>
                </a:solidFill>
                <a:latin typeface="Courier New"/>
                <a:ea typeface="Courier New"/>
                <a:cs typeface="Courier New"/>
                <a:sym typeface="Courier New"/>
              </a:rPr>
              <a:t>0</a:t>
            </a:r>
            <a:endParaRPr sz="1100" b="0" i="0" u="none" strike="noStrike" cap="none">
              <a:solidFill>
                <a:schemeClr val="dk1"/>
              </a:solidFill>
              <a:latin typeface="Calibri"/>
              <a:ea typeface="Calibri"/>
              <a:cs typeface="Calibri"/>
              <a:sym typeface="Calibri"/>
            </a:endParaRPr>
          </a:p>
        </p:txBody>
      </p:sp>
      <p:sp>
        <p:nvSpPr>
          <p:cNvPr id="2357" name="Google Shape;2357;p55"/>
          <p:cNvSpPr/>
          <p:nvPr/>
        </p:nvSpPr>
        <p:spPr>
          <a:xfrm>
            <a:off x="3822192" y="1243584"/>
            <a:ext cx="310800" cy="4572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8" name="Google Shape;2358;p55"/>
          <p:cNvSpPr/>
          <p:nvPr/>
        </p:nvSpPr>
        <p:spPr>
          <a:xfrm>
            <a:off x="3822192" y="1243584"/>
            <a:ext cx="3108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100"/>
              <a:buFont typeface="Courier New"/>
              <a:buNone/>
            </a:pPr>
            <a:r>
              <a:rPr lang="en" sz="1100" b="0" i="0" u="none" strike="noStrike" cap="none">
                <a:solidFill>
                  <a:srgbClr val="6B7280"/>
                </a:solidFill>
                <a:latin typeface="Courier New"/>
                <a:ea typeface="Courier New"/>
                <a:cs typeface="Courier New"/>
                <a:sym typeface="Courier New"/>
              </a:rPr>
              <a:t>0</a:t>
            </a:r>
            <a:endParaRPr sz="1100" b="0" i="0" u="none" strike="noStrike" cap="none">
              <a:solidFill>
                <a:schemeClr val="dk1"/>
              </a:solidFill>
              <a:latin typeface="Calibri"/>
              <a:ea typeface="Calibri"/>
              <a:cs typeface="Calibri"/>
              <a:sym typeface="Calibri"/>
            </a:endParaRPr>
          </a:p>
        </p:txBody>
      </p:sp>
      <p:sp>
        <p:nvSpPr>
          <p:cNvPr id="2359" name="Google Shape;2359;p55"/>
          <p:cNvSpPr/>
          <p:nvPr/>
        </p:nvSpPr>
        <p:spPr>
          <a:xfrm>
            <a:off x="4169664" y="1243584"/>
            <a:ext cx="310800" cy="457200"/>
          </a:xfrm>
          <a:prstGeom prst="rect">
            <a:avLst/>
          </a:prstGeom>
          <a:solidFill>
            <a:srgbClr val="FFFFFF"/>
          </a:solidFill>
          <a:ln w="9525" cap="flat" cmpd="sng">
            <a:solidFill>
              <a:srgbClr val="D1D5D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0" name="Google Shape;2360;p55"/>
          <p:cNvSpPr/>
          <p:nvPr/>
        </p:nvSpPr>
        <p:spPr>
          <a:xfrm>
            <a:off x="4169664" y="1243584"/>
            <a:ext cx="31080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1100"/>
              <a:buFont typeface="Courier New"/>
              <a:buNone/>
            </a:pPr>
            <a:r>
              <a:rPr lang="en" sz="1100" b="0" i="0" u="none" strike="noStrike" cap="none">
                <a:solidFill>
                  <a:srgbClr val="6B7280"/>
                </a:solidFill>
                <a:latin typeface="Courier New"/>
                <a:ea typeface="Courier New"/>
                <a:cs typeface="Courier New"/>
                <a:sym typeface="Courier New"/>
              </a:rPr>
              <a:t>0</a:t>
            </a:r>
            <a:endParaRPr sz="1100" b="0" i="0" u="none" strike="noStrike" cap="none">
              <a:solidFill>
                <a:schemeClr val="dk1"/>
              </a:solidFill>
              <a:latin typeface="Calibri"/>
              <a:ea typeface="Calibri"/>
              <a:cs typeface="Calibri"/>
              <a:sym typeface="Calibri"/>
            </a:endParaRPr>
          </a:p>
        </p:txBody>
      </p:sp>
      <p:sp>
        <p:nvSpPr>
          <p:cNvPr id="2361" name="Google Shape;2361;p55"/>
          <p:cNvSpPr/>
          <p:nvPr/>
        </p:nvSpPr>
        <p:spPr>
          <a:xfrm>
            <a:off x="347472" y="1755648"/>
            <a:ext cx="36576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1000"/>
              <a:buFont typeface="Calibri"/>
              <a:buNone/>
            </a:pPr>
            <a:r>
              <a:rPr lang="en" sz="1000" b="0" i="1" u="none" strike="noStrike" cap="none">
                <a:solidFill>
                  <a:srgbClr val="6B7280"/>
                </a:solidFill>
                <a:latin typeface="Calibri"/>
                <a:ea typeface="Calibri"/>
                <a:cs typeface="Calibri"/>
                <a:sym typeface="Calibri"/>
              </a:rPr>
              <a:t>… (50,000 dims)</a:t>
            </a:r>
            <a:endParaRPr sz="1000" b="0" i="0" u="none" strike="noStrike" cap="none">
              <a:solidFill>
                <a:schemeClr val="dk1"/>
              </a:solidFill>
              <a:latin typeface="Calibri"/>
              <a:ea typeface="Calibri"/>
              <a:cs typeface="Calibri"/>
              <a:sym typeface="Calibri"/>
            </a:endParaRPr>
          </a:p>
        </p:txBody>
      </p:sp>
      <p:sp>
        <p:nvSpPr>
          <p:cNvPr id="2362" name="Google Shape;2362;p55"/>
          <p:cNvSpPr/>
          <p:nvPr/>
        </p:nvSpPr>
        <p:spPr>
          <a:xfrm>
            <a:off x="347472" y="2048256"/>
            <a:ext cx="36576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2626"/>
              </a:buClr>
              <a:buSzPts val="1200"/>
              <a:buFont typeface="Calibri"/>
              <a:buNone/>
            </a:pPr>
            <a:r>
              <a:rPr lang="en" sz="1200" b="0" i="0" u="none" strike="noStrike" cap="none">
                <a:solidFill>
                  <a:srgbClr val="DC2626"/>
                </a:solidFill>
                <a:latin typeface="Calibri"/>
                <a:ea typeface="Calibri"/>
                <a:cs typeface="Calibri"/>
                <a:sym typeface="Calibri"/>
              </a:rPr>
              <a:t>✗  99%+ zeros</a:t>
            </a:r>
            <a:endParaRPr sz="1200" b="0" i="0" u="none" strike="noStrike" cap="none">
              <a:solidFill>
                <a:schemeClr val="dk1"/>
              </a:solidFill>
              <a:latin typeface="Calibri"/>
              <a:ea typeface="Calibri"/>
              <a:cs typeface="Calibri"/>
              <a:sym typeface="Calibri"/>
            </a:endParaRPr>
          </a:p>
        </p:txBody>
      </p:sp>
      <p:sp>
        <p:nvSpPr>
          <p:cNvPr id="2363" name="Google Shape;2363;p55"/>
          <p:cNvSpPr/>
          <p:nvPr/>
        </p:nvSpPr>
        <p:spPr>
          <a:xfrm>
            <a:off x="347472" y="2359152"/>
            <a:ext cx="36576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2626"/>
              </a:buClr>
              <a:buSzPts val="1200"/>
              <a:buFont typeface="Calibri"/>
              <a:buNone/>
            </a:pPr>
            <a:r>
              <a:rPr lang="en" sz="1200" b="0" i="0" u="none" strike="noStrike" cap="none">
                <a:solidFill>
                  <a:srgbClr val="DC2626"/>
                </a:solidFill>
                <a:latin typeface="Calibri"/>
                <a:ea typeface="Calibri"/>
                <a:cs typeface="Calibri"/>
                <a:sym typeface="Calibri"/>
              </a:rPr>
              <a:t>✗  No similarity</a:t>
            </a:r>
            <a:endParaRPr sz="1200" b="0" i="0" u="none" strike="noStrike" cap="none">
              <a:solidFill>
                <a:schemeClr val="dk1"/>
              </a:solidFill>
              <a:latin typeface="Calibri"/>
              <a:ea typeface="Calibri"/>
              <a:cs typeface="Calibri"/>
              <a:sym typeface="Calibri"/>
            </a:endParaRPr>
          </a:p>
        </p:txBody>
      </p:sp>
      <p:sp>
        <p:nvSpPr>
          <p:cNvPr id="2364" name="Google Shape;2364;p55"/>
          <p:cNvSpPr/>
          <p:nvPr/>
        </p:nvSpPr>
        <p:spPr>
          <a:xfrm>
            <a:off x="347472" y="2670048"/>
            <a:ext cx="36576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2626"/>
              </a:buClr>
              <a:buSzPts val="1200"/>
              <a:buFont typeface="Calibri"/>
              <a:buNone/>
            </a:pPr>
            <a:r>
              <a:rPr lang="en" sz="1200" b="0" i="0" u="none" strike="noStrike" cap="none">
                <a:solidFill>
                  <a:srgbClr val="DC2626"/>
                </a:solidFill>
                <a:latin typeface="Calibri"/>
                <a:ea typeface="Calibri"/>
                <a:cs typeface="Calibri"/>
                <a:sym typeface="Calibri"/>
              </a:rPr>
              <a:t>✗  Huge memory</a:t>
            </a:r>
            <a:endParaRPr sz="1200" b="0" i="0" u="none" strike="noStrike" cap="none">
              <a:solidFill>
                <a:schemeClr val="dk1"/>
              </a:solidFill>
              <a:latin typeface="Calibri"/>
              <a:ea typeface="Calibri"/>
              <a:cs typeface="Calibri"/>
              <a:sym typeface="Calibri"/>
            </a:endParaRPr>
          </a:p>
        </p:txBody>
      </p:sp>
      <p:cxnSp>
        <p:nvCxnSpPr>
          <p:cNvPr id="2365" name="Google Shape;2365;p55"/>
          <p:cNvCxnSpPr/>
          <p:nvPr/>
        </p:nvCxnSpPr>
        <p:spPr>
          <a:xfrm>
            <a:off x="4251960" y="2331720"/>
            <a:ext cx="658500" cy="0"/>
          </a:xfrm>
          <a:prstGeom prst="straightConnector1">
            <a:avLst/>
          </a:prstGeom>
          <a:noFill/>
          <a:ln w="31750" cap="flat" cmpd="sng">
            <a:solidFill>
              <a:srgbClr val="1B3A6B"/>
            </a:solidFill>
            <a:prstDash val="solid"/>
            <a:round/>
            <a:headEnd type="none" w="sm" len="sm"/>
            <a:tailEnd type="stealth" w="med" len="med"/>
          </a:ln>
        </p:spPr>
      </p:cxnSp>
      <p:sp>
        <p:nvSpPr>
          <p:cNvPr id="2366" name="Google Shape;2366;p55"/>
          <p:cNvSpPr/>
          <p:nvPr/>
        </p:nvSpPr>
        <p:spPr>
          <a:xfrm>
            <a:off x="4169664" y="2029968"/>
            <a:ext cx="841200" cy="329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B7280"/>
              </a:buClr>
              <a:buSzPts val="900"/>
              <a:buFont typeface="Calibri"/>
              <a:buNone/>
            </a:pPr>
            <a:r>
              <a:rPr lang="en" sz="900" b="0" i="1" u="none" strike="noStrike" cap="none">
                <a:solidFill>
                  <a:srgbClr val="6B7280"/>
                </a:solidFill>
                <a:latin typeface="Calibri"/>
                <a:ea typeface="Calibri"/>
                <a:cs typeface="Calibri"/>
                <a:sym typeface="Calibri"/>
              </a:rPr>
              <a:t>learn</a:t>
            </a:r>
            <a:endParaRPr sz="9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6B7280"/>
              </a:buClr>
              <a:buSzPts val="900"/>
              <a:buFont typeface="Calibri"/>
              <a:buNone/>
            </a:pPr>
            <a:r>
              <a:rPr lang="en" sz="900" b="0" i="1" u="none" strike="noStrike" cap="none">
                <a:solidFill>
                  <a:srgbClr val="6B7280"/>
                </a:solidFill>
                <a:latin typeface="Calibri"/>
                <a:ea typeface="Calibri"/>
                <a:cs typeface="Calibri"/>
                <a:sym typeface="Calibri"/>
              </a:rPr>
              <a:t>weights</a:t>
            </a:r>
            <a:endParaRPr sz="900" b="0" i="0" u="none" strike="noStrike" cap="none">
              <a:solidFill>
                <a:schemeClr val="dk1"/>
              </a:solidFill>
              <a:latin typeface="Calibri"/>
              <a:ea typeface="Calibri"/>
              <a:cs typeface="Calibri"/>
              <a:sym typeface="Calibri"/>
            </a:endParaRPr>
          </a:p>
        </p:txBody>
      </p:sp>
      <p:sp>
        <p:nvSpPr>
          <p:cNvPr id="2367" name="Google Shape;2367;p55"/>
          <p:cNvSpPr/>
          <p:nvPr/>
        </p:nvSpPr>
        <p:spPr>
          <a:xfrm>
            <a:off x="4956048" y="914400"/>
            <a:ext cx="38406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563EB"/>
              </a:buClr>
              <a:buSzPts val="1300"/>
              <a:buFont typeface="Calibri"/>
              <a:buNone/>
            </a:pPr>
            <a:r>
              <a:rPr lang="en" sz="1300" b="1" i="0" u="none" strike="noStrike" cap="none">
                <a:solidFill>
                  <a:srgbClr val="2563EB"/>
                </a:solidFill>
                <a:latin typeface="Calibri"/>
                <a:ea typeface="Calibri"/>
                <a:cs typeface="Calibri"/>
                <a:sym typeface="Calibri"/>
              </a:rPr>
              <a:t>DENSE (Word Embedding)</a:t>
            </a:r>
            <a:endParaRPr sz="1300" b="0" i="0" u="none" strike="noStrike" cap="none">
              <a:solidFill>
                <a:schemeClr val="dk1"/>
              </a:solidFill>
              <a:latin typeface="Calibri"/>
              <a:ea typeface="Calibri"/>
              <a:cs typeface="Calibri"/>
              <a:sym typeface="Calibri"/>
            </a:endParaRPr>
          </a:p>
        </p:txBody>
      </p:sp>
      <p:sp>
        <p:nvSpPr>
          <p:cNvPr id="2368" name="Google Shape;2368;p55"/>
          <p:cNvSpPr/>
          <p:nvPr/>
        </p:nvSpPr>
        <p:spPr>
          <a:xfrm>
            <a:off x="4956048" y="1243584"/>
            <a:ext cx="475500" cy="548700"/>
          </a:xfrm>
          <a:prstGeom prst="rect">
            <a:avLst/>
          </a:prstGeom>
          <a:solidFill>
            <a:srgbClr val="EFF6FF"/>
          </a:solidFill>
          <a:ln w="19050"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9" name="Google Shape;2369;p55"/>
          <p:cNvSpPr/>
          <p:nvPr/>
        </p:nvSpPr>
        <p:spPr>
          <a:xfrm>
            <a:off x="4956048" y="1243584"/>
            <a:ext cx="475500" cy="54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563EB"/>
              </a:buClr>
              <a:buSzPts val="950"/>
              <a:buFont typeface="Courier New"/>
              <a:buNone/>
            </a:pPr>
            <a:r>
              <a:rPr lang="en" sz="950" b="1" i="0" u="none" strike="noStrike" cap="none">
                <a:solidFill>
                  <a:srgbClr val="2563EB"/>
                </a:solidFill>
                <a:latin typeface="Courier New"/>
                <a:ea typeface="Courier New"/>
                <a:cs typeface="Courier New"/>
                <a:sym typeface="Courier New"/>
              </a:rPr>
              <a:t>0.32</a:t>
            </a:r>
            <a:endParaRPr sz="950" b="0" i="0" u="none" strike="noStrike" cap="none">
              <a:solidFill>
                <a:schemeClr val="dk1"/>
              </a:solidFill>
              <a:latin typeface="Calibri"/>
              <a:ea typeface="Calibri"/>
              <a:cs typeface="Calibri"/>
              <a:sym typeface="Calibri"/>
            </a:endParaRPr>
          </a:p>
        </p:txBody>
      </p:sp>
      <p:sp>
        <p:nvSpPr>
          <p:cNvPr id="2370" name="Google Shape;2370;p55"/>
          <p:cNvSpPr/>
          <p:nvPr/>
        </p:nvSpPr>
        <p:spPr>
          <a:xfrm>
            <a:off x="5468112" y="1243584"/>
            <a:ext cx="475500" cy="548700"/>
          </a:xfrm>
          <a:prstGeom prst="rect">
            <a:avLst/>
          </a:prstGeom>
          <a:solidFill>
            <a:srgbClr val="FEF2F2"/>
          </a:solidFill>
          <a:ln w="1905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1" name="Google Shape;2371;p55"/>
          <p:cNvSpPr/>
          <p:nvPr/>
        </p:nvSpPr>
        <p:spPr>
          <a:xfrm>
            <a:off x="5468112" y="1243584"/>
            <a:ext cx="475500" cy="54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DC2626"/>
              </a:buClr>
              <a:buSzPts val="950"/>
              <a:buFont typeface="Courier New"/>
              <a:buNone/>
            </a:pPr>
            <a:r>
              <a:rPr lang="en" sz="950" b="1" i="0" u="none" strike="noStrike" cap="none">
                <a:solidFill>
                  <a:srgbClr val="DC2626"/>
                </a:solidFill>
                <a:latin typeface="Courier New"/>
                <a:ea typeface="Courier New"/>
                <a:cs typeface="Courier New"/>
                <a:sym typeface="Courier New"/>
              </a:rPr>
              <a:t>-0.71</a:t>
            </a:r>
            <a:endParaRPr sz="950" b="0" i="0" u="none" strike="noStrike" cap="none">
              <a:solidFill>
                <a:schemeClr val="dk1"/>
              </a:solidFill>
              <a:latin typeface="Calibri"/>
              <a:ea typeface="Calibri"/>
              <a:cs typeface="Calibri"/>
              <a:sym typeface="Calibri"/>
            </a:endParaRPr>
          </a:p>
        </p:txBody>
      </p:sp>
      <p:sp>
        <p:nvSpPr>
          <p:cNvPr id="2372" name="Google Shape;2372;p55"/>
          <p:cNvSpPr/>
          <p:nvPr/>
        </p:nvSpPr>
        <p:spPr>
          <a:xfrm>
            <a:off x="5980176" y="1243584"/>
            <a:ext cx="475500" cy="548700"/>
          </a:xfrm>
          <a:prstGeom prst="rect">
            <a:avLst/>
          </a:prstGeom>
          <a:solidFill>
            <a:srgbClr val="EFF6FF"/>
          </a:solidFill>
          <a:ln w="1905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3" name="Google Shape;2373;p55"/>
          <p:cNvSpPr/>
          <p:nvPr/>
        </p:nvSpPr>
        <p:spPr>
          <a:xfrm>
            <a:off x="5980176" y="1243584"/>
            <a:ext cx="475500" cy="54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A34A"/>
              </a:buClr>
              <a:buSzPts val="950"/>
              <a:buFont typeface="Courier New"/>
              <a:buNone/>
            </a:pPr>
            <a:r>
              <a:rPr lang="en" sz="950" b="1" i="0" u="none" strike="noStrike" cap="none">
                <a:solidFill>
                  <a:srgbClr val="16A34A"/>
                </a:solidFill>
                <a:latin typeface="Courier New"/>
                <a:ea typeface="Courier New"/>
                <a:cs typeface="Courier New"/>
                <a:sym typeface="Courier New"/>
              </a:rPr>
              <a:t>0.15</a:t>
            </a:r>
            <a:endParaRPr sz="950" b="0" i="0" u="none" strike="noStrike" cap="none">
              <a:solidFill>
                <a:schemeClr val="dk1"/>
              </a:solidFill>
              <a:latin typeface="Calibri"/>
              <a:ea typeface="Calibri"/>
              <a:cs typeface="Calibri"/>
              <a:sym typeface="Calibri"/>
            </a:endParaRPr>
          </a:p>
        </p:txBody>
      </p:sp>
      <p:sp>
        <p:nvSpPr>
          <p:cNvPr id="2374" name="Google Shape;2374;p55"/>
          <p:cNvSpPr/>
          <p:nvPr/>
        </p:nvSpPr>
        <p:spPr>
          <a:xfrm>
            <a:off x="6492240" y="1243584"/>
            <a:ext cx="475500" cy="548700"/>
          </a:xfrm>
          <a:prstGeom prst="rect">
            <a:avLst/>
          </a:prstGeom>
          <a:solidFill>
            <a:srgbClr val="EFF6FF"/>
          </a:solidFill>
          <a:ln w="1905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5" name="Google Shape;2375;p55"/>
          <p:cNvSpPr/>
          <p:nvPr/>
        </p:nvSpPr>
        <p:spPr>
          <a:xfrm>
            <a:off x="6492240" y="1243584"/>
            <a:ext cx="475500" cy="54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C3AED"/>
              </a:buClr>
              <a:buSzPts val="950"/>
              <a:buFont typeface="Courier New"/>
              <a:buNone/>
            </a:pPr>
            <a:r>
              <a:rPr lang="en" sz="950" b="1" i="0" u="none" strike="noStrike" cap="none">
                <a:solidFill>
                  <a:srgbClr val="7C3AED"/>
                </a:solidFill>
                <a:latin typeface="Courier New"/>
                <a:ea typeface="Courier New"/>
                <a:cs typeface="Courier New"/>
                <a:sym typeface="Courier New"/>
              </a:rPr>
              <a:t>0.88</a:t>
            </a:r>
            <a:endParaRPr sz="950" b="0" i="0" u="none" strike="noStrike" cap="none">
              <a:solidFill>
                <a:schemeClr val="dk1"/>
              </a:solidFill>
              <a:latin typeface="Calibri"/>
              <a:ea typeface="Calibri"/>
              <a:cs typeface="Calibri"/>
              <a:sym typeface="Calibri"/>
            </a:endParaRPr>
          </a:p>
        </p:txBody>
      </p:sp>
      <p:sp>
        <p:nvSpPr>
          <p:cNvPr id="2376" name="Google Shape;2376;p55"/>
          <p:cNvSpPr/>
          <p:nvPr/>
        </p:nvSpPr>
        <p:spPr>
          <a:xfrm>
            <a:off x="7004304" y="1243584"/>
            <a:ext cx="475500" cy="548700"/>
          </a:xfrm>
          <a:prstGeom prst="rect">
            <a:avLst/>
          </a:prstGeom>
          <a:solidFill>
            <a:srgbClr val="FEF2F2"/>
          </a:solidFill>
          <a:ln w="1905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7" name="Google Shape;2377;p55"/>
          <p:cNvSpPr/>
          <p:nvPr/>
        </p:nvSpPr>
        <p:spPr>
          <a:xfrm>
            <a:off x="7004304" y="1243584"/>
            <a:ext cx="475500" cy="54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A580C"/>
              </a:buClr>
              <a:buSzPts val="950"/>
              <a:buFont typeface="Courier New"/>
              <a:buNone/>
            </a:pPr>
            <a:r>
              <a:rPr lang="en" sz="950" b="1" i="0" u="none" strike="noStrike" cap="none">
                <a:solidFill>
                  <a:srgbClr val="EA580C"/>
                </a:solidFill>
                <a:latin typeface="Courier New"/>
                <a:ea typeface="Courier New"/>
                <a:cs typeface="Courier New"/>
                <a:sym typeface="Courier New"/>
              </a:rPr>
              <a:t>-0.43</a:t>
            </a:r>
            <a:endParaRPr sz="950" b="0" i="0" u="none" strike="noStrike" cap="none">
              <a:solidFill>
                <a:schemeClr val="dk1"/>
              </a:solidFill>
              <a:latin typeface="Calibri"/>
              <a:ea typeface="Calibri"/>
              <a:cs typeface="Calibri"/>
              <a:sym typeface="Calibri"/>
            </a:endParaRPr>
          </a:p>
        </p:txBody>
      </p:sp>
      <p:sp>
        <p:nvSpPr>
          <p:cNvPr id="2378" name="Google Shape;2378;p55"/>
          <p:cNvSpPr/>
          <p:nvPr/>
        </p:nvSpPr>
        <p:spPr>
          <a:xfrm>
            <a:off x="7516368" y="1243584"/>
            <a:ext cx="475500" cy="548700"/>
          </a:xfrm>
          <a:prstGeom prst="rect">
            <a:avLst/>
          </a:prstGeom>
          <a:solidFill>
            <a:srgbClr val="EFF6FF"/>
          </a:solidFill>
          <a:ln w="1905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9" name="Google Shape;2379;p55"/>
          <p:cNvSpPr/>
          <p:nvPr/>
        </p:nvSpPr>
        <p:spPr>
          <a:xfrm>
            <a:off x="7516368" y="1243584"/>
            <a:ext cx="475500" cy="54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9488"/>
              </a:buClr>
              <a:buSzPts val="950"/>
              <a:buFont typeface="Courier New"/>
              <a:buNone/>
            </a:pPr>
            <a:r>
              <a:rPr lang="en" sz="950" b="1" i="0" u="none" strike="noStrike" cap="none">
                <a:solidFill>
                  <a:srgbClr val="0D9488"/>
                </a:solidFill>
                <a:latin typeface="Courier New"/>
                <a:ea typeface="Courier New"/>
                <a:cs typeface="Courier New"/>
                <a:sym typeface="Courier New"/>
              </a:rPr>
              <a:t>0.07</a:t>
            </a:r>
            <a:endParaRPr sz="950" b="0" i="0" u="none" strike="noStrike" cap="none">
              <a:solidFill>
                <a:schemeClr val="dk1"/>
              </a:solidFill>
              <a:latin typeface="Calibri"/>
              <a:ea typeface="Calibri"/>
              <a:cs typeface="Calibri"/>
              <a:sym typeface="Calibri"/>
            </a:endParaRPr>
          </a:p>
        </p:txBody>
      </p:sp>
      <p:sp>
        <p:nvSpPr>
          <p:cNvPr id="2380" name="Google Shape;2380;p55"/>
          <p:cNvSpPr/>
          <p:nvPr/>
        </p:nvSpPr>
        <p:spPr>
          <a:xfrm>
            <a:off x="8028432" y="1243584"/>
            <a:ext cx="475500" cy="548700"/>
          </a:xfrm>
          <a:prstGeom prst="rect">
            <a:avLst/>
          </a:prstGeom>
          <a:solidFill>
            <a:srgbClr val="EFF6FF"/>
          </a:solidFill>
          <a:ln w="1905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1" name="Google Shape;2381;p55"/>
          <p:cNvSpPr/>
          <p:nvPr/>
        </p:nvSpPr>
        <p:spPr>
          <a:xfrm>
            <a:off x="8028432" y="1243584"/>
            <a:ext cx="475500" cy="54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B3A6B"/>
              </a:buClr>
              <a:buSzPts val="950"/>
              <a:buFont typeface="Courier New"/>
              <a:buNone/>
            </a:pPr>
            <a:r>
              <a:rPr lang="en" sz="950" b="1" i="0" u="none" strike="noStrike" cap="none">
                <a:solidFill>
                  <a:srgbClr val="1B3A6B"/>
                </a:solidFill>
                <a:latin typeface="Courier New"/>
                <a:ea typeface="Courier New"/>
                <a:cs typeface="Courier New"/>
                <a:sym typeface="Courier New"/>
              </a:rPr>
              <a:t>0.61</a:t>
            </a:r>
            <a:endParaRPr sz="950" b="0" i="0" u="none" strike="noStrike" cap="none">
              <a:solidFill>
                <a:schemeClr val="dk1"/>
              </a:solidFill>
              <a:latin typeface="Calibri"/>
              <a:ea typeface="Calibri"/>
              <a:cs typeface="Calibri"/>
              <a:sym typeface="Calibri"/>
            </a:endParaRPr>
          </a:p>
        </p:txBody>
      </p:sp>
      <p:sp>
        <p:nvSpPr>
          <p:cNvPr id="2382" name="Google Shape;2382;p55"/>
          <p:cNvSpPr/>
          <p:nvPr/>
        </p:nvSpPr>
        <p:spPr>
          <a:xfrm>
            <a:off x="8540496" y="1243584"/>
            <a:ext cx="475500" cy="548700"/>
          </a:xfrm>
          <a:prstGeom prst="rect">
            <a:avLst/>
          </a:prstGeom>
          <a:solidFill>
            <a:srgbClr val="FEF2F2"/>
          </a:solidFill>
          <a:ln w="19050" cap="flat" cmpd="sng">
            <a:solidFill>
              <a:srgbClr val="D9770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3" name="Google Shape;2383;p55"/>
          <p:cNvSpPr/>
          <p:nvPr/>
        </p:nvSpPr>
        <p:spPr>
          <a:xfrm>
            <a:off x="8540496" y="1243584"/>
            <a:ext cx="475500" cy="54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D97706"/>
              </a:buClr>
              <a:buSzPts val="950"/>
              <a:buFont typeface="Courier New"/>
              <a:buNone/>
            </a:pPr>
            <a:r>
              <a:rPr lang="en" sz="950" b="1" i="0" u="none" strike="noStrike" cap="none">
                <a:solidFill>
                  <a:srgbClr val="D97706"/>
                </a:solidFill>
                <a:latin typeface="Courier New"/>
                <a:ea typeface="Courier New"/>
                <a:cs typeface="Courier New"/>
                <a:sym typeface="Courier New"/>
              </a:rPr>
              <a:t>-0.22</a:t>
            </a:r>
            <a:endParaRPr sz="950" b="0" i="0" u="none" strike="noStrike" cap="none">
              <a:solidFill>
                <a:schemeClr val="dk1"/>
              </a:solidFill>
              <a:latin typeface="Calibri"/>
              <a:ea typeface="Calibri"/>
              <a:cs typeface="Calibri"/>
              <a:sym typeface="Calibri"/>
            </a:endParaRPr>
          </a:p>
        </p:txBody>
      </p:sp>
      <p:sp>
        <p:nvSpPr>
          <p:cNvPr id="2384" name="Google Shape;2384;p55"/>
          <p:cNvSpPr/>
          <p:nvPr/>
        </p:nvSpPr>
        <p:spPr>
          <a:xfrm>
            <a:off x="4956048" y="1847088"/>
            <a:ext cx="38406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1000"/>
              <a:buFont typeface="Calibri"/>
              <a:buNone/>
            </a:pPr>
            <a:r>
              <a:rPr lang="en" sz="1000" b="0" i="1" u="none" strike="noStrike" cap="none">
                <a:solidFill>
                  <a:srgbClr val="6B7280"/>
                </a:solidFill>
                <a:latin typeface="Calibri"/>
                <a:ea typeface="Calibri"/>
                <a:cs typeface="Calibri"/>
                <a:sym typeface="Calibri"/>
              </a:rPr>
              <a:t>(300 dims — every value carries meaning)</a:t>
            </a:r>
            <a:endParaRPr sz="1000" b="0" i="0" u="none" strike="noStrike" cap="none">
              <a:solidFill>
                <a:schemeClr val="dk1"/>
              </a:solidFill>
              <a:latin typeface="Calibri"/>
              <a:ea typeface="Calibri"/>
              <a:cs typeface="Calibri"/>
              <a:sym typeface="Calibri"/>
            </a:endParaRPr>
          </a:p>
        </p:txBody>
      </p:sp>
      <p:sp>
        <p:nvSpPr>
          <p:cNvPr id="2385" name="Google Shape;2385;p55"/>
          <p:cNvSpPr/>
          <p:nvPr/>
        </p:nvSpPr>
        <p:spPr>
          <a:xfrm>
            <a:off x="4956048" y="2103120"/>
            <a:ext cx="38406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6A34A"/>
              </a:buClr>
              <a:buSzPts val="1200"/>
              <a:buFont typeface="Calibri"/>
              <a:buNone/>
            </a:pPr>
            <a:r>
              <a:rPr lang="en" sz="1200" b="0" i="0" u="none" strike="noStrike" cap="none">
                <a:solidFill>
                  <a:srgbClr val="16A34A"/>
                </a:solidFill>
                <a:latin typeface="Calibri"/>
                <a:ea typeface="Calibri"/>
                <a:cs typeface="Calibri"/>
                <a:sym typeface="Calibri"/>
              </a:rPr>
              <a:t>✓  All values active</a:t>
            </a:r>
            <a:endParaRPr sz="1200" b="0" i="0" u="none" strike="noStrike" cap="none">
              <a:solidFill>
                <a:schemeClr val="dk1"/>
              </a:solidFill>
              <a:latin typeface="Calibri"/>
              <a:ea typeface="Calibri"/>
              <a:cs typeface="Calibri"/>
              <a:sym typeface="Calibri"/>
            </a:endParaRPr>
          </a:p>
        </p:txBody>
      </p:sp>
      <p:sp>
        <p:nvSpPr>
          <p:cNvPr id="2386" name="Google Shape;2386;p55"/>
          <p:cNvSpPr/>
          <p:nvPr/>
        </p:nvSpPr>
        <p:spPr>
          <a:xfrm>
            <a:off x="4956048" y="2414016"/>
            <a:ext cx="38406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6A34A"/>
              </a:buClr>
              <a:buSzPts val="1200"/>
              <a:buFont typeface="Calibri"/>
              <a:buNone/>
            </a:pPr>
            <a:r>
              <a:rPr lang="en" sz="1200" b="0" i="0" u="none" strike="noStrike" cap="none">
                <a:solidFill>
                  <a:srgbClr val="16A34A"/>
                </a:solidFill>
                <a:latin typeface="Calibri"/>
                <a:ea typeface="Calibri"/>
                <a:cs typeface="Calibri"/>
                <a:sym typeface="Calibri"/>
              </a:rPr>
              <a:t>✓  Geometry = meaning</a:t>
            </a:r>
            <a:endParaRPr sz="1200" b="0" i="0" u="none" strike="noStrike" cap="none">
              <a:solidFill>
                <a:schemeClr val="dk1"/>
              </a:solidFill>
              <a:latin typeface="Calibri"/>
              <a:ea typeface="Calibri"/>
              <a:cs typeface="Calibri"/>
              <a:sym typeface="Calibri"/>
            </a:endParaRPr>
          </a:p>
        </p:txBody>
      </p:sp>
      <p:sp>
        <p:nvSpPr>
          <p:cNvPr id="2387" name="Google Shape;2387;p55"/>
          <p:cNvSpPr/>
          <p:nvPr/>
        </p:nvSpPr>
        <p:spPr>
          <a:xfrm>
            <a:off x="4956048" y="2724912"/>
            <a:ext cx="38406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6A34A"/>
              </a:buClr>
              <a:buSzPts val="1200"/>
              <a:buFont typeface="Calibri"/>
              <a:buNone/>
            </a:pPr>
            <a:r>
              <a:rPr lang="en" sz="1200" b="0" i="0" u="none" strike="noStrike" cap="none">
                <a:solidFill>
                  <a:srgbClr val="16A34A"/>
                </a:solidFill>
                <a:latin typeface="Calibri"/>
                <a:ea typeface="Calibri"/>
                <a:cs typeface="Calibri"/>
                <a:sym typeface="Calibri"/>
              </a:rPr>
              <a:t>✓  Compact &amp; fast</a:t>
            </a:r>
            <a:endParaRPr sz="1200" b="0" i="0" u="none" strike="noStrike" cap="none">
              <a:solidFill>
                <a:schemeClr val="dk1"/>
              </a:solidFill>
              <a:latin typeface="Calibri"/>
              <a:ea typeface="Calibri"/>
              <a:cs typeface="Calibri"/>
              <a:sym typeface="Calibri"/>
            </a:endParaRPr>
          </a:p>
        </p:txBody>
      </p:sp>
      <p:sp>
        <p:nvSpPr>
          <p:cNvPr id="2388" name="Google Shape;2388;p55"/>
          <p:cNvSpPr/>
          <p:nvPr/>
        </p:nvSpPr>
        <p:spPr>
          <a:xfrm>
            <a:off x="347472" y="3050128"/>
            <a:ext cx="8449200" cy="1741400"/>
          </a:xfrm>
          <a:prstGeom prst="rect">
            <a:avLst/>
          </a:prstGeom>
          <a:solidFill>
            <a:srgbClr val="EFF6FF"/>
          </a:solidFill>
          <a:ln w="12700" cap="flat" cmpd="sng">
            <a:solidFill>
              <a:srgbClr val="2563E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9" name="Google Shape;2389;p55"/>
          <p:cNvSpPr/>
          <p:nvPr/>
        </p:nvSpPr>
        <p:spPr>
          <a:xfrm>
            <a:off x="502920" y="3104992"/>
            <a:ext cx="45720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563EB"/>
              </a:buClr>
              <a:buSzPts val="1200"/>
              <a:buFont typeface="Calibri"/>
              <a:buNone/>
            </a:pPr>
            <a:r>
              <a:rPr lang="en" sz="1200" b="1" i="0" u="none" strike="noStrike" cap="none">
                <a:solidFill>
                  <a:srgbClr val="2563EB"/>
                </a:solidFill>
                <a:latin typeface="Calibri"/>
                <a:ea typeface="Calibri"/>
                <a:cs typeface="Calibri"/>
                <a:sym typeface="Calibri"/>
              </a:rPr>
              <a:t>Geometry encodes meaning — famous examples:</a:t>
            </a:r>
            <a:endParaRPr sz="1200" b="0" i="0" u="none" strike="noStrike" cap="none">
              <a:solidFill>
                <a:schemeClr val="dk1"/>
              </a:solidFill>
              <a:latin typeface="Calibri"/>
              <a:ea typeface="Calibri"/>
              <a:cs typeface="Calibri"/>
              <a:sym typeface="Calibri"/>
            </a:endParaRPr>
          </a:p>
        </p:txBody>
      </p:sp>
      <p:sp>
        <p:nvSpPr>
          <p:cNvPr id="2390" name="Google Shape;2390;p55"/>
          <p:cNvSpPr/>
          <p:nvPr/>
        </p:nvSpPr>
        <p:spPr>
          <a:xfrm>
            <a:off x="502920" y="3400892"/>
            <a:ext cx="8135160" cy="3000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334155"/>
              </a:buClr>
              <a:buSzPts val="750"/>
              <a:buFont typeface="Calibri"/>
              <a:buNone/>
            </a:pPr>
            <a:r>
              <a:rPr lang="en" sz="750" b="0" i="1" u="none" strike="noStrike" cap="none">
                <a:solidFill>
                  <a:srgbClr val="334155"/>
                </a:solidFill>
                <a:latin typeface="Calibri"/>
                <a:ea typeface="Calibri"/>
                <a:cs typeface="Calibri"/>
                <a:sym typeface="Calibri"/>
              </a:rPr>
              <a:t>How this works: no one hand-designs this arithmetic — training makes recurring relationships (gender, capital-of) become consistent offset directions in the space.</a:t>
            </a:r>
            <a:endParaRPr sz="750" b="0" i="1" u="none" strike="noStrike" cap="none">
              <a:solidFill>
                <a:schemeClr val="dk1"/>
              </a:solidFill>
              <a:latin typeface="Calibri"/>
              <a:ea typeface="Calibri"/>
              <a:cs typeface="Calibri"/>
              <a:sym typeface="Calibri"/>
            </a:endParaRPr>
          </a:p>
          <a:p>
            <a:pPr marL="0" marR="0" lvl="0" indent="0" algn="l" rtl="0">
              <a:lnSpc>
                <a:spcPct val="105000"/>
              </a:lnSpc>
              <a:spcBef>
                <a:spcPts val="30"/>
              </a:spcBef>
              <a:spcAft>
                <a:spcPts val="0"/>
              </a:spcAft>
              <a:buClr>
                <a:srgbClr val="334155"/>
              </a:buClr>
              <a:buSzPts val="750"/>
              <a:buFont typeface="Calibri"/>
              <a:buNone/>
            </a:pPr>
            <a:r>
              <a:rPr lang="en" sz="750" b="0" i="1" u="none" strike="noStrike" cap="none">
                <a:solidFill>
                  <a:srgbClr val="334155"/>
                </a:solidFill>
                <a:latin typeface="Calibri"/>
                <a:ea typeface="Calibri"/>
                <a:cs typeface="Calibri"/>
                <a:sym typeface="Calibri"/>
              </a:rPr>
              <a:t>So vec(king) + [vec(woman) − vec(man)] ≈ vec(queen), and vec(Paris) + [vec(Germany) − vec(France)] ≈ vec(Berlin); the nearest real word (by cosine similarity) is read off as the answer.</a:t>
            </a:r>
            <a:endParaRPr sz="750" b="0" i="1" u="none" strike="noStrike" cap="none">
              <a:solidFill>
                <a:schemeClr val="dk1"/>
              </a:solidFill>
              <a:latin typeface="Calibri"/>
              <a:ea typeface="Calibri"/>
              <a:cs typeface="Calibri"/>
              <a:sym typeface="Calibri"/>
            </a:endParaRPr>
          </a:p>
        </p:txBody>
      </p:sp>
      <p:sp>
        <p:nvSpPr>
          <p:cNvPr id="2391" name="Google Shape;2391;p55"/>
          <p:cNvSpPr/>
          <p:nvPr/>
        </p:nvSpPr>
        <p:spPr>
          <a:xfrm>
            <a:off x="475488" y="3675888"/>
            <a:ext cx="5120700" cy="292500"/>
          </a:xfrm>
          <a:prstGeom prst="roundRect">
            <a:avLst>
              <a:gd name="adj" fmla="val 25000"/>
            </a:avLst>
          </a:prstGeom>
          <a:solidFill>
            <a:srgbClr val="1E293B"/>
          </a:solidFill>
          <a:ln w="12700" cap="flat" cmpd="sng">
            <a:solidFill>
              <a:srgbClr val="33415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2" name="Google Shape;2392;p55"/>
          <p:cNvSpPr/>
          <p:nvPr/>
        </p:nvSpPr>
        <p:spPr>
          <a:xfrm>
            <a:off x="612648" y="3675888"/>
            <a:ext cx="49377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2E8F0"/>
              </a:buClr>
              <a:buSzPts val="1050"/>
              <a:buFont typeface="Courier New"/>
              <a:buNone/>
            </a:pPr>
            <a:r>
              <a:rPr lang="en" sz="1050" b="0" i="0" u="none" strike="noStrike" cap="none">
                <a:solidFill>
                  <a:srgbClr val="E2E8F0"/>
                </a:solidFill>
                <a:latin typeface="Courier New"/>
                <a:ea typeface="Courier New"/>
                <a:cs typeface="Courier New"/>
                <a:sym typeface="Courier New"/>
              </a:rPr>
              <a:t>vec("king") − vec("man") + vec("woman")</a:t>
            </a:r>
            <a:endParaRPr sz="1050" b="0" i="0" u="none" strike="noStrike" cap="none">
              <a:solidFill>
                <a:schemeClr val="dk1"/>
              </a:solidFill>
              <a:latin typeface="Calibri"/>
              <a:ea typeface="Calibri"/>
              <a:cs typeface="Calibri"/>
              <a:sym typeface="Calibri"/>
            </a:endParaRPr>
          </a:p>
        </p:txBody>
      </p:sp>
      <p:sp>
        <p:nvSpPr>
          <p:cNvPr id="2393" name="Google Shape;2393;p55"/>
          <p:cNvSpPr/>
          <p:nvPr/>
        </p:nvSpPr>
        <p:spPr>
          <a:xfrm>
            <a:off x="5650992" y="3675888"/>
            <a:ext cx="30174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7C3AED"/>
              </a:buClr>
              <a:buSzPts val="1150"/>
              <a:buFont typeface="Courier New"/>
              <a:buNone/>
            </a:pPr>
            <a:r>
              <a:rPr lang="en" sz="1150" b="1" i="0" u="none" strike="noStrike" cap="none">
                <a:solidFill>
                  <a:srgbClr val="7C3AED"/>
                </a:solidFill>
                <a:latin typeface="Courier New"/>
                <a:ea typeface="Courier New"/>
                <a:cs typeface="Courier New"/>
                <a:sym typeface="Courier New"/>
              </a:rPr>
              <a:t>≈ vec("queen")</a:t>
            </a:r>
            <a:endParaRPr sz="1150" b="0" i="0" u="none" strike="noStrike" cap="none">
              <a:solidFill>
                <a:schemeClr val="dk1"/>
              </a:solidFill>
              <a:latin typeface="Calibri"/>
              <a:ea typeface="Calibri"/>
              <a:cs typeface="Calibri"/>
              <a:sym typeface="Calibri"/>
            </a:endParaRPr>
          </a:p>
        </p:txBody>
      </p:sp>
      <p:sp>
        <p:nvSpPr>
          <p:cNvPr id="2394" name="Google Shape;2394;p55"/>
          <p:cNvSpPr/>
          <p:nvPr/>
        </p:nvSpPr>
        <p:spPr>
          <a:xfrm>
            <a:off x="475488" y="4023360"/>
            <a:ext cx="5120700" cy="292500"/>
          </a:xfrm>
          <a:prstGeom prst="roundRect">
            <a:avLst>
              <a:gd name="adj" fmla="val 25000"/>
            </a:avLst>
          </a:prstGeom>
          <a:solidFill>
            <a:srgbClr val="1E293B"/>
          </a:solidFill>
          <a:ln w="12700" cap="flat" cmpd="sng">
            <a:solidFill>
              <a:srgbClr val="33415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5" name="Google Shape;2395;p55"/>
          <p:cNvSpPr/>
          <p:nvPr/>
        </p:nvSpPr>
        <p:spPr>
          <a:xfrm>
            <a:off x="612648" y="4023360"/>
            <a:ext cx="49377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2E8F0"/>
              </a:buClr>
              <a:buSzPts val="1050"/>
              <a:buFont typeface="Courier New"/>
              <a:buNone/>
            </a:pPr>
            <a:r>
              <a:rPr lang="en" sz="1050" b="0" i="0" u="none" strike="noStrike" cap="none">
                <a:solidFill>
                  <a:srgbClr val="E2E8F0"/>
                </a:solidFill>
                <a:latin typeface="Courier New"/>
                <a:ea typeface="Courier New"/>
                <a:cs typeface="Courier New"/>
                <a:sym typeface="Courier New"/>
              </a:rPr>
              <a:t>vec("Paris") − vec("France") + vec("Germany")</a:t>
            </a:r>
            <a:endParaRPr sz="1050" b="0" i="0" u="none" strike="noStrike" cap="none">
              <a:solidFill>
                <a:schemeClr val="dk1"/>
              </a:solidFill>
              <a:latin typeface="Calibri"/>
              <a:ea typeface="Calibri"/>
              <a:cs typeface="Calibri"/>
              <a:sym typeface="Calibri"/>
            </a:endParaRPr>
          </a:p>
        </p:txBody>
      </p:sp>
      <p:sp>
        <p:nvSpPr>
          <p:cNvPr id="2396" name="Google Shape;2396;p55"/>
          <p:cNvSpPr/>
          <p:nvPr/>
        </p:nvSpPr>
        <p:spPr>
          <a:xfrm>
            <a:off x="5650992" y="4023360"/>
            <a:ext cx="30174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9488"/>
              </a:buClr>
              <a:buSzPts val="1150"/>
              <a:buFont typeface="Courier New"/>
              <a:buNone/>
            </a:pPr>
            <a:r>
              <a:rPr lang="en" sz="1150" b="1" i="0" u="none" strike="noStrike" cap="none">
                <a:solidFill>
                  <a:srgbClr val="0D9488"/>
                </a:solidFill>
                <a:latin typeface="Courier New"/>
                <a:ea typeface="Courier New"/>
                <a:cs typeface="Courier New"/>
                <a:sym typeface="Courier New"/>
              </a:rPr>
              <a:t>≈ vec("Berlin")</a:t>
            </a:r>
            <a:endParaRPr sz="1150" b="0" i="0" u="none" strike="noStrike" cap="none">
              <a:solidFill>
                <a:schemeClr val="dk1"/>
              </a:solidFill>
              <a:latin typeface="Calibri"/>
              <a:ea typeface="Calibri"/>
              <a:cs typeface="Calibri"/>
              <a:sym typeface="Calibri"/>
            </a:endParaRPr>
          </a:p>
        </p:txBody>
      </p:sp>
      <p:sp>
        <p:nvSpPr>
          <p:cNvPr id="2397" name="Google Shape;2397;p55"/>
          <p:cNvSpPr/>
          <p:nvPr/>
        </p:nvSpPr>
        <p:spPr>
          <a:xfrm>
            <a:off x="475488" y="4370832"/>
            <a:ext cx="5120700" cy="292500"/>
          </a:xfrm>
          <a:prstGeom prst="roundRect">
            <a:avLst>
              <a:gd name="adj" fmla="val 25000"/>
            </a:avLst>
          </a:prstGeom>
          <a:solidFill>
            <a:srgbClr val="1E293B"/>
          </a:solidFill>
          <a:ln w="12700" cap="flat" cmpd="sng">
            <a:solidFill>
              <a:srgbClr val="33415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8" name="Google Shape;2398;p55"/>
          <p:cNvSpPr/>
          <p:nvPr/>
        </p:nvSpPr>
        <p:spPr>
          <a:xfrm>
            <a:off x="612648" y="4370832"/>
            <a:ext cx="49377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E2E8F0"/>
              </a:buClr>
              <a:buSzPts val="1050"/>
              <a:buFont typeface="Courier New"/>
              <a:buNone/>
            </a:pPr>
            <a:r>
              <a:rPr lang="en" sz="1050" b="0" i="0" u="none" strike="noStrike" cap="none">
                <a:solidFill>
                  <a:srgbClr val="E2E8F0"/>
                </a:solidFill>
                <a:latin typeface="Courier New"/>
                <a:ea typeface="Courier New"/>
                <a:cs typeface="Courier New"/>
                <a:sym typeface="Courier New"/>
              </a:rPr>
              <a:t>cosine( vec("cat"), vec("kitten") )</a:t>
            </a:r>
            <a:endParaRPr sz="1050" b="0" i="0" u="none" strike="noStrike" cap="none">
              <a:solidFill>
                <a:schemeClr val="dk1"/>
              </a:solidFill>
              <a:latin typeface="Calibri"/>
              <a:ea typeface="Calibri"/>
              <a:cs typeface="Calibri"/>
              <a:sym typeface="Calibri"/>
            </a:endParaRPr>
          </a:p>
        </p:txBody>
      </p:sp>
      <p:sp>
        <p:nvSpPr>
          <p:cNvPr id="2399" name="Google Shape;2399;p55"/>
          <p:cNvSpPr/>
          <p:nvPr/>
        </p:nvSpPr>
        <p:spPr>
          <a:xfrm>
            <a:off x="5650992" y="4370832"/>
            <a:ext cx="30174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6A34A"/>
              </a:buClr>
              <a:buSzPts val="1150"/>
              <a:buFont typeface="Courier New"/>
              <a:buNone/>
            </a:pPr>
            <a:r>
              <a:rPr lang="en" sz="1150" b="1" i="0" u="none" strike="noStrike" cap="none">
                <a:solidFill>
                  <a:srgbClr val="16A34A"/>
                </a:solidFill>
                <a:latin typeface="Courier New"/>
                <a:ea typeface="Courier New"/>
                <a:cs typeface="Courier New"/>
                <a:sym typeface="Courier New"/>
              </a:rPr>
              <a:t>≈ 0.92  ✓</a:t>
            </a:r>
            <a:endParaRPr sz="1150" b="0" i="0" u="none" strike="noStrike" cap="none">
              <a:solidFill>
                <a:schemeClr val="dk1"/>
              </a:solidFill>
              <a:latin typeface="Calibri"/>
              <a:ea typeface="Calibri"/>
              <a:cs typeface="Calibri"/>
              <a:sym typeface="Calibri"/>
            </a:endParaRPr>
          </a:p>
        </p:txBody>
      </p:sp>
      <p:sp>
        <p:nvSpPr>
          <p:cNvPr id="2400" name="Google Shape;2400;p55"/>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73</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Shape 2405"/>
        <p:cNvGrpSpPr/>
        <p:nvPr/>
      </p:nvGrpSpPr>
      <p:grpSpPr>
        <a:xfrm>
          <a:off x="0" y="0"/>
          <a:ext cx="0" cy="0"/>
          <a:chOff x="0" y="0"/>
          <a:chExt cx="0" cy="0"/>
        </a:xfrm>
      </p:grpSpPr>
      <p:sp>
        <p:nvSpPr>
          <p:cNvPr id="2406" name="Google Shape;2406;p56"/>
          <p:cNvSpPr/>
          <p:nvPr/>
        </p:nvSpPr>
        <p:spPr>
          <a:xfrm>
            <a:off x="0" y="0"/>
            <a:ext cx="9144000" cy="639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7" name="Google Shape;2407;p56"/>
          <p:cNvSpPr/>
          <p:nvPr/>
        </p:nvSpPr>
        <p:spPr>
          <a:xfrm>
            <a:off x="347472" y="164592"/>
            <a:ext cx="63900" cy="5121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8" name="Google Shape;2408;p56"/>
          <p:cNvSpPr/>
          <p:nvPr/>
        </p:nvSpPr>
        <p:spPr>
          <a:xfrm>
            <a:off x="521208" y="146304"/>
            <a:ext cx="8229600" cy="548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9488"/>
              </a:buClr>
              <a:buSzPts val="2600"/>
              <a:buFont typeface="Calibri"/>
              <a:buNone/>
            </a:pPr>
            <a:r>
              <a:rPr lang="en" sz="2600" b="1" i="0" u="none" strike="noStrike" cap="none">
                <a:solidFill>
                  <a:srgbClr val="0D9488"/>
                </a:solidFill>
                <a:latin typeface="Calibri"/>
                <a:ea typeface="Calibri"/>
                <a:cs typeface="Calibri"/>
                <a:sym typeface="Calibri"/>
              </a:rPr>
              <a:t>Feature Learning through Embeddings</a:t>
            </a:r>
            <a:endParaRPr sz="2600" b="0" i="0" u="none" strike="noStrike" cap="none">
              <a:solidFill>
                <a:schemeClr val="dk1"/>
              </a:solidFill>
              <a:latin typeface="Calibri"/>
              <a:ea typeface="Calibri"/>
              <a:cs typeface="Calibri"/>
              <a:sym typeface="Calibri"/>
            </a:endParaRPr>
          </a:p>
        </p:txBody>
      </p:sp>
      <p:cxnSp>
        <p:nvCxnSpPr>
          <p:cNvPr id="2409" name="Google Shape;2409;p56"/>
          <p:cNvCxnSpPr/>
          <p:nvPr/>
        </p:nvCxnSpPr>
        <p:spPr>
          <a:xfrm>
            <a:off x="347472" y="713232"/>
            <a:ext cx="8449200" cy="0"/>
          </a:xfrm>
          <a:prstGeom prst="straightConnector1">
            <a:avLst/>
          </a:prstGeom>
          <a:noFill/>
          <a:ln w="15225" cap="flat" cmpd="sng">
            <a:solidFill>
              <a:srgbClr val="0D9488"/>
            </a:solidFill>
            <a:prstDash val="solid"/>
            <a:round/>
            <a:headEnd type="none" w="sm" len="sm"/>
            <a:tailEnd type="none" w="sm" len="sm"/>
          </a:ln>
        </p:spPr>
      </p:cxnSp>
      <p:sp>
        <p:nvSpPr>
          <p:cNvPr id="2410" name="Google Shape;2410;p56"/>
          <p:cNvSpPr/>
          <p:nvPr/>
        </p:nvSpPr>
        <p:spPr>
          <a:xfrm>
            <a:off x="347472" y="749808"/>
            <a:ext cx="84492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280"/>
              </a:buClr>
              <a:buSzPts val="1200"/>
              <a:buFont typeface="Calibri"/>
              <a:buNone/>
            </a:pPr>
            <a:r>
              <a:rPr lang="en" sz="1200" b="0" i="1" u="none" strike="noStrike" cap="none">
                <a:solidFill>
                  <a:srgbClr val="6B7280"/>
                </a:solidFill>
                <a:latin typeface="Calibri"/>
                <a:ea typeface="Calibri"/>
                <a:cs typeface="Calibri"/>
                <a:sym typeface="Calibri"/>
              </a:rPr>
              <a:t>The embedding model learns dense vectors from raw data — no hand-crafting required.</a:t>
            </a:r>
            <a:endParaRPr sz="1200" b="0" i="0" u="none" strike="noStrike" cap="none">
              <a:solidFill>
                <a:schemeClr val="dk1"/>
              </a:solidFill>
              <a:latin typeface="Calibri"/>
              <a:ea typeface="Calibri"/>
              <a:cs typeface="Calibri"/>
              <a:sym typeface="Calibri"/>
            </a:endParaRPr>
          </a:p>
        </p:txBody>
      </p:sp>
      <p:sp>
        <p:nvSpPr>
          <p:cNvPr id="2411" name="Google Shape;2411;p56"/>
          <p:cNvSpPr/>
          <p:nvPr/>
        </p:nvSpPr>
        <p:spPr>
          <a:xfrm>
            <a:off x="347472" y="914400"/>
            <a:ext cx="1920300" cy="255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9488"/>
              </a:buClr>
              <a:buSzPts val="1200"/>
              <a:buFont typeface="Calibri"/>
              <a:buNone/>
            </a:pPr>
            <a:r>
              <a:rPr lang="en" sz="1200" b="1" i="0" u="none" strike="noStrike" cap="none">
                <a:solidFill>
                  <a:srgbClr val="0D9488"/>
                </a:solidFill>
                <a:latin typeface="Calibri"/>
                <a:ea typeface="Calibri"/>
                <a:cs typeface="Calibri"/>
                <a:sym typeface="Calibri"/>
              </a:rPr>
              <a:t>Any Objects</a:t>
            </a:r>
            <a:endParaRPr sz="1200" b="0" i="0" u="none" strike="noStrike" cap="none">
              <a:solidFill>
                <a:schemeClr val="dk1"/>
              </a:solidFill>
              <a:latin typeface="Calibri"/>
              <a:ea typeface="Calibri"/>
              <a:cs typeface="Calibri"/>
              <a:sym typeface="Calibri"/>
            </a:endParaRPr>
          </a:p>
        </p:txBody>
      </p:sp>
      <p:sp>
        <p:nvSpPr>
          <p:cNvPr id="2412" name="Google Shape;2412;p56"/>
          <p:cNvSpPr/>
          <p:nvPr/>
        </p:nvSpPr>
        <p:spPr>
          <a:xfrm>
            <a:off x="347472" y="1225296"/>
            <a:ext cx="1920300" cy="658500"/>
          </a:xfrm>
          <a:prstGeom prst="rect">
            <a:avLst/>
          </a:prstGeom>
          <a:solidFill>
            <a:srgbClr val="FFFFFF"/>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3" name="Google Shape;2413;p56"/>
          <p:cNvSpPr/>
          <p:nvPr/>
        </p:nvSpPr>
        <p:spPr>
          <a:xfrm>
            <a:off x="457200" y="1225296"/>
            <a:ext cx="17373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827"/>
              </a:buClr>
              <a:buSzPts val="1100"/>
              <a:buFont typeface="Calibri"/>
              <a:buNone/>
            </a:pPr>
            <a:r>
              <a:rPr lang="en" sz="1100" b="0" i="0" u="none" strike="noStrike" cap="none">
                <a:solidFill>
                  <a:srgbClr val="111827"/>
                </a:solidFill>
                <a:latin typeface="Calibri"/>
                <a:ea typeface="Calibri"/>
                <a:cs typeface="Calibri"/>
                <a:sym typeface="Calibri"/>
              </a:rPr>
              <a:t>📝  word: "cat"</a:t>
            </a:r>
            <a:endParaRPr sz="1100" b="0" i="0" u="none" strike="noStrike" cap="none">
              <a:solidFill>
                <a:schemeClr val="dk1"/>
              </a:solidFill>
              <a:latin typeface="Calibri"/>
              <a:ea typeface="Calibri"/>
              <a:cs typeface="Calibri"/>
              <a:sym typeface="Calibri"/>
            </a:endParaRPr>
          </a:p>
        </p:txBody>
      </p:sp>
      <p:cxnSp>
        <p:nvCxnSpPr>
          <p:cNvPr id="2414" name="Google Shape;2414;p56"/>
          <p:cNvCxnSpPr/>
          <p:nvPr/>
        </p:nvCxnSpPr>
        <p:spPr>
          <a:xfrm>
            <a:off x="2286000" y="1554480"/>
            <a:ext cx="384000" cy="0"/>
          </a:xfrm>
          <a:prstGeom prst="straightConnector1">
            <a:avLst/>
          </a:prstGeom>
          <a:noFill/>
          <a:ln w="19050" cap="flat" cmpd="sng">
            <a:solidFill>
              <a:srgbClr val="0D9488"/>
            </a:solidFill>
            <a:prstDash val="solid"/>
            <a:round/>
            <a:headEnd type="none" w="sm" len="sm"/>
            <a:tailEnd type="stealth" w="med" len="med"/>
          </a:ln>
        </p:spPr>
      </p:cxnSp>
      <p:sp>
        <p:nvSpPr>
          <p:cNvPr id="2415" name="Google Shape;2415;p56"/>
          <p:cNvSpPr/>
          <p:nvPr/>
        </p:nvSpPr>
        <p:spPr>
          <a:xfrm>
            <a:off x="347472" y="1993392"/>
            <a:ext cx="1920300" cy="658500"/>
          </a:xfrm>
          <a:prstGeom prst="rect">
            <a:avLst/>
          </a:prstGeom>
          <a:solidFill>
            <a:srgbClr val="FFFFFF"/>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6" name="Google Shape;2416;p56"/>
          <p:cNvSpPr/>
          <p:nvPr/>
        </p:nvSpPr>
        <p:spPr>
          <a:xfrm>
            <a:off x="457200" y="1993392"/>
            <a:ext cx="17373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827"/>
              </a:buClr>
              <a:buSzPts val="1100"/>
              <a:buFont typeface="Calibri"/>
              <a:buNone/>
            </a:pPr>
            <a:r>
              <a:rPr lang="en" sz="1100" b="0" i="0" u="none" strike="noStrike" cap="none">
                <a:solidFill>
                  <a:srgbClr val="111827"/>
                </a:solidFill>
                <a:latin typeface="Calibri"/>
                <a:ea typeface="Calibri"/>
                <a:cs typeface="Calibri"/>
                <a:sym typeface="Calibri"/>
              </a:rPr>
              <a:t>📄  sentence</a:t>
            </a:r>
            <a:endParaRPr sz="1100" b="0" i="0" u="none" strike="noStrike" cap="none">
              <a:solidFill>
                <a:schemeClr val="dk1"/>
              </a:solidFill>
              <a:latin typeface="Calibri"/>
              <a:ea typeface="Calibri"/>
              <a:cs typeface="Calibri"/>
              <a:sym typeface="Calibri"/>
            </a:endParaRPr>
          </a:p>
        </p:txBody>
      </p:sp>
      <p:cxnSp>
        <p:nvCxnSpPr>
          <p:cNvPr id="2417" name="Google Shape;2417;p56"/>
          <p:cNvCxnSpPr/>
          <p:nvPr/>
        </p:nvCxnSpPr>
        <p:spPr>
          <a:xfrm>
            <a:off x="2286000" y="2322576"/>
            <a:ext cx="384000" cy="0"/>
          </a:xfrm>
          <a:prstGeom prst="straightConnector1">
            <a:avLst/>
          </a:prstGeom>
          <a:noFill/>
          <a:ln w="19050" cap="flat" cmpd="sng">
            <a:solidFill>
              <a:srgbClr val="0D9488"/>
            </a:solidFill>
            <a:prstDash val="solid"/>
            <a:round/>
            <a:headEnd type="none" w="sm" len="sm"/>
            <a:tailEnd type="stealth" w="med" len="med"/>
          </a:ln>
        </p:spPr>
      </p:cxnSp>
      <p:sp>
        <p:nvSpPr>
          <p:cNvPr id="2418" name="Google Shape;2418;p56"/>
          <p:cNvSpPr/>
          <p:nvPr/>
        </p:nvSpPr>
        <p:spPr>
          <a:xfrm>
            <a:off x="347472" y="2761488"/>
            <a:ext cx="1920300" cy="658500"/>
          </a:xfrm>
          <a:prstGeom prst="rect">
            <a:avLst/>
          </a:prstGeom>
          <a:solidFill>
            <a:srgbClr val="FFFFFF"/>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9" name="Google Shape;2419;p56"/>
          <p:cNvSpPr/>
          <p:nvPr/>
        </p:nvSpPr>
        <p:spPr>
          <a:xfrm>
            <a:off x="457200" y="2761488"/>
            <a:ext cx="17373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827"/>
              </a:buClr>
              <a:buSzPts val="1100"/>
              <a:buFont typeface="Calibri"/>
              <a:buNone/>
            </a:pPr>
            <a:r>
              <a:rPr lang="en" sz="1100" b="0" i="0" u="none" strike="noStrike" cap="none">
                <a:solidFill>
                  <a:srgbClr val="111827"/>
                </a:solidFill>
                <a:latin typeface="Calibri"/>
                <a:ea typeface="Calibri"/>
                <a:cs typeface="Calibri"/>
                <a:sym typeface="Calibri"/>
              </a:rPr>
              <a:t>🖼️  image</a:t>
            </a:r>
            <a:endParaRPr sz="1100" b="0" i="0" u="none" strike="noStrike" cap="none">
              <a:solidFill>
                <a:schemeClr val="dk1"/>
              </a:solidFill>
              <a:latin typeface="Calibri"/>
              <a:ea typeface="Calibri"/>
              <a:cs typeface="Calibri"/>
              <a:sym typeface="Calibri"/>
            </a:endParaRPr>
          </a:p>
        </p:txBody>
      </p:sp>
      <p:cxnSp>
        <p:nvCxnSpPr>
          <p:cNvPr id="2420" name="Google Shape;2420;p56"/>
          <p:cNvCxnSpPr/>
          <p:nvPr/>
        </p:nvCxnSpPr>
        <p:spPr>
          <a:xfrm>
            <a:off x="2286000" y="3090672"/>
            <a:ext cx="384000" cy="0"/>
          </a:xfrm>
          <a:prstGeom prst="straightConnector1">
            <a:avLst/>
          </a:prstGeom>
          <a:noFill/>
          <a:ln w="19050" cap="flat" cmpd="sng">
            <a:solidFill>
              <a:srgbClr val="0D9488"/>
            </a:solidFill>
            <a:prstDash val="solid"/>
            <a:round/>
            <a:headEnd type="none" w="sm" len="sm"/>
            <a:tailEnd type="stealth" w="med" len="med"/>
          </a:ln>
        </p:spPr>
      </p:cxnSp>
      <p:sp>
        <p:nvSpPr>
          <p:cNvPr id="2421" name="Google Shape;2421;p56"/>
          <p:cNvSpPr/>
          <p:nvPr/>
        </p:nvSpPr>
        <p:spPr>
          <a:xfrm>
            <a:off x="347472" y="3529584"/>
            <a:ext cx="1920300" cy="658500"/>
          </a:xfrm>
          <a:prstGeom prst="rect">
            <a:avLst/>
          </a:prstGeom>
          <a:solidFill>
            <a:srgbClr val="FFFFFF"/>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2" name="Google Shape;2422;p56"/>
          <p:cNvSpPr/>
          <p:nvPr/>
        </p:nvSpPr>
        <p:spPr>
          <a:xfrm>
            <a:off x="457200" y="3529584"/>
            <a:ext cx="1737300" cy="658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827"/>
              </a:buClr>
              <a:buSzPts val="1100"/>
              <a:buFont typeface="Calibri"/>
              <a:buNone/>
            </a:pPr>
            <a:r>
              <a:rPr lang="en" sz="1100" b="0" i="0" u="none" strike="noStrike" cap="none">
                <a:solidFill>
                  <a:srgbClr val="111827"/>
                </a:solidFill>
                <a:latin typeface="Calibri"/>
                <a:ea typeface="Calibri"/>
                <a:cs typeface="Calibri"/>
                <a:sym typeface="Calibri"/>
              </a:rPr>
              <a:t>👤  user profile</a:t>
            </a:r>
            <a:endParaRPr sz="1100" b="0" i="0" u="none" strike="noStrike" cap="none">
              <a:solidFill>
                <a:schemeClr val="dk1"/>
              </a:solidFill>
              <a:latin typeface="Calibri"/>
              <a:ea typeface="Calibri"/>
              <a:cs typeface="Calibri"/>
              <a:sym typeface="Calibri"/>
            </a:endParaRPr>
          </a:p>
        </p:txBody>
      </p:sp>
      <p:cxnSp>
        <p:nvCxnSpPr>
          <p:cNvPr id="2423" name="Google Shape;2423;p56"/>
          <p:cNvCxnSpPr/>
          <p:nvPr/>
        </p:nvCxnSpPr>
        <p:spPr>
          <a:xfrm>
            <a:off x="2286000" y="3858768"/>
            <a:ext cx="384000" cy="0"/>
          </a:xfrm>
          <a:prstGeom prst="straightConnector1">
            <a:avLst/>
          </a:prstGeom>
          <a:noFill/>
          <a:ln w="19050" cap="flat" cmpd="sng">
            <a:solidFill>
              <a:srgbClr val="0D9488"/>
            </a:solidFill>
            <a:prstDash val="solid"/>
            <a:round/>
            <a:headEnd type="none" w="sm" len="sm"/>
            <a:tailEnd type="stealth" w="med" len="med"/>
          </a:ln>
        </p:spPr>
      </p:cxnSp>
      <p:sp>
        <p:nvSpPr>
          <p:cNvPr id="2424" name="Google Shape;2424;p56"/>
          <p:cNvSpPr/>
          <p:nvPr/>
        </p:nvSpPr>
        <p:spPr>
          <a:xfrm>
            <a:off x="2688336" y="1664208"/>
            <a:ext cx="2011800" cy="1645800"/>
          </a:xfrm>
          <a:prstGeom prst="rect">
            <a:avLst/>
          </a:prstGeom>
          <a:solidFill>
            <a:srgbClr val="1B3A6B"/>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5" name="Google Shape;2425;p56"/>
          <p:cNvSpPr/>
          <p:nvPr/>
        </p:nvSpPr>
        <p:spPr>
          <a:xfrm>
            <a:off x="2688336" y="1664208"/>
            <a:ext cx="2011800"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 sz="1600" b="1" i="0" u="none" strike="noStrike" cap="none">
                <a:solidFill>
                  <a:srgbClr val="FFFFFF"/>
                </a:solidFill>
                <a:latin typeface="Calibri"/>
                <a:ea typeface="Calibri"/>
                <a:cs typeface="Calibri"/>
                <a:sym typeface="Calibri"/>
              </a:rPr>
              <a:t>Embedding</a:t>
            </a:r>
            <a:endParaRPr sz="16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1600"/>
              <a:buFont typeface="Calibri"/>
              <a:buNone/>
            </a:pPr>
            <a:r>
              <a:rPr lang="en" sz="1600" b="1" i="0" u="none" strike="noStrike" cap="none">
                <a:solidFill>
                  <a:srgbClr val="FFFFFF"/>
                </a:solidFill>
                <a:latin typeface="Calibri"/>
                <a:ea typeface="Calibri"/>
                <a:cs typeface="Calibri"/>
                <a:sym typeface="Calibri"/>
              </a:rPr>
              <a:t>Model</a:t>
            </a:r>
            <a:endParaRPr sz="1600" b="0" i="0" u="none" strike="noStrike" cap="none">
              <a:solidFill>
                <a:schemeClr val="dk1"/>
              </a:solidFill>
              <a:latin typeface="Calibri"/>
              <a:ea typeface="Calibri"/>
              <a:cs typeface="Calibri"/>
              <a:sym typeface="Calibri"/>
            </a:endParaRPr>
          </a:p>
        </p:txBody>
      </p:sp>
      <p:sp>
        <p:nvSpPr>
          <p:cNvPr id="2426" name="Google Shape;2426;p56"/>
          <p:cNvSpPr/>
          <p:nvPr/>
        </p:nvSpPr>
        <p:spPr>
          <a:xfrm>
            <a:off x="2688336" y="2578608"/>
            <a:ext cx="2011800" cy="731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3C5FD"/>
              </a:buClr>
              <a:buSzPts val="1000"/>
              <a:buFont typeface="Calibri"/>
              <a:buNone/>
            </a:pPr>
            <a:r>
              <a:rPr lang="en" sz="1000" b="0" i="0" u="none" strike="noStrike" cap="none">
                <a:solidFill>
                  <a:srgbClr val="93C5FD"/>
                </a:solidFill>
                <a:latin typeface="Calibri"/>
                <a:ea typeface="Calibri"/>
                <a:cs typeface="Calibri"/>
                <a:sym typeface="Calibri"/>
              </a:rPr>
              <a:t>(Word2Vec, GloVe,</a:t>
            </a:r>
            <a:endParaRPr sz="10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93C5FD"/>
              </a:buClr>
              <a:buSzPts val="1000"/>
              <a:buFont typeface="Calibri"/>
              <a:buNone/>
            </a:pPr>
            <a:r>
              <a:rPr lang="en" sz="1000" b="0" i="0" u="none" strike="noStrike" cap="none">
                <a:solidFill>
                  <a:srgbClr val="93C5FD"/>
                </a:solidFill>
                <a:latin typeface="Calibri"/>
                <a:ea typeface="Calibri"/>
                <a:cs typeface="Calibri"/>
                <a:sym typeface="Calibri"/>
              </a:rPr>
              <a:t>BERT, GPT…)</a:t>
            </a:r>
            <a:endParaRPr sz="1000" b="0" i="0" u="none" strike="noStrike" cap="none">
              <a:solidFill>
                <a:schemeClr val="dk1"/>
              </a:solidFill>
              <a:latin typeface="Calibri"/>
              <a:ea typeface="Calibri"/>
              <a:cs typeface="Calibri"/>
              <a:sym typeface="Calibri"/>
            </a:endParaRPr>
          </a:p>
        </p:txBody>
      </p:sp>
      <p:cxnSp>
        <p:nvCxnSpPr>
          <p:cNvPr id="2427" name="Google Shape;2427;p56"/>
          <p:cNvCxnSpPr/>
          <p:nvPr/>
        </p:nvCxnSpPr>
        <p:spPr>
          <a:xfrm>
            <a:off x="4718304" y="2487168"/>
            <a:ext cx="384000" cy="0"/>
          </a:xfrm>
          <a:prstGeom prst="straightConnector1">
            <a:avLst/>
          </a:prstGeom>
          <a:noFill/>
          <a:ln w="31750" cap="flat" cmpd="sng">
            <a:solidFill>
              <a:srgbClr val="0D9488"/>
            </a:solidFill>
            <a:prstDash val="solid"/>
            <a:round/>
            <a:headEnd type="none" w="sm" len="sm"/>
            <a:tailEnd type="stealth" w="med" len="med"/>
          </a:ln>
        </p:spPr>
      </p:cxnSp>
      <p:sp>
        <p:nvSpPr>
          <p:cNvPr id="2428" name="Google Shape;2428;p56"/>
          <p:cNvSpPr/>
          <p:nvPr/>
        </p:nvSpPr>
        <p:spPr>
          <a:xfrm>
            <a:off x="5120650" y="1104788"/>
            <a:ext cx="3675900" cy="3302400"/>
          </a:xfrm>
          <a:prstGeom prst="rect">
            <a:avLst/>
          </a:prstGeom>
          <a:solidFill>
            <a:srgbClr val="F8FAFC"/>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9" name="Google Shape;2429;p56"/>
          <p:cNvSpPr/>
          <p:nvPr/>
        </p:nvSpPr>
        <p:spPr>
          <a:xfrm>
            <a:off x="5230368" y="1060704"/>
            <a:ext cx="23775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B3A6B"/>
              </a:buClr>
              <a:buSzPts val="1100"/>
              <a:buFont typeface="Calibri"/>
              <a:buNone/>
            </a:pPr>
            <a:r>
              <a:rPr lang="en" sz="1100" b="1" i="0" u="none" strike="noStrike" cap="none">
                <a:solidFill>
                  <a:srgbClr val="1B3A6B"/>
                </a:solidFill>
                <a:latin typeface="Calibri"/>
                <a:ea typeface="Calibri"/>
                <a:cs typeface="Calibri"/>
                <a:sym typeface="Calibri"/>
              </a:rPr>
              <a:t>Dense Vector Space</a:t>
            </a:r>
            <a:endParaRPr sz="1100" b="0" i="0" u="none" strike="noStrike" cap="none">
              <a:solidFill>
                <a:schemeClr val="dk1"/>
              </a:solidFill>
              <a:latin typeface="Calibri"/>
              <a:ea typeface="Calibri"/>
              <a:cs typeface="Calibri"/>
              <a:sym typeface="Calibri"/>
            </a:endParaRPr>
          </a:p>
        </p:txBody>
      </p:sp>
      <p:sp>
        <p:nvSpPr>
          <p:cNvPr id="2430" name="Google Shape;2430;p56"/>
          <p:cNvSpPr/>
          <p:nvPr/>
        </p:nvSpPr>
        <p:spPr>
          <a:xfrm>
            <a:off x="5453721" y="1746504"/>
            <a:ext cx="128100" cy="128100"/>
          </a:xfrm>
          <a:prstGeom prst="ellipse">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1" name="Google Shape;2431;p56"/>
          <p:cNvSpPr/>
          <p:nvPr/>
        </p:nvSpPr>
        <p:spPr>
          <a:xfrm>
            <a:off x="5334849" y="1901952"/>
            <a:ext cx="548700" cy="164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9488"/>
              </a:buClr>
              <a:buSzPts val="750"/>
              <a:buFont typeface="Calibri"/>
              <a:buNone/>
            </a:pPr>
            <a:r>
              <a:rPr lang="en" sz="750" b="0" i="0" u="none" strike="noStrike" cap="none">
                <a:solidFill>
                  <a:srgbClr val="0D9488"/>
                </a:solidFill>
                <a:latin typeface="Calibri"/>
                <a:ea typeface="Calibri"/>
                <a:cs typeface="Calibri"/>
                <a:sym typeface="Calibri"/>
              </a:rPr>
              <a:t>cat</a:t>
            </a:r>
            <a:endParaRPr sz="750" b="0" i="0" u="none" strike="noStrike" cap="none">
              <a:solidFill>
                <a:schemeClr val="dk1"/>
              </a:solidFill>
              <a:latin typeface="Calibri"/>
              <a:ea typeface="Calibri"/>
              <a:cs typeface="Calibri"/>
              <a:sym typeface="Calibri"/>
            </a:endParaRPr>
          </a:p>
        </p:txBody>
      </p:sp>
      <p:sp>
        <p:nvSpPr>
          <p:cNvPr id="2432" name="Google Shape;2432;p56"/>
          <p:cNvSpPr/>
          <p:nvPr/>
        </p:nvSpPr>
        <p:spPr>
          <a:xfrm>
            <a:off x="5762630" y="2148840"/>
            <a:ext cx="128100" cy="128100"/>
          </a:xfrm>
          <a:prstGeom prst="ellipse">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3" name="Google Shape;2433;p56"/>
          <p:cNvSpPr/>
          <p:nvPr/>
        </p:nvSpPr>
        <p:spPr>
          <a:xfrm>
            <a:off x="5643758" y="2304288"/>
            <a:ext cx="548700" cy="164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9488"/>
              </a:buClr>
              <a:buSzPts val="750"/>
              <a:buFont typeface="Calibri"/>
              <a:buNone/>
            </a:pPr>
            <a:r>
              <a:rPr lang="en" sz="750" b="0" i="0" u="none" strike="noStrike" cap="none">
                <a:solidFill>
                  <a:srgbClr val="0D9488"/>
                </a:solidFill>
                <a:latin typeface="Calibri"/>
                <a:ea typeface="Calibri"/>
                <a:cs typeface="Calibri"/>
                <a:sym typeface="Calibri"/>
              </a:rPr>
              <a:t>dog</a:t>
            </a:r>
            <a:endParaRPr sz="750" b="0" i="0" u="none" strike="noStrike" cap="none">
              <a:solidFill>
                <a:schemeClr val="dk1"/>
              </a:solidFill>
              <a:latin typeface="Calibri"/>
              <a:ea typeface="Calibri"/>
              <a:cs typeface="Calibri"/>
              <a:sym typeface="Calibri"/>
            </a:endParaRPr>
          </a:p>
        </p:txBody>
      </p:sp>
      <p:sp>
        <p:nvSpPr>
          <p:cNvPr id="2434" name="Google Shape;2434;p56"/>
          <p:cNvSpPr/>
          <p:nvPr/>
        </p:nvSpPr>
        <p:spPr>
          <a:xfrm>
            <a:off x="6113490" y="1746504"/>
            <a:ext cx="128100" cy="128100"/>
          </a:xfrm>
          <a:prstGeom prst="ellipse">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5" name="Google Shape;2435;p56"/>
          <p:cNvSpPr/>
          <p:nvPr/>
        </p:nvSpPr>
        <p:spPr>
          <a:xfrm>
            <a:off x="5994618" y="1901952"/>
            <a:ext cx="548700" cy="164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9488"/>
              </a:buClr>
              <a:buSzPts val="750"/>
              <a:buFont typeface="Calibri"/>
              <a:buNone/>
            </a:pPr>
            <a:r>
              <a:rPr lang="en" sz="750" b="0" i="0" u="none" strike="noStrike" cap="none">
                <a:solidFill>
                  <a:srgbClr val="0D9488"/>
                </a:solidFill>
                <a:latin typeface="Calibri"/>
                <a:ea typeface="Calibri"/>
                <a:cs typeface="Calibri"/>
                <a:sym typeface="Calibri"/>
              </a:rPr>
              <a:t>kitten</a:t>
            </a:r>
            <a:endParaRPr sz="750" b="0" i="0" u="none" strike="noStrike" cap="none">
              <a:solidFill>
                <a:schemeClr val="dk1"/>
              </a:solidFill>
              <a:latin typeface="Calibri"/>
              <a:ea typeface="Calibri"/>
              <a:cs typeface="Calibri"/>
              <a:sym typeface="Calibri"/>
            </a:endParaRPr>
          </a:p>
        </p:txBody>
      </p:sp>
      <p:sp>
        <p:nvSpPr>
          <p:cNvPr id="2436" name="Google Shape;2436;p56"/>
          <p:cNvSpPr/>
          <p:nvPr/>
        </p:nvSpPr>
        <p:spPr>
          <a:xfrm>
            <a:off x="5349240" y="1664208"/>
            <a:ext cx="1005900" cy="694800"/>
          </a:xfrm>
          <a:prstGeom prst="ellipse">
            <a:avLst/>
          </a:prstGeom>
          <a:solidFill>
            <a:srgbClr val="0D9488">
              <a:alpha val="12157"/>
            </a:srgbClr>
          </a:solidFill>
          <a:ln w="10150" cap="flat" cmpd="sng">
            <a:solidFill>
              <a:srgbClr val="0D9488">
                <a:alpha val="6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7" name="Google Shape;2437;p56"/>
          <p:cNvSpPr/>
          <p:nvPr/>
        </p:nvSpPr>
        <p:spPr>
          <a:xfrm>
            <a:off x="5349240" y="2377440"/>
            <a:ext cx="10059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9488"/>
              </a:buClr>
              <a:buSzPts val="800"/>
              <a:buFont typeface="Calibri"/>
              <a:buNone/>
            </a:pPr>
            <a:r>
              <a:rPr lang="en" sz="800" b="1" i="0" u="none" strike="noStrike" cap="none">
                <a:solidFill>
                  <a:srgbClr val="0D9488"/>
                </a:solidFill>
                <a:latin typeface="Calibri"/>
                <a:ea typeface="Calibri"/>
                <a:cs typeface="Calibri"/>
                <a:sym typeface="Calibri"/>
              </a:rPr>
              <a:t>animals</a:t>
            </a:r>
            <a:endParaRPr sz="800" b="0" i="0" u="none" strike="noStrike" cap="none">
              <a:solidFill>
                <a:schemeClr val="dk1"/>
              </a:solidFill>
              <a:latin typeface="Calibri"/>
              <a:ea typeface="Calibri"/>
              <a:cs typeface="Calibri"/>
              <a:sym typeface="Calibri"/>
            </a:endParaRPr>
          </a:p>
        </p:txBody>
      </p:sp>
      <p:sp>
        <p:nvSpPr>
          <p:cNvPr id="2438" name="Google Shape;2438;p56"/>
          <p:cNvSpPr/>
          <p:nvPr/>
        </p:nvSpPr>
        <p:spPr>
          <a:xfrm>
            <a:off x="6458447" y="1472184"/>
            <a:ext cx="128100" cy="128100"/>
          </a:xfrm>
          <a:prstGeom prst="ellipse">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9" name="Google Shape;2439;p56"/>
          <p:cNvSpPr/>
          <p:nvPr/>
        </p:nvSpPr>
        <p:spPr>
          <a:xfrm>
            <a:off x="6339575" y="1627632"/>
            <a:ext cx="548700" cy="164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C3AED"/>
              </a:buClr>
              <a:buSzPts val="750"/>
              <a:buFont typeface="Calibri"/>
              <a:buNone/>
            </a:pPr>
            <a:r>
              <a:rPr lang="en" sz="750" b="0" i="0" u="none" strike="noStrike" cap="none">
                <a:solidFill>
                  <a:srgbClr val="7C3AED"/>
                </a:solidFill>
                <a:latin typeface="Calibri"/>
                <a:ea typeface="Calibri"/>
                <a:cs typeface="Calibri"/>
                <a:sym typeface="Calibri"/>
              </a:rPr>
              <a:t>king</a:t>
            </a:r>
            <a:endParaRPr sz="750" b="0" i="0" u="none" strike="noStrike" cap="none">
              <a:solidFill>
                <a:schemeClr val="dk1"/>
              </a:solidFill>
              <a:latin typeface="Calibri"/>
              <a:ea typeface="Calibri"/>
              <a:cs typeface="Calibri"/>
              <a:sym typeface="Calibri"/>
            </a:endParaRPr>
          </a:p>
        </p:txBody>
      </p:sp>
      <p:sp>
        <p:nvSpPr>
          <p:cNvPr id="2440" name="Google Shape;2440;p56"/>
          <p:cNvSpPr/>
          <p:nvPr/>
        </p:nvSpPr>
        <p:spPr>
          <a:xfrm>
            <a:off x="6754293" y="1874520"/>
            <a:ext cx="128100" cy="128100"/>
          </a:xfrm>
          <a:prstGeom prst="ellipse">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1" name="Google Shape;2441;p56"/>
          <p:cNvSpPr/>
          <p:nvPr/>
        </p:nvSpPr>
        <p:spPr>
          <a:xfrm>
            <a:off x="6635421" y="2029968"/>
            <a:ext cx="548700" cy="164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C3AED"/>
              </a:buClr>
              <a:buSzPts val="750"/>
              <a:buFont typeface="Calibri"/>
              <a:buNone/>
            </a:pPr>
            <a:r>
              <a:rPr lang="en" sz="750" b="0" i="0" u="none" strike="noStrike" cap="none">
                <a:solidFill>
                  <a:srgbClr val="7C3AED"/>
                </a:solidFill>
                <a:latin typeface="Calibri"/>
                <a:ea typeface="Calibri"/>
                <a:cs typeface="Calibri"/>
                <a:sym typeface="Calibri"/>
              </a:rPr>
              <a:t>queen</a:t>
            </a:r>
            <a:endParaRPr sz="750" b="0" i="0" u="none" strike="noStrike" cap="none">
              <a:solidFill>
                <a:schemeClr val="dk1"/>
              </a:solidFill>
              <a:latin typeface="Calibri"/>
              <a:ea typeface="Calibri"/>
              <a:cs typeface="Calibri"/>
              <a:sym typeface="Calibri"/>
            </a:endParaRPr>
          </a:p>
        </p:txBody>
      </p:sp>
      <p:sp>
        <p:nvSpPr>
          <p:cNvPr id="2442" name="Google Shape;2442;p56"/>
          <p:cNvSpPr/>
          <p:nvPr/>
        </p:nvSpPr>
        <p:spPr>
          <a:xfrm>
            <a:off x="7189495" y="1472184"/>
            <a:ext cx="128100" cy="128100"/>
          </a:xfrm>
          <a:prstGeom prst="ellipse">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3" name="Google Shape;2443;p56"/>
          <p:cNvSpPr/>
          <p:nvPr/>
        </p:nvSpPr>
        <p:spPr>
          <a:xfrm>
            <a:off x="7070623" y="1627632"/>
            <a:ext cx="548700" cy="164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C3AED"/>
              </a:buClr>
              <a:buSzPts val="750"/>
              <a:buFont typeface="Calibri"/>
              <a:buNone/>
            </a:pPr>
            <a:r>
              <a:rPr lang="en" sz="750" b="0" i="0" u="none" strike="noStrike" cap="none">
                <a:solidFill>
                  <a:srgbClr val="7C3AED"/>
                </a:solidFill>
                <a:latin typeface="Calibri"/>
                <a:ea typeface="Calibri"/>
                <a:cs typeface="Calibri"/>
                <a:sym typeface="Calibri"/>
              </a:rPr>
              <a:t>prince</a:t>
            </a:r>
            <a:endParaRPr sz="750" b="0" i="0" u="none" strike="noStrike" cap="none">
              <a:solidFill>
                <a:schemeClr val="dk1"/>
              </a:solidFill>
              <a:latin typeface="Calibri"/>
              <a:ea typeface="Calibri"/>
              <a:cs typeface="Calibri"/>
              <a:sym typeface="Calibri"/>
            </a:endParaRPr>
          </a:p>
        </p:txBody>
      </p:sp>
      <p:sp>
        <p:nvSpPr>
          <p:cNvPr id="2444" name="Google Shape;2444;p56"/>
          <p:cNvSpPr/>
          <p:nvPr/>
        </p:nvSpPr>
        <p:spPr>
          <a:xfrm>
            <a:off x="6355080" y="1389888"/>
            <a:ext cx="1005900" cy="694800"/>
          </a:xfrm>
          <a:prstGeom prst="ellipse">
            <a:avLst/>
          </a:prstGeom>
          <a:solidFill>
            <a:srgbClr val="7C3AED">
              <a:alpha val="12157"/>
            </a:srgbClr>
          </a:solidFill>
          <a:ln w="10150" cap="flat" cmpd="sng">
            <a:solidFill>
              <a:srgbClr val="7C3AED">
                <a:alpha val="6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5" name="Google Shape;2445;p56"/>
          <p:cNvSpPr/>
          <p:nvPr/>
        </p:nvSpPr>
        <p:spPr>
          <a:xfrm>
            <a:off x="6355080" y="2103120"/>
            <a:ext cx="10059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C3AED"/>
              </a:buClr>
              <a:buSzPts val="800"/>
              <a:buFont typeface="Calibri"/>
              <a:buNone/>
            </a:pPr>
            <a:r>
              <a:rPr lang="en" sz="800" b="1" i="0" u="none" strike="noStrike" cap="none">
                <a:solidFill>
                  <a:srgbClr val="7C3AED"/>
                </a:solidFill>
                <a:latin typeface="Calibri"/>
                <a:ea typeface="Calibri"/>
                <a:cs typeface="Calibri"/>
                <a:sym typeface="Calibri"/>
              </a:rPr>
              <a:t>royalty</a:t>
            </a:r>
            <a:endParaRPr sz="800" b="0" i="0" u="none" strike="noStrike" cap="none">
              <a:solidFill>
                <a:schemeClr val="dk1"/>
              </a:solidFill>
              <a:latin typeface="Calibri"/>
              <a:ea typeface="Calibri"/>
              <a:cs typeface="Calibri"/>
              <a:sym typeface="Calibri"/>
            </a:endParaRPr>
          </a:p>
        </p:txBody>
      </p:sp>
      <p:sp>
        <p:nvSpPr>
          <p:cNvPr id="2446" name="Google Shape;2446;p56"/>
          <p:cNvSpPr/>
          <p:nvPr/>
        </p:nvSpPr>
        <p:spPr>
          <a:xfrm>
            <a:off x="5994048" y="2569464"/>
            <a:ext cx="128100" cy="128100"/>
          </a:xfrm>
          <a:prstGeom prst="ellipse">
            <a:avLst/>
          </a:prstGeom>
          <a:solidFill>
            <a:srgbClr val="EA580C"/>
          </a:solidFill>
          <a:ln w="1270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7" name="Google Shape;2447;p56"/>
          <p:cNvSpPr/>
          <p:nvPr/>
        </p:nvSpPr>
        <p:spPr>
          <a:xfrm>
            <a:off x="5875176" y="2724912"/>
            <a:ext cx="548700" cy="164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A580C"/>
              </a:buClr>
              <a:buSzPts val="750"/>
              <a:buFont typeface="Calibri"/>
              <a:buNone/>
            </a:pPr>
            <a:r>
              <a:rPr lang="en" sz="750" b="0" i="0" u="none" strike="noStrike" cap="none">
                <a:solidFill>
                  <a:srgbClr val="EA580C"/>
                </a:solidFill>
                <a:latin typeface="Calibri"/>
                <a:ea typeface="Calibri"/>
                <a:cs typeface="Calibri"/>
                <a:sym typeface="Calibri"/>
              </a:rPr>
              <a:t>Paris</a:t>
            </a:r>
            <a:endParaRPr sz="750" b="0" i="0" u="none" strike="noStrike" cap="none">
              <a:solidFill>
                <a:schemeClr val="dk1"/>
              </a:solidFill>
              <a:latin typeface="Calibri"/>
              <a:ea typeface="Calibri"/>
              <a:cs typeface="Calibri"/>
              <a:sym typeface="Calibri"/>
            </a:endParaRPr>
          </a:p>
        </p:txBody>
      </p:sp>
      <p:sp>
        <p:nvSpPr>
          <p:cNvPr id="2448" name="Google Shape;2448;p56"/>
          <p:cNvSpPr/>
          <p:nvPr/>
        </p:nvSpPr>
        <p:spPr>
          <a:xfrm>
            <a:off x="6328177" y="2971800"/>
            <a:ext cx="128100" cy="128100"/>
          </a:xfrm>
          <a:prstGeom prst="ellipse">
            <a:avLst/>
          </a:prstGeom>
          <a:solidFill>
            <a:srgbClr val="EA580C"/>
          </a:solidFill>
          <a:ln w="1270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9" name="Google Shape;2449;p56"/>
          <p:cNvSpPr/>
          <p:nvPr/>
        </p:nvSpPr>
        <p:spPr>
          <a:xfrm>
            <a:off x="6209305" y="3127248"/>
            <a:ext cx="548700" cy="164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A580C"/>
              </a:buClr>
              <a:buSzPts val="750"/>
              <a:buFont typeface="Calibri"/>
              <a:buNone/>
            </a:pPr>
            <a:r>
              <a:rPr lang="en" sz="750" b="0" i="0" u="none" strike="noStrike" cap="none">
                <a:solidFill>
                  <a:srgbClr val="EA580C"/>
                </a:solidFill>
                <a:latin typeface="Calibri"/>
                <a:ea typeface="Calibri"/>
                <a:cs typeface="Calibri"/>
                <a:sym typeface="Calibri"/>
              </a:rPr>
              <a:t>Berlin</a:t>
            </a:r>
            <a:endParaRPr sz="750" b="0" i="0" u="none" strike="noStrike" cap="none">
              <a:solidFill>
                <a:schemeClr val="dk1"/>
              </a:solidFill>
              <a:latin typeface="Calibri"/>
              <a:ea typeface="Calibri"/>
              <a:cs typeface="Calibri"/>
              <a:sym typeface="Calibri"/>
            </a:endParaRPr>
          </a:p>
        </p:txBody>
      </p:sp>
      <p:sp>
        <p:nvSpPr>
          <p:cNvPr id="2450" name="Google Shape;2450;p56"/>
          <p:cNvSpPr/>
          <p:nvPr/>
        </p:nvSpPr>
        <p:spPr>
          <a:xfrm>
            <a:off x="6658981" y="2569464"/>
            <a:ext cx="128100" cy="128100"/>
          </a:xfrm>
          <a:prstGeom prst="ellipse">
            <a:avLst/>
          </a:prstGeom>
          <a:solidFill>
            <a:srgbClr val="EA580C"/>
          </a:solidFill>
          <a:ln w="12700" cap="flat" cmpd="sng">
            <a:solidFill>
              <a:srgbClr val="EA580C"/>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1" name="Google Shape;2451;p56"/>
          <p:cNvSpPr/>
          <p:nvPr/>
        </p:nvSpPr>
        <p:spPr>
          <a:xfrm>
            <a:off x="6540109" y="2724912"/>
            <a:ext cx="548700" cy="164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A580C"/>
              </a:buClr>
              <a:buSzPts val="750"/>
              <a:buFont typeface="Calibri"/>
              <a:buNone/>
            </a:pPr>
            <a:r>
              <a:rPr lang="en" sz="750" b="0" i="0" u="none" strike="noStrike" cap="none">
                <a:solidFill>
                  <a:srgbClr val="EA580C"/>
                </a:solidFill>
                <a:latin typeface="Calibri"/>
                <a:ea typeface="Calibri"/>
                <a:cs typeface="Calibri"/>
                <a:sym typeface="Calibri"/>
              </a:rPr>
              <a:t>Tokyo</a:t>
            </a:r>
            <a:endParaRPr sz="750" b="0" i="0" u="none" strike="noStrike" cap="none">
              <a:solidFill>
                <a:schemeClr val="dk1"/>
              </a:solidFill>
              <a:latin typeface="Calibri"/>
              <a:ea typeface="Calibri"/>
              <a:cs typeface="Calibri"/>
              <a:sym typeface="Calibri"/>
            </a:endParaRPr>
          </a:p>
        </p:txBody>
      </p:sp>
      <p:sp>
        <p:nvSpPr>
          <p:cNvPr id="2452" name="Google Shape;2452;p56"/>
          <p:cNvSpPr/>
          <p:nvPr/>
        </p:nvSpPr>
        <p:spPr>
          <a:xfrm>
            <a:off x="5897880" y="2487168"/>
            <a:ext cx="1005900" cy="694800"/>
          </a:xfrm>
          <a:prstGeom prst="ellipse">
            <a:avLst/>
          </a:prstGeom>
          <a:solidFill>
            <a:srgbClr val="EA580C">
              <a:alpha val="12157"/>
            </a:srgbClr>
          </a:solidFill>
          <a:ln w="10150" cap="flat" cmpd="sng">
            <a:solidFill>
              <a:srgbClr val="EA580C">
                <a:alpha val="6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3" name="Google Shape;2453;p56"/>
          <p:cNvSpPr/>
          <p:nvPr/>
        </p:nvSpPr>
        <p:spPr>
          <a:xfrm>
            <a:off x="5897880" y="3200400"/>
            <a:ext cx="10059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A580C"/>
              </a:buClr>
              <a:buSzPts val="800"/>
              <a:buFont typeface="Calibri"/>
              <a:buNone/>
            </a:pPr>
            <a:r>
              <a:rPr lang="en" sz="800" b="1" i="0" u="none" strike="noStrike" cap="none">
                <a:solidFill>
                  <a:srgbClr val="EA580C"/>
                </a:solidFill>
                <a:latin typeface="Calibri"/>
                <a:ea typeface="Calibri"/>
                <a:cs typeface="Calibri"/>
                <a:sym typeface="Calibri"/>
              </a:rPr>
              <a:t>places</a:t>
            </a:r>
            <a:endParaRPr sz="800" b="0" i="0" u="none" strike="noStrike" cap="none">
              <a:solidFill>
                <a:schemeClr val="dk1"/>
              </a:solidFill>
              <a:latin typeface="Calibri"/>
              <a:ea typeface="Calibri"/>
              <a:cs typeface="Calibri"/>
              <a:sym typeface="Calibri"/>
            </a:endParaRPr>
          </a:p>
        </p:txBody>
      </p:sp>
      <p:sp>
        <p:nvSpPr>
          <p:cNvPr id="2454" name="Google Shape;2454;p56"/>
          <p:cNvSpPr/>
          <p:nvPr/>
        </p:nvSpPr>
        <p:spPr>
          <a:xfrm>
            <a:off x="7308429" y="2295144"/>
            <a:ext cx="128100" cy="128100"/>
          </a:xfrm>
          <a:prstGeom prst="ellipse">
            <a:avLst/>
          </a:prstGeom>
          <a:solidFill>
            <a:srgbClr val="16A34A"/>
          </a:solidFill>
          <a:ln w="127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5" name="Google Shape;2455;p56"/>
          <p:cNvSpPr/>
          <p:nvPr/>
        </p:nvSpPr>
        <p:spPr>
          <a:xfrm>
            <a:off x="7189557" y="2450592"/>
            <a:ext cx="548700" cy="164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A34A"/>
              </a:buClr>
              <a:buSzPts val="750"/>
              <a:buFont typeface="Calibri"/>
              <a:buNone/>
            </a:pPr>
            <a:r>
              <a:rPr lang="en" sz="750" b="0" i="0" u="none" strike="noStrike" cap="none">
                <a:solidFill>
                  <a:srgbClr val="16A34A"/>
                </a:solidFill>
                <a:latin typeface="Calibri"/>
                <a:ea typeface="Calibri"/>
                <a:cs typeface="Calibri"/>
                <a:sym typeface="Calibri"/>
              </a:rPr>
              <a:t>happy</a:t>
            </a:r>
            <a:endParaRPr sz="750" b="0" i="0" u="none" strike="noStrike" cap="none">
              <a:solidFill>
                <a:schemeClr val="dk1"/>
              </a:solidFill>
              <a:latin typeface="Calibri"/>
              <a:ea typeface="Calibri"/>
              <a:cs typeface="Calibri"/>
              <a:sym typeface="Calibri"/>
            </a:endParaRPr>
          </a:p>
        </p:txBody>
      </p:sp>
      <p:sp>
        <p:nvSpPr>
          <p:cNvPr id="2456" name="Google Shape;2456;p56"/>
          <p:cNvSpPr/>
          <p:nvPr/>
        </p:nvSpPr>
        <p:spPr>
          <a:xfrm>
            <a:off x="7674676" y="2697480"/>
            <a:ext cx="128100" cy="128100"/>
          </a:xfrm>
          <a:prstGeom prst="ellipse">
            <a:avLst/>
          </a:prstGeom>
          <a:solidFill>
            <a:srgbClr val="16A34A"/>
          </a:solidFill>
          <a:ln w="127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7" name="Google Shape;2457;p56"/>
          <p:cNvSpPr/>
          <p:nvPr/>
        </p:nvSpPr>
        <p:spPr>
          <a:xfrm>
            <a:off x="7555804" y="2852928"/>
            <a:ext cx="548700" cy="164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A34A"/>
              </a:buClr>
              <a:buSzPts val="750"/>
              <a:buFont typeface="Calibri"/>
              <a:buNone/>
            </a:pPr>
            <a:r>
              <a:rPr lang="en" sz="750" b="0" i="0" u="none" strike="noStrike" cap="none">
                <a:solidFill>
                  <a:srgbClr val="16A34A"/>
                </a:solidFill>
                <a:latin typeface="Calibri"/>
                <a:ea typeface="Calibri"/>
                <a:cs typeface="Calibri"/>
                <a:sym typeface="Calibri"/>
              </a:rPr>
              <a:t>joyful</a:t>
            </a:r>
            <a:endParaRPr sz="750" b="0" i="0" u="none" strike="noStrike" cap="none">
              <a:solidFill>
                <a:schemeClr val="dk1"/>
              </a:solidFill>
              <a:latin typeface="Calibri"/>
              <a:ea typeface="Calibri"/>
              <a:cs typeface="Calibri"/>
              <a:sym typeface="Calibri"/>
            </a:endParaRPr>
          </a:p>
        </p:txBody>
      </p:sp>
      <p:sp>
        <p:nvSpPr>
          <p:cNvPr id="2458" name="Google Shape;2458;p56"/>
          <p:cNvSpPr/>
          <p:nvPr/>
        </p:nvSpPr>
        <p:spPr>
          <a:xfrm>
            <a:off x="8082655" y="2295144"/>
            <a:ext cx="128100" cy="128100"/>
          </a:xfrm>
          <a:prstGeom prst="ellipse">
            <a:avLst/>
          </a:prstGeom>
          <a:solidFill>
            <a:srgbClr val="16A34A"/>
          </a:solidFill>
          <a:ln w="127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9" name="Google Shape;2459;p56"/>
          <p:cNvSpPr/>
          <p:nvPr/>
        </p:nvSpPr>
        <p:spPr>
          <a:xfrm>
            <a:off x="7963783" y="2450592"/>
            <a:ext cx="548700" cy="164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A34A"/>
              </a:buClr>
              <a:buSzPts val="750"/>
              <a:buFont typeface="Calibri"/>
              <a:buNone/>
            </a:pPr>
            <a:r>
              <a:rPr lang="en" sz="750" b="0" i="0" u="none" strike="noStrike" cap="none">
                <a:solidFill>
                  <a:srgbClr val="16A34A"/>
                </a:solidFill>
                <a:latin typeface="Calibri"/>
                <a:ea typeface="Calibri"/>
                <a:cs typeface="Calibri"/>
                <a:sym typeface="Calibri"/>
              </a:rPr>
              <a:t>sad</a:t>
            </a:r>
            <a:endParaRPr sz="750" b="0" i="0" u="none" strike="noStrike" cap="none">
              <a:solidFill>
                <a:schemeClr val="dk1"/>
              </a:solidFill>
              <a:latin typeface="Calibri"/>
              <a:ea typeface="Calibri"/>
              <a:cs typeface="Calibri"/>
              <a:sym typeface="Calibri"/>
            </a:endParaRPr>
          </a:p>
        </p:txBody>
      </p:sp>
      <p:sp>
        <p:nvSpPr>
          <p:cNvPr id="2460" name="Google Shape;2460;p56"/>
          <p:cNvSpPr/>
          <p:nvPr/>
        </p:nvSpPr>
        <p:spPr>
          <a:xfrm>
            <a:off x="7269480" y="2212848"/>
            <a:ext cx="1005900" cy="694800"/>
          </a:xfrm>
          <a:prstGeom prst="ellipse">
            <a:avLst/>
          </a:prstGeom>
          <a:solidFill>
            <a:srgbClr val="16A34A">
              <a:alpha val="12157"/>
            </a:srgbClr>
          </a:solidFill>
          <a:ln w="10150" cap="flat" cmpd="sng">
            <a:solidFill>
              <a:srgbClr val="16A34A">
                <a:alpha val="600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1" name="Google Shape;2461;p56"/>
          <p:cNvSpPr/>
          <p:nvPr/>
        </p:nvSpPr>
        <p:spPr>
          <a:xfrm>
            <a:off x="7269480" y="2926080"/>
            <a:ext cx="10059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6A34A"/>
              </a:buClr>
              <a:buSzPts val="800"/>
              <a:buFont typeface="Calibri"/>
              <a:buNone/>
            </a:pPr>
            <a:r>
              <a:rPr lang="en" sz="800" b="1" i="0" u="none" strike="noStrike" cap="none">
                <a:solidFill>
                  <a:srgbClr val="16A34A"/>
                </a:solidFill>
                <a:latin typeface="Calibri"/>
                <a:ea typeface="Calibri"/>
                <a:cs typeface="Calibri"/>
                <a:sym typeface="Calibri"/>
              </a:rPr>
              <a:t>emotion</a:t>
            </a:r>
            <a:endParaRPr sz="800" b="0" i="0" u="none" strike="noStrike" cap="none">
              <a:solidFill>
                <a:schemeClr val="dk1"/>
              </a:solidFill>
              <a:latin typeface="Calibri"/>
              <a:ea typeface="Calibri"/>
              <a:cs typeface="Calibri"/>
              <a:sym typeface="Calibri"/>
            </a:endParaRPr>
          </a:p>
        </p:txBody>
      </p:sp>
      <p:cxnSp>
        <p:nvCxnSpPr>
          <p:cNvPr id="2462" name="Google Shape;2462;p56"/>
          <p:cNvCxnSpPr/>
          <p:nvPr/>
        </p:nvCxnSpPr>
        <p:spPr>
          <a:xfrm>
            <a:off x="5230368" y="4206240"/>
            <a:ext cx="3383400" cy="0"/>
          </a:xfrm>
          <a:prstGeom prst="straightConnector1">
            <a:avLst/>
          </a:prstGeom>
          <a:noFill/>
          <a:ln w="10150" cap="flat" cmpd="sng">
            <a:solidFill>
              <a:srgbClr val="CBD5E1"/>
            </a:solidFill>
            <a:prstDash val="solid"/>
            <a:round/>
            <a:headEnd type="none" w="sm" len="sm"/>
            <a:tailEnd type="none" w="sm" len="sm"/>
          </a:ln>
        </p:spPr>
      </p:cxnSp>
      <p:cxnSp>
        <p:nvCxnSpPr>
          <p:cNvPr id="2463" name="Google Shape;2463;p56"/>
          <p:cNvCxnSpPr/>
          <p:nvPr/>
        </p:nvCxnSpPr>
        <p:spPr>
          <a:xfrm>
            <a:off x="5230368" y="1225296"/>
            <a:ext cx="0" cy="2980800"/>
          </a:xfrm>
          <a:prstGeom prst="straightConnector1">
            <a:avLst/>
          </a:prstGeom>
          <a:noFill/>
          <a:ln w="10150" cap="flat" cmpd="sng">
            <a:solidFill>
              <a:srgbClr val="CBD5E1"/>
            </a:solidFill>
            <a:prstDash val="solid"/>
            <a:round/>
            <a:headEnd type="none" w="sm" len="sm"/>
            <a:tailEnd type="none" w="sm" len="sm"/>
          </a:ln>
        </p:spPr>
      </p:cxnSp>
      <p:sp>
        <p:nvSpPr>
          <p:cNvPr id="2464" name="Google Shape;2464;p56"/>
          <p:cNvSpPr/>
          <p:nvPr/>
        </p:nvSpPr>
        <p:spPr>
          <a:xfrm>
            <a:off x="347472" y="4480560"/>
            <a:ext cx="8449200" cy="4572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5" name="Google Shape;2465;p56"/>
          <p:cNvSpPr/>
          <p:nvPr/>
        </p:nvSpPr>
        <p:spPr>
          <a:xfrm>
            <a:off x="502920" y="4480560"/>
            <a:ext cx="82296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600"/>
              <a:buFont typeface="Calibri"/>
              <a:buNone/>
            </a:pPr>
            <a:r>
              <a:rPr lang="en" sz="1600" b="1" i="0" u="none" strike="noStrike" cap="none">
                <a:solidFill>
                  <a:srgbClr val="FFFFFF"/>
                </a:solidFill>
                <a:latin typeface="Calibri"/>
                <a:ea typeface="Calibri"/>
                <a:cs typeface="Calibri"/>
                <a:sym typeface="Calibri"/>
              </a:rPr>
              <a:t>Embeddings !! </a:t>
            </a:r>
            <a:r>
              <a:rPr lang="en" sz="1300" b="0" i="0" u="none" strike="noStrike" cap="none">
                <a:solidFill>
                  <a:srgbClr val="CCFBF1"/>
                </a:solidFill>
                <a:latin typeface="Calibri"/>
                <a:ea typeface="Calibri"/>
                <a:cs typeface="Calibri"/>
                <a:sym typeface="Calibri"/>
              </a:rPr>
              <a:t>— Dense, low-dimensional vectors where geometry encodes linguistic meaning.</a:t>
            </a:r>
            <a:endParaRPr sz="1600" b="0" i="0" u="none" strike="noStrike" cap="none">
              <a:solidFill>
                <a:schemeClr val="dk1"/>
              </a:solidFill>
              <a:latin typeface="Calibri"/>
              <a:ea typeface="Calibri"/>
              <a:cs typeface="Calibri"/>
              <a:sym typeface="Calibri"/>
            </a:endParaRPr>
          </a:p>
        </p:txBody>
      </p:sp>
      <p:sp>
        <p:nvSpPr>
          <p:cNvPr id="2466" name="Google Shape;2466;p56"/>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74</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71"/>
        <p:cNvGrpSpPr/>
        <p:nvPr/>
      </p:nvGrpSpPr>
      <p:grpSpPr>
        <a:xfrm>
          <a:off x="0" y="0"/>
          <a:ext cx="0" cy="0"/>
          <a:chOff x="0" y="0"/>
          <a:chExt cx="0" cy="0"/>
        </a:xfrm>
      </p:grpSpPr>
      <p:sp>
        <p:nvSpPr>
          <p:cNvPr id="2472" name="Google Shape;2472;p57"/>
          <p:cNvSpPr/>
          <p:nvPr/>
        </p:nvSpPr>
        <p:spPr>
          <a:xfrm>
            <a:off x="0" y="0"/>
            <a:ext cx="109800" cy="5143500"/>
          </a:xfrm>
          <a:prstGeom prst="rect">
            <a:avLst/>
          </a:prstGeom>
          <a:solidFill>
            <a:srgbClr val="0077AA"/>
          </a:solidFill>
          <a:ln w="12700" cap="flat" cmpd="sng">
            <a:solidFill>
              <a:srgbClr val="0077A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3" name="Google Shape;2473;p57"/>
          <p:cNvSpPr/>
          <p:nvPr/>
        </p:nvSpPr>
        <p:spPr>
          <a:xfrm>
            <a:off x="320040" y="1280160"/>
            <a:ext cx="8503800" cy="1463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1F26"/>
              </a:buClr>
              <a:buSzPts val="5200"/>
              <a:buFont typeface="Calibri"/>
              <a:buNone/>
            </a:pPr>
            <a:r>
              <a:rPr lang="en" sz="4400" b="1" i="0" u="none" strike="noStrike" cap="none">
                <a:solidFill>
                  <a:srgbClr val="1A1F26"/>
                </a:solidFill>
                <a:latin typeface="Calibri"/>
                <a:ea typeface="Calibri"/>
                <a:cs typeface="Calibri"/>
                <a:sym typeface="Calibri"/>
              </a:rPr>
              <a:t>Dense Embeddings</a:t>
            </a:r>
            <a:endParaRPr sz="4400" b="0" i="0" u="none" strike="noStrike" cap="none">
              <a:solidFill>
                <a:schemeClr val="dk1"/>
              </a:solidFill>
              <a:latin typeface="Calibri"/>
              <a:ea typeface="Calibri"/>
              <a:cs typeface="Calibri"/>
              <a:sym typeface="Calibri"/>
            </a:endParaRPr>
          </a:p>
        </p:txBody>
      </p:sp>
      <p:sp>
        <p:nvSpPr>
          <p:cNvPr id="2474" name="Google Shape;2474;p57"/>
          <p:cNvSpPr/>
          <p:nvPr/>
        </p:nvSpPr>
        <p:spPr>
          <a:xfrm>
            <a:off x="320040" y="2834640"/>
            <a:ext cx="8503800" cy="731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270"/>
              </a:buClr>
              <a:buSzPts val="2000"/>
              <a:buFont typeface="Calibri"/>
              <a:buNone/>
            </a:pPr>
            <a:r>
              <a:rPr lang="en" sz="2000" b="0" i="0" u="none" strike="noStrike" cap="none">
                <a:solidFill>
                  <a:schemeClr val="dk1"/>
                </a:solidFill>
                <a:latin typeface="Calibri"/>
                <a:ea typeface="Calibri"/>
                <a:cs typeface="Calibri"/>
                <a:sym typeface="Calibri"/>
              </a:rPr>
              <a:t>Compact, learned vector representations</a:t>
            </a:r>
            <a:endParaRPr sz="2000" b="0" i="0" u="none" strike="noStrike" cap="none">
              <a:solidFill>
                <a:schemeClr val="dk1"/>
              </a:solidFill>
              <a:latin typeface="Calibri"/>
              <a:ea typeface="Calibri"/>
              <a:cs typeface="Calibri"/>
              <a:sym typeface="Calibri"/>
            </a:endParaRPr>
          </a:p>
        </p:txBody>
      </p:sp>
      <p:sp>
        <p:nvSpPr>
          <p:cNvPr id="2475" name="Google Shape;2475;p57"/>
          <p:cNvSpPr/>
          <p:nvPr/>
        </p:nvSpPr>
        <p:spPr>
          <a:xfrm>
            <a:off x="320040" y="4389120"/>
            <a:ext cx="109800" cy="109800"/>
          </a:xfrm>
          <a:prstGeom prst="ellipse">
            <a:avLst/>
          </a:prstGeom>
          <a:solidFill>
            <a:srgbClr val="0077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6" name="Google Shape;2476;p57"/>
          <p:cNvSpPr/>
          <p:nvPr/>
        </p:nvSpPr>
        <p:spPr>
          <a:xfrm>
            <a:off x="640080" y="4389120"/>
            <a:ext cx="109800" cy="109800"/>
          </a:xfrm>
          <a:prstGeom prst="ellipse">
            <a:avLst/>
          </a:prstGeom>
          <a:solidFill>
            <a:srgbClr val="5A62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7" name="Google Shape;2477;p57"/>
          <p:cNvSpPr/>
          <p:nvPr/>
        </p:nvSpPr>
        <p:spPr>
          <a:xfrm>
            <a:off x="960120" y="4389120"/>
            <a:ext cx="109800" cy="109800"/>
          </a:xfrm>
          <a:prstGeom prst="ellipse">
            <a:avLst/>
          </a:prstGeom>
          <a:solidFill>
            <a:srgbClr val="5A62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8" name="Google Shape;2478;p57"/>
          <p:cNvSpPr/>
          <p:nvPr/>
        </p:nvSpPr>
        <p:spPr>
          <a:xfrm>
            <a:off x="1280160" y="4389120"/>
            <a:ext cx="109800" cy="109800"/>
          </a:xfrm>
          <a:prstGeom prst="ellipse">
            <a:avLst/>
          </a:prstGeom>
          <a:solidFill>
            <a:srgbClr val="5A62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9" name="Google Shape;2479;p57"/>
          <p:cNvSpPr/>
          <p:nvPr/>
        </p:nvSpPr>
        <p:spPr>
          <a:xfrm>
            <a:off x="1600200" y="4389120"/>
            <a:ext cx="109800" cy="109800"/>
          </a:xfrm>
          <a:prstGeom prst="ellipse">
            <a:avLst/>
          </a:prstGeom>
          <a:solidFill>
            <a:srgbClr val="5A62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80" name="Google Shape;2480;p57"/>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2481" name="Google Shape;2481;p57"/>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75</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86"/>
        <p:cNvGrpSpPr/>
        <p:nvPr/>
      </p:nvGrpSpPr>
      <p:grpSpPr>
        <a:xfrm>
          <a:off x="0" y="0"/>
          <a:ext cx="0" cy="0"/>
          <a:chOff x="0" y="0"/>
          <a:chExt cx="0" cy="0"/>
        </a:xfrm>
      </p:grpSpPr>
      <p:sp>
        <p:nvSpPr>
          <p:cNvPr id="2487" name="Google Shape;2487;p58"/>
          <p:cNvSpPr/>
          <p:nvPr/>
        </p:nvSpPr>
        <p:spPr>
          <a:xfrm>
            <a:off x="3125687" y="411480"/>
            <a:ext cx="8412600" cy="594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1F26"/>
              </a:buClr>
              <a:buSzPts val="3400"/>
              <a:buFont typeface="Calibri"/>
              <a:buNone/>
            </a:pPr>
            <a:r>
              <a:rPr lang="en" sz="2800" b="1" i="0" u="none" strike="noStrike" cap="none">
                <a:solidFill>
                  <a:srgbClr val="1A1F26"/>
                </a:solidFill>
                <a:latin typeface="Calibri"/>
                <a:ea typeface="Calibri"/>
                <a:cs typeface="Calibri"/>
                <a:sym typeface="Calibri"/>
              </a:rPr>
              <a:t>Embedding Lookup Tables</a:t>
            </a:r>
            <a:endParaRPr sz="2800" b="0" i="0" u="none" strike="noStrike" cap="none">
              <a:solidFill>
                <a:schemeClr val="dk1"/>
              </a:solidFill>
              <a:latin typeface="Calibri"/>
              <a:ea typeface="Calibri"/>
              <a:cs typeface="Calibri"/>
              <a:sym typeface="Calibri"/>
            </a:endParaRPr>
          </a:p>
        </p:txBody>
      </p:sp>
      <p:sp>
        <p:nvSpPr>
          <p:cNvPr id="2488" name="Google Shape;2488;p58"/>
          <p:cNvSpPr/>
          <p:nvPr/>
        </p:nvSpPr>
        <p:spPr>
          <a:xfrm>
            <a:off x="320050" y="1143000"/>
            <a:ext cx="5029200" cy="3957000"/>
          </a:xfrm>
          <a:prstGeom prst="rect">
            <a:avLst/>
          </a:prstGeom>
          <a:solidFill>
            <a:schemeClr val="lt1"/>
          </a:solidFill>
          <a:ln w="12700" cap="flat" cmpd="sng">
            <a:solidFill>
              <a:srgbClr val="0077AA"/>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9" name="Google Shape;2489;p58"/>
          <p:cNvSpPr/>
          <p:nvPr/>
        </p:nvSpPr>
        <p:spPr>
          <a:xfrm>
            <a:off x="6397" y="1188713"/>
            <a:ext cx="1645800" cy="255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8F9FA"/>
              </a:buClr>
              <a:buSzPts val="900"/>
              <a:buFont typeface="Calibri"/>
              <a:buNone/>
            </a:pPr>
            <a:r>
              <a:rPr lang="en" sz="1400" b="1" i="0" u="none" strike="noStrike" cap="none">
                <a:solidFill>
                  <a:schemeClr val="dk1"/>
                </a:solidFill>
                <a:latin typeface="Calibri"/>
                <a:ea typeface="Calibri"/>
                <a:cs typeface="Calibri"/>
                <a:sym typeface="Calibri"/>
              </a:rPr>
              <a:t>PyTorch</a:t>
            </a:r>
            <a:endParaRPr sz="1400" b="0" i="0" u="none" strike="noStrike" cap="none">
              <a:solidFill>
                <a:schemeClr val="dk1"/>
              </a:solidFill>
              <a:latin typeface="Calibri"/>
              <a:ea typeface="Calibri"/>
              <a:cs typeface="Calibri"/>
              <a:sym typeface="Calibri"/>
            </a:endParaRPr>
          </a:p>
        </p:txBody>
      </p:sp>
      <p:sp>
        <p:nvSpPr>
          <p:cNvPr id="2490" name="Google Shape;2490;p58"/>
          <p:cNvSpPr/>
          <p:nvPr/>
        </p:nvSpPr>
        <p:spPr>
          <a:xfrm>
            <a:off x="429768" y="1435608"/>
            <a:ext cx="4809600" cy="36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import torch</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import torch.nn as nn</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950"/>
              <a:buFont typeface="Calibri"/>
              <a:buNone/>
            </a:pP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VOCAB_SIZE = 50_000</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EMBED_DIM  = 300  # was 50K, now just 300!</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950"/>
              <a:buFont typeface="Calibri"/>
              <a:buNone/>
            </a:pP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 This is a learnable weight matrix: (50000, 300)</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embedding = nn.Embedding(VOCAB_SIZE, EMBED_DIM)</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950"/>
              <a:buFont typeface="Calibri"/>
              <a:buNone/>
            </a:pP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 Forward pass: integer index → dense vector</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token_ids = torch.tensor([42, 1337, 7])   # vocab IDs: "king", "queen", "man"</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vectors   = embedding(token_ids)           # shape: (3, 300)</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950"/>
              <a:buFont typeface="Calibri"/>
              <a:buNone/>
            </a:pP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 During training, gradients flow back and update weights</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 Similar words end up with similar vectors — automatically!</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optimizer = torch.optim.Adam(embedding.parameters())</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950"/>
              <a:buFont typeface="Calibri"/>
              <a:buNone/>
            </a:pP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print(vectors.shape)  # torch.Size([3, 300])</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 → 3 tokens, each a 300-dim vector</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print(f"Memory: {VOCAB_SIZE * EMBED_DIM * 4 / 1e6:.1f} MB")</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 (VOCAB_SIZE × EMBED_DIM) × 4 bytes ÷ 1e6</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 = size in MB;  :.1f → 1 decimal place</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 Memory: 60.0 MB  vs  10 GB for one-hot!</a:t>
            </a:r>
            <a:endParaRPr sz="950" b="0" i="0" u="none" strike="noStrike" cap="none">
              <a:solidFill>
                <a:schemeClr val="dk1"/>
              </a:solidFill>
              <a:latin typeface="Calibri"/>
              <a:ea typeface="Calibri"/>
              <a:cs typeface="Calibri"/>
              <a:sym typeface="Calibri"/>
            </a:endParaRPr>
          </a:p>
        </p:txBody>
      </p:sp>
      <p:sp>
        <p:nvSpPr>
          <p:cNvPr id="2491" name="Google Shape;2491;p58"/>
          <p:cNvSpPr/>
          <p:nvPr/>
        </p:nvSpPr>
        <p:spPr>
          <a:xfrm>
            <a:off x="5577840" y="1188720"/>
            <a:ext cx="3200400" cy="411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1F26"/>
              </a:buClr>
              <a:buSzPts val="1600"/>
              <a:buFont typeface="Calibri"/>
              <a:buNone/>
            </a:pPr>
            <a:r>
              <a:rPr lang="en" sz="2000" b="1" i="0" u="none" strike="noStrike" cap="none">
                <a:solidFill>
                  <a:srgbClr val="1A1F26"/>
                </a:solidFill>
                <a:latin typeface="Calibri"/>
                <a:ea typeface="Calibri"/>
                <a:cs typeface="Calibri"/>
                <a:sym typeface="Calibri"/>
              </a:rPr>
              <a:t>What changed?</a:t>
            </a:r>
            <a:endParaRPr sz="2000" b="0" i="0" u="none" strike="noStrike" cap="none">
              <a:solidFill>
                <a:schemeClr val="dk1"/>
              </a:solidFill>
              <a:latin typeface="Calibri"/>
              <a:ea typeface="Calibri"/>
              <a:cs typeface="Calibri"/>
              <a:sym typeface="Calibri"/>
            </a:endParaRPr>
          </a:p>
        </p:txBody>
      </p:sp>
      <p:sp>
        <p:nvSpPr>
          <p:cNvPr id="2492" name="Google Shape;2492;p58"/>
          <p:cNvSpPr/>
          <p:nvPr/>
        </p:nvSpPr>
        <p:spPr>
          <a:xfrm>
            <a:off x="5577840" y="1691640"/>
            <a:ext cx="1280100" cy="594300"/>
          </a:xfrm>
          <a:prstGeom prst="rect">
            <a:avLst/>
          </a:prstGeom>
          <a:solidFill>
            <a:srgbClr val="E8EDF2"/>
          </a:solidFill>
          <a:ln w="10150" cap="flat" cmpd="sng">
            <a:solidFill>
              <a:srgbClr val="EF444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3" name="Google Shape;2493;p58"/>
          <p:cNvSpPr/>
          <p:nvPr/>
        </p:nvSpPr>
        <p:spPr>
          <a:xfrm>
            <a:off x="5577840" y="1691640"/>
            <a:ext cx="1280100" cy="594300"/>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F4444"/>
              </a:buClr>
              <a:buSzPts val="1100"/>
              <a:buFont typeface="Calibri"/>
              <a:buNone/>
            </a:pPr>
            <a:r>
              <a:rPr lang="en" sz="1500" b="0" i="0" u="none" strike="noStrike" cap="none">
                <a:solidFill>
                  <a:schemeClr val="dk1"/>
                </a:solidFill>
                <a:latin typeface="Calibri"/>
                <a:ea typeface="Calibri"/>
                <a:cs typeface="Calibri"/>
                <a:sym typeface="Calibri"/>
              </a:rPr>
              <a:t>50K dims</a:t>
            </a:r>
            <a:endParaRPr sz="1500" b="0" i="0" u="none" strike="noStrike" cap="none">
              <a:solidFill>
                <a:schemeClr val="dk1"/>
              </a:solidFill>
              <a:latin typeface="Calibri"/>
              <a:ea typeface="Calibri"/>
              <a:cs typeface="Calibri"/>
              <a:sym typeface="Calibri"/>
            </a:endParaRPr>
          </a:p>
        </p:txBody>
      </p:sp>
      <p:sp>
        <p:nvSpPr>
          <p:cNvPr id="2494" name="Google Shape;2494;p58"/>
          <p:cNvSpPr/>
          <p:nvPr/>
        </p:nvSpPr>
        <p:spPr>
          <a:xfrm>
            <a:off x="6949440" y="1691640"/>
            <a:ext cx="274200" cy="594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270"/>
              </a:buClr>
              <a:buSzPts val="1400"/>
              <a:buFont typeface="Calibri"/>
              <a:buNone/>
            </a:pPr>
            <a:r>
              <a:rPr lang="en" sz="1400" b="0" i="0" u="none" strike="noStrike" cap="none">
                <a:solidFill>
                  <a:srgbClr val="5A6270"/>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2495" name="Google Shape;2495;p58"/>
          <p:cNvSpPr/>
          <p:nvPr/>
        </p:nvSpPr>
        <p:spPr>
          <a:xfrm>
            <a:off x="7269480" y="1691640"/>
            <a:ext cx="1280100" cy="594300"/>
          </a:xfrm>
          <a:prstGeom prst="rect">
            <a:avLst/>
          </a:prstGeom>
          <a:solidFill>
            <a:srgbClr val="E8EDF2"/>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6" name="Google Shape;2496;p58"/>
          <p:cNvSpPr/>
          <p:nvPr/>
        </p:nvSpPr>
        <p:spPr>
          <a:xfrm>
            <a:off x="7269480" y="1691640"/>
            <a:ext cx="1280100" cy="594300"/>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0B981"/>
              </a:buClr>
              <a:buSzPts val="1100"/>
              <a:buFont typeface="Calibri"/>
              <a:buNone/>
            </a:pPr>
            <a:r>
              <a:rPr lang="en" sz="1500" b="0" i="0" u="none" strike="noStrike" cap="none">
                <a:solidFill>
                  <a:schemeClr val="dk1"/>
                </a:solidFill>
                <a:latin typeface="Calibri"/>
                <a:ea typeface="Calibri"/>
                <a:cs typeface="Calibri"/>
                <a:sym typeface="Calibri"/>
              </a:rPr>
              <a:t>300 dims</a:t>
            </a:r>
            <a:endParaRPr sz="1500" b="0" i="0" u="none" strike="noStrike" cap="none">
              <a:solidFill>
                <a:schemeClr val="dk1"/>
              </a:solidFill>
              <a:latin typeface="Calibri"/>
              <a:ea typeface="Calibri"/>
              <a:cs typeface="Calibri"/>
              <a:sym typeface="Calibri"/>
            </a:endParaRPr>
          </a:p>
        </p:txBody>
      </p:sp>
      <p:sp>
        <p:nvSpPr>
          <p:cNvPr id="2497" name="Google Shape;2497;p58"/>
          <p:cNvSpPr/>
          <p:nvPr/>
        </p:nvSpPr>
        <p:spPr>
          <a:xfrm>
            <a:off x="5577840" y="2304288"/>
            <a:ext cx="29718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270"/>
              </a:buClr>
              <a:buSzPts val="900"/>
              <a:buFont typeface="Calibri"/>
              <a:buNone/>
            </a:pPr>
            <a:r>
              <a:rPr lang="en" sz="1400" b="0" i="0" u="none" strike="noStrike" cap="none">
                <a:solidFill>
                  <a:srgbClr val="5A6270"/>
                </a:solidFill>
                <a:latin typeface="Calibri"/>
                <a:ea typeface="Calibri"/>
                <a:cs typeface="Calibri"/>
                <a:sym typeface="Calibri"/>
              </a:rPr>
              <a:t>✓ 167× smaller</a:t>
            </a:r>
            <a:endParaRPr sz="1400" b="0" i="0" u="none" strike="noStrike" cap="none">
              <a:solidFill>
                <a:schemeClr val="dk1"/>
              </a:solidFill>
              <a:latin typeface="Calibri"/>
              <a:ea typeface="Calibri"/>
              <a:cs typeface="Calibri"/>
              <a:sym typeface="Calibri"/>
            </a:endParaRPr>
          </a:p>
        </p:txBody>
      </p:sp>
      <p:sp>
        <p:nvSpPr>
          <p:cNvPr id="2498" name="Google Shape;2498;p58"/>
          <p:cNvSpPr/>
          <p:nvPr/>
        </p:nvSpPr>
        <p:spPr>
          <a:xfrm>
            <a:off x="5577840" y="2606040"/>
            <a:ext cx="1280100" cy="594300"/>
          </a:xfrm>
          <a:prstGeom prst="rect">
            <a:avLst/>
          </a:prstGeom>
          <a:solidFill>
            <a:srgbClr val="E8EDF2"/>
          </a:solidFill>
          <a:ln w="10150" cap="flat" cmpd="sng">
            <a:solidFill>
              <a:srgbClr val="EF444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9" name="Google Shape;2499;p58"/>
          <p:cNvSpPr/>
          <p:nvPr/>
        </p:nvSpPr>
        <p:spPr>
          <a:xfrm>
            <a:off x="5577840" y="2606040"/>
            <a:ext cx="1280100" cy="594300"/>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F4444"/>
              </a:buClr>
              <a:buSzPts val="1100"/>
              <a:buFont typeface="Calibri"/>
              <a:buNone/>
            </a:pPr>
            <a:r>
              <a:rPr lang="en" sz="1500" b="0" i="0" u="none" strike="noStrike" cap="none">
                <a:solidFill>
                  <a:schemeClr val="dk1"/>
                </a:solidFill>
                <a:latin typeface="Calibri"/>
                <a:ea typeface="Calibri"/>
                <a:cs typeface="Calibri"/>
                <a:sym typeface="Calibri"/>
              </a:rPr>
              <a:t>All zeros</a:t>
            </a:r>
            <a:endParaRPr sz="1500" b="0" i="0" u="none" strike="noStrike" cap="none">
              <a:solidFill>
                <a:schemeClr val="dk1"/>
              </a:solidFill>
              <a:latin typeface="Calibri"/>
              <a:ea typeface="Calibri"/>
              <a:cs typeface="Calibri"/>
              <a:sym typeface="Calibri"/>
            </a:endParaRPr>
          </a:p>
        </p:txBody>
      </p:sp>
      <p:sp>
        <p:nvSpPr>
          <p:cNvPr id="2500" name="Google Shape;2500;p58"/>
          <p:cNvSpPr/>
          <p:nvPr/>
        </p:nvSpPr>
        <p:spPr>
          <a:xfrm>
            <a:off x="6949440" y="2606040"/>
            <a:ext cx="274200" cy="594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270"/>
              </a:buClr>
              <a:buSzPts val="1400"/>
              <a:buFont typeface="Calibri"/>
              <a:buNone/>
            </a:pPr>
            <a:r>
              <a:rPr lang="en" sz="1400" b="0" i="0" u="none" strike="noStrike" cap="none">
                <a:solidFill>
                  <a:srgbClr val="5A6270"/>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2501" name="Google Shape;2501;p58"/>
          <p:cNvSpPr/>
          <p:nvPr/>
        </p:nvSpPr>
        <p:spPr>
          <a:xfrm>
            <a:off x="7269480" y="2606040"/>
            <a:ext cx="1280100" cy="594300"/>
          </a:xfrm>
          <a:prstGeom prst="rect">
            <a:avLst/>
          </a:prstGeom>
          <a:solidFill>
            <a:srgbClr val="E8EDF2"/>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2" name="Google Shape;2502;p58"/>
          <p:cNvSpPr/>
          <p:nvPr/>
        </p:nvSpPr>
        <p:spPr>
          <a:xfrm>
            <a:off x="7269480" y="2606040"/>
            <a:ext cx="1280100" cy="594300"/>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0B981"/>
              </a:buClr>
              <a:buSzPts val="1100"/>
              <a:buFont typeface="Calibri"/>
              <a:buNone/>
            </a:pPr>
            <a:r>
              <a:rPr lang="en" sz="1500" b="0" i="0" u="none" strike="noStrike" cap="none">
                <a:solidFill>
                  <a:schemeClr val="dk1"/>
                </a:solidFill>
                <a:latin typeface="Calibri"/>
                <a:ea typeface="Calibri"/>
                <a:cs typeface="Calibri"/>
                <a:sym typeface="Calibri"/>
              </a:rPr>
              <a:t>Dense floats</a:t>
            </a:r>
            <a:endParaRPr sz="1500" b="0" i="0" u="none" strike="noStrike" cap="none">
              <a:solidFill>
                <a:schemeClr val="dk1"/>
              </a:solidFill>
              <a:latin typeface="Calibri"/>
              <a:ea typeface="Calibri"/>
              <a:cs typeface="Calibri"/>
              <a:sym typeface="Calibri"/>
            </a:endParaRPr>
          </a:p>
        </p:txBody>
      </p:sp>
      <p:sp>
        <p:nvSpPr>
          <p:cNvPr id="2503" name="Google Shape;2503;p58"/>
          <p:cNvSpPr/>
          <p:nvPr/>
        </p:nvSpPr>
        <p:spPr>
          <a:xfrm>
            <a:off x="5567386" y="3197779"/>
            <a:ext cx="29718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270"/>
              </a:buClr>
              <a:buSzPts val="900"/>
              <a:buFont typeface="Calibri"/>
              <a:buNone/>
            </a:pPr>
            <a:r>
              <a:rPr lang="en" sz="1400" b="0" i="0" u="none" strike="noStrike" cap="none">
                <a:solidFill>
                  <a:srgbClr val="5A6270"/>
                </a:solidFill>
                <a:latin typeface="Calibri"/>
                <a:ea typeface="Calibri"/>
                <a:cs typeface="Calibri"/>
                <a:sym typeface="Calibri"/>
              </a:rPr>
              <a:t>✓ Information-rich</a:t>
            </a:r>
            <a:endParaRPr sz="1400" b="0" i="0" u="none" strike="noStrike" cap="none">
              <a:solidFill>
                <a:schemeClr val="dk1"/>
              </a:solidFill>
              <a:latin typeface="Calibri"/>
              <a:ea typeface="Calibri"/>
              <a:cs typeface="Calibri"/>
              <a:sym typeface="Calibri"/>
            </a:endParaRPr>
          </a:p>
        </p:txBody>
      </p:sp>
      <p:sp>
        <p:nvSpPr>
          <p:cNvPr id="2504" name="Google Shape;2504;p58"/>
          <p:cNvSpPr/>
          <p:nvPr/>
        </p:nvSpPr>
        <p:spPr>
          <a:xfrm>
            <a:off x="5577840" y="3520440"/>
            <a:ext cx="1280100" cy="594300"/>
          </a:xfrm>
          <a:prstGeom prst="rect">
            <a:avLst/>
          </a:prstGeom>
          <a:solidFill>
            <a:srgbClr val="E8EDF2"/>
          </a:solidFill>
          <a:ln w="10150" cap="flat" cmpd="sng">
            <a:solidFill>
              <a:srgbClr val="EF444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5" name="Google Shape;2505;p58"/>
          <p:cNvSpPr/>
          <p:nvPr/>
        </p:nvSpPr>
        <p:spPr>
          <a:xfrm>
            <a:off x="5577840" y="3520440"/>
            <a:ext cx="1280100" cy="594300"/>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F4444"/>
              </a:buClr>
              <a:buSzPts val="1100"/>
              <a:buFont typeface="Calibri"/>
              <a:buNone/>
            </a:pPr>
            <a:r>
              <a:rPr lang="en" sz="1500" b="0" i="0" u="none" strike="noStrike" cap="none">
                <a:solidFill>
                  <a:schemeClr val="dk1"/>
                </a:solidFill>
                <a:latin typeface="Calibri"/>
                <a:ea typeface="Calibri"/>
                <a:cs typeface="Calibri"/>
                <a:sym typeface="Calibri"/>
              </a:rPr>
              <a:t>Fixed</a:t>
            </a:r>
            <a:endParaRPr sz="1500" b="0" i="0" u="none" strike="noStrike" cap="none">
              <a:solidFill>
                <a:schemeClr val="dk1"/>
              </a:solidFill>
              <a:latin typeface="Calibri"/>
              <a:ea typeface="Calibri"/>
              <a:cs typeface="Calibri"/>
              <a:sym typeface="Calibri"/>
            </a:endParaRPr>
          </a:p>
        </p:txBody>
      </p:sp>
      <p:sp>
        <p:nvSpPr>
          <p:cNvPr id="2506" name="Google Shape;2506;p58"/>
          <p:cNvSpPr/>
          <p:nvPr/>
        </p:nvSpPr>
        <p:spPr>
          <a:xfrm>
            <a:off x="6949440" y="3520440"/>
            <a:ext cx="274200" cy="594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A6270"/>
              </a:buClr>
              <a:buSzPts val="1400"/>
              <a:buFont typeface="Calibri"/>
              <a:buNone/>
            </a:pPr>
            <a:r>
              <a:rPr lang="en" sz="1400" b="0" i="0" u="none" strike="noStrike" cap="none">
                <a:solidFill>
                  <a:srgbClr val="5A6270"/>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2507" name="Google Shape;2507;p58"/>
          <p:cNvSpPr/>
          <p:nvPr/>
        </p:nvSpPr>
        <p:spPr>
          <a:xfrm>
            <a:off x="7269480" y="3520440"/>
            <a:ext cx="1280100" cy="594300"/>
          </a:xfrm>
          <a:prstGeom prst="rect">
            <a:avLst/>
          </a:prstGeom>
          <a:solidFill>
            <a:srgbClr val="E8EDF2"/>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8" name="Google Shape;2508;p58"/>
          <p:cNvSpPr/>
          <p:nvPr/>
        </p:nvSpPr>
        <p:spPr>
          <a:xfrm>
            <a:off x="7269480" y="3520440"/>
            <a:ext cx="1280100" cy="594300"/>
          </a:xfrm>
          <a:prstGeom prst="rect">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0B981"/>
              </a:buClr>
              <a:buSzPts val="1100"/>
              <a:buFont typeface="Calibri"/>
              <a:buNone/>
            </a:pPr>
            <a:r>
              <a:rPr lang="en" sz="1500" b="0" i="0" u="none" strike="noStrike" cap="none">
                <a:solidFill>
                  <a:schemeClr val="dk1"/>
                </a:solidFill>
                <a:latin typeface="Calibri"/>
                <a:ea typeface="Calibri"/>
                <a:cs typeface="Calibri"/>
                <a:sym typeface="Calibri"/>
              </a:rPr>
              <a:t>Learned</a:t>
            </a:r>
            <a:endParaRPr sz="1500" b="0" i="0" u="none" strike="noStrike" cap="none">
              <a:solidFill>
                <a:schemeClr val="dk1"/>
              </a:solidFill>
              <a:latin typeface="Calibri"/>
              <a:ea typeface="Calibri"/>
              <a:cs typeface="Calibri"/>
              <a:sym typeface="Calibri"/>
            </a:endParaRPr>
          </a:p>
        </p:txBody>
      </p:sp>
      <p:sp>
        <p:nvSpPr>
          <p:cNvPr id="2509" name="Google Shape;2509;p58"/>
          <p:cNvSpPr/>
          <p:nvPr/>
        </p:nvSpPr>
        <p:spPr>
          <a:xfrm>
            <a:off x="5577840" y="4133088"/>
            <a:ext cx="29718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270"/>
              </a:buClr>
              <a:buSzPts val="900"/>
              <a:buFont typeface="Calibri"/>
              <a:buNone/>
            </a:pPr>
            <a:r>
              <a:rPr lang="en" sz="1400" b="0" i="0" u="none" strike="noStrike" cap="none">
                <a:solidFill>
                  <a:srgbClr val="5A6270"/>
                </a:solidFill>
                <a:latin typeface="Calibri"/>
                <a:ea typeface="Calibri"/>
                <a:cs typeface="Calibri"/>
                <a:sym typeface="Calibri"/>
              </a:rPr>
              <a:t>✓ Task-aware</a:t>
            </a:r>
            <a:endParaRPr sz="1400" b="0" i="0" u="none" strike="noStrike" cap="none">
              <a:solidFill>
                <a:schemeClr val="dk1"/>
              </a:solidFill>
              <a:latin typeface="Calibri"/>
              <a:ea typeface="Calibri"/>
              <a:cs typeface="Calibri"/>
              <a:sym typeface="Calibri"/>
            </a:endParaRPr>
          </a:p>
        </p:txBody>
      </p:sp>
      <p:pic>
        <p:nvPicPr>
          <p:cNvPr id="2510" name="Google Shape;2510;p58"/>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2511" name="Google Shape;2511;p58"/>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76</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16"/>
        <p:cNvGrpSpPr/>
        <p:nvPr/>
      </p:nvGrpSpPr>
      <p:grpSpPr>
        <a:xfrm>
          <a:off x="0" y="0"/>
          <a:ext cx="0" cy="0"/>
          <a:chOff x="0" y="0"/>
          <a:chExt cx="0" cy="0"/>
        </a:xfrm>
      </p:grpSpPr>
      <p:sp>
        <p:nvSpPr>
          <p:cNvPr id="2517" name="Google Shape;2517;p60"/>
          <p:cNvSpPr/>
          <p:nvPr/>
        </p:nvSpPr>
        <p:spPr>
          <a:xfrm>
            <a:off x="365760" y="411480"/>
            <a:ext cx="8412600" cy="594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1F26"/>
              </a:buClr>
              <a:buSzPts val="3200"/>
              <a:buFont typeface="Calibri"/>
              <a:buNone/>
            </a:pPr>
            <a:r>
              <a:rPr lang="en" sz="2800" b="1" i="0" u="none" strike="noStrike" cap="none">
                <a:solidFill>
                  <a:srgbClr val="1A1F26"/>
                </a:solidFill>
                <a:latin typeface="Calibri"/>
                <a:ea typeface="Calibri"/>
                <a:cs typeface="Calibri"/>
                <a:sym typeface="Calibri"/>
              </a:rPr>
              <a:t>Word2Vec: Two Training Strategies</a:t>
            </a:r>
            <a:endParaRPr sz="2800" b="0" i="0" u="none" strike="noStrike" cap="none">
              <a:solidFill>
                <a:schemeClr val="dk1"/>
              </a:solidFill>
              <a:latin typeface="Calibri"/>
              <a:ea typeface="Calibri"/>
              <a:cs typeface="Calibri"/>
              <a:sym typeface="Calibri"/>
            </a:endParaRPr>
          </a:p>
        </p:txBody>
      </p:sp>
      <p:sp>
        <p:nvSpPr>
          <p:cNvPr id="2518" name="Google Shape;2518;p60"/>
          <p:cNvSpPr/>
          <p:nvPr/>
        </p:nvSpPr>
        <p:spPr>
          <a:xfrm>
            <a:off x="320040" y="1143000"/>
            <a:ext cx="4023300" cy="2194500"/>
          </a:xfrm>
          <a:prstGeom prst="rect">
            <a:avLst/>
          </a:prstGeom>
          <a:solidFill>
            <a:schemeClr val="lt1"/>
          </a:solidFill>
          <a:ln w="15225" cap="flat" cmpd="sng">
            <a:solidFill>
              <a:srgbClr val="0077AA"/>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519" name="Google Shape;2519;p60"/>
          <p:cNvSpPr/>
          <p:nvPr/>
        </p:nvSpPr>
        <p:spPr>
          <a:xfrm>
            <a:off x="457200" y="1248797"/>
            <a:ext cx="37491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77AA"/>
              </a:buClr>
              <a:buSzPts val="1500"/>
              <a:buFont typeface="Calibri"/>
              <a:buNone/>
            </a:pPr>
            <a:r>
              <a:rPr lang="en" sz="1900" b="1" i="0" u="none" strike="noStrike" cap="none">
                <a:solidFill>
                  <a:schemeClr val="dk1"/>
                </a:solidFill>
                <a:latin typeface="Calibri"/>
                <a:ea typeface="Calibri"/>
                <a:cs typeface="Calibri"/>
                <a:sym typeface="Calibri"/>
              </a:rPr>
              <a:t>Skip-gram</a:t>
            </a:r>
            <a:endParaRPr sz="1900" b="0" i="0" u="none" strike="noStrike" cap="none">
              <a:solidFill>
                <a:schemeClr val="dk1"/>
              </a:solidFill>
              <a:latin typeface="Calibri"/>
              <a:ea typeface="Calibri"/>
              <a:cs typeface="Calibri"/>
              <a:sym typeface="Calibri"/>
            </a:endParaRPr>
          </a:p>
        </p:txBody>
      </p:sp>
      <p:sp>
        <p:nvSpPr>
          <p:cNvPr id="2520" name="Google Shape;2520;p60"/>
          <p:cNvSpPr/>
          <p:nvPr/>
        </p:nvSpPr>
        <p:spPr>
          <a:xfrm>
            <a:off x="457200" y="1627632"/>
            <a:ext cx="37491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270"/>
              </a:buClr>
              <a:buSzPts val="1000"/>
              <a:buFont typeface="Calibri"/>
              <a:buNone/>
            </a:pPr>
            <a:r>
              <a:rPr lang="en" sz="1200" b="0" i="0" u="none" strike="noStrike" cap="none">
                <a:solidFill>
                  <a:schemeClr val="dk1"/>
                </a:solidFill>
                <a:latin typeface="Calibri"/>
                <a:ea typeface="Calibri"/>
                <a:cs typeface="Calibri"/>
                <a:sym typeface="Calibri"/>
              </a:rPr>
              <a:t>Input: center word → Predict: context words</a:t>
            </a:r>
            <a:endParaRPr sz="1200" b="0" i="0" u="none" strike="noStrike" cap="none">
              <a:solidFill>
                <a:schemeClr val="dk1"/>
              </a:solidFill>
              <a:latin typeface="Calibri"/>
              <a:ea typeface="Calibri"/>
              <a:cs typeface="Calibri"/>
              <a:sym typeface="Calibri"/>
            </a:endParaRPr>
          </a:p>
        </p:txBody>
      </p:sp>
      <p:sp>
        <p:nvSpPr>
          <p:cNvPr id="2521" name="Google Shape;2521;p60"/>
          <p:cNvSpPr/>
          <p:nvPr/>
        </p:nvSpPr>
        <p:spPr>
          <a:xfrm>
            <a:off x="457200" y="1920240"/>
            <a:ext cx="3749100" cy="731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90E0EF"/>
              </a:buClr>
              <a:buSzPts val="1050"/>
              <a:buFont typeface="Consolas"/>
              <a:buNone/>
            </a:pPr>
            <a:r>
              <a:rPr lang="en" sz="1050" b="0" i="0" u="none" strike="noStrike" cap="none">
                <a:solidFill>
                  <a:schemeClr val="dk1"/>
                </a:solidFill>
                <a:latin typeface="Consolas"/>
                <a:ea typeface="Consolas"/>
                <a:cs typeface="Consolas"/>
                <a:sym typeface="Consolas"/>
              </a:rPr>
              <a:t>"The [cat] sat on the mat"</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0E0EF"/>
              </a:buClr>
              <a:buSzPts val="1050"/>
              <a:buFont typeface="Consolas"/>
              <a:buNone/>
            </a:pPr>
            <a:r>
              <a:rPr lang="en" sz="1050" b="0" i="0" u="none" strike="noStrike" cap="none">
                <a:solidFill>
                  <a:schemeClr val="dk1"/>
                </a:solidFill>
                <a:latin typeface="Consolas"/>
                <a:ea typeface="Consolas"/>
                <a:cs typeface="Consolas"/>
                <a:sym typeface="Consolas"/>
              </a:rPr>
              <a:t>    ↓</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90E0EF"/>
              </a:buClr>
              <a:buSzPts val="1050"/>
              <a:buFont typeface="Consolas"/>
              <a:buNone/>
            </a:pPr>
            <a:r>
              <a:rPr lang="en" sz="1050" b="0" i="0" u="none" strike="noStrike" cap="none">
                <a:solidFill>
                  <a:schemeClr val="dk1"/>
                </a:solidFill>
                <a:latin typeface="Consolas"/>
                <a:ea typeface="Consolas"/>
                <a:cs typeface="Consolas"/>
                <a:sym typeface="Consolas"/>
              </a:rPr>
              <a:t>Predict: "The", "sat", "on"</a:t>
            </a:r>
            <a:endParaRPr sz="1050" b="0" i="0" u="none" strike="noStrike" cap="none">
              <a:solidFill>
                <a:schemeClr val="dk1"/>
              </a:solidFill>
              <a:latin typeface="Calibri"/>
              <a:ea typeface="Calibri"/>
              <a:cs typeface="Calibri"/>
              <a:sym typeface="Calibri"/>
            </a:endParaRPr>
          </a:p>
        </p:txBody>
      </p:sp>
      <p:sp>
        <p:nvSpPr>
          <p:cNvPr id="2522" name="Google Shape;2522;p60"/>
          <p:cNvSpPr/>
          <p:nvPr/>
        </p:nvSpPr>
        <p:spPr>
          <a:xfrm>
            <a:off x="457200" y="2670048"/>
            <a:ext cx="37491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0B981"/>
              </a:buClr>
              <a:buSzPts val="1000"/>
              <a:buFont typeface="Calibri"/>
              <a:buNone/>
            </a:pPr>
            <a:r>
              <a:rPr lang="en" sz="1000" b="0" i="0" u="none" strike="noStrike" cap="none">
                <a:solidFill>
                  <a:schemeClr val="dk1"/>
                </a:solidFill>
                <a:latin typeface="Calibri"/>
                <a:ea typeface="Calibri"/>
                <a:cs typeface="Calibri"/>
                <a:sym typeface="Calibri"/>
              </a:rPr>
              <a:t>Better for rare words</a:t>
            </a:r>
            <a:endParaRPr sz="1000" b="0" i="0" u="none" strike="noStrike" cap="none">
              <a:solidFill>
                <a:schemeClr val="dk1"/>
              </a:solidFill>
              <a:latin typeface="Calibri"/>
              <a:ea typeface="Calibri"/>
              <a:cs typeface="Calibri"/>
              <a:sym typeface="Calibri"/>
            </a:endParaRPr>
          </a:p>
        </p:txBody>
      </p:sp>
      <p:sp>
        <p:nvSpPr>
          <p:cNvPr id="2523" name="Google Shape;2523;p60"/>
          <p:cNvSpPr/>
          <p:nvPr/>
        </p:nvSpPr>
        <p:spPr>
          <a:xfrm>
            <a:off x="4572000" y="1143000"/>
            <a:ext cx="4023300" cy="2194500"/>
          </a:xfrm>
          <a:prstGeom prst="rect">
            <a:avLst/>
          </a:prstGeom>
          <a:solidFill>
            <a:schemeClr val="lt1"/>
          </a:solidFill>
          <a:ln w="15225" cap="flat" cmpd="sng">
            <a:solidFill>
              <a:srgbClr val="7C3AED"/>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4" name="Google Shape;2524;p60"/>
          <p:cNvSpPr/>
          <p:nvPr/>
        </p:nvSpPr>
        <p:spPr>
          <a:xfrm>
            <a:off x="4709160" y="1280173"/>
            <a:ext cx="37491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C3AED"/>
              </a:buClr>
              <a:buSzPts val="1500"/>
              <a:buFont typeface="Calibri"/>
              <a:buNone/>
            </a:pPr>
            <a:r>
              <a:rPr lang="en" sz="1500" b="1" i="0" u="none" strike="noStrike" cap="none">
                <a:solidFill>
                  <a:schemeClr val="dk1"/>
                </a:solidFill>
                <a:latin typeface="Calibri"/>
                <a:ea typeface="Calibri"/>
                <a:cs typeface="Calibri"/>
                <a:sym typeface="Calibri"/>
              </a:rPr>
              <a:t>CBOW</a:t>
            </a:r>
            <a:endParaRPr sz="1500" b="0" i="0" u="none" strike="noStrike" cap="none">
              <a:solidFill>
                <a:schemeClr val="dk1"/>
              </a:solidFill>
              <a:latin typeface="Calibri"/>
              <a:ea typeface="Calibri"/>
              <a:cs typeface="Calibri"/>
              <a:sym typeface="Calibri"/>
            </a:endParaRPr>
          </a:p>
        </p:txBody>
      </p:sp>
      <p:sp>
        <p:nvSpPr>
          <p:cNvPr id="2525" name="Google Shape;2525;p60"/>
          <p:cNvSpPr/>
          <p:nvPr/>
        </p:nvSpPr>
        <p:spPr>
          <a:xfrm>
            <a:off x="4709160" y="1627632"/>
            <a:ext cx="37491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270"/>
              </a:buClr>
              <a:buSzPts val="1000"/>
              <a:buFont typeface="Calibri"/>
              <a:buNone/>
            </a:pPr>
            <a:r>
              <a:rPr lang="en" sz="1000" b="0" i="0" u="none" strike="noStrike" cap="none">
                <a:solidFill>
                  <a:schemeClr val="dk1"/>
                </a:solidFill>
                <a:latin typeface="Calibri"/>
                <a:ea typeface="Calibri"/>
                <a:cs typeface="Calibri"/>
                <a:sym typeface="Calibri"/>
              </a:rPr>
              <a:t>Input: context words → Predict: center word</a:t>
            </a:r>
            <a:endParaRPr sz="1000" b="0" i="0" u="none" strike="noStrike" cap="none">
              <a:solidFill>
                <a:schemeClr val="dk1"/>
              </a:solidFill>
              <a:latin typeface="Calibri"/>
              <a:ea typeface="Calibri"/>
              <a:cs typeface="Calibri"/>
              <a:sym typeface="Calibri"/>
            </a:endParaRPr>
          </a:p>
        </p:txBody>
      </p:sp>
      <p:sp>
        <p:nvSpPr>
          <p:cNvPr id="2526" name="Google Shape;2526;p60"/>
          <p:cNvSpPr/>
          <p:nvPr/>
        </p:nvSpPr>
        <p:spPr>
          <a:xfrm>
            <a:off x="4709160" y="1920240"/>
            <a:ext cx="3749100" cy="731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C084FC"/>
              </a:buClr>
              <a:buSzPts val="1050"/>
              <a:buFont typeface="Consolas"/>
              <a:buNone/>
            </a:pPr>
            <a:r>
              <a:rPr lang="en" sz="1050" b="0" i="0" u="none" strike="noStrike" cap="none">
                <a:solidFill>
                  <a:schemeClr val="dk1"/>
                </a:solidFill>
                <a:latin typeface="Consolas"/>
                <a:ea typeface="Consolas"/>
                <a:cs typeface="Consolas"/>
                <a:sym typeface="Consolas"/>
              </a:rPr>
              <a:t>"The [?] sat on the mat"</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C084FC"/>
              </a:buClr>
              <a:buSzPts val="1050"/>
              <a:buFont typeface="Consolas"/>
              <a:buNone/>
            </a:pPr>
            <a:r>
              <a:rPr lang="en" sz="1050" b="0" i="0" u="none" strike="noStrike" cap="none">
                <a:solidFill>
                  <a:schemeClr val="dk1"/>
                </a:solidFill>
                <a:latin typeface="Consolas"/>
                <a:ea typeface="Consolas"/>
                <a:cs typeface="Consolas"/>
                <a:sym typeface="Consolas"/>
              </a:rPr>
              <a:t>    ↑</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C084FC"/>
              </a:buClr>
              <a:buSzPts val="1050"/>
              <a:buFont typeface="Consolas"/>
              <a:buNone/>
            </a:pPr>
            <a:r>
              <a:rPr lang="en" sz="1050" b="0" i="0" u="none" strike="noStrike" cap="none">
                <a:solidFill>
                  <a:schemeClr val="dk1"/>
                </a:solidFill>
                <a:latin typeface="Consolas"/>
                <a:ea typeface="Consolas"/>
                <a:cs typeface="Consolas"/>
                <a:sym typeface="Consolas"/>
              </a:rPr>
              <a:t>Context: "The", "sat", "on"</a:t>
            </a:r>
            <a:endParaRPr sz="1050" b="0" i="0" u="none" strike="noStrike" cap="none">
              <a:solidFill>
                <a:schemeClr val="dk1"/>
              </a:solidFill>
              <a:latin typeface="Calibri"/>
              <a:ea typeface="Calibri"/>
              <a:cs typeface="Calibri"/>
              <a:sym typeface="Calibri"/>
            </a:endParaRPr>
          </a:p>
        </p:txBody>
      </p:sp>
      <p:sp>
        <p:nvSpPr>
          <p:cNvPr id="2527" name="Google Shape;2527;p60"/>
          <p:cNvSpPr/>
          <p:nvPr/>
        </p:nvSpPr>
        <p:spPr>
          <a:xfrm>
            <a:off x="4709160" y="2670048"/>
            <a:ext cx="37491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0B981"/>
              </a:buClr>
              <a:buSzPts val="1000"/>
              <a:buFont typeface="Calibri"/>
              <a:buNone/>
            </a:pPr>
            <a:r>
              <a:rPr lang="en" sz="1000" b="0" i="0" u="none" strike="noStrike" cap="none">
                <a:solidFill>
                  <a:schemeClr val="dk1"/>
                </a:solidFill>
                <a:latin typeface="Calibri"/>
                <a:ea typeface="Calibri"/>
                <a:cs typeface="Calibri"/>
                <a:sym typeface="Calibri"/>
              </a:rPr>
              <a:t>Faster, good for frequent words</a:t>
            </a:r>
            <a:endParaRPr sz="1000" b="0" i="0" u="none" strike="noStrike" cap="none">
              <a:solidFill>
                <a:schemeClr val="dk1"/>
              </a:solidFill>
              <a:latin typeface="Calibri"/>
              <a:ea typeface="Calibri"/>
              <a:cs typeface="Calibri"/>
              <a:sym typeface="Calibri"/>
            </a:endParaRPr>
          </a:p>
        </p:txBody>
      </p:sp>
      <p:sp>
        <p:nvSpPr>
          <p:cNvPr id="2528" name="Google Shape;2528;p60"/>
          <p:cNvSpPr/>
          <p:nvPr/>
        </p:nvSpPr>
        <p:spPr>
          <a:xfrm>
            <a:off x="320050" y="3520451"/>
            <a:ext cx="8503800" cy="1583000"/>
          </a:xfrm>
          <a:prstGeom prst="rect">
            <a:avLst/>
          </a:prstGeom>
          <a:solidFill>
            <a:srgbClr val="F8F9FA"/>
          </a:solidFill>
          <a:ln w="12700" cap="flat" cmpd="sng">
            <a:solidFill>
              <a:srgbClr val="0077AA"/>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9" name="Google Shape;2529;p60"/>
          <p:cNvSpPr/>
          <p:nvPr/>
        </p:nvSpPr>
        <p:spPr>
          <a:xfrm>
            <a:off x="60698" y="3555661"/>
            <a:ext cx="1645800" cy="255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8F9FA"/>
              </a:buClr>
              <a:buSzPts val="900"/>
              <a:buFont typeface="Calibri"/>
              <a:buNone/>
            </a:pPr>
            <a:r>
              <a:rPr lang="en" sz="1900" b="1" i="0" u="none" strike="noStrike" cap="none">
                <a:solidFill>
                  <a:schemeClr val="dk1"/>
                </a:solidFill>
                <a:latin typeface="Calibri"/>
                <a:ea typeface="Calibri"/>
                <a:cs typeface="Calibri"/>
                <a:sym typeface="Calibri"/>
              </a:rPr>
              <a:t>Gensim</a:t>
            </a:r>
            <a:endParaRPr sz="1900" b="0" i="0" u="none" strike="noStrike" cap="none">
              <a:solidFill>
                <a:schemeClr val="dk1"/>
              </a:solidFill>
              <a:latin typeface="Calibri"/>
              <a:ea typeface="Calibri"/>
              <a:cs typeface="Calibri"/>
              <a:sym typeface="Calibri"/>
            </a:endParaRPr>
          </a:p>
        </p:txBody>
      </p:sp>
      <p:sp>
        <p:nvSpPr>
          <p:cNvPr id="2530" name="Google Shape;2530;p60"/>
          <p:cNvSpPr/>
          <p:nvPr/>
        </p:nvSpPr>
        <p:spPr>
          <a:xfrm>
            <a:off x="429772" y="3813050"/>
            <a:ext cx="4661400" cy="123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from gensim.models import Word2Vec  # Gensim: implements Word2Vec</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950"/>
              <a:buFont typeface="Calibri"/>
              <a:buNone/>
            </a:pP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 training corpus: each inner list = one tokenized sentence</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sentences = [["king","rules","the","kingdom"],</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             ["queen","rules","the","kingdom"],</a:t>
            </a:r>
            <a:endParaRPr sz="9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950" b="0" i="0" u="none" strike="noStrike" cap="none">
                <a:solidFill>
                  <a:srgbClr val="1A1F26"/>
                </a:solidFill>
                <a:latin typeface="Consolas"/>
                <a:ea typeface="Consolas"/>
                <a:cs typeface="Consolas"/>
                <a:sym typeface="Consolas"/>
              </a:rPr>
              <a:t>             ["man","is","a","human"],["woman","is","a","human"]]</a:t>
            </a:r>
            <a:endParaRPr sz="950" b="0" i="0" u="none" strike="noStrike" cap="none">
              <a:solidFill>
                <a:schemeClr val="dk1"/>
              </a:solidFill>
              <a:latin typeface="Calibri"/>
              <a:ea typeface="Calibri"/>
              <a:cs typeface="Calibri"/>
              <a:sym typeface="Calibri"/>
            </a:endParaRPr>
          </a:p>
        </p:txBody>
      </p:sp>
      <p:pic>
        <p:nvPicPr>
          <p:cNvPr id="2531" name="Google Shape;2531;p60"/>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2532" name="Google Shape;2532;p60"/>
          <p:cNvSpPr txBox="1"/>
          <p:nvPr/>
        </p:nvSpPr>
        <p:spPr>
          <a:xfrm>
            <a:off x="4986700" y="3566125"/>
            <a:ext cx="3749100" cy="1477000"/>
          </a:xfrm>
          <a:prstGeom prst="rect">
            <a:avLst/>
          </a:prstGeom>
          <a:noFill/>
          <a:ln>
            <a:noFill/>
          </a:ln>
        </p:spPr>
        <p:txBody>
          <a:bodyPr spcFirstLastPara="1" wrap="square" lIns="91425" tIns="91425" rIns="91425" bIns="91425" anchor="t" anchorCtr="0">
            <a:noAutofit/>
          </a:bodyPr>
          <a:lstStyle/>
          <a:p>
            <a:pPr marL="0" marR="0" lvl="0" indent="0" algn="l" rtl="0">
              <a:lnSpc>
                <a:spcPct val="80000"/>
              </a:lnSpc>
              <a:spcBef>
                <a:spcPts val="0"/>
              </a:spcBef>
              <a:spcAft>
                <a:spcPts val="0"/>
              </a:spcAft>
              <a:buClr>
                <a:srgbClr val="1A1F26"/>
              </a:buClr>
              <a:buSzPts val="736"/>
              <a:buFont typeface="Consolas"/>
              <a:buNone/>
            </a:pPr>
            <a:r>
              <a:rPr lang="en" sz="950" b="0" i="0" u="none" strike="noStrike" cap="none">
                <a:solidFill>
                  <a:srgbClr val="1A1F26"/>
                </a:solidFill>
                <a:latin typeface="Consolas"/>
                <a:ea typeface="Consolas"/>
                <a:cs typeface="Consolas"/>
                <a:sym typeface="Consolas"/>
              </a:rPr>
              <a:t>model = Word2Vec(sentences, vector_size=100,</a:t>
            </a:r>
            <a:endParaRPr sz="950" b="0" i="0" u="none" strike="noStrike" cap="none">
              <a:solidFill>
                <a:schemeClr val="dk1"/>
              </a:solidFill>
              <a:latin typeface="Calibri"/>
              <a:ea typeface="Calibri"/>
              <a:cs typeface="Calibri"/>
              <a:sym typeface="Calibri"/>
            </a:endParaRPr>
          </a:p>
          <a:p>
            <a:pPr marL="0" marR="0" lvl="0" indent="0" algn="l" rtl="0">
              <a:lnSpc>
                <a:spcPct val="80000"/>
              </a:lnSpc>
              <a:spcBef>
                <a:spcPts val="0"/>
              </a:spcBef>
              <a:spcAft>
                <a:spcPts val="0"/>
              </a:spcAft>
              <a:buClr>
                <a:srgbClr val="1A1F26"/>
              </a:buClr>
              <a:buSzPts val="736"/>
              <a:buFont typeface="Consolas"/>
              <a:buNone/>
            </a:pPr>
            <a:r>
              <a:rPr lang="en" sz="950" b="0" i="0" u="none" strike="noStrike" cap="none">
                <a:solidFill>
                  <a:srgbClr val="1A1F26"/>
                </a:solidFill>
                <a:latin typeface="Consolas"/>
                <a:ea typeface="Consolas"/>
                <a:cs typeface="Consolas"/>
                <a:sym typeface="Consolas"/>
              </a:rPr>
              <a:t>                 window=3, min_count=1,</a:t>
            </a:r>
            <a:endParaRPr sz="950" b="0" i="0" u="none" strike="noStrike" cap="none">
              <a:solidFill>
                <a:schemeClr val="dk1"/>
              </a:solidFill>
              <a:latin typeface="Calibri"/>
              <a:ea typeface="Calibri"/>
              <a:cs typeface="Calibri"/>
              <a:sym typeface="Calibri"/>
            </a:endParaRPr>
          </a:p>
          <a:p>
            <a:pPr marL="0" marR="0" lvl="0" indent="0" algn="l" rtl="0">
              <a:lnSpc>
                <a:spcPct val="80000"/>
              </a:lnSpc>
              <a:spcBef>
                <a:spcPts val="0"/>
              </a:spcBef>
              <a:spcAft>
                <a:spcPts val="0"/>
              </a:spcAft>
              <a:buClr>
                <a:srgbClr val="1A1F26"/>
              </a:buClr>
              <a:buSzPts val="736"/>
              <a:buFont typeface="Consolas"/>
              <a:buNone/>
            </a:pPr>
            <a:r>
              <a:rPr lang="en" sz="950" b="0" i="0" u="none" strike="noStrike" cap="none">
                <a:solidFill>
                  <a:srgbClr val="1A1F26"/>
                </a:solidFill>
                <a:latin typeface="Consolas"/>
                <a:ea typeface="Consolas"/>
                <a:cs typeface="Consolas"/>
                <a:sym typeface="Consolas"/>
              </a:rPr>
              <a:t>                 sg=1)   # sg=1: Skip-gram, sg=0: CBOW</a:t>
            </a:r>
            <a:endParaRPr sz="950" b="0" i="0" u="none" strike="noStrike" cap="none">
              <a:solidFill>
                <a:schemeClr val="dk1"/>
              </a:solidFill>
              <a:latin typeface="Calibri"/>
              <a:ea typeface="Calibri"/>
              <a:cs typeface="Calibri"/>
              <a:sym typeface="Calibri"/>
            </a:endParaRPr>
          </a:p>
          <a:p>
            <a:pPr marL="0" marR="0" lvl="0" indent="0" algn="l" rtl="0">
              <a:lnSpc>
                <a:spcPct val="80000"/>
              </a:lnSpc>
              <a:spcBef>
                <a:spcPts val="0"/>
              </a:spcBef>
              <a:spcAft>
                <a:spcPts val="0"/>
              </a:spcAft>
              <a:buClr>
                <a:schemeClr val="dk1"/>
              </a:buClr>
              <a:buSzPts val="736"/>
              <a:buFont typeface="Calibri"/>
              <a:buNone/>
            </a:pPr>
            <a:endParaRPr sz="950" b="0" i="0" u="none" strike="noStrike" cap="none">
              <a:solidFill>
                <a:schemeClr val="dk1"/>
              </a:solidFill>
              <a:latin typeface="Calibri"/>
              <a:ea typeface="Calibri"/>
              <a:cs typeface="Calibri"/>
              <a:sym typeface="Calibri"/>
            </a:endParaRPr>
          </a:p>
          <a:p>
            <a:pPr marL="0" marR="0" lvl="0" indent="0" algn="l" rtl="0">
              <a:lnSpc>
                <a:spcPct val="80000"/>
              </a:lnSpc>
              <a:spcBef>
                <a:spcPts val="0"/>
              </a:spcBef>
              <a:spcAft>
                <a:spcPts val="0"/>
              </a:spcAft>
              <a:buClr>
                <a:srgbClr val="1A1F26"/>
              </a:buClr>
              <a:buSzPts val="736"/>
              <a:buFont typeface="Consolas"/>
              <a:buNone/>
            </a:pPr>
            <a:r>
              <a:rPr lang="en" sz="950" b="0" i="0" u="none" strike="noStrike" cap="none">
                <a:solidFill>
                  <a:srgbClr val="1A1F26"/>
                </a:solidFill>
                <a:latin typeface="Consolas"/>
                <a:ea typeface="Consolas"/>
                <a:cs typeface="Consolas"/>
                <a:sym typeface="Consolas"/>
              </a:rPr>
              <a:t># The famous analogy</a:t>
            </a:r>
            <a:endParaRPr sz="950" b="0" i="0" u="none" strike="noStrike" cap="none">
              <a:solidFill>
                <a:schemeClr val="dk1"/>
              </a:solidFill>
              <a:latin typeface="Calibri"/>
              <a:ea typeface="Calibri"/>
              <a:cs typeface="Calibri"/>
              <a:sym typeface="Calibri"/>
            </a:endParaRPr>
          </a:p>
          <a:p>
            <a:pPr marL="0" marR="0" lvl="0" indent="0" algn="l" rtl="0">
              <a:lnSpc>
                <a:spcPct val="80000"/>
              </a:lnSpc>
              <a:spcBef>
                <a:spcPts val="0"/>
              </a:spcBef>
              <a:spcAft>
                <a:spcPts val="0"/>
              </a:spcAft>
              <a:buClr>
                <a:srgbClr val="1A1F26"/>
              </a:buClr>
              <a:buSzPts val="736"/>
              <a:buFont typeface="Consolas"/>
              <a:buNone/>
            </a:pPr>
            <a:r>
              <a:rPr lang="en" sz="950" b="0" i="0" u="none" strike="noStrike" cap="none">
                <a:solidFill>
                  <a:srgbClr val="1A1F26"/>
                </a:solidFill>
                <a:latin typeface="Consolas"/>
                <a:ea typeface="Consolas"/>
                <a:cs typeface="Consolas"/>
                <a:sym typeface="Consolas"/>
              </a:rPr>
              <a:t># king+woman−man → nearest by cosine sim</a:t>
            </a:r>
            <a:endParaRPr sz="950" b="0" i="0" u="none" strike="noStrike" cap="none">
              <a:solidFill>
                <a:schemeClr val="dk1"/>
              </a:solidFill>
              <a:latin typeface="Calibri"/>
              <a:ea typeface="Calibri"/>
              <a:cs typeface="Calibri"/>
              <a:sym typeface="Calibri"/>
            </a:endParaRPr>
          </a:p>
          <a:p>
            <a:pPr marL="0" marR="0" lvl="0" indent="0" algn="l" rtl="0">
              <a:lnSpc>
                <a:spcPct val="80000"/>
              </a:lnSpc>
              <a:spcBef>
                <a:spcPts val="0"/>
              </a:spcBef>
              <a:spcAft>
                <a:spcPts val="0"/>
              </a:spcAft>
              <a:buClr>
                <a:srgbClr val="1A1F26"/>
              </a:buClr>
              <a:buSzPts val="736"/>
              <a:buFont typeface="Consolas"/>
              <a:buNone/>
            </a:pPr>
            <a:r>
              <a:rPr lang="en" sz="950" b="0" i="0" u="none" strike="noStrike" cap="none">
                <a:solidFill>
                  <a:srgbClr val="1A1F26"/>
                </a:solidFill>
                <a:latin typeface="Consolas"/>
                <a:ea typeface="Consolas"/>
                <a:cs typeface="Consolas"/>
                <a:sym typeface="Consolas"/>
              </a:rPr>
              <a:t>result = model.wv.most_similar(</a:t>
            </a:r>
            <a:endParaRPr sz="950" b="0" i="0" u="none" strike="noStrike" cap="none">
              <a:solidFill>
                <a:schemeClr val="dk1"/>
              </a:solidFill>
              <a:latin typeface="Calibri"/>
              <a:ea typeface="Calibri"/>
              <a:cs typeface="Calibri"/>
              <a:sym typeface="Calibri"/>
            </a:endParaRPr>
          </a:p>
          <a:p>
            <a:pPr marL="0" marR="0" lvl="0" indent="0" algn="l" rtl="0">
              <a:lnSpc>
                <a:spcPct val="80000"/>
              </a:lnSpc>
              <a:spcBef>
                <a:spcPts val="0"/>
              </a:spcBef>
              <a:spcAft>
                <a:spcPts val="0"/>
              </a:spcAft>
              <a:buClr>
                <a:srgbClr val="1A1F26"/>
              </a:buClr>
              <a:buSzPts val="736"/>
              <a:buFont typeface="Consolas"/>
              <a:buNone/>
            </a:pPr>
            <a:r>
              <a:rPr lang="en" sz="950" b="0" i="0" u="none" strike="noStrike" cap="none">
                <a:solidFill>
                  <a:srgbClr val="1A1F26"/>
                </a:solidFill>
                <a:latin typeface="Consolas"/>
                <a:ea typeface="Consolas"/>
                <a:cs typeface="Consolas"/>
                <a:sym typeface="Consolas"/>
              </a:rPr>
              <a:t>    positive=["king","woman"], negative=["man"])</a:t>
            </a:r>
            <a:endParaRPr sz="950" b="0" i="0" u="none" strike="noStrike" cap="none">
              <a:solidFill>
                <a:schemeClr val="dk1"/>
              </a:solidFill>
              <a:latin typeface="Calibri"/>
              <a:ea typeface="Calibri"/>
              <a:cs typeface="Calibri"/>
              <a:sym typeface="Calibri"/>
            </a:endParaRPr>
          </a:p>
          <a:p>
            <a:pPr marL="0" marR="0" lvl="0" indent="0" algn="l" rtl="0">
              <a:lnSpc>
                <a:spcPct val="80000"/>
              </a:lnSpc>
              <a:spcBef>
                <a:spcPts val="0"/>
              </a:spcBef>
              <a:spcAft>
                <a:spcPts val="0"/>
              </a:spcAft>
              <a:buClr>
                <a:srgbClr val="1A1F26"/>
              </a:buClr>
              <a:buSzPts val="736"/>
              <a:buFont typeface="Consolas"/>
              <a:buNone/>
            </a:pPr>
            <a:r>
              <a:rPr lang="en" sz="950" b="0" i="0" u="none" strike="noStrike" cap="none">
                <a:solidFill>
                  <a:srgbClr val="1A1F26"/>
                </a:solidFill>
                <a:latin typeface="Consolas"/>
                <a:ea typeface="Consolas"/>
                <a:cs typeface="Consolas"/>
                <a:sym typeface="Consolas"/>
              </a:rPr>
              <a:t>print(result[0])  # ('queen', 0.9991...)</a:t>
            </a:r>
            <a:endParaRPr sz="950" b="0" i="0" u="none" strike="noStrike" cap="none">
              <a:solidFill>
                <a:schemeClr val="dk1"/>
              </a:solidFill>
              <a:latin typeface="Calibri"/>
              <a:ea typeface="Calibri"/>
              <a:cs typeface="Calibri"/>
              <a:sym typeface="Calibri"/>
            </a:endParaRPr>
          </a:p>
          <a:p>
            <a:pPr marL="0" marR="0" lvl="0" indent="0" algn="l" rtl="0">
              <a:lnSpc>
                <a:spcPct val="80000"/>
              </a:lnSpc>
              <a:spcBef>
                <a:spcPts val="0"/>
              </a:spcBef>
              <a:spcAft>
                <a:spcPts val="0"/>
              </a:spcAft>
              <a:buClr>
                <a:srgbClr val="000000"/>
              </a:buClr>
              <a:buSzPts val="853"/>
              <a:buFont typeface="Arial"/>
              <a:buNone/>
            </a:pPr>
            <a:endParaRPr sz="1695" b="0" i="0" u="none" strike="noStrike" cap="none">
              <a:solidFill>
                <a:schemeClr val="dk2"/>
              </a:solidFill>
              <a:latin typeface="Arial"/>
              <a:ea typeface="Arial"/>
              <a:cs typeface="Arial"/>
              <a:sym typeface="Arial"/>
            </a:endParaRPr>
          </a:p>
        </p:txBody>
      </p:sp>
      <p:sp>
        <p:nvSpPr>
          <p:cNvPr id="2533" name="Google Shape;2533;p60"/>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78</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38"/>
        <p:cNvGrpSpPr/>
        <p:nvPr/>
      </p:nvGrpSpPr>
      <p:grpSpPr>
        <a:xfrm>
          <a:off x="0" y="0"/>
          <a:ext cx="0" cy="0"/>
          <a:chOff x="0" y="0"/>
          <a:chExt cx="0" cy="0"/>
        </a:xfrm>
      </p:grpSpPr>
      <p:sp>
        <p:nvSpPr>
          <p:cNvPr id="2539" name="Google Shape;2539;p59"/>
          <p:cNvSpPr/>
          <p:nvPr/>
        </p:nvSpPr>
        <p:spPr>
          <a:xfrm>
            <a:off x="0" y="0"/>
            <a:ext cx="109800" cy="5143500"/>
          </a:xfrm>
          <a:prstGeom prst="rect">
            <a:avLst/>
          </a:prstGeom>
          <a:solidFill>
            <a:srgbClr val="0077AA"/>
          </a:solidFill>
          <a:ln w="12700" cap="flat" cmpd="sng">
            <a:solidFill>
              <a:srgbClr val="0077A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0" name="Google Shape;2540;p59"/>
          <p:cNvSpPr/>
          <p:nvPr/>
        </p:nvSpPr>
        <p:spPr>
          <a:xfrm>
            <a:off x="320040" y="1280160"/>
            <a:ext cx="8503800" cy="1463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1F26"/>
              </a:buClr>
              <a:buSzPts val="5200"/>
              <a:buFont typeface="Calibri"/>
              <a:buNone/>
            </a:pPr>
            <a:r>
              <a:rPr lang="en" sz="4400" b="1" i="0" u="none" strike="noStrike" cap="none">
                <a:solidFill>
                  <a:srgbClr val="1A1F26"/>
                </a:solidFill>
                <a:latin typeface="Calibri"/>
                <a:ea typeface="Calibri"/>
                <a:cs typeface="Calibri"/>
                <a:sym typeface="Calibri"/>
              </a:rPr>
              <a:t>Word2Vec</a:t>
            </a:r>
            <a:endParaRPr sz="4400" b="0" i="0" u="none" strike="noStrike" cap="none">
              <a:solidFill>
                <a:schemeClr val="dk1"/>
              </a:solidFill>
              <a:latin typeface="Calibri"/>
              <a:ea typeface="Calibri"/>
              <a:cs typeface="Calibri"/>
              <a:sym typeface="Calibri"/>
            </a:endParaRPr>
          </a:p>
        </p:txBody>
      </p:sp>
      <p:sp>
        <p:nvSpPr>
          <p:cNvPr id="2541" name="Google Shape;2541;p59"/>
          <p:cNvSpPr/>
          <p:nvPr/>
        </p:nvSpPr>
        <p:spPr>
          <a:xfrm>
            <a:off x="320040" y="2834640"/>
            <a:ext cx="8503800" cy="731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270"/>
              </a:buClr>
              <a:buSzPts val="2000"/>
              <a:buFont typeface="Calibri"/>
              <a:buNone/>
            </a:pPr>
            <a:r>
              <a:rPr lang="en" sz="2000" b="0" i="0" u="none" strike="noStrike" cap="none">
                <a:solidFill>
                  <a:schemeClr val="dk1"/>
                </a:solidFill>
                <a:latin typeface="Calibri"/>
                <a:ea typeface="Calibri"/>
                <a:cs typeface="Calibri"/>
                <a:sym typeface="Calibri"/>
              </a:rPr>
              <a:t>Skip-gram &amp; CBOW — learning from context</a:t>
            </a:r>
            <a:endParaRPr sz="2000" b="0" i="0" u="none" strike="noStrike" cap="none">
              <a:solidFill>
                <a:schemeClr val="dk1"/>
              </a:solidFill>
              <a:latin typeface="Calibri"/>
              <a:ea typeface="Calibri"/>
              <a:cs typeface="Calibri"/>
              <a:sym typeface="Calibri"/>
            </a:endParaRPr>
          </a:p>
        </p:txBody>
      </p:sp>
      <p:sp>
        <p:nvSpPr>
          <p:cNvPr id="2542" name="Google Shape;2542;p59"/>
          <p:cNvSpPr/>
          <p:nvPr/>
        </p:nvSpPr>
        <p:spPr>
          <a:xfrm>
            <a:off x="320040" y="4389120"/>
            <a:ext cx="109800" cy="109800"/>
          </a:xfrm>
          <a:prstGeom prst="ellipse">
            <a:avLst/>
          </a:prstGeom>
          <a:solidFill>
            <a:srgbClr val="0077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3" name="Google Shape;2543;p59"/>
          <p:cNvSpPr/>
          <p:nvPr/>
        </p:nvSpPr>
        <p:spPr>
          <a:xfrm>
            <a:off x="640080" y="4389120"/>
            <a:ext cx="109800" cy="109800"/>
          </a:xfrm>
          <a:prstGeom prst="ellipse">
            <a:avLst/>
          </a:prstGeom>
          <a:solidFill>
            <a:srgbClr val="5A62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4" name="Google Shape;2544;p59"/>
          <p:cNvSpPr/>
          <p:nvPr/>
        </p:nvSpPr>
        <p:spPr>
          <a:xfrm>
            <a:off x="960120" y="4389120"/>
            <a:ext cx="109800" cy="109800"/>
          </a:xfrm>
          <a:prstGeom prst="ellipse">
            <a:avLst/>
          </a:prstGeom>
          <a:solidFill>
            <a:srgbClr val="5A62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5" name="Google Shape;2545;p59"/>
          <p:cNvSpPr/>
          <p:nvPr/>
        </p:nvSpPr>
        <p:spPr>
          <a:xfrm>
            <a:off x="1280160" y="4389120"/>
            <a:ext cx="109800" cy="109800"/>
          </a:xfrm>
          <a:prstGeom prst="ellipse">
            <a:avLst/>
          </a:prstGeom>
          <a:solidFill>
            <a:srgbClr val="5A62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6" name="Google Shape;2546;p59"/>
          <p:cNvSpPr/>
          <p:nvPr/>
        </p:nvSpPr>
        <p:spPr>
          <a:xfrm>
            <a:off x="1600200" y="4389120"/>
            <a:ext cx="109800" cy="109800"/>
          </a:xfrm>
          <a:prstGeom prst="ellipse">
            <a:avLst/>
          </a:prstGeom>
          <a:solidFill>
            <a:srgbClr val="5A62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547" name="Google Shape;2547;p59"/>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2548" name="Google Shape;2548;p59"/>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77</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72"/>
        <p:cNvGrpSpPr/>
        <p:nvPr/>
      </p:nvGrpSpPr>
      <p:grpSpPr>
        <a:xfrm>
          <a:off x="0" y="0"/>
          <a:ext cx="0" cy="0"/>
          <a:chOff x="0" y="0"/>
          <a:chExt cx="0" cy="0"/>
        </a:xfrm>
      </p:grpSpPr>
      <p:sp>
        <p:nvSpPr>
          <p:cNvPr id="2573" name="Google Shape;2573;p63"/>
          <p:cNvSpPr/>
          <p:nvPr/>
        </p:nvSpPr>
        <p:spPr>
          <a:xfrm>
            <a:off x="365760" y="411480"/>
            <a:ext cx="8412600" cy="594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A1F26"/>
              </a:buClr>
              <a:buSzPts val="3000"/>
              <a:buFont typeface="Calibri"/>
              <a:buNone/>
            </a:pPr>
            <a:r>
              <a:rPr lang="en" sz="3000" b="1" i="0" u="none" strike="noStrike" cap="none">
                <a:solidFill>
                  <a:srgbClr val="1A1F26"/>
                </a:solidFill>
                <a:latin typeface="Calibri"/>
                <a:ea typeface="Calibri"/>
                <a:cs typeface="Calibri"/>
                <a:sym typeface="Calibri"/>
              </a:rPr>
              <a:t>Static Embeddings Can't Handle Polysemy</a:t>
            </a:r>
            <a:endParaRPr sz="3000" b="0" i="0" u="none" strike="noStrike" cap="none">
              <a:solidFill>
                <a:schemeClr val="dk1"/>
              </a:solidFill>
              <a:latin typeface="Calibri"/>
              <a:ea typeface="Calibri"/>
              <a:cs typeface="Calibri"/>
              <a:sym typeface="Calibri"/>
            </a:endParaRPr>
          </a:p>
        </p:txBody>
      </p:sp>
      <p:sp>
        <p:nvSpPr>
          <p:cNvPr id="2574" name="Google Shape;2574;p63"/>
          <p:cNvSpPr/>
          <p:nvPr/>
        </p:nvSpPr>
        <p:spPr>
          <a:xfrm>
            <a:off x="320040" y="1143000"/>
            <a:ext cx="5486400" cy="2834700"/>
          </a:xfrm>
          <a:prstGeom prst="rect">
            <a:avLst/>
          </a:prstGeom>
          <a:solidFill>
            <a:schemeClr val="lt1"/>
          </a:solidFill>
          <a:ln w="12700" cap="flat" cmpd="sng">
            <a:solidFill>
              <a:srgbClr val="0077AA"/>
            </a:solidFill>
            <a:prstDash val="solid"/>
            <a:round/>
            <a:headEnd type="none" w="sm" len="sm"/>
            <a:tailEnd type="none" w="sm" len="sm"/>
          </a:ln>
          <a:effectLst>
            <a:outerShdw blurRad="101600" dist="38100" dir="8100000" algn="bl" rotWithShape="0">
              <a:srgbClr val="000000">
                <a:alpha val="3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5" name="Google Shape;2575;p63"/>
          <p:cNvSpPr/>
          <p:nvPr/>
        </p:nvSpPr>
        <p:spPr>
          <a:xfrm>
            <a:off x="-72070" y="1228642"/>
            <a:ext cx="1645800" cy="255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8F9FA"/>
              </a:buClr>
              <a:buSzPts val="900"/>
              <a:buFont typeface="Calibri"/>
              <a:buNone/>
            </a:pPr>
            <a:r>
              <a:rPr lang="en" sz="1500" b="1" i="0" u="none" strike="noStrike" cap="none">
                <a:solidFill>
                  <a:schemeClr val="dk1"/>
                </a:solidFill>
                <a:latin typeface="Calibri"/>
                <a:ea typeface="Calibri"/>
                <a:cs typeface="Calibri"/>
                <a:sym typeface="Calibri"/>
              </a:rPr>
              <a:t>PyTorch</a:t>
            </a:r>
            <a:endParaRPr sz="1500" b="0" i="0" u="none" strike="noStrike" cap="none">
              <a:solidFill>
                <a:schemeClr val="dk1"/>
              </a:solidFill>
              <a:latin typeface="Calibri"/>
              <a:ea typeface="Calibri"/>
              <a:cs typeface="Calibri"/>
              <a:sym typeface="Calibri"/>
            </a:endParaRPr>
          </a:p>
        </p:txBody>
      </p:sp>
      <p:sp>
        <p:nvSpPr>
          <p:cNvPr id="2576" name="Google Shape;2576;p63"/>
          <p:cNvSpPr/>
          <p:nvPr/>
        </p:nvSpPr>
        <p:spPr>
          <a:xfrm>
            <a:off x="419314" y="1623785"/>
            <a:ext cx="5266800" cy="2432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 Word2Vec gives ONE vector per word, regardless of context</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model = Word2Vec.load("word2vec-google-news-300")</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950"/>
              <a:buFont typeface="Calibri"/>
              <a:buNone/>
            </a:pP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bank_vector = model.wv["bank"]   # One single vector</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 But "bank" means DIFFERENT things:</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   "I deposited money at the bank"  → financial institution</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   "She sat on the river bank"      → geographic feature</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   "The plane had to bank left"     → aeronautical maneuver</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950"/>
              <a:buFont typeface="Calibri"/>
              <a:buNone/>
            </a:pP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 Word2Vec collapses all meanings into ONE point in space!</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print(model.wv.most_similar("bank"))</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 [('banks', 0.92), ('banking', 0.89), ('financial', 0.85), ...]</a:t>
            </a:r>
            <a:endParaRPr sz="105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1A1F26"/>
              </a:buClr>
              <a:buSzPts val="950"/>
              <a:buFont typeface="Consolas"/>
              <a:buNone/>
            </a:pPr>
            <a:r>
              <a:rPr lang="en" sz="1050" b="0" i="0" u="none" strike="noStrike" cap="none">
                <a:solidFill>
                  <a:srgbClr val="1A1F26"/>
                </a:solidFill>
                <a:latin typeface="Consolas"/>
                <a:ea typeface="Consolas"/>
                <a:cs typeface="Consolas"/>
                <a:sym typeface="Consolas"/>
              </a:rPr>
              <a:t># No context. No disambiguation. Just one averaged vector.</a:t>
            </a:r>
            <a:endParaRPr sz="1050" b="0" i="0" u="none" strike="noStrike" cap="none">
              <a:solidFill>
                <a:schemeClr val="dk1"/>
              </a:solidFill>
              <a:latin typeface="Calibri"/>
              <a:ea typeface="Calibri"/>
              <a:cs typeface="Calibri"/>
              <a:sym typeface="Calibri"/>
            </a:endParaRPr>
          </a:p>
        </p:txBody>
      </p:sp>
      <p:sp>
        <p:nvSpPr>
          <p:cNvPr id="2577" name="Google Shape;2577;p63"/>
          <p:cNvSpPr/>
          <p:nvPr/>
        </p:nvSpPr>
        <p:spPr>
          <a:xfrm>
            <a:off x="6035040" y="1188720"/>
            <a:ext cx="2834700" cy="3657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A1F26"/>
              </a:buClr>
              <a:buSzPts val="1300"/>
              <a:buFont typeface="Calibri"/>
              <a:buNone/>
            </a:pPr>
            <a:r>
              <a:rPr lang="en" sz="2000" b="1" i="0" u="none" strike="noStrike" cap="none">
                <a:solidFill>
                  <a:srgbClr val="1A1F26"/>
                </a:solidFill>
                <a:latin typeface="Calibri"/>
                <a:ea typeface="Calibri"/>
                <a:cs typeface="Calibri"/>
                <a:sym typeface="Calibri"/>
              </a:rPr>
              <a:t>"bank" in Word2Vec</a:t>
            </a:r>
            <a:endParaRPr sz="2000" b="0" i="0" u="none" strike="noStrike" cap="none">
              <a:solidFill>
                <a:schemeClr val="dk1"/>
              </a:solidFill>
              <a:latin typeface="Calibri"/>
              <a:ea typeface="Calibri"/>
              <a:cs typeface="Calibri"/>
              <a:sym typeface="Calibri"/>
            </a:endParaRPr>
          </a:p>
        </p:txBody>
      </p:sp>
      <p:sp>
        <p:nvSpPr>
          <p:cNvPr id="2578" name="Google Shape;2578;p63"/>
          <p:cNvSpPr/>
          <p:nvPr/>
        </p:nvSpPr>
        <p:spPr>
          <a:xfrm>
            <a:off x="6766560" y="1691640"/>
            <a:ext cx="1463100" cy="1463100"/>
          </a:xfrm>
          <a:prstGeom prst="ellipse">
            <a:avLst/>
          </a:prstGeom>
          <a:solidFill>
            <a:schemeClr val="lt1"/>
          </a:solidFill>
          <a:ln w="254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9" name="Google Shape;2579;p63"/>
          <p:cNvSpPr/>
          <p:nvPr/>
        </p:nvSpPr>
        <p:spPr>
          <a:xfrm>
            <a:off x="6777014" y="1623765"/>
            <a:ext cx="1463100" cy="14631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59E0B"/>
              </a:buClr>
              <a:buSzPts val="1100"/>
              <a:buFont typeface="Calibri"/>
              <a:buNone/>
            </a:pPr>
            <a:r>
              <a:rPr lang="en" sz="1500" b="1" i="0" u="none" strike="noStrike" cap="none">
                <a:solidFill>
                  <a:schemeClr val="dk1"/>
                </a:solidFill>
                <a:latin typeface="Calibri"/>
                <a:ea typeface="Calibri"/>
                <a:cs typeface="Calibri"/>
                <a:sym typeface="Calibri"/>
              </a:rPr>
              <a:t>bank</a:t>
            </a:r>
            <a:endParaRPr sz="1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59E0B"/>
              </a:buClr>
              <a:buSzPts val="1100"/>
              <a:buFont typeface="Calibri"/>
              <a:buNone/>
            </a:pPr>
            <a:r>
              <a:rPr lang="en" sz="1500" b="1" i="0" u="none" strike="noStrike" cap="none">
                <a:solidFill>
                  <a:schemeClr val="dk1"/>
                </a:solidFill>
                <a:latin typeface="Calibri"/>
                <a:ea typeface="Calibri"/>
                <a:cs typeface="Calibri"/>
                <a:sym typeface="Calibri"/>
              </a:rPr>
              <a:t>(1 vector)</a:t>
            </a:r>
            <a:endParaRPr sz="1500" b="0" i="0" u="none" strike="noStrike" cap="none">
              <a:solidFill>
                <a:schemeClr val="dk1"/>
              </a:solidFill>
              <a:latin typeface="Calibri"/>
              <a:ea typeface="Calibri"/>
              <a:cs typeface="Calibri"/>
              <a:sym typeface="Calibri"/>
            </a:endParaRPr>
          </a:p>
        </p:txBody>
      </p:sp>
      <p:sp>
        <p:nvSpPr>
          <p:cNvPr id="2580" name="Google Shape;2580;p63"/>
          <p:cNvSpPr/>
          <p:nvPr/>
        </p:nvSpPr>
        <p:spPr>
          <a:xfrm>
            <a:off x="5943600" y="3246120"/>
            <a:ext cx="11886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270"/>
              </a:buClr>
              <a:buSzPts val="900"/>
              <a:buFont typeface="Calibri"/>
              <a:buNone/>
            </a:pPr>
            <a:r>
              <a:rPr lang="en" sz="1200" b="0" i="0" u="none" strike="noStrike" cap="none">
                <a:solidFill>
                  <a:srgbClr val="5A6270"/>
                </a:solidFill>
                <a:latin typeface="Calibri"/>
                <a:ea typeface="Calibri"/>
                <a:cs typeface="Calibri"/>
                <a:sym typeface="Calibri"/>
              </a:rPr>
              <a:t>💰 finance?</a:t>
            </a:r>
            <a:endParaRPr sz="1200" b="0" i="0" u="none" strike="noStrike" cap="none">
              <a:solidFill>
                <a:schemeClr val="dk1"/>
              </a:solidFill>
              <a:latin typeface="Calibri"/>
              <a:ea typeface="Calibri"/>
              <a:cs typeface="Calibri"/>
              <a:sym typeface="Calibri"/>
            </a:endParaRPr>
          </a:p>
        </p:txBody>
      </p:sp>
      <p:sp>
        <p:nvSpPr>
          <p:cNvPr id="2581" name="Google Shape;2581;p63"/>
          <p:cNvSpPr/>
          <p:nvPr/>
        </p:nvSpPr>
        <p:spPr>
          <a:xfrm>
            <a:off x="7040880" y="3246120"/>
            <a:ext cx="10059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270"/>
              </a:buClr>
              <a:buSzPts val="900"/>
              <a:buFont typeface="Calibri"/>
              <a:buNone/>
            </a:pPr>
            <a:r>
              <a:rPr lang="en" sz="1200" b="0" i="0" u="none" strike="noStrike" cap="none">
                <a:solidFill>
                  <a:srgbClr val="5A6270"/>
                </a:solidFill>
                <a:latin typeface="Calibri"/>
                <a:ea typeface="Calibri"/>
                <a:cs typeface="Calibri"/>
                <a:sym typeface="Calibri"/>
              </a:rPr>
              <a:t>🌊 river?</a:t>
            </a:r>
            <a:endParaRPr sz="1200" b="0" i="0" u="none" strike="noStrike" cap="none">
              <a:solidFill>
                <a:schemeClr val="dk1"/>
              </a:solidFill>
              <a:latin typeface="Calibri"/>
              <a:ea typeface="Calibri"/>
              <a:cs typeface="Calibri"/>
              <a:sym typeface="Calibri"/>
            </a:endParaRPr>
          </a:p>
        </p:txBody>
      </p:sp>
      <p:sp>
        <p:nvSpPr>
          <p:cNvPr id="2582" name="Google Shape;2582;p63"/>
          <p:cNvSpPr/>
          <p:nvPr/>
        </p:nvSpPr>
        <p:spPr>
          <a:xfrm>
            <a:off x="8001000" y="3246120"/>
            <a:ext cx="9144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6270"/>
              </a:buClr>
              <a:buSzPts val="900"/>
              <a:buFont typeface="Calibri"/>
              <a:buNone/>
            </a:pPr>
            <a:r>
              <a:rPr lang="en" sz="1200" b="0" i="0" u="none" strike="noStrike" cap="none">
                <a:solidFill>
                  <a:srgbClr val="5A6270"/>
                </a:solidFill>
                <a:latin typeface="Calibri"/>
                <a:ea typeface="Calibri"/>
                <a:cs typeface="Calibri"/>
                <a:sym typeface="Calibri"/>
              </a:rPr>
              <a:t>✈️ plane?</a:t>
            </a:r>
            <a:endParaRPr sz="1200" b="0" i="0" u="none" strike="noStrike" cap="none">
              <a:solidFill>
                <a:schemeClr val="dk1"/>
              </a:solidFill>
              <a:latin typeface="Calibri"/>
              <a:ea typeface="Calibri"/>
              <a:cs typeface="Calibri"/>
              <a:sym typeface="Calibri"/>
            </a:endParaRPr>
          </a:p>
        </p:txBody>
      </p:sp>
      <p:sp>
        <p:nvSpPr>
          <p:cNvPr id="2583" name="Google Shape;2583;p63"/>
          <p:cNvSpPr/>
          <p:nvPr/>
        </p:nvSpPr>
        <p:spPr>
          <a:xfrm>
            <a:off x="320040" y="4160520"/>
            <a:ext cx="8503800" cy="731400"/>
          </a:xfrm>
          <a:prstGeom prst="rect">
            <a:avLst/>
          </a:prstGeom>
          <a:solidFill>
            <a:schemeClr val="lt1"/>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2584" name="Google Shape;2584;p63"/>
          <p:cNvSpPr/>
          <p:nvPr/>
        </p:nvSpPr>
        <p:spPr>
          <a:xfrm>
            <a:off x="502920" y="4251960"/>
            <a:ext cx="8229600" cy="548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59E0B"/>
              </a:buClr>
              <a:buSzPts val="1300"/>
              <a:buFont typeface="Calibri"/>
              <a:buNone/>
            </a:pPr>
            <a:r>
              <a:rPr lang="en" sz="1700" b="0" i="0" u="none" strike="noStrike" cap="none">
                <a:solidFill>
                  <a:srgbClr val="F59E0B"/>
                </a:solidFill>
                <a:latin typeface="Calibri"/>
                <a:ea typeface="Calibri"/>
                <a:cs typeface="Calibri"/>
                <a:sym typeface="Calibri"/>
              </a:rPr>
              <a:t>💡 </a:t>
            </a:r>
            <a:r>
              <a:rPr lang="en" sz="1700" b="0" i="0" u="none" strike="noStrike" cap="none">
                <a:solidFill>
                  <a:schemeClr val="dk1"/>
                </a:solidFill>
                <a:latin typeface="Calibri"/>
                <a:ea typeface="Calibri"/>
                <a:cs typeface="Calibri"/>
                <a:sym typeface="Calibri"/>
              </a:rPr>
              <a:t>Fix: Embeddings should be computed dynamically based on the surrounding context.</a:t>
            </a:r>
            <a:endParaRPr sz="1700" b="0" i="0" u="none" strike="noStrike" cap="none">
              <a:solidFill>
                <a:schemeClr val="dk1"/>
              </a:solidFill>
              <a:latin typeface="Calibri"/>
              <a:ea typeface="Calibri"/>
              <a:cs typeface="Calibri"/>
              <a:sym typeface="Calibri"/>
            </a:endParaRPr>
          </a:p>
        </p:txBody>
      </p:sp>
      <p:pic>
        <p:nvPicPr>
          <p:cNvPr id="2585" name="Google Shape;2585;p63"/>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2586" name="Google Shape;2586;p63"/>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81</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591"/>
        <p:cNvGrpSpPr/>
        <p:nvPr/>
      </p:nvGrpSpPr>
      <p:grpSpPr>
        <a:xfrm>
          <a:off x="0" y="0"/>
          <a:ext cx="0" cy="0"/>
          <a:chOff x="0" y="0"/>
          <a:chExt cx="0" cy="0"/>
        </a:xfrm>
      </p:grpSpPr>
      <p:sp>
        <p:nvSpPr>
          <p:cNvPr id="2592" name="Google Shape;2592;p64"/>
          <p:cNvSpPr/>
          <p:nvPr/>
        </p:nvSpPr>
        <p:spPr>
          <a:xfrm>
            <a:off x="274320" y="109728"/>
            <a:ext cx="8595300" cy="5028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2200"/>
              <a:buFont typeface="Calibri"/>
              <a:buNone/>
            </a:pPr>
            <a:r>
              <a:rPr lang="en" sz="2200" b="1" i="0" u="none" strike="noStrike" cap="none">
                <a:solidFill>
                  <a:srgbClr val="1E293B"/>
                </a:solidFill>
                <a:latin typeface="Calibri"/>
                <a:ea typeface="Calibri"/>
                <a:cs typeface="Calibri"/>
                <a:sym typeface="Calibri"/>
              </a:rPr>
              <a:t>From Perceptron to Specialized Architectures</a:t>
            </a:r>
            <a:endParaRPr sz="2200" b="0" i="0" u="none" strike="noStrike" cap="none">
              <a:solidFill>
                <a:schemeClr val="dk1"/>
              </a:solidFill>
              <a:latin typeface="Calibri"/>
              <a:ea typeface="Calibri"/>
              <a:cs typeface="Calibri"/>
              <a:sym typeface="Calibri"/>
            </a:endParaRPr>
          </a:p>
        </p:txBody>
      </p:sp>
      <p:sp>
        <p:nvSpPr>
          <p:cNvPr id="2593" name="Google Shape;2593;p64"/>
          <p:cNvSpPr/>
          <p:nvPr/>
        </p:nvSpPr>
        <p:spPr>
          <a:xfrm>
            <a:off x="3200400" y="621792"/>
            <a:ext cx="2743200" cy="27300"/>
          </a:xfrm>
          <a:prstGeom prst="rect">
            <a:avLst/>
          </a:prstGeom>
          <a:solidFill>
            <a:srgbClr val="0EA5E9"/>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4" name="Google Shape;2594;p64"/>
          <p:cNvSpPr/>
          <p:nvPr/>
        </p:nvSpPr>
        <p:spPr>
          <a:xfrm>
            <a:off x="228600" y="4206240"/>
            <a:ext cx="8686800" cy="36600"/>
          </a:xfrm>
          <a:prstGeom prst="rect">
            <a:avLst/>
          </a:prstGeom>
          <a:solidFill>
            <a:srgbClr val="CBD5E1"/>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5" name="Google Shape;2595;p64"/>
          <p:cNvSpPr/>
          <p:nvPr/>
        </p:nvSpPr>
        <p:spPr>
          <a:xfrm>
            <a:off x="8823960" y="4142232"/>
            <a:ext cx="109800" cy="164700"/>
          </a:xfrm>
          <a:prstGeom prst="rect">
            <a:avLst/>
          </a:prstGeom>
          <a:solidFill>
            <a:srgbClr val="0EA5E9"/>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6" name="Google Shape;2596;p64"/>
          <p:cNvSpPr/>
          <p:nvPr/>
        </p:nvSpPr>
        <p:spPr>
          <a:xfrm>
            <a:off x="164592" y="749808"/>
            <a:ext cx="1664100" cy="3291900"/>
          </a:xfrm>
          <a:prstGeom prst="rect">
            <a:avLst/>
          </a:prstGeom>
          <a:solidFill>
            <a:srgbClr val="FFFFFF"/>
          </a:solidFill>
          <a:ln w="15225" cap="flat" cmpd="sng">
            <a:solidFill>
              <a:srgbClr val="6366F1"/>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7" name="Google Shape;2597;p64"/>
          <p:cNvSpPr/>
          <p:nvPr/>
        </p:nvSpPr>
        <p:spPr>
          <a:xfrm>
            <a:off x="164592" y="749808"/>
            <a:ext cx="1664100" cy="63900"/>
          </a:xfrm>
          <a:prstGeom prst="rect">
            <a:avLst/>
          </a:prstGeom>
          <a:solidFill>
            <a:srgbClr val="6366F1"/>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8" name="Google Shape;2598;p64"/>
          <p:cNvSpPr/>
          <p:nvPr/>
        </p:nvSpPr>
        <p:spPr>
          <a:xfrm>
            <a:off x="237744" y="841248"/>
            <a:ext cx="1518000" cy="201300"/>
          </a:xfrm>
          <a:prstGeom prst="rect">
            <a:avLst/>
          </a:prstGeom>
          <a:solidFill>
            <a:srgbClr val="6366F1">
              <a:alpha val="14902"/>
            </a:srgbClr>
          </a:solidFill>
          <a:ln w="9525"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9" name="Google Shape;2599;p64"/>
          <p:cNvSpPr/>
          <p:nvPr/>
        </p:nvSpPr>
        <p:spPr>
          <a:xfrm>
            <a:off x="237744" y="841248"/>
            <a:ext cx="15180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366F1"/>
              </a:buClr>
              <a:buSzPts val="800"/>
              <a:buFont typeface="Calibri"/>
              <a:buNone/>
            </a:pPr>
            <a:r>
              <a:rPr lang="en" sz="800" b="1" i="0" u="none" strike="noStrike" cap="none">
                <a:solidFill>
                  <a:srgbClr val="6366F1"/>
                </a:solidFill>
                <a:latin typeface="Calibri"/>
                <a:ea typeface="Calibri"/>
                <a:cs typeface="Calibri"/>
                <a:sym typeface="Calibri"/>
              </a:rPr>
              <a:t>1958</a:t>
            </a:r>
            <a:endParaRPr sz="800" b="0" i="0" u="none" strike="noStrike" cap="none">
              <a:solidFill>
                <a:schemeClr val="dk1"/>
              </a:solidFill>
              <a:latin typeface="Calibri"/>
              <a:ea typeface="Calibri"/>
              <a:cs typeface="Calibri"/>
              <a:sym typeface="Calibri"/>
            </a:endParaRPr>
          </a:p>
        </p:txBody>
      </p:sp>
      <p:sp>
        <p:nvSpPr>
          <p:cNvPr id="2600" name="Google Shape;2600;p64"/>
          <p:cNvSpPr/>
          <p:nvPr/>
        </p:nvSpPr>
        <p:spPr>
          <a:xfrm>
            <a:off x="219456" y="1069848"/>
            <a:ext cx="1554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300"/>
              <a:buFont typeface="Calibri"/>
              <a:buNone/>
            </a:pPr>
            <a:r>
              <a:rPr lang="en" sz="1300" b="1" i="0" u="none" strike="noStrike" cap="none">
                <a:solidFill>
                  <a:srgbClr val="1E293B"/>
                </a:solidFill>
                <a:latin typeface="Calibri"/>
                <a:ea typeface="Calibri"/>
                <a:cs typeface="Calibri"/>
                <a:sym typeface="Calibri"/>
              </a:rPr>
              <a:t>Perceptron</a:t>
            </a:r>
            <a:endParaRPr sz="1300" b="0" i="0" u="none" strike="noStrike" cap="none">
              <a:solidFill>
                <a:schemeClr val="dk1"/>
              </a:solidFill>
              <a:latin typeface="Calibri"/>
              <a:ea typeface="Calibri"/>
              <a:cs typeface="Calibri"/>
              <a:sym typeface="Calibri"/>
            </a:endParaRPr>
          </a:p>
        </p:txBody>
      </p:sp>
      <p:sp>
        <p:nvSpPr>
          <p:cNvPr id="2601" name="Google Shape;2601;p64"/>
          <p:cNvSpPr/>
          <p:nvPr/>
        </p:nvSpPr>
        <p:spPr>
          <a:xfrm>
            <a:off x="237744" y="1389888"/>
            <a:ext cx="1518000" cy="1005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2" name="Google Shape;2602;p64"/>
          <p:cNvSpPr/>
          <p:nvPr/>
        </p:nvSpPr>
        <p:spPr>
          <a:xfrm>
            <a:off x="283464" y="1481328"/>
            <a:ext cx="183000" cy="183000"/>
          </a:xfrm>
          <a:prstGeom prst="ellipse">
            <a:avLst/>
          </a:prstGeom>
          <a:solidFill>
            <a:srgbClr val="E2E8F0"/>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03" name="Google Shape;2603;p64"/>
          <p:cNvCxnSpPr/>
          <p:nvPr/>
        </p:nvCxnSpPr>
        <p:spPr>
          <a:xfrm>
            <a:off x="466344" y="1572768"/>
            <a:ext cx="502800" cy="0"/>
          </a:xfrm>
          <a:prstGeom prst="straightConnector1">
            <a:avLst/>
          </a:prstGeom>
          <a:noFill/>
          <a:ln w="12700" cap="flat" cmpd="sng">
            <a:solidFill>
              <a:srgbClr val="818CF8"/>
            </a:solidFill>
            <a:prstDash val="solid"/>
            <a:round/>
            <a:headEnd type="none" w="sm" len="sm"/>
            <a:tailEnd type="none" w="sm" len="sm"/>
          </a:ln>
        </p:spPr>
      </p:cxnSp>
      <p:sp>
        <p:nvSpPr>
          <p:cNvPr id="2604" name="Google Shape;2604;p64"/>
          <p:cNvSpPr/>
          <p:nvPr/>
        </p:nvSpPr>
        <p:spPr>
          <a:xfrm>
            <a:off x="283464" y="1801368"/>
            <a:ext cx="183000" cy="183000"/>
          </a:xfrm>
          <a:prstGeom prst="ellipse">
            <a:avLst/>
          </a:prstGeom>
          <a:solidFill>
            <a:srgbClr val="E2E8F0"/>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05" name="Google Shape;2605;p64"/>
          <p:cNvCxnSpPr/>
          <p:nvPr/>
        </p:nvCxnSpPr>
        <p:spPr>
          <a:xfrm>
            <a:off x="466344" y="1892808"/>
            <a:ext cx="502800" cy="0"/>
          </a:xfrm>
          <a:prstGeom prst="straightConnector1">
            <a:avLst/>
          </a:prstGeom>
          <a:noFill/>
          <a:ln w="12700" cap="flat" cmpd="sng">
            <a:solidFill>
              <a:srgbClr val="818CF8"/>
            </a:solidFill>
            <a:prstDash val="solid"/>
            <a:round/>
            <a:headEnd type="none" w="sm" len="sm"/>
            <a:tailEnd type="none" w="sm" len="sm"/>
          </a:ln>
        </p:spPr>
      </p:cxnSp>
      <p:sp>
        <p:nvSpPr>
          <p:cNvPr id="2606" name="Google Shape;2606;p64"/>
          <p:cNvSpPr/>
          <p:nvPr/>
        </p:nvSpPr>
        <p:spPr>
          <a:xfrm>
            <a:off x="283464" y="2121408"/>
            <a:ext cx="183000" cy="183000"/>
          </a:xfrm>
          <a:prstGeom prst="ellipse">
            <a:avLst/>
          </a:prstGeom>
          <a:solidFill>
            <a:srgbClr val="E2E8F0"/>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07" name="Google Shape;2607;p64"/>
          <p:cNvCxnSpPr/>
          <p:nvPr/>
        </p:nvCxnSpPr>
        <p:spPr>
          <a:xfrm>
            <a:off x="466344" y="2212848"/>
            <a:ext cx="502800" cy="0"/>
          </a:xfrm>
          <a:prstGeom prst="straightConnector1">
            <a:avLst/>
          </a:prstGeom>
          <a:noFill/>
          <a:ln w="12700" cap="flat" cmpd="sng">
            <a:solidFill>
              <a:srgbClr val="818CF8"/>
            </a:solidFill>
            <a:prstDash val="solid"/>
            <a:round/>
            <a:headEnd type="none" w="sm" len="sm"/>
            <a:tailEnd type="none" w="sm" len="sm"/>
          </a:ln>
        </p:spPr>
      </p:cxnSp>
      <p:sp>
        <p:nvSpPr>
          <p:cNvPr id="2608" name="Google Shape;2608;p64"/>
          <p:cNvSpPr/>
          <p:nvPr/>
        </p:nvSpPr>
        <p:spPr>
          <a:xfrm>
            <a:off x="877824" y="1755648"/>
            <a:ext cx="347400" cy="347400"/>
          </a:xfrm>
          <a:prstGeom prst="ellipse">
            <a:avLst/>
          </a:prstGeom>
          <a:solidFill>
            <a:srgbClr val="6366F1">
              <a:alpha val="70196"/>
            </a:srgbClr>
          </a:solidFill>
          <a:ln w="1905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09" name="Google Shape;2609;p64"/>
          <p:cNvCxnSpPr/>
          <p:nvPr/>
        </p:nvCxnSpPr>
        <p:spPr>
          <a:xfrm>
            <a:off x="1225296" y="1929384"/>
            <a:ext cx="411600" cy="0"/>
          </a:xfrm>
          <a:prstGeom prst="straightConnector1">
            <a:avLst/>
          </a:prstGeom>
          <a:noFill/>
          <a:ln w="12700" cap="flat" cmpd="sng">
            <a:solidFill>
              <a:srgbClr val="818CF8"/>
            </a:solidFill>
            <a:prstDash val="solid"/>
            <a:round/>
            <a:headEnd type="none" w="sm" len="sm"/>
            <a:tailEnd type="none" w="sm" len="sm"/>
          </a:ln>
        </p:spPr>
      </p:cxnSp>
      <p:sp>
        <p:nvSpPr>
          <p:cNvPr id="2610" name="Google Shape;2610;p64"/>
          <p:cNvSpPr/>
          <p:nvPr/>
        </p:nvSpPr>
        <p:spPr>
          <a:xfrm>
            <a:off x="1527048" y="1837944"/>
            <a:ext cx="183000" cy="183000"/>
          </a:xfrm>
          <a:prstGeom prst="ellipse">
            <a:avLst/>
          </a:prstGeom>
          <a:solidFill>
            <a:srgbClr val="E2E8F0"/>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1" name="Google Shape;2611;p64"/>
          <p:cNvSpPr/>
          <p:nvPr/>
        </p:nvSpPr>
        <p:spPr>
          <a:xfrm>
            <a:off x="877824" y="1755648"/>
            <a:ext cx="3474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0" i="0" u="none" strike="noStrike" cap="none">
                <a:solidFill>
                  <a:srgbClr val="FFFFFF"/>
                </a:solidFill>
                <a:latin typeface="Calibri"/>
                <a:ea typeface="Calibri"/>
                <a:cs typeface="Calibri"/>
                <a:sym typeface="Calibri"/>
              </a:rPr>
              <a:t>Σ</a:t>
            </a:r>
            <a:endParaRPr sz="1200" b="0" i="0" u="none" strike="noStrike" cap="none">
              <a:solidFill>
                <a:schemeClr val="dk1"/>
              </a:solidFill>
              <a:latin typeface="Calibri"/>
              <a:ea typeface="Calibri"/>
              <a:cs typeface="Calibri"/>
              <a:sym typeface="Calibri"/>
            </a:endParaRPr>
          </a:p>
        </p:txBody>
      </p:sp>
      <p:sp>
        <p:nvSpPr>
          <p:cNvPr id="2612" name="Google Shape;2612;p64"/>
          <p:cNvSpPr/>
          <p:nvPr/>
        </p:nvSpPr>
        <p:spPr>
          <a:xfrm>
            <a:off x="237744" y="2441448"/>
            <a:ext cx="1518000" cy="1417200"/>
          </a:xfrm>
          <a:prstGeom prst="rect">
            <a:avLst/>
          </a:prstGeom>
          <a:noFill/>
          <a:ln>
            <a:noFill/>
          </a:ln>
        </p:spPr>
        <p:txBody>
          <a:bodyPr spcFirstLastPara="1" wrap="square" lIns="38100" tIns="38100" rIns="38100" bIns="38100" anchor="t" anchorCtr="0">
            <a:noAutofit/>
          </a:bodyPr>
          <a:lstStyle/>
          <a:p>
            <a:pPr marL="0" marR="0" lvl="0" indent="0" algn="l" rtl="0">
              <a:lnSpc>
                <a:spcPct val="125000"/>
              </a:lnSpc>
              <a:spcBef>
                <a:spcPts val="0"/>
              </a:spcBef>
              <a:spcAft>
                <a:spcPts val="0"/>
              </a:spcAft>
              <a:buClr>
                <a:srgbClr val="6366F1"/>
              </a:buClr>
              <a:buSzPts val="900"/>
              <a:buFont typeface="Calibri"/>
              <a:buNone/>
            </a:pPr>
            <a:r>
              <a:rPr lang="en" sz="900" b="1" i="0" u="none" strike="noStrike" cap="none">
                <a:solidFill>
                  <a:srgbClr val="6366F1"/>
                </a:solidFill>
                <a:latin typeface="Calibri"/>
                <a:ea typeface="Calibri"/>
                <a:cs typeface="Calibri"/>
                <a:sym typeface="Calibri"/>
              </a:rPr>
              <a:t>Single neuron</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Binary output</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Linear boundary</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Step activation</a:t>
            </a:r>
            <a:endParaRPr sz="900" b="0" i="0" u="none" strike="noStrike" cap="none">
              <a:solidFill>
                <a:schemeClr val="dk1"/>
              </a:solidFill>
              <a:latin typeface="Calibri"/>
              <a:ea typeface="Calibri"/>
              <a:cs typeface="Calibri"/>
              <a:sym typeface="Calibri"/>
            </a:endParaRPr>
          </a:p>
        </p:txBody>
      </p:sp>
      <p:sp>
        <p:nvSpPr>
          <p:cNvPr id="2613" name="Google Shape;2613;p64"/>
          <p:cNvSpPr/>
          <p:nvPr/>
        </p:nvSpPr>
        <p:spPr>
          <a:xfrm>
            <a:off x="914400" y="4142232"/>
            <a:ext cx="164700" cy="164700"/>
          </a:xfrm>
          <a:prstGeom prst="ellipse">
            <a:avLst/>
          </a:prstGeom>
          <a:solidFill>
            <a:srgbClr val="6366F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4" name="Google Shape;2614;p64"/>
          <p:cNvSpPr/>
          <p:nvPr/>
        </p:nvSpPr>
        <p:spPr>
          <a:xfrm>
            <a:off x="1901952" y="749808"/>
            <a:ext cx="1664100" cy="3291900"/>
          </a:xfrm>
          <a:prstGeom prst="rect">
            <a:avLst/>
          </a:prstGeom>
          <a:solidFill>
            <a:srgbClr val="FFFFFF"/>
          </a:solidFill>
          <a:ln w="15225" cap="flat" cmpd="sng">
            <a:solidFill>
              <a:srgbClr val="0EA5E9"/>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5" name="Google Shape;2615;p64"/>
          <p:cNvSpPr/>
          <p:nvPr/>
        </p:nvSpPr>
        <p:spPr>
          <a:xfrm>
            <a:off x="1901952" y="749808"/>
            <a:ext cx="1664100" cy="63900"/>
          </a:xfrm>
          <a:prstGeom prst="rect">
            <a:avLst/>
          </a:prstGeom>
          <a:solidFill>
            <a:srgbClr val="0EA5E9"/>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6" name="Google Shape;2616;p64"/>
          <p:cNvSpPr/>
          <p:nvPr/>
        </p:nvSpPr>
        <p:spPr>
          <a:xfrm>
            <a:off x="1975104" y="841248"/>
            <a:ext cx="1518000" cy="201300"/>
          </a:xfrm>
          <a:prstGeom prst="rect">
            <a:avLst/>
          </a:prstGeom>
          <a:solidFill>
            <a:srgbClr val="0EA5E9">
              <a:alpha val="14902"/>
            </a:srgbClr>
          </a:solidFill>
          <a:ln w="9525"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7" name="Google Shape;2617;p64"/>
          <p:cNvSpPr/>
          <p:nvPr/>
        </p:nvSpPr>
        <p:spPr>
          <a:xfrm>
            <a:off x="1975104" y="841248"/>
            <a:ext cx="15180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EA5E9"/>
              </a:buClr>
              <a:buSzPts val="800"/>
              <a:buFont typeface="Calibri"/>
              <a:buNone/>
            </a:pPr>
            <a:r>
              <a:rPr lang="en" sz="800" b="1" i="0" u="none" strike="noStrike" cap="none">
                <a:solidFill>
                  <a:srgbClr val="0EA5E9"/>
                </a:solidFill>
                <a:latin typeface="Calibri"/>
                <a:ea typeface="Calibri"/>
                <a:cs typeface="Calibri"/>
                <a:sym typeface="Calibri"/>
              </a:rPr>
              <a:t>1980s</a:t>
            </a:r>
            <a:endParaRPr sz="800" b="0" i="0" u="none" strike="noStrike" cap="none">
              <a:solidFill>
                <a:schemeClr val="dk1"/>
              </a:solidFill>
              <a:latin typeface="Calibri"/>
              <a:ea typeface="Calibri"/>
              <a:cs typeface="Calibri"/>
              <a:sym typeface="Calibri"/>
            </a:endParaRPr>
          </a:p>
        </p:txBody>
      </p:sp>
      <p:sp>
        <p:nvSpPr>
          <p:cNvPr id="2618" name="Google Shape;2618;p64"/>
          <p:cNvSpPr/>
          <p:nvPr/>
        </p:nvSpPr>
        <p:spPr>
          <a:xfrm>
            <a:off x="1956816" y="1069848"/>
            <a:ext cx="1554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300"/>
              <a:buFont typeface="Calibri"/>
              <a:buNone/>
            </a:pPr>
            <a:r>
              <a:rPr lang="en" sz="1300" b="1" i="0" u="none" strike="noStrike" cap="none">
                <a:solidFill>
                  <a:srgbClr val="1E293B"/>
                </a:solidFill>
                <a:latin typeface="Calibri"/>
                <a:ea typeface="Calibri"/>
                <a:cs typeface="Calibri"/>
                <a:sym typeface="Calibri"/>
              </a:rPr>
              <a:t>MLP</a:t>
            </a:r>
            <a:endParaRPr sz="1300" b="0" i="0" u="none" strike="noStrike" cap="none">
              <a:solidFill>
                <a:schemeClr val="dk1"/>
              </a:solidFill>
              <a:latin typeface="Calibri"/>
              <a:ea typeface="Calibri"/>
              <a:cs typeface="Calibri"/>
              <a:sym typeface="Calibri"/>
            </a:endParaRPr>
          </a:p>
        </p:txBody>
      </p:sp>
      <p:sp>
        <p:nvSpPr>
          <p:cNvPr id="2619" name="Google Shape;2619;p64"/>
          <p:cNvSpPr/>
          <p:nvPr/>
        </p:nvSpPr>
        <p:spPr>
          <a:xfrm>
            <a:off x="1975104" y="1389888"/>
            <a:ext cx="1518000" cy="1005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0" name="Google Shape;2620;p64"/>
          <p:cNvSpPr/>
          <p:nvPr/>
        </p:nvSpPr>
        <p:spPr>
          <a:xfrm>
            <a:off x="2048256" y="1481328"/>
            <a:ext cx="183000" cy="183000"/>
          </a:xfrm>
          <a:prstGeom prst="ellipse">
            <a:avLst/>
          </a:prstGeom>
          <a:solidFill>
            <a:srgbClr val="E2E8F0"/>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1" name="Google Shape;2621;p64"/>
          <p:cNvSpPr/>
          <p:nvPr/>
        </p:nvSpPr>
        <p:spPr>
          <a:xfrm>
            <a:off x="2048256" y="1801368"/>
            <a:ext cx="183000" cy="183000"/>
          </a:xfrm>
          <a:prstGeom prst="ellipse">
            <a:avLst/>
          </a:prstGeom>
          <a:solidFill>
            <a:srgbClr val="E2E8F0"/>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2" name="Google Shape;2622;p64"/>
          <p:cNvSpPr/>
          <p:nvPr/>
        </p:nvSpPr>
        <p:spPr>
          <a:xfrm>
            <a:off x="2048256" y="2121408"/>
            <a:ext cx="183000" cy="183000"/>
          </a:xfrm>
          <a:prstGeom prst="ellipse">
            <a:avLst/>
          </a:prstGeom>
          <a:solidFill>
            <a:srgbClr val="E2E8F0"/>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3" name="Google Shape;2623;p64"/>
          <p:cNvSpPr/>
          <p:nvPr/>
        </p:nvSpPr>
        <p:spPr>
          <a:xfrm>
            <a:off x="2642616" y="1591056"/>
            <a:ext cx="183000" cy="183000"/>
          </a:xfrm>
          <a:prstGeom prst="ellipse">
            <a:avLst/>
          </a:prstGeom>
          <a:solidFill>
            <a:srgbClr val="0EA5E9">
              <a:alpha val="80000"/>
            </a:srgbClr>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4" name="Google Shape;2624;p64"/>
          <p:cNvSpPr/>
          <p:nvPr/>
        </p:nvSpPr>
        <p:spPr>
          <a:xfrm>
            <a:off x="2642616" y="1837944"/>
            <a:ext cx="183000" cy="183000"/>
          </a:xfrm>
          <a:prstGeom prst="ellipse">
            <a:avLst/>
          </a:prstGeom>
          <a:solidFill>
            <a:srgbClr val="0EA5E9">
              <a:alpha val="80000"/>
            </a:srgbClr>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5" name="Google Shape;2625;p64"/>
          <p:cNvSpPr/>
          <p:nvPr/>
        </p:nvSpPr>
        <p:spPr>
          <a:xfrm>
            <a:off x="2642616" y="2084832"/>
            <a:ext cx="183000" cy="183000"/>
          </a:xfrm>
          <a:prstGeom prst="ellipse">
            <a:avLst/>
          </a:prstGeom>
          <a:solidFill>
            <a:srgbClr val="0EA5E9">
              <a:alpha val="80000"/>
            </a:srgbClr>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6" name="Google Shape;2626;p64"/>
          <p:cNvSpPr/>
          <p:nvPr/>
        </p:nvSpPr>
        <p:spPr>
          <a:xfrm>
            <a:off x="3236976" y="1709928"/>
            <a:ext cx="183000" cy="183000"/>
          </a:xfrm>
          <a:prstGeom prst="ellipse">
            <a:avLst/>
          </a:prstGeom>
          <a:solidFill>
            <a:srgbClr val="E2E8F0"/>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7" name="Google Shape;2627;p64"/>
          <p:cNvSpPr/>
          <p:nvPr/>
        </p:nvSpPr>
        <p:spPr>
          <a:xfrm>
            <a:off x="3236976" y="1956816"/>
            <a:ext cx="183000" cy="183000"/>
          </a:xfrm>
          <a:prstGeom prst="ellipse">
            <a:avLst/>
          </a:prstGeom>
          <a:solidFill>
            <a:srgbClr val="E2E8F0"/>
          </a:solidFill>
          <a:ln w="12700" cap="flat" cmpd="sng">
            <a:solidFill>
              <a:srgbClr val="0EA5E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28" name="Google Shape;2628;p64"/>
          <p:cNvCxnSpPr/>
          <p:nvPr/>
        </p:nvCxnSpPr>
        <p:spPr>
          <a:xfrm>
            <a:off x="2231136" y="1572768"/>
            <a:ext cx="411600" cy="109800"/>
          </a:xfrm>
          <a:prstGeom prst="straightConnector1">
            <a:avLst/>
          </a:prstGeom>
          <a:noFill/>
          <a:ln w="9525" cap="flat" cmpd="sng">
            <a:solidFill>
              <a:srgbClr val="CBD5E1"/>
            </a:solidFill>
            <a:prstDash val="solid"/>
            <a:round/>
            <a:headEnd type="none" w="sm" len="sm"/>
            <a:tailEnd type="none" w="sm" len="sm"/>
          </a:ln>
        </p:spPr>
      </p:cxnSp>
      <p:cxnSp>
        <p:nvCxnSpPr>
          <p:cNvPr id="2629" name="Google Shape;2629;p64"/>
          <p:cNvCxnSpPr/>
          <p:nvPr/>
        </p:nvCxnSpPr>
        <p:spPr>
          <a:xfrm>
            <a:off x="2231136" y="1572768"/>
            <a:ext cx="411600" cy="356700"/>
          </a:xfrm>
          <a:prstGeom prst="straightConnector1">
            <a:avLst/>
          </a:prstGeom>
          <a:noFill/>
          <a:ln w="9525" cap="flat" cmpd="sng">
            <a:solidFill>
              <a:srgbClr val="CBD5E1"/>
            </a:solidFill>
            <a:prstDash val="solid"/>
            <a:round/>
            <a:headEnd type="none" w="sm" len="sm"/>
            <a:tailEnd type="none" w="sm" len="sm"/>
          </a:ln>
        </p:spPr>
      </p:cxnSp>
      <p:cxnSp>
        <p:nvCxnSpPr>
          <p:cNvPr id="2630" name="Google Shape;2630;p64"/>
          <p:cNvCxnSpPr/>
          <p:nvPr/>
        </p:nvCxnSpPr>
        <p:spPr>
          <a:xfrm>
            <a:off x="2231136" y="1572768"/>
            <a:ext cx="411600" cy="603600"/>
          </a:xfrm>
          <a:prstGeom prst="straightConnector1">
            <a:avLst/>
          </a:prstGeom>
          <a:noFill/>
          <a:ln w="9525" cap="flat" cmpd="sng">
            <a:solidFill>
              <a:srgbClr val="CBD5E1"/>
            </a:solidFill>
            <a:prstDash val="solid"/>
            <a:round/>
            <a:headEnd type="none" w="sm" len="sm"/>
            <a:tailEnd type="none" w="sm" len="sm"/>
          </a:ln>
        </p:spPr>
      </p:cxnSp>
      <p:cxnSp>
        <p:nvCxnSpPr>
          <p:cNvPr id="2631" name="Google Shape;2631;p64"/>
          <p:cNvCxnSpPr/>
          <p:nvPr/>
        </p:nvCxnSpPr>
        <p:spPr>
          <a:xfrm>
            <a:off x="2231136" y="1892808"/>
            <a:ext cx="411600" cy="0"/>
          </a:xfrm>
          <a:prstGeom prst="straightConnector1">
            <a:avLst/>
          </a:prstGeom>
          <a:noFill/>
          <a:ln w="9525" cap="flat" cmpd="sng">
            <a:solidFill>
              <a:srgbClr val="CBD5E1"/>
            </a:solidFill>
            <a:prstDash val="solid"/>
            <a:round/>
            <a:headEnd type="none" w="sm" len="sm"/>
            <a:tailEnd type="none" w="sm" len="sm"/>
          </a:ln>
        </p:spPr>
      </p:cxnSp>
      <p:cxnSp>
        <p:nvCxnSpPr>
          <p:cNvPr id="2632" name="Google Shape;2632;p64"/>
          <p:cNvCxnSpPr/>
          <p:nvPr/>
        </p:nvCxnSpPr>
        <p:spPr>
          <a:xfrm>
            <a:off x="2231136" y="1892808"/>
            <a:ext cx="411600" cy="36600"/>
          </a:xfrm>
          <a:prstGeom prst="straightConnector1">
            <a:avLst/>
          </a:prstGeom>
          <a:noFill/>
          <a:ln w="9525" cap="flat" cmpd="sng">
            <a:solidFill>
              <a:srgbClr val="CBD5E1"/>
            </a:solidFill>
            <a:prstDash val="solid"/>
            <a:round/>
            <a:headEnd type="none" w="sm" len="sm"/>
            <a:tailEnd type="none" w="sm" len="sm"/>
          </a:ln>
        </p:spPr>
      </p:cxnSp>
      <p:cxnSp>
        <p:nvCxnSpPr>
          <p:cNvPr id="2633" name="Google Shape;2633;p64"/>
          <p:cNvCxnSpPr/>
          <p:nvPr/>
        </p:nvCxnSpPr>
        <p:spPr>
          <a:xfrm>
            <a:off x="2231136" y="1892808"/>
            <a:ext cx="411600" cy="283500"/>
          </a:xfrm>
          <a:prstGeom prst="straightConnector1">
            <a:avLst/>
          </a:prstGeom>
          <a:noFill/>
          <a:ln w="9525" cap="flat" cmpd="sng">
            <a:solidFill>
              <a:srgbClr val="CBD5E1"/>
            </a:solidFill>
            <a:prstDash val="solid"/>
            <a:round/>
            <a:headEnd type="none" w="sm" len="sm"/>
            <a:tailEnd type="none" w="sm" len="sm"/>
          </a:ln>
        </p:spPr>
      </p:cxnSp>
      <p:cxnSp>
        <p:nvCxnSpPr>
          <p:cNvPr id="2634" name="Google Shape;2634;p64"/>
          <p:cNvCxnSpPr/>
          <p:nvPr/>
        </p:nvCxnSpPr>
        <p:spPr>
          <a:xfrm>
            <a:off x="2231136" y="2212848"/>
            <a:ext cx="411600" cy="0"/>
          </a:xfrm>
          <a:prstGeom prst="straightConnector1">
            <a:avLst/>
          </a:prstGeom>
          <a:noFill/>
          <a:ln w="9525" cap="flat" cmpd="sng">
            <a:solidFill>
              <a:srgbClr val="CBD5E1"/>
            </a:solidFill>
            <a:prstDash val="solid"/>
            <a:round/>
            <a:headEnd type="none" w="sm" len="sm"/>
            <a:tailEnd type="none" w="sm" len="sm"/>
          </a:ln>
        </p:spPr>
      </p:cxnSp>
      <p:cxnSp>
        <p:nvCxnSpPr>
          <p:cNvPr id="2635" name="Google Shape;2635;p64"/>
          <p:cNvCxnSpPr/>
          <p:nvPr/>
        </p:nvCxnSpPr>
        <p:spPr>
          <a:xfrm>
            <a:off x="2231136" y="2212848"/>
            <a:ext cx="411600" cy="0"/>
          </a:xfrm>
          <a:prstGeom prst="straightConnector1">
            <a:avLst/>
          </a:prstGeom>
          <a:noFill/>
          <a:ln w="9525" cap="flat" cmpd="sng">
            <a:solidFill>
              <a:srgbClr val="CBD5E1"/>
            </a:solidFill>
            <a:prstDash val="solid"/>
            <a:round/>
            <a:headEnd type="none" w="sm" len="sm"/>
            <a:tailEnd type="none" w="sm" len="sm"/>
          </a:ln>
        </p:spPr>
      </p:cxnSp>
      <p:cxnSp>
        <p:nvCxnSpPr>
          <p:cNvPr id="2636" name="Google Shape;2636;p64"/>
          <p:cNvCxnSpPr/>
          <p:nvPr/>
        </p:nvCxnSpPr>
        <p:spPr>
          <a:xfrm>
            <a:off x="2231136" y="2212848"/>
            <a:ext cx="411600" cy="0"/>
          </a:xfrm>
          <a:prstGeom prst="straightConnector1">
            <a:avLst/>
          </a:prstGeom>
          <a:noFill/>
          <a:ln w="9525" cap="flat" cmpd="sng">
            <a:solidFill>
              <a:srgbClr val="CBD5E1"/>
            </a:solidFill>
            <a:prstDash val="solid"/>
            <a:round/>
            <a:headEnd type="none" w="sm" len="sm"/>
            <a:tailEnd type="none" w="sm" len="sm"/>
          </a:ln>
        </p:spPr>
      </p:cxnSp>
      <p:cxnSp>
        <p:nvCxnSpPr>
          <p:cNvPr id="2637" name="Google Shape;2637;p64"/>
          <p:cNvCxnSpPr/>
          <p:nvPr/>
        </p:nvCxnSpPr>
        <p:spPr>
          <a:xfrm>
            <a:off x="2825496" y="1682496"/>
            <a:ext cx="411600" cy="118800"/>
          </a:xfrm>
          <a:prstGeom prst="straightConnector1">
            <a:avLst/>
          </a:prstGeom>
          <a:noFill/>
          <a:ln w="9525" cap="flat" cmpd="sng">
            <a:solidFill>
              <a:srgbClr val="CBD5E1"/>
            </a:solidFill>
            <a:prstDash val="solid"/>
            <a:round/>
            <a:headEnd type="none" w="sm" len="sm"/>
            <a:tailEnd type="none" w="sm" len="sm"/>
          </a:ln>
        </p:spPr>
      </p:cxnSp>
      <p:cxnSp>
        <p:nvCxnSpPr>
          <p:cNvPr id="2638" name="Google Shape;2638;p64"/>
          <p:cNvCxnSpPr/>
          <p:nvPr/>
        </p:nvCxnSpPr>
        <p:spPr>
          <a:xfrm>
            <a:off x="2825496" y="1682496"/>
            <a:ext cx="411600" cy="365700"/>
          </a:xfrm>
          <a:prstGeom prst="straightConnector1">
            <a:avLst/>
          </a:prstGeom>
          <a:noFill/>
          <a:ln w="9525" cap="flat" cmpd="sng">
            <a:solidFill>
              <a:srgbClr val="CBD5E1"/>
            </a:solidFill>
            <a:prstDash val="solid"/>
            <a:round/>
            <a:headEnd type="none" w="sm" len="sm"/>
            <a:tailEnd type="none" w="sm" len="sm"/>
          </a:ln>
        </p:spPr>
      </p:cxnSp>
      <p:cxnSp>
        <p:nvCxnSpPr>
          <p:cNvPr id="2639" name="Google Shape;2639;p64"/>
          <p:cNvCxnSpPr/>
          <p:nvPr/>
        </p:nvCxnSpPr>
        <p:spPr>
          <a:xfrm>
            <a:off x="2825496" y="1929384"/>
            <a:ext cx="411600" cy="0"/>
          </a:xfrm>
          <a:prstGeom prst="straightConnector1">
            <a:avLst/>
          </a:prstGeom>
          <a:noFill/>
          <a:ln w="9525" cap="flat" cmpd="sng">
            <a:solidFill>
              <a:srgbClr val="CBD5E1"/>
            </a:solidFill>
            <a:prstDash val="solid"/>
            <a:round/>
            <a:headEnd type="none" w="sm" len="sm"/>
            <a:tailEnd type="none" w="sm" len="sm"/>
          </a:ln>
        </p:spPr>
      </p:cxnSp>
      <p:cxnSp>
        <p:nvCxnSpPr>
          <p:cNvPr id="2640" name="Google Shape;2640;p64"/>
          <p:cNvCxnSpPr/>
          <p:nvPr/>
        </p:nvCxnSpPr>
        <p:spPr>
          <a:xfrm>
            <a:off x="2825496" y="1929384"/>
            <a:ext cx="411600" cy="118800"/>
          </a:xfrm>
          <a:prstGeom prst="straightConnector1">
            <a:avLst/>
          </a:prstGeom>
          <a:noFill/>
          <a:ln w="9525" cap="flat" cmpd="sng">
            <a:solidFill>
              <a:srgbClr val="CBD5E1"/>
            </a:solidFill>
            <a:prstDash val="solid"/>
            <a:round/>
            <a:headEnd type="none" w="sm" len="sm"/>
            <a:tailEnd type="none" w="sm" len="sm"/>
          </a:ln>
        </p:spPr>
      </p:cxnSp>
      <p:cxnSp>
        <p:nvCxnSpPr>
          <p:cNvPr id="2641" name="Google Shape;2641;p64"/>
          <p:cNvCxnSpPr/>
          <p:nvPr/>
        </p:nvCxnSpPr>
        <p:spPr>
          <a:xfrm>
            <a:off x="2825496" y="2176272"/>
            <a:ext cx="411600" cy="0"/>
          </a:xfrm>
          <a:prstGeom prst="straightConnector1">
            <a:avLst/>
          </a:prstGeom>
          <a:noFill/>
          <a:ln w="9525" cap="flat" cmpd="sng">
            <a:solidFill>
              <a:srgbClr val="CBD5E1"/>
            </a:solidFill>
            <a:prstDash val="solid"/>
            <a:round/>
            <a:headEnd type="none" w="sm" len="sm"/>
            <a:tailEnd type="none" w="sm" len="sm"/>
          </a:ln>
        </p:spPr>
      </p:cxnSp>
      <p:cxnSp>
        <p:nvCxnSpPr>
          <p:cNvPr id="2642" name="Google Shape;2642;p64"/>
          <p:cNvCxnSpPr/>
          <p:nvPr/>
        </p:nvCxnSpPr>
        <p:spPr>
          <a:xfrm>
            <a:off x="2825496" y="2176272"/>
            <a:ext cx="411600" cy="0"/>
          </a:xfrm>
          <a:prstGeom prst="straightConnector1">
            <a:avLst/>
          </a:prstGeom>
          <a:noFill/>
          <a:ln w="9525" cap="flat" cmpd="sng">
            <a:solidFill>
              <a:srgbClr val="CBD5E1"/>
            </a:solidFill>
            <a:prstDash val="solid"/>
            <a:round/>
            <a:headEnd type="none" w="sm" len="sm"/>
            <a:tailEnd type="none" w="sm" len="sm"/>
          </a:ln>
        </p:spPr>
      </p:cxnSp>
      <p:sp>
        <p:nvSpPr>
          <p:cNvPr id="2643" name="Google Shape;2643;p64"/>
          <p:cNvSpPr/>
          <p:nvPr/>
        </p:nvSpPr>
        <p:spPr>
          <a:xfrm>
            <a:off x="1975104" y="2441448"/>
            <a:ext cx="1518000" cy="1417200"/>
          </a:xfrm>
          <a:prstGeom prst="rect">
            <a:avLst/>
          </a:prstGeom>
          <a:noFill/>
          <a:ln>
            <a:noFill/>
          </a:ln>
        </p:spPr>
        <p:txBody>
          <a:bodyPr spcFirstLastPara="1" wrap="square" lIns="38100" tIns="38100" rIns="38100" bIns="38100" anchor="t" anchorCtr="0">
            <a:noAutofit/>
          </a:bodyPr>
          <a:lstStyle/>
          <a:p>
            <a:pPr marL="0" marR="0" lvl="0" indent="0" algn="l" rtl="0">
              <a:lnSpc>
                <a:spcPct val="125000"/>
              </a:lnSpc>
              <a:spcBef>
                <a:spcPts val="0"/>
              </a:spcBef>
              <a:spcAft>
                <a:spcPts val="0"/>
              </a:spcAft>
              <a:buClr>
                <a:srgbClr val="0EA5E9"/>
              </a:buClr>
              <a:buSzPts val="900"/>
              <a:buFont typeface="Calibri"/>
              <a:buNone/>
            </a:pPr>
            <a:r>
              <a:rPr lang="en" sz="900" b="1" i="0" u="none" strike="noStrike" cap="none">
                <a:solidFill>
                  <a:srgbClr val="0EA5E9"/>
                </a:solidFill>
                <a:latin typeface="Calibri"/>
                <a:ea typeface="Calibri"/>
                <a:cs typeface="Calibri"/>
                <a:sym typeface="Calibri"/>
              </a:rPr>
              <a:t>Hidden layers</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Backpropagation</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Non-linear fn</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Universal approx</a:t>
            </a:r>
            <a:endParaRPr sz="900" b="0" i="0" u="none" strike="noStrike" cap="none">
              <a:solidFill>
                <a:schemeClr val="dk1"/>
              </a:solidFill>
              <a:latin typeface="Calibri"/>
              <a:ea typeface="Calibri"/>
              <a:cs typeface="Calibri"/>
              <a:sym typeface="Calibri"/>
            </a:endParaRPr>
          </a:p>
        </p:txBody>
      </p:sp>
      <p:sp>
        <p:nvSpPr>
          <p:cNvPr id="2644" name="Google Shape;2644;p64"/>
          <p:cNvSpPr/>
          <p:nvPr/>
        </p:nvSpPr>
        <p:spPr>
          <a:xfrm>
            <a:off x="2651760" y="4142232"/>
            <a:ext cx="164700" cy="164700"/>
          </a:xfrm>
          <a:prstGeom prst="ellipse">
            <a:avLst/>
          </a:prstGeom>
          <a:solidFill>
            <a:srgbClr val="0EA5E9"/>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5" name="Google Shape;2645;p64"/>
          <p:cNvSpPr/>
          <p:nvPr/>
        </p:nvSpPr>
        <p:spPr>
          <a:xfrm>
            <a:off x="3639312" y="749808"/>
            <a:ext cx="1664100" cy="3291900"/>
          </a:xfrm>
          <a:prstGeom prst="rect">
            <a:avLst/>
          </a:prstGeom>
          <a:solidFill>
            <a:srgbClr val="FFFFFF"/>
          </a:solidFill>
          <a:ln w="15225" cap="flat" cmpd="sng">
            <a:solidFill>
              <a:srgbClr val="10B981"/>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6" name="Google Shape;2646;p64"/>
          <p:cNvSpPr/>
          <p:nvPr/>
        </p:nvSpPr>
        <p:spPr>
          <a:xfrm>
            <a:off x="3639312" y="749808"/>
            <a:ext cx="1664100" cy="63900"/>
          </a:xfrm>
          <a:prstGeom prst="rect">
            <a:avLst/>
          </a:prstGeom>
          <a:solidFill>
            <a:srgbClr val="10B981"/>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7" name="Google Shape;2647;p64"/>
          <p:cNvSpPr/>
          <p:nvPr/>
        </p:nvSpPr>
        <p:spPr>
          <a:xfrm>
            <a:off x="3712464" y="841248"/>
            <a:ext cx="1518000" cy="201300"/>
          </a:xfrm>
          <a:prstGeom prst="rect">
            <a:avLst/>
          </a:prstGeom>
          <a:solidFill>
            <a:srgbClr val="10B981">
              <a:alpha val="14902"/>
            </a:srgbClr>
          </a:solidFill>
          <a:ln w="9525"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8" name="Google Shape;2648;p64"/>
          <p:cNvSpPr/>
          <p:nvPr/>
        </p:nvSpPr>
        <p:spPr>
          <a:xfrm>
            <a:off x="3712464" y="841248"/>
            <a:ext cx="15180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0B981"/>
              </a:buClr>
              <a:buSzPts val="800"/>
              <a:buFont typeface="Calibri"/>
              <a:buNone/>
            </a:pPr>
            <a:r>
              <a:rPr lang="en" sz="800" b="1" i="0" u="none" strike="noStrike" cap="none">
                <a:solidFill>
                  <a:srgbClr val="10B981"/>
                </a:solidFill>
                <a:latin typeface="Calibri"/>
                <a:ea typeface="Calibri"/>
                <a:cs typeface="Calibri"/>
                <a:sym typeface="Calibri"/>
              </a:rPr>
              <a:t>1990s</a:t>
            </a:r>
            <a:endParaRPr sz="800" b="0" i="0" u="none" strike="noStrike" cap="none">
              <a:solidFill>
                <a:schemeClr val="dk1"/>
              </a:solidFill>
              <a:latin typeface="Calibri"/>
              <a:ea typeface="Calibri"/>
              <a:cs typeface="Calibri"/>
              <a:sym typeface="Calibri"/>
            </a:endParaRPr>
          </a:p>
        </p:txBody>
      </p:sp>
      <p:sp>
        <p:nvSpPr>
          <p:cNvPr id="2649" name="Google Shape;2649;p64"/>
          <p:cNvSpPr/>
          <p:nvPr/>
        </p:nvSpPr>
        <p:spPr>
          <a:xfrm>
            <a:off x="3694176" y="1069848"/>
            <a:ext cx="1554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300"/>
              <a:buFont typeface="Calibri"/>
              <a:buNone/>
            </a:pPr>
            <a:r>
              <a:rPr lang="en" sz="1300" b="1" i="0" u="none" strike="noStrike" cap="none">
                <a:solidFill>
                  <a:srgbClr val="1E293B"/>
                </a:solidFill>
                <a:latin typeface="Calibri"/>
                <a:ea typeface="Calibri"/>
                <a:cs typeface="Calibri"/>
                <a:sym typeface="Calibri"/>
              </a:rPr>
              <a:t>CNN</a:t>
            </a:r>
            <a:endParaRPr sz="1300" b="0" i="0" u="none" strike="noStrike" cap="none">
              <a:solidFill>
                <a:schemeClr val="dk1"/>
              </a:solidFill>
              <a:latin typeface="Calibri"/>
              <a:ea typeface="Calibri"/>
              <a:cs typeface="Calibri"/>
              <a:sym typeface="Calibri"/>
            </a:endParaRPr>
          </a:p>
        </p:txBody>
      </p:sp>
      <p:sp>
        <p:nvSpPr>
          <p:cNvPr id="2650" name="Google Shape;2650;p64"/>
          <p:cNvSpPr/>
          <p:nvPr/>
        </p:nvSpPr>
        <p:spPr>
          <a:xfrm>
            <a:off x="3712464" y="1389888"/>
            <a:ext cx="1518000" cy="1005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1" name="Google Shape;2651;p64"/>
          <p:cNvSpPr/>
          <p:nvPr/>
        </p:nvSpPr>
        <p:spPr>
          <a:xfrm>
            <a:off x="3785616" y="1527048"/>
            <a:ext cx="201300" cy="749700"/>
          </a:xfrm>
          <a:prstGeom prst="rect">
            <a:avLst/>
          </a:prstGeom>
          <a:solidFill>
            <a:srgbClr val="BFDBFE"/>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2" name="Google Shape;2652;p64"/>
          <p:cNvSpPr/>
          <p:nvPr/>
        </p:nvSpPr>
        <p:spPr>
          <a:xfrm>
            <a:off x="4041648" y="1527048"/>
            <a:ext cx="201300" cy="749700"/>
          </a:xfrm>
          <a:prstGeom prst="rect">
            <a:avLst/>
          </a:prstGeom>
          <a:solidFill>
            <a:srgbClr val="BBF7D0"/>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3" name="Google Shape;2653;p64"/>
          <p:cNvSpPr/>
          <p:nvPr/>
        </p:nvSpPr>
        <p:spPr>
          <a:xfrm>
            <a:off x="4297680" y="1527048"/>
            <a:ext cx="201300" cy="749700"/>
          </a:xfrm>
          <a:prstGeom prst="rect">
            <a:avLst/>
          </a:prstGeom>
          <a:solidFill>
            <a:srgbClr val="BFDBFE"/>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4" name="Google Shape;2654;p64"/>
          <p:cNvSpPr/>
          <p:nvPr/>
        </p:nvSpPr>
        <p:spPr>
          <a:xfrm>
            <a:off x="4608576" y="1645920"/>
            <a:ext cx="146400" cy="521100"/>
          </a:xfrm>
          <a:prstGeom prst="rect">
            <a:avLst/>
          </a:prstGeom>
          <a:solidFill>
            <a:srgbClr val="DBEAFE"/>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5" name="Google Shape;2655;p64"/>
          <p:cNvSpPr/>
          <p:nvPr/>
        </p:nvSpPr>
        <p:spPr>
          <a:xfrm>
            <a:off x="4828032" y="1737360"/>
            <a:ext cx="109800" cy="347400"/>
          </a:xfrm>
          <a:prstGeom prst="rect">
            <a:avLst/>
          </a:prstGeom>
          <a:solidFill>
            <a:srgbClr val="10B981">
              <a:alpha val="60000"/>
            </a:srgbClr>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6" name="Google Shape;2656;p64"/>
          <p:cNvSpPr/>
          <p:nvPr/>
        </p:nvSpPr>
        <p:spPr>
          <a:xfrm>
            <a:off x="3785616" y="2304288"/>
            <a:ext cx="731400" cy="109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600"/>
              <a:buFont typeface="Calibri"/>
              <a:buNone/>
            </a:pPr>
            <a:r>
              <a:rPr lang="en" sz="600" b="0" i="0" u="none" strike="noStrike" cap="none">
                <a:solidFill>
                  <a:srgbClr val="64748B"/>
                </a:solidFill>
                <a:latin typeface="Calibri"/>
                <a:ea typeface="Calibri"/>
                <a:cs typeface="Calibri"/>
                <a:sym typeface="Calibri"/>
              </a:rPr>
              <a:t>conv</a:t>
            </a:r>
            <a:endParaRPr sz="600" b="0" i="0" u="none" strike="noStrike" cap="none">
              <a:solidFill>
                <a:schemeClr val="dk1"/>
              </a:solidFill>
              <a:latin typeface="Calibri"/>
              <a:ea typeface="Calibri"/>
              <a:cs typeface="Calibri"/>
              <a:sym typeface="Calibri"/>
            </a:endParaRPr>
          </a:p>
        </p:txBody>
      </p:sp>
      <p:sp>
        <p:nvSpPr>
          <p:cNvPr id="2657" name="Google Shape;2657;p64"/>
          <p:cNvSpPr/>
          <p:nvPr/>
        </p:nvSpPr>
        <p:spPr>
          <a:xfrm>
            <a:off x="4535424" y="2304288"/>
            <a:ext cx="274200" cy="109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600"/>
              <a:buFont typeface="Calibri"/>
              <a:buNone/>
            </a:pPr>
            <a:r>
              <a:rPr lang="en" sz="600" b="0" i="0" u="none" strike="noStrike" cap="none">
                <a:solidFill>
                  <a:srgbClr val="64748B"/>
                </a:solidFill>
                <a:latin typeface="Calibri"/>
                <a:ea typeface="Calibri"/>
                <a:cs typeface="Calibri"/>
                <a:sym typeface="Calibri"/>
              </a:rPr>
              <a:t>pool</a:t>
            </a:r>
            <a:endParaRPr sz="600" b="0" i="0" u="none" strike="noStrike" cap="none">
              <a:solidFill>
                <a:schemeClr val="dk1"/>
              </a:solidFill>
              <a:latin typeface="Calibri"/>
              <a:ea typeface="Calibri"/>
              <a:cs typeface="Calibri"/>
              <a:sym typeface="Calibri"/>
            </a:endParaRPr>
          </a:p>
        </p:txBody>
      </p:sp>
      <p:sp>
        <p:nvSpPr>
          <p:cNvPr id="2658" name="Google Shape;2658;p64"/>
          <p:cNvSpPr/>
          <p:nvPr/>
        </p:nvSpPr>
        <p:spPr>
          <a:xfrm>
            <a:off x="4791456" y="2304288"/>
            <a:ext cx="228600" cy="109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600"/>
              <a:buFont typeface="Calibri"/>
              <a:buNone/>
            </a:pPr>
            <a:r>
              <a:rPr lang="en" sz="600" b="0" i="0" u="none" strike="noStrike" cap="none">
                <a:solidFill>
                  <a:srgbClr val="64748B"/>
                </a:solidFill>
                <a:latin typeface="Calibri"/>
                <a:ea typeface="Calibri"/>
                <a:cs typeface="Calibri"/>
                <a:sym typeface="Calibri"/>
              </a:rPr>
              <a:t>FC</a:t>
            </a:r>
            <a:endParaRPr sz="600" b="0" i="0" u="none" strike="noStrike" cap="none">
              <a:solidFill>
                <a:schemeClr val="dk1"/>
              </a:solidFill>
              <a:latin typeface="Calibri"/>
              <a:ea typeface="Calibri"/>
              <a:cs typeface="Calibri"/>
              <a:sym typeface="Calibri"/>
            </a:endParaRPr>
          </a:p>
        </p:txBody>
      </p:sp>
      <p:sp>
        <p:nvSpPr>
          <p:cNvPr id="2659" name="Google Shape;2659;p64"/>
          <p:cNvSpPr/>
          <p:nvPr/>
        </p:nvSpPr>
        <p:spPr>
          <a:xfrm>
            <a:off x="3712464" y="2441448"/>
            <a:ext cx="1518000" cy="1417200"/>
          </a:xfrm>
          <a:prstGeom prst="rect">
            <a:avLst/>
          </a:prstGeom>
          <a:noFill/>
          <a:ln>
            <a:noFill/>
          </a:ln>
        </p:spPr>
        <p:txBody>
          <a:bodyPr spcFirstLastPara="1" wrap="square" lIns="38100" tIns="38100" rIns="38100" bIns="38100" anchor="t" anchorCtr="0">
            <a:noAutofit/>
          </a:bodyPr>
          <a:lstStyle/>
          <a:p>
            <a:pPr marL="0" marR="0" lvl="0" indent="0" algn="l" rtl="0">
              <a:lnSpc>
                <a:spcPct val="125000"/>
              </a:lnSpc>
              <a:spcBef>
                <a:spcPts val="0"/>
              </a:spcBef>
              <a:spcAft>
                <a:spcPts val="0"/>
              </a:spcAft>
              <a:buClr>
                <a:srgbClr val="10B981"/>
              </a:buClr>
              <a:buSzPts val="900"/>
              <a:buFont typeface="Calibri"/>
              <a:buNone/>
            </a:pPr>
            <a:r>
              <a:rPr lang="en" sz="900" b="1" i="0" u="none" strike="noStrike" cap="none">
                <a:solidFill>
                  <a:srgbClr val="10B981"/>
                </a:solidFill>
                <a:latin typeface="Calibri"/>
                <a:ea typeface="Calibri"/>
                <a:cs typeface="Calibri"/>
                <a:sym typeface="Calibri"/>
              </a:rPr>
              <a:t>Conv filters</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Spatial hierarchy</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Weight sharing</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Image/vision tasks</a:t>
            </a:r>
            <a:endParaRPr sz="900" b="0" i="0" u="none" strike="noStrike" cap="none">
              <a:solidFill>
                <a:schemeClr val="dk1"/>
              </a:solidFill>
              <a:latin typeface="Calibri"/>
              <a:ea typeface="Calibri"/>
              <a:cs typeface="Calibri"/>
              <a:sym typeface="Calibri"/>
            </a:endParaRPr>
          </a:p>
        </p:txBody>
      </p:sp>
      <p:sp>
        <p:nvSpPr>
          <p:cNvPr id="2660" name="Google Shape;2660;p64"/>
          <p:cNvSpPr/>
          <p:nvPr/>
        </p:nvSpPr>
        <p:spPr>
          <a:xfrm>
            <a:off x="4389120" y="4142232"/>
            <a:ext cx="164700" cy="164700"/>
          </a:xfrm>
          <a:prstGeom prst="ellipse">
            <a:avLst/>
          </a:prstGeom>
          <a:solidFill>
            <a:srgbClr val="10B981"/>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1" name="Google Shape;2661;p64"/>
          <p:cNvSpPr/>
          <p:nvPr/>
        </p:nvSpPr>
        <p:spPr>
          <a:xfrm>
            <a:off x="5376672" y="749808"/>
            <a:ext cx="1664100" cy="3291900"/>
          </a:xfrm>
          <a:prstGeom prst="rect">
            <a:avLst/>
          </a:prstGeom>
          <a:solidFill>
            <a:srgbClr val="FFFFFF"/>
          </a:solidFill>
          <a:ln w="15225" cap="flat" cmpd="sng">
            <a:solidFill>
              <a:srgbClr val="F59E0B"/>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2" name="Google Shape;2662;p64"/>
          <p:cNvSpPr/>
          <p:nvPr/>
        </p:nvSpPr>
        <p:spPr>
          <a:xfrm>
            <a:off x="5376672" y="749808"/>
            <a:ext cx="1664100" cy="63900"/>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3" name="Google Shape;2663;p64"/>
          <p:cNvSpPr/>
          <p:nvPr/>
        </p:nvSpPr>
        <p:spPr>
          <a:xfrm>
            <a:off x="5449824" y="841248"/>
            <a:ext cx="1518000" cy="201300"/>
          </a:xfrm>
          <a:prstGeom prst="rect">
            <a:avLst/>
          </a:prstGeom>
          <a:solidFill>
            <a:srgbClr val="F59E0B">
              <a:alpha val="14902"/>
            </a:srgbClr>
          </a:solidFill>
          <a:ln w="9525"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4" name="Google Shape;2664;p64"/>
          <p:cNvSpPr/>
          <p:nvPr/>
        </p:nvSpPr>
        <p:spPr>
          <a:xfrm>
            <a:off x="5449824" y="841248"/>
            <a:ext cx="15180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59E0B"/>
              </a:buClr>
              <a:buSzPts val="800"/>
              <a:buFont typeface="Calibri"/>
              <a:buNone/>
            </a:pPr>
            <a:r>
              <a:rPr lang="en" sz="800" b="1" i="0" u="none" strike="noStrike" cap="none">
                <a:solidFill>
                  <a:srgbClr val="F59E0B"/>
                </a:solidFill>
                <a:latin typeface="Calibri"/>
                <a:ea typeface="Calibri"/>
                <a:cs typeface="Calibri"/>
                <a:sym typeface="Calibri"/>
              </a:rPr>
              <a:t>1990s</a:t>
            </a:r>
            <a:endParaRPr sz="800" b="0" i="0" u="none" strike="noStrike" cap="none">
              <a:solidFill>
                <a:schemeClr val="dk1"/>
              </a:solidFill>
              <a:latin typeface="Calibri"/>
              <a:ea typeface="Calibri"/>
              <a:cs typeface="Calibri"/>
              <a:sym typeface="Calibri"/>
            </a:endParaRPr>
          </a:p>
        </p:txBody>
      </p:sp>
      <p:sp>
        <p:nvSpPr>
          <p:cNvPr id="2665" name="Google Shape;2665;p64"/>
          <p:cNvSpPr/>
          <p:nvPr/>
        </p:nvSpPr>
        <p:spPr>
          <a:xfrm>
            <a:off x="5431536" y="1069848"/>
            <a:ext cx="1554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300"/>
              <a:buFont typeface="Calibri"/>
              <a:buNone/>
            </a:pPr>
            <a:r>
              <a:rPr lang="en" sz="1300" b="1" i="0" u="none" strike="noStrike" cap="none">
                <a:solidFill>
                  <a:srgbClr val="1E293B"/>
                </a:solidFill>
                <a:latin typeface="Calibri"/>
                <a:ea typeface="Calibri"/>
                <a:cs typeface="Calibri"/>
                <a:sym typeface="Calibri"/>
              </a:rPr>
              <a:t>RNN / LSTM</a:t>
            </a:r>
            <a:endParaRPr sz="1300" b="0" i="0" u="none" strike="noStrike" cap="none">
              <a:solidFill>
                <a:schemeClr val="dk1"/>
              </a:solidFill>
              <a:latin typeface="Calibri"/>
              <a:ea typeface="Calibri"/>
              <a:cs typeface="Calibri"/>
              <a:sym typeface="Calibri"/>
            </a:endParaRPr>
          </a:p>
        </p:txBody>
      </p:sp>
      <p:sp>
        <p:nvSpPr>
          <p:cNvPr id="2666" name="Google Shape;2666;p64"/>
          <p:cNvSpPr/>
          <p:nvPr/>
        </p:nvSpPr>
        <p:spPr>
          <a:xfrm>
            <a:off x="5449824" y="1389888"/>
            <a:ext cx="1518000" cy="1005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7" name="Google Shape;2667;p64"/>
          <p:cNvSpPr/>
          <p:nvPr/>
        </p:nvSpPr>
        <p:spPr>
          <a:xfrm>
            <a:off x="5541264" y="1709928"/>
            <a:ext cx="320100" cy="320100"/>
          </a:xfrm>
          <a:prstGeom prst="rect">
            <a:avLst/>
          </a:prstGeom>
          <a:solidFill>
            <a:srgbClr val="F59E0B">
              <a:alpha val="50196"/>
            </a:srgbClr>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8" name="Google Shape;2668;p64"/>
          <p:cNvSpPr/>
          <p:nvPr/>
        </p:nvSpPr>
        <p:spPr>
          <a:xfrm>
            <a:off x="5541264" y="1709928"/>
            <a:ext cx="320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00"/>
              <a:buFont typeface="Calibri"/>
              <a:buNone/>
            </a:pPr>
            <a:r>
              <a:rPr lang="en" sz="1000" b="1" i="1" u="none" strike="noStrike" cap="none">
                <a:solidFill>
                  <a:srgbClr val="1E293B"/>
                </a:solidFill>
                <a:latin typeface="Calibri"/>
                <a:ea typeface="Calibri"/>
                <a:cs typeface="Calibri"/>
                <a:sym typeface="Calibri"/>
              </a:rPr>
              <a:t>h</a:t>
            </a:r>
            <a:endParaRPr sz="1000" b="0" i="0" u="none" strike="noStrike" cap="none">
              <a:solidFill>
                <a:schemeClr val="dk1"/>
              </a:solidFill>
              <a:latin typeface="Calibri"/>
              <a:ea typeface="Calibri"/>
              <a:cs typeface="Calibri"/>
              <a:sym typeface="Calibri"/>
            </a:endParaRPr>
          </a:p>
        </p:txBody>
      </p:sp>
      <p:cxnSp>
        <p:nvCxnSpPr>
          <p:cNvPr id="2669" name="Google Shape;2669;p64"/>
          <p:cNvCxnSpPr/>
          <p:nvPr/>
        </p:nvCxnSpPr>
        <p:spPr>
          <a:xfrm>
            <a:off x="5861304" y="1869948"/>
            <a:ext cx="183000" cy="0"/>
          </a:xfrm>
          <a:prstGeom prst="straightConnector1">
            <a:avLst/>
          </a:prstGeom>
          <a:noFill/>
          <a:ln w="15225" cap="flat" cmpd="sng">
            <a:solidFill>
              <a:srgbClr val="F59E0B"/>
            </a:solidFill>
            <a:prstDash val="solid"/>
            <a:round/>
            <a:headEnd type="none" w="sm" len="sm"/>
            <a:tailEnd type="none" w="sm" len="sm"/>
          </a:ln>
        </p:spPr>
      </p:cxnSp>
      <p:cxnSp>
        <p:nvCxnSpPr>
          <p:cNvPr id="2670" name="Google Shape;2670;p64"/>
          <p:cNvCxnSpPr/>
          <p:nvPr/>
        </p:nvCxnSpPr>
        <p:spPr>
          <a:xfrm>
            <a:off x="5701284" y="1527048"/>
            <a:ext cx="0" cy="183000"/>
          </a:xfrm>
          <a:prstGeom prst="straightConnector1">
            <a:avLst/>
          </a:prstGeom>
          <a:noFill/>
          <a:ln w="12700" cap="flat" cmpd="sng">
            <a:solidFill>
              <a:srgbClr val="94A3B8"/>
            </a:solidFill>
            <a:prstDash val="solid"/>
            <a:round/>
            <a:headEnd type="none" w="sm" len="sm"/>
            <a:tailEnd type="none" w="sm" len="sm"/>
          </a:ln>
        </p:spPr>
      </p:cxnSp>
      <p:sp>
        <p:nvSpPr>
          <p:cNvPr id="2671" name="Google Shape;2671;p64"/>
          <p:cNvSpPr/>
          <p:nvPr/>
        </p:nvSpPr>
        <p:spPr>
          <a:xfrm>
            <a:off x="5609844" y="1435608"/>
            <a:ext cx="183000" cy="128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700"/>
              <a:buFont typeface="Calibri"/>
              <a:buNone/>
            </a:pPr>
            <a:r>
              <a:rPr lang="en" sz="700" b="0" i="1" u="none" strike="noStrike" cap="none">
                <a:solidFill>
                  <a:srgbClr val="64748B"/>
                </a:solidFill>
                <a:latin typeface="Calibri"/>
                <a:ea typeface="Calibri"/>
                <a:cs typeface="Calibri"/>
                <a:sym typeface="Calibri"/>
              </a:rPr>
              <a:t>x1</a:t>
            </a:r>
            <a:endParaRPr sz="700" b="0" i="0" u="none" strike="noStrike" cap="none">
              <a:solidFill>
                <a:schemeClr val="dk1"/>
              </a:solidFill>
              <a:latin typeface="Calibri"/>
              <a:ea typeface="Calibri"/>
              <a:cs typeface="Calibri"/>
              <a:sym typeface="Calibri"/>
            </a:endParaRPr>
          </a:p>
        </p:txBody>
      </p:sp>
      <p:sp>
        <p:nvSpPr>
          <p:cNvPr id="2672" name="Google Shape;2672;p64"/>
          <p:cNvSpPr/>
          <p:nvPr/>
        </p:nvSpPr>
        <p:spPr>
          <a:xfrm>
            <a:off x="5952744" y="1709928"/>
            <a:ext cx="320100" cy="320100"/>
          </a:xfrm>
          <a:prstGeom prst="rect">
            <a:avLst/>
          </a:prstGeom>
          <a:solidFill>
            <a:srgbClr val="F59E0B">
              <a:alpha val="50196"/>
            </a:srgbClr>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3" name="Google Shape;2673;p64"/>
          <p:cNvSpPr/>
          <p:nvPr/>
        </p:nvSpPr>
        <p:spPr>
          <a:xfrm>
            <a:off x="5952744" y="1709928"/>
            <a:ext cx="320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00"/>
              <a:buFont typeface="Calibri"/>
              <a:buNone/>
            </a:pPr>
            <a:r>
              <a:rPr lang="en" sz="1000" b="1" i="1" u="none" strike="noStrike" cap="none">
                <a:solidFill>
                  <a:srgbClr val="1E293B"/>
                </a:solidFill>
                <a:latin typeface="Calibri"/>
                <a:ea typeface="Calibri"/>
                <a:cs typeface="Calibri"/>
                <a:sym typeface="Calibri"/>
              </a:rPr>
              <a:t>h</a:t>
            </a:r>
            <a:endParaRPr sz="1000" b="0" i="0" u="none" strike="noStrike" cap="none">
              <a:solidFill>
                <a:schemeClr val="dk1"/>
              </a:solidFill>
              <a:latin typeface="Calibri"/>
              <a:ea typeface="Calibri"/>
              <a:cs typeface="Calibri"/>
              <a:sym typeface="Calibri"/>
            </a:endParaRPr>
          </a:p>
        </p:txBody>
      </p:sp>
      <p:cxnSp>
        <p:nvCxnSpPr>
          <p:cNvPr id="2674" name="Google Shape;2674;p64"/>
          <p:cNvCxnSpPr/>
          <p:nvPr/>
        </p:nvCxnSpPr>
        <p:spPr>
          <a:xfrm>
            <a:off x="6272784" y="1869948"/>
            <a:ext cx="183000" cy="0"/>
          </a:xfrm>
          <a:prstGeom prst="straightConnector1">
            <a:avLst/>
          </a:prstGeom>
          <a:noFill/>
          <a:ln w="15225" cap="flat" cmpd="sng">
            <a:solidFill>
              <a:srgbClr val="F59E0B"/>
            </a:solidFill>
            <a:prstDash val="solid"/>
            <a:round/>
            <a:headEnd type="none" w="sm" len="sm"/>
            <a:tailEnd type="none" w="sm" len="sm"/>
          </a:ln>
        </p:spPr>
      </p:cxnSp>
      <p:cxnSp>
        <p:nvCxnSpPr>
          <p:cNvPr id="2675" name="Google Shape;2675;p64"/>
          <p:cNvCxnSpPr/>
          <p:nvPr/>
        </p:nvCxnSpPr>
        <p:spPr>
          <a:xfrm>
            <a:off x="6112764" y="1527048"/>
            <a:ext cx="0" cy="183000"/>
          </a:xfrm>
          <a:prstGeom prst="straightConnector1">
            <a:avLst/>
          </a:prstGeom>
          <a:noFill/>
          <a:ln w="12700" cap="flat" cmpd="sng">
            <a:solidFill>
              <a:srgbClr val="94A3B8"/>
            </a:solidFill>
            <a:prstDash val="solid"/>
            <a:round/>
            <a:headEnd type="none" w="sm" len="sm"/>
            <a:tailEnd type="none" w="sm" len="sm"/>
          </a:ln>
        </p:spPr>
      </p:cxnSp>
      <p:sp>
        <p:nvSpPr>
          <p:cNvPr id="2676" name="Google Shape;2676;p64"/>
          <p:cNvSpPr/>
          <p:nvPr/>
        </p:nvSpPr>
        <p:spPr>
          <a:xfrm>
            <a:off x="6021324" y="1435608"/>
            <a:ext cx="183000" cy="128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700"/>
              <a:buFont typeface="Calibri"/>
              <a:buNone/>
            </a:pPr>
            <a:r>
              <a:rPr lang="en" sz="700" b="0" i="1" u="none" strike="noStrike" cap="none">
                <a:solidFill>
                  <a:srgbClr val="64748B"/>
                </a:solidFill>
                <a:latin typeface="Calibri"/>
                <a:ea typeface="Calibri"/>
                <a:cs typeface="Calibri"/>
                <a:sym typeface="Calibri"/>
              </a:rPr>
              <a:t>x2</a:t>
            </a:r>
            <a:endParaRPr sz="700" b="0" i="0" u="none" strike="noStrike" cap="none">
              <a:solidFill>
                <a:schemeClr val="dk1"/>
              </a:solidFill>
              <a:latin typeface="Calibri"/>
              <a:ea typeface="Calibri"/>
              <a:cs typeface="Calibri"/>
              <a:sym typeface="Calibri"/>
            </a:endParaRPr>
          </a:p>
        </p:txBody>
      </p:sp>
      <p:sp>
        <p:nvSpPr>
          <p:cNvPr id="2677" name="Google Shape;2677;p64"/>
          <p:cNvSpPr/>
          <p:nvPr/>
        </p:nvSpPr>
        <p:spPr>
          <a:xfrm>
            <a:off x="6364224" y="1709928"/>
            <a:ext cx="320100" cy="320100"/>
          </a:xfrm>
          <a:prstGeom prst="rect">
            <a:avLst/>
          </a:prstGeom>
          <a:solidFill>
            <a:srgbClr val="F59E0B">
              <a:alpha val="50196"/>
            </a:srgbClr>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8" name="Google Shape;2678;p64"/>
          <p:cNvSpPr/>
          <p:nvPr/>
        </p:nvSpPr>
        <p:spPr>
          <a:xfrm>
            <a:off x="6364224" y="1709928"/>
            <a:ext cx="320100" cy="32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000"/>
              <a:buFont typeface="Calibri"/>
              <a:buNone/>
            </a:pPr>
            <a:r>
              <a:rPr lang="en" sz="1000" b="1" i="1" u="none" strike="noStrike" cap="none">
                <a:solidFill>
                  <a:srgbClr val="1E293B"/>
                </a:solidFill>
                <a:latin typeface="Calibri"/>
                <a:ea typeface="Calibri"/>
                <a:cs typeface="Calibri"/>
                <a:sym typeface="Calibri"/>
              </a:rPr>
              <a:t>h</a:t>
            </a:r>
            <a:endParaRPr sz="1000" b="0" i="0" u="none" strike="noStrike" cap="none">
              <a:solidFill>
                <a:schemeClr val="dk1"/>
              </a:solidFill>
              <a:latin typeface="Calibri"/>
              <a:ea typeface="Calibri"/>
              <a:cs typeface="Calibri"/>
              <a:sym typeface="Calibri"/>
            </a:endParaRPr>
          </a:p>
        </p:txBody>
      </p:sp>
      <p:cxnSp>
        <p:nvCxnSpPr>
          <p:cNvPr id="2679" name="Google Shape;2679;p64"/>
          <p:cNvCxnSpPr/>
          <p:nvPr/>
        </p:nvCxnSpPr>
        <p:spPr>
          <a:xfrm>
            <a:off x="6524244" y="1527048"/>
            <a:ext cx="0" cy="183000"/>
          </a:xfrm>
          <a:prstGeom prst="straightConnector1">
            <a:avLst/>
          </a:prstGeom>
          <a:noFill/>
          <a:ln w="12700" cap="flat" cmpd="sng">
            <a:solidFill>
              <a:srgbClr val="94A3B8"/>
            </a:solidFill>
            <a:prstDash val="solid"/>
            <a:round/>
            <a:headEnd type="none" w="sm" len="sm"/>
            <a:tailEnd type="none" w="sm" len="sm"/>
          </a:ln>
        </p:spPr>
      </p:cxnSp>
      <p:sp>
        <p:nvSpPr>
          <p:cNvPr id="2680" name="Google Shape;2680;p64"/>
          <p:cNvSpPr/>
          <p:nvPr/>
        </p:nvSpPr>
        <p:spPr>
          <a:xfrm>
            <a:off x="6432804" y="1435608"/>
            <a:ext cx="183000" cy="128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700"/>
              <a:buFont typeface="Calibri"/>
              <a:buNone/>
            </a:pPr>
            <a:r>
              <a:rPr lang="en" sz="700" b="0" i="1" u="none" strike="noStrike" cap="none">
                <a:solidFill>
                  <a:srgbClr val="64748B"/>
                </a:solidFill>
                <a:latin typeface="Calibri"/>
                <a:ea typeface="Calibri"/>
                <a:cs typeface="Calibri"/>
                <a:sym typeface="Calibri"/>
              </a:rPr>
              <a:t>x3</a:t>
            </a:r>
            <a:endParaRPr sz="700" b="0" i="0" u="none" strike="noStrike" cap="none">
              <a:solidFill>
                <a:schemeClr val="dk1"/>
              </a:solidFill>
              <a:latin typeface="Calibri"/>
              <a:ea typeface="Calibri"/>
              <a:cs typeface="Calibri"/>
              <a:sym typeface="Calibri"/>
            </a:endParaRPr>
          </a:p>
        </p:txBody>
      </p:sp>
      <p:cxnSp>
        <p:nvCxnSpPr>
          <p:cNvPr id="2681" name="Google Shape;2681;p64"/>
          <p:cNvCxnSpPr/>
          <p:nvPr/>
        </p:nvCxnSpPr>
        <p:spPr>
          <a:xfrm>
            <a:off x="5705856" y="1572768"/>
            <a:ext cx="658500" cy="0"/>
          </a:xfrm>
          <a:prstGeom prst="straightConnector1">
            <a:avLst/>
          </a:prstGeom>
          <a:noFill/>
          <a:ln w="10150" cap="flat" cmpd="sng">
            <a:solidFill>
              <a:srgbClr val="F59E0B"/>
            </a:solidFill>
            <a:prstDash val="dash"/>
            <a:round/>
            <a:headEnd type="none" w="sm" len="sm"/>
            <a:tailEnd type="none" w="sm" len="sm"/>
          </a:ln>
        </p:spPr>
      </p:cxnSp>
      <p:sp>
        <p:nvSpPr>
          <p:cNvPr id="2682" name="Google Shape;2682;p64"/>
          <p:cNvSpPr/>
          <p:nvPr/>
        </p:nvSpPr>
        <p:spPr>
          <a:xfrm>
            <a:off x="5449824" y="2441448"/>
            <a:ext cx="1518000" cy="1417200"/>
          </a:xfrm>
          <a:prstGeom prst="rect">
            <a:avLst/>
          </a:prstGeom>
          <a:noFill/>
          <a:ln>
            <a:noFill/>
          </a:ln>
        </p:spPr>
        <p:txBody>
          <a:bodyPr spcFirstLastPara="1" wrap="square" lIns="38100" tIns="38100" rIns="38100" bIns="38100" anchor="t" anchorCtr="0">
            <a:noAutofit/>
          </a:bodyPr>
          <a:lstStyle/>
          <a:p>
            <a:pPr marL="0" marR="0" lvl="0" indent="0" algn="l" rtl="0">
              <a:lnSpc>
                <a:spcPct val="125000"/>
              </a:lnSpc>
              <a:spcBef>
                <a:spcPts val="0"/>
              </a:spcBef>
              <a:spcAft>
                <a:spcPts val="0"/>
              </a:spcAft>
              <a:buClr>
                <a:srgbClr val="F59E0B"/>
              </a:buClr>
              <a:buSzPts val="900"/>
              <a:buFont typeface="Calibri"/>
              <a:buNone/>
            </a:pPr>
            <a:r>
              <a:rPr lang="en" sz="900" b="1" i="0" u="none" strike="noStrike" cap="none">
                <a:solidFill>
                  <a:srgbClr val="F59E0B"/>
                </a:solidFill>
                <a:latin typeface="Calibri"/>
                <a:ea typeface="Calibri"/>
                <a:cs typeface="Calibri"/>
                <a:sym typeface="Calibri"/>
              </a:rPr>
              <a:t>Sequential data</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Hidden state</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Long-term memory</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NLP / time-series</a:t>
            </a:r>
            <a:endParaRPr sz="900" b="0" i="0" u="none" strike="noStrike" cap="none">
              <a:solidFill>
                <a:schemeClr val="dk1"/>
              </a:solidFill>
              <a:latin typeface="Calibri"/>
              <a:ea typeface="Calibri"/>
              <a:cs typeface="Calibri"/>
              <a:sym typeface="Calibri"/>
            </a:endParaRPr>
          </a:p>
        </p:txBody>
      </p:sp>
      <p:sp>
        <p:nvSpPr>
          <p:cNvPr id="2683" name="Google Shape;2683;p64"/>
          <p:cNvSpPr/>
          <p:nvPr/>
        </p:nvSpPr>
        <p:spPr>
          <a:xfrm>
            <a:off x="6126480" y="4142232"/>
            <a:ext cx="164700" cy="164700"/>
          </a:xfrm>
          <a:prstGeom prst="ellipse">
            <a:avLst/>
          </a:prstGeom>
          <a:solidFill>
            <a:srgbClr val="F59E0B"/>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4" name="Google Shape;2684;p64"/>
          <p:cNvSpPr/>
          <p:nvPr/>
        </p:nvSpPr>
        <p:spPr>
          <a:xfrm>
            <a:off x="7114032" y="749808"/>
            <a:ext cx="1664100" cy="3291900"/>
          </a:xfrm>
          <a:prstGeom prst="rect">
            <a:avLst/>
          </a:prstGeom>
          <a:solidFill>
            <a:srgbClr val="FFFFFF"/>
          </a:solidFill>
          <a:ln w="15225" cap="flat" cmpd="sng">
            <a:solidFill>
              <a:srgbClr val="EC4899"/>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5" name="Google Shape;2685;p64"/>
          <p:cNvSpPr/>
          <p:nvPr/>
        </p:nvSpPr>
        <p:spPr>
          <a:xfrm>
            <a:off x="7114032" y="749808"/>
            <a:ext cx="1664100" cy="63900"/>
          </a:xfrm>
          <a:prstGeom prst="rect">
            <a:avLst/>
          </a:prstGeom>
          <a:solidFill>
            <a:srgbClr val="EC4899"/>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6" name="Google Shape;2686;p64"/>
          <p:cNvSpPr/>
          <p:nvPr/>
        </p:nvSpPr>
        <p:spPr>
          <a:xfrm>
            <a:off x="7187184" y="841248"/>
            <a:ext cx="1518000" cy="201300"/>
          </a:xfrm>
          <a:prstGeom prst="rect">
            <a:avLst/>
          </a:prstGeom>
          <a:solidFill>
            <a:srgbClr val="EC4899">
              <a:alpha val="14902"/>
            </a:srgbClr>
          </a:solidFill>
          <a:ln w="9525"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7" name="Google Shape;2687;p64"/>
          <p:cNvSpPr/>
          <p:nvPr/>
        </p:nvSpPr>
        <p:spPr>
          <a:xfrm>
            <a:off x="7187184" y="841248"/>
            <a:ext cx="15180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C4899"/>
              </a:buClr>
              <a:buSzPts val="800"/>
              <a:buFont typeface="Calibri"/>
              <a:buNone/>
            </a:pPr>
            <a:r>
              <a:rPr lang="en" sz="800" b="1" i="0" u="none" strike="noStrike" cap="none">
                <a:solidFill>
                  <a:srgbClr val="EC4899"/>
                </a:solidFill>
                <a:latin typeface="Calibri"/>
                <a:ea typeface="Calibri"/>
                <a:cs typeface="Calibri"/>
                <a:sym typeface="Calibri"/>
              </a:rPr>
              <a:t>2017–now</a:t>
            </a:r>
            <a:endParaRPr sz="800" b="0" i="0" u="none" strike="noStrike" cap="none">
              <a:solidFill>
                <a:schemeClr val="dk1"/>
              </a:solidFill>
              <a:latin typeface="Calibri"/>
              <a:ea typeface="Calibri"/>
              <a:cs typeface="Calibri"/>
              <a:sym typeface="Calibri"/>
            </a:endParaRPr>
          </a:p>
        </p:txBody>
      </p:sp>
      <p:sp>
        <p:nvSpPr>
          <p:cNvPr id="2688" name="Google Shape;2688;p64"/>
          <p:cNvSpPr/>
          <p:nvPr/>
        </p:nvSpPr>
        <p:spPr>
          <a:xfrm>
            <a:off x="7168896" y="1069848"/>
            <a:ext cx="1554600" cy="292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1300"/>
              <a:buFont typeface="Calibri"/>
              <a:buNone/>
            </a:pPr>
            <a:r>
              <a:rPr lang="en" sz="1300" b="1" i="0" u="none" strike="noStrike" cap="none">
                <a:solidFill>
                  <a:srgbClr val="1E293B"/>
                </a:solidFill>
                <a:latin typeface="Calibri"/>
                <a:ea typeface="Calibri"/>
                <a:cs typeface="Calibri"/>
                <a:sym typeface="Calibri"/>
              </a:rPr>
              <a:t>Transformer</a:t>
            </a:r>
            <a:endParaRPr sz="1300" b="0" i="0" u="none" strike="noStrike" cap="none">
              <a:solidFill>
                <a:schemeClr val="dk1"/>
              </a:solidFill>
              <a:latin typeface="Calibri"/>
              <a:ea typeface="Calibri"/>
              <a:cs typeface="Calibri"/>
              <a:sym typeface="Calibri"/>
            </a:endParaRPr>
          </a:p>
        </p:txBody>
      </p:sp>
      <p:sp>
        <p:nvSpPr>
          <p:cNvPr id="2689" name="Google Shape;2689;p64"/>
          <p:cNvSpPr/>
          <p:nvPr/>
        </p:nvSpPr>
        <p:spPr>
          <a:xfrm>
            <a:off x="7187184" y="1389888"/>
            <a:ext cx="1518000" cy="1005900"/>
          </a:xfrm>
          <a:prstGeom prst="rect">
            <a:avLst/>
          </a:prstGeom>
          <a:solidFill>
            <a:srgbClr val="F1F5F9"/>
          </a:solidFill>
          <a:ln w="9525" cap="flat" cmpd="sng">
            <a:solidFill>
              <a:srgbClr val="E2E8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0" name="Google Shape;2690;p64"/>
          <p:cNvSpPr/>
          <p:nvPr/>
        </p:nvSpPr>
        <p:spPr>
          <a:xfrm>
            <a:off x="7260336" y="1527048"/>
            <a:ext cx="1280100" cy="201300"/>
          </a:xfrm>
          <a:prstGeom prst="rect">
            <a:avLst/>
          </a:prstGeom>
          <a:solidFill>
            <a:srgbClr val="EC4899">
              <a:alpha val="20000"/>
            </a:srgbClr>
          </a:solidFill>
          <a:ln w="1015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1" name="Google Shape;2691;p64"/>
          <p:cNvSpPr/>
          <p:nvPr/>
        </p:nvSpPr>
        <p:spPr>
          <a:xfrm>
            <a:off x="7278624" y="1563624"/>
            <a:ext cx="205800" cy="128100"/>
          </a:xfrm>
          <a:prstGeom prst="rect">
            <a:avLst/>
          </a:prstGeom>
          <a:solidFill>
            <a:srgbClr val="EC4899">
              <a:alpha val="70196"/>
            </a:srgbClr>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2" name="Google Shape;2692;p64"/>
          <p:cNvSpPr/>
          <p:nvPr/>
        </p:nvSpPr>
        <p:spPr>
          <a:xfrm>
            <a:off x="7520940" y="1563624"/>
            <a:ext cx="493800" cy="128100"/>
          </a:xfrm>
          <a:prstGeom prst="rect">
            <a:avLst/>
          </a:prstGeom>
          <a:solidFill>
            <a:srgbClr val="EC4899">
              <a:alpha val="70196"/>
            </a:srgbClr>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3" name="Google Shape;2693;p64"/>
          <p:cNvSpPr/>
          <p:nvPr/>
        </p:nvSpPr>
        <p:spPr>
          <a:xfrm>
            <a:off x="8051292" y="1563624"/>
            <a:ext cx="288000" cy="128100"/>
          </a:xfrm>
          <a:prstGeom prst="rect">
            <a:avLst/>
          </a:prstGeom>
          <a:solidFill>
            <a:srgbClr val="EC4899">
              <a:alpha val="70196"/>
            </a:srgbClr>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4" name="Google Shape;2694;p64"/>
          <p:cNvSpPr/>
          <p:nvPr/>
        </p:nvSpPr>
        <p:spPr>
          <a:xfrm>
            <a:off x="8375904" y="1563624"/>
            <a:ext cx="164700" cy="128100"/>
          </a:xfrm>
          <a:prstGeom prst="rect">
            <a:avLst/>
          </a:prstGeom>
          <a:solidFill>
            <a:srgbClr val="EC4899">
              <a:alpha val="70196"/>
            </a:srgbClr>
          </a:solidFill>
          <a:ln w="12700" cap="flat" cmpd="sng">
            <a:solidFill>
              <a:srgbClr val="EC48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5" name="Google Shape;2695;p64"/>
          <p:cNvSpPr/>
          <p:nvPr/>
        </p:nvSpPr>
        <p:spPr>
          <a:xfrm>
            <a:off x="7260336" y="1527048"/>
            <a:ext cx="502800" cy="201300"/>
          </a:xfrm>
          <a:prstGeom prst="rect">
            <a:avLst/>
          </a:prstGeom>
          <a:no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Clr>
                <a:srgbClr val="1E293B"/>
              </a:buClr>
              <a:buSzPts val="600"/>
              <a:buFont typeface="Calibri"/>
              <a:buNone/>
            </a:pPr>
            <a:r>
              <a:rPr lang="en" sz="600" b="0" i="0" u="none" strike="noStrike" cap="none">
                <a:solidFill>
                  <a:srgbClr val="1E293B"/>
                </a:solidFill>
                <a:latin typeface="Calibri"/>
                <a:ea typeface="Calibri"/>
                <a:cs typeface="Calibri"/>
                <a:sym typeface="Calibri"/>
              </a:rPr>
              <a:t>Head 1</a:t>
            </a:r>
            <a:endParaRPr sz="600" b="0" i="0" u="none" strike="noStrike" cap="none">
              <a:solidFill>
                <a:schemeClr val="dk1"/>
              </a:solidFill>
              <a:latin typeface="Calibri"/>
              <a:ea typeface="Calibri"/>
              <a:cs typeface="Calibri"/>
              <a:sym typeface="Calibri"/>
            </a:endParaRPr>
          </a:p>
        </p:txBody>
      </p:sp>
      <p:sp>
        <p:nvSpPr>
          <p:cNvPr id="2696" name="Google Shape;2696;p64"/>
          <p:cNvSpPr/>
          <p:nvPr/>
        </p:nvSpPr>
        <p:spPr>
          <a:xfrm>
            <a:off x="7260336" y="1783080"/>
            <a:ext cx="1280100" cy="201300"/>
          </a:xfrm>
          <a:prstGeom prst="rect">
            <a:avLst/>
          </a:prstGeom>
          <a:solidFill>
            <a:srgbClr val="6366F1">
              <a:alpha val="20000"/>
            </a:srgbClr>
          </a:solidFill>
          <a:ln w="1015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7" name="Google Shape;2697;p64"/>
          <p:cNvSpPr/>
          <p:nvPr/>
        </p:nvSpPr>
        <p:spPr>
          <a:xfrm>
            <a:off x="7278624" y="1819656"/>
            <a:ext cx="205800" cy="128100"/>
          </a:xfrm>
          <a:prstGeom prst="rect">
            <a:avLst/>
          </a:prstGeom>
          <a:solidFill>
            <a:srgbClr val="6366F1">
              <a:alpha val="70196"/>
            </a:srgbClr>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8" name="Google Shape;2698;p64"/>
          <p:cNvSpPr/>
          <p:nvPr/>
        </p:nvSpPr>
        <p:spPr>
          <a:xfrm>
            <a:off x="7520940" y="1819656"/>
            <a:ext cx="493800" cy="128100"/>
          </a:xfrm>
          <a:prstGeom prst="rect">
            <a:avLst/>
          </a:prstGeom>
          <a:solidFill>
            <a:srgbClr val="6366F1">
              <a:alpha val="70196"/>
            </a:srgbClr>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9" name="Google Shape;2699;p64"/>
          <p:cNvSpPr/>
          <p:nvPr/>
        </p:nvSpPr>
        <p:spPr>
          <a:xfrm>
            <a:off x="8051292" y="1819656"/>
            <a:ext cx="288000" cy="128100"/>
          </a:xfrm>
          <a:prstGeom prst="rect">
            <a:avLst/>
          </a:prstGeom>
          <a:solidFill>
            <a:srgbClr val="6366F1">
              <a:alpha val="70196"/>
            </a:srgbClr>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0" name="Google Shape;2700;p64"/>
          <p:cNvSpPr/>
          <p:nvPr/>
        </p:nvSpPr>
        <p:spPr>
          <a:xfrm>
            <a:off x="8375904" y="1819656"/>
            <a:ext cx="164700" cy="128100"/>
          </a:xfrm>
          <a:prstGeom prst="rect">
            <a:avLst/>
          </a:prstGeom>
          <a:solidFill>
            <a:srgbClr val="6366F1">
              <a:alpha val="70196"/>
            </a:srgbClr>
          </a:solidFill>
          <a:ln w="12700" cap="flat" cmpd="sng">
            <a:solidFill>
              <a:srgbClr val="6366F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1" name="Google Shape;2701;p64"/>
          <p:cNvSpPr/>
          <p:nvPr/>
        </p:nvSpPr>
        <p:spPr>
          <a:xfrm>
            <a:off x="7260336" y="1783080"/>
            <a:ext cx="502800" cy="201300"/>
          </a:xfrm>
          <a:prstGeom prst="rect">
            <a:avLst/>
          </a:prstGeom>
          <a:no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Clr>
                <a:srgbClr val="1E293B"/>
              </a:buClr>
              <a:buSzPts val="600"/>
              <a:buFont typeface="Calibri"/>
              <a:buNone/>
            </a:pPr>
            <a:r>
              <a:rPr lang="en" sz="600" b="0" i="0" u="none" strike="noStrike" cap="none">
                <a:solidFill>
                  <a:srgbClr val="1E293B"/>
                </a:solidFill>
                <a:latin typeface="Calibri"/>
                <a:ea typeface="Calibri"/>
                <a:cs typeface="Calibri"/>
                <a:sym typeface="Calibri"/>
              </a:rPr>
              <a:t>Head 2</a:t>
            </a:r>
            <a:endParaRPr sz="600" b="0" i="0" u="none" strike="noStrike" cap="none">
              <a:solidFill>
                <a:schemeClr val="dk1"/>
              </a:solidFill>
              <a:latin typeface="Calibri"/>
              <a:ea typeface="Calibri"/>
              <a:cs typeface="Calibri"/>
              <a:sym typeface="Calibri"/>
            </a:endParaRPr>
          </a:p>
        </p:txBody>
      </p:sp>
      <p:sp>
        <p:nvSpPr>
          <p:cNvPr id="2702" name="Google Shape;2702;p64"/>
          <p:cNvSpPr/>
          <p:nvPr/>
        </p:nvSpPr>
        <p:spPr>
          <a:xfrm>
            <a:off x="7260336" y="2039112"/>
            <a:ext cx="1280100" cy="201300"/>
          </a:xfrm>
          <a:prstGeom prst="rect">
            <a:avLst/>
          </a:prstGeom>
          <a:solidFill>
            <a:srgbClr val="10B981">
              <a:alpha val="20000"/>
            </a:srgbClr>
          </a:solidFill>
          <a:ln w="1015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3" name="Google Shape;2703;p64"/>
          <p:cNvSpPr/>
          <p:nvPr/>
        </p:nvSpPr>
        <p:spPr>
          <a:xfrm>
            <a:off x="7278624" y="2075688"/>
            <a:ext cx="205800" cy="128100"/>
          </a:xfrm>
          <a:prstGeom prst="rect">
            <a:avLst/>
          </a:prstGeom>
          <a:solidFill>
            <a:srgbClr val="10B981">
              <a:alpha val="70196"/>
            </a:srgbClr>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4" name="Google Shape;2704;p64"/>
          <p:cNvSpPr/>
          <p:nvPr/>
        </p:nvSpPr>
        <p:spPr>
          <a:xfrm>
            <a:off x="7520940" y="2075688"/>
            <a:ext cx="493800" cy="128100"/>
          </a:xfrm>
          <a:prstGeom prst="rect">
            <a:avLst/>
          </a:prstGeom>
          <a:solidFill>
            <a:srgbClr val="10B981">
              <a:alpha val="70196"/>
            </a:srgbClr>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5" name="Google Shape;2705;p64"/>
          <p:cNvSpPr/>
          <p:nvPr/>
        </p:nvSpPr>
        <p:spPr>
          <a:xfrm>
            <a:off x="8051292" y="2075688"/>
            <a:ext cx="288000" cy="128100"/>
          </a:xfrm>
          <a:prstGeom prst="rect">
            <a:avLst/>
          </a:prstGeom>
          <a:solidFill>
            <a:srgbClr val="10B981">
              <a:alpha val="70196"/>
            </a:srgbClr>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6" name="Google Shape;2706;p64"/>
          <p:cNvSpPr/>
          <p:nvPr/>
        </p:nvSpPr>
        <p:spPr>
          <a:xfrm>
            <a:off x="8375904" y="2075688"/>
            <a:ext cx="164700" cy="128100"/>
          </a:xfrm>
          <a:prstGeom prst="rect">
            <a:avLst/>
          </a:prstGeom>
          <a:solidFill>
            <a:srgbClr val="10B981">
              <a:alpha val="70196"/>
            </a:srgbClr>
          </a:solidFill>
          <a:ln w="12700" cap="flat" cmpd="sng">
            <a:solidFill>
              <a:srgbClr val="10B98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7" name="Google Shape;2707;p64"/>
          <p:cNvSpPr/>
          <p:nvPr/>
        </p:nvSpPr>
        <p:spPr>
          <a:xfrm>
            <a:off x="7260336" y="2039112"/>
            <a:ext cx="502800" cy="201300"/>
          </a:xfrm>
          <a:prstGeom prst="rect">
            <a:avLst/>
          </a:prstGeom>
          <a:noFill/>
          <a:ln>
            <a:noFill/>
          </a:ln>
        </p:spPr>
        <p:txBody>
          <a:bodyPr spcFirstLastPara="1" wrap="square" lIns="25400" tIns="25400" rIns="25400" bIns="25400" anchor="ctr" anchorCtr="0">
            <a:noAutofit/>
          </a:bodyPr>
          <a:lstStyle/>
          <a:p>
            <a:pPr marL="0" marR="0" lvl="0" indent="0" algn="l" rtl="0">
              <a:lnSpc>
                <a:spcPct val="100000"/>
              </a:lnSpc>
              <a:spcBef>
                <a:spcPts val="0"/>
              </a:spcBef>
              <a:spcAft>
                <a:spcPts val="0"/>
              </a:spcAft>
              <a:buClr>
                <a:srgbClr val="1E293B"/>
              </a:buClr>
              <a:buSzPts val="600"/>
              <a:buFont typeface="Calibri"/>
              <a:buNone/>
            </a:pPr>
            <a:r>
              <a:rPr lang="en" sz="600" b="0" i="0" u="none" strike="noStrike" cap="none">
                <a:solidFill>
                  <a:srgbClr val="1E293B"/>
                </a:solidFill>
                <a:latin typeface="Calibri"/>
                <a:ea typeface="Calibri"/>
                <a:cs typeface="Calibri"/>
                <a:sym typeface="Calibri"/>
              </a:rPr>
              <a:t>Head 3</a:t>
            </a:r>
            <a:endParaRPr sz="600" b="0" i="0" u="none" strike="noStrike" cap="none">
              <a:solidFill>
                <a:schemeClr val="dk1"/>
              </a:solidFill>
              <a:latin typeface="Calibri"/>
              <a:ea typeface="Calibri"/>
              <a:cs typeface="Calibri"/>
              <a:sym typeface="Calibri"/>
            </a:endParaRPr>
          </a:p>
        </p:txBody>
      </p:sp>
      <p:sp>
        <p:nvSpPr>
          <p:cNvPr id="2708" name="Google Shape;2708;p64"/>
          <p:cNvSpPr/>
          <p:nvPr/>
        </p:nvSpPr>
        <p:spPr>
          <a:xfrm>
            <a:off x="7260336" y="2304288"/>
            <a:ext cx="1280100" cy="109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600"/>
              <a:buFont typeface="Calibri"/>
              <a:buNone/>
            </a:pPr>
            <a:r>
              <a:rPr lang="en" sz="600" b="0" i="0" u="none" strike="noStrike" cap="none">
                <a:solidFill>
                  <a:srgbClr val="64748B"/>
                </a:solidFill>
                <a:latin typeface="Calibri"/>
                <a:ea typeface="Calibri"/>
                <a:cs typeface="Calibri"/>
                <a:sym typeface="Calibri"/>
              </a:rPr>
              <a:t>Multi-Head Attention</a:t>
            </a:r>
            <a:endParaRPr sz="600" b="0" i="0" u="none" strike="noStrike" cap="none">
              <a:solidFill>
                <a:schemeClr val="dk1"/>
              </a:solidFill>
              <a:latin typeface="Calibri"/>
              <a:ea typeface="Calibri"/>
              <a:cs typeface="Calibri"/>
              <a:sym typeface="Calibri"/>
            </a:endParaRPr>
          </a:p>
        </p:txBody>
      </p:sp>
      <p:sp>
        <p:nvSpPr>
          <p:cNvPr id="2709" name="Google Shape;2709;p64"/>
          <p:cNvSpPr/>
          <p:nvPr/>
        </p:nvSpPr>
        <p:spPr>
          <a:xfrm>
            <a:off x="7187184" y="2441448"/>
            <a:ext cx="1518000" cy="1417200"/>
          </a:xfrm>
          <a:prstGeom prst="rect">
            <a:avLst/>
          </a:prstGeom>
          <a:noFill/>
          <a:ln>
            <a:noFill/>
          </a:ln>
        </p:spPr>
        <p:txBody>
          <a:bodyPr spcFirstLastPara="1" wrap="square" lIns="38100" tIns="38100" rIns="38100" bIns="38100" anchor="t" anchorCtr="0">
            <a:noAutofit/>
          </a:bodyPr>
          <a:lstStyle/>
          <a:p>
            <a:pPr marL="0" marR="0" lvl="0" indent="0" algn="l" rtl="0">
              <a:lnSpc>
                <a:spcPct val="125000"/>
              </a:lnSpc>
              <a:spcBef>
                <a:spcPts val="0"/>
              </a:spcBef>
              <a:spcAft>
                <a:spcPts val="0"/>
              </a:spcAft>
              <a:buClr>
                <a:srgbClr val="EC4899"/>
              </a:buClr>
              <a:buSzPts val="900"/>
              <a:buFont typeface="Calibri"/>
              <a:buNone/>
            </a:pPr>
            <a:r>
              <a:rPr lang="en" sz="900" b="1" i="0" u="none" strike="noStrike" cap="none">
                <a:solidFill>
                  <a:srgbClr val="EC4899"/>
                </a:solidFill>
                <a:latin typeface="Calibri"/>
                <a:ea typeface="Calibri"/>
                <a:cs typeface="Calibri"/>
                <a:sym typeface="Calibri"/>
              </a:rPr>
              <a:t>Self-attention</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Parallelizable</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Positional enc.</a:t>
            </a:r>
            <a:endParaRPr sz="900" b="0" i="0" u="none" strike="noStrike" cap="none">
              <a:solidFill>
                <a:schemeClr val="dk1"/>
              </a:solidFill>
              <a:latin typeface="Calibri"/>
              <a:ea typeface="Calibri"/>
              <a:cs typeface="Calibri"/>
              <a:sym typeface="Calibri"/>
            </a:endParaRPr>
          </a:p>
          <a:p>
            <a:pPr marL="0" marR="0" lvl="0" indent="0" algn="l" rtl="0">
              <a:lnSpc>
                <a:spcPct val="125000"/>
              </a:lnSpc>
              <a:spcBef>
                <a:spcPts val="0"/>
              </a:spcBef>
              <a:spcAft>
                <a:spcPts val="0"/>
              </a:spcAft>
              <a:buClr>
                <a:srgbClr val="334155"/>
              </a:buClr>
              <a:buSzPts val="900"/>
              <a:buFont typeface="Calibri"/>
              <a:buNone/>
            </a:pPr>
            <a:r>
              <a:rPr lang="en" sz="900" b="0" i="0" u="none" strike="noStrike" cap="none">
                <a:solidFill>
                  <a:srgbClr val="334155"/>
                </a:solidFill>
                <a:latin typeface="Calibri"/>
                <a:ea typeface="Calibri"/>
                <a:cs typeface="Calibri"/>
                <a:sym typeface="Calibri"/>
              </a:rPr>
              <a:t>LLMs / GPT / BERT</a:t>
            </a:r>
            <a:endParaRPr sz="900" b="0" i="0" u="none" strike="noStrike" cap="none">
              <a:solidFill>
                <a:schemeClr val="dk1"/>
              </a:solidFill>
              <a:latin typeface="Calibri"/>
              <a:ea typeface="Calibri"/>
              <a:cs typeface="Calibri"/>
              <a:sym typeface="Calibri"/>
            </a:endParaRPr>
          </a:p>
        </p:txBody>
      </p:sp>
      <p:sp>
        <p:nvSpPr>
          <p:cNvPr id="2710" name="Google Shape;2710;p64"/>
          <p:cNvSpPr/>
          <p:nvPr/>
        </p:nvSpPr>
        <p:spPr>
          <a:xfrm>
            <a:off x="7863840" y="4142232"/>
            <a:ext cx="164700" cy="164700"/>
          </a:xfrm>
          <a:prstGeom prst="ellipse">
            <a:avLst/>
          </a:prstGeom>
          <a:solidFill>
            <a:srgbClr val="EC4899"/>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1" name="Google Shape;2711;p64"/>
          <p:cNvSpPr/>
          <p:nvPr/>
        </p:nvSpPr>
        <p:spPr>
          <a:xfrm>
            <a:off x="228600" y="4828032"/>
            <a:ext cx="36576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94A3B8"/>
              </a:buClr>
              <a:buSzPts val="800"/>
              <a:buFont typeface="Calibri"/>
              <a:buNone/>
            </a:pPr>
            <a:r>
              <a:rPr lang="en" sz="800" b="0" i="0" u="none" strike="noStrike" cap="none">
                <a:solidFill>
                  <a:srgbClr val="94A3B8"/>
                </a:solidFill>
                <a:latin typeface="Calibri"/>
                <a:ea typeface="Calibri"/>
                <a:cs typeface="Calibri"/>
                <a:sym typeface="Calibri"/>
              </a:rPr>
              <a:t>Deep Learning · IIT Kharagpur</a:t>
            </a:r>
            <a:endParaRPr sz="800" b="0" i="0" u="none" strike="noStrike" cap="none">
              <a:solidFill>
                <a:schemeClr val="dk1"/>
              </a:solidFill>
              <a:latin typeface="Calibri"/>
              <a:ea typeface="Calibri"/>
              <a:cs typeface="Calibri"/>
              <a:sym typeface="Calibri"/>
            </a:endParaRPr>
          </a:p>
        </p:txBody>
      </p:sp>
      <p:sp>
        <p:nvSpPr>
          <p:cNvPr id="2712" name="Google Shape;2712;p64"/>
          <p:cNvSpPr/>
          <p:nvPr/>
        </p:nvSpPr>
        <p:spPr>
          <a:xfrm>
            <a:off x="228600" y="4828032"/>
            <a:ext cx="8686800" cy="2013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94A3B8"/>
              </a:buClr>
              <a:buSzPts val="800"/>
              <a:buFont typeface="Calibri"/>
              <a:buNone/>
            </a:pPr>
            <a:r>
              <a:rPr lang="en" sz="800" b="0" i="1" u="none" strike="noStrike" cap="none">
                <a:solidFill>
                  <a:srgbClr val="94A3B8"/>
                </a:solidFill>
                <a:latin typeface="Calibri"/>
                <a:ea typeface="Calibri"/>
                <a:cs typeface="Calibri"/>
                <a:sym typeface="Calibri"/>
              </a:rPr>
              <a:t>Complexity &amp; Specialization →</a:t>
            </a:r>
            <a:endParaRPr sz="800" b="0" i="0" u="none" strike="noStrike" cap="none">
              <a:solidFill>
                <a:schemeClr val="dk1"/>
              </a:solidFill>
              <a:latin typeface="Calibri"/>
              <a:ea typeface="Calibri"/>
              <a:cs typeface="Calibri"/>
              <a:sym typeface="Calibri"/>
            </a:endParaRPr>
          </a:p>
        </p:txBody>
      </p:sp>
      <p:sp>
        <p:nvSpPr>
          <p:cNvPr id="2713" name="Google Shape;2713;p64"/>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82</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18"/>
        <p:cNvGrpSpPr/>
        <p:nvPr/>
      </p:nvGrpSpPr>
      <p:grpSpPr>
        <a:xfrm>
          <a:off x="0" y="0"/>
          <a:ext cx="0" cy="0"/>
          <a:chOff x="0" y="0"/>
          <a:chExt cx="0" cy="0"/>
        </a:xfrm>
      </p:grpSpPr>
      <p:sp>
        <p:nvSpPr>
          <p:cNvPr id="2719" name="Google Shape;2719;g3f62c33a15b_2_74"/>
          <p:cNvSpPr/>
          <p:nvPr/>
        </p:nvSpPr>
        <p:spPr>
          <a:xfrm>
            <a:off x="1234496" y="464865"/>
            <a:ext cx="66750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2200"/>
              <a:buFont typeface="Calibri"/>
              <a:buNone/>
            </a:pPr>
            <a:r>
              <a:rPr lang="en" sz="2800" b="1" i="0" u="none" strike="noStrike" cap="none">
                <a:solidFill>
                  <a:srgbClr val="1E293B"/>
                </a:solidFill>
                <a:latin typeface="Calibri"/>
                <a:ea typeface="Calibri"/>
                <a:cs typeface="Calibri"/>
                <a:sym typeface="Calibri"/>
              </a:rPr>
              <a:t>Network Setup</a:t>
            </a:r>
            <a:endParaRPr sz="2800" b="0" i="0" u="none" strike="noStrike" cap="none">
              <a:solidFill>
                <a:schemeClr val="dk1"/>
              </a:solidFill>
              <a:latin typeface="Calibri"/>
              <a:ea typeface="Calibri"/>
              <a:cs typeface="Calibri"/>
              <a:sym typeface="Calibri"/>
            </a:endParaRPr>
          </a:p>
        </p:txBody>
      </p:sp>
      <p:pic>
        <p:nvPicPr>
          <p:cNvPr id="2720" name="Google Shape;2720;g3f62c33a15b_2_74"/>
          <p:cNvPicPr preferRelativeResize="0"/>
          <p:nvPr/>
        </p:nvPicPr>
        <p:blipFill rotWithShape="1">
          <a:blip r:embed="rId3">
            <a:alphaModFix/>
          </a:blip>
          <a:srcRect/>
          <a:stretch/>
        </p:blipFill>
        <p:spPr>
          <a:xfrm>
            <a:off x="8369125" y="0"/>
            <a:ext cx="774877" cy="867174"/>
          </a:xfrm>
          <a:prstGeom prst="rect">
            <a:avLst/>
          </a:prstGeom>
          <a:noFill/>
          <a:ln>
            <a:noFill/>
          </a:ln>
        </p:spPr>
      </p:pic>
      <p:sp>
        <p:nvSpPr>
          <p:cNvPr id="2721" name="Google Shape;2721;g3f62c33a15b_2_74"/>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83</a:t>
            </a:r>
            <a:endParaRPr/>
          </a:p>
        </p:txBody>
      </p:sp>
      <p:sp>
        <p:nvSpPr>
          <p:cNvPr id="2722" name="Google Shape;2722;g3f62c33a15b_2_74"/>
          <p:cNvSpPr/>
          <p:nvPr/>
        </p:nvSpPr>
        <p:spPr>
          <a:xfrm rot="-1077052">
            <a:off x="2182242" y="111298"/>
            <a:ext cx="1649254" cy="894523"/>
          </a:xfrm>
          <a:prstGeom prst="irregularSeal2">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Recap</a:t>
            </a:r>
            <a:endParaRPr/>
          </a:p>
        </p:txBody>
      </p:sp>
      <p:grpSp>
        <p:nvGrpSpPr>
          <p:cNvPr id="2723" name="Google Shape;2723;g3f62c33a15b_2_74"/>
          <p:cNvGrpSpPr/>
          <p:nvPr/>
        </p:nvGrpSpPr>
        <p:grpSpPr>
          <a:xfrm>
            <a:off x="457200" y="1333500"/>
            <a:ext cx="8229600" cy="2667000"/>
            <a:chOff x="0" y="0"/>
            <a:chExt cx="8229600" cy="2667000"/>
          </a:xfrm>
        </p:grpSpPr>
        <p:grpSp>
          <p:nvGrpSpPr>
            <p:cNvPr id="2724" name="Google Shape;2724;g3f62c33a15b_2_74"/>
            <p:cNvGrpSpPr/>
            <p:nvPr/>
          </p:nvGrpSpPr>
          <p:grpSpPr>
            <a:xfrm>
              <a:off x="0" y="0"/>
              <a:ext cx="1524000" cy="2667000"/>
              <a:chOff x="0" y="0"/>
              <a:chExt cx="1524000" cy="2667000"/>
            </a:xfrm>
          </p:grpSpPr>
          <p:sp>
            <p:nvSpPr>
              <p:cNvPr id="2725" name="Google Shape;2725;g3f62c33a15b_2_74"/>
              <p:cNvSpPr/>
              <p:nvPr/>
            </p:nvSpPr>
            <p:spPr>
              <a:xfrm>
                <a:off x="0" y="0"/>
                <a:ext cx="1524000" cy="2667000"/>
              </a:xfrm>
              <a:prstGeom prst="roundRect">
                <a:avLst>
                  <a:gd name="adj" fmla="val 7500"/>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26" name="Google Shape;2726;g3f62c33a15b_2_74"/>
              <p:cNvSpPr/>
              <p:nvPr/>
            </p:nvSpPr>
            <p:spPr>
              <a:xfrm>
                <a:off x="0" y="0"/>
                <a:ext cx="1524000" cy="57300"/>
              </a:xfrm>
              <a:prstGeom prst="roundRect">
                <a:avLst>
                  <a:gd name="adj" fmla="val 50000"/>
                </a:avLst>
              </a:prstGeom>
              <a:solidFill>
                <a:srgbClr val="6366F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27" name="Google Shape;2727;g3f62c33a15b_2_74"/>
              <p:cNvSpPr/>
              <p:nvPr/>
            </p:nvSpPr>
            <p:spPr>
              <a:xfrm>
                <a:off x="133350" y="209550"/>
                <a:ext cx="342900" cy="342900"/>
              </a:xfrm>
              <a:prstGeom prst="ellipse">
                <a:avLst/>
              </a:prstGeom>
              <a:solidFill>
                <a:srgbClr val="EEF2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28" name="Google Shape;2728;g3f62c33a15b_2_74"/>
              <p:cNvSpPr txBox="1"/>
              <p:nvPr/>
            </p:nvSpPr>
            <p:spPr>
              <a:xfrm>
                <a:off x="133350" y="209550"/>
                <a:ext cx="3429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100" b="1">
                    <a:solidFill>
                      <a:srgbClr val="6366F1"/>
                    </a:solidFill>
                    <a:latin typeface="Calibri"/>
                    <a:ea typeface="Calibri"/>
                    <a:cs typeface="Calibri"/>
                    <a:sym typeface="Calibri"/>
                  </a:rPr>
                  <a:t>01</a:t>
                </a:r>
                <a:endParaRPr sz="1100" b="1">
                  <a:solidFill>
                    <a:srgbClr val="6366F1"/>
                  </a:solidFill>
                  <a:latin typeface="Calibri"/>
                  <a:ea typeface="Calibri"/>
                  <a:cs typeface="Calibri"/>
                  <a:sym typeface="Calibri"/>
                </a:endParaRPr>
              </a:p>
            </p:txBody>
          </p:sp>
          <p:sp>
            <p:nvSpPr>
              <p:cNvPr id="2729" name="Google Shape;2729;g3f62c33a15b_2_74"/>
              <p:cNvSpPr txBox="1"/>
              <p:nvPr/>
            </p:nvSpPr>
            <p:spPr>
              <a:xfrm>
                <a:off x="152400" y="753110"/>
                <a:ext cx="1219200" cy="342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2000">
                    <a:solidFill>
                      <a:srgbClr val="6366F1"/>
                    </a:solidFill>
                    <a:latin typeface="Material Icons"/>
                    <a:ea typeface="Material Icons"/>
                    <a:cs typeface="Material Icons"/>
                    <a:sym typeface="Material Icons"/>
                  </a:rPr>
                  <a:t>tune</a:t>
                </a:r>
                <a:endParaRPr sz="2000">
                  <a:solidFill>
                    <a:srgbClr val="6366F1"/>
                  </a:solidFill>
                  <a:latin typeface="Material Icons"/>
                  <a:ea typeface="Material Icons"/>
                  <a:cs typeface="Material Icons"/>
                  <a:sym typeface="Material Icons"/>
                </a:endParaRPr>
              </a:p>
            </p:txBody>
          </p:sp>
          <p:sp>
            <p:nvSpPr>
              <p:cNvPr id="2730" name="Google Shape;2730;g3f62c33a15b_2_74"/>
              <p:cNvSpPr txBox="1"/>
              <p:nvPr/>
            </p:nvSpPr>
            <p:spPr>
              <a:xfrm>
                <a:off x="152400" y="1143000"/>
                <a:ext cx="1219200" cy="1333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b="1">
                    <a:solidFill>
                      <a:srgbClr val="1E293B"/>
                    </a:solidFill>
                    <a:latin typeface="Calibri"/>
                    <a:ea typeface="Calibri"/>
                    <a:cs typeface="Calibri"/>
                    <a:sym typeface="Calibri"/>
                  </a:rPr>
                  <a:t>Initialize Weights</a:t>
                </a:r>
                <a:endParaRPr sz="1300" b="1">
                  <a:solidFill>
                    <a:srgbClr val="1E293B"/>
                  </a:solidFill>
                  <a:latin typeface="Calibri"/>
                  <a:ea typeface="Calibri"/>
                  <a:cs typeface="Calibri"/>
                  <a:sym typeface="Calibri"/>
                </a:endParaRPr>
              </a:p>
              <a:p>
                <a:pPr marL="0" lvl="0" indent="0" algn="l" rtl="0">
                  <a:spcBef>
                    <a:spcPts val="600"/>
                  </a:spcBef>
                  <a:spcAft>
                    <a:spcPts val="0"/>
                  </a:spcAft>
                  <a:buNone/>
                </a:pPr>
                <a:r>
                  <a:rPr lang="en" sz="1000">
                    <a:solidFill>
                      <a:srgbClr val="64748B"/>
                    </a:solidFill>
                    <a:latin typeface="Calibri"/>
                    <a:ea typeface="Calibri"/>
                    <a:cs typeface="Calibri"/>
                    <a:sym typeface="Calibri"/>
                  </a:rPr>
                  <a:t>Define input vector and target values to establish initial state.</a:t>
                </a:r>
                <a:endParaRPr sz="1000">
                  <a:solidFill>
                    <a:srgbClr val="64748B"/>
                  </a:solidFill>
                  <a:latin typeface="Calibri"/>
                  <a:ea typeface="Calibri"/>
                  <a:cs typeface="Calibri"/>
                  <a:sym typeface="Calibri"/>
                </a:endParaRPr>
              </a:p>
            </p:txBody>
          </p:sp>
        </p:grpSp>
        <p:pic>
          <p:nvPicPr>
            <p:cNvPr id="2731" name="Google Shape;2731;g3f62c33a15b_2_74"/>
            <p:cNvPicPr preferRelativeResize="0"/>
            <p:nvPr/>
          </p:nvPicPr>
          <p:blipFill rotWithShape="1">
            <a:blip r:embed="rId4">
              <a:alphaModFix/>
            </a:blip>
            <a:srcRect/>
            <a:stretch/>
          </p:blipFill>
          <p:spPr>
            <a:xfrm>
              <a:off x="1562100" y="1323975"/>
              <a:ext cx="76200" cy="19200"/>
            </a:xfrm>
            <a:prstGeom prst="rect">
              <a:avLst/>
            </a:prstGeom>
            <a:noFill/>
            <a:ln>
              <a:noFill/>
            </a:ln>
          </p:spPr>
        </p:pic>
        <p:grpSp>
          <p:nvGrpSpPr>
            <p:cNvPr id="2732" name="Google Shape;2732;g3f62c33a15b_2_74"/>
            <p:cNvGrpSpPr/>
            <p:nvPr/>
          </p:nvGrpSpPr>
          <p:grpSpPr>
            <a:xfrm>
              <a:off x="1676400" y="0"/>
              <a:ext cx="1524000" cy="2667000"/>
              <a:chOff x="0" y="0"/>
              <a:chExt cx="1524000" cy="2667000"/>
            </a:xfrm>
          </p:grpSpPr>
          <p:sp>
            <p:nvSpPr>
              <p:cNvPr id="2733" name="Google Shape;2733;g3f62c33a15b_2_74"/>
              <p:cNvSpPr/>
              <p:nvPr/>
            </p:nvSpPr>
            <p:spPr>
              <a:xfrm>
                <a:off x="0" y="0"/>
                <a:ext cx="1524000" cy="2667000"/>
              </a:xfrm>
              <a:prstGeom prst="roundRect">
                <a:avLst>
                  <a:gd name="adj" fmla="val 7500"/>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34" name="Google Shape;2734;g3f62c33a15b_2_74"/>
              <p:cNvSpPr/>
              <p:nvPr/>
            </p:nvSpPr>
            <p:spPr>
              <a:xfrm>
                <a:off x="0" y="0"/>
                <a:ext cx="1524000" cy="57300"/>
              </a:xfrm>
              <a:prstGeom prst="roundRect">
                <a:avLst>
                  <a:gd name="adj" fmla="val 50000"/>
                </a:avLst>
              </a:prstGeom>
              <a:solidFill>
                <a:srgbClr val="0EA5E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35" name="Google Shape;2735;g3f62c33a15b_2_74"/>
              <p:cNvSpPr/>
              <p:nvPr/>
            </p:nvSpPr>
            <p:spPr>
              <a:xfrm>
                <a:off x="133350" y="209550"/>
                <a:ext cx="342900" cy="342900"/>
              </a:xfrm>
              <a:prstGeom prst="ellipse">
                <a:avLst/>
              </a:prstGeom>
              <a:solidFill>
                <a:srgbClr val="E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36" name="Google Shape;2736;g3f62c33a15b_2_74"/>
              <p:cNvSpPr txBox="1"/>
              <p:nvPr/>
            </p:nvSpPr>
            <p:spPr>
              <a:xfrm>
                <a:off x="133350" y="209550"/>
                <a:ext cx="3429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100" b="1">
                    <a:solidFill>
                      <a:srgbClr val="0EA5E9"/>
                    </a:solidFill>
                    <a:latin typeface="Calibri"/>
                    <a:ea typeface="Calibri"/>
                    <a:cs typeface="Calibri"/>
                    <a:sym typeface="Calibri"/>
                  </a:rPr>
                  <a:t>02</a:t>
                </a:r>
                <a:endParaRPr sz="1100" b="1">
                  <a:solidFill>
                    <a:srgbClr val="0EA5E9"/>
                  </a:solidFill>
                  <a:latin typeface="Calibri"/>
                  <a:ea typeface="Calibri"/>
                  <a:cs typeface="Calibri"/>
                  <a:sym typeface="Calibri"/>
                </a:endParaRPr>
              </a:p>
            </p:txBody>
          </p:sp>
          <p:sp>
            <p:nvSpPr>
              <p:cNvPr id="2737" name="Google Shape;2737;g3f62c33a15b_2_74"/>
              <p:cNvSpPr txBox="1"/>
              <p:nvPr/>
            </p:nvSpPr>
            <p:spPr>
              <a:xfrm>
                <a:off x="152400" y="753110"/>
                <a:ext cx="1219200" cy="342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2000">
                    <a:solidFill>
                      <a:srgbClr val="0EA5E9"/>
                    </a:solidFill>
                    <a:latin typeface="Material Icons"/>
                    <a:ea typeface="Material Icons"/>
                    <a:cs typeface="Material Icons"/>
                    <a:sym typeface="Material Icons"/>
                  </a:rPr>
                  <a:t>fast_forward</a:t>
                </a:r>
                <a:endParaRPr sz="2000">
                  <a:solidFill>
                    <a:srgbClr val="0EA5E9"/>
                  </a:solidFill>
                  <a:latin typeface="Material Icons"/>
                  <a:ea typeface="Material Icons"/>
                  <a:cs typeface="Material Icons"/>
                  <a:sym typeface="Material Icons"/>
                </a:endParaRPr>
              </a:p>
            </p:txBody>
          </p:sp>
          <p:sp>
            <p:nvSpPr>
              <p:cNvPr id="2738" name="Google Shape;2738;g3f62c33a15b_2_74"/>
              <p:cNvSpPr txBox="1"/>
              <p:nvPr/>
            </p:nvSpPr>
            <p:spPr>
              <a:xfrm>
                <a:off x="152400" y="1143000"/>
                <a:ext cx="1219200" cy="1333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b="1">
                    <a:solidFill>
                      <a:srgbClr val="1E293B"/>
                    </a:solidFill>
                    <a:latin typeface="Calibri"/>
                    <a:ea typeface="Calibri"/>
                    <a:cs typeface="Calibri"/>
                    <a:sym typeface="Calibri"/>
                  </a:rPr>
                  <a:t>Forward Pass</a:t>
                </a:r>
                <a:endParaRPr sz="1300" b="1">
                  <a:solidFill>
                    <a:srgbClr val="1E293B"/>
                  </a:solidFill>
                  <a:latin typeface="Calibri"/>
                  <a:ea typeface="Calibri"/>
                  <a:cs typeface="Calibri"/>
                  <a:sym typeface="Calibri"/>
                </a:endParaRPr>
              </a:p>
              <a:p>
                <a:pPr marL="0" lvl="0" indent="0" algn="l" rtl="0">
                  <a:spcBef>
                    <a:spcPts val="600"/>
                  </a:spcBef>
                  <a:spcAft>
                    <a:spcPts val="0"/>
                  </a:spcAft>
                  <a:buNone/>
                </a:pPr>
                <a:r>
                  <a:rPr lang="en" sz="1000">
                    <a:solidFill>
                      <a:srgbClr val="64748B"/>
                    </a:solidFill>
                    <a:latin typeface="Calibri"/>
                    <a:ea typeface="Calibri"/>
                    <a:cs typeface="Calibri"/>
                    <a:sym typeface="Calibri"/>
                  </a:rPr>
                  <a:t>Propagate inputs through layers to compute activations and predictions.</a:t>
                </a:r>
                <a:endParaRPr sz="1000">
                  <a:solidFill>
                    <a:srgbClr val="64748B"/>
                  </a:solidFill>
                  <a:latin typeface="Calibri"/>
                  <a:ea typeface="Calibri"/>
                  <a:cs typeface="Calibri"/>
                  <a:sym typeface="Calibri"/>
                </a:endParaRPr>
              </a:p>
            </p:txBody>
          </p:sp>
        </p:grpSp>
        <p:pic>
          <p:nvPicPr>
            <p:cNvPr id="2739" name="Google Shape;2739;g3f62c33a15b_2_74"/>
            <p:cNvPicPr preferRelativeResize="0"/>
            <p:nvPr/>
          </p:nvPicPr>
          <p:blipFill rotWithShape="1">
            <a:blip r:embed="rId4">
              <a:alphaModFix/>
            </a:blip>
            <a:srcRect/>
            <a:stretch/>
          </p:blipFill>
          <p:spPr>
            <a:xfrm>
              <a:off x="3238500" y="1323975"/>
              <a:ext cx="76200" cy="19200"/>
            </a:xfrm>
            <a:prstGeom prst="rect">
              <a:avLst/>
            </a:prstGeom>
            <a:noFill/>
            <a:ln>
              <a:noFill/>
            </a:ln>
          </p:spPr>
        </p:pic>
        <p:grpSp>
          <p:nvGrpSpPr>
            <p:cNvPr id="2740" name="Google Shape;2740;g3f62c33a15b_2_74"/>
            <p:cNvGrpSpPr/>
            <p:nvPr/>
          </p:nvGrpSpPr>
          <p:grpSpPr>
            <a:xfrm>
              <a:off x="3352800" y="0"/>
              <a:ext cx="1524000" cy="2667000"/>
              <a:chOff x="0" y="0"/>
              <a:chExt cx="1524000" cy="2667000"/>
            </a:xfrm>
          </p:grpSpPr>
          <p:sp>
            <p:nvSpPr>
              <p:cNvPr id="2741" name="Google Shape;2741;g3f62c33a15b_2_74"/>
              <p:cNvSpPr/>
              <p:nvPr/>
            </p:nvSpPr>
            <p:spPr>
              <a:xfrm>
                <a:off x="0" y="0"/>
                <a:ext cx="1524000" cy="2667000"/>
              </a:xfrm>
              <a:prstGeom prst="roundRect">
                <a:avLst>
                  <a:gd name="adj" fmla="val 7500"/>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42" name="Google Shape;2742;g3f62c33a15b_2_74"/>
              <p:cNvSpPr/>
              <p:nvPr/>
            </p:nvSpPr>
            <p:spPr>
              <a:xfrm>
                <a:off x="0" y="0"/>
                <a:ext cx="1524000" cy="57300"/>
              </a:xfrm>
              <a:prstGeom prst="roundRect">
                <a:avLst>
                  <a:gd name="adj" fmla="val 50000"/>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43" name="Google Shape;2743;g3f62c33a15b_2_74"/>
              <p:cNvSpPr/>
              <p:nvPr/>
            </p:nvSpPr>
            <p:spPr>
              <a:xfrm>
                <a:off x="133350" y="209550"/>
                <a:ext cx="342900" cy="342900"/>
              </a:xfrm>
              <a:prstGeom prst="ellipse">
                <a:avLst/>
              </a:prstGeom>
              <a:solidFill>
                <a:srgbClr val="D1FAE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44" name="Google Shape;2744;g3f62c33a15b_2_74"/>
              <p:cNvSpPr txBox="1"/>
              <p:nvPr/>
            </p:nvSpPr>
            <p:spPr>
              <a:xfrm>
                <a:off x="133350" y="209550"/>
                <a:ext cx="3429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100" b="1">
                    <a:solidFill>
                      <a:srgbClr val="10B981"/>
                    </a:solidFill>
                    <a:latin typeface="Calibri"/>
                    <a:ea typeface="Calibri"/>
                    <a:cs typeface="Calibri"/>
                    <a:sym typeface="Calibri"/>
                  </a:rPr>
                  <a:t>03</a:t>
                </a:r>
                <a:endParaRPr sz="1100" b="1">
                  <a:solidFill>
                    <a:srgbClr val="10B981"/>
                  </a:solidFill>
                  <a:latin typeface="Calibri"/>
                  <a:ea typeface="Calibri"/>
                  <a:cs typeface="Calibri"/>
                  <a:sym typeface="Calibri"/>
                </a:endParaRPr>
              </a:p>
            </p:txBody>
          </p:sp>
          <p:sp>
            <p:nvSpPr>
              <p:cNvPr id="2745" name="Google Shape;2745;g3f62c33a15b_2_74"/>
              <p:cNvSpPr txBox="1"/>
              <p:nvPr/>
            </p:nvSpPr>
            <p:spPr>
              <a:xfrm>
                <a:off x="152400" y="753110"/>
                <a:ext cx="1219200" cy="342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2000">
                    <a:solidFill>
                      <a:srgbClr val="10B981"/>
                    </a:solidFill>
                    <a:latin typeface="Material Icons"/>
                    <a:ea typeface="Material Icons"/>
                    <a:cs typeface="Material Icons"/>
                    <a:sym typeface="Material Icons"/>
                  </a:rPr>
                  <a:t>calculate</a:t>
                </a:r>
                <a:endParaRPr sz="2000">
                  <a:solidFill>
                    <a:srgbClr val="10B981"/>
                  </a:solidFill>
                  <a:latin typeface="Material Icons"/>
                  <a:ea typeface="Material Icons"/>
                  <a:cs typeface="Material Icons"/>
                  <a:sym typeface="Material Icons"/>
                </a:endParaRPr>
              </a:p>
            </p:txBody>
          </p:sp>
          <p:sp>
            <p:nvSpPr>
              <p:cNvPr id="2746" name="Google Shape;2746;g3f62c33a15b_2_74"/>
              <p:cNvSpPr txBox="1"/>
              <p:nvPr/>
            </p:nvSpPr>
            <p:spPr>
              <a:xfrm>
                <a:off x="152400" y="1143000"/>
                <a:ext cx="1219200" cy="1333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b="1">
                    <a:solidFill>
                      <a:srgbClr val="1E293B"/>
                    </a:solidFill>
                    <a:latin typeface="Calibri"/>
                    <a:ea typeface="Calibri"/>
                    <a:cs typeface="Calibri"/>
                    <a:sym typeface="Calibri"/>
                  </a:rPr>
                  <a:t>Loss Compute</a:t>
                </a:r>
                <a:endParaRPr sz="1300" b="1">
                  <a:solidFill>
                    <a:srgbClr val="1E293B"/>
                  </a:solidFill>
                  <a:latin typeface="Calibri"/>
                  <a:ea typeface="Calibri"/>
                  <a:cs typeface="Calibri"/>
                  <a:sym typeface="Calibri"/>
                </a:endParaRPr>
              </a:p>
              <a:p>
                <a:pPr marL="0" lvl="0" indent="0" algn="l" rtl="0">
                  <a:spcBef>
                    <a:spcPts val="600"/>
                  </a:spcBef>
                  <a:spcAft>
                    <a:spcPts val="0"/>
                  </a:spcAft>
                  <a:buNone/>
                </a:pPr>
                <a:r>
                  <a:rPr lang="en" sz="1000">
                    <a:solidFill>
                      <a:srgbClr val="64748B"/>
                    </a:solidFill>
                    <a:latin typeface="Calibri"/>
                    <a:ea typeface="Calibri"/>
                    <a:cs typeface="Calibri"/>
                    <a:sym typeface="Calibri"/>
                  </a:rPr>
                  <a:t>Calculate discrepancy between predicted output and target values.</a:t>
                </a:r>
                <a:endParaRPr sz="1000">
                  <a:solidFill>
                    <a:srgbClr val="64748B"/>
                  </a:solidFill>
                  <a:latin typeface="Calibri"/>
                  <a:ea typeface="Calibri"/>
                  <a:cs typeface="Calibri"/>
                  <a:sym typeface="Calibri"/>
                </a:endParaRPr>
              </a:p>
            </p:txBody>
          </p:sp>
        </p:grpSp>
        <p:pic>
          <p:nvPicPr>
            <p:cNvPr id="2747" name="Google Shape;2747;g3f62c33a15b_2_74"/>
            <p:cNvPicPr preferRelativeResize="0"/>
            <p:nvPr/>
          </p:nvPicPr>
          <p:blipFill rotWithShape="1">
            <a:blip r:embed="rId4">
              <a:alphaModFix/>
            </a:blip>
            <a:srcRect/>
            <a:stretch/>
          </p:blipFill>
          <p:spPr>
            <a:xfrm>
              <a:off x="4914900" y="1323975"/>
              <a:ext cx="76200" cy="19200"/>
            </a:xfrm>
            <a:prstGeom prst="rect">
              <a:avLst/>
            </a:prstGeom>
            <a:noFill/>
            <a:ln>
              <a:noFill/>
            </a:ln>
          </p:spPr>
        </p:pic>
        <p:grpSp>
          <p:nvGrpSpPr>
            <p:cNvPr id="2748" name="Google Shape;2748;g3f62c33a15b_2_74"/>
            <p:cNvGrpSpPr/>
            <p:nvPr/>
          </p:nvGrpSpPr>
          <p:grpSpPr>
            <a:xfrm>
              <a:off x="5029200" y="0"/>
              <a:ext cx="1524000" cy="2667000"/>
              <a:chOff x="0" y="0"/>
              <a:chExt cx="1524000" cy="2667000"/>
            </a:xfrm>
          </p:grpSpPr>
          <p:sp>
            <p:nvSpPr>
              <p:cNvPr id="2749" name="Google Shape;2749;g3f62c33a15b_2_74"/>
              <p:cNvSpPr/>
              <p:nvPr/>
            </p:nvSpPr>
            <p:spPr>
              <a:xfrm>
                <a:off x="0" y="0"/>
                <a:ext cx="1524000" cy="2667000"/>
              </a:xfrm>
              <a:prstGeom prst="roundRect">
                <a:avLst>
                  <a:gd name="adj" fmla="val 7500"/>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50" name="Google Shape;2750;g3f62c33a15b_2_74"/>
              <p:cNvSpPr/>
              <p:nvPr/>
            </p:nvSpPr>
            <p:spPr>
              <a:xfrm>
                <a:off x="0" y="0"/>
                <a:ext cx="1524000" cy="57300"/>
              </a:xfrm>
              <a:prstGeom prst="roundRect">
                <a:avLst>
                  <a:gd name="adj" fmla="val 50000"/>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51" name="Google Shape;2751;g3f62c33a15b_2_74"/>
              <p:cNvSpPr/>
              <p:nvPr/>
            </p:nvSpPr>
            <p:spPr>
              <a:xfrm>
                <a:off x="133350" y="209550"/>
                <a:ext cx="342900" cy="342900"/>
              </a:xfrm>
              <a:prstGeom prst="ellipse">
                <a:avLst/>
              </a:prstGeom>
              <a:solidFill>
                <a:srgbClr val="FEF3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52" name="Google Shape;2752;g3f62c33a15b_2_74"/>
              <p:cNvSpPr txBox="1"/>
              <p:nvPr/>
            </p:nvSpPr>
            <p:spPr>
              <a:xfrm>
                <a:off x="133350" y="209550"/>
                <a:ext cx="3429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100" b="1">
                    <a:solidFill>
                      <a:srgbClr val="F59E0B"/>
                    </a:solidFill>
                    <a:latin typeface="Calibri"/>
                    <a:ea typeface="Calibri"/>
                    <a:cs typeface="Calibri"/>
                    <a:sym typeface="Calibri"/>
                  </a:rPr>
                  <a:t>04</a:t>
                </a:r>
                <a:endParaRPr sz="1100" b="1">
                  <a:solidFill>
                    <a:srgbClr val="F59E0B"/>
                  </a:solidFill>
                  <a:latin typeface="Calibri"/>
                  <a:ea typeface="Calibri"/>
                  <a:cs typeface="Calibri"/>
                  <a:sym typeface="Calibri"/>
                </a:endParaRPr>
              </a:p>
            </p:txBody>
          </p:sp>
          <p:sp>
            <p:nvSpPr>
              <p:cNvPr id="2753" name="Google Shape;2753;g3f62c33a15b_2_74"/>
              <p:cNvSpPr txBox="1"/>
              <p:nvPr/>
            </p:nvSpPr>
            <p:spPr>
              <a:xfrm>
                <a:off x="152400" y="753110"/>
                <a:ext cx="1219200" cy="342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2000">
                    <a:solidFill>
                      <a:srgbClr val="F59E0B"/>
                    </a:solidFill>
                    <a:latin typeface="Material Icons"/>
                    <a:ea typeface="Material Icons"/>
                    <a:cs typeface="Material Icons"/>
                    <a:sym typeface="Material Icons"/>
                  </a:rPr>
                  <a:t>fast_rewind</a:t>
                </a:r>
                <a:endParaRPr sz="2000">
                  <a:solidFill>
                    <a:srgbClr val="F59E0B"/>
                  </a:solidFill>
                  <a:latin typeface="Material Icons"/>
                  <a:ea typeface="Material Icons"/>
                  <a:cs typeface="Material Icons"/>
                  <a:sym typeface="Material Icons"/>
                </a:endParaRPr>
              </a:p>
            </p:txBody>
          </p:sp>
          <p:sp>
            <p:nvSpPr>
              <p:cNvPr id="2754" name="Google Shape;2754;g3f62c33a15b_2_74"/>
              <p:cNvSpPr txBox="1"/>
              <p:nvPr/>
            </p:nvSpPr>
            <p:spPr>
              <a:xfrm>
                <a:off x="152400" y="1143000"/>
                <a:ext cx="1219200" cy="1333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b="1">
                    <a:solidFill>
                      <a:srgbClr val="1E293B"/>
                    </a:solidFill>
                    <a:latin typeface="Calibri"/>
                    <a:ea typeface="Calibri"/>
                    <a:cs typeface="Calibri"/>
                    <a:sym typeface="Calibri"/>
                  </a:rPr>
                  <a:t>Backward Propagation</a:t>
                </a:r>
                <a:endParaRPr sz="1300" b="1">
                  <a:solidFill>
                    <a:srgbClr val="1E293B"/>
                  </a:solidFill>
                  <a:latin typeface="Calibri"/>
                  <a:ea typeface="Calibri"/>
                  <a:cs typeface="Calibri"/>
                  <a:sym typeface="Calibri"/>
                </a:endParaRPr>
              </a:p>
              <a:p>
                <a:pPr marL="0" lvl="0" indent="0" algn="l" rtl="0">
                  <a:spcBef>
                    <a:spcPts val="600"/>
                  </a:spcBef>
                  <a:spcAft>
                    <a:spcPts val="0"/>
                  </a:spcAft>
                  <a:buNone/>
                </a:pPr>
                <a:r>
                  <a:rPr lang="en" sz="1000">
                    <a:solidFill>
                      <a:srgbClr val="64748B"/>
                    </a:solidFill>
                    <a:latin typeface="Calibri"/>
                    <a:ea typeface="Calibri"/>
                    <a:cs typeface="Calibri"/>
                    <a:sym typeface="Calibri"/>
                  </a:rPr>
                  <a:t>Compute gradients of loss with respect to parameters via chain rule.</a:t>
                </a:r>
                <a:endParaRPr sz="1000">
                  <a:solidFill>
                    <a:srgbClr val="64748B"/>
                  </a:solidFill>
                  <a:latin typeface="Calibri"/>
                  <a:ea typeface="Calibri"/>
                  <a:cs typeface="Calibri"/>
                  <a:sym typeface="Calibri"/>
                </a:endParaRPr>
              </a:p>
            </p:txBody>
          </p:sp>
        </p:grpSp>
        <p:pic>
          <p:nvPicPr>
            <p:cNvPr id="2755" name="Google Shape;2755;g3f62c33a15b_2_74"/>
            <p:cNvPicPr preferRelativeResize="0"/>
            <p:nvPr/>
          </p:nvPicPr>
          <p:blipFill rotWithShape="1">
            <a:blip r:embed="rId4">
              <a:alphaModFix/>
            </a:blip>
            <a:srcRect/>
            <a:stretch/>
          </p:blipFill>
          <p:spPr>
            <a:xfrm>
              <a:off x="6591300" y="1323975"/>
              <a:ext cx="76200" cy="19200"/>
            </a:xfrm>
            <a:prstGeom prst="rect">
              <a:avLst/>
            </a:prstGeom>
            <a:noFill/>
            <a:ln>
              <a:noFill/>
            </a:ln>
          </p:spPr>
        </p:pic>
        <p:grpSp>
          <p:nvGrpSpPr>
            <p:cNvPr id="2756" name="Google Shape;2756;g3f62c33a15b_2_74"/>
            <p:cNvGrpSpPr/>
            <p:nvPr/>
          </p:nvGrpSpPr>
          <p:grpSpPr>
            <a:xfrm>
              <a:off x="6705600" y="0"/>
              <a:ext cx="1524000" cy="2667000"/>
              <a:chOff x="0" y="0"/>
              <a:chExt cx="1524000" cy="2667000"/>
            </a:xfrm>
          </p:grpSpPr>
          <p:sp>
            <p:nvSpPr>
              <p:cNvPr id="2757" name="Google Shape;2757;g3f62c33a15b_2_74"/>
              <p:cNvSpPr/>
              <p:nvPr/>
            </p:nvSpPr>
            <p:spPr>
              <a:xfrm>
                <a:off x="0" y="0"/>
                <a:ext cx="1524000" cy="2667000"/>
              </a:xfrm>
              <a:prstGeom prst="roundRect">
                <a:avLst>
                  <a:gd name="adj" fmla="val 7500"/>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58" name="Google Shape;2758;g3f62c33a15b_2_74"/>
              <p:cNvSpPr/>
              <p:nvPr/>
            </p:nvSpPr>
            <p:spPr>
              <a:xfrm>
                <a:off x="0" y="0"/>
                <a:ext cx="1524000" cy="57300"/>
              </a:xfrm>
              <a:prstGeom prst="roundRect">
                <a:avLst>
                  <a:gd name="adj" fmla="val 50000"/>
                </a:avLst>
              </a:prstGeom>
              <a:solidFill>
                <a:srgbClr val="EC489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59" name="Google Shape;2759;g3f62c33a15b_2_74"/>
              <p:cNvSpPr/>
              <p:nvPr/>
            </p:nvSpPr>
            <p:spPr>
              <a:xfrm>
                <a:off x="133350" y="209550"/>
                <a:ext cx="342900" cy="342900"/>
              </a:xfrm>
              <a:prstGeom prst="ellipse">
                <a:avLst/>
              </a:prstGeom>
              <a:solidFill>
                <a:srgbClr val="FCE7F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60" name="Google Shape;2760;g3f62c33a15b_2_74"/>
              <p:cNvSpPr txBox="1"/>
              <p:nvPr/>
            </p:nvSpPr>
            <p:spPr>
              <a:xfrm>
                <a:off x="133350" y="209550"/>
                <a:ext cx="3429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100" b="1">
                    <a:solidFill>
                      <a:srgbClr val="EC4899"/>
                    </a:solidFill>
                    <a:latin typeface="Calibri"/>
                    <a:ea typeface="Calibri"/>
                    <a:cs typeface="Calibri"/>
                    <a:sym typeface="Calibri"/>
                  </a:rPr>
                  <a:t>05</a:t>
                </a:r>
                <a:endParaRPr sz="1100" b="1">
                  <a:solidFill>
                    <a:srgbClr val="EC4899"/>
                  </a:solidFill>
                  <a:latin typeface="Calibri"/>
                  <a:ea typeface="Calibri"/>
                  <a:cs typeface="Calibri"/>
                  <a:sym typeface="Calibri"/>
                </a:endParaRPr>
              </a:p>
            </p:txBody>
          </p:sp>
          <p:sp>
            <p:nvSpPr>
              <p:cNvPr id="2761" name="Google Shape;2761;g3f62c33a15b_2_74"/>
              <p:cNvSpPr txBox="1"/>
              <p:nvPr/>
            </p:nvSpPr>
            <p:spPr>
              <a:xfrm>
                <a:off x="152400" y="753110"/>
                <a:ext cx="1219200" cy="342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2000">
                    <a:solidFill>
                      <a:srgbClr val="EC4899"/>
                    </a:solidFill>
                    <a:latin typeface="Material Icons"/>
                    <a:ea typeface="Material Icons"/>
                    <a:cs typeface="Material Icons"/>
                    <a:sym typeface="Material Icons"/>
                  </a:rPr>
                  <a:t>sync</a:t>
                </a:r>
                <a:endParaRPr sz="2000">
                  <a:solidFill>
                    <a:srgbClr val="EC4899"/>
                  </a:solidFill>
                  <a:latin typeface="Material Icons"/>
                  <a:ea typeface="Material Icons"/>
                  <a:cs typeface="Material Icons"/>
                  <a:sym typeface="Material Icons"/>
                </a:endParaRPr>
              </a:p>
            </p:txBody>
          </p:sp>
          <p:sp>
            <p:nvSpPr>
              <p:cNvPr id="2762" name="Google Shape;2762;g3f62c33a15b_2_74"/>
              <p:cNvSpPr txBox="1"/>
              <p:nvPr/>
            </p:nvSpPr>
            <p:spPr>
              <a:xfrm>
                <a:off x="152400" y="1143000"/>
                <a:ext cx="1219200" cy="1333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b="1">
                    <a:solidFill>
                      <a:srgbClr val="1E293B"/>
                    </a:solidFill>
                    <a:latin typeface="Calibri"/>
                    <a:ea typeface="Calibri"/>
                    <a:cs typeface="Calibri"/>
                    <a:sym typeface="Calibri"/>
                  </a:rPr>
                  <a:t>Weight Update</a:t>
                </a:r>
                <a:endParaRPr sz="1300" b="1">
                  <a:solidFill>
                    <a:srgbClr val="1E293B"/>
                  </a:solidFill>
                  <a:latin typeface="Calibri"/>
                  <a:ea typeface="Calibri"/>
                  <a:cs typeface="Calibri"/>
                  <a:sym typeface="Calibri"/>
                </a:endParaRPr>
              </a:p>
              <a:p>
                <a:pPr marL="0" lvl="0" indent="0" algn="l" rtl="0">
                  <a:spcBef>
                    <a:spcPts val="600"/>
                  </a:spcBef>
                  <a:spcAft>
                    <a:spcPts val="0"/>
                  </a:spcAft>
                  <a:buNone/>
                </a:pPr>
                <a:r>
                  <a:rPr lang="en" sz="1000">
                    <a:solidFill>
                      <a:srgbClr val="64748B"/>
                    </a:solidFill>
                    <a:latin typeface="Calibri"/>
                    <a:ea typeface="Calibri"/>
                    <a:cs typeface="Calibri"/>
                    <a:sym typeface="Calibri"/>
                  </a:rPr>
                  <a:t>Adjust weights using calculated gradients and specified learning rate.</a:t>
                </a:r>
                <a:endParaRPr sz="1000">
                  <a:solidFill>
                    <a:srgbClr val="64748B"/>
                  </a:solidFill>
                  <a:latin typeface="Calibri"/>
                  <a:ea typeface="Calibri"/>
                  <a:cs typeface="Calibri"/>
                  <a:sym typeface="Calibri"/>
                </a:endParaRPr>
              </a:p>
            </p:txBody>
          </p:sp>
        </p:gr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67"/>
        <p:cNvGrpSpPr/>
        <p:nvPr/>
      </p:nvGrpSpPr>
      <p:grpSpPr>
        <a:xfrm>
          <a:off x="0" y="0"/>
          <a:ext cx="0" cy="0"/>
          <a:chOff x="0" y="0"/>
          <a:chExt cx="0" cy="0"/>
        </a:xfrm>
      </p:grpSpPr>
      <p:sp>
        <p:nvSpPr>
          <p:cNvPr id="2768" name="Google Shape;2768;h6f02bdc278a38c2b_0_222"/>
          <p:cNvSpPr/>
          <p:nvPr/>
        </p:nvSpPr>
        <p:spPr>
          <a:xfrm>
            <a:off x="2601521" y="131365"/>
            <a:ext cx="6675000" cy="402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2200"/>
              <a:buFont typeface="Calibri"/>
              <a:buNone/>
            </a:pPr>
            <a:r>
              <a:rPr lang="en" sz="2800" b="1" i="0" u="none" strike="noStrike" cap="none">
                <a:solidFill>
                  <a:srgbClr val="1E293B"/>
                </a:solidFill>
                <a:latin typeface="Calibri"/>
                <a:ea typeface="Calibri"/>
                <a:cs typeface="Calibri"/>
                <a:sym typeface="Calibri"/>
              </a:rPr>
              <a:t>Network Setup</a:t>
            </a:r>
            <a:endParaRPr sz="2800" b="0" i="0" u="none" strike="noStrike" cap="none">
              <a:solidFill>
                <a:schemeClr val="dk1"/>
              </a:solidFill>
              <a:latin typeface="Calibri"/>
              <a:ea typeface="Calibri"/>
              <a:cs typeface="Calibri"/>
              <a:sym typeface="Calibri"/>
            </a:endParaRPr>
          </a:p>
        </p:txBody>
      </p:sp>
      <p:sp>
        <p:nvSpPr>
          <p:cNvPr id="2769" name="Google Shape;2769;h6f02bdc278a38c2b_0_222"/>
          <p:cNvSpPr/>
          <p:nvPr/>
        </p:nvSpPr>
        <p:spPr>
          <a:xfrm>
            <a:off x="2103127" y="607875"/>
            <a:ext cx="41148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1200"/>
              <a:buFont typeface="Calibri"/>
              <a:buNone/>
            </a:pPr>
            <a:r>
              <a:rPr lang="en" sz="1500" b="0" i="0" u="none" strike="noStrike" cap="none">
                <a:solidFill>
                  <a:schemeClr val="dk1"/>
                </a:solidFill>
                <a:latin typeface="Calibri"/>
                <a:ea typeface="Calibri"/>
                <a:cs typeface="Calibri"/>
                <a:sym typeface="Calibri"/>
              </a:rPr>
              <a:t>Initialize weights, define input and target</a:t>
            </a:r>
            <a:endParaRPr sz="1500" b="0" i="0" u="none" strike="noStrike" cap="none">
              <a:solidFill>
                <a:schemeClr val="dk1"/>
              </a:solidFill>
              <a:latin typeface="Calibri"/>
              <a:ea typeface="Calibri"/>
              <a:cs typeface="Calibri"/>
              <a:sym typeface="Calibri"/>
            </a:endParaRPr>
          </a:p>
        </p:txBody>
      </p:sp>
      <p:cxnSp>
        <p:nvCxnSpPr>
          <p:cNvPr id="2770" name="Google Shape;2770;h6f02bdc278a38c2b_0_222"/>
          <p:cNvCxnSpPr/>
          <p:nvPr/>
        </p:nvCxnSpPr>
        <p:spPr>
          <a:xfrm rot="10800000" flipH="1">
            <a:off x="622365" y="1591033"/>
            <a:ext cx="1326000" cy="594300"/>
          </a:xfrm>
          <a:prstGeom prst="straightConnector1">
            <a:avLst/>
          </a:prstGeom>
          <a:noFill/>
          <a:ln w="31750" cap="flat" cmpd="sng">
            <a:solidFill>
              <a:srgbClr val="0F6E56"/>
            </a:solidFill>
            <a:prstDash val="solid"/>
            <a:round/>
            <a:headEnd type="none" w="sm" len="sm"/>
            <a:tailEnd type="none" w="sm" len="sm"/>
          </a:ln>
        </p:spPr>
      </p:cxnSp>
      <p:sp>
        <p:nvSpPr>
          <p:cNvPr id="2771" name="Google Shape;2771;h6f02bdc278a38c2b_0_222"/>
          <p:cNvSpPr/>
          <p:nvPr/>
        </p:nvSpPr>
        <p:spPr>
          <a:xfrm>
            <a:off x="622375" y="1571950"/>
            <a:ext cx="9411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D9E75"/>
              </a:buClr>
              <a:buSzPts val="800"/>
              <a:buFont typeface="Consolas"/>
              <a:buNone/>
            </a:pPr>
            <a:r>
              <a:rPr lang="en" sz="1100" b="1" i="0" u="none" strike="noStrike" cap="none">
                <a:solidFill>
                  <a:srgbClr val="1D9E75"/>
                </a:solidFill>
                <a:latin typeface="Consolas"/>
                <a:ea typeface="Consolas"/>
                <a:cs typeface="Consolas"/>
                <a:sym typeface="Consolas"/>
              </a:rPr>
              <a:t>w₁=0.6000</a:t>
            </a:r>
            <a:endParaRPr sz="1100" b="0" i="0" u="none" strike="noStrike" cap="none">
              <a:solidFill>
                <a:schemeClr val="dk1"/>
              </a:solidFill>
              <a:latin typeface="Calibri"/>
              <a:ea typeface="Calibri"/>
              <a:cs typeface="Calibri"/>
              <a:sym typeface="Calibri"/>
            </a:endParaRPr>
          </a:p>
        </p:txBody>
      </p:sp>
      <p:cxnSp>
        <p:nvCxnSpPr>
          <p:cNvPr id="2772" name="Google Shape;2772;h6f02bdc278a38c2b_0_222"/>
          <p:cNvCxnSpPr>
            <a:endCxn id="2773" idx="1"/>
          </p:cNvCxnSpPr>
          <p:nvPr/>
        </p:nvCxnSpPr>
        <p:spPr>
          <a:xfrm>
            <a:off x="1948317" y="1590865"/>
            <a:ext cx="1033200" cy="503100"/>
          </a:xfrm>
          <a:prstGeom prst="straightConnector1">
            <a:avLst/>
          </a:prstGeom>
          <a:noFill/>
          <a:ln w="31750" cap="flat" cmpd="sng">
            <a:solidFill>
              <a:srgbClr val="0F6E56"/>
            </a:solidFill>
            <a:prstDash val="solid"/>
            <a:round/>
            <a:headEnd type="none" w="sm" len="sm"/>
            <a:tailEnd type="none" w="sm" len="sm"/>
          </a:ln>
        </p:spPr>
      </p:cxnSp>
      <p:sp>
        <p:nvSpPr>
          <p:cNvPr id="2774" name="Google Shape;2774;h6f02bdc278a38c2b_0_222"/>
          <p:cNvSpPr/>
          <p:nvPr/>
        </p:nvSpPr>
        <p:spPr>
          <a:xfrm>
            <a:off x="2407500" y="1620175"/>
            <a:ext cx="9411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D9E75"/>
              </a:buClr>
              <a:buSzPts val="800"/>
              <a:buFont typeface="Consolas"/>
              <a:buNone/>
            </a:pPr>
            <a:r>
              <a:rPr lang="en" sz="1100" b="1" i="0" u="none" strike="noStrike" cap="none">
                <a:solidFill>
                  <a:schemeClr val="dk1"/>
                </a:solidFill>
                <a:latin typeface="Consolas"/>
                <a:ea typeface="Consolas"/>
                <a:cs typeface="Consolas"/>
                <a:sym typeface="Consolas"/>
              </a:rPr>
              <a:t>w₃=0.8000</a:t>
            </a:r>
            <a:endParaRPr sz="1100" b="0" i="0" u="none" strike="noStrike" cap="none">
              <a:solidFill>
                <a:schemeClr val="dk1"/>
              </a:solidFill>
              <a:latin typeface="Calibri"/>
              <a:ea typeface="Calibri"/>
              <a:cs typeface="Calibri"/>
              <a:sym typeface="Calibri"/>
            </a:endParaRPr>
          </a:p>
        </p:txBody>
      </p:sp>
      <p:sp>
        <p:nvSpPr>
          <p:cNvPr id="2775" name="Google Shape;2775;h6f02bdc278a38c2b_0_222"/>
          <p:cNvSpPr/>
          <p:nvPr/>
        </p:nvSpPr>
        <p:spPr>
          <a:xfrm>
            <a:off x="329757" y="1892725"/>
            <a:ext cx="585300" cy="585300"/>
          </a:xfrm>
          <a:prstGeom prst="ellipse">
            <a:avLst/>
          </a:prstGeom>
          <a:solidFill>
            <a:srgbClr val="0F6E56"/>
          </a:solidFill>
          <a:ln w="254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6" name="Google Shape;2776;h6f02bdc278a38c2b_0_222"/>
          <p:cNvSpPr/>
          <p:nvPr/>
        </p:nvSpPr>
        <p:spPr>
          <a:xfrm>
            <a:off x="329757" y="1984165"/>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1" i="0" u="none" strike="noStrike" cap="none">
                <a:solidFill>
                  <a:srgbClr val="FFFFFF"/>
                </a:solidFill>
                <a:latin typeface="Calibri"/>
                <a:ea typeface="Calibri"/>
                <a:cs typeface="Calibri"/>
                <a:sym typeface="Calibri"/>
              </a:rPr>
              <a:t>x</a:t>
            </a:r>
            <a:endParaRPr sz="1200" b="0" i="0" u="none" strike="noStrike" cap="none">
              <a:solidFill>
                <a:schemeClr val="dk1"/>
              </a:solidFill>
              <a:latin typeface="Calibri"/>
              <a:ea typeface="Calibri"/>
              <a:cs typeface="Calibri"/>
              <a:sym typeface="Calibri"/>
            </a:endParaRPr>
          </a:p>
        </p:txBody>
      </p:sp>
      <p:sp>
        <p:nvSpPr>
          <p:cNvPr id="2777" name="Google Shape;2777;h6f02bdc278a38c2b_0_222"/>
          <p:cNvSpPr/>
          <p:nvPr/>
        </p:nvSpPr>
        <p:spPr>
          <a:xfrm>
            <a:off x="329757" y="2194477"/>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onsolas"/>
              <a:buNone/>
            </a:pPr>
            <a:r>
              <a:rPr lang="en" sz="900" b="0" i="0" u="none" strike="noStrike" cap="none">
                <a:solidFill>
                  <a:srgbClr val="FFFFFF"/>
                </a:solidFill>
                <a:latin typeface="Consolas"/>
                <a:ea typeface="Consolas"/>
                <a:cs typeface="Consolas"/>
                <a:sym typeface="Consolas"/>
              </a:rPr>
              <a:t>1.0</a:t>
            </a:r>
            <a:endParaRPr sz="900" b="0" i="0" u="none" strike="noStrike" cap="none">
              <a:solidFill>
                <a:schemeClr val="dk1"/>
              </a:solidFill>
              <a:latin typeface="Calibri"/>
              <a:ea typeface="Calibri"/>
              <a:cs typeface="Calibri"/>
              <a:sym typeface="Calibri"/>
            </a:endParaRPr>
          </a:p>
        </p:txBody>
      </p:sp>
      <p:sp>
        <p:nvSpPr>
          <p:cNvPr id="2778" name="Google Shape;2778;h6f02bdc278a38c2b_0_222"/>
          <p:cNvSpPr/>
          <p:nvPr/>
        </p:nvSpPr>
        <p:spPr>
          <a:xfrm>
            <a:off x="1655637" y="1298365"/>
            <a:ext cx="585300" cy="585300"/>
          </a:xfrm>
          <a:prstGeom prst="ellipse">
            <a:avLst/>
          </a:prstGeom>
          <a:solidFill>
            <a:srgbClr val="0F6E56"/>
          </a:solidFill>
          <a:ln w="254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9" name="Google Shape;2779;h6f02bdc278a38c2b_0_222"/>
          <p:cNvSpPr/>
          <p:nvPr/>
        </p:nvSpPr>
        <p:spPr>
          <a:xfrm>
            <a:off x="1655637" y="1389805"/>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1" i="0" u="none" strike="noStrike" cap="none">
                <a:solidFill>
                  <a:srgbClr val="FFFFFF"/>
                </a:solidFill>
                <a:latin typeface="Calibri"/>
                <a:ea typeface="Calibri"/>
                <a:cs typeface="Calibri"/>
                <a:sym typeface="Calibri"/>
              </a:rPr>
              <a:t>h₁</a:t>
            </a:r>
            <a:endParaRPr sz="1200" b="0" i="0" u="none" strike="noStrike" cap="none">
              <a:solidFill>
                <a:schemeClr val="dk1"/>
              </a:solidFill>
              <a:latin typeface="Calibri"/>
              <a:ea typeface="Calibri"/>
              <a:cs typeface="Calibri"/>
              <a:sym typeface="Calibri"/>
            </a:endParaRPr>
          </a:p>
        </p:txBody>
      </p:sp>
      <p:sp>
        <p:nvSpPr>
          <p:cNvPr id="2780" name="Google Shape;2780;h6f02bdc278a38c2b_0_222"/>
          <p:cNvSpPr/>
          <p:nvPr/>
        </p:nvSpPr>
        <p:spPr>
          <a:xfrm>
            <a:off x="1655637" y="1600117"/>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onsolas"/>
              <a:buNone/>
            </a:pPr>
            <a:r>
              <a:rPr lang="en" sz="900" b="0" i="0" u="none" strike="noStrike" cap="none">
                <a:solidFill>
                  <a:srgbClr val="FFFFFF"/>
                </a:solidFill>
                <a:latin typeface="Consolas"/>
                <a:ea typeface="Consolas"/>
                <a:cs typeface="Consolas"/>
                <a:sym typeface="Consolas"/>
              </a:rPr>
              <a:t>0.6457</a:t>
            </a:r>
            <a:endParaRPr sz="900" b="0" i="0" u="none" strike="noStrike" cap="none">
              <a:solidFill>
                <a:schemeClr val="dk1"/>
              </a:solidFill>
              <a:latin typeface="Calibri"/>
              <a:ea typeface="Calibri"/>
              <a:cs typeface="Calibri"/>
              <a:sym typeface="Calibri"/>
            </a:endParaRPr>
          </a:p>
        </p:txBody>
      </p:sp>
      <p:sp>
        <p:nvSpPr>
          <p:cNvPr id="2781" name="Google Shape;2781;h6f02bdc278a38c2b_0_222"/>
          <p:cNvSpPr/>
          <p:nvPr/>
        </p:nvSpPr>
        <p:spPr>
          <a:xfrm>
            <a:off x="2981517" y="1892725"/>
            <a:ext cx="585300" cy="585300"/>
          </a:xfrm>
          <a:prstGeom prst="ellipse">
            <a:avLst/>
          </a:prstGeom>
          <a:noFill/>
          <a:ln w="254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773" name="Google Shape;2773;h6f02bdc278a38c2b_0_222"/>
          <p:cNvSpPr/>
          <p:nvPr/>
        </p:nvSpPr>
        <p:spPr>
          <a:xfrm>
            <a:off x="2981517" y="1984165"/>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1" i="0" u="none" strike="noStrike" cap="none">
                <a:solidFill>
                  <a:schemeClr val="dk1"/>
                </a:solidFill>
                <a:latin typeface="Calibri"/>
                <a:ea typeface="Calibri"/>
                <a:cs typeface="Calibri"/>
                <a:sym typeface="Calibri"/>
              </a:rPr>
              <a:t>ŷ</a:t>
            </a:r>
            <a:endParaRPr sz="1200" b="0" i="0" u="none" strike="noStrike" cap="none">
              <a:solidFill>
                <a:schemeClr val="dk1"/>
              </a:solidFill>
              <a:latin typeface="Calibri"/>
              <a:ea typeface="Calibri"/>
              <a:cs typeface="Calibri"/>
              <a:sym typeface="Calibri"/>
            </a:endParaRPr>
          </a:p>
        </p:txBody>
      </p:sp>
      <p:sp>
        <p:nvSpPr>
          <p:cNvPr id="2782" name="Google Shape;2782;h6f02bdc278a38c2b_0_222"/>
          <p:cNvSpPr/>
          <p:nvPr/>
        </p:nvSpPr>
        <p:spPr>
          <a:xfrm>
            <a:off x="2981517" y="2194477"/>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onsolas"/>
              <a:buNone/>
            </a:pPr>
            <a:r>
              <a:rPr lang="en" sz="1000" b="0" i="0" u="none" strike="noStrike" cap="none">
                <a:solidFill>
                  <a:schemeClr val="dk1"/>
                </a:solidFill>
                <a:latin typeface="Calibri"/>
                <a:ea typeface="Calibri"/>
                <a:cs typeface="Calibri"/>
                <a:sym typeface="Calibri"/>
              </a:rPr>
              <a:t>0.6934</a:t>
            </a:r>
            <a:endParaRPr sz="1000" b="0" i="0" u="none" strike="noStrike" cap="none">
              <a:solidFill>
                <a:schemeClr val="dk1"/>
              </a:solidFill>
              <a:latin typeface="Calibri"/>
              <a:ea typeface="Calibri"/>
              <a:cs typeface="Calibri"/>
              <a:sym typeface="Calibri"/>
            </a:endParaRPr>
          </a:p>
        </p:txBody>
      </p:sp>
      <p:sp>
        <p:nvSpPr>
          <p:cNvPr id="2783" name="Google Shape;2783;h6f02bdc278a38c2b_0_222"/>
          <p:cNvSpPr/>
          <p:nvPr/>
        </p:nvSpPr>
        <p:spPr>
          <a:xfrm>
            <a:off x="3514424" y="1950145"/>
            <a:ext cx="822900" cy="415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onsolas"/>
              <a:buNone/>
            </a:pPr>
            <a:r>
              <a:rPr lang="en" sz="1100" b="0" i="0" u="none" strike="noStrike" cap="none">
                <a:solidFill>
                  <a:srgbClr val="2E7D32"/>
                </a:solidFill>
                <a:latin typeface="Calibri"/>
                <a:ea typeface="Calibri"/>
                <a:cs typeface="Calibri"/>
                <a:sym typeface="Calibri"/>
              </a:rPr>
              <a:t>target y=1</a:t>
            </a:r>
            <a:endParaRPr sz="1100" b="0" i="0" u="none" strike="noStrike" cap="none">
              <a:solidFill>
                <a:srgbClr val="2E7D32"/>
              </a:solidFill>
              <a:latin typeface="Calibri"/>
              <a:ea typeface="Calibri"/>
              <a:cs typeface="Calibri"/>
              <a:sym typeface="Calibri"/>
            </a:endParaRPr>
          </a:p>
        </p:txBody>
      </p:sp>
      <p:sp>
        <p:nvSpPr>
          <p:cNvPr id="2784" name="Google Shape;2784;h6f02bdc278a38c2b_0_222"/>
          <p:cNvSpPr/>
          <p:nvPr/>
        </p:nvSpPr>
        <p:spPr>
          <a:xfrm>
            <a:off x="4572000" y="1005840"/>
            <a:ext cx="4114800" cy="3840600"/>
          </a:xfrm>
          <a:prstGeom prst="rect">
            <a:avLst/>
          </a:prstGeom>
          <a:solidFill>
            <a:srgbClr val="F8FAFB"/>
          </a:solidFill>
          <a:ln w="9525" cap="flat" cmpd="sng">
            <a:solidFill>
              <a:srgbClr val="9FE1CB"/>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5" name="Google Shape;2785;h6f02bdc278a38c2b_0_222"/>
          <p:cNvSpPr/>
          <p:nvPr/>
        </p:nvSpPr>
        <p:spPr>
          <a:xfrm>
            <a:off x="4754880" y="1143000"/>
            <a:ext cx="37491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D9E75"/>
              </a:buClr>
              <a:buSzPts val="1400"/>
              <a:buFont typeface="Calibri"/>
              <a:buNone/>
            </a:pPr>
            <a:r>
              <a:rPr lang="en" sz="1400" b="1" i="0" u="none" strike="noStrike" cap="none">
                <a:solidFill>
                  <a:schemeClr val="dk1"/>
                </a:solidFill>
                <a:latin typeface="Calibri"/>
                <a:ea typeface="Calibri"/>
                <a:cs typeface="Calibri"/>
                <a:sym typeface="Calibri"/>
              </a:rPr>
              <a:t>Initial parameters</a:t>
            </a:r>
            <a:endParaRPr sz="1400" b="0" i="0" u="none" strike="noStrike" cap="none">
              <a:solidFill>
                <a:schemeClr val="dk1"/>
              </a:solidFill>
              <a:latin typeface="Calibri"/>
              <a:ea typeface="Calibri"/>
              <a:cs typeface="Calibri"/>
              <a:sym typeface="Calibri"/>
            </a:endParaRPr>
          </a:p>
        </p:txBody>
      </p:sp>
      <p:sp>
        <p:nvSpPr>
          <p:cNvPr id="2786" name="Google Shape;2786;h6f02bdc278a38c2b_0_222"/>
          <p:cNvSpPr/>
          <p:nvPr/>
        </p:nvSpPr>
        <p:spPr>
          <a:xfrm>
            <a:off x="4709160" y="1572768"/>
            <a:ext cx="3840600" cy="3474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7" name="Google Shape;2787;h6f02bdc278a38c2b_0_222"/>
          <p:cNvSpPr/>
          <p:nvPr/>
        </p:nvSpPr>
        <p:spPr>
          <a:xfrm>
            <a:off x="4828032" y="1572768"/>
            <a:ext cx="1188600" cy="34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400" b="0" i="0" u="none" strike="noStrike" cap="none">
                <a:solidFill>
                  <a:schemeClr val="dk1"/>
                </a:solidFill>
                <a:latin typeface="Calibri"/>
                <a:ea typeface="Calibri"/>
                <a:cs typeface="Calibri"/>
                <a:sym typeface="Calibri"/>
              </a:rPr>
              <a:t>Input</a:t>
            </a:r>
            <a:endParaRPr sz="1400" b="0" i="0" u="none" strike="noStrike" cap="none">
              <a:solidFill>
                <a:schemeClr val="dk1"/>
              </a:solidFill>
              <a:latin typeface="Calibri"/>
              <a:ea typeface="Calibri"/>
              <a:cs typeface="Calibri"/>
              <a:sym typeface="Calibri"/>
            </a:endParaRPr>
          </a:p>
        </p:txBody>
      </p:sp>
      <p:sp>
        <p:nvSpPr>
          <p:cNvPr id="2788" name="Google Shape;2788;h6f02bdc278a38c2b_0_222"/>
          <p:cNvSpPr/>
          <p:nvPr/>
        </p:nvSpPr>
        <p:spPr>
          <a:xfrm>
            <a:off x="6126480" y="1572768"/>
            <a:ext cx="2286000" cy="34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200"/>
              <a:buFont typeface="Consolas"/>
              <a:buNone/>
            </a:pPr>
            <a:r>
              <a:rPr lang="en" sz="1300" b="1" i="0" u="none" strike="noStrike" cap="none">
                <a:solidFill>
                  <a:schemeClr val="dk1"/>
                </a:solidFill>
                <a:latin typeface="Consolas"/>
                <a:ea typeface="Consolas"/>
                <a:cs typeface="Consolas"/>
                <a:sym typeface="Consolas"/>
              </a:rPr>
              <a:t>x = 1.0</a:t>
            </a:r>
            <a:endParaRPr sz="1300" b="0" i="0" u="none" strike="noStrike" cap="none">
              <a:solidFill>
                <a:schemeClr val="dk1"/>
              </a:solidFill>
              <a:latin typeface="Calibri"/>
              <a:ea typeface="Calibri"/>
              <a:cs typeface="Calibri"/>
              <a:sym typeface="Calibri"/>
            </a:endParaRPr>
          </a:p>
        </p:txBody>
      </p:sp>
      <p:sp>
        <p:nvSpPr>
          <p:cNvPr id="2789" name="Google Shape;2789;h6f02bdc278a38c2b_0_222"/>
          <p:cNvSpPr/>
          <p:nvPr/>
        </p:nvSpPr>
        <p:spPr>
          <a:xfrm>
            <a:off x="4709160" y="2011680"/>
            <a:ext cx="3840600" cy="3474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0" name="Google Shape;2790;h6f02bdc278a38c2b_0_222"/>
          <p:cNvSpPr/>
          <p:nvPr/>
        </p:nvSpPr>
        <p:spPr>
          <a:xfrm>
            <a:off x="4828032" y="2011680"/>
            <a:ext cx="1188600" cy="34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400" b="0" i="0" u="none" strike="noStrike" cap="none">
                <a:solidFill>
                  <a:schemeClr val="dk1"/>
                </a:solidFill>
                <a:latin typeface="Calibri"/>
                <a:ea typeface="Calibri"/>
                <a:cs typeface="Calibri"/>
                <a:sym typeface="Calibri"/>
              </a:rPr>
              <a:t>Target</a:t>
            </a:r>
            <a:endParaRPr sz="1400" b="0" i="0" u="none" strike="noStrike" cap="none">
              <a:solidFill>
                <a:schemeClr val="dk1"/>
              </a:solidFill>
              <a:latin typeface="Calibri"/>
              <a:ea typeface="Calibri"/>
              <a:cs typeface="Calibri"/>
              <a:sym typeface="Calibri"/>
            </a:endParaRPr>
          </a:p>
        </p:txBody>
      </p:sp>
      <p:sp>
        <p:nvSpPr>
          <p:cNvPr id="2791" name="Google Shape;2791;h6f02bdc278a38c2b_0_222"/>
          <p:cNvSpPr/>
          <p:nvPr/>
        </p:nvSpPr>
        <p:spPr>
          <a:xfrm>
            <a:off x="6126480" y="2011680"/>
            <a:ext cx="2286000" cy="34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200"/>
              <a:buFont typeface="Consolas"/>
              <a:buNone/>
            </a:pPr>
            <a:r>
              <a:rPr lang="en" sz="1300" b="1" i="0" u="none" strike="noStrike" cap="none">
                <a:solidFill>
                  <a:schemeClr val="dk1"/>
                </a:solidFill>
                <a:latin typeface="Consolas"/>
                <a:ea typeface="Consolas"/>
                <a:cs typeface="Consolas"/>
                <a:sym typeface="Consolas"/>
              </a:rPr>
              <a:t>y = 1.0</a:t>
            </a:r>
            <a:endParaRPr sz="1300" b="0" i="0" u="none" strike="noStrike" cap="none">
              <a:solidFill>
                <a:schemeClr val="dk1"/>
              </a:solidFill>
              <a:latin typeface="Calibri"/>
              <a:ea typeface="Calibri"/>
              <a:cs typeface="Calibri"/>
              <a:sym typeface="Calibri"/>
            </a:endParaRPr>
          </a:p>
        </p:txBody>
      </p:sp>
      <p:sp>
        <p:nvSpPr>
          <p:cNvPr id="2792" name="Google Shape;2792;h6f02bdc278a38c2b_0_222"/>
          <p:cNvSpPr/>
          <p:nvPr/>
        </p:nvSpPr>
        <p:spPr>
          <a:xfrm>
            <a:off x="4709160" y="2450592"/>
            <a:ext cx="3840600" cy="3474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3" name="Google Shape;2793;h6f02bdc278a38c2b_0_222"/>
          <p:cNvSpPr/>
          <p:nvPr/>
        </p:nvSpPr>
        <p:spPr>
          <a:xfrm>
            <a:off x="4754882" y="2450592"/>
            <a:ext cx="1188600" cy="34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400" b="0" i="0" u="none" strike="noStrike" cap="none">
                <a:solidFill>
                  <a:schemeClr val="dk1"/>
                </a:solidFill>
                <a:latin typeface="Calibri"/>
                <a:ea typeface="Calibri"/>
                <a:cs typeface="Calibri"/>
                <a:sym typeface="Calibri"/>
              </a:rPr>
              <a:t>Learning rate</a:t>
            </a:r>
            <a:endParaRPr sz="1400" b="0" i="0" u="none" strike="noStrike" cap="none">
              <a:solidFill>
                <a:schemeClr val="dk1"/>
              </a:solidFill>
              <a:latin typeface="Calibri"/>
              <a:ea typeface="Calibri"/>
              <a:cs typeface="Calibri"/>
              <a:sym typeface="Calibri"/>
            </a:endParaRPr>
          </a:p>
        </p:txBody>
      </p:sp>
      <p:sp>
        <p:nvSpPr>
          <p:cNvPr id="2794" name="Google Shape;2794;h6f02bdc278a38c2b_0_222"/>
          <p:cNvSpPr/>
          <p:nvPr/>
        </p:nvSpPr>
        <p:spPr>
          <a:xfrm>
            <a:off x="6126480" y="2450592"/>
            <a:ext cx="2286000" cy="34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200"/>
              <a:buFont typeface="Consolas"/>
              <a:buNone/>
            </a:pPr>
            <a:r>
              <a:rPr lang="en" sz="1300" b="1" i="0" u="none" strike="noStrike" cap="none">
                <a:solidFill>
                  <a:schemeClr val="dk1"/>
                </a:solidFill>
                <a:latin typeface="Consolas"/>
                <a:ea typeface="Consolas"/>
                <a:cs typeface="Consolas"/>
                <a:sym typeface="Consolas"/>
              </a:rPr>
              <a:t>η = 0.5</a:t>
            </a:r>
            <a:endParaRPr sz="1300" b="0" i="0" u="none" strike="noStrike" cap="none">
              <a:solidFill>
                <a:schemeClr val="dk1"/>
              </a:solidFill>
              <a:latin typeface="Calibri"/>
              <a:ea typeface="Calibri"/>
              <a:cs typeface="Calibri"/>
              <a:sym typeface="Calibri"/>
            </a:endParaRPr>
          </a:p>
        </p:txBody>
      </p:sp>
      <p:sp>
        <p:nvSpPr>
          <p:cNvPr id="2795" name="Google Shape;2795;h6f02bdc278a38c2b_0_222"/>
          <p:cNvSpPr/>
          <p:nvPr/>
        </p:nvSpPr>
        <p:spPr>
          <a:xfrm>
            <a:off x="4709160" y="2889504"/>
            <a:ext cx="3840600" cy="3474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6" name="Google Shape;2796;h6f02bdc278a38c2b_0_222"/>
          <p:cNvSpPr/>
          <p:nvPr/>
        </p:nvSpPr>
        <p:spPr>
          <a:xfrm>
            <a:off x="4828032" y="2889504"/>
            <a:ext cx="1188600" cy="34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400" b="0" i="0" u="none" strike="noStrike" cap="none">
                <a:solidFill>
                  <a:schemeClr val="dk1"/>
                </a:solidFill>
                <a:latin typeface="Calibri"/>
                <a:ea typeface="Calibri"/>
                <a:cs typeface="Calibri"/>
                <a:sym typeface="Calibri"/>
              </a:rPr>
              <a:t>w₁</a:t>
            </a:r>
            <a:endParaRPr sz="1400" b="0" i="0" u="none" strike="noStrike" cap="none">
              <a:solidFill>
                <a:schemeClr val="dk1"/>
              </a:solidFill>
              <a:latin typeface="Calibri"/>
              <a:ea typeface="Calibri"/>
              <a:cs typeface="Calibri"/>
              <a:sym typeface="Calibri"/>
            </a:endParaRPr>
          </a:p>
        </p:txBody>
      </p:sp>
      <p:sp>
        <p:nvSpPr>
          <p:cNvPr id="2797" name="Google Shape;2797;h6f02bdc278a38c2b_0_222"/>
          <p:cNvSpPr/>
          <p:nvPr/>
        </p:nvSpPr>
        <p:spPr>
          <a:xfrm>
            <a:off x="6126480" y="2889504"/>
            <a:ext cx="2286000" cy="34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200"/>
              <a:buFont typeface="Consolas"/>
              <a:buNone/>
            </a:pPr>
            <a:r>
              <a:rPr lang="en" sz="1300" b="1" i="0" u="none" strike="noStrike" cap="none">
                <a:solidFill>
                  <a:schemeClr val="dk1"/>
                </a:solidFill>
                <a:latin typeface="Consolas"/>
                <a:ea typeface="Consolas"/>
                <a:cs typeface="Consolas"/>
                <a:sym typeface="Consolas"/>
              </a:rPr>
              <a:t>0.6000</a:t>
            </a:r>
            <a:endParaRPr sz="1300" b="0" i="0" u="none" strike="noStrike" cap="none">
              <a:solidFill>
                <a:schemeClr val="dk1"/>
              </a:solidFill>
              <a:latin typeface="Calibri"/>
              <a:ea typeface="Calibri"/>
              <a:cs typeface="Calibri"/>
              <a:sym typeface="Calibri"/>
            </a:endParaRPr>
          </a:p>
        </p:txBody>
      </p:sp>
      <p:sp>
        <p:nvSpPr>
          <p:cNvPr id="2798" name="Google Shape;2798;h6f02bdc278a38c2b_0_222"/>
          <p:cNvSpPr/>
          <p:nvPr/>
        </p:nvSpPr>
        <p:spPr>
          <a:xfrm>
            <a:off x="4709160" y="3328416"/>
            <a:ext cx="3840600" cy="3474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9" name="Google Shape;2799;h6f02bdc278a38c2b_0_222"/>
          <p:cNvSpPr/>
          <p:nvPr/>
        </p:nvSpPr>
        <p:spPr>
          <a:xfrm>
            <a:off x="4828032" y="3328416"/>
            <a:ext cx="1188600" cy="34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400" b="0" i="0" u="none" strike="noStrike" cap="none">
                <a:solidFill>
                  <a:schemeClr val="dk1"/>
                </a:solidFill>
                <a:latin typeface="Calibri"/>
                <a:ea typeface="Calibri"/>
                <a:cs typeface="Calibri"/>
                <a:sym typeface="Calibri"/>
              </a:rPr>
              <a:t>w₂</a:t>
            </a:r>
            <a:endParaRPr sz="1400" b="0" i="0" u="none" strike="noStrike" cap="none">
              <a:solidFill>
                <a:schemeClr val="dk1"/>
              </a:solidFill>
              <a:latin typeface="Calibri"/>
              <a:ea typeface="Calibri"/>
              <a:cs typeface="Calibri"/>
              <a:sym typeface="Calibri"/>
            </a:endParaRPr>
          </a:p>
        </p:txBody>
      </p:sp>
      <p:sp>
        <p:nvSpPr>
          <p:cNvPr id="2800" name="Google Shape;2800;h6f02bdc278a38c2b_0_222"/>
          <p:cNvSpPr/>
          <p:nvPr/>
        </p:nvSpPr>
        <p:spPr>
          <a:xfrm>
            <a:off x="6126480" y="3328416"/>
            <a:ext cx="2286000" cy="34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200"/>
              <a:buFont typeface="Consolas"/>
              <a:buNone/>
            </a:pPr>
            <a:r>
              <a:rPr lang="en" sz="1300" b="1" i="0" u="none" strike="noStrike" cap="none">
                <a:solidFill>
                  <a:schemeClr val="dk1"/>
                </a:solidFill>
                <a:latin typeface="Consolas"/>
                <a:ea typeface="Consolas"/>
                <a:cs typeface="Consolas"/>
                <a:sym typeface="Consolas"/>
              </a:rPr>
              <a:t>0.4000</a:t>
            </a:r>
            <a:endParaRPr sz="1300" b="0" i="0" u="none" strike="noStrike" cap="none">
              <a:solidFill>
                <a:schemeClr val="dk1"/>
              </a:solidFill>
              <a:latin typeface="Calibri"/>
              <a:ea typeface="Calibri"/>
              <a:cs typeface="Calibri"/>
              <a:sym typeface="Calibri"/>
            </a:endParaRPr>
          </a:p>
        </p:txBody>
      </p:sp>
      <p:sp>
        <p:nvSpPr>
          <p:cNvPr id="2801" name="Google Shape;2801;h6f02bdc278a38c2b_0_222"/>
          <p:cNvSpPr/>
          <p:nvPr/>
        </p:nvSpPr>
        <p:spPr>
          <a:xfrm>
            <a:off x="4709160" y="3767328"/>
            <a:ext cx="3840600" cy="3474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2" name="Google Shape;2802;h6f02bdc278a38c2b_0_222"/>
          <p:cNvSpPr/>
          <p:nvPr/>
        </p:nvSpPr>
        <p:spPr>
          <a:xfrm>
            <a:off x="4828032" y="3767328"/>
            <a:ext cx="1188600" cy="34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400" b="0" i="0" u="none" strike="noStrike" cap="none">
                <a:solidFill>
                  <a:schemeClr val="dk1"/>
                </a:solidFill>
                <a:latin typeface="Calibri"/>
                <a:ea typeface="Calibri"/>
                <a:cs typeface="Calibri"/>
                <a:sym typeface="Calibri"/>
              </a:rPr>
              <a:t>w₃</a:t>
            </a:r>
            <a:endParaRPr sz="1400" b="0" i="0" u="none" strike="noStrike" cap="none">
              <a:solidFill>
                <a:schemeClr val="dk1"/>
              </a:solidFill>
              <a:latin typeface="Calibri"/>
              <a:ea typeface="Calibri"/>
              <a:cs typeface="Calibri"/>
              <a:sym typeface="Calibri"/>
            </a:endParaRPr>
          </a:p>
        </p:txBody>
      </p:sp>
      <p:sp>
        <p:nvSpPr>
          <p:cNvPr id="2803" name="Google Shape;2803;h6f02bdc278a38c2b_0_222"/>
          <p:cNvSpPr/>
          <p:nvPr/>
        </p:nvSpPr>
        <p:spPr>
          <a:xfrm>
            <a:off x="6126480" y="3767328"/>
            <a:ext cx="2286000" cy="34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200"/>
              <a:buFont typeface="Consolas"/>
              <a:buNone/>
            </a:pPr>
            <a:r>
              <a:rPr lang="en" sz="1300" b="1" i="0" u="none" strike="noStrike" cap="none">
                <a:solidFill>
                  <a:schemeClr val="dk1"/>
                </a:solidFill>
                <a:latin typeface="Consolas"/>
                <a:ea typeface="Consolas"/>
                <a:cs typeface="Consolas"/>
                <a:sym typeface="Consolas"/>
              </a:rPr>
              <a:t>0.8000</a:t>
            </a:r>
            <a:endParaRPr sz="1300" b="0" i="0" u="none" strike="noStrike" cap="none">
              <a:solidFill>
                <a:schemeClr val="dk1"/>
              </a:solidFill>
              <a:latin typeface="Calibri"/>
              <a:ea typeface="Calibri"/>
              <a:cs typeface="Calibri"/>
              <a:sym typeface="Calibri"/>
            </a:endParaRPr>
          </a:p>
        </p:txBody>
      </p:sp>
      <p:sp>
        <p:nvSpPr>
          <p:cNvPr id="2804" name="Google Shape;2804;h6f02bdc278a38c2b_0_222"/>
          <p:cNvSpPr/>
          <p:nvPr/>
        </p:nvSpPr>
        <p:spPr>
          <a:xfrm>
            <a:off x="4709160" y="4206240"/>
            <a:ext cx="3840600" cy="3474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05" name="Google Shape;2805;h6f02bdc278a38c2b_0_222"/>
          <p:cNvSpPr/>
          <p:nvPr/>
        </p:nvSpPr>
        <p:spPr>
          <a:xfrm>
            <a:off x="4828032" y="4206240"/>
            <a:ext cx="1188600" cy="34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400" b="0" i="0" u="none" strike="noStrike" cap="none">
                <a:solidFill>
                  <a:schemeClr val="dk1"/>
                </a:solidFill>
                <a:latin typeface="Calibri"/>
                <a:ea typeface="Calibri"/>
                <a:cs typeface="Calibri"/>
                <a:sym typeface="Calibri"/>
              </a:rPr>
              <a:t>w₄</a:t>
            </a:r>
            <a:endParaRPr sz="1400" b="0" i="0" u="none" strike="noStrike" cap="none">
              <a:solidFill>
                <a:schemeClr val="dk1"/>
              </a:solidFill>
              <a:latin typeface="Calibri"/>
              <a:ea typeface="Calibri"/>
              <a:cs typeface="Calibri"/>
              <a:sym typeface="Calibri"/>
            </a:endParaRPr>
          </a:p>
        </p:txBody>
      </p:sp>
      <p:sp>
        <p:nvSpPr>
          <p:cNvPr id="2806" name="Google Shape;2806;h6f02bdc278a38c2b_0_222"/>
          <p:cNvSpPr/>
          <p:nvPr/>
        </p:nvSpPr>
        <p:spPr>
          <a:xfrm>
            <a:off x="6126480" y="4206240"/>
            <a:ext cx="2286000" cy="34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200"/>
              <a:buFont typeface="Consolas"/>
              <a:buNone/>
            </a:pPr>
            <a:r>
              <a:rPr lang="en" sz="1300" b="1" i="0" u="none" strike="noStrike" cap="none">
                <a:solidFill>
                  <a:schemeClr val="dk1"/>
                </a:solidFill>
                <a:latin typeface="Consolas"/>
                <a:ea typeface="Consolas"/>
                <a:cs typeface="Consolas"/>
                <a:sym typeface="Consolas"/>
              </a:rPr>
              <a:t>0.5000</a:t>
            </a:r>
            <a:endParaRPr sz="1300" b="0" i="0" u="none" strike="noStrike" cap="none">
              <a:solidFill>
                <a:schemeClr val="dk1"/>
              </a:solidFill>
              <a:latin typeface="Calibri"/>
              <a:ea typeface="Calibri"/>
              <a:cs typeface="Calibri"/>
              <a:sym typeface="Calibri"/>
            </a:endParaRPr>
          </a:p>
        </p:txBody>
      </p:sp>
      <p:pic>
        <p:nvPicPr>
          <p:cNvPr id="2807" name="Google Shape;2807;h6f02bdc278a38c2b_0_222"/>
          <p:cNvPicPr preferRelativeResize="0"/>
          <p:nvPr/>
        </p:nvPicPr>
        <p:blipFill rotWithShape="1">
          <a:blip r:embed="rId3">
            <a:alphaModFix/>
          </a:blip>
          <a:srcRect/>
          <a:stretch/>
        </p:blipFill>
        <p:spPr>
          <a:xfrm>
            <a:off x="8369125" y="0"/>
            <a:ext cx="774877" cy="867174"/>
          </a:xfrm>
          <a:prstGeom prst="rect">
            <a:avLst/>
          </a:prstGeom>
          <a:noFill/>
          <a:ln>
            <a:noFill/>
          </a:ln>
        </p:spPr>
      </p:pic>
      <p:pic>
        <p:nvPicPr>
          <p:cNvPr id="2808" name="Google Shape;2808;h6f02bdc278a38c2b_0_222"/>
          <p:cNvPicPr preferRelativeResize="0"/>
          <p:nvPr/>
        </p:nvPicPr>
        <p:blipFill rotWithShape="1">
          <a:blip r:embed="rId4">
            <a:alphaModFix/>
          </a:blip>
          <a:srcRect b="47266"/>
          <a:stretch/>
        </p:blipFill>
        <p:spPr>
          <a:xfrm>
            <a:off x="194050" y="3410875"/>
            <a:ext cx="2046884" cy="1297875"/>
          </a:xfrm>
          <a:prstGeom prst="rect">
            <a:avLst/>
          </a:prstGeom>
          <a:noFill/>
          <a:ln>
            <a:noFill/>
          </a:ln>
        </p:spPr>
      </p:pic>
      <p:pic>
        <p:nvPicPr>
          <p:cNvPr id="2809" name="Google Shape;2809;h6f02bdc278a38c2b_0_222"/>
          <p:cNvPicPr preferRelativeResize="0"/>
          <p:nvPr/>
        </p:nvPicPr>
        <p:blipFill rotWithShape="1">
          <a:blip r:embed="rId4">
            <a:alphaModFix/>
          </a:blip>
          <a:srcRect t="49947"/>
          <a:stretch/>
        </p:blipFill>
        <p:spPr>
          <a:xfrm>
            <a:off x="2105238" y="3328522"/>
            <a:ext cx="2156550" cy="1297872"/>
          </a:xfrm>
          <a:prstGeom prst="rect">
            <a:avLst/>
          </a:prstGeom>
          <a:noFill/>
          <a:ln>
            <a:noFill/>
          </a:ln>
        </p:spPr>
      </p:pic>
      <p:sp>
        <p:nvSpPr>
          <p:cNvPr id="2810" name="Google Shape;2810;h6f02bdc278a38c2b_0_222"/>
          <p:cNvSpPr txBox="1"/>
          <p:nvPr/>
        </p:nvSpPr>
        <p:spPr>
          <a:xfrm>
            <a:off x="452338" y="3026875"/>
            <a:ext cx="15303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0" i="0" u="none" strike="noStrike" cap="none">
                <a:solidFill>
                  <a:schemeClr val="dk2"/>
                </a:solidFill>
                <a:latin typeface="Arial"/>
                <a:ea typeface="Arial"/>
                <a:cs typeface="Arial"/>
                <a:sym typeface="Arial"/>
              </a:rPr>
              <a:t>Forward pass - </a:t>
            </a:r>
            <a:endParaRPr sz="1500" b="0" i="0" u="none" strike="noStrike" cap="none">
              <a:solidFill>
                <a:schemeClr val="dk2"/>
              </a:solidFill>
              <a:latin typeface="Arial"/>
              <a:ea typeface="Arial"/>
              <a:cs typeface="Arial"/>
              <a:sym typeface="Arial"/>
            </a:endParaRPr>
          </a:p>
        </p:txBody>
      </p:sp>
      <p:cxnSp>
        <p:nvCxnSpPr>
          <p:cNvPr id="2811" name="Google Shape;2811;h6f02bdc278a38c2b_0_222"/>
          <p:cNvCxnSpPr/>
          <p:nvPr/>
        </p:nvCxnSpPr>
        <p:spPr>
          <a:xfrm>
            <a:off x="777240" y="2103120"/>
            <a:ext cx="1326000" cy="594300"/>
          </a:xfrm>
          <a:prstGeom prst="straightConnector1">
            <a:avLst/>
          </a:prstGeom>
          <a:noFill/>
          <a:ln w="31750" cap="flat" cmpd="sng">
            <a:solidFill>
              <a:srgbClr val="0F6E56"/>
            </a:solidFill>
            <a:prstDash val="solid"/>
            <a:round/>
            <a:headEnd type="none" w="sm" len="sm"/>
            <a:tailEnd type="none" w="sm" len="sm"/>
          </a:ln>
        </p:spPr>
      </p:cxnSp>
      <p:sp>
        <p:nvSpPr>
          <p:cNvPr id="2812" name="Google Shape;2812;h6f02bdc278a38c2b_0_222"/>
          <p:cNvSpPr/>
          <p:nvPr/>
        </p:nvSpPr>
        <p:spPr>
          <a:xfrm>
            <a:off x="622375" y="2468200"/>
            <a:ext cx="11652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D9E75"/>
              </a:buClr>
              <a:buSzPts val="800"/>
              <a:buFont typeface="Consolas"/>
              <a:buNone/>
            </a:pPr>
            <a:r>
              <a:rPr lang="en" sz="1100" b="1" i="0" u="none" strike="noStrike" cap="none">
                <a:solidFill>
                  <a:srgbClr val="1D9E75"/>
                </a:solidFill>
                <a:latin typeface="Consolas"/>
                <a:ea typeface="Consolas"/>
                <a:cs typeface="Consolas"/>
                <a:sym typeface="Consolas"/>
              </a:rPr>
              <a:t>w₂=0.4000</a:t>
            </a:r>
            <a:endParaRPr sz="1100" b="0" i="0" u="none" strike="noStrike" cap="none">
              <a:solidFill>
                <a:schemeClr val="dk1"/>
              </a:solidFill>
              <a:latin typeface="Calibri"/>
              <a:ea typeface="Calibri"/>
              <a:cs typeface="Calibri"/>
              <a:sym typeface="Calibri"/>
            </a:endParaRPr>
          </a:p>
        </p:txBody>
      </p:sp>
      <p:cxnSp>
        <p:nvCxnSpPr>
          <p:cNvPr id="2813" name="Google Shape;2813;h6f02bdc278a38c2b_0_222"/>
          <p:cNvCxnSpPr/>
          <p:nvPr/>
        </p:nvCxnSpPr>
        <p:spPr>
          <a:xfrm rot="10800000" flipH="1">
            <a:off x="2013329" y="2283762"/>
            <a:ext cx="1010400" cy="342900"/>
          </a:xfrm>
          <a:prstGeom prst="straightConnector1">
            <a:avLst/>
          </a:prstGeom>
          <a:noFill/>
          <a:ln w="19050" cap="flat" cmpd="sng">
            <a:solidFill>
              <a:srgbClr val="2E7D32"/>
            </a:solidFill>
            <a:prstDash val="solid"/>
            <a:round/>
            <a:headEnd type="none" w="sm" len="sm"/>
            <a:tailEnd type="none" w="sm" len="sm"/>
          </a:ln>
        </p:spPr>
      </p:cxnSp>
      <p:sp>
        <p:nvSpPr>
          <p:cNvPr id="2814" name="Google Shape;2814;h6f02bdc278a38c2b_0_222"/>
          <p:cNvSpPr/>
          <p:nvPr/>
        </p:nvSpPr>
        <p:spPr>
          <a:xfrm>
            <a:off x="2487479" y="2497612"/>
            <a:ext cx="941100" cy="1548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2E7D32"/>
                </a:solidFill>
                <a:latin typeface="Consolas"/>
                <a:ea typeface="Consolas"/>
                <a:cs typeface="Consolas"/>
                <a:sym typeface="Consolas"/>
              </a:rPr>
              <a:t>w₄=0.5000</a:t>
            </a:r>
            <a:endParaRPr sz="1100" b="0" i="0" u="none" strike="noStrike" cap="none">
              <a:solidFill>
                <a:srgbClr val="2E7D32"/>
              </a:solidFill>
              <a:latin typeface="Calibri"/>
              <a:ea typeface="Calibri"/>
              <a:cs typeface="Calibri"/>
              <a:sym typeface="Calibri"/>
            </a:endParaRPr>
          </a:p>
        </p:txBody>
      </p:sp>
      <p:sp>
        <p:nvSpPr>
          <p:cNvPr id="2815" name="Google Shape;2815;h6f02bdc278a38c2b_0_222"/>
          <p:cNvSpPr/>
          <p:nvPr/>
        </p:nvSpPr>
        <p:spPr>
          <a:xfrm>
            <a:off x="1810512" y="249631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1" i="0" u="none" strike="noStrike" cap="none">
                <a:solidFill>
                  <a:srgbClr val="FFFFFF"/>
                </a:solidFill>
                <a:latin typeface="Calibri"/>
                <a:ea typeface="Calibri"/>
                <a:cs typeface="Calibri"/>
                <a:sym typeface="Calibri"/>
              </a:rPr>
              <a:t>h₂</a:t>
            </a:r>
            <a:endParaRPr sz="1200" b="0" i="0" u="none" strike="noStrike" cap="none">
              <a:solidFill>
                <a:schemeClr val="dk1"/>
              </a:solidFill>
              <a:latin typeface="Calibri"/>
              <a:ea typeface="Calibri"/>
              <a:cs typeface="Calibri"/>
              <a:sym typeface="Calibri"/>
            </a:endParaRPr>
          </a:p>
        </p:txBody>
      </p:sp>
      <p:sp>
        <p:nvSpPr>
          <p:cNvPr id="2816" name="Google Shape;2816;h6f02bdc278a38c2b_0_222"/>
          <p:cNvSpPr/>
          <p:nvPr/>
        </p:nvSpPr>
        <p:spPr>
          <a:xfrm>
            <a:off x="1810512" y="270662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onsolas"/>
              <a:buNone/>
            </a:pPr>
            <a:r>
              <a:rPr lang="en" sz="900" b="0" i="0" u="none" strike="noStrike" cap="none">
                <a:solidFill>
                  <a:srgbClr val="FFFFFF"/>
                </a:solidFill>
                <a:latin typeface="Consolas"/>
                <a:ea typeface="Consolas"/>
                <a:cs typeface="Consolas"/>
                <a:sym typeface="Consolas"/>
              </a:rPr>
              <a:t>0.5987</a:t>
            </a:r>
            <a:endParaRPr sz="900" b="0" i="0" u="none" strike="noStrike" cap="none">
              <a:solidFill>
                <a:schemeClr val="dk1"/>
              </a:solidFill>
              <a:latin typeface="Calibri"/>
              <a:ea typeface="Calibri"/>
              <a:cs typeface="Calibri"/>
              <a:sym typeface="Calibri"/>
            </a:endParaRPr>
          </a:p>
        </p:txBody>
      </p:sp>
      <p:sp>
        <p:nvSpPr>
          <p:cNvPr id="2817" name="Google Shape;2817;h6f02bdc278a38c2b_0_222"/>
          <p:cNvSpPr/>
          <p:nvPr/>
        </p:nvSpPr>
        <p:spPr>
          <a:xfrm>
            <a:off x="1810512" y="2404872"/>
            <a:ext cx="585300" cy="585300"/>
          </a:xfrm>
          <a:prstGeom prst="ellipse">
            <a:avLst/>
          </a:prstGeom>
          <a:solidFill>
            <a:srgbClr val="2E7D32"/>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8" name="Google Shape;2818;h6f02bdc278a38c2b_0_222"/>
          <p:cNvSpPr/>
          <p:nvPr/>
        </p:nvSpPr>
        <p:spPr>
          <a:xfrm>
            <a:off x="1810512" y="249631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h₂</a:t>
            </a:r>
            <a:endParaRPr sz="1200" b="0" i="0" u="none" strike="noStrike" cap="none">
              <a:solidFill>
                <a:schemeClr val="dk1"/>
              </a:solidFill>
              <a:latin typeface="Calibri"/>
              <a:ea typeface="Calibri"/>
              <a:cs typeface="Calibri"/>
              <a:sym typeface="Calibri"/>
            </a:endParaRPr>
          </a:p>
        </p:txBody>
      </p:sp>
      <p:sp>
        <p:nvSpPr>
          <p:cNvPr id="2819" name="Google Shape;2819;h6f02bdc278a38c2b_0_222"/>
          <p:cNvSpPr/>
          <p:nvPr/>
        </p:nvSpPr>
        <p:spPr>
          <a:xfrm>
            <a:off x="1732971" y="2540682"/>
            <a:ext cx="694800" cy="503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1100" b="0" i="0" u="none" strike="noStrike" cap="none">
                <a:solidFill>
                  <a:schemeClr val="dk1"/>
                </a:solidFill>
                <a:latin typeface="Consolas"/>
                <a:ea typeface="Consolas"/>
                <a:cs typeface="Consolas"/>
                <a:sym typeface="Consolas"/>
              </a:rPr>
              <a:t>0.5987</a:t>
            </a:r>
            <a:endParaRPr sz="1100" b="0" i="0" u="none" strike="noStrike" cap="none">
              <a:solidFill>
                <a:schemeClr val="dk1"/>
              </a:solidFill>
              <a:latin typeface="Calibri"/>
              <a:ea typeface="Calibri"/>
              <a:cs typeface="Calibri"/>
              <a:sym typeface="Calibri"/>
            </a:endParaRPr>
          </a:p>
        </p:txBody>
      </p:sp>
      <p:pic>
        <p:nvPicPr>
          <p:cNvPr id="2820" name="Google Shape;2820;h6f02bdc278a38c2b_0_222"/>
          <p:cNvPicPr preferRelativeResize="0"/>
          <p:nvPr/>
        </p:nvPicPr>
        <p:blipFill rotWithShape="1">
          <a:blip r:embed="rId5">
            <a:alphaModFix/>
          </a:blip>
          <a:srcRect/>
          <a:stretch/>
        </p:blipFill>
        <p:spPr>
          <a:xfrm>
            <a:off x="1092699" y="4585577"/>
            <a:ext cx="2264475" cy="415500"/>
          </a:xfrm>
          <a:prstGeom prst="rect">
            <a:avLst/>
          </a:prstGeom>
          <a:noFill/>
          <a:ln>
            <a:noFill/>
          </a:ln>
        </p:spPr>
      </p:pic>
      <p:sp>
        <p:nvSpPr>
          <p:cNvPr id="2821" name="Google Shape;2821;h6f02bdc278a38c2b_0_222"/>
          <p:cNvSpPr txBox="1"/>
          <p:nvPr/>
        </p:nvSpPr>
        <p:spPr>
          <a:xfrm>
            <a:off x="8494000" y="4793500"/>
            <a:ext cx="500100" cy="249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8</a:t>
            </a:r>
            <a:r>
              <a:rPr lang="en" sz="1000">
                <a:solidFill>
                  <a:srgbClr val="8899AA"/>
                </a:solidFill>
              </a:rPr>
              <a:t>4</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26"/>
        <p:cNvGrpSpPr/>
        <p:nvPr/>
      </p:nvGrpSpPr>
      <p:grpSpPr>
        <a:xfrm>
          <a:off x="0" y="0"/>
          <a:ext cx="0" cy="0"/>
          <a:chOff x="0" y="0"/>
          <a:chExt cx="0" cy="0"/>
        </a:xfrm>
      </p:grpSpPr>
      <p:sp>
        <p:nvSpPr>
          <p:cNvPr id="2827" name="Google Shape;2827;g3f62c33a15b_2_131"/>
          <p:cNvSpPr/>
          <p:nvPr/>
        </p:nvSpPr>
        <p:spPr>
          <a:xfrm>
            <a:off x="2103120" y="164592"/>
            <a:ext cx="6675000" cy="402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2200"/>
              <a:buFont typeface="Calibri"/>
              <a:buNone/>
            </a:pPr>
            <a:r>
              <a:rPr lang="en" sz="2200" b="1" i="0" u="none" strike="noStrike" cap="none">
                <a:solidFill>
                  <a:srgbClr val="1E293B"/>
                </a:solidFill>
                <a:latin typeface="Calibri"/>
                <a:ea typeface="Calibri"/>
                <a:cs typeface="Calibri"/>
                <a:sym typeface="Calibri"/>
              </a:rPr>
              <a:t>Forward Pass — Step 1</a:t>
            </a:r>
            <a:endParaRPr sz="2200" b="0" i="0" u="none" strike="noStrike" cap="none">
              <a:solidFill>
                <a:schemeClr val="dk1"/>
              </a:solidFill>
              <a:latin typeface="Calibri"/>
              <a:ea typeface="Calibri"/>
              <a:cs typeface="Calibri"/>
              <a:sym typeface="Calibri"/>
            </a:endParaRPr>
          </a:p>
        </p:txBody>
      </p:sp>
      <p:sp>
        <p:nvSpPr>
          <p:cNvPr id="2828" name="Google Shape;2828;g3f62c33a15b_2_131"/>
          <p:cNvSpPr/>
          <p:nvPr/>
        </p:nvSpPr>
        <p:spPr>
          <a:xfrm>
            <a:off x="1787495" y="667577"/>
            <a:ext cx="66750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1200"/>
              <a:buFont typeface="Calibri"/>
              <a:buNone/>
            </a:pPr>
            <a:r>
              <a:rPr lang="en" sz="1500" b="0" i="0" u="none" strike="noStrike" cap="none">
                <a:solidFill>
                  <a:schemeClr val="dk1"/>
                </a:solidFill>
                <a:latin typeface="Calibri"/>
                <a:ea typeface="Calibri"/>
                <a:cs typeface="Calibri"/>
                <a:sym typeface="Calibri"/>
              </a:rPr>
              <a:t>Compute weighted sum z₁ and activation h₁</a:t>
            </a:r>
            <a:endParaRPr sz="1500" b="0" i="0" u="none" strike="noStrike" cap="none">
              <a:solidFill>
                <a:schemeClr val="dk1"/>
              </a:solidFill>
              <a:latin typeface="Calibri"/>
              <a:ea typeface="Calibri"/>
              <a:cs typeface="Calibri"/>
              <a:sym typeface="Calibri"/>
            </a:endParaRPr>
          </a:p>
        </p:txBody>
      </p:sp>
      <p:cxnSp>
        <p:nvCxnSpPr>
          <p:cNvPr id="2829" name="Google Shape;2829;g3f62c33a15b_2_131"/>
          <p:cNvCxnSpPr/>
          <p:nvPr/>
        </p:nvCxnSpPr>
        <p:spPr>
          <a:xfrm rot="10800000" flipH="1">
            <a:off x="777240" y="1508820"/>
            <a:ext cx="1326000" cy="594300"/>
          </a:xfrm>
          <a:prstGeom prst="straightConnector1">
            <a:avLst/>
          </a:prstGeom>
          <a:noFill/>
          <a:ln w="31750" cap="flat" cmpd="sng">
            <a:solidFill>
              <a:srgbClr val="0F6E56"/>
            </a:solidFill>
            <a:prstDash val="solid"/>
            <a:round/>
            <a:headEnd type="none" w="sm" len="sm"/>
            <a:tailEnd type="none" w="sm" len="sm"/>
          </a:ln>
        </p:spPr>
      </p:cxnSp>
      <p:sp>
        <p:nvSpPr>
          <p:cNvPr id="2830" name="Google Shape;2830;g3f62c33a15b_2_131"/>
          <p:cNvSpPr/>
          <p:nvPr/>
        </p:nvSpPr>
        <p:spPr>
          <a:xfrm>
            <a:off x="709309" y="1495372"/>
            <a:ext cx="1010400" cy="274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D9E75"/>
              </a:buClr>
              <a:buSzPts val="800"/>
              <a:buFont typeface="Consolas"/>
              <a:buNone/>
            </a:pPr>
            <a:r>
              <a:rPr lang="en" sz="1100" b="1" i="0" u="none" strike="noStrike" cap="none">
                <a:solidFill>
                  <a:srgbClr val="1D9E75"/>
                </a:solidFill>
                <a:latin typeface="Consolas"/>
                <a:ea typeface="Consolas"/>
                <a:cs typeface="Consolas"/>
                <a:sym typeface="Consolas"/>
              </a:rPr>
              <a:t>w₁=0.6000</a:t>
            </a:r>
            <a:endParaRPr sz="1100" b="0" i="0" u="none" strike="noStrike" cap="none">
              <a:solidFill>
                <a:schemeClr val="dk1"/>
              </a:solidFill>
              <a:latin typeface="Calibri"/>
              <a:ea typeface="Calibri"/>
              <a:cs typeface="Calibri"/>
              <a:sym typeface="Calibri"/>
            </a:endParaRPr>
          </a:p>
        </p:txBody>
      </p:sp>
      <p:cxnSp>
        <p:nvCxnSpPr>
          <p:cNvPr id="2831" name="Google Shape;2831;g3f62c33a15b_2_131"/>
          <p:cNvCxnSpPr/>
          <p:nvPr/>
        </p:nvCxnSpPr>
        <p:spPr>
          <a:xfrm>
            <a:off x="777240" y="2103120"/>
            <a:ext cx="1326000" cy="594300"/>
          </a:xfrm>
          <a:prstGeom prst="straightConnector1">
            <a:avLst/>
          </a:prstGeom>
          <a:noFill/>
          <a:ln w="10150" cap="flat" cmpd="sng">
            <a:solidFill>
              <a:srgbClr val="CBD5E1"/>
            </a:solidFill>
            <a:prstDash val="solid"/>
            <a:round/>
            <a:headEnd type="none" w="sm" len="sm"/>
            <a:tailEnd type="none" w="sm" len="sm"/>
          </a:ln>
        </p:spPr>
      </p:cxnSp>
      <p:sp>
        <p:nvSpPr>
          <p:cNvPr id="2832" name="Google Shape;2832;g3f62c33a15b_2_131"/>
          <p:cNvSpPr/>
          <p:nvPr/>
        </p:nvSpPr>
        <p:spPr>
          <a:xfrm>
            <a:off x="852750" y="2404876"/>
            <a:ext cx="934800" cy="159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w₂=0.4000</a:t>
            </a:r>
            <a:endParaRPr sz="1100" b="0" i="0" u="none" strike="noStrike" cap="none">
              <a:solidFill>
                <a:schemeClr val="dk1"/>
              </a:solidFill>
              <a:latin typeface="Calibri"/>
              <a:ea typeface="Calibri"/>
              <a:cs typeface="Calibri"/>
              <a:sym typeface="Calibri"/>
            </a:endParaRPr>
          </a:p>
        </p:txBody>
      </p:sp>
      <p:cxnSp>
        <p:nvCxnSpPr>
          <p:cNvPr id="2833" name="Google Shape;2833;g3f62c33a15b_2_131"/>
          <p:cNvCxnSpPr/>
          <p:nvPr/>
        </p:nvCxnSpPr>
        <p:spPr>
          <a:xfrm>
            <a:off x="2103120" y="1508760"/>
            <a:ext cx="1326000" cy="594300"/>
          </a:xfrm>
          <a:prstGeom prst="straightConnector1">
            <a:avLst/>
          </a:prstGeom>
          <a:noFill/>
          <a:ln w="10150" cap="flat" cmpd="sng">
            <a:solidFill>
              <a:srgbClr val="CBD5E1"/>
            </a:solidFill>
            <a:prstDash val="solid"/>
            <a:round/>
            <a:headEnd type="none" w="sm" len="sm"/>
            <a:tailEnd type="none" w="sm" len="sm"/>
          </a:ln>
        </p:spPr>
      </p:cxnSp>
      <p:sp>
        <p:nvSpPr>
          <p:cNvPr id="2834" name="Google Shape;2834;g3f62c33a15b_2_131"/>
          <p:cNvSpPr/>
          <p:nvPr/>
        </p:nvSpPr>
        <p:spPr>
          <a:xfrm>
            <a:off x="2418605" y="1623323"/>
            <a:ext cx="1010400" cy="237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w₃=0.8000</a:t>
            </a:r>
            <a:endParaRPr sz="1100" b="0" i="0" u="none" strike="noStrike" cap="none">
              <a:solidFill>
                <a:schemeClr val="dk1"/>
              </a:solidFill>
              <a:latin typeface="Calibri"/>
              <a:ea typeface="Calibri"/>
              <a:cs typeface="Calibri"/>
              <a:sym typeface="Calibri"/>
            </a:endParaRPr>
          </a:p>
        </p:txBody>
      </p:sp>
      <p:cxnSp>
        <p:nvCxnSpPr>
          <p:cNvPr id="2835" name="Google Shape;2835;g3f62c33a15b_2_131"/>
          <p:cNvCxnSpPr/>
          <p:nvPr/>
        </p:nvCxnSpPr>
        <p:spPr>
          <a:xfrm rot="10800000" flipH="1">
            <a:off x="2103120" y="2103180"/>
            <a:ext cx="1326000" cy="594300"/>
          </a:xfrm>
          <a:prstGeom prst="straightConnector1">
            <a:avLst/>
          </a:prstGeom>
          <a:noFill/>
          <a:ln w="10150" cap="flat" cmpd="sng">
            <a:solidFill>
              <a:srgbClr val="CBD5E1"/>
            </a:solidFill>
            <a:prstDash val="solid"/>
            <a:round/>
            <a:headEnd type="none" w="sm" len="sm"/>
            <a:tailEnd type="none" w="sm" len="sm"/>
          </a:ln>
        </p:spPr>
      </p:cxnSp>
      <p:sp>
        <p:nvSpPr>
          <p:cNvPr id="2836" name="Google Shape;2836;g3f62c33a15b_2_131"/>
          <p:cNvSpPr/>
          <p:nvPr/>
        </p:nvSpPr>
        <p:spPr>
          <a:xfrm>
            <a:off x="2418600" y="2308600"/>
            <a:ext cx="11220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w₄=0.5000</a:t>
            </a:r>
            <a:endParaRPr sz="1100" b="0" i="0" u="none" strike="noStrike" cap="none">
              <a:solidFill>
                <a:schemeClr val="dk1"/>
              </a:solidFill>
              <a:latin typeface="Calibri"/>
              <a:ea typeface="Calibri"/>
              <a:cs typeface="Calibri"/>
              <a:sym typeface="Calibri"/>
            </a:endParaRPr>
          </a:p>
        </p:txBody>
      </p:sp>
      <p:sp>
        <p:nvSpPr>
          <p:cNvPr id="2837" name="Google Shape;2837;g3f62c33a15b_2_131"/>
          <p:cNvSpPr/>
          <p:nvPr/>
        </p:nvSpPr>
        <p:spPr>
          <a:xfrm>
            <a:off x="484632" y="1810512"/>
            <a:ext cx="585300" cy="585300"/>
          </a:xfrm>
          <a:prstGeom prst="ellipse">
            <a:avLst/>
          </a:prstGeom>
          <a:solidFill>
            <a:srgbClr val="0F6E56"/>
          </a:solidFill>
          <a:ln w="254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8" name="Google Shape;2838;g3f62c33a15b_2_131"/>
          <p:cNvSpPr/>
          <p:nvPr/>
        </p:nvSpPr>
        <p:spPr>
          <a:xfrm>
            <a:off x="484632" y="190195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1" i="0" u="none" strike="noStrike" cap="none">
                <a:solidFill>
                  <a:srgbClr val="FFFFFF"/>
                </a:solidFill>
                <a:latin typeface="Calibri"/>
                <a:ea typeface="Calibri"/>
                <a:cs typeface="Calibri"/>
                <a:sym typeface="Calibri"/>
              </a:rPr>
              <a:t>x</a:t>
            </a:r>
            <a:endParaRPr sz="1200" b="0" i="0" u="none" strike="noStrike" cap="none">
              <a:solidFill>
                <a:schemeClr val="dk1"/>
              </a:solidFill>
              <a:latin typeface="Calibri"/>
              <a:ea typeface="Calibri"/>
              <a:cs typeface="Calibri"/>
              <a:sym typeface="Calibri"/>
            </a:endParaRPr>
          </a:p>
        </p:txBody>
      </p:sp>
      <p:sp>
        <p:nvSpPr>
          <p:cNvPr id="2839" name="Google Shape;2839;g3f62c33a15b_2_131"/>
          <p:cNvSpPr/>
          <p:nvPr/>
        </p:nvSpPr>
        <p:spPr>
          <a:xfrm>
            <a:off x="484632" y="211226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onsolas"/>
              <a:buNone/>
            </a:pPr>
            <a:r>
              <a:rPr lang="en" sz="900" b="0" i="0" u="none" strike="noStrike" cap="none">
                <a:solidFill>
                  <a:srgbClr val="FFFFFF"/>
                </a:solidFill>
                <a:latin typeface="Consolas"/>
                <a:ea typeface="Consolas"/>
                <a:cs typeface="Consolas"/>
                <a:sym typeface="Consolas"/>
              </a:rPr>
              <a:t>1.0</a:t>
            </a:r>
            <a:endParaRPr sz="900" b="0" i="0" u="none" strike="noStrike" cap="none">
              <a:solidFill>
                <a:schemeClr val="dk1"/>
              </a:solidFill>
              <a:latin typeface="Calibri"/>
              <a:ea typeface="Calibri"/>
              <a:cs typeface="Calibri"/>
              <a:sym typeface="Calibri"/>
            </a:endParaRPr>
          </a:p>
        </p:txBody>
      </p:sp>
      <p:sp>
        <p:nvSpPr>
          <p:cNvPr id="2840" name="Google Shape;2840;g3f62c33a15b_2_131"/>
          <p:cNvSpPr/>
          <p:nvPr/>
        </p:nvSpPr>
        <p:spPr>
          <a:xfrm>
            <a:off x="1810512" y="1216152"/>
            <a:ext cx="585300" cy="585300"/>
          </a:xfrm>
          <a:prstGeom prst="ellipse">
            <a:avLst/>
          </a:prstGeom>
          <a:solidFill>
            <a:srgbClr val="0F6E56"/>
          </a:solidFill>
          <a:ln w="254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1" name="Google Shape;2841;g3f62c33a15b_2_131"/>
          <p:cNvSpPr/>
          <p:nvPr/>
        </p:nvSpPr>
        <p:spPr>
          <a:xfrm>
            <a:off x="1810512" y="130759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1" i="0" u="none" strike="noStrike" cap="none">
                <a:solidFill>
                  <a:srgbClr val="FFFFFF"/>
                </a:solidFill>
                <a:latin typeface="Calibri"/>
                <a:ea typeface="Calibri"/>
                <a:cs typeface="Calibri"/>
                <a:sym typeface="Calibri"/>
              </a:rPr>
              <a:t>h₁</a:t>
            </a:r>
            <a:endParaRPr sz="1200" b="0" i="0" u="none" strike="noStrike" cap="none">
              <a:solidFill>
                <a:schemeClr val="dk1"/>
              </a:solidFill>
              <a:latin typeface="Calibri"/>
              <a:ea typeface="Calibri"/>
              <a:cs typeface="Calibri"/>
              <a:sym typeface="Calibri"/>
            </a:endParaRPr>
          </a:p>
        </p:txBody>
      </p:sp>
      <p:sp>
        <p:nvSpPr>
          <p:cNvPr id="2842" name="Google Shape;2842;g3f62c33a15b_2_131"/>
          <p:cNvSpPr/>
          <p:nvPr/>
        </p:nvSpPr>
        <p:spPr>
          <a:xfrm>
            <a:off x="1810512" y="151790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onsolas"/>
              <a:buNone/>
            </a:pPr>
            <a:r>
              <a:rPr lang="en" sz="900" b="0" i="0" u="none" strike="noStrike" cap="none">
                <a:solidFill>
                  <a:srgbClr val="FFFFFF"/>
                </a:solidFill>
                <a:latin typeface="Consolas"/>
                <a:ea typeface="Consolas"/>
                <a:cs typeface="Consolas"/>
                <a:sym typeface="Consolas"/>
              </a:rPr>
              <a:t>0.6457</a:t>
            </a:r>
            <a:endParaRPr sz="900" b="0" i="0" u="none" strike="noStrike" cap="none">
              <a:solidFill>
                <a:schemeClr val="dk1"/>
              </a:solidFill>
              <a:latin typeface="Calibri"/>
              <a:ea typeface="Calibri"/>
              <a:cs typeface="Calibri"/>
              <a:sym typeface="Calibri"/>
            </a:endParaRPr>
          </a:p>
        </p:txBody>
      </p:sp>
      <p:sp>
        <p:nvSpPr>
          <p:cNvPr id="2843" name="Google Shape;2843;g3f62c33a15b_2_131"/>
          <p:cNvSpPr/>
          <p:nvPr/>
        </p:nvSpPr>
        <p:spPr>
          <a:xfrm>
            <a:off x="1810512" y="2404872"/>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4" name="Google Shape;2844;g3f62c33a15b_2_131"/>
          <p:cNvSpPr/>
          <p:nvPr/>
        </p:nvSpPr>
        <p:spPr>
          <a:xfrm>
            <a:off x="1810512" y="249631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h₂</a:t>
            </a:r>
            <a:endParaRPr sz="1200" b="0" i="0" u="none" strike="noStrike" cap="none">
              <a:solidFill>
                <a:schemeClr val="dk1"/>
              </a:solidFill>
              <a:latin typeface="Calibri"/>
              <a:ea typeface="Calibri"/>
              <a:cs typeface="Calibri"/>
              <a:sym typeface="Calibri"/>
            </a:endParaRPr>
          </a:p>
        </p:txBody>
      </p:sp>
      <p:sp>
        <p:nvSpPr>
          <p:cNvPr id="2845" name="Google Shape;2845;g3f62c33a15b_2_131"/>
          <p:cNvSpPr/>
          <p:nvPr/>
        </p:nvSpPr>
        <p:spPr>
          <a:xfrm>
            <a:off x="1810512" y="270662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0.5987</a:t>
            </a:r>
            <a:endParaRPr sz="900" b="0" i="0" u="none" strike="noStrike" cap="none">
              <a:solidFill>
                <a:schemeClr val="dk1"/>
              </a:solidFill>
              <a:latin typeface="Calibri"/>
              <a:ea typeface="Calibri"/>
              <a:cs typeface="Calibri"/>
              <a:sym typeface="Calibri"/>
            </a:endParaRPr>
          </a:p>
        </p:txBody>
      </p:sp>
      <p:sp>
        <p:nvSpPr>
          <p:cNvPr id="2846" name="Google Shape;2846;g3f62c33a15b_2_131"/>
          <p:cNvSpPr/>
          <p:nvPr/>
        </p:nvSpPr>
        <p:spPr>
          <a:xfrm>
            <a:off x="3136392" y="1810512"/>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7" name="Google Shape;2847;g3f62c33a15b_2_131"/>
          <p:cNvSpPr/>
          <p:nvPr/>
        </p:nvSpPr>
        <p:spPr>
          <a:xfrm>
            <a:off x="3136392" y="190195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ŷ</a:t>
            </a:r>
            <a:endParaRPr sz="1200" b="0" i="0" u="none" strike="noStrike" cap="none">
              <a:solidFill>
                <a:schemeClr val="dk1"/>
              </a:solidFill>
              <a:latin typeface="Calibri"/>
              <a:ea typeface="Calibri"/>
              <a:cs typeface="Calibri"/>
              <a:sym typeface="Calibri"/>
            </a:endParaRPr>
          </a:p>
        </p:txBody>
      </p:sp>
      <p:sp>
        <p:nvSpPr>
          <p:cNvPr id="2848" name="Google Shape;2848;g3f62c33a15b_2_131"/>
          <p:cNvSpPr/>
          <p:nvPr/>
        </p:nvSpPr>
        <p:spPr>
          <a:xfrm>
            <a:off x="3136392" y="211226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0.6934</a:t>
            </a:r>
            <a:endParaRPr sz="900" b="0" i="0" u="none" strike="noStrike" cap="none">
              <a:solidFill>
                <a:schemeClr val="dk1"/>
              </a:solidFill>
              <a:latin typeface="Calibri"/>
              <a:ea typeface="Calibri"/>
              <a:cs typeface="Calibri"/>
              <a:sym typeface="Calibri"/>
            </a:endParaRPr>
          </a:p>
        </p:txBody>
      </p:sp>
      <p:sp>
        <p:nvSpPr>
          <p:cNvPr id="2849" name="Google Shape;2849;g3f62c33a15b_2_131"/>
          <p:cNvSpPr/>
          <p:nvPr/>
        </p:nvSpPr>
        <p:spPr>
          <a:xfrm>
            <a:off x="3794760" y="1993392"/>
            <a:ext cx="822900" cy="219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onsolas"/>
              <a:buNone/>
            </a:pPr>
            <a:r>
              <a:rPr lang="en" sz="1000" b="0" i="0" u="none" strike="noStrike" cap="none">
                <a:solidFill>
                  <a:srgbClr val="64748B"/>
                </a:solidFill>
                <a:latin typeface="Consolas"/>
                <a:ea typeface="Consolas"/>
                <a:cs typeface="Consolas"/>
                <a:sym typeface="Consolas"/>
              </a:rPr>
              <a:t>target y=1</a:t>
            </a:r>
            <a:endParaRPr sz="1000" b="0" i="0" u="none" strike="noStrike" cap="none">
              <a:solidFill>
                <a:schemeClr val="dk1"/>
              </a:solidFill>
              <a:latin typeface="Calibri"/>
              <a:ea typeface="Calibri"/>
              <a:cs typeface="Calibri"/>
              <a:sym typeface="Calibri"/>
            </a:endParaRPr>
          </a:p>
        </p:txBody>
      </p:sp>
      <p:sp>
        <p:nvSpPr>
          <p:cNvPr id="2850" name="Google Shape;2850;g3f62c33a15b_2_131"/>
          <p:cNvSpPr/>
          <p:nvPr/>
        </p:nvSpPr>
        <p:spPr>
          <a:xfrm>
            <a:off x="4663440" y="1005840"/>
            <a:ext cx="4206300" cy="310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D9E75"/>
              </a:buClr>
              <a:buSzPts val="1400"/>
              <a:buFont typeface="Calibri"/>
              <a:buNone/>
            </a:pPr>
            <a:r>
              <a:rPr lang="en" sz="1400" b="1" i="0" u="none" strike="noStrike" cap="none">
                <a:solidFill>
                  <a:schemeClr val="dk1"/>
                </a:solidFill>
                <a:latin typeface="Calibri"/>
                <a:ea typeface="Calibri"/>
                <a:cs typeface="Calibri"/>
                <a:sym typeface="Calibri"/>
              </a:rPr>
              <a:t>Hidden neuron 1</a:t>
            </a:r>
            <a:endParaRPr sz="1400" b="0" i="0" u="none" strike="noStrike" cap="none">
              <a:solidFill>
                <a:schemeClr val="dk1"/>
              </a:solidFill>
              <a:latin typeface="Calibri"/>
              <a:ea typeface="Calibri"/>
              <a:cs typeface="Calibri"/>
              <a:sym typeface="Calibri"/>
            </a:endParaRPr>
          </a:p>
        </p:txBody>
      </p:sp>
      <p:sp>
        <p:nvSpPr>
          <p:cNvPr id="2851" name="Google Shape;2851;g3f62c33a15b_2_131"/>
          <p:cNvSpPr/>
          <p:nvPr/>
        </p:nvSpPr>
        <p:spPr>
          <a:xfrm>
            <a:off x="4663440" y="1389888"/>
            <a:ext cx="4206300" cy="4023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2" name="Google Shape;2852;g3f62c33a15b_2_131"/>
          <p:cNvSpPr/>
          <p:nvPr/>
        </p:nvSpPr>
        <p:spPr>
          <a:xfrm>
            <a:off x="4773168" y="1389888"/>
            <a:ext cx="11886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z₁ =</a:t>
            </a:r>
            <a:endParaRPr sz="1400" b="0" i="0" u="none" strike="noStrike" cap="none">
              <a:solidFill>
                <a:schemeClr val="dk1"/>
              </a:solidFill>
              <a:latin typeface="Calibri"/>
              <a:ea typeface="Calibri"/>
              <a:cs typeface="Calibri"/>
              <a:sym typeface="Calibri"/>
            </a:endParaRPr>
          </a:p>
        </p:txBody>
      </p:sp>
      <p:sp>
        <p:nvSpPr>
          <p:cNvPr id="2853" name="Google Shape;2853;g3f62c33a15b_2_131"/>
          <p:cNvSpPr/>
          <p:nvPr/>
        </p:nvSpPr>
        <p:spPr>
          <a:xfrm>
            <a:off x="5961888" y="1389888"/>
            <a:ext cx="28347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chemeClr val="dk1"/>
                </a:solidFill>
                <a:latin typeface="Calibri"/>
                <a:ea typeface="Calibri"/>
                <a:cs typeface="Calibri"/>
                <a:sym typeface="Calibri"/>
              </a:rPr>
              <a:t>w₁ × x  =  0.6 × 1.0</a:t>
            </a:r>
            <a:endParaRPr sz="1400" b="0" i="0" u="none" strike="noStrike" cap="none">
              <a:solidFill>
                <a:schemeClr val="dk1"/>
              </a:solidFill>
              <a:latin typeface="Calibri"/>
              <a:ea typeface="Calibri"/>
              <a:cs typeface="Calibri"/>
              <a:sym typeface="Calibri"/>
            </a:endParaRPr>
          </a:p>
        </p:txBody>
      </p:sp>
      <p:sp>
        <p:nvSpPr>
          <p:cNvPr id="2854" name="Google Shape;2854;g3f62c33a15b_2_131"/>
          <p:cNvSpPr/>
          <p:nvPr/>
        </p:nvSpPr>
        <p:spPr>
          <a:xfrm>
            <a:off x="4663440" y="1865376"/>
            <a:ext cx="4206300" cy="4023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5" name="Google Shape;2855;g3f62c33a15b_2_131"/>
          <p:cNvSpPr/>
          <p:nvPr/>
        </p:nvSpPr>
        <p:spPr>
          <a:xfrm>
            <a:off x="4773168" y="1865376"/>
            <a:ext cx="11886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p:txBody>
      </p:sp>
      <p:sp>
        <p:nvSpPr>
          <p:cNvPr id="2856" name="Google Shape;2856;g3f62c33a15b_2_131"/>
          <p:cNvSpPr/>
          <p:nvPr/>
        </p:nvSpPr>
        <p:spPr>
          <a:xfrm>
            <a:off x="5961888" y="1865376"/>
            <a:ext cx="28347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chemeClr val="dk1"/>
                </a:solidFill>
                <a:latin typeface="Calibri"/>
                <a:ea typeface="Calibri"/>
                <a:cs typeface="Calibri"/>
                <a:sym typeface="Calibri"/>
              </a:rPr>
              <a:t>0.6000</a:t>
            </a:r>
            <a:endParaRPr sz="1400" b="0" i="0" u="none" strike="noStrike" cap="none">
              <a:solidFill>
                <a:schemeClr val="dk1"/>
              </a:solidFill>
              <a:latin typeface="Calibri"/>
              <a:ea typeface="Calibri"/>
              <a:cs typeface="Calibri"/>
              <a:sym typeface="Calibri"/>
            </a:endParaRPr>
          </a:p>
        </p:txBody>
      </p:sp>
      <p:sp>
        <p:nvSpPr>
          <p:cNvPr id="2857" name="Google Shape;2857;g3f62c33a15b_2_131"/>
          <p:cNvSpPr/>
          <p:nvPr/>
        </p:nvSpPr>
        <p:spPr>
          <a:xfrm>
            <a:off x="4663440" y="2395728"/>
            <a:ext cx="4206300" cy="4023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8" name="Google Shape;2858;g3f62c33a15b_2_131"/>
          <p:cNvSpPr/>
          <p:nvPr/>
        </p:nvSpPr>
        <p:spPr>
          <a:xfrm>
            <a:off x="4773168" y="2395728"/>
            <a:ext cx="11886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h₁ =</a:t>
            </a:r>
            <a:endParaRPr sz="1400" b="0" i="0" u="none" strike="noStrike" cap="none">
              <a:solidFill>
                <a:schemeClr val="dk1"/>
              </a:solidFill>
              <a:latin typeface="Calibri"/>
              <a:ea typeface="Calibri"/>
              <a:cs typeface="Calibri"/>
              <a:sym typeface="Calibri"/>
            </a:endParaRPr>
          </a:p>
        </p:txBody>
      </p:sp>
      <p:sp>
        <p:nvSpPr>
          <p:cNvPr id="2859" name="Google Shape;2859;g3f62c33a15b_2_131"/>
          <p:cNvSpPr/>
          <p:nvPr/>
        </p:nvSpPr>
        <p:spPr>
          <a:xfrm>
            <a:off x="5961888" y="2395728"/>
            <a:ext cx="28347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chemeClr val="dk1"/>
                </a:solidFill>
                <a:latin typeface="Calibri"/>
                <a:ea typeface="Calibri"/>
                <a:cs typeface="Calibri"/>
                <a:sym typeface="Calibri"/>
              </a:rPr>
              <a:t>σ(z₁)  =  1 / (1 + e⁻⁰·⁶)</a:t>
            </a:r>
            <a:endParaRPr sz="1400" b="0" i="0" u="none" strike="noStrike" cap="none">
              <a:solidFill>
                <a:schemeClr val="dk1"/>
              </a:solidFill>
              <a:latin typeface="Calibri"/>
              <a:ea typeface="Calibri"/>
              <a:cs typeface="Calibri"/>
              <a:sym typeface="Calibri"/>
            </a:endParaRPr>
          </a:p>
        </p:txBody>
      </p:sp>
      <p:sp>
        <p:nvSpPr>
          <p:cNvPr id="2860" name="Google Shape;2860;g3f62c33a15b_2_131"/>
          <p:cNvSpPr/>
          <p:nvPr/>
        </p:nvSpPr>
        <p:spPr>
          <a:xfrm>
            <a:off x="4663440" y="2871216"/>
            <a:ext cx="4206300" cy="502800"/>
          </a:xfrm>
          <a:prstGeom prst="rect">
            <a:avLst/>
          </a:prstGeom>
          <a:solidFill>
            <a:srgbClr val="E1F5EE"/>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1" name="Google Shape;2861;g3f62c33a15b_2_131"/>
          <p:cNvSpPr/>
          <p:nvPr/>
        </p:nvSpPr>
        <p:spPr>
          <a:xfrm>
            <a:off x="4773168" y="2871216"/>
            <a:ext cx="1188600" cy="502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p:txBody>
      </p:sp>
      <p:sp>
        <p:nvSpPr>
          <p:cNvPr id="2862" name="Google Shape;2862;g3f62c33a15b_2_131"/>
          <p:cNvSpPr/>
          <p:nvPr/>
        </p:nvSpPr>
        <p:spPr>
          <a:xfrm>
            <a:off x="5961888" y="2871216"/>
            <a:ext cx="2834700" cy="502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chemeClr val="dk1"/>
                </a:solidFill>
                <a:latin typeface="Calibri"/>
                <a:ea typeface="Calibri"/>
                <a:cs typeface="Calibri"/>
                <a:sym typeface="Calibri"/>
              </a:rPr>
              <a:t>0.6457</a:t>
            </a:r>
            <a:endParaRPr sz="1400" b="0" i="0" u="none" strike="noStrike" cap="none">
              <a:solidFill>
                <a:schemeClr val="dk1"/>
              </a:solidFill>
              <a:latin typeface="Calibri"/>
              <a:ea typeface="Calibri"/>
              <a:cs typeface="Calibri"/>
              <a:sym typeface="Calibri"/>
            </a:endParaRPr>
          </a:p>
        </p:txBody>
      </p:sp>
      <p:sp>
        <p:nvSpPr>
          <p:cNvPr id="2863" name="Google Shape;2863;g3f62c33a15b_2_131"/>
          <p:cNvSpPr/>
          <p:nvPr/>
        </p:nvSpPr>
        <p:spPr>
          <a:xfrm>
            <a:off x="4663440" y="3529584"/>
            <a:ext cx="1965900" cy="6585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4" name="Google Shape;2864;g3f62c33a15b_2_131"/>
          <p:cNvSpPr/>
          <p:nvPr/>
        </p:nvSpPr>
        <p:spPr>
          <a:xfrm>
            <a:off x="4754880" y="3593592"/>
            <a:ext cx="17832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900"/>
              <a:buFont typeface="Calibri"/>
              <a:buNone/>
            </a:pPr>
            <a:r>
              <a:rPr lang="en" sz="1400" b="0" i="0" u="none" strike="noStrike" cap="none">
                <a:solidFill>
                  <a:schemeClr val="dk1"/>
                </a:solidFill>
                <a:latin typeface="Calibri"/>
                <a:ea typeface="Calibri"/>
                <a:cs typeface="Calibri"/>
                <a:sym typeface="Calibri"/>
              </a:rPr>
              <a:t>z₁ (pre-activation)</a:t>
            </a:r>
            <a:endParaRPr sz="1400" b="0" i="0" u="none" strike="noStrike" cap="none">
              <a:solidFill>
                <a:schemeClr val="dk1"/>
              </a:solidFill>
              <a:latin typeface="Calibri"/>
              <a:ea typeface="Calibri"/>
              <a:cs typeface="Calibri"/>
              <a:sym typeface="Calibri"/>
            </a:endParaRPr>
          </a:p>
        </p:txBody>
      </p:sp>
      <p:sp>
        <p:nvSpPr>
          <p:cNvPr id="2865" name="Google Shape;2865;g3f62c33a15b_2_131"/>
          <p:cNvSpPr/>
          <p:nvPr/>
        </p:nvSpPr>
        <p:spPr>
          <a:xfrm>
            <a:off x="4754880" y="3822192"/>
            <a:ext cx="17832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600"/>
              <a:buFont typeface="Consolas"/>
              <a:buNone/>
            </a:pPr>
            <a:r>
              <a:rPr lang="en" sz="1600" b="1" i="0" u="none" strike="noStrike" cap="none">
                <a:solidFill>
                  <a:srgbClr val="1E293B"/>
                </a:solidFill>
                <a:latin typeface="Consolas"/>
                <a:ea typeface="Consolas"/>
                <a:cs typeface="Consolas"/>
                <a:sym typeface="Consolas"/>
              </a:rPr>
              <a:t>0.6000</a:t>
            </a:r>
            <a:endParaRPr sz="1600" b="0" i="0" u="none" strike="noStrike" cap="none">
              <a:solidFill>
                <a:schemeClr val="dk1"/>
              </a:solidFill>
              <a:latin typeface="Calibri"/>
              <a:ea typeface="Calibri"/>
              <a:cs typeface="Calibri"/>
              <a:sym typeface="Calibri"/>
            </a:endParaRPr>
          </a:p>
        </p:txBody>
      </p:sp>
      <p:sp>
        <p:nvSpPr>
          <p:cNvPr id="2866" name="Google Shape;2866;g3f62c33a15b_2_131"/>
          <p:cNvSpPr/>
          <p:nvPr/>
        </p:nvSpPr>
        <p:spPr>
          <a:xfrm>
            <a:off x="6766560" y="3529584"/>
            <a:ext cx="2011800" cy="6585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7" name="Google Shape;2867;g3f62c33a15b_2_131"/>
          <p:cNvSpPr/>
          <p:nvPr/>
        </p:nvSpPr>
        <p:spPr>
          <a:xfrm>
            <a:off x="6858000" y="3593592"/>
            <a:ext cx="18288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900"/>
              <a:buFont typeface="Calibri"/>
              <a:buNone/>
            </a:pPr>
            <a:r>
              <a:rPr lang="en" sz="1400" b="0" i="0" u="none" strike="noStrike" cap="none">
                <a:solidFill>
                  <a:schemeClr val="dk1"/>
                </a:solidFill>
                <a:latin typeface="Calibri"/>
                <a:ea typeface="Calibri"/>
                <a:cs typeface="Calibri"/>
                <a:sym typeface="Calibri"/>
              </a:rPr>
              <a:t>h₁ = σ(z₁)</a:t>
            </a:r>
            <a:endParaRPr sz="1400" b="0" i="0" u="none" strike="noStrike" cap="none">
              <a:solidFill>
                <a:schemeClr val="dk1"/>
              </a:solidFill>
              <a:latin typeface="Calibri"/>
              <a:ea typeface="Calibri"/>
              <a:cs typeface="Calibri"/>
              <a:sym typeface="Calibri"/>
            </a:endParaRPr>
          </a:p>
        </p:txBody>
      </p:sp>
      <p:sp>
        <p:nvSpPr>
          <p:cNvPr id="2868" name="Google Shape;2868;g3f62c33a15b_2_131"/>
          <p:cNvSpPr/>
          <p:nvPr/>
        </p:nvSpPr>
        <p:spPr>
          <a:xfrm>
            <a:off x="6858000" y="3822192"/>
            <a:ext cx="18288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D9E75"/>
              </a:buClr>
              <a:buSzPts val="1600"/>
              <a:buFont typeface="Consolas"/>
              <a:buNone/>
            </a:pPr>
            <a:r>
              <a:rPr lang="en" sz="1600" b="1" i="0" u="none" strike="noStrike" cap="none">
                <a:solidFill>
                  <a:srgbClr val="1D9E75"/>
                </a:solidFill>
                <a:latin typeface="Consolas"/>
                <a:ea typeface="Consolas"/>
                <a:cs typeface="Consolas"/>
                <a:sym typeface="Consolas"/>
              </a:rPr>
              <a:t>0.6457</a:t>
            </a:r>
            <a:endParaRPr sz="1600" b="0" i="0" u="none" strike="noStrike" cap="none">
              <a:solidFill>
                <a:schemeClr val="dk1"/>
              </a:solidFill>
              <a:latin typeface="Calibri"/>
              <a:ea typeface="Calibri"/>
              <a:cs typeface="Calibri"/>
              <a:sym typeface="Calibri"/>
            </a:endParaRPr>
          </a:p>
        </p:txBody>
      </p:sp>
      <p:sp>
        <p:nvSpPr>
          <p:cNvPr id="2869" name="Google Shape;2869;g3f62c33a15b_2_131"/>
          <p:cNvSpPr/>
          <p:nvPr/>
        </p:nvSpPr>
        <p:spPr>
          <a:xfrm>
            <a:off x="4663440" y="4315968"/>
            <a:ext cx="42063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000" b="0" i="1" u="none" strike="noStrike" cap="none">
                <a:solidFill>
                  <a:srgbClr val="64748B"/>
                </a:solidFill>
                <a:latin typeface="Calibri"/>
                <a:ea typeface="Calibri"/>
                <a:cs typeface="Calibri"/>
                <a:sym typeface="Calibri"/>
              </a:rPr>
              <a:t>Sigmoid squashes z₁=0.6 → h₁=0.6457. Because z₁ &gt; 0, h₁ &gt; 0.5.</a:t>
            </a:r>
            <a:endParaRPr sz="1000" b="0" i="0" u="none" strike="noStrike" cap="none">
              <a:solidFill>
                <a:schemeClr val="dk1"/>
              </a:solidFill>
              <a:latin typeface="Calibri"/>
              <a:ea typeface="Calibri"/>
              <a:cs typeface="Calibri"/>
              <a:sym typeface="Calibri"/>
            </a:endParaRPr>
          </a:p>
        </p:txBody>
      </p:sp>
      <p:pic>
        <p:nvPicPr>
          <p:cNvPr id="2870" name="Google Shape;2870;g3f62c33a15b_2_131"/>
          <p:cNvPicPr preferRelativeResize="0"/>
          <p:nvPr/>
        </p:nvPicPr>
        <p:blipFill rotWithShape="1">
          <a:blip r:embed="rId3">
            <a:alphaModFix/>
          </a:blip>
          <a:srcRect/>
          <a:stretch/>
        </p:blipFill>
        <p:spPr>
          <a:xfrm>
            <a:off x="8369125" y="0"/>
            <a:ext cx="774877" cy="867174"/>
          </a:xfrm>
          <a:prstGeom prst="rect">
            <a:avLst/>
          </a:prstGeom>
          <a:noFill/>
          <a:ln>
            <a:noFill/>
          </a:ln>
        </p:spPr>
      </p:pic>
      <p:pic>
        <p:nvPicPr>
          <p:cNvPr id="2871" name="Google Shape;2871;g3f62c33a15b_2_131"/>
          <p:cNvPicPr preferRelativeResize="0"/>
          <p:nvPr/>
        </p:nvPicPr>
        <p:blipFill rotWithShape="1">
          <a:blip r:embed="rId4">
            <a:alphaModFix/>
          </a:blip>
          <a:srcRect b="47266"/>
          <a:stretch/>
        </p:blipFill>
        <p:spPr>
          <a:xfrm>
            <a:off x="191075" y="3323725"/>
            <a:ext cx="2046884" cy="1297875"/>
          </a:xfrm>
          <a:prstGeom prst="rect">
            <a:avLst/>
          </a:prstGeom>
          <a:noFill/>
          <a:ln>
            <a:noFill/>
          </a:ln>
        </p:spPr>
      </p:pic>
      <p:pic>
        <p:nvPicPr>
          <p:cNvPr id="2872" name="Google Shape;2872;g3f62c33a15b_2_131"/>
          <p:cNvPicPr preferRelativeResize="0"/>
          <p:nvPr/>
        </p:nvPicPr>
        <p:blipFill rotWithShape="1">
          <a:blip r:embed="rId4">
            <a:alphaModFix/>
          </a:blip>
          <a:srcRect t="49947"/>
          <a:stretch/>
        </p:blipFill>
        <p:spPr>
          <a:xfrm>
            <a:off x="2102263" y="3241372"/>
            <a:ext cx="2156550" cy="1297872"/>
          </a:xfrm>
          <a:prstGeom prst="rect">
            <a:avLst/>
          </a:prstGeom>
          <a:noFill/>
          <a:ln>
            <a:noFill/>
          </a:ln>
        </p:spPr>
      </p:pic>
      <p:sp>
        <p:nvSpPr>
          <p:cNvPr id="2873" name="Google Shape;2873;g3f62c33a15b_2_131"/>
          <p:cNvSpPr txBox="1"/>
          <p:nvPr/>
        </p:nvSpPr>
        <p:spPr>
          <a:xfrm>
            <a:off x="449363" y="2939725"/>
            <a:ext cx="15303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0" i="0" u="none" strike="noStrike" cap="none">
                <a:solidFill>
                  <a:schemeClr val="dk2"/>
                </a:solidFill>
                <a:latin typeface="Arial"/>
                <a:ea typeface="Arial"/>
                <a:cs typeface="Arial"/>
                <a:sym typeface="Arial"/>
              </a:rPr>
              <a:t>Forward pass - </a:t>
            </a:r>
            <a:endParaRPr sz="1500" b="0" i="0" u="none" strike="noStrike" cap="none">
              <a:solidFill>
                <a:schemeClr val="dk2"/>
              </a:solidFill>
              <a:latin typeface="Arial"/>
              <a:ea typeface="Arial"/>
              <a:cs typeface="Arial"/>
              <a:sym typeface="Arial"/>
            </a:endParaRPr>
          </a:p>
        </p:txBody>
      </p:sp>
      <p:pic>
        <p:nvPicPr>
          <p:cNvPr id="2874" name="Google Shape;2874;g3f62c33a15b_2_131"/>
          <p:cNvPicPr preferRelativeResize="0"/>
          <p:nvPr/>
        </p:nvPicPr>
        <p:blipFill rotWithShape="1">
          <a:blip r:embed="rId5">
            <a:alphaModFix/>
          </a:blip>
          <a:srcRect/>
          <a:stretch/>
        </p:blipFill>
        <p:spPr>
          <a:xfrm>
            <a:off x="1092699" y="4585577"/>
            <a:ext cx="2264475" cy="415500"/>
          </a:xfrm>
          <a:prstGeom prst="rect">
            <a:avLst/>
          </a:prstGeom>
          <a:noFill/>
          <a:ln>
            <a:noFill/>
          </a:ln>
        </p:spPr>
      </p:pic>
      <p:sp>
        <p:nvSpPr>
          <p:cNvPr id="2875" name="Google Shape;2875;g3f62c33a15b_2_131"/>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8</a:t>
            </a:r>
            <a:r>
              <a:rPr lang="en" sz="1000">
                <a:solidFill>
                  <a:srgbClr val="8899AA"/>
                </a:solidFill>
              </a:rPr>
              <a:t>5</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80"/>
        <p:cNvGrpSpPr/>
        <p:nvPr/>
      </p:nvGrpSpPr>
      <p:grpSpPr>
        <a:xfrm>
          <a:off x="0" y="0"/>
          <a:ext cx="0" cy="0"/>
          <a:chOff x="0" y="0"/>
          <a:chExt cx="0" cy="0"/>
        </a:xfrm>
      </p:grpSpPr>
      <p:sp>
        <p:nvSpPr>
          <p:cNvPr id="2881" name="Google Shape;2881;g3f62c33a15b_2_183"/>
          <p:cNvSpPr/>
          <p:nvPr/>
        </p:nvSpPr>
        <p:spPr>
          <a:xfrm>
            <a:off x="2103120" y="164592"/>
            <a:ext cx="6675000" cy="402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2200"/>
              <a:buFont typeface="Calibri"/>
              <a:buNone/>
            </a:pPr>
            <a:r>
              <a:rPr lang="en" sz="2800" b="1" i="0" u="none" strike="noStrike" cap="none">
                <a:solidFill>
                  <a:srgbClr val="1E293B"/>
                </a:solidFill>
                <a:latin typeface="Calibri"/>
                <a:ea typeface="Calibri"/>
                <a:cs typeface="Calibri"/>
                <a:sym typeface="Calibri"/>
              </a:rPr>
              <a:t>Forward Pass — Step 2</a:t>
            </a:r>
            <a:endParaRPr sz="2800" b="0" i="0" u="none" strike="noStrike" cap="none">
              <a:solidFill>
                <a:schemeClr val="dk1"/>
              </a:solidFill>
              <a:latin typeface="Calibri"/>
              <a:ea typeface="Calibri"/>
              <a:cs typeface="Calibri"/>
              <a:sym typeface="Calibri"/>
            </a:endParaRPr>
          </a:p>
        </p:txBody>
      </p:sp>
      <p:sp>
        <p:nvSpPr>
          <p:cNvPr id="2882" name="Google Shape;2882;g3f62c33a15b_2_183"/>
          <p:cNvSpPr/>
          <p:nvPr/>
        </p:nvSpPr>
        <p:spPr>
          <a:xfrm>
            <a:off x="2103120" y="667577"/>
            <a:ext cx="66750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1200"/>
              <a:buFont typeface="Calibri"/>
              <a:buNone/>
            </a:pPr>
            <a:r>
              <a:rPr lang="en" sz="1600" b="0" i="0" u="none" strike="noStrike" cap="none">
                <a:solidFill>
                  <a:schemeClr val="dk1"/>
                </a:solidFill>
                <a:latin typeface="Calibri"/>
                <a:ea typeface="Calibri"/>
                <a:cs typeface="Calibri"/>
                <a:sym typeface="Calibri"/>
              </a:rPr>
              <a:t>Compute weighted sum z₂ and activation h₂</a:t>
            </a:r>
            <a:endParaRPr sz="1600" b="0" i="0" u="none" strike="noStrike" cap="none">
              <a:solidFill>
                <a:schemeClr val="dk1"/>
              </a:solidFill>
              <a:latin typeface="Calibri"/>
              <a:ea typeface="Calibri"/>
              <a:cs typeface="Calibri"/>
              <a:sym typeface="Calibri"/>
            </a:endParaRPr>
          </a:p>
        </p:txBody>
      </p:sp>
      <p:cxnSp>
        <p:nvCxnSpPr>
          <p:cNvPr id="2883" name="Google Shape;2883;g3f62c33a15b_2_183"/>
          <p:cNvCxnSpPr/>
          <p:nvPr/>
        </p:nvCxnSpPr>
        <p:spPr>
          <a:xfrm rot="10800000" flipH="1">
            <a:off x="777240" y="1508820"/>
            <a:ext cx="1326000" cy="594300"/>
          </a:xfrm>
          <a:prstGeom prst="straightConnector1">
            <a:avLst/>
          </a:prstGeom>
          <a:noFill/>
          <a:ln w="10150" cap="flat" cmpd="sng">
            <a:solidFill>
              <a:srgbClr val="CBD5E1"/>
            </a:solidFill>
            <a:prstDash val="solid"/>
            <a:round/>
            <a:headEnd type="none" w="sm" len="sm"/>
            <a:tailEnd type="none" w="sm" len="sm"/>
          </a:ln>
        </p:spPr>
      </p:cxnSp>
      <p:sp>
        <p:nvSpPr>
          <p:cNvPr id="2884" name="Google Shape;2884;g3f62c33a15b_2_183"/>
          <p:cNvSpPr/>
          <p:nvPr/>
        </p:nvSpPr>
        <p:spPr>
          <a:xfrm>
            <a:off x="964599" y="1659625"/>
            <a:ext cx="8229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w₁=0.6000</a:t>
            </a:r>
            <a:endParaRPr sz="1100" b="0" i="0" u="none" strike="noStrike" cap="none">
              <a:solidFill>
                <a:schemeClr val="dk1"/>
              </a:solidFill>
              <a:latin typeface="Calibri"/>
              <a:ea typeface="Calibri"/>
              <a:cs typeface="Calibri"/>
              <a:sym typeface="Calibri"/>
            </a:endParaRPr>
          </a:p>
        </p:txBody>
      </p:sp>
      <p:cxnSp>
        <p:nvCxnSpPr>
          <p:cNvPr id="2885" name="Google Shape;2885;g3f62c33a15b_2_183"/>
          <p:cNvCxnSpPr/>
          <p:nvPr/>
        </p:nvCxnSpPr>
        <p:spPr>
          <a:xfrm>
            <a:off x="777240" y="2103120"/>
            <a:ext cx="1326000" cy="594300"/>
          </a:xfrm>
          <a:prstGeom prst="straightConnector1">
            <a:avLst/>
          </a:prstGeom>
          <a:noFill/>
          <a:ln w="31750" cap="flat" cmpd="sng">
            <a:solidFill>
              <a:srgbClr val="0F6E56"/>
            </a:solidFill>
            <a:prstDash val="solid"/>
            <a:round/>
            <a:headEnd type="none" w="sm" len="sm"/>
            <a:tailEnd type="none" w="sm" len="sm"/>
          </a:ln>
        </p:spPr>
      </p:cxnSp>
      <p:sp>
        <p:nvSpPr>
          <p:cNvPr id="2886" name="Google Shape;2886;g3f62c33a15b_2_183"/>
          <p:cNvSpPr/>
          <p:nvPr/>
        </p:nvSpPr>
        <p:spPr>
          <a:xfrm>
            <a:off x="1092697" y="2254000"/>
            <a:ext cx="9387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D9E75"/>
              </a:buClr>
              <a:buSzPts val="800"/>
              <a:buFont typeface="Consolas"/>
              <a:buNone/>
            </a:pPr>
            <a:r>
              <a:rPr lang="en" sz="1100" b="1" i="0" u="none" strike="noStrike" cap="none">
                <a:solidFill>
                  <a:srgbClr val="1D9E75"/>
                </a:solidFill>
                <a:latin typeface="Consolas"/>
                <a:ea typeface="Consolas"/>
                <a:cs typeface="Consolas"/>
                <a:sym typeface="Consolas"/>
              </a:rPr>
              <a:t>w₂=0.4000</a:t>
            </a:r>
            <a:endParaRPr sz="1100" b="0" i="0" u="none" strike="noStrike" cap="none">
              <a:solidFill>
                <a:schemeClr val="dk1"/>
              </a:solidFill>
              <a:latin typeface="Calibri"/>
              <a:ea typeface="Calibri"/>
              <a:cs typeface="Calibri"/>
              <a:sym typeface="Calibri"/>
            </a:endParaRPr>
          </a:p>
        </p:txBody>
      </p:sp>
      <p:cxnSp>
        <p:nvCxnSpPr>
          <p:cNvPr id="2887" name="Google Shape;2887;g3f62c33a15b_2_183"/>
          <p:cNvCxnSpPr/>
          <p:nvPr/>
        </p:nvCxnSpPr>
        <p:spPr>
          <a:xfrm>
            <a:off x="2103120" y="1508760"/>
            <a:ext cx="1326000" cy="594300"/>
          </a:xfrm>
          <a:prstGeom prst="straightConnector1">
            <a:avLst/>
          </a:prstGeom>
          <a:noFill/>
          <a:ln w="10150" cap="flat" cmpd="sng">
            <a:solidFill>
              <a:srgbClr val="CBD5E1"/>
            </a:solidFill>
            <a:prstDash val="solid"/>
            <a:round/>
            <a:headEnd type="none" w="sm" len="sm"/>
            <a:tailEnd type="none" w="sm" len="sm"/>
          </a:ln>
        </p:spPr>
      </p:cxnSp>
      <p:sp>
        <p:nvSpPr>
          <p:cNvPr id="2888" name="Google Shape;2888;g3f62c33a15b_2_183"/>
          <p:cNvSpPr/>
          <p:nvPr/>
        </p:nvSpPr>
        <p:spPr>
          <a:xfrm>
            <a:off x="2418604" y="1659625"/>
            <a:ext cx="9387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w₃=0.8000</a:t>
            </a:r>
            <a:endParaRPr sz="1100" b="0" i="0" u="none" strike="noStrike" cap="none">
              <a:solidFill>
                <a:schemeClr val="dk1"/>
              </a:solidFill>
              <a:latin typeface="Calibri"/>
              <a:ea typeface="Calibri"/>
              <a:cs typeface="Calibri"/>
              <a:sym typeface="Calibri"/>
            </a:endParaRPr>
          </a:p>
        </p:txBody>
      </p:sp>
      <p:cxnSp>
        <p:nvCxnSpPr>
          <p:cNvPr id="2889" name="Google Shape;2889;g3f62c33a15b_2_183"/>
          <p:cNvCxnSpPr/>
          <p:nvPr/>
        </p:nvCxnSpPr>
        <p:spPr>
          <a:xfrm rot="10800000" flipH="1">
            <a:off x="2103120" y="2103180"/>
            <a:ext cx="1326000" cy="594300"/>
          </a:xfrm>
          <a:prstGeom prst="straightConnector1">
            <a:avLst/>
          </a:prstGeom>
          <a:noFill/>
          <a:ln w="10150" cap="flat" cmpd="sng">
            <a:solidFill>
              <a:srgbClr val="CBD5E1"/>
            </a:solidFill>
            <a:prstDash val="solid"/>
            <a:round/>
            <a:headEnd type="none" w="sm" len="sm"/>
            <a:tailEnd type="none" w="sm" len="sm"/>
          </a:ln>
        </p:spPr>
      </p:cxnSp>
      <p:sp>
        <p:nvSpPr>
          <p:cNvPr id="2890" name="Google Shape;2890;g3f62c33a15b_2_183"/>
          <p:cNvSpPr/>
          <p:nvPr/>
        </p:nvSpPr>
        <p:spPr>
          <a:xfrm>
            <a:off x="2174700" y="2254000"/>
            <a:ext cx="9387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w₄=0.5000</a:t>
            </a:r>
            <a:endParaRPr sz="1100" b="0" i="0" u="none" strike="noStrike" cap="none">
              <a:solidFill>
                <a:schemeClr val="dk1"/>
              </a:solidFill>
              <a:latin typeface="Calibri"/>
              <a:ea typeface="Calibri"/>
              <a:cs typeface="Calibri"/>
              <a:sym typeface="Calibri"/>
            </a:endParaRPr>
          </a:p>
        </p:txBody>
      </p:sp>
      <p:sp>
        <p:nvSpPr>
          <p:cNvPr id="2891" name="Google Shape;2891;g3f62c33a15b_2_183"/>
          <p:cNvSpPr/>
          <p:nvPr/>
        </p:nvSpPr>
        <p:spPr>
          <a:xfrm>
            <a:off x="484632" y="1810512"/>
            <a:ext cx="585300" cy="585300"/>
          </a:xfrm>
          <a:prstGeom prst="ellipse">
            <a:avLst/>
          </a:prstGeom>
          <a:solidFill>
            <a:srgbClr val="0F6E56"/>
          </a:solidFill>
          <a:ln w="254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2" name="Google Shape;2892;g3f62c33a15b_2_183"/>
          <p:cNvSpPr/>
          <p:nvPr/>
        </p:nvSpPr>
        <p:spPr>
          <a:xfrm>
            <a:off x="484632" y="190195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1" i="0" u="none" strike="noStrike" cap="none">
                <a:solidFill>
                  <a:srgbClr val="FFFFFF"/>
                </a:solidFill>
                <a:latin typeface="Calibri"/>
                <a:ea typeface="Calibri"/>
                <a:cs typeface="Calibri"/>
                <a:sym typeface="Calibri"/>
              </a:rPr>
              <a:t>x</a:t>
            </a:r>
            <a:endParaRPr sz="1200" b="0" i="0" u="none" strike="noStrike" cap="none">
              <a:solidFill>
                <a:schemeClr val="dk1"/>
              </a:solidFill>
              <a:latin typeface="Calibri"/>
              <a:ea typeface="Calibri"/>
              <a:cs typeface="Calibri"/>
              <a:sym typeface="Calibri"/>
            </a:endParaRPr>
          </a:p>
        </p:txBody>
      </p:sp>
      <p:sp>
        <p:nvSpPr>
          <p:cNvPr id="2893" name="Google Shape;2893;g3f62c33a15b_2_183"/>
          <p:cNvSpPr/>
          <p:nvPr/>
        </p:nvSpPr>
        <p:spPr>
          <a:xfrm>
            <a:off x="484632" y="211226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onsolas"/>
              <a:buNone/>
            </a:pPr>
            <a:r>
              <a:rPr lang="en" sz="900" b="0" i="0" u="none" strike="noStrike" cap="none">
                <a:solidFill>
                  <a:srgbClr val="FFFFFF"/>
                </a:solidFill>
                <a:latin typeface="Consolas"/>
                <a:ea typeface="Consolas"/>
                <a:cs typeface="Consolas"/>
                <a:sym typeface="Consolas"/>
              </a:rPr>
              <a:t>1.0</a:t>
            </a:r>
            <a:endParaRPr sz="900" b="0" i="0" u="none" strike="noStrike" cap="none">
              <a:solidFill>
                <a:schemeClr val="dk1"/>
              </a:solidFill>
              <a:latin typeface="Calibri"/>
              <a:ea typeface="Calibri"/>
              <a:cs typeface="Calibri"/>
              <a:sym typeface="Calibri"/>
            </a:endParaRPr>
          </a:p>
        </p:txBody>
      </p:sp>
      <p:sp>
        <p:nvSpPr>
          <p:cNvPr id="2894" name="Google Shape;2894;g3f62c33a15b_2_183"/>
          <p:cNvSpPr/>
          <p:nvPr/>
        </p:nvSpPr>
        <p:spPr>
          <a:xfrm>
            <a:off x="1810512" y="1216152"/>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5" name="Google Shape;2895;g3f62c33a15b_2_183"/>
          <p:cNvSpPr/>
          <p:nvPr/>
        </p:nvSpPr>
        <p:spPr>
          <a:xfrm>
            <a:off x="1810512" y="130759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h₁</a:t>
            </a:r>
            <a:endParaRPr sz="1200" b="0" i="0" u="none" strike="noStrike" cap="none">
              <a:solidFill>
                <a:schemeClr val="dk1"/>
              </a:solidFill>
              <a:latin typeface="Calibri"/>
              <a:ea typeface="Calibri"/>
              <a:cs typeface="Calibri"/>
              <a:sym typeface="Calibri"/>
            </a:endParaRPr>
          </a:p>
        </p:txBody>
      </p:sp>
      <p:sp>
        <p:nvSpPr>
          <p:cNvPr id="2896" name="Google Shape;2896;g3f62c33a15b_2_183"/>
          <p:cNvSpPr/>
          <p:nvPr/>
        </p:nvSpPr>
        <p:spPr>
          <a:xfrm>
            <a:off x="1810512" y="151790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0.6457</a:t>
            </a:r>
            <a:endParaRPr sz="900" b="0" i="0" u="none" strike="noStrike" cap="none">
              <a:solidFill>
                <a:schemeClr val="dk1"/>
              </a:solidFill>
              <a:latin typeface="Calibri"/>
              <a:ea typeface="Calibri"/>
              <a:cs typeface="Calibri"/>
              <a:sym typeface="Calibri"/>
            </a:endParaRPr>
          </a:p>
        </p:txBody>
      </p:sp>
      <p:sp>
        <p:nvSpPr>
          <p:cNvPr id="2897" name="Google Shape;2897;g3f62c33a15b_2_183"/>
          <p:cNvSpPr/>
          <p:nvPr/>
        </p:nvSpPr>
        <p:spPr>
          <a:xfrm>
            <a:off x="1810512" y="2404872"/>
            <a:ext cx="585300" cy="585300"/>
          </a:xfrm>
          <a:prstGeom prst="ellipse">
            <a:avLst/>
          </a:prstGeom>
          <a:solidFill>
            <a:srgbClr val="0F6E56"/>
          </a:solidFill>
          <a:ln w="254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8" name="Google Shape;2898;g3f62c33a15b_2_183"/>
          <p:cNvSpPr/>
          <p:nvPr/>
        </p:nvSpPr>
        <p:spPr>
          <a:xfrm>
            <a:off x="1810512" y="249631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1" i="0" u="none" strike="noStrike" cap="none">
                <a:solidFill>
                  <a:srgbClr val="FFFFFF"/>
                </a:solidFill>
                <a:latin typeface="Calibri"/>
                <a:ea typeface="Calibri"/>
                <a:cs typeface="Calibri"/>
                <a:sym typeface="Calibri"/>
              </a:rPr>
              <a:t>h₂</a:t>
            </a:r>
            <a:endParaRPr sz="1200" b="0" i="0" u="none" strike="noStrike" cap="none">
              <a:solidFill>
                <a:schemeClr val="dk1"/>
              </a:solidFill>
              <a:latin typeface="Calibri"/>
              <a:ea typeface="Calibri"/>
              <a:cs typeface="Calibri"/>
              <a:sym typeface="Calibri"/>
            </a:endParaRPr>
          </a:p>
        </p:txBody>
      </p:sp>
      <p:sp>
        <p:nvSpPr>
          <p:cNvPr id="2899" name="Google Shape;2899;g3f62c33a15b_2_183"/>
          <p:cNvSpPr/>
          <p:nvPr/>
        </p:nvSpPr>
        <p:spPr>
          <a:xfrm>
            <a:off x="1810512" y="270662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onsolas"/>
              <a:buNone/>
            </a:pPr>
            <a:r>
              <a:rPr lang="en" sz="900" b="0" i="0" u="none" strike="noStrike" cap="none">
                <a:solidFill>
                  <a:srgbClr val="FFFFFF"/>
                </a:solidFill>
                <a:latin typeface="Consolas"/>
                <a:ea typeface="Consolas"/>
                <a:cs typeface="Consolas"/>
                <a:sym typeface="Consolas"/>
              </a:rPr>
              <a:t>0.5987</a:t>
            </a:r>
            <a:endParaRPr sz="900" b="0" i="0" u="none" strike="noStrike" cap="none">
              <a:solidFill>
                <a:schemeClr val="dk1"/>
              </a:solidFill>
              <a:latin typeface="Calibri"/>
              <a:ea typeface="Calibri"/>
              <a:cs typeface="Calibri"/>
              <a:sym typeface="Calibri"/>
            </a:endParaRPr>
          </a:p>
        </p:txBody>
      </p:sp>
      <p:sp>
        <p:nvSpPr>
          <p:cNvPr id="2900" name="Google Shape;2900;g3f62c33a15b_2_183"/>
          <p:cNvSpPr/>
          <p:nvPr/>
        </p:nvSpPr>
        <p:spPr>
          <a:xfrm>
            <a:off x="3136392" y="1810512"/>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1" name="Google Shape;2901;g3f62c33a15b_2_183"/>
          <p:cNvSpPr/>
          <p:nvPr/>
        </p:nvSpPr>
        <p:spPr>
          <a:xfrm>
            <a:off x="3136392" y="190195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ŷ</a:t>
            </a:r>
            <a:endParaRPr sz="1200" b="0" i="0" u="none" strike="noStrike" cap="none">
              <a:solidFill>
                <a:schemeClr val="dk1"/>
              </a:solidFill>
              <a:latin typeface="Calibri"/>
              <a:ea typeface="Calibri"/>
              <a:cs typeface="Calibri"/>
              <a:sym typeface="Calibri"/>
            </a:endParaRPr>
          </a:p>
        </p:txBody>
      </p:sp>
      <p:sp>
        <p:nvSpPr>
          <p:cNvPr id="2902" name="Google Shape;2902;g3f62c33a15b_2_183"/>
          <p:cNvSpPr/>
          <p:nvPr/>
        </p:nvSpPr>
        <p:spPr>
          <a:xfrm>
            <a:off x="3136392" y="211226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0.6934</a:t>
            </a:r>
            <a:endParaRPr sz="900" b="0" i="0" u="none" strike="noStrike" cap="none">
              <a:solidFill>
                <a:schemeClr val="dk1"/>
              </a:solidFill>
              <a:latin typeface="Calibri"/>
              <a:ea typeface="Calibri"/>
              <a:cs typeface="Calibri"/>
              <a:sym typeface="Calibri"/>
            </a:endParaRPr>
          </a:p>
        </p:txBody>
      </p:sp>
      <p:sp>
        <p:nvSpPr>
          <p:cNvPr id="2903" name="Google Shape;2903;g3f62c33a15b_2_183"/>
          <p:cNvSpPr/>
          <p:nvPr/>
        </p:nvSpPr>
        <p:spPr>
          <a:xfrm>
            <a:off x="3794760" y="1993392"/>
            <a:ext cx="822900" cy="219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onsolas"/>
              <a:buNone/>
            </a:pPr>
            <a:r>
              <a:rPr lang="en" sz="1000" b="0" i="0" u="none" strike="noStrike" cap="none">
                <a:solidFill>
                  <a:srgbClr val="64748B"/>
                </a:solidFill>
                <a:latin typeface="Consolas"/>
                <a:ea typeface="Consolas"/>
                <a:cs typeface="Consolas"/>
                <a:sym typeface="Consolas"/>
              </a:rPr>
              <a:t>target y=1</a:t>
            </a:r>
            <a:endParaRPr sz="1000" b="0" i="0" u="none" strike="noStrike" cap="none">
              <a:solidFill>
                <a:schemeClr val="dk1"/>
              </a:solidFill>
              <a:latin typeface="Calibri"/>
              <a:ea typeface="Calibri"/>
              <a:cs typeface="Calibri"/>
              <a:sym typeface="Calibri"/>
            </a:endParaRPr>
          </a:p>
        </p:txBody>
      </p:sp>
      <p:sp>
        <p:nvSpPr>
          <p:cNvPr id="2904" name="Google Shape;2904;g3f62c33a15b_2_183"/>
          <p:cNvSpPr/>
          <p:nvPr/>
        </p:nvSpPr>
        <p:spPr>
          <a:xfrm>
            <a:off x="4663440" y="1005840"/>
            <a:ext cx="4206300" cy="310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D9E75"/>
              </a:buClr>
              <a:buSzPts val="1400"/>
              <a:buFont typeface="Calibri"/>
              <a:buNone/>
            </a:pPr>
            <a:r>
              <a:rPr lang="en" sz="1400" b="1" i="0" u="none" strike="noStrike" cap="none">
                <a:solidFill>
                  <a:schemeClr val="dk1"/>
                </a:solidFill>
                <a:latin typeface="Calibri"/>
                <a:ea typeface="Calibri"/>
                <a:cs typeface="Calibri"/>
                <a:sym typeface="Calibri"/>
              </a:rPr>
              <a:t>Hidden neuron 2</a:t>
            </a:r>
            <a:endParaRPr sz="1400" b="0" i="0" u="none" strike="noStrike" cap="none">
              <a:solidFill>
                <a:schemeClr val="dk1"/>
              </a:solidFill>
              <a:latin typeface="Calibri"/>
              <a:ea typeface="Calibri"/>
              <a:cs typeface="Calibri"/>
              <a:sym typeface="Calibri"/>
            </a:endParaRPr>
          </a:p>
        </p:txBody>
      </p:sp>
      <p:sp>
        <p:nvSpPr>
          <p:cNvPr id="2905" name="Google Shape;2905;g3f62c33a15b_2_183"/>
          <p:cNvSpPr/>
          <p:nvPr/>
        </p:nvSpPr>
        <p:spPr>
          <a:xfrm>
            <a:off x="4663440" y="1389888"/>
            <a:ext cx="4206300" cy="4023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6" name="Google Shape;2906;g3f62c33a15b_2_183"/>
          <p:cNvSpPr/>
          <p:nvPr/>
        </p:nvSpPr>
        <p:spPr>
          <a:xfrm>
            <a:off x="4773168" y="1389888"/>
            <a:ext cx="11886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z₂ =</a:t>
            </a:r>
            <a:endParaRPr sz="1400" b="0" i="0" u="none" strike="noStrike" cap="none">
              <a:solidFill>
                <a:schemeClr val="dk1"/>
              </a:solidFill>
              <a:latin typeface="Calibri"/>
              <a:ea typeface="Calibri"/>
              <a:cs typeface="Calibri"/>
              <a:sym typeface="Calibri"/>
            </a:endParaRPr>
          </a:p>
        </p:txBody>
      </p:sp>
      <p:sp>
        <p:nvSpPr>
          <p:cNvPr id="2907" name="Google Shape;2907;g3f62c33a15b_2_183"/>
          <p:cNvSpPr/>
          <p:nvPr/>
        </p:nvSpPr>
        <p:spPr>
          <a:xfrm>
            <a:off x="5961888" y="1389888"/>
            <a:ext cx="28347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chemeClr val="dk1"/>
                </a:solidFill>
                <a:latin typeface="Calibri"/>
                <a:ea typeface="Calibri"/>
                <a:cs typeface="Calibri"/>
                <a:sym typeface="Calibri"/>
              </a:rPr>
              <a:t>w₂ × x  =  0.4 × 1.0</a:t>
            </a:r>
            <a:endParaRPr sz="1400" b="0" i="0" u="none" strike="noStrike" cap="none">
              <a:solidFill>
                <a:schemeClr val="dk1"/>
              </a:solidFill>
              <a:latin typeface="Calibri"/>
              <a:ea typeface="Calibri"/>
              <a:cs typeface="Calibri"/>
              <a:sym typeface="Calibri"/>
            </a:endParaRPr>
          </a:p>
        </p:txBody>
      </p:sp>
      <p:sp>
        <p:nvSpPr>
          <p:cNvPr id="2908" name="Google Shape;2908;g3f62c33a15b_2_183"/>
          <p:cNvSpPr/>
          <p:nvPr/>
        </p:nvSpPr>
        <p:spPr>
          <a:xfrm>
            <a:off x="4663440" y="1865376"/>
            <a:ext cx="4206300" cy="4023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9" name="Google Shape;2909;g3f62c33a15b_2_183"/>
          <p:cNvSpPr/>
          <p:nvPr/>
        </p:nvSpPr>
        <p:spPr>
          <a:xfrm>
            <a:off x="4773168" y="1865376"/>
            <a:ext cx="11886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p:txBody>
      </p:sp>
      <p:sp>
        <p:nvSpPr>
          <p:cNvPr id="2910" name="Google Shape;2910;g3f62c33a15b_2_183"/>
          <p:cNvSpPr/>
          <p:nvPr/>
        </p:nvSpPr>
        <p:spPr>
          <a:xfrm>
            <a:off x="5961888" y="1865376"/>
            <a:ext cx="28347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chemeClr val="dk1"/>
                </a:solidFill>
                <a:latin typeface="Calibri"/>
                <a:ea typeface="Calibri"/>
                <a:cs typeface="Calibri"/>
                <a:sym typeface="Calibri"/>
              </a:rPr>
              <a:t>0.4000</a:t>
            </a:r>
            <a:endParaRPr sz="1400" b="0" i="0" u="none" strike="noStrike" cap="none">
              <a:solidFill>
                <a:schemeClr val="dk1"/>
              </a:solidFill>
              <a:latin typeface="Calibri"/>
              <a:ea typeface="Calibri"/>
              <a:cs typeface="Calibri"/>
              <a:sym typeface="Calibri"/>
            </a:endParaRPr>
          </a:p>
        </p:txBody>
      </p:sp>
      <p:sp>
        <p:nvSpPr>
          <p:cNvPr id="2911" name="Google Shape;2911;g3f62c33a15b_2_183"/>
          <p:cNvSpPr/>
          <p:nvPr/>
        </p:nvSpPr>
        <p:spPr>
          <a:xfrm>
            <a:off x="4663440" y="2395728"/>
            <a:ext cx="4206300" cy="4023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2" name="Google Shape;2912;g3f62c33a15b_2_183"/>
          <p:cNvSpPr/>
          <p:nvPr/>
        </p:nvSpPr>
        <p:spPr>
          <a:xfrm>
            <a:off x="4773168" y="2395728"/>
            <a:ext cx="11886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h₂ =</a:t>
            </a:r>
            <a:endParaRPr sz="1400" b="0" i="0" u="none" strike="noStrike" cap="none">
              <a:solidFill>
                <a:schemeClr val="dk1"/>
              </a:solidFill>
              <a:latin typeface="Calibri"/>
              <a:ea typeface="Calibri"/>
              <a:cs typeface="Calibri"/>
              <a:sym typeface="Calibri"/>
            </a:endParaRPr>
          </a:p>
        </p:txBody>
      </p:sp>
      <p:sp>
        <p:nvSpPr>
          <p:cNvPr id="2913" name="Google Shape;2913;g3f62c33a15b_2_183"/>
          <p:cNvSpPr/>
          <p:nvPr/>
        </p:nvSpPr>
        <p:spPr>
          <a:xfrm>
            <a:off x="5961888" y="2395728"/>
            <a:ext cx="28347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chemeClr val="dk1"/>
                </a:solidFill>
                <a:latin typeface="Calibri"/>
                <a:ea typeface="Calibri"/>
                <a:cs typeface="Calibri"/>
                <a:sym typeface="Calibri"/>
              </a:rPr>
              <a:t>σ(z₂)  =  1 / (1 + e⁻⁰·⁴)</a:t>
            </a:r>
            <a:endParaRPr sz="1400" b="0" i="0" u="none" strike="noStrike" cap="none">
              <a:solidFill>
                <a:schemeClr val="dk1"/>
              </a:solidFill>
              <a:latin typeface="Calibri"/>
              <a:ea typeface="Calibri"/>
              <a:cs typeface="Calibri"/>
              <a:sym typeface="Calibri"/>
            </a:endParaRPr>
          </a:p>
        </p:txBody>
      </p:sp>
      <p:sp>
        <p:nvSpPr>
          <p:cNvPr id="2914" name="Google Shape;2914;g3f62c33a15b_2_183"/>
          <p:cNvSpPr/>
          <p:nvPr/>
        </p:nvSpPr>
        <p:spPr>
          <a:xfrm>
            <a:off x="4663440" y="2871216"/>
            <a:ext cx="4206300" cy="502800"/>
          </a:xfrm>
          <a:prstGeom prst="rect">
            <a:avLst/>
          </a:prstGeom>
          <a:solidFill>
            <a:srgbClr val="E1F5EE"/>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5" name="Google Shape;2915;g3f62c33a15b_2_183"/>
          <p:cNvSpPr/>
          <p:nvPr/>
        </p:nvSpPr>
        <p:spPr>
          <a:xfrm>
            <a:off x="4773168" y="2871216"/>
            <a:ext cx="1188600" cy="502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p:txBody>
      </p:sp>
      <p:sp>
        <p:nvSpPr>
          <p:cNvPr id="2916" name="Google Shape;2916;g3f62c33a15b_2_183"/>
          <p:cNvSpPr/>
          <p:nvPr/>
        </p:nvSpPr>
        <p:spPr>
          <a:xfrm>
            <a:off x="5961888" y="2871216"/>
            <a:ext cx="2834700" cy="502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chemeClr val="dk1"/>
                </a:solidFill>
                <a:latin typeface="Calibri"/>
                <a:ea typeface="Calibri"/>
                <a:cs typeface="Calibri"/>
                <a:sym typeface="Calibri"/>
              </a:rPr>
              <a:t>0.5987</a:t>
            </a:r>
            <a:endParaRPr sz="1400" b="0" i="0" u="none" strike="noStrike" cap="none">
              <a:solidFill>
                <a:schemeClr val="dk1"/>
              </a:solidFill>
              <a:latin typeface="Calibri"/>
              <a:ea typeface="Calibri"/>
              <a:cs typeface="Calibri"/>
              <a:sym typeface="Calibri"/>
            </a:endParaRPr>
          </a:p>
        </p:txBody>
      </p:sp>
      <p:sp>
        <p:nvSpPr>
          <p:cNvPr id="2917" name="Google Shape;2917;g3f62c33a15b_2_183"/>
          <p:cNvSpPr/>
          <p:nvPr/>
        </p:nvSpPr>
        <p:spPr>
          <a:xfrm>
            <a:off x="4663440" y="3529584"/>
            <a:ext cx="1965900" cy="6585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8" name="Google Shape;2918;g3f62c33a15b_2_183"/>
          <p:cNvSpPr/>
          <p:nvPr/>
        </p:nvSpPr>
        <p:spPr>
          <a:xfrm>
            <a:off x="4754880" y="3593592"/>
            <a:ext cx="17832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900"/>
              <a:buFont typeface="Calibri"/>
              <a:buNone/>
            </a:pPr>
            <a:r>
              <a:rPr lang="en" sz="1400" b="0" i="0" u="none" strike="noStrike" cap="none">
                <a:solidFill>
                  <a:schemeClr val="dk1"/>
                </a:solidFill>
                <a:latin typeface="Calibri"/>
                <a:ea typeface="Calibri"/>
                <a:cs typeface="Calibri"/>
                <a:sym typeface="Calibri"/>
              </a:rPr>
              <a:t>z₂ (pre-activation)</a:t>
            </a:r>
            <a:endParaRPr sz="1400" b="0" i="0" u="none" strike="noStrike" cap="none">
              <a:solidFill>
                <a:schemeClr val="dk1"/>
              </a:solidFill>
              <a:latin typeface="Calibri"/>
              <a:ea typeface="Calibri"/>
              <a:cs typeface="Calibri"/>
              <a:sym typeface="Calibri"/>
            </a:endParaRPr>
          </a:p>
        </p:txBody>
      </p:sp>
      <p:sp>
        <p:nvSpPr>
          <p:cNvPr id="2919" name="Google Shape;2919;g3f62c33a15b_2_183"/>
          <p:cNvSpPr/>
          <p:nvPr/>
        </p:nvSpPr>
        <p:spPr>
          <a:xfrm>
            <a:off x="4754880" y="3822192"/>
            <a:ext cx="17832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600"/>
              <a:buFont typeface="Consolas"/>
              <a:buNone/>
            </a:pPr>
            <a:r>
              <a:rPr lang="en" sz="1600" b="1" i="0" u="none" strike="noStrike" cap="none">
                <a:solidFill>
                  <a:srgbClr val="1E293B"/>
                </a:solidFill>
                <a:latin typeface="Consolas"/>
                <a:ea typeface="Consolas"/>
                <a:cs typeface="Consolas"/>
                <a:sym typeface="Consolas"/>
              </a:rPr>
              <a:t>0.4000</a:t>
            </a:r>
            <a:endParaRPr sz="1600" b="0" i="0" u="none" strike="noStrike" cap="none">
              <a:solidFill>
                <a:schemeClr val="dk1"/>
              </a:solidFill>
              <a:latin typeface="Calibri"/>
              <a:ea typeface="Calibri"/>
              <a:cs typeface="Calibri"/>
              <a:sym typeface="Calibri"/>
            </a:endParaRPr>
          </a:p>
        </p:txBody>
      </p:sp>
      <p:sp>
        <p:nvSpPr>
          <p:cNvPr id="2920" name="Google Shape;2920;g3f62c33a15b_2_183"/>
          <p:cNvSpPr/>
          <p:nvPr/>
        </p:nvSpPr>
        <p:spPr>
          <a:xfrm>
            <a:off x="6766560" y="3529584"/>
            <a:ext cx="2011800" cy="6585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1" name="Google Shape;2921;g3f62c33a15b_2_183"/>
          <p:cNvSpPr/>
          <p:nvPr/>
        </p:nvSpPr>
        <p:spPr>
          <a:xfrm>
            <a:off x="6858000" y="3593592"/>
            <a:ext cx="18288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900"/>
              <a:buFont typeface="Calibri"/>
              <a:buNone/>
            </a:pPr>
            <a:r>
              <a:rPr lang="en" sz="1400" b="0" i="0" u="none" strike="noStrike" cap="none">
                <a:solidFill>
                  <a:schemeClr val="dk1"/>
                </a:solidFill>
                <a:latin typeface="Calibri"/>
                <a:ea typeface="Calibri"/>
                <a:cs typeface="Calibri"/>
                <a:sym typeface="Calibri"/>
              </a:rPr>
              <a:t>h₂ = σ(z₂)</a:t>
            </a:r>
            <a:endParaRPr sz="1400" b="0" i="0" u="none" strike="noStrike" cap="none">
              <a:solidFill>
                <a:schemeClr val="dk1"/>
              </a:solidFill>
              <a:latin typeface="Calibri"/>
              <a:ea typeface="Calibri"/>
              <a:cs typeface="Calibri"/>
              <a:sym typeface="Calibri"/>
            </a:endParaRPr>
          </a:p>
        </p:txBody>
      </p:sp>
      <p:sp>
        <p:nvSpPr>
          <p:cNvPr id="2922" name="Google Shape;2922;g3f62c33a15b_2_183"/>
          <p:cNvSpPr/>
          <p:nvPr/>
        </p:nvSpPr>
        <p:spPr>
          <a:xfrm>
            <a:off x="6858000" y="3822192"/>
            <a:ext cx="18288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D9E75"/>
              </a:buClr>
              <a:buSzPts val="1600"/>
              <a:buFont typeface="Consolas"/>
              <a:buNone/>
            </a:pPr>
            <a:r>
              <a:rPr lang="en" sz="1600" b="1" i="0" u="none" strike="noStrike" cap="none">
                <a:solidFill>
                  <a:srgbClr val="1D9E75"/>
                </a:solidFill>
                <a:latin typeface="Consolas"/>
                <a:ea typeface="Consolas"/>
                <a:cs typeface="Consolas"/>
                <a:sym typeface="Consolas"/>
              </a:rPr>
              <a:t>0.5987</a:t>
            </a:r>
            <a:endParaRPr sz="1600" b="0" i="0" u="none" strike="noStrike" cap="none">
              <a:solidFill>
                <a:schemeClr val="dk1"/>
              </a:solidFill>
              <a:latin typeface="Calibri"/>
              <a:ea typeface="Calibri"/>
              <a:cs typeface="Calibri"/>
              <a:sym typeface="Calibri"/>
            </a:endParaRPr>
          </a:p>
        </p:txBody>
      </p:sp>
      <p:sp>
        <p:nvSpPr>
          <p:cNvPr id="2923" name="Google Shape;2923;g3f62c33a15b_2_183"/>
          <p:cNvSpPr/>
          <p:nvPr/>
        </p:nvSpPr>
        <p:spPr>
          <a:xfrm>
            <a:off x="4663440" y="4315968"/>
            <a:ext cx="42063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000" b="0" i="1" u="none" strike="noStrike" cap="none">
                <a:solidFill>
                  <a:srgbClr val="64748B"/>
                </a:solidFill>
                <a:latin typeface="Calibri"/>
                <a:ea typeface="Calibri"/>
                <a:cs typeface="Calibri"/>
                <a:sym typeface="Calibri"/>
              </a:rPr>
              <a:t>h₂=0.5987 &lt; h₁=0.6457 because w₂=0.4 &lt; w₁=0.6 → smaller pre-activation.</a:t>
            </a:r>
            <a:endParaRPr sz="1000" b="0" i="0" u="none" strike="noStrike" cap="none">
              <a:solidFill>
                <a:schemeClr val="dk1"/>
              </a:solidFill>
              <a:latin typeface="Calibri"/>
              <a:ea typeface="Calibri"/>
              <a:cs typeface="Calibri"/>
              <a:sym typeface="Calibri"/>
            </a:endParaRPr>
          </a:p>
        </p:txBody>
      </p:sp>
      <p:pic>
        <p:nvPicPr>
          <p:cNvPr id="2924" name="Google Shape;2924;g3f62c33a15b_2_183"/>
          <p:cNvPicPr preferRelativeResize="0"/>
          <p:nvPr/>
        </p:nvPicPr>
        <p:blipFill rotWithShape="1">
          <a:blip r:embed="rId3">
            <a:alphaModFix/>
          </a:blip>
          <a:srcRect/>
          <a:stretch/>
        </p:blipFill>
        <p:spPr>
          <a:xfrm>
            <a:off x="8369125" y="0"/>
            <a:ext cx="774877" cy="867174"/>
          </a:xfrm>
          <a:prstGeom prst="rect">
            <a:avLst/>
          </a:prstGeom>
          <a:noFill/>
          <a:ln>
            <a:noFill/>
          </a:ln>
        </p:spPr>
      </p:pic>
      <p:pic>
        <p:nvPicPr>
          <p:cNvPr id="2925" name="Google Shape;2925;g3f62c33a15b_2_183"/>
          <p:cNvPicPr preferRelativeResize="0"/>
          <p:nvPr/>
        </p:nvPicPr>
        <p:blipFill rotWithShape="1">
          <a:blip r:embed="rId4">
            <a:alphaModFix/>
          </a:blip>
          <a:srcRect b="47266"/>
          <a:stretch/>
        </p:blipFill>
        <p:spPr>
          <a:xfrm>
            <a:off x="191075" y="3323725"/>
            <a:ext cx="2046884" cy="1297875"/>
          </a:xfrm>
          <a:prstGeom prst="rect">
            <a:avLst/>
          </a:prstGeom>
          <a:noFill/>
          <a:ln>
            <a:noFill/>
          </a:ln>
        </p:spPr>
      </p:pic>
      <p:pic>
        <p:nvPicPr>
          <p:cNvPr id="2926" name="Google Shape;2926;g3f62c33a15b_2_183"/>
          <p:cNvPicPr preferRelativeResize="0"/>
          <p:nvPr/>
        </p:nvPicPr>
        <p:blipFill rotWithShape="1">
          <a:blip r:embed="rId4">
            <a:alphaModFix/>
          </a:blip>
          <a:srcRect t="49947"/>
          <a:stretch/>
        </p:blipFill>
        <p:spPr>
          <a:xfrm>
            <a:off x="2102263" y="3241372"/>
            <a:ext cx="2156550" cy="1297872"/>
          </a:xfrm>
          <a:prstGeom prst="rect">
            <a:avLst/>
          </a:prstGeom>
          <a:noFill/>
          <a:ln>
            <a:noFill/>
          </a:ln>
        </p:spPr>
      </p:pic>
      <p:sp>
        <p:nvSpPr>
          <p:cNvPr id="2927" name="Google Shape;2927;g3f62c33a15b_2_183"/>
          <p:cNvSpPr txBox="1"/>
          <p:nvPr/>
        </p:nvSpPr>
        <p:spPr>
          <a:xfrm>
            <a:off x="449363" y="2939725"/>
            <a:ext cx="15303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0" i="0" u="none" strike="noStrike" cap="none">
                <a:solidFill>
                  <a:schemeClr val="dk2"/>
                </a:solidFill>
                <a:latin typeface="Arial"/>
                <a:ea typeface="Arial"/>
                <a:cs typeface="Arial"/>
                <a:sym typeface="Arial"/>
              </a:rPr>
              <a:t>Forward pass - </a:t>
            </a:r>
            <a:endParaRPr sz="1500" b="0" i="0" u="none" strike="noStrike" cap="none">
              <a:solidFill>
                <a:schemeClr val="dk2"/>
              </a:solidFill>
              <a:latin typeface="Arial"/>
              <a:ea typeface="Arial"/>
              <a:cs typeface="Arial"/>
              <a:sym typeface="Arial"/>
            </a:endParaRPr>
          </a:p>
        </p:txBody>
      </p:sp>
      <p:pic>
        <p:nvPicPr>
          <p:cNvPr id="2928" name="Google Shape;2928;g3f62c33a15b_2_183"/>
          <p:cNvPicPr preferRelativeResize="0"/>
          <p:nvPr/>
        </p:nvPicPr>
        <p:blipFill rotWithShape="1">
          <a:blip r:embed="rId5">
            <a:alphaModFix/>
          </a:blip>
          <a:srcRect/>
          <a:stretch/>
        </p:blipFill>
        <p:spPr>
          <a:xfrm>
            <a:off x="1092699" y="4585577"/>
            <a:ext cx="2264475" cy="415500"/>
          </a:xfrm>
          <a:prstGeom prst="rect">
            <a:avLst/>
          </a:prstGeom>
          <a:noFill/>
          <a:ln>
            <a:noFill/>
          </a:ln>
        </p:spPr>
      </p:pic>
      <p:sp>
        <p:nvSpPr>
          <p:cNvPr id="2929" name="Google Shape;2929;g3f62c33a15b_2_183"/>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8</a:t>
            </a:r>
            <a:r>
              <a:rPr lang="en" sz="1000">
                <a:solidFill>
                  <a:srgbClr val="8899AA"/>
                </a:solidFill>
              </a:rPr>
              <a:t>6</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34"/>
        <p:cNvGrpSpPr/>
        <p:nvPr/>
      </p:nvGrpSpPr>
      <p:grpSpPr>
        <a:xfrm>
          <a:off x="0" y="0"/>
          <a:ext cx="0" cy="0"/>
          <a:chOff x="0" y="0"/>
          <a:chExt cx="0" cy="0"/>
        </a:xfrm>
      </p:grpSpPr>
      <p:sp>
        <p:nvSpPr>
          <p:cNvPr id="2935" name="Google Shape;2935;g3f62c33a15b_2_235"/>
          <p:cNvSpPr/>
          <p:nvPr/>
        </p:nvSpPr>
        <p:spPr>
          <a:xfrm>
            <a:off x="2103120" y="164592"/>
            <a:ext cx="6675000" cy="402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2200"/>
              <a:buFont typeface="Calibri"/>
              <a:buNone/>
            </a:pPr>
            <a:r>
              <a:rPr lang="en" sz="2800" b="1" i="0" u="none" strike="noStrike" cap="none">
                <a:solidFill>
                  <a:srgbClr val="1E293B"/>
                </a:solidFill>
                <a:latin typeface="Calibri"/>
                <a:ea typeface="Calibri"/>
                <a:cs typeface="Calibri"/>
                <a:sym typeface="Calibri"/>
              </a:rPr>
              <a:t>Forward Pass — Step 3</a:t>
            </a:r>
            <a:endParaRPr sz="2800" b="0" i="0" u="none" strike="noStrike" cap="none">
              <a:solidFill>
                <a:schemeClr val="dk1"/>
              </a:solidFill>
              <a:latin typeface="Calibri"/>
              <a:ea typeface="Calibri"/>
              <a:cs typeface="Calibri"/>
              <a:sym typeface="Calibri"/>
            </a:endParaRPr>
          </a:p>
        </p:txBody>
      </p:sp>
      <p:sp>
        <p:nvSpPr>
          <p:cNvPr id="2936" name="Google Shape;2936;g3f62c33a15b_2_235"/>
          <p:cNvSpPr/>
          <p:nvPr/>
        </p:nvSpPr>
        <p:spPr>
          <a:xfrm>
            <a:off x="2103120" y="667577"/>
            <a:ext cx="66750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1200"/>
              <a:buFont typeface="Calibri"/>
              <a:buNone/>
            </a:pPr>
            <a:r>
              <a:rPr lang="en" sz="1600" b="0" i="0" u="none" strike="noStrike" cap="none">
                <a:solidFill>
                  <a:schemeClr val="dk1"/>
                </a:solidFill>
                <a:latin typeface="Calibri"/>
                <a:ea typeface="Calibri"/>
                <a:cs typeface="Calibri"/>
                <a:sym typeface="Calibri"/>
              </a:rPr>
              <a:t>Compute output z₃ and prediction ŷ</a:t>
            </a:r>
            <a:endParaRPr sz="1600" b="0" i="0" u="none" strike="noStrike" cap="none">
              <a:solidFill>
                <a:schemeClr val="dk1"/>
              </a:solidFill>
              <a:latin typeface="Calibri"/>
              <a:ea typeface="Calibri"/>
              <a:cs typeface="Calibri"/>
              <a:sym typeface="Calibri"/>
            </a:endParaRPr>
          </a:p>
        </p:txBody>
      </p:sp>
      <p:cxnSp>
        <p:nvCxnSpPr>
          <p:cNvPr id="2937" name="Google Shape;2937;g3f62c33a15b_2_235"/>
          <p:cNvCxnSpPr/>
          <p:nvPr/>
        </p:nvCxnSpPr>
        <p:spPr>
          <a:xfrm rot="10800000" flipH="1">
            <a:off x="777240" y="1508820"/>
            <a:ext cx="1326000" cy="594300"/>
          </a:xfrm>
          <a:prstGeom prst="straightConnector1">
            <a:avLst/>
          </a:prstGeom>
          <a:noFill/>
          <a:ln w="10150" cap="flat" cmpd="sng">
            <a:solidFill>
              <a:srgbClr val="CBD5E1"/>
            </a:solidFill>
            <a:prstDash val="solid"/>
            <a:round/>
            <a:headEnd type="none" w="sm" len="sm"/>
            <a:tailEnd type="none" w="sm" len="sm"/>
          </a:ln>
        </p:spPr>
      </p:cxnSp>
      <p:sp>
        <p:nvSpPr>
          <p:cNvPr id="2938" name="Google Shape;2938;g3f62c33a15b_2_235"/>
          <p:cNvSpPr/>
          <p:nvPr/>
        </p:nvSpPr>
        <p:spPr>
          <a:xfrm>
            <a:off x="828097" y="1659625"/>
            <a:ext cx="959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w₁=0.6000</a:t>
            </a:r>
            <a:endParaRPr sz="1100" b="0" i="0" u="none" strike="noStrike" cap="none">
              <a:solidFill>
                <a:schemeClr val="dk1"/>
              </a:solidFill>
              <a:latin typeface="Calibri"/>
              <a:ea typeface="Calibri"/>
              <a:cs typeface="Calibri"/>
              <a:sym typeface="Calibri"/>
            </a:endParaRPr>
          </a:p>
        </p:txBody>
      </p:sp>
      <p:cxnSp>
        <p:nvCxnSpPr>
          <p:cNvPr id="2939" name="Google Shape;2939;g3f62c33a15b_2_235"/>
          <p:cNvCxnSpPr/>
          <p:nvPr/>
        </p:nvCxnSpPr>
        <p:spPr>
          <a:xfrm>
            <a:off x="777240" y="2103120"/>
            <a:ext cx="1326000" cy="594300"/>
          </a:xfrm>
          <a:prstGeom prst="straightConnector1">
            <a:avLst/>
          </a:prstGeom>
          <a:noFill/>
          <a:ln w="10150" cap="flat" cmpd="sng">
            <a:solidFill>
              <a:srgbClr val="CBD5E1"/>
            </a:solidFill>
            <a:prstDash val="solid"/>
            <a:round/>
            <a:headEnd type="none" w="sm" len="sm"/>
            <a:tailEnd type="none" w="sm" len="sm"/>
          </a:ln>
        </p:spPr>
      </p:cxnSp>
      <p:sp>
        <p:nvSpPr>
          <p:cNvPr id="2940" name="Google Shape;2940;g3f62c33a15b_2_235"/>
          <p:cNvSpPr/>
          <p:nvPr/>
        </p:nvSpPr>
        <p:spPr>
          <a:xfrm>
            <a:off x="1070546" y="2254000"/>
            <a:ext cx="959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w₂=0.4000</a:t>
            </a:r>
            <a:endParaRPr sz="1100" b="0" i="0" u="none" strike="noStrike" cap="none">
              <a:solidFill>
                <a:schemeClr val="dk1"/>
              </a:solidFill>
              <a:latin typeface="Calibri"/>
              <a:ea typeface="Calibri"/>
              <a:cs typeface="Calibri"/>
              <a:sym typeface="Calibri"/>
            </a:endParaRPr>
          </a:p>
        </p:txBody>
      </p:sp>
      <p:cxnSp>
        <p:nvCxnSpPr>
          <p:cNvPr id="2941" name="Google Shape;2941;g3f62c33a15b_2_235"/>
          <p:cNvCxnSpPr/>
          <p:nvPr/>
        </p:nvCxnSpPr>
        <p:spPr>
          <a:xfrm>
            <a:off x="2103120" y="1508760"/>
            <a:ext cx="1326000" cy="594300"/>
          </a:xfrm>
          <a:prstGeom prst="straightConnector1">
            <a:avLst/>
          </a:prstGeom>
          <a:noFill/>
          <a:ln w="31750" cap="flat" cmpd="sng">
            <a:solidFill>
              <a:srgbClr val="0F6E56"/>
            </a:solidFill>
            <a:prstDash val="solid"/>
            <a:round/>
            <a:headEnd type="none" w="sm" len="sm"/>
            <a:tailEnd type="none" w="sm" len="sm"/>
          </a:ln>
        </p:spPr>
      </p:cxnSp>
      <p:sp>
        <p:nvSpPr>
          <p:cNvPr id="2942" name="Google Shape;2942;g3f62c33a15b_2_235"/>
          <p:cNvSpPr/>
          <p:nvPr/>
        </p:nvSpPr>
        <p:spPr>
          <a:xfrm>
            <a:off x="2418607" y="1659625"/>
            <a:ext cx="1097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D9E75"/>
              </a:buClr>
              <a:buSzPts val="800"/>
              <a:buFont typeface="Consolas"/>
              <a:buNone/>
            </a:pPr>
            <a:r>
              <a:rPr lang="en" sz="1100" b="1" i="0" u="none" strike="noStrike" cap="none">
                <a:solidFill>
                  <a:srgbClr val="1D9E75"/>
                </a:solidFill>
                <a:latin typeface="Consolas"/>
                <a:ea typeface="Consolas"/>
                <a:cs typeface="Consolas"/>
                <a:sym typeface="Consolas"/>
              </a:rPr>
              <a:t>w₃=0.8000</a:t>
            </a:r>
            <a:endParaRPr sz="1100" b="0" i="0" u="none" strike="noStrike" cap="none">
              <a:solidFill>
                <a:schemeClr val="dk1"/>
              </a:solidFill>
              <a:latin typeface="Calibri"/>
              <a:ea typeface="Calibri"/>
              <a:cs typeface="Calibri"/>
              <a:sym typeface="Calibri"/>
            </a:endParaRPr>
          </a:p>
        </p:txBody>
      </p:sp>
      <p:cxnSp>
        <p:nvCxnSpPr>
          <p:cNvPr id="2943" name="Google Shape;2943;g3f62c33a15b_2_235"/>
          <p:cNvCxnSpPr/>
          <p:nvPr/>
        </p:nvCxnSpPr>
        <p:spPr>
          <a:xfrm rot="10800000" flipH="1">
            <a:off x="2103120" y="2103180"/>
            <a:ext cx="1326000" cy="594300"/>
          </a:xfrm>
          <a:prstGeom prst="straightConnector1">
            <a:avLst/>
          </a:prstGeom>
          <a:noFill/>
          <a:ln w="31750" cap="flat" cmpd="sng">
            <a:solidFill>
              <a:srgbClr val="0F6E56"/>
            </a:solidFill>
            <a:prstDash val="solid"/>
            <a:round/>
            <a:headEnd type="none" w="sm" len="sm"/>
            <a:tailEnd type="none" w="sm" len="sm"/>
          </a:ln>
        </p:spPr>
      </p:cxnSp>
      <p:sp>
        <p:nvSpPr>
          <p:cNvPr id="2944" name="Google Shape;2944;g3f62c33a15b_2_235"/>
          <p:cNvSpPr/>
          <p:nvPr/>
        </p:nvSpPr>
        <p:spPr>
          <a:xfrm>
            <a:off x="2154079" y="2272299"/>
            <a:ext cx="9594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D9E75"/>
              </a:buClr>
              <a:buSzPts val="800"/>
              <a:buFont typeface="Consolas"/>
              <a:buNone/>
            </a:pPr>
            <a:r>
              <a:rPr lang="en" sz="1100" b="1" i="0" u="none" strike="noStrike" cap="none">
                <a:solidFill>
                  <a:srgbClr val="1D9E75"/>
                </a:solidFill>
                <a:latin typeface="Consolas"/>
                <a:ea typeface="Consolas"/>
                <a:cs typeface="Consolas"/>
                <a:sym typeface="Consolas"/>
              </a:rPr>
              <a:t>w₄=0.5000</a:t>
            </a:r>
            <a:endParaRPr sz="1100" b="0" i="0" u="none" strike="noStrike" cap="none">
              <a:solidFill>
                <a:schemeClr val="dk1"/>
              </a:solidFill>
              <a:latin typeface="Calibri"/>
              <a:ea typeface="Calibri"/>
              <a:cs typeface="Calibri"/>
              <a:sym typeface="Calibri"/>
            </a:endParaRPr>
          </a:p>
        </p:txBody>
      </p:sp>
      <p:sp>
        <p:nvSpPr>
          <p:cNvPr id="2945" name="Google Shape;2945;g3f62c33a15b_2_235"/>
          <p:cNvSpPr/>
          <p:nvPr/>
        </p:nvSpPr>
        <p:spPr>
          <a:xfrm>
            <a:off x="484632" y="1810512"/>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6" name="Google Shape;2946;g3f62c33a15b_2_235"/>
          <p:cNvSpPr/>
          <p:nvPr/>
        </p:nvSpPr>
        <p:spPr>
          <a:xfrm>
            <a:off x="484632" y="190195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x</a:t>
            </a:r>
            <a:endParaRPr sz="1200" b="0" i="0" u="none" strike="noStrike" cap="none">
              <a:solidFill>
                <a:schemeClr val="dk1"/>
              </a:solidFill>
              <a:latin typeface="Calibri"/>
              <a:ea typeface="Calibri"/>
              <a:cs typeface="Calibri"/>
              <a:sym typeface="Calibri"/>
            </a:endParaRPr>
          </a:p>
        </p:txBody>
      </p:sp>
      <p:sp>
        <p:nvSpPr>
          <p:cNvPr id="2947" name="Google Shape;2947;g3f62c33a15b_2_235"/>
          <p:cNvSpPr/>
          <p:nvPr/>
        </p:nvSpPr>
        <p:spPr>
          <a:xfrm>
            <a:off x="484632" y="211226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1.0</a:t>
            </a:r>
            <a:endParaRPr sz="900" b="0" i="0" u="none" strike="noStrike" cap="none">
              <a:solidFill>
                <a:schemeClr val="dk1"/>
              </a:solidFill>
              <a:latin typeface="Calibri"/>
              <a:ea typeface="Calibri"/>
              <a:cs typeface="Calibri"/>
              <a:sym typeface="Calibri"/>
            </a:endParaRPr>
          </a:p>
        </p:txBody>
      </p:sp>
      <p:sp>
        <p:nvSpPr>
          <p:cNvPr id="2948" name="Google Shape;2948;g3f62c33a15b_2_235"/>
          <p:cNvSpPr/>
          <p:nvPr/>
        </p:nvSpPr>
        <p:spPr>
          <a:xfrm>
            <a:off x="1810512" y="1216152"/>
            <a:ext cx="585300" cy="585300"/>
          </a:xfrm>
          <a:prstGeom prst="ellipse">
            <a:avLst/>
          </a:prstGeom>
          <a:solidFill>
            <a:srgbClr val="0F6E56"/>
          </a:solidFill>
          <a:ln w="254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9" name="Google Shape;2949;g3f62c33a15b_2_235"/>
          <p:cNvSpPr/>
          <p:nvPr/>
        </p:nvSpPr>
        <p:spPr>
          <a:xfrm>
            <a:off x="1810512" y="130759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1" i="0" u="none" strike="noStrike" cap="none">
                <a:solidFill>
                  <a:srgbClr val="FFFFFF"/>
                </a:solidFill>
                <a:latin typeface="Calibri"/>
                <a:ea typeface="Calibri"/>
                <a:cs typeface="Calibri"/>
                <a:sym typeface="Calibri"/>
              </a:rPr>
              <a:t>h₁</a:t>
            </a:r>
            <a:endParaRPr sz="1200" b="0" i="0" u="none" strike="noStrike" cap="none">
              <a:solidFill>
                <a:schemeClr val="dk1"/>
              </a:solidFill>
              <a:latin typeface="Calibri"/>
              <a:ea typeface="Calibri"/>
              <a:cs typeface="Calibri"/>
              <a:sym typeface="Calibri"/>
            </a:endParaRPr>
          </a:p>
        </p:txBody>
      </p:sp>
      <p:sp>
        <p:nvSpPr>
          <p:cNvPr id="2950" name="Google Shape;2950;g3f62c33a15b_2_235"/>
          <p:cNvSpPr/>
          <p:nvPr/>
        </p:nvSpPr>
        <p:spPr>
          <a:xfrm>
            <a:off x="1810512" y="151790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onsolas"/>
              <a:buNone/>
            </a:pPr>
            <a:r>
              <a:rPr lang="en" sz="900" b="0" i="0" u="none" strike="noStrike" cap="none">
                <a:solidFill>
                  <a:srgbClr val="FFFFFF"/>
                </a:solidFill>
                <a:latin typeface="Consolas"/>
                <a:ea typeface="Consolas"/>
                <a:cs typeface="Consolas"/>
                <a:sym typeface="Consolas"/>
              </a:rPr>
              <a:t>0.6457</a:t>
            </a:r>
            <a:endParaRPr sz="900" b="0" i="0" u="none" strike="noStrike" cap="none">
              <a:solidFill>
                <a:schemeClr val="dk1"/>
              </a:solidFill>
              <a:latin typeface="Calibri"/>
              <a:ea typeface="Calibri"/>
              <a:cs typeface="Calibri"/>
              <a:sym typeface="Calibri"/>
            </a:endParaRPr>
          </a:p>
        </p:txBody>
      </p:sp>
      <p:sp>
        <p:nvSpPr>
          <p:cNvPr id="2951" name="Google Shape;2951;g3f62c33a15b_2_235"/>
          <p:cNvSpPr/>
          <p:nvPr/>
        </p:nvSpPr>
        <p:spPr>
          <a:xfrm>
            <a:off x="1810512" y="2404872"/>
            <a:ext cx="585300" cy="585300"/>
          </a:xfrm>
          <a:prstGeom prst="ellipse">
            <a:avLst/>
          </a:prstGeom>
          <a:solidFill>
            <a:srgbClr val="0F6E56"/>
          </a:solidFill>
          <a:ln w="254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2" name="Google Shape;2952;g3f62c33a15b_2_235"/>
          <p:cNvSpPr/>
          <p:nvPr/>
        </p:nvSpPr>
        <p:spPr>
          <a:xfrm>
            <a:off x="1810512" y="249631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1" i="0" u="none" strike="noStrike" cap="none">
                <a:solidFill>
                  <a:srgbClr val="FFFFFF"/>
                </a:solidFill>
                <a:latin typeface="Calibri"/>
                <a:ea typeface="Calibri"/>
                <a:cs typeface="Calibri"/>
                <a:sym typeface="Calibri"/>
              </a:rPr>
              <a:t>h₂</a:t>
            </a:r>
            <a:endParaRPr sz="1200" b="0" i="0" u="none" strike="noStrike" cap="none">
              <a:solidFill>
                <a:schemeClr val="dk1"/>
              </a:solidFill>
              <a:latin typeface="Calibri"/>
              <a:ea typeface="Calibri"/>
              <a:cs typeface="Calibri"/>
              <a:sym typeface="Calibri"/>
            </a:endParaRPr>
          </a:p>
        </p:txBody>
      </p:sp>
      <p:sp>
        <p:nvSpPr>
          <p:cNvPr id="2953" name="Google Shape;2953;g3f62c33a15b_2_235"/>
          <p:cNvSpPr/>
          <p:nvPr/>
        </p:nvSpPr>
        <p:spPr>
          <a:xfrm>
            <a:off x="1810512" y="270662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onsolas"/>
              <a:buNone/>
            </a:pPr>
            <a:r>
              <a:rPr lang="en" sz="900" b="0" i="0" u="none" strike="noStrike" cap="none">
                <a:solidFill>
                  <a:srgbClr val="FFFFFF"/>
                </a:solidFill>
                <a:latin typeface="Consolas"/>
                <a:ea typeface="Consolas"/>
                <a:cs typeface="Consolas"/>
                <a:sym typeface="Consolas"/>
              </a:rPr>
              <a:t>0.5987</a:t>
            </a:r>
            <a:endParaRPr sz="900" b="0" i="0" u="none" strike="noStrike" cap="none">
              <a:solidFill>
                <a:schemeClr val="dk1"/>
              </a:solidFill>
              <a:latin typeface="Calibri"/>
              <a:ea typeface="Calibri"/>
              <a:cs typeface="Calibri"/>
              <a:sym typeface="Calibri"/>
            </a:endParaRPr>
          </a:p>
        </p:txBody>
      </p:sp>
      <p:sp>
        <p:nvSpPr>
          <p:cNvPr id="2954" name="Google Shape;2954;g3f62c33a15b_2_235"/>
          <p:cNvSpPr/>
          <p:nvPr/>
        </p:nvSpPr>
        <p:spPr>
          <a:xfrm>
            <a:off x="3136392" y="1810512"/>
            <a:ext cx="585300" cy="585300"/>
          </a:xfrm>
          <a:prstGeom prst="ellipse">
            <a:avLst/>
          </a:prstGeom>
          <a:solidFill>
            <a:srgbClr val="0F6E56"/>
          </a:solidFill>
          <a:ln w="254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5" name="Google Shape;2955;g3f62c33a15b_2_235"/>
          <p:cNvSpPr/>
          <p:nvPr/>
        </p:nvSpPr>
        <p:spPr>
          <a:xfrm>
            <a:off x="3136392" y="190195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1" i="0" u="none" strike="noStrike" cap="none">
                <a:solidFill>
                  <a:srgbClr val="FFFFFF"/>
                </a:solidFill>
                <a:latin typeface="Calibri"/>
                <a:ea typeface="Calibri"/>
                <a:cs typeface="Calibri"/>
                <a:sym typeface="Calibri"/>
              </a:rPr>
              <a:t>ŷ</a:t>
            </a:r>
            <a:endParaRPr sz="1200" b="0" i="0" u="none" strike="noStrike" cap="none">
              <a:solidFill>
                <a:schemeClr val="dk1"/>
              </a:solidFill>
              <a:latin typeface="Calibri"/>
              <a:ea typeface="Calibri"/>
              <a:cs typeface="Calibri"/>
              <a:sym typeface="Calibri"/>
            </a:endParaRPr>
          </a:p>
        </p:txBody>
      </p:sp>
      <p:sp>
        <p:nvSpPr>
          <p:cNvPr id="2956" name="Google Shape;2956;g3f62c33a15b_2_235"/>
          <p:cNvSpPr/>
          <p:nvPr/>
        </p:nvSpPr>
        <p:spPr>
          <a:xfrm>
            <a:off x="3136392" y="211226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onsolas"/>
              <a:buNone/>
            </a:pPr>
            <a:r>
              <a:rPr lang="en" sz="900" b="0" i="0" u="none" strike="noStrike" cap="none">
                <a:solidFill>
                  <a:srgbClr val="FFFFFF"/>
                </a:solidFill>
                <a:latin typeface="Consolas"/>
                <a:ea typeface="Consolas"/>
                <a:cs typeface="Consolas"/>
                <a:sym typeface="Consolas"/>
              </a:rPr>
              <a:t>0.6934</a:t>
            </a:r>
            <a:endParaRPr sz="900" b="0" i="0" u="none" strike="noStrike" cap="none">
              <a:solidFill>
                <a:schemeClr val="dk1"/>
              </a:solidFill>
              <a:latin typeface="Calibri"/>
              <a:ea typeface="Calibri"/>
              <a:cs typeface="Calibri"/>
              <a:sym typeface="Calibri"/>
            </a:endParaRPr>
          </a:p>
        </p:txBody>
      </p:sp>
      <p:sp>
        <p:nvSpPr>
          <p:cNvPr id="2957" name="Google Shape;2957;g3f62c33a15b_2_235"/>
          <p:cNvSpPr/>
          <p:nvPr/>
        </p:nvSpPr>
        <p:spPr>
          <a:xfrm>
            <a:off x="3794760" y="1993392"/>
            <a:ext cx="822900" cy="219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onsolas"/>
              <a:buNone/>
            </a:pPr>
            <a:r>
              <a:rPr lang="en" sz="1000" b="0" i="0" u="none" strike="noStrike" cap="none">
                <a:solidFill>
                  <a:srgbClr val="64748B"/>
                </a:solidFill>
                <a:latin typeface="Consolas"/>
                <a:ea typeface="Consolas"/>
                <a:cs typeface="Consolas"/>
                <a:sym typeface="Consolas"/>
              </a:rPr>
              <a:t>target y=1</a:t>
            </a:r>
            <a:endParaRPr sz="1000" b="0" i="0" u="none" strike="noStrike" cap="none">
              <a:solidFill>
                <a:schemeClr val="dk1"/>
              </a:solidFill>
              <a:latin typeface="Calibri"/>
              <a:ea typeface="Calibri"/>
              <a:cs typeface="Calibri"/>
              <a:sym typeface="Calibri"/>
            </a:endParaRPr>
          </a:p>
        </p:txBody>
      </p:sp>
      <p:sp>
        <p:nvSpPr>
          <p:cNvPr id="2958" name="Google Shape;2958;g3f62c33a15b_2_235"/>
          <p:cNvSpPr/>
          <p:nvPr/>
        </p:nvSpPr>
        <p:spPr>
          <a:xfrm>
            <a:off x="4663440" y="1005840"/>
            <a:ext cx="4206300" cy="310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D9E75"/>
              </a:buClr>
              <a:buSzPts val="1400"/>
              <a:buFont typeface="Calibri"/>
              <a:buNone/>
            </a:pPr>
            <a:r>
              <a:rPr lang="en" sz="1400" b="1" i="0" u="none" strike="noStrike" cap="none">
                <a:solidFill>
                  <a:schemeClr val="dk1"/>
                </a:solidFill>
                <a:latin typeface="Calibri"/>
                <a:ea typeface="Calibri"/>
                <a:cs typeface="Calibri"/>
                <a:sym typeface="Calibri"/>
              </a:rPr>
              <a:t>Output neuron</a:t>
            </a:r>
            <a:endParaRPr sz="1400" b="0" i="0" u="none" strike="noStrike" cap="none">
              <a:solidFill>
                <a:schemeClr val="dk1"/>
              </a:solidFill>
              <a:latin typeface="Calibri"/>
              <a:ea typeface="Calibri"/>
              <a:cs typeface="Calibri"/>
              <a:sym typeface="Calibri"/>
            </a:endParaRPr>
          </a:p>
        </p:txBody>
      </p:sp>
      <p:sp>
        <p:nvSpPr>
          <p:cNvPr id="2959" name="Google Shape;2959;g3f62c33a15b_2_235"/>
          <p:cNvSpPr/>
          <p:nvPr/>
        </p:nvSpPr>
        <p:spPr>
          <a:xfrm>
            <a:off x="4663440" y="1389888"/>
            <a:ext cx="4206300" cy="3291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0" name="Google Shape;2960;g3f62c33a15b_2_235"/>
          <p:cNvSpPr/>
          <p:nvPr/>
        </p:nvSpPr>
        <p:spPr>
          <a:xfrm>
            <a:off x="4773168" y="1389888"/>
            <a:ext cx="1188600" cy="32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z₃ =</a:t>
            </a:r>
            <a:endParaRPr sz="1400" b="0" i="0" u="none" strike="noStrike" cap="none">
              <a:solidFill>
                <a:schemeClr val="dk1"/>
              </a:solidFill>
              <a:latin typeface="Calibri"/>
              <a:ea typeface="Calibri"/>
              <a:cs typeface="Calibri"/>
              <a:sym typeface="Calibri"/>
            </a:endParaRPr>
          </a:p>
        </p:txBody>
      </p:sp>
      <p:sp>
        <p:nvSpPr>
          <p:cNvPr id="2961" name="Google Shape;2961;g3f62c33a15b_2_235"/>
          <p:cNvSpPr/>
          <p:nvPr/>
        </p:nvSpPr>
        <p:spPr>
          <a:xfrm>
            <a:off x="5961888" y="1389888"/>
            <a:ext cx="2834700" cy="32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rgbClr val="1E293B"/>
                </a:solidFill>
                <a:latin typeface="Calibri"/>
                <a:ea typeface="Calibri"/>
                <a:cs typeface="Calibri"/>
                <a:sym typeface="Calibri"/>
              </a:rPr>
              <a:t>w₃×h₁  +  w₄×h₂</a:t>
            </a:r>
            <a:endParaRPr sz="1400" b="0" i="0" u="none" strike="noStrike" cap="none">
              <a:solidFill>
                <a:schemeClr val="dk1"/>
              </a:solidFill>
              <a:latin typeface="Calibri"/>
              <a:ea typeface="Calibri"/>
              <a:cs typeface="Calibri"/>
              <a:sym typeface="Calibri"/>
            </a:endParaRPr>
          </a:p>
        </p:txBody>
      </p:sp>
      <p:sp>
        <p:nvSpPr>
          <p:cNvPr id="2962" name="Google Shape;2962;g3f62c33a15b_2_235"/>
          <p:cNvSpPr/>
          <p:nvPr/>
        </p:nvSpPr>
        <p:spPr>
          <a:xfrm>
            <a:off x="4663440" y="1792224"/>
            <a:ext cx="4206300" cy="3291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3" name="Google Shape;2963;g3f62c33a15b_2_235"/>
          <p:cNvSpPr/>
          <p:nvPr/>
        </p:nvSpPr>
        <p:spPr>
          <a:xfrm>
            <a:off x="4773168" y="1792224"/>
            <a:ext cx="1188600" cy="32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p:txBody>
      </p:sp>
      <p:sp>
        <p:nvSpPr>
          <p:cNvPr id="2964" name="Google Shape;2964;g3f62c33a15b_2_235"/>
          <p:cNvSpPr/>
          <p:nvPr/>
        </p:nvSpPr>
        <p:spPr>
          <a:xfrm>
            <a:off x="5961888" y="1792224"/>
            <a:ext cx="2834700" cy="32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rgbClr val="1E293B"/>
                </a:solidFill>
                <a:latin typeface="Calibri"/>
                <a:ea typeface="Calibri"/>
                <a:cs typeface="Calibri"/>
                <a:sym typeface="Calibri"/>
              </a:rPr>
              <a:t>0.8 × 0.6457  +  0.5 × 0.5987</a:t>
            </a:r>
            <a:endParaRPr sz="1400" b="0" i="0" u="none" strike="noStrike" cap="none">
              <a:solidFill>
                <a:schemeClr val="dk1"/>
              </a:solidFill>
              <a:latin typeface="Calibri"/>
              <a:ea typeface="Calibri"/>
              <a:cs typeface="Calibri"/>
              <a:sym typeface="Calibri"/>
            </a:endParaRPr>
          </a:p>
        </p:txBody>
      </p:sp>
      <p:sp>
        <p:nvSpPr>
          <p:cNvPr id="2965" name="Google Shape;2965;g3f62c33a15b_2_235"/>
          <p:cNvSpPr/>
          <p:nvPr/>
        </p:nvSpPr>
        <p:spPr>
          <a:xfrm>
            <a:off x="4663440" y="2176272"/>
            <a:ext cx="4206300" cy="3291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6" name="Google Shape;2966;g3f62c33a15b_2_235"/>
          <p:cNvSpPr/>
          <p:nvPr/>
        </p:nvSpPr>
        <p:spPr>
          <a:xfrm>
            <a:off x="4773168" y="2176272"/>
            <a:ext cx="1188600" cy="32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p:txBody>
      </p:sp>
      <p:sp>
        <p:nvSpPr>
          <p:cNvPr id="2967" name="Google Shape;2967;g3f62c33a15b_2_235"/>
          <p:cNvSpPr/>
          <p:nvPr/>
        </p:nvSpPr>
        <p:spPr>
          <a:xfrm>
            <a:off x="5961888" y="2176272"/>
            <a:ext cx="2834700" cy="32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rgbClr val="1E293B"/>
                </a:solidFill>
                <a:latin typeface="Calibri"/>
                <a:ea typeface="Calibri"/>
                <a:cs typeface="Calibri"/>
                <a:sym typeface="Calibri"/>
              </a:rPr>
              <a:t>0.5165  +  0.2993</a:t>
            </a:r>
            <a:endParaRPr sz="1400" b="0" i="0" u="none" strike="noStrike" cap="none">
              <a:solidFill>
                <a:schemeClr val="dk1"/>
              </a:solidFill>
              <a:latin typeface="Calibri"/>
              <a:ea typeface="Calibri"/>
              <a:cs typeface="Calibri"/>
              <a:sym typeface="Calibri"/>
            </a:endParaRPr>
          </a:p>
        </p:txBody>
      </p:sp>
      <p:sp>
        <p:nvSpPr>
          <p:cNvPr id="2968" name="Google Shape;2968;g3f62c33a15b_2_235"/>
          <p:cNvSpPr/>
          <p:nvPr/>
        </p:nvSpPr>
        <p:spPr>
          <a:xfrm>
            <a:off x="4663440" y="2560320"/>
            <a:ext cx="4206300" cy="3291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9" name="Google Shape;2969;g3f62c33a15b_2_235"/>
          <p:cNvSpPr/>
          <p:nvPr/>
        </p:nvSpPr>
        <p:spPr>
          <a:xfrm>
            <a:off x="4773168" y="2560320"/>
            <a:ext cx="1188600" cy="32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p:txBody>
      </p:sp>
      <p:sp>
        <p:nvSpPr>
          <p:cNvPr id="2970" name="Google Shape;2970;g3f62c33a15b_2_235"/>
          <p:cNvSpPr/>
          <p:nvPr/>
        </p:nvSpPr>
        <p:spPr>
          <a:xfrm>
            <a:off x="5961888" y="2560320"/>
            <a:ext cx="2834700" cy="32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rgbClr val="1E293B"/>
                </a:solidFill>
                <a:latin typeface="Calibri"/>
                <a:ea typeface="Calibri"/>
                <a:cs typeface="Calibri"/>
                <a:sym typeface="Calibri"/>
              </a:rPr>
              <a:t>0.8159</a:t>
            </a:r>
            <a:endParaRPr sz="1400" b="0" i="0" u="none" strike="noStrike" cap="none">
              <a:solidFill>
                <a:schemeClr val="dk1"/>
              </a:solidFill>
              <a:latin typeface="Calibri"/>
              <a:ea typeface="Calibri"/>
              <a:cs typeface="Calibri"/>
              <a:sym typeface="Calibri"/>
            </a:endParaRPr>
          </a:p>
        </p:txBody>
      </p:sp>
      <p:sp>
        <p:nvSpPr>
          <p:cNvPr id="2971" name="Google Shape;2971;g3f62c33a15b_2_235"/>
          <p:cNvSpPr/>
          <p:nvPr/>
        </p:nvSpPr>
        <p:spPr>
          <a:xfrm>
            <a:off x="4663440" y="2962656"/>
            <a:ext cx="4206300" cy="3291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2" name="Google Shape;2972;g3f62c33a15b_2_235"/>
          <p:cNvSpPr/>
          <p:nvPr/>
        </p:nvSpPr>
        <p:spPr>
          <a:xfrm>
            <a:off x="4773168" y="2962656"/>
            <a:ext cx="1188600" cy="32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ŷ  =</a:t>
            </a:r>
            <a:endParaRPr sz="1400" b="0" i="0" u="none" strike="noStrike" cap="none">
              <a:solidFill>
                <a:schemeClr val="dk1"/>
              </a:solidFill>
              <a:latin typeface="Calibri"/>
              <a:ea typeface="Calibri"/>
              <a:cs typeface="Calibri"/>
              <a:sym typeface="Calibri"/>
            </a:endParaRPr>
          </a:p>
        </p:txBody>
      </p:sp>
      <p:sp>
        <p:nvSpPr>
          <p:cNvPr id="2973" name="Google Shape;2973;g3f62c33a15b_2_235"/>
          <p:cNvSpPr/>
          <p:nvPr/>
        </p:nvSpPr>
        <p:spPr>
          <a:xfrm>
            <a:off x="5961888" y="2962656"/>
            <a:ext cx="2834700" cy="32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rgbClr val="1E293B"/>
                </a:solidFill>
                <a:latin typeface="Calibri"/>
                <a:ea typeface="Calibri"/>
                <a:cs typeface="Calibri"/>
                <a:sym typeface="Calibri"/>
              </a:rPr>
              <a:t>σ(0.8159)</a:t>
            </a:r>
            <a:endParaRPr sz="1400" b="0" i="0" u="none" strike="noStrike" cap="none">
              <a:solidFill>
                <a:schemeClr val="dk1"/>
              </a:solidFill>
              <a:latin typeface="Calibri"/>
              <a:ea typeface="Calibri"/>
              <a:cs typeface="Calibri"/>
              <a:sym typeface="Calibri"/>
            </a:endParaRPr>
          </a:p>
        </p:txBody>
      </p:sp>
      <p:sp>
        <p:nvSpPr>
          <p:cNvPr id="2974" name="Google Shape;2974;g3f62c33a15b_2_235"/>
          <p:cNvSpPr/>
          <p:nvPr/>
        </p:nvSpPr>
        <p:spPr>
          <a:xfrm>
            <a:off x="4663440" y="3346704"/>
            <a:ext cx="4206300" cy="438900"/>
          </a:xfrm>
          <a:prstGeom prst="rect">
            <a:avLst/>
          </a:prstGeom>
          <a:solidFill>
            <a:srgbClr val="E1F5EE"/>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5" name="Google Shape;2975;g3f62c33a15b_2_235"/>
          <p:cNvSpPr/>
          <p:nvPr/>
        </p:nvSpPr>
        <p:spPr>
          <a:xfrm>
            <a:off x="4773168" y="3346704"/>
            <a:ext cx="1188600" cy="438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p:txBody>
      </p:sp>
      <p:sp>
        <p:nvSpPr>
          <p:cNvPr id="2976" name="Google Shape;2976;g3f62c33a15b_2_235"/>
          <p:cNvSpPr/>
          <p:nvPr/>
        </p:nvSpPr>
        <p:spPr>
          <a:xfrm>
            <a:off x="5961888" y="3346704"/>
            <a:ext cx="2834700" cy="438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rgbClr val="1E293B"/>
                </a:solidFill>
                <a:latin typeface="Calibri"/>
                <a:ea typeface="Calibri"/>
                <a:cs typeface="Calibri"/>
                <a:sym typeface="Calibri"/>
              </a:rPr>
              <a:t>0.6934</a:t>
            </a:r>
            <a:endParaRPr sz="1400" b="0" i="0" u="none" strike="noStrike" cap="none">
              <a:solidFill>
                <a:schemeClr val="dk1"/>
              </a:solidFill>
              <a:latin typeface="Calibri"/>
              <a:ea typeface="Calibri"/>
              <a:cs typeface="Calibri"/>
              <a:sym typeface="Calibri"/>
            </a:endParaRPr>
          </a:p>
        </p:txBody>
      </p:sp>
      <p:sp>
        <p:nvSpPr>
          <p:cNvPr id="2977" name="Google Shape;2977;g3f62c33a15b_2_235"/>
          <p:cNvSpPr/>
          <p:nvPr/>
        </p:nvSpPr>
        <p:spPr>
          <a:xfrm>
            <a:off x="4663440" y="3931920"/>
            <a:ext cx="1280100" cy="6585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8" name="Google Shape;2978;g3f62c33a15b_2_235"/>
          <p:cNvSpPr/>
          <p:nvPr/>
        </p:nvSpPr>
        <p:spPr>
          <a:xfrm>
            <a:off x="4754880" y="3995928"/>
            <a:ext cx="10974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900"/>
              <a:buFont typeface="Calibri"/>
              <a:buNone/>
            </a:pPr>
            <a:r>
              <a:rPr lang="en" sz="1400" b="0" i="0" u="none" strike="noStrike" cap="none">
                <a:solidFill>
                  <a:schemeClr val="dk1"/>
                </a:solidFill>
                <a:latin typeface="Calibri"/>
                <a:ea typeface="Calibri"/>
                <a:cs typeface="Calibri"/>
                <a:sym typeface="Calibri"/>
              </a:rPr>
              <a:t>z₃</a:t>
            </a:r>
            <a:endParaRPr sz="1400" b="0" i="0" u="none" strike="noStrike" cap="none">
              <a:solidFill>
                <a:schemeClr val="dk1"/>
              </a:solidFill>
              <a:latin typeface="Calibri"/>
              <a:ea typeface="Calibri"/>
              <a:cs typeface="Calibri"/>
              <a:sym typeface="Calibri"/>
            </a:endParaRPr>
          </a:p>
        </p:txBody>
      </p:sp>
      <p:sp>
        <p:nvSpPr>
          <p:cNvPr id="2979" name="Google Shape;2979;g3f62c33a15b_2_235"/>
          <p:cNvSpPr/>
          <p:nvPr/>
        </p:nvSpPr>
        <p:spPr>
          <a:xfrm>
            <a:off x="4754880" y="4224528"/>
            <a:ext cx="10974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600"/>
              <a:buFont typeface="Consolas"/>
              <a:buNone/>
            </a:pPr>
            <a:r>
              <a:rPr lang="en" sz="1600" b="1" i="0" u="none" strike="noStrike" cap="none">
                <a:solidFill>
                  <a:srgbClr val="1E293B"/>
                </a:solidFill>
                <a:latin typeface="Consolas"/>
                <a:ea typeface="Consolas"/>
                <a:cs typeface="Consolas"/>
                <a:sym typeface="Consolas"/>
              </a:rPr>
              <a:t>0.8159</a:t>
            </a:r>
            <a:endParaRPr sz="1600" b="0" i="0" u="none" strike="noStrike" cap="none">
              <a:solidFill>
                <a:schemeClr val="dk1"/>
              </a:solidFill>
              <a:latin typeface="Calibri"/>
              <a:ea typeface="Calibri"/>
              <a:cs typeface="Calibri"/>
              <a:sym typeface="Calibri"/>
            </a:endParaRPr>
          </a:p>
        </p:txBody>
      </p:sp>
      <p:sp>
        <p:nvSpPr>
          <p:cNvPr id="2980" name="Google Shape;2980;g3f62c33a15b_2_235"/>
          <p:cNvSpPr/>
          <p:nvPr/>
        </p:nvSpPr>
        <p:spPr>
          <a:xfrm>
            <a:off x="6080760" y="3931920"/>
            <a:ext cx="1280100" cy="6585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1" name="Google Shape;2981;g3f62c33a15b_2_235"/>
          <p:cNvSpPr/>
          <p:nvPr/>
        </p:nvSpPr>
        <p:spPr>
          <a:xfrm>
            <a:off x="6172200" y="3995928"/>
            <a:ext cx="10974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900"/>
              <a:buFont typeface="Calibri"/>
              <a:buNone/>
            </a:pPr>
            <a:r>
              <a:rPr lang="en" sz="1400" b="0" i="0" u="none" strike="noStrike" cap="none">
                <a:solidFill>
                  <a:schemeClr val="dk1"/>
                </a:solidFill>
                <a:latin typeface="Calibri"/>
                <a:ea typeface="Calibri"/>
                <a:cs typeface="Calibri"/>
                <a:sym typeface="Calibri"/>
              </a:rPr>
              <a:t>ŷ(predicted)</a:t>
            </a:r>
            <a:endParaRPr sz="1400" b="0" i="0" u="none" strike="noStrike" cap="none">
              <a:solidFill>
                <a:schemeClr val="dk1"/>
              </a:solidFill>
              <a:latin typeface="Calibri"/>
              <a:ea typeface="Calibri"/>
              <a:cs typeface="Calibri"/>
              <a:sym typeface="Calibri"/>
            </a:endParaRPr>
          </a:p>
        </p:txBody>
      </p:sp>
      <p:sp>
        <p:nvSpPr>
          <p:cNvPr id="2982" name="Google Shape;2982;g3f62c33a15b_2_235"/>
          <p:cNvSpPr/>
          <p:nvPr/>
        </p:nvSpPr>
        <p:spPr>
          <a:xfrm>
            <a:off x="6172200" y="4224528"/>
            <a:ext cx="10974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BA7517"/>
              </a:buClr>
              <a:buSzPts val="1600"/>
              <a:buFont typeface="Consolas"/>
              <a:buNone/>
            </a:pPr>
            <a:r>
              <a:rPr lang="en" sz="1600" b="1" i="0" u="none" strike="noStrike" cap="none">
                <a:solidFill>
                  <a:srgbClr val="BA7517"/>
                </a:solidFill>
                <a:latin typeface="Consolas"/>
                <a:ea typeface="Consolas"/>
                <a:cs typeface="Consolas"/>
                <a:sym typeface="Consolas"/>
              </a:rPr>
              <a:t>0.6934</a:t>
            </a:r>
            <a:endParaRPr sz="1600" b="0" i="0" u="none" strike="noStrike" cap="none">
              <a:solidFill>
                <a:schemeClr val="dk1"/>
              </a:solidFill>
              <a:latin typeface="Calibri"/>
              <a:ea typeface="Calibri"/>
              <a:cs typeface="Calibri"/>
              <a:sym typeface="Calibri"/>
            </a:endParaRPr>
          </a:p>
        </p:txBody>
      </p:sp>
      <p:sp>
        <p:nvSpPr>
          <p:cNvPr id="2983" name="Google Shape;2983;g3f62c33a15b_2_235"/>
          <p:cNvSpPr/>
          <p:nvPr/>
        </p:nvSpPr>
        <p:spPr>
          <a:xfrm>
            <a:off x="7498080" y="3931920"/>
            <a:ext cx="1280100" cy="6585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4" name="Google Shape;2984;g3f62c33a15b_2_235"/>
          <p:cNvSpPr/>
          <p:nvPr/>
        </p:nvSpPr>
        <p:spPr>
          <a:xfrm>
            <a:off x="7589520" y="3995928"/>
            <a:ext cx="10974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900"/>
              <a:buFont typeface="Calibri"/>
              <a:buNone/>
            </a:pPr>
            <a:r>
              <a:rPr lang="en" sz="1400" b="0" i="0" u="none" strike="noStrike" cap="none">
                <a:solidFill>
                  <a:schemeClr val="dk1"/>
                </a:solidFill>
                <a:latin typeface="Calibri"/>
                <a:ea typeface="Calibri"/>
                <a:cs typeface="Calibri"/>
                <a:sym typeface="Calibri"/>
              </a:rPr>
              <a:t>target y</a:t>
            </a:r>
            <a:endParaRPr sz="1400" b="0" i="0" u="none" strike="noStrike" cap="none">
              <a:solidFill>
                <a:schemeClr val="dk1"/>
              </a:solidFill>
              <a:latin typeface="Calibri"/>
              <a:ea typeface="Calibri"/>
              <a:cs typeface="Calibri"/>
              <a:sym typeface="Calibri"/>
            </a:endParaRPr>
          </a:p>
        </p:txBody>
      </p:sp>
      <p:sp>
        <p:nvSpPr>
          <p:cNvPr id="2985" name="Google Shape;2985;g3f62c33a15b_2_235"/>
          <p:cNvSpPr/>
          <p:nvPr/>
        </p:nvSpPr>
        <p:spPr>
          <a:xfrm>
            <a:off x="7589520" y="4224528"/>
            <a:ext cx="10974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D9E75"/>
              </a:buClr>
              <a:buSzPts val="1600"/>
              <a:buFont typeface="Consolas"/>
              <a:buNone/>
            </a:pPr>
            <a:r>
              <a:rPr lang="en" sz="1600" b="1" i="0" u="none" strike="noStrike" cap="none">
                <a:solidFill>
                  <a:srgbClr val="1D9E75"/>
                </a:solidFill>
                <a:latin typeface="Consolas"/>
                <a:ea typeface="Consolas"/>
                <a:cs typeface="Consolas"/>
                <a:sym typeface="Consolas"/>
              </a:rPr>
              <a:t>1.0000</a:t>
            </a:r>
            <a:endParaRPr sz="1600" b="0" i="0" u="none" strike="noStrike" cap="none">
              <a:solidFill>
                <a:schemeClr val="dk1"/>
              </a:solidFill>
              <a:latin typeface="Calibri"/>
              <a:ea typeface="Calibri"/>
              <a:cs typeface="Calibri"/>
              <a:sym typeface="Calibri"/>
            </a:endParaRPr>
          </a:p>
        </p:txBody>
      </p:sp>
      <p:sp>
        <p:nvSpPr>
          <p:cNvPr id="2986" name="Google Shape;2986;g3f62c33a15b_2_235"/>
          <p:cNvSpPr/>
          <p:nvPr/>
        </p:nvSpPr>
        <p:spPr>
          <a:xfrm>
            <a:off x="4663440" y="4736592"/>
            <a:ext cx="42063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000" b="0" i="1" u="none" strike="noStrike" cap="none">
                <a:solidFill>
                  <a:srgbClr val="64748B"/>
                </a:solidFill>
                <a:latin typeface="Calibri"/>
                <a:ea typeface="Calibri"/>
                <a:cs typeface="Calibri"/>
                <a:sym typeface="Calibri"/>
              </a:rPr>
              <a:t>ŷ=0.6934 but target=1.0 — prediction is too low. Error = 0.3066.</a:t>
            </a:r>
            <a:endParaRPr sz="1000" b="0" i="0" u="none" strike="noStrike" cap="none">
              <a:solidFill>
                <a:schemeClr val="dk1"/>
              </a:solidFill>
              <a:latin typeface="Calibri"/>
              <a:ea typeface="Calibri"/>
              <a:cs typeface="Calibri"/>
              <a:sym typeface="Calibri"/>
            </a:endParaRPr>
          </a:p>
        </p:txBody>
      </p:sp>
      <p:pic>
        <p:nvPicPr>
          <p:cNvPr id="2987" name="Google Shape;2987;g3f62c33a15b_2_235"/>
          <p:cNvPicPr preferRelativeResize="0"/>
          <p:nvPr/>
        </p:nvPicPr>
        <p:blipFill rotWithShape="1">
          <a:blip r:embed="rId3">
            <a:alphaModFix/>
          </a:blip>
          <a:srcRect/>
          <a:stretch/>
        </p:blipFill>
        <p:spPr>
          <a:xfrm>
            <a:off x="8369125" y="0"/>
            <a:ext cx="774877" cy="867174"/>
          </a:xfrm>
          <a:prstGeom prst="rect">
            <a:avLst/>
          </a:prstGeom>
          <a:noFill/>
          <a:ln>
            <a:noFill/>
          </a:ln>
        </p:spPr>
      </p:pic>
      <p:pic>
        <p:nvPicPr>
          <p:cNvPr id="2988" name="Google Shape;2988;g3f62c33a15b_2_235"/>
          <p:cNvPicPr preferRelativeResize="0"/>
          <p:nvPr/>
        </p:nvPicPr>
        <p:blipFill rotWithShape="1">
          <a:blip r:embed="rId4">
            <a:alphaModFix/>
          </a:blip>
          <a:srcRect b="47266"/>
          <a:stretch/>
        </p:blipFill>
        <p:spPr>
          <a:xfrm>
            <a:off x="191075" y="3323725"/>
            <a:ext cx="2046884" cy="1297875"/>
          </a:xfrm>
          <a:prstGeom prst="rect">
            <a:avLst/>
          </a:prstGeom>
          <a:noFill/>
          <a:ln>
            <a:noFill/>
          </a:ln>
        </p:spPr>
      </p:pic>
      <p:pic>
        <p:nvPicPr>
          <p:cNvPr id="2989" name="Google Shape;2989;g3f62c33a15b_2_235"/>
          <p:cNvPicPr preferRelativeResize="0"/>
          <p:nvPr/>
        </p:nvPicPr>
        <p:blipFill rotWithShape="1">
          <a:blip r:embed="rId4">
            <a:alphaModFix/>
          </a:blip>
          <a:srcRect t="49947"/>
          <a:stretch/>
        </p:blipFill>
        <p:spPr>
          <a:xfrm>
            <a:off x="2102263" y="3241372"/>
            <a:ext cx="2156550" cy="1297872"/>
          </a:xfrm>
          <a:prstGeom prst="rect">
            <a:avLst/>
          </a:prstGeom>
          <a:noFill/>
          <a:ln>
            <a:noFill/>
          </a:ln>
        </p:spPr>
      </p:pic>
      <p:sp>
        <p:nvSpPr>
          <p:cNvPr id="2990" name="Google Shape;2990;g3f62c33a15b_2_235"/>
          <p:cNvSpPr txBox="1"/>
          <p:nvPr/>
        </p:nvSpPr>
        <p:spPr>
          <a:xfrm>
            <a:off x="449363" y="2939725"/>
            <a:ext cx="15303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500" b="0" i="0" u="none" strike="noStrike" cap="none">
                <a:solidFill>
                  <a:schemeClr val="dk2"/>
                </a:solidFill>
                <a:latin typeface="Arial"/>
                <a:ea typeface="Arial"/>
                <a:cs typeface="Arial"/>
                <a:sym typeface="Arial"/>
              </a:rPr>
              <a:t>Forward pass - </a:t>
            </a:r>
            <a:endParaRPr sz="1500" b="0" i="0" u="none" strike="noStrike" cap="none">
              <a:solidFill>
                <a:schemeClr val="dk2"/>
              </a:solidFill>
              <a:latin typeface="Arial"/>
              <a:ea typeface="Arial"/>
              <a:cs typeface="Arial"/>
              <a:sym typeface="Arial"/>
            </a:endParaRPr>
          </a:p>
        </p:txBody>
      </p:sp>
      <p:pic>
        <p:nvPicPr>
          <p:cNvPr id="2991" name="Google Shape;2991;g3f62c33a15b_2_235"/>
          <p:cNvPicPr preferRelativeResize="0"/>
          <p:nvPr/>
        </p:nvPicPr>
        <p:blipFill rotWithShape="1">
          <a:blip r:embed="rId5">
            <a:alphaModFix/>
          </a:blip>
          <a:srcRect/>
          <a:stretch/>
        </p:blipFill>
        <p:spPr>
          <a:xfrm>
            <a:off x="1092699" y="4585577"/>
            <a:ext cx="2264475" cy="415500"/>
          </a:xfrm>
          <a:prstGeom prst="rect">
            <a:avLst/>
          </a:prstGeom>
          <a:noFill/>
          <a:ln>
            <a:noFill/>
          </a:ln>
        </p:spPr>
      </p:pic>
      <p:sp>
        <p:nvSpPr>
          <p:cNvPr id="2992" name="Google Shape;2992;g3f62c33a15b_2_235"/>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8</a:t>
            </a:r>
            <a:r>
              <a:rPr lang="en" sz="1000">
                <a:solidFill>
                  <a:srgbClr val="8899AA"/>
                </a:solidFill>
              </a:rPr>
              <a:t>7</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97"/>
        <p:cNvGrpSpPr/>
        <p:nvPr/>
      </p:nvGrpSpPr>
      <p:grpSpPr>
        <a:xfrm>
          <a:off x="0" y="0"/>
          <a:ext cx="0" cy="0"/>
          <a:chOff x="0" y="0"/>
          <a:chExt cx="0" cy="0"/>
        </a:xfrm>
      </p:grpSpPr>
      <p:sp>
        <p:nvSpPr>
          <p:cNvPr id="2998" name="Google Shape;2998;g3f62c33a15b_2_296"/>
          <p:cNvSpPr/>
          <p:nvPr/>
        </p:nvSpPr>
        <p:spPr>
          <a:xfrm>
            <a:off x="2202800" y="164592"/>
            <a:ext cx="6675000" cy="402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2200"/>
              <a:buFont typeface="Calibri"/>
              <a:buNone/>
            </a:pPr>
            <a:r>
              <a:rPr lang="en" sz="2800" b="1" i="0" u="none" strike="noStrike" cap="none">
                <a:solidFill>
                  <a:srgbClr val="1E293B"/>
                </a:solidFill>
                <a:latin typeface="Calibri"/>
                <a:ea typeface="Calibri"/>
                <a:cs typeface="Calibri"/>
                <a:sym typeface="Calibri"/>
              </a:rPr>
              <a:t>Compute MSE Loss</a:t>
            </a:r>
            <a:endParaRPr sz="2800" b="0" i="0" u="none" strike="noStrike" cap="none">
              <a:solidFill>
                <a:schemeClr val="dk1"/>
              </a:solidFill>
              <a:latin typeface="Calibri"/>
              <a:ea typeface="Calibri"/>
              <a:cs typeface="Calibri"/>
              <a:sym typeface="Calibri"/>
            </a:endParaRPr>
          </a:p>
        </p:txBody>
      </p:sp>
      <p:sp>
        <p:nvSpPr>
          <p:cNvPr id="2999" name="Google Shape;2999;g3f62c33a15b_2_296"/>
          <p:cNvSpPr/>
          <p:nvPr/>
        </p:nvSpPr>
        <p:spPr>
          <a:xfrm>
            <a:off x="2103120" y="667577"/>
            <a:ext cx="66750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1200"/>
              <a:buFont typeface="Calibri"/>
              <a:buNone/>
            </a:pPr>
            <a:r>
              <a:rPr lang="en" sz="1600" b="0" i="0" u="none" strike="noStrike" cap="none">
                <a:solidFill>
                  <a:schemeClr val="dk1"/>
                </a:solidFill>
                <a:latin typeface="Calibri"/>
                <a:ea typeface="Calibri"/>
                <a:cs typeface="Calibri"/>
                <a:sym typeface="Calibri"/>
              </a:rPr>
              <a:t>How far is the prediction from the target?</a:t>
            </a:r>
            <a:endParaRPr sz="1600" b="0" i="0" u="none" strike="noStrike" cap="none">
              <a:solidFill>
                <a:schemeClr val="dk1"/>
              </a:solidFill>
              <a:latin typeface="Calibri"/>
              <a:ea typeface="Calibri"/>
              <a:cs typeface="Calibri"/>
              <a:sym typeface="Calibri"/>
            </a:endParaRPr>
          </a:p>
        </p:txBody>
      </p:sp>
      <p:cxnSp>
        <p:nvCxnSpPr>
          <p:cNvPr id="3000" name="Google Shape;3000;g3f62c33a15b_2_296"/>
          <p:cNvCxnSpPr/>
          <p:nvPr/>
        </p:nvCxnSpPr>
        <p:spPr>
          <a:xfrm rot="10800000" flipH="1">
            <a:off x="777240" y="1783140"/>
            <a:ext cx="1326000" cy="594300"/>
          </a:xfrm>
          <a:prstGeom prst="straightConnector1">
            <a:avLst/>
          </a:prstGeom>
          <a:noFill/>
          <a:ln w="10150" cap="flat" cmpd="sng">
            <a:solidFill>
              <a:srgbClr val="CBD5E1"/>
            </a:solidFill>
            <a:prstDash val="solid"/>
            <a:round/>
            <a:headEnd type="none" w="sm" len="sm"/>
            <a:tailEnd type="none" w="sm" len="sm"/>
          </a:ln>
        </p:spPr>
      </p:cxnSp>
      <p:sp>
        <p:nvSpPr>
          <p:cNvPr id="3001" name="Google Shape;3001;g3f62c33a15b_2_296"/>
          <p:cNvSpPr/>
          <p:nvPr/>
        </p:nvSpPr>
        <p:spPr>
          <a:xfrm>
            <a:off x="887498" y="1933950"/>
            <a:ext cx="9000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w₁=0.6000</a:t>
            </a:r>
            <a:endParaRPr sz="1100" b="0" i="0" u="none" strike="noStrike" cap="none">
              <a:solidFill>
                <a:schemeClr val="dk1"/>
              </a:solidFill>
              <a:latin typeface="Calibri"/>
              <a:ea typeface="Calibri"/>
              <a:cs typeface="Calibri"/>
              <a:sym typeface="Calibri"/>
            </a:endParaRPr>
          </a:p>
        </p:txBody>
      </p:sp>
      <p:cxnSp>
        <p:nvCxnSpPr>
          <p:cNvPr id="3002" name="Google Shape;3002;g3f62c33a15b_2_296"/>
          <p:cNvCxnSpPr/>
          <p:nvPr/>
        </p:nvCxnSpPr>
        <p:spPr>
          <a:xfrm>
            <a:off x="777240" y="2377440"/>
            <a:ext cx="1326000" cy="594300"/>
          </a:xfrm>
          <a:prstGeom prst="straightConnector1">
            <a:avLst/>
          </a:prstGeom>
          <a:noFill/>
          <a:ln w="10150" cap="flat" cmpd="sng">
            <a:solidFill>
              <a:srgbClr val="CBD5E1"/>
            </a:solidFill>
            <a:prstDash val="solid"/>
            <a:round/>
            <a:headEnd type="none" w="sm" len="sm"/>
            <a:tailEnd type="none" w="sm" len="sm"/>
          </a:ln>
        </p:spPr>
      </p:cxnSp>
      <p:sp>
        <p:nvSpPr>
          <p:cNvPr id="3003" name="Google Shape;3003;g3f62c33a15b_2_296"/>
          <p:cNvSpPr/>
          <p:nvPr/>
        </p:nvSpPr>
        <p:spPr>
          <a:xfrm>
            <a:off x="1069925" y="2501021"/>
            <a:ext cx="9888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w₂=0.4000</a:t>
            </a:r>
            <a:endParaRPr sz="1100" b="0" i="0" u="none" strike="noStrike" cap="none">
              <a:solidFill>
                <a:schemeClr val="dk1"/>
              </a:solidFill>
              <a:latin typeface="Calibri"/>
              <a:ea typeface="Calibri"/>
              <a:cs typeface="Calibri"/>
              <a:sym typeface="Calibri"/>
            </a:endParaRPr>
          </a:p>
        </p:txBody>
      </p:sp>
      <p:cxnSp>
        <p:nvCxnSpPr>
          <p:cNvPr id="3004" name="Google Shape;3004;g3f62c33a15b_2_296"/>
          <p:cNvCxnSpPr/>
          <p:nvPr/>
        </p:nvCxnSpPr>
        <p:spPr>
          <a:xfrm>
            <a:off x="2103120" y="1783080"/>
            <a:ext cx="1326000" cy="594300"/>
          </a:xfrm>
          <a:prstGeom prst="straightConnector1">
            <a:avLst/>
          </a:prstGeom>
          <a:noFill/>
          <a:ln w="10150" cap="flat" cmpd="sng">
            <a:solidFill>
              <a:srgbClr val="CBD5E1"/>
            </a:solidFill>
            <a:prstDash val="solid"/>
            <a:round/>
            <a:headEnd type="none" w="sm" len="sm"/>
            <a:tailEnd type="none" w="sm" len="sm"/>
          </a:ln>
        </p:spPr>
      </p:cxnSp>
      <p:sp>
        <p:nvSpPr>
          <p:cNvPr id="3005" name="Google Shape;3005;g3f62c33a15b_2_296"/>
          <p:cNvSpPr/>
          <p:nvPr/>
        </p:nvSpPr>
        <p:spPr>
          <a:xfrm>
            <a:off x="2418604" y="1933950"/>
            <a:ext cx="9000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w₃=0.8000</a:t>
            </a:r>
            <a:endParaRPr sz="1100" b="0" i="0" u="none" strike="noStrike" cap="none">
              <a:solidFill>
                <a:schemeClr val="dk1"/>
              </a:solidFill>
              <a:latin typeface="Calibri"/>
              <a:ea typeface="Calibri"/>
              <a:cs typeface="Calibri"/>
              <a:sym typeface="Calibri"/>
            </a:endParaRPr>
          </a:p>
        </p:txBody>
      </p:sp>
      <p:cxnSp>
        <p:nvCxnSpPr>
          <p:cNvPr id="3006" name="Google Shape;3006;g3f62c33a15b_2_296"/>
          <p:cNvCxnSpPr/>
          <p:nvPr/>
        </p:nvCxnSpPr>
        <p:spPr>
          <a:xfrm rot="10800000" flipH="1">
            <a:off x="2103120" y="2377500"/>
            <a:ext cx="1326000" cy="594300"/>
          </a:xfrm>
          <a:prstGeom prst="straightConnector1">
            <a:avLst/>
          </a:prstGeom>
          <a:noFill/>
          <a:ln w="10150" cap="flat" cmpd="sng">
            <a:solidFill>
              <a:srgbClr val="CBD5E1"/>
            </a:solidFill>
            <a:prstDash val="solid"/>
            <a:round/>
            <a:headEnd type="none" w="sm" len="sm"/>
            <a:tailEnd type="none" w="sm" len="sm"/>
          </a:ln>
        </p:spPr>
      </p:cxnSp>
      <p:sp>
        <p:nvSpPr>
          <p:cNvPr id="3007" name="Google Shape;3007;g3f62c33a15b_2_296"/>
          <p:cNvSpPr/>
          <p:nvPr/>
        </p:nvSpPr>
        <p:spPr>
          <a:xfrm>
            <a:off x="2192351" y="2473350"/>
            <a:ext cx="7749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w₄=0.5000</a:t>
            </a:r>
            <a:endParaRPr sz="1100" b="0" i="0" u="none" strike="noStrike" cap="none">
              <a:solidFill>
                <a:schemeClr val="dk1"/>
              </a:solidFill>
              <a:latin typeface="Calibri"/>
              <a:ea typeface="Calibri"/>
              <a:cs typeface="Calibri"/>
              <a:sym typeface="Calibri"/>
            </a:endParaRPr>
          </a:p>
        </p:txBody>
      </p:sp>
      <p:sp>
        <p:nvSpPr>
          <p:cNvPr id="3008" name="Google Shape;3008;g3f62c33a15b_2_296"/>
          <p:cNvSpPr/>
          <p:nvPr/>
        </p:nvSpPr>
        <p:spPr>
          <a:xfrm>
            <a:off x="484632" y="2084832"/>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9" name="Google Shape;3009;g3f62c33a15b_2_296"/>
          <p:cNvSpPr/>
          <p:nvPr/>
        </p:nvSpPr>
        <p:spPr>
          <a:xfrm>
            <a:off x="484632" y="217627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x</a:t>
            </a:r>
            <a:endParaRPr sz="1200" b="0" i="0" u="none" strike="noStrike" cap="none">
              <a:solidFill>
                <a:schemeClr val="dk1"/>
              </a:solidFill>
              <a:latin typeface="Calibri"/>
              <a:ea typeface="Calibri"/>
              <a:cs typeface="Calibri"/>
              <a:sym typeface="Calibri"/>
            </a:endParaRPr>
          </a:p>
        </p:txBody>
      </p:sp>
      <p:sp>
        <p:nvSpPr>
          <p:cNvPr id="3010" name="Google Shape;3010;g3f62c33a15b_2_296"/>
          <p:cNvSpPr/>
          <p:nvPr/>
        </p:nvSpPr>
        <p:spPr>
          <a:xfrm>
            <a:off x="484632" y="238658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1.0</a:t>
            </a:r>
            <a:endParaRPr sz="900" b="0" i="0" u="none" strike="noStrike" cap="none">
              <a:solidFill>
                <a:schemeClr val="dk1"/>
              </a:solidFill>
              <a:latin typeface="Calibri"/>
              <a:ea typeface="Calibri"/>
              <a:cs typeface="Calibri"/>
              <a:sym typeface="Calibri"/>
            </a:endParaRPr>
          </a:p>
        </p:txBody>
      </p:sp>
      <p:sp>
        <p:nvSpPr>
          <p:cNvPr id="3011" name="Google Shape;3011;g3f62c33a15b_2_296"/>
          <p:cNvSpPr/>
          <p:nvPr/>
        </p:nvSpPr>
        <p:spPr>
          <a:xfrm>
            <a:off x="1810512" y="1490472"/>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2" name="Google Shape;3012;g3f62c33a15b_2_296"/>
          <p:cNvSpPr/>
          <p:nvPr/>
        </p:nvSpPr>
        <p:spPr>
          <a:xfrm>
            <a:off x="1810512" y="158191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h₁</a:t>
            </a:r>
            <a:endParaRPr sz="1200" b="0" i="0" u="none" strike="noStrike" cap="none">
              <a:solidFill>
                <a:schemeClr val="dk1"/>
              </a:solidFill>
              <a:latin typeface="Calibri"/>
              <a:ea typeface="Calibri"/>
              <a:cs typeface="Calibri"/>
              <a:sym typeface="Calibri"/>
            </a:endParaRPr>
          </a:p>
        </p:txBody>
      </p:sp>
      <p:sp>
        <p:nvSpPr>
          <p:cNvPr id="3013" name="Google Shape;3013;g3f62c33a15b_2_296"/>
          <p:cNvSpPr/>
          <p:nvPr/>
        </p:nvSpPr>
        <p:spPr>
          <a:xfrm>
            <a:off x="1810512" y="179222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0.6457</a:t>
            </a:r>
            <a:endParaRPr sz="900" b="0" i="0" u="none" strike="noStrike" cap="none">
              <a:solidFill>
                <a:schemeClr val="dk1"/>
              </a:solidFill>
              <a:latin typeface="Calibri"/>
              <a:ea typeface="Calibri"/>
              <a:cs typeface="Calibri"/>
              <a:sym typeface="Calibri"/>
            </a:endParaRPr>
          </a:p>
        </p:txBody>
      </p:sp>
      <p:sp>
        <p:nvSpPr>
          <p:cNvPr id="3014" name="Google Shape;3014;g3f62c33a15b_2_296"/>
          <p:cNvSpPr/>
          <p:nvPr/>
        </p:nvSpPr>
        <p:spPr>
          <a:xfrm>
            <a:off x="1810512" y="2679192"/>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5" name="Google Shape;3015;g3f62c33a15b_2_296"/>
          <p:cNvSpPr/>
          <p:nvPr/>
        </p:nvSpPr>
        <p:spPr>
          <a:xfrm>
            <a:off x="1810512" y="277063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h₂</a:t>
            </a:r>
            <a:endParaRPr sz="1200" b="0" i="0" u="none" strike="noStrike" cap="none">
              <a:solidFill>
                <a:schemeClr val="dk1"/>
              </a:solidFill>
              <a:latin typeface="Calibri"/>
              <a:ea typeface="Calibri"/>
              <a:cs typeface="Calibri"/>
              <a:sym typeface="Calibri"/>
            </a:endParaRPr>
          </a:p>
        </p:txBody>
      </p:sp>
      <p:sp>
        <p:nvSpPr>
          <p:cNvPr id="3016" name="Google Shape;3016;g3f62c33a15b_2_296"/>
          <p:cNvSpPr/>
          <p:nvPr/>
        </p:nvSpPr>
        <p:spPr>
          <a:xfrm>
            <a:off x="1810512" y="298094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0.5987</a:t>
            </a:r>
            <a:endParaRPr sz="900" b="0" i="0" u="none" strike="noStrike" cap="none">
              <a:solidFill>
                <a:schemeClr val="dk1"/>
              </a:solidFill>
              <a:latin typeface="Calibri"/>
              <a:ea typeface="Calibri"/>
              <a:cs typeface="Calibri"/>
              <a:sym typeface="Calibri"/>
            </a:endParaRPr>
          </a:p>
        </p:txBody>
      </p:sp>
      <p:sp>
        <p:nvSpPr>
          <p:cNvPr id="3017" name="Google Shape;3017;g3f62c33a15b_2_296"/>
          <p:cNvSpPr/>
          <p:nvPr/>
        </p:nvSpPr>
        <p:spPr>
          <a:xfrm>
            <a:off x="3136392" y="2084832"/>
            <a:ext cx="585300" cy="585300"/>
          </a:xfrm>
          <a:prstGeom prst="ellipse">
            <a:avLst/>
          </a:prstGeom>
          <a:solidFill>
            <a:srgbClr val="0F6E56"/>
          </a:solidFill>
          <a:ln w="25400" cap="flat" cmpd="sng">
            <a:solidFill>
              <a:srgbClr val="1D9E7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8" name="Google Shape;3018;g3f62c33a15b_2_296"/>
          <p:cNvSpPr/>
          <p:nvPr/>
        </p:nvSpPr>
        <p:spPr>
          <a:xfrm>
            <a:off x="3136392" y="217627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1" i="0" u="none" strike="noStrike" cap="none">
                <a:solidFill>
                  <a:srgbClr val="FFFFFF"/>
                </a:solidFill>
                <a:latin typeface="Calibri"/>
                <a:ea typeface="Calibri"/>
                <a:cs typeface="Calibri"/>
                <a:sym typeface="Calibri"/>
              </a:rPr>
              <a:t>ŷ</a:t>
            </a:r>
            <a:endParaRPr sz="1200" b="0" i="0" u="none" strike="noStrike" cap="none">
              <a:solidFill>
                <a:schemeClr val="dk1"/>
              </a:solidFill>
              <a:latin typeface="Calibri"/>
              <a:ea typeface="Calibri"/>
              <a:cs typeface="Calibri"/>
              <a:sym typeface="Calibri"/>
            </a:endParaRPr>
          </a:p>
        </p:txBody>
      </p:sp>
      <p:sp>
        <p:nvSpPr>
          <p:cNvPr id="3019" name="Google Shape;3019;g3f62c33a15b_2_296"/>
          <p:cNvSpPr/>
          <p:nvPr/>
        </p:nvSpPr>
        <p:spPr>
          <a:xfrm>
            <a:off x="3136392" y="238658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onsolas"/>
              <a:buNone/>
            </a:pPr>
            <a:r>
              <a:rPr lang="en" sz="900" b="0" i="0" u="none" strike="noStrike" cap="none">
                <a:solidFill>
                  <a:srgbClr val="FFFFFF"/>
                </a:solidFill>
                <a:latin typeface="Consolas"/>
                <a:ea typeface="Consolas"/>
                <a:cs typeface="Consolas"/>
                <a:sym typeface="Consolas"/>
              </a:rPr>
              <a:t>0.6934</a:t>
            </a:r>
            <a:endParaRPr sz="900" b="0" i="0" u="none" strike="noStrike" cap="none">
              <a:solidFill>
                <a:schemeClr val="dk1"/>
              </a:solidFill>
              <a:latin typeface="Calibri"/>
              <a:ea typeface="Calibri"/>
              <a:cs typeface="Calibri"/>
              <a:sym typeface="Calibri"/>
            </a:endParaRPr>
          </a:p>
        </p:txBody>
      </p:sp>
      <p:sp>
        <p:nvSpPr>
          <p:cNvPr id="3020" name="Google Shape;3020;g3f62c33a15b_2_296"/>
          <p:cNvSpPr/>
          <p:nvPr/>
        </p:nvSpPr>
        <p:spPr>
          <a:xfrm>
            <a:off x="3794760" y="2267712"/>
            <a:ext cx="822900" cy="219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onsolas"/>
              <a:buNone/>
            </a:pPr>
            <a:r>
              <a:rPr lang="en" sz="1000" b="0" i="0" u="none" strike="noStrike" cap="none">
                <a:solidFill>
                  <a:srgbClr val="64748B"/>
                </a:solidFill>
                <a:latin typeface="Consolas"/>
                <a:ea typeface="Consolas"/>
                <a:cs typeface="Consolas"/>
                <a:sym typeface="Consolas"/>
              </a:rPr>
              <a:t>target y=1</a:t>
            </a:r>
            <a:endParaRPr sz="1000" b="0" i="0" u="none" strike="noStrike" cap="none">
              <a:solidFill>
                <a:schemeClr val="dk1"/>
              </a:solidFill>
              <a:latin typeface="Calibri"/>
              <a:ea typeface="Calibri"/>
              <a:cs typeface="Calibri"/>
              <a:sym typeface="Calibri"/>
            </a:endParaRPr>
          </a:p>
        </p:txBody>
      </p:sp>
      <p:sp>
        <p:nvSpPr>
          <p:cNvPr id="3021" name="Google Shape;3021;g3f62c33a15b_2_296"/>
          <p:cNvSpPr/>
          <p:nvPr/>
        </p:nvSpPr>
        <p:spPr>
          <a:xfrm>
            <a:off x="4663440" y="1005840"/>
            <a:ext cx="4206300" cy="310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D9E75"/>
              </a:buClr>
              <a:buSzPts val="1400"/>
              <a:buFont typeface="Calibri"/>
              <a:buNone/>
            </a:pPr>
            <a:r>
              <a:rPr lang="en" sz="1400" b="1" i="0" u="none" strike="noStrike" cap="none">
                <a:solidFill>
                  <a:srgbClr val="1D9E75"/>
                </a:solidFill>
                <a:latin typeface="Calibri"/>
                <a:ea typeface="Calibri"/>
                <a:cs typeface="Calibri"/>
                <a:sym typeface="Calibri"/>
              </a:rPr>
              <a:t>Mean Squared Error</a:t>
            </a:r>
            <a:endParaRPr sz="1400" b="0" i="0" u="none" strike="noStrike" cap="none">
              <a:solidFill>
                <a:schemeClr val="dk1"/>
              </a:solidFill>
              <a:latin typeface="Calibri"/>
              <a:ea typeface="Calibri"/>
              <a:cs typeface="Calibri"/>
              <a:sym typeface="Calibri"/>
            </a:endParaRPr>
          </a:p>
        </p:txBody>
      </p:sp>
      <p:sp>
        <p:nvSpPr>
          <p:cNvPr id="3022" name="Google Shape;3022;g3f62c33a15b_2_296"/>
          <p:cNvSpPr/>
          <p:nvPr/>
        </p:nvSpPr>
        <p:spPr>
          <a:xfrm>
            <a:off x="4663440" y="1389888"/>
            <a:ext cx="4206300" cy="4023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3" name="Google Shape;3023;g3f62c33a15b_2_296"/>
          <p:cNvSpPr/>
          <p:nvPr/>
        </p:nvSpPr>
        <p:spPr>
          <a:xfrm>
            <a:off x="4773168" y="1389888"/>
            <a:ext cx="11886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L   =</a:t>
            </a:r>
            <a:endParaRPr sz="1400" b="0" i="0" u="none" strike="noStrike" cap="none">
              <a:solidFill>
                <a:schemeClr val="dk1"/>
              </a:solidFill>
              <a:latin typeface="Calibri"/>
              <a:ea typeface="Calibri"/>
              <a:cs typeface="Calibri"/>
              <a:sym typeface="Calibri"/>
            </a:endParaRPr>
          </a:p>
        </p:txBody>
      </p:sp>
      <p:sp>
        <p:nvSpPr>
          <p:cNvPr id="3024" name="Google Shape;3024;g3f62c33a15b_2_296"/>
          <p:cNvSpPr/>
          <p:nvPr/>
        </p:nvSpPr>
        <p:spPr>
          <a:xfrm>
            <a:off x="5961888" y="1389888"/>
            <a:ext cx="28347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chemeClr val="dk1"/>
                </a:solidFill>
                <a:latin typeface="Consolas"/>
                <a:ea typeface="Consolas"/>
                <a:cs typeface="Consolas"/>
                <a:sym typeface="Consolas"/>
              </a:rPr>
              <a:t>½ × (y − ŷ)²</a:t>
            </a:r>
            <a:endParaRPr sz="1400" b="0" i="0" u="none" strike="noStrike" cap="none">
              <a:solidFill>
                <a:schemeClr val="dk1"/>
              </a:solidFill>
              <a:latin typeface="Calibri"/>
              <a:ea typeface="Calibri"/>
              <a:cs typeface="Calibri"/>
              <a:sym typeface="Calibri"/>
            </a:endParaRPr>
          </a:p>
        </p:txBody>
      </p:sp>
      <p:sp>
        <p:nvSpPr>
          <p:cNvPr id="3025" name="Google Shape;3025;g3f62c33a15b_2_296"/>
          <p:cNvSpPr/>
          <p:nvPr/>
        </p:nvSpPr>
        <p:spPr>
          <a:xfrm>
            <a:off x="4663440" y="1865376"/>
            <a:ext cx="4206300" cy="4023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6" name="Google Shape;3026;g3f62c33a15b_2_296"/>
          <p:cNvSpPr/>
          <p:nvPr/>
        </p:nvSpPr>
        <p:spPr>
          <a:xfrm>
            <a:off x="4773168" y="1865376"/>
            <a:ext cx="11886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p:txBody>
      </p:sp>
      <p:sp>
        <p:nvSpPr>
          <p:cNvPr id="3027" name="Google Shape;3027;g3f62c33a15b_2_296"/>
          <p:cNvSpPr/>
          <p:nvPr/>
        </p:nvSpPr>
        <p:spPr>
          <a:xfrm>
            <a:off x="5961888" y="1865376"/>
            <a:ext cx="28347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chemeClr val="dk1"/>
                </a:solidFill>
                <a:latin typeface="Consolas"/>
                <a:ea typeface="Consolas"/>
                <a:cs typeface="Consolas"/>
                <a:sym typeface="Consolas"/>
              </a:rPr>
              <a:t>½ × (1.0 − 0.6934)²</a:t>
            </a:r>
            <a:endParaRPr sz="1400" b="0" i="0" u="none" strike="noStrike" cap="none">
              <a:solidFill>
                <a:schemeClr val="dk1"/>
              </a:solidFill>
              <a:latin typeface="Calibri"/>
              <a:ea typeface="Calibri"/>
              <a:cs typeface="Calibri"/>
              <a:sym typeface="Calibri"/>
            </a:endParaRPr>
          </a:p>
        </p:txBody>
      </p:sp>
      <p:sp>
        <p:nvSpPr>
          <p:cNvPr id="3028" name="Google Shape;3028;g3f62c33a15b_2_296"/>
          <p:cNvSpPr/>
          <p:nvPr/>
        </p:nvSpPr>
        <p:spPr>
          <a:xfrm>
            <a:off x="4663440" y="2340864"/>
            <a:ext cx="4206300" cy="4023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9" name="Google Shape;3029;g3f62c33a15b_2_296"/>
          <p:cNvSpPr/>
          <p:nvPr/>
        </p:nvSpPr>
        <p:spPr>
          <a:xfrm>
            <a:off x="4773168" y="2340864"/>
            <a:ext cx="11886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p:txBody>
      </p:sp>
      <p:sp>
        <p:nvSpPr>
          <p:cNvPr id="3030" name="Google Shape;3030;g3f62c33a15b_2_296"/>
          <p:cNvSpPr/>
          <p:nvPr/>
        </p:nvSpPr>
        <p:spPr>
          <a:xfrm>
            <a:off x="5961888" y="2340864"/>
            <a:ext cx="28347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chemeClr val="dk1"/>
                </a:solidFill>
                <a:latin typeface="Consolas"/>
                <a:ea typeface="Consolas"/>
                <a:cs typeface="Consolas"/>
                <a:sym typeface="Consolas"/>
              </a:rPr>
              <a:t>½ × (0.3066)²</a:t>
            </a:r>
            <a:endParaRPr sz="1400" b="0" i="0" u="none" strike="noStrike" cap="none">
              <a:solidFill>
                <a:schemeClr val="dk1"/>
              </a:solidFill>
              <a:latin typeface="Calibri"/>
              <a:ea typeface="Calibri"/>
              <a:cs typeface="Calibri"/>
              <a:sym typeface="Calibri"/>
            </a:endParaRPr>
          </a:p>
        </p:txBody>
      </p:sp>
      <p:sp>
        <p:nvSpPr>
          <p:cNvPr id="3031" name="Google Shape;3031;g3f62c33a15b_2_296"/>
          <p:cNvSpPr/>
          <p:nvPr/>
        </p:nvSpPr>
        <p:spPr>
          <a:xfrm>
            <a:off x="4663440" y="2798064"/>
            <a:ext cx="4206300" cy="4023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2" name="Google Shape;3032;g3f62c33a15b_2_296"/>
          <p:cNvSpPr/>
          <p:nvPr/>
        </p:nvSpPr>
        <p:spPr>
          <a:xfrm>
            <a:off x="4773168" y="2798064"/>
            <a:ext cx="11886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p:txBody>
      </p:sp>
      <p:sp>
        <p:nvSpPr>
          <p:cNvPr id="3033" name="Google Shape;3033;g3f62c33a15b_2_296"/>
          <p:cNvSpPr/>
          <p:nvPr/>
        </p:nvSpPr>
        <p:spPr>
          <a:xfrm>
            <a:off x="5961888" y="2798064"/>
            <a:ext cx="28347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chemeClr val="dk1"/>
                </a:solidFill>
                <a:latin typeface="Consolas"/>
                <a:ea typeface="Consolas"/>
                <a:cs typeface="Consolas"/>
                <a:sym typeface="Consolas"/>
              </a:rPr>
              <a:t>½ × 0.0940</a:t>
            </a:r>
            <a:endParaRPr sz="1400" b="0" i="0" u="none" strike="noStrike" cap="none">
              <a:solidFill>
                <a:schemeClr val="dk1"/>
              </a:solidFill>
              <a:latin typeface="Calibri"/>
              <a:ea typeface="Calibri"/>
              <a:cs typeface="Calibri"/>
              <a:sym typeface="Calibri"/>
            </a:endParaRPr>
          </a:p>
        </p:txBody>
      </p:sp>
      <p:sp>
        <p:nvSpPr>
          <p:cNvPr id="3034" name="Google Shape;3034;g3f62c33a15b_2_296"/>
          <p:cNvSpPr/>
          <p:nvPr/>
        </p:nvSpPr>
        <p:spPr>
          <a:xfrm>
            <a:off x="4663440" y="3255264"/>
            <a:ext cx="4206300" cy="502800"/>
          </a:xfrm>
          <a:prstGeom prst="rect">
            <a:avLst/>
          </a:prstGeom>
          <a:solidFill>
            <a:srgbClr val="E1F5EE"/>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5" name="Google Shape;3035;g3f62c33a15b_2_296"/>
          <p:cNvSpPr/>
          <p:nvPr/>
        </p:nvSpPr>
        <p:spPr>
          <a:xfrm>
            <a:off x="4773168" y="3255264"/>
            <a:ext cx="1188600" cy="502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L   =</a:t>
            </a:r>
            <a:endParaRPr sz="1400" b="0" i="0" u="none" strike="noStrike" cap="none">
              <a:solidFill>
                <a:schemeClr val="dk1"/>
              </a:solidFill>
              <a:latin typeface="Calibri"/>
              <a:ea typeface="Calibri"/>
              <a:cs typeface="Calibri"/>
              <a:sym typeface="Calibri"/>
            </a:endParaRPr>
          </a:p>
        </p:txBody>
      </p:sp>
      <p:sp>
        <p:nvSpPr>
          <p:cNvPr id="3036" name="Google Shape;3036;g3f62c33a15b_2_296"/>
          <p:cNvSpPr/>
          <p:nvPr/>
        </p:nvSpPr>
        <p:spPr>
          <a:xfrm>
            <a:off x="5961888" y="3255264"/>
            <a:ext cx="2834700" cy="502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chemeClr val="dk1"/>
                </a:solidFill>
                <a:latin typeface="Consolas"/>
                <a:ea typeface="Consolas"/>
                <a:cs typeface="Consolas"/>
                <a:sym typeface="Consolas"/>
              </a:rPr>
              <a:t>0.0470</a:t>
            </a:r>
            <a:endParaRPr sz="1400" b="0" i="0" u="none" strike="noStrike" cap="none">
              <a:solidFill>
                <a:schemeClr val="dk1"/>
              </a:solidFill>
              <a:latin typeface="Calibri"/>
              <a:ea typeface="Calibri"/>
              <a:cs typeface="Calibri"/>
              <a:sym typeface="Calibri"/>
            </a:endParaRPr>
          </a:p>
        </p:txBody>
      </p:sp>
      <p:sp>
        <p:nvSpPr>
          <p:cNvPr id="3037" name="Google Shape;3037;g3f62c33a15b_2_296"/>
          <p:cNvSpPr/>
          <p:nvPr/>
        </p:nvSpPr>
        <p:spPr>
          <a:xfrm>
            <a:off x="4663440" y="3913632"/>
            <a:ext cx="1326000" cy="6585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8" name="Google Shape;3038;g3f62c33a15b_2_296"/>
          <p:cNvSpPr/>
          <p:nvPr/>
        </p:nvSpPr>
        <p:spPr>
          <a:xfrm>
            <a:off x="4754880" y="3977640"/>
            <a:ext cx="11430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900"/>
              <a:buFont typeface="Calibri"/>
              <a:buNone/>
            </a:pPr>
            <a:r>
              <a:rPr lang="en" sz="1400" b="0" i="0" u="none" strike="noStrike" cap="none">
                <a:solidFill>
                  <a:schemeClr val="dk1"/>
                </a:solidFill>
                <a:latin typeface="Calibri"/>
                <a:ea typeface="Calibri"/>
                <a:cs typeface="Calibri"/>
                <a:sym typeface="Calibri"/>
              </a:rPr>
              <a:t>error (y−ŷ)</a:t>
            </a:r>
            <a:endParaRPr sz="1400" b="0" i="0" u="none" strike="noStrike" cap="none">
              <a:solidFill>
                <a:schemeClr val="dk1"/>
              </a:solidFill>
              <a:latin typeface="Calibri"/>
              <a:ea typeface="Calibri"/>
              <a:cs typeface="Calibri"/>
              <a:sym typeface="Calibri"/>
            </a:endParaRPr>
          </a:p>
        </p:txBody>
      </p:sp>
      <p:sp>
        <p:nvSpPr>
          <p:cNvPr id="3039" name="Google Shape;3039;g3f62c33a15b_2_296"/>
          <p:cNvSpPr/>
          <p:nvPr/>
        </p:nvSpPr>
        <p:spPr>
          <a:xfrm>
            <a:off x="4754880" y="4206240"/>
            <a:ext cx="11430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BA7517"/>
              </a:buClr>
              <a:buSzPts val="1600"/>
              <a:buFont typeface="Consolas"/>
              <a:buNone/>
            </a:pPr>
            <a:r>
              <a:rPr lang="en" sz="1600" b="1" i="0" u="none" strike="noStrike" cap="none">
                <a:solidFill>
                  <a:srgbClr val="BA7517"/>
                </a:solidFill>
                <a:latin typeface="Consolas"/>
                <a:ea typeface="Consolas"/>
                <a:cs typeface="Consolas"/>
                <a:sym typeface="Consolas"/>
              </a:rPr>
              <a:t>0.3066</a:t>
            </a:r>
            <a:endParaRPr sz="1600" b="0" i="0" u="none" strike="noStrike" cap="none">
              <a:solidFill>
                <a:schemeClr val="dk1"/>
              </a:solidFill>
              <a:latin typeface="Calibri"/>
              <a:ea typeface="Calibri"/>
              <a:cs typeface="Calibri"/>
              <a:sym typeface="Calibri"/>
            </a:endParaRPr>
          </a:p>
        </p:txBody>
      </p:sp>
      <p:sp>
        <p:nvSpPr>
          <p:cNvPr id="3040" name="Google Shape;3040;g3f62c33a15b_2_296"/>
          <p:cNvSpPr/>
          <p:nvPr/>
        </p:nvSpPr>
        <p:spPr>
          <a:xfrm>
            <a:off x="6126480" y="3913632"/>
            <a:ext cx="1326000" cy="6585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1" name="Google Shape;3041;g3f62c33a15b_2_296"/>
          <p:cNvSpPr/>
          <p:nvPr/>
        </p:nvSpPr>
        <p:spPr>
          <a:xfrm>
            <a:off x="6217920" y="3977640"/>
            <a:ext cx="11430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900"/>
              <a:buFont typeface="Calibri"/>
              <a:buNone/>
            </a:pPr>
            <a:r>
              <a:rPr lang="en" sz="1400" b="0" i="0" u="none" strike="noStrike" cap="none">
                <a:solidFill>
                  <a:schemeClr val="dk1"/>
                </a:solidFill>
                <a:latin typeface="Calibri"/>
                <a:ea typeface="Calibri"/>
                <a:cs typeface="Calibri"/>
                <a:sym typeface="Calibri"/>
              </a:rPr>
              <a:t>(y−ŷ)²</a:t>
            </a:r>
            <a:endParaRPr sz="1400" b="0" i="0" u="none" strike="noStrike" cap="none">
              <a:solidFill>
                <a:schemeClr val="dk1"/>
              </a:solidFill>
              <a:latin typeface="Calibri"/>
              <a:ea typeface="Calibri"/>
              <a:cs typeface="Calibri"/>
              <a:sym typeface="Calibri"/>
            </a:endParaRPr>
          </a:p>
        </p:txBody>
      </p:sp>
      <p:sp>
        <p:nvSpPr>
          <p:cNvPr id="3042" name="Google Shape;3042;g3f62c33a15b_2_296"/>
          <p:cNvSpPr/>
          <p:nvPr/>
        </p:nvSpPr>
        <p:spPr>
          <a:xfrm>
            <a:off x="6217920" y="4206240"/>
            <a:ext cx="11430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600"/>
              <a:buFont typeface="Consolas"/>
              <a:buNone/>
            </a:pPr>
            <a:r>
              <a:rPr lang="en" sz="1600" b="1" i="0" u="none" strike="noStrike" cap="none">
                <a:solidFill>
                  <a:srgbClr val="1E293B"/>
                </a:solidFill>
                <a:latin typeface="Consolas"/>
                <a:ea typeface="Consolas"/>
                <a:cs typeface="Consolas"/>
                <a:sym typeface="Consolas"/>
              </a:rPr>
              <a:t>0.0940</a:t>
            </a:r>
            <a:endParaRPr sz="1600" b="0" i="0" u="none" strike="noStrike" cap="none">
              <a:solidFill>
                <a:schemeClr val="dk1"/>
              </a:solidFill>
              <a:latin typeface="Calibri"/>
              <a:ea typeface="Calibri"/>
              <a:cs typeface="Calibri"/>
              <a:sym typeface="Calibri"/>
            </a:endParaRPr>
          </a:p>
        </p:txBody>
      </p:sp>
      <p:sp>
        <p:nvSpPr>
          <p:cNvPr id="3043" name="Google Shape;3043;g3f62c33a15b_2_296"/>
          <p:cNvSpPr/>
          <p:nvPr/>
        </p:nvSpPr>
        <p:spPr>
          <a:xfrm>
            <a:off x="7589520" y="3913632"/>
            <a:ext cx="1234500" cy="6585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4" name="Google Shape;3044;g3f62c33a15b_2_296"/>
          <p:cNvSpPr/>
          <p:nvPr/>
        </p:nvSpPr>
        <p:spPr>
          <a:xfrm>
            <a:off x="7680960" y="3977640"/>
            <a:ext cx="10515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900"/>
              <a:buFont typeface="Calibri"/>
              <a:buNone/>
            </a:pPr>
            <a:r>
              <a:rPr lang="en" sz="1400" b="0" i="0" u="none" strike="noStrike" cap="none">
                <a:solidFill>
                  <a:schemeClr val="dk1"/>
                </a:solidFill>
                <a:latin typeface="Calibri"/>
                <a:ea typeface="Calibri"/>
                <a:cs typeface="Calibri"/>
                <a:sym typeface="Calibri"/>
              </a:rPr>
              <a:t>loss L</a:t>
            </a:r>
            <a:endParaRPr sz="1400" b="0" i="0" u="none" strike="noStrike" cap="none">
              <a:solidFill>
                <a:schemeClr val="dk1"/>
              </a:solidFill>
              <a:latin typeface="Calibri"/>
              <a:ea typeface="Calibri"/>
              <a:cs typeface="Calibri"/>
              <a:sym typeface="Calibri"/>
            </a:endParaRPr>
          </a:p>
        </p:txBody>
      </p:sp>
      <p:sp>
        <p:nvSpPr>
          <p:cNvPr id="3045" name="Google Shape;3045;g3f62c33a15b_2_296"/>
          <p:cNvSpPr/>
          <p:nvPr/>
        </p:nvSpPr>
        <p:spPr>
          <a:xfrm>
            <a:off x="7680960" y="4206240"/>
            <a:ext cx="10515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BA7517"/>
              </a:buClr>
              <a:buSzPts val="1600"/>
              <a:buFont typeface="Consolas"/>
              <a:buNone/>
            </a:pPr>
            <a:r>
              <a:rPr lang="en" sz="1600" b="1" i="0" u="none" strike="noStrike" cap="none">
                <a:solidFill>
                  <a:srgbClr val="BA7517"/>
                </a:solidFill>
                <a:latin typeface="Consolas"/>
                <a:ea typeface="Consolas"/>
                <a:cs typeface="Consolas"/>
                <a:sym typeface="Consolas"/>
              </a:rPr>
              <a:t>0.0470</a:t>
            </a:r>
            <a:endParaRPr sz="1600" b="0" i="0" u="none" strike="noStrike" cap="none">
              <a:solidFill>
                <a:schemeClr val="dk1"/>
              </a:solidFill>
              <a:latin typeface="Calibri"/>
              <a:ea typeface="Calibri"/>
              <a:cs typeface="Calibri"/>
              <a:sym typeface="Calibri"/>
            </a:endParaRPr>
          </a:p>
        </p:txBody>
      </p:sp>
      <p:sp>
        <p:nvSpPr>
          <p:cNvPr id="3046" name="Google Shape;3046;g3f62c33a15b_2_296"/>
          <p:cNvSpPr/>
          <p:nvPr/>
        </p:nvSpPr>
        <p:spPr>
          <a:xfrm>
            <a:off x="4663440" y="4736592"/>
            <a:ext cx="42063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000" b="0" i="1" u="none" strike="noStrike" cap="none">
                <a:solidFill>
                  <a:srgbClr val="64748B"/>
                </a:solidFill>
                <a:latin typeface="Calibri"/>
                <a:ea typeface="Calibri"/>
                <a:cs typeface="Calibri"/>
                <a:sym typeface="Calibri"/>
              </a:rPr>
              <a:t>The ½ cancels the 2 from differentiation. Loss ≥ 0 always; 0 = perfect.</a:t>
            </a:r>
            <a:endParaRPr sz="1000" b="0" i="0" u="none" strike="noStrike" cap="none">
              <a:solidFill>
                <a:schemeClr val="dk1"/>
              </a:solidFill>
              <a:latin typeface="Calibri"/>
              <a:ea typeface="Calibri"/>
              <a:cs typeface="Calibri"/>
              <a:sym typeface="Calibri"/>
            </a:endParaRPr>
          </a:p>
        </p:txBody>
      </p:sp>
      <p:pic>
        <p:nvPicPr>
          <p:cNvPr id="3047" name="Google Shape;3047;g3f62c33a15b_2_296"/>
          <p:cNvPicPr preferRelativeResize="0"/>
          <p:nvPr/>
        </p:nvPicPr>
        <p:blipFill rotWithShape="1">
          <a:blip r:embed="rId3">
            <a:alphaModFix/>
          </a:blip>
          <a:srcRect/>
          <a:stretch/>
        </p:blipFill>
        <p:spPr>
          <a:xfrm>
            <a:off x="8369125" y="0"/>
            <a:ext cx="774877" cy="867174"/>
          </a:xfrm>
          <a:prstGeom prst="rect">
            <a:avLst/>
          </a:prstGeom>
          <a:noFill/>
          <a:ln>
            <a:noFill/>
          </a:ln>
        </p:spPr>
      </p:pic>
      <p:pic>
        <p:nvPicPr>
          <p:cNvPr id="3048" name="Google Shape;3048;g3f62c33a15b_2_296"/>
          <p:cNvPicPr preferRelativeResize="0"/>
          <p:nvPr/>
        </p:nvPicPr>
        <p:blipFill rotWithShape="1">
          <a:blip r:embed="rId4">
            <a:alphaModFix/>
          </a:blip>
          <a:srcRect/>
          <a:stretch/>
        </p:blipFill>
        <p:spPr>
          <a:xfrm>
            <a:off x="1402850" y="3685063"/>
            <a:ext cx="1733550" cy="600075"/>
          </a:xfrm>
          <a:prstGeom prst="rect">
            <a:avLst/>
          </a:prstGeom>
          <a:noFill/>
          <a:ln>
            <a:noFill/>
          </a:ln>
        </p:spPr>
      </p:pic>
      <p:sp>
        <p:nvSpPr>
          <p:cNvPr id="3049" name="Google Shape;3049;g3f62c33a15b_2_296"/>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8</a:t>
            </a:r>
            <a:r>
              <a:rPr lang="en" sz="1000">
                <a:solidFill>
                  <a:srgbClr val="8899AA"/>
                </a:solidFill>
              </a:rPr>
              <a:t>8</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54"/>
        <p:cNvGrpSpPr/>
        <p:nvPr/>
      </p:nvGrpSpPr>
      <p:grpSpPr>
        <a:xfrm>
          <a:off x="0" y="0"/>
          <a:ext cx="0" cy="0"/>
          <a:chOff x="0" y="0"/>
          <a:chExt cx="0" cy="0"/>
        </a:xfrm>
      </p:grpSpPr>
      <p:sp>
        <p:nvSpPr>
          <p:cNvPr id="3055" name="Google Shape;3055;g3f62c33a15b_2_351"/>
          <p:cNvSpPr/>
          <p:nvPr/>
        </p:nvSpPr>
        <p:spPr>
          <a:xfrm>
            <a:off x="875970" y="108316"/>
            <a:ext cx="6675000" cy="402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E293B"/>
              </a:buClr>
              <a:buSzPts val="2200"/>
              <a:buFont typeface="Calibri"/>
              <a:buNone/>
            </a:pPr>
            <a:r>
              <a:rPr lang="en" sz="2800" b="1" i="0" u="none" strike="noStrike" cap="none">
                <a:solidFill>
                  <a:schemeClr val="dk1"/>
                </a:solidFill>
                <a:latin typeface="Calibri"/>
                <a:ea typeface="Calibri"/>
                <a:cs typeface="Calibri"/>
                <a:sym typeface="Calibri"/>
              </a:rPr>
              <a:t>Objective— Weight update of w₃</a:t>
            </a:r>
            <a:endParaRPr sz="2800" b="0" i="0" u="none" strike="noStrike" cap="none">
              <a:solidFill>
                <a:schemeClr val="dk1"/>
              </a:solidFill>
              <a:latin typeface="Calibri"/>
              <a:ea typeface="Calibri"/>
              <a:cs typeface="Calibri"/>
              <a:sym typeface="Calibri"/>
            </a:endParaRPr>
          </a:p>
        </p:txBody>
      </p:sp>
      <p:sp>
        <p:nvSpPr>
          <p:cNvPr id="3056" name="Google Shape;3056;g3f62c33a15b_2_351"/>
          <p:cNvSpPr/>
          <p:nvPr/>
        </p:nvSpPr>
        <p:spPr>
          <a:xfrm>
            <a:off x="2103120" y="574654"/>
            <a:ext cx="66750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1200"/>
              <a:buFont typeface="Calibri"/>
              <a:buNone/>
            </a:pPr>
            <a:r>
              <a:rPr lang="en" sz="1600" b="0" i="0" u="none" strike="noStrike" cap="none">
                <a:solidFill>
                  <a:schemeClr val="dk1"/>
                </a:solidFill>
                <a:latin typeface="Calibri"/>
                <a:ea typeface="Calibri"/>
                <a:cs typeface="Calibri"/>
                <a:sym typeface="Calibri"/>
              </a:rPr>
              <a:t>Chain rule: how much should the output neuron change?</a:t>
            </a:r>
            <a:endParaRPr sz="1600" b="0" i="0" u="none" strike="noStrike" cap="none">
              <a:solidFill>
                <a:schemeClr val="dk1"/>
              </a:solidFill>
              <a:latin typeface="Calibri"/>
              <a:ea typeface="Calibri"/>
              <a:cs typeface="Calibri"/>
              <a:sym typeface="Calibri"/>
            </a:endParaRPr>
          </a:p>
        </p:txBody>
      </p:sp>
      <p:cxnSp>
        <p:nvCxnSpPr>
          <p:cNvPr id="3057" name="Google Shape;3057;g3f62c33a15b_2_351"/>
          <p:cNvCxnSpPr/>
          <p:nvPr/>
        </p:nvCxnSpPr>
        <p:spPr>
          <a:xfrm>
            <a:off x="1007270" y="1589468"/>
            <a:ext cx="1326000" cy="594300"/>
          </a:xfrm>
          <a:prstGeom prst="straightConnector1">
            <a:avLst/>
          </a:prstGeom>
          <a:noFill/>
          <a:ln w="10150" cap="flat" cmpd="sng">
            <a:solidFill>
              <a:srgbClr val="CBD5E1"/>
            </a:solidFill>
            <a:prstDash val="solid"/>
            <a:round/>
            <a:headEnd type="none" w="sm" len="sm"/>
            <a:tailEnd type="none" w="sm" len="sm"/>
          </a:ln>
        </p:spPr>
      </p:cxnSp>
      <p:sp>
        <p:nvSpPr>
          <p:cNvPr id="3058" name="Google Shape;3058;g3f62c33a15b_2_351"/>
          <p:cNvSpPr/>
          <p:nvPr/>
        </p:nvSpPr>
        <p:spPr>
          <a:xfrm>
            <a:off x="1322755" y="1740350"/>
            <a:ext cx="1010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w₃=0.8000</a:t>
            </a:r>
            <a:endParaRPr sz="1100" b="0" i="0" u="none" strike="noStrike" cap="none">
              <a:solidFill>
                <a:schemeClr val="dk1"/>
              </a:solidFill>
              <a:latin typeface="Calibri"/>
              <a:ea typeface="Calibri"/>
              <a:cs typeface="Calibri"/>
              <a:sym typeface="Calibri"/>
            </a:endParaRPr>
          </a:p>
        </p:txBody>
      </p:sp>
      <p:cxnSp>
        <p:nvCxnSpPr>
          <p:cNvPr id="3059" name="Google Shape;3059;g3f62c33a15b_2_351"/>
          <p:cNvCxnSpPr/>
          <p:nvPr/>
        </p:nvCxnSpPr>
        <p:spPr>
          <a:xfrm rot="10800000" flipH="1">
            <a:off x="1007270" y="2183888"/>
            <a:ext cx="1326000" cy="594300"/>
          </a:xfrm>
          <a:prstGeom prst="straightConnector1">
            <a:avLst/>
          </a:prstGeom>
          <a:noFill/>
          <a:ln w="10150" cap="flat" cmpd="sng">
            <a:solidFill>
              <a:srgbClr val="CBD5E1"/>
            </a:solidFill>
            <a:prstDash val="solid"/>
            <a:round/>
            <a:headEnd type="none" w="sm" len="sm"/>
            <a:tailEnd type="none" w="sm" len="sm"/>
          </a:ln>
        </p:spPr>
      </p:cxnSp>
      <p:sp>
        <p:nvSpPr>
          <p:cNvPr id="3060" name="Google Shape;3060;g3f62c33a15b_2_351"/>
          <p:cNvSpPr/>
          <p:nvPr/>
        </p:nvSpPr>
        <p:spPr>
          <a:xfrm>
            <a:off x="1140778" y="2334700"/>
            <a:ext cx="8769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w₄=0.5000</a:t>
            </a:r>
            <a:endParaRPr sz="1100" b="0" i="0" u="none" strike="noStrike" cap="none">
              <a:solidFill>
                <a:schemeClr val="dk1"/>
              </a:solidFill>
              <a:latin typeface="Calibri"/>
              <a:ea typeface="Calibri"/>
              <a:cs typeface="Calibri"/>
              <a:sym typeface="Calibri"/>
            </a:endParaRPr>
          </a:p>
        </p:txBody>
      </p:sp>
      <p:sp>
        <p:nvSpPr>
          <p:cNvPr id="3061" name="Google Shape;3061;g3f62c33a15b_2_351"/>
          <p:cNvSpPr/>
          <p:nvPr/>
        </p:nvSpPr>
        <p:spPr>
          <a:xfrm>
            <a:off x="714662" y="1296859"/>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2" name="Google Shape;3062;g3f62c33a15b_2_351"/>
          <p:cNvSpPr/>
          <p:nvPr/>
        </p:nvSpPr>
        <p:spPr>
          <a:xfrm>
            <a:off x="714662" y="1388300"/>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h₁</a:t>
            </a:r>
            <a:endParaRPr sz="1200" b="0" i="0" u="none" strike="noStrike" cap="none">
              <a:solidFill>
                <a:schemeClr val="dk1"/>
              </a:solidFill>
              <a:latin typeface="Calibri"/>
              <a:ea typeface="Calibri"/>
              <a:cs typeface="Calibri"/>
              <a:sym typeface="Calibri"/>
            </a:endParaRPr>
          </a:p>
        </p:txBody>
      </p:sp>
      <p:sp>
        <p:nvSpPr>
          <p:cNvPr id="3063" name="Google Shape;3063;g3f62c33a15b_2_351"/>
          <p:cNvSpPr/>
          <p:nvPr/>
        </p:nvSpPr>
        <p:spPr>
          <a:xfrm>
            <a:off x="714662" y="1598611"/>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0.6457</a:t>
            </a:r>
            <a:endParaRPr sz="900" b="0" i="0" u="none" strike="noStrike" cap="none">
              <a:solidFill>
                <a:schemeClr val="dk1"/>
              </a:solidFill>
              <a:latin typeface="Calibri"/>
              <a:ea typeface="Calibri"/>
              <a:cs typeface="Calibri"/>
              <a:sym typeface="Calibri"/>
            </a:endParaRPr>
          </a:p>
        </p:txBody>
      </p:sp>
      <p:sp>
        <p:nvSpPr>
          <p:cNvPr id="3064" name="Google Shape;3064;g3f62c33a15b_2_351"/>
          <p:cNvSpPr/>
          <p:nvPr/>
        </p:nvSpPr>
        <p:spPr>
          <a:xfrm>
            <a:off x="714662" y="2485580"/>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5" name="Google Shape;3065;g3f62c33a15b_2_351"/>
          <p:cNvSpPr/>
          <p:nvPr/>
        </p:nvSpPr>
        <p:spPr>
          <a:xfrm>
            <a:off x="714662" y="2577020"/>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h₂</a:t>
            </a:r>
            <a:endParaRPr sz="1200" b="0" i="0" u="none" strike="noStrike" cap="none">
              <a:solidFill>
                <a:schemeClr val="dk1"/>
              </a:solidFill>
              <a:latin typeface="Calibri"/>
              <a:ea typeface="Calibri"/>
              <a:cs typeface="Calibri"/>
              <a:sym typeface="Calibri"/>
            </a:endParaRPr>
          </a:p>
        </p:txBody>
      </p:sp>
      <p:sp>
        <p:nvSpPr>
          <p:cNvPr id="3066" name="Google Shape;3066;g3f62c33a15b_2_351"/>
          <p:cNvSpPr/>
          <p:nvPr/>
        </p:nvSpPr>
        <p:spPr>
          <a:xfrm>
            <a:off x="714662" y="2787332"/>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0.5987</a:t>
            </a:r>
            <a:endParaRPr sz="900" b="0" i="0" u="none" strike="noStrike" cap="none">
              <a:solidFill>
                <a:schemeClr val="dk1"/>
              </a:solidFill>
              <a:latin typeface="Calibri"/>
              <a:ea typeface="Calibri"/>
              <a:cs typeface="Calibri"/>
              <a:sym typeface="Calibri"/>
            </a:endParaRPr>
          </a:p>
        </p:txBody>
      </p:sp>
      <p:sp>
        <p:nvSpPr>
          <p:cNvPr id="3067" name="Google Shape;3067;g3f62c33a15b_2_351"/>
          <p:cNvSpPr/>
          <p:nvPr/>
        </p:nvSpPr>
        <p:spPr>
          <a:xfrm>
            <a:off x="2040542" y="1891220"/>
            <a:ext cx="585300" cy="585300"/>
          </a:xfrm>
          <a:prstGeom prst="ellipse">
            <a:avLst/>
          </a:prstGeom>
          <a:solidFill>
            <a:srgbClr val="854F0B"/>
          </a:solidFill>
          <a:ln w="25400" cap="flat" cmpd="sng">
            <a:solidFill>
              <a:srgbClr val="BA751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8" name="Google Shape;3068;g3f62c33a15b_2_351"/>
          <p:cNvSpPr/>
          <p:nvPr/>
        </p:nvSpPr>
        <p:spPr>
          <a:xfrm>
            <a:off x="2040542" y="1982660"/>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1" i="0" u="none" strike="noStrike" cap="none">
                <a:solidFill>
                  <a:srgbClr val="FFFFFF"/>
                </a:solidFill>
                <a:latin typeface="Calibri"/>
                <a:ea typeface="Calibri"/>
                <a:cs typeface="Calibri"/>
                <a:sym typeface="Calibri"/>
              </a:rPr>
              <a:t>ŷ</a:t>
            </a:r>
            <a:endParaRPr sz="1200" b="0" i="0" u="none" strike="noStrike" cap="none">
              <a:solidFill>
                <a:schemeClr val="dk1"/>
              </a:solidFill>
              <a:latin typeface="Calibri"/>
              <a:ea typeface="Calibri"/>
              <a:cs typeface="Calibri"/>
              <a:sym typeface="Calibri"/>
            </a:endParaRPr>
          </a:p>
        </p:txBody>
      </p:sp>
      <p:sp>
        <p:nvSpPr>
          <p:cNvPr id="3069" name="Google Shape;3069;g3f62c33a15b_2_351"/>
          <p:cNvSpPr/>
          <p:nvPr/>
        </p:nvSpPr>
        <p:spPr>
          <a:xfrm>
            <a:off x="2040542" y="2192972"/>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onsolas"/>
              <a:buNone/>
            </a:pPr>
            <a:r>
              <a:rPr lang="en" sz="900" b="0" i="0" u="none" strike="noStrike" cap="none">
                <a:solidFill>
                  <a:srgbClr val="FFFFFF"/>
                </a:solidFill>
                <a:latin typeface="Consolas"/>
                <a:ea typeface="Consolas"/>
                <a:cs typeface="Consolas"/>
                <a:sym typeface="Consolas"/>
              </a:rPr>
              <a:t>0.6934</a:t>
            </a:r>
            <a:endParaRPr sz="900" b="0" i="0" u="none" strike="noStrike" cap="none">
              <a:solidFill>
                <a:schemeClr val="dk1"/>
              </a:solidFill>
              <a:latin typeface="Calibri"/>
              <a:ea typeface="Calibri"/>
              <a:cs typeface="Calibri"/>
              <a:sym typeface="Calibri"/>
            </a:endParaRPr>
          </a:p>
        </p:txBody>
      </p:sp>
      <p:sp>
        <p:nvSpPr>
          <p:cNvPr id="3070" name="Google Shape;3070;g3f62c33a15b_2_351"/>
          <p:cNvSpPr/>
          <p:nvPr/>
        </p:nvSpPr>
        <p:spPr>
          <a:xfrm>
            <a:off x="2698910" y="2074100"/>
            <a:ext cx="822900" cy="219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onsolas"/>
              <a:buNone/>
            </a:pPr>
            <a:r>
              <a:rPr lang="en" sz="1000" b="0" i="0" u="none" strike="noStrike" cap="none">
                <a:solidFill>
                  <a:srgbClr val="64748B"/>
                </a:solidFill>
                <a:latin typeface="Consolas"/>
                <a:ea typeface="Consolas"/>
                <a:cs typeface="Consolas"/>
                <a:sym typeface="Consolas"/>
              </a:rPr>
              <a:t>target y=1</a:t>
            </a:r>
            <a:endParaRPr sz="1000" b="0" i="0" u="none" strike="noStrike" cap="none">
              <a:solidFill>
                <a:schemeClr val="dk1"/>
              </a:solidFill>
              <a:latin typeface="Calibri"/>
              <a:ea typeface="Calibri"/>
              <a:cs typeface="Calibri"/>
              <a:sym typeface="Calibri"/>
            </a:endParaRPr>
          </a:p>
        </p:txBody>
      </p:sp>
      <p:pic>
        <p:nvPicPr>
          <p:cNvPr id="3071" name="Google Shape;3071;g3f62c33a15b_2_351"/>
          <p:cNvPicPr preferRelativeResize="0"/>
          <p:nvPr/>
        </p:nvPicPr>
        <p:blipFill rotWithShape="1">
          <a:blip r:embed="rId3">
            <a:alphaModFix/>
          </a:blip>
          <a:srcRect/>
          <a:stretch/>
        </p:blipFill>
        <p:spPr>
          <a:xfrm>
            <a:off x="8369125" y="0"/>
            <a:ext cx="774877" cy="867174"/>
          </a:xfrm>
          <a:prstGeom prst="rect">
            <a:avLst/>
          </a:prstGeom>
          <a:noFill/>
          <a:ln>
            <a:noFill/>
          </a:ln>
        </p:spPr>
      </p:pic>
      <p:pic>
        <p:nvPicPr>
          <p:cNvPr id="3072" name="Google Shape;3072;g3f62c33a15b_2_351"/>
          <p:cNvPicPr preferRelativeResize="0"/>
          <p:nvPr/>
        </p:nvPicPr>
        <p:blipFill rotWithShape="1">
          <a:blip r:embed="rId4">
            <a:alphaModFix/>
          </a:blip>
          <a:srcRect/>
          <a:stretch/>
        </p:blipFill>
        <p:spPr>
          <a:xfrm>
            <a:off x="5341175" y="1388304"/>
            <a:ext cx="2209800" cy="733425"/>
          </a:xfrm>
          <a:prstGeom prst="rect">
            <a:avLst/>
          </a:prstGeom>
          <a:noFill/>
          <a:ln>
            <a:noFill/>
          </a:ln>
        </p:spPr>
      </p:pic>
      <p:pic>
        <p:nvPicPr>
          <p:cNvPr id="3073" name="Google Shape;3073;g3f62c33a15b_2_351"/>
          <p:cNvPicPr preferRelativeResize="0"/>
          <p:nvPr/>
        </p:nvPicPr>
        <p:blipFill rotWithShape="1">
          <a:blip r:embed="rId5">
            <a:alphaModFix/>
          </a:blip>
          <a:srcRect/>
          <a:stretch/>
        </p:blipFill>
        <p:spPr>
          <a:xfrm>
            <a:off x="4788725" y="2293705"/>
            <a:ext cx="3314700" cy="685800"/>
          </a:xfrm>
          <a:prstGeom prst="rect">
            <a:avLst/>
          </a:prstGeom>
          <a:noFill/>
          <a:ln>
            <a:noFill/>
          </a:ln>
        </p:spPr>
      </p:pic>
      <p:pic>
        <p:nvPicPr>
          <p:cNvPr id="3074" name="Google Shape;3074;g3f62c33a15b_2_351"/>
          <p:cNvPicPr preferRelativeResize="0"/>
          <p:nvPr/>
        </p:nvPicPr>
        <p:blipFill rotWithShape="1">
          <a:blip r:embed="rId6">
            <a:alphaModFix/>
          </a:blip>
          <a:srcRect/>
          <a:stretch/>
        </p:blipFill>
        <p:spPr>
          <a:xfrm>
            <a:off x="1448575" y="3555500"/>
            <a:ext cx="2590800" cy="1143000"/>
          </a:xfrm>
          <a:prstGeom prst="rect">
            <a:avLst/>
          </a:prstGeom>
          <a:noFill/>
          <a:ln>
            <a:noFill/>
          </a:ln>
        </p:spPr>
      </p:pic>
      <p:pic>
        <p:nvPicPr>
          <p:cNvPr id="3075" name="Google Shape;3075;g3f62c33a15b_2_351"/>
          <p:cNvPicPr preferRelativeResize="0"/>
          <p:nvPr/>
        </p:nvPicPr>
        <p:blipFill rotWithShape="1">
          <a:blip r:embed="rId7">
            <a:alphaModFix/>
          </a:blip>
          <a:srcRect/>
          <a:stretch/>
        </p:blipFill>
        <p:spPr>
          <a:xfrm>
            <a:off x="5341175" y="3674305"/>
            <a:ext cx="2209800" cy="781050"/>
          </a:xfrm>
          <a:prstGeom prst="rect">
            <a:avLst/>
          </a:prstGeom>
          <a:noFill/>
          <a:ln>
            <a:noFill/>
          </a:ln>
        </p:spPr>
      </p:pic>
      <p:sp>
        <p:nvSpPr>
          <p:cNvPr id="3076" name="Google Shape;3076;g3f62c33a15b_2_351"/>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8</a:t>
            </a:r>
            <a:r>
              <a:rPr lang="en" sz="1000">
                <a:solidFill>
                  <a:srgbClr val="8899AA"/>
                </a:solidFill>
              </a:rPr>
              <a:t>9</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81"/>
        <p:cNvGrpSpPr/>
        <p:nvPr/>
      </p:nvGrpSpPr>
      <p:grpSpPr>
        <a:xfrm>
          <a:off x="0" y="0"/>
          <a:ext cx="0" cy="0"/>
          <a:chOff x="0" y="0"/>
          <a:chExt cx="0" cy="0"/>
        </a:xfrm>
      </p:grpSpPr>
      <p:sp>
        <p:nvSpPr>
          <p:cNvPr id="3082" name="Google Shape;3082;g3f62c33a15b_2_376"/>
          <p:cNvSpPr/>
          <p:nvPr/>
        </p:nvSpPr>
        <p:spPr>
          <a:xfrm>
            <a:off x="2103120" y="142441"/>
            <a:ext cx="6675000" cy="402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2200"/>
              <a:buFont typeface="Calibri"/>
              <a:buNone/>
            </a:pPr>
            <a:r>
              <a:rPr lang="en" sz="2800" b="1" i="0" u="none" strike="noStrike" cap="none">
                <a:solidFill>
                  <a:schemeClr val="dk1"/>
                </a:solidFill>
                <a:latin typeface="Calibri"/>
                <a:ea typeface="Calibri"/>
                <a:cs typeface="Calibri"/>
                <a:sym typeface="Calibri"/>
              </a:rPr>
              <a:t>Backprop — Output Delta δ_out</a:t>
            </a:r>
            <a:endParaRPr sz="2800" b="0" i="0" u="none" strike="noStrike" cap="none">
              <a:solidFill>
                <a:schemeClr val="dk1"/>
              </a:solidFill>
              <a:latin typeface="Calibri"/>
              <a:ea typeface="Calibri"/>
              <a:cs typeface="Calibri"/>
              <a:sym typeface="Calibri"/>
            </a:endParaRPr>
          </a:p>
        </p:txBody>
      </p:sp>
      <p:sp>
        <p:nvSpPr>
          <p:cNvPr id="3083" name="Google Shape;3083;g3f62c33a15b_2_376"/>
          <p:cNvSpPr/>
          <p:nvPr/>
        </p:nvSpPr>
        <p:spPr>
          <a:xfrm>
            <a:off x="2103120" y="574654"/>
            <a:ext cx="66750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1200"/>
              <a:buFont typeface="Calibri"/>
              <a:buNone/>
            </a:pPr>
            <a:r>
              <a:rPr lang="en" sz="1600" b="0" i="0" u="none" strike="noStrike" cap="none">
                <a:solidFill>
                  <a:schemeClr val="dk1"/>
                </a:solidFill>
                <a:latin typeface="Calibri"/>
                <a:ea typeface="Calibri"/>
                <a:cs typeface="Calibri"/>
                <a:sym typeface="Calibri"/>
              </a:rPr>
              <a:t>Chain rule: how much should the output neuron change?</a:t>
            </a:r>
            <a:endParaRPr sz="1600" b="0" i="0" u="none" strike="noStrike" cap="none">
              <a:solidFill>
                <a:schemeClr val="dk1"/>
              </a:solidFill>
              <a:latin typeface="Calibri"/>
              <a:ea typeface="Calibri"/>
              <a:cs typeface="Calibri"/>
              <a:sym typeface="Calibri"/>
            </a:endParaRPr>
          </a:p>
        </p:txBody>
      </p:sp>
      <p:cxnSp>
        <p:nvCxnSpPr>
          <p:cNvPr id="3084" name="Google Shape;3084;g3f62c33a15b_2_376"/>
          <p:cNvCxnSpPr/>
          <p:nvPr/>
        </p:nvCxnSpPr>
        <p:spPr>
          <a:xfrm>
            <a:off x="1007270" y="1589468"/>
            <a:ext cx="1326000" cy="594300"/>
          </a:xfrm>
          <a:prstGeom prst="straightConnector1">
            <a:avLst/>
          </a:prstGeom>
          <a:noFill/>
          <a:ln w="10150" cap="flat" cmpd="sng">
            <a:solidFill>
              <a:srgbClr val="CBD5E1"/>
            </a:solidFill>
            <a:prstDash val="solid"/>
            <a:round/>
            <a:headEnd type="none" w="sm" len="sm"/>
            <a:tailEnd type="none" w="sm" len="sm"/>
          </a:ln>
        </p:spPr>
      </p:cxnSp>
      <p:sp>
        <p:nvSpPr>
          <p:cNvPr id="3085" name="Google Shape;3085;g3f62c33a15b_2_376"/>
          <p:cNvSpPr/>
          <p:nvPr/>
        </p:nvSpPr>
        <p:spPr>
          <a:xfrm>
            <a:off x="1322755" y="1740350"/>
            <a:ext cx="1010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w₃=0.8000</a:t>
            </a:r>
            <a:endParaRPr sz="1100" b="0" i="0" u="none" strike="noStrike" cap="none">
              <a:solidFill>
                <a:schemeClr val="dk1"/>
              </a:solidFill>
              <a:latin typeface="Calibri"/>
              <a:ea typeface="Calibri"/>
              <a:cs typeface="Calibri"/>
              <a:sym typeface="Calibri"/>
            </a:endParaRPr>
          </a:p>
        </p:txBody>
      </p:sp>
      <p:cxnSp>
        <p:nvCxnSpPr>
          <p:cNvPr id="3086" name="Google Shape;3086;g3f62c33a15b_2_376"/>
          <p:cNvCxnSpPr/>
          <p:nvPr/>
        </p:nvCxnSpPr>
        <p:spPr>
          <a:xfrm rot="10800000" flipH="1">
            <a:off x="1007270" y="2183888"/>
            <a:ext cx="1326000" cy="594300"/>
          </a:xfrm>
          <a:prstGeom prst="straightConnector1">
            <a:avLst/>
          </a:prstGeom>
          <a:noFill/>
          <a:ln w="10150" cap="flat" cmpd="sng">
            <a:solidFill>
              <a:srgbClr val="CBD5E1"/>
            </a:solidFill>
            <a:prstDash val="solid"/>
            <a:round/>
            <a:headEnd type="none" w="sm" len="sm"/>
            <a:tailEnd type="none" w="sm" len="sm"/>
          </a:ln>
        </p:spPr>
      </p:cxnSp>
      <p:sp>
        <p:nvSpPr>
          <p:cNvPr id="3087" name="Google Shape;3087;g3f62c33a15b_2_376"/>
          <p:cNvSpPr/>
          <p:nvPr/>
        </p:nvSpPr>
        <p:spPr>
          <a:xfrm>
            <a:off x="1140778" y="2334700"/>
            <a:ext cx="8769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w₄=0.5000</a:t>
            </a:r>
            <a:endParaRPr sz="1100" b="0" i="0" u="none" strike="noStrike" cap="none">
              <a:solidFill>
                <a:schemeClr val="dk1"/>
              </a:solidFill>
              <a:latin typeface="Calibri"/>
              <a:ea typeface="Calibri"/>
              <a:cs typeface="Calibri"/>
              <a:sym typeface="Calibri"/>
            </a:endParaRPr>
          </a:p>
        </p:txBody>
      </p:sp>
      <p:sp>
        <p:nvSpPr>
          <p:cNvPr id="3088" name="Google Shape;3088;g3f62c33a15b_2_376"/>
          <p:cNvSpPr/>
          <p:nvPr/>
        </p:nvSpPr>
        <p:spPr>
          <a:xfrm>
            <a:off x="714662" y="1296859"/>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9" name="Google Shape;3089;g3f62c33a15b_2_376"/>
          <p:cNvSpPr/>
          <p:nvPr/>
        </p:nvSpPr>
        <p:spPr>
          <a:xfrm>
            <a:off x="714662" y="1388300"/>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h₁</a:t>
            </a:r>
            <a:endParaRPr sz="1200" b="0" i="0" u="none" strike="noStrike" cap="none">
              <a:solidFill>
                <a:schemeClr val="dk1"/>
              </a:solidFill>
              <a:latin typeface="Calibri"/>
              <a:ea typeface="Calibri"/>
              <a:cs typeface="Calibri"/>
              <a:sym typeface="Calibri"/>
            </a:endParaRPr>
          </a:p>
        </p:txBody>
      </p:sp>
      <p:sp>
        <p:nvSpPr>
          <p:cNvPr id="3090" name="Google Shape;3090;g3f62c33a15b_2_376"/>
          <p:cNvSpPr/>
          <p:nvPr/>
        </p:nvSpPr>
        <p:spPr>
          <a:xfrm>
            <a:off x="714662" y="1598611"/>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0.6457</a:t>
            </a:r>
            <a:endParaRPr sz="900" b="0" i="0" u="none" strike="noStrike" cap="none">
              <a:solidFill>
                <a:schemeClr val="dk1"/>
              </a:solidFill>
              <a:latin typeface="Calibri"/>
              <a:ea typeface="Calibri"/>
              <a:cs typeface="Calibri"/>
              <a:sym typeface="Calibri"/>
            </a:endParaRPr>
          </a:p>
        </p:txBody>
      </p:sp>
      <p:sp>
        <p:nvSpPr>
          <p:cNvPr id="3091" name="Google Shape;3091;g3f62c33a15b_2_376"/>
          <p:cNvSpPr/>
          <p:nvPr/>
        </p:nvSpPr>
        <p:spPr>
          <a:xfrm>
            <a:off x="714662" y="2485580"/>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2" name="Google Shape;3092;g3f62c33a15b_2_376"/>
          <p:cNvSpPr/>
          <p:nvPr/>
        </p:nvSpPr>
        <p:spPr>
          <a:xfrm>
            <a:off x="714662" y="2577020"/>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h₂</a:t>
            </a:r>
            <a:endParaRPr sz="1200" b="0" i="0" u="none" strike="noStrike" cap="none">
              <a:solidFill>
                <a:schemeClr val="dk1"/>
              </a:solidFill>
              <a:latin typeface="Calibri"/>
              <a:ea typeface="Calibri"/>
              <a:cs typeface="Calibri"/>
              <a:sym typeface="Calibri"/>
            </a:endParaRPr>
          </a:p>
        </p:txBody>
      </p:sp>
      <p:sp>
        <p:nvSpPr>
          <p:cNvPr id="3093" name="Google Shape;3093;g3f62c33a15b_2_376"/>
          <p:cNvSpPr/>
          <p:nvPr/>
        </p:nvSpPr>
        <p:spPr>
          <a:xfrm>
            <a:off x="714662" y="2787332"/>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0.5987</a:t>
            </a:r>
            <a:endParaRPr sz="900" b="0" i="0" u="none" strike="noStrike" cap="none">
              <a:solidFill>
                <a:schemeClr val="dk1"/>
              </a:solidFill>
              <a:latin typeface="Calibri"/>
              <a:ea typeface="Calibri"/>
              <a:cs typeface="Calibri"/>
              <a:sym typeface="Calibri"/>
            </a:endParaRPr>
          </a:p>
        </p:txBody>
      </p:sp>
      <p:sp>
        <p:nvSpPr>
          <p:cNvPr id="3094" name="Google Shape;3094;g3f62c33a15b_2_376"/>
          <p:cNvSpPr/>
          <p:nvPr/>
        </p:nvSpPr>
        <p:spPr>
          <a:xfrm>
            <a:off x="2040542" y="1891220"/>
            <a:ext cx="585300" cy="585300"/>
          </a:xfrm>
          <a:prstGeom prst="ellipse">
            <a:avLst/>
          </a:prstGeom>
          <a:solidFill>
            <a:srgbClr val="854F0B"/>
          </a:solidFill>
          <a:ln w="25400" cap="flat" cmpd="sng">
            <a:solidFill>
              <a:srgbClr val="BA751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5" name="Google Shape;3095;g3f62c33a15b_2_376"/>
          <p:cNvSpPr/>
          <p:nvPr/>
        </p:nvSpPr>
        <p:spPr>
          <a:xfrm>
            <a:off x="2040542" y="1982660"/>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1" i="0" u="none" strike="noStrike" cap="none">
                <a:solidFill>
                  <a:srgbClr val="FFFFFF"/>
                </a:solidFill>
                <a:latin typeface="Calibri"/>
                <a:ea typeface="Calibri"/>
                <a:cs typeface="Calibri"/>
                <a:sym typeface="Calibri"/>
              </a:rPr>
              <a:t>ŷ</a:t>
            </a:r>
            <a:endParaRPr sz="1200" b="0" i="0" u="none" strike="noStrike" cap="none">
              <a:solidFill>
                <a:schemeClr val="dk1"/>
              </a:solidFill>
              <a:latin typeface="Calibri"/>
              <a:ea typeface="Calibri"/>
              <a:cs typeface="Calibri"/>
              <a:sym typeface="Calibri"/>
            </a:endParaRPr>
          </a:p>
        </p:txBody>
      </p:sp>
      <p:sp>
        <p:nvSpPr>
          <p:cNvPr id="3096" name="Google Shape;3096;g3f62c33a15b_2_376"/>
          <p:cNvSpPr/>
          <p:nvPr/>
        </p:nvSpPr>
        <p:spPr>
          <a:xfrm>
            <a:off x="2040542" y="2192972"/>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onsolas"/>
              <a:buNone/>
            </a:pPr>
            <a:r>
              <a:rPr lang="en" sz="900" b="0" i="0" u="none" strike="noStrike" cap="none">
                <a:solidFill>
                  <a:srgbClr val="FFFFFF"/>
                </a:solidFill>
                <a:latin typeface="Consolas"/>
                <a:ea typeface="Consolas"/>
                <a:cs typeface="Consolas"/>
                <a:sym typeface="Consolas"/>
              </a:rPr>
              <a:t>0.6934</a:t>
            </a:r>
            <a:endParaRPr sz="900" b="0" i="0" u="none" strike="noStrike" cap="none">
              <a:solidFill>
                <a:schemeClr val="dk1"/>
              </a:solidFill>
              <a:latin typeface="Calibri"/>
              <a:ea typeface="Calibri"/>
              <a:cs typeface="Calibri"/>
              <a:sym typeface="Calibri"/>
            </a:endParaRPr>
          </a:p>
        </p:txBody>
      </p:sp>
      <p:sp>
        <p:nvSpPr>
          <p:cNvPr id="3097" name="Google Shape;3097;g3f62c33a15b_2_376"/>
          <p:cNvSpPr/>
          <p:nvPr/>
        </p:nvSpPr>
        <p:spPr>
          <a:xfrm>
            <a:off x="2698910" y="2074100"/>
            <a:ext cx="822900" cy="219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onsolas"/>
              <a:buNone/>
            </a:pPr>
            <a:r>
              <a:rPr lang="en" sz="1000" b="0" i="0" u="none" strike="noStrike" cap="none">
                <a:solidFill>
                  <a:srgbClr val="64748B"/>
                </a:solidFill>
                <a:latin typeface="Consolas"/>
                <a:ea typeface="Consolas"/>
                <a:cs typeface="Consolas"/>
                <a:sym typeface="Consolas"/>
              </a:rPr>
              <a:t>target y=1</a:t>
            </a:r>
            <a:endParaRPr sz="1000" b="0" i="0" u="none" strike="noStrike" cap="none">
              <a:solidFill>
                <a:schemeClr val="dk1"/>
              </a:solidFill>
              <a:latin typeface="Calibri"/>
              <a:ea typeface="Calibri"/>
              <a:cs typeface="Calibri"/>
              <a:sym typeface="Calibri"/>
            </a:endParaRPr>
          </a:p>
        </p:txBody>
      </p:sp>
      <p:pic>
        <p:nvPicPr>
          <p:cNvPr id="3098" name="Google Shape;3098;g3f62c33a15b_2_376"/>
          <p:cNvPicPr preferRelativeResize="0"/>
          <p:nvPr/>
        </p:nvPicPr>
        <p:blipFill rotWithShape="1">
          <a:blip r:embed="rId3">
            <a:alphaModFix/>
          </a:blip>
          <a:srcRect/>
          <a:stretch/>
        </p:blipFill>
        <p:spPr>
          <a:xfrm>
            <a:off x="8369125" y="0"/>
            <a:ext cx="774877" cy="867174"/>
          </a:xfrm>
          <a:prstGeom prst="rect">
            <a:avLst/>
          </a:prstGeom>
          <a:noFill/>
          <a:ln>
            <a:noFill/>
          </a:ln>
        </p:spPr>
      </p:pic>
      <p:pic>
        <p:nvPicPr>
          <p:cNvPr id="3099" name="Google Shape;3099;g3f62c33a15b_2_376"/>
          <p:cNvPicPr preferRelativeResize="0"/>
          <p:nvPr/>
        </p:nvPicPr>
        <p:blipFill rotWithShape="1">
          <a:blip r:embed="rId4">
            <a:alphaModFix/>
          </a:blip>
          <a:srcRect/>
          <a:stretch/>
        </p:blipFill>
        <p:spPr>
          <a:xfrm>
            <a:off x="875974" y="3573875"/>
            <a:ext cx="2296395" cy="502800"/>
          </a:xfrm>
          <a:prstGeom prst="rect">
            <a:avLst/>
          </a:prstGeom>
          <a:noFill/>
          <a:ln>
            <a:noFill/>
          </a:ln>
        </p:spPr>
      </p:pic>
      <p:pic>
        <p:nvPicPr>
          <p:cNvPr id="3100" name="Google Shape;3100;g3f62c33a15b_2_376"/>
          <p:cNvPicPr preferRelativeResize="0"/>
          <p:nvPr/>
        </p:nvPicPr>
        <p:blipFill rotWithShape="1">
          <a:blip r:embed="rId5">
            <a:alphaModFix/>
          </a:blip>
          <a:srcRect/>
          <a:stretch/>
        </p:blipFill>
        <p:spPr>
          <a:xfrm>
            <a:off x="3815125" y="1607900"/>
            <a:ext cx="5328874" cy="3402500"/>
          </a:xfrm>
          <a:prstGeom prst="rect">
            <a:avLst/>
          </a:prstGeom>
          <a:noFill/>
          <a:ln>
            <a:noFill/>
          </a:ln>
        </p:spPr>
      </p:pic>
      <p:sp>
        <p:nvSpPr>
          <p:cNvPr id="3101" name="Google Shape;3101;g3f62c33a15b_2_376"/>
          <p:cNvSpPr/>
          <p:nvPr/>
        </p:nvSpPr>
        <p:spPr>
          <a:xfrm>
            <a:off x="6741600" y="3429650"/>
            <a:ext cx="1326000" cy="502800"/>
          </a:xfrm>
          <a:prstGeom prst="rect">
            <a:avLst/>
          </a:prstGeom>
          <a:noFill/>
          <a:ln w="952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2" name="Google Shape;3102;g3f62c33a15b_2_376"/>
          <p:cNvSpPr/>
          <p:nvPr/>
        </p:nvSpPr>
        <p:spPr>
          <a:xfrm>
            <a:off x="875975" y="3573875"/>
            <a:ext cx="2413500" cy="594300"/>
          </a:xfrm>
          <a:prstGeom prst="rect">
            <a:avLst/>
          </a:prstGeom>
          <a:noFill/>
          <a:ln w="952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103" name="Google Shape;3103;g3f62c33a15b_2_376"/>
          <p:cNvCxnSpPr>
            <a:endCxn id="3102" idx="3"/>
          </p:cNvCxnSpPr>
          <p:nvPr/>
        </p:nvCxnSpPr>
        <p:spPr>
          <a:xfrm flipH="1">
            <a:off x="3289475" y="3686225"/>
            <a:ext cx="3475200" cy="184800"/>
          </a:xfrm>
          <a:prstGeom prst="straightConnector1">
            <a:avLst/>
          </a:prstGeom>
          <a:noFill/>
          <a:ln w="9525" cap="flat" cmpd="sng">
            <a:solidFill>
              <a:schemeClr val="dk2"/>
            </a:solidFill>
            <a:prstDash val="solid"/>
            <a:round/>
            <a:headEnd type="none" w="sm" len="sm"/>
            <a:tailEnd type="triangle" w="med" len="med"/>
          </a:ln>
        </p:spPr>
      </p:cxnSp>
      <p:pic>
        <p:nvPicPr>
          <p:cNvPr id="3104" name="Google Shape;3104;g3f62c33a15b_2_376"/>
          <p:cNvPicPr preferRelativeResize="0"/>
          <p:nvPr/>
        </p:nvPicPr>
        <p:blipFill rotWithShape="1">
          <a:blip r:embed="rId6">
            <a:alphaModFix/>
          </a:blip>
          <a:srcRect/>
          <a:stretch/>
        </p:blipFill>
        <p:spPr>
          <a:xfrm>
            <a:off x="1092699" y="4585577"/>
            <a:ext cx="2264475" cy="415500"/>
          </a:xfrm>
          <a:prstGeom prst="rect">
            <a:avLst/>
          </a:prstGeom>
          <a:noFill/>
          <a:ln>
            <a:noFill/>
          </a:ln>
        </p:spPr>
      </p:pic>
      <p:sp>
        <p:nvSpPr>
          <p:cNvPr id="3105" name="Google Shape;3105;g3f62c33a15b_2_376"/>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90</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10"/>
        <p:cNvGrpSpPr/>
        <p:nvPr/>
      </p:nvGrpSpPr>
      <p:grpSpPr>
        <a:xfrm>
          <a:off x="0" y="0"/>
          <a:ext cx="0" cy="0"/>
          <a:chOff x="0" y="0"/>
          <a:chExt cx="0" cy="0"/>
        </a:xfrm>
      </p:grpSpPr>
      <p:sp>
        <p:nvSpPr>
          <p:cNvPr id="3111" name="Google Shape;3111;g3f62c33a15b_2_403"/>
          <p:cNvSpPr/>
          <p:nvPr/>
        </p:nvSpPr>
        <p:spPr>
          <a:xfrm>
            <a:off x="2103120" y="164592"/>
            <a:ext cx="6675000" cy="402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2200"/>
              <a:buFont typeface="Calibri"/>
              <a:buNone/>
            </a:pPr>
            <a:r>
              <a:rPr lang="en" sz="2200" b="1" i="0" u="none" strike="noStrike" cap="none">
                <a:solidFill>
                  <a:srgbClr val="1E293B"/>
                </a:solidFill>
                <a:latin typeface="Calibri"/>
                <a:ea typeface="Calibri"/>
                <a:cs typeface="Calibri"/>
                <a:sym typeface="Calibri"/>
              </a:rPr>
              <a:t>Backprop — Output Delta δ_out</a:t>
            </a:r>
            <a:endParaRPr sz="2200" b="0" i="0" u="none" strike="noStrike" cap="none">
              <a:solidFill>
                <a:schemeClr val="dk1"/>
              </a:solidFill>
              <a:latin typeface="Calibri"/>
              <a:ea typeface="Calibri"/>
              <a:cs typeface="Calibri"/>
              <a:sym typeface="Calibri"/>
            </a:endParaRPr>
          </a:p>
        </p:txBody>
      </p:sp>
      <p:sp>
        <p:nvSpPr>
          <p:cNvPr id="3112" name="Google Shape;3112;g3f62c33a15b_2_403"/>
          <p:cNvSpPr/>
          <p:nvPr/>
        </p:nvSpPr>
        <p:spPr>
          <a:xfrm>
            <a:off x="2103120" y="667577"/>
            <a:ext cx="66750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1200"/>
              <a:buFont typeface="Calibri"/>
              <a:buNone/>
            </a:pPr>
            <a:r>
              <a:rPr lang="en" sz="1400" b="0" i="0" u="none" strike="noStrike" cap="none">
                <a:solidFill>
                  <a:schemeClr val="dk1"/>
                </a:solidFill>
                <a:latin typeface="Calibri"/>
                <a:ea typeface="Calibri"/>
                <a:cs typeface="Calibri"/>
                <a:sym typeface="Calibri"/>
              </a:rPr>
              <a:t>Chain rule: how much should the output neuron change?</a:t>
            </a:r>
            <a:endParaRPr sz="1400" b="0" i="0" u="none" strike="noStrike" cap="none">
              <a:solidFill>
                <a:schemeClr val="dk1"/>
              </a:solidFill>
              <a:latin typeface="Calibri"/>
              <a:ea typeface="Calibri"/>
              <a:cs typeface="Calibri"/>
              <a:sym typeface="Calibri"/>
            </a:endParaRPr>
          </a:p>
        </p:txBody>
      </p:sp>
      <p:cxnSp>
        <p:nvCxnSpPr>
          <p:cNvPr id="3113" name="Google Shape;3113;g3f62c33a15b_2_403"/>
          <p:cNvCxnSpPr/>
          <p:nvPr/>
        </p:nvCxnSpPr>
        <p:spPr>
          <a:xfrm>
            <a:off x="1491020" y="1862055"/>
            <a:ext cx="1326000" cy="594300"/>
          </a:xfrm>
          <a:prstGeom prst="straightConnector1">
            <a:avLst/>
          </a:prstGeom>
          <a:noFill/>
          <a:ln w="10150" cap="flat" cmpd="sng">
            <a:solidFill>
              <a:srgbClr val="CBD5E1"/>
            </a:solidFill>
            <a:prstDash val="solid"/>
            <a:round/>
            <a:headEnd type="none" w="sm" len="sm"/>
            <a:tailEnd type="none" w="sm" len="sm"/>
          </a:ln>
        </p:spPr>
      </p:cxnSp>
      <p:sp>
        <p:nvSpPr>
          <p:cNvPr id="3114" name="Google Shape;3114;g3f62c33a15b_2_403"/>
          <p:cNvSpPr/>
          <p:nvPr/>
        </p:nvSpPr>
        <p:spPr>
          <a:xfrm>
            <a:off x="1806505" y="2012925"/>
            <a:ext cx="10104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w₃=0.8000</a:t>
            </a:r>
            <a:endParaRPr sz="1100" b="0" i="0" u="none" strike="noStrike" cap="none">
              <a:solidFill>
                <a:schemeClr val="dk1"/>
              </a:solidFill>
              <a:latin typeface="Calibri"/>
              <a:ea typeface="Calibri"/>
              <a:cs typeface="Calibri"/>
              <a:sym typeface="Calibri"/>
            </a:endParaRPr>
          </a:p>
        </p:txBody>
      </p:sp>
      <p:cxnSp>
        <p:nvCxnSpPr>
          <p:cNvPr id="3115" name="Google Shape;3115;g3f62c33a15b_2_403"/>
          <p:cNvCxnSpPr/>
          <p:nvPr/>
        </p:nvCxnSpPr>
        <p:spPr>
          <a:xfrm rot="10800000" flipH="1">
            <a:off x="1491020" y="2456475"/>
            <a:ext cx="1326000" cy="594300"/>
          </a:xfrm>
          <a:prstGeom prst="straightConnector1">
            <a:avLst/>
          </a:prstGeom>
          <a:noFill/>
          <a:ln w="10150" cap="flat" cmpd="sng">
            <a:solidFill>
              <a:srgbClr val="CBD5E1"/>
            </a:solidFill>
            <a:prstDash val="solid"/>
            <a:round/>
            <a:headEnd type="none" w="sm" len="sm"/>
            <a:tailEnd type="none" w="sm" len="sm"/>
          </a:ln>
        </p:spPr>
      </p:cxnSp>
      <p:sp>
        <p:nvSpPr>
          <p:cNvPr id="3116" name="Google Shape;3116;g3f62c33a15b_2_403"/>
          <p:cNvSpPr/>
          <p:nvPr/>
        </p:nvSpPr>
        <p:spPr>
          <a:xfrm>
            <a:off x="1572729" y="2607300"/>
            <a:ext cx="928500" cy="2013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800"/>
              <a:buFont typeface="Consolas"/>
              <a:buNone/>
            </a:pPr>
            <a:r>
              <a:rPr lang="en" sz="1100" b="0" i="0" u="none" strike="noStrike" cap="none">
                <a:solidFill>
                  <a:srgbClr val="64748B"/>
                </a:solidFill>
                <a:latin typeface="Consolas"/>
                <a:ea typeface="Consolas"/>
                <a:cs typeface="Consolas"/>
                <a:sym typeface="Consolas"/>
              </a:rPr>
              <a:t>w₄=0.5000</a:t>
            </a:r>
            <a:endParaRPr sz="1100" b="0" i="0" u="none" strike="noStrike" cap="none">
              <a:solidFill>
                <a:schemeClr val="dk1"/>
              </a:solidFill>
              <a:latin typeface="Calibri"/>
              <a:ea typeface="Calibri"/>
              <a:cs typeface="Calibri"/>
              <a:sym typeface="Calibri"/>
            </a:endParaRPr>
          </a:p>
        </p:txBody>
      </p:sp>
      <p:sp>
        <p:nvSpPr>
          <p:cNvPr id="3117" name="Google Shape;3117;g3f62c33a15b_2_403"/>
          <p:cNvSpPr/>
          <p:nvPr/>
        </p:nvSpPr>
        <p:spPr>
          <a:xfrm>
            <a:off x="1198412" y="1569447"/>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8" name="Google Shape;3118;g3f62c33a15b_2_403"/>
          <p:cNvSpPr/>
          <p:nvPr/>
        </p:nvSpPr>
        <p:spPr>
          <a:xfrm>
            <a:off x="1198412" y="1660887"/>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h₁</a:t>
            </a:r>
            <a:endParaRPr sz="1200" b="0" i="0" u="none" strike="noStrike" cap="none">
              <a:solidFill>
                <a:schemeClr val="dk1"/>
              </a:solidFill>
              <a:latin typeface="Calibri"/>
              <a:ea typeface="Calibri"/>
              <a:cs typeface="Calibri"/>
              <a:sym typeface="Calibri"/>
            </a:endParaRPr>
          </a:p>
        </p:txBody>
      </p:sp>
      <p:sp>
        <p:nvSpPr>
          <p:cNvPr id="3119" name="Google Shape;3119;g3f62c33a15b_2_403"/>
          <p:cNvSpPr/>
          <p:nvPr/>
        </p:nvSpPr>
        <p:spPr>
          <a:xfrm>
            <a:off x="1198412" y="1871199"/>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0.6457</a:t>
            </a:r>
            <a:endParaRPr sz="900" b="0" i="0" u="none" strike="noStrike" cap="none">
              <a:solidFill>
                <a:schemeClr val="dk1"/>
              </a:solidFill>
              <a:latin typeface="Calibri"/>
              <a:ea typeface="Calibri"/>
              <a:cs typeface="Calibri"/>
              <a:sym typeface="Calibri"/>
            </a:endParaRPr>
          </a:p>
        </p:txBody>
      </p:sp>
      <p:sp>
        <p:nvSpPr>
          <p:cNvPr id="3120" name="Google Shape;3120;g3f62c33a15b_2_403"/>
          <p:cNvSpPr/>
          <p:nvPr/>
        </p:nvSpPr>
        <p:spPr>
          <a:xfrm>
            <a:off x="1198412" y="2758167"/>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1" name="Google Shape;3121;g3f62c33a15b_2_403"/>
          <p:cNvSpPr/>
          <p:nvPr/>
        </p:nvSpPr>
        <p:spPr>
          <a:xfrm>
            <a:off x="1198412" y="2849607"/>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h₂</a:t>
            </a:r>
            <a:endParaRPr sz="1200" b="0" i="0" u="none" strike="noStrike" cap="none">
              <a:solidFill>
                <a:schemeClr val="dk1"/>
              </a:solidFill>
              <a:latin typeface="Calibri"/>
              <a:ea typeface="Calibri"/>
              <a:cs typeface="Calibri"/>
              <a:sym typeface="Calibri"/>
            </a:endParaRPr>
          </a:p>
        </p:txBody>
      </p:sp>
      <p:sp>
        <p:nvSpPr>
          <p:cNvPr id="3122" name="Google Shape;3122;g3f62c33a15b_2_403"/>
          <p:cNvSpPr/>
          <p:nvPr/>
        </p:nvSpPr>
        <p:spPr>
          <a:xfrm>
            <a:off x="1198412" y="3059919"/>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0.5987</a:t>
            </a:r>
            <a:endParaRPr sz="900" b="0" i="0" u="none" strike="noStrike" cap="none">
              <a:solidFill>
                <a:schemeClr val="dk1"/>
              </a:solidFill>
              <a:latin typeface="Calibri"/>
              <a:ea typeface="Calibri"/>
              <a:cs typeface="Calibri"/>
              <a:sym typeface="Calibri"/>
            </a:endParaRPr>
          </a:p>
        </p:txBody>
      </p:sp>
      <p:sp>
        <p:nvSpPr>
          <p:cNvPr id="3123" name="Google Shape;3123;g3f62c33a15b_2_403"/>
          <p:cNvSpPr/>
          <p:nvPr/>
        </p:nvSpPr>
        <p:spPr>
          <a:xfrm>
            <a:off x="2524292" y="2163807"/>
            <a:ext cx="585300" cy="585300"/>
          </a:xfrm>
          <a:prstGeom prst="ellipse">
            <a:avLst/>
          </a:prstGeom>
          <a:solidFill>
            <a:srgbClr val="854F0B"/>
          </a:solidFill>
          <a:ln w="25400" cap="flat" cmpd="sng">
            <a:solidFill>
              <a:srgbClr val="BA751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4" name="Google Shape;3124;g3f62c33a15b_2_403"/>
          <p:cNvSpPr/>
          <p:nvPr/>
        </p:nvSpPr>
        <p:spPr>
          <a:xfrm>
            <a:off x="2524292" y="2255247"/>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Calibri"/>
              <a:buNone/>
            </a:pPr>
            <a:r>
              <a:rPr lang="en" sz="1200" b="1" i="0" u="none" strike="noStrike" cap="none">
                <a:solidFill>
                  <a:srgbClr val="FFFFFF"/>
                </a:solidFill>
                <a:latin typeface="Calibri"/>
                <a:ea typeface="Calibri"/>
                <a:cs typeface="Calibri"/>
                <a:sym typeface="Calibri"/>
              </a:rPr>
              <a:t>ŷ</a:t>
            </a:r>
            <a:endParaRPr sz="1200" b="0" i="0" u="none" strike="noStrike" cap="none">
              <a:solidFill>
                <a:schemeClr val="dk1"/>
              </a:solidFill>
              <a:latin typeface="Calibri"/>
              <a:ea typeface="Calibri"/>
              <a:cs typeface="Calibri"/>
              <a:sym typeface="Calibri"/>
            </a:endParaRPr>
          </a:p>
        </p:txBody>
      </p:sp>
      <p:sp>
        <p:nvSpPr>
          <p:cNvPr id="3125" name="Google Shape;3125;g3f62c33a15b_2_403"/>
          <p:cNvSpPr/>
          <p:nvPr/>
        </p:nvSpPr>
        <p:spPr>
          <a:xfrm>
            <a:off x="2524292" y="2465559"/>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900"/>
              <a:buFont typeface="Consolas"/>
              <a:buNone/>
            </a:pPr>
            <a:r>
              <a:rPr lang="en" sz="900" b="0" i="0" u="none" strike="noStrike" cap="none">
                <a:solidFill>
                  <a:srgbClr val="FFFFFF"/>
                </a:solidFill>
                <a:latin typeface="Consolas"/>
                <a:ea typeface="Consolas"/>
                <a:cs typeface="Consolas"/>
                <a:sym typeface="Consolas"/>
              </a:rPr>
              <a:t>0.6934</a:t>
            </a:r>
            <a:endParaRPr sz="900" b="0" i="0" u="none" strike="noStrike" cap="none">
              <a:solidFill>
                <a:schemeClr val="dk1"/>
              </a:solidFill>
              <a:latin typeface="Calibri"/>
              <a:ea typeface="Calibri"/>
              <a:cs typeface="Calibri"/>
              <a:sym typeface="Calibri"/>
            </a:endParaRPr>
          </a:p>
        </p:txBody>
      </p:sp>
      <p:sp>
        <p:nvSpPr>
          <p:cNvPr id="3126" name="Google Shape;3126;g3f62c33a15b_2_403"/>
          <p:cNvSpPr/>
          <p:nvPr/>
        </p:nvSpPr>
        <p:spPr>
          <a:xfrm>
            <a:off x="3182660" y="2346687"/>
            <a:ext cx="822900" cy="219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onsolas"/>
              <a:buNone/>
            </a:pPr>
            <a:r>
              <a:rPr lang="en" sz="1000" b="0" i="0" u="none" strike="noStrike" cap="none">
                <a:solidFill>
                  <a:srgbClr val="64748B"/>
                </a:solidFill>
                <a:latin typeface="Consolas"/>
                <a:ea typeface="Consolas"/>
                <a:cs typeface="Consolas"/>
                <a:sym typeface="Consolas"/>
              </a:rPr>
              <a:t>target y=1</a:t>
            </a:r>
            <a:endParaRPr sz="1000" b="0" i="0" u="none" strike="noStrike" cap="none">
              <a:solidFill>
                <a:schemeClr val="dk1"/>
              </a:solidFill>
              <a:latin typeface="Calibri"/>
              <a:ea typeface="Calibri"/>
              <a:cs typeface="Calibri"/>
              <a:sym typeface="Calibri"/>
            </a:endParaRPr>
          </a:p>
        </p:txBody>
      </p:sp>
      <p:sp>
        <p:nvSpPr>
          <p:cNvPr id="3127" name="Google Shape;3127;g3f62c33a15b_2_403"/>
          <p:cNvSpPr/>
          <p:nvPr/>
        </p:nvSpPr>
        <p:spPr>
          <a:xfrm>
            <a:off x="4663440" y="1005840"/>
            <a:ext cx="4206300" cy="310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BA7517"/>
              </a:buClr>
              <a:buSzPts val="1400"/>
              <a:buFont typeface="Calibri"/>
              <a:buNone/>
            </a:pPr>
            <a:r>
              <a:rPr lang="en" sz="1400" b="1" i="0" u="none" strike="noStrike" cap="none">
                <a:solidFill>
                  <a:schemeClr val="dk1"/>
                </a:solidFill>
                <a:latin typeface="Calibri"/>
                <a:ea typeface="Calibri"/>
                <a:cs typeface="Calibri"/>
                <a:sym typeface="Calibri"/>
              </a:rPr>
              <a:t>Output error signal</a:t>
            </a:r>
            <a:endParaRPr sz="1400" b="0" i="0" u="none" strike="noStrike" cap="none">
              <a:solidFill>
                <a:schemeClr val="dk1"/>
              </a:solidFill>
              <a:latin typeface="Calibri"/>
              <a:ea typeface="Calibri"/>
              <a:cs typeface="Calibri"/>
              <a:sym typeface="Calibri"/>
            </a:endParaRPr>
          </a:p>
        </p:txBody>
      </p:sp>
      <p:sp>
        <p:nvSpPr>
          <p:cNvPr id="3128" name="Google Shape;3128;g3f62c33a15b_2_403"/>
          <p:cNvSpPr/>
          <p:nvPr/>
        </p:nvSpPr>
        <p:spPr>
          <a:xfrm>
            <a:off x="4663440" y="1389888"/>
            <a:ext cx="4206300" cy="4023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9" name="Google Shape;3129;g3f62c33a15b_2_403"/>
          <p:cNvSpPr/>
          <p:nvPr/>
        </p:nvSpPr>
        <p:spPr>
          <a:xfrm>
            <a:off x="4773168" y="1389888"/>
            <a:ext cx="11886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σ′(z₃) =</a:t>
            </a:r>
            <a:endParaRPr sz="1400" b="0" i="0" u="none" strike="noStrike" cap="none">
              <a:solidFill>
                <a:schemeClr val="dk1"/>
              </a:solidFill>
              <a:latin typeface="Calibri"/>
              <a:ea typeface="Calibri"/>
              <a:cs typeface="Calibri"/>
              <a:sym typeface="Calibri"/>
            </a:endParaRPr>
          </a:p>
        </p:txBody>
      </p:sp>
      <p:sp>
        <p:nvSpPr>
          <p:cNvPr id="3130" name="Google Shape;3130;g3f62c33a15b_2_403"/>
          <p:cNvSpPr/>
          <p:nvPr/>
        </p:nvSpPr>
        <p:spPr>
          <a:xfrm>
            <a:off x="5961888" y="1389888"/>
            <a:ext cx="28347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rgbClr val="1E293B"/>
                </a:solidFill>
                <a:latin typeface="Calibri"/>
                <a:ea typeface="Calibri"/>
                <a:cs typeface="Calibri"/>
                <a:sym typeface="Calibri"/>
              </a:rPr>
              <a:t>ŷ × (1 − ŷ)</a:t>
            </a:r>
            <a:endParaRPr sz="1400" b="0" i="0" u="none" strike="noStrike" cap="none">
              <a:solidFill>
                <a:schemeClr val="dk1"/>
              </a:solidFill>
              <a:latin typeface="Calibri"/>
              <a:ea typeface="Calibri"/>
              <a:cs typeface="Calibri"/>
              <a:sym typeface="Calibri"/>
            </a:endParaRPr>
          </a:p>
        </p:txBody>
      </p:sp>
      <p:sp>
        <p:nvSpPr>
          <p:cNvPr id="3131" name="Google Shape;3131;g3f62c33a15b_2_403"/>
          <p:cNvSpPr/>
          <p:nvPr/>
        </p:nvSpPr>
        <p:spPr>
          <a:xfrm>
            <a:off x="4663440" y="1865376"/>
            <a:ext cx="4206300" cy="4023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2" name="Google Shape;3132;g3f62c33a15b_2_403"/>
          <p:cNvSpPr/>
          <p:nvPr/>
        </p:nvSpPr>
        <p:spPr>
          <a:xfrm>
            <a:off x="4773168" y="1865376"/>
            <a:ext cx="11886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p:txBody>
      </p:sp>
      <p:sp>
        <p:nvSpPr>
          <p:cNvPr id="3133" name="Google Shape;3133;g3f62c33a15b_2_403"/>
          <p:cNvSpPr/>
          <p:nvPr/>
        </p:nvSpPr>
        <p:spPr>
          <a:xfrm>
            <a:off x="5961888" y="1865376"/>
            <a:ext cx="28347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100" b="0" i="0" u="none" strike="noStrike" cap="none">
                <a:solidFill>
                  <a:srgbClr val="1E293B"/>
                </a:solidFill>
                <a:latin typeface="Consolas"/>
                <a:ea typeface="Consolas"/>
                <a:cs typeface="Consolas"/>
                <a:sym typeface="Consolas"/>
              </a:rPr>
              <a:t>0.6934 × 0.3066</a:t>
            </a:r>
            <a:endParaRPr sz="1100" b="0" i="0" u="none" strike="noStrike" cap="none">
              <a:solidFill>
                <a:schemeClr val="dk1"/>
              </a:solidFill>
              <a:latin typeface="Calibri"/>
              <a:ea typeface="Calibri"/>
              <a:cs typeface="Calibri"/>
              <a:sym typeface="Calibri"/>
            </a:endParaRPr>
          </a:p>
        </p:txBody>
      </p:sp>
      <p:sp>
        <p:nvSpPr>
          <p:cNvPr id="3134" name="Google Shape;3134;g3f62c33a15b_2_403"/>
          <p:cNvSpPr/>
          <p:nvPr/>
        </p:nvSpPr>
        <p:spPr>
          <a:xfrm>
            <a:off x="4663440" y="2340864"/>
            <a:ext cx="4206300" cy="4023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5" name="Google Shape;3135;g3f62c33a15b_2_403"/>
          <p:cNvSpPr/>
          <p:nvPr/>
        </p:nvSpPr>
        <p:spPr>
          <a:xfrm>
            <a:off x="4773168" y="2340864"/>
            <a:ext cx="11886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p:txBody>
      </p:sp>
      <p:sp>
        <p:nvSpPr>
          <p:cNvPr id="3136" name="Google Shape;3136;g3f62c33a15b_2_403"/>
          <p:cNvSpPr/>
          <p:nvPr/>
        </p:nvSpPr>
        <p:spPr>
          <a:xfrm>
            <a:off x="5961888" y="2340864"/>
            <a:ext cx="28347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rgbClr val="1E293B"/>
                </a:solidFill>
                <a:latin typeface="Calibri"/>
                <a:ea typeface="Calibri"/>
                <a:cs typeface="Calibri"/>
                <a:sym typeface="Calibri"/>
              </a:rPr>
              <a:t>0.2126</a:t>
            </a:r>
            <a:endParaRPr sz="1400" b="0" i="0" u="none" strike="noStrike" cap="none">
              <a:solidFill>
                <a:schemeClr val="dk1"/>
              </a:solidFill>
              <a:latin typeface="Calibri"/>
              <a:ea typeface="Calibri"/>
              <a:cs typeface="Calibri"/>
              <a:sym typeface="Calibri"/>
            </a:endParaRPr>
          </a:p>
        </p:txBody>
      </p:sp>
      <p:sp>
        <p:nvSpPr>
          <p:cNvPr id="3137" name="Google Shape;3137;g3f62c33a15b_2_403"/>
          <p:cNvSpPr/>
          <p:nvPr/>
        </p:nvSpPr>
        <p:spPr>
          <a:xfrm>
            <a:off x="4663440" y="2834640"/>
            <a:ext cx="4206300" cy="4023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8" name="Google Shape;3138;g3f62c33a15b_2_403"/>
          <p:cNvSpPr/>
          <p:nvPr/>
        </p:nvSpPr>
        <p:spPr>
          <a:xfrm>
            <a:off x="4773168" y="2834640"/>
            <a:ext cx="11886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δ_out  =</a:t>
            </a:r>
            <a:endParaRPr sz="1400" b="0" i="0" u="none" strike="noStrike" cap="none">
              <a:solidFill>
                <a:schemeClr val="dk1"/>
              </a:solidFill>
              <a:latin typeface="Calibri"/>
              <a:ea typeface="Calibri"/>
              <a:cs typeface="Calibri"/>
              <a:sym typeface="Calibri"/>
            </a:endParaRPr>
          </a:p>
        </p:txBody>
      </p:sp>
      <p:sp>
        <p:nvSpPr>
          <p:cNvPr id="3139" name="Google Shape;3139;g3f62c33a15b_2_403"/>
          <p:cNvSpPr/>
          <p:nvPr/>
        </p:nvSpPr>
        <p:spPr>
          <a:xfrm>
            <a:off x="5961888" y="2834640"/>
            <a:ext cx="28347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100" b="0" i="0" u="none" strike="noStrike" cap="none">
                <a:solidFill>
                  <a:srgbClr val="1E293B"/>
                </a:solidFill>
                <a:latin typeface="Consolas"/>
                <a:ea typeface="Consolas"/>
                <a:cs typeface="Consolas"/>
                <a:sym typeface="Consolas"/>
              </a:rPr>
              <a:t>-(y − ŷ) × σ′(z₃)</a:t>
            </a:r>
            <a:endParaRPr sz="1100" b="0" i="0" u="none" strike="noStrike" cap="none">
              <a:solidFill>
                <a:schemeClr val="dk1"/>
              </a:solidFill>
              <a:latin typeface="Calibri"/>
              <a:ea typeface="Calibri"/>
              <a:cs typeface="Calibri"/>
              <a:sym typeface="Calibri"/>
            </a:endParaRPr>
          </a:p>
        </p:txBody>
      </p:sp>
      <p:sp>
        <p:nvSpPr>
          <p:cNvPr id="3140" name="Google Shape;3140;g3f62c33a15b_2_403"/>
          <p:cNvSpPr/>
          <p:nvPr/>
        </p:nvSpPr>
        <p:spPr>
          <a:xfrm>
            <a:off x="4663440" y="3291840"/>
            <a:ext cx="4206300" cy="4023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1" name="Google Shape;3141;g3f62c33a15b_2_403"/>
          <p:cNvSpPr/>
          <p:nvPr/>
        </p:nvSpPr>
        <p:spPr>
          <a:xfrm>
            <a:off x="4773168" y="3291840"/>
            <a:ext cx="11886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p:txBody>
      </p:sp>
      <p:sp>
        <p:nvSpPr>
          <p:cNvPr id="3142" name="Google Shape;3142;g3f62c33a15b_2_403"/>
          <p:cNvSpPr/>
          <p:nvPr/>
        </p:nvSpPr>
        <p:spPr>
          <a:xfrm>
            <a:off x="5961888" y="3291840"/>
            <a:ext cx="2834700" cy="402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100" b="0" i="0" u="none" strike="noStrike" cap="none">
                <a:solidFill>
                  <a:srgbClr val="1E293B"/>
                </a:solidFill>
                <a:latin typeface="Consolas"/>
                <a:ea typeface="Consolas"/>
                <a:cs typeface="Consolas"/>
                <a:sym typeface="Consolas"/>
              </a:rPr>
              <a:t>-0.3066 × 0.2126</a:t>
            </a:r>
            <a:endParaRPr sz="1100" b="0" i="0" u="none" strike="noStrike" cap="none">
              <a:solidFill>
                <a:schemeClr val="dk1"/>
              </a:solidFill>
              <a:latin typeface="Calibri"/>
              <a:ea typeface="Calibri"/>
              <a:cs typeface="Calibri"/>
              <a:sym typeface="Calibri"/>
            </a:endParaRPr>
          </a:p>
        </p:txBody>
      </p:sp>
      <p:sp>
        <p:nvSpPr>
          <p:cNvPr id="3143" name="Google Shape;3143;g3f62c33a15b_2_403"/>
          <p:cNvSpPr/>
          <p:nvPr/>
        </p:nvSpPr>
        <p:spPr>
          <a:xfrm>
            <a:off x="4663440" y="3749040"/>
            <a:ext cx="4206300" cy="502800"/>
          </a:xfrm>
          <a:prstGeom prst="rect">
            <a:avLst/>
          </a:prstGeom>
          <a:solidFill>
            <a:srgbClr val="FEF3C7"/>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4" name="Google Shape;3144;g3f62c33a15b_2_403"/>
          <p:cNvSpPr/>
          <p:nvPr/>
        </p:nvSpPr>
        <p:spPr>
          <a:xfrm>
            <a:off x="4773168" y="3749040"/>
            <a:ext cx="1188600" cy="502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400" b="0" i="0" u="none" strike="noStrike" cap="none">
                <a:solidFill>
                  <a:schemeClr val="dk1"/>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p:txBody>
      </p:sp>
      <p:sp>
        <p:nvSpPr>
          <p:cNvPr id="3145" name="Google Shape;3145;g3f62c33a15b_2_403"/>
          <p:cNvSpPr/>
          <p:nvPr/>
        </p:nvSpPr>
        <p:spPr>
          <a:xfrm>
            <a:off x="5961888" y="3749040"/>
            <a:ext cx="2834700" cy="502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400" b="0" i="0" u="none" strike="noStrike" cap="none">
                <a:solidFill>
                  <a:srgbClr val="1E293B"/>
                </a:solidFill>
                <a:latin typeface="Calibri"/>
                <a:ea typeface="Calibri"/>
                <a:cs typeface="Calibri"/>
                <a:sym typeface="Calibri"/>
              </a:rPr>
              <a:t>-0.0652</a:t>
            </a:r>
            <a:endParaRPr sz="1400" b="0" i="0" u="none" strike="noStrike" cap="none">
              <a:solidFill>
                <a:schemeClr val="dk1"/>
              </a:solidFill>
              <a:latin typeface="Calibri"/>
              <a:ea typeface="Calibri"/>
              <a:cs typeface="Calibri"/>
              <a:sym typeface="Calibri"/>
            </a:endParaRPr>
          </a:p>
        </p:txBody>
      </p:sp>
      <p:sp>
        <p:nvSpPr>
          <p:cNvPr id="3146" name="Google Shape;3146;g3f62c33a15b_2_403"/>
          <p:cNvSpPr/>
          <p:nvPr/>
        </p:nvSpPr>
        <p:spPr>
          <a:xfrm>
            <a:off x="4663440" y="4407408"/>
            <a:ext cx="1965900" cy="6585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7" name="Google Shape;3147;g3f62c33a15b_2_403"/>
          <p:cNvSpPr/>
          <p:nvPr/>
        </p:nvSpPr>
        <p:spPr>
          <a:xfrm>
            <a:off x="4754880" y="4471416"/>
            <a:ext cx="17832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900"/>
              <a:buFont typeface="Calibri"/>
              <a:buNone/>
            </a:pPr>
            <a:r>
              <a:rPr lang="en" sz="1400" b="0" i="0" u="none" strike="noStrike" cap="none">
                <a:solidFill>
                  <a:schemeClr val="dk1"/>
                </a:solidFill>
                <a:latin typeface="Calibri"/>
                <a:ea typeface="Calibri"/>
                <a:cs typeface="Calibri"/>
                <a:sym typeface="Calibri"/>
              </a:rPr>
              <a:t>σ′(z₃) — sensitivity</a:t>
            </a:r>
            <a:endParaRPr sz="1400" b="0" i="0" u="none" strike="noStrike" cap="none">
              <a:solidFill>
                <a:schemeClr val="dk1"/>
              </a:solidFill>
              <a:latin typeface="Calibri"/>
              <a:ea typeface="Calibri"/>
              <a:cs typeface="Calibri"/>
              <a:sym typeface="Calibri"/>
            </a:endParaRPr>
          </a:p>
        </p:txBody>
      </p:sp>
      <p:sp>
        <p:nvSpPr>
          <p:cNvPr id="3148" name="Google Shape;3148;g3f62c33a15b_2_403"/>
          <p:cNvSpPr/>
          <p:nvPr/>
        </p:nvSpPr>
        <p:spPr>
          <a:xfrm>
            <a:off x="4754880" y="4700016"/>
            <a:ext cx="17832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600"/>
              <a:buFont typeface="Consolas"/>
              <a:buNone/>
            </a:pPr>
            <a:r>
              <a:rPr lang="en" sz="1600" b="1" i="0" u="none" strike="noStrike" cap="none">
                <a:solidFill>
                  <a:srgbClr val="1E293B"/>
                </a:solidFill>
                <a:latin typeface="Consolas"/>
                <a:ea typeface="Consolas"/>
                <a:cs typeface="Consolas"/>
                <a:sym typeface="Consolas"/>
              </a:rPr>
              <a:t>0.2126</a:t>
            </a:r>
            <a:endParaRPr sz="1600" b="0" i="0" u="none" strike="noStrike" cap="none">
              <a:solidFill>
                <a:schemeClr val="dk1"/>
              </a:solidFill>
              <a:latin typeface="Calibri"/>
              <a:ea typeface="Calibri"/>
              <a:cs typeface="Calibri"/>
              <a:sym typeface="Calibri"/>
            </a:endParaRPr>
          </a:p>
        </p:txBody>
      </p:sp>
      <p:sp>
        <p:nvSpPr>
          <p:cNvPr id="3149" name="Google Shape;3149;g3f62c33a15b_2_403"/>
          <p:cNvSpPr/>
          <p:nvPr/>
        </p:nvSpPr>
        <p:spPr>
          <a:xfrm>
            <a:off x="6766560" y="4407408"/>
            <a:ext cx="2011800" cy="6585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0" name="Google Shape;3150;g3f62c33a15b_2_403"/>
          <p:cNvSpPr/>
          <p:nvPr/>
        </p:nvSpPr>
        <p:spPr>
          <a:xfrm>
            <a:off x="6858000" y="4471416"/>
            <a:ext cx="18288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900"/>
              <a:buFont typeface="Calibri"/>
              <a:buNone/>
            </a:pPr>
            <a:r>
              <a:rPr lang="en" sz="1400" b="0" i="0" u="none" strike="noStrike" cap="none">
                <a:solidFill>
                  <a:schemeClr val="dk1"/>
                </a:solidFill>
                <a:latin typeface="Calibri"/>
                <a:ea typeface="Calibri"/>
                <a:cs typeface="Calibri"/>
                <a:sym typeface="Calibri"/>
              </a:rPr>
              <a:t>δ_out — error signal</a:t>
            </a:r>
            <a:endParaRPr sz="1400" b="0" i="0" u="none" strike="noStrike" cap="none">
              <a:solidFill>
                <a:schemeClr val="dk1"/>
              </a:solidFill>
              <a:latin typeface="Calibri"/>
              <a:ea typeface="Calibri"/>
              <a:cs typeface="Calibri"/>
              <a:sym typeface="Calibri"/>
            </a:endParaRPr>
          </a:p>
        </p:txBody>
      </p:sp>
      <p:sp>
        <p:nvSpPr>
          <p:cNvPr id="3151" name="Google Shape;3151;g3f62c33a15b_2_403"/>
          <p:cNvSpPr/>
          <p:nvPr/>
        </p:nvSpPr>
        <p:spPr>
          <a:xfrm>
            <a:off x="6858000" y="4700016"/>
            <a:ext cx="18288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BA7517"/>
              </a:buClr>
              <a:buSzPts val="1600"/>
              <a:buFont typeface="Consolas"/>
              <a:buNone/>
            </a:pPr>
            <a:r>
              <a:rPr lang="en" sz="1600" b="1" i="0" u="none" strike="noStrike" cap="none">
                <a:solidFill>
                  <a:srgbClr val="BA7517"/>
                </a:solidFill>
                <a:latin typeface="Consolas"/>
                <a:ea typeface="Consolas"/>
                <a:cs typeface="Consolas"/>
                <a:sym typeface="Consolas"/>
              </a:rPr>
              <a:t>-0.0652</a:t>
            </a:r>
            <a:endParaRPr sz="1600" b="0" i="0" u="none" strike="noStrike" cap="none">
              <a:solidFill>
                <a:schemeClr val="dk1"/>
              </a:solidFill>
              <a:latin typeface="Calibri"/>
              <a:ea typeface="Calibri"/>
              <a:cs typeface="Calibri"/>
              <a:sym typeface="Calibri"/>
            </a:endParaRPr>
          </a:p>
        </p:txBody>
      </p:sp>
      <p:pic>
        <p:nvPicPr>
          <p:cNvPr id="3152" name="Google Shape;3152;g3f62c33a15b_2_403"/>
          <p:cNvPicPr preferRelativeResize="0"/>
          <p:nvPr/>
        </p:nvPicPr>
        <p:blipFill rotWithShape="1">
          <a:blip r:embed="rId3">
            <a:alphaModFix/>
          </a:blip>
          <a:srcRect/>
          <a:stretch/>
        </p:blipFill>
        <p:spPr>
          <a:xfrm>
            <a:off x="8369125" y="0"/>
            <a:ext cx="774877" cy="867174"/>
          </a:xfrm>
          <a:prstGeom prst="rect">
            <a:avLst/>
          </a:prstGeom>
          <a:noFill/>
          <a:ln>
            <a:noFill/>
          </a:ln>
        </p:spPr>
      </p:pic>
      <p:sp>
        <p:nvSpPr>
          <p:cNvPr id="3153" name="Google Shape;3153;g3f62c33a15b_2_403"/>
          <p:cNvSpPr txBox="1"/>
          <p:nvPr/>
        </p:nvSpPr>
        <p:spPr>
          <a:xfrm>
            <a:off x="3039875" y="1712825"/>
            <a:ext cx="8229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chemeClr val="dk1"/>
                </a:solidFill>
                <a:latin typeface="Calibri"/>
                <a:ea typeface="Calibri"/>
                <a:cs typeface="Calibri"/>
                <a:sym typeface="Calibri"/>
              </a:rPr>
              <a:t>(δ_out)</a:t>
            </a:r>
            <a:endParaRPr sz="1700" b="0" i="0" u="none" strike="noStrike" cap="none">
              <a:solidFill>
                <a:schemeClr val="dk2"/>
              </a:solidFill>
              <a:latin typeface="Arial"/>
              <a:ea typeface="Arial"/>
              <a:cs typeface="Arial"/>
              <a:sym typeface="Arial"/>
            </a:endParaRPr>
          </a:p>
        </p:txBody>
      </p:sp>
      <p:pic>
        <p:nvPicPr>
          <p:cNvPr id="3154" name="Google Shape;3154;g3f62c33a15b_2_403"/>
          <p:cNvPicPr preferRelativeResize="0"/>
          <p:nvPr/>
        </p:nvPicPr>
        <p:blipFill rotWithShape="1">
          <a:blip r:embed="rId4">
            <a:alphaModFix/>
          </a:blip>
          <a:srcRect/>
          <a:stretch/>
        </p:blipFill>
        <p:spPr>
          <a:xfrm>
            <a:off x="2816910" y="1704125"/>
            <a:ext cx="282210" cy="402300"/>
          </a:xfrm>
          <a:prstGeom prst="rect">
            <a:avLst/>
          </a:prstGeom>
          <a:noFill/>
          <a:ln>
            <a:noFill/>
          </a:ln>
        </p:spPr>
      </p:pic>
      <p:cxnSp>
        <p:nvCxnSpPr>
          <p:cNvPr id="3155" name="Google Shape;3155;g3f62c33a15b_2_403"/>
          <p:cNvCxnSpPr>
            <a:endCxn id="3118" idx="3"/>
          </p:cNvCxnSpPr>
          <p:nvPr/>
        </p:nvCxnSpPr>
        <p:spPr>
          <a:xfrm rot="10800000">
            <a:off x="1783712" y="1770687"/>
            <a:ext cx="992400" cy="185100"/>
          </a:xfrm>
          <a:prstGeom prst="straightConnector1">
            <a:avLst/>
          </a:prstGeom>
          <a:noFill/>
          <a:ln w="9525" cap="flat" cmpd="sng">
            <a:solidFill>
              <a:srgbClr val="C00000"/>
            </a:solidFill>
            <a:prstDash val="solid"/>
            <a:round/>
            <a:headEnd type="none" w="sm" len="sm"/>
            <a:tailEnd type="triangle" w="med" len="med"/>
          </a:ln>
        </p:spPr>
      </p:cxnSp>
      <p:sp>
        <p:nvSpPr>
          <p:cNvPr id="3156" name="Google Shape;3156;g3f62c33a15b_2_403"/>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9</a:t>
            </a:r>
            <a:r>
              <a:rPr lang="en" sz="1000">
                <a:solidFill>
                  <a:srgbClr val="8899AA"/>
                </a:solidFill>
              </a:rPr>
              <a:t>1</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61"/>
        <p:cNvGrpSpPr/>
        <p:nvPr/>
      </p:nvGrpSpPr>
      <p:grpSpPr>
        <a:xfrm>
          <a:off x="0" y="0"/>
          <a:ext cx="0" cy="0"/>
          <a:chOff x="0" y="0"/>
          <a:chExt cx="0" cy="0"/>
        </a:xfrm>
      </p:grpSpPr>
      <p:sp>
        <p:nvSpPr>
          <p:cNvPr id="3162" name="Google Shape;3162;g3f62c33a15b_2_452"/>
          <p:cNvSpPr/>
          <p:nvPr/>
        </p:nvSpPr>
        <p:spPr>
          <a:xfrm>
            <a:off x="2103120" y="164592"/>
            <a:ext cx="6675000" cy="402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2200"/>
              <a:buFont typeface="Calibri"/>
              <a:buNone/>
            </a:pPr>
            <a:r>
              <a:rPr lang="en" sz="2800" b="1" i="0" u="none" strike="noStrike" cap="none">
                <a:solidFill>
                  <a:srgbClr val="1E293B"/>
                </a:solidFill>
                <a:latin typeface="Calibri"/>
                <a:ea typeface="Calibri"/>
                <a:cs typeface="Calibri"/>
                <a:sym typeface="Calibri"/>
              </a:rPr>
              <a:t>Update Output Weights w₃ and w₄</a:t>
            </a:r>
            <a:endParaRPr sz="2800" b="0" i="0" u="none" strike="noStrike" cap="none">
              <a:solidFill>
                <a:schemeClr val="dk1"/>
              </a:solidFill>
              <a:latin typeface="Calibri"/>
              <a:ea typeface="Calibri"/>
              <a:cs typeface="Calibri"/>
              <a:sym typeface="Calibri"/>
            </a:endParaRPr>
          </a:p>
        </p:txBody>
      </p:sp>
      <p:sp>
        <p:nvSpPr>
          <p:cNvPr id="3163" name="Google Shape;3163;g3f62c33a15b_2_452"/>
          <p:cNvSpPr/>
          <p:nvPr/>
        </p:nvSpPr>
        <p:spPr>
          <a:xfrm>
            <a:off x="2103120" y="695002"/>
            <a:ext cx="66750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1200"/>
              <a:buFont typeface="Calibri"/>
              <a:buNone/>
            </a:pPr>
            <a:r>
              <a:rPr lang="en" sz="1400" b="0" i="0" u="none" strike="noStrike" cap="none">
                <a:solidFill>
                  <a:schemeClr val="dk1"/>
                </a:solidFill>
                <a:latin typeface="Calibri"/>
                <a:ea typeface="Calibri"/>
                <a:cs typeface="Calibri"/>
                <a:sym typeface="Calibri"/>
              </a:rPr>
              <a:t>w ← w </a:t>
            </a:r>
            <a:r>
              <a:rPr lang="en">
                <a:solidFill>
                  <a:schemeClr val="dk1"/>
                </a:solidFill>
                <a:latin typeface="Calibri"/>
                <a:ea typeface="Calibri"/>
                <a:cs typeface="Calibri"/>
                <a:sym typeface="Calibri"/>
              </a:rPr>
              <a:t>-</a:t>
            </a:r>
            <a:r>
              <a:rPr lang="en" sz="1400" b="0" i="0" u="none" strike="noStrike" cap="none">
                <a:solidFill>
                  <a:schemeClr val="dk1"/>
                </a:solidFill>
                <a:latin typeface="Calibri"/>
                <a:ea typeface="Calibri"/>
                <a:cs typeface="Calibri"/>
                <a:sym typeface="Calibri"/>
              </a:rPr>
              <a:t> η · δ_out · h</a:t>
            </a:r>
            <a:endParaRPr sz="1400" b="0" i="0" u="none" strike="noStrike" cap="none">
              <a:solidFill>
                <a:schemeClr val="dk1"/>
              </a:solidFill>
              <a:latin typeface="Calibri"/>
              <a:ea typeface="Calibri"/>
              <a:cs typeface="Calibri"/>
              <a:sym typeface="Calibri"/>
            </a:endParaRPr>
          </a:p>
        </p:txBody>
      </p:sp>
      <p:cxnSp>
        <p:nvCxnSpPr>
          <p:cNvPr id="3164" name="Google Shape;3164;g3f62c33a15b_2_452"/>
          <p:cNvCxnSpPr/>
          <p:nvPr/>
        </p:nvCxnSpPr>
        <p:spPr>
          <a:xfrm>
            <a:off x="2103120" y="1508760"/>
            <a:ext cx="1326000" cy="594300"/>
          </a:xfrm>
          <a:prstGeom prst="straightConnector1">
            <a:avLst/>
          </a:prstGeom>
          <a:noFill/>
          <a:ln w="31750" cap="flat" cmpd="sng">
            <a:solidFill>
              <a:srgbClr val="185FA5"/>
            </a:solidFill>
            <a:prstDash val="solid"/>
            <a:round/>
            <a:headEnd type="none" w="sm" len="sm"/>
            <a:tailEnd type="none" w="sm" len="sm"/>
          </a:ln>
        </p:spPr>
      </p:cxnSp>
      <p:sp>
        <p:nvSpPr>
          <p:cNvPr id="3165" name="Google Shape;3165;g3f62c33a15b_2_452"/>
          <p:cNvSpPr/>
          <p:nvPr/>
        </p:nvSpPr>
        <p:spPr>
          <a:xfrm>
            <a:off x="2418600" y="1563925"/>
            <a:ext cx="10104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85FA5"/>
              </a:buClr>
              <a:buSzPts val="800"/>
              <a:buFont typeface="Consolas"/>
              <a:buNone/>
            </a:pPr>
            <a:r>
              <a:rPr lang="en" sz="1100" b="1" i="0" u="none" strike="noStrike" cap="none">
                <a:solidFill>
                  <a:srgbClr val="185FA5"/>
                </a:solidFill>
                <a:latin typeface="Consolas"/>
                <a:ea typeface="Consolas"/>
                <a:cs typeface="Consolas"/>
                <a:sym typeface="Consolas"/>
              </a:rPr>
              <a:t>w₃=0.8210</a:t>
            </a:r>
            <a:endParaRPr sz="1100" b="0" i="0" u="none" strike="noStrike" cap="none">
              <a:solidFill>
                <a:schemeClr val="dk1"/>
              </a:solidFill>
              <a:latin typeface="Calibri"/>
              <a:ea typeface="Calibri"/>
              <a:cs typeface="Calibri"/>
              <a:sym typeface="Calibri"/>
            </a:endParaRPr>
          </a:p>
        </p:txBody>
      </p:sp>
      <p:cxnSp>
        <p:nvCxnSpPr>
          <p:cNvPr id="3166" name="Google Shape;3166;g3f62c33a15b_2_452"/>
          <p:cNvCxnSpPr/>
          <p:nvPr/>
        </p:nvCxnSpPr>
        <p:spPr>
          <a:xfrm rot="10800000" flipH="1">
            <a:off x="2103120" y="2103180"/>
            <a:ext cx="1326000" cy="594300"/>
          </a:xfrm>
          <a:prstGeom prst="straightConnector1">
            <a:avLst/>
          </a:prstGeom>
          <a:noFill/>
          <a:ln w="31750" cap="flat" cmpd="sng">
            <a:solidFill>
              <a:srgbClr val="185FA5"/>
            </a:solidFill>
            <a:prstDash val="solid"/>
            <a:round/>
            <a:headEnd type="none" w="sm" len="sm"/>
            <a:tailEnd type="none" w="sm" len="sm"/>
          </a:ln>
        </p:spPr>
      </p:cxnSp>
      <p:sp>
        <p:nvSpPr>
          <p:cNvPr id="3167" name="Google Shape;3167;g3f62c33a15b_2_452"/>
          <p:cNvSpPr/>
          <p:nvPr/>
        </p:nvSpPr>
        <p:spPr>
          <a:xfrm>
            <a:off x="2103125" y="2167100"/>
            <a:ext cx="9237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85FA5"/>
              </a:buClr>
              <a:buSzPts val="800"/>
              <a:buFont typeface="Consolas"/>
              <a:buNone/>
            </a:pPr>
            <a:r>
              <a:rPr lang="en" sz="1100" b="1" i="0" u="none" strike="noStrike" cap="none">
                <a:solidFill>
                  <a:srgbClr val="185FA5"/>
                </a:solidFill>
                <a:latin typeface="Consolas"/>
                <a:ea typeface="Consolas"/>
                <a:cs typeface="Consolas"/>
                <a:sym typeface="Consolas"/>
              </a:rPr>
              <a:t>w₄=0.5195</a:t>
            </a:r>
            <a:endParaRPr sz="1100" b="0" i="0" u="none" strike="noStrike" cap="none">
              <a:solidFill>
                <a:schemeClr val="dk1"/>
              </a:solidFill>
              <a:latin typeface="Calibri"/>
              <a:ea typeface="Calibri"/>
              <a:cs typeface="Calibri"/>
              <a:sym typeface="Calibri"/>
            </a:endParaRPr>
          </a:p>
        </p:txBody>
      </p:sp>
      <p:sp>
        <p:nvSpPr>
          <p:cNvPr id="3168" name="Google Shape;3168;g3f62c33a15b_2_452"/>
          <p:cNvSpPr/>
          <p:nvPr/>
        </p:nvSpPr>
        <p:spPr>
          <a:xfrm>
            <a:off x="1810512" y="1216152"/>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9" name="Google Shape;3169;g3f62c33a15b_2_452"/>
          <p:cNvSpPr/>
          <p:nvPr/>
        </p:nvSpPr>
        <p:spPr>
          <a:xfrm>
            <a:off x="1810512" y="130759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h₁</a:t>
            </a:r>
            <a:endParaRPr sz="1200" b="0" i="0" u="none" strike="noStrike" cap="none">
              <a:solidFill>
                <a:schemeClr val="dk1"/>
              </a:solidFill>
              <a:latin typeface="Calibri"/>
              <a:ea typeface="Calibri"/>
              <a:cs typeface="Calibri"/>
              <a:sym typeface="Calibri"/>
            </a:endParaRPr>
          </a:p>
        </p:txBody>
      </p:sp>
      <p:sp>
        <p:nvSpPr>
          <p:cNvPr id="3170" name="Google Shape;3170;g3f62c33a15b_2_452"/>
          <p:cNvSpPr/>
          <p:nvPr/>
        </p:nvSpPr>
        <p:spPr>
          <a:xfrm>
            <a:off x="1810512" y="151790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0.6457</a:t>
            </a:r>
            <a:endParaRPr sz="900" b="0" i="0" u="none" strike="noStrike" cap="none">
              <a:solidFill>
                <a:schemeClr val="dk1"/>
              </a:solidFill>
              <a:latin typeface="Calibri"/>
              <a:ea typeface="Calibri"/>
              <a:cs typeface="Calibri"/>
              <a:sym typeface="Calibri"/>
            </a:endParaRPr>
          </a:p>
        </p:txBody>
      </p:sp>
      <p:sp>
        <p:nvSpPr>
          <p:cNvPr id="3171" name="Google Shape;3171;g3f62c33a15b_2_452"/>
          <p:cNvSpPr/>
          <p:nvPr/>
        </p:nvSpPr>
        <p:spPr>
          <a:xfrm>
            <a:off x="1810512" y="2404872"/>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2" name="Google Shape;3172;g3f62c33a15b_2_452"/>
          <p:cNvSpPr/>
          <p:nvPr/>
        </p:nvSpPr>
        <p:spPr>
          <a:xfrm>
            <a:off x="1810512" y="249631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h₂</a:t>
            </a:r>
            <a:endParaRPr sz="1200" b="0" i="0" u="none" strike="noStrike" cap="none">
              <a:solidFill>
                <a:schemeClr val="dk1"/>
              </a:solidFill>
              <a:latin typeface="Calibri"/>
              <a:ea typeface="Calibri"/>
              <a:cs typeface="Calibri"/>
              <a:sym typeface="Calibri"/>
            </a:endParaRPr>
          </a:p>
        </p:txBody>
      </p:sp>
      <p:sp>
        <p:nvSpPr>
          <p:cNvPr id="3173" name="Google Shape;3173;g3f62c33a15b_2_452"/>
          <p:cNvSpPr/>
          <p:nvPr/>
        </p:nvSpPr>
        <p:spPr>
          <a:xfrm>
            <a:off x="1810512" y="270662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0.5987</a:t>
            </a:r>
            <a:endParaRPr sz="900" b="0" i="0" u="none" strike="noStrike" cap="none">
              <a:solidFill>
                <a:schemeClr val="dk1"/>
              </a:solidFill>
              <a:latin typeface="Calibri"/>
              <a:ea typeface="Calibri"/>
              <a:cs typeface="Calibri"/>
              <a:sym typeface="Calibri"/>
            </a:endParaRPr>
          </a:p>
        </p:txBody>
      </p:sp>
      <p:sp>
        <p:nvSpPr>
          <p:cNvPr id="3174" name="Google Shape;3174;g3f62c33a15b_2_452"/>
          <p:cNvSpPr/>
          <p:nvPr/>
        </p:nvSpPr>
        <p:spPr>
          <a:xfrm>
            <a:off x="3136392" y="1810512"/>
            <a:ext cx="585300" cy="585300"/>
          </a:xfrm>
          <a:prstGeom prst="ellipse">
            <a:avLst/>
          </a:prstGeom>
          <a:solidFill>
            <a:srgbClr val="FFFFFF"/>
          </a:solidFill>
          <a:ln w="9525"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5" name="Google Shape;3175;g3f62c33a15b_2_452"/>
          <p:cNvSpPr/>
          <p:nvPr/>
        </p:nvSpPr>
        <p:spPr>
          <a:xfrm>
            <a:off x="3136392" y="1901952"/>
            <a:ext cx="585300" cy="21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E293B"/>
              </a:buClr>
              <a:buSzPts val="1200"/>
              <a:buFont typeface="Calibri"/>
              <a:buNone/>
            </a:pPr>
            <a:r>
              <a:rPr lang="en" sz="1200" b="1" i="0" u="none" strike="noStrike" cap="none">
                <a:solidFill>
                  <a:srgbClr val="1E293B"/>
                </a:solidFill>
                <a:latin typeface="Calibri"/>
                <a:ea typeface="Calibri"/>
                <a:cs typeface="Calibri"/>
                <a:sym typeface="Calibri"/>
              </a:rPr>
              <a:t>ŷ</a:t>
            </a:r>
            <a:endParaRPr sz="1200" b="0" i="0" u="none" strike="noStrike" cap="none">
              <a:solidFill>
                <a:schemeClr val="dk1"/>
              </a:solidFill>
              <a:latin typeface="Calibri"/>
              <a:ea typeface="Calibri"/>
              <a:cs typeface="Calibri"/>
              <a:sym typeface="Calibri"/>
            </a:endParaRPr>
          </a:p>
        </p:txBody>
      </p:sp>
      <p:sp>
        <p:nvSpPr>
          <p:cNvPr id="3176" name="Google Shape;3176;g3f62c33a15b_2_452"/>
          <p:cNvSpPr/>
          <p:nvPr/>
        </p:nvSpPr>
        <p:spPr>
          <a:xfrm>
            <a:off x="3136392" y="2112264"/>
            <a:ext cx="585300" cy="18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onsolas"/>
              <a:buNone/>
            </a:pPr>
            <a:r>
              <a:rPr lang="en" sz="900" b="0" i="0" u="none" strike="noStrike" cap="none">
                <a:solidFill>
                  <a:srgbClr val="64748B"/>
                </a:solidFill>
                <a:latin typeface="Consolas"/>
                <a:ea typeface="Consolas"/>
                <a:cs typeface="Consolas"/>
                <a:sym typeface="Consolas"/>
              </a:rPr>
              <a:t>0.6934</a:t>
            </a:r>
            <a:endParaRPr sz="900" b="0" i="0" u="none" strike="noStrike" cap="none">
              <a:solidFill>
                <a:schemeClr val="dk1"/>
              </a:solidFill>
              <a:latin typeface="Calibri"/>
              <a:ea typeface="Calibri"/>
              <a:cs typeface="Calibri"/>
              <a:sym typeface="Calibri"/>
            </a:endParaRPr>
          </a:p>
        </p:txBody>
      </p:sp>
      <p:sp>
        <p:nvSpPr>
          <p:cNvPr id="3177" name="Google Shape;3177;g3f62c33a15b_2_452"/>
          <p:cNvSpPr/>
          <p:nvPr/>
        </p:nvSpPr>
        <p:spPr>
          <a:xfrm>
            <a:off x="3794760" y="1993392"/>
            <a:ext cx="822900" cy="219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onsolas"/>
              <a:buNone/>
            </a:pPr>
            <a:r>
              <a:rPr lang="en" sz="1000" b="0" i="0" u="none" strike="noStrike" cap="none">
                <a:solidFill>
                  <a:srgbClr val="64748B"/>
                </a:solidFill>
                <a:latin typeface="Consolas"/>
                <a:ea typeface="Consolas"/>
                <a:cs typeface="Consolas"/>
                <a:sym typeface="Consolas"/>
              </a:rPr>
              <a:t>target y=1</a:t>
            </a:r>
            <a:endParaRPr sz="1000" b="0" i="0" u="none" strike="noStrike" cap="none">
              <a:solidFill>
                <a:schemeClr val="dk1"/>
              </a:solidFill>
              <a:latin typeface="Calibri"/>
              <a:ea typeface="Calibri"/>
              <a:cs typeface="Calibri"/>
              <a:sym typeface="Calibri"/>
            </a:endParaRPr>
          </a:p>
        </p:txBody>
      </p:sp>
      <p:sp>
        <p:nvSpPr>
          <p:cNvPr id="3178" name="Google Shape;3178;g3f62c33a15b_2_452"/>
          <p:cNvSpPr/>
          <p:nvPr/>
        </p:nvSpPr>
        <p:spPr>
          <a:xfrm>
            <a:off x="4663440" y="1005840"/>
            <a:ext cx="4160400" cy="310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85FA5"/>
              </a:buClr>
              <a:buSzPts val="1300"/>
              <a:buFont typeface="Calibri"/>
              <a:buNone/>
            </a:pPr>
            <a:r>
              <a:rPr lang="en" sz="1300" b="1" i="0" u="none" strike="noStrike" cap="none">
                <a:solidFill>
                  <a:srgbClr val="185FA5"/>
                </a:solidFill>
                <a:latin typeface="Calibri"/>
                <a:ea typeface="Calibri"/>
                <a:cs typeface="Calibri"/>
                <a:sym typeface="Calibri"/>
              </a:rPr>
              <a:t>Output layer weight updates</a:t>
            </a:r>
            <a:endParaRPr sz="1300" b="0" i="0" u="none" strike="noStrike" cap="none">
              <a:solidFill>
                <a:schemeClr val="dk1"/>
              </a:solidFill>
              <a:latin typeface="Calibri"/>
              <a:ea typeface="Calibri"/>
              <a:cs typeface="Calibri"/>
              <a:sym typeface="Calibri"/>
            </a:endParaRPr>
          </a:p>
        </p:txBody>
      </p:sp>
      <p:sp>
        <p:nvSpPr>
          <p:cNvPr id="3179" name="Google Shape;3179;g3f62c33a15b_2_452"/>
          <p:cNvSpPr/>
          <p:nvPr/>
        </p:nvSpPr>
        <p:spPr>
          <a:xfrm>
            <a:off x="4663440" y="1389888"/>
            <a:ext cx="4160400" cy="3018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0" name="Google Shape;3180;g3f62c33a15b_2_452"/>
          <p:cNvSpPr/>
          <p:nvPr/>
        </p:nvSpPr>
        <p:spPr>
          <a:xfrm>
            <a:off x="4773168" y="1389888"/>
            <a:ext cx="3977700" cy="301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300" b="0" i="0" u="none" strike="noStrike" cap="none">
                <a:solidFill>
                  <a:schemeClr val="dk1"/>
                </a:solidFill>
                <a:latin typeface="Consolas"/>
                <a:ea typeface="Consolas"/>
                <a:cs typeface="Consolas"/>
                <a:sym typeface="Consolas"/>
              </a:rPr>
              <a:t>w₃_new  =  w₃ - η × δ_out × h₁</a:t>
            </a:r>
            <a:endParaRPr sz="1300" b="0" i="0" u="none" strike="noStrike" cap="none">
              <a:solidFill>
                <a:schemeClr val="dk1"/>
              </a:solidFill>
              <a:latin typeface="Calibri"/>
              <a:ea typeface="Calibri"/>
              <a:cs typeface="Calibri"/>
              <a:sym typeface="Calibri"/>
            </a:endParaRPr>
          </a:p>
        </p:txBody>
      </p:sp>
      <p:sp>
        <p:nvSpPr>
          <p:cNvPr id="3181" name="Google Shape;3181;g3f62c33a15b_2_452"/>
          <p:cNvSpPr/>
          <p:nvPr/>
        </p:nvSpPr>
        <p:spPr>
          <a:xfrm>
            <a:off x="4663440" y="1719072"/>
            <a:ext cx="4160400" cy="3018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2" name="Google Shape;3182;g3f62c33a15b_2_452"/>
          <p:cNvSpPr/>
          <p:nvPr/>
        </p:nvSpPr>
        <p:spPr>
          <a:xfrm>
            <a:off x="4773168" y="1719072"/>
            <a:ext cx="3977700" cy="301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300" b="0" i="0" u="none" strike="noStrike" cap="none">
                <a:solidFill>
                  <a:schemeClr val="dk1"/>
                </a:solidFill>
                <a:latin typeface="Consolas"/>
                <a:ea typeface="Consolas"/>
                <a:cs typeface="Consolas"/>
                <a:sym typeface="Consolas"/>
              </a:rPr>
              <a:t>        =  0.8000 + 0.5 × 0.0652 × 0.6457</a:t>
            </a:r>
            <a:endParaRPr sz="1300" b="0" i="0" u="none" strike="noStrike" cap="none">
              <a:solidFill>
                <a:schemeClr val="dk1"/>
              </a:solidFill>
              <a:latin typeface="Calibri"/>
              <a:ea typeface="Calibri"/>
              <a:cs typeface="Calibri"/>
              <a:sym typeface="Calibri"/>
            </a:endParaRPr>
          </a:p>
        </p:txBody>
      </p:sp>
      <p:sp>
        <p:nvSpPr>
          <p:cNvPr id="3183" name="Google Shape;3183;g3f62c33a15b_2_452"/>
          <p:cNvSpPr/>
          <p:nvPr/>
        </p:nvSpPr>
        <p:spPr>
          <a:xfrm>
            <a:off x="4663440" y="2048256"/>
            <a:ext cx="4160400" cy="3018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4" name="Google Shape;3184;g3f62c33a15b_2_452"/>
          <p:cNvSpPr/>
          <p:nvPr/>
        </p:nvSpPr>
        <p:spPr>
          <a:xfrm>
            <a:off x="4773168" y="2048256"/>
            <a:ext cx="3977700" cy="301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300" b="0" i="0" u="none" strike="noStrike" cap="none">
                <a:solidFill>
                  <a:schemeClr val="dk1"/>
                </a:solidFill>
                <a:latin typeface="Consolas"/>
                <a:ea typeface="Consolas"/>
                <a:cs typeface="Consolas"/>
                <a:sym typeface="Consolas"/>
              </a:rPr>
              <a:t>        =  0.8000 + 0.0210</a:t>
            </a:r>
            <a:endParaRPr sz="1300" b="0" i="0" u="none" strike="noStrike" cap="none">
              <a:solidFill>
                <a:schemeClr val="dk1"/>
              </a:solidFill>
              <a:latin typeface="Calibri"/>
              <a:ea typeface="Calibri"/>
              <a:cs typeface="Calibri"/>
              <a:sym typeface="Calibri"/>
            </a:endParaRPr>
          </a:p>
        </p:txBody>
      </p:sp>
      <p:sp>
        <p:nvSpPr>
          <p:cNvPr id="3185" name="Google Shape;3185;g3f62c33a15b_2_452"/>
          <p:cNvSpPr/>
          <p:nvPr/>
        </p:nvSpPr>
        <p:spPr>
          <a:xfrm>
            <a:off x="4663440" y="2377440"/>
            <a:ext cx="4160400" cy="301800"/>
          </a:xfrm>
          <a:prstGeom prst="rect">
            <a:avLst/>
          </a:prstGeom>
          <a:solidFill>
            <a:srgbClr val="EFF6FF"/>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6" name="Google Shape;3186;g3f62c33a15b_2_452"/>
          <p:cNvSpPr/>
          <p:nvPr/>
        </p:nvSpPr>
        <p:spPr>
          <a:xfrm>
            <a:off x="4773168" y="2377440"/>
            <a:ext cx="3977700" cy="301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1100"/>
              <a:buFont typeface="Consolas"/>
              <a:buNone/>
            </a:pPr>
            <a:r>
              <a:rPr lang="en" sz="1300" b="0" i="0" u="none" strike="noStrike" cap="none">
                <a:solidFill>
                  <a:schemeClr val="dk1"/>
                </a:solidFill>
                <a:latin typeface="Consolas"/>
                <a:ea typeface="Consolas"/>
                <a:cs typeface="Consolas"/>
                <a:sym typeface="Consolas"/>
              </a:rPr>
              <a:t>w₃_new  =  0.8210</a:t>
            </a:r>
            <a:endParaRPr sz="1300" b="0" i="0" u="none" strike="noStrike" cap="none">
              <a:solidFill>
                <a:schemeClr val="dk1"/>
              </a:solidFill>
              <a:latin typeface="Calibri"/>
              <a:ea typeface="Calibri"/>
              <a:cs typeface="Calibri"/>
              <a:sym typeface="Calibri"/>
            </a:endParaRPr>
          </a:p>
        </p:txBody>
      </p:sp>
      <p:sp>
        <p:nvSpPr>
          <p:cNvPr id="3187" name="Google Shape;3187;g3f62c33a15b_2_452"/>
          <p:cNvSpPr/>
          <p:nvPr/>
        </p:nvSpPr>
        <p:spPr>
          <a:xfrm>
            <a:off x="4791665" y="2807358"/>
            <a:ext cx="1828800" cy="6585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8" name="Google Shape;3188;g3f62c33a15b_2_452"/>
          <p:cNvSpPr/>
          <p:nvPr/>
        </p:nvSpPr>
        <p:spPr>
          <a:xfrm>
            <a:off x="4883105" y="2871366"/>
            <a:ext cx="1645800" cy="2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900"/>
              <a:buFont typeface="Calibri"/>
              <a:buNone/>
            </a:pPr>
            <a:r>
              <a:rPr lang="en" sz="1300" b="0" i="0" u="none" strike="noStrike" cap="none">
                <a:solidFill>
                  <a:schemeClr val="dk1"/>
                </a:solidFill>
                <a:latin typeface="Calibri"/>
                <a:ea typeface="Calibri"/>
                <a:cs typeface="Calibri"/>
                <a:sym typeface="Calibri"/>
              </a:rPr>
              <a:t>w₃: 0.8000 → 0.8210</a:t>
            </a:r>
            <a:endParaRPr sz="1300" b="0" i="0" u="none" strike="noStrike" cap="none">
              <a:solidFill>
                <a:schemeClr val="dk1"/>
              </a:solidFill>
              <a:latin typeface="Calibri"/>
              <a:ea typeface="Calibri"/>
              <a:cs typeface="Calibri"/>
              <a:sym typeface="Calibri"/>
            </a:endParaRPr>
          </a:p>
        </p:txBody>
      </p:sp>
      <p:sp>
        <p:nvSpPr>
          <p:cNvPr id="3189" name="Google Shape;3189;g3f62c33a15b_2_452"/>
          <p:cNvSpPr/>
          <p:nvPr/>
        </p:nvSpPr>
        <p:spPr>
          <a:xfrm>
            <a:off x="4883105" y="3099966"/>
            <a:ext cx="16458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85FA5"/>
              </a:buClr>
              <a:buSzPts val="1600"/>
              <a:buFont typeface="Consolas"/>
              <a:buNone/>
            </a:pPr>
            <a:r>
              <a:rPr lang="en" sz="1600" b="1" i="0" u="none" strike="noStrike" cap="none">
                <a:solidFill>
                  <a:srgbClr val="185FA5"/>
                </a:solidFill>
                <a:latin typeface="Consolas"/>
                <a:ea typeface="Consolas"/>
                <a:cs typeface="Consolas"/>
                <a:sym typeface="Consolas"/>
              </a:rPr>
              <a:t>+0.0210</a:t>
            </a:r>
            <a:endParaRPr sz="1600" b="0" i="0" u="none" strike="noStrike" cap="none">
              <a:solidFill>
                <a:schemeClr val="dk1"/>
              </a:solidFill>
              <a:latin typeface="Calibri"/>
              <a:ea typeface="Calibri"/>
              <a:cs typeface="Calibri"/>
              <a:sym typeface="Calibri"/>
            </a:endParaRPr>
          </a:p>
        </p:txBody>
      </p:sp>
      <p:sp>
        <p:nvSpPr>
          <p:cNvPr id="3190" name="Google Shape;3190;g3f62c33a15b_2_452"/>
          <p:cNvSpPr/>
          <p:nvPr/>
        </p:nvSpPr>
        <p:spPr>
          <a:xfrm>
            <a:off x="4617640" y="3465855"/>
            <a:ext cx="4160400" cy="274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000" b="0" i="1" u="none" strike="noStrike" cap="none">
                <a:solidFill>
                  <a:srgbClr val="64748B"/>
                </a:solidFill>
                <a:latin typeface="Calibri"/>
                <a:ea typeface="Calibri"/>
                <a:cs typeface="Calibri"/>
                <a:sym typeface="Calibri"/>
              </a:rPr>
              <a:t>Larger h → larger weight change. h₁ &gt; h₂ so Δw₃ &gt; Δw₄.</a:t>
            </a:r>
            <a:endParaRPr sz="1000" b="0" i="0" u="none" strike="noStrike" cap="none">
              <a:solidFill>
                <a:schemeClr val="dk1"/>
              </a:solidFill>
              <a:latin typeface="Calibri"/>
              <a:ea typeface="Calibri"/>
              <a:cs typeface="Calibri"/>
              <a:sym typeface="Calibri"/>
            </a:endParaRPr>
          </a:p>
        </p:txBody>
      </p:sp>
      <p:pic>
        <p:nvPicPr>
          <p:cNvPr id="3191" name="Google Shape;3191;g3f62c33a15b_2_452"/>
          <p:cNvPicPr preferRelativeResize="0"/>
          <p:nvPr/>
        </p:nvPicPr>
        <p:blipFill rotWithShape="1">
          <a:blip r:embed="rId3">
            <a:alphaModFix/>
          </a:blip>
          <a:srcRect/>
          <a:stretch/>
        </p:blipFill>
        <p:spPr>
          <a:xfrm>
            <a:off x="8369125" y="0"/>
            <a:ext cx="774877" cy="867174"/>
          </a:xfrm>
          <a:prstGeom prst="rect">
            <a:avLst/>
          </a:prstGeom>
          <a:noFill/>
          <a:ln>
            <a:noFill/>
          </a:ln>
        </p:spPr>
      </p:pic>
      <p:pic>
        <p:nvPicPr>
          <p:cNvPr id="3192" name="Google Shape;3192;g3f62c33a15b_2_452"/>
          <p:cNvPicPr preferRelativeResize="0"/>
          <p:nvPr/>
        </p:nvPicPr>
        <p:blipFill rotWithShape="1">
          <a:blip r:embed="rId4">
            <a:alphaModFix/>
          </a:blip>
          <a:srcRect/>
          <a:stretch/>
        </p:blipFill>
        <p:spPr>
          <a:xfrm>
            <a:off x="539548" y="3867850"/>
            <a:ext cx="3490050" cy="658500"/>
          </a:xfrm>
          <a:prstGeom prst="rect">
            <a:avLst/>
          </a:prstGeom>
          <a:noFill/>
          <a:ln>
            <a:noFill/>
          </a:ln>
        </p:spPr>
      </p:pic>
      <p:pic>
        <p:nvPicPr>
          <p:cNvPr id="3193" name="Google Shape;3193;g3f62c33a15b_2_452"/>
          <p:cNvPicPr preferRelativeResize="0"/>
          <p:nvPr/>
        </p:nvPicPr>
        <p:blipFill rotWithShape="1">
          <a:blip r:embed="rId5">
            <a:alphaModFix/>
          </a:blip>
          <a:srcRect/>
          <a:stretch/>
        </p:blipFill>
        <p:spPr>
          <a:xfrm>
            <a:off x="1362675" y="3365225"/>
            <a:ext cx="2297888" cy="475425"/>
          </a:xfrm>
          <a:prstGeom prst="rect">
            <a:avLst/>
          </a:prstGeom>
          <a:noFill/>
          <a:ln>
            <a:noFill/>
          </a:ln>
        </p:spPr>
      </p:pic>
      <p:pic>
        <p:nvPicPr>
          <p:cNvPr id="3194" name="Google Shape;3194;g3f62c33a15b_2_452" title="Screenshot 2026-05-29 at 10.01.10 PM.png"/>
          <p:cNvPicPr preferRelativeResize="0"/>
          <p:nvPr/>
        </p:nvPicPr>
        <p:blipFill rotWithShape="1">
          <a:blip r:embed="rId6">
            <a:alphaModFix/>
          </a:blip>
          <a:srcRect/>
          <a:stretch/>
        </p:blipFill>
        <p:spPr>
          <a:xfrm>
            <a:off x="4773175" y="3923150"/>
            <a:ext cx="3467100" cy="800100"/>
          </a:xfrm>
          <a:prstGeom prst="rect">
            <a:avLst/>
          </a:prstGeom>
          <a:noFill/>
          <a:ln>
            <a:noFill/>
          </a:ln>
        </p:spPr>
      </p:pic>
      <p:cxnSp>
        <p:nvCxnSpPr>
          <p:cNvPr id="3195" name="Google Shape;3195;g3f62c33a15b_2_452"/>
          <p:cNvCxnSpPr>
            <a:stCxn id="3193" idx="3"/>
          </p:cNvCxnSpPr>
          <p:nvPr/>
        </p:nvCxnSpPr>
        <p:spPr>
          <a:xfrm>
            <a:off x="3660563" y="3602938"/>
            <a:ext cx="1420800" cy="631500"/>
          </a:xfrm>
          <a:prstGeom prst="straightConnector1">
            <a:avLst/>
          </a:prstGeom>
          <a:noFill/>
          <a:ln w="19050" cap="flat" cmpd="sng">
            <a:solidFill>
              <a:srgbClr val="FF0000"/>
            </a:solidFill>
            <a:prstDash val="solid"/>
            <a:round/>
            <a:headEnd type="none" w="sm" len="sm"/>
            <a:tailEnd type="none" w="sm" len="sm"/>
          </a:ln>
        </p:spPr>
      </p:cxnSp>
      <p:sp>
        <p:nvSpPr>
          <p:cNvPr id="3196" name="Google Shape;3196;g3f62c33a15b_2_452"/>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9</a:t>
            </a:r>
            <a:r>
              <a:rPr lang="en" sz="1000">
                <a:solidFill>
                  <a:srgbClr val="8899AA"/>
                </a:solidFill>
              </a:rPr>
              <a:t>2</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01"/>
        <p:cNvGrpSpPr/>
        <p:nvPr/>
      </p:nvGrpSpPr>
      <p:grpSpPr>
        <a:xfrm>
          <a:off x="0" y="0"/>
          <a:ext cx="0" cy="0"/>
          <a:chOff x="0" y="0"/>
          <a:chExt cx="0" cy="0"/>
        </a:xfrm>
      </p:grpSpPr>
      <p:sp>
        <p:nvSpPr>
          <p:cNvPr id="3202" name="Google Shape;3202;g3f62c33a15b_2_490"/>
          <p:cNvSpPr/>
          <p:nvPr/>
        </p:nvSpPr>
        <p:spPr>
          <a:xfrm>
            <a:off x="347472" y="512064"/>
            <a:ext cx="8229600" cy="530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E293B"/>
              </a:buClr>
              <a:buSzPts val="3000"/>
              <a:buFont typeface="Calibri"/>
              <a:buNone/>
            </a:pPr>
            <a:r>
              <a:rPr lang="en" sz="3000" b="1" i="0" u="none" strike="noStrike" cap="none">
                <a:solidFill>
                  <a:srgbClr val="1E293B"/>
                </a:solidFill>
                <a:latin typeface="Calibri"/>
                <a:ea typeface="Calibri"/>
                <a:cs typeface="Calibri"/>
                <a:sym typeface="Calibri"/>
              </a:rPr>
              <a:t>After 1 Epoch</a:t>
            </a:r>
            <a:endParaRPr sz="3000" b="0" i="0" u="none" strike="noStrike" cap="none">
              <a:solidFill>
                <a:schemeClr val="dk1"/>
              </a:solidFill>
              <a:latin typeface="Calibri"/>
              <a:ea typeface="Calibri"/>
              <a:cs typeface="Calibri"/>
              <a:sym typeface="Calibri"/>
            </a:endParaRPr>
          </a:p>
        </p:txBody>
      </p:sp>
      <p:sp>
        <p:nvSpPr>
          <p:cNvPr id="3203" name="Google Shape;3203;g3f62c33a15b_2_490"/>
          <p:cNvSpPr/>
          <p:nvPr/>
        </p:nvSpPr>
        <p:spPr>
          <a:xfrm>
            <a:off x="0" y="1024128"/>
            <a:ext cx="9144000" cy="27300"/>
          </a:xfrm>
          <a:prstGeom prst="rect">
            <a:avLst/>
          </a:prstGeom>
          <a:solidFill>
            <a:srgbClr val="185FA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4" name="Google Shape;3204;g3f62c33a15b_2_490"/>
          <p:cNvSpPr/>
          <p:nvPr/>
        </p:nvSpPr>
        <p:spPr>
          <a:xfrm>
            <a:off x="347472" y="1188720"/>
            <a:ext cx="2834700" cy="3474600"/>
          </a:xfrm>
          <a:prstGeom prst="rect">
            <a:avLst/>
          </a:prstGeom>
          <a:solidFill>
            <a:srgbClr val="F8FAFB"/>
          </a:solidFill>
          <a:ln w="9525" cap="flat" cmpd="sng">
            <a:solidFill>
              <a:srgbClr val="CBD5E1"/>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5" name="Google Shape;3205;g3f62c33a15b_2_490"/>
          <p:cNvSpPr/>
          <p:nvPr/>
        </p:nvSpPr>
        <p:spPr>
          <a:xfrm>
            <a:off x="484632" y="1298448"/>
            <a:ext cx="2560200" cy="32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300"/>
              <a:buFont typeface="Calibri"/>
              <a:buNone/>
            </a:pPr>
            <a:r>
              <a:rPr lang="en" sz="1300" b="1" i="0" u="none" strike="noStrike" cap="none">
                <a:solidFill>
                  <a:srgbClr val="64748B"/>
                </a:solidFill>
                <a:latin typeface="Calibri"/>
                <a:ea typeface="Calibri"/>
                <a:cs typeface="Calibri"/>
                <a:sym typeface="Calibri"/>
              </a:rPr>
              <a:t>Before (epoch 0)</a:t>
            </a:r>
            <a:endParaRPr sz="1300" b="0" i="0" u="none" strike="noStrike" cap="none">
              <a:solidFill>
                <a:schemeClr val="dk1"/>
              </a:solidFill>
              <a:latin typeface="Calibri"/>
              <a:ea typeface="Calibri"/>
              <a:cs typeface="Calibri"/>
              <a:sym typeface="Calibri"/>
            </a:endParaRPr>
          </a:p>
        </p:txBody>
      </p:sp>
      <p:sp>
        <p:nvSpPr>
          <p:cNvPr id="3206" name="Google Shape;3206;g3f62c33a15b_2_490"/>
          <p:cNvSpPr/>
          <p:nvPr/>
        </p:nvSpPr>
        <p:spPr>
          <a:xfrm>
            <a:off x="457200" y="1719072"/>
            <a:ext cx="26151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7" name="Google Shape;3207;g3f62c33a15b_2_490"/>
          <p:cNvSpPr/>
          <p:nvPr/>
        </p:nvSpPr>
        <p:spPr>
          <a:xfrm>
            <a:off x="548640" y="1719072"/>
            <a:ext cx="5487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100" b="0" i="0" u="none" strike="noStrike" cap="none">
                <a:solidFill>
                  <a:srgbClr val="64748B"/>
                </a:solidFill>
                <a:latin typeface="Calibri"/>
                <a:ea typeface="Calibri"/>
                <a:cs typeface="Calibri"/>
                <a:sym typeface="Calibri"/>
              </a:rPr>
              <a:t>w₁</a:t>
            </a:r>
            <a:endParaRPr sz="1100" b="0" i="0" u="none" strike="noStrike" cap="none">
              <a:solidFill>
                <a:schemeClr val="dk1"/>
              </a:solidFill>
              <a:latin typeface="Calibri"/>
              <a:ea typeface="Calibri"/>
              <a:cs typeface="Calibri"/>
              <a:sym typeface="Calibri"/>
            </a:endParaRPr>
          </a:p>
        </p:txBody>
      </p:sp>
      <p:sp>
        <p:nvSpPr>
          <p:cNvPr id="3208" name="Google Shape;3208;g3f62c33a15b_2_490"/>
          <p:cNvSpPr/>
          <p:nvPr/>
        </p:nvSpPr>
        <p:spPr>
          <a:xfrm>
            <a:off x="1170432" y="1719072"/>
            <a:ext cx="17373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1E293B"/>
              </a:buClr>
              <a:buSzPts val="1300"/>
              <a:buFont typeface="Consolas"/>
              <a:buNone/>
            </a:pPr>
            <a:r>
              <a:rPr lang="en" sz="1300" b="1" i="0" u="none" strike="noStrike" cap="none">
                <a:solidFill>
                  <a:srgbClr val="1E293B"/>
                </a:solidFill>
                <a:latin typeface="Consolas"/>
                <a:ea typeface="Consolas"/>
                <a:cs typeface="Consolas"/>
                <a:sym typeface="Consolas"/>
              </a:rPr>
              <a:t>0.6000</a:t>
            </a:r>
            <a:endParaRPr sz="1300" b="0" i="0" u="none" strike="noStrike" cap="none">
              <a:solidFill>
                <a:schemeClr val="dk1"/>
              </a:solidFill>
              <a:latin typeface="Calibri"/>
              <a:ea typeface="Calibri"/>
              <a:cs typeface="Calibri"/>
              <a:sym typeface="Calibri"/>
            </a:endParaRPr>
          </a:p>
        </p:txBody>
      </p:sp>
      <p:sp>
        <p:nvSpPr>
          <p:cNvPr id="3209" name="Google Shape;3209;g3f62c33a15b_2_490"/>
          <p:cNvSpPr/>
          <p:nvPr/>
        </p:nvSpPr>
        <p:spPr>
          <a:xfrm>
            <a:off x="457200" y="2176272"/>
            <a:ext cx="26151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0" name="Google Shape;3210;g3f62c33a15b_2_490"/>
          <p:cNvSpPr/>
          <p:nvPr/>
        </p:nvSpPr>
        <p:spPr>
          <a:xfrm>
            <a:off x="548640" y="2176272"/>
            <a:ext cx="5487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100" b="0" i="0" u="none" strike="noStrike" cap="none">
                <a:solidFill>
                  <a:srgbClr val="64748B"/>
                </a:solidFill>
                <a:latin typeface="Calibri"/>
                <a:ea typeface="Calibri"/>
                <a:cs typeface="Calibri"/>
                <a:sym typeface="Calibri"/>
              </a:rPr>
              <a:t>w₂</a:t>
            </a:r>
            <a:endParaRPr sz="1100" b="0" i="0" u="none" strike="noStrike" cap="none">
              <a:solidFill>
                <a:schemeClr val="dk1"/>
              </a:solidFill>
              <a:latin typeface="Calibri"/>
              <a:ea typeface="Calibri"/>
              <a:cs typeface="Calibri"/>
              <a:sym typeface="Calibri"/>
            </a:endParaRPr>
          </a:p>
        </p:txBody>
      </p:sp>
      <p:sp>
        <p:nvSpPr>
          <p:cNvPr id="3211" name="Google Shape;3211;g3f62c33a15b_2_490"/>
          <p:cNvSpPr/>
          <p:nvPr/>
        </p:nvSpPr>
        <p:spPr>
          <a:xfrm>
            <a:off x="1170432" y="2176272"/>
            <a:ext cx="17373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1E293B"/>
              </a:buClr>
              <a:buSzPts val="1300"/>
              <a:buFont typeface="Consolas"/>
              <a:buNone/>
            </a:pPr>
            <a:r>
              <a:rPr lang="en" sz="1300" b="1" i="0" u="none" strike="noStrike" cap="none">
                <a:solidFill>
                  <a:srgbClr val="1E293B"/>
                </a:solidFill>
                <a:latin typeface="Consolas"/>
                <a:ea typeface="Consolas"/>
                <a:cs typeface="Consolas"/>
                <a:sym typeface="Consolas"/>
              </a:rPr>
              <a:t>0.4000</a:t>
            </a:r>
            <a:endParaRPr sz="1300" b="0" i="0" u="none" strike="noStrike" cap="none">
              <a:solidFill>
                <a:schemeClr val="dk1"/>
              </a:solidFill>
              <a:latin typeface="Calibri"/>
              <a:ea typeface="Calibri"/>
              <a:cs typeface="Calibri"/>
              <a:sym typeface="Calibri"/>
            </a:endParaRPr>
          </a:p>
        </p:txBody>
      </p:sp>
      <p:sp>
        <p:nvSpPr>
          <p:cNvPr id="3212" name="Google Shape;3212;g3f62c33a15b_2_490"/>
          <p:cNvSpPr/>
          <p:nvPr/>
        </p:nvSpPr>
        <p:spPr>
          <a:xfrm>
            <a:off x="457200" y="2633472"/>
            <a:ext cx="26151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3" name="Google Shape;3213;g3f62c33a15b_2_490"/>
          <p:cNvSpPr/>
          <p:nvPr/>
        </p:nvSpPr>
        <p:spPr>
          <a:xfrm>
            <a:off x="548640" y="2633472"/>
            <a:ext cx="5487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100" b="0" i="0" u="none" strike="noStrike" cap="none">
                <a:solidFill>
                  <a:srgbClr val="64748B"/>
                </a:solidFill>
                <a:latin typeface="Calibri"/>
                <a:ea typeface="Calibri"/>
                <a:cs typeface="Calibri"/>
                <a:sym typeface="Calibri"/>
              </a:rPr>
              <a:t>w₃</a:t>
            </a:r>
            <a:endParaRPr sz="1100" b="0" i="0" u="none" strike="noStrike" cap="none">
              <a:solidFill>
                <a:schemeClr val="dk1"/>
              </a:solidFill>
              <a:latin typeface="Calibri"/>
              <a:ea typeface="Calibri"/>
              <a:cs typeface="Calibri"/>
              <a:sym typeface="Calibri"/>
            </a:endParaRPr>
          </a:p>
        </p:txBody>
      </p:sp>
      <p:sp>
        <p:nvSpPr>
          <p:cNvPr id="3214" name="Google Shape;3214;g3f62c33a15b_2_490"/>
          <p:cNvSpPr/>
          <p:nvPr/>
        </p:nvSpPr>
        <p:spPr>
          <a:xfrm>
            <a:off x="1170432" y="2633472"/>
            <a:ext cx="17373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1E293B"/>
              </a:buClr>
              <a:buSzPts val="1300"/>
              <a:buFont typeface="Consolas"/>
              <a:buNone/>
            </a:pPr>
            <a:r>
              <a:rPr lang="en" sz="1300" b="1" i="0" u="none" strike="noStrike" cap="none">
                <a:solidFill>
                  <a:srgbClr val="1E293B"/>
                </a:solidFill>
                <a:latin typeface="Consolas"/>
                <a:ea typeface="Consolas"/>
                <a:cs typeface="Consolas"/>
                <a:sym typeface="Consolas"/>
              </a:rPr>
              <a:t>0.8000</a:t>
            </a:r>
            <a:endParaRPr sz="1300" b="0" i="0" u="none" strike="noStrike" cap="none">
              <a:solidFill>
                <a:schemeClr val="dk1"/>
              </a:solidFill>
              <a:latin typeface="Calibri"/>
              <a:ea typeface="Calibri"/>
              <a:cs typeface="Calibri"/>
              <a:sym typeface="Calibri"/>
            </a:endParaRPr>
          </a:p>
        </p:txBody>
      </p:sp>
      <p:sp>
        <p:nvSpPr>
          <p:cNvPr id="3215" name="Google Shape;3215;g3f62c33a15b_2_490"/>
          <p:cNvSpPr/>
          <p:nvPr/>
        </p:nvSpPr>
        <p:spPr>
          <a:xfrm>
            <a:off x="457200" y="3090672"/>
            <a:ext cx="26151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6" name="Google Shape;3216;g3f62c33a15b_2_490"/>
          <p:cNvSpPr/>
          <p:nvPr/>
        </p:nvSpPr>
        <p:spPr>
          <a:xfrm>
            <a:off x="548640" y="3090672"/>
            <a:ext cx="5487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100" b="0" i="0" u="none" strike="noStrike" cap="none">
                <a:solidFill>
                  <a:srgbClr val="64748B"/>
                </a:solidFill>
                <a:latin typeface="Calibri"/>
                <a:ea typeface="Calibri"/>
                <a:cs typeface="Calibri"/>
                <a:sym typeface="Calibri"/>
              </a:rPr>
              <a:t>w₄</a:t>
            </a:r>
            <a:endParaRPr sz="1100" b="0" i="0" u="none" strike="noStrike" cap="none">
              <a:solidFill>
                <a:schemeClr val="dk1"/>
              </a:solidFill>
              <a:latin typeface="Calibri"/>
              <a:ea typeface="Calibri"/>
              <a:cs typeface="Calibri"/>
              <a:sym typeface="Calibri"/>
            </a:endParaRPr>
          </a:p>
        </p:txBody>
      </p:sp>
      <p:sp>
        <p:nvSpPr>
          <p:cNvPr id="3217" name="Google Shape;3217;g3f62c33a15b_2_490"/>
          <p:cNvSpPr/>
          <p:nvPr/>
        </p:nvSpPr>
        <p:spPr>
          <a:xfrm>
            <a:off x="1170432" y="3090672"/>
            <a:ext cx="17373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1E293B"/>
              </a:buClr>
              <a:buSzPts val="1300"/>
              <a:buFont typeface="Consolas"/>
              <a:buNone/>
            </a:pPr>
            <a:r>
              <a:rPr lang="en" sz="1300" b="1" i="0" u="none" strike="noStrike" cap="none">
                <a:solidFill>
                  <a:srgbClr val="1E293B"/>
                </a:solidFill>
                <a:latin typeface="Consolas"/>
                <a:ea typeface="Consolas"/>
                <a:cs typeface="Consolas"/>
                <a:sym typeface="Consolas"/>
              </a:rPr>
              <a:t>0.5000</a:t>
            </a:r>
            <a:endParaRPr sz="1300" b="0" i="0" u="none" strike="noStrike" cap="none">
              <a:solidFill>
                <a:schemeClr val="dk1"/>
              </a:solidFill>
              <a:latin typeface="Calibri"/>
              <a:ea typeface="Calibri"/>
              <a:cs typeface="Calibri"/>
              <a:sym typeface="Calibri"/>
            </a:endParaRPr>
          </a:p>
        </p:txBody>
      </p:sp>
      <p:sp>
        <p:nvSpPr>
          <p:cNvPr id="3218" name="Google Shape;3218;g3f62c33a15b_2_490"/>
          <p:cNvSpPr/>
          <p:nvPr/>
        </p:nvSpPr>
        <p:spPr>
          <a:xfrm>
            <a:off x="457200" y="3547872"/>
            <a:ext cx="26151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9" name="Google Shape;3219;g3f62c33a15b_2_490"/>
          <p:cNvSpPr/>
          <p:nvPr/>
        </p:nvSpPr>
        <p:spPr>
          <a:xfrm>
            <a:off x="548640" y="3547872"/>
            <a:ext cx="5487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100" b="0" i="0" u="none" strike="noStrike" cap="none">
                <a:solidFill>
                  <a:srgbClr val="64748B"/>
                </a:solidFill>
                <a:latin typeface="Calibri"/>
                <a:ea typeface="Calibri"/>
                <a:cs typeface="Calibri"/>
                <a:sym typeface="Calibri"/>
              </a:rPr>
              <a:t>ŷ</a:t>
            </a:r>
            <a:endParaRPr sz="1100" b="0" i="0" u="none" strike="noStrike" cap="none">
              <a:solidFill>
                <a:schemeClr val="dk1"/>
              </a:solidFill>
              <a:latin typeface="Calibri"/>
              <a:ea typeface="Calibri"/>
              <a:cs typeface="Calibri"/>
              <a:sym typeface="Calibri"/>
            </a:endParaRPr>
          </a:p>
        </p:txBody>
      </p:sp>
      <p:sp>
        <p:nvSpPr>
          <p:cNvPr id="3220" name="Google Shape;3220;g3f62c33a15b_2_490"/>
          <p:cNvSpPr/>
          <p:nvPr/>
        </p:nvSpPr>
        <p:spPr>
          <a:xfrm>
            <a:off x="1170432" y="3547872"/>
            <a:ext cx="17373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1E293B"/>
              </a:buClr>
              <a:buSzPts val="1300"/>
              <a:buFont typeface="Consolas"/>
              <a:buNone/>
            </a:pPr>
            <a:r>
              <a:rPr lang="en" sz="1300" b="1" i="0" u="none" strike="noStrike" cap="none">
                <a:solidFill>
                  <a:srgbClr val="1E293B"/>
                </a:solidFill>
                <a:latin typeface="Consolas"/>
                <a:ea typeface="Consolas"/>
                <a:cs typeface="Consolas"/>
                <a:sym typeface="Consolas"/>
              </a:rPr>
              <a:t>0.6934</a:t>
            </a:r>
            <a:endParaRPr sz="1300" b="0" i="0" u="none" strike="noStrike" cap="none">
              <a:solidFill>
                <a:schemeClr val="dk1"/>
              </a:solidFill>
              <a:latin typeface="Calibri"/>
              <a:ea typeface="Calibri"/>
              <a:cs typeface="Calibri"/>
              <a:sym typeface="Calibri"/>
            </a:endParaRPr>
          </a:p>
        </p:txBody>
      </p:sp>
      <p:sp>
        <p:nvSpPr>
          <p:cNvPr id="3221" name="Google Shape;3221;g3f62c33a15b_2_490"/>
          <p:cNvSpPr/>
          <p:nvPr/>
        </p:nvSpPr>
        <p:spPr>
          <a:xfrm>
            <a:off x="457200" y="4005072"/>
            <a:ext cx="26151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2" name="Google Shape;3222;g3f62c33a15b_2_490"/>
          <p:cNvSpPr/>
          <p:nvPr/>
        </p:nvSpPr>
        <p:spPr>
          <a:xfrm>
            <a:off x="548640" y="4005072"/>
            <a:ext cx="5487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100" b="0" i="0" u="none" strike="noStrike" cap="none">
                <a:solidFill>
                  <a:srgbClr val="64748B"/>
                </a:solidFill>
                <a:latin typeface="Calibri"/>
                <a:ea typeface="Calibri"/>
                <a:cs typeface="Calibri"/>
                <a:sym typeface="Calibri"/>
              </a:rPr>
              <a:t>Loss</a:t>
            </a:r>
            <a:endParaRPr sz="1100" b="0" i="0" u="none" strike="noStrike" cap="none">
              <a:solidFill>
                <a:schemeClr val="dk1"/>
              </a:solidFill>
              <a:latin typeface="Calibri"/>
              <a:ea typeface="Calibri"/>
              <a:cs typeface="Calibri"/>
              <a:sym typeface="Calibri"/>
            </a:endParaRPr>
          </a:p>
        </p:txBody>
      </p:sp>
      <p:sp>
        <p:nvSpPr>
          <p:cNvPr id="3223" name="Google Shape;3223;g3f62c33a15b_2_490"/>
          <p:cNvSpPr/>
          <p:nvPr/>
        </p:nvSpPr>
        <p:spPr>
          <a:xfrm>
            <a:off x="1170432" y="4005072"/>
            <a:ext cx="17373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1E293B"/>
              </a:buClr>
              <a:buSzPts val="1300"/>
              <a:buFont typeface="Consolas"/>
              <a:buNone/>
            </a:pPr>
            <a:r>
              <a:rPr lang="en" sz="1300" b="1" i="0" u="none" strike="noStrike" cap="none">
                <a:solidFill>
                  <a:srgbClr val="1E293B"/>
                </a:solidFill>
                <a:latin typeface="Consolas"/>
                <a:ea typeface="Consolas"/>
                <a:cs typeface="Consolas"/>
                <a:sym typeface="Consolas"/>
              </a:rPr>
              <a:t>0.0470</a:t>
            </a:r>
            <a:endParaRPr sz="1300" b="0" i="0" u="none" strike="noStrike" cap="none">
              <a:solidFill>
                <a:schemeClr val="dk1"/>
              </a:solidFill>
              <a:latin typeface="Calibri"/>
              <a:ea typeface="Calibri"/>
              <a:cs typeface="Calibri"/>
              <a:sym typeface="Calibri"/>
            </a:endParaRPr>
          </a:p>
        </p:txBody>
      </p:sp>
      <p:sp>
        <p:nvSpPr>
          <p:cNvPr id="3224" name="Google Shape;3224;g3f62c33a15b_2_490"/>
          <p:cNvSpPr/>
          <p:nvPr/>
        </p:nvSpPr>
        <p:spPr>
          <a:xfrm>
            <a:off x="3383280" y="1188720"/>
            <a:ext cx="2834700" cy="3474600"/>
          </a:xfrm>
          <a:prstGeom prst="rect">
            <a:avLst/>
          </a:prstGeom>
          <a:solidFill>
            <a:srgbClr val="F8FAFB"/>
          </a:solidFill>
          <a:ln w="12700" cap="flat" cmpd="sng">
            <a:solidFill>
              <a:srgbClr val="000000"/>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5" name="Google Shape;3225;g3f62c33a15b_2_490"/>
          <p:cNvSpPr/>
          <p:nvPr/>
        </p:nvSpPr>
        <p:spPr>
          <a:xfrm>
            <a:off x="3520440" y="1298448"/>
            <a:ext cx="2560200" cy="32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85FA5"/>
              </a:buClr>
              <a:buSzPts val="1300"/>
              <a:buFont typeface="Calibri"/>
              <a:buNone/>
            </a:pPr>
            <a:r>
              <a:rPr lang="en" sz="1300" b="1" i="0" u="none" strike="noStrike" cap="none">
                <a:solidFill>
                  <a:srgbClr val="185FA5"/>
                </a:solidFill>
                <a:latin typeface="Calibri"/>
                <a:ea typeface="Calibri"/>
                <a:cs typeface="Calibri"/>
                <a:sym typeface="Calibri"/>
              </a:rPr>
              <a:t>After (epoch 1)</a:t>
            </a:r>
            <a:endParaRPr sz="1300" b="0" i="0" u="none" strike="noStrike" cap="none">
              <a:solidFill>
                <a:schemeClr val="dk1"/>
              </a:solidFill>
              <a:latin typeface="Calibri"/>
              <a:ea typeface="Calibri"/>
              <a:cs typeface="Calibri"/>
              <a:sym typeface="Calibri"/>
            </a:endParaRPr>
          </a:p>
        </p:txBody>
      </p:sp>
      <p:sp>
        <p:nvSpPr>
          <p:cNvPr id="3226" name="Google Shape;3226;g3f62c33a15b_2_490"/>
          <p:cNvSpPr/>
          <p:nvPr/>
        </p:nvSpPr>
        <p:spPr>
          <a:xfrm>
            <a:off x="3493008" y="1719072"/>
            <a:ext cx="26151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7" name="Google Shape;3227;g3f62c33a15b_2_490"/>
          <p:cNvSpPr/>
          <p:nvPr/>
        </p:nvSpPr>
        <p:spPr>
          <a:xfrm>
            <a:off x="3584448" y="1719072"/>
            <a:ext cx="5487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100" b="0" i="0" u="none" strike="noStrike" cap="none">
                <a:solidFill>
                  <a:srgbClr val="64748B"/>
                </a:solidFill>
                <a:latin typeface="Calibri"/>
                <a:ea typeface="Calibri"/>
                <a:cs typeface="Calibri"/>
                <a:sym typeface="Calibri"/>
              </a:rPr>
              <a:t>w₁</a:t>
            </a:r>
            <a:endParaRPr sz="1100" b="0" i="0" u="none" strike="noStrike" cap="none">
              <a:solidFill>
                <a:schemeClr val="dk1"/>
              </a:solidFill>
              <a:latin typeface="Calibri"/>
              <a:ea typeface="Calibri"/>
              <a:cs typeface="Calibri"/>
              <a:sym typeface="Calibri"/>
            </a:endParaRPr>
          </a:p>
        </p:txBody>
      </p:sp>
      <p:sp>
        <p:nvSpPr>
          <p:cNvPr id="3228" name="Google Shape;3228;g3f62c33a15b_2_490"/>
          <p:cNvSpPr/>
          <p:nvPr/>
        </p:nvSpPr>
        <p:spPr>
          <a:xfrm>
            <a:off x="4206240" y="1719072"/>
            <a:ext cx="17373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185FA5"/>
              </a:buClr>
              <a:buSzPts val="1300"/>
              <a:buFont typeface="Consolas"/>
              <a:buNone/>
            </a:pPr>
            <a:r>
              <a:rPr lang="en" sz="1300" b="1" i="0" u="none" strike="noStrike" cap="none">
                <a:solidFill>
                  <a:srgbClr val="185FA5"/>
                </a:solidFill>
                <a:latin typeface="Consolas"/>
                <a:ea typeface="Consolas"/>
                <a:cs typeface="Consolas"/>
                <a:sym typeface="Consolas"/>
              </a:rPr>
              <a:t>0.6060</a:t>
            </a:r>
            <a:endParaRPr sz="1300" b="0" i="0" u="none" strike="noStrike" cap="none">
              <a:solidFill>
                <a:schemeClr val="dk1"/>
              </a:solidFill>
              <a:latin typeface="Calibri"/>
              <a:ea typeface="Calibri"/>
              <a:cs typeface="Calibri"/>
              <a:sym typeface="Calibri"/>
            </a:endParaRPr>
          </a:p>
        </p:txBody>
      </p:sp>
      <p:sp>
        <p:nvSpPr>
          <p:cNvPr id="3229" name="Google Shape;3229;g3f62c33a15b_2_490"/>
          <p:cNvSpPr/>
          <p:nvPr/>
        </p:nvSpPr>
        <p:spPr>
          <a:xfrm>
            <a:off x="3493008" y="2176272"/>
            <a:ext cx="26151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0" name="Google Shape;3230;g3f62c33a15b_2_490"/>
          <p:cNvSpPr/>
          <p:nvPr/>
        </p:nvSpPr>
        <p:spPr>
          <a:xfrm>
            <a:off x="3584448" y="2176272"/>
            <a:ext cx="5487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100" b="0" i="0" u="none" strike="noStrike" cap="none">
                <a:solidFill>
                  <a:srgbClr val="64748B"/>
                </a:solidFill>
                <a:latin typeface="Calibri"/>
                <a:ea typeface="Calibri"/>
                <a:cs typeface="Calibri"/>
                <a:sym typeface="Calibri"/>
              </a:rPr>
              <a:t>w₂</a:t>
            </a:r>
            <a:endParaRPr sz="1100" b="0" i="0" u="none" strike="noStrike" cap="none">
              <a:solidFill>
                <a:schemeClr val="dk1"/>
              </a:solidFill>
              <a:latin typeface="Calibri"/>
              <a:ea typeface="Calibri"/>
              <a:cs typeface="Calibri"/>
              <a:sym typeface="Calibri"/>
            </a:endParaRPr>
          </a:p>
        </p:txBody>
      </p:sp>
      <p:sp>
        <p:nvSpPr>
          <p:cNvPr id="3231" name="Google Shape;3231;g3f62c33a15b_2_490"/>
          <p:cNvSpPr/>
          <p:nvPr/>
        </p:nvSpPr>
        <p:spPr>
          <a:xfrm>
            <a:off x="4206240" y="2176272"/>
            <a:ext cx="17373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185FA5"/>
              </a:buClr>
              <a:buSzPts val="1300"/>
              <a:buFont typeface="Consolas"/>
              <a:buNone/>
            </a:pPr>
            <a:r>
              <a:rPr lang="en" sz="1300" b="1" i="0" u="none" strike="noStrike" cap="none">
                <a:solidFill>
                  <a:srgbClr val="185FA5"/>
                </a:solidFill>
                <a:latin typeface="Consolas"/>
                <a:ea typeface="Consolas"/>
                <a:cs typeface="Consolas"/>
                <a:sym typeface="Consolas"/>
              </a:rPr>
              <a:t>0.4039</a:t>
            </a:r>
            <a:endParaRPr sz="1300" b="0" i="0" u="none" strike="noStrike" cap="none">
              <a:solidFill>
                <a:schemeClr val="dk1"/>
              </a:solidFill>
              <a:latin typeface="Calibri"/>
              <a:ea typeface="Calibri"/>
              <a:cs typeface="Calibri"/>
              <a:sym typeface="Calibri"/>
            </a:endParaRPr>
          </a:p>
        </p:txBody>
      </p:sp>
      <p:sp>
        <p:nvSpPr>
          <p:cNvPr id="3232" name="Google Shape;3232;g3f62c33a15b_2_490"/>
          <p:cNvSpPr/>
          <p:nvPr/>
        </p:nvSpPr>
        <p:spPr>
          <a:xfrm>
            <a:off x="3493008" y="2633472"/>
            <a:ext cx="26151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3" name="Google Shape;3233;g3f62c33a15b_2_490"/>
          <p:cNvSpPr/>
          <p:nvPr/>
        </p:nvSpPr>
        <p:spPr>
          <a:xfrm>
            <a:off x="3584448" y="2633472"/>
            <a:ext cx="5487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100" b="0" i="0" u="none" strike="noStrike" cap="none">
                <a:solidFill>
                  <a:srgbClr val="64748B"/>
                </a:solidFill>
                <a:latin typeface="Calibri"/>
                <a:ea typeface="Calibri"/>
                <a:cs typeface="Calibri"/>
                <a:sym typeface="Calibri"/>
              </a:rPr>
              <a:t>w₃</a:t>
            </a:r>
            <a:endParaRPr sz="1100" b="0" i="0" u="none" strike="noStrike" cap="none">
              <a:solidFill>
                <a:schemeClr val="dk1"/>
              </a:solidFill>
              <a:latin typeface="Calibri"/>
              <a:ea typeface="Calibri"/>
              <a:cs typeface="Calibri"/>
              <a:sym typeface="Calibri"/>
            </a:endParaRPr>
          </a:p>
        </p:txBody>
      </p:sp>
      <p:sp>
        <p:nvSpPr>
          <p:cNvPr id="3234" name="Google Shape;3234;g3f62c33a15b_2_490"/>
          <p:cNvSpPr/>
          <p:nvPr/>
        </p:nvSpPr>
        <p:spPr>
          <a:xfrm>
            <a:off x="4206240" y="2633472"/>
            <a:ext cx="17373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185FA5"/>
              </a:buClr>
              <a:buSzPts val="1300"/>
              <a:buFont typeface="Consolas"/>
              <a:buNone/>
            </a:pPr>
            <a:r>
              <a:rPr lang="en" sz="1300" b="1" i="0" u="none" strike="noStrike" cap="none">
                <a:solidFill>
                  <a:srgbClr val="185FA5"/>
                </a:solidFill>
                <a:latin typeface="Consolas"/>
                <a:ea typeface="Consolas"/>
                <a:cs typeface="Consolas"/>
                <a:sym typeface="Consolas"/>
              </a:rPr>
              <a:t>0.8210</a:t>
            </a:r>
            <a:endParaRPr sz="1300" b="0" i="0" u="none" strike="noStrike" cap="none">
              <a:solidFill>
                <a:schemeClr val="dk1"/>
              </a:solidFill>
              <a:latin typeface="Calibri"/>
              <a:ea typeface="Calibri"/>
              <a:cs typeface="Calibri"/>
              <a:sym typeface="Calibri"/>
            </a:endParaRPr>
          </a:p>
        </p:txBody>
      </p:sp>
      <p:sp>
        <p:nvSpPr>
          <p:cNvPr id="3235" name="Google Shape;3235;g3f62c33a15b_2_490"/>
          <p:cNvSpPr/>
          <p:nvPr/>
        </p:nvSpPr>
        <p:spPr>
          <a:xfrm>
            <a:off x="3493008" y="3090672"/>
            <a:ext cx="26151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6" name="Google Shape;3236;g3f62c33a15b_2_490"/>
          <p:cNvSpPr/>
          <p:nvPr/>
        </p:nvSpPr>
        <p:spPr>
          <a:xfrm>
            <a:off x="3584448" y="3090672"/>
            <a:ext cx="5487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100" b="0" i="0" u="none" strike="noStrike" cap="none">
                <a:solidFill>
                  <a:srgbClr val="64748B"/>
                </a:solidFill>
                <a:latin typeface="Calibri"/>
                <a:ea typeface="Calibri"/>
                <a:cs typeface="Calibri"/>
                <a:sym typeface="Calibri"/>
              </a:rPr>
              <a:t>w₄</a:t>
            </a:r>
            <a:endParaRPr sz="1100" b="0" i="0" u="none" strike="noStrike" cap="none">
              <a:solidFill>
                <a:schemeClr val="dk1"/>
              </a:solidFill>
              <a:latin typeface="Calibri"/>
              <a:ea typeface="Calibri"/>
              <a:cs typeface="Calibri"/>
              <a:sym typeface="Calibri"/>
            </a:endParaRPr>
          </a:p>
        </p:txBody>
      </p:sp>
      <p:sp>
        <p:nvSpPr>
          <p:cNvPr id="3237" name="Google Shape;3237;g3f62c33a15b_2_490"/>
          <p:cNvSpPr/>
          <p:nvPr/>
        </p:nvSpPr>
        <p:spPr>
          <a:xfrm>
            <a:off x="4206240" y="3090672"/>
            <a:ext cx="17373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185FA5"/>
              </a:buClr>
              <a:buSzPts val="1300"/>
              <a:buFont typeface="Consolas"/>
              <a:buNone/>
            </a:pPr>
            <a:r>
              <a:rPr lang="en" sz="1300" b="1" i="0" u="none" strike="noStrike" cap="none">
                <a:solidFill>
                  <a:srgbClr val="185FA5"/>
                </a:solidFill>
                <a:latin typeface="Consolas"/>
                <a:ea typeface="Consolas"/>
                <a:cs typeface="Consolas"/>
                <a:sym typeface="Consolas"/>
              </a:rPr>
              <a:t>0.5195</a:t>
            </a:r>
            <a:endParaRPr sz="1300" b="0" i="0" u="none" strike="noStrike" cap="none">
              <a:solidFill>
                <a:schemeClr val="dk1"/>
              </a:solidFill>
              <a:latin typeface="Calibri"/>
              <a:ea typeface="Calibri"/>
              <a:cs typeface="Calibri"/>
              <a:sym typeface="Calibri"/>
            </a:endParaRPr>
          </a:p>
        </p:txBody>
      </p:sp>
      <p:sp>
        <p:nvSpPr>
          <p:cNvPr id="3238" name="Google Shape;3238;g3f62c33a15b_2_490"/>
          <p:cNvSpPr/>
          <p:nvPr/>
        </p:nvSpPr>
        <p:spPr>
          <a:xfrm>
            <a:off x="3493008" y="3547872"/>
            <a:ext cx="26151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9" name="Google Shape;3239;g3f62c33a15b_2_490"/>
          <p:cNvSpPr/>
          <p:nvPr/>
        </p:nvSpPr>
        <p:spPr>
          <a:xfrm>
            <a:off x="3584448" y="3547872"/>
            <a:ext cx="5487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100" b="0" i="0" u="none" strike="noStrike" cap="none">
                <a:solidFill>
                  <a:srgbClr val="64748B"/>
                </a:solidFill>
                <a:latin typeface="Calibri"/>
                <a:ea typeface="Calibri"/>
                <a:cs typeface="Calibri"/>
                <a:sym typeface="Calibri"/>
              </a:rPr>
              <a:t>ŷ</a:t>
            </a:r>
            <a:endParaRPr sz="1100" b="0" i="0" u="none" strike="noStrike" cap="none">
              <a:solidFill>
                <a:schemeClr val="dk1"/>
              </a:solidFill>
              <a:latin typeface="Calibri"/>
              <a:ea typeface="Calibri"/>
              <a:cs typeface="Calibri"/>
              <a:sym typeface="Calibri"/>
            </a:endParaRPr>
          </a:p>
        </p:txBody>
      </p:sp>
      <p:sp>
        <p:nvSpPr>
          <p:cNvPr id="3240" name="Google Shape;3240;g3f62c33a15b_2_490"/>
          <p:cNvSpPr/>
          <p:nvPr/>
        </p:nvSpPr>
        <p:spPr>
          <a:xfrm>
            <a:off x="4206240" y="3547872"/>
            <a:ext cx="17373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185FA5"/>
              </a:buClr>
              <a:buSzPts val="1300"/>
              <a:buFont typeface="Consolas"/>
              <a:buNone/>
            </a:pPr>
            <a:r>
              <a:rPr lang="en" sz="1300" b="1" i="0" u="none" strike="noStrike" cap="none">
                <a:solidFill>
                  <a:srgbClr val="185FA5"/>
                </a:solidFill>
                <a:latin typeface="Consolas"/>
                <a:ea typeface="Consolas"/>
                <a:cs typeface="Consolas"/>
                <a:sym typeface="Consolas"/>
              </a:rPr>
              <a:t>0.6987</a:t>
            </a:r>
            <a:endParaRPr sz="1300" b="0" i="0" u="none" strike="noStrike" cap="none">
              <a:solidFill>
                <a:schemeClr val="dk1"/>
              </a:solidFill>
              <a:latin typeface="Calibri"/>
              <a:ea typeface="Calibri"/>
              <a:cs typeface="Calibri"/>
              <a:sym typeface="Calibri"/>
            </a:endParaRPr>
          </a:p>
        </p:txBody>
      </p:sp>
      <p:sp>
        <p:nvSpPr>
          <p:cNvPr id="3241" name="Google Shape;3241;g3f62c33a15b_2_490"/>
          <p:cNvSpPr/>
          <p:nvPr/>
        </p:nvSpPr>
        <p:spPr>
          <a:xfrm>
            <a:off x="3493008" y="4005072"/>
            <a:ext cx="26151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2" name="Google Shape;3242;g3f62c33a15b_2_490"/>
          <p:cNvSpPr/>
          <p:nvPr/>
        </p:nvSpPr>
        <p:spPr>
          <a:xfrm>
            <a:off x="3584448" y="4005072"/>
            <a:ext cx="5487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100"/>
              <a:buFont typeface="Calibri"/>
              <a:buNone/>
            </a:pPr>
            <a:r>
              <a:rPr lang="en" sz="1100" b="0" i="0" u="none" strike="noStrike" cap="none">
                <a:solidFill>
                  <a:srgbClr val="64748B"/>
                </a:solidFill>
                <a:latin typeface="Calibri"/>
                <a:ea typeface="Calibri"/>
                <a:cs typeface="Calibri"/>
                <a:sym typeface="Calibri"/>
              </a:rPr>
              <a:t>Loss</a:t>
            </a:r>
            <a:endParaRPr sz="1100" b="0" i="0" u="none" strike="noStrike" cap="none">
              <a:solidFill>
                <a:schemeClr val="dk1"/>
              </a:solidFill>
              <a:latin typeface="Calibri"/>
              <a:ea typeface="Calibri"/>
              <a:cs typeface="Calibri"/>
              <a:sym typeface="Calibri"/>
            </a:endParaRPr>
          </a:p>
        </p:txBody>
      </p:sp>
      <p:sp>
        <p:nvSpPr>
          <p:cNvPr id="3243" name="Google Shape;3243;g3f62c33a15b_2_490"/>
          <p:cNvSpPr/>
          <p:nvPr/>
        </p:nvSpPr>
        <p:spPr>
          <a:xfrm>
            <a:off x="4206240" y="4005072"/>
            <a:ext cx="17373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F6E56"/>
              </a:buClr>
              <a:buSzPts val="1300"/>
              <a:buFont typeface="Consolas"/>
              <a:buNone/>
            </a:pPr>
            <a:r>
              <a:rPr lang="en" sz="1300" b="1" i="0" u="none" strike="noStrike" cap="none">
                <a:solidFill>
                  <a:srgbClr val="0F6E56"/>
                </a:solidFill>
                <a:latin typeface="Consolas"/>
                <a:ea typeface="Consolas"/>
                <a:cs typeface="Consolas"/>
                <a:sym typeface="Consolas"/>
              </a:rPr>
              <a:t>0.0454</a:t>
            </a:r>
            <a:endParaRPr sz="1300" b="0" i="0" u="none" strike="noStrike" cap="none">
              <a:solidFill>
                <a:schemeClr val="dk1"/>
              </a:solidFill>
              <a:latin typeface="Calibri"/>
              <a:ea typeface="Calibri"/>
              <a:cs typeface="Calibri"/>
              <a:sym typeface="Calibri"/>
            </a:endParaRPr>
          </a:p>
        </p:txBody>
      </p:sp>
      <p:sp>
        <p:nvSpPr>
          <p:cNvPr id="3244" name="Google Shape;3244;g3f62c33a15b_2_490"/>
          <p:cNvSpPr/>
          <p:nvPr/>
        </p:nvSpPr>
        <p:spPr>
          <a:xfrm>
            <a:off x="6492240" y="1188720"/>
            <a:ext cx="2377500" cy="3474600"/>
          </a:xfrm>
          <a:prstGeom prst="rect">
            <a:avLst/>
          </a:prstGeom>
          <a:solidFill>
            <a:srgbClr val="F8FAFB"/>
          </a:solidFill>
          <a:ln w="9525" cap="flat" cmpd="sng">
            <a:solidFill>
              <a:srgbClr val="9FE1CB"/>
            </a:solidFill>
            <a:prstDash val="solid"/>
            <a:round/>
            <a:headEnd type="none" w="sm" len="sm"/>
            <a:tailEnd type="none" w="sm" len="sm"/>
          </a:ln>
          <a:effectLst>
            <a:outerShdw blurRad="76200" dist="25400" dir="8100000" algn="bl" rotWithShape="0">
              <a:srgbClr val="000000">
                <a:alpha val="1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5" name="Google Shape;3245;g3f62c33a15b_2_490"/>
          <p:cNvSpPr/>
          <p:nvPr/>
        </p:nvSpPr>
        <p:spPr>
          <a:xfrm>
            <a:off x="6601968" y="1298448"/>
            <a:ext cx="2157900" cy="329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D9E75"/>
              </a:buClr>
              <a:buSzPts val="1300"/>
              <a:buFont typeface="Calibri"/>
              <a:buNone/>
            </a:pPr>
            <a:r>
              <a:rPr lang="en" sz="1300" b="1" i="0" u="none" strike="noStrike" cap="none">
                <a:solidFill>
                  <a:srgbClr val="1D9E75"/>
                </a:solidFill>
                <a:latin typeface="Calibri"/>
                <a:ea typeface="Calibri"/>
                <a:cs typeface="Calibri"/>
                <a:sym typeface="Calibri"/>
              </a:rPr>
              <a:t>Improvement</a:t>
            </a:r>
            <a:endParaRPr sz="1300" b="0" i="0" u="none" strike="noStrike" cap="none">
              <a:solidFill>
                <a:schemeClr val="dk1"/>
              </a:solidFill>
              <a:latin typeface="Calibri"/>
              <a:ea typeface="Calibri"/>
              <a:cs typeface="Calibri"/>
              <a:sym typeface="Calibri"/>
            </a:endParaRPr>
          </a:p>
        </p:txBody>
      </p:sp>
      <p:sp>
        <p:nvSpPr>
          <p:cNvPr id="3246" name="Google Shape;3246;g3f62c33a15b_2_490"/>
          <p:cNvSpPr/>
          <p:nvPr/>
        </p:nvSpPr>
        <p:spPr>
          <a:xfrm>
            <a:off x="6601968" y="1719072"/>
            <a:ext cx="21579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7" name="Google Shape;3247;g3f62c33a15b_2_490"/>
          <p:cNvSpPr/>
          <p:nvPr/>
        </p:nvSpPr>
        <p:spPr>
          <a:xfrm>
            <a:off x="6693408" y="1719072"/>
            <a:ext cx="10059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000" b="0" i="0" u="none" strike="noStrike" cap="none">
                <a:solidFill>
                  <a:srgbClr val="64748B"/>
                </a:solidFill>
                <a:latin typeface="Calibri"/>
                <a:ea typeface="Calibri"/>
                <a:cs typeface="Calibri"/>
                <a:sym typeface="Calibri"/>
              </a:rPr>
              <a:t>Loss drop</a:t>
            </a:r>
            <a:endParaRPr sz="1000" b="0" i="0" u="none" strike="noStrike" cap="none">
              <a:solidFill>
                <a:schemeClr val="dk1"/>
              </a:solidFill>
              <a:latin typeface="Calibri"/>
              <a:ea typeface="Calibri"/>
              <a:cs typeface="Calibri"/>
              <a:sym typeface="Calibri"/>
            </a:endParaRPr>
          </a:p>
        </p:txBody>
      </p:sp>
      <p:sp>
        <p:nvSpPr>
          <p:cNvPr id="3248" name="Google Shape;3248;g3f62c33a15b_2_490"/>
          <p:cNvSpPr/>
          <p:nvPr/>
        </p:nvSpPr>
        <p:spPr>
          <a:xfrm>
            <a:off x="7772400" y="1719072"/>
            <a:ext cx="9144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1D9E75"/>
              </a:buClr>
              <a:buSzPts val="1200"/>
              <a:buFont typeface="Consolas"/>
              <a:buNone/>
            </a:pPr>
            <a:r>
              <a:rPr lang="en" sz="1200" b="1" i="0" u="none" strike="noStrike" cap="none">
                <a:solidFill>
                  <a:srgbClr val="1D9E75"/>
                </a:solidFill>
                <a:latin typeface="Consolas"/>
                <a:ea typeface="Consolas"/>
                <a:cs typeface="Consolas"/>
                <a:sym typeface="Consolas"/>
              </a:rPr>
              <a:t>-3.5%</a:t>
            </a:r>
            <a:endParaRPr sz="1200" b="0" i="0" u="none" strike="noStrike" cap="none">
              <a:solidFill>
                <a:schemeClr val="dk1"/>
              </a:solidFill>
              <a:latin typeface="Calibri"/>
              <a:ea typeface="Calibri"/>
              <a:cs typeface="Calibri"/>
              <a:sym typeface="Calibri"/>
            </a:endParaRPr>
          </a:p>
        </p:txBody>
      </p:sp>
      <p:sp>
        <p:nvSpPr>
          <p:cNvPr id="3249" name="Google Shape;3249;g3f62c33a15b_2_490"/>
          <p:cNvSpPr/>
          <p:nvPr/>
        </p:nvSpPr>
        <p:spPr>
          <a:xfrm>
            <a:off x="6601968" y="2176272"/>
            <a:ext cx="21579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0" name="Google Shape;3250;g3f62c33a15b_2_490"/>
          <p:cNvSpPr/>
          <p:nvPr/>
        </p:nvSpPr>
        <p:spPr>
          <a:xfrm>
            <a:off x="6693408" y="2176272"/>
            <a:ext cx="10059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000" b="0" i="0" u="none" strike="noStrike" cap="none">
                <a:solidFill>
                  <a:srgbClr val="64748B"/>
                </a:solidFill>
                <a:latin typeface="Calibri"/>
                <a:ea typeface="Calibri"/>
                <a:cs typeface="Calibri"/>
                <a:sym typeface="Calibri"/>
              </a:rPr>
              <a:t>ŷ gain</a:t>
            </a:r>
            <a:endParaRPr sz="1000" b="0" i="0" u="none" strike="noStrike" cap="none">
              <a:solidFill>
                <a:schemeClr val="dk1"/>
              </a:solidFill>
              <a:latin typeface="Calibri"/>
              <a:ea typeface="Calibri"/>
              <a:cs typeface="Calibri"/>
              <a:sym typeface="Calibri"/>
            </a:endParaRPr>
          </a:p>
        </p:txBody>
      </p:sp>
      <p:sp>
        <p:nvSpPr>
          <p:cNvPr id="3251" name="Google Shape;3251;g3f62c33a15b_2_490"/>
          <p:cNvSpPr/>
          <p:nvPr/>
        </p:nvSpPr>
        <p:spPr>
          <a:xfrm>
            <a:off x="7772400" y="2176272"/>
            <a:ext cx="9144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185FA5"/>
              </a:buClr>
              <a:buSzPts val="1200"/>
              <a:buFont typeface="Consolas"/>
              <a:buNone/>
            </a:pPr>
            <a:r>
              <a:rPr lang="en" sz="1200" b="1" i="0" u="none" strike="noStrike" cap="none">
                <a:solidFill>
                  <a:srgbClr val="185FA5"/>
                </a:solidFill>
                <a:latin typeface="Consolas"/>
                <a:ea typeface="Consolas"/>
                <a:cs typeface="Consolas"/>
                <a:sym typeface="Consolas"/>
              </a:rPr>
              <a:t>+0.0053</a:t>
            </a:r>
            <a:endParaRPr sz="1200" b="0" i="0" u="none" strike="noStrike" cap="none">
              <a:solidFill>
                <a:schemeClr val="dk1"/>
              </a:solidFill>
              <a:latin typeface="Calibri"/>
              <a:ea typeface="Calibri"/>
              <a:cs typeface="Calibri"/>
              <a:sym typeface="Calibri"/>
            </a:endParaRPr>
          </a:p>
        </p:txBody>
      </p:sp>
      <p:sp>
        <p:nvSpPr>
          <p:cNvPr id="3252" name="Google Shape;3252;g3f62c33a15b_2_490"/>
          <p:cNvSpPr/>
          <p:nvPr/>
        </p:nvSpPr>
        <p:spPr>
          <a:xfrm>
            <a:off x="6601968" y="2633472"/>
            <a:ext cx="21579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3" name="Google Shape;3253;g3f62c33a15b_2_490"/>
          <p:cNvSpPr/>
          <p:nvPr/>
        </p:nvSpPr>
        <p:spPr>
          <a:xfrm>
            <a:off x="6693408" y="2633472"/>
            <a:ext cx="10059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000" b="0" i="0" u="none" strike="noStrike" cap="none">
                <a:solidFill>
                  <a:srgbClr val="64748B"/>
                </a:solidFill>
                <a:latin typeface="Calibri"/>
                <a:ea typeface="Calibri"/>
                <a:cs typeface="Calibri"/>
                <a:sym typeface="Calibri"/>
              </a:rPr>
              <a:t>Gap to 1.0</a:t>
            </a:r>
            <a:endParaRPr sz="1000" b="0" i="0" u="none" strike="noStrike" cap="none">
              <a:solidFill>
                <a:schemeClr val="dk1"/>
              </a:solidFill>
              <a:latin typeface="Calibri"/>
              <a:ea typeface="Calibri"/>
              <a:cs typeface="Calibri"/>
              <a:sym typeface="Calibri"/>
            </a:endParaRPr>
          </a:p>
        </p:txBody>
      </p:sp>
      <p:sp>
        <p:nvSpPr>
          <p:cNvPr id="3254" name="Google Shape;3254;g3f62c33a15b_2_490"/>
          <p:cNvSpPr/>
          <p:nvPr/>
        </p:nvSpPr>
        <p:spPr>
          <a:xfrm>
            <a:off x="7772400" y="2633472"/>
            <a:ext cx="9144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BA7517"/>
              </a:buClr>
              <a:buSzPts val="1200"/>
              <a:buFont typeface="Consolas"/>
              <a:buNone/>
            </a:pPr>
            <a:r>
              <a:rPr lang="en" sz="1200" b="1" i="0" u="none" strike="noStrike" cap="none">
                <a:solidFill>
                  <a:srgbClr val="BA7517"/>
                </a:solidFill>
                <a:latin typeface="Consolas"/>
                <a:ea typeface="Consolas"/>
                <a:cs typeface="Consolas"/>
                <a:sym typeface="Consolas"/>
              </a:rPr>
              <a:t>0.3013</a:t>
            </a:r>
            <a:endParaRPr sz="1200" b="0" i="0" u="none" strike="noStrike" cap="none">
              <a:solidFill>
                <a:schemeClr val="dk1"/>
              </a:solidFill>
              <a:latin typeface="Calibri"/>
              <a:ea typeface="Calibri"/>
              <a:cs typeface="Calibri"/>
              <a:sym typeface="Calibri"/>
            </a:endParaRPr>
          </a:p>
        </p:txBody>
      </p:sp>
      <p:sp>
        <p:nvSpPr>
          <p:cNvPr id="3255" name="Google Shape;3255;g3f62c33a15b_2_490"/>
          <p:cNvSpPr/>
          <p:nvPr/>
        </p:nvSpPr>
        <p:spPr>
          <a:xfrm>
            <a:off x="6601968" y="3090672"/>
            <a:ext cx="21579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6" name="Google Shape;3256;g3f62c33a15b_2_490"/>
          <p:cNvSpPr/>
          <p:nvPr/>
        </p:nvSpPr>
        <p:spPr>
          <a:xfrm>
            <a:off x="6693408" y="3090672"/>
            <a:ext cx="10059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000">
                <a:solidFill>
                  <a:srgbClr val="64748B"/>
                </a:solidFill>
                <a:latin typeface="Calibri"/>
                <a:ea typeface="Calibri"/>
                <a:cs typeface="Calibri"/>
                <a:sym typeface="Calibri"/>
              </a:rPr>
              <a:t>Δ</a:t>
            </a:r>
            <a:r>
              <a:rPr lang="en" sz="1000" b="0" i="0" u="none" strike="noStrike" cap="none">
                <a:solidFill>
                  <a:srgbClr val="64748B"/>
                </a:solidFill>
                <a:latin typeface="Calibri"/>
                <a:ea typeface="Calibri"/>
                <a:cs typeface="Calibri"/>
                <a:sym typeface="Calibri"/>
              </a:rPr>
              <a:t>w₃ </a:t>
            </a:r>
            <a:endParaRPr sz="1000" b="0" i="0" u="none" strike="noStrike" cap="none">
              <a:solidFill>
                <a:schemeClr val="dk1"/>
              </a:solidFill>
              <a:latin typeface="Calibri"/>
              <a:ea typeface="Calibri"/>
              <a:cs typeface="Calibri"/>
              <a:sym typeface="Calibri"/>
            </a:endParaRPr>
          </a:p>
        </p:txBody>
      </p:sp>
      <p:sp>
        <p:nvSpPr>
          <p:cNvPr id="3257" name="Google Shape;3257;g3f62c33a15b_2_490"/>
          <p:cNvSpPr/>
          <p:nvPr/>
        </p:nvSpPr>
        <p:spPr>
          <a:xfrm>
            <a:off x="7772400" y="3090672"/>
            <a:ext cx="9144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185FA5"/>
              </a:buClr>
              <a:buSzPts val="1200"/>
              <a:buFont typeface="Consolas"/>
              <a:buNone/>
            </a:pPr>
            <a:r>
              <a:rPr lang="en" sz="1200" b="1" i="0" u="none" strike="noStrike" cap="none">
                <a:solidFill>
                  <a:srgbClr val="185FA5"/>
                </a:solidFill>
                <a:latin typeface="Consolas"/>
                <a:ea typeface="Consolas"/>
                <a:cs typeface="Consolas"/>
                <a:sym typeface="Consolas"/>
              </a:rPr>
              <a:t>+0.0210</a:t>
            </a:r>
            <a:endParaRPr sz="1200" b="0" i="0" u="none" strike="noStrike" cap="none">
              <a:solidFill>
                <a:schemeClr val="dk1"/>
              </a:solidFill>
              <a:latin typeface="Calibri"/>
              <a:ea typeface="Calibri"/>
              <a:cs typeface="Calibri"/>
              <a:sym typeface="Calibri"/>
            </a:endParaRPr>
          </a:p>
        </p:txBody>
      </p:sp>
      <p:sp>
        <p:nvSpPr>
          <p:cNvPr id="3258" name="Google Shape;3258;g3f62c33a15b_2_490"/>
          <p:cNvSpPr/>
          <p:nvPr/>
        </p:nvSpPr>
        <p:spPr>
          <a:xfrm>
            <a:off x="6601968" y="3547872"/>
            <a:ext cx="21579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9" name="Google Shape;3259;g3f62c33a15b_2_490"/>
          <p:cNvSpPr/>
          <p:nvPr/>
        </p:nvSpPr>
        <p:spPr>
          <a:xfrm>
            <a:off x="6693408" y="3547872"/>
            <a:ext cx="1005900" cy="36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64748B"/>
              </a:buClr>
              <a:buSzPts val="1000"/>
              <a:buFont typeface="Calibri"/>
              <a:buNone/>
            </a:pPr>
            <a:r>
              <a:rPr lang="en" sz="1000">
                <a:solidFill>
                  <a:srgbClr val="64748B"/>
                </a:solidFill>
                <a:latin typeface="Calibri"/>
                <a:ea typeface="Calibri"/>
                <a:cs typeface="Calibri"/>
                <a:sym typeface="Calibri"/>
              </a:rPr>
              <a:t>Δ</a:t>
            </a:r>
            <a:r>
              <a:rPr lang="en" sz="1000" b="0" i="0" u="none" strike="noStrike" cap="none">
                <a:solidFill>
                  <a:srgbClr val="64748B"/>
                </a:solidFill>
                <a:latin typeface="Calibri"/>
                <a:ea typeface="Calibri"/>
                <a:cs typeface="Calibri"/>
                <a:sym typeface="Calibri"/>
              </a:rPr>
              <a:t>w₄ </a:t>
            </a:r>
            <a:endParaRPr sz="1000" b="0" i="0" u="none" strike="noStrike" cap="none">
              <a:solidFill>
                <a:schemeClr val="dk1"/>
              </a:solidFill>
              <a:latin typeface="Calibri"/>
              <a:ea typeface="Calibri"/>
              <a:cs typeface="Calibri"/>
              <a:sym typeface="Calibri"/>
            </a:endParaRPr>
          </a:p>
        </p:txBody>
      </p:sp>
      <p:sp>
        <p:nvSpPr>
          <p:cNvPr id="3260" name="Google Shape;3260;g3f62c33a15b_2_490"/>
          <p:cNvSpPr/>
          <p:nvPr/>
        </p:nvSpPr>
        <p:spPr>
          <a:xfrm>
            <a:off x="7772400" y="3547872"/>
            <a:ext cx="9144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185FA5"/>
              </a:buClr>
              <a:buSzPts val="1200"/>
              <a:buFont typeface="Consolas"/>
              <a:buNone/>
            </a:pPr>
            <a:r>
              <a:rPr lang="en" sz="1200" b="1" i="0" u="none" strike="noStrike" cap="none">
                <a:solidFill>
                  <a:srgbClr val="185FA5"/>
                </a:solidFill>
                <a:latin typeface="Consolas"/>
                <a:ea typeface="Consolas"/>
                <a:cs typeface="Consolas"/>
                <a:sym typeface="Consolas"/>
              </a:rPr>
              <a:t>+0.0195</a:t>
            </a:r>
            <a:endParaRPr sz="1200" b="0" i="0" u="none" strike="noStrike" cap="none">
              <a:solidFill>
                <a:schemeClr val="dk1"/>
              </a:solidFill>
              <a:latin typeface="Calibri"/>
              <a:ea typeface="Calibri"/>
              <a:cs typeface="Calibri"/>
              <a:sym typeface="Calibri"/>
            </a:endParaRPr>
          </a:p>
        </p:txBody>
      </p:sp>
      <p:sp>
        <p:nvSpPr>
          <p:cNvPr id="3261" name="Google Shape;3261;g3f62c33a15b_2_490"/>
          <p:cNvSpPr/>
          <p:nvPr/>
        </p:nvSpPr>
        <p:spPr>
          <a:xfrm>
            <a:off x="6601968" y="4005072"/>
            <a:ext cx="2157900" cy="365700"/>
          </a:xfrm>
          <a:prstGeom prst="rect">
            <a:avLst/>
          </a:prstGeom>
          <a:solidFill>
            <a:srgbClr val="EEF2F5"/>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2" name="Google Shape;3262;g3f62c33a15b_2_490"/>
          <p:cNvSpPr/>
          <p:nvPr/>
        </p:nvSpPr>
        <p:spPr>
          <a:xfrm>
            <a:off x="6693408" y="4005072"/>
            <a:ext cx="1005900" cy="365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64748B"/>
              </a:buClr>
              <a:buSzPts val="1000"/>
              <a:buFont typeface="Calibri"/>
              <a:buNone/>
            </a:pPr>
            <a:r>
              <a:rPr lang="en" sz="1000">
                <a:solidFill>
                  <a:srgbClr val="64748B"/>
                </a:solidFill>
                <a:latin typeface="Calibri"/>
                <a:ea typeface="Calibri"/>
                <a:cs typeface="Calibri"/>
                <a:sym typeface="Calibri"/>
              </a:rPr>
              <a:t>Δ</a:t>
            </a:r>
            <a:r>
              <a:rPr lang="en" sz="1000" b="0" i="0" u="none" strike="noStrike" cap="none">
                <a:solidFill>
                  <a:srgbClr val="64748B"/>
                </a:solidFill>
                <a:latin typeface="Calibri"/>
                <a:ea typeface="Calibri"/>
                <a:cs typeface="Calibri"/>
                <a:sym typeface="Calibri"/>
              </a:rPr>
              <a:t>w₁ </a:t>
            </a:r>
            <a:endParaRPr sz="1000" b="0" i="0" u="none" strike="noStrike" cap="none">
              <a:solidFill>
                <a:schemeClr val="dk1"/>
              </a:solidFill>
              <a:latin typeface="Calibri"/>
              <a:ea typeface="Calibri"/>
              <a:cs typeface="Calibri"/>
              <a:sym typeface="Calibri"/>
            </a:endParaRPr>
          </a:p>
        </p:txBody>
      </p:sp>
      <p:sp>
        <p:nvSpPr>
          <p:cNvPr id="3263" name="Google Shape;3263;g3f62c33a15b_2_490"/>
          <p:cNvSpPr/>
          <p:nvPr/>
        </p:nvSpPr>
        <p:spPr>
          <a:xfrm>
            <a:off x="7772400" y="4005072"/>
            <a:ext cx="914400" cy="3657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64748B"/>
              </a:buClr>
              <a:buSzPts val="1200"/>
              <a:buFont typeface="Consolas"/>
              <a:buNone/>
            </a:pPr>
            <a:r>
              <a:rPr lang="en" sz="1200" b="1" i="0" u="none" strike="noStrike" cap="none">
                <a:solidFill>
                  <a:srgbClr val="64748B"/>
                </a:solidFill>
                <a:latin typeface="Consolas"/>
                <a:ea typeface="Consolas"/>
                <a:cs typeface="Consolas"/>
                <a:sym typeface="Consolas"/>
              </a:rPr>
              <a:t>+0.00597</a:t>
            </a:r>
            <a:endParaRPr sz="1200" b="0" i="0" u="none" strike="noStrike" cap="none">
              <a:solidFill>
                <a:schemeClr val="dk1"/>
              </a:solidFill>
              <a:latin typeface="Calibri"/>
              <a:ea typeface="Calibri"/>
              <a:cs typeface="Calibri"/>
              <a:sym typeface="Calibri"/>
            </a:endParaRPr>
          </a:p>
        </p:txBody>
      </p:sp>
      <p:sp>
        <p:nvSpPr>
          <p:cNvPr id="3264" name="Google Shape;3264;g3f62c33a15b_2_490"/>
          <p:cNvSpPr/>
          <p:nvPr/>
        </p:nvSpPr>
        <p:spPr>
          <a:xfrm>
            <a:off x="347472" y="4709160"/>
            <a:ext cx="8503800" cy="329100"/>
          </a:xfrm>
          <a:prstGeom prst="rect">
            <a:avLst/>
          </a:prstGeom>
          <a:solidFill>
            <a:srgbClr val="F8FAFB"/>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5" name="Google Shape;3265;g3f62c33a15b_2_490"/>
          <p:cNvSpPr/>
          <p:nvPr/>
        </p:nvSpPr>
        <p:spPr>
          <a:xfrm>
            <a:off x="457200" y="4709160"/>
            <a:ext cx="8321100" cy="329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334155"/>
              </a:buClr>
              <a:buSzPts val="1100"/>
              <a:buFont typeface="Calibri"/>
              <a:buNone/>
            </a:pPr>
            <a:r>
              <a:rPr lang="en" sz="1100" b="0" i="0" u="none" strike="noStrike" cap="none">
                <a:solidFill>
                  <a:srgbClr val="334155"/>
                </a:solidFill>
                <a:latin typeface="Calibri"/>
                <a:ea typeface="Calibri"/>
                <a:cs typeface="Calibri"/>
                <a:sym typeface="Calibri"/>
              </a:rPr>
              <a:t>Repeat: Forward → Compute Loss → Backprop δ → Update all weights — thousands of epochs until loss ≈ 0</a:t>
            </a:r>
            <a:endParaRPr sz="1100" b="0" i="0" u="none" strike="noStrike" cap="none">
              <a:solidFill>
                <a:schemeClr val="dk1"/>
              </a:solidFill>
              <a:latin typeface="Calibri"/>
              <a:ea typeface="Calibri"/>
              <a:cs typeface="Calibri"/>
              <a:sym typeface="Calibri"/>
            </a:endParaRPr>
          </a:p>
        </p:txBody>
      </p:sp>
      <p:pic>
        <p:nvPicPr>
          <p:cNvPr id="3266" name="Google Shape;3266;g3f62c33a15b_2_490"/>
          <p:cNvPicPr preferRelativeResize="0"/>
          <p:nvPr/>
        </p:nvPicPr>
        <p:blipFill rotWithShape="1">
          <a:blip r:embed="rId3">
            <a:alphaModFix/>
          </a:blip>
          <a:srcRect/>
          <a:stretch/>
        </p:blipFill>
        <p:spPr>
          <a:xfrm>
            <a:off x="8369125" y="0"/>
            <a:ext cx="774877" cy="867174"/>
          </a:xfrm>
          <a:prstGeom prst="rect">
            <a:avLst/>
          </a:prstGeom>
          <a:noFill/>
          <a:ln>
            <a:noFill/>
          </a:ln>
        </p:spPr>
      </p:pic>
      <p:sp>
        <p:nvSpPr>
          <p:cNvPr id="3267" name="Google Shape;3267;g3f62c33a15b_2_490"/>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9</a:t>
            </a:r>
            <a:r>
              <a:rPr lang="en" sz="1000">
                <a:solidFill>
                  <a:srgbClr val="8899AA"/>
                </a:solidFill>
              </a:rPr>
              <a:t>3</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271"/>
        <p:cNvGrpSpPr/>
        <p:nvPr/>
      </p:nvGrpSpPr>
      <p:grpSpPr>
        <a:xfrm>
          <a:off x="0" y="0"/>
          <a:ext cx="0" cy="0"/>
          <a:chOff x="0" y="0"/>
          <a:chExt cx="0" cy="0"/>
        </a:xfrm>
      </p:grpSpPr>
      <p:pic>
        <p:nvPicPr>
          <p:cNvPr id="3272" name="Google Shape;3272;p65"/>
          <p:cNvPicPr preferRelativeResize="0"/>
          <p:nvPr/>
        </p:nvPicPr>
        <p:blipFill rotWithShape="1">
          <a:blip r:embed="rId4">
            <a:alphaModFix/>
          </a:blip>
          <a:srcRect/>
          <a:stretch/>
        </p:blipFill>
        <p:spPr>
          <a:xfrm>
            <a:off x="8369125" y="0"/>
            <a:ext cx="774877" cy="867174"/>
          </a:xfrm>
          <a:prstGeom prst="rect">
            <a:avLst/>
          </a:prstGeom>
          <a:noFill/>
          <a:ln>
            <a:noFill/>
          </a:ln>
        </p:spPr>
      </p:pic>
      <p:sp>
        <p:nvSpPr>
          <p:cNvPr id="3273" name="Google Shape;3273;p65"/>
          <p:cNvSpPr/>
          <p:nvPr/>
        </p:nvSpPr>
        <p:spPr>
          <a:xfrm>
            <a:off x="469650" y="683663"/>
            <a:ext cx="8204700" cy="724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400"/>
              <a:buFont typeface="Calibri"/>
              <a:buNone/>
            </a:pPr>
            <a:r>
              <a:rPr lang="en" sz="2800" b="0" i="0" u="none" strike="noStrike" cap="none">
                <a:solidFill>
                  <a:schemeClr val="dk1"/>
                </a:solidFill>
                <a:latin typeface="Arial"/>
                <a:ea typeface="Arial"/>
                <a:cs typeface="Arial"/>
                <a:sym typeface="Arial"/>
              </a:rPr>
              <a:t>Thank you</a:t>
            </a:r>
            <a:endParaRPr sz="2800" b="0" i="0" u="none" strike="noStrike" cap="none">
              <a:solidFill>
                <a:schemeClr val="dk1"/>
              </a:solidFill>
              <a:latin typeface="Arial"/>
              <a:ea typeface="Arial"/>
              <a:cs typeface="Arial"/>
              <a:sym typeface="Arial"/>
            </a:endParaRPr>
          </a:p>
        </p:txBody>
      </p:sp>
      <p:sp>
        <p:nvSpPr>
          <p:cNvPr id="3274" name="Google Shape;3274;p65"/>
          <p:cNvSpPr/>
          <p:nvPr/>
        </p:nvSpPr>
        <p:spPr>
          <a:xfrm>
            <a:off x="979975" y="1649350"/>
            <a:ext cx="1591500" cy="515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400"/>
              <a:buFont typeface="Calibri"/>
              <a:buNone/>
            </a:pPr>
            <a:r>
              <a:rPr lang="en" sz="2000" b="0" i="0" u="none" strike="noStrike" cap="none">
                <a:solidFill>
                  <a:schemeClr val="dk1"/>
                </a:solidFill>
                <a:latin typeface="Arial"/>
                <a:ea typeface="Arial"/>
                <a:cs typeface="Arial"/>
                <a:sym typeface="Arial"/>
              </a:rPr>
              <a:t>Instructor</a:t>
            </a:r>
            <a:endParaRPr sz="2000" b="0" i="0" u="none" strike="noStrike" cap="none">
              <a:solidFill>
                <a:schemeClr val="dk1"/>
              </a:solidFill>
              <a:latin typeface="Arial"/>
              <a:ea typeface="Arial"/>
              <a:cs typeface="Arial"/>
              <a:sym typeface="Arial"/>
            </a:endParaRPr>
          </a:p>
        </p:txBody>
      </p:sp>
      <p:sp>
        <p:nvSpPr>
          <p:cNvPr id="3275" name="Google Shape;3275;p65"/>
          <p:cNvSpPr/>
          <p:nvPr/>
        </p:nvSpPr>
        <p:spPr>
          <a:xfrm>
            <a:off x="3640950" y="1554800"/>
            <a:ext cx="3755700" cy="515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400"/>
              <a:buFont typeface="Calibri"/>
              <a:buNone/>
            </a:pPr>
            <a:r>
              <a:rPr lang="en" sz="2000" b="0" i="0" u="none" strike="noStrike" cap="none">
                <a:solidFill>
                  <a:schemeClr val="dk1"/>
                </a:solidFill>
                <a:latin typeface="Arial"/>
                <a:ea typeface="Arial"/>
                <a:cs typeface="Arial"/>
                <a:sym typeface="Arial"/>
              </a:rPr>
              <a:t>Teaching Assistants (IITKGP)</a:t>
            </a:r>
            <a:endParaRPr sz="2000" b="0" i="0" u="none" strike="noStrike" cap="none">
              <a:solidFill>
                <a:schemeClr val="dk1"/>
              </a:solidFill>
              <a:latin typeface="Arial"/>
              <a:ea typeface="Arial"/>
              <a:cs typeface="Arial"/>
              <a:sym typeface="Arial"/>
            </a:endParaRPr>
          </a:p>
        </p:txBody>
      </p:sp>
      <p:sp>
        <p:nvSpPr>
          <p:cNvPr id="3276" name="Google Shape;3276;p65"/>
          <p:cNvSpPr/>
          <p:nvPr/>
        </p:nvSpPr>
        <p:spPr>
          <a:xfrm>
            <a:off x="3142475" y="3391576"/>
            <a:ext cx="1794600" cy="490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283"/>
              <a:buFont typeface="Calibri"/>
              <a:buNone/>
            </a:pPr>
            <a:r>
              <a:rPr lang="en" sz="1522" b="0" i="0" u="none" strike="noStrike" cap="none">
                <a:solidFill>
                  <a:schemeClr val="dk1"/>
                </a:solidFill>
                <a:latin typeface="Arial"/>
                <a:ea typeface="Arial"/>
                <a:cs typeface="Arial"/>
                <a:sym typeface="Arial"/>
              </a:rPr>
              <a:t>Sombit Bose</a:t>
            </a:r>
            <a:endParaRPr sz="1522"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D1B2A"/>
              </a:buClr>
              <a:buSzPts val="2283"/>
              <a:buFont typeface="Calibri"/>
              <a:buNone/>
            </a:pPr>
            <a:endParaRPr sz="1522" b="0" i="0" u="none" strike="noStrike" cap="none">
              <a:solidFill>
                <a:schemeClr val="dk1"/>
              </a:solidFill>
              <a:latin typeface="Arial"/>
              <a:ea typeface="Arial"/>
              <a:cs typeface="Arial"/>
              <a:sym typeface="Arial"/>
            </a:endParaRPr>
          </a:p>
        </p:txBody>
      </p:sp>
      <p:sp>
        <p:nvSpPr>
          <p:cNvPr id="3277" name="Google Shape;3277;p65"/>
          <p:cNvSpPr/>
          <p:nvPr/>
        </p:nvSpPr>
        <p:spPr>
          <a:xfrm>
            <a:off x="7117275" y="3425625"/>
            <a:ext cx="1715100" cy="498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318"/>
              <a:buFont typeface="Calibri"/>
              <a:buNone/>
            </a:pPr>
            <a:r>
              <a:rPr lang="en" sz="1546" b="0" i="0" u="none" strike="noStrike" cap="none">
                <a:solidFill>
                  <a:schemeClr val="dk1"/>
                </a:solidFill>
                <a:latin typeface="Arial"/>
                <a:ea typeface="Arial"/>
                <a:cs typeface="Arial"/>
                <a:sym typeface="Arial"/>
              </a:rPr>
              <a:t>Shrimon </a:t>
            </a:r>
            <a:endParaRPr sz="1546"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D1B2A"/>
              </a:buClr>
              <a:buSzPts val="2318"/>
              <a:buFont typeface="Calibri"/>
              <a:buNone/>
            </a:pPr>
            <a:r>
              <a:rPr lang="en" sz="1546" b="0" i="0" u="none" strike="noStrike" cap="none">
                <a:solidFill>
                  <a:schemeClr val="dk1"/>
                </a:solidFill>
                <a:latin typeface="Arial"/>
                <a:ea typeface="Arial"/>
                <a:cs typeface="Arial"/>
                <a:sym typeface="Arial"/>
              </a:rPr>
              <a:t>Mukherjee</a:t>
            </a:r>
            <a:endParaRPr sz="1546" b="0" i="0" u="none" strike="noStrike" cap="none">
              <a:solidFill>
                <a:schemeClr val="dk1"/>
              </a:solidFill>
              <a:latin typeface="Arial"/>
              <a:ea typeface="Arial"/>
              <a:cs typeface="Arial"/>
              <a:sym typeface="Arial"/>
            </a:endParaRPr>
          </a:p>
        </p:txBody>
      </p:sp>
      <p:pic>
        <p:nvPicPr>
          <p:cNvPr id="3278" name="Google Shape;3278;p65" title="1000247300.jpeg"/>
          <p:cNvPicPr preferRelativeResize="0"/>
          <p:nvPr/>
        </p:nvPicPr>
        <p:blipFill rotWithShape="1">
          <a:blip r:embed="rId5">
            <a:alphaModFix/>
          </a:blip>
          <a:srcRect l="22153" t="5839" r="21045" b="9408"/>
          <a:stretch/>
        </p:blipFill>
        <p:spPr>
          <a:xfrm>
            <a:off x="3494088" y="2027288"/>
            <a:ext cx="1091400" cy="1394270"/>
          </a:xfrm>
          <a:prstGeom prst="rect">
            <a:avLst/>
          </a:prstGeom>
          <a:solidFill>
            <a:schemeClr val="dk2"/>
          </a:solidFill>
          <a:ln w="9525" cap="flat" cmpd="sng">
            <a:solidFill>
              <a:schemeClr val="lt1"/>
            </a:solidFill>
            <a:prstDash val="solid"/>
            <a:round/>
            <a:headEnd type="none" w="sm" len="sm"/>
            <a:tailEnd type="none" w="sm" len="sm"/>
          </a:ln>
        </p:spPr>
      </p:pic>
      <p:pic>
        <p:nvPicPr>
          <p:cNvPr id="3279" name="Google Shape;3279;p65" title="IMG_1088.jpeg"/>
          <p:cNvPicPr preferRelativeResize="0"/>
          <p:nvPr/>
        </p:nvPicPr>
        <p:blipFill rotWithShape="1">
          <a:blip r:embed="rId6">
            <a:alphaModFix/>
          </a:blip>
          <a:srcRect l="25019" r="15848"/>
          <a:stretch/>
        </p:blipFill>
        <p:spPr>
          <a:xfrm>
            <a:off x="7314300" y="2027300"/>
            <a:ext cx="1321060" cy="1383475"/>
          </a:xfrm>
          <a:prstGeom prst="rect">
            <a:avLst/>
          </a:prstGeom>
          <a:noFill/>
          <a:ln>
            <a:noFill/>
          </a:ln>
        </p:spPr>
      </p:pic>
      <p:pic>
        <p:nvPicPr>
          <p:cNvPr id="3280" name="Google Shape;3280;p65"/>
          <p:cNvPicPr preferRelativeResize="0"/>
          <p:nvPr/>
        </p:nvPicPr>
        <p:blipFill rotWithShape="1">
          <a:blip r:embed="rId7">
            <a:alphaModFix/>
          </a:blip>
          <a:srcRect l="9646" t="19535" r="9638" b="5038"/>
          <a:stretch/>
        </p:blipFill>
        <p:spPr>
          <a:xfrm>
            <a:off x="5373675" y="2027288"/>
            <a:ext cx="1152399" cy="1387800"/>
          </a:xfrm>
          <a:prstGeom prst="rect">
            <a:avLst/>
          </a:prstGeom>
          <a:noFill/>
          <a:ln>
            <a:noFill/>
          </a:ln>
        </p:spPr>
      </p:pic>
      <p:sp>
        <p:nvSpPr>
          <p:cNvPr id="3281" name="Google Shape;3281;p65"/>
          <p:cNvSpPr/>
          <p:nvPr/>
        </p:nvSpPr>
        <p:spPr>
          <a:xfrm>
            <a:off x="5019725" y="3298029"/>
            <a:ext cx="1860300" cy="490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283"/>
              <a:buFont typeface="Calibri"/>
              <a:buNone/>
            </a:pPr>
            <a:r>
              <a:rPr lang="en" sz="1522" b="0" i="0" u="none" strike="noStrike" cap="none">
                <a:solidFill>
                  <a:schemeClr val="dk1"/>
                </a:solidFill>
                <a:latin typeface="Arial"/>
                <a:ea typeface="Arial"/>
                <a:cs typeface="Arial"/>
                <a:sym typeface="Arial"/>
              </a:rPr>
              <a:t>Anurup Naskar</a:t>
            </a:r>
            <a:endParaRPr sz="1522" b="0" i="0" u="none" strike="noStrike" cap="none">
              <a:solidFill>
                <a:schemeClr val="dk1"/>
              </a:solidFill>
              <a:latin typeface="Arial"/>
              <a:ea typeface="Arial"/>
              <a:cs typeface="Arial"/>
              <a:sym typeface="Arial"/>
            </a:endParaRPr>
          </a:p>
        </p:txBody>
      </p:sp>
      <p:pic>
        <p:nvPicPr>
          <p:cNvPr id="3282" name="Google Shape;3282;p65"/>
          <p:cNvPicPr preferRelativeResize="0"/>
          <p:nvPr/>
        </p:nvPicPr>
        <p:blipFill rotWithShape="1">
          <a:blip r:embed="rId8">
            <a:alphaModFix/>
          </a:blip>
          <a:srcRect/>
          <a:stretch/>
        </p:blipFill>
        <p:spPr>
          <a:xfrm>
            <a:off x="1065625" y="2165062"/>
            <a:ext cx="1420200" cy="1383471"/>
          </a:xfrm>
          <a:prstGeom prst="rect">
            <a:avLst/>
          </a:prstGeom>
          <a:noFill/>
          <a:ln>
            <a:noFill/>
          </a:ln>
        </p:spPr>
      </p:pic>
      <p:sp>
        <p:nvSpPr>
          <p:cNvPr id="3283" name="Google Shape;3283;p65"/>
          <p:cNvSpPr/>
          <p:nvPr/>
        </p:nvSpPr>
        <p:spPr>
          <a:xfrm>
            <a:off x="845575" y="3563379"/>
            <a:ext cx="1860300" cy="4905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2A"/>
              </a:buClr>
              <a:buSzPts val="2283"/>
              <a:buFont typeface="Calibri"/>
              <a:buNone/>
            </a:pPr>
            <a:r>
              <a:rPr lang="en" sz="1522" b="0" i="0" u="none" strike="noStrike" cap="none">
                <a:solidFill>
                  <a:schemeClr val="dk1"/>
                </a:solidFill>
                <a:latin typeface="Arial"/>
                <a:ea typeface="Arial"/>
                <a:cs typeface="Arial"/>
                <a:sym typeface="Arial"/>
              </a:rPr>
              <a:t>Sabyasachi</a:t>
            </a:r>
            <a:endParaRPr sz="1522"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D1B2A"/>
              </a:buClr>
              <a:buSzPts val="2283"/>
              <a:buFont typeface="Calibri"/>
              <a:buNone/>
            </a:pPr>
            <a:r>
              <a:rPr lang="en" sz="1522" b="0" i="0" u="none" strike="noStrike" cap="none">
                <a:solidFill>
                  <a:schemeClr val="dk1"/>
                </a:solidFill>
                <a:latin typeface="Arial"/>
                <a:ea typeface="Arial"/>
                <a:cs typeface="Arial"/>
                <a:sym typeface="Arial"/>
              </a:rPr>
              <a:t>Mukhopadhyay</a:t>
            </a:r>
            <a:endParaRPr sz="1522" b="0" i="0" u="none" strike="noStrike" cap="none">
              <a:solidFill>
                <a:schemeClr val="dk1"/>
              </a:solidFill>
              <a:latin typeface="Arial"/>
              <a:ea typeface="Arial"/>
              <a:cs typeface="Arial"/>
              <a:sym typeface="Arial"/>
            </a:endParaRPr>
          </a:p>
        </p:txBody>
      </p:sp>
      <p:sp>
        <p:nvSpPr>
          <p:cNvPr id="3284" name="Google Shape;3284;p65"/>
          <p:cNvSpPr txBox="1"/>
          <p:nvPr/>
        </p:nvSpPr>
        <p:spPr>
          <a:xfrm>
            <a:off x="8494000" y="4793500"/>
            <a:ext cx="500000" cy="25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 sz="1000" b="0" i="0" u="none" strike="noStrike" cap="none">
                <a:solidFill>
                  <a:srgbClr val="8899AA"/>
                </a:solidFill>
                <a:latin typeface="Arial"/>
                <a:ea typeface="Arial"/>
                <a:cs typeface="Arial"/>
                <a:sym typeface="Arial"/>
              </a:rPr>
              <a:t>9</a:t>
            </a:r>
            <a:r>
              <a:rPr lang="en" sz="1000">
                <a:solidFill>
                  <a:srgbClr val="8899AA"/>
                </a:solidFill>
              </a:rPr>
              <a:t>4</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12725</Words>
  <Application>Microsoft Office PowerPoint</Application>
  <PresentationFormat>On-screen Show (16:9)</PresentationFormat>
  <Paragraphs>2067</Paragraphs>
  <Slides>86</Slides>
  <Notes>86</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86</vt:i4>
      </vt:variant>
    </vt:vector>
  </HeadingPairs>
  <TitlesOfParts>
    <vt:vector size="97" baseType="lpstr">
      <vt:lpstr>Times New Roman</vt:lpstr>
      <vt:lpstr>Cambria</vt:lpstr>
      <vt:lpstr>Roboto Mono</vt:lpstr>
      <vt:lpstr>Arial</vt:lpstr>
      <vt:lpstr>Material Icons</vt:lpstr>
      <vt:lpstr>Consolas</vt:lpstr>
      <vt:lpstr>Calibri</vt:lpstr>
      <vt:lpstr>Courier New</vt:lpstr>
      <vt:lpstr>Simple Light</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Sombit Bose</cp:lastModifiedBy>
  <cp:revision>1</cp:revision>
  <dcterms:modified xsi:type="dcterms:W3CDTF">2026-09-27T05:27:24Z</dcterms:modified>
</cp:coreProperties>
</file>