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Lst>
  <p:notesMasterIdLst>
    <p:notesMasterId r:id="rId37"/>
  </p:notesMasterIdLst>
  <p:sldIdLst>
    <p:sldId id="256" r:id="rId2"/>
    <p:sldId id="257" r:id="rId3"/>
    <p:sldId id="260" r:id="rId4"/>
    <p:sldId id="261" r:id="rId5"/>
    <p:sldId id="262" r:id="rId6"/>
    <p:sldId id="263" r:id="rId7"/>
    <p:sldId id="264" r:id="rId8"/>
    <p:sldId id="267" r:id="rId9"/>
    <p:sldId id="268" r:id="rId10"/>
    <p:sldId id="269" r:id="rId11"/>
    <p:sldId id="270" r:id="rId12"/>
    <p:sldId id="271" r:id="rId13"/>
    <p:sldId id="274" r:id="rId14"/>
    <p:sldId id="275" r:id="rId15"/>
    <p:sldId id="276" r:id="rId16"/>
    <p:sldId id="277" r:id="rId17"/>
    <p:sldId id="278" r:id="rId18"/>
    <p:sldId id="281" r:id="rId19"/>
    <p:sldId id="282" r:id="rId20"/>
    <p:sldId id="283" r:id="rId21"/>
    <p:sldId id="288" r:id="rId22"/>
    <p:sldId id="289" r:id="rId23"/>
    <p:sldId id="290" r:id="rId24"/>
    <p:sldId id="291" r:id="rId25"/>
    <p:sldId id="296" r:id="rId26"/>
    <p:sldId id="297" r:id="rId27"/>
    <p:sldId id="298" r:id="rId28"/>
    <p:sldId id="299" r:id="rId29"/>
    <p:sldId id="300" r:id="rId30"/>
    <p:sldId id="301" r:id="rId31"/>
    <p:sldId id="302" r:id="rId32"/>
    <p:sldId id="303" r:id="rId33"/>
    <p:sldId id="306" r:id="rId34"/>
    <p:sldId id="309" r:id="rId35"/>
    <p:sldId id="311" r:id="rId36"/>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125456-CB15-484E-AA9C-68C207211CB5}">
  <a:tblStyle styleId="{0C125456-CB15-484E-AA9C-68C207211CB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 name="Google Shape;2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Welcome. Ask everyone to keep the chat window and menti.com open in a second tab. Today merges the second half of Lecture 3 (self-attention mechanics, training tricks, positional encoding, multi-head attention) with Lecture 4 (decoder, decoding, pretrained model families).</a:t>
            </a:r>
            <a:endParaRPr/>
          </a:p>
        </p:txBody>
      </p:sp>
      <p:sp>
        <p:nvSpPr>
          <p:cNvPr id="21" name="Google Shape;2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Open with the four everyday examples, then walk the 'Today's journey' strip left to right. Point out the 'Inside' labels: they preview Part 7 (encoder-only reads, decoder-only writes, encoder-decoder does both).</a:t>
            </a: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0:06–0:09. Contrast exact lookup (Python dict: one key matches) with attention (every key matches a little). Real-world hook: a Python dict is like an exact-match roll number lookup; Google-style search is fuzzy, every page gets a relevance score and results are blended by relevance.</a:t>
            </a:r>
            <a:endParaRPr/>
          </a:p>
        </p:txBody>
      </p:sp>
      <p:sp>
        <p:nvSpPr>
          <p:cNvPr id="159" name="Google Shape;15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0:09–0:11. Library analogy: Query = the question on your slip, Key = the label on each book's spine, Value = the book's contents. Match the slip against spines, then read (weighted) contents. In self-attention every word writes a slip, labels its own spine, and offers its own contents.</a:t>
            </a:r>
            <a:endParaRPr/>
          </a:p>
        </p:txBody>
      </p:sp>
      <p:sp>
        <p:nvSpPr>
          <p:cNvPr id="182" name="Google Shape;18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0:11–0:13. Walk through the four steps for one token i. Emphasise that W^Q, W^K, W^V are shared across positions, so the cost does not depend on which word you are, only on sequence length.</a:t>
            </a:r>
            <a:endParaRPr/>
          </a:p>
        </p:txBody>
      </p:sp>
      <p:sp>
        <p:nvSpPr>
          <p:cNvPr id="217" name="Google Shape;21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0:13–0:15. Stack all n tokens into X (n×d). Then the four steps become three matrix multiplies and a softmax. This is why Transformers train fast: no loop over time steps, unlike an RNN. The √dₖ term is previewed here and explained in Part 2.</a:t>
            </a:r>
            <a:endParaRPr/>
          </a:p>
        </p:txBody>
      </p:sp>
      <p:sp>
        <p:nvSpPr>
          <p:cNvPr id="256" name="Google Shape;25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0:15–0:18. Do this live with them. Q = K = X (W^Q = W^K = I). Scores = QKᵀ = [[1,0],[0,1]] for X = [[1,0],[0,1]]. softmax([1,0]) = [0.73, 0.27]. V = X·W^V = [[1,1],[1,0]]. Output for 'it' = 0.27·[1,1] + 0.73·[1,0] = [1.0, 0.27]: its second component is non-zero only because it borrowed from 'animal'.</a:t>
            </a:r>
            <a:endParaRPr/>
          </a:p>
        </p:txBody>
      </p:sp>
      <p:sp>
        <p:nvSpPr>
          <p:cNvPr id="292" name="Google Shape;2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0:20–0:23. Problem: self-attention is a weighted average of value vectors, so on its own it can only re-average. Fix: a position-wise two-layer MLP. Hidden size is typically 4× the model size (2,048 for d = 512). Analogy: group discussion (attention) followed by each person thinking alone (FFN).</a:t>
            </a:r>
            <a:endParaRPr/>
          </a:p>
        </p:txBody>
      </p:sp>
      <p:sp>
        <p:nvSpPr>
          <p:cNvPr id="398" name="Google Shape;39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8" name="Google Shape;42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0:23–0:26. Go along the pipeline. Linear: QKV projections, weighted sum, output projection, residual adds. Non-linear: softmax (inside attention), ReLU/GELU (inside FFN), LayerNorm (division by data-dependent σ, but its job is normalisation). Modern LLMs often use GELU or SwiGLU instead of ReLU, same role.</a:t>
            </a:r>
            <a:endParaRPr/>
          </a:p>
        </p:txBody>
      </p:sp>
      <p:sp>
        <p:nvSpPr>
          <p:cNvPr id="429" name="Google Shape;42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0:26–0:28. Overview slide. Each trick fixes one failure mode: residuals fix vanishing gradients, LayerNorm fixes drifting activation scales, √dₖ scaling fixes softmax saturation. Use the analogies on the cards; details on the next two slides.</a:t>
            </a:r>
            <a:endParaRPr/>
          </a:p>
        </p:txBody>
      </p:sp>
      <p:sp>
        <p:nvSpPr>
          <p:cNvPr id="482" name="Google Shape;48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0:28–0:31. Residual: networks find it hard to learn the identity function; adding x back means a layer only learns the correction F(x). LayerNorm: normalise each token's vector across its features, then rescale with learned γ, β. Original paper: post-norm (after the residual add). Most modern LLMs use pre-norm (before the sublayer), which trains more stably at depth.</a:t>
            </a:r>
            <a:endParaRPr/>
          </a:p>
        </p:txBody>
      </p:sp>
      <p:sp>
        <p:nvSpPr>
          <p:cNvPr id="516" name="Google Shape;51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0:31–0:34. Derivation: if q and k components are independent with mean 0 and variance 1, then q·k = Σ qᵢkᵢ has mean 0 and variance dₖ, so standard deviation √dₖ. For dₖ = 64 typical scores are about ±8. softmax([8, 0]) ≈ [0.9997, 0.0003], almost one-hot, gradient almost 0. Dividing by √dₖ = 8 brings scores back to about ±1: softmax([1, 0]) = [0.73, 0.27], a healthy blend.</a:t>
            </a:r>
            <a:endParaRPr/>
          </a:p>
        </p:txBody>
      </p:sp>
      <p:sp>
        <p:nvSpPr>
          <p:cNvPr id="545" name="Google Shape;54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0:38–0:41. Self-attention is permutation-equivariant: shuffle the inputs and the outputs shuffle the same way, with identical values. So 'Kohli hit the ball' and 'The ball hit Kohli' look like the same bag of words. Fix: add a position vector pᵢ to each embedding. Clock intuition: each pair of dimensions is a hand turning at its own speed.</a:t>
            </a:r>
            <a:endParaRPr/>
          </a:p>
        </p:txBody>
      </p:sp>
      <p:sp>
        <p:nvSpPr>
          <p:cNvPr id="655" name="Google Shape;65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3" name="Google Shape;68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0:41–0:44. Point out: fast dimensions (first pair) swing a lot between positions 3 and 7, slow dimensions barely move. The position is baked into the vector before Q, K, V are computed. Real models use d = 512 or more.</a:t>
            </a:r>
            <a:endParaRPr/>
          </a:p>
        </p:txBody>
      </p:sp>
      <p:sp>
        <p:nvSpPr>
          <p:cNvPr id="684" name="Google Shape;68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1" name="Google Shape;70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0:44–0:47. Use the angle-addition formulas. Each (sin, cos) pair is a point on a circle; advancing k positions rotates it by kω. So PE(pos+k) = M(k)·PE(pos) where M(k) depends only on k. This means an attention head can learn 'look 4 tokens back' once and it works at every position. RoPE (next slide) builds directly on this idea.</a:t>
            </a:r>
            <a:endParaRPr/>
          </a:p>
        </p:txBody>
      </p:sp>
      <p:sp>
        <p:nvSpPr>
          <p:cNvPr id="702" name="Google Shape;702;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0:47–0:50. RoPE: rotate q and k by their position angle; the dot product then depends only on i − j. Used by LLaMA, Mistral, Qwen, Gemma. ALiBi: subtract m·|i−j| from the score; used by BLOOM and MPT. Learned: a trainable vector per slot (BERT, GPT-2); cannot extrapolate past the trained length. Real-world note: context-window extensions in modern LLMs are mostly tricks on top of RoPE.</a:t>
            </a:r>
            <a:endParaRPr/>
          </a:p>
        </p:txBody>
      </p:sp>
      <p:sp>
        <p:nvSpPr>
          <p:cNvPr id="730" name="Google Shape;73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0:50–0:52. Earliest: sin/cos and learned PE are added to the embedding, so Q, K and V all carry position. Middle: RoPE rotates only Q and K, never V. Latest: ALiBi only edits the final score. This slide sets up Quiz 2.</a:t>
            </a:r>
            <a:endParaRPr/>
          </a:p>
        </p:txBody>
      </p:sp>
      <p:sp>
        <p:nvSpPr>
          <p:cNvPr id="768" name="Google Shape;768;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1:00–1:03. Welcome back. One head forms one weighted average per token, so it can only follow one relationship at a time. With h heads, each in a smaller space dₖ = d/h, we get h different views for about the same cost. Point to the diagram: h parallel scaled dot-product attentions, concatenated, then a final linear layer W^O.</a:t>
            </a:r>
            <a:endParaRPr/>
          </a:p>
        </p:txBody>
      </p:sp>
      <p:sp>
        <p:nvSpPr>
          <p:cNvPr id="892" name="Google Shape;89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1:03–1:06. Cricket analogy: BCCI selection committee. Each coach studies the same player but looks at different things; the chief selector (W^O) combines their reports. Second example for non-cricket fans: a hospital tumour board.</a:t>
            </a:r>
            <a:endParaRPr/>
          </a:p>
        </p:txBody>
      </p:sp>
      <p:sp>
        <p:nvSpPr>
          <p:cNvPr id="928" name="Google Shape;92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1:06–1:09. Same input, different projection matrices, different attention patterns. Head 1: both rows of A are identical [0.73, 0.27], so both tokens lean on 'animal' (coreference). Head 2: rows differ, 'it' attends mostly to itself (keeps its identity). Concatenate the two 1-D outputs to get a 2-D vector per token, then multiply by W^O.</a:t>
            </a:r>
            <a:endParaRPr/>
          </a:p>
        </p:txBody>
      </p:sp>
      <p:sp>
        <p:nvSpPr>
          <p:cNvPr id="970" name="Google Shape;97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0" name="Google Shape;114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1:12–1:15. Point to the right-hand stack of the diagram. Compared with the encoder, the decoder adds two things: a causal mask in its self-attention, and a cross-attention layer that reads the encoder's output. Each sublayer is wrapped in Add &amp; Norm, as in Part 2.</a:t>
            </a:r>
            <a:endParaRPr/>
          </a:p>
        </p:txBody>
      </p:sp>
      <p:sp>
        <p:nvSpPr>
          <p:cNvPr id="1141" name="Google Shape;1141;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0" name="Google Shape;1170;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1:15–1:18. During training we feed the whole target sentence at once (teacher forcing) for speed. Without a mask, the model could simply copy the next word. The causal mask sets future scores to −∞, so after softmax their weight is exactly 0. Real-world: phone keyboard next-word prediction only ever sees what you have typed so far.</a:t>
            </a:r>
            <a:endParaRPr/>
          </a:p>
        </p:txBody>
      </p:sp>
      <p:sp>
        <p:nvSpPr>
          <p:cNvPr id="1171" name="Google Shape;1171;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p:cNvGrpSpPr/>
        <p:nvPr/>
      </p:nvGrpSpPr>
      <p:grpSpPr>
        <a:xfrm>
          <a:off x="0" y="0"/>
          <a:ext cx="0" cy="0"/>
          <a:chOff x="0" y="0"/>
          <a:chExt cx="0" cy="0"/>
        </a:xfrm>
      </p:grpSpPr>
      <p:sp>
        <p:nvSpPr>
          <p:cNvPr id="1228" name="Google Shape;122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9" name="Google Shape;122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1:18–1:21. Self-attention: Q, K, V from the same sequence. Cross-attention: two sequences interact. The decoder token asks the question (Q), the encoder's words offer keys and values. Real-world: a human interpreter at a UN meeting listening to the speaker while producing the translation.</a:t>
            </a:r>
            <a:endParaRPr/>
          </a:p>
        </p:txBody>
      </p:sp>
      <p:sp>
        <p:nvSpPr>
          <p:cNvPr id="1230" name="Google Shape;1230;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3" name="Google Shape;126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1:21–1:23. Read the matrix row by row. 'chat' puts 0.60 on 'cat', 'assis' 0.70 on 'sat', 'tapis' 0.65 on 'mat'. Note the shape is t × s (target length × source length), not square. Real-world: these alignment heat-maps are how translation engineers debug word-order errors, for example between English (SVO) and Hindi or Bengali (SOV).</a:t>
            </a:r>
            <a:endParaRPr/>
          </a:p>
        </p:txBody>
      </p:sp>
      <p:sp>
        <p:nvSpPr>
          <p:cNvPr id="1264" name="Google Shape;1264;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7" name="Google Shape;143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1:28–1:31. This is literally what happens when ChatGPT 'types' an answer: each word appears after one full forward pass. Six steps; steps 2–5 repeat until &lt;EOS&gt; or max length.</a:t>
            </a:r>
            <a:endParaRPr/>
          </a:p>
        </p:txBody>
      </p:sp>
      <p:sp>
        <p:nvSpPr>
          <p:cNvPr id="1438" name="Google Shape;1438;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8" name="Google Shape;1478;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1:31–1:34. h (1×4) times W_vocab (4×5) gives 5 raw logits, one per vocabulary word. Softmax converts them to probabilities summing to 1. Highest here is 'cat' at 40.1%. Real vocabularies have 30,000 to 200,000 tokens, so this projection is one of the largest matrices in the model.</a:t>
            </a:r>
            <a:endParaRPr/>
          </a:p>
        </p:txBody>
      </p:sp>
      <p:sp>
        <p:nvSpPr>
          <p:cNvPr id="1479" name="Google Shape;1479;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4" name="Google Shape;1504;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1:34–1:37. Greedy: always the argmax; fast and deterministic, but can be repetitive. Beam search: keep the k best partial sentences; standard for translation where there is one 'right' answer. Temperature sampling: divide logits by T before softmax; T &lt; 1 sharpens, T &gt; 1 flattens. Real-world: the 'temperature' setting in the OpenAI or Gemini API is exactly this. Top-p (nucleus) sampling keeps the smallest set of words whose probabilities add up to p.</a:t>
            </a:r>
            <a:endParaRPr/>
          </a:p>
        </p:txBody>
      </p:sp>
      <p:sp>
        <p:nvSpPr>
          <p:cNvPr id="1505" name="Google Shape;1505;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7"/>
        <p:cNvGrpSpPr/>
        <p:nvPr/>
      </p:nvGrpSpPr>
      <p:grpSpPr>
        <a:xfrm>
          <a:off x="0" y="0"/>
          <a:ext cx="0" cy="0"/>
          <a:chOff x="0" y="0"/>
          <a:chExt cx="0" cy="0"/>
        </a:xfrm>
      </p:grpSpPr>
      <p:sp>
        <p:nvSpPr>
          <p:cNvPr id="1538" name="Google Shape;153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9" name="Google Shape;1539;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1:37–1:40. Left: the trace. Encoder runs once. Mask grows 1×1, 2×2, 3×3. Each predicted token is appended. Right: the actual PyTorch-style loop. Point out enc_out is computed outside the loop, the causal mask is rebuilt each step, [:, -1, :] takes only the last position's logits, and argmax = greedy.</a:t>
            </a:r>
            <a:endParaRPr/>
          </a:p>
        </p:txBody>
      </p:sp>
      <p:sp>
        <p:nvSpPr>
          <p:cNvPr id="1540" name="Google Shape;1540;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7" name="Google Shape;1567;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1:40–1:43. Stage 1: self-supervised pretraining on billions of tokens (next-token prediction or masked-word prediction): no labels needed. Stage 2: fine-tune on a small labelled set, or simply prompt. Pretraining is literally learning good W^Q, W^K, W^V and FFN weights. Real-world: a hospital can fine-tune a general model on a few thousand radiology reports instead of training from scratch.</a:t>
            </a:r>
            <a:endParaRPr/>
          </a:p>
        </p:txBody>
      </p:sp>
      <p:sp>
        <p:nvSpPr>
          <p:cNvPr id="1568" name="Google Shape;1568;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2"/>
        <p:cNvGrpSpPr/>
        <p:nvPr/>
      </p:nvGrpSpPr>
      <p:grpSpPr>
        <a:xfrm>
          <a:off x="0" y="0"/>
          <a:ext cx="0" cy="0"/>
          <a:chOff x="0" y="0"/>
          <a:chExt cx="0" cy="0"/>
        </a:xfrm>
      </p:grpSpPr>
      <p:sp>
        <p:nvSpPr>
          <p:cNvPr id="1603" name="Google Shape;160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4" name="Google Shape;1604;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1:43–1:46. Encoder-only (BERT): bidirectional, no mask, outputs embeddings; trained with masked language modelling. Decoder-only (GPT, LLaMA, Claude): causal mask, no encoder, trained with next-token prediction. Encoder-decoder (T5, BART, original Transformer, Whisper): cross-attention bridges a separate input and output. Link back to the warm-up: reading, writing, or both.</a:t>
            </a:r>
            <a:endParaRPr/>
          </a:p>
        </p:txBody>
      </p:sp>
      <p:sp>
        <p:nvSpPr>
          <p:cNvPr id="1605" name="Google Shape;1605;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8"/>
        <p:cNvGrpSpPr/>
        <p:nvPr/>
      </p:nvGrpSpPr>
      <p:grpSpPr>
        <a:xfrm>
          <a:off x="0" y="0"/>
          <a:ext cx="0" cy="0"/>
          <a:chOff x="0" y="0"/>
          <a:chExt cx="0" cy="0"/>
        </a:xfrm>
      </p:grpSpPr>
      <p:sp>
        <p:nvSpPr>
          <p:cNvPr id="1649" name="Google Shape;164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0" name="Google Shape;1650;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1:46–1:49. All six are real deployments: GPT = Generative Pre-trained Transformer; Google has used BERT in Search since 2019; Whisper is an encoder-decoder speech model; AlphaFold 2's attention-based model was recognised in the 2024 Nobel Prize in Chemistry (Hassabis and Jumper); AI4Bharat's IndicTrans2 covers all 22 scheduled Indian languages and supports Bhashini; Vision Transformers split an image into patches and treat them as tokens.</a:t>
            </a:r>
            <a:endParaRPr/>
          </a:p>
        </p:txBody>
      </p:sp>
      <p:sp>
        <p:nvSpPr>
          <p:cNvPr id="1651" name="Google Shape;1651;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1" name="Google Shape;1691;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1:49–1:51. Architecture is a product and cost decision. Encoder-only: one forward pass, cheapest, ideal for scoring millions of items. Decoder-only: most flexible, most expensive because cost grows with output length. Encoder-decoder: parallel encode, sequential decode; best when input and output are clearly different sequences.</a:t>
            </a:r>
            <a:endParaRPr/>
          </a:p>
        </p:txBody>
      </p:sp>
      <p:sp>
        <p:nvSpPr>
          <p:cNvPr id="1692" name="Google Shape;1692;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3" name="Google Shape;1763;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1:53–1:55 (if short of time, summarise this slide in 30 seconds). Five reasons. Chinchilla (DeepMind, 2022): 70B parameters on 1.4 trillion tokens outperformed the 280B Gopher model, showing data scale matters as much as size; rule of thumb ≈ 20 training tokens per parameter. Caveat: encoder-only models remain the cheaper, better choice for classification, search and embeddings.</a:t>
            </a:r>
            <a:endParaRPr/>
          </a:p>
        </p:txBody>
      </p:sp>
      <p:sp>
        <p:nvSpPr>
          <p:cNvPr id="1764" name="Google Shape;1764;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8"/>
        <p:cNvGrpSpPr/>
        <p:nvPr/>
      </p:nvGrpSpPr>
      <p:grpSpPr>
        <a:xfrm>
          <a:off x="0" y="0"/>
          <a:ext cx="0" cy="0"/>
          <a:chOff x="0" y="0"/>
          <a:chExt cx="0" cy="0"/>
        </a:xfrm>
      </p:grpSpPr>
      <p:sp>
        <p:nvSpPr>
          <p:cNvPr id="1869" name="Google Shape;1869;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0" name="Google Shape;1870;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1:57–1:58. Read the six quickly. End with the joke on the right.</a:t>
            </a:r>
            <a:endParaRPr/>
          </a:p>
        </p:txBody>
      </p:sp>
      <p:sp>
        <p:nvSpPr>
          <p:cNvPr id="1871" name="Google Shape;1871;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1" name="Google Shape;1931;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End of session.</a:t>
            </a:r>
            <a:endParaRPr/>
          </a:p>
        </p:txBody>
      </p:sp>
      <p:sp>
        <p:nvSpPr>
          <p:cNvPr id="1932" name="Google Shape;1932;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bg>
      <p:bgPr>
        <a:blipFill>
          <a:blip r:embed="rId2">
            <a:alphaModFix/>
          </a:blip>
          <a:stretch>
            <a:fillRect/>
          </a:stretch>
        </a:blipFill>
        <a:effectLst/>
      </p:bgPr>
    </p:bg>
    <p:spTree>
      <p:nvGrpSpPr>
        <p:cNvPr id="1" name="Shape 12"/>
        <p:cNvGrpSpPr/>
        <p:nvPr/>
      </p:nvGrpSpPr>
      <p:grpSpPr>
        <a:xfrm>
          <a:off x="0" y="0"/>
          <a:ext cx="0" cy="0"/>
          <a:chOff x="0" y="0"/>
          <a:chExt cx="0" cy="0"/>
        </a:xfrm>
      </p:grpSpPr>
      <p:pic>
        <p:nvPicPr>
          <p:cNvPr id="13" name="Google Shape;13;p3" descr="/tmp/claude-0/-home-claude/2e4ed916-d3dc-5f60-b61a-7b0ef1a4d3a9/scratchpad/lec/assets/logo.png"/>
          <p:cNvPicPr preferRelativeResize="0"/>
          <p:nvPr/>
        </p:nvPicPr>
        <p:blipFill rotWithShape="1">
          <a:blip r:embed="rId3">
            <a:alphaModFix/>
          </a:blip>
          <a:srcRect/>
          <a:stretch/>
        </p:blipFill>
        <p:spPr>
          <a:xfrm>
            <a:off x="11320272" y="128016"/>
            <a:ext cx="658368" cy="736092"/>
          </a:xfrm>
          <a:prstGeom prst="rect">
            <a:avLst/>
          </a:prstGeom>
          <a:noFill/>
          <a:ln>
            <a:noFill/>
          </a:ln>
        </p:spPr>
      </p:pic>
      <p:sp>
        <p:nvSpPr>
          <p:cNvPr id="14" name="Google Shape;14;p3"/>
          <p:cNvSpPr txBox="1">
            <a:spLocks noGrp="1"/>
          </p:cNvSpPr>
          <p:nvPr>
            <p:ph type="title"/>
          </p:nvPr>
        </p:nvSpPr>
        <p:spPr>
          <a:xfrm>
            <a:off x="1005840" y="256032"/>
            <a:ext cx="10177272" cy="64008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1E293B"/>
              </a:buClr>
              <a:buSzPts val="3000"/>
              <a:buFont typeface="Calibri"/>
              <a:buNone/>
              <a:defRPr sz="3000" b="1" i="0" u="none" strike="noStrike" cap="none">
                <a:solidFill>
                  <a:srgbClr val="1E293B"/>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3"/>
          <p:cNvSpPr txBox="1">
            <a:spLocks noGrp="1"/>
          </p:cNvSpPr>
          <p:nvPr>
            <p:ph type="body" idx="1"/>
          </p:nvPr>
        </p:nvSpPr>
        <p:spPr>
          <a:xfrm>
            <a:off x="1005840" y="896112"/>
            <a:ext cx="10177272" cy="365760"/>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300"/>
              </a:spcBef>
              <a:spcAft>
                <a:spcPts val="0"/>
              </a:spcAft>
              <a:buClr>
                <a:srgbClr val="0F766E"/>
              </a:buClr>
              <a:buSzPts val="1500"/>
              <a:buFont typeface="Arial"/>
              <a:buNone/>
              <a:defRPr sz="1500" b="0" i="1" u="none" strike="noStrike" cap="none">
                <a:solidFill>
                  <a:srgbClr val="0F766E"/>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3"/>
          <p:cNvSpPr txBox="1">
            <a:spLocks noGrp="1"/>
          </p:cNvSpPr>
          <p:nvPr>
            <p:ph type="sldNum" idx="12"/>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000" b="0" i="0" u="none" strike="noStrike" cap="none">
                <a:solidFill>
                  <a:srgbClr val="64748B"/>
                </a:solidFill>
                <a:latin typeface="Calibri"/>
                <a:ea typeface="Calibri"/>
                <a:cs typeface="Calibri"/>
                <a:sym typeface="Calibri"/>
              </a:defRPr>
            </a:lvl1pPr>
            <a:lvl2pPr marL="0" marR="0" lvl="1" indent="0" algn="r">
              <a:spcBef>
                <a:spcPts val="0"/>
              </a:spcBef>
              <a:buNone/>
              <a:defRPr sz="1000" b="0" i="0" u="none" strike="noStrike" cap="none">
                <a:solidFill>
                  <a:srgbClr val="64748B"/>
                </a:solidFill>
                <a:latin typeface="Calibri"/>
                <a:ea typeface="Calibri"/>
                <a:cs typeface="Calibri"/>
                <a:sym typeface="Calibri"/>
              </a:defRPr>
            </a:lvl2pPr>
            <a:lvl3pPr marL="0" marR="0" lvl="2" indent="0" algn="r">
              <a:spcBef>
                <a:spcPts val="0"/>
              </a:spcBef>
              <a:buNone/>
              <a:defRPr sz="1000" b="0" i="0" u="none" strike="noStrike" cap="none">
                <a:solidFill>
                  <a:srgbClr val="64748B"/>
                </a:solidFill>
                <a:latin typeface="Calibri"/>
                <a:ea typeface="Calibri"/>
                <a:cs typeface="Calibri"/>
                <a:sym typeface="Calibri"/>
              </a:defRPr>
            </a:lvl3pPr>
            <a:lvl4pPr marL="0" marR="0" lvl="3" indent="0" algn="r">
              <a:spcBef>
                <a:spcPts val="0"/>
              </a:spcBef>
              <a:buNone/>
              <a:defRPr sz="1000" b="0" i="0" u="none" strike="noStrike" cap="none">
                <a:solidFill>
                  <a:srgbClr val="64748B"/>
                </a:solidFill>
                <a:latin typeface="Calibri"/>
                <a:ea typeface="Calibri"/>
                <a:cs typeface="Calibri"/>
                <a:sym typeface="Calibri"/>
              </a:defRPr>
            </a:lvl4pPr>
            <a:lvl5pPr marL="0" marR="0" lvl="4" indent="0" algn="r">
              <a:spcBef>
                <a:spcPts val="0"/>
              </a:spcBef>
              <a:buNone/>
              <a:defRPr sz="1000" b="0" i="0" u="none" strike="noStrike" cap="none">
                <a:solidFill>
                  <a:srgbClr val="64748B"/>
                </a:solidFill>
                <a:latin typeface="Calibri"/>
                <a:ea typeface="Calibri"/>
                <a:cs typeface="Calibri"/>
                <a:sym typeface="Calibri"/>
              </a:defRPr>
            </a:lvl5pPr>
            <a:lvl6pPr marL="0" marR="0" lvl="5" indent="0" algn="r">
              <a:spcBef>
                <a:spcPts val="0"/>
              </a:spcBef>
              <a:buNone/>
              <a:defRPr sz="1000" b="0" i="0" u="none" strike="noStrike" cap="none">
                <a:solidFill>
                  <a:srgbClr val="64748B"/>
                </a:solidFill>
                <a:latin typeface="Calibri"/>
                <a:ea typeface="Calibri"/>
                <a:cs typeface="Calibri"/>
                <a:sym typeface="Calibri"/>
              </a:defRPr>
            </a:lvl6pPr>
            <a:lvl7pPr marL="0" marR="0" lvl="6" indent="0" algn="r">
              <a:spcBef>
                <a:spcPts val="0"/>
              </a:spcBef>
              <a:buNone/>
              <a:defRPr sz="1000" b="0" i="0" u="none" strike="noStrike" cap="none">
                <a:solidFill>
                  <a:srgbClr val="64748B"/>
                </a:solidFill>
                <a:latin typeface="Calibri"/>
                <a:ea typeface="Calibri"/>
                <a:cs typeface="Calibri"/>
                <a:sym typeface="Calibri"/>
              </a:defRPr>
            </a:lvl7pPr>
            <a:lvl8pPr marL="0" marR="0" lvl="7" indent="0" algn="r">
              <a:spcBef>
                <a:spcPts val="0"/>
              </a:spcBef>
              <a:buNone/>
              <a:defRPr sz="1000" b="0" i="0" u="none" strike="noStrike" cap="none">
                <a:solidFill>
                  <a:srgbClr val="64748B"/>
                </a:solidFill>
                <a:latin typeface="Calibri"/>
                <a:ea typeface="Calibri"/>
                <a:cs typeface="Calibri"/>
                <a:sym typeface="Calibri"/>
              </a:defRPr>
            </a:lvl8pPr>
            <a:lvl9pPr marL="0" marR="0" lvl="8" indent="0" algn="r">
              <a:spcBef>
                <a:spcPts val="0"/>
              </a:spcBef>
              <a:buNone/>
              <a:defRPr sz="1000" b="0" i="0" u="none" strike="noStrike" cap="none">
                <a:solidFill>
                  <a:srgbClr val="6474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b="0" i="0" u="none" strike="noStrike" cap="none">
                <a:solidFill>
                  <a:srgbClr val="64748B"/>
                </a:solidFill>
                <a:latin typeface="Calibri"/>
                <a:ea typeface="Calibri"/>
                <a:cs typeface="Calibri"/>
                <a:sym typeface="Calibri"/>
              </a:defRPr>
            </a:lvl1pPr>
            <a:lvl2pPr marL="0" marR="0" lvl="1" indent="0" algn="r" rtl="0">
              <a:spcBef>
                <a:spcPts val="0"/>
              </a:spcBef>
              <a:buNone/>
              <a:defRPr sz="1000" b="0" i="0" u="none" strike="noStrike" cap="none">
                <a:solidFill>
                  <a:srgbClr val="64748B"/>
                </a:solidFill>
                <a:latin typeface="Calibri"/>
                <a:ea typeface="Calibri"/>
                <a:cs typeface="Calibri"/>
                <a:sym typeface="Calibri"/>
              </a:defRPr>
            </a:lvl2pPr>
            <a:lvl3pPr marL="0" marR="0" lvl="2" indent="0" algn="r" rtl="0">
              <a:spcBef>
                <a:spcPts val="0"/>
              </a:spcBef>
              <a:buNone/>
              <a:defRPr sz="1000" b="0" i="0" u="none" strike="noStrike" cap="none">
                <a:solidFill>
                  <a:srgbClr val="64748B"/>
                </a:solidFill>
                <a:latin typeface="Calibri"/>
                <a:ea typeface="Calibri"/>
                <a:cs typeface="Calibri"/>
                <a:sym typeface="Calibri"/>
              </a:defRPr>
            </a:lvl3pPr>
            <a:lvl4pPr marL="0" marR="0" lvl="3" indent="0" algn="r" rtl="0">
              <a:spcBef>
                <a:spcPts val="0"/>
              </a:spcBef>
              <a:buNone/>
              <a:defRPr sz="1000" b="0" i="0" u="none" strike="noStrike" cap="none">
                <a:solidFill>
                  <a:srgbClr val="64748B"/>
                </a:solidFill>
                <a:latin typeface="Calibri"/>
                <a:ea typeface="Calibri"/>
                <a:cs typeface="Calibri"/>
                <a:sym typeface="Calibri"/>
              </a:defRPr>
            </a:lvl4pPr>
            <a:lvl5pPr marL="0" marR="0" lvl="4" indent="0" algn="r" rtl="0">
              <a:spcBef>
                <a:spcPts val="0"/>
              </a:spcBef>
              <a:buNone/>
              <a:defRPr sz="1000" b="0" i="0" u="none" strike="noStrike" cap="none">
                <a:solidFill>
                  <a:srgbClr val="64748B"/>
                </a:solidFill>
                <a:latin typeface="Calibri"/>
                <a:ea typeface="Calibri"/>
                <a:cs typeface="Calibri"/>
                <a:sym typeface="Calibri"/>
              </a:defRPr>
            </a:lvl5pPr>
            <a:lvl6pPr marL="0" marR="0" lvl="5" indent="0" algn="r" rtl="0">
              <a:spcBef>
                <a:spcPts val="0"/>
              </a:spcBef>
              <a:buNone/>
              <a:defRPr sz="1000" b="0" i="0" u="none" strike="noStrike" cap="none">
                <a:solidFill>
                  <a:srgbClr val="64748B"/>
                </a:solidFill>
                <a:latin typeface="Calibri"/>
                <a:ea typeface="Calibri"/>
                <a:cs typeface="Calibri"/>
                <a:sym typeface="Calibri"/>
              </a:defRPr>
            </a:lvl6pPr>
            <a:lvl7pPr marL="0" marR="0" lvl="6" indent="0" algn="r" rtl="0">
              <a:spcBef>
                <a:spcPts val="0"/>
              </a:spcBef>
              <a:buNone/>
              <a:defRPr sz="1000" b="0" i="0" u="none" strike="noStrike" cap="none">
                <a:solidFill>
                  <a:srgbClr val="64748B"/>
                </a:solidFill>
                <a:latin typeface="Calibri"/>
                <a:ea typeface="Calibri"/>
                <a:cs typeface="Calibri"/>
                <a:sym typeface="Calibri"/>
              </a:defRPr>
            </a:lvl7pPr>
            <a:lvl8pPr marL="0" marR="0" lvl="7" indent="0" algn="r" rtl="0">
              <a:spcBef>
                <a:spcPts val="0"/>
              </a:spcBef>
              <a:buNone/>
              <a:defRPr sz="1000" b="0" i="0" u="none" strike="noStrike" cap="none">
                <a:solidFill>
                  <a:srgbClr val="64748B"/>
                </a:solidFill>
                <a:latin typeface="Calibri"/>
                <a:ea typeface="Calibri"/>
                <a:cs typeface="Calibri"/>
                <a:sym typeface="Calibri"/>
              </a:defRPr>
            </a:lvl8pPr>
            <a:lvl9pPr marL="0" marR="0" lvl="8" indent="0" algn="r" rtl="0">
              <a:spcBef>
                <a:spcPts val="0"/>
              </a:spcBef>
              <a:buNone/>
              <a:defRPr sz="1000" b="0" i="0" u="none" strike="noStrike" cap="none">
                <a:solidFill>
                  <a:srgbClr val="6474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77.jpg"/><Relationship Id="rId5" Type="http://schemas.openxmlformats.org/officeDocument/2006/relationships/image" Target="../media/image76.jpg"/><Relationship Id="rId4" Type="http://schemas.openxmlformats.org/officeDocument/2006/relationships/image" Target="../media/image7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Google Shape;23;p5"/>
          <p:cNvSpPr txBox="1"/>
          <p:nvPr/>
        </p:nvSpPr>
        <p:spPr>
          <a:xfrm>
            <a:off x="1531337" y="584522"/>
            <a:ext cx="8927038" cy="1737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0000"/>
              </a:buClr>
              <a:buSzPts val="4000"/>
              <a:buFont typeface="Calibri"/>
              <a:buNone/>
            </a:pPr>
            <a:r>
              <a:rPr lang="en-US" sz="4000" b="1" i="0" u="none" strike="noStrike" cap="none" dirty="0">
                <a:solidFill>
                  <a:srgbClr val="C00000"/>
                </a:solidFill>
                <a:latin typeface="Calibri"/>
                <a:ea typeface="Calibri"/>
                <a:cs typeface="Calibri"/>
                <a:sym typeface="Calibri"/>
              </a:rPr>
              <a:t>Transformer Architecture, Attention and Decoding</a:t>
            </a:r>
            <a:endParaRPr sz="4000" b="0" i="0" u="none" strike="noStrike" cap="none" dirty="0">
              <a:solidFill>
                <a:schemeClr val="dk1"/>
              </a:solidFill>
              <a:latin typeface="Calibri"/>
              <a:ea typeface="Calibri"/>
              <a:cs typeface="Calibri"/>
              <a:sym typeface="Calibri"/>
            </a:endParaRPr>
          </a:p>
        </p:txBody>
      </p:sp>
      <p:sp>
        <p:nvSpPr>
          <p:cNvPr id="24" name="Google Shape;24;p5"/>
          <p:cNvSpPr txBox="1"/>
          <p:nvPr/>
        </p:nvSpPr>
        <p:spPr>
          <a:xfrm>
            <a:off x="548656" y="2377450"/>
            <a:ext cx="10892400" cy="1600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3864"/>
              </a:buClr>
              <a:buSzPts val="2400"/>
              <a:buFont typeface="Calibri"/>
              <a:buNone/>
            </a:pPr>
            <a:r>
              <a:rPr lang="en-US" sz="2400" b="1" i="0" u="none" strike="noStrike" cap="none">
                <a:solidFill>
                  <a:srgbClr val="1F3864"/>
                </a:solidFill>
                <a:latin typeface="Calibri"/>
                <a:ea typeface="Calibri"/>
                <a:cs typeface="Calibri"/>
                <a:sym typeface="Calibri"/>
              </a:rPr>
              <a:t>Dr. Sabyasachi Mukhopadhyay</a:t>
            </a:r>
            <a:endParaRPr sz="1400" b="0" i="0" u="none" strike="noStrike" cap="none">
              <a:solidFill>
                <a:schemeClr val="dk1"/>
              </a:solidFill>
              <a:latin typeface="Calibri"/>
              <a:ea typeface="Calibri"/>
              <a:cs typeface="Calibri"/>
              <a:sym typeface="Calibri"/>
            </a:endParaRPr>
          </a:p>
          <a:p>
            <a:pPr marL="0" marR="0" lvl="0" indent="0" algn="ctr" rtl="0">
              <a:spcBef>
                <a:spcPts val="400"/>
              </a:spcBef>
              <a:spcAft>
                <a:spcPts val="0"/>
              </a:spcAft>
              <a:buClr>
                <a:srgbClr val="1F3864"/>
              </a:buClr>
              <a:buSzPts val="2400"/>
              <a:buFont typeface="Calibri"/>
              <a:buNone/>
            </a:pPr>
            <a:r>
              <a:rPr lang="en-US" sz="2400" b="1" i="0" u="none" strike="noStrike" cap="none">
                <a:solidFill>
                  <a:srgbClr val="1F3864"/>
                </a:solidFill>
                <a:latin typeface="Calibri"/>
                <a:ea typeface="Calibri"/>
                <a:cs typeface="Calibri"/>
                <a:sym typeface="Calibri"/>
              </a:rPr>
              <a:t>Outreach Teaching Fellow, Dept. of CSE</a:t>
            </a:r>
            <a:endParaRPr sz="1400" b="0" i="0" u="none" strike="noStrike" cap="none">
              <a:solidFill>
                <a:schemeClr val="dk1"/>
              </a:solidFill>
              <a:latin typeface="Calibri"/>
              <a:ea typeface="Calibri"/>
              <a:cs typeface="Calibri"/>
              <a:sym typeface="Calibri"/>
            </a:endParaRPr>
          </a:p>
          <a:p>
            <a:pPr marL="0" marR="0" lvl="0" indent="0" algn="ctr" rtl="0">
              <a:spcBef>
                <a:spcPts val="400"/>
              </a:spcBef>
              <a:spcAft>
                <a:spcPts val="0"/>
              </a:spcAft>
              <a:buClr>
                <a:srgbClr val="000000"/>
              </a:buClr>
              <a:buSzPts val="2400"/>
              <a:buFont typeface="Calibri"/>
              <a:buNone/>
            </a:pPr>
            <a:r>
              <a:rPr lang="en-US" sz="2400" b="1" i="0" u="none" strike="noStrike" cap="none">
                <a:solidFill>
                  <a:srgbClr val="000000"/>
                </a:solidFill>
                <a:latin typeface="Calibri"/>
                <a:ea typeface="Calibri"/>
                <a:cs typeface="Calibri"/>
                <a:sym typeface="Calibri"/>
              </a:rPr>
              <a:t>IIT Kharagpur</a:t>
            </a:r>
            <a:endParaRPr sz="1400" b="0" i="0" u="none" strike="noStrike" cap="none">
              <a:solidFill>
                <a:schemeClr val="dk1"/>
              </a:solidFill>
              <a:latin typeface="Calibri"/>
              <a:ea typeface="Calibri"/>
              <a:cs typeface="Calibri"/>
              <a:sym typeface="Calibri"/>
            </a:endParaRPr>
          </a:p>
        </p:txBody>
      </p:sp>
      <p:pic>
        <p:nvPicPr>
          <p:cNvPr id="25" name="Google Shape;25;p5" descr="/tmp/claude-0/-home-claude/2e4ed916-d3dc-5f60-b61a-7b0ef1a4d3a9/scratchpad/lec/assets/logo.png"/>
          <p:cNvPicPr preferRelativeResize="0"/>
          <p:nvPr/>
        </p:nvPicPr>
        <p:blipFill rotWithShape="1">
          <a:blip r:embed="rId3">
            <a:alphaModFix/>
          </a:blip>
          <a:srcRect/>
          <a:stretch/>
        </p:blipFill>
        <p:spPr>
          <a:xfrm>
            <a:off x="3034245" y="4033278"/>
            <a:ext cx="1207008" cy="1353312"/>
          </a:xfrm>
          <a:prstGeom prst="rect">
            <a:avLst/>
          </a:prstGeom>
          <a:noFill/>
          <a:ln>
            <a:noFill/>
          </a:ln>
        </p:spPr>
      </p:pic>
      <p:pic>
        <p:nvPicPr>
          <p:cNvPr id="26" name="Google Shape;26;p5" descr="/tmp/claude-0/-home-claude/2e4ed916-d3dc-5f60-b61a-7b0ef1a4d3a9/scratchpad/lec/assets/upgrad.png"/>
          <p:cNvPicPr preferRelativeResize="0"/>
          <p:nvPr/>
        </p:nvPicPr>
        <p:blipFill rotWithShape="1">
          <a:blip r:embed="rId4">
            <a:alphaModFix/>
          </a:blip>
          <a:srcRect/>
          <a:stretch/>
        </p:blipFill>
        <p:spPr>
          <a:xfrm>
            <a:off x="7047575" y="4170550"/>
            <a:ext cx="1609125" cy="1167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Before We Begin: You Used Transformers Today</a:t>
            </a:r>
            <a:endParaRPr sz="3000"/>
          </a:p>
        </p:txBody>
      </p:sp>
      <p:sp>
        <p:nvSpPr>
          <p:cNvPr id="33" name="Google Shape;33;p6"/>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Transformers are not lab curiosities. They are already in your pocket.</a:t>
            </a:r>
            <a:endParaRPr sz="1500"/>
          </a:p>
        </p:txBody>
      </p:sp>
      <p:sp>
        <p:nvSpPr>
          <p:cNvPr id="34" name="Google Shape;34;p6"/>
          <p:cNvSpPr/>
          <p:nvPr/>
        </p:nvSpPr>
        <p:spPr>
          <a:xfrm>
            <a:off x="457200" y="1463040"/>
            <a:ext cx="2679192" cy="3200400"/>
          </a:xfrm>
          <a:prstGeom prst="roundRect">
            <a:avLst>
              <a:gd name="adj" fmla="val 34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640080" y="1645920"/>
            <a:ext cx="457200" cy="457200"/>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p:nvPr/>
        </p:nvSpPr>
        <p:spPr>
          <a:xfrm>
            <a:off x="640080" y="16459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7" name="Google Shape;37;p6"/>
          <p:cNvSpPr txBox="1"/>
          <p:nvPr/>
        </p:nvSpPr>
        <p:spPr>
          <a:xfrm>
            <a:off x="621792" y="2212848"/>
            <a:ext cx="2350008"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Google Search</a:t>
            </a:r>
            <a:endParaRPr sz="1600" b="0" i="0" u="none" strike="noStrike" cap="none">
              <a:solidFill>
                <a:schemeClr val="dk1"/>
              </a:solidFill>
              <a:latin typeface="Calibri"/>
              <a:ea typeface="Calibri"/>
              <a:cs typeface="Calibri"/>
              <a:sym typeface="Calibri"/>
            </a:endParaRPr>
          </a:p>
        </p:txBody>
      </p:sp>
      <p:sp>
        <p:nvSpPr>
          <p:cNvPr id="38" name="Google Shape;38;p6"/>
          <p:cNvSpPr txBox="1"/>
          <p:nvPr/>
        </p:nvSpPr>
        <p:spPr>
          <a:xfrm>
            <a:off x="621792" y="2633472"/>
            <a:ext cx="2350008" cy="12344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Type a vague question and still get the right page. The engine has to understand what you mean, not just match words.</a:t>
            </a:r>
            <a:endParaRPr sz="1400" b="0" i="0" u="none" strike="noStrike" cap="none">
              <a:solidFill>
                <a:schemeClr val="dk1"/>
              </a:solidFill>
              <a:latin typeface="Calibri"/>
              <a:ea typeface="Calibri"/>
              <a:cs typeface="Calibri"/>
              <a:sym typeface="Calibri"/>
            </a:endParaRPr>
          </a:p>
        </p:txBody>
      </p:sp>
      <p:sp>
        <p:nvSpPr>
          <p:cNvPr id="39" name="Google Shape;39;p6"/>
          <p:cNvSpPr/>
          <p:nvPr/>
        </p:nvSpPr>
        <p:spPr>
          <a:xfrm>
            <a:off x="621792" y="3950208"/>
            <a:ext cx="2350008" cy="530352"/>
          </a:xfrm>
          <a:prstGeom prst="roundRect">
            <a:avLst>
              <a:gd name="adj" fmla="val 13793"/>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6"/>
          <p:cNvSpPr txBox="1"/>
          <p:nvPr/>
        </p:nvSpPr>
        <p:spPr>
          <a:xfrm>
            <a:off x="658368" y="3950208"/>
            <a:ext cx="2276856" cy="530352"/>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D4ED8"/>
              </a:buClr>
              <a:buSzPts val="1200"/>
              <a:buFont typeface="Calibri"/>
              <a:buNone/>
            </a:pPr>
            <a:r>
              <a:rPr lang="en-US" sz="1200" b="1" i="0" u="none" strike="noStrike" cap="none">
                <a:solidFill>
                  <a:srgbClr val="1D4ED8"/>
                </a:solidFill>
                <a:latin typeface="Calibri"/>
                <a:ea typeface="Calibri"/>
                <a:cs typeface="Calibri"/>
                <a:sym typeface="Calibri"/>
              </a:rPr>
              <a:t>Inside: </a:t>
            </a:r>
            <a:r>
              <a:rPr lang="en-US" sz="1200" b="0" i="0" u="none" strike="noStrike" cap="none">
                <a:solidFill>
                  <a:srgbClr val="1D4ED8"/>
                </a:solidFill>
                <a:latin typeface="Calibri"/>
                <a:ea typeface="Calibri"/>
                <a:cs typeface="Calibri"/>
                <a:sym typeface="Calibri"/>
              </a:rPr>
              <a:t>BERT (encoder-only), since 2019</a:t>
            </a:r>
            <a:endParaRPr sz="1200" b="0" i="0" u="none" strike="noStrike" cap="none">
              <a:solidFill>
                <a:schemeClr val="dk1"/>
              </a:solidFill>
              <a:latin typeface="Calibri"/>
              <a:ea typeface="Calibri"/>
              <a:cs typeface="Calibri"/>
              <a:sym typeface="Calibri"/>
            </a:endParaRPr>
          </a:p>
        </p:txBody>
      </p:sp>
      <p:sp>
        <p:nvSpPr>
          <p:cNvPr id="41" name="Google Shape;41;p6"/>
          <p:cNvSpPr/>
          <p:nvPr/>
        </p:nvSpPr>
        <p:spPr>
          <a:xfrm>
            <a:off x="3319272" y="1463040"/>
            <a:ext cx="2679192" cy="3200400"/>
          </a:xfrm>
          <a:prstGeom prst="roundRect">
            <a:avLst>
              <a:gd name="adj" fmla="val 34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p:nvPr/>
        </p:nvSpPr>
        <p:spPr>
          <a:xfrm>
            <a:off x="3502152" y="1645920"/>
            <a:ext cx="457200" cy="457200"/>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txBox="1"/>
          <p:nvPr/>
        </p:nvSpPr>
        <p:spPr>
          <a:xfrm>
            <a:off x="3502152" y="16459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44" name="Google Shape;44;p6"/>
          <p:cNvSpPr txBox="1"/>
          <p:nvPr/>
        </p:nvSpPr>
        <p:spPr>
          <a:xfrm>
            <a:off x="3483864" y="2212848"/>
            <a:ext cx="2350008"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Google Translate</a:t>
            </a:r>
            <a:endParaRPr sz="1600" b="0" i="0" u="none" strike="noStrike" cap="none">
              <a:solidFill>
                <a:schemeClr val="dk1"/>
              </a:solidFill>
              <a:latin typeface="Calibri"/>
              <a:ea typeface="Calibri"/>
              <a:cs typeface="Calibri"/>
              <a:sym typeface="Calibri"/>
            </a:endParaRPr>
          </a:p>
        </p:txBody>
      </p:sp>
      <p:sp>
        <p:nvSpPr>
          <p:cNvPr id="45" name="Google Shape;45;p6"/>
          <p:cNvSpPr txBox="1"/>
          <p:nvPr/>
        </p:nvSpPr>
        <p:spPr>
          <a:xfrm>
            <a:off x="3483864" y="2633472"/>
            <a:ext cx="2350008" cy="12344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English to Hindi with the verb moved to the end. Word order and context both matter.</a:t>
            </a:r>
            <a:endParaRPr sz="1400" b="0" i="0" u="none" strike="noStrike" cap="none">
              <a:solidFill>
                <a:schemeClr val="dk1"/>
              </a:solidFill>
              <a:latin typeface="Calibri"/>
              <a:ea typeface="Calibri"/>
              <a:cs typeface="Calibri"/>
              <a:sym typeface="Calibri"/>
            </a:endParaRPr>
          </a:p>
        </p:txBody>
      </p:sp>
      <p:sp>
        <p:nvSpPr>
          <p:cNvPr id="46" name="Google Shape;46;p6"/>
          <p:cNvSpPr/>
          <p:nvPr/>
        </p:nvSpPr>
        <p:spPr>
          <a:xfrm>
            <a:off x="3483864" y="3950208"/>
            <a:ext cx="2350008" cy="530352"/>
          </a:xfrm>
          <a:prstGeom prst="roundRect">
            <a:avLst>
              <a:gd name="adj" fmla="val 13793"/>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txBox="1"/>
          <p:nvPr/>
        </p:nvSpPr>
        <p:spPr>
          <a:xfrm>
            <a:off x="3520440" y="3950208"/>
            <a:ext cx="2276856" cy="530352"/>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Inside: </a:t>
            </a:r>
            <a:r>
              <a:rPr lang="en-US" sz="1200" b="0" i="0" u="none" strike="noStrike" cap="none">
                <a:solidFill>
                  <a:srgbClr val="0F766E"/>
                </a:solidFill>
                <a:latin typeface="Calibri"/>
                <a:ea typeface="Calibri"/>
                <a:cs typeface="Calibri"/>
                <a:sym typeface="Calibri"/>
              </a:rPr>
              <a:t>encoder-decoder Transformer</a:t>
            </a:r>
            <a:endParaRPr sz="1200" b="0" i="0" u="none" strike="noStrike" cap="none">
              <a:solidFill>
                <a:schemeClr val="dk1"/>
              </a:solidFill>
              <a:latin typeface="Calibri"/>
              <a:ea typeface="Calibri"/>
              <a:cs typeface="Calibri"/>
              <a:sym typeface="Calibri"/>
            </a:endParaRPr>
          </a:p>
        </p:txBody>
      </p:sp>
      <p:sp>
        <p:nvSpPr>
          <p:cNvPr id="48" name="Google Shape;48;p6"/>
          <p:cNvSpPr/>
          <p:nvPr/>
        </p:nvSpPr>
        <p:spPr>
          <a:xfrm>
            <a:off x="6181344" y="1463040"/>
            <a:ext cx="2679192" cy="3200400"/>
          </a:xfrm>
          <a:prstGeom prst="roundRect">
            <a:avLst>
              <a:gd name="adj" fmla="val 34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a:off x="6364224" y="1645920"/>
            <a:ext cx="457200" cy="457200"/>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txBox="1"/>
          <p:nvPr/>
        </p:nvSpPr>
        <p:spPr>
          <a:xfrm>
            <a:off x="6364224" y="16459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51" name="Google Shape;51;p6"/>
          <p:cNvSpPr txBox="1"/>
          <p:nvPr/>
        </p:nvSpPr>
        <p:spPr>
          <a:xfrm>
            <a:off x="6345936" y="2212848"/>
            <a:ext cx="2350008"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Auto-captions</a:t>
            </a:r>
            <a:endParaRPr sz="1600" b="0" i="0" u="none" strike="noStrike" cap="none">
              <a:solidFill>
                <a:schemeClr val="dk1"/>
              </a:solidFill>
              <a:latin typeface="Calibri"/>
              <a:ea typeface="Calibri"/>
              <a:cs typeface="Calibri"/>
              <a:sym typeface="Calibri"/>
            </a:endParaRPr>
          </a:p>
        </p:txBody>
      </p:sp>
      <p:sp>
        <p:nvSpPr>
          <p:cNvPr id="52" name="Google Shape;52;p6"/>
          <p:cNvSpPr txBox="1"/>
          <p:nvPr/>
        </p:nvSpPr>
        <p:spPr>
          <a:xfrm>
            <a:off x="6345936" y="2633472"/>
            <a:ext cx="2350008" cy="12344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YouTube and meeting apps subtitle speech live. Audio is just another sequence of tokens.</a:t>
            </a:r>
            <a:endParaRPr sz="1400" b="0" i="0" u="none" strike="noStrike" cap="none">
              <a:solidFill>
                <a:schemeClr val="dk1"/>
              </a:solidFill>
              <a:latin typeface="Calibri"/>
              <a:ea typeface="Calibri"/>
              <a:cs typeface="Calibri"/>
              <a:sym typeface="Calibri"/>
            </a:endParaRPr>
          </a:p>
        </p:txBody>
      </p:sp>
      <p:sp>
        <p:nvSpPr>
          <p:cNvPr id="53" name="Google Shape;53;p6"/>
          <p:cNvSpPr/>
          <p:nvPr/>
        </p:nvSpPr>
        <p:spPr>
          <a:xfrm>
            <a:off x="6345936" y="3950208"/>
            <a:ext cx="2350008" cy="530352"/>
          </a:xfrm>
          <a:prstGeom prst="roundRect">
            <a:avLst>
              <a:gd name="adj" fmla="val 13793"/>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txBox="1"/>
          <p:nvPr/>
        </p:nvSpPr>
        <p:spPr>
          <a:xfrm>
            <a:off x="6382512" y="3950208"/>
            <a:ext cx="2276856" cy="530352"/>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6D28D9"/>
              </a:buClr>
              <a:buSzPts val="1200"/>
              <a:buFont typeface="Calibri"/>
              <a:buNone/>
            </a:pPr>
            <a:r>
              <a:rPr lang="en-US" sz="1200" b="1" i="0" u="none" strike="noStrike" cap="none">
                <a:solidFill>
                  <a:srgbClr val="6D28D9"/>
                </a:solidFill>
                <a:latin typeface="Calibri"/>
                <a:ea typeface="Calibri"/>
                <a:cs typeface="Calibri"/>
                <a:sym typeface="Calibri"/>
              </a:rPr>
              <a:t>Inside: </a:t>
            </a:r>
            <a:r>
              <a:rPr lang="en-US" sz="1200" b="0" i="0" u="none" strike="noStrike" cap="none">
                <a:solidFill>
                  <a:srgbClr val="6D28D9"/>
                </a:solidFill>
                <a:latin typeface="Calibri"/>
                <a:ea typeface="Calibri"/>
                <a:cs typeface="Calibri"/>
                <a:sym typeface="Calibri"/>
              </a:rPr>
              <a:t>Whisper-style encoder-decoder</a:t>
            </a:r>
            <a:endParaRPr sz="1200" b="0" i="0" u="none" strike="noStrike" cap="none">
              <a:solidFill>
                <a:schemeClr val="dk1"/>
              </a:solidFill>
              <a:latin typeface="Calibri"/>
              <a:ea typeface="Calibri"/>
              <a:cs typeface="Calibri"/>
              <a:sym typeface="Calibri"/>
            </a:endParaRPr>
          </a:p>
        </p:txBody>
      </p:sp>
      <p:sp>
        <p:nvSpPr>
          <p:cNvPr id="55" name="Google Shape;55;p6"/>
          <p:cNvSpPr/>
          <p:nvPr/>
        </p:nvSpPr>
        <p:spPr>
          <a:xfrm>
            <a:off x="9043416" y="1463040"/>
            <a:ext cx="2679192" cy="3200400"/>
          </a:xfrm>
          <a:prstGeom prst="roundRect">
            <a:avLst>
              <a:gd name="adj" fmla="val 34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6"/>
          <p:cNvSpPr/>
          <p:nvPr/>
        </p:nvSpPr>
        <p:spPr>
          <a:xfrm>
            <a:off x="9226296" y="1645920"/>
            <a:ext cx="457200" cy="457200"/>
          </a:xfrm>
          <a:prstGeom prst="ellipse">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6"/>
          <p:cNvSpPr txBox="1"/>
          <p:nvPr/>
        </p:nvSpPr>
        <p:spPr>
          <a:xfrm>
            <a:off x="9226296" y="16459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58" name="Google Shape;58;p6"/>
          <p:cNvSpPr txBox="1"/>
          <p:nvPr/>
        </p:nvSpPr>
        <p:spPr>
          <a:xfrm>
            <a:off x="9208008" y="2212848"/>
            <a:ext cx="2350008"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ChatGPT / Gemini / Claude</a:t>
            </a:r>
            <a:endParaRPr sz="1600" b="0" i="0" u="none" strike="noStrike" cap="none">
              <a:solidFill>
                <a:schemeClr val="dk1"/>
              </a:solidFill>
              <a:latin typeface="Calibri"/>
              <a:ea typeface="Calibri"/>
              <a:cs typeface="Calibri"/>
              <a:sym typeface="Calibri"/>
            </a:endParaRPr>
          </a:p>
        </p:txBody>
      </p:sp>
      <p:sp>
        <p:nvSpPr>
          <p:cNvPr id="59" name="Google Shape;59;p6"/>
          <p:cNvSpPr txBox="1"/>
          <p:nvPr/>
        </p:nvSpPr>
        <p:spPr>
          <a:xfrm>
            <a:off x="9208008" y="2633472"/>
            <a:ext cx="2350008" cy="12344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Drafts your email, explains your code, and occasionally your excuse for a late assignment.</a:t>
            </a:r>
            <a:endParaRPr sz="1400" b="0" i="0" u="none" strike="noStrike" cap="none">
              <a:solidFill>
                <a:schemeClr val="dk1"/>
              </a:solidFill>
              <a:latin typeface="Calibri"/>
              <a:ea typeface="Calibri"/>
              <a:cs typeface="Calibri"/>
              <a:sym typeface="Calibri"/>
            </a:endParaRPr>
          </a:p>
        </p:txBody>
      </p:sp>
      <p:sp>
        <p:nvSpPr>
          <p:cNvPr id="60" name="Google Shape;60;p6"/>
          <p:cNvSpPr/>
          <p:nvPr/>
        </p:nvSpPr>
        <p:spPr>
          <a:xfrm>
            <a:off x="9208008" y="3950208"/>
            <a:ext cx="2350008" cy="530352"/>
          </a:xfrm>
          <a:prstGeom prst="roundRect">
            <a:avLst>
              <a:gd name="adj" fmla="val 13793"/>
            </a:avLst>
          </a:prstGeom>
          <a:solidFill>
            <a:srgbClr val="FDF0E6"/>
          </a:solidFill>
          <a:ln w="12700" cap="flat" cmpd="sng">
            <a:solidFill>
              <a:srgbClr val="FDF0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txBox="1"/>
          <p:nvPr/>
        </p:nvSpPr>
        <p:spPr>
          <a:xfrm>
            <a:off x="9244584" y="3950208"/>
            <a:ext cx="2276856" cy="530352"/>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C2410C"/>
              </a:buClr>
              <a:buSzPts val="1200"/>
              <a:buFont typeface="Calibri"/>
              <a:buNone/>
            </a:pPr>
            <a:r>
              <a:rPr lang="en-US" sz="1200" b="1" i="0" u="none" strike="noStrike" cap="none">
                <a:solidFill>
                  <a:srgbClr val="C2410C"/>
                </a:solidFill>
                <a:latin typeface="Calibri"/>
                <a:ea typeface="Calibri"/>
                <a:cs typeface="Calibri"/>
                <a:sym typeface="Calibri"/>
              </a:rPr>
              <a:t>Inside: </a:t>
            </a:r>
            <a:r>
              <a:rPr lang="en-US" sz="1200" b="0" i="0" u="none" strike="noStrike" cap="none">
                <a:solidFill>
                  <a:srgbClr val="C2410C"/>
                </a:solidFill>
                <a:latin typeface="Calibri"/>
                <a:ea typeface="Calibri"/>
                <a:cs typeface="Calibri"/>
                <a:sym typeface="Calibri"/>
              </a:rPr>
              <a:t>decoder-only Transformer</a:t>
            </a:r>
            <a:endParaRPr sz="1200" b="0" i="0" u="none" strike="noStrike" cap="none">
              <a:solidFill>
                <a:schemeClr val="dk1"/>
              </a:solidFill>
              <a:latin typeface="Calibri"/>
              <a:ea typeface="Calibri"/>
              <a:cs typeface="Calibri"/>
              <a:sym typeface="Calibri"/>
            </a:endParaRPr>
          </a:p>
        </p:txBody>
      </p:sp>
      <p:sp>
        <p:nvSpPr>
          <p:cNvPr id="62" name="Google Shape;62;p6"/>
          <p:cNvSpPr txBox="1"/>
          <p:nvPr/>
        </p:nvSpPr>
        <p:spPr>
          <a:xfrm>
            <a:off x="457200" y="4956048"/>
            <a:ext cx="1554480" cy="38404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Today's journey</a:t>
            </a:r>
            <a:endParaRPr sz="1500" b="0" i="0" u="none" strike="noStrike" cap="none">
              <a:solidFill>
                <a:schemeClr val="dk1"/>
              </a:solidFill>
              <a:latin typeface="Calibri"/>
              <a:ea typeface="Calibri"/>
              <a:cs typeface="Calibri"/>
              <a:sym typeface="Calibri"/>
            </a:endParaRPr>
          </a:p>
        </p:txBody>
      </p:sp>
      <p:sp>
        <p:nvSpPr>
          <p:cNvPr id="63" name="Google Shape;63;p6"/>
          <p:cNvSpPr/>
          <p:nvPr/>
        </p:nvSpPr>
        <p:spPr>
          <a:xfrm>
            <a:off x="2057400" y="4956048"/>
            <a:ext cx="1097280" cy="384048"/>
          </a:xfrm>
          <a:prstGeom prst="roundRect">
            <a:avLst>
              <a:gd name="adj" fmla="val 19048"/>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txBox="1"/>
          <p:nvPr/>
        </p:nvSpPr>
        <p:spPr>
          <a:xfrm>
            <a:off x="2057400" y="4956048"/>
            <a:ext cx="109728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300"/>
              <a:buFont typeface="Calibri"/>
              <a:buNone/>
            </a:pPr>
            <a:r>
              <a:rPr lang="en-US" sz="1300" b="1" i="0" u="none" strike="noStrike" cap="none">
                <a:solidFill>
                  <a:srgbClr val="1D4ED8"/>
                </a:solidFill>
                <a:latin typeface="Calibri"/>
                <a:ea typeface="Calibri"/>
                <a:cs typeface="Calibri"/>
                <a:sym typeface="Calibri"/>
              </a:rPr>
              <a:t>Self-attention</a:t>
            </a:r>
            <a:endParaRPr sz="1300" b="0" i="0" u="none" strike="noStrike" cap="none">
              <a:solidFill>
                <a:schemeClr val="dk1"/>
              </a:solidFill>
              <a:latin typeface="Calibri"/>
              <a:ea typeface="Calibri"/>
              <a:cs typeface="Calibri"/>
              <a:sym typeface="Calibri"/>
            </a:endParaRPr>
          </a:p>
        </p:txBody>
      </p:sp>
      <p:sp>
        <p:nvSpPr>
          <p:cNvPr id="65" name="Google Shape;65;p6"/>
          <p:cNvSpPr txBox="1"/>
          <p:nvPr/>
        </p:nvSpPr>
        <p:spPr>
          <a:xfrm>
            <a:off x="3154680" y="4956048"/>
            <a:ext cx="20116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400"/>
              <a:buFont typeface="Calibri"/>
              <a:buNone/>
            </a:pPr>
            <a:r>
              <a:rPr lang="en-US" sz="1400" b="0" i="0" u="none" strike="noStrike" cap="none">
                <a:solidFill>
                  <a:srgbClr val="64748B"/>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66" name="Google Shape;66;p6"/>
          <p:cNvSpPr/>
          <p:nvPr/>
        </p:nvSpPr>
        <p:spPr>
          <a:xfrm>
            <a:off x="3355848" y="4956048"/>
            <a:ext cx="1097280" cy="384048"/>
          </a:xfrm>
          <a:prstGeom prst="roundRect">
            <a:avLst>
              <a:gd name="adj" fmla="val 19048"/>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txBox="1"/>
          <p:nvPr/>
        </p:nvSpPr>
        <p:spPr>
          <a:xfrm>
            <a:off x="3355848" y="4956048"/>
            <a:ext cx="109728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F766E"/>
              </a:buClr>
              <a:buSzPts val="1300"/>
              <a:buFont typeface="Calibri"/>
              <a:buNone/>
            </a:pPr>
            <a:r>
              <a:rPr lang="en-US" sz="1300" b="1" i="0" u="none" strike="noStrike" cap="none">
                <a:solidFill>
                  <a:srgbClr val="0F766E"/>
                </a:solidFill>
                <a:latin typeface="Calibri"/>
                <a:ea typeface="Calibri"/>
                <a:cs typeface="Calibri"/>
                <a:sym typeface="Calibri"/>
              </a:rPr>
              <a:t>Deep stacks</a:t>
            </a:r>
            <a:endParaRPr sz="1300" b="0" i="0" u="none" strike="noStrike" cap="none">
              <a:solidFill>
                <a:schemeClr val="dk1"/>
              </a:solidFill>
              <a:latin typeface="Calibri"/>
              <a:ea typeface="Calibri"/>
              <a:cs typeface="Calibri"/>
              <a:sym typeface="Calibri"/>
            </a:endParaRPr>
          </a:p>
        </p:txBody>
      </p:sp>
      <p:sp>
        <p:nvSpPr>
          <p:cNvPr id="68" name="Google Shape;68;p6"/>
          <p:cNvSpPr txBox="1"/>
          <p:nvPr/>
        </p:nvSpPr>
        <p:spPr>
          <a:xfrm>
            <a:off x="4453128" y="4956048"/>
            <a:ext cx="20116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400"/>
              <a:buFont typeface="Calibri"/>
              <a:buNone/>
            </a:pPr>
            <a:r>
              <a:rPr lang="en-US" sz="1400" b="0" i="0" u="none" strike="noStrike" cap="none">
                <a:solidFill>
                  <a:srgbClr val="64748B"/>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69" name="Google Shape;69;p6"/>
          <p:cNvSpPr/>
          <p:nvPr/>
        </p:nvSpPr>
        <p:spPr>
          <a:xfrm>
            <a:off x="4654296" y="4956048"/>
            <a:ext cx="1097280" cy="384048"/>
          </a:xfrm>
          <a:prstGeom prst="roundRect">
            <a:avLst>
              <a:gd name="adj" fmla="val 19048"/>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txBox="1"/>
          <p:nvPr/>
        </p:nvSpPr>
        <p:spPr>
          <a:xfrm>
            <a:off x="4654296" y="4956048"/>
            <a:ext cx="109728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300"/>
              <a:buFont typeface="Calibri"/>
              <a:buNone/>
            </a:pPr>
            <a:r>
              <a:rPr lang="en-US" sz="1300" b="1" i="0" u="none" strike="noStrike" cap="none">
                <a:solidFill>
                  <a:srgbClr val="6D28D9"/>
                </a:solidFill>
                <a:latin typeface="Calibri"/>
                <a:ea typeface="Calibri"/>
                <a:cs typeface="Calibri"/>
                <a:sym typeface="Calibri"/>
              </a:rPr>
              <a:t>Position</a:t>
            </a:r>
            <a:endParaRPr sz="1300" b="0" i="0" u="none" strike="noStrike" cap="none">
              <a:solidFill>
                <a:schemeClr val="dk1"/>
              </a:solidFill>
              <a:latin typeface="Calibri"/>
              <a:ea typeface="Calibri"/>
              <a:cs typeface="Calibri"/>
              <a:sym typeface="Calibri"/>
            </a:endParaRPr>
          </a:p>
        </p:txBody>
      </p:sp>
      <p:sp>
        <p:nvSpPr>
          <p:cNvPr id="71" name="Google Shape;71;p6"/>
          <p:cNvSpPr txBox="1"/>
          <p:nvPr/>
        </p:nvSpPr>
        <p:spPr>
          <a:xfrm>
            <a:off x="5751576" y="4956048"/>
            <a:ext cx="20116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400"/>
              <a:buFont typeface="Calibri"/>
              <a:buNone/>
            </a:pPr>
            <a:r>
              <a:rPr lang="en-US" sz="1400" b="0" i="0" u="none" strike="noStrike" cap="none">
                <a:solidFill>
                  <a:srgbClr val="64748B"/>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72" name="Google Shape;72;p6"/>
          <p:cNvSpPr/>
          <p:nvPr/>
        </p:nvSpPr>
        <p:spPr>
          <a:xfrm>
            <a:off x="5952744" y="4956048"/>
            <a:ext cx="1097280" cy="384048"/>
          </a:xfrm>
          <a:prstGeom prst="roundRect">
            <a:avLst>
              <a:gd name="adj" fmla="val 19048"/>
            </a:avLst>
          </a:prstGeom>
          <a:solidFill>
            <a:srgbClr val="FDF0E6"/>
          </a:solidFill>
          <a:ln w="12700" cap="flat" cmpd="sng">
            <a:solidFill>
              <a:srgbClr val="FDF0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txBox="1"/>
          <p:nvPr/>
        </p:nvSpPr>
        <p:spPr>
          <a:xfrm>
            <a:off x="5952744" y="4956048"/>
            <a:ext cx="109728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2410C"/>
              </a:buClr>
              <a:buSzPts val="1300"/>
              <a:buFont typeface="Calibri"/>
              <a:buNone/>
            </a:pPr>
            <a:r>
              <a:rPr lang="en-US" sz="1300" b="1" i="0" u="none" strike="noStrike" cap="none">
                <a:solidFill>
                  <a:srgbClr val="C2410C"/>
                </a:solidFill>
                <a:latin typeface="Calibri"/>
                <a:ea typeface="Calibri"/>
                <a:cs typeface="Calibri"/>
                <a:sym typeface="Calibri"/>
              </a:rPr>
              <a:t>Multi-head</a:t>
            </a:r>
            <a:endParaRPr sz="1300" b="0" i="0" u="none" strike="noStrike" cap="none">
              <a:solidFill>
                <a:schemeClr val="dk1"/>
              </a:solidFill>
              <a:latin typeface="Calibri"/>
              <a:ea typeface="Calibri"/>
              <a:cs typeface="Calibri"/>
              <a:sym typeface="Calibri"/>
            </a:endParaRPr>
          </a:p>
        </p:txBody>
      </p:sp>
      <p:sp>
        <p:nvSpPr>
          <p:cNvPr id="74" name="Google Shape;74;p6"/>
          <p:cNvSpPr txBox="1"/>
          <p:nvPr/>
        </p:nvSpPr>
        <p:spPr>
          <a:xfrm>
            <a:off x="7050024" y="4956048"/>
            <a:ext cx="20116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400"/>
              <a:buFont typeface="Calibri"/>
              <a:buNone/>
            </a:pPr>
            <a:r>
              <a:rPr lang="en-US" sz="1400" b="0" i="0" u="none" strike="noStrike" cap="none">
                <a:solidFill>
                  <a:srgbClr val="64748B"/>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75" name="Google Shape;75;p6"/>
          <p:cNvSpPr/>
          <p:nvPr/>
        </p:nvSpPr>
        <p:spPr>
          <a:xfrm>
            <a:off x="7251192" y="4956048"/>
            <a:ext cx="1097280" cy="384048"/>
          </a:xfrm>
          <a:prstGeom prst="roundRect">
            <a:avLst>
              <a:gd name="adj" fmla="val 19048"/>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txBox="1"/>
          <p:nvPr/>
        </p:nvSpPr>
        <p:spPr>
          <a:xfrm>
            <a:off x="7251192" y="4956048"/>
            <a:ext cx="109728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300"/>
              <a:buFont typeface="Calibri"/>
              <a:buNone/>
            </a:pPr>
            <a:r>
              <a:rPr lang="en-US" sz="1300" b="1" i="0" u="none" strike="noStrike" cap="none">
                <a:solidFill>
                  <a:srgbClr val="1D4ED8"/>
                </a:solidFill>
                <a:latin typeface="Calibri"/>
                <a:ea typeface="Calibri"/>
                <a:cs typeface="Calibri"/>
                <a:sym typeface="Calibri"/>
              </a:rPr>
              <a:t>Decoder</a:t>
            </a:r>
            <a:endParaRPr sz="1300" b="0" i="0" u="none" strike="noStrike" cap="none">
              <a:solidFill>
                <a:schemeClr val="dk1"/>
              </a:solidFill>
              <a:latin typeface="Calibri"/>
              <a:ea typeface="Calibri"/>
              <a:cs typeface="Calibri"/>
              <a:sym typeface="Calibri"/>
            </a:endParaRPr>
          </a:p>
        </p:txBody>
      </p:sp>
      <p:sp>
        <p:nvSpPr>
          <p:cNvPr id="77" name="Google Shape;77;p6"/>
          <p:cNvSpPr txBox="1"/>
          <p:nvPr/>
        </p:nvSpPr>
        <p:spPr>
          <a:xfrm>
            <a:off x="8348472" y="4956048"/>
            <a:ext cx="20116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400"/>
              <a:buFont typeface="Calibri"/>
              <a:buNone/>
            </a:pPr>
            <a:r>
              <a:rPr lang="en-US" sz="1400" b="0" i="0" u="none" strike="noStrike" cap="none">
                <a:solidFill>
                  <a:srgbClr val="64748B"/>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78" name="Google Shape;78;p6"/>
          <p:cNvSpPr/>
          <p:nvPr/>
        </p:nvSpPr>
        <p:spPr>
          <a:xfrm>
            <a:off x="8549640" y="4956048"/>
            <a:ext cx="1097280" cy="384048"/>
          </a:xfrm>
          <a:prstGeom prst="roundRect">
            <a:avLst>
              <a:gd name="adj" fmla="val 19048"/>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txBox="1"/>
          <p:nvPr/>
        </p:nvSpPr>
        <p:spPr>
          <a:xfrm>
            <a:off x="8549640" y="4956048"/>
            <a:ext cx="109728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F766E"/>
              </a:buClr>
              <a:buSzPts val="1300"/>
              <a:buFont typeface="Calibri"/>
              <a:buNone/>
            </a:pPr>
            <a:r>
              <a:rPr lang="en-US" sz="1300" b="1" i="0" u="none" strike="noStrike" cap="none">
                <a:solidFill>
                  <a:srgbClr val="0F766E"/>
                </a:solidFill>
                <a:latin typeface="Calibri"/>
                <a:ea typeface="Calibri"/>
                <a:cs typeface="Calibri"/>
                <a:sym typeface="Calibri"/>
              </a:rPr>
              <a:t>Generation</a:t>
            </a:r>
            <a:endParaRPr sz="1300" b="0" i="0" u="none" strike="noStrike" cap="none">
              <a:solidFill>
                <a:schemeClr val="dk1"/>
              </a:solidFill>
              <a:latin typeface="Calibri"/>
              <a:ea typeface="Calibri"/>
              <a:cs typeface="Calibri"/>
              <a:sym typeface="Calibri"/>
            </a:endParaRPr>
          </a:p>
        </p:txBody>
      </p:sp>
      <p:sp>
        <p:nvSpPr>
          <p:cNvPr id="80" name="Google Shape;80;p6"/>
          <p:cNvSpPr txBox="1"/>
          <p:nvPr/>
        </p:nvSpPr>
        <p:spPr>
          <a:xfrm>
            <a:off x="9646920" y="4956048"/>
            <a:ext cx="20116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400"/>
              <a:buFont typeface="Calibri"/>
              <a:buNone/>
            </a:pPr>
            <a:r>
              <a:rPr lang="en-US" sz="1400" b="0" i="0" u="none" strike="noStrike" cap="none">
                <a:solidFill>
                  <a:srgbClr val="64748B"/>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81" name="Google Shape;81;p6"/>
          <p:cNvSpPr/>
          <p:nvPr/>
        </p:nvSpPr>
        <p:spPr>
          <a:xfrm>
            <a:off x="9848088" y="4956048"/>
            <a:ext cx="1463040" cy="384048"/>
          </a:xfrm>
          <a:prstGeom prst="roundRect">
            <a:avLst>
              <a:gd name="adj" fmla="val 19048"/>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txBox="1"/>
          <p:nvPr/>
        </p:nvSpPr>
        <p:spPr>
          <a:xfrm>
            <a:off x="9848088" y="4956048"/>
            <a:ext cx="146304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300"/>
              <a:buFont typeface="Calibri"/>
              <a:buNone/>
            </a:pPr>
            <a:r>
              <a:rPr lang="en-US" sz="1300" b="1" i="0" u="none" strike="noStrike" cap="none">
                <a:solidFill>
                  <a:srgbClr val="6D28D9"/>
                </a:solidFill>
                <a:latin typeface="Calibri"/>
                <a:ea typeface="Calibri"/>
                <a:cs typeface="Calibri"/>
                <a:sym typeface="Calibri"/>
              </a:rPr>
              <a:t>Pretrained models</a:t>
            </a:r>
            <a:endParaRPr sz="1300" b="0" i="0" u="none" strike="noStrike" cap="none">
              <a:solidFill>
                <a:schemeClr val="dk1"/>
              </a:solidFill>
              <a:latin typeface="Calibri"/>
              <a:ea typeface="Calibri"/>
              <a:cs typeface="Calibri"/>
              <a:sym typeface="Calibri"/>
            </a:endParaRPr>
          </a:p>
        </p:txBody>
      </p:sp>
      <p:sp>
        <p:nvSpPr>
          <p:cNvPr id="83" name="Google Shape;83;p6"/>
          <p:cNvSpPr txBox="1"/>
          <p:nvPr/>
        </p:nvSpPr>
        <p:spPr>
          <a:xfrm>
            <a:off x="457200" y="5623560"/>
            <a:ext cx="11277295"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500"/>
              <a:buFont typeface="Calibri"/>
              <a:buNone/>
            </a:pPr>
            <a:r>
              <a:rPr lang="en-US" sz="1500" b="1" i="0" u="none" strike="noStrike" cap="none">
                <a:solidFill>
                  <a:srgbClr val="0F766E"/>
                </a:solidFill>
                <a:latin typeface="Calibri"/>
                <a:ea typeface="Calibri"/>
                <a:cs typeface="Calibri"/>
                <a:sym typeface="Calibri"/>
              </a:rPr>
              <a:t>Our story today: </a:t>
            </a:r>
            <a:r>
              <a:rPr lang="en-US" sz="1500" b="0" i="1" u="none" strike="noStrike" cap="none">
                <a:solidFill>
                  <a:srgbClr val="1E293B"/>
                </a:solidFill>
                <a:latin typeface="Calibri"/>
                <a:ea typeface="Calibri"/>
                <a:cs typeface="Calibri"/>
                <a:sym typeface="Calibri"/>
              </a:rPr>
              <a:t>how the attention block from last lecture grows into the full Transformer, and into the very models you just saw.</a:t>
            </a:r>
            <a:endParaRPr sz="1500" b="0" i="0" u="none" strike="noStrike" cap="none">
              <a:solidFill>
                <a:schemeClr val="dk1"/>
              </a:solidFill>
              <a:latin typeface="Calibri"/>
              <a:ea typeface="Calibri"/>
              <a:cs typeface="Calibri"/>
              <a:sym typeface="Calibri"/>
            </a:endParaRPr>
          </a:p>
        </p:txBody>
      </p:sp>
      <p:sp>
        <p:nvSpPr>
          <p:cNvPr id="84" name="Google Shape;84;p6"/>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9"/>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Attention as a Fuzzy Hashtable</a:t>
            </a:r>
            <a:endParaRPr sz="3000"/>
          </a:p>
        </p:txBody>
      </p:sp>
      <p:sp>
        <p:nvSpPr>
          <p:cNvPr id="162" name="Google Shape;162;p9"/>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Compare a query against keys, then return a weighted mix of values</a:t>
            </a:r>
            <a:endParaRPr sz="1500"/>
          </a:p>
        </p:txBody>
      </p:sp>
      <p:sp>
        <p:nvSpPr>
          <p:cNvPr id="163" name="Google Shape;163;p9"/>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1 · SELF-ATTENTION, REVISITED</a:t>
            </a:r>
            <a:endParaRPr sz="1000" b="0" i="0" u="none" strike="noStrike" cap="none">
              <a:solidFill>
                <a:schemeClr val="dk1"/>
              </a:solidFill>
              <a:latin typeface="Calibri"/>
              <a:ea typeface="Calibri"/>
              <a:cs typeface="Calibri"/>
              <a:sym typeface="Calibri"/>
            </a:endParaRPr>
          </a:p>
        </p:txBody>
      </p:sp>
      <p:sp>
        <p:nvSpPr>
          <p:cNvPr id="164" name="Google Shape;164;p9"/>
          <p:cNvSpPr/>
          <p:nvPr/>
        </p:nvSpPr>
        <p:spPr>
          <a:xfrm>
            <a:off x="457200" y="1508760"/>
            <a:ext cx="5532120" cy="3520440"/>
          </a:xfrm>
          <a:prstGeom prst="roundRect">
            <a:avLst>
              <a:gd name="adj" fmla="val 2597"/>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a:off x="621792" y="1673352"/>
            <a:ext cx="2560320" cy="310896"/>
          </a:xfrm>
          <a:prstGeom prst="roundRect">
            <a:avLst>
              <a:gd name="adj" fmla="val 23529"/>
            </a:avLst>
          </a:prstGeom>
          <a:solidFill>
            <a:srgbClr val="1E293B"/>
          </a:solidFill>
          <a:ln w="9525" cap="flat" cmpd="sng">
            <a:solidFill>
              <a:srgbClr val="1E293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txBox="1"/>
          <p:nvPr/>
        </p:nvSpPr>
        <p:spPr>
          <a:xfrm>
            <a:off x="621792" y="1673352"/>
            <a:ext cx="25603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Hashtable: exact match</a:t>
            </a:r>
            <a:endParaRPr sz="1200" b="0" i="0" u="none" strike="noStrike" cap="none">
              <a:solidFill>
                <a:schemeClr val="dk1"/>
              </a:solidFill>
              <a:latin typeface="Calibri"/>
              <a:ea typeface="Calibri"/>
              <a:cs typeface="Calibri"/>
              <a:sym typeface="Calibri"/>
            </a:endParaRPr>
          </a:p>
        </p:txBody>
      </p:sp>
      <p:sp>
        <p:nvSpPr>
          <p:cNvPr id="167" name="Google Shape;167;p9"/>
          <p:cNvSpPr txBox="1"/>
          <p:nvPr/>
        </p:nvSpPr>
        <p:spPr>
          <a:xfrm>
            <a:off x="594360" y="2075688"/>
            <a:ext cx="5257800" cy="2862072"/>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pic>
        <p:nvPicPr>
          <p:cNvPr id="168" name="Google Shape;168;p9" descr="/tmp/claude-0/-home-claude/2e4ed916-d3dc-5f60-b61a-7b0ef1a4d3a9/scratchpad/lec/assets/hash_a.png"/>
          <p:cNvPicPr preferRelativeResize="0"/>
          <p:nvPr/>
        </p:nvPicPr>
        <p:blipFill rotWithShape="1">
          <a:blip r:embed="rId3">
            <a:alphaModFix/>
          </a:blip>
          <a:srcRect/>
          <a:stretch/>
        </p:blipFill>
        <p:spPr>
          <a:xfrm>
            <a:off x="1051560" y="2148840"/>
            <a:ext cx="1920240" cy="2743200"/>
          </a:xfrm>
          <a:prstGeom prst="rect">
            <a:avLst/>
          </a:prstGeom>
          <a:noFill/>
          <a:ln>
            <a:noFill/>
          </a:ln>
        </p:spPr>
      </p:pic>
      <p:sp>
        <p:nvSpPr>
          <p:cNvPr id="169" name="Google Shape;169;p9"/>
          <p:cNvSpPr txBox="1"/>
          <p:nvPr/>
        </p:nvSpPr>
        <p:spPr>
          <a:xfrm>
            <a:off x="3063240" y="2377440"/>
            <a:ext cx="2788920" cy="2377440"/>
          </a:xfrm>
          <a:prstGeom prst="rect">
            <a:avLst/>
          </a:prstGeom>
          <a:noFill/>
          <a:ln>
            <a:noFill/>
          </a:ln>
        </p:spPr>
        <p:txBody>
          <a:bodyPr spcFirstLastPara="1" wrap="square" lIns="750" tIns="750" rIns="750" bIns="750" anchor="t" anchorCtr="0">
            <a:noAutofit/>
          </a:bodyPr>
          <a:lstStyle/>
          <a:p>
            <a:pPr marL="177800" marR="0" lvl="0" indent="-177800" algn="l" rtl="0">
              <a:spcBef>
                <a:spcPts val="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Each query maps to exactly one key</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Returns one value, v₂</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Like looking up a </a:t>
            </a:r>
            <a:r>
              <a:rPr lang="en-US" sz="1400" b="1" i="0" u="none" strike="noStrike" cap="none">
                <a:solidFill>
                  <a:srgbClr val="334155"/>
                </a:solidFill>
                <a:latin typeface="Calibri"/>
                <a:ea typeface="Calibri"/>
                <a:cs typeface="Calibri"/>
                <a:sym typeface="Calibri"/>
              </a:rPr>
              <a:t>roll number</a:t>
            </a:r>
            <a:r>
              <a:rPr lang="en-US" sz="1400" b="0" i="0" u="none" strike="noStrike" cap="none">
                <a:solidFill>
                  <a:srgbClr val="334155"/>
                </a:solidFill>
                <a:latin typeface="Calibri"/>
                <a:ea typeface="Calibri"/>
                <a:cs typeface="Calibri"/>
                <a:sym typeface="Calibri"/>
              </a:rPr>
              <a:t> in a register</a:t>
            </a:r>
            <a:endParaRPr sz="1400" b="0" i="0" u="none" strike="noStrike" cap="none">
              <a:solidFill>
                <a:schemeClr val="dk1"/>
              </a:solidFill>
              <a:latin typeface="Calibri"/>
              <a:ea typeface="Calibri"/>
              <a:cs typeface="Calibri"/>
              <a:sym typeface="Calibri"/>
            </a:endParaRPr>
          </a:p>
        </p:txBody>
      </p:sp>
      <p:sp>
        <p:nvSpPr>
          <p:cNvPr id="170" name="Google Shape;170;p9"/>
          <p:cNvSpPr/>
          <p:nvPr/>
        </p:nvSpPr>
        <p:spPr>
          <a:xfrm>
            <a:off x="6199632" y="1508760"/>
            <a:ext cx="5532120" cy="3520440"/>
          </a:xfrm>
          <a:prstGeom prst="roundRect">
            <a:avLst>
              <a:gd name="adj" fmla="val 2597"/>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a:off x="6364224" y="1673352"/>
            <a:ext cx="256032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9"/>
          <p:cNvSpPr txBox="1"/>
          <p:nvPr/>
        </p:nvSpPr>
        <p:spPr>
          <a:xfrm>
            <a:off x="6364224" y="1673352"/>
            <a:ext cx="25603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Self-attention: soft match</a:t>
            </a:r>
            <a:endParaRPr sz="1200" b="0" i="0" u="none" strike="noStrike" cap="none">
              <a:solidFill>
                <a:schemeClr val="dk1"/>
              </a:solidFill>
              <a:latin typeface="Calibri"/>
              <a:ea typeface="Calibri"/>
              <a:cs typeface="Calibri"/>
              <a:sym typeface="Calibri"/>
            </a:endParaRPr>
          </a:p>
        </p:txBody>
      </p:sp>
      <p:sp>
        <p:nvSpPr>
          <p:cNvPr id="173" name="Google Shape;173;p9"/>
          <p:cNvSpPr txBox="1"/>
          <p:nvPr/>
        </p:nvSpPr>
        <p:spPr>
          <a:xfrm>
            <a:off x="6336792" y="2075688"/>
            <a:ext cx="5257800" cy="2862072"/>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pic>
        <p:nvPicPr>
          <p:cNvPr id="174" name="Google Shape;174;p9" descr="/tmp/claude-0/-home-claude/2e4ed916-d3dc-5f60-b61a-7b0ef1a4d3a9/scratchpad/lec/assets/hash_b.png"/>
          <p:cNvPicPr preferRelativeResize="0"/>
          <p:nvPr/>
        </p:nvPicPr>
        <p:blipFill rotWithShape="1">
          <a:blip r:embed="rId4">
            <a:alphaModFix/>
          </a:blip>
          <a:srcRect/>
          <a:stretch/>
        </p:blipFill>
        <p:spPr>
          <a:xfrm>
            <a:off x="6675120" y="2148840"/>
            <a:ext cx="2103120" cy="2743200"/>
          </a:xfrm>
          <a:prstGeom prst="rect">
            <a:avLst/>
          </a:prstGeom>
          <a:noFill/>
          <a:ln>
            <a:noFill/>
          </a:ln>
        </p:spPr>
      </p:pic>
      <p:sp>
        <p:nvSpPr>
          <p:cNvPr id="175" name="Google Shape;175;p9"/>
          <p:cNvSpPr txBox="1"/>
          <p:nvPr/>
        </p:nvSpPr>
        <p:spPr>
          <a:xfrm>
            <a:off x="8869680" y="2377440"/>
            <a:ext cx="2697480" cy="2377440"/>
          </a:xfrm>
          <a:prstGeom prst="rect">
            <a:avLst/>
          </a:prstGeom>
          <a:noFill/>
          <a:ln>
            <a:noFill/>
          </a:ln>
        </p:spPr>
        <p:txBody>
          <a:bodyPr spcFirstLastPara="1" wrap="square" lIns="750" tIns="750" rIns="750" bIns="750" anchor="t" anchorCtr="0">
            <a:noAutofit/>
          </a:bodyPr>
          <a:lstStyle/>
          <a:p>
            <a:pPr marL="177800" marR="0" lvl="0" indent="-177800" algn="l" rtl="0">
              <a:spcBef>
                <a:spcPts val="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Query matches every key to some degree</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Returns a weighted sum of all values</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Like a </a:t>
            </a:r>
            <a:r>
              <a:rPr lang="en-US" sz="1400" b="1" i="0" u="none" strike="noStrike" cap="none">
                <a:solidFill>
                  <a:srgbClr val="334155"/>
                </a:solidFill>
                <a:latin typeface="Calibri"/>
                <a:ea typeface="Calibri"/>
                <a:cs typeface="Calibri"/>
                <a:sym typeface="Calibri"/>
              </a:rPr>
              <a:t>search engine</a:t>
            </a:r>
            <a:r>
              <a:rPr lang="en-US" sz="1400" b="0" i="0" u="none" strike="noStrike" cap="none">
                <a:solidFill>
                  <a:srgbClr val="334155"/>
                </a:solidFill>
                <a:latin typeface="Calibri"/>
                <a:ea typeface="Calibri"/>
                <a:cs typeface="Calibri"/>
                <a:sym typeface="Calibri"/>
              </a:rPr>
              <a:t> ranking every page by relevance</a:t>
            </a:r>
            <a:endParaRPr sz="1400" b="0" i="0" u="none" strike="noStrike" cap="none">
              <a:solidFill>
                <a:schemeClr val="dk1"/>
              </a:solidFill>
              <a:latin typeface="Calibri"/>
              <a:ea typeface="Calibri"/>
              <a:cs typeface="Calibri"/>
              <a:sym typeface="Calibri"/>
            </a:endParaRPr>
          </a:p>
        </p:txBody>
      </p:sp>
      <p:sp>
        <p:nvSpPr>
          <p:cNvPr id="176" name="Google Shape;176;p9"/>
          <p:cNvSpPr/>
          <p:nvPr/>
        </p:nvSpPr>
        <p:spPr>
          <a:xfrm>
            <a:off x="457200" y="5257800"/>
            <a:ext cx="11277295" cy="731520"/>
          </a:xfrm>
          <a:prstGeom prst="roundRect">
            <a:avLst>
              <a:gd name="adj" fmla="val 7500"/>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
          <p:cNvSpPr txBox="1"/>
          <p:nvPr/>
        </p:nvSpPr>
        <p:spPr>
          <a:xfrm>
            <a:off x="594360" y="5294376"/>
            <a:ext cx="11002975" cy="65836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Key idea:  </a:t>
            </a:r>
            <a:r>
              <a:rPr lang="en-US" sz="1400" b="0" i="0" u="none" strike="noStrike" cap="none">
                <a:solidFill>
                  <a:srgbClr val="334155"/>
                </a:solidFill>
                <a:latin typeface="Calibri"/>
                <a:ea typeface="Calibri"/>
                <a:cs typeface="Calibri"/>
                <a:sym typeface="Calibri"/>
              </a:rPr>
              <a:t>attention is a differentiable lookup. Because the weights are soft, gradients flow through every key, so the model can learn what to look for.</a:t>
            </a:r>
            <a:endParaRPr sz="1400" b="0" i="0" u="none" strike="noStrike" cap="none">
              <a:solidFill>
                <a:schemeClr val="dk1"/>
              </a:solidFill>
              <a:latin typeface="Calibri"/>
              <a:ea typeface="Calibri"/>
              <a:cs typeface="Calibri"/>
              <a:sym typeface="Calibri"/>
            </a:endParaRPr>
          </a:p>
        </p:txBody>
      </p:sp>
      <p:sp>
        <p:nvSpPr>
          <p:cNvPr id="178" name="Google Shape;178;p9"/>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3</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0"/>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Query, Key, Value: A Library Analogy</a:t>
            </a:r>
            <a:endParaRPr sz="3000"/>
          </a:p>
        </p:txBody>
      </p:sp>
      <p:sp>
        <p:nvSpPr>
          <p:cNvPr id="185" name="Google Shape;185;p10"/>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Every token plays all three roles at once</a:t>
            </a:r>
            <a:endParaRPr sz="1500"/>
          </a:p>
        </p:txBody>
      </p:sp>
      <p:sp>
        <p:nvSpPr>
          <p:cNvPr id="186" name="Google Shape;186;p10"/>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1 · SELF-ATTENTION, REVISITED</a:t>
            </a:r>
            <a:endParaRPr sz="1000" b="0" i="0" u="none" strike="noStrike" cap="none">
              <a:solidFill>
                <a:schemeClr val="dk1"/>
              </a:solidFill>
              <a:latin typeface="Calibri"/>
              <a:ea typeface="Calibri"/>
              <a:cs typeface="Calibri"/>
              <a:sym typeface="Calibri"/>
            </a:endParaRPr>
          </a:p>
        </p:txBody>
      </p:sp>
      <p:sp>
        <p:nvSpPr>
          <p:cNvPr id="187" name="Google Shape;187;p10"/>
          <p:cNvSpPr/>
          <p:nvPr/>
        </p:nvSpPr>
        <p:spPr>
          <a:xfrm>
            <a:off x="457200" y="1508760"/>
            <a:ext cx="3639312" cy="3703320"/>
          </a:xfrm>
          <a:prstGeom prst="roundRect">
            <a:avLst>
              <a:gd name="adj" fmla="val 25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0"/>
          <p:cNvSpPr/>
          <p:nvPr/>
        </p:nvSpPr>
        <p:spPr>
          <a:xfrm>
            <a:off x="640080" y="1691640"/>
            <a:ext cx="118872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0"/>
          <p:cNvSpPr txBox="1"/>
          <p:nvPr/>
        </p:nvSpPr>
        <p:spPr>
          <a:xfrm>
            <a:off x="640080" y="1691640"/>
            <a:ext cx="11887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Query</a:t>
            </a:r>
            <a:endParaRPr sz="1200" b="0" i="0" u="none" strike="noStrike" cap="none">
              <a:solidFill>
                <a:schemeClr val="dk1"/>
              </a:solidFill>
              <a:latin typeface="Calibri"/>
              <a:ea typeface="Calibri"/>
              <a:cs typeface="Calibri"/>
              <a:sym typeface="Calibri"/>
            </a:endParaRPr>
          </a:p>
        </p:txBody>
      </p:sp>
      <p:pic>
        <p:nvPicPr>
          <p:cNvPr id="190" name="Google Shape;190;p10" descr="Equation"/>
          <p:cNvPicPr preferRelativeResize="0"/>
          <p:nvPr/>
        </p:nvPicPr>
        <p:blipFill rotWithShape="1">
          <a:blip r:embed="rId3">
            <a:alphaModFix/>
          </a:blip>
          <a:srcRect/>
          <a:stretch/>
        </p:blipFill>
        <p:spPr>
          <a:xfrm>
            <a:off x="1920240" y="1714500"/>
            <a:ext cx="907542" cy="265176"/>
          </a:xfrm>
          <a:prstGeom prst="rect">
            <a:avLst/>
          </a:prstGeom>
          <a:noFill/>
          <a:ln>
            <a:noFill/>
          </a:ln>
        </p:spPr>
      </p:pic>
      <p:sp>
        <p:nvSpPr>
          <p:cNvPr id="191" name="Google Shape;191;p10"/>
          <p:cNvSpPr txBox="1"/>
          <p:nvPr/>
        </p:nvSpPr>
        <p:spPr>
          <a:xfrm>
            <a:off x="640080" y="2148840"/>
            <a:ext cx="3273552"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What am I looking for?</a:t>
            </a:r>
            <a:endParaRPr sz="1700" b="0" i="0" u="none" strike="noStrike" cap="none">
              <a:solidFill>
                <a:schemeClr val="dk1"/>
              </a:solidFill>
              <a:latin typeface="Calibri"/>
              <a:ea typeface="Calibri"/>
              <a:cs typeface="Calibri"/>
              <a:sym typeface="Calibri"/>
            </a:endParaRPr>
          </a:p>
        </p:txBody>
      </p:sp>
      <p:sp>
        <p:nvSpPr>
          <p:cNvPr id="192" name="Google Shape;192;p10"/>
          <p:cNvSpPr txBox="1"/>
          <p:nvPr/>
        </p:nvSpPr>
        <p:spPr>
          <a:xfrm>
            <a:off x="640080" y="2606040"/>
            <a:ext cx="3273552" cy="10058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The slip you hand the librarian: “books on monsoon forecasting”.</a:t>
            </a:r>
            <a:endParaRPr sz="1400" b="0" i="0" u="none" strike="noStrike" cap="none">
              <a:solidFill>
                <a:schemeClr val="dk1"/>
              </a:solidFill>
              <a:latin typeface="Calibri"/>
              <a:ea typeface="Calibri"/>
              <a:cs typeface="Calibri"/>
              <a:sym typeface="Calibri"/>
            </a:endParaRPr>
          </a:p>
        </p:txBody>
      </p:sp>
      <p:sp>
        <p:nvSpPr>
          <p:cNvPr id="193" name="Google Shape;193;p10"/>
          <p:cNvSpPr/>
          <p:nvPr/>
        </p:nvSpPr>
        <p:spPr>
          <a:xfrm>
            <a:off x="640080" y="3840480"/>
            <a:ext cx="3273552" cy="1143000"/>
          </a:xfrm>
          <a:prstGeom prst="roundRect">
            <a:avLst>
              <a:gd name="adj" fmla="val 4800"/>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0"/>
          <p:cNvSpPr txBox="1"/>
          <p:nvPr/>
        </p:nvSpPr>
        <p:spPr>
          <a:xfrm>
            <a:off x="731520" y="3886200"/>
            <a:ext cx="3090672" cy="10515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4748B"/>
              </a:buClr>
              <a:buSzPts val="1200"/>
              <a:buFont typeface="Calibri"/>
              <a:buNone/>
            </a:pPr>
            <a:r>
              <a:rPr lang="en-US" sz="1200" b="0" i="1" u="none" strike="noStrike" cap="none">
                <a:solidFill>
                  <a:srgbClr val="64748B"/>
                </a:solidFill>
                <a:latin typeface="Calibri"/>
                <a:ea typeface="Calibri"/>
                <a:cs typeface="Calibri"/>
                <a:sym typeface="Calibri"/>
              </a:rPr>
              <a:t>In “The animal didn't cross… because it was tired”</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“it” asks: which noun am I?</a:t>
            </a:r>
            <a:endParaRPr sz="1400" b="0" i="0" u="none" strike="noStrike" cap="none">
              <a:solidFill>
                <a:schemeClr val="dk1"/>
              </a:solidFill>
              <a:latin typeface="Calibri"/>
              <a:ea typeface="Calibri"/>
              <a:cs typeface="Calibri"/>
              <a:sym typeface="Calibri"/>
            </a:endParaRPr>
          </a:p>
        </p:txBody>
      </p:sp>
      <p:sp>
        <p:nvSpPr>
          <p:cNvPr id="195" name="Google Shape;195;p10"/>
          <p:cNvSpPr/>
          <p:nvPr/>
        </p:nvSpPr>
        <p:spPr>
          <a:xfrm>
            <a:off x="4279392" y="1508760"/>
            <a:ext cx="3639312" cy="3703320"/>
          </a:xfrm>
          <a:prstGeom prst="roundRect">
            <a:avLst>
              <a:gd name="adj" fmla="val 25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0"/>
          <p:cNvSpPr/>
          <p:nvPr/>
        </p:nvSpPr>
        <p:spPr>
          <a:xfrm>
            <a:off x="4462272" y="1691640"/>
            <a:ext cx="118872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0"/>
          <p:cNvSpPr txBox="1"/>
          <p:nvPr/>
        </p:nvSpPr>
        <p:spPr>
          <a:xfrm>
            <a:off x="4462272" y="1691640"/>
            <a:ext cx="11887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Key</a:t>
            </a:r>
            <a:endParaRPr sz="1200" b="0" i="0" u="none" strike="noStrike" cap="none">
              <a:solidFill>
                <a:schemeClr val="dk1"/>
              </a:solidFill>
              <a:latin typeface="Calibri"/>
              <a:ea typeface="Calibri"/>
              <a:cs typeface="Calibri"/>
              <a:sym typeface="Calibri"/>
            </a:endParaRPr>
          </a:p>
        </p:txBody>
      </p:sp>
      <p:pic>
        <p:nvPicPr>
          <p:cNvPr id="198" name="Google Shape;198;p10" descr="Equation"/>
          <p:cNvPicPr preferRelativeResize="0"/>
          <p:nvPr/>
        </p:nvPicPr>
        <p:blipFill rotWithShape="1">
          <a:blip r:embed="rId4">
            <a:alphaModFix/>
          </a:blip>
          <a:srcRect/>
          <a:stretch/>
        </p:blipFill>
        <p:spPr>
          <a:xfrm>
            <a:off x="5742432" y="1733931"/>
            <a:ext cx="925830" cy="226314"/>
          </a:xfrm>
          <a:prstGeom prst="rect">
            <a:avLst/>
          </a:prstGeom>
          <a:noFill/>
          <a:ln>
            <a:noFill/>
          </a:ln>
        </p:spPr>
      </p:pic>
      <p:sp>
        <p:nvSpPr>
          <p:cNvPr id="199" name="Google Shape;199;p10"/>
          <p:cNvSpPr txBox="1"/>
          <p:nvPr/>
        </p:nvSpPr>
        <p:spPr>
          <a:xfrm>
            <a:off x="4462272" y="2148840"/>
            <a:ext cx="3273552"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What do I offer to be found by?</a:t>
            </a:r>
            <a:endParaRPr sz="1700" b="0" i="0" u="none" strike="noStrike" cap="none">
              <a:solidFill>
                <a:schemeClr val="dk1"/>
              </a:solidFill>
              <a:latin typeface="Calibri"/>
              <a:ea typeface="Calibri"/>
              <a:cs typeface="Calibri"/>
              <a:sym typeface="Calibri"/>
            </a:endParaRPr>
          </a:p>
        </p:txBody>
      </p:sp>
      <p:sp>
        <p:nvSpPr>
          <p:cNvPr id="200" name="Google Shape;200;p10"/>
          <p:cNvSpPr txBox="1"/>
          <p:nvPr/>
        </p:nvSpPr>
        <p:spPr>
          <a:xfrm>
            <a:off x="4462272" y="2606040"/>
            <a:ext cx="3273552" cy="10058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The label on each book's spine that the slip is matched against.</a:t>
            </a:r>
            <a:endParaRPr sz="1400" b="0" i="0" u="none" strike="noStrike" cap="none">
              <a:solidFill>
                <a:schemeClr val="dk1"/>
              </a:solidFill>
              <a:latin typeface="Calibri"/>
              <a:ea typeface="Calibri"/>
              <a:cs typeface="Calibri"/>
              <a:sym typeface="Calibri"/>
            </a:endParaRPr>
          </a:p>
        </p:txBody>
      </p:sp>
      <p:sp>
        <p:nvSpPr>
          <p:cNvPr id="201" name="Google Shape;201;p10"/>
          <p:cNvSpPr/>
          <p:nvPr/>
        </p:nvSpPr>
        <p:spPr>
          <a:xfrm>
            <a:off x="4462272" y="3840480"/>
            <a:ext cx="3273552" cy="1143000"/>
          </a:xfrm>
          <a:prstGeom prst="roundRect">
            <a:avLst>
              <a:gd name="adj" fmla="val 4800"/>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0"/>
          <p:cNvSpPr txBox="1"/>
          <p:nvPr/>
        </p:nvSpPr>
        <p:spPr>
          <a:xfrm>
            <a:off x="4553712" y="3886200"/>
            <a:ext cx="3090672" cy="10515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4748B"/>
              </a:buClr>
              <a:buSzPts val="1200"/>
              <a:buFont typeface="Calibri"/>
              <a:buNone/>
            </a:pPr>
            <a:r>
              <a:rPr lang="en-US" sz="1200" b="0" i="1" u="none" strike="noStrike" cap="none">
                <a:solidFill>
                  <a:srgbClr val="64748B"/>
                </a:solidFill>
                <a:latin typeface="Calibri"/>
                <a:ea typeface="Calibri"/>
                <a:cs typeface="Calibri"/>
                <a:sym typeface="Calibri"/>
              </a:rPr>
              <a:t>In “The animal didn't cross… because it was tired”</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“animal” advertises: I am a noun, living thing.</a:t>
            </a:r>
            <a:endParaRPr sz="1400" b="0" i="0" u="none" strike="noStrike" cap="none">
              <a:solidFill>
                <a:schemeClr val="dk1"/>
              </a:solidFill>
              <a:latin typeface="Calibri"/>
              <a:ea typeface="Calibri"/>
              <a:cs typeface="Calibri"/>
              <a:sym typeface="Calibri"/>
            </a:endParaRPr>
          </a:p>
        </p:txBody>
      </p:sp>
      <p:sp>
        <p:nvSpPr>
          <p:cNvPr id="203" name="Google Shape;203;p10"/>
          <p:cNvSpPr/>
          <p:nvPr/>
        </p:nvSpPr>
        <p:spPr>
          <a:xfrm>
            <a:off x="8101584" y="1508760"/>
            <a:ext cx="3639312" cy="3703320"/>
          </a:xfrm>
          <a:prstGeom prst="roundRect">
            <a:avLst>
              <a:gd name="adj" fmla="val 25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0"/>
          <p:cNvSpPr/>
          <p:nvPr/>
        </p:nvSpPr>
        <p:spPr>
          <a:xfrm>
            <a:off x="8284464" y="1691640"/>
            <a:ext cx="118872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0"/>
          <p:cNvSpPr txBox="1"/>
          <p:nvPr/>
        </p:nvSpPr>
        <p:spPr>
          <a:xfrm>
            <a:off x="8284464" y="1691640"/>
            <a:ext cx="11887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Value</a:t>
            </a:r>
            <a:endParaRPr sz="1200" b="0" i="0" u="none" strike="noStrike" cap="none">
              <a:solidFill>
                <a:schemeClr val="dk1"/>
              </a:solidFill>
              <a:latin typeface="Calibri"/>
              <a:ea typeface="Calibri"/>
              <a:cs typeface="Calibri"/>
              <a:sym typeface="Calibri"/>
            </a:endParaRPr>
          </a:p>
        </p:txBody>
      </p:sp>
      <p:pic>
        <p:nvPicPr>
          <p:cNvPr id="206" name="Google Shape;206;p10" descr="Equation"/>
          <p:cNvPicPr preferRelativeResize="0"/>
          <p:nvPr/>
        </p:nvPicPr>
        <p:blipFill rotWithShape="1">
          <a:blip r:embed="rId5">
            <a:alphaModFix/>
          </a:blip>
          <a:srcRect/>
          <a:stretch/>
        </p:blipFill>
        <p:spPr>
          <a:xfrm>
            <a:off x="9564624" y="1733931"/>
            <a:ext cx="914400" cy="226314"/>
          </a:xfrm>
          <a:prstGeom prst="rect">
            <a:avLst/>
          </a:prstGeom>
          <a:noFill/>
          <a:ln>
            <a:noFill/>
          </a:ln>
        </p:spPr>
      </p:pic>
      <p:sp>
        <p:nvSpPr>
          <p:cNvPr id="207" name="Google Shape;207;p10"/>
          <p:cNvSpPr txBox="1"/>
          <p:nvPr/>
        </p:nvSpPr>
        <p:spPr>
          <a:xfrm>
            <a:off x="8284464" y="2148840"/>
            <a:ext cx="3273552"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What do I hand over if chosen?</a:t>
            </a:r>
            <a:endParaRPr sz="1700" b="0" i="0" u="none" strike="noStrike" cap="none">
              <a:solidFill>
                <a:schemeClr val="dk1"/>
              </a:solidFill>
              <a:latin typeface="Calibri"/>
              <a:ea typeface="Calibri"/>
              <a:cs typeface="Calibri"/>
              <a:sym typeface="Calibri"/>
            </a:endParaRPr>
          </a:p>
        </p:txBody>
      </p:sp>
      <p:sp>
        <p:nvSpPr>
          <p:cNvPr id="208" name="Google Shape;208;p10"/>
          <p:cNvSpPr txBox="1"/>
          <p:nvPr/>
        </p:nvSpPr>
        <p:spPr>
          <a:xfrm>
            <a:off x="8284464" y="2606040"/>
            <a:ext cx="3273552" cy="10058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The book's actual contents, which you read once the match is made.</a:t>
            </a:r>
            <a:endParaRPr sz="1400" b="0" i="0" u="none" strike="noStrike" cap="none">
              <a:solidFill>
                <a:schemeClr val="dk1"/>
              </a:solidFill>
              <a:latin typeface="Calibri"/>
              <a:ea typeface="Calibri"/>
              <a:cs typeface="Calibri"/>
              <a:sym typeface="Calibri"/>
            </a:endParaRPr>
          </a:p>
        </p:txBody>
      </p:sp>
      <p:sp>
        <p:nvSpPr>
          <p:cNvPr id="209" name="Google Shape;209;p10"/>
          <p:cNvSpPr/>
          <p:nvPr/>
        </p:nvSpPr>
        <p:spPr>
          <a:xfrm>
            <a:off x="8284464" y="3840480"/>
            <a:ext cx="3273552" cy="1143000"/>
          </a:xfrm>
          <a:prstGeom prst="roundRect">
            <a:avLst>
              <a:gd name="adj" fmla="val 4800"/>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0"/>
          <p:cNvSpPr txBox="1"/>
          <p:nvPr/>
        </p:nvSpPr>
        <p:spPr>
          <a:xfrm>
            <a:off x="8375904" y="3886200"/>
            <a:ext cx="3090672" cy="10515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4748B"/>
              </a:buClr>
              <a:buSzPts val="1200"/>
              <a:buFont typeface="Calibri"/>
              <a:buNone/>
            </a:pPr>
            <a:r>
              <a:rPr lang="en-US" sz="1200" b="0" i="1" u="none" strike="noStrike" cap="none">
                <a:solidFill>
                  <a:srgbClr val="64748B"/>
                </a:solidFill>
                <a:latin typeface="Calibri"/>
                <a:ea typeface="Calibri"/>
                <a:cs typeface="Calibri"/>
                <a:sym typeface="Calibri"/>
              </a:rPr>
              <a:t>In “The animal didn't cross… because it was tired”</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“animal” passes on its meaning.</a:t>
            </a:r>
            <a:endParaRPr sz="1400" b="0" i="0" u="none" strike="noStrike" cap="none">
              <a:solidFill>
                <a:schemeClr val="dk1"/>
              </a:solidFill>
              <a:latin typeface="Calibri"/>
              <a:ea typeface="Calibri"/>
              <a:cs typeface="Calibri"/>
              <a:sym typeface="Calibri"/>
            </a:endParaRPr>
          </a:p>
        </p:txBody>
      </p:sp>
      <p:sp>
        <p:nvSpPr>
          <p:cNvPr id="211" name="Google Shape;211;p10"/>
          <p:cNvSpPr/>
          <p:nvPr/>
        </p:nvSpPr>
        <p:spPr>
          <a:xfrm>
            <a:off x="457200" y="5440680"/>
            <a:ext cx="11277295" cy="713232"/>
          </a:xfrm>
          <a:prstGeom prst="roundRect">
            <a:avLst>
              <a:gd name="adj" fmla="val 7692"/>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0"/>
          <p:cNvSpPr txBox="1"/>
          <p:nvPr/>
        </p:nvSpPr>
        <p:spPr>
          <a:xfrm>
            <a:off x="594360" y="5477256"/>
            <a:ext cx="11002975"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Why three matrices?  </a:t>
            </a:r>
            <a:r>
              <a:rPr lang="en-US" sz="1400" b="0" i="1" u="none" strike="noStrike" cap="none">
                <a:solidFill>
                  <a:srgbClr val="7C3E0A"/>
                </a:solidFill>
                <a:latin typeface="Calibri"/>
                <a:ea typeface="Calibri"/>
                <a:cs typeface="Calibri"/>
                <a:sym typeface="Calibri"/>
              </a:rPr>
              <a:t>the same word needs to ask (Q), be found (K) and contribute (V) differently. Separate learned projections give it three different “faces”.</a:t>
            </a:r>
            <a:endParaRPr sz="1400" b="0" i="0" u="none" strike="noStrike" cap="none">
              <a:solidFill>
                <a:schemeClr val="dk1"/>
              </a:solidFill>
              <a:latin typeface="Calibri"/>
              <a:ea typeface="Calibri"/>
              <a:cs typeface="Calibri"/>
              <a:sym typeface="Calibri"/>
            </a:endParaRPr>
          </a:p>
        </p:txBody>
      </p:sp>
      <p:sp>
        <p:nvSpPr>
          <p:cNvPr id="213" name="Google Shape;213;p10"/>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4</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1"/>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Recipe for Self-Attention</a:t>
            </a:r>
            <a:endParaRPr sz="3000"/>
          </a:p>
        </p:txBody>
      </p:sp>
      <p:sp>
        <p:nvSpPr>
          <p:cNvPr id="220" name="Google Shape;220;p11"/>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Four steps per token, the same weights for every position</a:t>
            </a:r>
            <a:endParaRPr sz="1500"/>
          </a:p>
        </p:txBody>
      </p:sp>
      <p:sp>
        <p:nvSpPr>
          <p:cNvPr id="221" name="Google Shape;221;p11"/>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1 · SELF-ATTENTION, REVISITED</a:t>
            </a:r>
            <a:endParaRPr sz="1000" b="0" i="0" u="none" strike="noStrike" cap="none">
              <a:solidFill>
                <a:schemeClr val="dk1"/>
              </a:solidFill>
              <a:latin typeface="Calibri"/>
              <a:ea typeface="Calibri"/>
              <a:cs typeface="Calibri"/>
              <a:sym typeface="Calibri"/>
            </a:endParaRPr>
          </a:p>
        </p:txBody>
      </p:sp>
      <p:sp>
        <p:nvSpPr>
          <p:cNvPr id="222" name="Google Shape;222;p11"/>
          <p:cNvSpPr/>
          <p:nvPr/>
        </p:nvSpPr>
        <p:spPr>
          <a:xfrm>
            <a:off x="457200" y="1508760"/>
            <a:ext cx="11274552" cy="896112"/>
          </a:xfrm>
          <a:prstGeom prst="roundRect">
            <a:avLst>
              <a:gd name="adj" fmla="val 10204"/>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1"/>
          <p:cNvSpPr/>
          <p:nvPr/>
        </p:nvSpPr>
        <p:spPr>
          <a:xfrm>
            <a:off x="658368" y="1737360"/>
            <a:ext cx="438912" cy="438912"/>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1"/>
          <p:cNvSpPr txBox="1"/>
          <p:nvPr/>
        </p:nvSpPr>
        <p:spPr>
          <a:xfrm>
            <a:off x="658368" y="1737360"/>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225" name="Google Shape;225;p11"/>
          <p:cNvSpPr txBox="1"/>
          <p:nvPr/>
        </p:nvSpPr>
        <p:spPr>
          <a:xfrm>
            <a:off x="1280160" y="1581912"/>
            <a:ext cx="1645920" cy="74980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D4ED8"/>
              </a:buClr>
              <a:buSzPts val="1800"/>
              <a:buFont typeface="Calibri"/>
              <a:buNone/>
            </a:pPr>
            <a:r>
              <a:rPr lang="en-US" sz="1800" b="1" i="0" u="none" strike="noStrike" cap="none">
                <a:solidFill>
                  <a:srgbClr val="1D4ED8"/>
                </a:solidFill>
                <a:latin typeface="Calibri"/>
                <a:ea typeface="Calibri"/>
                <a:cs typeface="Calibri"/>
                <a:sym typeface="Calibri"/>
              </a:rPr>
              <a:t>Project</a:t>
            </a:r>
            <a:endParaRPr sz="1800" b="0" i="0" u="none" strike="noStrike" cap="none">
              <a:solidFill>
                <a:schemeClr val="dk1"/>
              </a:solidFill>
              <a:latin typeface="Calibri"/>
              <a:ea typeface="Calibri"/>
              <a:cs typeface="Calibri"/>
              <a:sym typeface="Calibri"/>
            </a:endParaRPr>
          </a:p>
        </p:txBody>
      </p:sp>
      <p:sp>
        <p:nvSpPr>
          <p:cNvPr id="226" name="Google Shape;226;p11"/>
          <p:cNvSpPr txBox="1"/>
          <p:nvPr/>
        </p:nvSpPr>
        <p:spPr>
          <a:xfrm>
            <a:off x="2926080" y="1581912"/>
            <a:ext cx="4206240" cy="74980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For each word xᵢ, compute its query, key and value.</a:t>
            </a:r>
            <a:endParaRPr sz="1500" b="0" i="0" u="none" strike="noStrike" cap="none">
              <a:solidFill>
                <a:schemeClr val="dk1"/>
              </a:solidFill>
              <a:latin typeface="Calibri"/>
              <a:ea typeface="Calibri"/>
              <a:cs typeface="Calibri"/>
              <a:sym typeface="Calibri"/>
            </a:endParaRPr>
          </a:p>
        </p:txBody>
      </p:sp>
      <p:sp>
        <p:nvSpPr>
          <p:cNvPr id="227" name="Google Shape;227;p11"/>
          <p:cNvSpPr/>
          <p:nvPr/>
        </p:nvSpPr>
        <p:spPr>
          <a:xfrm>
            <a:off x="7269480" y="1636776"/>
            <a:ext cx="4297680" cy="640080"/>
          </a:xfrm>
          <a:prstGeom prst="roundRect">
            <a:avLst>
              <a:gd name="adj" fmla="val 857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8" name="Google Shape;228;p11" descr="Equation"/>
          <p:cNvPicPr preferRelativeResize="0"/>
          <p:nvPr/>
        </p:nvPicPr>
        <p:blipFill rotWithShape="1">
          <a:blip r:embed="rId3">
            <a:alphaModFix/>
          </a:blip>
          <a:srcRect/>
          <a:stretch/>
        </p:blipFill>
        <p:spPr>
          <a:xfrm>
            <a:off x="7458380" y="1806550"/>
            <a:ext cx="3919880" cy="300533"/>
          </a:xfrm>
          <a:prstGeom prst="rect">
            <a:avLst/>
          </a:prstGeom>
          <a:noFill/>
          <a:ln>
            <a:noFill/>
          </a:ln>
        </p:spPr>
      </p:pic>
      <p:sp>
        <p:nvSpPr>
          <p:cNvPr id="229" name="Google Shape;229;p11"/>
          <p:cNvSpPr/>
          <p:nvPr/>
        </p:nvSpPr>
        <p:spPr>
          <a:xfrm>
            <a:off x="457200" y="2532888"/>
            <a:ext cx="11274552" cy="896112"/>
          </a:xfrm>
          <a:prstGeom prst="roundRect">
            <a:avLst>
              <a:gd name="adj" fmla="val 10204"/>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a:off x="658368" y="2761488"/>
            <a:ext cx="438912" cy="438912"/>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txBox="1"/>
          <p:nvPr/>
        </p:nvSpPr>
        <p:spPr>
          <a:xfrm>
            <a:off x="658368" y="2761488"/>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232" name="Google Shape;232;p11"/>
          <p:cNvSpPr txBox="1"/>
          <p:nvPr/>
        </p:nvSpPr>
        <p:spPr>
          <a:xfrm>
            <a:off x="1280160" y="2606040"/>
            <a:ext cx="1645920" cy="74980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D28D9"/>
              </a:buClr>
              <a:buSzPts val="1800"/>
              <a:buFont typeface="Calibri"/>
              <a:buNone/>
            </a:pPr>
            <a:r>
              <a:rPr lang="en-US" sz="1800" b="1" i="0" u="none" strike="noStrike" cap="none">
                <a:solidFill>
                  <a:srgbClr val="6D28D9"/>
                </a:solidFill>
                <a:latin typeface="Calibri"/>
                <a:ea typeface="Calibri"/>
                <a:cs typeface="Calibri"/>
                <a:sym typeface="Calibri"/>
              </a:rPr>
              <a:t>Score</a:t>
            </a:r>
            <a:endParaRPr sz="1800" b="0" i="0" u="none" strike="noStrike" cap="none">
              <a:solidFill>
                <a:schemeClr val="dk1"/>
              </a:solidFill>
              <a:latin typeface="Calibri"/>
              <a:ea typeface="Calibri"/>
              <a:cs typeface="Calibri"/>
              <a:sym typeface="Calibri"/>
            </a:endParaRPr>
          </a:p>
        </p:txBody>
      </p:sp>
      <p:sp>
        <p:nvSpPr>
          <p:cNvPr id="233" name="Google Shape;233;p11"/>
          <p:cNvSpPr txBox="1"/>
          <p:nvPr/>
        </p:nvSpPr>
        <p:spPr>
          <a:xfrm>
            <a:off x="2926080" y="2606040"/>
            <a:ext cx="4206240" cy="74980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Compare query i with every key j.</a:t>
            </a:r>
            <a:endParaRPr sz="1500" b="0" i="0" u="none" strike="noStrike" cap="none">
              <a:solidFill>
                <a:schemeClr val="dk1"/>
              </a:solidFill>
              <a:latin typeface="Calibri"/>
              <a:ea typeface="Calibri"/>
              <a:cs typeface="Calibri"/>
              <a:sym typeface="Calibri"/>
            </a:endParaRPr>
          </a:p>
        </p:txBody>
      </p:sp>
      <p:sp>
        <p:nvSpPr>
          <p:cNvPr id="234" name="Google Shape;234;p11"/>
          <p:cNvSpPr/>
          <p:nvPr/>
        </p:nvSpPr>
        <p:spPr>
          <a:xfrm>
            <a:off x="7269480" y="2660904"/>
            <a:ext cx="4297680" cy="640080"/>
          </a:xfrm>
          <a:prstGeom prst="roundRect">
            <a:avLst>
              <a:gd name="adj" fmla="val 857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5" name="Google Shape;235;p11" descr="Equation"/>
          <p:cNvPicPr preferRelativeResize="0"/>
          <p:nvPr/>
        </p:nvPicPr>
        <p:blipFill rotWithShape="1">
          <a:blip r:embed="rId4">
            <a:alphaModFix/>
          </a:blip>
          <a:srcRect/>
          <a:stretch/>
        </p:blipFill>
        <p:spPr>
          <a:xfrm>
            <a:off x="8826322" y="2842336"/>
            <a:ext cx="1183996" cy="277216"/>
          </a:xfrm>
          <a:prstGeom prst="rect">
            <a:avLst/>
          </a:prstGeom>
          <a:noFill/>
          <a:ln>
            <a:noFill/>
          </a:ln>
        </p:spPr>
      </p:pic>
      <p:sp>
        <p:nvSpPr>
          <p:cNvPr id="236" name="Google Shape;236;p11"/>
          <p:cNvSpPr/>
          <p:nvPr/>
        </p:nvSpPr>
        <p:spPr>
          <a:xfrm>
            <a:off x="457200" y="3557016"/>
            <a:ext cx="11274552" cy="896112"/>
          </a:xfrm>
          <a:prstGeom prst="roundRect">
            <a:avLst>
              <a:gd name="adj" fmla="val 10204"/>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a:off x="658368" y="3785616"/>
            <a:ext cx="438912" cy="438912"/>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txBox="1"/>
          <p:nvPr/>
        </p:nvSpPr>
        <p:spPr>
          <a:xfrm>
            <a:off x="658368" y="3785616"/>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239" name="Google Shape;239;p11"/>
          <p:cNvSpPr txBox="1"/>
          <p:nvPr/>
        </p:nvSpPr>
        <p:spPr>
          <a:xfrm>
            <a:off x="1280160" y="3630168"/>
            <a:ext cx="1645920" cy="74980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800"/>
              <a:buFont typeface="Calibri"/>
              <a:buNone/>
            </a:pPr>
            <a:r>
              <a:rPr lang="en-US" sz="1800" b="1" i="0" u="none" strike="noStrike" cap="none">
                <a:solidFill>
                  <a:srgbClr val="0F766E"/>
                </a:solidFill>
                <a:latin typeface="Calibri"/>
                <a:ea typeface="Calibri"/>
                <a:cs typeface="Calibri"/>
                <a:sym typeface="Calibri"/>
              </a:rPr>
              <a:t>Normalise</a:t>
            </a:r>
            <a:endParaRPr sz="1800" b="0" i="0" u="none" strike="noStrike" cap="none">
              <a:solidFill>
                <a:schemeClr val="dk1"/>
              </a:solidFill>
              <a:latin typeface="Calibri"/>
              <a:ea typeface="Calibri"/>
              <a:cs typeface="Calibri"/>
              <a:sym typeface="Calibri"/>
            </a:endParaRPr>
          </a:p>
        </p:txBody>
      </p:sp>
      <p:sp>
        <p:nvSpPr>
          <p:cNvPr id="240" name="Google Shape;240;p11"/>
          <p:cNvSpPr txBox="1"/>
          <p:nvPr/>
        </p:nvSpPr>
        <p:spPr>
          <a:xfrm>
            <a:off x="2926080" y="3630168"/>
            <a:ext cx="4206240" cy="74980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Softmax turns scores into weights that sum to 1.</a:t>
            </a:r>
            <a:endParaRPr sz="1500" b="0" i="0" u="none" strike="noStrike" cap="none">
              <a:solidFill>
                <a:schemeClr val="dk1"/>
              </a:solidFill>
              <a:latin typeface="Calibri"/>
              <a:ea typeface="Calibri"/>
              <a:cs typeface="Calibri"/>
              <a:sym typeface="Calibri"/>
            </a:endParaRPr>
          </a:p>
        </p:txBody>
      </p:sp>
      <p:sp>
        <p:nvSpPr>
          <p:cNvPr id="241" name="Google Shape;241;p11"/>
          <p:cNvSpPr/>
          <p:nvPr/>
        </p:nvSpPr>
        <p:spPr>
          <a:xfrm>
            <a:off x="7269480" y="3685032"/>
            <a:ext cx="4297680" cy="640080"/>
          </a:xfrm>
          <a:prstGeom prst="roundRect">
            <a:avLst>
              <a:gd name="adj" fmla="val 857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2" name="Google Shape;242;p11" descr="Equation"/>
          <p:cNvPicPr preferRelativeResize="0"/>
          <p:nvPr/>
        </p:nvPicPr>
        <p:blipFill rotWithShape="1">
          <a:blip r:embed="rId5">
            <a:alphaModFix/>
          </a:blip>
          <a:srcRect/>
          <a:stretch/>
        </p:blipFill>
        <p:spPr>
          <a:xfrm>
            <a:off x="8535317" y="3721608"/>
            <a:ext cx="1766006" cy="566928"/>
          </a:xfrm>
          <a:prstGeom prst="rect">
            <a:avLst/>
          </a:prstGeom>
          <a:noFill/>
          <a:ln>
            <a:noFill/>
          </a:ln>
        </p:spPr>
      </p:pic>
      <p:sp>
        <p:nvSpPr>
          <p:cNvPr id="243" name="Google Shape;243;p11"/>
          <p:cNvSpPr/>
          <p:nvPr/>
        </p:nvSpPr>
        <p:spPr>
          <a:xfrm>
            <a:off x="457200" y="4581144"/>
            <a:ext cx="11274552" cy="896112"/>
          </a:xfrm>
          <a:prstGeom prst="roundRect">
            <a:avLst>
              <a:gd name="adj" fmla="val 10204"/>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1"/>
          <p:cNvSpPr/>
          <p:nvPr/>
        </p:nvSpPr>
        <p:spPr>
          <a:xfrm>
            <a:off x="658368" y="4809744"/>
            <a:ext cx="438912" cy="438912"/>
          </a:xfrm>
          <a:prstGeom prst="ellipse">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txBox="1"/>
          <p:nvPr/>
        </p:nvSpPr>
        <p:spPr>
          <a:xfrm>
            <a:off x="658368" y="4809744"/>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246" name="Google Shape;246;p11"/>
          <p:cNvSpPr txBox="1"/>
          <p:nvPr/>
        </p:nvSpPr>
        <p:spPr>
          <a:xfrm>
            <a:off x="1280160" y="4654296"/>
            <a:ext cx="1645920" cy="74980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C2410C"/>
              </a:buClr>
              <a:buSzPts val="1800"/>
              <a:buFont typeface="Calibri"/>
              <a:buNone/>
            </a:pPr>
            <a:r>
              <a:rPr lang="en-US" sz="1800" b="1" i="0" u="none" strike="noStrike" cap="none">
                <a:solidFill>
                  <a:srgbClr val="C2410C"/>
                </a:solidFill>
                <a:latin typeface="Calibri"/>
                <a:ea typeface="Calibri"/>
                <a:cs typeface="Calibri"/>
                <a:sym typeface="Calibri"/>
              </a:rPr>
              <a:t>Mix</a:t>
            </a:r>
            <a:endParaRPr sz="1800" b="0" i="0" u="none" strike="noStrike" cap="none">
              <a:solidFill>
                <a:schemeClr val="dk1"/>
              </a:solidFill>
              <a:latin typeface="Calibri"/>
              <a:ea typeface="Calibri"/>
              <a:cs typeface="Calibri"/>
              <a:sym typeface="Calibri"/>
            </a:endParaRPr>
          </a:p>
        </p:txBody>
      </p:sp>
      <p:sp>
        <p:nvSpPr>
          <p:cNvPr id="247" name="Google Shape;247;p11"/>
          <p:cNvSpPr txBox="1"/>
          <p:nvPr/>
        </p:nvSpPr>
        <p:spPr>
          <a:xfrm>
            <a:off x="2926080" y="4654296"/>
            <a:ext cx="4206240" cy="74980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Take the weighted sum of the values.</a:t>
            </a:r>
            <a:endParaRPr sz="1500" b="0" i="0" u="none" strike="noStrike" cap="none">
              <a:solidFill>
                <a:schemeClr val="dk1"/>
              </a:solidFill>
              <a:latin typeface="Calibri"/>
              <a:ea typeface="Calibri"/>
              <a:cs typeface="Calibri"/>
              <a:sym typeface="Calibri"/>
            </a:endParaRPr>
          </a:p>
        </p:txBody>
      </p:sp>
      <p:sp>
        <p:nvSpPr>
          <p:cNvPr id="248" name="Google Shape;248;p11"/>
          <p:cNvSpPr/>
          <p:nvPr/>
        </p:nvSpPr>
        <p:spPr>
          <a:xfrm>
            <a:off x="7269480" y="4709160"/>
            <a:ext cx="4297680" cy="640080"/>
          </a:xfrm>
          <a:prstGeom prst="roundRect">
            <a:avLst>
              <a:gd name="adj" fmla="val 857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9" name="Google Shape;249;p11" descr="Equation"/>
          <p:cNvPicPr preferRelativeResize="0"/>
          <p:nvPr/>
        </p:nvPicPr>
        <p:blipFill rotWithShape="1">
          <a:blip r:embed="rId6">
            <a:alphaModFix/>
          </a:blip>
          <a:srcRect/>
          <a:stretch/>
        </p:blipFill>
        <p:spPr>
          <a:xfrm>
            <a:off x="8733077" y="4745736"/>
            <a:ext cx="1370487" cy="566928"/>
          </a:xfrm>
          <a:prstGeom prst="rect">
            <a:avLst/>
          </a:prstGeom>
          <a:noFill/>
          <a:ln>
            <a:noFill/>
          </a:ln>
        </p:spPr>
      </p:pic>
      <p:sp>
        <p:nvSpPr>
          <p:cNvPr id="250" name="Google Shape;250;p11"/>
          <p:cNvSpPr/>
          <p:nvPr/>
        </p:nvSpPr>
        <p:spPr>
          <a:xfrm>
            <a:off x="457200" y="5669280"/>
            <a:ext cx="11277295" cy="658368"/>
          </a:xfrm>
          <a:prstGeom prst="roundRect">
            <a:avLst>
              <a:gd name="adj" fmla="val 8333"/>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txBox="1"/>
          <p:nvPr/>
        </p:nvSpPr>
        <p:spPr>
          <a:xfrm>
            <a:off x="594360" y="5705856"/>
            <a:ext cx="11002975" cy="58521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Analogy:  </a:t>
            </a:r>
            <a:r>
              <a:rPr lang="en-US" sz="1400" b="0" i="1" u="none" strike="noStrike" cap="none">
                <a:solidFill>
                  <a:srgbClr val="7C3E0A"/>
                </a:solidFill>
                <a:latin typeface="Calibri"/>
                <a:ea typeface="Calibri"/>
                <a:cs typeface="Calibri"/>
                <a:sym typeface="Calibri"/>
              </a:rPr>
              <a:t>a WhatsApp group of 10 people. Each person reads every message (score), decides how much each one matters to them (softmax), and forms their own summary (weighted sum).</a:t>
            </a:r>
            <a:endParaRPr sz="1400" b="0" i="0" u="none" strike="noStrike" cap="none">
              <a:solidFill>
                <a:schemeClr val="dk1"/>
              </a:solidFill>
              <a:latin typeface="Calibri"/>
              <a:ea typeface="Calibri"/>
              <a:cs typeface="Calibri"/>
              <a:sym typeface="Calibri"/>
            </a:endParaRPr>
          </a:p>
        </p:txBody>
      </p:sp>
      <p:sp>
        <p:nvSpPr>
          <p:cNvPr id="252" name="Google Shape;252;p11"/>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5</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2"/>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Vectorised Self-Attention: One Line of Matrix Algebra</a:t>
            </a:r>
            <a:endParaRPr sz="3000"/>
          </a:p>
        </p:txBody>
      </p:sp>
      <p:sp>
        <p:nvSpPr>
          <p:cNvPr id="259" name="Google Shape;259;p12"/>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The whole sequence is processed in parallel on a GPU</a:t>
            </a:r>
            <a:endParaRPr sz="1500"/>
          </a:p>
        </p:txBody>
      </p:sp>
      <p:sp>
        <p:nvSpPr>
          <p:cNvPr id="260" name="Google Shape;260;p12"/>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1 · SELF-ATTENTION, REVISITED</a:t>
            </a:r>
            <a:endParaRPr sz="1000" b="0" i="0" u="none" strike="noStrike" cap="none">
              <a:solidFill>
                <a:schemeClr val="dk1"/>
              </a:solidFill>
              <a:latin typeface="Calibri"/>
              <a:ea typeface="Calibri"/>
              <a:cs typeface="Calibri"/>
              <a:sym typeface="Calibri"/>
            </a:endParaRPr>
          </a:p>
        </p:txBody>
      </p:sp>
      <p:sp>
        <p:nvSpPr>
          <p:cNvPr id="261" name="Google Shape;261;p12"/>
          <p:cNvSpPr/>
          <p:nvPr/>
        </p:nvSpPr>
        <p:spPr>
          <a:xfrm>
            <a:off x="457200" y="1508760"/>
            <a:ext cx="6035040" cy="4023360"/>
          </a:xfrm>
          <a:prstGeom prst="roundRect">
            <a:avLst>
              <a:gd name="adj" fmla="val 227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2"/>
          <p:cNvSpPr/>
          <p:nvPr/>
        </p:nvSpPr>
        <p:spPr>
          <a:xfrm>
            <a:off x="685800" y="1828800"/>
            <a:ext cx="402336" cy="402336"/>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2"/>
          <p:cNvSpPr txBox="1"/>
          <p:nvPr/>
        </p:nvSpPr>
        <p:spPr>
          <a:xfrm>
            <a:off x="685800" y="182880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264" name="Google Shape;264;p12"/>
          <p:cNvSpPr txBox="1"/>
          <p:nvPr/>
        </p:nvSpPr>
        <p:spPr>
          <a:xfrm>
            <a:off x="1234440" y="1737360"/>
            <a:ext cx="2011680" cy="56692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Stack tokens</a:t>
            </a:r>
            <a:endParaRPr sz="1500" b="0" i="0" u="none" strike="noStrike" cap="none">
              <a:solidFill>
                <a:schemeClr val="dk1"/>
              </a:solidFill>
              <a:latin typeface="Calibri"/>
              <a:ea typeface="Calibri"/>
              <a:cs typeface="Calibri"/>
              <a:sym typeface="Calibri"/>
            </a:endParaRPr>
          </a:p>
        </p:txBody>
      </p:sp>
      <p:sp>
        <p:nvSpPr>
          <p:cNvPr id="265" name="Google Shape;265;p12"/>
          <p:cNvSpPr/>
          <p:nvPr/>
        </p:nvSpPr>
        <p:spPr>
          <a:xfrm>
            <a:off x="3154680" y="1755648"/>
            <a:ext cx="3200400" cy="548640"/>
          </a:xfrm>
          <a:prstGeom prst="roundRect">
            <a:avLst>
              <a:gd name="adj" fmla="val 10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6" name="Google Shape;266;p12" descr="Equation"/>
          <p:cNvPicPr preferRelativeResize="0"/>
          <p:nvPr/>
        </p:nvPicPr>
        <p:blipFill rotWithShape="1">
          <a:blip r:embed="rId3">
            <a:alphaModFix/>
          </a:blip>
          <a:srcRect/>
          <a:stretch/>
        </p:blipFill>
        <p:spPr>
          <a:xfrm>
            <a:off x="4304538" y="1912239"/>
            <a:ext cx="900684" cy="235458"/>
          </a:xfrm>
          <a:prstGeom prst="rect">
            <a:avLst/>
          </a:prstGeom>
          <a:noFill/>
          <a:ln>
            <a:noFill/>
          </a:ln>
        </p:spPr>
      </p:pic>
      <p:sp>
        <p:nvSpPr>
          <p:cNvPr id="267" name="Google Shape;267;p12"/>
          <p:cNvSpPr/>
          <p:nvPr/>
        </p:nvSpPr>
        <p:spPr>
          <a:xfrm>
            <a:off x="685800" y="2743200"/>
            <a:ext cx="402336" cy="402336"/>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2"/>
          <p:cNvSpPr txBox="1"/>
          <p:nvPr/>
        </p:nvSpPr>
        <p:spPr>
          <a:xfrm>
            <a:off x="685800" y="274320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269" name="Google Shape;269;p12"/>
          <p:cNvSpPr txBox="1"/>
          <p:nvPr/>
        </p:nvSpPr>
        <p:spPr>
          <a:xfrm>
            <a:off x="1234440" y="2651760"/>
            <a:ext cx="2011680" cy="56692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Project</a:t>
            </a:r>
            <a:endParaRPr sz="1500" b="0" i="0" u="none" strike="noStrike" cap="none">
              <a:solidFill>
                <a:schemeClr val="dk1"/>
              </a:solidFill>
              <a:latin typeface="Calibri"/>
              <a:ea typeface="Calibri"/>
              <a:cs typeface="Calibri"/>
              <a:sym typeface="Calibri"/>
            </a:endParaRPr>
          </a:p>
        </p:txBody>
      </p:sp>
      <p:sp>
        <p:nvSpPr>
          <p:cNvPr id="270" name="Google Shape;270;p12"/>
          <p:cNvSpPr/>
          <p:nvPr/>
        </p:nvSpPr>
        <p:spPr>
          <a:xfrm>
            <a:off x="3154680" y="2670048"/>
            <a:ext cx="3200400" cy="548640"/>
          </a:xfrm>
          <a:prstGeom prst="roundRect">
            <a:avLst>
              <a:gd name="adj" fmla="val 10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1" name="Google Shape;271;p12" descr="Equation"/>
          <p:cNvPicPr preferRelativeResize="0"/>
          <p:nvPr/>
        </p:nvPicPr>
        <p:blipFill rotWithShape="1">
          <a:blip r:embed="rId4">
            <a:alphaModFix/>
          </a:blip>
          <a:srcRect/>
          <a:stretch/>
        </p:blipFill>
        <p:spPr>
          <a:xfrm>
            <a:off x="3291840" y="2825271"/>
            <a:ext cx="2926080" cy="238193"/>
          </a:xfrm>
          <a:prstGeom prst="rect">
            <a:avLst/>
          </a:prstGeom>
          <a:noFill/>
          <a:ln>
            <a:noFill/>
          </a:ln>
        </p:spPr>
      </p:pic>
      <p:sp>
        <p:nvSpPr>
          <p:cNvPr id="272" name="Google Shape;272;p12"/>
          <p:cNvSpPr/>
          <p:nvPr/>
        </p:nvSpPr>
        <p:spPr>
          <a:xfrm>
            <a:off x="685800" y="3657600"/>
            <a:ext cx="402336" cy="402336"/>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2"/>
          <p:cNvSpPr txBox="1"/>
          <p:nvPr/>
        </p:nvSpPr>
        <p:spPr>
          <a:xfrm>
            <a:off x="685800" y="365760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274" name="Google Shape;274;p12"/>
          <p:cNvSpPr txBox="1"/>
          <p:nvPr/>
        </p:nvSpPr>
        <p:spPr>
          <a:xfrm>
            <a:off x="1234440" y="3566160"/>
            <a:ext cx="2011680" cy="56692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All scores at once</a:t>
            </a:r>
            <a:endParaRPr sz="1500" b="0" i="0" u="none" strike="noStrike" cap="none">
              <a:solidFill>
                <a:schemeClr val="dk1"/>
              </a:solidFill>
              <a:latin typeface="Calibri"/>
              <a:ea typeface="Calibri"/>
              <a:cs typeface="Calibri"/>
              <a:sym typeface="Calibri"/>
            </a:endParaRPr>
          </a:p>
        </p:txBody>
      </p:sp>
      <p:sp>
        <p:nvSpPr>
          <p:cNvPr id="275" name="Google Shape;275;p12"/>
          <p:cNvSpPr/>
          <p:nvPr/>
        </p:nvSpPr>
        <p:spPr>
          <a:xfrm>
            <a:off x="3154680" y="3584448"/>
            <a:ext cx="3200400" cy="548640"/>
          </a:xfrm>
          <a:prstGeom prst="roundRect">
            <a:avLst>
              <a:gd name="adj" fmla="val 10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6" name="Google Shape;276;p12" descr="Equation"/>
          <p:cNvPicPr preferRelativeResize="0"/>
          <p:nvPr/>
        </p:nvPicPr>
        <p:blipFill rotWithShape="1">
          <a:blip r:embed="rId5">
            <a:alphaModFix/>
          </a:blip>
          <a:srcRect/>
          <a:stretch/>
        </p:blipFill>
        <p:spPr>
          <a:xfrm>
            <a:off x="3954780" y="3726180"/>
            <a:ext cx="1600200" cy="265176"/>
          </a:xfrm>
          <a:prstGeom prst="rect">
            <a:avLst/>
          </a:prstGeom>
          <a:noFill/>
          <a:ln>
            <a:noFill/>
          </a:ln>
        </p:spPr>
      </p:pic>
      <p:sp>
        <p:nvSpPr>
          <p:cNvPr id="277" name="Google Shape;277;p12"/>
          <p:cNvSpPr/>
          <p:nvPr/>
        </p:nvSpPr>
        <p:spPr>
          <a:xfrm>
            <a:off x="685800" y="4572000"/>
            <a:ext cx="402336" cy="402336"/>
          </a:xfrm>
          <a:prstGeom prst="ellipse">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2"/>
          <p:cNvSpPr txBox="1"/>
          <p:nvPr/>
        </p:nvSpPr>
        <p:spPr>
          <a:xfrm>
            <a:off x="685800" y="457200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279" name="Google Shape;279;p12"/>
          <p:cNvSpPr txBox="1"/>
          <p:nvPr/>
        </p:nvSpPr>
        <p:spPr>
          <a:xfrm>
            <a:off x="1234440" y="4480560"/>
            <a:ext cx="2011680" cy="56692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Weights and output</a:t>
            </a:r>
            <a:endParaRPr sz="1500" b="0" i="0" u="none" strike="noStrike" cap="none">
              <a:solidFill>
                <a:schemeClr val="dk1"/>
              </a:solidFill>
              <a:latin typeface="Calibri"/>
              <a:ea typeface="Calibri"/>
              <a:cs typeface="Calibri"/>
              <a:sym typeface="Calibri"/>
            </a:endParaRPr>
          </a:p>
        </p:txBody>
      </p:sp>
      <p:sp>
        <p:nvSpPr>
          <p:cNvPr id="280" name="Google Shape;280;p12"/>
          <p:cNvSpPr/>
          <p:nvPr/>
        </p:nvSpPr>
        <p:spPr>
          <a:xfrm>
            <a:off x="3154680" y="4498848"/>
            <a:ext cx="3200400" cy="548640"/>
          </a:xfrm>
          <a:prstGeom prst="roundRect">
            <a:avLst>
              <a:gd name="adj" fmla="val 10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1" name="Google Shape;281;p12" descr="Equation"/>
          <p:cNvPicPr preferRelativeResize="0"/>
          <p:nvPr/>
        </p:nvPicPr>
        <p:blipFill rotWithShape="1">
          <a:blip r:embed="rId6">
            <a:alphaModFix/>
          </a:blip>
          <a:srcRect/>
          <a:stretch/>
        </p:blipFill>
        <p:spPr>
          <a:xfrm>
            <a:off x="3725037" y="4649724"/>
            <a:ext cx="2059686" cy="246888"/>
          </a:xfrm>
          <a:prstGeom prst="rect">
            <a:avLst/>
          </a:prstGeom>
          <a:noFill/>
          <a:ln>
            <a:noFill/>
          </a:ln>
        </p:spPr>
      </p:pic>
      <p:sp>
        <p:nvSpPr>
          <p:cNvPr id="282" name="Google Shape;282;p12"/>
          <p:cNvSpPr/>
          <p:nvPr/>
        </p:nvSpPr>
        <p:spPr>
          <a:xfrm>
            <a:off x="6720840" y="1508760"/>
            <a:ext cx="5010912" cy="4023360"/>
          </a:xfrm>
          <a:prstGeom prst="roundRect">
            <a:avLst>
              <a:gd name="adj" fmla="val 2273"/>
            </a:avLst>
          </a:prstGeom>
          <a:solidFill>
            <a:srgbClr val="0F172A"/>
          </a:solidFill>
          <a:ln w="12700" cap="flat" cmpd="sng">
            <a:solidFill>
              <a:srgbClr val="0F172A"/>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2"/>
          <p:cNvSpPr txBox="1"/>
          <p:nvPr/>
        </p:nvSpPr>
        <p:spPr>
          <a:xfrm>
            <a:off x="6949440" y="1691640"/>
            <a:ext cx="457200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93C5FD"/>
              </a:buClr>
              <a:buSzPts val="1400"/>
              <a:buFont typeface="Calibri"/>
              <a:buNone/>
            </a:pPr>
            <a:r>
              <a:rPr lang="en-US" sz="1400" b="1" i="0" u="none" strike="noStrike" cap="none">
                <a:solidFill>
                  <a:srgbClr val="93C5FD"/>
                </a:solidFill>
                <a:latin typeface="Calibri"/>
                <a:ea typeface="Calibri"/>
                <a:cs typeface="Calibri"/>
                <a:sym typeface="Calibri"/>
              </a:rPr>
              <a:t>The famous equation</a:t>
            </a:r>
            <a:endParaRPr sz="1400" b="0" i="0" u="none" strike="noStrike" cap="none">
              <a:solidFill>
                <a:schemeClr val="dk1"/>
              </a:solidFill>
              <a:latin typeface="Calibri"/>
              <a:ea typeface="Calibri"/>
              <a:cs typeface="Calibri"/>
              <a:sym typeface="Calibri"/>
            </a:endParaRPr>
          </a:p>
        </p:txBody>
      </p:sp>
      <p:pic>
        <p:nvPicPr>
          <p:cNvPr id="284" name="Google Shape;284;p12" descr="Equation"/>
          <p:cNvPicPr preferRelativeResize="0"/>
          <p:nvPr/>
        </p:nvPicPr>
        <p:blipFill rotWithShape="1">
          <a:blip r:embed="rId7">
            <a:alphaModFix/>
          </a:blip>
          <a:srcRect/>
          <a:stretch/>
        </p:blipFill>
        <p:spPr>
          <a:xfrm>
            <a:off x="7131406" y="2289200"/>
            <a:ext cx="4208069" cy="633679"/>
          </a:xfrm>
          <a:prstGeom prst="rect">
            <a:avLst/>
          </a:prstGeom>
          <a:noFill/>
          <a:ln>
            <a:noFill/>
          </a:ln>
        </p:spPr>
      </p:pic>
      <p:sp>
        <p:nvSpPr>
          <p:cNvPr id="285" name="Google Shape;285;p12"/>
          <p:cNvSpPr txBox="1"/>
          <p:nvPr/>
        </p:nvSpPr>
        <p:spPr>
          <a:xfrm>
            <a:off x="6949440" y="3200400"/>
            <a:ext cx="4572000" cy="2194560"/>
          </a:xfrm>
          <a:prstGeom prst="rect">
            <a:avLst/>
          </a:prstGeom>
          <a:noFill/>
          <a:ln>
            <a:noFill/>
          </a:ln>
        </p:spPr>
        <p:txBody>
          <a:bodyPr spcFirstLastPara="1" wrap="square" lIns="750" tIns="750" rIns="750" bIns="750" anchor="t" anchorCtr="0">
            <a:noAutofit/>
          </a:bodyPr>
          <a:lstStyle/>
          <a:p>
            <a:pPr marL="177800" marR="0" lvl="0" indent="-177800" algn="l" rtl="0">
              <a:spcBef>
                <a:spcPts val="0"/>
              </a:spcBef>
              <a:spcAft>
                <a:spcPts val="0"/>
              </a:spcAft>
              <a:buClr>
                <a:srgbClr val="FFFFFF"/>
              </a:buClr>
              <a:buSzPts val="1400"/>
              <a:buFont typeface="Calibri"/>
              <a:buChar char="•"/>
            </a:pPr>
            <a:r>
              <a:rPr lang="en-US" sz="1400" b="1" i="0" u="none" strike="noStrike" cap="none">
                <a:solidFill>
                  <a:srgbClr val="FFFFFF"/>
                </a:solidFill>
                <a:latin typeface="Calibri"/>
                <a:ea typeface="Calibri"/>
                <a:cs typeface="Calibri"/>
                <a:sym typeface="Calibri"/>
              </a:rPr>
              <a:t>n × n</a:t>
            </a:r>
            <a:r>
              <a:rPr lang="en-US" sz="1400" b="0" i="0" u="none" strike="noStrike" cap="none">
                <a:solidFill>
                  <a:srgbClr val="CBD5E1"/>
                </a:solidFill>
                <a:latin typeface="Calibri"/>
                <a:ea typeface="Calibri"/>
                <a:cs typeface="Calibri"/>
                <a:sym typeface="Calibri"/>
              </a:rPr>
              <a:t> score matrix: every token sees every token in one step</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FFFFFF"/>
              </a:buClr>
              <a:buSzPts val="1400"/>
              <a:buFont typeface="Calibri"/>
              <a:buChar char="•"/>
            </a:pPr>
            <a:r>
              <a:rPr lang="en-US" sz="1400" b="1" i="0" u="none" strike="noStrike" cap="none">
                <a:solidFill>
                  <a:srgbClr val="FFFFFF"/>
                </a:solidFill>
                <a:latin typeface="Calibri"/>
                <a:ea typeface="Calibri"/>
                <a:cs typeface="Calibri"/>
                <a:sym typeface="Calibri"/>
              </a:rPr>
              <a:t>No recurrence</a:t>
            </a:r>
            <a:r>
              <a:rPr lang="en-US" sz="1400" b="0" i="0" u="none" strike="noStrike" cap="none">
                <a:solidFill>
                  <a:srgbClr val="CBD5E1"/>
                </a:solidFill>
                <a:latin typeface="Calibri"/>
                <a:ea typeface="Calibri"/>
                <a:cs typeface="Calibri"/>
                <a:sym typeface="Calibri"/>
              </a:rPr>
              <a:t>: a 1,000-word paragraph is one matrix multiply, not 1,000 steps</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FFFFFF"/>
              </a:buClr>
              <a:buSzPts val="1400"/>
              <a:buFont typeface="Calibri"/>
              <a:buChar char="•"/>
            </a:pPr>
            <a:r>
              <a:rPr lang="en-US" sz="1400" b="1" i="0" u="none" strike="noStrike" cap="none">
                <a:solidFill>
                  <a:srgbClr val="FFFFFF"/>
                </a:solidFill>
                <a:latin typeface="Calibri"/>
                <a:ea typeface="Calibri"/>
                <a:cs typeface="Calibri"/>
                <a:sym typeface="Calibri"/>
              </a:rPr>
              <a:t>√dₖ</a:t>
            </a:r>
            <a:r>
              <a:rPr lang="en-US" sz="1400" b="0" i="0" u="none" strike="noStrike" cap="none">
                <a:solidFill>
                  <a:srgbClr val="CBD5E1"/>
                </a:solidFill>
                <a:latin typeface="Calibri"/>
                <a:ea typeface="Calibri"/>
                <a:cs typeface="Calibri"/>
                <a:sym typeface="Calibri"/>
              </a:rPr>
              <a:t> keeps scores well-scaled (Part 2)</a:t>
            </a:r>
            <a:endParaRPr sz="1400" b="0" i="0" u="none" strike="noStrike" cap="none">
              <a:solidFill>
                <a:schemeClr val="dk1"/>
              </a:solidFill>
              <a:latin typeface="Calibri"/>
              <a:ea typeface="Calibri"/>
              <a:cs typeface="Calibri"/>
              <a:sym typeface="Calibri"/>
            </a:endParaRPr>
          </a:p>
        </p:txBody>
      </p:sp>
      <p:sp>
        <p:nvSpPr>
          <p:cNvPr id="286" name="Google Shape;286;p12"/>
          <p:cNvSpPr/>
          <p:nvPr/>
        </p:nvSpPr>
        <p:spPr>
          <a:xfrm>
            <a:off x="457200" y="5715000"/>
            <a:ext cx="11277295" cy="640080"/>
          </a:xfrm>
          <a:prstGeom prst="roundRect">
            <a:avLst>
              <a:gd name="adj" fmla="val 8571"/>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2"/>
          <p:cNvSpPr txBox="1"/>
          <p:nvPr/>
        </p:nvSpPr>
        <p:spPr>
          <a:xfrm>
            <a:off x="594360" y="5751576"/>
            <a:ext cx="11002975" cy="56692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Trade-off:  </a:t>
            </a:r>
            <a:r>
              <a:rPr lang="en-US" sz="1400" b="0" i="0" u="none" strike="noStrike" cap="none">
                <a:solidFill>
                  <a:srgbClr val="334155"/>
                </a:solidFill>
                <a:latin typeface="Calibri"/>
                <a:ea typeface="Calibri"/>
                <a:cs typeface="Calibri"/>
                <a:sym typeface="Calibri"/>
              </a:rPr>
              <a:t>the n × n matrix makes cost grow with the square of length, which is why long-context models (100K+ tokens) need clever engineering.</a:t>
            </a:r>
            <a:endParaRPr sz="1400" b="0" i="0" u="none" strike="noStrike" cap="none">
              <a:solidFill>
                <a:schemeClr val="dk1"/>
              </a:solidFill>
              <a:latin typeface="Calibri"/>
              <a:ea typeface="Calibri"/>
              <a:cs typeface="Calibri"/>
              <a:sym typeface="Calibri"/>
            </a:endParaRPr>
          </a:p>
        </p:txBody>
      </p:sp>
      <p:sp>
        <p:nvSpPr>
          <p:cNvPr id="288" name="Google Shape;288;p12"/>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6</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3"/>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Tiny Self-Attention: Step by Step</a:t>
            </a:r>
            <a:endParaRPr sz="3000"/>
          </a:p>
        </p:txBody>
      </p:sp>
      <p:sp>
        <p:nvSpPr>
          <p:cNvPr id="295" name="Google Shape;295;p13"/>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Two tokens, x₁ = “animal”, x₂ = “it”, d = 2 (√dₖ scaling omitted to keep the numbers simple)</a:t>
            </a:r>
            <a:endParaRPr sz="1500"/>
          </a:p>
        </p:txBody>
      </p:sp>
      <p:sp>
        <p:nvSpPr>
          <p:cNvPr id="296" name="Google Shape;296;p13"/>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1 · SELF-ATTENTION, REVISITED</a:t>
            </a:r>
            <a:endParaRPr sz="1000" b="0" i="0" u="none" strike="noStrike" cap="none">
              <a:solidFill>
                <a:schemeClr val="dk1"/>
              </a:solidFill>
              <a:latin typeface="Calibri"/>
              <a:ea typeface="Calibri"/>
              <a:cs typeface="Calibri"/>
              <a:sym typeface="Calibri"/>
            </a:endParaRPr>
          </a:p>
        </p:txBody>
      </p:sp>
      <p:sp>
        <p:nvSpPr>
          <p:cNvPr id="297" name="Google Shape;297;p13"/>
          <p:cNvSpPr/>
          <p:nvPr/>
        </p:nvSpPr>
        <p:spPr>
          <a:xfrm>
            <a:off x="457200" y="1508760"/>
            <a:ext cx="2679192" cy="3429000"/>
          </a:xfrm>
          <a:prstGeom prst="roundRect">
            <a:avLst>
              <a:gd name="adj" fmla="val 34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3"/>
          <p:cNvSpPr/>
          <p:nvPr/>
        </p:nvSpPr>
        <p:spPr>
          <a:xfrm>
            <a:off x="621792" y="1691640"/>
            <a:ext cx="2350008"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3"/>
          <p:cNvSpPr txBox="1"/>
          <p:nvPr/>
        </p:nvSpPr>
        <p:spPr>
          <a:xfrm>
            <a:off x="621792" y="1691640"/>
            <a:ext cx="235000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 · Inputs</a:t>
            </a:r>
            <a:endParaRPr sz="1200" b="0" i="0" u="none" strike="noStrike" cap="none">
              <a:solidFill>
                <a:schemeClr val="dk1"/>
              </a:solidFill>
              <a:latin typeface="Calibri"/>
              <a:ea typeface="Calibri"/>
              <a:cs typeface="Calibri"/>
              <a:sym typeface="Calibri"/>
            </a:endParaRPr>
          </a:p>
        </p:txBody>
      </p:sp>
      <p:sp>
        <p:nvSpPr>
          <p:cNvPr id="300" name="Google Shape;300;p13"/>
          <p:cNvSpPr/>
          <p:nvPr/>
        </p:nvSpPr>
        <p:spPr>
          <a:xfrm>
            <a:off x="621792" y="2148840"/>
            <a:ext cx="2350008" cy="2606040"/>
          </a:xfrm>
          <a:prstGeom prst="roundRect">
            <a:avLst>
              <a:gd name="adj" fmla="val 233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1" name="Google Shape;301;p13" descr="Equation"/>
          <p:cNvPicPr preferRelativeResize="0"/>
          <p:nvPr/>
        </p:nvPicPr>
        <p:blipFill rotWithShape="1">
          <a:blip r:embed="rId3">
            <a:alphaModFix/>
          </a:blip>
          <a:srcRect/>
          <a:stretch/>
        </p:blipFill>
        <p:spPr>
          <a:xfrm>
            <a:off x="1122426" y="2620899"/>
            <a:ext cx="1348740" cy="1661922"/>
          </a:xfrm>
          <a:prstGeom prst="rect">
            <a:avLst/>
          </a:prstGeom>
          <a:noFill/>
          <a:ln>
            <a:noFill/>
          </a:ln>
        </p:spPr>
      </p:pic>
      <p:sp>
        <p:nvSpPr>
          <p:cNvPr id="302" name="Google Shape;302;p13"/>
          <p:cNvSpPr txBox="1"/>
          <p:nvPr/>
        </p:nvSpPr>
        <p:spPr>
          <a:xfrm>
            <a:off x="3118104" y="2926080"/>
            <a:ext cx="21945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600"/>
              <a:buFont typeface="Calibri"/>
              <a:buNone/>
            </a:pPr>
            <a:r>
              <a:rPr lang="en-US" sz="1600" b="0" i="0" u="none" strike="noStrike" cap="none">
                <a:solidFill>
                  <a:srgbClr val="64748B"/>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303" name="Google Shape;303;p13"/>
          <p:cNvSpPr/>
          <p:nvPr/>
        </p:nvSpPr>
        <p:spPr>
          <a:xfrm>
            <a:off x="3319272" y="1508760"/>
            <a:ext cx="2679192" cy="3429000"/>
          </a:xfrm>
          <a:prstGeom prst="roundRect">
            <a:avLst>
              <a:gd name="adj" fmla="val 34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3"/>
          <p:cNvSpPr/>
          <p:nvPr/>
        </p:nvSpPr>
        <p:spPr>
          <a:xfrm>
            <a:off x="3483864" y="1691640"/>
            <a:ext cx="2350008"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3"/>
          <p:cNvSpPr txBox="1"/>
          <p:nvPr/>
        </p:nvSpPr>
        <p:spPr>
          <a:xfrm>
            <a:off x="3483864" y="1691640"/>
            <a:ext cx="235000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2 · Scores</a:t>
            </a:r>
            <a:endParaRPr sz="1200" b="0" i="0" u="none" strike="noStrike" cap="none">
              <a:solidFill>
                <a:schemeClr val="dk1"/>
              </a:solidFill>
              <a:latin typeface="Calibri"/>
              <a:ea typeface="Calibri"/>
              <a:cs typeface="Calibri"/>
              <a:sym typeface="Calibri"/>
            </a:endParaRPr>
          </a:p>
        </p:txBody>
      </p:sp>
      <p:sp>
        <p:nvSpPr>
          <p:cNvPr id="306" name="Google Shape;306;p13"/>
          <p:cNvSpPr/>
          <p:nvPr/>
        </p:nvSpPr>
        <p:spPr>
          <a:xfrm>
            <a:off x="3483864" y="2148840"/>
            <a:ext cx="2350008" cy="2606040"/>
          </a:xfrm>
          <a:prstGeom prst="roundRect">
            <a:avLst>
              <a:gd name="adj" fmla="val 233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 name="Google Shape;307;p13" descr="Equation"/>
          <p:cNvPicPr preferRelativeResize="0"/>
          <p:nvPr/>
        </p:nvPicPr>
        <p:blipFill rotWithShape="1">
          <a:blip r:embed="rId4">
            <a:alphaModFix/>
          </a:blip>
          <a:srcRect/>
          <a:stretch/>
        </p:blipFill>
        <p:spPr>
          <a:xfrm>
            <a:off x="3755898" y="2625471"/>
            <a:ext cx="1805940" cy="1652778"/>
          </a:xfrm>
          <a:prstGeom prst="rect">
            <a:avLst/>
          </a:prstGeom>
          <a:noFill/>
          <a:ln>
            <a:noFill/>
          </a:ln>
        </p:spPr>
      </p:pic>
      <p:sp>
        <p:nvSpPr>
          <p:cNvPr id="308" name="Google Shape;308;p13"/>
          <p:cNvSpPr txBox="1"/>
          <p:nvPr/>
        </p:nvSpPr>
        <p:spPr>
          <a:xfrm>
            <a:off x="5980176" y="2926080"/>
            <a:ext cx="21945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600"/>
              <a:buFont typeface="Calibri"/>
              <a:buNone/>
            </a:pPr>
            <a:r>
              <a:rPr lang="en-US" sz="1600" b="0" i="0" u="none" strike="noStrike" cap="none">
                <a:solidFill>
                  <a:srgbClr val="64748B"/>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309" name="Google Shape;309;p13"/>
          <p:cNvSpPr/>
          <p:nvPr/>
        </p:nvSpPr>
        <p:spPr>
          <a:xfrm>
            <a:off x="6181344" y="1508760"/>
            <a:ext cx="2679192" cy="3429000"/>
          </a:xfrm>
          <a:prstGeom prst="roundRect">
            <a:avLst>
              <a:gd name="adj" fmla="val 34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3"/>
          <p:cNvSpPr/>
          <p:nvPr/>
        </p:nvSpPr>
        <p:spPr>
          <a:xfrm>
            <a:off x="6345936" y="1691640"/>
            <a:ext cx="2350008"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3"/>
          <p:cNvSpPr txBox="1"/>
          <p:nvPr/>
        </p:nvSpPr>
        <p:spPr>
          <a:xfrm>
            <a:off x="6345936" y="1691640"/>
            <a:ext cx="235000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 · Softmax (row-wise)</a:t>
            </a:r>
            <a:endParaRPr sz="1200" b="0" i="0" u="none" strike="noStrike" cap="none">
              <a:solidFill>
                <a:schemeClr val="dk1"/>
              </a:solidFill>
              <a:latin typeface="Calibri"/>
              <a:ea typeface="Calibri"/>
              <a:cs typeface="Calibri"/>
              <a:sym typeface="Calibri"/>
            </a:endParaRPr>
          </a:p>
        </p:txBody>
      </p:sp>
      <p:sp>
        <p:nvSpPr>
          <p:cNvPr id="312" name="Google Shape;312;p13"/>
          <p:cNvSpPr/>
          <p:nvPr/>
        </p:nvSpPr>
        <p:spPr>
          <a:xfrm>
            <a:off x="6345936" y="2148840"/>
            <a:ext cx="2350008" cy="2606040"/>
          </a:xfrm>
          <a:prstGeom prst="roundRect">
            <a:avLst>
              <a:gd name="adj" fmla="val 233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3" name="Google Shape;313;p13" descr="Equation"/>
          <p:cNvPicPr preferRelativeResize="0"/>
          <p:nvPr/>
        </p:nvPicPr>
        <p:blipFill rotWithShape="1">
          <a:blip r:embed="rId5">
            <a:alphaModFix/>
          </a:blip>
          <a:srcRect/>
          <a:stretch/>
        </p:blipFill>
        <p:spPr>
          <a:xfrm>
            <a:off x="6437376" y="2815346"/>
            <a:ext cx="2167128" cy="1273028"/>
          </a:xfrm>
          <a:prstGeom prst="rect">
            <a:avLst/>
          </a:prstGeom>
          <a:noFill/>
          <a:ln>
            <a:noFill/>
          </a:ln>
        </p:spPr>
      </p:pic>
      <p:sp>
        <p:nvSpPr>
          <p:cNvPr id="314" name="Google Shape;314;p13"/>
          <p:cNvSpPr txBox="1"/>
          <p:nvPr/>
        </p:nvSpPr>
        <p:spPr>
          <a:xfrm>
            <a:off x="8842248" y="2926080"/>
            <a:ext cx="21945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600"/>
              <a:buFont typeface="Calibri"/>
              <a:buNone/>
            </a:pPr>
            <a:r>
              <a:rPr lang="en-US" sz="1600" b="0" i="0" u="none" strike="noStrike" cap="none">
                <a:solidFill>
                  <a:srgbClr val="64748B"/>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315" name="Google Shape;315;p13"/>
          <p:cNvSpPr/>
          <p:nvPr/>
        </p:nvSpPr>
        <p:spPr>
          <a:xfrm>
            <a:off x="9043416" y="1508760"/>
            <a:ext cx="2679192" cy="3429000"/>
          </a:xfrm>
          <a:prstGeom prst="roundRect">
            <a:avLst>
              <a:gd name="adj" fmla="val 34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3"/>
          <p:cNvSpPr/>
          <p:nvPr/>
        </p:nvSpPr>
        <p:spPr>
          <a:xfrm>
            <a:off x="9208008" y="1691640"/>
            <a:ext cx="2350008" cy="310896"/>
          </a:xfrm>
          <a:prstGeom prst="roundRect">
            <a:avLst>
              <a:gd name="adj" fmla="val 23529"/>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3"/>
          <p:cNvSpPr txBox="1"/>
          <p:nvPr/>
        </p:nvSpPr>
        <p:spPr>
          <a:xfrm>
            <a:off x="9208008" y="1691640"/>
            <a:ext cx="235000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4 · Output = AV</a:t>
            </a:r>
            <a:endParaRPr sz="1200" b="0" i="0" u="none" strike="noStrike" cap="none">
              <a:solidFill>
                <a:schemeClr val="dk1"/>
              </a:solidFill>
              <a:latin typeface="Calibri"/>
              <a:ea typeface="Calibri"/>
              <a:cs typeface="Calibri"/>
              <a:sym typeface="Calibri"/>
            </a:endParaRPr>
          </a:p>
        </p:txBody>
      </p:sp>
      <p:sp>
        <p:nvSpPr>
          <p:cNvPr id="318" name="Google Shape;318;p13"/>
          <p:cNvSpPr/>
          <p:nvPr/>
        </p:nvSpPr>
        <p:spPr>
          <a:xfrm>
            <a:off x="9208008" y="2148840"/>
            <a:ext cx="2350008" cy="2606040"/>
          </a:xfrm>
          <a:prstGeom prst="roundRect">
            <a:avLst>
              <a:gd name="adj" fmla="val 233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9" name="Google Shape;319;p13" descr="Equation"/>
          <p:cNvPicPr preferRelativeResize="0"/>
          <p:nvPr/>
        </p:nvPicPr>
        <p:blipFill rotWithShape="1">
          <a:blip r:embed="rId6">
            <a:alphaModFix/>
          </a:blip>
          <a:srcRect/>
          <a:stretch/>
        </p:blipFill>
        <p:spPr>
          <a:xfrm>
            <a:off x="9299448" y="2898186"/>
            <a:ext cx="2167128" cy="1107347"/>
          </a:xfrm>
          <a:prstGeom prst="rect">
            <a:avLst/>
          </a:prstGeom>
          <a:noFill/>
          <a:ln>
            <a:noFill/>
          </a:ln>
        </p:spPr>
      </p:pic>
      <p:sp>
        <p:nvSpPr>
          <p:cNvPr id="320" name="Google Shape;320;p13"/>
          <p:cNvSpPr/>
          <p:nvPr/>
        </p:nvSpPr>
        <p:spPr>
          <a:xfrm>
            <a:off x="457200" y="5120640"/>
            <a:ext cx="11277295" cy="749808"/>
          </a:xfrm>
          <a:prstGeom prst="roundRect">
            <a:avLst>
              <a:gd name="adj" fmla="val 7317"/>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3"/>
          <p:cNvSpPr txBox="1"/>
          <p:nvPr/>
        </p:nvSpPr>
        <p:spPr>
          <a:xfrm>
            <a:off x="594360" y="5157216"/>
            <a:ext cx="11002975" cy="67665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Read the result:  </a:t>
            </a:r>
            <a:r>
              <a:rPr lang="en-US" sz="1400" b="0" i="1" u="none" strike="noStrike" cap="none">
                <a:solidFill>
                  <a:srgbClr val="7C3E0A"/>
                </a:solidFill>
                <a:latin typeface="Calibri"/>
                <a:ea typeface="Calibri"/>
                <a:cs typeface="Calibri"/>
                <a:sym typeface="Calibri"/>
              </a:rPr>
              <a:t>“it” started as [0, 1] but its output now carries 0.27 of “animal” in the second slot. That borrowed meaning is exactly what lets the model resolve the pronoun.</a:t>
            </a:r>
            <a:endParaRPr sz="1400" b="0" i="0" u="none" strike="noStrike" cap="none">
              <a:solidFill>
                <a:schemeClr val="dk1"/>
              </a:solidFill>
              <a:latin typeface="Calibri"/>
              <a:ea typeface="Calibri"/>
              <a:cs typeface="Calibri"/>
              <a:sym typeface="Calibri"/>
            </a:endParaRPr>
          </a:p>
        </p:txBody>
      </p:sp>
      <p:sp>
        <p:nvSpPr>
          <p:cNvPr id="322" name="Google Shape;322;p13"/>
          <p:cNvSpPr txBox="1"/>
          <p:nvPr/>
        </p:nvSpPr>
        <p:spPr>
          <a:xfrm>
            <a:off x="457200" y="5989320"/>
            <a:ext cx="11277295" cy="27432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64748B"/>
              </a:buClr>
              <a:buSzPts val="1200"/>
              <a:buFont typeface="Calibri"/>
              <a:buNone/>
            </a:pPr>
            <a:r>
              <a:rPr lang="en-US" sz="1200" b="0" i="1" u="none" strike="noStrike" cap="none">
                <a:solidFill>
                  <a:srgbClr val="64748B"/>
                </a:solidFill>
                <a:latin typeface="Calibri"/>
                <a:ea typeface="Calibri"/>
                <a:cs typeface="Calibri"/>
                <a:sym typeface="Calibri"/>
              </a:rPr>
              <a:t>Try changing the value matrix on paper after class: the attention weights stay the same, only what gets mixed changes.</a:t>
            </a:r>
            <a:endParaRPr sz="1200" b="0" i="0" u="none" strike="noStrike" cap="none">
              <a:solidFill>
                <a:schemeClr val="dk1"/>
              </a:solidFill>
              <a:latin typeface="Calibri"/>
              <a:ea typeface="Calibri"/>
              <a:cs typeface="Calibri"/>
              <a:sym typeface="Calibri"/>
            </a:endParaRPr>
          </a:p>
        </p:txBody>
      </p:sp>
      <p:sp>
        <p:nvSpPr>
          <p:cNvPr id="323" name="Google Shape;323;p13"/>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7</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16"/>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The Feed-Forward Layer: Adding Thinking Time</a:t>
            </a:r>
            <a:endParaRPr sz="3000"/>
          </a:p>
        </p:txBody>
      </p:sp>
      <p:sp>
        <p:nvSpPr>
          <p:cNvPr id="401" name="Google Shape;401;p16"/>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Attention mixes information; the FFN transforms it</a:t>
            </a:r>
            <a:endParaRPr sz="1500"/>
          </a:p>
        </p:txBody>
      </p:sp>
      <p:sp>
        <p:nvSpPr>
          <p:cNvPr id="402" name="Google Shape;402;p16"/>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2 · MAKING IT DEEP</a:t>
            </a:r>
            <a:endParaRPr sz="1000" b="0" i="0" u="none" strike="noStrike" cap="none">
              <a:solidFill>
                <a:schemeClr val="dk1"/>
              </a:solidFill>
              <a:latin typeface="Calibri"/>
              <a:ea typeface="Calibri"/>
              <a:cs typeface="Calibri"/>
              <a:sym typeface="Calibri"/>
            </a:endParaRPr>
          </a:p>
        </p:txBody>
      </p:sp>
      <p:sp>
        <p:nvSpPr>
          <p:cNvPr id="403" name="Google Shape;403;p16"/>
          <p:cNvSpPr/>
          <p:nvPr/>
        </p:nvSpPr>
        <p:spPr>
          <a:xfrm>
            <a:off x="457200" y="1508760"/>
            <a:ext cx="5623560" cy="3931920"/>
          </a:xfrm>
          <a:prstGeom prst="roundRect">
            <a:avLst>
              <a:gd name="adj" fmla="val 232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a:off x="640080" y="1691640"/>
            <a:ext cx="1737360" cy="310896"/>
          </a:xfrm>
          <a:prstGeom prst="roundRect">
            <a:avLst>
              <a:gd name="adj" fmla="val 23529"/>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txBox="1"/>
          <p:nvPr/>
        </p:nvSpPr>
        <p:spPr>
          <a:xfrm>
            <a:off x="640080" y="1691640"/>
            <a:ext cx="17373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The problem</a:t>
            </a:r>
            <a:endParaRPr sz="1200" b="0" i="0" u="none" strike="noStrike" cap="none">
              <a:solidFill>
                <a:schemeClr val="dk1"/>
              </a:solidFill>
              <a:latin typeface="Calibri"/>
              <a:ea typeface="Calibri"/>
              <a:cs typeface="Calibri"/>
              <a:sym typeface="Calibri"/>
            </a:endParaRPr>
          </a:p>
        </p:txBody>
      </p:sp>
      <p:sp>
        <p:nvSpPr>
          <p:cNvPr id="406" name="Google Shape;406;p16"/>
          <p:cNvSpPr txBox="1"/>
          <p:nvPr/>
        </p:nvSpPr>
        <p:spPr>
          <a:xfrm>
            <a:off x="640080" y="2103120"/>
            <a:ext cx="5257800" cy="12344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Self-attention only </a:t>
            </a:r>
            <a:r>
              <a:rPr lang="en-US" sz="1500" b="1" i="0" u="none" strike="noStrike" cap="none">
                <a:solidFill>
                  <a:srgbClr val="334155"/>
                </a:solidFill>
                <a:latin typeface="Calibri"/>
                <a:ea typeface="Calibri"/>
                <a:cs typeface="Calibri"/>
                <a:sym typeface="Calibri"/>
              </a:rPr>
              <a:t>re-averages</a:t>
            </a:r>
            <a:r>
              <a:rPr lang="en-US" sz="1500" b="0" i="0" u="none" strike="noStrike" cap="none">
                <a:solidFill>
                  <a:srgbClr val="334155"/>
                </a:solidFill>
                <a:latin typeface="Calibri"/>
                <a:ea typeface="Calibri"/>
                <a:cs typeface="Calibri"/>
                <a:sym typeface="Calibri"/>
              </a:rPr>
              <a:t> value vectors. A weighted average of linear projections is still linear in the values, so stacking it adds little expressive power.</a:t>
            </a:r>
            <a:endParaRPr sz="1500" b="0" i="0" u="none" strike="noStrike" cap="none">
              <a:solidFill>
                <a:schemeClr val="dk1"/>
              </a:solidFill>
              <a:latin typeface="Calibri"/>
              <a:ea typeface="Calibri"/>
              <a:cs typeface="Calibri"/>
              <a:sym typeface="Calibri"/>
            </a:endParaRPr>
          </a:p>
        </p:txBody>
      </p:sp>
      <p:sp>
        <p:nvSpPr>
          <p:cNvPr id="407" name="Google Shape;407;p16"/>
          <p:cNvSpPr/>
          <p:nvPr/>
        </p:nvSpPr>
        <p:spPr>
          <a:xfrm>
            <a:off x="640080" y="3429000"/>
            <a:ext cx="1737360" cy="310896"/>
          </a:xfrm>
          <a:prstGeom prst="roundRect">
            <a:avLst>
              <a:gd name="adj" fmla="val 23529"/>
            </a:avLst>
          </a:prstGeom>
          <a:solidFill>
            <a:srgbClr val="15803D"/>
          </a:solidFill>
          <a:ln w="9525" cap="flat" cmpd="sng">
            <a:solidFill>
              <a:srgbClr val="1580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6"/>
          <p:cNvSpPr txBox="1"/>
          <p:nvPr/>
        </p:nvSpPr>
        <p:spPr>
          <a:xfrm>
            <a:off x="640080" y="3429000"/>
            <a:ext cx="17373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The fix</a:t>
            </a:r>
            <a:endParaRPr sz="1200" b="0" i="0" u="none" strike="noStrike" cap="none">
              <a:solidFill>
                <a:schemeClr val="dk1"/>
              </a:solidFill>
              <a:latin typeface="Calibri"/>
              <a:ea typeface="Calibri"/>
              <a:cs typeface="Calibri"/>
              <a:sym typeface="Calibri"/>
            </a:endParaRPr>
          </a:p>
        </p:txBody>
      </p:sp>
      <p:sp>
        <p:nvSpPr>
          <p:cNvPr id="409" name="Google Shape;409;p16"/>
          <p:cNvSpPr txBox="1"/>
          <p:nvPr/>
        </p:nvSpPr>
        <p:spPr>
          <a:xfrm>
            <a:off x="640080" y="3840480"/>
            <a:ext cx="5257800" cy="8229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Apply the same small MLP to </a:t>
            </a:r>
            <a:r>
              <a:rPr lang="en-US" sz="1500" b="1" i="0" u="none" strike="noStrike" cap="none">
                <a:solidFill>
                  <a:srgbClr val="334155"/>
                </a:solidFill>
                <a:latin typeface="Calibri"/>
                <a:ea typeface="Calibri"/>
                <a:cs typeface="Calibri"/>
                <a:sym typeface="Calibri"/>
              </a:rPr>
              <a:t>every token independently</a:t>
            </a:r>
            <a:r>
              <a:rPr lang="en-US" sz="1500" b="0" i="0" u="none" strike="noStrike" cap="none">
                <a:solidFill>
                  <a:srgbClr val="334155"/>
                </a:solidFill>
                <a:latin typeface="Calibri"/>
                <a:ea typeface="Calibri"/>
                <a:cs typeface="Calibri"/>
                <a:sym typeface="Calibri"/>
              </a:rPr>
              <a:t> after attention, with a ReLU in the middle.</a:t>
            </a:r>
            <a:endParaRPr sz="1500" b="0" i="0" u="none" strike="noStrike" cap="none">
              <a:solidFill>
                <a:schemeClr val="dk1"/>
              </a:solidFill>
              <a:latin typeface="Calibri"/>
              <a:ea typeface="Calibri"/>
              <a:cs typeface="Calibri"/>
              <a:sym typeface="Calibri"/>
            </a:endParaRPr>
          </a:p>
        </p:txBody>
      </p:sp>
      <p:sp>
        <p:nvSpPr>
          <p:cNvPr id="410" name="Google Shape;410;p16"/>
          <p:cNvSpPr/>
          <p:nvPr/>
        </p:nvSpPr>
        <p:spPr>
          <a:xfrm>
            <a:off x="640080" y="4709160"/>
            <a:ext cx="5257800" cy="566928"/>
          </a:xfrm>
          <a:prstGeom prst="roundRect">
            <a:avLst>
              <a:gd name="adj" fmla="val 9677"/>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1" name="Google Shape;411;p16" descr="Equation"/>
          <p:cNvPicPr preferRelativeResize="0"/>
          <p:nvPr/>
        </p:nvPicPr>
        <p:blipFill rotWithShape="1">
          <a:blip r:embed="rId3">
            <a:alphaModFix/>
          </a:blip>
          <a:srcRect/>
          <a:stretch/>
        </p:blipFill>
        <p:spPr>
          <a:xfrm>
            <a:off x="1421740" y="4852721"/>
            <a:ext cx="3694481" cy="279806"/>
          </a:xfrm>
          <a:prstGeom prst="rect">
            <a:avLst/>
          </a:prstGeom>
          <a:noFill/>
          <a:ln>
            <a:noFill/>
          </a:ln>
        </p:spPr>
      </p:pic>
      <p:sp>
        <p:nvSpPr>
          <p:cNvPr id="412" name="Google Shape;412;p16"/>
          <p:cNvSpPr/>
          <p:nvPr/>
        </p:nvSpPr>
        <p:spPr>
          <a:xfrm>
            <a:off x="6309360" y="1508760"/>
            <a:ext cx="5422392" cy="3931920"/>
          </a:xfrm>
          <a:prstGeom prst="roundRect">
            <a:avLst>
              <a:gd name="adj" fmla="val 2326"/>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6"/>
          <p:cNvSpPr txBox="1"/>
          <p:nvPr/>
        </p:nvSpPr>
        <p:spPr>
          <a:xfrm>
            <a:off x="6537960" y="1691640"/>
            <a:ext cx="493776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700"/>
              <a:buFont typeface="Calibri"/>
              <a:buNone/>
            </a:pPr>
            <a:r>
              <a:rPr lang="en-US" sz="1700" b="1" i="0" u="none" strike="noStrike" cap="none">
                <a:solidFill>
                  <a:srgbClr val="0F766E"/>
                </a:solidFill>
                <a:latin typeface="Calibri"/>
                <a:ea typeface="Calibri"/>
                <a:cs typeface="Calibri"/>
                <a:sym typeface="Calibri"/>
              </a:rPr>
              <a:t>Classroom analogy</a:t>
            </a:r>
            <a:endParaRPr sz="1700" b="0" i="0" u="none" strike="noStrike" cap="none">
              <a:solidFill>
                <a:schemeClr val="dk1"/>
              </a:solidFill>
              <a:latin typeface="Calibri"/>
              <a:ea typeface="Calibri"/>
              <a:cs typeface="Calibri"/>
              <a:sym typeface="Calibri"/>
            </a:endParaRPr>
          </a:p>
        </p:txBody>
      </p:sp>
      <p:sp>
        <p:nvSpPr>
          <p:cNvPr id="414" name="Google Shape;414;p16"/>
          <p:cNvSpPr/>
          <p:nvPr/>
        </p:nvSpPr>
        <p:spPr>
          <a:xfrm>
            <a:off x="6537960" y="2304288"/>
            <a:ext cx="384048" cy="384048"/>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6"/>
          <p:cNvSpPr txBox="1"/>
          <p:nvPr/>
        </p:nvSpPr>
        <p:spPr>
          <a:xfrm>
            <a:off x="6537960" y="2304288"/>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416" name="Google Shape;416;p16"/>
          <p:cNvSpPr txBox="1"/>
          <p:nvPr/>
        </p:nvSpPr>
        <p:spPr>
          <a:xfrm>
            <a:off x="7086600" y="2194560"/>
            <a:ext cx="4480560" cy="9601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Attention</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Group discussion: every student hears everyone and collects relevant points.</a:t>
            </a:r>
            <a:endParaRPr sz="1400" b="0" i="0" u="none" strike="noStrike" cap="none">
              <a:solidFill>
                <a:schemeClr val="dk1"/>
              </a:solidFill>
              <a:latin typeface="Calibri"/>
              <a:ea typeface="Calibri"/>
              <a:cs typeface="Calibri"/>
              <a:sym typeface="Calibri"/>
            </a:endParaRPr>
          </a:p>
        </p:txBody>
      </p:sp>
      <p:sp>
        <p:nvSpPr>
          <p:cNvPr id="417" name="Google Shape;417;p16"/>
          <p:cNvSpPr/>
          <p:nvPr/>
        </p:nvSpPr>
        <p:spPr>
          <a:xfrm>
            <a:off x="6537960" y="3328416"/>
            <a:ext cx="384048" cy="384048"/>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6"/>
          <p:cNvSpPr txBox="1"/>
          <p:nvPr/>
        </p:nvSpPr>
        <p:spPr>
          <a:xfrm>
            <a:off x="6537960" y="3328416"/>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419" name="Google Shape;419;p16"/>
          <p:cNvSpPr txBox="1"/>
          <p:nvPr/>
        </p:nvSpPr>
        <p:spPr>
          <a:xfrm>
            <a:off x="7086600" y="3218688"/>
            <a:ext cx="4480560" cy="9601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Feed-forward</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Silent thinking: each student, alone, turns those notes into their own understanding.</a:t>
            </a:r>
            <a:endParaRPr sz="1400" b="0" i="0" u="none" strike="noStrike" cap="none">
              <a:solidFill>
                <a:schemeClr val="dk1"/>
              </a:solidFill>
              <a:latin typeface="Calibri"/>
              <a:ea typeface="Calibri"/>
              <a:cs typeface="Calibri"/>
              <a:sym typeface="Calibri"/>
            </a:endParaRPr>
          </a:p>
        </p:txBody>
      </p:sp>
      <p:sp>
        <p:nvSpPr>
          <p:cNvPr id="420" name="Google Shape;420;p16"/>
          <p:cNvSpPr/>
          <p:nvPr/>
        </p:nvSpPr>
        <p:spPr>
          <a:xfrm>
            <a:off x="6537960" y="4352544"/>
            <a:ext cx="384048" cy="384048"/>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6"/>
          <p:cNvSpPr txBox="1"/>
          <p:nvPr/>
        </p:nvSpPr>
        <p:spPr>
          <a:xfrm>
            <a:off x="6537960" y="4352544"/>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422" name="Google Shape;422;p16"/>
          <p:cNvSpPr txBox="1"/>
          <p:nvPr/>
        </p:nvSpPr>
        <p:spPr>
          <a:xfrm>
            <a:off x="7086600" y="4242816"/>
            <a:ext cx="4480560" cy="9601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Repeat × N</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Discuss, think, discuss, think… six times in the original Transformer.</a:t>
            </a:r>
            <a:endParaRPr sz="1400" b="0" i="0" u="none" strike="noStrike" cap="none">
              <a:solidFill>
                <a:schemeClr val="dk1"/>
              </a:solidFill>
              <a:latin typeface="Calibri"/>
              <a:ea typeface="Calibri"/>
              <a:cs typeface="Calibri"/>
              <a:sym typeface="Calibri"/>
            </a:endParaRPr>
          </a:p>
        </p:txBody>
      </p:sp>
      <p:sp>
        <p:nvSpPr>
          <p:cNvPr id="423" name="Google Shape;423;p16"/>
          <p:cNvSpPr/>
          <p:nvPr/>
        </p:nvSpPr>
        <p:spPr>
          <a:xfrm>
            <a:off x="457200" y="5623560"/>
            <a:ext cx="11277295" cy="658368"/>
          </a:xfrm>
          <a:prstGeom prst="roundRect">
            <a:avLst>
              <a:gd name="adj" fmla="val 8333"/>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6"/>
          <p:cNvSpPr txBox="1"/>
          <p:nvPr/>
        </p:nvSpPr>
        <p:spPr>
          <a:xfrm>
            <a:off x="594360" y="5660136"/>
            <a:ext cx="11002975" cy="58521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Size check:  </a:t>
            </a:r>
            <a:r>
              <a:rPr lang="en-US" sz="1400" b="0" i="1" u="none" strike="noStrike" cap="none">
                <a:solidFill>
                  <a:srgbClr val="7C3E0A"/>
                </a:solidFill>
                <a:latin typeface="Calibri"/>
                <a:ea typeface="Calibri"/>
                <a:cs typeface="Calibri"/>
                <a:sym typeface="Calibri"/>
              </a:rPr>
              <a:t>in the original model d = 512 and the FFN hidden layer has 2,048 units (4×). Roughly two-thirds of a Transformer's parameters live in these FFN layers.</a:t>
            </a:r>
            <a:endParaRPr sz="1400" b="0" i="0" u="none" strike="noStrike" cap="none">
              <a:solidFill>
                <a:schemeClr val="dk1"/>
              </a:solidFill>
              <a:latin typeface="Calibri"/>
              <a:ea typeface="Calibri"/>
              <a:cs typeface="Calibri"/>
              <a:sym typeface="Calibri"/>
            </a:endParaRPr>
          </a:p>
        </p:txBody>
      </p:sp>
      <p:sp>
        <p:nvSpPr>
          <p:cNvPr id="425" name="Google Shape;425;p16"/>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8</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17"/>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Where Is the Non-Linearity in a Transformer?</a:t>
            </a:r>
            <a:endParaRPr sz="3000"/>
          </a:p>
        </p:txBody>
      </p:sp>
      <p:sp>
        <p:nvSpPr>
          <p:cNvPr id="432" name="Google Shape;432;p17"/>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Most of the block is matrix multiplication; only three places bend the function</a:t>
            </a:r>
            <a:endParaRPr sz="1500"/>
          </a:p>
        </p:txBody>
      </p:sp>
      <p:sp>
        <p:nvSpPr>
          <p:cNvPr id="433" name="Google Shape;433;p17"/>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2 · MAKING IT DEEP</a:t>
            </a:r>
            <a:endParaRPr sz="1000" b="0" i="0" u="none" strike="noStrike" cap="none">
              <a:solidFill>
                <a:schemeClr val="dk1"/>
              </a:solidFill>
              <a:latin typeface="Calibri"/>
              <a:ea typeface="Calibri"/>
              <a:cs typeface="Calibri"/>
              <a:sym typeface="Calibri"/>
            </a:endParaRPr>
          </a:p>
        </p:txBody>
      </p:sp>
      <p:sp>
        <p:nvSpPr>
          <p:cNvPr id="434" name="Google Shape;434;p17"/>
          <p:cNvSpPr/>
          <p:nvPr/>
        </p:nvSpPr>
        <p:spPr>
          <a:xfrm>
            <a:off x="457200" y="1554480"/>
            <a:ext cx="1261872"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7"/>
          <p:cNvSpPr txBox="1"/>
          <p:nvPr/>
        </p:nvSpPr>
        <p:spPr>
          <a:xfrm>
            <a:off x="457200" y="1554480"/>
            <a:ext cx="1261872"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334155"/>
              </a:buClr>
              <a:buSzPts val="1350"/>
              <a:buFont typeface="Calibri"/>
              <a:buNone/>
            </a:pPr>
            <a:r>
              <a:rPr lang="en-US" sz="1350" b="0" i="0" u="none" strike="noStrike" cap="none">
                <a:solidFill>
                  <a:srgbClr val="334155"/>
                </a:solidFill>
                <a:latin typeface="Calibri"/>
                <a:ea typeface="Calibri"/>
                <a:cs typeface="Calibri"/>
                <a:sym typeface="Calibri"/>
              </a:rPr>
              <a:t>Input x</a:t>
            </a:r>
            <a:endParaRPr sz="1350" b="0" i="0" u="none" strike="noStrike" cap="none">
              <a:solidFill>
                <a:schemeClr val="dk1"/>
              </a:solidFill>
              <a:latin typeface="Calibri"/>
              <a:ea typeface="Calibri"/>
              <a:cs typeface="Calibri"/>
              <a:sym typeface="Calibri"/>
            </a:endParaRPr>
          </a:p>
        </p:txBody>
      </p:sp>
      <p:sp>
        <p:nvSpPr>
          <p:cNvPr id="436" name="Google Shape;436;p17"/>
          <p:cNvSpPr txBox="1"/>
          <p:nvPr/>
        </p:nvSpPr>
        <p:spPr>
          <a:xfrm>
            <a:off x="1700784" y="1719072"/>
            <a:ext cx="19202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437" name="Google Shape;437;p17"/>
          <p:cNvSpPr/>
          <p:nvPr/>
        </p:nvSpPr>
        <p:spPr>
          <a:xfrm>
            <a:off x="1874520" y="1554480"/>
            <a:ext cx="1261872"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7"/>
          <p:cNvSpPr txBox="1"/>
          <p:nvPr/>
        </p:nvSpPr>
        <p:spPr>
          <a:xfrm>
            <a:off x="1874520" y="1554480"/>
            <a:ext cx="1261872"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334155"/>
              </a:buClr>
              <a:buSzPts val="1350"/>
              <a:buFont typeface="Calibri"/>
              <a:buNone/>
            </a:pPr>
            <a:r>
              <a:rPr lang="en-US" sz="1350" b="0" i="0" u="none" strike="noStrike" cap="none">
                <a:solidFill>
                  <a:srgbClr val="334155"/>
                </a:solidFill>
                <a:latin typeface="Calibri"/>
                <a:ea typeface="Calibri"/>
                <a:cs typeface="Calibri"/>
                <a:sym typeface="Calibri"/>
              </a:rPr>
              <a:t>Q, K, V proj.</a:t>
            </a:r>
            <a:endParaRPr sz="1350" b="0" i="0" u="none" strike="noStrike" cap="none">
              <a:solidFill>
                <a:schemeClr val="dk1"/>
              </a:solidFill>
              <a:latin typeface="Calibri"/>
              <a:ea typeface="Calibri"/>
              <a:cs typeface="Calibri"/>
              <a:sym typeface="Calibri"/>
            </a:endParaRPr>
          </a:p>
        </p:txBody>
      </p:sp>
      <p:sp>
        <p:nvSpPr>
          <p:cNvPr id="439" name="Google Shape;439;p17"/>
          <p:cNvSpPr txBox="1"/>
          <p:nvPr/>
        </p:nvSpPr>
        <p:spPr>
          <a:xfrm>
            <a:off x="3118104" y="1719072"/>
            <a:ext cx="19202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440" name="Google Shape;440;p17"/>
          <p:cNvSpPr/>
          <p:nvPr/>
        </p:nvSpPr>
        <p:spPr>
          <a:xfrm>
            <a:off x="3291840" y="1554480"/>
            <a:ext cx="1261872" cy="777240"/>
          </a:xfrm>
          <a:prstGeom prst="roundRect">
            <a:avLst>
              <a:gd name="adj" fmla="val 9412"/>
            </a:avLst>
          </a:prstGeom>
          <a:solidFill>
            <a:srgbClr val="FDF0E6"/>
          </a:solidFill>
          <a:ln w="12700" cap="flat" cmpd="sng">
            <a:solidFill>
              <a:srgbClr val="F2B4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7"/>
          <p:cNvSpPr txBox="1"/>
          <p:nvPr/>
        </p:nvSpPr>
        <p:spPr>
          <a:xfrm>
            <a:off x="3291840" y="1554480"/>
            <a:ext cx="1261872"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C2410C"/>
              </a:buClr>
              <a:buSzPts val="1350"/>
              <a:buFont typeface="Calibri"/>
              <a:buNone/>
            </a:pPr>
            <a:r>
              <a:rPr lang="en-US" sz="1350" b="1" i="0" u="none" strike="noStrike" cap="none">
                <a:solidFill>
                  <a:srgbClr val="C2410C"/>
                </a:solidFill>
                <a:latin typeface="Calibri"/>
                <a:ea typeface="Calibri"/>
                <a:cs typeface="Calibri"/>
                <a:sym typeface="Calibri"/>
              </a:rPr>
              <a:t>Softmax</a:t>
            </a:r>
            <a:endParaRPr sz="1350" b="0" i="0" u="none" strike="noStrike" cap="none">
              <a:solidFill>
                <a:schemeClr val="dk1"/>
              </a:solidFill>
              <a:latin typeface="Calibri"/>
              <a:ea typeface="Calibri"/>
              <a:cs typeface="Calibri"/>
              <a:sym typeface="Calibri"/>
            </a:endParaRPr>
          </a:p>
        </p:txBody>
      </p:sp>
      <p:sp>
        <p:nvSpPr>
          <p:cNvPr id="442" name="Google Shape;442;p17"/>
          <p:cNvSpPr txBox="1"/>
          <p:nvPr/>
        </p:nvSpPr>
        <p:spPr>
          <a:xfrm>
            <a:off x="4535424" y="1719072"/>
            <a:ext cx="19202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443" name="Google Shape;443;p17"/>
          <p:cNvSpPr/>
          <p:nvPr/>
        </p:nvSpPr>
        <p:spPr>
          <a:xfrm>
            <a:off x="4709160" y="1554480"/>
            <a:ext cx="1261872"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7"/>
          <p:cNvSpPr txBox="1"/>
          <p:nvPr/>
        </p:nvSpPr>
        <p:spPr>
          <a:xfrm>
            <a:off x="4709160" y="1554480"/>
            <a:ext cx="1261872"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334155"/>
              </a:buClr>
              <a:buSzPts val="1350"/>
              <a:buFont typeface="Calibri"/>
              <a:buNone/>
            </a:pPr>
            <a:r>
              <a:rPr lang="en-US" sz="1350" b="0" i="0" u="none" strike="noStrike" cap="none">
                <a:solidFill>
                  <a:srgbClr val="334155"/>
                </a:solidFill>
                <a:latin typeface="Calibri"/>
                <a:ea typeface="Calibri"/>
                <a:cs typeface="Calibri"/>
                <a:sym typeface="Calibri"/>
              </a:rPr>
              <a:t>Σ · V</a:t>
            </a:r>
            <a:endParaRPr sz="1350" b="0" i="0" u="none" strike="noStrike" cap="none">
              <a:solidFill>
                <a:schemeClr val="dk1"/>
              </a:solidFill>
              <a:latin typeface="Calibri"/>
              <a:ea typeface="Calibri"/>
              <a:cs typeface="Calibri"/>
              <a:sym typeface="Calibri"/>
            </a:endParaRPr>
          </a:p>
        </p:txBody>
      </p:sp>
      <p:sp>
        <p:nvSpPr>
          <p:cNvPr id="445" name="Google Shape;445;p17"/>
          <p:cNvSpPr txBox="1"/>
          <p:nvPr/>
        </p:nvSpPr>
        <p:spPr>
          <a:xfrm>
            <a:off x="5952744" y="1719072"/>
            <a:ext cx="19202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446" name="Google Shape;446;p17"/>
          <p:cNvSpPr/>
          <p:nvPr/>
        </p:nvSpPr>
        <p:spPr>
          <a:xfrm>
            <a:off x="6126480" y="1554480"/>
            <a:ext cx="1261872"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7"/>
          <p:cNvSpPr txBox="1"/>
          <p:nvPr/>
        </p:nvSpPr>
        <p:spPr>
          <a:xfrm>
            <a:off x="6126480" y="1554480"/>
            <a:ext cx="1261872"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334155"/>
              </a:buClr>
              <a:buSzPts val="1350"/>
              <a:buFont typeface="Calibri"/>
              <a:buNone/>
            </a:pPr>
            <a:r>
              <a:rPr lang="en-US" sz="1350" b="0" i="0" u="none" strike="noStrike" cap="none">
                <a:solidFill>
                  <a:srgbClr val="334155"/>
                </a:solidFill>
                <a:latin typeface="Calibri"/>
                <a:ea typeface="Calibri"/>
                <a:cs typeface="Calibri"/>
                <a:sym typeface="Calibri"/>
              </a:rPr>
              <a:t>Output proj.</a:t>
            </a:r>
            <a:endParaRPr sz="1350" b="0" i="0" u="none" strike="noStrike" cap="none">
              <a:solidFill>
                <a:schemeClr val="dk1"/>
              </a:solidFill>
              <a:latin typeface="Calibri"/>
              <a:ea typeface="Calibri"/>
              <a:cs typeface="Calibri"/>
              <a:sym typeface="Calibri"/>
            </a:endParaRPr>
          </a:p>
        </p:txBody>
      </p:sp>
      <p:sp>
        <p:nvSpPr>
          <p:cNvPr id="448" name="Google Shape;448;p17"/>
          <p:cNvSpPr txBox="1"/>
          <p:nvPr/>
        </p:nvSpPr>
        <p:spPr>
          <a:xfrm>
            <a:off x="7370064" y="1719072"/>
            <a:ext cx="19202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449" name="Google Shape;449;p17"/>
          <p:cNvSpPr/>
          <p:nvPr/>
        </p:nvSpPr>
        <p:spPr>
          <a:xfrm>
            <a:off x="7543800" y="1554480"/>
            <a:ext cx="1261872" cy="777240"/>
          </a:xfrm>
          <a:prstGeom prst="roundRect">
            <a:avLst>
              <a:gd name="adj" fmla="val 9412"/>
            </a:avLst>
          </a:prstGeom>
          <a:solidFill>
            <a:srgbClr val="FDF0E6"/>
          </a:solidFill>
          <a:ln w="12700" cap="flat" cmpd="sng">
            <a:solidFill>
              <a:srgbClr val="F2B4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7"/>
          <p:cNvSpPr txBox="1"/>
          <p:nvPr/>
        </p:nvSpPr>
        <p:spPr>
          <a:xfrm>
            <a:off x="7543800" y="1554480"/>
            <a:ext cx="1261872"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C2410C"/>
              </a:buClr>
              <a:buSzPts val="1350"/>
              <a:buFont typeface="Calibri"/>
              <a:buNone/>
            </a:pPr>
            <a:r>
              <a:rPr lang="en-US" sz="1350" b="1" i="0" u="none" strike="noStrike" cap="none">
                <a:solidFill>
                  <a:srgbClr val="C2410C"/>
                </a:solidFill>
                <a:latin typeface="Calibri"/>
                <a:ea typeface="Calibri"/>
                <a:cs typeface="Calibri"/>
                <a:sym typeface="Calibri"/>
              </a:rPr>
              <a:t>Add &amp; Norm</a:t>
            </a:r>
            <a:endParaRPr sz="1350" b="0" i="0" u="none" strike="noStrike" cap="none">
              <a:solidFill>
                <a:schemeClr val="dk1"/>
              </a:solidFill>
              <a:latin typeface="Calibri"/>
              <a:ea typeface="Calibri"/>
              <a:cs typeface="Calibri"/>
              <a:sym typeface="Calibri"/>
            </a:endParaRPr>
          </a:p>
        </p:txBody>
      </p:sp>
      <p:sp>
        <p:nvSpPr>
          <p:cNvPr id="451" name="Google Shape;451;p17"/>
          <p:cNvSpPr txBox="1"/>
          <p:nvPr/>
        </p:nvSpPr>
        <p:spPr>
          <a:xfrm>
            <a:off x="8787384" y="1719072"/>
            <a:ext cx="19202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452" name="Google Shape;452;p17"/>
          <p:cNvSpPr/>
          <p:nvPr/>
        </p:nvSpPr>
        <p:spPr>
          <a:xfrm>
            <a:off x="8961120" y="1554480"/>
            <a:ext cx="1261872" cy="777240"/>
          </a:xfrm>
          <a:prstGeom prst="roundRect">
            <a:avLst>
              <a:gd name="adj" fmla="val 9412"/>
            </a:avLst>
          </a:prstGeom>
          <a:solidFill>
            <a:srgbClr val="FDF0E6"/>
          </a:solidFill>
          <a:ln w="12700" cap="flat" cmpd="sng">
            <a:solidFill>
              <a:srgbClr val="F2B4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7"/>
          <p:cNvSpPr txBox="1"/>
          <p:nvPr/>
        </p:nvSpPr>
        <p:spPr>
          <a:xfrm>
            <a:off x="8961120" y="1554480"/>
            <a:ext cx="1261872"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C2410C"/>
              </a:buClr>
              <a:buSzPts val="1350"/>
              <a:buFont typeface="Calibri"/>
              <a:buNone/>
            </a:pPr>
            <a:r>
              <a:rPr lang="en-US" sz="1350" b="1" i="0" u="none" strike="noStrike" cap="none">
                <a:solidFill>
                  <a:srgbClr val="C2410C"/>
                </a:solidFill>
                <a:latin typeface="Calibri"/>
                <a:ea typeface="Calibri"/>
                <a:cs typeface="Calibri"/>
                <a:sym typeface="Calibri"/>
              </a:rPr>
              <a:t>FFN (ReLU)</a:t>
            </a:r>
            <a:endParaRPr sz="1350" b="0" i="0" u="none" strike="noStrike" cap="none">
              <a:solidFill>
                <a:schemeClr val="dk1"/>
              </a:solidFill>
              <a:latin typeface="Calibri"/>
              <a:ea typeface="Calibri"/>
              <a:cs typeface="Calibri"/>
              <a:sym typeface="Calibri"/>
            </a:endParaRPr>
          </a:p>
        </p:txBody>
      </p:sp>
      <p:sp>
        <p:nvSpPr>
          <p:cNvPr id="454" name="Google Shape;454;p17"/>
          <p:cNvSpPr txBox="1"/>
          <p:nvPr/>
        </p:nvSpPr>
        <p:spPr>
          <a:xfrm>
            <a:off x="10204704" y="1719072"/>
            <a:ext cx="192024"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455" name="Google Shape;455;p17"/>
          <p:cNvSpPr/>
          <p:nvPr/>
        </p:nvSpPr>
        <p:spPr>
          <a:xfrm>
            <a:off x="10378440" y="1554480"/>
            <a:ext cx="1261872" cy="777240"/>
          </a:xfrm>
          <a:prstGeom prst="roundRect">
            <a:avLst>
              <a:gd name="adj" fmla="val 9412"/>
            </a:avLst>
          </a:prstGeom>
          <a:solidFill>
            <a:srgbClr val="FDF0E6"/>
          </a:solidFill>
          <a:ln w="12700" cap="flat" cmpd="sng">
            <a:solidFill>
              <a:srgbClr val="F2B48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7"/>
          <p:cNvSpPr txBox="1"/>
          <p:nvPr/>
        </p:nvSpPr>
        <p:spPr>
          <a:xfrm>
            <a:off x="10378440" y="1554480"/>
            <a:ext cx="1261872"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C2410C"/>
              </a:buClr>
              <a:buSzPts val="1350"/>
              <a:buFont typeface="Calibri"/>
              <a:buNone/>
            </a:pPr>
            <a:r>
              <a:rPr lang="en-US" sz="1350" b="1" i="0" u="none" strike="noStrike" cap="none">
                <a:solidFill>
                  <a:srgbClr val="C2410C"/>
                </a:solidFill>
                <a:latin typeface="Calibri"/>
                <a:ea typeface="Calibri"/>
                <a:cs typeface="Calibri"/>
                <a:sym typeface="Calibri"/>
              </a:rPr>
              <a:t>Add &amp; Norm</a:t>
            </a:r>
            <a:endParaRPr sz="1350" b="0" i="0" u="none" strike="noStrike" cap="none">
              <a:solidFill>
                <a:schemeClr val="dk1"/>
              </a:solidFill>
              <a:latin typeface="Calibri"/>
              <a:ea typeface="Calibri"/>
              <a:cs typeface="Calibri"/>
              <a:sym typeface="Calibri"/>
            </a:endParaRPr>
          </a:p>
        </p:txBody>
      </p:sp>
      <p:sp>
        <p:nvSpPr>
          <p:cNvPr id="457" name="Google Shape;457;p17"/>
          <p:cNvSpPr txBox="1"/>
          <p:nvPr/>
        </p:nvSpPr>
        <p:spPr>
          <a:xfrm>
            <a:off x="457200" y="2395728"/>
            <a:ext cx="7315200" cy="2743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CBD5E1"/>
              </a:buClr>
              <a:buSzPts val="1200"/>
              <a:buFont typeface="Calibri"/>
              <a:buNone/>
            </a:pPr>
            <a:r>
              <a:rPr lang="en-US" sz="1200" b="0" i="0" u="none" strike="noStrike" cap="none">
                <a:solidFill>
                  <a:srgbClr val="CBD5E1"/>
                </a:solidFill>
                <a:latin typeface="Calibri"/>
                <a:ea typeface="Calibri"/>
                <a:cs typeface="Calibri"/>
                <a:sym typeface="Calibri"/>
              </a:rPr>
              <a:t>■ </a:t>
            </a:r>
            <a:r>
              <a:rPr lang="en-US" sz="1200" b="0" i="0" u="none" strike="noStrike" cap="none">
                <a:solidFill>
                  <a:srgbClr val="64748B"/>
                </a:solidFill>
                <a:latin typeface="Calibri"/>
                <a:ea typeface="Calibri"/>
                <a:cs typeface="Calibri"/>
                <a:sym typeface="Calibri"/>
              </a:rPr>
              <a:t>linear (matrix multiply)     </a:t>
            </a:r>
            <a:r>
              <a:rPr lang="en-US" sz="1200" b="0" i="0" u="none" strike="noStrike" cap="none">
                <a:solidFill>
                  <a:srgbClr val="F2B48A"/>
                </a:solidFill>
                <a:latin typeface="Calibri"/>
                <a:ea typeface="Calibri"/>
                <a:cs typeface="Calibri"/>
                <a:sym typeface="Calibri"/>
              </a:rPr>
              <a:t>■ </a:t>
            </a:r>
            <a:r>
              <a:rPr lang="en-US" sz="1200" b="0" i="0" u="none" strike="noStrike" cap="none">
                <a:solidFill>
                  <a:srgbClr val="64748B"/>
                </a:solidFill>
                <a:latin typeface="Calibri"/>
                <a:ea typeface="Calibri"/>
                <a:cs typeface="Calibri"/>
                <a:sym typeface="Calibri"/>
              </a:rPr>
              <a:t>contains a non-linearity</a:t>
            </a:r>
            <a:endParaRPr sz="1200" b="0" i="0" u="none" strike="noStrike" cap="none">
              <a:solidFill>
                <a:schemeClr val="dk1"/>
              </a:solidFill>
              <a:latin typeface="Calibri"/>
              <a:ea typeface="Calibri"/>
              <a:cs typeface="Calibri"/>
              <a:sym typeface="Calibri"/>
            </a:endParaRPr>
          </a:p>
        </p:txBody>
      </p:sp>
      <p:sp>
        <p:nvSpPr>
          <p:cNvPr id="458" name="Google Shape;458;p17"/>
          <p:cNvSpPr/>
          <p:nvPr/>
        </p:nvSpPr>
        <p:spPr>
          <a:xfrm>
            <a:off x="457200" y="2788920"/>
            <a:ext cx="3639312" cy="2697480"/>
          </a:xfrm>
          <a:prstGeom prst="roundRect">
            <a:avLst>
              <a:gd name="adj" fmla="val 339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7"/>
          <p:cNvSpPr/>
          <p:nvPr/>
        </p:nvSpPr>
        <p:spPr>
          <a:xfrm>
            <a:off x="640080" y="2971800"/>
            <a:ext cx="219456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7"/>
          <p:cNvSpPr txBox="1"/>
          <p:nvPr/>
        </p:nvSpPr>
        <p:spPr>
          <a:xfrm>
            <a:off x="640080" y="2971800"/>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 · Softmax</a:t>
            </a:r>
            <a:endParaRPr sz="1200" b="0" i="0" u="none" strike="noStrike" cap="none">
              <a:solidFill>
                <a:schemeClr val="dk1"/>
              </a:solidFill>
              <a:latin typeface="Calibri"/>
              <a:ea typeface="Calibri"/>
              <a:cs typeface="Calibri"/>
              <a:sym typeface="Calibri"/>
            </a:endParaRPr>
          </a:p>
        </p:txBody>
      </p:sp>
      <p:sp>
        <p:nvSpPr>
          <p:cNvPr id="461" name="Google Shape;461;p17"/>
          <p:cNvSpPr/>
          <p:nvPr/>
        </p:nvSpPr>
        <p:spPr>
          <a:xfrm>
            <a:off x="640080" y="3383280"/>
            <a:ext cx="3273552" cy="566928"/>
          </a:xfrm>
          <a:prstGeom prst="roundRect">
            <a:avLst>
              <a:gd name="adj" fmla="val 9677"/>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2" name="Google Shape;462;p17" descr="Equation"/>
          <p:cNvPicPr preferRelativeResize="0"/>
          <p:nvPr/>
        </p:nvPicPr>
        <p:blipFill rotWithShape="1">
          <a:blip r:embed="rId3">
            <a:alphaModFix/>
          </a:blip>
          <a:srcRect/>
          <a:stretch/>
        </p:blipFill>
        <p:spPr>
          <a:xfrm>
            <a:off x="1507789" y="3419856"/>
            <a:ext cx="1538134" cy="493776"/>
          </a:xfrm>
          <a:prstGeom prst="rect">
            <a:avLst/>
          </a:prstGeom>
          <a:noFill/>
          <a:ln>
            <a:noFill/>
          </a:ln>
        </p:spPr>
      </p:pic>
      <p:sp>
        <p:nvSpPr>
          <p:cNvPr id="463" name="Google Shape;463;p17"/>
          <p:cNvSpPr txBox="1"/>
          <p:nvPr/>
        </p:nvSpPr>
        <p:spPr>
          <a:xfrm>
            <a:off x="640080" y="4005072"/>
            <a:ext cx="3273552" cy="14173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Turns scores into a probability distribution, letting a token focus sharply on a few others. Without it attention is just a fixed linear blend.</a:t>
            </a:r>
            <a:endParaRPr sz="1400" b="0" i="0" u="none" strike="noStrike" cap="none">
              <a:solidFill>
                <a:schemeClr val="dk1"/>
              </a:solidFill>
              <a:latin typeface="Calibri"/>
              <a:ea typeface="Calibri"/>
              <a:cs typeface="Calibri"/>
              <a:sym typeface="Calibri"/>
            </a:endParaRPr>
          </a:p>
        </p:txBody>
      </p:sp>
      <p:sp>
        <p:nvSpPr>
          <p:cNvPr id="464" name="Google Shape;464;p17"/>
          <p:cNvSpPr/>
          <p:nvPr/>
        </p:nvSpPr>
        <p:spPr>
          <a:xfrm>
            <a:off x="4279392" y="2788920"/>
            <a:ext cx="3639312" cy="2697480"/>
          </a:xfrm>
          <a:prstGeom prst="roundRect">
            <a:avLst>
              <a:gd name="adj" fmla="val 339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7"/>
          <p:cNvSpPr/>
          <p:nvPr/>
        </p:nvSpPr>
        <p:spPr>
          <a:xfrm>
            <a:off x="4462272" y="2971800"/>
            <a:ext cx="2194560" cy="310896"/>
          </a:xfrm>
          <a:prstGeom prst="roundRect">
            <a:avLst>
              <a:gd name="adj" fmla="val 23529"/>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7"/>
          <p:cNvSpPr txBox="1"/>
          <p:nvPr/>
        </p:nvSpPr>
        <p:spPr>
          <a:xfrm>
            <a:off x="4462272" y="2971800"/>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2 · ReLU in the FFN</a:t>
            </a:r>
            <a:endParaRPr sz="1200" b="0" i="0" u="none" strike="noStrike" cap="none">
              <a:solidFill>
                <a:schemeClr val="dk1"/>
              </a:solidFill>
              <a:latin typeface="Calibri"/>
              <a:ea typeface="Calibri"/>
              <a:cs typeface="Calibri"/>
              <a:sym typeface="Calibri"/>
            </a:endParaRPr>
          </a:p>
        </p:txBody>
      </p:sp>
      <p:sp>
        <p:nvSpPr>
          <p:cNvPr id="467" name="Google Shape;467;p17"/>
          <p:cNvSpPr/>
          <p:nvPr/>
        </p:nvSpPr>
        <p:spPr>
          <a:xfrm>
            <a:off x="4462272" y="3383280"/>
            <a:ext cx="3273552" cy="566928"/>
          </a:xfrm>
          <a:prstGeom prst="roundRect">
            <a:avLst>
              <a:gd name="adj" fmla="val 9677"/>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8" name="Google Shape;468;p17" descr="Equation"/>
          <p:cNvPicPr preferRelativeResize="0"/>
          <p:nvPr/>
        </p:nvPicPr>
        <p:blipFill rotWithShape="1">
          <a:blip r:embed="rId4">
            <a:alphaModFix/>
          </a:blip>
          <a:srcRect/>
          <a:stretch/>
        </p:blipFill>
        <p:spPr>
          <a:xfrm>
            <a:off x="5174361" y="3543300"/>
            <a:ext cx="1849374" cy="246888"/>
          </a:xfrm>
          <a:prstGeom prst="rect">
            <a:avLst/>
          </a:prstGeom>
          <a:noFill/>
          <a:ln>
            <a:noFill/>
          </a:ln>
        </p:spPr>
      </p:pic>
      <p:sp>
        <p:nvSpPr>
          <p:cNvPr id="469" name="Google Shape;469;p17"/>
          <p:cNvSpPr txBox="1"/>
          <p:nvPr/>
        </p:nvSpPr>
        <p:spPr>
          <a:xfrm>
            <a:off x="4462272" y="4005072"/>
            <a:ext cx="3273552" cy="14173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The only true element-wise non-linearity. It lets each FFN neuron act as a pattern detector that fires or stays silent.</a:t>
            </a:r>
            <a:endParaRPr sz="1400" b="0" i="0" u="none" strike="noStrike" cap="none">
              <a:solidFill>
                <a:schemeClr val="dk1"/>
              </a:solidFill>
              <a:latin typeface="Calibri"/>
              <a:ea typeface="Calibri"/>
              <a:cs typeface="Calibri"/>
              <a:sym typeface="Calibri"/>
            </a:endParaRPr>
          </a:p>
        </p:txBody>
      </p:sp>
      <p:sp>
        <p:nvSpPr>
          <p:cNvPr id="470" name="Google Shape;470;p17"/>
          <p:cNvSpPr/>
          <p:nvPr/>
        </p:nvSpPr>
        <p:spPr>
          <a:xfrm>
            <a:off x="8101584" y="2788920"/>
            <a:ext cx="3639312" cy="2697480"/>
          </a:xfrm>
          <a:prstGeom prst="roundRect">
            <a:avLst>
              <a:gd name="adj" fmla="val 339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7"/>
          <p:cNvSpPr/>
          <p:nvPr/>
        </p:nvSpPr>
        <p:spPr>
          <a:xfrm>
            <a:off x="8284464" y="2971800"/>
            <a:ext cx="219456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7"/>
          <p:cNvSpPr txBox="1"/>
          <p:nvPr/>
        </p:nvSpPr>
        <p:spPr>
          <a:xfrm>
            <a:off x="8284464" y="2971800"/>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 · LayerNorm</a:t>
            </a:r>
            <a:endParaRPr sz="1200" b="0" i="0" u="none" strike="noStrike" cap="none">
              <a:solidFill>
                <a:schemeClr val="dk1"/>
              </a:solidFill>
              <a:latin typeface="Calibri"/>
              <a:ea typeface="Calibri"/>
              <a:cs typeface="Calibri"/>
              <a:sym typeface="Calibri"/>
            </a:endParaRPr>
          </a:p>
        </p:txBody>
      </p:sp>
      <p:sp>
        <p:nvSpPr>
          <p:cNvPr id="473" name="Google Shape;473;p17"/>
          <p:cNvSpPr/>
          <p:nvPr/>
        </p:nvSpPr>
        <p:spPr>
          <a:xfrm>
            <a:off x="8284464" y="3383280"/>
            <a:ext cx="3273552" cy="566928"/>
          </a:xfrm>
          <a:prstGeom prst="roundRect">
            <a:avLst>
              <a:gd name="adj" fmla="val 9677"/>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4" name="Google Shape;474;p17" descr="Equation"/>
          <p:cNvPicPr preferRelativeResize="0"/>
          <p:nvPr/>
        </p:nvPicPr>
        <p:blipFill rotWithShape="1">
          <a:blip r:embed="rId5">
            <a:alphaModFix/>
          </a:blip>
          <a:srcRect/>
          <a:stretch/>
        </p:blipFill>
        <p:spPr>
          <a:xfrm>
            <a:off x="9190863" y="3430143"/>
            <a:ext cx="1460754" cy="473202"/>
          </a:xfrm>
          <a:prstGeom prst="rect">
            <a:avLst/>
          </a:prstGeom>
          <a:noFill/>
          <a:ln>
            <a:noFill/>
          </a:ln>
        </p:spPr>
      </p:pic>
      <p:sp>
        <p:nvSpPr>
          <p:cNvPr id="475" name="Google Shape;475;p17"/>
          <p:cNvSpPr txBox="1"/>
          <p:nvPr/>
        </p:nvSpPr>
        <p:spPr>
          <a:xfrm>
            <a:off x="8284464" y="4005072"/>
            <a:ext cx="3273552" cy="14173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Technically non-linear (divides by a data-dependent σ), but its job is to keep activations well-scaled, not to add expressive power.</a:t>
            </a:r>
            <a:endParaRPr sz="1400" b="0" i="0" u="none" strike="noStrike" cap="none">
              <a:solidFill>
                <a:schemeClr val="dk1"/>
              </a:solidFill>
              <a:latin typeface="Calibri"/>
              <a:ea typeface="Calibri"/>
              <a:cs typeface="Calibri"/>
              <a:sym typeface="Calibri"/>
            </a:endParaRPr>
          </a:p>
        </p:txBody>
      </p:sp>
      <p:sp>
        <p:nvSpPr>
          <p:cNvPr id="476" name="Google Shape;476;p17"/>
          <p:cNvSpPr/>
          <p:nvPr/>
        </p:nvSpPr>
        <p:spPr>
          <a:xfrm>
            <a:off x="457200" y="5669280"/>
            <a:ext cx="11277295" cy="621792"/>
          </a:xfrm>
          <a:prstGeom prst="roundRect">
            <a:avLst>
              <a:gd name="adj" fmla="val 8824"/>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7"/>
          <p:cNvSpPr txBox="1"/>
          <p:nvPr/>
        </p:nvSpPr>
        <p:spPr>
          <a:xfrm>
            <a:off x="594360" y="570585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Takeaway:  </a:t>
            </a:r>
            <a:r>
              <a:rPr lang="en-US" sz="1400" b="0" i="0" u="none" strike="noStrike" cap="none">
                <a:solidFill>
                  <a:srgbClr val="334155"/>
                </a:solidFill>
                <a:latin typeface="Calibri"/>
                <a:ea typeface="Calibri"/>
                <a:cs typeface="Calibri"/>
                <a:sym typeface="Calibri"/>
              </a:rPr>
              <a:t>remove softmax and ReLU and a 96-layer Transformer collapses into one big linear map, no smarter than linear regression.</a:t>
            </a:r>
            <a:endParaRPr sz="1400" b="0" i="0" u="none" strike="noStrike" cap="none">
              <a:solidFill>
                <a:schemeClr val="dk1"/>
              </a:solidFill>
              <a:latin typeface="Calibri"/>
              <a:ea typeface="Calibri"/>
              <a:cs typeface="Calibri"/>
              <a:sym typeface="Calibri"/>
            </a:endParaRPr>
          </a:p>
        </p:txBody>
      </p:sp>
      <p:sp>
        <p:nvSpPr>
          <p:cNvPr id="478" name="Google Shape;478;p17"/>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9</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18"/>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How Do We Train a 6-Layer (or 96-Layer) Stack?</a:t>
            </a:r>
            <a:endParaRPr sz="3000"/>
          </a:p>
        </p:txBody>
      </p:sp>
      <p:sp>
        <p:nvSpPr>
          <p:cNvPr id="485" name="Google Shape;485;p18"/>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Three training tricks that make deep Transformers stable</a:t>
            </a:r>
            <a:endParaRPr sz="1500"/>
          </a:p>
        </p:txBody>
      </p:sp>
      <p:sp>
        <p:nvSpPr>
          <p:cNvPr id="486" name="Google Shape;486;p18"/>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2 · MAKING IT DEEP</a:t>
            </a:r>
            <a:endParaRPr sz="1000" b="0" i="0" u="none" strike="noStrike" cap="none">
              <a:solidFill>
                <a:schemeClr val="dk1"/>
              </a:solidFill>
              <a:latin typeface="Calibri"/>
              <a:ea typeface="Calibri"/>
              <a:cs typeface="Calibri"/>
              <a:sym typeface="Calibri"/>
            </a:endParaRPr>
          </a:p>
        </p:txBody>
      </p:sp>
      <p:pic>
        <p:nvPicPr>
          <p:cNvPr id="487" name="Google Shape;487;p18" descr="/tmp/claude-0/-home-claude/2e4ed916-d3dc-5f60-b61a-7b0ef1a4d3a9/scratchpad/lec/assets/mha_a.jpeg"/>
          <p:cNvPicPr preferRelativeResize="0"/>
          <p:nvPr/>
        </p:nvPicPr>
        <p:blipFill rotWithShape="1">
          <a:blip r:embed="rId3">
            <a:alphaModFix/>
          </a:blip>
          <a:srcRect/>
          <a:stretch/>
        </p:blipFill>
        <p:spPr>
          <a:xfrm>
            <a:off x="502920" y="1554480"/>
            <a:ext cx="2926080" cy="2971800"/>
          </a:xfrm>
          <a:prstGeom prst="rect">
            <a:avLst/>
          </a:prstGeom>
          <a:noFill/>
          <a:ln>
            <a:noFill/>
          </a:ln>
        </p:spPr>
      </p:pic>
      <p:sp>
        <p:nvSpPr>
          <p:cNvPr id="488" name="Google Shape;488;p18"/>
          <p:cNvSpPr txBox="1"/>
          <p:nvPr/>
        </p:nvSpPr>
        <p:spPr>
          <a:xfrm>
            <a:off x="502920" y="4572000"/>
            <a:ext cx="2926080" cy="50292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64748B"/>
              </a:buClr>
              <a:buSzPts val="1200"/>
              <a:buFont typeface="Calibri"/>
              <a:buNone/>
            </a:pPr>
            <a:r>
              <a:rPr lang="en-US" sz="1200" b="0" i="1" u="none" strike="noStrike" cap="none">
                <a:solidFill>
                  <a:srgbClr val="64748B"/>
                </a:solidFill>
                <a:latin typeface="Calibri"/>
                <a:ea typeface="Calibri"/>
                <a:cs typeface="Calibri"/>
                <a:sym typeface="Calibri"/>
              </a:rPr>
              <a:t>Encoder block, repeated 6× in the original paper</a:t>
            </a:r>
            <a:endParaRPr sz="1200" b="0" i="0" u="none" strike="noStrike" cap="none">
              <a:solidFill>
                <a:schemeClr val="dk1"/>
              </a:solidFill>
              <a:latin typeface="Calibri"/>
              <a:ea typeface="Calibri"/>
              <a:cs typeface="Calibri"/>
              <a:sym typeface="Calibri"/>
            </a:endParaRPr>
          </a:p>
        </p:txBody>
      </p:sp>
      <p:sp>
        <p:nvSpPr>
          <p:cNvPr id="489" name="Google Shape;489;p18"/>
          <p:cNvSpPr/>
          <p:nvPr/>
        </p:nvSpPr>
        <p:spPr>
          <a:xfrm>
            <a:off x="3703320" y="1508760"/>
            <a:ext cx="8028432" cy="1234440"/>
          </a:xfrm>
          <a:prstGeom prst="roundRect">
            <a:avLst>
              <a:gd name="adj" fmla="val 7407"/>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8"/>
          <p:cNvSpPr/>
          <p:nvPr/>
        </p:nvSpPr>
        <p:spPr>
          <a:xfrm>
            <a:off x="3904488" y="1828800"/>
            <a:ext cx="603504" cy="603504"/>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1" name="Google Shape;491;p18" descr="preencoded.png"/>
          <p:cNvPicPr preferRelativeResize="0"/>
          <p:nvPr/>
        </p:nvPicPr>
        <p:blipFill rotWithShape="1">
          <a:blip r:embed="rId4">
            <a:alphaModFix/>
          </a:blip>
          <a:srcRect/>
          <a:stretch/>
        </p:blipFill>
        <p:spPr>
          <a:xfrm>
            <a:off x="4049329" y="1973641"/>
            <a:ext cx="313822" cy="313822"/>
          </a:xfrm>
          <a:prstGeom prst="rect">
            <a:avLst/>
          </a:prstGeom>
          <a:noFill/>
          <a:ln>
            <a:noFill/>
          </a:ln>
        </p:spPr>
      </p:pic>
      <p:sp>
        <p:nvSpPr>
          <p:cNvPr id="492" name="Google Shape;492;p18"/>
          <p:cNvSpPr txBox="1"/>
          <p:nvPr/>
        </p:nvSpPr>
        <p:spPr>
          <a:xfrm>
            <a:off x="4663440" y="1600200"/>
            <a:ext cx="3108960"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D4ED8"/>
              </a:buClr>
              <a:buSzPts val="1700"/>
              <a:buFont typeface="Calibri"/>
              <a:buNone/>
            </a:pPr>
            <a:r>
              <a:rPr lang="en-US" sz="1700" b="1" i="0" u="none" strike="noStrike" cap="none">
                <a:solidFill>
                  <a:srgbClr val="1D4ED8"/>
                </a:solidFill>
                <a:latin typeface="Calibri"/>
                <a:ea typeface="Calibri"/>
                <a:cs typeface="Calibri"/>
                <a:sym typeface="Calibri"/>
              </a:rPr>
              <a:t>#1 Residual connections</a:t>
            </a:r>
            <a:endParaRPr sz="1700" b="0" i="0" u="none" strike="noStrike" cap="none">
              <a:solidFill>
                <a:schemeClr val="dk1"/>
              </a:solidFill>
              <a:latin typeface="Calibri"/>
              <a:ea typeface="Calibri"/>
              <a:cs typeface="Calibri"/>
              <a:sym typeface="Calibri"/>
            </a:endParaRPr>
          </a:p>
        </p:txBody>
      </p:sp>
      <p:sp>
        <p:nvSpPr>
          <p:cNvPr id="493" name="Google Shape;493;p18"/>
          <p:cNvSpPr/>
          <p:nvPr/>
        </p:nvSpPr>
        <p:spPr>
          <a:xfrm>
            <a:off x="4663440" y="2011680"/>
            <a:ext cx="2926080" cy="640080"/>
          </a:xfrm>
          <a:prstGeom prst="roundRect">
            <a:avLst>
              <a:gd name="adj" fmla="val 857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4" name="Google Shape;494;p18" descr="Equation"/>
          <p:cNvPicPr preferRelativeResize="0"/>
          <p:nvPr/>
        </p:nvPicPr>
        <p:blipFill rotWithShape="1">
          <a:blip r:embed="rId5">
            <a:alphaModFix/>
          </a:blip>
          <a:srcRect/>
          <a:stretch/>
        </p:blipFill>
        <p:spPr>
          <a:xfrm>
            <a:off x="5230368" y="2208276"/>
            <a:ext cx="1792224" cy="246888"/>
          </a:xfrm>
          <a:prstGeom prst="rect">
            <a:avLst/>
          </a:prstGeom>
          <a:noFill/>
          <a:ln>
            <a:noFill/>
          </a:ln>
        </p:spPr>
      </p:pic>
      <p:sp>
        <p:nvSpPr>
          <p:cNvPr id="495" name="Google Shape;495;p18"/>
          <p:cNvSpPr txBox="1"/>
          <p:nvPr/>
        </p:nvSpPr>
        <p:spPr>
          <a:xfrm>
            <a:off x="7772400" y="1600200"/>
            <a:ext cx="3840480" cy="10515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A highway bypass: if a layer is useless, the signal (and the gradient) can skip it on the express lane.</a:t>
            </a:r>
            <a:endParaRPr sz="1400" b="0" i="0" u="none" strike="noStrike" cap="none">
              <a:solidFill>
                <a:schemeClr val="dk1"/>
              </a:solidFill>
              <a:latin typeface="Calibri"/>
              <a:ea typeface="Calibri"/>
              <a:cs typeface="Calibri"/>
              <a:sym typeface="Calibri"/>
            </a:endParaRPr>
          </a:p>
        </p:txBody>
      </p:sp>
      <p:sp>
        <p:nvSpPr>
          <p:cNvPr id="496" name="Google Shape;496;p18"/>
          <p:cNvSpPr/>
          <p:nvPr/>
        </p:nvSpPr>
        <p:spPr>
          <a:xfrm>
            <a:off x="3703320" y="2880360"/>
            <a:ext cx="8028432" cy="1234440"/>
          </a:xfrm>
          <a:prstGeom prst="roundRect">
            <a:avLst>
              <a:gd name="adj" fmla="val 7407"/>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8"/>
          <p:cNvSpPr/>
          <p:nvPr/>
        </p:nvSpPr>
        <p:spPr>
          <a:xfrm>
            <a:off x="3904488" y="3200400"/>
            <a:ext cx="603504" cy="603504"/>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8" name="Google Shape;498;p18" descr="preencoded.png"/>
          <p:cNvPicPr preferRelativeResize="0"/>
          <p:nvPr/>
        </p:nvPicPr>
        <p:blipFill rotWithShape="1">
          <a:blip r:embed="rId6">
            <a:alphaModFix/>
          </a:blip>
          <a:srcRect/>
          <a:stretch/>
        </p:blipFill>
        <p:spPr>
          <a:xfrm>
            <a:off x="4049329" y="3345241"/>
            <a:ext cx="313822" cy="313822"/>
          </a:xfrm>
          <a:prstGeom prst="rect">
            <a:avLst/>
          </a:prstGeom>
          <a:noFill/>
          <a:ln>
            <a:noFill/>
          </a:ln>
        </p:spPr>
      </p:pic>
      <p:sp>
        <p:nvSpPr>
          <p:cNvPr id="499" name="Google Shape;499;p18"/>
          <p:cNvSpPr txBox="1"/>
          <p:nvPr/>
        </p:nvSpPr>
        <p:spPr>
          <a:xfrm>
            <a:off x="4663440" y="2971800"/>
            <a:ext cx="3108960"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700"/>
              <a:buFont typeface="Calibri"/>
              <a:buNone/>
            </a:pPr>
            <a:r>
              <a:rPr lang="en-US" sz="1700" b="1" i="0" u="none" strike="noStrike" cap="none">
                <a:solidFill>
                  <a:srgbClr val="0F766E"/>
                </a:solidFill>
                <a:latin typeface="Calibri"/>
                <a:ea typeface="Calibri"/>
                <a:cs typeface="Calibri"/>
                <a:sym typeface="Calibri"/>
              </a:rPr>
              <a:t>#2 Layer normalisation</a:t>
            </a:r>
            <a:endParaRPr sz="1700" b="0" i="0" u="none" strike="noStrike" cap="none">
              <a:solidFill>
                <a:schemeClr val="dk1"/>
              </a:solidFill>
              <a:latin typeface="Calibri"/>
              <a:ea typeface="Calibri"/>
              <a:cs typeface="Calibri"/>
              <a:sym typeface="Calibri"/>
            </a:endParaRPr>
          </a:p>
        </p:txBody>
      </p:sp>
      <p:sp>
        <p:nvSpPr>
          <p:cNvPr id="500" name="Google Shape;500;p18"/>
          <p:cNvSpPr/>
          <p:nvPr/>
        </p:nvSpPr>
        <p:spPr>
          <a:xfrm>
            <a:off x="4663440" y="3383280"/>
            <a:ext cx="2926080" cy="640080"/>
          </a:xfrm>
          <a:prstGeom prst="roundRect">
            <a:avLst>
              <a:gd name="adj" fmla="val 857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1" name="Google Shape;501;p18" descr="Equation"/>
          <p:cNvPicPr preferRelativeResize="0"/>
          <p:nvPr/>
        </p:nvPicPr>
        <p:blipFill rotWithShape="1">
          <a:blip r:embed="rId7">
            <a:alphaModFix/>
          </a:blip>
          <a:srcRect/>
          <a:stretch/>
        </p:blipFill>
        <p:spPr>
          <a:xfrm>
            <a:off x="5557266" y="3466719"/>
            <a:ext cx="1138428" cy="473202"/>
          </a:xfrm>
          <a:prstGeom prst="rect">
            <a:avLst/>
          </a:prstGeom>
          <a:noFill/>
          <a:ln>
            <a:noFill/>
          </a:ln>
        </p:spPr>
      </p:pic>
      <p:sp>
        <p:nvSpPr>
          <p:cNvPr id="502" name="Google Shape;502;p18"/>
          <p:cNvSpPr txBox="1"/>
          <p:nvPr/>
        </p:nvSpPr>
        <p:spPr>
          <a:xfrm>
            <a:off x="7772400" y="2971800"/>
            <a:ext cx="3840480" cy="10515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Grading on a curve: every layer receives inputs with mean 0 and variance 1, whatever happened upstream.</a:t>
            </a:r>
            <a:endParaRPr sz="1400" b="0" i="0" u="none" strike="noStrike" cap="none">
              <a:solidFill>
                <a:schemeClr val="dk1"/>
              </a:solidFill>
              <a:latin typeface="Calibri"/>
              <a:ea typeface="Calibri"/>
              <a:cs typeface="Calibri"/>
              <a:sym typeface="Calibri"/>
            </a:endParaRPr>
          </a:p>
        </p:txBody>
      </p:sp>
      <p:sp>
        <p:nvSpPr>
          <p:cNvPr id="503" name="Google Shape;503;p18"/>
          <p:cNvSpPr/>
          <p:nvPr/>
        </p:nvSpPr>
        <p:spPr>
          <a:xfrm>
            <a:off x="3703320" y="4251960"/>
            <a:ext cx="8028432" cy="1234440"/>
          </a:xfrm>
          <a:prstGeom prst="roundRect">
            <a:avLst>
              <a:gd name="adj" fmla="val 7407"/>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8"/>
          <p:cNvSpPr/>
          <p:nvPr/>
        </p:nvSpPr>
        <p:spPr>
          <a:xfrm>
            <a:off x="3904488" y="4572000"/>
            <a:ext cx="603504" cy="603504"/>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5" name="Google Shape;505;p18" descr="preencoded.png"/>
          <p:cNvPicPr preferRelativeResize="0"/>
          <p:nvPr/>
        </p:nvPicPr>
        <p:blipFill rotWithShape="1">
          <a:blip r:embed="rId8">
            <a:alphaModFix/>
          </a:blip>
          <a:srcRect/>
          <a:stretch/>
        </p:blipFill>
        <p:spPr>
          <a:xfrm>
            <a:off x="4049329" y="4716841"/>
            <a:ext cx="313822" cy="313822"/>
          </a:xfrm>
          <a:prstGeom prst="rect">
            <a:avLst/>
          </a:prstGeom>
          <a:noFill/>
          <a:ln>
            <a:noFill/>
          </a:ln>
        </p:spPr>
      </p:pic>
      <p:sp>
        <p:nvSpPr>
          <p:cNvPr id="506" name="Google Shape;506;p18"/>
          <p:cNvSpPr txBox="1"/>
          <p:nvPr/>
        </p:nvSpPr>
        <p:spPr>
          <a:xfrm>
            <a:off x="4663440" y="4343400"/>
            <a:ext cx="3108960"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D28D9"/>
              </a:buClr>
              <a:buSzPts val="1700"/>
              <a:buFont typeface="Calibri"/>
              <a:buNone/>
            </a:pPr>
            <a:r>
              <a:rPr lang="en-US" sz="1700" b="1" i="0" u="none" strike="noStrike" cap="none">
                <a:solidFill>
                  <a:srgbClr val="6D28D9"/>
                </a:solidFill>
                <a:latin typeface="Calibri"/>
                <a:ea typeface="Calibri"/>
                <a:cs typeface="Calibri"/>
                <a:sym typeface="Calibri"/>
              </a:rPr>
              <a:t>#3 Scaled dot product</a:t>
            </a:r>
            <a:endParaRPr sz="1700" b="0" i="0" u="none" strike="noStrike" cap="none">
              <a:solidFill>
                <a:schemeClr val="dk1"/>
              </a:solidFill>
              <a:latin typeface="Calibri"/>
              <a:ea typeface="Calibri"/>
              <a:cs typeface="Calibri"/>
              <a:sym typeface="Calibri"/>
            </a:endParaRPr>
          </a:p>
        </p:txBody>
      </p:sp>
      <p:sp>
        <p:nvSpPr>
          <p:cNvPr id="507" name="Google Shape;507;p18"/>
          <p:cNvSpPr/>
          <p:nvPr/>
        </p:nvSpPr>
        <p:spPr>
          <a:xfrm>
            <a:off x="4663440" y="4754880"/>
            <a:ext cx="2926080" cy="640080"/>
          </a:xfrm>
          <a:prstGeom prst="roundRect">
            <a:avLst>
              <a:gd name="adj" fmla="val 857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8" name="Google Shape;508;p18" descr="Equation"/>
          <p:cNvPicPr preferRelativeResize="0"/>
          <p:nvPr/>
        </p:nvPicPr>
        <p:blipFill rotWithShape="1">
          <a:blip r:embed="rId9">
            <a:alphaModFix/>
          </a:blip>
          <a:srcRect/>
          <a:stretch/>
        </p:blipFill>
        <p:spPr>
          <a:xfrm>
            <a:off x="5381244" y="4810887"/>
            <a:ext cx="1490472" cy="528066"/>
          </a:xfrm>
          <a:prstGeom prst="rect">
            <a:avLst/>
          </a:prstGeom>
          <a:noFill/>
          <a:ln>
            <a:noFill/>
          </a:ln>
        </p:spPr>
      </p:pic>
      <p:sp>
        <p:nvSpPr>
          <p:cNvPr id="509" name="Google Shape;509;p18"/>
          <p:cNvSpPr txBox="1"/>
          <p:nvPr/>
        </p:nvSpPr>
        <p:spPr>
          <a:xfrm>
            <a:off x="7772400" y="4343400"/>
            <a:ext cx="3840480" cy="10515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Turning down the volume: long vectors produce huge scores, so we divide before the softmax.</a:t>
            </a:r>
            <a:endParaRPr sz="1400" b="0" i="0" u="none" strike="noStrike" cap="none">
              <a:solidFill>
                <a:schemeClr val="dk1"/>
              </a:solidFill>
              <a:latin typeface="Calibri"/>
              <a:ea typeface="Calibri"/>
              <a:cs typeface="Calibri"/>
              <a:sym typeface="Calibri"/>
            </a:endParaRPr>
          </a:p>
        </p:txBody>
      </p:sp>
      <p:sp>
        <p:nvSpPr>
          <p:cNvPr id="510" name="Google Shape;510;p18"/>
          <p:cNvSpPr/>
          <p:nvPr/>
        </p:nvSpPr>
        <p:spPr>
          <a:xfrm>
            <a:off x="457200" y="5715000"/>
            <a:ext cx="11277295" cy="621792"/>
          </a:xfrm>
          <a:prstGeom prst="roundRect">
            <a:avLst>
              <a:gd name="adj" fmla="val 8824"/>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8"/>
          <p:cNvSpPr txBox="1"/>
          <p:nvPr/>
        </p:nvSpPr>
        <p:spPr>
          <a:xfrm>
            <a:off x="594360" y="575157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Same tricks everywhere:  </a:t>
            </a:r>
            <a:r>
              <a:rPr lang="en-US" sz="1400" b="0" i="1" u="none" strike="noStrike" cap="none">
                <a:solidFill>
                  <a:srgbClr val="7C3E0A"/>
                </a:solidFill>
                <a:latin typeface="Calibri"/>
                <a:ea typeface="Calibri"/>
                <a:cs typeface="Calibri"/>
                <a:sym typeface="Calibri"/>
              </a:rPr>
              <a:t>ResNet (2015) brought residual connections to vision; every LLM today, from GPT to LLaMA, still uses all three.</a:t>
            </a:r>
            <a:endParaRPr sz="1400" b="0" i="0" u="none" strike="noStrike" cap="none">
              <a:solidFill>
                <a:schemeClr val="dk1"/>
              </a:solidFill>
              <a:latin typeface="Calibri"/>
              <a:ea typeface="Calibri"/>
              <a:cs typeface="Calibri"/>
              <a:sym typeface="Calibri"/>
            </a:endParaRPr>
          </a:p>
        </p:txBody>
      </p:sp>
      <p:sp>
        <p:nvSpPr>
          <p:cNvPr id="512" name="Google Shape;512;p18"/>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10</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19"/>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Tricks #1 and #2: Residual Connections and LayerNorm</a:t>
            </a:r>
            <a:endParaRPr sz="3000"/>
          </a:p>
        </p:txBody>
      </p:sp>
      <p:sp>
        <p:nvSpPr>
          <p:cNvPr id="519" name="Google Shape;519;p19"/>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Keep the gradient flowing and the activations in range</a:t>
            </a:r>
            <a:endParaRPr sz="1500"/>
          </a:p>
        </p:txBody>
      </p:sp>
      <p:sp>
        <p:nvSpPr>
          <p:cNvPr id="520" name="Google Shape;520;p19"/>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2 · MAKING IT DEEP</a:t>
            </a:r>
            <a:endParaRPr sz="1000" b="0" i="0" u="none" strike="noStrike" cap="none">
              <a:solidFill>
                <a:schemeClr val="dk1"/>
              </a:solidFill>
              <a:latin typeface="Calibri"/>
              <a:ea typeface="Calibri"/>
              <a:cs typeface="Calibri"/>
              <a:sym typeface="Calibri"/>
            </a:endParaRPr>
          </a:p>
        </p:txBody>
      </p:sp>
      <p:sp>
        <p:nvSpPr>
          <p:cNvPr id="521" name="Google Shape;521;p19"/>
          <p:cNvSpPr/>
          <p:nvPr/>
        </p:nvSpPr>
        <p:spPr>
          <a:xfrm>
            <a:off x="457200" y="1508760"/>
            <a:ext cx="5532120" cy="3977640"/>
          </a:xfrm>
          <a:prstGeom prst="roundRect">
            <a:avLst>
              <a:gd name="adj" fmla="val 229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9"/>
          <p:cNvSpPr/>
          <p:nvPr/>
        </p:nvSpPr>
        <p:spPr>
          <a:xfrm>
            <a:off x="621792" y="1673352"/>
            <a:ext cx="237744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9"/>
          <p:cNvSpPr txBox="1"/>
          <p:nvPr/>
        </p:nvSpPr>
        <p:spPr>
          <a:xfrm>
            <a:off x="621792" y="1673352"/>
            <a:ext cx="237744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Residual connection</a:t>
            </a:r>
            <a:endParaRPr sz="1200" b="0" i="0" u="none" strike="noStrike" cap="none">
              <a:solidFill>
                <a:schemeClr val="dk1"/>
              </a:solidFill>
              <a:latin typeface="Calibri"/>
              <a:ea typeface="Calibri"/>
              <a:cs typeface="Calibri"/>
              <a:sym typeface="Calibri"/>
            </a:endParaRPr>
          </a:p>
        </p:txBody>
      </p:sp>
      <p:sp>
        <p:nvSpPr>
          <p:cNvPr id="524" name="Google Shape;524;p19"/>
          <p:cNvSpPr txBox="1"/>
          <p:nvPr/>
        </p:nvSpPr>
        <p:spPr>
          <a:xfrm>
            <a:off x="594360" y="2075688"/>
            <a:ext cx="5257800" cy="3319272"/>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25" name="Google Shape;525;p19"/>
          <p:cNvSpPr/>
          <p:nvPr/>
        </p:nvSpPr>
        <p:spPr>
          <a:xfrm>
            <a:off x="640080" y="2148840"/>
            <a:ext cx="5166360" cy="566928"/>
          </a:xfrm>
          <a:prstGeom prst="roundRect">
            <a:avLst>
              <a:gd name="adj" fmla="val 9677"/>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6" name="Google Shape;526;p19" descr="Equation"/>
          <p:cNvPicPr preferRelativeResize="0"/>
          <p:nvPr/>
        </p:nvPicPr>
        <p:blipFill rotWithShape="1">
          <a:blip r:embed="rId3">
            <a:alphaModFix/>
          </a:blip>
          <a:srcRect/>
          <a:stretch/>
        </p:blipFill>
        <p:spPr>
          <a:xfrm>
            <a:off x="2147926" y="2284171"/>
            <a:ext cx="2150669" cy="296266"/>
          </a:xfrm>
          <a:prstGeom prst="rect">
            <a:avLst/>
          </a:prstGeom>
          <a:noFill/>
          <a:ln>
            <a:noFill/>
          </a:ln>
        </p:spPr>
      </p:pic>
      <p:sp>
        <p:nvSpPr>
          <p:cNvPr id="527" name="Google Shape;527;p19"/>
          <p:cNvSpPr txBox="1"/>
          <p:nvPr/>
        </p:nvSpPr>
        <p:spPr>
          <a:xfrm>
            <a:off x="640080" y="2834640"/>
            <a:ext cx="5166360" cy="2011680"/>
          </a:xfrm>
          <a:prstGeom prst="rect">
            <a:avLst/>
          </a:prstGeom>
          <a:noFill/>
          <a:ln>
            <a:noFill/>
          </a:ln>
        </p:spPr>
        <p:txBody>
          <a:bodyPr spcFirstLastPara="1" wrap="square" lIns="750" tIns="750" rIns="750" bIns="750" anchor="t" anchorCtr="0">
            <a:noAutofit/>
          </a:bodyPr>
          <a:lstStyle/>
          <a:p>
            <a:pPr marL="177800" marR="0" lvl="0" indent="-177800" algn="l" rtl="0">
              <a:spcBef>
                <a:spcPts val="0"/>
              </a:spcBef>
              <a:spcAft>
                <a:spcPts val="0"/>
              </a:spcAft>
              <a:buClr>
                <a:srgbClr val="334155"/>
              </a:buClr>
              <a:buSzPts val="1400"/>
              <a:buFont typeface="Calibri"/>
              <a:buChar char="•"/>
            </a:pPr>
            <a:r>
              <a:rPr lang="en-US" sz="1400" b="1" i="0" u="none" strike="noStrike" cap="none">
                <a:solidFill>
                  <a:srgbClr val="334155"/>
                </a:solidFill>
                <a:latin typeface="Calibri"/>
                <a:ea typeface="Calibri"/>
                <a:cs typeface="Calibri"/>
                <a:sym typeface="Calibri"/>
              </a:rPr>
              <a:t>Problem: </a:t>
            </a:r>
            <a:r>
              <a:rPr lang="en-US" sz="1400" b="0" i="0" u="none" strike="noStrike" cap="none">
                <a:solidFill>
                  <a:srgbClr val="334155"/>
                </a:solidFill>
                <a:latin typeface="Calibri"/>
                <a:ea typeface="Calibri"/>
                <a:cs typeface="Calibri"/>
                <a:sym typeface="Calibri"/>
              </a:rPr>
              <a:t>deep nets are surprisingly bad at learning the identity map, and gradients shrink layer by layer.</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1" i="0" u="none" strike="noStrike" cap="none">
                <a:solidFill>
                  <a:srgbClr val="334155"/>
                </a:solidFill>
                <a:latin typeface="Calibri"/>
                <a:ea typeface="Calibri"/>
                <a:cs typeface="Calibri"/>
                <a:sym typeface="Calibri"/>
              </a:rPr>
              <a:t>Fix: </a:t>
            </a:r>
            <a:r>
              <a:rPr lang="en-US" sz="1400" b="0" i="0" u="none" strike="noStrike" cap="none">
                <a:solidFill>
                  <a:srgbClr val="334155"/>
                </a:solidFill>
                <a:latin typeface="Calibri"/>
                <a:ea typeface="Calibri"/>
                <a:cs typeface="Calibri"/>
                <a:sym typeface="Calibri"/>
              </a:rPr>
              <a:t>pass the input straight through and let the layer learn only the correction F(x).</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1" i="0" u="none" strike="noStrike" cap="none">
                <a:solidFill>
                  <a:srgbClr val="334155"/>
                </a:solidFill>
                <a:latin typeface="Calibri"/>
                <a:ea typeface="Calibri"/>
                <a:cs typeface="Calibri"/>
                <a:sym typeface="Calibri"/>
              </a:rPr>
              <a:t>Effect: </a:t>
            </a:r>
            <a:r>
              <a:rPr lang="en-US" sz="1400" b="0" i="0" u="none" strike="noStrike" cap="none">
                <a:solidFill>
                  <a:srgbClr val="334155"/>
                </a:solidFill>
                <a:latin typeface="Calibri"/>
                <a:ea typeface="Calibri"/>
                <a:cs typeface="Calibri"/>
                <a:sym typeface="Calibri"/>
              </a:rPr>
              <a:t>a gradient always has a direct path back to early layers.</a:t>
            </a:r>
            <a:endParaRPr sz="1400" b="0" i="0" u="none" strike="noStrike" cap="none">
              <a:solidFill>
                <a:schemeClr val="dk1"/>
              </a:solidFill>
              <a:latin typeface="Calibri"/>
              <a:ea typeface="Calibri"/>
              <a:cs typeface="Calibri"/>
              <a:sym typeface="Calibri"/>
            </a:endParaRPr>
          </a:p>
        </p:txBody>
      </p:sp>
      <p:sp>
        <p:nvSpPr>
          <p:cNvPr id="528" name="Google Shape;528;p19"/>
          <p:cNvSpPr txBox="1"/>
          <p:nvPr/>
        </p:nvSpPr>
        <p:spPr>
          <a:xfrm>
            <a:off x="640080" y="4846320"/>
            <a:ext cx="5166360"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D4ED8"/>
              </a:buClr>
              <a:buSzPts val="1300"/>
              <a:buFont typeface="Calibri"/>
              <a:buNone/>
            </a:pPr>
            <a:r>
              <a:rPr lang="en-US" sz="1300" b="0" i="1" u="none" strike="noStrike" cap="none">
                <a:solidFill>
                  <a:srgbClr val="1D4ED8"/>
                </a:solidFill>
                <a:latin typeface="Calibri"/>
                <a:ea typeface="Calibri"/>
                <a:cs typeface="Calibri"/>
                <a:sym typeface="Calibri"/>
              </a:rPr>
              <a:t>Analogy: editing a draft. You keep the original and add tracked changes, instead of rewriting from scratch.</a:t>
            </a:r>
            <a:endParaRPr sz="1300" b="0" i="0" u="none" strike="noStrike" cap="none">
              <a:solidFill>
                <a:schemeClr val="dk1"/>
              </a:solidFill>
              <a:latin typeface="Calibri"/>
              <a:ea typeface="Calibri"/>
              <a:cs typeface="Calibri"/>
              <a:sym typeface="Calibri"/>
            </a:endParaRPr>
          </a:p>
        </p:txBody>
      </p:sp>
      <p:sp>
        <p:nvSpPr>
          <p:cNvPr id="529" name="Google Shape;529;p19"/>
          <p:cNvSpPr/>
          <p:nvPr/>
        </p:nvSpPr>
        <p:spPr>
          <a:xfrm>
            <a:off x="6199632" y="1508760"/>
            <a:ext cx="5532120" cy="3977640"/>
          </a:xfrm>
          <a:prstGeom prst="roundRect">
            <a:avLst>
              <a:gd name="adj" fmla="val 229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9"/>
          <p:cNvSpPr/>
          <p:nvPr/>
        </p:nvSpPr>
        <p:spPr>
          <a:xfrm>
            <a:off x="6364224" y="1673352"/>
            <a:ext cx="237744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9"/>
          <p:cNvSpPr txBox="1"/>
          <p:nvPr/>
        </p:nvSpPr>
        <p:spPr>
          <a:xfrm>
            <a:off x="6364224" y="1673352"/>
            <a:ext cx="237744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Layer normalisation</a:t>
            </a:r>
            <a:endParaRPr sz="1200" b="0" i="0" u="none" strike="noStrike" cap="none">
              <a:solidFill>
                <a:schemeClr val="dk1"/>
              </a:solidFill>
              <a:latin typeface="Calibri"/>
              <a:ea typeface="Calibri"/>
              <a:cs typeface="Calibri"/>
              <a:sym typeface="Calibri"/>
            </a:endParaRPr>
          </a:p>
        </p:txBody>
      </p:sp>
      <p:sp>
        <p:nvSpPr>
          <p:cNvPr id="532" name="Google Shape;532;p19"/>
          <p:cNvSpPr txBox="1"/>
          <p:nvPr/>
        </p:nvSpPr>
        <p:spPr>
          <a:xfrm>
            <a:off x="6336792" y="2075688"/>
            <a:ext cx="5257800" cy="3319272"/>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33" name="Google Shape;533;p19"/>
          <p:cNvSpPr/>
          <p:nvPr/>
        </p:nvSpPr>
        <p:spPr>
          <a:xfrm>
            <a:off x="6382512" y="2103120"/>
            <a:ext cx="5166360" cy="658368"/>
          </a:xfrm>
          <a:prstGeom prst="roundRect">
            <a:avLst>
              <a:gd name="adj" fmla="val 8333"/>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4" name="Google Shape;534;p19" descr="Equation"/>
          <p:cNvPicPr preferRelativeResize="0"/>
          <p:nvPr/>
        </p:nvPicPr>
        <p:blipFill rotWithShape="1">
          <a:blip r:embed="rId4">
            <a:alphaModFix/>
          </a:blip>
          <a:srcRect/>
          <a:stretch/>
        </p:blipFill>
        <p:spPr>
          <a:xfrm>
            <a:off x="7564149" y="2139696"/>
            <a:ext cx="2803085" cy="585216"/>
          </a:xfrm>
          <a:prstGeom prst="rect">
            <a:avLst/>
          </a:prstGeom>
          <a:noFill/>
          <a:ln>
            <a:noFill/>
          </a:ln>
        </p:spPr>
      </p:pic>
      <p:sp>
        <p:nvSpPr>
          <p:cNvPr id="535" name="Google Shape;535;p19"/>
          <p:cNvSpPr/>
          <p:nvPr/>
        </p:nvSpPr>
        <p:spPr>
          <a:xfrm>
            <a:off x="6382512" y="2834640"/>
            <a:ext cx="5166360" cy="603504"/>
          </a:xfrm>
          <a:prstGeom prst="roundRect">
            <a:avLst>
              <a:gd name="adj" fmla="val 909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6" name="Google Shape;536;p19" descr="Equation"/>
          <p:cNvPicPr preferRelativeResize="0"/>
          <p:nvPr/>
        </p:nvPicPr>
        <p:blipFill rotWithShape="1">
          <a:blip r:embed="rId5">
            <a:alphaModFix/>
          </a:blip>
          <a:srcRect/>
          <a:stretch/>
        </p:blipFill>
        <p:spPr>
          <a:xfrm>
            <a:off x="7772095" y="2884018"/>
            <a:ext cx="2387194" cy="504749"/>
          </a:xfrm>
          <a:prstGeom prst="rect">
            <a:avLst/>
          </a:prstGeom>
          <a:noFill/>
          <a:ln>
            <a:noFill/>
          </a:ln>
        </p:spPr>
      </p:pic>
      <p:sp>
        <p:nvSpPr>
          <p:cNvPr id="537" name="Google Shape;537;p19"/>
          <p:cNvSpPr txBox="1"/>
          <p:nvPr/>
        </p:nvSpPr>
        <p:spPr>
          <a:xfrm>
            <a:off x="6382512" y="3474720"/>
            <a:ext cx="5166360" cy="1371600"/>
          </a:xfrm>
          <a:prstGeom prst="rect">
            <a:avLst/>
          </a:prstGeom>
          <a:noFill/>
          <a:ln>
            <a:noFill/>
          </a:ln>
        </p:spPr>
        <p:txBody>
          <a:bodyPr spcFirstLastPara="1" wrap="square" lIns="750" tIns="750" rIns="750" bIns="750" anchor="t" anchorCtr="0">
            <a:noAutofit/>
          </a:bodyPr>
          <a:lstStyle/>
          <a:p>
            <a:pPr marL="177800" marR="0" lvl="0" indent="-177800" algn="l" rtl="0">
              <a:spcBef>
                <a:spcPts val="0"/>
              </a:spcBef>
              <a:spcAft>
                <a:spcPts val="0"/>
              </a:spcAft>
              <a:buClr>
                <a:srgbClr val="334155"/>
              </a:buClr>
              <a:buSzPts val="1400"/>
              <a:buFont typeface="Calibri"/>
              <a:buChar char="•"/>
            </a:pPr>
            <a:r>
              <a:rPr lang="en-US" sz="1400" b="1" i="0" u="none" strike="noStrike" cap="none">
                <a:solidFill>
                  <a:srgbClr val="334155"/>
                </a:solidFill>
                <a:latin typeface="Calibri"/>
                <a:ea typeface="Calibri"/>
                <a:cs typeface="Calibri"/>
                <a:sym typeface="Calibri"/>
              </a:rPr>
              <a:t>Per token, across features: </a:t>
            </a:r>
            <a:r>
              <a:rPr lang="en-US" sz="1400" b="0" i="0" u="none" strike="noStrike" cap="none">
                <a:solidFill>
                  <a:srgbClr val="334155"/>
                </a:solidFill>
                <a:latin typeface="Calibri"/>
                <a:ea typeface="Calibri"/>
                <a:cs typeface="Calibri"/>
                <a:sym typeface="Calibri"/>
              </a:rPr>
              <a:t>each word's vector is rescaled on its own, so batch size does not matter.</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1" i="0" u="none" strike="noStrike" cap="none">
                <a:solidFill>
                  <a:srgbClr val="334155"/>
                </a:solidFill>
                <a:latin typeface="Calibri"/>
                <a:ea typeface="Calibri"/>
                <a:cs typeface="Calibri"/>
                <a:sym typeface="Calibri"/>
              </a:rPr>
              <a:t>γ, β are learned: </a:t>
            </a:r>
            <a:r>
              <a:rPr lang="en-US" sz="1400" b="0" i="0" u="none" strike="noStrike" cap="none">
                <a:solidFill>
                  <a:srgbClr val="334155"/>
                </a:solidFill>
                <a:latin typeface="Calibri"/>
                <a:ea typeface="Calibri"/>
                <a:cs typeface="Calibri"/>
                <a:sym typeface="Calibri"/>
              </a:rPr>
              <a:t>the model can undo the scaling if that helps.</a:t>
            </a:r>
            <a:endParaRPr sz="1400" b="0" i="0" u="none" strike="noStrike" cap="none">
              <a:solidFill>
                <a:schemeClr val="dk1"/>
              </a:solidFill>
              <a:latin typeface="Calibri"/>
              <a:ea typeface="Calibri"/>
              <a:cs typeface="Calibri"/>
              <a:sym typeface="Calibri"/>
            </a:endParaRPr>
          </a:p>
        </p:txBody>
      </p:sp>
      <p:sp>
        <p:nvSpPr>
          <p:cNvPr id="538" name="Google Shape;538;p19"/>
          <p:cNvSpPr txBox="1"/>
          <p:nvPr/>
        </p:nvSpPr>
        <p:spPr>
          <a:xfrm>
            <a:off x="6382512" y="4846320"/>
            <a:ext cx="5166360"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300"/>
              <a:buFont typeface="Calibri"/>
              <a:buNone/>
            </a:pPr>
            <a:r>
              <a:rPr lang="en-US" sz="1300" b="0" i="1" u="none" strike="noStrike" cap="none">
                <a:solidFill>
                  <a:srgbClr val="0F766E"/>
                </a:solidFill>
                <a:latin typeface="Calibri"/>
                <a:ea typeface="Calibri"/>
                <a:cs typeface="Calibri"/>
                <a:sym typeface="Calibri"/>
              </a:rPr>
              <a:t>Analogy: converting marks from different boards to percentiles before comparing students.</a:t>
            </a:r>
            <a:endParaRPr sz="1300" b="0" i="0" u="none" strike="noStrike" cap="none">
              <a:solidFill>
                <a:schemeClr val="dk1"/>
              </a:solidFill>
              <a:latin typeface="Calibri"/>
              <a:ea typeface="Calibri"/>
              <a:cs typeface="Calibri"/>
              <a:sym typeface="Calibri"/>
            </a:endParaRPr>
          </a:p>
        </p:txBody>
      </p:sp>
      <p:sp>
        <p:nvSpPr>
          <p:cNvPr id="539" name="Google Shape;539;p19"/>
          <p:cNvSpPr/>
          <p:nvPr/>
        </p:nvSpPr>
        <p:spPr>
          <a:xfrm>
            <a:off x="457200" y="5669280"/>
            <a:ext cx="11277295" cy="640080"/>
          </a:xfrm>
          <a:prstGeom prst="roundRect">
            <a:avLst>
              <a:gd name="adj" fmla="val 8571"/>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9"/>
          <p:cNvSpPr txBox="1"/>
          <p:nvPr/>
        </p:nvSpPr>
        <p:spPr>
          <a:xfrm>
            <a:off x="594360" y="5705856"/>
            <a:ext cx="11002975" cy="56692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Exam tip:  </a:t>
            </a:r>
            <a:r>
              <a:rPr lang="en-US" sz="1400" b="0" i="1" u="none" strike="noStrike" cap="none">
                <a:solidFill>
                  <a:srgbClr val="7C3E0A"/>
                </a:solidFill>
                <a:latin typeface="Calibri"/>
                <a:ea typeface="Calibri"/>
                <a:cs typeface="Calibri"/>
                <a:sym typeface="Calibri"/>
              </a:rPr>
              <a:t>the original Transformer applies LayerNorm after the residual add (post-norm); GPT-2 onwards mostly apply it before each sublayer (pre-norm) for stabler deep training.</a:t>
            </a:r>
            <a:endParaRPr sz="1400" b="0" i="0" u="none" strike="noStrike" cap="none">
              <a:solidFill>
                <a:schemeClr val="dk1"/>
              </a:solidFill>
              <a:latin typeface="Calibri"/>
              <a:ea typeface="Calibri"/>
              <a:cs typeface="Calibri"/>
              <a:sym typeface="Calibri"/>
            </a:endParaRPr>
          </a:p>
        </p:txBody>
      </p:sp>
      <p:sp>
        <p:nvSpPr>
          <p:cNvPr id="541" name="Google Shape;541;p19"/>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11</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20"/>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Trick #3: Why Divide by √dₖ?</a:t>
            </a:r>
            <a:endParaRPr sz="3000"/>
          </a:p>
        </p:txBody>
      </p:sp>
      <p:sp>
        <p:nvSpPr>
          <p:cNvPr id="548" name="Google Shape;548;p20"/>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Large dot products push softmax into saturation, where gradients vanish</a:t>
            </a:r>
            <a:endParaRPr sz="1500"/>
          </a:p>
        </p:txBody>
      </p:sp>
      <p:sp>
        <p:nvSpPr>
          <p:cNvPr id="549" name="Google Shape;549;p20"/>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2 · MAKING IT DEEP</a:t>
            </a:r>
            <a:endParaRPr sz="1000" b="0" i="0" u="none" strike="noStrike" cap="none">
              <a:solidFill>
                <a:schemeClr val="dk1"/>
              </a:solidFill>
              <a:latin typeface="Calibri"/>
              <a:ea typeface="Calibri"/>
              <a:cs typeface="Calibri"/>
              <a:sym typeface="Calibri"/>
            </a:endParaRPr>
          </a:p>
        </p:txBody>
      </p:sp>
      <p:sp>
        <p:nvSpPr>
          <p:cNvPr id="550" name="Google Shape;550;p20"/>
          <p:cNvSpPr/>
          <p:nvPr/>
        </p:nvSpPr>
        <p:spPr>
          <a:xfrm>
            <a:off x="457200" y="1508760"/>
            <a:ext cx="5532120" cy="4023360"/>
          </a:xfrm>
          <a:prstGeom prst="roundRect">
            <a:avLst>
              <a:gd name="adj" fmla="val 227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640080" y="1691640"/>
            <a:ext cx="201168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txBox="1"/>
          <p:nvPr/>
        </p:nvSpPr>
        <p:spPr>
          <a:xfrm>
            <a:off x="640080" y="1691640"/>
            <a:ext cx="201168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Quick statistics</a:t>
            </a:r>
            <a:endParaRPr sz="1200" b="0" i="0" u="none" strike="noStrike" cap="none">
              <a:solidFill>
                <a:schemeClr val="dk1"/>
              </a:solidFill>
              <a:latin typeface="Calibri"/>
              <a:ea typeface="Calibri"/>
              <a:cs typeface="Calibri"/>
              <a:sym typeface="Calibri"/>
            </a:endParaRPr>
          </a:p>
        </p:txBody>
      </p:sp>
      <p:sp>
        <p:nvSpPr>
          <p:cNvPr id="553" name="Google Shape;553;p20"/>
          <p:cNvSpPr txBox="1"/>
          <p:nvPr/>
        </p:nvSpPr>
        <p:spPr>
          <a:xfrm>
            <a:off x="640080" y="2103120"/>
            <a:ext cx="5166360" cy="1417320"/>
          </a:xfrm>
          <a:prstGeom prst="rect">
            <a:avLst/>
          </a:prstGeom>
          <a:noFill/>
          <a:ln>
            <a:noFill/>
          </a:ln>
        </p:spPr>
        <p:txBody>
          <a:bodyPr spcFirstLastPara="1" wrap="square" lIns="750" tIns="750" rIns="750" bIns="750" anchor="t" anchorCtr="0">
            <a:noAutofit/>
          </a:bodyPr>
          <a:lstStyle/>
          <a:p>
            <a:pPr marL="177800" marR="0" lvl="0" indent="-177800" algn="l" rtl="0">
              <a:spcBef>
                <a:spcPts val="0"/>
              </a:spcBef>
              <a:spcAft>
                <a:spcPts val="0"/>
              </a:spcAft>
              <a:buClr>
                <a:srgbClr val="334155"/>
              </a:buClr>
              <a:buSzPts val="1500"/>
              <a:buFont typeface="Calibri"/>
              <a:buChar char="•"/>
            </a:pPr>
            <a:r>
              <a:rPr lang="en-US" sz="1500" b="0" i="0" u="none" strike="noStrike" cap="none">
                <a:solidFill>
                  <a:srgbClr val="334155"/>
                </a:solidFill>
                <a:latin typeface="Calibri"/>
                <a:ea typeface="Calibri"/>
                <a:cs typeface="Calibri"/>
                <a:sym typeface="Calibri"/>
              </a:rPr>
              <a:t>Assume each component of q and k has mean 0, variance 1</a:t>
            </a:r>
            <a:endParaRPr sz="15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500"/>
              <a:buFont typeface="Calibri"/>
              <a:buChar char="•"/>
            </a:pPr>
            <a:r>
              <a:rPr lang="en-US" sz="1500" b="0" i="0" u="none" strike="noStrike" cap="none">
                <a:solidFill>
                  <a:srgbClr val="334155"/>
                </a:solidFill>
                <a:latin typeface="Calibri"/>
                <a:ea typeface="Calibri"/>
                <a:cs typeface="Calibri"/>
                <a:sym typeface="Calibri"/>
              </a:rPr>
              <a:t>Then q · k = Σᵢ qᵢkᵢ has </a:t>
            </a:r>
            <a:r>
              <a:rPr lang="en-US" sz="1500" b="1" i="0" u="none" strike="noStrike" cap="none">
                <a:solidFill>
                  <a:srgbClr val="334155"/>
                </a:solidFill>
                <a:latin typeface="Calibri"/>
                <a:ea typeface="Calibri"/>
                <a:cs typeface="Calibri"/>
                <a:sym typeface="Calibri"/>
              </a:rPr>
              <a:t>mean 0, variance dₖ</a:t>
            </a:r>
            <a:endParaRPr sz="15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500"/>
              <a:buFont typeface="Calibri"/>
              <a:buChar char="•"/>
            </a:pPr>
            <a:r>
              <a:rPr lang="en-US" sz="1500" b="0" i="0" u="none" strike="noStrike" cap="none">
                <a:solidFill>
                  <a:srgbClr val="334155"/>
                </a:solidFill>
                <a:latin typeface="Calibri"/>
                <a:ea typeface="Calibri"/>
                <a:cs typeface="Calibri"/>
                <a:sym typeface="Calibri"/>
              </a:rPr>
              <a:t>So typical scores grow like </a:t>
            </a:r>
            <a:r>
              <a:rPr lang="en-US" sz="1500" b="1" i="0" u="none" strike="noStrike" cap="none">
                <a:solidFill>
                  <a:srgbClr val="334155"/>
                </a:solidFill>
                <a:latin typeface="Calibri"/>
                <a:ea typeface="Calibri"/>
                <a:cs typeface="Calibri"/>
                <a:sym typeface="Calibri"/>
              </a:rPr>
              <a:t>√dₖ</a:t>
            </a:r>
            <a:endParaRPr sz="1500" b="0" i="0" u="none" strike="noStrike" cap="none">
              <a:solidFill>
                <a:schemeClr val="dk1"/>
              </a:solidFill>
              <a:latin typeface="Calibri"/>
              <a:ea typeface="Calibri"/>
              <a:cs typeface="Calibri"/>
              <a:sym typeface="Calibri"/>
            </a:endParaRPr>
          </a:p>
        </p:txBody>
      </p:sp>
      <p:sp>
        <p:nvSpPr>
          <p:cNvPr id="554" name="Google Shape;554;p20"/>
          <p:cNvSpPr/>
          <p:nvPr/>
        </p:nvSpPr>
        <p:spPr>
          <a:xfrm>
            <a:off x="640080" y="3566160"/>
            <a:ext cx="5166360" cy="658368"/>
          </a:xfrm>
          <a:prstGeom prst="roundRect">
            <a:avLst>
              <a:gd name="adj" fmla="val 8333"/>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5" name="Google Shape;555;p20" descr="Equation"/>
          <p:cNvPicPr preferRelativeResize="0"/>
          <p:nvPr/>
        </p:nvPicPr>
        <p:blipFill rotWithShape="1">
          <a:blip r:embed="rId3">
            <a:alphaModFix/>
          </a:blip>
          <a:srcRect/>
          <a:stretch/>
        </p:blipFill>
        <p:spPr>
          <a:xfrm>
            <a:off x="1517599" y="3621024"/>
            <a:ext cx="3411322" cy="548640"/>
          </a:xfrm>
          <a:prstGeom prst="rect">
            <a:avLst/>
          </a:prstGeom>
          <a:noFill/>
          <a:ln>
            <a:noFill/>
          </a:ln>
        </p:spPr>
      </p:pic>
      <p:sp>
        <p:nvSpPr>
          <p:cNvPr id="556" name="Google Shape;556;p20"/>
          <p:cNvSpPr txBox="1"/>
          <p:nvPr/>
        </p:nvSpPr>
        <p:spPr>
          <a:xfrm>
            <a:off x="640080" y="4297680"/>
            <a:ext cx="5166360" cy="10972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With dₖ = 64 (as in the original paper), unscaled scores are around ±8. Dividing by √64 = 8 brings them back to about ±1.</a:t>
            </a:r>
            <a:endParaRPr sz="1400" b="0" i="0" u="none" strike="noStrike" cap="none">
              <a:solidFill>
                <a:schemeClr val="dk1"/>
              </a:solidFill>
              <a:latin typeface="Calibri"/>
              <a:ea typeface="Calibri"/>
              <a:cs typeface="Calibri"/>
              <a:sym typeface="Calibri"/>
            </a:endParaRPr>
          </a:p>
        </p:txBody>
      </p:sp>
      <p:sp>
        <p:nvSpPr>
          <p:cNvPr id="557" name="Google Shape;557;p20"/>
          <p:cNvSpPr/>
          <p:nvPr/>
        </p:nvSpPr>
        <p:spPr>
          <a:xfrm>
            <a:off x="6199632" y="1508760"/>
            <a:ext cx="5532120" cy="4023360"/>
          </a:xfrm>
          <a:prstGeom prst="roundRect">
            <a:avLst>
              <a:gd name="adj" fmla="val 227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382512" y="1691640"/>
            <a:ext cx="2194560" cy="310896"/>
          </a:xfrm>
          <a:prstGeom prst="roundRect">
            <a:avLst>
              <a:gd name="adj" fmla="val 23529"/>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txBox="1"/>
          <p:nvPr/>
        </p:nvSpPr>
        <p:spPr>
          <a:xfrm>
            <a:off x="6382512" y="1691640"/>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See the difference</a:t>
            </a:r>
            <a:endParaRPr sz="1200" b="0" i="0" u="none" strike="noStrike" cap="none">
              <a:solidFill>
                <a:schemeClr val="dk1"/>
              </a:solidFill>
              <a:latin typeface="Calibri"/>
              <a:ea typeface="Calibri"/>
              <a:cs typeface="Calibri"/>
              <a:sym typeface="Calibri"/>
            </a:endParaRPr>
          </a:p>
        </p:txBody>
      </p:sp>
      <p:sp>
        <p:nvSpPr>
          <p:cNvPr id="560" name="Google Shape;560;p20"/>
          <p:cNvSpPr txBox="1"/>
          <p:nvPr/>
        </p:nvSpPr>
        <p:spPr>
          <a:xfrm>
            <a:off x="6382512" y="2194560"/>
            <a:ext cx="5120640"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Unscaled scores [8, 0]</a:t>
            </a:r>
            <a:endParaRPr sz="1500" b="0" i="0" u="none" strike="noStrike" cap="none">
              <a:solidFill>
                <a:schemeClr val="dk1"/>
              </a:solidFill>
              <a:latin typeface="Calibri"/>
              <a:ea typeface="Calibri"/>
              <a:cs typeface="Calibri"/>
              <a:sym typeface="Calibri"/>
            </a:endParaRPr>
          </a:p>
        </p:txBody>
      </p:sp>
      <p:sp>
        <p:nvSpPr>
          <p:cNvPr id="561" name="Google Shape;561;p20"/>
          <p:cNvSpPr txBox="1"/>
          <p:nvPr/>
        </p:nvSpPr>
        <p:spPr>
          <a:xfrm>
            <a:off x="6382512" y="2578608"/>
            <a:ext cx="822960" cy="31089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token 1</a:t>
            </a:r>
            <a:endParaRPr sz="1200" b="0" i="0" u="none" strike="noStrike" cap="none">
              <a:solidFill>
                <a:schemeClr val="dk1"/>
              </a:solidFill>
              <a:latin typeface="Calibri"/>
              <a:ea typeface="Calibri"/>
              <a:cs typeface="Calibri"/>
              <a:sym typeface="Calibri"/>
            </a:endParaRPr>
          </a:p>
        </p:txBody>
      </p:sp>
      <p:sp>
        <p:nvSpPr>
          <p:cNvPr id="562" name="Google Shape;562;p20"/>
          <p:cNvSpPr/>
          <p:nvPr/>
        </p:nvSpPr>
        <p:spPr>
          <a:xfrm>
            <a:off x="7223760" y="2624328"/>
            <a:ext cx="4023360" cy="237744"/>
          </a:xfrm>
          <a:prstGeom prst="rect">
            <a:avLst/>
          </a:prstGeom>
          <a:solidFill>
            <a:srgbClr val="F1F5F9"/>
          </a:solidFill>
          <a:ln w="12700" cap="flat" cmpd="sng">
            <a:solidFill>
              <a:srgbClr val="F1F5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7223760" y="2624328"/>
            <a:ext cx="4022153" cy="237744"/>
          </a:xfrm>
          <a:prstGeom prst="rect">
            <a:avLst/>
          </a:prstGeom>
          <a:solidFill>
            <a:srgbClr val="B91C1C"/>
          </a:solidFill>
          <a:ln w="12700"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txBox="1"/>
          <p:nvPr/>
        </p:nvSpPr>
        <p:spPr>
          <a:xfrm>
            <a:off x="11292840" y="2578608"/>
            <a:ext cx="685800" cy="31089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1.00</a:t>
            </a:r>
            <a:endParaRPr sz="1200" b="0" i="0" u="none" strike="noStrike" cap="none">
              <a:solidFill>
                <a:schemeClr val="dk1"/>
              </a:solidFill>
              <a:latin typeface="Calibri"/>
              <a:ea typeface="Calibri"/>
              <a:cs typeface="Calibri"/>
              <a:sym typeface="Calibri"/>
            </a:endParaRPr>
          </a:p>
        </p:txBody>
      </p:sp>
      <p:sp>
        <p:nvSpPr>
          <p:cNvPr id="565" name="Google Shape;565;p20"/>
          <p:cNvSpPr txBox="1"/>
          <p:nvPr/>
        </p:nvSpPr>
        <p:spPr>
          <a:xfrm>
            <a:off x="6382512" y="2962656"/>
            <a:ext cx="822960" cy="31089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token 2</a:t>
            </a:r>
            <a:endParaRPr sz="1200" b="0" i="0" u="none" strike="noStrike" cap="none">
              <a:solidFill>
                <a:schemeClr val="dk1"/>
              </a:solidFill>
              <a:latin typeface="Calibri"/>
              <a:ea typeface="Calibri"/>
              <a:cs typeface="Calibri"/>
              <a:sym typeface="Calibri"/>
            </a:endParaRPr>
          </a:p>
        </p:txBody>
      </p:sp>
      <p:sp>
        <p:nvSpPr>
          <p:cNvPr id="566" name="Google Shape;566;p20"/>
          <p:cNvSpPr/>
          <p:nvPr/>
        </p:nvSpPr>
        <p:spPr>
          <a:xfrm>
            <a:off x="7223760" y="3008376"/>
            <a:ext cx="4023360" cy="237744"/>
          </a:xfrm>
          <a:prstGeom prst="rect">
            <a:avLst/>
          </a:prstGeom>
          <a:solidFill>
            <a:srgbClr val="F1F5F9"/>
          </a:solidFill>
          <a:ln w="12700" cap="flat" cmpd="sng">
            <a:solidFill>
              <a:srgbClr val="F1F5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7223760" y="3008376"/>
            <a:ext cx="27432" cy="237744"/>
          </a:xfrm>
          <a:prstGeom prst="rect">
            <a:avLst/>
          </a:prstGeom>
          <a:solidFill>
            <a:srgbClr val="B91C1C"/>
          </a:solidFill>
          <a:ln w="12700"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txBox="1"/>
          <p:nvPr/>
        </p:nvSpPr>
        <p:spPr>
          <a:xfrm>
            <a:off x="11292840" y="2962656"/>
            <a:ext cx="685800" cy="31089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0.0003</a:t>
            </a:r>
            <a:endParaRPr sz="1200" b="0" i="0" u="none" strike="noStrike" cap="none">
              <a:solidFill>
                <a:schemeClr val="dk1"/>
              </a:solidFill>
              <a:latin typeface="Calibri"/>
              <a:ea typeface="Calibri"/>
              <a:cs typeface="Calibri"/>
              <a:sym typeface="Calibri"/>
            </a:endParaRPr>
          </a:p>
        </p:txBody>
      </p:sp>
      <p:sp>
        <p:nvSpPr>
          <p:cNvPr id="569" name="Google Shape;569;p20"/>
          <p:cNvSpPr txBox="1"/>
          <p:nvPr/>
        </p:nvSpPr>
        <p:spPr>
          <a:xfrm>
            <a:off x="6382512" y="3337560"/>
            <a:ext cx="5120640"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B91C1C"/>
              </a:buClr>
              <a:buSzPts val="1300"/>
              <a:buFont typeface="Calibri"/>
              <a:buNone/>
            </a:pPr>
            <a:r>
              <a:rPr lang="en-US" sz="1300" b="0" i="1" u="none" strike="noStrike" cap="none">
                <a:solidFill>
                  <a:srgbClr val="B91C1C"/>
                </a:solidFill>
                <a:latin typeface="Calibri"/>
                <a:ea typeface="Calibri"/>
                <a:cs typeface="Calibri"/>
                <a:sym typeface="Calibri"/>
              </a:rPr>
              <a:t>Almost one-hot: gradient ≈ 0, learning stalls</a:t>
            </a:r>
            <a:endParaRPr sz="1300" b="0" i="0" u="none" strike="noStrike" cap="none">
              <a:solidFill>
                <a:schemeClr val="dk1"/>
              </a:solidFill>
              <a:latin typeface="Calibri"/>
              <a:ea typeface="Calibri"/>
              <a:cs typeface="Calibri"/>
              <a:sym typeface="Calibri"/>
            </a:endParaRPr>
          </a:p>
        </p:txBody>
      </p:sp>
      <p:sp>
        <p:nvSpPr>
          <p:cNvPr id="570" name="Google Shape;570;p20"/>
          <p:cNvSpPr txBox="1"/>
          <p:nvPr/>
        </p:nvSpPr>
        <p:spPr>
          <a:xfrm>
            <a:off x="6382512" y="3794760"/>
            <a:ext cx="5120640"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Scaled scores [1, 0]</a:t>
            </a:r>
            <a:endParaRPr sz="1500" b="0" i="0" u="none" strike="noStrike" cap="none">
              <a:solidFill>
                <a:schemeClr val="dk1"/>
              </a:solidFill>
              <a:latin typeface="Calibri"/>
              <a:ea typeface="Calibri"/>
              <a:cs typeface="Calibri"/>
              <a:sym typeface="Calibri"/>
            </a:endParaRPr>
          </a:p>
        </p:txBody>
      </p:sp>
      <p:sp>
        <p:nvSpPr>
          <p:cNvPr id="571" name="Google Shape;571;p20"/>
          <p:cNvSpPr txBox="1"/>
          <p:nvPr/>
        </p:nvSpPr>
        <p:spPr>
          <a:xfrm>
            <a:off x="6382512" y="4178808"/>
            <a:ext cx="822960" cy="31089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token 1</a:t>
            </a:r>
            <a:endParaRPr sz="1200" b="0" i="0" u="none" strike="noStrike" cap="none">
              <a:solidFill>
                <a:schemeClr val="dk1"/>
              </a:solidFill>
              <a:latin typeface="Calibri"/>
              <a:ea typeface="Calibri"/>
              <a:cs typeface="Calibri"/>
              <a:sym typeface="Calibri"/>
            </a:endParaRPr>
          </a:p>
        </p:txBody>
      </p:sp>
      <p:sp>
        <p:nvSpPr>
          <p:cNvPr id="572" name="Google Shape;572;p20"/>
          <p:cNvSpPr/>
          <p:nvPr/>
        </p:nvSpPr>
        <p:spPr>
          <a:xfrm>
            <a:off x="7223760" y="4224528"/>
            <a:ext cx="4023360" cy="237744"/>
          </a:xfrm>
          <a:prstGeom prst="rect">
            <a:avLst/>
          </a:prstGeom>
          <a:solidFill>
            <a:srgbClr val="F1F5F9"/>
          </a:solidFill>
          <a:ln w="12700" cap="flat" cmpd="sng">
            <a:solidFill>
              <a:srgbClr val="F1F5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7223760" y="4224528"/>
            <a:ext cx="2937053" cy="237744"/>
          </a:xfrm>
          <a:prstGeom prst="rect">
            <a:avLst/>
          </a:prstGeom>
          <a:solidFill>
            <a:srgbClr val="15803D"/>
          </a:solidFill>
          <a:ln w="12700" cap="flat" cmpd="sng">
            <a:solidFill>
              <a:srgbClr val="1580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txBox="1"/>
          <p:nvPr/>
        </p:nvSpPr>
        <p:spPr>
          <a:xfrm>
            <a:off x="11292840" y="4178808"/>
            <a:ext cx="685800" cy="31089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0.73</a:t>
            </a:r>
            <a:endParaRPr sz="1200" b="0" i="0" u="none" strike="noStrike" cap="none">
              <a:solidFill>
                <a:schemeClr val="dk1"/>
              </a:solidFill>
              <a:latin typeface="Calibri"/>
              <a:ea typeface="Calibri"/>
              <a:cs typeface="Calibri"/>
              <a:sym typeface="Calibri"/>
            </a:endParaRPr>
          </a:p>
        </p:txBody>
      </p:sp>
      <p:sp>
        <p:nvSpPr>
          <p:cNvPr id="575" name="Google Shape;575;p20"/>
          <p:cNvSpPr txBox="1"/>
          <p:nvPr/>
        </p:nvSpPr>
        <p:spPr>
          <a:xfrm>
            <a:off x="6382512" y="4562856"/>
            <a:ext cx="822960" cy="31089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token 2</a:t>
            </a:r>
            <a:endParaRPr sz="1200" b="0" i="0" u="none" strike="noStrike" cap="none">
              <a:solidFill>
                <a:schemeClr val="dk1"/>
              </a:solidFill>
              <a:latin typeface="Calibri"/>
              <a:ea typeface="Calibri"/>
              <a:cs typeface="Calibri"/>
              <a:sym typeface="Calibri"/>
            </a:endParaRPr>
          </a:p>
        </p:txBody>
      </p:sp>
      <p:sp>
        <p:nvSpPr>
          <p:cNvPr id="576" name="Google Shape;576;p20"/>
          <p:cNvSpPr/>
          <p:nvPr/>
        </p:nvSpPr>
        <p:spPr>
          <a:xfrm>
            <a:off x="7223760" y="4608576"/>
            <a:ext cx="4023360" cy="237744"/>
          </a:xfrm>
          <a:prstGeom prst="rect">
            <a:avLst/>
          </a:prstGeom>
          <a:solidFill>
            <a:srgbClr val="F1F5F9"/>
          </a:solidFill>
          <a:ln w="12700" cap="flat" cmpd="sng">
            <a:solidFill>
              <a:srgbClr val="F1F5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7223760" y="4608576"/>
            <a:ext cx="1086307" cy="237744"/>
          </a:xfrm>
          <a:prstGeom prst="rect">
            <a:avLst/>
          </a:prstGeom>
          <a:solidFill>
            <a:srgbClr val="15803D"/>
          </a:solidFill>
          <a:ln w="12700" cap="flat" cmpd="sng">
            <a:solidFill>
              <a:srgbClr val="1580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txBox="1"/>
          <p:nvPr/>
        </p:nvSpPr>
        <p:spPr>
          <a:xfrm>
            <a:off x="11292840" y="4562856"/>
            <a:ext cx="685800" cy="31089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0.27</a:t>
            </a:r>
            <a:endParaRPr sz="1200" b="0" i="0" u="none" strike="noStrike" cap="none">
              <a:solidFill>
                <a:schemeClr val="dk1"/>
              </a:solidFill>
              <a:latin typeface="Calibri"/>
              <a:ea typeface="Calibri"/>
              <a:cs typeface="Calibri"/>
              <a:sym typeface="Calibri"/>
            </a:endParaRPr>
          </a:p>
        </p:txBody>
      </p:sp>
      <p:sp>
        <p:nvSpPr>
          <p:cNvPr id="579" name="Google Shape;579;p20"/>
          <p:cNvSpPr txBox="1"/>
          <p:nvPr/>
        </p:nvSpPr>
        <p:spPr>
          <a:xfrm>
            <a:off x="6382512" y="4937760"/>
            <a:ext cx="5120640"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5803D"/>
              </a:buClr>
              <a:buSzPts val="1300"/>
              <a:buFont typeface="Calibri"/>
              <a:buNone/>
            </a:pPr>
            <a:r>
              <a:rPr lang="en-US" sz="1300" b="0" i="1" u="none" strike="noStrike" cap="none">
                <a:solidFill>
                  <a:srgbClr val="15803D"/>
                </a:solidFill>
                <a:latin typeface="Calibri"/>
                <a:ea typeface="Calibri"/>
                <a:cs typeface="Calibri"/>
                <a:sym typeface="Calibri"/>
              </a:rPr>
              <a:t>A real blend: gradients flow to both tokens</a:t>
            </a:r>
            <a:endParaRPr sz="1300" b="0" i="0" u="none" strike="noStrike" cap="none">
              <a:solidFill>
                <a:schemeClr val="dk1"/>
              </a:solidFill>
              <a:latin typeface="Calibri"/>
              <a:ea typeface="Calibri"/>
              <a:cs typeface="Calibri"/>
              <a:sym typeface="Calibri"/>
            </a:endParaRPr>
          </a:p>
        </p:txBody>
      </p:sp>
      <p:sp>
        <p:nvSpPr>
          <p:cNvPr id="580" name="Google Shape;580;p20"/>
          <p:cNvSpPr/>
          <p:nvPr/>
        </p:nvSpPr>
        <p:spPr>
          <a:xfrm>
            <a:off x="457200" y="5715000"/>
            <a:ext cx="11277295" cy="621792"/>
          </a:xfrm>
          <a:prstGeom prst="roundRect">
            <a:avLst>
              <a:gd name="adj" fmla="val 8824"/>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txBox="1"/>
          <p:nvPr/>
        </p:nvSpPr>
        <p:spPr>
          <a:xfrm>
            <a:off x="594360" y="575157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Analogy:  </a:t>
            </a:r>
            <a:r>
              <a:rPr lang="en-US" sz="1400" b="0" i="1" u="none" strike="noStrike" cap="none">
                <a:solidFill>
                  <a:srgbClr val="7C3E0A"/>
                </a:solidFill>
                <a:latin typeface="Calibri"/>
                <a:ea typeface="Calibri"/>
                <a:cs typeface="Calibri"/>
                <a:sym typeface="Calibri"/>
              </a:rPr>
              <a:t>a microphone too close to the speaker clips every word to maximum volume. Stepping back (dividing by √dₖ) lets you hear the differences again.</a:t>
            </a:r>
            <a:endParaRPr sz="1400" b="0" i="0" u="none" strike="noStrike" cap="none">
              <a:solidFill>
                <a:schemeClr val="dk1"/>
              </a:solidFill>
              <a:latin typeface="Calibri"/>
              <a:ea typeface="Calibri"/>
              <a:cs typeface="Calibri"/>
              <a:sym typeface="Calibri"/>
            </a:endParaRPr>
          </a:p>
        </p:txBody>
      </p:sp>
      <p:sp>
        <p:nvSpPr>
          <p:cNvPr id="582" name="Google Shape;582;p20"/>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12</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23"/>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Positional Encoding: Giving Every Word a Seat Number</a:t>
            </a:r>
            <a:endParaRPr sz="3000"/>
          </a:p>
        </p:txBody>
      </p:sp>
      <p:sp>
        <p:nvSpPr>
          <p:cNvPr id="658" name="Google Shape;658;p23"/>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Self-attention sees a set of words. Position must be added explicitly</a:t>
            </a:r>
            <a:endParaRPr sz="1500"/>
          </a:p>
        </p:txBody>
      </p:sp>
      <p:sp>
        <p:nvSpPr>
          <p:cNvPr id="659" name="Google Shape;659;p23"/>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3 · POSITIONAL ENCODING</a:t>
            </a:r>
            <a:endParaRPr sz="1000" b="0" i="0" u="none" strike="noStrike" cap="none">
              <a:solidFill>
                <a:schemeClr val="dk1"/>
              </a:solidFill>
              <a:latin typeface="Calibri"/>
              <a:ea typeface="Calibri"/>
              <a:cs typeface="Calibri"/>
              <a:sym typeface="Calibri"/>
            </a:endParaRPr>
          </a:p>
        </p:txBody>
      </p:sp>
      <p:sp>
        <p:nvSpPr>
          <p:cNvPr id="660" name="Google Shape;660;p23"/>
          <p:cNvSpPr/>
          <p:nvPr/>
        </p:nvSpPr>
        <p:spPr>
          <a:xfrm>
            <a:off x="457200" y="1508760"/>
            <a:ext cx="5532120" cy="3749040"/>
          </a:xfrm>
          <a:prstGeom prst="roundRect">
            <a:avLst>
              <a:gd name="adj" fmla="val 243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3"/>
          <p:cNvSpPr txBox="1"/>
          <p:nvPr/>
        </p:nvSpPr>
        <p:spPr>
          <a:xfrm>
            <a:off x="640080" y="1645920"/>
            <a:ext cx="512064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C2410C"/>
              </a:buClr>
              <a:buSzPts val="1700"/>
              <a:buFont typeface="Calibri"/>
              <a:buNone/>
            </a:pPr>
            <a:r>
              <a:rPr lang="en-US" sz="1700" b="1" i="0" u="none" strike="noStrike" cap="none">
                <a:solidFill>
                  <a:srgbClr val="C2410C"/>
                </a:solidFill>
                <a:latin typeface="Calibri"/>
                <a:ea typeface="Calibri"/>
                <a:cs typeface="Calibri"/>
                <a:sym typeface="Calibri"/>
              </a:rPr>
              <a:t>Same words, very different news</a:t>
            </a:r>
            <a:endParaRPr sz="1700" b="0" i="0" u="none" strike="noStrike" cap="none">
              <a:solidFill>
                <a:schemeClr val="dk1"/>
              </a:solidFill>
              <a:latin typeface="Calibri"/>
              <a:ea typeface="Calibri"/>
              <a:cs typeface="Calibri"/>
              <a:sym typeface="Calibri"/>
            </a:endParaRPr>
          </a:p>
        </p:txBody>
      </p:sp>
      <p:sp>
        <p:nvSpPr>
          <p:cNvPr id="662" name="Google Shape;662;p23"/>
          <p:cNvSpPr/>
          <p:nvPr/>
        </p:nvSpPr>
        <p:spPr>
          <a:xfrm>
            <a:off x="640080" y="2103120"/>
            <a:ext cx="5166360" cy="548640"/>
          </a:xfrm>
          <a:prstGeom prst="roundRect">
            <a:avLst>
              <a:gd name="adj" fmla="val 10000"/>
            </a:avLst>
          </a:prstGeom>
          <a:solidFill>
            <a:srgbClr val="E7F6EC"/>
          </a:solidFill>
          <a:ln w="12700" cap="flat" cmpd="sng">
            <a:solidFill>
              <a:srgbClr val="E7F6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3"/>
          <p:cNvSpPr txBox="1"/>
          <p:nvPr/>
        </p:nvSpPr>
        <p:spPr>
          <a:xfrm>
            <a:off x="777240" y="2103120"/>
            <a:ext cx="4937760"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500"/>
              <a:buFont typeface="Calibri"/>
              <a:buNone/>
            </a:pPr>
            <a:r>
              <a:rPr lang="en-US" sz="1500" b="1" i="0" u="none" strike="noStrike" cap="none">
                <a:solidFill>
                  <a:srgbClr val="334155"/>
                </a:solidFill>
                <a:latin typeface="Calibri"/>
                <a:ea typeface="Calibri"/>
                <a:cs typeface="Calibri"/>
                <a:sym typeface="Calibri"/>
              </a:rPr>
              <a:t>“Kohli hit the ball”</a:t>
            </a:r>
            <a:r>
              <a:rPr lang="en-US" sz="1500" b="0" i="0" u="none" strike="noStrike" cap="none">
                <a:solidFill>
                  <a:srgbClr val="334155"/>
                </a:solidFill>
                <a:latin typeface="Calibri"/>
                <a:ea typeface="Calibri"/>
                <a:cs typeface="Calibri"/>
                <a:sym typeface="Calibri"/>
              </a:rPr>
              <a:t>   →  a boundary</a:t>
            </a:r>
            <a:endParaRPr sz="1500" b="0" i="0" u="none" strike="noStrike" cap="none">
              <a:solidFill>
                <a:schemeClr val="dk1"/>
              </a:solidFill>
              <a:latin typeface="Calibri"/>
              <a:ea typeface="Calibri"/>
              <a:cs typeface="Calibri"/>
              <a:sym typeface="Calibri"/>
            </a:endParaRPr>
          </a:p>
        </p:txBody>
      </p:sp>
      <p:sp>
        <p:nvSpPr>
          <p:cNvPr id="664" name="Google Shape;664;p23"/>
          <p:cNvSpPr/>
          <p:nvPr/>
        </p:nvSpPr>
        <p:spPr>
          <a:xfrm>
            <a:off x="640080" y="2761488"/>
            <a:ext cx="5166360" cy="548640"/>
          </a:xfrm>
          <a:prstGeom prst="roundRect">
            <a:avLst>
              <a:gd name="adj" fmla="val 10000"/>
            </a:avLst>
          </a:prstGeom>
          <a:solidFill>
            <a:srgbClr val="FDF0E6"/>
          </a:solidFill>
          <a:ln w="12700" cap="flat" cmpd="sng">
            <a:solidFill>
              <a:srgbClr val="FDF0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3"/>
          <p:cNvSpPr txBox="1"/>
          <p:nvPr/>
        </p:nvSpPr>
        <p:spPr>
          <a:xfrm>
            <a:off x="777240" y="2761488"/>
            <a:ext cx="4937760"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500"/>
              <a:buFont typeface="Calibri"/>
              <a:buNone/>
            </a:pPr>
            <a:r>
              <a:rPr lang="en-US" sz="1500" b="1" i="0" u="none" strike="noStrike" cap="none">
                <a:solidFill>
                  <a:srgbClr val="334155"/>
                </a:solidFill>
                <a:latin typeface="Calibri"/>
                <a:ea typeface="Calibri"/>
                <a:cs typeface="Calibri"/>
                <a:sym typeface="Calibri"/>
              </a:rPr>
              <a:t>“The ball hit Kohli”</a:t>
            </a:r>
            <a:r>
              <a:rPr lang="en-US" sz="1500" b="0" i="0" u="none" strike="noStrike" cap="none">
                <a:solidFill>
                  <a:srgbClr val="334155"/>
                </a:solidFill>
                <a:latin typeface="Calibri"/>
                <a:ea typeface="Calibri"/>
                <a:cs typeface="Calibri"/>
                <a:sym typeface="Calibri"/>
              </a:rPr>
              <a:t>   →  a physio visit</a:t>
            </a:r>
            <a:endParaRPr sz="1500" b="0" i="0" u="none" strike="noStrike" cap="none">
              <a:solidFill>
                <a:schemeClr val="dk1"/>
              </a:solidFill>
              <a:latin typeface="Calibri"/>
              <a:ea typeface="Calibri"/>
              <a:cs typeface="Calibri"/>
              <a:sym typeface="Calibri"/>
            </a:endParaRPr>
          </a:p>
        </p:txBody>
      </p:sp>
      <p:sp>
        <p:nvSpPr>
          <p:cNvPr id="666" name="Google Shape;666;p23"/>
          <p:cNvSpPr txBox="1"/>
          <p:nvPr/>
        </p:nvSpPr>
        <p:spPr>
          <a:xfrm>
            <a:off x="640080" y="3429000"/>
            <a:ext cx="5166360" cy="17373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Without positions, attention sees the same bag of words {Kohli, hit, the, ball} and produces the same output for each word.</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Fix: </a:t>
            </a:r>
            <a:r>
              <a:rPr lang="en-US" sz="1400" b="0" i="0" u="none" strike="noStrike" cap="none">
                <a:solidFill>
                  <a:srgbClr val="334155"/>
                </a:solidFill>
                <a:latin typeface="Calibri"/>
                <a:ea typeface="Calibri"/>
                <a:cs typeface="Calibri"/>
                <a:sym typeface="Calibri"/>
              </a:rPr>
              <a:t>add a position vector pᵢ to each word embedding before attention:  xᵢ = embed(wordᵢ) + pᵢ</a:t>
            </a:r>
            <a:endParaRPr sz="1400" b="0" i="0" u="none" strike="noStrike" cap="none">
              <a:solidFill>
                <a:schemeClr val="dk1"/>
              </a:solidFill>
              <a:latin typeface="Calibri"/>
              <a:ea typeface="Calibri"/>
              <a:cs typeface="Calibri"/>
              <a:sym typeface="Calibri"/>
            </a:endParaRPr>
          </a:p>
        </p:txBody>
      </p:sp>
      <p:sp>
        <p:nvSpPr>
          <p:cNvPr id="667" name="Google Shape;667;p23"/>
          <p:cNvSpPr/>
          <p:nvPr/>
        </p:nvSpPr>
        <p:spPr>
          <a:xfrm>
            <a:off x="6199632" y="1508760"/>
            <a:ext cx="5532120" cy="3749040"/>
          </a:xfrm>
          <a:prstGeom prst="roundRect">
            <a:avLst>
              <a:gd name="adj" fmla="val 243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3"/>
          <p:cNvSpPr txBox="1"/>
          <p:nvPr/>
        </p:nvSpPr>
        <p:spPr>
          <a:xfrm>
            <a:off x="6382512" y="1645920"/>
            <a:ext cx="512064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D28D9"/>
              </a:buClr>
              <a:buSzPts val="1700"/>
              <a:buFont typeface="Calibri"/>
              <a:buNone/>
            </a:pPr>
            <a:r>
              <a:rPr lang="en-US" sz="1700" b="1" i="0" u="none" strike="noStrike" cap="none">
                <a:solidFill>
                  <a:srgbClr val="6D28D9"/>
                </a:solidFill>
                <a:latin typeface="Calibri"/>
                <a:ea typeface="Calibri"/>
                <a:cs typeface="Calibri"/>
                <a:sym typeface="Calibri"/>
              </a:rPr>
              <a:t>Intuition for sinusoidal PE: a clock</a:t>
            </a:r>
            <a:endParaRPr sz="1700" b="0" i="0" u="none" strike="noStrike" cap="none">
              <a:solidFill>
                <a:schemeClr val="dk1"/>
              </a:solidFill>
              <a:latin typeface="Calibri"/>
              <a:ea typeface="Calibri"/>
              <a:cs typeface="Calibri"/>
              <a:sym typeface="Calibri"/>
            </a:endParaRPr>
          </a:p>
        </p:txBody>
      </p:sp>
      <p:sp>
        <p:nvSpPr>
          <p:cNvPr id="669" name="Google Shape;669;p23"/>
          <p:cNvSpPr/>
          <p:nvPr/>
        </p:nvSpPr>
        <p:spPr>
          <a:xfrm>
            <a:off x="6382512" y="2103120"/>
            <a:ext cx="1600200" cy="777240"/>
          </a:xfrm>
          <a:prstGeom prst="roundRect">
            <a:avLst>
              <a:gd name="adj" fmla="val 7059"/>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3"/>
          <p:cNvSpPr txBox="1"/>
          <p:nvPr/>
        </p:nvSpPr>
        <p:spPr>
          <a:xfrm>
            <a:off x="6382512" y="2103120"/>
            <a:ext cx="1600200"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6D28D9"/>
              </a:buClr>
              <a:buSzPts val="1400"/>
              <a:buFont typeface="Calibri"/>
              <a:buNone/>
            </a:pPr>
            <a:r>
              <a:rPr lang="en-US" sz="1400" b="1" i="0" u="none" strike="noStrike" cap="none">
                <a:solidFill>
                  <a:srgbClr val="6D28D9"/>
                </a:solidFill>
                <a:latin typeface="Calibri"/>
                <a:ea typeface="Calibri"/>
                <a:cs typeface="Calibri"/>
                <a:sym typeface="Calibri"/>
              </a:rPr>
              <a:t>Second hand</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fast</a:t>
            </a:r>
            <a:endParaRPr sz="1400" b="0" i="0" u="none" strike="noStrike" cap="none">
              <a:solidFill>
                <a:schemeClr val="dk1"/>
              </a:solidFill>
              <a:latin typeface="Calibri"/>
              <a:ea typeface="Calibri"/>
              <a:cs typeface="Calibri"/>
              <a:sym typeface="Calibri"/>
            </a:endParaRPr>
          </a:p>
        </p:txBody>
      </p:sp>
      <p:sp>
        <p:nvSpPr>
          <p:cNvPr id="671" name="Google Shape;671;p23"/>
          <p:cNvSpPr/>
          <p:nvPr/>
        </p:nvSpPr>
        <p:spPr>
          <a:xfrm>
            <a:off x="8119872" y="2103120"/>
            <a:ext cx="1600200" cy="777240"/>
          </a:xfrm>
          <a:prstGeom prst="roundRect">
            <a:avLst>
              <a:gd name="adj" fmla="val 7059"/>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3"/>
          <p:cNvSpPr txBox="1"/>
          <p:nvPr/>
        </p:nvSpPr>
        <p:spPr>
          <a:xfrm>
            <a:off x="8119872" y="2103120"/>
            <a:ext cx="1600200"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6D28D9"/>
              </a:buClr>
              <a:buSzPts val="1400"/>
              <a:buFont typeface="Calibri"/>
              <a:buNone/>
            </a:pPr>
            <a:r>
              <a:rPr lang="en-US" sz="1400" b="1" i="0" u="none" strike="noStrike" cap="none">
                <a:solidFill>
                  <a:srgbClr val="6D28D9"/>
                </a:solidFill>
                <a:latin typeface="Calibri"/>
                <a:ea typeface="Calibri"/>
                <a:cs typeface="Calibri"/>
                <a:sym typeface="Calibri"/>
              </a:rPr>
              <a:t>Minute hand</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medium</a:t>
            </a:r>
            <a:endParaRPr sz="1400" b="0" i="0" u="none" strike="noStrike" cap="none">
              <a:solidFill>
                <a:schemeClr val="dk1"/>
              </a:solidFill>
              <a:latin typeface="Calibri"/>
              <a:ea typeface="Calibri"/>
              <a:cs typeface="Calibri"/>
              <a:sym typeface="Calibri"/>
            </a:endParaRPr>
          </a:p>
        </p:txBody>
      </p:sp>
      <p:sp>
        <p:nvSpPr>
          <p:cNvPr id="673" name="Google Shape;673;p23"/>
          <p:cNvSpPr/>
          <p:nvPr/>
        </p:nvSpPr>
        <p:spPr>
          <a:xfrm>
            <a:off x="9857232" y="2103120"/>
            <a:ext cx="1600200" cy="777240"/>
          </a:xfrm>
          <a:prstGeom prst="roundRect">
            <a:avLst>
              <a:gd name="adj" fmla="val 7059"/>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3"/>
          <p:cNvSpPr txBox="1"/>
          <p:nvPr/>
        </p:nvSpPr>
        <p:spPr>
          <a:xfrm>
            <a:off x="9857232" y="2103120"/>
            <a:ext cx="1600200"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6D28D9"/>
              </a:buClr>
              <a:buSzPts val="1400"/>
              <a:buFont typeface="Calibri"/>
              <a:buNone/>
            </a:pPr>
            <a:r>
              <a:rPr lang="en-US" sz="1400" b="1" i="0" u="none" strike="noStrike" cap="none">
                <a:solidFill>
                  <a:srgbClr val="6D28D9"/>
                </a:solidFill>
                <a:latin typeface="Calibri"/>
                <a:ea typeface="Calibri"/>
                <a:cs typeface="Calibri"/>
                <a:sym typeface="Calibri"/>
              </a:rPr>
              <a:t>Hour hand</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slow</a:t>
            </a:r>
            <a:endParaRPr sz="1400" b="0" i="0" u="none" strike="noStrike" cap="none">
              <a:solidFill>
                <a:schemeClr val="dk1"/>
              </a:solidFill>
              <a:latin typeface="Calibri"/>
              <a:ea typeface="Calibri"/>
              <a:cs typeface="Calibri"/>
              <a:sym typeface="Calibri"/>
            </a:endParaRPr>
          </a:p>
        </p:txBody>
      </p:sp>
      <p:sp>
        <p:nvSpPr>
          <p:cNvPr id="675" name="Google Shape;675;p23"/>
          <p:cNvSpPr txBox="1"/>
          <p:nvPr/>
        </p:nvSpPr>
        <p:spPr>
          <a:xfrm>
            <a:off x="6382512" y="3017520"/>
            <a:ext cx="5166360" cy="11430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Each hand alone repeats, but together they give every moment a unique reading. Each pair of PE dimensions is a hand turning at its own frequency, so every position gets a unique fingerprint.</a:t>
            </a:r>
            <a:endParaRPr sz="1400" b="0" i="0" u="none" strike="noStrike" cap="none">
              <a:solidFill>
                <a:schemeClr val="dk1"/>
              </a:solidFill>
              <a:latin typeface="Calibri"/>
              <a:ea typeface="Calibri"/>
              <a:cs typeface="Calibri"/>
              <a:sym typeface="Calibri"/>
            </a:endParaRPr>
          </a:p>
        </p:txBody>
      </p:sp>
      <p:sp>
        <p:nvSpPr>
          <p:cNvPr id="676" name="Google Shape;676;p23"/>
          <p:cNvSpPr/>
          <p:nvPr/>
        </p:nvSpPr>
        <p:spPr>
          <a:xfrm>
            <a:off x="6382512" y="4297680"/>
            <a:ext cx="5166360" cy="731520"/>
          </a:xfrm>
          <a:prstGeom prst="roundRect">
            <a:avLst>
              <a:gd name="adj" fmla="val 75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7" name="Google Shape;677;p23" descr="Equation"/>
          <p:cNvPicPr preferRelativeResize="0"/>
          <p:nvPr/>
        </p:nvPicPr>
        <p:blipFill rotWithShape="1">
          <a:blip r:embed="rId3">
            <a:alphaModFix/>
          </a:blip>
          <a:srcRect/>
          <a:stretch/>
        </p:blipFill>
        <p:spPr>
          <a:xfrm>
            <a:off x="6519672" y="4475204"/>
            <a:ext cx="4892040" cy="376473"/>
          </a:xfrm>
          <a:prstGeom prst="rect">
            <a:avLst/>
          </a:prstGeom>
          <a:noFill/>
          <a:ln>
            <a:noFill/>
          </a:ln>
        </p:spPr>
      </p:pic>
      <p:sp>
        <p:nvSpPr>
          <p:cNvPr id="678" name="Google Shape;678;p23"/>
          <p:cNvSpPr/>
          <p:nvPr/>
        </p:nvSpPr>
        <p:spPr>
          <a:xfrm>
            <a:off x="457200" y="5486400"/>
            <a:ext cx="11277295" cy="658368"/>
          </a:xfrm>
          <a:prstGeom prst="roundRect">
            <a:avLst>
              <a:gd name="adj" fmla="val 8333"/>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3"/>
          <p:cNvSpPr txBox="1"/>
          <p:nvPr/>
        </p:nvSpPr>
        <p:spPr>
          <a:xfrm>
            <a:off x="594360" y="5522976"/>
            <a:ext cx="11002975" cy="58521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Analogy:  </a:t>
            </a:r>
            <a:r>
              <a:rPr lang="en-US" sz="1400" b="0" i="1" u="none" strike="noStrike" cap="none">
                <a:solidFill>
                  <a:srgbClr val="7C3E0A"/>
                </a:solidFill>
                <a:latin typeface="Calibri"/>
                <a:ea typeface="Calibri"/>
                <a:cs typeface="Calibri"/>
                <a:sym typeface="Calibri"/>
              </a:rPr>
              <a:t>in a cinema everyone watches the same film (content), but your seat number (position) still decides whether you see the hero or a pillar.</a:t>
            </a:r>
            <a:endParaRPr sz="1400" b="0" i="0" u="none" strike="noStrike" cap="none">
              <a:solidFill>
                <a:schemeClr val="dk1"/>
              </a:solidFill>
              <a:latin typeface="Calibri"/>
              <a:ea typeface="Calibri"/>
              <a:cs typeface="Calibri"/>
              <a:sym typeface="Calibri"/>
            </a:endParaRPr>
          </a:p>
        </p:txBody>
      </p:sp>
      <p:sp>
        <p:nvSpPr>
          <p:cNvPr id="680" name="Google Shape;680;p23"/>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13</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24"/>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Worked Example: “bank” at Position 3 vs Position 7</a:t>
            </a:r>
            <a:endParaRPr sz="3000"/>
          </a:p>
        </p:txBody>
      </p:sp>
      <p:sp>
        <p:nvSpPr>
          <p:cNvPr id="687" name="Google Shape;687;p24"/>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Same word, same embedding, two different final vectors (d = 5 for clarity)</a:t>
            </a:r>
            <a:endParaRPr sz="1500"/>
          </a:p>
        </p:txBody>
      </p:sp>
      <p:sp>
        <p:nvSpPr>
          <p:cNvPr id="688" name="Google Shape;688;p24"/>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3 · POSITIONAL ENCODING</a:t>
            </a:r>
            <a:endParaRPr sz="1000" b="0" i="0" u="none" strike="noStrike" cap="none">
              <a:solidFill>
                <a:schemeClr val="dk1"/>
              </a:solidFill>
              <a:latin typeface="Calibri"/>
              <a:ea typeface="Calibri"/>
              <a:cs typeface="Calibri"/>
              <a:sym typeface="Calibri"/>
            </a:endParaRPr>
          </a:p>
        </p:txBody>
      </p:sp>
      <p:graphicFrame>
        <p:nvGraphicFramePr>
          <p:cNvPr id="689" name="Google Shape;689;p24"/>
          <p:cNvGraphicFramePr/>
          <p:nvPr/>
        </p:nvGraphicFramePr>
        <p:xfrm>
          <a:off x="457200" y="1554480"/>
          <a:ext cx="7498075" cy="2633400"/>
        </p:xfrm>
        <a:graphic>
          <a:graphicData uri="http://schemas.openxmlformats.org/drawingml/2006/table">
            <a:tbl>
              <a:tblPr>
                <a:noFill/>
                <a:tableStyleId>{0C125456-CB15-484E-AA9C-68C207211CB5}</a:tableStyleId>
              </a:tblPr>
              <a:tblGrid>
                <a:gridCol w="640075">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80150">
                  <a:extLst>
                    <a:ext uri="{9D8B030D-6E8A-4147-A177-3AD203B41FA5}">
                      <a16:colId xmlns:a16="http://schemas.microsoft.com/office/drawing/2014/main" val="20002"/>
                    </a:ext>
                  </a:extLst>
                </a:gridCol>
                <a:gridCol w="1097275">
                  <a:extLst>
                    <a:ext uri="{9D8B030D-6E8A-4147-A177-3AD203B41FA5}">
                      <a16:colId xmlns:a16="http://schemas.microsoft.com/office/drawing/2014/main" val="20003"/>
                    </a:ext>
                  </a:extLst>
                </a:gridCol>
                <a:gridCol w="1234450">
                  <a:extLst>
                    <a:ext uri="{9D8B030D-6E8A-4147-A177-3AD203B41FA5}">
                      <a16:colId xmlns:a16="http://schemas.microsoft.com/office/drawing/2014/main" val="20004"/>
                    </a:ext>
                  </a:extLst>
                </a:gridCol>
                <a:gridCol w="1097275">
                  <a:extLst>
                    <a:ext uri="{9D8B030D-6E8A-4147-A177-3AD203B41FA5}">
                      <a16:colId xmlns:a16="http://schemas.microsoft.com/office/drawing/2014/main" val="20005"/>
                    </a:ext>
                  </a:extLst>
                </a:gridCol>
                <a:gridCol w="1234450">
                  <a:extLst>
                    <a:ext uri="{9D8B030D-6E8A-4147-A177-3AD203B41FA5}">
                      <a16:colId xmlns:a16="http://schemas.microsoft.com/office/drawing/2014/main" val="20006"/>
                    </a:ext>
                  </a:extLst>
                </a:gridCol>
              </a:tblGrid>
              <a:tr h="438900">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dim</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speed</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embed(“bank”)</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p₃</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x at pos 3</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p₇</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x at pos 7</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438900">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1300"/>
                        <a:buFont typeface="Calibri"/>
                        <a:buNone/>
                      </a:pPr>
                      <a:r>
                        <a:rPr lang="en-US" sz="1300" i="1" u="none" strike="noStrike" cap="none">
                          <a:solidFill>
                            <a:srgbClr val="64748B"/>
                          </a:solidFill>
                          <a:latin typeface="Calibri"/>
                          <a:ea typeface="Calibri"/>
                          <a:cs typeface="Calibri"/>
                          <a:sym typeface="Calibri"/>
                        </a:rPr>
                        <a:t>fast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0.8</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0.1411</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D4ED8"/>
                        </a:buClr>
                        <a:buSzPts val="1300"/>
                        <a:buFont typeface="Calibri"/>
                        <a:buNone/>
                      </a:pPr>
                      <a:r>
                        <a:rPr lang="en-US" sz="1300" b="1" u="none" strike="noStrike" cap="none">
                          <a:solidFill>
                            <a:srgbClr val="1D4ED8"/>
                          </a:solidFill>
                          <a:latin typeface="Calibri"/>
                          <a:ea typeface="Calibri"/>
                          <a:cs typeface="Calibri"/>
                          <a:sym typeface="Calibri"/>
                        </a:rPr>
                        <a:t>0.9411</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E8EEFC"/>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0.6570</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C2410C"/>
                        </a:buClr>
                        <a:buSzPts val="1300"/>
                        <a:buFont typeface="Calibri"/>
                        <a:buNone/>
                      </a:pPr>
                      <a:r>
                        <a:rPr lang="en-US" sz="1300" b="1" u="none" strike="noStrike" cap="none">
                          <a:solidFill>
                            <a:srgbClr val="C2410C"/>
                          </a:solidFill>
                          <a:latin typeface="Calibri"/>
                          <a:ea typeface="Calibri"/>
                          <a:cs typeface="Calibri"/>
                          <a:sym typeface="Calibri"/>
                        </a:rPr>
                        <a:t>1.4570</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DF0E6"/>
                    </a:solidFill>
                  </a:tcPr>
                </a:tc>
                <a:extLst>
                  <a:ext uri="{0D108BD9-81ED-4DB2-BD59-A6C34878D82A}">
                    <a16:rowId xmlns:a16="http://schemas.microsoft.com/office/drawing/2014/main" val="10001"/>
                  </a:ext>
                </a:extLst>
              </a:tr>
              <a:tr h="438900">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1</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1300"/>
                        <a:buFont typeface="Calibri"/>
                        <a:buNone/>
                      </a:pPr>
                      <a:r>
                        <a:rPr lang="en-US" sz="1300" i="1" u="none" strike="noStrike" cap="none">
                          <a:solidFill>
                            <a:srgbClr val="64748B"/>
                          </a:solidFill>
                          <a:latin typeface="Calibri"/>
                          <a:ea typeface="Calibri"/>
                          <a:cs typeface="Calibri"/>
                          <a:sym typeface="Calibri"/>
                        </a:rPr>
                        <a:t>fast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-0.9900</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D4ED8"/>
                        </a:buClr>
                        <a:buSzPts val="1300"/>
                        <a:buFont typeface="Calibri"/>
                        <a:buNone/>
                      </a:pPr>
                      <a:r>
                        <a:rPr lang="en-US" sz="1300" b="1" u="none" strike="noStrike" cap="none">
                          <a:solidFill>
                            <a:srgbClr val="1D4ED8"/>
                          </a:solidFill>
                          <a:latin typeface="Calibri"/>
                          <a:ea typeface="Calibri"/>
                          <a:cs typeface="Calibri"/>
                          <a:sym typeface="Calibri"/>
                        </a:rPr>
                        <a:t>-0.0900</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E8EEFC"/>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0.7539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C2410C"/>
                        </a:buClr>
                        <a:buSzPts val="1300"/>
                        <a:buFont typeface="Calibri"/>
                        <a:buNone/>
                      </a:pPr>
                      <a:r>
                        <a:rPr lang="en-US" sz="1300" b="1" u="none" strike="noStrike" cap="none">
                          <a:solidFill>
                            <a:srgbClr val="C2410C"/>
                          </a:solidFill>
                          <a:latin typeface="Calibri"/>
                          <a:ea typeface="Calibri"/>
                          <a:cs typeface="Calibri"/>
                          <a:sym typeface="Calibri"/>
                        </a:rPr>
                        <a:t>1.6539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DF0E6"/>
                    </a:solidFill>
                  </a:tcPr>
                </a:tc>
                <a:extLst>
                  <a:ext uri="{0D108BD9-81ED-4DB2-BD59-A6C34878D82A}">
                    <a16:rowId xmlns:a16="http://schemas.microsoft.com/office/drawing/2014/main" val="10002"/>
                  </a:ext>
                </a:extLst>
              </a:tr>
              <a:tr h="438900">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2</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1300"/>
                        <a:buFont typeface="Calibri"/>
                        <a:buNone/>
                      </a:pPr>
                      <a:r>
                        <a:rPr lang="en-US" sz="1300" i="1" u="none" strike="noStrike" cap="none">
                          <a:solidFill>
                            <a:srgbClr val="64748B"/>
                          </a:solidFill>
                          <a:latin typeface="Calibri"/>
                          <a:ea typeface="Calibri"/>
                          <a:cs typeface="Calibri"/>
                          <a:sym typeface="Calibri"/>
                        </a:rPr>
                        <a:t>medium</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0.2</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0.0753</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D4ED8"/>
                        </a:buClr>
                        <a:buSzPts val="1300"/>
                        <a:buFont typeface="Calibri"/>
                        <a:buNone/>
                      </a:pPr>
                      <a:r>
                        <a:rPr lang="en-US" sz="1300" b="1" u="none" strike="noStrike" cap="none">
                          <a:solidFill>
                            <a:srgbClr val="1D4ED8"/>
                          </a:solidFill>
                          <a:latin typeface="Calibri"/>
                          <a:ea typeface="Calibri"/>
                          <a:cs typeface="Calibri"/>
                          <a:sym typeface="Calibri"/>
                        </a:rPr>
                        <a:t>0.2753</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E8EEFC"/>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0.1749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C2410C"/>
                        </a:buClr>
                        <a:buSzPts val="1300"/>
                        <a:buFont typeface="Calibri"/>
                        <a:buNone/>
                      </a:pPr>
                      <a:r>
                        <a:rPr lang="en-US" sz="1300" b="1" u="none" strike="noStrike" cap="none">
                          <a:solidFill>
                            <a:srgbClr val="C2410C"/>
                          </a:solidFill>
                          <a:latin typeface="Calibri"/>
                          <a:ea typeface="Calibri"/>
                          <a:cs typeface="Calibri"/>
                          <a:sym typeface="Calibri"/>
                        </a:rPr>
                        <a:t>0.3749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DF0E6"/>
                    </a:solidFill>
                  </a:tcPr>
                </a:tc>
                <a:extLst>
                  <a:ext uri="{0D108BD9-81ED-4DB2-BD59-A6C34878D82A}">
                    <a16:rowId xmlns:a16="http://schemas.microsoft.com/office/drawing/2014/main" val="10003"/>
                  </a:ext>
                </a:extLst>
              </a:tr>
              <a:tr h="438900">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3</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1300"/>
                        <a:buFont typeface="Calibri"/>
                        <a:buNone/>
                      </a:pPr>
                      <a:r>
                        <a:rPr lang="en-US" sz="1300" i="1" u="none" strike="noStrike" cap="none">
                          <a:solidFill>
                            <a:srgbClr val="64748B"/>
                          </a:solidFill>
                          <a:latin typeface="Calibri"/>
                          <a:ea typeface="Calibri"/>
                          <a:cs typeface="Calibri"/>
                          <a:sym typeface="Calibri"/>
                        </a:rPr>
                        <a:t>medium</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0.4</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0.9972</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D4ED8"/>
                        </a:buClr>
                        <a:buSzPts val="1300"/>
                        <a:buFont typeface="Calibri"/>
                        <a:buNone/>
                      </a:pPr>
                      <a:r>
                        <a:rPr lang="en-US" sz="1300" b="1" u="none" strike="noStrike" cap="none">
                          <a:solidFill>
                            <a:srgbClr val="1D4ED8"/>
                          </a:solidFill>
                          <a:latin typeface="Calibri"/>
                          <a:ea typeface="Calibri"/>
                          <a:cs typeface="Calibri"/>
                          <a:sym typeface="Calibri"/>
                        </a:rPr>
                        <a:t>1.3972</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E8EEFC"/>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0.9846</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C2410C"/>
                        </a:buClr>
                        <a:buSzPts val="1300"/>
                        <a:buFont typeface="Calibri"/>
                        <a:buNone/>
                      </a:pPr>
                      <a:r>
                        <a:rPr lang="en-US" sz="1300" b="1" u="none" strike="noStrike" cap="none">
                          <a:solidFill>
                            <a:srgbClr val="C2410C"/>
                          </a:solidFill>
                          <a:latin typeface="Calibri"/>
                          <a:ea typeface="Calibri"/>
                          <a:cs typeface="Calibri"/>
                          <a:sym typeface="Calibri"/>
                        </a:rPr>
                        <a:t>1.3846</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DF0E6"/>
                    </a:solidFill>
                  </a:tcPr>
                </a:tc>
                <a:extLst>
                  <a:ext uri="{0D108BD9-81ED-4DB2-BD59-A6C34878D82A}">
                    <a16:rowId xmlns:a16="http://schemas.microsoft.com/office/drawing/2014/main" val="10004"/>
                  </a:ext>
                </a:extLst>
              </a:tr>
              <a:tr h="438900">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4</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1300"/>
                        <a:buFont typeface="Calibri"/>
                        <a:buNone/>
                      </a:pPr>
                      <a:r>
                        <a:rPr lang="en-US" sz="1300" i="1" u="none" strike="noStrike" cap="none">
                          <a:solidFill>
                            <a:srgbClr val="64748B"/>
                          </a:solidFill>
                          <a:latin typeface="Calibri"/>
                          <a:ea typeface="Calibri"/>
                          <a:cs typeface="Calibri"/>
                          <a:sym typeface="Calibri"/>
                        </a:rPr>
                        <a:t>slow</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0.6</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0.0019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D4ED8"/>
                        </a:buClr>
                        <a:buSzPts val="1300"/>
                        <a:buFont typeface="Calibri"/>
                        <a:buNone/>
                      </a:pPr>
                      <a:r>
                        <a:rPr lang="en-US" sz="1300" b="1" u="none" strike="noStrike" cap="none">
                          <a:solidFill>
                            <a:srgbClr val="1D4ED8"/>
                          </a:solidFill>
                          <a:latin typeface="Calibri"/>
                          <a:ea typeface="Calibri"/>
                          <a:cs typeface="Calibri"/>
                          <a:sym typeface="Calibri"/>
                        </a:rPr>
                        <a:t>0.6019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E8EEFC"/>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0.0044</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C2410C"/>
                        </a:buClr>
                        <a:buSzPts val="1300"/>
                        <a:buFont typeface="Calibri"/>
                        <a:buNone/>
                      </a:pPr>
                      <a:r>
                        <a:rPr lang="en-US" sz="1300" b="1" u="none" strike="noStrike" cap="none">
                          <a:solidFill>
                            <a:srgbClr val="C2410C"/>
                          </a:solidFill>
                          <a:latin typeface="Calibri"/>
                          <a:ea typeface="Calibri"/>
                          <a:cs typeface="Calibri"/>
                          <a:sym typeface="Calibri"/>
                        </a:rPr>
                        <a:t>0.6044</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DF0E6"/>
                    </a:solidFill>
                  </a:tcPr>
                </a:tc>
                <a:extLst>
                  <a:ext uri="{0D108BD9-81ED-4DB2-BD59-A6C34878D82A}">
                    <a16:rowId xmlns:a16="http://schemas.microsoft.com/office/drawing/2014/main" val="10005"/>
                  </a:ext>
                </a:extLst>
              </a:tr>
            </a:tbl>
          </a:graphicData>
        </a:graphic>
      </p:graphicFrame>
      <p:sp>
        <p:nvSpPr>
          <p:cNvPr id="690" name="Google Shape;690;p24"/>
          <p:cNvSpPr/>
          <p:nvPr/>
        </p:nvSpPr>
        <p:spPr>
          <a:xfrm>
            <a:off x="8229600" y="1554480"/>
            <a:ext cx="3502152" cy="2651760"/>
          </a:xfrm>
          <a:prstGeom prst="roundRect">
            <a:avLst>
              <a:gd name="adj" fmla="val 3448"/>
            </a:avLst>
          </a:prstGeom>
          <a:solidFill>
            <a:srgbClr val="0F172A"/>
          </a:solidFill>
          <a:ln w="12700" cap="flat" cmpd="sng">
            <a:solidFill>
              <a:srgbClr val="0F172A"/>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4"/>
          <p:cNvSpPr txBox="1"/>
          <p:nvPr/>
        </p:nvSpPr>
        <p:spPr>
          <a:xfrm>
            <a:off x="8412480" y="1691640"/>
            <a:ext cx="310896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93C5FD"/>
              </a:buClr>
              <a:buSzPts val="1500"/>
              <a:buFont typeface="Calibri"/>
              <a:buNone/>
            </a:pPr>
            <a:r>
              <a:rPr lang="en-US" sz="1500" b="1" i="0" u="none" strike="noStrike" cap="none">
                <a:solidFill>
                  <a:srgbClr val="93C5FD"/>
                </a:solidFill>
                <a:latin typeface="Calibri"/>
                <a:ea typeface="Calibri"/>
                <a:cs typeface="Calibri"/>
                <a:sym typeface="Calibri"/>
              </a:rPr>
              <a:t>What changed?</a:t>
            </a:r>
            <a:endParaRPr sz="1500" b="0" i="0" u="none" strike="noStrike" cap="none">
              <a:solidFill>
                <a:schemeClr val="dk1"/>
              </a:solidFill>
              <a:latin typeface="Calibri"/>
              <a:ea typeface="Calibri"/>
              <a:cs typeface="Calibri"/>
              <a:sym typeface="Calibri"/>
            </a:endParaRPr>
          </a:p>
        </p:txBody>
      </p:sp>
      <p:sp>
        <p:nvSpPr>
          <p:cNvPr id="692" name="Google Shape;692;p24"/>
          <p:cNvSpPr txBox="1"/>
          <p:nvPr/>
        </p:nvSpPr>
        <p:spPr>
          <a:xfrm>
            <a:off x="8412480" y="2103120"/>
            <a:ext cx="3154680" cy="2011680"/>
          </a:xfrm>
          <a:prstGeom prst="rect">
            <a:avLst/>
          </a:prstGeom>
          <a:noFill/>
          <a:ln>
            <a:noFill/>
          </a:ln>
        </p:spPr>
        <p:txBody>
          <a:bodyPr spcFirstLastPara="1" wrap="square" lIns="750" tIns="750" rIns="750" bIns="750" anchor="t" anchorCtr="0">
            <a:noAutofit/>
          </a:bodyPr>
          <a:lstStyle/>
          <a:p>
            <a:pPr marL="177800" marR="0" lvl="0" indent="-177800" algn="l" rtl="0">
              <a:spcBef>
                <a:spcPts val="0"/>
              </a:spcBef>
              <a:spcAft>
                <a:spcPts val="0"/>
              </a:spcAft>
              <a:buClr>
                <a:srgbClr val="FFFFFF"/>
              </a:buClr>
              <a:buSzPts val="1400"/>
              <a:buFont typeface="Calibri"/>
              <a:buChar char="•"/>
            </a:pPr>
            <a:r>
              <a:rPr lang="en-US" sz="1400" b="1" i="0" u="none" strike="noStrike" cap="none">
                <a:solidFill>
                  <a:srgbClr val="FFFFFF"/>
                </a:solidFill>
                <a:latin typeface="Calibri"/>
                <a:ea typeface="Calibri"/>
                <a:cs typeface="Calibri"/>
                <a:sym typeface="Calibri"/>
              </a:rPr>
              <a:t>Dim 1 </a:t>
            </a:r>
            <a:r>
              <a:rPr lang="en-US" sz="1400" b="0" i="0" u="none" strike="noStrike" cap="none">
                <a:solidFill>
                  <a:srgbClr val="CBD5E1"/>
                </a:solidFill>
                <a:latin typeface="Calibri"/>
                <a:ea typeface="Calibri"/>
                <a:cs typeface="Calibri"/>
                <a:sym typeface="Calibri"/>
              </a:rPr>
              <a:t>swings from −0.09 to 1.65</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FFFFFF"/>
              </a:buClr>
              <a:buSzPts val="1400"/>
              <a:buFont typeface="Calibri"/>
              <a:buChar char="•"/>
            </a:pPr>
            <a:r>
              <a:rPr lang="en-US" sz="1400" b="1" i="0" u="none" strike="noStrike" cap="none">
                <a:solidFill>
                  <a:srgbClr val="FFFFFF"/>
                </a:solidFill>
                <a:latin typeface="Calibri"/>
                <a:ea typeface="Calibri"/>
                <a:cs typeface="Calibri"/>
                <a:sym typeface="Calibri"/>
              </a:rPr>
              <a:t>Dim 4 </a:t>
            </a:r>
            <a:r>
              <a:rPr lang="en-US" sz="1400" b="0" i="0" u="none" strike="noStrike" cap="none">
                <a:solidFill>
                  <a:srgbClr val="CBD5E1"/>
                </a:solidFill>
                <a:latin typeface="Calibri"/>
                <a:ea typeface="Calibri"/>
                <a:cs typeface="Calibri"/>
                <a:sym typeface="Calibri"/>
              </a:rPr>
              <a:t>barely moves: 0.602 → 0.604</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CBD5E1"/>
              </a:buClr>
              <a:buSzPts val="1400"/>
              <a:buFont typeface="Calibri"/>
              <a:buChar char="•"/>
            </a:pPr>
            <a:r>
              <a:rPr lang="en-US" sz="1400" b="0" i="0" u="none" strike="noStrike" cap="none">
                <a:solidFill>
                  <a:srgbClr val="CBD5E1"/>
                </a:solidFill>
                <a:latin typeface="Calibri"/>
                <a:ea typeface="Calibri"/>
                <a:cs typeface="Calibri"/>
                <a:sym typeface="Calibri"/>
              </a:rPr>
              <a:t>Fast dims tell nearby positions apart; slow dims keep coarse order</a:t>
            </a:r>
            <a:endParaRPr sz="1400" b="0" i="0" u="none" strike="noStrike" cap="none">
              <a:solidFill>
                <a:schemeClr val="dk1"/>
              </a:solidFill>
              <a:latin typeface="Calibri"/>
              <a:ea typeface="Calibri"/>
              <a:cs typeface="Calibri"/>
              <a:sym typeface="Calibri"/>
            </a:endParaRPr>
          </a:p>
        </p:txBody>
      </p:sp>
      <p:sp>
        <p:nvSpPr>
          <p:cNvPr id="693" name="Google Shape;693;p24"/>
          <p:cNvSpPr/>
          <p:nvPr/>
        </p:nvSpPr>
        <p:spPr>
          <a:xfrm>
            <a:off x="8229600" y="4343400"/>
            <a:ext cx="3502152" cy="1051560"/>
          </a:xfrm>
          <a:prstGeom prst="roundRect">
            <a:avLst>
              <a:gd name="adj" fmla="val 8696"/>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4"/>
          <p:cNvSpPr txBox="1"/>
          <p:nvPr/>
        </p:nvSpPr>
        <p:spPr>
          <a:xfrm>
            <a:off x="8366760" y="4389120"/>
            <a:ext cx="3246120" cy="2743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300"/>
              <a:buFont typeface="Calibri"/>
              <a:buNone/>
            </a:pPr>
            <a:r>
              <a:rPr lang="en-US" sz="1300" b="1" i="0" u="none" strike="noStrike" cap="none">
                <a:solidFill>
                  <a:srgbClr val="0F766E"/>
                </a:solidFill>
                <a:latin typeface="Calibri"/>
                <a:ea typeface="Calibri"/>
                <a:cs typeface="Calibri"/>
                <a:sym typeface="Calibri"/>
              </a:rPr>
              <a:t>Formula used (d = 5)</a:t>
            </a:r>
            <a:endParaRPr sz="1300" b="0" i="0" u="none" strike="noStrike" cap="none">
              <a:solidFill>
                <a:schemeClr val="dk1"/>
              </a:solidFill>
              <a:latin typeface="Calibri"/>
              <a:ea typeface="Calibri"/>
              <a:cs typeface="Calibri"/>
              <a:sym typeface="Calibri"/>
            </a:endParaRPr>
          </a:p>
        </p:txBody>
      </p:sp>
      <p:pic>
        <p:nvPicPr>
          <p:cNvPr id="695" name="Google Shape;695;p24" descr="Equation"/>
          <p:cNvPicPr preferRelativeResize="0"/>
          <p:nvPr/>
        </p:nvPicPr>
        <p:blipFill rotWithShape="1">
          <a:blip r:embed="rId3">
            <a:alphaModFix/>
          </a:blip>
          <a:srcRect/>
          <a:stretch/>
        </p:blipFill>
        <p:spPr>
          <a:xfrm>
            <a:off x="8939816" y="4700016"/>
            <a:ext cx="2081720" cy="612648"/>
          </a:xfrm>
          <a:prstGeom prst="rect">
            <a:avLst/>
          </a:prstGeom>
          <a:noFill/>
          <a:ln>
            <a:noFill/>
          </a:ln>
        </p:spPr>
      </p:pic>
      <p:sp>
        <p:nvSpPr>
          <p:cNvPr id="696" name="Google Shape;696;p24"/>
          <p:cNvSpPr/>
          <p:nvPr/>
        </p:nvSpPr>
        <p:spPr>
          <a:xfrm>
            <a:off x="457200" y="5623560"/>
            <a:ext cx="11277295" cy="621792"/>
          </a:xfrm>
          <a:prstGeom prst="roundRect">
            <a:avLst>
              <a:gd name="adj" fmla="val 8824"/>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4"/>
          <p:cNvSpPr txBox="1"/>
          <p:nvPr/>
        </p:nvSpPr>
        <p:spPr>
          <a:xfrm>
            <a:off x="594360" y="566013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Key takeaway:  </a:t>
            </a:r>
            <a:r>
              <a:rPr lang="en-US" sz="1400" b="0" i="0" u="none" strike="noStrike" cap="none">
                <a:solidFill>
                  <a:srgbClr val="334155"/>
                </a:solidFill>
                <a:latin typeface="Calibri"/>
                <a:ea typeface="Calibri"/>
                <a:cs typeface="Calibri"/>
                <a:sym typeface="Calibri"/>
              </a:rPr>
              <a:t>attention now sees where each token sits. The position signal is inside the vector before Q, K and V are even computed.</a:t>
            </a:r>
            <a:endParaRPr sz="1400" b="0" i="0" u="none" strike="noStrike" cap="none">
              <a:solidFill>
                <a:schemeClr val="dk1"/>
              </a:solidFill>
              <a:latin typeface="Calibri"/>
              <a:ea typeface="Calibri"/>
              <a:cs typeface="Calibri"/>
              <a:sym typeface="Calibri"/>
            </a:endParaRPr>
          </a:p>
        </p:txBody>
      </p:sp>
      <p:sp>
        <p:nvSpPr>
          <p:cNvPr id="698" name="Google Shape;698;p24"/>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14</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25"/>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Why Relative Offsets Are Linear</a:t>
            </a:r>
            <a:endParaRPr sz="3000"/>
          </a:p>
        </p:txBody>
      </p:sp>
      <p:sp>
        <p:nvSpPr>
          <p:cNvPr id="705" name="Google Shape;705;p25"/>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Moving k positions forward is a fixed rotation, whatever the starting position</a:t>
            </a:r>
            <a:endParaRPr sz="1500"/>
          </a:p>
        </p:txBody>
      </p:sp>
      <p:sp>
        <p:nvSpPr>
          <p:cNvPr id="706" name="Google Shape;706;p25"/>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3 · POSITIONAL ENCODING</a:t>
            </a:r>
            <a:endParaRPr sz="1000" b="0" i="0" u="none" strike="noStrike" cap="none">
              <a:solidFill>
                <a:schemeClr val="dk1"/>
              </a:solidFill>
              <a:latin typeface="Calibri"/>
              <a:ea typeface="Calibri"/>
              <a:cs typeface="Calibri"/>
              <a:sym typeface="Calibri"/>
            </a:endParaRPr>
          </a:p>
        </p:txBody>
      </p:sp>
      <p:sp>
        <p:nvSpPr>
          <p:cNvPr id="707" name="Google Shape;707;p25"/>
          <p:cNvSpPr/>
          <p:nvPr/>
        </p:nvSpPr>
        <p:spPr>
          <a:xfrm>
            <a:off x="457200" y="1554480"/>
            <a:ext cx="11274552" cy="640080"/>
          </a:xfrm>
          <a:prstGeom prst="roundRect">
            <a:avLst>
              <a:gd name="adj" fmla="val 8571"/>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8" name="Google Shape;708;p25" descr="Equation"/>
          <p:cNvPicPr preferRelativeResize="0"/>
          <p:nvPr/>
        </p:nvPicPr>
        <p:blipFill rotWithShape="1">
          <a:blip r:embed="rId3">
            <a:alphaModFix/>
          </a:blip>
          <a:srcRect/>
          <a:stretch/>
        </p:blipFill>
        <p:spPr>
          <a:xfrm>
            <a:off x="2326691" y="1726387"/>
            <a:ext cx="7535570" cy="296266"/>
          </a:xfrm>
          <a:prstGeom prst="rect">
            <a:avLst/>
          </a:prstGeom>
          <a:noFill/>
          <a:ln>
            <a:noFill/>
          </a:ln>
        </p:spPr>
      </p:pic>
      <p:sp>
        <p:nvSpPr>
          <p:cNvPr id="709" name="Google Shape;709;p25"/>
          <p:cNvSpPr/>
          <p:nvPr/>
        </p:nvSpPr>
        <p:spPr>
          <a:xfrm>
            <a:off x="457200" y="2377440"/>
            <a:ext cx="5532120" cy="2514600"/>
          </a:xfrm>
          <a:prstGeom prst="roundRect">
            <a:avLst>
              <a:gd name="adj" fmla="val 363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5"/>
          <p:cNvSpPr/>
          <p:nvPr/>
        </p:nvSpPr>
        <p:spPr>
          <a:xfrm>
            <a:off x="621792" y="2542032"/>
            <a:ext cx="164592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5"/>
          <p:cNvSpPr txBox="1"/>
          <p:nvPr/>
        </p:nvSpPr>
        <p:spPr>
          <a:xfrm>
            <a:off x="621792" y="2542032"/>
            <a:ext cx="16459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Derivation</a:t>
            </a:r>
            <a:endParaRPr sz="1200" b="0" i="0" u="none" strike="noStrike" cap="none">
              <a:solidFill>
                <a:schemeClr val="dk1"/>
              </a:solidFill>
              <a:latin typeface="Calibri"/>
              <a:ea typeface="Calibri"/>
              <a:cs typeface="Calibri"/>
              <a:sym typeface="Calibri"/>
            </a:endParaRPr>
          </a:p>
        </p:txBody>
      </p:sp>
      <p:sp>
        <p:nvSpPr>
          <p:cNvPr id="712" name="Google Shape;712;p25"/>
          <p:cNvSpPr txBox="1"/>
          <p:nvPr/>
        </p:nvSpPr>
        <p:spPr>
          <a:xfrm>
            <a:off x="594360" y="2944368"/>
            <a:ext cx="5257800" cy="1856232"/>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713" name="Google Shape;713;p25"/>
          <p:cNvSpPr/>
          <p:nvPr/>
        </p:nvSpPr>
        <p:spPr>
          <a:xfrm>
            <a:off x="640080" y="2880360"/>
            <a:ext cx="5166360" cy="822960"/>
          </a:xfrm>
          <a:prstGeom prst="roundRect">
            <a:avLst>
              <a:gd name="adj" fmla="val 6667"/>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4" name="Google Shape;714;p25" descr="Equation"/>
          <p:cNvPicPr preferRelativeResize="0"/>
          <p:nvPr/>
        </p:nvPicPr>
        <p:blipFill rotWithShape="1">
          <a:blip r:embed="rId4">
            <a:alphaModFix/>
          </a:blip>
          <a:srcRect/>
          <a:stretch/>
        </p:blipFill>
        <p:spPr>
          <a:xfrm>
            <a:off x="1609344" y="3006090"/>
            <a:ext cx="3227832" cy="571500"/>
          </a:xfrm>
          <a:prstGeom prst="rect">
            <a:avLst/>
          </a:prstGeom>
          <a:noFill/>
          <a:ln>
            <a:noFill/>
          </a:ln>
        </p:spPr>
      </p:pic>
      <p:sp>
        <p:nvSpPr>
          <p:cNvPr id="715" name="Google Shape;715;p25"/>
          <p:cNvSpPr txBox="1"/>
          <p:nvPr/>
        </p:nvSpPr>
        <p:spPr>
          <a:xfrm>
            <a:off x="640080" y="3794760"/>
            <a:ext cx="5166360" cy="10058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Let A = pos·ω and B = k·ω. The new (sin, cos) pair is then a linear function of the old pair, with coefficients that depend only on k.</a:t>
            </a:r>
            <a:endParaRPr sz="1400" b="0" i="0" u="none" strike="noStrike" cap="none">
              <a:solidFill>
                <a:schemeClr val="dk1"/>
              </a:solidFill>
              <a:latin typeface="Calibri"/>
              <a:ea typeface="Calibri"/>
              <a:cs typeface="Calibri"/>
              <a:sym typeface="Calibri"/>
            </a:endParaRPr>
          </a:p>
        </p:txBody>
      </p:sp>
      <p:sp>
        <p:nvSpPr>
          <p:cNvPr id="716" name="Google Shape;716;p25"/>
          <p:cNvSpPr/>
          <p:nvPr/>
        </p:nvSpPr>
        <p:spPr>
          <a:xfrm>
            <a:off x="6199632" y="2377440"/>
            <a:ext cx="5532120" cy="2514600"/>
          </a:xfrm>
          <a:prstGeom prst="roundRect">
            <a:avLst>
              <a:gd name="adj" fmla="val 363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5"/>
          <p:cNvSpPr/>
          <p:nvPr/>
        </p:nvSpPr>
        <p:spPr>
          <a:xfrm>
            <a:off x="6364224" y="2542032"/>
            <a:ext cx="219456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5"/>
          <p:cNvSpPr txBox="1"/>
          <p:nvPr/>
        </p:nvSpPr>
        <p:spPr>
          <a:xfrm>
            <a:off x="6364224" y="2542032"/>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Result: a 2D rotation</a:t>
            </a:r>
            <a:endParaRPr sz="1200" b="0" i="0" u="none" strike="noStrike" cap="none">
              <a:solidFill>
                <a:schemeClr val="dk1"/>
              </a:solidFill>
              <a:latin typeface="Calibri"/>
              <a:ea typeface="Calibri"/>
              <a:cs typeface="Calibri"/>
              <a:sym typeface="Calibri"/>
            </a:endParaRPr>
          </a:p>
        </p:txBody>
      </p:sp>
      <p:sp>
        <p:nvSpPr>
          <p:cNvPr id="719" name="Google Shape;719;p25"/>
          <p:cNvSpPr txBox="1"/>
          <p:nvPr/>
        </p:nvSpPr>
        <p:spPr>
          <a:xfrm>
            <a:off x="6336792" y="2944368"/>
            <a:ext cx="5257800" cy="1856232"/>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720" name="Google Shape;720;p25"/>
          <p:cNvSpPr/>
          <p:nvPr/>
        </p:nvSpPr>
        <p:spPr>
          <a:xfrm>
            <a:off x="6382512" y="2852928"/>
            <a:ext cx="5166360" cy="1097280"/>
          </a:xfrm>
          <a:prstGeom prst="roundRect">
            <a:avLst>
              <a:gd name="adj" fmla="val 5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1" name="Google Shape;721;p25" descr="Equation"/>
          <p:cNvPicPr preferRelativeResize="0"/>
          <p:nvPr/>
        </p:nvPicPr>
        <p:blipFill rotWithShape="1">
          <a:blip r:embed="rId5">
            <a:alphaModFix/>
          </a:blip>
          <a:srcRect/>
          <a:stretch/>
        </p:blipFill>
        <p:spPr>
          <a:xfrm>
            <a:off x="6780886" y="3012186"/>
            <a:ext cx="4369613" cy="778764"/>
          </a:xfrm>
          <a:prstGeom prst="rect">
            <a:avLst/>
          </a:prstGeom>
          <a:noFill/>
          <a:ln>
            <a:noFill/>
          </a:ln>
        </p:spPr>
      </p:pic>
      <p:sp>
        <p:nvSpPr>
          <p:cNvPr id="722" name="Google Shape;722;p25"/>
          <p:cNvSpPr txBox="1"/>
          <p:nvPr/>
        </p:nvSpPr>
        <p:spPr>
          <a:xfrm>
            <a:off x="6382512" y="4023360"/>
            <a:ext cx="5166360" cy="7772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Checked numerically: M(4)·PE(3) = PE(7) and M(4)·PE(50) = PE(54). Same offset, same matrix.</a:t>
            </a:r>
            <a:endParaRPr sz="1400" b="0" i="0" u="none" strike="noStrike" cap="none">
              <a:solidFill>
                <a:schemeClr val="dk1"/>
              </a:solidFill>
              <a:latin typeface="Calibri"/>
              <a:ea typeface="Calibri"/>
              <a:cs typeface="Calibri"/>
              <a:sym typeface="Calibri"/>
            </a:endParaRPr>
          </a:p>
        </p:txBody>
      </p:sp>
      <p:sp>
        <p:nvSpPr>
          <p:cNvPr id="723" name="Google Shape;723;p25"/>
          <p:cNvSpPr/>
          <p:nvPr/>
        </p:nvSpPr>
        <p:spPr>
          <a:xfrm>
            <a:off x="457200" y="5120640"/>
            <a:ext cx="11277295" cy="713232"/>
          </a:xfrm>
          <a:prstGeom prst="roundRect">
            <a:avLst>
              <a:gd name="adj" fmla="val 7692"/>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5"/>
          <p:cNvSpPr txBox="1"/>
          <p:nvPr/>
        </p:nvSpPr>
        <p:spPr>
          <a:xfrm>
            <a:off x="594360" y="5157216"/>
            <a:ext cx="11002975"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Why it matters:  </a:t>
            </a:r>
            <a:r>
              <a:rPr lang="en-US" sz="1400" b="0" i="1" u="none" strike="noStrike" cap="none">
                <a:solidFill>
                  <a:srgbClr val="7C3E0A"/>
                </a:solidFill>
                <a:latin typeface="Calibri"/>
                <a:ea typeface="Calibri"/>
                <a:cs typeface="Calibri"/>
                <a:sym typeface="Calibri"/>
              </a:rPr>
              <a:t>an attention head can learn “look 4 tokens back” once, and that single rule works at every position, like a clock hand that always advances the same angle per hour.</a:t>
            </a:r>
            <a:endParaRPr sz="1400" b="0" i="0" u="none" strike="noStrike" cap="none">
              <a:solidFill>
                <a:schemeClr val="dk1"/>
              </a:solidFill>
              <a:latin typeface="Calibri"/>
              <a:ea typeface="Calibri"/>
              <a:cs typeface="Calibri"/>
              <a:sym typeface="Calibri"/>
            </a:endParaRPr>
          </a:p>
        </p:txBody>
      </p:sp>
      <p:sp>
        <p:nvSpPr>
          <p:cNvPr id="725" name="Google Shape;725;p25"/>
          <p:cNvSpPr txBox="1"/>
          <p:nvPr/>
        </p:nvSpPr>
        <p:spPr>
          <a:xfrm>
            <a:off x="457200" y="5943600"/>
            <a:ext cx="11277295" cy="27432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64748B"/>
              </a:buClr>
              <a:buSzPts val="1200"/>
              <a:buFont typeface="Calibri"/>
              <a:buNone/>
            </a:pPr>
            <a:r>
              <a:rPr lang="en-US" sz="1200" b="0" i="1" u="none" strike="noStrike" cap="none">
                <a:solidFill>
                  <a:srgbClr val="64748B"/>
                </a:solidFill>
                <a:latin typeface="Calibri"/>
                <a:ea typeface="Calibri"/>
                <a:cs typeface="Calibri"/>
                <a:sym typeface="Calibri"/>
              </a:rPr>
              <a:t>Clock picture: each dimension pair is a point on a circle; moving forward k positions turns it by the angle kω.</a:t>
            </a:r>
            <a:endParaRPr sz="1200" b="0" i="0" u="none" strike="noStrike" cap="none">
              <a:solidFill>
                <a:schemeClr val="dk1"/>
              </a:solidFill>
              <a:latin typeface="Calibri"/>
              <a:ea typeface="Calibri"/>
              <a:cs typeface="Calibri"/>
              <a:sym typeface="Calibri"/>
            </a:endParaRPr>
          </a:p>
        </p:txBody>
      </p:sp>
      <p:sp>
        <p:nvSpPr>
          <p:cNvPr id="726" name="Google Shape;726;p25"/>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15</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26"/>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Beyond sin/cos: How Today's LLMs Encode Position</a:t>
            </a:r>
            <a:endParaRPr sz="3000"/>
          </a:p>
        </p:txBody>
      </p:sp>
      <p:sp>
        <p:nvSpPr>
          <p:cNvPr id="733" name="Google Shape;733;p26"/>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Four schemes, and which famous models use them</a:t>
            </a:r>
            <a:endParaRPr sz="1500"/>
          </a:p>
        </p:txBody>
      </p:sp>
      <p:sp>
        <p:nvSpPr>
          <p:cNvPr id="734" name="Google Shape;734;p26"/>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3 · POSITIONAL ENCODING</a:t>
            </a:r>
            <a:endParaRPr sz="1000" b="0" i="0" u="none" strike="noStrike" cap="none">
              <a:solidFill>
                <a:schemeClr val="dk1"/>
              </a:solidFill>
              <a:latin typeface="Calibri"/>
              <a:ea typeface="Calibri"/>
              <a:cs typeface="Calibri"/>
              <a:sym typeface="Calibri"/>
            </a:endParaRPr>
          </a:p>
        </p:txBody>
      </p:sp>
      <p:sp>
        <p:nvSpPr>
          <p:cNvPr id="735" name="Google Shape;735;p26"/>
          <p:cNvSpPr/>
          <p:nvPr/>
        </p:nvSpPr>
        <p:spPr>
          <a:xfrm>
            <a:off x="457200" y="1508760"/>
            <a:ext cx="5532120" cy="1783080"/>
          </a:xfrm>
          <a:prstGeom prst="roundRect">
            <a:avLst>
              <a:gd name="adj" fmla="val 512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6"/>
          <p:cNvSpPr/>
          <p:nvPr/>
        </p:nvSpPr>
        <p:spPr>
          <a:xfrm>
            <a:off x="640080" y="1673352"/>
            <a:ext cx="219456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6"/>
          <p:cNvSpPr txBox="1"/>
          <p:nvPr/>
        </p:nvSpPr>
        <p:spPr>
          <a:xfrm>
            <a:off x="640080" y="1673352"/>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RoPE · Rotary</a:t>
            </a:r>
            <a:endParaRPr sz="1200" b="0" i="0" u="none" strike="noStrike" cap="none">
              <a:solidFill>
                <a:schemeClr val="dk1"/>
              </a:solidFill>
              <a:latin typeface="Calibri"/>
              <a:ea typeface="Calibri"/>
              <a:cs typeface="Calibri"/>
              <a:sym typeface="Calibri"/>
            </a:endParaRPr>
          </a:p>
        </p:txBody>
      </p:sp>
      <p:sp>
        <p:nvSpPr>
          <p:cNvPr id="738" name="Google Shape;738;p26"/>
          <p:cNvSpPr txBox="1"/>
          <p:nvPr/>
        </p:nvSpPr>
        <p:spPr>
          <a:xfrm>
            <a:off x="2971800" y="1655064"/>
            <a:ext cx="2834640" cy="347472"/>
          </a:xfrm>
          <a:prstGeom prst="rect">
            <a:avLst/>
          </a:prstGeom>
          <a:noFill/>
          <a:ln>
            <a:noFill/>
          </a:ln>
        </p:spPr>
        <p:txBody>
          <a:bodyPr spcFirstLastPara="1" wrap="square" lIns="750" tIns="750" rIns="750" bIns="750" anchor="t" anchorCtr="0">
            <a:noAutofit/>
          </a:bodyPr>
          <a:lstStyle/>
          <a:p>
            <a:pPr marL="0" marR="0" lvl="0" indent="0" algn="r"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LLaMA, Mistral, Qwen, Gemma</a:t>
            </a:r>
            <a:endParaRPr sz="1300" b="0" i="0" u="none" strike="noStrike" cap="none">
              <a:solidFill>
                <a:schemeClr val="dk1"/>
              </a:solidFill>
              <a:latin typeface="Calibri"/>
              <a:ea typeface="Calibri"/>
              <a:cs typeface="Calibri"/>
              <a:sym typeface="Calibri"/>
            </a:endParaRPr>
          </a:p>
        </p:txBody>
      </p:sp>
      <p:sp>
        <p:nvSpPr>
          <p:cNvPr id="739" name="Google Shape;739;p26"/>
          <p:cNvSpPr/>
          <p:nvPr/>
        </p:nvSpPr>
        <p:spPr>
          <a:xfrm>
            <a:off x="640080" y="2057400"/>
            <a:ext cx="5166360" cy="530352"/>
          </a:xfrm>
          <a:prstGeom prst="roundRect">
            <a:avLst>
              <a:gd name="adj" fmla="val 1034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0" name="Google Shape;740;p26" descr="Equation"/>
          <p:cNvPicPr preferRelativeResize="0"/>
          <p:nvPr/>
        </p:nvPicPr>
        <p:blipFill rotWithShape="1">
          <a:blip r:embed="rId3">
            <a:alphaModFix/>
          </a:blip>
          <a:srcRect/>
          <a:stretch/>
        </p:blipFill>
        <p:spPr>
          <a:xfrm>
            <a:off x="2019910" y="2190293"/>
            <a:ext cx="2406701" cy="264566"/>
          </a:xfrm>
          <a:prstGeom prst="rect">
            <a:avLst/>
          </a:prstGeom>
          <a:noFill/>
          <a:ln>
            <a:noFill/>
          </a:ln>
        </p:spPr>
      </p:pic>
      <p:sp>
        <p:nvSpPr>
          <p:cNvPr id="741" name="Google Shape;741;p26"/>
          <p:cNvSpPr txBox="1"/>
          <p:nvPr/>
        </p:nvSpPr>
        <p:spPr>
          <a:xfrm>
            <a:off x="640080" y="2606040"/>
            <a:ext cx="5166360" cy="6400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Rotates Q and K by their position. The dot product then depends only on i − j.</a:t>
            </a:r>
            <a:endParaRPr sz="1400" b="0" i="0" u="none" strike="noStrike" cap="none">
              <a:solidFill>
                <a:schemeClr val="dk1"/>
              </a:solidFill>
              <a:latin typeface="Calibri"/>
              <a:ea typeface="Calibri"/>
              <a:cs typeface="Calibri"/>
              <a:sym typeface="Calibri"/>
            </a:endParaRPr>
          </a:p>
        </p:txBody>
      </p:sp>
      <p:sp>
        <p:nvSpPr>
          <p:cNvPr id="742" name="Google Shape;742;p26"/>
          <p:cNvSpPr/>
          <p:nvPr/>
        </p:nvSpPr>
        <p:spPr>
          <a:xfrm>
            <a:off x="6199632" y="1508760"/>
            <a:ext cx="5532120" cy="1783080"/>
          </a:xfrm>
          <a:prstGeom prst="roundRect">
            <a:avLst>
              <a:gd name="adj" fmla="val 512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6"/>
          <p:cNvSpPr/>
          <p:nvPr/>
        </p:nvSpPr>
        <p:spPr>
          <a:xfrm>
            <a:off x="6382512" y="1673352"/>
            <a:ext cx="219456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6"/>
          <p:cNvSpPr txBox="1"/>
          <p:nvPr/>
        </p:nvSpPr>
        <p:spPr>
          <a:xfrm>
            <a:off x="6382512" y="1673352"/>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ALiBi · Linear bias</a:t>
            </a:r>
            <a:endParaRPr sz="1200" b="0" i="0" u="none" strike="noStrike" cap="none">
              <a:solidFill>
                <a:schemeClr val="dk1"/>
              </a:solidFill>
              <a:latin typeface="Calibri"/>
              <a:ea typeface="Calibri"/>
              <a:cs typeface="Calibri"/>
              <a:sym typeface="Calibri"/>
            </a:endParaRPr>
          </a:p>
        </p:txBody>
      </p:sp>
      <p:sp>
        <p:nvSpPr>
          <p:cNvPr id="745" name="Google Shape;745;p26"/>
          <p:cNvSpPr txBox="1"/>
          <p:nvPr/>
        </p:nvSpPr>
        <p:spPr>
          <a:xfrm>
            <a:off x="8714232" y="1655064"/>
            <a:ext cx="2834640" cy="347472"/>
          </a:xfrm>
          <a:prstGeom prst="rect">
            <a:avLst/>
          </a:prstGeom>
          <a:noFill/>
          <a:ln>
            <a:noFill/>
          </a:ln>
        </p:spPr>
        <p:txBody>
          <a:bodyPr spcFirstLastPara="1" wrap="square" lIns="750" tIns="750" rIns="750" bIns="750" anchor="t" anchorCtr="0">
            <a:noAutofit/>
          </a:bodyPr>
          <a:lstStyle/>
          <a:p>
            <a:pPr marL="0" marR="0" lvl="0" indent="0" algn="r"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BLOOM, MPT</a:t>
            </a:r>
            <a:endParaRPr sz="1300" b="0" i="0" u="none" strike="noStrike" cap="none">
              <a:solidFill>
                <a:schemeClr val="dk1"/>
              </a:solidFill>
              <a:latin typeface="Calibri"/>
              <a:ea typeface="Calibri"/>
              <a:cs typeface="Calibri"/>
              <a:sym typeface="Calibri"/>
            </a:endParaRPr>
          </a:p>
        </p:txBody>
      </p:sp>
      <p:sp>
        <p:nvSpPr>
          <p:cNvPr id="746" name="Google Shape;746;p26"/>
          <p:cNvSpPr/>
          <p:nvPr/>
        </p:nvSpPr>
        <p:spPr>
          <a:xfrm>
            <a:off x="6382512" y="2057400"/>
            <a:ext cx="5166360" cy="530352"/>
          </a:xfrm>
          <a:prstGeom prst="roundRect">
            <a:avLst>
              <a:gd name="adj" fmla="val 1034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7" name="Google Shape;747;p26" descr="Equation"/>
          <p:cNvPicPr preferRelativeResize="0"/>
          <p:nvPr/>
        </p:nvPicPr>
        <p:blipFill rotWithShape="1">
          <a:blip r:embed="rId4">
            <a:alphaModFix/>
          </a:blip>
          <a:srcRect/>
          <a:stretch/>
        </p:blipFill>
        <p:spPr>
          <a:xfrm>
            <a:off x="7779410" y="2204161"/>
            <a:ext cx="2372563" cy="236830"/>
          </a:xfrm>
          <a:prstGeom prst="rect">
            <a:avLst/>
          </a:prstGeom>
          <a:noFill/>
          <a:ln>
            <a:noFill/>
          </a:ln>
        </p:spPr>
      </p:pic>
      <p:sp>
        <p:nvSpPr>
          <p:cNvPr id="748" name="Google Shape;748;p26"/>
          <p:cNvSpPr txBox="1"/>
          <p:nvPr/>
        </p:nvSpPr>
        <p:spPr>
          <a:xfrm>
            <a:off x="6382512" y="2606040"/>
            <a:ext cx="5166360" cy="6400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No rotation at all: just subtracts a distance penalty from the score. Simple and extrapolates well.</a:t>
            </a:r>
            <a:endParaRPr sz="1400" b="0" i="0" u="none" strike="noStrike" cap="none">
              <a:solidFill>
                <a:schemeClr val="dk1"/>
              </a:solidFill>
              <a:latin typeface="Calibri"/>
              <a:ea typeface="Calibri"/>
              <a:cs typeface="Calibri"/>
              <a:sym typeface="Calibri"/>
            </a:endParaRPr>
          </a:p>
        </p:txBody>
      </p:sp>
      <p:sp>
        <p:nvSpPr>
          <p:cNvPr id="749" name="Google Shape;749;p26"/>
          <p:cNvSpPr/>
          <p:nvPr/>
        </p:nvSpPr>
        <p:spPr>
          <a:xfrm>
            <a:off x="457200" y="3429000"/>
            <a:ext cx="5532120" cy="1783080"/>
          </a:xfrm>
          <a:prstGeom prst="roundRect">
            <a:avLst>
              <a:gd name="adj" fmla="val 512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6"/>
          <p:cNvSpPr/>
          <p:nvPr/>
        </p:nvSpPr>
        <p:spPr>
          <a:xfrm>
            <a:off x="640080" y="3593592"/>
            <a:ext cx="2194560" cy="310896"/>
          </a:xfrm>
          <a:prstGeom prst="roundRect">
            <a:avLst>
              <a:gd name="adj" fmla="val 23529"/>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6"/>
          <p:cNvSpPr txBox="1"/>
          <p:nvPr/>
        </p:nvSpPr>
        <p:spPr>
          <a:xfrm>
            <a:off x="640080" y="3593592"/>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Learned embeddings</a:t>
            </a:r>
            <a:endParaRPr sz="1200" b="0" i="0" u="none" strike="noStrike" cap="none">
              <a:solidFill>
                <a:schemeClr val="dk1"/>
              </a:solidFill>
              <a:latin typeface="Calibri"/>
              <a:ea typeface="Calibri"/>
              <a:cs typeface="Calibri"/>
              <a:sym typeface="Calibri"/>
            </a:endParaRPr>
          </a:p>
        </p:txBody>
      </p:sp>
      <p:sp>
        <p:nvSpPr>
          <p:cNvPr id="752" name="Google Shape;752;p26"/>
          <p:cNvSpPr txBox="1"/>
          <p:nvPr/>
        </p:nvSpPr>
        <p:spPr>
          <a:xfrm>
            <a:off x="2971800" y="3575304"/>
            <a:ext cx="2834640" cy="347472"/>
          </a:xfrm>
          <a:prstGeom prst="rect">
            <a:avLst/>
          </a:prstGeom>
          <a:noFill/>
          <a:ln>
            <a:noFill/>
          </a:ln>
        </p:spPr>
        <p:txBody>
          <a:bodyPr spcFirstLastPara="1" wrap="square" lIns="750" tIns="750" rIns="750" bIns="750" anchor="t" anchorCtr="0">
            <a:noAutofit/>
          </a:bodyPr>
          <a:lstStyle/>
          <a:p>
            <a:pPr marL="0" marR="0" lvl="0" indent="0" algn="r"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BERT, GPT-2</a:t>
            </a:r>
            <a:endParaRPr sz="1300" b="0" i="0" u="none" strike="noStrike" cap="none">
              <a:solidFill>
                <a:schemeClr val="dk1"/>
              </a:solidFill>
              <a:latin typeface="Calibri"/>
              <a:ea typeface="Calibri"/>
              <a:cs typeface="Calibri"/>
              <a:sym typeface="Calibri"/>
            </a:endParaRPr>
          </a:p>
        </p:txBody>
      </p:sp>
      <p:sp>
        <p:nvSpPr>
          <p:cNvPr id="753" name="Google Shape;753;p26"/>
          <p:cNvSpPr/>
          <p:nvPr/>
        </p:nvSpPr>
        <p:spPr>
          <a:xfrm>
            <a:off x="640080" y="3977640"/>
            <a:ext cx="5166360" cy="530352"/>
          </a:xfrm>
          <a:prstGeom prst="roundRect">
            <a:avLst>
              <a:gd name="adj" fmla="val 1034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4" name="Google Shape;754;p26" descr="Equation"/>
          <p:cNvPicPr preferRelativeResize="0"/>
          <p:nvPr/>
        </p:nvPicPr>
        <p:blipFill rotWithShape="1">
          <a:blip r:embed="rId5">
            <a:alphaModFix/>
          </a:blip>
          <a:srcRect/>
          <a:stretch/>
        </p:blipFill>
        <p:spPr>
          <a:xfrm>
            <a:off x="1393698" y="4124401"/>
            <a:ext cx="3659124" cy="236830"/>
          </a:xfrm>
          <a:prstGeom prst="rect">
            <a:avLst/>
          </a:prstGeom>
          <a:noFill/>
          <a:ln>
            <a:noFill/>
          </a:ln>
        </p:spPr>
      </p:pic>
      <p:sp>
        <p:nvSpPr>
          <p:cNvPr id="755" name="Google Shape;755;p26"/>
          <p:cNvSpPr txBox="1"/>
          <p:nvPr/>
        </p:nvSpPr>
        <p:spPr>
          <a:xfrm>
            <a:off x="640080" y="4526280"/>
            <a:ext cx="5166360" cy="6400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One trainable vector per slot. No built-in notion of relative distance, and no positions beyond training length.</a:t>
            </a:r>
            <a:endParaRPr sz="1400" b="0" i="0" u="none" strike="noStrike" cap="none">
              <a:solidFill>
                <a:schemeClr val="dk1"/>
              </a:solidFill>
              <a:latin typeface="Calibri"/>
              <a:ea typeface="Calibri"/>
              <a:cs typeface="Calibri"/>
              <a:sym typeface="Calibri"/>
            </a:endParaRPr>
          </a:p>
        </p:txBody>
      </p:sp>
      <p:sp>
        <p:nvSpPr>
          <p:cNvPr id="756" name="Google Shape;756;p26"/>
          <p:cNvSpPr/>
          <p:nvPr/>
        </p:nvSpPr>
        <p:spPr>
          <a:xfrm>
            <a:off x="6199632" y="3429000"/>
            <a:ext cx="5532120" cy="1783080"/>
          </a:xfrm>
          <a:prstGeom prst="roundRect">
            <a:avLst>
              <a:gd name="adj" fmla="val 512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6"/>
          <p:cNvSpPr/>
          <p:nvPr/>
        </p:nvSpPr>
        <p:spPr>
          <a:xfrm>
            <a:off x="6382512" y="3593592"/>
            <a:ext cx="219456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6"/>
          <p:cNvSpPr txBox="1"/>
          <p:nvPr/>
        </p:nvSpPr>
        <p:spPr>
          <a:xfrm>
            <a:off x="6382512" y="3593592"/>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Sinusoidal (2017)</a:t>
            </a:r>
            <a:endParaRPr sz="1200" b="0" i="0" u="none" strike="noStrike" cap="none">
              <a:solidFill>
                <a:schemeClr val="dk1"/>
              </a:solidFill>
              <a:latin typeface="Calibri"/>
              <a:ea typeface="Calibri"/>
              <a:cs typeface="Calibri"/>
              <a:sym typeface="Calibri"/>
            </a:endParaRPr>
          </a:p>
        </p:txBody>
      </p:sp>
      <p:sp>
        <p:nvSpPr>
          <p:cNvPr id="759" name="Google Shape;759;p26"/>
          <p:cNvSpPr txBox="1"/>
          <p:nvPr/>
        </p:nvSpPr>
        <p:spPr>
          <a:xfrm>
            <a:off x="8714232" y="3575304"/>
            <a:ext cx="2834640" cy="347472"/>
          </a:xfrm>
          <a:prstGeom prst="rect">
            <a:avLst/>
          </a:prstGeom>
          <a:noFill/>
          <a:ln>
            <a:noFill/>
          </a:ln>
        </p:spPr>
        <p:txBody>
          <a:bodyPr spcFirstLastPara="1" wrap="square" lIns="750" tIns="750" rIns="750" bIns="750" anchor="t" anchorCtr="0">
            <a:noAutofit/>
          </a:bodyPr>
          <a:lstStyle/>
          <a:p>
            <a:pPr marL="0" marR="0" lvl="0" indent="0" algn="r"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Original Transformer</a:t>
            </a:r>
            <a:endParaRPr sz="1300" b="0" i="0" u="none" strike="noStrike" cap="none">
              <a:solidFill>
                <a:schemeClr val="dk1"/>
              </a:solidFill>
              <a:latin typeface="Calibri"/>
              <a:ea typeface="Calibri"/>
              <a:cs typeface="Calibri"/>
              <a:sym typeface="Calibri"/>
            </a:endParaRPr>
          </a:p>
        </p:txBody>
      </p:sp>
      <p:sp>
        <p:nvSpPr>
          <p:cNvPr id="760" name="Google Shape;760;p26"/>
          <p:cNvSpPr/>
          <p:nvPr/>
        </p:nvSpPr>
        <p:spPr>
          <a:xfrm>
            <a:off x="6382512" y="3977640"/>
            <a:ext cx="5166360" cy="530352"/>
          </a:xfrm>
          <a:prstGeom prst="roundRect">
            <a:avLst>
              <a:gd name="adj" fmla="val 1034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1" name="Google Shape;761;p26" descr="Equation"/>
          <p:cNvPicPr preferRelativeResize="0"/>
          <p:nvPr/>
        </p:nvPicPr>
        <p:blipFill rotWithShape="1">
          <a:blip r:embed="rId6">
            <a:alphaModFix/>
          </a:blip>
          <a:srcRect/>
          <a:stretch/>
        </p:blipFill>
        <p:spPr>
          <a:xfrm>
            <a:off x="7625791" y="4051859"/>
            <a:ext cx="2679802" cy="381914"/>
          </a:xfrm>
          <a:prstGeom prst="rect">
            <a:avLst/>
          </a:prstGeom>
          <a:noFill/>
          <a:ln>
            <a:noFill/>
          </a:ln>
        </p:spPr>
      </p:pic>
      <p:sp>
        <p:nvSpPr>
          <p:cNvPr id="762" name="Google Shape;762;p26"/>
          <p:cNvSpPr txBox="1"/>
          <p:nvPr/>
        </p:nvSpPr>
        <p:spPr>
          <a:xfrm>
            <a:off x="6382512" y="4526280"/>
            <a:ext cx="5166360" cy="6400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Fixed, parameter-free, relative offsets are rotations. The ancestor of RoPE.</a:t>
            </a:r>
            <a:endParaRPr sz="1400" b="0" i="0" u="none" strike="noStrike" cap="none">
              <a:solidFill>
                <a:schemeClr val="dk1"/>
              </a:solidFill>
              <a:latin typeface="Calibri"/>
              <a:ea typeface="Calibri"/>
              <a:cs typeface="Calibri"/>
              <a:sym typeface="Calibri"/>
            </a:endParaRPr>
          </a:p>
        </p:txBody>
      </p:sp>
      <p:graphicFrame>
        <p:nvGraphicFramePr>
          <p:cNvPr id="763" name="Google Shape;763;p26"/>
          <p:cNvGraphicFramePr/>
          <p:nvPr/>
        </p:nvGraphicFramePr>
        <p:xfrm>
          <a:off x="457200" y="5440680"/>
          <a:ext cx="11274600" cy="868710"/>
        </p:xfrm>
        <a:graphic>
          <a:graphicData uri="http://schemas.openxmlformats.org/drawingml/2006/table">
            <a:tbl>
              <a:tblPr>
                <a:noFill/>
                <a:tableStyleId>{0C125456-CB15-484E-AA9C-68C207211CB5}</a:tableStyleId>
              </a:tblPr>
              <a:tblGrid>
                <a:gridCol w="3593600">
                  <a:extLst>
                    <a:ext uri="{9D8B030D-6E8A-4147-A177-3AD203B41FA5}">
                      <a16:colId xmlns:a16="http://schemas.microsoft.com/office/drawing/2014/main" val="20000"/>
                    </a:ext>
                  </a:extLst>
                </a:gridCol>
                <a:gridCol w="1920250">
                  <a:extLst>
                    <a:ext uri="{9D8B030D-6E8A-4147-A177-3AD203B41FA5}">
                      <a16:colId xmlns:a16="http://schemas.microsoft.com/office/drawing/2014/main" val="20001"/>
                    </a:ext>
                  </a:extLst>
                </a:gridCol>
                <a:gridCol w="1920250">
                  <a:extLst>
                    <a:ext uri="{9D8B030D-6E8A-4147-A177-3AD203B41FA5}">
                      <a16:colId xmlns:a16="http://schemas.microsoft.com/office/drawing/2014/main" val="20002"/>
                    </a:ext>
                  </a:extLst>
                </a:gridCol>
                <a:gridCol w="1920250">
                  <a:extLst>
                    <a:ext uri="{9D8B030D-6E8A-4147-A177-3AD203B41FA5}">
                      <a16:colId xmlns:a16="http://schemas.microsoft.com/office/drawing/2014/main" val="20003"/>
                    </a:ext>
                  </a:extLst>
                </a:gridCol>
                <a:gridCol w="1920250">
                  <a:extLst>
                    <a:ext uri="{9D8B030D-6E8A-4147-A177-3AD203B41FA5}">
                      <a16:colId xmlns:a16="http://schemas.microsoft.com/office/drawing/2014/main" val="20004"/>
                    </a:ext>
                  </a:extLst>
                </a:gridCol>
              </a:tblGrid>
              <a:tr h="274325">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Property</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sin/cos</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RoPE</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ALiBi</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Learned</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274325">
                <a:tc>
                  <a:txBody>
                    <a:bodyPr/>
                    <a:lstStyle/>
                    <a:p>
                      <a:pPr marL="0" marR="0" lvl="0" indent="0" algn="l"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Relative offsets built in</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5803D"/>
                        </a:buClr>
                        <a:buSzPts val="1300"/>
                        <a:buFont typeface="Calibri"/>
                        <a:buNone/>
                      </a:pPr>
                      <a:r>
                        <a:rPr lang="en-US" sz="1300" b="1" u="none" strike="noStrike" cap="none">
                          <a:solidFill>
                            <a:srgbClr val="15803D"/>
                          </a:solidFill>
                          <a:latin typeface="Calibri"/>
                          <a:ea typeface="Calibri"/>
                          <a:cs typeface="Calibri"/>
                          <a:sym typeface="Calibri"/>
                        </a:rPr>
                        <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5803D"/>
                        </a:buClr>
                        <a:buSzPts val="1300"/>
                        <a:buFont typeface="Calibri"/>
                        <a:buNone/>
                      </a:pPr>
                      <a:r>
                        <a:rPr lang="en-US" sz="1300" b="1" u="none" strike="noStrike" cap="none">
                          <a:solidFill>
                            <a:srgbClr val="15803D"/>
                          </a:solidFill>
                          <a:latin typeface="Calibri"/>
                          <a:ea typeface="Calibri"/>
                          <a:cs typeface="Calibri"/>
                          <a:sym typeface="Calibri"/>
                        </a:rPr>
                        <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D97706"/>
                        </a:buClr>
                        <a:buSzPts val="1300"/>
                        <a:buFont typeface="Calibri"/>
                        <a:buNone/>
                      </a:pPr>
                      <a:r>
                        <a:rPr lang="en-US" sz="1300" b="1" u="none" strike="noStrike" cap="none">
                          <a:solidFill>
                            <a:srgbClr val="D97706"/>
                          </a:solidFill>
                          <a:latin typeface="Calibri"/>
                          <a:ea typeface="Calibri"/>
                          <a:cs typeface="Calibri"/>
                          <a:sym typeface="Calibri"/>
                        </a:rPr>
                        <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B91C1C"/>
                        </a:buClr>
                        <a:buSzPts val="1300"/>
                        <a:buFont typeface="Calibri"/>
                        <a:buNone/>
                      </a:pPr>
                      <a:r>
                        <a:rPr lang="en-US" sz="1300" b="1" u="none" strike="noStrike" cap="none">
                          <a:solidFill>
                            <a:srgbClr val="B91C1C"/>
                          </a:solidFill>
                          <a:latin typeface="Calibri"/>
                          <a:ea typeface="Calibri"/>
                          <a:cs typeface="Calibri"/>
                          <a:sym typeface="Calibri"/>
                        </a:rPr>
                        <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74325">
                <a:tc>
                  <a:txBody>
                    <a:bodyPr/>
                    <a:lstStyle/>
                    <a:p>
                      <a:pPr marL="0" marR="0" lvl="0" indent="0" algn="l"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Works beyond training length</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5803D"/>
                        </a:buClr>
                        <a:buSzPts val="1300"/>
                        <a:buFont typeface="Calibri"/>
                        <a:buNone/>
                      </a:pPr>
                      <a:r>
                        <a:rPr lang="en-US" sz="1300" b="1" u="none" strike="noStrike" cap="none">
                          <a:solidFill>
                            <a:srgbClr val="15803D"/>
                          </a:solidFill>
                          <a:latin typeface="Calibri"/>
                          <a:ea typeface="Calibri"/>
                          <a:cs typeface="Calibri"/>
                          <a:sym typeface="Calibri"/>
                        </a:rPr>
                        <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5803D"/>
                        </a:buClr>
                        <a:buSzPts val="1300"/>
                        <a:buFont typeface="Calibri"/>
                        <a:buNone/>
                      </a:pPr>
                      <a:r>
                        <a:rPr lang="en-US" sz="1300" b="1" u="none" strike="noStrike" cap="none">
                          <a:solidFill>
                            <a:srgbClr val="15803D"/>
                          </a:solidFill>
                          <a:latin typeface="Calibri"/>
                          <a:ea typeface="Calibri"/>
                          <a:cs typeface="Calibri"/>
                          <a:sym typeface="Calibri"/>
                        </a:rPr>
                        <a:t>✓ (with tricks)</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5803D"/>
                        </a:buClr>
                        <a:buSzPts val="1300"/>
                        <a:buFont typeface="Calibri"/>
                        <a:buNone/>
                      </a:pPr>
                      <a:r>
                        <a:rPr lang="en-US" sz="1300" b="1" u="none" strike="noStrike" cap="none">
                          <a:solidFill>
                            <a:srgbClr val="15803D"/>
                          </a:solidFill>
                          <a:latin typeface="Calibri"/>
                          <a:ea typeface="Calibri"/>
                          <a:cs typeface="Calibri"/>
                          <a:sym typeface="Calibri"/>
                        </a:rPr>
                        <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B91C1C"/>
                        </a:buClr>
                        <a:buSzPts val="1300"/>
                        <a:buFont typeface="Calibri"/>
                        <a:buNone/>
                      </a:pPr>
                      <a:r>
                        <a:rPr lang="en-US" sz="1300" b="1" u="none" strike="noStrike" cap="none">
                          <a:solidFill>
                            <a:srgbClr val="B91C1C"/>
                          </a:solidFill>
                          <a:latin typeface="Calibri"/>
                          <a:ea typeface="Calibri"/>
                          <a:cs typeface="Calibri"/>
                          <a:sym typeface="Calibri"/>
                        </a:rPr>
                        <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764" name="Google Shape;764;p26"/>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16</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27"/>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Where Each Scheme Injects Position</a:t>
            </a:r>
            <a:endParaRPr sz="3000"/>
          </a:p>
        </p:txBody>
      </p:sp>
      <p:sp>
        <p:nvSpPr>
          <p:cNvPr id="771" name="Google Shape;771;p27"/>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Three different points in the same forward pass</a:t>
            </a:r>
            <a:endParaRPr sz="1500"/>
          </a:p>
        </p:txBody>
      </p:sp>
      <p:sp>
        <p:nvSpPr>
          <p:cNvPr id="772" name="Google Shape;772;p27"/>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3 · POSITIONAL ENCODING</a:t>
            </a:r>
            <a:endParaRPr sz="1000" b="0" i="0" u="none" strike="noStrike" cap="none">
              <a:solidFill>
                <a:schemeClr val="dk1"/>
              </a:solidFill>
              <a:latin typeface="Calibri"/>
              <a:ea typeface="Calibri"/>
              <a:cs typeface="Calibri"/>
              <a:sym typeface="Calibri"/>
            </a:endParaRPr>
          </a:p>
        </p:txBody>
      </p:sp>
      <p:sp>
        <p:nvSpPr>
          <p:cNvPr id="773" name="Google Shape;773;p27"/>
          <p:cNvSpPr/>
          <p:nvPr/>
        </p:nvSpPr>
        <p:spPr>
          <a:xfrm>
            <a:off x="457200" y="1554480"/>
            <a:ext cx="2011680"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7"/>
          <p:cNvSpPr txBox="1"/>
          <p:nvPr/>
        </p:nvSpPr>
        <p:spPr>
          <a:xfrm>
            <a:off x="457200" y="1554480"/>
            <a:ext cx="2011680"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Token embedding</a:t>
            </a:r>
            <a:endParaRPr sz="1500" b="0" i="0" u="none" strike="noStrike" cap="none">
              <a:solidFill>
                <a:schemeClr val="dk1"/>
              </a:solidFill>
              <a:latin typeface="Calibri"/>
              <a:ea typeface="Calibri"/>
              <a:cs typeface="Calibri"/>
              <a:sym typeface="Calibri"/>
            </a:endParaRPr>
          </a:p>
        </p:txBody>
      </p:sp>
      <p:sp>
        <p:nvSpPr>
          <p:cNvPr id="775" name="Google Shape;775;p27"/>
          <p:cNvSpPr txBox="1"/>
          <p:nvPr/>
        </p:nvSpPr>
        <p:spPr>
          <a:xfrm>
            <a:off x="2487168" y="1737360"/>
            <a:ext cx="256032"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776" name="Google Shape;776;p27"/>
          <p:cNvSpPr/>
          <p:nvPr/>
        </p:nvSpPr>
        <p:spPr>
          <a:xfrm>
            <a:off x="2761488" y="1554480"/>
            <a:ext cx="2011680"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7"/>
          <p:cNvSpPr txBox="1"/>
          <p:nvPr/>
        </p:nvSpPr>
        <p:spPr>
          <a:xfrm>
            <a:off x="2761488" y="1554480"/>
            <a:ext cx="2011680"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Compute Q, K, V</a:t>
            </a:r>
            <a:endParaRPr sz="1500" b="0" i="0" u="none" strike="noStrike" cap="none">
              <a:solidFill>
                <a:schemeClr val="dk1"/>
              </a:solidFill>
              <a:latin typeface="Calibri"/>
              <a:ea typeface="Calibri"/>
              <a:cs typeface="Calibri"/>
              <a:sym typeface="Calibri"/>
            </a:endParaRPr>
          </a:p>
        </p:txBody>
      </p:sp>
      <p:sp>
        <p:nvSpPr>
          <p:cNvPr id="778" name="Google Shape;778;p27"/>
          <p:cNvSpPr txBox="1"/>
          <p:nvPr/>
        </p:nvSpPr>
        <p:spPr>
          <a:xfrm>
            <a:off x="4791456" y="1737360"/>
            <a:ext cx="256032"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779" name="Google Shape;779;p27"/>
          <p:cNvSpPr/>
          <p:nvPr/>
        </p:nvSpPr>
        <p:spPr>
          <a:xfrm>
            <a:off x="5065776" y="1554480"/>
            <a:ext cx="2011680"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7"/>
          <p:cNvSpPr txBox="1"/>
          <p:nvPr/>
        </p:nvSpPr>
        <p:spPr>
          <a:xfrm>
            <a:off x="5065776" y="1554480"/>
            <a:ext cx="2011680"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Q · Kᵀ</a:t>
            </a:r>
            <a:endParaRPr sz="1500" b="0" i="0" u="none" strike="noStrike" cap="none">
              <a:solidFill>
                <a:schemeClr val="dk1"/>
              </a:solidFill>
              <a:latin typeface="Calibri"/>
              <a:ea typeface="Calibri"/>
              <a:cs typeface="Calibri"/>
              <a:sym typeface="Calibri"/>
            </a:endParaRPr>
          </a:p>
        </p:txBody>
      </p:sp>
      <p:sp>
        <p:nvSpPr>
          <p:cNvPr id="781" name="Google Shape;781;p27"/>
          <p:cNvSpPr txBox="1"/>
          <p:nvPr/>
        </p:nvSpPr>
        <p:spPr>
          <a:xfrm>
            <a:off x="7095744" y="1737360"/>
            <a:ext cx="256032"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782" name="Google Shape;782;p27"/>
          <p:cNvSpPr/>
          <p:nvPr/>
        </p:nvSpPr>
        <p:spPr>
          <a:xfrm>
            <a:off x="7370064" y="1554480"/>
            <a:ext cx="2011680"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7"/>
          <p:cNvSpPr txBox="1"/>
          <p:nvPr/>
        </p:nvSpPr>
        <p:spPr>
          <a:xfrm>
            <a:off x="7370064" y="1554480"/>
            <a:ext cx="2011680"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Softmax</a:t>
            </a:r>
            <a:endParaRPr sz="1500" b="0" i="0" u="none" strike="noStrike" cap="none">
              <a:solidFill>
                <a:schemeClr val="dk1"/>
              </a:solidFill>
              <a:latin typeface="Calibri"/>
              <a:ea typeface="Calibri"/>
              <a:cs typeface="Calibri"/>
              <a:sym typeface="Calibri"/>
            </a:endParaRPr>
          </a:p>
        </p:txBody>
      </p:sp>
      <p:sp>
        <p:nvSpPr>
          <p:cNvPr id="784" name="Google Shape;784;p27"/>
          <p:cNvSpPr txBox="1"/>
          <p:nvPr/>
        </p:nvSpPr>
        <p:spPr>
          <a:xfrm>
            <a:off x="9400032" y="1737360"/>
            <a:ext cx="256032"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785" name="Google Shape;785;p27"/>
          <p:cNvSpPr/>
          <p:nvPr/>
        </p:nvSpPr>
        <p:spPr>
          <a:xfrm>
            <a:off x="9674352" y="1554480"/>
            <a:ext cx="2011680" cy="777240"/>
          </a:xfrm>
          <a:prstGeom prst="roundRect">
            <a:avLst>
              <a:gd name="adj" fmla="val 9412"/>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7"/>
          <p:cNvSpPr txBox="1"/>
          <p:nvPr/>
        </p:nvSpPr>
        <p:spPr>
          <a:xfrm>
            <a:off x="9674352" y="1554480"/>
            <a:ext cx="2011680" cy="77724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Output</a:t>
            </a:r>
            <a:endParaRPr sz="1500" b="0" i="0" u="none" strike="noStrike" cap="none">
              <a:solidFill>
                <a:schemeClr val="dk1"/>
              </a:solidFill>
              <a:latin typeface="Calibri"/>
              <a:ea typeface="Calibri"/>
              <a:cs typeface="Calibri"/>
              <a:sym typeface="Calibri"/>
            </a:endParaRPr>
          </a:p>
        </p:txBody>
      </p:sp>
      <p:sp>
        <p:nvSpPr>
          <p:cNvPr id="787" name="Google Shape;787;p27"/>
          <p:cNvSpPr txBox="1"/>
          <p:nvPr/>
        </p:nvSpPr>
        <p:spPr>
          <a:xfrm>
            <a:off x="1280160" y="2377440"/>
            <a:ext cx="3657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400"/>
              <a:buFont typeface="Calibri"/>
              <a:buNone/>
            </a:pPr>
            <a:r>
              <a:rPr lang="en-US" sz="1400" b="0" i="0" u="none" strike="noStrike" cap="none">
                <a:solidFill>
                  <a:srgbClr val="1D4ED8"/>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788" name="Google Shape;788;p27"/>
          <p:cNvSpPr/>
          <p:nvPr/>
        </p:nvSpPr>
        <p:spPr>
          <a:xfrm>
            <a:off x="502920" y="2670048"/>
            <a:ext cx="192024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7"/>
          <p:cNvSpPr txBox="1"/>
          <p:nvPr/>
        </p:nvSpPr>
        <p:spPr>
          <a:xfrm>
            <a:off x="502920" y="2670048"/>
            <a:ext cx="192024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sin/cos &amp; learned</a:t>
            </a:r>
            <a:endParaRPr sz="1200" b="0" i="0" u="none" strike="noStrike" cap="none">
              <a:solidFill>
                <a:schemeClr val="dk1"/>
              </a:solidFill>
              <a:latin typeface="Calibri"/>
              <a:ea typeface="Calibri"/>
              <a:cs typeface="Calibri"/>
              <a:sym typeface="Calibri"/>
            </a:endParaRPr>
          </a:p>
        </p:txBody>
      </p:sp>
      <p:sp>
        <p:nvSpPr>
          <p:cNvPr id="790" name="Google Shape;790;p27"/>
          <p:cNvSpPr txBox="1"/>
          <p:nvPr/>
        </p:nvSpPr>
        <p:spPr>
          <a:xfrm>
            <a:off x="3584448" y="2377440"/>
            <a:ext cx="3657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F766E"/>
              </a:buClr>
              <a:buSzPts val="1400"/>
              <a:buFont typeface="Calibri"/>
              <a:buNone/>
            </a:pPr>
            <a:r>
              <a:rPr lang="en-US" sz="1400" b="0" i="0" u="none" strike="noStrike" cap="none">
                <a:solidFill>
                  <a:srgbClr val="0F766E"/>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791" name="Google Shape;791;p27"/>
          <p:cNvSpPr/>
          <p:nvPr/>
        </p:nvSpPr>
        <p:spPr>
          <a:xfrm>
            <a:off x="2807208" y="2670048"/>
            <a:ext cx="192024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7"/>
          <p:cNvSpPr txBox="1"/>
          <p:nvPr/>
        </p:nvSpPr>
        <p:spPr>
          <a:xfrm>
            <a:off x="2807208" y="2670048"/>
            <a:ext cx="192024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RoPE</a:t>
            </a:r>
            <a:endParaRPr sz="1200" b="0" i="0" u="none" strike="noStrike" cap="none">
              <a:solidFill>
                <a:schemeClr val="dk1"/>
              </a:solidFill>
              <a:latin typeface="Calibri"/>
              <a:ea typeface="Calibri"/>
              <a:cs typeface="Calibri"/>
              <a:sym typeface="Calibri"/>
            </a:endParaRPr>
          </a:p>
        </p:txBody>
      </p:sp>
      <p:sp>
        <p:nvSpPr>
          <p:cNvPr id="793" name="Google Shape;793;p27"/>
          <p:cNvSpPr txBox="1"/>
          <p:nvPr/>
        </p:nvSpPr>
        <p:spPr>
          <a:xfrm>
            <a:off x="5888736" y="2377440"/>
            <a:ext cx="3657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400"/>
              <a:buFont typeface="Calibri"/>
              <a:buNone/>
            </a:pPr>
            <a:r>
              <a:rPr lang="en-US" sz="1400" b="0" i="0" u="none" strike="noStrike" cap="none">
                <a:solidFill>
                  <a:srgbClr val="6D28D9"/>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794" name="Google Shape;794;p27"/>
          <p:cNvSpPr/>
          <p:nvPr/>
        </p:nvSpPr>
        <p:spPr>
          <a:xfrm>
            <a:off x="5111496" y="2670048"/>
            <a:ext cx="192024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7"/>
          <p:cNvSpPr txBox="1"/>
          <p:nvPr/>
        </p:nvSpPr>
        <p:spPr>
          <a:xfrm>
            <a:off x="5111496" y="2670048"/>
            <a:ext cx="192024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ALiBi</a:t>
            </a:r>
            <a:endParaRPr sz="1200" b="0" i="0" u="none" strike="noStrike" cap="none">
              <a:solidFill>
                <a:schemeClr val="dk1"/>
              </a:solidFill>
              <a:latin typeface="Calibri"/>
              <a:ea typeface="Calibri"/>
              <a:cs typeface="Calibri"/>
              <a:sym typeface="Calibri"/>
            </a:endParaRPr>
          </a:p>
        </p:txBody>
      </p:sp>
      <p:sp>
        <p:nvSpPr>
          <p:cNvPr id="796" name="Google Shape;796;p27"/>
          <p:cNvSpPr/>
          <p:nvPr/>
        </p:nvSpPr>
        <p:spPr>
          <a:xfrm>
            <a:off x="457200" y="3200400"/>
            <a:ext cx="3639312" cy="2514600"/>
          </a:xfrm>
          <a:prstGeom prst="roundRect">
            <a:avLst>
              <a:gd name="adj" fmla="val 363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7"/>
          <p:cNvSpPr txBox="1"/>
          <p:nvPr/>
        </p:nvSpPr>
        <p:spPr>
          <a:xfrm>
            <a:off x="640080" y="3310128"/>
            <a:ext cx="3273552"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D4ED8"/>
              </a:buClr>
              <a:buSzPts val="1600"/>
              <a:buFont typeface="Calibri"/>
              <a:buNone/>
            </a:pPr>
            <a:r>
              <a:rPr lang="en-US" sz="1600" b="1" i="0" u="none" strike="noStrike" cap="none">
                <a:solidFill>
                  <a:srgbClr val="1D4ED8"/>
                </a:solidFill>
                <a:latin typeface="Calibri"/>
                <a:ea typeface="Calibri"/>
                <a:cs typeface="Calibri"/>
                <a:sym typeface="Calibri"/>
              </a:rPr>
              <a:t>sin/cos &amp; learned PE</a:t>
            </a:r>
            <a:endParaRPr sz="1600" b="0" i="0" u="none" strike="noStrike" cap="none">
              <a:solidFill>
                <a:schemeClr val="dk1"/>
              </a:solidFill>
              <a:latin typeface="Calibri"/>
              <a:ea typeface="Calibri"/>
              <a:cs typeface="Calibri"/>
              <a:sym typeface="Calibri"/>
            </a:endParaRPr>
          </a:p>
        </p:txBody>
      </p:sp>
      <p:sp>
        <p:nvSpPr>
          <p:cNvPr id="798" name="Google Shape;798;p27"/>
          <p:cNvSpPr txBox="1"/>
          <p:nvPr/>
        </p:nvSpPr>
        <p:spPr>
          <a:xfrm>
            <a:off x="640080" y="3657600"/>
            <a:ext cx="3273552"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At the token embedding</a:t>
            </a:r>
            <a:endParaRPr sz="1300" b="0" i="0" u="none" strike="noStrike" cap="none">
              <a:solidFill>
                <a:schemeClr val="dk1"/>
              </a:solidFill>
              <a:latin typeface="Calibri"/>
              <a:ea typeface="Calibri"/>
              <a:cs typeface="Calibri"/>
              <a:sym typeface="Calibri"/>
            </a:endParaRPr>
          </a:p>
        </p:txBody>
      </p:sp>
      <p:sp>
        <p:nvSpPr>
          <p:cNvPr id="799" name="Google Shape;799;p27"/>
          <p:cNvSpPr/>
          <p:nvPr/>
        </p:nvSpPr>
        <p:spPr>
          <a:xfrm>
            <a:off x="640080" y="4005072"/>
            <a:ext cx="3273552" cy="457200"/>
          </a:xfrm>
          <a:prstGeom prst="roundRect">
            <a:avLst>
              <a:gd name="adj" fmla="val 12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0" name="Google Shape;800;p27" descr="Equation"/>
          <p:cNvPicPr preferRelativeResize="0"/>
          <p:nvPr/>
        </p:nvPicPr>
        <p:blipFill rotWithShape="1">
          <a:blip r:embed="rId3">
            <a:alphaModFix/>
          </a:blip>
          <a:srcRect/>
          <a:stretch/>
        </p:blipFill>
        <p:spPr>
          <a:xfrm>
            <a:off x="1287932" y="4118458"/>
            <a:ext cx="1977847" cy="230429"/>
          </a:xfrm>
          <a:prstGeom prst="rect">
            <a:avLst/>
          </a:prstGeom>
          <a:noFill/>
          <a:ln>
            <a:noFill/>
          </a:ln>
        </p:spPr>
      </p:pic>
      <p:sp>
        <p:nvSpPr>
          <p:cNvPr id="801" name="Google Shape;801;p27"/>
          <p:cNvSpPr txBox="1"/>
          <p:nvPr/>
        </p:nvSpPr>
        <p:spPr>
          <a:xfrm>
            <a:off x="640080" y="4526280"/>
            <a:ext cx="3273552"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Position is mixed into the input vector itself, so Q, K, V and even the FFN only ever see the blended vector.</a:t>
            </a:r>
            <a:endParaRPr sz="1400" b="0" i="0" u="none" strike="noStrike" cap="none">
              <a:solidFill>
                <a:schemeClr val="dk1"/>
              </a:solidFill>
              <a:latin typeface="Calibri"/>
              <a:ea typeface="Calibri"/>
              <a:cs typeface="Calibri"/>
              <a:sym typeface="Calibri"/>
            </a:endParaRPr>
          </a:p>
        </p:txBody>
      </p:sp>
      <p:sp>
        <p:nvSpPr>
          <p:cNvPr id="802" name="Google Shape;802;p27"/>
          <p:cNvSpPr txBox="1"/>
          <p:nvPr/>
        </p:nvSpPr>
        <p:spPr>
          <a:xfrm>
            <a:off x="640080" y="5349240"/>
            <a:ext cx="3273552"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D4ED8"/>
              </a:buClr>
              <a:buSzPts val="1200"/>
              <a:buFont typeface="Calibri"/>
              <a:buNone/>
            </a:pPr>
            <a:r>
              <a:rPr lang="en-US" sz="1200" b="1" i="0" u="none" strike="noStrike" cap="none">
                <a:solidFill>
                  <a:srgbClr val="1D4ED8"/>
                </a:solidFill>
                <a:latin typeface="Calibri"/>
                <a:ea typeface="Calibri"/>
                <a:cs typeface="Calibri"/>
                <a:sym typeface="Calibri"/>
              </a:rPr>
              <a:t>Earliest · most indirect</a:t>
            </a:r>
            <a:endParaRPr sz="1200" b="0" i="0" u="none" strike="noStrike" cap="none">
              <a:solidFill>
                <a:schemeClr val="dk1"/>
              </a:solidFill>
              <a:latin typeface="Calibri"/>
              <a:ea typeface="Calibri"/>
              <a:cs typeface="Calibri"/>
              <a:sym typeface="Calibri"/>
            </a:endParaRPr>
          </a:p>
        </p:txBody>
      </p:sp>
      <p:sp>
        <p:nvSpPr>
          <p:cNvPr id="803" name="Google Shape;803;p27"/>
          <p:cNvSpPr/>
          <p:nvPr/>
        </p:nvSpPr>
        <p:spPr>
          <a:xfrm>
            <a:off x="4279392" y="3200400"/>
            <a:ext cx="3639312" cy="2514600"/>
          </a:xfrm>
          <a:prstGeom prst="roundRect">
            <a:avLst>
              <a:gd name="adj" fmla="val 363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7"/>
          <p:cNvSpPr txBox="1"/>
          <p:nvPr/>
        </p:nvSpPr>
        <p:spPr>
          <a:xfrm>
            <a:off x="4462272" y="3310128"/>
            <a:ext cx="3273552"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600"/>
              <a:buFont typeface="Calibri"/>
              <a:buNone/>
            </a:pPr>
            <a:r>
              <a:rPr lang="en-US" sz="1600" b="1" i="0" u="none" strike="noStrike" cap="none">
                <a:solidFill>
                  <a:srgbClr val="0F766E"/>
                </a:solidFill>
                <a:latin typeface="Calibri"/>
                <a:ea typeface="Calibri"/>
                <a:cs typeface="Calibri"/>
                <a:sym typeface="Calibri"/>
              </a:rPr>
              <a:t>RoPE</a:t>
            </a:r>
            <a:endParaRPr sz="1600" b="0" i="0" u="none" strike="noStrike" cap="none">
              <a:solidFill>
                <a:schemeClr val="dk1"/>
              </a:solidFill>
              <a:latin typeface="Calibri"/>
              <a:ea typeface="Calibri"/>
              <a:cs typeface="Calibri"/>
              <a:sym typeface="Calibri"/>
            </a:endParaRPr>
          </a:p>
        </p:txBody>
      </p:sp>
      <p:sp>
        <p:nvSpPr>
          <p:cNvPr id="805" name="Google Shape;805;p27"/>
          <p:cNvSpPr txBox="1"/>
          <p:nvPr/>
        </p:nvSpPr>
        <p:spPr>
          <a:xfrm>
            <a:off x="4462272" y="3657600"/>
            <a:ext cx="3273552"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On Q and K, before the dot product</a:t>
            </a:r>
            <a:endParaRPr sz="1300" b="0" i="0" u="none" strike="noStrike" cap="none">
              <a:solidFill>
                <a:schemeClr val="dk1"/>
              </a:solidFill>
              <a:latin typeface="Calibri"/>
              <a:ea typeface="Calibri"/>
              <a:cs typeface="Calibri"/>
              <a:sym typeface="Calibri"/>
            </a:endParaRPr>
          </a:p>
        </p:txBody>
      </p:sp>
      <p:sp>
        <p:nvSpPr>
          <p:cNvPr id="806" name="Google Shape;806;p27"/>
          <p:cNvSpPr/>
          <p:nvPr/>
        </p:nvSpPr>
        <p:spPr>
          <a:xfrm>
            <a:off x="4462272" y="4005072"/>
            <a:ext cx="3273552" cy="457200"/>
          </a:xfrm>
          <a:prstGeom prst="roundRect">
            <a:avLst>
              <a:gd name="adj" fmla="val 12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7" name="Google Shape;807;p27" descr="Equation"/>
          <p:cNvPicPr preferRelativeResize="0"/>
          <p:nvPr/>
        </p:nvPicPr>
        <p:blipFill rotWithShape="1">
          <a:blip r:embed="rId4">
            <a:alphaModFix/>
          </a:blip>
          <a:srcRect/>
          <a:stretch/>
        </p:blipFill>
        <p:spPr>
          <a:xfrm>
            <a:off x="4955438" y="4101389"/>
            <a:ext cx="2287219" cy="264566"/>
          </a:xfrm>
          <a:prstGeom prst="rect">
            <a:avLst/>
          </a:prstGeom>
          <a:noFill/>
          <a:ln>
            <a:noFill/>
          </a:ln>
        </p:spPr>
      </p:pic>
      <p:sp>
        <p:nvSpPr>
          <p:cNvPr id="808" name="Google Shape;808;p27"/>
          <p:cNvSpPr txBox="1"/>
          <p:nvPr/>
        </p:nvSpPr>
        <p:spPr>
          <a:xfrm>
            <a:off x="4462272" y="4526280"/>
            <a:ext cx="3273552"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Embeddings and V are untouched. Relative position appears directly inside q′·k′.</a:t>
            </a:r>
            <a:endParaRPr sz="1400" b="0" i="0" u="none" strike="noStrike" cap="none">
              <a:solidFill>
                <a:schemeClr val="dk1"/>
              </a:solidFill>
              <a:latin typeface="Calibri"/>
              <a:ea typeface="Calibri"/>
              <a:cs typeface="Calibri"/>
              <a:sym typeface="Calibri"/>
            </a:endParaRPr>
          </a:p>
        </p:txBody>
      </p:sp>
      <p:sp>
        <p:nvSpPr>
          <p:cNvPr id="809" name="Google Shape;809;p27"/>
          <p:cNvSpPr txBox="1"/>
          <p:nvPr/>
        </p:nvSpPr>
        <p:spPr>
          <a:xfrm>
            <a:off x="4462272" y="5349240"/>
            <a:ext cx="3273552"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Middle · most elegant</a:t>
            </a:r>
            <a:endParaRPr sz="1200" b="0" i="0" u="none" strike="noStrike" cap="none">
              <a:solidFill>
                <a:schemeClr val="dk1"/>
              </a:solidFill>
              <a:latin typeface="Calibri"/>
              <a:ea typeface="Calibri"/>
              <a:cs typeface="Calibri"/>
              <a:sym typeface="Calibri"/>
            </a:endParaRPr>
          </a:p>
        </p:txBody>
      </p:sp>
      <p:sp>
        <p:nvSpPr>
          <p:cNvPr id="810" name="Google Shape;810;p27"/>
          <p:cNvSpPr/>
          <p:nvPr/>
        </p:nvSpPr>
        <p:spPr>
          <a:xfrm>
            <a:off x="8101584" y="3200400"/>
            <a:ext cx="3639312" cy="2514600"/>
          </a:xfrm>
          <a:prstGeom prst="roundRect">
            <a:avLst>
              <a:gd name="adj" fmla="val 363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7"/>
          <p:cNvSpPr txBox="1"/>
          <p:nvPr/>
        </p:nvSpPr>
        <p:spPr>
          <a:xfrm>
            <a:off x="8284464" y="3310128"/>
            <a:ext cx="3273552"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D28D9"/>
              </a:buClr>
              <a:buSzPts val="1600"/>
              <a:buFont typeface="Calibri"/>
              <a:buNone/>
            </a:pPr>
            <a:r>
              <a:rPr lang="en-US" sz="1600" b="1" i="0" u="none" strike="noStrike" cap="none">
                <a:solidFill>
                  <a:srgbClr val="6D28D9"/>
                </a:solidFill>
                <a:latin typeface="Calibri"/>
                <a:ea typeface="Calibri"/>
                <a:cs typeface="Calibri"/>
                <a:sym typeface="Calibri"/>
              </a:rPr>
              <a:t>ALiBi</a:t>
            </a:r>
            <a:endParaRPr sz="1600" b="0" i="0" u="none" strike="noStrike" cap="none">
              <a:solidFill>
                <a:schemeClr val="dk1"/>
              </a:solidFill>
              <a:latin typeface="Calibri"/>
              <a:ea typeface="Calibri"/>
              <a:cs typeface="Calibri"/>
              <a:sym typeface="Calibri"/>
            </a:endParaRPr>
          </a:p>
        </p:txBody>
      </p:sp>
      <p:sp>
        <p:nvSpPr>
          <p:cNvPr id="812" name="Google Shape;812;p27"/>
          <p:cNvSpPr txBox="1"/>
          <p:nvPr/>
        </p:nvSpPr>
        <p:spPr>
          <a:xfrm>
            <a:off x="8284464" y="3657600"/>
            <a:ext cx="3273552"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On the score, after the dot product</a:t>
            </a:r>
            <a:endParaRPr sz="1300" b="0" i="0" u="none" strike="noStrike" cap="none">
              <a:solidFill>
                <a:schemeClr val="dk1"/>
              </a:solidFill>
              <a:latin typeface="Calibri"/>
              <a:ea typeface="Calibri"/>
              <a:cs typeface="Calibri"/>
              <a:sym typeface="Calibri"/>
            </a:endParaRPr>
          </a:p>
        </p:txBody>
      </p:sp>
      <p:sp>
        <p:nvSpPr>
          <p:cNvPr id="813" name="Google Shape;813;p27"/>
          <p:cNvSpPr/>
          <p:nvPr/>
        </p:nvSpPr>
        <p:spPr>
          <a:xfrm>
            <a:off x="8284464" y="4005072"/>
            <a:ext cx="3273552" cy="457200"/>
          </a:xfrm>
          <a:prstGeom prst="roundRect">
            <a:avLst>
              <a:gd name="adj" fmla="val 12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4" name="Google Shape;814;p27" descr="Equation"/>
          <p:cNvPicPr preferRelativeResize="0"/>
          <p:nvPr/>
        </p:nvPicPr>
        <p:blipFill rotWithShape="1">
          <a:blip r:embed="rId5">
            <a:alphaModFix/>
          </a:blip>
          <a:srcRect/>
          <a:stretch/>
        </p:blipFill>
        <p:spPr>
          <a:xfrm>
            <a:off x="8915248" y="4115257"/>
            <a:ext cx="2011985" cy="236830"/>
          </a:xfrm>
          <a:prstGeom prst="rect">
            <a:avLst/>
          </a:prstGeom>
          <a:noFill/>
          <a:ln>
            <a:noFill/>
          </a:ln>
        </p:spPr>
      </p:pic>
      <p:sp>
        <p:nvSpPr>
          <p:cNvPr id="815" name="Google Shape;815;p27"/>
          <p:cNvSpPr txBox="1"/>
          <p:nvPr/>
        </p:nvSpPr>
        <p:spPr>
          <a:xfrm>
            <a:off x="8284464" y="4526280"/>
            <a:ext cx="3273552"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Q, K, V are computed normally; only the final number gets a distance penalty.</a:t>
            </a:r>
            <a:endParaRPr sz="1400" b="0" i="0" u="none" strike="noStrike" cap="none">
              <a:solidFill>
                <a:schemeClr val="dk1"/>
              </a:solidFill>
              <a:latin typeface="Calibri"/>
              <a:ea typeface="Calibri"/>
              <a:cs typeface="Calibri"/>
              <a:sym typeface="Calibri"/>
            </a:endParaRPr>
          </a:p>
        </p:txBody>
      </p:sp>
      <p:sp>
        <p:nvSpPr>
          <p:cNvPr id="816" name="Google Shape;816;p27"/>
          <p:cNvSpPr txBox="1"/>
          <p:nvPr/>
        </p:nvSpPr>
        <p:spPr>
          <a:xfrm>
            <a:off x="8284464" y="5349240"/>
            <a:ext cx="3273552"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D28D9"/>
              </a:buClr>
              <a:buSzPts val="1200"/>
              <a:buFont typeface="Calibri"/>
              <a:buNone/>
            </a:pPr>
            <a:r>
              <a:rPr lang="en-US" sz="1200" b="1" i="0" u="none" strike="noStrike" cap="none">
                <a:solidFill>
                  <a:srgbClr val="6D28D9"/>
                </a:solidFill>
                <a:latin typeface="Calibri"/>
                <a:ea typeface="Calibri"/>
                <a:cs typeface="Calibri"/>
                <a:sym typeface="Calibri"/>
              </a:rPr>
              <a:t>Latest · simplest</a:t>
            </a:r>
            <a:endParaRPr sz="1200" b="0" i="0" u="none" strike="noStrike" cap="none">
              <a:solidFill>
                <a:schemeClr val="dk1"/>
              </a:solidFill>
              <a:latin typeface="Calibri"/>
              <a:ea typeface="Calibri"/>
              <a:cs typeface="Calibri"/>
              <a:sym typeface="Calibri"/>
            </a:endParaRPr>
          </a:p>
        </p:txBody>
      </p:sp>
      <p:sp>
        <p:nvSpPr>
          <p:cNvPr id="817" name="Google Shape;817;p27"/>
          <p:cNvSpPr/>
          <p:nvPr/>
        </p:nvSpPr>
        <p:spPr>
          <a:xfrm>
            <a:off x="457200" y="5852160"/>
            <a:ext cx="11277295" cy="457200"/>
          </a:xfrm>
          <a:prstGeom prst="roundRect">
            <a:avLst>
              <a:gd name="adj" fmla="val 12000"/>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7"/>
          <p:cNvSpPr txBox="1"/>
          <p:nvPr/>
        </p:nvSpPr>
        <p:spPr>
          <a:xfrm>
            <a:off x="594360" y="5888736"/>
            <a:ext cx="11002975" cy="38404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Remember:  </a:t>
            </a:r>
            <a:r>
              <a:rPr lang="en-US" sz="1400" b="0" i="0" u="none" strike="noStrike" cap="none">
                <a:solidFill>
                  <a:srgbClr val="334155"/>
                </a:solidFill>
                <a:latin typeface="Calibri"/>
                <a:ea typeface="Calibri"/>
                <a:cs typeface="Calibri"/>
                <a:sym typeface="Calibri"/>
              </a:rPr>
              <a:t>only sin/cos and learned PE touch V. RoPE and ALiBi leave the value vectors as pure content.</a:t>
            </a:r>
            <a:endParaRPr sz="1400" b="0" i="0" u="none" strike="noStrike" cap="none">
              <a:solidFill>
                <a:schemeClr val="dk1"/>
              </a:solidFill>
              <a:latin typeface="Calibri"/>
              <a:ea typeface="Calibri"/>
              <a:cs typeface="Calibri"/>
              <a:sym typeface="Calibri"/>
            </a:endParaRPr>
          </a:p>
        </p:txBody>
      </p:sp>
      <p:sp>
        <p:nvSpPr>
          <p:cNvPr id="819" name="Google Shape;819;p27"/>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17</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30"/>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Why Multiple Heads?</a:t>
            </a:r>
            <a:endParaRPr sz="3000"/>
          </a:p>
        </p:txBody>
      </p:sp>
      <p:sp>
        <p:nvSpPr>
          <p:cNvPr id="895" name="Google Shape;895;p30"/>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One attention head captures one type of relationship. Language has many</a:t>
            </a:r>
            <a:endParaRPr sz="1500"/>
          </a:p>
        </p:txBody>
      </p:sp>
      <p:sp>
        <p:nvSpPr>
          <p:cNvPr id="896" name="Google Shape;896;p30"/>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4 · MULTI-HEAD ATTENTION</a:t>
            </a:r>
            <a:endParaRPr sz="1000" b="0" i="0" u="none" strike="noStrike" cap="none">
              <a:solidFill>
                <a:schemeClr val="dk1"/>
              </a:solidFill>
              <a:latin typeface="Calibri"/>
              <a:ea typeface="Calibri"/>
              <a:cs typeface="Calibri"/>
              <a:sym typeface="Calibri"/>
            </a:endParaRPr>
          </a:p>
        </p:txBody>
      </p:sp>
      <p:pic>
        <p:nvPicPr>
          <p:cNvPr id="897" name="Google Shape;897;p30" descr="/tmp/claude-0/-home-claude/2e4ed916-d3dc-5f60-b61a-7b0ef1a4d3a9/scratchpad/lec/assets/mha_b.jpeg"/>
          <p:cNvPicPr preferRelativeResize="0"/>
          <p:nvPr/>
        </p:nvPicPr>
        <p:blipFill rotWithShape="1">
          <a:blip r:embed="rId3">
            <a:alphaModFix/>
          </a:blip>
          <a:srcRect/>
          <a:stretch/>
        </p:blipFill>
        <p:spPr>
          <a:xfrm>
            <a:off x="548640" y="1554480"/>
            <a:ext cx="3063240" cy="3429000"/>
          </a:xfrm>
          <a:prstGeom prst="rect">
            <a:avLst/>
          </a:prstGeom>
          <a:noFill/>
          <a:ln>
            <a:noFill/>
          </a:ln>
        </p:spPr>
      </p:pic>
      <p:sp>
        <p:nvSpPr>
          <p:cNvPr id="898" name="Google Shape;898;p30"/>
          <p:cNvSpPr txBox="1"/>
          <p:nvPr/>
        </p:nvSpPr>
        <p:spPr>
          <a:xfrm>
            <a:off x="548640" y="5010912"/>
            <a:ext cx="3063240" cy="27432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64748B"/>
              </a:buClr>
              <a:buSzPts val="1100"/>
              <a:buFont typeface="Calibri"/>
              <a:buNone/>
            </a:pPr>
            <a:r>
              <a:rPr lang="en-US" sz="1100" b="0" i="1" u="none" strike="noStrike" cap="none">
                <a:solidFill>
                  <a:srgbClr val="64748B"/>
                </a:solidFill>
                <a:latin typeface="Calibri"/>
                <a:ea typeface="Calibri"/>
                <a:cs typeface="Calibri"/>
                <a:sym typeface="Calibri"/>
              </a:rPr>
              <a:t>Vaswani et al., 2017</a:t>
            </a:r>
            <a:endParaRPr sz="1100" b="0" i="0" u="none" strike="noStrike" cap="none">
              <a:solidFill>
                <a:schemeClr val="dk1"/>
              </a:solidFill>
              <a:latin typeface="Calibri"/>
              <a:ea typeface="Calibri"/>
              <a:cs typeface="Calibri"/>
              <a:sym typeface="Calibri"/>
            </a:endParaRPr>
          </a:p>
        </p:txBody>
      </p:sp>
      <p:sp>
        <p:nvSpPr>
          <p:cNvPr id="899" name="Google Shape;899;p30"/>
          <p:cNvSpPr txBox="1"/>
          <p:nvPr/>
        </p:nvSpPr>
        <p:spPr>
          <a:xfrm>
            <a:off x="3886200" y="1508760"/>
            <a:ext cx="7845552" cy="384048"/>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1E293B"/>
              </a:buClr>
              <a:buSzPts val="1500"/>
              <a:buFont typeface="Calibri"/>
              <a:buNone/>
            </a:pPr>
            <a:r>
              <a:rPr lang="en-US" sz="1500" b="0" i="1" u="none" strike="noStrike" cap="none">
                <a:solidFill>
                  <a:srgbClr val="1E293B"/>
                </a:solidFill>
                <a:latin typeface="Calibri"/>
                <a:ea typeface="Calibri"/>
                <a:cs typeface="Calibri"/>
                <a:sym typeface="Calibri"/>
              </a:rPr>
              <a:t>“The animal didn't cross the street because it was too tired.”</a:t>
            </a:r>
            <a:endParaRPr sz="1500" b="0" i="0" u="none" strike="noStrike" cap="none">
              <a:solidFill>
                <a:schemeClr val="dk1"/>
              </a:solidFill>
              <a:latin typeface="Calibri"/>
              <a:ea typeface="Calibri"/>
              <a:cs typeface="Calibri"/>
              <a:sym typeface="Calibri"/>
            </a:endParaRPr>
          </a:p>
        </p:txBody>
      </p:sp>
      <p:sp>
        <p:nvSpPr>
          <p:cNvPr id="900" name="Google Shape;900;p30"/>
          <p:cNvSpPr/>
          <p:nvPr/>
        </p:nvSpPr>
        <p:spPr>
          <a:xfrm>
            <a:off x="3886200" y="2011680"/>
            <a:ext cx="3840480" cy="1261872"/>
          </a:xfrm>
          <a:prstGeom prst="roundRect">
            <a:avLst>
              <a:gd name="adj" fmla="val 724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0"/>
          <p:cNvSpPr/>
          <p:nvPr/>
        </p:nvSpPr>
        <p:spPr>
          <a:xfrm>
            <a:off x="4069080" y="2176272"/>
            <a:ext cx="210312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0"/>
          <p:cNvSpPr txBox="1"/>
          <p:nvPr/>
        </p:nvSpPr>
        <p:spPr>
          <a:xfrm>
            <a:off x="4069080" y="2176272"/>
            <a:ext cx="21031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H1 · Coreference</a:t>
            </a:r>
            <a:endParaRPr sz="1200" b="0" i="0" u="none" strike="noStrike" cap="none">
              <a:solidFill>
                <a:schemeClr val="dk1"/>
              </a:solidFill>
              <a:latin typeface="Calibri"/>
              <a:ea typeface="Calibri"/>
              <a:cs typeface="Calibri"/>
              <a:sym typeface="Calibri"/>
            </a:endParaRPr>
          </a:p>
        </p:txBody>
      </p:sp>
      <p:sp>
        <p:nvSpPr>
          <p:cNvPr id="903" name="Google Shape;903;p30"/>
          <p:cNvSpPr/>
          <p:nvPr/>
        </p:nvSpPr>
        <p:spPr>
          <a:xfrm>
            <a:off x="4069080" y="2606040"/>
            <a:ext cx="3474720" cy="502920"/>
          </a:xfrm>
          <a:prstGeom prst="roundRect">
            <a:avLst>
              <a:gd name="adj" fmla="val 10909"/>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0"/>
          <p:cNvSpPr txBox="1"/>
          <p:nvPr/>
        </p:nvSpPr>
        <p:spPr>
          <a:xfrm>
            <a:off x="4160520" y="2606040"/>
            <a:ext cx="3291840" cy="50292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Example: “it” → “animal”</a:t>
            </a:r>
            <a:endParaRPr sz="1400" b="0" i="0" u="none" strike="noStrike" cap="none">
              <a:solidFill>
                <a:schemeClr val="dk1"/>
              </a:solidFill>
              <a:latin typeface="Calibri"/>
              <a:ea typeface="Calibri"/>
              <a:cs typeface="Calibri"/>
              <a:sym typeface="Calibri"/>
            </a:endParaRPr>
          </a:p>
        </p:txBody>
      </p:sp>
      <p:sp>
        <p:nvSpPr>
          <p:cNvPr id="905" name="Google Shape;905;p30"/>
          <p:cNvSpPr/>
          <p:nvPr/>
        </p:nvSpPr>
        <p:spPr>
          <a:xfrm>
            <a:off x="7882128" y="2011680"/>
            <a:ext cx="3840480" cy="1261872"/>
          </a:xfrm>
          <a:prstGeom prst="roundRect">
            <a:avLst>
              <a:gd name="adj" fmla="val 724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0"/>
          <p:cNvSpPr/>
          <p:nvPr/>
        </p:nvSpPr>
        <p:spPr>
          <a:xfrm>
            <a:off x="8065008" y="2176272"/>
            <a:ext cx="210312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0"/>
          <p:cNvSpPr txBox="1"/>
          <p:nvPr/>
        </p:nvSpPr>
        <p:spPr>
          <a:xfrm>
            <a:off x="8065008" y="2176272"/>
            <a:ext cx="21031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H2 · Verb–object</a:t>
            </a:r>
            <a:endParaRPr sz="1200" b="0" i="0" u="none" strike="noStrike" cap="none">
              <a:solidFill>
                <a:schemeClr val="dk1"/>
              </a:solidFill>
              <a:latin typeface="Calibri"/>
              <a:ea typeface="Calibri"/>
              <a:cs typeface="Calibri"/>
              <a:sym typeface="Calibri"/>
            </a:endParaRPr>
          </a:p>
        </p:txBody>
      </p:sp>
      <p:sp>
        <p:nvSpPr>
          <p:cNvPr id="908" name="Google Shape;908;p30"/>
          <p:cNvSpPr/>
          <p:nvPr/>
        </p:nvSpPr>
        <p:spPr>
          <a:xfrm>
            <a:off x="8065008" y="2606040"/>
            <a:ext cx="3474720" cy="502920"/>
          </a:xfrm>
          <a:prstGeom prst="roundRect">
            <a:avLst>
              <a:gd name="adj" fmla="val 10909"/>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0"/>
          <p:cNvSpPr txBox="1"/>
          <p:nvPr/>
        </p:nvSpPr>
        <p:spPr>
          <a:xfrm>
            <a:off x="8156448" y="2606040"/>
            <a:ext cx="3291840" cy="50292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Example: “cross” → “street”</a:t>
            </a:r>
            <a:endParaRPr sz="1400" b="0" i="0" u="none" strike="noStrike" cap="none">
              <a:solidFill>
                <a:schemeClr val="dk1"/>
              </a:solidFill>
              <a:latin typeface="Calibri"/>
              <a:ea typeface="Calibri"/>
              <a:cs typeface="Calibri"/>
              <a:sym typeface="Calibri"/>
            </a:endParaRPr>
          </a:p>
        </p:txBody>
      </p:sp>
      <p:sp>
        <p:nvSpPr>
          <p:cNvPr id="910" name="Google Shape;910;p30"/>
          <p:cNvSpPr/>
          <p:nvPr/>
        </p:nvSpPr>
        <p:spPr>
          <a:xfrm>
            <a:off x="3886200" y="3429000"/>
            <a:ext cx="3840480" cy="1261872"/>
          </a:xfrm>
          <a:prstGeom prst="roundRect">
            <a:avLst>
              <a:gd name="adj" fmla="val 724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0"/>
          <p:cNvSpPr/>
          <p:nvPr/>
        </p:nvSpPr>
        <p:spPr>
          <a:xfrm>
            <a:off x="4069080" y="3593592"/>
            <a:ext cx="210312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0"/>
          <p:cNvSpPr txBox="1"/>
          <p:nvPr/>
        </p:nvSpPr>
        <p:spPr>
          <a:xfrm>
            <a:off x="4069080" y="3593592"/>
            <a:ext cx="21031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H3 · Meaning</a:t>
            </a:r>
            <a:endParaRPr sz="1200" b="0" i="0" u="none" strike="noStrike" cap="none">
              <a:solidFill>
                <a:schemeClr val="dk1"/>
              </a:solidFill>
              <a:latin typeface="Calibri"/>
              <a:ea typeface="Calibri"/>
              <a:cs typeface="Calibri"/>
              <a:sym typeface="Calibri"/>
            </a:endParaRPr>
          </a:p>
        </p:txBody>
      </p:sp>
      <p:sp>
        <p:nvSpPr>
          <p:cNvPr id="913" name="Google Shape;913;p30"/>
          <p:cNvSpPr/>
          <p:nvPr/>
        </p:nvSpPr>
        <p:spPr>
          <a:xfrm>
            <a:off x="4069080" y="4023360"/>
            <a:ext cx="3474720" cy="502920"/>
          </a:xfrm>
          <a:prstGeom prst="roundRect">
            <a:avLst>
              <a:gd name="adj" fmla="val 10909"/>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0"/>
          <p:cNvSpPr txBox="1"/>
          <p:nvPr/>
        </p:nvSpPr>
        <p:spPr>
          <a:xfrm>
            <a:off x="4160520" y="4023360"/>
            <a:ext cx="3291840" cy="50292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Example: “tired” → “animal”</a:t>
            </a:r>
            <a:endParaRPr sz="1400" b="0" i="0" u="none" strike="noStrike" cap="none">
              <a:solidFill>
                <a:schemeClr val="dk1"/>
              </a:solidFill>
              <a:latin typeface="Calibri"/>
              <a:ea typeface="Calibri"/>
              <a:cs typeface="Calibri"/>
              <a:sym typeface="Calibri"/>
            </a:endParaRPr>
          </a:p>
        </p:txBody>
      </p:sp>
      <p:sp>
        <p:nvSpPr>
          <p:cNvPr id="915" name="Google Shape;915;p30"/>
          <p:cNvSpPr/>
          <p:nvPr/>
        </p:nvSpPr>
        <p:spPr>
          <a:xfrm>
            <a:off x="7882128" y="3429000"/>
            <a:ext cx="3840480" cy="1261872"/>
          </a:xfrm>
          <a:prstGeom prst="roundRect">
            <a:avLst>
              <a:gd name="adj" fmla="val 724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0"/>
          <p:cNvSpPr/>
          <p:nvPr/>
        </p:nvSpPr>
        <p:spPr>
          <a:xfrm>
            <a:off x="8065008" y="3593592"/>
            <a:ext cx="2103120" cy="310896"/>
          </a:xfrm>
          <a:prstGeom prst="roundRect">
            <a:avLst>
              <a:gd name="adj" fmla="val 23529"/>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0"/>
          <p:cNvSpPr txBox="1"/>
          <p:nvPr/>
        </p:nvSpPr>
        <p:spPr>
          <a:xfrm>
            <a:off x="8065008" y="3593592"/>
            <a:ext cx="21031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H4 · Position</a:t>
            </a:r>
            <a:endParaRPr sz="1200" b="0" i="0" u="none" strike="noStrike" cap="none">
              <a:solidFill>
                <a:schemeClr val="dk1"/>
              </a:solidFill>
              <a:latin typeface="Calibri"/>
              <a:ea typeface="Calibri"/>
              <a:cs typeface="Calibri"/>
              <a:sym typeface="Calibri"/>
            </a:endParaRPr>
          </a:p>
        </p:txBody>
      </p:sp>
      <p:sp>
        <p:nvSpPr>
          <p:cNvPr id="918" name="Google Shape;918;p30"/>
          <p:cNvSpPr/>
          <p:nvPr/>
        </p:nvSpPr>
        <p:spPr>
          <a:xfrm>
            <a:off x="8065008" y="4023360"/>
            <a:ext cx="3474720" cy="502920"/>
          </a:xfrm>
          <a:prstGeom prst="roundRect">
            <a:avLst>
              <a:gd name="adj" fmla="val 10909"/>
            </a:avLst>
          </a:prstGeom>
          <a:solidFill>
            <a:srgbClr val="FDF0E6"/>
          </a:solidFill>
          <a:ln w="12700" cap="flat" cmpd="sng">
            <a:solidFill>
              <a:srgbClr val="FDF0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0"/>
          <p:cNvSpPr txBox="1"/>
          <p:nvPr/>
        </p:nvSpPr>
        <p:spPr>
          <a:xfrm>
            <a:off x="8156448" y="4023360"/>
            <a:ext cx="3291840" cy="50292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Example: nearby tokens</a:t>
            </a:r>
            <a:endParaRPr sz="1400" b="0" i="0" u="none" strike="noStrike" cap="none">
              <a:solidFill>
                <a:schemeClr val="dk1"/>
              </a:solidFill>
              <a:latin typeface="Calibri"/>
              <a:ea typeface="Calibri"/>
              <a:cs typeface="Calibri"/>
              <a:sym typeface="Calibri"/>
            </a:endParaRPr>
          </a:p>
        </p:txBody>
      </p:sp>
      <p:sp>
        <p:nvSpPr>
          <p:cNvPr id="920" name="Google Shape;920;p30"/>
          <p:cNvSpPr/>
          <p:nvPr/>
        </p:nvSpPr>
        <p:spPr>
          <a:xfrm>
            <a:off x="3886200" y="4892040"/>
            <a:ext cx="7845552" cy="658368"/>
          </a:xfrm>
          <a:prstGeom prst="roundRect">
            <a:avLst>
              <a:gd name="adj" fmla="val 8333"/>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21" name="Google Shape;921;p30" descr="Equation"/>
          <p:cNvPicPr preferRelativeResize="0"/>
          <p:nvPr/>
        </p:nvPicPr>
        <p:blipFill rotWithShape="1">
          <a:blip r:embed="rId4">
            <a:alphaModFix/>
          </a:blip>
          <a:srcRect/>
          <a:stretch/>
        </p:blipFill>
        <p:spPr>
          <a:xfrm>
            <a:off x="4023360" y="5075957"/>
            <a:ext cx="7571232" cy="290534"/>
          </a:xfrm>
          <a:prstGeom prst="rect">
            <a:avLst/>
          </a:prstGeom>
          <a:noFill/>
          <a:ln>
            <a:noFill/>
          </a:ln>
        </p:spPr>
      </p:pic>
      <p:sp>
        <p:nvSpPr>
          <p:cNvPr id="922" name="Google Shape;922;p30"/>
          <p:cNvSpPr/>
          <p:nvPr/>
        </p:nvSpPr>
        <p:spPr>
          <a:xfrm>
            <a:off x="457200" y="5669280"/>
            <a:ext cx="11277295" cy="621792"/>
          </a:xfrm>
          <a:prstGeom prst="roundRect">
            <a:avLst>
              <a:gd name="adj" fmla="val 8824"/>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0"/>
          <p:cNvSpPr txBox="1"/>
          <p:nvPr/>
        </p:nvSpPr>
        <p:spPr>
          <a:xfrm>
            <a:off x="594360" y="570585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Numbers to remember:  </a:t>
            </a:r>
            <a:r>
              <a:rPr lang="en-US" sz="1400" b="0" i="1" u="none" strike="noStrike" cap="none">
                <a:solidFill>
                  <a:srgbClr val="7C3E0A"/>
                </a:solidFill>
                <a:latin typeface="Calibri"/>
                <a:ea typeface="Calibri"/>
                <a:cs typeface="Calibri"/>
                <a:sym typeface="Calibri"/>
              </a:rPr>
              <a:t>the original Transformer uses h = 8 heads with d = 512, so each head works in dₖ = 512 / 8 = 64 dimensions.</a:t>
            </a:r>
            <a:endParaRPr sz="1400" b="0" i="0" u="none" strike="noStrike" cap="none">
              <a:solidFill>
                <a:schemeClr val="dk1"/>
              </a:solidFill>
              <a:latin typeface="Calibri"/>
              <a:ea typeface="Calibri"/>
              <a:cs typeface="Calibri"/>
              <a:sym typeface="Calibri"/>
            </a:endParaRPr>
          </a:p>
        </p:txBody>
      </p:sp>
      <p:sp>
        <p:nvSpPr>
          <p:cNvPr id="924" name="Google Shape;924;p30"/>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18</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31"/>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Multi-Head Attention: The Selection Committee</a:t>
            </a:r>
            <a:endParaRPr sz="3000"/>
          </a:p>
        </p:txBody>
      </p:sp>
      <p:sp>
        <p:nvSpPr>
          <p:cNvPr id="931" name="Google Shape;931;p31"/>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Same input, several experts, each asking a different question</a:t>
            </a:r>
            <a:endParaRPr sz="1500"/>
          </a:p>
        </p:txBody>
      </p:sp>
      <p:sp>
        <p:nvSpPr>
          <p:cNvPr id="932" name="Google Shape;932;p31"/>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4 · MULTI-HEAD ATTENTION</a:t>
            </a:r>
            <a:endParaRPr sz="1000" b="0" i="0" u="none" strike="noStrike" cap="none">
              <a:solidFill>
                <a:schemeClr val="dk1"/>
              </a:solidFill>
              <a:latin typeface="Calibri"/>
              <a:ea typeface="Calibri"/>
              <a:cs typeface="Calibri"/>
              <a:sym typeface="Calibri"/>
            </a:endParaRPr>
          </a:p>
        </p:txBody>
      </p:sp>
      <p:sp>
        <p:nvSpPr>
          <p:cNvPr id="933" name="Google Shape;933;p31"/>
          <p:cNvSpPr/>
          <p:nvPr/>
        </p:nvSpPr>
        <p:spPr>
          <a:xfrm>
            <a:off x="457200" y="1508760"/>
            <a:ext cx="3611880" cy="1874520"/>
          </a:xfrm>
          <a:prstGeom prst="roundRect">
            <a:avLst>
              <a:gd name="adj" fmla="val 487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1"/>
          <p:cNvSpPr/>
          <p:nvPr/>
        </p:nvSpPr>
        <p:spPr>
          <a:xfrm>
            <a:off x="621792" y="1673352"/>
            <a:ext cx="91440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1"/>
          <p:cNvSpPr txBox="1"/>
          <p:nvPr/>
        </p:nvSpPr>
        <p:spPr>
          <a:xfrm>
            <a:off x="621792" y="1673352"/>
            <a:ext cx="9144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Head 1</a:t>
            </a:r>
            <a:endParaRPr sz="1200" b="0" i="0" u="none" strike="noStrike" cap="none">
              <a:solidFill>
                <a:schemeClr val="dk1"/>
              </a:solidFill>
              <a:latin typeface="Calibri"/>
              <a:ea typeface="Calibri"/>
              <a:cs typeface="Calibri"/>
              <a:sym typeface="Calibri"/>
            </a:endParaRPr>
          </a:p>
        </p:txBody>
      </p:sp>
      <p:sp>
        <p:nvSpPr>
          <p:cNvPr id="936" name="Google Shape;936;p31"/>
          <p:cNvSpPr txBox="1"/>
          <p:nvPr/>
        </p:nvSpPr>
        <p:spPr>
          <a:xfrm>
            <a:off x="1645920" y="1645920"/>
            <a:ext cx="228600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Batting coach</a:t>
            </a:r>
            <a:endParaRPr sz="1600" b="0" i="0" u="none" strike="noStrike" cap="none">
              <a:solidFill>
                <a:schemeClr val="dk1"/>
              </a:solidFill>
              <a:latin typeface="Calibri"/>
              <a:ea typeface="Calibri"/>
              <a:cs typeface="Calibri"/>
              <a:sym typeface="Calibri"/>
            </a:endParaRPr>
          </a:p>
        </p:txBody>
      </p:sp>
      <p:sp>
        <p:nvSpPr>
          <p:cNvPr id="937" name="Google Shape;937;p31"/>
          <p:cNvSpPr txBox="1"/>
          <p:nvPr/>
        </p:nvSpPr>
        <p:spPr>
          <a:xfrm>
            <a:off x="621792" y="2075688"/>
            <a:ext cx="3282696"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1" i="0" u="none" strike="noStrike" cap="none">
                <a:solidFill>
                  <a:srgbClr val="334155"/>
                </a:solidFill>
                <a:latin typeface="Calibri"/>
                <a:ea typeface="Calibri"/>
                <a:cs typeface="Calibri"/>
                <a:sym typeface="Calibri"/>
              </a:rPr>
              <a:t>Looks at: </a:t>
            </a:r>
            <a:r>
              <a:rPr lang="en-US" sz="1400" b="0" i="0" u="none" strike="noStrike" cap="none">
                <a:solidFill>
                  <a:srgbClr val="334155"/>
                </a:solidFill>
                <a:latin typeface="Calibri"/>
                <a:ea typeface="Calibri"/>
                <a:cs typeface="Calibri"/>
                <a:sym typeface="Calibri"/>
              </a:rPr>
              <a:t>Technique, shot selection</a:t>
            </a:r>
            <a:endParaRPr sz="1400" b="0" i="0" u="none" strike="noStrike" cap="none">
              <a:solidFill>
                <a:schemeClr val="dk1"/>
              </a:solidFill>
              <a:latin typeface="Calibri"/>
              <a:ea typeface="Calibri"/>
              <a:cs typeface="Calibri"/>
              <a:sym typeface="Calibri"/>
            </a:endParaRPr>
          </a:p>
        </p:txBody>
      </p:sp>
      <p:sp>
        <p:nvSpPr>
          <p:cNvPr id="938" name="Google Shape;938;p31"/>
          <p:cNvSpPr/>
          <p:nvPr/>
        </p:nvSpPr>
        <p:spPr>
          <a:xfrm>
            <a:off x="621792" y="2560320"/>
            <a:ext cx="3282696" cy="640080"/>
          </a:xfrm>
          <a:prstGeom prst="roundRect">
            <a:avLst>
              <a:gd name="adj" fmla="val 8571"/>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1"/>
          <p:cNvSpPr txBox="1"/>
          <p:nvPr/>
        </p:nvSpPr>
        <p:spPr>
          <a:xfrm>
            <a:off x="713232" y="2560320"/>
            <a:ext cx="3099816"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D4ED8"/>
              </a:buClr>
              <a:buSzPts val="1400"/>
              <a:buFont typeface="Calibri"/>
              <a:buNone/>
            </a:pPr>
            <a:r>
              <a:rPr lang="en-US" sz="1400" b="0" i="0" u="none" strike="noStrike" cap="none">
                <a:solidFill>
                  <a:srgbClr val="1D4ED8"/>
                </a:solidFill>
                <a:latin typeface="Calibri"/>
                <a:ea typeface="Calibri"/>
                <a:cs typeface="Calibri"/>
                <a:sym typeface="Calibri"/>
              </a:rPr>
              <a:t>≈ “it” → “animal” (who is who)</a:t>
            </a:r>
            <a:endParaRPr sz="1400" b="0" i="0" u="none" strike="noStrike" cap="none">
              <a:solidFill>
                <a:schemeClr val="dk1"/>
              </a:solidFill>
              <a:latin typeface="Calibri"/>
              <a:ea typeface="Calibri"/>
              <a:cs typeface="Calibri"/>
              <a:sym typeface="Calibri"/>
            </a:endParaRPr>
          </a:p>
        </p:txBody>
      </p:sp>
      <p:sp>
        <p:nvSpPr>
          <p:cNvPr id="940" name="Google Shape;940;p31"/>
          <p:cNvSpPr/>
          <p:nvPr/>
        </p:nvSpPr>
        <p:spPr>
          <a:xfrm>
            <a:off x="4224528" y="1508760"/>
            <a:ext cx="3611880" cy="1874520"/>
          </a:xfrm>
          <a:prstGeom prst="roundRect">
            <a:avLst>
              <a:gd name="adj" fmla="val 487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1"/>
          <p:cNvSpPr/>
          <p:nvPr/>
        </p:nvSpPr>
        <p:spPr>
          <a:xfrm>
            <a:off x="4389120" y="1673352"/>
            <a:ext cx="91440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1"/>
          <p:cNvSpPr txBox="1"/>
          <p:nvPr/>
        </p:nvSpPr>
        <p:spPr>
          <a:xfrm>
            <a:off x="4389120" y="1673352"/>
            <a:ext cx="9144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Head 2</a:t>
            </a:r>
            <a:endParaRPr sz="1200" b="0" i="0" u="none" strike="noStrike" cap="none">
              <a:solidFill>
                <a:schemeClr val="dk1"/>
              </a:solidFill>
              <a:latin typeface="Calibri"/>
              <a:ea typeface="Calibri"/>
              <a:cs typeface="Calibri"/>
              <a:sym typeface="Calibri"/>
            </a:endParaRPr>
          </a:p>
        </p:txBody>
      </p:sp>
      <p:sp>
        <p:nvSpPr>
          <p:cNvPr id="943" name="Google Shape;943;p31"/>
          <p:cNvSpPr txBox="1"/>
          <p:nvPr/>
        </p:nvSpPr>
        <p:spPr>
          <a:xfrm>
            <a:off x="5413248" y="1645920"/>
            <a:ext cx="228600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Bowling coach</a:t>
            </a:r>
            <a:endParaRPr sz="1600" b="0" i="0" u="none" strike="noStrike" cap="none">
              <a:solidFill>
                <a:schemeClr val="dk1"/>
              </a:solidFill>
              <a:latin typeface="Calibri"/>
              <a:ea typeface="Calibri"/>
              <a:cs typeface="Calibri"/>
              <a:sym typeface="Calibri"/>
            </a:endParaRPr>
          </a:p>
        </p:txBody>
      </p:sp>
      <p:sp>
        <p:nvSpPr>
          <p:cNvPr id="944" name="Google Shape;944;p31"/>
          <p:cNvSpPr txBox="1"/>
          <p:nvPr/>
        </p:nvSpPr>
        <p:spPr>
          <a:xfrm>
            <a:off x="4389120" y="2075688"/>
            <a:ext cx="3282696"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1" i="0" u="none" strike="noStrike" cap="none">
                <a:solidFill>
                  <a:srgbClr val="334155"/>
                </a:solidFill>
                <a:latin typeface="Calibri"/>
                <a:ea typeface="Calibri"/>
                <a:cs typeface="Calibri"/>
                <a:sym typeface="Calibri"/>
              </a:rPr>
              <a:t>Looks at: </a:t>
            </a:r>
            <a:r>
              <a:rPr lang="en-US" sz="1400" b="0" i="0" u="none" strike="noStrike" cap="none">
                <a:solidFill>
                  <a:srgbClr val="334155"/>
                </a:solidFill>
                <a:latin typeface="Calibri"/>
                <a:ea typeface="Calibri"/>
                <a:cs typeface="Calibri"/>
                <a:sym typeface="Calibri"/>
              </a:rPr>
              <a:t>Pace, variations</a:t>
            </a:r>
            <a:endParaRPr sz="1400" b="0" i="0" u="none" strike="noStrike" cap="none">
              <a:solidFill>
                <a:schemeClr val="dk1"/>
              </a:solidFill>
              <a:latin typeface="Calibri"/>
              <a:ea typeface="Calibri"/>
              <a:cs typeface="Calibri"/>
              <a:sym typeface="Calibri"/>
            </a:endParaRPr>
          </a:p>
        </p:txBody>
      </p:sp>
      <p:sp>
        <p:nvSpPr>
          <p:cNvPr id="945" name="Google Shape;945;p31"/>
          <p:cNvSpPr/>
          <p:nvPr/>
        </p:nvSpPr>
        <p:spPr>
          <a:xfrm>
            <a:off x="4389120" y="2560320"/>
            <a:ext cx="3282696" cy="640080"/>
          </a:xfrm>
          <a:prstGeom prst="roundRect">
            <a:avLst>
              <a:gd name="adj" fmla="val 8571"/>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1"/>
          <p:cNvSpPr txBox="1"/>
          <p:nvPr/>
        </p:nvSpPr>
        <p:spPr>
          <a:xfrm>
            <a:off x="4480560" y="2560320"/>
            <a:ext cx="3099816"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0" i="0" u="none" strike="noStrike" cap="none">
                <a:solidFill>
                  <a:srgbClr val="0F766E"/>
                </a:solidFill>
                <a:latin typeface="Calibri"/>
                <a:ea typeface="Calibri"/>
                <a:cs typeface="Calibri"/>
                <a:sym typeface="Calibri"/>
              </a:rPr>
              <a:t>≈ “cross” → “street” (verb to object)</a:t>
            </a:r>
            <a:endParaRPr sz="1400" b="0" i="0" u="none" strike="noStrike" cap="none">
              <a:solidFill>
                <a:schemeClr val="dk1"/>
              </a:solidFill>
              <a:latin typeface="Calibri"/>
              <a:ea typeface="Calibri"/>
              <a:cs typeface="Calibri"/>
              <a:sym typeface="Calibri"/>
            </a:endParaRPr>
          </a:p>
        </p:txBody>
      </p:sp>
      <p:sp>
        <p:nvSpPr>
          <p:cNvPr id="947" name="Google Shape;947;p31"/>
          <p:cNvSpPr/>
          <p:nvPr/>
        </p:nvSpPr>
        <p:spPr>
          <a:xfrm>
            <a:off x="457200" y="3520440"/>
            <a:ext cx="3611880" cy="1874520"/>
          </a:xfrm>
          <a:prstGeom prst="roundRect">
            <a:avLst>
              <a:gd name="adj" fmla="val 487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1"/>
          <p:cNvSpPr/>
          <p:nvPr/>
        </p:nvSpPr>
        <p:spPr>
          <a:xfrm>
            <a:off x="621792" y="3685032"/>
            <a:ext cx="91440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1"/>
          <p:cNvSpPr txBox="1"/>
          <p:nvPr/>
        </p:nvSpPr>
        <p:spPr>
          <a:xfrm>
            <a:off x="621792" y="3685032"/>
            <a:ext cx="9144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Head 3</a:t>
            </a:r>
            <a:endParaRPr sz="1200" b="0" i="0" u="none" strike="noStrike" cap="none">
              <a:solidFill>
                <a:schemeClr val="dk1"/>
              </a:solidFill>
              <a:latin typeface="Calibri"/>
              <a:ea typeface="Calibri"/>
              <a:cs typeface="Calibri"/>
              <a:sym typeface="Calibri"/>
            </a:endParaRPr>
          </a:p>
        </p:txBody>
      </p:sp>
      <p:sp>
        <p:nvSpPr>
          <p:cNvPr id="950" name="Google Shape;950;p31"/>
          <p:cNvSpPr txBox="1"/>
          <p:nvPr/>
        </p:nvSpPr>
        <p:spPr>
          <a:xfrm>
            <a:off x="1645920" y="3657600"/>
            <a:ext cx="228600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Fitness trainer</a:t>
            </a:r>
            <a:endParaRPr sz="1600" b="0" i="0" u="none" strike="noStrike" cap="none">
              <a:solidFill>
                <a:schemeClr val="dk1"/>
              </a:solidFill>
              <a:latin typeface="Calibri"/>
              <a:ea typeface="Calibri"/>
              <a:cs typeface="Calibri"/>
              <a:sym typeface="Calibri"/>
            </a:endParaRPr>
          </a:p>
        </p:txBody>
      </p:sp>
      <p:sp>
        <p:nvSpPr>
          <p:cNvPr id="951" name="Google Shape;951;p31"/>
          <p:cNvSpPr txBox="1"/>
          <p:nvPr/>
        </p:nvSpPr>
        <p:spPr>
          <a:xfrm>
            <a:off x="621792" y="4087368"/>
            <a:ext cx="3282696"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1" i="0" u="none" strike="noStrike" cap="none">
                <a:solidFill>
                  <a:srgbClr val="334155"/>
                </a:solidFill>
                <a:latin typeface="Calibri"/>
                <a:ea typeface="Calibri"/>
                <a:cs typeface="Calibri"/>
                <a:sym typeface="Calibri"/>
              </a:rPr>
              <a:t>Looks at: </a:t>
            </a:r>
            <a:r>
              <a:rPr lang="en-US" sz="1400" b="0" i="0" u="none" strike="noStrike" cap="none">
                <a:solidFill>
                  <a:srgbClr val="334155"/>
                </a:solidFill>
                <a:latin typeface="Calibri"/>
                <a:ea typeface="Calibri"/>
                <a:cs typeface="Calibri"/>
                <a:sym typeface="Calibri"/>
              </a:rPr>
              <a:t>Yo-Yo test, injuries</a:t>
            </a:r>
            <a:endParaRPr sz="1400" b="0" i="0" u="none" strike="noStrike" cap="none">
              <a:solidFill>
                <a:schemeClr val="dk1"/>
              </a:solidFill>
              <a:latin typeface="Calibri"/>
              <a:ea typeface="Calibri"/>
              <a:cs typeface="Calibri"/>
              <a:sym typeface="Calibri"/>
            </a:endParaRPr>
          </a:p>
        </p:txBody>
      </p:sp>
      <p:sp>
        <p:nvSpPr>
          <p:cNvPr id="952" name="Google Shape;952;p31"/>
          <p:cNvSpPr/>
          <p:nvPr/>
        </p:nvSpPr>
        <p:spPr>
          <a:xfrm>
            <a:off x="621792" y="4572000"/>
            <a:ext cx="3282696" cy="640080"/>
          </a:xfrm>
          <a:prstGeom prst="roundRect">
            <a:avLst>
              <a:gd name="adj" fmla="val 8571"/>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1"/>
          <p:cNvSpPr txBox="1"/>
          <p:nvPr/>
        </p:nvSpPr>
        <p:spPr>
          <a:xfrm>
            <a:off x="713232" y="4572000"/>
            <a:ext cx="3099816"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D28D9"/>
              </a:buClr>
              <a:buSzPts val="1400"/>
              <a:buFont typeface="Calibri"/>
              <a:buNone/>
            </a:pPr>
            <a:r>
              <a:rPr lang="en-US" sz="1400" b="0" i="0" u="none" strike="noStrike" cap="none">
                <a:solidFill>
                  <a:srgbClr val="6D28D9"/>
                </a:solidFill>
                <a:latin typeface="Calibri"/>
                <a:ea typeface="Calibri"/>
                <a:cs typeface="Calibri"/>
                <a:sym typeface="Calibri"/>
              </a:rPr>
              <a:t>≈ “tired” → “animal” (meaning)</a:t>
            </a:r>
            <a:endParaRPr sz="1400" b="0" i="0" u="none" strike="noStrike" cap="none">
              <a:solidFill>
                <a:schemeClr val="dk1"/>
              </a:solidFill>
              <a:latin typeface="Calibri"/>
              <a:ea typeface="Calibri"/>
              <a:cs typeface="Calibri"/>
              <a:sym typeface="Calibri"/>
            </a:endParaRPr>
          </a:p>
        </p:txBody>
      </p:sp>
      <p:sp>
        <p:nvSpPr>
          <p:cNvPr id="954" name="Google Shape;954;p31"/>
          <p:cNvSpPr/>
          <p:nvPr/>
        </p:nvSpPr>
        <p:spPr>
          <a:xfrm>
            <a:off x="4224528" y="3520440"/>
            <a:ext cx="3611880" cy="1874520"/>
          </a:xfrm>
          <a:prstGeom prst="roundRect">
            <a:avLst>
              <a:gd name="adj" fmla="val 487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1"/>
          <p:cNvSpPr/>
          <p:nvPr/>
        </p:nvSpPr>
        <p:spPr>
          <a:xfrm>
            <a:off x="4389120" y="3685032"/>
            <a:ext cx="914400" cy="310896"/>
          </a:xfrm>
          <a:prstGeom prst="roundRect">
            <a:avLst>
              <a:gd name="adj" fmla="val 23529"/>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1"/>
          <p:cNvSpPr txBox="1"/>
          <p:nvPr/>
        </p:nvSpPr>
        <p:spPr>
          <a:xfrm>
            <a:off x="4389120" y="3685032"/>
            <a:ext cx="9144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Head 4</a:t>
            </a:r>
            <a:endParaRPr sz="1200" b="0" i="0" u="none" strike="noStrike" cap="none">
              <a:solidFill>
                <a:schemeClr val="dk1"/>
              </a:solidFill>
              <a:latin typeface="Calibri"/>
              <a:ea typeface="Calibri"/>
              <a:cs typeface="Calibri"/>
              <a:sym typeface="Calibri"/>
            </a:endParaRPr>
          </a:p>
        </p:txBody>
      </p:sp>
      <p:sp>
        <p:nvSpPr>
          <p:cNvPr id="957" name="Google Shape;957;p31"/>
          <p:cNvSpPr txBox="1"/>
          <p:nvPr/>
        </p:nvSpPr>
        <p:spPr>
          <a:xfrm>
            <a:off x="5413248" y="3657600"/>
            <a:ext cx="228600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Captain</a:t>
            </a:r>
            <a:endParaRPr sz="1600" b="0" i="0" u="none" strike="noStrike" cap="none">
              <a:solidFill>
                <a:schemeClr val="dk1"/>
              </a:solidFill>
              <a:latin typeface="Calibri"/>
              <a:ea typeface="Calibri"/>
              <a:cs typeface="Calibri"/>
              <a:sym typeface="Calibri"/>
            </a:endParaRPr>
          </a:p>
        </p:txBody>
      </p:sp>
      <p:sp>
        <p:nvSpPr>
          <p:cNvPr id="958" name="Google Shape;958;p31"/>
          <p:cNvSpPr txBox="1"/>
          <p:nvPr/>
        </p:nvSpPr>
        <p:spPr>
          <a:xfrm>
            <a:off x="4389120" y="4087368"/>
            <a:ext cx="3282696"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1" i="0" u="none" strike="noStrike" cap="none">
                <a:solidFill>
                  <a:srgbClr val="334155"/>
                </a:solidFill>
                <a:latin typeface="Calibri"/>
                <a:ea typeface="Calibri"/>
                <a:cs typeface="Calibri"/>
                <a:sym typeface="Calibri"/>
              </a:rPr>
              <a:t>Looks at: </a:t>
            </a:r>
            <a:r>
              <a:rPr lang="en-US" sz="1400" b="0" i="0" u="none" strike="noStrike" cap="none">
                <a:solidFill>
                  <a:srgbClr val="334155"/>
                </a:solidFill>
                <a:latin typeface="Calibri"/>
                <a:ea typeface="Calibri"/>
                <a:cs typeface="Calibri"/>
                <a:sym typeface="Calibri"/>
              </a:rPr>
              <a:t>Team fit, temperament</a:t>
            </a:r>
            <a:endParaRPr sz="1400" b="0" i="0" u="none" strike="noStrike" cap="none">
              <a:solidFill>
                <a:schemeClr val="dk1"/>
              </a:solidFill>
              <a:latin typeface="Calibri"/>
              <a:ea typeface="Calibri"/>
              <a:cs typeface="Calibri"/>
              <a:sym typeface="Calibri"/>
            </a:endParaRPr>
          </a:p>
        </p:txBody>
      </p:sp>
      <p:sp>
        <p:nvSpPr>
          <p:cNvPr id="959" name="Google Shape;959;p31"/>
          <p:cNvSpPr/>
          <p:nvPr/>
        </p:nvSpPr>
        <p:spPr>
          <a:xfrm>
            <a:off x="4389120" y="4572000"/>
            <a:ext cx="3282696" cy="640080"/>
          </a:xfrm>
          <a:prstGeom prst="roundRect">
            <a:avLst>
              <a:gd name="adj" fmla="val 8571"/>
            </a:avLst>
          </a:prstGeom>
          <a:solidFill>
            <a:srgbClr val="FDF0E6"/>
          </a:solidFill>
          <a:ln w="12700" cap="flat" cmpd="sng">
            <a:solidFill>
              <a:srgbClr val="FDF0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1"/>
          <p:cNvSpPr txBox="1"/>
          <p:nvPr/>
        </p:nvSpPr>
        <p:spPr>
          <a:xfrm>
            <a:off x="4480560" y="4572000"/>
            <a:ext cx="3099816"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C2410C"/>
              </a:buClr>
              <a:buSzPts val="1400"/>
              <a:buFont typeface="Calibri"/>
              <a:buNone/>
            </a:pPr>
            <a:r>
              <a:rPr lang="en-US" sz="1400" b="0" i="0" u="none" strike="noStrike" cap="none">
                <a:solidFill>
                  <a:srgbClr val="C2410C"/>
                </a:solidFill>
                <a:latin typeface="Calibri"/>
                <a:ea typeface="Calibri"/>
                <a:cs typeface="Calibri"/>
                <a:sym typeface="Calibri"/>
              </a:rPr>
              <a:t>≈ nearby words (local order)</a:t>
            </a:r>
            <a:endParaRPr sz="1400" b="0" i="0" u="none" strike="noStrike" cap="none">
              <a:solidFill>
                <a:schemeClr val="dk1"/>
              </a:solidFill>
              <a:latin typeface="Calibri"/>
              <a:ea typeface="Calibri"/>
              <a:cs typeface="Calibri"/>
              <a:sym typeface="Calibri"/>
            </a:endParaRPr>
          </a:p>
        </p:txBody>
      </p:sp>
      <p:sp>
        <p:nvSpPr>
          <p:cNvPr id="961" name="Google Shape;961;p31"/>
          <p:cNvSpPr/>
          <p:nvPr/>
        </p:nvSpPr>
        <p:spPr>
          <a:xfrm>
            <a:off x="8092440" y="1508760"/>
            <a:ext cx="3639312" cy="3886200"/>
          </a:xfrm>
          <a:prstGeom prst="roundRect">
            <a:avLst>
              <a:gd name="adj" fmla="val 2513"/>
            </a:avLst>
          </a:prstGeom>
          <a:solidFill>
            <a:srgbClr val="0F172A"/>
          </a:solidFill>
          <a:ln w="12700" cap="flat" cmpd="sng">
            <a:solidFill>
              <a:srgbClr val="0F172A"/>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1"/>
          <p:cNvSpPr txBox="1"/>
          <p:nvPr/>
        </p:nvSpPr>
        <p:spPr>
          <a:xfrm>
            <a:off x="8275320" y="1691640"/>
            <a:ext cx="3291840" cy="38404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Chief selector = output matrix</a:t>
            </a:r>
            <a:endParaRPr sz="1800" b="0" i="0" u="none" strike="noStrike" cap="none">
              <a:solidFill>
                <a:schemeClr val="dk1"/>
              </a:solidFill>
              <a:latin typeface="Calibri"/>
              <a:ea typeface="Calibri"/>
              <a:cs typeface="Calibri"/>
              <a:sym typeface="Calibri"/>
            </a:endParaRPr>
          </a:p>
        </p:txBody>
      </p:sp>
      <p:sp>
        <p:nvSpPr>
          <p:cNvPr id="963" name="Google Shape;963;p31"/>
          <p:cNvSpPr txBox="1"/>
          <p:nvPr/>
        </p:nvSpPr>
        <p:spPr>
          <a:xfrm>
            <a:off x="8275320" y="2148840"/>
            <a:ext cx="3291840" cy="31089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E2E8F0"/>
              </a:buClr>
              <a:buSzPts val="1400"/>
              <a:buFont typeface="Calibri"/>
              <a:buNone/>
            </a:pPr>
            <a:r>
              <a:rPr lang="en-US" sz="1400" b="0" i="0" u="none" strike="noStrike" cap="none">
                <a:solidFill>
                  <a:srgbClr val="E2E8F0"/>
                </a:solidFill>
                <a:latin typeface="Calibri"/>
                <a:ea typeface="Calibri"/>
                <a:cs typeface="Calibri"/>
                <a:sym typeface="Calibri"/>
              </a:rPr>
              <a:t>Each head writes its own report. The reports are concatenated, then the output matrix blends them into one decision.</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FCD34D"/>
              </a:buClr>
              <a:buSzPts val="1400"/>
              <a:buFont typeface="Calibri"/>
              <a:buNone/>
            </a:pPr>
            <a:r>
              <a:rPr lang="en-US" sz="1400" b="1" i="0" u="none" strike="noStrike" cap="none">
                <a:solidFill>
                  <a:srgbClr val="FCD34D"/>
                </a:solidFill>
                <a:latin typeface="Calibri"/>
                <a:ea typeface="Calibri"/>
                <a:cs typeface="Calibri"/>
                <a:sym typeface="Calibri"/>
              </a:rPr>
              <a:t>Another real example: </a:t>
            </a:r>
            <a:r>
              <a:rPr lang="en-US" sz="1400" b="0" i="0" u="none" strike="noStrike" cap="none">
                <a:solidFill>
                  <a:srgbClr val="E2E8F0"/>
                </a:solidFill>
                <a:latin typeface="Calibri"/>
                <a:ea typeface="Calibri"/>
                <a:cs typeface="Calibri"/>
                <a:sym typeface="Calibri"/>
              </a:rPr>
              <a:t>a hospital tumour board. Radiologist, pathologist, oncologist and surgeon study the same patient; each notices what the others miss.</a:t>
            </a:r>
            <a:endParaRPr sz="1400" b="0" i="0" u="none" strike="noStrike" cap="none">
              <a:solidFill>
                <a:schemeClr val="dk1"/>
              </a:solidFill>
              <a:latin typeface="Calibri"/>
              <a:ea typeface="Calibri"/>
              <a:cs typeface="Calibri"/>
              <a:sym typeface="Calibri"/>
            </a:endParaRPr>
          </a:p>
        </p:txBody>
      </p:sp>
      <p:sp>
        <p:nvSpPr>
          <p:cNvPr id="964" name="Google Shape;964;p31"/>
          <p:cNvSpPr/>
          <p:nvPr/>
        </p:nvSpPr>
        <p:spPr>
          <a:xfrm>
            <a:off x="457200" y="5577840"/>
            <a:ext cx="11277295" cy="713232"/>
          </a:xfrm>
          <a:prstGeom prst="roundRect">
            <a:avLst>
              <a:gd name="adj" fmla="val 7692"/>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1"/>
          <p:cNvSpPr txBox="1"/>
          <p:nvPr/>
        </p:nvSpPr>
        <p:spPr>
          <a:xfrm>
            <a:off x="594360" y="5614416"/>
            <a:ext cx="11002975"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Why it matters:  </a:t>
            </a:r>
            <a:r>
              <a:rPr lang="en-US" sz="1400" b="0" i="0" u="none" strike="noStrike" cap="none">
                <a:solidFill>
                  <a:srgbClr val="334155"/>
                </a:solidFill>
                <a:latin typeface="Calibri"/>
                <a:ea typeface="Calibri"/>
                <a:cs typeface="Calibri"/>
                <a:sym typeface="Calibri"/>
              </a:rPr>
              <a:t>one head can form only one weighted average. Many heads track grammar, meaning and position at the same time, in parallel, for almost the same cost (each head uses dₖ = d / h).</a:t>
            </a:r>
            <a:endParaRPr sz="1400" b="0" i="0" u="none" strike="noStrike" cap="none">
              <a:solidFill>
                <a:schemeClr val="dk1"/>
              </a:solidFill>
              <a:latin typeface="Calibri"/>
              <a:ea typeface="Calibri"/>
              <a:cs typeface="Calibri"/>
              <a:sym typeface="Calibri"/>
            </a:endParaRPr>
          </a:p>
        </p:txBody>
      </p:sp>
      <p:sp>
        <p:nvSpPr>
          <p:cNvPr id="966" name="Google Shape;966;p31"/>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19</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32"/>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2-Head Attention: A Concrete Calculation</a:t>
            </a:r>
            <a:endParaRPr sz="3000"/>
          </a:p>
        </p:txBody>
      </p:sp>
      <p:sp>
        <p:nvSpPr>
          <p:cNvPr id="973" name="Google Shape;973;p32"/>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Input X is the identity, so Q, K and V equal the projection matrices; each head has dₖ = 1, so √dₖ = 1</a:t>
            </a:r>
            <a:endParaRPr sz="1500"/>
          </a:p>
        </p:txBody>
      </p:sp>
      <p:sp>
        <p:nvSpPr>
          <p:cNvPr id="974" name="Google Shape;974;p32"/>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4 · MULTI-HEAD ATTENTION</a:t>
            </a:r>
            <a:endParaRPr sz="1000" b="0" i="0" u="none" strike="noStrike" cap="none">
              <a:solidFill>
                <a:schemeClr val="dk1"/>
              </a:solidFill>
              <a:latin typeface="Calibri"/>
              <a:ea typeface="Calibri"/>
              <a:cs typeface="Calibri"/>
              <a:sym typeface="Calibri"/>
            </a:endParaRPr>
          </a:p>
        </p:txBody>
      </p:sp>
      <p:sp>
        <p:nvSpPr>
          <p:cNvPr id="975" name="Google Shape;975;p32"/>
          <p:cNvSpPr/>
          <p:nvPr/>
        </p:nvSpPr>
        <p:spPr>
          <a:xfrm>
            <a:off x="457200" y="1508760"/>
            <a:ext cx="5532120" cy="3520440"/>
          </a:xfrm>
          <a:prstGeom prst="roundRect">
            <a:avLst>
              <a:gd name="adj" fmla="val 2597"/>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2"/>
          <p:cNvSpPr/>
          <p:nvPr/>
        </p:nvSpPr>
        <p:spPr>
          <a:xfrm>
            <a:off x="640080" y="1691640"/>
            <a:ext cx="265176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2"/>
          <p:cNvSpPr txBox="1"/>
          <p:nvPr/>
        </p:nvSpPr>
        <p:spPr>
          <a:xfrm>
            <a:off x="640080" y="1691640"/>
            <a:ext cx="26517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HEAD 1 · coreference</a:t>
            </a:r>
            <a:endParaRPr sz="1200" b="0" i="0" u="none" strike="noStrike" cap="none">
              <a:solidFill>
                <a:schemeClr val="dk1"/>
              </a:solidFill>
              <a:latin typeface="Calibri"/>
              <a:ea typeface="Calibri"/>
              <a:cs typeface="Calibri"/>
              <a:sym typeface="Calibri"/>
            </a:endParaRPr>
          </a:p>
        </p:txBody>
      </p:sp>
      <p:sp>
        <p:nvSpPr>
          <p:cNvPr id="978" name="Google Shape;978;p32"/>
          <p:cNvSpPr/>
          <p:nvPr/>
        </p:nvSpPr>
        <p:spPr>
          <a:xfrm>
            <a:off x="640080" y="2121408"/>
            <a:ext cx="5166360" cy="1600200"/>
          </a:xfrm>
          <a:prstGeom prst="roundRect">
            <a:avLst>
              <a:gd name="adj" fmla="val 3429"/>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9" name="Google Shape;979;p32" descr="Equation"/>
          <p:cNvPicPr preferRelativeResize="0"/>
          <p:nvPr/>
        </p:nvPicPr>
        <p:blipFill rotWithShape="1">
          <a:blip r:embed="rId3">
            <a:alphaModFix/>
          </a:blip>
          <a:srcRect/>
          <a:stretch/>
        </p:blipFill>
        <p:spPr>
          <a:xfrm>
            <a:off x="1546479" y="2342007"/>
            <a:ext cx="3353562" cy="1159002"/>
          </a:xfrm>
          <a:prstGeom prst="rect">
            <a:avLst/>
          </a:prstGeom>
          <a:noFill/>
          <a:ln>
            <a:noFill/>
          </a:ln>
        </p:spPr>
      </p:pic>
      <p:sp>
        <p:nvSpPr>
          <p:cNvPr id="980" name="Google Shape;980;p32"/>
          <p:cNvSpPr/>
          <p:nvPr/>
        </p:nvSpPr>
        <p:spPr>
          <a:xfrm>
            <a:off x="640080" y="3794760"/>
            <a:ext cx="5166360" cy="566928"/>
          </a:xfrm>
          <a:prstGeom prst="roundRect">
            <a:avLst>
              <a:gd name="adj" fmla="val 8065"/>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1" name="Google Shape;981;p32" descr="Equation"/>
          <p:cNvPicPr preferRelativeResize="0"/>
          <p:nvPr/>
        </p:nvPicPr>
        <p:blipFill rotWithShape="1">
          <a:blip r:embed="rId4">
            <a:alphaModFix/>
          </a:blip>
          <a:srcRect/>
          <a:stretch/>
        </p:blipFill>
        <p:spPr>
          <a:xfrm>
            <a:off x="2233651" y="3855339"/>
            <a:ext cx="1979219" cy="445770"/>
          </a:xfrm>
          <a:prstGeom prst="rect">
            <a:avLst/>
          </a:prstGeom>
          <a:noFill/>
          <a:ln>
            <a:noFill/>
          </a:ln>
        </p:spPr>
      </p:pic>
      <p:sp>
        <p:nvSpPr>
          <p:cNvPr id="982" name="Google Shape;982;p32"/>
          <p:cNvSpPr txBox="1"/>
          <p:nvPr/>
        </p:nvSpPr>
        <p:spPr>
          <a:xfrm>
            <a:off x="640080" y="4407408"/>
            <a:ext cx="5166360"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D4ED8"/>
              </a:buClr>
              <a:buSzPts val="1400"/>
              <a:buFont typeface="Calibri"/>
              <a:buNone/>
            </a:pPr>
            <a:r>
              <a:rPr lang="en-US" sz="1400" b="0" i="1" u="none" strike="noStrike" cap="none">
                <a:solidFill>
                  <a:srgbClr val="1D4ED8"/>
                </a:solidFill>
                <a:latin typeface="Calibri"/>
                <a:ea typeface="Calibri"/>
                <a:cs typeface="Calibri"/>
                <a:sym typeface="Calibri"/>
              </a:rPr>
              <a:t>Both tokens attend to “animal”: “it” is linked to “animal”.</a:t>
            </a:r>
            <a:endParaRPr sz="1400" b="0" i="0" u="none" strike="noStrike" cap="none">
              <a:solidFill>
                <a:schemeClr val="dk1"/>
              </a:solidFill>
              <a:latin typeface="Calibri"/>
              <a:ea typeface="Calibri"/>
              <a:cs typeface="Calibri"/>
              <a:sym typeface="Calibri"/>
            </a:endParaRPr>
          </a:p>
        </p:txBody>
      </p:sp>
      <p:sp>
        <p:nvSpPr>
          <p:cNvPr id="983" name="Google Shape;983;p32"/>
          <p:cNvSpPr/>
          <p:nvPr/>
        </p:nvSpPr>
        <p:spPr>
          <a:xfrm>
            <a:off x="6199632" y="1508760"/>
            <a:ext cx="5532120" cy="3520440"/>
          </a:xfrm>
          <a:prstGeom prst="roundRect">
            <a:avLst>
              <a:gd name="adj" fmla="val 2597"/>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2"/>
          <p:cNvSpPr/>
          <p:nvPr/>
        </p:nvSpPr>
        <p:spPr>
          <a:xfrm>
            <a:off x="6382512" y="1691640"/>
            <a:ext cx="2651760" cy="310896"/>
          </a:xfrm>
          <a:prstGeom prst="roundRect">
            <a:avLst>
              <a:gd name="adj" fmla="val 23529"/>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2"/>
          <p:cNvSpPr txBox="1"/>
          <p:nvPr/>
        </p:nvSpPr>
        <p:spPr>
          <a:xfrm>
            <a:off x="6382512" y="1691640"/>
            <a:ext cx="26517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HEAD 2 · self / context</a:t>
            </a:r>
            <a:endParaRPr sz="1200" b="0" i="0" u="none" strike="noStrike" cap="none">
              <a:solidFill>
                <a:schemeClr val="dk1"/>
              </a:solidFill>
              <a:latin typeface="Calibri"/>
              <a:ea typeface="Calibri"/>
              <a:cs typeface="Calibri"/>
              <a:sym typeface="Calibri"/>
            </a:endParaRPr>
          </a:p>
        </p:txBody>
      </p:sp>
      <p:sp>
        <p:nvSpPr>
          <p:cNvPr id="986" name="Google Shape;986;p32"/>
          <p:cNvSpPr/>
          <p:nvPr/>
        </p:nvSpPr>
        <p:spPr>
          <a:xfrm>
            <a:off x="6382512" y="2121408"/>
            <a:ext cx="5166360" cy="1600200"/>
          </a:xfrm>
          <a:prstGeom prst="roundRect">
            <a:avLst>
              <a:gd name="adj" fmla="val 3429"/>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7" name="Google Shape;987;p32" descr="Equation"/>
          <p:cNvPicPr preferRelativeResize="0"/>
          <p:nvPr/>
        </p:nvPicPr>
        <p:blipFill rotWithShape="1">
          <a:blip r:embed="rId5">
            <a:alphaModFix/>
          </a:blip>
          <a:srcRect/>
          <a:stretch/>
        </p:blipFill>
        <p:spPr>
          <a:xfrm>
            <a:off x="7288911" y="2342007"/>
            <a:ext cx="3353562" cy="1159002"/>
          </a:xfrm>
          <a:prstGeom prst="rect">
            <a:avLst/>
          </a:prstGeom>
          <a:noFill/>
          <a:ln>
            <a:noFill/>
          </a:ln>
        </p:spPr>
      </p:pic>
      <p:sp>
        <p:nvSpPr>
          <p:cNvPr id="988" name="Google Shape;988;p32"/>
          <p:cNvSpPr/>
          <p:nvPr/>
        </p:nvSpPr>
        <p:spPr>
          <a:xfrm>
            <a:off x="6382512" y="3794760"/>
            <a:ext cx="5166360" cy="566928"/>
          </a:xfrm>
          <a:prstGeom prst="roundRect">
            <a:avLst>
              <a:gd name="adj" fmla="val 8065"/>
            </a:avLst>
          </a:prstGeom>
          <a:solidFill>
            <a:srgbClr val="FDF0E6"/>
          </a:solidFill>
          <a:ln w="12700" cap="flat" cmpd="sng">
            <a:solidFill>
              <a:srgbClr val="FDF0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9" name="Google Shape;989;p32" descr="Equation"/>
          <p:cNvPicPr preferRelativeResize="0"/>
          <p:nvPr/>
        </p:nvPicPr>
        <p:blipFill rotWithShape="1">
          <a:blip r:embed="rId6">
            <a:alphaModFix/>
          </a:blip>
          <a:srcRect/>
          <a:stretch/>
        </p:blipFill>
        <p:spPr>
          <a:xfrm>
            <a:off x="7976083" y="3855339"/>
            <a:ext cx="1979219" cy="445770"/>
          </a:xfrm>
          <a:prstGeom prst="rect">
            <a:avLst/>
          </a:prstGeom>
          <a:noFill/>
          <a:ln>
            <a:noFill/>
          </a:ln>
        </p:spPr>
      </p:pic>
      <p:sp>
        <p:nvSpPr>
          <p:cNvPr id="990" name="Google Shape;990;p32"/>
          <p:cNvSpPr txBox="1"/>
          <p:nvPr/>
        </p:nvSpPr>
        <p:spPr>
          <a:xfrm>
            <a:off x="6382512" y="4407408"/>
            <a:ext cx="5166360"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C2410C"/>
              </a:buClr>
              <a:buSzPts val="1400"/>
              <a:buFont typeface="Calibri"/>
              <a:buNone/>
            </a:pPr>
            <a:r>
              <a:rPr lang="en-US" sz="1400" b="0" i="1" u="none" strike="noStrike" cap="none">
                <a:solidFill>
                  <a:srgbClr val="C2410C"/>
                </a:solidFill>
                <a:latin typeface="Calibri"/>
                <a:ea typeface="Calibri"/>
                <a:cs typeface="Calibri"/>
                <a:sym typeface="Calibri"/>
              </a:rPr>
              <a:t>“it” attends mostly to itself: it keeps its own identity.</a:t>
            </a:r>
            <a:endParaRPr sz="1400" b="0" i="0" u="none" strike="noStrike" cap="none">
              <a:solidFill>
                <a:schemeClr val="dk1"/>
              </a:solidFill>
              <a:latin typeface="Calibri"/>
              <a:ea typeface="Calibri"/>
              <a:cs typeface="Calibri"/>
              <a:sym typeface="Calibri"/>
            </a:endParaRPr>
          </a:p>
        </p:txBody>
      </p:sp>
      <p:sp>
        <p:nvSpPr>
          <p:cNvPr id="991" name="Google Shape;991;p32"/>
          <p:cNvSpPr/>
          <p:nvPr/>
        </p:nvSpPr>
        <p:spPr>
          <a:xfrm>
            <a:off x="457200" y="5166360"/>
            <a:ext cx="11274552" cy="566928"/>
          </a:xfrm>
          <a:prstGeom prst="roundRect">
            <a:avLst>
              <a:gd name="adj" fmla="val 9677"/>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92" name="Google Shape;992;p32" descr="Equation"/>
          <p:cNvPicPr preferRelativeResize="0"/>
          <p:nvPr/>
        </p:nvPicPr>
        <p:blipFill rotWithShape="1">
          <a:blip r:embed="rId7">
            <a:alphaModFix/>
          </a:blip>
          <a:srcRect/>
          <a:stretch/>
        </p:blipFill>
        <p:spPr>
          <a:xfrm>
            <a:off x="2671191" y="5312664"/>
            <a:ext cx="6846570" cy="274320"/>
          </a:xfrm>
          <a:prstGeom prst="rect">
            <a:avLst/>
          </a:prstGeom>
          <a:noFill/>
          <a:ln>
            <a:noFill/>
          </a:ln>
        </p:spPr>
      </p:pic>
      <p:sp>
        <p:nvSpPr>
          <p:cNvPr id="993" name="Google Shape;993;p32"/>
          <p:cNvSpPr/>
          <p:nvPr/>
        </p:nvSpPr>
        <p:spPr>
          <a:xfrm>
            <a:off x="457200" y="5897880"/>
            <a:ext cx="11277295" cy="438912"/>
          </a:xfrm>
          <a:prstGeom prst="roundRect">
            <a:avLst>
              <a:gd name="adj" fmla="val 12500"/>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2"/>
          <p:cNvSpPr txBox="1"/>
          <p:nvPr/>
        </p:nvSpPr>
        <p:spPr>
          <a:xfrm>
            <a:off x="594360" y="5934456"/>
            <a:ext cx="11002975" cy="3657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Together:  </a:t>
            </a:r>
            <a:r>
              <a:rPr lang="en-US" sz="1400" b="0" i="1" u="none" strike="noStrike" cap="none">
                <a:solidFill>
                  <a:srgbClr val="7C3E0A"/>
                </a:solidFill>
                <a:latin typeface="Calibri"/>
                <a:ea typeface="Calibri"/>
                <a:cs typeface="Calibri"/>
                <a:sym typeface="Calibri"/>
              </a:rPr>
              <a:t>Head 1 says “it” = “animal”; Head 2 keeps “it” as its own entity. The output matrix fuses both views.</a:t>
            </a:r>
            <a:endParaRPr sz="1400" b="0" i="0" u="none" strike="noStrike" cap="none">
              <a:solidFill>
                <a:schemeClr val="dk1"/>
              </a:solidFill>
              <a:latin typeface="Calibri"/>
              <a:ea typeface="Calibri"/>
              <a:cs typeface="Calibri"/>
              <a:sym typeface="Calibri"/>
            </a:endParaRPr>
          </a:p>
        </p:txBody>
      </p:sp>
      <p:sp>
        <p:nvSpPr>
          <p:cNvPr id="995" name="Google Shape;995;p32"/>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20</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37"/>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The Transformer Decoder: Three Sublayers</a:t>
            </a:r>
            <a:endParaRPr sz="3000"/>
          </a:p>
        </p:txBody>
      </p:sp>
      <p:sp>
        <p:nvSpPr>
          <p:cNvPr id="1144" name="Google Shape;1144;p37"/>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Masked self-attention, cross-attention, then feed-forward</a:t>
            </a:r>
            <a:endParaRPr sz="1500"/>
          </a:p>
        </p:txBody>
      </p:sp>
      <p:sp>
        <p:nvSpPr>
          <p:cNvPr id="1145" name="Google Shape;1145;p37"/>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5 · THE DECODER</a:t>
            </a:r>
            <a:endParaRPr sz="1000" b="0" i="0" u="none" strike="noStrike" cap="none">
              <a:solidFill>
                <a:schemeClr val="dk1"/>
              </a:solidFill>
              <a:latin typeface="Calibri"/>
              <a:ea typeface="Calibri"/>
              <a:cs typeface="Calibri"/>
              <a:sym typeface="Calibri"/>
            </a:endParaRPr>
          </a:p>
        </p:txBody>
      </p:sp>
      <p:pic>
        <p:nvPicPr>
          <p:cNvPr id="1146" name="Google Shape;1146;p37" descr="/tmp/claude-0/-home-claude/2e4ed916-d3dc-5f60-b61a-7b0ef1a4d3a9/scratchpad/lec/assets/decoder_fig.jpg"/>
          <p:cNvPicPr preferRelativeResize="0"/>
          <p:nvPr/>
        </p:nvPicPr>
        <p:blipFill rotWithShape="1">
          <a:blip r:embed="rId3">
            <a:alphaModFix/>
          </a:blip>
          <a:srcRect/>
          <a:stretch/>
        </p:blipFill>
        <p:spPr>
          <a:xfrm>
            <a:off x="502920" y="1508760"/>
            <a:ext cx="4206240" cy="3977640"/>
          </a:xfrm>
          <a:prstGeom prst="rect">
            <a:avLst/>
          </a:prstGeom>
          <a:noFill/>
          <a:ln>
            <a:noFill/>
          </a:ln>
        </p:spPr>
      </p:pic>
      <p:sp>
        <p:nvSpPr>
          <p:cNvPr id="1147" name="Google Shape;1147;p37"/>
          <p:cNvSpPr/>
          <p:nvPr/>
        </p:nvSpPr>
        <p:spPr>
          <a:xfrm>
            <a:off x="4983480" y="1508760"/>
            <a:ext cx="6748272" cy="1207008"/>
          </a:xfrm>
          <a:prstGeom prst="roundRect">
            <a:avLst>
              <a:gd name="adj" fmla="val 757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7"/>
          <p:cNvSpPr/>
          <p:nvPr/>
        </p:nvSpPr>
        <p:spPr>
          <a:xfrm>
            <a:off x="5166360" y="1892808"/>
            <a:ext cx="438912" cy="438912"/>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7"/>
          <p:cNvSpPr txBox="1"/>
          <p:nvPr/>
        </p:nvSpPr>
        <p:spPr>
          <a:xfrm>
            <a:off x="5166360" y="1892808"/>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150" name="Google Shape;1150;p37"/>
          <p:cNvSpPr txBox="1"/>
          <p:nvPr/>
        </p:nvSpPr>
        <p:spPr>
          <a:xfrm>
            <a:off x="5760720" y="1581912"/>
            <a:ext cx="580644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D4ED8"/>
              </a:buClr>
              <a:buSzPts val="1600"/>
              <a:buFont typeface="Calibri"/>
              <a:buNone/>
            </a:pPr>
            <a:r>
              <a:rPr lang="en-US" sz="1600" b="1" i="0" u="none" strike="noStrike" cap="none">
                <a:solidFill>
                  <a:srgbClr val="1D4ED8"/>
                </a:solidFill>
                <a:latin typeface="Calibri"/>
                <a:ea typeface="Calibri"/>
                <a:cs typeface="Calibri"/>
                <a:sym typeface="Calibri"/>
              </a:rPr>
              <a:t>Masked self-attention</a:t>
            </a:r>
            <a:endParaRPr sz="1600" b="0" i="0" u="none" strike="noStrike" cap="none">
              <a:solidFill>
                <a:schemeClr val="dk1"/>
              </a:solidFill>
              <a:latin typeface="Calibri"/>
              <a:ea typeface="Calibri"/>
              <a:cs typeface="Calibri"/>
              <a:sym typeface="Calibri"/>
            </a:endParaRPr>
          </a:p>
        </p:txBody>
      </p:sp>
      <p:sp>
        <p:nvSpPr>
          <p:cNvPr id="1151" name="Google Shape;1151;p37"/>
          <p:cNvSpPr txBox="1"/>
          <p:nvPr/>
        </p:nvSpPr>
        <p:spPr>
          <a:xfrm>
            <a:off x="5760720" y="1920240"/>
            <a:ext cx="5806440"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Each target token looks only at earlier target tokens. No peeking at the future.</a:t>
            </a:r>
            <a:endParaRPr sz="1400" b="0" i="0" u="none" strike="noStrike" cap="none">
              <a:solidFill>
                <a:schemeClr val="dk1"/>
              </a:solidFill>
              <a:latin typeface="Calibri"/>
              <a:ea typeface="Calibri"/>
              <a:cs typeface="Calibri"/>
              <a:sym typeface="Calibri"/>
            </a:endParaRPr>
          </a:p>
        </p:txBody>
      </p:sp>
      <p:sp>
        <p:nvSpPr>
          <p:cNvPr id="1152" name="Google Shape;1152;p37"/>
          <p:cNvSpPr txBox="1"/>
          <p:nvPr/>
        </p:nvSpPr>
        <p:spPr>
          <a:xfrm>
            <a:off x="5760720" y="2313432"/>
            <a:ext cx="580644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Like writing an exam answer: you can reread what you've written, not what you haven't.</a:t>
            </a:r>
            <a:endParaRPr sz="1300" b="0" i="0" u="none" strike="noStrike" cap="none">
              <a:solidFill>
                <a:schemeClr val="dk1"/>
              </a:solidFill>
              <a:latin typeface="Calibri"/>
              <a:ea typeface="Calibri"/>
              <a:cs typeface="Calibri"/>
              <a:sym typeface="Calibri"/>
            </a:endParaRPr>
          </a:p>
        </p:txBody>
      </p:sp>
      <p:sp>
        <p:nvSpPr>
          <p:cNvPr id="1153" name="Google Shape;1153;p37"/>
          <p:cNvSpPr/>
          <p:nvPr/>
        </p:nvSpPr>
        <p:spPr>
          <a:xfrm>
            <a:off x="4983480" y="2834640"/>
            <a:ext cx="6748272" cy="1207008"/>
          </a:xfrm>
          <a:prstGeom prst="roundRect">
            <a:avLst>
              <a:gd name="adj" fmla="val 757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7"/>
          <p:cNvSpPr/>
          <p:nvPr/>
        </p:nvSpPr>
        <p:spPr>
          <a:xfrm>
            <a:off x="5166360" y="3218688"/>
            <a:ext cx="438912" cy="438912"/>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7"/>
          <p:cNvSpPr txBox="1"/>
          <p:nvPr/>
        </p:nvSpPr>
        <p:spPr>
          <a:xfrm>
            <a:off x="5166360" y="3218688"/>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156" name="Google Shape;1156;p37"/>
          <p:cNvSpPr txBox="1"/>
          <p:nvPr/>
        </p:nvSpPr>
        <p:spPr>
          <a:xfrm>
            <a:off x="5760720" y="2907792"/>
            <a:ext cx="580644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D28D9"/>
              </a:buClr>
              <a:buSzPts val="1600"/>
              <a:buFont typeface="Calibri"/>
              <a:buNone/>
            </a:pPr>
            <a:r>
              <a:rPr lang="en-US" sz="1600" b="1" i="0" u="none" strike="noStrike" cap="none">
                <a:solidFill>
                  <a:srgbClr val="6D28D9"/>
                </a:solidFill>
                <a:latin typeface="Calibri"/>
                <a:ea typeface="Calibri"/>
                <a:cs typeface="Calibri"/>
                <a:sym typeface="Calibri"/>
              </a:rPr>
              <a:t>Cross-attention</a:t>
            </a:r>
            <a:endParaRPr sz="1600" b="0" i="0" u="none" strike="noStrike" cap="none">
              <a:solidFill>
                <a:schemeClr val="dk1"/>
              </a:solidFill>
              <a:latin typeface="Calibri"/>
              <a:ea typeface="Calibri"/>
              <a:cs typeface="Calibri"/>
              <a:sym typeface="Calibri"/>
            </a:endParaRPr>
          </a:p>
        </p:txBody>
      </p:sp>
      <p:sp>
        <p:nvSpPr>
          <p:cNvPr id="1157" name="Google Shape;1157;p37"/>
          <p:cNvSpPr txBox="1"/>
          <p:nvPr/>
        </p:nvSpPr>
        <p:spPr>
          <a:xfrm>
            <a:off x="5760720" y="3246120"/>
            <a:ext cx="5806440"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Q from the decoder; K and V from the encoder output. Reads the source sentence.</a:t>
            </a:r>
            <a:endParaRPr sz="1400" b="0" i="0" u="none" strike="noStrike" cap="none">
              <a:solidFill>
                <a:schemeClr val="dk1"/>
              </a:solidFill>
              <a:latin typeface="Calibri"/>
              <a:ea typeface="Calibri"/>
              <a:cs typeface="Calibri"/>
              <a:sym typeface="Calibri"/>
            </a:endParaRPr>
          </a:p>
        </p:txBody>
      </p:sp>
      <p:sp>
        <p:nvSpPr>
          <p:cNvPr id="1158" name="Google Shape;1158;p37"/>
          <p:cNvSpPr txBox="1"/>
          <p:nvPr/>
        </p:nvSpPr>
        <p:spPr>
          <a:xfrm>
            <a:off x="5760720" y="3639312"/>
            <a:ext cx="580644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Like a translator glancing back at the original page for every word.</a:t>
            </a:r>
            <a:endParaRPr sz="1300" b="0" i="0" u="none" strike="noStrike" cap="none">
              <a:solidFill>
                <a:schemeClr val="dk1"/>
              </a:solidFill>
              <a:latin typeface="Calibri"/>
              <a:ea typeface="Calibri"/>
              <a:cs typeface="Calibri"/>
              <a:sym typeface="Calibri"/>
            </a:endParaRPr>
          </a:p>
        </p:txBody>
      </p:sp>
      <p:sp>
        <p:nvSpPr>
          <p:cNvPr id="1159" name="Google Shape;1159;p37"/>
          <p:cNvSpPr/>
          <p:nvPr/>
        </p:nvSpPr>
        <p:spPr>
          <a:xfrm>
            <a:off x="4983480" y="4160520"/>
            <a:ext cx="6748272" cy="1207008"/>
          </a:xfrm>
          <a:prstGeom prst="roundRect">
            <a:avLst>
              <a:gd name="adj" fmla="val 757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7"/>
          <p:cNvSpPr/>
          <p:nvPr/>
        </p:nvSpPr>
        <p:spPr>
          <a:xfrm>
            <a:off x="5166360" y="4544568"/>
            <a:ext cx="438912" cy="438912"/>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7"/>
          <p:cNvSpPr txBox="1"/>
          <p:nvPr/>
        </p:nvSpPr>
        <p:spPr>
          <a:xfrm>
            <a:off x="5166360" y="4544568"/>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162" name="Google Shape;1162;p37"/>
          <p:cNvSpPr txBox="1"/>
          <p:nvPr/>
        </p:nvSpPr>
        <p:spPr>
          <a:xfrm>
            <a:off x="5760720" y="4233672"/>
            <a:ext cx="580644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600"/>
              <a:buFont typeface="Calibri"/>
              <a:buNone/>
            </a:pPr>
            <a:r>
              <a:rPr lang="en-US" sz="1600" b="1" i="0" u="none" strike="noStrike" cap="none">
                <a:solidFill>
                  <a:srgbClr val="0F766E"/>
                </a:solidFill>
                <a:latin typeface="Calibri"/>
                <a:ea typeface="Calibri"/>
                <a:cs typeface="Calibri"/>
                <a:sym typeface="Calibri"/>
              </a:rPr>
              <a:t>Feed-forward + Add &amp; Norm</a:t>
            </a:r>
            <a:endParaRPr sz="1600" b="0" i="0" u="none" strike="noStrike" cap="none">
              <a:solidFill>
                <a:schemeClr val="dk1"/>
              </a:solidFill>
              <a:latin typeface="Calibri"/>
              <a:ea typeface="Calibri"/>
              <a:cs typeface="Calibri"/>
              <a:sym typeface="Calibri"/>
            </a:endParaRPr>
          </a:p>
        </p:txBody>
      </p:sp>
      <p:sp>
        <p:nvSpPr>
          <p:cNvPr id="1163" name="Google Shape;1163;p37"/>
          <p:cNvSpPr txBox="1"/>
          <p:nvPr/>
        </p:nvSpPr>
        <p:spPr>
          <a:xfrm>
            <a:off x="5760720" y="4572000"/>
            <a:ext cx="5806440" cy="4114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Same position-wise MLP and stabilising tricks as the encoder.</a:t>
            </a:r>
            <a:endParaRPr sz="1400" b="0" i="0" u="none" strike="noStrike" cap="none">
              <a:solidFill>
                <a:schemeClr val="dk1"/>
              </a:solidFill>
              <a:latin typeface="Calibri"/>
              <a:ea typeface="Calibri"/>
              <a:cs typeface="Calibri"/>
              <a:sym typeface="Calibri"/>
            </a:endParaRPr>
          </a:p>
        </p:txBody>
      </p:sp>
      <p:sp>
        <p:nvSpPr>
          <p:cNvPr id="1164" name="Google Shape;1164;p37"/>
          <p:cNvSpPr txBox="1"/>
          <p:nvPr/>
        </p:nvSpPr>
        <p:spPr>
          <a:xfrm>
            <a:off x="5760720" y="4965192"/>
            <a:ext cx="5806440"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Silent thinking after the discussion, as in Part 2.</a:t>
            </a:r>
            <a:endParaRPr sz="1300" b="0" i="0" u="none" strike="noStrike" cap="none">
              <a:solidFill>
                <a:schemeClr val="dk1"/>
              </a:solidFill>
              <a:latin typeface="Calibri"/>
              <a:ea typeface="Calibri"/>
              <a:cs typeface="Calibri"/>
              <a:sym typeface="Calibri"/>
            </a:endParaRPr>
          </a:p>
        </p:txBody>
      </p:sp>
      <p:sp>
        <p:nvSpPr>
          <p:cNvPr id="1165" name="Google Shape;1165;p37"/>
          <p:cNvSpPr/>
          <p:nvPr/>
        </p:nvSpPr>
        <p:spPr>
          <a:xfrm>
            <a:off x="457200" y="5669280"/>
            <a:ext cx="11277295" cy="621792"/>
          </a:xfrm>
          <a:prstGeom prst="roundRect">
            <a:avLst>
              <a:gd name="adj" fmla="val 8824"/>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7"/>
          <p:cNvSpPr txBox="1"/>
          <p:nvPr/>
        </p:nvSpPr>
        <p:spPr>
          <a:xfrm>
            <a:off x="594360" y="570585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Big picture:  </a:t>
            </a:r>
            <a:r>
              <a:rPr lang="en-US" sz="1400" b="0" i="0" u="none" strike="noStrike" cap="none">
                <a:solidFill>
                  <a:srgbClr val="334155"/>
                </a:solidFill>
                <a:latin typeface="Calibri"/>
                <a:ea typeface="Calibri"/>
                <a:cs typeface="Calibri"/>
                <a:sym typeface="Calibri"/>
              </a:rPr>
              <a:t>the encoder reads the whole input once; the decoder writes the output one token at a time, consulting the encoder at every step.</a:t>
            </a:r>
            <a:endParaRPr sz="1400" b="0" i="0" u="none" strike="noStrike" cap="none">
              <a:solidFill>
                <a:schemeClr val="dk1"/>
              </a:solidFill>
              <a:latin typeface="Calibri"/>
              <a:ea typeface="Calibri"/>
              <a:cs typeface="Calibri"/>
              <a:sym typeface="Calibri"/>
            </a:endParaRPr>
          </a:p>
        </p:txBody>
      </p:sp>
      <p:sp>
        <p:nvSpPr>
          <p:cNvPr id="1167" name="Google Shape;1167;p37"/>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21</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38"/>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Masked Self-Attention: No Peeking at the Future</a:t>
            </a:r>
            <a:endParaRPr sz="3000"/>
          </a:p>
        </p:txBody>
      </p:sp>
      <p:sp>
        <p:nvSpPr>
          <p:cNvPr id="1174" name="Google Shape;1174;p38"/>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During training the whole target is visible, so we must hide it ourselves</a:t>
            </a:r>
            <a:endParaRPr sz="1500"/>
          </a:p>
        </p:txBody>
      </p:sp>
      <p:sp>
        <p:nvSpPr>
          <p:cNvPr id="1175" name="Google Shape;1175;p38"/>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5 · THE DECODER</a:t>
            </a:r>
            <a:endParaRPr sz="1000" b="0" i="0" u="none" strike="noStrike" cap="none">
              <a:solidFill>
                <a:schemeClr val="dk1"/>
              </a:solidFill>
              <a:latin typeface="Calibri"/>
              <a:ea typeface="Calibri"/>
              <a:cs typeface="Calibri"/>
              <a:sym typeface="Calibri"/>
            </a:endParaRPr>
          </a:p>
        </p:txBody>
      </p:sp>
      <p:sp>
        <p:nvSpPr>
          <p:cNvPr id="1176" name="Google Shape;1176;p38"/>
          <p:cNvSpPr txBox="1"/>
          <p:nvPr/>
        </p:nvSpPr>
        <p:spPr>
          <a:xfrm>
            <a:off x="2057400" y="1508760"/>
            <a:ext cx="2743200" cy="2743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200"/>
              <a:buFont typeface="Calibri"/>
              <a:buNone/>
            </a:pPr>
            <a:r>
              <a:rPr lang="en-US" sz="1200" b="1" i="0" u="none" strike="noStrike" cap="none">
                <a:solidFill>
                  <a:srgbClr val="64748B"/>
                </a:solidFill>
                <a:latin typeface="Calibri"/>
                <a:ea typeface="Calibri"/>
                <a:cs typeface="Calibri"/>
                <a:sym typeface="Calibri"/>
              </a:rPr>
              <a:t>KEY →</a:t>
            </a:r>
            <a:endParaRPr sz="1200" b="0" i="0" u="none" strike="noStrike" cap="none">
              <a:solidFill>
                <a:schemeClr val="dk1"/>
              </a:solidFill>
              <a:latin typeface="Calibri"/>
              <a:ea typeface="Calibri"/>
              <a:cs typeface="Calibri"/>
              <a:sym typeface="Calibri"/>
            </a:endParaRPr>
          </a:p>
        </p:txBody>
      </p:sp>
      <p:sp>
        <p:nvSpPr>
          <p:cNvPr id="1177" name="Google Shape;1177;p38"/>
          <p:cNvSpPr txBox="1"/>
          <p:nvPr/>
        </p:nvSpPr>
        <p:spPr>
          <a:xfrm>
            <a:off x="457200" y="1709928"/>
            <a:ext cx="1371600" cy="2743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200"/>
              <a:buFont typeface="Calibri"/>
              <a:buNone/>
            </a:pPr>
            <a:r>
              <a:rPr lang="en-US" sz="1200" b="1" i="0" u="none" strike="noStrike" cap="none">
                <a:solidFill>
                  <a:srgbClr val="64748B"/>
                </a:solidFill>
                <a:latin typeface="Calibri"/>
                <a:ea typeface="Calibri"/>
                <a:cs typeface="Calibri"/>
                <a:sym typeface="Calibri"/>
              </a:rPr>
              <a:t>QUERY ↓</a:t>
            </a:r>
            <a:endParaRPr sz="1200" b="0" i="0" u="none" strike="noStrike" cap="none">
              <a:solidFill>
                <a:schemeClr val="dk1"/>
              </a:solidFill>
              <a:latin typeface="Calibri"/>
              <a:ea typeface="Calibri"/>
              <a:cs typeface="Calibri"/>
              <a:sym typeface="Calibri"/>
            </a:endParaRPr>
          </a:p>
        </p:txBody>
      </p:sp>
      <p:sp>
        <p:nvSpPr>
          <p:cNvPr id="1178" name="Google Shape;1178;p38"/>
          <p:cNvSpPr txBox="1"/>
          <p:nvPr/>
        </p:nvSpPr>
        <p:spPr>
          <a:xfrm>
            <a:off x="2057400" y="1755648"/>
            <a:ext cx="1188720" cy="292608"/>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&lt;start&gt;</a:t>
            </a:r>
            <a:endParaRPr sz="1300" b="0" i="0" u="none" strike="noStrike" cap="none">
              <a:solidFill>
                <a:schemeClr val="dk1"/>
              </a:solidFill>
              <a:latin typeface="Calibri"/>
              <a:ea typeface="Calibri"/>
              <a:cs typeface="Calibri"/>
              <a:sym typeface="Calibri"/>
            </a:endParaRPr>
          </a:p>
        </p:txBody>
      </p:sp>
      <p:sp>
        <p:nvSpPr>
          <p:cNvPr id="1179" name="Google Shape;1179;p38"/>
          <p:cNvSpPr txBox="1"/>
          <p:nvPr/>
        </p:nvSpPr>
        <p:spPr>
          <a:xfrm>
            <a:off x="3246120" y="1755648"/>
            <a:ext cx="1188720" cy="292608"/>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Je</a:t>
            </a:r>
            <a:endParaRPr sz="1300" b="0" i="0" u="none" strike="noStrike" cap="none">
              <a:solidFill>
                <a:schemeClr val="dk1"/>
              </a:solidFill>
              <a:latin typeface="Calibri"/>
              <a:ea typeface="Calibri"/>
              <a:cs typeface="Calibri"/>
              <a:sym typeface="Calibri"/>
            </a:endParaRPr>
          </a:p>
        </p:txBody>
      </p:sp>
      <p:sp>
        <p:nvSpPr>
          <p:cNvPr id="1180" name="Google Shape;1180;p38"/>
          <p:cNvSpPr txBox="1"/>
          <p:nvPr/>
        </p:nvSpPr>
        <p:spPr>
          <a:xfrm>
            <a:off x="4434840" y="1755648"/>
            <a:ext cx="1188720" cy="292608"/>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t'aime</a:t>
            </a:r>
            <a:endParaRPr sz="1300" b="0" i="0" u="none" strike="noStrike" cap="none">
              <a:solidFill>
                <a:schemeClr val="dk1"/>
              </a:solidFill>
              <a:latin typeface="Calibri"/>
              <a:ea typeface="Calibri"/>
              <a:cs typeface="Calibri"/>
              <a:sym typeface="Calibri"/>
            </a:endParaRPr>
          </a:p>
        </p:txBody>
      </p:sp>
      <p:sp>
        <p:nvSpPr>
          <p:cNvPr id="1181" name="Google Shape;1181;p38"/>
          <p:cNvSpPr txBox="1"/>
          <p:nvPr/>
        </p:nvSpPr>
        <p:spPr>
          <a:xfrm>
            <a:off x="5623560" y="1755648"/>
            <a:ext cx="1188720" cy="292608"/>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&lt;EOS&gt;</a:t>
            </a:r>
            <a:endParaRPr sz="1300" b="0" i="0" u="none" strike="noStrike" cap="none">
              <a:solidFill>
                <a:schemeClr val="dk1"/>
              </a:solidFill>
              <a:latin typeface="Calibri"/>
              <a:ea typeface="Calibri"/>
              <a:cs typeface="Calibri"/>
              <a:sym typeface="Calibri"/>
            </a:endParaRPr>
          </a:p>
        </p:txBody>
      </p:sp>
      <p:sp>
        <p:nvSpPr>
          <p:cNvPr id="1182" name="Google Shape;1182;p38"/>
          <p:cNvSpPr txBox="1"/>
          <p:nvPr/>
        </p:nvSpPr>
        <p:spPr>
          <a:xfrm>
            <a:off x="457200" y="2057400"/>
            <a:ext cx="1554480" cy="658368"/>
          </a:xfrm>
          <a:prstGeom prst="rect">
            <a:avLst/>
          </a:prstGeom>
          <a:noFill/>
          <a:ln>
            <a:noFill/>
          </a:ln>
        </p:spPr>
        <p:txBody>
          <a:bodyPr spcFirstLastPara="1" wrap="square" lIns="750" tIns="750" rIns="750" bIns="750" anchor="ctr" anchorCtr="0">
            <a:noAutofit/>
          </a:bodyPr>
          <a:lstStyle/>
          <a:p>
            <a:pPr marL="0" marR="0" lvl="0" indent="0" algn="r"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&lt;start&gt;</a:t>
            </a:r>
            <a:endParaRPr sz="1300" b="0" i="0" u="none" strike="noStrike" cap="none">
              <a:solidFill>
                <a:schemeClr val="dk1"/>
              </a:solidFill>
              <a:latin typeface="Calibri"/>
              <a:ea typeface="Calibri"/>
              <a:cs typeface="Calibri"/>
              <a:sym typeface="Calibri"/>
            </a:endParaRPr>
          </a:p>
        </p:txBody>
      </p:sp>
      <p:sp>
        <p:nvSpPr>
          <p:cNvPr id="1183" name="Google Shape;1183;p38"/>
          <p:cNvSpPr/>
          <p:nvPr/>
        </p:nvSpPr>
        <p:spPr>
          <a:xfrm>
            <a:off x="2103120" y="205740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8"/>
          <p:cNvSpPr txBox="1"/>
          <p:nvPr/>
        </p:nvSpPr>
        <p:spPr>
          <a:xfrm>
            <a:off x="2103120" y="205740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185" name="Google Shape;1185;p38"/>
          <p:cNvSpPr/>
          <p:nvPr/>
        </p:nvSpPr>
        <p:spPr>
          <a:xfrm>
            <a:off x="3291840" y="2057400"/>
            <a:ext cx="1097280" cy="658368"/>
          </a:xfrm>
          <a:prstGeom prst="roundRect">
            <a:avLst>
              <a:gd name="adj" fmla="val 8333"/>
            </a:avLst>
          </a:prstGeom>
          <a:solidFill>
            <a:srgbClr val="FBEAEA"/>
          </a:solidFill>
          <a:ln w="12700" cap="flat" cmpd="sng">
            <a:solidFill>
              <a:srgbClr val="E9A9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8"/>
          <p:cNvSpPr txBox="1"/>
          <p:nvPr/>
        </p:nvSpPr>
        <p:spPr>
          <a:xfrm>
            <a:off x="3291840" y="205740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B91C1C"/>
              </a:buClr>
              <a:buSzPts val="1300"/>
              <a:buFont typeface="Calibri"/>
              <a:buNone/>
            </a:pPr>
            <a:r>
              <a:rPr lang="en-US" sz="1300" b="1" i="0" u="none" strike="noStrike" cap="none">
                <a:solidFill>
                  <a:srgbClr val="B91C1C"/>
                </a:solidFill>
                <a:latin typeface="Calibri"/>
                <a:ea typeface="Calibri"/>
                <a:cs typeface="Calibri"/>
                <a:sym typeface="Calibri"/>
              </a:rPr>
              <a:t>✕ masked</a:t>
            </a:r>
            <a:endParaRPr sz="1300" b="0" i="0" u="none" strike="noStrike" cap="none">
              <a:solidFill>
                <a:schemeClr val="dk1"/>
              </a:solidFill>
              <a:latin typeface="Calibri"/>
              <a:ea typeface="Calibri"/>
              <a:cs typeface="Calibri"/>
              <a:sym typeface="Calibri"/>
            </a:endParaRPr>
          </a:p>
        </p:txBody>
      </p:sp>
      <p:sp>
        <p:nvSpPr>
          <p:cNvPr id="1187" name="Google Shape;1187;p38"/>
          <p:cNvSpPr/>
          <p:nvPr/>
        </p:nvSpPr>
        <p:spPr>
          <a:xfrm>
            <a:off x="4480560" y="2057400"/>
            <a:ext cx="1097280" cy="658368"/>
          </a:xfrm>
          <a:prstGeom prst="roundRect">
            <a:avLst>
              <a:gd name="adj" fmla="val 8333"/>
            </a:avLst>
          </a:prstGeom>
          <a:solidFill>
            <a:srgbClr val="FBEAEA"/>
          </a:solidFill>
          <a:ln w="12700" cap="flat" cmpd="sng">
            <a:solidFill>
              <a:srgbClr val="E9A9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8"/>
          <p:cNvSpPr txBox="1"/>
          <p:nvPr/>
        </p:nvSpPr>
        <p:spPr>
          <a:xfrm>
            <a:off x="4480560" y="205740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B91C1C"/>
              </a:buClr>
              <a:buSzPts val="1300"/>
              <a:buFont typeface="Calibri"/>
              <a:buNone/>
            </a:pPr>
            <a:r>
              <a:rPr lang="en-US" sz="1300" b="1" i="0" u="none" strike="noStrike" cap="none">
                <a:solidFill>
                  <a:srgbClr val="B91C1C"/>
                </a:solidFill>
                <a:latin typeface="Calibri"/>
                <a:ea typeface="Calibri"/>
                <a:cs typeface="Calibri"/>
                <a:sym typeface="Calibri"/>
              </a:rPr>
              <a:t>✕ masked</a:t>
            </a:r>
            <a:endParaRPr sz="1300" b="0" i="0" u="none" strike="noStrike" cap="none">
              <a:solidFill>
                <a:schemeClr val="dk1"/>
              </a:solidFill>
              <a:latin typeface="Calibri"/>
              <a:ea typeface="Calibri"/>
              <a:cs typeface="Calibri"/>
              <a:sym typeface="Calibri"/>
            </a:endParaRPr>
          </a:p>
        </p:txBody>
      </p:sp>
      <p:sp>
        <p:nvSpPr>
          <p:cNvPr id="1189" name="Google Shape;1189;p38"/>
          <p:cNvSpPr/>
          <p:nvPr/>
        </p:nvSpPr>
        <p:spPr>
          <a:xfrm>
            <a:off x="5669280" y="2057400"/>
            <a:ext cx="1097280" cy="658368"/>
          </a:xfrm>
          <a:prstGeom prst="roundRect">
            <a:avLst>
              <a:gd name="adj" fmla="val 8333"/>
            </a:avLst>
          </a:prstGeom>
          <a:solidFill>
            <a:srgbClr val="FBEAEA"/>
          </a:solidFill>
          <a:ln w="12700" cap="flat" cmpd="sng">
            <a:solidFill>
              <a:srgbClr val="E9A9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8"/>
          <p:cNvSpPr txBox="1"/>
          <p:nvPr/>
        </p:nvSpPr>
        <p:spPr>
          <a:xfrm>
            <a:off x="5669280" y="205740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B91C1C"/>
              </a:buClr>
              <a:buSzPts val="1300"/>
              <a:buFont typeface="Calibri"/>
              <a:buNone/>
            </a:pPr>
            <a:r>
              <a:rPr lang="en-US" sz="1300" b="1" i="0" u="none" strike="noStrike" cap="none">
                <a:solidFill>
                  <a:srgbClr val="B91C1C"/>
                </a:solidFill>
                <a:latin typeface="Calibri"/>
                <a:ea typeface="Calibri"/>
                <a:cs typeface="Calibri"/>
                <a:sym typeface="Calibri"/>
              </a:rPr>
              <a:t>✕ masked</a:t>
            </a:r>
            <a:endParaRPr sz="1300" b="0" i="0" u="none" strike="noStrike" cap="none">
              <a:solidFill>
                <a:schemeClr val="dk1"/>
              </a:solidFill>
              <a:latin typeface="Calibri"/>
              <a:ea typeface="Calibri"/>
              <a:cs typeface="Calibri"/>
              <a:sym typeface="Calibri"/>
            </a:endParaRPr>
          </a:p>
        </p:txBody>
      </p:sp>
      <p:sp>
        <p:nvSpPr>
          <p:cNvPr id="1191" name="Google Shape;1191;p38"/>
          <p:cNvSpPr txBox="1"/>
          <p:nvPr/>
        </p:nvSpPr>
        <p:spPr>
          <a:xfrm>
            <a:off x="457200" y="2788920"/>
            <a:ext cx="1554480" cy="658368"/>
          </a:xfrm>
          <a:prstGeom prst="rect">
            <a:avLst/>
          </a:prstGeom>
          <a:noFill/>
          <a:ln>
            <a:noFill/>
          </a:ln>
        </p:spPr>
        <p:txBody>
          <a:bodyPr spcFirstLastPara="1" wrap="square" lIns="750" tIns="750" rIns="750" bIns="750" anchor="ctr" anchorCtr="0">
            <a:noAutofit/>
          </a:bodyPr>
          <a:lstStyle/>
          <a:p>
            <a:pPr marL="0" marR="0" lvl="0" indent="0" algn="r"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Je</a:t>
            </a:r>
            <a:endParaRPr sz="1300" b="0" i="0" u="none" strike="noStrike" cap="none">
              <a:solidFill>
                <a:schemeClr val="dk1"/>
              </a:solidFill>
              <a:latin typeface="Calibri"/>
              <a:ea typeface="Calibri"/>
              <a:cs typeface="Calibri"/>
              <a:sym typeface="Calibri"/>
            </a:endParaRPr>
          </a:p>
        </p:txBody>
      </p:sp>
      <p:sp>
        <p:nvSpPr>
          <p:cNvPr id="1192" name="Google Shape;1192;p38"/>
          <p:cNvSpPr/>
          <p:nvPr/>
        </p:nvSpPr>
        <p:spPr>
          <a:xfrm>
            <a:off x="2103120" y="278892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8"/>
          <p:cNvSpPr txBox="1"/>
          <p:nvPr/>
        </p:nvSpPr>
        <p:spPr>
          <a:xfrm>
            <a:off x="2103120" y="278892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194" name="Google Shape;1194;p38"/>
          <p:cNvSpPr/>
          <p:nvPr/>
        </p:nvSpPr>
        <p:spPr>
          <a:xfrm>
            <a:off x="3291840" y="278892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8"/>
          <p:cNvSpPr txBox="1"/>
          <p:nvPr/>
        </p:nvSpPr>
        <p:spPr>
          <a:xfrm>
            <a:off x="3291840" y="278892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196" name="Google Shape;1196;p38"/>
          <p:cNvSpPr/>
          <p:nvPr/>
        </p:nvSpPr>
        <p:spPr>
          <a:xfrm>
            <a:off x="4480560" y="2788920"/>
            <a:ext cx="1097280" cy="658368"/>
          </a:xfrm>
          <a:prstGeom prst="roundRect">
            <a:avLst>
              <a:gd name="adj" fmla="val 8333"/>
            </a:avLst>
          </a:prstGeom>
          <a:solidFill>
            <a:srgbClr val="FBEAEA"/>
          </a:solidFill>
          <a:ln w="12700" cap="flat" cmpd="sng">
            <a:solidFill>
              <a:srgbClr val="E9A9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8"/>
          <p:cNvSpPr txBox="1"/>
          <p:nvPr/>
        </p:nvSpPr>
        <p:spPr>
          <a:xfrm>
            <a:off x="4480560" y="278892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B91C1C"/>
              </a:buClr>
              <a:buSzPts val="1300"/>
              <a:buFont typeface="Calibri"/>
              <a:buNone/>
            </a:pPr>
            <a:r>
              <a:rPr lang="en-US" sz="1300" b="1" i="0" u="none" strike="noStrike" cap="none">
                <a:solidFill>
                  <a:srgbClr val="B91C1C"/>
                </a:solidFill>
                <a:latin typeface="Calibri"/>
                <a:ea typeface="Calibri"/>
                <a:cs typeface="Calibri"/>
                <a:sym typeface="Calibri"/>
              </a:rPr>
              <a:t>✕ masked</a:t>
            </a:r>
            <a:endParaRPr sz="1300" b="0" i="0" u="none" strike="noStrike" cap="none">
              <a:solidFill>
                <a:schemeClr val="dk1"/>
              </a:solidFill>
              <a:latin typeface="Calibri"/>
              <a:ea typeface="Calibri"/>
              <a:cs typeface="Calibri"/>
              <a:sym typeface="Calibri"/>
            </a:endParaRPr>
          </a:p>
        </p:txBody>
      </p:sp>
      <p:sp>
        <p:nvSpPr>
          <p:cNvPr id="1198" name="Google Shape;1198;p38"/>
          <p:cNvSpPr/>
          <p:nvPr/>
        </p:nvSpPr>
        <p:spPr>
          <a:xfrm>
            <a:off x="5669280" y="2788920"/>
            <a:ext cx="1097280" cy="658368"/>
          </a:xfrm>
          <a:prstGeom prst="roundRect">
            <a:avLst>
              <a:gd name="adj" fmla="val 8333"/>
            </a:avLst>
          </a:prstGeom>
          <a:solidFill>
            <a:srgbClr val="FBEAEA"/>
          </a:solidFill>
          <a:ln w="12700" cap="flat" cmpd="sng">
            <a:solidFill>
              <a:srgbClr val="E9A9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8"/>
          <p:cNvSpPr txBox="1"/>
          <p:nvPr/>
        </p:nvSpPr>
        <p:spPr>
          <a:xfrm>
            <a:off x="5669280" y="278892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B91C1C"/>
              </a:buClr>
              <a:buSzPts val="1300"/>
              <a:buFont typeface="Calibri"/>
              <a:buNone/>
            </a:pPr>
            <a:r>
              <a:rPr lang="en-US" sz="1300" b="1" i="0" u="none" strike="noStrike" cap="none">
                <a:solidFill>
                  <a:srgbClr val="B91C1C"/>
                </a:solidFill>
                <a:latin typeface="Calibri"/>
                <a:ea typeface="Calibri"/>
                <a:cs typeface="Calibri"/>
                <a:sym typeface="Calibri"/>
              </a:rPr>
              <a:t>✕ masked</a:t>
            </a:r>
            <a:endParaRPr sz="1300" b="0" i="0" u="none" strike="noStrike" cap="none">
              <a:solidFill>
                <a:schemeClr val="dk1"/>
              </a:solidFill>
              <a:latin typeface="Calibri"/>
              <a:ea typeface="Calibri"/>
              <a:cs typeface="Calibri"/>
              <a:sym typeface="Calibri"/>
            </a:endParaRPr>
          </a:p>
        </p:txBody>
      </p:sp>
      <p:sp>
        <p:nvSpPr>
          <p:cNvPr id="1200" name="Google Shape;1200;p38"/>
          <p:cNvSpPr txBox="1"/>
          <p:nvPr/>
        </p:nvSpPr>
        <p:spPr>
          <a:xfrm>
            <a:off x="457200" y="3520440"/>
            <a:ext cx="1554480" cy="658368"/>
          </a:xfrm>
          <a:prstGeom prst="rect">
            <a:avLst/>
          </a:prstGeom>
          <a:noFill/>
          <a:ln>
            <a:noFill/>
          </a:ln>
        </p:spPr>
        <p:txBody>
          <a:bodyPr spcFirstLastPara="1" wrap="square" lIns="750" tIns="750" rIns="750" bIns="750" anchor="ctr" anchorCtr="0">
            <a:noAutofit/>
          </a:bodyPr>
          <a:lstStyle/>
          <a:p>
            <a:pPr marL="0" marR="0" lvl="0" indent="0" algn="r"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t'aime</a:t>
            </a:r>
            <a:endParaRPr sz="1300" b="0" i="0" u="none" strike="noStrike" cap="none">
              <a:solidFill>
                <a:schemeClr val="dk1"/>
              </a:solidFill>
              <a:latin typeface="Calibri"/>
              <a:ea typeface="Calibri"/>
              <a:cs typeface="Calibri"/>
              <a:sym typeface="Calibri"/>
            </a:endParaRPr>
          </a:p>
        </p:txBody>
      </p:sp>
      <p:sp>
        <p:nvSpPr>
          <p:cNvPr id="1201" name="Google Shape;1201;p38"/>
          <p:cNvSpPr/>
          <p:nvPr/>
        </p:nvSpPr>
        <p:spPr>
          <a:xfrm>
            <a:off x="2103120" y="352044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8"/>
          <p:cNvSpPr txBox="1"/>
          <p:nvPr/>
        </p:nvSpPr>
        <p:spPr>
          <a:xfrm>
            <a:off x="2103120" y="352044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203" name="Google Shape;1203;p38"/>
          <p:cNvSpPr/>
          <p:nvPr/>
        </p:nvSpPr>
        <p:spPr>
          <a:xfrm>
            <a:off x="3291840" y="352044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8"/>
          <p:cNvSpPr txBox="1"/>
          <p:nvPr/>
        </p:nvSpPr>
        <p:spPr>
          <a:xfrm>
            <a:off x="3291840" y="352044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205" name="Google Shape;1205;p38"/>
          <p:cNvSpPr/>
          <p:nvPr/>
        </p:nvSpPr>
        <p:spPr>
          <a:xfrm>
            <a:off x="4480560" y="352044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8"/>
          <p:cNvSpPr txBox="1"/>
          <p:nvPr/>
        </p:nvSpPr>
        <p:spPr>
          <a:xfrm>
            <a:off x="4480560" y="352044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207" name="Google Shape;1207;p38"/>
          <p:cNvSpPr/>
          <p:nvPr/>
        </p:nvSpPr>
        <p:spPr>
          <a:xfrm>
            <a:off x="5669280" y="3520440"/>
            <a:ext cx="1097280" cy="658368"/>
          </a:xfrm>
          <a:prstGeom prst="roundRect">
            <a:avLst>
              <a:gd name="adj" fmla="val 8333"/>
            </a:avLst>
          </a:prstGeom>
          <a:solidFill>
            <a:srgbClr val="FBEAEA"/>
          </a:solidFill>
          <a:ln w="12700" cap="flat" cmpd="sng">
            <a:solidFill>
              <a:srgbClr val="E9A9A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8"/>
          <p:cNvSpPr txBox="1"/>
          <p:nvPr/>
        </p:nvSpPr>
        <p:spPr>
          <a:xfrm>
            <a:off x="5669280" y="352044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B91C1C"/>
              </a:buClr>
              <a:buSzPts val="1300"/>
              <a:buFont typeface="Calibri"/>
              <a:buNone/>
            </a:pPr>
            <a:r>
              <a:rPr lang="en-US" sz="1300" b="1" i="0" u="none" strike="noStrike" cap="none">
                <a:solidFill>
                  <a:srgbClr val="B91C1C"/>
                </a:solidFill>
                <a:latin typeface="Calibri"/>
                <a:ea typeface="Calibri"/>
                <a:cs typeface="Calibri"/>
                <a:sym typeface="Calibri"/>
              </a:rPr>
              <a:t>✕ masked</a:t>
            </a:r>
            <a:endParaRPr sz="1300" b="0" i="0" u="none" strike="noStrike" cap="none">
              <a:solidFill>
                <a:schemeClr val="dk1"/>
              </a:solidFill>
              <a:latin typeface="Calibri"/>
              <a:ea typeface="Calibri"/>
              <a:cs typeface="Calibri"/>
              <a:sym typeface="Calibri"/>
            </a:endParaRPr>
          </a:p>
        </p:txBody>
      </p:sp>
      <p:sp>
        <p:nvSpPr>
          <p:cNvPr id="1209" name="Google Shape;1209;p38"/>
          <p:cNvSpPr txBox="1"/>
          <p:nvPr/>
        </p:nvSpPr>
        <p:spPr>
          <a:xfrm>
            <a:off x="457200" y="4251960"/>
            <a:ext cx="1554480" cy="658368"/>
          </a:xfrm>
          <a:prstGeom prst="rect">
            <a:avLst/>
          </a:prstGeom>
          <a:noFill/>
          <a:ln>
            <a:noFill/>
          </a:ln>
        </p:spPr>
        <p:txBody>
          <a:bodyPr spcFirstLastPara="1" wrap="square" lIns="750" tIns="750" rIns="750" bIns="750" anchor="ctr" anchorCtr="0">
            <a:noAutofit/>
          </a:bodyPr>
          <a:lstStyle/>
          <a:p>
            <a:pPr marL="0" marR="0" lvl="0" indent="0" algn="r"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&lt;EOS&gt;</a:t>
            </a:r>
            <a:endParaRPr sz="1300" b="0" i="0" u="none" strike="noStrike" cap="none">
              <a:solidFill>
                <a:schemeClr val="dk1"/>
              </a:solidFill>
              <a:latin typeface="Calibri"/>
              <a:ea typeface="Calibri"/>
              <a:cs typeface="Calibri"/>
              <a:sym typeface="Calibri"/>
            </a:endParaRPr>
          </a:p>
        </p:txBody>
      </p:sp>
      <p:sp>
        <p:nvSpPr>
          <p:cNvPr id="1210" name="Google Shape;1210;p38"/>
          <p:cNvSpPr/>
          <p:nvPr/>
        </p:nvSpPr>
        <p:spPr>
          <a:xfrm>
            <a:off x="2103120" y="425196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8"/>
          <p:cNvSpPr txBox="1"/>
          <p:nvPr/>
        </p:nvSpPr>
        <p:spPr>
          <a:xfrm>
            <a:off x="2103120" y="425196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212" name="Google Shape;1212;p38"/>
          <p:cNvSpPr/>
          <p:nvPr/>
        </p:nvSpPr>
        <p:spPr>
          <a:xfrm>
            <a:off x="3291840" y="425196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8"/>
          <p:cNvSpPr txBox="1"/>
          <p:nvPr/>
        </p:nvSpPr>
        <p:spPr>
          <a:xfrm>
            <a:off x="3291840" y="425196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214" name="Google Shape;1214;p38"/>
          <p:cNvSpPr/>
          <p:nvPr/>
        </p:nvSpPr>
        <p:spPr>
          <a:xfrm>
            <a:off x="4480560" y="425196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8"/>
          <p:cNvSpPr txBox="1"/>
          <p:nvPr/>
        </p:nvSpPr>
        <p:spPr>
          <a:xfrm>
            <a:off x="4480560" y="425196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216" name="Google Shape;1216;p38"/>
          <p:cNvSpPr/>
          <p:nvPr/>
        </p:nvSpPr>
        <p:spPr>
          <a:xfrm>
            <a:off x="5669280" y="4251960"/>
            <a:ext cx="1097280" cy="658368"/>
          </a:xfrm>
          <a:prstGeom prst="roundRect">
            <a:avLst>
              <a:gd name="adj" fmla="val 8333"/>
            </a:avLst>
          </a:prstGeom>
          <a:solidFill>
            <a:srgbClr val="E7F6EC"/>
          </a:solidFill>
          <a:ln w="12700" cap="flat" cmpd="sng">
            <a:solidFill>
              <a:srgbClr val="86C9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8"/>
          <p:cNvSpPr txBox="1"/>
          <p:nvPr/>
        </p:nvSpPr>
        <p:spPr>
          <a:xfrm>
            <a:off x="5669280" y="4251960"/>
            <a:ext cx="1097280" cy="658368"/>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5803D"/>
              </a:buClr>
              <a:buSzPts val="1300"/>
              <a:buFont typeface="Calibri"/>
              <a:buNone/>
            </a:pPr>
            <a:r>
              <a:rPr lang="en-US" sz="1300" b="1" i="0" u="none" strike="noStrike" cap="none">
                <a:solidFill>
                  <a:srgbClr val="15803D"/>
                </a:solidFill>
                <a:latin typeface="Calibri"/>
                <a:ea typeface="Calibri"/>
                <a:cs typeface="Calibri"/>
                <a:sym typeface="Calibri"/>
              </a:rPr>
              <a:t>✓ attend</a:t>
            </a:r>
            <a:endParaRPr sz="1300" b="0" i="0" u="none" strike="noStrike" cap="none">
              <a:solidFill>
                <a:schemeClr val="dk1"/>
              </a:solidFill>
              <a:latin typeface="Calibri"/>
              <a:ea typeface="Calibri"/>
              <a:cs typeface="Calibri"/>
              <a:sym typeface="Calibri"/>
            </a:endParaRPr>
          </a:p>
        </p:txBody>
      </p:sp>
      <p:sp>
        <p:nvSpPr>
          <p:cNvPr id="1218" name="Google Shape;1218;p38"/>
          <p:cNvSpPr/>
          <p:nvPr/>
        </p:nvSpPr>
        <p:spPr>
          <a:xfrm>
            <a:off x="6995160" y="1508760"/>
            <a:ext cx="4736592" cy="3977640"/>
          </a:xfrm>
          <a:prstGeom prst="roundRect">
            <a:avLst>
              <a:gd name="adj" fmla="val 229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8"/>
          <p:cNvSpPr/>
          <p:nvPr/>
        </p:nvSpPr>
        <p:spPr>
          <a:xfrm>
            <a:off x="7178040" y="1691640"/>
            <a:ext cx="237744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8"/>
          <p:cNvSpPr txBox="1"/>
          <p:nvPr/>
        </p:nvSpPr>
        <p:spPr>
          <a:xfrm>
            <a:off x="7178040" y="1691640"/>
            <a:ext cx="237744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How the mask works</a:t>
            </a:r>
            <a:endParaRPr sz="1200" b="0" i="0" u="none" strike="noStrike" cap="none">
              <a:solidFill>
                <a:schemeClr val="dk1"/>
              </a:solidFill>
              <a:latin typeface="Calibri"/>
              <a:ea typeface="Calibri"/>
              <a:cs typeface="Calibri"/>
              <a:sym typeface="Calibri"/>
            </a:endParaRPr>
          </a:p>
        </p:txBody>
      </p:sp>
      <p:sp>
        <p:nvSpPr>
          <p:cNvPr id="1221" name="Google Shape;1221;p38"/>
          <p:cNvSpPr/>
          <p:nvPr/>
        </p:nvSpPr>
        <p:spPr>
          <a:xfrm>
            <a:off x="7178040" y="2148840"/>
            <a:ext cx="4370832" cy="502920"/>
          </a:xfrm>
          <a:prstGeom prst="roundRect">
            <a:avLst>
              <a:gd name="adj" fmla="val 10909"/>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22" name="Google Shape;1222;p38" descr="Equation"/>
          <p:cNvPicPr preferRelativeResize="0"/>
          <p:nvPr/>
        </p:nvPicPr>
        <p:blipFill rotWithShape="1">
          <a:blip r:embed="rId3">
            <a:alphaModFix/>
          </a:blip>
          <a:srcRect/>
          <a:stretch/>
        </p:blipFill>
        <p:spPr>
          <a:xfrm>
            <a:off x="8179613" y="2268626"/>
            <a:ext cx="2367686" cy="263347"/>
          </a:xfrm>
          <a:prstGeom prst="rect">
            <a:avLst/>
          </a:prstGeom>
          <a:noFill/>
          <a:ln>
            <a:noFill/>
          </a:ln>
        </p:spPr>
      </p:pic>
      <p:sp>
        <p:nvSpPr>
          <p:cNvPr id="1223" name="Google Shape;1223;p38"/>
          <p:cNvSpPr txBox="1"/>
          <p:nvPr/>
        </p:nvSpPr>
        <p:spPr>
          <a:xfrm>
            <a:off x="7178040" y="2743200"/>
            <a:ext cx="4370832" cy="2651760"/>
          </a:xfrm>
          <a:prstGeom prst="rect">
            <a:avLst/>
          </a:prstGeom>
          <a:noFill/>
          <a:ln>
            <a:noFill/>
          </a:ln>
        </p:spPr>
        <p:txBody>
          <a:bodyPr spcFirstLastPara="1" wrap="square" lIns="750" tIns="750" rIns="750" bIns="750" anchor="t" anchorCtr="0">
            <a:noAutofit/>
          </a:bodyPr>
          <a:lstStyle/>
          <a:p>
            <a:pPr marL="177800" marR="0" lvl="0" indent="-177800" algn="l" rtl="0">
              <a:spcBef>
                <a:spcPts val="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softmax(−∞) = 0, so future tokens get </a:t>
            </a:r>
            <a:r>
              <a:rPr lang="en-US" sz="1400" b="1" i="0" u="none" strike="noStrike" cap="none">
                <a:solidFill>
                  <a:srgbClr val="334155"/>
                </a:solidFill>
                <a:latin typeface="Calibri"/>
                <a:ea typeface="Calibri"/>
                <a:cs typeface="Calibri"/>
                <a:sym typeface="Calibri"/>
              </a:rPr>
              <a:t>exactly zero</a:t>
            </a:r>
            <a:r>
              <a:rPr lang="en-US" sz="1400" b="0" i="0" u="none" strike="noStrike" cap="none">
                <a:solidFill>
                  <a:srgbClr val="334155"/>
                </a:solidFill>
                <a:latin typeface="Calibri"/>
                <a:ea typeface="Calibri"/>
                <a:cs typeface="Calibri"/>
                <a:sym typeface="Calibri"/>
              </a:rPr>
              <a:t> weight</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Lets us train on the whole sentence </a:t>
            </a:r>
            <a:r>
              <a:rPr lang="en-US" sz="1400" b="1" i="0" u="none" strike="noStrike" cap="none">
                <a:solidFill>
                  <a:srgbClr val="334155"/>
                </a:solidFill>
                <a:latin typeface="Calibri"/>
                <a:ea typeface="Calibri"/>
                <a:cs typeface="Calibri"/>
                <a:sym typeface="Calibri"/>
              </a:rPr>
              <a:t>in parallel</a:t>
            </a:r>
            <a:r>
              <a:rPr lang="en-US" sz="1400" b="0" i="0" u="none" strike="noStrike" cap="none">
                <a:solidFill>
                  <a:srgbClr val="334155"/>
                </a:solidFill>
                <a:latin typeface="Calibri"/>
                <a:ea typeface="Calibri"/>
                <a:cs typeface="Calibri"/>
                <a:sym typeface="Calibri"/>
              </a:rPr>
              <a:t> without cheating</a:t>
            </a:r>
            <a:endParaRPr sz="1400" b="0" i="0" u="none" strike="noStrike" cap="none">
              <a:solidFill>
                <a:schemeClr val="dk1"/>
              </a:solidFill>
              <a:latin typeface="Calibri"/>
              <a:ea typeface="Calibri"/>
              <a:cs typeface="Calibri"/>
              <a:sym typeface="Calibri"/>
            </a:endParaRPr>
          </a:p>
          <a:p>
            <a:pPr marL="177800" marR="0" lvl="0" indent="-177800" algn="l" rtl="0">
              <a:spcBef>
                <a:spcPts val="300"/>
              </a:spcBef>
              <a:spcAft>
                <a:spcPts val="0"/>
              </a:spcAft>
              <a:buClr>
                <a:srgbClr val="334155"/>
              </a:buClr>
              <a:buSzPts val="1400"/>
              <a:buFont typeface="Calibri"/>
              <a:buChar char="•"/>
            </a:pPr>
            <a:r>
              <a:rPr lang="en-US" sz="1400" b="0" i="0" u="none" strike="noStrike" cap="none">
                <a:solidFill>
                  <a:srgbClr val="334155"/>
                </a:solidFill>
                <a:latin typeface="Calibri"/>
                <a:ea typeface="Calibri"/>
                <a:cs typeface="Calibri"/>
                <a:sym typeface="Calibri"/>
              </a:rPr>
              <a:t>At inference there is no future anyway, but the same rule keeps training and generation consistent</a:t>
            </a:r>
            <a:endParaRPr sz="1400" b="0" i="0" u="none" strike="noStrike" cap="none">
              <a:solidFill>
                <a:schemeClr val="dk1"/>
              </a:solidFill>
              <a:latin typeface="Calibri"/>
              <a:ea typeface="Calibri"/>
              <a:cs typeface="Calibri"/>
              <a:sym typeface="Calibri"/>
            </a:endParaRPr>
          </a:p>
        </p:txBody>
      </p:sp>
      <p:sp>
        <p:nvSpPr>
          <p:cNvPr id="1224" name="Google Shape;1224;p38"/>
          <p:cNvSpPr/>
          <p:nvPr/>
        </p:nvSpPr>
        <p:spPr>
          <a:xfrm>
            <a:off x="457200" y="5669280"/>
            <a:ext cx="11277295" cy="658368"/>
          </a:xfrm>
          <a:prstGeom prst="roundRect">
            <a:avLst>
              <a:gd name="adj" fmla="val 8333"/>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8"/>
          <p:cNvSpPr txBox="1"/>
          <p:nvPr/>
        </p:nvSpPr>
        <p:spPr>
          <a:xfrm>
            <a:off x="594360" y="5705856"/>
            <a:ext cx="11002975" cy="58521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Real world:  </a:t>
            </a:r>
            <a:r>
              <a:rPr lang="en-US" sz="1400" b="0" i="1" u="none" strike="noStrike" cap="none">
                <a:solidFill>
                  <a:srgbClr val="7C3E0A"/>
                </a:solidFill>
                <a:latin typeface="Calibri"/>
                <a:ea typeface="Calibri"/>
                <a:cs typeface="Calibri"/>
                <a:sym typeface="Calibri"/>
              </a:rPr>
              <a:t>your phone's keyboard suggests the next word using only what you've already typed. A model trained with the answer visible would fail the moment it had to predict for real.</a:t>
            </a:r>
            <a:endParaRPr sz="1400" b="0" i="0" u="none" strike="noStrike" cap="none">
              <a:solidFill>
                <a:schemeClr val="dk1"/>
              </a:solidFill>
              <a:latin typeface="Calibri"/>
              <a:ea typeface="Calibri"/>
              <a:cs typeface="Calibri"/>
              <a:sym typeface="Calibri"/>
            </a:endParaRPr>
          </a:p>
        </p:txBody>
      </p:sp>
      <p:sp>
        <p:nvSpPr>
          <p:cNvPr id="1226" name="Google Shape;1226;p38"/>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22</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39"/>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Cross-Attention: The Bridge Between Encoder and Decoder</a:t>
            </a:r>
            <a:endParaRPr sz="3000"/>
          </a:p>
        </p:txBody>
      </p:sp>
      <p:sp>
        <p:nvSpPr>
          <p:cNvPr id="1233" name="Google Shape;1233;p39"/>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Q comes from the decoder; K and V come from the encoder</a:t>
            </a:r>
            <a:endParaRPr sz="1500"/>
          </a:p>
        </p:txBody>
      </p:sp>
      <p:sp>
        <p:nvSpPr>
          <p:cNvPr id="1234" name="Google Shape;1234;p39"/>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5 · THE DECODER</a:t>
            </a:r>
            <a:endParaRPr sz="1000" b="0" i="0" u="none" strike="noStrike" cap="none">
              <a:solidFill>
                <a:schemeClr val="dk1"/>
              </a:solidFill>
              <a:latin typeface="Calibri"/>
              <a:ea typeface="Calibri"/>
              <a:cs typeface="Calibri"/>
              <a:sym typeface="Calibri"/>
            </a:endParaRPr>
          </a:p>
        </p:txBody>
      </p:sp>
      <p:sp>
        <p:nvSpPr>
          <p:cNvPr id="1235" name="Google Shape;1235;p39"/>
          <p:cNvSpPr/>
          <p:nvPr/>
        </p:nvSpPr>
        <p:spPr>
          <a:xfrm>
            <a:off x="640080" y="1691640"/>
            <a:ext cx="1417320" cy="1417320"/>
          </a:xfrm>
          <a:prstGeom prst="ellipse">
            <a:avLst/>
          </a:prstGeom>
          <a:solidFill>
            <a:srgbClr val="E8EEFC"/>
          </a:solidFill>
          <a:ln w="25400"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9"/>
          <p:cNvSpPr txBox="1"/>
          <p:nvPr/>
        </p:nvSpPr>
        <p:spPr>
          <a:xfrm>
            <a:off x="640080" y="1691640"/>
            <a:ext cx="1417320" cy="141732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D4ED8"/>
              </a:buClr>
              <a:buSzPts val="3600"/>
              <a:buFont typeface="Calibri"/>
              <a:buNone/>
            </a:pPr>
            <a:r>
              <a:rPr lang="en-US" sz="3600" b="1" i="0" u="none" strike="noStrike" cap="none">
                <a:solidFill>
                  <a:srgbClr val="1D4ED8"/>
                </a:solidFill>
                <a:latin typeface="Calibri"/>
                <a:ea typeface="Calibri"/>
                <a:cs typeface="Calibri"/>
                <a:sym typeface="Calibri"/>
              </a:rPr>
              <a:t>Q</a:t>
            </a:r>
            <a:endParaRPr sz="3600" b="0" i="0" u="none" strike="noStrike" cap="none">
              <a:solidFill>
                <a:schemeClr val="dk1"/>
              </a:solidFill>
              <a:latin typeface="Calibri"/>
              <a:ea typeface="Calibri"/>
              <a:cs typeface="Calibri"/>
              <a:sym typeface="Calibri"/>
            </a:endParaRPr>
          </a:p>
        </p:txBody>
      </p:sp>
      <p:sp>
        <p:nvSpPr>
          <p:cNvPr id="1237" name="Google Shape;1237;p39"/>
          <p:cNvSpPr txBox="1"/>
          <p:nvPr/>
        </p:nvSpPr>
        <p:spPr>
          <a:xfrm>
            <a:off x="457200" y="3200400"/>
            <a:ext cx="1783080" cy="64008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Query</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from the decoder</a:t>
            </a:r>
            <a:endParaRPr sz="1400" b="0" i="0" u="none" strike="noStrike" cap="none">
              <a:solidFill>
                <a:schemeClr val="dk1"/>
              </a:solidFill>
              <a:latin typeface="Calibri"/>
              <a:ea typeface="Calibri"/>
              <a:cs typeface="Calibri"/>
              <a:sym typeface="Calibri"/>
            </a:endParaRPr>
          </a:p>
        </p:txBody>
      </p:sp>
      <p:sp>
        <p:nvSpPr>
          <p:cNvPr id="1238" name="Google Shape;1238;p39"/>
          <p:cNvSpPr/>
          <p:nvPr/>
        </p:nvSpPr>
        <p:spPr>
          <a:xfrm>
            <a:off x="2468880" y="1691640"/>
            <a:ext cx="1417320" cy="1417320"/>
          </a:xfrm>
          <a:prstGeom prst="ellipse">
            <a:avLst/>
          </a:prstGeom>
          <a:solidFill>
            <a:srgbClr val="F1ECFD"/>
          </a:solidFill>
          <a:ln w="25400"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9"/>
          <p:cNvSpPr txBox="1"/>
          <p:nvPr/>
        </p:nvSpPr>
        <p:spPr>
          <a:xfrm>
            <a:off x="2468880" y="1691640"/>
            <a:ext cx="1417320" cy="141732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6D28D9"/>
              </a:buClr>
              <a:buSzPts val="3600"/>
              <a:buFont typeface="Calibri"/>
              <a:buNone/>
            </a:pPr>
            <a:r>
              <a:rPr lang="en-US" sz="3600" b="1" i="0" u="none" strike="noStrike" cap="none">
                <a:solidFill>
                  <a:srgbClr val="6D28D9"/>
                </a:solidFill>
                <a:latin typeface="Calibri"/>
                <a:ea typeface="Calibri"/>
                <a:cs typeface="Calibri"/>
                <a:sym typeface="Calibri"/>
              </a:rPr>
              <a:t>K</a:t>
            </a:r>
            <a:endParaRPr sz="3600" b="0" i="0" u="none" strike="noStrike" cap="none">
              <a:solidFill>
                <a:schemeClr val="dk1"/>
              </a:solidFill>
              <a:latin typeface="Calibri"/>
              <a:ea typeface="Calibri"/>
              <a:cs typeface="Calibri"/>
              <a:sym typeface="Calibri"/>
            </a:endParaRPr>
          </a:p>
        </p:txBody>
      </p:sp>
      <p:sp>
        <p:nvSpPr>
          <p:cNvPr id="1240" name="Google Shape;1240;p39"/>
          <p:cNvSpPr txBox="1"/>
          <p:nvPr/>
        </p:nvSpPr>
        <p:spPr>
          <a:xfrm>
            <a:off x="2286000" y="3200400"/>
            <a:ext cx="1783080" cy="64008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Key</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from the encoder</a:t>
            </a:r>
            <a:endParaRPr sz="1400" b="0" i="0" u="none" strike="noStrike" cap="none">
              <a:solidFill>
                <a:schemeClr val="dk1"/>
              </a:solidFill>
              <a:latin typeface="Calibri"/>
              <a:ea typeface="Calibri"/>
              <a:cs typeface="Calibri"/>
              <a:sym typeface="Calibri"/>
            </a:endParaRPr>
          </a:p>
        </p:txBody>
      </p:sp>
      <p:sp>
        <p:nvSpPr>
          <p:cNvPr id="1241" name="Google Shape;1241;p39"/>
          <p:cNvSpPr/>
          <p:nvPr/>
        </p:nvSpPr>
        <p:spPr>
          <a:xfrm>
            <a:off x="4297680" y="1691640"/>
            <a:ext cx="1417320" cy="1417320"/>
          </a:xfrm>
          <a:prstGeom prst="ellipse">
            <a:avLst/>
          </a:prstGeom>
          <a:solidFill>
            <a:srgbClr val="E6F4F1"/>
          </a:solidFill>
          <a:ln w="25400"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9"/>
          <p:cNvSpPr txBox="1"/>
          <p:nvPr/>
        </p:nvSpPr>
        <p:spPr>
          <a:xfrm>
            <a:off x="4297680" y="1691640"/>
            <a:ext cx="1417320" cy="141732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0F766E"/>
              </a:buClr>
              <a:buSzPts val="3600"/>
              <a:buFont typeface="Calibri"/>
              <a:buNone/>
            </a:pPr>
            <a:r>
              <a:rPr lang="en-US" sz="3600" b="1" i="0" u="none" strike="noStrike" cap="none">
                <a:solidFill>
                  <a:srgbClr val="0F766E"/>
                </a:solidFill>
                <a:latin typeface="Calibri"/>
                <a:ea typeface="Calibri"/>
                <a:cs typeface="Calibri"/>
                <a:sym typeface="Calibri"/>
              </a:rPr>
              <a:t>V</a:t>
            </a:r>
            <a:endParaRPr sz="3600" b="0" i="0" u="none" strike="noStrike" cap="none">
              <a:solidFill>
                <a:schemeClr val="dk1"/>
              </a:solidFill>
              <a:latin typeface="Calibri"/>
              <a:ea typeface="Calibri"/>
              <a:cs typeface="Calibri"/>
              <a:sym typeface="Calibri"/>
            </a:endParaRPr>
          </a:p>
        </p:txBody>
      </p:sp>
      <p:sp>
        <p:nvSpPr>
          <p:cNvPr id="1243" name="Google Shape;1243;p39"/>
          <p:cNvSpPr txBox="1"/>
          <p:nvPr/>
        </p:nvSpPr>
        <p:spPr>
          <a:xfrm>
            <a:off x="4114800" y="3200400"/>
            <a:ext cx="1783080" cy="64008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Value</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from the encoder</a:t>
            </a:r>
            <a:endParaRPr sz="1400" b="0" i="0" u="none" strike="noStrike" cap="none">
              <a:solidFill>
                <a:schemeClr val="dk1"/>
              </a:solidFill>
              <a:latin typeface="Calibri"/>
              <a:ea typeface="Calibri"/>
              <a:cs typeface="Calibri"/>
              <a:sym typeface="Calibri"/>
            </a:endParaRPr>
          </a:p>
        </p:txBody>
      </p:sp>
      <p:sp>
        <p:nvSpPr>
          <p:cNvPr id="1244" name="Google Shape;1244;p39"/>
          <p:cNvSpPr/>
          <p:nvPr/>
        </p:nvSpPr>
        <p:spPr>
          <a:xfrm>
            <a:off x="640080" y="3977640"/>
            <a:ext cx="5074920" cy="658368"/>
          </a:xfrm>
          <a:prstGeom prst="roundRect">
            <a:avLst>
              <a:gd name="adj" fmla="val 8333"/>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45" name="Google Shape;1245;p39" descr="Equation"/>
          <p:cNvPicPr preferRelativeResize="0"/>
          <p:nvPr/>
        </p:nvPicPr>
        <p:blipFill rotWithShape="1">
          <a:blip r:embed="rId3">
            <a:alphaModFix/>
          </a:blip>
          <a:srcRect/>
          <a:stretch/>
        </p:blipFill>
        <p:spPr>
          <a:xfrm>
            <a:off x="1430426" y="4025189"/>
            <a:ext cx="3494227" cy="563270"/>
          </a:xfrm>
          <a:prstGeom prst="rect">
            <a:avLst/>
          </a:prstGeom>
          <a:noFill/>
          <a:ln>
            <a:noFill/>
          </a:ln>
        </p:spPr>
      </p:pic>
      <p:sp>
        <p:nvSpPr>
          <p:cNvPr id="1246" name="Google Shape;1246;p39"/>
          <p:cNvSpPr txBox="1"/>
          <p:nvPr/>
        </p:nvSpPr>
        <p:spPr>
          <a:xfrm>
            <a:off x="640080" y="4663440"/>
            <a:ext cx="5074920"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400"/>
              <a:buFont typeface="Calibri"/>
              <a:buNone/>
            </a:pPr>
            <a:r>
              <a:rPr lang="en-US" sz="1400" b="0" i="1" u="none" strike="noStrike" cap="none">
                <a:solidFill>
                  <a:srgbClr val="64748B"/>
                </a:solidFill>
                <a:latin typeface="Calibri"/>
                <a:ea typeface="Calibri"/>
                <a:cs typeface="Calibri"/>
                <a:sym typeface="Calibri"/>
              </a:rPr>
              <a:t>Same formula as self-attention; only the sources of Q, K and V change.</a:t>
            </a:r>
            <a:endParaRPr sz="1400" b="0" i="0" u="none" strike="noStrike" cap="none">
              <a:solidFill>
                <a:schemeClr val="dk1"/>
              </a:solidFill>
              <a:latin typeface="Calibri"/>
              <a:ea typeface="Calibri"/>
              <a:cs typeface="Calibri"/>
              <a:sym typeface="Calibri"/>
            </a:endParaRPr>
          </a:p>
        </p:txBody>
      </p:sp>
      <p:sp>
        <p:nvSpPr>
          <p:cNvPr id="1247" name="Google Shape;1247;p39"/>
          <p:cNvSpPr/>
          <p:nvPr/>
        </p:nvSpPr>
        <p:spPr>
          <a:xfrm>
            <a:off x="6035040" y="1508760"/>
            <a:ext cx="5696712" cy="3749040"/>
          </a:xfrm>
          <a:prstGeom prst="roundRect">
            <a:avLst>
              <a:gd name="adj" fmla="val 243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9"/>
          <p:cNvSpPr txBox="1"/>
          <p:nvPr/>
        </p:nvSpPr>
        <p:spPr>
          <a:xfrm>
            <a:off x="6217920" y="1645920"/>
            <a:ext cx="5349240"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EN: “The cat sat on the mat.”  →  FR: “Le chat s'est assis sur le tapis.”</a:t>
            </a:r>
            <a:endParaRPr sz="1400" b="0" i="0" u="none" strike="noStrike" cap="none">
              <a:solidFill>
                <a:schemeClr val="dk1"/>
              </a:solidFill>
              <a:latin typeface="Calibri"/>
              <a:ea typeface="Calibri"/>
              <a:cs typeface="Calibri"/>
              <a:sym typeface="Calibri"/>
            </a:endParaRPr>
          </a:p>
        </p:txBody>
      </p:sp>
      <p:sp>
        <p:nvSpPr>
          <p:cNvPr id="1249" name="Google Shape;1249;p39"/>
          <p:cNvSpPr/>
          <p:nvPr/>
        </p:nvSpPr>
        <p:spPr>
          <a:xfrm>
            <a:off x="6217920" y="2423160"/>
            <a:ext cx="402336" cy="402336"/>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9"/>
          <p:cNvSpPr txBox="1"/>
          <p:nvPr/>
        </p:nvSpPr>
        <p:spPr>
          <a:xfrm>
            <a:off x="6217920" y="242316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251" name="Google Shape;1251;p39"/>
          <p:cNvSpPr txBox="1"/>
          <p:nvPr/>
        </p:nvSpPr>
        <p:spPr>
          <a:xfrm>
            <a:off x="6766560" y="2286000"/>
            <a:ext cx="4800600"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D4ED8"/>
              </a:buClr>
              <a:buSzPts val="1400"/>
              <a:buFont typeface="Calibri"/>
              <a:buNone/>
            </a:pPr>
            <a:r>
              <a:rPr lang="en-US" sz="1400" b="1" i="0" u="none" strike="noStrike" cap="none">
                <a:solidFill>
                  <a:srgbClr val="1D4ED8"/>
                </a:solidFill>
                <a:latin typeface="Calibri"/>
                <a:ea typeface="Calibri"/>
                <a:cs typeface="Calibri"/>
                <a:sym typeface="Calibri"/>
              </a:rPr>
              <a:t>Query</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Decoder token “chat” asks: which source words do I need?</a:t>
            </a:r>
            <a:endParaRPr sz="1400" b="0" i="0" u="none" strike="noStrike" cap="none">
              <a:solidFill>
                <a:schemeClr val="dk1"/>
              </a:solidFill>
              <a:latin typeface="Calibri"/>
              <a:ea typeface="Calibri"/>
              <a:cs typeface="Calibri"/>
              <a:sym typeface="Calibri"/>
            </a:endParaRPr>
          </a:p>
        </p:txBody>
      </p:sp>
      <p:sp>
        <p:nvSpPr>
          <p:cNvPr id="1252" name="Google Shape;1252;p39"/>
          <p:cNvSpPr/>
          <p:nvPr/>
        </p:nvSpPr>
        <p:spPr>
          <a:xfrm>
            <a:off x="6217920" y="3383280"/>
            <a:ext cx="402336" cy="402336"/>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9"/>
          <p:cNvSpPr txBox="1"/>
          <p:nvPr/>
        </p:nvSpPr>
        <p:spPr>
          <a:xfrm>
            <a:off x="6217920" y="33832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254" name="Google Shape;1254;p39"/>
          <p:cNvSpPr txBox="1"/>
          <p:nvPr/>
        </p:nvSpPr>
        <p:spPr>
          <a:xfrm>
            <a:off x="6766560" y="3246120"/>
            <a:ext cx="4800600"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D28D9"/>
              </a:buClr>
              <a:buSzPts val="1400"/>
              <a:buFont typeface="Calibri"/>
              <a:buNone/>
            </a:pPr>
            <a:r>
              <a:rPr lang="en-US" sz="1400" b="1" i="0" u="none" strike="noStrike" cap="none">
                <a:solidFill>
                  <a:srgbClr val="6D28D9"/>
                </a:solidFill>
                <a:latin typeface="Calibri"/>
                <a:ea typeface="Calibri"/>
                <a:cs typeface="Calibri"/>
                <a:sym typeface="Calibri"/>
              </a:rPr>
              <a:t>Match</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Score that query against every encoder key.</a:t>
            </a:r>
            <a:endParaRPr sz="1400" b="0" i="0" u="none" strike="noStrike" cap="none">
              <a:solidFill>
                <a:schemeClr val="dk1"/>
              </a:solidFill>
              <a:latin typeface="Calibri"/>
              <a:ea typeface="Calibri"/>
              <a:cs typeface="Calibri"/>
              <a:sym typeface="Calibri"/>
            </a:endParaRPr>
          </a:p>
        </p:txBody>
      </p:sp>
      <p:sp>
        <p:nvSpPr>
          <p:cNvPr id="1255" name="Google Shape;1255;p39"/>
          <p:cNvSpPr/>
          <p:nvPr/>
        </p:nvSpPr>
        <p:spPr>
          <a:xfrm>
            <a:off x="6217920" y="4343400"/>
            <a:ext cx="402336" cy="402336"/>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9"/>
          <p:cNvSpPr txBox="1"/>
          <p:nvPr/>
        </p:nvSpPr>
        <p:spPr>
          <a:xfrm>
            <a:off x="6217920" y="434340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257" name="Google Shape;1257;p39"/>
          <p:cNvSpPr txBox="1"/>
          <p:nvPr/>
        </p:nvSpPr>
        <p:spPr>
          <a:xfrm>
            <a:off x="6766560" y="4206240"/>
            <a:ext cx="4800600"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Aggregate</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Weighted sum of encoder values: mostly the meaning of “cat”.</a:t>
            </a:r>
            <a:endParaRPr sz="1400" b="0" i="0" u="none" strike="noStrike" cap="none">
              <a:solidFill>
                <a:schemeClr val="dk1"/>
              </a:solidFill>
              <a:latin typeface="Calibri"/>
              <a:ea typeface="Calibri"/>
              <a:cs typeface="Calibri"/>
              <a:sym typeface="Calibri"/>
            </a:endParaRPr>
          </a:p>
        </p:txBody>
      </p:sp>
      <p:sp>
        <p:nvSpPr>
          <p:cNvPr id="1258" name="Google Shape;1258;p39"/>
          <p:cNvSpPr/>
          <p:nvPr/>
        </p:nvSpPr>
        <p:spPr>
          <a:xfrm>
            <a:off x="457200" y="5486400"/>
            <a:ext cx="11277295" cy="713232"/>
          </a:xfrm>
          <a:prstGeom prst="roundRect">
            <a:avLst>
              <a:gd name="adj" fmla="val 7692"/>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9"/>
          <p:cNvSpPr txBox="1"/>
          <p:nvPr/>
        </p:nvSpPr>
        <p:spPr>
          <a:xfrm>
            <a:off x="594360" y="5522976"/>
            <a:ext cx="11002975"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Real world:  </a:t>
            </a:r>
            <a:r>
              <a:rPr lang="en-US" sz="1400" b="0" i="1" u="none" strike="noStrike" cap="none">
                <a:solidFill>
                  <a:srgbClr val="7C3E0A"/>
                </a:solidFill>
                <a:latin typeface="Calibri"/>
                <a:ea typeface="Calibri"/>
                <a:cs typeface="Calibri"/>
                <a:sym typeface="Calibri"/>
              </a:rPr>
              <a:t>a live interpreter at a UN session listens to the speaker (encoder) while producing the translation (decoder), constantly checking which part of the speech they are translating.</a:t>
            </a:r>
            <a:endParaRPr sz="1400" b="0" i="0" u="none" strike="noStrike" cap="none">
              <a:solidFill>
                <a:schemeClr val="dk1"/>
              </a:solidFill>
              <a:latin typeface="Calibri"/>
              <a:ea typeface="Calibri"/>
              <a:cs typeface="Calibri"/>
              <a:sym typeface="Calibri"/>
            </a:endParaRPr>
          </a:p>
        </p:txBody>
      </p:sp>
      <p:sp>
        <p:nvSpPr>
          <p:cNvPr id="1260" name="Google Shape;1260;p39"/>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23</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40"/>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Cross-Attention as a Matrix</a:t>
            </a:r>
            <a:endParaRPr sz="3000"/>
          </a:p>
        </p:txBody>
      </p:sp>
      <p:sp>
        <p:nvSpPr>
          <p:cNvPr id="1267" name="Google Shape;1267;p40"/>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Each French word (row) spreads its attention over the English words (columns)</a:t>
            </a:r>
            <a:endParaRPr sz="1500"/>
          </a:p>
        </p:txBody>
      </p:sp>
      <p:sp>
        <p:nvSpPr>
          <p:cNvPr id="1268" name="Google Shape;1268;p40"/>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5 · THE DECODER</a:t>
            </a:r>
            <a:endParaRPr sz="1000" b="0" i="0" u="none" strike="noStrike" cap="none">
              <a:solidFill>
                <a:schemeClr val="dk1"/>
              </a:solidFill>
              <a:latin typeface="Calibri"/>
              <a:ea typeface="Calibri"/>
              <a:cs typeface="Calibri"/>
              <a:sym typeface="Calibri"/>
            </a:endParaRPr>
          </a:p>
        </p:txBody>
      </p:sp>
      <p:graphicFrame>
        <p:nvGraphicFramePr>
          <p:cNvPr id="1269" name="Google Shape;1269;p40"/>
          <p:cNvGraphicFramePr/>
          <p:nvPr/>
        </p:nvGraphicFramePr>
        <p:xfrm>
          <a:off x="457200" y="1554480"/>
          <a:ext cx="6035050" cy="3401550"/>
        </p:xfrm>
        <a:graphic>
          <a:graphicData uri="http://schemas.openxmlformats.org/drawingml/2006/table">
            <a:tbl>
              <a:tblPr>
                <a:noFill/>
                <a:tableStyleId>{0C125456-CB15-484E-AA9C-68C207211CB5}</a:tableStyleId>
              </a:tblPr>
              <a:tblGrid>
                <a:gridCol w="146305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566925">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FR ↓  /  EN →</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cat</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sat</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on</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the</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mat</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566925">
                <a:tc>
                  <a:txBody>
                    <a:bodyPr/>
                    <a:lstStyle/>
                    <a:p>
                      <a:pPr marL="0" marR="0" lvl="0" indent="0" algn="ctr"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chat</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0.60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D4ED8"/>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extLst>
                  <a:ext uri="{0D108BD9-81ED-4DB2-BD59-A6C34878D82A}">
                    <a16:rowId xmlns:a16="http://schemas.microsoft.com/office/drawing/2014/main" val="10001"/>
                  </a:ext>
                </a:extLst>
              </a:tr>
              <a:tr h="566925">
                <a:tc>
                  <a:txBody>
                    <a:bodyPr/>
                    <a:lstStyle/>
                    <a:p>
                      <a:pPr marL="0" marR="0" lvl="0" indent="0" algn="ctr"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assis</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0.70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D4ED8"/>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0.05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3FD"/>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0.05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3FD"/>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extLst>
                  <a:ext uri="{0D108BD9-81ED-4DB2-BD59-A6C34878D82A}">
                    <a16:rowId xmlns:a16="http://schemas.microsoft.com/office/drawing/2014/main" val="10002"/>
                  </a:ext>
                </a:extLst>
              </a:tr>
              <a:tr h="566925">
                <a:tc>
                  <a:txBody>
                    <a:bodyPr/>
                    <a:lstStyle/>
                    <a:p>
                      <a:pPr marL="0" marR="0" lvl="0" indent="0" algn="ctr"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sur</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0.60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D4ED8"/>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extLst>
                  <a:ext uri="{0D108BD9-81ED-4DB2-BD59-A6C34878D82A}">
                    <a16:rowId xmlns:a16="http://schemas.microsoft.com/office/drawing/2014/main" val="10003"/>
                  </a:ext>
                </a:extLst>
              </a:tr>
              <a:tr h="566925">
                <a:tc>
                  <a:txBody>
                    <a:bodyPr/>
                    <a:lstStyle/>
                    <a:p>
                      <a:pPr marL="0" marR="0" lvl="0" indent="0" algn="ctr"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le</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0.05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3FD"/>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0.05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3FD"/>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0.65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D4ED8"/>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0.15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6E2FB"/>
                    </a:solidFill>
                  </a:tcPr>
                </a:tc>
                <a:extLst>
                  <a:ext uri="{0D108BD9-81ED-4DB2-BD59-A6C34878D82A}">
                    <a16:rowId xmlns:a16="http://schemas.microsoft.com/office/drawing/2014/main" val="10004"/>
                  </a:ext>
                </a:extLst>
              </a:tr>
              <a:tr h="566925">
                <a:tc>
                  <a:txBody>
                    <a:bodyPr/>
                    <a:lstStyle/>
                    <a:p>
                      <a:pPr marL="0" marR="0" lvl="0" indent="0" algn="ctr"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tapis</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0.05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3FD"/>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0.20</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3B4F5"/>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0.05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3FD"/>
                    </a:solidFill>
                  </a:tcPr>
                </a:tc>
                <a:tc>
                  <a:txBody>
                    <a:bodyPr/>
                    <a:lstStyle/>
                    <a:p>
                      <a:pPr marL="0" marR="0" lvl="0" indent="0" algn="ctr" rtl="0">
                        <a:spcBef>
                          <a:spcPts val="0"/>
                        </a:spcBef>
                        <a:spcAft>
                          <a:spcPts val="0"/>
                        </a:spcAft>
                        <a:buClr>
                          <a:srgbClr val="1E293B"/>
                        </a:buClr>
                        <a:buSzPts val="1400"/>
                        <a:buFont typeface="Calibri"/>
                        <a:buNone/>
                      </a:pPr>
                      <a:r>
                        <a:rPr lang="en-US" sz="1400" u="none" strike="noStrike" cap="none">
                          <a:solidFill>
                            <a:srgbClr val="1E293B"/>
                          </a:solidFill>
                          <a:latin typeface="Calibri"/>
                          <a:ea typeface="Calibri"/>
                          <a:cs typeface="Calibri"/>
                          <a:sym typeface="Calibri"/>
                        </a:rPr>
                        <a:t>0.05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3FD"/>
                    </a:solidFill>
                  </a:tcP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0.65</a:t>
                      </a:r>
                      <a:endParaRPr sz="1400" u="none" strike="noStrike" cap="none">
                        <a:latin typeface="Calibri"/>
                        <a:ea typeface="Calibri"/>
                        <a:cs typeface="Calibri"/>
                        <a:sym typeface="Calibri"/>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1D4ED8"/>
                    </a:solidFill>
                  </a:tcPr>
                </a:tc>
                <a:extLst>
                  <a:ext uri="{0D108BD9-81ED-4DB2-BD59-A6C34878D82A}">
                    <a16:rowId xmlns:a16="http://schemas.microsoft.com/office/drawing/2014/main" val="10005"/>
                  </a:ext>
                </a:extLst>
              </a:tr>
            </a:tbl>
          </a:graphicData>
        </a:graphic>
      </p:graphicFrame>
      <p:sp>
        <p:nvSpPr>
          <p:cNvPr id="1270" name="Google Shape;1270;p40"/>
          <p:cNvSpPr txBox="1"/>
          <p:nvPr/>
        </p:nvSpPr>
        <p:spPr>
          <a:xfrm>
            <a:off x="457200" y="5029200"/>
            <a:ext cx="6035040" cy="32004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64748B"/>
              </a:buClr>
              <a:buSzPts val="1200"/>
              <a:buFont typeface="Calibri"/>
              <a:buNone/>
            </a:pPr>
            <a:r>
              <a:rPr lang="en-US" sz="1200" b="0" i="1" u="none" strike="noStrike" cap="none">
                <a:solidFill>
                  <a:srgbClr val="64748B"/>
                </a:solidFill>
                <a:latin typeface="Calibri"/>
                <a:ea typeface="Calibri"/>
                <a:cs typeface="Calibri"/>
                <a:sym typeface="Calibri"/>
              </a:rPr>
              <a:t>Matrix shape t × s: 5 target words × 5 source words (lengths need not match)</a:t>
            </a:r>
            <a:endParaRPr sz="1200" b="0" i="0" u="none" strike="noStrike" cap="none">
              <a:solidFill>
                <a:schemeClr val="dk1"/>
              </a:solidFill>
              <a:latin typeface="Calibri"/>
              <a:ea typeface="Calibri"/>
              <a:cs typeface="Calibri"/>
              <a:sym typeface="Calibri"/>
            </a:endParaRPr>
          </a:p>
        </p:txBody>
      </p:sp>
      <p:sp>
        <p:nvSpPr>
          <p:cNvPr id="1271" name="Google Shape;1271;p40"/>
          <p:cNvSpPr/>
          <p:nvPr/>
        </p:nvSpPr>
        <p:spPr>
          <a:xfrm>
            <a:off x="6766560" y="1508760"/>
            <a:ext cx="4965192" cy="3886200"/>
          </a:xfrm>
          <a:prstGeom prst="roundRect">
            <a:avLst>
              <a:gd name="adj" fmla="val 235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0"/>
          <p:cNvSpPr/>
          <p:nvPr/>
        </p:nvSpPr>
        <p:spPr>
          <a:xfrm>
            <a:off x="6949440" y="1792224"/>
            <a:ext cx="365760" cy="365760"/>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0"/>
          <p:cNvSpPr txBox="1"/>
          <p:nvPr/>
        </p:nvSpPr>
        <p:spPr>
          <a:xfrm>
            <a:off x="6949440" y="179222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274" name="Google Shape;1274;p40"/>
          <p:cNvSpPr txBox="1"/>
          <p:nvPr/>
        </p:nvSpPr>
        <p:spPr>
          <a:xfrm>
            <a:off x="7452360" y="1664208"/>
            <a:ext cx="4160520"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Inputs</a:t>
            </a:r>
            <a:endParaRPr sz="1400" b="0" i="0" u="none" strike="noStrike" cap="none">
              <a:solidFill>
                <a:schemeClr val="dk1"/>
              </a:solidFill>
              <a:latin typeface="Calibri"/>
              <a:ea typeface="Calibri"/>
              <a:cs typeface="Calibri"/>
              <a:sym typeface="Calibri"/>
            </a:endParaRPr>
          </a:p>
        </p:txBody>
      </p:sp>
      <p:pic>
        <p:nvPicPr>
          <p:cNvPr id="1275" name="Google Shape;1275;p40" descr="Equation"/>
          <p:cNvPicPr preferRelativeResize="0"/>
          <p:nvPr/>
        </p:nvPicPr>
        <p:blipFill rotWithShape="1">
          <a:blip r:embed="rId3">
            <a:alphaModFix/>
          </a:blip>
          <a:srcRect/>
          <a:stretch/>
        </p:blipFill>
        <p:spPr>
          <a:xfrm>
            <a:off x="7507224" y="2043074"/>
            <a:ext cx="2010918" cy="229819"/>
          </a:xfrm>
          <a:prstGeom prst="rect">
            <a:avLst/>
          </a:prstGeom>
          <a:noFill/>
          <a:ln>
            <a:noFill/>
          </a:ln>
        </p:spPr>
      </p:pic>
      <p:sp>
        <p:nvSpPr>
          <p:cNvPr id="1276" name="Google Shape;1276;p40"/>
          <p:cNvSpPr/>
          <p:nvPr/>
        </p:nvSpPr>
        <p:spPr>
          <a:xfrm>
            <a:off x="6949440" y="2523744"/>
            <a:ext cx="365760" cy="365760"/>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0"/>
          <p:cNvSpPr txBox="1"/>
          <p:nvPr/>
        </p:nvSpPr>
        <p:spPr>
          <a:xfrm>
            <a:off x="6949440" y="252374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278" name="Google Shape;1278;p40"/>
          <p:cNvSpPr txBox="1"/>
          <p:nvPr/>
        </p:nvSpPr>
        <p:spPr>
          <a:xfrm>
            <a:off x="7452360" y="2395728"/>
            <a:ext cx="4160520"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Project</a:t>
            </a:r>
            <a:endParaRPr sz="1400" b="0" i="0" u="none" strike="noStrike" cap="none">
              <a:solidFill>
                <a:schemeClr val="dk1"/>
              </a:solidFill>
              <a:latin typeface="Calibri"/>
              <a:ea typeface="Calibri"/>
              <a:cs typeface="Calibri"/>
              <a:sym typeface="Calibri"/>
            </a:endParaRPr>
          </a:p>
        </p:txBody>
      </p:sp>
      <p:pic>
        <p:nvPicPr>
          <p:cNvPr id="1279" name="Google Shape;1279;p40" descr="Equation"/>
          <p:cNvPicPr preferRelativeResize="0"/>
          <p:nvPr/>
        </p:nvPicPr>
        <p:blipFill rotWithShape="1">
          <a:blip r:embed="rId4">
            <a:alphaModFix/>
          </a:blip>
          <a:srcRect/>
          <a:stretch/>
        </p:blipFill>
        <p:spPr>
          <a:xfrm>
            <a:off x="7507224" y="2774594"/>
            <a:ext cx="3377946" cy="229819"/>
          </a:xfrm>
          <a:prstGeom prst="rect">
            <a:avLst/>
          </a:prstGeom>
          <a:noFill/>
          <a:ln>
            <a:noFill/>
          </a:ln>
        </p:spPr>
      </p:pic>
      <p:sp>
        <p:nvSpPr>
          <p:cNvPr id="1280" name="Google Shape;1280;p40"/>
          <p:cNvSpPr/>
          <p:nvPr/>
        </p:nvSpPr>
        <p:spPr>
          <a:xfrm>
            <a:off x="6949440" y="3255264"/>
            <a:ext cx="365760" cy="365760"/>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0"/>
          <p:cNvSpPr txBox="1"/>
          <p:nvPr/>
        </p:nvSpPr>
        <p:spPr>
          <a:xfrm>
            <a:off x="6949440" y="325526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282" name="Google Shape;1282;p40"/>
          <p:cNvSpPr txBox="1"/>
          <p:nvPr/>
        </p:nvSpPr>
        <p:spPr>
          <a:xfrm>
            <a:off x="7452360" y="3127248"/>
            <a:ext cx="4160520"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Scores</a:t>
            </a:r>
            <a:endParaRPr sz="1400" b="0" i="0" u="none" strike="noStrike" cap="none">
              <a:solidFill>
                <a:schemeClr val="dk1"/>
              </a:solidFill>
              <a:latin typeface="Calibri"/>
              <a:ea typeface="Calibri"/>
              <a:cs typeface="Calibri"/>
              <a:sym typeface="Calibri"/>
            </a:endParaRPr>
          </a:p>
        </p:txBody>
      </p:sp>
      <p:pic>
        <p:nvPicPr>
          <p:cNvPr id="1283" name="Google Shape;1283;p40" descr="Equation"/>
          <p:cNvPicPr preferRelativeResize="0"/>
          <p:nvPr/>
        </p:nvPicPr>
        <p:blipFill rotWithShape="1">
          <a:blip r:embed="rId5">
            <a:alphaModFix/>
          </a:blip>
          <a:srcRect/>
          <a:stretch/>
        </p:blipFill>
        <p:spPr>
          <a:xfrm>
            <a:off x="7507224" y="3506114"/>
            <a:ext cx="984656" cy="229819"/>
          </a:xfrm>
          <a:prstGeom prst="rect">
            <a:avLst/>
          </a:prstGeom>
          <a:noFill/>
          <a:ln>
            <a:noFill/>
          </a:ln>
        </p:spPr>
      </p:pic>
      <p:sp>
        <p:nvSpPr>
          <p:cNvPr id="1284" name="Google Shape;1284;p40"/>
          <p:cNvSpPr/>
          <p:nvPr/>
        </p:nvSpPr>
        <p:spPr>
          <a:xfrm>
            <a:off x="6949440" y="3986784"/>
            <a:ext cx="365760" cy="365760"/>
          </a:xfrm>
          <a:prstGeom prst="ellipse">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0"/>
          <p:cNvSpPr txBox="1"/>
          <p:nvPr/>
        </p:nvSpPr>
        <p:spPr>
          <a:xfrm>
            <a:off x="6949440" y="398678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286" name="Google Shape;1286;p40"/>
          <p:cNvSpPr txBox="1"/>
          <p:nvPr/>
        </p:nvSpPr>
        <p:spPr>
          <a:xfrm>
            <a:off x="7452360" y="3858768"/>
            <a:ext cx="4160520"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Weights (row-wise)</a:t>
            </a:r>
            <a:endParaRPr sz="1400" b="0" i="0" u="none" strike="noStrike" cap="none">
              <a:solidFill>
                <a:schemeClr val="dk1"/>
              </a:solidFill>
              <a:latin typeface="Calibri"/>
              <a:ea typeface="Calibri"/>
              <a:cs typeface="Calibri"/>
              <a:sym typeface="Calibri"/>
            </a:endParaRPr>
          </a:p>
        </p:txBody>
      </p:sp>
      <p:pic>
        <p:nvPicPr>
          <p:cNvPr id="1287" name="Google Shape;1287;p40" descr="Equation"/>
          <p:cNvPicPr preferRelativeResize="0"/>
          <p:nvPr/>
        </p:nvPicPr>
        <p:blipFill rotWithShape="1">
          <a:blip r:embed="rId6">
            <a:alphaModFix/>
          </a:blip>
          <a:srcRect/>
          <a:stretch/>
        </p:blipFill>
        <p:spPr>
          <a:xfrm>
            <a:off x="7507224" y="4197096"/>
            <a:ext cx="1760560" cy="310896"/>
          </a:xfrm>
          <a:prstGeom prst="rect">
            <a:avLst/>
          </a:prstGeom>
          <a:noFill/>
          <a:ln>
            <a:noFill/>
          </a:ln>
        </p:spPr>
      </p:pic>
      <p:sp>
        <p:nvSpPr>
          <p:cNvPr id="1288" name="Google Shape;1288;p40"/>
          <p:cNvSpPr/>
          <p:nvPr/>
        </p:nvSpPr>
        <p:spPr>
          <a:xfrm>
            <a:off x="6949440" y="4718304"/>
            <a:ext cx="365760" cy="365760"/>
          </a:xfrm>
          <a:prstGeom prst="ellipse">
            <a:avLst/>
          </a:prstGeom>
          <a:solidFill>
            <a:srgbClr val="15803D"/>
          </a:solidFill>
          <a:ln w="9525" cap="flat" cmpd="sng">
            <a:solidFill>
              <a:srgbClr val="1580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0"/>
          <p:cNvSpPr txBox="1"/>
          <p:nvPr/>
        </p:nvSpPr>
        <p:spPr>
          <a:xfrm>
            <a:off x="6949440" y="471830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1290" name="Google Shape;1290;p40"/>
          <p:cNvSpPr txBox="1"/>
          <p:nvPr/>
        </p:nvSpPr>
        <p:spPr>
          <a:xfrm>
            <a:off x="7452360" y="4590288"/>
            <a:ext cx="4160520"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Output: source meaning per target word</a:t>
            </a:r>
            <a:endParaRPr sz="1400" b="0" i="0" u="none" strike="noStrike" cap="none">
              <a:solidFill>
                <a:schemeClr val="dk1"/>
              </a:solidFill>
              <a:latin typeface="Calibri"/>
              <a:ea typeface="Calibri"/>
              <a:cs typeface="Calibri"/>
              <a:sym typeface="Calibri"/>
            </a:endParaRPr>
          </a:p>
        </p:txBody>
      </p:sp>
      <p:pic>
        <p:nvPicPr>
          <p:cNvPr id="1291" name="Google Shape;1291;p40" descr="Equation"/>
          <p:cNvPicPr preferRelativeResize="0"/>
          <p:nvPr/>
        </p:nvPicPr>
        <p:blipFill rotWithShape="1">
          <a:blip r:embed="rId7">
            <a:alphaModFix/>
          </a:blip>
          <a:srcRect/>
          <a:stretch/>
        </p:blipFill>
        <p:spPr>
          <a:xfrm>
            <a:off x="7507224" y="4982032"/>
            <a:ext cx="855878" cy="204064"/>
          </a:xfrm>
          <a:prstGeom prst="rect">
            <a:avLst/>
          </a:prstGeom>
          <a:noFill/>
          <a:ln>
            <a:noFill/>
          </a:ln>
        </p:spPr>
      </p:pic>
      <p:sp>
        <p:nvSpPr>
          <p:cNvPr id="1292" name="Google Shape;1292;p40"/>
          <p:cNvSpPr/>
          <p:nvPr/>
        </p:nvSpPr>
        <p:spPr>
          <a:xfrm>
            <a:off x="457200" y="5577840"/>
            <a:ext cx="11277295" cy="713232"/>
          </a:xfrm>
          <a:prstGeom prst="roundRect">
            <a:avLst>
              <a:gd name="adj" fmla="val 7692"/>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0"/>
          <p:cNvSpPr txBox="1"/>
          <p:nvPr/>
        </p:nvSpPr>
        <p:spPr>
          <a:xfrm>
            <a:off x="594360" y="5614416"/>
            <a:ext cx="11002975"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Real world:  </a:t>
            </a:r>
            <a:r>
              <a:rPr lang="en-US" sz="1400" b="0" i="0" u="none" strike="noStrike" cap="none">
                <a:solidFill>
                  <a:srgbClr val="334155"/>
                </a:solidFill>
                <a:latin typeface="Calibri"/>
                <a:ea typeface="Calibri"/>
                <a:cs typeface="Calibri"/>
                <a:sym typeface="Calibri"/>
              </a:rPr>
              <a:t>engineers inspect these heat-maps to debug word order, e.g. English (subject-verb-object) vs Hindi or Bengali (subject-object-verb), where the diagonal bends.</a:t>
            </a:r>
            <a:endParaRPr sz="1400" b="0" i="0" u="none" strike="noStrike" cap="none">
              <a:solidFill>
                <a:schemeClr val="dk1"/>
              </a:solidFill>
              <a:latin typeface="Calibri"/>
              <a:ea typeface="Calibri"/>
              <a:cs typeface="Calibri"/>
              <a:sym typeface="Calibri"/>
            </a:endParaRPr>
          </a:p>
        </p:txBody>
      </p:sp>
      <p:sp>
        <p:nvSpPr>
          <p:cNvPr id="1294" name="Google Shape;1294;p40"/>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24</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9"/>
        <p:cNvGrpSpPr/>
        <p:nvPr/>
      </p:nvGrpSpPr>
      <p:grpSpPr>
        <a:xfrm>
          <a:off x="0" y="0"/>
          <a:ext cx="0" cy="0"/>
          <a:chOff x="0" y="0"/>
          <a:chExt cx="0" cy="0"/>
        </a:xfrm>
      </p:grpSpPr>
      <p:sp>
        <p:nvSpPr>
          <p:cNvPr id="1440" name="Google Shape;1440;p45"/>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Autoregressive Generation: The Decoder Loop</a:t>
            </a:r>
            <a:endParaRPr sz="3000"/>
          </a:p>
        </p:txBody>
      </p:sp>
      <p:sp>
        <p:nvSpPr>
          <p:cNvPr id="1441" name="Google Shape;1441;p45"/>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One token per step: predict, append, repeat</a:t>
            </a:r>
            <a:endParaRPr sz="1500"/>
          </a:p>
        </p:txBody>
      </p:sp>
      <p:sp>
        <p:nvSpPr>
          <p:cNvPr id="1442" name="Google Shape;1442;p45"/>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6 · GENERATING TEXT</a:t>
            </a:r>
            <a:endParaRPr sz="1000" b="0" i="0" u="none" strike="noStrike" cap="none">
              <a:solidFill>
                <a:schemeClr val="dk1"/>
              </a:solidFill>
              <a:latin typeface="Calibri"/>
              <a:ea typeface="Calibri"/>
              <a:cs typeface="Calibri"/>
              <a:sym typeface="Calibri"/>
            </a:endParaRPr>
          </a:p>
        </p:txBody>
      </p:sp>
      <p:sp>
        <p:nvSpPr>
          <p:cNvPr id="1443" name="Google Shape;1443;p45"/>
          <p:cNvSpPr/>
          <p:nvPr/>
        </p:nvSpPr>
        <p:spPr>
          <a:xfrm>
            <a:off x="457200" y="1508760"/>
            <a:ext cx="3639312"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5"/>
          <p:cNvSpPr/>
          <p:nvPr/>
        </p:nvSpPr>
        <p:spPr>
          <a:xfrm>
            <a:off x="658368" y="1709928"/>
            <a:ext cx="457200" cy="457200"/>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5"/>
          <p:cNvSpPr txBox="1"/>
          <p:nvPr/>
        </p:nvSpPr>
        <p:spPr>
          <a:xfrm>
            <a:off x="658368" y="170992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446" name="Google Shape;1446;p45"/>
          <p:cNvSpPr txBox="1"/>
          <p:nvPr/>
        </p:nvSpPr>
        <p:spPr>
          <a:xfrm>
            <a:off x="1234440" y="1709928"/>
            <a:ext cx="272491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D4ED8"/>
              </a:buClr>
              <a:buSzPts val="1700"/>
              <a:buFont typeface="Calibri"/>
              <a:buNone/>
            </a:pPr>
            <a:r>
              <a:rPr lang="en-US" sz="1700" b="1" i="0" u="none" strike="noStrike" cap="none">
                <a:solidFill>
                  <a:srgbClr val="1D4ED8"/>
                </a:solidFill>
                <a:latin typeface="Calibri"/>
                <a:ea typeface="Calibri"/>
                <a:cs typeface="Calibri"/>
                <a:sym typeface="Calibri"/>
              </a:rPr>
              <a:t>Start</a:t>
            </a:r>
            <a:endParaRPr sz="1700" b="0" i="0" u="none" strike="noStrike" cap="none">
              <a:solidFill>
                <a:schemeClr val="dk1"/>
              </a:solidFill>
              <a:latin typeface="Calibri"/>
              <a:ea typeface="Calibri"/>
              <a:cs typeface="Calibri"/>
              <a:sym typeface="Calibri"/>
            </a:endParaRPr>
          </a:p>
        </p:txBody>
      </p:sp>
      <p:sp>
        <p:nvSpPr>
          <p:cNvPr id="1447" name="Google Shape;1447;p45"/>
          <p:cNvSpPr txBox="1"/>
          <p:nvPr/>
        </p:nvSpPr>
        <p:spPr>
          <a:xfrm>
            <a:off x="658368" y="2286000"/>
            <a:ext cx="3236976" cy="7772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Feed &lt;BOS&gt; as the first decoder input.</a:t>
            </a:r>
            <a:endParaRPr sz="1500" b="0" i="0" u="none" strike="noStrike" cap="none">
              <a:solidFill>
                <a:schemeClr val="dk1"/>
              </a:solidFill>
              <a:latin typeface="Calibri"/>
              <a:ea typeface="Calibri"/>
              <a:cs typeface="Calibri"/>
              <a:sym typeface="Calibri"/>
            </a:endParaRPr>
          </a:p>
        </p:txBody>
      </p:sp>
      <p:sp>
        <p:nvSpPr>
          <p:cNvPr id="1448" name="Google Shape;1448;p45"/>
          <p:cNvSpPr/>
          <p:nvPr/>
        </p:nvSpPr>
        <p:spPr>
          <a:xfrm>
            <a:off x="4279392" y="1508760"/>
            <a:ext cx="3639312"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5"/>
          <p:cNvSpPr/>
          <p:nvPr/>
        </p:nvSpPr>
        <p:spPr>
          <a:xfrm>
            <a:off x="4480560" y="1709928"/>
            <a:ext cx="457200" cy="457200"/>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5"/>
          <p:cNvSpPr txBox="1"/>
          <p:nvPr/>
        </p:nvSpPr>
        <p:spPr>
          <a:xfrm>
            <a:off x="4480560" y="170992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451" name="Google Shape;1451;p45"/>
          <p:cNvSpPr txBox="1"/>
          <p:nvPr/>
        </p:nvSpPr>
        <p:spPr>
          <a:xfrm>
            <a:off x="5056632" y="1709928"/>
            <a:ext cx="272491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D28D9"/>
              </a:buClr>
              <a:buSzPts val="1700"/>
              <a:buFont typeface="Calibri"/>
              <a:buNone/>
            </a:pPr>
            <a:r>
              <a:rPr lang="en-US" sz="1700" b="1" i="0" u="none" strike="noStrike" cap="none">
                <a:solidFill>
                  <a:srgbClr val="6D28D9"/>
                </a:solidFill>
                <a:latin typeface="Calibri"/>
                <a:ea typeface="Calibri"/>
                <a:cs typeface="Calibri"/>
                <a:sym typeface="Calibri"/>
              </a:rPr>
              <a:t>Forward pass</a:t>
            </a:r>
            <a:endParaRPr sz="1700" b="0" i="0" u="none" strike="noStrike" cap="none">
              <a:solidFill>
                <a:schemeClr val="dk1"/>
              </a:solidFill>
              <a:latin typeface="Calibri"/>
              <a:ea typeface="Calibri"/>
              <a:cs typeface="Calibri"/>
              <a:sym typeface="Calibri"/>
            </a:endParaRPr>
          </a:p>
        </p:txBody>
      </p:sp>
      <p:sp>
        <p:nvSpPr>
          <p:cNvPr id="1452" name="Google Shape;1452;p45"/>
          <p:cNvSpPr txBox="1"/>
          <p:nvPr/>
        </p:nvSpPr>
        <p:spPr>
          <a:xfrm>
            <a:off x="4480560" y="2286000"/>
            <a:ext cx="3236976" cy="7772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Masked self-attn → cross-attn → FFN.</a:t>
            </a:r>
            <a:endParaRPr sz="1500" b="0" i="0" u="none" strike="noStrike" cap="none">
              <a:solidFill>
                <a:schemeClr val="dk1"/>
              </a:solidFill>
              <a:latin typeface="Calibri"/>
              <a:ea typeface="Calibri"/>
              <a:cs typeface="Calibri"/>
              <a:sym typeface="Calibri"/>
            </a:endParaRPr>
          </a:p>
        </p:txBody>
      </p:sp>
      <p:sp>
        <p:nvSpPr>
          <p:cNvPr id="1453" name="Google Shape;1453;p45"/>
          <p:cNvSpPr/>
          <p:nvPr/>
        </p:nvSpPr>
        <p:spPr>
          <a:xfrm>
            <a:off x="8101584" y="1508760"/>
            <a:ext cx="3639312"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5"/>
          <p:cNvSpPr/>
          <p:nvPr/>
        </p:nvSpPr>
        <p:spPr>
          <a:xfrm>
            <a:off x="8302752" y="1709928"/>
            <a:ext cx="457200" cy="457200"/>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5"/>
          <p:cNvSpPr txBox="1"/>
          <p:nvPr/>
        </p:nvSpPr>
        <p:spPr>
          <a:xfrm>
            <a:off x="8302752" y="170992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456" name="Google Shape;1456;p45"/>
          <p:cNvSpPr txBox="1"/>
          <p:nvPr/>
        </p:nvSpPr>
        <p:spPr>
          <a:xfrm>
            <a:off x="8878824" y="1709928"/>
            <a:ext cx="272491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700"/>
              <a:buFont typeface="Calibri"/>
              <a:buNone/>
            </a:pPr>
            <a:r>
              <a:rPr lang="en-US" sz="1700" b="1" i="0" u="none" strike="noStrike" cap="none">
                <a:solidFill>
                  <a:srgbClr val="0F766E"/>
                </a:solidFill>
                <a:latin typeface="Calibri"/>
                <a:ea typeface="Calibri"/>
                <a:cs typeface="Calibri"/>
                <a:sym typeface="Calibri"/>
              </a:rPr>
              <a:t>Linear + softmax</a:t>
            </a:r>
            <a:endParaRPr sz="1700" b="0" i="0" u="none" strike="noStrike" cap="none">
              <a:solidFill>
                <a:schemeClr val="dk1"/>
              </a:solidFill>
              <a:latin typeface="Calibri"/>
              <a:ea typeface="Calibri"/>
              <a:cs typeface="Calibri"/>
              <a:sym typeface="Calibri"/>
            </a:endParaRPr>
          </a:p>
        </p:txBody>
      </p:sp>
      <p:sp>
        <p:nvSpPr>
          <p:cNvPr id="1457" name="Google Shape;1457;p45"/>
          <p:cNvSpPr txBox="1"/>
          <p:nvPr/>
        </p:nvSpPr>
        <p:spPr>
          <a:xfrm>
            <a:off x="8302752" y="2286000"/>
            <a:ext cx="3236976" cy="7772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Project to the vocabulary; get probabilities.</a:t>
            </a:r>
            <a:endParaRPr sz="1500" b="0" i="0" u="none" strike="noStrike" cap="none">
              <a:solidFill>
                <a:schemeClr val="dk1"/>
              </a:solidFill>
              <a:latin typeface="Calibri"/>
              <a:ea typeface="Calibri"/>
              <a:cs typeface="Calibri"/>
              <a:sym typeface="Calibri"/>
            </a:endParaRPr>
          </a:p>
        </p:txBody>
      </p:sp>
      <p:sp>
        <p:nvSpPr>
          <p:cNvPr id="1458" name="Google Shape;1458;p45"/>
          <p:cNvSpPr/>
          <p:nvPr/>
        </p:nvSpPr>
        <p:spPr>
          <a:xfrm>
            <a:off x="457200" y="3337560"/>
            <a:ext cx="3639312"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5"/>
          <p:cNvSpPr/>
          <p:nvPr/>
        </p:nvSpPr>
        <p:spPr>
          <a:xfrm>
            <a:off x="658368" y="3538728"/>
            <a:ext cx="457200" cy="457200"/>
          </a:xfrm>
          <a:prstGeom prst="ellipse">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5"/>
          <p:cNvSpPr txBox="1"/>
          <p:nvPr/>
        </p:nvSpPr>
        <p:spPr>
          <a:xfrm>
            <a:off x="658368" y="353872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461" name="Google Shape;1461;p45"/>
          <p:cNvSpPr txBox="1"/>
          <p:nvPr/>
        </p:nvSpPr>
        <p:spPr>
          <a:xfrm>
            <a:off x="1234440" y="3538728"/>
            <a:ext cx="272491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C2410C"/>
              </a:buClr>
              <a:buSzPts val="1700"/>
              <a:buFont typeface="Calibri"/>
              <a:buNone/>
            </a:pPr>
            <a:r>
              <a:rPr lang="en-US" sz="1700" b="1" i="0" u="none" strike="noStrike" cap="none">
                <a:solidFill>
                  <a:srgbClr val="C2410C"/>
                </a:solidFill>
                <a:latin typeface="Calibri"/>
                <a:ea typeface="Calibri"/>
                <a:cs typeface="Calibri"/>
                <a:sym typeface="Calibri"/>
              </a:rPr>
              <a:t>Choose a token</a:t>
            </a:r>
            <a:endParaRPr sz="1700" b="0" i="0" u="none" strike="noStrike" cap="none">
              <a:solidFill>
                <a:schemeClr val="dk1"/>
              </a:solidFill>
              <a:latin typeface="Calibri"/>
              <a:ea typeface="Calibri"/>
              <a:cs typeface="Calibri"/>
              <a:sym typeface="Calibri"/>
            </a:endParaRPr>
          </a:p>
        </p:txBody>
      </p:sp>
      <p:sp>
        <p:nvSpPr>
          <p:cNvPr id="1462" name="Google Shape;1462;p45"/>
          <p:cNvSpPr txBox="1"/>
          <p:nvPr/>
        </p:nvSpPr>
        <p:spPr>
          <a:xfrm>
            <a:off x="658368" y="4114800"/>
            <a:ext cx="3236976" cy="7772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Greedy, beam search, or sampling.</a:t>
            </a:r>
            <a:endParaRPr sz="1500" b="0" i="0" u="none" strike="noStrike" cap="none">
              <a:solidFill>
                <a:schemeClr val="dk1"/>
              </a:solidFill>
              <a:latin typeface="Calibri"/>
              <a:ea typeface="Calibri"/>
              <a:cs typeface="Calibri"/>
              <a:sym typeface="Calibri"/>
            </a:endParaRPr>
          </a:p>
        </p:txBody>
      </p:sp>
      <p:sp>
        <p:nvSpPr>
          <p:cNvPr id="1463" name="Google Shape;1463;p45"/>
          <p:cNvSpPr/>
          <p:nvPr/>
        </p:nvSpPr>
        <p:spPr>
          <a:xfrm>
            <a:off x="4279392" y="3337560"/>
            <a:ext cx="3639312"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5"/>
          <p:cNvSpPr/>
          <p:nvPr/>
        </p:nvSpPr>
        <p:spPr>
          <a:xfrm>
            <a:off x="4480560" y="3538728"/>
            <a:ext cx="457200" cy="457200"/>
          </a:xfrm>
          <a:prstGeom prst="ellipse">
            <a:avLst/>
          </a:prstGeom>
          <a:solidFill>
            <a:srgbClr val="15803D"/>
          </a:solidFill>
          <a:ln w="9525" cap="flat" cmpd="sng">
            <a:solidFill>
              <a:srgbClr val="1580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5"/>
          <p:cNvSpPr txBox="1"/>
          <p:nvPr/>
        </p:nvSpPr>
        <p:spPr>
          <a:xfrm>
            <a:off x="4480560" y="353872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1466" name="Google Shape;1466;p45"/>
          <p:cNvSpPr txBox="1"/>
          <p:nvPr/>
        </p:nvSpPr>
        <p:spPr>
          <a:xfrm>
            <a:off x="5056632" y="3538728"/>
            <a:ext cx="272491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5803D"/>
              </a:buClr>
              <a:buSzPts val="1700"/>
              <a:buFont typeface="Calibri"/>
              <a:buNone/>
            </a:pPr>
            <a:r>
              <a:rPr lang="en-US" sz="1700" b="1" i="0" u="none" strike="noStrike" cap="none">
                <a:solidFill>
                  <a:srgbClr val="15803D"/>
                </a:solidFill>
                <a:latin typeface="Calibri"/>
                <a:ea typeface="Calibri"/>
                <a:cs typeface="Calibri"/>
                <a:sym typeface="Calibri"/>
              </a:rPr>
              <a:t>Append and repeat</a:t>
            </a:r>
            <a:endParaRPr sz="1700" b="0" i="0" u="none" strike="noStrike" cap="none">
              <a:solidFill>
                <a:schemeClr val="dk1"/>
              </a:solidFill>
              <a:latin typeface="Calibri"/>
              <a:ea typeface="Calibri"/>
              <a:cs typeface="Calibri"/>
              <a:sym typeface="Calibri"/>
            </a:endParaRPr>
          </a:p>
        </p:txBody>
      </p:sp>
      <p:sp>
        <p:nvSpPr>
          <p:cNvPr id="1467" name="Google Shape;1467;p45"/>
          <p:cNvSpPr txBox="1"/>
          <p:nvPr/>
        </p:nvSpPr>
        <p:spPr>
          <a:xfrm>
            <a:off x="4480560" y="4114800"/>
            <a:ext cx="3236976" cy="7772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Add the token to the input; go back to step 2.</a:t>
            </a:r>
            <a:endParaRPr sz="1500" b="0" i="0" u="none" strike="noStrike" cap="none">
              <a:solidFill>
                <a:schemeClr val="dk1"/>
              </a:solidFill>
              <a:latin typeface="Calibri"/>
              <a:ea typeface="Calibri"/>
              <a:cs typeface="Calibri"/>
              <a:sym typeface="Calibri"/>
            </a:endParaRPr>
          </a:p>
        </p:txBody>
      </p:sp>
      <p:sp>
        <p:nvSpPr>
          <p:cNvPr id="1468" name="Google Shape;1468;p45"/>
          <p:cNvSpPr/>
          <p:nvPr/>
        </p:nvSpPr>
        <p:spPr>
          <a:xfrm>
            <a:off x="8101584" y="3337560"/>
            <a:ext cx="3639312" cy="1645920"/>
          </a:xfrm>
          <a:prstGeom prst="roundRect">
            <a:avLst>
              <a:gd name="adj" fmla="val 555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5"/>
          <p:cNvSpPr/>
          <p:nvPr/>
        </p:nvSpPr>
        <p:spPr>
          <a:xfrm>
            <a:off x="8302752" y="3538728"/>
            <a:ext cx="457200" cy="457200"/>
          </a:xfrm>
          <a:prstGeom prst="ellipse">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5"/>
          <p:cNvSpPr txBox="1"/>
          <p:nvPr/>
        </p:nvSpPr>
        <p:spPr>
          <a:xfrm>
            <a:off x="8302752" y="3538728"/>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6</a:t>
            </a:r>
            <a:endParaRPr sz="1400" b="0" i="0" u="none" strike="noStrike" cap="none">
              <a:solidFill>
                <a:schemeClr val="dk1"/>
              </a:solidFill>
              <a:latin typeface="Calibri"/>
              <a:ea typeface="Calibri"/>
              <a:cs typeface="Calibri"/>
              <a:sym typeface="Calibri"/>
            </a:endParaRPr>
          </a:p>
        </p:txBody>
      </p:sp>
      <p:sp>
        <p:nvSpPr>
          <p:cNvPr id="1471" name="Google Shape;1471;p45"/>
          <p:cNvSpPr txBox="1"/>
          <p:nvPr/>
        </p:nvSpPr>
        <p:spPr>
          <a:xfrm>
            <a:off x="8878824" y="3538728"/>
            <a:ext cx="272491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91C1C"/>
              </a:buClr>
              <a:buSzPts val="1700"/>
              <a:buFont typeface="Calibri"/>
              <a:buNone/>
            </a:pPr>
            <a:r>
              <a:rPr lang="en-US" sz="1700" b="1" i="0" u="none" strike="noStrike" cap="none">
                <a:solidFill>
                  <a:srgbClr val="B91C1C"/>
                </a:solidFill>
                <a:latin typeface="Calibri"/>
                <a:ea typeface="Calibri"/>
                <a:cs typeface="Calibri"/>
                <a:sym typeface="Calibri"/>
              </a:rPr>
              <a:t>Stop</a:t>
            </a:r>
            <a:endParaRPr sz="1700" b="0" i="0" u="none" strike="noStrike" cap="none">
              <a:solidFill>
                <a:schemeClr val="dk1"/>
              </a:solidFill>
              <a:latin typeface="Calibri"/>
              <a:ea typeface="Calibri"/>
              <a:cs typeface="Calibri"/>
              <a:sym typeface="Calibri"/>
            </a:endParaRPr>
          </a:p>
        </p:txBody>
      </p:sp>
      <p:sp>
        <p:nvSpPr>
          <p:cNvPr id="1472" name="Google Shape;1472;p45"/>
          <p:cNvSpPr txBox="1"/>
          <p:nvPr/>
        </p:nvSpPr>
        <p:spPr>
          <a:xfrm>
            <a:off x="8302752" y="4114800"/>
            <a:ext cx="3236976" cy="7772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500"/>
              <a:buFont typeface="Calibri"/>
              <a:buNone/>
            </a:pPr>
            <a:r>
              <a:rPr lang="en-US" sz="1500" b="0" i="0" u="none" strike="noStrike" cap="none">
                <a:solidFill>
                  <a:srgbClr val="334155"/>
                </a:solidFill>
                <a:latin typeface="Calibri"/>
                <a:ea typeface="Calibri"/>
                <a:cs typeface="Calibri"/>
                <a:sym typeface="Calibri"/>
              </a:rPr>
              <a:t>At &lt;EOS&gt; or the maximum length.</a:t>
            </a:r>
            <a:endParaRPr sz="1500" b="0" i="0" u="none" strike="noStrike" cap="none">
              <a:solidFill>
                <a:schemeClr val="dk1"/>
              </a:solidFill>
              <a:latin typeface="Calibri"/>
              <a:ea typeface="Calibri"/>
              <a:cs typeface="Calibri"/>
              <a:sym typeface="Calibri"/>
            </a:endParaRPr>
          </a:p>
        </p:txBody>
      </p:sp>
      <p:sp>
        <p:nvSpPr>
          <p:cNvPr id="1473" name="Google Shape;1473;p45"/>
          <p:cNvSpPr/>
          <p:nvPr/>
        </p:nvSpPr>
        <p:spPr>
          <a:xfrm>
            <a:off x="457200" y="5349240"/>
            <a:ext cx="11277295" cy="713232"/>
          </a:xfrm>
          <a:prstGeom prst="roundRect">
            <a:avLst>
              <a:gd name="adj" fmla="val 7692"/>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5"/>
          <p:cNvSpPr txBox="1"/>
          <p:nvPr/>
        </p:nvSpPr>
        <p:spPr>
          <a:xfrm>
            <a:off x="594360" y="5385816"/>
            <a:ext cx="11002975"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Real world:  </a:t>
            </a:r>
            <a:r>
              <a:rPr lang="en-US" sz="1400" b="0" i="1" u="none" strike="noStrike" cap="none">
                <a:solidFill>
                  <a:srgbClr val="7C3E0A"/>
                </a:solidFill>
                <a:latin typeface="Calibri"/>
                <a:ea typeface="Calibri"/>
                <a:cs typeface="Calibri"/>
                <a:sym typeface="Calibri"/>
              </a:rPr>
              <a:t>the “typing” effect in ChatGPT or Gemini is this loop running live: every new word is one full pass through the decoder. Longer answers take proportionally longer.</a:t>
            </a:r>
            <a:endParaRPr sz="1400" b="0" i="0" u="none" strike="noStrike" cap="none">
              <a:solidFill>
                <a:schemeClr val="dk1"/>
              </a:solidFill>
              <a:latin typeface="Calibri"/>
              <a:ea typeface="Calibri"/>
              <a:cs typeface="Calibri"/>
              <a:sym typeface="Calibri"/>
            </a:endParaRPr>
          </a:p>
        </p:txBody>
      </p:sp>
      <p:sp>
        <p:nvSpPr>
          <p:cNvPr id="1475" name="Google Shape;1475;p45"/>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25</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80"/>
        <p:cNvGrpSpPr/>
        <p:nvPr/>
      </p:nvGrpSpPr>
      <p:grpSpPr>
        <a:xfrm>
          <a:off x="0" y="0"/>
          <a:ext cx="0" cy="0"/>
          <a:chOff x="0" y="0"/>
          <a:chExt cx="0" cy="0"/>
        </a:xfrm>
      </p:grpSpPr>
      <p:sp>
        <p:nvSpPr>
          <p:cNvPr id="1481" name="Google Shape;1481;p46"/>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Linear + Softmax: From a Vector to a Word</a:t>
            </a:r>
            <a:endParaRPr sz="3000"/>
          </a:p>
        </p:txBody>
      </p:sp>
      <p:sp>
        <p:nvSpPr>
          <p:cNvPr id="1482" name="Google Shape;1482;p46"/>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Worked example: hidden size 4, vocabulary of 5 words</a:t>
            </a:r>
            <a:endParaRPr sz="1500"/>
          </a:p>
        </p:txBody>
      </p:sp>
      <p:sp>
        <p:nvSpPr>
          <p:cNvPr id="1483" name="Google Shape;1483;p46"/>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6 · GENERATING TEXT</a:t>
            </a:r>
            <a:endParaRPr sz="1000" b="0" i="0" u="none" strike="noStrike" cap="none">
              <a:solidFill>
                <a:schemeClr val="dk1"/>
              </a:solidFill>
              <a:latin typeface="Calibri"/>
              <a:ea typeface="Calibri"/>
              <a:cs typeface="Calibri"/>
              <a:sym typeface="Calibri"/>
            </a:endParaRPr>
          </a:p>
        </p:txBody>
      </p:sp>
      <p:sp>
        <p:nvSpPr>
          <p:cNvPr id="1484" name="Google Shape;1484;p46"/>
          <p:cNvSpPr/>
          <p:nvPr/>
        </p:nvSpPr>
        <p:spPr>
          <a:xfrm>
            <a:off x="457200" y="1508760"/>
            <a:ext cx="5532120" cy="3977640"/>
          </a:xfrm>
          <a:prstGeom prst="roundRect">
            <a:avLst>
              <a:gd name="adj" fmla="val 229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6"/>
          <p:cNvSpPr/>
          <p:nvPr/>
        </p:nvSpPr>
        <p:spPr>
          <a:xfrm>
            <a:off x="640080" y="1691640"/>
            <a:ext cx="274320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6"/>
          <p:cNvSpPr txBox="1"/>
          <p:nvPr/>
        </p:nvSpPr>
        <p:spPr>
          <a:xfrm>
            <a:off x="640080" y="1691640"/>
            <a:ext cx="274320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Step 1 · Linear projection</a:t>
            </a:r>
            <a:endParaRPr sz="1200" b="0" i="0" u="none" strike="noStrike" cap="none">
              <a:solidFill>
                <a:schemeClr val="dk1"/>
              </a:solidFill>
              <a:latin typeface="Calibri"/>
              <a:ea typeface="Calibri"/>
              <a:cs typeface="Calibri"/>
              <a:sym typeface="Calibri"/>
            </a:endParaRPr>
          </a:p>
        </p:txBody>
      </p:sp>
      <p:sp>
        <p:nvSpPr>
          <p:cNvPr id="1487" name="Google Shape;1487;p46"/>
          <p:cNvSpPr/>
          <p:nvPr/>
        </p:nvSpPr>
        <p:spPr>
          <a:xfrm>
            <a:off x="640080" y="2103120"/>
            <a:ext cx="5166360" cy="548640"/>
          </a:xfrm>
          <a:prstGeom prst="roundRect">
            <a:avLst>
              <a:gd name="adj" fmla="val 10000"/>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88" name="Google Shape;1488;p46" descr="Equation"/>
          <p:cNvPicPr preferRelativeResize="0"/>
          <p:nvPr/>
        </p:nvPicPr>
        <p:blipFill rotWithShape="1">
          <a:blip r:embed="rId3">
            <a:alphaModFix/>
          </a:blip>
          <a:srcRect/>
          <a:stretch/>
        </p:blipFill>
        <p:spPr>
          <a:xfrm>
            <a:off x="1712671" y="2229917"/>
            <a:ext cx="3021178" cy="295046"/>
          </a:xfrm>
          <a:prstGeom prst="rect">
            <a:avLst/>
          </a:prstGeom>
          <a:noFill/>
          <a:ln>
            <a:noFill/>
          </a:ln>
        </p:spPr>
      </p:pic>
      <p:pic>
        <p:nvPicPr>
          <p:cNvPr id="1489" name="Google Shape;1489;p46" descr="Equation"/>
          <p:cNvPicPr preferRelativeResize="0"/>
          <p:nvPr/>
        </p:nvPicPr>
        <p:blipFill rotWithShape="1">
          <a:blip r:embed="rId4">
            <a:alphaModFix/>
          </a:blip>
          <a:srcRect/>
          <a:stretch/>
        </p:blipFill>
        <p:spPr>
          <a:xfrm>
            <a:off x="685800" y="2888437"/>
            <a:ext cx="4070909" cy="258166"/>
          </a:xfrm>
          <a:prstGeom prst="rect">
            <a:avLst/>
          </a:prstGeom>
          <a:noFill/>
          <a:ln>
            <a:noFill/>
          </a:ln>
        </p:spPr>
      </p:pic>
      <p:sp>
        <p:nvSpPr>
          <p:cNvPr id="1490" name="Google Shape;1490;p46"/>
          <p:cNvSpPr txBox="1"/>
          <p:nvPr/>
        </p:nvSpPr>
        <p:spPr>
          <a:xfrm>
            <a:off x="640080" y="3246120"/>
            <a:ext cx="5166360"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0" u="none" strike="noStrike" cap="none">
                <a:solidFill>
                  <a:srgbClr val="64748B"/>
                </a:solidFill>
                <a:latin typeface="Calibri"/>
                <a:ea typeface="Calibri"/>
                <a:cs typeface="Calibri"/>
                <a:sym typeface="Calibri"/>
              </a:rPr>
              <a:t>One column of the vocabulary matrix per word.</a:t>
            </a:r>
            <a:endParaRPr sz="1300" b="0" i="0" u="none" strike="noStrike" cap="none">
              <a:solidFill>
                <a:schemeClr val="dk1"/>
              </a:solidFill>
              <a:latin typeface="Calibri"/>
              <a:ea typeface="Calibri"/>
              <a:cs typeface="Calibri"/>
              <a:sym typeface="Calibri"/>
            </a:endParaRPr>
          </a:p>
        </p:txBody>
      </p:sp>
      <p:graphicFrame>
        <p:nvGraphicFramePr>
          <p:cNvPr id="1491" name="Google Shape;1491;p46"/>
          <p:cNvGraphicFramePr/>
          <p:nvPr/>
        </p:nvGraphicFramePr>
        <p:xfrm>
          <a:off x="640080" y="3611880"/>
          <a:ext cx="5166325" cy="822950"/>
        </p:xfrm>
        <a:graphic>
          <a:graphicData uri="http://schemas.openxmlformats.org/drawingml/2006/table">
            <a:tbl>
              <a:tblPr>
                <a:noFill/>
                <a:tableStyleId>{0C125456-CB15-484E-AA9C-68C207211CB5}</a:tableStyleId>
              </a:tblPr>
              <a:tblGrid>
                <a:gridCol w="822950">
                  <a:extLst>
                    <a:ext uri="{9D8B030D-6E8A-4147-A177-3AD203B41FA5}">
                      <a16:colId xmlns:a16="http://schemas.microsoft.com/office/drawing/2014/main" val="20000"/>
                    </a:ext>
                  </a:extLst>
                </a:gridCol>
                <a:gridCol w="868675">
                  <a:extLst>
                    <a:ext uri="{9D8B030D-6E8A-4147-A177-3AD203B41FA5}">
                      <a16:colId xmlns:a16="http://schemas.microsoft.com/office/drawing/2014/main" val="20001"/>
                    </a:ext>
                  </a:extLst>
                </a:gridCol>
                <a:gridCol w="868675">
                  <a:extLst>
                    <a:ext uri="{9D8B030D-6E8A-4147-A177-3AD203B41FA5}">
                      <a16:colId xmlns:a16="http://schemas.microsoft.com/office/drawing/2014/main" val="20002"/>
                    </a:ext>
                  </a:extLst>
                </a:gridCol>
                <a:gridCol w="868675">
                  <a:extLst>
                    <a:ext uri="{9D8B030D-6E8A-4147-A177-3AD203B41FA5}">
                      <a16:colId xmlns:a16="http://schemas.microsoft.com/office/drawing/2014/main" val="20003"/>
                    </a:ext>
                  </a:extLst>
                </a:gridCol>
                <a:gridCol w="868675">
                  <a:extLst>
                    <a:ext uri="{9D8B030D-6E8A-4147-A177-3AD203B41FA5}">
                      <a16:colId xmlns:a16="http://schemas.microsoft.com/office/drawing/2014/main" val="20004"/>
                    </a:ext>
                  </a:extLst>
                </a:gridCol>
                <a:gridCol w="868675">
                  <a:extLst>
                    <a:ext uri="{9D8B030D-6E8A-4147-A177-3AD203B41FA5}">
                      <a16:colId xmlns:a16="http://schemas.microsoft.com/office/drawing/2014/main" val="20005"/>
                    </a:ext>
                  </a:extLst>
                </a:gridCol>
              </a:tblGrid>
              <a:tr h="411475">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word</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the</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cat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sat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bank</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tc>
                  <a:txBody>
                    <a:bodyPr/>
                    <a:lstStyle/>
                    <a:p>
                      <a:pPr marL="0" marR="0" lvl="0" indent="0" algn="ctr"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&lt;EOS&gt;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411475">
                <a:tc>
                  <a:txBody>
                    <a:bodyPr/>
                    <a:lstStyle/>
                    <a:p>
                      <a:pPr marL="0" marR="0" lvl="0" indent="0" algn="ctr" rtl="0">
                        <a:spcBef>
                          <a:spcPts val="0"/>
                        </a:spcBef>
                        <a:spcAft>
                          <a:spcPts val="0"/>
                        </a:spcAft>
                        <a:buClr>
                          <a:srgbClr val="334155"/>
                        </a:buClr>
                        <a:buSzPts val="1300"/>
                        <a:buFont typeface="Calibri"/>
                        <a:buNone/>
                      </a:pPr>
                      <a:r>
                        <a:rPr lang="en-US" sz="1300" b="1" u="none" strike="noStrike" cap="none">
                          <a:solidFill>
                            <a:srgbClr val="334155"/>
                          </a:solidFill>
                          <a:latin typeface="Calibri"/>
                          <a:ea typeface="Calibri"/>
                          <a:cs typeface="Calibri"/>
                          <a:sym typeface="Calibri"/>
                        </a:rPr>
                        <a:t>logit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-0.09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1.17</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-0.04</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0.59</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spcBef>
                          <a:spcPts val="0"/>
                        </a:spcBef>
                        <a:spcAft>
                          <a:spcPts val="0"/>
                        </a:spcAft>
                        <a:buClr>
                          <a:srgbClr val="334155"/>
                        </a:buClr>
                        <a:buSzPts val="1300"/>
                        <a:buFont typeface="Calibri"/>
                        <a:buNone/>
                      </a:pPr>
                      <a:r>
                        <a:rPr lang="en-US" sz="1300" u="none" strike="noStrike" cap="none">
                          <a:solidFill>
                            <a:srgbClr val="334155"/>
                          </a:solidFill>
                          <a:latin typeface="Calibri"/>
                          <a:ea typeface="Calibri"/>
                          <a:cs typeface="Calibri"/>
                          <a:sym typeface="Calibri"/>
                        </a:rPr>
                        <a:t>0.12</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92" name="Google Shape;1492;p46"/>
          <p:cNvSpPr txBox="1"/>
          <p:nvPr/>
        </p:nvSpPr>
        <p:spPr>
          <a:xfrm>
            <a:off x="640080" y="4572000"/>
            <a:ext cx="5166360"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Logits are raw, unbounded scores, one per vocabulary word.</a:t>
            </a:r>
            <a:endParaRPr sz="1300" b="0" i="0" u="none" strike="noStrike" cap="none">
              <a:solidFill>
                <a:schemeClr val="dk1"/>
              </a:solidFill>
              <a:latin typeface="Calibri"/>
              <a:ea typeface="Calibri"/>
              <a:cs typeface="Calibri"/>
              <a:sym typeface="Calibri"/>
            </a:endParaRPr>
          </a:p>
        </p:txBody>
      </p:sp>
      <p:sp>
        <p:nvSpPr>
          <p:cNvPr id="1493" name="Google Shape;1493;p46"/>
          <p:cNvSpPr/>
          <p:nvPr/>
        </p:nvSpPr>
        <p:spPr>
          <a:xfrm>
            <a:off x="6199632" y="1508760"/>
            <a:ext cx="5532120" cy="3977640"/>
          </a:xfrm>
          <a:prstGeom prst="roundRect">
            <a:avLst>
              <a:gd name="adj" fmla="val 229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6"/>
          <p:cNvSpPr/>
          <p:nvPr/>
        </p:nvSpPr>
        <p:spPr>
          <a:xfrm>
            <a:off x="6382512" y="1691640"/>
            <a:ext cx="219456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6"/>
          <p:cNvSpPr txBox="1"/>
          <p:nvPr/>
        </p:nvSpPr>
        <p:spPr>
          <a:xfrm>
            <a:off x="6382512" y="1691640"/>
            <a:ext cx="219456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Step 2 · Softmax</a:t>
            </a:r>
            <a:endParaRPr sz="1200" b="0" i="0" u="none" strike="noStrike" cap="none">
              <a:solidFill>
                <a:schemeClr val="dk1"/>
              </a:solidFill>
              <a:latin typeface="Calibri"/>
              <a:ea typeface="Calibri"/>
              <a:cs typeface="Calibri"/>
              <a:sym typeface="Calibri"/>
            </a:endParaRPr>
          </a:p>
        </p:txBody>
      </p:sp>
      <p:sp>
        <p:nvSpPr>
          <p:cNvPr id="1496" name="Google Shape;1496;p46"/>
          <p:cNvSpPr/>
          <p:nvPr/>
        </p:nvSpPr>
        <p:spPr>
          <a:xfrm>
            <a:off x="6382512" y="2057400"/>
            <a:ext cx="5166360" cy="621792"/>
          </a:xfrm>
          <a:prstGeom prst="roundRect">
            <a:avLst>
              <a:gd name="adj" fmla="val 8824"/>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7" name="Google Shape;1497;p46" descr="Equation"/>
          <p:cNvPicPr preferRelativeResize="0"/>
          <p:nvPr/>
        </p:nvPicPr>
        <p:blipFill rotWithShape="1">
          <a:blip r:embed="rId5">
            <a:alphaModFix/>
          </a:blip>
          <a:srcRect/>
          <a:stretch/>
        </p:blipFill>
        <p:spPr>
          <a:xfrm>
            <a:off x="7944745" y="2093976"/>
            <a:ext cx="2041895" cy="548640"/>
          </a:xfrm>
          <a:prstGeom prst="rect">
            <a:avLst/>
          </a:prstGeom>
          <a:noFill/>
          <a:ln>
            <a:noFill/>
          </a:ln>
        </p:spPr>
      </p:pic>
      <p:pic>
        <p:nvPicPr>
          <p:cNvPr id="1498" name="Google Shape;1498;p46"/>
          <p:cNvPicPr preferRelativeResize="0"/>
          <p:nvPr/>
        </p:nvPicPr>
        <p:blipFill rotWithShape="1">
          <a:blip r:embed="rId6">
            <a:alphaModFix/>
          </a:blip>
          <a:srcRect/>
          <a:stretch/>
        </p:blipFill>
        <p:spPr>
          <a:xfrm>
            <a:off x="6382512" y="2697480"/>
            <a:ext cx="5166360" cy="2697480"/>
          </a:xfrm>
          <a:prstGeom prst="rect">
            <a:avLst/>
          </a:prstGeom>
          <a:noFill/>
          <a:ln>
            <a:noFill/>
          </a:ln>
        </p:spPr>
      </p:pic>
      <p:sp>
        <p:nvSpPr>
          <p:cNvPr id="1499" name="Google Shape;1499;p46"/>
          <p:cNvSpPr/>
          <p:nvPr/>
        </p:nvSpPr>
        <p:spPr>
          <a:xfrm>
            <a:off x="457200" y="5669280"/>
            <a:ext cx="11277295" cy="621792"/>
          </a:xfrm>
          <a:prstGeom prst="roundRect">
            <a:avLst>
              <a:gd name="adj" fmla="val 8824"/>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6"/>
          <p:cNvSpPr txBox="1"/>
          <p:nvPr/>
        </p:nvSpPr>
        <p:spPr>
          <a:xfrm>
            <a:off x="594360" y="570585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Result:  </a:t>
            </a:r>
            <a:r>
              <a:rPr lang="en-US" sz="1400" b="0" i="0" u="none" strike="noStrike" cap="none">
                <a:solidFill>
                  <a:srgbClr val="334155"/>
                </a:solidFill>
                <a:latin typeface="Calibri"/>
                <a:ea typeface="Calibri"/>
                <a:cs typeface="Calibri"/>
                <a:sym typeface="Calibri"/>
              </a:rPr>
              <a:t>“cat” wins with 40.1%. Greedy decoding picks it; sampling picks it 40% of the time. Real vocabularies hold 30,000 to 200,000 tokens.</a:t>
            </a:r>
            <a:endParaRPr sz="1400" b="0" i="0" u="none" strike="noStrike" cap="none">
              <a:solidFill>
                <a:schemeClr val="dk1"/>
              </a:solidFill>
              <a:latin typeface="Calibri"/>
              <a:ea typeface="Calibri"/>
              <a:cs typeface="Calibri"/>
              <a:sym typeface="Calibri"/>
            </a:endParaRPr>
          </a:p>
        </p:txBody>
      </p:sp>
      <p:sp>
        <p:nvSpPr>
          <p:cNvPr id="1501" name="Google Shape;1501;p46"/>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26</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sp>
        <p:nvSpPr>
          <p:cNvPr id="1507" name="Google Shape;1507;p47"/>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Choosing the Next Token: Greedy, Beam or Sampling?</a:t>
            </a:r>
            <a:endParaRPr sz="3000"/>
          </a:p>
        </p:txBody>
      </p:sp>
      <p:sp>
        <p:nvSpPr>
          <p:cNvPr id="1508" name="Google Shape;1508;p47"/>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Same probabilities, very different outputs</a:t>
            </a:r>
            <a:endParaRPr sz="1500"/>
          </a:p>
        </p:txBody>
      </p:sp>
      <p:sp>
        <p:nvSpPr>
          <p:cNvPr id="1509" name="Google Shape;1509;p47"/>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6 · GENERATING TEXT</a:t>
            </a:r>
            <a:endParaRPr sz="1000" b="0" i="0" u="none" strike="noStrike" cap="none">
              <a:solidFill>
                <a:schemeClr val="dk1"/>
              </a:solidFill>
              <a:latin typeface="Calibri"/>
              <a:ea typeface="Calibri"/>
              <a:cs typeface="Calibri"/>
              <a:sym typeface="Calibri"/>
            </a:endParaRPr>
          </a:p>
        </p:txBody>
      </p:sp>
      <p:sp>
        <p:nvSpPr>
          <p:cNvPr id="1510" name="Google Shape;1510;p47"/>
          <p:cNvSpPr/>
          <p:nvPr/>
        </p:nvSpPr>
        <p:spPr>
          <a:xfrm>
            <a:off x="457200" y="1508760"/>
            <a:ext cx="3639312" cy="3337560"/>
          </a:xfrm>
          <a:prstGeom prst="roundRect">
            <a:avLst>
              <a:gd name="adj" fmla="val 274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7"/>
          <p:cNvSpPr/>
          <p:nvPr/>
        </p:nvSpPr>
        <p:spPr>
          <a:xfrm>
            <a:off x="640080" y="1691640"/>
            <a:ext cx="3273552"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7"/>
          <p:cNvSpPr txBox="1"/>
          <p:nvPr/>
        </p:nvSpPr>
        <p:spPr>
          <a:xfrm>
            <a:off x="640080" y="1691640"/>
            <a:ext cx="3273552"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Greedy</a:t>
            </a:r>
            <a:endParaRPr sz="1200" b="0" i="0" u="none" strike="noStrike" cap="none">
              <a:solidFill>
                <a:schemeClr val="dk1"/>
              </a:solidFill>
              <a:latin typeface="Calibri"/>
              <a:ea typeface="Calibri"/>
              <a:cs typeface="Calibri"/>
              <a:sym typeface="Calibri"/>
            </a:endParaRPr>
          </a:p>
        </p:txBody>
      </p:sp>
      <p:sp>
        <p:nvSpPr>
          <p:cNvPr id="1513" name="Google Shape;1513;p47"/>
          <p:cNvSpPr txBox="1"/>
          <p:nvPr/>
        </p:nvSpPr>
        <p:spPr>
          <a:xfrm>
            <a:off x="640080" y="2148840"/>
            <a:ext cx="3273552"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Pick the single most likely word every step.</a:t>
            </a:r>
            <a:endParaRPr sz="1500" b="0" i="0" u="none" strike="noStrike" cap="none">
              <a:solidFill>
                <a:schemeClr val="dk1"/>
              </a:solidFill>
              <a:latin typeface="Calibri"/>
              <a:ea typeface="Calibri"/>
              <a:cs typeface="Calibri"/>
              <a:sym typeface="Calibri"/>
            </a:endParaRPr>
          </a:p>
        </p:txBody>
      </p:sp>
      <p:sp>
        <p:nvSpPr>
          <p:cNvPr id="1514" name="Google Shape;1514;p47"/>
          <p:cNvSpPr txBox="1"/>
          <p:nvPr/>
        </p:nvSpPr>
        <p:spPr>
          <a:xfrm>
            <a:off x="640080" y="3090672"/>
            <a:ext cx="3273552"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Fast and repeatable, but can loop: “I think I think I think…”</a:t>
            </a:r>
            <a:endParaRPr sz="1400" b="0" i="0" u="none" strike="noStrike" cap="none">
              <a:solidFill>
                <a:schemeClr val="dk1"/>
              </a:solidFill>
              <a:latin typeface="Calibri"/>
              <a:ea typeface="Calibri"/>
              <a:cs typeface="Calibri"/>
              <a:sym typeface="Calibri"/>
            </a:endParaRPr>
          </a:p>
        </p:txBody>
      </p:sp>
      <p:sp>
        <p:nvSpPr>
          <p:cNvPr id="1515" name="Google Shape;1515;p47"/>
          <p:cNvSpPr/>
          <p:nvPr/>
        </p:nvSpPr>
        <p:spPr>
          <a:xfrm>
            <a:off x="640080" y="4114800"/>
            <a:ext cx="3273552" cy="548640"/>
          </a:xfrm>
          <a:prstGeom prst="roundRect">
            <a:avLst>
              <a:gd name="adj" fmla="val 10000"/>
            </a:avLst>
          </a:prstGeom>
          <a:solidFill>
            <a:srgbClr val="F1F5F9"/>
          </a:solidFill>
          <a:ln w="12700" cap="flat" cmpd="sng">
            <a:solidFill>
              <a:srgbClr val="F1F5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7"/>
          <p:cNvSpPr txBox="1"/>
          <p:nvPr/>
        </p:nvSpPr>
        <p:spPr>
          <a:xfrm>
            <a:off x="731520" y="4114800"/>
            <a:ext cx="3090672"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D4ED8"/>
              </a:buClr>
              <a:buSzPts val="1300"/>
              <a:buFont typeface="Calibri"/>
              <a:buNone/>
            </a:pPr>
            <a:r>
              <a:rPr lang="en-US" sz="1300" b="0" i="1" u="none" strike="noStrike" cap="none">
                <a:solidFill>
                  <a:srgbClr val="1D4ED8"/>
                </a:solidFill>
                <a:latin typeface="Calibri"/>
                <a:ea typeface="Calibri"/>
                <a:cs typeface="Calibri"/>
                <a:sym typeface="Calibri"/>
              </a:rPr>
              <a:t>Good for: short factual answers</a:t>
            </a:r>
            <a:endParaRPr sz="1300" b="0" i="0" u="none" strike="noStrike" cap="none">
              <a:solidFill>
                <a:schemeClr val="dk1"/>
              </a:solidFill>
              <a:latin typeface="Calibri"/>
              <a:ea typeface="Calibri"/>
              <a:cs typeface="Calibri"/>
              <a:sym typeface="Calibri"/>
            </a:endParaRPr>
          </a:p>
        </p:txBody>
      </p:sp>
      <p:sp>
        <p:nvSpPr>
          <p:cNvPr id="1517" name="Google Shape;1517;p47"/>
          <p:cNvSpPr/>
          <p:nvPr/>
        </p:nvSpPr>
        <p:spPr>
          <a:xfrm>
            <a:off x="4279392" y="1508760"/>
            <a:ext cx="3639312" cy="3337560"/>
          </a:xfrm>
          <a:prstGeom prst="roundRect">
            <a:avLst>
              <a:gd name="adj" fmla="val 274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7"/>
          <p:cNvSpPr/>
          <p:nvPr/>
        </p:nvSpPr>
        <p:spPr>
          <a:xfrm>
            <a:off x="4462272" y="1691640"/>
            <a:ext cx="3273552"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7"/>
          <p:cNvSpPr txBox="1"/>
          <p:nvPr/>
        </p:nvSpPr>
        <p:spPr>
          <a:xfrm>
            <a:off x="4462272" y="1691640"/>
            <a:ext cx="3273552"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Beam search (k beams)</a:t>
            </a:r>
            <a:endParaRPr sz="1200" b="0" i="0" u="none" strike="noStrike" cap="none">
              <a:solidFill>
                <a:schemeClr val="dk1"/>
              </a:solidFill>
              <a:latin typeface="Calibri"/>
              <a:ea typeface="Calibri"/>
              <a:cs typeface="Calibri"/>
              <a:sym typeface="Calibri"/>
            </a:endParaRPr>
          </a:p>
        </p:txBody>
      </p:sp>
      <p:sp>
        <p:nvSpPr>
          <p:cNvPr id="1520" name="Google Shape;1520;p47"/>
          <p:cNvSpPr txBox="1"/>
          <p:nvPr/>
        </p:nvSpPr>
        <p:spPr>
          <a:xfrm>
            <a:off x="4462272" y="2148840"/>
            <a:ext cx="3273552"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Keep the k best partial sentences; extend all of them; keep the best k again.</a:t>
            </a:r>
            <a:endParaRPr sz="1500" b="0" i="0" u="none" strike="noStrike" cap="none">
              <a:solidFill>
                <a:schemeClr val="dk1"/>
              </a:solidFill>
              <a:latin typeface="Calibri"/>
              <a:ea typeface="Calibri"/>
              <a:cs typeface="Calibri"/>
              <a:sym typeface="Calibri"/>
            </a:endParaRPr>
          </a:p>
        </p:txBody>
      </p:sp>
      <p:sp>
        <p:nvSpPr>
          <p:cNvPr id="1521" name="Google Shape;1521;p47"/>
          <p:cNvSpPr txBox="1"/>
          <p:nvPr/>
        </p:nvSpPr>
        <p:spPr>
          <a:xfrm>
            <a:off x="4462272" y="3090672"/>
            <a:ext cx="3273552"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Finds higher-probability sentences than greedy; standard in translation.</a:t>
            </a:r>
            <a:endParaRPr sz="1400" b="0" i="0" u="none" strike="noStrike" cap="none">
              <a:solidFill>
                <a:schemeClr val="dk1"/>
              </a:solidFill>
              <a:latin typeface="Calibri"/>
              <a:ea typeface="Calibri"/>
              <a:cs typeface="Calibri"/>
              <a:sym typeface="Calibri"/>
            </a:endParaRPr>
          </a:p>
        </p:txBody>
      </p:sp>
      <p:sp>
        <p:nvSpPr>
          <p:cNvPr id="1522" name="Google Shape;1522;p47"/>
          <p:cNvSpPr/>
          <p:nvPr/>
        </p:nvSpPr>
        <p:spPr>
          <a:xfrm>
            <a:off x="4462272" y="4114800"/>
            <a:ext cx="3273552" cy="548640"/>
          </a:xfrm>
          <a:prstGeom prst="roundRect">
            <a:avLst>
              <a:gd name="adj" fmla="val 10000"/>
            </a:avLst>
          </a:prstGeom>
          <a:solidFill>
            <a:srgbClr val="F1F5F9"/>
          </a:solidFill>
          <a:ln w="12700" cap="flat" cmpd="sng">
            <a:solidFill>
              <a:srgbClr val="F1F5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7"/>
          <p:cNvSpPr txBox="1"/>
          <p:nvPr/>
        </p:nvSpPr>
        <p:spPr>
          <a:xfrm>
            <a:off x="4553712" y="4114800"/>
            <a:ext cx="3090672"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D28D9"/>
              </a:buClr>
              <a:buSzPts val="1300"/>
              <a:buFont typeface="Calibri"/>
              <a:buNone/>
            </a:pPr>
            <a:r>
              <a:rPr lang="en-US" sz="1300" b="0" i="1" u="none" strike="noStrike" cap="none">
                <a:solidFill>
                  <a:srgbClr val="6D28D9"/>
                </a:solidFill>
                <a:latin typeface="Calibri"/>
                <a:ea typeface="Calibri"/>
                <a:cs typeface="Calibri"/>
                <a:sym typeface="Calibri"/>
              </a:rPr>
              <a:t>Good for: Google Translate-style tasks</a:t>
            </a:r>
            <a:endParaRPr sz="1300" b="0" i="0" u="none" strike="noStrike" cap="none">
              <a:solidFill>
                <a:schemeClr val="dk1"/>
              </a:solidFill>
              <a:latin typeface="Calibri"/>
              <a:ea typeface="Calibri"/>
              <a:cs typeface="Calibri"/>
              <a:sym typeface="Calibri"/>
            </a:endParaRPr>
          </a:p>
        </p:txBody>
      </p:sp>
      <p:sp>
        <p:nvSpPr>
          <p:cNvPr id="1524" name="Google Shape;1524;p47"/>
          <p:cNvSpPr/>
          <p:nvPr/>
        </p:nvSpPr>
        <p:spPr>
          <a:xfrm>
            <a:off x="8101584" y="1508760"/>
            <a:ext cx="3639312" cy="3337560"/>
          </a:xfrm>
          <a:prstGeom prst="roundRect">
            <a:avLst>
              <a:gd name="adj" fmla="val 274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7"/>
          <p:cNvSpPr/>
          <p:nvPr/>
        </p:nvSpPr>
        <p:spPr>
          <a:xfrm>
            <a:off x="8284464" y="1691640"/>
            <a:ext cx="3273552" cy="310896"/>
          </a:xfrm>
          <a:prstGeom prst="roundRect">
            <a:avLst>
              <a:gd name="adj" fmla="val 23529"/>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7"/>
          <p:cNvSpPr txBox="1"/>
          <p:nvPr/>
        </p:nvSpPr>
        <p:spPr>
          <a:xfrm>
            <a:off x="8284464" y="1691640"/>
            <a:ext cx="3273552"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Temperature sampling</a:t>
            </a:r>
            <a:endParaRPr sz="1200" b="0" i="0" u="none" strike="noStrike" cap="none">
              <a:solidFill>
                <a:schemeClr val="dk1"/>
              </a:solidFill>
              <a:latin typeface="Calibri"/>
              <a:ea typeface="Calibri"/>
              <a:cs typeface="Calibri"/>
              <a:sym typeface="Calibri"/>
            </a:endParaRPr>
          </a:p>
        </p:txBody>
      </p:sp>
      <p:sp>
        <p:nvSpPr>
          <p:cNvPr id="1527" name="Google Shape;1527;p47"/>
          <p:cNvSpPr txBox="1"/>
          <p:nvPr/>
        </p:nvSpPr>
        <p:spPr>
          <a:xfrm>
            <a:off x="8284464" y="2148840"/>
            <a:ext cx="3273552"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Divide logits by T, then sample. T &lt; 1 sharpens; T &gt; 1 flattens.</a:t>
            </a:r>
            <a:endParaRPr sz="1500" b="0" i="0" u="none" strike="noStrike" cap="none">
              <a:solidFill>
                <a:schemeClr val="dk1"/>
              </a:solidFill>
              <a:latin typeface="Calibri"/>
              <a:ea typeface="Calibri"/>
              <a:cs typeface="Calibri"/>
              <a:sym typeface="Calibri"/>
            </a:endParaRPr>
          </a:p>
        </p:txBody>
      </p:sp>
      <p:sp>
        <p:nvSpPr>
          <p:cNvPr id="1528" name="Google Shape;1528;p47"/>
          <p:cNvSpPr txBox="1"/>
          <p:nvPr/>
        </p:nvSpPr>
        <p:spPr>
          <a:xfrm>
            <a:off x="8284464" y="3090672"/>
            <a:ext cx="3273552"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Varied, creative output; a higher T means more surprise and more risk.</a:t>
            </a:r>
            <a:endParaRPr sz="1400" b="0" i="0" u="none" strike="noStrike" cap="none">
              <a:solidFill>
                <a:schemeClr val="dk1"/>
              </a:solidFill>
              <a:latin typeface="Calibri"/>
              <a:ea typeface="Calibri"/>
              <a:cs typeface="Calibri"/>
              <a:sym typeface="Calibri"/>
            </a:endParaRPr>
          </a:p>
        </p:txBody>
      </p:sp>
      <p:sp>
        <p:nvSpPr>
          <p:cNvPr id="1529" name="Google Shape;1529;p47"/>
          <p:cNvSpPr/>
          <p:nvPr/>
        </p:nvSpPr>
        <p:spPr>
          <a:xfrm>
            <a:off x="8284464" y="4114800"/>
            <a:ext cx="3273552" cy="548640"/>
          </a:xfrm>
          <a:prstGeom prst="roundRect">
            <a:avLst>
              <a:gd name="adj" fmla="val 10000"/>
            </a:avLst>
          </a:prstGeom>
          <a:solidFill>
            <a:srgbClr val="F1F5F9"/>
          </a:solidFill>
          <a:ln w="12700" cap="flat" cmpd="sng">
            <a:solidFill>
              <a:srgbClr val="F1F5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7"/>
          <p:cNvSpPr txBox="1"/>
          <p:nvPr/>
        </p:nvSpPr>
        <p:spPr>
          <a:xfrm>
            <a:off x="8375904" y="4114800"/>
            <a:ext cx="3090672"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C2410C"/>
              </a:buClr>
              <a:buSzPts val="1300"/>
              <a:buFont typeface="Calibri"/>
              <a:buNone/>
            </a:pPr>
            <a:r>
              <a:rPr lang="en-US" sz="1300" b="0" i="1" u="none" strike="noStrike" cap="none">
                <a:solidFill>
                  <a:srgbClr val="C2410C"/>
                </a:solidFill>
                <a:latin typeface="Calibri"/>
                <a:ea typeface="Calibri"/>
                <a:cs typeface="Calibri"/>
                <a:sym typeface="Calibri"/>
              </a:rPr>
              <a:t>Good for: chat, stories, brainstorming</a:t>
            </a:r>
            <a:endParaRPr sz="1300" b="0" i="0" u="none" strike="noStrike" cap="none">
              <a:solidFill>
                <a:schemeClr val="dk1"/>
              </a:solidFill>
              <a:latin typeface="Calibri"/>
              <a:ea typeface="Calibri"/>
              <a:cs typeface="Calibri"/>
              <a:sym typeface="Calibri"/>
            </a:endParaRPr>
          </a:p>
        </p:txBody>
      </p:sp>
      <p:sp>
        <p:nvSpPr>
          <p:cNvPr id="1531" name="Google Shape;1531;p47"/>
          <p:cNvSpPr/>
          <p:nvPr/>
        </p:nvSpPr>
        <p:spPr>
          <a:xfrm>
            <a:off x="457200" y="4956048"/>
            <a:ext cx="4754880" cy="694944"/>
          </a:xfrm>
          <a:prstGeom prst="roundRect">
            <a:avLst>
              <a:gd name="adj" fmla="val 7895"/>
            </a:avLst>
          </a:prstGeom>
          <a:solidFill>
            <a:srgbClr val="F1F5F9"/>
          </a:solidFill>
          <a:ln w="12700" cap="flat" cmpd="sng">
            <a:solidFill>
              <a:srgbClr val="D5DDE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32" name="Google Shape;1532;p47" descr="Equation"/>
          <p:cNvPicPr preferRelativeResize="0"/>
          <p:nvPr/>
        </p:nvPicPr>
        <p:blipFill rotWithShape="1">
          <a:blip r:embed="rId3">
            <a:alphaModFix/>
          </a:blip>
          <a:srcRect/>
          <a:stretch/>
        </p:blipFill>
        <p:spPr>
          <a:xfrm>
            <a:off x="1737360" y="5027981"/>
            <a:ext cx="2194560" cy="551078"/>
          </a:xfrm>
          <a:prstGeom prst="rect">
            <a:avLst/>
          </a:prstGeom>
          <a:noFill/>
          <a:ln>
            <a:noFill/>
          </a:ln>
        </p:spPr>
      </p:pic>
      <p:sp>
        <p:nvSpPr>
          <p:cNvPr id="1533" name="Google Shape;1533;p47"/>
          <p:cNvSpPr txBox="1"/>
          <p:nvPr/>
        </p:nvSpPr>
        <p:spPr>
          <a:xfrm>
            <a:off x="5394960" y="4956048"/>
            <a:ext cx="6336792" cy="694944"/>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400"/>
              <a:buFont typeface="Calibri"/>
              <a:buNone/>
            </a:pPr>
            <a:r>
              <a:rPr lang="en-US" sz="1400" b="1" i="0" u="none" strike="noStrike" cap="none">
                <a:solidFill>
                  <a:srgbClr val="334155"/>
                </a:solidFill>
                <a:latin typeface="Calibri"/>
                <a:ea typeface="Calibri"/>
                <a:cs typeface="Calibri"/>
                <a:sym typeface="Calibri"/>
              </a:rPr>
              <a:t>T → 0: </a:t>
            </a:r>
            <a:r>
              <a:rPr lang="en-US" sz="1400" b="0" i="0" u="none" strike="noStrike" cap="none">
                <a:solidFill>
                  <a:srgbClr val="334155"/>
                </a:solidFill>
                <a:latin typeface="Calibri"/>
                <a:ea typeface="Calibri"/>
                <a:cs typeface="Calibri"/>
                <a:sym typeface="Calibri"/>
              </a:rPr>
              <a:t>approaches greedy (all mass on the top word).   </a:t>
            </a:r>
            <a:r>
              <a:rPr lang="en-US" sz="1400" b="1" i="0" u="none" strike="noStrike" cap="none">
                <a:solidFill>
                  <a:srgbClr val="334155"/>
                </a:solidFill>
                <a:latin typeface="Calibri"/>
                <a:ea typeface="Calibri"/>
                <a:cs typeface="Calibri"/>
                <a:sym typeface="Calibri"/>
              </a:rPr>
              <a:t>T = 1: </a:t>
            </a:r>
            <a:r>
              <a:rPr lang="en-US" sz="1400" b="0" i="0" u="none" strike="noStrike" cap="none">
                <a:solidFill>
                  <a:srgbClr val="334155"/>
                </a:solidFill>
                <a:latin typeface="Calibri"/>
                <a:ea typeface="Calibri"/>
                <a:cs typeface="Calibri"/>
                <a:sym typeface="Calibri"/>
              </a:rPr>
              <a:t>the model's own distribution.   </a:t>
            </a:r>
            <a:r>
              <a:rPr lang="en-US" sz="1400" b="1" i="0" u="none" strike="noStrike" cap="none">
                <a:solidFill>
                  <a:srgbClr val="334155"/>
                </a:solidFill>
                <a:latin typeface="Calibri"/>
                <a:ea typeface="Calibri"/>
                <a:cs typeface="Calibri"/>
                <a:sym typeface="Calibri"/>
              </a:rPr>
              <a:t>T &gt; 1: </a:t>
            </a:r>
            <a:r>
              <a:rPr lang="en-US" sz="1400" b="0" i="0" u="none" strike="noStrike" cap="none">
                <a:solidFill>
                  <a:srgbClr val="334155"/>
                </a:solidFill>
                <a:latin typeface="Calibri"/>
                <a:ea typeface="Calibri"/>
                <a:cs typeface="Calibri"/>
                <a:sym typeface="Calibri"/>
              </a:rPr>
              <a:t>flatter, more random.</a:t>
            </a:r>
            <a:endParaRPr sz="1400" b="0" i="0" u="none" strike="noStrike" cap="none">
              <a:solidFill>
                <a:schemeClr val="dk1"/>
              </a:solidFill>
              <a:latin typeface="Calibri"/>
              <a:ea typeface="Calibri"/>
              <a:cs typeface="Calibri"/>
              <a:sym typeface="Calibri"/>
            </a:endParaRPr>
          </a:p>
        </p:txBody>
      </p:sp>
      <p:sp>
        <p:nvSpPr>
          <p:cNvPr id="1534" name="Google Shape;1534;p47"/>
          <p:cNvSpPr/>
          <p:nvPr/>
        </p:nvSpPr>
        <p:spPr>
          <a:xfrm>
            <a:off x="457200" y="5760720"/>
            <a:ext cx="11277295" cy="566928"/>
          </a:xfrm>
          <a:prstGeom prst="roundRect">
            <a:avLst>
              <a:gd name="adj" fmla="val 9677"/>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7"/>
          <p:cNvSpPr txBox="1"/>
          <p:nvPr/>
        </p:nvSpPr>
        <p:spPr>
          <a:xfrm>
            <a:off x="594360" y="5797296"/>
            <a:ext cx="11002975" cy="49377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Real world:  </a:t>
            </a:r>
            <a:r>
              <a:rPr lang="en-US" sz="1400" b="0" i="1" u="none" strike="noStrike" cap="none">
                <a:solidFill>
                  <a:srgbClr val="7C3E0A"/>
                </a:solidFill>
                <a:latin typeface="Calibri"/>
                <a:ea typeface="Calibri"/>
                <a:cs typeface="Calibri"/>
                <a:sym typeface="Calibri"/>
              </a:rPr>
              <a:t>the “temperature” slider in the OpenAI and Gemini APIs is exactly this T. Code assistants usually run cold (low T); creative-writing apps run warmer.</a:t>
            </a:r>
            <a:endParaRPr sz="1400" b="0" i="0" u="none" strike="noStrike" cap="none">
              <a:solidFill>
                <a:schemeClr val="dk1"/>
              </a:solidFill>
              <a:latin typeface="Calibri"/>
              <a:ea typeface="Calibri"/>
              <a:cs typeface="Calibri"/>
              <a:sym typeface="Calibri"/>
            </a:endParaRPr>
          </a:p>
        </p:txBody>
      </p:sp>
      <p:sp>
        <p:nvSpPr>
          <p:cNvPr id="1536" name="Google Shape;1536;p47"/>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27</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p48"/>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Step by Step: “I love you” → “Je t'aime”</a:t>
            </a:r>
            <a:endParaRPr sz="3000"/>
          </a:p>
        </p:txBody>
      </p:sp>
      <p:sp>
        <p:nvSpPr>
          <p:cNvPr id="1543" name="Google Shape;1543;p48"/>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The loop in action, and the code that runs it</a:t>
            </a:r>
            <a:endParaRPr sz="1500"/>
          </a:p>
        </p:txBody>
      </p:sp>
      <p:sp>
        <p:nvSpPr>
          <p:cNvPr id="1544" name="Google Shape;1544;p48"/>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6 · GENERATING TEXT</a:t>
            </a:r>
            <a:endParaRPr sz="1000" b="0" i="0" u="none" strike="noStrike" cap="none">
              <a:solidFill>
                <a:schemeClr val="dk1"/>
              </a:solidFill>
              <a:latin typeface="Calibri"/>
              <a:ea typeface="Calibri"/>
              <a:cs typeface="Calibri"/>
              <a:sym typeface="Calibri"/>
            </a:endParaRPr>
          </a:p>
        </p:txBody>
      </p:sp>
      <p:sp>
        <p:nvSpPr>
          <p:cNvPr id="1545" name="Google Shape;1545;p48"/>
          <p:cNvSpPr/>
          <p:nvPr/>
        </p:nvSpPr>
        <p:spPr>
          <a:xfrm>
            <a:off x="457200" y="1508760"/>
            <a:ext cx="5120640" cy="3977640"/>
          </a:xfrm>
          <a:prstGeom prst="roundRect">
            <a:avLst>
              <a:gd name="adj" fmla="val 2299"/>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8"/>
          <p:cNvSpPr txBox="1"/>
          <p:nvPr/>
        </p:nvSpPr>
        <p:spPr>
          <a:xfrm>
            <a:off x="640080" y="1645920"/>
            <a:ext cx="4754880"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Encoder runs once on “I love you” → enc_out, reused at every step</a:t>
            </a:r>
            <a:endParaRPr sz="1400" b="0" i="0" u="none" strike="noStrike" cap="none">
              <a:solidFill>
                <a:schemeClr val="dk1"/>
              </a:solidFill>
              <a:latin typeface="Calibri"/>
              <a:ea typeface="Calibri"/>
              <a:cs typeface="Calibri"/>
              <a:sym typeface="Calibri"/>
            </a:endParaRPr>
          </a:p>
        </p:txBody>
      </p:sp>
      <p:sp>
        <p:nvSpPr>
          <p:cNvPr id="1547" name="Google Shape;1547;p48"/>
          <p:cNvSpPr/>
          <p:nvPr/>
        </p:nvSpPr>
        <p:spPr>
          <a:xfrm>
            <a:off x="640080" y="2514600"/>
            <a:ext cx="96012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8"/>
          <p:cNvSpPr txBox="1"/>
          <p:nvPr/>
        </p:nvSpPr>
        <p:spPr>
          <a:xfrm>
            <a:off x="640080" y="2514600"/>
            <a:ext cx="9601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Step 1</a:t>
            </a:r>
            <a:endParaRPr sz="1200" b="0" i="0" u="none" strike="noStrike" cap="none">
              <a:solidFill>
                <a:schemeClr val="dk1"/>
              </a:solidFill>
              <a:latin typeface="Calibri"/>
              <a:ea typeface="Calibri"/>
              <a:cs typeface="Calibri"/>
              <a:sym typeface="Calibri"/>
            </a:endParaRPr>
          </a:p>
        </p:txBody>
      </p:sp>
      <p:sp>
        <p:nvSpPr>
          <p:cNvPr id="1549" name="Google Shape;1549;p48"/>
          <p:cNvSpPr/>
          <p:nvPr/>
        </p:nvSpPr>
        <p:spPr>
          <a:xfrm>
            <a:off x="1737360" y="2286000"/>
            <a:ext cx="3657600" cy="868680"/>
          </a:xfrm>
          <a:prstGeom prst="roundRect">
            <a:avLst>
              <a:gd name="adj" fmla="val 6316"/>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8"/>
          <p:cNvSpPr txBox="1"/>
          <p:nvPr/>
        </p:nvSpPr>
        <p:spPr>
          <a:xfrm>
            <a:off x="1828800" y="2304288"/>
            <a:ext cx="3520440" cy="8229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300"/>
              <a:buFont typeface="Courier New"/>
              <a:buNone/>
            </a:pPr>
            <a:r>
              <a:rPr lang="en-US" sz="1300" b="0" i="0" u="none" strike="noStrike" cap="none">
                <a:solidFill>
                  <a:srgbClr val="334155"/>
                </a:solidFill>
                <a:latin typeface="Courier New"/>
                <a:ea typeface="Courier New"/>
                <a:cs typeface="Courier New"/>
                <a:sym typeface="Courier New"/>
              </a:rPr>
              <a:t>input:  &lt;BOS&gt;</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D4ED8"/>
              </a:buClr>
              <a:buSzPts val="1300"/>
              <a:buFont typeface="Courier New"/>
              <a:buNone/>
            </a:pPr>
            <a:r>
              <a:rPr lang="en-US" sz="1300" b="1" i="0" u="none" strike="noStrike" cap="none">
                <a:solidFill>
                  <a:srgbClr val="1D4ED8"/>
                </a:solidFill>
                <a:latin typeface="Courier New"/>
                <a:ea typeface="Courier New"/>
                <a:cs typeface="Courier New"/>
                <a:sym typeface="Courier New"/>
              </a:rPr>
              <a:t>predict: Je</a:t>
            </a:r>
            <a:endParaRPr sz="1400" b="0" i="0" u="none" strike="noStrike" cap="none">
              <a:solidFill>
                <a:schemeClr val="dk1"/>
              </a:solidFill>
              <a:latin typeface="Calibri"/>
              <a:ea typeface="Calibri"/>
              <a:cs typeface="Calibri"/>
              <a:sym typeface="Calibri"/>
            </a:endParaRPr>
          </a:p>
        </p:txBody>
      </p:sp>
      <p:sp>
        <p:nvSpPr>
          <p:cNvPr id="1551" name="Google Shape;1551;p48"/>
          <p:cNvSpPr/>
          <p:nvPr/>
        </p:nvSpPr>
        <p:spPr>
          <a:xfrm>
            <a:off x="640080" y="3538728"/>
            <a:ext cx="96012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8"/>
          <p:cNvSpPr txBox="1"/>
          <p:nvPr/>
        </p:nvSpPr>
        <p:spPr>
          <a:xfrm>
            <a:off x="640080" y="3538728"/>
            <a:ext cx="9601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Step 2</a:t>
            </a:r>
            <a:endParaRPr sz="1200" b="0" i="0" u="none" strike="noStrike" cap="none">
              <a:solidFill>
                <a:schemeClr val="dk1"/>
              </a:solidFill>
              <a:latin typeface="Calibri"/>
              <a:ea typeface="Calibri"/>
              <a:cs typeface="Calibri"/>
              <a:sym typeface="Calibri"/>
            </a:endParaRPr>
          </a:p>
        </p:txBody>
      </p:sp>
      <p:sp>
        <p:nvSpPr>
          <p:cNvPr id="1553" name="Google Shape;1553;p48"/>
          <p:cNvSpPr/>
          <p:nvPr/>
        </p:nvSpPr>
        <p:spPr>
          <a:xfrm>
            <a:off x="1737360" y="3310128"/>
            <a:ext cx="3657600" cy="868680"/>
          </a:xfrm>
          <a:prstGeom prst="roundRect">
            <a:avLst>
              <a:gd name="adj" fmla="val 6316"/>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8"/>
          <p:cNvSpPr txBox="1"/>
          <p:nvPr/>
        </p:nvSpPr>
        <p:spPr>
          <a:xfrm>
            <a:off x="1828800" y="3328416"/>
            <a:ext cx="3520440" cy="8229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300"/>
              <a:buFont typeface="Courier New"/>
              <a:buNone/>
            </a:pPr>
            <a:r>
              <a:rPr lang="en-US" sz="1300" b="0" i="0" u="none" strike="noStrike" cap="none">
                <a:solidFill>
                  <a:srgbClr val="334155"/>
                </a:solidFill>
                <a:latin typeface="Courier New"/>
                <a:ea typeface="Courier New"/>
                <a:cs typeface="Courier New"/>
                <a:sym typeface="Courier New"/>
              </a:rPr>
              <a:t>input:  &lt;BOS&gt; Je</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6D28D9"/>
              </a:buClr>
              <a:buSzPts val="1300"/>
              <a:buFont typeface="Courier New"/>
              <a:buNone/>
            </a:pPr>
            <a:r>
              <a:rPr lang="en-US" sz="1300" b="1" i="0" u="none" strike="noStrike" cap="none">
                <a:solidFill>
                  <a:srgbClr val="6D28D9"/>
                </a:solidFill>
                <a:latin typeface="Courier New"/>
                <a:ea typeface="Courier New"/>
                <a:cs typeface="Courier New"/>
                <a:sym typeface="Courier New"/>
              </a:rPr>
              <a:t>predict: t'aime</a:t>
            </a:r>
            <a:endParaRPr sz="1400" b="0" i="0" u="none" strike="noStrike" cap="none">
              <a:solidFill>
                <a:schemeClr val="dk1"/>
              </a:solidFill>
              <a:latin typeface="Calibri"/>
              <a:ea typeface="Calibri"/>
              <a:cs typeface="Calibri"/>
              <a:sym typeface="Calibri"/>
            </a:endParaRPr>
          </a:p>
        </p:txBody>
      </p:sp>
      <p:sp>
        <p:nvSpPr>
          <p:cNvPr id="1555" name="Google Shape;1555;p48"/>
          <p:cNvSpPr/>
          <p:nvPr/>
        </p:nvSpPr>
        <p:spPr>
          <a:xfrm>
            <a:off x="640080" y="4562856"/>
            <a:ext cx="96012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8"/>
          <p:cNvSpPr txBox="1"/>
          <p:nvPr/>
        </p:nvSpPr>
        <p:spPr>
          <a:xfrm>
            <a:off x="640080" y="4562856"/>
            <a:ext cx="9601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Step 3</a:t>
            </a:r>
            <a:endParaRPr sz="1200" b="0" i="0" u="none" strike="noStrike" cap="none">
              <a:solidFill>
                <a:schemeClr val="dk1"/>
              </a:solidFill>
              <a:latin typeface="Calibri"/>
              <a:ea typeface="Calibri"/>
              <a:cs typeface="Calibri"/>
              <a:sym typeface="Calibri"/>
            </a:endParaRPr>
          </a:p>
        </p:txBody>
      </p:sp>
      <p:sp>
        <p:nvSpPr>
          <p:cNvPr id="1557" name="Google Shape;1557;p48"/>
          <p:cNvSpPr/>
          <p:nvPr/>
        </p:nvSpPr>
        <p:spPr>
          <a:xfrm>
            <a:off x="1737360" y="4334256"/>
            <a:ext cx="3657600" cy="868680"/>
          </a:xfrm>
          <a:prstGeom prst="roundRect">
            <a:avLst>
              <a:gd name="adj" fmla="val 6316"/>
            </a:avLst>
          </a:prstGeom>
          <a:solidFill>
            <a:srgbClr val="F1F5F9"/>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8"/>
          <p:cNvSpPr txBox="1"/>
          <p:nvPr/>
        </p:nvSpPr>
        <p:spPr>
          <a:xfrm>
            <a:off x="1828800" y="4352544"/>
            <a:ext cx="3520440" cy="82296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334155"/>
              </a:buClr>
              <a:buSzPts val="1300"/>
              <a:buFont typeface="Courier New"/>
              <a:buNone/>
            </a:pPr>
            <a:r>
              <a:rPr lang="en-US" sz="1300" b="0" i="0" u="none" strike="noStrike" cap="none">
                <a:solidFill>
                  <a:srgbClr val="334155"/>
                </a:solidFill>
                <a:latin typeface="Courier New"/>
                <a:ea typeface="Courier New"/>
                <a:cs typeface="Courier New"/>
                <a:sym typeface="Courier New"/>
              </a:rPr>
              <a:t>input:  &lt;BOS&gt; Je t'aime</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0F766E"/>
              </a:buClr>
              <a:buSzPts val="1300"/>
              <a:buFont typeface="Courier New"/>
              <a:buNone/>
            </a:pPr>
            <a:r>
              <a:rPr lang="en-US" sz="1300" b="1" i="0" u="none" strike="noStrike" cap="none">
                <a:solidFill>
                  <a:srgbClr val="0F766E"/>
                </a:solidFill>
                <a:latin typeface="Courier New"/>
                <a:ea typeface="Courier New"/>
                <a:cs typeface="Courier New"/>
                <a:sym typeface="Courier New"/>
              </a:rPr>
              <a:t>predict: &lt;EOS&gt;  → stop</a:t>
            </a:r>
            <a:endParaRPr sz="1400" b="0" i="0" u="none" strike="noStrike" cap="none">
              <a:solidFill>
                <a:schemeClr val="dk1"/>
              </a:solidFill>
              <a:latin typeface="Calibri"/>
              <a:ea typeface="Calibri"/>
              <a:cs typeface="Calibri"/>
              <a:sym typeface="Calibri"/>
            </a:endParaRPr>
          </a:p>
        </p:txBody>
      </p:sp>
      <p:sp>
        <p:nvSpPr>
          <p:cNvPr id="1559" name="Google Shape;1559;p48"/>
          <p:cNvSpPr txBox="1"/>
          <p:nvPr/>
        </p:nvSpPr>
        <p:spPr>
          <a:xfrm>
            <a:off x="640080" y="5120640"/>
            <a:ext cx="4754880" cy="292608"/>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Mask size: 1×1 → 2×2 → 3×3</a:t>
            </a:r>
            <a:endParaRPr sz="1300" b="0" i="0" u="none" strike="noStrike" cap="none">
              <a:solidFill>
                <a:schemeClr val="dk1"/>
              </a:solidFill>
              <a:latin typeface="Calibri"/>
              <a:ea typeface="Calibri"/>
              <a:cs typeface="Calibri"/>
              <a:sym typeface="Calibri"/>
            </a:endParaRPr>
          </a:p>
        </p:txBody>
      </p:sp>
      <p:sp>
        <p:nvSpPr>
          <p:cNvPr id="1560" name="Google Shape;1560;p48"/>
          <p:cNvSpPr/>
          <p:nvPr/>
        </p:nvSpPr>
        <p:spPr>
          <a:xfrm>
            <a:off x="5806440" y="1508760"/>
            <a:ext cx="5925312" cy="3977640"/>
          </a:xfrm>
          <a:prstGeom prst="roundRect">
            <a:avLst>
              <a:gd name="adj" fmla="val 2299"/>
            </a:avLst>
          </a:prstGeom>
          <a:solidFill>
            <a:srgbClr val="0F172A"/>
          </a:solidFill>
          <a:ln w="12700" cap="flat" cmpd="sng">
            <a:solidFill>
              <a:srgbClr val="0F172A"/>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8"/>
          <p:cNvSpPr txBox="1"/>
          <p:nvPr/>
        </p:nvSpPr>
        <p:spPr>
          <a:xfrm>
            <a:off x="5943600" y="1645920"/>
            <a:ext cx="5669280" cy="37490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E2E8F0"/>
              </a:buClr>
              <a:buSzPts val="1250"/>
              <a:buFont typeface="Courier New"/>
              <a:buNone/>
            </a:pPr>
            <a:r>
              <a:rPr lang="en-US" sz="1250" b="0" i="0" u="none" strike="noStrike" cap="none">
                <a:solidFill>
                  <a:srgbClr val="E2E8F0"/>
                </a:solidFill>
                <a:latin typeface="Courier New"/>
                <a:ea typeface="Courier New"/>
                <a:cs typeface="Courier New"/>
                <a:sym typeface="Courier New"/>
              </a:rPr>
              <a:t>def generate(model, src, max_len=50, bos=1, eos=2):</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93C5FD"/>
              </a:buClr>
              <a:buSzPts val="1250"/>
              <a:buFont typeface="Courier New"/>
              <a:buNone/>
            </a:pPr>
            <a:r>
              <a:rPr lang="en-US" sz="1250" b="0" i="0" u="none" strike="noStrike" cap="none">
                <a:solidFill>
                  <a:srgbClr val="93C5FD"/>
                </a:solidFill>
                <a:latin typeface="Courier New"/>
                <a:ea typeface="Courier New"/>
                <a:cs typeface="Courier New"/>
                <a:sym typeface="Courier New"/>
              </a:rPr>
              <a:t>    enc_out = model.encoder(src)      # encode once</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E2E8F0"/>
              </a:buClr>
              <a:buSzPts val="1250"/>
              <a:buFont typeface="Courier New"/>
              <a:buNone/>
            </a:pPr>
            <a:r>
              <a:rPr lang="en-US" sz="1250" b="0" i="0" u="none" strike="noStrike" cap="none">
                <a:solidFill>
                  <a:srgbClr val="E2E8F0"/>
                </a:solidFill>
                <a:latin typeface="Courier New"/>
                <a:ea typeface="Courier New"/>
                <a:cs typeface="Courier New"/>
                <a:sym typeface="Courier New"/>
              </a:rPr>
              <a:t>    tgt = torch.tensor([[bos]])       # start: &lt;BOS&gt;</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E2E8F0"/>
              </a:buClr>
              <a:buSzPts val="1250"/>
              <a:buFont typeface="Courier New"/>
              <a:buNone/>
            </a:pPr>
            <a:r>
              <a:rPr lang="en-US" sz="1250" b="0" i="0" u="none" strike="noStrike" cap="none">
                <a:solidFill>
                  <a:srgbClr val="E2E8F0"/>
                </a:solidFill>
                <a:latin typeface="Courier New"/>
                <a:ea typeface="Courier New"/>
                <a:cs typeface="Courier New"/>
                <a:sym typeface="Courier New"/>
              </a:rPr>
              <a:t>    for _ in range(max_len):</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FCD34D"/>
              </a:buClr>
              <a:buSzPts val="1250"/>
              <a:buFont typeface="Courier New"/>
              <a:buNone/>
            </a:pPr>
            <a:r>
              <a:rPr lang="en-US" sz="1250" b="0" i="0" u="none" strike="noStrike" cap="none">
                <a:solidFill>
                  <a:srgbClr val="FCD34D"/>
                </a:solidFill>
                <a:latin typeface="Courier New"/>
                <a:ea typeface="Courier New"/>
                <a:cs typeface="Courier New"/>
                <a:sym typeface="Courier New"/>
              </a:rPr>
              <a:t>        mask = causal_mask(tgt.size(1))</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E2E8F0"/>
              </a:buClr>
              <a:buSzPts val="1250"/>
              <a:buFont typeface="Courier New"/>
              <a:buNone/>
            </a:pPr>
            <a:r>
              <a:rPr lang="en-US" sz="1250" b="0" i="0" u="none" strike="noStrike" cap="none">
                <a:solidFill>
                  <a:srgbClr val="E2E8F0"/>
                </a:solidFill>
                <a:latin typeface="Courier New"/>
                <a:ea typeface="Courier New"/>
                <a:cs typeface="Courier New"/>
                <a:sym typeface="Courier New"/>
              </a:rPr>
              <a:t>        out = model.decoder(tgt, enc_out, mask)</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86EFAC"/>
              </a:buClr>
              <a:buSzPts val="1250"/>
              <a:buFont typeface="Courier New"/>
              <a:buNone/>
            </a:pPr>
            <a:r>
              <a:rPr lang="en-US" sz="1250" b="0" i="0" u="none" strike="noStrike" cap="none">
                <a:solidFill>
                  <a:srgbClr val="86EFAC"/>
                </a:solidFill>
                <a:latin typeface="Courier New"/>
                <a:ea typeface="Courier New"/>
                <a:cs typeface="Courier New"/>
                <a:sym typeface="Courier New"/>
              </a:rPr>
              <a:t>        nxt = out[:, -1].argmax(-1, keepdim=True)  # greedy</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E2E8F0"/>
              </a:buClr>
              <a:buSzPts val="1250"/>
              <a:buFont typeface="Courier New"/>
              <a:buNone/>
            </a:pPr>
            <a:r>
              <a:rPr lang="en-US" sz="1250" b="0" i="0" u="none" strike="noStrike" cap="none">
                <a:solidFill>
                  <a:srgbClr val="E2E8F0"/>
                </a:solidFill>
                <a:latin typeface="Courier New"/>
                <a:ea typeface="Courier New"/>
                <a:cs typeface="Courier New"/>
                <a:sym typeface="Courier New"/>
              </a:rPr>
              <a:t>        tgt = torch.cat([tgt, nxt], dim=-1)    # append</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FCA5A5"/>
              </a:buClr>
              <a:buSzPts val="1250"/>
              <a:buFont typeface="Courier New"/>
              <a:buNone/>
            </a:pPr>
            <a:r>
              <a:rPr lang="en-US" sz="1250" b="0" i="0" u="none" strike="noStrike" cap="none">
                <a:solidFill>
                  <a:srgbClr val="FCA5A5"/>
                </a:solidFill>
                <a:latin typeface="Courier New"/>
                <a:ea typeface="Courier New"/>
                <a:cs typeface="Courier New"/>
                <a:sym typeface="Courier New"/>
              </a:rPr>
              <a:t>        if nxt.item() == eos: break            # stop</a:t>
            </a:r>
            <a:endParaRPr sz="125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E2E8F0"/>
              </a:buClr>
              <a:buSzPts val="1250"/>
              <a:buFont typeface="Courier New"/>
              <a:buNone/>
            </a:pPr>
            <a:r>
              <a:rPr lang="en-US" sz="1250" b="0" i="0" u="none" strike="noStrike" cap="none">
                <a:solidFill>
                  <a:srgbClr val="E2E8F0"/>
                </a:solidFill>
                <a:latin typeface="Courier New"/>
                <a:ea typeface="Courier New"/>
                <a:cs typeface="Courier New"/>
                <a:sym typeface="Courier New"/>
              </a:rPr>
              <a:t>    return tgt</a:t>
            </a:r>
            <a:endParaRPr sz="1250" b="0" i="0" u="none" strike="noStrike" cap="none">
              <a:solidFill>
                <a:schemeClr val="dk1"/>
              </a:solidFill>
              <a:latin typeface="Calibri"/>
              <a:ea typeface="Calibri"/>
              <a:cs typeface="Calibri"/>
              <a:sym typeface="Calibri"/>
            </a:endParaRPr>
          </a:p>
        </p:txBody>
      </p:sp>
      <p:sp>
        <p:nvSpPr>
          <p:cNvPr id="1562" name="Google Shape;1562;p48"/>
          <p:cNvSpPr/>
          <p:nvPr/>
        </p:nvSpPr>
        <p:spPr>
          <a:xfrm>
            <a:off x="457200" y="5669280"/>
            <a:ext cx="11277295" cy="621792"/>
          </a:xfrm>
          <a:prstGeom prst="roundRect">
            <a:avLst>
              <a:gd name="adj" fmla="val 8824"/>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8"/>
          <p:cNvSpPr txBox="1"/>
          <p:nvPr/>
        </p:nvSpPr>
        <p:spPr>
          <a:xfrm>
            <a:off x="594360" y="570585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Notice:  </a:t>
            </a:r>
            <a:r>
              <a:rPr lang="en-US" sz="1400" b="0" i="0" u="none" strike="noStrike" cap="none">
                <a:solidFill>
                  <a:srgbClr val="334155"/>
                </a:solidFill>
                <a:latin typeface="Calibri"/>
                <a:ea typeface="Calibri"/>
                <a:cs typeface="Calibri"/>
                <a:sym typeface="Calibri"/>
              </a:rPr>
              <a:t>the encoder runs once, outside the loop; only the decoder repeats. That is why encoder-decoder models are efficient when the input is long and fixed.</a:t>
            </a:r>
            <a:endParaRPr sz="1400" b="0" i="0" u="none" strike="noStrike" cap="none">
              <a:solidFill>
                <a:schemeClr val="dk1"/>
              </a:solidFill>
              <a:latin typeface="Calibri"/>
              <a:ea typeface="Calibri"/>
              <a:cs typeface="Calibri"/>
              <a:sym typeface="Calibri"/>
            </a:endParaRPr>
          </a:p>
        </p:txBody>
      </p:sp>
      <p:sp>
        <p:nvSpPr>
          <p:cNvPr id="1564" name="Google Shape;1564;p48"/>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28</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p49"/>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The Pretrain → Fine-Tune Paradigm</a:t>
            </a:r>
            <a:endParaRPr sz="3000"/>
          </a:p>
        </p:txBody>
      </p:sp>
      <p:sp>
        <p:nvSpPr>
          <p:cNvPr id="1571" name="Google Shape;1571;p49"/>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Learn language once on huge data, then adapt cheaply to any task</a:t>
            </a:r>
            <a:endParaRPr sz="1500"/>
          </a:p>
        </p:txBody>
      </p:sp>
      <p:sp>
        <p:nvSpPr>
          <p:cNvPr id="1572" name="Google Shape;1572;p49"/>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7 · PRETRAINED FAMILIES</a:t>
            </a:r>
            <a:endParaRPr sz="1000" b="0" i="0" u="none" strike="noStrike" cap="none">
              <a:solidFill>
                <a:schemeClr val="dk1"/>
              </a:solidFill>
              <a:latin typeface="Calibri"/>
              <a:ea typeface="Calibri"/>
              <a:cs typeface="Calibri"/>
              <a:sym typeface="Calibri"/>
            </a:endParaRPr>
          </a:p>
        </p:txBody>
      </p:sp>
      <p:sp>
        <p:nvSpPr>
          <p:cNvPr id="1573" name="Google Shape;1573;p49"/>
          <p:cNvSpPr/>
          <p:nvPr/>
        </p:nvSpPr>
        <p:spPr>
          <a:xfrm>
            <a:off x="457200" y="1554480"/>
            <a:ext cx="2011680" cy="1371600"/>
          </a:xfrm>
          <a:prstGeom prst="roundRect">
            <a:avLst>
              <a:gd name="adj" fmla="val 5333"/>
            </a:avLst>
          </a:prstGeom>
          <a:solidFill>
            <a:srgbClr val="F1F5F9"/>
          </a:solidFill>
          <a:ln w="12700" cap="flat" cmpd="sng">
            <a:solidFill>
              <a:srgbClr val="F1F5F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9"/>
          <p:cNvSpPr txBox="1"/>
          <p:nvPr/>
        </p:nvSpPr>
        <p:spPr>
          <a:xfrm>
            <a:off x="548640" y="1572768"/>
            <a:ext cx="1828800" cy="1335024"/>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Raw text</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billions of tokens, no labels</a:t>
            </a:r>
            <a:endParaRPr sz="1400" b="0" i="0" u="none" strike="noStrike" cap="none">
              <a:solidFill>
                <a:schemeClr val="dk1"/>
              </a:solidFill>
              <a:latin typeface="Calibri"/>
              <a:ea typeface="Calibri"/>
              <a:cs typeface="Calibri"/>
              <a:sym typeface="Calibri"/>
            </a:endParaRPr>
          </a:p>
        </p:txBody>
      </p:sp>
      <p:sp>
        <p:nvSpPr>
          <p:cNvPr id="1575" name="Google Shape;1575;p49"/>
          <p:cNvSpPr txBox="1"/>
          <p:nvPr/>
        </p:nvSpPr>
        <p:spPr>
          <a:xfrm>
            <a:off x="2487168" y="2011680"/>
            <a:ext cx="256032"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576" name="Google Shape;1576;p49"/>
          <p:cNvSpPr/>
          <p:nvPr/>
        </p:nvSpPr>
        <p:spPr>
          <a:xfrm>
            <a:off x="2761488" y="1554480"/>
            <a:ext cx="2011680" cy="1371600"/>
          </a:xfrm>
          <a:prstGeom prst="roundRect">
            <a:avLst>
              <a:gd name="adj" fmla="val 5333"/>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9"/>
          <p:cNvSpPr txBox="1"/>
          <p:nvPr/>
        </p:nvSpPr>
        <p:spPr>
          <a:xfrm>
            <a:off x="2852928" y="1572768"/>
            <a:ext cx="1828800" cy="1335024"/>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D4ED8"/>
              </a:buClr>
              <a:buSzPts val="1600"/>
              <a:buFont typeface="Calibri"/>
              <a:buNone/>
            </a:pPr>
            <a:r>
              <a:rPr lang="en-US" sz="1600" b="1" i="0" u="none" strike="noStrike" cap="none">
                <a:solidFill>
                  <a:srgbClr val="1D4ED8"/>
                </a:solidFill>
                <a:latin typeface="Calibri"/>
                <a:ea typeface="Calibri"/>
                <a:cs typeface="Calibri"/>
                <a:sym typeface="Calibri"/>
              </a:rPr>
              <a:t>Pretraining</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predict next word or masked word</a:t>
            </a:r>
            <a:endParaRPr sz="1400" b="0" i="0" u="none" strike="noStrike" cap="none">
              <a:solidFill>
                <a:schemeClr val="dk1"/>
              </a:solidFill>
              <a:latin typeface="Calibri"/>
              <a:ea typeface="Calibri"/>
              <a:cs typeface="Calibri"/>
              <a:sym typeface="Calibri"/>
            </a:endParaRPr>
          </a:p>
        </p:txBody>
      </p:sp>
      <p:sp>
        <p:nvSpPr>
          <p:cNvPr id="1578" name="Google Shape;1578;p49"/>
          <p:cNvSpPr txBox="1"/>
          <p:nvPr/>
        </p:nvSpPr>
        <p:spPr>
          <a:xfrm>
            <a:off x="4791456" y="2011680"/>
            <a:ext cx="256032"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579" name="Google Shape;1579;p49"/>
          <p:cNvSpPr/>
          <p:nvPr/>
        </p:nvSpPr>
        <p:spPr>
          <a:xfrm>
            <a:off x="5065776" y="1554480"/>
            <a:ext cx="2011680" cy="1371600"/>
          </a:xfrm>
          <a:prstGeom prst="roundRect">
            <a:avLst>
              <a:gd name="adj" fmla="val 5333"/>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9"/>
          <p:cNvSpPr txBox="1"/>
          <p:nvPr/>
        </p:nvSpPr>
        <p:spPr>
          <a:xfrm>
            <a:off x="5157216" y="1572768"/>
            <a:ext cx="1828800" cy="1335024"/>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6D28D9"/>
              </a:buClr>
              <a:buSzPts val="1600"/>
              <a:buFont typeface="Calibri"/>
              <a:buNone/>
            </a:pPr>
            <a:r>
              <a:rPr lang="en-US" sz="1600" b="1" i="0" u="none" strike="noStrike" cap="none">
                <a:solidFill>
                  <a:srgbClr val="6D28D9"/>
                </a:solidFill>
                <a:latin typeface="Calibri"/>
                <a:ea typeface="Calibri"/>
                <a:cs typeface="Calibri"/>
                <a:sym typeface="Calibri"/>
              </a:rPr>
              <a:t>Pretrained model</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general language knowledge</a:t>
            </a:r>
            <a:endParaRPr sz="1400" b="0" i="0" u="none" strike="noStrike" cap="none">
              <a:solidFill>
                <a:schemeClr val="dk1"/>
              </a:solidFill>
              <a:latin typeface="Calibri"/>
              <a:ea typeface="Calibri"/>
              <a:cs typeface="Calibri"/>
              <a:sym typeface="Calibri"/>
            </a:endParaRPr>
          </a:p>
        </p:txBody>
      </p:sp>
      <p:sp>
        <p:nvSpPr>
          <p:cNvPr id="1581" name="Google Shape;1581;p49"/>
          <p:cNvSpPr txBox="1"/>
          <p:nvPr/>
        </p:nvSpPr>
        <p:spPr>
          <a:xfrm>
            <a:off x="7095744" y="2011680"/>
            <a:ext cx="256032"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582" name="Google Shape;1582;p49"/>
          <p:cNvSpPr/>
          <p:nvPr/>
        </p:nvSpPr>
        <p:spPr>
          <a:xfrm>
            <a:off x="7370064" y="1554480"/>
            <a:ext cx="2011680" cy="1371600"/>
          </a:xfrm>
          <a:prstGeom prst="roundRect">
            <a:avLst>
              <a:gd name="adj" fmla="val 5333"/>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9"/>
          <p:cNvSpPr txBox="1"/>
          <p:nvPr/>
        </p:nvSpPr>
        <p:spPr>
          <a:xfrm>
            <a:off x="7461504" y="1572768"/>
            <a:ext cx="1828800" cy="1335024"/>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0F766E"/>
              </a:buClr>
              <a:buSzPts val="1600"/>
              <a:buFont typeface="Calibri"/>
              <a:buNone/>
            </a:pPr>
            <a:r>
              <a:rPr lang="en-US" sz="1600" b="1" i="0" u="none" strike="noStrike" cap="none">
                <a:solidFill>
                  <a:srgbClr val="0F766E"/>
                </a:solidFill>
                <a:latin typeface="Calibri"/>
                <a:ea typeface="Calibri"/>
                <a:cs typeface="Calibri"/>
                <a:sym typeface="Calibri"/>
              </a:rPr>
              <a:t>Fine-tune or prompt</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small labelled set</a:t>
            </a:r>
            <a:endParaRPr sz="1400" b="0" i="0" u="none" strike="noStrike" cap="none">
              <a:solidFill>
                <a:schemeClr val="dk1"/>
              </a:solidFill>
              <a:latin typeface="Calibri"/>
              <a:ea typeface="Calibri"/>
              <a:cs typeface="Calibri"/>
              <a:sym typeface="Calibri"/>
            </a:endParaRPr>
          </a:p>
        </p:txBody>
      </p:sp>
      <p:sp>
        <p:nvSpPr>
          <p:cNvPr id="1584" name="Google Shape;1584;p49"/>
          <p:cNvSpPr txBox="1"/>
          <p:nvPr/>
        </p:nvSpPr>
        <p:spPr>
          <a:xfrm>
            <a:off x="9400032" y="2011680"/>
            <a:ext cx="256032"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585" name="Google Shape;1585;p49"/>
          <p:cNvSpPr/>
          <p:nvPr/>
        </p:nvSpPr>
        <p:spPr>
          <a:xfrm>
            <a:off x="9674352" y="1554480"/>
            <a:ext cx="2011680" cy="1371600"/>
          </a:xfrm>
          <a:prstGeom prst="roundRect">
            <a:avLst>
              <a:gd name="adj" fmla="val 5333"/>
            </a:avLst>
          </a:prstGeom>
          <a:solidFill>
            <a:srgbClr val="FDF0E6"/>
          </a:solidFill>
          <a:ln w="12700" cap="flat" cmpd="sng">
            <a:solidFill>
              <a:srgbClr val="FDF0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9"/>
          <p:cNvSpPr txBox="1"/>
          <p:nvPr/>
        </p:nvSpPr>
        <p:spPr>
          <a:xfrm>
            <a:off x="9765792" y="1572768"/>
            <a:ext cx="1828800" cy="1335024"/>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C2410C"/>
              </a:buClr>
              <a:buSzPts val="1600"/>
              <a:buFont typeface="Calibri"/>
              <a:buNone/>
            </a:pPr>
            <a:r>
              <a:rPr lang="en-US" sz="1600" b="1" i="0" u="none" strike="noStrike" cap="none">
                <a:solidFill>
                  <a:srgbClr val="C2410C"/>
                </a:solidFill>
                <a:latin typeface="Calibri"/>
                <a:ea typeface="Calibri"/>
                <a:cs typeface="Calibri"/>
                <a:sym typeface="Calibri"/>
              </a:rPr>
              <a:t>Task model</a:t>
            </a:r>
            <a:endParaRPr sz="1400" b="0" i="0" u="none" strike="noStrike" cap="none">
              <a:solidFill>
                <a:schemeClr val="dk1"/>
              </a:solidFill>
              <a:latin typeface="Calibri"/>
              <a:ea typeface="Calibri"/>
              <a:cs typeface="Calibri"/>
              <a:sym typeface="Calibri"/>
            </a:endParaRPr>
          </a:p>
          <a:p>
            <a:pPr marL="0" marR="0" lvl="0" indent="0" algn="ctr"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e.g. a radiology report classifier</a:t>
            </a:r>
            <a:endParaRPr sz="1400" b="0" i="0" u="none" strike="noStrike" cap="none">
              <a:solidFill>
                <a:schemeClr val="dk1"/>
              </a:solidFill>
              <a:latin typeface="Calibri"/>
              <a:ea typeface="Calibri"/>
              <a:cs typeface="Calibri"/>
              <a:sym typeface="Calibri"/>
            </a:endParaRPr>
          </a:p>
        </p:txBody>
      </p:sp>
      <p:sp>
        <p:nvSpPr>
          <p:cNvPr id="1587" name="Google Shape;1587;p49"/>
          <p:cNvSpPr/>
          <p:nvPr/>
        </p:nvSpPr>
        <p:spPr>
          <a:xfrm>
            <a:off x="457200" y="3200400"/>
            <a:ext cx="2679192" cy="2240280"/>
          </a:xfrm>
          <a:prstGeom prst="roundRect">
            <a:avLst>
              <a:gd name="adj" fmla="val 4082"/>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9"/>
          <p:cNvSpPr txBox="1"/>
          <p:nvPr/>
        </p:nvSpPr>
        <p:spPr>
          <a:xfrm>
            <a:off x="621792" y="3337560"/>
            <a:ext cx="2350008" cy="6858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B91C1C"/>
              </a:buClr>
              <a:buSzPts val="1500"/>
              <a:buFont typeface="Calibri"/>
              <a:buNone/>
            </a:pPr>
            <a:r>
              <a:rPr lang="en-US" sz="1500" b="1" i="0" u="none" strike="noStrike" cap="none">
                <a:solidFill>
                  <a:srgbClr val="B91C1C"/>
                </a:solidFill>
                <a:latin typeface="Calibri"/>
                <a:ea typeface="Calibri"/>
                <a:cs typeface="Calibri"/>
                <a:sym typeface="Calibri"/>
              </a:rPr>
              <a:t>✗  Train from scratch</a:t>
            </a:r>
            <a:endParaRPr sz="1500" b="0" i="0" u="none" strike="noStrike" cap="none">
              <a:solidFill>
                <a:schemeClr val="dk1"/>
              </a:solidFill>
              <a:latin typeface="Calibri"/>
              <a:ea typeface="Calibri"/>
              <a:cs typeface="Calibri"/>
              <a:sym typeface="Calibri"/>
            </a:endParaRPr>
          </a:p>
        </p:txBody>
      </p:sp>
      <p:sp>
        <p:nvSpPr>
          <p:cNvPr id="1589" name="Google Shape;1589;p49"/>
          <p:cNvSpPr txBox="1"/>
          <p:nvPr/>
        </p:nvSpPr>
        <p:spPr>
          <a:xfrm>
            <a:off x="621792" y="4023360"/>
            <a:ext cx="2350008" cy="13258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Needs millions of labelled examples per task. Expensive and brittle.</a:t>
            </a:r>
            <a:endParaRPr sz="1400" b="0" i="0" u="none" strike="noStrike" cap="none">
              <a:solidFill>
                <a:schemeClr val="dk1"/>
              </a:solidFill>
              <a:latin typeface="Calibri"/>
              <a:ea typeface="Calibri"/>
              <a:cs typeface="Calibri"/>
              <a:sym typeface="Calibri"/>
            </a:endParaRPr>
          </a:p>
        </p:txBody>
      </p:sp>
      <p:sp>
        <p:nvSpPr>
          <p:cNvPr id="1590" name="Google Shape;1590;p49"/>
          <p:cNvSpPr/>
          <p:nvPr/>
        </p:nvSpPr>
        <p:spPr>
          <a:xfrm>
            <a:off x="3319272" y="3200400"/>
            <a:ext cx="2679192" cy="2240280"/>
          </a:xfrm>
          <a:prstGeom prst="roundRect">
            <a:avLst>
              <a:gd name="adj" fmla="val 4082"/>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9"/>
          <p:cNvSpPr txBox="1"/>
          <p:nvPr/>
        </p:nvSpPr>
        <p:spPr>
          <a:xfrm>
            <a:off x="3483864" y="3337560"/>
            <a:ext cx="2350008" cy="6858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5803D"/>
              </a:buClr>
              <a:buSzPts val="1500"/>
              <a:buFont typeface="Calibri"/>
              <a:buNone/>
            </a:pPr>
            <a:r>
              <a:rPr lang="en-US" sz="1500" b="1" i="0" u="none" strike="noStrike" cap="none">
                <a:solidFill>
                  <a:srgbClr val="15803D"/>
                </a:solidFill>
                <a:latin typeface="Calibri"/>
                <a:ea typeface="Calibri"/>
                <a:cs typeface="Calibri"/>
                <a:sym typeface="Calibri"/>
              </a:rPr>
              <a:t>✓  Pretrain once, reuse</a:t>
            </a:r>
            <a:endParaRPr sz="1500" b="0" i="0" u="none" strike="noStrike" cap="none">
              <a:solidFill>
                <a:schemeClr val="dk1"/>
              </a:solidFill>
              <a:latin typeface="Calibri"/>
              <a:ea typeface="Calibri"/>
              <a:cs typeface="Calibri"/>
              <a:sym typeface="Calibri"/>
            </a:endParaRPr>
          </a:p>
        </p:txBody>
      </p:sp>
      <p:sp>
        <p:nvSpPr>
          <p:cNvPr id="1592" name="Google Shape;1592;p49"/>
          <p:cNvSpPr txBox="1"/>
          <p:nvPr/>
        </p:nvSpPr>
        <p:spPr>
          <a:xfrm>
            <a:off x="3483864" y="4023360"/>
            <a:ext cx="2350008" cy="13258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Learn grammar, facts and reasoning once; adapt to any task cheaply.</a:t>
            </a:r>
            <a:endParaRPr sz="1400" b="0" i="0" u="none" strike="noStrike" cap="none">
              <a:solidFill>
                <a:schemeClr val="dk1"/>
              </a:solidFill>
              <a:latin typeface="Calibri"/>
              <a:ea typeface="Calibri"/>
              <a:cs typeface="Calibri"/>
              <a:sym typeface="Calibri"/>
            </a:endParaRPr>
          </a:p>
        </p:txBody>
      </p:sp>
      <p:sp>
        <p:nvSpPr>
          <p:cNvPr id="1593" name="Google Shape;1593;p49"/>
          <p:cNvSpPr/>
          <p:nvPr/>
        </p:nvSpPr>
        <p:spPr>
          <a:xfrm>
            <a:off x="6181344" y="3200400"/>
            <a:ext cx="2679192" cy="2240280"/>
          </a:xfrm>
          <a:prstGeom prst="roundRect">
            <a:avLst>
              <a:gd name="adj" fmla="val 4082"/>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9"/>
          <p:cNvSpPr txBox="1"/>
          <p:nvPr/>
        </p:nvSpPr>
        <p:spPr>
          <a:xfrm>
            <a:off x="6345936" y="3337560"/>
            <a:ext cx="2350008" cy="6858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D97706"/>
              </a:buClr>
              <a:buSzPts val="1500"/>
              <a:buFont typeface="Calibri"/>
              <a:buNone/>
            </a:pPr>
            <a:r>
              <a:rPr lang="en-US" sz="1500" b="1" i="0" u="none" strike="noStrike" cap="none">
                <a:solidFill>
                  <a:srgbClr val="D97706"/>
                </a:solidFill>
                <a:latin typeface="Calibri"/>
                <a:ea typeface="Calibri"/>
                <a:cs typeface="Calibri"/>
                <a:sym typeface="Calibri"/>
              </a:rPr>
              <a:t>⚡  Why it works</a:t>
            </a:r>
            <a:endParaRPr sz="1500" b="0" i="0" u="none" strike="noStrike" cap="none">
              <a:solidFill>
                <a:schemeClr val="dk1"/>
              </a:solidFill>
              <a:latin typeface="Calibri"/>
              <a:ea typeface="Calibri"/>
              <a:cs typeface="Calibri"/>
              <a:sym typeface="Calibri"/>
            </a:endParaRPr>
          </a:p>
        </p:txBody>
      </p:sp>
      <p:sp>
        <p:nvSpPr>
          <p:cNvPr id="1595" name="Google Shape;1595;p49"/>
          <p:cNvSpPr txBox="1"/>
          <p:nvPr/>
        </p:nvSpPr>
        <p:spPr>
          <a:xfrm>
            <a:off x="6345936" y="4023360"/>
            <a:ext cx="2350008" cy="13258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Language has shared structure that transfers across tasks.</a:t>
            </a:r>
            <a:endParaRPr sz="1400" b="0" i="0" u="none" strike="noStrike" cap="none">
              <a:solidFill>
                <a:schemeClr val="dk1"/>
              </a:solidFill>
              <a:latin typeface="Calibri"/>
              <a:ea typeface="Calibri"/>
              <a:cs typeface="Calibri"/>
              <a:sym typeface="Calibri"/>
            </a:endParaRPr>
          </a:p>
        </p:txBody>
      </p:sp>
      <p:sp>
        <p:nvSpPr>
          <p:cNvPr id="1596" name="Google Shape;1596;p49"/>
          <p:cNvSpPr/>
          <p:nvPr/>
        </p:nvSpPr>
        <p:spPr>
          <a:xfrm>
            <a:off x="9043416" y="3200400"/>
            <a:ext cx="2679192" cy="2240280"/>
          </a:xfrm>
          <a:prstGeom prst="roundRect">
            <a:avLst>
              <a:gd name="adj" fmla="val 4082"/>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9"/>
          <p:cNvSpPr txBox="1"/>
          <p:nvPr/>
        </p:nvSpPr>
        <p:spPr>
          <a:xfrm>
            <a:off x="9208008" y="3337560"/>
            <a:ext cx="2350008" cy="6858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D28D9"/>
              </a:buClr>
              <a:buSzPts val="1500"/>
              <a:buFont typeface="Calibri"/>
              <a:buNone/>
            </a:pPr>
            <a:r>
              <a:rPr lang="en-US" sz="1500" b="1" i="0" u="none" strike="noStrike" cap="none">
                <a:solidFill>
                  <a:srgbClr val="6D28D9"/>
                </a:solidFill>
                <a:latin typeface="Calibri"/>
                <a:ea typeface="Calibri"/>
                <a:cs typeface="Calibri"/>
                <a:sym typeface="Calibri"/>
              </a:rPr>
              <a:t>★  Pretraining = learning attention</a:t>
            </a:r>
            <a:endParaRPr sz="1500" b="0" i="0" u="none" strike="noStrike" cap="none">
              <a:solidFill>
                <a:schemeClr val="dk1"/>
              </a:solidFill>
              <a:latin typeface="Calibri"/>
              <a:ea typeface="Calibri"/>
              <a:cs typeface="Calibri"/>
              <a:sym typeface="Calibri"/>
            </a:endParaRPr>
          </a:p>
        </p:txBody>
      </p:sp>
      <p:sp>
        <p:nvSpPr>
          <p:cNvPr id="1598" name="Google Shape;1598;p49"/>
          <p:cNvSpPr txBox="1"/>
          <p:nvPr/>
        </p:nvSpPr>
        <p:spPr>
          <a:xfrm>
            <a:off x="9208008" y="4023360"/>
            <a:ext cx="2350008" cy="13258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BERT and GPT pretraining is learning good Q, K, V and FFN weights.</a:t>
            </a:r>
            <a:endParaRPr sz="1400" b="0" i="0" u="none" strike="noStrike" cap="none">
              <a:solidFill>
                <a:schemeClr val="dk1"/>
              </a:solidFill>
              <a:latin typeface="Calibri"/>
              <a:ea typeface="Calibri"/>
              <a:cs typeface="Calibri"/>
              <a:sym typeface="Calibri"/>
            </a:endParaRPr>
          </a:p>
        </p:txBody>
      </p:sp>
      <p:sp>
        <p:nvSpPr>
          <p:cNvPr id="1599" name="Google Shape;1599;p49"/>
          <p:cNvSpPr/>
          <p:nvPr/>
        </p:nvSpPr>
        <p:spPr>
          <a:xfrm>
            <a:off x="457200" y="5669280"/>
            <a:ext cx="11277295" cy="621792"/>
          </a:xfrm>
          <a:prstGeom prst="roundRect">
            <a:avLst>
              <a:gd name="adj" fmla="val 8824"/>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9"/>
          <p:cNvSpPr txBox="1"/>
          <p:nvPr/>
        </p:nvSpPr>
        <p:spPr>
          <a:xfrm>
            <a:off x="594360" y="5705856"/>
            <a:ext cx="11002975" cy="54864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Real world:  </a:t>
            </a:r>
            <a:r>
              <a:rPr lang="en-US" sz="1400" b="0" i="1" u="none" strike="noStrike" cap="none">
                <a:solidFill>
                  <a:srgbClr val="7C3E0A"/>
                </a:solidFill>
                <a:latin typeface="Calibri"/>
                <a:ea typeface="Calibri"/>
                <a:cs typeface="Calibri"/>
                <a:sym typeface="Calibri"/>
              </a:rPr>
              <a:t>a hospital can adapt a general model with a few thousand of its own radiology reports, instead of collecting millions of labels from scratch.</a:t>
            </a:r>
            <a:endParaRPr sz="1400" b="0" i="0" u="none" strike="noStrike" cap="none">
              <a:solidFill>
                <a:schemeClr val="dk1"/>
              </a:solidFill>
              <a:latin typeface="Calibri"/>
              <a:ea typeface="Calibri"/>
              <a:cs typeface="Calibri"/>
              <a:sym typeface="Calibri"/>
            </a:endParaRPr>
          </a:p>
        </p:txBody>
      </p:sp>
      <p:sp>
        <p:nvSpPr>
          <p:cNvPr id="1601" name="Google Shape;1601;p49"/>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29</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50"/>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Three Families of Pretrained Transformers</a:t>
            </a:r>
            <a:endParaRPr sz="3000"/>
          </a:p>
        </p:txBody>
      </p:sp>
      <p:sp>
        <p:nvSpPr>
          <p:cNvPr id="1608" name="Google Shape;1608;p50"/>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Which parts of the original architecture each one keeps</a:t>
            </a:r>
            <a:endParaRPr sz="1500"/>
          </a:p>
        </p:txBody>
      </p:sp>
      <p:sp>
        <p:nvSpPr>
          <p:cNvPr id="1609" name="Google Shape;1609;p50"/>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7 · PRETRAINED FAMILIES</a:t>
            </a:r>
            <a:endParaRPr sz="1000" b="0" i="0" u="none" strike="noStrike" cap="none">
              <a:solidFill>
                <a:schemeClr val="dk1"/>
              </a:solidFill>
              <a:latin typeface="Calibri"/>
              <a:ea typeface="Calibri"/>
              <a:cs typeface="Calibri"/>
              <a:sym typeface="Calibri"/>
            </a:endParaRPr>
          </a:p>
        </p:txBody>
      </p:sp>
      <p:sp>
        <p:nvSpPr>
          <p:cNvPr id="1610" name="Google Shape;1610;p50"/>
          <p:cNvSpPr/>
          <p:nvPr/>
        </p:nvSpPr>
        <p:spPr>
          <a:xfrm>
            <a:off x="457200" y="1508760"/>
            <a:ext cx="3639312" cy="4069080"/>
          </a:xfrm>
          <a:prstGeom prst="roundRect">
            <a:avLst>
              <a:gd name="adj" fmla="val 25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0"/>
          <p:cNvSpPr/>
          <p:nvPr/>
        </p:nvSpPr>
        <p:spPr>
          <a:xfrm>
            <a:off x="640080" y="1691640"/>
            <a:ext cx="2011680" cy="310896"/>
          </a:xfrm>
          <a:prstGeom prst="roundRect">
            <a:avLst>
              <a:gd name="adj" fmla="val 23529"/>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0"/>
          <p:cNvSpPr txBox="1"/>
          <p:nvPr/>
        </p:nvSpPr>
        <p:spPr>
          <a:xfrm>
            <a:off x="640080" y="1691640"/>
            <a:ext cx="201168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Encoder-only</a:t>
            </a:r>
            <a:endParaRPr sz="1200" b="0" i="0" u="none" strike="noStrike" cap="none">
              <a:solidFill>
                <a:schemeClr val="dk1"/>
              </a:solidFill>
              <a:latin typeface="Calibri"/>
              <a:ea typeface="Calibri"/>
              <a:cs typeface="Calibri"/>
              <a:sym typeface="Calibri"/>
            </a:endParaRPr>
          </a:p>
        </p:txBody>
      </p:sp>
      <p:sp>
        <p:nvSpPr>
          <p:cNvPr id="1613" name="Google Shape;1613;p50"/>
          <p:cNvSpPr txBox="1"/>
          <p:nvPr/>
        </p:nvSpPr>
        <p:spPr>
          <a:xfrm>
            <a:off x="640080" y="2057400"/>
            <a:ext cx="3273552"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BERT, RoBERTa, DistilBERT</a:t>
            </a:r>
            <a:endParaRPr sz="1300" b="0" i="0" u="none" strike="noStrike" cap="none">
              <a:solidFill>
                <a:schemeClr val="dk1"/>
              </a:solidFill>
              <a:latin typeface="Calibri"/>
              <a:ea typeface="Calibri"/>
              <a:cs typeface="Calibri"/>
              <a:sym typeface="Calibri"/>
            </a:endParaRPr>
          </a:p>
        </p:txBody>
      </p:sp>
      <p:sp>
        <p:nvSpPr>
          <p:cNvPr id="1614" name="Google Shape;1614;p50"/>
          <p:cNvSpPr/>
          <p:nvPr/>
        </p:nvSpPr>
        <p:spPr>
          <a:xfrm>
            <a:off x="960120" y="2450592"/>
            <a:ext cx="2633472" cy="310896"/>
          </a:xfrm>
          <a:prstGeom prst="roundRect">
            <a:avLst>
              <a:gd name="adj" fmla="val 14706"/>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0"/>
          <p:cNvSpPr txBox="1"/>
          <p:nvPr/>
        </p:nvSpPr>
        <p:spPr>
          <a:xfrm>
            <a:off x="960120" y="2450592"/>
            <a:ext cx="2633472" cy="310896"/>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D4ED8"/>
              </a:buClr>
              <a:buSzPts val="1200"/>
              <a:buFont typeface="Calibri"/>
              <a:buNone/>
            </a:pPr>
            <a:r>
              <a:rPr lang="en-US" sz="1200" b="1" i="0" u="none" strike="noStrike" cap="none">
                <a:solidFill>
                  <a:srgbClr val="1D4ED8"/>
                </a:solidFill>
                <a:latin typeface="Calibri"/>
                <a:ea typeface="Calibri"/>
                <a:cs typeface="Calibri"/>
                <a:sym typeface="Calibri"/>
              </a:rPr>
              <a:t>Self-attention (both directions)</a:t>
            </a:r>
            <a:endParaRPr sz="1200" b="0" i="0" u="none" strike="noStrike" cap="none">
              <a:solidFill>
                <a:schemeClr val="dk1"/>
              </a:solidFill>
              <a:latin typeface="Calibri"/>
              <a:ea typeface="Calibri"/>
              <a:cs typeface="Calibri"/>
              <a:sym typeface="Calibri"/>
            </a:endParaRPr>
          </a:p>
        </p:txBody>
      </p:sp>
      <p:sp>
        <p:nvSpPr>
          <p:cNvPr id="1616" name="Google Shape;1616;p50"/>
          <p:cNvSpPr/>
          <p:nvPr/>
        </p:nvSpPr>
        <p:spPr>
          <a:xfrm>
            <a:off x="960120" y="2834640"/>
            <a:ext cx="2633472" cy="310896"/>
          </a:xfrm>
          <a:prstGeom prst="roundRect">
            <a:avLst>
              <a:gd name="adj" fmla="val 14706"/>
            </a:avLst>
          </a:prstGeom>
          <a:solidFill>
            <a:srgbClr val="E8EEFC"/>
          </a:solidFill>
          <a:ln w="12700" cap="flat" cmpd="sng">
            <a:solidFill>
              <a:srgbClr val="E8EEF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0"/>
          <p:cNvSpPr txBox="1"/>
          <p:nvPr/>
        </p:nvSpPr>
        <p:spPr>
          <a:xfrm>
            <a:off x="960120" y="2834640"/>
            <a:ext cx="2633472" cy="310896"/>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D4ED8"/>
              </a:buClr>
              <a:buSzPts val="1200"/>
              <a:buFont typeface="Calibri"/>
              <a:buNone/>
            </a:pPr>
            <a:r>
              <a:rPr lang="en-US" sz="1200" b="1" i="0" u="none" strike="noStrike" cap="none">
                <a:solidFill>
                  <a:srgbClr val="1D4ED8"/>
                </a:solidFill>
                <a:latin typeface="Calibri"/>
                <a:ea typeface="Calibri"/>
                <a:cs typeface="Calibri"/>
                <a:sym typeface="Calibri"/>
              </a:rPr>
              <a:t>FFN</a:t>
            </a:r>
            <a:endParaRPr sz="1200" b="0" i="0" u="none" strike="noStrike" cap="none">
              <a:solidFill>
                <a:schemeClr val="dk1"/>
              </a:solidFill>
              <a:latin typeface="Calibri"/>
              <a:ea typeface="Calibri"/>
              <a:cs typeface="Calibri"/>
              <a:sym typeface="Calibri"/>
            </a:endParaRPr>
          </a:p>
        </p:txBody>
      </p:sp>
      <p:sp>
        <p:nvSpPr>
          <p:cNvPr id="1618" name="Google Shape;1618;p50"/>
          <p:cNvSpPr txBox="1"/>
          <p:nvPr/>
        </p:nvSpPr>
        <p:spPr>
          <a:xfrm>
            <a:off x="640080" y="3639312"/>
            <a:ext cx="3273552"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Every token sees every other token. Trained by filling in masked words.</a:t>
            </a:r>
            <a:endParaRPr sz="1400" b="0" i="0" u="none" strike="noStrike" cap="none">
              <a:solidFill>
                <a:schemeClr val="dk1"/>
              </a:solidFill>
              <a:latin typeface="Calibri"/>
              <a:ea typeface="Calibri"/>
              <a:cs typeface="Calibri"/>
              <a:sym typeface="Calibri"/>
            </a:endParaRPr>
          </a:p>
        </p:txBody>
      </p:sp>
      <p:sp>
        <p:nvSpPr>
          <p:cNvPr id="1619" name="Google Shape;1619;p50"/>
          <p:cNvSpPr txBox="1"/>
          <p:nvPr/>
        </p:nvSpPr>
        <p:spPr>
          <a:xfrm>
            <a:off x="640080" y="4526280"/>
            <a:ext cx="3273552"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D4ED8"/>
              </a:buClr>
              <a:buSzPts val="1400"/>
              <a:buFont typeface="Calibri"/>
              <a:buNone/>
            </a:pPr>
            <a:r>
              <a:rPr lang="en-US" sz="1400" b="1" i="0" u="none" strike="noStrike" cap="none">
                <a:solidFill>
                  <a:srgbClr val="1D4ED8"/>
                </a:solidFill>
                <a:latin typeface="Calibri"/>
                <a:ea typeface="Calibri"/>
                <a:cs typeface="Calibri"/>
                <a:sym typeface="Calibri"/>
              </a:rPr>
              <a:t>Reads: classify, search, extract</a:t>
            </a:r>
            <a:endParaRPr sz="1400" b="0" i="0" u="none" strike="noStrike" cap="none">
              <a:solidFill>
                <a:schemeClr val="dk1"/>
              </a:solidFill>
              <a:latin typeface="Calibri"/>
              <a:ea typeface="Calibri"/>
              <a:cs typeface="Calibri"/>
              <a:sym typeface="Calibri"/>
            </a:endParaRPr>
          </a:p>
        </p:txBody>
      </p:sp>
      <p:sp>
        <p:nvSpPr>
          <p:cNvPr id="1620" name="Google Shape;1620;p50"/>
          <p:cNvSpPr txBox="1"/>
          <p:nvPr/>
        </p:nvSpPr>
        <p:spPr>
          <a:xfrm>
            <a:off x="640080" y="4892040"/>
            <a:ext cx="3273552"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e.g. Google Search query understanding</a:t>
            </a:r>
            <a:endParaRPr sz="1300" b="0" i="0" u="none" strike="noStrike" cap="none">
              <a:solidFill>
                <a:schemeClr val="dk1"/>
              </a:solidFill>
              <a:latin typeface="Calibri"/>
              <a:ea typeface="Calibri"/>
              <a:cs typeface="Calibri"/>
              <a:sym typeface="Calibri"/>
            </a:endParaRPr>
          </a:p>
        </p:txBody>
      </p:sp>
      <p:sp>
        <p:nvSpPr>
          <p:cNvPr id="1621" name="Google Shape;1621;p50"/>
          <p:cNvSpPr/>
          <p:nvPr/>
        </p:nvSpPr>
        <p:spPr>
          <a:xfrm>
            <a:off x="4279392" y="1508760"/>
            <a:ext cx="3639312" cy="4069080"/>
          </a:xfrm>
          <a:prstGeom prst="roundRect">
            <a:avLst>
              <a:gd name="adj" fmla="val 25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0"/>
          <p:cNvSpPr/>
          <p:nvPr/>
        </p:nvSpPr>
        <p:spPr>
          <a:xfrm>
            <a:off x="4462272" y="1691640"/>
            <a:ext cx="201168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0"/>
          <p:cNvSpPr txBox="1"/>
          <p:nvPr/>
        </p:nvSpPr>
        <p:spPr>
          <a:xfrm>
            <a:off x="4462272" y="1691640"/>
            <a:ext cx="201168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Decoder-only</a:t>
            </a:r>
            <a:endParaRPr sz="1200" b="0" i="0" u="none" strike="noStrike" cap="none">
              <a:solidFill>
                <a:schemeClr val="dk1"/>
              </a:solidFill>
              <a:latin typeface="Calibri"/>
              <a:ea typeface="Calibri"/>
              <a:cs typeface="Calibri"/>
              <a:sym typeface="Calibri"/>
            </a:endParaRPr>
          </a:p>
        </p:txBody>
      </p:sp>
      <p:sp>
        <p:nvSpPr>
          <p:cNvPr id="1624" name="Google Shape;1624;p50"/>
          <p:cNvSpPr txBox="1"/>
          <p:nvPr/>
        </p:nvSpPr>
        <p:spPr>
          <a:xfrm>
            <a:off x="4462272" y="2057400"/>
            <a:ext cx="3273552"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GPT, LLaMA, Claude, Gemini</a:t>
            </a:r>
            <a:endParaRPr sz="1300" b="0" i="0" u="none" strike="noStrike" cap="none">
              <a:solidFill>
                <a:schemeClr val="dk1"/>
              </a:solidFill>
              <a:latin typeface="Calibri"/>
              <a:ea typeface="Calibri"/>
              <a:cs typeface="Calibri"/>
              <a:sym typeface="Calibri"/>
            </a:endParaRPr>
          </a:p>
        </p:txBody>
      </p:sp>
      <p:sp>
        <p:nvSpPr>
          <p:cNvPr id="1625" name="Google Shape;1625;p50"/>
          <p:cNvSpPr/>
          <p:nvPr/>
        </p:nvSpPr>
        <p:spPr>
          <a:xfrm>
            <a:off x="4782312" y="2450592"/>
            <a:ext cx="2633472" cy="310896"/>
          </a:xfrm>
          <a:prstGeom prst="roundRect">
            <a:avLst>
              <a:gd name="adj" fmla="val 14706"/>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0"/>
          <p:cNvSpPr txBox="1"/>
          <p:nvPr/>
        </p:nvSpPr>
        <p:spPr>
          <a:xfrm>
            <a:off x="4782312" y="2450592"/>
            <a:ext cx="2633472" cy="310896"/>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6D28D9"/>
              </a:buClr>
              <a:buSzPts val="1200"/>
              <a:buFont typeface="Calibri"/>
              <a:buNone/>
            </a:pPr>
            <a:r>
              <a:rPr lang="en-US" sz="1200" b="1" i="0" u="none" strike="noStrike" cap="none">
                <a:solidFill>
                  <a:srgbClr val="6D28D9"/>
                </a:solidFill>
                <a:latin typeface="Calibri"/>
                <a:ea typeface="Calibri"/>
                <a:cs typeface="Calibri"/>
                <a:sym typeface="Calibri"/>
              </a:rPr>
              <a:t>Masked self-attention</a:t>
            </a:r>
            <a:endParaRPr sz="1200" b="0" i="0" u="none" strike="noStrike" cap="none">
              <a:solidFill>
                <a:schemeClr val="dk1"/>
              </a:solidFill>
              <a:latin typeface="Calibri"/>
              <a:ea typeface="Calibri"/>
              <a:cs typeface="Calibri"/>
              <a:sym typeface="Calibri"/>
            </a:endParaRPr>
          </a:p>
        </p:txBody>
      </p:sp>
      <p:sp>
        <p:nvSpPr>
          <p:cNvPr id="1627" name="Google Shape;1627;p50"/>
          <p:cNvSpPr/>
          <p:nvPr/>
        </p:nvSpPr>
        <p:spPr>
          <a:xfrm>
            <a:off x="4782312" y="2834640"/>
            <a:ext cx="2633472" cy="310896"/>
          </a:xfrm>
          <a:prstGeom prst="roundRect">
            <a:avLst>
              <a:gd name="adj" fmla="val 14706"/>
            </a:avLst>
          </a:prstGeom>
          <a:solidFill>
            <a:srgbClr val="F1ECFD"/>
          </a:solidFill>
          <a:ln w="12700" cap="flat" cmpd="sng">
            <a:solidFill>
              <a:srgbClr val="F1EC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0"/>
          <p:cNvSpPr txBox="1"/>
          <p:nvPr/>
        </p:nvSpPr>
        <p:spPr>
          <a:xfrm>
            <a:off x="4782312" y="2834640"/>
            <a:ext cx="2633472" cy="310896"/>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6D28D9"/>
              </a:buClr>
              <a:buSzPts val="1200"/>
              <a:buFont typeface="Calibri"/>
              <a:buNone/>
            </a:pPr>
            <a:r>
              <a:rPr lang="en-US" sz="1200" b="1" i="0" u="none" strike="noStrike" cap="none">
                <a:solidFill>
                  <a:srgbClr val="6D28D9"/>
                </a:solidFill>
                <a:latin typeface="Calibri"/>
                <a:ea typeface="Calibri"/>
                <a:cs typeface="Calibri"/>
                <a:sym typeface="Calibri"/>
              </a:rPr>
              <a:t>FFN</a:t>
            </a:r>
            <a:endParaRPr sz="1200" b="0" i="0" u="none" strike="noStrike" cap="none">
              <a:solidFill>
                <a:schemeClr val="dk1"/>
              </a:solidFill>
              <a:latin typeface="Calibri"/>
              <a:ea typeface="Calibri"/>
              <a:cs typeface="Calibri"/>
              <a:sym typeface="Calibri"/>
            </a:endParaRPr>
          </a:p>
        </p:txBody>
      </p:sp>
      <p:sp>
        <p:nvSpPr>
          <p:cNvPr id="1629" name="Google Shape;1629;p50"/>
          <p:cNvSpPr txBox="1"/>
          <p:nvPr/>
        </p:nvSpPr>
        <p:spPr>
          <a:xfrm>
            <a:off x="4462272" y="3639312"/>
            <a:ext cx="3273552"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Each token sees only earlier tokens. Trained to predict the next word.</a:t>
            </a:r>
            <a:endParaRPr sz="1400" b="0" i="0" u="none" strike="noStrike" cap="none">
              <a:solidFill>
                <a:schemeClr val="dk1"/>
              </a:solidFill>
              <a:latin typeface="Calibri"/>
              <a:ea typeface="Calibri"/>
              <a:cs typeface="Calibri"/>
              <a:sym typeface="Calibri"/>
            </a:endParaRPr>
          </a:p>
        </p:txBody>
      </p:sp>
      <p:sp>
        <p:nvSpPr>
          <p:cNvPr id="1630" name="Google Shape;1630;p50"/>
          <p:cNvSpPr txBox="1"/>
          <p:nvPr/>
        </p:nvSpPr>
        <p:spPr>
          <a:xfrm>
            <a:off x="4462272" y="4526280"/>
            <a:ext cx="3273552"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D28D9"/>
              </a:buClr>
              <a:buSzPts val="1400"/>
              <a:buFont typeface="Calibri"/>
              <a:buNone/>
            </a:pPr>
            <a:r>
              <a:rPr lang="en-US" sz="1400" b="1" i="0" u="none" strike="noStrike" cap="none">
                <a:solidFill>
                  <a:srgbClr val="6D28D9"/>
                </a:solidFill>
                <a:latin typeface="Calibri"/>
                <a:ea typeface="Calibri"/>
                <a:cs typeface="Calibri"/>
                <a:sym typeface="Calibri"/>
              </a:rPr>
              <a:t>Writes: chat, code, drafting</a:t>
            </a:r>
            <a:endParaRPr sz="1400" b="0" i="0" u="none" strike="noStrike" cap="none">
              <a:solidFill>
                <a:schemeClr val="dk1"/>
              </a:solidFill>
              <a:latin typeface="Calibri"/>
              <a:ea typeface="Calibri"/>
              <a:cs typeface="Calibri"/>
              <a:sym typeface="Calibri"/>
            </a:endParaRPr>
          </a:p>
        </p:txBody>
      </p:sp>
      <p:sp>
        <p:nvSpPr>
          <p:cNvPr id="1631" name="Google Shape;1631;p50"/>
          <p:cNvSpPr txBox="1"/>
          <p:nvPr/>
        </p:nvSpPr>
        <p:spPr>
          <a:xfrm>
            <a:off x="4462272" y="4892040"/>
            <a:ext cx="3273552"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e.g. ChatGPT, GitHub Copilot</a:t>
            </a:r>
            <a:endParaRPr sz="1300" b="0" i="0" u="none" strike="noStrike" cap="none">
              <a:solidFill>
                <a:schemeClr val="dk1"/>
              </a:solidFill>
              <a:latin typeface="Calibri"/>
              <a:ea typeface="Calibri"/>
              <a:cs typeface="Calibri"/>
              <a:sym typeface="Calibri"/>
            </a:endParaRPr>
          </a:p>
        </p:txBody>
      </p:sp>
      <p:sp>
        <p:nvSpPr>
          <p:cNvPr id="1632" name="Google Shape;1632;p50"/>
          <p:cNvSpPr/>
          <p:nvPr/>
        </p:nvSpPr>
        <p:spPr>
          <a:xfrm>
            <a:off x="8101584" y="1508760"/>
            <a:ext cx="3639312" cy="4069080"/>
          </a:xfrm>
          <a:prstGeom prst="roundRect">
            <a:avLst>
              <a:gd name="adj" fmla="val 2513"/>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0"/>
          <p:cNvSpPr/>
          <p:nvPr/>
        </p:nvSpPr>
        <p:spPr>
          <a:xfrm>
            <a:off x="8284464" y="1691640"/>
            <a:ext cx="201168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0"/>
          <p:cNvSpPr txBox="1"/>
          <p:nvPr/>
        </p:nvSpPr>
        <p:spPr>
          <a:xfrm>
            <a:off x="8284464" y="1691640"/>
            <a:ext cx="201168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Encoder-decoder</a:t>
            </a:r>
            <a:endParaRPr sz="1200" b="0" i="0" u="none" strike="noStrike" cap="none">
              <a:solidFill>
                <a:schemeClr val="dk1"/>
              </a:solidFill>
              <a:latin typeface="Calibri"/>
              <a:ea typeface="Calibri"/>
              <a:cs typeface="Calibri"/>
              <a:sym typeface="Calibri"/>
            </a:endParaRPr>
          </a:p>
        </p:txBody>
      </p:sp>
      <p:sp>
        <p:nvSpPr>
          <p:cNvPr id="1635" name="Google Shape;1635;p50"/>
          <p:cNvSpPr txBox="1"/>
          <p:nvPr/>
        </p:nvSpPr>
        <p:spPr>
          <a:xfrm>
            <a:off x="8284464" y="2057400"/>
            <a:ext cx="3273552"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T5, BART, Whisper, IndicTrans2</a:t>
            </a:r>
            <a:endParaRPr sz="1300" b="0" i="0" u="none" strike="noStrike" cap="none">
              <a:solidFill>
                <a:schemeClr val="dk1"/>
              </a:solidFill>
              <a:latin typeface="Calibri"/>
              <a:ea typeface="Calibri"/>
              <a:cs typeface="Calibri"/>
              <a:sym typeface="Calibri"/>
            </a:endParaRPr>
          </a:p>
        </p:txBody>
      </p:sp>
      <p:sp>
        <p:nvSpPr>
          <p:cNvPr id="1636" name="Google Shape;1636;p50"/>
          <p:cNvSpPr/>
          <p:nvPr/>
        </p:nvSpPr>
        <p:spPr>
          <a:xfrm>
            <a:off x="8604504" y="2450592"/>
            <a:ext cx="2633472" cy="310896"/>
          </a:xfrm>
          <a:prstGeom prst="roundRect">
            <a:avLst>
              <a:gd name="adj" fmla="val 14706"/>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0"/>
          <p:cNvSpPr txBox="1"/>
          <p:nvPr/>
        </p:nvSpPr>
        <p:spPr>
          <a:xfrm>
            <a:off x="8604504" y="2450592"/>
            <a:ext cx="2633472" cy="310896"/>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Masked self-attention</a:t>
            </a:r>
            <a:endParaRPr sz="1200" b="0" i="0" u="none" strike="noStrike" cap="none">
              <a:solidFill>
                <a:schemeClr val="dk1"/>
              </a:solidFill>
              <a:latin typeface="Calibri"/>
              <a:ea typeface="Calibri"/>
              <a:cs typeface="Calibri"/>
              <a:sym typeface="Calibri"/>
            </a:endParaRPr>
          </a:p>
        </p:txBody>
      </p:sp>
      <p:sp>
        <p:nvSpPr>
          <p:cNvPr id="1638" name="Google Shape;1638;p50"/>
          <p:cNvSpPr/>
          <p:nvPr/>
        </p:nvSpPr>
        <p:spPr>
          <a:xfrm>
            <a:off x="8604504" y="2834640"/>
            <a:ext cx="2633472" cy="310896"/>
          </a:xfrm>
          <a:prstGeom prst="roundRect">
            <a:avLst>
              <a:gd name="adj" fmla="val 14706"/>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0"/>
          <p:cNvSpPr txBox="1"/>
          <p:nvPr/>
        </p:nvSpPr>
        <p:spPr>
          <a:xfrm>
            <a:off x="8604504" y="2834640"/>
            <a:ext cx="2633472" cy="310896"/>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Cross-attention</a:t>
            </a:r>
            <a:endParaRPr sz="1200" b="0" i="0" u="none" strike="noStrike" cap="none">
              <a:solidFill>
                <a:schemeClr val="dk1"/>
              </a:solidFill>
              <a:latin typeface="Calibri"/>
              <a:ea typeface="Calibri"/>
              <a:cs typeface="Calibri"/>
              <a:sym typeface="Calibri"/>
            </a:endParaRPr>
          </a:p>
        </p:txBody>
      </p:sp>
      <p:sp>
        <p:nvSpPr>
          <p:cNvPr id="1640" name="Google Shape;1640;p50"/>
          <p:cNvSpPr/>
          <p:nvPr/>
        </p:nvSpPr>
        <p:spPr>
          <a:xfrm>
            <a:off x="8604504" y="3218688"/>
            <a:ext cx="2633472" cy="310896"/>
          </a:xfrm>
          <a:prstGeom prst="roundRect">
            <a:avLst>
              <a:gd name="adj" fmla="val 14706"/>
            </a:avLst>
          </a:prstGeom>
          <a:solidFill>
            <a:srgbClr val="E6F4F1"/>
          </a:solidFill>
          <a:ln w="12700" cap="flat" cmpd="sng">
            <a:solidFill>
              <a:srgbClr val="E6F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0"/>
          <p:cNvSpPr txBox="1"/>
          <p:nvPr/>
        </p:nvSpPr>
        <p:spPr>
          <a:xfrm>
            <a:off x="8604504" y="3218688"/>
            <a:ext cx="2633472" cy="310896"/>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FFN</a:t>
            </a:r>
            <a:endParaRPr sz="1200" b="0" i="0" u="none" strike="noStrike" cap="none">
              <a:solidFill>
                <a:schemeClr val="dk1"/>
              </a:solidFill>
              <a:latin typeface="Calibri"/>
              <a:ea typeface="Calibri"/>
              <a:cs typeface="Calibri"/>
              <a:sym typeface="Calibri"/>
            </a:endParaRPr>
          </a:p>
        </p:txBody>
      </p:sp>
      <p:sp>
        <p:nvSpPr>
          <p:cNvPr id="1642" name="Google Shape;1642;p50"/>
          <p:cNvSpPr txBox="1"/>
          <p:nvPr/>
        </p:nvSpPr>
        <p:spPr>
          <a:xfrm>
            <a:off x="8284464" y="3639312"/>
            <a:ext cx="3273552" cy="86868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Encoder reads the input; decoder writes the output while reading it via cross-attention.</a:t>
            </a:r>
            <a:endParaRPr sz="1400" b="0" i="0" u="none" strike="noStrike" cap="none">
              <a:solidFill>
                <a:schemeClr val="dk1"/>
              </a:solidFill>
              <a:latin typeface="Calibri"/>
              <a:ea typeface="Calibri"/>
              <a:cs typeface="Calibri"/>
              <a:sym typeface="Calibri"/>
            </a:endParaRPr>
          </a:p>
        </p:txBody>
      </p:sp>
      <p:sp>
        <p:nvSpPr>
          <p:cNvPr id="1643" name="Google Shape;1643;p50"/>
          <p:cNvSpPr txBox="1"/>
          <p:nvPr/>
        </p:nvSpPr>
        <p:spPr>
          <a:xfrm>
            <a:off x="8284464" y="4526280"/>
            <a:ext cx="3273552" cy="3657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Reads then writes: translate, summarise</a:t>
            </a:r>
            <a:endParaRPr sz="1400" b="0" i="0" u="none" strike="noStrike" cap="none">
              <a:solidFill>
                <a:schemeClr val="dk1"/>
              </a:solidFill>
              <a:latin typeface="Calibri"/>
              <a:ea typeface="Calibri"/>
              <a:cs typeface="Calibri"/>
              <a:sym typeface="Calibri"/>
            </a:endParaRPr>
          </a:p>
        </p:txBody>
      </p:sp>
      <p:sp>
        <p:nvSpPr>
          <p:cNvPr id="1644" name="Google Shape;1644;p50"/>
          <p:cNvSpPr txBox="1"/>
          <p:nvPr/>
        </p:nvSpPr>
        <p:spPr>
          <a:xfrm>
            <a:off x="8284464" y="4892040"/>
            <a:ext cx="3273552" cy="548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e.g. Whisper subtitles, IndicTrans2</a:t>
            </a:r>
            <a:endParaRPr sz="1300" b="0" i="0" u="none" strike="noStrike" cap="none">
              <a:solidFill>
                <a:schemeClr val="dk1"/>
              </a:solidFill>
              <a:latin typeface="Calibri"/>
              <a:ea typeface="Calibri"/>
              <a:cs typeface="Calibri"/>
              <a:sym typeface="Calibri"/>
            </a:endParaRPr>
          </a:p>
        </p:txBody>
      </p:sp>
      <p:sp>
        <p:nvSpPr>
          <p:cNvPr id="1645" name="Google Shape;1645;p50"/>
          <p:cNvSpPr/>
          <p:nvPr/>
        </p:nvSpPr>
        <p:spPr>
          <a:xfrm>
            <a:off x="457200" y="5760720"/>
            <a:ext cx="11277295" cy="548640"/>
          </a:xfrm>
          <a:prstGeom prst="roundRect">
            <a:avLst>
              <a:gd name="adj" fmla="val 10000"/>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0"/>
          <p:cNvSpPr txBox="1"/>
          <p:nvPr/>
        </p:nvSpPr>
        <p:spPr>
          <a:xfrm>
            <a:off x="594360" y="5797296"/>
            <a:ext cx="11002975" cy="47548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Warm-up link:  </a:t>
            </a:r>
            <a:r>
              <a:rPr lang="en-US" sz="1400" b="0" i="0" u="none" strike="noStrike" cap="none">
                <a:solidFill>
                  <a:srgbClr val="334155"/>
                </a:solidFill>
                <a:latin typeface="Calibri"/>
                <a:ea typeface="Calibri"/>
                <a:cs typeface="Calibri"/>
                <a:sym typeface="Calibri"/>
              </a:rPr>
              <a:t>remember reading vs writing? Encoder-only reads, decoder-only writes, encoder-decoder reads then writes.</a:t>
            </a:r>
            <a:endParaRPr sz="1400" b="0" i="0" u="none" strike="noStrike" cap="none">
              <a:solidFill>
                <a:schemeClr val="dk1"/>
              </a:solidFill>
              <a:latin typeface="Calibri"/>
              <a:ea typeface="Calibri"/>
              <a:cs typeface="Calibri"/>
              <a:sym typeface="Calibri"/>
            </a:endParaRPr>
          </a:p>
        </p:txBody>
      </p:sp>
      <p:sp>
        <p:nvSpPr>
          <p:cNvPr id="1647" name="Google Shape;1647;p50"/>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30</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52"/>
        <p:cNvGrpSpPr/>
        <p:nvPr/>
      </p:nvGrpSpPr>
      <p:grpSpPr>
        <a:xfrm>
          <a:off x="0" y="0"/>
          <a:ext cx="0" cy="0"/>
          <a:chOff x="0" y="0"/>
          <a:chExt cx="0" cy="0"/>
        </a:xfrm>
      </p:grpSpPr>
      <p:sp>
        <p:nvSpPr>
          <p:cNvPr id="1653" name="Google Shape;1653;p51"/>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Where Transformers Run Today</a:t>
            </a:r>
            <a:endParaRPr sz="3000"/>
          </a:p>
        </p:txBody>
      </p:sp>
      <p:sp>
        <p:nvSpPr>
          <p:cNvPr id="1654" name="Google Shape;1654;p51"/>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The same building blocks, deployed at planetary scale</a:t>
            </a:r>
            <a:endParaRPr sz="1500"/>
          </a:p>
        </p:txBody>
      </p:sp>
      <p:sp>
        <p:nvSpPr>
          <p:cNvPr id="1655" name="Google Shape;1655;p51"/>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7 · PRETRAINED FAMILIES</a:t>
            </a:r>
            <a:endParaRPr sz="1000" b="0" i="0" u="none" strike="noStrike" cap="none">
              <a:solidFill>
                <a:schemeClr val="dk1"/>
              </a:solidFill>
              <a:latin typeface="Calibri"/>
              <a:ea typeface="Calibri"/>
              <a:cs typeface="Calibri"/>
              <a:sym typeface="Calibri"/>
            </a:endParaRPr>
          </a:p>
        </p:txBody>
      </p:sp>
      <p:sp>
        <p:nvSpPr>
          <p:cNvPr id="1656" name="Google Shape;1656;p51"/>
          <p:cNvSpPr/>
          <p:nvPr/>
        </p:nvSpPr>
        <p:spPr>
          <a:xfrm>
            <a:off x="457200" y="1508760"/>
            <a:ext cx="3639312" cy="1847088"/>
          </a:xfrm>
          <a:prstGeom prst="roundRect">
            <a:avLst>
              <a:gd name="adj" fmla="val 495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1"/>
          <p:cNvSpPr/>
          <p:nvPr/>
        </p:nvSpPr>
        <p:spPr>
          <a:xfrm>
            <a:off x="658368" y="1709928"/>
            <a:ext cx="566928" cy="566928"/>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58" name="Google Shape;1658;p51" descr="preencoded.png"/>
          <p:cNvPicPr preferRelativeResize="0"/>
          <p:nvPr/>
        </p:nvPicPr>
        <p:blipFill rotWithShape="1">
          <a:blip r:embed="rId3">
            <a:alphaModFix/>
          </a:blip>
          <a:srcRect/>
          <a:stretch/>
        </p:blipFill>
        <p:spPr>
          <a:xfrm>
            <a:off x="794431" y="1845991"/>
            <a:ext cx="294803" cy="294803"/>
          </a:xfrm>
          <a:prstGeom prst="rect">
            <a:avLst/>
          </a:prstGeom>
          <a:noFill/>
          <a:ln>
            <a:noFill/>
          </a:ln>
        </p:spPr>
      </p:pic>
      <p:sp>
        <p:nvSpPr>
          <p:cNvPr id="1659" name="Google Shape;1659;p51"/>
          <p:cNvSpPr txBox="1"/>
          <p:nvPr/>
        </p:nvSpPr>
        <p:spPr>
          <a:xfrm>
            <a:off x="1371600" y="1764792"/>
            <a:ext cx="258775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Chat assistants</a:t>
            </a:r>
            <a:endParaRPr sz="1700" b="0" i="0" u="none" strike="noStrike" cap="none">
              <a:solidFill>
                <a:schemeClr val="dk1"/>
              </a:solidFill>
              <a:latin typeface="Calibri"/>
              <a:ea typeface="Calibri"/>
              <a:cs typeface="Calibri"/>
              <a:sym typeface="Calibri"/>
            </a:endParaRPr>
          </a:p>
        </p:txBody>
      </p:sp>
      <p:sp>
        <p:nvSpPr>
          <p:cNvPr id="1660" name="Google Shape;1660;p51"/>
          <p:cNvSpPr txBox="1"/>
          <p:nvPr/>
        </p:nvSpPr>
        <p:spPr>
          <a:xfrm>
            <a:off x="658368" y="2377440"/>
            <a:ext cx="3236976"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ChatGPT, Gemini, Claude. GPT literally stands for Generative Pre-trained Transformer.</a:t>
            </a:r>
            <a:endParaRPr sz="1400" b="0" i="0" u="none" strike="noStrike" cap="none">
              <a:solidFill>
                <a:schemeClr val="dk1"/>
              </a:solidFill>
              <a:latin typeface="Calibri"/>
              <a:ea typeface="Calibri"/>
              <a:cs typeface="Calibri"/>
              <a:sym typeface="Calibri"/>
            </a:endParaRPr>
          </a:p>
        </p:txBody>
      </p:sp>
      <p:sp>
        <p:nvSpPr>
          <p:cNvPr id="1661" name="Google Shape;1661;p51"/>
          <p:cNvSpPr/>
          <p:nvPr/>
        </p:nvSpPr>
        <p:spPr>
          <a:xfrm>
            <a:off x="4279392" y="1508760"/>
            <a:ext cx="3639312" cy="1847088"/>
          </a:xfrm>
          <a:prstGeom prst="roundRect">
            <a:avLst>
              <a:gd name="adj" fmla="val 495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1"/>
          <p:cNvSpPr/>
          <p:nvPr/>
        </p:nvSpPr>
        <p:spPr>
          <a:xfrm>
            <a:off x="4480560" y="1709928"/>
            <a:ext cx="566928" cy="566928"/>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63" name="Google Shape;1663;p51" descr="preencoded.png"/>
          <p:cNvPicPr preferRelativeResize="0"/>
          <p:nvPr/>
        </p:nvPicPr>
        <p:blipFill rotWithShape="1">
          <a:blip r:embed="rId4">
            <a:alphaModFix/>
          </a:blip>
          <a:srcRect/>
          <a:stretch/>
        </p:blipFill>
        <p:spPr>
          <a:xfrm>
            <a:off x="4616623" y="1845991"/>
            <a:ext cx="294803" cy="294803"/>
          </a:xfrm>
          <a:prstGeom prst="rect">
            <a:avLst/>
          </a:prstGeom>
          <a:noFill/>
          <a:ln>
            <a:noFill/>
          </a:ln>
        </p:spPr>
      </p:pic>
      <p:sp>
        <p:nvSpPr>
          <p:cNvPr id="1664" name="Google Shape;1664;p51"/>
          <p:cNvSpPr txBox="1"/>
          <p:nvPr/>
        </p:nvSpPr>
        <p:spPr>
          <a:xfrm>
            <a:off x="5193792" y="1764792"/>
            <a:ext cx="258775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Web search</a:t>
            </a:r>
            <a:endParaRPr sz="1700" b="0" i="0" u="none" strike="noStrike" cap="none">
              <a:solidFill>
                <a:schemeClr val="dk1"/>
              </a:solidFill>
              <a:latin typeface="Calibri"/>
              <a:ea typeface="Calibri"/>
              <a:cs typeface="Calibri"/>
              <a:sym typeface="Calibri"/>
            </a:endParaRPr>
          </a:p>
        </p:txBody>
      </p:sp>
      <p:sp>
        <p:nvSpPr>
          <p:cNvPr id="1665" name="Google Shape;1665;p51"/>
          <p:cNvSpPr txBox="1"/>
          <p:nvPr/>
        </p:nvSpPr>
        <p:spPr>
          <a:xfrm>
            <a:off x="4480560" y="2377440"/>
            <a:ext cx="3236976"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Google Search has used BERT (encoder-only) to understand queries since 2019.</a:t>
            </a:r>
            <a:endParaRPr sz="1400" b="0" i="0" u="none" strike="noStrike" cap="none">
              <a:solidFill>
                <a:schemeClr val="dk1"/>
              </a:solidFill>
              <a:latin typeface="Calibri"/>
              <a:ea typeface="Calibri"/>
              <a:cs typeface="Calibri"/>
              <a:sym typeface="Calibri"/>
            </a:endParaRPr>
          </a:p>
        </p:txBody>
      </p:sp>
      <p:sp>
        <p:nvSpPr>
          <p:cNvPr id="1666" name="Google Shape;1666;p51"/>
          <p:cNvSpPr/>
          <p:nvPr/>
        </p:nvSpPr>
        <p:spPr>
          <a:xfrm>
            <a:off x="8101584" y="1508760"/>
            <a:ext cx="3639312" cy="1847088"/>
          </a:xfrm>
          <a:prstGeom prst="roundRect">
            <a:avLst>
              <a:gd name="adj" fmla="val 495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1"/>
          <p:cNvSpPr/>
          <p:nvPr/>
        </p:nvSpPr>
        <p:spPr>
          <a:xfrm>
            <a:off x="8302752" y="1709928"/>
            <a:ext cx="566928" cy="566928"/>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68" name="Google Shape;1668;p51" descr="preencoded.png"/>
          <p:cNvPicPr preferRelativeResize="0"/>
          <p:nvPr/>
        </p:nvPicPr>
        <p:blipFill rotWithShape="1">
          <a:blip r:embed="rId5">
            <a:alphaModFix/>
          </a:blip>
          <a:srcRect/>
          <a:stretch/>
        </p:blipFill>
        <p:spPr>
          <a:xfrm>
            <a:off x="8438815" y="1845991"/>
            <a:ext cx="294803" cy="294803"/>
          </a:xfrm>
          <a:prstGeom prst="rect">
            <a:avLst/>
          </a:prstGeom>
          <a:noFill/>
          <a:ln>
            <a:noFill/>
          </a:ln>
        </p:spPr>
      </p:pic>
      <p:sp>
        <p:nvSpPr>
          <p:cNvPr id="1669" name="Google Shape;1669;p51"/>
          <p:cNvSpPr txBox="1"/>
          <p:nvPr/>
        </p:nvSpPr>
        <p:spPr>
          <a:xfrm>
            <a:off x="9015984" y="1764792"/>
            <a:ext cx="258775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Speech</a:t>
            </a:r>
            <a:endParaRPr sz="1700" b="0" i="0" u="none" strike="noStrike" cap="none">
              <a:solidFill>
                <a:schemeClr val="dk1"/>
              </a:solidFill>
              <a:latin typeface="Calibri"/>
              <a:ea typeface="Calibri"/>
              <a:cs typeface="Calibri"/>
              <a:sym typeface="Calibri"/>
            </a:endParaRPr>
          </a:p>
        </p:txBody>
      </p:sp>
      <p:sp>
        <p:nvSpPr>
          <p:cNvPr id="1670" name="Google Shape;1670;p51"/>
          <p:cNvSpPr txBox="1"/>
          <p:nvPr/>
        </p:nvSpPr>
        <p:spPr>
          <a:xfrm>
            <a:off x="8302752" y="2377440"/>
            <a:ext cx="3236976"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OpenAI Whisper, an encoder-decoder Transformer, powers transcription and auto-subtitles.</a:t>
            </a:r>
            <a:endParaRPr sz="1400" b="0" i="0" u="none" strike="noStrike" cap="none">
              <a:solidFill>
                <a:schemeClr val="dk1"/>
              </a:solidFill>
              <a:latin typeface="Calibri"/>
              <a:ea typeface="Calibri"/>
              <a:cs typeface="Calibri"/>
              <a:sym typeface="Calibri"/>
            </a:endParaRPr>
          </a:p>
        </p:txBody>
      </p:sp>
      <p:sp>
        <p:nvSpPr>
          <p:cNvPr id="1671" name="Google Shape;1671;p51"/>
          <p:cNvSpPr/>
          <p:nvPr/>
        </p:nvSpPr>
        <p:spPr>
          <a:xfrm>
            <a:off x="457200" y="3520440"/>
            <a:ext cx="3639312" cy="1847088"/>
          </a:xfrm>
          <a:prstGeom prst="roundRect">
            <a:avLst>
              <a:gd name="adj" fmla="val 495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1"/>
          <p:cNvSpPr/>
          <p:nvPr/>
        </p:nvSpPr>
        <p:spPr>
          <a:xfrm>
            <a:off x="658368" y="3721608"/>
            <a:ext cx="566928" cy="566928"/>
          </a:xfrm>
          <a:prstGeom prst="ellipse">
            <a:avLst/>
          </a:prstGeom>
          <a:solidFill>
            <a:srgbClr val="15803D"/>
          </a:solidFill>
          <a:ln w="9525" cap="flat" cmpd="sng">
            <a:solidFill>
              <a:srgbClr val="1580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73" name="Google Shape;1673;p51" descr="preencoded.png"/>
          <p:cNvPicPr preferRelativeResize="0"/>
          <p:nvPr/>
        </p:nvPicPr>
        <p:blipFill rotWithShape="1">
          <a:blip r:embed="rId6">
            <a:alphaModFix/>
          </a:blip>
          <a:srcRect/>
          <a:stretch/>
        </p:blipFill>
        <p:spPr>
          <a:xfrm>
            <a:off x="794431" y="3857671"/>
            <a:ext cx="294803" cy="294803"/>
          </a:xfrm>
          <a:prstGeom prst="rect">
            <a:avLst/>
          </a:prstGeom>
          <a:noFill/>
          <a:ln>
            <a:noFill/>
          </a:ln>
        </p:spPr>
      </p:pic>
      <p:sp>
        <p:nvSpPr>
          <p:cNvPr id="1674" name="Google Shape;1674;p51"/>
          <p:cNvSpPr txBox="1"/>
          <p:nvPr/>
        </p:nvSpPr>
        <p:spPr>
          <a:xfrm>
            <a:off x="1371600" y="3776472"/>
            <a:ext cx="258775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Biology</a:t>
            </a:r>
            <a:endParaRPr sz="1700" b="0" i="0" u="none" strike="noStrike" cap="none">
              <a:solidFill>
                <a:schemeClr val="dk1"/>
              </a:solidFill>
              <a:latin typeface="Calibri"/>
              <a:ea typeface="Calibri"/>
              <a:cs typeface="Calibri"/>
              <a:sym typeface="Calibri"/>
            </a:endParaRPr>
          </a:p>
        </p:txBody>
      </p:sp>
      <p:sp>
        <p:nvSpPr>
          <p:cNvPr id="1675" name="Google Shape;1675;p51"/>
          <p:cNvSpPr txBox="1"/>
          <p:nvPr/>
        </p:nvSpPr>
        <p:spPr>
          <a:xfrm>
            <a:off x="658368" y="4389120"/>
            <a:ext cx="3236976"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AlphaFold 2 uses attention to predict protein structures; it was recognised in the 2024 Nobel Prize in Chemistry.</a:t>
            </a:r>
            <a:endParaRPr sz="1400" b="0" i="0" u="none" strike="noStrike" cap="none">
              <a:solidFill>
                <a:schemeClr val="dk1"/>
              </a:solidFill>
              <a:latin typeface="Calibri"/>
              <a:ea typeface="Calibri"/>
              <a:cs typeface="Calibri"/>
              <a:sym typeface="Calibri"/>
            </a:endParaRPr>
          </a:p>
        </p:txBody>
      </p:sp>
      <p:sp>
        <p:nvSpPr>
          <p:cNvPr id="1676" name="Google Shape;1676;p51"/>
          <p:cNvSpPr/>
          <p:nvPr/>
        </p:nvSpPr>
        <p:spPr>
          <a:xfrm>
            <a:off x="4279392" y="3520440"/>
            <a:ext cx="3639312" cy="1847088"/>
          </a:xfrm>
          <a:prstGeom prst="roundRect">
            <a:avLst>
              <a:gd name="adj" fmla="val 495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1"/>
          <p:cNvSpPr/>
          <p:nvPr/>
        </p:nvSpPr>
        <p:spPr>
          <a:xfrm>
            <a:off x="4480560" y="3721608"/>
            <a:ext cx="566928" cy="566928"/>
          </a:xfrm>
          <a:prstGeom prst="ellipse">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78" name="Google Shape;1678;p51" descr="preencoded.png"/>
          <p:cNvPicPr preferRelativeResize="0"/>
          <p:nvPr/>
        </p:nvPicPr>
        <p:blipFill rotWithShape="1">
          <a:blip r:embed="rId7">
            <a:alphaModFix/>
          </a:blip>
          <a:srcRect/>
          <a:stretch/>
        </p:blipFill>
        <p:spPr>
          <a:xfrm>
            <a:off x="4616623" y="3857671"/>
            <a:ext cx="294803" cy="294803"/>
          </a:xfrm>
          <a:prstGeom prst="rect">
            <a:avLst/>
          </a:prstGeom>
          <a:noFill/>
          <a:ln>
            <a:noFill/>
          </a:ln>
        </p:spPr>
      </p:pic>
      <p:sp>
        <p:nvSpPr>
          <p:cNvPr id="1679" name="Google Shape;1679;p51"/>
          <p:cNvSpPr txBox="1"/>
          <p:nvPr/>
        </p:nvSpPr>
        <p:spPr>
          <a:xfrm>
            <a:off x="5193792" y="3776472"/>
            <a:ext cx="258775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Indian languages</a:t>
            </a:r>
            <a:endParaRPr sz="1700" b="0" i="0" u="none" strike="noStrike" cap="none">
              <a:solidFill>
                <a:schemeClr val="dk1"/>
              </a:solidFill>
              <a:latin typeface="Calibri"/>
              <a:ea typeface="Calibri"/>
              <a:cs typeface="Calibri"/>
              <a:sym typeface="Calibri"/>
            </a:endParaRPr>
          </a:p>
        </p:txBody>
      </p:sp>
      <p:sp>
        <p:nvSpPr>
          <p:cNvPr id="1680" name="Google Shape;1680;p51"/>
          <p:cNvSpPr txBox="1"/>
          <p:nvPr/>
        </p:nvSpPr>
        <p:spPr>
          <a:xfrm>
            <a:off x="4480560" y="4389120"/>
            <a:ext cx="3236976"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AI4Bharat's IndicTrans2 translates across all 22 scheduled Indian languages and supports the Bhashini mission.</a:t>
            </a:r>
            <a:endParaRPr sz="1400" b="0" i="0" u="none" strike="noStrike" cap="none">
              <a:solidFill>
                <a:schemeClr val="dk1"/>
              </a:solidFill>
              <a:latin typeface="Calibri"/>
              <a:ea typeface="Calibri"/>
              <a:cs typeface="Calibri"/>
              <a:sym typeface="Calibri"/>
            </a:endParaRPr>
          </a:p>
        </p:txBody>
      </p:sp>
      <p:sp>
        <p:nvSpPr>
          <p:cNvPr id="1681" name="Google Shape;1681;p51"/>
          <p:cNvSpPr/>
          <p:nvPr/>
        </p:nvSpPr>
        <p:spPr>
          <a:xfrm>
            <a:off x="8101584" y="3520440"/>
            <a:ext cx="3639312" cy="1847088"/>
          </a:xfrm>
          <a:prstGeom prst="roundRect">
            <a:avLst>
              <a:gd name="adj" fmla="val 4950"/>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1"/>
          <p:cNvSpPr/>
          <p:nvPr/>
        </p:nvSpPr>
        <p:spPr>
          <a:xfrm>
            <a:off x="8302752" y="3721608"/>
            <a:ext cx="566928" cy="566928"/>
          </a:xfrm>
          <a:prstGeom prst="ellipse">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83" name="Google Shape;1683;p51" descr="preencoded.png"/>
          <p:cNvPicPr preferRelativeResize="0"/>
          <p:nvPr/>
        </p:nvPicPr>
        <p:blipFill rotWithShape="1">
          <a:blip r:embed="rId8">
            <a:alphaModFix/>
          </a:blip>
          <a:srcRect/>
          <a:stretch/>
        </p:blipFill>
        <p:spPr>
          <a:xfrm>
            <a:off x="8438815" y="3857671"/>
            <a:ext cx="294803" cy="294803"/>
          </a:xfrm>
          <a:prstGeom prst="rect">
            <a:avLst/>
          </a:prstGeom>
          <a:noFill/>
          <a:ln>
            <a:noFill/>
          </a:ln>
        </p:spPr>
      </p:pic>
      <p:sp>
        <p:nvSpPr>
          <p:cNvPr id="1684" name="Google Shape;1684;p51"/>
          <p:cNvSpPr txBox="1"/>
          <p:nvPr/>
        </p:nvSpPr>
        <p:spPr>
          <a:xfrm>
            <a:off x="9015984" y="3776472"/>
            <a:ext cx="2587752"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700"/>
              <a:buFont typeface="Calibri"/>
              <a:buNone/>
            </a:pPr>
            <a:r>
              <a:rPr lang="en-US" sz="1700" b="1" i="0" u="none" strike="noStrike" cap="none">
                <a:solidFill>
                  <a:srgbClr val="1E293B"/>
                </a:solidFill>
                <a:latin typeface="Calibri"/>
                <a:ea typeface="Calibri"/>
                <a:cs typeface="Calibri"/>
                <a:sym typeface="Calibri"/>
              </a:rPr>
              <a:t>Medical imaging</a:t>
            </a:r>
            <a:endParaRPr sz="1700" b="0" i="0" u="none" strike="noStrike" cap="none">
              <a:solidFill>
                <a:schemeClr val="dk1"/>
              </a:solidFill>
              <a:latin typeface="Calibri"/>
              <a:ea typeface="Calibri"/>
              <a:cs typeface="Calibri"/>
              <a:sym typeface="Calibri"/>
            </a:endParaRPr>
          </a:p>
        </p:txBody>
      </p:sp>
      <p:sp>
        <p:nvSpPr>
          <p:cNvPr id="1685" name="Google Shape;1685;p51"/>
          <p:cNvSpPr txBox="1"/>
          <p:nvPr/>
        </p:nvSpPr>
        <p:spPr>
          <a:xfrm>
            <a:off x="8302752" y="4389120"/>
            <a:ext cx="3236976" cy="91440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334155"/>
              </a:buClr>
              <a:buSzPts val="1400"/>
              <a:buFont typeface="Calibri"/>
              <a:buNone/>
            </a:pPr>
            <a:r>
              <a:rPr lang="en-US" sz="1400" b="0" i="0" u="none" strike="noStrike" cap="none">
                <a:solidFill>
                  <a:srgbClr val="334155"/>
                </a:solidFill>
                <a:latin typeface="Calibri"/>
                <a:ea typeface="Calibri"/>
                <a:cs typeface="Calibri"/>
                <a:sym typeface="Calibri"/>
              </a:rPr>
              <a:t>Vision Transformers cut an X-ray or a pathology slide into patches and treat them like words.</a:t>
            </a:r>
            <a:endParaRPr sz="1400" b="0" i="0" u="none" strike="noStrike" cap="none">
              <a:solidFill>
                <a:schemeClr val="dk1"/>
              </a:solidFill>
              <a:latin typeface="Calibri"/>
              <a:ea typeface="Calibri"/>
              <a:cs typeface="Calibri"/>
              <a:sym typeface="Calibri"/>
            </a:endParaRPr>
          </a:p>
        </p:txBody>
      </p:sp>
      <p:sp>
        <p:nvSpPr>
          <p:cNvPr id="1686" name="Google Shape;1686;p51"/>
          <p:cNvSpPr/>
          <p:nvPr/>
        </p:nvSpPr>
        <p:spPr>
          <a:xfrm>
            <a:off x="457200" y="5669280"/>
            <a:ext cx="11277295" cy="566928"/>
          </a:xfrm>
          <a:prstGeom prst="roundRect">
            <a:avLst>
              <a:gd name="adj" fmla="val 9677"/>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1"/>
          <p:cNvSpPr txBox="1"/>
          <p:nvPr/>
        </p:nvSpPr>
        <p:spPr>
          <a:xfrm>
            <a:off x="594360" y="5705856"/>
            <a:ext cx="11002975" cy="49377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Takeaway:  </a:t>
            </a:r>
            <a:r>
              <a:rPr lang="en-US" sz="1400" b="0" i="1" u="none" strike="noStrike" cap="none">
                <a:solidFill>
                  <a:srgbClr val="7C3E0A"/>
                </a:solidFill>
                <a:latin typeface="Calibri"/>
                <a:ea typeface="Calibri"/>
                <a:cs typeface="Calibri"/>
                <a:sym typeface="Calibri"/>
              </a:rPr>
              <a:t>text, speech, proteins and pixels all become sequences of tokens. Attention does not care what the tokens are.</a:t>
            </a:r>
            <a:endParaRPr sz="1400" b="0" i="0" u="none" strike="noStrike" cap="none">
              <a:solidFill>
                <a:schemeClr val="dk1"/>
              </a:solidFill>
              <a:latin typeface="Calibri"/>
              <a:ea typeface="Calibri"/>
              <a:cs typeface="Calibri"/>
              <a:sym typeface="Calibri"/>
            </a:endParaRPr>
          </a:p>
        </p:txBody>
      </p:sp>
      <p:sp>
        <p:nvSpPr>
          <p:cNvPr id="1688" name="Google Shape;1688;p51"/>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31</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93"/>
        <p:cNvGrpSpPr/>
        <p:nvPr/>
      </p:nvGrpSpPr>
      <p:grpSpPr>
        <a:xfrm>
          <a:off x="0" y="0"/>
          <a:ext cx="0" cy="0"/>
          <a:chOff x="0" y="0"/>
          <a:chExt cx="0" cy="0"/>
        </a:xfrm>
      </p:grpSpPr>
      <p:sp>
        <p:nvSpPr>
          <p:cNvPr id="1694" name="Google Shape;1694;p52"/>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Choosing the Right Architecture</a:t>
            </a:r>
            <a:endParaRPr sz="3000"/>
          </a:p>
        </p:txBody>
      </p:sp>
      <p:sp>
        <p:nvSpPr>
          <p:cNvPr id="1695" name="Google Shape;1695;p52"/>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Start from the task shape: scoring, generating, or transforming text?</a:t>
            </a:r>
            <a:endParaRPr sz="1500"/>
          </a:p>
        </p:txBody>
      </p:sp>
      <p:sp>
        <p:nvSpPr>
          <p:cNvPr id="1696" name="Google Shape;1696;p52"/>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7 · PRETRAINED FAMILIES</a:t>
            </a:r>
            <a:endParaRPr sz="1000" b="0" i="0" u="none" strike="noStrike" cap="none">
              <a:solidFill>
                <a:schemeClr val="dk1"/>
              </a:solidFill>
              <a:latin typeface="Calibri"/>
              <a:ea typeface="Calibri"/>
              <a:cs typeface="Calibri"/>
              <a:sym typeface="Calibri"/>
            </a:endParaRPr>
          </a:p>
        </p:txBody>
      </p:sp>
      <p:graphicFrame>
        <p:nvGraphicFramePr>
          <p:cNvPr id="1697" name="Google Shape;1697;p52"/>
          <p:cNvGraphicFramePr/>
          <p:nvPr/>
        </p:nvGraphicFramePr>
        <p:xfrm>
          <a:off x="457200" y="1554480"/>
          <a:ext cx="11274575" cy="3840450"/>
        </p:xfrm>
        <a:graphic>
          <a:graphicData uri="http://schemas.openxmlformats.org/drawingml/2006/table">
            <a:tbl>
              <a:tblPr>
                <a:noFill/>
                <a:tableStyleId>{0C125456-CB15-484E-AA9C-68C207211CB5}</a:tableStyleId>
              </a:tblPr>
              <a:tblGrid>
                <a:gridCol w="2194550">
                  <a:extLst>
                    <a:ext uri="{9D8B030D-6E8A-4147-A177-3AD203B41FA5}">
                      <a16:colId xmlns:a16="http://schemas.microsoft.com/office/drawing/2014/main" val="20000"/>
                    </a:ext>
                  </a:extLst>
                </a:gridCol>
                <a:gridCol w="3026675">
                  <a:extLst>
                    <a:ext uri="{9D8B030D-6E8A-4147-A177-3AD203B41FA5}">
                      <a16:colId xmlns:a16="http://schemas.microsoft.com/office/drawing/2014/main" val="20001"/>
                    </a:ext>
                  </a:extLst>
                </a:gridCol>
                <a:gridCol w="3026675">
                  <a:extLst>
                    <a:ext uri="{9D8B030D-6E8A-4147-A177-3AD203B41FA5}">
                      <a16:colId xmlns:a16="http://schemas.microsoft.com/office/drawing/2014/main" val="20002"/>
                    </a:ext>
                  </a:extLst>
                </a:gridCol>
                <a:gridCol w="3026675">
                  <a:extLst>
                    <a:ext uri="{9D8B030D-6E8A-4147-A177-3AD203B41FA5}">
                      <a16:colId xmlns:a16="http://schemas.microsoft.com/office/drawing/2014/main" val="20003"/>
                    </a:ext>
                  </a:extLst>
                </a:gridCol>
              </a:tblGrid>
              <a:tr h="640075">
                <a:tc>
                  <a:txBody>
                    <a:bodyPr/>
                    <a:lstStyle/>
                    <a:p>
                      <a:pPr marL="0" marR="0" lvl="0" indent="0" algn="l" rtl="0">
                        <a:spcBef>
                          <a:spcPts val="0"/>
                        </a:spcBef>
                        <a:spcAft>
                          <a:spcPts val="0"/>
                        </a:spcAft>
                        <a:buClr>
                          <a:schemeClr val="dk1"/>
                        </a:buClr>
                        <a:buSzPts val="1200"/>
                        <a:buFont typeface="Calibri"/>
                        <a:buNone/>
                      </a:pP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1500"/>
                        <a:buFont typeface="Calibri"/>
                        <a:buNone/>
                      </a:pPr>
                      <a:r>
                        <a:rPr lang="en-US" sz="1500" b="1" u="none" strike="noStrike" cap="none">
                          <a:solidFill>
                            <a:srgbClr val="FFFFFF"/>
                          </a:solidFill>
                          <a:latin typeface="Calibri"/>
                          <a:ea typeface="Calibri"/>
                          <a:cs typeface="Calibri"/>
                          <a:sym typeface="Calibri"/>
                        </a:rPr>
                        <a:t>Encoder-only</a:t>
                      </a:r>
                      <a:endParaRPr sz="15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D4ED8"/>
                    </a:solidFill>
                  </a:tcPr>
                </a:tc>
                <a:tc>
                  <a:txBody>
                    <a:bodyPr/>
                    <a:lstStyle/>
                    <a:p>
                      <a:pPr marL="0" marR="0" lvl="0" indent="0" algn="ctr" rtl="0">
                        <a:spcBef>
                          <a:spcPts val="0"/>
                        </a:spcBef>
                        <a:spcAft>
                          <a:spcPts val="0"/>
                        </a:spcAft>
                        <a:buClr>
                          <a:srgbClr val="FFFFFF"/>
                        </a:buClr>
                        <a:buSzPts val="1500"/>
                        <a:buFont typeface="Calibri"/>
                        <a:buNone/>
                      </a:pPr>
                      <a:r>
                        <a:rPr lang="en-US" sz="1500" b="1" u="none" strike="noStrike" cap="none">
                          <a:solidFill>
                            <a:srgbClr val="FFFFFF"/>
                          </a:solidFill>
                          <a:latin typeface="Calibri"/>
                          <a:ea typeface="Calibri"/>
                          <a:cs typeface="Calibri"/>
                          <a:sym typeface="Calibri"/>
                        </a:rPr>
                        <a:t>Decoder-only</a:t>
                      </a:r>
                      <a:endParaRPr sz="15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6D28D9"/>
                    </a:solidFill>
                  </a:tcPr>
                </a:tc>
                <a:tc>
                  <a:txBody>
                    <a:bodyPr/>
                    <a:lstStyle/>
                    <a:p>
                      <a:pPr marL="0" marR="0" lvl="0" indent="0" algn="ctr" rtl="0">
                        <a:spcBef>
                          <a:spcPts val="0"/>
                        </a:spcBef>
                        <a:spcAft>
                          <a:spcPts val="0"/>
                        </a:spcAft>
                        <a:buClr>
                          <a:srgbClr val="FFFFFF"/>
                        </a:buClr>
                        <a:buSzPts val="1500"/>
                        <a:buFont typeface="Calibri"/>
                        <a:buNone/>
                      </a:pPr>
                      <a:r>
                        <a:rPr lang="en-US" sz="1500" b="1" u="none" strike="noStrike" cap="none">
                          <a:solidFill>
                            <a:srgbClr val="FFFFFF"/>
                          </a:solidFill>
                          <a:latin typeface="Calibri"/>
                          <a:ea typeface="Calibri"/>
                          <a:cs typeface="Calibri"/>
                          <a:sym typeface="Calibri"/>
                        </a:rPr>
                        <a:t>Encoder-decoder</a:t>
                      </a:r>
                      <a:endParaRPr sz="15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F766E"/>
                    </a:solidFill>
                  </a:tcPr>
                </a:tc>
                <a:extLst>
                  <a:ext uri="{0D108BD9-81ED-4DB2-BD59-A6C34878D82A}">
                    <a16:rowId xmlns:a16="http://schemas.microsoft.com/office/drawing/2014/main" val="10000"/>
                  </a:ext>
                </a:extLst>
              </a:tr>
              <a:tr h="640075">
                <a:tc>
                  <a:txBody>
                    <a:bodyPr/>
                    <a:lstStyle/>
                    <a:p>
                      <a:pPr marL="0" marR="0" lvl="0" indent="0" algn="l"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Primary task</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Understanding, scoring</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Open-ended generation</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Sequence transformation</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40075">
                <a:tc>
                  <a:txBody>
                    <a:bodyPr/>
                    <a:lstStyle/>
                    <a:p>
                      <a:pPr marL="0" marR="0" lvl="0" indent="0" algn="l"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Inference cost</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Lowest</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Highest</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Moderate</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40075">
                <a:tc>
                  <a:txBody>
                    <a:bodyPr/>
                    <a:lstStyle/>
                    <a:p>
                      <a:pPr marL="0" marR="0" lvl="0" indent="0" algn="l"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Latency</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One pass, very fast</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Grows with output length</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Parallel encode, sequential decode</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40075">
                <a:tc>
                  <a:txBody>
                    <a:bodyPr/>
                    <a:lstStyle/>
                    <a:p>
                      <a:pPr marL="0" marR="0" lvl="0" indent="0" algn="l"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Pick it when…</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You classify, rank or embed text</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You need flexible, creative output</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Input and output are distinct sequences</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40075">
                <a:tc>
                  <a:txBody>
                    <a:bodyPr/>
                    <a:lstStyle/>
                    <a:p>
                      <a:pPr marL="0" marR="0" lvl="0" indent="0" algn="l" rtl="0">
                        <a:spcBef>
                          <a:spcPts val="0"/>
                        </a:spcBef>
                        <a:spcAft>
                          <a:spcPts val="0"/>
                        </a:spcAft>
                        <a:buClr>
                          <a:srgbClr val="1E293B"/>
                        </a:buClr>
                        <a:buSzPts val="1400"/>
                        <a:buFont typeface="Calibri"/>
                        <a:buNone/>
                      </a:pPr>
                      <a:r>
                        <a:rPr lang="en-US" sz="1400" b="1" u="none" strike="noStrike" cap="none">
                          <a:solidFill>
                            <a:srgbClr val="1E293B"/>
                          </a:solidFill>
                          <a:latin typeface="Calibri"/>
                          <a:ea typeface="Calibri"/>
                          <a:cs typeface="Calibri"/>
                          <a:sym typeface="Calibri"/>
                        </a:rPr>
                        <a:t>Indian example</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Flagging fraud SMS for a bank</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A customer-support chatbot</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34155"/>
                        </a:buClr>
                        <a:buSzPts val="1400"/>
                        <a:buFont typeface="Calibri"/>
                        <a:buNone/>
                      </a:pPr>
                      <a:r>
                        <a:rPr lang="en-US" sz="1400" u="none" strike="noStrike" cap="none">
                          <a:solidFill>
                            <a:srgbClr val="334155"/>
                          </a:solidFill>
                          <a:latin typeface="Calibri"/>
                          <a:ea typeface="Calibri"/>
                          <a:cs typeface="Calibri"/>
                          <a:sym typeface="Calibri"/>
                        </a:rPr>
                        <a:t>Hindi ↔ Bengali translation</a:t>
                      </a:r>
                      <a:endParaRPr sz="14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1698" name="Google Shape;1698;p52"/>
          <p:cNvSpPr/>
          <p:nvPr/>
        </p:nvSpPr>
        <p:spPr>
          <a:xfrm>
            <a:off x="457200" y="5532120"/>
            <a:ext cx="11277295" cy="713232"/>
          </a:xfrm>
          <a:prstGeom prst="roundRect">
            <a:avLst>
              <a:gd name="adj" fmla="val 7692"/>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2"/>
          <p:cNvSpPr txBox="1"/>
          <p:nvPr/>
        </p:nvSpPr>
        <p:spPr>
          <a:xfrm>
            <a:off x="594360" y="5568696"/>
            <a:ext cx="11002975"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Rule of thumb:  </a:t>
            </a:r>
            <a:r>
              <a:rPr lang="en-US" sz="1400" b="0" i="1" u="none" strike="noStrike" cap="none">
                <a:solidFill>
                  <a:srgbClr val="7C3E0A"/>
                </a:solidFill>
                <a:latin typeface="Calibri"/>
                <a:ea typeface="Calibri"/>
                <a:cs typeface="Calibri"/>
                <a:sym typeface="Calibri"/>
              </a:rPr>
              <a:t>don't let the output format decide alone. Ask what the input looks like, how much each request may cost, and whether the output is free-form or tied to the input.</a:t>
            </a:r>
            <a:endParaRPr sz="1400" b="0" i="0" u="none" strike="noStrike" cap="none">
              <a:solidFill>
                <a:schemeClr val="dk1"/>
              </a:solidFill>
              <a:latin typeface="Calibri"/>
              <a:ea typeface="Calibri"/>
              <a:cs typeface="Calibri"/>
              <a:sym typeface="Calibri"/>
            </a:endParaRPr>
          </a:p>
        </p:txBody>
      </p:sp>
      <p:sp>
        <p:nvSpPr>
          <p:cNvPr id="1700" name="Google Shape;1700;p52"/>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32</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65"/>
        <p:cNvGrpSpPr/>
        <p:nvPr/>
      </p:nvGrpSpPr>
      <p:grpSpPr>
        <a:xfrm>
          <a:off x="0" y="0"/>
          <a:ext cx="0" cy="0"/>
          <a:chOff x="0" y="0"/>
          <a:chExt cx="0" cy="0"/>
        </a:xfrm>
      </p:grpSpPr>
      <p:sp>
        <p:nvSpPr>
          <p:cNvPr id="1766" name="Google Shape;1766;p55"/>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Why Decoder-Only Became the Industry Standard</a:t>
            </a:r>
            <a:endParaRPr sz="3000"/>
          </a:p>
        </p:txBody>
      </p:sp>
      <p:sp>
        <p:nvSpPr>
          <p:cNvPr id="1767" name="Google Shape;1767;p55"/>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One stack, one objective, one growing sequence</a:t>
            </a:r>
            <a:endParaRPr sz="1500"/>
          </a:p>
        </p:txBody>
      </p:sp>
      <p:sp>
        <p:nvSpPr>
          <p:cNvPr id="1768" name="Google Shape;1768;p55"/>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7 · PRETRAINED FAMILIES</a:t>
            </a:r>
            <a:endParaRPr sz="1000" b="0" i="0" u="none" strike="noStrike" cap="none">
              <a:solidFill>
                <a:schemeClr val="dk1"/>
              </a:solidFill>
              <a:latin typeface="Calibri"/>
              <a:ea typeface="Calibri"/>
              <a:cs typeface="Calibri"/>
              <a:sym typeface="Calibri"/>
            </a:endParaRPr>
          </a:p>
        </p:txBody>
      </p:sp>
      <p:sp>
        <p:nvSpPr>
          <p:cNvPr id="1769" name="Google Shape;1769;p55"/>
          <p:cNvSpPr/>
          <p:nvPr/>
        </p:nvSpPr>
        <p:spPr>
          <a:xfrm>
            <a:off x="457200" y="1508760"/>
            <a:ext cx="7223760" cy="694944"/>
          </a:xfrm>
          <a:prstGeom prst="roundRect">
            <a:avLst>
              <a:gd name="adj" fmla="val 1315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5"/>
          <p:cNvSpPr/>
          <p:nvPr/>
        </p:nvSpPr>
        <p:spPr>
          <a:xfrm>
            <a:off x="621792" y="1655064"/>
            <a:ext cx="402336" cy="402336"/>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5"/>
          <p:cNvSpPr txBox="1"/>
          <p:nvPr/>
        </p:nvSpPr>
        <p:spPr>
          <a:xfrm>
            <a:off x="621792" y="1655064"/>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772" name="Google Shape;1772;p55"/>
          <p:cNvSpPr txBox="1"/>
          <p:nvPr/>
        </p:nvSpPr>
        <p:spPr>
          <a:xfrm>
            <a:off x="1188720" y="1527048"/>
            <a:ext cx="6400800" cy="65836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D4ED8"/>
              </a:buClr>
              <a:buSzPts val="1400"/>
              <a:buFont typeface="Calibri"/>
              <a:buNone/>
            </a:pPr>
            <a:r>
              <a:rPr lang="en-US" sz="1400" b="1" i="0" u="none" strike="noStrike" cap="none">
                <a:solidFill>
                  <a:srgbClr val="1D4ED8"/>
                </a:solidFill>
                <a:latin typeface="Calibri"/>
                <a:ea typeface="Calibri"/>
                <a:cs typeface="Calibri"/>
                <a:sym typeface="Calibri"/>
              </a:rPr>
              <a:t>Next-word prediction does almost everything</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At scale, it implicitly learns classification, translation, summarisation and reasoning.</a:t>
            </a:r>
            <a:endParaRPr sz="1400" b="0" i="0" u="none" strike="noStrike" cap="none">
              <a:solidFill>
                <a:schemeClr val="dk1"/>
              </a:solidFill>
              <a:latin typeface="Calibri"/>
              <a:ea typeface="Calibri"/>
              <a:cs typeface="Calibri"/>
              <a:sym typeface="Calibri"/>
            </a:endParaRPr>
          </a:p>
        </p:txBody>
      </p:sp>
      <p:sp>
        <p:nvSpPr>
          <p:cNvPr id="1773" name="Google Shape;1773;p55"/>
          <p:cNvSpPr/>
          <p:nvPr/>
        </p:nvSpPr>
        <p:spPr>
          <a:xfrm>
            <a:off x="457200" y="2295144"/>
            <a:ext cx="7223760" cy="694944"/>
          </a:xfrm>
          <a:prstGeom prst="roundRect">
            <a:avLst>
              <a:gd name="adj" fmla="val 1315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5"/>
          <p:cNvSpPr/>
          <p:nvPr/>
        </p:nvSpPr>
        <p:spPr>
          <a:xfrm>
            <a:off x="621792" y="2441448"/>
            <a:ext cx="402336" cy="402336"/>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5"/>
          <p:cNvSpPr txBox="1"/>
          <p:nvPr/>
        </p:nvSpPr>
        <p:spPr>
          <a:xfrm>
            <a:off x="621792" y="244144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776" name="Google Shape;1776;p55"/>
          <p:cNvSpPr txBox="1"/>
          <p:nvPr/>
        </p:nvSpPr>
        <p:spPr>
          <a:xfrm>
            <a:off x="1188720" y="2313432"/>
            <a:ext cx="6400800" cy="65836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Prompting replaced fine-tuning</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One model handles a new task through a prompt: no labels, no architecture change.</a:t>
            </a:r>
            <a:endParaRPr sz="1400" b="0" i="0" u="none" strike="noStrike" cap="none">
              <a:solidFill>
                <a:schemeClr val="dk1"/>
              </a:solidFill>
              <a:latin typeface="Calibri"/>
              <a:ea typeface="Calibri"/>
              <a:cs typeface="Calibri"/>
              <a:sym typeface="Calibri"/>
            </a:endParaRPr>
          </a:p>
        </p:txBody>
      </p:sp>
      <p:sp>
        <p:nvSpPr>
          <p:cNvPr id="1777" name="Google Shape;1777;p55"/>
          <p:cNvSpPr/>
          <p:nvPr/>
        </p:nvSpPr>
        <p:spPr>
          <a:xfrm>
            <a:off x="457200" y="3081528"/>
            <a:ext cx="7223760" cy="694944"/>
          </a:xfrm>
          <a:prstGeom prst="roundRect">
            <a:avLst>
              <a:gd name="adj" fmla="val 1315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5"/>
          <p:cNvSpPr/>
          <p:nvPr/>
        </p:nvSpPr>
        <p:spPr>
          <a:xfrm>
            <a:off x="621792" y="3227832"/>
            <a:ext cx="402336" cy="402336"/>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5"/>
          <p:cNvSpPr txBox="1"/>
          <p:nvPr/>
        </p:nvSpPr>
        <p:spPr>
          <a:xfrm>
            <a:off x="621792" y="32278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780" name="Google Shape;1780;p55"/>
          <p:cNvSpPr txBox="1"/>
          <p:nvPr/>
        </p:nvSpPr>
        <p:spPr>
          <a:xfrm>
            <a:off x="1188720" y="3099816"/>
            <a:ext cx="6400800" cy="65836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6D28D9"/>
              </a:buClr>
              <a:buSzPts val="1400"/>
              <a:buFont typeface="Calibri"/>
              <a:buNone/>
            </a:pPr>
            <a:r>
              <a:rPr lang="en-US" sz="1400" b="1" i="0" u="none" strike="noStrike" cap="none">
                <a:solidFill>
                  <a:srgbClr val="6D28D9"/>
                </a:solidFill>
                <a:latin typeface="Calibri"/>
                <a:ea typeface="Calibri"/>
                <a:cs typeface="Calibri"/>
                <a:sym typeface="Calibri"/>
              </a:rPr>
              <a:t>Simpler, cleaner scaling</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One repeated block made scaling laws predictable (Kaplan 2020; Chinchilla 2022).</a:t>
            </a:r>
            <a:endParaRPr sz="1400" b="0" i="0" u="none" strike="noStrike" cap="none">
              <a:solidFill>
                <a:schemeClr val="dk1"/>
              </a:solidFill>
              <a:latin typeface="Calibri"/>
              <a:ea typeface="Calibri"/>
              <a:cs typeface="Calibri"/>
              <a:sym typeface="Calibri"/>
            </a:endParaRPr>
          </a:p>
        </p:txBody>
      </p:sp>
      <p:sp>
        <p:nvSpPr>
          <p:cNvPr id="1781" name="Google Shape;1781;p55"/>
          <p:cNvSpPr/>
          <p:nvPr/>
        </p:nvSpPr>
        <p:spPr>
          <a:xfrm>
            <a:off x="457200" y="3867912"/>
            <a:ext cx="7223760" cy="694944"/>
          </a:xfrm>
          <a:prstGeom prst="roundRect">
            <a:avLst>
              <a:gd name="adj" fmla="val 1315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5"/>
          <p:cNvSpPr/>
          <p:nvPr/>
        </p:nvSpPr>
        <p:spPr>
          <a:xfrm>
            <a:off x="621792" y="4014216"/>
            <a:ext cx="402336" cy="402336"/>
          </a:xfrm>
          <a:prstGeom prst="ellipse">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5"/>
          <p:cNvSpPr txBox="1"/>
          <p:nvPr/>
        </p:nvSpPr>
        <p:spPr>
          <a:xfrm>
            <a:off x="621792" y="401421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784" name="Google Shape;1784;p55"/>
          <p:cNvSpPr txBox="1"/>
          <p:nvPr/>
        </p:nvSpPr>
        <p:spPr>
          <a:xfrm>
            <a:off x="1188720" y="3886200"/>
            <a:ext cx="6400800" cy="65836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C2410C"/>
              </a:buClr>
              <a:buSzPts val="1400"/>
              <a:buFont typeface="Calibri"/>
              <a:buNone/>
            </a:pPr>
            <a:r>
              <a:rPr lang="en-US" sz="1400" b="1" i="0" u="none" strike="noStrike" cap="none">
                <a:solidFill>
                  <a:srgbClr val="C2410C"/>
                </a:solidFill>
                <a:latin typeface="Calibri"/>
                <a:ea typeface="Calibri"/>
                <a:cs typeface="Calibri"/>
                <a:sym typeface="Calibri"/>
              </a:rPr>
              <a:t>No fixed input/output split</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Chat, multi-turn dialogue and step-by-step reasoning are one growing sequence.</a:t>
            </a:r>
            <a:endParaRPr sz="1400" b="0" i="0" u="none" strike="noStrike" cap="none">
              <a:solidFill>
                <a:schemeClr val="dk1"/>
              </a:solidFill>
              <a:latin typeface="Calibri"/>
              <a:ea typeface="Calibri"/>
              <a:cs typeface="Calibri"/>
              <a:sym typeface="Calibri"/>
            </a:endParaRPr>
          </a:p>
        </p:txBody>
      </p:sp>
      <p:sp>
        <p:nvSpPr>
          <p:cNvPr id="1785" name="Google Shape;1785;p55"/>
          <p:cNvSpPr/>
          <p:nvPr/>
        </p:nvSpPr>
        <p:spPr>
          <a:xfrm>
            <a:off x="457200" y="4654296"/>
            <a:ext cx="7223760" cy="694944"/>
          </a:xfrm>
          <a:prstGeom prst="roundRect">
            <a:avLst>
              <a:gd name="adj" fmla="val 13158"/>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5"/>
          <p:cNvSpPr/>
          <p:nvPr/>
        </p:nvSpPr>
        <p:spPr>
          <a:xfrm>
            <a:off x="621792" y="4800600"/>
            <a:ext cx="402336" cy="402336"/>
          </a:xfrm>
          <a:prstGeom prst="ellipse">
            <a:avLst/>
          </a:prstGeom>
          <a:solidFill>
            <a:srgbClr val="15803D"/>
          </a:solidFill>
          <a:ln w="9525" cap="flat" cmpd="sng">
            <a:solidFill>
              <a:srgbClr val="1580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5"/>
          <p:cNvSpPr txBox="1"/>
          <p:nvPr/>
        </p:nvSpPr>
        <p:spPr>
          <a:xfrm>
            <a:off x="621792" y="480060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1788" name="Google Shape;1788;p55"/>
          <p:cNvSpPr txBox="1"/>
          <p:nvPr/>
        </p:nvSpPr>
        <p:spPr>
          <a:xfrm>
            <a:off x="1188720" y="4672584"/>
            <a:ext cx="6400800" cy="65836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5803D"/>
              </a:buClr>
              <a:buSzPts val="1400"/>
              <a:buFont typeface="Calibri"/>
              <a:buNone/>
            </a:pPr>
            <a:r>
              <a:rPr lang="en-US" sz="1400" b="1" i="0" u="none" strike="noStrike" cap="none">
                <a:solidFill>
                  <a:srgbClr val="15803D"/>
                </a:solidFill>
                <a:latin typeface="Calibri"/>
                <a:ea typeface="Calibri"/>
                <a:cs typeface="Calibri"/>
                <a:sym typeface="Calibri"/>
              </a:rPr>
              <a:t>Cross-attention's edge faded</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334155"/>
              </a:buClr>
              <a:buSzPts val="1300"/>
              <a:buFont typeface="Calibri"/>
              <a:buNone/>
            </a:pPr>
            <a:r>
              <a:rPr lang="en-US" sz="1300" b="0" i="0" u="none" strike="noStrike" cap="none">
                <a:solidFill>
                  <a:srgbClr val="334155"/>
                </a:solidFill>
                <a:latin typeface="Calibri"/>
                <a:ea typeface="Calibri"/>
                <a:cs typeface="Calibri"/>
                <a:sym typeface="Calibri"/>
              </a:rPr>
              <a:t>Re-using an encoded source helps only when there is a fixed source; open chat has none.</a:t>
            </a:r>
            <a:endParaRPr sz="1400" b="0" i="0" u="none" strike="noStrike" cap="none">
              <a:solidFill>
                <a:schemeClr val="dk1"/>
              </a:solidFill>
              <a:latin typeface="Calibri"/>
              <a:ea typeface="Calibri"/>
              <a:cs typeface="Calibri"/>
              <a:sym typeface="Calibri"/>
            </a:endParaRPr>
          </a:p>
        </p:txBody>
      </p:sp>
      <p:sp>
        <p:nvSpPr>
          <p:cNvPr id="1789" name="Google Shape;1789;p55"/>
          <p:cNvSpPr/>
          <p:nvPr/>
        </p:nvSpPr>
        <p:spPr>
          <a:xfrm>
            <a:off x="7909560" y="1508760"/>
            <a:ext cx="3822192" cy="1920240"/>
          </a:xfrm>
          <a:prstGeom prst="roundRect">
            <a:avLst>
              <a:gd name="adj" fmla="val 4762"/>
            </a:avLst>
          </a:prstGeom>
          <a:solidFill>
            <a:srgbClr val="0F172A"/>
          </a:solidFill>
          <a:ln w="12700" cap="flat" cmpd="sng">
            <a:solidFill>
              <a:srgbClr val="0F172A"/>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55"/>
          <p:cNvSpPr txBox="1"/>
          <p:nvPr/>
        </p:nvSpPr>
        <p:spPr>
          <a:xfrm>
            <a:off x="8092440" y="1645920"/>
            <a:ext cx="3474720" cy="3200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93C5FD"/>
              </a:buClr>
              <a:buSzPts val="1400"/>
              <a:buFont typeface="Calibri"/>
              <a:buNone/>
            </a:pPr>
            <a:r>
              <a:rPr lang="en-US" sz="1400" b="1" i="0" u="none" strike="noStrike" cap="none">
                <a:solidFill>
                  <a:srgbClr val="93C5FD"/>
                </a:solidFill>
                <a:latin typeface="Calibri"/>
                <a:ea typeface="Calibri"/>
                <a:cs typeface="Calibri"/>
                <a:sym typeface="Calibri"/>
              </a:rPr>
              <a:t>Chinchilla, 2022</a:t>
            </a:r>
            <a:endParaRPr sz="1400" b="0" i="0" u="none" strike="noStrike" cap="none">
              <a:solidFill>
                <a:schemeClr val="dk1"/>
              </a:solidFill>
              <a:latin typeface="Calibri"/>
              <a:ea typeface="Calibri"/>
              <a:cs typeface="Calibri"/>
              <a:sym typeface="Calibri"/>
            </a:endParaRPr>
          </a:p>
        </p:txBody>
      </p:sp>
      <p:sp>
        <p:nvSpPr>
          <p:cNvPr id="1791" name="Google Shape;1791;p55"/>
          <p:cNvSpPr txBox="1"/>
          <p:nvPr/>
        </p:nvSpPr>
        <p:spPr>
          <a:xfrm>
            <a:off x="8092440" y="1965960"/>
            <a:ext cx="1737360" cy="6858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70B</a:t>
            </a:r>
            <a:endParaRPr sz="4000" b="0" i="0" u="none" strike="noStrike" cap="none">
              <a:solidFill>
                <a:schemeClr val="dk1"/>
              </a:solidFill>
              <a:latin typeface="Calibri"/>
              <a:ea typeface="Calibri"/>
              <a:cs typeface="Calibri"/>
              <a:sym typeface="Calibri"/>
            </a:endParaRPr>
          </a:p>
        </p:txBody>
      </p:sp>
      <p:sp>
        <p:nvSpPr>
          <p:cNvPr id="1792" name="Google Shape;1792;p55"/>
          <p:cNvSpPr txBox="1"/>
          <p:nvPr/>
        </p:nvSpPr>
        <p:spPr>
          <a:xfrm>
            <a:off x="9692640" y="1993392"/>
            <a:ext cx="1920240" cy="9144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CBD5E1"/>
              </a:buClr>
              <a:buSzPts val="1300"/>
              <a:buFont typeface="Calibri"/>
              <a:buNone/>
            </a:pPr>
            <a:r>
              <a:rPr lang="en-US" sz="1300" b="0" i="0" u="none" strike="noStrike" cap="none">
                <a:solidFill>
                  <a:srgbClr val="CBD5E1"/>
                </a:solidFill>
                <a:latin typeface="Calibri"/>
                <a:ea typeface="Calibri"/>
                <a:cs typeface="Calibri"/>
                <a:sym typeface="Calibri"/>
              </a:rPr>
              <a:t>parameters on 1.4 trillion tokens beat the 280B Gopher model</a:t>
            </a:r>
            <a:endParaRPr sz="1300" b="0" i="0" u="none" strike="noStrike" cap="none">
              <a:solidFill>
                <a:schemeClr val="dk1"/>
              </a:solidFill>
              <a:latin typeface="Calibri"/>
              <a:ea typeface="Calibri"/>
              <a:cs typeface="Calibri"/>
              <a:sym typeface="Calibri"/>
            </a:endParaRPr>
          </a:p>
        </p:txBody>
      </p:sp>
      <p:sp>
        <p:nvSpPr>
          <p:cNvPr id="1793" name="Google Shape;1793;p55"/>
          <p:cNvSpPr txBox="1"/>
          <p:nvPr/>
        </p:nvSpPr>
        <p:spPr>
          <a:xfrm>
            <a:off x="8092440" y="2834640"/>
            <a:ext cx="3474720" cy="50292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FCD34D"/>
              </a:buClr>
              <a:buSzPts val="1300"/>
              <a:buFont typeface="Calibri"/>
              <a:buNone/>
            </a:pPr>
            <a:r>
              <a:rPr lang="en-US" sz="1300" b="0" i="1" u="none" strike="noStrike" cap="none">
                <a:solidFill>
                  <a:srgbClr val="FCD34D"/>
                </a:solidFill>
                <a:latin typeface="Calibri"/>
                <a:ea typeface="Calibri"/>
                <a:cs typeface="Calibri"/>
                <a:sym typeface="Calibri"/>
              </a:rPr>
              <a:t>Rule of thumb: about 20 training tokens per parameter</a:t>
            </a:r>
            <a:endParaRPr sz="1300" b="0" i="0" u="none" strike="noStrike" cap="none">
              <a:solidFill>
                <a:schemeClr val="dk1"/>
              </a:solidFill>
              <a:latin typeface="Calibri"/>
              <a:ea typeface="Calibri"/>
              <a:cs typeface="Calibri"/>
              <a:sym typeface="Calibri"/>
            </a:endParaRPr>
          </a:p>
        </p:txBody>
      </p:sp>
      <p:sp>
        <p:nvSpPr>
          <p:cNvPr id="1794" name="Google Shape;1794;p55"/>
          <p:cNvSpPr/>
          <p:nvPr/>
        </p:nvSpPr>
        <p:spPr>
          <a:xfrm>
            <a:off x="7909560" y="3611880"/>
            <a:ext cx="3822192" cy="1856232"/>
          </a:xfrm>
          <a:prstGeom prst="roundRect">
            <a:avLst>
              <a:gd name="adj" fmla="val 4926"/>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5"/>
          <p:cNvSpPr txBox="1"/>
          <p:nvPr/>
        </p:nvSpPr>
        <p:spPr>
          <a:xfrm>
            <a:off x="8092440" y="3703320"/>
            <a:ext cx="3474720" cy="169164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B45309"/>
              </a:buClr>
              <a:buSzPts val="1400"/>
              <a:buFont typeface="Calibri"/>
              <a:buNone/>
            </a:pPr>
            <a:r>
              <a:rPr lang="en-US" sz="1400" b="1" i="0" u="none" strike="noStrike" cap="none">
                <a:solidFill>
                  <a:srgbClr val="B45309"/>
                </a:solidFill>
                <a:latin typeface="Calibri"/>
                <a:ea typeface="Calibri"/>
                <a:cs typeface="Calibri"/>
                <a:sym typeface="Calibri"/>
              </a:rPr>
              <a:t>Honest caveat</a:t>
            </a:r>
            <a:endParaRPr sz="14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7C3E0A"/>
              </a:buClr>
              <a:buSzPts val="1400"/>
              <a:buFont typeface="Calibri"/>
              <a:buNone/>
            </a:pPr>
            <a:r>
              <a:rPr lang="en-US" sz="1400" b="0" i="0" u="none" strike="noStrike" cap="none">
                <a:solidFill>
                  <a:srgbClr val="7C3E0A"/>
                </a:solidFill>
                <a:latin typeface="Calibri"/>
                <a:ea typeface="Calibri"/>
                <a:cs typeface="Calibri"/>
                <a:sym typeface="Calibri"/>
              </a:rPr>
              <a:t>Encoder models are not dead. For classification, embeddings, search and ranking, BERT-style models remain cheaper and often better.</a:t>
            </a:r>
            <a:endParaRPr sz="1400" b="0" i="0" u="none" strike="noStrike" cap="none">
              <a:solidFill>
                <a:schemeClr val="dk1"/>
              </a:solidFill>
              <a:latin typeface="Calibri"/>
              <a:ea typeface="Calibri"/>
              <a:cs typeface="Calibri"/>
              <a:sym typeface="Calibri"/>
            </a:endParaRPr>
          </a:p>
        </p:txBody>
      </p:sp>
      <p:sp>
        <p:nvSpPr>
          <p:cNvPr id="1796" name="Google Shape;1796;p55"/>
          <p:cNvSpPr/>
          <p:nvPr/>
        </p:nvSpPr>
        <p:spPr>
          <a:xfrm>
            <a:off x="457200" y="5623560"/>
            <a:ext cx="11277295" cy="566928"/>
          </a:xfrm>
          <a:prstGeom prst="roundRect">
            <a:avLst>
              <a:gd name="adj" fmla="val 9677"/>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5"/>
          <p:cNvSpPr txBox="1"/>
          <p:nvPr/>
        </p:nvSpPr>
        <p:spPr>
          <a:xfrm>
            <a:off x="594360" y="5660136"/>
            <a:ext cx="11002975" cy="493776"/>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Bottom line:  </a:t>
            </a:r>
            <a:r>
              <a:rPr lang="en-US" sz="1400" b="0" i="0" u="none" strike="noStrike" cap="none">
                <a:solidFill>
                  <a:srgbClr val="334155"/>
                </a:solidFill>
                <a:latin typeface="Calibri"/>
                <a:ea typeface="Calibri"/>
                <a:cs typeface="Calibri"/>
                <a:sym typeface="Calibri"/>
              </a:rPr>
              <a:t>decoder-only won on flexibility; encoder-only still wins on cost for understanding tasks.</a:t>
            </a:r>
            <a:endParaRPr sz="1400" b="0" i="0" u="none" strike="noStrike" cap="none">
              <a:solidFill>
                <a:schemeClr val="dk1"/>
              </a:solidFill>
              <a:latin typeface="Calibri"/>
              <a:ea typeface="Calibri"/>
              <a:cs typeface="Calibri"/>
              <a:sym typeface="Calibri"/>
            </a:endParaRPr>
          </a:p>
        </p:txBody>
      </p:sp>
      <p:sp>
        <p:nvSpPr>
          <p:cNvPr id="1798" name="Google Shape;1798;p55"/>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33</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72"/>
        <p:cNvGrpSpPr/>
        <p:nvPr/>
      </p:nvGrpSpPr>
      <p:grpSpPr>
        <a:xfrm>
          <a:off x="0" y="0"/>
          <a:ext cx="0" cy="0"/>
          <a:chOff x="0" y="0"/>
          <a:chExt cx="0" cy="0"/>
        </a:xfrm>
      </p:grpSpPr>
      <p:sp>
        <p:nvSpPr>
          <p:cNvPr id="1873" name="Google Shape;1873;p58"/>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Six Things to Remember from Today</a:t>
            </a:r>
            <a:endParaRPr sz="3000"/>
          </a:p>
        </p:txBody>
      </p:sp>
      <p:sp>
        <p:nvSpPr>
          <p:cNvPr id="1874" name="Google Shape;1874;p58"/>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If you remember nothing else, remember these</a:t>
            </a:r>
            <a:endParaRPr sz="1500"/>
          </a:p>
        </p:txBody>
      </p:sp>
      <p:sp>
        <p:nvSpPr>
          <p:cNvPr id="1875" name="Google Shape;1875;p58"/>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8 · WRAP-UP</a:t>
            </a:r>
            <a:endParaRPr sz="1000" b="0" i="0" u="none" strike="noStrike" cap="none">
              <a:solidFill>
                <a:schemeClr val="dk1"/>
              </a:solidFill>
              <a:latin typeface="Calibri"/>
              <a:ea typeface="Calibri"/>
              <a:cs typeface="Calibri"/>
              <a:sym typeface="Calibri"/>
            </a:endParaRPr>
          </a:p>
        </p:txBody>
      </p:sp>
      <p:sp>
        <p:nvSpPr>
          <p:cNvPr id="1876" name="Google Shape;1876;p58"/>
          <p:cNvSpPr/>
          <p:nvPr/>
        </p:nvSpPr>
        <p:spPr>
          <a:xfrm>
            <a:off x="502920" y="1618488"/>
            <a:ext cx="420624" cy="420624"/>
          </a:xfrm>
          <a:prstGeom prst="ellipse">
            <a:avLst/>
          </a:prstGeom>
          <a:solidFill>
            <a:srgbClr val="1D4ED8"/>
          </a:solidFill>
          <a:ln w="9525" cap="flat" cmpd="sng">
            <a:solidFill>
              <a:srgbClr val="1D4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58"/>
          <p:cNvSpPr txBox="1"/>
          <p:nvPr/>
        </p:nvSpPr>
        <p:spPr>
          <a:xfrm>
            <a:off x="502920" y="1618488"/>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878" name="Google Shape;1878;p58"/>
          <p:cNvSpPr txBox="1"/>
          <p:nvPr/>
        </p:nvSpPr>
        <p:spPr>
          <a:xfrm>
            <a:off x="1097280" y="1527048"/>
            <a:ext cx="6583680"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Attention is a soft lookup: </a:t>
            </a:r>
            <a:r>
              <a:rPr lang="en-US" sz="1500" b="0" i="0" u="none" strike="noStrike" cap="none">
                <a:solidFill>
                  <a:srgbClr val="334155"/>
                </a:solidFill>
                <a:latin typeface="Calibri"/>
                <a:ea typeface="Calibri"/>
                <a:cs typeface="Calibri"/>
                <a:sym typeface="Calibri"/>
              </a:rPr>
              <a:t>softmax(QKᵀ/√dₖ)V, all tokens in parallel.</a:t>
            </a:r>
            <a:endParaRPr sz="1500" b="0" i="0" u="none" strike="noStrike" cap="none">
              <a:solidFill>
                <a:schemeClr val="dk1"/>
              </a:solidFill>
              <a:latin typeface="Calibri"/>
              <a:ea typeface="Calibri"/>
              <a:cs typeface="Calibri"/>
              <a:sym typeface="Calibri"/>
            </a:endParaRPr>
          </a:p>
        </p:txBody>
      </p:sp>
      <p:sp>
        <p:nvSpPr>
          <p:cNvPr id="1879" name="Google Shape;1879;p58"/>
          <p:cNvSpPr/>
          <p:nvPr/>
        </p:nvSpPr>
        <p:spPr>
          <a:xfrm>
            <a:off x="502920" y="2304288"/>
            <a:ext cx="420624" cy="420624"/>
          </a:xfrm>
          <a:prstGeom prst="ellipse">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58"/>
          <p:cNvSpPr txBox="1"/>
          <p:nvPr/>
        </p:nvSpPr>
        <p:spPr>
          <a:xfrm>
            <a:off x="502920" y="2304288"/>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881" name="Google Shape;1881;p58"/>
          <p:cNvSpPr txBox="1"/>
          <p:nvPr/>
        </p:nvSpPr>
        <p:spPr>
          <a:xfrm>
            <a:off x="1097280" y="2212848"/>
            <a:ext cx="6583680"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Depth needs tricks: </a:t>
            </a:r>
            <a:r>
              <a:rPr lang="en-US" sz="1500" b="0" i="0" u="none" strike="noStrike" cap="none">
                <a:solidFill>
                  <a:srgbClr val="334155"/>
                </a:solidFill>
                <a:latin typeface="Calibri"/>
                <a:ea typeface="Calibri"/>
                <a:cs typeface="Calibri"/>
                <a:sym typeface="Calibri"/>
              </a:rPr>
              <a:t>FFN for non-linearity; residuals, LayerNorm and √dₖ for stable training.</a:t>
            </a:r>
            <a:endParaRPr sz="1500" b="0" i="0" u="none" strike="noStrike" cap="none">
              <a:solidFill>
                <a:schemeClr val="dk1"/>
              </a:solidFill>
              <a:latin typeface="Calibri"/>
              <a:ea typeface="Calibri"/>
              <a:cs typeface="Calibri"/>
              <a:sym typeface="Calibri"/>
            </a:endParaRPr>
          </a:p>
        </p:txBody>
      </p:sp>
      <p:sp>
        <p:nvSpPr>
          <p:cNvPr id="1882" name="Google Shape;1882;p58"/>
          <p:cNvSpPr/>
          <p:nvPr/>
        </p:nvSpPr>
        <p:spPr>
          <a:xfrm>
            <a:off x="502920" y="2990088"/>
            <a:ext cx="420624" cy="420624"/>
          </a:xfrm>
          <a:prstGeom prst="ellipse">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58"/>
          <p:cNvSpPr txBox="1"/>
          <p:nvPr/>
        </p:nvSpPr>
        <p:spPr>
          <a:xfrm>
            <a:off x="502920" y="2990088"/>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884" name="Google Shape;1884;p58"/>
          <p:cNvSpPr txBox="1"/>
          <p:nvPr/>
        </p:nvSpPr>
        <p:spPr>
          <a:xfrm>
            <a:off x="1097280" y="2898648"/>
            <a:ext cx="6583680"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Order must be added: </a:t>
            </a:r>
            <a:r>
              <a:rPr lang="en-US" sz="1500" b="0" i="0" u="none" strike="noStrike" cap="none">
                <a:solidFill>
                  <a:srgbClr val="334155"/>
                </a:solidFill>
                <a:latin typeface="Calibri"/>
                <a:ea typeface="Calibri"/>
                <a:cs typeface="Calibri"/>
                <a:sym typeface="Calibri"/>
              </a:rPr>
              <a:t>sin/cos, learned, RoPE or ALiBi, each at a different point in the pipeline.</a:t>
            </a:r>
            <a:endParaRPr sz="1500" b="0" i="0" u="none" strike="noStrike" cap="none">
              <a:solidFill>
                <a:schemeClr val="dk1"/>
              </a:solidFill>
              <a:latin typeface="Calibri"/>
              <a:ea typeface="Calibri"/>
              <a:cs typeface="Calibri"/>
              <a:sym typeface="Calibri"/>
            </a:endParaRPr>
          </a:p>
        </p:txBody>
      </p:sp>
      <p:sp>
        <p:nvSpPr>
          <p:cNvPr id="1885" name="Google Shape;1885;p58"/>
          <p:cNvSpPr/>
          <p:nvPr/>
        </p:nvSpPr>
        <p:spPr>
          <a:xfrm>
            <a:off x="502920" y="3675888"/>
            <a:ext cx="420624" cy="420624"/>
          </a:xfrm>
          <a:prstGeom prst="ellipse">
            <a:avLst/>
          </a:prstGeom>
          <a:solidFill>
            <a:srgbClr val="C2410C"/>
          </a:solidFill>
          <a:ln w="9525"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58"/>
          <p:cNvSpPr txBox="1"/>
          <p:nvPr/>
        </p:nvSpPr>
        <p:spPr>
          <a:xfrm>
            <a:off x="502920" y="3675888"/>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887" name="Google Shape;1887;p58"/>
          <p:cNvSpPr txBox="1"/>
          <p:nvPr/>
        </p:nvSpPr>
        <p:spPr>
          <a:xfrm>
            <a:off x="1097280" y="3584448"/>
            <a:ext cx="6583680"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Many heads, many views: </a:t>
            </a:r>
            <a:r>
              <a:rPr lang="en-US" sz="1500" b="0" i="0" u="none" strike="noStrike" cap="none">
                <a:solidFill>
                  <a:srgbClr val="334155"/>
                </a:solidFill>
                <a:latin typeface="Calibri"/>
                <a:ea typeface="Calibri"/>
                <a:cs typeface="Calibri"/>
                <a:sym typeface="Calibri"/>
              </a:rPr>
              <a:t>h heads in dₖ = d/h dimensions, combined by an output matrix.</a:t>
            </a:r>
            <a:endParaRPr sz="1500" b="0" i="0" u="none" strike="noStrike" cap="none">
              <a:solidFill>
                <a:schemeClr val="dk1"/>
              </a:solidFill>
              <a:latin typeface="Calibri"/>
              <a:ea typeface="Calibri"/>
              <a:cs typeface="Calibri"/>
              <a:sym typeface="Calibri"/>
            </a:endParaRPr>
          </a:p>
        </p:txBody>
      </p:sp>
      <p:sp>
        <p:nvSpPr>
          <p:cNvPr id="1888" name="Google Shape;1888;p58"/>
          <p:cNvSpPr/>
          <p:nvPr/>
        </p:nvSpPr>
        <p:spPr>
          <a:xfrm>
            <a:off x="502920" y="4361688"/>
            <a:ext cx="420624" cy="420624"/>
          </a:xfrm>
          <a:prstGeom prst="ellipse">
            <a:avLst/>
          </a:prstGeom>
          <a:solidFill>
            <a:srgbClr val="15803D"/>
          </a:solidFill>
          <a:ln w="9525" cap="flat" cmpd="sng">
            <a:solidFill>
              <a:srgbClr val="15803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58"/>
          <p:cNvSpPr txBox="1"/>
          <p:nvPr/>
        </p:nvSpPr>
        <p:spPr>
          <a:xfrm>
            <a:off x="502920" y="4361688"/>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1890" name="Google Shape;1890;p58"/>
          <p:cNvSpPr txBox="1"/>
          <p:nvPr/>
        </p:nvSpPr>
        <p:spPr>
          <a:xfrm>
            <a:off x="1097280" y="4270248"/>
            <a:ext cx="6583680"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The decoder writes: </a:t>
            </a:r>
            <a:r>
              <a:rPr lang="en-US" sz="1500" b="0" i="0" u="none" strike="noStrike" cap="none">
                <a:solidFill>
                  <a:srgbClr val="334155"/>
                </a:solidFill>
                <a:latin typeface="Calibri"/>
                <a:ea typeface="Calibri"/>
                <a:cs typeface="Calibri"/>
                <a:sym typeface="Calibri"/>
              </a:rPr>
              <a:t>causal mask + cross-attention + an autoregressive loop.</a:t>
            </a:r>
            <a:endParaRPr sz="1500" b="0" i="0" u="none" strike="noStrike" cap="none">
              <a:solidFill>
                <a:schemeClr val="dk1"/>
              </a:solidFill>
              <a:latin typeface="Calibri"/>
              <a:ea typeface="Calibri"/>
              <a:cs typeface="Calibri"/>
              <a:sym typeface="Calibri"/>
            </a:endParaRPr>
          </a:p>
        </p:txBody>
      </p:sp>
      <p:sp>
        <p:nvSpPr>
          <p:cNvPr id="1891" name="Google Shape;1891;p58"/>
          <p:cNvSpPr/>
          <p:nvPr/>
        </p:nvSpPr>
        <p:spPr>
          <a:xfrm>
            <a:off x="502920" y="5047488"/>
            <a:ext cx="420624" cy="420624"/>
          </a:xfrm>
          <a:prstGeom prst="ellipse">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58"/>
          <p:cNvSpPr txBox="1"/>
          <p:nvPr/>
        </p:nvSpPr>
        <p:spPr>
          <a:xfrm>
            <a:off x="502920" y="5047488"/>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6</a:t>
            </a:r>
            <a:endParaRPr sz="1400" b="0" i="0" u="none" strike="noStrike" cap="none">
              <a:solidFill>
                <a:schemeClr val="dk1"/>
              </a:solidFill>
              <a:latin typeface="Calibri"/>
              <a:ea typeface="Calibri"/>
              <a:cs typeface="Calibri"/>
              <a:sym typeface="Calibri"/>
            </a:endParaRPr>
          </a:p>
        </p:txBody>
      </p:sp>
      <p:sp>
        <p:nvSpPr>
          <p:cNvPr id="1893" name="Google Shape;1893;p58"/>
          <p:cNvSpPr txBox="1"/>
          <p:nvPr/>
        </p:nvSpPr>
        <p:spPr>
          <a:xfrm>
            <a:off x="1097280" y="4956048"/>
            <a:ext cx="6583680" cy="64008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Pick the family by task: </a:t>
            </a:r>
            <a:r>
              <a:rPr lang="en-US" sz="1500" b="0" i="0" u="none" strike="noStrike" cap="none">
                <a:solidFill>
                  <a:srgbClr val="334155"/>
                </a:solidFill>
                <a:latin typeface="Calibri"/>
                <a:ea typeface="Calibri"/>
                <a:cs typeface="Calibri"/>
                <a:sym typeface="Calibri"/>
              </a:rPr>
              <a:t>encoder reads, decoder writes, encoder-decoder transforms.</a:t>
            </a:r>
            <a:endParaRPr sz="1500" b="0" i="0" u="none" strike="noStrike" cap="none">
              <a:solidFill>
                <a:schemeClr val="dk1"/>
              </a:solidFill>
              <a:latin typeface="Calibri"/>
              <a:ea typeface="Calibri"/>
              <a:cs typeface="Calibri"/>
              <a:sym typeface="Calibri"/>
            </a:endParaRPr>
          </a:p>
        </p:txBody>
      </p:sp>
      <p:sp>
        <p:nvSpPr>
          <p:cNvPr id="1894" name="Google Shape;1894;p58"/>
          <p:cNvSpPr/>
          <p:nvPr/>
        </p:nvSpPr>
        <p:spPr>
          <a:xfrm>
            <a:off x="8001000" y="1508760"/>
            <a:ext cx="3730752" cy="4069080"/>
          </a:xfrm>
          <a:prstGeom prst="roundRect">
            <a:avLst>
              <a:gd name="adj" fmla="val 2451"/>
            </a:avLst>
          </a:prstGeom>
          <a:solidFill>
            <a:srgbClr val="FEF6DD"/>
          </a:solidFill>
          <a:ln w="12700" cap="flat" cmpd="sng">
            <a:solidFill>
              <a:srgbClr val="F4C7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95" name="Google Shape;1895;p58" descr="preencoded.png"/>
          <p:cNvPicPr preferRelativeResize="0"/>
          <p:nvPr/>
        </p:nvPicPr>
        <p:blipFill rotWithShape="1">
          <a:blip r:embed="rId3">
            <a:alphaModFix/>
          </a:blip>
          <a:srcRect/>
          <a:stretch/>
        </p:blipFill>
        <p:spPr>
          <a:xfrm>
            <a:off x="8229600" y="1691640"/>
            <a:ext cx="457200" cy="457200"/>
          </a:xfrm>
          <a:prstGeom prst="rect">
            <a:avLst/>
          </a:prstGeom>
          <a:noFill/>
          <a:ln>
            <a:noFill/>
          </a:ln>
        </p:spPr>
      </p:pic>
      <p:sp>
        <p:nvSpPr>
          <p:cNvPr id="1896" name="Google Shape;1896;p58"/>
          <p:cNvSpPr txBox="1"/>
          <p:nvPr/>
        </p:nvSpPr>
        <p:spPr>
          <a:xfrm>
            <a:off x="8778240" y="1691640"/>
            <a:ext cx="2834640" cy="457200"/>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B45309"/>
              </a:buClr>
              <a:buSzPts val="1600"/>
              <a:buFont typeface="Calibri"/>
              <a:buNone/>
            </a:pPr>
            <a:r>
              <a:rPr lang="en-US" sz="1600" b="1" i="0" u="none" strike="noStrike" cap="none">
                <a:solidFill>
                  <a:srgbClr val="B45309"/>
                </a:solidFill>
                <a:latin typeface="Calibri"/>
                <a:ea typeface="Calibri"/>
                <a:cs typeface="Calibri"/>
                <a:sym typeface="Calibri"/>
              </a:rPr>
              <a:t>One to take home</a:t>
            </a:r>
            <a:endParaRPr sz="1600" b="0" i="0" u="none" strike="noStrike" cap="none">
              <a:solidFill>
                <a:schemeClr val="dk1"/>
              </a:solidFill>
              <a:latin typeface="Calibri"/>
              <a:ea typeface="Calibri"/>
              <a:cs typeface="Calibri"/>
              <a:sym typeface="Calibri"/>
            </a:endParaRPr>
          </a:p>
        </p:txBody>
      </p:sp>
      <p:sp>
        <p:nvSpPr>
          <p:cNvPr id="1897" name="Google Shape;1897;p58"/>
          <p:cNvSpPr txBox="1"/>
          <p:nvPr/>
        </p:nvSpPr>
        <p:spPr>
          <a:xfrm>
            <a:off x="8229600" y="2286000"/>
            <a:ext cx="3337560" cy="3108960"/>
          </a:xfrm>
          <a:prstGeom prst="rect">
            <a:avLst/>
          </a:prstGeom>
          <a:noFill/>
          <a:ln>
            <a:noFill/>
          </a:ln>
        </p:spPr>
        <p:txBody>
          <a:bodyPr spcFirstLastPara="1" wrap="square" lIns="750" tIns="750" rIns="750" bIns="750" anchor="t" anchorCtr="0">
            <a:noAutofit/>
          </a:bodyPr>
          <a:lstStyle/>
          <a:p>
            <a:pPr marL="0" marR="0" lvl="0" indent="0" algn="l" rtl="0">
              <a:spcBef>
                <a:spcPts val="0"/>
              </a:spcBef>
              <a:spcAft>
                <a:spcPts val="0"/>
              </a:spcAft>
              <a:buClr>
                <a:srgbClr val="1E293B"/>
              </a:buClr>
              <a:buSzPts val="1500"/>
              <a:buFont typeface="Calibri"/>
              <a:buNone/>
            </a:pPr>
            <a:r>
              <a:rPr lang="en-US" sz="1500" b="1" i="0" u="none" strike="noStrike" cap="none">
                <a:solidFill>
                  <a:srgbClr val="1E293B"/>
                </a:solidFill>
                <a:latin typeface="Calibri"/>
                <a:ea typeface="Calibri"/>
                <a:cs typeface="Calibri"/>
                <a:sym typeface="Calibri"/>
              </a:rPr>
              <a:t>Why did the RNN fail its exam?</a:t>
            </a:r>
            <a:endParaRPr sz="15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7C3E0A"/>
              </a:buClr>
              <a:buSzPts val="1500"/>
              <a:buFont typeface="Calibri"/>
              <a:buNone/>
            </a:pPr>
            <a:r>
              <a:rPr lang="en-US" sz="1500" b="0" i="1" u="none" strike="noStrike" cap="none">
                <a:solidFill>
                  <a:srgbClr val="7C3E0A"/>
                </a:solidFill>
                <a:latin typeface="Calibri"/>
                <a:ea typeface="Calibri"/>
                <a:cs typeface="Calibri"/>
                <a:sym typeface="Calibri"/>
              </a:rPr>
              <a:t>It studied the whole syllabus, but only remembered the last chapter.</a:t>
            </a:r>
            <a:endParaRPr sz="15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7C3E0A"/>
              </a:buClr>
              <a:buSzPts val="1500"/>
              <a:buFont typeface="Calibri"/>
              <a:buNone/>
            </a:pPr>
            <a:r>
              <a:rPr lang="en-US" sz="1500" b="0" i="0" u="none" strike="noStrike" cap="none">
                <a:solidFill>
                  <a:srgbClr val="7C3E0A"/>
                </a:solidFill>
                <a:latin typeface="Calibri"/>
                <a:ea typeface="Calibri"/>
                <a:cs typeface="Calibri"/>
                <a:sym typeface="Calibri"/>
              </a:rPr>
              <a:t> </a:t>
            </a:r>
            <a:endParaRPr sz="15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7C3E0A"/>
              </a:buClr>
              <a:buSzPts val="1500"/>
              <a:buFont typeface="Calibri"/>
              <a:buNone/>
            </a:pPr>
            <a:r>
              <a:rPr lang="en-US" sz="1500" b="0" i="1" u="none" strike="noStrike" cap="none">
                <a:solidFill>
                  <a:srgbClr val="7C3E0A"/>
                </a:solidFill>
                <a:latin typeface="Calibri"/>
                <a:ea typeface="Calibri"/>
                <a:cs typeface="Calibri"/>
                <a:sym typeface="Calibri"/>
              </a:rPr>
              <a:t>The Transformer topped the class. It paid attention to everything, all at once.</a:t>
            </a:r>
            <a:endParaRPr sz="1500" b="0" i="0" u="none" strike="noStrike" cap="none">
              <a:solidFill>
                <a:schemeClr val="dk1"/>
              </a:solidFill>
              <a:latin typeface="Calibri"/>
              <a:ea typeface="Calibri"/>
              <a:cs typeface="Calibri"/>
              <a:sym typeface="Calibri"/>
            </a:endParaRPr>
          </a:p>
        </p:txBody>
      </p:sp>
      <p:sp>
        <p:nvSpPr>
          <p:cNvPr id="1898" name="Google Shape;1898;p58"/>
          <p:cNvSpPr/>
          <p:nvPr/>
        </p:nvSpPr>
        <p:spPr>
          <a:xfrm>
            <a:off x="457200" y="5760720"/>
            <a:ext cx="11277295" cy="548640"/>
          </a:xfrm>
          <a:prstGeom prst="roundRect">
            <a:avLst>
              <a:gd name="adj" fmla="val 10000"/>
            </a:avLst>
          </a:prstGeom>
          <a:solidFill>
            <a:srgbClr val="E6F4F1"/>
          </a:solidFill>
          <a:ln w="12700" cap="flat" cmpd="sng">
            <a:solidFill>
              <a:srgbClr val="A7D7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58"/>
          <p:cNvSpPr txBox="1"/>
          <p:nvPr/>
        </p:nvSpPr>
        <p:spPr>
          <a:xfrm>
            <a:off x="594360" y="5797296"/>
            <a:ext cx="11002975" cy="475488"/>
          </a:xfrm>
          <a:prstGeom prst="rect">
            <a:avLst/>
          </a:prstGeom>
          <a:noFill/>
          <a:ln>
            <a:noFill/>
          </a:ln>
        </p:spPr>
        <p:txBody>
          <a:bodyPr spcFirstLastPara="1" wrap="square" lIns="750" tIns="750" rIns="750" bIns="750" anchor="ctr" anchorCtr="0">
            <a:noAutofit/>
          </a:bodyPr>
          <a:lstStyle/>
          <a:p>
            <a:pPr marL="0" marR="0" lvl="0" indent="0" algn="l" rtl="0">
              <a:spcBef>
                <a:spcPts val="0"/>
              </a:spcBef>
              <a:spcAft>
                <a:spcPts val="0"/>
              </a:spcAft>
              <a:buClr>
                <a:srgbClr val="0F766E"/>
              </a:buClr>
              <a:buSzPts val="1400"/>
              <a:buFont typeface="Calibri"/>
              <a:buNone/>
            </a:pPr>
            <a:r>
              <a:rPr lang="en-US" sz="1400" b="1" i="0" u="none" strike="noStrike" cap="none">
                <a:solidFill>
                  <a:srgbClr val="0F766E"/>
                </a:solidFill>
                <a:latin typeface="Calibri"/>
                <a:ea typeface="Calibri"/>
                <a:cs typeface="Calibri"/>
                <a:sym typeface="Calibri"/>
              </a:rPr>
              <a:t>Next lecture:  </a:t>
            </a:r>
            <a:r>
              <a:rPr lang="en-US" sz="1400" b="0" i="0" u="none" strike="noStrike" cap="none">
                <a:solidFill>
                  <a:srgbClr val="334155"/>
                </a:solidFill>
                <a:latin typeface="Calibri"/>
                <a:ea typeface="Calibri"/>
                <a:cs typeface="Calibri"/>
                <a:sym typeface="Calibri"/>
              </a:rPr>
              <a:t>how these pretrained models are adapted in practice: fine-tuning, parameter-efficient methods such as LoRA, and prompting.</a:t>
            </a:r>
            <a:endParaRPr sz="1400" b="0" i="0" u="none" strike="noStrike" cap="none">
              <a:solidFill>
                <a:schemeClr val="dk1"/>
              </a:solidFill>
              <a:latin typeface="Calibri"/>
              <a:ea typeface="Calibri"/>
              <a:cs typeface="Calibri"/>
              <a:sym typeface="Calibri"/>
            </a:endParaRPr>
          </a:p>
        </p:txBody>
      </p:sp>
      <p:sp>
        <p:nvSpPr>
          <p:cNvPr id="1900" name="Google Shape;1900;p58"/>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34</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33"/>
        <p:cNvGrpSpPr/>
        <p:nvPr/>
      </p:nvGrpSpPr>
      <p:grpSpPr>
        <a:xfrm>
          <a:off x="0" y="0"/>
          <a:ext cx="0" cy="0"/>
          <a:chOff x="0" y="0"/>
          <a:chExt cx="0" cy="0"/>
        </a:xfrm>
      </p:grpSpPr>
      <p:sp>
        <p:nvSpPr>
          <p:cNvPr id="1934" name="Google Shape;1934;p60"/>
          <p:cNvSpPr txBox="1">
            <a:spLocks noGrp="1"/>
          </p:cNvSpPr>
          <p:nvPr>
            <p:ph type="title"/>
          </p:nvPr>
        </p:nvSpPr>
        <p:spPr>
          <a:xfrm>
            <a:off x="1005840" y="256032"/>
            <a:ext cx="10177272" cy="64008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1E293B"/>
              </a:buClr>
              <a:buSzPts val="3000"/>
              <a:buFont typeface="Calibri"/>
              <a:buNone/>
            </a:pPr>
            <a:r>
              <a:rPr lang="en-US" sz="3000" b="1">
                <a:solidFill>
                  <a:srgbClr val="1E293B"/>
                </a:solidFill>
              </a:rPr>
              <a:t>Thank You</a:t>
            </a:r>
            <a:endParaRPr sz="3000"/>
          </a:p>
        </p:txBody>
      </p:sp>
      <p:sp>
        <p:nvSpPr>
          <p:cNvPr id="1935" name="Google Shape;1935;p60"/>
          <p:cNvSpPr txBox="1">
            <a:spLocks noGrp="1"/>
          </p:cNvSpPr>
          <p:nvPr>
            <p:ph type="body" idx="1"/>
          </p:nvPr>
        </p:nvSpPr>
        <p:spPr>
          <a:xfrm>
            <a:off x="1005840" y="896112"/>
            <a:ext cx="10177272" cy="3657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F766E"/>
              </a:buClr>
              <a:buSzPts val="1500"/>
              <a:buNone/>
            </a:pPr>
            <a:r>
              <a:rPr lang="en-US" sz="1500" i="1">
                <a:solidFill>
                  <a:srgbClr val="0F766E"/>
                </a:solidFill>
                <a:latin typeface="Cambria"/>
                <a:ea typeface="Cambria"/>
                <a:cs typeface="Cambria"/>
                <a:sym typeface="Cambria"/>
              </a:rPr>
              <a:t>Questions are welcome on the course forum</a:t>
            </a:r>
            <a:endParaRPr sz="1500"/>
          </a:p>
        </p:txBody>
      </p:sp>
      <p:sp>
        <p:nvSpPr>
          <p:cNvPr id="1936" name="Google Shape;1936;p60"/>
          <p:cNvSpPr txBox="1"/>
          <p:nvPr/>
        </p:nvSpPr>
        <p:spPr>
          <a:xfrm>
            <a:off x="411480" y="6455664"/>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b="1" i="0" u="none" strike="noStrike" cap="none" spc="100">
                <a:solidFill>
                  <a:srgbClr val="64748B"/>
                </a:solidFill>
                <a:latin typeface="Calibri"/>
                <a:ea typeface="Calibri"/>
                <a:cs typeface="Calibri"/>
                <a:sym typeface="Calibri"/>
              </a:rPr>
              <a:t>PART 8 · WRAP-UP</a:t>
            </a:r>
            <a:endParaRPr sz="1000" b="0" i="0" u="none" strike="noStrike" cap="none">
              <a:solidFill>
                <a:schemeClr val="dk1"/>
              </a:solidFill>
              <a:latin typeface="Calibri"/>
              <a:ea typeface="Calibri"/>
              <a:cs typeface="Calibri"/>
              <a:sym typeface="Calibri"/>
            </a:endParaRPr>
          </a:p>
        </p:txBody>
      </p:sp>
      <p:sp>
        <p:nvSpPr>
          <p:cNvPr id="1937" name="Google Shape;1937;p60"/>
          <p:cNvSpPr/>
          <p:nvPr/>
        </p:nvSpPr>
        <p:spPr>
          <a:xfrm>
            <a:off x="685800" y="1691640"/>
            <a:ext cx="2514600" cy="3840480"/>
          </a:xfrm>
          <a:prstGeom prst="roundRect">
            <a:avLst>
              <a:gd name="adj" fmla="val 3636"/>
            </a:avLst>
          </a:prstGeom>
          <a:solidFill>
            <a:srgbClr val="E6F4F1"/>
          </a:solidFill>
          <a:ln w="12700" cap="flat" cmpd="sng">
            <a:solidFill>
              <a:srgbClr val="A7D7CF"/>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38" name="Google Shape;1938;p60" descr="/tmp/claude-0/-home-claude/2e4ed916-d3dc-5f60-b61a-7b0ef1a4d3a9/scratchpad/lec/assets/image120.jpeg"/>
          <p:cNvPicPr preferRelativeResize="0"/>
          <p:nvPr/>
        </p:nvPicPr>
        <p:blipFill rotWithShape="1">
          <a:blip r:embed="rId3">
            <a:alphaModFix/>
          </a:blip>
          <a:srcRect/>
          <a:stretch/>
        </p:blipFill>
        <p:spPr>
          <a:xfrm>
            <a:off x="1051560" y="1920240"/>
            <a:ext cx="1783080" cy="2148840"/>
          </a:xfrm>
          <a:prstGeom prst="rect">
            <a:avLst/>
          </a:prstGeom>
          <a:noFill/>
          <a:ln>
            <a:noFill/>
          </a:ln>
        </p:spPr>
      </p:pic>
      <p:sp>
        <p:nvSpPr>
          <p:cNvPr id="1939" name="Google Shape;1939;p60"/>
          <p:cNvSpPr txBox="1"/>
          <p:nvPr/>
        </p:nvSpPr>
        <p:spPr>
          <a:xfrm>
            <a:off x="777240" y="4206240"/>
            <a:ext cx="2331720" cy="68580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Sabyasachi Mukhopadhyay</a:t>
            </a:r>
            <a:endParaRPr sz="1600" b="0" i="0" u="none" strike="noStrike" cap="none">
              <a:solidFill>
                <a:schemeClr val="dk1"/>
              </a:solidFill>
              <a:latin typeface="Calibri"/>
              <a:ea typeface="Calibri"/>
              <a:cs typeface="Calibri"/>
              <a:sym typeface="Calibri"/>
            </a:endParaRPr>
          </a:p>
        </p:txBody>
      </p:sp>
      <p:sp>
        <p:nvSpPr>
          <p:cNvPr id="1940" name="Google Shape;1940;p60"/>
          <p:cNvSpPr/>
          <p:nvPr/>
        </p:nvSpPr>
        <p:spPr>
          <a:xfrm>
            <a:off x="1005840" y="4983480"/>
            <a:ext cx="1874520" cy="310896"/>
          </a:xfrm>
          <a:prstGeom prst="roundRect">
            <a:avLst>
              <a:gd name="adj" fmla="val 23529"/>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0"/>
          <p:cNvSpPr txBox="1"/>
          <p:nvPr/>
        </p:nvSpPr>
        <p:spPr>
          <a:xfrm>
            <a:off x="1005840" y="4983480"/>
            <a:ext cx="18745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Instructor</a:t>
            </a:r>
            <a:endParaRPr sz="1200" b="0" i="0" u="none" strike="noStrike" cap="none">
              <a:solidFill>
                <a:schemeClr val="dk1"/>
              </a:solidFill>
              <a:latin typeface="Calibri"/>
              <a:ea typeface="Calibri"/>
              <a:cs typeface="Calibri"/>
              <a:sym typeface="Calibri"/>
            </a:endParaRPr>
          </a:p>
        </p:txBody>
      </p:sp>
      <p:sp>
        <p:nvSpPr>
          <p:cNvPr id="1942" name="Google Shape;1942;p60"/>
          <p:cNvSpPr/>
          <p:nvPr/>
        </p:nvSpPr>
        <p:spPr>
          <a:xfrm>
            <a:off x="3474720" y="1691640"/>
            <a:ext cx="2514600" cy="3840480"/>
          </a:xfrm>
          <a:prstGeom prst="roundRect">
            <a:avLst>
              <a:gd name="adj" fmla="val 363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43" name="Google Shape;1943;p60" descr="/tmp/claude-0/-home-claude/2e4ed916-d3dc-5f60-b61a-7b0ef1a4d3a9/scratchpad/lec/assets/image121.jpeg"/>
          <p:cNvPicPr preferRelativeResize="0"/>
          <p:nvPr/>
        </p:nvPicPr>
        <p:blipFill rotWithShape="1">
          <a:blip r:embed="rId4">
            <a:alphaModFix/>
          </a:blip>
          <a:srcRect/>
          <a:stretch/>
        </p:blipFill>
        <p:spPr>
          <a:xfrm>
            <a:off x="3840480" y="1920240"/>
            <a:ext cx="1783080" cy="2148840"/>
          </a:xfrm>
          <a:prstGeom prst="rect">
            <a:avLst/>
          </a:prstGeom>
          <a:noFill/>
          <a:ln>
            <a:noFill/>
          </a:ln>
        </p:spPr>
      </p:pic>
      <p:sp>
        <p:nvSpPr>
          <p:cNvPr id="1944" name="Google Shape;1944;p60"/>
          <p:cNvSpPr txBox="1"/>
          <p:nvPr/>
        </p:nvSpPr>
        <p:spPr>
          <a:xfrm>
            <a:off x="3566160" y="4206240"/>
            <a:ext cx="2331720" cy="68580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Sombit Bose</a:t>
            </a:r>
            <a:endParaRPr sz="1600" b="0" i="0" u="none" strike="noStrike" cap="none">
              <a:solidFill>
                <a:schemeClr val="dk1"/>
              </a:solidFill>
              <a:latin typeface="Calibri"/>
              <a:ea typeface="Calibri"/>
              <a:cs typeface="Calibri"/>
              <a:sym typeface="Calibri"/>
            </a:endParaRPr>
          </a:p>
        </p:txBody>
      </p:sp>
      <p:sp>
        <p:nvSpPr>
          <p:cNvPr id="1945" name="Google Shape;1945;p60"/>
          <p:cNvSpPr/>
          <p:nvPr/>
        </p:nvSpPr>
        <p:spPr>
          <a:xfrm>
            <a:off x="3794760" y="4983480"/>
            <a:ext cx="187452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0"/>
          <p:cNvSpPr txBox="1"/>
          <p:nvPr/>
        </p:nvSpPr>
        <p:spPr>
          <a:xfrm>
            <a:off x="3794760" y="4983480"/>
            <a:ext cx="18745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Teaching Assistant</a:t>
            </a:r>
            <a:endParaRPr sz="1200" b="0" i="0" u="none" strike="noStrike" cap="none">
              <a:solidFill>
                <a:schemeClr val="dk1"/>
              </a:solidFill>
              <a:latin typeface="Calibri"/>
              <a:ea typeface="Calibri"/>
              <a:cs typeface="Calibri"/>
              <a:sym typeface="Calibri"/>
            </a:endParaRPr>
          </a:p>
        </p:txBody>
      </p:sp>
      <p:sp>
        <p:nvSpPr>
          <p:cNvPr id="1947" name="Google Shape;1947;p60"/>
          <p:cNvSpPr/>
          <p:nvPr/>
        </p:nvSpPr>
        <p:spPr>
          <a:xfrm>
            <a:off x="6263640" y="1691640"/>
            <a:ext cx="2514600" cy="3840480"/>
          </a:xfrm>
          <a:prstGeom prst="roundRect">
            <a:avLst>
              <a:gd name="adj" fmla="val 363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48" name="Google Shape;1948;p60" descr="/tmp/claude-0/-home-claude/2e4ed916-d3dc-5f60-b61a-7b0ef1a4d3a9/scratchpad/lec/assets/image122.jpeg"/>
          <p:cNvPicPr preferRelativeResize="0"/>
          <p:nvPr/>
        </p:nvPicPr>
        <p:blipFill rotWithShape="1">
          <a:blip r:embed="rId5">
            <a:alphaModFix/>
          </a:blip>
          <a:srcRect/>
          <a:stretch/>
        </p:blipFill>
        <p:spPr>
          <a:xfrm>
            <a:off x="6629400" y="1920240"/>
            <a:ext cx="1783080" cy="2148840"/>
          </a:xfrm>
          <a:prstGeom prst="rect">
            <a:avLst/>
          </a:prstGeom>
          <a:noFill/>
          <a:ln>
            <a:noFill/>
          </a:ln>
        </p:spPr>
      </p:pic>
      <p:sp>
        <p:nvSpPr>
          <p:cNvPr id="1949" name="Google Shape;1949;p60"/>
          <p:cNvSpPr txBox="1"/>
          <p:nvPr/>
        </p:nvSpPr>
        <p:spPr>
          <a:xfrm>
            <a:off x="6355080" y="4206240"/>
            <a:ext cx="2331720" cy="68580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Anurup Naskar</a:t>
            </a:r>
            <a:endParaRPr sz="1600" b="0" i="0" u="none" strike="noStrike" cap="none">
              <a:solidFill>
                <a:schemeClr val="dk1"/>
              </a:solidFill>
              <a:latin typeface="Calibri"/>
              <a:ea typeface="Calibri"/>
              <a:cs typeface="Calibri"/>
              <a:sym typeface="Calibri"/>
            </a:endParaRPr>
          </a:p>
        </p:txBody>
      </p:sp>
      <p:sp>
        <p:nvSpPr>
          <p:cNvPr id="1950" name="Google Shape;1950;p60"/>
          <p:cNvSpPr/>
          <p:nvPr/>
        </p:nvSpPr>
        <p:spPr>
          <a:xfrm>
            <a:off x="6583680" y="4983480"/>
            <a:ext cx="187452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0"/>
          <p:cNvSpPr txBox="1"/>
          <p:nvPr/>
        </p:nvSpPr>
        <p:spPr>
          <a:xfrm>
            <a:off x="6583680" y="4983480"/>
            <a:ext cx="18745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Teaching Assistant</a:t>
            </a:r>
            <a:endParaRPr sz="1200" b="0" i="0" u="none" strike="noStrike" cap="none">
              <a:solidFill>
                <a:schemeClr val="dk1"/>
              </a:solidFill>
              <a:latin typeface="Calibri"/>
              <a:ea typeface="Calibri"/>
              <a:cs typeface="Calibri"/>
              <a:sym typeface="Calibri"/>
            </a:endParaRPr>
          </a:p>
        </p:txBody>
      </p:sp>
      <p:sp>
        <p:nvSpPr>
          <p:cNvPr id="1952" name="Google Shape;1952;p60"/>
          <p:cNvSpPr/>
          <p:nvPr/>
        </p:nvSpPr>
        <p:spPr>
          <a:xfrm>
            <a:off x="9052560" y="1691640"/>
            <a:ext cx="2514600" cy="3840480"/>
          </a:xfrm>
          <a:prstGeom prst="roundRect">
            <a:avLst>
              <a:gd name="adj" fmla="val 3636"/>
            </a:avLst>
          </a:prstGeom>
          <a:solidFill>
            <a:srgbClr val="FFFFFF"/>
          </a:solidFill>
          <a:ln w="12700" cap="flat" cmpd="sng">
            <a:solidFill>
              <a:srgbClr val="E2E8F0"/>
            </a:solidFill>
            <a:prstDash val="solid"/>
            <a:round/>
            <a:headEnd type="none" w="sm" len="sm"/>
            <a:tailEnd type="none" w="sm" len="sm"/>
          </a:ln>
          <a:effectLst>
            <a:outerShdw blurRad="76200" dist="19050" dir="5400000" algn="bl" rotWithShape="0">
              <a:srgbClr val="94A3B8">
                <a:alpha val="2509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53" name="Google Shape;1953;p60" descr="/tmp/claude-0/-home-claude/2e4ed916-d3dc-5f60-b61a-7b0ef1a4d3a9/scratchpad/lec/assets/image123.jpeg"/>
          <p:cNvPicPr preferRelativeResize="0"/>
          <p:nvPr/>
        </p:nvPicPr>
        <p:blipFill rotWithShape="1">
          <a:blip r:embed="rId6">
            <a:alphaModFix/>
          </a:blip>
          <a:srcRect/>
          <a:stretch/>
        </p:blipFill>
        <p:spPr>
          <a:xfrm>
            <a:off x="9418320" y="1920240"/>
            <a:ext cx="1783080" cy="2148840"/>
          </a:xfrm>
          <a:prstGeom prst="rect">
            <a:avLst/>
          </a:prstGeom>
          <a:noFill/>
          <a:ln>
            <a:noFill/>
          </a:ln>
        </p:spPr>
      </p:pic>
      <p:sp>
        <p:nvSpPr>
          <p:cNvPr id="1954" name="Google Shape;1954;p60"/>
          <p:cNvSpPr txBox="1"/>
          <p:nvPr/>
        </p:nvSpPr>
        <p:spPr>
          <a:xfrm>
            <a:off x="9144000" y="4206240"/>
            <a:ext cx="2331720" cy="685800"/>
          </a:xfrm>
          <a:prstGeom prst="rect">
            <a:avLst/>
          </a:prstGeom>
          <a:noFill/>
          <a:ln>
            <a:noFill/>
          </a:ln>
        </p:spPr>
        <p:txBody>
          <a:bodyPr spcFirstLastPara="1" wrap="square" lIns="750" tIns="750" rIns="750" bIns="750" anchor="ctr" anchorCtr="0">
            <a:noAutofit/>
          </a:bodyPr>
          <a:lstStyle/>
          <a:p>
            <a:pPr marL="0" marR="0" lvl="0" indent="0" algn="ctr" rtl="0">
              <a:spcBef>
                <a:spcPts val="0"/>
              </a:spcBef>
              <a:spcAft>
                <a:spcPts val="0"/>
              </a:spcAft>
              <a:buClr>
                <a:srgbClr val="1E293B"/>
              </a:buClr>
              <a:buSzPts val="1600"/>
              <a:buFont typeface="Calibri"/>
              <a:buNone/>
            </a:pPr>
            <a:r>
              <a:rPr lang="en-US" sz="1600" b="1" i="0" u="none" strike="noStrike" cap="none">
                <a:solidFill>
                  <a:srgbClr val="1E293B"/>
                </a:solidFill>
                <a:latin typeface="Calibri"/>
                <a:ea typeface="Calibri"/>
                <a:cs typeface="Calibri"/>
                <a:sym typeface="Calibri"/>
              </a:rPr>
              <a:t>Shrimon Mukherjee</a:t>
            </a:r>
            <a:endParaRPr sz="1600" b="0" i="0" u="none" strike="noStrike" cap="none">
              <a:solidFill>
                <a:schemeClr val="dk1"/>
              </a:solidFill>
              <a:latin typeface="Calibri"/>
              <a:ea typeface="Calibri"/>
              <a:cs typeface="Calibri"/>
              <a:sym typeface="Calibri"/>
            </a:endParaRPr>
          </a:p>
        </p:txBody>
      </p:sp>
      <p:sp>
        <p:nvSpPr>
          <p:cNvPr id="1955" name="Google Shape;1955;p60"/>
          <p:cNvSpPr/>
          <p:nvPr/>
        </p:nvSpPr>
        <p:spPr>
          <a:xfrm>
            <a:off x="9372600" y="4983480"/>
            <a:ext cx="1874520" cy="310896"/>
          </a:xfrm>
          <a:prstGeom prst="roundRect">
            <a:avLst>
              <a:gd name="adj" fmla="val 23529"/>
            </a:avLst>
          </a:prstGeom>
          <a:solidFill>
            <a:srgbClr val="6D28D9"/>
          </a:solidFill>
          <a:ln w="9525" cap="flat" cmpd="sng">
            <a:solidFill>
              <a:srgbClr val="6D28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0"/>
          <p:cNvSpPr txBox="1"/>
          <p:nvPr/>
        </p:nvSpPr>
        <p:spPr>
          <a:xfrm>
            <a:off x="9372600" y="4983480"/>
            <a:ext cx="1874520"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Teaching Assistant</a:t>
            </a:r>
            <a:endParaRPr sz="1200" b="0" i="0" u="none" strike="noStrike" cap="none">
              <a:solidFill>
                <a:schemeClr val="dk1"/>
              </a:solidFill>
              <a:latin typeface="Calibri"/>
              <a:ea typeface="Calibri"/>
              <a:cs typeface="Calibri"/>
              <a:sym typeface="Calibri"/>
            </a:endParaRPr>
          </a:p>
        </p:txBody>
      </p:sp>
      <p:sp>
        <p:nvSpPr>
          <p:cNvPr id="1957" name="Google Shape;1957;p60"/>
          <p:cNvSpPr txBox="1"/>
          <p:nvPr/>
        </p:nvSpPr>
        <p:spPr>
          <a:xfrm>
            <a:off x="457200" y="5806440"/>
            <a:ext cx="11277295" cy="320040"/>
          </a:xfrm>
          <a:prstGeom prst="rect">
            <a:avLst/>
          </a:prstGeom>
          <a:noFill/>
          <a:ln>
            <a:noFill/>
          </a:ln>
        </p:spPr>
        <p:txBody>
          <a:bodyPr spcFirstLastPara="1" wrap="square" lIns="750" tIns="750" rIns="750" bIns="750" anchor="t" anchorCtr="0">
            <a:noAutofit/>
          </a:bodyPr>
          <a:lstStyle/>
          <a:p>
            <a:pPr marL="0" marR="0" lvl="0" indent="0" algn="ctr" rtl="0">
              <a:spcBef>
                <a:spcPts val="0"/>
              </a:spcBef>
              <a:spcAft>
                <a:spcPts val="0"/>
              </a:spcAft>
              <a:buClr>
                <a:srgbClr val="64748B"/>
              </a:buClr>
              <a:buSzPts val="1300"/>
              <a:buFont typeface="Calibri"/>
              <a:buNone/>
            </a:pPr>
            <a:r>
              <a:rPr lang="en-US" sz="1300" b="0" i="1" u="none" strike="noStrike" cap="none">
                <a:solidFill>
                  <a:srgbClr val="64748B"/>
                </a:solidFill>
                <a:latin typeface="Calibri"/>
                <a:ea typeface="Calibri"/>
                <a:cs typeface="Calibri"/>
                <a:sym typeface="Calibri"/>
              </a:rPr>
              <a:t>Teaching Assistants: IIT Kharagpur</a:t>
            </a:r>
            <a:endParaRPr sz="1300" b="0" i="0" u="none" strike="noStrike" cap="none">
              <a:solidFill>
                <a:schemeClr val="dk1"/>
              </a:solidFill>
              <a:latin typeface="Calibri"/>
              <a:ea typeface="Calibri"/>
              <a:cs typeface="Calibri"/>
              <a:sym typeface="Calibri"/>
            </a:endParaRPr>
          </a:p>
        </p:txBody>
      </p:sp>
      <p:sp>
        <p:nvSpPr>
          <p:cNvPr id="1958" name="Google Shape;1958;p60"/>
          <p:cNvSpPr txBox="1">
            <a:spLocks noGrp="1"/>
          </p:cNvSpPr>
          <p:nvPr>
            <p:ph type="sldNum" idx="4294967295"/>
          </p:nvPr>
        </p:nvSpPr>
        <p:spPr>
          <a:xfrm>
            <a:off x="11384280" y="6455664"/>
            <a:ext cx="54864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64748B"/>
                </a:solidFill>
                <a:latin typeface="Calibri"/>
                <a:ea typeface="Calibri"/>
                <a:cs typeface="Calibri"/>
                <a:sym typeface="Calibri"/>
              </a:rPr>
              <a:t>35</a:t>
            </a:fld>
            <a:endParaRPr sz="1000" b="0" i="0" u="none" strike="noStrike" cap="none">
              <a:solidFill>
                <a:srgbClr val="64748B"/>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IIT KGP Transformers">
  <a:themeElements>
    <a:clrScheme name="IIT KGP Transformers">
      <a:dk1>
        <a:srgbClr val="1E293B"/>
      </a:dk1>
      <a:lt1>
        <a:srgbClr val="FFFFFF"/>
      </a:lt1>
      <a:dk2>
        <a:srgbClr val="0F172A"/>
      </a:dk2>
      <a:lt2>
        <a:srgbClr val="F1F5F9"/>
      </a:lt2>
      <a:accent1>
        <a:srgbClr val="1D4ED8"/>
      </a:accent1>
      <a:accent2>
        <a:srgbClr val="0F766E"/>
      </a:accent2>
      <a:accent3>
        <a:srgbClr val="6D28D9"/>
      </a:accent3>
      <a:accent4>
        <a:srgbClr val="C2410C"/>
      </a:accent4>
      <a:accent5>
        <a:srgbClr val="15803D"/>
      </a:accent5>
      <a:accent6>
        <a:srgbClr val="D97706"/>
      </a:accent6>
      <a:hlink>
        <a:srgbClr val="1D4ED8"/>
      </a:hlink>
      <a:folHlink>
        <a:srgbClr val="6D28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IT KGP Transformers">
  <a:themeElements>
    <a:clrScheme name="IIT KGP Transformers">
      <a:dk1>
        <a:srgbClr val="1E293B"/>
      </a:dk1>
      <a:lt1>
        <a:srgbClr val="FFFFFF"/>
      </a:lt1>
      <a:dk2>
        <a:srgbClr val="0F172A"/>
      </a:dk2>
      <a:lt2>
        <a:srgbClr val="F1F5F9"/>
      </a:lt2>
      <a:accent1>
        <a:srgbClr val="1D4ED8"/>
      </a:accent1>
      <a:accent2>
        <a:srgbClr val="0F766E"/>
      </a:accent2>
      <a:accent3>
        <a:srgbClr val="6D28D9"/>
      </a:accent3>
      <a:accent4>
        <a:srgbClr val="C2410C"/>
      </a:accent4>
      <a:accent5>
        <a:srgbClr val="15803D"/>
      </a:accent5>
      <a:accent6>
        <a:srgbClr val="D97706"/>
      </a:accent6>
      <a:hlink>
        <a:srgbClr val="1D4ED8"/>
      </a:hlink>
      <a:folHlink>
        <a:srgbClr val="6D28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7473</Words>
  <Application>Microsoft Office PowerPoint</Application>
  <PresentationFormat>Widescreen</PresentationFormat>
  <Paragraphs>852</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Cambria</vt:lpstr>
      <vt:lpstr>Courier New</vt:lpstr>
      <vt:lpstr>IIT KGP Transformers</vt:lpstr>
      <vt:lpstr>PowerPoint Presentation</vt:lpstr>
      <vt:lpstr>Before We Begin: You Used Transformers Today</vt:lpstr>
      <vt:lpstr>Attention as a Fuzzy Hashtable</vt:lpstr>
      <vt:lpstr>Query, Key, Value: A Library Analogy</vt:lpstr>
      <vt:lpstr>Recipe for Self-Attention</vt:lpstr>
      <vt:lpstr>Vectorised Self-Attention: One Line of Matrix Algebra</vt:lpstr>
      <vt:lpstr>Tiny Self-Attention: Step by Step</vt:lpstr>
      <vt:lpstr>The Feed-Forward Layer: Adding Thinking Time</vt:lpstr>
      <vt:lpstr>Where Is the Non-Linearity in a Transformer?</vt:lpstr>
      <vt:lpstr>How Do We Train a 6-Layer (or 96-Layer) Stack?</vt:lpstr>
      <vt:lpstr>Tricks #1 and #2: Residual Connections and LayerNorm</vt:lpstr>
      <vt:lpstr>Trick #3: Why Divide by √dₖ?</vt:lpstr>
      <vt:lpstr>Positional Encoding: Giving Every Word a Seat Number</vt:lpstr>
      <vt:lpstr>Worked Example: “bank” at Position 3 vs Position 7</vt:lpstr>
      <vt:lpstr>Why Relative Offsets Are Linear</vt:lpstr>
      <vt:lpstr>Beyond sin/cos: How Today's LLMs Encode Position</vt:lpstr>
      <vt:lpstr>Where Each Scheme Injects Position</vt:lpstr>
      <vt:lpstr>Why Multiple Heads?</vt:lpstr>
      <vt:lpstr>Multi-Head Attention: The Selection Committee</vt:lpstr>
      <vt:lpstr>2-Head Attention: A Concrete Calculation</vt:lpstr>
      <vt:lpstr>The Transformer Decoder: Three Sublayers</vt:lpstr>
      <vt:lpstr>Masked Self-Attention: No Peeking at the Future</vt:lpstr>
      <vt:lpstr>Cross-Attention: The Bridge Between Encoder and Decoder</vt:lpstr>
      <vt:lpstr>Cross-Attention as a Matrix</vt:lpstr>
      <vt:lpstr>Autoregressive Generation: The Decoder Loop</vt:lpstr>
      <vt:lpstr>Linear + Softmax: From a Vector to a Word</vt:lpstr>
      <vt:lpstr>Choosing the Next Token: Greedy, Beam or Sampling?</vt:lpstr>
      <vt:lpstr>Step by Step: “I love you” → “Je t'aime”</vt:lpstr>
      <vt:lpstr>The Pretrain → Fine-Tune Paradigm</vt:lpstr>
      <vt:lpstr>Three Families of Pretrained Transformers</vt:lpstr>
      <vt:lpstr>Where Transformers Run Today</vt:lpstr>
      <vt:lpstr>Choosing the Right Architecture</vt:lpstr>
      <vt:lpstr>Why Decoder-Only Became the Industry Standard</vt:lpstr>
      <vt:lpstr>Six Things to Remember from Today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Sombit Bose</cp:lastModifiedBy>
  <cp:revision>2</cp:revision>
  <dcterms:modified xsi:type="dcterms:W3CDTF">2026-10-11T04:44:15Z</dcterms:modified>
</cp:coreProperties>
</file>