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y="5149850" cx="9144000"/>
  <p:notesSz cx="9144000" cy="5149850"/>
  <p:embeddedFontLst>
    <p:embeddedFont>
      <p:font typeface="Quattrocento Sans"/>
      <p:regular r:id="rId63"/>
      <p:bold r:id="rId64"/>
      <p:italic r:id="rId65"/>
      <p:boldItalic r:id="rId66"/>
    </p:embeddedFont>
    <p:embeddedFont>
      <p:font typeface="Helvetica Neue"/>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71" roundtripDataSignature="AMtx7misuibHTCHLwy4TmX4ln5WQ/ler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7F75444-8990-4049-B4A0-D4880F097619}">
  <a:tblStyle styleId="{17F75444-8990-4049-B4A0-D4880F097619}"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customschemas.google.com/relationships/presentationmetadata" Target="metadata"/><Relationship Id="rId70" Type="http://schemas.openxmlformats.org/officeDocument/2006/relationships/font" Target="fonts/HelveticaNeue-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QuattrocentoSans-bold.fntdata"/><Relationship Id="rId63" Type="http://schemas.openxmlformats.org/officeDocument/2006/relationships/font" Target="fonts/QuattrocentoSans-regular.fntdata"/><Relationship Id="rId22" Type="http://schemas.openxmlformats.org/officeDocument/2006/relationships/slide" Target="slides/slide16.xml"/><Relationship Id="rId66" Type="http://schemas.openxmlformats.org/officeDocument/2006/relationships/font" Target="fonts/QuattrocentoSans-boldItalic.fntdata"/><Relationship Id="rId21" Type="http://schemas.openxmlformats.org/officeDocument/2006/relationships/slide" Target="slides/slide15.xml"/><Relationship Id="rId65" Type="http://schemas.openxmlformats.org/officeDocument/2006/relationships/font" Target="fonts/QuattrocentoSans-italic.fntdata"/><Relationship Id="rId24" Type="http://schemas.openxmlformats.org/officeDocument/2006/relationships/slide" Target="slides/slide18.xml"/><Relationship Id="rId68" Type="http://schemas.openxmlformats.org/officeDocument/2006/relationships/font" Target="fonts/HelveticaNeue-bold.fntdata"/><Relationship Id="rId23" Type="http://schemas.openxmlformats.org/officeDocument/2006/relationships/slide" Target="slides/slide17.xml"/><Relationship Id="rId67" Type="http://schemas.openxmlformats.org/officeDocument/2006/relationships/font" Target="fonts/HelveticaNeue-regular.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HelveticaNeue-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2446175"/>
            <a:ext cx="7315200" cy="231742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1: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1: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2: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4: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5: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5: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6: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6: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7: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7: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8: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8: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9: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9: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10: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0: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11: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1: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15: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5: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16: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6: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17: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7: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18: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8: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19: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9: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20: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0: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24: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4: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25: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5: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p26: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6: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27: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7: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28: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8: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29: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9: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p33: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33: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p34: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34: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p35: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35: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p36: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36: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p37: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7: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p38: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38: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p39: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39: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p40: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40: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p41: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41: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p42: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42: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p43: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43: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p44: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44: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p45: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45: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p46: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46: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0" name="Shape 1380"/>
        <p:cNvGrpSpPr/>
        <p:nvPr/>
      </p:nvGrpSpPr>
      <p:grpSpPr>
        <a:xfrm>
          <a:off x="0" y="0"/>
          <a:ext cx="0" cy="0"/>
          <a:chOff x="0" y="0"/>
          <a:chExt cx="0" cy="0"/>
        </a:xfrm>
      </p:grpSpPr>
      <p:sp>
        <p:nvSpPr>
          <p:cNvPr id="1381" name="Google Shape;1381;p47: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47: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p48: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48: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p49: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49: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2" name="Shape 1442"/>
        <p:cNvGrpSpPr/>
        <p:nvPr/>
      </p:nvGrpSpPr>
      <p:grpSpPr>
        <a:xfrm>
          <a:off x="0" y="0"/>
          <a:ext cx="0" cy="0"/>
          <a:chOff x="0" y="0"/>
          <a:chExt cx="0" cy="0"/>
        </a:xfrm>
      </p:grpSpPr>
      <p:sp>
        <p:nvSpPr>
          <p:cNvPr id="1443" name="Google Shape;1443;p50: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50: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1" name="Shape 1451"/>
        <p:cNvGrpSpPr/>
        <p:nvPr/>
      </p:nvGrpSpPr>
      <p:grpSpPr>
        <a:xfrm>
          <a:off x="0" y="0"/>
          <a:ext cx="0" cy="0"/>
          <a:chOff x="0" y="0"/>
          <a:chExt cx="0" cy="0"/>
        </a:xfrm>
      </p:grpSpPr>
      <p:sp>
        <p:nvSpPr>
          <p:cNvPr id="1452" name="Google Shape;1452;p51: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51: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p52: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52: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2" name="Shape 1482"/>
        <p:cNvGrpSpPr/>
        <p:nvPr/>
      </p:nvGrpSpPr>
      <p:grpSpPr>
        <a:xfrm>
          <a:off x="0" y="0"/>
          <a:ext cx="0" cy="0"/>
          <a:chOff x="0" y="0"/>
          <a:chExt cx="0" cy="0"/>
        </a:xfrm>
      </p:grpSpPr>
      <p:sp>
        <p:nvSpPr>
          <p:cNvPr id="1483" name="Google Shape;1483;p53: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53: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2" name="Shape 1492"/>
        <p:cNvGrpSpPr/>
        <p:nvPr/>
      </p:nvGrpSpPr>
      <p:grpSpPr>
        <a:xfrm>
          <a:off x="0" y="0"/>
          <a:ext cx="0" cy="0"/>
          <a:chOff x="0" y="0"/>
          <a:chExt cx="0" cy="0"/>
        </a:xfrm>
      </p:grpSpPr>
      <p:sp>
        <p:nvSpPr>
          <p:cNvPr id="1493" name="Google Shape;1493;p54: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54: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1" name="Shape 1501"/>
        <p:cNvGrpSpPr/>
        <p:nvPr/>
      </p:nvGrpSpPr>
      <p:grpSpPr>
        <a:xfrm>
          <a:off x="0" y="0"/>
          <a:ext cx="0" cy="0"/>
          <a:chOff x="0" y="0"/>
          <a:chExt cx="0" cy="0"/>
        </a:xfrm>
      </p:grpSpPr>
      <p:sp>
        <p:nvSpPr>
          <p:cNvPr id="1502" name="Google Shape;1502;p55: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55: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3" name="Shape 1513"/>
        <p:cNvGrpSpPr/>
        <p:nvPr/>
      </p:nvGrpSpPr>
      <p:grpSpPr>
        <a:xfrm>
          <a:off x="0" y="0"/>
          <a:ext cx="0" cy="0"/>
          <a:chOff x="0" y="0"/>
          <a:chExt cx="0" cy="0"/>
        </a:xfrm>
      </p:grpSpPr>
      <p:sp>
        <p:nvSpPr>
          <p:cNvPr id="1514" name="Google Shape;1514;p56: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56: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6" name="Shape 1526"/>
        <p:cNvGrpSpPr/>
        <p:nvPr/>
      </p:nvGrpSpPr>
      <p:grpSpPr>
        <a:xfrm>
          <a:off x="0" y="0"/>
          <a:ext cx="0" cy="0"/>
          <a:chOff x="0" y="0"/>
          <a:chExt cx="0" cy="0"/>
        </a:xfrm>
      </p:grpSpPr>
      <p:sp>
        <p:nvSpPr>
          <p:cNvPr id="1527" name="Google Shape;1527;p57: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57: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7" name="Shape 1537"/>
        <p:cNvGrpSpPr/>
        <p:nvPr/>
      </p:nvGrpSpPr>
      <p:grpSpPr>
        <a:xfrm>
          <a:off x="0" y="0"/>
          <a:ext cx="0" cy="0"/>
          <a:chOff x="0" y="0"/>
          <a:chExt cx="0" cy="0"/>
        </a:xfrm>
      </p:grpSpPr>
      <p:sp>
        <p:nvSpPr>
          <p:cNvPr id="1538" name="Google Shape;1538;p58: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58: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1" name="Shape 1551"/>
        <p:cNvGrpSpPr/>
        <p:nvPr/>
      </p:nvGrpSpPr>
      <p:grpSpPr>
        <a:xfrm>
          <a:off x="0" y="0"/>
          <a:ext cx="0" cy="0"/>
          <a:chOff x="0" y="0"/>
          <a:chExt cx="0" cy="0"/>
        </a:xfrm>
      </p:grpSpPr>
      <p:sp>
        <p:nvSpPr>
          <p:cNvPr id="1552" name="Google Shape;1552;p59: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59: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7" name="Shape 1587"/>
        <p:cNvGrpSpPr/>
        <p:nvPr/>
      </p:nvGrpSpPr>
      <p:grpSpPr>
        <a:xfrm>
          <a:off x="0" y="0"/>
          <a:ext cx="0" cy="0"/>
          <a:chOff x="0" y="0"/>
          <a:chExt cx="0" cy="0"/>
        </a:xfrm>
      </p:grpSpPr>
      <p:sp>
        <p:nvSpPr>
          <p:cNvPr id="1588" name="Google Shape;1588;p63: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63: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7" name="Shape 1597"/>
        <p:cNvGrpSpPr/>
        <p:nvPr/>
      </p:nvGrpSpPr>
      <p:grpSpPr>
        <a:xfrm>
          <a:off x="0" y="0"/>
          <a:ext cx="0" cy="0"/>
          <a:chOff x="0" y="0"/>
          <a:chExt cx="0" cy="0"/>
        </a:xfrm>
      </p:grpSpPr>
      <p:sp>
        <p:nvSpPr>
          <p:cNvPr id="1598" name="Google Shape;1598;p64: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64: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4" name="Shape 1624"/>
        <p:cNvGrpSpPr/>
        <p:nvPr/>
      </p:nvGrpSpPr>
      <p:grpSpPr>
        <a:xfrm>
          <a:off x="0" y="0"/>
          <a:ext cx="0" cy="0"/>
          <a:chOff x="0" y="0"/>
          <a:chExt cx="0" cy="0"/>
        </a:xfrm>
      </p:grpSpPr>
      <p:sp>
        <p:nvSpPr>
          <p:cNvPr id="1625" name="Google Shape;1625;p65: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65: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9" name="Shape 1679"/>
        <p:cNvGrpSpPr/>
        <p:nvPr/>
      </p:nvGrpSpPr>
      <p:grpSpPr>
        <a:xfrm>
          <a:off x="0" y="0"/>
          <a:ext cx="0" cy="0"/>
          <a:chOff x="0" y="0"/>
          <a:chExt cx="0" cy="0"/>
        </a:xfrm>
      </p:grpSpPr>
      <p:sp>
        <p:nvSpPr>
          <p:cNvPr id="1680" name="Google Shape;1680;p66: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66: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6" name="Shape 1736"/>
        <p:cNvGrpSpPr/>
        <p:nvPr/>
      </p:nvGrpSpPr>
      <p:grpSpPr>
        <a:xfrm>
          <a:off x="0" y="0"/>
          <a:ext cx="0" cy="0"/>
          <a:chOff x="0" y="0"/>
          <a:chExt cx="0" cy="0"/>
        </a:xfrm>
      </p:grpSpPr>
      <p:sp>
        <p:nvSpPr>
          <p:cNvPr id="1737" name="Google Shape;1737;p67: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67: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0" name="Shape 1760"/>
        <p:cNvGrpSpPr/>
        <p:nvPr/>
      </p:nvGrpSpPr>
      <p:grpSpPr>
        <a:xfrm>
          <a:off x="0" y="0"/>
          <a:ext cx="0" cy="0"/>
          <a:chOff x="0" y="0"/>
          <a:chExt cx="0" cy="0"/>
        </a:xfrm>
      </p:grpSpPr>
      <p:sp>
        <p:nvSpPr>
          <p:cNvPr id="1761" name="Google Shape;1761;p68:notes"/>
          <p:cNvSpPr txBox="1"/>
          <p:nvPr>
            <p:ph idx="1" type="body"/>
          </p:nvPr>
        </p:nvSpPr>
        <p:spPr>
          <a:xfrm>
            <a:off x="914400" y="2446175"/>
            <a:ext cx="7315200" cy="23174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68:notes"/>
          <p:cNvSpPr/>
          <p:nvPr>
            <p:ph idx="2" type="sldImg"/>
          </p:nvPr>
        </p:nvSpPr>
        <p:spPr>
          <a:xfrm>
            <a:off x="1524300" y="386225"/>
            <a:ext cx="6096300" cy="19311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70"/>
          <p:cNvSpPr txBox="1"/>
          <p:nvPr>
            <p:ph type="title"/>
          </p:nvPr>
        </p:nvSpPr>
        <p:spPr>
          <a:xfrm>
            <a:off x="152184" y="63260"/>
            <a:ext cx="8839631" cy="8794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400">
                <a:solidFill>
                  <a:srgbClr val="0C1A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70"/>
          <p:cNvSpPr txBox="1"/>
          <p:nvPr>
            <p:ph idx="1" type="body"/>
          </p:nvPr>
        </p:nvSpPr>
        <p:spPr>
          <a:xfrm>
            <a:off x="210858" y="845542"/>
            <a:ext cx="6769100" cy="142049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100">
                <a:solidFill>
                  <a:schemeClr val="dk1"/>
                </a:solidFill>
                <a:latin typeface="Helvetica Neue"/>
                <a:ea typeface="Helvetica Neue"/>
                <a:cs typeface="Helvetica Neue"/>
                <a:sym typeface="Helvetica Neu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 name="Google Shape;15;p70"/>
          <p:cNvSpPr txBox="1"/>
          <p:nvPr>
            <p:ph idx="11" type="ftr"/>
          </p:nvPr>
        </p:nvSpPr>
        <p:spPr>
          <a:xfrm>
            <a:off x="3108960" y="4789360"/>
            <a:ext cx="2926080" cy="25749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70"/>
          <p:cNvSpPr txBox="1"/>
          <p:nvPr>
            <p:ph idx="10" type="dt"/>
          </p:nvPr>
        </p:nvSpPr>
        <p:spPr>
          <a:xfrm>
            <a:off x="457200" y="4789360"/>
            <a:ext cx="2103120" cy="25749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70"/>
          <p:cNvSpPr txBox="1"/>
          <p:nvPr>
            <p:ph idx="12" type="sldNum"/>
          </p:nvPr>
        </p:nvSpPr>
        <p:spPr>
          <a:xfrm>
            <a:off x="8906256" y="4894782"/>
            <a:ext cx="319404" cy="180975"/>
          </a:xfrm>
          <a:prstGeom prst="rect">
            <a:avLst/>
          </a:prstGeom>
          <a:noFill/>
          <a:ln>
            <a:noFill/>
          </a:ln>
        </p:spPr>
        <p:txBody>
          <a:bodyPr anchorCtr="0" anchor="t" bIns="0" lIns="0" spcFirstLastPara="1" rIns="0" wrap="square" tIns="0">
            <a:spAutoFit/>
          </a:bodyPr>
          <a:lstStyle>
            <a:lvl1pPr indent="0" lvl="0" marL="127000">
              <a:lnSpc>
                <a:spcPct val="100000"/>
              </a:lnSpc>
              <a:spcBef>
                <a:spcPts val="0"/>
              </a:spcBef>
              <a:buNone/>
              <a:defRPr b="0" i="0" sz="1000">
                <a:solidFill>
                  <a:srgbClr val="63738A"/>
                </a:solidFill>
                <a:latin typeface="Calibri"/>
                <a:ea typeface="Calibri"/>
                <a:cs typeface="Calibri"/>
                <a:sym typeface="Calibri"/>
              </a:defRPr>
            </a:lvl1pPr>
            <a:lvl2pPr indent="0" lvl="1" marL="127000">
              <a:lnSpc>
                <a:spcPct val="100000"/>
              </a:lnSpc>
              <a:spcBef>
                <a:spcPts val="0"/>
              </a:spcBef>
              <a:buNone/>
              <a:defRPr b="0" i="0" sz="1000">
                <a:solidFill>
                  <a:srgbClr val="63738A"/>
                </a:solidFill>
                <a:latin typeface="Calibri"/>
                <a:ea typeface="Calibri"/>
                <a:cs typeface="Calibri"/>
                <a:sym typeface="Calibri"/>
              </a:defRPr>
            </a:lvl2pPr>
            <a:lvl3pPr indent="0" lvl="2" marL="127000">
              <a:lnSpc>
                <a:spcPct val="100000"/>
              </a:lnSpc>
              <a:spcBef>
                <a:spcPts val="0"/>
              </a:spcBef>
              <a:buNone/>
              <a:defRPr b="0" i="0" sz="1000">
                <a:solidFill>
                  <a:srgbClr val="63738A"/>
                </a:solidFill>
                <a:latin typeface="Calibri"/>
                <a:ea typeface="Calibri"/>
                <a:cs typeface="Calibri"/>
                <a:sym typeface="Calibri"/>
              </a:defRPr>
            </a:lvl3pPr>
            <a:lvl4pPr indent="0" lvl="3" marL="127000">
              <a:lnSpc>
                <a:spcPct val="100000"/>
              </a:lnSpc>
              <a:spcBef>
                <a:spcPts val="0"/>
              </a:spcBef>
              <a:buNone/>
              <a:defRPr b="0" i="0" sz="1000">
                <a:solidFill>
                  <a:srgbClr val="63738A"/>
                </a:solidFill>
                <a:latin typeface="Calibri"/>
                <a:ea typeface="Calibri"/>
                <a:cs typeface="Calibri"/>
                <a:sym typeface="Calibri"/>
              </a:defRPr>
            </a:lvl4pPr>
            <a:lvl5pPr indent="0" lvl="4" marL="127000">
              <a:lnSpc>
                <a:spcPct val="100000"/>
              </a:lnSpc>
              <a:spcBef>
                <a:spcPts val="0"/>
              </a:spcBef>
              <a:buNone/>
              <a:defRPr b="0" i="0" sz="1000">
                <a:solidFill>
                  <a:srgbClr val="63738A"/>
                </a:solidFill>
                <a:latin typeface="Calibri"/>
                <a:ea typeface="Calibri"/>
                <a:cs typeface="Calibri"/>
                <a:sym typeface="Calibri"/>
              </a:defRPr>
            </a:lvl5pPr>
            <a:lvl6pPr indent="0" lvl="5" marL="127000">
              <a:lnSpc>
                <a:spcPct val="100000"/>
              </a:lnSpc>
              <a:spcBef>
                <a:spcPts val="0"/>
              </a:spcBef>
              <a:buNone/>
              <a:defRPr b="0" i="0" sz="1000">
                <a:solidFill>
                  <a:srgbClr val="63738A"/>
                </a:solidFill>
                <a:latin typeface="Calibri"/>
                <a:ea typeface="Calibri"/>
                <a:cs typeface="Calibri"/>
                <a:sym typeface="Calibri"/>
              </a:defRPr>
            </a:lvl6pPr>
            <a:lvl7pPr indent="0" lvl="6" marL="127000">
              <a:lnSpc>
                <a:spcPct val="100000"/>
              </a:lnSpc>
              <a:spcBef>
                <a:spcPts val="0"/>
              </a:spcBef>
              <a:buNone/>
              <a:defRPr b="0" i="0" sz="1000">
                <a:solidFill>
                  <a:srgbClr val="63738A"/>
                </a:solidFill>
                <a:latin typeface="Calibri"/>
                <a:ea typeface="Calibri"/>
                <a:cs typeface="Calibri"/>
                <a:sym typeface="Calibri"/>
              </a:defRPr>
            </a:lvl7pPr>
            <a:lvl8pPr indent="0" lvl="7" marL="127000">
              <a:lnSpc>
                <a:spcPct val="100000"/>
              </a:lnSpc>
              <a:spcBef>
                <a:spcPts val="0"/>
              </a:spcBef>
              <a:buNone/>
              <a:defRPr b="0" i="0" sz="1000">
                <a:solidFill>
                  <a:srgbClr val="63738A"/>
                </a:solidFill>
                <a:latin typeface="Calibri"/>
                <a:ea typeface="Calibri"/>
                <a:cs typeface="Calibri"/>
                <a:sym typeface="Calibri"/>
              </a:defRPr>
            </a:lvl8pPr>
            <a:lvl9pPr indent="0" lvl="8" marL="127000">
              <a:lnSpc>
                <a:spcPct val="100000"/>
              </a:lnSpc>
              <a:spcBef>
                <a:spcPts val="0"/>
              </a:spcBef>
              <a:buNone/>
              <a:defRPr b="0" i="0" sz="1000">
                <a:solidFill>
                  <a:srgbClr val="63738A"/>
                </a:solidFill>
                <a:latin typeface="Calibri"/>
                <a:ea typeface="Calibri"/>
                <a:cs typeface="Calibri"/>
                <a:sym typeface="Calibri"/>
              </a:defRPr>
            </a:lvl9pPr>
          </a:lstStyle>
          <a:p>
            <a:pPr indent="0" lvl="0" marL="1270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18" name="Shape 18"/>
        <p:cNvGrpSpPr/>
        <p:nvPr/>
      </p:nvGrpSpPr>
      <p:grpSpPr>
        <a:xfrm>
          <a:off x="0" y="0"/>
          <a:ext cx="0" cy="0"/>
          <a:chOff x="0" y="0"/>
          <a:chExt cx="0" cy="0"/>
        </a:xfrm>
      </p:grpSpPr>
      <p:pic>
        <p:nvPicPr>
          <p:cNvPr id="19" name="Google Shape;19;p71"/>
          <p:cNvPicPr preferRelativeResize="0"/>
          <p:nvPr/>
        </p:nvPicPr>
        <p:blipFill rotWithShape="1">
          <a:blip r:embed="rId2">
            <a:alphaModFix/>
          </a:blip>
          <a:srcRect b="0" l="0" r="0" t="0"/>
          <a:stretch/>
        </p:blipFill>
        <p:spPr>
          <a:xfrm>
            <a:off x="0" y="0"/>
            <a:ext cx="9144000" cy="5143324"/>
          </a:xfrm>
          <a:prstGeom prst="rect">
            <a:avLst/>
          </a:prstGeom>
          <a:noFill/>
          <a:ln>
            <a:noFill/>
          </a:ln>
        </p:spPr>
      </p:pic>
      <p:pic>
        <p:nvPicPr>
          <p:cNvPr id="20" name="Google Shape;20;p71"/>
          <p:cNvPicPr preferRelativeResize="0"/>
          <p:nvPr/>
        </p:nvPicPr>
        <p:blipFill rotWithShape="1">
          <a:blip r:embed="rId3">
            <a:alphaModFix/>
          </a:blip>
          <a:srcRect b="0" l="0" r="0" t="0"/>
          <a:stretch/>
        </p:blipFill>
        <p:spPr>
          <a:xfrm>
            <a:off x="8369274" y="14"/>
            <a:ext cx="774357" cy="866508"/>
          </a:xfrm>
          <a:prstGeom prst="rect">
            <a:avLst/>
          </a:prstGeom>
          <a:noFill/>
          <a:ln>
            <a:noFill/>
          </a:ln>
        </p:spPr>
      </p:pic>
      <p:sp>
        <p:nvSpPr>
          <p:cNvPr id="21" name="Google Shape;21;p71"/>
          <p:cNvSpPr txBox="1"/>
          <p:nvPr>
            <p:ph type="title"/>
          </p:nvPr>
        </p:nvSpPr>
        <p:spPr>
          <a:xfrm>
            <a:off x="152184" y="63260"/>
            <a:ext cx="8839631" cy="8794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400">
                <a:solidFill>
                  <a:srgbClr val="0C1A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71"/>
          <p:cNvSpPr txBox="1"/>
          <p:nvPr>
            <p:ph idx="1" type="body"/>
          </p:nvPr>
        </p:nvSpPr>
        <p:spPr>
          <a:xfrm>
            <a:off x="457200" y="1184465"/>
            <a:ext cx="3977640" cy="3398901"/>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 name="Google Shape;23;p71"/>
          <p:cNvSpPr txBox="1"/>
          <p:nvPr>
            <p:ph idx="2" type="body"/>
          </p:nvPr>
        </p:nvSpPr>
        <p:spPr>
          <a:xfrm>
            <a:off x="4709160" y="1184465"/>
            <a:ext cx="3977640" cy="3398901"/>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 name="Google Shape;24;p71"/>
          <p:cNvSpPr txBox="1"/>
          <p:nvPr>
            <p:ph idx="11" type="ftr"/>
          </p:nvPr>
        </p:nvSpPr>
        <p:spPr>
          <a:xfrm>
            <a:off x="3108960" y="4789360"/>
            <a:ext cx="2926080" cy="25749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71"/>
          <p:cNvSpPr txBox="1"/>
          <p:nvPr>
            <p:ph idx="10" type="dt"/>
          </p:nvPr>
        </p:nvSpPr>
        <p:spPr>
          <a:xfrm>
            <a:off x="457200" y="4789360"/>
            <a:ext cx="2103120" cy="25749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71"/>
          <p:cNvSpPr txBox="1"/>
          <p:nvPr>
            <p:ph idx="12" type="sldNum"/>
          </p:nvPr>
        </p:nvSpPr>
        <p:spPr>
          <a:xfrm>
            <a:off x="8906256" y="4894782"/>
            <a:ext cx="319404" cy="180975"/>
          </a:xfrm>
          <a:prstGeom prst="rect">
            <a:avLst/>
          </a:prstGeom>
          <a:noFill/>
          <a:ln>
            <a:noFill/>
          </a:ln>
        </p:spPr>
        <p:txBody>
          <a:bodyPr anchorCtr="0" anchor="t" bIns="0" lIns="0" spcFirstLastPara="1" rIns="0" wrap="square" tIns="0">
            <a:spAutoFit/>
          </a:bodyPr>
          <a:lstStyle>
            <a:lvl1pPr indent="0" lvl="0" marL="127000">
              <a:lnSpc>
                <a:spcPct val="100000"/>
              </a:lnSpc>
              <a:spcBef>
                <a:spcPts val="0"/>
              </a:spcBef>
              <a:buNone/>
              <a:defRPr b="0" i="0" sz="1000">
                <a:solidFill>
                  <a:srgbClr val="63738A"/>
                </a:solidFill>
                <a:latin typeface="Calibri"/>
                <a:ea typeface="Calibri"/>
                <a:cs typeface="Calibri"/>
                <a:sym typeface="Calibri"/>
              </a:defRPr>
            </a:lvl1pPr>
            <a:lvl2pPr indent="0" lvl="1" marL="127000">
              <a:lnSpc>
                <a:spcPct val="100000"/>
              </a:lnSpc>
              <a:spcBef>
                <a:spcPts val="0"/>
              </a:spcBef>
              <a:buNone/>
              <a:defRPr b="0" i="0" sz="1000">
                <a:solidFill>
                  <a:srgbClr val="63738A"/>
                </a:solidFill>
                <a:latin typeface="Calibri"/>
                <a:ea typeface="Calibri"/>
                <a:cs typeface="Calibri"/>
                <a:sym typeface="Calibri"/>
              </a:defRPr>
            </a:lvl2pPr>
            <a:lvl3pPr indent="0" lvl="2" marL="127000">
              <a:lnSpc>
                <a:spcPct val="100000"/>
              </a:lnSpc>
              <a:spcBef>
                <a:spcPts val="0"/>
              </a:spcBef>
              <a:buNone/>
              <a:defRPr b="0" i="0" sz="1000">
                <a:solidFill>
                  <a:srgbClr val="63738A"/>
                </a:solidFill>
                <a:latin typeface="Calibri"/>
                <a:ea typeface="Calibri"/>
                <a:cs typeface="Calibri"/>
                <a:sym typeface="Calibri"/>
              </a:defRPr>
            </a:lvl3pPr>
            <a:lvl4pPr indent="0" lvl="3" marL="127000">
              <a:lnSpc>
                <a:spcPct val="100000"/>
              </a:lnSpc>
              <a:spcBef>
                <a:spcPts val="0"/>
              </a:spcBef>
              <a:buNone/>
              <a:defRPr b="0" i="0" sz="1000">
                <a:solidFill>
                  <a:srgbClr val="63738A"/>
                </a:solidFill>
                <a:latin typeface="Calibri"/>
                <a:ea typeface="Calibri"/>
                <a:cs typeface="Calibri"/>
                <a:sym typeface="Calibri"/>
              </a:defRPr>
            </a:lvl4pPr>
            <a:lvl5pPr indent="0" lvl="4" marL="127000">
              <a:lnSpc>
                <a:spcPct val="100000"/>
              </a:lnSpc>
              <a:spcBef>
                <a:spcPts val="0"/>
              </a:spcBef>
              <a:buNone/>
              <a:defRPr b="0" i="0" sz="1000">
                <a:solidFill>
                  <a:srgbClr val="63738A"/>
                </a:solidFill>
                <a:latin typeface="Calibri"/>
                <a:ea typeface="Calibri"/>
                <a:cs typeface="Calibri"/>
                <a:sym typeface="Calibri"/>
              </a:defRPr>
            </a:lvl5pPr>
            <a:lvl6pPr indent="0" lvl="5" marL="127000">
              <a:lnSpc>
                <a:spcPct val="100000"/>
              </a:lnSpc>
              <a:spcBef>
                <a:spcPts val="0"/>
              </a:spcBef>
              <a:buNone/>
              <a:defRPr b="0" i="0" sz="1000">
                <a:solidFill>
                  <a:srgbClr val="63738A"/>
                </a:solidFill>
                <a:latin typeface="Calibri"/>
                <a:ea typeface="Calibri"/>
                <a:cs typeface="Calibri"/>
                <a:sym typeface="Calibri"/>
              </a:defRPr>
            </a:lvl6pPr>
            <a:lvl7pPr indent="0" lvl="6" marL="127000">
              <a:lnSpc>
                <a:spcPct val="100000"/>
              </a:lnSpc>
              <a:spcBef>
                <a:spcPts val="0"/>
              </a:spcBef>
              <a:buNone/>
              <a:defRPr b="0" i="0" sz="1000">
                <a:solidFill>
                  <a:srgbClr val="63738A"/>
                </a:solidFill>
                <a:latin typeface="Calibri"/>
                <a:ea typeface="Calibri"/>
                <a:cs typeface="Calibri"/>
                <a:sym typeface="Calibri"/>
              </a:defRPr>
            </a:lvl7pPr>
            <a:lvl8pPr indent="0" lvl="7" marL="127000">
              <a:lnSpc>
                <a:spcPct val="100000"/>
              </a:lnSpc>
              <a:spcBef>
                <a:spcPts val="0"/>
              </a:spcBef>
              <a:buNone/>
              <a:defRPr b="0" i="0" sz="1000">
                <a:solidFill>
                  <a:srgbClr val="63738A"/>
                </a:solidFill>
                <a:latin typeface="Calibri"/>
                <a:ea typeface="Calibri"/>
                <a:cs typeface="Calibri"/>
                <a:sym typeface="Calibri"/>
              </a:defRPr>
            </a:lvl8pPr>
            <a:lvl9pPr indent="0" lvl="8" marL="127000">
              <a:lnSpc>
                <a:spcPct val="100000"/>
              </a:lnSpc>
              <a:spcBef>
                <a:spcPts val="0"/>
              </a:spcBef>
              <a:buNone/>
              <a:defRPr b="0" i="0" sz="1000">
                <a:solidFill>
                  <a:srgbClr val="63738A"/>
                </a:solidFill>
                <a:latin typeface="Calibri"/>
                <a:ea typeface="Calibri"/>
                <a:cs typeface="Calibri"/>
                <a:sym typeface="Calibri"/>
              </a:defRPr>
            </a:lvl9pPr>
          </a:lstStyle>
          <a:p>
            <a:pPr indent="0" lvl="0" marL="1270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chemeClr val="lt1"/>
        </a:solidFill>
      </p:bgPr>
    </p:bg>
    <p:spTree>
      <p:nvGrpSpPr>
        <p:cNvPr id="27" name="Shape 27"/>
        <p:cNvGrpSpPr/>
        <p:nvPr/>
      </p:nvGrpSpPr>
      <p:grpSpPr>
        <a:xfrm>
          <a:off x="0" y="0"/>
          <a:ext cx="0" cy="0"/>
          <a:chOff x="0" y="0"/>
          <a:chExt cx="0" cy="0"/>
        </a:xfrm>
      </p:grpSpPr>
      <p:pic>
        <p:nvPicPr>
          <p:cNvPr id="28" name="Google Shape;28;p72"/>
          <p:cNvPicPr preferRelativeResize="0"/>
          <p:nvPr/>
        </p:nvPicPr>
        <p:blipFill rotWithShape="1">
          <a:blip r:embed="rId2">
            <a:alphaModFix/>
          </a:blip>
          <a:srcRect b="0" l="0" r="0" t="0"/>
          <a:stretch/>
        </p:blipFill>
        <p:spPr>
          <a:xfrm>
            <a:off x="0" y="0"/>
            <a:ext cx="9144000" cy="5143324"/>
          </a:xfrm>
          <a:prstGeom prst="rect">
            <a:avLst/>
          </a:prstGeom>
          <a:noFill/>
          <a:ln>
            <a:noFill/>
          </a:ln>
        </p:spPr>
      </p:pic>
      <p:sp>
        <p:nvSpPr>
          <p:cNvPr id="29" name="Google Shape;29;p72"/>
          <p:cNvSpPr/>
          <p:nvPr/>
        </p:nvSpPr>
        <p:spPr>
          <a:xfrm>
            <a:off x="0" y="-353"/>
            <a:ext cx="109855" cy="5143500"/>
          </a:xfrm>
          <a:custGeom>
            <a:rect b="b" l="l" r="r" t="t"/>
            <a:pathLst>
              <a:path extrusionOk="0" h="5143500" w="109855">
                <a:moveTo>
                  <a:pt x="109435" y="0"/>
                </a:moveTo>
                <a:lnTo>
                  <a:pt x="0" y="0"/>
                </a:lnTo>
                <a:lnTo>
                  <a:pt x="0" y="5143309"/>
                </a:lnTo>
                <a:lnTo>
                  <a:pt x="54724" y="5143309"/>
                </a:lnTo>
                <a:lnTo>
                  <a:pt x="109435" y="5143309"/>
                </a:lnTo>
                <a:lnTo>
                  <a:pt x="109435" y="0"/>
                </a:lnTo>
                <a:close/>
              </a:path>
            </a:pathLst>
          </a:custGeom>
          <a:solidFill>
            <a:srgbClr val="0076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0" name="Google Shape;30;p72"/>
          <p:cNvSpPr/>
          <p:nvPr/>
        </p:nvSpPr>
        <p:spPr>
          <a:xfrm>
            <a:off x="0" y="-353"/>
            <a:ext cx="109855" cy="5143500"/>
          </a:xfrm>
          <a:custGeom>
            <a:rect b="b" l="l" r="r" t="t"/>
            <a:pathLst>
              <a:path extrusionOk="0" h="5143500" w="109855">
                <a:moveTo>
                  <a:pt x="54724" y="5143309"/>
                </a:moveTo>
                <a:lnTo>
                  <a:pt x="0" y="5143309"/>
                </a:lnTo>
                <a:lnTo>
                  <a:pt x="0" y="0"/>
                </a:lnTo>
                <a:lnTo>
                  <a:pt x="109435" y="0"/>
                </a:lnTo>
                <a:lnTo>
                  <a:pt x="109435" y="5143309"/>
                </a:lnTo>
                <a:lnTo>
                  <a:pt x="54724" y="5143309"/>
                </a:lnTo>
                <a:close/>
              </a:path>
            </a:pathLst>
          </a:custGeom>
          <a:noFill/>
          <a:ln cap="flat" cmpd="sng" w="12575">
            <a:solidFill>
              <a:srgbClr val="0076A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1" name="Google Shape;31;p72"/>
          <p:cNvSpPr txBox="1"/>
          <p:nvPr>
            <p:ph type="ctrTitle"/>
          </p:nvPr>
        </p:nvSpPr>
        <p:spPr>
          <a:xfrm>
            <a:off x="398424" y="1663460"/>
            <a:ext cx="3679825" cy="69596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400">
                <a:solidFill>
                  <a:srgbClr val="0C1A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72"/>
          <p:cNvSpPr txBox="1"/>
          <p:nvPr>
            <p:ph idx="1" type="subTitle"/>
          </p:nvPr>
        </p:nvSpPr>
        <p:spPr>
          <a:xfrm>
            <a:off x="1371600" y="2883916"/>
            <a:ext cx="6400800" cy="128746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100">
                <a:solidFill>
                  <a:schemeClr val="dk1"/>
                </a:solidFill>
                <a:latin typeface="Helvetica Neue"/>
                <a:ea typeface="Helvetica Neue"/>
                <a:cs typeface="Helvetica Neue"/>
                <a:sym typeface="Helvetica Neu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72"/>
          <p:cNvSpPr txBox="1"/>
          <p:nvPr>
            <p:ph idx="11" type="ftr"/>
          </p:nvPr>
        </p:nvSpPr>
        <p:spPr>
          <a:xfrm>
            <a:off x="3108960" y="4789360"/>
            <a:ext cx="2926080" cy="25749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72"/>
          <p:cNvSpPr txBox="1"/>
          <p:nvPr>
            <p:ph idx="10" type="dt"/>
          </p:nvPr>
        </p:nvSpPr>
        <p:spPr>
          <a:xfrm>
            <a:off x="457200" y="4789360"/>
            <a:ext cx="2103120" cy="25749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72"/>
          <p:cNvSpPr txBox="1"/>
          <p:nvPr>
            <p:ph idx="12" type="sldNum"/>
          </p:nvPr>
        </p:nvSpPr>
        <p:spPr>
          <a:xfrm>
            <a:off x="8906256" y="4894782"/>
            <a:ext cx="319404" cy="180975"/>
          </a:xfrm>
          <a:prstGeom prst="rect">
            <a:avLst/>
          </a:prstGeom>
          <a:noFill/>
          <a:ln>
            <a:noFill/>
          </a:ln>
        </p:spPr>
        <p:txBody>
          <a:bodyPr anchorCtr="0" anchor="t" bIns="0" lIns="0" spcFirstLastPara="1" rIns="0" wrap="square" tIns="0">
            <a:spAutoFit/>
          </a:bodyPr>
          <a:lstStyle>
            <a:lvl1pPr indent="0" lvl="0" marL="127000">
              <a:lnSpc>
                <a:spcPct val="100000"/>
              </a:lnSpc>
              <a:spcBef>
                <a:spcPts val="0"/>
              </a:spcBef>
              <a:buNone/>
              <a:defRPr b="0" i="0" sz="1000">
                <a:solidFill>
                  <a:srgbClr val="63738A"/>
                </a:solidFill>
                <a:latin typeface="Calibri"/>
                <a:ea typeface="Calibri"/>
                <a:cs typeface="Calibri"/>
                <a:sym typeface="Calibri"/>
              </a:defRPr>
            </a:lvl1pPr>
            <a:lvl2pPr indent="0" lvl="1" marL="127000">
              <a:lnSpc>
                <a:spcPct val="100000"/>
              </a:lnSpc>
              <a:spcBef>
                <a:spcPts val="0"/>
              </a:spcBef>
              <a:buNone/>
              <a:defRPr b="0" i="0" sz="1000">
                <a:solidFill>
                  <a:srgbClr val="63738A"/>
                </a:solidFill>
                <a:latin typeface="Calibri"/>
                <a:ea typeface="Calibri"/>
                <a:cs typeface="Calibri"/>
                <a:sym typeface="Calibri"/>
              </a:defRPr>
            </a:lvl2pPr>
            <a:lvl3pPr indent="0" lvl="2" marL="127000">
              <a:lnSpc>
                <a:spcPct val="100000"/>
              </a:lnSpc>
              <a:spcBef>
                <a:spcPts val="0"/>
              </a:spcBef>
              <a:buNone/>
              <a:defRPr b="0" i="0" sz="1000">
                <a:solidFill>
                  <a:srgbClr val="63738A"/>
                </a:solidFill>
                <a:latin typeface="Calibri"/>
                <a:ea typeface="Calibri"/>
                <a:cs typeface="Calibri"/>
                <a:sym typeface="Calibri"/>
              </a:defRPr>
            </a:lvl3pPr>
            <a:lvl4pPr indent="0" lvl="3" marL="127000">
              <a:lnSpc>
                <a:spcPct val="100000"/>
              </a:lnSpc>
              <a:spcBef>
                <a:spcPts val="0"/>
              </a:spcBef>
              <a:buNone/>
              <a:defRPr b="0" i="0" sz="1000">
                <a:solidFill>
                  <a:srgbClr val="63738A"/>
                </a:solidFill>
                <a:latin typeface="Calibri"/>
                <a:ea typeface="Calibri"/>
                <a:cs typeface="Calibri"/>
                <a:sym typeface="Calibri"/>
              </a:defRPr>
            </a:lvl4pPr>
            <a:lvl5pPr indent="0" lvl="4" marL="127000">
              <a:lnSpc>
                <a:spcPct val="100000"/>
              </a:lnSpc>
              <a:spcBef>
                <a:spcPts val="0"/>
              </a:spcBef>
              <a:buNone/>
              <a:defRPr b="0" i="0" sz="1000">
                <a:solidFill>
                  <a:srgbClr val="63738A"/>
                </a:solidFill>
                <a:latin typeface="Calibri"/>
                <a:ea typeface="Calibri"/>
                <a:cs typeface="Calibri"/>
                <a:sym typeface="Calibri"/>
              </a:defRPr>
            </a:lvl5pPr>
            <a:lvl6pPr indent="0" lvl="5" marL="127000">
              <a:lnSpc>
                <a:spcPct val="100000"/>
              </a:lnSpc>
              <a:spcBef>
                <a:spcPts val="0"/>
              </a:spcBef>
              <a:buNone/>
              <a:defRPr b="0" i="0" sz="1000">
                <a:solidFill>
                  <a:srgbClr val="63738A"/>
                </a:solidFill>
                <a:latin typeface="Calibri"/>
                <a:ea typeface="Calibri"/>
                <a:cs typeface="Calibri"/>
                <a:sym typeface="Calibri"/>
              </a:defRPr>
            </a:lvl6pPr>
            <a:lvl7pPr indent="0" lvl="6" marL="127000">
              <a:lnSpc>
                <a:spcPct val="100000"/>
              </a:lnSpc>
              <a:spcBef>
                <a:spcPts val="0"/>
              </a:spcBef>
              <a:buNone/>
              <a:defRPr b="0" i="0" sz="1000">
                <a:solidFill>
                  <a:srgbClr val="63738A"/>
                </a:solidFill>
                <a:latin typeface="Calibri"/>
                <a:ea typeface="Calibri"/>
                <a:cs typeface="Calibri"/>
                <a:sym typeface="Calibri"/>
              </a:defRPr>
            </a:lvl7pPr>
            <a:lvl8pPr indent="0" lvl="7" marL="127000">
              <a:lnSpc>
                <a:spcPct val="100000"/>
              </a:lnSpc>
              <a:spcBef>
                <a:spcPts val="0"/>
              </a:spcBef>
              <a:buNone/>
              <a:defRPr b="0" i="0" sz="1000">
                <a:solidFill>
                  <a:srgbClr val="63738A"/>
                </a:solidFill>
                <a:latin typeface="Calibri"/>
                <a:ea typeface="Calibri"/>
                <a:cs typeface="Calibri"/>
                <a:sym typeface="Calibri"/>
              </a:defRPr>
            </a:lvl8pPr>
            <a:lvl9pPr indent="0" lvl="8" marL="127000">
              <a:lnSpc>
                <a:spcPct val="100000"/>
              </a:lnSpc>
              <a:spcBef>
                <a:spcPts val="0"/>
              </a:spcBef>
              <a:buNone/>
              <a:defRPr b="0" i="0" sz="1000">
                <a:solidFill>
                  <a:srgbClr val="63738A"/>
                </a:solidFill>
                <a:latin typeface="Calibri"/>
                <a:ea typeface="Calibri"/>
                <a:cs typeface="Calibri"/>
                <a:sym typeface="Calibri"/>
              </a:defRPr>
            </a:lvl9pPr>
          </a:lstStyle>
          <a:p>
            <a:pPr indent="0" lvl="0" marL="1270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6" name="Shape 36"/>
        <p:cNvGrpSpPr/>
        <p:nvPr/>
      </p:nvGrpSpPr>
      <p:grpSpPr>
        <a:xfrm>
          <a:off x="0" y="0"/>
          <a:ext cx="0" cy="0"/>
          <a:chOff x="0" y="0"/>
          <a:chExt cx="0" cy="0"/>
        </a:xfrm>
      </p:grpSpPr>
      <p:sp>
        <p:nvSpPr>
          <p:cNvPr id="37" name="Google Shape;37;p73"/>
          <p:cNvSpPr txBox="1"/>
          <p:nvPr>
            <p:ph type="title"/>
          </p:nvPr>
        </p:nvSpPr>
        <p:spPr>
          <a:xfrm>
            <a:off x="152184" y="63260"/>
            <a:ext cx="8839631" cy="8794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400">
                <a:solidFill>
                  <a:srgbClr val="0C1A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73"/>
          <p:cNvSpPr txBox="1"/>
          <p:nvPr>
            <p:ph idx="11" type="ftr"/>
          </p:nvPr>
        </p:nvSpPr>
        <p:spPr>
          <a:xfrm>
            <a:off x="3108960" y="4789360"/>
            <a:ext cx="2926080" cy="25749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73"/>
          <p:cNvSpPr txBox="1"/>
          <p:nvPr>
            <p:ph idx="10" type="dt"/>
          </p:nvPr>
        </p:nvSpPr>
        <p:spPr>
          <a:xfrm>
            <a:off x="457200" y="4789360"/>
            <a:ext cx="2103120" cy="25749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73"/>
          <p:cNvSpPr txBox="1"/>
          <p:nvPr>
            <p:ph idx="12" type="sldNum"/>
          </p:nvPr>
        </p:nvSpPr>
        <p:spPr>
          <a:xfrm>
            <a:off x="8906256" y="4894782"/>
            <a:ext cx="319404" cy="180975"/>
          </a:xfrm>
          <a:prstGeom prst="rect">
            <a:avLst/>
          </a:prstGeom>
          <a:noFill/>
          <a:ln>
            <a:noFill/>
          </a:ln>
        </p:spPr>
        <p:txBody>
          <a:bodyPr anchorCtr="0" anchor="t" bIns="0" lIns="0" spcFirstLastPara="1" rIns="0" wrap="square" tIns="0">
            <a:spAutoFit/>
          </a:bodyPr>
          <a:lstStyle>
            <a:lvl1pPr indent="0" lvl="0" marL="127000">
              <a:lnSpc>
                <a:spcPct val="100000"/>
              </a:lnSpc>
              <a:spcBef>
                <a:spcPts val="0"/>
              </a:spcBef>
              <a:buNone/>
              <a:defRPr b="0" i="0" sz="1000">
                <a:solidFill>
                  <a:srgbClr val="63738A"/>
                </a:solidFill>
                <a:latin typeface="Calibri"/>
                <a:ea typeface="Calibri"/>
                <a:cs typeface="Calibri"/>
                <a:sym typeface="Calibri"/>
              </a:defRPr>
            </a:lvl1pPr>
            <a:lvl2pPr indent="0" lvl="1" marL="127000">
              <a:lnSpc>
                <a:spcPct val="100000"/>
              </a:lnSpc>
              <a:spcBef>
                <a:spcPts val="0"/>
              </a:spcBef>
              <a:buNone/>
              <a:defRPr b="0" i="0" sz="1000">
                <a:solidFill>
                  <a:srgbClr val="63738A"/>
                </a:solidFill>
                <a:latin typeface="Calibri"/>
                <a:ea typeface="Calibri"/>
                <a:cs typeface="Calibri"/>
                <a:sym typeface="Calibri"/>
              </a:defRPr>
            </a:lvl2pPr>
            <a:lvl3pPr indent="0" lvl="2" marL="127000">
              <a:lnSpc>
                <a:spcPct val="100000"/>
              </a:lnSpc>
              <a:spcBef>
                <a:spcPts val="0"/>
              </a:spcBef>
              <a:buNone/>
              <a:defRPr b="0" i="0" sz="1000">
                <a:solidFill>
                  <a:srgbClr val="63738A"/>
                </a:solidFill>
                <a:latin typeface="Calibri"/>
                <a:ea typeface="Calibri"/>
                <a:cs typeface="Calibri"/>
                <a:sym typeface="Calibri"/>
              </a:defRPr>
            </a:lvl3pPr>
            <a:lvl4pPr indent="0" lvl="3" marL="127000">
              <a:lnSpc>
                <a:spcPct val="100000"/>
              </a:lnSpc>
              <a:spcBef>
                <a:spcPts val="0"/>
              </a:spcBef>
              <a:buNone/>
              <a:defRPr b="0" i="0" sz="1000">
                <a:solidFill>
                  <a:srgbClr val="63738A"/>
                </a:solidFill>
                <a:latin typeface="Calibri"/>
                <a:ea typeface="Calibri"/>
                <a:cs typeface="Calibri"/>
                <a:sym typeface="Calibri"/>
              </a:defRPr>
            </a:lvl4pPr>
            <a:lvl5pPr indent="0" lvl="4" marL="127000">
              <a:lnSpc>
                <a:spcPct val="100000"/>
              </a:lnSpc>
              <a:spcBef>
                <a:spcPts val="0"/>
              </a:spcBef>
              <a:buNone/>
              <a:defRPr b="0" i="0" sz="1000">
                <a:solidFill>
                  <a:srgbClr val="63738A"/>
                </a:solidFill>
                <a:latin typeface="Calibri"/>
                <a:ea typeface="Calibri"/>
                <a:cs typeface="Calibri"/>
                <a:sym typeface="Calibri"/>
              </a:defRPr>
            </a:lvl5pPr>
            <a:lvl6pPr indent="0" lvl="5" marL="127000">
              <a:lnSpc>
                <a:spcPct val="100000"/>
              </a:lnSpc>
              <a:spcBef>
                <a:spcPts val="0"/>
              </a:spcBef>
              <a:buNone/>
              <a:defRPr b="0" i="0" sz="1000">
                <a:solidFill>
                  <a:srgbClr val="63738A"/>
                </a:solidFill>
                <a:latin typeface="Calibri"/>
                <a:ea typeface="Calibri"/>
                <a:cs typeface="Calibri"/>
                <a:sym typeface="Calibri"/>
              </a:defRPr>
            </a:lvl6pPr>
            <a:lvl7pPr indent="0" lvl="6" marL="127000">
              <a:lnSpc>
                <a:spcPct val="100000"/>
              </a:lnSpc>
              <a:spcBef>
                <a:spcPts val="0"/>
              </a:spcBef>
              <a:buNone/>
              <a:defRPr b="0" i="0" sz="1000">
                <a:solidFill>
                  <a:srgbClr val="63738A"/>
                </a:solidFill>
                <a:latin typeface="Calibri"/>
                <a:ea typeface="Calibri"/>
                <a:cs typeface="Calibri"/>
                <a:sym typeface="Calibri"/>
              </a:defRPr>
            </a:lvl7pPr>
            <a:lvl8pPr indent="0" lvl="7" marL="127000">
              <a:lnSpc>
                <a:spcPct val="100000"/>
              </a:lnSpc>
              <a:spcBef>
                <a:spcPts val="0"/>
              </a:spcBef>
              <a:buNone/>
              <a:defRPr b="0" i="0" sz="1000">
                <a:solidFill>
                  <a:srgbClr val="63738A"/>
                </a:solidFill>
                <a:latin typeface="Calibri"/>
                <a:ea typeface="Calibri"/>
                <a:cs typeface="Calibri"/>
                <a:sym typeface="Calibri"/>
              </a:defRPr>
            </a:lvl8pPr>
            <a:lvl9pPr indent="0" lvl="8" marL="127000">
              <a:lnSpc>
                <a:spcPct val="100000"/>
              </a:lnSpc>
              <a:spcBef>
                <a:spcPts val="0"/>
              </a:spcBef>
              <a:buNone/>
              <a:defRPr b="0" i="0" sz="1000">
                <a:solidFill>
                  <a:srgbClr val="63738A"/>
                </a:solidFill>
                <a:latin typeface="Calibri"/>
                <a:ea typeface="Calibri"/>
                <a:cs typeface="Calibri"/>
                <a:sym typeface="Calibri"/>
              </a:defRPr>
            </a:lvl9pPr>
          </a:lstStyle>
          <a:p>
            <a:pPr indent="0" lvl="0" marL="1270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1" name="Shape 41"/>
        <p:cNvGrpSpPr/>
        <p:nvPr/>
      </p:nvGrpSpPr>
      <p:grpSpPr>
        <a:xfrm>
          <a:off x="0" y="0"/>
          <a:ext cx="0" cy="0"/>
          <a:chOff x="0" y="0"/>
          <a:chExt cx="0" cy="0"/>
        </a:xfrm>
      </p:grpSpPr>
      <p:sp>
        <p:nvSpPr>
          <p:cNvPr id="42" name="Google Shape;42;p74"/>
          <p:cNvSpPr txBox="1"/>
          <p:nvPr>
            <p:ph idx="11" type="ftr"/>
          </p:nvPr>
        </p:nvSpPr>
        <p:spPr>
          <a:xfrm>
            <a:off x="3108960" y="4789360"/>
            <a:ext cx="2926080" cy="25749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4"/>
          <p:cNvSpPr txBox="1"/>
          <p:nvPr>
            <p:ph idx="10" type="dt"/>
          </p:nvPr>
        </p:nvSpPr>
        <p:spPr>
          <a:xfrm>
            <a:off x="457200" y="4789360"/>
            <a:ext cx="2103120" cy="25749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74"/>
          <p:cNvSpPr txBox="1"/>
          <p:nvPr>
            <p:ph idx="12" type="sldNum"/>
          </p:nvPr>
        </p:nvSpPr>
        <p:spPr>
          <a:xfrm>
            <a:off x="8906256" y="4894782"/>
            <a:ext cx="319404" cy="180975"/>
          </a:xfrm>
          <a:prstGeom prst="rect">
            <a:avLst/>
          </a:prstGeom>
          <a:noFill/>
          <a:ln>
            <a:noFill/>
          </a:ln>
        </p:spPr>
        <p:txBody>
          <a:bodyPr anchorCtr="0" anchor="t" bIns="0" lIns="0" spcFirstLastPara="1" rIns="0" wrap="square" tIns="0">
            <a:spAutoFit/>
          </a:bodyPr>
          <a:lstStyle>
            <a:lvl1pPr indent="0" lvl="0" marL="127000">
              <a:lnSpc>
                <a:spcPct val="100000"/>
              </a:lnSpc>
              <a:spcBef>
                <a:spcPts val="0"/>
              </a:spcBef>
              <a:buNone/>
              <a:defRPr b="0" i="0" sz="1000">
                <a:solidFill>
                  <a:srgbClr val="63738A"/>
                </a:solidFill>
                <a:latin typeface="Calibri"/>
                <a:ea typeface="Calibri"/>
                <a:cs typeface="Calibri"/>
                <a:sym typeface="Calibri"/>
              </a:defRPr>
            </a:lvl1pPr>
            <a:lvl2pPr indent="0" lvl="1" marL="127000">
              <a:lnSpc>
                <a:spcPct val="100000"/>
              </a:lnSpc>
              <a:spcBef>
                <a:spcPts val="0"/>
              </a:spcBef>
              <a:buNone/>
              <a:defRPr b="0" i="0" sz="1000">
                <a:solidFill>
                  <a:srgbClr val="63738A"/>
                </a:solidFill>
                <a:latin typeface="Calibri"/>
                <a:ea typeface="Calibri"/>
                <a:cs typeface="Calibri"/>
                <a:sym typeface="Calibri"/>
              </a:defRPr>
            </a:lvl2pPr>
            <a:lvl3pPr indent="0" lvl="2" marL="127000">
              <a:lnSpc>
                <a:spcPct val="100000"/>
              </a:lnSpc>
              <a:spcBef>
                <a:spcPts val="0"/>
              </a:spcBef>
              <a:buNone/>
              <a:defRPr b="0" i="0" sz="1000">
                <a:solidFill>
                  <a:srgbClr val="63738A"/>
                </a:solidFill>
                <a:latin typeface="Calibri"/>
                <a:ea typeface="Calibri"/>
                <a:cs typeface="Calibri"/>
                <a:sym typeface="Calibri"/>
              </a:defRPr>
            </a:lvl3pPr>
            <a:lvl4pPr indent="0" lvl="3" marL="127000">
              <a:lnSpc>
                <a:spcPct val="100000"/>
              </a:lnSpc>
              <a:spcBef>
                <a:spcPts val="0"/>
              </a:spcBef>
              <a:buNone/>
              <a:defRPr b="0" i="0" sz="1000">
                <a:solidFill>
                  <a:srgbClr val="63738A"/>
                </a:solidFill>
                <a:latin typeface="Calibri"/>
                <a:ea typeface="Calibri"/>
                <a:cs typeface="Calibri"/>
                <a:sym typeface="Calibri"/>
              </a:defRPr>
            </a:lvl4pPr>
            <a:lvl5pPr indent="0" lvl="4" marL="127000">
              <a:lnSpc>
                <a:spcPct val="100000"/>
              </a:lnSpc>
              <a:spcBef>
                <a:spcPts val="0"/>
              </a:spcBef>
              <a:buNone/>
              <a:defRPr b="0" i="0" sz="1000">
                <a:solidFill>
                  <a:srgbClr val="63738A"/>
                </a:solidFill>
                <a:latin typeface="Calibri"/>
                <a:ea typeface="Calibri"/>
                <a:cs typeface="Calibri"/>
                <a:sym typeface="Calibri"/>
              </a:defRPr>
            </a:lvl5pPr>
            <a:lvl6pPr indent="0" lvl="5" marL="127000">
              <a:lnSpc>
                <a:spcPct val="100000"/>
              </a:lnSpc>
              <a:spcBef>
                <a:spcPts val="0"/>
              </a:spcBef>
              <a:buNone/>
              <a:defRPr b="0" i="0" sz="1000">
                <a:solidFill>
                  <a:srgbClr val="63738A"/>
                </a:solidFill>
                <a:latin typeface="Calibri"/>
                <a:ea typeface="Calibri"/>
                <a:cs typeface="Calibri"/>
                <a:sym typeface="Calibri"/>
              </a:defRPr>
            </a:lvl6pPr>
            <a:lvl7pPr indent="0" lvl="6" marL="127000">
              <a:lnSpc>
                <a:spcPct val="100000"/>
              </a:lnSpc>
              <a:spcBef>
                <a:spcPts val="0"/>
              </a:spcBef>
              <a:buNone/>
              <a:defRPr b="0" i="0" sz="1000">
                <a:solidFill>
                  <a:srgbClr val="63738A"/>
                </a:solidFill>
                <a:latin typeface="Calibri"/>
                <a:ea typeface="Calibri"/>
                <a:cs typeface="Calibri"/>
                <a:sym typeface="Calibri"/>
              </a:defRPr>
            </a:lvl7pPr>
            <a:lvl8pPr indent="0" lvl="7" marL="127000">
              <a:lnSpc>
                <a:spcPct val="100000"/>
              </a:lnSpc>
              <a:spcBef>
                <a:spcPts val="0"/>
              </a:spcBef>
              <a:buNone/>
              <a:defRPr b="0" i="0" sz="1000">
                <a:solidFill>
                  <a:srgbClr val="63738A"/>
                </a:solidFill>
                <a:latin typeface="Calibri"/>
                <a:ea typeface="Calibri"/>
                <a:cs typeface="Calibri"/>
                <a:sym typeface="Calibri"/>
              </a:defRPr>
            </a:lvl8pPr>
            <a:lvl9pPr indent="0" lvl="8" marL="127000">
              <a:lnSpc>
                <a:spcPct val="100000"/>
              </a:lnSpc>
              <a:spcBef>
                <a:spcPts val="0"/>
              </a:spcBef>
              <a:buNone/>
              <a:defRPr b="0" i="0" sz="1000">
                <a:solidFill>
                  <a:srgbClr val="63738A"/>
                </a:solidFill>
                <a:latin typeface="Calibri"/>
                <a:ea typeface="Calibri"/>
                <a:cs typeface="Calibri"/>
                <a:sym typeface="Calibri"/>
              </a:defRPr>
            </a:lvl9pPr>
          </a:lstStyle>
          <a:p>
            <a:pPr indent="0" lvl="0" marL="12700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69"/>
          <p:cNvPicPr preferRelativeResize="0"/>
          <p:nvPr/>
        </p:nvPicPr>
        <p:blipFill rotWithShape="1">
          <a:blip r:embed="rId1">
            <a:alphaModFix/>
          </a:blip>
          <a:srcRect b="0" l="0" r="0" t="0"/>
          <a:stretch/>
        </p:blipFill>
        <p:spPr>
          <a:xfrm>
            <a:off x="0" y="0"/>
            <a:ext cx="9144000" cy="5143324"/>
          </a:xfrm>
          <a:prstGeom prst="rect">
            <a:avLst/>
          </a:prstGeom>
          <a:noFill/>
          <a:ln>
            <a:noFill/>
          </a:ln>
        </p:spPr>
      </p:pic>
      <p:sp>
        <p:nvSpPr>
          <p:cNvPr id="7" name="Google Shape;7;p69"/>
          <p:cNvSpPr txBox="1"/>
          <p:nvPr>
            <p:ph type="title"/>
          </p:nvPr>
        </p:nvSpPr>
        <p:spPr>
          <a:xfrm>
            <a:off x="152184" y="63260"/>
            <a:ext cx="8839631" cy="87947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2400" u="none" cap="none" strike="noStrike">
                <a:solidFill>
                  <a:srgbClr val="0C1A29"/>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69"/>
          <p:cNvSpPr txBox="1"/>
          <p:nvPr>
            <p:ph idx="1" type="body"/>
          </p:nvPr>
        </p:nvSpPr>
        <p:spPr>
          <a:xfrm>
            <a:off x="210858" y="845542"/>
            <a:ext cx="6769100" cy="142049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100" u="none" cap="none" strike="noStrike">
                <a:solidFill>
                  <a:schemeClr val="dk1"/>
                </a:solidFill>
                <a:latin typeface="Helvetica Neue"/>
                <a:ea typeface="Helvetica Neue"/>
                <a:cs typeface="Helvetica Neue"/>
                <a:sym typeface="Helvetica Neue"/>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69"/>
          <p:cNvSpPr txBox="1"/>
          <p:nvPr>
            <p:ph idx="11" type="ftr"/>
          </p:nvPr>
        </p:nvSpPr>
        <p:spPr>
          <a:xfrm>
            <a:off x="3108960" y="4789360"/>
            <a:ext cx="2926080" cy="25749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69"/>
          <p:cNvSpPr txBox="1"/>
          <p:nvPr>
            <p:ph idx="10" type="dt"/>
          </p:nvPr>
        </p:nvSpPr>
        <p:spPr>
          <a:xfrm>
            <a:off x="457200" y="4789360"/>
            <a:ext cx="2103120" cy="25749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69"/>
          <p:cNvSpPr txBox="1"/>
          <p:nvPr>
            <p:ph idx="12" type="sldNum"/>
          </p:nvPr>
        </p:nvSpPr>
        <p:spPr>
          <a:xfrm>
            <a:off x="8906256" y="4894782"/>
            <a:ext cx="319404" cy="180975"/>
          </a:xfrm>
          <a:prstGeom prst="rect">
            <a:avLst/>
          </a:prstGeom>
          <a:noFill/>
          <a:ln>
            <a:noFill/>
          </a:ln>
        </p:spPr>
        <p:txBody>
          <a:bodyPr anchorCtr="0" anchor="t" bIns="0" lIns="0" spcFirstLastPara="1" rIns="0" wrap="square" tIns="0">
            <a:spAutoFit/>
          </a:bodyPr>
          <a:lstStyle>
            <a:lvl1pPr indent="0" lvl="0" marL="127000">
              <a:lnSpc>
                <a:spcPct val="100000"/>
              </a:lnSpc>
              <a:spcBef>
                <a:spcPts val="0"/>
              </a:spcBef>
              <a:buNone/>
              <a:defRPr b="0" i="0" sz="1000">
                <a:solidFill>
                  <a:srgbClr val="63738A"/>
                </a:solidFill>
                <a:latin typeface="Calibri"/>
                <a:ea typeface="Calibri"/>
                <a:cs typeface="Calibri"/>
                <a:sym typeface="Calibri"/>
              </a:defRPr>
            </a:lvl1pPr>
            <a:lvl2pPr indent="0" lvl="1" marL="127000">
              <a:lnSpc>
                <a:spcPct val="100000"/>
              </a:lnSpc>
              <a:spcBef>
                <a:spcPts val="0"/>
              </a:spcBef>
              <a:buNone/>
              <a:defRPr b="0" i="0" sz="1000">
                <a:solidFill>
                  <a:srgbClr val="63738A"/>
                </a:solidFill>
                <a:latin typeface="Calibri"/>
                <a:ea typeface="Calibri"/>
                <a:cs typeface="Calibri"/>
                <a:sym typeface="Calibri"/>
              </a:defRPr>
            </a:lvl2pPr>
            <a:lvl3pPr indent="0" lvl="2" marL="127000">
              <a:lnSpc>
                <a:spcPct val="100000"/>
              </a:lnSpc>
              <a:spcBef>
                <a:spcPts val="0"/>
              </a:spcBef>
              <a:buNone/>
              <a:defRPr b="0" i="0" sz="1000">
                <a:solidFill>
                  <a:srgbClr val="63738A"/>
                </a:solidFill>
                <a:latin typeface="Calibri"/>
                <a:ea typeface="Calibri"/>
                <a:cs typeface="Calibri"/>
                <a:sym typeface="Calibri"/>
              </a:defRPr>
            </a:lvl3pPr>
            <a:lvl4pPr indent="0" lvl="3" marL="127000">
              <a:lnSpc>
                <a:spcPct val="100000"/>
              </a:lnSpc>
              <a:spcBef>
                <a:spcPts val="0"/>
              </a:spcBef>
              <a:buNone/>
              <a:defRPr b="0" i="0" sz="1000">
                <a:solidFill>
                  <a:srgbClr val="63738A"/>
                </a:solidFill>
                <a:latin typeface="Calibri"/>
                <a:ea typeface="Calibri"/>
                <a:cs typeface="Calibri"/>
                <a:sym typeface="Calibri"/>
              </a:defRPr>
            </a:lvl4pPr>
            <a:lvl5pPr indent="0" lvl="4" marL="127000">
              <a:lnSpc>
                <a:spcPct val="100000"/>
              </a:lnSpc>
              <a:spcBef>
                <a:spcPts val="0"/>
              </a:spcBef>
              <a:buNone/>
              <a:defRPr b="0" i="0" sz="1000">
                <a:solidFill>
                  <a:srgbClr val="63738A"/>
                </a:solidFill>
                <a:latin typeface="Calibri"/>
                <a:ea typeface="Calibri"/>
                <a:cs typeface="Calibri"/>
                <a:sym typeface="Calibri"/>
              </a:defRPr>
            </a:lvl5pPr>
            <a:lvl6pPr indent="0" lvl="5" marL="127000">
              <a:lnSpc>
                <a:spcPct val="100000"/>
              </a:lnSpc>
              <a:spcBef>
                <a:spcPts val="0"/>
              </a:spcBef>
              <a:buNone/>
              <a:defRPr b="0" i="0" sz="1000">
                <a:solidFill>
                  <a:srgbClr val="63738A"/>
                </a:solidFill>
                <a:latin typeface="Calibri"/>
                <a:ea typeface="Calibri"/>
                <a:cs typeface="Calibri"/>
                <a:sym typeface="Calibri"/>
              </a:defRPr>
            </a:lvl6pPr>
            <a:lvl7pPr indent="0" lvl="6" marL="127000">
              <a:lnSpc>
                <a:spcPct val="100000"/>
              </a:lnSpc>
              <a:spcBef>
                <a:spcPts val="0"/>
              </a:spcBef>
              <a:buNone/>
              <a:defRPr b="0" i="0" sz="1000">
                <a:solidFill>
                  <a:srgbClr val="63738A"/>
                </a:solidFill>
                <a:latin typeface="Calibri"/>
                <a:ea typeface="Calibri"/>
                <a:cs typeface="Calibri"/>
                <a:sym typeface="Calibri"/>
              </a:defRPr>
            </a:lvl7pPr>
            <a:lvl8pPr indent="0" lvl="7" marL="127000">
              <a:lnSpc>
                <a:spcPct val="100000"/>
              </a:lnSpc>
              <a:spcBef>
                <a:spcPts val="0"/>
              </a:spcBef>
              <a:buNone/>
              <a:defRPr b="0" i="0" sz="1000">
                <a:solidFill>
                  <a:srgbClr val="63738A"/>
                </a:solidFill>
                <a:latin typeface="Calibri"/>
                <a:ea typeface="Calibri"/>
                <a:cs typeface="Calibri"/>
                <a:sym typeface="Calibri"/>
              </a:defRPr>
            </a:lvl8pPr>
            <a:lvl9pPr indent="0" lvl="8" marL="127000">
              <a:lnSpc>
                <a:spcPct val="100000"/>
              </a:lnSpc>
              <a:spcBef>
                <a:spcPts val="0"/>
              </a:spcBef>
              <a:buNone/>
              <a:defRPr b="0" i="0" sz="1000">
                <a:solidFill>
                  <a:srgbClr val="63738A"/>
                </a:solidFill>
                <a:latin typeface="Calibri"/>
                <a:ea typeface="Calibri"/>
                <a:cs typeface="Calibri"/>
                <a:sym typeface="Calibri"/>
              </a:defRPr>
            </a:lvl9pPr>
          </a:lstStyle>
          <a:p>
            <a:pPr indent="0" lvl="0" marL="12700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4.png"/><Relationship Id="rId10" Type="http://schemas.openxmlformats.org/officeDocument/2006/relationships/image" Target="../media/image10.png"/><Relationship Id="rId9"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23.png"/><Relationship Id="rId8"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6.png"/><Relationship Id="rId4" Type="http://schemas.openxmlformats.org/officeDocument/2006/relationships/image" Target="../media/image29.png"/><Relationship Id="rId10" Type="http://schemas.openxmlformats.org/officeDocument/2006/relationships/image" Target="../media/image45.png"/><Relationship Id="rId9" Type="http://schemas.openxmlformats.org/officeDocument/2006/relationships/image" Target="../media/image18.png"/><Relationship Id="rId5" Type="http://schemas.openxmlformats.org/officeDocument/2006/relationships/image" Target="../media/image13.png"/><Relationship Id="rId6" Type="http://schemas.openxmlformats.org/officeDocument/2006/relationships/image" Target="../media/image15.png"/><Relationship Id="rId7" Type="http://schemas.openxmlformats.org/officeDocument/2006/relationships/image" Target="../media/image17.png"/><Relationship Id="rId8"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0.png"/><Relationship Id="rId5" Type="http://schemas.openxmlformats.org/officeDocument/2006/relationships/image" Target="../media/image3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6.png"/><Relationship Id="rId4" Type="http://schemas.openxmlformats.org/officeDocument/2006/relationships/image" Target="../media/image22.png"/><Relationship Id="rId5"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34.png"/><Relationship Id="rId5"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0.png"/><Relationship Id="rId5"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4.png"/><Relationship Id="rId4" Type="http://schemas.openxmlformats.org/officeDocument/2006/relationships/image" Target="../media/image38.png"/><Relationship Id="rId5" Type="http://schemas.openxmlformats.org/officeDocument/2006/relationships/image" Target="../media/image35.png"/><Relationship Id="rId6"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9.png"/></Relationships>
</file>

<file path=ppt/slides/_rels/slide23.xml.rels><?xml version="1.0" encoding="UTF-8" standalone="yes"?><Relationships xmlns="http://schemas.openxmlformats.org/package/2006/relationships"><Relationship Id="rId11" Type="http://schemas.openxmlformats.org/officeDocument/2006/relationships/image" Target="../media/image46.png"/><Relationship Id="rId10" Type="http://schemas.openxmlformats.org/officeDocument/2006/relationships/image" Target="../media/image49.png"/><Relationship Id="rId13" Type="http://schemas.openxmlformats.org/officeDocument/2006/relationships/image" Target="../media/image51.png"/><Relationship Id="rId12" Type="http://schemas.openxmlformats.org/officeDocument/2006/relationships/image" Target="../media/image54.png"/><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44.png"/><Relationship Id="rId9" Type="http://schemas.openxmlformats.org/officeDocument/2006/relationships/image" Target="../media/image43.png"/><Relationship Id="rId5" Type="http://schemas.openxmlformats.org/officeDocument/2006/relationships/image" Target="../media/image42.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8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5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52.png"/><Relationship Id="rId4" Type="http://schemas.openxmlformats.org/officeDocument/2006/relationships/image" Target="../media/image1.png"/><Relationship Id="rId5" Type="http://schemas.openxmlformats.org/officeDocument/2006/relationships/hyperlink" Target="https://www.youtube.com/watch?v=LWMzyfvuehA"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7.png"/><Relationship Id="rId4" Type="http://schemas.openxmlformats.org/officeDocument/2006/relationships/image" Target="../media/image57.jpg"/><Relationship Id="rId5" Type="http://schemas.openxmlformats.org/officeDocument/2006/relationships/image" Target="../media/image48.png"/><Relationship Id="rId6" Type="http://schemas.openxmlformats.org/officeDocument/2006/relationships/image" Target="../media/image55.png"/><Relationship Id="rId7"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0.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61.jp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8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67.png"/><Relationship Id="rId5" Type="http://schemas.openxmlformats.org/officeDocument/2006/relationships/image" Target="../media/image6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63.png"/><Relationship Id="rId4" Type="http://schemas.openxmlformats.org/officeDocument/2006/relationships/image" Target="../media/image92.png"/><Relationship Id="rId5" Type="http://schemas.openxmlformats.org/officeDocument/2006/relationships/image" Target="../media/image66.png"/><Relationship Id="rId6"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68.png"/><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73.png"/><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 Id="rId4" Type="http://schemas.openxmlformats.org/officeDocument/2006/relationships/image" Target="../media/image69.png"/><Relationship Id="rId5" Type="http://schemas.openxmlformats.org/officeDocument/2006/relationships/image" Target="../media/image9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70.png"/><Relationship Id="rId4" Type="http://schemas.openxmlformats.org/officeDocument/2006/relationships/image" Target="../media/image74.jpg"/></Relationships>
</file>

<file path=ppt/slides/_rels/slide42.xml.rels><?xml version="1.0" encoding="UTF-8" standalone="yes"?><Relationships xmlns="http://schemas.openxmlformats.org/package/2006/relationships"><Relationship Id="rId11" Type="http://schemas.openxmlformats.org/officeDocument/2006/relationships/image" Target="../media/image80.png"/><Relationship Id="rId10" Type="http://schemas.openxmlformats.org/officeDocument/2006/relationships/image" Target="../media/image79.png"/><Relationship Id="rId13" Type="http://schemas.openxmlformats.org/officeDocument/2006/relationships/image" Target="../media/image84.jpg"/><Relationship Id="rId12" Type="http://schemas.openxmlformats.org/officeDocument/2006/relationships/hyperlink" Target="https://deepmind.com/learning-resources/deep-learning-lecture-series-2020" TargetMode="External"/><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1.png"/><Relationship Id="rId4" Type="http://schemas.openxmlformats.org/officeDocument/2006/relationships/image" Target="../media/image75.jpg"/><Relationship Id="rId9" Type="http://schemas.openxmlformats.org/officeDocument/2006/relationships/image" Target="../media/image78.png"/><Relationship Id="rId5" Type="http://schemas.openxmlformats.org/officeDocument/2006/relationships/image" Target="../media/image72.png"/><Relationship Id="rId6" Type="http://schemas.openxmlformats.org/officeDocument/2006/relationships/image" Target="../media/image71.png"/><Relationship Id="rId7" Type="http://schemas.openxmlformats.org/officeDocument/2006/relationships/image" Target="../media/image76.png"/><Relationship Id="rId8" Type="http://schemas.openxmlformats.org/officeDocument/2006/relationships/image" Target="../media/image7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 Id="rId4" Type="http://schemas.openxmlformats.org/officeDocument/2006/relationships/image" Target="../media/image74.jpg"/><Relationship Id="rId5" Type="http://schemas.openxmlformats.org/officeDocument/2006/relationships/hyperlink" Target="https://web.stanford.edu/class/cs224n/"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82.jpg"/><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1.png"/><Relationship Id="rId4" Type="http://schemas.openxmlformats.org/officeDocument/2006/relationships/image" Target="../media/image106.jpg"/><Relationship Id="rId5" Type="http://schemas.openxmlformats.org/officeDocument/2006/relationships/hyperlink" Target="https://web.stanford.edu/class/cs224n/"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1.png"/><Relationship Id="rId4" Type="http://schemas.openxmlformats.org/officeDocument/2006/relationships/image" Target="../media/image107.jpg"/><Relationship Id="rId5" Type="http://schemas.openxmlformats.org/officeDocument/2006/relationships/image" Target="../media/image96.png"/><Relationship Id="rId6" Type="http://schemas.openxmlformats.org/officeDocument/2006/relationships/hyperlink" Target="https://web.stanford.edu/class/cs224n/"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1.png"/><Relationship Id="rId4" Type="http://schemas.openxmlformats.org/officeDocument/2006/relationships/image" Target="../media/image86.jpg"/><Relationship Id="rId5" Type="http://schemas.openxmlformats.org/officeDocument/2006/relationships/image" Target="../media/image83.jpg"/><Relationship Id="rId6" Type="http://schemas.openxmlformats.org/officeDocument/2006/relationships/hyperlink" Target="https://web.stanford.edu/class/cs224n/"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105.jpg"/><Relationship Id="rId4" Type="http://schemas.openxmlformats.org/officeDocument/2006/relationships/image" Target="../media/image1.png"/><Relationship Id="rId5" Type="http://schemas.openxmlformats.org/officeDocument/2006/relationships/image" Target="../media/image88.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85.jpg"/><Relationship Id="rId4" Type="http://schemas.openxmlformats.org/officeDocument/2006/relationships/image" Target="../media/image87.png"/><Relationship Id="rId5" Type="http://schemas.openxmlformats.org/officeDocument/2006/relationships/image" Target="../media/image90.jpg"/><Relationship Id="rId6" Type="http://schemas.openxmlformats.org/officeDocument/2006/relationships/image" Target="../media/image91.png"/><Relationship Id="rId7"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png"/><Relationship Id="rId4" Type="http://schemas.openxmlformats.org/officeDocument/2006/relationships/image" Target="../media/image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104.jpg"/><Relationship Id="rId4" Type="http://schemas.openxmlformats.org/officeDocument/2006/relationships/image" Target="../media/image93.jpg"/><Relationship Id="rId5"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png"/><Relationship Id="rId4" Type="http://schemas.openxmlformats.org/officeDocument/2006/relationships/image" Target="../media/image10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png"/><Relationship Id="rId4" Type="http://schemas.openxmlformats.org/officeDocument/2006/relationships/image" Target="../media/image95.png"/><Relationship Id="rId5" Type="http://schemas.openxmlformats.org/officeDocument/2006/relationships/image" Target="../media/image9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png"/><Relationship Id="rId4" Type="http://schemas.openxmlformats.org/officeDocument/2006/relationships/image" Target="../media/image9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png"/><Relationship Id="rId4" Type="http://schemas.openxmlformats.org/officeDocument/2006/relationships/image" Target="../media/image102.jpg"/><Relationship Id="rId5" Type="http://schemas.openxmlformats.org/officeDocument/2006/relationships/image" Target="../media/image101.jpg"/><Relationship Id="rId6" Type="http://schemas.openxmlformats.org/officeDocument/2006/relationships/image" Target="../media/image100.jpg"/><Relationship Id="rId7" Type="http://schemas.openxmlformats.org/officeDocument/2006/relationships/image" Target="../media/image9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descr="$PPTXTitle" id="49" name="Google Shape;49;p1"/>
          <p:cNvSpPr txBox="1"/>
          <p:nvPr>
            <p:ph type="title"/>
          </p:nvPr>
        </p:nvSpPr>
        <p:spPr>
          <a:xfrm>
            <a:off x="982344" y="133821"/>
            <a:ext cx="7170420" cy="1367790"/>
          </a:xfrm>
          <a:prstGeom prst="rect">
            <a:avLst/>
          </a:prstGeom>
          <a:noFill/>
          <a:ln>
            <a:noFill/>
          </a:ln>
        </p:spPr>
        <p:txBody>
          <a:bodyPr anchorCtr="0" anchor="t" bIns="0" lIns="0" spcFirstLastPara="1" rIns="0" wrap="square" tIns="12700">
            <a:spAutoFit/>
          </a:bodyPr>
          <a:lstStyle/>
          <a:p>
            <a:pPr indent="-1983105" lvl="0" marL="1995170" marR="5080" rtl="0" algn="l">
              <a:lnSpc>
                <a:spcPct val="100000"/>
              </a:lnSpc>
              <a:spcBef>
                <a:spcPts val="0"/>
              </a:spcBef>
              <a:spcAft>
                <a:spcPts val="0"/>
              </a:spcAft>
              <a:buNone/>
            </a:pPr>
            <a:r>
              <a:rPr lang="en-US" sz="4400">
                <a:solidFill>
                  <a:srgbClr val="BF0000"/>
                </a:solidFill>
              </a:rPr>
              <a:t>RNN, Transformer Architecture and Attention</a:t>
            </a:r>
            <a:endParaRPr sz="4400"/>
          </a:p>
        </p:txBody>
      </p:sp>
      <p:sp>
        <p:nvSpPr>
          <p:cNvPr id="50" name="Google Shape;50;p1"/>
          <p:cNvSpPr txBox="1"/>
          <p:nvPr/>
        </p:nvSpPr>
        <p:spPr>
          <a:xfrm>
            <a:off x="1695500" y="1528690"/>
            <a:ext cx="5753100" cy="1477010"/>
          </a:xfrm>
          <a:prstGeom prst="rect">
            <a:avLst/>
          </a:prstGeom>
          <a:noFill/>
          <a:ln>
            <a:noFill/>
          </a:ln>
        </p:spPr>
        <p:txBody>
          <a:bodyPr anchorCtr="0" anchor="t" bIns="0" lIns="0" spcFirstLastPara="1" rIns="0" wrap="square" tIns="12700">
            <a:spAutoFit/>
          </a:bodyPr>
          <a:lstStyle/>
          <a:p>
            <a:pPr indent="870585" lvl="0" marL="12700" marR="5080" rtl="0" algn="l">
              <a:lnSpc>
                <a:spcPct val="113399"/>
              </a:lnSpc>
              <a:spcBef>
                <a:spcPts val="0"/>
              </a:spcBef>
              <a:spcAft>
                <a:spcPts val="0"/>
              </a:spcAft>
              <a:buNone/>
            </a:pPr>
            <a:r>
              <a:rPr b="1" lang="en-US" sz="2800">
                <a:solidFill>
                  <a:srgbClr val="001F5F"/>
                </a:solidFill>
                <a:latin typeface="Calibri"/>
                <a:ea typeface="Calibri"/>
                <a:cs typeface="Calibri"/>
                <a:sym typeface="Calibri"/>
              </a:rPr>
              <a:t>Dr. Sabyasachi Mukhopadhyay Outreach Teaching Fellow, Dept. of CSE</a:t>
            </a:r>
            <a:endParaRPr sz="2800">
              <a:latin typeface="Calibri"/>
              <a:ea typeface="Calibri"/>
              <a:cs typeface="Calibri"/>
              <a:sym typeface="Calibri"/>
            </a:endParaRPr>
          </a:p>
          <a:p>
            <a:pPr indent="0" lvl="0" marL="1270" rtl="0" algn="ctr">
              <a:lnSpc>
                <a:spcPct val="100000"/>
              </a:lnSpc>
              <a:spcBef>
                <a:spcPts val="450"/>
              </a:spcBef>
              <a:spcAft>
                <a:spcPts val="0"/>
              </a:spcAft>
              <a:buNone/>
            </a:pPr>
            <a:r>
              <a:rPr b="1" lang="en-US" sz="2800">
                <a:latin typeface="Calibri"/>
                <a:ea typeface="Calibri"/>
                <a:cs typeface="Calibri"/>
                <a:sym typeface="Calibri"/>
              </a:rPr>
              <a:t>IIT Kharagpur</a:t>
            </a:r>
            <a:endParaRPr sz="2800">
              <a:latin typeface="Calibri"/>
              <a:ea typeface="Calibri"/>
              <a:cs typeface="Calibri"/>
              <a:sym typeface="Calibri"/>
            </a:endParaRPr>
          </a:p>
        </p:txBody>
      </p:sp>
      <p:grpSp>
        <p:nvGrpSpPr>
          <p:cNvPr id="51" name="Google Shape;51;p1"/>
          <p:cNvGrpSpPr/>
          <p:nvPr/>
        </p:nvGrpSpPr>
        <p:grpSpPr>
          <a:xfrm>
            <a:off x="2846514" y="3022208"/>
            <a:ext cx="3450589" cy="1238034"/>
            <a:chOff x="2846514" y="3022208"/>
            <a:chExt cx="3450589" cy="1238034"/>
          </a:xfrm>
        </p:grpSpPr>
        <p:pic>
          <p:nvPicPr>
            <p:cNvPr id="52" name="Google Shape;52;p1"/>
            <p:cNvPicPr preferRelativeResize="0"/>
            <p:nvPr/>
          </p:nvPicPr>
          <p:blipFill rotWithShape="1">
            <a:blip r:embed="rId3">
              <a:alphaModFix/>
            </a:blip>
            <a:srcRect b="0" l="0" r="0" t="0"/>
            <a:stretch/>
          </p:blipFill>
          <p:spPr>
            <a:xfrm>
              <a:off x="2846514" y="3022208"/>
              <a:ext cx="1106284" cy="1238034"/>
            </a:xfrm>
            <a:prstGeom prst="rect">
              <a:avLst/>
            </a:prstGeom>
            <a:noFill/>
            <a:ln>
              <a:noFill/>
            </a:ln>
          </p:spPr>
        </p:pic>
        <p:pic>
          <p:nvPicPr>
            <p:cNvPr id="53" name="Google Shape;53;p1"/>
            <p:cNvPicPr preferRelativeResize="0"/>
            <p:nvPr/>
          </p:nvPicPr>
          <p:blipFill rotWithShape="1">
            <a:blip r:embed="rId4">
              <a:alphaModFix/>
            </a:blip>
            <a:srcRect b="0" l="0" r="0" t="0"/>
            <a:stretch/>
          </p:blipFill>
          <p:spPr>
            <a:xfrm>
              <a:off x="5266435" y="3066137"/>
              <a:ext cx="1030668" cy="1151267"/>
            </a:xfrm>
            <a:prstGeom prst="rect">
              <a:avLst/>
            </a:prstGeom>
            <a:noFill/>
            <a:ln>
              <a:noFill/>
            </a:ln>
          </p:spPr>
        </p:pic>
      </p:grpSp>
      <p:sp>
        <p:nvSpPr>
          <p:cNvPr id="54" name="Google Shape;54;p1"/>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1270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descr="$PPTXTitle" id="59" name="Google Shape;59;p2"/>
          <p:cNvSpPr txBox="1"/>
          <p:nvPr>
            <p:ph type="title"/>
          </p:nvPr>
        </p:nvSpPr>
        <p:spPr>
          <a:xfrm>
            <a:off x="983056" y="201868"/>
            <a:ext cx="6077585" cy="3917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Before We Begin: You Used These Models Today</a:t>
            </a:r>
            <a:endParaRPr/>
          </a:p>
        </p:txBody>
      </p:sp>
      <p:sp>
        <p:nvSpPr>
          <p:cNvPr id="60" name="Google Shape;60;p2"/>
          <p:cNvSpPr txBox="1"/>
          <p:nvPr/>
        </p:nvSpPr>
        <p:spPr>
          <a:xfrm>
            <a:off x="1600822" y="674181"/>
            <a:ext cx="4845050" cy="224154"/>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i="1" lang="en-US" sz="1300">
                <a:solidFill>
                  <a:srgbClr val="0E756D"/>
                </a:solidFill>
                <a:latin typeface="Cambria"/>
                <a:ea typeface="Cambria"/>
                <a:cs typeface="Cambria"/>
                <a:sym typeface="Cambria"/>
              </a:rPr>
              <a:t>Sequence models are not lab curiosities. They are already in your pocket.</a:t>
            </a:r>
            <a:endParaRPr sz="1300">
              <a:latin typeface="Cambria"/>
              <a:ea typeface="Cambria"/>
              <a:cs typeface="Cambria"/>
              <a:sym typeface="Cambria"/>
            </a:endParaRPr>
          </a:p>
        </p:txBody>
      </p:sp>
      <p:pic>
        <p:nvPicPr>
          <p:cNvPr id="61" name="Google Shape;61;p2"/>
          <p:cNvPicPr preferRelativeResize="0"/>
          <p:nvPr/>
        </p:nvPicPr>
        <p:blipFill rotWithShape="1">
          <a:blip r:embed="rId3">
            <a:alphaModFix/>
          </a:blip>
          <a:srcRect b="0" l="0" r="0" t="0"/>
          <a:stretch/>
        </p:blipFill>
        <p:spPr>
          <a:xfrm>
            <a:off x="8369274" y="14"/>
            <a:ext cx="774357" cy="866508"/>
          </a:xfrm>
          <a:prstGeom prst="rect">
            <a:avLst/>
          </a:prstGeom>
          <a:noFill/>
          <a:ln>
            <a:noFill/>
          </a:ln>
        </p:spPr>
      </p:pic>
      <p:grpSp>
        <p:nvGrpSpPr>
          <p:cNvPr id="62" name="Google Shape;62;p2"/>
          <p:cNvGrpSpPr/>
          <p:nvPr/>
        </p:nvGrpSpPr>
        <p:grpSpPr>
          <a:xfrm>
            <a:off x="354241" y="1013385"/>
            <a:ext cx="2016366" cy="2628734"/>
            <a:chOff x="354241" y="1013385"/>
            <a:chExt cx="2016366" cy="2628734"/>
          </a:xfrm>
        </p:grpSpPr>
        <p:pic>
          <p:nvPicPr>
            <p:cNvPr id="63" name="Google Shape;63;p2"/>
            <p:cNvPicPr preferRelativeResize="0"/>
            <p:nvPr/>
          </p:nvPicPr>
          <p:blipFill rotWithShape="1">
            <a:blip r:embed="rId4">
              <a:alphaModFix/>
            </a:blip>
            <a:srcRect b="0" l="0" r="0" t="0"/>
            <a:stretch/>
          </p:blipFill>
          <p:spPr>
            <a:xfrm>
              <a:off x="354241" y="1013385"/>
              <a:ext cx="2016366" cy="2628734"/>
            </a:xfrm>
            <a:prstGeom prst="rect">
              <a:avLst/>
            </a:prstGeom>
            <a:noFill/>
            <a:ln>
              <a:noFill/>
            </a:ln>
          </p:spPr>
        </p:pic>
        <p:sp>
          <p:nvSpPr>
            <p:cNvPr id="64" name="Google Shape;64;p2"/>
            <p:cNvSpPr/>
            <p:nvPr/>
          </p:nvSpPr>
          <p:spPr>
            <a:xfrm>
              <a:off x="411124" y="1051206"/>
              <a:ext cx="1902460" cy="2515235"/>
            </a:xfrm>
            <a:custGeom>
              <a:rect b="b" l="l" r="r" t="t"/>
              <a:pathLst>
                <a:path extrusionOk="0" h="2515235" w="1902460">
                  <a:moveTo>
                    <a:pt x="114477" y="0"/>
                  </a:moveTo>
                  <a:lnTo>
                    <a:pt x="70788" y="8652"/>
                  </a:lnTo>
                  <a:lnTo>
                    <a:pt x="33654" y="33342"/>
                  </a:lnTo>
                  <a:lnTo>
                    <a:pt x="9013" y="70577"/>
                  </a:lnTo>
                  <a:lnTo>
                    <a:pt x="355" y="114109"/>
                  </a:lnTo>
                  <a:lnTo>
                    <a:pt x="0" y="2400833"/>
                  </a:lnTo>
                  <a:lnTo>
                    <a:pt x="995" y="2415804"/>
                  </a:lnTo>
                  <a:lnTo>
                    <a:pt x="3913" y="2430400"/>
                  </a:lnTo>
                  <a:lnTo>
                    <a:pt x="8602" y="2444372"/>
                  </a:lnTo>
                  <a:lnTo>
                    <a:pt x="8652" y="2444522"/>
                  </a:lnTo>
                  <a:lnTo>
                    <a:pt x="33342" y="2481656"/>
                  </a:lnTo>
                  <a:lnTo>
                    <a:pt x="70577" y="2506297"/>
                  </a:lnTo>
                  <a:lnTo>
                    <a:pt x="114109" y="2514955"/>
                  </a:lnTo>
                  <a:lnTo>
                    <a:pt x="1788121" y="2514955"/>
                  </a:lnTo>
                  <a:lnTo>
                    <a:pt x="1831809" y="2506297"/>
                  </a:lnTo>
                  <a:lnTo>
                    <a:pt x="1868884" y="2481656"/>
                  </a:lnTo>
                  <a:lnTo>
                    <a:pt x="1893505" y="2444522"/>
                  </a:lnTo>
                  <a:lnTo>
                    <a:pt x="1902231" y="2400833"/>
                  </a:lnTo>
                  <a:lnTo>
                    <a:pt x="1902206" y="114109"/>
                  </a:lnTo>
                  <a:lnTo>
                    <a:pt x="1893578" y="70788"/>
                  </a:lnTo>
                  <a:lnTo>
                    <a:pt x="1868889" y="33655"/>
                  </a:lnTo>
                  <a:lnTo>
                    <a:pt x="1831654" y="9013"/>
                  </a:lnTo>
                  <a:lnTo>
                    <a:pt x="1788121" y="355"/>
                  </a:lnTo>
                  <a:lnTo>
                    <a:pt x="114477"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5" name="Google Shape;65;p2"/>
            <p:cNvSpPr/>
            <p:nvPr/>
          </p:nvSpPr>
          <p:spPr>
            <a:xfrm>
              <a:off x="411124" y="1051206"/>
              <a:ext cx="1902460" cy="2515235"/>
            </a:xfrm>
            <a:custGeom>
              <a:rect b="b" l="l" r="r" t="t"/>
              <a:pathLst>
                <a:path extrusionOk="0" h="2515235" w="1902460">
                  <a:moveTo>
                    <a:pt x="355" y="114109"/>
                  </a:moveTo>
                  <a:lnTo>
                    <a:pt x="1350" y="99149"/>
                  </a:lnTo>
                  <a:lnTo>
                    <a:pt x="4270" y="84593"/>
                  </a:lnTo>
                  <a:lnTo>
                    <a:pt x="23824" y="44632"/>
                  </a:lnTo>
                  <a:lnTo>
                    <a:pt x="57238" y="15112"/>
                  </a:lnTo>
                  <a:lnTo>
                    <a:pt x="99506" y="995"/>
                  </a:lnTo>
                  <a:lnTo>
                    <a:pt x="114477" y="0"/>
                  </a:lnTo>
                  <a:lnTo>
                    <a:pt x="1788121" y="355"/>
                  </a:lnTo>
                  <a:lnTo>
                    <a:pt x="1831654" y="9013"/>
                  </a:lnTo>
                  <a:lnTo>
                    <a:pt x="1868889" y="33655"/>
                  </a:lnTo>
                  <a:lnTo>
                    <a:pt x="1893578" y="70788"/>
                  </a:lnTo>
                  <a:lnTo>
                    <a:pt x="1902231" y="114477"/>
                  </a:lnTo>
                  <a:lnTo>
                    <a:pt x="1902231" y="2400833"/>
                  </a:lnTo>
                  <a:lnTo>
                    <a:pt x="1901236" y="2415798"/>
                  </a:lnTo>
                  <a:lnTo>
                    <a:pt x="1898318" y="2430356"/>
                  </a:lnTo>
                  <a:lnTo>
                    <a:pt x="1878768" y="2470322"/>
                  </a:lnTo>
                  <a:lnTo>
                    <a:pt x="1845360" y="2499829"/>
                  </a:lnTo>
                  <a:lnTo>
                    <a:pt x="1803087" y="2513960"/>
                  </a:lnTo>
                  <a:lnTo>
                    <a:pt x="1788121" y="2514955"/>
                  </a:lnTo>
                  <a:lnTo>
                    <a:pt x="114109" y="2514955"/>
                  </a:lnTo>
                  <a:lnTo>
                    <a:pt x="70577" y="2506297"/>
                  </a:lnTo>
                  <a:lnTo>
                    <a:pt x="33342" y="2481656"/>
                  </a:lnTo>
                  <a:lnTo>
                    <a:pt x="8652" y="2444522"/>
                  </a:lnTo>
                  <a:lnTo>
                    <a:pt x="0" y="2400833"/>
                  </a:lnTo>
                  <a:lnTo>
                    <a:pt x="355" y="114109"/>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6" name="Google Shape;66;p2"/>
            <p:cNvSpPr/>
            <p:nvPr/>
          </p:nvSpPr>
          <p:spPr>
            <a:xfrm>
              <a:off x="548639" y="1188722"/>
              <a:ext cx="384175" cy="384175"/>
            </a:xfrm>
            <a:custGeom>
              <a:rect b="b" l="l" r="r" t="t"/>
              <a:pathLst>
                <a:path extrusionOk="0" h="384175" w="384175">
                  <a:moveTo>
                    <a:pt x="192239" y="0"/>
                  </a:moveTo>
                  <a:lnTo>
                    <a:pt x="142425" y="6434"/>
                  </a:lnTo>
                  <a:lnTo>
                    <a:pt x="96126" y="25565"/>
                  </a:lnTo>
                  <a:lnTo>
                    <a:pt x="56249" y="56070"/>
                  </a:lnTo>
                  <a:lnTo>
                    <a:pt x="25565" y="95757"/>
                  </a:lnTo>
                  <a:lnTo>
                    <a:pt x="6572" y="142063"/>
                  </a:lnTo>
                  <a:lnTo>
                    <a:pt x="0" y="191884"/>
                  </a:lnTo>
                  <a:lnTo>
                    <a:pt x="1665" y="217074"/>
                  </a:lnTo>
                  <a:lnTo>
                    <a:pt x="14583" y="265436"/>
                  </a:lnTo>
                  <a:lnTo>
                    <a:pt x="39624" y="308888"/>
                  </a:lnTo>
                  <a:lnTo>
                    <a:pt x="75173" y="344192"/>
                  </a:lnTo>
                  <a:lnTo>
                    <a:pt x="118686" y="369390"/>
                  </a:lnTo>
                  <a:lnTo>
                    <a:pt x="167044" y="382452"/>
                  </a:lnTo>
                  <a:lnTo>
                    <a:pt x="192239" y="384124"/>
                  </a:lnTo>
                  <a:lnTo>
                    <a:pt x="217224" y="382452"/>
                  </a:lnTo>
                  <a:lnTo>
                    <a:pt x="265441" y="369390"/>
                  </a:lnTo>
                  <a:lnTo>
                    <a:pt x="308945" y="344192"/>
                  </a:lnTo>
                  <a:lnTo>
                    <a:pt x="344497" y="308888"/>
                  </a:lnTo>
                  <a:lnTo>
                    <a:pt x="369540" y="265436"/>
                  </a:lnTo>
                  <a:lnTo>
                    <a:pt x="382458" y="217074"/>
                  </a:lnTo>
                  <a:lnTo>
                    <a:pt x="384124" y="191884"/>
                  </a:lnTo>
                  <a:lnTo>
                    <a:pt x="382458" y="166686"/>
                  </a:lnTo>
                  <a:lnTo>
                    <a:pt x="369540" y="118319"/>
                  </a:lnTo>
                  <a:lnTo>
                    <a:pt x="344497" y="74867"/>
                  </a:lnTo>
                  <a:lnTo>
                    <a:pt x="308945" y="39568"/>
                  </a:lnTo>
                  <a:lnTo>
                    <a:pt x="265441" y="14428"/>
                  </a:lnTo>
                  <a:lnTo>
                    <a:pt x="217224" y="1613"/>
                  </a:lnTo>
                  <a:lnTo>
                    <a:pt x="192239" y="0"/>
                  </a:lnTo>
                  <a:close/>
                </a:path>
              </a:pathLst>
            </a:custGeom>
            <a:solidFill>
              <a:srgbClr val="1D3FA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67" name="Google Shape;67;p2"/>
          <p:cNvSpPr txBox="1"/>
          <p:nvPr/>
        </p:nvSpPr>
        <p:spPr>
          <a:xfrm>
            <a:off x="535940" y="1261340"/>
            <a:ext cx="1578610" cy="1452880"/>
          </a:xfrm>
          <a:prstGeom prst="rect">
            <a:avLst/>
          </a:prstGeom>
          <a:noFill/>
          <a:ln>
            <a:noFill/>
          </a:ln>
        </p:spPr>
        <p:txBody>
          <a:bodyPr anchorCtr="0" anchor="t" bIns="0" lIns="0" spcFirstLastPara="1" rIns="0" wrap="square" tIns="12700">
            <a:spAutoFit/>
          </a:bodyPr>
          <a:lstStyle/>
          <a:p>
            <a:pPr indent="0" lvl="0" marL="159385" rtl="0" algn="l">
              <a:lnSpc>
                <a:spcPct val="100000"/>
              </a:lnSpc>
              <a:spcBef>
                <a:spcPts val="0"/>
              </a:spcBef>
              <a:spcAft>
                <a:spcPts val="0"/>
              </a:spcAft>
              <a:buNone/>
            </a:pPr>
            <a:r>
              <a:rPr b="1" lang="en-US" sz="1400">
                <a:solidFill>
                  <a:srgbClr val="FFFFFF"/>
                </a:solidFill>
                <a:latin typeface="Calibri"/>
                <a:ea typeface="Calibri"/>
                <a:cs typeface="Calibri"/>
                <a:sym typeface="Calibri"/>
              </a:rPr>
              <a:t>1</a:t>
            </a:r>
            <a:endParaRPr sz="1400">
              <a:latin typeface="Calibri"/>
              <a:ea typeface="Calibri"/>
              <a:cs typeface="Calibri"/>
              <a:sym typeface="Calibri"/>
            </a:endParaRPr>
          </a:p>
          <a:p>
            <a:pPr indent="0" lvl="0" marL="12700" rtl="0" algn="l">
              <a:lnSpc>
                <a:spcPct val="100000"/>
              </a:lnSpc>
              <a:spcBef>
                <a:spcPts val="1310"/>
              </a:spcBef>
              <a:spcAft>
                <a:spcPts val="0"/>
              </a:spcAft>
              <a:buNone/>
            </a:pPr>
            <a:r>
              <a:rPr b="1" lang="en-US" sz="1350">
                <a:solidFill>
                  <a:srgbClr val="0C1A29"/>
                </a:solidFill>
                <a:latin typeface="Calibri"/>
                <a:ea typeface="Calibri"/>
                <a:cs typeface="Calibri"/>
                <a:sym typeface="Calibri"/>
              </a:rPr>
              <a:t>Phone keyboard</a:t>
            </a:r>
            <a:endParaRPr sz="1350">
              <a:latin typeface="Calibri"/>
              <a:ea typeface="Calibri"/>
              <a:cs typeface="Calibri"/>
              <a:sym typeface="Calibri"/>
            </a:endParaRPr>
          </a:p>
          <a:p>
            <a:pPr indent="0" lvl="0" marL="12700" marR="5080" rtl="0" algn="l">
              <a:lnSpc>
                <a:spcPct val="105000"/>
              </a:lnSpc>
              <a:spcBef>
                <a:spcPts val="835"/>
              </a:spcBef>
              <a:spcAft>
                <a:spcPts val="0"/>
              </a:spcAft>
              <a:buNone/>
            </a:pPr>
            <a:r>
              <a:rPr lang="en-US" sz="1150">
                <a:solidFill>
                  <a:srgbClr val="1E2836"/>
                </a:solidFill>
                <a:latin typeface="Calibri"/>
                <a:ea typeface="Calibri"/>
                <a:cs typeface="Calibri"/>
                <a:sym typeface="Calibri"/>
              </a:rPr>
              <a:t>Type "Happy" and it offers "Birthday". That is next-word prediction on a sequence.</a:t>
            </a:r>
            <a:endParaRPr sz="1150">
              <a:latin typeface="Calibri"/>
              <a:ea typeface="Calibri"/>
              <a:cs typeface="Calibri"/>
              <a:sym typeface="Calibri"/>
            </a:endParaRPr>
          </a:p>
        </p:txBody>
      </p:sp>
      <p:sp>
        <p:nvSpPr>
          <p:cNvPr id="68" name="Google Shape;68;p2"/>
          <p:cNvSpPr/>
          <p:nvPr/>
        </p:nvSpPr>
        <p:spPr>
          <a:xfrm>
            <a:off x="502919" y="3053882"/>
            <a:ext cx="1719580" cy="402590"/>
          </a:xfrm>
          <a:custGeom>
            <a:rect b="b" l="l" r="r" t="t"/>
            <a:pathLst>
              <a:path extrusionOk="0" h="402589" w="1719580">
                <a:moveTo>
                  <a:pt x="1598041" y="0"/>
                </a:moveTo>
                <a:lnTo>
                  <a:pt x="120599" y="0"/>
                </a:lnTo>
                <a:lnTo>
                  <a:pt x="104979" y="1012"/>
                </a:lnTo>
                <a:lnTo>
                  <a:pt x="60477" y="16205"/>
                </a:lnTo>
                <a:lnTo>
                  <a:pt x="24946" y="46980"/>
                </a:lnTo>
                <a:lnTo>
                  <a:pt x="4049" y="89284"/>
                </a:lnTo>
                <a:lnTo>
                  <a:pt x="0" y="120599"/>
                </a:lnTo>
                <a:lnTo>
                  <a:pt x="0" y="281876"/>
                </a:lnTo>
                <a:lnTo>
                  <a:pt x="1002" y="297346"/>
                </a:lnTo>
                <a:lnTo>
                  <a:pt x="1012" y="297496"/>
                </a:lnTo>
                <a:lnTo>
                  <a:pt x="16205" y="341998"/>
                </a:lnTo>
                <a:lnTo>
                  <a:pt x="46980" y="377542"/>
                </a:lnTo>
                <a:lnTo>
                  <a:pt x="89284" y="398427"/>
                </a:lnTo>
                <a:lnTo>
                  <a:pt x="120599" y="402475"/>
                </a:lnTo>
                <a:lnTo>
                  <a:pt x="1598396" y="402120"/>
                </a:lnTo>
                <a:lnTo>
                  <a:pt x="1644313" y="393006"/>
                </a:lnTo>
                <a:lnTo>
                  <a:pt x="1683632" y="366928"/>
                </a:lnTo>
                <a:lnTo>
                  <a:pt x="1709884" y="327792"/>
                </a:lnTo>
                <a:lnTo>
                  <a:pt x="1718973" y="281876"/>
                </a:lnTo>
                <a:lnTo>
                  <a:pt x="1718995" y="281520"/>
                </a:lnTo>
                <a:lnTo>
                  <a:pt x="1718640" y="120599"/>
                </a:lnTo>
                <a:lnTo>
                  <a:pt x="1709526" y="74682"/>
                </a:lnTo>
                <a:lnTo>
                  <a:pt x="1683448" y="35374"/>
                </a:lnTo>
                <a:lnTo>
                  <a:pt x="1644307" y="9113"/>
                </a:lnTo>
                <a:lnTo>
                  <a:pt x="1613866" y="1012"/>
                </a:lnTo>
                <a:lnTo>
                  <a:pt x="1598041" y="0"/>
                </a:lnTo>
                <a:close/>
              </a:path>
            </a:pathLst>
          </a:custGeom>
          <a:solidFill>
            <a:srgbClr val="E7ED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9" name="Google Shape;69;p2"/>
          <p:cNvSpPr txBox="1"/>
          <p:nvPr/>
        </p:nvSpPr>
        <p:spPr>
          <a:xfrm>
            <a:off x="618744" y="3165743"/>
            <a:ext cx="1487805" cy="1784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000">
                <a:solidFill>
                  <a:srgbClr val="1D3FAE"/>
                </a:solidFill>
                <a:latin typeface="Calibri"/>
                <a:ea typeface="Calibri"/>
                <a:cs typeface="Calibri"/>
                <a:sym typeface="Calibri"/>
              </a:rPr>
              <a:t>Inside: </a:t>
            </a:r>
            <a:r>
              <a:rPr lang="en-US" sz="1000">
                <a:solidFill>
                  <a:srgbClr val="1D3FAE"/>
                </a:solidFill>
                <a:latin typeface="Calibri"/>
                <a:ea typeface="Calibri"/>
                <a:cs typeface="Calibri"/>
                <a:sym typeface="Calibri"/>
              </a:rPr>
              <a:t>LSTM (Gboard, 2018)</a:t>
            </a:r>
            <a:endParaRPr sz="1000">
              <a:latin typeface="Calibri"/>
              <a:ea typeface="Calibri"/>
              <a:cs typeface="Calibri"/>
              <a:sym typeface="Calibri"/>
            </a:endParaRPr>
          </a:p>
        </p:txBody>
      </p:sp>
      <p:grpSp>
        <p:nvGrpSpPr>
          <p:cNvPr id="70" name="Google Shape;70;p2"/>
          <p:cNvGrpSpPr/>
          <p:nvPr/>
        </p:nvGrpSpPr>
        <p:grpSpPr>
          <a:xfrm>
            <a:off x="2420645" y="1013385"/>
            <a:ext cx="2016366" cy="2628734"/>
            <a:chOff x="2420645" y="1013385"/>
            <a:chExt cx="2016366" cy="2628734"/>
          </a:xfrm>
        </p:grpSpPr>
        <p:pic>
          <p:nvPicPr>
            <p:cNvPr id="71" name="Google Shape;71;p2"/>
            <p:cNvPicPr preferRelativeResize="0"/>
            <p:nvPr/>
          </p:nvPicPr>
          <p:blipFill rotWithShape="1">
            <a:blip r:embed="rId4">
              <a:alphaModFix/>
            </a:blip>
            <a:srcRect b="0" l="0" r="0" t="0"/>
            <a:stretch/>
          </p:blipFill>
          <p:spPr>
            <a:xfrm>
              <a:off x="2420645" y="1013385"/>
              <a:ext cx="2016366" cy="2628734"/>
            </a:xfrm>
            <a:prstGeom prst="rect">
              <a:avLst/>
            </a:prstGeom>
            <a:noFill/>
            <a:ln>
              <a:noFill/>
            </a:ln>
          </p:spPr>
        </p:pic>
        <p:sp>
          <p:nvSpPr>
            <p:cNvPr id="72" name="Google Shape;72;p2"/>
            <p:cNvSpPr/>
            <p:nvPr/>
          </p:nvSpPr>
          <p:spPr>
            <a:xfrm>
              <a:off x="2477516" y="1051206"/>
              <a:ext cx="1902460" cy="2515235"/>
            </a:xfrm>
            <a:custGeom>
              <a:rect b="b" l="l" r="r" t="t"/>
              <a:pathLst>
                <a:path extrusionOk="0" h="2515235" w="1902460">
                  <a:moveTo>
                    <a:pt x="114477" y="0"/>
                  </a:moveTo>
                  <a:lnTo>
                    <a:pt x="70790" y="8652"/>
                  </a:lnTo>
                  <a:lnTo>
                    <a:pt x="33664" y="33342"/>
                  </a:lnTo>
                  <a:lnTo>
                    <a:pt x="9021" y="70577"/>
                  </a:lnTo>
                  <a:lnTo>
                    <a:pt x="368" y="114109"/>
                  </a:lnTo>
                  <a:lnTo>
                    <a:pt x="0" y="2400833"/>
                  </a:lnTo>
                  <a:lnTo>
                    <a:pt x="997" y="2415804"/>
                  </a:lnTo>
                  <a:lnTo>
                    <a:pt x="3919" y="2430400"/>
                  </a:lnTo>
                  <a:lnTo>
                    <a:pt x="8613" y="2444372"/>
                  </a:lnTo>
                  <a:lnTo>
                    <a:pt x="8663" y="2444522"/>
                  </a:lnTo>
                  <a:lnTo>
                    <a:pt x="33348" y="2481656"/>
                  </a:lnTo>
                  <a:lnTo>
                    <a:pt x="70584" y="2506297"/>
                  </a:lnTo>
                  <a:lnTo>
                    <a:pt x="114122" y="2514955"/>
                  </a:lnTo>
                  <a:lnTo>
                    <a:pt x="1788121" y="2514955"/>
                  </a:lnTo>
                  <a:lnTo>
                    <a:pt x="1831811" y="2506297"/>
                  </a:lnTo>
                  <a:lnTo>
                    <a:pt x="1868894" y="2481656"/>
                  </a:lnTo>
                  <a:lnTo>
                    <a:pt x="1893513" y="2444522"/>
                  </a:lnTo>
                  <a:lnTo>
                    <a:pt x="1893585" y="2444372"/>
                  </a:lnTo>
                  <a:lnTo>
                    <a:pt x="1898314" y="2430400"/>
                  </a:lnTo>
                  <a:lnTo>
                    <a:pt x="1901247" y="2415804"/>
                  </a:lnTo>
                  <a:lnTo>
                    <a:pt x="1902244" y="2400833"/>
                  </a:lnTo>
                  <a:lnTo>
                    <a:pt x="1902219" y="114109"/>
                  </a:lnTo>
                  <a:lnTo>
                    <a:pt x="1893585" y="70788"/>
                  </a:lnTo>
                  <a:lnTo>
                    <a:pt x="1868900" y="33655"/>
                  </a:lnTo>
                  <a:lnTo>
                    <a:pt x="1831661" y="9013"/>
                  </a:lnTo>
                  <a:lnTo>
                    <a:pt x="1788121" y="355"/>
                  </a:lnTo>
                  <a:lnTo>
                    <a:pt x="114477"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 name="Google Shape;73;p2"/>
            <p:cNvSpPr/>
            <p:nvPr/>
          </p:nvSpPr>
          <p:spPr>
            <a:xfrm>
              <a:off x="2477516" y="1051206"/>
              <a:ext cx="1902460" cy="2515235"/>
            </a:xfrm>
            <a:custGeom>
              <a:rect b="b" l="l" r="r" t="t"/>
              <a:pathLst>
                <a:path extrusionOk="0" h="2515235" w="1902460">
                  <a:moveTo>
                    <a:pt x="368" y="114109"/>
                  </a:moveTo>
                  <a:lnTo>
                    <a:pt x="1363" y="99149"/>
                  </a:lnTo>
                  <a:lnTo>
                    <a:pt x="4281" y="84593"/>
                  </a:lnTo>
                  <a:lnTo>
                    <a:pt x="23831" y="44632"/>
                  </a:lnTo>
                  <a:lnTo>
                    <a:pt x="57238" y="15112"/>
                  </a:lnTo>
                  <a:lnTo>
                    <a:pt x="99512" y="995"/>
                  </a:lnTo>
                  <a:lnTo>
                    <a:pt x="114477" y="0"/>
                  </a:lnTo>
                  <a:lnTo>
                    <a:pt x="1788121" y="355"/>
                  </a:lnTo>
                  <a:lnTo>
                    <a:pt x="1831661" y="9013"/>
                  </a:lnTo>
                  <a:lnTo>
                    <a:pt x="1868900" y="33655"/>
                  </a:lnTo>
                  <a:lnTo>
                    <a:pt x="1893585" y="70788"/>
                  </a:lnTo>
                  <a:lnTo>
                    <a:pt x="1902244" y="114477"/>
                  </a:lnTo>
                  <a:lnTo>
                    <a:pt x="1902244" y="2400833"/>
                  </a:lnTo>
                  <a:lnTo>
                    <a:pt x="1901248" y="2415798"/>
                  </a:lnTo>
                  <a:lnTo>
                    <a:pt x="1898329" y="2430356"/>
                  </a:lnTo>
                  <a:lnTo>
                    <a:pt x="1878775" y="2470322"/>
                  </a:lnTo>
                  <a:lnTo>
                    <a:pt x="1845360" y="2499829"/>
                  </a:lnTo>
                  <a:lnTo>
                    <a:pt x="1803093" y="2513960"/>
                  </a:lnTo>
                  <a:lnTo>
                    <a:pt x="1788121" y="2514955"/>
                  </a:lnTo>
                  <a:lnTo>
                    <a:pt x="114122" y="2514955"/>
                  </a:lnTo>
                  <a:lnTo>
                    <a:pt x="70584" y="2506297"/>
                  </a:lnTo>
                  <a:lnTo>
                    <a:pt x="33348" y="2481656"/>
                  </a:lnTo>
                  <a:lnTo>
                    <a:pt x="8663" y="2444522"/>
                  </a:lnTo>
                  <a:lnTo>
                    <a:pt x="0" y="2400833"/>
                  </a:lnTo>
                  <a:lnTo>
                    <a:pt x="368" y="114109"/>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4" name="Google Shape;74;p2"/>
            <p:cNvSpPr/>
            <p:nvPr/>
          </p:nvSpPr>
          <p:spPr>
            <a:xfrm>
              <a:off x="2615044" y="1188722"/>
              <a:ext cx="384175" cy="384175"/>
            </a:xfrm>
            <a:custGeom>
              <a:rect b="b" l="l" r="r" t="t"/>
              <a:pathLst>
                <a:path extrusionOk="0" h="384175" w="384175">
                  <a:moveTo>
                    <a:pt x="192239" y="0"/>
                  </a:moveTo>
                  <a:lnTo>
                    <a:pt x="142419" y="6434"/>
                  </a:lnTo>
                  <a:lnTo>
                    <a:pt x="96113" y="25565"/>
                  </a:lnTo>
                  <a:lnTo>
                    <a:pt x="56246" y="56070"/>
                  </a:lnTo>
                  <a:lnTo>
                    <a:pt x="25552" y="95757"/>
                  </a:lnTo>
                  <a:lnTo>
                    <a:pt x="6565" y="142063"/>
                  </a:lnTo>
                  <a:lnTo>
                    <a:pt x="0" y="191884"/>
                  </a:lnTo>
                  <a:lnTo>
                    <a:pt x="1663" y="217074"/>
                  </a:lnTo>
                  <a:lnTo>
                    <a:pt x="14573" y="265436"/>
                  </a:lnTo>
                  <a:lnTo>
                    <a:pt x="39619" y="308888"/>
                  </a:lnTo>
                  <a:lnTo>
                    <a:pt x="75167" y="344192"/>
                  </a:lnTo>
                  <a:lnTo>
                    <a:pt x="118675" y="369390"/>
                  </a:lnTo>
                  <a:lnTo>
                    <a:pt x="167042" y="382452"/>
                  </a:lnTo>
                  <a:lnTo>
                    <a:pt x="192239" y="384124"/>
                  </a:lnTo>
                  <a:lnTo>
                    <a:pt x="217224" y="382452"/>
                  </a:lnTo>
                  <a:lnTo>
                    <a:pt x="265441" y="369390"/>
                  </a:lnTo>
                  <a:lnTo>
                    <a:pt x="308943" y="344192"/>
                  </a:lnTo>
                  <a:lnTo>
                    <a:pt x="344492" y="308888"/>
                  </a:lnTo>
                  <a:lnTo>
                    <a:pt x="369538" y="265436"/>
                  </a:lnTo>
                  <a:lnTo>
                    <a:pt x="382447" y="217074"/>
                  </a:lnTo>
                  <a:lnTo>
                    <a:pt x="384111" y="191884"/>
                  </a:lnTo>
                  <a:lnTo>
                    <a:pt x="382447" y="166686"/>
                  </a:lnTo>
                  <a:lnTo>
                    <a:pt x="369538" y="118319"/>
                  </a:lnTo>
                  <a:lnTo>
                    <a:pt x="344492" y="74867"/>
                  </a:lnTo>
                  <a:lnTo>
                    <a:pt x="308943" y="39568"/>
                  </a:lnTo>
                  <a:lnTo>
                    <a:pt x="265441" y="14428"/>
                  </a:lnTo>
                  <a:lnTo>
                    <a:pt x="217224" y="1613"/>
                  </a:lnTo>
                  <a:lnTo>
                    <a:pt x="192239" y="0"/>
                  </a:lnTo>
                  <a:close/>
                </a:path>
              </a:pathLst>
            </a:custGeom>
            <a:solidFill>
              <a:srgbClr val="0E756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5" name="Google Shape;75;p2"/>
          <p:cNvSpPr txBox="1"/>
          <p:nvPr/>
        </p:nvSpPr>
        <p:spPr>
          <a:xfrm>
            <a:off x="2602344" y="1261340"/>
            <a:ext cx="1510030" cy="1452880"/>
          </a:xfrm>
          <a:prstGeom prst="rect">
            <a:avLst/>
          </a:prstGeom>
          <a:noFill/>
          <a:ln>
            <a:noFill/>
          </a:ln>
        </p:spPr>
        <p:txBody>
          <a:bodyPr anchorCtr="0" anchor="t" bIns="0" lIns="0" spcFirstLastPara="1" rIns="0" wrap="square" tIns="12700">
            <a:spAutoFit/>
          </a:bodyPr>
          <a:lstStyle/>
          <a:p>
            <a:pPr indent="0" lvl="0" marL="159385" rtl="0" algn="l">
              <a:lnSpc>
                <a:spcPct val="100000"/>
              </a:lnSpc>
              <a:spcBef>
                <a:spcPts val="0"/>
              </a:spcBef>
              <a:spcAft>
                <a:spcPts val="0"/>
              </a:spcAft>
              <a:buNone/>
            </a:pPr>
            <a:r>
              <a:rPr b="1" lang="en-US" sz="1400">
                <a:solidFill>
                  <a:srgbClr val="FFFFFF"/>
                </a:solidFill>
                <a:latin typeface="Calibri"/>
                <a:ea typeface="Calibri"/>
                <a:cs typeface="Calibri"/>
                <a:sym typeface="Calibri"/>
              </a:rPr>
              <a:t>2</a:t>
            </a:r>
            <a:endParaRPr sz="1400">
              <a:latin typeface="Calibri"/>
              <a:ea typeface="Calibri"/>
              <a:cs typeface="Calibri"/>
              <a:sym typeface="Calibri"/>
            </a:endParaRPr>
          </a:p>
          <a:p>
            <a:pPr indent="0" lvl="0" marL="12700" rtl="0" algn="l">
              <a:lnSpc>
                <a:spcPct val="100000"/>
              </a:lnSpc>
              <a:spcBef>
                <a:spcPts val="1310"/>
              </a:spcBef>
              <a:spcAft>
                <a:spcPts val="0"/>
              </a:spcAft>
              <a:buNone/>
            </a:pPr>
            <a:r>
              <a:rPr b="1" lang="en-US" sz="1350">
                <a:solidFill>
                  <a:srgbClr val="0C1A29"/>
                </a:solidFill>
                <a:latin typeface="Calibri"/>
                <a:ea typeface="Calibri"/>
                <a:cs typeface="Calibri"/>
                <a:sym typeface="Calibri"/>
              </a:rPr>
              <a:t>Google Translate</a:t>
            </a:r>
            <a:endParaRPr sz="1350">
              <a:latin typeface="Calibri"/>
              <a:ea typeface="Calibri"/>
              <a:cs typeface="Calibri"/>
              <a:sym typeface="Calibri"/>
            </a:endParaRPr>
          </a:p>
          <a:p>
            <a:pPr indent="0" lvl="0" marL="12700" marR="5080" rtl="0" algn="l">
              <a:lnSpc>
                <a:spcPct val="105000"/>
              </a:lnSpc>
              <a:spcBef>
                <a:spcPts val="835"/>
              </a:spcBef>
              <a:spcAft>
                <a:spcPts val="0"/>
              </a:spcAft>
              <a:buNone/>
            </a:pPr>
            <a:r>
              <a:rPr lang="en-US" sz="1150">
                <a:solidFill>
                  <a:srgbClr val="1E2836"/>
                </a:solidFill>
                <a:latin typeface="Calibri"/>
                <a:ea typeface="Calibri"/>
                <a:cs typeface="Calibri"/>
                <a:sym typeface="Calibri"/>
              </a:rPr>
              <a:t>Hindi to English, with the word order flipped correctly. Order and context both matter.</a:t>
            </a:r>
            <a:endParaRPr sz="1150">
              <a:latin typeface="Calibri"/>
              <a:ea typeface="Calibri"/>
              <a:cs typeface="Calibri"/>
              <a:sym typeface="Calibri"/>
            </a:endParaRPr>
          </a:p>
        </p:txBody>
      </p:sp>
      <p:sp>
        <p:nvSpPr>
          <p:cNvPr id="76" name="Google Shape;76;p2"/>
          <p:cNvSpPr/>
          <p:nvPr/>
        </p:nvSpPr>
        <p:spPr>
          <a:xfrm>
            <a:off x="2569324" y="3053882"/>
            <a:ext cx="1719580" cy="402590"/>
          </a:xfrm>
          <a:custGeom>
            <a:rect b="b" l="l" r="r" t="t"/>
            <a:pathLst>
              <a:path extrusionOk="0" h="402589" w="1719579">
                <a:moveTo>
                  <a:pt x="1598041" y="0"/>
                </a:moveTo>
                <a:lnTo>
                  <a:pt x="120599" y="0"/>
                </a:lnTo>
                <a:lnTo>
                  <a:pt x="104979" y="1012"/>
                </a:lnTo>
                <a:lnTo>
                  <a:pt x="60477" y="16205"/>
                </a:lnTo>
                <a:lnTo>
                  <a:pt x="24933" y="46980"/>
                </a:lnTo>
                <a:lnTo>
                  <a:pt x="4048" y="89284"/>
                </a:lnTo>
                <a:lnTo>
                  <a:pt x="0" y="120599"/>
                </a:lnTo>
                <a:lnTo>
                  <a:pt x="0" y="281876"/>
                </a:lnTo>
                <a:lnTo>
                  <a:pt x="9108" y="327792"/>
                </a:lnTo>
                <a:lnTo>
                  <a:pt x="35185" y="367112"/>
                </a:lnTo>
                <a:lnTo>
                  <a:pt x="74325" y="393367"/>
                </a:lnTo>
                <a:lnTo>
                  <a:pt x="120599" y="402475"/>
                </a:lnTo>
                <a:lnTo>
                  <a:pt x="1598396" y="402120"/>
                </a:lnTo>
                <a:lnTo>
                  <a:pt x="1644313" y="393006"/>
                </a:lnTo>
                <a:lnTo>
                  <a:pt x="1683621" y="366928"/>
                </a:lnTo>
                <a:lnTo>
                  <a:pt x="1709879" y="327792"/>
                </a:lnTo>
                <a:lnTo>
                  <a:pt x="1718973" y="281876"/>
                </a:lnTo>
                <a:lnTo>
                  <a:pt x="1718995" y="281520"/>
                </a:lnTo>
                <a:lnTo>
                  <a:pt x="1718640" y="120599"/>
                </a:lnTo>
                <a:lnTo>
                  <a:pt x="1709521" y="74682"/>
                </a:lnTo>
                <a:lnTo>
                  <a:pt x="1683443" y="35374"/>
                </a:lnTo>
                <a:lnTo>
                  <a:pt x="1644307" y="9113"/>
                </a:lnTo>
                <a:lnTo>
                  <a:pt x="1613866" y="1012"/>
                </a:lnTo>
                <a:lnTo>
                  <a:pt x="1598041" y="0"/>
                </a:lnTo>
                <a:close/>
              </a:path>
            </a:pathLst>
          </a:custGeom>
          <a:solidFill>
            <a:srgbClr val="E5F3F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7" name="Google Shape;77;p2"/>
          <p:cNvSpPr txBox="1"/>
          <p:nvPr/>
        </p:nvSpPr>
        <p:spPr>
          <a:xfrm>
            <a:off x="2891066" y="3112822"/>
            <a:ext cx="1076325" cy="300355"/>
          </a:xfrm>
          <a:prstGeom prst="rect">
            <a:avLst/>
          </a:prstGeom>
          <a:noFill/>
          <a:ln>
            <a:noFill/>
          </a:ln>
        </p:spPr>
        <p:txBody>
          <a:bodyPr anchorCtr="0" anchor="t" bIns="0" lIns="0" spcFirstLastPara="1" rIns="0" wrap="square" tIns="12700">
            <a:spAutoFit/>
          </a:bodyPr>
          <a:lstStyle/>
          <a:p>
            <a:pPr indent="-243204" lvl="0" marL="255270" marR="5080" rtl="0" algn="l">
              <a:lnSpc>
                <a:spcPct val="100000"/>
              </a:lnSpc>
              <a:spcBef>
                <a:spcPts val="0"/>
              </a:spcBef>
              <a:spcAft>
                <a:spcPts val="0"/>
              </a:spcAft>
              <a:buNone/>
            </a:pPr>
            <a:r>
              <a:rPr b="1" lang="en-US" sz="900">
                <a:solidFill>
                  <a:srgbClr val="0E756D"/>
                </a:solidFill>
                <a:latin typeface="Calibri"/>
                <a:ea typeface="Calibri"/>
                <a:cs typeface="Calibri"/>
                <a:sym typeface="Calibri"/>
              </a:rPr>
              <a:t>Inside: </a:t>
            </a:r>
            <a:r>
              <a:rPr lang="en-US" sz="900">
                <a:solidFill>
                  <a:srgbClr val="0E756D"/>
                </a:solidFill>
                <a:latin typeface="Calibri"/>
                <a:ea typeface="Calibri"/>
                <a:cs typeface="Calibri"/>
                <a:sym typeface="Calibri"/>
              </a:rPr>
              <a:t>LSTM (2016) → Transformer</a:t>
            </a:r>
            <a:endParaRPr sz="900">
              <a:latin typeface="Calibri"/>
              <a:ea typeface="Calibri"/>
              <a:cs typeface="Calibri"/>
              <a:sym typeface="Calibri"/>
            </a:endParaRPr>
          </a:p>
        </p:txBody>
      </p:sp>
      <p:grpSp>
        <p:nvGrpSpPr>
          <p:cNvPr id="78" name="Google Shape;78;p2"/>
          <p:cNvGrpSpPr/>
          <p:nvPr/>
        </p:nvGrpSpPr>
        <p:grpSpPr>
          <a:xfrm>
            <a:off x="4487405" y="1013385"/>
            <a:ext cx="2016366" cy="2628734"/>
            <a:chOff x="4487405" y="1013385"/>
            <a:chExt cx="2016366" cy="2628734"/>
          </a:xfrm>
        </p:grpSpPr>
        <p:pic>
          <p:nvPicPr>
            <p:cNvPr id="79" name="Google Shape;79;p2"/>
            <p:cNvPicPr preferRelativeResize="0"/>
            <p:nvPr/>
          </p:nvPicPr>
          <p:blipFill rotWithShape="1">
            <a:blip r:embed="rId4">
              <a:alphaModFix/>
            </a:blip>
            <a:srcRect b="0" l="0" r="0" t="0"/>
            <a:stretch/>
          </p:blipFill>
          <p:spPr>
            <a:xfrm>
              <a:off x="4487405" y="1013385"/>
              <a:ext cx="2016366" cy="2628734"/>
            </a:xfrm>
            <a:prstGeom prst="rect">
              <a:avLst/>
            </a:prstGeom>
            <a:noFill/>
            <a:ln>
              <a:noFill/>
            </a:ln>
          </p:spPr>
        </p:pic>
        <p:sp>
          <p:nvSpPr>
            <p:cNvPr id="80" name="Google Shape;80;p2"/>
            <p:cNvSpPr/>
            <p:nvPr/>
          </p:nvSpPr>
          <p:spPr>
            <a:xfrm>
              <a:off x="4544275" y="1051206"/>
              <a:ext cx="1902460" cy="2515235"/>
            </a:xfrm>
            <a:custGeom>
              <a:rect b="b" l="l" r="r" t="t"/>
              <a:pathLst>
                <a:path extrusionOk="0" h="2515235" w="1902460">
                  <a:moveTo>
                    <a:pt x="114477" y="0"/>
                  </a:moveTo>
                  <a:lnTo>
                    <a:pt x="70790" y="8652"/>
                  </a:lnTo>
                  <a:lnTo>
                    <a:pt x="33664" y="33342"/>
                  </a:lnTo>
                  <a:lnTo>
                    <a:pt x="9021" y="70577"/>
                  </a:lnTo>
                  <a:lnTo>
                    <a:pt x="368" y="114109"/>
                  </a:lnTo>
                  <a:lnTo>
                    <a:pt x="0" y="2400833"/>
                  </a:lnTo>
                  <a:lnTo>
                    <a:pt x="997" y="2415804"/>
                  </a:lnTo>
                  <a:lnTo>
                    <a:pt x="3919" y="2430400"/>
                  </a:lnTo>
                  <a:lnTo>
                    <a:pt x="8613" y="2444372"/>
                  </a:lnTo>
                  <a:lnTo>
                    <a:pt x="8663" y="2444522"/>
                  </a:lnTo>
                  <a:lnTo>
                    <a:pt x="33348" y="2481656"/>
                  </a:lnTo>
                  <a:lnTo>
                    <a:pt x="70584" y="2506297"/>
                  </a:lnTo>
                  <a:lnTo>
                    <a:pt x="114122" y="2514955"/>
                  </a:lnTo>
                  <a:lnTo>
                    <a:pt x="1788121" y="2514955"/>
                  </a:lnTo>
                  <a:lnTo>
                    <a:pt x="1831811" y="2506297"/>
                  </a:lnTo>
                  <a:lnTo>
                    <a:pt x="1868894" y="2481656"/>
                  </a:lnTo>
                  <a:lnTo>
                    <a:pt x="1893513" y="2444522"/>
                  </a:lnTo>
                  <a:lnTo>
                    <a:pt x="1893585" y="2444372"/>
                  </a:lnTo>
                  <a:lnTo>
                    <a:pt x="1898314" y="2430400"/>
                  </a:lnTo>
                  <a:lnTo>
                    <a:pt x="1901247" y="2415804"/>
                  </a:lnTo>
                  <a:lnTo>
                    <a:pt x="1902244" y="2400833"/>
                  </a:lnTo>
                  <a:lnTo>
                    <a:pt x="1902219" y="114109"/>
                  </a:lnTo>
                  <a:lnTo>
                    <a:pt x="1893585" y="70788"/>
                  </a:lnTo>
                  <a:lnTo>
                    <a:pt x="1868900" y="33655"/>
                  </a:lnTo>
                  <a:lnTo>
                    <a:pt x="1831661" y="9013"/>
                  </a:lnTo>
                  <a:lnTo>
                    <a:pt x="1788121" y="355"/>
                  </a:lnTo>
                  <a:lnTo>
                    <a:pt x="114477"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1" name="Google Shape;81;p2"/>
            <p:cNvSpPr/>
            <p:nvPr/>
          </p:nvSpPr>
          <p:spPr>
            <a:xfrm>
              <a:off x="4544275" y="1051206"/>
              <a:ext cx="1902460" cy="2515235"/>
            </a:xfrm>
            <a:custGeom>
              <a:rect b="b" l="l" r="r" t="t"/>
              <a:pathLst>
                <a:path extrusionOk="0" h="2515235" w="1902460">
                  <a:moveTo>
                    <a:pt x="368" y="114109"/>
                  </a:moveTo>
                  <a:lnTo>
                    <a:pt x="1363" y="99149"/>
                  </a:lnTo>
                  <a:lnTo>
                    <a:pt x="4281" y="84593"/>
                  </a:lnTo>
                  <a:lnTo>
                    <a:pt x="23831" y="44632"/>
                  </a:lnTo>
                  <a:lnTo>
                    <a:pt x="57238" y="15112"/>
                  </a:lnTo>
                  <a:lnTo>
                    <a:pt x="99512" y="995"/>
                  </a:lnTo>
                  <a:lnTo>
                    <a:pt x="114477" y="0"/>
                  </a:lnTo>
                  <a:lnTo>
                    <a:pt x="1788121" y="355"/>
                  </a:lnTo>
                  <a:lnTo>
                    <a:pt x="1831661" y="9013"/>
                  </a:lnTo>
                  <a:lnTo>
                    <a:pt x="1868900" y="33655"/>
                  </a:lnTo>
                  <a:lnTo>
                    <a:pt x="1893585" y="70788"/>
                  </a:lnTo>
                  <a:lnTo>
                    <a:pt x="1902244" y="114477"/>
                  </a:lnTo>
                  <a:lnTo>
                    <a:pt x="1902244" y="2400833"/>
                  </a:lnTo>
                  <a:lnTo>
                    <a:pt x="1901248" y="2415798"/>
                  </a:lnTo>
                  <a:lnTo>
                    <a:pt x="1898329" y="2430356"/>
                  </a:lnTo>
                  <a:lnTo>
                    <a:pt x="1878775" y="2470322"/>
                  </a:lnTo>
                  <a:lnTo>
                    <a:pt x="1845360" y="2499829"/>
                  </a:lnTo>
                  <a:lnTo>
                    <a:pt x="1803093" y="2513960"/>
                  </a:lnTo>
                  <a:lnTo>
                    <a:pt x="1788121" y="2514955"/>
                  </a:lnTo>
                  <a:lnTo>
                    <a:pt x="114122" y="2514955"/>
                  </a:lnTo>
                  <a:lnTo>
                    <a:pt x="70584" y="2506297"/>
                  </a:lnTo>
                  <a:lnTo>
                    <a:pt x="33348" y="2481656"/>
                  </a:lnTo>
                  <a:lnTo>
                    <a:pt x="8663" y="2444522"/>
                  </a:lnTo>
                  <a:lnTo>
                    <a:pt x="0" y="2400833"/>
                  </a:lnTo>
                  <a:lnTo>
                    <a:pt x="368" y="114109"/>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2" name="Google Shape;82;p2"/>
            <p:cNvSpPr/>
            <p:nvPr/>
          </p:nvSpPr>
          <p:spPr>
            <a:xfrm>
              <a:off x="4681804" y="1188722"/>
              <a:ext cx="384175" cy="384175"/>
            </a:xfrm>
            <a:custGeom>
              <a:rect b="b" l="l" r="r" t="t"/>
              <a:pathLst>
                <a:path extrusionOk="0" h="384175" w="384175">
                  <a:moveTo>
                    <a:pt x="192239" y="0"/>
                  </a:moveTo>
                  <a:lnTo>
                    <a:pt x="142419" y="6434"/>
                  </a:lnTo>
                  <a:lnTo>
                    <a:pt x="96113" y="25565"/>
                  </a:lnTo>
                  <a:lnTo>
                    <a:pt x="56246" y="56070"/>
                  </a:lnTo>
                  <a:lnTo>
                    <a:pt x="25552" y="95757"/>
                  </a:lnTo>
                  <a:lnTo>
                    <a:pt x="6565" y="142063"/>
                  </a:lnTo>
                  <a:lnTo>
                    <a:pt x="0" y="191884"/>
                  </a:lnTo>
                  <a:lnTo>
                    <a:pt x="1663" y="217074"/>
                  </a:lnTo>
                  <a:lnTo>
                    <a:pt x="14573" y="265436"/>
                  </a:lnTo>
                  <a:lnTo>
                    <a:pt x="39619" y="308888"/>
                  </a:lnTo>
                  <a:lnTo>
                    <a:pt x="75167" y="344192"/>
                  </a:lnTo>
                  <a:lnTo>
                    <a:pt x="118675" y="369390"/>
                  </a:lnTo>
                  <a:lnTo>
                    <a:pt x="167042" y="382452"/>
                  </a:lnTo>
                  <a:lnTo>
                    <a:pt x="192239" y="384124"/>
                  </a:lnTo>
                  <a:lnTo>
                    <a:pt x="217224" y="382452"/>
                  </a:lnTo>
                  <a:lnTo>
                    <a:pt x="265441" y="369390"/>
                  </a:lnTo>
                  <a:lnTo>
                    <a:pt x="308943" y="344192"/>
                  </a:lnTo>
                  <a:lnTo>
                    <a:pt x="344492" y="308888"/>
                  </a:lnTo>
                  <a:lnTo>
                    <a:pt x="369538" y="265436"/>
                  </a:lnTo>
                  <a:lnTo>
                    <a:pt x="382447" y="217074"/>
                  </a:lnTo>
                  <a:lnTo>
                    <a:pt x="384111" y="191884"/>
                  </a:lnTo>
                  <a:lnTo>
                    <a:pt x="382447" y="166686"/>
                  </a:lnTo>
                  <a:lnTo>
                    <a:pt x="369538" y="118319"/>
                  </a:lnTo>
                  <a:lnTo>
                    <a:pt x="344492" y="74867"/>
                  </a:lnTo>
                  <a:lnTo>
                    <a:pt x="308943" y="39568"/>
                  </a:lnTo>
                  <a:lnTo>
                    <a:pt x="265441" y="14428"/>
                  </a:lnTo>
                  <a:lnTo>
                    <a:pt x="217224" y="1613"/>
                  </a:lnTo>
                  <a:lnTo>
                    <a:pt x="192239" y="0"/>
                  </a:lnTo>
                  <a:close/>
                </a:path>
              </a:pathLst>
            </a:custGeom>
            <a:solidFill>
              <a:srgbClr val="6C27D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83" name="Google Shape;83;p2"/>
          <p:cNvSpPr txBox="1"/>
          <p:nvPr/>
        </p:nvSpPr>
        <p:spPr>
          <a:xfrm>
            <a:off x="4669104" y="1261340"/>
            <a:ext cx="1582420" cy="1452880"/>
          </a:xfrm>
          <a:prstGeom prst="rect">
            <a:avLst/>
          </a:prstGeom>
          <a:noFill/>
          <a:ln>
            <a:noFill/>
          </a:ln>
        </p:spPr>
        <p:txBody>
          <a:bodyPr anchorCtr="0" anchor="t" bIns="0" lIns="0" spcFirstLastPara="1" rIns="0" wrap="square" tIns="12700">
            <a:spAutoFit/>
          </a:bodyPr>
          <a:lstStyle/>
          <a:p>
            <a:pPr indent="0" lvl="0" marL="159385" rtl="0" algn="l">
              <a:lnSpc>
                <a:spcPct val="100000"/>
              </a:lnSpc>
              <a:spcBef>
                <a:spcPts val="0"/>
              </a:spcBef>
              <a:spcAft>
                <a:spcPts val="0"/>
              </a:spcAft>
              <a:buNone/>
            </a:pPr>
            <a:r>
              <a:rPr b="1" lang="en-US" sz="1400">
                <a:solidFill>
                  <a:srgbClr val="FFFFFF"/>
                </a:solidFill>
                <a:latin typeface="Calibri"/>
                <a:ea typeface="Calibri"/>
                <a:cs typeface="Calibri"/>
                <a:sym typeface="Calibri"/>
              </a:rPr>
              <a:t>3</a:t>
            </a:r>
            <a:endParaRPr sz="1400">
              <a:latin typeface="Calibri"/>
              <a:ea typeface="Calibri"/>
              <a:cs typeface="Calibri"/>
              <a:sym typeface="Calibri"/>
            </a:endParaRPr>
          </a:p>
          <a:p>
            <a:pPr indent="0" lvl="0" marL="12700" rtl="0" algn="l">
              <a:lnSpc>
                <a:spcPct val="100000"/>
              </a:lnSpc>
              <a:spcBef>
                <a:spcPts val="1310"/>
              </a:spcBef>
              <a:spcAft>
                <a:spcPts val="0"/>
              </a:spcAft>
              <a:buNone/>
            </a:pPr>
            <a:r>
              <a:rPr b="1" lang="en-US" sz="1350">
                <a:solidFill>
                  <a:srgbClr val="0C1A29"/>
                </a:solidFill>
                <a:latin typeface="Calibri"/>
                <a:ea typeface="Calibri"/>
                <a:cs typeface="Calibri"/>
                <a:sym typeface="Calibri"/>
              </a:rPr>
              <a:t>Voice assistants</a:t>
            </a:r>
            <a:endParaRPr sz="1350">
              <a:latin typeface="Calibri"/>
              <a:ea typeface="Calibri"/>
              <a:cs typeface="Calibri"/>
              <a:sym typeface="Calibri"/>
            </a:endParaRPr>
          </a:p>
          <a:p>
            <a:pPr indent="0" lvl="0" marL="12700" marR="5080" rtl="0" algn="l">
              <a:lnSpc>
                <a:spcPct val="105000"/>
              </a:lnSpc>
              <a:spcBef>
                <a:spcPts val="835"/>
              </a:spcBef>
              <a:spcAft>
                <a:spcPts val="0"/>
              </a:spcAft>
              <a:buNone/>
            </a:pPr>
            <a:r>
              <a:rPr lang="en-US" sz="1150">
                <a:solidFill>
                  <a:srgbClr val="1E2836"/>
                </a:solidFill>
                <a:latin typeface="Calibri"/>
                <a:ea typeface="Calibri"/>
                <a:cs typeface="Calibri"/>
                <a:sym typeface="Calibri"/>
              </a:rPr>
              <a:t>"Set an alarm for 6" works even in a noisy kitchen.</a:t>
            </a:r>
            <a:endParaRPr sz="1150">
              <a:latin typeface="Calibri"/>
              <a:ea typeface="Calibri"/>
              <a:cs typeface="Calibri"/>
              <a:sym typeface="Calibri"/>
            </a:endParaRPr>
          </a:p>
          <a:p>
            <a:pPr indent="0" lvl="0" marL="12700" marR="231140" rtl="0" algn="l">
              <a:lnSpc>
                <a:spcPct val="105000"/>
              </a:lnSpc>
              <a:spcBef>
                <a:spcPts val="0"/>
              </a:spcBef>
              <a:spcAft>
                <a:spcPts val="0"/>
              </a:spcAft>
              <a:buNone/>
            </a:pPr>
            <a:r>
              <a:rPr lang="en-US" sz="1150">
                <a:solidFill>
                  <a:srgbClr val="1E2836"/>
                </a:solidFill>
                <a:latin typeface="Calibri"/>
                <a:ea typeface="Calibri"/>
                <a:cs typeface="Calibri"/>
                <a:sym typeface="Calibri"/>
              </a:rPr>
              <a:t>Audio is a sequence of frames.</a:t>
            </a:r>
            <a:endParaRPr sz="1150">
              <a:latin typeface="Calibri"/>
              <a:ea typeface="Calibri"/>
              <a:cs typeface="Calibri"/>
              <a:sym typeface="Calibri"/>
            </a:endParaRPr>
          </a:p>
        </p:txBody>
      </p:sp>
      <p:sp>
        <p:nvSpPr>
          <p:cNvPr id="84" name="Google Shape;84;p2"/>
          <p:cNvSpPr/>
          <p:nvPr/>
        </p:nvSpPr>
        <p:spPr>
          <a:xfrm>
            <a:off x="4636084" y="3053882"/>
            <a:ext cx="1719580" cy="402590"/>
          </a:xfrm>
          <a:custGeom>
            <a:rect b="b" l="l" r="r" t="t"/>
            <a:pathLst>
              <a:path extrusionOk="0" h="402589" w="1719579">
                <a:moveTo>
                  <a:pt x="1598040" y="0"/>
                </a:moveTo>
                <a:lnTo>
                  <a:pt x="120599" y="0"/>
                </a:lnTo>
                <a:lnTo>
                  <a:pt x="104979" y="1012"/>
                </a:lnTo>
                <a:lnTo>
                  <a:pt x="60477" y="16205"/>
                </a:lnTo>
                <a:lnTo>
                  <a:pt x="24933" y="46980"/>
                </a:lnTo>
                <a:lnTo>
                  <a:pt x="4048" y="89284"/>
                </a:lnTo>
                <a:lnTo>
                  <a:pt x="0" y="120599"/>
                </a:lnTo>
                <a:lnTo>
                  <a:pt x="0" y="281876"/>
                </a:lnTo>
                <a:lnTo>
                  <a:pt x="1002" y="297346"/>
                </a:lnTo>
                <a:lnTo>
                  <a:pt x="1012" y="297496"/>
                </a:lnTo>
                <a:lnTo>
                  <a:pt x="16192" y="341998"/>
                </a:lnTo>
                <a:lnTo>
                  <a:pt x="46978" y="377542"/>
                </a:lnTo>
                <a:lnTo>
                  <a:pt x="89274" y="398427"/>
                </a:lnTo>
                <a:lnTo>
                  <a:pt x="120599" y="402475"/>
                </a:lnTo>
                <a:lnTo>
                  <a:pt x="1598396" y="402120"/>
                </a:lnTo>
                <a:lnTo>
                  <a:pt x="1644313" y="393006"/>
                </a:lnTo>
                <a:lnTo>
                  <a:pt x="1683621" y="366928"/>
                </a:lnTo>
                <a:lnTo>
                  <a:pt x="1709879" y="327792"/>
                </a:lnTo>
                <a:lnTo>
                  <a:pt x="1718973" y="281876"/>
                </a:lnTo>
                <a:lnTo>
                  <a:pt x="1718995" y="281520"/>
                </a:lnTo>
                <a:lnTo>
                  <a:pt x="1718640" y="120599"/>
                </a:lnTo>
                <a:lnTo>
                  <a:pt x="1709521" y="74682"/>
                </a:lnTo>
                <a:lnTo>
                  <a:pt x="1683443" y="35374"/>
                </a:lnTo>
                <a:lnTo>
                  <a:pt x="1644307" y="9113"/>
                </a:lnTo>
                <a:lnTo>
                  <a:pt x="1613866" y="1012"/>
                </a:lnTo>
                <a:lnTo>
                  <a:pt x="1598040" y="0"/>
                </a:lnTo>
                <a:close/>
              </a:path>
            </a:pathLst>
          </a:custGeom>
          <a:solidFill>
            <a:srgbClr val="F0EBF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5" name="Google Shape;85;p2"/>
          <p:cNvSpPr txBox="1"/>
          <p:nvPr/>
        </p:nvSpPr>
        <p:spPr>
          <a:xfrm>
            <a:off x="4957826" y="3112822"/>
            <a:ext cx="1076325" cy="300355"/>
          </a:xfrm>
          <a:prstGeom prst="rect">
            <a:avLst/>
          </a:prstGeom>
          <a:noFill/>
          <a:ln>
            <a:noFill/>
          </a:ln>
        </p:spPr>
        <p:txBody>
          <a:bodyPr anchorCtr="0" anchor="t" bIns="0" lIns="0" spcFirstLastPara="1" rIns="0" wrap="square" tIns="12700">
            <a:spAutoFit/>
          </a:bodyPr>
          <a:lstStyle/>
          <a:p>
            <a:pPr indent="-243204" lvl="0" marL="255270" marR="5080" rtl="0" algn="l">
              <a:lnSpc>
                <a:spcPct val="100000"/>
              </a:lnSpc>
              <a:spcBef>
                <a:spcPts val="0"/>
              </a:spcBef>
              <a:spcAft>
                <a:spcPts val="0"/>
              </a:spcAft>
              <a:buNone/>
            </a:pPr>
            <a:r>
              <a:rPr b="1" lang="en-US" sz="900">
                <a:solidFill>
                  <a:srgbClr val="6C27D8"/>
                </a:solidFill>
                <a:latin typeface="Calibri"/>
                <a:ea typeface="Calibri"/>
                <a:cs typeface="Calibri"/>
                <a:sym typeface="Calibri"/>
              </a:rPr>
              <a:t>Inside: </a:t>
            </a:r>
            <a:r>
              <a:rPr lang="en-US" sz="900">
                <a:solidFill>
                  <a:srgbClr val="6C27D8"/>
                </a:solidFill>
                <a:latin typeface="Calibri"/>
                <a:ea typeface="Calibri"/>
                <a:cs typeface="Calibri"/>
                <a:sym typeface="Calibri"/>
              </a:rPr>
              <a:t>LSTM (2015) → Transformer</a:t>
            </a:r>
            <a:endParaRPr sz="900">
              <a:latin typeface="Calibri"/>
              <a:ea typeface="Calibri"/>
              <a:cs typeface="Calibri"/>
              <a:sym typeface="Calibri"/>
            </a:endParaRPr>
          </a:p>
        </p:txBody>
      </p:sp>
      <p:grpSp>
        <p:nvGrpSpPr>
          <p:cNvPr id="86" name="Google Shape;86;p2"/>
          <p:cNvGrpSpPr/>
          <p:nvPr/>
        </p:nvGrpSpPr>
        <p:grpSpPr>
          <a:xfrm>
            <a:off x="6553796" y="1013385"/>
            <a:ext cx="2016366" cy="2628734"/>
            <a:chOff x="6553796" y="1013385"/>
            <a:chExt cx="2016366" cy="2628734"/>
          </a:xfrm>
        </p:grpSpPr>
        <p:pic>
          <p:nvPicPr>
            <p:cNvPr id="87" name="Google Shape;87;p2"/>
            <p:cNvPicPr preferRelativeResize="0"/>
            <p:nvPr/>
          </p:nvPicPr>
          <p:blipFill rotWithShape="1">
            <a:blip r:embed="rId4">
              <a:alphaModFix/>
            </a:blip>
            <a:srcRect b="0" l="0" r="0" t="0"/>
            <a:stretch/>
          </p:blipFill>
          <p:spPr>
            <a:xfrm>
              <a:off x="6553796" y="1013385"/>
              <a:ext cx="2016366" cy="2628734"/>
            </a:xfrm>
            <a:prstGeom prst="rect">
              <a:avLst/>
            </a:prstGeom>
            <a:noFill/>
            <a:ln>
              <a:noFill/>
            </a:ln>
          </p:spPr>
        </p:pic>
        <p:sp>
          <p:nvSpPr>
            <p:cNvPr id="88" name="Google Shape;88;p2"/>
            <p:cNvSpPr/>
            <p:nvPr/>
          </p:nvSpPr>
          <p:spPr>
            <a:xfrm>
              <a:off x="6610680" y="1051206"/>
              <a:ext cx="1902460" cy="2515235"/>
            </a:xfrm>
            <a:custGeom>
              <a:rect b="b" l="l" r="r" t="t"/>
              <a:pathLst>
                <a:path extrusionOk="0" h="2515235" w="1902459">
                  <a:moveTo>
                    <a:pt x="114477" y="0"/>
                  </a:moveTo>
                  <a:lnTo>
                    <a:pt x="70790" y="8652"/>
                  </a:lnTo>
                  <a:lnTo>
                    <a:pt x="33659" y="33342"/>
                  </a:lnTo>
                  <a:lnTo>
                    <a:pt x="9019" y="70577"/>
                  </a:lnTo>
                  <a:lnTo>
                    <a:pt x="355" y="114109"/>
                  </a:lnTo>
                  <a:lnTo>
                    <a:pt x="0" y="2400833"/>
                  </a:lnTo>
                  <a:lnTo>
                    <a:pt x="995" y="2415804"/>
                  </a:lnTo>
                  <a:lnTo>
                    <a:pt x="15125" y="2458072"/>
                  </a:lnTo>
                  <a:lnTo>
                    <a:pt x="23372" y="2470322"/>
                  </a:lnTo>
                  <a:lnTo>
                    <a:pt x="23473" y="2470472"/>
                  </a:lnTo>
                  <a:lnTo>
                    <a:pt x="57238" y="2499829"/>
                  </a:lnTo>
                  <a:lnTo>
                    <a:pt x="99156" y="2513960"/>
                  </a:lnTo>
                  <a:lnTo>
                    <a:pt x="114122" y="2514955"/>
                  </a:lnTo>
                  <a:lnTo>
                    <a:pt x="1788121" y="2514955"/>
                  </a:lnTo>
                  <a:lnTo>
                    <a:pt x="1831809" y="2506297"/>
                  </a:lnTo>
                  <a:lnTo>
                    <a:pt x="1868889" y="2481656"/>
                  </a:lnTo>
                  <a:lnTo>
                    <a:pt x="1893507" y="2444522"/>
                  </a:lnTo>
                  <a:lnTo>
                    <a:pt x="1902244" y="2400833"/>
                  </a:lnTo>
                  <a:lnTo>
                    <a:pt x="1902219" y="114109"/>
                  </a:lnTo>
                  <a:lnTo>
                    <a:pt x="1893580" y="70788"/>
                  </a:lnTo>
                  <a:lnTo>
                    <a:pt x="1868895" y="33655"/>
                  </a:lnTo>
                  <a:lnTo>
                    <a:pt x="1831659" y="9013"/>
                  </a:lnTo>
                  <a:lnTo>
                    <a:pt x="1788121" y="355"/>
                  </a:lnTo>
                  <a:lnTo>
                    <a:pt x="114477"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9" name="Google Shape;89;p2"/>
            <p:cNvSpPr/>
            <p:nvPr/>
          </p:nvSpPr>
          <p:spPr>
            <a:xfrm>
              <a:off x="6610680" y="1051206"/>
              <a:ext cx="1902460" cy="2515235"/>
            </a:xfrm>
            <a:custGeom>
              <a:rect b="b" l="l" r="r" t="t"/>
              <a:pathLst>
                <a:path extrusionOk="0" h="2515235" w="1902459">
                  <a:moveTo>
                    <a:pt x="355" y="114109"/>
                  </a:moveTo>
                  <a:lnTo>
                    <a:pt x="1352" y="99149"/>
                  </a:lnTo>
                  <a:lnTo>
                    <a:pt x="4275" y="84593"/>
                  </a:lnTo>
                  <a:lnTo>
                    <a:pt x="23829" y="44632"/>
                  </a:lnTo>
                  <a:lnTo>
                    <a:pt x="57238" y="15112"/>
                  </a:lnTo>
                  <a:lnTo>
                    <a:pt x="99512" y="995"/>
                  </a:lnTo>
                  <a:lnTo>
                    <a:pt x="114477" y="0"/>
                  </a:lnTo>
                  <a:lnTo>
                    <a:pt x="1788121" y="355"/>
                  </a:lnTo>
                  <a:lnTo>
                    <a:pt x="1831659" y="9013"/>
                  </a:lnTo>
                  <a:lnTo>
                    <a:pt x="1868895" y="33655"/>
                  </a:lnTo>
                  <a:lnTo>
                    <a:pt x="1893580" y="70788"/>
                  </a:lnTo>
                  <a:lnTo>
                    <a:pt x="1902244" y="114477"/>
                  </a:lnTo>
                  <a:lnTo>
                    <a:pt x="1902244" y="2400833"/>
                  </a:lnTo>
                  <a:lnTo>
                    <a:pt x="1901246" y="2415798"/>
                  </a:lnTo>
                  <a:lnTo>
                    <a:pt x="1898324" y="2430356"/>
                  </a:lnTo>
                  <a:lnTo>
                    <a:pt x="1878770" y="2470322"/>
                  </a:lnTo>
                  <a:lnTo>
                    <a:pt x="1845360" y="2499829"/>
                  </a:lnTo>
                  <a:lnTo>
                    <a:pt x="1803087" y="2513960"/>
                  </a:lnTo>
                  <a:lnTo>
                    <a:pt x="1788121" y="2514955"/>
                  </a:lnTo>
                  <a:lnTo>
                    <a:pt x="114122" y="2514955"/>
                  </a:lnTo>
                  <a:lnTo>
                    <a:pt x="70582" y="2506297"/>
                  </a:lnTo>
                  <a:lnTo>
                    <a:pt x="33343" y="2481656"/>
                  </a:lnTo>
                  <a:lnTo>
                    <a:pt x="8658" y="2444522"/>
                  </a:lnTo>
                  <a:lnTo>
                    <a:pt x="0" y="2400833"/>
                  </a:lnTo>
                  <a:lnTo>
                    <a:pt x="355" y="114109"/>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0" name="Google Shape;90;p2"/>
            <p:cNvSpPr/>
            <p:nvPr/>
          </p:nvSpPr>
          <p:spPr>
            <a:xfrm>
              <a:off x="6748195" y="1188722"/>
              <a:ext cx="384175" cy="384175"/>
            </a:xfrm>
            <a:custGeom>
              <a:rect b="b" l="l" r="r" t="t"/>
              <a:pathLst>
                <a:path extrusionOk="0" h="384175" w="384175">
                  <a:moveTo>
                    <a:pt x="192239" y="0"/>
                  </a:moveTo>
                  <a:lnTo>
                    <a:pt x="142430" y="6434"/>
                  </a:lnTo>
                  <a:lnTo>
                    <a:pt x="96126" y="25565"/>
                  </a:lnTo>
                  <a:lnTo>
                    <a:pt x="56254" y="56070"/>
                  </a:lnTo>
                  <a:lnTo>
                    <a:pt x="25565" y="95757"/>
                  </a:lnTo>
                  <a:lnTo>
                    <a:pt x="6572" y="142063"/>
                  </a:lnTo>
                  <a:lnTo>
                    <a:pt x="0" y="191884"/>
                  </a:lnTo>
                  <a:lnTo>
                    <a:pt x="1665" y="217074"/>
                  </a:lnTo>
                  <a:lnTo>
                    <a:pt x="14583" y="265436"/>
                  </a:lnTo>
                  <a:lnTo>
                    <a:pt x="39626" y="308888"/>
                  </a:lnTo>
                  <a:lnTo>
                    <a:pt x="75178" y="344192"/>
                  </a:lnTo>
                  <a:lnTo>
                    <a:pt x="118687" y="369390"/>
                  </a:lnTo>
                  <a:lnTo>
                    <a:pt x="167049" y="382452"/>
                  </a:lnTo>
                  <a:lnTo>
                    <a:pt x="192239" y="384124"/>
                  </a:lnTo>
                  <a:lnTo>
                    <a:pt x="217230" y="382452"/>
                  </a:lnTo>
                  <a:lnTo>
                    <a:pt x="265443" y="369390"/>
                  </a:lnTo>
                  <a:lnTo>
                    <a:pt x="308951" y="344192"/>
                  </a:lnTo>
                  <a:lnTo>
                    <a:pt x="344499" y="308888"/>
                  </a:lnTo>
                  <a:lnTo>
                    <a:pt x="369540" y="265436"/>
                  </a:lnTo>
                  <a:lnTo>
                    <a:pt x="382458" y="217074"/>
                  </a:lnTo>
                  <a:lnTo>
                    <a:pt x="384124" y="191884"/>
                  </a:lnTo>
                  <a:lnTo>
                    <a:pt x="382458" y="166686"/>
                  </a:lnTo>
                  <a:lnTo>
                    <a:pt x="369540" y="118319"/>
                  </a:lnTo>
                  <a:lnTo>
                    <a:pt x="344499" y="74867"/>
                  </a:lnTo>
                  <a:lnTo>
                    <a:pt x="308951" y="39568"/>
                  </a:lnTo>
                  <a:lnTo>
                    <a:pt x="265443" y="14428"/>
                  </a:lnTo>
                  <a:lnTo>
                    <a:pt x="217230" y="1613"/>
                  </a:lnTo>
                  <a:lnTo>
                    <a:pt x="192239" y="0"/>
                  </a:lnTo>
                  <a:close/>
                </a:path>
              </a:pathLst>
            </a:custGeom>
            <a:solidFill>
              <a:srgbClr val="C1400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91" name="Google Shape;91;p2"/>
          <p:cNvSpPr txBox="1"/>
          <p:nvPr/>
        </p:nvSpPr>
        <p:spPr>
          <a:xfrm>
            <a:off x="6735495" y="1261340"/>
            <a:ext cx="1592580" cy="1452880"/>
          </a:xfrm>
          <a:prstGeom prst="rect">
            <a:avLst/>
          </a:prstGeom>
          <a:noFill/>
          <a:ln>
            <a:noFill/>
          </a:ln>
        </p:spPr>
        <p:txBody>
          <a:bodyPr anchorCtr="0" anchor="t" bIns="0" lIns="0" spcFirstLastPara="1" rIns="0" wrap="square" tIns="12700">
            <a:spAutoFit/>
          </a:bodyPr>
          <a:lstStyle/>
          <a:p>
            <a:pPr indent="0" lvl="0" marL="159385" rtl="0" algn="l">
              <a:lnSpc>
                <a:spcPct val="100000"/>
              </a:lnSpc>
              <a:spcBef>
                <a:spcPts val="0"/>
              </a:spcBef>
              <a:spcAft>
                <a:spcPts val="0"/>
              </a:spcAft>
              <a:buNone/>
            </a:pPr>
            <a:r>
              <a:rPr b="1" lang="en-US" sz="1400">
                <a:solidFill>
                  <a:srgbClr val="FFFFFF"/>
                </a:solidFill>
                <a:latin typeface="Calibri"/>
                <a:ea typeface="Calibri"/>
                <a:cs typeface="Calibri"/>
                <a:sym typeface="Calibri"/>
              </a:rPr>
              <a:t>4</a:t>
            </a:r>
            <a:endParaRPr sz="1400">
              <a:latin typeface="Calibri"/>
              <a:ea typeface="Calibri"/>
              <a:cs typeface="Calibri"/>
              <a:sym typeface="Calibri"/>
            </a:endParaRPr>
          </a:p>
          <a:p>
            <a:pPr indent="0" lvl="0" marL="12700" marR="344805" rtl="0" algn="l">
              <a:lnSpc>
                <a:spcPct val="79900"/>
              </a:lnSpc>
              <a:spcBef>
                <a:spcPts val="1560"/>
              </a:spcBef>
              <a:spcAft>
                <a:spcPts val="0"/>
              </a:spcAft>
              <a:buNone/>
            </a:pPr>
            <a:r>
              <a:rPr b="1" lang="en-US" sz="1200">
                <a:solidFill>
                  <a:srgbClr val="0C1A29"/>
                </a:solidFill>
                <a:latin typeface="Calibri"/>
                <a:ea typeface="Calibri"/>
                <a:cs typeface="Calibri"/>
                <a:sym typeface="Calibri"/>
              </a:rPr>
              <a:t>ChatGPT / Gemini / Claude</a:t>
            </a:r>
            <a:endParaRPr sz="1200">
              <a:latin typeface="Calibri"/>
              <a:ea typeface="Calibri"/>
              <a:cs typeface="Calibri"/>
              <a:sym typeface="Calibri"/>
            </a:endParaRPr>
          </a:p>
          <a:p>
            <a:pPr indent="0" lvl="0" marL="12700" rtl="0" algn="l">
              <a:lnSpc>
                <a:spcPct val="117826"/>
              </a:lnSpc>
              <a:spcBef>
                <a:spcPts val="0"/>
              </a:spcBef>
              <a:spcAft>
                <a:spcPts val="0"/>
              </a:spcAft>
              <a:buNone/>
            </a:pPr>
            <a:r>
              <a:rPr lang="en-US" sz="1150">
                <a:solidFill>
                  <a:srgbClr val="1E2836"/>
                </a:solidFill>
                <a:latin typeface="Calibri"/>
                <a:ea typeface="Calibri"/>
                <a:cs typeface="Calibri"/>
                <a:sym typeface="Calibri"/>
              </a:rPr>
              <a:t>Drafts your email, explains</a:t>
            </a:r>
            <a:endParaRPr sz="1150">
              <a:latin typeface="Calibri"/>
              <a:ea typeface="Calibri"/>
              <a:cs typeface="Calibri"/>
              <a:sym typeface="Calibri"/>
            </a:endParaRPr>
          </a:p>
          <a:p>
            <a:pPr indent="0" lvl="0" marL="12700" marR="5080" rtl="0" algn="l">
              <a:lnSpc>
                <a:spcPct val="105000"/>
              </a:lnSpc>
              <a:spcBef>
                <a:spcPts val="0"/>
              </a:spcBef>
              <a:spcAft>
                <a:spcPts val="0"/>
              </a:spcAft>
              <a:buNone/>
            </a:pPr>
            <a:r>
              <a:rPr lang="en-US" sz="1150">
                <a:solidFill>
                  <a:srgbClr val="1E2836"/>
                </a:solidFill>
                <a:latin typeface="Calibri"/>
                <a:ea typeface="Calibri"/>
                <a:cs typeface="Calibri"/>
                <a:sym typeface="Calibri"/>
              </a:rPr>
              <a:t>your code, and sometimes your excuses for a late assignment.</a:t>
            </a:r>
            <a:endParaRPr sz="1150">
              <a:latin typeface="Calibri"/>
              <a:ea typeface="Calibri"/>
              <a:cs typeface="Calibri"/>
              <a:sym typeface="Calibri"/>
            </a:endParaRPr>
          </a:p>
        </p:txBody>
      </p:sp>
      <p:sp>
        <p:nvSpPr>
          <p:cNvPr id="92" name="Google Shape;92;p2"/>
          <p:cNvSpPr/>
          <p:nvPr/>
        </p:nvSpPr>
        <p:spPr>
          <a:xfrm>
            <a:off x="6702476" y="3053882"/>
            <a:ext cx="1719580" cy="402590"/>
          </a:xfrm>
          <a:custGeom>
            <a:rect b="b" l="l" r="r" t="t"/>
            <a:pathLst>
              <a:path extrusionOk="0" h="402589" w="1719579">
                <a:moveTo>
                  <a:pt x="1598040" y="0"/>
                </a:moveTo>
                <a:lnTo>
                  <a:pt x="120599" y="0"/>
                </a:lnTo>
                <a:lnTo>
                  <a:pt x="104979" y="1012"/>
                </a:lnTo>
                <a:lnTo>
                  <a:pt x="60490" y="16205"/>
                </a:lnTo>
                <a:lnTo>
                  <a:pt x="24946" y="46980"/>
                </a:lnTo>
                <a:lnTo>
                  <a:pt x="4054" y="89284"/>
                </a:lnTo>
                <a:lnTo>
                  <a:pt x="0" y="120599"/>
                </a:lnTo>
                <a:lnTo>
                  <a:pt x="0" y="281876"/>
                </a:lnTo>
                <a:lnTo>
                  <a:pt x="1004" y="297346"/>
                </a:lnTo>
                <a:lnTo>
                  <a:pt x="1014" y="297496"/>
                </a:lnTo>
                <a:lnTo>
                  <a:pt x="16205" y="341998"/>
                </a:lnTo>
                <a:lnTo>
                  <a:pt x="46985" y="377542"/>
                </a:lnTo>
                <a:lnTo>
                  <a:pt x="89284" y="398427"/>
                </a:lnTo>
                <a:lnTo>
                  <a:pt x="120599" y="402475"/>
                </a:lnTo>
                <a:lnTo>
                  <a:pt x="1598409" y="402120"/>
                </a:lnTo>
                <a:lnTo>
                  <a:pt x="1644320" y="393006"/>
                </a:lnTo>
                <a:lnTo>
                  <a:pt x="1683632" y="366928"/>
                </a:lnTo>
                <a:lnTo>
                  <a:pt x="1709886" y="327792"/>
                </a:lnTo>
                <a:lnTo>
                  <a:pt x="1718985" y="281876"/>
                </a:lnTo>
                <a:lnTo>
                  <a:pt x="1719008" y="281520"/>
                </a:lnTo>
                <a:lnTo>
                  <a:pt x="1718640" y="120599"/>
                </a:lnTo>
                <a:lnTo>
                  <a:pt x="1709531" y="74682"/>
                </a:lnTo>
                <a:lnTo>
                  <a:pt x="1683454" y="35374"/>
                </a:lnTo>
                <a:lnTo>
                  <a:pt x="1644314" y="9113"/>
                </a:lnTo>
                <a:lnTo>
                  <a:pt x="1613873" y="1012"/>
                </a:lnTo>
                <a:lnTo>
                  <a:pt x="1598040" y="0"/>
                </a:lnTo>
                <a:close/>
              </a:path>
            </a:pathLst>
          </a:custGeom>
          <a:solidFill>
            <a:srgbClr val="FFF0E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3" name="Google Shape;93;p2"/>
          <p:cNvSpPr txBox="1"/>
          <p:nvPr/>
        </p:nvSpPr>
        <p:spPr>
          <a:xfrm>
            <a:off x="7047624" y="3165743"/>
            <a:ext cx="1028700" cy="1784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000">
                <a:solidFill>
                  <a:srgbClr val="C1400B"/>
                </a:solidFill>
                <a:latin typeface="Calibri"/>
                <a:ea typeface="Calibri"/>
                <a:cs typeface="Calibri"/>
                <a:sym typeface="Calibri"/>
              </a:rPr>
              <a:t>Inside: </a:t>
            </a:r>
            <a:r>
              <a:rPr lang="en-US" sz="1000">
                <a:solidFill>
                  <a:srgbClr val="C1400B"/>
                </a:solidFill>
                <a:latin typeface="Calibri"/>
                <a:ea typeface="Calibri"/>
                <a:cs typeface="Calibri"/>
                <a:sym typeface="Calibri"/>
              </a:rPr>
              <a:t>Transformer</a:t>
            </a:r>
            <a:endParaRPr sz="1000">
              <a:latin typeface="Calibri"/>
              <a:ea typeface="Calibri"/>
              <a:cs typeface="Calibri"/>
              <a:sym typeface="Calibri"/>
            </a:endParaRPr>
          </a:p>
        </p:txBody>
      </p:sp>
      <p:sp>
        <p:nvSpPr>
          <p:cNvPr id="94" name="Google Shape;94;p2"/>
          <p:cNvSpPr txBox="1"/>
          <p:nvPr/>
        </p:nvSpPr>
        <p:spPr>
          <a:xfrm>
            <a:off x="398424" y="3900502"/>
            <a:ext cx="101028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200">
                <a:solidFill>
                  <a:srgbClr val="465468"/>
                </a:solidFill>
                <a:latin typeface="Calibri"/>
                <a:ea typeface="Calibri"/>
                <a:cs typeface="Calibri"/>
                <a:sym typeface="Calibri"/>
              </a:rPr>
              <a:t>Today's journey</a:t>
            </a:r>
            <a:endParaRPr sz="1200">
              <a:latin typeface="Calibri"/>
              <a:ea typeface="Calibri"/>
              <a:cs typeface="Calibri"/>
              <a:sym typeface="Calibri"/>
            </a:endParaRPr>
          </a:p>
        </p:txBody>
      </p:sp>
      <p:sp>
        <p:nvSpPr>
          <p:cNvPr id="95" name="Google Shape;95;p2"/>
          <p:cNvSpPr/>
          <p:nvPr/>
        </p:nvSpPr>
        <p:spPr>
          <a:xfrm>
            <a:off x="1828444" y="3840481"/>
            <a:ext cx="960755" cy="347980"/>
          </a:xfrm>
          <a:custGeom>
            <a:rect b="b" l="l" r="r" t="t"/>
            <a:pathLst>
              <a:path extrusionOk="0" h="347979" w="960755">
                <a:moveTo>
                  <a:pt x="856081" y="0"/>
                </a:moveTo>
                <a:lnTo>
                  <a:pt x="104749" y="0"/>
                </a:lnTo>
                <a:lnTo>
                  <a:pt x="91049" y="878"/>
                </a:lnTo>
                <a:lnTo>
                  <a:pt x="52552" y="13677"/>
                </a:lnTo>
                <a:lnTo>
                  <a:pt x="21929" y="40513"/>
                </a:lnTo>
                <a:lnTo>
                  <a:pt x="3868" y="76992"/>
                </a:lnTo>
                <a:lnTo>
                  <a:pt x="0" y="243001"/>
                </a:lnTo>
                <a:lnTo>
                  <a:pt x="0" y="243357"/>
                </a:lnTo>
                <a:lnTo>
                  <a:pt x="917" y="256677"/>
                </a:lnTo>
                <a:lnTo>
                  <a:pt x="928" y="256827"/>
                </a:lnTo>
                <a:lnTo>
                  <a:pt x="14033" y="295198"/>
                </a:lnTo>
                <a:lnTo>
                  <a:pt x="40868" y="325827"/>
                </a:lnTo>
                <a:lnTo>
                  <a:pt x="77347" y="343889"/>
                </a:lnTo>
                <a:lnTo>
                  <a:pt x="104393" y="347395"/>
                </a:lnTo>
                <a:lnTo>
                  <a:pt x="856437" y="347395"/>
                </a:lnTo>
                <a:lnTo>
                  <a:pt x="869151" y="346519"/>
                </a:lnTo>
                <a:lnTo>
                  <a:pt x="869649" y="346519"/>
                </a:lnTo>
                <a:lnTo>
                  <a:pt x="908278" y="333362"/>
                </a:lnTo>
                <a:lnTo>
                  <a:pt x="938857" y="306576"/>
                </a:lnTo>
                <a:lnTo>
                  <a:pt x="956947" y="270092"/>
                </a:lnTo>
                <a:lnTo>
                  <a:pt x="960452" y="243357"/>
                </a:lnTo>
                <a:lnTo>
                  <a:pt x="960451" y="104038"/>
                </a:lnTo>
                <a:lnTo>
                  <a:pt x="952422" y="64453"/>
                </a:lnTo>
                <a:lnTo>
                  <a:pt x="929782" y="30554"/>
                </a:lnTo>
                <a:lnTo>
                  <a:pt x="896022" y="7902"/>
                </a:lnTo>
                <a:lnTo>
                  <a:pt x="869752" y="878"/>
                </a:lnTo>
                <a:lnTo>
                  <a:pt x="856081" y="0"/>
                </a:lnTo>
                <a:close/>
              </a:path>
            </a:pathLst>
          </a:custGeom>
          <a:solidFill>
            <a:srgbClr val="E7ED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6" name="Google Shape;96;p2"/>
          <p:cNvSpPr txBox="1"/>
          <p:nvPr/>
        </p:nvSpPr>
        <p:spPr>
          <a:xfrm>
            <a:off x="2158822" y="3913456"/>
            <a:ext cx="300355" cy="2012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50">
                <a:solidFill>
                  <a:srgbClr val="1D3FAE"/>
                </a:solidFill>
                <a:latin typeface="Calibri"/>
                <a:ea typeface="Calibri"/>
                <a:cs typeface="Calibri"/>
                <a:sym typeface="Calibri"/>
              </a:rPr>
              <a:t>RNN</a:t>
            </a:r>
            <a:endParaRPr sz="1150">
              <a:latin typeface="Calibri"/>
              <a:ea typeface="Calibri"/>
              <a:cs typeface="Calibri"/>
              <a:sym typeface="Calibri"/>
            </a:endParaRPr>
          </a:p>
        </p:txBody>
      </p:sp>
      <p:grpSp>
        <p:nvGrpSpPr>
          <p:cNvPr id="97" name="Google Shape;97;p2"/>
          <p:cNvGrpSpPr/>
          <p:nvPr/>
        </p:nvGrpSpPr>
        <p:grpSpPr>
          <a:xfrm>
            <a:off x="2834639" y="3840481"/>
            <a:ext cx="1261795" cy="347980"/>
            <a:chOff x="2834639" y="3840481"/>
            <a:chExt cx="1261795" cy="347980"/>
          </a:xfrm>
        </p:grpSpPr>
        <p:sp>
          <p:nvSpPr>
            <p:cNvPr id="98" name="Google Shape;98;p2"/>
            <p:cNvSpPr/>
            <p:nvPr/>
          </p:nvSpPr>
          <p:spPr>
            <a:xfrm>
              <a:off x="2834639" y="3940557"/>
              <a:ext cx="256540" cy="146685"/>
            </a:xfrm>
            <a:custGeom>
              <a:rect b="b" l="l" r="r" t="t"/>
              <a:pathLst>
                <a:path extrusionOk="0" h="146685" w="256539">
                  <a:moveTo>
                    <a:pt x="182880" y="0"/>
                  </a:moveTo>
                  <a:lnTo>
                    <a:pt x="182880" y="36360"/>
                  </a:lnTo>
                  <a:lnTo>
                    <a:pt x="0" y="36360"/>
                  </a:lnTo>
                  <a:lnTo>
                    <a:pt x="0" y="109448"/>
                  </a:lnTo>
                  <a:lnTo>
                    <a:pt x="182880" y="109448"/>
                  </a:lnTo>
                  <a:lnTo>
                    <a:pt x="182880" y="146164"/>
                  </a:lnTo>
                  <a:lnTo>
                    <a:pt x="255955" y="73088"/>
                  </a:lnTo>
                  <a:lnTo>
                    <a:pt x="182880" y="0"/>
                  </a:lnTo>
                  <a:close/>
                </a:path>
              </a:pathLst>
            </a:custGeom>
            <a:solidFill>
              <a:srgbClr val="93A2B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9" name="Google Shape;99;p2"/>
            <p:cNvSpPr/>
            <p:nvPr/>
          </p:nvSpPr>
          <p:spPr>
            <a:xfrm>
              <a:off x="3136315" y="3840481"/>
              <a:ext cx="960119" cy="347980"/>
            </a:xfrm>
            <a:custGeom>
              <a:rect b="b" l="l" r="r" t="t"/>
              <a:pathLst>
                <a:path extrusionOk="0" h="347979" w="960120">
                  <a:moveTo>
                    <a:pt x="855726" y="0"/>
                  </a:moveTo>
                  <a:lnTo>
                    <a:pt x="104406" y="0"/>
                  </a:lnTo>
                  <a:lnTo>
                    <a:pt x="90700" y="878"/>
                  </a:lnTo>
                  <a:lnTo>
                    <a:pt x="52209" y="13677"/>
                  </a:lnTo>
                  <a:lnTo>
                    <a:pt x="21579" y="40513"/>
                  </a:lnTo>
                  <a:lnTo>
                    <a:pt x="3513" y="76992"/>
                  </a:lnTo>
                  <a:lnTo>
                    <a:pt x="0" y="104038"/>
                  </a:lnTo>
                  <a:lnTo>
                    <a:pt x="0" y="243357"/>
                  </a:lnTo>
                  <a:lnTo>
                    <a:pt x="7747" y="282949"/>
                  </a:lnTo>
                  <a:lnTo>
                    <a:pt x="30219" y="316709"/>
                  </a:lnTo>
                  <a:lnTo>
                    <a:pt x="64097" y="339503"/>
                  </a:lnTo>
                  <a:lnTo>
                    <a:pt x="104038" y="347395"/>
                  </a:lnTo>
                  <a:lnTo>
                    <a:pt x="856081" y="347395"/>
                  </a:lnTo>
                  <a:lnTo>
                    <a:pt x="868800" y="346519"/>
                  </a:lnTo>
                  <a:lnTo>
                    <a:pt x="869299" y="346519"/>
                  </a:lnTo>
                  <a:lnTo>
                    <a:pt x="907923" y="333362"/>
                  </a:lnTo>
                  <a:lnTo>
                    <a:pt x="938507" y="306576"/>
                  </a:lnTo>
                  <a:lnTo>
                    <a:pt x="956598" y="270092"/>
                  </a:lnTo>
                  <a:lnTo>
                    <a:pt x="960097" y="243357"/>
                  </a:lnTo>
                  <a:lnTo>
                    <a:pt x="960095" y="104038"/>
                  </a:lnTo>
                  <a:lnTo>
                    <a:pt x="952072" y="64453"/>
                  </a:lnTo>
                  <a:lnTo>
                    <a:pt x="929433" y="30554"/>
                  </a:lnTo>
                  <a:lnTo>
                    <a:pt x="895668" y="7902"/>
                  </a:lnTo>
                  <a:lnTo>
                    <a:pt x="869402" y="878"/>
                  </a:lnTo>
                  <a:lnTo>
                    <a:pt x="855726" y="0"/>
                  </a:lnTo>
                  <a:close/>
                </a:path>
              </a:pathLst>
            </a:custGeom>
            <a:solidFill>
              <a:srgbClr val="E5F3F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00" name="Google Shape;100;p2"/>
          <p:cNvSpPr txBox="1"/>
          <p:nvPr/>
        </p:nvSpPr>
        <p:spPr>
          <a:xfrm>
            <a:off x="3438982" y="3913456"/>
            <a:ext cx="354965" cy="2012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50">
                <a:solidFill>
                  <a:srgbClr val="0E756D"/>
                </a:solidFill>
                <a:latin typeface="Calibri"/>
                <a:ea typeface="Calibri"/>
                <a:cs typeface="Calibri"/>
                <a:sym typeface="Calibri"/>
              </a:rPr>
              <a:t>LSTM</a:t>
            </a:r>
            <a:endParaRPr sz="1150">
              <a:latin typeface="Calibri"/>
              <a:ea typeface="Calibri"/>
              <a:cs typeface="Calibri"/>
              <a:sym typeface="Calibri"/>
            </a:endParaRPr>
          </a:p>
        </p:txBody>
      </p:sp>
      <p:grpSp>
        <p:nvGrpSpPr>
          <p:cNvPr id="101" name="Google Shape;101;p2"/>
          <p:cNvGrpSpPr/>
          <p:nvPr/>
        </p:nvGrpSpPr>
        <p:grpSpPr>
          <a:xfrm>
            <a:off x="4142155" y="3840481"/>
            <a:ext cx="1261808" cy="347980"/>
            <a:chOff x="4142155" y="3840481"/>
            <a:chExt cx="1261808" cy="347980"/>
          </a:xfrm>
        </p:grpSpPr>
        <p:sp>
          <p:nvSpPr>
            <p:cNvPr id="102" name="Google Shape;102;p2"/>
            <p:cNvSpPr/>
            <p:nvPr/>
          </p:nvSpPr>
          <p:spPr>
            <a:xfrm>
              <a:off x="4142155" y="3940557"/>
              <a:ext cx="256540" cy="146685"/>
            </a:xfrm>
            <a:custGeom>
              <a:rect b="b" l="l" r="r" t="t"/>
              <a:pathLst>
                <a:path extrusionOk="0" h="146685" w="256539">
                  <a:moveTo>
                    <a:pt x="182879" y="0"/>
                  </a:moveTo>
                  <a:lnTo>
                    <a:pt x="182879" y="36360"/>
                  </a:lnTo>
                  <a:lnTo>
                    <a:pt x="0" y="36360"/>
                  </a:lnTo>
                  <a:lnTo>
                    <a:pt x="0" y="109448"/>
                  </a:lnTo>
                  <a:lnTo>
                    <a:pt x="182879" y="109448"/>
                  </a:lnTo>
                  <a:lnTo>
                    <a:pt x="182879" y="146164"/>
                  </a:lnTo>
                  <a:lnTo>
                    <a:pt x="255968" y="73088"/>
                  </a:lnTo>
                  <a:lnTo>
                    <a:pt x="182879" y="0"/>
                  </a:lnTo>
                  <a:close/>
                </a:path>
              </a:pathLst>
            </a:custGeom>
            <a:solidFill>
              <a:srgbClr val="93A2B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3" name="Google Shape;103;p2"/>
            <p:cNvSpPr/>
            <p:nvPr/>
          </p:nvSpPr>
          <p:spPr>
            <a:xfrm>
              <a:off x="4443844" y="3840481"/>
              <a:ext cx="960119" cy="347980"/>
            </a:xfrm>
            <a:custGeom>
              <a:rect b="b" l="l" r="r" t="t"/>
              <a:pathLst>
                <a:path extrusionOk="0" h="347979" w="960120">
                  <a:moveTo>
                    <a:pt x="855713" y="0"/>
                  </a:moveTo>
                  <a:lnTo>
                    <a:pt x="104394" y="0"/>
                  </a:lnTo>
                  <a:lnTo>
                    <a:pt x="90688" y="878"/>
                  </a:lnTo>
                  <a:lnTo>
                    <a:pt x="52197" y="13677"/>
                  </a:lnTo>
                  <a:lnTo>
                    <a:pt x="21568" y="40513"/>
                  </a:lnTo>
                  <a:lnTo>
                    <a:pt x="3506" y="76992"/>
                  </a:lnTo>
                  <a:lnTo>
                    <a:pt x="0" y="104038"/>
                  </a:lnTo>
                  <a:lnTo>
                    <a:pt x="0" y="243357"/>
                  </a:lnTo>
                  <a:lnTo>
                    <a:pt x="7742" y="282949"/>
                  </a:lnTo>
                  <a:lnTo>
                    <a:pt x="30209" y="316709"/>
                  </a:lnTo>
                  <a:lnTo>
                    <a:pt x="30326" y="316842"/>
                  </a:lnTo>
                  <a:lnTo>
                    <a:pt x="64095" y="339503"/>
                  </a:lnTo>
                  <a:lnTo>
                    <a:pt x="104038" y="347395"/>
                  </a:lnTo>
                  <a:lnTo>
                    <a:pt x="856081" y="347395"/>
                  </a:lnTo>
                  <a:lnTo>
                    <a:pt x="868793" y="346519"/>
                  </a:lnTo>
                  <a:lnTo>
                    <a:pt x="869291" y="346519"/>
                  </a:lnTo>
                  <a:lnTo>
                    <a:pt x="907910" y="333362"/>
                  </a:lnTo>
                  <a:lnTo>
                    <a:pt x="938496" y="306576"/>
                  </a:lnTo>
                  <a:lnTo>
                    <a:pt x="956591" y="270092"/>
                  </a:lnTo>
                  <a:lnTo>
                    <a:pt x="960097" y="243357"/>
                  </a:lnTo>
                  <a:lnTo>
                    <a:pt x="960095" y="104038"/>
                  </a:lnTo>
                  <a:lnTo>
                    <a:pt x="952067" y="64453"/>
                  </a:lnTo>
                  <a:lnTo>
                    <a:pt x="929425" y="30554"/>
                  </a:lnTo>
                  <a:lnTo>
                    <a:pt x="895655" y="7902"/>
                  </a:lnTo>
                  <a:lnTo>
                    <a:pt x="869389" y="878"/>
                  </a:lnTo>
                  <a:lnTo>
                    <a:pt x="855713" y="0"/>
                  </a:lnTo>
                  <a:close/>
                </a:path>
              </a:pathLst>
            </a:custGeom>
            <a:solidFill>
              <a:srgbClr val="F0EBF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04" name="Google Shape;104;p2"/>
          <p:cNvSpPr txBox="1"/>
          <p:nvPr/>
        </p:nvSpPr>
        <p:spPr>
          <a:xfrm>
            <a:off x="4741824" y="3913456"/>
            <a:ext cx="365125" cy="2012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50">
                <a:solidFill>
                  <a:srgbClr val="6C27D8"/>
                </a:solidFill>
                <a:latin typeface="Calibri"/>
                <a:ea typeface="Calibri"/>
                <a:cs typeface="Calibri"/>
                <a:sym typeface="Calibri"/>
              </a:rPr>
              <a:t>ELMo</a:t>
            </a:r>
            <a:endParaRPr sz="1150">
              <a:latin typeface="Calibri"/>
              <a:ea typeface="Calibri"/>
              <a:cs typeface="Calibri"/>
              <a:sym typeface="Calibri"/>
            </a:endParaRPr>
          </a:p>
        </p:txBody>
      </p:sp>
      <p:grpSp>
        <p:nvGrpSpPr>
          <p:cNvPr id="105" name="Google Shape;105;p2"/>
          <p:cNvGrpSpPr/>
          <p:nvPr/>
        </p:nvGrpSpPr>
        <p:grpSpPr>
          <a:xfrm>
            <a:off x="5449684" y="3840481"/>
            <a:ext cx="1262150" cy="347980"/>
            <a:chOff x="5449684" y="3840481"/>
            <a:chExt cx="1262150" cy="347980"/>
          </a:xfrm>
        </p:grpSpPr>
        <p:sp>
          <p:nvSpPr>
            <p:cNvPr id="106" name="Google Shape;106;p2"/>
            <p:cNvSpPr/>
            <p:nvPr/>
          </p:nvSpPr>
          <p:spPr>
            <a:xfrm>
              <a:off x="5449684" y="3940557"/>
              <a:ext cx="256540" cy="146685"/>
            </a:xfrm>
            <a:custGeom>
              <a:rect b="b" l="l" r="r" t="t"/>
              <a:pathLst>
                <a:path extrusionOk="0" h="146685" w="256539">
                  <a:moveTo>
                    <a:pt x="182880" y="0"/>
                  </a:moveTo>
                  <a:lnTo>
                    <a:pt x="182880" y="36360"/>
                  </a:lnTo>
                  <a:lnTo>
                    <a:pt x="0" y="36360"/>
                  </a:lnTo>
                  <a:lnTo>
                    <a:pt x="0" y="109448"/>
                  </a:lnTo>
                  <a:lnTo>
                    <a:pt x="182880" y="109448"/>
                  </a:lnTo>
                  <a:lnTo>
                    <a:pt x="182880" y="146164"/>
                  </a:lnTo>
                  <a:lnTo>
                    <a:pt x="255955" y="73088"/>
                  </a:lnTo>
                  <a:lnTo>
                    <a:pt x="182880" y="0"/>
                  </a:lnTo>
                  <a:close/>
                </a:path>
              </a:pathLst>
            </a:custGeom>
            <a:solidFill>
              <a:srgbClr val="93A2B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7" name="Google Shape;107;p2"/>
            <p:cNvSpPr/>
            <p:nvPr/>
          </p:nvSpPr>
          <p:spPr>
            <a:xfrm>
              <a:off x="5751715" y="3840481"/>
              <a:ext cx="960119" cy="347980"/>
            </a:xfrm>
            <a:custGeom>
              <a:rect b="b" l="l" r="r" t="t"/>
              <a:pathLst>
                <a:path extrusionOk="0" h="347979" w="960120">
                  <a:moveTo>
                    <a:pt x="855725" y="0"/>
                  </a:moveTo>
                  <a:lnTo>
                    <a:pt x="104406" y="0"/>
                  </a:lnTo>
                  <a:lnTo>
                    <a:pt x="90700" y="878"/>
                  </a:lnTo>
                  <a:lnTo>
                    <a:pt x="52209" y="13677"/>
                  </a:lnTo>
                  <a:lnTo>
                    <a:pt x="21579" y="40513"/>
                  </a:lnTo>
                  <a:lnTo>
                    <a:pt x="3513" y="76992"/>
                  </a:lnTo>
                  <a:lnTo>
                    <a:pt x="0" y="104038"/>
                  </a:lnTo>
                  <a:lnTo>
                    <a:pt x="0" y="243357"/>
                  </a:lnTo>
                  <a:lnTo>
                    <a:pt x="863" y="256677"/>
                  </a:lnTo>
                  <a:lnTo>
                    <a:pt x="872" y="256827"/>
                  </a:lnTo>
                  <a:lnTo>
                    <a:pt x="13690" y="295198"/>
                  </a:lnTo>
                  <a:lnTo>
                    <a:pt x="30220" y="316709"/>
                  </a:lnTo>
                  <a:lnTo>
                    <a:pt x="30337" y="316842"/>
                  </a:lnTo>
                  <a:lnTo>
                    <a:pt x="64097" y="339503"/>
                  </a:lnTo>
                  <a:lnTo>
                    <a:pt x="104038" y="347395"/>
                  </a:lnTo>
                  <a:lnTo>
                    <a:pt x="856081" y="347395"/>
                  </a:lnTo>
                  <a:lnTo>
                    <a:pt x="868800" y="346519"/>
                  </a:lnTo>
                  <a:lnTo>
                    <a:pt x="869299" y="346519"/>
                  </a:lnTo>
                  <a:lnTo>
                    <a:pt x="907922" y="333362"/>
                  </a:lnTo>
                  <a:lnTo>
                    <a:pt x="938507" y="306576"/>
                  </a:lnTo>
                  <a:lnTo>
                    <a:pt x="956598" y="270092"/>
                  </a:lnTo>
                  <a:lnTo>
                    <a:pt x="960097" y="243357"/>
                  </a:lnTo>
                  <a:lnTo>
                    <a:pt x="960095" y="104038"/>
                  </a:lnTo>
                  <a:lnTo>
                    <a:pt x="952072" y="64453"/>
                  </a:lnTo>
                  <a:lnTo>
                    <a:pt x="929433" y="30554"/>
                  </a:lnTo>
                  <a:lnTo>
                    <a:pt x="895668" y="7902"/>
                  </a:lnTo>
                  <a:lnTo>
                    <a:pt x="869402" y="878"/>
                  </a:lnTo>
                  <a:lnTo>
                    <a:pt x="855725" y="0"/>
                  </a:lnTo>
                  <a:close/>
                </a:path>
              </a:pathLst>
            </a:custGeom>
            <a:solidFill>
              <a:srgbClr val="FFF0E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08" name="Google Shape;108;p2"/>
          <p:cNvSpPr txBox="1"/>
          <p:nvPr/>
        </p:nvSpPr>
        <p:spPr>
          <a:xfrm>
            <a:off x="5933059" y="3913456"/>
            <a:ext cx="596265" cy="2012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50">
                <a:solidFill>
                  <a:srgbClr val="C1400B"/>
                </a:solidFill>
                <a:latin typeface="Calibri"/>
                <a:ea typeface="Calibri"/>
                <a:cs typeface="Calibri"/>
                <a:sym typeface="Calibri"/>
              </a:rPr>
              <a:t>Attention</a:t>
            </a:r>
            <a:endParaRPr sz="1150">
              <a:latin typeface="Calibri"/>
              <a:ea typeface="Calibri"/>
              <a:cs typeface="Calibri"/>
              <a:sym typeface="Calibri"/>
            </a:endParaRPr>
          </a:p>
        </p:txBody>
      </p:sp>
      <p:grpSp>
        <p:nvGrpSpPr>
          <p:cNvPr id="109" name="Google Shape;109;p2"/>
          <p:cNvGrpSpPr/>
          <p:nvPr/>
        </p:nvGrpSpPr>
        <p:grpSpPr>
          <a:xfrm>
            <a:off x="6757555" y="3840481"/>
            <a:ext cx="1261808" cy="347980"/>
            <a:chOff x="6757555" y="3840481"/>
            <a:chExt cx="1261808" cy="347980"/>
          </a:xfrm>
        </p:grpSpPr>
        <p:sp>
          <p:nvSpPr>
            <p:cNvPr id="110" name="Google Shape;110;p2"/>
            <p:cNvSpPr/>
            <p:nvPr/>
          </p:nvSpPr>
          <p:spPr>
            <a:xfrm>
              <a:off x="6757555" y="3940557"/>
              <a:ext cx="256540" cy="146685"/>
            </a:xfrm>
            <a:custGeom>
              <a:rect b="b" l="l" r="r" t="t"/>
              <a:pathLst>
                <a:path extrusionOk="0" h="146685" w="256540">
                  <a:moveTo>
                    <a:pt x="182879" y="0"/>
                  </a:moveTo>
                  <a:lnTo>
                    <a:pt x="182879" y="36360"/>
                  </a:lnTo>
                  <a:lnTo>
                    <a:pt x="0" y="36360"/>
                  </a:lnTo>
                  <a:lnTo>
                    <a:pt x="0" y="109448"/>
                  </a:lnTo>
                  <a:lnTo>
                    <a:pt x="182879" y="109448"/>
                  </a:lnTo>
                  <a:lnTo>
                    <a:pt x="182879" y="146164"/>
                  </a:lnTo>
                  <a:lnTo>
                    <a:pt x="255968" y="73088"/>
                  </a:lnTo>
                  <a:lnTo>
                    <a:pt x="182879" y="0"/>
                  </a:lnTo>
                  <a:close/>
                </a:path>
              </a:pathLst>
            </a:custGeom>
            <a:solidFill>
              <a:srgbClr val="93A2B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1" name="Google Shape;111;p2"/>
            <p:cNvSpPr/>
            <p:nvPr/>
          </p:nvSpPr>
          <p:spPr>
            <a:xfrm>
              <a:off x="7059244" y="3840481"/>
              <a:ext cx="960119" cy="347980"/>
            </a:xfrm>
            <a:custGeom>
              <a:rect b="b" l="l" r="r" t="t"/>
              <a:pathLst>
                <a:path extrusionOk="0" h="347979" w="960120">
                  <a:moveTo>
                    <a:pt x="855713" y="0"/>
                  </a:moveTo>
                  <a:lnTo>
                    <a:pt x="104394" y="0"/>
                  </a:lnTo>
                  <a:lnTo>
                    <a:pt x="90688" y="878"/>
                  </a:lnTo>
                  <a:lnTo>
                    <a:pt x="52197" y="13677"/>
                  </a:lnTo>
                  <a:lnTo>
                    <a:pt x="21568" y="40513"/>
                  </a:lnTo>
                  <a:lnTo>
                    <a:pt x="3506" y="76992"/>
                  </a:lnTo>
                  <a:lnTo>
                    <a:pt x="0" y="104038"/>
                  </a:lnTo>
                  <a:lnTo>
                    <a:pt x="0" y="243357"/>
                  </a:lnTo>
                  <a:lnTo>
                    <a:pt x="7742" y="282949"/>
                  </a:lnTo>
                  <a:lnTo>
                    <a:pt x="30209" y="316709"/>
                  </a:lnTo>
                  <a:lnTo>
                    <a:pt x="30326" y="316842"/>
                  </a:lnTo>
                  <a:lnTo>
                    <a:pt x="64095" y="339503"/>
                  </a:lnTo>
                  <a:lnTo>
                    <a:pt x="104038" y="347395"/>
                  </a:lnTo>
                  <a:lnTo>
                    <a:pt x="856081" y="347395"/>
                  </a:lnTo>
                  <a:lnTo>
                    <a:pt x="868793" y="346519"/>
                  </a:lnTo>
                  <a:lnTo>
                    <a:pt x="869291" y="346519"/>
                  </a:lnTo>
                  <a:lnTo>
                    <a:pt x="907910" y="333362"/>
                  </a:lnTo>
                  <a:lnTo>
                    <a:pt x="938496" y="306576"/>
                  </a:lnTo>
                  <a:lnTo>
                    <a:pt x="956591" y="270092"/>
                  </a:lnTo>
                  <a:lnTo>
                    <a:pt x="960097" y="243357"/>
                  </a:lnTo>
                  <a:lnTo>
                    <a:pt x="960095" y="104038"/>
                  </a:lnTo>
                  <a:lnTo>
                    <a:pt x="952067" y="64453"/>
                  </a:lnTo>
                  <a:lnTo>
                    <a:pt x="929425" y="30554"/>
                  </a:lnTo>
                  <a:lnTo>
                    <a:pt x="895655" y="7902"/>
                  </a:lnTo>
                  <a:lnTo>
                    <a:pt x="869389" y="878"/>
                  </a:lnTo>
                  <a:lnTo>
                    <a:pt x="855713" y="0"/>
                  </a:lnTo>
                  <a:close/>
                </a:path>
              </a:pathLst>
            </a:custGeom>
            <a:solidFill>
              <a:srgbClr val="E1E7E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12" name="Google Shape;112;p2"/>
          <p:cNvSpPr txBox="1"/>
          <p:nvPr/>
        </p:nvSpPr>
        <p:spPr>
          <a:xfrm>
            <a:off x="7156336" y="3913456"/>
            <a:ext cx="766445" cy="2012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50">
                <a:solidFill>
                  <a:srgbClr val="0C1A29"/>
                </a:solidFill>
                <a:latin typeface="Calibri"/>
                <a:ea typeface="Calibri"/>
                <a:cs typeface="Calibri"/>
                <a:sym typeface="Calibri"/>
              </a:rPr>
              <a:t>Transformer</a:t>
            </a:r>
            <a:endParaRPr sz="1150">
              <a:latin typeface="Calibri"/>
              <a:ea typeface="Calibri"/>
              <a:cs typeface="Calibri"/>
              <a:sym typeface="Calibri"/>
            </a:endParaRPr>
          </a:p>
        </p:txBody>
      </p:sp>
      <p:sp>
        <p:nvSpPr>
          <p:cNvPr id="113" name="Google Shape;113;p2"/>
          <p:cNvSpPr txBox="1"/>
          <p:nvPr/>
        </p:nvSpPr>
        <p:spPr>
          <a:xfrm>
            <a:off x="398424" y="4440861"/>
            <a:ext cx="6985000" cy="2165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250">
                <a:solidFill>
                  <a:srgbClr val="0E756D"/>
                </a:solidFill>
                <a:latin typeface="Calibri"/>
                <a:ea typeface="Calibri"/>
                <a:cs typeface="Calibri"/>
                <a:sym typeface="Calibri"/>
              </a:rPr>
              <a:t>Our story today: </a:t>
            </a:r>
            <a:r>
              <a:rPr i="1" lang="en-US" sz="1250">
                <a:solidFill>
                  <a:srgbClr val="1E2836"/>
                </a:solidFill>
                <a:latin typeface="Cambria"/>
                <a:ea typeface="Cambria"/>
                <a:cs typeface="Cambria"/>
                <a:sym typeface="Cambria"/>
              </a:rPr>
              <a:t>how machines went from "remember the last few words" to "read the whole book at once".</a:t>
            </a:r>
            <a:endParaRPr sz="1250">
              <a:latin typeface="Cambria"/>
              <a:ea typeface="Cambria"/>
              <a:cs typeface="Cambria"/>
              <a:sym typeface="Cambria"/>
            </a:endParaRPr>
          </a:p>
        </p:txBody>
      </p:sp>
      <p:sp>
        <p:nvSpPr>
          <p:cNvPr id="114" name="Google Shape;114;p2"/>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1270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8" name="Shape 118"/>
        <p:cNvGrpSpPr/>
        <p:nvPr/>
      </p:nvGrpSpPr>
      <p:grpSpPr>
        <a:xfrm>
          <a:off x="0" y="0"/>
          <a:ext cx="0" cy="0"/>
          <a:chOff x="0" y="0"/>
          <a:chExt cx="0" cy="0"/>
        </a:xfrm>
      </p:grpSpPr>
      <p:sp>
        <p:nvSpPr>
          <p:cNvPr id="119" name="Google Shape;119;p3"/>
          <p:cNvSpPr/>
          <p:nvPr/>
        </p:nvSpPr>
        <p:spPr>
          <a:xfrm>
            <a:off x="0" y="2"/>
            <a:ext cx="9144000" cy="5144135"/>
          </a:xfrm>
          <a:custGeom>
            <a:rect b="b" l="l" r="r" t="t"/>
            <a:pathLst>
              <a:path extrusionOk="0" h="5144135" w="9144000">
                <a:moveTo>
                  <a:pt x="9144000" y="0"/>
                </a:moveTo>
                <a:lnTo>
                  <a:pt x="0" y="0"/>
                </a:lnTo>
                <a:lnTo>
                  <a:pt x="0" y="5143677"/>
                </a:lnTo>
                <a:lnTo>
                  <a:pt x="9144000" y="5143677"/>
                </a:lnTo>
                <a:lnTo>
                  <a:pt x="9144000" y="0"/>
                </a:lnTo>
                <a:close/>
              </a:path>
            </a:pathLst>
          </a:custGeom>
          <a:solidFill>
            <a:srgbClr val="F7F9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descr="$PPTXTitle" id="120" name="Google Shape;120;p3"/>
          <p:cNvSpPr txBox="1"/>
          <p:nvPr>
            <p:ph type="title"/>
          </p:nvPr>
        </p:nvSpPr>
        <p:spPr>
          <a:xfrm>
            <a:off x="1961895" y="180977"/>
            <a:ext cx="5216525" cy="3606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200">
                <a:solidFill>
                  <a:srgbClr val="1D283A"/>
                </a:solidFill>
              </a:rPr>
              <a:t>From Perceptron to Specialized Architectures</a:t>
            </a:r>
            <a:endParaRPr sz="2200"/>
          </a:p>
        </p:txBody>
      </p:sp>
      <p:grpSp>
        <p:nvGrpSpPr>
          <p:cNvPr id="121" name="Google Shape;121;p3"/>
          <p:cNvGrpSpPr/>
          <p:nvPr/>
        </p:nvGrpSpPr>
        <p:grpSpPr>
          <a:xfrm>
            <a:off x="62636" y="621362"/>
            <a:ext cx="8871178" cy="3685540"/>
            <a:chOff x="62636" y="621362"/>
            <a:chExt cx="8871178" cy="3685540"/>
          </a:xfrm>
        </p:grpSpPr>
        <p:sp>
          <p:nvSpPr>
            <p:cNvPr id="122" name="Google Shape;122;p3"/>
            <p:cNvSpPr/>
            <p:nvPr/>
          </p:nvSpPr>
          <p:spPr>
            <a:xfrm>
              <a:off x="3200044" y="621362"/>
              <a:ext cx="2743200" cy="27305"/>
            </a:xfrm>
            <a:custGeom>
              <a:rect b="b" l="l" r="r" t="t"/>
              <a:pathLst>
                <a:path extrusionOk="0" h="27304" w="2743200">
                  <a:moveTo>
                    <a:pt x="2742831" y="0"/>
                  </a:moveTo>
                  <a:lnTo>
                    <a:pt x="0" y="0"/>
                  </a:lnTo>
                  <a:lnTo>
                    <a:pt x="0" y="27000"/>
                  </a:lnTo>
                  <a:lnTo>
                    <a:pt x="1371599" y="27000"/>
                  </a:lnTo>
                  <a:lnTo>
                    <a:pt x="2742831" y="27000"/>
                  </a:lnTo>
                  <a:lnTo>
                    <a:pt x="2742831" y="0"/>
                  </a:lnTo>
                  <a:close/>
                </a:path>
              </a:pathLst>
            </a:custGeom>
            <a:solidFill>
              <a:srgbClr val="0DA4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3" name="Google Shape;123;p3"/>
            <p:cNvSpPr/>
            <p:nvPr/>
          </p:nvSpPr>
          <p:spPr>
            <a:xfrm>
              <a:off x="3200044" y="621362"/>
              <a:ext cx="2743200" cy="27305"/>
            </a:xfrm>
            <a:custGeom>
              <a:rect b="b" l="l" r="r" t="t"/>
              <a:pathLst>
                <a:path extrusionOk="0" h="27304" w="2743200">
                  <a:moveTo>
                    <a:pt x="1371599" y="27000"/>
                  </a:moveTo>
                  <a:lnTo>
                    <a:pt x="0" y="27000"/>
                  </a:lnTo>
                  <a:lnTo>
                    <a:pt x="0" y="0"/>
                  </a:lnTo>
                  <a:lnTo>
                    <a:pt x="2742831" y="0"/>
                  </a:lnTo>
                  <a:lnTo>
                    <a:pt x="2742831" y="27000"/>
                  </a:lnTo>
                  <a:lnTo>
                    <a:pt x="1371599" y="27000"/>
                  </a:lnTo>
                  <a:close/>
                </a:path>
              </a:pathLst>
            </a:custGeom>
            <a:noFill/>
            <a:ln cap="flat" cmpd="sng" w="12575">
              <a:solidFill>
                <a:srgbClr val="0DA4E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4" name="Google Shape;124;p3"/>
            <p:cNvSpPr/>
            <p:nvPr/>
          </p:nvSpPr>
          <p:spPr>
            <a:xfrm>
              <a:off x="228244" y="4205886"/>
              <a:ext cx="8686800" cy="36830"/>
            </a:xfrm>
            <a:custGeom>
              <a:rect b="b" l="l" r="r" t="t"/>
              <a:pathLst>
                <a:path extrusionOk="0" h="36829" w="8686800">
                  <a:moveTo>
                    <a:pt x="8686431" y="0"/>
                  </a:moveTo>
                  <a:lnTo>
                    <a:pt x="0" y="0"/>
                  </a:lnTo>
                  <a:lnTo>
                    <a:pt x="0" y="36360"/>
                  </a:lnTo>
                  <a:lnTo>
                    <a:pt x="4343400" y="36360"/>
                  </a:lnTo>
                  <a:lnTo>
                    <a:pt x="8686431" y="36360"/>
                  </a:lnTo>
                  <a:lnTo>
                    <a:pt x="8686431" y="0"/>
                  </a:lnTo>
                  <a:close/>
                </a:path>
              </a:pathLst>
            </a:custGeom>
            <a:solidFill>
              <a:srgbClr val="CAD4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5" name="Google Shape;125;p3"/>
            <p:cNvSpPr/>
            <p:nvPr/>
          </p:nvSpPr>
          <p:spPr>
            <a:xfrm>
              <a:off x="228244" y="4205886"/>
              <a:ext cx="8686800" cy="36830"/>
            </a:xfrm>
            <a:custGeom>
              <a:rect b="b" l="l" r="r" t="t"/>
              <a:pathLst>
                <a:path extrusionOk="0" h="36829" w="8686800">
                  <a:moveTo>
                    <a:pt x="4343400" y="36360"/>
                  </a:moveTo>
                  <a:lnTo>
                    <a:pt x="0" y="36360"/>
                  </a:lnTo>
                  <a:lnTo>
                    <a:pt x="0" y="0"/>
                  </a:lnTo>
                  <a:lnTo>
                    <a:pt x="8686431" y="0"/>
                  </a:lnTo>
                  <a:lnTo>
                    <a:pt x="8686431" y="36360"/>
                  </a:lnTo>
                  <a:lnTo>
                    <a:pt x="4343400" y="36360"/>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6" name="Google Shape;126;p3"/>
            <p:cNvSpPr/>
            <p:nvPr/>
          </p:nvSpPr>
          <p:spPr>
            <a:xfrm>
              <a:off x="8823959" y="4141802"/>
              <a:ext cx="109855" cy="165100"/>
            </a:xfrm>
            <a:custGeom>
              <a:rect b="b" l="l" r="r" t="t"/>
              <a:pathLst>
                <a:path extrusionOk="0" h="165100" w="109854">
                  <a:moveTo>
                    <a:pt x="109435" y="0"/>
                  </a:moveTo>
                  <a:lnTo>
                    <a:pt x="0" y="0"/>
                  </a:lnTo>
                  <a:lnTo>
                    <a:pt x="0" y="164515"/>
                  </a:lnTo>
                  <a:lnTo>
                    <a:pt x="54724" y="164515"/>
                  </a:lnTo>
                  <a:lnTo>
                    <a:pt x="109435" y="164515"/>
                  </a:lnTo>
                  <a:lnTo>
                    <a:pt x="109435" y="0"/>
                  </a:lnTo>
                  <a:close/>
                </a:path>
              </a:pathLst>
            </a:custGeom>
            <a:solidFill>
              <a:srgbClr val="0DA4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7" name="Google Shape;127;p3"/>
            <p:cNvSpPr/>
            <p:nvPr/>
          </p:nvSpPr>
          <p:spPr>
            <a:xfrm>
              <a:off x="8823959" y="4141802"/>
              <a:ext cx="109855" cy="165100"/>
            </a:xfrm>
            <a:custGeom>
              <a:rect b="b" l="l" r="r" t="t"/>
              <a:pathLst>
                <a:path extrusionOk="0" h="165100" w="109854">
                  <a:moveTo>
                    <a:pt x="54724" y="164515"/>
                  </a:moveTo>
                  <a:lnTo>
                    <a:pt x="0" y="164515"/>
                  </a:lnTo>
                  <a:lnTo>
                    <a:pt x="0" y="0"/>
                  </a:lnTo>
                  <a:lnTo>
                    <a:pt x="109435" y="0"/>
                  </a:lnTo>
                  <a:lnTo>
                    <a:pt x="109435" y="164515"/>
                  </a:lnTo>
                  <a:lnTo>
                    <a:pt x="54724" y="164515"/>
                  </a:lnTo>
                  <a:close/>
                </a:path>
              </a:pathLst>
            </a:custGeom>
            <a:noFill/>
            <a:ln cap="flat" cmpd="sng" w="12575">
              <a:solidFill>
                <a:srgbClr val="0DA4E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28" name="Google Shape;128;p3"/>
            <p:cNvPicPr preferRelativeResize="0"/>
            <p:nvPr/>
          </p:nvPicPr>
          <p:blipFill rotWithShape="1">
            <a:blip r:embed="rId3">
              <a:alphaModFix/>
            </a:blip>
            <a:srcRect b="0" l="0" r="0" t="0"/>
            <a:stretch/>
          </p:blipFill>
          <p:spPr>
            <a:xfrm>
              <a:off x="62636" y="683630"/>
              <a:ext cx="1831682" cy="3458895"/>
            </a:xfrm>
            <a:prstGeom prst="rect">
              <a:avLst/>
            </a:prstGeom>
            <a:noFill/>
            <a:ln>
              <a:noFill/>
            </a:ln>
          </p:spPr>
        </p:pic>
        <p:sp>
          <p:nvSpPr>
            <p:cNvPr id="129" name="Google Shape;129;p3"/>
            <p:cNvSpPr/>
            <p:nvPr/>
          </p:nvSpPr>
          <p:spPr>
            <a:xfrm>
              <a:off x="164515" y="749517"/>
              <a:ext cx="1664335" cy="3291840"/>
            </a:xfrm>
            <a:custGeom>
              <a:rect b="b" l="l" r="r" t="t"/>
              <a:pathLst>
                <a:path extrusionOk="0" h="3291840" w="1664335">
                  <a:moveTo>
                    <a:pt x="1663928" y="0"/>
                  </a:moveTo>
                  <a:lnTo>
                    <a:pt x="0" y="0"/>
                  </a:lnTo>
                  <a:lnTo>
                    <a:pt x="0" y="3291484"/>
                  </a:lnTo>
                  <a:lnTo>
                    <a:pt x="831964" y="3291484"/>
                  </a:lnTo>
                  <a:lnTo>
                    <a:pt x="1663928" y="3291484"/>
                  </a:lnTo>
                  <a:lnTo>
                    <a:pt x="1663928"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0" name="Google Shape;130;p3"/>
            <p:cNvSpPr/>
            <p:nvPr/>
          </p:nvSpPr>
          <p:spPr>
            <a:xfrm>
              <a:off x="164515" y="749517"/>
              <a:ext cx="1664335" cy="3291840"/>
            </a:xfrm>
            <a:custGeom>
              <a:rect b="b" l="l" r="r" t="t"/>
              <a:pathLst>
                <a:path extrusionOk="0" h="3291840" w="1664335">
                  <a:moveTo>
                    <a:pt x="831964" y="3291484"/>
                  </a:moveTo>
                  <a:lnTo>
                    <a:pt x="0" y="3291484"/>
                  </a:lnTo>
                  <a:lnTo>
                    <a:pt x="0" y="0"/>
                  </a:lnTo>
                  <a:lnTo>
                    <a:pt x="1663928" y="0"/>
                  </a:lnTo>
                  <a:lnTo>
                    <a:pt x="1663928" y="3291484"/>
                  </a:lnTo>
                  <a:lnTo>
                    <a:pt x="831964" y="3291484"/>
                  </a:lnTo>
                  <a:close/>
                </a:path>
              </a:pathLst>
            </a:custGeom>
            <a:noFill/>
            <a:ln cap="flat" cmpd="sng" w="15100">
              <a:solidFill>
                <a:srgbClr val="6266F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1" name="Google Shape;131;p3"/>
            <p:cNvSpPr/>
            <p:nvPr/>
          </p:nvSpPr>
          <p:spPr>
            <a:xfrm>
              <a:off x="164515" y="749517"/>
              <a:ext cx="1664335" cy="64135"/>
            </a:xfrm>
            <a:custGeom>
              <a:rect b="b" l="l" r="r" t="t"/>
              <a:pathLst>
                <a:path extrusionOk="0" h="64134" w="1664335">
                  <a:moveTo>
                    <a:pt x="1663928" y="0"/>
                  </a:moveTo>
                  <a:lnTo>
                    <a:pt x="0" y="0"/>
                  </a:lnTo>
                  <a:lnTo>
                    <a:pt x="0" y="63728"/>
                  </a:lnTo>
                  <a:lnTo>
                    <a:pt x="831964" y="63728"/>
                  </a:lnTo>
                  <a:lnTo>
                    <a:pt x="1663928" y="63728"/>
                  </a:lnTo>
                  <a:lnTo>
                    <a:pt x="1663928" y="0"/>
                  </a:lnTo>
                  <a:close/>
                </a:path>
              </a:pathLst>
            </a:custGeom>
            <a:solidFill>
              <a:srgbClr val="6266F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2" name="Google Shape;132;p3"/>
            <p:cNvSpPr/>
            <p:nvPr/>
          </p:nvSpPr>
          <p:spPr>
            <a:xfrm>
              <a:off x="164515" y="749517"/>
              <a:ext cx="1664335" cy="64135"/>
            </a:xfrm>
            <a:custGeom>
              <a:rect b="b" l="l" r="r" t="t"/>
              <a:pathLst>
                <a:path extrusionOk="0" h="64134" w="1664335">
                  <a:moveTo>
                    <a:pt x="831964" y="63728"/>
                  </a:moveTo>
                  <a:lnTo>
                    <a:pt x="0" y="63728"/>
                  </a:lnTo>
                  <a:lnTo>
                    <a:pt x="0" y="0"/>
                  </a:lnTo>
                  <a:lnTo>
                    <a:pt x="1663928" y="0"/>
                  </a:lnTo>
                  <a:lnTo>
                    <a:pt x="1663928" y="63728"/>
                  </a:lnTo>
                  <a:lnTo>
                    <a:pt x="831964" y="63728"/>
                  </a:lnTo>
                  <a:close/>
                </a:path>
              </a:pathLst>
            </a:custGeom>
            <a:noFill/>
            <a:ln cap="flat" cmpd="sng" w="12575">
              <a:solidFill>
                <a:srgbClr val="6266F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3" name="Google Shape;133;p3"/>
            <p:cNvSpPr/>
            <p:nvPr/>
          </p:nvSpPr>
          <p:spPr>
            <a:xfrm>
              <a:off x="237604" y="841326"/>
              <a:ext cx="1518285" cy="201295"/>
            </a:xfrm>
            <a:custGeom>
              <a:rect b="b" l="l" r="r" t="t"/>
              <a:pathLst>
                <a:path extrusionOk="0" h="201294" w="1518285">
                  <a:moveTo>
                    <a:pt x="1517751" y="0"/>
                  </a:moveTo>
                  <a:lnTo>
                    <a:pt x="0" y="0"/>
                  </a:lnTo>
                  <a:lnTo>
                    <a:pt x="0" y="200875"/>
                  </a:lnTo>
                  <a:lnTo>
                    <a:pt x="758875" y="200875"/>
                  </a:lnTo>
                  <a:lnTo>
                    <a:pt x="1517751" y="200875"/>
                  </a:lnTo>
                  <a:lnTo>
                    <a:pt x="1517751" y="0"/>
                  </a:lnTo>
                  <a:close/>
                </a:path>
              </a:pathLst>
            </a:custGeom>
            <a:solidFill>
              <a:srgbClr val="6266F0">
                <a:alpha val="14902"/>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4" name="Google Shape;134;p3"/>
            <p:cNvSpPr/>
            <p:nvPr/>
          </p:nvSpPr>
          <p:spPr>
            <a:xfrm>
              <a:off x="237604" y="841326"/>
              <a:ext cx="1518285" cy="201295"/>
            </a:xfrm>
            <a:custGeom>
              <a:rect b="b" l="l" r="r" t="t"/>
              <a:pathLst>
                <a:path extrusionOk="0" h="201294" w="1518285">
                  <a:moveTo>
                    <a:pt x="758875" y="200875"/>
                  </a:moveTo>
                  <a:lnTo>
                    <a:pt x="0" y="200875"/>
                  </a:lnTo>
                  <a:lnTo>
                    <a:pt x="0" y="0"/>
                  </a:lnTo>
                  <a:lnTo>
                    <a:pt x="1517751" y="0"/>
                  </a:lnTo>
                  <a:lnTo>
                    <a:pt x="1517751" y="200875"/>
                  </a:lnTo>
                  <a:lnTo>
                    <a:pt x="758875" y="200875"/>
                  </a:lnTo>
                  <a:close/>
                </a:path>
              </a:pathLst>
            </a:custGeom>
            <a:noFill/>
            <a:ln cap="flat" cmpd="sng" w="9525">
              <a:solidFill>
                <a:srgbClr val="6266F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35" name="Google Shape;135;p3"/>
          <p:cNvSpPr txBox="1"/>
          <p:nvPr/>
        </p:nvSpPr>
        <p:spPr>
          <a:xfrm>
            <a:off x="242284" y="868211"/>
            <a:ext cx="1508760" cy="147320"/>
          </a:xfrm>
          <a:prstGeom prst="rect">
            <a:avLst/>
          </a:prstGeom>
          <a:noFill/>
          <a:ln>
            <a:noFill/>
          </a:ln>
        </p:spPr>
        <p:txBody>
          <a:bodyPr anchorCtr="0" anchor="t" bIns="0" lIns="0" spcFirstLastPara="1" rIns="0" wrap="square" tIns="12700">
            <a:spAutoFit/>
          </a:bodyPr>
          <a:lstStyle/>
          <a:p>
            <a:pPr indent="0" lvl="0" marL="0" rtl="0" algn="ctr">
              <a:lnSpc>
                <a:spcPct val="100000"/>
              </a:lnSpc>
              <a:spcBef>
                <a:spcPts val="0"/>
              </a:spcBef>
              <a:spcAft>
                <a:spcPts val="0"/>
              </a:spcAft>
              <a:buNone/>
            </a:pPr>
            <a:r>
              <a:rPr b="1" lang="en-US" sz="800">
                <a:solidFill>
                  <a:srgbClr val="6266F0"/>
                </a:solidFill>
                <a:latin typeface="Calibri"/>
                <a:ea typeface="Calibri"/>
                <a:cs typeface="Calibri"/>
                <a:sym typeface="Calibri"/>
              </a:rPr>
              <a:t>1958</a:t>
            </a:r>
            <a:endParaRPr sz="800">
              <a:latin typeface="Calibri"/>
              <a:ea typeface="Calibri"/>
              <a:cs typeface="Calibri"/>
              <a:sym typeface="Calibri"/>
            </a:endParaRPr>
          </a:p>
        </p:txBody>
      </p:sp>
      <p:sp>
        <p:nvSpPr>
          <p:cNvPr id="136" name="Google Shape;136;p3"/>
          <p:cNvSpPr txBox="1"/>
          <p:nvPr/>
        </p:nvSpPr>
        <p:spPr>
          <a:xfrm>
            <a:off x="607225" y="1104381"/>
            <a:ext cx="778510" cy="224154"/>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00">
                <a:solidFill>
                  <a:srgbClr val="1D283A"/>
                </a:solidFill>
                <a:latin typeface="Calibri"/>
                <a:ea typeface="Calibri"/>
                <a:cs typeface="Calibri"/>
                <a:sym typeface="Calibri"/>
              </a:rPr>
              <a:t>Perceptron</a:t>
            </a:r>
            <a:endParaRPr sz="1300">
              <a:latin typeface="Calibri"/>
              <a:ea typeface="Calibri"/>
              <a:cs typeface="Calibri"/>
              <a:sym typeface="Calibri"/>
            </a:endParaRPr>
          </a:p>
        </p:txBody>
      </p:sp>
      <p:grpSp>
        <p:nvGrpSpPr>
          <p:cNvPr id="137" name="Google Shape;137;p3"/>
          <p:cNvGrpSpPr/>
          <p:nvPr/>
        </p:nvGrpSpPr>
        <p:grpSpPr>
          <a:xfrm>
            <a:off x="237604" y="1389597"/>
            <a:ext cx="1518285" cy="1005840"/>
            <a:chOff x="237604" y="1389597"/>
            <a:chExt cx="1518285" cy="1005840"/>
          </a:xfrm>
        </p:grpSpPr>
        <p:sp>
          <p:nvSpPr>
            <p:cNvPr id="138" name="Google Shape;138;p3"/>
            <p:cNvSpPr/>
            <p:nvPr/>
          </p:nvSpPr>
          <p:spPr>
            <a:xfrm>
              <a:off x="237604" y="1389597"/>
              <a:ext cx="1518285" cy="1005840"/>
            </a:xfrm>
            <a:custGeom>
              <a:rect b="b" l="l" r="r" t="t"/>
              <a:pathLst>
                <a:path extrusionOk="0" h="1005839" w="1518285">
                  <a:moveTo>
                    <a:pt x="1517751" y="0"/>
                  </a:moveTo>
                  <a:lnTo>
                    <a:pt x="0" y="0"/>
                  </a:lnTo>
                  <a:lnTo>
                    <a:pt x="0" y="1005484"/>
                  </a:lnTo>
                  <a:lnTo>
                    <a:pt x="758875" y="1005484"/>
                  </a:lnTo>
                  <a:lnTo>
                    <a:pt x="1517751" y="1005484"/>
                  </a:lnTo>
                  <a:lnTo>
                    <a:pt x="1517751" y="0"/>
                  </a:lnTo>
                  <a:close/>
                </a:path>
              </a:pathLst>
            </a:custGeom>
            <a:solidFill>
              <a:srgbClr val="F0F4F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39" name="Google Shape;139;p3"/>
            <p:cNvPicPr preferRelativeResize="0"/>
            <p:nvPr/>
          </p:nvPicPr>
          <p:blipFill rotWithShape="1">
            <a:blip r:embed="rId4">
              <a:alphaModFix/>
            </a:blip>
            <a:srcRect b="0" l="0" r="0" t="0"/>
            <a:stretch/>
          </p:blipFill>
          <p:spPr>
            <a:xfrm>
              <a:off x="276656" y="1474738"/>
              <a:ext cx="195479" cy="195479"/>
            </a:xfrm>
            <a:prstGeom prst="rect">
              <a:avLst/>
            </a:prstGeom>
            <a:noFill/>
            <a:ln>
              <a:noFill/>
            </a:ln>
          </p:spPr>
        </p:pic>
        <p:sp>
          <p:nvSpPr>
            <p:cNvPr id="140" name="Google Shape;140;p3"/>
            <p:cNvSpPr/>
            <p:nvPr/>
          </p:nvSpPr>
          <p:spPr>
            <a:xfrm>
              <a:off x="466204" y="1572477"/>
              <a:ext cx="502920" cy="0"/>
            </a:xfrm>
            <a:custGeom>
              <a:rect b="b" l="l" r="r" t="t"/>
              <a:pathLst>
                <a:path extrusionOk="0" h="120000" w="502919">
                  <a:moveTo>
                    <a:pt x="0" y="0"/>
                  </a:moveTo>
                  <a:lnTo>
                    <a:pt x="502919" y="0"/>
                  </a:lnTo>
                </a:path>
              </a:pathLst>
            </a:custGeom>
            <a:noFill/>
            <a:ln cap="flat" cmpd="sng" w="12575">
              <a:solidFill>
                <a:srgbClr val="808BF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41" name="Google Shape;141;p3"/>
            <p:cNvPicPr preferRelativeResize="0"/>
            <p:nvPr/>
          </p:nvPicPr>
          <p:blipFill rotWithShape="1">
            <a:blip r:embed="rId4">
              <a:alphaModFix/>
            </a:blip>
            <a:srcRect b="0" l="0" r="0" t="0"/>
            <a:stretch/>
          </p:blipFill>
          <p:spPr>
            <a:xfrm>
              <a:off x="276656" y="1794778"/>
              <a:ext cx="195479" cy="195479"/>
            </a:xfrm>
            <a:prstGeom prst="rect">
              <a:avLst/>
            </a:prstGeom>
            <a:noFill/>
            <a:ln>
              <a:noFill/>
            </a:ln>
          </p:spPr>
        </p:pic>
        <p:sp>
          <p:nvSpPr>
            <p:cNvPr id="142" name="Google Shape;142;p3"/>
            <p:cNvSpPr/>
            <p:nvPr/>
          </p:nvSpPr>
          <p:spPr>
            <a:xfrm>
              <a:off x="466204" y="1892517"/>
              <a:ext cx="502920" cy="0"/>
            </a:xfrm>
            <a:custGeom>
              <a:rect b="b" l="l" r="r" t="t"/>
              <a:pathLst>
                <a:path extrusionOk="0" h="120000" w="502919">
                  <a:moveTo>
                    <a:pt x="0" y="0"/>
                  </a:moveTo>
                  <a:lnTo>
                    <a:pt x="502919" y="0"/>
                  </a:lnTo>
                </a:path>
              </a:pathLst>
            </a:custGeom>
            <a:noFill/>
            <a:ln cap="flat" cmpd="sng" w="12575">
              <a:solidFill>
                <a:srgbClr val="808BF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43" name="Google Shape;143;p3"/>
            <p:cNvPicPr preferRelativeResize="0"/>
            <p:nvPr/>
          </p:nvPicPr>
          <p:blipFill rotWithShape="1">
            <a:blip r:embed="rId4">
              <a:alphaModFix/>
            </a:blip>
            <a:srcRect b="0" l="0" r="0" t="0"/>
            <a:stretch/>
          </p:blipFill>
          <p:spPr>
            <a:xfrm>
              <a:off x="276656" y="2114818"/>
              <a:ext cx="195479" cy="195479"/>
            </a:xfrm>
            <a:prstGeom prst="rect">
              <a:avLst/>
            </a:prstGeom>
            <a:noFill/>
            <a:ln>
              <a:noFill/>
            </a:ln>
          </p:spPr>
        </p:pic>
        <p:sp>
          <p:nvSpPr>
            <p:cNvPr id="144" name="Google Shape;144;p3"/>
            <p:cNvSpPr/>
            <p:nvPr/>
          </p:nvSpPr>
          <p:spPr>
            <a:xfrm>
              <a:off x="466204" y="2212557"/>
              <a:ext cx="502920" cy="0"/>
            </a:xfrm>
            <a:custGeom>
              <a:rect b="b" l="l" r="r" t="t"/>
              <a:pathLst>
                <a:path extrusionOk="0" h="120000" w="502919">
                  <a:moveTo>
                    <a:pt x="0" y="0"/>
                  </a:moveTo>
                  <a:lnTo>
                    <a:pt x="502919" y="0"/>
                  </a:lnTo>
                </a:path>
              </a:pathLst>
            </a:custGeom>
            <a:noFill/>
            <a:ln cap="flat" cmpd="sng" w="12575">
              <a:solidFill>
                <a:srgbClr val="808BF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5" name="Google Shape;145;p3"/>
            <p:cNvSpPr/>
            <p:nvPr/>
          </p:nvSpPr>
          <p:spPr>
            <a:xfrm>
              <a:off x="877684" y="1755726"/>
              <a:ext cx="347980" cy="347980"/>
            </a:xfrm>
            <a:custGeom>
              <a:rect b="b" l="l" r="r" t="t"/>
              <a:pathLst>
                <a:path extrusionOk="0" h="347980" w="347980">
                  <a:moveTo>
                    <a:pt x="173875" y="0"/>
                  </a:moveTo>
                  <a:lnTo>
                    <a:pt x="128833" y="5846"/>
                  </a:lnTo>
                  <a:lnTo>
                    <a:pt x="86753" y="23037"/>
                  </a:lnTo>
                  <a:lnTo>
                    <a:pt x="50892" y="50576"/>
                  </a:lnTo>
                  <a:lnTo>
                    <a:pt x="23393" y="86753"/>
                  </a:lnTo>
                  <a:lnTo>
                    <a:pt x="5891" y="128512"/>
                  </a:lnTo>
                  <a:lnTo>
                    <a:pt x="0" y="173520"/>
                  </a:lnTo>
                  <a:lnTo>
                    <a:pt x="1478" y="196287"/>
                  </a:lnTo>
                  <a:lnTo>
                    <a:pt x="13207" y="239935"/>
                  </a:lnTo>
                  <a:lnTo>
                    <a:pt x="35979" y="279344"/>
                  </a:lnTo>
                  <a:lnTo>
                    <a:pt x="67895" y="311405"/>
                  </a:lnTo>
                  <a:lnTo>
                    <a:pt x="107304" y="334028"/>
                  </a:lnTo>
                  <a:lnTo>
                    <a:pt x="151102" y="345865"/>
                  </a:lnTo>
                  <a:lnTo>
                    <a:pt x="173875" y="347395"/>
                  </a:lnTo>
                  <a:lnTo>
                    <a:pt x="196442" y="345865"/>
                  </a:lnTo>
                  <a:lnTo>
                    <a:pt x="240091" y="334028"/>
                  </a:lnTo>
                  <a:lnTo>
                    <a:pt x="279494" y="311405"/>
                  </a:lnTo>
                  <a:lnTo>
                    <a:pt x="311410" y="279344"/>
                  </a:lnTo>
                  <a:lnTo>
                    <a:pt x="334178" y="239935"/>
                  </a:lnTo>
                  <a:lnTo>
                    <a:pt x="345915" y="196287"/>
                  </a:lnTo>
                  <a:lnTo>
                    <a:pt x="347395" y="173520"/>
                  </a:lnTo>
                  <a:lnTo>
                    <a:pt x="345915" y="150745"/>
                  </a:lnTo>
                  <a:lnTo>
                    <a:pt x="334178" y="107092"/>
                  </a:lnTo>
                  <a:lnTo>
                    <a:pt x="311410" y="67688"/>
                  </a:lnTo>
                  <a:lnTo>
                    <a:pt x="279494" y="35624"/>
                  </a:lnTo>
                  <a:lnTo>
                    <a:pt x="240091" y="13056"/>
                  </a:lnTo>
                  <a:lnTo>
                    <a:pt x="196442" y="1472"/>
                  </a:lnTo>
                  <a:lnTo>
                    <a:pt x="173875" y="0"/>
                  </a:lnTo>
                  <a:close/>
                </a:path>
              </a:pathLst>
            </a:custGeom>
            <a:solidFill>
              <a:srgbClr val="6266F0">
                <a:alpha val="6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6" name="Google Shape;146;p3"/>
            <p:cNvSpPr/>
            <p:nvPr/>
          </p:nvSpPr>
          <p:spPr>
            <a:xfrm>
              <a:off x="877684" y="1755726"/>
              <a:ext cx="347980" cy="347980"/>
            </a:xfrm>
            <a:custGeom>
              <a:rect b="b" l="l" r="r" t="t"/>
              <a:pathLst>
                <a:path extrusionOk="0" h="347980" w="347980">
                  <a:moveTo>
                    <a:pt x="0" y="173520"/>
                  </a:moveTo>
                  <a:lnTo>
                    <a:pt x="1478" y="150745"/>
                  </a:lnTo>
                  <a:lnTo>
                    <a:pt x="5891" y="128512"/>
                  </a:lnTo>
                  <a:lnTo>
                    <a:pt x="23393" y="86753"/>
                  </a:lnTo>
                  <a:lnTo>
                    <a:pt x="50892" y="50576"/>
                  </a:lnTo>
                  <a:lnTo>
                    <a:pt x="86753" y="23037"/>
                  </a:lnTo>
                  <a:lnTo>
                    <a:pt x="128833" y="5846"/>
                  </a:lnTo>
                  <a:lnTo>
                    <a:pt x="173875" y="0"/>
                  </a:lnTo>
                  <a:lnTo>
                    <a:pt x="218605" y="5846"/>
                  </a:lnTo>
                  <a:lnTo>
                    <a:pt x="260629" y="23037"/>
                  </a:lnTo>
                  <a:lnTo>
                    <a:pt x="296500" y="50576"/>
                  </a:lnTo>
                  <a:lnTo>
                    <a:pt x="323989" y="86753"/>
                  </a:lnTo>
                  <a:lnTo>
                    <a:pt x="341498" y="128512"/>
                  </a:lnTo>
                  <a:lnTo>
                    <a:pt x="347395" y="173520"/>
                  </a:lnTo>
                  <a:lnTo>
                    <a:pt x="345915" y="196287"/>
                  </a:lnTo>
                  <a:lnTo>
                    <a:pt x="341498" y="218516"/>
                  </a:lnTo>
                  <a:lnTo>
                    <a:pt x="323989" y="260273"/>
                  </a:lnTo>
                  <a:lnTo>
                    <a:pt x="296500" y="296456"/>
                  </a:lnTo>
                  <a:lnTo>
                    <a:pt x="260629" y="323989"/>
                  </a:lnTo>
                  <a:lnTo>
                    <a:pt x="218605" y="341364"/>
                  </a:lnTo>
                  <a:lnTo>
                    <a:pt x="173875" y="347395"/>
                  </a:lnTo>
                  <a:lnTo>
                    <a:pt x="128833" y="341364"/>
                  </a:lnTo>
                  <a:lnTo>
                    <a:pt x="86753" y="323989"/>
                  </a:lnTo>
                  <a:lnTo>
                    <a:pt x="50892" y="296456"/>
                  </a:lnTo>
                  <a:lnTo>
                    <a:pt x="23393" y="260273"/>
                  </a:lnTo>
                  <a:lnTo>
                    <a:pt x="5891" y="218516"/>
                  </a:lnTo>
                  <a:lnTo>
                    <a:pt x="1478" y="196287"/>
                  </a:lnTo>
                  <a:lnTo>
                    <a:pt x="0" y="173520"/>
                  </a:lnTo>
                  <a:close/>
                </a:path>
              </a:pathLst>
            </a:custGeom>
            <a:noFill/>
            <a:ln cap="flat" cmpd="sng" w="19075">
              <a:solidFill>
                <a:srgbClr val="6266F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7" name="Google Shape;147;p3"/>
            <p:cNvSpPr/>
            <p:nvPr/>
          </p:nvSpPr>
          <p:spPr>
            <a:xfrm>
              <a:off x="1225080" y="1929246"/>
              <a:ext cx="411480" cy="0"/>
            </a:xfrm>
            <a:custGeom>
              <a:rect b="b" l="l" r="r" t="t"/>
              <a:pathLst>
                <a:path extrusionOk="0" h="120000" w="411480">
                  <a:moveTo>
                    <a:pt x="0" y="0"/>
                  </a:moveTo>
                  <a:lnTo>
                    <a:pt x="411480" y="0"/>
                  </a:lnTo>
                </a:path>
              </a:pathLst>
            </a:custGeom>
            <a:noFill/>
            <a:ln cap="flat" cmpd="sng" w="12575">
              <a:solidFill>
                <a:srgbClr val="808BF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48" name="Google Shape;148;p3"/>
            <p:cNvPicPr preferRelativeResize="0"/>
            <p:nvPr/>
          </p:nvPicPr>
          <p:blipFill rotWithShape="1">
            <a:blip r:embed="rId4">
              <a:alphaModFix/>
            </a:blip>
            <a:srcRect b="0" l="0" r="0" t="0"/>
            <a:stretch/>
          </p:blipFill>
          <p:spPr>
            <a:xfrm>
              <a:off x="1520456" y="1831138"/>
              <a:ext cx="195479" cy="195479"/>
            </a:xfrm>
            <a:prstGeom prst="rect">
              <a:avLst/>
            </a:prstGeom>
            <a:noFill/>
            <a:ln>
              <a:noFill/>
            </a:ln>
          </p:spPr>
        </p:pic>
      </p:grpSp>
      <p:sp>
        <p:nvSpPr>
          <p:cNvPr id="149" name="Google Shape;149;p3"/>
          <p:cNvSpPr txBox="1"/>
          <p:nvPr/>
        </p:nvSpPr>
        <p:spPr>
          <a:xfrm>
            <a:off x="237604" y="1389597"/>
            <a:ext cx="1518285" cy="1005840"/>
          </a:xfrm>
          <a:prstGeom prst="rect">
            <a:avLst/>
          </a:prstGeom>
          <a:noFill/>
          <a:ln cap="flat" cmpd="sng" w="9525">
            <a:solidFill>
              <a:srgbClr val="E1E7EF"/>
            </a:solidFill>
            <a:prstDash val="solid"/>
            <a:round/>
            <a:headEnd len="sm" w="sm" type="none"/>
            <a:tailEnd len="sm" w="sm" type="none"/>
          </a:ln>
        </p:spPr>
        <p:txBody>
          <a:bodyPr anchorCtr="0" anchor="t" bIns="0" lIns="0" spcFirstLastPara="1" rIns="0" wrap="square" tIns="0">
            <a:spAutoFit/>
          </a:bodyPr>
          <a:lstStyle/>
          <a:p>
            <a:pPr indent="0" lvl="0" marL="0" rtl="0" algn="l">
              <a:lnSpc>
                <a:spcPct val="100000"/>
              </a:lnSpc>
              <a:spcBef>
                <a:spcPts val="0"/>
              </a:spcBef>
              <a:spcAft>
                <a:spcPts val="0"/>
              </a:spcAft>
              <a:buNone/>
            </a:pPr>
            <a:r>
              <a:t/>
            </a:r>
            <a:endParaRPr sz="1200">
              <a:latin typeface="Times New Roman"/>
              <a:ea typeface="Times New Roman"/>
              <a:cs typeface="Times New Roman"/>
              <a:sym typeface="Times New Roman"/>
            </a:endParaRPr>
          </a:p>
          <a:p>
            <a:pPr indent="0" lvl="0" marL="0" rtl="0" algn="l">
              <a:lnSpc>
                <a:spcPct val="100000"/>
              </a:lnSpc>
              <a:spcBef>
                <a:spcPts val="765"/>
              </a:spcBef>
              <a:spcAft>
                <a:spcPts val="0"/>
              </a:spcAft>
              <a:buNone/>
            </a:pPr>
            <a:r>
              <a:t/>
            </a:r>
            <a:endParaRPr sz="1200">
              <a:latin typeface="Times New Roman"/>
              <a:ea typeface="Times New Roman"/>
              <a:cs typeface="Times New Roman"/>
              <a:sym typeface="Times New Roman"/>
            </a:endParaRPr>
          </a:p>
          <a:p>
            <a:pPr indent="0" lvl="0" marL="109855" rtl="0" algn="ctr">
              <a:lnSpc>
                <a:spcPct val="100000"/>
              </a:lnSpc>
              <a:spcBef>
                <a:spcPts val="0"/>
              </a:spcBef>
              <a:spcAft>
                <a:spcPts val="0"/>
              </a:spcAft>
              <a:buNone/>
            </a:pPr>
            <a:r>
              <a:rPr lang="en-US" sz="1200">
                <a:solidFill>
                  <a:srgbClr val="FFFFFF"/>
                </a:solidFill>
                <a:latin typeface="Calibri"/>
                <a:ea typeface="Calibri"/>
                <a:cs typeface="Calibri"/>
                <a:sym typeface="Calibri"/>
              </a:rPr>
              <a:t>Σ</a:t>
            </a:r>
            <a:endParaRPr sz="1200">
              <a:latin typeface="Calibri"/>
              <a:ea typeface="Calibri"/>
              <a:cs typeface="Calibri"/>
              <a:sym typeface="Calibri"/>
            </a:endParaRPr>
          </a:p>
        </p:txBody>
      </p:sp>
      <p:sp>
        <p:nvSpPr>
          <p:cNvPr id="150" name="Google Shape;150;p3"/>
          <p:cNvSpPr txBox="1"/>
          <p:nvPr/>
        </p:nvSpPr>
        <p:spPr>
          <a:xfrm>
            <a:off x="263055" y="2466821"/>
            <a:ext cx="784860" cy="712470"/>
          </a:xfrm>
          <a:prstGeom prst="rect">
            <a:avLst/>
          </a:prstGeom>
          <a:noFill/>
          <a:ln>
            <a:noFill/>
          </a:ln>
        </p:spPr>
        <p:txBody>
          <a:bodyPr anchorCtr="0" anchor="t" bIns="0" lIns="0" spcFirstLastPara="1" rIns="0" wrap="square" tIns="12700">
            <a:spAutoFit/>
          </a:bodyPr>
          <a:lstStyle/>
          <a:p>
            <a:pPr indent="0" lvl="0" marL="12700" marR="5080" rtl="0" algn="l">
              <a:lnSpc>
                <a:spcPct val="125200"/>
              </a:lnSpc>
              <a:spcBef>
                <a:spcPts val="0"/>
              </a:spcBef>
              <a:spcAft>
                <a:spcPts val="0"/>
              </a:spcAft>
              <a:buNone/>
            </a:pPr>
            <a:r>
              <a:rPr b="1" lang="en-US" sz="900">
                <a:solidFill>
                  <a:srgbClr val="6266F0"/>
                </a:solidFill>
                <a:latin typeface="Calibri"/>
                <a:ea typeface="Calibri"/>
                <a:cs typeface="Calibri"/>
                <a:sym typeface="Calibri"/>
              </a:rPr>
              <a:t>Single neuron </a:t>
            </a:r>
            <a:r>
              <a:rPr lang="en-US" sz="900">
                <a:solidFill>
                  <a:srgbClr val="334054"/>
                </a:solidFill>
                <a:latin typeface="Calibri"/>
                <a:ea typeface="Calibri"/>
                <a:cs typeface="Calibri"/>
                <a:sym typeface="Calibri"/>
              </a:rPr>
              <a:t>Binary output Linear boundary Step activation</a:t>
            </a:r>
            <a:endParaRPr sz="900">
              <a:latin typeface="Calibri"/>
              <a:ea typeface="Calibri"/>
              <a:cs typeface="Calibri"/>
              <a:sym typeface="Calibri"/>
            </a:endParaRPr>
          </a:p>
        </p:txBody>
      </p:sp>
      <p:grpSp>
        <p:nvGrpSpPr>
          <p:cNvPr id="151" name="Google Shape;151;p3"/>
          <p:cNvGrpSpPr/>
          <p:nvPr/>
        </p:nvGrpSpPr>
        <p:grpSpPr>
          <a:xfrm>
            <a:off x="904504" y="683630"/>
            <a:ext cx="2727174" cy="3632595"/>
            <a:chOff x="904504" y="683630"/>
            <a:chExt cx="2727174" cy="3632595"/>
          </a:xfrm>
        </p:grpSpPr>
        <p:pic>
          <p:nvPicPr>
            <p:cNvPr id="152" name="Google Shape;152;p3"/>
            <p:cNvPicPr preferRelativeResize="0"/>
            <p:nvPr/>
          </p:nvPicPr>
          <p:blipFill rotWithShape="1">
            <a:blip r:embed="rId5">
              <a:alphaModFix/>
            </a:blip>
            <a:srcRect b="0" l="0" r="0" t="0"/>
            <a:stretch/>
          </p:blipFill>
          <p:spPr>
            <a:xfrm>
              <a:off x="904504" y="4132262"/>
              <a:ext cx="183950" cy="183963"/>
            </a:xfrm>
            <a:prstGeom prst="rect">
              <a:avLst/>
            </a:prstGeom>
            <a:noFill/>
            <a:ln>
              <a:noFill/>
            </a:ln>
          </p:spPr>
        </p:pic>
        <p:pic>
          <p:nvPicPr>
            <p:cNvPr id="153" name="Google Shape;153;p3"/>
            <p:cNvPicPr preferRelativeResize="0"/>
            <p:nvPr/>
          </p:nvPicPr>
          <p:blipFill rotWithShape="1">
            <a:blip r:embed="rId3">
              <a:alphaModFix/>
            </a:blip>
            <a:srcRect b="0" l="0" r="0" t="0"/>
            <a:stretch/>
          </p:blipFill>
          <p:spPr>
            <a:xfrm>
              <a:off x="1799996" y="683630"/>
              <a:ext cx="1831682" cy="3458895"/>
            </a:xfrm>
            <a:prstGeom prst="rect">
              <a:avLst/>
            </a:prstGeom>
            <a:noFill/>
            <a:ln>
              <a:noFill/>
            </a:ln>
          </p:spPr>
        </p:pic>
        <p:sp>
          <p:nvSpPr>
            <p:cNvPr id="154" name="Google Shape;154;p3"/>
            <p:cNvSpPr/>
            <p:nvPr/>
          </p:nvSpPr>
          <p:spPr>
            <a:xfrm>
              <a:off x="1901875" y="749517"/>
              <a:ext cx="1664335" cy="3291840"/>
            </a:xfrm>
            <a:custGeom>
              <a:rect b="b" l="l" r="r" t="t"/>
              <a:pathLst>
                <a:path extrusionOk="0" h="3291840" w="1664335">
                  <a:moveTo>
                    <a:pt x="1663928" y="0"/>
                  </a:moveTo>
                  <a:lnTo>
                    <a:pt x="0" y="0"/>
                  </a:lnTo>
                  <a:lnTo>
                    <a:pt x="0" y="3291484"/>
                  </a:lnTo>
                  <a:lnTo>
                    <a:pt x="831964" y="3291484"/>
                  </a:lnTo>
                  <a:lnTo>
                    <a:pt x="1663928" y="3291484"/>
                  </a:lnTo>
                  <a:lnTo>
                    <a:pt x="1663928"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5" name="Google Shape;155;p3"/>
            <p:cNvSpPr/>
            <p:nvPr/>
          </p:nvSpPr>
          <p:spPr>
            <a:xfrm>
              <a:off x="1901875" y="749517"/>
              <a:ext cx="1664335" cy="3291840"/>
            </a:xfrm>
            <a:custGeom>
              <a:rect b="b" l="l" r="r" t="t"/>
              <a:pathLst>
                <a:path extrusionOk="0" h="3291840" w="1664335">
                  <a:moveTo>
                    <a:pt x="831964" y="3291484"/>
                  </a:moveTo>
                  <a:lnTo>
                    <a:pt x="0" y="3291484"/>
                  </a:lnTo>
                  <a:lnTo>
                    <a:pt x="0" y="0"/>
                  </a:lnTo>
                  <a:lnTo>
                    <a:pt x="1663928" y="0"/>
                  </a:lnTo>
                  <a:lnTo>
                    <a:pt x="1663928" y="3291484"/>
                  </a:lnTo>
                  <a:lnTo>
                    <a:pt x="831964" y="3291484"/>
                  </a:lnTo>
                  <a:close/>
                </a:path>
              </a:pathLst>
            </a:custGeom>
            <a:noFill/>
            <a:ln cap="flat" cmpd="sng" w="15100">
              <a:solidFill>
                <a:srgbClr val="0DA4E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6" name="Google Shape;156;p3"/>
            <p:cNvSpPr/>
            <p:nvPr/>
          </p:nvSpPr>
          <p:spPr>
            <a:xfrm>
              <a:off x="1901875" y="749517"/>
              <a:ext cx="1664335" cy="64135"/>
            </a:xfrm>
            <a:custGeom>
              <a:rect b="b" l="l" r="r" t="t"/>
              <a:pathLst>
                <a:path extrusionOk="0" h="64134" w="1664335">
                  <a:moveTo>
                    <a:pt x="1663928" y="0"/>
                  </a:moveTo>
                  <a:lnTo>
                    <a:pt x="0" y="0"/>
                  </a:lnTo>
                  <a:lnTo>
                    <a:pt x="0" y="63728"/>
                  </a:lnTo>
                  <a:lnTo>
                    <a:pt x="831964" y="63728"/>
                  </a:lnTo>
                  <a:lnTo>
                    <a:pt x="1663928" y="63728"/>
                  </a:lnTo>
                  <a:lnTo>
                    <a:pt x="1663928" y="0"/>
                  </a:lnTo>
                  <a:close/>
                </a:path>
              </a:pathLst>
            </a:custGeom>
            <a:solidFill>
              <a:srgbClr val="0DA4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7" name="Google Shape;157;p3"/>
            <p:cNvSpPr/>
            <p:nvPr/>
          </p:nvSpPr>
          <p:spPr>
            <a:xfrm>
              <a:off x="1901875" y="749517"/>
              <a:ext cx="1664335" cy="64135"/>
            </a:xfrm>
            <a:custGeom>
              <a:rect b="b" l="l" r="r" t="t"/>
              <a:pathLst>
                <a:path extrusionOk="0" h="64134" w="1664335">
                  <a:moveTo>
                    <a:pt x="831964" y="63728"/>
                  </a:moveTo>
                  <a:lnTo>
                    <a:pt x="0" y="63728"/>
                  </a:lnTo>
                  <a:lnTo>
                    <a:pt x="0" y="0"/>
                  </a:lnTo>
                  <a:lnTo>
                    <a:pt x="1663928" y="0"/>
                  </a:lnTo>
                  <a:lnTo>
                    <a:pt x="1663928" y="63728"/>
                  </a:lnTo>
                  <a:lnTo>
                    <a:pt x="831964" y="63728"/>
                  </a:lnTo>
                  <a:close/>
                </a:path>
              </a:pathLst>
            </a:custGeom>
            <a:noFill/>
            <a:ln cap="flat" cmpd="sng" w="12575">
              <a:solidFill>
                <a:srgbClr val="0DA4E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8" name="Google Shape;158;p3"/>
            <p:cNvSpPr/>
            <p:nvPr/>
          </p:nvSpPr>
          <p:spPr>
            <a:xfrm>
              <a:off x="1974964" y="841326"/>
              <a:ext cx="1518285" cy="201295"/>
            </a:xfrm>
            <a:custGeom>
              <a:rect b="b" l="l" r="r" t="t"/>
              <a:pathLst>
                <a:path extrusionOk="0" h="201294" w="1518285">
                  <a:moveTo>
                    <a:pt x="1517751" y="0"/>
                  </a:moveTo>
                  <a:lnTo>
                    <a:pt x="0" y="0"/>
                  </a:lnTo>
                  <a:lnTo>
                    <a:pt x="0" y="200875"/>
                  </a:lnTo>
                  <a:lnTo>
                    <a:pt x="758875" y="200875"/>
                  </a:lnTo>
                  <a:lnTo>
                    <a:pt x="1517751" y="200875"/>
                  </a:lnTo>
                  <a:lnTo>
                    <a:pt x="1517751" y="0"/>
                  </a:lnTo>
                  <a:close/>
                </a:path>
              </a:pathLst>
            </a:custGeom>
            <a:solidFill>
              <a:srgbClr val="0DA4E8">
                <a:alpha val="14902"/>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9" name="Google Shape;159;p3"/>
            <p:cNvSpPr/>
            <p:nvPr/>
          </p:nvSpPr>
          <p:spPr>
            <a:xfrm>
              <a:off x="1974964" y="841326"/>
              <a:ext cx="1518285" cy="201295"/>
            </a:xfrm>
            <a:custGeom>
              <a:rect b="b" l="l" r="r" t="t"/>
              <a:pathLst>
                <a:path extrusionOk="0" h="201294" w="1518285">
                  <a:moveTo>
                    <a:pt x="758875" y="200875"/>
                  </a:moveTo>
                  <a:lnTo>
                    <a:pt x="0" y="200875"/>
                  </a:lnTo>
                  <a:lnTo>
                    <a:pt x="0" y="0"/>
                  </a:lnTo>
                  <a:lnTo>
                    <a:pt x="1517751" y="0"/>
                  </a:lnTo>
                  <a:lnTo>
                    <a:pt x="1517751" y="200875"/>
                  </a:lnTo>
                  <a:lnTo>
                    <a:pt x="758875" y="200875"/>
                  </a:lnTo>
                  <a:close/>
                </a:path>
              </a:pathLst>
            </a:custGeom>
            <a:noFill/>
            <a:ln cap="flat" cmpd="sng" w="9525">
              <a:solidFill>
                <a:srgbClr val="0DA4E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60" name="Google Shape;160;p3"/>
          <p:cNvSpPr txBox="1"/>
          <p:nvPr/>
        </p:nvSpPr>
        <p:spPr>
          <a:xfrm>
            <a:off x="1979644" y="868211"/>
            <a:ext cx="1508760" cy="147320"/>
          </a:xfrm>
          <a:prstGeom prst="rect">
            <a:avLst/>
          </a:prstGeom>
          <a:noFill/>
          <a:ln>
            <a:noFill/>
          </a:ln>
        </p:spPr>
        <p:txBody>
          <a:bodyPr anchorCtr="0" anchor="t" bIns="0" lIns="0" spcFirstLastPara="1" rIns="0" wrap="square" tIns="12700">
            <a:spAutoFit/>
          </a:bodyPr>
          <a:lstStyle/>
          <a:p>
            <a:pPr indent="0" lvl="0" marL="0" rtl="0" algn="ctr">
              <a:lnSpc>
                <a:spcPct val="100000"/>
              </a:lnSpc>
              <a:spcBef>
                <a:spcPts val="0"/>
              </a:spcBef>
              <a:spcAft>
                <a:spcPts val="0"/>
              </a:spcAft>
              <a:buNone/>
            </a:pPr>
            <a:r>
              <a:rPr b="1" lang="en-US" sz="800">
                <a:solidFill>
                  <a:srgbClr val="0DA4E8"/>
                </a:solidFill>
                <a:latin typeface="Calibri"/>
                <a:ea typeface="Calibri"/>
                <a:cs typeface="Calibri"/>
                <a:sym typeface="Calibri"/>
              </a:rPr>
              <a:t>1980s</a:t>
            </a:r>
            <a:endParaRPr sz="800">
              <a:latin typeface="Calibri"/>
              <a:ea typeface="Calibri"/>
              <a:cs typeface="Calibri"/>
              <a:sym typeface="Calibri"/>
            </a:endParaRPr>
          </a:p>
        </p:txBody>
      </p:sp>
      <p:sp>
        <p:nvSpPr>
          <p:cNvPr id="161" name="Google Shape;161;p3"/>
          <p:cNvSpPr txBox="1"/>
          <p:nvPr/>
        </p:nvSpPr>
        <p:spPr>
          <a:xfrm>
            <a:off x="2583357" y="1104381"/>
            <a:ext cx="314325" cy="224154"/>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300">
                <a:solidFill>
                  <a:srgbClr val="1D283A"/>
                </a:solidFill>
                <a:latin typeface="Calibri"/>
                <a:ea typeface="Calibri"/>
                <a:cs typeface="Calibri"/>
                <a:sym typeface="Calibri"/>
              </a:rPr>
              <a:t>MLP</a:t>
            </a:r>
            <a:endParaRPr sz="1300">
              <a:latin typeface="Calibri"/>
              <a:ea typeface="Calibri"/>
              <a:cs typeface="Calibri"/>
              <a:sym typeface="Calibri"/>
            </a:endParaRPr>
          </a:p>
        </p:txBody>
      </p:sp>
      <p:grpSp>
        <p:nvGrpSpPr>
          <p:cNvPr id="162" name="Google Shape;162;p3"/>
          <p:cNvGrpSpPr/>
          <p:nvPr/>
        </p:nvGrpSpPr>
        <p:grpSpPr>
          <a:xfrm>
            <a:off x="1970284" y="683630"/>
            <a:ext cx="3398754" cy="3632595"/>
            <a:chOff x="1970284" y="683630"/>
            <a:chExt cx="3398754" cy="3632595"/>
          </a:xfrm>
        </p:grpSpPr>
        <p:pic>
          <p:nvPicPr>
            <p:cNvPr id="163" name="Google Shape;163;p3"/>
            <p:cNvPicPr preferRelativeResize="0"/>
            <p:nvPr/>
          </p:nvPicPr>
          <p:blipFill rotWithShape="1">
            <a:blip r:embed="rId6">
              <a:alphaModFix/>
            </a:blip>
            <a:srcRect b="0" l="0" r="0" t="0"/>
            <a:stretch/>
          </p:blipFill>
          <p:spPr>
            <a:xfrm>
              <a:off x="1970284" y="1384918"/>
              <a:ext cx="1527111" cy="1014844"/>
            </a:xfrm>
            <a:prstGeom prst="rect">
              <a:avLst/>
            </a:prstGeom>
            <a:noFill/>
            <a:ln>
              <a:noFill/>
            </a:ln>
          </p:spPr>
        </p:pic>
        <p:pic>
          <p:nvPicPr>
            <p:cNvPr id="164" name="Google Shape;164;p3"/>
            <p:cNvPicPr preferRelativeResize="0"/>
            <p:nvPr/>
          </p:nvPicPr>
          <p:blipFill rotWithShape="1">
            <a:blip r:embed="rId7">
              <a:alphaModFix/>
            </a:blip>
            <a:srcRect b="0" l="0" r="0" t="0"/>
            <a:stretch/>
          </p:blipFill>
          <p:spPr>
            <a:xfrm>
              <a:off x="2641864" y="4132262"/>
              <a:ext cx="183950" cy="183963"/>
            </a:xfrm>
            <a:prstGeom prst="rect">
              <a:avLst/>
            </a:prstGeom>
            <a:noFill/>
            <a:ln>
              <a:noFill/>
            </a:ln>
          </p:spPr>
        </p:pic>
        <p:pic>
          <p:nvPicPr>
            <p:cNvPr id="165" name="Google Shape;165;p3"/>
            <p:cNvPicPr preferRelativeResize="0"/>
            <p:nvPr/>
          </p:nvPicPr>
          <p:blipFill rotWithShape="1">
            <a:blip r:embed="rId3">
              <a:alphaModFix/>
            </a:blip>
            <a:srcRect b="0" l="0" r="0" t="0"/>
            <a:stretch/>
          </p:blipFill>
          <p:spPr>
            <a:xfrm>
              <a:off x="3537356" y="683630"/>
              <a:ext cx="1831682" cy="3458895"/>
            </a:xfrm>
            <a:prstGeom prst="rect">
              <a:avLst/>
            </a:prstGeom>
            <a:noFill/>
            <a:ln>
              <a:noFill/>
            </a:ln>
          </p:spPr>
        </p:pic>
        <p:sp>
          <p:nvSpPr>
            <p:cNvPr id="166" name="Google Shape;166;p3"/>
            <p:cNvSpPr/>
            <p:nvPr/>
          </p:nvSpPr>
          <p:spPr>
            <a:xfrm>
              <a:off x="3639235" y="749517"/>
              <a:ext cx="1664335" cy="3291840"/>
            </a:xfrm>
            <a:custGeom>
              <a:rect b="b" l="l" r="r" t="t"/>
              <a:pathLst>
                <a:path extrusionOk="0" h="3291840" w="1664335">
                  <a:moveTo>
                    <a:pt x="1663928" y="0"/>
                  </a:moveTo>
                  <a:lnTo>
                    <a:pt x="0" y="0"/>
                  </a:lnTo>
                  <a:lnTo>
                    <a:pt x="0" y="3291484"/>
                  </a:lnTo>
                  <a:lnTo>
                    <a:pt x="831964" y="3291484"/>
                  </a:lnTo>
                  <a:lnTo>
                    <a:pt x="1663928" y="3291484"/>
                  </a:lnTo>
                  <a:lnTo>
                    <a:pt x="1663928"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7" name="Google Shape;167;p3"/>
            <p:cNvSpPr/>
            <p:nvPr/>
          </p:nvSpPr>
          <p:spPr>
            <a:xfrm>
              <a:off x="3639235" y="749517"/>
              <a:ext cx="1664335" cy="3291840"/>
            </a:xfrm>
            <a:custGeom>
              <a:rect b="b" l="l" r="r" t="t"/>
              <a:pathLst>
                <a:path extrusionOk="0" h="3291840" w="1664335">
                  <a:moveTo>
                    <a:pt x="831964" y="3291484"/>
                  </a:moveTo>
                  <a:lnTo>
                    <a:pt x="0" y="3291484"/>
                  </a:lnTo>
                  <a:lnTo>
                    <a:pt x="0" y="0"/>
                  </a:lnTo>
                  <a:lnTo>
                    <a:pt x="1663928" y="0"/>
                  </a:lnTo>
                  <a:lnTo>
                    <a:pt x="1663928" y="3291484"/>
                  </a:lnTo>
                  <a:lnTo>
                    <a:pt x="831964" y="3291484"/>
                  </a:lnTo>
                  <a:close/>
                </a:path>
              </a:pathLst>
            </a:custGeom>
            <a:noFill/>
            <a:ln cap="flat" cmpd="sng" w="15100">
              <a:solidFill>
                <a:srgbClr val="0FB88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8" name="Google Shape;168;p3"/>
            <p:cNvSpPr/>
            <p:nvPr/>
          </p:nvSpPr>
          <p:spPr>
            <a:xfrm>
              <a:off x="3639235" y="749517"/>
              <a:ext cx="1664335" cy="64135"/>
            </a:xfrm>
            <a:custGeom>
              <a:rect b="b" l="l" r="r" t="t"/>
              <a:pathLst>
                <a:path extrusionOk="0" h="64134" w="1664335">
                  <a:moveTo>
                    <a:pt x="1663928" y="0"/>
                  </a:moveTo>
                  <a:lnTo>
                    <a:pt x="0" y="0"/>
                  </a:lnTo>
                  <a:lnTo>
                    <a:pt x="0" y="63728"/>
                  </a:lnTo>
                  <a:lnTo>
                    <a:pt x="831964" y="63728"/>
                  </a:lnTo>
                  <a:lnTo>
                    <a:pt x="1663928" y="63728"/>
                  </a:lnTo>
                  <a:lnTo>
                    <a:pt x="1663928" y="0"/>
                  </a:lnTo>
                  <a:close/>
                </a:path>
              </a:pathLst>
            </a:custGeom>
            <a:solidFill>
              <a:srgbClr val="0FB88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9" name="Google Shape;169;p3"/>
            <p:cNvSpPr/>
            <p:nvPr/>
          </p:nvSpPr>
          <p:spPr>
            <a:xfrm>
              <a:off x="3639235" y="749517"/>
              <a:ext cx="1664335" cy="64135"/>
            </a:xfrm>
            <a:custGeom>
              <a:rect b="b" l="l" r="r" t="t"/>
              <a:pathLst>
                <a:path extrusionOk="0" h="64134" w="1664335">
                  <a:moveTo>
                    <a:pt x="831964" y="63728"/>
                  </a:moveTo>
                  <a:lnTo>
                    <a:pt x="0" y="63728"/>
                  </a:lnTo>
                  <a:lnTo>
                    <a:pt x="0" y="0"/>
                  </a:lnTo>
                  <a:lnTo>
                    <a:pt x="1663928" y="0"/>
                  </a:lnTo>
                  <a:lnTo>
                    <a:pt x="1663928" y="63728"/>
                  </a:lnTo>
                  <a:lnTo>
                    <a:pt x="831964" y="63728"/>
                  </a:lnTo>
                  <a:close/>
                </a:path>
              </a:pathLst>
            </a:custGeom>
            <a:noFill/>
            <a:ln cap="flat" cmpd="sng" w="12575">
              <a:solidFill>
                <a:srgbClr val="0FB88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0" name="Google Shape;170;p3"/>
            <p:cNvSpPr/>
            <p:nvPr/>
          </p:nvSpPr>
          <p:spPr>
            <a:xfrm>
              <a:off x="3712324" y="841326"/>
              <a:ext cx="1518285" cy="201295"/>
            </a:xfrm>
            <a:custGeom>
              <a:rect b="b" l="l" r="r" t="t"/>
              <a:pathLst>
                <a:path extrusionOk="0" h="201294" w="1518285">
                  <a:moveTo>
                    <a:pt x="1517751" y="0"/>
                  </a:moveTo>
                  <a:lnTo>
                    <a:pt x="0" y="0"/>
                  </a:lnTo>
                  <a:lnTo>
                    <a:pt x="0" y="200875"/>
                  </a:lnTo>
                  <a:lnTo>
                    <a:pt x="758875" y="200875"/>
                  </a:lnTo>
                  <a:lnTo>
                    <a:pt x="1517751" y="200875"/>
                  </a:lnTo>
                  <a:lnTo>
                    <a:pt x="1517751" y="0"/>
                  </a:lnTo>
                  <a:close/>
                </a:path>
              </a:pathLst>
            </a:custGeom>
            <a:solidFill>
              <a:srgbClr val="0FB880">
                <a:alpha val="14902"/>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1" name="Google Shape;171;p3"/>
            <p:cNvSpPr/>
            <p:nvPr/>
          </p:nvSpPr>
          <p:spPr>
            <a:xfrm>
              <a:off x="3712324" y="841326"/>
              <a:ext cx="1518285" cy="201295"/>
            </a:xfrm>
            <a:custGeom>
              <a:rect b="b" l="l" r="r" t="t"/>
              <a:pathLst>
                <a:path extrusionOk="0" h="201294" w="1518285">
                  <a:moveTo>
                    <a:pt x="758875" y="200875"/>
                  </a:moveTo>
                  <a:lnTo>
                    <a:pt x="0" y="200875"/>
                  </a:lnTo>
                  <a:lnTo>
                    <a:pt x="0" y="0"/>
                  </a:lnTo>
                  <a:lnTo>
                    <a:pt x="1517751" y="0"/>
                  </a:lnTo>
                  <a:lnTo>
                    <a:pt x="1517751" y="200875"/>
                  </a:lnTo>
                  <a:lnTo>
                    <a:pt x="758875" y="200875"/>
                  </a:lnTo>
                  <a:close/>
                </a:path>
              </a:pathLst>
            </a:custGeom>
            <a:noFill/>
            <a:ln cap="flat" cmpd="sng" w="9525">
              <a:solidFill>
                <a:srgbClr val="0FB88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72" name="Google Shape;172;p3"/>
          <p:cNvSpPr txBox="1"/>
          <p:nvPr/>
        </p:nvSpPr>
        <p:spPr>
          <a:xfrm>
            <a:off x="3717004" y="868211"/>
            <a:ext cx="1508760" cy="147320"/>
          </a:xfrm>
          <a:prstGeom prst="rect">
            <a:avLst/>
          </a:prstGeom>
          <a:noFill/>
          <a:ln>
            <a:noFill/>
          </a:ln>
        </p:spPr>
        <p:txBody>
          <a:bodyPr anchorCtr="0" anchor="t" bIns="0" lIns="0" spcFirstLastPara="1" rIns="0" wrap="square" tIns="12700">
            <a:spAutoFit/>
          </a:bodyPr>
          <a:lstStyle/>
          <a:p>
            <a:pPr indent="0" lvl="0" marL="0" rtl="0" algn="ctr">
              <a:lnSpc>
                <a:spcPct val="100000"/>
              </a:lnSpc>
              <a:spcBef>
                <a:spcPts val="0"/>
              </a:spcBef>
              <a:spcAft>
                <a:spcPts val="0"/>
              </a:spcAft>
              <a:buNone/>
            </a:pPr>
            <a:r>
              <a:rPr b="1" lang="en-US" sz="800">
                <a:solidFill>
                  <a:srgbClr val="0FB880"/>
                </a:solidFill>
                <a:latin typeface="Calibri"/>
                <a:ea typeface="Calibri"/>
                <a:cs typeface="Calibri"/>
                <a:sym typeface="Calibri"/>
              </a:rPr>
              <a:t>1990s</a:t>
            </a:r>
            <a:endParaRPr sz="800">
              <a:latin typeface="Calibri"/>
              <a:ea typeface="Calibri"/>
              <a:cs typeface="Calibri"/>
              <a:sym typeface="Calibri"/>
            </a:endParaRPr>
          </a:p>
        </p:txBody>
      </p:sp>
      <p:sp>
        <p:nvSpPr>
          <p:cNvPr id="173" name="Google Shape;173;p3"/>
          <p:cNvSpPr txBox="1"/>
          <p:nvPr/>
        </p:nvSpPr>
        <p:spPr>
          <a:xfrm>
            <a:off x="4306582" y="1104381"/>
            <a:ext cx="329565" cy="224154"/>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00">
                <a:solidFill>
                  <a:srgbClr val="1D283A"/>
                </a:solidFill>
                <a:latin typeface="Calibri"/>
                <a:ea typeface="Calibri"/>
                <a:cs typeface="Calibri"/>
                <a:sym typeface="Calibri"/>
              </a:rPr>
              <a:t>CNN</a:t>
            </a:r>
            <a:endParaRPr sz="1300">
              <a:latin typeface="Calibri"/>
              <a:ea typeface="Calibri"/>
              <a:cs typeface="Calibri"/>
              <a:sym typeface="Calibri"/>
            </a:endParaRPr>
          </a:p>
        </p:txBody>
      </p:sp>
      <p:grpSp>
        <p:nvGrpSpPr>
          <p:cNvPr id="174" name="Google Shape;174;p3"/>
          <p:cNvGrpSpPr/>
          <p:nvPr/>
        </p:nvGrpSpPr>
        <p:grpSpPr>
          <a:xfrm>
            <a:off x="3712324" y="1389597"/>
            <a:ext cx="1518285" cy="1005840"/>
            <a:chOff x="3712324" y="1389597"/>
            <a:chExt cx="1518285" cy="1005840"/>
          </a:xfrm>
        </p:grpSpPr>
        <p:sp>
          <p:nvSpPr>
            <p:cNvPr id="175" name="Google Shape;175;p3"/>
            <p:cNvSpPr/>
            <p:nvPr/>
          </p:nvSpPr>
          <p:spPr>
            <a:xfrm>
              <a:off x="3712324" y="1389597"/>
              <a:ext cx="1518285" cy="1005840"/>
            </a:xfrm>
            <a:custGeom>
              <a:rect b="b" l="l" r="r" t="t"/>
              <a:pathLst>
                <a:path extrusionOk="0" h="1005839" w="1518285">
                  <a:moveTo>
                    <a:pt x="1517751" y="0"/>
                  </a:moveTo>
                  <a:lnTo>
                    <a:pt x="0" y="0"/>
                  </a:lnTo>
                  <a:lnTo>
                    <a:pt x="0" y="1005484"/>
                  </a:lnTo>
                  <a:lnTo>
                    <a:pt x="758875" y="1005484"/>
                  </a:lnTo>
                  <a:lnTo>
                    <a:pt x="1517751" y="1005484"/>
                  </a:lnTo>
                  <a:lnTo>
                    <a:pt x="1517751" y="0"/>
                  </a:lnTo>
                  <a:close/>
                </a:path>
              </a:pathLst>
            </a:custGeom>
            <a:solidFill>
              <a:srgbClr val="F0F4F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6" name="Google Shape;176;p3"/>
            <p:cNvSpPr/>
            <p:nvPr/>
          </p:nvSpPr>
          <p:spPr>
            <a:xfrm>
              <a:off x="3785755" y="1527126"/>
              <a:ext cx="201295" cy="749935"/>
            </a:xfrm>
            <a:custGeom>
              <a:rect b="b" l="l" r="r" t="t"/>
              <a:pathLst>
                <a:path extrusionOk="0" h="749935" w="201295">
                  <a:moveTo>
                    <a:pt x="200888" y="0"/>
                  </a:moveTo>
                  <a:lnTo>
                    <a:pt x="0" y="0"/>
                  </a:lnTo>
                  <a:lnTo>
                    <a:pt x="0" y="749515"/>
                  </a:lnTo>
                  <a:lnTo>
                    <a:pt x="100444" y="749515"/>
                  </a:lnTo>
                  <a:lnTo>
                    <a:pt x="200888" y="749515"/>
                  </a:lnTo>
                  <a:lnTo>
                    <a:pt x="200888" y="0"/>
                  </a:lnTo>
                  <a:close/>
                </a:path>
              </a:pathLst>
            </a:custGeom>
            <a:solidFill>
              <a:srgbClr val="BEDA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7" name="Google Shape;177;p3"/>
            <p:cNvSpPr/>
            <p:nvPr/>
          </p:nvSpPr>
          <p:spPr>
            <a:xfrm>
              <a:off x="3785755" y="1527126"/>
              <a:ext cx="201295" cy="749935"/>
            </a:xfrm>
            <a:custGeom>
              <a:rect b="b" l="l" r="r" t="t"/>
              <a:pathLst>
                <a:path extrusionOk="0" h="749935" w="201295">
                  <a:moveTo>
                    <a:pt x="100444" y="749515"/>
                  </a:moveTo>
                  <a:lnTo>
                    <a:pt x="0" y="749515"/>
                  </a:lnTo>
                  <a:lnTo>
                    <a:pt x="0" y="0"/>
                  </a:lnTo>
                  <a:lnTo>
                    <a:pt x="200888" y="0"/>
                  </a:lnTo>
                  <a:lnTo>
                    <a:pt x="200888" y="749515"/>
                  </a:lnTo>
                  <a:lnTo>
                    <a:pt x="100444" y="749515"/>
                  </a:lnTo>
                  <a:close/>
                </a:path>
              </a:pathLst>
            </a:custGeom>
            <a:noFill/>
            <a:ln cap="flat" cmpd="sng" w="10075">
              <a:solidFill>
                <a:srgbClr val="0FB88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8" name="Google Shape;178;p3"/>
            <p:cNvSpPr/>
            <p:nvPr/>
          </p:nvSpPr>
          <p:spPr>
            <a:xfrm>
              <a:off x="4041724" y="1527126"/>
              <a:ext cx="201295" cy="749935"/>
            </a:xfrm>
            <a:custGeom>
              <a:rect b="b" l="l" r="r" t="t"/>
              <a:pathLst>
                <a:path extrusionOk="0" h="749935" w="201295">
                  <a:moveTo>
                    <a:pt x="200875" y="0"/>
                  </a:moveTo>
                  <a:lnTo>
                    <a:pt x="0" y="0"/>
                  </a:lnTo>
                  <a:lnTo>
                    <a:pt x="0" y="749515"/>
                  </a:lnTo>
                  <a:lnTo>
                    <a:pt x="100431" y="749515"/>
                  </a:lnTo>
                  <a:lnTo>
                    <a:pt x="200875" y="749515"/>
                  </a:lnTo>
                  <a:lnTo>
                    <a:pt x="200875" y="0"/>
                  </a:lnTo>
                  <a:close/>
                </a:path>
              </a:pathLst>
            </a:custGeom>
            <a:solidFill>
              <a:srgbClr val="BAF6C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9" name="Google Shape;179;p3"/>
            <p:cNvSpPr/>
            <p:nvPr/>
          </p:nvSpPr>
          <p:spPr>
            <a:xfrm>
              <a:off x="4041724" y="1527126"/>
              <a:ext cx="201295" cy="749935"/>
            </a:xfrm>
            <a:custGeom>
              <a:rect b="b" l="l" r="r" t="t"/>
              <a:pathLst>
                <a:path extrusionOk="0" h="749935" w="201295">
                  <a:moveTo>
                    <a:pt x="100431" y="749515"/>
                  </a:moveTo>
                  <a:lnTo>
                    <a:pt x="0" y="749515"/>
                  </a:lnTo>
                  <a:lnTo>
                    <a:pt x="0" y="0"/>
                  </a:lnTo>
                  <a:lnTo>
                    <a:pt x="200875" y="0"/>
                  </a:lnTo>
                  <a:lnTo>
                    <a:pt x="200875" y="749515"/>
                  </a:lnTo>
                  <a:lnTo>
                    <a:pt x="100431" y="749515"/>
                  </a:lnTo>
                  <a:close/>
                </a:path>
              </a:pathLst>
            </a:custGeom>
            <a:noFill/>
            <a:ln cap="flat" cmpd="sng" w="10075">
              <a:solidFill>
                <a:srgbClr val="0FB88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0" name="Google Shape;180;p3"/>
            <p:cNvSpPr/>
            <p:nvPr/>
          </p:nvSpPr>
          <p:spPr>
            <a:xfrm>
              <a:off x="4297679" y="1527126"/>
              <a:ext cx="201295" cy="749935"/>
            </a:xfrm>
            <a:custGeom>
              <a:rect b="b" l="l" r="r" t="t"/>
              <a:pathLst>
                <a:path extrusionOk="0" h="749935" w="201295">
                  <a:moveTo>
                    <a:pt x="200875" y="0"/>
                  </a:moveTo>
                  <a:lnTo>
                    <a:pt x="0" y="0"/>
                  </a:lnTo>
                  <a:lnTo>
                    <a:pt x="0" y="749515"/>
                  </a:lnTo>
                  <a:lnTo>
                    <a:pt x="100444" y="749515"/>
                  </a:lnTo>
                  <a:lnTo>
                    <a:pt x="200875" y="749515"/>
                  </a:lnTo>
                  <a:lnTo>
                    <a:pt x="200875" y="0"/>
                  </a:lnTo>
                  <a:close/>
                </a:path>
              </a:pathLst>
            </a:custGeom>
            <a:solidFill>
              <a:srgbClr val="BEDA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1" name="Google Shape;181;p3"/>
            <p:cNvSpPr/>
            <p:nvPr/>
          </p:nvSpPr>
          <p:spPr>
            <a:xfrm>
              <a:off x="4297679" y="1527126"/>
              <a:ext cx="201295" cy="749935"/>
            </a:xfrm>
            <a:custGeom>
              <a:rect b="b" l="l" r="r" t="t"/>
              <a:pathLst>
                <a:path extrusionOk="0" h="749935" w="201295">
                  <a:moveTo>
                    <a:pt x="100444" y="749515"/>
                  </a:moveTo>
                  <a:lnTo>
                    <a:pt x="0" y="749515"/>
                  </a:lnTo>
                  <a:lnTo>
                    <a:pt x="0" y="0"/>
                  </a:lnTo>
                  <a:lnTo>
                    <a:pt x="200875" y="0"/>
                  </a:lnTo>
                  <a:lnTo>
                    <a:pt x="200875" y="749515"/>
                  </a:lnTo>
                  <a:lnTo>
                    <a:pt x="100444" y="749515"/>
                  </a:lnTo>
                  <a:close/>
                </a:path>
              </a:pathLst>
            </a:custGeom>
            <a:noFill/>
            <a:ln cap="flat" cmpd="sng" w="10075">
              <a:solidFill>
                <a:srgbClr val="0FB88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2" name="Google Shape;182;p3"/>
            <p:cNvSpPr/>
            <p:nvPr/>
          </p:nvSpPr>
          <p:spPr>
            <a:xfrm>
              <a:off x="4608715" y="1645566"/>
              <a:ext cx="146685" cy="521334"/>
            </a:xfrm>
            <a:custGeom>
              <a:rect b="b" l="l" r="r" t="t"/>
              <a:pathLst>
                <a:path extrusionOk="0" h="521335" w="146685">
                  <a:moveTo>
                    <a:pt x="146164" y="0"/>
                  </a:moveTo>
                  <a:lnTo>
                    <a:pt x="0" y="0"/>
                  </a:lnTo>
                  <a:lnTo>
                    <a:pt x="0" y="520915"/>
                  </a:lnTo>
                  <a:lnTo>
                    <a:pt x="73088" y="520915"/>
                  </a:lnTo>
                  <a:lnTo>
                    <a:pt x="146164" y="520915"/>
                  </a:lnTo>
                  <a:lnTo>
                    <a:pt x="146164" y="0"/>
                  </a:lnTo>
                  <a:close/>
                </a:path>
              </a:pathLst>
            </a:custGeom>
            <a:solidFill>
              <a:srgbClr val="DAE9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3" name="Google Shape;183;p3"/>
            <p:cNvSpPr/>
            <p:nvPr/>
          </p:nvSpPr>
          <p:spPr>
            <a:xfrm>
              <a:off x="4608715" y="1645566"/>
              <a:ext cx="146685" cy="521334"/>
            </a:xfrm>
            <a:custGeom>
              <a:rect b="b" l="l" r="r" t="t"/>
              <a:pathLst>
                <a:path extrusionOk="0" h="521335" w="146685">
                  <a:moveTo>
                    <a:pt x="73088" y="520915"/>
                  </a:moveTo>
                  <a:lnTo>
                    <a:pt x="0" y="520915"/>
                  </a:lnTo>
                  <a:lnTo>
                    <a:pt x="0" y="0"/>
                  </a:lnTo>
                  <a:lnTo>
                    <a:pt x="146164" y="0"/>
                  </a:lnTo>
                  <a:lnTo>
                    <a:pt x="146164" y="520915"/>
                  </a:lnTo>
                  <a:lnTo>
                    <a:pt x="73088" y="520915"/>
                  </a:lnTo>
                  <a:close/>
                </a:path>
              </a:pathLst>
            </a:custGeom>
            <a:noFill/>
            <a:ln cap="flat" cmpd="sng" w="10075">
              <a:solidFill>
                <a:srgbClr val="0FB88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4" name="Google Shape;184;p3"/>
            <p:cNvSpPr/>
            <p:nvPr/>
          </p:nvSpPr>
          <p:spPr>
            <a:xfrm>
              <a:off x="4827955" y="1737362"/>
              <a:ext cx="109855" cy="347345"/>
            </a:xfrm>
            <a:custGeom>
              <a:rect b="b" l="l" r="r" t="t"/>
              <a:pathLst>
                <a:path extrusionOk="0" h="347344" w="109854">
                  <a:moveTo>
                    <a:pt x="109448" y="0"/>
                  </a:moveTo>
                  <a:lnTo>
                    <a:pt x="0" y="0"/>
                  </a:lnTo>
                  <a:lnTo>
                    <a:pt x="0" y="347040"/>
                  </a:lnTo>
                  <a:lnTo>
                    <a:pt x="54724" y="347040"/>
                  </a:lnTo>
                  <a:lnTo>
                    <a:pt x="109448" y="347040"/>
                  </a:lnTo>
                  <a:lnTo>
                    <a:pt x="109448" y="0"/>
                  </a:lnTo>
                  <a:close/>
                </a:path>
              </a:pathLst>
            </a:custGeom>
            <a:solidFill>
              <a:srgbClr val="0FB880">
                <a:alpha val="6000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5" name="Google Shape;185;p3"/>
            <p:cNvSpPr/>
            <p:nvPr/>
          </p:nvSpPr>
          <p:spPr>
            <a:xfrm>
              <a:off x="4827955" y="1737362"/>
              <a:ext cx="109855" cy="347345"/>
            </a:xfrm>
            <a:custGeom>
              <a:rect b="b" l="l" r="r" t="t"/>
              <a:pathLst>
                <a:path extrusionOk="0" h="347344" w="109854">
                  <a:moveTo>
                    <a:pt x="54724" y="347040"/>
                  </a:moveTo>
                  <a:lnTo>
                    <a:pt x="0" y="347040"/>
                  </a:lnTo>
                  <a:lnTo>
                    <a:pt x="0" y="0"/>
                  </a:lnTo>
                  <a:lnTo>
                    <a:pt x="109448" y="0"/>
                  </a:lnTo>
                  <a:lnTo>
                    <a:pt x="109448" y="347040"/>
                  </a:lnTo>
                  <a:lnTo>
                    <a:pt x="54724" y="347040"/>
                  </a:lnTo>
                  <a:close/>
                </a:path>
              </a:pathLst>
            </a:custGeom>
            <a:noFill/>
            <a:ln cap="flat" cmpd="sng" w="10075">
              <a:solidFill>
                <a:srgbClr val="0FB88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86" name="Google Shape;186;p3"/>
          <p:cNvSpPr txBox="1"/>
          <p:nvPr/>
        </p:nvSpPr>
        <p:spPr>
          <a:xfrm>
            <a:off x="3712324" y="1389597"/>
            <a:ext cx="1518285" cy="1005840"/>
          </a:xfrm>
          <a:prstGeom prst="rect">
            <a:avLst/>
          </a:prstGeom>
          <a:noFill/>
          <a:ln cap="flat" cmpd="sng" w="9525">
            <a:solidFill>
              <a:srgbClr val="E1E7EF"/>
            </a:solidFill>
            <a:prstDash val="solid"/>
            <a:round/>
            <a:headEnd len="sm" w="sm" type="none"/>
            <a:tailEnd len="sm" w="sm" type="none"/>
          </a:ln>
        </p:spPr>
        <p:txBody>
          <a:bodyPr anchorCtr="0" anchor="t" bIns="0" lIns="0" spcFirstLastPara="1" rIns="0" wrap="square" tIns="0">
            <a:spAutoFit/>
          </a:bodyPr>
          <a:lstStyle/>
          <a:p>
            <a:pPr indent="0" lvl="0" marL="0" rtl="0" algn="l">
              <a:lnSpc>
                <a:spcPct val="100000"/>
              </a:lnSpc>
              <a:spcBef>
                <a:spcPts val="0"/>
              </a:spcBef>
              <a:spcAft>
                <a:spcPts val="0"/>
              </a:spcAft>
              <a:buNone/>
            </a:pPr>
            <a:r>
              <a:t/>
            </a:r>
            <a:endParaRPr sz="6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6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6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6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6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6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6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6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600">
              <a:latin typeface="Times New Roman"/>
              <a:ea typeface="Times New Roman"/>
              <a:cs typeface="Times New Roman"/>
              <a:sym typeface="Times New Roman"/>
            </a:endParaRPr>
          </a:p>
          <a:p>
            <a:pPr indent="0" lvl="0" marL="0" rtl="0" algn="l">
              <a:lnSpc>
                <a:spcPct val="100000"/>
              </a:lnSpc>
              <a:spcBef>
                <a:spcPts val="375"/>
              </a:spcBef>
              <a:spcAft>
                <a:spcPts val="0"/>
              </a:spcAft>
              <a:buNone/>
            </a:pPr>
            <a:r>
              <a:t/>
            </a:r>
            <a:endParaRPr sz="600">
              <a:latin typeface="Times New Roman"/>
              <a:ea typeface="Times New Roman"/>
              <a:cs typeface="Times New Roman"/>
              <a:sym typeface="Times New Roman"/>
            </a:endParaRPr>
          </a:p>
          <a:p>
            <a:pPr indent="0" lvl="0" marL="73025" rtl="0" algn="l">
              <a:lnSpc>
                <a:spcPct val="107500"/>
              </a:lnSpc>
              <a:spcBef>
                <a:spcPts val="0"/>
              </a:spcBef>
              <a:spcAft>
                <a:spcPts val="0"/>
              </a:spcAft>
              <a:buNone/>
            </a:pPr>
            <a:r>
              <a:rPr lang="en-US" sz="600">
                <a:solidFill>
                  <a:srgbClr val="63738A"/>
                </a:solidFill>
                <a:latin typeface="Calibri"/>
                <a:ea typeface="Calibri"/>
                <a:cs typeface="Calibri"/>
                <a:sym typeface="Calibri"/>
              </a:rPr>
              <a:t>conv	pool  FC</a:t>
            </a:r>
            <a:endParaRPr sz="600">
              <a:latin typeface="Calibri"/>
              <a:ea typeface="Calibri"/>
              <a:cs typeface="Calibri"/>
              <a:sym typeface="Calibri"/>
            </a:endParaRPr>
          </a:p>
        </p:txBody>
      </p:sp>
      <p:sp>
        <p:nvSpPr>
          <p:cNvPr id="187" name="Google Shape;187;p3"/>
          <p:cNvSpPr txBox="1"/>
          <p:nvPr/>
        </p:nvSpPr>
        <p:spPr>
          <a:xfrm>
            <a:off x="2013115" y="2466821"/>
            <a:ext cx="793115" cy="712470"/>
          </a:xfrm>
          <a:prstGeom prst="rect">
            <a:avLst/>
          </a:prstGeom>
          <a:noFill/>
          <a:ln>
            <a:noFill/>
          </a:ln>
        </p:spPr>
        <p:txBody>
          <a:bodyPr anchorCtr="0" anchor="t" bIns="0" lIns="0" spcFirstLastPara="1" rIns="0" wrap="square" tIns="12700">
            <a:spAutoFit/>
          </a:bodyPr>
          <a:lstStyle/>
          <a:p>
            <a:pPr indent="0" lvl="0" marL="0" marR="5080" rtl="0" algn="l">
              <a:lnSpc>
                <a:spcPct val="125200"/>
              </a:lnSpc>
              <a:spcBef>
                <a:spcPts val="0"/>
              </a:spcBef>
              <a:spcAft>
                <a:spcPts val="0"/>
              </a:spcAft>
              <a:buNone/>
            </a:pPr>
            <a:r>
              <a:rPr b="1" lang="en-US" sz="900">
                <a:solidFill>
                  <a:srgbClr val="0DA4E8"/>
                </a:solidFill>
                <a:latin typeface="Calibri"/>
                <a:ea typeface="Calibri"/>
                <a:cs typeface="Calibri"/>
                <a:sym typeface="Calibri"/>
              </a:rPr>
              <a:t>Hidden layers </a:t>
            </a:r>
            <a:r>
              <a:rPr lang="en-US" sz="900">
                <a:solidFill>
                  <a:srgbClr val="334054"/>
                </a:solidFill>
                <a:latin typeface="Calibri"/>
                <a:ea typeface="Calibri"/>
                <a:cs typeface="Calibri"/>
                <a:sym typeface="Calibri"/>
              </a:rPr>
              <a:t>Backpropagation Non-linear fn Universal approx</a:t>
            </a:r>
            <a:endParaRPr sz="900">
              <a:latin typeface="Calibri"/>
              <a:ea typeface="Calibri"/>
              <a:cs typeface="Calibri"/>
              <a:sym typeface="Calibri"/>
            </a:endParaRPr>
          </a:p>
        </p:txBody>
      </p:sp>
      <p:sp>
        <p:nvSpPr>
          <p:cNvPr id="188" name="Google Shape;188;p3"/>
          <p:cNvSpPr txBox="1"/>
          <p:nvPr/>
        </p:nvSpPr>
        <p:spPr>
          <a:xfrm>
            <a:off x="3737774" y="2466821"/>
            <a:ext cx="881380" cy="712470"/>
          </a:xfrm>
          <a:prstGeom prst="rect">
            <a:avLst/>
          </a:prstGeom>
          <a:noFill/>
          <a:ln>
            <a:noFill/>
          </a:ln>
        </p:spPr>
        <p:txBody>
          <a:bodyPr anchorCtr="0" anchor="t" bIns="0" lIns="0" spcFirstLastPara="1" rIns="0" wrap="square" tIns="12700">
            <a:spAutoFit/>
          </a:bodyPr>
          <a:lstStyle/>
          <a:p>
            <a:pPr indent="0" lvl="0" marL="12700" marR="5080" rtl="0" algn="l">
              <a:lnSpc>
                <a:spcPct val="125200"/>
              </a:lnSpc>
              <a:spcBef>
                <a:spcPts val="0"/>
              </a:spcBef>
              <a:spcAft>
                <a:spcPts val="0"/>
              </a:spcAft>
              <a:buNone/>
            </a:pPr>
            <a:r>
              <a:rPr b="1" lang="en-US" sz="900">
                <a:solidFill>
                  <a:srgbClr val="0FB880"/>
                </a:solidFill>
                <a:latin typeface="Calibri"/>
                <a:ea typeface="Calibri"/>
                <a:cs typeface="Calibri"/>
                <a:sym typeface="Calibri"/>
              </a:rPr>
              <a:t>Conv filters </a:t>
            </a:r>
            <a:r>
              <a:rPr lang="en-US" sz="900">
                <a:solidFill>
                  <a:srgbClr val="334054"/>
                </a:solidFill>
                <a:latin typeface="Calibri"/>
                <a:ea typeface="Calibri"/>
                <a:cs typeface="Calibri"/>
                <a:sym typeface="Calibri"/>
              </a:rPr>
              <a:t>Spatial hierarchy Weight sharing Image/vision tasks</a:t>
            </a:r>
            <a:endParaRPr sz="900">
              <a:latin typeface="Calibri"/>
              <a:ea typeface="Calibri"/>
              <a:cs typeface="Calibri"/>
              <a:sym typeface="Calibri"/>
            </a:endParaRPr>
          </a:p>
        </p:txBody>
      </p:sp>
      <p:grpSp>
        <p:nvGrpSpPr>
          <p:cNvPr id="189" name="Google Shape;189;p3"/>
          <p:cNvGrpSpPr/>
          <p:nvPr/>
        </p:nvGrpSpPr>
        <p:grpSpPr>
          <a:xfrm>
            <a:off x="4379224" y="683630"/>
            <a:ext cx="2727174" cy="3632595"/>
            <a:chOff x="4379224" y="683630"/>
            <a:chExt cx="2727174" cy="3632595"/>
          </a:xfrm>
        </p:grpSpPr>
        <p:pic>
          <p:nvPicPr>
            <p:cNvPr id="190" name="Google Shape;190;p3"/>
            <p:cNvPicPr preferRelativeResize="0"/>
            <p:nvPr/>
          </p:nvPicPr>
          <p:blipFill rotWithShape="1">
            <a:blip r:embed="rId8">
              <a:alphaModFix/>
            </a:blip>
            <a:srcRect b="0" l="0" r="0" t="0"/>
            <a:stretch/>
          </p:blipFill>
          <p:spPr>
            <a:xfrm>
              <a:off x="4379224" y="4132262"/>
              <a:ext cx="183950" cy="183963"/>
            </a:xfrm>
            <a:prstGeom prst="rect">
              <a:avLst/>
            </a:prstGeom>
            <a:noFill/>
            <a:ln>
              <a:noFill/>
            </a:ln>
          </p:spPr>
        </p:pic>
        <p:pic>
          <p:nvPicPr>
            <p:cNvPr id="191" name="Google Shape;191;p3"/>
            <p:cNvPicPr preferRelativeResize="0"/>
            <p:nvPr/>
          </p:nvPicPr>
          <p:blipFill rotWithShape="1">
            <a:blip r:embed="rId3">
              <a:alphaModFix/>
            </a:blip>
            <a:srcRect b="0" l="0" r="0" t="0"/>
            <a:stretch/>
          </p:blipFill>
          <p:spPr>
            <a:xfrm>
              <a:off x="5274716" y="683630"/>
              <a:ext cx="1831682" cy="3458895"/>
            </a:xfrm>
            <a:prstGeom prst="rect">
              <a:avLst/>
            </a:prstGeom>
            <a:noFill/>
            <a:ln>
              <a:noFill/>
            </a:ln>
          </p:spPr>
        </p:pic>
        <p:sp>
          <p:nvSpPr>
            <p:cNvPr id="192" name="Google Shape;192;p3"/>
            <p:cNvSpPr/>
            <p:nvPr/>
          </p:nvSpPr>
          <p:spPr>
            <a:xfrm>
              <a:off x="5376595" y="749517"/>
              <a:ext cx="1664335" cy="3291840"/>
            </a:xfrm>
            <a:custGeom>
              <a:rect b="b" l="l" r="r" t="t"/>
              <a:pathLst>
                <a:path extrusionOk="0" h="3291840" w="1664334">
                  <a:moveTo>
                    <a:pt x="1663928" y="0"/>
                  </a:moveTo>
                  <a:lnTo>
                    <a:pt x="0" y="0"/>
                  </a:lnTo>
                  <a:lnTo>
                    <a:pt x="0" y="3291484"/>
                  </a:lnTo>
                  <a:lnTo>
                    <a:pt x="831964" y="3291484"/>
                  </a:lnTo>
                  <a:lnTo>
                    <a:pt x="1663928" y="3291484"/>
                  </a:lnTo>
                  <a:lnTo>
                    <a:pt x="1663928"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3" name="Google Shape;193;p3"/>
            <p:cNvSpPr/>
            <p:nvPr/>
          </p:nvSpPr>
          <p:spPr>
            <a:xfrm>
              <a:off x="5376595" y="749517"/>
              <a:ext cx="1664335" cy="3291840"/>
            </a:xfrm>
            <a:custGeom>
              <a:rect b="b" l="l" r="r" t="t"/>
              <a:pathLst>
                <a:path extrusionOk="0" h="3291840" w="1664334">
                  <a:moveTo>
                    <a:pt x="831964" y="3291484"/>
                  </a:moveTo>
                  <a:lnTo>
                    <a:pt x="0" y="3291484"/>
                  </a:lnTo>
                  <a:lnTo>
                    <a:pt x="0" y="0"/>
                  </a:lnTo>
                  <a:lnTo>
                    <a:pt x="1663928" y="0"/>
                  </a:lnTo>
                  <a:lnTo>
                    <a:pt x="1663928" y="3291484"/>
                  </a:lnTo>
                  <a:lnTo>
                    <a:pt x="831964" y="3291484"/>
                  </a:lnTo>
                  <a:close/>
                </a:path>
              </a:pathLst>
            </a:custGeom>
            <a:noFill/>
            <a:ln cap="flat" cmpd="sng" w="15100">
              <a:solidFill>
                <a:srgbClr val="F49D0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4" name="Google Shape;194;p3"/>
            <p:cNvSpPr/>
            <p:nvPr/>
          </p:nvSpPr>
          <p:spPr>
            <a:xfrm>
              <a:off x="5376595" y="749517"/>
              <a:ext cx="1664335" cy="64135"/>
            </a:xfrm>
            <a:custGeom>
              <a:rect b="b" l="l" r="r" t="t"/>
              <a:pathLst>
                <a:path extrusionOk="0" h="64134" w="1664334">
                  <a:moveTo>
                    <a:pt x="1663928" y="0"/>
                  </a:moveTo>
                  <a:lnTo>
                    <a:pt x="0" y="0"/>
                  </a:lnTo>
                  <a:lnTo>
                    <a:pt x="0" y="63728"/>
                  </a:lnTo>
                  <a:lnTo>
                    <a:pt x="831964" y="63728"/>
                  </a:lnTo>
                  <a:lnTo>
                    <a:pt x="1663928" y="63728"/>
                  </a:lnTo>
                  <a:lnTo>
                    <a:pt x="1663928" y="0"/>
                  </a:lnTo>
                  <a:close/>
                </a:path>
              </a:pathLst>
            </a:custGeom>
            <a:solidFill>
              <a:srgbClr val="F49D0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5" name="Google Shape;195;p3"/>
            <p:cNvSpPr/>
            <p:nvPr/>
          </p:nvSpPr>
          <p:spPr>
            <a:xfrm>
              <a:off x="5376595" y="749517"/>
              <a:ext cx="1664335" cy="64135"/>
            </a:xfrm>
            <a:custGeom>
              <a:rect b="b" l="l" r="r" t="t"/>
              <a:pathLst>
                <a:path extrusionOk="0" h="64134" w="1664334">
                  <a:moveTo>
                    <a:pt x="831964" y="63728"/>
                  </a:moveTo>
                  <a:lnTo>
                    <a:pt x="0" y="63728"/>
                  </a:lnTo>
                  <a:lnTo>
                    <a:pt x="0" y="0"/>
                  </a:lnTo>
                  <a:lnTo>
                    <a:pt x="1663928" y="0"/>
                  </a:lnTo>
                  <a:lnTo>
                    <a:pt x="1663928" y="63728"/>
                  </a:lnTo>
                  <a:lnTo>
                    <a:pt x="831964" y="63728"/>
                  </a:lnTo>
                  <a:close/>
                </a:path>
              </a:pathLst>
            </a:custGeom>
            <a:noFill/>
            <a:ln cap="flat" cmpd="sng" w="12575">
              <a:solidFill>
                <a:srgbClr val="F49D0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6" name="Google Shape;196;p3"/>
            <p:cNvSpPr/>
            <p:nvPr/>
          </p:nvSpPr>
          <p:spPr>
            <a:xfrm>
              <a:off x="5449684" y="841326"/>
              <a:ext cx="1518285" cy="201295"/>
            </a:xfrm>
            <a:custGeom>
              <a:rect b="b" l="l" r="r" t="t"/>
              <a:pathLst>
                <a:path extrusionOk="0" h="201294" w="1518284">
                  <a:moveTo>
                    <a:pt x="1517751" y="0"/>
                  </a:moveTo>
                  <a:lnTo>
                    <a:pt x="0" y="0"/>
                  </a:lnTo>
                  <a:lnTo>
                    <a:pt x="0" y="200875"/>
                  </a:lnTo>
                  <a:lnTo>
                    <a:pt x="758875" y="200875"/>
                  </a:lnTo>
                  <a:lnTo>
                    <a:pt x="1517751" y="200875"/>
                  </a:lnTo>
                  <a:lnTo>
                    <a:pt x="1517751" y="0"/>
                  </a:lnTo>
                  <a:close/>
                </a:path>
              </a:pathLst>
            </a:custGeom>
            <a:solidFill>
              <a:srgbClr val="F49D0A">
                <a:alpha val="14902"/>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7" name="Google Shape;197;p3"/>
            <p:cNvSpPr/>
            <p:nvPr/>
          </p:nvSpPr>
          <p:spPr>
            <a:xfrm>
              <a:off x="5449684" y="841326"/>
              <a:ext cx="1518285" cy="201295"/>
            </a:xfrm>
            <a:custGeom>
              <a:rect b="b" l="l" r="r" t="t"/>
              <a:pathLst>
                <a:path extrusionOk="0" h="201294" w="1518284">
                  <a:moveTo>
                    <a:pt x="758875" y="200875"/>
                  </a:moveTo>
                  <a:lnTo>
                    <a:pt x="0" y="200875"/>
                  </a:lnTo>
                  <a:lnTo>
                    <a:pt x="0" y="0"/>
                  </a:lnTo>
                  <a:lnTo>
                    <a:pt x="1517751" y="0"/>
                  </a:lnTo>
                  <a:lnTo>
                    <a:pt x="1517751" y="200875"/>
                  </a:lnTo>
                  <a:lnTo>
                    <a:pt x="758875" y="200875"/>
                  </a:lnTo>
                  <a:close/>
                </a:path>
              </a:pathLst>
            </a:custGeom>
            <a:noFill/>
            <a:ln cap="flat" cmpd="sng" w="9525">
              <a:solidFill>
                <a:srgbClr val="F49D0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98" name="Google Shape;198;p3"/>
          <p:cNvSpPr txBox="1"/>
          <p:nvPr/>
        </p:nvSpPr>
        <p:spPr>
          <a:xfrm>
            <a:off x="5454364" y="868211"/>
            <a:ext cx="1508760" cy="147320"/>
          </a:xfrm>
          <a:prstGeom prst="rect">
            <a:avLst/>
          </a:prstGeom>
          <a:noFill/>
          <a:ln>
            <a:noFill/>
          </a:ln>
        </p:spPr>
        <p:txBody>
          <a:bodyPr anchorCtr="0" anchor="t" bIns="0" lIns="0" spcFirstLastPara="1" rIns="0" wrap="square" tIns="12700">
            <a:spAutoFit/>
          </a:bodyPr>
          <a:lstStyle/>
          <a:p>
            <a:pPr indent="0" lvl="0" marL="0" rtl="0" algn="ctr">
              <a:lnSpc>
                <a:spcPct val="100000"/>
              </a:lnSpc>
              <a:spcBef>
                <a:spcPts val="0"/>
              </a:spcBef>
              <a:spcAft>
                <a:spcPts val="0"/>
              </a:spcAft>
              <a:buNone/>
            </a:pPr>
            <a:r>
              <a:rPr b="1" lang="en-US" sz="800">
                <a:solidFill>
                  <a:srgbClr val="F49D0A"/>
                </a:solidFill>
                <a:latin typeface="Calibri"/>
                <a:ea typeface="Calibri"/>
                <a:cs typeface="Calibri"/>
                <a:sym typeface="Calibri"/>
              </a:rPr>
              <a:t>1990s</a:t>
            </a:r>
            <a:endParaRPr sz="800">
              <a:latin typeface="Calibri"/>
              <a:ea typeface="Calibri"/>
              <a:cs typeface="Calibri"/>
              <a:sym typeface="Calibri"/>
            </a:endParaRPr>
          </a:p>
        </p:txBody>
      </p:sp>
      <p:grpSp>
        <p:nvGrpSpPr>
          <p:cNvPr id="199" name="Google Shape;199;p3"/>
          <p:cNvGrpSpPr/>
          <p:nvPr/>
        </p:nvGrpSpPr>
        <p:grpSpPr>
          <a:xfrm>
            <a:off x="5449684" y="1389597"/>
            <a:ext cx="1518285" cy="1005840"/>
            <a:chOff x="5449684" y="1389597"/>
            <a:chExt cx="1518285" cy="1005840"/>
          </a:xfrm>
        </p:grpSpPr>
        <p:sp>
          <p:nvSpPr>
            <p:cNvPr id="200" name="Google Shape;200;p3"/>
            <p:cNvSpPr/>
            <p:nvPr/>
          </p:nvSpPr>
          <p:spPr>
            <a:xfrm>
              <a:off x="5449684" y="1389597"/>
              <a:ext cx="1518285" cy="1005840"/>
            </a:xfrm>
            <a:custGeom>
              <a:rect b="b" l="l" r="r" t="t"/>
              <a:pathLst>
                <a:path extrusionOk="0" h="1005839" w="1518284">
                  <a:moveTo>
                    <a:pt x="1517751" y="0"/>
                  </a:moveTo>
                  <a:lnTo>
                    <a:pt x="0" y="0"/>
                  </a:lnTo>
                  <a:lnTo>
                    <a:pt x="0" y="1005484"/>
                  </a:lnTo>
                  <a:lnTo>
                    <a:pt x="758875" y="1005484"/>
                  </a:lnTo>
                  <a:lnTo>
                    <a:pt x="1517751" y="1005484"/>
                  </a:lnTo>
                  <a:lnTo>
                    <a:pt x="1517751" y="0"/>
                  </a:lnTo>
                  <a:close/>
                </a:path>
              </a:pathLst>
            </a:custGeom>
            <a:solidFill>
              <a:srgbClr val="F0F4F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1" name="Google Shape;201;p3"/>
            <p:cNvSpPr/>
            <p:nvPr/>
          </p:nvSpPr>
          <p:spPr>
            <a:xfrm>
              <a:off x="5449684" y="1389597"/>
              <a:ext cx="1518285" cy="1005840"/>
            </a:xfrm>
            <a:custGeom>
              <a:rect b="b" l="l" r="r" t="t"/>
              <a:pathLst>
                <a:path extrusionOk="0" h="1005839" w="1518284">
                  <a:moveTo>
                    <a:pt x="758875" y="1005484"/>
                  </a:moveTo>
                  <a:lnTo>
                    <a:pt x="0" y="1005484"/>
                  </a:lnTo>
                  <a:lnTo>
                    <a:pt x="0" y="0"/>
                  </a:lnTo>
                  <a:lnTo>
                    <a:pt x="1517751" y="0"/>
                  </a:lnTo>
                  <a:lnTo>
                    <a:pt x="1517751" y="1005484"/>
                  </a:lnTo>
                  <a:lnTo>
                    <a:pt x="758875" y="1005484"/>
                  </a:lnTo>
                  <a:close/>
                </a:path>
              </a:pathLst>
            </a:custGeom>
            <a:noFill/>
            <a:ln cap="flat" cmpd="sng" w="9525">
              <a:solidFill>
                <a:srgbClr val="E1E7E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2" name="Google Shape;202;p3"/>
            <p:cNvSpPr/>
            <p:nvPr/>
          </p:nvSpPr>
          <p:spPr>
            <a:xfrm>
              <a:off x="5541124" y="1710006"/>
              <a:ext cx="320040" cy="320040"/>
            </a:xfrm>
            <a:custGeom>
              <a:rect b="b" l="l" r="r" t="t"/>
              <a:pathLst>
                <a:path extrusionOk="0" h="320039" w="320039">
                  <a:moveTo>
                    <a:pt x="319671" y="0"/>
                  </a:moveTo>
                  <a:lnTo>
                    <a:pt x="0" y="0"/>
                  </a:lnTo>
                  <a:lnTo>
                    <a:pt x="0" y="319671"/>
                  </a:lnTo>
                  <a:lnTo>
                    <a:pt x="159829" y="319671"/>
                  </a:lnTo>
                  <a:lnTo>
                    <a:pt x="319671" y="319671"/>
                  </a:lnTo>
                  <a:lnTo>
                    <a:pt x="319671" y="0"/>
                  </a:lnTo>
                  <a:close/>
                </a:path>
              </a:pathLst>
            </a:custGeom>
            <a:solidFill>
              <a:srgbClr val="F49D0A">
                <a:alpha val="50196"/>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3" name="Google Shape;203;p3"/>
            <p:cNvSpPr/>
            <p:nvPr/>
          </p:nvSpPr>
          <p:spPr>
            <a:xfrm>
              <a:off x="5541124" y="1710006"/>
              <a:ext cx="320040" cy="320040"/>
            </a:xfrm>
            <a:custGeom>
              <a:rect b="b" l="l" r="r" t="t"/>
              <a:pathLst>
                <a:path extrusionOk="0" h="320039" w="320039">
                  <a:moveTo>
                    <a:pt x="159829" y="319671"/>
                  </a:moveTo>
                  <a:lnTo>
                    <a:pt x="0" y="319671"/>
                  </a:lnTo>
                  <a:lnTo>
                    <a:pt x="0" y="0"/>
                  </a:lnTo>
                  <a:lnTo>
                    <a:pt x="319671" y="0"/>
                  </a:lnTo>
                  <a:lnTo>
                    <a:pt x="319671" y="319671"/>
                  </a:lnTo>
                  <a:lnTo>
                    <a:pt x="159829" y="319671"/>
                  </a:lnTo>
                  <a:close/>
                </a:path>
              </a:pathLst>
            </a:custGeom>
            <a:noFill/>
            <a:ln cap="flat" cmpd="sng" w="12575">
              <a:solidFill>
                <a:srgbClr val="F49D0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04" name="Google Shape;204;p3"/>
          <p:cNvSpPr txBox="1"/>
          <p:nvPr/>
        </p:nvSpPr>
        <p:spPr>
          <a:xfrm>
            <a:off x="5668200" y="1780821"/>
            <a:ext cx="80010" cy="178435"/>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i="1" lang="en-US" sz="1000">
                <a:solidFill>
                  <a:srgbClr val="1D283A"/>
                </a:solidFill>
                <a:latin typeface="Calibri"/>
                <a:ea typeface="Calibri"/>
                <a:cs typeface="Calibri"/>
                <a:sym typeface="Calibri"/>
              </a:rPr>
              <a:t>h</a:t>
            </a:r>
            <a:endParaRPr sz="1000">
              <a:latin typeface="Calibri"/>
              <a:ea typeface="Calibri"/>
              <a:cs typeface="Calibri"/>
              <a:sym typeface="Calibri"/>
            </a:endParaRPr>
          </a:p>
        </p:txBody>
      </p:sp>
      <p:grpSp>
        <p:nvGrpSpPr>
          <p:cNvPr id="205" name="Google Shape;205;p3"/>
          <p:cNvGrpSpPr/>
          <p:nvPr/>
        </p:nvGrpSpPr>
        <p:grpSpPr>
          <a:xfrm>
            <a:off x="5700953" y="1526757"/>
            <a:ext cx="343091" cy="343078"/>
            <a:chOff x="5700953" y="1526757"/>
            <a:chExt cx="343091" cy="343078"/>
          </a:xfrm>
        </p:grpSpPr>
        <p:sp>
          <p:nvSpPr>
            <p:cNvPr id="206" name="Google Shape;206;p3"/>
            <p:cNvSpPr/>
            <p:nvPr/>
          </p:nvSpPr>
          <p:spPr>
            <a:xfrm>
              <a:off x="5861164" y="1869835"/>
              <a:ext cx="182880" cy="0"/>
            </a:xfrm>
            <a:custGeom>
              <a:rect b="b" l="l" r="r" t="t"/>
              <a:pathLst>
                <a:path extrusionOk="0" h="120000" w="182879">
                  <a:moveTo>
                    <a:pt x="0" y="0"/>
                  </a:moveTo>
                  <a:lnTo>
                    <a:pt x="182879" y="0"/>
                  </a:lnTo>
                </a:path>
              </a:pathLst>
            </a:custGeom>
            <a:noFill/>
            <a:ln cap="flat" cmpd="sng" w="15100">
              <a:solidFill>
                <a:srgbClr val="F49D0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7" name="Google Shape;207;p3"/>
            <p:cNvSpPr/>
            <p:nvPr/>
          </p:nvSpPr>
          <p:spPr>
            <a:xfrm>
              <a:off x="5700953" y="1526757"/>
              <a:ext cx="0" cy="183515"/>
            </a:xfrm>
            <a:custGeom>
              <a:rect b="b" l="l" r="r" t="t"/>
              <a:pathLst>
                <a:path extrusionOk="0" h="183514" w="120000">
                  <a:moveTo>
                    <a:pt x="0" y="0"/>
                  </a:moveTo>
                  <a:lnTo>
                    <a:pt x="0" y="183248"/>
                  </a:lnTo>
                </a:path>
              </a:pathLst>
            </a:custGeom>
            <a:noFill/>
            <a:ln cap="flat" cmpd="sng" w="12575">
              <a:solidFill>
                <a:srgbClr val="93A2B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08" name="Google Shape;208;p3"/>
          <p:cNvSpPr txBox="1"/>
          <p:nvPr/>
        </p:nvSpPr>
        <p:spPr>
          <a:xfrm>
            <a:off x="5659564" y="1433413"/>
            <a:ext cx="96520" cy="132715"/>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i="1" lang="en-US" sz="700">
                <a:solidFill>
                  <a:srgbClr val="63738A"/>
                </a:solidFill>
                <a:latin typeface="Cambria"/>
                <a:ea typeface="Cambria"/>
                <a:cs typeface="Cambria"/>
                <a:sym typeface="Cambria"/>
              </a:rPr>
              <a:t>x1</a:t>
            </a:r>
            <a:endParaRPr sz="700">
              <a:latin typeface="Cambria"/>
              <a:ea typeface="Cambria"/>
              <a:cs typeface="Cambria"/>
              <a:sym typeface="Cambria"/>
            </a:endParaRPr>
          </a:p>
        </p:txBody>
      </p:sp>
      <p:grpSp>
        <p:nvGrpSpPr>
          <p:cNvPr id="209" name="Google Shape;209;p3"/>
          <p:cNvGrpSpPr/>
          <p:nvPr/>
        </p:nvGrpSpPr>
        <p:grpSpPr>
          <a:xfrm>
            <a:off x="5952604" y="1526757"/>
            <a:ext cx="731520" cy="503289"/>
            <a:chOff x="5952604" y="1526757"/>
            <a:chExt cx="731520" cy="503289"/>
          </a:xfrm>
        </p:grpSpPr>
        <p:sp>
          <p:nvSpPr>
            <p:cNvPr id="210" name="Google Shape;210;p3"/>
            <p:cNvSpPr/>
            <p:nvPr/>
          </p:nvSpPr>
          <p:spPr>
            <a:xfrm>
              <a:off x="5952604" y="1710006"/>
              <a:ext cx="320040" cy="320040"/>
            </a:xfrm>
            <a:custGeom>
              <a:rect b="b" l="l" r="r" t="t"/>
              <a:pathLst>
                <a:path extrusionOk="0" h="320039" w="320039">
                  <a:moveTo>
                    <a:pt x="319671" y="0"/>
                  </a:moveTo>
                  <a:lnTo>
                    <a:pt x="0" y="0"/>
                  </a:lnTo>
                  <a:lnTo>
                    <a:pt x="0" y="319671"/>
                  </a:lnTo>
                  <a:lnTo>
                    <a:pt x="159829" y="319671"/>
                  </a:lnTo>
                  <a:lnTo>
                    <a:pt x="319671" y="319671"/>
                  </a:lnTo>
                  <a:lnTo>
                    <a:pt x="319671" y="0"/>
                  </a:lnTo>
                  <a:close/>
                </a:path>
              </a:pathLst>
            </a:custGeom>
            <a:solidFill>
              <a:srgbClr val="F49D0A">
                <a:alpha val="50196"/>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1" name="Google Shape;211;p3"/>
            <p:cNvSpPr/>
            <p:nvPr/>
          </p:nvSpPr>
          <p:spPr>
            <a:xfrm>
              <a:off x="5952604" y="1710006"/>
              <a:ext cx="320040" cy="320040"/>
            </a:xfrm>
            <a:custGeom>
              <a:rect b="b" l="l" r="r" t="t"/>
              <a:pathLst>
                <a:path extrusionOk="0" h="320039" w="320039">
                  <a:moveTo>
                    <a:pt x="159829" y="319671"/>
                  </a:moveTo>
                  <a:lnTo>
                    <a:pt x="0" y="319671"/>
                  </a:lnTo>
                  <a:lnTo>
                    <a:pt x="0" y="0"/>
                  </a:lnTo>
                  <a:lnTo>
                    <a:pt x="319671" y="0"/>
                  </a:lnTo>
                  <a:lnTo>
                    <a:pt x="319671" y="319671"/>
                  </a:lnTo>
                  <a:lnTo>
                    <a:pt x="159829" y="319671"/>
                  </a:lnTo>
                  <a:close/>
                </a:path>
              </a:pathLst>
            </a:custGeom>
            <a:noFill/>
            <a:ln cap="flat" cmpd="sng" w="12575">
              <a:solidFill>
                <a:srgbClr val="F49D0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2" name="Google Shape;212;p3"/>
            <p:cNvSpPr/>
            <p:nvPr/>
          </p:nvSpPr>
          <p:spPr>
            <a:xfrm>
              <a:off x="6272644" y="1869835"/>
              <a:ext cx="182880" cy="0"/>
            </a:xfrm>
            <a:custGeom>
              <a:rect b="b" l="l" r="r" t="t"/>
              <a:pathLst>
                <a:path extrusionOk="0" h="120000" w="182879">
                  <a:moveTo>
                    <a:pt x="0" y="0"/>
                  </a:moveTo>
                  <a:lnTo>
                    <a:pt x="182880" y="0"/>
                  </a:lnTo>
                </a:path>
              </a:pathLst>
            </a:custGeom>
            <a:noFill/>
            <a:ln cap="flat" cmpd="sng" w="15100">
              <a:solidFill>
                <a:srgbClr val="F49D0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3" name="Google Shape;213;p3"/>
            <p:cNvSpPr/>
            <p:nvPr/>
          </p:nvSpPr>
          <p:spPr>
            <a:xfrm>
              <a:off x="6112433" y="1526757"/>
              <a:ext cx="0" cy="183515"/>
            </a:xfrm>
            <a:custGeom>
              <a:rect b="b" l="l" r="r" t="t"/>
              <a:pathLst>
                <a:path extrusionOk="0" h="183514" w="120000">
                  <a:moveTo>
                    <a:pt x="0" y="0"/>
                  </a:moveTo>
                  <a:lnTo>
                    <a:pt x="0" y="183248"/>
                  </a:lnTo>
                </a:path>
              </a:pathLst>
            </a:custGeom>
            <a:noFill/>
            <a:ln cap="flat" cmpd="sng" w="12575">
              <a:solidFill>
                <a:srgbClr val="93A2B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4" name="Google Shape;214;p3"/>
            <p:cNvSpPr/>
            <p:nvPr/>
          </p:nvSpPr>
          <p:spPr>
            <a:xfrm>
              <a:off x="6364084" y="1710006"/>
              <a:ext cx="320040" cy="320040"/>
            </a:xfrm>
            <a:custGeom>
              <a:rect b="b" l="l" r="r" t="t"/>
              <a:pathLst>
                <a:path extrusionOk="0" h="320039" w="320040">
                  <a:moveTo>
                    <a:pt x="319671" y="0"/>
                  </a:moveTo>
                  <a:lnTo>
                    <a:pt x="0" y="0"/>
                  </a:lnTo>
                  <a:lnTo>
                    <a:pt x="0" y="319671"/>
                  </a:lnTo>
                  <a:lnTo>
                    <a:pt x="159829" y="319671"/>
                  </a:lnTo>
                  <a:lnTo>
                    <a:pt x="319671" y="319671"/>
                  </a:lnTo>
                  <a:lnTo>
                    <a:pt x="319671" y="0"/>
                  </a:lnTo>
                  <a:close/>
                </a:path>
              </a:pathLst>
            </a:custGeom>
            <a:solidFill>
              <a:srgbClr val="F49D0A">
                <a:alpha val="50196"/>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5" name="Google Shape;215;p3"/>
            <p:cNvSpPr/>
            <p:nvPr/>
          </p:nvSpPr>
          <p:spPr>
            <a:xfrm>
              <a:off x="6364084" y="1710006"/>
              <a:ext cx="320040" cy="320040"/>
            </a:xfrm>
            <a:custGeom>
              <a:rect b="b" l="l" r="r" t="t"/>
              <a:pathLst>
                <a:path extrusionOk="0" h="320039" w="320040">
                  <a:moveTo>
                    <a:pt x="159829" y="319671"/>
                  </a:moveTo>
                  <a:lnTo>
                    <a:pt x="0" y="319671"/>
                  </a:lnTo>
                  <a:lnTo>
                    <a:pt x="0" y="0"/>
                  </a:lnTo>
                  <a:lnTo>
                    <a:pt x="319671" y="0"/>
                  </a:lnTo>
                  <a:lnTo>
                    <a:pt x="319671" y="319671"/>
                  </a:lnTo>
                  <a:lnTo>
                    <a:pt x="159829" y="319671"/>
                  </a:lnTo>
                  <a:close/>
                </a:path>
              </a:pathLst>
            </a:custGeom>
            <a:noFill/>
            <a:ln cap="flat" cmpd="sng" w="12575">
              <a:solidFill>
                <a:srgbClr val="F49D0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6" name="Google Shape;216;p3"/>
            <p:cNvSpPr/>
            <p:nvPr/>
          </p:nvSpPr>
          <p:spPr>
            <a:xfrm>
              <a:off x="6523913" y="1526757"/>
              <a:ext cx="0" cy="183515"/>
            </a:xfrm>
            <a:custGeom>
              <a:rect b="b" l="l" r="r" t="t"/>
              <a:pathLst>
                <a:path extrusionOk="0" h="183514" w="120000">
                  <a:moveTo>
                    <a:pt x="0" y="0"/>
                  </a:moveTo>
                  <a:lnTo>
                    <a:pt x="0" y="183248"/>
                  </a:lnTo>
                </a:path>
              </a:pathLst>
            </a:custGeom>
            <a:noFill/>
            <a:ln cap="flat" cmpd="sng" w="12575">
              <a:solidFill>
                <a:srgbClr val="93A2B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17" name="Google Shape;217;p3"/>
          <p:cNvSpPr txBox="1"/>
          <p:nvPr/>
        </p:nvSpPr>
        <p:spPr>
          <a:xfrm>
            <a:off x="5783300" y="1104381"/>
            <a:ext cx="850900" cy="85471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00">
                <a:solidFill>
                  <a:srgbClr val="1D283A"/>
                </a:solidFill>
                <a:latin typeface="Calibri"/>
                <a:ea typeface="Calibri"/>
                <a:cs typeface="Calibri"/>
                <a:sym typeface="Calibri"/>
              </a:rPr>
              <a:t>RNN / LSTM</a:t>
            </a:r>
            <a:endParaRPr sz="1300">
              <a:latin typeface="Calibri"/>
              <a:ea typeface="Calibri"/>
              <a:cs typeface="Calibri"/>
              <a:sym typeface="Calibri"/>
            </a:endParaRPr>
          </a:p>
          <a:p>
            <a:pPr indent="0" lvl="0" marL="287655" rtl="0" algn="l">
              <a:lnSpc>
                <a:spcPct val="100000"/>
              </a:lnSpc>
              <a:spcBef>
                <a:spcPts val="1030"/>
              </a:spcBef>
              <a:spcAft>
                <a:spcPts val="0"/>
              </a:spcAft>
              <a:buNone/>
            </a:pPr>
            <a:r>
              <a:rPr i="1" lang="en-US" sz="700">
                <a:solidFill>
                  <a:srgbClr val="63738A"/>
                </a:solidFill>
                <a:latin typeface="Cambria"/>
                <a:ea typeface="Cambria"/>
                <a:cs typeface="Cambria"/>
                <a:sym typeface="Cambria"/>
              </a:rPr>
              <a:t>x2	x3</a:t>
            </a:r>
            <a:endParaRPr sz="700">
              <a:latin typeface="Cambria"/>
              <a:ea typeface="Cambria"/>
              <a:cs typeface="Cambria"/>
              <a:sym typeface="Cambria"/>
            </a:endParaRPr>
          </a:p>
          <a:p>
            <a:pPr indent="0" lvl="0" marL="0" rtl="0" algn="l">
              <a:lnSpc>
                <a:spcPct val="100000"/>
              </a:lnSpc>
              <a:spcBef>
                <a:spcPts val="0"/>
              </a:spcBef>
              <a:spcAft>
                <a:spcPts val="0"/>
              </a:spcAft>
              <a:buNone/>
            </a:pPr>
            <a:r>
              <a:t/>
            </a:r>
            <a:endParaRPr sz="700">
              <a:latin typeface="Cambria"/>
              <a:ea typeface="Cambria"/>
              <a:cs typeface="Cambria"/>
              <a:sym typeface="Cambria"/>
            </a:endParaRPr>
          </a:p>
          <a:p>
            <a:pPr indent="0" lvl="0" marL="0" rtl="0" algn="l">
              <a:lnSpc>
                <a:spcPct val="100000"/>
              </a:lnSpc>
              <a:spcBef>
                <a:spcPts val="254"/>
              </a:spcBef>
              <a:spcAft>
                <a:spcPts val="0"/>
              </a:spcAft>
              <a:buNone/>
            </a:pPr>
            <a:r>
              <a:t/>
            </a:r>
            <a:endParaRPr sz="700">
              <a:latin typeface="Cambria"/>
              <a:ea typeface="Cambria"/>
              <a:cs typeface="Cambria"/>
              <a:sym typeface="Cambria"/>
            </a:endParaRPr>
          </a:p>
          <a:p>
            <a:pPr indent="0" lvl="0" marL="295910" rtl="0" algn="l">
              <a:lnSpc>
                <a:spcPct val="100000"/>
              </a:lnSpc>
              <a:spcBef>
                <a:spcPts val="0"/>
              </a:spcBef>
              <a:spcAft>
                <a:spcPts val="0"/>
              </a:spcAft>
              <a:buNone/>
            </a:pPr>
            <a:r>
              <a:rPr b="1" i="1" lang="en-US" sz="1000">
                <a:solidFill>
                  <a:srgbClr val="1D283A"/>
                </a:solidFill>
                <a:latin typeface="Calibri"/>
                <a:ea typeface="Calibri"/>
                <a:cs typeface="Calibri"/>
                <a:sym typeface="Calibri"/>
              </a:rPr>
              <a:t>h	h</a:t>
            </a:r>
            <a:endParaRPr sz="1000">
              <a:latin typeface="Calibri"/>
              <a:ea typeface="Calibri"/>
              <a:cs typeface="Calibri"/>
              <a:sym typeface="Calibri"/>
            </a:endParaRPr>
          </a:p>
        </p:txBody>
      </p:sp>
      <p:grpSp>
        <p:nvGrpSpPr>
          <p:cNvPr id="218" name="Google Shape;218;p3"/>
          <p:cNvGrpSpPr/>
          <p:nvPr/>
        </p:nvGrpSpPr>
        <p:grpSpPr>
          <a:xfrm>
            <a:off x="5705640" y="683630"/>
            <a:ext cx="3138118" cy="3632595"/>
            <a:chOff x="5705640" y="683630"/>
            <a:chExt cx="3138118" cy="3632595"/>
          </a:xfrm>
        </p:grpSpPr>
        <p:sp>
          <p:nvSpPr>
            <p:cNvPr id="219" name="Google Shape;219;p3"/>
            <p:cNvSpPr/>
            <p:nvPr/>
          </p:nvSpPr>
          <p:spPr>
            <a:xfrm>
              <a:off x="5705640" y="1572477"/>
              <a:ext cx="658495" cy="0"/>
            </a:xfrm>
            <a:custGeom>
              <a:rect b="b" l="l" r="r" t="t"/>
              <a:pathLst>
                <a:path extrusionOk="0" h="120000" w="658495">
                  <a:moveTo>
                    <a:pt x="0" y="0"/>
                  </a:moveTo>
                  <a:lnTo>
                    <a:pt x="658444" y="0"/>
                  </a:lnTo>
                </a:path>
              </a:pathLst>
            </a:custGeom>
            <a:noFill/>
            <a:ln cap="flat" cmpd="sng" w="10075">
              <a:solidFill>
                <a:srgbClr val="F49D0A"/>
              </a:solidFill>
              <a:prstDash val="dash"/>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20" name="Google Shape;220;p3"/>
            <p:cNvPicPr preferRelativeResize="0"/>
            <p:nvPr/>
          </p:nvPicPr>
          <p:blipFill rotWithShape="1">
            <a:blip r:embed="rId9">
              <a:alphaModFix/>
            </a:blip>
            <a:srcRect b="0" l="0" r="0" t="0"/>
            <a:stretch/>
          </p:blipFill>
          <p:spPr>
            <a:xfrm>
              <a:off x="6116584" y="4132262"/>
              <a:ext cx="183950" cy="183963"/>
            </a:xfrm>
            <a:prstGeom prst="rect">
              <a:avLst/>
            </a:prstGeom>
            <a:noFill/>
            <a:ln>
              <a:noFill/>
            </a:ln>
          </p:spPr>
        </p:pic>
        <p:pic>
          <p:nvPicPr>
            <p:cNvPr id="221" name="Google Shape;221;p3"/>
            <p:cNvPicPr preferRelativeResize="0"/>
            <p:nvPr/>
          </p:nvPicPr>
          <p:blipFill rotWithShape="1">
            <a:blip r:embed="rId3">
              <a:alphaModFix/>
            </a:blip>
            <a:srcRect b="0" l="0" r="0" t="0"/>
            <a:stretch/>
          </p:blipFill>
          <p:spPr>
            <a:xfrm>
              <a:off x="7012076" y="683630"/>
              <a:ext cx="1831682" cy="3458895"/>
            </a:xfrm>
            <a:prstGeom prst="rect">
              <a:avLst/>
            </a:prstGeom>
            <a:noFill/>
            <a:ln>
              <a:noFill/>
            </a:ln>
          </p:spPr>
        </p:pic>
        <p:sp>
          <p:nvSpPr>
            <p:cNvPr id="222" name="Google Shape;222;p3"/>
            <p:cNvSpPr/>
            <p:nvPr/>
          </p:nvSpPr>
          <p:spPr>
            <a:xfrm>
              <a:off x="7113955" y="749517"/>
              <a:ext cx="1664335" cy="3291840"/>
            </a:xfrm>
            <a:custGeom>
              <a:rect b="b" l="l" r="r" t="t"/>
              <a:pathLst>
                <a:path extrusionOk="0" h="3291840" w="1664334">
                  <a:moveTo>
                    <a:pt x="1663928" y="0"/>
                  </a:moveTo>
                  <a:lnTo>
                    <a:pt x="0" y="0"/>
                  </a:lnTo>
                  <a:lnTo>
                    <a:pt x="0" y="3291484"/>
                  </a:lnTo>
                  <a:lnTo>
                    <a:pt x="831964" y="3291484"/>
                  </a:lnTo>
                  <a:lnTo>
                    <a:pt x="1663928" y="3291484"/>
                  </a:lnTo>
                  <a:lnTo>
                    <a:pt x="1663928"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3" name="Google Shape;223;p3"/>
            <p:cNvSpPr/>
            <p:nvPr/>
          </p:nvSpPr>
          <p:spPr>
            <a:xfrm>
              <a:off x="7113955" y="749517"/>
              <a:ext cx="1664335" cy="3291840"/>
            </a:xfrm>
            <a:custGeom>
              <a:rect b="b" l="l" r="r" t="t"/>
              <a:pathLst>
                <a:path extrusionOk="0" h="3291840" w="1664334">
                  <a:moveTo>
                    <a:pt x="831964" y="3291484"/>
                  </a:moveTo>
                  <a:lnTo>
                    <a:pt x="0" y="3291484"/>
                  </a:lnTo>
                  <a:lnTo>
                    <a:pt x="0" y="0"/>
                  </a:lnTo>
                  <a:lnTo>
                    <a:pt x="1663928" y="0"/>
                  </a:lnTo>
                  <a:lnTo>
                    <a:pt x="1663928" y="3291484"/>
                  </a:lnTo>
                  <a:lnTo>
                    <a:pt x="831964" y="3291484"/>
                  </a:lnTo>
                  <a:close/>
                </a:path>
              </a:pathLst>
            </a:custGeom>
            <a:noFill/>
            <a:ln cap="flat" cmpd="sng" w="15100">
              <a:solidFill>
                <a:srgbClr val="EB479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4" name="Google Shape;224;p3"/>
            <p:cNvSpPr/>
            <p:nvPr/>
          </p:nvSpPr>
          <p:spPr>
            <a:xfrm>
              <a:off x="7113955" y="749517"/>
              <a:ext cx="1664335" cy="64135"/>
            </a:xfrm>
            <a:custGeom>
              <a:rect b="b" l="l" r="r" t="t"/>
              <a:pathLst>
                <a:path extrusionOk="0" h="64134" w="1664334">
                  <a:moveTo>
                    <a:pt x="1663928" y="0"/>
                  </a:moveTo>
                  <a:lnTo>
                    <a:pt x="0" y="0"/>
                  </a:lnTo>
                  <a:lnTo>
                    <a:pt x="0" y="63728"/>
                  </a:lnTo>
                  <a:lnTo>
                    <a:pt x="831964" y="63728"/>
                  </a:lnTo>
                  <a:lnTo>
                    <a:pt x="1663928" y="63728"/>
                  </a:lnTo>
                  <a:lnTo>
                    <a:pt x="1663928" y="0"/>
                  </a:lnTo>
                  <a:close/>
                </a:path>
              </a:pathLst>
            </a:custGeom>
            <a:solidFill>
              <a:srgbClr val="EB479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5" name="Google Shape;225;p3"/>
            <p:cNvSpPr/>
            <p:nvPr/>
          </p:nvSpPr>
          <p:spPr>
            <a:xfrm>
              <a:off x="7113955" y="749517"/>
              <a:ext cx="1664335" cy="64135"/>
            </a:xfrm>
            <a:custGeom>
              <a:rect b="b" l="l" r="r" t="t"/>
              <a:pathLst>
                <a:path extrusionOk="0" h="64134" w="1664334">
                  <a:moveTo>
                    <a:pt x="831964" y="63728"/>
                  </a:moveTo>
                  <a:lnTo>
                    <a:pt x="0" y="63728"/>
                  </a:lnTo>
                  <a:lnTo>
                    <a:pt x="0" y="0"/>
                  </a:lnTo>
                  <a:lnTo>
                    <a:pt x="1663928" y="0"/>
                  </a:lnTo>
                  <a:lnTo>
                    <a:pt x="1663928" y="63728"/>
                  </a:lnTo>
                  <a:lnTo>
                    <a:pt x="831964" y="63728"/>
                  </a:lnTo>
                  <a:close/>
                </a:path>
              </a:pathLst>
            </a:custGeom>
            <a:noFill/>
            <a:ln cap="flat" cmpd="sng" w="12575">
              <a:solidFill>
                <a:srgbClr val="EB479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6" name="Google Shape;226;p3"/>
            <p:cNvSpPr/>
            <p:nvPr/>
          </p:nvSpPr>
          <p:spPr>
            <a:xfrm>
              <a:off x="7187044" y="841326"/>
              <a:ext cx="1518285" cy="201295"/>
            </a:xfrm>
            <a:custGeom>
              <a:rect b="b" l="l" r="r" t="t"/>
              <a:pathLst>
                <a:path extrusionOk="0" h="201294" w="1518284">
                  <a:moveTo>
                    <a:pt x="1517751" y="0"/>
                  </a:moveTo>
                  <a:lnTo>
                    <a:pt x="0" y="0"/>
                  </a:lnTo>
                  <a:lnTo>
                    <a:pt x="0" y="200875"/>
                  </a:lnTo>
                  <a:lnTo>
                    <a:pt x="758875" y="200875"/>
                  </a:lnTo>
                  <a:lnTo>
                    <a:pt x="1517751" y="200875"/>
                  </a:lnTo>
                  <a:lnTo>
                    <a:pt x="1517751" y="0"/>
                  </a:lnTo>
                  <a:close/>
                </a:path>
              </a:pathLst>
            </a:custGeom>
            <a:solidFill>
              <a:srgbClr val="EB4799">
                <a:alpha val="14902"/>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7" name="Google Shape;227;p3"/>
            <p:cNvSpPr/>
            <p:nvPr/>
          </p:nvSpPr>
          <p:spPr>
            <a:xfrm>
              <a:off x="7187044" y="841326"/>
              <a:ext cx="1518285" cy="201295"/>
            </a:xfrm>
            <a:custGeom>
              <a:rect b="b" l="l" r="r" t="t"/>
              <a:pathLst>
                <a:path extrusionOk="0" h="201294" w="1518284">
                  <a:moveTo>
                    <a:pt x="758875" y="200875"/>
                  </a:moveTo>
                  <a:lnTo>
                    <a:pt x="0" y="200875"/>
                  </a:lnTo>
                  <a:lnTo>
                    <a:pt x="0" y="0"/>
                  </a:lnTo>
                  <a:lnTo>
                    <a:pt x="1517751" y="0"/>
                  </a:lnTo>
                  <a:lnTo>
                    <a:pt x="1517751" y="200875"/>
                  </a:lnTo>
                  <a:lnTo>
                    <a:pt x="758875" y="200875"/>
                  </a:lnTo>
                  <a:close/>
                </a:path>
              </a:pathLst>
            </a:custGeom>
            <a:noFill/>
            <a:ln cap="flat" cmpd="sng" w="9525">
              <a:solidFill>
                <a:srgbClr val="EB479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28" name="Google Shape;228;p3"/>
          <p:cNvSpPr txBox="1"/>
          <p:nvPr/>
        </p:nvSpPr>
        <p:spPr>
          <a:xfrm>
            <a:off x="7191723" y="868211"/>
            <a:ext cx="1508760" cy="147320"/>
          </a:xfrm>
          <a:prstGeom prst="rect">
            <a:avLst/>
          </a:prstGeom>
          <a:noFill/>
          <a:ln>
            <a:noFill/>
          </a:ln>
        </p:spPr>
        <p:txBody>
          <a:bodyPr anchorCtr="0" anchor="t" bIns="0" lIns="0" spcFirstLastPara="1" rIns="0" wrap="square" tIns="12700">
            <a:spAutoFit/>
          </a:bodyPr>
          <a:lstStyle/>
          <a:p>
            <a:pPr indent="0" lvl="0" marL="0" rtl="0" algn="ctr">
              <a:lnSpc>
                <a:spcPct val="100000"/>
              </a:lnSpc>
              <a:spcBef>
                <a:spcPts val="0"/>
              </a:spcBef>
              <a:spcAft>
                <a:spcPts val="0"/>
              </a:spcAft>
              <a:buNone/>
            </a:pPr>
            <a:r>
              <a:rPr b="1" lang="en-US" sz="800">
                <a:solidFill>
                  <a:srgbClr val="EB4799"/>
                </a:solidFill>
                <a:latin typeface="Calibri"/>
                <a:ea typeface="Calibri"/>
                <a:cs typeface="Calibri"/>
                <a:sym typeface="Calibri"/>
              </a:rPr>
              <a:t>2017–now</a:t>
            </a:r>
            <a:endParaRPr sz="800">
              <a:latin typeface="Calibri"/>
              <a:ea typeface="Calibri"/>
              <a:cs typeface="Calibri"/>
              <a:sym typeface="Calibri"/>
            </a:endParaRPr>
          </a:p>
        </p:txBody>
      </p:sp>
      <p:sp>
        <p:nvSpPr>
          <p:cNvPr id="229" name="Google Shape;229;p3"/>
          <p:cNvSpPr txBox="1"/>
          <p:nvPr/>
        </p:nvSpPr>
        <p:spPr>
          <a:xfrm>
            <a:off x="7515974" y="1104381"/>
            <a:ext cx="859155" cy="224154"/>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00">
                <a:solidFill>
                  <a:srgbClr val="1D283A"/>
                </a:solidFill>
                <a:latin typeface="Calibri"/>
                <a:ea typeface="Calibri"/>
                <a:cs typeface="Calibri"/>
                <a:sym typeface="Calibri"/>
              </a:rPr>
              <a:t>Transformer</a:t>
            </a:r>
            <a:endParaRPr sz="1300">
              <a:latin typeface="Calibri"/>
              <a:ea typeface="Calibri"/>
              <a:cs typeface="Calibri"/>
              <a:sym typeface="Calibri"/>
            </a:endParaRPr>
          </a:p>
        </p:txBody>
      </p:sp>
      <p:grpSp>
        <p:nvGrpSpPr>
          <p:cNvPr id="230" name="Google Shape;230;p3"/>
          <p:cNvGrpSpPr/>
          <p:nvPr/>
        </p:nvGrpSpPr>
        <p:grpSpPr>
          <a:xfrm>
            <a:off x="7187044" y="1389597"/>
            <a:ext cx="1518285" cy="1005840"/>
            <a:chOff x="7187044" y="1389597"/>
            <a:chExt cx="1518285" cy="1005840"/>
          </a:xfrm>
        </p:grpSpPr>
        <p:sp>
          <p:nvSpPr>
            <p:cNvPr id="231" name="Google Shape;231;p3"/>
            <p:cNvSpPr/>
            <p:nvPr/>
          </p:nvSpPr>
          <p:spPr>
            <a:xfrm>
              <a:off x="7187044" y="1389597"/>
              <a:ext cx="1518285" cy="1005840"/>
            </a:xfrm>
            <a:custGeom>
              <a:rect b="b" l="l" r="r" t="t"/>
              <a:pathLst>
                <a:path extrusionOk="0" h="1005839" w="1518284">
                  <a:moveTo>
                    <a:pt x="1517751" y="0"/>
                  </a:moveTo>
                  <a:lnTo>
                    <a:pt x="0" y="0"/>
                  </a:lnTo>
                  <a:lnTo>
                    <a:pt x="0" y="1005484"/>
                  </a:lnTo>
                  <a:lnTo>
                    <a:pt x="758875" y="1005484"/>
                  </a:lnTo>
                  <a:lnTo>
                    <a:pt x="1517751" y="1005484"/>
                  </a:lnTo>
                  <a:lnTo>
                    <a:pt x="1517751" y="0"/>
                  </a:lnTo>
                  <a:close/>
                </a:path>
              </a:pathLst>
            </a:custGeom>
            <a:solidFill>
              <a:srgbClr val="F0F4F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2" name="Google Shape;232;p3"/>
            <p:cNvSpPr/>
            <p:nvPr/>
          </p:nvSpPr>
          <p:spPr>
            <a:xfrm>
              <a:off x="7260120" y="1527126"/>
              <a:ext cx="1280160" cy="201295"/>
            </a:xfrm>
            <a:custGeom>
              <a:rect b="b" l="l" r="r" t="t"/>
              <a:pathLst>
                <a:path extrusionOk="0" h="201294" w="1280159">
                  <a:moveTo>
                    <a:pt x="1279804" y="0"/>
                  </a:moveTo>
                  <a:lnTo>
                    <a:pt x="0" y="0"/>
                  </a:lnTo>
                  <a:lnTo>
                    <a:pt x="0" y="200875"/>
                  </a:lnTo>
                  <a:lnTo>
                    <a:pt x="640079" y="200875"/>
                  </a:lnTo>
                  <a:lnTo>
                    <a:pt x="1279804" y="200875"/>
                  </a:lnTo>
                  <a:lnTo>
                    <a:pt x="1279804" y="0"/>
                  </a:lnTo>
                  <a:close/>
                </a:path>
              </a:pathLst>
            </a:custGeom>
            <a:solidFill>
              <a:srgbClr val="EB4799">
                <a:alpha val="2000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3" name="Google Shape;233;p3"/>
            <p:cNvSpPr/>
            <p:nvPr/>
          </p:nvSpPr>
          <p:spPr>
            <a:xfrm>
              <a:off x="7278115" y="1563118"/>
              <a:ext cx="205740" cy="128270"/>
            </a:xfrm>
            <a:custGeom>
              <a:rect b="b" l="l" r="r" t="t"/>
              <a:pathLst>
                <a:path extrusionOk="0" h="128269" w="205740">
                  <a:moveTo>
                    <a:pt x="205562" y="0"/>
                  </a:moveTo>
                  <a:lnTo>
                    <a:pt x="0" y="0"/>
                  </a:lnTo>
                  <a:lnTo>
                    <a:pt x="0" y="127800"/>
                  </a:lnTo>
                  <a:lnTo>
                    <a:pt x="102958" y="127800"/>
                  </a:lnTo>
                  <a:lnTo>
                    <a:pt x="205562" y="127800"/>
                  </a:lnTo>
                  <a:lnTo>
                    <a:pt x="205562" y="0"/>
                  </a:lnTo>
                  <a:close/>
                </a:path>
              </a:pathLst>
            </a:custGeom>
            <a:solidFill>
              <a:srgbClr val="EB4799">
                <a:alpha val="6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4" name="Google Shape;234;p3"/>
            <p:cNvSpPr/>
            <p:nvPr/>
          </p:nvSpPr>
          <p:spPr>
            <a:xfrm>
              <a:off x="7278115" y="1563118"/>
              <a:ext cx="205740" cy="128270"/>
            </a:xfrm>
            <a:custGeom>
              <a:rect b="b" l="l" r="r" t="t"/>
              <a:pathLst>
                <a:path extrusionOk="0" h="128269" w="205740">
                  <a:moveTo>
                    <a:pt x="102958" y="127800"/>
                  </a:moveTo>
                  <a:lnTo>
                    <a:pt x="0" y="127800"/>
                  </a:lnTo>
                  <a:lnTo>
                    <a:pt x="0" y="0"/>
                  </a:lnTo>
                  <a:lnTo>
                    <a:pt x="205562" y="0"/>
                  </a:lnTo>
                  <a:lnTo>
                    <a:pt x="205562" y="127800"/>
                  </a:lnTo>
                  <a:lnTo>
                    <a:pt x="102958" y="127800"/>
                  </a:lnTo>
                  <a:close/>
                </a:path>
              </a:pathLst>
            </a:custGeom>
            <a:noFill/>
            <a:ln cap="flat" cmpd="sng" w="12575">
              <a:solidFill>
                <a:srgbClr val="EB479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5" name="Google Shape;235;p3"/>
            <p:cNvSpPr/>
            <p:nvPr/>
          </p:nvSpPr>
          <p:spPr>
            <a:xfrm>
              <a:off x="7520762" y="1563118"/>
              <a:ext cx="494030" cy="128270"/>
            </a:xfrm>
            <a:custGeom>
              <a:rect b="b" l="l" r="r" t="t"/>
              <a:pathLst>
                <a:path extrusionOk="0" h="128269" w="494029">
                  <a:moveTo>
                    <a:pt x="493560" y="0"/>
                  </a:moveTo>
                  <a:lnTo>
                    <a:pt x="0" y="0"/>
                  </a:lnTo>
                  <a:lnTo>
                    <a:pt x="0" y="127800"/>
                  </a:lnTo>
                  <a:lnTo>
                    <a:pt x="246951" y="127800"/>
                  </a:lnTo>
                  <a:lnTo>
                    <a:pt x="493560" y="127800"/>
                  </a:lnTo>
                  <a:lnTo>
                    <a:pt x="493560" y="0"/>
                  </a:lnTo>
                  <a:close/>
                </a:path>
              </a:pathLst>
            </a:custGeom>
            <a:solidFill>
              <a:srgbClr val="EB4799">
                <a:alpha val="6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6" name="Google Shape;236;p3"/>
            <p:cNvSpPr/>
            <p:nvPr/>
          </p:nvSpPr>
          <p:spPr>
            <a:xfrm>
              <a:off x="7520762" y="1563118"/>
              <a:ext cx="494030" cy="128270"/>
            </a:xfrm>
            <a:custGeom>
              <a:rect b="b" l="l" r="r" t="t"/>
              <a:pathLst>
                <a:path extrusionOk="0" h="128269" w="494029">
                  <a:moveTo>
                    <a:pt x="246951" y="127800"/>
                  </a:moveTo>
                  <a:lnTo>
                    <a:pt x="0" y="127800"/>
                  </a:lnTo>
                  <a:lnTo>
                    <a:pt x="0" y="0"/>
                  </a:lnTo>
                  <a:lnTo>
                    <a:pt x="493560" y="0"/>
                  </a:lnTo>
                  <a:lnTo>
                    <a:pt x="493560" y="127800"/>
                  </a:lnTo>
                  <a:lnTo>
                    <a:pt x="246951" y="127800"/>
                  </a:lnTo>
                  <a:close/>
                </a:path>
              </a:pathLst>
            </a:custGeom>
            <a:noFill/>
            <a:ln cap="flat" cmpd="sng" w="12575">
              <a:solidFill>
                <a:srgbClr val="EB479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7" name="Google Shape;237;p3"/>
            <p:cNvSpPr/>
            <p:nvPr/>
          </p:nvSpPr>
          <p:spPr>
            <a:xfrm>
              <a:off x="8051037" y="1563118"/>
              <a:ext cx="287655" cy="128270"/>
            </a:xfrm>
            <a:custGeom>
              <a:rect b="b" l="l" r="r" t="t"/>
              <a:pathLst>
                <a:path extrusionOk="0" h="128269" w="287654">
                  <a:moveTo>
                    <a:pt x="287642" y="0"/>
                  </a:moveTo>
                  <a:lnTo>
                    <a:pt x="0" y="0"/>
                  </a:lnTo>
                  <a:lnTo>
                    <a:pt x="0" y="127800"/>
                  </a:lnTo>
                  <a:lnTo>
                    <a:pt x="144005" y="127800"/>
                  </a:lnTo>
                  <a:lnTo>
                    <a:pt x="287642" y="127800"/>
                  </a:lnTo>
                  <a:lnTo>
                    <a:pt x="287642" y="0"/>
                  </a:lnTo>
                  <a:close/>
                </a:path>
              </a:pathLst>
            </a:custGeom>
            <a:solidFill>
              <a:srgbClr val="EB4799">
                <a:alpha val="6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8" name="Google Shape;238;p3"/>
            <p:cNvSpPr/>
            <p:nvPr/>
          </p:nvSpPr>
          <p:spPr>
            <a:xfrm>
              <a:off x="8051037" y="1563118"/>
              <a:ext cx="287655" cy="128270"/>
            </a:xfrm>
            <a:custGeom>
              <a:rect b="b" l="l" r="r" t="t"/>
              <a:pathLst>
                <a:path extrusionOk="0" h="128269" w="287654">
                  <a:moveTo>
                    <a:pt x="144005" y="127800"/>
                  </a:moveTo>
                  <a:lnTo>
                    <a:pt x="0" y="127800"/>
                  </a:lnTo>
                  <a:lnTo>
                    <a:pt x="0" y="0"/>
                  </a:lnTo>
                  <a:lnTo>
                    <a:pt x="287642" y="0"/>
                  </a:lnTo>
                  <a:lnTo>
                    <a:pt x="287642" y="127800"/>
                  </a:lnTo>
                  <a:lnTo>
                    <a:pt x="144005" y="127800"/>
                  </a:lnTo>
                  <a:close/>
                </a:path>
              </a:pathLst>
            </a:custGeom>
            <a:noFill/>
            <a:ln cap="flat" cmpd="sng" w="12575">
              <a:solidFill>
                <a:srgbClr val="EB479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9" name="Google Shape;239;p3"/>
            <p:cNvSpPr/>
            <p:nvPr/>
          </p:nvSpPr>
          <p:spPr>
            <a:xfrm>
              <a:off x="8375395" y="1563118"/>
              <a:ext cx="165100" cy="128270"/>
            </a:xfrm>
            <a:custGeom>
              <a:rect b="b" l="l" r="r" t="t"/>
              <a:pathLst>
                <a:path extrusionOk="0" h="128269" w="165100">
                  <a:moveTo>
                    <a:pt x="164528" y="0"/>
                  </a:moveTo>
                  <a:lnTo>
                    <a:pt x="0" y="0"/>
                  </a:lnTo>
                  <a:lnTo>
                    <a:pt x="0" y="127800"/>
                  </a:lnTo>
                  <a:lnTo>
                    <a:pt x="82448" y="127800"/>
                  </a:lnTo>
                  <a:lnTo>
                    <a:pt x="164528" y="127800"/>
                  </a:lnTo>
                  <a:lnTo>
                    <a:pt x="164528" y="0"/>
                  </a:lnTo>
                  <a:close/>
                </a:path>
              </a:pathLst>
            </a:custGeom>
            <a:solidFill>
              <a:srgbClr val="EB4799">
                <a:alpha val="6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40" name="Google Shape;240;p3"/>
            <p:cNvSpPr/>
            <p:nvPr/>
          </p:nvSpPr>
          <p:spPr>
            <a:xfrm>
              <a:off x="8375395" y="1563118"/>
              <a:ext cx="165100" cy="128270"/>
            </a:xfrm>
            <a:custGeom>
              <a:rect b="b" l="l" r="r" t="t"/>
              <a:pathLst>
                <a:path extrusionOk="0" h="128269" w="165100">
                  <a:moveTo>
                    <a:pt x="82448" y="127800"/>
                  </a:moveTo>
                  <a:lnTo>
                    <a:pt x="0" y="127800"/>
                  </a:lnTo>
                  <a:lnTo>
                    <a:pt x="0" y="0"/>
                  </a:lnTo>
                  <a:lnTo>
                    <a:pt x="164528" y="0"/>
                  </a:lnTo>
                  <a:lnTo>
                    <a:pt x="164528" y="127800"/>
                  </a:lnTo>
                  <a:lnTo>
                    <a:pt x="82448" y="127800"/>
                  </a:lnTo>
                  <a:close/>
                </a:path>
              </a:pathLst>
            </a:custGeom>
            <a:noFill/>
            <a:ln cap="flat" cmpd="sng" w="12575">
              <a:solidFill>
                <a:srgbClr val="EB479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41" name="Google Shape;241;p3"/>
          <p:cNvSpPr txBox="1"/>
          <p:nvPr/>
        </p:nvSpPr>
        <p:spPr>
          <a:xfrm>
            <a:off x="7260120" y="1527126"/>
            <a:ext cx="1280160" cy="201295"/>
          </a:xfrm>
          <a:prstGeom prst="rect">
            <a:avLst/>
          </a:prstGeom>
          <a:noFill/>
          <a:ln cap="flat" cmpd="sng" w="10075">
            <a:solidFill>
              <a:srgbClr val="EB4799"/>
            </a:solidFill>
            <a:prstDash val="solid"/>
            <a:round/>
            <a:headEnd len="sm" w="sm" type="none"/>
            <a:tailEnd len="sm" w="sm" type="none"/>
          </a:ln>
        </p:spPr>
        <p:txBody>
          <a:bodyPr anchorCtr="0" anchor="t" bIns="0" lIns="0" spcFirstLastPara="1" rIns="0" wrap="square" tIns="54600">
            <a:spAutoFit/>
          </a:bodyPr>
          <a:lstStyle/>
          <a:p>
            <a:pPr indent="0" lvl="0" marL="25400" rtl="0" algn="l">
              <a:lnSpc>
                <a:spcPct val="100000"/>
              </a:lnSpc>
              <a:spcBef>
                <a:spcPts val="0"/>
              </a:spcBef>
              <a:spcAft>
                <a:spcPts val="0"/>
              </a:spcAft>
              <a:buNone/>
            </a:pPr>
            <a:r>
              <a:rPr lang="en-US" sz="600">
                <a:solidFill>
                  <a:srgbClr val="1D283A"/>
                </a:solidFill>
                <a:latin typeface="Calibri"/>
                <a:ea typeface="Calibri"/>
                <a:cs typeface="Calibri"/>
                <a:sym typeface="Calibri"/>
              </a:rPr>
              <a:t>Head 1</a:t>
            </a:r>
            <a:endParaRPr sz="600">
              <a:latin typeface="Calibri"/>
              <a:ea typeface="Calibri"/>
              <a:cs typeface="Calibri"/>
              <a:sym typeface="Calibri"/>
            </a:endParaRPr>
          </a:p>
        </p:txBody>
      </p:sp>
      <p:grpSp>
        <p:nvGrpSpPr>
          <p:cNvPr id="242" name="Google Shape;242;p3"/>
          <p:cNvGrpSpPr/>
          <p:nvPr/>
        </p:nvGrpSpPr>
        <p:grpSpPr>
          <a:xfrm>
            <a:off x="7260120" y="1783082"/>
            <a:ext cx="1280376" cy="201295"/>
            <a:chOff x="7260120" y="1783082"/>
            <a:chExt cx="1280376" cy="201295"/>
          </a:xfrm>
        </p:grpSpPr>
        <p:sp>
          <p:nvSpPr>
            <p:cNvPr id="243" name="Google Shape;243;p3"/>
            <p:cNvSpPr/>
            <p:nvPr/>
          </p:nvSpPr>
          <p:spPr>
            <a:xfrm>
              <a:off x="7260120" y="1783082"/>
              <a:ext cx="1280160" cy="201295"/>
            </a:xfrm>
            <a:custGeom>
              <a:rect b="b" l="l" r="r" t="t"/>
              <a:pathLst>
                <a:path extrusionOk="0" h="201294" w="1280159">
                  <a:moveTo>
                    <a:pt x="1279804" y="0"/>
                  </a:moveTo>
                  <a:lnTo>
                    <a:pt x="0" y="0"/>
                  </a:lnTo>
                  <a:lnTo>
                    <a:pt x="0" y="200875"/>
                  </a:lnTo>
                  <a:lnTo>
                    <a:pt x="640079" y="200875"/>
                  </a:lnTo>
                  <a:lnTo>
                    <a:pt x="1279804" y="200875"/>
                  </a:lnTo>
                  <a:lnTo>
                    <a:pt x="1279804" y="0"/>
                  </a:lnTo>
                  <a:close/>
                </a:path>
              </a:pathLst>
            </a:custGeom>
            <a:solidFill>
              <a:srgbClr val="6266F0">
                <a:alpha val="2000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44" name="Google Shape;244;p3"/>
            <p:cNvSpPr/>
            <p:nvPr/>
          </p:nvSpPr>
          <p:spPr>
            <a:xfrm>
              <a:off x="7278116" y="1819442"/>
              <a:ext cx="205740" cy="128270"/>
            </a:xfrm>
            <a:custGeom>
              <a:rect b="b" l="l" r="r" t="t"/>
              <a:pathLst>
                <a:path extrusionOk="0" h="128269" w="205740">
                  <a:moveTo>
                    <a:pt x="205562" y="0"/>
                  </a:moveTo>
                  <a:lnTo>
                    <a:pt x="0" y="0"/>
                  </a:lnTo>
                  <a:lnTo>
                    <a:pt x="0" y="127800"/>
                  </a:lnTo>
                  <a:lnTo>
                    <a:pt x="102958" y="127800"/>
                  </a:lnTo>
                  <a:lnTo>
                    <a:pt x="205562" y="127800"/>
                  </a:lnTo>
                  <a:lnTo>
                    <a:pt x="205562" y="0"/>
                  </a:lnTo>
                  <a:close/>
                </a:path>
              </a:pathLst>
            </a:custGeom>
            <a:solidFill>
              <a:srgbClr val="6266F0">
                <a:alpha val="6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45" name="Google Shape;245;p3"/>
            <p:cNvSpPr/>
            <p:nvPr/>
          </p:nvSpPr>
          <p:spPr>
            <a:xfrm>
              <a:off x="7278116" y="1819442"/>
              <a:ext cx="205740" cy="128270"/>
            </a:xfrm>
            <a:custGeom>
              <a:rect b="b" l="l" r="r" t="t"/>
              <a:pathLst>
                <a:path extrusionOk="0" h="128269" w="205740">
                  <a:moveTo>
                    <a:pt x="102958" y="127800"/>
                  </a:moveTo>
                  <a:lnTo>
                    <a:pt x="0" y="127800"/>
                  </a:lnTo>
                  <a:lnTo>
                    <a:pt x="0" y="0"/>
                  </a:lnTo>
                  <a:lnTo>
                    <a:pt x="205562" y="0"/>
                  </a:lnTo>
                  <a:lnTo>
                    <a:pt x="205562" y="127800"/>
                  </a:lnTo>
                  <a:lnTo>
                    <a:pt x="102958" y="127800"/>
                  </a:lnTo>
                  <a:close/>
                </a:path>
              </a:pathLst>
            </a:custGeom>
            <a:noFill/>
            <a:ln cap="flat" cmpd="sng" w="12575">
              <a:solidFill>
                <a:srgbClr val="6266F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46" name="Google Shape;246;p3"/>
            <p:cNvSpPr/>
            <p:nvPr/>
          </p:nvSpPr>
          <p:spPr>
            <a:xfrm>
              <a:off x="7520762" y="1819442"/>
              <a:ext cx="494030" cy="128270"/>
            </a:xfrm>
            <a:custGeom>
              <a:rect b="b" l="l" r="r" t="t"/>
              <a:pathLst>
                <a:path extrusionOk="0" h="128269" w="494029">
                  <a:moveTo>
                    <a:pt x="493560" y="0"/>
                  </a:moveTo>
                  <a:lnTo>
                    <a:pt x="0" y="0"/>
                  </a:lnTo>
                  <a:lnTo>
                    <a:pt x="0" y="127800"/>
                  </a:lnTo>
                  <a:lnTo>
                    <a:pt x="246951" y="127800"/>
                  </a:lnTo>
                  <a:lnTo>
                    <a:pt x="493560" y="127800"/>
                  </a:lnTo>
                  <a:lnTo>
                    <a:pt x="493560" y="0"/>
                  </a:lnTo>
                  <a:close/>
                </a:path>
              </a:pathLst>
            </a:custGeom>
            <a:solidFill>
              <a:srgbClr val="6266F0">
                <a:alpha val="6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47" name="Google Shape;247;p3"/>
            <p:cNvSpPr/>
            <p:nvPr/>
          </p:nvSpPr>
          <p:spPr>
            <a:xfrm>
              <a:off x="7520762" y="1819442"/>
              <a:ext cx="494030" cy="128270"/>
            </a:xfrm>
            <a:custGeom>
              <a:rect b="b" l="l" r="r" t="t"/>
              <a:pathLst>
                <a:path extrusionOk="0" h="128269" w="494029">
                  <a:moveTo>
                    <a:pt x="246951" y="127800"/>
                  </a:moveTo>
                  <a:lnTo>
                    <a:pt x="0" y="127800"/>
                  </a:lnTo>
                  <a:lnTo>
                    <a:pt x="0" y="0"/>
                  </a:lnTo>
                  <a:lnTo>
                    <a:pt x="493560" y="0"/>
                  </a:lnTo>
                  <a:lnTo>
                    <a:pt x="493560" y="127800"/>
                  </a:lnTo>
                  <a:lnTo>
                    <a:pt x="246951" y="127800"/>
                  </a:lnTo>
                  <a:close/>
                </a:path>
              </a:pathLst>
            </a:custGeom>
            <a:noFill/>
            <a:ln cap="flat" cmpd="sng" w="12575">
              <a:solidFill>
                <a:srgbClr val="6266F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48" name="Google Shape;248;p3"/>
            <p:cNvSpPr/>
            <p:nvPr/>
          </p:nvSpPr>
          <p:spPr>
            <a:xfrm>
              <a:off x="8051038" y="1819442"/>
              <a:ext cx="287655" cy="128270"/>
            </a:xfrm>
            <a:custGeom>
              <a:rect b="b" l="l" r="r" t="t"/>
              <a:pathLst>
                <a:path extrusionOk="0" h="128269" w="287654">
                  <a:moveTo>
                    <a:pt x="287642" y="0"/>
                  </a:moveTo>
                  <a:lnTo>
                    <a:pt x="0" y="0"/>
                  </a:lnTo>
                  <a:lnTo>
                    <a:pt x="0" y="127800"/>
                  </a:lnTo>
                  <a:lnTo>
                    <a:pt x="144005" y="127800"/>
                  </a:lnTo>
                  <a:lnTo>
                    <a:pt x="287642" y="127800"/>
                  </a:lnTo>
                  <a:lnTo>
                    <a:pt x="287642" y="0"/>
                  </a:lnTo>
                  <a:close/>
                </a:path>
              </a:pathLst>
            </a:custGeom>
            <a:solidFill>
              <a:srgbClr val="6266F0">
                <a:alpha val="6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49" name="Google Shape;249;p3"/>
            <p:cNvSpPr/>
            <p:nvPr/>
          </p:nvSpPr>
          <p:spPr>
            <a:xfrm>
              <a:off x="8051038" y="1819442"/>
              <a:ext cx="287655" cy="128270"/>
            </a:xfrm>
            <a:custGeom>
              <a:rect b="b" l="l" r="r" t="t"/>
              <a:pathLst>
                <a:path extrusionOk="0" h="128269" w="287654">
                  <a:moveTo>
                    <a:pt x="144005" y="127800"/>
                  </a:moveTo>
                  <a:lnTo>
                    <a:pt x="0" y="127800"/>
                  </a:lnTo>
                  <a:lnTo>
                    <a:pt x="0" y="0"/>
                  </a:lnTo>
                  <a:lnTo>
                    <a:pt x="287642" y="0"/>
                  </a:lnTo>
                  <a:lnTo>
                    <a:pt x="287642" y="127800"/>
                  </a:lnTo>
                  <a:lnTo>
                    <a:pt x="144005" y="127800"/>
                  </a:lnTo>
                  <a:close/>
                </a:path>
              </a:pathLst>
            </a:custGeom>
            <a:noFill/>
            <a:ln cap="flat" cmpd="sng" w="12575">
              <a:solidFill>
                <a:srgbClr val="6266F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50" name="Google Shape;250;p3"/>
            <p:cNvSpPr/>
            <p:nvPr/>
          </p:nvSpPr>
          <p:spPr>
            <a:xfrm>
              <a:off x="8375396" y="1819442"/>
              <a:ext cx="165100" cy="128270"/>
            </a:xfrm>
            <a:custGeom>
              <a:rect b="b" l="l" r="r" t="t"/>
              <a:pathLst>
                <a:path extrusionOk="0" h="128269" w="165100">
                  <a:moveTo>
                    <a:pt x="164528" y="0"/>
                  </a:moveTo>
                  <a:lnTo>
                    <a:pt x="0" y="0"/>
                  </a:lnTo>
                  <a:lnTo>
                    <a:pt x="0" y="127800"/>
                  </a:lnTo>
                  <a:lnTo>
                    <a:pt x="82448" y="127800"/>
                  </a:lnTo>
                  <a:lnTo>
                    <a:pt x="164528" y="127800"/>
                  </a:lnTo>
                  <a:lnTo>
                    <a:pt x="164528" y="0"/>
                  </a:lnTo>
                  <a:close/>
                </a:path>
              </a:pathLst>
            </a:custGeom>
            <a:solidFill>
              <a:srgbClr val="6266F0">
                <a:alpha val="6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51" name="Google Shape;251;p3"/>
            <p:cNvSpPr/>
            <p:nvPr/>
          </p:nvSpPr>
          <p:spPr>
            <a:xfrm>
              <a:off x="8375396" y="1819442"/>
              <a:ext cx="165100" cy="128270"/>
            </a:xfrm>
            <a:custGeom>
              <a:rect b="b" l="l" r="r" t="t"/>
              <a:pathLst>
                <a:path extrusionOk="0" h="128269" w="165100">
                  <a:moveTo>
                    <a:pt x="82448" y="127800"/>
                  </a:moveTo>
                  <a:lnTo>
                    <a:pt x="0" y="127800"/>
                  </a:lnTo>
                  <a:lnTo>
                    <a:pt x="0" y="0"/>
                  </a:lnTo>
                  <a:lnTo>
                    <a:pt x="164528" y="0"/>
                  </a:lnTo>
                  <a:lnTo>
                    <a:pt x="164528" y="127800"/>
                  </a:lnTo>
                  <a:lnTo>
                    <a:pt x="82448" y="127800"/>
                  </a:lnTo>
                  <a:close/>
                </a:path>
              </a:pathLst>
            </a:custGeom>
            <a:noFill/>
            <a:ln cap="flat" cmpd="sng" w="12575">
              <a:solidFill>
                <a:srgbClr val="6266F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52" name="Google Shape;252;p3"/>
          <p:cNvSpPr txBox="1"/>
          <p:nvPr/>
        </p:nvSpPr>
        <p:spPr>
          <a:xfrm>
            <a:off x="7260120" y="1783082"/>
            <a:ext cx="1280160" cy="201295"/>
          </a:xfrm>
          <a:prstGeom prst="rect">
            <a:avLst/>
          </a:prstGeom>
          <a:noFill/>
          <a:ln cap="flat" cmpd="sng" w="10075">
            <a:solidFill>
              <a:srgbClr val="6266F0"/>
            </a:solidFill>
            <a:prstDash val="solid"/>
            <a:round/>
            <a:headEnd len="sm" w="sm" type="none"/>
            <a:tailEnd len="sm" w="sm" type="none"/>
          </a:ln>
        </p:spPr>
        <p:txBody>
          <a:bodyPr anchorCtr="0" anchor="t" bIns="0" lIns="0" spcFirstLastPara="1" rIns="0" wrap="square" tIns="54600">
            <a:spAutoFit/>
          </a:bodyPr>
          <a:lstStyle/>
          <a:p>
            <a:pPr indent="0" lvl="0" marL="25400" rtl="0" algn="l">
              <a:lnSpc>
                <a:spcPct val="100000"/>
              </a:lnSpc>
              <a:spcBef>
                <a:spcPts val="0"/>
              </a:spcBef>
              <a:spcAft>
                <a:spcPts val="0"/>
              </a:spcAft>
              <a:buNone/>
            </a:pPr>
            <a:r>
              <a:rPr lang="en-US" sz="600">
                <a:solidFill>
                  <a:srgbClr val="1D283A"/>
                </a:solidFill>
                <a:latin typeface="Calibri"/>
                <a:ea typeface="Calibri"/>
                <a:cs typeface="Calibri"/>
                <a:sym typeface="Calibri"/>
              </a:rPr>
              <a:t>Head 2</a:t>
            </a:r>
            <a:endParaRPr sz="600">
              <a:latin typeface="Calibri"/>
              <a:ea typeface="Calibri"/>
              <a:cs typeface="Calibri"/>
              <a:sym typeface="Calibri"/>
            </a:endParaRPr>
          </a:p>
        </p:txBody>
      </p:sp>
      <p:grpSp>
        <p:nvGrpSpPr>
          <p:cNvPr id="253" name="Google Shape;253;p3"/>
          <p:cNvGrpSpPr/>
          <p:nvPr/>
        </p:nvGrpSpPr>
        <p:grpSpPr>
          <a:xfrm>
            <a:off x="7260120" y="2039037"/>
            <a:ext cx="1280376" cy="201295"/>
            <a:chOff x="7260120" y="2039037"/>
            <a:chExt cx="1280376" cy="201295"/>
          </a:xfrm>
        </p:grpSpPr>
        <p:sp>
          <p:nvSpPr>
            <p:cNvPr id="254" name="Google Shape;254;p3"/>
            <p:cNvSpPr/>
            <p:nvPr/>
          </p:nvSpPr>
          <p:spPr>
            <a:xfrm>
              <a:off x="7260120" y="2039037"/>
              <a:ext cx="1280160" cy="201295"/>
            </a:xfrm>
            <a:custGeom>
              <a:rect b="b" l="l" r="r" t="t"/>
              <a:pathLst>
                <a:path extrusionOk="0" h="201294" w="1280159">
                  <a:moveTo>
                    <a:pt x="1279804" y="0"/>
                  </a:moveTo>
                  <a:lnTo>
                    <a:pt x="0" y="0"/>
                  </a:lnTo>
                  <a:lnTo>
                    <a:pt x="0" y="200888"/>
                  </a:lnTo>
                  <a:lnTo>
                    <a:pt x="640079" y="200888"/>
                  </a:lnTo>
                  <a:lnTo>
                    <a:pt x="1279804" y="200888"/>
                  </a:lnTo>
                  <a:lnTo>
                    <a:pt x="1279804" y="0"/>
                  </a:lnTo>
                  <a:close/>
                </a:path>
              </a:pathLst>
            </a:custGeom>
            <a:solidFill>
              <a:srgbClr val="0FB880">
                <a:alpha val="2000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55" name="Google Shape;255;p3"/>
            <p:cNvSpPr/>
            <p:nvPr/>
          </p:nvSpPr>
          <p:spPr>
            <a:xfrm>
              <a:off x="7278116" y="2075397"/>
              <a:ext cx="205740" cy="128270"/>
            </a:xfrm>
            <a:custGeom>
              <a:rect b="b" l="l" r="r" t="t"/>
              <a:pathLst>
                <a:path extrusionOk="0" h="128269" w="205740">
                  <a:moveTo>
                    <a:pt x="205562" y="0"/>
                  </a:moveTo>
                  <a:lnTo>
                    <a:pt x="0" y="0"/>
                  </a:lnTo>
                  <a:lnTo>
                    <a:pt x="0" y="127800"/>
                  </a:lnTo>
                  <a:lnTo>
                    <a:pt x="102958" y="127800"/>
                  </a:lnTo>
                  <a:lnTo>
                    <a:pt x="205562" y="127800"/>
                  </a:lnTo>
                  <a:lnTo>
                    <a:pt x="205562" y="0"/>
                  </a:lnTo>
                  <a:close/>
                </a:path>
              </a:pathLst>
            </a:custGeom>
            <a:solidFill>
              <a:srgbClr val="0FB880">
                <a:alpha val="6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56" name="Google Shape;256;p3"/>
            <p:cNvSpPr/>
            <p:nvPr/>
          </p:nvSpPr>
          <p:spPr>
            <a:xfrm>
              <a:off x="7278116" y="2075397"/>
              <a:ext cx="205740" cy="128270"/>
            </a:xfrm>
            <a:custGeom>
              <a:rect b="b" l="l" r="r" t="t"/>
              <a:pathLst>
                <a:path extrusionOk="0" h="128269" w="205740">
                  <a:moveTo>
                    <a:pt x="102958" y="127800"/>
                  </a:moveTo>
                  <a:lnTo>
                    <a:pt x="0" y="127800"/>
                  </a:lnTo>
                  <a:lnTo>
                    <a:pt x="0" y="0"/>
                  </a:lnTo>
                  <a:lnTo>
                    <a:pt x="205562" y="0"/>
                  </a:lnTo>
                  <a:lnTo>
                    <a:pt x="205562" y="127800"/>
                  </a:lnTo>
                  <a:lnTo>
                    <a:pt x="102958" y="127800"/>
                  </a:lnTo>
                  <a:close/>
                </a:path>
              </a:pathLst>
            </a:custGeom>
            <a:noFill/>
            <a:ln cap="flat" cmpd="sng" w="12575">
              <a:solidFill>
                <a:srgbClr val="0FB88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57" name="Google Shape;257;p3"/>
            <p:cNvSpPr/>
            <p:nvPr/>
          </p:nvSpPr>
          <p:spPr>
            <a:xfrm>
              <a:off x="7520762" y="2075397"/>
              <a:ext cx="494030" cy="128270"/>
            </a:xfrm>
            <a:custGeom>
              <a:rect b="b" l="l" r="r" t="t"/>
              <a:pathLst>
                <a:path extrusionOk="0" h="128269" w="494029">
                  <a:moveTo>
                    <a:pt x="493560" y="0"/>
                  </a:moveTo>
                  <a:lnTo>
                    <a:pt x="0" y="0"/>
                  </a:lnTo>
                  <a:lnTo>
                    <a:pt x="0" y="127800"/>
                  </a:lnTo>
                  <a:lnTo>
                    <a:pt x="246951" y="127800"/>
                  </a:lnTo>
                  <a:lnTo>
                    <a:pt x="493560" y="127800"/>
                  </a:lnTo>
                  <a:lnTo>
                    <a:pt x="493560" y="0"/>
                  </a:lnTo>
                  <a:close/>
                </a:path>
              </a:pathLst>
            </a:custGeom>
            <a:solidFill>
              <a:srgbClr val="0FB880">
                <a:alpha val="6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58" name="Google Shape;258;p3"/>
            <p:cNvSpPr/>
            <p:nvPr/>
          </p:nvSpPr>
          <p:spPr>
            <a:xfrm>
              <a:off x="7520762" y="2075397"/>
              <a:ext cx="494030" cy="128270"/>
            </a:xfrm>
            <a:custGeom>
              <a:rect b="b" l="l" r="r" t="t"/>
              <a:pathLst>
                <a:path extrusionOk="0" h="128269" w="494029">
                  <a:moveTo>
                    <a:pt x="246951" y="127800"/>
                  </a:moveTo>
                  <a:lnTo>
                    <a:pt x="0" y="127800"/>
                  </a:lnTo>
                  <a:lnTo>
                    <a:pt x="0" y="0"/>
                  </a:lnTo>
                  <a:lnTo>
                    <a:pt x="493560" y="0"/>
                  </a:lnTo>
                  <a:lnTo>
                    <a:pt x="493560" y="127800"/>
                  </a:lnTo>
                  <a:lnTo>
                    <a:pt x="246951" y="127800"/>
                  </a:lnTo>
                  <a:close/>
                </a:path>
              </a:pathLst>
            </a:custGeom>
            <a:noFill/>
            <a:ln cap="flat" cmpd="sng" w="12575">
              <a:solidFill>
                <a:srgbClr val="0FB88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59" name="Google Shape;259;p3"/>
            <p:cNvSpPr/>
            <p:nvPr/>
          </p:nvSpPr>
          <p:spPr>
            <a:xfrm>
              <a:off x="8051038" y="2075397"/>
              <a:ext cx="287655" cy="128270"/>
            </a:xfrm>
            <a:custGeom>
              <a:rect b="b" l="l" r="r" t="t"/>
              <a:pathLst>
                <a:path extrusionOk="0" h="128269" w="287654">
                  <a:moveTo>
                    <a:pt x="287642" y="0"/>
                  </a:moveTo>
                  <a:lnTo>
                    <a:pt x="0" y="0"/>
                  </a:lnTo>
                  <a:lnTo>
                    <a:pt x="0" y="127800"/>
                  </a:lnTo>
                  <a:lnTo>
                    <a:pt x="144005" y="127800"/>
                  </a:lnTo>
                  <a:lnTo>
                    <a:pt x="287642" y="127800"/>
                  </a:lnTo>
                  <a:lnTo>
                    <a:pt x="287642" y="0"/>
                  </a:lnTo>
                  <a:close/>
                </a:path>
              </a:pathLst>
            </a:custGeom>
            <a:solidFill>
              <a:srgbClr val="0FB880">
                <a:alpha val="6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60" name="Google Shape;260;p3"/>
            <p:cNvSpPr/>
            <p:nvPr/>
          </p:nvSpPr>
          <p:spPr>
            <a:xfrm>
              <a:off x="8051038" y="2075397"/>
              <a:ext cx="287655" cy="128270"/>
            </a:xfrm>
            <a:custGeom>
              <a:rect b="b" l="l" r="r" t="t"/>
              <a:pathLst>
                <a:path extrusionOk="0" h="128269" w="287654">
                  <a:moveTo>
                    <a:pt x="144005" y="127800"/>
                  </a:moveTo>
                  <a:lnTo>
                    <a:pt x="0" y="127800"/>
                  </a:lnTo>
                  <a:lnTo>
                    <a:pt x="0" y="0"/>
                  </a:lnTo>
                  <a:lnTo>
                    <a:pt x="287642" y="0"/>
                  </a:lnTo>
                  <a:lnTo>
                    <a:pt x="287642" y="127800"/>
                  </a:lnTo>
                  <a:lnTo>
                    <a:pt x="144005" y="127800"/>
                  </a:lnTo>
                  <a:close/>
                </a:path>
              </a:pathLst>
            </a:custGeom>
            <a:noFill/>
            <a:ln cap="flat" cmpd="sng" w="12575">
              <a:solidFill>
                <a:srgbClr val="0FB88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61" name="Google Shape;261;p3"/>
            <p:cNvSpPr/>
            <p:nvPr/>
          </p:nvSpPr>
          <p:spPr>
            <a:xfrm>
              <a:off x="8375396" y="2075397"/>
              <a:ext cx="165100" cy="128270"/>
            </a:xfrm>
            <a:custGeom>
              <a:rect b="b" l="l" r="r" t="t"/>
              <a:pathLst>
                <a:path extrusionOk="0" h="128269" w="165100">
                  <a:moveTo>
                    <a:pt x="164528" y="0"/>
                  </a:moveTo>
                  <a:lnTo>
                    <a:pt x="0" y="0"/>
                  </a:lnTo>
                  <a:lnTo>
                    <a:pt x="0" y="127800"/>
                  </a:lnTo>
                  <a:lnTo>
                    <a:pt x="82448" y="127800"/>
                  </a:lnTo>
                  <a:lnTo>
                    <a:pt x="164528" y="127800"/>
                  </a:lnTo>
                  <a:lnTo>
                    <a:pt x="164528" y="0"/>
                  </a:lnTo>
                  <a:close/>
                </a:path>
              </a:pathLst>
            </a:custGeom>
            <a:solidFill>
              <a:srgbClr val="0FB880">
                <a:alpha val="6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62" name="Google Shape;262;p3"/>
            <p:cNvSpPr/>
            <p:nvPr/>
          </p:nvSpPr>
          <p:spPr>
            <a:xfrm>
              <a:off x="8375396" y="2075397"/>
              <a:ext cx="165100" cy="128270"/>
            </a:xfrm>
            <a:custGeom>
              <a:rect b="b" l="l" r="r" t="t"/>
              <a:pathLst>
                <a:path extrusionOk="0" h="128269" w="165100">
                  <a:moveTo>
                    <a:pt x="82448" y="127800"/>
                  </a:moveTo>
                  <a:lnTo>
                    <a:pt x="0" y="127800"/>
                  </a:lnTo>
                  <a:lnTo>
                    <a:pt x="0" y="0"/>
                  </a:lnTo>
                  <a:lnTo>
                    <a:pt x="164528" y="0"/>
                  </a:lnTo>
                  <a:lnTo>
                    <a:pt x="164528" y="127800"/>
                  </a:lnTo>
                  <a:lnTo>
                    <a:pt x="82448" y="127800"/>
                  </a:lnTo>
                  <a:close/>
                </a:path>
              </a:pathLst>
            </a:custGeom>
            <a:noFill/>
            <a:ln cap="flat" cmpd="sng" w="12575">
              <a:solidFill>
                <a:srgbClr val="0FB88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63" name="Google Shape;263;p3"/>
          <p:cNvSpPr txBox="1"/>
          <p:nvPr/>
        </p:nvSpPr>
        <p:spPr>
          <a:xfrm>
            <a:off x="7260120" y="2039037"/>
            <a:ext cx="1280160" cy="201295"/>
          </a:xfrm>
          <a:prstGeom prst="rect">
            <a:avLst/>
          </a:prstGeom>
          <a:noFill/>
          <a:ln cap="flat" cmpd="sng" w="10075">
            <a:solidFill>
              <a:srgbClr val="0FB880"/>
            </a:solidFill>
            <a:prstDash val="solid"/>
            <a:round/>
            <a:headEnd len="sm" w="sm" type="none"/>
            <a:tailEnd len="sm" w="sm" type="none"/>
          </a:ln>
        </p:spPr>
        <p:txBody>
          <a:bodyPr anchorCtr="0" anchor="t" bIns="0" lIns="0" spcFirstLastPara="1" rIns="0" wrap="square" tIns="54600">
            <a:spAutoFit/>
          </a:bodyPr>
          <a:lstStyle/>
          <a:p>
            <a:pPr indent="0" lvl="0" marL="25400" rtl="0" algn="l">
              <a:lnSpc>
                <a:spcPct val="100000"/>
              </a:lnSpc>
              <a:spcBef>
                <a:spcPts val="0"/>
              </a:spcBef>
              <a:spcAft>
                <a:spcPts val="0"/>
              </a:spcAft>
              <a:buNone/>
            </a:pPr>
            <a:r>
              <a:rPr lang="en-US" sz="600">
                <a:solidFill>
                  <a:srgbClr val="1D283A"/>
                </a:solidFill>
                <a:latin typeface="Calibri"/>
                <a:ea typeface="Calibri"/>
                <a:cs typeface="Calibri"/>
                <a:sym typeface="Calibri"/>
              </a:rPr>
              <a:t>Head 3</a:t>
            </a:r>
            <a:endParaRPr sz="600">
              <a:latin typeface="Calibri"/>
              <a:ea typeface="Calibri"/>
              <a:cs typeface="Calibri"/>
              <a:sym typeface="Calibri"/>
            </a:endParaRPr>
          </a:p>
        </p:txBody>
      </p:sp>
      <p:sp>
        <p:nvSpPr>
          <p:cNvPr id="264" name="Google Shape;264;p3"/>
          <p:cNvSpPr txBox="1"/>
          <p:nvPr/>
        </p:nvSpPr>
        <p:spPr>
          <a:xfrm>
            <a:off x="7187044" y="1389597"/>
            <a:ext cx="1518285" cy="1005840"/>
          </a:xfrm>
          <a:prstGeom prst="rect">
            <a:avLst/>
          </a:prstGeom>
          <a:noFill/>
          <a:ln cap="flat" cmpd="sng" w="9525">
            <a:solidFill>
              <a:srgbClr val="E1E7EF"/>
            </a:solidFill>
            <a:prstDash val="solid"/>
            <a:round/>
            <a:headEnd len="sm" w="sm" type="none"/>
            <a:tailEnd len="sm" w="sm" type="none"/>
          </a:ln>
        </p:spPr>
        <p:txBody>
          <a:bodyPr anchorCtr="0" anchor="t" bIns="0" lIns="0" spcFirstLastPara="1" rIns="0" wrap="square" tIns="0">
            <a:spAutoFit/>
          </a:bodyPr>
          <a:lstStyle/>
          <a:p>
            <a:pPr indent="0" lvl="0" marL="0" rtl="0" algn="l">
              <a:lnSpc>
                <a:spcPct val="100000"/>
              </a:lnSpc>
              <a:spcBef>
                <a:spcPts val="0"/>
              </a:spcBef>
              <a:spcAft>
                <a:spcPts val="0"/>
              </a:spcAft>
              <a:buNone/>
            </a:pPr>
            <a:r>
              <a:t/>
            </a:r>
            <a:endParaRPr sz="6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6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6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6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6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6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6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6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600">
              <a:latin typeface="Times New Roman"/>
              <a:ea typeface="Times New Roman"/>
              <a:cs typeface="Times New Roman"/>
              <a:sym typeface="Times New Roman"/>
            </a:endParaRPr>
          </a:p>
          <a:p>
            <a:pPr indent="0" lvl="0" marL="0" rtl="0" algn="l">
              <a:lnSpc>
                <a:spcPct val="100000"/>
              </a:lnSpc>
              <a:spcBef>
                <a:spcPts val="375"/>
              </a:spcBef>
              <a:spcAft>
                <a:spcPts val="0"/>
              </a:spcAft>
              <a:buNone/>
            </a:pPr>
            <a:r>
              <a:t/>
            </a:r>
            <a:endParaRPr sz="600">
              <a:latin typeface="Times New Roman"/>
              <a:ea typeface="Times New Roman"/>
              <a:cs typeface="Times New Roman"/>
              <a:sym typeface="Times New Roman"/>
            </a:endParaRPr>
          </a:p>
          <a:p>
            <a:pPr indent="0" lvl="0" marL="384175" rtl="0" algn="l">
              <a:lnSpc>
                <a:spcPct val="107500"/>
              </a:lnSpc>
              <a:spcBef>
                <a:spcPts val="0"/>
              </a:spcBef>
              <a:spcAft>
                <a:spcPts val="0"/>
              </a:spcAft>
              <a:buNone/>
            </a:pPr>
            <a:r>
              <a:rPr lang="en-US" sz="600">
                <a:solidFill>
                  <a:srgbClr val="63738A"/>
                </a:solidFill>
                <a:latin typeface="Calibri"/>
                <a:ea typeface="Calibri"/>
                <a:cs typeface="Calibri"/>
                <a:sym typeface="Calibri"/>
              </a:rPr>
              <a:t>Multi-Head Attention</a:t>
            </a:r>
            <a:endParaRPr sz="600">
              <a:latin typeface="Calibri"/>
              <a:ea typeface="Calibri"/>
              <a:cs typeface="Calibri"/>
              <a:sym typeface="Calibri"/>
            </a:endParaRPr>
          </a:p>
        </p:txBody>
      </p:sp>
      <p:sp>
        <p:nvSpPr>
          <p:cNvPr id="265" name="Google Shape;265;p3"/>
          <p:cNvSpPr txBox="1"/>
          <p:nvPr/>
        </p:nvSpPr>
        <p:spPr>
          <a:xfrm>
            <a:off x="5475135" y="2466821"/>
            <a:ext cx="925194" cy="712470"/>
          </a:xfrm>
          <a:prstGeom prst="rect">
            <a:avLst/>
          </a:prstGeom>
          <a:noFill/>
          <a:ln>
            <a:noFill/>
          </a:ln>
        </p:spPr>
        <p:txBody>
          <a:bodyPr anchorCtr="0" anchor="t" bIns="0" lIns="0" spcFirstLastPara="1" rIns="0" wrap="square" tIns="46975">
            <a:spAutoFit/>
          </a:bodyPr>
          <a:lstStyle/>
          <a:p>
            <a:pPr indent="0" lvl="0" marL="12700" rtl="0" algn="l">
              <a:lnSpc>
                <a:spcPct val="100000"/>
              </a:lnSpc>
              <a:spcBef>
                <a:spcPts val="0"/>
              </a:spcBef>
              <a:spcAft>
                <a:spcPts val="0"/>
              </a:spcAft>
              <a:buNone/>
            </a:pPr>
            <a:r>
              <a:rPr b="1" lang="en-US" sz="900">
                <a:solidFill>
                  <a:srgbClr val="F49D0A"/>
                </a:solidFill>
                <a:latin typeface="Calibri"/>
                <a:ea typeface="Calibri"/>
                <a:cs typeface="Calibri"/>
                <a:sym typeface="Calibri"/>
              </a:rPr>
              <a:t>Sequential data</a:t>
            </a:r>
            <a:endParaRPr sz="900">
              <a:latin typeface="Calibri"/>
              <a:ea typeface="Calibri"/>
              <a:cs typeface="Calibri"/>
              <a:sym typeface="Calibri"/>
            </a:endParaRPr>
          </a:p>
          <a:p>
            <a:pPr indent="0" lvl="0" marL="12700" rtl="0" algn="l">
              <a:lnSpc>
                <a:spcPct val="100000"/>
              </a:lnSpc>
              <a:spcBef>
                <a:spcPts val="275"/>
              </a:spcBef>
              <a:spcAft>
                <a:spcPts val="0"/>
              </a:spcAft>
              <a:buNone/>
            </a:pPr>
            <a:r>
              <a:rPr lang="en-US" sz="900">
                <a:solidFill>
                  <a:srgbClr val="334054"/>
                </a:solidFill>
                <a:latin typeface="Calibri"/>
                <a:ea typeface="Calibri"/>
                <a:cs typeface="Calibri"/>
                <a:sym typeface="Calibri"/>
              </a:rPr>
              <a:t>Hidden state</a:t>
            </a:r>
            <a:endParaRPr sz="900">
              <a:latin typeface="Calibri"/>
              <a:ea typeface="Calibri"/>
              <a:cs typeface="Calibri"/>
              <a:sym typeface="Calibri"/>
            </a:endParaRPr>
          </a:p>
          <a:p>
            <a:pPr indent="0" lvl="0" marL="12700" marR="5080" rtl="0" algn="l">
              <a:lnSpc>
                <a:spcPct val="125200"/>
              </a:lnSpc>
              <a:spcBef>
                <a:spcPts val="0"/>
              </a:spcBef>
              <a:spcAft>
                <a:spcPts val="0"/>
              </a:spcAft>
              <a:buNone/>
            </a:pPr>
            <a:r>
              <a:rPr lang="en-US" sz="900">
                <a:solidFill>
                  <a:srgbClr val="334054"/>
                </a:solidFill>
                <a:latin typeface="Calibri"/>
                <a:ea typeface="Calibri"/>
                <a:cs typeface="Calibri"/>
                <a:sym typeface="Calibri"/>
              </a:rPr>
              <a:t>Long-term memory NLP / time-series</a:t>
            </a:r>
            <a:endParaRPr sz="900">
              <a:latin typeface="Calibri"/>
              <a:ea typeface="Calibri"/>
              <a:cs typeface="Calibri"/>
              <a:sym typeface="Calibri"/>
            </a:endParaRPr>
          </a:p>
        </p:txBody>
      </p:sp>
      <p:sp>
        <p:nvSpPr>
          <p:cNvPr id="266" name="Google Shape;266;p3"/>
          <p:cNvSpPr txBox="1"/>
          <p:nvPr/>
        </p:nvSpPr>
        <p:spPr>
          <a:xfrm>
            <a:off x="7212495" y="2466821"/>
            <a:ext cx="876300" cy="712470"/>
          </a:xfrm>
          <a:prstGeom prst="rect">
            <a:avLst/>
          </a:prstGeom>
          <a:noFill/>
          <a:ln>
            <a:noFill/>
          </a:ln>
        </p:spPr>
        <p:txBody>
          <a:bodyPr anchorCtr="0" anchor="t" bIns="0" lIns="0" spcFirstLastPara="1" rIns="0" wrap="square" tIns="12700">
            <a:spAutoFit/>
          </a:bodyPr>
          <a:lstStyle/>
          <a:p>
            <a:pPr indent="0" lvl="0" marL="12700" marR="5080" rtl="0" algn="l">
              <a:lnSpc>
                <a:spcPct val="125200"/>
              </a:lnSpc>
              <a:spcBef>
                <a:spcPts val="0"/>
              </a:spcBef>
              <a:spcAft>
                <a:spcPts val="0"/>
              </a:spcAft>
              <a:buNone/>
            </a:pPr>
            <a:r>
              <a:rPr b="1" lang="en-US" sz="900">
                <a:solidFill>
                  <a:srgbClr val="EB4799"/>
                </a:solidFill>
                <a:latin typeface="Calibri"/>
                <a:ea typeface="Calibri"/>
                <a:cs typeface="Calibri"/>
                <a:sym typeface="Calibri"/>
              </a:rPr>
              <a:t>Self-attention </a:t>
            </a:r>
            <a:r>
              <a:rPr lang="en-US" sz="900">
                <a:solidFill>
                  <a:srgbClr val="334054"/>
                </a:solidFill>
                <a:latin typeface="Calibri"/>
                <a:ea typeface="Calibri"/>
                <a:cs typeface="Calibri"/>
                <a:sym typeface="Calibri"/>
              </a:rPr>
              <a:t>Parallelizable Positional enc. LLMs / GPT / BERT</a:t>
            </a:r>
            <a:endParaRPr sz="900">
              <a:latin typeface="Calibri"/>
              <a:ea typeface="Calibri"/>
              <a:cs typeface="Calibri"/>
              <a:sym typeface="Calibri"/>
            </a:endParaRPr>
          </a:p>
        </p:txBody>
      </p:sp>
      <p:pic>
        <p:nvPicPr>
          <p:cNvPr id="267" name="Google Shape;267;p3"/>
          <p:cNvPicPr preferRelativeResize="0"/>
          <p:nvPr/>
        </p:nvPicPr>
        <p:blipFill rotWithShape="1">
          <a:blip r:embed="rId10">
            <a:alphaModFix/>
          </a:blip>
          <a:srcRect b="0" l="0" r="0" t="0"/>
          <a:stretch/>
        </p:blipFill>
        <p:spPr>
          <a:xfrm>
            <a:off x="7853944" y="4132262"/>
            <a:ext cx="183950" cy="183963"/>
          </a:xfrm>
          <a:prstGeom prst="rect">
            <a:avLst/>
          </a:prstGeom>
          <a:noFill/>
          <a:ln>
            <a:noFill/>
          </a:ln>
        </p:spPr>
      </p:pic>
      <p:sp>
        <p:nvSpPr>
          <p:cNvPr id="268" name="Google Shape;268;p3"/>
          <p:cNvSpPr txBox="1"/>
          <p:nvPr/>
        </p:nvSpPr>
        <p:spPr>
          <a:xfrm>
            <a:off x="215544" y="4859714"/>
            <a:ext cx="1245870" cy="14986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None/>
            </a:pPr>
            <a:r>
              <a:rPr lang="en-US" sz="800">
                <a:solidFill>
                  <a:srgbClr val="93A2B7"/>
                </a:solidFill>
                <a:latin typeface="Calibri"/>
                <a:ea typeface="Calibri"/>
                <a:cs typeface="Calibri"/>
                <a:sym typeface="Calibri"/>
              </a:rPr>
              <a:t>Deep Learning · IIT Kharagpur</a:t>
            </a:r>
            <a:endParaRPr sz="800">
              <a:latin typeface="Calibri"/>
              <a:ea typeface="Calibri"/>
              <a:cs typeface="Calibri"/>
              <a:sym typeface="Calibri"/>
            </a:endParaRPr>
          </a:p>
        </p:txBody>
      </p:sp>
      <p:sp>
        <p:nvSpPr>
          <p:cNvPr id="269" name="Google Shape;269;p3"/>
          <p:cNvSpPr txBox="1"/>
          <p:nvPr/>
        </p:nvSpPr>
        <p:spPr>
          <a:xfrm>
            <a:off x="7649540" y="4859714"/>
            <a:ext cx="1275080" cy="14986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None/>
            </a:pPr>
            <a:r>
              <a:rPr i="1" lang="en-US" sz="800">
                <a:solidFill>
                  <a:srgbClr val="93A2B7"/>
                </a:solidFill>
                <a:latin typeface="Cambria"/>
                <a:ea typeface="Cambria"/>
                <a:cs typeface="Cambria"/>
                <a:sym typeface="Cambria"/>
              </a:rPr>
              <a:t>Complexity &amp; Specialization →</a:t>
            </a:r>
            <a:endParaRPr sz="800">
              <a:latin typeface="Cambria"/>
              <a:ea typeface="Cambria"/>
              <a:cs typeface="Cambria"/>
              <a:sym typeface="Cambria"/>
            </a:endParaRPr>
          </a:p>
        </p:txBody>
      </p:sp>
      <p:sp>
        <p:nvSpPr>
          <p:cNvPr id="270" name="Google Shape;270;p3"/>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1270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descr="$PPTXTitle" id="275" name="Google Shape;275;p4"/>
          <p:cNvSpPr txBox="1"/>
          <p:nvPr>
            <p:ph type="title"/>
          </p:nvPr>
        </p:nvSpPr>
        <p:spPr>
          <a:xfrm>
            <a:off x="1591094" y="328576"/>
            <a:ext cx="6054090" cy="4216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600"/>
              <a:t>Recurrent Neural Networks (RNNs) &amp; LSTMs</a:t>
            </a:r>
            <a:endParaRPr sz="2600"/>
          </a:p>
        </p:txBody>
      </p:sp>
      <p:pic>
        <p:nvPicPr>
          <p:cNvPr id="276" name="Google Shape;276;p4"/>
          <p:cNvPicPr preferRelativeResize="0"/>
          <p:nvPr/>
        </p:nvPicPr>
        <p:blipFill rotWithShape="1">
          <a:blip r:embed="rId3">
            <a:alphaModFix/>
          </a:blip>
          <a:srcRect b="0" l="0" r="0" t="0"/>
          <a:stretch/>
        </p:blipFill>
        <p:spPr>
          <a:xfrm>
            <a:off x="8369274" y="14"/>
            <a:ext cx="774357" cy="866508"/>
          </a:xfrm>
          <a:prstGeom prst="rect">
            <a:avLst/>
          </a:prstGeom>
          <a:noFill/>
          <a:ln>
            <a:noFill/>
          </a:ln>
        </p:spPr>
      </p:pic>
      <p:sp>
        <p:nvSpPr>
          <p:cNvPr id="277" name="Google Shape;277;p4"/>
          <p:cNvSpPr txBox="1"/>
          <p:nvPr/>
        </p:nvSpPr>
        <p:spPr>
          <a:xfrm>
            <a:off x="380999" y="741859"/>
            <a:ext cx="2938157" cy="3079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50">
                <a:latin typeface="Calibri"/>
                <a:ea typeface="Calibri"/>
                <a:cs typeface="Calibri"/>
                <a:sym typeface="Calibri"/>
              </a:rPr>
              <a:t>RNN Applications </a:t>
            </a:r>
            <a:endParaRPr sz="1850">
              <a:latin typeface="Calibri"/>
              <a:ea typeface="Calibri"/>
              <a:cs typeface="Calibri"/>
              <a:sym typeface="Calibri"/>
            </a:endParaRPr>
          </a:p>
        </p:txBody>
      </p:sp>
      <p:grpSp>
        <p:nvGrpSpPr>
          <p:cNvPr id="278" name="Google Shape;278;p4"/>
          <p:cNvGrpSpPr/>
          <p:nvPr/>
        </p:nvGrpSpPr>
        <p:grpSpPr>
          <a:xfrm>
            <a:off x="257035" y="1009436"/>
            <a:ext cx="3987355" cy="2133727"/>
            <a:chOff x="257035" y="1009436"/>
            <a:chExt cx="3987355" cy="2133727"/>
          </a:xfrm>
        </p:grpSpPr>
        <p:pic>
          <p:nvPicPr>
            <p:cNvPr id="279" name="Google Shape;279;p4"/>
            <p:cNvPicPr preferRelativeResize="0"/>
            <p:nvPr/>
          </p:nvPicPr>
          <p:blipFill rotWithShape="1">
            <a:blip r:embed="rId4">
              <a:alphaModFix/>
            </a:blip>
            <a:srcRect b="0" l="0" r="0" t="0"/>
            <a:stretch/>
          </p:blipFill>
          <p:spPr>
            <a:xfrm>
              <a:off x="257035" y="1009436"/>
              <a:ext cx="3987355" cy="2133727"/>
            </a:xfrm>
            <a:prstGeom prst="rect">
              <a:avLst/>
            </a:prstGeom>
            <a:noFill/>
            <a:ln>
              <a:noFill/>
            </a:ln>
          </p:spPr>
        </p:pic>
        <p:sp>
          <p:nvSpPr>
            <p:cNvPr id="280" name="Google Shape;280;p4"/>
            <p:cNvSpPr/>
            <p:nvPr/>
          </p:nvSpPr>
          <p:spPr>
            <a:xfrm>
              <a:off x="380161" y="1082880"/>
              <a:ext cx="3790950" cy="1938020"/>
            </a:xfrm>
            <a:custGeom>
              <a:rect b="b" l="l" r="r" t="t"/>
              <a:pathLst>
                <a:path extrusionOk="0" h="1938020" w="3790950">
                  <a:moveTo>
                    <a:pt x="3790797" y="0"/>
                  </a:moveTo>
                  <a:lnTo>
                    <a:pt x="0" y="0"/>
                  </a:lnTo>
                  <a:lnTo>
                    <a:pt x="0" y="1937524"/>
                  </a:lnTo>
                  <a:lnTo>
                    <a:pt x="1895398" y="1937524"/>
                  </a:lnTo>
                  <a:lnTo>
                    <a:pt x="3790797" y="1937524"/>
                  </a:lnTo>
                  <a:lnTo>
                    <a:pt x="3790797"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81" name="Google Shape;281;p4"/>
            <p:cNvSpPr/>
            <p:nvPr/>
          </p:nvSpPr>
          <p:spPr>
            <a:xfrm>
              <a:off x="380161" y="1082880"/>
              <a:ext cx="3790950" cy="1938020"/>
            </a:xfrm>
            <a:custGeom>
              <a:rect b="b" l="l" r="r" t="t"/>
              <a:pathLst>
                <a:path extrusionOk="0" h="1938020" w="3790950">
                  <a:moveTo>
                    <a:pt x="1895398" y="1937524"/>
                  </a:moveTo>
                  <a:lnTo>
                    <a:pt x="0" y="1937524"/>
                  </a:lnTo>
                  <a:lnTo>
                    <a:pt x="0" y="0"/>
                  </a:lnTo>
                  <a:lnTo>
                    <a:pt x="3790797" y="0"/>
                  </a:lnTo>
                  <a:lnTo>
                    <a:pt x="3790797" y="1937524"/>
                  </a:lnTo>
                  <a:lnTo>
                    <a:pt x="1895398" y="1937524"/>
                  </a:lnTo>
                  <a:close/>
                </a:path>
              </a:pathLst>
            </a:custGeom>
            <a:noFill/>
            <a:ln cap="flat" cmpd="sng" w="9525">
              <a:solidFill>
                <a:srgbClr val="00AF4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82" name="Google Shape;282;p4"/>
          <p:cNvSpPr txBox="1"/>
          <p:nvPr/>
        </p:nvSpPr>
        <p:spPr>
          <a:xfrm>
            <a:off x="384841" y="1186105"/>
            <a:ext cx="3782060" cy="214629"/>
          </a:xfrm>
          <a:prstGeom prst="rect">
            <a:avLst/>
          </a:prstGeom>
          <a:noFill/>
          <a:ln>
            <a:noFill/>
          </a:ln>
        </p:spPr>
        <p:txBody>
          <a:bodyPr anchorCtr="0" anchor="t" bIns="0" lIns="0" spcFirstLastPara="1" rIns="0" wrap="square" tIns="17125">
            <a:spAutoFit/>
          </a:bodyPr>
          <a:lstStyle/>
          <a:p>
            <a:pPr indent="0" lvl="0" marL="950594" rtl="0" algn="l">
              <a:lnSpc>
                <a:spcPct val="100000"/>
              </a:lnSpc>
              <a:spcBef>
                <a:spcPts val="0"/>
              </a:spcBef>
              <a:spcAft>
                <a:spcPts val="0"/>
              </a:spcAft>
              <a:buNone/>
            </a:pPr>
            <a:r>
              <a:rPr b="1" lang="en-US" sz="1200">
                <a:latin typeface="Calibri"/>
                <a:ea typeface="Calibri"/>
                <a:cs typeface="Calibri"/>
                <a:sym typeface="Calibri"/>
              </a:rPr>
              <a:t>Natural Language Processing</a:t>
            </a:r>
            <a:endParaRPr sz="1200">
              <a:latin typeface="Calibri"/>
              <a:ea typeface="Calibri"/>
              <a:cs typeface="Calibri"/>
              <a:sym typeface="Calibri"/>
            </a:endParaRPr>
          </a:p>
        </p:txBody>
      </p:sp>
      <p:sp>
        <p:nvSpPr>
          <p:cNvPr id="283" name="Google Shape;283;p4"/>
          <p:cNvSpPr txBox="1"/>
          <p:nvPr/>
        </p:nvSpPr>
        <p:spPr>
          <a:xfrm>
            <a:off x="384841" y="1575259"/>
            <a:ext cx="3782060" cy="1038225"/>
          </a:xfrm>
          <a:prstGeom prst="rect">
            <a:avLst/>
          </a:prstGeom>
          <a:noFill/>
          <a:ln>
            <a:noFill/>
          </a:ln>
        </p:spPr>
        <p:txBody>
          <a:bodyPr anchorCtr="0" anchor="t" bIns="0" lIns="0" spcFirstLastPara="1" rIns="0" wrap="square" tIns="13950">
            <a:spAutoFit/>
          </a:bodyPr>
          <a:lstStyle/>
          <a:p>
            <a:pPr indent="-316230" lvl="0" marL="437515" rtl="0" algn="l">
              <a:lnSpc>
                <a:spcPct val="100000"/>
              </a:lnSpc>
              <a:spcBef>
                <a:spcPts val="0"/>
              </a:spcBef>
              <a:spcAft>
                <a:spcPts val="0"/>
              </a:spcAft>
              <a:buSzPts val="1650"/>
              <a:buFont typeface="Calibri"/>
              <a:buChar char="•"/>
            </a:pPr>
            <a:r>
              <a:rPr lang="en-US" sz="1650">
                <a:latin typeface="Calibri"/>
                <a:ea typeface="Calibri"/>
                <a:cs typeface="Calibri"/>
                <a:sym typeface="Calibri"/>
              </a:rPr>
              <a:t>Machine Translation</a:t>
            </a:r>
            <a:endParaRPr sz="1650">
              <a:latin typeface="Calibri"/>
              <a:ea typeface="Calibri"/>
              <a:cs typeface="Calibri"/>
              <a:sym typeface="Calibri"/>
            </a:endParaRPr>
          </a:p>
          <a:p>
            <a:pPr indent="-316230" lvl="0" marL="437515" rtl="0" algn="l">
              <a:lnSpc>
                <a:spcPct val="100000"/>
              </a:lnSpc>
              <a:spcBef>
                <a:spcPts val="10"/>
              </a:spcBef>
              <a:spcAft>
                <a:spcPts val="0"/>
              </a:spcAft>
              <a:buSzPts val="1650"/>
              <a:buFont typeface="Calibri"/>
              <a:buChar char="•"/>
            </a:pPr>
            <a:r>
              <a:rPr lang="en-US" sz="1650">
                <a:latin typeface="Calibri"/>
                <a:ea typeface="Calibri"/>
                <a:cs typeface="Calibri"/>
                <a:sym typeface="Calibri"/>
              </a:rPr>
              <a:t>Sentiment Analysis</a:t>
            </a:r>
            <a:endParaRPr sz="1650">
              <a:latin typeface="Calibri"/>
              <a:ea typeface="Calibri"/>
              <a:cs typeface="Calibri"/>
              <a:sym typeface="Calibri"/>
            </a:endParaRPr>
          </a:p>
          <a:p>
            <a:pPr indent="-316230" lvl="0" marL="437515" rtl="0" algn="l">
              <a:lnSpc>
                <a:spcPct val="100000"/>
              </a:lnSpc>
              <a:spcBef>
                <a:spcPts val="15"/>
              </a:spcBef>
              <a:spcAft>
                <a:spcPts val="0"/>
              </a:spcAft>
              <a:buSzPts val="1650"/>
              <a:buFont typeface="Calibri"/>
              <a:buChar char="•"/>
            </a:pPr>
            <a:r>
              <a:rPr lang="en-US" sz="1650">
                <a:latin typeface="Calibri"/>
                <a:ea typeface="Calibri"/>
                <a:cs typeface="Calibri"/>
                <a:sym typeface="Calibri"/>
              </a:rPr>
              <a:t>Named Entity Recognition</a:t>
            </a:r>
            <a:endParaRPr sz="1650">
              <a:latin typeface="Calibri"/>
              <a:ea typeface="Calibri"/>
              <a:cs typeface="Calibri"/>
              <a:sym typeface="Calibri"/>
            </a:endParaRPr>
          </a:p>
          <a:p>
            <a:pPr indent="-316230" lvl="0" marL="437515" rtl="0" algn="l">
              <a:lnSpc>
                <a:spcPct val="100000"/>
              </a:lnSpc>
              <a:spcBef>
                <a:spcPts val="15"/>
              </a:spcBef>
              <a:spcAft>
                <a:spcPts val="0"/>
              </a:spcAft>
              <a:buSzPts val="1650"/>
              <a:buFont typeface="Calibri"/>
              <a:buChar char="•"/>
            </a:pPr>
            <a:r>
              <a:rPr lang="en-US" sz="1650">
                <a:latin typeface="Calibri"/>
                <a:ea typeface="Calibri"/>
                <a:cs typeface="Calibri"/>
                <a:sym typeface="Calibri"/>
              </a:rPr>
              <a:t>Text Generation / LLMs</a:t>
            </a:r>
            <a:endParaRPr sz="1650">
              <a:latin typeface="Calibri"/>
              <a:ea typeface="Calibri"/>
              <a:cs typeface="Calibri"/>
              <a:sym typeface="Calibri"/>
            </a:endParaRPr>
          </a:p>
        </p:txBody>
      </p:sp>
      <p:grpSp>
        <p:nvGrpSpPr>
          <p:cNvPr id="284" name="Google Shape;284;p4"/>
          <p:cNvGrpSpPr/>
          <p:nvPr/>
        </p:nvGrpSpPr>
        <p:grpSpPr>
          <a:xfrm>
            <a:off x="380161" y="982791"/>
            <a:ext cx="7968234" cy="2133727"/>
            <a:chOff x="380161" y="982791"/>
            <a:chExt cx="7968234" cy="2133727"/>
          </a:xfrm>
        </p:grpSpPr>
        <p:sp>
          <p:nvSpPr>
            <p:cNvPr id="285" name="Google Shape;285;p4"/>
            <p:cNvSpPr/>
            <p:nvPr/>
          </p:nvSpPr>
          <p:spPr>
            <a:xfrm>
              <a:off x="380161" y="1504075"/>
              <a:ext cx="3790950" cy="41910"/>
            </a:xfrm>
            <a:custGeom>
              <a:rect b="b" l="l" r="r" t="t"/>
              <a:pathLst>
                <a:path extrusionOk="0" h="41909" w="3790950">
                  <a:moveTo>
                    <a:pt x="3790797" y="0"/>
                  </a:moveTo>
                  <a:lnTo>
                    <a:pt x="0" y="0"/>
                  </a:lnTo>
                  <a:lnTo>
                    <a:pt x="0" y="41770"/>
                  </a:lnTo>
                  <a:lnTo>
                    <a:pt x="1895398" y="41770"/>
                  </a:lnTo>
                  <a:lnTo>
                    <a:pt x="3790797" y="41770"/>
                  </a:lnTo>
                  <a:lnTo>
                    <a:pt x="3790797" y="0"/>
                  </a:lnTo>
                  <a:close/>
                </a:path>
              </a:pathLst>
            </a:custGeom>
            <a:solidFill>
              <a:srgbClr val="51B68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86" name="Google Shape;286;p4"/>
            <p:cNvPicPr preferRelativeResize="0"/>
            <p:nvPr/>
          </p:nvPicPr>
          <p:blipFill rotWithShape="1">
            <a:blip r:embed="rId4">
              <a:alphaModFix/>
            </a:blip>
            <a:srcRect b="0" l="0" r="0" t="0"/>
            <a:stretch/>
          </p:blipFill>
          <p:spPr>
            <a:xfrm>
              <a:off x="4361040" y="982791"/>
              <a:ext cx="3987355" cy="2133727"/>
            </a:xfrm>
            <a:prstGeom prst="rect">
              <a:avLst/>
            </a:prstGeom>
            <a:noFill/>
            <a:ln>
              <a:noFill/>
            </a:ln>
          </p:spPr>
        </p:pic>
        <p:sp>
          <p:nvSpPr>
            <p:cNvPr id="287" name="Google Shape;287;p4"/>
            <p:cNvSpPr/>
            <p:nvPr/>
          </p:nvSpPr>
          <p:spPr>
            <a:xfrm>
              <a:off x="4484153" y="1056248"/>
              <a:ext cx="3790950" cy="1938020"/>
            </a:xfrm>
            <a:custGeom>
              <a:rect b="b" l="l" r="r" t="t"/>
              <a:pathLst>
                <a:path extrusionOk="0" h="1938020" w="3790950">
                  <a:moveTo>
                    <a:pt x="3790810" y="0"/>
                  </a:moveTo>
                  <a:lnTo>
                    <a:pt x="0" y="0"/>
                  </a:lnTo>
                  <a:lnTo>
                    <a:pt x="0" y="1937512"/>
                  </a:lnTo>
                  <a:lnTo>
                    <a:pt x="1895411" y="1937512"/>
                  </a:lnTo>
                  <a:lnTo>
                    <a:pt x="3790810" y="1937512"/>
                  </a:lnTo>
                  <a:lnTo>
                    <a:pt x="379081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88" name="Google Shape;288;p4"/>
            <p:cNvSpPr/>
            <p:nvPr/>
          </p:nvSpPr>
          <p:spPr>
            <a:xfrm>
              <a:off x="4484153" y="1056248"/>
              <a:ext cx="3790950" cy="1938020"/>
            </a:xfrm>
            <a:custGeom>
              <a:rect b="b" l="l" r="r" t="t"/>
              <a:pathLst>
                <a:path extrusionOk="0" h="1938020" w="3790950">
                  <a:moveTo>
                    <a:pt x="1895411" y="1937512"/>
                  </a:moveTo>
                  <a:lnTo>
                    <a:pt x="0" y="1937512"/>
                  </a:lnTo>
                  <a:lnTo>
                    <a:pt x="0" y="0"/>
                  </a:lnTo>
                  <a:lnTo>
                    <a:pt x="3790810" y="0"/>
                  </a:lnTo>
                  <a:lnTo>
                    <a:pt x="3790810" y="1937512"/>
                  </a:lnTo>
                  <a:lnTo>
                    <a:pt x="1895411" y="1937512"/>
                  </a:lnTo>
                  <a:close/>
                </a:path>
              </a:pathLst>
            </a:custGeom>
            <a:noFill/>
            <a:ln cap="flat" cmpd="sng" w="9525">
              <a:solidFill>
                <a:srgbClr val="00AF4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89" name="Google Shape;289;p4"/>
          <p:cNvSpPr txBox="1"/>
          <p:nvPr/>
        </p:nvSpPr>
        <p:spPr>
          <a:xfrm>
            <a:off x="4488834" y="1127063"/>
            <a:ext cx="3782060" cy="278765"/>
          </a:xfrm>
          <a:prstGeom prst="rect">
            <a:avLst/>
          </a:prstGeom>
          <a:noFill/>
          <a:ln>
            <a:noFill/>
          </a:ln>
        </p:spPr>
        <p:txBody>
          <a:bodyPr anchorCtr="0" anchor="t" bIns="0" lIns="0" spcFirstLastPara="1" rIns="0" wrap="square" tIns="13950">
            <a:spAutoFit/>
          </a:bodyPr>
          <a:lstStyle/>
          <a:p>
            <a:pPr indent="0" lvl="0" marL="1009650" rtl="0" algn="l">
              <a:lnSpc>
                <a:spcPct val="100000"/>
              </a:lnSpc>
              <a:spcBef>
                <a:spcPts val="0"/>
              </a:spcBef>
              <a:spcAft>
                <a:spcPts val="0"/>
              </a:spcAft>
              <a:buNone/>
            </a:pPr>
            <a:r>
              <a:rPr b="1" lang="en-US" sz="1650">
                <a:latin typeface="Calibri"/>
                <a:ea typeface="Calibri"/>
                <a:cs typeface="Calibri"/>
                <a:sym typeface="Calibri"/>
              </a:rPr>
              <a:t>Time Series &amp; Audio</a:t>
            </a:r>
            <a:endParaRPr sz="1650">
              <a:latin typeface="Calibri"/>
              <a:ea typeface="Calibri"/>
              <a:cs typeface="Calibri"/>
              <a:sym typeface="Calibri"/>
            </a:endParaRPr>
          </a:p>
        </p:txBody>
      </p:sp>
      <p:sp>
        <p:nvSpPr>
          <p:cNvPr id="290" name="Google Shape;290;p4"/>
          <p:cNvSpPr/>
          <p:nvPr/>
        </p:nvSpPr>
        <p:spPr>
          <a:xfrm>
            <a:off x="4484154" y="1477443"/>
            <a:ext cx="3790950" cy="41910"/>
          </a:xfrm>
          <a:custGeom>
            <a:rect b="b" l="l" r="r" t="t"/>
            <a:pathLst>
              <a:path extrusionOk="0" h="41909" w="3790950">
                <a:moveTo>
                  <a:pt x="3790810" y="0"/>
                </a:moveTo>
                <a:lnTo>
                  <a:pt x="0" y="0"/>
                </a:lnTo>
                <a:lnTo>
                  <a:pt x="0" y="41757"/>
                </a:lnTo>
                <a:lnTo>
                  <a:pt x="1895411" y="41757"/>
                </a:lnTo>
                <a:lnTo>
                  <a:pt x="3790810" y="41757"/>
                </a:lnTo>
                <a:lnTo>
                  <a:pt x="3790810" y="0"/>
                </a:lnTo>
                <a:close/>
              </a:path>
            </a:pathLst>
          </a:custGeom>
          <a:solidFill>
            <a:srgbClr val="51B68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91" name="Google Shape;291;p4"/>
          <p:cNvSpPr txBox="1"/>
          <p:nvPr/>
        </p:nvSpPr>
        <p:spPr>
          <a:xfrm>
            <a:off x="4488834" y="1548627"/>
            <a:ext cx="3782060" cy="1038225"/>
          </a:xfrm>
          <a:prstGeom prst="rect">
            <a:avLst/>
          </a:prstGeom>
          <a:noFill/>
          <a:ln>
            <a:noFill/>
          </a:ln>
        </p:spPr>
        <p:txBody>
          <a:bodyPr anchorCtr="0" anchor="t" bIns="0" lIns="0" spcFirstLastPara="1" rIns="0" wrap="square" tIns="13950">
            <a:spAutoFit/>
          </a:bodyPr>
          <a:lstStyle/>
          <a:p>
            <a:pPr indent="-316230" lvl="0" marL="437515" rtl="0" algn="l">
              <a:lnSpc>
                <a:spcPct val="100000"/>
              </a:lnSpc>
              <a:spcBef>
                <a:spcPts val="0"/>
              </a:spcBef>
              <a:spcAft>
                <a:spcPts val="0"/>
              </a:spcAft>
              <a:buSzPts val="1650"/>
              <a:buFont typeface="Calibri"/>
              <a:buChar char="•"/>
            </a:pPr>
            <a:r>
              <a:rPr lang="en-US" sz="1650">
                <a:latin typeface="Calibri"/>
                <a:ea typeface="Calibri"/>
                <a:cs typeface="Calibri"/>
                <a:sym typeface="Calibri"/>
              </a:rPr>
              <a:t>Speech Recognition</a:t>
            </a:r>
            <a:endParaRPr sz="1650">
              <a:latin typeface="Calibri"/>
              <a:ea typeface="Calibri"/>
              <a:cs typeface="Calibri"/>
              <a:sym typeface="Calibri"/>
            </a:endParaRPr>
          </a:p>
          <a:p>
            <a:pPr indent="-316230" lvl="0" marL="437515" rtl="0" algn="l">
              <a:lnSpc>
                <a:spcPct val="100000"/>
              </a:lnSpc>
              <a:spcBef>
                <a:spcPts val="10"/>
              </a:spcBef>
              <a:spcAft>
                <a:spcPts val="0"/>
              </a:spcAft>
              <a:buSzPts val="1650"/>
              <a:buFont typeface="Calibri"/>
              <a:buChar char="•"/>
            </a:pPr>
            <a:r>
              <a:rPr lang="en-US" sz="1650">
                <a:latin typeface="Calibri"/>
                <a:ea typeface="Calibri"/>
                <a:cs typeface="Calibri"/>
                <a:sym typeface="Calibri"/>
              </a:rPr>
              <a:t>Music Generation</a:t>
            </a:r>
            <a:endParaRPr sz="1650">
              <a:latin typeface="Calibri"/>
              <a:ea typeface="Calibri"/>
              <a:cs typeface="Calibri"/>
              <a:sym typeface="Calibri"/>
            </a:endParaRPr>
          </a:p>
          <a:p>
            <a:pPr indent="-316230" lvl="0" marL="437515" rtl="0" algn="l">
              <a:lnSpc>
                <a:spcPct val="100000"/>
              </a:lnSpc>
              <a:spcBef>
                <a:spcPts val="15"/>
              </a:spcBef>
              <a:spcAft>
                <a:spcPts val="0"/>
              </a:spcAft>
              <a:buSzPts val="1650"/>
              <a:buFont typeface="Calibri"/>
              <a:buChar char="•"/>
            </a:pPr>
            <a:r>
              <a:rPr lang="en-US" sz="1650">
                <a:latin typeface="Calibri"/>
                <a:ea typeface="Calibri"/>
                <a:cs typeface="Calibri"/>
                <a:sym typeface="Calibri"/>
              </a:rPr>
              <a:t>Stock Price Forecasting</a:t>
            </a:r>
            <a:endParaRPr sz="1650">
              <a:latin typeface="Calibri"/>
              <a:ea typeface="Calibri"/>
              <a:cs typeface="Calibri"/>
              <a:sym typeface="Calibri"/>
            </a:endParaRPr>
          </a:p>
          <a:p>
            <a:pPr indent="-316230" lvl="0" marL="437515" rtl="0" algn="l">
              <a:lnSpc>
                <a:spcPct val="100000"/>
              </a:lnSpc>
              <a:spcBef>
                <a:spcPts val="15"/>
              </a:spcBef>
              <a:spcAft>
                <a:spcPts val="0"/>
              </a:spcAft>
              <a:buSzPts val="1650"/>
              <a:buFont typeface="Calibri"/>
              <a:buChar char="•"/>
            </a:pPr>
            <a:r>
              <a:rPr lang="en-US" sz="1650">
                <a:latin typeface="Calibri"/>
                <a:ea typeface="Calibri"/>
                <a:cs typeface="Calibri"/>
                <a:sym typeface="Calibri"/>
              </a:rPr>
              <a:t>Anomaly Detection in Signals</a:t>
            </a:r>
            <a:endParaRPr sz="1650">
              <a:latin typeface="Calibri"/>
              <a:ea typeface="Calibri"/>
              <a:cs typeface="Calibri"/>
              <a:sym typeface="Calibri"/>
            </a:endParaRPr>
          </a:p>
        </p:txBody>
      </p:sp>
      <p:sp>
        <p:nvSpPr>
          <p:cNvPr id="292" name="Google Shape;292;p4"/>
          <p:cNvSpPr txBox="1"/>
          <p:nvPr/>
        </p:nvSpPr>
        <p:spPr>
          <a:xfrm>
            <a:off x="383298" y="3096985"/>
            <a:ext cx="237617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Calibri"/>
                <a:ea typeface="Calibri"/>
                <a:cs typeface="Calibri"/>
                <a:sym typeface="Calibri"/>
              </a:rPr>
              <a:t>CNN vs. RNN: At a Glance</a:t>
            </a:r>
            <a:endParaRPr sz="1800">
              <a:latin typeface="Calibri"/>
              <a:ea typeface="Calibri"/>
              <a:cs typeface="Calibri"/>
              <a:sym typeface="Calibri"/>
            </a:endParaRPr>
          </a:p>
        </p:txBody>
      </p:sp>
      <p:grpSp>
        <p:nvGrpSpPr>
          <p:cNvPr id="293" name="Google Shape;293;p4"/>
          <p:cNvGrpSpPr/>
          <p:nvPr/>
        </p:nvGrpSpPr>
        <p:grpSpPr>
          <a:xfrm>
            <a:off x="379806" y="3427566"/>
            <a:ext cx="1861185" cy="321310"/>
            <a:chOff x="379806" y="3427566"/>
            <a:chExt cx="1861185" cy="321310"/>
          </a:xfrm>
        </p:grpSpPr>
        <p:sp>
          <p:nvSpPr>
            <p:cNvPr id="294" name="Google Shape;294;p4"/>
            <p:cNvSpPr/>
            <p:nvPr/>
          </p:nvSpPr>
          <p:spPr>
            <a:xfrm>
              <a:off x="379806" y="3427566"/>
              <a:ext cx="1861185" cy="321310"/>
            </a:xfrm>
            <a:custGeom>
              <a:rect b="b" l="l" r="r" t="t"/>
              <a:pathLst>
                <a:path extrusionOk="0" h="321310" w="1861185">
                  <a:moveTo>
                    <a:pt x="1860829" y="0"/>
                  </a:moveTo>
                  <a:lnTo>
                    <a:pt x="0" y="0"/>
                  </a:lnTo>
                  <a:lnTo>
                    <a:pt x="0" y="321119"/>
                  </a:lnTo>
                  <a:lnTo>
                    <a:pt x="930592" y="321119"/>
                  </a:lnTo>
                  <a:lnTo>
                    <a:pt x="1860829" y="321119"/>
                  </a:lnTo>
                  <a:lnTo>
                    <a:pt x="1860829" y="0"/>
                  </a:lnTo>
                  <a:close/>
                </a:path>
              </a:pathLst>
            </a:custGeom>
            <a:solidFill>
              <a:srgbClr val="1A423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95" name="Google Shape;295;p4"/>
            <p:cNvSpPr/>
            <p:nvPr/>
          </p:nvSpPr>
          <p:spPr>
            <a:xfrm>
              <a:off x="422643" y="3427566"/>
              <a:ext cx="1776730" cy="321310"/>
            </a:xfrm>
            <a:custGeom>
              <a:rect b="b" l="l" r="r" t="t"/>
              <a:pathLst>
                <a:path extrusionOk="0" h="321310" w="1776730">
                  <a:moveTo>
                    <a:pt x="1776234" y="0"/>
                  </a:moveTo>
                  <a:lnTo>
                    <a:pt x="0" y="0"/>
                  </a:lnTo>
                  <a:lnTo>
                    <a:pt x="0" y="321119"/>
                  </a:lnTo>
                  <a:lnTo>
                    <a:pt x="888111" y="321119"/>
                  </a:lnTo>
                  <a:lnTo>
                    <a:pt x="1776234" y="321119"/>
                  </a:lnTo>
                  <a:lnTo>
                    <a:pt x="1776234"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96" name="Google Shape;296;p4"/>
            <p:cNvSpPr/>
            <p:nvPr/>
          </p:nvSpPr>
          <p:spPr>
            <a:xfrm>
              <a:off x="422643" y="3427566"/>
              <a:ext cx="1776730" cy="321310"/>
            </a:xfrm>
            <a:custGeom>
              <a:rect b="b" l="l" r="r" t="t"/>
              <a:pathLst>
                <a:path extrusionOk="0" h="321310" w="1776730">
                  <a:moveTo>
                    <a:pt x="888111" y="321119"/>
                  </a:moveTo>
                  <a:lnTo>
                    <a:pt x="0" y="321119"/>
                  </a:lnTo>
                  <a:lnTo>
                    <a:pt x="0" y="0"/>
                  </a:lnTo>
                  <a:lnTo>
                    <a:pt x="1776234" y="0"/>
                  </a:lnTo>
                  <a:lnTo>
                    <a:pt x="1776234" y="321119"/>
                  </a:lnTo>
                  <a:lnTo>
                    <a:pt x="888111" y="321119"/>
                  </a:lnTo>
                  <a:close/>
                </a:path>
              </a:pathLst>
            </a:custGeom>
            <a:noFill/>
            <a:ln cap="flat" cmpd="sng" w="9525">
              <a:solidFill>
                <a:srgbClr val="00AF4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97" name="Google Shape;297;p4"/>
          <p:cNvSpPr txBox="1"/>
          <p:nvPr/>
        </p:nvSpPr>
        <p:spPr>
          <a:xfrm>
            <a:off x="422643" y="3490825"/>
            <a:ext cx="1776730" cy="194945"/>
          </a:xfrm>
          <a:prstGeom prst="rect">
            <a:avLst/>
          </a:prstGeom>
          <a:noFill/>
          <a:ln>
            <a:noFill/>
          </a:ln>
        </p:spPr>
        <p:txBody>
          <a:bodyPr anchorCtr="0" anchor="t" bIns="0" lIns="0" spcFirstLastPara="1" rIns="0" wrap="square" tIns="13950">
            <a:spAutoFit/>
          </a:bodyPr>
          <a:lstStyle/>
          <a:p>
            <a:pPr indent="0" lvl="0" marL="148590" rtl="0" algn="ctr">
              <a:lnSpc>
                <a:spcPct val="100000"/>
              </a:lnSpc>
              <a:spcBef>
                <a:spcPts val="0"/>
              </a:spcBef>
              <a:spcAft>
                <a:spcPts val="0"/>
              </a:spcAft>
              <a:buNone/>
            </a:pPr>
            <a:r>
              <a:rPr lang="en-US" sz="1100">
                <a:latin typeface="Calibri"/>
                <a:ea typeface="Calibri"/>
                <a:cs typeface="Calibri"/>
                <a:sym typeface="Calibri"/>
              </a:rPr>
              <a:t>Aspect</a:t>
            </a:r>
            <a:endParaRPr sz="1100">
              <a:latin typeface="Calibri"/>
              <a:ea typeface="Calibri"/>
              <a:cs typeface="Calibri"/>
              <a:sym typeface="Calibri"/>
            </a:endParaRPr>
          </a:p>
        </p:txBody>
      </p:sp>
      <p:grpSp>
        <p:nvGrpSpPr>
          <p:cNvPr id="298" name="Google Shape;298;p4"/>
          <p:cNvGrpSpPr/>
          <p:nvPr/>
        </p:nvGrpSpPr>
        <p:grpSpPr>
          <a:xfrm>
            <a:off x="2283117" y="3427566"/>
            <a:ext cx="2960370" cy="321310"/>
            <a:chOff x="2283117" y="3427566"/>
            <a:chExt cx="2960370" cy="321310"/>
          </a:xfrm>
        </p:grpSpPr>
        <p:sp>
          <p:nvSpPr>
            <p:cNvPr id="299" name="Google Shape;299;p4"/>
            <p:cNvSpPr/>
            <p:nvPr/>
          </p:nvSpPr>
          <p:spPr>
            <a:xfrm>
              <a:off x="2283117" y="3427566"/>
              <a:ext cx="2960370" cy="321310"/>
            </a:xfrm>
            <a:custGeom>
              <a:rect b="b" l="l" r="r" t="t"/>
              <a:pathLst>
                <a:path extrusionOk="0" h="321310" w="2960370">
                  <a:moveTo>
                    <a:pt x="2960281" y="0"/>
                  </a:moveTo>
                  <a:lnTo>
                    <a:pt x="0" y="0"/>
                  </a:lnTo>
                  <a:lnTo>
                    <a:pt x="0" y="321119"/>
                  </a:lnTo>
                  <a:lnTo>
                    <a:pt x="1480324" y="321119"/>
                  </a:lnTo>
                  <a:lnTo>
                    <a:pt x="2960281" y="321119"/>
                  </a:lnTo>
                  <a:lnTo>
                    <a:pt x="2960281" y="0"/>
                  </a:lnTo>
                  <a:close/>
                </a:path>
              </a:pathLst>
            </a:custGeom>
            <a:solidFill>
              <a:srgbClr val="1A423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00" name="Google Shape;300;p4"/>
            <p:cNvSpPr/>
            <p:nvPr/>
          </p:nvSpPr>
          <p:spPr>
            <a:xfrm>
              <a:off x="2325954" y="3427566"/>
              <a:ext cx="2875915" cy="321310"/>
            </a:xfrm>
            <a:custGeom>
              <a:rect b="b" l="l" r="r" t="t"/>
              <a:pathLst>
                <a:path extrusionOk="0" h="321310" w="2875915">
                  <a:moveTo>
                    <a:pt x="2875686" y="0"/>
                  </a:moveTo>
                  <a:lnTo>
                    <a:pt x="0" y="0"/>
                  </a:lnTo>
                  <a:lnTo>
                    <a:pt x="0" y="321119"/>
                  </a:lnTo>
                  <a:lnTo>
                    <a:pt x="1437843" y="321119"/>
                  </a:lnTo>
                  <a:lnTo>
                    <a:pt x="2875686" y="321119"/>
                  </a:lnTo>
                  <a:lnTo>
                    <a:pt x="2875686"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01" name="Google Shape;301;p4"/>
            <p:cNvSpPr/>
            <p:nvPr/>
          </p:nvSpPr>
          <p:spPr>
            <a:xfrm>
              <a:off x="2325954" y="3427566"/>
              <a:ext cx="2875915" cy="321310"/>
            </a:xfrm>
            <a:custGeom>
              <a:rect b="b" l="l" r="r" t="t"/>
              <a:pathLst>
                <a:path extrusionOk="0" h="321310" w="2875915">
                  <a:moveTo>
                    <a:pt x="1437843" y="321119"/>
                  </a:moveTo>
                  <a:lnTo>
                    <a:pt x="0" y="321119"/>
                  </a:lnTo>
                  <a:lnTo>
                    <a:pt x="0" y="0"/>
                  </a:lnTo>
                  <a:lnTo>
                    <a:pt x="2875686" y="0"/>
                  </a:lnTo>
                  <a:lnTo>
                    <a:pt x="2875686" y="321119"/>
                  </a:lnTo>
                  <a:lnTo>
                    <a:pt x="1437843" y="321119"/>
                  </a:lnTo>
                  <a:close/>
                </a:path>
              </a:pathLst>
            </a:custGeom>
            <a:noFill/>
            <a:ln cap="flat" cmpd="sng" w="9525">
              <a:solidFill>
                <a:srgbClr val="00AF4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302" name="Google Shape;302;p4"/>
          <p:cNvSpPr txBox="1"/>
          <p:nvPr/>
        </p:nvSpPr>
        <p:spPr>
          <a:xfrm>
            <a:off x="2325954" y="3490825"/>
            <a:ext cx="2875915" cy="194945"/>
          </a:xfrm>
          <a:prstGeom prst="rect">
            <a:avLst/>
          </a:prstGeom>
          <a:noFill/>
          <a:ln>
            <a:noFill/>
          </a:ln>
        </p:spPr>
        <p:txBody>
          <a:bodyPr anchorCtr="0" anchor="t" bIns="0" lIns="0" spcFirstLastPara="1" rIns="0" wrap="square" tIns="13950">
            <a:spAutoFit/>
          </a:bodyPr>
          <a:lstStyle/>
          <a:p>
            <a:pPr indent="0" lvl="0" marL="0" rtl="0" algn="ctr">
              <a:lnSpc>
                <a:spcPct val="100000"/>
              </a:lnSpc>
              <a:spcBef>
                <a:spcPts val="0"/>
              </a:spcBef>
              <a:spcAft>
                <a:spcPts val="0"/>
              </a:spcAft>
              <a:buNone/>
            </a:pPr>
            <a:r>
              <a:rPr lang="en-US" sz="1100">
                <a:latin typeface="Calibri"/>
                <a:ea typeface="Calibri"/>
                <a:cs typeface="Calibri"/>
                <a:sym typeface="Calibri"/>
              </a:rPr>
              <a:t>CNN</a:t>
            </a:r>
            <a:endParaRPr sz="1100">
              <a:latin typeface="Calibri"/>
              <a:ea typeface="Calibri"/>
              <a:cs typeface="Calibri"/>
              <a:sym typeface="Calibri"/>
            </a:endParaRPr>
          </a:p>
        </p:txBody>
      </p:sp>
      <p:grpSp>
        <p:nvGrpSpPr>
          <p:cNvPr id="303" name="Google Shape;303;p4"/>
          <p:cNvGrpSpPr/>
          <p:nvPr/>
        </p:nvGrpSpPr>
        <p:grpSpPr>
          <a:xfrm>
            <a:off x="5286235" y="3427566"/>
            <a:ext cx="2960370" cy="321310"/>
            <a:chOff x="5286235" y="3427566"/>
            <a:chExt cx="2960370" cy="321310"/>
          </a:xfrm>
        </p:grpSpPr>
        <p:sp>
          <p:nvSpPr>
            <p:cNvPr id="304" name="Google Shape;304;p4"/>
            <p:cNvSpPr/>
            <p:nvPr/>
          </p:nvSpPr>
          <p:spPr>
            <a:xfrm>
              <a:off x="5286235" y="3427566"/>
              <a:ext cx="2960370" cy="321310"/>
            </a:xfrm>
            <a:custGeom>
              <a:rect b="b" l="l" r="r" t="t"/>
              <a:pathLst>
                <a:path extrusionOk="0" h="321310" w="2960370">
                  <a:moveTo>
                    <a:pt x="2960281" y="0"/>
                  </a:moveTo>
                  <a:lnTo>
                    <a:pt x="0" y="0"/>
                  </a:lnTo>
                  <a:lnTo>
                    <a:pt x="0" y="321119"/>
                  </a:lnTo>
                  <a:lnTo>
                    <a:pt x="1480324" y="321119"/>
                  </a:lnTo>
                  <a:lnTo>
                    <a:pt x="2960281" y="321119"/>
                  </a:lnTo>
                  <a:lnTo>
                    <a:pt x="2960281" y="0"/>
                  </a:lnTo>
                  <a:close/>
                </a:path>
              </a:pathLst>
            </a:custGeom>
            <a:solidFill>
              <a:srgbClr val="1A423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05" name="Google Shape;305;p4"/>
            <p:cNvSpPr/>
            <p:nvPr/>
          </p:nvSpPr>
          <p:spPr>
            <a:xfrm>
              <a:off x="5328716" y="3427566"/>
              <a:ext cx="2875915" cy="321310"/>
            </a:xfrm>
            <a:custGeom>
              <a:rect b="b" l="l" r="r" t="t"/>
              <a:pathLst>
                <a:path extrusionOk="0" h="321310" w="2875915">
                  <a:moveTo>
                    <a:pt x="2875686" y="0"/>
                  </a:moveTo>
                  <a:lnTo>
                    <a:pt x="0" y="0"/>
                  </a:lnTo>
                  <a:lnTo>
                    <a:pt x="0" y="321119"/>
                  </a:lnTo>
                  <a:lnTo>
                    <a:pt x="1437843" y="321119"/>
                  </a:lnTo>
                  <a:lnTo>
                    <a:pt x="2875686" y="321119"/>
                  </a:lnTo>
                  <a:lnTo>
                    <a:pt x="2875686"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06" name="Google Shape;306;p4"/>
            <p:cNvSpPr/>
            <p:nvPr/>
          </p:nvSpPr>
          <p:spPr>
            <a:xfrm>
              <a:off x="5328716" y="3427566"/>
              <a:ext cx="2875915" cy="321310"/>
            </a:xfrm>
            <a:custGeom>
              <a:rect b="b" l="l" r="r" t="t"/>
              <a:pathLst>
                <a:path extrusionOk="0" h="321310" w="2875915">
                  <a:moveTo>
                    <a:pt x="1437843" y="321119"/>
                  </a:moveTo>
                  <a:lnTo>
                    <a:pt x="0" y="321119"/>
                  </a:lnTo>
                  <a:lnTo>
                    <a:pt x="0" y="0"/>
                  </a:lnTo>
                  <a:lnTo>
                    <a:pt x="2875686" y="0"/>
                  </a:lnTo>
                  <a:lnTo>
                    <a:pt x="2875686" y="321119"/>
                  </a:lnTo>
                  <a:lnTo>
                    <a:pt x="1437843" y="321119"/>
                  </a:lnTo>
                  <a:close/>
                </a:path>
              </a:pathLst>
            </a:custGeom>
            <a:noFill/>
            <a:ln cap="flat" cmpd="sng" w="9525">
              <a:solidFill>
                <a:srgbClr val="00AF4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307" name="Google Shape;307;p4"/>
          <p:cNvSpPr txBox="1"/>
          <p:nvPr/>
        </p:nvSpPr>
        <p:spPr>
          <a:xfrm>
            <a:off x="5328716" y="3490825"/>
            <a:ext cx="2875915" cy="194945"/>
          </a:xfrm>
          <a:prstGeom prst="rect">
            <a:avLst/>
          </a:prstGeom>
          <a:noFill/>
          <a:ln>
            <a:noFill/>
          </a:ln>
        </p:spPr>
        <p:txBody>
          <a:bodyPr anchorCtr="0" anchor="t" bIns="0" lIns="0" spcFirstLastPara="1" rIns="0" wrap="square" tIns="13950">
            <a:spAutoFit/>
          </a:bodyPr>
          <a:lstStyle/>
          <a:p>
            <a:pPr indent="0" lvl="0" marL="0" rtl="0" algn="ctr">
              <a:lnSpc>
                <a:spcPct val="100000"/>
              </a:lnSpc>
              <a:spcBef>
                <a:spcPts val="0"/>
              </a:spcBef>
              <a:spcAft>
                <a:spcPts val="0"/>
              </a:spcAft>
              <a:buNone/>
            </a:pPr>
            <a:r>
              <a:rPr lang="en-US" sz="1100">
                <a:latin typeface="Calibri"/>
                <a:ea typeface="Calibri"/>
                <a:cs typeface="Calibri"/>
                <a:sym typeface="Calibri"/>
              </a:rPr>
              <a:t>RNN</a:t>
            </a:r>
            <a:endParaRPr sz="1100">
              <a:latin typeface="Calibri"/>
              <a:ea typeface="Calibri"/>
              <a:cs typeface="Calibri"/>
              <a:sym typeface="Calibri"/>
            </a:endParaRPr>
          </a:p>
        </p:txBody>
      </p:sp>
      <p:sp>
        <p:nvSpPr>
          <p:cNvPr id="308" name="Google Shape;308;p4"/>
          <p:cNvSpPr/>
          <p:nvPr/>
        </p:nvSpPr>
        <p:spPr>
          <a:xfrm>
            <a:off x="379806" y="3749042"/>
            <a:ext cx="1861185" cy="321310"/>
          </a:xfrm>
          <a:custGeom>
            <a:rect b="b" l="l" r="r" t="t"/>
            <a:pathLst>
              <a:path extrusionOk="0" h="321310" w="1861185">
                <a:moveTo>
                  <a:pt x="1860829" y="0"/>
                </a:moveTo>
                <a:lnTo>
                  <a:pt x="0" y="0"/>
                </a:lnTo>
                <a:lnTo>
                  <a:pt x="0" y="321119"/>
                </a:lnTo>
                <a:lnTo>
                  <a:pt x="930592" y="321119"/>
                </a:lnTo>
                <a:lnTo>
                  <a:pt x="1860829" y="321119"/>
                </a:lnTo>
                <a:lnTo>
                  <a:pt x="1860829" y="0"/>
                </a:lnTo>
                <a:close/>
              </a:path>
            </a:pathLst>
          </a:custGeom>
          <a:solidFill>
            <a:srgbClr val="E7F4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09" name="Google Shape;309;p4"/>
          <p:cNvSpPr txBox="1"/>
          <p:nvPr/>
        </p:nvSpPr>
        <p:spPr>
          <a:xfrm>
            <a:off x="409943" y="3819133"/>
            <a:ext cx="453390" cy="1809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1000">
                <a:solidFill>
                  <a:srgbClr val="2B3D4F"/>
                </a:solidFill>
                <a:latin typeface="Calibri"/>
                <a:ea typeface="Calibri"/>
                <a:cs typeface="Calibri"/>
                <a:sym typeface="Calibri"/>
              </a:rPr>
              <a:t>Best For</a:t>
            </a:r>
            <a:endParaRPr sz="1000">
              <a:latin typeface="Calibri"/>
              <a:ea typeface="Calibri"/>
              <a:cs typeface="Calibri"/>
              <a:sym typeface="Calibri"/>
            </a:endParaRPr>
          </a:p>
        </p:txBody>
      </p:sp>
      <p:sp>
        <p:nvSpPr>
          <p:cNvPr id="310" name="Google Shape;310;p4"/>
          <p:cNvSpPr/>
          <p:nvPr/>
        </p:nvSpPr>
        <p:spPr>
          <a:xfrm>
            <a:off x="2283117" y="3749042"/>
            <a:ext cx="2960370" cy="321310"/>
          </a:xfrm>
          <a:custGeom>
            <a:rect b="b" l="l" r="r" t="t"/>
            <a:pathLst>
              <a:path extrusionOk="0" h="321310" w="2960370">
                <a:moveTo>
                  <a:pt x="2960281" y="0"/>
                </a:moveTo>
                <a:lnTo>
                  <a:pt x="0" y="0"/>
                </a:lnTo>
                <a:lnTo>
                  <a:pt x="0" y="321119"/>
                </a:lnTo>
                <a:lnTo>
                  <a:pt x="1480324" y="321119"/>
                </a:lnTo>
                <a:lnTo>
                  <a:pt x="2960281" y="321119"/>
                </a:lnTo>
                <a:lnTo>
                  <a:pt x="2960281" y="0"/>
                </a:lnTo>
                <a:close/>
              </a:path>
            </a:pathLst>
          </a:custGeom>
          <a:solidFill>
            <a:srgbClr val="E7F4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11" name="Google Shape;311;p4"/>
          <p:cNvSpPr txBox="1"/>
          <p:nvPr/>
        </p:nvSpPr>
        <p:spPr>
          <a:xfrm>
            <a:off x="3287776" y="3819133"/>
            <a:ext cx="951230" cy="1809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1000">
                <a:solidFill>
                  <a:srgbClr val="2B3D4F"/>
                </a:solidFill>
                <a:latin typeface="Calibri"/>
                <a:ea typeface="Calibri"/>
                <a:cs typeface="Calibri"/>
                <a:sym typeface="Calibri"/>
              </a:rPr>
              <a:t>Spatial / grid data</a:t>
            </a:r>
            <a:endParaRPr sz="1000">
              <a:latin typeface="Calibri"/>
              <a:ea typeface="Calibri"/>
              <a:cs typeface="Calibri"/>
              <a:sym typeface="Calibri"/>
            </a:endParaRPr>
          </a:p>
        </p:txBody>
      </p:sp>
      <p:sp>
        <p:nvSpPr>
          <p:cNvPr id="312" name="Google Shape;312;p4"/>
          <p:cNvSpPr/>
          <p:nvPr/>
        </p:nvSpPr>
        <p:spPr>
          <a:xfrm>
            <a:off x="5286235" y="3749042"/>
            <a:ext cx="2960370" cy="321310"/>
          </a:xfrm>
          <a:custGeom>
            <a:rect b="b" l="l" r="r" t="t"/>
            <a:pathLst>
              <a:path extrusionOk="0" h="321310" w="2960370">
                <a:moveTo>
                  <a:pt x="2960281" y="0"/>
                </a:moveTo>
                <a:lnTo>
                  <a:pt x="0" y="0"/>
                </a:lnTo>
                <a:lnTo>
                  <a:pt x="0" y="321119"/>
                </a:lnTo>
                <a:lnTo>
                  <a:pt x="1480324" y="321119"/>
                </a:lnTo>
                <a:lnTo>
                  <a:pt x="2960281" y="321119"/>
                </a:lnTo>
                <a:lnTo>
                  <a:pt x="2960281" y="0"/>
                </a:lnTo>
                <a:close/>
              </a:path>
            </a:pathLst>
          </a:custGeom>
          <a:solidFill>
            <a:srgbClr val="E7F4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13" name="Google Shape;313;p4"/>
          <p:cNvSpPr txBox="1"/>
          <p:nvPr/>
        </p:nvSpPr>
        <p:spPr>
          <a:xfrm>
            <a:off x="6051143" y="3819133"/>
            <a:ext cx="1431925" cy="1809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1000">
                <a:solidFill>
                  <a:srgbClr val="2B3D4F"/>
                </a:solidFill>
                <a:latin typeface="Calibri"/>
                <a:ea typeface="Calibri"/>
                <a:cs typeface="Calibri"/>
                <a:sym typeface="Calibri"/>
              </a:rPr>
              <a:t>Sequential / temporal data</a:t>
            </a:r>
            <a:endParaRPr sz="1000">
              <a:latin typeface="Calibri"/>
              <a:ea typeface="Calibri"/>
              <a:cs typeface="Calibri"/>
              <a:sym typeface="Calibri"/>
            </a:endParaRPr>
          </a:p>
        </p:txBody>
      </p:sp>
      <p:sp>
        <p:nvSpPr>
          <p:cNvPr id="314" name="Google Shape;314;p4"/>
          <p:cNvSpPr/>
          <p:nvPr/>
        </p:nvSpPr>
        <p:spPr>
          <a:xfrm>
            <a:off x="379806" y="4070161"/>
            <a:ext cx="1861185" cy="321310"/>
          </a:xfrm>
          <a:custGeom>
            <a:rect b="b" l="l" r="r" t="t"/>
            <a:pathLst>
              <a:path extrusionOk="0" h="321310" w="1861185">
                <a:moveTo>
                  <a:pt x="1860829" y="0"/>
                </a:moveTo>
                <a:lnTo>
                  <a:pt x="0" y="0"/>
                </a:lnTo>
                <a:lnTo>
                  <a:pt x="0" y="321119"/>
                </a:lnTo>
                <a:lnTo>
                  <a:pt x="930592" y="321119"/>
                </a:lnTo>
                <a:lnTo>
                  <a:pt x="1860829" y="321119"/>
                </a:lnTo>
                <a:lnTo>
                  <a:pt x="186082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15" name="Google Shape;315;p4"/>
          <p:cNvSpPr txBox="1"/>
          <p:nvPr/>
        </p:nvSpPr>
        <p:spPr>
          <a:xfrm>
            <a:off x="409943" y="4140252"/>
            <a:ext cx="476250" cy="1809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1000">
                <a:solidFill>
                  <a:srgbClr val="2B3D4F"/>
                </a:solidFill>
                <a:latin typeface="Calibri"/>
                <a:ea typeface="Calibri"/>
                <a:cs typeface="Calibri"/>
                <a:sym typeface="Calibri"/>
              </a:rPr>
              <a:t>Memory</a:t>
            </a:r>
            <a:endParaRPr sz="1000">
              <a:latin typeface="Calibri"/>
              <a:ea typeface="Calibri"/>
              <a:cs typeface="Calibri"/>
              <a:sym typeface="Calibri"/>
            </a:endParaRPr>
          </a:p>
        </p:txBody>
      </p:sp>
      <p:sp>
        <p:nvSpPr>
          <p:cNvPr id="316" name="Google Shape;316;p4"/>
          <p:cNvSpPr/>
          <p:nvPr/>
        </p:nvSpPr>
        <p:spPr>
          <a:xfrm>
            <a:off x="2283117" y="4070161"/>
            <a:ext cx="2960370" cy="321310"/>
          </a:xfrm>
          <a:custGeom>
            <a:rect b="b" l="l" r="r" t="t"/>
            <a:pathLst>
              <a:path extrusionOk="0" h="321310" w="2960370">
                <a:moveTo>
                  <a:pt x="2960281" y="0"/>
                </a:moveTo>
                <a:lnTo>
                  <a:pt x="0" y="0"/>
                </a:lnTo>
                <a:lnTo>
                  <a:pt x="0" y="321119"/>
                </a:lnTo>
                <a:lnTo>
                  <a:pt x="1480324" y="321119"/>
                </a:lnTo>
                <a:lnTo>
                  <a:pt x="2960281" y="321119"/>
                </a:lnTo>
                <a:lnTo>
                  <a:pt x="296028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17" name="Google Shape;317;p4"/>
          <p:cNvSpPr txBox="1"/>
          <p:nvPr/>
        </p:nvSpPr>
        <p:spPr>
          <a:xfrm>
            <a:off x="3230537" y="4140252"/>
            <a:ext cx="1065530" cy="1809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1000">
                <a:solidFill>
                  <a:srgbClr val="2B3D4F"/>
                </a:solidFill>
                <a:latin typeface="Calibri"/>
                <a:ea typeface="Calibri"/>
                <a:cs typeface="Calibri"/>
                <a:sym typeface="Calibri"/>
              </a:rPr>
              <a:t>None (feedforward)</a:t>
            </a:r>
            <a:endParaRPr sz="1000">
              <a:latin typeface="Calibri"/>
              <a:ea typeface="Calibri"/>
              <a:cs typeface="Calibri"/>
              <a:sym typeface="Calibri"/>
            </a:endParaRPr>
          </a:p>
        </p:txBody>
      </p:sp>
      <p:sp>
        <p:nvSpPr>
          <p:cNvPr id="318" name="Google Shape;318;p4"/>
          <p:cNvSpPr/>
          <p:nvPr/>
        </p:nvSpPr>
        <p:spPr>
          <a:xfrm>
            <a:off x="5286235" y="4070161"/>
            <a:ext cx="2960370" cy="321310"/>
          </a:xfrm>
          <a:custGeom>
            <a:rect b="b" l="l" r="r" t="t"/>
            <a:pathLst>
              <a:path extrusionOk="0" h="321310" w="2960370">
                <a:moveTo>
                  <a:pt x="2960281" y="0"/>
                </a:moveTo>
                <a:lnTo>
                  <a:pt x="0" y="0"/>
                </a:lnTo>
                <a:lnTo>
                  <a:pt x="0" y="321119"/>
                </a:lnTo>
                <a:lnTo>
                  <a:pt x="1480324" y="321119"/>
                </a:lnTo>
                <a:lnTo>
                  <a:pt x="2960281" y="321119"/>
                </a:lnTo>
                <a:lnTo>
                  <a:pt x="296028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19" name="Google Shape;319;p4"/>
          <p:cNvSpPr txBox="1"/>
          <p:nvPr/>
        </p:nvSpPr>
        <p:spPr>
          <a:xfrm>
            <a:off x="5969774" y="4140252"/>
            <a:ext cx="1593850" cy="1809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1000">
                <a:solidFill>
                  <a:srgbClr val="2B3D4F"/>
                </a:solidFill>
                <a:latin typeface="Calibri"/>
                <a:ea typeface="Calibri"/>
                <a:cs typeface="Calibri"/>
                <a:sym typeface="Calibri"/>
              </a:rPr>
              <a:t>Hidden state across timesteps</a:t>
            </a:r>
            <a:endParaRPr sz="1000">
              <a:latin typeface="Calibri"/>
              <a:ea typeface="Calibri"/>
              <a:cs typeface="Calibri"/>
              <a:sym typeface="Calibri"/>
            </a:endParaRPr>
          </a:p>
        </p:txBody>
      </p:sp>
      <p:sp>
        <p:nvSpPr>
          <p:cNvPr id="320" name="Google Shape;320;p4"/>
          <p:cNvSpPr/>
          <p:nvPr/>
        </p:nvSpPr>
        <p:spPr>
          <a:xfrm>
            <a:off x="379806" y="4391636"/>
            <a:ext cx="1861185" cy="321310"/>
          </a:xfrm>
          <a:custGeom>
            <a:rect b="b" l="l" r="r" t="t"/>
            <a:pathLst>
              <a:path extrusionOk="0" h="321310" w="1861185">
                <a:moveTo>
                  <a:pt x="1860829" y="0"/>
                </a:moveTo>
                <a:lnTo>
                  <a:pt x="0" y="0"/>
                </a:lnTo>
                <a:lnTo>
                  <a:pt x="0" y="321119"/>
                </a:lnTo>
                <a:lnTo>
                  <a:pt x="930592" y="321119"/>
                </a:lnTo>
                <a:lnTo>
                  <a:pt x="1860829" y="321119"/>
                </a:lnTo>
                <a:lnTo>
                  <a:pt x="1860829" y="0"/>
                </a:lnTo>
                <a:close/>
              </a:path>
            </a:pathLst>
          </a:custGeom>
          <a:solidFill>
            <a:srgbClr val="E7F4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21" name="Google Shape;321;p4"/>
          <p:cNvSpPr txBox="1"/>
          <p:nvPr/>
        </p:nvSpPr>
        <p:spPr>
          <a:xfrm>
            <a:off x="409943" y="4461740"/>
            <a:ext cx="429259" cy="1809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1000">
                <a:solidFill>
                  <a:srgbClr val="2B3D4F"/>
                </a:solidFill>
                <a:latin typeface="Calibri"/>
                <a:ea typeface="Calibri"/>
                <a:cs typeface="Calibri"/>
                <a:sym typeface="Calibri"/>
              </a:rPr>
              <a:t>Key Op.</a:t>
            </a:r>
            <a:endParaRPr sz="1000">
              <a:latin typeface="Calibri"/>
              <a:ea typeface="Calibri"/>
              <a:cs typeface="Calibri"/>
              <a:sym typeface="Calibri"/>
            </a:endParaRPr>
          </a:p>
        </p:txBody>
      </p:sp>
      <p:sp>
        <p:nvSpPr>
          <p:cNvPr id="322" name="Google Shape;322;p4"/>
          <p:cNvSpPr/>
          <p:nvPr/>
        </p:nvSpPr>
        <p:spPr>
          <a:xfrm>
            <a:off x="2283117" y="4391636"/>
            <a:ext cx="2960370" cy="321310"/>
          </a:xfrm>
          <a:custGeom>
            <a:rect b="b" l="l" r="r" t="t"/>
            <a:pathLst>
              <a:path extrusionOk="0" h="321310" w="2960370">
                <a:moveTo>
                  <a:pt x="2960281" y="0"/>
                </a:moveTo>
                <a:lnTo>
                  <a:pt x="0" y="0"/>
                </a:lnTo>
                <a:lnTo>
                  <a:pt x="0" y="321119"/>
                </a:lnTo>
                <a:lnTo>
                  <a:pt x="1480324" y="321119"/>
                </a:lnTo>
                <a:lnTo>
                  <a:pt x="2960281" y="321119"/>
                </a:lnTo>
                <a:lnTo>
                  <a:pt x="2960281" y="0"/>
                </a:lnTo>
                <a:close/>
              </a:path>
            </a:pathLst>
          </a:custGeom>
          <a:solidFill>
            <a:srgbClr val="E7F4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23" name="Google Shape;323;p4"/>
          <p:cNvSpPr txBox="1"/>
          <p:nvPr/>
        </p:nvSpPr>
        <p:spPr>
          <a:xfrm>
            <a:off x="3175825" y="4461740"/>
            <a:ext cx="1175385" cy="1809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1000">
                <a:solidFill>
                  <a:srgbClr val="2B3D4F"/>
                </a:solidFill>
                <a:latin typeface="Calibri"/>
                <a:ea typeface="Calibri"/>
                <a:cs typeface="Calibri"/>
                <a:sym typeface="Calibri"/>
              </a:rPr>
              <a:t>Convolution + pooling</a:t>
            </a:r>
            <a:endParaRPr sz="1000">
              <a:latin typeface="Calibri"/>
              <a:ea typeface="Calibri"/>
              <a:cs typeface="Calibri"/>
              <a:sym typeface="Calibri"/>
            </a:endParaRPr>
          </a:p>
        </p:txBody>
      </p:sp>
      <p:sp>
        <p:nvSpPr>
          <p:cNvPr id="324" name="Google Shape;324;p4"/>
          <p:cNvSpPr/>
          <p:nvPr/>
        </p:nvSpPr>
        <p:spPr>
          <a:xfrm>
            <a:off x="5286235" y="4391636"/>
            <a:ext cx="2960370" cy="321310"/>
          </a:xfrm>
          <a:custGeom>
            <a:rect b="b" l="l" r="r" t="t"/>
            <a:pathLst>
              <a:path extrusionOk="0" h="321310" w="2960370">
                <a:moveTo>
                  <a:pt x="2960281" y="0"/>
                </a:moveTo>
                <a:lnTo>
                  <a:pt x="0" y="0"/>
                </a:lnTo>
                <a:lnTo>
                  <a:pt x="0" y="321119"/>
                </a:lnTo>
                <a:lnTo>
                  <a:pt x="1480324" y="321119"/>
                </a:lnTo>
                <a:lnTo>
                  <a:pt x="2960281" y="321119"/>
                </a:lnTo>
                <a:lnTo>
                  <a:pt x="2960281" y="0"/>
                </a:lnTo>
                <a:close/>
              </a:path>
            </a:pathLst>
          </a:custGeom>
          <a:solidFill>
            <a:srgbClr val="E7F4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25" name="Google Shape;325;p4"/>
          <p:cNvSpPr txBox="1"/>
          <p:nvPr/>
        </p:nvSpPr>
        <p:spPr>
          <a:xfrm>
            <a:off x="6076340" y="4461740"/>
            <a:ext cx="1381125" cy="1809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1000">
                <a:solidFill>
                  <a:srgbClr val="2B3D4F"/>
                </a:solidFill>
                <a:latin typeface="Calibri"/>
                <a:ea typeface="Calibri"/>
                <a:cs typeface="Calibri"/>
                <a:sym typeface="Calibri"/>
              </a:rPr>
              <a:t>Recurrent weight updates</a:t>
            </a:r>
            <a:endParaRPr sz="1000">
              <a:latin typeface="Calibri"/>
              <a:ea typeface="Calibri"/>
              <a:cs typeface="Calibri"/>
              <a:sym typeface="Calibri"/>
            </a:endParaRPr>
          </a:p>
        </p:txBody>
      </p:sp>
      <p:sp>
        <p:nvSpPr>
          <p:cNvPr id="326" name="Google Shape;326;p4"/>
          <p:cNvSpPr/>
          <p:nvPr/>
        </p:nvSpPr>
        <p:spPr>
          <a:xfrm>
            <a:off x="379806" y="4713124"/>
            <a:ext cx="7867015" cy="321310"/>
          </a:xfrm>
          <a:custGeom>
            <a:rect b="b" l="l" r="r" t="t"/>
            <a:pathLst>
              <a:path extrusionOk="0" h="321310" w="7867015">
                <a:moveTo>
                  <a:pt x="1860829" y="0"/>
                </a:moveTo>
                <a:lnTo>
                  <a:pt x="0" y="0"/>
                </a:lnTo>
                <a:lnTo>
                  <a:pt x="0" y="321119"/>
                </a:lnTo>
                <a:lnTo>
                  <a:pt x="930592" y="321119"/>
                </a:lnTo>
                <a:lnTo>
                  <a:pt x="1860829" y="321119"/>
                </a:lnTo>
                <a:lnTo>
                  <a:pt x="1860829" y="0"/>
                </a:lnTo>
                <a:close/>
              </a:path>
              <a:path extrusionOk="0" h="321310" w="7867015">
                <a:moveTo>
                  <a:pt x="4863592" y="0"/>
                </a:moveTo>
                <a:lnTo>
                  <a:pt x="1903310" y="0"/>
                </a:lnTo>
                <a:lnTo>
                  <a:pt x="1903310" y="321119"/>
                </a:lnTo>
                <a:lnTo>
                  <a:pt x="3383635" y="321119"/>
                </a:lnTo>
                <a:lnTo>
                  <a:pt x="4863592" y="321119"/>
                </a:lnTo>
                <a:lnTo>
                  <a:pt x="4863592" y="0"/>
                </a:lnTo>
                <a:close/>
              </a:path>
              <a:path extrusionOk="0" h="321310" w="7867015">
                <a:moveTo>
                  <a:pt x="7866710" y="0"/>
                </a:moveTo>
                <a:lnTo>
                  <a:pt x="4906429" y="0"/>
                </a:lnTo>
                <a:lnTo>
                  <a:pt x="4906429" y="321119"/>
                </a:lnTo>
                <a:lnTo>
                  <a:pt x="6386754" y="321119"/>
                </a:lnTo>
                <a:lnTo>
                  <a:pt x="7866710" y="321119"/>
                </a:lnTo>
                <a:lnTo>
                  <a:pt x="786671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27" name="Google Shape;327;p4"/>
          <p:cNvSpPr txBox="1"/>
          <p:nvPr/>
        </p:nvSpPr>
        <p:spPr>
          <a:xfrm>
            <a:off x="409943" y="4789417"/>
            <a:ext cx="433070" cy="184150"/>
          </a:xfrm>
          <a:prstGeom prst="rect">
            <a:avLst/>
          </a:prstGeom>
          <a:noFill/>
          <a:ln>
            <a:noFill/>
          </a:ln>
        </p:spPr>
        <p:txBody>
          <a:bodyPr anchorCtr="0" anchor="t" bIns="0" lIns="0" spcFirstLastPara="1" rIns="0" wrap="square" tIns="8875">
            <a:spAutoFit/>
          </a:bodyPr>
          <a:lstStyle/>
          <a:p>
            <a:pPr indent="0" lvl="0" marL="12700" rtl="0" algn="l">
              <a:lnSpc>
                <a:spcPct val="100000"/>
              </a:lnSpc>
              <a:spcBef>
                <a:spcPts val="0"/>
              </a:spcBef>
              <a:spcAft>
                <a:spcPts val="0"/>
              </a:spcAft>
              <a:buNone/>
            </a:pPr>
            <a:r>
              <a:rPr lang="en-US" sz="1000">
                <a:solidFill>
                  <a:srgbClr val="2B3D4F"/>
                </a:solidFill>
                <a:latin typeface="Calibri"/>
                <a:ea typeface="Calibri"/>
                <a:cs typeface="Calibri"/>
                <a:sym typeface="Calibri"/>
              </a:rPr>
              <a:t>Famous</a:t>
            </a:r>
            <a:endParaRPr sz="1000">
              <a:latin typeface="Calibri"/>
              <a:ea typeface="Calibri"/>
              <a:cs typeface="Calibri"/>
              <a:sym typeface="Calibri"/>
            </a:endParaRPr>
          </a:p>
        </p:txBody>
      </p:sp>
      <p:sp>
        <p:nvSpPr>
          <p:cNvPr id="328" name="Google Shape;328;p4"/>
          <p:cNvSpPr txBox="1"/>
          <p:nvPr/>
        </p:nvSpPr>
        <p:spPr>
          <a:xfrm>
            <a:off x="3226574" y="4789417"/>
            <a:ext cx="1075055" cy="184150"/>
          </a:xfrm>
          <a:prstGeom prst="rect">
            <a:avLst/>
          </a:prstGeom>
          <a:noFill/>
          <a:ln>
            <a:noFill/>
          </a:ln>
        </p:spPr>
        <p:txBody>
          <a:bodyPr anchorCtr="0" anchor="t" bIns="0" lIns="0" spcFirstLastPara="1" rIns="0" wrap="square" tIns="8875">
            <a:spAutoFit/>
          </a:bodyPr>
          <a:lstStyle/>
          <a:p>
            <a:pPr indent="0" lvl="0" marL="12700" rtl="0" algn="l">
              <a:lnSpc>
                <a:spcPct val="100000"/>
              </a:lnSpc>
              <a:spcBef>
                <a:spcPts val="0"/>
              </a:spcBef>
              <a:spcAft>
                <a:spcPts val="0"/>
              </a:spcAft>
              <a:buNone/>
            </a:pPr>
            <a:r>
              <a:rPr lang="en-US" sz="1000">
                <a:solidFill>
                  <a:srgbClr val="2B3D4F"/>
                </a:solidFill>
                <a:latin typeface="Calibri"/>
                <a:ea typeface="Calibri"/>
                <a:cs typeface="Calibri"/>
                <a:sym typeface="Calibri"/>
              </a:rPr>
              <a:t>ResNet, EfficientNet</a:t>
            </a:r>
            <a:endParaRPr sz="1000">
              <a:latin typeface="Calibri"/>
              <a:ea typeface="Calibri"/>
              <a:cs typeface="Calibri"/>
              <a:sym typeface="Calibri"/>
            </a:endParaRPr>
          </a:p>
        </p:txBody>
      </p:sp>
      <p:sp>
        <p:nvSpPr>
          <p:cNvPr id="329" name="Google Shape;329;p4"/>
          <p:cNvSpPr txBox="1"/>
          <p:nvPr/>
        </p:nvSpPr>
        <p:spPr>
          <a:xfrm>
            <a:off x="6207378" y="4789417"/>
            <a:ext cx="1118235" cy="184150"/>
          </a:xfrm>
          <a:prstGeom prst="rect">
            <a:avLst/>
          </a:prstGeom>
          <a:noFill/>
          <a:ln>
            <a:noFill/>
          </a:ln>
        </p:spPr>
        <p:txBody>
          <a:bodyPr anchorCtr="0" anchor="t" bIns="0" lIns="0" spcFirstLastPara="1" rIns="0" wrap="square" tIns="8875">
            <a:spAutoFit/>
          </a:bodyPr>
          <a:lstStyle/>
          <a:p>
            <a:pPr indent="0" lvl="0" marL="12700" rtl="0" algn="l">
              <a:lnSpc>
                <a:spcPct val="100000"/>
              </a:lnSpc>
              <a:spcBef>
                <a:spcPts val="0"/>
              </a:spcBef>
              <a:spcAft>
                <a:spcPts val="0"/>
              </a:spcAft>
              <a:buNone/>
            </a:pPr>
            <a:r>
              <a:rPr lang="en-US" sz="1000">
                <a:solidFill>
                  <a:srgbClr val="2B3D4F"/>
                </a:solidFill>
                <a:latin typeface="Calibri"/>
                <a:ea typeface="Calibri"/>
                <a:cs typeface="Calibri"/>
                <a:sym typeface="Calibri"/>
              </a:rPr>
              <a:t>LSTM, GRU, Seq2Seq</a:t>
            </a:r>
            <a:endParaRPr sz="1000">
              <a:latin typeface="Calibri"/>
              <a:ea typeface="Calibri"/>
              <a:cs typeface="Calibri"/>
              <a:sym typeface="Calibri"/>
            </a:endParaRPr>
          </a:p>
        </p:txBody>
      </p:sp>
      <p:sp>
        <p:nvSpPr>
          <p:cNvPr id="330" name="Google Shape;330;p4"/>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1270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p5"/>
          <p:cNvPicPr preferRelativeResize="0"/>
          <p:nvPr/>
        </p:nvPicPr>
        <p:blipFill rotWithShape="1">
          <a:blip r:embed="rId3">
            <a:alphaModFix/>
          </a:blip>
          <a:srcRect b="0" l="0" r="0" t="0"/>
          <a:stretch/>
        </p:blipFill>
        <p:spPr>
          <a:xfrm>
            <a:off x="8369274" y="14"/>
            <a:ext cx="774357" cy="866508"/>
          </a:xfrm>
          <a:prstGeom prst="rect">
            <a:avLst/>
          </a:prstGeom>
          <a:noFill/>
          <a:ln>
            <a:noFill/>
          </a:ln>
        </p:spPr>
      </p:pic>
      <p:sp>
        <p:nvSpPr>
          <p:cNvPr descr="$PPTXTitle" id="336" name="Google Shape;336;p5"/>
          <p:cNvSpPr txBox="1"/>
          <p:nvPr>
            <p:ph type="title"/>
          </p:nvPr>
        </p:nvSpPr>
        <p:spPr>
          <a:xfrm>
            <a:off x="152184" y="63260"/>
            <a:ext cx="8839631" cy="879475"/>
          </a:xfrm>
          <a:prstGeom prst="rect">
            <a:avLst/>
          </a:prstGeom>
          <a:noFill/>
          <a:ln>
            <a:noFill/>
          </a:ln>
        </p:spPr>
        <p:txBody>
          <a:bodyPr anchorCtr="0" anchor="t" bIns="0" lIns="0" spcFirstLastPara="1" rIns="0" wrap="square" tIns="278000">
            <a:spAutoFit/>
          </a:bodyPr>
          <a:lstStyle/>
          <a:p>
            <a:pPr indent="0" lvl="0" marL="1450975" rtl="0" algn="l">
              <a:lnSpc>
                <a:spcPct val="100000"/>
              </a:lnSpc>
              <a:spcBef>
                <a:spcPts val="0"/>
              </a:spcBef>
              <a:spcAft>
                <a:spcPts val="0"/>
              </a:spcAft>
              <a:buNone/>
            </a:pPr>
            <a:r>
              <a:rPr lang="en-US" sz="2600"/>
              <a:t>Recurrent Neural Networks (RNNs) &amp; LSTMs</a:t>
            </a:r>
            <a:endParaRPr sz="2600"/>
          </a:p>
        </p:txBody>
      </p:sp>
      <p:sp>
        <p:nvSpPr>
          <p:cNvPr id="337" name="Google Shape;337;p5"/>
          <p:cNvSpPr txBox="1"/>
          <p:nvPr/>
        </p:nvSpPr>
        <p:spPr>
          <a:xfrm>
            <a:off x="352704" y="1107264"/>
            <a:ext cx="2343785"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solidFill>
                  <a:srgbClr val="0C1A29"/>
                </a:solidFill>
                <a:latin typeface="Calibri"/>
                <a:ea typeface="Calibri"/>
                <a:cs typeface="Calibri"/>
                <a:sym typeface="Calibri"/>
              </a:rPr>
              <a:t>What is Sequential Data?</a:t>
            </a:r>
            <a:endParaRPr sz="1800">
              <a:latin typeface="Calibri"/>
              <a:ea typeface="Calibri"/>
              <a:cs typeface="Calibri"/>
              <a:sym typeface="Calibri"/>
            </a:endParaRPr>
          </a:p>
        </p:txBody>
      </p:sp>
      <p:sp>
        <p:nvSpPr>
          <p:cNvPr id="338" name="Google Shape;338;p5"/>
          <p:cNvSpPr txBox="1"/>
          <p:nvPr/>
        </p:nvSpPr>
        <p:spPr>
          <a:xfrm>
            <a:off x="444144" y="1693343"/>
            <a:ext cx="3736340" cy="819150"/>
          </a:xfrm>
          <a:prstGeom prst="rect">
            <a:avLst/>
          </a:prstGeom>
          <a:noFill/>
          <a:ln>
            <a:noFill/>
          </a:ln>
        </p:spPr>
        <p:txBody>
          <a:bodyPr anchorCtr="0" anchor="t" bIns="0" lIns="0" spcFirstLastPara="1" rIns="0" wrap="square" tIns="12700">
            <a:spAutoFit/>
          </a:bodyPr>
          <a:lstStyle/>
          <a:p>
            <a:pPr indent="-342900" lvl="0" marL="355600" rtl="0" algn="l">
              <a:lnSpc>
                <a:spcPct val="100000"/>
              </a:lnSpc>
              <a:spcBef>
                <a:spcPts val="0"/>
              </a:spcBef>
              <a:spcAft>
                <a:spcPts val="0"/>
              </a:spcAft>
              <a:buSzPts val="1300"/>
              <a:buFont typeface="Calibri"/>
              <a:buChar char="•"/>
            </a:pPr>
            <a:r>
              <a:rPr lang="en-US" sz="1300">
                <a:latin typeface="Calibri"/>
                <a:ea typeface="Calibri"/>
                <a:cs typeface="Calibri"/>
                <a:sym typeface="Calibri"/>
              </a:rPr>
              <a:t>Data where order matters</a:t>
            </a:r>
            <a:endParaRPr sz="1300">
              <a:latin typeface="Calibri"/>
              <a:ea typeface="Calibri"/>
              <a:cs typeface="Calibri"/>
              <a:sym typeface="Calibri"/>
            </a:endParaRPr>
          </a:p>
          <a:p>
            <a:pPr indent="-342900" lvl="0" marL="355600" rtl="0" algn="l">
              <a:lnSpc>
                <a:spcPct val="100000"/>
              </a:lnSpc>
              <a:spcBef>
                <a:spcPts val="0"/>
              </a:spcBef>
              <a:spcAft>
                <a:spcPts val="0"/>
              </a:spcAft>
              <a:buSzPts val="1300"/>
              <a:buFont typeface="Calibri"/>
              <a:buChar char="•"/>
            </a:pPr>
            <a:r>
              <a:rPr lang="en-US" sz="1300">
                <a:latin typeface="Calibri"/>
                <a:ea typeface="Calibri"/>
                <a:cs typeface="Calibri"/>
                <a:sym typeface="Calibri"/>
              </a:rPr>
              <a:t>Each element depends on previous ones</a:t>
            </a:r>
            <a:endParaRPr sz="1300">
              <a:latin typeface="Calibri"/>
              <a:ea typeface="Calibri"/>
              <a:cs typeface="Calibri"/>
              <a:sym typeface="Calibri"/>
            </a:endParaRPr>
          </a:p>
          <a:p>
            <a:pPr indent="-343535" lvl="0" marL="355600" marR="5080" rtl="0" algn="l">
              <a:lnSpc>
                <a:spcPct val="100000"/>
              </a:lnSpc>
              <a:spcBef>
                <a:spcPts val="5"/>
              </a:spcBef>
              <a:spcAft>
                <a:spcPts val="0"/>
              </a:spcAft>
              <a:buSzPts val="1300"/>
              <a:buFont typeface="Calibri"/>
              <a:buChar char="•"/>
            </a:pPr>
            <a:r>
              <a:rPr lang="en-US" sz="1300">
                <a:latin typeface="Calibri"/>
                <a:ea typeface="Calibri"/>
                <a:cs typeface="Calibri"/>
                <a:sym typeface="Calibri"/>
              </a:rPr>
              <a:t>Standard networks treat inputs independently and fail</a:t>
            </a:r>
            <a:endParaRPr sz="1300">
              <a:latin typeface="Calibri"/>
              <a:ea typeface="Calibri"/>
              <a:cs typeface="Calibri"/>
              <a:sym typeface="Calibri"/>
            </a:endParaRPr>
          </a:p>
        </p:txBody>
      </p:sp>
      <p:grpSp>
        <p:nvGrpSpPr>
          <p:cNvPr id="339" name="Google Shape;339;p5"/>
          <p:cNvGrpSpPr/>
          <p:nvPr/>
        </p:nvGrpSpPr>
        <p:grpSpPr>
          <a:xfrm>
            <a:off x="365404" y="2880361"/>
            <a:ext cx="1828800" cy="594360"/>
            <a:chOff x="365404" y="2880361"/>
            <a:chExt cx="1828800" cy="594360"/>
          </a:xfrm>
        </p:grpSpPr>
        <p:sp>
          <p:nvSpPr>
            <p:cNvPr id="340" name="Google Shape;340;p5"/>
            <p:cNvSpPr/>
            <p:nvPr/>
          </p:nvSpPr>
          <p:spPr>
            <a:xfrm>
              <a:off x="365404" y="2880361"/>
              <a:ext cx="1828800" cy="594360"/>
            </a:xfrm>
            <a:custGeom>
              <a:rect b="b" l="l" r="r" t="t"/>
              <a:pathLst>
                <a:path extrusionOk="0" h="594360" w="1828800">
                  <a:moveTo>
                    <a:pt x="1828431" y="0"/>
                  </a:moveTo>
                  <a:lnTo>
                    <a:pt x="0" y="0"/>
                  </a:lnTo>
                  <a:lnTo>
                    <a:pt x="0" y="594004"/>
                  </a:lnTo>
                  <a:lnTo>
                    <a:pt x="914400" y="594004"/>
                  </a:lnTo>
                  <a:lnTo>
                    <a:pt x="1828431" y="594004"/>
                  </a:lnTo>
                  <a:lnTo>
                    <a:pt x="1828431" y="0"/>
                  </a:lnTo>
                  <a:close/>
                </a:path>
              </a:pathLst>
            </a:custGeom>
            <a:solidFill>
              <a:srgbClr val="00887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41" name="Google Shape;341;p5"/>
            <p:cNvSpPr/>
            <p:nvPr/>
          </p:nvSpPr>
          <p:spPr>
            <a:xfrm>
              <a:off x="365404" y="2880361"/>
              <a:ext cx="1828800" cy="594360"/>
            </a:xfrm>
            <a:custGeom>
              <a:rect b="b" l="l" r="r" t="t"/>
              <a:pathLst>
                <a:path extrusionOk="0" h="594360" w="1828800">
                  <a:moveTo>
                    <a:pt x="1828431" y="0"/>
                  </a:moveTo>
                  <a:lnTo>
                    <a:pt x="0" y="0"/>
                  </a:lnTo>
                  <a:lnTo>
                    <a:pt x="0" y="594004"/>
                  </a:lnTo>
                  <a:lnTo>
                    <a:pt x="914400" y="594004"/>
                  </a:lnTo>
                  <a:lnTo>
                    <a:pt x="1828431" y="594004"/>
                  </a:lnTo>
                  <a:lnTo>
                    <a:pt x="182843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342" name="Google Shape;342;p5"/>
          <p:cNvSpPr txBox="1"/>
          <p:nvPr/>
        </p:nvSpPr>
        <p:spPr>
          <a:xfrm>
            <a:off x="365404" y="2880361"/>
            <a:ext cx="1828800" cy="594360"/>
          </a:xfrm>
          <a:prstGeom prst="rect">
            <a:avLst/>
          </a:prstGeom>
          <a:noFill/>
          <a:ln cap="flat" cmpd="sng" w="9525">
            <a:solidFill>
              <a:srgbClr val="00AF4F"/>
            </a:solidFill>
            <a:prstDash val="solid"/>
            <a:round/>
            <a:headEnd len="sm" w="sm" type="none"/>
            <a:tailEnd len="sm" w="sm" type="none"/>
          </a:ln>
        </p:spPr>
        <p:txBody>
          <a:bodyPr anchorCtr="0" anchor="t" bIns="0" lIns="0" spcFirstLastPara="1" rIns="0" wrap="square" tIns="29825">
            <a:spAutoFit/>
          </a:bodyPr>
          <a:lstStyle/>
          <a:p>
            <a:pPr indent="0" lvl="0" marL="0" rtl="0" algn="l">
              <a:lnSpc>
                <a:spcPct val="100000"/>
              </a:lnSpc>
              <a:spcBef>
                <a:spcPts val="0"/>
              </a:spcBef>
              <a:spcAft>
                <a:spcPts val="0"/>
              </a:spcAft>
              <a:buNone/>
            </a:pPr>
            <a:r>
              <a:t/>
            </a:r>
            <a:endParaRPr sz="1200">
              <a:latin typeface="Times New Roman"/>
              <a:ea typeface="Times New Roman"/>
              <a:cs typeface="Times New Roman"/>
              <a:sym typeface="Times New Roman"/>
            </a:endParaRPr>
          </a:p>
          <a:p>
            <a:pPr indent="0" lvl="0" marL="573405" rtl="0" algn="l">
              <a:lnSpc>
                <a:spcPct val="100000"/>
              </a:lnSpc>
              <a:spcBef>
                <a:spcPts val="0"/>
              </a:spcBef>
              <a:spcAft>
                <a:spcPts val="0"/>
              </a:spcAft>
              <a:buNone/>
            </a:pPr>
            <a:r>
              <a:rPr b="1" lang="en-US" sz="1200">
                <a:latin typeface="Calibri"/>
                <a:ea typeface="Calibri"/>
                <a:cs typeface="Calibri"/>
                <a:sym typeface="Calibri"/>
              </a:rPr>
              <a:t>Text &amp; NLP</a:t>
            </a:r>
            <a:endParaRPr sz="1200">
              <a:latin typeface="Calibri"/>
              <a:ea typeface="Calibri"/>
              <a:cs typeface="Calibri"/>
              <a:sym typeface="Calibri"/>
            </a:endParaRPr>
          </a:p>
        </p:txBody>
      </p:sp>
      <p:grpSp>
        <p:nvGrpSpPr>
          <p:cNvPr id="343" name="Google Shape;343;p5"/>
          <p:cNvGrpSpPr/>
          <p:nvPr/>
        </p:nvGrpSpPr>
        <p:grpSpPr>
          <a:xfrm>
            <a:off x="2377084" y="2880361"/>
            <a:ext cx="1828800" cy="594360"/>
            <a:chOff x="2377084" y="2880361"/>
            <a:chExt cx="1828800" cy="594360"/>
          </a:xfrm>
        </p:grpSpPr>
        <p:sp>
          <p:nvSpPr>
            <p:cNvPr id="344" name="Google Shape;344;p5"/>
            <p:cNvSpPr/>
            <p:nvPr/>
          </p:nvSpPr>
          <p:spPr>
            <a:xfrm>
              <a:off x="2377084" y="2880361"/>
              <a:ext cx="1828800" cy="594360"/>
            </a:xfrm>
            <a:custGeom>
              <a:rect b="b" l="l" r="r" t="t"/>
              <a:pathLst>
                <a:path extrusionOk="0" h="594360" w="1828800">
                  <a:moveTo>
                    <a:pt x="1828431" y="0"/>
                  </a:moveTo>
                  <a:lnTo>
                    <a:pt x="0" y="0"/>
                  </a:lnTo>
                  <a:lnTo>
                    <a:pt x="0" y="594004"/>
                  </a:lnTo>
                  <a:lnTo>
                    <a:pt x="914400" y="594004"/>
                  </a:lnTo>
                  <a:lnTo>
                    <a:pt x="1828431" y="594004"/>
                  </a:lnTo>
                  <a:lnTo>
                    <a:pt x="1828431" y="0"/>
                  </a:lnTo>
                  <a:close/>
                </a:path>
              </a:pathLst>
            </a:custGeom>
            <a:solidFill>
              <a:srgbClr val="1464B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45" name="Google Shape;345;p5"/>
            <p:cNvSpPr/>
            <p:nvPr/>
          </p:nvSpPr>
          <p:spPr>
            <a:xfrm>
              <a:off x="2377084" y="2880361"/>
              <a:ext cx="1828800" cy="594360"/>
            </a:xfrm>
            <a:custGeom>
              <a:rect b="b" l="l" r="r" t="t"/>
              <a:pathLst>
                <a:path extrusionOk="0" h="594360" w="1828800">
                  <a:moveTo>
                    <a:pt x="1828431" y="0"/>
                  </a:moveTo>
                  <a:lnTo>
                    <a:pt x="0" y="0"/>
                  </a:lnTo>
                  <a:lnTo>
                    <a:pt x="0" y="594004"/>
                  </a:lnTo>
                  <a:lnTo>
                    <a:pt x="914400" y="594004"/>
                  </a:lnTo>
                  <a:lnTo>
                    <a:pt x="1828431" y="594004"/>
                  </a:lnTo>
                  <a:lnTo>
                    <a:pt x="182843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346" name="Google Shape;346;p5"/>
          <p:cNvSpPr txBox="1"/>
          <p:nvPr/>
        </p:nvSpPr>
        <p:spPr>
          <a:xfrm>
            <a:off x="2377084" y="2880361"/>
            <a:ext cx="1828800" cy="594360"/>
          </a:xfrm>
          <a:prstGeom prst="rect">
            <a:avLst/>
          </a:prstGeom>
          <a:noFill/>
          <a:ln cap="flat" cmpd="sng" w="9525">
            <a:solidFill>
              <a:srgbClr val="00AF4F"/>
            </a:solidFill>
            <a:prstDash val="solid"/>
            <a:round/>
            <a:headEnd len="sm" w="sm" type="none"/>
            <a:tailEnd len="sm" w="sm" type="none"/>
          </a:ln>
        </p:spPr>
        <p:txBody>
          <a:bodyPr anchorCtr="0" anchor="t" bIns="0" lIns="0" spcFirstLastPara="1" rIns="0" wrap="square" tIns="29825">
            <a:spAutoFit/>
          </a:bodyPr>
          <a:lstStyle/>
          <a:p>
            <a:pPr indent="0" lvl="0" marL="0" rtl="0" algn="l">
              <a:lnSpc>
                <a:spcPct val="100000"/>
              </a:lnSpc>
              <a:spcBef>
                <a:spcPts val="0"/>
              </a:spcBef>
              <a:spcAft>
                <a:spcPts val="0"/>
              </a:spcAft>
              <a:buNone/>
            </a:pPr>
            <a:r>
              <a:t/>
            </a:r>
            <a:endParaRPr sz="1200">
              <a:latin typeface="Times New Roman"/>
              <a:ea typeface="Times New Roman"/>
              <a:cs typeface="Times New Roman"/>
              <a:sym typeface="Times New Roman"/>
            </a:endParaRPr>
          </a:p>
          <a:p>
            <a:pPr indent="0" lvl="0" marL="411480" rtl="0" algn="l">
              <a:lnSpc>
                <a:spcPct val="100000"/>
              </a:lnSpc>
              <a:spcBef>
                <a:spcPts val="0"/>
              </a:spcBef>
              <a:spcAft>
                <a:spcPts val="0"/>
              </a:spcAft>
              <a:buNone/>
            </a:pPr>
            <a:r>
              <a:rPr b="1" lang="en-US" sz="1200">
                <a:latin typeface="Calibri"/>
                <a:ea typeface="Calibri"/>
                <a:cs typeface="Calibri"/>
                <a:sym typeface="Calibri"/>
              </a:rPr>
              <a:t>Audio &amp; Speech</a:t>
            </a:r>
            <a:endParaRPr sz="1200">
              <a:latin typeface="Calibri"/>
              <a:ea typeface="Calibri"/>
              <a:cs typeface="Calibri"/>
              <a:sym typeface="Calibri"/>
            </a:endParaRPr>
          </a:p>
        </p:txBody>
      </p:sp>
      <p:grpSp>
        <p:nvGrpSpPr>
          <p:cNvPr id="347" name="Google Shape;347;p5"/>
          <p:cNvGrpSpPr/>
          <p:nvPr/>
        </p:nvGrpSpPr>
        <p:grpSpPr>
          <a:xfrm>
            <a:off x="365404" y="3657601"/>
            <a:ext cx="1828800" cy="594360"/>
            <a:chOff x="365404" y="3657601"/>
            <a:chExt cx="1828800" cy="594360"/>
          </a:xfrm>
        </p:grpSpPr>
        <p:sp>
          <p:nvSpPr>
            <p:cNvPr id="348" name="Google Shape;348;p5"/>
            <p:cNvSpPr/>
            <p:nvPr/>
          </p:nvSpPr>
          <p:spPr>
            <a:xfrm>
              <a:off x="365404" y="3657601"/>
              <a:ext cx="1828800" cy="594360"/>
            </a:xfrm>
            <a:custGeom>
              <a:rect b="b" l="l" r="r" t="t"/>
              <a:pathLst>
                <a:path extrusionOk="0" h="594360" w="1828800">
                  <a:moveTo>
                    <a:pt x="1828431" y="0"/>
                  </a:moveTo>
                  <a:lnTo>
                    <a:pt x="0" y="0"/>
                  </a:lnTo>
                  <a:lnTo>
                    <a:pt x="0" y="594004"/>
                  </a:lnTo>
                  <a:lnTo>
                    <a:pt x="914400" y="594004"/>
                  </a:lnTo>
                  <a:lnTo>
                    <a:pt x="1828431" y="594004"/>
                  </a:lnTo>
                  <a:lnTo>
                    <a:pt x="1828431" y="0"/>
                  </a:lnTo>
                  <a:close/>
                </a:path>
              </a:pathLst>
            </a:custGeom>
            <a:solidFill>
              <a:srgbClr val="00887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49" name="Google Shape;349;p5"/>
            <p:cNvSpPr/>
            <p:nvPr/>
          </p:nvSpPr>
          <p:spPr>
            <a:xfrm>
              <a:off x="365404" y="3657601"/>
              <a:ext cx="1828800" cy="594360"/>
            </a:xfrm>
            <a:custGeom>
              <a:rect b="b" l="l" r="r" t="t"/>
              <a:pathLst>
                <a:path extrusionOk="0" h="594360" w="1828800">
                  <a:moveTo>
                    <a:pt x="1828431" y="0"/>
                  </a:moveTo>
                  <a:lnTo>
                    <a:pt x="0" y="0"/>
                  </a:lnTo>
                  <a:lnTo>
                    <a:pt x="0" y="594004"/>
                  </a:lnTo>
                  <a:lnTo>
                    <a:pt x="914400" y="594004"/>
                  </a:lnTo>
                  <a:lnTo>
                    <a:pt x="1828431" y="594004"/>
                  </a:lnTo>
                  <a:lnTo>
                    <a:pt x="182843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350" name="Google Shape;350;p5"/>
          <p:cNvSpPr txBox="1"/>
          <p:nvPr/>
        </p:nvSpPr>
        <p:spPr>
          <a:xfrm>
            <a:off x="365404" y="3657601"/>
            <a:ext cx="1828800" cy="594360"/>
          </a:xfrm>
          <a:prstGeom prst="rect">
            <a:avLst/>
          </a:prstGeom>
          <a:noFill/>
          <a:ln cap="flat" cmpd="sng" w="9525">
            <a:solidFill>
              <a:srgbClr val="00AF4F"/>
            </a:solidFill>
            <a:prstDash val="solid"/>
            <a:round/>
            <a:headEnd len="sm" w="sm" type="none"/>
            <a:tailEnd len="sm" w="sm" type="none"/>
          </a:ln>
        </p:spPr>
        <p:txBody>
          <a:bodyPr anchorCtr="0" anchor="t" bIns="0" lIns="0" spcFirstLastPara="1" rIns="0" wrap="square" tIns="29825">
            <a:spAutoFit/>
          </a:bodyPr>
          <a:lstStyle/>
          <a:p>
            <a:pPr indent="0" lvl="0" marL="0" rtl="0" algn="l">
              <a:lnSpc>
                <a:spcPct val="100000"/>
              </a:lnSpc>
              <a:spcBef>
                <a:spcPts val="0"/>
              </a:spcBef>
              <a:spcAft>
                <a:spcPts val="0"/>
              </a:spcAft>
              <a:buNone/>
            </a:pPr>
            <a:r>
              <a:t/>
            </a:r>
            <a:endParaRPr sz="1200">
              <a:latin typeface="Times New Roman"/>
              <a:ea typeface="Times New Roman"/>
              <a:cs typeface="Times New Roman"/>
              <a:sym typeface="Times New Roman"/>
            </a:endParaRPr>
          </a:p>
          <a:p>
            <a:pPr indent="0" lvl="0" marL="415925" rtl="0" algn="l">
              <a:lnSpc>
                <a:spcPct val="100000"/>
              </a:lnSpc>
              <a:spcBef>
                <a:spcPts val="0"/>
              </a:spcBef>
              <a:spcAft>
                <a:spcPts val="0"/>
              </a:spcAft>
              <a:buNone/>
            </a:pPr>
            <a:r>
              <a:rPr b="1" lang="en-US" sz="1200">
                <a:latin typeface="Calibri"/>
                <a:ea typeface="Calibri"/>
                <a:cs typeface="Calibri"/>
                <a:sym typeface="Calibri"/>
              </a:rPr>
              <a:t>DNA Sequences</a:t>
            </a:r>
            <a:endParaRPr sz="1200">
              <a:latin typeface="Calibri"/>
              <a:ea typeface="Calibri"/>
              <a:cs typeface="Calibri"/>
              <a:sym typeface="Calibri"/>
            </a:endParaRPr>
          </a:p>
        </p:txBody>
      </p:sp>
      <p:grpSp>
        <p:nvGrpSpPr>
          <p:cNvPr id="351" name="Google Shape;351;p5"/>
          <p:cNvGrpSpPr/>
          <p:nvPr/>
        </p:nvGrpSpPr>
        <p:grpSpPr>
          <a:xfrm>
            <a:off x="2377084" y="3657601"/>
            <a:ext cx="1828800" cy="594360"/>
            <a:chOff x="2377084" y="3657601"/>
            <a:chExt cx="1828800" cy="594360"/>
          </a:xfrm>
        </p:grpSpPr>
        <p:sp>
          <p:nvSpPr>
            <p:cNvPr id="352" name="Google Shape;352;p5"/>
            <p:cNvSpPr/>
            <p:nvPr/>
          </p:nvSpPr>
          <p:spPr>
            <a:xfrm>
              <a:off x="2377084" y="3657601"/>
              <a:ext cx="1828800" cy="594360"/>
            </a:xfrm>
            <a:custGeom>
              <a:rect b="b" l="l" r="r" t="t"/>
              <a:pathLst>
                <a:path extrusionOk="0" h="594360" w="1828800">
                  <a:moveTo>
                    <a:pt x="1828431" y="0"/>
                  </a:moveTo>
                  <a:lnTo>
                    <a:pt x="0" y="0"/>
                  </a:lnTo>
                  <a:lnTo>
                    <a:pt x="0" y="594004"/>
                  </a:lnTo>
                  <a:lnTo>
                    <a:pt x="914400" y="594004"/>
                  </a:lnTo>
                  <a:lnTo>
                    <a:pt x="1828431" y="594004"/>
                  </a:lnTo>
                  <a:lnTo>
                    <a:pt x="1828431" y="0"/>
                  </a:lnTo>
                  <a:close/>
                </a:path>
              </a:pathLst>
            </a:custGeom>
            <a:solidFill>
              <a:srgbClr val="1464B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53" name="Google Shape;353;p5"/>
            <p:cNvSpPr/>
            <p:nvPr/>
          </p:nvSpPr>
          <p:spPr>
            <a:xfrm>
              <a:off x="2377084" y="3657601"/>
              <a:ext cx="1828800" cy="594360"/>
            </a:xfrm>
            <a:custGeom>
              <a:rect b="b" l="l" r="r" t="t"/>
              <a:pathLst>
                <a:path extrusionOk="0" h="594360" w="1828800">
                  <a:moveTo>
                    <a:pt x="1828431" y="0"/>
                  </a:moveTo>
                  <a:lnTo>
                    <a:pt x="0" y="0"/>
                  </a:lnTo>
                  <a:lnTo>
                    <a:pt x="0" y="594004"/>
                  </a:lnTo>
                  <a:lnTo>
                    <a:pt x="914400" y="594004"/>
                  </a:lnTo>
                  <a:lnTo>
                    <a:pt x="1828431" y="594004"/>
                  </a:lnTo>
                  <a:lnTo>
                    <a:pt x="182843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354" name="Google Shape;354;p5"/>
          <p:cNvSpPr txBox="1"/>
          <p:nvPr/>
        </p:nvSpPr>
        <p:spPr>
          <a:xfrm>
            <a:off x="2377084" y="3657601"/>
            <a:ext cx="1828800" cy="594360"/>
          </a:xfrm>
          <a:prstGeom prst="rect">
            <a:avLst/>
          </a:prstGeom>
          <a:noFill/>
          <a:ln cap="flat" cmpd="sng" w="9525">
            <a:solidFill>
              <a:srgbClr val="099295"/>
            </a:solidFill>
            <a:prstDash val="solid"/>
            <a:round/>
            <a:headEnd len="sm" w="sm" type="none"/>
            <a:tailEnd len="sm" w="sm" type="none"/>
          </a:ln>
        </p:spPr>
        <p:txBody>
          <a:bodyPr anchorCtr="0" anchor="t" bIns="0" lIns="0" spcFirstLastPara="1" rIns="0" wrap="square" tIns="29825">
            <a:spAutoFit/>
          </a:bodyPr>
          <a:lstStyle/>
          <a:p>
            <a:pPr indent="0" lvl="0" marL="0" rtl="0" algn="l">
              <a:lnSpc>
                <a:spcPct val="100000"/>
              </a:lnSpc>
              <a:spcBef>
                <a:spcPts val="0"/>
              </a:spcBef>
              <a:spcAft>
                <a:spcPts val="0"/>
              </a:spcAft>
              <a:buNone/>
            </a:pPr>
            <a:r>
              <a:t/>
            </a:r>
            <a:endParaRPr sz="1200">
              <a:latin typeface="Times New Roman"/>
              <a:ea typeface="Times New Roman"/>
              <a:cs typeface="Times New Roman"/>
              <a:sym typeface="Times New Roman"/>
            </a:endParaRPr>
          </a:p>
          <a:p>
            <a:pPr indent="0" lvl="0" marL="483870" rtl="0" algn="l">
              <a:lnSpc>
                <a:spcPct val="100000"/>
              </a:lnSpc>
              <a:spcBef>
                <a:spcPts val="0"/>
              </a:spcBef>
              <a:spcAft>
                <a:spcPts val="0"/>
              </a:spcAft>
              <a:buNone/>
            </a:pPr>
            <a:r>
              <a:rPr b="1" lang="en-US" sz="1200">
                <a:latin typeface="Calibri"/>
                <a:ea typeface="Calibri"/>
                <a:cs typeface="Calibri"/>
                <a:sym typeface="Calibri"/>
              </a:rPr>
              <a:t>Video Frames</a:t>
            </a:r>
            <a:endParaRPr sz="1200">
              <a:latin typeface="Calibri"/>
              <a:ea typeface="Calibri"/>
              <a:cs typeface="Calibri"/>
              <a:sym typeface="Calibri"/>
            </a:endParaRPr>
          </a:p>
        </p:txBody>
      </p:sp>
      <p:sp>
        <p:nvSpPr>
          <p:cNvPr id="355" name="Google Shape;355;p5"/>
          <p:cNvSpPr/>
          <p:nvPr/>
        </p:nvSpPr>
        <p:spPr>
          <a:xfrm>
            <a:off x="4845964" y="1005486"/>
            <a:ext cx="3931920" cy="3749040"/>
          </a:xfrm>
          <a:custGeom>
            <a:rect b="b" l="l" r="r" t="t"/>
            <a:pathLst>
              <a:path extrusionOk="0" h="3749040" w="3931920">
                <a:moveTo>
                  <a:pt x="3931551" y="0"/>
                </a:moveTo>
                <a:lnTo>
                  <a:pt x="0" y="0"/>
                </a:lnTo>
                <a:lnTo>
                  <a:pt x="0" y="3748671"/>
                </a:lnTo>
                <a:lnTo>
                  <a:pt x="1965959" y="3748671"/>
                </a:lnTo>
                <a:lnTo>
                  <a:pt x="3931551" y="3748671"/>
                </a:lnTo>
                <a:lnTo>
                  <a:pt x="393155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56" name="Google Shape;356;p5"/>
          <p:cNvSpPr txBox="1"/>
          <p:nvPr/>
        </p:nvSpPr>
        <p:spPr>
          <a:xfrm>
            <a:off x="5028844" y="1188722"/>
            <a:ext cx="3657600" cy="411480"/>
          </a:xfrm>
          <a:prstGeom prst="rect">
            <a:avLst/>
          </a:prstGeom>
          <a:noFill/>
          <a:ln cap="flat" cmpd="sng" w="9525">
            <a:solidFill>
              <a:srgbClr val="00AF4F"/>
            </a:solidFill>
            <a:prstDash val="solid"/>
            <a:round/>
            <a:headEnd len="sm" w="sm" type="none"/>
            <a:tailEnd len="sm" w="sm" type="none"/>
          </a:ln>
        </p:spPr>
        <p:txBody>
          <a:bodyPr anchorCtr="0" anchor="t" bIns="0" lIns="0" spcFirstLastPara="1" rIns="0" wrap="square" tIns="83800">
            <a:spAutoFit/>
          </a:bodyPr>
          <a:lstStyle/>
          <a:p>
            <a:pPr indent="0" lvl="0" marL="45720" rtl="0" algn="l">
              <a:lnSpc>
                <a:spcPct val="100000"/>
              </a:lnSpc>
              <a:spcBef>
                <a:spcPts val="0"/>
              </a:spcBef>
              <a:spcAft>
                <a:spcPts val="0"/>
              </a:spcAft>
              <a:buNone/>
            </a:pPr>
            <a:r>
              <a:rPr lang="en-US" sz="1600">
                <a:latin typeface="Calibri"/>
                <a:ea typeface="Calibri"/>
                <a:cs typeface="Calibri"/>
                <a:sym typeface="Calibri"/>
              </a:rPr>
              <a:t>Key Insight</a:t>
            </a:r>
            <a:endParaRPr sz="1600">
              <a:latin typeface="Calibri"/>
              <a:ea typeface="Calibri"/>
              <a:cs typeface="Calibri"/>
              <a:sym typeface="Calibri"/>
            </a:endParaRPr>
          </a:p>
        </p:txBody>
      </p:sp>
      <p:sp>
        <p:nvSpPr>
          <p:cNvPr id="357" name="Google Shape;357;p5"/>
          <p:cNvSpPr/>
          <p:nvPr/>
        </p:nvSpPr>
        <p:spPr>
          <a:xfrm>
            <a:off x="5074564" y="1805396"/>
            <a:ext cx="3566160" cy="2743200"/>
          </a:xfrm>
          <a:custGeom>
            <a:rect b="b" l="l" r="r" t="t"/>
            <a:pathLst>
              <a:path extrusionOk="0" h="2743200" w="3566159">
                <a:moveTo>
                  <a:pt x="3565791" y="0"/>
                </a:moveTo>
                <a:lnTo>
                  <a:pt x="0" y="0"/>
                </a:lnTo>
                <a:lnTo>
                  <a:pt x="0" y="2742844"/>
                </a:lnTo>
                <a:lnTo>
                  <a:pt x="1783079" y="2742844"/>
                </a:lnTo>
                <a:lnTo>
                  <a:pt x="3565791" y="2742844"/>
                </a:lnTo>
                <a:lnTo>
                  <a:pt x="356579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58" name="Google Shape;358;p5"/>
          <p:cNvSpPr txBox="1"/>
          <p:nvPr/>
        </p:nvSpPr>
        <p:spPr>
          <a:xfrm>
            <a:off x="5074564" y="1805396"/>
            <a:ext cx="3566160" cy="2743200"/>
          </a:xfrm>
          <a:prstGeom prst="rect">
            <a:avLst/>
          </a:prstGeom>
          <a:noFill/>
          <a:ln cap="flat" cmpd="sng" w="9525">
            <a:solidFill>
              <a:srgbClr val="00AF4F"/>
            </a:solidFill>
            <a:prstDash val="solid"/>
            <a:round/>
            <a:headEnd len="sm" w="sm" type="none"/>
            <a:tailEnd len="sm" w="sm" type="none"/>
          </a:ln>
        </p:spPr>
        <p:txBody>
          <a:bodyPr anchorCtr="0" anchor="t" bIns="0" lIns="0" spcFirstLastPara="1" rIns="0" wrap="square" tIns="45075">
            <a:spAutoFit/>
          </a:bodyPr>
          <a:lstStyle/>
          <a:p>
            <a:pPr indent="0" lvl="0" marL="90805" marR="727075" rtl="0" algn="l">
              <a:lnSpc>
                <a:spcPct val="100000"/>
              </a:lnSpc>
              <a:spcBef>
                <a:spcPts val="0"/>
              </a:spcBef>
              <a:spcAft>
                <a:spcPts val="0"/>
              </a:spcAft>
              <a:buNone/>
            </a:pPr>
            <a:r>
              <a:rPr lang="en-US" sz="1600">
                <a:latin typeface="Calibri"/>
                <a:ea typeface="Calibri"/>
                <a:cs typeface="Calibri"/>
                <a:sym typeface="Calibri"/>
              </a:rPr>
              <a:t>Traditional feedforward networks assume inputs are independent.</a:t>
            </a:r>
            <a:endParaRPr sz="1600">
              <a:latin typeface="Calibri"/>
              <a:ea typeface="Calibri"/>
              <a:cs typeface="Calibri"/>
              <a:sym typeface="Calibri"/>
            </a:endParaRPr>
          </a:p>
          <a:p>
            <a:pPr indent="0" lvl="0" marL="90805" marR="666115" rtl="0" algn="l">
              <a:lnSpc>
                <a:spcPct val="100000"/>
              </a:lnSpc>
              <a:spcBef>
                <a:spcPts val="1920"/>
              </a:spcBef>
              <a:spcAft>
                <a:spcPts val="0"/>
              </a:spcAft>
              <a:buNone/>
            </a:pPr>
            <a:r>
              <a:rPr lang="en-US" sz="1600">
                <a:latin typeface="Calibri"/>
                <a:ea typeface="Calibri"/>
                <a:cs typeface="Calibri"/>
                <a:sym typeface="Calibri"/>
              </a:rPr>
              <a:t>But in "The cat sat on the </a:t>
            </a:r>
            <a:r>
              <a:rPr lang="en-US" sz="1600" u="sng">
                <a:latin typeface="Times New Roman"/>
                <a:ea typeface="Times New Roman"/>
                <a:cs typeface="Times New Roman"/>
                <a:sym typeface="Times New Roman"/>
              </a:rPr>
              <a:t>	</a:t>
            </a:r>
            <a:r>
              <a:rPr lang="en-US" sz="1600">
                <a:latin typeface="Calibri"/>
                <a:ea typeface="Calibri"/>
                <a:cs typeface="Calibri"/>
                <a:sym typeface="Calibri"/>
              </a:rPr>
              <a:t>", predicting the next word requires remembering ALL previous words.</a:t>
            </a:r>
            <a:endParaRPr sz="1600">
              <a:latin typeface="Calibri"/>
              <a:ea typeface="Calibri"/>
              <a:cs typeface="Calibri"/>
              <a:sym typeface="Calibri"/>
            </a:endParaRPr>
          </a:p>
          <a:p>
            <a:pPr indent="0" lvl="0" marL="90805" rtl="0" algn="l">
              <a:lnSpc>
                <a:spcPct val="100000"/>
              </a:lnSpc>
              <a:spcBef>
                <a:spcPts val="1914"/>
              </a:spcBef>
              <a:spcAft>
                <a:spcPts val="0"/>
              </a:spcAft>
              <a:buNone/>
            </a:pPr>
            <a:r>
              <a:rPr lang="en-US" sz="1600">
                <a:latin typeface="Calibri"/>
                <a:ea typeface="Calibri"/>
                <a:cs typeface="Calibri"/>
                <a:sym typeface="Calibri"/>
              </a:rPr>
              <a:t>We need a model with memory.</a:t>
            </a:r>
            <a:endParaRPr sz="1600">
              <a:latin typeface="Calibri"/>
              <a:ea typeface="Calibri"/>
              <a:cs typeface="Calibri"/>
              <a:sym typeface="Calibri"/>
            </a:endParaRPr>
          </a:p>
        </p:txBody>
      </p:sp>
      <p:sp>
        <p:nvSpPr>
          <p:cNvPr id="359" name="Google Shape;359;p5"/>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1270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descr="$PPTXTitle" id="364" name="Google Shape;364;p6"/>
          <p:cNvSpPr txBox="1"/>
          <p:nvPr>
            <p:ph type="title"/>
          </p:nvPr>
        </p:nvSpPr>
        <p:spPr>
          <a:xfrm>
            <a:off x="1243698" y="201868"/>
            <a:ext cx="5557520" cy="3917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Order Matters: Same Words, Different Story</a:t>
            </a:r>
            <a:endParaRPr/>
          </a:p>
        </p:txBody>
      </p:sp>
      <p:pic>
        <p:nvPicPr>
          <p:cNvPr id="365" name="Google Shape;365;p6"/>
          <p:cNvPicPr preferRelativeResize="0"/>
          <p:nvPr/>
        </p:nvPicPr>
        <p:blipFill rotWithShape="1">
          <a:blip r:embed="rId3">
            <a:alphaModFix/>
          </a:blip>
          <a:srcRect b="0" l="0" r="0" t="0"/>
          <a:stretch/>
        </p:blipFill>
        <p:spPr>
          <a:xfrm>
            <a:off x="8369274" y="14"/>
            <a:ext cx="774357" cy="866508"/>
          </a:xfrm>
          <a:prstGeom prst="rect">
            <a:avLst/>
          </a:prstGeom>
          <a:noFill/>
          <a:ln>
            <a:noFill/>
          </a:ln>
        </p:spPr>
      </p:pic>
      <p:grpSp>
        <p:nvGrpSpPr>
          <p:cNvPr id="366" name="Google Shape;366;p6"/>
          <p:cNvGrpSpPr/>
          <p:nvPr/>
        </p:nvGrpSpPr>
        <p:grpSpPr>
          <a:xfrm>
            <a:off x="354241" y="1013017"/>
            <a:ext cx="4183557" cy="3131667"/>
            <a:chOff x="354241" y="1013017"/>
            <a:chExt cx="4183557" cy="3131667"/>
          </a:xfrm>
        </p:grpSpPr>
        <p:pic>
          <p:nvPicPr>
            <p:cNvPr id="367" name="Google Shape;367;p6"/>
            <p:cNvPicPr preferRelativeResize="0"/>
            <p:nvPr/>
          </p:nvPicPr>
          <p:blipFill rotWithShape="1">
            <a:blip r:embed="rId4">
              <a:alphaModFix/>
            </a:blip>
            <a:srcRect b="0" l="0" r="0" t="0"/>
            <a:stretch/>
          </p:blipFill>
          <p:spPr>
            <a:xfrm>
              <a:off x="354241" y="1013017"/>
              <a:ext cx="4183557" cy="3131667"/>
            </a:xfrm>
            <a:prstGeom prst="rect">
              <a:avLst/>
            </a:prstGeom>
            <a:noFill/>
            <a:ln>
              <a:noFill/>
            </a:ln>
          </p:spPr>
        </p:pic>
        <p:sp>
          <p:nvSpPr>
            <p:cNvPr id="368" name="Google Shape;368;p6"/>
            <p:cNvSpPr/>
            <p:nvPr/>
          </p:nvSpPr>
          <p:spPr>
            <a:xfrm>
              <a:off x="411124" y="1050838"/>
              <a:ext cx="4069715" cy="3018155"/>
            </a:xfrm>
            <a:custGeom>
              <a:rect b="b" l="l" r="r" t="t"/>
              <a:pathLst>
                <a:path extrusionOk="0" h="3018154" w="4069715">
                  <a:moveTo>
                    <a:pt x="181432" y="0"/>
                  </a:moveTo>
                  <a:lnTo>
                    <a:pt x="134593" y="6121"/>
                  </a:lnTo>
                  <a:lnTo>
                    <a:pt x="90716" y="24130"/>
                  </a:lnTo>
                  <a:lnTo>
                    <a:pt x="53413" y="53105"/>
                  </a:lnTo>
                  <a:lnTo>
                    <a:pt x="24472" y="90728"/>
                  </a:lnTo>
                  <a:lnTo>
                    <a:pt x="6475" y="134285"/>
                  </a:lnTo>
                  <a:lnTo>
                    <a:pt x="355" y="181089"/>
                  </a:lnTo>
                  <a:lnTo>
                    <a:pt x="0" y="2836799"/>
                  </a:lnTo>
                  <a:lnTo>
                    <a:pt x="1541" y="2860444"/>
                  </a:lnTo>
                  <a:lnTo>
                    <a:pt x="13615" y="2905955"/>
                  </a:lnTo>
                  <a:lnTo>
                    <a:pt x="37350" y="2946984"/>
                  </a:lnTo>
                  <a:lnTo>
                    <a:pt x="37455" y="2947139"/>
                  </a:lnTo>
                  <a:lnTo>
                    <a:pt x="70891" y="2980425"/>
                  </a:lnTo>
                  <a:lnTo>
                    <a:pt x="111919" y="3004215"/>
                  </a:lnTo>
                  <a:lnTo>
                    <a:pt x="157436" y="3016346"/>
                  </a:lnTo>
                  <a:lnTo>
                    <a:pt x="181076" y="3017888"/>
                  </a:lnTo>
                  <a:lnTo>
                    <a:pt x="3888358" y="3017888"/>
                  </a:lnTo>
                  <a:lnTo>
                    <a:pt x="3935198" y="3011766"/>
                  </a:lnTo>
                  <a:lnTo>
                    <a:pt x="3979075" y="2993758"/>
                  </a:lnTo>
                  <a:lnTo>
                    <a:pt x="4016326" y="2964829"/>
                  </a:lnTo>
                  <a:lnTo>
                    <a:pt x="4045318" y="2927159"/>
                  </a:lnTo>
                  <a:lnTo>
                    <a:pt x="4055691" y="2906111"/>
                  </a:lnTo>
                  <a:lnTo>
                    <a:pt x="4055767" y="2905955"/>
                  </a:lnTo>
                  <a:lnTo>
                    <a:pt x="4063300" y="2883649"/>
                  </a:lnTo>
                  <a:lnTo>
                    <a:pt x="4067893" y="2860444"/>
                  </a:lnTo>
                  <a:lnTo>
                    <a:pt x="4069435" y="2836799"/>
                  </a:lnTo>
                  <a:lnTo>
                    <a:pt x="4069412" y="181089"/>
                  </a:lnTo>
                  <a:lnTo>
                    <a:pt x="4063315" y="134596"/>
                  </a:lnTo>
                  <a:lnTo>
                    <a:pt x="4045318" y="90728"/>
                  </a:lnTo>
                  <a:lnTo>
                    <a:pt x="4016333" y="53416"/>
                  </a:lnTo>
                  <a:lnTo>
                    <a:pt x="3978719" y="24485"/>
                  </a:lnTo>
                  <a:lnTo>
                    <a:pt x="3935153" y="6488"/>
                  </a:lnTo>
                  <a:lnTo>
                    <a:pt x="3888358" y="368"/>
                  </a:lnTo>
                  <a:lnTo>
                    <a:pt x="18143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69" name="Google Shape;369;p6"/>
            <p:cNvSpPr/>
            <p:nvPr/>
          </p:nvSpPr>
          <p:spPr>
            <a:xfrm>
              <a:off x="411124" y="1050838"/>
              <a:ext cx="4069715" cy="3018155"/>
            </a:xfrm>
            <a:custGeom>
              <a:rect b="b" l="l" r="r" t="t"/>
              <a:pathLst>
                <a:path extrusionOk="0" h="3018154" w="4069715">
                  <a:moveTo>
                    <a:pt x="355" y="181089"/>
                  </a:moveTo>
                  <a:lnTo>
                    <a:pt x="1896" y="157449"/>
                  </a:lnTo>
                  <a:lnTo>
                    <a:pt x="6475" y="134285"/>
                  </a:lnTo>
                  <a:lnTo>
                    <a:pt x="24472" y="90728"/>
                  </a:lnTo>
                  <a:lnTo>
                    <a:pt x="53413" y="53105"/>
                  </a:lnTo>
                  <a:lnTo>
                    <a:pt x="90716" y="24130"/>
                  </a:lnTo>
                  <a:lnTo>
                    <a:pt x="134593" y="6121"/>
                  </a:lnTo>
                  <a:lnTo>
                    <a:pt x="181432" y="0"/>
                  </a:lnTo>
                  <a:lnTo>
                    <a:pt x="3888358" y="368"/>
                  </a:lnTo>
                  <a:lnTo>
                    <a:pt x="3935153" y="6488"/>
                  </a:lnTo>
                  <a:lnTo>
                    <a:pt x="3978719" y="24485"/>
                  </a:lnTo>
                  <a:lnTo>
                    <a:pt x="4016333" y="53416"/>
                  </a:lnTo>
                  <a:lnTo>
                    <a:pt x="4045318" y="90728"/>
                  </a:lnTo>
                  <a:lnTo>
                    <a:pt x="4063315" y="134596"/>
                  </a:lnTo>
                  <a:lnTo>
                    <a:pt x="4069435" y="181444"/>
                  </a:lnTo>
                  <a:lnTo>
                    <a:pt x="4069435" y="2836799"/>
                  </a:lnTo>
                  <a:lnTo>
                    <a:pt x="4067894" y="2860438"/>
                  </a:lnTo>
                  <a:lnTo>
                    <a:pt x="4063315" y="2883603"/>
                  </a:lnTo>
                  <a:lnTo>
                    <a:pt x="4045318" y="2927159"/>
                  </a:lnTo>
                  <a:lnTo>
                    <a:pt x="4016378" y="2964783"/>
                  </a:lnTo>
                  <a:lnTo>
                    <a:pt x="3979075" y="2993758"/>
                  </a:lnTo>
                  <a:lnTo>
                    <a:pt x="3935198" y="3011766"/>
                  </a:lnTo>
                  <a:lnTo>
                    <a:pt x="3888358" y="3017888"/>
                  </a:lnTo>
                  <a:lnTo>
                    <a:pt x="181076" y="3017888"/>
                  </a:lnTo>
                  <a:lnTo>
                    <a:pt x="134272" y="3011766"/>
                  </a:lnTo>
                  <a:lnTo>
                    <a:pt x="90716" y="2993758"/>
                  </a:lnTo>
                  <a:lnTo>
                    <a:pt x="53092" y="2964829"/>
                  </a:lnTo>
                  <a:lnTo>
                    <a:pt x="24117" y="2927527"/>
                  </a:lnTo>
                  <a:lnTo>
                    <a:pt x="6119" y="2883649"/>
                  </a:lnTo>
                  <a:lnTo>
                    <a:pt x="0" y="2836799"/>
                  </a:lnTo>
                  <a:lnTo>
                    <a:pt x="355" y="181089"/>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70" name="Google Shape;370;p6"/>
            <p:cNvSpPr/>
            <p:nvPr/>
          </p:nvSpPr>
          <p:spPr>
            <a:xfrm>
              <a:off x="594004" y="1554482"/>
              <a:ext cx="1828800" cy="713740"/>
            </a:xfrm>
            <a:custGeom>
              <a:rect b="b" l="l" r="r" t="t"/>
              <a:pathLst>
                <a:path extrusionOk="0" h="713739" w="1828800">
                  <a:moveTo>
                    <a:pt x="1771561" y="0"/>
                  </a:moveTo>
                  <a:lnTo>
                    <a:pt x="56870" y="0"/>
                  </a:lnTo>
                  <a:lnTo>
                    <a:pt x="49543" y="471"/>
                  </a:lnTo>
                  <a:lnTo>
                    <a:pt x="11731" y="22238"/>
                  </a:lnTo>
                  <a:lnTo>
                    <a:pt x="0" y="56883"/>
                  </a:lnTo>
                  <a:lnTo>
                    <a:pt x="0" y="656285"/>
                  </a:lnTo>
                  <a:lnTo>
                    <a:pt x="457" y="663399"/>
                  </a:lnTo>
                  <a:lnTo>
                    <a:pt x="471" y="663612"/>
                  </a:lnTo>
                  <a:lnTo>
                    <a:pt x="1843" y="670679"/>
                  </a:lnTo>
                  <a:lnTo>
                    <a:pt x="1887" y="670907"/>
                  </a:lnTo>
                  <a:lnTo>
                    <a:pt x="4145" y="677689"/>
                  </a:lnTo>
                  <a:lnTo>
                    <a:pt x="35105" y="708907"/>
                  </a:lnTo>
                  <a:lnTo>
                    <a:pt x="49990" y="712800"/>
                  </a:lnTo>
                  <a:lnTo>
                    <a:pt x="51233" y="712800"/>
                  </a:lnTo>
                  <a:lnTo>
                    <a:pt x="56870" y="713155"/>
                  </a:lnTo>
                  <a:lnTo>
                    <a:pt x="1771916" y="712800"/>
                  </a:lnTo>
                  <a:lnTo>
                    <a:pt x="1812148" y="696152"/>
                  </a:lnTo>
                  <a:lnTo>
                    <a:pt x="1826828" y="670907"/>
                  </a:lnTo>
                  <a:lnTo>
                    <a:pt x="1826906" y="670679"/>
                  </a:lnTo>
                  <a:lnTo>
                    <a:pt x="1828284" y="663612"/>
                  </a:lnTo>
                  <a:lnTo>
                    <a:pt x="1828326" y="663399"/>
                  </a:lnTo>
                  <a:lnTo>
                    <a:pt x="1828776" y="656285"/>
                  </a:lnTo>
                  <a:lnTo>
                    <a:pt x="1828800" y="655916"/>
                  </a:lnTo>
                  <a:lnTo>
                    <a:pt x="1828431" y="56883"/>
                  </a:lnTo>
                  <a:lnTo>
                    <a:pt x="1811783" y="16648"/>
                  </a:lnTo>
                  <a:lnTo>
                    <a:pt x="1779038" y="471"/>
                  </a:lnTo>
                  <a:lnTo>
                    <a:pt x="1771561" y="0"/>
                  </a:lnTo>
                  <a:close/>
                </a:path>
              </a:pathLst>
            </a:custGeom>
            <a:solidFill>
              <a:srgbClr val="E9F6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371" name="Google Shape;371;p6"/>
          <p:cNvSpPr txBox="1"/>
          <p:nvPr/>
        </p:nvSpPr>
        <p:spPr>
          <a:xfrm>
            <a:off x="670941" y="1734745"/>
            <a:ext cx="981710" cy="352425"/>
          </a:xfrm>
          <a:prstGeom prst="rect">
            <a:avLst/>
          </a:prstGeom>
          <a:noFill/>
          <a:ln>
            <a:noFill/>
          </a:ln>
        </p:spPr>
        <p:txBody>
          <a:bodyPr anchorCtr="0" anchor="t" bIns="0" lIns="0" spcFirstLastPara="1" rIns="0" wrap="square" tIns="12700">
            <a:spAutoFit/>
          </a:bodyPr>
          <a:lstStyle/>
          <a:p>
            <a:pPr indent="0" lvl="0" marL="12700" rtl="0" algn="l">
              <a:lnSpc>
                <a:spcPct val="119545"/>
              </a:lnSpc>
              <a:spcBef>
                <a:spcPts val="0"/>
              </a:spcBef>
              <a:spcAft>
                <a:spcPts val="0"/>
              </a:spcAft>
              <a:buNone/>
            </a:pPr>
            <a:r>
              <a:rPr b="1" lang="en-US" sz="1100">
                <a:solidFill>
                  <a:srgbClr val="1E2836"/>
                </a:solidFill>
                <a:latin typeface="Calibri"/>
                <a:ea typeface="Calibri"/>
                <a:cs typeface="Calibri"/>
                <a:sym typeface="Calibri"/>
              </a:rPr>
              <a:t>"Dog bites man"</a:t>
            </a:r>
            <a:endParaRPr sz="1100">
              <a:latin typeface="Calibri"/>
              <a:ea typeface="Calibri"/>
              <a:cs typeface="Calibri"/>
              <a:sym typeface="Calibri"/>
            </a:endParaRPr>
          </a:p>
          <a:p>
            <a:pPr indent="0" lvl="0" marL="12700" rtl="0" algn="l">
              <a:lnSpc>
                <a:spcPct val="119523"/>
              </a:lnSpc>
              <a:spcBef>
                <a:spcPts val="0"/>
              </a:spcBef>
              <a:spcAft>
                <a:spcPts val="0"/>
              </a:spcAft>
              <a:buNone/>
            </a:pPr>
            <a:r>
              <a:rPr lang="en-US" sz="1050">
                <a:solidFill>
                  <a:srgbClr val="147F3C"/>
                </a:solidFill>
                <a:latin typeface="Calibri"/>
                <a:ea typeface="Calibri"/>
                <a:cs typeface="Calibri"/>
                <a:sym typeface="Calibri"/>
              </a:rPr>
              <a:t>Not news</a:t>
            </a:r>
            <a:endParaRPr sz="1050">
              <a:latin typeface="Calibri"/>
              <a:ea typeface="Calibri"/>
              <a:cs typeface="Calibri"/>
              <a:sym typeface="Calibri"/>
            </a:endParaRPr>
          </a:p>
        </p:txBody>
      </p:sp>
      <p:sp>
        <p:nvSpPr>
          <p:cNvPr id="372" name="Google Shape;372;p6"/>
          <p:cNvSpPr txBox="1"/>
          <p:nvPr/>
        </p:nvSpPr>
        <p:spPr>
          <a:xfrm>
            <a:off x="2490736" y="1821499"/>
            <a:ext cx="132080" cy="1784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000">
                <a:solidFill>
                  <a:srgbClr val="465468"/>
                </a:solidFill>
                <a:latin typeface="Calibri"/>
                <a:ea typeface="Calibri"/>
                <a:cs typeface="Calibri"/>
                <a:sym typeface="Calibri"/>
              </a:rPr>
              <a:t>vs</a:t>
            </a:r>
            <a:endParaRPr sz="1000">
              <a:latin typeface="Calibri"/>
              <a:ea typeface="Calibri"/>
              <a:cs typeface="Calibri"/>
              <a:sym typeface="Calibri"/>
            </a:endParaRPr>
          </a:p>
        </p:txBody>
      </p:sp>
      <p:sp>
        <p:nvSpPr>
          <p:cNvPr id="373" name="Google Shape;373;p6"/>
          <p:cNvSpPr/>
          <p:nvPr/>
        </p:nvSpPr>
        <p:spPr>
          <a:xfrm>
            <a:off x="2669755" y="1554482"/>
            <a:ext cx="1645920" cy="713740"/>
          </a:xfrm>
          <a:custGeom>
            <a:rect b="b" l="l" r="r" t="t"/>
            <a:pathLst>
              <a:path extrusionOk="0" h="713739" w="1645920">
                <a:moveTo>
                  <a:pt x="1588681" y="0"/>
                </a:moveTo>
                <a:lnTo>
                  <a:pt x="56883" y="0"/>
                </a:lnTo>
                <a:lnTo>
                  <a:pt x="49555" y="471"/>
                </a:lnTo>
                <a:lnTo>
                  <a:pt x="11736" y="22238"/>
                </a:lnTo>
                <a:lnTo>
                  <a:pt x="0" y="56883"/>
                </a:lnTo>
                <a:lnTo>
                  <a:pt x="0" y="656285"/>
                </a:lnTo>
                <a:lnTo>
                  <a:pt x="459" y="663399"/>
                </a:lnTo>
                <a:lnTo>
                  <a:pt x="473" y="663612"/>
                </a:lnTo>
                <a:lnTo>
                  <a:pt x="1849" y="670679"/>
                </a:lnTo>
                <a:lnTo>
                  <a:pt x="1893" y="670907"/>
                </a:lnTo>
                <a:lnTo>
                  <a:pt x="4155" y="677689"/>
                </a:lnTo>
                <a:lnTo>
                  <a:pt x="35116" y="708907"/>
                </a:lnTo>
                <a:lnTo>
                  <a:pt x="49997" y="712800"/>
                </a:lnTo>
                <a:lnTo>
                  <a:pt x="51242" y="712800"/>
                </a:lnTo>
                <a:lnTo>
                  <a:pt x="56883" y="713155"/>
                </a:lnTo>
                <a:lnTo>
                  <a:pt x="1589049" y="712800"/>
                </a:lnTo>
                <a:lnTo>
                  <a:pt x="1629271" y="696152"/>
                </a:lnTo>
                <a:lnTo>
                  <a:pt x="1643955" y="670907"/>
                </a:lnTo>
                <a:lnTo>
                  <a:pt x="1644032" y="670679"/>
                </a:lnTo>
                <a:lnTo>
                  <a:pt x="1645406" y="663612"/>
                </a:lnTo>
                <a:lnTo>
                  <a:pt x="1645448" y="663399"/>
                </a:lnTo>
                <a:lnTo>
                  <a:pt x="1645896" y="656285"/>
                </a:lnTo>
                <a:lnTo>
                  <a:pt x="1645564" y="56883"/>
                </a:lnTo>
                <a:lnTo>
                  <a:pt x="1628916" y="16648"/>
                </a:lnTo>
                <a:lnTo>
                  <a:pt x="1596163" y="471"/>
                </a:lnTo>
                <a:lnTo>
                  <a:pt x="1588681" y="0"/>
                </a:lnTo>
                <a:close/>
              </a:path>
            </a:pathLst>
          </a:custGeom>
          <a:solidFill>
            <a:srgbClr val="FFF0E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74" name="Google Shape;374;p6"/>
          <p:cNvSpPr txBox="1"/>
          <p:nvPr/>
        </p:nvSpPr>
        <p:spPr>
          <a:xfrm>
            <a:off x="2746705" y="1734745"/>
            <a:ext cx="977900" cy="352425"/>
          </a:xfrm>
          <a:prstGeom prst="rect">
            <a:avLst/>
          </a:prstGeom>
          <a:noFill/>
          <a:ln>
            <a:noFill/>
          </a:ln>
        </p:spPr>
        <p:txBody>
          <a:bodyPr anchorCtr="0" anchor="t" bIns="0" lIns="0" spcFirstLastPara="1" rIns="0" wrap="square" tIns="12700">
            <a:spAutoFit/>
          </a:bodyPr>
          <a:lstStyle/>
          <a:p>
            <a:pPr indent="0" lvl="0" marL="12700" rtl="0" algn="l">
              <a:lnSpc>
                <a:spcPct val="119545"/>
              </a:lnSpc>
              <a:spcBef>
                <a:spcPts val="0"/>
              </a:spcBef>
              <a:spcAft>
                <a:spcPts val="0"/>
              </a:spcAft>
              <a:buNone/>
            </a:pPr>
            <a:r>
              <a:rPr b="1" lang="en-US" sz="1100">
                <a:solidFill>
                  <a:srgbClr val="1E2836"/>
                </a:solidFill>
                <a:latin typeface="Calibri"/>
                <a:ea typeface="Calibri"/>
                <a:cs typeface="Calibri"/>
                <a:sym typeface="Calibri"/>
              </a:rPr>
              <a:t>"Man bites dog"</a:t>
            </a:r>
            <a:endParaRPr sz="1100">
              <a:latin typeface="Calibri"/>
              <a:ea typeface="Calibri"/>
              <a:cs typeface="Calibri"/>
              <a:sym typeface="Calibri"/>
            </a:endParaRPr>
          </a:p>
          <a:p>
            <a:pPr indent="0" lvl="0" marL="12700" rtl="0" algn="l">
              <a:lnSpc>
                <a:spcPct val="119523"/>
              </a:lnSpc>
              <a:spcBef>
                <a:spcPts val="0"/>
              </a:spcBef>
              <a:spcAft>
                <a:spcPts val="0"/>
              </a:spcAft>
              <a:buNone/>
            </a:pPr>
            <a:r>
              <a:rPr lang="en-US" sz="1050">
                <a:solidFill>
                  <a:srgbClr val="C1400B"/>
                </a:solidFill>
                <a:latin typeface="Calibri"/>
                <a:ea typeface="Calibri"/>
                <a:cs typeface="Calibri"/>
                <a:sym typeface="Calibri"/>
              </a:rPr>
              <a:t>Front page!</a:t>
            </a:r>
            <a:endParaRPr sz="1050">
              <a:latin typeface="Calibri"/>
              <a:ea typeface="Calibri"/>
              <a:cs typeface="Calibri"/>
              <a:sym typeface="Calibri"/>
            </a:endParaRPr>
          </a:p>
        </p:txBody>
      </p:sp>
      <p:sp>
        <p:nvSpPr>
          <p:cNvPr id="375" name="Google Shape;375;p6"/>
          <p:cNvSpPr/>
          <p:nvPr/>
        </p:nvSpPr>
        <p:spPr>
          <a:xfrm>
            <a:off x="594004" y="2359077"/>
            <a:ext cx="1828800" cy="713740"/>
          </a:xfrm>
          <a:custGeom>
            <a:rect b="b" l="l" r="r" t="t"/>
            <a:pathLst>
              <a:path extrusionOk="0" h="713739" w="1828800">
                <a:moveTo>
                  <a:pt x="1771561" y="0"/>
                </a:moveTo>
                <a:lnTo>
                  <a:pt x="56870" y="0"/>
                </a:lnTo>
                <a:lnTo>
                  <a:pt x="49543" y="473"/>
                </a:lnTo>
                <a:lnTo>
                  <a:pt x="11731" y="22244"/>
                </a:lnTo>
                <a:lnTo>
                  <a:pt x="0" y="56883"/>
                </a:lnTo>
                <a:lnTo>
                  <a:pt x="0" y="656285"/>
                </a:lnTo>
                <a:lnTo>
                  <a:pt x="458" y="663406"/>
                </a:lnTo>
                <a:lnTo>
                  <a:pt x="471" y="663612"/>
                </a:lnTo>
                <a:lnTo>
                  <a:pt x="1844" y="670685"/>
                </a:lnTo>
                <a:lnTo>
                  <a:pt x="1887" y="670907"/>
                </a:lnTo>
                <a:lnTo>
                  <a:pt x="4147" y="677694"/>
                </a:lnTo>
                <a:lnTo>
                  <a:pt x="35105" y="708909"/>
                </a:lnTo>
                <a:lnTo>
                  <a:pt x="49933" y="712800"/>
                </a:lnTo>
                <a:lnTo>
                  <a:pt x="51056" y="712800"/>
                </a:lnTo>
                <a:lnTo>
                  <a:pt x="56870" y="713168"/>
                </a:lnTo>
                <a:lnTo>
                  <a:pt x="1771916" y="712800"/>
                </a:lnTo>
                <a:lnTo>
                  <a:pt x="1812148" y="696152"/>
                </a:lnTo>
                <a:lnTo>
                  <a:pt x="1828777" y="656285"/>
                </a:lnTo>
                <a:lnTo>
                  <a:pt x="1828800" y="655929"/>
                </a:lnTo>
                <a:lnTo>
                  <a:pt x="1828431" y="56883"/>
                </a:lnTo>
                <a:lnTo>
                  <a:pt x="1811783" y="16651"/>
                </a:lnTo>
                <a:lnTo>
                  <a:pt x="1779038" y="473"/>
                </a:lnTo>
                <a:lnTo>
                  <a:pt x="1771561" y="0"/>
                </a:lnTo>
                <a:close/>
              </a:path>
            </a:pathLst>
          </a:custGeom>
          <a:solidFill>
            <a:srgbClr val="E9F6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76" name="Google Shape;376;p6"/>
          <p:cNvSpPr txBox="1"/>
          <p:nvPr/>
        </p:nvSpPr>
        <p:spPr>
          <a:xfrm>
            <a:off x="670941" y="2539341"/>
            <a:ext cx="1459230" cy="352425"/>
          </a:xfrm>
          <a:prstGeom prst="rect">
            <a:avLst/>
          </a:prstGeom>
          <a:noFill/>
          <a:ln>
            <a:noFill/>
          </a:ln>
        </p:spPr>
        <p:txBody>
          <a:bodyPr anchorCtr="0" anchor="t" bIns="0" lIns="0" spcFirstLastPara="1" rIns="0" wrap="square" tIns="12700">
            <a:spAutoFit/>
          </a:bodyPr>
          <a:lstStyle/>
          <a:p>
            <a:pPr indent="0" lvl="0" marL="12700" rtl="0" algn="l">
              <a:lnSpc>
                <a:spcPct val="119545"/>
              </a:lnSpc>
              <a:spcBef>
                <a:spcPts val="0"/>
              </a:spcBef>
              <a:spcAft>
                <a:spcPts val="0"/>
              </a:spcAft>
              <a:buNone/>
            </a:pPr>
            <a:r>
              <a:rPr b="1" lang="en-US" sz="1100">
                <a:solidFill>
                  <a:srgbClr val="1E2836"/>
                </a:solidFill>
                <a:latin typeface="Calibri"/>
                <a:ea typeface="Calibri"/>
                <a:cs typeface="Calibri"/>
                <a:sym typeface="Calibri"/>
              </a:rPr>
              <a:t>"Not bad, actually good"</a:t>
            </a:r>
            <a:endParaRPr sz="1100">
              <a:latin typeface="Calibri"/>
              <a:ea typeface="Calibri"/>
              <a:cs typeface="Calibri"/>
              <a:sym typeface="Calibri"/>
            </a:endParaRPr>
          </a:p>
          <a:p>
            <a:pPr indent="0" lvl="0" marL="12700" rtl="0" algn="l">
              <a:lnSpc>
                <a:spcPct val="119523"/>
              </a:lnSpc>
              <a:spcBef>
                <a:spcPts val="0"/>
              </a:spcBef>
              <a:spcAft>
                <a:spcPts val="0"/>
              </a:spcAft>
              <a:buNone/>
            </a:pPr>
            <a:r>
              <a:rPr lang="en-US" sz="1050">
                <a:solidFill>
                  <a:srgbClr val="147F3C"/>
                </a:solidFill>
                <a:latin typeface="Calibri"/>
                <a:ea typeface="Calibri"/>
                <a:cs typeface="Calibri"/>
                <a:sym typeface="Calibri"/>
              </a:rPr>
              <a:t>Positive</a:t>
            </a:r>
            <a:endParaRPr sz="1050">
              <a:latin typeface="Calibri"/>
              <a:ea typeface="Calibri"/>
              <a:cs typeface="Calibri"/>
              <a:sym typeface="Calibri"/>
            </a:endParaRPr>
          </a:p>
        </p:txBody>
      </p:sp>
      <p:sp>
        <p:nvSpPr>
          <p:cNvPr id="377" name="Google Shape;377;p6"/>
          <p:cNvSpPr txBox="1"/>
          <p:nvPr/>
        </p:nvSpPr>
        <p:spPr>
          <a:xfrm>
            <a:off x="2490736" y="2626108"/>
            <a:ext cx="132080" cy="1784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000">
                <a:solidFill>
                  <a:srgbClr val="465468"/>
                </a:solidFill>
                <a:latin typeface="Calibri"/>
                <a:ea typeface="Calibri"/>
                <a:cs typeface="Calibri"/>
                <a:sym typeface="Calibri"/>
              </a:rPr>
              <a:t>vs</a:t>
            </a:r>
            <a:endParaRPr sz="1000">
              <a:latin typeface="Calibri"/>
              <a:ea typeface="Calibri"/>
              <a:cs typeface="Calibri"/>
              <a:sym typeface="Calibri"/>
            </a:endParaRPr>
          </a:p>
        </p:txBody>
      </p:sp>
      <p:sp>
        <p:nvSpPr>
          <p:cNvPr id="378" name="Google Shape;378;p6"/>
          <p:cNvSpPr/>
          <p:nvPr/>
        </p:nvSpPr>
        <p:spPr>
          <a:xfrm>
            <a:off x="2669755" y="2359077"/>
            <a:ext cx="1645920" cy="713740"/>
          </a:xfrm>
          <a:custGeom>
            <a:rect b="b" l="l" r="r" t="t"/>
            <a:pathLst>
              <a:path extrusionOk="0" h="713739" w="1645920">
                <a:moveTo>
                  <a:pt x="1588681" y="0"/>
                </a:moveTo>
                <a:lnTo>
                  <a:pt x="56883" y="0"/>
                </a:lnTo>
                <a:lnTo>
                  <a:pt x="49555" y="473"/>
                </a:lnTo>
                <a:lnTo>
                  <a:pt x="11736" y="22244"/>
                </a:lnTo>
                <a:lnTo>
                  <a:pt x="0" y="56883"/>
                </a:lnTo>
                <a:lnTo>
                  <a:pt x="0" y="656285"/>
                </a:lnTo>
                <a:lnTo>
                  <a:pt x="4157" y="677694"/>
                </a:lnTo>
                <a:lnTo>
                  <a:pt x="4259" y="678000"/>
                </a:lnTo>
                <a:lnTo>
                  <a:pt x="35116" y="708909"/>
                </a:lnTo>
                <a:lnTo>
                  <a:pt x="49940" y="712800"/>
                </a:lnTo>
                <a:lnTo>
                  <a:pt x="51065" y="712800"/>
                </a:lnTo>
                <a:lnTo>
                  <a:pt x="56883" y="713168"/>
                </a:lnTo>
                <a:lnTo>
                  <a:pt x="1589049" y="712800"/>
                </a:lnTo>
                <a:lnTo>
                  <a:pt x="1629271" y="696152"/>
                </a:lnTo>
                <a:lnTo>
                  <a:pt x="1643957" y="670907"/>
                </a:lnTo>
                <a:lnTo>
                  <a:pt x="1644032" y="670685"/>
                </a:lnTo>
                <a:lnTo>
                  <a:pt x="1645408" y="663612"/>
                </a:lnTo>
                <a:lnTo>
                  <a:pt x="1645448" y="663406"/>
                </a:lnTo>
                <a:lnTo>
                  <a:pt x="1645897" y="656285"/>
                </a:lnTo>
                <a:lnTo>
                  <a:pt x="1645564" y="56883"/>
                </a:lnTo>
                <a:lnTo>
                  <a:pt x="1628916" y="16651"/>
                </a:lnTo>
                <a:lnTo>
                  <a:pt x="1596163" y="473"/>
                </a:lnTo>
                <a:lnTo>
                  <a:pt x="1588681" y="0"/>
                </a:lnTo>
                <a:close/>
              </a:path>
            </a:pathLst>
          </a:custGeom>
          <a:solidFill>
            <a:srgbClr val="FFF0E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79" name="Google Shape;379;p6"/>
          <p:cNvSpPr txBox="1"/>
          <p:nvPr/>
        </p:nvSpPr>
        <p:spPr>
          <a:xfrm>
            <a:off x="2746705" y="2539341"/>
            <a:ext cx="1459230" cy="352425"/>
          </a:xfrm>
          <a:prstGeom prst="rect">
            <a:avLst/>
          </a:prstGeom>
          <a:noFill/>
          <a:ln>
            <a:noFill/>
          </a:ln>
        </p:spPr>
        <p:txBody>
          <a:bodyPr anchorCtr="0" anchor="t" bIns="0" lIns="0" spcFirstLastPara="1" rIns="0" wrap="square" tIns="12700">
            <a:spAutoFit/>
          </a:bodyPr>
          <a:lstStyle/>
          <a:p>
            <a:pPr indent="0" lvl="0" marL="12700" rtl="0" algn="l">
              <a:lnSpc>
                <a:spcPct val="119545"/>
              </a:lnSpc>
              <a:spcBef>
                <a:spcPts val="0"/>
              </a:spcBef>
              <a:spcAft>
                <a:spcPts val="0"/>
              </a:spcAft>
              <a:buNone/>
            </a:pPr>
            <a:r>
              <a:rPr b="1" lang="en-US" sz="1100">
                <a:solidFill>
                  <a:srgbClr val="1E2836"/>
                </a:solidFill>
                <a:latin typeface="Calibri"/>
                <a:ea typeface="Calibri"/>
                <a:cs typeface="Calibri"/>
                <a:sym typeface="Calibri"/>
              </a:rPr>
              <a:t>"Not good, actually bad"</a:t>
            </a:r>
            <a:endParaRPr sz="1100">
              <a:latin typeface="Calibri"/>
              <a:ea typeface="Calibri"/>
              <a:cs typeface="Calibri"/>
              <a:sym typeface="Calibri"/>
            </a:endParaRPr>
          </a:p>
          <a:p>
            <a:pPr indent="0" lvl="0" marL="12700" rtl="0" algn="l">
              <a:lnSpc>
                <a:spcPct val="119523"/>
              </a:lnSpc>
              <a:spcBef>
                <a:spcPts val="0"/>
              </a:spcBef>
              <a:spcAft>
                <a:spcPts val="0"/>
              </a:spcAft>
              <a:buNone/>
            </a:pPr>
            <a:r>
              <a:rPr lang="en-US" sz="1050">
                <a:solidFill>
                  <a:srgbClr val="C1400B"/>
                </a:solidFill>
                <a:latin typeface="Calibri"/>
                <a:ea typeface="Calibri"/>
                <a:cs typeface="Calibri"/>
                <a:sym typeface="Calibri"/>
              </a:rPr>
              <a:t>Negative</a:t>
            </a:r>
            <a:endParaRPr sz="1050">
              <a:latin typeface="Calibri"/>
              <a:ea typeface="Calibri"/>
              <a:cs typeface="Calibri"/>
              <a:sym typeface="Calibri"/>
            </a:endParaRPr>
          </a:p>
        </p:txBody>
      </p:sp>
      <p:sp>
        <p:nvSpPr>
          <p:cNvPr id="380" name="Google Shape;380;p6"/>
          <p:cNvSpPr/>
          <p:nvPr/>
        </p:nvSpPr>
        <p:spPr>
          <a:xfrm>
            <a:off x="594004" y="3163686"/>
            <a:ext cx="1828800" cy="713740"/>
          </a:xfrm>
          <a:custGeom>
            <a:rect b="b" l="l" r="r" t="t"/>
            <a:pathLst>
              <a:path extrusionOk="0" h="713739" w="1828800">
                <a:moveTo>
                  <a:pt x="1771561" y="0"/>
                </a:moveTo>
                <a:lnTo>
                  <a:pt x="56870" y="0"/>
                </a:lnTo>
                <a:lnTo>
                  <a:pt x="49543" y="471"/>
                </a:lnTo>
                <a:lnTo>
                  <a:pt x="11731" y="22238"/>
                </a:lnTo>
                <a:lnTo>
                  <a:pt x="0" y="56870"/>
                </a:lnTo>
                <a:lnTo>
                  <a:pt x="0" y="656272"/>
                </a:lnTo>
                <a:lnTo>
                  <a:pt x="458" y="663399"/>
                </a:lnTo>
                <a:lnTo>
                  <a:pt x="471" y="663605"/>
                </a:lnTo>
                <a:lnTo>
                  <a:pt x="1844" y="670677"/>
                </a:lnTo>
                <a:lnTo>
                  <a:pt x="1887" y="670901"/>
                </a:lnTo>
                <a:lnTo>
                  <a:pt x="28435" y="705599"/>
                </a:lnTo>
                <a:lnTo>
                  <a:pt x="49990" y="712800"/>
                </a:lnTo>
                <a:lnTo>
                  <a:pt x="51233" y="712800"/>
                </a:lnTo>
                <a:lnTo>
                  <a:pt x="56870" y="713155"/>
                </a:lnTo>
                <a:lnTo>
                  <a:pt x="1771916" y="712800"/>
                </a:lnTo>
                <a:lnTo>
                  <a:pt x="1812148" y="696148"/>
                </a:lnTo>
                <a:lnTo>
                  <a:pt x="1826830" y="670901"/>
                </a:lnTo>
                <a:lnTo>
                  <a:pt x="1826906" y="670677"/>
                </a:lnTo>
                <a:lnTo>
                  <a:pt x="1828286" y="663605"/>
                </a:lnTo>
                <a:lnTo>
                  <a:pt x="1828326" y="663399"/>
                </a:lnTo>
                <a:lnTo>
                  <a:pt x="1828777" y="656272"/>
                </a:lnTo>
                <a:lnTo>
                  <a:pt x="1828431" y="56870"/>
                </a:lnTo>
                <a:lnTo>
                  <a:pt x="1811783" y="16648"/>
                </a:lnTo>
                <a:lnTo>
                  <a:pt x="1779038" y="471"/>
                </a:lnTo>
                <a:lnTo>
                  <a:pt x="1771561" y="0"/>
                </a:lnTo>
                <a:close/>
              </a:path>
            </a:pathLst>
          </a:custGeom>
          <a:solidFill>
            <a:srgbClr val="E9F6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81" name="Google Shape;381;p6"/>
          <p:cNvSpPr txBox="1"/>
          <p:nvPr/>
        </p:nvSpPr>
        <p:spPr>
          <a:xfrm>
            <a:off x="670941" y="3343950"/>
            <a:ext cx="1616710" cy="352425"/>
          </a:xfrm>
          <a:prstGeom prst="rect">
            <a:avLst/>
          </a:prstGeom>
          <a:noFill/>
          <a:ln>
            <a:noFill/>
          </a:ln>
        </p:spPr>
        <p:txBody>
          <a:bodyPr anchorCtr="0" anchor="t" bIns="0" lIns="0" spcFirstLastPara="1" rIns="0" wrap="square" tIns="12700">
            <a:spAutoFit/>
          </a:bodyPr>
          <a:lstStyle/>
          <a:p>
            <a:pPr indent="0" lvl="0" marL="12700" rtl="0" algn="l">
              <a:lnSpc>
                <a:spcPct val="119545"/>
              </a:lnSpc>
              <a:spcBef>
                <a:spcPts val="0"/>
              </a:spcBef>
              <a:spcAft>
                <a:spcPts val="0"/>
              </a:spcAft>
              <a:buNone/>
            </a:pPr>
            <a:r>
              <a:rPr b="1" lang="en-US" sz="1100">
                <a:solidFill>
                  <a:srgbClr val="1E2836"/>
                </a:solidFill>
                <a:latin typeface="Calibri"/>
                <a:ea typeface="Calibri"/>
                <a:cs typeface="Calibri"/>
                <a:sym typeface="Calibri"/>
              </a:rPr>
              <a:t>"Mix the batter, then bake"</a:t>
            </a:r>
            <a:endParaRPr sz="1100">
              <a:latin typeface="Calibri"/>
              <a:ea typeface="Calibri"/>
              <a:cs typeface="Calibri"/>
              <a:sym typeface="Calibri"/>
            </a:endParaRPr>
          </a:p>
          <a:p>
            <a:pPr indent="0" lvl="0" marL="12700" rtl="0" algn="l">
              <a:lnSpc>
                <a:spcPct val="119523"/>
              </a:lnSpc>
              <a:spcBef>
                <a:spcPts val="0"/>
              </a:spcBef>
              <a:spcAft>
                <a:spcPts val="0"/>
              </a:spcAft>
              <a:buNone/>
            </a:pPr>
            <a:r>
              <a:rPr lang="en-US" sz="1050">
                <a:solidFill>
                  <a:srgbClr val="147F3C"/>
                </a:solidFill>
                <a:latin typeface="Calibri"/>
                <a:ea typeface="Calibri"/>
                <a:cs typeface="Calibri"/>
                <a:sym typeface="Calibri"/>
              </a:rPr>
              <a:t>Cake</a:t>
            </a:r>
            <a:endParaRPr sz="1050">
              <a:latin typeface="Calibri"/>
              <a:ea typeface="Calibri"/>
              <a:cs typeface="Calibri"/>
              <a:sym typeface="Calibri"/>
            </a:endParaRPr>
          </a:p>
        </p:txBody>
      </p:sp>
      <p:sp>
        <p:nvSpPr>
          <p:cNvPr id="382" name="Google Shape;382;p6"/>
          <p:cNvSpPr/>
          <p:nvPr/>
        </p:nvSpPr>
        <p:spPr>
          <a:xfrm>
            <a:off x="2669755" y="3163686"/>
            <a:ext cx="1645920" cy="713740"/>
          </a:xfrm>
          <a:custGeom>
            <a:rect b="b" l="l" r="r" t="t"/>
            <a:pathLst>
              <a:path extrusionOk="0" h="713739" w="1645920">
                <a:moveTo>
                  <a:pt x="1588681" y="0"/>
                </a:moveTo>
                <a:lnTo>
                  <a:pt x="56883" y="0"/>
                </a:lnTo>
                <a:lnTo>
                  <a:pt x="49555" y="471"/>
                </a:lnTo>
                <a:lnTo>
                  <a:pt x="11736" y="22238"/>
                </a:lnTo>
                <a:lnTo>
                  <a:pt x="0" y="56870"/>
                </a:lnTo>
                <a:lnTo>
                  <a:pt x="0" y="656272"/>
                </a:lnTo>
                <a:lnTo>
                  <a:pt x="460" y="663399"/>
                </a:lnTo>
                <a:lnTo>
                  <a:pt x="473" y="663605"/>
                </a:lnTo>
                <a:lnTo>
                  <a:pt x="1850" y="670677"/>
                </a:lnTo>
                <a:lnTo>
                  <a:pt x="1893" y="670901"/>
                </a:lnTo>
                <a:lnTo>
                  <a:pt x="4155" y="677683"/>
                </a:lnTo>
                <a:lnTo>
                  <a:pt x="4259" y="677994"/>
                </a:lnTo>
                <a:lnTo>
                  <a:pt x="7569" y="684720"/>
                </a:lnTo>
                <a:lnTo>
                  <a:pt x="42122" y="711268"/>
                </a:lnTo>
                <a:lnTo>
                  <a:pt x="49997" y="712800"/>
                </a:lnTo>
                <a:lnTo>
                  <a:pt x="51242" y="712800"/>
                </a:lnTo>
                <a:lnTo>
                  <a:pt x="56883" y="713155"/>
                </a:lnTo>
                <a:lnTo>
                  <a:pt x="1589049" y="712800"/>
                </a:lnTo>
                <a:lnTo>
                  <a:pt x="1629271" y="696148"/>
                </a:lnTo>
                <a:lnTo>
                  <a:pt x="1645897" y="656272"/>
                </a:lnTo>
                <a:lnTo>
                  <a:pt x="1645920" y="655916"/>
                </a:lnTo>
                <a:lnTo>
                  <a:pt x="1645564" y="56870"/>
                </a:lnTo>
                <a:lnTo>
                  <a:pt x="1628916" y="16648"/>
                </a:lnTo>
                <a:lnTo>
                  <a:pt x="1596163" y="471"/>
                </a:lnTo>
                <a:lnTo>
                  <a:pt x="1588681" y="0"/>
                </a:lnTo>
                <a:close/>
              </a:path>
            </a:pathLst>
          </a:custGeom>
          <a:solidFill>
            <a:srgbClr val="FFF0E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83" name="Google Shape;383;p6"/>
          <p:cNvSpPr txBox="1"/>
          <p:nvPr/>
        </p:nvSpPr>
        <p:spPr>
          <a:xfrm>
            <a:off x="2490736" y="3260066"/>
            <a:ext cx="1430655" cy="520700"/>
          </a:xfrm>
          <a:prstGeom prst="rect">
            <a:avLst/>
          </a:prstGeom>
          <a:noFill/>
          <a:ln>
            <a:noFill/>
          </a:ln>
        </p:spPr>
        <p:txBody>
          <a:bodyPr anchorCtr="0" anchor="t" bIns="0" lIns="0" spcFirstLastPara="1" rIns="0" wrap="square" tIns="12700">
            <a:spAutoFit/>
          </a:bodyPr>
          <a:lstStyle/>
          <a:p>
            <a:pPr indent="0" lvl="0" marL="268605" rtl="0" algn="l">
              <a:lnSpc>
                <a:spcPct val="100000"/>
              </a:lnSpc>
              <a:spcBef>
                <a:spcPts val="0"/>
              </a:spcBef>
              <a:spcAft>
                <a:spcPts val="0"/>
              </a:spcAft>
              <a:buNone/>
            </a:pPr>
            <a:r>
              <a:rPr b="1" lang="en-US" sz="1100">
                <a:solidFill>
                  <a:srgbClr val="1E2836"/>
                </a:solidFill>
                <a:latin typeface="Calibri"/>
                <a:ea typeface="Calibri"/>
                <a:cs typeface="Calibri"/>
                <a:sym typeface="Calibri"/>
              </a:rPr>
              <a:t>"Bake, then mix the</a:t>
            </a:r>
            <a:endParaRPr sz="1100">
              <a:latin typeface="Calibri"/>
              <a:ea typeface="Calibri"/>
              <a:cs typeface="Calibri"/>
              <a:sym typeface="Calibri"/>
            </a:endParaRPr>
          </a:p>
          <a:p>
            <a:pPr indent="0" lvl="0" marL="12700" rtl="0" algn="l">
              <a:lnSpc>
                <a:spcPct val="87666"/>
              </a:lnSpc>
              <a:spcBef>
                <a:spcPts val="0"/>
              </a:spcBef>
              <a:spcAft>
                <a:spcPts val="0"/>
              </a:spcAft>
              <a:buNone/>
            </a:pPr>
            <a:r>
              <a:rPr baseline="30000" lang="en-US" sz="1500">
                <a:solidFill>
                  <a:srgbClr val="465468"/>
                </a:solidFill>
                <a:latin typeface="Calibri"/>
                <a:ea typeface="Calibri"/>
                <a:cs typeface="Calibri"/>
                <a:sym typeface="Calibri"/>
              </a:rPr>
              <a:t>vs	</a:t>
            </a:r>
            <a:r>
              <a:rPr b="1" lang="en-US" sz="1100">
                <a:solidFill>
                  <a:srgbClr val="1E2836"/>
                </a:solidFill>
                <a:latin typeface="Calibri"/>
                <a:ea typeface="Calibri"/>
                <a:cs typeface="Calibri"/>
                <a:sym typeface="Calibri"/>
              </a:rPr>
              <a:t>batter"</a:t>
            </a:r>
            <a:endParaRPr sz="1100">
              <a:latin typeface="Calibri"/>
              <a:ea typeface="Calibri"/>
              <a:cs typeface="Calibri"/>
              <a:sym typeface="Calibri"/>
            </a:endParaRPr>
          </a:p>
          <a:p>
            <a:pPr indent="0" lvl="0" marL="268605" rtl="0" algn="l">
              <a:lnSpc>
                <a:spcPct val="119523"/>
              </a:lnSpc>
              <a:spcBef>
                <a:spcPts val="0"/>
              </a:spcBef>
              <a:spcAft>
                <a:spcPts val="0"/>
              </a:spcAft>
              <a:buNone/>
            </a:pPr>
            <a:r>
              <a:rPr lang="en-US" sz="1050">
                <a:solidFill>
                  <a:srgbClr val="C1400B"/>
                </a:solidFill>
                <a:latin typeface="Calibri"/>
                <a:ea typeface="Calibri"/>
                <a:cs typeface="Calibri"/>
                <a:sym typeface="Calibri"/>
              </a:rPr>
              <a:t>Kitchen disaster</a:t>
            </a:r>
            <a:endParaRPr sz="1050">
              <a:latin typeface="Calibri"/>
              <a:ea typeface="Calibri"/>
              <a:cs typeface="Calibri"/>
              <a:sym typeface="Calibri"/>
            </a:endParaRPr>
          </a:p>
        </p:txBody>
      </p:sp>
      <p:grpSp>
        <p:nvGrpSpPr>
          <p:cNvPr id="384" name="Google Shape;384;p6"/>
          <p:cNvGrpSpPr/>
          <p:nvPr/>
        </p:nvGrpSpPr>
        <p:grpSpPr>
          <a:xfrm>
            <a:off x="4606201" y="1013017"/>
            <a:ext cx="4183557" cy="3131667"/>
            <a:chOff x="4606201" y="1013017"/>
            <a:chExt cx="4183557" cy="3131667"/>
          </a:xfrm>
        </p:grpSpPr>
        <p:pic>
          <p:nvPicPr>
            <p:cNvPr id="385" name="Google Shape;385;p6"/>
            <p:cNvPicPr preferRelativeResize="0"/>
            <p:nvPr/>
          </p:nvPicPr>
          <p:blipFill rotWithShape="1">
            <a:blip r:embed="rId4">
              <a:alphaModFix/>
            </a:blip>
            <a:srcRect b="0" l="0" r="0" t="0"/>
            <a:stretch/>
          </p:blipFill>
          <p:spPr>
            <a:xfrm>
              <a:off x="4606201" y="1013017"/>
              <a:ext cx="4183557" cy="3131667"/>
            </a:xfrm>
            <a:prstGeom prst="rect">
              <a:avLst/>
            </a:prstGeom>
            <a:noFill/>
            <a:ln>
              <a:noFill/>
            </a:ln>
          </p:spPr>
        </p:pic>
        <p:sp>
          <p:nvSpPr>
            <p:cNvPr id="386" name="Google Shape;386;p6"/>
            <p:cNvSpPr/>
            <p:nvPr/>
          </p:nvSpPr>
          <p:spPr>
            <a:xfrm>
              <a:off x="4663084" y="1050838"/>
              <a:ext cx="4069715" cy="3018155"/>
            </a:xfrm>
            <a:custGeom>
              <a:rect b="b" l="l" r="r" t="t"/>
              <a:pathLst>
                <a:path extrusionOk="0" h="3018154" w="4069715">
                  <a:moveTo>
                    <a:pt x="181432" y="0"/>
                  </a:moveTo>
                  <a:lnTo>
                    <a:pt x="134593" y="6121"/>
                  </a:lnTo>
                  <a:lnTo>
                    <a:pt x="90716" y="24130"/>
                  </a:lnTo>
                  <a:lnTo>
                    <a:pt x="53413" y="53105"/>
                  </a:lnTo>
                  <a:lnTo>
                    <a:pt x="24472" y="90728"/>
                  </a:lnTo>
                  <a:lnTo>
                    <a:pt x="6475" y="134285"/>
                  </a:lnTo>
                  <a:lnTo>
                    <a:pt x="355" y="181089"/>
                  </a:lnTo>
                  <a:lnTo>
                    <a:pt x="0" y="2836799"/>
                  </a:lnTo>
                  <a:lnTo>
                    <a:pt x="1541" y="2860444"/>
                  </a:lnTo>
                  <a:lnTo>
                    <a:pt x="13615" y="2905955"/>
                  </a:lnTo>
                  <a:lnTo>
                    <a:pt x="37350" y="2946984"/>
                  </a:lnTo>
                  <a:lnTo>
                    <a:pt x="37455" y="2947139"/>
                  </a:lnTo>
                  <a:lnTo>
                    <a:pt x="70891" y="2980425"/>
                  </a:lnTo>
                  <a:lnTo>
                    <a:pt x="111919" y="3004215"/>
                  </a:lnTo>
                  <a:lnTo>
                    <a:pt x="157436" y="3016346"/>
                  </a:lnTo>
                  <a:lnTo>
                    <a:pt x="181076" y="3017888"/>
                  </a:lnTo>
                  <a:lnTo>
                    <a:pt x="3888358" y="3017888"/>
                  </a:lnTo>
                  <a:lnTo>
                    <a:pt x="3935198" y="3011766"/>
                  </a:lnTo>
                  <a:lnTo>
                    <a:pt x="3979075" y="2993758"/>
                  </a:lnTo>
                  <a:lnTo>
                    <a:pt x="4016326" y="2964829"/>
                  </a:lnTo>
                  <a:lnTo>
                    <a:pt x="4045318" y="2927159"/>
                  </a:lnTo>
                  <a:lnTo>
                    <a:pt x="4055691" y="2906111"/>
                  </a:lnTo>
                  <a:lnTo>
                    <a:pt x="4055767" y="2905955"/>
                  </a:lnTo>
                  <a:lnTo>
                    <a:pt x="4063300" y="2883649"/>
                  </a:lnTo>
                  <a:lnTo>
                    <a:pt x="4067893" y="2860444"/>
                  </a:lnTo>
                  <a:lnTo>
                    <a:pt x="4069435" y="2836799"/>
                  </a:lnTo>
                  <a:lnTo>
                    <a:pt x="4069412" y="181089"/>
                  </a:lnTo>
                  <a:lnTo>
                    <a:pt x="4063315" y="134596"/>
                  </a:lnTo>
                  <a:lnTo>
                    <a:pt x="4045318" y="90728"/>
                  </a:lnTo>
                  <a:lnTo>
                    <a:pt x="4016333" y="53416"/>
                  </a:lnTo>
                  <a:lnTo>
                    <a:pt x="3978719" y="24485"/>
                  </a:lnTo>
                  <a:lnTo>
                    <a:pt x="3935153" y="6488"/>
                  </a:lnTo>
                  <a:lnTo>
                    <a:pt x="3888358" y="368"/>
                  </a:lnTo>
                  <a:lnTo>
                    <a:pt x="18143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87" name="Google Shape;387;p6"/>
            <p:cNvSpPr/>
            <p:nvPr/>
          </p:nvSpPr>
          <p:spPr>
            <a:xfrm>
              <a:off x="4663084" y="1050838"/>
              <a:ext cx="4069715" cy="3018155"/>
            </a:xfrm>
            <a:custGeom>
              <a:rect b="b" l="l" r="r" t="t"/>
              <a:pathLst>
                <a:path extrusionOk="0" h="3018154" w="4069715">
                  <a:moveTo>
                    <a:pt x="355" y="181089"/>
                  </a:moveTo>
                  <a:lnTo>
                    <a:pt x="1896" y="157449"/>
                  </a:lnTo>
                  <a:lnTo>
                    <a:pt x="6475" y="134285"/>
                  </a:lnTo>
                  <a:lnTo>
                    <a:pt x="24472" y="90728"/>
                  </a:lnTo>
                  <a:lnTo>
                    <a:pt x="53413" y="53105"/>
                  </a:lnTo>
                  <a:lnTo>
                    <a:pt x="90716" y="24130"/>
                  </a:lnTo>
                  <a:lnTo>
                    <a:pt x="134593" y="6121"/>
                  </a:lnTo>
                  <a:lnTo>
                    <a:pt x="181432" y="0"/>
                  </a:lnTo>
                  <a:lnTo>
                    <a:pt x="3888358" y="368"/>
                  </a:lnTo>
                  <a:lnTo>
                    <a:pt x="3935153" y="6488"/>
                  </a:lnTo>
                  <a:lnTo>
                    <a:pt x="3978719" y="24485"/>
                  </a:lnTo>
                  <a:lnTo>
                    <a:pt x="4016333" y="53416"/>
                  </a:lnTo>
                  <a:lnTo>
                    <a:pt x="4045318" y="90728"/>
                  </a:lnTo>
                  <a:lnTo>
                    <a:pt x="4063315" y="134596"/>
                  </a:lnTo>
                  <a:lnTo>
                    <a:pt x="4069435" y="181444"/>
                  </a:lnTo>
                  <a:lnTo>
                    <a:pt x="4069435" y="2836799"/>
                  </a:lnTo>
                  <a:lnTo>
                    <a:pt x="4067894" y="2860438"/>
                  </a:lnTo>
                  <a:lnTo>
                    <a:pt x="4063315" y="2883603"/>
                  </a:lnTo>
                  <a:lnTo>
                    <a:pt x="4045318" y="2927159"/>
                  </a:lnTo>
                  <a:lnTo>
                    <a:pt x="4016378" y="2964783"/>
                  </a:lnTo>
                  <a:lnTo>
                    <a:pt x="3979075" y="2993758"/>
                  </a:lnTo>
                  <a:lnTo>
                    <a:pt x="3935198" y="3011766"/>
                  </a:lnTo>
                  <a:lnTo>
                    <a:pt x="3888358" y="3017888"/>
                  </a:lnTo>
                  <a:lnTo>
                    <a:pt x="181076" y="3017888"/>
                  </a:lnTo>
                  <a:lnTo>
                    <a:pt x="134272" y="3011766"/>
                  </a:lnTo>
                  <a:lnTo>
                    <a:pt x="90716" y="2993758"/>
                  </a:lnTo>
                  <a:lnTo>
                    <a:pt x="53092" y="2964829"/>
                  </a:lnTo>
                  <a:lnTo>
                    <a:pt x="24117" y="2927527"/>
                  </a:lnTo>
                  <a:lnTo>
                    <a:pt x="6119" y="2883649"/>
                  </a:lnTo>
                  <a:lnTo>
                    <a:pt x="0" y="2836799"/>
                  </a:lnTo>
                  <a:lnTo>
                    <a:pt x="355" y="181089"/>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388" name="Google Shape;388;p6"/>
          <p:cNvSpPr txBox="1"/>
          <p:nvPr/>
        </p:nvSpPr>
        <p:spPr>
          <a:xfrm>
            <a:off x="581304" y="674181"/>
            <a:ext cx="5708650" cy="695325"/>
          </a:xfrm>
          <a:prstGeom prst="rect">
            <a:avLst/>
          </a:prstGeom>
          <a:noFill/>
          <a:ln>
            <a:noFill/>
          </a:ln>
        </p:spPr>
        <p:txBody>
          <a:bodyPr anchorCtr="0" anchor="t" bIns="0" lIns="0" spcFirstLastPara="1" rIns="0" wrap="square" tIns="12700">
            <a:spAutoFit/>
          </a:bodyPr>
          <a:lstStyle/>
          <a:p>
            <a:pPr indent="0" lvl="0" marL="1510665" rtl="0" algn="l">
              <a:lnSpc>
                <a:spcPct val="100000"/>
              </a:lnSpc>
              <a:spcBef>
                <a:spcPts val="0"/>
              </a:spcBef>
              <a:spcAft>
                <a:spcPts val="0"/>
              </a:spcAft>
              <a:buNone/>
            </a:pPr>
            <a:r>
              <a:rPr i="1" lang="en-US" sz="1300">
                <a:solidFill>
                  <a:srgbClr val="0E756D"/>
                </a:solidFill>
                <a:latin typeface="Cambria"/>
                <a:ea typeface="Cambria"/>
                <a:cs typeface="Cambria"/>
                <a:sym typeface="Cambria"/>
              </a:rPr>
              <a:t>Shuffle the order and you change, or destroy, the meaning</a:t>
            </a:r>
            <a:endParaRPr sz="1300">
              <a:latin typeface="Cambria"/>
              <a:ea typeface="Cambria"/>
              <a:cs typeface="Cambria"/>
              <a:sym typeface="Cambria"/>
            </a:endParaRPr>
          </a:p>
          <a:p>
            <a:pPr indent="0" lvl="0" marL="0" rtl="0" algn="l">
              <a:lnSpc>
                <a:spcPct val="100000"/>
              </a:lnSpc>
              <a:spcBef>
                <a:spcPts val="509"/>
              </a:spcBef>
              <a:spcAft>
                <a:spcPts val="0"/>
              </a:spcAft>
              <a:buNone/>
            </a:pPr>
            <a:r>
              <a:t/>
            </a:r>
            <a:endParaRPr sz="1300">
              <a:latin typeface="Cambria"/>
              <a:ea typeface="Cambria"/>
              <a:cs typeface="Cambria"/>
              <a:sym typeface="Cambria"/>
            </a:endParaRPr>
          </a:p>
          <a:p>
            <a:pPr indent="0" lvl="0" marL="12700" rtl="0" algn="l">
              <a:lnSpc>
                <a:spcPct val="100000"/>
              </a:lnSpc>
              <a:spcBef>
                <a:spcPts val="0"/>
              </a:spcBef>
              <a:spcAft>
                <a:spcPts val="0"/>
              </a:spcAft>
              <a:buNone/>
            </a:pPr>
            <a:r>
              <a:rPr b="1" lang="en-US" sz="1400">
                <a:solidFill>
                  <a:srgbClr val="1D3FAE"/>
                </a:solidFill>
                <a:latin typeface="Calibri"/>
                <a:ea typeface="Calibri"/>
                <a:cs typeface="Calibri"/>
                <a:sym typeface="Calibri"/>
              </a:rPr>
              <a:t>In language	</a:t>
            </a:r>
            <a:r>
              <a:rPr b="1" lang="en-US" sz="1400">
                <a:solidFill>
                  <a:srgbClr val="6C27D8"/>
                </a:solidFill>
                <a:latin typeface="Calibri"/>
                <a:ea typeface="Calibri"/>
                <a:cs typeface="Calibri"/>
                <a:sym typeface="Calibri"/>
              </a:rPr>
              <a:t>In signals over time</a:t>
            </a:r>
            <a:endParaRPr sz="1400">
              <a:latin typeface="Calibri"/>
              <a:ea typeface="Calibri"/>
              <a:cs typeface="Calibri"/>
              <a:sym typeface="Calibri"/>
            </a:endParaRPr>
          </a:p>
        </p:txBody>
      </p:sp>
      <p:sp>
        <p:nvSpPr>
          <p:cNvPr id="389" name="Google Shape;389;p6"/>
          <p:cNvSpPr/>
          <p:nvPr/>
        </p:nvSpPr>
        <p:spPr>
          <a:xfrm>
            <a:off x="4845964" y="1663918"/>
            <a:ext cx="329565" cy="329565"/>
          </a:xfrm>
          <a:custGeom>
            <a:rect b="b" l="l" r="r" t="t"/>
            <a:pathLst>
              <a:path extrusionOk="0" h="329564" w="329564">
                <a:moveTo>
                  <a:pt x="164515" y="0"/>
                </a:moveTo>
                <a:lnTo>
                  <a:pt x="121989" y="5583"/>
                </a:lnTo>
                <a:lnTo>
                  <a:pt x="82435" y="21958"/>
                </a:lnTo>
                <a:lnTo>
                  <a:pt x="48148" y="48150"/>
                </a:lnTo>
                <a:lnTo>
                  <a:pt x="21958" y="82448"/>
                </a:lnTo>
                <a:lnTo>
                  <a:pt x="5578" y="122002"/>
                </a:lnTo>
                <a:lnTo>
                  <a:pt x="0" y="164528"/>
                </a:lnTo>
                <a:lnTo>
                  <a:pt x="1405" y="186011"/>
                </a:lnTo>
                <a:lnTo>
                  <a:pt x="12451" y="227502"/>
                </a:lnTo>
                <a:lnTo>
                  <a:pt x="33940" y="264812"/>
                </a:lnTo>
                <a:lnTo>
                  <a:pt x="64381" y="295109"/>
                </a:lnTo>
                <a:lnTo>
                  <a:pt x="101690" y="316592"/>
                </a:lnTo>
                <a:lnTo>
                  <a:pt x="143032" y="327638"/>
                </a:lnTo>
                <a:lnTo>
                  <a:pt x="164515" y="329044"/>
                </a:lnTo>
                <a:lnTo>
                  <a:pt x="186004" y="327638"/>
                </a:lnTo>
                <a:lnTo>
                  <a:pt x="227491" y="316592"/>
                </a:lnTo>
                <a:lnTo>
                  <a:pt x="264800" y="295109"/>
                </a:lnTo>
                <a:lnTo>
                  <a:pt x="295096" y="264812"/>
                </a:lnTo>
                <a:lnTo>
                  <a:pt x="316580" y="227502"/>
                </a:lnTo>
                <a:lnTo>
                  <a:pt x="327625" y="186011"/>
                </a:lnTo>
                <a:lnTo>
                  <a:pt x="329031" y="164528"/>
                </a:lnTo>
                <a:lnTo>
                  <a:pt x="327625" y="143045"/>
                </a:lnTo>
                <a:lnTo>
                  <a:pt x="316580" y="101702"/>
                </a:lnTo>
                <a:lnTo>
                  <a:pt x="295096" y="64386"/>
                </a:lnTo>
                <a:lnTo>
                  <a:pt x="264800" y="33940"/>
                </a:lnTo>
                <a:lnTo>
                  <a:pt x="227491" y="12456"/>
                </a:lnTo>
                <a:lnTo>
                  <a:pt x="186004" y="1407"/>
                </a:lnTo>
                <a:lnTo>
                  <a:pt x="164515" y="0"/>
                </a:lnTo>
                <a:close/>
              </a:path>
            </a:pathLst>
          </a:custGeom>
          <a:solidFill>
            <a:srgbClr val="6C27D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90" name="Google Shape;390;p6"/>
          <p:cNvSpPr txBox="1"/>
          <p:nvPr/>
        </p:nvSpPr>
        <p:spPr>
          <a:xfrm>
            <a:off x="4959616" y="1730651"/>
            <a:ext cx="3629025" cy="378460"/>
          </a:xfrm>
          <a:prstGeom prst="rect">
            <a:avLst/>
          </a:prstGeom>
          <a:noFill/>
          <a:ln>
            <a:noFill/>
          </a:ln>
        </p:spPr>
        <p:txBody>
          <a:bodyPr anchorCtr="0" anchor="t" bIns="0" lIns="0" spcFirstLastPara="1" rIns="0" wrap="square" tIns="2525">
            <a:spAutoFit/>
          </a:bodyPr>
          <a:lstStyle/>
          <a:p>
            <a:pPr indent="-331470" lvl="0" marL="343535" marR="5080" rtl="0" algn="l">
              <a:lnSpc>
                <a:spcPct val="103400"/>
              </a:lnSpc>
              <a:spcBef>
                <a:spcPts val="0"/>
              </a:spcBef>
              <a:spcAft>
                <a:spcPts val="0"/>
              </a:spcAft>
              <a:buNone/>
            </a:pPr>
            <a:r>
              <a:rPr b="1" lang="en-US" sz="1200">
                <a:solidFill>
                  <a:srgbClr val="FFFFFF"/>
                </a:solidFill>
                <a:latin typeface="Calibri"/>
                <a:ea typeface="Calibri"/>
                <a:cs typeface="Calibri"/>
                <a:sym typeface="Calibri"/>
              </a:rPr>
              <a:t>1	</a:t>
            </a:r>
            <a:r>
              <a:rPr b="1" lang="en-US" sz="1100">
                <a:solidFill>
                  <a:srgbClr val="6C27D8"/>
                </a:solidFill>
                <a:latin typeface="Calibri"/>
                <a:ea typeface="Calibri"/>
                <a:cs typeface="Calibri"/>
                <a:sym typeface="Calibri"/>
              </a:rPr>
              <a:t>ECG: </a:t>
            </a:r>
            <a:r>
              <a:rPr lang="en-US" sz="1100">
                <a:solidFill>
                  <a:srgbClr val="1E2836"/>
                </a:solidFill>
                <a:latin typeface="Calibri"/>
                <a:ea typeface="Calibri"/>
                <a:cs typeface="Calibri"/>
                <a:sym typeface="Calibri"/>
              </a:rPr>
              <a:t>One irregular heartbeat is only "irregular" compared with the beats before it.</a:t>
            </a:r>
            <a:endParaRPr sz="1100">
              <a:latin typeface="Calibri"/>
              <a:ea typeface="Calibri"/>
              <a:cs typeface="Calibri"/>
              <a:sym typeface="Calibri"/>
            </a:endParaRPr>
          </a:p>
        </p:txBody>
      </p:sp>
      <p:sp>
        <p:nvSpPr>
          <p:cNvPr id="391" name="Google Shape;391;p6"/>
          <p:cNvSpPr/>
          <p:nvPr/>
        </p:nvSpPr>
        <p:spPr>
          <a:xfrm>
            <a:off x="4845964" y="2468526"/>
            <a:ext cx="329565" cy="329565"/>
          </a:xfrm>
          <a:custGeom>
            <a:rect b="b" l="l" r="r" t="t"/>
            <a:pathLst>
              <a:path extrusionOk="0" h="329564" w="329564">
                <a:moveTo>
                  <a:pt x="164515" y="0"/>
                </a:moveTo>
                <a:lnTo>
                  <a:pt x="121989" y="5578"/>
                </a:lnTo>
                <a:lnTo>
                  <a:pt x="82435" y="21958"/>
                </a:lnTo>
                <a:lnTo>
                  <a:pt x="48148" y="48148"/>
                </a:lnTo>
                <a:lnTo>
                  <a:pt x="21958" y="82435"/>
                </a:lnTo>
                <a:lnTo>
                  <a:pt x="5578" y="121989"/>
                </a:lnTo>
                <a:lnTo>
                  <a:pt x="0" y="164515"/>
                </a:lnTo>
                <a:lnTo>
                  <a:pt x="1405" y="185999"/>
                </a:lnTo>
                <a:lnTo>
                  <a:pt x="12451" y="227341"/>
                </a:lnTo>
                <a:lnTo>
                  <a:pt x="33940" y="264650"/>
                </a:lnTo>
                <a:lnTo>
                  <a:pt x="64381" y="295091"/>
                </a:lnTo>
                <a:lnTo>
                  <a:pt x="101690" y="316580"/>
                </a:lnTo>
                <a:lnTo>
                  <a:pt x="143032" y="327625"/>
                </a:lnTo>
                <a:lnTo>
                  <a:pt x="164515" y="329031"/>
                </a:lnTo>
                <a:lnTo>
                  <a:pt x="186004" y="327625"/>
                </a:lnTo>
                <a:lnTo>
                  <a:pt x="227491" y="316580"/>
                </a:lnTo>
                <a:lnTo>
                  <a:pt x="264800" y="295091"/>
                </a:lnTo>
                <a:lnTo>
                  <a:pt x="295096" y="264650"/>
                </a:lnTo>
                <a:lnTo>
                  <a:pt x="316580" y="227341"/>
                </a:lnTo>
                <a:lnTo>
                  <a:pt x="327625" y="185999"/>
                </a:lnTo>
                <a:lnTo>
                  <a:pt x="329031" y="164515"/>
                </a:lnTo>
                <a:lnTo>
                  <a:pt x="327625" y="143032"/>
                </a:lnTo>
                <a:lnTo>
                  <a:pt x="316580" y="101690"/>
                </a:lnTo>
                <a:lnTo>
                  <a:pt x="295096" y="64381"/>
                </a:lnTo>
                <a:lnTo>
                  <a:pt x="264800" y="33940"/>
                </a:lnTo>
                <a:lnTo>
                  <a:pt x="227491" y="12451"/>
                </a:lnTo>
                <a:lnTo>
                  <a:pt x="186004" y="1405"/>
                </a:lnTo>
                <a:lnTo>
                  <a:pt x="164515" y="0"/>
                </a:lnTo>
                <a:close/>
              </a:path>
            </a:pathLst>
          </a:custGeom>
          <a:solidFill>
            <a:srgbClr val="6C27D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92" name="Google Shape;392;p6"/>
          <p:cNvSpPr txBox="1"/>
          <p:nvPr/>
        </p:nvSpPr>
        <p:spPr>
          <a:xfrm>
            <a:off x="4959616" y="2535234"/>
            <a:ext cx="3624579" cy="378460"/>
          </a:xfrm>
          <a:prstGeom prst="rect">
            <a:avLst/>
          </a:prstGeom>
          <a:noFill/>
          <a:ln>
            <a:noFill/>
          </a:ln>
        </p:spPr>
        <p:txBody>
          <a:bodyPr anchorCtr="0" anchor="t" bIns="0" lIns="0" spcFirstLastPara="1" rIns="0" wrap="square" tIns="2525">
            <a:spAutoFit/>
          </a:bodyPr>
          <a:lstStyle/>
          <a:p>
            <a:pPr indent="-331470" lvl="0" marL="343535" marR="5080" rtl="0" algn="l">
              <a:lnSpc>
                <a:spcPct val="103400"/>
              </a:lnSpc>
              <a:spcBef>
                <a:spcPts val="0"/>
              </a:spcBef>
              <a:spcAft>
                <a:spcPts val="0"/>
              </a:spcAft>
              <a:buNone/>
            </a:pPr>
            <a:r>
              <a:rPr b="1" lang="en-US" sz="1200">
                <a:solidFill>
                  <a:srgbClr val="FFFFFF"/>
                </a:solidFill>
                <a:latin typeface="Calibri"/>
                <a:ea typeface="Calibri"/>
                <a:cs typeface="Calibri"/>
                <a:sym typeface="Calibri"/>
              </a:rPr>
              <a:t>2	</a:t>
            </a:r>
            <a:r>
              <a:rPr b="1" lang="en-US" sz="1100">
                <a:solidFill>
                  <a:srgbClr val="6C27D8"/>
                </a:solidFill>
                <a:latin typeface="Calibri"/>
                <a:ea typeface="Calibri"/>
                <a:cs typeface="Calibri"/>
                <a:sym typeface="Calibri"/>
              </a:rPr>
              <a:t>UPI fraud: </a:t>
            </a:r>
            <a:r>
              <a:rPr lang="en-US" sz="1100">
                <a:solidFill>
                  <a:srgbClr val="1E2836"/>
                </a:solidFill>
                <a:latin typeface="Calibri"/>
                <a:ea typeface="Calibri"/>
                <a:cs typeface="Calibri"/>
                <a:sym typeface="Calibri"/>
              </a:rPr>
              <a:t>₹50, ₹120, ₹80 ... then ₹49,999 at 3 AM from a new phone. Suspicious only because of the history.</a:t>
            </a:r>
            <a:endParaRPr sz="1100">
              <a:latin typeface="Calibri"/>
              <a:ea typeface="Calibri"/>
              <a:cs typeface="Calibri"/>
              <a:sym typeface="Calibri"/>
            </a:endParaRPr>
          </a:p>
        </p:txBody>
      </p:sp>
      <p:sp>
        <p:nvSpPr>
          <p:cNvPr id="393" name="Google Shape;393;p6"/>
          <p:cNvSpPr/>
          <p:nvPr/>
        </p:nvSpPr>
        <p:spPr>
          <a:xfrm>
            <a:off x="4845964" y="3273122"/>
            <a:ext cx="329565" cy="329565"/>
          </a:xfrm>
          <a:custGeom>
            <a:rect b="b" l="l" r="r" t="t"/>
            <a:pathLst>
              <a:path extrusionOk="0" h="329564" w="329564">
                <a:moveTo>
                  <a:pt x="164515" y="0"/>
                </a:moveTo>
                <a:lnTo>
                  <a:pt x="121989" y="5578"/>
                </a:lnTo>
                <a:lnTo>
                  <a:pt x="82435" y="21958"/>
                </a:lnTo>
                <a:lnTo>
                  <a:pt x="48148" y="48104"/>
                </a:lnTo>
                <a:lnTo>
                  <a:pt x="21958" y="82080"/>
                </a:lnTo>
                <a:lnTo>
                  <a:pt x="5578" y="121950"/>
                </a:lnTo>
                <a:lnTo>
                  <a:pt x="0" y="164515"/>
                </a:lnTo>
                <a:lnTo>
                  <a:pt x="1405" y="185999"/>
                </a:lnTo>
                <a:lnTo>
                  <a:pt x="12451" y="227341"/>
                </a:lnTo>
                <a:lnTo>
                  <a:pt x="33940" y="264657"/>
                </a:lnTo>
                <a:lnTo>
                  <a:pt x="64381" y="295103"/>
                </a:lnTo>
                <a:lnTo>
                  <a:pt x="101690" y="316587"/>
                </a:lnTo>
                <a:lnTo>
                  <a:pt x="143032" y="327636"/>
                </a:lnTo>
                <a:lnTo>
                  <a:pt x="164515" y="329044"/>
                </a:lnTo>
                <a:lnTo>
                  <a:pt x="186004" y="327636"/>
                </a:lnTo>
                <a:lnTo>
                  <a:pt x="227491" y="316587"/>
                </a:lnTo>
                <a:lnTo>
                  <a:pt x="264800" y="295103"/>
                </a:lnTo>
                <a:lnTo>
                  <a:pt x="295096" y="264657"/>
                </a:lnTo>
                <a:lnTo>
                  <a:pt x="316580" y="227341"/>
                </a:lnTo>
                <a:lnTo>
                  <a:pt x="327625" y="185999"/>
                </a:lnTo>
                <a:lnTo>
                  <a:pt x="329031" y="164515"/>
                </a:lnTo>
                <a:lnTo>
                  <a:pt x="327625" y="143032"/>
                </a:lnTo>
                <a:lnTo>
                  <a:pt x="316580" y="101541"/>
                </a:lnTo>
                <a:lnTo>
                  <a:pt x="295096" y="64231"/>
                </a:lnTo>
                <a:lnTo>
                  <a:pt x="264800" y="33934"/>
                </a:lnTo>
                <a:lnTo>
                  <a:pt x="227491" y="12451"/>
                </a:lnTo>
                <a:lnTo>
                  <a:pt x="186004" y="1405"/>
                </a:lnTo>
                <a:lnTo>
                  <a:pt x="164515" y="0"/>
                </a:lnTo>
                <a:close/>
              </a:path>
            </a:pathLst>
          </a:custGeom>
          <a:solidFill>
            <a:srgbClr val="6C27D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94" name="Google Shape;394;p6"/>
          <p:cNvSpPr txBox="1"/>
          <p:nvPr/>
        </p:nvSpPr>
        <p:spPr>
          <a:xfrm>
            <a:off x="4959616" y="3339830"/>
            <a:ext cx="3637915" cy="378460"/>
          </a:xfrm>
          <a:prstGeom prst="rect">
            <a:avLst/>
          </a:prstGeom>
          <a:noFill/>
          <a:ln>
            <a:noFill/>
          </a:ln>
        </p:spPr>
        <p:txBody>
          <a:bodyPr anchorCtr="0" anchor="t" bIns="0" lIns="0" spcFirstLastPara="1" rIns="0" wrap="square" tIns="2525">
            <a:spAutoFit/>
          </a:bodyPr>
          <a:lstStyle/>
          <a:p>
            <a:pPr indent="-331470" lvl="0" marL="343535" marR="5080" rtl="0" algn="l">
              <a:lnSpc>
                <a:spcPct val="103400"/>
              </a:lnSpc>
              <a:spcBef>
                <a:spcPts val="0"/>
              </a:spcBef>
              <a:spcAft>
                <a:spcPts val="0"/>
              </a:spcAft>
              <a:buNone/>
            </a:pPr>
            <a:r>
              <a:rPr b="1" lang="en-US" sz="1200">
                <a:solidFill>
                  <a:srgbClr val="FFFFFF"/>
                </a:solidFill>
                <a:latin typeface="Calibri"/>
                <a:ea typeface="Calibri"/>
                <a:cs typeface="Calibri"/>
                <a:sym typeface="Calibri"/>
              </a:rPr>
              <a:t>3	</a:t>
            </a:r>
            <a:r>
              <a:rPr b="1" lang="en-US" sz="1100">
                <a:solidFill>
                  <a:srgbClr val="6C27D8"/>
                </a:solidFill>
                <a:latin typeface="Calibri"/>
                <a:ea typeface="Calibri"/>
                <a:cs typeface="Calibri"/>
                <a:sym typeface="Calibri"/>
              </a:rPr>
              <a:t>Cricket: </a:t>
            </a:r>
            <a:r>
              <a:rPr lang="en-US" sz="1100">
                <a:solidFill>
                  <a:srgbClr val="1E2836"/>
                </a:solidFill>
                <a:latin typeface="Calibri"/>
                <a:ea typeface="Calibri"/>
                <a:cs typeface="Calibri"/>
                <a:sym typeface="Calibri"/>
              </a:rPr>
              <a:t>"6 needed off 1 ball" and "6 needed off 120 balls" are the same numbers, very different heartbeats.</a:t>
            </a:r>
            <a:endParaRPr sz="1100">
              <a:latin typeface="Calibri"/>
              <a:ea typeface="Calibri"/>
              <a:cs typeface="Calibri"/>
              <a:sym typeface="Calibri"/>
            </a:endParaRPr>
          </a:p>
        </p:txBody>
      </p:sp>
      <p:grpSp>
        <p:nvGrpSpPr>
          <p:cNvPr id="395" name="Google Shape;395;p6"/>
          <p:cNvGrpSpPr/>
          <p:nvPr/>
        </p:nvGrpSpPr>
        <p:grpSpPr>
          <a:xfrm>
            <a:off x="411124" y="4205886"/>
            <a:ext cx="8321040" cy="548640"/>
            <a:chOff x="411124" y="4205886"/>
            <a:chExt cx="8321040" cy="548640"/>
          </a:xfrm>
        </p:grpSpPr>
        <p:sp>
          <p:nvSpPr>
            <p:cNvPr id="396" name="Google Shape;396;p6"/>
            <p:cNvSpPr/>
            <p:nvPr/>
          </p:nvSpPr>
          <p:spPr>
            <a:xfrm>
              <a:off x="411124" y="4205886"/>
              <a:ext cx="8321040" cy="548640"/>
            </a:xfrm>
            <a:custGeom>
              <a:rect b="b" l="l" r="r" t="t"/>
              <a:pathLst>
                <a:path extrusionOk="0" h="548639" w="8321040">
                  <a:moveTo>
                    <a:pt x="8293671" y="0"/>
                  </a:moveTo>
                  <a:lnTo>
                    <a:pt x="27000" y="0"/>
                  </a:lnTo>
                  <a:lnTo>
                    <a:pt x="21590" y="1435"/>
                  </a:lnTo>
                  <a:lnTo>
                    <a:pt x="11518" y="7200"/>
                  </a:lnTo>
                  <a:lnTo>
                    <a:pt x="7200" y="11150"/>
                  </a:lnTo>
                  <a:lnTo>
                    <a:pt x="1435" y="21234"/>
                  </a:lnTo>
                  <a:lnTo>
                    <a:pt x="0" y="27000"/>
                  </a:lnTo>
                  <a:lnTo>
                    <a:pt x="0" y="521639"/>
                  </a:lnTo>
                  <a:lnTo>
                    <a:pt x="27000" y="548639"/>
                  </a:lnTo>
                  <a:lnTo>
                    <a:pt x="8294039" y="548271"/>
                  </a:lnTo>
                  <a:lnTo>
                    <a:pt x="8321040" y="515518"/>
                  </a:lnTo>
                  <a:lnTo>
                    <a:pt x="8320676" y="32753"/>
                  </a:lnTo>
                  <a:lnTo>
                    <a:pt x="8293671" y="0"/>
                  </a:lnTo>
                  <a:close/>
                </a:path>
              </a:pathLst>
            </a:custGeom>
            <a:solidFill>
              <a:srgbClr val="FFF6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97" name="Google Shape;397;p6"/>
            <p:cNvSpPr/>
            <p:nvPr/>
          </p:nvSpPr>
          <p:spPr>
            <a:xfrm>
              <a:off x="411124" y="4205886"/>
              <a:ext cx="8321040" cy="548640"/>
            </a:xfrm>
            <a:custGeom>
              <a:rect b="b" l="l" r="r" t="t"/>
              <a:pathLst>
                <a:path extrusionOk="0" h="548639" w="8321040">
                  <a:moveTo>
                    <a:pt x="0" y="32753"/>
                  </a:moveTo>
                  <a:lnTo>
                    <a:pt x="0" y="27000"/>
                  </a:lnTo>
                  <a:lnTo>
                    <a:pt x="1435" y="21234"/>
                  </a:lnTo>
                  <a:lnTo>
                    <a:pt x="4318" y="16192"/>
                  </a:lnTo>
                  <a:lnTo>
                    <a:pt x="7200" y="11150"/>
                  </a:lnTo>
                  <a:lnTo>
                    <a:pt x="11518" y="7200"/>
                  </a:lnTo>
                  <a:lnTo>
                    <a:pt x="16560" y="4317"/>
                  </a:lnTo>
                  <a:lnTo>
                    <a:pt x="21590" y="1435"/>
                  </a:lnTo>
                  <a:lnTo>
                    <a:pt x="27000" y="0"/>
                  </a:lnTo>
                  <a:lnTo>
                    <a:pt x="32753" y="0"/>
                  </a:lnTo>
                  <a:lnTo>
                    <a:pt x="8287918" y="0"/>
                  </a:lnTo>
                  <a:lnTo>
                    <a:pt x="8293671" y="0"/>
                  </a:lnTo>
                  <a:lnTo>
                    <a:pt x="8299437" y="1435"/>
                  </a:lnTo>
                  <a:lnTo>
                    <a:pt x="8304479" y="4317"/>
                  </a:lnTo>
                  <a:lnTo>
                    <a:pt x="8309521" y="7200"/>
                  </a:lnTo>
                  <a:lnTo>
                    <a:pt x="8313470" y="11518"/>
                  </a:lnTo>
                  <a:lnTo>
                    <a:pt x="8316353" y="16560"/>
                  </a:lnTo>
                  <a:lnTo>
                    <a:pt x="8319236" y="21589"/>
                  </a:lnTo>
                  <a:lnTo>
                    <a:pt x="8320671" y="27000"/>
                  </a:lnTo>
                  <a:lnTo>
                    <a:pt x="8320671" y="32753"/>
                  </a:lnTo>
                  <a:lnTo>
                    <a:pt x="8321040" y="515518"/>
                  </a:lnTo>
                  <a:lnTo>
                    <a:pt x="8321040" y="521271"/>
                  </a:lnTo>
                  <a:lnTo>
                    <a:pt x="8319592" y="527037"/>
                  </a:lnTo>
                  <a:lnTo>
                    <a:pt x="8316709" y="532079"/>
                  </a:lnTo>
                  <a:lnTo>
                    <a:pt x="8313839" y="537121"/>
                  </a:lnTo>
                  <a:lnTo>
                    <a:pt x="8309521" y="541070"/>
                  </a:lnTo>
                  <a:lnTo>
                    <a:pt x="8304479" y="543953"/>
                  </a:lnTo>
                  <a:lnTo>
                    <a:pt x="8299437" y="546836"/>
                  </a:lnTo>
                  <a:lnTo>
                    <a:pt x="8294039" y="548271"/>
                  </a:lnTo>
                  <a:lnTo>
                    <a:pt x="8288274" y="548271"/>
                  </a:lnTo>
                  <a:lnTo>
                    <a:pt x="32753" y="548639"/>
                  </a:lnTo>
                  <a:lnTo>
                    <a:pt x="27000" y="548639"/>
                  </a:lnTo>
                  <a:lnTo>
                    <a:pt x="21234" y="547192"/>
                  </a:lnTo>
                  <a:lnTo>
                    <a:pt x="16192" y="544309"/>
                  </a:lnTo>
                  <a:lnTo>
                    <a:pt x="11150" y="541439"/>
                  </a:lnTo>
                  <a:lnTo>
                    <a:pt x="7200" y="537121"/>
                  </a:lnTo>
                  <a:lnTo>
                    <a:pt x="4318" y="532079"/>
                  </a:lnTo>
                  <a:lnTo>
                    <a:pt x="1435" y="527037"/>
                  </a:lnTo>
                  <a:lnTo>
                    <a:pt x="0" y="521639"/>
                  </a:lnTo>
                  <a:lnTo>
                    <a:pt x="0" y="515873"/>
                  </a:lnTo>
                  <a:lnTo>
                    <a:pt x="0" y="32753"/>
                  </a:lnTo>
                  <a:close/>
                </a:path>
              </a:pathLst>
            </a:custGeom>
            <a:noFill/>
            <a:ln cap="flat" cmpd="sng" w="12575">
              <a:solidFill>
                <a:srgbClr val="F2D17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398" name="Google Shape;398;p6"/>
          <p:cNvSpPr txBox="1"/>
          <p:nvPr/>
        </p:nvSpPr>
        <p:spPr>
          <a:xfrm>
            <a:off x="517575" y="4291814"/>
            <a:ext cx="8081645" cy="37655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1150">
                <a:solidFill>
                  <a:srgbClr val="913F0D"/>
                </a:solidFill>
                <a:latin typeface="Calibri"/>
                <a:ea typeface="Calibri"/>
                <a:cs typeface="Calibri"/>
                <a:sym typeface="Calibri"/>
              </a:rPr>
              <a:t>Light moment: </a:t>
            </a:r>
            <a:r>
              <a:rPr i="1" lang="en-US" sz="1150">
                <a:solidFill>
                  <a:srgbClr val="1E2836"/>
                </a:solidFill>
                <a:latin typeface="Cambria"/>
                <a:ea typeface="Cambria"/>
                <a:cs typeface="Cambria"/>
                <a:sym typeface="Cambria"/>
              </a:rPr>
              <a:t>A model that ignores order is like reading your WhatsApp family group sorted alphabetically. All the messages are there; the story is gone.</a:t>
            </a:r>
            <a:endParaRPr sz="1150">
              <a:latin typeface="Cambria"/>
              <a:ea typeface="Cambria"/>
              <a:cs typeface="Cambria"/>
              <a:sym typeface="Cambria"/>
            </a:endParaRPr>
          </a:p>
        </p:txBody>
      </p:sp>
      <p:sp>
        <p:nvSpPr>
          <p:cNvPr id="399" name="Google Shape;399;p6"/>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1270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grpSp>
        <p:nvGrpSpPr>
          <p:cNvPr id="404" name="Google Shape;404;p7"/>
          <p:cNvGrpSpPr/>
          <p:nvPr/>
        </p:nvGrpSpPr>
        <p:grpSpPr>
          <a:xfrm>
            <a:off x="731164" y="14"/>
            <a:ext cx="8412467" cy="2560663"/>
            <a:chOff x="731164" y="14"/>
            <a:chExt cx="8412467" cy="2560663"/>
          </a:xfrm>
        </p:grpSpPr>
        <p:pic>
          <p:nvPicPr>
            <p:cNvPr id="405" name="Google Shape;405;p7"/>
            <p:cNvPicPr preferRelativeResize="0"/>
            <p:nvPr/>
          </p:nvPicPr>
          <p:blipFill rotWithShape="1">
            <a:blip r:embed="rId3">
              <a:alphaModFix/>
            </a:blip>
            <a:srcRect b="0" l="0" r="0" t="0"/>
            <a:stretch/>
          </p:blipFill>
          <p:spPr>
            <a:xfrm>
              <a:off x="8369274" y="14"/>
              <a:ext cx="774357" cy="866508"/>
            </a:xfrm>
            <a:prstGeom prst="rect">
              <a:avLst/>
            </a:prstGeom>
            <a:noFill/>
            <a:ln>
              <a:noFill/>
            </a:ln>
          </p:spPr>
        </p:pic>
        <p:sp>
          <p:nvSpPr>
            <p:cNvPr id="406" name="Google Shape;406;p7"/>
            <p:cNvSpPr/>
            <p:nvPr/>
          </p:nvSpPr>
          <p:spPr>
            <a:xfrm>
              <a:off x="2103120" y="2217599"/>
              <a:ext cx="5942965" cy="0"/>
            </a:xfrm>
            <a:custGeom>
              <a:rect b="b" l="l" r="r" t="t"/>
              <a:pathLst>
                <a:path extrusionOk="0" h="120000" w="5942965">
                  <a:moveTo>
                    <a:pt x="0" y="0"/>
                  </a:moveTo>
                  <a:lnTo>
                    <a:pt x="457200" y="0"/>
                  </a:lnTo>
                </a:path>
                <a:path extrusionOk="0" h="120000" w="5942965">
                  <a:moveTo>
                    <a:pt x="1828800" y="0"/>
                  </a:moveTo>
                  <a:lnTo>
                    <a:pt x="2286000" y="0"/>
                  </a:lnTo>
                </a:path>
                <a:path extrusionOk="0" h="120000" w="5942965">
                  <a:moveTo>
                    <a:pt x="3656876" y="0"/>
                  </a:moveTo>
                  <a:lnTo>
                    <a:pt x="4114076" y="0"/>
                  </a:lnTo>
                </a:path>
                <a:path extrusionOk="0" h="120000" w="5942965">
                  <a:moveTo>
                    <a:pt x="5485320" y="0"/>
                  </a:moveTo>
                  <a:lnTo>
                    <a:pt x="5942520" y="0"/>
                  </a:lnTo>
                </a:path>
              </a:pathLst>
            </a:custGeom>
            <a:noFill/>
            <a:ln cap="flat" cmpd="sng" w="25550">
              <a:solidFill>
                <a:srgbClr val="536D7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07" name="Google Shape;407;p7"/>
            <p:cNvSpPr/>
            <p:nvPr/>
          </p:nvSpPr>
          <p:spPr>
            <a:xfrm>
              <a:off x="731164" y="1874877"/>
              <a:ext cx="1371600" cy="685800"/>
            </a:xfrm>
            <a:custGeom>
              <a:rect b="b" l="l" r="r" t="t"/>
              <a:pathLst>
                <a:path extrusionOk="0" h="685800" w="1371600">
                  <a:moveTo>
                    <a:pt x="1371231" y="0"/>
                  </a:moveTo>
                  <a:lnTo>
                    <a:pt x="0" y="0"/>
                  </a:lnTo>
                  <a:lnTo>
                    <a:pt x="0" y="685444"/>
                  </a:lnTo>
                  <a:lnTo>
                    <a:pt x="685800" y="685444"/>
                  </a:lnTo>
                  <a:lnTo>
                    <a:pt x="1371231" y="685444"/>
                  </a:lnTo>
                  <a:lnTo>
                    <a:pt x="1371231" y="0"/>
                  </a:lnTo>
                  <a:close/>
                </a:path>
              </a:pathLst>
            </a:custGeom>
            <a:solidFill>
              <a:srgbClr val="0C1A2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descr="$PPTXTitle" id="408" name="Google Shape;408;p7"/>
          <p:cNvSpPr txBox="1"/>
          <p:nvPr>
            <p:ph type="title"/>
          </p:nvPr>
        </p:nvSpPr>
        <p:spPr>
          <a:xfrm>
            <a:off x="152184" y="63260"/>
            <a:ext cx="8839631" cy="879475"/>
          </a:xfrm>
          <a:prstGeom prst="rect">
            <a:avLst/>
          </a:prstGeom>
          <a:noFill/>
          <a:ln>
            <a:noFill/>
          </a:ln>
        </p:spPr>
        <p:txBody>
          <a:bodyPr anchorCtr="0" anchor="t" bIns="0" lIns="0" spcFirstLastPara="1" rIns="0" wrap="square" tIns="288075">
            <a:spAutoFit/>
          </a:bodyPr>
          <a:lstStyle/>
          <a:p>
            <a:pPr indent="0" lvl="0" marL="2298700" rtl="0" algn="l">
              <a:lnSpc>
                <a:spcPct val="100000"/>
              </a:lnSpc>
              <a:spcBef>
                <a:spcPts val="0"/>
              </a:spcBef>
              <a:spcAft>
                <a:spcPts val="0"/>
              </a:spcAft>
              <a:buNone/>
            </a:pPr>
            <a:r>
              <a:rPr lang="en-US" sz="2600">
                <a:solidFill>
                  <a:srgbClr val="000000"/>
                </a:solidFill>
              </a:rPr>
              <a:t>Vanilla RNN (No Gates)</a:t>
            </a:r>
            <a:endParaRPr sz="2600"/>
          </a:p>
        </p:txBody>
      </p:sp>
      <p:sp>
        <p:nvSpPr>
          <p:cNvPr id="409" name="Google Shape;409;p7"/>
          <p:cNvSpPr txBox="1"/>
          <p:nvPr/>
        </p:nvSpPr>
        <p:spPr>
          <a:xfrm>
            <a:off x="1186814" y="2052271"/>
            <a:ext cx="460375" cy="330835"/>
          </a:xfrm>
          <a:prstGeom prst="rect">
            <a:avLst/>
          </a:prstGeom>
          <a:noFill/>
          <a:ln>
            <a:noFill/>
          </a:ln>
        </p:spPr>
        <p:txBody>
          <a:bodyPr anchorCtr="0" anchor="t" bIns="0" lIns="0" spcFirstLastPara="1" rIns="0" wrap="square" tIns="12700">
            <a:spAutoFit/>
          </a:bodyPr>
          <a:lstStyle/>
          <a:p>
            <a:pPr indent="-152400" lvl="0" marL="164465" marR="5080" rtl="0" algn="l">
              <a:lnSpc>
                <a:spcPct val="100000"/>
              </a:lnSpc>
              <a:spcBef>
                <a:spcPts val="0"/>
              </a:spcBef>
              <a:spcAft>
                <a:spcPts val="0"/>
              </a:spcAft>
              <a:buNone/>
            </a:pPr>
            <a:r>
              <a:rPr lang="en-US" sz="1000">
                <a:solidFill>
                  <a:srgbClr val="FFFFFF"/>
                </a:solidFill>
                <a:latin typeface="Calibri"/>
                <a:ea typeface="Calibri"/>
                <a:cs typeface="Calibri"/>
                <a:sym typeface="Calibri"/>
              </a:rPr>
              <a:t>RNN cell h0</a:t>
            </a:r>
            <a:endParaRPr sz="1000">
              <a:latin typeface="Calibri"/>
              <a:ea typeface="Calibri"/>
              <a:cs typeface="Calibri"/>
              <a:sym typeface="Calibri"/>
            </a:endParaRPr>
          </a:p>
        </p:txBody>
      </p:sp>
      <p:sp>
        <p:nvSpPr>
          <p:cNvPr id="410" name="Google Shape;410;p7"/>
          <p:cNvSpPr/>
          <p:nvPr/>
        </p:nvSpPr>
        <p:spPr>
          <a:xfrm>
            <a:off x="2559964" y="1874877"/>
            <a:ext cx="1371600" cy="685800"/>
          </a:xfrm>
          <a:custGeom>
            <a:rect b="b" l="l" r="r" t="t"/>
            <a:pathLst>
              <a:path extrusionOk="0" h="685800" w="1371600">
                <a:moveTo>
                  <a:pt x="1371231" y="0"/>
                </a:moveTo>
                <a:lnTo>
                  <a:pt x="0" y="0"/>
                </a:lnTo>
                <a:lnTo>
                  <a:pt x="0" y="685444"/>
                </a:lnTo>
                <a:lnTo>
                  <a:pt x="685800" y="685444"/>
                </a:lnTo>
                <a:lnTo>
                  <a:pt x="1371231" y="685444"/>
                </a:lnTo>
                <a:lnTo>
                  <a:pt x="1371231" y="0"/>
                </a:lnTo>
                <a:close/>
              </a:path>
            </a:pathLst>
          </a:custGeom>
          <a:solidFill>
            <a:srgbClr val="0C1A2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11" name="Google Shape;411;p7"/>
          <p:cNvSpPr txBox="1"/>
          <p:nvPr/>
        </p:nvSpPr>
        <p:spPr>
          <a:xfrm>
            <a:off x="3015614" y="2052271"/>
            <a:ext cx="460375" cy="330835"/>
          </a:xfrm>
          <a:prstGeom prst="rect">
            <a:avLst/>
          </a:prstGeom>
          <a:noFill/>
          <a:ln>
            <a:noFill/>
          </a:ln>
        </p:spPr>
        <p:txBody>
          <a:bodyPr anchorCtr="0" anchor="t" bIns="0" lIns="0" spcFirstLastPara="1" rIns="0" wrap="square" tIns="12700">
            <a:spAutoFit/>
          </a:bodyPr>
          <a:lstStyle/>
          <a:p>
            <a:pPr indent="-152400" lvl="0" marL="164465" marR="5080" rtl="0" algn="l">
              <a:lnSpc>
                <a:spcPct val="100000"/>
              </a:lnSpc>
              <a:spcBef>
                <a:spcPts val="0"/>
              </a:spcBef>
              <a:spcAft>
                <a:spcPts val="0"/>
              </a:spcAft>
              <a:buNone/>
            </a:pPr>
            <a:r>
              <a:rPr lang="en-US" sz="1000">
                <a:solidFill>
                  <a:srgbClr val="FFFFFF"/>
                </a:solidFill>
                <a:latin typeface="Calibri"/>
                <a:ea typeface="Calibri"/>
                <a:cs typeface="Calibri"/>
                <a:sym typeface="Calibri"/>
              </a:rPr>
              <a:t>RNN cell h1</a:t>
            </a:r>
            <a:endParaRPr sz="1000">
              <a:latin typeface="Calibri"/>
              <a:ea typeface="Calibri"/>
              <a:cs typeface="Calibri"/>
              <a:sym typeface="Calibri"/>
            </a:endParaRPr>
          </a:p>
        </p:txBody>
      </p:sp>
      <p:sp>
        <p:nvSpPr>
          <p:cNvPr id="412" name="Google Shape;412;p7"/>
          <p:cNvSpPr/>
          <p:nvPr/>
        </p:nvSpPr>
        <p:spPr>
          <a:xfrm>
            <a:off x="4388396" y="1874877"/>
            <a:ext cx="1371600" cy="685800"/>
          </a:xfrm>
          <a:custGeom>
            <a:rect b="b" l="l" r="r" t="t"/>
            <a:pathLst>
              <a:path extrusionOk="0" h="685800" w="1371600">
                <a:moveTo>
                  <a:pt x="1371244" y="0"/>
                </a:moveTo>
                <a:lnTo>
                  <a:pt x="0" y="0"/>
                </a:lnTo>
                <a:lnTo>
                  <a:pt x="0" y="685444"/>
                </a:lnTo>
                <a:lnTo>
                  <a:pt x="685800" y="685444"/>
                </a:lnTo>
                <a:lnTo>
                  <a:pt x="1371244" y="685444"/>
                </a:lnTo>
                <a:lnTo>
                  <a:pt x="1371244" y="0"/>
                </a:lnTo>
                <a:close/>
              </a:path>
            </a:pathLst>
          </a:custGeom>
          <a:solidFill>
            <a:srgbClr val="0C1A2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13" name="Google Shape;413;p7"/>
          <p:cNvSpPr txBox="1"/>
          <p:nvPr/>
        </p:nvSpPr>
        <p:spPr>
          <a:xfrm>
            <a:off x="4844059" y="2052271"/>
            <a:ext cx="460375" cy="330835"/>
          </a:xfrm>
          <a:prstGeom prst="rect">
            <a:avLst/>
          </a:prstGeom>
          <a:noFill/>
          <a:ln>
            <a:noFill/>
          </a:ln>
        </p:spPr>
        <p:txBody>
          <a:bodyPr anchorCtr="0" anchor="t" bIns="0" lIns="0" spcFirstLastPara="1" rIns="0" wrap="square" tIns="12700">
            <a:spAutoFit/>
          </a:bodyPr>
          <a:lstStyle/>
          <a:p>
            <a:pPr indent="-152400" lvl="0" marL="164465" marR="5080" rtl="0" algn="l">
              <a:lnSpc>
                <a:spcPct val="100000"/>
              </a:lnSpc>
              <a:spcBef>
                <a:spcPts val="0"/>
              </a:spcBef>
              <a:spcAft>
                <a:spcPts val="0"/>
              </a:spcAft>
              <a:buNone/>
            </a:pPr>
            <a:r>
              <a:rPr lang="en-US" sz="1000">
                <a:solidFill>
                  <a:srgbClr val="FFFFFF"/>
                </a:solidFill>
                <a:latin typeface="Calibri"/>
                <a:ea typeface="Calibri"/>
                <a:cs typeface="Calibri"/>
                <a:sym typeface="Calibri"/>
              </a:rPr>
              <a:t>RNN cell h2</a:t>
            </a:r>
            <a:endParaRPr sz="1000">
              <a:latin typeface="Calibri"/>
              <a:ea typeface="Calibri"/>
              <a:cs typeface="Calibri"/>
              <a:sym typeface="Calibri"/>
            </a:endParaRPr>
          </a:p>
        </p:txBody>
      </p:sp>
      <p:sp>
        <p:nvSpPr>
          <p:cNvPr id="414" name="Google Shape;414;p7"/>
          <p:cNvSpPr/>
          <p:nvPr/>
        </p:nvSpPr>
        <p:spPr>
          <a:xfrm>
            <a:off x="6216840" y="1874877"/>
            <a:ext cx="1371600" cy="685800"/>
          </a:xfrm>
          <a:custGeom>
            <a:rect b="b" l="l" r="r" t="t"/>
            <a:pathLst>
              <a:path extrusionOk="0" h="685800" w="1371600">
                <a:moveTo>
                  <a:pt x="1371244" y="0"/>
                </a:moveTo>
                <a:lnTo>
                  <a:pt x="0" y="0"/>
                </a:lnTo>
                <a:lnTo>
                  <a:pt x="0" y="685444"/>
                </a:lnTo>
                <a:lnTo>
                  <a:pt x="685800" y="685444"/>
                </a:lnTo>
                <a:lnTo>
                  <a:pt x="1371244" y="685444"/>
                </a:lnTo>
                <a:lnTo>
                  <a:pt x="1371244" y="0"/>
                </a:lnTo>
                <a:close/>
              </a:path>
            </a:pathLst>
          </a:custGeom>
          <a:solidFill>
            <a:srgbClr val="0C1A2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15" name="Google Shape;415;p7"/>
          <p:cNvSpPr txBox="1"/>
          <p:nvPr/>
        </p:nvSpPr>
        <p:spPr>
          <a:xfrm>
            <a:off x="6672503" y="2052271"/>
            <a:ext cx="460375" cy="330835"/>
          </a:xfrm>
          <a:prstGeom prst="rect">
            <a:avLst/>
          </a:prstGeom>
          <a:noFill/>
          <a:ln>
            <a:noFill/>
          </a:ln>
        </p:spPr>
        <p:txBody>
          <a:bodyPr anchorCtr="0" anchor="t" bIns="0" lIns="0" spcFirstLastPara="1" rIns="0" wrap="square" tIns="12700">
            <a:spAutoFit/>
          </a:bodyPr>
          <a:lstStyle/>
          <a:p>
            <a:pPr indent="-152400" lvl="0" marL="164465" marR="5080" rtl="0" algn="l">
              <a:lnSpc>
                <a:spcPct val="100000"/>
              </a:lnSpc>
              <a:spcBef>
                <a:spcPts val="0"/>
              </a:spcBef>
              <a:spcAft>
                <a:spcPts val="0"/>
              </a:spcAft>
              <a:buNone/>
            </a:pPr>
            <a:r>
              <a:rPr lang="en-US" sz="1000">
                <a:solidFill>
                  <a:srgbClr val="FFFFFF"/>
                </a:solidFill>
                <a:latin typeface="Calibri"/>
                <a:ea typeface="Calibri"/>
                <a:cs typeface="Calibri"/>
                <a:sym typeface="Calibri"/>
              </a:rPr>
              <a:t>RNN cell h3</a:t>
            </a:r>
            <a:endParaRPr sz="1000">
              <a:latin typeface="Calibri"/>
              <a:ea typeface="Calibri"/>
              <a:cs typeface="Calibri"/>
              <a:sym typeface="Calibri"/>
            </a:endParaRPr>
          </a:p>
        </p:txBody>
      </p:sp>
      <p:grpSp>
        <p:nvGrpSpPr>
          <p:cNvPr id="416" name="Google Shape;416;p7"/>
          <p:cNvGrpSpPr/>
          <p:nvPr/>
        </p:nvGrpSpPr>
        <p:grpSpPr>
          <a:xfrm>
            <a:off x="731164" y="2560677"/>
            <a:ext cx="1371600" cy="931380"/>
            <a:chOff x="731164" y="2560677"/>
            <a:chExt cx="1371600" cy="931380"/>
          </a:xfrm>
        </p:grpSpPr>
        <p:sp>
          <p:nvSpPr>
            <p:cNvPr id="417" name="Google Shape;417;p7"/>
            <p:cNvSpPr/>
            <p:nvPr/>
          </p:nvSpPr>
          <p:spPr>
            <a:xfrm>
              <a:off x="1417319" y="2560677"/>
              <a:ext cx="0" cy="364490"/>
            </a:xfrm>
            <a:custGeom>
              <a:rect b="b" l="l" r="r" t="t"/>
              <a:pathLst>
                <a:path extrusionOk="0" h="364489" w="120000">
                  <a:moveTo>
                    <a:pt x="0" y="0"/>
                  </a:moveTo>
                  <a:lnTo>
                    <a:pt x="0" y="364324"/>
                  </a:lnTo>
                </a:path>
              </a:pathLst>
            </a:custGeom>
            <a:noFill/>
            <a:ln cap="flat" cmpd="sng" w="15100">
              <a:solidFill>
                <a:srgbClr val="536D7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18" name="Google Shape;418;p7"/>
            <p:cNvSpPr/>
            <p:nvPr/>
          </p:nvSpPr>
          <p:spPr>
            <a:xfrm>
              <a:off x="731164" y="2925002"/>
              <a:ext cx="1371600" cy="567055"/>
            </a:xfrm>
            <a:custGeom>
              <a:rect b="b" l="l" r="r" t="t"/>
              <a:pathLst>
                <a:path extrusionOk="0" h="567054" w="1371600">
                  <a:moveTo>
                    <a:pt x="1371231" y="0"/>
                  </a:moveTo>
                  <a:lnTo>
                    <a:pt x="0" y="0"/>
                  </a:lnTo>
                  <a:lnTo>
                    <a:pt x="0" y="566635"/>
                  </a:lnTo>
                  <a:lnTo>
                    <a:pt x="685800" y="566635"/>
                  </a:lnTo>
                  <a:lnTo>
                    <a:pt x="1371231" y="566635"/>
                  </a:lnTo>
                  <a:lnTo>
                    <a:pt x="1371231" y="0"/>
                  </a:lnTo>
                  <a:close/>
                </a:path>
              </a:pathLst>
            </a:custGeom>
            <a:solidFill>
              <a:srgbClr val="00BBD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419" name="Google Shape;419;p7"/>
          <p:cNvSpPr txBox="1"/>
          <p:nvPr/>
        </p:nvSpPr>
        <p:spPr>
          <a:xfrm>
            <a:off x="1327937" y="3089061"/>
            <a:ext cx="177165" cy="2393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0C1A29"/>
                </a:solidFill>
                <a:latin typeface="Calibri"/>
                <a:ea typeface="Calibri"/>
                <a:cs typeface="Calibri"/>
                <a:sym typeface="Calibri"/>
              </a:rPr>
              <a:t>x₀</a:t>
            </a:r>
            <a:endParaRPr sz="1400">
              <a:latin typeface="Calibri"/>
              <a:ea typeface="Calibri"/>
              <a:cs typeface="Calibri"/>
              <a:sym typeface="Calibri"/>
            </a:endParaRPr>
          </a:p>
        </p:txBody>
      </p:sp>
      <p:grpSp>
        <p:nvGrpSpPr>
          <p:cNvPr id="420" name="Google Shape;420;p7"/>
          <p:cNvGrpSpPr/>
          <p:nvPr/>
        </p:nvGrpSpPr>
        <p:grpSpPr>
          <a:xfrm>
            <a:off x="2559964" y="2560677"/>
            <a:ext cx="1371600" cy="931380"/>
            <a:chOff x="2559964" y="2560677"/>
            <a:chExt cx="1371600" cy="931380"/>
          </a:xfrm>
        </p:grpSpPr>
        <p:sp>
          <p:nvSpPr>
            <p:cNvPr id="421" name="Google Shape;421;p7"/>
            <p:cNvSpPr/>
            <p:nvPr/>
          </p:nvSpPr>
          <p:spPr>
            <a:xfrm>
              <a:off x="3246120" y="2560677"/>
              <a:ext cx="0" cy="364490"/>
            </a:xfrm>
            <a:custGeom>
              <a:rect b="b" l="l" r="r" t="t"/>
              <a:pathLst>
                <a:path extrusionOk="0" h="364489" w="120000">
                  <a:moveTo>
                    <a:pt x="0" y="0"/>
                  </a:moveTo>
                  <a:lnTo>
                    <a:pt x="0" y="364324"/>
                  </a:lnTo>
                </a:path>
              </a:pathLst>
            </a:custGeom>
            <a:noFill/>
            <a:ln cap="flat" cmpd="sng" w="15100">
              <a:solidFill>
                <a:srgbClr val="536D7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22" name="Google Shape;422;p7"/>
            <p:cNvSpPr/>
            <p:nvPr/>
          </p:nvSpPr>
          <p:spPr>
            <a:xfrm>
              <a:off x="2559964" y="2925002"/>
              <a:ext cx="1371600" cy="567055"/>
            </a:xfrm>
            <a:custGeom>
              <a:rect b="b" l="l" r="r" t="t"/>
              <a:pathLst>
                <a:path extrusionOk="0" h="567054" w="1371600">
                  <a:moveTo>
                    <a:pt x="1371231" y="0"/>
                  </a:moveTo>
                  <a:lnTo>
                    <a:pt x="0" y="0"/>
                  </a:lnTo>
                  <a:lnTo>
                    <a:pt x="0" y="566635"/>
                  </a:lnTo>
                  <a:lnTo>
                    <a:pt x="685800" y="566635"/>
                  </a:lnTo>
                  <a:lnTo>
                    <a:pt x="1371231" y="566635"/>
                  </a:lnTo>
                  <a:lnTo>
                    <a:pt x="1371231" y="0"/>
                  </a:lnTo>
                  <a:close/>
                </a:path>
              </a:pathLst>
            </a:custGeom>
            <a:solidFill>
              <a:srgbClr val="00BBD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423" name="Google Shape;423;p7"/>
          <p:cNvSpPr txBox="1"/>
          <p:nvPr/>
        </p:nvSpPr>
        <p:spPr>
          <a:xfrm>
            <a:off x="3169704" y="3089061"/>
            <a:ext cx="151130" cy="2393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0C1A29"/>
                </a:solidFill>
                <a:latin typeface="Calibri"/>
                <a:ea typeface="Calibri"/>
                <a:cs typeface="Calibri"/>
                <a:sym typeface="Calibri"/>
              </a:rPr>
              <a:t>x₁</a:t>
            </a:r>
            <a:endParaRPr sz="1400">
              <a:latin typeface="Calibri"/>
              <a:ea typeface="Calibri"/>
              <a:cs typeface="Calibri"/>
              <a:sym typeface="Calibri"/>
            </a:endParaRPr>
          </a:p>
        </p:txBody>
      </p:sp>
      <p:grpSp>
        <p:nvGrpSpPr>
          <p:cNvPr id="424" name="Google Shape;424;p7"/>
          <p:cNvGrpSpPr/>
          <p:nvPr/>
        </p:nvGrpSpPr>
        <p:grpSpPr>
          <a:xfrm>
            <a:off x="4388396" y="2560677"/>
            <a:ext cx="1371600" cy="931380"/>
            <a:chOff x="4388396" y="2560677"/>
            <a:chExt cx="1371600" cy="931380"/>
          </a:xfrm>
        </p:grpSpPr>
        <p:sp>
          <p:nvSpPr>
            <p:cNvPr id="425" name="Google Shape;425;p7"/>
            <p:cNvSpPr/>
            <p:nvPr/>
          </p:nvSpPr>
          <p:spPr>
            <a:xfrm>
              <a:off x="5074196" y="2560677"/>
              <a:ext cx="0" cy="364490"/>
            </a:xfrm>
            <a:custGeom>
              <a:rect b="b" l="l" r="r" t="t"/>
              <a:pathLst>
                <a:path extrusionOk="0" h="364489" w="120000">
                  <a:moveTo>
                    <a:pt x="0" y="0"/>
                  </a:moveTo>
                  <a:lnTo>
                    <a:pt x="0" y="364324"/>
                  </a:lnTo>
                </a:path>
              </a:pathLst>
            </a:custGeom>
            <a:noFill/>
            <a:ln cap="flat" cmpd="sng" w="15100">
              <a:solidFill>
                <a:srgbClr val="536D7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26" name="Google Shape;426;p7"/>
            <p:cNvSpPr/>
            <p:nvPr/>
          </p:nvSpPr>
          <p:spPr>
            <a:xfrm>
              <a:off x="4388396" y="2925002"/>
              <a:ext cx="1371600" cy="567055"/>
            </a:xfrm>
            <a:custGeom>
              <a:rect b="b" l="l" r="r" t="t"/>
              <a:pathLst>
                <a:path extrusionOk="0" h="567054" w="1371600">
                  <a:moveTo>
                    <a:pt x="1371244" y="0"/>
                  </a:moveTo>
                  <a:lnTo>
                    <a:pt x="0" y="0"/>
                  </a:lnTo>
                  <a:lnTo>
                    <a:pt x="0" y="566635"/>
                  </a:lnTo>
                  <a:lnTo>
                    <a:pt x="685800" y="566635"/>
                  </a:lnTo>
                  <a:lnTo>
                    <a:pt x="1371244" y="566635"/>
                  </a:lnTo>
                  <a:lnTo>
                    <a:pt x="1371244" y="0"/>
                  </a:lnTo>
                  <a:close/>
                </a:path>
              </a:pathLst>
            </a:custGeom>
            <a:solidFill>
              <a:srgbClr val="00BBD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427" name="Google Shape;427;p7"/>
          <p:cNvSpPr txBox="1"/>
          <p:nvPr/>
        </p:nvSpPr>
        <p:spPr>
          <a:xfrm>
            <a:off x="4990223" y="3089061"/>
            <a:ext cx="166370" cy="2393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0C1A29"/>
                </a:solidFill>
                <a:latin typeface="Calibri"/>
                <a:ea typeface="Calibri"/>
                <a:cs typeface="Calibri"/>
                <a:sym typeface="Calibri"/>
              </a:rPr>
              <a:t>x₂</a:t>
            </a:r>
            <a:endParaRPr sz="1400">
              <a:latin typeface="Calibri"/>
              <a:ea typeface="Calibri"/>
              <a:cs typeface="Calibri"/>
              <a:sym typeface="Calibri"/>
            </a:endParaRPr>
          </a:p>
        </p:txBody>
      </p:sp>
      <p:grpSp>
        <p:nvGrpSpPr>
          <p:cNvPr id="428" name="Google Shape;428;p7"/>
          <p:cNvGrpSpPr/>
          <p:nvPr/>
        </p:nvGrpSpPr>
        <p:grpSpPr>
          <a:xfrm>
            <a:off x="6216840" y="2560677"/>
            <a:ext cx="1371600" cy="931380"/>
            <a:chOff x="6216840" y="2560677"/>
            <a:chExt cx="1371600" cy="931380"/>
          </a:xfrm>
        </p:grpSpPr>
        <p:sp>
          <p:nvSpPr>
            <p:cNvPr id="429" name="Google Shape;429;p7"/>
            <p:cNvSpPr/>
            <p:nvPr/>
          </p:nvSpPr>
          <p:spPr>
            <a:xfrm>
              <a:off x="6902640" y="2560677"/>
              <a:ext cx="0" cy="364490"/>
            </a:xfrm>
            <a:custGeom>
              <a:rect b="b" l="l" r="r" t="t"/>
              <a:pathLst>
                <a:path extrusionOk="0" h="364489" w="120000">
                  <a:moveTo>
                    <a:pt x="0" y="0"/>
                  </a:moveTo>
                  <a:lnTo>
                    <a:pt x="0" y="364324"/>
                  </a:lnTo>
                </a:path>
              </a:pathLst>
            </a:custGeom>
            <a:noFill/>
            <a:ln cap="flat" cmpd="sng" w="15100">
              <a:solidFill>
                <a:srgbClr val="536D7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30" name="Google Shape;430;p7"/>
            <p:cNvSpPr/>
            <p:nvPr/>
          </p:nvSpPr>
          <p:spPr>
            <a:xfrm>
              <a:off x="6216840" y="2925002"/>
              <a:ext cx="1371600" cy="567055"/>
            </a:xfrm>
            <a:custGeom>
              <a:rect b="b" l="l" r="r" t="t"/>
              <a:pathLst>
                <a:path extrusionOk="0" h="567054" w="1371600">
                  <a:moveTo>
                    <a:pt x="1371244" y="0"/>
                  </a:moveTo>
                  <a:lnTo>
                    <a:pt x="0" y="0"/>
                  </a:lnTo>
                  <a:lnTo>
                    <a:pt x="0" y="566635"/>
                  </a:lnTo>
                  <a:lnTo>
                    <a:pt x="685800" y="566635"/>
                  </a:lnTo>
                  <a:lnTo>
                    <a:pt x="1371244" y="566635"/>
                  </a:lnTo>
                  <a:lnTo>
                    <a:pt x="1371244" y="0"/>
                  </a:lnTo>
                  <a:close/>
                </a:path>
              </a:pathLst>
            </a:custGeom>
            <a:solidFill>
              <a:srgbClr val="00BBD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431" name="Google Shape;431;p7"/>
          <p:cNvSpPr txBox="1"/>
          <p:nvPr/>
        </p:nvSpPr>
        <p:spPr>
          <a:xfrm>
            <a:off x="6818655" y="3089061"/>
            <a:ext cx="166370" cy="2393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0C1A29"/>
                </a:solidFill>
                <a:latin typeface="Calibri"/>
                <a:ea typeface="Calibri"/>
                <a:cs typeface="Calibri"/>
                <a:sym typeface="Calibri"/>
              </a:rPr>
              <a:t>x₃</a:t>
            </a:r>
            <a:endParaRPr sz="1400">
              <a:latin typeface="Calibri"/>
              <a:ea typeface="Calibri"/>
              <a:cs typeface="Calibri"/>
              <a:sym typeface="Calibri"/>
            </a:endParaRPr>
          </a:p>
        </p:txBody>
      </p:sp>
      <p:sp>
        <p:nvSpPr>
          <p:cNvPr id="432" name="Google Shape;432;p7"/>
          <p:cNvSpPr/>
          <p:nvPr/>
        </p:nvSpPr>
        <p:spPr>
          <a:xfrm>
            <a:off x="731164" y="3712326"/>
            <a:ext cx="7680959" cy="457200"/>
          </a:xfrm>
          <a:custGeom>
            <a:rect b="b" l="l" r="r" t="t"/>
            <a:pathLst>
              <a:path extrusionOk="0" h="457200" w="7680959">
                <a:moveTo>
                  <a:pt x="7680591" y="0"/>
                </a:moveTo>
                <a:lnTo>
                  <a:pt x="0" y="0"/>
                </a:lnTo>
                <a:lnTo>
                  <a:pt x="0" y="456831"/>
                </a:lnTo>
                <a:lnTo>
                  <a:pt x="3840479" y="456831"/>
                </a:lnTo>
                <a:lnTo>
                  <a:pt x="7680591" y="456831"/>
                </a:lnTo>
                <a:lnTo>
                  <a:pt x="7680591" y="0"/>
                </a:lnTo>
                <a:close/>
              </a:path>
            </a:pathLst>
          </a:custGeom>
          <a:solidFill>
            <a:srgbClr val="E7F4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33" name="Google Shape;433;p7"/>
          <p:cNvSpPr txBox="1"/>
          <p:nvPr/>
        </p:nvSpPr>
        <p:spPr>
          <a:xfrm>
            <a:off x="731164" y="3712326"/>
            <a:ext cx="7680959" cy="457200"/>
          </a:xfrm>
          <a:prstGeom prst="rect">
            <a:avLst/>
          </a:prstGeom>
          <a:noFill/>
          <a:ln cap="flat" cmpd="sng" w="12575">
            <a:solidFill>
              <a:srgbClr val="378D3B"/>
            </a:solidFill>
            <a:prstDash val="solid"/>
            <a:round/>
            <a:headEnd len="sm" w="sm" type="none"/>
            <a:tailEnd len="sm" w="sm" type="none"/>
          </a:ln>
        </p:spPr>
        <p:txBody>
          <a:bodyPr anchorCtr="0" anchor="t" bIns="0" lIns="0" spcFirstLastPara="1" rIns="0" wrap="square" tIns="136525">
            <a:spAutoFit/>
          </a:bodyPr>
          <a:lstStyle/>
          <a:p>
            <a:pPr indent="0" lvl="0" marL="0" rtl="0" algn="ctr">
              <a:lnSpc>
                <a:spcPct val="100000"/>
              </a:lnSpc>
              <a:spcBef>
                <a:spcPts val="0"/>
              </a:spcBef>
              <a:spcAft>
                <a:spcPts val="0"/>
              </a:spcAft>
              <a:buNone/>
            </a:pPr>
            <a:r>
              <a:rPr b="1" lang="en-US" sz="1200">
                <a:solidFill>
                  <a:srgbClr val="1A5D1F"/>
                </a:solidFill>
                <a:latin typeface="Calibri"/>
                <a:ea typeface="Calibri"/>
                <a:cs typeface="Calibri"/>
                <a:sym typeface="Calibri"/>
              </a:rPr>
              <a:t>Update rule: h</a:t>
            </a:r>
            <a:r>
              <a:rPr lang="en-US" sz="1200">
                <a:solidFill>
                  <a:srgbClr val="1A5D1F"/>
                </a:solidFill>
                <a:latin typeface="Quattrocento Sans"/>
                <a:ea typeface="Quattrocento Sans"/>
                <a:cs typeface="Quattrocento Sans"/>
                <a:sym typeface="Quattrocento Sans"/>
              </a:rPr>
              <a:t>ₜ </a:t>
            </a:r>
            <a:r>
              <a:rPr b="1" lang="en-US" sz="1200">
                <a:solidFill>
                  <a:srgbClr val="1A5D1F"/>
                </a:solidFill>
                <a:latin typeface="Calibri"/>
                <a:ea typeface="Calibri"/>
                <a:cs typeface="Calibri"/>
                <a:sym typeface="Calibri"/>
              </a:rPr>
              <a:t>= tanh( W</a:t>
            </a:r>
            <a:r>
              <a:rPr lang="en-US" sz="1200">
                <a:solidFill>
                  <a:srgbClr val="1A5D1F"/>
                </a:solidFill>
                <a:latin typeface="Quattrocento Sans"/>
                <a:ea typeface="Quattrocento Sans"/>
                <a:cs typeface="Quattrocento Sans"/>
                <a:sym typeface="Quattrocento Sans"/>
              </a:rPr>
              <a:t>ₕ </a:t>
            </a:r>
            <a:r>
              <a:rPr b="1" lang="en-US" sz="1200">
                <a:solidFill>
                  <a:srgbClr val="1A5D1F"/>
                </a:solidFill>
                <a:latin typeface="Calibri"/>
                <a:ea typeface="Calibri"/>
                <a:cs typeface="Calibri"/>
                <a:sym typeface="Calibri"/>
              </a:rPr>
              <a:t>· h</a:t>
            </a:r>
            <a:r>
              <a:rPr lang="en-US" sz="1200">
                <a:solidFill>
                  <a:srgbClr val="1A5D1F"/>
                </a:solidFill>
                <a:latin typeface="Quattrocento Sans"/>
                <a:ea typeface="Quattrocento Sans"/>
                <a:cs typeface="Quattrocento Sans"/>
                <a:sym typeface="Quattrocento Sans"/>
              </a:rPr>
              <a:t>ₜ</a:t>
            </a:r>
            <a:r>
              <a:rPr b="1" lang="en-US" sz="1200">
                <a:solidFill>
                  <a:srgbClr val="1A5D1F"/>
                </a:solidFill>
                <a:latin typeface="Calibri"/>
                <a:ea typeface="Calibri"/>
                <a:cs typeface="Calibri"/>
                <a:sym typeface="Calibri"/>
              </a:rPr>
              <a:t>₋₁ + Wₓ · x</a:t>
            </a:r>
            <a:r>
              <a:rPr lang="en-US" sz="1200">
                <a:solidFill>
                  <a:srgbClr val="1A5D1F"/>
                </a:solidFill>
                <a:latin typeface="Quattrocento Sans"/>
                <a:ea typeface="Quattrocento Sans"/>
                <a:cs typeface="Quattrocento Sans"/>
                <a:sym typeface="Quattrocento Sans"/>
              </a:rPr>
              <a:t>ₜ </a:t>
            </a:r>
            <a:r>
              <a:rPr b="1" lang="en-US" sz="1200">
                <a:solidFill>
                  <a:srgbClr val="1A5D1F"/>
                </a:solidFill>
                <a:latin typeface="Calibri"/>
                <a:ea typeface="Calibri"/>
                <a:cs typeface="Calibri"/>
                <a:sym typeface="Calibri"/>
              </a:rPr>
              <a:t>+ b )</a:t>
            </a:r>
            <a:endParaRPr sz="1200">
              <a:latin typeface="Calibri"/>
              <a:ea typeface="Calibri"/>
              <a:cs typeface="Calibri"/>
              <a:sym typeface="Calibri"/>
            </a:endParaRPr>
          </a:p>
        </p:txBody>
      </p:sp>
      <p:sp>
        <p:nvSpPr>
          <p:cNvPr id="434" name="Google Shape;434;p7"/>
          <p:cNvSpPr txBox="1"/>
          <p:nvPr/>
        </p:nvSpPr>
        <p:spPr>
          <a:xfrm>
            <a:off x="1170978" y="4343313"/>
            <a:ext cx="679069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i="1" lang="en-US" sz="1600">
                <a:solidFill>
                  <a:srgbClr val="378D3B"/>
                </a:solidFill>
                <a:latin typeface="Cambria"/>
                <a:ea typeface="Cambria"/>
                <a:cs typeface="Cambria"/>
                <a:sym typeface="Cambria"/>
              </a:rPr>
              <a:t>No forget gate · No input gate · No cell state, just h</a:t>
            </a:r>
            <a:r>
              <a:rPr i="1" lang="en-US" sz="1600">
                <a:solidFill>
                  <a:srgbClr val="378D3B"/>
                </a:solidFill>
                <a:latin typeface="Times New Roman"/>
                <a:ea typeface="Times New Roman"/>
                <a:cs typeface="Times New Roman"/>
                <a:sym typeface="Times New Roman"/>
              </a:rPr>
              <a:t>ₜ </a:t>
            </a:r>
            <a:r>
              <a:rPr i="1" lang="en-US" sz="1600">
                <a:solidFill>
                  <a:srgbClr val="378D3B"/>
                </a:solidFill>
                <a:latin typeface="Cambria"/>
                <a:ea typeface="Cambria"/>
                <a:cs typeface="Cambria"/>
                <a:sym typeface="Cambria"/>
              </a:rPr>
              <a:t>carrying memory through time</a:t>
            </a:r>
            <a:endParaRPr sz="1600">
              <a:latin typeface="Cambria"/>
              <a:ea typeface="Cambria"/>
              <a:cs typeface="Cambria"/>
              <a:sym typeface="Cambria"/>
            </a:endParaRPr>
          </a:p>
        </p:txBody>
      </p:sp>
      <p:sp>
        <p:nvSpPr>
          <p:cNvPr id="435" name="Google Shape;435;p7"/>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1270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grpSp>
        <p:nvGrpSpPr>
          <p:cNvPr id="440" name="Google Shape;440;p8"/>
          <p:cNvGrpSpPr/>
          <p:nvPr/>
        </p:nvGrpSpPr>
        <p:grpSpPr>
          <a:xfrm>
            <a:off x="39954" y="14"/>
            <a:ext cx="9103677" cy="2015985"/>
            <a:chOff x="39954" y="14"/>
            <a:chExt cx="9103677" cy="2015985"/>
          </a:xfrm>
        </p:grpSpPr>
        <p:pic>
          <p:nvPicPr>
            <p:cNvPr id="441" name="Google Shape;441;p8"/>
            <p:cNvPicPr preferRelativeResize="0"/>
            <p:nvPr/>
          </p:nvPicPr>
          <p:blipFill rotWithShape="1">
            <a:blip r:embed="rId3">
              <a:alphaModFix/>
            </a:blip>
            <a:srcRect b="0" l="0" r="0" t="0"/>
            <a:stretch/>
          </p:blipFill>
          <p:spPr>
            <a:xfrm>
              <a:off x="8369274" y="14"/>
              <a:ext cx="774357" cy="866508"/>
            </a:xfrm>
            <a:prstGeom prst="rect">
              <a:avLst/>
            </a:prstGeom>
            <a:noFill/>
            <a:ln>
              <a:noFill/>
            </a:ln>
          </p:spPr>
        </p:pic>
        <p:pic>
          <p:nvPicPr>
            <p:cNvPr id="442" name="Google Shape;442;p8"/>
            <p:cNvPicPr preferRelativeResize="0"/>
            <p:nvPr/>
          </p:nvPicPr>
          <p:blipFill rotWithShape="1">
            <a:blip r:embed="rId4">
              <a:alphaModFix/>
            </a:blip>
            <a:srcRect b="0" l="0" r="0" t="0"/>
            <a:stretch/>
          </p:blipFill>
          <p:spPr>
            <a:xfrm>
              <a:off x="39954" y="844196"/>
              <a:ext cx="8624519" cy="1171803"/>
            </a:xfrm>
            <a:prstGeom prst="rect">
              <a:avLst/>
            </a:prstGeom>
            <a:noFill/>
            <a:ln>
              <a:noFill/>
            </a:ln>
          </p:spPr>
        </p:pic>
        <p:sp>
          <p:nvSpPr>
            <p:cNvPr id="443" name="Google Shape;443;p8"/>
            <p:cNvSpPr/>
            <p:nvPr/>
          </p:nvSpPr>
          <p:spPr>
            <a:xfrm>
              <a:off x="172796" y="923761"/>
              <a:ext cx="8412480" cy="960119"/>
            </a:xfrm>
            <a:custGeom>
              <a:rect b="b" l="l" r="r" t="t"/>
              <a:pathLst>
                <a:path extrusionOk="0" h="960119" w="8412480">
                  <a:moveTo>
                    <a:pt x="8412124" y="0"/>
                  </a:moveTo>
                  <a:lnTo>
                    <a:pt x="0" y="0"/>
                  </a:lnTo>
                  <a:lnTo>
                    <a:pt x="0" y="959764"/>
                  </a:lnTo>
                  <a:lnTo>
                    <a:pt x="4206240" y="959764"/>
                  </a:lnTo>
                  <a:lnTo>
                    <a:pt x="8412124" y="959764"/>
                  </a:lnTo>
                  <a:lnTo>
                    <a:pt x="8412124"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44" name="Google Shape;444;p8"/>
            <p:cNvSpPr/>
            <p:nvPr/>
          </p:nvSpPr>
          <p:spPr>
            <a:xfrm>
              <a:off x="173164" y="923761"/>
              <a:ext cx="109855" cy="960119"/>
            </a:xfrm>
            <a:custGeom>
              <a:rect b="b" l="l" r="r" t="t"/>
              <a:pathLst>
                <a:path extrusionOk="0" h="960119" w="109854">
                  <a:moveTo>
                    <a:pt x="109435" y="0"/>
                  </a:moveTo>
                  <a:lnTo>
                    <a:pt x="0" y="0"/>
                  </a:lnTo>
                  <a:lnTo>
                    <a:pt x="0" y="959764"/>
                  </a:lnTo>
                  <a:lnTo>
                    <a:pt x="54711" y="959764"/>
                  </a:lnTo>
                  <a:lnTo>
                    <a:pt x="109435" y="959764"/>
                  </a:lnTo>
                  <a:lnTo>
                    <a:pt x="109435" y="0"/>
                  </a:lnTo>
                  <a:close/>
                </a:path>
              </a:pathLst>
            </a:custGeom>
            <a:solidFill>
              <a:srgbClr val="00887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descr="$PPTXTitle" id="445" name="Google Shape;445;p8"/>
          <p:cNvSpPr txBox="1"/>
          <p:nvPr>
            <p:ph type="title"/>
          </p:nvPr>
        </p:nvSpPr>
        <p:spPr>
          <a:xfrm>
            <a:off x="2932823" y="279262"/>
            <a:ext cx="3384550" cy="54038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US" sz="3350">
                <a:solidFill>
                  <a:srgbClr val="000000"/>
                </a:solidFill>
              </a:rPr>
              <a:t>RNN: Mathematics</a:t>
            </a:r>
            <a:endParaRPr sz="3350"/>
          </a:p>
        </p:txBody>
      </p:sp>
      <p:sp>
        <p:nvSpPr>
          <p:cNvPr id="446" name="Google Shape;446;p8"/>
          <p:cNvSpPr txBox="1"/>
          <p:nvPr/>
        </p:nvSpPr>
        <p:spPr>
          <a:xfrm>
            <a:off x="172796" y="923761"/>
            <a:ext cx="8412480" cy="960119"/>
          </a:xfrm>
          <a:prstGeom prst="rect">
            <a:avLst/>
          </a:prstGeom>
          <a:noFill/>
          <a:ln cap="flat" cmpd="sng" w="9525">
            <a:solidFill>
              <a:srgbClr val="00AF4F"/>
            </a:solidFill>
            <a:prstDash val="solid"/>
            <a:round/>
            <a:headEnd len="sm" w="sm" type="none"/>
            <a:tailEnd len="sm" w="sm" type="none"/>
          </a:ln>
        </p:spPr>
        <p:txBody>
          <a:bodyPr anchorCtr="0" anchor="t" bIns="0" lIns="0" spcFirstLastPara="1" rIns="0" wrap="square" tIns="77450">
            <a:spAutoFit/>
          </a:bodyPr>
          <a:lstStyle/>
          <a:p>
            <a:pPr indent="0" lvl="0" marL="228600" rtl="0" algn="l">
              <a:lnSpc>
                <a:spcPct val="100000"/>
              </a:lnSpc>
              <a:spcBef>
                <a:spcPts val="0"/>
              </a:spcBef>
              <a:spcAft>
                <a:spcPts val="0"/>
              </a:spcAft>
              <a:buNone/>
            </a:pPr>
            <a:r>
              <a:rPr b="1" lang="en-US" sz="1800">
                <a:latin typeface="Calibri"/>
                <a:ea typeface="Calibri"/>
                <a:cs typeface="Calibri"/>
                <a:sym typeface="Calibri"/>
              </a:rPr>
              <a:t>Hidden State Update</a:t>
            </a:r>
            <a:endParaRPr sz="1800">
              <a:latin typeface="Calibri"/>
              <a:ea typeface="Calibri"/>
              <a:cs typeface="Calibri"/>
              <a:sym typeface="Calibri"/>
            </a:endParaRPr>
          </a:p>
          <a:p>
            <a:pPr indent="0" lvl="0" marL="228600" rtl="0" algn="l">
              <a:lnSpc>
                <a:spcPct val="100000"/>
              </a:lnSpc>
              <a:spcBef>
                <a:spcPts val="1080"/>
              </a:spcBef>
              <a:spcAft>
                <a:spcPts val="0"/>
              </a:spcAft>
              <a:buNone/>
            </a:pPr>
            <a:r>
              <a:rPr lang="en-US" sz="1800">
                <a:solidFill>
                  <a:srgbClr val="0C1A29"/>
                </a:solidFill>
                <a:latin typeface="Calibri"/>
                <a:ea typeface="Calibri"/>
                <a:cs typeface="Calibri"/>
                <a:sym typeface="Calibri"/>
              </a:rPr>
              <a:t>h</a:t>
            </a:r>
            <a:r>
              <a:rPr lang="en-US" sz="1800">
                <a:solidFill>
                  <a:srgbClr val="0C1A29"/>
                </a:solidFill>
                <a:latin typeface="Times New Roman"/>
                <a:ea typeface="Times New Roman"/>
                <a:cs typeface="Times New Roman"/>
                <a:sym typeface="Times New Roman"/>
              </a:rPr>
              <a:t>ₜ </a:t>
            </a:r>
            <a:r>
              <a:rPr lang="en-US" sz="1800">
                <a:solidFill>
                  <a:srgbClr val="0C1A29"/>
                </a:solidFill>
                <a:latin typeface="Calibri"/>
                <a:ea typeface="Calibri"/>
                <a:cs typeface="Calibri"/>
                <a:sym typeface="Calibri"/>
              </a:rPr>
              <a:t>= tanh( W</a:t>
            </a:r>
            <a:r>
              <a:rPr lang="en-US" sz="1800">
                <a:solidFill>
                  <a:srgbClr val="0C1A29"/>
                </a:solidFill>
                <a:latin typeface="Times New Roman"/>
                <a:ea typeface="Times New Roman"/>
                <a:cs typeface="Times New Roman"/>
                <a:sym typeface="Times New Roman"/>
              </a:rPr>
              <a:t>ₕ </a:t>
            </a:r>
            <a:r>
              <a:rPr lang="en-US" sz="1800">
                <a:solidFill>
                  <a:srgbClr val="0C1A29"/>
                </a:solidFill>
                <a:latin typeface="Calibri"/>
                <a:ea typeface="Calibri"/>
                <a:cs typeface="Calibri"/>
                <a:sym typeface="Calibri"/>
              </a:rPr>
              <a:t>· h</a:t>
            </a:r>
            <a:r>
              <a:rPr lang="en-US" sz="1800">
                <a:solidFill>
                  <a:srgbClr val="0C1A29"/>
                </a:solidFill>
                <a:latin typeface="Times New Roman"/>
                <a:ea typeface="Times New Roman"/>
                <a:cs typeface="Times New Roman"/>
                <a:sym typeface="Times New Roman"/>
              </a:rPr>
              <a:t>ₜ</a:t>
            </a:r>
            <a:r>
              <a:rPr lang="en-US" sz="1800">
                <a:solidFill>
                  <a:srgbClr val="0C1A29"/>
                </a:solidFill>
                <a:latin typeface="Calibri"/>
                <a:ea typeface="Calibri"/>
                <a:cs typeface="Calibri"/>
                <a:sym typeface="Calibri"/>
              </a:rPr>
              <a:t>₋₁ + Wₓ · x</a:t>
            </a:r>
            <a:r>
              <a:rPr lang="en-US" sz="1800">
                <a:solidFill>
                  <a:srgbClr val="0C1A29"/>
                </a:solidFill>
                <a:latin typeface="Times New Roman"/>
                <a:ea typeface="Times New Roman"/>
                <a:cs typeface="Times New Roman"/>
                <a:sym typeface="Times New Roman"/>
              </a:rPr>
              <a:t>ₜ </a:t>
            </a:r>
            <a:r>
              <a:rPr lang="en-US" sz="1800">
                <a:solidFill>
                  <a:srgbClr val="0C1A29"/>
                </a:solidFill>
                <a:latin typeface="Calibri"/>
                <a:ea typeface="Calibri"/>
                <a:cs typeface="Calibri"/>
                <a:sym typeface="Calibri"/>
              </a:rPr>
              <a:t>+ b )</a:t>
            </a:r>
            <a:endParaRPr sz="1800">
              <a:latin typeface="Calibri"/>
              <a:ea typeface="Calibri"/>
              <a:cs typeface="Calibri"/>
              <a:sym typeface="Calibri"/>
            </a:endParaRPr>
          </a:p>
        </p:txBody>
      </p:sp>
      <p:grpSp>
        <p:nvGrpSpPr>
          <p:cNvPr id="447" name="Google Shape;447;p8"/>
          <p:cNvGrpSpPr/>
          <p:nvPr/>
        </p:nvGrpSpPr>
        <p:grpSpPr>
          <a:xfrm>
            <a:off x="39954" y="1959840"/>
            <a:ext cx="8624519" cy="1171803"/>
            <a:chOff x="39954" y="1959840"/>
            <a:chExt cx="8624519" cy="1171803"/>
          </a:xfrm>
        </p:grpSpPr>
        <p:pic>
          <p:nvPicPr>
            <p:cNvPr id="448" name="Google Shape;448;p8"/>
            <p:cNvPicPr preferRelativeResize="0"/>
            <p:nvPr/>
          </p:nvPicPr>
          <p:blipFill rotWithShape="1">
            <a:blip r:embed="rId4">
              <a:alphaModFix/>
            </a:blip>
            <a:srcRect b="0" l="0" r="0" t="0"/>
            <a:stretch/>
          </p:blipFill>
          <p:spPr>
            <a:xfrm>
              <a:off x="39954" y="1959840"/>
              <a:ext cx="8624519" cy="1171803"/>
            </a:xfrm>
            <a:prstGeom prst="rect">
              <a:avLst/>
            </a:prstGeom>
            <a:noFill/>
            <a:ln>
              <a:noFill/>
            </a:ln>
          </p:spPr>
        </p:pic>
        <p:sp>
          <p:nvSpPr>
            <p:cNvPr id="449" name="Google Shape;449;p8"/>
            <p:cNvSpPr/>
            <p:nvPr/>
          </p:nvSpPr>
          <p:spPr>
            <a:xfrm>
              <a:off x="172796" y="2039406"/>
              <a:ext cx="8412480" cy="960119"/>
            </a:xfrm>
            <a:custGeom>
              <a:rect b="b" l="l" r="r" t="t"/>
              <a:pathLst>
                <a:path extrusionOk="0" h="960119" w="8412480">
                  <a:moveTo>
                    <a:pt x="8412124" y="0"/>
                  </a:moveTo>
                  <a:lnTo>
                    <a:pt x="0" y="0"/>
                  </a:lnTo>
                  <a:lnTo>
                    <a:pt x="0" y="959751"/>
                  </a:lnTo>
                  <a:lnTo>
                    <a:pt x="4206240" y="959751"/>
                  </a:lnTo>
                  <a:lnTo>
                    <a:pt x="8412124" y="959751"/>
                  </a:lnTo>
                  <a:lnTo>
                    <a:pt x="8412124"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50" name="Google Shape;450;p8"/>
            <p:cNvSpPr/>
            <p:nvPr/>
          </p:nvSpPr>
          <p:spPr>
            <a:xfrm>
              <a:off x="173164" y="2039406"/>
              <a:ext cx="109855" cy="960119"/>
            </a:xfrm>
            <a:custGeom>
              <a:rect b="b" l="l" r="r" t="t"/>
              <a:pathLst>
                <a:path extrusionOk="0" h="960119" w="109854">
                  <a:moveTo>
                    <a:pt x="109435" y="0"/>
                  </a:moveTo>
                  <a:lnTo>
                    <a:pt x="0" y="0"/>
                  </a:lnTo>
                  <a:lnTo>
                    <a:pt x="0" y="959751"/>
                  </a:lnTo>
                  <a:lnTo>
                    <a:pt x="54711" y="959751"/>
                  </a:lnTo>
                  <a:lnTo>
                    <a:pt x="109435" y="959751"/>
                  </a:lnTo>
                  <a:lnTo>
                    <a:pt x="109435" y="0"/>
                  </a:lnTo>
                  <a:close/>
                </a:path>
              </a:pathLst>
            </a:custGeom>
            <a:solidFill>
              <a:srgbClr val="1464B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451" name="Google Shape;451;p8"/>
          <p:cNvSpPr txBox="1"/>
          <p:nvPr/>
        </p:nvSpPr>
        <p:spPr>
          <a:xfrm>
            <a:off x="172796" y="2039406"/>
            <a:ext cx="8412480" cy="960119"/>
          </a:xfrm>
          <a:prstGeom prst="rect">
            <a:avLst/>
          </a:prstGeom>
          <a:noFill/>
          <a:ln cap="flat" cmpd="sng" w="9525">
            <a:solidFill>
              <a:srgbClr val="00AF4F"/>
            </a:solidFill>
            <a:prstDash val="solid"/>
            <a:round/>
            <a:headEnd len="sm" w="sm" type="none"/>
            <a:tailEnd len="sm" w="sm" type="none"/>
          </a:ln>
        </p:spPr>
        <p:txBody>
          <a:bodyPr anchorCtr="0" anchor="t" bIns="0" lIns="0" spcFirstLastPara="1" rIns="0" wrap="square" tIns="77450">
            <a:spAutoFit/>
          </a:bodyPr>
          <a:lstStyle/>
          <a:p>
            <a:pPr indent="0" lvl="0" marL="228600" rtl="0" algn="l">
              <a:lnSpc>
                <a:spcPct val="100000"/>
              </a:lnSpc>
              <a:spcBef>
                <a:spcPts val="0"/>
              </a:spcBef>
              <a:spcAft>
                <a:spcPts val="0"/>
              </a:spcAft>
              <a:buNone/>
            </a:pPr>
            <a:r>
              <a:rPr b="1" lang="en-US" sz="1800">
                <a:latin typeface="Calibri"/>
                <a:ea typeface="Calibri"/>
                <a:cs typeface="Calibri"/>
                <a:sym typeface="Calibri"/>
              </a:rPr>
              <a:t>Output Computation</a:t>
            </a:r>
            <a:endParaRPr sz="1800">
              <a:latin typeface="Calibri"/>
              <a:ea typeface="Calibri"/>
              <a:cs typeface="Calibri"/>
              <a:sym typeface="Calibri"/>
            </a:endParaRPr>
          </a:p>
          <a:p>
            <a:pPr indent="0" lvl="0" marL="228600" rtl="0" algn="l">
              <a:lnSpc>
                <a:spcPct val="100000"/>
              </a:lnSpc>
              <a:spcBef>
                <a:spcPts val="1080"/>
              </a:spcBef>
              <a:spcAft>
                <a:spcPts val="0"/>
              </a:spcAft>
              <a:buNone/>
            </a:pPr>
            <a:r>
              <a:rPr lang="en-US" sz="1800">
                <a:solidFill>
                  <a:srgbClr val="0C1A29"/>
                </a:solidFill>
                <a:latin typeface="Calibri"/>
                <a:ea typeface="Calibri"/>
                <a:cs typeface="Calibri"/>
                <a:sym typeface="Calibri"/>
              </a:rPr>
              <a:t>y</a:t>
            </a:r>
            <a:r>
              <a:rPr lang="en-US" sz="1800">
                <a:solidFill>
                  <a:srgbClr val="0C1A29"/>
                </a:solidFill>
                <a:latin typeface="Times New Roman"/>
                <a:ea typeface="Times New Roman"/>
                <a:cs typeface="Times New Roman"/>
                <a:sym typeface="Times New Roman"/>
              </a:rPr>
              <a:t>ₜ </a:t>
            </a:r>
            <a:r>
              <a:rPr lang="en-US" sz="1800">
                <a:solidFill>
                  <a:srgbClr val="0C1A29"/>
                </a:solidFill>
                <a:latin typeface="Calibri"/>
                <a:ea typeface="Calibri"/>
                <a:cs typeface="Calibri"/>
                <a:sym typeface="Calibri"/>
              </a:rPr>
              <a:t>= g( Wᵧ · h</a:t>
            </a:r>
            <a:r>
              <a:rPr lang="en-US" sz="1800">
                <a:solidFill>
                  <a:srgbClr val="0C1A29"/>
                </a:solidFill>
                <a:latin typeface="Times New Roman"/>
                <a:ea typeface="Times New Roman"/>
                <a:cs typeface="Times New Roman"/>
                <a:sym typeface="Times New Roman"/>
              </a:rPr>
              <a:t>ₜ </a:t>
            </a:r>
            <a:r>
              <a:rPr lang="en-US" sz="1800">
                <a:solidFill>
                  <a:srgbClr val="0C1A29"/>
                </a:solidFill>
                <a:latin typeface="Calibri"/>
                <a:ea typeface="Calibri"/>
                <a:cs typeface="Calibri"/>
                <a:sym typeface="Calibri"/>
              </a:rPr>
              <a:t>)</a:t>
            </a:r>
            <a:endParaRPr sz="1800">
              <a:latin typeface="Calibri"/>
              <a:ea typeface="Calibri"/>
              <a:cs typeface="Calibri"/>
              <a:sym typeface="Calibri"/>
            </a:endParaRPr>
          </a:p>
        </p:txBody>
      </p:sp>
      <p:grpSp>
        <p:nvGrpSpPr>
          <p:cNvPr id="452" name="Google Shape;452;p8"/>
          <p:cNvGrpSpPr/>
          <p:nvPr/>
        </p:nvGrpSpPr>
        <p:grpSpPr>
          <a:xfrm>
            <a:off x="39954" y="3075472"/>
            <a:ext cx="8624519" cy="1171803"/>
            <a:chOff x="39954" y="3075472"/>
            <a:chExt cx="8624519" cy="1171803"/>
          </a:xfrm>
        </p:grpSpPr>
        <p:pic>
          <p:nvPicPr>
            <p:cNvPr id="453" name="Google Shape;453;p8"/>
            <p:cNvPicPr preferRelativeResize="0"/>
            <p:nvPr/>
          </p:nvPicPr>
          <p:blipFill rotWithShape="1">
            <a:blip r:embed="rId4">
              <a:alphaModFix/>
            </a:blip>
            <a:srcRect b="0" l="0" r="0" t="0"/>
            <a:stretch/>
          </p:blipFill>
          <p:spPr>
            <a:xfrm>
              <a:off x="39954" y="3075472"/>
              <a:ext cx="8624519" cy="1171803"/>
            </a:xfrm>
            <a:prstGeom prst="rect">
              <a:avLst/>
            </a:prstGeom>
            <a:noFill/>
            <a:ln>
              <a:noFill/>
            </a:ln>
          </p:spPr>
        </p:pic>
        <p:sp>
          <p:nvSpPr>
            <p:cNvPr id="454" name="Google Shape;454;p8"/>
            <p:cNvSpPr/>
            <p:nvPr/>
          </p:nvSpPr>
          <p:spPr>
            <a:xfrm>
              <a:off x="172796" y="3155037"/>
              <a:ext cx="8412480" cy="960119"/>
            </a:xfrm>
            <a:custGeom>
              <a:rect b="b" l="l" r="r" t="t"/>
              <a:pathLst>
                <a:path extrusionOk="0" h="960120" w="8412480">
                  <a:moveTo>
                    <a:pt x="8412124" y="0"/>
                  </a:moveTo>
                  <a:lnTo>
                    <a:pt x="0" y="0"/>
                  </a:lnTo>
                  <a:lnTo>
                    <a:pt x="0" y="959764"/>
                  </a:lnTo>
                  <a:lnTo>
                    <a:pt x="4206240" y="959764"/>
                  </a:lnTo>
                  <a:lnTo>
                    <a:pt x="8412124" y="959764"/>
                  </a:lnTo>
                  <a:lnTo>
                    <a:pt x="8412124"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55" name="Google Shape;455;p8"/>
            <p:cNvSpPr/>
            <p:nvPr/>
          </p:nvSpPr>
          <p:spPr>
            <a:xfrm>
              <a:off x="173164" y="3155037"/>
              <a:ext cx="109855" cy="960119"/>
            </a:xfrm>
            <a:custGeom>
              <a:rect b="b" l="l" r="r" t="t"/>
              <a:pathLst>
                <a:path extrusionOk="0" h="960120" w="109854">
                  <a:moveTo>
                    <a:pt x="109435" y="0"/>
                  </a:moveTo>
                  <a:lnTo>
                    <a:pt x="0" y="0"/>
                  </a:lnTo>
                  <a:lnTo>
                    <a:pt x="0" y="959764"/>
                  </a:lnTo>
                  <a:lnTo>
                    <a:pt x="54711" y="959764"/>
                  </a:lnTo>
                  <a:lnTo>
                    <a:pt x="109435" y="959764"/>
                  </a:lnTo>
                  <a:lnTo>
                    <a:pt x="109435" y="0"/>
                  </a:lnTo>
                  <a:close/>
                </a:path>
              </a:pathLst>
            </a:custGeom>
            <a:solidFill>
              <a:srgbClr val="FF6F42"/>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456" name="Google Shape;456;p8"/>
          <p:cNvSpPr txBox="1"/>
          <p:nvPr/>
        </p:nvSpPr>
        <p:spPr>
          <a:xfrm>
            <a:off x="172796" y="3155037"/>
            <a:ext cx="8412480" cy="960119"/>
          </a:xfrm>
          <a:prstGeom prst="rect">
            <a:avLst/>
          </a:prstGeom>
          <a:noFill/>
          <a:ln cap="flat" cmpd="sng" w="9525">
            <a:solidFill>
              <a:srgbClr val="00AF4F"/>
            </a:solidFill>
            <a:prstDash val="solid"/>
            <a:round/>
            <a:headEnd len="sm" w="sm" type="none"/>
            <a:tailEnd len="sm" w="sm" type="none"/>
          </a:ln>
        </p:spPr>
        <p:txBody>
          <a:bodyPr anchorCtr="0" anchor="t" bIns="0" lIns="0" spcFirstLastPara="1" rIns="0" wrap="square" tIns="77450">
            <a:spAutoFit/>
          </a:bodyPr>
          <a:lstStyle/>
          <a:p>
            <a:pPr indent="0" lvl="0" marL="228600" rtl="0" algn="l">
              <a:lnSpc>
                <a:spcPct val="100000"/>
              </a:lnSpc>
              <a:spcBef>
                <a:spcPts val="0"/>
              </a:spcBef>
              <a:spcAft>
                <a:spcPts val="0"/>
              </a:spcAft>
              <a:buNone/>
            </a:pPr>
            <a:r>
              <a:rPr b="1" lang="en-US" sz="1800">
                <a:latin typeface="Calibri"/>
                <a:ea typeface="Calibri"/>
                <a:cs typeface="Calibri"/>
                <a:sym typeface="Calibri"/>
              </a:rPr>
              <a:t>Loss (Cross-Entropy)</a:t>
            </a:r>
            <a:endParaRPr sz="1800">
              <a:latin typeface="Calibri"/>
              <a:ea typeface="Calibri"/>
              <a:cs typeface="Calibri"/>
              <a:sym typeface="Calibri"/>
            </a:endParaRPr>
          </a:p>
          <a:p>
            <a:pPr indent="0" lvl="0" marL="228600" rtl="0" algn="l">
              <a:lnSpc>
                <a:spcPct val="100000"/>
              </a:lnSpc>
              <a:spcBef>
                <a:spcPts val="1080"/>
              </a:spcBef>
              <a:spcAft>
                <a:spcPts val="0"/>
              </a:spcAft>
              <a:buNone/>
            </a:pPr>
            <a:r>
              <a:rPr lang="en-US" sz="1800">
                <a:solidFill>
                  <a:srgbClr val="0C1A29"/>
                </a:solidFill>
                <a:latin typeface="Calibri"/>
                <a:ea typeface="Calibri"/>
                <a:cs typeface="Calibri"/>
                <a:sym typeface="Calibri"/>
              </a:rPr>
              <a:t>L = − Σ</a:t>
            </a:r>
            <a:r>
              <a:rPr lang="en-US" sz="1800">
                <a:solidFill>
                  <a:srgbClr val="0C1A29"/>
                </a:solidFill>
                <a:latin typeface="Times New Roman"/>
                <a:ea typeface="Times New Roman"/>
                <a:cs typeface="Times New Roman"/>
                <a:sym typeface="Times New Roman"/>
              </a:rPr>
              <a:t>ₜ </a:t>
            </a:r>
            <a:r>
              <a:rPr lang="en-US" sz="1800">
                <a:solidFill>
                  <a:srgbClr val="0C1A29"/>
                </a:solidFill>
                <a:latin typeface="Calibri"/>
                <a:ea typeface="Calibri"/>
                <a:cs typeface="Calibri"/>
                <a:sym typeface="Calibri"/>
              </a:rPr>
              <a:t>log P(y</a:t>
            </a:r>
            <a:r>
              <a:rPr lang="en-US" sz="1800">
                <a:solidFill>
                  <a:srgbClr val="0C1A29"/>
                </a:solidFill>
                <a:latin typeface="Times New Roman"/>
                <a:ea typeface="Times New Roman"/>
                <a:cs typeface="Times New Roman"/>
                <a:sym typeface="Times New Roman"/>
              </a:rPr>
              <a:t>ₜ </a:t>
            </a:r>
            <a:r>
              <a:rPr lang="en-US" sz="1800">
                <a:solidFill>
                  <a:srgbClr val="0C1A29"/>
                </a:solidFill>
                <a:latin typeface="Calibri"/>
                <a:ea typeface="Calibri"/>
                <a:cs typeface="Calibri"/>
                <a:sym typeface="Calibri"/>
              </a:rPr>
              <a:t>| x₁…x</a:t>
            </a:r>
            <a:r>
              <a:rPr lang="en-US" sz="1800">
                <a:solidFill>
                  <a:srgbClr val="0C1A29"/>
                </a:solidFill>
                <a:latin typeface="Times New Roman"/>
                <a:ea typeface="Times New Roman"/>
                <a:cs typeface="Times New Roman"/>
                <a:sym typeface="Times New Roman"/>
              </a:rPr>
              <a:t>ₜ</a:t>
            </a:r>
            <a:r>
              <a:rPr lang="en-US" sz="1800">
                <a:solidFill>
                  <a:srgbClr val="0C1A29"/>
                </a:solidFill>
                <a:latin typeface="Calibri"/>
                <a:ea typeface="Calibri"/>
                <a:cs typeface="Calibri"/>
                <a:sym typeface="Calibri"/>
              </a:rPr>
              <a:t>)</a:t>
            </a:r>
            <a:endParaRPr sz="1800">
              <a:latin typeface="Calibri"/>
              <a:ea typeface="Calibri"/>
              <a:cs typeface="Calibri"/>
              <a:sym typeface="Calibri"/>
            </a:endParaRPr>
          </a:p>
        </p:txBody>
      </p:sp>
      <p:sp>
        <p:nvSpPr>
          <p:cNvPr id="457" name="Google Shape;457;p8"/>
          <p:cNvSpPr/>
          <p:nvPr/>
        </p:nvSpPr>
        <p:spPr>
          <a:xfrm>
            <a:off x="172796" y="4233965"/>
            <a:ext cx="8412480" cy="658495"/>
          </a:xfrm>
          <a:custGeom>
            <a:rect b="b" l="l" r="r" t="t"/>
            <a:pathLst>
              <a:path extrusionOk="0" h="658495" w="8412480">
                <a:moveTo>
                  <a:pt x="8412124" y="0"/>
                </a:moveTo>
                <a:lnTo>
                  <a:pt x="0" y="0"/>
                </a:lnTo>
                <a:lnTo>
                  <a:pt x="0" y="658075"/>
                </a:lnTo>
                <a:lnTo>
                  <a:pt x="4206240" y="658075"/>
                </a:lnTo>
                <a:lnTo>
                  <a:pt x="8412124" y="658075"/>
                </a:lnTo>
                <a:lnTo>
                  <a:pt x="8412124"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58" name="Google Shape;458;p8"/>
          <p:cNvSpPr txBox="1"/>
          <p:nvPr/>
        </p:nvSpPr>
        <p:spPr>
          <a:xfrm>
            <a:off x="172796" y="4233965"/>
            <a:ext cx="8412480" cy="658495"/>
          </a:xfrm>
          <a:prstGeom prst="rect">
            <a:avLst/>
          </a:prstGeom>
          <a:noFill/>
          <a:ln cap="flat" cmpd="sng" w="9525">
            <a:solidFill>
              <a:srgbClr val="00AF4F"/>
            </a:solidFill>
            <a:prstDash val="solid"/>
            <a:round/>
            <a:headEnd len="sm" w="sm" type="none"/>
            <a:tailEnd len="sm" w="sm" type="none"/>
          </a:ln>
        </p:spPr>
        <p:txBody>
          <a:bodyPr anchorCtr="0" anchor="t" bIns="0" lIns="0" spcFirstLastPara="1" rIns="0" wrap="square" tIns="173350">
            <a:spAutoFit/>
          </a:bodyPr>
          <a:lstStyle/>
          <a:p>
            <a:pPr indent="0" lvl="0" marL="182880" rtl="0" algn="l">
              <a:lnSpc>
                <a:spcPct val="100000"/>
              </a:lnSpc>
              <a:spcBef>
                <a:spcPts val="0"/>
              </a:spcBef>
              <a:spcAft>
                <a:spcPts val="0"/>
              </a:spcAft>
              <a:buNone/>
            </a:pPr>
            <a:r>
              <a:rPr b="1" lang="en-US" sz="1800">
                <a:latin typeface="Calibri"/>
                <a:ea typeface="Calibri"/>
                <a:cs typeface="Calibri"/>
                <a:sym typeface="Calibri"/>
              </a:rPr>
              <a:t>x</a:t>
            </a:r>
            <a:r>
              <a:rPr lang="en-US" sz="1800">
                <a:latin typeface="Quattrocento Sans"/>
                <a:ea typeface="Quattrocento Sans"/>
                <a:cs typeface="Quattrocento Sans"/>
                <a:sym typeface="Quattrocento Sans"/>
              </a:rPr>
              <a:t>ₜ </a:t>
            </a:r>
            <a:r>
              <a:rPr lang="en-US" sz="1800">
                <a:latin typeface="Calibri"/>
                <a:ea typeface="Calibri"/>
                <a:cs typeface="Calibri"/>
                <a:sym typeface="Calibri"/>
              </a:rPr>
              <a:t>= input	</a:t>
            </a:r>
            <a:r>
              <a:rPr b="1" lang="en-US" sz="1800">
                <a:latin typeface="Calibri"/>
                <a:ea typeface="Calibri"/>
                <a:cs typeface="Calibri"/>
                <a:sym typeface="Calibri"/>
              </a:rPr>
              <a:t>h</a:t>
            </a:r>
            <a:r>
              <a:rPr lang="en-US" sz="1800">
                <a:latin typeface="Quattrocento Sans"/>
                <a:ea typeface="Quattrocento Sans"/>
                <a:cs typeface="Quattrocento Sans"/>
                <a:sym typeface="Quattrocento Sans"/>
              </a:rPr>
              <a:t>ₜ </a:t>
            </a:r>
            <a:r>
              <a:rPr lang="en-US" sz="1800">
                <a:latin typeface="Calibri"/>
                <a:ea typeface="Calibri"/>
                <a:cs typeface="Calibri"/>
                <a:sym typeface="Calibri"/>
              </a:rPr>
              <a:t>= hidden state	</a:t>
            </a:r>
            <a:r>
              <a:rPr b="1" lang="en-US" sz="1800">
                <a:latin typeface="Calibri"/>
                <a:ea typeface="Calibri"/>
                <a:cs typeface="Calibri"/>
                <a:sym typeface="Calibri"/>
              </a:rPr>
              <a:t>W</a:t>
            </a:r>
            <a:r>
              <a:rPr lang="en-US" sz="1800">
                <a:latin typeface="Quattrocento Sans"/>
                <a:ea typeface="Quattrocento Sans"/>
                <a:cs typeface="Quattrocento Sans"/>
                <a:sym typeface="Quattrocento Sans"/>
              </a:rPr>
              <a:t>ₕ</a:t>
            </a:r>
            <a:r>
              <a:rPr b="1" lang="en-US" sz="1800">
                <a:latin typeface="Calibri"/>
                <a:ea typeface="Calibri"/>
                <a:cs typeface="Calibri"/>
                <a:sym typeface="Calibri"/>
              </a:rPr>
              <a:t>, Wₓ, Wᵧ </a:t>
            </a:r>
            <a:r>
              <a:rPr lang="en-US" sz="1800">
                <a:latin typeface="Calibri"/>
                <a:ea typeface="Calibri"/>
                <a:cs typeface="Calibri"/>
                <a:sym typeface="Calibri"/>
              </a:rPr>
              <a:t>= learnable weights	</a:t>
            </a:r>
            <a:r>
              <a:rPr b="1" lang="en-US" sz="1800">
                <a:latin typeface="Calibri"/>
                <a:ea typeface="Calibri"/>
                <a:cs typeface="Calibri"/>
                <a:sym typeface="Calibri"/>
              </a:rPr>
              <a:t>b </a:t>
            </a:r>
            <a:r>
              <a:rPr lang="en-US" sz="1800">
                <a:latin typeface="Calibri"/>
                <a:ea typeface="Calibri"/>
                <a:cs typeface="Calibri"/>
                <a:sym typeface="Calibri"/>
              </a:rPr>
              <a:t>= bias</a:t>
            </a:r>
            <a:endParaRPr sz="1800">
              <a:latin typeface="Calibri"/>
              <a:ea typeface="Calibri"/>
              <a:cs typeface="Calibri"/>
              <a:sym typeface="Calibri"/>
            </a:endParaRPr>
          </a:p>
        </p:txBody>
      </p:sp>
      <p:sp>
        <p:nvSpPr>
          <p:cNvPr id="459" name="Google Shape;459;p8"/>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1270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descr="$PPTXTitle" id="464" name="Google Shape;464;p9"/>
          <p:cNvSpPr txBox="1"/>
          <p:nvPr>
            <p:ph type="title"/>
          </p:nvPr>
        </p:nvSpPr>
        <p:spPr>
          <a:xfrm>
            <a:off x="152184" y="63260"/>
            <a:ext cx="8839631" cy="879475"/>
          </a:xfrm>
          <a:prstGeom prst="rect">
            <a:avLst/>
          </a:prstGeom>
          <a:noFill/>
          <a:ln>
            <a:noFill/>
          </a:ln>
        </p:spPr>
        <p:txBody>
          <a:bodyPr anchorCtr="0" anchor="t" bIns="0" lIns="0" spcFirstLastPara="1" rIns="0" wrap="square" tIns="251925">
            <a:spAutoFit/>
          </a:bodyPr>
          <a:lstStyle/>
          <a:p>
            <a:pPr indent="0" lvl="0" marL="1441450" rtl="0" algn="l">
              <a:lnSpc>
                <a:spcPct val="100000"/>
              </a:lnSpc>
              <a:spcBef>
                <a:spcPts val="0"/>
              </a:spcBef>
              <a:spcAft>
                <a:spcPts val="0"/>
              </a:spcAft>
              <a:buNone/>
            </a:pPr>
            <a:r>
              <a:rPr lang="en-US" sz="2600">
                <a:solidFill>
                  <a:srgbClr val="000000"/>
                </a:solidFill>
              </a:rPr>
              <a:t>Training RNNs &amp; The Gradient Problem</a:t>
            </a:r>
            <a:endParaRPr sz="2600"/>
          </a:p>
        </p:txBody>
      </p:sp>
      <p:grpSp>
        <p:nvGrpSpPr>
          <p:cNvPr id="465" name="Google Shape;465;p9"/>
          <p:cNvGrpSpPr/>
          <p:nvPr/>
        </p:nvGrpSpPr>
        <p:grpSpPr>
          <a:xfrm>
            <a:off x="232562" y="925908"/>
            <a:ext cx="4235399" cy="2131936"/>
            <a:chOff x="232562" y="925908"/>
            <a:chExt cx="4235399" cy="2131936"/>
          </a:xfrm>
        </p:grpSpPr>
        <p:pic>
          <p:nvPicPr>
            <p:cNvPr id="466" name="Google Shape;466;p9"/>
            <p:cNvPicPr preferRelativeResize="0"/>
            <p:nvPr/>
          </p:nvPicPr>
          <p:blipFill rotWithShape="1">
            <a:blip r:embed="rId3">
              <a:alphaModFix/>
            </a:blip>
            <a:srcRect b="0" l="0" r="0" t="0"/>
            <a:stretch/>
          </p:blipFill>
          <p:spPr>
            <a:xfrm>
              <a:off x="232562" y="925908"/>
              <a:ext cx="4235399" cy="2131936"/>
            </a:xfrm>
            <a:prstGeom prst="rect">
              <a:avLst/>
            </a:prstGeom>
            <a:noFill/>
            <a:ln>
              <a:noFill/>
            </a:ln>
          </p:spPr>
        </p:pic>
        <p:sp>
          <p:nvSpPr>
            <p:cNvPr id="467" name="Google Shape;467;p9"/>
            <p:cNvSpPr/>
            <p:nvPr/>
          </p:nvSpPr>
          <p:spPr>
            <a:xfrm>
              <a:off x="365404" y="1005486"/>
              <a:ext cx="4023360" cy="1920239"/>
            </a:xfrm>
            <a:custGeom>
              <a:rect b="b" l="l" r="r" t="t"/>
              <a:pathLst>
                <a:path extrusionOk="0" h="1920239" w="4023360">
                  <a:moveTo>
                    <a:pt x="4022991" y="0"/>
                  </a:moveTo>
                  <a:lnTo>
                    <a:pt x="0" y="0"/>
                  </a:lnTo>
                  <a:lnTo>
                    <a:pt x="0" y="1919871"/>
                  </a:lnTo>
                  <a:lnTo>
                    <a:pt x="2011680" y="1919871"/>
                  </a:lnTo>
                  <a:lnTo>
                    <a:pt x="4022991" y="1919871"/>
                  </a:lnTo>
                  <a:lnTo>
                    <a:pt x="402299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68" name="Google Shape;468;p9"/>
            <p:cNvSpPr/>
            <p:nvPr/>
          </p:nvSpPr>
          <p:spPr>
            <a:xfrm>
              <a:off x="365404" y="1005486"/>
              <a:ext cx="4023360" cy="1920239"/>
            </a:xfrm>
            <a:custGeom>
              <a:rect b="b" l="l" r="r" t="t"/>
              <a:pathLst>
                <a:path extrusionOk="0" h="1920239" w="4023360">
                  <a:moveTo>
                    <a:pt x="2011680" y="1919871"/>
                  </a:moveTo>
                  <a:lnTo>
                    <a:pt x="0" y="1919871"/>
                  </a:lnTo>
                  <a:lnTo>
                    <a:pt x="0" y="0"/>
                  </a:lnTo>
                  <a:lnTo>
                    <a:pt x="4022991" y="0"/>
                  </a:lnTo>
                  <a:lnTo>
                    <a:pt x="4022991" y="1919871"/>
                  </a:lnTo>
                  <a:lnTo>
                    <a:pt x="2011680" y="1919871"/>
                  </a:lnTo>
                  <a:close/>
                </a:path>
              </a:pathLst>
            </a:custGeom>
            <a:noFill/>
            <a:ln cap="flat" cmpd="sng" w="9525">
              <a:solidFill>
                <a:srgbClr val="93D1BC"/>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469" name="Google Shape;469;p9"/>
          <p:cNvSpPr txBox="1"/>
          <p:nvPr/>
        </p:nvSpPr>
        <p:spPr>
          <a:xfrm>
            <a:off x="502564" y="1183578"/>
            <a:ext cx="2757805" cy="134366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400">
                <a:latin typeface="Calibri"/>
                <a:ea typeface="Calibri"/>
                <a:cs typeface="Calibri"/>
                <a:sym typeface="Calibri"/>
              </a:rPr>
              <a:t>Backprop Through Time (BPTT)</a:t>
            </a:r>
            <a:endParaRPr sz="1400">
              <a:latin typeface="Calibri"/>
              <a:ea typeface="Calibri"/>
              <a:cs typeface="Calibri"/>
              <a:sym typeface="Calibri"/>
            </a:endParaRPr>
          </a:p>
          <a:p>
            <a:pPr indent="0" lvl="0" marL="0" rtl="0" algn="l">
              <a:lnSpc>
                <a:spcPct val="100000"/>
              </a:lnSpc>
              <a:spcBef>
                <a:spcPts val="1225"/>
              </a:spcBef>
              <a:spcAft>
                <a:spcPts val="0"/>
              </a:spcAft>
              <a:buNone/>
            </a:pPr>
            <a:r>
              <a:t/>
            </a:r>
            <a:endParaRPr sz="1400">
              <a:latin typeface="Calibri"/>
              <a:ea typeface="Calibri"/>
              <a:cs typeface="Calibri"/>
              <a:sym typeface="Calibri"/>
            </a:endParaRPr>
          </a:p>
          <a:p>
            <a:pPr indent="-343535" lvl="0" marL="434340" rtl="0" algn="l">
              <a:lnSpc>
                <a:spcPct val="100000"/>
              </a:lnSpc>
              <a:spcBef>
                <a:spcPts val="0"/>
              </a:spcBef>
              <a:spcAft>
                <a:spcPts val="0"/>
              </a:spcAft>
              <a:buSzPts val="1200"/>
              <a:buFont typeface="Calibri"/>
              <a:buChar char="•"/>
            </a:pPr>
            <a:r>
              <a:rPr lang="en-US" sz="1200">
                <a:latin typeface="Calibri"/>
                <a:ea typeface="Calibri"/>
                <a:cs typeface="Calibri"/>
                <a:sym typeface="Calibri"/>
              </a:rPr>
              <a:t>Unfold RNN across T time steps</a:t>
            </a:r>
            <a:endParaRPr sz="1200">
              <a:latin typeface="Calibri"/>
              <a:ea typeface="Calibri"/>
              <a:cs typeface="Calibri"/>
              <a:sym typeface="Calibri"/>
            </a:endParaRPr>
          </a:p>
          <a:p>
            <a:pPr indent="-343535" lvl="0" marL="434340" rtl="0" algn="l">
              <a:lnSpc>
                <a:spcPct val="100000"/>
              </a:lnSpc>
              <a:spcBef>
                <a:spcPts val="0"/>
              </a:spcBef>
              <a:spcAft>
                <a:spcPts val="0"/>
              </a:spcAft>
              <a:buSzPts val="1200"/>
              <a:buFont typeface="Calibri"/>
              <a:buChar char="•"/>
            </a:pPr>
            <a:r>
              <a:rPr lang="en-US" sz="1200">
                <a:latin typeface="Calibri"/>
                <a:ea typeface="Calibri"/>
                <a:cs typeface="Calibri"/>
                <a:sym typeface="Calibri"/>
              </a:rPr>
              <a:t>Compute gradients at each step</a:t>
            </a:r>
            <a:endParaRPr sz="1200">
              <a:latin typeface="Calibri"/>
              <a:ea typeface="Calibri"/>
              <a:cs typeface="Calibri"/>
              <a:sym typeface="Calibri"/>
            </a:endParaRPr>
          </a:p>
          <a:p>
            <a:pPr indent="-343535" lvl="0" marL="434340" rtl="0" algn="l">
              <a:lnSpc>
                <a:spcPct val="100000"/>
              </a:lnSpc>
              <a:spcBef>
                <a:spcPts val="0"/>
              </a:spcBef>
              <a:spcAft>
                <a:spcPts val="0"/>
              </a:spcAft>
              <a:buSzPts val="1200"/>
              <a:buFont typeface="Calibri"/>
              <a:buChar char="•"/>
            </a:pPr>
            <a:r>
              <a:rPr lang="en-US" sz="1200">
                <a:latin typeface="Calibri"/>
                <a:ea typeface="Calibri"/>
                <a:cs typeface="Calibri"/>
                <a:sym typeface="Calibri"/>
              </a:rPr>
              <a:t>Sum gradients and update weights</a:t>
            </a:r>
            <a:endParaRPr sz="1200">
              <a:latin typeface="Calibri"/>
              <a:ea typeface="Calibri"/>
              <a:cs typeface="Calibri"/>
              <a:sym typeface="Calibri"/>
            </a:endParaRPr>
          </a:p>
          <a:p>
            <a:pPr indent="-343535" lvl="0" marL="434340" rtl="0" algn="l">
              <a:lnSpc>
                <a:spcPct val="100000"/>
              </a:lnSpc>
              <a:spcBef>
                <a:spcPts val="0"/>
              </a:spcBef>
              <a:spcAft>
                <a:spcPts val="0"/>
              </a:spcAft>
              <a:buSzPts val="1200"/>
              <a:buFont typeface="Calibri"/>
              <a:buChar char="•"/>
            </a:pPr>
            <a:r>
              <a:rPr lang="en-US" sz="1200">
                <a:latin typeface="Calibri"/>
                <a:ea typeface="Calibri"/>
                <a:cs typeface="Calibri"/>
                <a:sym typeface="Calibri"/>
              </a:rPr>
              <a:t>Gradient = chain of partial derivatives</a:t>
            </a:r>
            <a:endParaRPr sz="1200">
              <a:latin typeface="Calibri"/>
              <a:ea typeface="Calibri"/>
              <a:cs typeface="Calibri"/>
              <a:sym typeface="Calibri"/>
            </a:endParaRPr>
          </a:p>
        </p:txBody>
      </p:sp>
      <p:grpSp>
        <p:nvGrpSpPr>
          <p:cNvPr id="470" name="Google Shape;470;p9"/>
          <p:cNvGrpSpPr/>
          <p:nvPr/>
        </p:nvGrpSpPr>
        <p:grpSpPr>
          <a:xfrm>
            <a:off x="396354" y="984226"/>
            <a:ext cx="8471534" cy="3592462"/>
            <a:chOff x="396354" y="984226"/>
            <a:chExt cx="8471534" cy="3592462"/>
          </a:xfrm>
        </p:grpSpPr>
        <p:pic>
          <p:nvPicPr>
            <p:cNvPr id="471" name="Google Shape;471;p9"/>
            <p:cNvPicPr preferRelativeResize="0"/>
            <p:nvPr/>
          </p:nvPicPr>
          <p:blipFill rotWithShape="1">
            <a:blip r:embed="rId4">
              <a:alphaModFix/>
            </a:blip>
            <a:srcRect b="0" l="0" r="0" t="0"/>
            <a:stretch/>
          </p:blipFill>
          <p:spPr>
            <a:xfrm>
              <a:off x="396354" y="3119414"/>
              <a:ext cx="2942272" cy="1457274"/>
            </a:xfrm>
            <a:prstGeom prst="rect">
              <a:avLst/>
            </a:prstGeom>
            <a:noFill/>
            <a:ln>
              <a:noFill/>
            </a:ln>
          </p:spPr>
        </p:pic>
        <p:pic>
          <p:nvPicPr>
            <p:cNvPr id="472" name="Google Shape;472;p9"/>
            <p:cNvPicPr preferRelativeResize="0"/>
            <p:nvPr/>
          </p:nvPicPr>
          <p:blipFill rotWithShape="1">
            <a:blip r:embed="rId5">
              <a:alphaModFix/>
            </a:blip>
            <a:srcRect b="0" l="0" r="0" t="0"/>
            <a:stretch/>
          </p:blipFill>
          <p:spPr>
            <a:xfrm>
              <a:off x="4664163" y="984226"/>
              <a:ext cx="4203725" cy="1231569"/>
            </a:xfrm>
            <a:prstGeom prst="rect">
              <a:avLst/>
            </a:prstGeom>
            <a:noFill/>
            <a:ln>
              <a:noFill/>
            </a:ln>
          </p:spPr>
        </p:pic>
        <p:sp>
          <p:nvSpPr>
            <p:cNvPr id="473" name="Google Shape;473;p9"/>
            <p:cNvSpPr/>
            <p:nvPr/>
          </p:nvSpPr>
          <p:spPr>
            <a:xfrm>
              <a:off x="4708804" y="1005842"/>
              <a:ext cx="4114800" cy="1143000"/>
            </a:xfrm>
            <a:custGeom>
              <a:rect b="b" l="l" r="r" t="t"/>
              <a:pathLst>
                <a:path extrusionOk="0" h="1143000" w="4114800">
                  <a:moveTo>
                    <a:pt x="4114431" y="0"/>
                  </a:moveTo>
                  <a:lnTo>
                    <a:pt x="0" y="0"/>
                  </a:lnTo>
                  <a:lnTo>
                    <a:pt x="0" y="1142644"/>
                  </a:lnTo>
                  <a:lnTo>
                    <a:pt x="2057400" y="1142644"/>
                  </a:lnTo>
                  <a:lnTo>
                    <a:pt x="4114431" y="1142644"/>
                  </a:lnTo>
                  <a:lnTo>
                    <a:pt x="4114431" y="0"/>
                  </a:lnTo>
                  <a:close/>
                </a:path>
              </a:pathLst>
            </a:custGeom>
            <a:solidFill>
              <a:srgbClr val="EFF9F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474" name="Google Shape;474;p9"/>
            <p:cNvPicPr preferRelativeResize="0"/>
            <p:nvPr/>
          </p:nvPicPr>
          <p:blipFill rotWithShape="1">
            <a:blip r:embed="rId6">
              <a:alphaModFix/>
            </a:blip>
            <a:srcRect b="0" l="0" r="0" t="0"/>
            <a:stretch/>
          </p:blipFill>
          <p:spPr>
            <a:xfrm>
              <a:off x="4669205" y="988912"/>
              <a:ext cx="189357" cy="1222209"/>
            </a:xfrm>
            <a:prstGeom prst="rect">
              <a:avLst/>
            </a:prstGeom>
            <a:noFill/>
            <a:ln>
              <a:noFill/>
            </a:ln>
          </p:spPr>
        </p:pic>
        <p:sp>
          <p:nvSpPr>
            <p:cNvPr id="475" name="Google Shape;475;p9"/>
            <p:cNvSpPr/>
            <p:nvPr/>
          </p:nvSpPr>
          <p:spPr>
            <a:xfrm>
              <a:off x="4709160" y="1005842"/>
              <a:ext cx="109855" cy="1143000"/>
            </a:xfrm>
            <a:custGeom>
              <a:rect b="b" l="l" r="r" t="t"/>
              <a:pathLst>
                <a:path extrusionOk="0" h="1143000" w="109854">
                  <a:moveTo>
                    <a:pt x="109435" y="0"/>
                  </a:moveTo>
                  <a:lnTo>
                    <a:pt x="0" y="0"/>
                  </a:lnTo>
                  <a:lnTo>
                    <a:pt x="0" y="1142644"/>
                  </a:lnTo>
                  <a:lnTo>
                    <a:pt x="54724" y="1142644"/>
                  </a:lnTo>
                  <a:lnTo>
                    <a:pt x="109435" y="1142644"/>
                  </a:lnTo>
                  <a:lnTo>
                    <a:pt x="109435" y="0"/>
                  </a:lnTo>
                  <a:close/>
                </a:path>
              </a:pathLst>
            </a:custGeom>
            <a:solidFill>
              <a:srgbClr val="017F8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476" name="Google Shape;476;p9"/>
          <p:cNvSpPr txBox="1"/>
          <p:nvPr/>
        </p:nvSpPr>
        <p:spPr>
          <a:xfrm>
            <a:off x="4708804" y="1005841"/>
            <a:ext cx="4114800" cy="1143000"/>
          </a:xfrm>
          <a:prstGeom prst="rect">
            <a:avLst/>
          </a:prstGeom>
          <a:noFill/>
          <a:ln cap="flat" cmpd="sng" w="9525">
            <a:solidFill>
              <a:srgbClr val="D0E7E7"/>
            </a:solidFill>
            <a:prstDash val="solid"/>
            <a:round/>
            <a:headEnd len="sm" w="sm" type="none"/>
            <a:tailEnd len="sm" w="sm" type="none"/>
          </a:ln>
        </p:spPr>
        <p:txBody>
          <a:bodyPr anchorCtr="0" anchor="t" bIns="0" lIns="0" spcFirstLastPara="1" rIns="0" wrap="square" tIns="137150">
            <a:spAutoFit/>
          </a:bodyPr>
          <a:lstStyle/>
          <a:p>
            <a:pPr indent="0" lvl="0" marL="274320" rtl="0" algn="l">
              <a:lnSpc>
                <a:spcPct val="100000"/>
              </a:lnSpc>
              <a:spcBef>
                <a:spcPts val="0"/>
              </a:spcBef>
              <a:spcAft>
                <a:spcPts val="0"/>
              </a:spcAft>
              <a:buNone/>
            </a:pPr>
            <a:r>
              <a:rPr b="1" lang="en-US" sz="1300">
                <a:solidFill>
                  <a:srgbClr val="1B3043"/>
                </a:solidFill>
                <a:latin typeface="Arial"/>
                <a:ea typeface="Arial"/>
                <a:cs typeface="Arial"/>
                <a:sym typeface="Arial"/>
              </a:rPr>
              <a:t>Step 1: Compute gradients at every time step</a:t>
            </a:r>
            <a:endParaRPr sz="1300">
              <a:latin typeface="Arial"/>
              <a:ea typeface="Arial"/>
              <a:cs typeface="Arial"/>
              <a:sym typeface="Arial"/>
            </a:endParaRPr>
          </a:p>
          <a:p>
            <a:pPr indent="0" lvl="0" marL="274320" marR="671195" rtl="0" algn="l">
              <a:lnSpc>
                <a:spcPct val="100000"/>
              </a:lnSpc>
              <a:spcBef>
                <a:spcPts val="1025"/>
              </a:spcBef>
              <a:spcAft>
                <a:spcPts val="0"/>
              </a:spcAft>
              <a:buNone/>
            </a:pPr>
            <a:r>
              <a:rPr lang="en-US" sz="1200">
                <a:solidFill>
                  <a:srgbClr val="2C4959"/>
                </a:solidFill>
                <a:latin typeface="Helvetica Neue"/>
                <a:ea typeface="Helvetica Neue"/>
                <a:cs typeface="Helvetica Neue"/>
                <a:sym typeface="Helvetica Neue"/>
              </a:rPr>
              <a:t>At each time step t, backpropagate through the unrolled RNN:</a:t>
            </a:r>
            <a:endParaRPr sz="1200">
              <a:latin typeface="Helvetica Neue"/>
              <a:ea typeface="Helvetica Neue"/>
              <a:cs typeface="Helvetica Neue"/>
              <a:sym typeface="Helvetica Neue"/>
            </a:endParaRPr>
          </a:p>
          <a:p>
            <a:pPr indent="0" lvl="0" marL="526415" rtl="0" algn="l">
              <a:lnSpc>
                <a:spcPct val="100000"/>
              </a:lnSpc>
              <a:spcBef>
                <a:spcPts val="0"/>
              </a:spcBef>
              <a:spcAft>
                <a:spcPts val="0"/>
              </a:spcAft>
              <a:buNone/>
            </a:pPr>
            <a:r>
              <a:rPr lang="en-US" sz="1200">
                <a:solidFill>
                  <a:srgbClr val="2C4959"/>
                </a:solidFill>
                <a:latin typeface="Helvetica Neue"/>
                <a:ea typeface="Helvetica Neue"/>
                <a:cs typeface="Helvetica Neue"/>
                <a:sym typeface="Helvetica Neue"/>
              </a:rPr>
              <a:t>∂Lt / ∂Wh</a:t>
            </a:r>
            <a:endParaRPr sz="1200">
              <a:latin typeface="Helvetica Neue"/>
              <a:ea typeface="Helvetica Neue"/>
              <a:cs typeface="Helvetica Neue"/>
              <a:sym typeface="Helvetica Neue"/>
            </a:endParaRPr>
          </a:p>
        </p:txBody>
      </p:sp>
      <p:grpSp>
        <p:nvGrpSpPr>
          <p:cNvPr id="477" name="Google Shape;477;p9"/>
          <p:cNvGrpSpPr/>
          <p:nvPr/>
        </p:nvGrpSpPr>
        <p:grpSpPr>
          <a:xfrm>
            <a:off x="4664163" y="2264030"/>
            <a:ext cx="4203725" cy="1460169"/>
            <a:chOff x="4664163" y="2264030"/>
            <a:chExt cx="4203725" cy="1460169"/>
          </a:xfrm>
        </p:grpSpPr>
        <p:pic>
          <p:nvPicPr>
            <p:cNvPr id="478" name="Google Shape;478;p9"/>
            <p:cNvPicPr preferRelativeResize="0"/>
            <p:nvPr/>
          </p:nvPicPr>
          <p:blipFill rotWithShape="1">
            <a:blip r:embed="rId7">
              <a:alphaModFix/>
            </a:blip>
            <a:srcRect b="0" l="0" r="0" t="0"/>
            <a:stretch/>
          </p:blipFill>
          <p:spPr>
            <a:xfrm>
              <a:off x="4664163" y="2264030"/>
              <a:ext cx="4203725" cy="1460169"/>
            </a:xfrm>
            <a:prstGeom prst="rect">
              <a:avLst/>
            </a:prstGeom>
            <a:noFill/>
            <a:ln>
              <a:noFill/>
            </a:ln>
          </p:spPr>
        </p:pic>
        <p:sp>
          <p:nvSpPr>
            <p:cNvPr id="479" name="Google Shape;479;p9"/>
            <p:cNvSpPr/>
            <p:nvPr/>
          </p:nvSpPr>
          <p:spPr>
            <a:xfrm>
              <a:off x="4708804" y="2285646"/>
              <a:ext cx="4114800" cy="1371600"/>
            </a:xfrm>
            <a:custGeom>
              <a:rect b="b" l="l" r="r" t="t"/>
              <a:pathLst>
                <a:path extrusionOk="0" h="1371600" w="4114800">
                  <a:moveTo>
                    <a:pt x="4114431" y="0"/>
                  </a:moveTo>
                  <a:lnTo>
                    <a:pt x="0" y="0"/>
                  </a:lnTo>
                  <a:lnTo>
                    <a:pt x="0" y="1371231"/>
                  </a:lnTo>
                  <a:lnTo>
                    <a:pt x="2057400" y="1371231"/>
                  </a:lnTo>
                  <a:lnTo>
                    <a:pt x="4114431" y="1371231"/>
                  </a:lnTo>
                  <a:lnTo>
                    <a:pt x="4114431" y="0"/>
                  </a:lnTo>
                  <a:close/>
                </a:path>
              </a:pathLst>
            </a:custGeom>
            <a:solidFill>
              <a:srgbClr val="EFF9F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480" name="Google Shape;480;p9"/>
            <p:cNvPicPr preferRelativeResize="0"/>
            <p:nvPr/>
          </p:nvPicPr>
          <p:blipFill rotWithShape="1">
            <a:blip r:embed="rId8">
              <a:alphaModFix/>
            </a:blip>
            <a:srcRect b="0" l="0" r="0" t="0"/>
            <a:stretch/>
          </p:blipFill>
          <p:spPr>
            <a:xfrm>
              <a:off x="4669205" y="2268704"/>
              <a:ext cx="189357" cy="1450822"/>
            </a:xfrm>
            <a:prstGeom prst="rect">
              <a:avLst/>
            </a:prstGeom>
            <a:noFill/>
            <a:ln>
              <a:noFill/>
            </a:ln>
          </p:spPr>
        </p:pic>
        <p:sp>
          <p:nvSpPr>
            <p:cNvPr id="481" name="Google Shape;481;p9"/>
            <p:cNvSpPr/>
            <p:nvPr/>
          </p:nvSpPr>
          <p:spPr>
            <a:xfrm>
              <a:off x="4709159" y="2285646"/>
              <a:ext cx="109855" cy="1371600"/>
            </a:xfrm>
            <a:custGeom>
              <a:rect b="b" l="l" r="r" t="t"/>
              <a:pathLst>
                <a:path extrusionOk="0" h="1371600" w="109854">
                  <a:moveTo>
                    <a:pt x="109435" y="0"/>
                  </a:moveTo>
                  <a:lnTo>
                    <a:pt x="0" y="0"/>
                  </a:lnTo>
                  <a:lnTo>
                    <a:pt x="0" y="1371231"/>
                  </a:lnTo>
                  <a:lnTo>
                    <a:pt x="54724" y="1371231"/>
                  </a:lnTo>
                  <a:lnTo>
                    <a:pt x="109435" y="1371231"/>
                  </a:lnTo>
                  <a:lnTo>
                    <a:pt x="109435" y="0"/>
                  </a:lnTo>
                  <a:close/>
                </a:path>
              </a:pathLst>
            </a:custGeom>
            <a:solidFill>
              <a:srgbClr val="017F8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482" name="Google Shape;482;p9"/>
          <p:cNvSpPr txBox="1"/>
          <p:nvPr/>
        </p:nvSpPr>
        <p:spPr>
          <a:xfrm>
            <a:off x="4708804" y="2285646"/>
            <a:ext cx="4114800" cy="1371600"/>
          </a:xfrm>
          <a:prstGeom prst="rect">
            <a:avLst/>
          </a:prstGeom>
          <a:noFill/>
          <a:ln cap="flat" cmpd="sng" w="9525">
            <a:solidFill>
              <a:srgbClr val="D0E7E7"/>
            </a:solidFill>
            <a:prstDash val="solid"/>
            <a:round/>
            <a:headEnd len="sm" w="sm" type="none"/>
            <a:tailEnd len="sm" w="sm" type="none"/>
          </a:ln>
        </p:spPr>
        <p:txBody>
          <a:bodyPr anchorCtr="0" anchor="t" bIns="0" lIns="0" spcFirstLastPara="1" rIns="0" wrap="square" tIns="137150">
            <a:spAutoFit/>
          </a:bodyPr>
          <a:lstStyle/>
          <a:p>
            <a:pPr indent="0" lvl="0" marL="274320" rtl="0" algn="l">
              <a:lnSpc>
                <a:spcPct val="100000"/>
              </a:lnSpc>
              <a:spcBef>
                <a:spcPts val="0"/>
              </a:spcBef>
              <a:spcAft>
                <a:spcPts val="0"/>
              </a:spcAft>
              <a:buNone/>
            </a:pPr>
            <a:r>
              <a:rPr b="1" lang="en-US" sz="1300">
                <a:solidFill>
                  <a:srgbClr val="1B3043"/>
                </a:solidFill>
                <a:latin typeface="Arial"/>
                <a:ea typeface="Arial"/>
                <a:cs typeface="Arial"/>
                <a:sym typeface="Arial"/>
              </a:rPr>
              <a:t>Step 2: Accumulate across all time steps</a:t>
            </a:r>
            <a:endParaRPr sz="1300">
              <a:latin typeface="Arial"/>
              <a:ea typeface="Arial"/>
              <a:cs typeface="Arial"/>
              <a:sym typeface="Arial"/>
            </a:endParaRPr>
          </a:p>
          <a:p>
            <a:pPr indent="0" lvl="0" marL="274320" rtl="0" algn="l">
              <a:lnSpc>
                <a:spcPct val="100000"/>
              </a:lnSpc>
              <a:spcBef>
                <a:spcPts val="1030"/>
              </a:spcBef>
              <a:spcAft>
                <a:spcPts val="0"/>
              </a:spcAft>
              <a:buNone/>
            </a:pPr>
            <a:r>
              <a:rPr lang="en-US" sz="1200">
                <a:solidFill>
                  <a:srgbClr val="2C4959"/>
                </a:solidFill>
                <a:latin typeface="Helvetica Neue"/>
                <a:ea typeface="Helvetica Neue"/>
                <a:cs typeface="Helvetica Neue"/>
                <a:sym typeface="Helvetica Neue"/>
              </a:rPr>
              <a:t>∂L / ∂Wh = Σt ∂Lt / ∂Wh</a:t>
            </a:r>
            <a:endParaRPr sz="1200">
              <a:latin typeface="Helvetica Neue"/>
              <a:ea typeface="Helvetica Neue"/>
              <a:cs typeface="Helvetica Neue"/>
              <a:sym typeface="Helvetica Neue"/>
            </a:endParaRPr>
          </a:p>
          <a:p>
            <a:pPr indent="0" lvl="0" marL="0" rtl="0" algn="l">
              <a:lnSpc>
                <a:spcPct val="100000"/>
              </a:lnSpc>
              <a:spcBef>
                <a:spcPts val="80"/>
              </a:spcBef>
              <a:spcAft>
                <a:spcPts val="0"/>
              </a:spcAft>
              <a:buNone/>
            </a:pPr>
            <a:r>
              <a:t/>
            </a:r>
            <a:endParaRPr sz="1200">
              <a:latin typeface="Helvetica Neue"/>
              <a:ea typeface="Helvetica Neue"/>
              <a:cs typeface="Helvetica Neue"/>
              <a:sym typeface="Helvetica Neue"/>
            </a:endParaRPr>
          </a:p>
          <a:p>
            <a:pPr indent="0" lvl="0" marL="274320" rtl="0" algn="l">
              <a:lnSpc>
                <a:spcPct val="100000"/>
              </a:lnSpc>
              <a:spcBef>
                <a:spcPts val="0"/>
              </a:spcBef>
              <a:spcAft>
                <a:spcPts val="0"/>
              </a:spcAft>
              <a:buNone/>
            </a:pPr>
            <a:r>
              <a:rPr lang="en-US" sz="1200">
                <a:solidFill>
                  <a:srgbClr val="2C4959"/>
                </a:solidFill>
                <a:latin typeface="Helvetica Neue"/>
                <a:ea typeface="Helvetica Neue"/>
                <a:cs typeface="Helvetica Neue"/>
                <a:sym typeface="Helvetica Neue"/>
              </a:rPr>
              <a:t>Sum the gradient contributions from every time step.</a:t>
            </a:r>
            <a:endParaRPr sz="1200">
              <a:latin typeface="Helvetica Neue"/>
              <a:ea typeface="Helvetica Neue"/>
              <a:cs typeface="Helvetica Neue"/>
              <a:sym typeface="Helvetica Neue"/>
            </a:endParaRPr>
          </a:p>
        </p:txBody>
      </p:sp>
      <p:grpSp>
        <p:nvGrpSpPr>
          <p:cNvPr id="483" name="Google Shape;483;p9"/>
          <p:cNvGrpSpPr/>
          <p:nvPr/>
        </p:nvGrpSpPr>
        <p:grpSpPr>
          <a:xfrm>
            <a:off x="4664163" y="3772791"/>
            <a:ext cx="4203725" cy="1094409"/>
            <a:chOff x="4664163" y="3772791"/>
            <a:chExt cx="4203725" cy="1094409"/>
          </a:xfrm>
        </p:grpSpPr>
        <p:pic>
          <p:nvPicPr>
            <p:cNvPr id="484" name="Google Shape;484;p9"/>
            <p:cNvPicPr preferRelativeResize="0"/>
            <p:nvPr/>
          </p:nvPicPr>
          <p:blipFill rotWithShape="1">
            <a:blip r:embed="rId9">
              <a:alphaModFix/>
            </a:blip>
            <a:srcRect b="0" l="0" r="0" t="0"/>
            <a:stretch/>
          </p:blipFill>
          <p:spPr>
            <a:xfrm>
              <a:off x="4664163" y="3772791"/>
              <a:ext cx="4203725" cy="1094409"/>
            </a:xfrm>
            <a:prstGeom prst="rect">
              <a:avLst/>
            </a:prstGeom>
            <a:noFill/>
            <a:ln>
              <a:noFill/>
            </a:ln>
          </p:spPr>
        </p:pic>
        <p:sp>
          <p:nvSpPr>
            <p:cNvPr id="485" name="Google Shape;485;p9"/>
            <p:cNvSpPr/>
            <p:nvPr/>
          </p:nvSpPr>
          <p:spPr>
            <a:xfrm>
              <a:off x="4708804" y="3794406"/>
              <a:ext cx="4114800" cy="1005840"/>
            </a:xfrm>
            <a:custGeom>
              <a:rect b="b" l="l" r="r" t="t"/>
              <a:pathLst>
                <a:path extrusionOk="0" h="1005839" w="4114800">
                  <a:moveTo>
                    <a:pt x="4114431" y="0"/>
                  </a:moveTo>
                  <a:lnTo>
                    <a:pt x="0" y="0"/>
                  </a:lnTo>
                  <a:lnTo>
                    <a:pt x="0" y="1005471"/>
                  </a:lnTo>
                  <a:lnTo>
                    <a:pt x="2057400" y="1005471"/>
                  </a:lnTo>
                  <a:lnTo>
                    <a:pt x="4114431" y="1005471"/>
                  </a:lnTo>
                  <a:lnTo>
                    <a:pt x="4114431" y="0"/>
                  </a:lnTo>
                  <a:close/>
                </a:path>
              </a:pathLst>
            </a:custGeom>
            <a:solidFill>
              <a:srgbClr val="EFF9F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486" name="Google Shape;486;p9"/>
            <p:cNvPicPr preferRelativeResize="0"/>
            <p:nvPr/>
          </p:nvPicPr>
          <p:blipFill rotWithShape="1">
            <a:blip r:embed="rId10">
              <a:alphaModFix/>
            </a:blip>
            <a:srcRect b="0" l="0" r="0" t="0"/>
            <a:stretch/>
          </p:blipFill>
          <p:spPr>
            <a:xfrm>
              <a:off x="4669205" y="3777464"/>
              <a:ext cx="189357" cy="1085062"/>
            </a:xfrm>
            <a:prstGeom prst="rect">
              <a:avLst/>
            </a:prstGeom>
            <a:noFill/>
            <a:ln>
              <a:noFill/>
            </a:ln>
          </p:spPr>
        </p:pic>
        <p:sp>
          <p:nvSpPr>
            <p:cNvPr id="487" name="Google Shape;487;p9"/>
            <p:cNvSpPr/>
            <p:nvPr/>
          </p:nvSpPr>
          <p:spPr>
            <a:xfrm>
              <a:off x="4709159" y="3794406"/>
              <a:ext cx="109855" cy="1005840"/>
            </a:xfrm>
            <a:custGeom>
              <a:rect b="b" l="l" r="r" t="t"/>
              <a:pathLst>
                <a:path extrusionOk="0" h="1005839" w="109854">
                  <a:moveTo>
                    <a:pt x="109435" y="0"/>
                  </a:moveTo>
                  <a:lnTo>
                    <a:pt x="0" y="0"/>
                  </a:lnTo>
                  <a:lnTo>
                    <a:pt x="0" y="1005471"/>
                  </a:lnTo>
                  <a:lnTo>
                    <a:pt x="54724" y="1005471"/>
                  </a:lnTo>
                  <a:lnTo>
                    <a:pt x="109435" y="1005471"/>
                  </a:lnTo>
                  <a:lnTo>
                    <a:pt x="109435" y="0"/>
                  </a:lnTo>
                  <a:close/>
                </a:path>
              </a:pathLst>
            </a:custGeom>
            <a:solidFill>
              <a:srgbClr val="017F8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488" name="Google Shape;488;p9"/>
          <p:cNvSpPr txBox="1"/>
          <p:nvPr/>
        </p:nvSpPr>
        <p:spPr>
          <a:xfrm>
            <a:off x="4708804" y="3794406"/>
            <a:ext cx="4114800" cy="1005840"/>
          </a:xfrm>
          <a:prstGeom prst="rect">
            <a:avLst/>
          </a:prstGeom>
          <a:noFill/>
          <a:ln cap="flat" cmpd="sng" w="9525">
            <a:solidFill>
              <a:srgbClr val="D0E7E7"/>
            </a:solidFill>
            <a:prstDash val="solid"/>
            <a:round/>
            <a:headEnd len="sm" w="sm" type="none"/>
            <a:tailEnd len="sm" w="sm" type="none"/>
          </a:ln>
        </p:spPr>
        <p:txBody>
          <a:bodyPr anchorCtr="0" anchor="t" bIns="0" lIns="0" spcFirstLastPara="1" rIns="0" wrap="square" tIns="137150">
            <a:spAutoFit/>
          </a:bodyPr>
          <a:lstStyle/>
          <a:p>
            <a:pPr indent="0" lvl="0" marL="274320" rtl="0" algn="l">
              <a:lnSpc>
                <a:spcPct val="100000"/>
              </a:lnSpc>
              <a:spcBef>
                <a:spcPts val="0"/>
              </a:spcBef>
              <a:spcAft>
                <a:spcPts val="0"/>
              </a:spcAft>
              <a:buNone/>
            </a:pPr>
            <a:r>
              <a:rPr b="1" lang="en-US" sz="1300">
                <a:solidFill>
                  <a:srgbClr val="1B3043"/>
                </a:solidFill>
                <a:latin typeface="Arial"/>
                <a:ea typeface="Arial"/>
                <a:cs typeface="Arial"/>
                <a:sym typeface="Arial"/>
              </a:rPr>
              <a:t>Step 3: Update Whh once</a:t>
            </a:r>
            <a:endParaRPr sz="1300">
              <a:latin typeface="Arial"/>
              <a:ea typeface="Arial"/>
              <a:cs typeface="Arial"/>
              <a:sym typeface="Arial"/>
            </a:endParaRPr>
          </a:p>
          <a:p>
            <a:pPr indent="0" lvl="0" marL="274320" marR="332740" rtl="0" algn="l">
              <a:lnSpc>
                <a:spcPct val="100000"/>
              </a:lnSpc>
              <a:spcBef>
                <a:spcPts val="1030"/>
              </a:spcBef>
              <a:spcAft>
                <a:spcPts val="0"/>
              </a:spcAft>
              <a:buNone/>
            </a:pPr>
            <a:r>
              <a:rPr lang="en-US" sz="1200">
                <a:solidFill>
                  <a:srgbClr val="2C4959"/>
                </a:solidFill>
                <a:latin typeface="Helvetica Neue"/>
                <a:ea typeface="Helvetica Neue"/>
                <a:cs typeface="Helvetica Neue"/>
                <a:sym typeface="Helvetica Neue"/>
              </a:rPr>
              <a:t>Apply a single weight update using the accumulated gradient.</a:t>
            </a:r>
            <a:endParaRPr sz="1200">
              <a:latin typeface="Helvetica Neue"/>
              <a:ea typeface="Helvetica Neue"/>
              <a:cs typeface="Helvetica Neue"/>
              <a:sym typeface="Helvetica Neue"/>
            </a:endParaRPr>
          </a:p>
          <a:p>
            <a:pPr indent="0" lvl="0" marL="274320" rtl="0" algn="l">
              <a:lnSpc>
                <a:spcPct val="113750"/>
              </a:lnSpc>
              <a:spcBef>
                <a:spcPts val="0"/>
              </a:spcBef>
              <a:spcAft>
                <a:spcPts val="0"/>
              </a:spcAft>
              <a:buNone/>
            </a:pPr>
            <a:r>
              <a:rPr lang="en-US" sz="1200">
                <a:solidFill>
                  <a:srgbClr val="2C4959"/>
                </a:solidFill>
                <a:latin typeface="Helvetica Neue"/>
                <a:ea typeface="Helvetica Neue"/>
                <a:cs typeface="Helvetica Neue"/>
                <a:sym typeface="Helvetica Neue"/>
              </a:rPr>
              <a:t>Wh ← Wh − η · ∂L/∂Wh</a:t>
            </a:r>
            <a:endParaRPr sz="1200">
              <a:latin typeface="Helvetica Neue"/>
              <a:ea typeface="Helvetica Neue"/>
              <a:cs typeface="Helvetica Neue"/>
              <a:sym typeface="Helvetica Neue"/>
            </a:endParaRPr>
          </a:p>
        </p:txBody>
      </p:sp>
      <p:sp>
        <p:nvSpPr>
          <p:cNvPr id="489" name="Google Shape;489;p9"/>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1270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3" name="Shape 493"/>
        <p:cNvGrpSpPr/>
        <p:nvPr/>
      </p:nvGrpSpPr>
      <p:grpSpPr>
        <a:xfrm>
          <a:off x="0" y="0"/>
          <a:ext cx="0" cy="0"/>
          <a:chOff x="0" y="0"/>
          <a:chExt cx="0" cy="0"/>
        </a:xfrm>
      </p:grpSpPr>
      <p:sp>
        <p:nvSpPr>
          <p:cNvPr id="494" name="Google Shape;494;p10"/>
          <p:cNvSpPr/>
          <p:nvPr/>
        </p:nvSpPr>
        <p:spPr>
          <a:xfrm>
            <a:off x="0" y="2"/>
            <a:ext cx="9144000" cy="5144135"/>
          </a:xfrm>
          <a:custGeom>
            <a:rect b="b" l="l" r="r" t="t"/>
            <a:pathLst>
              <a:path extrusionOk="0" h="5144135" w="9144000">
                <a:moveTo>
                  <a:pt x="9144000" y="0"/>
                </a:moveTo>
                <a:lnTo>
                  <a:pt x="0" y="0"/>
                </a:lnTo>
                <a:lnTo>
                  <a:pt x="0" y="5143677"/>
                </a:lnTo>
                <a:lnTo>
                  <a:pt x="9144000" y="5143677"/>
                </a:lnTo>
                <a:lnTo>
                  <a:pt x="9144000" y="0"/>
                </a:lnTo>
                <a:close/>
              </a:path>
            </a:pathLst>
          </a:custGeom>
          <a:solidFill>
            <a:srgbClr val="F7F9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descr="$PPTXTitle" id="495" name="Google Shape;495;p10"/>
          <p:cNvSpPr txBox="1"/>
          <p:nvPr>
            <p:ph type="title"/>
          </p:nvPr>
        </p:nvSpPr>
        <p:spPr>
          <a:xfrm>
            <a:off x="3599903" y="63260"/>
            <a:ext cx="1939289" cy="4216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600">
                <a:solidFill>
                  <a:srgbClr val="1D283A"/>
                </a:solidFill>
              </a:rPr>
              <a:t>RNN in Action</a:t>
            </a:r>
            <a:endParaRPr sz="2600"/>
          </a:p>
        </p:txBody>
      </p:sp>
      <p:sp>
        <p:nvSpPr>
          <p:cNvPr id="496" name="Google Shape;496;p10"/>
          <p:cNvSpPr txBox="1"/>
          <p:nvPr/>
        </p:nvSpPr>
        <p:spPr>
          <a:xfrm>
            <a:off x="1177823" y="585980"/>
            <a:ext cx="369570" cy="1631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900">
                <a:solidFill>
                  <a:srgbClr val="93A2B7"/>
                </a:solidFill>
                <a:latin typeface="Helvetica Neue"/>
                <a:ea typeface="Helvetica Neue"/>
                <a:cs typeface="Helvetica Neue"/>
                <a:sym typeface="Helvetica Neue"/>
              </a:rPr>
              <a:t>t = 1</a:t>
            </a:r>
            <a:endParaRPr sz="900">
              <a:latin typeface="Helvetica Neue"/>
              <a:ea typeface="Helvetica Neue"/>
              <a:cs typeface="Helvetica Neue"/>
              <a:sym typeface="Helvetica Neue"/>
            </a:endParaRPr>
          </a:p>
        </p:txBody>
      </p:sp>
      <p:sp>
        <p:nvSpPr>
          <p:cNvPr id="497" name="Google Shape;497;p10"/>
          <p:cNvSpPr txBox="1"/>
          <p:nvPr/>
        </p:nvSpPr>
        <p:spPr>
          <a:xfrm>
            <a:off x="2929585" y="483021"/>
            <a:ext cx="3279140" cy="266065"/>
          </a:xfrm>
          <a:prstGeom prst="rect">
            <a:avLst/>
          </a:prstGeom>
          <a:noFill/>
          <a:ln>
            <a:noFill/>
          </a:ln>
        </p:spPr>
        <p:txBody>
          <a:bodyPr anchorCtr="0" anchor="t" bIns="0" lIns="0" spcFirstLastPara="1" rIns="0" wrap="square" tIns="12050">
            <a:spAutoFit/>
          </a:bodyPr>
          <a:lstStyle/>
          <a:p>
            <a:pPr indent="0" lvl="0" marL="0" rtl="0" algn="ctr">
              <a:lnSpc>
                <a:spcPct val="98571"/>
              </a:lnSpc>
              <a:spcBef>
                <a:spcPts val="0"/>
              </a:spcBef>
              <a:spcAft>
                <a:spcPts val="0"/>
              </a:spcAft>
              <a:buNone/>
            </a:pPr>
            <a:r>
              <a:rPr i="1" lang="en-US" sz="1050">
                <a:solidFill>
                  <a:srgbClr val="63738A"/>
                </a:solidFill>
                <a:latin typeface="Cambria"/>
                <a:ea typeface="Cambria"/>
                <a:cs typeface="Cambria"/>
                <a:sym typeface="Cambria"/>
              </a:rPr>
              <a:t>Example: predicting next word in "The cat sat on the </a:t>
            </a:r>
            <a:r>
              <a:rPr lang="en-US" sz="1050" u="sng">
                <a:solidFill>
                  <a:srgbClr val="63738A"/>
                </a:solidFill>
                <a:latin typeface="Times New Roman"/>
                <a:ea typeface="Times New Roman"/>
                <a:cs typeface="Times New Roman"/>
                <a:sym typeface="Times New Roman"/>
              </a:rPr>
              <a:t>	</a:t>
            </a:r>
            <a:r>
              <a:rPr i="1" lang="en-US" sz="1050">
                <a:solidFill>
                  <a:srgbClr val="63738A"/>
                </a:solidFill>
                <a:latin typeface="Cambria"/>
                <a:ea typeface="Cambria"/>
                <a:cs typeface="Cambria"/>
                <a:sym typeface="Cambria"/>
              </a:rPr>
              <a:t>"</a:t>
            </a:r>
            <a:endParaRPr sz="1050">
              <a:latin typeface="Cambria"/>
              <a:ea typeface="Cambria"/>
              <a:cs typeface="Cambria"/>
              <a:sym typeface="Cambria"/>
            </a:endParaRPr>
          </a:p>
          <a:p>
            <a:pPr indent="0" lvl="0" marL="5080" rtl="0" algn="ctr">
              <a:lnSpc>
                <a:spcPct val="95000"/>
              </a:lnSpc>
              <a:spcBef>
                <a:spcPts val="0"/>
              </a:spcBef>
              <a:spcAft>
                <a:spcPts val="0"/>
              </a:spcAft>
              <a:buNone/>
            </a:pPr>
            <a:r>
              <a:rPr lang="en-US" sz="900">
                <a:solidFill>
                  <a:srgbClr val="93A2B7"/>
                </a:solidFill>
                <a:latin typeface="Helvetica Neue"/>
                <a:ea typeface="Helvetica Neue"/>
                <a:cs typeface="Helvetica Neue"/>
                <a:sym typeface="Helvetica Neue"/>
              </a:rPr>
              <a:t>t = 2	t = 3</a:t>
            </a:r>
            <a:endParaRPr sz="900">
              <a:latin typeface="Helvetica Neue"/>
              <a:ea typeface="Helvetica Neue"/>
              <a:cs typeface="Helvetica Neue"/>
              <a:sym typeface="Helvetica Neue"/>
            </a:endParaRPr>
          </a:p>
        </p:txBody>
      </p:sp>
      <p:sp>
        <p:nvSpPr>
          <p:cNvPr id="498" name="Google Shape;498;p10"/>
          <p:cNvSpPr txBox="1"/>
          <p:nvPr/>
        </p:nvSpPr>
        <p:spPr>
          <a:xfrm>
            <a:off x="7596619" y="585980"/>
            <a:ext cx="369570" cy="1631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900">
                <a:solidFill>
                  <a:srgbClr val="93A2B7"/>
                </a:solidFill>
                <a:latin typeface="Helvetica Neue"/>
                <a:ea typeface="Helvetica Neue"/>
                <a:cs typeface="Helvetica Neue"/>
                <a:sym typeface="Helvetica Neue"/>
              </a:rPr>
              <a:t>t = 4</a:t>
            </a:r>
            <a:endParaRPr sz="900">
              <a:latin typeface="Helvetica Neue"/>
              <a:ea typeface="Helvetica Neue"/>
              <a:cs typeface="Helvetica Neue"/>
              <a:sym typeface="Helvetica Neue"/>
            </a:endParaRPr>
          </a:p>
        </p:txBody>
      </p:sp>
      <p:sp>
        <p:nvSpPr>
          <p:cNvPr id="499" name="Google Shape;499;p10"/>
          <p:cNvSpPr/>
          <p:nvPr/>
        </p:nvSpPr>
        <p:spPr>
          <a:xfrm>
            <a:off x="402120" y="804597"/>
            <a:ext cx="1920239" cy="713105"/>
          </a:xfrm>
          <a:custGeom>
            <a:rect b="b" l="l" r="r" t="t"/>
            <a:pathLst>
              <a:path extrusionOk="0" h="713105" w="1920239">
                <a:moveTo>
                  <a:pt x="1919884" y="0"/>
                </a:moveTo>
                <a:lnTo>
                  <a:pt x="0" y="0"/>
                </a:lnTo>
                <a:lnTo>
                  <a:pt x="0" y="712800"/>
                </a:lnTo>
                <a:lnTo>
                  <a:pt x="960120" y="712800"/>
                </a:lnTo>
                <a:lnTo>
                  <a:pt x="1919884" y="712800"/>
                </a:lnTo>
                <a:lnTo>
                  <a:pt x="1919884" y="0"/>
                </a:lnTo>
                <a:close/>
              </a:path>
            </a:pathLst>
          </a:custGeom>
          <a:solidFill>
            <a:srgbClr val="DAE9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00" name="Google Shape;500;p10"/>
          <p:cNvSpPr txBox="1"/>
          <p:nvPr/>
        </p:nvSpPr>
        <p:spPr>
          <a:xfrm>
            <a:off x="402120" y="804597"/>
            <a:ext cx="1920239" cy="713105"/>
          </a:xfrm>
          <a:prstGeom prst="rect">
            <a:avLst/>
          </a:prstGeom>
          <a:noFill/>
          <a:ln cap="flat" cmpd="sng" w="16550">
            <a:solidFill>
              <a:srgbClr val="3A81F5"/>
            </a:solidFill>
            <a:prstDash val="solid"/>
            <a:round/>
            <a:headEnd len="sm" w="sm" type="none"/>
            <a:tailEnd len="sm" w="sm" type="none"/>
          </a:ln>
        </p:spPr>
        <p:txBody>
          <a:bodyPr anchorCtr="0" anchor="t" bIns="0" lIns="0" spcFirstLastPara="1" rIns="0" wrap="square" tIns="116825">
            <a:spAutoFit/>
          </a:bodyPr>
          <a:lstStyle/>
          <a:p>
            <a:pPr indent="0" lvl="0" marL="0" rtl="0" algn="ctr">
              <a:lnSpc>
                <a:spcPct val="100000"/>
              </a:lnSpc>
              <a:spcBef>
                <a:spcPts val="0"/>
              </a:spcBef>
              <a:spcAft>
                <a:spcPts val="0"/>
              </a:spcAft>
              <a:buNone/>
            </a:pPr>
            <a:r>
              <a:rPr b="1" lang="en-US" sz="1100">
                <a:solidFill>
                  <a:srgbClr val="1C4DD7"/>
                </a:solidFill>
                <a:latin typeface="Calibri"/>
                <a:ea typeface="Calibri"/>
                <a:cs typeface="Calibri"/>
                <a:sym typeface="Calibri"/>
              </a:rPr>
              <a:t>x</a:t>
            </a:r>
            <a:r>
              <a:rPr lang="en-US" sz="1100">
                <a:solidFill>
                  <a:srgbClr val="1C4DD7"/>
                </a:solidFill>
                <a:latin typeface="Quattrocento Sans"/>
                <a:ea typeface="Quattrocento Sans"/>
                <a:cs typeface="Quattrocento Sans"/>
                <a:sym typeface="Quattrocento Sans"/>
              </a:rPr>
              <a:t>ₜ </a:t>
            </a:r>
            <a:r>
              <a:rPr b="1" lang="en-US" sz="1100">
                <a:solidFill>
                  <a:srgbClr val="1C4DD7"/>
                </a:solidFill>
                <a:latin typeface="Calibri"/>
                <a:ea typeface="Calibri"/>
                <a:cs typeface="Calibri"/>
                <a:sym typeface="Calibri"/>
              </a:rPr>
              <a:t>= x₁</a:t>
            </a:r>
            <a:endParaRPr sz="1100">
              <a:latin typeface="Calibri"/>
              <a:ea typeface="Calibri"/>
              <a:cs typeface="Calibri"/>
              <a:sym typeface="Calibri"/>
            </a:endParaRPr>
          </a:p>
          <a:p>
            <a:pPr indent="0" lvl="0" marL="635" rtl="0" algn="ctr">
              <a:lnSpc>
                <a:spcPct val="100000"/>
              </a:lnSpc>
              <a:spcBef>
                <a:spcPts val="1060"/>
              </a:spcBef>
              <a:spcAft>
                <a:spcPts val="0"/>
              </a:spcAft>
              <a:buNone/>
            </a:pPr>
            <a:r>
              <a:rPr lang="en-US" sz="850">
                <a:solidFill>
                  <a:srgbClr val="3A81F5"/>
                </a:solidFill>
                <a:latin typeface="Helvetica Neue"/>
                <a:ea typeface="Helvetica Neue"/>
                <a:cs typeface="Helvetica Neue"/>
                <a:sym typeface="Helvetica Neue"/>
              </a:rPr>
              <a:t>input: "The"</a:t>
            </a:r>
            <a:endParaRPr sz="850">
              <a:latin typeface="Helvetica Neue"/>
              <a:ea typeface="Helvetica Neue"/>
              <a:cs typeface="Helvetica Neue"/>
              <a:sym typeface="Helvetica Neue"/>
            </a:endParaRPr>
          </a:p>
        </p:txBody>
      </p:sp>
      <p:grpSp>
        <p:nvGrpSpPr>
          <p:cNvPr id="501" name="Google Shape;501;p10"/>
          <p:cNvGrpSpPr/>
          <p:nvPr/>
        </p:nvGrpSpPr>
        <p:grpSpPr>
          <a:xfrm>
            <a:off x="402120" y="1536117"/>
            <a:ext cx="1920239" cy="895985"/>
            <a:chOff x="402120" y="1536117"/>
            <a:chExt cx="1920239" cy="895985"/>
          </a:xfrm>
        </p:grpSpPr>
        <p:sp>
          <p:nvSpPr>
            <p:cNvPr id="502" name="Google Shape;502;p10"/>
            <p:cNvSpPr/>
            <p:nvPr/>
          </p:nvSpPr>
          <p:spPr>
            <a:xfrm>
              <a:off x="1362240" y="1536117"/>
              <a:ext cx="0" cy="93980"/>
            </a:xfrm>
            <a:custGeom>
              <a:rect b="b" l="l" r="r" t="t"/>
              <a:pathLst>
                <a:path extrusionOk="0" h="93980" w="120000">
                  <a:moveTo>
                    <a:pt x="0" y="0"/>
                  </a:moveTo>
                  <a:lnTo>
                    <a:pt x="0" y="93967"/>
                  </a:lnTo>
                </a:path>
              </a:pathLst>
            </a:custGeom>
            <a:noFill/>
            <a:ln cap="flat" cmpd="sng" w="16550">
              <a:solidFill>
                <a:srgbClr val="93A2B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03" name="Google Shape;503;p10"/>
            <p:cNvSpPr/>
            <p:nvPr/>
          </p:nvSpPr>
          <p:spPr>
            <a:xfrm>
              <a:off x="1324444" y="1625043"/>
              <a:ext cx="76200" cy="76200"/>
            </a:xfrm>
            <a:custGeom>
              <a:rect b="b" l="l" r="r" t="t"/>
              <a:pathLst>
                <a:path extrusionOk="0" h="76200" w="76200">
                  <a:moveTo>
                    <a:pt x="75590" y="0"/>
                  </a:moveTo>
                  <a:lnTo>
                    <a:pt x="0" y="0"/>
                  </a:lnTo>
                  <a:lnTo>
                    <a:pt x="37795" y="75603"/>
                  </a:lnTo>
                  <a:lnTo>
                    <a:pt x="75590" y="0"/>
                  </a:lnTo>
                  <a:close/>
                </a:path>
              </a:pathLst>
            </a:custGeom>
            <a:solidFill>
              <a:srgbClr val="93A2B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04" name="Google Shape;504;p10"/>
            <p:cNvSpPr/>
            <p:nvPr/>
          </p:nvSpPr>
          <p:spPr>
            <a:xfrm>
              <a:off x="402120" y="1718997"/>
              <a:ext cx="1920239" cy="713105"/>
            </a:xfrm>
            <a:custGeom>
              <a:rect b="b" l="l" r="r" t="t"/>
              <a:pathLst>
                <a:path extrusionOk="0" h="713105" w="1920239">
                  <a:moveTo>
                    <a:pt x="1919884" y="0"/>
                  </a:moveTo>
                  <a:lnTo>
                    <a:pt x="0" y="0"/>
                  </a:lnTo>
                  <a:lnTo>
                    <a:pt x="0" y="712800"/>
                  </a:lnTo>
                  <a:lnTo>
                    <a:pt x="960120" y="712800"/>
                  </a:lnTo>
                  <a:lnTo>
                    <a:pt x="1919884" y="712800"/>
                  </a:lnTo>
                  <a:lnTo>
                    <a:pt x="1919884" y="0"/>
                  </a:lnTo>
                  <a:close/>
                </a:path>
              </a:pathLst>
            </a:custGeom>
            <a:solidFill>
              <a:srgbClr val="DBFBE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05" name="Google Shape;505;p10"/>
          <p:cNvSpPr txBox="1"/>
          <p:nvPr/>
        </p:nvSpPr>
        <p:spPr>
          <a:xfrm>
            <a:off x="402120" y="1718997"/>
            <a:ext cx="1920239" cy="713105"/>
          </a:xfrm>
          <a:prstGeom prst="rect">
            <a:avLst/>
          </a:prstGeom>
          <a:noFill/>
          <a:ln cap="flat" cmpd="sng" w="16550">
            <a:solidFill>
              <a:srgbClr val="15A249"/>
            </a:solidFill>
            <a:prstDash val="solid"/>
            <a:round/>
            <a:headEnd len="sm" w="sm" type="none"/>
            <a:tailEnd len="sm" w="sm" type="none"/>
          </a:ln>
        </p:spPr>
        <p:txBody>
          <a:bodyPr anchorCtr="0" anchor="t" bIns="0" lIns="0" spcFirstLastPara="1" rIns="0" wrap="square" tIns="116825">
            <a:spAutoFit/>
          </a:bodyPr>
          <a:lstStyle/>
          <a:p>
            <a:pPr indent="0" lvl="0" marL="0" rtl="0" algn="ctr">
              <a:lnSpc>
                <a:spcPct val="100000"/>
              </a:lnSpc>
              <a:spcBef>
                <a:spcPts val="0"/>
              </a:spcBef>
              <a:spcAft>
                <a:spcPts val="0"/>
              </a:spcAft>
              <a:buNone/>
            </a:pPr>
            <a:r>
              <a:rPr b="1" lang="en-US" sz="1100">
                <a:solidFill>
                  <a:srgbClr val="147F3C"/>
                </a:solidFill>
                <a:latin typeface="Calibri"/>
                <a:ea typeface="Calibri"/>
                <a:cs typeface="Calibri"/>
                <a:sym typeface="Calibri"/>
              </a:rPr>
              <a:t>h</a:t>
            </a:r>
            <a:r>
              <a:rPr lang="en-US" sz="1100">
                <a:solidFill>
                  <a:srgbClr val="147F3C"/>
                </a:solidFill>
                <a:latin typeface="Quattrocento Sans"/>
                <a:ea typeface="Quattrocento Sans"/>
                <a:cs typeface="Quattrocento Sans"/>
                <a:sym typeface="Quattrocento Sans"/>
              </a:rPr>
              <a:t>ₜ </a:t>
            </a:r>
            <a:r>
              <a:rPr b="1" lang="en-US" sz="1100">
                <a:solidFill>
                  <a:srgbClr val="147F3C"/>
                </a:solidFill>
                <a:latin typeface="Calibri"/>
                <a:ea typeface="Calibri"/>
                <a:cs typeface="Calibri"/>
                <a:sym typeface="Calibri"/>
              </a:rPr>
              <a:t>= h₁</a:t>
            </a:r>
            <a:endParaRPr sz="1100">
              <a:latin typeface="Calibri"/>
              <a:ea typeface="Calibri"/>
              <a:cs typeface="Calibri"/>
              <a:sym typeface="Calibri"/>
            </a:endParaRPr>
          </a:p>
          <a:p>
            <a:pPr indent="0" lvl="0" marL="0" rtl="0" algn="ctr">
              <a:lnSpc>
                <a:spcPct val="100000"/>
              </a:lnSpc>
              <a:spcBef>
                <a:spcPts val="1060"/>
              </a:spcBef>
              <a:spcAft>
                <a:spcPts val="0"/>
              </a:spcAft>
              <a:buNone/>
            </a:pPr>
            <a:r>
              <a:rPr lang="en-US" sz="850">
                <a:solidFill>
                  <a:srgbClr val="15A249"/>
                </a:solidFill>
                <a:latin typeface="Helvetica Neue"/>
                <a:ea typeface="Helvetica Neue"/>
                <a:cs typeface="Helvetica Neue"/>
                <a:sym typeface="Helvetica Neue"/>
              </a:rPr>
              <a:t>tanh(Wₕhₜ₋₁ + Wₓxₜ + b)</a:t>
            </a:r>
            <a:endParaRPr sz="850">
              <a:latin typeface="Helvetica Neue"/>
              <a:ea typeface="Helvetica Neue"/>
              <a:cs typeface="Helvetica Neue"/>
              <a:sym typeface="Helvetica Neue"/>
            </a:endParaRPr>
          </a:p>
        </p:txBody>
      </p:sp>
      <p:grpSp>
        <p:nvGrpSpPr>
          <p:cNvPr id="506" name="Google Shape;506;p10"/>
          <p:cNvGrpSpPr/>
          <p:nvPr/>
        </p:nvGrpSpPr>
        <p:grpSpPr>
          <a:xfrm>
            <a:off x="2340724" y="2037602"/>
            <a:ext cx="183477" cy="76200"/>
            <a:chOff x="2340724" y="2037602"/>
            <a:chExt cx="183477" cy="76200"/>
          </a:xfrm>
        </p:grpSpPr>
        <p:sp>
          <p:nvSpPr>
            <p:cNvPr id="507" name="Google Shape;507;p10"/>
            <p:cNvSpPr/>
            <p:nvPr/>
          </p:nvSpPr>
          <p:spPr>
            <a:xfrm>
              <a:off x="2340724" y="2075397"/>
              <a:ext cx="112395" cy="0"/>
            </a:xfrm>
            <a:custGeom>
              <a:rect b="b" l="l" r="r" t="t"/>
              <a:pathLst>
                <a:path extrusionOk="0" h="120000" w="112394">
                  <a:moveTo>
                    <a:pt x="0" y="0"/>
                  </a:moveTo>
                  <a:lnTo>
                    <a:pt x="112318" y="0"/>
                  </a:lnTo>
                </a:path>
              </a:pathLst>
            </a:custGeom>
            <a:noFill/>
            <a:ln cap="flat" cmpd="sng" w="17625">
              <a:solidFill>
                <a:srgbClr val="15A249"/>
              </a:solidFill>
              <a:prstDash val="dash"/>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08" name="Google Shape;508;p10"/>
            <p:cNvSpPr/>
            <p:nvPr/>
          </p:nvSpPr>
          <p:spPr>
            <a:xfrm>
              <a:off x="2448001" y="2037602"/>
              <a:ext cx="76200" cy="76200"/>
            </a:xfrm>
            <a:custGeom>
              <a:rect b="b" l="l" r="r" t="t"/>
              <a:pathLst>
                <a:path extrusionOk="0" h="76200" w="76200">
                  <a:moveTo>
                    <a:pt x="0" y="0"/>
                  </a:moveTo>
                  <a:lnTo>
                    <a:pt x="0" y="75603"/>
                  </a:lnTo>
                  <a:lnTo>
                    <a:pt x="75603" y="37795"/>
                  </a:lnTo>
                  <a:lnTo>
                    <a:pt x="0" y="0"/>
                  </a:lnTo>
                  <a:close/>
                </a:path>
              </a:pathLst>
            </a:custGeom>
            <a:solidFill>
              <a:srgbClr val="15A24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09" name="Google Shape;509;p10"/>
          <p:cNvSpPr txBox="1"/>
          <p:nvPr/>
        </p:nvSpPr>
        <p:spPr>
          <a:xfrm>
            <a:off x="2357894" y="1892060"/>
            <a:ext cx="147955" cy="1473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00">
                <a:solidFill>
                  <a:srgbClr val="15A249"/>
                </a:solidFill>
                <a:latin typeface="Helvetica Neue"/>
                <a:ea typeface="Helvetica Neue"/>
                <a:cs typeface="Helvetica Neue"/>
                <a:sym typeface="Helvetica Neue"/>
              </a:rPr>
              <a:t>h₁</a:t>
            </a:r>
            <a:endParaRPr sz="800">
              <a:latin typeface="Helvetica Neue"/>
              <a:ea typeface="Helvetica Neue"/>
              <a:cs typeface="Helvetica Neue"/>
              <a:sym typeface="Helvetica Neue"/>
            </a:endParaRPr>
          </a:p>
        </p:txBody>
      </p:sp>
      <p:grpSp>
        <p:nvGrpSpPr>
          <p:cNvPr id="510" name="Google Shape;510;p10"/>
          <p:cNvGrpSpPr/>
          <p:nvPr/>
        </p:nvGrpSpPr>
        <p:grpSpPr>
          <a:xfrm>
            <a:off x="402120" y="2450517"/>
            <a:ext cx="1920239" cy="895985"/>
            <a:chOff x="402120" y="2450517"/>
            <a:chExt cx="1920239" cy="895985"/>
          </a:xfrm>
        </p:grpSpPr>
        <p:sp>
          <p:nvSpPr>
            <p:cNvPr id="511" name="Google Shape;511;p10"/>
            <p:cNvSpPr/>
            <p:nvPr/>
          </p:nvSpPr>
          <p:spPr>
            <a:xfrm>
              <a:off x="1362240" y="2450517"/>
              <a:ext cx="0" cy="93980"/>
            </a:xfrm>
            <a:custGeom>
              <a:rect b="b" l="l" r="r" t="t"/>
              <a:pathLst>
                <a:path extrusionOk="0" h="93980" w="120000">
                  <a:moveTo>
                    <a:pt x="0" y="0"/>
                  </a:moveTo>
                  <a:lnTo>
                    <a:pt x="0" y="93967"/>
                  </a:lnTo>
                </a:path>
              </a:pathLst>
            </a:custGeom>
            <a:noFill/>
            <a:ln cap="flat" cmpd="sng" w="16550">
              <a:solidFill>
                <a:srgbClr val="93A2B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12" name="Google Shape;512;p10"/>
            <p:cNvSpPr/>
            <p:nvPr/>
          </p:nvSpPr>
          <p:spPr>
            <a:xfrm>
              <a:off x="1324444" y="2539443"/>
              <a:ext cx="76200" cy="76200"/>
            </a:xfrm>
            <a:custGeom>
              <a:rect b="b" l="l" r="r" t="t"/>
              <a:pathLst>
                <a:path extrusionOk="0" h="76200" w="76200">
                  <a:moveTo>
                    <a:pt x="75590" y="0"/>
                  </a:moveTo>
                  <a:lnTo>
                    <a:pt x="0" y="0"/>
                  </a:lnTo>
                  <a:lnTo>
                    <a:pt x="37795" y="75603"/>
                  </a:lnTo>
                  <a:lnTo>
                    <a:pt x="75590" y="0"/>
                  </a:lnTo>
                  <a:close/>
                </a:path>
              </a:pathLst>
            </a:custGeom>
            <a:solidFill>
              <a:srgbClr val="93A2B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13" name="Google Shape;513;p10"/>
            <p:cNvSpPr/>
            <p:nvPr/>
          </p:nvSpPr>
          <p:spPr>
            <a:xfrm>
              <a:off x="402120" y="2633397"/>
              <a:ext cx="1920239" cy="713105"/>
            </a:xfrm>
            <a:custGeom>
              <a:rect b="b" l="l" r="r" t="t"/>
              <a:pathLst>
                <a:path extrusionOk="0" h="713104" w="1920239">
                  <a:moveTo>
                    <a:pt x="1919884" y="0"/>
                  </a:moveTo>
                  <a:lnTo>
                    <a:pt x="0" y="0"/>
                  </a:lnTo>
                  <a:lnTo>
                    <a:pt x="0" y="712800"/>
                  </a:lnTo>
                  <a:lnTo>
                    <a:pt x="960120" y="712800"/>
                  </a:lnTo>
                  <a:lnTo>
                    <a:pt x="1919884" y="712800"/>
                  </a:lnTo>
                  <a:lnTo>
                    <a:pt x="1919884" y="0"/>
                  </a:lnTo>
                  <a:close/>
                </a:path>
              </a:pathLst>
            </a:custGeom>
            <a:solidFill>
              <a:srgbClr val="F2E7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14" name="Google Shape;514;p10"/>
          <p:cNvSpPr txBox="1"/>
          <p:nvPr/>
        </p:nvSpPr>
        <p:spPr>
          <a:xfrm>
            <a:off x="402120" y="2633397"/>
            <a:ext cx="1920239" cy="713105"/>
          </a:xfrm>
          <a:prstGeom prst="rect">
            <a:avLst/>
          </a:prstGeom>
          <a:noFill/>
          <a:ln cap="flat" cmpd="sng" w="16550">
            <a:solidFill>
              <a:srgbClr val="9233E9"/>
            </a:solidFill>
            <a:prstDash val="solid"/>
            <a:round/>
            <a:headEnd len="sm" w="sm" type="none"/>
            <a:tailEnd len="sm" w="sm" type="none"/>
          </a:ln>
        </p:spPr>
        <p:txBody>
          <a:bodyPr anchorCtr="0" anchor="t" bIns="0" lIns="0" spcFirstLastPara="1" rIns="0" wrap="square" tIns="116825">
            <a:spAutoFit/>
          </a:bodyPr>
          <a:lstStyle/>
          <a:p>
            <a:pPr indent="0" lvl="0" marL="0" rtl="0" algn="ctr">
              <a:lnSpc>
                <a:spcPct val="100000"/>
              </a:lnSpc>
              <a:spcBef>
                <a:spcPts val="0"/>
              </a:spcBef>
              <a:spcAft>
                <a:spcPts val="0"/>
              </a:spcAft>
              <a:buNone/>
            </a:pPr>
            <a:r>
              <a:rPr b="1" lang="en-US" sz="1100">
                <a:solidFill>
                  <a:srgbClr val="7D21CD"/>
                </a:solidFill>
                <a:latin typeface="Calibri"/>
                <a:ea typeface="Calibri"/>
                <a:cs typeface="Calibri"/>
                <a:sym typeface="Calibri"/>
              </a:rPr>
              <a:t>ŷ</a:t>
            </a:r>
            <a:r>
              <a:rPr lang="en-US" sz="1100">
                <a:solidFill>
                  <a:srgbClr val="7D21CD"/>
                </a:solidFill>
                <a:latin typeface="Quattrocento Sans"/>
                <a:ea typeface="Quattrocento Sans"/>
                <a:cs typeface="Quattrocento Sans"/>
                <a:sym typeface="Quattrocento Sans"/>
              </a:rPr>
              <a:t>ₜ </a:t>
            </a:r>
            <a:r>
              <a:rPr b="1" lang="en-US" sz="1100">
                <a:solidFill>
                  <a:srgbClr val="7D21CD"/>
                </a:solidFill>
                <a:latin typeface="Calibri"/>
                <a:ea typeface="Calibri"/>
                <a:cs typeface="Calibri"/>
                <a:sym typeface="Calibri"/>
              </a:rPr>
              <a:t>= g(Wᵧh</a:t>
            </a:r>
            <a:r>
              <a:rPr lang="en-US" sz="1100">
                <a:solidFill>
                  <a:srgbClr val="7D21CD"/>
                </a:solidFill>
                <a:latin typeface="Quattrocento Sans"/>
                <a:ea typeface="Quattrocento Sans"/>
                <a:cs typeface="Quattrocento Sans"/>
                <a:sym typeface="Quattrocento Sans"/>
              </a:rPr>
              <a:t>ₜ</a:t>
            </a:r>
            <a:r>
              <a:rPr b="1" lang="en-US" sz="1100">
                <a:solidFill>
                  <a:srgbClr val="7D21CD"/>
                </a:solidFill>
                <a:latin typeface="Calibri"/>
                <a:ea typeface="Calibri"/>
                <a:cs typeface="Calibri"/>
                <a:sym typeface="Calibri"/>
              </a:rPr>
              <a:t>)</a:t>
            </a:r>
            <a:endParaRPr sz="1100">
              <a:latin typeface="Calibri"/>
              <a:ea typeface="Calibri"/>
              <a:cs typeface="Calibri"/>
              <a:sym typeface="Calibri"/>
            </a:endParaRPr>
          </a:p>
          <a:p>
            <a:pPr indent="0" lvl="0" marL="0" rtl="0" algn="ctr">
              <a:lnSpc>
                <a:spcPct val="100000"/>
              </a:lnSpc>
              <a:spcBef>
                <a:spcPts val="1060"/>
              </a:spcBef>
              <a:spcAft>
                <a:spcPts val="0"/>
              </a:spcAft>
              <a:buNone/>
            </a:pPr>
            <a:r>
              <a:rPr lang="en-US" sz="850">
                <a:solidFill>
                  <a:srgbClr val="9233E9"/>
                </a:solidFill>
                <a:latin typeface="Helvetica Neue"/>
                <a:ea typeface="Helvetica Neue"/>
                <a:cs typeface="Helvetica Neue"/>
                <a:sym typeface="Helvetica Neue"/>
              </a:rPr>
              <a:t>predicts: "cat"</a:t>
            </a:r>
            <a:endParaRPr sz="850">
              <a:latin typeface="Helvetica Neue"/>
              <a:ea typeface="Helvetica Neue"/>
              <a:cs typeface="Helvetica Neue"/>
              <a:sym typeface="Helvetica Neue"/>
            </a:endParaRPr>
          </a:p>
        </p:txBody>
      </p:sp>
      <p:grpSp>
        <p:nvGrpSpPr>
          <p:cNvPr id="515" name="Google Shape;515;p10"/>
          <p:cNvGrpSpPr/>
          <p:nvPr/>
        </p:nvGrpSpPr>
        <p:grpSpPr>
          <a:xfrm>
            <a:off x="1324444" y="804597"/>
            <a:ext cx="3137395" cy="2652370"/>
            <a:chOff x="1324444" y="804597"/>
            <a:chExt cx="3137395" cy="2652370"/>
          </a:xfrm>
        </p:grpSpPr>
        <p:sp>
          <p:nvSpPr>
            <p:cNvPr id="516" name="Google Shape;516;p10"/>
            <p:cNvSpPr/>
            <p:nvPr/>
          </p:nvSpPr>
          <p:spPr>
            <a:xfrm>
              <a:off x="1324444" y="3380767"/>
              <a:ext cx="76200" cy="76200"/>
            </a:xfrm>
            <a:custGeom>
              <a:rect b="b" l="l" r="r" t="t"/>
              <a:pathLst>
                <a:path extrusionOk="0" h="76200" w="76200">
                  <a:moveTo>
                    <a:pt x="75590" y="0"/>
                  </a:moveTo>
                  <a:lnTo>
                    <a:pt x="0" y="0"/>
                  </a:lnTo>
                  <a:lnTo>
                    <a:pt x="37795" y="75590"/>
                  </a:lnTo>
                  <a:lnTo>
                    <a:pt x="75590" y="0"/>
                  </a:lnTo>
                  <a:close/>
                </a:path>
              </a:pathLst>
            </a:custGeom>
            <a:solidFill>
              <a:srgbClr val="F33E5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17" name="Google Shape;517;p10"/>
            <p:cNvSpPr/>
            <p:nvPr/>
          </p:nvSpPr>
          <p:spPr>
            <a:xfrm>
              <a:off x="2541600" y="804597"/>
              <a:ext cx="1920239" cy="713105"/>
            </a:xfrm>
            <a:custGeom>
              <a:rect b="b" l="l" r="r" t="t"/>
              <a:pathLst>
                <a:path extrusionOk="0" h="713105" w="1920239">
                  <a:moveTo>
                    <a:pt x="1919884" y="0"/>
                  </a:moveTo>
                  <a:lnTo>
                    <a:pt x="0" y="0"/>
                  </a:lnTo>
                  <a:lnTo>
                    <a:pt x="0" y="712800"/>
                  </a:lnTo>
                  <a:lnTo>
                    <a:pt x="960119" y="712800"/>
                  </a:lnTo>
                  <a:lnTo>
                    <a:pt x="1919884" y="712800"/>
                  </a:lnTo>
                  <a:lnTo>
                    <a:pt x="1919884" y="0"/>
                  </a:lnTo>
                  <a:close/>
                </a:path>
              </a:pathLst>
            </a:custGeom>
            <a:solidFill>
              <a:srgbClr val="DAE9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18" name="Google Shape;518;p10"/>
          <p:cNvSpPr txBox="1"/>
          <p:nvPr/>
        </p:nvSpPr>
        <p:spPr>
          <a:xfrm>
            <a:off x="2541600" y="804597"/>
            <a:ext cx="1920239" cy="713105"/>
          </a:xfrm>
          <a:prstGeom prst="rect">
            <a:avLst/>
          </a:prstGeom>
          <a:noFill/>
          <a:ln cap="flat" cmpd="sng" w="16550">
            <a:solidFill>
              <a:srgbClr val="3A81F5"/>
            </a:solidFill>
            <a:prstDash val="solid"/>
            <a:round/>
            <a:headEnd len="sm" w="sm" type="none"/>
            <a:tailEnd len="sm" w="sm" type="none"/>
          </a:ln>
        </p:spPr>
        <p:txBody>
          <a:bodyPr anchorCtr="0" anchor="t" bIns="0" lIns="0" spcFirstLastPara="1" rIns="0" wrap="square" tIns="116825">
            <a:spAutoFit/>
          </a:bodyPr>
          <a:lstStyle/>
          <a:p>
            <a:pPr indent="0" lvl="0" marL="0" rtl="0" algn="ctr">
              <a:lnSpc>
                <a:spcPct val="100000"/>
              </a:lnSpc>
              <a:spcBef>
                <a:spcPts val="0"/>
              </a:spcBef>
              <a:spcAft>
                <a:spcPts val="0"/>
              </a:spcAft>
              <a:buNone/>
            </a:pPr>
            <a:r>
              <a:rPr b="1" lang="en-US" sz="1100">
                <a:solidFill>
                  <a:srgbClr val="1C4DD7"/>
                </a:solidFill>
                <a:latin typeface="Calibri"/>
                <a:ea typeface="Calibri"/>
                <a:cs typeface="Calibri"/>
                <a:sym typeface="Calibri"/>
              </a:rPr>
              <a:t>x</a:t>
            </a:r>
            <a:r>
              <a:rPr lang="en-US" sz="1100">
                <a:solidFill>
                  <a:srgbClr val="1C4DD7"/>
                </a:solidFill>
                <a:latin typeface="Quattrocento Sans"/>
                <a:ea typeface="Quattrocento Sans"/>
                <a:cs typeface="Quattrocento Sans"/>
                <a:sym typeface="Quattrocento Sans"/>
              </a:rPr>
              <a:t>ₜ </a:t>
            </a:r>
            <a:r>
              <a:rPr b="1" lang="en-US" sz="1100">
                <a:solidFill>
                  <a:srgbClr val="1C4DD7"/>
                </a:solidFill>
                <a:latin typeface="Calibri"/>
                <a:ea typeface="Calibri"/>
                <a:cs typeface="Calibri"/>
                <a:sym typeface="Calibri"/>
              </a:rPr>
              <a:t>= x₂</a:t>
            </a:r>
            <a:endParaRPr sz="1100">
              <a:latin typeface="Calibri"/>
              <a:ea typeface="Calibri"/>
              <a:cs typeface="Calibri"/>
              <a:sym typeface="Calibri"/>
            </a:endParaRPr>
          </a:p>
          <a:p>
            <a:pPr indent="0" lvl="0" marL="1270" rtl="0" algn="ctr">
              <a:lnSpc>
                <a:spcPct val="100000"/>
              </a:lnSpc>
              <a:spcBef>
                <a:spcPts val="1060"/>
              </a:spcBef>
              <a:spcAft>
                <a:spcPts val="0"/>
              </a:spcAft>
              <a:buNone/>
            </a:pPr>
            <a:r>
              <a:rPr lang="en-US" sz="850">
                <a:solidFill>
                  <a:srgbClr val="3A81F5"/>
                </a:solidFill>
                <a:latin typeface="Helvetica Neue"/>
                <a:ea typeface="Helvetica Neue"/>
                <a:cs typeface="Helvetica Neue"/>
                <a:sym typeface="Helvetica Neue"/>
              </a:rPr>
              <a:t>input: "cat"</a:t>
            </a:r>
            <a:endParaRPr sz="850">
              <a:latin typeface="Helvetica Neue"/>
              <a:ea typeface="Helvetica Neue"/>
              <a:cs typeface="Helvetica Neue"/>
              <a:sym typeface="Helvetica Neue"/>
            </a:endParaRPr>
          </a:p>
        </p:txBody>
      </p:sp>
      <p:grpSp>
        <p:nvGrpSpPr>
          <p:cNvPr id="519" name="Google Shape;519;p10"/>
          <p:cNvGrpSpPr/>
          <p:nvPr/>
        </p:nvGrpSpPr>
        <p:grpSpPr>
          <a:xfrm>
            <a:off x="2541600" y="1536117"/>
            <a:ext cx="1920239" cy="895985"/>
            <a:chOff x="2541600" y="1536117"/>
            <a:chExt cx="1920239" cy="895985"/>
          </a:xfrm>
        </p:grpSpPr>
        <p:sp>
          <p:nvSpPr>
            <p:cNvPr id="520" name="Google Shape;520;p10"/>
            <p:cNvSpPr/>
            <p:nvPr/>
          </p:nvSpPr>
          <p:spPr>
            <a:xfrm>
              <a:off x="3502075" y="1536117"/>
              <a:ext cx="0" cy="93980"/>
            </a:xfrm>
            <a:custGeom>
              <a:rect b="b" l="l" r="r" t="t"/>
              <a:pathLst>
                <a:path extrusionOk="0" h="93980" w="120000">
                  <a:moveTo>
                    <a:pt x="0" y="0"/>
                  </a:moveTo>
                  <a:lnTo>
                    <a:pt x="0" y="93967"/>
                  </a:lnTo>
                </a:path>
              </a:pathLst>
            </a:custGeom>
            <a:noFill/>
            <a:ln cap="flat" cmpd="sng" w="16550">
              <a:solidFill>
                <a:srgbClr val="93A2B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21" name="Google Shape;521;p10"/>
            <p:cNvSpPr/>
            <p:nvPr/>
          </p:nvSpPr>
          <p:spPr>
            <a:xfrm>
              <a:off x="3464280" y="1625043"/>
              <a:ext cx="76200" cy="76200"/>
            </a:xfrm>
            <a:custGeom>
              <a:rect b="b" l="l" r="r" t="t"/>
              <a:pathLst>
                <a:path extrusionOk="0" h="76200" w="76200">
                  <a:moveTo>
                    <a:pt x="75603" y="0"/>
                  </a:moveTo>
                  <a:lnTo>
                    <a:pt x="0" y="0"/>
                  </a:lnTo>
                  <a:lnTo>
                    <a:pt x="37795" y="75603"/>
                  </a:lnTo>
                  <a:lnTo>
                    <a:pt x="75603" y="0"/>
                  </a:lnTo>
                  <a:close/>
                </a:path>
              </a:pathLst>
            </a:custGeom>
            <a:solidFill>
              <a:srgbClr val="93A2B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22" name="Google Shape;522;p10"/>
            <p:cNvSpPr/>
            <p:nvPr/>
          </p:nvSpPr>
          <p:spPr>
            <a:xfrm>
              <a:off x="2541600" y="1718997"/>
              <a:ext cx="1920239" cy="713105"/>
            </a:xfrm>
            <a:custGeom>
              <a:rect b="b" l="l" r="r" t="t"/>
              <a:pathLst>
                <a:path extrusionOk="0" h="713105" w="1920239">
                  <a:moveTo>
                    <a:pt x="1919884" y="0"/>
                  </a:moveTo>
                  <a:lnTo>
                    <a:pt x="0" y="0"/>
                  </a:lnTo>
                  <a:lnTo>
                    <a:pt x="0" y="712800"/>
                  </a:lnTo>
                  <a:lnTo>
                    <a:pt x="960119" y="712800"/>
                  </a:lnTo>
                  <a:lnTo>
                    <a:pt x="1919884" y="712800"/>
                  </a:lnTo>
                  <a:lnTo>
                    <a:pt x="1919884" y="0"/>
                  </a:lnTo>
                  <a:close/>
                </a:path>
              </a:pathLst>
            </a:custGeom>
            <a:solidFill>
              <a:srgbClr val="DBFBE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23" name="Google Shape;523;p10"/>
          <p:cNvSpPr txBox="1"/>
          <p:nvPr/>
        </p:nvSpPr>
        <p:spPr>
          <a:xfrm>
            <a:off x="2541600" y="1718997"/>
            <a:ext cx="1920239" cy="713105"/>
          </a:xfrm>
          <a:prstGeom prst="rect">
            <a:avLst/>
          </a:prstGeom>
          <a:noFill/>
          <a:ln cap="flat" cmpd="sng" w="16550">
            <a:solidFill>
              <a:srgbClr val="15A249"/>
            </a:solidFill>
            <a:prstDash val="solid"/>
            <a:round/>
            <a:headEnd len="sm" w="sm" type="none"/>
            <a:tailEnd len="sm" w="sm" type="none"/>
          </a:ln>
        </p:spPr>
        <p:txBody>
          <a:bodyPr anchorCtr="0" anchor="t" bIns="0" lIns="0" spcFirstLastPara="1" rIns="0" wrap="square" tIns="116825">
            <a:spAutoFit/>
          </a:bodyPr>
          <a:lstStyle/>
          <a:p>
            <a:pPr indent="0" lvl="0" marL="0" rtl="0" algn="ctr">
              <a:lnSpc>
                <a:spcPct val="100000"/>
              </a:lnSpc>
              <a:spcBef>
                <a:spcPts val="0"/>
              </a:spcBef>
              <a:spcAft>
                <a:spcPts val="0"/>
              </a:spcAft>
              <a:buNone/>
            </a:pPr>
            <a:r>
              <a:rPr b="1" lang="en-US" sz="1100">
                <a:solidFill>
                  <a:srgbClr val="147F3C"/>
                </a:solidFill>
                <a:latin typeface="Calibri"/>
                <a:ea typeface="Calibri"/>
                <a:cs typeface="Calibri"/>
                <a:sym typeface="Calibri"/>
              </a:rPr>
              <a:t>h</a:t>
            </a:r>
            <a:r>
              <a:rPr lang="en-US" sz="1100">
                <a:solidFill>
                  <a:srgbClr val="147F3C"/>
                </a:solidFill>
                <a:latin typeface="Quattrocento Sans"/>
                <a:ea typeface="Quattrocento Sans"/>
                <a:cs typeface="Quattrocento Sans"/>
                <a:sym typeface="Quattrocento Sans"/>
              </a:rPr>
              <a:t>ₜ </a:t>
            </a:r>
            <a:r>
              <a:rPr b="1" lang="en-US" sz="1100">
                <a:solidFill>
                  <a:srgbClr val="147F3C"/>
                </a:solidFill>
                <a:latin typeface="Calibri"/>
                <a:ea typeface="Calibri"/>
                <a:cs typeface="Calibri"/>
                <a:sym typeface="Calibri"/>
              </a:rPr>
              <a:t>= h₂</a:t>
            </a:r>
            <a:endParaRPr sz="1100">
              <a:latin typeface="Calibri"/>
              <a:ea typeface="Calibri"/>
              <a:cs typeface="Calibri"/>
              <a:sym typeface="Calibri"/>
            </a:endParaRPr>
          </a:p>
          <a:p>
            <a:pPr indent="0" lvl="0" marL="0" rtl="0" algn="ctr">
              <a:lnSpc>
                <a:spcPct val="100000"/>
              </a:lnSpc>
              <a:spcBef>
                <a:spcPts val="1060"/>
              </a:spcBef>
              <a:spcAft>
                <a:spcPts val="0"/>
              </a:spcAft>
              <a:buNone/>
            </a:pPr>
            <a:r>
              <a:rPr lang="en-US" sz="850">
                <a:solidFill>
                  <a:srgbClr val="15A249"/>
                </a:solidFill>
                <a:latin typeface="Helvetica Neue"/>
                <a:ea typeface="Helvetica Neue"/>
                <a:cs typeface="Helvetica Neue"/>
                <a:sym typeface="Helvetica Neue"/>
              </a:rPr>
              <a:t>tanh(Wₕhₜ₋₁ + Wₓxₜ + b)</a:t>
            </a:r>
            <a:endParaRPr sz="850">
              <a:latin typeface="Helvetica Neue"/>
              <a:ea typeface="Helvetica Neue"/>
              <a:cs typeface="Helvetica Neue"/>
              <a:sym typeface="Helvetica Neue"/>
            </a:endParaRPr>
          </a:p>
        </p:txBody>
      </p:sp>
      <p:grpSp>
        <p:nvGrpSpPr>
          <p:cNvPr id="524" name="Google Shape;524;p10"/>
          <p:cNvGrpSpPr/>
          <p:nvPr/>
        </p:nvGrpSpPr>
        <p:grpSpPr>
          <a:xfrm>
            <a:off x="4480560" y="2037602"/>
            <a:ext cx="183476" cy="76200"/>
            <a:chOff x="4480560" y="2037602"/>
            <a:chExt cx="183476" cy="76200"/>
          </a:xfrm>
        </p:grpSpPr>
        <p:sp>
          <p:nvSpPr>
            <p:cNvPr id="525" name="Google Shape;525;p10"/>
            <p:cNvSpPr/>
            <p:nvPr/>
          </p:nvSpPr>
          <p:spPr>
            <a:xfrm>
              <a:off x="4480560" y="2075397"/>
              <a:ext cx="112395" cy="0"/>
            </a:xfrm>
            <a:custGeom>
              <a:rect b="b" l="l" r="r" t="t"/>
              <a:pathLst>
                <a:path extrusionOk="0" h="120000" w="112395">
                  <a:moveTo>
                    <a:pt x="0" y="0"/>
                  </a:moveTo>
                  <a:lnTo>
                    <a:pt x="112318" y="0"/>
                  </a:lnTo>
                </a:path>
              </a:pathLst>
            </a:custGeom>
            <a:noFill/>
            <a:ln cap="flat" cmpd="sng" w="17625">
              <a:solidFill>
                <a:srgbClr val="15A249"/>
              </a:solidFill>
              <a:prstDash val="dash"/>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26" name="Google Shape;526;p10"/>
            <p:cNvSpPr/>
            <p:nvPr/>
          </p:nvSpPr>
          <p:spPr>
            <a:xfrm>
              <a:off x="4587836" y="2037602"/>
              <a:ext cx="76200" cy="76200"/>
            </a:xfrm>
            <a:custGeom>
              <a:rect b="b" l="l" r="r" t="t"/>
              <a:pathLst>
                <a:path extrusionOk="0" h="76200" w="76200">
                  <a:moveTo>
                    <a:pt x="0" y="0"/>
                  </a:moveTo>
                  <a:lnTo>
                    <a:pt x="0" y="75603"/>
                  </a:lnTo>
                  <a:lnTo>
                    <a:pt x="75603" y="37795"/>
                  </a:lnTo>
                  <a:lnTo>
                    <a:pt x="0" y="0"/>
                  </a:lnTo>
                  <a:close/>
                </a:path>
              </a:pathLst>
            </a:custGeom>
            <a:solidFill>
              <a:srgbClr val="15A24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27" name="Google Shape;527;p10"/>
          <p:cNvSpPr txBox="1"/>
          <p:nvPr/>
        </p:nvSpPr>
        <p:spPr>
          <a:xfrm>
            <a:off x="4497743" y="1892060"/>
            <a:ext cx="147955" cy="1473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00">
                <a:solidFill>
                  <a:srgbClr val="15A249"/>
                </a:solidFill>
                <a:latin typeface="Helvetica Neue"/>
                <a:ea typeface="Helvetica Neue"/>
                <a:cs typeface="Helvetica Neue"/>
                <a:sym typeface="Helvetica Neue"/>
              </a:rPr>
              <a:t>h₂</a:t>
            </a:r>
            <a:endParaRPr sz="800">
              <a:latin typeface="Helvetica Neue"/>
              <a:ea typeface="Helvetica Neue"/>
              <a:cs typeface="Helvetica Neue"/>
              <a:sym typeface="Helvetica Neue"/>
            </a:endParaRPr>
          </a:p>
        </p:txBody>
      </p:sp>
      <p:grpSp>
        <p:nvGrpSpPr>
          <p:cNvPr id="528" name="Google Shape;528;p10"/>
          <p:cNvGrpSpPr/>
          <p:nvPr/>
        </p:nvGrpSpPr>
        <p:grpSpPr>
          <a:xfrm>
            <a:off x="2541600" y="2450517"/>
            <a:ext cx="1920239" cy="895985"/>
            <a:chOff x="2541600" y="2450517"/>
            <a:chExt cx="1920239" cy="895985"/>
          </a:xfrm>
        </p:grpSpPr>
        <p:sp>
          <p:nvSpPr>
            <p:cNvPr id="529" name="Google Shape;529;p10"/>
            <p:cNvSpPr/>
            <p:nvPr/>
          </p:nvSpPr>
          <p:spPr>
            <a:xfrm>
              <a:off x="3502075" y="2450517"/>
              <a:ext cx="0" cy="93980"/>
            </a:xfrm>
            <a:custGeom>
              <a:rect b="b" l="l" r="r" t="t"/>
              <a:pathLst>
                <a:path extrusionOk="0" h="93980" w="120000">
                  <a:moveTo>
                    <a:pt x="0" y="0"/>
                  </a:moveTo>
                  <a:lnTo>
                    <a:pt x="0" y="93967"/>
                  </a:lnTo>
                </a:path>
              </a:pathLst>
            </a:custGeom>
            <a:noFill/>
            <a:ln cap="flat" cmpd="sng" w="16550">
              <a:solidFill>
                <a:srgbClr val="93A2B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30" name="Google Shape;530;p10"/>
            <p:cNvSpPr/>
            <p:nvPr/>
          </p:nvSpPr>
          <p:spPr>
            <a:xfrm>
              <a:off x="3464280" y="2539443"/>
              <a:ext cx="76200" cy="76200"/>
            </a:xfrm>
            <a:custGeom>
              <a:rect b="b" l="l" r="r" t="t"/>
              <a:pathLst>
                <a:path extrusionOk="0" h="76200" w="76200">
                  <a:moveTo>
                    <a:pt x="75603" y="0"/>
                  </a:moveTo>
                  <a:lnTo>
                    <a:pt x="0" y="0"/>
                  </a:lnTo>
                  <a:lnTo>
                    <a:pt x="37795" y="75603"/>
                  </a:lnTo>
                  <a:lnTo>
                    <a:pt x="75603" y="0"/>
                  </a:lnTo>
                  <a:close/>
                </a:path>
              </a:pathLst>
            </a:custGeom>
            <a:solidFill>
              <a:srgbClr val="93A2B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31" name="Google Shape;531;p10"/>
            <p:cNvSpPr/>
            <p:nvPr/>
          </p:nvSpPr>
          <p:spPr>
            <a:xfrm>
              <a:off x="2541600" y="2633397"/>
              <a:ext cx="1920239" cy="713105"/>
            </a:xfrm>
            <a:custGeom>
              <a:rect b="b" l="l" r="r" t="t"/>
              <a:pathLst>
                <a:path extrusionOk="0" h="713104" w="1920239">
                  <a:moveTo>
                    <a:pt x="1919884" y="0"/>
                  </a:moveTo>
                  <a:lnTo>
                    <a:pt x="0" y="0"/>
                  </a:lnTo>
                  <a:lnTo>
                    <a:pt x="0" y="712800"/>
                  </a:lnTo>
                  <a:lnTo>
                    <a:pt x="960119" y="712800"/>
                  </a:lnTo>
                  <a:lnTo>
                    <a:pt x="1919884" y="712800"/>
                  </a:lnTo>
                  <a:lnTo>
                    <a:pt x="1919884" y="0"/>
                  </a:lnTo>
                  <a:close/>
                </a:path>
              </a:pathLst>
            </a:custGeom>
            <a:solidFill>
              <a:srgbClr val="F2E7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32" name="Google Shape;532;p10"/>
          <p:cNvSpPr txBox="1"/>
          <p:nvPr/>
        </p:nvSpPr>
        <p:spPr>
          <a:xfrm>
            <a:off x="2541600" y="2633397"/>
            <a:ext cx="1920239" cy="713105"/>
          </a:xfrm>
          <a:prstGeom prst="rect">
            <a:avLst/>
          </a:prstGeom>
          <a:noFill/>
          <a:ln cap="flat" cmpd="sng" w="16550">
            <a:solidFill>
              <a:srgbClr val="9233E9"/>
            </a:solidFill>
            <a:prstDash val="solid"/>
            <a:round/>
            <a:headEnd len="sm" w="sm" type="none"/>
            <a:tailEnd len="sm" w="sm" type="none"/>
          </a:ln>
        </p:spPr>
        <p:txBody>
          <a:bodyPr anchorCtr="0" anchor="t" bIns="0" lIns="0" spcFirstLastPara="1" rIns="0" wrap="square" tIns="116825">
            <a:spAutoFit/>
          </a:bodyPr>
          <a:lstStyle/>
          <a:p>
            <a:pPr indent="0" lvl="0" marL="0" rtl="0" algn="ctr">
              <a:lnSpc>
                <a:spcPct val="100000"/>
              </a:lnSpc>
              <a:spcBef>
                <a:spcPts val="0"/>
              </a:spcBef>
              <a:spcAft>
                <a:spcPts val="0"/>
              </a:spcAft>
              <a:buNone/>
            </a:pPr>
            <a:r>
              <a:rPr b="1" lang="en-US" sz="1100">
                <a:solidFill>
                  <a:srgbClr val="7D21CD"/>
                </a:solidFill>
                <a:latin typeface="Calibri"/>
                <a:ea typeface="Calibri"/>
                <a:cs typeface="Calibri"/>
                <a:sym typeface="Calibri"/>
              </a:rPr>
              <a:t>ŷ</a:t>
            </a:r>
            <a:r>
              <a:rPr lang="en-US" sz="1100">
                <a:solidFill>
                  <a:srgbClr val="7D21CD"/>
                </a:solidFill>
                <a:latin typeface="Quattrocento Sans"/>
                <a:ea typeface="Quattrocento Sans"/>
                <a:cs typeface="Quattrocento Sans"/>
                <a:sym typeface="Quattrocento Sans"/>
              </a:rPr>
              <a:t>ₜ </a:t>
            </a:r>
            <a:r>
              <a:rPr b="1" lang="en-US" sz="1100">
                <a:solidFill>
                  <a:srgbClr val="7D21CD"/>
                </a:solidFill>
                <a:latin typeface="Calibri"/>
                <a:ea typeface="Calibri"/>
                <a:cs typeface="Calibri"/>
                <a:sym typeface="Calibri"/>
              </a:rPr>
              <a:t>= g(Wᵧh</a:t>
            </a:r>
            <a:r>
              <a:rPr lang="en-US" sz="1100">
                <a:solidFill>
                  <a:srgbClr val="7D21CD"/>
                </a:solidFill>
                <a:latin typeface="Quattrocento Sans"/>
                <a:ea typeface="Quattrocento Sans"/>
                <a:cs typeface="Quattrocento Sans"/>
                <a:sym typeface="Quattrocento Sans"/>
              </a:rPr>
              <a:t>ₜ</a:t>
            </a:r>
            <a:r>
              <a:rPr b="1" lang="en-US" sz="1100">
                <a:solidFill>
                  <a:srgbClr val="7D21CD"/>
                </a:solidFill>
                <a:latin typeface="Calibri"/>
                <a:ea typeface="Calibri"/>
                <a:cs typeface="Calibri"/>
                <a:sym typeface="Calibri"/>
              </a:rPr>
              <a:t>)</a:t>
            </a:r>
            <a:endParaRPr sz="1100">
              <a:latin typeface="Calibri"/>
              <a:ea typeface="Calibri"/>
              <a:cs typeface="Calibri"/>
              <a:sym typeface="Calibri"/>
            </a:endParaRPr>
          </a:p>
          <a:p>
            <a:pPr indent="0" lvl="0" marL="0" rtl="0" algn="ctr">
              <a:lnSpc>
                <a:spcPct val="100000"/>
              </a:lnSpc>
              <a:spcBef>
                <a:spcPts val="1060"/>
              </a:spcBef>
              <a:spcAft>
                <a:spcPts val="0"/>
              </a:spcAft>
              <a:buNone/>
            </a:pPr>
            <a:r>
              <a:rPr lang="en-US" sz="850">
                <a:solidFill>
                  <a:srgbClr val="9233E9"/>
                </a:solidFill>
                <a:latin typeface="Helvetica Neue"/>
                <a:ea typeface="Helvetica Neue"/>
                <a:cs typeface="Helvetica Neue"/>
                <a:sym typeface="Helvetica Neue"/>
              </a:rPr>
              <a:t>predicts: "sat"</a:t>
            </a:r>
            <a:endParaRPr sz="850">
              <a:latin typeface="Helvetica Neue"/>
              <a:ea typeface="Helvetica Neue"/>
              <a:cs typeface="Helvetica Neue"/>
              <a:sym typeface="Helvetica Neue"/>
            </a:endParaRPr>
          </a:p>
        </p:txBody>
      </p:sp>
      <p:grpSp>
        <p:nvGrpSpPr>
          <p:cNvPr id="533" name="Google Shape;533;p10"/>
          <p:cNvGrpSpPr/>
          <p:nvPr/>
        </p:nvGrpSpPr>
        <p:grpSpPr>
          <a:xfrm>
            <a:off x="3464280" y="804597"/>
            <a:ext cx="3137395" cy="2652370"/>
            <a:chOff x="3464280" y="804597"/>
            <a:chExt cx="3137395" cy="2652370"/>
          </a:xfrm>
        </p:grpSpPr>
        <p:sp>
          <p:nvSpPr>
            <p:cNvPr id="534" name="Google Shape;534;p10"/>
            <p:cNvSpPr/>
            <p:nvPr/>
          </p:nvSpPr>
          <p:spPr>
            <a:xfrm>
              <a:off x="3464280" y="3380767"/>
              <a:ext cx="76200" cy="76200"/>
            </a:xfrm>
            <a:custGeom>
              <a:rect b="b" l="l" r="r" t="t"/>
              <a:pathLst>
                <a:path extrusionOk="0" h="76200" w="76200">
                  <a:moveTo>
                    <a:pt x="75603" y="0"/>
                  </a:moveTo>
                  <a:lnTo>
                    <a:pt x="0" y="0"/>
                  </a:lnTo>
                  <a:lnTo>
                    <a:pt x="37795" y="75590"/>
                  </a:lnTo>
                  <a:lnTo>
                    <a:pt x="75603" y="0"/>
                  </a:lnTo>
                  <a:close/>
                </a:path>
              </a:pathLst>
            </a:custGeom>
            <a:solidFill>
              <a:srgbClr val="F33E5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35" name="Google Shape;535;p10"/>
            <p:cNvSpPr/>
            <p:nvPr/>
          </p:nvSpPr>
          <p:spPr>
            <a:xfrm>
              <a:off x="4681436" y="804597"/>
              <a:ext cx="1920239" cy="713105"/>
            </a:xfrm>
            <a:custGeom>
              <a:rect b="b" l="l" r="r" t="t"/>
              <a:pathLst>
                <a:path extrusionOk="0" h="713105" w="1920240">
                  <a:moveTo>
                    <a:pt x="1919884" y="0"/>
                  </a:moveTo>
                  <a:lnTo>
                    <a:pt x="0" y="0"/>
                  </a:lnTo>
                  <a:lnTo>
                    <a:pt x="0" y="712800"/>
                  </a:lnTo>
                  <a:lnTo>
                    <a:pt x="960119" y="712800"/>
                  </a:lnTo>
                  <a:lnTo>
                    <a:pt x="1919884" y="712800"/>
                  </a:lnTo>
                  <a:lnTo>
                    <a:pt x="1919884" y="0"/>
                  </a:lnTo>
                  <a:close/>
                </a:path>
              </a:pathLst>
            </a:custGeom>
            <a:solidFill>
              <a:srgbClr val="DAE9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36" name="Google Shape;536;p10"/>
          <p:cNvSpPr txBox="1"/>
          <p:nvPr/>
        </p:nvSpPr>
        <p:spPr>
          <a:xfrm>
            <a:off x="4681435" y="804597"/>
            <a:ext cx="1920239" cy="713105"/>
          </a:xfrm>
          <a:prstGeom prst="rect">
            <a:avLst/>
          </a:prstGeom>
          <a:noFill/>
          <a:ln cap="flat" cmpd="sng" w="16550">
            <a:solidFill>
              <a:srgbClr val="3A81F5"/>
            </a:solidFill>
            <a:prstDash val="solid"/>
            <a:round/>
            <a:headEnd len="sm" w="sm" type="none"/>
            <a:tailEnd len="sm" w="sm" type="none"/>
          </a:ln>
        </p:spPr>
        <p:txBody>
          <a:bodyPr anchorCtr="0" anchor="t" bIns="0" lIns="0" spcFirstLastPara="1" rIns="0" wrap="square" tIns="116825">
            <a:spAutoFit/>
          </a:bodyPr>
          <a:lstStyle/>
          <a:p>
            <a:pPr indent="0" lvl="0" marL="0" rtl="0" algn="ctr">
              <a:lnSpc>
                <a:spcPct val="100000"/>
              </a:lnSpc>
              <a:spcBef>
                <a:spcPts val="0"/>
              </a:spcBef>
              <a:spcAft>
                <a:spcPts val="0"/>
              </a:spcAft>
              <a:buNone/>
            </a:pPr>
            <a:r>
              <a:rPr b="1" lang="en-US" sz="1100">
                <a:solidFill>
                  <a:srgbClr val="1C4DD7"/>
                </a:solidFill>
                <a:latin typeface="Calibri"/>
                <a:ea typeface="Calibri"/>
                <a:cs typeface="Calibri"/>
                <a:sym typeface="Calibri"/>
              </a:rPr>
              <a:t>x</a:t>
            </a:r>
            <a:r>
              <a:rPr lang="en-US" sz="1100">
                <a:solidFill>
                  <a:srgbClr val="1C4DD7"/>
                </a:solidFill>
                <a:latin typeface="Quattrocento Sans"/>
                <a:ea typeface="Quattrocento Sans"/>
                <a:cs typeface="Quattrocento Sans"/>
                <a:sym typeface="Quattrocento Sans"/>
              </a:rPr>
              <a:t>ₜ </a:t>
            </a:r>
            <a:r>
              <a:rPr b="1" lang="en-US" sz="1100">
                <a:solidFill>
                  <a:srgbClr val="1C4DD7"/>
                </a:solidFill>
                <a:latin typeface="Calibri"/>
                <a:ea typeface="Calibri"/>
                <a:cs typeface="Calibri"/>
                <a:sym typeface="Calibri"/>
              </a:rPr>
              <a:t>= x₃</a:t>
            </a:r>
            <a:endParaRPr sz="1100">
              <a:latin typeface="Calibri"/>
              <a:ea typeface="Calibri"/>
              <a:cs typeface="Calibri"/>
              <a:sym typeface="Calibri"/>
            </a:endParaRPr>
          </a:p>
          <a:p>
            <a:pPr indent="0" lvl="0" marL="635" rtl="0" algn="ctr">
              <a:lnSpc>
                <a:spcPct val="100000"/>
              </a:lnSpc>
              <a:spcBef>
                <a:spcPts val="1060"/>
              </a:spcBef>
              <a:spcAft>
                <a:spcPts val="0"/>
              </a:spcAft>
              <a:buNone/>
            </a:pPr>
            <a:r>
              <a:rPr lang="en-US" sz="850">
                <a:solidFill>
                  <a:srgbClr val="3A81F5"/>
                </a:solidFill>
                <a:latin typeface="Helvetica Neue"/>
                <a:ea typeface="Helvetica Neue"/>
                <a:cs typeface="Helvetica Neue"/>
                <a:sym typeface="Helvetica Neue"/>
              </a:rPr>
              <a:t>input: "sat"</a:t>
            </a:r>
            <a:endParaRPr sz="850">
              <a:latin typeface="Helvetica Neue"/>
              <a:ea typeface="Helvetica Neue"/>
              <a:cs typeface="Helvetica Neue"/>
              <a:sym typeface="Helvetica Neue"/>
            </a:endParaRPr>
          </a:p>
        </p:txBody>
      </p:sp>
      <p:grpSp>
        <p:nvGrpSpPr>
          <p:cNvPr id="537" name="Google Shape;537;p10"/>
          <p:cNvGrpSpPr/>
          <p:nvPr/>
        </p:nvGrpSpPr>
        <p:grpSpPr>
          <a:xfrm>
            <a:off x="4681435" y="1536117"/>
            <a:ext cx="1920239" cy="895985"/>
            <a:chOff x="4681435" y="1536117"/>
            <a:chExt cx="1920239" cy="895985"/>
          </a:xfrm>
        </p:grpSpPr>
        <p:sp>
          <p:nvSpPr>
            <p:cNvPr id="538" name="Google Shape;538;p10"/>
            <p:cNvSpPr/>
            <p:nvPr/>
          </p:nvSpPr>
          <p:spPr>
            <a:xfrm>
              <a:off x="5641555" y="1536117"/>
              <a:ext cx="0" cy="93980"/>
            </a:xfrm>
            <a:custGeom>
              <a:rect b="b" l="l" r="r" t="t"/>
              <a:pathLst>
                <a:path extrusionOk="0" h="93980" w="120000">
                  <a:moveTo>
                    <a:pt x="0" y="0"/>
                  </a:moveTo>
                  <a:lnTo>
                    <a:pt x="0" y="93967"/>
                  </a:lnTo>
                </a:path>
              </a:pathLst>
            </a:custGeom>
            <a:noFill/>
            <a:ln cap="flat" cmpd="sng" w="16550">
              <a:solidFill>
                <a:srgbClr val="93A2B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39" name="Google Shape;539;p10"/>
            <p:cNvSpPr/>
            <p:nvPr/>
          </p:nvSpPr>
          <p:spPr>
            <a:xfrm>
              <a:off x="5603760" y="1625043"/>
              <a:ext cx="76200" cy="76200"/>
            </a:xfrm>
            <a:custGeom>
              <a:rect b="b" l="l" r="r" t="t"/>
              <a:pathLst>
                <a:path extrusionOk="0" h="76200" w="76200">
                  <a:moveTo>
                    <a:pt x="75603" y="0"/>
                  </a:moveTo>
                  <a:lnTo>
                    <a:pt x="0" y="0"/>
                  </a:lnTo>
                  <a:lnTo>
                    <a:pt x="37795" y="75603"/>
                  </a:lnTo>
                  <a:lnTo>
                    <a:pt x="75603" y="0"/>
                  </a:lnTo>
                  <a:close/>
                </a:path>
              </a:pathLst>
            </a:custGeom>
            <a:solidFill>
              <a:srgbClr val="93A2B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40" name="Google Shape;540;p10"/>
            <p:cNvSpPr/>
            <p:nvPr/>
          </p:nvSpPr>
          <p:spPr>
            <a:xfrm>
              <a:off x="4681435" y="1718997"/>
              <a:ext cx="1920239" cy="713105"/>
            </a:xfrm>
            <a:custGeom>
              <a:rect b="b" l="l" r="r" t="t"/>
              <a:pathLst>
                <a:path extrusionOk="0" h="713105" w="1920240">
                  <a:moveTo>
                    <a:pt x="1919884" y="0"/>
                  </a:moveTo>
                  <a:lnTo>
                    <a:pt x="0" y="0"/>
                  </a:lnTo>
                  <a:lnTo>
                    <a:pt x="0" y="712800"/>
                  </a:lnTo>
                  <a:lnTo>
                    <a:pt x="960119" y="712800"/>
                  </a:lnTo>
                  <a:lnTo>
                    <a:pt x="1919884" y="712800"/>
                  </a:lnTo>
                  <a:lnTo>
                    <a:pt x="1919884" y="0"/>
                  </a:lnTo>
                  <a:close/>
                </a:path>
              </a:pathLst>
            </a:custGeom>
            <a:solidFill>
              <a:srgbClr val="DBFBE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41" name="Google Shape;541;p10"/>
          <p:cNvSpPr txBox="1"/>
          <p:nvPr/>
        </p:nvSpPr>
        <p:spPr>
          <a:xfrm>
            <a:off x="4681435" y="1718997"/>
            <a:ext cx="1920239" cy="713105"/>
          </a:xfrm>
          <a:prstGeom prst="rect">
            <a:avLst/>
          </a:prstGeom>
          <a:noFill/>
          <a:ln cap="flat" cmpd="sng" w="16550">
            <a:solidFill>
              <a:srgbClr val="15A249"/>
            </a:solidFill>
            <a:prstDash val="solid"/>
            <a:round/>
            <a:headEnd len="sm" w="sm" type="none"/>
            <a:tailEnd len="sm" w="sm" type="none"/>
          </a:ln>
        </p:spPr>
        <p:txBody>
          <a:bodyPr anchorCtr="0" anchor="t" bIns="0" lIns="0" spcFirstLastPara="1" rIns="0" wrap="square" tIns="116825">
            <a:spAutoFit/>
          </a:bodyPr>
          <a:lstStyle/>
          <a:p>
            <a:pPr indent="0" lvl="0" marL="0" rtl="0" algn="ctr">
              <a:lnSpc>
                <a:spcPct val="100000"/>
              </a:lnSpc>
              <a:spcBef>
                <a:spcPts val="0"/>
              </a:spcBef>
              <a:spcAft>
                <a:spcPts val="0"/>
              </a:spcAft>
              <a:buNone/>
            </a:pPr>
            <a:r>
              <a:rPr b="1" lang="en-US" sz="1100">
                <a:solidFill>
                  <a:srgbClr val="147F3C"/>
                </a:solidFill>
                <a:latin typeface="Calibri"/>
                <a:ea typeface="Calibri"/>
                <a:cs typeface="Calibri"/>
                <a:sym typeface="Calibri"/>
              </a:rPr>
              <a:t>h</a:t>
            </a:r>
            <a:r>
              <a:rPr lang="en-US" sz="1100">
                <a:solidFill>
                  <a:srgbClr val="147F3C"/>
                </a:solidFill>
                <a:latin typeface="Quattrocento Sans"/>
                <a:ea typeface="Quattrocento Sans"/>
                <a:cs typeface="Quattrocento Sans"/>
                <a:sym typeface="Quattrocento Sans"/>
              </a:rPr>
              <a:t>ₜ </a:t>
            </a:r>
            <a:r>
              <a:rPr b="1" lang="en-US" sz="1100">
                <a:solidFill>
                  <a:srgbClr val="147F3C"/>
                </a:solidFill>
                <a:latin typeface="Calibri"/>
                <a:ea typeface="Calibri"/>
                <a:cs typeface="Calibri"/>
                <a:sym typeface="Calibri"/>
              </a:rPr>
              <a:t>= h₃</a:t>
            </a:r>
            <a:endParaRPr sz="1100">
              <a:latin typeface="Calibri"/>
              <a:ea typeface="Calibri"/>
              <a:cs typeface="Calibri"/>
              <a:sym typeface="Calibri"/>
            </a:endParaRPr>
          </a:p>
          <a:p>
            <a:pPr indent="0" lvl="0" marL="0" rtl="0" algn="ctr">
              <a:lnSpc>
                <a:spcPct val="100000"/>
              </a:lnSpc>
              <a:spcBef>
                <a:spcPts val="1060"/>
              </a:spcBef>
              <a:spcAft>
                <a:spcPts val="0"/>
              </a:spcAft>
              <a:buNone/>
            </a:pPr>
            <a:r>
              <a:rPr lang="en-US" sz="850">
                <a:solidFill>
                  <a:srgbClr val="15A249"/>
                </a:solidFill>
                <a:latin typeface="Helvetica Neue"/>
                <a:ea typeface="Helvetica Neue"/>
                <a:cs typeface="Helvetica Neue"/>
                <a:sym typeface="Helvetica Neue"/>
              </a:rPr>
              <a:t>tanh(Wₕhₜ₋₁ + Wₓxₜ + b)</a:t>
            </a:r>
            <a:endParaRPr sz="850">
              <a:latin typeface="Helvetica Neue"/>
              <a:ea typeface="Helvetica Neue"/>
              <a:cs typeface="Helvetica Neue"/>
              <a:sym typeface="Helvetica Neue"/>
            </a:endParaRPr>
          </a:p>
        </p:txBody>
      </p:sp>
      <p:grpSp>
        <p:nvGrpSpPr>
          <p:cNvPr id="542" name="Google Shape;542;p10"/>
          <p:cNvGrpSpPr/>
          <p:nvPr/>
        </p:nvGrpSpPr>
        <p:grpSpPr>
          <a:xfrm>
            <a:off x="6620039" y="2037602"/>
            <a:ext cx="183477" cy="76200"/>
            <a:chOff x="6620039" y="2037602"/>
            <a:chExt cx="183477" cy="76200"/>
          </a:xfrm>
        </p:grpSpPr>
        <p:sp>
          <p:nvSpPr>
            <p:cNvPr id="543" name="Google Shape;543;p10"/>
            <p:cNvSpPr/>
            <p:nvPr/>
          </p:nvSpPr>
          <p:spPr>
            <a:xfrm>
              <a:off x="6620039" y="2075397"/>
              <a:ext cx="112395" cy="0"/>
            </a:xfrm>
            <a:custGeom>
              <a:rect b="b" l="l" r="r" t="t"/>
              <a:pathLst>
                <a:path extrusionOk="0" h="120000" w="112395">
                  <a:moveTo>
                    <a:pt x="0" y="0"/>
                  </a:moveTo>
                  <a:lnTo>
                    <a:pt x="112318" y="0"/>
                  </a:lnTo>
                </a:path>
              </a:pathLst>
            </a:custGeom>
            <a:noFill/>
            <a:ln cap="flat" cmpd="sng" w="17625">
              <a:solidFill>
                <a:srgbClr val="15A249"/>
              </a:solidFill>
              <a:prstDash val="dash"/>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44" name="Google Shape;544;p10"/>
            <p:cNvSpPr/>
            <p:nvPr/>
          </p:nvSpPr>
          <p:spPr>
            <a:xfrm>
              <a:off x="6727316" y="2037602"/>
              <a:ext cx="76200" cy="76200"/>
            </a:xfrm>
            <a:custGeom>
              <a:rect b="b" l="l" r="r" t="t"/>
              <a:pathLst>
                <a:path extrusionOk="0" h="76200" w="76200">
                  <a:moveTo>
                    <a:pt x="0" y="0"/>
                  </a:moveTo>
                  <a:lnTo>
                    <a:pt x="0" y="75603"/>
                  </a:lnTo>
                  <a:lnTo>
                    <a:pt x="75603" y="37795"/>
                  </a:lnTo>
                  <a:lnTo>
                    <a:pt x="0" y="0"/>
                  </a:lnTo>
                  <a:close/>
                </a:path>
              </a:pathLst>
            </a:custGeom>
            <a:solidFill>
              <a:srgbClr val="15A24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45" name="Google Shape;545;p10"/>
          <p:cNvSpPr txBox="1"/>
          <p:nvPr/>
        </p:nvSpPr>
        <p:spPr>
          <a:xfrm>
            <a:off x="6637578" y="1892060"/>
            <a:ext cx="147955" cy="1473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00">
                <a:solidFill>
                  <a:srgbClr val="15A249"/>
                </a:solidFill>
                <a:latin typeface="Helvetica Neue"/>
                <a:ea typeface="Helvetica Neue"/>
                <a:cs typeface="Helvetica Neue"/>
                <a:sym typeface="Helvetica Neue"/>
              </a:rPr>
              <a:t>h₃</a:t>
            </a:r>
            <a:endParaRPr sz="800">
              <a:latin typeface="Helvetica Neue"/>
              <a:ea typeface="Helvetica Neue"/>
              <a:cs typeface="Helvetica Neue"/>
              <a:sym typeface="Helvetica Neue"/>
            </a:endParaRPr>
          </a:p>
        </p:txBody>
      </p:sp>
      <p:grpSp>
        <p:nvGrpSpPr>
          <p:cNvPr id="546" name="Google Shape;546;p10"/>
          <p:cNvGrpSpPr/>
          <p:nvPr/>
        </p:nvGrpSpPr>
        <p:grpSpPr>
          <a:xfrm>
            <a:off x="4681435" y="2450517"/>
            <a:ext cx="1920239" cy="895985"/>
            <a:chOff x="4681435" y="2450517"/>
            <a:chExt cx="1920239" cy="895985"/>
          </a:xfrm>
        </p:grpSpPr>
        <p:sp>
          <p:nvSpPr>
            <p:cNvPr id="547" name="Google Shape;547;p10"/>
            <p:cNvSpPr/>
            <p:nvPr/>
          </p:nvSpPr>
          <p:spPr>
            <a:xfrm>
              <a:off x="5641555" y="2450517"/>
              <a:ext cx="0" cy="93980"/>
            </a:xfrm>
            <a:custGeom>
              <a:rect b="b" l="l" r="r" t="t"/>
              <a:pathLst>
                <a:path extrusionOk="0" h="93980" w="120000">
                  <a:moveTo>
                    <a:pt x="0" y="0"/>
                  </a:moveTo>
                  <a:lnTo>
                    <a:pt x="0" y="93967"/>
                  </a:lnTo>
                </a:path>
              </a:pathLst>
            </a:custGeom>
            <a:noFill/>
            <a:ln cap="flat" cmpd="sng" w="16550">
              <a:solidFill>
                <a:srgbClr val="93A2B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48" name="Google Shape;548;p10"/>
            <p:cNvSpPr/>
            <p:nvPr/>
          </p:nvSpPr>
          <p:spPr>
            <a:xfrm>
              <a:off x="5603760" y="2539443"/>
              <a:ext cx="76200" cy="76200"/>
            </a:xfrm>
            <a:custGeom>
              <a:rect b="b" l="l" r="r" t="t"/>
              <a:pathLst>
                <a:path extrusionOk="0" h="76200" w="76200">
                  <a:moveTo>
                    <a:pt x="75603" y="0"/>
                  </a:moveTo>
                  <a:lnTo>
                    <a:pt x="0" y="0"/>
                  </a:lnTo>
                  <a:lnTo>
                    <a:pt x="37795" y="75603"/>
                  </a:lnTo>
                  <a:lnTo>
                    <a:pt x="75603" y="0"/>
                  </a:lnTo>
                  <a:close/>
                </a:path>
              </a:pathLst>
            </a:custGeom>
            <a:solidFill>
              <a:srgbClr val="93A2B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49" name="Google Shape;549;p10"/>
            <p:cNvSpPr/>
            <p:nvPr/>
          </p:nvSpPr>
          <p:spPr>
            <a:xfrm>
              <a:off x="4681435" y="2633397"/>
              <a:ext cx="1920239" cy="713105"/>
            </a:xfrm>
            <a:custGeom>
              <a:rect b="b" l="l" r="r" t="t"/>
              <a:pathLst>
                <a:path extrusionOk="0" h="713104" w="1920240">
                  <a:moveTo>
                    <a:pt x="1919884" y="0"/>
                  </a:moveTo>
                  <a:lnTo>
                    <a:pt x="0" y="0"/>
                  </a:lnTo>
                  <a:lnTo>
                    <a:pt x="0" y="712800"/>
                  </a:lnTo>
                  <a:lnTo>
                    <a:pt x="960119" y="712800"/>
                  </a:lnTo>
                  <a:lnTo>
                    <a:pt x="1919884" y="712800"/>
                  </a:lnTo>
                  <a:lnTo>
                    <a:pt x="1919884" y="0"/>
                  </a:lnTo>
                  <a:close/>
                </a:path>
              </a:pathLst>
            </a:custGeom>
            <a:solidFill>
              <a:srgbClr val="F2E7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50" name="Google Shape;550;p10"/>
          <p:cNvSpPr txBox="1"/>
          <p:nvPr/>
        </p:nvSpPr>
        <p:spPr>
          <a:xfrm>
            <a:off x="4681435" y="2633397"/>
            <a:ext cx="1920239" cy="713105"/>
          </a:xfrm>
          <a:prstGeom prst="rect">
            <a:avLst/>
          </a:prstGeom>
          <a:noFill/>
          <a:ln cap="flat" cmpd="sng" w="16550">
            <a:solidFill>
              <a:srgbClr val="9233E9"/>
            </a:solidFill>
            <a:prstDash val="solid"/>
            <a:round/>
            <a:headEnd len="sm" w="sm" type="none"/>
            <a:tailEnd len="sm" w="sm" type="none"/>
          </a:ln>
        </p:spPr>
        <p:txBody>
          <a:bodyPr anchorCtr="0" anchor="t" bIns="0" lIns="0" spcFirstLastPara="1" rIns="0" wrap="square" tIns="116825">
            <a:spAutoFit/>
          </a:bodyPr>
          <a:lstStyle/>
          <a:p>
            <a:pPr indent="0" lvl="0" marL="0" rtl="0" algn="ctr">
              <a:lnSpc>
                <a:spcPct val="100000"/>
              </a:lnSpc>
              <a:spcBef>
                <a:spcPts val="0"/>
              </a:spcBef>
              <a:spcAft>
                <a:spcPts val="0"/>
              </a:spcAft>
              <a:buNone/>
            </a:pPr>
            <a:r>
              <a:rPr b="1" lang="en-US" sz="1100">
                <a:solidFill>
                  <a:srgbClr val="7D21CD"/>
                </a:solidFill>
                <a:latin typeface="Calibri"/>
                <a:ea typeface="Calibri"/>
                <a:cs typeface="Calibri"/>
                <a:sym typeface="Calibri"/>
              </a:rPr>
              <a:t>ŷ</a:t>
            </a:r>
            <a:r>
              <a:rPr lang="en-US" sz="1100">
                <a:solidFill>
                  <a:srgbClr val="7D21CD"/>
                </a:solidFill>
                <a:latin typeface="Quattrocento Sans"/>
                <a:ea typeface="Quattrocento Sans"/>
                <a:cs typeface="Quattrocento Sans"/>
                <a:sym typeface="Quattrocento Sans"/>
              </a:rPr>
              <a:t>ₜ </a:t>
            </a:r>
            <a:r>
              <a:rPr b="1" lang="en-US" sz="1100">
                <a:solidFill>
                  <a:srgbClr val="7D21CD"/>
                </a:solidFill>
                <a:latin typeface="Calibri"/>
                <a:ea typeface="Calibri"/>
                <a:cs typeface="Calibri"/>
                <a:sym typeface="Calibri"/>
              </a:rPr>
              <a:t>= g(Wᵧh</a:t>
            </a:r>
            <a:r>
              <a:rPr lang="en-US" sz="1100">
                <a:solidFill>
                  <a:srgbClr val="7D21CD"/>
                </a:solidFill>
                <a:latin typeface="Quattrocento Sans"/>
                <a:ea typeface="Quattrocento Sans"/>
                <a:cs typeface="Quattrocento Sans"/>
                <a:sym typeface="Quattrocento Sans"/>
              </a:rPr>
              <a:t>ₜ</a:t>
            </a:r>
            <a:r>
              <a:rPr b="1" lang="en-US" sz="1100">
                <a:solidFill>
                  <a:srgbClr val="7D21CD"/>
                </a:solidFill>
                <a:latin typeface="Calibri"/>
                <a:ea typeface="Calibri"/>
                <a:cs typeface="Calibri"/>
                <a:sym typeface="Calibri"/>
              </a:rPr>
              <a:t>)</a:t>
            </a:r>
            <a:endParaRPr sz="1100">
              <a:latin typeface="Calibri"/>
              <a:ea typeface="Calibri"/>
              <a:cs typeface="Calibri"/>
              <a:sym typeface="Calibri"/>
            </a:endParaRPr>
          </a:p>
          <a:p>
            <a:pPr indent="0" lvl="0" marL="0" rtl="0" algn="ctr">
              <a:lnSpc>
                <a:spcPct val="100000"/>
              </a:lnSpc>
              <a:spcBef>
                <a:spcPts val="1060"/>
              </a:spcBef>
              <a:spcAft>
                <a:spcPts val="0"/>
              </a:spcAft>
              <a:buNone/>
            </a:pPr>
            <a:r>
              <a:rPr lang="en-US" sz="850">
                <a:solidFill>
                  <a:srgbClr val="9233E9"/>
                </a:solidFill>
                <a:latin typeface="Helvetica Neue"/>
                <a:ea typeface="Helvetica Neue"/>
                <a:cs typeface="Helvetica Neue"/>
                <a:sym typeface="Helvetica Neue"/>
              </a:rPr>
              <a:t>predicts: "on"</a:t>
            </a:r>
            <a:endParaRPr sz="850">
              <a:latin typeface="Helvetica Neue"/>
              <a:ea typeface="Helvetica Neue"/>
              <a:cs typeface="Helvetica Neue"/>
              <a:sym typeface="Helvetica Neue"/>
            </a:endParaRPr>
          </a:p>
        </p:txBody>
      </p:sp>
      <p:grpSp>
        <p:nvGrpSpPr>
          <p:cNvPr id="551" name="Google Shape;551;p10"/>
          <p:cNvGrpSpPr/>
          <p:nvPr/>
        </p:nvGrpSpPr>
        <p:grpSpPr>
          <a:xfrm>
            <a:off x="5603760" y="804597"/>
            <a:ext cx="3137394" cy="2652370"/>
            <a:chOff x="5603760" y="804597"/>
            <a:chExt cx="3137394" cy="2652370"/>
          </a:xfrm>
        </p:grpSpPr>
        <p:sp>
          <p:nvSpPr>
            <p:cNvPr id="552" name="Google Shape;552;p10"/>
            <p:cNvSpPr/>
            <p:nvPr/>
          </p:nvSpPr>
          <p:spPr>
            <a:xfrm>
              <a:off x="5603760" y="3380767"/>
              <a:ext cx="76200" cy="76200"/>
            </a:xfrm>
            <a:custGeom>
              <a:rect b="b" l="l" r="r" t="t"/>
              <a:pathLst>
                <a:path extrusionOk="0" h="76200" w="76200">
                  <a:moveTo>
                    <a:pt x="75603" y="0"/>
                  </a:moveTo>
                  <a:lnTo>
                    <a:pt x="0" y="0"/>
                  </a:lnTo>
                  <a:lnTo>
                    <a:pt x="37795" y="75590"/>
                  </a:lnTo>
                  <a:lnTo>
                    <a:pt x="75603" y="0"/>
                  </a:lnTo>
                  <a:close/>
                </a:path>
              </a:pathLst>
            </a:custGeom>
            <a:solidFill>
              <a:srgbClr val="F33E5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53" name="Google Shape;553;p10"/>
            <p:cNvSpPr/>
            <p:nvPr/>
          </p:nvSpPr>
          <p:spPr>
            <a:xfrm>
              <a:off x="6820915" y="804597"/>
              <a:ext cx="1920239" cy="713105"/>
            </a:xfrm>
            <a:custGeom>
              <a:rect b="b" l="l" r="r" t="t"/>
              <a:pathLst>
                <a:path extrusionOk="0" h="713105" w="1920240">
                  <a:moveTo>
                    <a:pt x="1919884" y="0"/>
                  </a:moveTo>
                  <a:lnTo>
                    <a:pt x="0" y="0"/>
                  </a:lnTo>
                  <a:lnTo>
                    <a:pt x="0" y="712800"/>
                  </a:lnTo>
                  <a:lnTo>
                    <a:pt x="960119" y="712800"/>
                  </a:lnTo>
                  <a:lnTo>
                    <a:pt x="1919884" y="712800"/>
                  </a:lnTo>
                  <a:lnTo>
                    <a:pt x="1919884" y="0"/>
                  </a:lnTo>
                  <a:close/>
                </a:path>
              </a:pathLst>
            </a:custGeom>
            <a:solidFill>
              <a:srgbClr val="DAE9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54" name="Google Shape;554;p10"/>
          <p:cNvSpPr txBox="1"/>
          <p:nvPr/>
        </p:nvSpPr>
        <p:spPr>
          <a:xfrm>
            <a:off x="6820916" y="804597"/>
            <a:ext cx="1920239" cy="713105"/>
          </a:xfrm>
          <a:prstGeom prst="rect">
            <a:avLst/>
          </a:prstGeom>
          <a:noFill/>
          <a:ln cap="flat" cmpd="sng" w="16550">
            <a:solidFill>
              <a:srgbClr val="3A81F5"/>
            </a:solidFill>
            <a:prstDash val="solid"/>
            <a:round/>
            <a:headEnd len="sm" w="sm" type="none"/>
            <a:tailEnd len="sm" w="sm" type="none"/>
          </a:ln>
        </p:spPr>
        <p:txBody>
          <a:bodyPr anchorCtr="0" anchor="t" bIns="0" lIns="0" spcFirstLastPara="1" rIns="0" wrap="square" tIns="116825">
            <a:spAutoFit/>
          </a:bodyPr>
          <a:lstStyle/>
          <a:p>
            <a:pPr indent="0" lvl="0" marL="0" rtl="0" algn="ctr">
              <a:lnSpc>
                <a:spcPct val="100000"/>
              </a:lnSpc>
              <a:spcBef>
                <a:spcPts val="0"/>
              </a:spcBef>
              <a:spcAft>
                <a:spcPts val="0"/>
              </a:spcAft>
              <a:buNone/>
            </a:pPr>
            <a:r>
              <a:rPr b="1" lang="en-US" sz="1100">
                <a:solidFill>
                  <a:srgbClr val="1C4DD7"/>
                </a:solidFill>
                <a:latin typeface="Calibri"/>
                <a:ea typeface="Calibri"/>
                <a:cs typeface="Calibri"/>
                <a:sym typeface="Calibri"/>
              </a:rPr>
              <a:t>x</a:t>
            </a:r>
            <a:r>
              <a:rPr lang="en-US" sz="1100">
                <a:solidFill>
                  <a:srgbClr val="1C4DD7"/>
                </a:solidFill>
                <a:latin typeface="Quattrocento Sans"/>
                <a:ea typeface="Quattrocento Sans"/>
                <a:cs typeface="Quattrocento Sans"/>
                <a:sym typeface="Quattrocento Sans"/>
              </a:rPr>
              <a:t>ₜ </a:t>
            </a:r>
            <a:r>
              <a:rPr b="1" lang="en-US" sz="1100">
                <a:solidFill>
                  <a:srgbClr val="1C4DD7"/>
                </a:solidFill>
                <a:latin typeface="Calibri"/>
                <a:ea typeface="Calibri"/>
                <a:cs typeface="Calibri"/>
                <a:sym typeface="Calibri"/>
              </a:rPr>
              <a:t>= x₄</a:t>
            </a:r>
            <a:endParaRPr sz="1100">
              <a:latin typeface="Calibri"/>
              <a:ea typeface="Calibri"/>
              <a:cs typeface="Calibri"/>
              <a:sym typeface="Calibri"/>
            </a:endParaRPr>
          </a:p>
          <a:p>
            <a:pPr indent="0" lvl="0" marL="0" rtl="0" algn="ctr">
              <a:lnSpc>
                <a:spcPct val="100000"/>
              </a:lnSpc>
              <a:spcBef>
                <a:spcPts val="1060"/>
              </a:spcBef>
              <a:spcAft>
                <a:spcPts val="0"/>
              </a:spcAft>
              <a:buNone/>
            </a:pPr>
            <a:r>
              <a:rPr lang="en-US" sz="850">
                <a:solidFill>
                  <a:srgbClr val="3A81F5"/>
                </a:solidFill>
                <a:latin typeface="Helvetica Neue"/>
                <a:ea typeface="Helvetica Neue"/>
                <a:cs typeface="Helvetica Neue"/>
                <a:sym typeface="Helvetica Neue"/>
              </a:rPr>
              <a:t>input: "on"</a:t>
            </a:r>
            <a:endParaRPr sz="850">
              <a:latin typeface="Helvetica Neue"/>
              <a:ea typeface="Helvetica Neue"/>
              <a:cs typeface="Helvetica Neue"/>
              <a:sym typeface="Helvetica Neue"/>
            </a:endParaRPr>
          </a:p>
        </p:txBody>
      </p:sp>
      <p:grpSp>
        <p:nvGrpSpPr>
          <p:cNvPr id="555" name="Google Shape;555;p10"/>
          <p:cNvGrpSpPr/>
          <p:nvPr/>
        </p:nvGrpSpPr>
        <p:grpSpPr>
          <a:xfrm>
            <a:off x="6820916" y="1536117"/>
            <a:ext cx="1920239" cy="895985"/>
            <a:chOff x="6820916" y="1536117"/>
            <a:chExt cx="1920239" cy="895985"/>
          </a:xfrm>
        </p:grpSpPr>
        <p:sp>
          <p:nvSpPr>
            <p:cNvPr id="556" name="Google Shape;556;p10"/>
            <p:cNvSpPr/>
            <p:nvPr/>
          </p:nvSpPr>
          <p:spPr>
            <a:xfrm>
              <a:off x="7781404" y="1536117"/>
              <a:ext cx="0" cy="93980"/>
            </a:xfrm>
            <a:custGeom>
              <a:rect b="b" l="l" r="r" t="t"/>
              <a:pathLst>
                <a:path extrusionOk="0" h="93980" w="120000">
                  <a:moveTo>
                    <a:pt x="0" y="0"/>
                  </a:moveTo>
                  <a:lnTo>
                    <a:pt x="0" y="93967"/>
                  </a:lnTo>
                </a:path>
              </a:pathLst>
            </a:custGeom>
            <a:noFill/>
            <a:ln cap="flat" cmpd="sng" w="16550">
              <a:solidFill>
                <a:srgbClr val="93A2B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57" name="Google Shape;557;p10"/>
            <p:cNvSpPr/>
            <p:nvPr/>
          </p:nvSpPr>
          <p:spPr>
            <a:xfrm>
              <a:off x="7743596" y="1625043"/>
              <a:ext cx="76200" cy="76200"/>
            </a:xfrm>
            <a:custGeom>
              <a:rect b="b" l="l" r="r" t="t"/>
              <a:pathLst>
                <a:path extrusionOk="0" h="76200" w="76200">
                  <a:moveTo>
                    <a:pt x="75603" y="0"/>
                  </a:moveTo>
                  <a:lnTo>
                    <a:pt x="0" y="0"/>
                  </a:lnTo>
                  <a:lnTo>
                    <a:pt x="37807" y="75603"/>
                  </a:lnTo>
                  <a:lnTo>
                    <a:pt x="75603" y="0"/>
                  </a:lnTo>
                  <a:close/>
                </a:path>
              </a:pathLst>
            </a:custGeom>
            <a:solidFill>
              <a:srgbClr val="93A2B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58" name="Google Shape;558;p10"/>
            <p:cNvSpPr/>
            <p:nvPr/>
          </p:nvSpPr>
          <p:spPr>
            <a:xfrm>
              <a:off x="6820916" y="1718997"/>
              <a:ext cx="1920239" cy="713105"/>
            </a:xfrm>
            <a:custGeom>
              <a:rect b="b" l="l" r="r" t="t"/>
              <a:pathLst>
                <a:path extrusionOk="0" h="713105" w="1920240">
                  <a:moveTo>
                    <a:pt x="1919884" y="0"/>
                  </a:moveTo>
                  <a:lnTo>
                    <a:pt x="0" y="0"/>
                  </a:lnTo>
                  <a:lnTo>
                    <a:pt x="0" y="712800"/>
                  </a:lnTo>
                  <a:lnTo>
                    <a:pt x="960119" y="712800"/>
                  </a:lnTo>
                  <a:lnTo>
                    <a:pt x="1919884" y="712800"/>
                  </a:lnTo>
                  <a:lnTo>
                    <a:pt x="1919884" y="0"/>
                  </a:lnTo>
                  <a:close/>
                </a:path>
              </a:pathLst>
            </a:custGeom>
            <a:solidFill>
              <a:srgbClr val="DBFBE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59" name="Google Shape;559;p10"/>
          <p:cNvSpPr txBox="1"/>
          <p:nvPr/>
        </p:nvSpPr>
        <p:spPr>
          <a:xfrm>
            <a:off x="6820916" y="1718997"/>
            <a:ext cx="1920239" cy="713105"/>
          </a:xfrm>
          <a:prstGeom prst="rect">
            <a:avLst/>
          </a:prstGeom>
          <a:noFill/>
          <a:ln cap="flat" cmpd="sng" w="16550">
            <a:solidFill>
              <a:srgbClr val="15A249"/>
            </a:solidFill>
            <a:prstDash val="solid"/>
            <a:round/>
            <a:headEnd len="sm" w="sm" type="none"/>
            <a:tailEnd len="sm" w="sm" type="none"/>
          </a:ln>
        </p:spPr>
        <p:txBody>
          <a:bodyPr anchorCtr="0" anchor="t" bIns="0" lIns="0" spcFirstLastPara="1" rIns="0" wrap="square" tIns="116825">
            <a:spAutoFit/>
          </a:bodyPr>
          <a:lstStyle/>
          <a:p>
            <a:pPr indent="0" lvl="0" marL="0" rtl="0" algn="ctr">
              <a:lnSpc>
                <a:spcPct val="100000"/>
              </a:lnSpc>
              <a:spcBef>
                <a:spcPts val="0"/>
              </a:spcBef>
              <a:spcAft>
                <a:spcPts val="0"/>
              </a:spcAft>
              <a:buNone/>
            </a:pPr>
            <a:r>
              <a:rPr b="1" lang="en-US" sz="1100">
                <a:solidFill>
                  <a:srgbClr val="147F3C"/>
                </a:solidFill>
                <a:latin typeface="Calibri"/>
                <a:ea typeface="Calibri"/>
                <a:cs typeface="Calibri"/>
                <a:sym typeface="Calibri"/>
              </a:rPr>
              <a:t>h</a:t>
            </a:r>
            <a:r>
              <a:rPr lang="en-US" sz="1100">
                <a:solidFill>
                  <a:srgbClr val="147F3C"/>
                </a:solidFill>
                <a:latin typeface="Quattrocento Sans"/>
                <a:ea typeface="Quattrocento Sans"/>
                <a:cs typeface="Quattrocento Sans"/>
                <a:sym typeface="Quattrocento Sans"/>
              </a:rPr>
              <a:t>ₜ </a:t>
            </a:r>
            <a:r>
              <a:rPr b="1" lang="en-US" sz="1100">
                <a:solidFill>
                  <a:srgbClr val="147F3C"/>
                </a:solidFill>
                <a:latin typeface="Calibri"/>
                <a:ea typeface="Calibri"/>
                <a:cs typeface="Calibri"/>
                <a:sym typeface="Calibri"/>
              </a:rPr>
              <a:t>= h₄</a:t>
            </a:r>
            <a:endParaRPr sz="1100">
              <a:latin typeface="Calibri"/>
              <a:ea typeface="Calibri"/>
              <a:cs typeface="Calibri"/>
              <a:sym typeface="Calibri"/>
            </a:endParaRPr>
          </a:p>
          <a:p>
            <a:pPr indent="0" lvl="0" marL="0" rtl="0" algn="ctr">
              <a:lnSpc>
                <a:spcPct val="100000"/>
              </a:lnSpc>
              <a:spcBef>
                <a:spcPts val="1060"/>
              </a:spcBef>
              <a:spcAft>
                <a:spcPts val="0"/>
              </a:spcAft>
              <a:buNone/>
            </a:pPr>
            <a:r>
              <a:rPr lang="en-US" sz="850">
                <a:solidFill>
                  <a:srgbClr val="15A249"/>
                </a:solidFill>
                <a:latin typeface="Helvetica Neue"/>
                <a:ea typeface="Helvetica Neue"/>
                <a:cs typeface="Helvetica Neue"/>
                <a:sym typeface="Helvetica Neue"/>
              </a:rPr>
              <a:t>tanh(Wₕhₜ₋₁ + Wₓxₜ + b)</a:t>
            </a:r>
            <a:endParaRPr sz="850">
              <a:latin typeface="Helvetica Neue"/>
              <a:ea typeface="Helvetica Neue"/>
              <a:cs typeface="Helvetica Neue"/>
              <a:sym typeface="Helvetica Neue"/>
            </a:endParaRPr>
          </a:p>
        </p:txBody>
      </p:sp>
      <p:grpSp>
        <p:nvGrpSpPr>
          <p:cNvPr id="560" name="Google Shape;560;p10"/>
          <p:cNvGrpSpPr/>
          <p:nvPr/>
        </p:nvGrpSpPr>
        <p:grpSpPr>
          <a:xfrm>
            <a:off x="6820916" y="2450517"/>
            <a:ext cx="1920239" cy="895985"/>
            <a:chOff x="6820916" y="2450517"/>
            <a:chExt cx="1920239" cy="895985"/>
          </a:xfrm>
        </p:grpSpPr>
        <p:sp>
          <p:nvSpPr>
            <p:cNvPr id="561" name="Google Shape;561;p10"/>
            <p:cNvSpPr/>
            <p:nvPr/>
          </p:nvSpPr>
          <p:spPr>
            <a:xfrm>
              <a:off x="7781404" y="2450517"/>
              <a:ext cx="0" cy="93980"/>
            </a:xfrm>
            <a:custGeom>
              <a:rect b="b" l="l" r="r" t="t"/>
              <a:pathLst>
                <a:path extrusionOk="0" h="93980" w="120000">
                  <a:moveTo>
                    <a:pt x="0" y="0"/>
                  </a:moveTo>
                  <a:lnTo>
                    <a:pt x="0" y="93967"/>
                  </a:lnTo>
                </a:path>
              </a:pathLst>
            </a:custGeom>
            <a:noFill/>
            <a:ln cap="flat" cmpd="sng" w="16550">
              <a:solidFill>
                <a:srgbClr val="93A2B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62" name="Google Shape;562;p10"/>
            <p:cNvSpPr/>
            <p:nvPr/>
          </p:nvSpPr>
          <p:spPr>
            <a:xfrm>
              <a:off x="7743596" y="2539443"/>
              <a:ext cx="76200" cy="76200"/>
            </a:xfrm>
            <a:custGeom>
              <a:rect b="b" l="l" r="r" t="t"/>
              <a:pathLst>
                <a:path extrusionOk="0" h="76200" w="76200">
                  <a:moveTo>
                    <a:pt x="75603" y="0"/>
                  </a:moveTo>
                  <a:lnTo>
                    <a:pt x="0" y="0"/>
                  </a:lnTo>
                  <a:lnTo>
                    <a:pt x="37807" y="75603"/>
                  </a:lnTo>
                  <a:lnTo>
                    <a:pt x="75603" y="0"/>
                  </a:lnTo>
                  <a:close/>
                </a:path>
              </a:pathLst>
            </a:custGeom>
            <a:solidFill>
              <a:srgbClr val="93A2B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63" name="Google Shape;563;p10"/>
            <p:cNvSpPr/>
            <p:nvPr/>
          </p:nvSpPr>
          <p:spPr>
            <a:xfrm>
              <a:off x="6820916" y="2633397"/>
              <a:ext cx="1920239" cy="713105"/>
            </a:xfrm>
            <a:custGeom>
              <a:rect b="b" l="l" r="r" t="t"/>
              <a:pathLst>
                <a:path extrusionOk="0" h="713104" w="1920240">
                  <a:moveTo>
                    <a:pt x="1919884" y="0"/>
                  </a:moveTo>
                  <a:lnTo>
                    <a:pt x="0" y="0"/>
                  </a:lnTo>
                  <a:lnTo>
                    <a:pt x="0" y="712800"/>
                  </a:lnTo>
                  <a:lnTo>
                    <a:pt x="960119" y="712800"/>
                  </a:lnTo>
                  <a:lnTo>
                    <a:pt x="1919884" y="712800"/>
                  </a:lnTo>
                  <a:lnTo>
                    <a:pt x="1919884" y="0"/>
                  </a:lnTo>
                  <a:close/>
                </a:path>
              </a:pathLst>
            </a:custGeom>
            <a:solidFill>
              <a:srgbClr val="F2E7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64" name="Google Shape;564;p10"/>
          <p:cNvSpPr txBox="1"/>
          <p:nvPr/>
        </p:nvSpPr>
        <p:spPr>
          <a:xfrm>
            <a:off x="6820916" y="2633397"/>
            <a:ext cx="1920239" cy="713105"/>
          </a:xfrm>
          <a:prstGeom prst="rect">
            <a:avLst/>
          </a:prstGeom>
          <a:noFill/>
          <a:ln cap="flat" cmpd="sng" w="16550">
            <a:solidFill>
              <a:srgbClr val="9233E9"/>
            </a:solidFill>
            <a:prstDash val="solid"/>
            <a:round/>
            <a:headEnd len="sm" w="sm" type="none"/>
            <a:tailEnd len="sm" w="sm" type="none"/>
          </a:ln>
        </p:spPr>
        <p:txBody>
          <a:bodyPr anchorCtr="0" anchor="t" bIns="0" lIns="0" spcFirstLastPara="1" rIns="0" wrap="square" tIns="116825">
            <a:spAutoFit/>
          </a:bodyPr>
          <a:lstStyle/>
          <a:p>
            <a:pPr indent="0" lvl="0" marL="0" rtl="0" algn="ctr">
              <a:lnSpc>
                <a:spcPct val="100000"/>
              </a:lnSpc>
              <a:spcBef>
                <a:spcPts val="0"/>
              </a:spcBef>
              <a:spcAft>
                <a:spcPts val="0"/>
              </a:spcAft>
              <a:buNone/>
            </a:pPr>
            <a:r>
              <a:rPr b="1" lang="en-US" sz="1100">
                <a:solidFill>
                  <a:srgbClr val="7D21CD"/>
                </a:solidFill>
                <a:latin typeface="Calibri"/>
                <a:ea typeface="Calibri"/>
                <a:cs typeface="Calibri"/>
                <a:sym typeface="Calibri"/>
              </a:rPr>
              <a:t>ŷ</a:t>
            </a:r>
            <a:r>
              <a:rPr lang="en-US" sz="1100">
                <a:solidFill>
                  <a:srgbClr val="7D21CD"/>
                </a:solidFill>
                <a:latin typeface="Quattrocento Sans"/>
                <a:ea typeface="Quattrocento Sans"/>
                <a:cs typeface="Quattrocento Sans"/>
                <a:sym typeface="Quattrocento Sans"/>
              </a:rPr>
              <a:t>ₜ </a:t>
            </a:r>
            <a:r>
              <a:rPr b="1" lang="en-US" sz="1100">
                <a:solidFill>
                  <a:srgbClr val="7D21CD"/>
                </a:solidFill>
                <a:latin typeface="Calibri"/>
                <a:ea typeface="Calibri"/>
                <a:cs typeface="Calibri"/>
                <a:sym typeface="Calibri"/>
              </a:rPr>
              <a:t>= g(Wᵧh</a:t>
            </a:r>
            <a:r>
              <a:rPr lang="en-US" sz="1100">
                <a:solidFill>
                  <a:srgbClr val="7D21CD"/>
                </a:solidFill>
                <a:latin typeface="Quattrocento Sans"/>
                <a:ea typeface="Quattrocento Sans"/>
                <a:cs typeface="Quattrocento Sans"/>
                <a:sym typeface="Quattrocento Sans"/>
              </a:rPr>
              <a:t>ₜ</a:t>
            </a:r>
            <a:r>
              <a:rPr b="1" lang="en-US" sz="1100">
                <a:solidFill>
                  <a:srgbClr val="7D21CD"/>
                </a:solidFill>
                <a:latin typeface="Calibri"/>
                <a:ea typeface="Calibri"/>
                <a:cs typeface="Calibri"/>
                <a:sym typeface="Calibri"/>
              </a:rPr>
              <a:t>)</a:t>
            </a:r>
            <a:endParaRPr sz="1100">
              <a:latin typeface="Calibri"/>
              <a:ea typeface="Calibri"/>
              <a:cs typeface="Calibri"/>
              <a:sym typeface="Calibri"/>
            </a:endParaRPr>
          </a:p>
          <a:p>
            <a:pPr indent="0" lvl="0" marL="0" rtl="0" algn="ctr">
              <a:lnSpc>
                <a:spcPct val="100000"/>
              </a:lnSpc>
              <a:spcBef>
                <a:spcPts val="1060"/>
              </a:spcBef>
              <a:spcAft>
                <a:spcPts val="0"/>
              </a:spcAft>
              <a:buNone/>
            </a:pPr>
            <a:r>
              <a:rPr lang="en-US" sz="850">
                <a:solidFill>
                  <a:srgbClr val="9233E9"/>
                </a:solidFill>
                <a:latin typeface="Helvetica Neue"/>
                <a:ea typeface="Helvetica Neue"/>
                <a:cs typeface="Helvetica Neue"/>
                <a:sym typeface="Helvetica Neue"/>
              </a:rPr>
              <a:t>predicts: "the"</a:t>
            </a:r>
            <a:endParaRPr sz="850">
              <a:latin typeface="Helvetica Neue"/>
              <a:ea typeface="Helvetica Neue"/>
              <a:cs typeface="Helvetica Neue"/>
              <a:sym typeface="Helvetica Neue"/>
            </a:endParaRPr>
          </a:p>
        </p:txBody>
      </p:sp>
      <p:sp>
        <p:nvSpPr>
          <p:cNvPr id="565" name="Google Shape;565;p10"/>
          <p:cNvSpPr/>
          <p:nvPr/>
        </p:nvSpPr>
        <p:spPr>
          <a:xfrm>
            <a:off x="539280" y="3456358"/>
            <a:ext cx="1645920" cy="292735"/>
          </a:xfrm>
          <a:custGeom>
            <a:rect b="b" l="l" r="r" t="t"/>
            <a:pathLst>
              <a:path extrusionOk="0" h="292735" w="1645920">
                <a:moveTo>
                  <a:pt x="1645564" y="0"/>
                </a:moveTo>
                <a:lnTo>
                  <a:pt x="0" y="0"/>
                </a:lnTo>
                <a:lnTo>
                  <a:pt x="0" y="292328"/>
                </a:lnTo>
                <a:lnTo>
                  <a:pt x="822960" y="292328"/>
                </a:lnTo>
                <a:lnTo>
                  <a:pt x="1645564" y="292328"/>
                </a:lnTo>
                <a:lnTo>
                  <a:pt x="1645564" y="0"/>
                </a:lnTo>
                <a:close/>
              </a:path>
            </a:pathLst>
          </a:custGeom>
          <a:solidFill>
            <a:srgbClr val="FFE3E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66" name="Google Shape;566;p10"/>
          <p:cNvSpPr txBox="1"/>
          <p:nvPr/>
        </p:nvSpPr>
        <p:spPr>
          <a:xfrm>
            <a:off x="539280" y="3456358"/>
            <a:ext cx="1645920" cy="292735"/>
          </a:xfrm>
          <a:prstGeom prst="rect">
            <a:avLst/>
          </a:prstGeom>
          <a:noFill/>
          <a:ln cap="flat" cmpd="sng" w="10075">
            <a:solidFill>
              <a:srgbClr val="F33E5D"/>
            </a:solidFill>
            <a:prstDash val="solid"/>
            <a:round/>
            <a:headEnd len="sm" w="sm" type="none"/>
            <a:tailEnd len="sm" w="sm" type="none"/>
          </a:ln>
        </p:spPr>
        <p:txBody>
          <a:bodyPr anchorCtr="0" anchor="t" bIns="0" lIns="0" spcFirstLastPara="1" rIns="0" wrap="square" tIns="85075">
            <a:spAutoFit/>
          </a:bodyPr>
          <a:lstStyle/>
          <a:p>
            <a:pPr indent="0" lvl="0" marL="361315" rtl="0" algn="l">
              <a:lnSpc>
                <a:spcPct val="100000"/>
              </a:lnSpc>
              <a:spcBef>
                <a:spcPts val="0"/>
              </a:spcBef>
              <a:spcAft>
                <a:spcPts val="0"/>
              </a:spcAft>
              <a:buNone/>
            </a:pPr>
            <a:r>
              <a:rPr lang="en-US" sz="800">
                <a:solidFill>
                  <a:srgbClr val="BD113B"/>
                </a:solidFill>
                <a:latin typeface="Helvetica Neue"/>
                <a:ea typeface="Helvetica Neue"/>
                <a:cs typeface="Helvetica Neue"/>
                <a:sym typeface="Helvetica Neue"/>
              </a:rPr>
              <a:t>L1 = −log P(ŷ1)</a:t>
            </a:r>
            <a:endParaRPr sz="800">
              <a:latin typeface="Helvetica Neue"/>
              <a:ea typeface="Helvetica Neue"/>
              <a:cs typeface="Helvetica Neue"/>
              <a:sym typeface="Helvetica Neue"/>
            </a:endParaRPr>
          </a:p>
        </p:txBody>
      </p:sp>
      <p:sp>
        <p:nvSpPr>
          <p:cNvPr id="567" name="Google Shape;567;p10"/>
          <p:cNvSpPr/>
          <p:nvPr/>
        </p:nvSpPr>
        <p:spPr>
          <a:xfrm>
            <a:off x="2678760" y="3456358"/>
            <a:ext cx="1645920" cy="292735"/>
          </a:xfrm>
          <a:custGeom>
            <a:rect b="b" l="l" r="r" t="t"/>
            <a:pathLst>
              <a:path extrusionOk="0" h="292735" w="1645920">
                <a:moveTo>
                  <a:pt x="1645564" y="0"/>
                </a:moveTo>
                <a:lnTo>
                  <a:pt x="0" y="0"/>
                </a:lnTo>
                <a:lnTo>
                  <a:pt x="0" y="292328"/>
                </a:lnTo>
                <a:lnTo>
                  <a:pt x="822960" y="292328"/>
                </a:lnTo>
                <a:lnTo>
                  <a:pt x="1645564" y="292328"/>
                </a:lnTo>
                <a:lnTo>
                  <a:pt x="1645564" y="0"/>
                </a:lnTo>
                <a:close/>
              </a:path>
            </a:pathLst>
          </a:custGeom>
          <a:solidFill>
            <a:srgbClr val="FFE3E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68" name="Google Shape;568;p10"/>
          <p:cNvSpPr txBox="1"/>
          <p:nvPr/>
        </p:nvSpPr>
        <p:spPr>
          <a:xfrm>
            <a:off x="2678760" y="3456358"/>
            <a:ext cx="1645920" cy="292735"/>
          </a:xfrm>
          <a:prstGeom prst="rect">
            <a:avLst/>
          </a:prstGeom>
          <a:noFill/>
          <a:ln cap="flat" cmpd="sng" w="10075">
            <a:solidFill>
              <a:srgbClr val="F33E5D"/>
            </a:solidFill>
            <a:prstDash val="solid"/>
            <a:round/>
            <a:headEnd len="sm" w="sm" type="none"/>
            <a:tailEnd len="sm" w="sm" type="none"/>
          </a:ln>
        </p:spPr>
        <p:txBody>
          <a:bodyPr anchorCtr="0" anchor="t" bIns="0" lIns="0" spcFirstLastPara="1" rIns="0" wrap="square" tIns="85075">
            <a:spAutoFit/>
          </a:bodyPr>
          <a:lstStyle/>
          <a:p>
            <a:pPr indent="0" lvl="0" marL="361315" rtl="0" algn="l">
              <a:lnSpc>
                <a:spcPct val="100000"/>
              </a:lnSpc>
              <a:spcBef>
                <a:spcPts val="0"/>
              </a:spcBef>
              <a:spcAft>
                <a:spcPts val="0"/>
              </a:spcAft>
              <a:buNone/>
            </a:pPr>
            <a:r>
              <a:rPr lang="en-US" sz="800">
                <a:solidFill>
                  <a:srgbClr val="BD113B"/>
                </a:solidFill>
                <a:latin typeface="Helvetica Neue"/>
                <a:ea typeface="Helvetica Neue"/>
                <a:cs typeface="Helvetica Neue"/>
                <a:sym typeface="Helvetica Neue"/>
              </a:rPr>
              <a:t>L2 = −log P(ŷ2)</a:t>
            </a:r>
            <a:endParaRPr sz="800">
              <a:latin typeface="Helvetica Neue"/>
              <a:ea typeface="Helvetica Neue"/>
              <a:cs typeface="Helvetica Neue"/>
              <a:sym typeface="Helvetica Neue"/>
            </a:endParaRPr>
          </a:p>
        </p:txBody>
      </p:sp>
      <p:sp>
        <p:nvSpPr>
          <p:cNvPr id="569" name="Google Shape;569;p10"/>
          <p:cNvSpPr/>
          <p:nvPr/>
        </p:nvSpPr>
        <p:spPr>
          <a:xfrm>
            <a:off x="4818595" y="3456358"/>
            <a:ext cx="1645920" cy="292735"/>
          </a:xfrm>
          <a:custGeom>
            <a:rect b="b" l="l" r="r" t="t"/>
            <a:pathLst>
              <a:path extrusionOk="0" h="292735" w="1645920">
                <a:moveTo>
                  <a:pt x="1645564" y="0"/>
                </a:moveTo>
                <a:lnTo>
                  <a:pt x="0" y="0"/>
                </a:lnTo>
                <a:lnTo>
                  <a:pt x="0" y="292328"/>
                </a:lnTo>
                <a:lnTo>
                  <a:pt x="822960" y="292328"/>
                </a:lnTo>
                <a:lnTo>
                  <a:pt x="1645564" y="292328"/>
                </a:lnTo>
                <a:lnTo>
                  <a:pt x="1645564" y="0"/>
                </a:lnTo>
                <a:close/>
              </a:path>
            </a:pathLst>
          </a:custGeom>
          <a:solidFill>
            <a:srgbClr val="FFE3E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70" name="Google Shape;570;p10"/>
          <p:cNvSpPr txBox="1"/>
          <p:nvPr/>
        </p:nvSpPr>
        <p:spPr>
          <a:xfrm>
            <a:off x="4818595" y="3456358"/>
            <a:ext cx="1645920" cy="292735"/>
          </a:xfrm>
          <a:prstGeom prst="rect">
            <a:avLst/>
          </a:prstGeom>
          <a:noFill/>
          <a:ln cap="flat" cmpd="sng" w="10075">
            <a:solidFill>
              <a:srgbClr val="F33E5D"/>
            </a:solidFill>
            <a:prstDash val="solid"/>
            <a:round/>
            <a:headEnd len="sm" w="sm" type="none"/>
            <a:tailEnd len="sm" w="sm" type="none"/>
          </a:ln>
        </p:spPr>
        <p:txBody>
          <a:bodyPr anchorCtr="0" anchor="t" bIns="0" lIns="0" spcFirstLastPara="1" rIns="0" wrap="square" tIns="85075">
            <a:spAutoFit/>
          </a:bodyPr>
          <a:lstStyle/>
          <a:p>
            <a:pPr indent="0" lvl="0" marL="361315" rtl="0" algn="l">
              <a:lnSpc>
                <a:spcPct val="100000"/>
              </a:lnSpc>
              <a:spcBef>
                <a:spcPts val="0"/>
              </a:spcBef>
              <a:spcAft>
                <a:spcPts val="0"/>
              </a:spcAft>
              <a:buNone/>
            </a:pPr>
            <a:r>
              <a:rPr lang="en-US" sz="800">
                <a:solidFill>
                  <a:srgbClr val="BD113B"/>
                </a:solidFill>
                <a:latin typeface="Helvetica Neue"/>
                <a:ea typeface="Helvetica Neue"/>
                <a:cs typeface="Helvetica Neue"/>
                <a:sym typeface="Helvetica Neue"/>
              </a:rPr>
              <a:t>L3 = −log P(ŷ3)</a:t>
            </a:r>
            <a:endParaRPr sz="800">
              <a:latin typeface="Helvetica Neue"/>
              <a:ea typeface="Helvetica Neue"/>
              <a:cs typeface="Helvetica Neue"/>
              <a:sym typeface="Helvetica Neue"/>
            </a:endParaRPr>
          </a:p>
        </p:txBody>
      </p:sp>
      <p:sp>
        <p:nvSpPr>
          <p:cNvPr id="571" name="Google Shape;571;p10"/>
          <p:cNvSpPr/>
          <p:nvPr/>
        </p:nvSpPr>
        <p:spPr>
          <a:xfrm>
            <a:off x="6958076" y="3456358"/>
            <a:ext cx="1645920" cy="292735"/>
          </a:xfrm>
          <a:custGeom>
            <a:rect b="b" l="l" r="r" t="t"/>
            <a:pathLst>
              <a:path extrusionOk="0" h="292735" w="1645920">
                <a:moveTo>
                  <a:pt x="1645564" y="0"/>
                </a:moveTo>
                <a:lnTo>
                  <a:pt x="0" y="0"/>
                </a:lnTo>
                <a:lnTo>
                  <a:pt x="0" y="292328"/>
                </a:lnTo>
                <a:lnTo>
                  <a:pt x="822959" y="292328"/>
                </a:lnTo>
                <a:lnTo>
                  <a:pt x="1645564" y="292328"/>
                </a:lnTo>
                <a:lnTo>
                  <a:pt x="1645564" y="0"/>
                </a:lnTo>
                <a:close/>
              </a:path>
            </a:pathLst>
          </a:custGeom>
          <a:solidFill>
            <a:srgbClr val="FFE3E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72" name="Google Shape;572;p10"/>
          <p:cNvSpPr txBox="1"/>
          <p:nvPr/>
        </p:nvSpPr>
        <p:spPr>
          <a:xfrm>
            <a:off x="6958076" y="3456358"/>
            <a:ext cx="1645920" cy="292735"/>
          </a:xfrm>
          <a:prstGeom prst="rect">
            <a:avLst/>
          </a:prstGeom>
          <a:noFill/>
          <a:ln cap="flat" cmpd="sng" w="10075">
            <a:solidFill>
              <a:srgbClr val="F33E5D"/>
            </a:solidFill>
            <a:prstDash val="solid"/>
            <a:round/>
            <a:headEnd len="sm" w="sm" type="none"/>
            <a:tailEnd len="sm" w="sm" type="none"/>
          </a:ln>
        </p:spPr>
        <p:txBody>
          <a:bodyPr anchorCtr="0" anchor="t" bIns="0" lIns="0" spcFirstLastPara="1" rIns="0" wrap="square" tIns="85075">
            <a:spAutoFit/>
          </a:bodyPr>
          <a:lstStyle/>
          <a:p>
            <a:pPr indent="0" lvl="0" marL="361315" rtl="0" algn="l">
              <a:lnSpc>
                <a:spcPct val="100000"/>
              </a:lnSpc>
              <a:spcBef>
                <a:spcPts val="0"/>
              </a:spcBef>
              <a:spcAft>
                <a:spcPts val="0"/>
              </a:spcAft>
              <a:buNone/>
            </a:pPr>
            <a:r>
              <a:rPr lang="en-US" sz="800">
                <a:solidFill>
                  <a:srgbClr val="BD113B"/>
                </a:solidFill>
                <a:latin typeface="Helvetica Neue"/>
                <a:ea typeface="Helvetica Neue"/>
                <a:cs typeface="Helvetica Neue"/>
                <a:sym typeface="Helvetica Neue"/>
              </a:rPr>
              <a:t>L4 = −log P(ŷ4)</a:t>
            </a:r>
            <a:endParaRPr sz="800">
              <a:latin typeface="Helvetica Neue"/>
              <a:ea typeface="Helvetica Neue"/>
              <a:cs typeface="Helvetica Neue"/>
              <a:sym typeface="Helvetica Neue"/>
            </a:endParaRPr>
          </a:p>
        </p:txBody>
      </p:sp>
      <p:sp>
        <p:nvSpPr>
          <p:cNvPr id="573" name="Google Shape;573;p10"/>
          <p:cNvSpPr/>
          <p:nvPr/>
        </p:nvSpPr>
        <p:spPr>
          <a:xfrm>
            <a:off x="7743596" y="3380767"/>
            <a:ext cx="76200" cy="76200"/>
          </a:xfrm>
          <a:custGeom>
            <a:rect b="b" l="l" r="r" t="t"/>
            <a:pathLst>
              <a:path extrusionOk="0" h="76200" w="76200">
                <a:moveTo>
                  <a:pt x="75603" y="0"/>
                </a:moveTo>
                <a:lnTo>
                  <a:pt x="0" y="0"/>
                </a:lnTo>
                <a:lnTo>
                  <a:pt x="37807" y="75590"/>
                </a:lnTo>
                <a:lnTo>
                  <a:pt x="75603" y="0"/>
                </a:lnTo>
                <a:close/>
              </a:path>
            </a:pathLst>
          </a:custGeom>
          <a:solidFill>
            <a:srgbClr val="F33E5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74" name="Google Shape;574;p10"/>
          <p:cNvSpPr/>
          <p:nvPr/>
        </p:nvSpPr>
        <p:spPr>
          <a:xfrm>
            <a:off x="274320" y="4041726"/>
            <a:ext cx="2590800" cy="603885"/>
          </a:xfrm>
          <a:custGeom>
            <a:rect b="b" l="l" r="r" t="t"/>
            <a:pathLst>
              <a:path extrusionOk="0" h="603885" w="2590800">
                <a:moveTo>
                  <a:pt x="2590558" y="0"/>
                </a:moveTo>
                <a:lnTo>
                  <a:pt x="0" y="0"/>
                </a:lnTo>
                <a:lnTo>
                  <a:pt x="0" y="603351"/>
                </a:lnTo>
                <a:lnTo>
                  <a:pt x="1295285" y="603351"/>
                </a:lnTo>
                <a:lnTo>
                  <a:pt x="2590558" y="603351"/>
                </a:lnTo>
                <a:lnTo>
                  <a:pt x="2590558" y="0"/>
                </a:lnTo>
                <a:close/>
              </a:path>
            </a:pathLst>
          </a:custGeom>
          <a:solidFill>
            <a:srgbClr val="DBFBE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75" name="Google Shape;575;p10"/>
          <p:cNvSpPr txBox="1"/>
          <p:nvPr/>
        </p:nvSpPr>
        <p:spPr>
          <a:xfrm>
            <a:off x="274320" y="4041726"/>
            <a:ext cx="2590800" cy="603885"/>
          </a:xfrm>
          <a:prstGeom prst="rect">
            <a:avLst/>
          </a:prstGeom>
          <a:noFill/>
          <a:ln cap="flat" cmpd="sng" w="12575">
            <a:solidFill>
              <a:srgbClr val="15A249"/>
            </a:solidFill>
            <a:prstDash val="solid"/>
            <a:round/>
            <a:headEnd len="sm" w="sm" type="none"/>
            <a:tailEnd len="sm" w="sm" type="none"/>
          </a:ln>
        </p:spPr>
        <p:txBody>
          <a:bodyPr anchorCtr="0" anchor="t" bIns="0" lIns="0" spcFirstLastPara="1" rIns="0" wrap="square" tIns="90150">
            <a:spAutoFit/>
          </a:bodyPr>
          <a:lstStyle/>
          <a:p>
            <a:pPr indent="0" lvl="0" marL="90805" rtl="0" algn="l">
              <a:lnSpc>
                <a:spcPct val="100000"/>
              </a:lnSpc>
              <a:spcBef>
                <a:spcPts val="0"/>
              </a:spcBef>
              <a:spcAft>
                <a:spcPts val="0"/>
              </a:spcAft>
              <a:buNone/>
            </a:pPr>
            <a:r>
              <a:rPr b="1" lang="en-US" sz="850">
                <a:solidFill>
                  <a:srgbClr val="147F3C"/>
                </a:solidFill>
                <a:latin typeface="Calibri"/>
                <a:ea typeface="Calibri"/>
                <a:cs typeface="Calibri"/>
                <a:sym typeface="Calibri"/>
              </a:rPr>
              <a:t>Hidden Update</a:t>
            </a:r>
            <a:endParaRPr sz="850">
              <a:latin typeface="Calibri"/>
              <a:ea typeface="Calibri"/>
              <a:cs typeface="Calibri"/>
              <a:sym typeface="Calibri"/>
            </a:endParaRPr>
          </a:p>
          <a:p>
            <a:pPr indent="0" lvl="0" marL="90805" rtl="0" algn="l">
              <a:lnSpc>
                <a:spcPct val="100000"/>
              </a:lnSpc>
              <a:spcBef>
                <a:spcPts val="994"/>
              </a:spcBef>
              <a:spcAft>
                <a:spcPts val="0"/>
              </a:spcAft>
              <a:buNone/>
            </a:pPr>
            <a:r>
              <a:rPr lang="en-US" sz="850">
                <a:solidFill>
                  <a:srgbClr val="15A249"/>
                </a:solidFill>
                <a:latin typeface="Helvetica Neue"/>
                <a:ea typeface="Helvetica Neue"/>
                <a:cs typeface="Helvetica Neue"/>
                <a:sym typeface="Helvetica Neue"/>
              </a:rPr>
              <a:t>hₜ = tanh( Wₕ·hₜ₋₁ + Wₓ·xₜ + b )</a:t>
            </a:r>
            <a:endParaRPr sz="850">
              <a:latin typeface="Helvetica Neue"/>
              <a:ea typeface="Helvetica Neue"/>
              <a:cs typeface="Helvetica Neue"/>
              <a:sym typeface="Helvetica Neue"/>
            </a:endParaRPr>
          </a:p>
        </p:txBody>
      </p:sp>
      <p:sp>
        <p:nvSpPr>
          <p:cNvPr id="576" name="Google Shape;576;p10"/>
          <p:cNvSpPr/>
          <p:nvPr/>
        </p:nvSpPr>
        <p:spPr>
          <a:xfrm>
            <a:off x="3139554" y="4041726"/>
            <a:ext cx="2590800" cy="603885"/>
          </a:xfrm>
          <a:custGeom>
            <a:rect b="b" l="l" r="r" t="t"/>
            <a:pathLst>
              <a:path extrusionOk="0" h="603885" w="2590800">
                <a:moveTo>
                  <a:pt x="2590571" y="0"/>
                </a:moveTo>
                <a:lnTo>
                  <a:pt x="0" y="0"/>
                </a:lnTo>
                <a:lnTo>
                  <a:pt x="0" y="603351"/>
                </a:lnTo>
                <a:lnTo>
                  <a:pt x="1295285" y="603351"/>
                </a:lnTo>
                <a:lnTo>
                  <a:pt x="2590571" y="603351"/>
                </a:lnTo>
                <a:lnTo>
                  <a:pt x="2590571" y="0"/>
                </a:lnTo>
                <a:close/>
              </a:path>
            </a:pathLst>
          </a:custGeom>
          <a:solidFill>
            <a:srgbClr val="F2E7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77" name="Google Shape;577;p10"/>
          <p:cNvSpPr txBox="1"/>
          <p:nvPr/>
        </p:nvSpPr>
        <p:spPr>
          <a:xfrm>
            <a:off x="3139554" y="4041726"/>
            <a:ext cx="2590800" cy="603885"/>
          </a:xfrm>
          <a:prstGeom prst="rect">
            <a:avLst/>
          </a:prstGeom>
          <a:noFill/>
          <a:ln cap="flat" cmpd="sng" w="12575">
            <a:solidFill>
              <a:srgbClr val="9233E9"/>
            </a:solidFill>
            <a:prstDash val="solid"/>
            <a:round/>
            <a:headEnd len="sm" w="sm" type="none"/>
            <a:tailEnd len="sm" w="sm" type="none"/>
          </a:ln>
        </p:spPr>
        <p:txBody>
          <a:bodyPr anchorCtr="0" anchor="t" bIns="0" lIns="0" spcFirstLastPara="1" rIns="0" wrap="square" tIns="90150">
            <a:spAutoFit/>
          </a:bodyPr>
          <a:lstStyle/>
          <a:p>
            <a:pPr indent="0" lvl="0" marL="90805" rtl="0" algn="l">
              <a:lnSpc>
                <a:spcPct val="100000"/>
              </a:lnSpc>
              <a:spcBef>
                <a:spcPts val="0"/>
              </a:spcBef>
              <a:spcAft>
                <a:spcPts val="0"/>
              </a:spcAft>
              <a:buNone/>
            </a:pPr>
            <a:r>
              <a:rPr b="1" lang="en-US" sz="850">
                <a:solidFill>
                  <a:srgbClr val="7D21CD"/>
                </a:solidFill>
                <a:latin typeface="Calibri"/>
                <a:ea typeface="Calibri"/>
                <a:cs typeface="Calibri"/>
                <a:sym typeface="Calibri"/>
              </a:rPr>
              <a:t>Output</a:t>
            </a:r>
            <a:endParaRPr sz="850">
              <a:latin typeface="Calibri"/>
              <a:ea typeface="Calibri"/>
              <a:cs typeface="Calibri"/>
              <a:sym typeface="Calibri"/>
            </a:endParaRPr>
          </a:p>
          <a:p>
            <a:pPr indent="0" lvl="0" marL="90805" rtl="0" algn="l">
              <a:lnSpc>
                <a:spcPct val="100000"/>
              </a:lnSpc>
              <a:spcBef>
                <a:spcPts val="994"/>
              </a:spcBef>
              <a:spcAft>
                <a:spcPts val="0"/>
              </a:spcAft>
              <a:buNone/>
            </a:pPr>
            <a:r>
              <a:rPr lang="en-US" sz="850">
                <a:solidFill>
                  <a:srgbClr val="9233E9"/>
                </a:solidFill>
                <a:latin typeface="Helvetica Neue"/>
                <a:ea typeface="Helvetica Neue"/>
                <a:cs typeface="Helvetica Neue"/>
                <a:sym typeface="Helvetica Neue"/>
              </a:rPr>
              <a:t>yₜ = g( W</a:t>
            </a:r>
            <a:r>
              <a:rPr lang="en-US" sz="850">
                <a:solidFill>
                  <a:srgbClr val="9233E9"/>
                </a:solidFill>
                <a:latin typeface="Courier New"/>
                <a:ea typeface="Courier New"/>
                <a:cs typeface="Courier New"/>
                <a:sym typeface="Courier New"/>
              </a:rPr>
              <a:t>ᵧ </a:t>
            </a:r>
            <a:r>
              <a:rPr lang="en-US" sz="850">
                <a:solidFill>
                  <a:srgbClr val="9233E9"/>
                </a:solidFill>
                <a:latin typeface="Helvetica Neue"/>
                <a:ea typeface="Helvetica Neue"/>
                <a:cs typeface="Helvetica Neue"/>
                <a:sym typeface="Helvetica Neue"/>
              </a:rPr>
              <a:t>· hₜ )</a:t>
            </a:r>
            <a:endParaRPr sz="850">
              <a:latin typeface="Helvetica Neue"/>
              <a:ea typeface="Helvetica Neue"/>
              <a:cs typeface="Helvetica Neue"/>
              <a:sym typeface="Helvetica Neue"/>
            </a:endParaRPr>
          </a:p>
        </p:txBody>
      </p:sp>
      <p:sp>
        <p:nvSpPr>
          <p:cNvPr id="578" name="Google Shape;578;p10"/>
          <p:cNvSpPr/>
          <p:nvPr/>
        </p:nvSpPr>
        <p:spPr>
          <a:xfrm>
            <a:off x="6004445" y="4041726"/>
            <a:ext cx="2590800" cy="603885"/>
          </a:xfrm>
          <a:custGeom>
            <a:rect b="b" l="l" r="r" t="t"/>
            <a:pathLst>
              <a:path extrusionOk="0" h="603885" w="2590800">
                <a:moveTo>
                  <a:pt x="2590558" y="0"/>
                </a:moveTo>
                <a:lnTo>
                  <a:pt x="0" y="0"/>
                </a:lnTo>
                <a:lnTo>
                  <a:pt x="0" y="603351"/>
                </a:lnTo>
                <a:lnTo>
                  <a:pt x="1295272" y="603351"/>
                </a:lnTo>
                <a:lnTo>
                  <a:pt x="2590558" y="603351"/>
                </a:lnTo>
                <a:lnTo>
                  <a:pt x="2590558" y="0"/>
                </a:lnTo>
                <a:close/>
              </a:path>
            </a:pathLst>
          </a:custGeom>
          <a:solidFill>
            <a:srgbClr val="FFE3E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79" name="Google Shape;579;p10"/>
          <p:cNvSpPr txBox="1"/>
          <p:nvPr/>
        </p:nvSpPr>
        <p:spPr>
          <a:xfrm>
            <a:off x="6004445" y="4041726"/>
            <a:ext cx="2590800" cy="603885"/>
          </a:xfrm>
          <a:prstGeom prst="rect">
            <a:avLst/>
          </a:prstGeom>
          <a:noFill/>
          <a:ln cap="flat" cmpd="sng" w="12575">
            <a:solidFill>
              <a:srgbClr val="F33E5D"/>
            </a:solidFill>
            <a:prstDash val="solid"/>
            <a:round/>
            <a:headEnd len="sm" w="sm" type="none"/>
            <a:tailEnd len="sm" w="sm" type="none"/>
          </a:ln>
        </p:spPr>
        <p:txBody>
          <a:bodyPr anchorCtr="0" anchor="t" bIns="0" lIns="0" spcFirstLastPara="1" rIns="0" wrap="square" tIns="90150">
            <a:spAutoFit/>
          </a:bodyPr>
          <a:lstStyle/>
          <a:p>
            <a:pPr indent="0" lvl="0" marL="90805" rtl="0" algn="l">
              <a:lnSpc>
                <a:spcPct val="100000"/>
              </a:lnSpc>
              <a:spcBef>
                <a:spcPts val="0"/>
              </a:spcBef>
              <a:spcAft>
                <a:spcPts val="0"/>
              </a:spcAft>
              <a:buNone/>
            </a:pPr>
            <a:r>
              <a:rPr b="1" lang="en-US" sz="850">
                <a:solidFill>
                  <a:srgbClr val="BD113B"/>
                </a:solidFill>
                <a:latin typeface="Calibri"/>
                <a:ea typeface="Calibri"/>
                <a:cs typeface="Calibri"/>
                <a:sym typeface="Calibri"/>
              </a:rPr>
              <a:t>Total Loss</a:t>
            </a:r>
            <a:endParaRPr sz="850">
              <a:latin typeface="Calibri"/>
              <a:ea typeface="Calibri"/>
              <a:cs typeface="Calibri"/>
              <a:sym typeface="Calibri"/>
            </a:endParaRPr>
          </a:p>
          <a:p>
            <a:pPr indent="0" lvl="0" marL="90805" rtl="0" algn="l">
              <a:lnSpc>
                <a:spcPct val="100000"/>
              </a:lnSpc>
              <a:spcBef>
                <a:spcPts val="994"/>
              </a:spcBef>
              <a:spcAft>
                <a:spcPts val="0"/>
              </a:spcAft>
              <a:buNone/>
            </a:pPr>
            <a:r>
              <a:rPr lang="en-US" sz="850">
                <a:solidFill>
                  <a:srgbClr val="F33E5D"/>
                </a:solidFill>
                <a:latin typeface="Helvetica Neue"/>
                <a:ea typeface="Helvetica Neue"/>
                <a:cs typeface="Helvetica Neue"/>
                <a:sym typeface="Helvetica Neue"/>
              </a:rPr>
              <a:t>L = −Σₜ log P(yₜ | x₁…xₜ)</a:t>
            </a:r>
            <a:endParaRPr sz="850">
              <a:latin typeface="Helvetica Neue"/>
              <a:ea typeface="Helvetica Neue"/>
              <a:cs typeface="Helvetica Neue"/>
              <a:sym typeface="Helvetica Neue"/>
            </a:endParaRPr>
          </a:p>
        </p:txBody>
      </p:sp>
      <p:grpSp>
        <p:nvGrpSpPr>
          <p:cNvPr id="580" name="Google Shape;580;p10"/>
          <p:cNvGrpSpPr/>
          <p:nvPr/>
        </p:nvGrpSpPr>
        <p:grpSpPr>
          <a:xfrm>
            <a:off x="273964" y="4772877"/>
            <a:ext cx="118745" cy="118745"/>
            <a:chOff x="273964" y="4772877"/>
            <a:chExt cx="118745" cy="118745"/>
          </a:xfrm>
        </p:grpSpPr>
        <p:sp>
          <p:nvSpPr>
            <p:cNvPr id="581" name="Google Shape;581;p10"/>
            <p:cNvSpPr/>
            <p:nvPr/>
          </p:nvSpPr>
          <p:spPr>
            <a:xfrm>
              <a:off x="273964" y="4772877"/>
              <a:ext cx="118745" cy="118745"/>
            </a:xfrm>
            <a:custGeom>
              <a:rect b="b" l="l" r="r" t="t"/>
              <a:pathLst>
                <a:path extrusionOk="0" h="118745" w="118745">
                  <a:moveTo>
                    <a:pt x="118440" y="0"/>
                  </a:moveTo>
                  <a:lnTo>
                    <a:pt x="0" y="0"/>
                  </a:lnTo>
                  <a:lnTo>
                    <a:pt x="0" y="118440"/>
                  </a:lnTo>
                  <a:lnTo>
                    <a:pt x="59397" y="118440"/>
                  </a:lnTo>
                  <a:lnTo>
                    <a:pt x="118440" y="118440"/>
                  </a:lnTo>
                  <a:lnTo>
                    <a:pt x="118440" y="0"/>
                  </a:lnTo>
                  <a:close/>
                </a:path>
              </a:pathLst>
            </a:custGeom>
            <a:solidFill>
              <a:srgbClr val="3A81F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82" name="Google Shape;582;p10"/>
            <p:cNvSpPr/>
            <p:nvPr/>
          </p:nvSpPr>
          <p:spPr>
            <a:xfrm>
              <a:off x="273964" y="4772877"/>
              <a:ext cx="118745" cy="118745"/>
            </a:xfrm>
            <a:custGeom>
              <a:rect b="b" l="l" r="r" t="t"/>
              <a:pathLst>
                <a:path extrusionOk="0" h="118745" w="118745">
                  <a:moveTo>
                    <a:pt x="59397" y="118440"/>
                  </a:moveTo>
                  <a:lnTo>
                    <a:pt x="0" y="118440"/>
                  </a:lnTo>
                  <a:lnTo>
                    <a:pt x="0" y="0"/>
                  </a:lnTo>
                  <a:lnTo>
                    <a:pt x="118440" y="0"/>
                  </a:lnTo>
                  <a:lnTo>
                    <a:pt x="118440" y="118440"/>
                  </a:lnTo>
                  <a:lnTo>
                    <a:pt x="59397" y="118440"/>
                  </a:lnTo>
                  <a:close/>
                </a:path>
              </a:pathLst>
            </a:custGeom>
            <a:noFill/>
            <a:ln cap="flat" cmpd="sng" w="12575">
              <a:solidFill>
                <a:srgbClr val="3A81F5"/>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grpSp>
        <p:nvGrpSpPr>
          <p:cNvPr id="583" name="Google Shape;583;p10"/>
          <p:cNvGrpSpPr/>
          <p:nvPr/>
        </p:nvGrpSpPr>
        <p:grpSpPr>
          <a:xfrm>
            <a:off x="1992960" y="4772877"/>
            <a:ext cx="118745" cy="118745"/>
            <a:chOff x="1992960" y="4772877"/>
            <a:chExt cx="118745" cy="118745"/>
          </a:xfrm>
        </p:grpSpPr>
        <p:sp>
          <p:nvSpPr>
            <p:cNvPr id="584" name="Google Shape;584;p10"/>
            <p:cNvSpPr/>
            <p:nvPr/>
          </p:nvSpPr>
          <p:spPr>
            <a:xfrm>
              <a:off x="1992960" y="4772877"/>
              <a:ext cx="118745" cy="118745"/>
            </a:xfrm>
            <a:custGeom>
              <a:rect b="b" l="l" r="r" t="t"/>
              <a:pathLst>
                <a:path extrusionOk="0" h="118745" w="118744">
                  <a:moveTo>
                    <a:pt x="118440" y="0"/>
                  </a:moveTo>
                  <a:lnTo>
                    <a:pt x="0" y="0"/>
                  </a:lnTo>
                  <a:lnTo>
                    <a:pt x="0" y="118440"/>
                  </a:lnTo>
                  <a:lnTo>
                    <a:pt x="59397" y="118440"/>
                  </a:lnTo>
                  <a:lnTo>
                    <a:pt x="118440" y="118440"/>
                  </a:lnTo>
                  <a:lnTo>
                    <a:pt x="118440" y="0"/>
                  </a:lnTo>
                  <a:close/>
                </a:path>
              </a:pathLst>
            </a:custGeom>
            <a:solidFill>
              <a:srgbClr val="15A24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85" name="Google Shape;585;p10"/>
            <p:cNvSpPr/>
            <p:nvPr/>
          </p:nvSpPr>
          <p:spPr>
            <a:xfrm>
              <a:off x="1992960" y="4772877"/>
              <a:ext cx="118745" cy="118745"/>
            </a:xfrm>
            <a:custGeom>
              <a:rect b="b" l="l" r="r" t="t"/>
              <a:pathLst>
                <a:path extrusionOk="0" h="118745" w="118744">
                  <a:moveTo>
                    <a:pt x="59397" y="118440"/>
                  </a:moveTo>
                  <a:lnTo>
                    <a:pt x="0" y="118440"/>
                  </a:lnTo>
                  <a:lnTo>
                    <a:pt x="0" y="0"/>
                  </a:lnTo>
                  <a:lnTo>
                    <a:pt x="118440" y="0"/>
                  </a:lnTo>
                  <a:lnTo>
                    <a:pt x="118440" y="118440"/>
                  </a:lnTo>
                  <a:lnTo>
                    <a:pt x="59397" y="118440"/>
                  </a:lnTo>
                  <a:close/>
                </a:path>
              </a:pathLst>
            </a:custGeom>
            <a:noFill/>
            <a:ln cap="flat" cmpd="sng" w="12575">
              <a:solidFill>
                <a:srgbClr val="15A24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86" name="Google Shape;586;p10"/>
          <p:cNvSpPr txBox="1"/>
          <p:nvPr/>
        </p:nvSpPr>
        <p:spPr>
          <a:xfrm>
            <a:off x="426135" y="4762336"/>
            <a:ext cx="2120265" cy="1403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750">
                <a:solidFill>
                  <a:srgbClr val="63738A"/>
                </a:solidFill>
                <a:latin typeface="Calibri"/>
                <a:ea typeface="Calibri"/>
                <a:cs typeface="Calibri"/>
                <a:sym typeface="Calibri"/>
              </a:rPr>
              <a:t>Input x</a:t>
            </a:r>
            <a:r>
              <a:rPr lang="en-US" sz="750">
                <a:solidFill>
                  <a:srgbClr val="63738A"/>
                </a:solidFill>
                <a:latin typeface="Times New Roman"/>
                <a:ea typeface="Times New Roman"/>
                <a:cs typeface="Times New Roman"/>
                <a:sym typeface="Times New Roman"/>
              </a:rPr>
              <a:t>ₜ	</a:t>
            </a:r>
            <a:r>
              <a:rPr lang="en-US" sz="750">
                <a:solidFill>
                  <a:srgbClr val="63738A"/>
                </a:solidFill>
                <a:latin typeface="Calibri"/>
                <a:ea typeface="Calibri"/>
                <a:cs typeface="Calibri"/>
                <a:sym typeface="Calibri"/>
              </a:rPr>
              <a:t>Hidden h</a:t>
            </a:r>
            <a:r>
              <a:rPr lang="en-US" sz="750">
                <a:solidFill>
                  <a:srgbClr val="63738A"/>
                </a:solidFill>
                <a:latin typeface="Times New Roman"/>
                <a:ea typeface="Times New Roman"/>
                <a:cs typeface="Times New Roman"/>
                <a:sym typeface="Times New Roman"/>
              </a:rPr>
              <a:t>ₜ</a:t>
            </a:r>
            <a:endParaRPr sz="750">
              <a:latin typeface="Times New Roman"/>
              <a:ea typeface="Times New Roman"/>
              <a:cs typeface="Times New Roman"/>
              <a:sym typeface="Times New Roman"/>
            </a:endParaRPr>
          </a:p>
        </p:txBody>
      </p:sp>
      <p:grpSp>
        <p:nvGrpSpPr>
          <p:cNvPr id="587" name="Google Shape;587;p10"/>
          <p:cNvGrpSpPr/>
          <p:nvPr/>
        </p:nvGrpSpPr>
        <p:grpSpPr>
          <a:xfrm>
            <a:off x="3711955" y="4772877"/>
            <a:ext cx="118745" cy="118745"/>
            <a:chOff x="3711955" y="4772877"/>
            <a:chExt cx="118745" cy="118745"/>
          </a:xfrm>
        </p:grpSpPr>
        <p:sp>
          <p:nvSpPr>
            <p:cNvPr id="588" name="Google Shape;588;p10"/>
            <p:cNvSpPr/>
            <p:nvPr/>
          </p:nvSpPr>
          <p:spPr>
            <a:xfrm>
              <a:off x="3711955" y="4772877"/>
              <a:ext cx="118745" cy="118745"/>
            </a:xfrm>
            <a:custGeom>
              <a:rect b="b" l="l" r="r" t="t"/>
              <a:pathLst>
                <a:path extrusionOk="0" h="118745" w="118745">
                  <a:moveTo>
                    <a:pt x="118440" y="0"/>
                  </a:moveTo>
                  <a:lnTo>
                    <a:pt x="0" y="0"/>
                  </a:lnTo>
                  <a:lnTo>
                    <a:pt x="0" y="118440"/>
                  </a:lnTo>
                  <a:lnTo>
                    <a:pt x="59397" y="118440"/>
                  </a:lnTo>
                  <a:lnTo>
                    <a:pt x="118440" y="118440"/>
                  </a:lnTo>
                  <a:lnTo>
                    <a:pt x="118440" y="0"/>
                  </a:lnTo>
                  <a:close/>
                </a:path>
              </a:pathLst>
            </a:custGeom>
            <a:solidFill>
              <a:srgbClr val="9233E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89" name="Google Shape;589;p10"/>
            <p:cNvSpPr/>
            <p:nvPr/>
          </p:nvSpPr>
          <p:spPr>
            <a:xfrm>
              <a:off x="3711955" y="4772877"/>
              <a:ext cx="118745" cy="118745"/>
            </a:xfrm>
            <a:custGeom>
              <a:rect b="b" l="l" r="r" t="t"/>
              <a:pathLst>
                <a:path extrusionOk="0" h="118745" w="118745">
                  <a:moveTo>
                    <a:pt x="59397" y="118440"/>
                  </a:moveTo>
                  <a:lnTo>
                    <a:pt x="0" y="118440"/>
                  </a:lnTo>
                  <a:lnTo>
                    <a:pt x="0" y="0"/>
                  </a:lnTo>
                  <a:lnTo>
                    <a:pt x="118440" y="0"/>
                  </a:lnTo>
                  <a:lnTo>
                    <a:pt x="118440" y="118440"/>
                  </a:lnTo>
                  <a:lnTo>
                    <a:pt x="59397" y="118440"/>
                  </a:lnTo>
                  <a:close/>
                </a:path>
              </a:pathLst>
            </a:custGeom>
            <a:noFill/>
            <a:ln cap="flat" cmpd="sng" w="12575">
              <a:solidFill>
                <a:srgbClr val="9233E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90" name="Google Shape;590;p10"/>
          <p:cNvSpPr txBox="1"/>
          <p:nvPr/>
        </p:nvSpPr>
        <p:spPr>
          <a:xfrm>
            <a:off x="3864495" y="4762336"/>
            <a:ext cx="392430" cy="1403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750">
                <a:solidFill>
                  <a:srgbClr val="63738A"/>
                </a:solidFill>
                <a:latin typeface="Calibri"/>
                <a:ea typeface="Calibri"/>
                <a:cs typeface="Calibri"/>
                <a:sym typeface="Calibri"/>
              </a:rPr>
              <a:t>Output ŷ</a:t>
            </a:r>
            <a:r>
              <a:rPr lang="en-US" sz="750">
                <a:solidFill>
                  <a:srgbClr val="63738A"/>
                </a:solidFill>
                <a:latin typeface="Times New Roman"/>
                <a:ea typeface="Times New Roman"/>
                <a:cs typeface="Times New Roman"/>
                <a:sym typeface="Times New Roman"/>
              </a:rPr>
              <a:t>ₜ</a:t>
            </a:r>
            <a:endParaRPr sz="750">
              <a:latin typeface="Times New Roman"/>
              <a:ea typeface="Times New Roman"/>
              <a:cs typeface="Times New Roman"/>
              <a:sym typeface="Times New Roman"/>
            </a:endParaRPr>
          </a:p>
        </p:txBody>
      </p:sp>
      <p:grpSp>
        <p:nvGrpSpPr>
          <p:cNvPr id="591" name="Google Shape;591;p10"/>
          <p:cNvGrpSpPr/>
          <p:nvPr/>
        </p:nvGrpSpPr>
        <p:grpSpPr>
          <a:xfrm>
            <a:off x="5431319" y="4772877"/>
            <a:ext cx="118745" cy="118745"/>
            <a:chOff x="5431319" y="4772877"/>
            <a:chExt cx="118745" cy="118745"/>
          </a:xfrm>
        </p:grpSpPr>
        <p:sp>
          <p:nvSpPr>
            <p:cNvPr id="592" name="Google Shape;592;p10"/>
            <p:cNvSpPr/>
            <p:nvPr/>
          </p:nvSpPr>
          <p:spPr>
            <a:xfrm>
              <a:off x="5431319" y="4772877"/>
              <a:ext cx="118745" cy="118745"/>
            </a:xfrm>
            <a:custGeom>
              <a:rect b="b" l="l" r="r" t="t"/>
              <a:pathLst>
                <a:path extrusionOk="0" h="118745" w="118745">
                  <a:moveTo>
                    <a:pt x="118440" y="0"/>
                  </a:moveTo>
                  <a:lnTo>
                    <a:pt x="0" y="0"/>
                  </a:lnTo>
                  <a:lnTo>
                    <a:pt x="0" y="118440"/>
                  </a:lnTo>
                  <a:lnTo>
                    <a:pt x="59397" y="118440"/>
                  </a:lnTo>
                  <a:lnTo>
                    <a:pt x="118440" y="118440"/>
                  </a:lnTo>
                  <a:lnTo>
                    <a:pt x="118440" y="0"/>
                  </a:lnTo>
                  <a:close/>
                </a:path>
              </a:pathLst>
            </a:custGeom>
            <a:solidFill>
              <a:srgbClr val="F33E5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93" name="Google Shape;593;p10"/>
            <p:cNvSpPr/>
            <p:nvPr/>
          </p:nvSpPr>
          <p:spPr>
            <a:xfrm>
              <a:off x="5431319" y="4772877"/>
              <a:ext cx="118745" cy="118745"/>
            </a:xfrm>
            <a:custGeom>
              <a:rect b="b" l="l" r="r" t="t"/>
              <a:pathLst>
                <a:path extrusionOk="0" h="118745" w="118745">
                  <a:moveTo>
                    <a:pt x="59397" y="118440"/>
                  </a:moveTo>
                  <a:lnTo>
                    <a:pt x="0" y="118440"/>
                  </a:lnTo>
                  <a:lnTo>
                    <a:pt x="0" y="0"/>
                  </a:lnTo>
                  <a:lnTo>
                    <a:pt x="118440" y="0"/>
                  </a:lnTo>
                  <a:lnTo>
                    <a:pt x="118440" y="118440"/>
                  </a:lnTo>
                  <a:lnTo>
                    <a:pt x="59397" y="118440"/>
                  </a:lnTo>
                  <a:close/>
                </a:path>
              </a:pathLst>
            </a:custGeom>
            <a:noFill/>
            <a:ln cap="flat" cmpd="sng" w="12575">
              <a:solidFill>
                <a:srgbClr val="F33E5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94" name="Google Shape;594;p10"/>
          <p:cNvSpPr txBox="1"/>
          <p:nvPr/>
        </p:nvSpPr>
        <p:spPr>
          <a:xfrm>
            <a:off x="5583504" y="4762336"/>
            <a:ext cx="276225" cy="1403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750">
                <a:solidFill>
                  <a:srgbClr val="63738A"/>
                </a:solidFill>
                <a:latin typeface="Calibri"/>
                <a:ea typeface="Calibri"/>
                <a:cs typeface="Calibri"/>
                <a:sym typeface="Calibri"/>
              </a:rPr>
              <a:t>Loss L</a:t>
            </a:r>
            <a:r>
              <a:rPr lang="en-US" sz="750">
                <a:solidFill>
                  <a:srgbClr val="63738A"/>
                </a:solidFill>
                <a:latin typeface="Times New Roman"/>
                <a:ea typeface="Times New Roman"/>
                <a:cs typeface="Times New Roman"/>
                <a:sym typeface="Times New Roman"/>
              </a:rPr>
              <a:t>ₜ</a:t>
            </a:r>
            <a:endParaRPr sz="750">
              <a:latin typeface="Times New Roman"/>
              <a:ea typeface="Times New Roman"/>
              <a:cs typeface="Times New Roman"/>
              <a:sym typeface="Times New Roman"/>
            </a:endParaRPr>
          </a:p>
        </p:txBody>
      </p:sp>
      <p:grpSp>
        <p:nvGrpSpPr>
          <p:cNvPr id="595" name="Google Shape;595;p10"/>
          <p:cNvGrpSpPr/>
          <p:nvPr/>
        </p:nvGrpSpPr>
        <p:grpSpPr>
          <a:xfrm>
            <a:off x="7150315" y="4772877"/>
            <a:ext cx="118745" cy="118745"/>
            <a:chOff x="7150315" y="4772877"/>
            <a:chExt cx="118745" cy="118745"/>
          </a:xfrm>
        </p:grpSpPr>
        <p:sp>
          <p:nvSpPr>
            <p:cNvPr id="596" name="Google Shape;596;p10"/>
            <p:cNvSpPr/>
            <p:nvPr/>
          </p:nvSpPr>
          <p:spPr>
            <a:xfrm>
              <a:off x="7150315" y="4772877"/>
              <a:ext cx="118745" cy="118745"/>
            </a:xfrm>
            <a:custGeom>
              <a:rect b="b" l="l" r="r" t="t"/>
              <a:pathLst>
                <a:path extrusionOk="0" h="118745" w="118745">
                  <a:moveTo>
                    <a:pt x="118440" y="0"/>
                  </a:moveTo>
                  <a:lnTo>
                    <a:pt x="0" y="0"/>
                  </a:lnTo>
                  <a:lnTo>
                    <a:pt x="0" y="118440"/>
                  </a:lnTo>
                  <a:lnTo>
                    <a:pt x="59397" y="118440"/>
                  </a:lnTo>
                  <a:lnTo>
                    <a:pt x="118440" y="118440"/>
                  </a:lnTo>
                  <a:lnTo>
                    <a:pt x="118440" y="0"/>
                  </a:lnTo>
                  <a:close/>
                </a:path>
              </a:pathLst>
            </a:custGeom>
            <a:solidFill>
              <a:srgbClr val="15A24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97" name="Google Shape;597;p10"/>
            <p:cNvSpPr/>
            <p:nvPr/>
          </p:nvSpPr>
          <p:spPr>
            <a:xfrm>
              <a:off x="7150315" y="4772877"/>
              <a:ext cx="118745" cy="118745"/>
            </a:xfrm>
            <a:custGeom>
              <a:rect b="b" l="l" r="r" t="t"/>
              <a:pathLst>
                <a:path extrusionOk="0" h="118745" w="118745">
                  <a:moveTo>
                    <a:pt x="59397" y="118440"/>
                  </a:moveTo>
                  <a:lnTo>
                    <a:pt x="0" y="118440"/>
                  </a:lnTo>
                  <a:lnTo>
                    <a:pt x="0" y="0"/>
                  </a:lnTo>
                  <a:lnTo>
                    <a:pt x="118440" y="0"/>
                  </a:lnTo>
                  <a:lnTo>
                    <a:pt x="118440" y="118440"/>
                  </a:lnTo>
                  <a:lnTo>
                    <a:pt x="59397" y="118440"/>
                  </a:lnTo>
                  <a:close/>
                </a:path>
              </a:pathLst>
            </a:custGeom>
            <a:noFill/>
            <a:ln cap="flat" cmpd="sng" w="12575">
              <a:solidFill>
                <a:srgbClr val="15A24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98" name="Google Shape;598;p10"/>
          <p:cNvSpPr txBox="1"/>
          <p:nvPr/>
        </p:nvSpPr>
        <p:spPr>
          <a:xfrm>
            <a:off x="7302500" y="4762336"/>
            <a:ext cx="722630" cy="1403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750">
                <a:solidFill>
                  <a:srgbClr val="63738A"/>
                </a:solidFill>
                <a:latin typeface="Calibri"/>
                <a:ea typeface="Calibri"/>
                <a:cs typeface="Calibri"/>
                <a:sym typeface="Calibri"/>
              </a:rPr>
              <a:t>Recurrent h</a:t>
            </a:r>
            <a:r>
              <a:rPr lang="en-US" sz="750">
                <a:solidFill>
                  <a:srgbClr val="63738A"/>
                </a:solidFill>
                <a:latin typeface="Times New Roman"/>
                <a:ea typeface="Times New Roman"/>
                <a:cs typeface="Times New Roman"/>
                <a:sym typeface="Times New Roman"/>
              </a:rPr>
              <a:t>ₜ</a:t>
            </a:r>
            <a:r>
              <a:rPr lang="en-US" sz="750">
                <a:solidFill>
                  <a:srgbClr val="63738A"/>
                </a:solidFill>
                <a:latin typeface="Calibri"/>
                <a:ea typeface="Calibri"/>
                <a:cs typeface="Calibri"/>
                <a:sym typeface="Calibri"/>
              </a:rPr>
              <a:t>→h</a:t>
            </a:r>
            <a:r>
              <a:rPr lang="en-US" sz="750">
                <a:solidFill>
                  <a:srgbClr val="63738A"/>
                </a:solidFill>
                <a:latin typeface="Times New Roman"/>
                <a:ea typeface="Times New Roman"/>
                <a:cs typeface="Times New Roman"/>
                <a:sym typeface="Times New Roman"/>
              </a:rPr>
              <a:t>ₜ</a:t>
            </a:r>
            <a:r>
              <a:rPr lang="en-US" sz="750">
                <a:solidFill>
                  <a:srgbClr val="63738A"/>
                </a:solidFill>
                <a:latin typeface="Calibri"/>
                <a:ea typeface="Calibri"/>
                <a:cs typeface="Calibri"/>
                <a:sym typeface="Calibri"/>
              </a:rPr>
              <a:t>₊₁</a:t>
            </a:r>
            <a:endParaRPr sz="750">
              <a:latin typeface="Calibri"/>
              <a:ea typeface="Calibri"/>
              <a:cs typeface="Calibri"/>
              <a:sym typeface="Calibri"/>
            </a:endParaRPr>
          </a:p>
        </p:txBody>
      </p:sp>
      <p:sp>
        <p:nvSpPr>
          <p:cNvPr id="599" name="Google Shape;599;p10"/>
          <p:cNvSpPr txBox="1"/>
          <p:nvPr/>
        </p:nvSpPr>
        <p:spPr>
          <a:xfrm>
            <a:off x="3947655" y="4836492"/>
            <a:ext cx="1245870" cy="1473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00">
                <a:solidFill>
                  <a:srgbClr val="93A2B7"/>
                </a:solidFill>
                <a:latin typeface="Calibri"/>
                <a:ea typeface="Calibri"/>
                <a:cs typeface="Calibri"/>
                <a:sym typeface="Calibri"/>
              </a:rPr>
              <a:t>Deep Learning · IIT Kharagpur</a:t>
            </a:r>
            <a:endParaRPr sz="800">
              <a:latin typeface="Calibri"/>
              <a:ea typeface="Calibri"/>
              <a:cs typeface="Calibri"/>
              <a:sym typeface="Calibri"/>
            </a:endParaRPr>
          </a:p>
        </p:txBody>
      </p:sp>
      <p:sp>
        <p:nvSpPr>
          <p:cNvPr id="600" name="Google Shape;600;p10"/>
          <p:cNvSpPr txBox="1"/>
          <p:nvPr/>
        </p:nvSpPr>
        <p:spPr>
          <a:xfrm>
            <a:off x="8957056" y="4888701"/>
            <a:ext cx="154305" cy="1784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000">
                <a:solidFill>
                  <a:srgbClr val="63738A"/>
                </a:solidFill>
                <a:latin typeface="Calibri"/>
                <a:ea typeface="Calibri"/>
                <a:cs typeface="Calibri"/>
                <a:sym typeface="Calibri"/>
              </a:rPr>
              <a:t>10</a:t>
            </a:r>
            <a:endParaRPr sz="1000">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descr="$PPTXTitle" id="605" name="Google Shape;605;p11"/>
          <p:cNvSpPr txBox="1"/>
          <p:nvPr>
            <p:ph type="title"/>
          </p:nvPr>
        </p:nvSpPr>
        <p:spPr>
          <a:xfrm>
            <a:off x="1611617" y="201868"/>
            <a:ext cx="4821555" cy="3917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RNN Intuition: The Cricket Scoreboard</a:t>
            </a:r>
            <a:endParaRPr/>
          </a:p>
        </p:txBody>
      </p:sp>
      <p:sp>
        <p:nvSpPr>
          <p:cNvPr id="606" name="Google Shape;606;p11"/>
          <p:cNvSpPr txBox="1"/>
          <p:nvPr/>
        </p:nvSpPr>
        <p:spPr>
          <a:xfrm>
            <a:off x="1378343" y="674181"/>
            <a:ext cx="5288915" cy="224154"/>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i="1" lang="en-US" sz="1300">
                <a:solidFill>
                  <a:srgbClr val="0E756D"/>
                </a:solidFill>
                <a:latin typeface="Cambria"/>
                <a:ea typeface="Cambria"/>
                <a:cs typeface="Cambria"/>
                <a:sym typeface="Cambria"/>
              </a:rPr>
              <a:t>One running summary, updated aker every ball, with the same rules every time</a:t>
            </a:r>
            <a:endParaRPr sz="1300">
              <a:latin typeface="Cambria"/>
              <a:ea typeface="Cambria"/>
              <a:cs typeface="Cambria"/>
              <a:sym typeface="Cambria"/>
            </a:endParaRPr>
          </a:p>
        </p:txBody>
      </p:sp>
      <p:pic>
        <p:nvPicPr>
          <p:cNvPr id="607" name="Google Shape;607;p11"/>
          <p:cNvPicPr preferRelativeResize="0"/>
          <p:nvPr/>
        </p:nvPicPr>
        <p:blipFill rotWithShape="1">
          <a:blip r:embed="rId3">
            <a:alphaModFix/>
          </a:blip>
          <a:srcRect b="0" l="0" r="0" t="0"/>
          <a:stretch/>
        </p:blipFill>
        <p:spPr>
          <a:xfrm>
            <a:off x="8369274" y="14"/>
            <a:ext cx="774357" cy="866508"/>
          </a:xfrm>
          <a:prstGeom prst="rect">
            <a:avLst/>
          </a:prstGeom>
          <a:noFill/>
          <a:ln>
            <a:noFill/>
          </a:ln>
        </p:spPr>
      </p:pic>
      <p:grpSp>
        <p:nvGrpSpPr>
          <p:cNvPr id="608" name="Google Shape;608;p11"/>
          <p:cNvGrpSpPr/>
          <p:nvPr/>
        </p:nvGrpSpPr>
        <p:grpSpPr>
          <a:xfrm>
            <a:off x="354241" y="1013385"/>
            <a:ext cx="4823282" cy="3085934"/>
            <a:chOff x="354241" y="1013385"/>
            <a:chExt cx="4823282" cy="3085934"/>
          </a:xfrm>
        </p:grpSpPr>
        <p:pic>
          <p:nvPicPr>
            <p:cNvPr id="609" name="Google Shape;609;p11"/>
            <p:cNvPicPr preferRelativeResize="0"/>
            <p:nvPr/>
          </p:nvPicPr>
          <p:blipFill rotWithShape="1">
            <a:blip r:embed="rId4">
              <a:alphaModFix/>
            </a:blip>
            <a:srcRect b="0" l="0" r="0" t="0"/>
            <a:stretch/>
          </p:blipFill>
          <p:spPr>
            <a:xfrm>
              <a:off x="354241" y="1013385"/>
              <a:ext cx="4823282" cy="3085934"/>
            </a:xfrm>
            <a:prstGeom prst="rect">
              <a:avLst/>
            </a:prstGeom>
            <a:noFill/>
            <a:ln>
              <a:noFill/>
            </a:ln>
          </p:spPr>
        </p:pic>
        <p:sp>
          <p:nvSpPr>
            <p:cNvPr id="610" name="Google Shape;610;p11"/>
            <p:cNvSpPr/>
            <p:nvPr/>
          </p:nvSpPr>
          <p:spPr>
            <a:xfrm>
              <a:off x="411479" y="1051562"/>
              <a:ext cx="4709160" cy="2971800"/>
            </a:xfrm>
            <a:custGeom>
              <a:rect b="b" l="l" r="r" t="t"/>
              <a:pathLst>
                <a:path extrusionOk="0" h="2971800" w="4709160">
                  <a:moveTo>
                    <a:pt x="4530598" y="0"/>
                  </a:moveTo>
                  <a:lnTo>
                    <a:pt x="178193" y="0"/>
                  </a:lnTo>
                  <a:lnTo>
                    <a:pt x="154885" y="1535"/>
                  </a:lnTo>
                  <a:lnTo>
                    <a:pt x="110160" y="13517"/>
                  </a:lnTo>
                  <a:lnTo>
                    <a:pt x="69723" y="36833"/>
                  </a:lnTo>
                  <a:lnTo>
                    <a:pt x="36833" y="69579"/>
                  </a:lnTo>
                  <a:lnTo>
                    <a:pt x="13517" y="110010"/>
                  </a:lnTo>
                  <a:lnTo>
                    <a:pt x="1535" y="154885"/>
                  </a:lnTo>
                  <a:lnTo>
                    <a:pt x="0" y="178193"/>
                  </a:lnTo>
                  <a:lnTo>
                    <a:pt x="0" y="2793606"/>
                  </a:lnTo>
                  <a:lnTo>
                    <a:pt x="1511" y="2816553"/>
                  </a:lnTo>
                  <a:lnTo>
                    <a:pt x="1535" y="2816914"/>
                  </a:lnTo>
                  <a:lnTo>
                    <a:pt x="6012" y="2839364"/>
                  </a:lnTo>
                  <a:lnTo>
                    <a:pt x="6075" y="2839681"/>
                  </a:lnTo>
                  <a:lnTo>
                    <a:pt x="13447" y="2861432"/>
                  </a:lnTo>
                  <a:lnTo>
                    <a:pt x="36827" y="2902070"/>
                  </a:lnTo>
                  <a:lnTo>
                    <a:pt x="69579" y="2934966"/>
                  </a:lnTo>
                  <a:lnTo>
                    <a:pt x="110010" y="2958282"/>
                  </a:lnTo>
                  <a:lnTo>
                    <a:pt x="154880" y="2970264"/>
                  </a:lnTo>
                  <a:lnTo>
                    <a:pt x="178193" y="2971800"/>
                  </a:lnTo>
                  <a:lnTo>
                    <a:pt x="4530966" y="2971444"/>
                  </a:lnTo>
                  <a:lnTo>
                    <a:pt x="4577041" y="2965369"/>
                  </a:lnTo>
                  <a:lnTo>
                    <a:pt x="4619879" y="2947682"/>
                  </a:lnTo>
                  <a:lnTo>
                    <a:pt x="4656958" y="2919287"/>
                  </a:lnTo>
                  <a:lnTo>
                    <a:pt x="4685398" y="2882519"/>
                  </a:lnTo>
                  <a:lnTo>
                    <a:pt x="4695541" y="2861639"/>
                  </a:lnTo>
                  <a:lnTo>
                    <a:pt x="4695642" y="2861432"/>
                  </a:lnTo>
                  <a:lnTo>
                    <a:pt x="4702977" y="2839681"/>
                  </a:lnTo>
                  <a:lnTo>
                    <a:pt x="4703084" y="2839364"/>
                  </a:lnTo>
                  <a:lnTo>
                    <a:pt x="4707552" y="2816914"/>
                  </a:lnTo>
                  <a:lnTo>
                    <a:pt x="4707624" y="2816553"/>
                  </a:lnTo>
                  <a:lnTo>
                    <a:pt x="4709135" y="2793606"/>
                  </a:lnTo>
                  <a:lnTo>
                    <a:pt x="4709160" y="2793238"/>
                  </a:lnTo>
                  <a:lnTo>
                    <a:pt x="4708804" y="178193"/>
                  </a:lnTo>
                  <a:lnTo>
                    <a:pt x="4702729" y="132118"/>
                  </a:lnTo>
                  <a:lnTo>
                    <a:pt x="4685042" y="89280"/>
                  </a:lnTo>
                  <a:lnTo>
                    <a:pt x="4656647" y="52201"/>
                  </a:lnTo>
                  <a:lnTo>
                    <a:pt x="4619879" y="23761"/>
                  </a:lnTo>
                  <a:lnTo>
                    <a:pt x="4576724" y="6075"/>
                  </a:lnTo>
                  <a:lnTo>
                    <a:pt x="4553913" y="1535"/>
                  </a:lnTo>
                  <a:lnTo>
                    <a:pt x="4530598"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11" name="Google Shape;611;p11"/>
            <p:cNvSpPr/>
            <p:nvPr/>
          </p:nvSpPr>
          <p:spPr>
            <a:xfrm>
              <a:off x="411479" y="1051562"/>
              <a:ext cx="4709160" cy="2971800"/>
            </a:xfrm>
            <a:custGeom>
              <a:rect b="b" l="l" r="r" t="t"/>
              <a:pathLst>
                <a:path extrusionOk="0" h="2971800" w="4709160">
                  <a:moveTo>
                    <a:pt x="0" y="178193"/>
                  </a:moveTo>
                  <a:lnTo>
                    <a:pt x="1535" y="154880"/>
                  </a:lnTo>
                  <a:lnTo>
                    <a:pt x="6075" y="132073"/>
                  </a:lnTo>
                  <a:lnTo>
                    <a:pt x="23761" y="88925"/>
                  </a:lnTo>
                  <a:lnTo>
                    <a:pt x="52201" y="52157"/>
                  </a:lnTo>
                  <a:lnTo>
                    <a:pt x="89281" y="23761"/>
                  </a:lnTo>
                  <a:lnTo>
                    <a:pt x="132118" y="6075"/>
                  </a:lnTo>
                  <a:lnTo>
                    <a:pt x="178193" y="0"/>
                  </a:lnTo>
                  <a:lnTo>
                    <a:pt x="4530598" y="0"/>
                  </a:lnTo>
                  <a:lnTo>
                    <a:pt x="4576724" y="6075"/>
                  </a:lnTo>
                  <a:lnTo>
                    <a:pt x="4619879" y="23761"/>
                  </a:lnTo>
                  <a:lnTo>
                    <a:pt x="4656647" y="52201"/>
                  </a:lnTo>
                  <a:lnTo>
                    <a:pt x="4685042" y="89280"/>
                  </a:lnTo>
                  <a:lnTo>
                    <a:pt x="4702729" y="132118"/>
                  </a:lnTo>
                  <a:lnTo>
                    <a:pt x="4708804" y="178193"/>
                  </a:lnTo>
                  <a:lnTo>
                    <a:pt x="4709160" y="2793238"/>
                  </a:lnTo>
                  <a:lnTo>
                    <a:pt x="4707624" y="2816553"/>
                  </a:lnTo>
                  <a:lnTo>
                    <a:pt x="4703084" y="2839364"/>
                  </a:lnTo>
                  <a:lnTo>
                    <a:pt x="4685398" y="2882519"/>
                  </a:lnTo>
                  <a:lnTo>
                    <a:pt x="4656958" y="2919287"/>
                  </a:lnTo>
                  <a:lnTo>
                    <a:pt x="4619879" y="2947682"/>
                  </a:lnTo>
                  <a:lnTo>
                    <a:pt x="4577041" y="2965369"/>
                  </a:lnTo>
                  <a:lnTo>
                    <a:pt x="4530966" y="2971444"/>
                  </a:lnTo>
                  <a:lnTo>
                    <a:pt x="178193" y="2971800"/>
                  </a:lnTo>
                  <a:lnTo>
                    <a:pt x="132073" y="2965724"/>
                  </a:lnTo>
                  <a:lnTo>
                    <a:pt x="88925" y="2948038"/>
                  </a:lnTo>
                  <a:lnTo>
                    <a:pt x="52157" y="2919598"/>
                  </a:lnTo>
                  <a:lnTo>
                    <a:pt x="23761" y="2882519"/>
                  </a:lnTo>
                  <a:lnTo>
                    <a:pt x="6075" y="2839681"/>
                  </a:lnTo>
                  <a:lnTo>
                    <a:pt x="0" y="2793606"/>
                  </a:lnTo>
                  <a:lnTo>
                    <a:pt x="0" y="178193"/>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12" name="Google Shape;612;p11"/>
            <p:cNvSpPr/>
            <p:nvPr/>
          </p:nvSpPr>
          <p:spPr>
            <a:xfrm>
              <a:off x="548639" y="1188366"/>
              <a:ext cx="4434840" cy="365760"/>
            </a:xfrm>
            <a:custGeom>
              <a:rect b="b" l="l" r="r" t="t"/>
              <a:pathLst>
                <a:path extrusionOk="0" h="365759" w="4434840">
                  <a:moveTo>
                    <a:pt x="4434484" y="0"/>
                  </a:moveTo>
                  <a:lnTo>
                    <a:pt x="0" y="0"/>
                  </a:lnTo>
                  <a:lnTo>
                    <a:pt x="0" y="365391"/>
                  </a:lnTo>
                  <a:lnTo>
                    <a:pt x="2217242" y="365391"/>
                  </a:lnTo>
                  <a:lnTo>
                    <a:pt x="4434484" y="365391"/>
                  </a:lnTo>
                  <a:lnTo>
                    <a:pt x="4434484" y="0"/>
                  </a:lnTo>
                  <a:close/>
                </a:path>
              </a:pathLst>
            </a:custGeom>
            <a:solidFill>
              <a:srgbClr val="0C1A2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613" name="Google Shape;613;p11"/>
          <p:cNvSpPr txBox="1"/>
          <p:nvPr/>
        </p:nvSpPr>
        <p:spPr>
          <a:xfrm>
            <a:off x="627380" y="1267093"/>
            <a:ext cx="61658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200">
                <a:solidFill>
                  <a:srgbClr val="FFFFFF"/>
                </a:solidFill>
                <a:latin typeface="Calibri"/>
                <a:ea typeface="Calibri"/>
                <a:cs typeface="Calibri"/>
                <a:sym typeface="Calibri"/>
              </a:rPr>
              <a:t>RNN idea</a:t>
            </a:r>
            <a:endParaRPr sz="1200">
              <a:latin typeface="Calibri"/>
              <a:ea typeface="Calibri"/>
              <a:cs typeface="Calibri"/>
              <a:sym typeface="Calibri"/>
            </a:endParaRPr>
          </a:p>
        </p:txBody>
      </p:sp>
      <p:sp>
        <p:nvSpPr>
          <p:cNvPr id="614" name="Google Shape;614;p11"/>
          <p:cNvSpPr txBox="1"/>
          <p:nvPr/>
        </p:nvSpPr>
        <p:spPr>
          <a:xfrm>
            <a:off x="1861464" y="1267093"/>
            <a:ext cx="98806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200">
                <a:solidFill>
                  <a:srgbClr val="FFFFFF"/>
                </a:solidFill>
                <a:latin typeface="Calibri"/>
                <a:ea typeface="Calibri"/>
                <a:cs typeface="Calibri"/>
                <a:sym typeface="Calibri"/>
              </a:rPr>
              <a:t>Cricket analogy</a:t>
            </a:r>
            <a:endParaRPr sz="1200">
              <a:latin typeface="Calibri"/>
              <a:ea typeface="Calibri"/>
              <a:cs typeface="Calibri"/>
              <a:sym typeface="Calibri"/>
            </a:endParaRPr>
          </a:p>
        </p:txBody>
      </p:sp>
      <p:sp>
        <p:nvSpPr>
          <p:cNvPr id="615" name="Google Shape;615;p11"/>
          <p:cNvSpPr/>
          <p:nvPr/>
        </p:nvSpPr>
        <p:spPr>
          <a:xfrm>
            <a:off x="548640" y="1599846"/>
            <a:ext cx="4434840" cy="457200"/>
          </a:xfrm>
          <a:custGeom>
            <a:rect b="b" l="l" r="r" t="t"/>
            <a:pathLst>
              <a:path extrusionOk="0" h="457200" w="4434840">
                <a:moveTo>
                  <a:pt x="4434484" y="0"/>
                </a:moveTo>
                <a:lnTo>
                  <a:pt x="0" y="0"/>
                </a:lnTo>
                <a:lnTo>
                  <a:pt x="0" y="456831"/>
                </a:lnTo>
                <a:lnTo>
                  <a:pt x="2217242" y="456831"/>
                </a:lnTo>
                <a:lnTo>
                  <a:pt x="4434484" y="456831"/>
                </a:lnTo>
                <a:lnTo>
                  <a:pt x="4434484" y="0"/>
                </a:lnTo>
                <a:close/>
              </a:path>
            </a:pathLst>
          </a:custGeom>
          <a:solidFill>
            <a:srgbClr val="F7F9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16" name="Google Shape;616;p11"/>
          <p:cNvSpPr txBox="1"/>
          <p:nvPr/>
        </p:nvSpPr>
        <p:spPr>
          <a:xfrm>
            <a:off x="627380" y="1731863"/>
            <a:ext cx="471170"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00">
                <a:solidFill>
                  <a:srgbClr val="1D3FAE"/>
                </a:solidFill>
                <a:latin typeface="Calibri"/>
                <a:ea typeface="Calibri"/>
                <a:cs typeface="Calibri"/>
                <a:sym typeface="Calibri"/>
              </a:rPr>
              <a:t>Input x</a:t>
            </a:r>
            <a:r>
              <a:rPr lang="en-US" sz="1100">
                <a:solidFill>
                  <a:srgbClr val="1D3FAE"/>
                </a:solidFill>
                <a:latin typeface="Quattrocento Sans"/>
                <a:ea typeface="Quattrocento Sans"/>
                <a:cs typeface="Quattrocento Sans"/>
                <a:sym typeface="Quattrocento Sans"/>
              </a:rPr>
              <a:t>ₜ</a:t>
            </a:r>
            <a:endParaRPr sz="1100">
              <a:latin typeface="Quattrocento Sans"/>
              <a:ea typeface="Quattrocento Sans"/>
              <a:cs typeface="Quattrocento Sans"/>
              <a:sym typeface="Quattrocento Sans"/>
            </a:endParaRPr>
          </a:p>
        </p:txBody>
      </p:sp>
      <p:sp>
        <p:nvSpPr>
          <p:cNvPr id="617" name="Google Shape;617;p11"/>
          <p:cNvSpPr txBox="1"/>
          <p:nvPr/>
        </p:nvSpPr>
        <p:spPr>
          <a:xfrm>
            <a:off x="1953260" y="1731863"/>
            <a:ext cx="1968500"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100">
                <a:solidFill>
                  <a:srgbClr val="1E2836"/>
                </a:solidFill>
                <a:latin typeface="Calibri"/>
                <a:ea typeface="Calibri"/>
                <a:cs typeface="Calibri"/>
                <a:sym typeface="Calibri"/>
              </a:rPr>
              <a:t>Each ball bowled: dot, four, wicket</a:t>
            </a:r>
            <a:endParaRPr sz="1100">
              <a:latin typeface="Calibri"/>
              <a:ea typeface="Calibri"/>
              <a:cs typeface="Calibri"/>
              <a:sym typeface="Calibri"/>
            </a:endParaRPr>
          </a:p>
        </p:txBody>
      </p:sp>
      <p:sp>
        <p:nvSpPr>
          <p:cNvPr id="618" name="Google Shape;618;p11"/>
          <p:cNvSpPr/>
          <p:nvPr/>
        </p:nvSpPr>
        <p:spPr>
          <a:xfrm>
            <a:off x="548640" y="2075397"/>
            <a:ext cx="4434840" cy="457200"/>
          </a:xfrm>
          <a:custGeom>
            <a:rect b="b" l="l" r="r" t="t"/>
            <a:pathLst>
              <a:path extrusionOk="0" h="457200" w="4434840">
                <a:moveTo>
                  <a:pt x="4434484" y="0"/>
                </a:moveTo>
                <a:lnTo>
                  <a:pt x="0" y="0"/>
                </a:lnTo>
                <a:lnTo>
                  <a:pt x="0" y="456844"/>
                </a:lnTo>
                <a:lnTo>
                  <a:pt x="2217242" y="456844"/>
                </a:lnTo>
                <a:lnTo>
                  <a:pt x="4434484" y="456844"/>
                </a:lnTo>
                <a:lnTo>
                  <a:pt x="4434484"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19" name="Google Shape;619;p11"/>
          <p:cNvSpPr txBox="1"/>
          <p:nvPr/>
        </p:nvSpPr>
        <p:spPr>
          <a:xfrm>
            <a:off x="627380" y="2207427"/>
            <a:ext cx="908685"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00">
                <a:solidFill>
                  <a:srgbClr val="1D3FAE"/>
                </a:solidFill>
                <a:latin typeface="Calibri"/>
                <a:ea typeface="Calibri"/>
                <a:cs typeface="Calibri"/>
                <a:sym typeface="Calibri"/>
              </a:rPr>
              <a:t>Hidden state h</a:t>
            </a:r>
            <a:r>
              <a:rPr lang="en-US" sz="1100">
                <a:solidFill>
                  <a:srgbClr val="1D3FAE"/>
                </a:solidFill>
                <a:latin typeface="Quattrocento Sans"/>
                <a:ea typeface="Quattrocento Sans"/>
                <a:cs typeface="Quattrocento Sans"/>
                <a:sym typeface="Quattrocento Sans"/>
              </a:rPr>
              <a:t>ₜ</a:t>
            </a:r>
            <a:endParaRPr sz="1100">
              <a:latin typeface="Quattrocento Sans"/>
              <a:ea typeface="Quattrocento Sans"/>
              <a:cs typeface="Quattrocento Sans"/>
              <a:sym typeface="Quattrocento Sans"/>
            </a:endParaRPr>
          </a:p>
        </p:txBody>
      </p:sp>
      <p:sp>
        <p:nvSpPr>
          <p:cNvPr id="620" name="Google Shape;620;p11"/>
          <p:cNvSpPr txBox="1"/>
          <p:nvPr/>
        </p:nvSpPr>
        <p:spPr>
          <a:xfrm>
            <a:off x="1953260" y="2207427"/>
            <a:ext cx="2160905"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100">
                <a:solidFill>
                  <a:srgbClr val="1E2836"/>
                </a:solidFill>
                <a:latin typeface="Calibri"/>
                <a:ea typeface="Calibri"/>
                <a:cs typeface="Calibri"/>
                <a:sym typeface="Calibri"/>
              </a:rPr>
              <a:t>The scoreboard: 87/3 after 12.4 overs</a:t>
            </a:r>
            <a:endParaRPr sz="1100">
              <a:latin typeface="Calibri"/>
              <a:ea typeface="Calibri"/>
              <a:cs typeface="Calibri"/>
              <a:sym typeface="Calibri"/>
            </a:endParaRPr>
          </a:p>
        </p:txBody>
      </p:sp>
      <p:sp>
        <p:nvSpPr>
          <p:cNvPr id="621" name="Google Shape;621;p11"/>
          <p:cNvSpPr/>
          <p:nvPr/>
        </p:nvSpPr>
        <p:spPr>
          <a:xfrm>
            <a:off x="548640" y="2550962"/>
            <a:ext cx="4434840" cy="457200"/>
          </a:xfrm>
          <a:custGeom>
            <a:rect b="b" l="l" r="r" t="t"/>
            <a:pathLst>
              <a:path extrusionOk="0" h="457200" w="4434840">
                <a:moveTo>
                  <a:pt x="4434484" y="0"/>
                </a:moveTo>
                <a:lnTo>
                  <a:pt x="0" y="0"/>
                </a:lnTo>
                <a:lnTo>
                  <a:pt x="0" y="456844"/>
                </a:lnTo>
                <a:lnTo>
                  <a:pt x="2217242" y="456844"/>
                </a:lnTo>
                <a:lnTo>
                  <a:pt x="4434484" y="456844"/>
                </a:lnTo>
                <a:lnTo>
                  <a:pt x="4434484" y="0"/>
                </a:lnTo>
                <a:close/>
              </a:path>
            </a:pathLst>
          </a:custGeom>
          <a:solidFill>
            <a:srgbClr val="F7F9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22" name="Google Shape;622;p11"/>
          <p:cNvSpPr txBox="1"/>
          <p:nvPr/>
        </p:nvSpPr>
        <p:spPr>
          <a:xfrm>
            <a:off x="627380" y="2682991"/>
            <a:ext cx="1071880"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00">
                <a:solidFill>
                  <a:srgbClr val="1D3FAE"/>
                </a:solidFill>
                <a:latin typeface="Calibri"/>
                <a:ea typeface="Calibri"/>
                <a:cs typeface="Calibri"/>
                <a:sym typeface="Calibri"/>
              </a:rPr>
              <a:t>Shared weights W</a:t>
            </a:r>
            <a:endParaRPr sz="1100">
              <a:latin typeface="Calibri"/>
              <a:ea typeface="Calibri"/>
              <a:cs typeface="Calibri"/>
              <a:sym typeface="Calibri"/>
            </a:endParaRPr>
          </a:p>
        </p:txBody>
      </p:sp>
      <p:sp>
        <p:nvSpPr>
          <p:cNvPr id="623" name="Google Shape;623;p11"/>
          <p:cNvSpPr txBox="1"/>
          <p:nvPr/>
        </p:nvSpPr>
        <p:spPr>
          <a:xfrm>
            <a:off x="1953260" y="2682991"/>
            <a:ext cx="2221230"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100">
                <a:solidFill>
                  <a:srgbClr val="1E2836"/>
                </a:solidFill>
                <a:latin typeface="Calibri"/>
                <a:ea typeface="Calibri"/>
                <a:cs typeface="Calibri"/>
                <a:sym typeface="Calibri"/>
              </a:rPr>
              <a:t>Same scoring rules for every single ball</a:t>
            </a:r>
            <a:endParaRPr sz="1100">
              <a:latin typeface="Calibri"/>
              <a:ea typeface="Calibri"/>
              <a:cs typeface="Calibri"/>
              <a:sym typeface="Calibri"/>
            </a:endParaRPr>
          </a:p>
        </p:txBody>
      </p:sp>
      <p:sp>
        <p:nvSpPr>
          <p:cNvPr id="624" name="Google Shape;624;p11"/>
          <p:cNvSpPr/>
          <p:nvPr/>
        </p:nvSpPr>
        <p:spPr>
          <a:xfrm>
            <a:off x="548640" y="3026158"/>
            <a:ext cx="4434840" cy="457200"/>
          </a:xfrm>
          <a:custGeom>
            <a:rect b="b" l="l" r="r" t="t"/>
            <a:pathLst>
              <a:path extrusionOk="0" h="457200" w="4434840">
                <a:moveTo>
                  <a:pt x="4434484" y="0"/>
                </a:moveTo>
                <a:lnTo>
                  <a:pt x="0" y="0"/>
                </a:lnTo>
                <a:lnTo>
                  <a:pt x="0" y="456844"/>
                </a:lnTo>
                <a:lnTo>
                  <a:pt x="2217242" y="456844"/>
                </a:lnTo>
                <a:lnTo>
                  <a:pt x="4434484" y="456844"/>
                </a:lnTo>
                <a:lnTo>
                  <a:pt x="4434484"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25" name="Google Shape;625;p11"/>
          <p:cNvSpPr txBox="1"/>
          <p:nvPr/>
        </p:nvSpPr>
        <p:spPr>
          <a:xfrm>
            <a:off x="627380" y="3158187"/>
            <a:ext cx="579120"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00">
                <a:solidFill>
                  <a:srgbClr val="1D3FAE"/>
                </a:solidFill>
                <a:latin typeface="Calibri"/>
                <a:ea typeface="Calibri"/>
                <a:cs typeface="Calibri"/>
                <a:sym typeface="Calibri"/>
              </a:rPr>
              <a:t>Output ŷ</a:t>
            </a:r>
            <a:r>
              <a:rPr lang="en-US" sz="1100">
                <a:solidFill>
                  <a:srgbClr val="1D3FAE"/>
                </a:solidFill>
                <a:latin typeface="Quattrocento Sans"/>
                <a:ea typeface="Quattrocento Sans"/>
                <a:cs typeface="Quattrocento Sans"/>
                <a:sym typeface="Quattrocento Sans"/>
              </a:rPr>
              <a:t>ₜ</a:t>
            </a:r>
            <a:endParaRPr sz="1100">
              <a:latin typeface="Quattrocento Sans"/>
              <a:ea typeface="Quattrocento Sans"/>
              <a:cs typeface="Quattrocento Sans"/>
              <a:sym typeface="Quattrocento Sans"/>
            </a:endParaRPr>
          </a:p>
        </p:txBody>
      </p:sp>
      <p:sp>
        <p:nvSpPr>
          <p:cNvPr id="626" name="Google Shape;626;p11"/>
          <p:cNvSpPr txBox="1"/>
          <p:nvPr/>
        </p:nvSpPr>
        <p:spPr>
          <a:xfrm>
            <a:off x="1953260" y="3158187"/>
            <a:ext cx="1865630"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100">
                <a:solidFill>
                  <a:srgbClr val="1E2836"/>
                </a:solidFill>
                <a:latin typeface="Calibri"/>
                <a:ea typeface="Calibri"/>
                <a:cs typeface="Calibri"/>
                <a:sym typeface="Calibri"/>
              </a:rPr>
              <a:t>The win-probability meter on TV</a:t>
            </a:r>
            <a:endParaRPr sz="1100">
              <a:latin typeface="Calibri"/>
              <a:ea typeface="Calibri"/>
              <a:cs typeface="Calibri"/>
              <a:sym typeface="Calibri"/>
            </a:endParaRPr>
          </a:p>
        </p:txBody>
      </p:sp>
      <p:sp>
        <p:nvSpPr>
          <p:cNvPr id="627" name="Google Shape;627;p11"/>
          <p:cNvSpPr/>
          <p:nvPr/>
        </p:nvSpPr>
        <p:spPr>
          <a:xfrm>
            <a:off x="548640" y="3501722"/>
            <a:ext cx="4434840" cy="457200"/>
          </a:xfrm>
          <a:custGeom>
            <a:rect b="b" l="l" r="r" t="t"/>
            <a:pathLst>
              <a:path extrusionOk="0" h="457200" w="4434840">
                <a:moveTo>
                  <a:pt x="4434484" y="0"/>
                </a:moveTo>
                <a:lnTo>
                  <a:pt x="0" y="0"/>
                </a:lnTo>
                <a:lnTo>
                  <a:pt x="0" y="456844"/>
                </a:lnTo>
                <a:lnTo>
                  <a:pt x="2217242" y="456844"/>
                </a:lnTo>
                <a:lnTo>
                  <a:pt x="4434484" y="456844"/>
                </a:lnTo>
                <a:lnTo>
                  <a:pt x="4434484" y="0"/>
                </a:lnTo>
                <a:close/>
              </a:path>
            </a:pathLst>
          </a:custGeom>
          <a:solidFill>
            <a:srgbClr val="F7F9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28" name="Google Shape;628;p11"/>
          <p:cNvSpPr txBox="1"/>
          <p:nvPr/>
        </p:nvSpPr>
        <p:spPr>
          <a:xfrm>
            <a:off x="627380" y="3633751"/>
            <a:ext cx="1228725"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00">
                <a:solidFill>
                  <a:srgbClr val="1D3FAE"/>
                </a:solidFill>
                <a:latin typeface="Calibri"/>
                <a:ea typeface="Calibri"/>
                <a:cs typeface="Calibri"/>
                <a:sym typeface="Calibri"/>
              </a:rPr>
              <a:t>Update h</a:t>
            </a:r>
            <a:r>
              <a:rPr lang="en-US" sz="1100">
                <a:solidFill>
                  <a:srgbClr val="1D3FAE"/>
                </a:solidFill>
                <a:latin typeface="Quattrocento Sans"/>
                <a:ea typeface="Quattrocento Sans"/>
                <a:cs typeface="Quattrocento Sans"/>
                <a:sym typeface="Quattrocento Sans"/>
              </a:rPr>
              <a:t>ₜ </a:t>
            </a:r>
            <a:r>
              <a:rPr b="1" lang="en-US" sz="1100">
                <a:solidFill>
                  <a:srgbClr val="1D3FAE"/>
                </a:solidFill>
                <a:latin typeface="Calibri"/>
                <a:ea typeface="Calibri"/>
                <a:cs typeface="Calibri"/>
                <a:sym typeface="Calibri"/>
              </a:rPr>
              <a:t>= f(h</a:t>
            </a:r>
            <a:r>
              <a:rPr lang="en-US" sz="1100">
                <a:solidFill>
                  <a:srgbClr val="1D3FAE"/>
                </a:solidFill>
                <a:latin typeface="Quattrocento Sans"/>
                <a:ea typeface="Quattrocento Sans"/>
                <a:cs typeface="Quattrocento Sans"/>
                <a:sym typeface="Quattrocento Sans"/>
              </a:rPr>
              <a:t>ₜ</a:t>
            </a:r>
            <a:r>
              <a:rPr b="1" lang="en-US" sz="1100">
                <a:solidFill>
                  <a:srgbClr val="1D3FAE"/>
                </a:solidFill>
                <a:latin typeface="Calibri"/>
                <a:ea typeface="Calibri"/>
                <a:cs typeface="Calibri"/>
                <a:sym typeface="Calibri"/>
              </a:rPr>
              <a:t>₋₁, x</a:t>
            </a:r>
            <a:r>
              <a:rPr lang="en-US" sz="1100">
                <a:solidFill>
                  <a:srgbClr val="1D3FAE"/>
                </a:solidFill>
                <a:latin typeface="Quattrocento Sans"/>
                <a:ea typeface="Quattrocento Sans"/>
                <a:cs typeface="Quattrocento Sans"/>
                <a:sym typeface="Quattrocento Sans"/>
              </a:rPr>
              <a:t>ₜ</a:t>
            </a:r>
            <a:r>
              <a:rPr b="1" lang="en-US" sz="1100">
                <a:solidFill>
                  <a:srgbClr val="1D3FAE"/>
                </a:solidFill>
                <a:latin typeface="Calibri"/>
                <a:ea typeface="Calibri"/>
                <a:cs typeface="Calibri"/>
                <a:sym typeface="Calibri"/>
              </a:rPr>
              <a:t>)</a:t>
            </a:r>
            <a:endParaRPr sz="1100">
              <a:latin typeface="Calibri"/>
              <a:ea typeface="Calibri"/>
              <a:cs typeface="Calibri"/>
              <a:sym typeface="Calibri"/>
            </a:endParaRPr>
          </a:p>
        </p:txBody>
      </p:sp>
      <p:sp>
        <p:nvSpPr>
          <p:cNvPr id="629" name="Google Shape;629;p11"/>
          <p:cNvSpPr txBox="1"/>
          <p:nvPr/>
        </p:nvSpPr>
        <p:spPr>
          <a:xfrm>
            <a:off x="1953260" y="3633751"/>
            <a:ext cx="1842770"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100">
                <a:solidFill>
                  <a:srgbClr val="1E2836"/>
                </a:solidFill>
                <a:latin typeface="Calibri"/>
                <a:ea typeface="Calibri"/>
                <a:cs typeface="Calibri"/>
                <a:sym typeface="Calibri"/>
              </a:rPr>
              <a:t>New score = old score + this ball</a:t>
            </a:r>
            <a:endParaRPr sz="1100">
              <a:latin typeface="Calibri"/>
              <a:ea typeface="Calibri"/>
              <a:cs typeface="Calibri"/>
              <a:sym typeface="Calibri"/>
            </a:endParaRPr>
          </a:p>
        </p:txBody>
      </p:sp>
      <p:grpSp>
        <p:nvGrpSpPr>
          <p:cNvPr id="630" name="Google Shape;630;p11"/>
          <p:cNvGrpSpPr/>
          <p:nvPr/>
        </p:nvGrpSpPr>
        <p:grpSpPr>
          <a:xfrm>
            <a:off x="5246280" y="1013385"/>
            <a:ext cx="3543477" cy="3085934"/>
            <a:chOff x="5246280" y="1013385"/>
            <a:chExt cx="3543477" cy="3085934"/>
          </a:xfrm>
        </p:grpSpPr>
        <p:pic>
          <p:nvPicPr>
            <p:cNvPr id="631" name="Google Shape;631;p11"/>
            <p:cNvPicPr preferRelativeResize="0"/>
            <p:nvPr/>
          </p:nvPicPr>
          <p:blipFill rotWithShape="1">
            <a:blip r:embed="rId5">
              <a:alphaModFix/>
            </a:blip>
            <a:srcRect b="0" l="0" r="0" t="0"/>
            <a:stretch/>
          </p:blipFill>
          <p:spPr>
            <a:xfrm>
              <a:off x="5246280" y="1013385"/>
              <a:ext cx="3543477" cy="3085934"/>
            </a:xfrm>
            <a:prstGeom prst="rect">
              <a:avLst/>
            </a:prstGeom>
            <a:noFill/>
            <a:ln>
              <a:noFill/>
            </a:ln>
          </p:spPr>
        </p:pic>
        <p:sp>
          <p:nvSpPr>
            <p:cNvPr id="632" name="Google Shape;632;p11"/>
            <p:cNvSpPr/>
            <p:nvPr/>
          </p:nvSpPr>
          <p:spPr>
            <a:xfrm>
              <a:off x="5303519" y="1051562"/>
              <a:ext cx="3429000" cy="2971800"/>
            </a:xfrm>
            <a:custGeom>
              <a:rect b="b" l="l" r="r" t="t"/>
              <a:pathLst>
                <a:path extrusionOk="0" h="2971800" w="3429000">
                  <a:moveTo>
                    <a:pt x="3250437" y="0"/>
                  </a:moveTo>
                  <a:lnTo>
                    <a:pt x="178193" y="0"/>
                  </a:lnTo>
                  <a:lnTo>
                    <a:pt x="154885" y="1535"/>
                  </a:lnTo>
                  <a:lnTo>
                    <a:pt x="110160" y="13517"/>
                  </a:lnTo>
                  <a:lnTo>
                    <a:pt x="69723" y="36833"/>
                  </a:lnTo>
                  <a:lnTo>
                    <a:pt x="36833" y="69579"/>
                  </a:lnTo>
                  <a:lnTo>
                    <a:pt x="13517" y="110010"/>
                  </a:lnTo>
                  <a:lnTo>
                    <a:pt x="1535" y="154885"/>
                  </a:lnTo>
                  <a:lnTo>
                    <a:pt x="0" y="178193"/>
                  </a:lnTo>
                  <a:lnTo>
                    <a:pt x="0" y="2793606"/>
                  </a:lnTo>
                  <a:lnTo>
                    <a:pt x="1511" y="2816553"/>
                  </a:lnTo>
                  <a:lnTo>
                    <a:pt x="1535" y="2816914"/>
                  </a:lnTo>
                  <a:lnTo>
                    <a:pt x="6012" y="2839364"/>
                  </a:lnTo>
                  <a:lnTo>
                    <a:pt x="6075" y="2839681"/>
                  </a:lnTo>
                  <a:lnTo>
                    <a:pt x="13447" y="2861432"/>
                  </a:lnTo>
                  <a:lnTo>
                    <a:pt x="36827" y="2902070"/>
                  </a:lnTo>
                  <a:lnTo>
                    <a:pt x="69579" y="2934966"/>
                  </a:lnTo>
                  <a:lnTo>
                    <a:pt x="110010" y="2958282"/>
                  </a:lnTo>
                  <a:lnTo>
                    <a:pt x="154880" y="2970264"/>
                  </a:lnTo>
                  <a:lnTo>
                    <a:pt x="178193" y="2971800"/>
                  </a:lnTo>
                  <a:lnTo>
                    <a:pt x="3250806" y="2971444"/>
                  </a:lnTo>
                  <a:lnTo>
                    <a:pt x="3296881" y="2965369"/>
                  </a:lnTo>
                  <a:lnTo>
                    <a:pt x="3339719" y="2947682"/>
                  </a:lnTo>
                  <a:lnTo>
                    <a:pt x="3376798" y="2919287"/>
                  </a:lnTo>
                  <a:lnTo>
                    <a:pt x="3405238" y="2882519"/>
                  </a:lnTo>
                  <a:lnTo>
                    <a:pt x="3422817" y="2839681"/>
                  </a:lnTo>
                  <a:lnTo>
                    <a:pt x="3422924" y="2839364"/>
                  </a:lnTo>
                  <a:lnTo>
                    <a:pt x="3427392" y="2816914"/>
                  </a:lnTo>
                  <a:lnTo>
                    <a:pt x="3427464" y="2816553"/>
                  </a:lnTo>
                  <a:lnTo>
                    <a:pt x="3428975" y="2793606"/>
                  </a:lnTo>
                  <a:lnTo>
                    <a:pt x="3428644" y="178193"/>
                  </a:lnTo>
                  <a:lnTo>
                    <a:pt x="3422569" y="132118"/>
                  </a:lnTo>
                  <a:lnTo>
                    <a:pt x="3404882" y="89280"/>
                  </a:lnTo>
                  <a:lnTo>
                    <a:pt x="3376487" y="52201"/>
                  </a:lnTo>
                  <a:lnTo>
                    <a:pt x="3339719" y="23761"/>
                  </a:lnTo>
                  <a:lnTo>
                    <a:pt x="3296564" y="6075"/>
                  </a:lnTo>
                  <a:lnTo>
                    <a:pt x="3273753" y="1535"/>
                  </a:lnTo>
                  <a:lnTo>
                    <a:pt x="3250437" y="0"/>
                  </a:lnTo>
                  <a:close/>
                </a:path>
              </a:pathLst>
            </a:custGeom>
            <a:solidFill>
              <a:srgbClr val="FFF0E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33" name="Google Shape;633;p11"/>
            <p:cNvSpPr/>
            <p:nvPr/>
          </p:nvSpPr>
          <p:spPr>
            <a:xfrm>
              <a:off x="5303519" y="1051562"/>
              <a:ext cx="3429000" cy="2971800"/>
            </a:xfrm>
            <a:custGeom>
              <a:rect b="b" l="l" r="r" t="t"/>
              <a:pathLst>
                <a:path extrusionOk="0" h="2971800" w="3429000">
                  <a:moveTo>
                    <a:pt x="0" y="178193"/>
                  </a:moveTo>
                  <a:lnTo>
                    <a:pt x="1535" y="154880"/>
                  </a:lnTo>
                  <a:lnTo>
                    <a:pt x="6075" y="132073"/>
                  </a:lnTo>
                  <a:lnTo>
                    <a:pt x="23761" y="88925"/>
                  </a:lnTo>
                  <a:lnTo>
                    <a:pt x="52201" y="52157"/>
                  </a:lnTo>
                  <a:lnTo>
                    <a:pt x="89280" y="23761"/>
                  </a:lnTo>
                  <a:lnTo>
                    <a:pt x="132118" y="6075"/>
                  </a:lnTo>
                  <a:lnTo>
                    <a:pt x="178193" y="0"/>
                  </a:lnTo>
                  <a:lnTo>
                    <a:pt x="3250437" y="0"/>
                  </a:lnTo>
                  <a:lnTo>
                    <a:pt x="3296564" y="6075"/>
                  </a:lnTo>
                  <a:lnTo>
                    <a:pt x="3339719" y="23761"/>
                  </a:lnTo>
                  <a:lnTo>
                    <a:pt x="3376487" y="52201"/>
                  </a:lnTo>
                  <a:lnTo>
                    <a:pt x="3404882" y="89280"/>
                  </a:lnTo>
                  <a:lnTo>
                    <a:pt x="3422569" y="132118"/>
                  </a:lnTo>
                  <a:lnTo>
                    <a:pt x="3428644" y="178193"/>
                  </a:lnTo>
                  <a:lnTo>
                    <a:pt x="3429000" y="2793238"/>
                  </a:lnTo>
                  <a:lnTo>
                    <a:pt x="3427464" y="2816553"/>
                  </a:lnTo>
                  <a:lnTo>
                    <a:pt x="3422924" y="2839364"/>
                  </a:lnTo>
                  <a:lnTo>
                    <a:pt x="3405238" y="2882519"/>
                  </a:lnTo>
                  <a:lnTo>
                    <a:pt x="3376798" y="2919287"/>
                  </a:lnTo>
                  <a:lnTo>
                    <a:pt x="3339719" y="2947682"/>
                  </a:lnTo>
                  <a:lnTo>
                    <a:pt x="3296881" y="2965369"/>
                  </a:lnTo>
                  <a:lnTo>
                    <a:pt x="3250806" y="2971444"/>
                  </a:lnTo>
                  <a:lnTo>
                    <a:pt x="178193" y="2971800"/>
                  </a:lnTo>
                  <a:lnTo>
                    <a:pt x="132073" y="2965724"/>
                  </a:lnTo>
                  <a:lnTo>
                    <a:pt x="88925" y="2948038"/>
                  </a:lnTo>
                  <a:lnTo>
                    <a:pt x="52157" y="2919598"/>
                  </a:lnTo>
                  <a:lnTo>
                    <a:pt x="23761" y="2882519"/>
                  </a:lnTo>
                  <a:lnTo>
                    <a:pt x="6075" y="2839681"/>
                  </a:lnTo>
                  <a:lnTo>
                    <a:pt x="0" y="2793606"/>
                  </a:lnTo>
                  <a:lnTo>
                    <a:pt x="0" y="178193"/>
                  </a:lnTo>
                  <a:close/>
                </a:path>
              </a:pathLst>
            </a:custGeom>
            <a:noFill/>
            <a:ln cap="flat" cmpd="sng" w="12575">
              <a:solidFill>
                <a:srgbClr val="F4C8A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634" name="Google Shape;634;p11"/>
          <p:cNvSpPr txBox="1"/>
          <p:nvPr/>
        </p:nvSpPr>
        <p:spPr>
          <a:xfrm>
            <a:off x="5473344" y="1156578"/>
            <a:ext cx="2978150" cy="42100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1300">
                <a:solidFill>
                  <a:srgbClr val="C1400B"/>
                </a:solidFill>
                <a:latin typeface="Calibri"/>
                <a:ea typeface="Calibri"/>
                <a:cs typeface="Calibri"/>
                <a:sym typeface="Calibri"/>
              </a:rPr>
              <a:t>Where the analogy breaks (and so does the RNN)</a:t>
            </a:r>
            <a:endParaRPr sz="1300">
              <a:latin typeface="Calibri"/>
              <a:ea typeface="Calibri"/>
              <a:cs typeface="Calibri"/>
              <a:sym typeface="Calibri"/>
            </a:endParaRPr>
          </a:p>
        </p:txBody>
      </p:sp>
      <p:sp>
        <p:nvSpPr>
          <p:cNvPr id="635" name="Google Shape;635;p11"/>
          <p:cNvSpPr txBox="1"/>
          <p:nvPr/>
        </p:nvSpPr>
        <p:spPr>
          <a:xfrm>
            <a:off x="5473344" y="1693773"/>
            <a:ext cx="3016250" cy="1131570"/>
          </a:xfrm>
          <a:prstGeom prst="rect">
            <a:avLst/>
          </a:prstGeom>
          <a:noFill/>
          <a:ln>
            <a:noFill/>
          </a:ln>
        </p:spPr>
        <p:txBody>
          <a:bodyPr anchorCtr="0" anchor="t" bIns="0" lIns="0" spcFirstLastPara="1" rIns="0" wrap="square" tIns="88900">
            <a:spAutoFit/>
          </a:bodyPr>
          <a:lstStyle/>
          <a:p>
            <a:pPr indent="0" lvl="0" marL="12700" rtl="0" algn="l">
              <a:lnSpc>
                <a:spcPct val="100000"/>
              </a:lnSpc>
              <a:spcBef>
                <a:spcPts val="0"/>
              </a:spcBef>
              <a:spcAft>
                <a:spcPts val="0"/>
              </a:spcAft>
              <a:buNone/>
            </a:pPr>
            <a:r>
              <a:rPr lang="en-US" sz="1150">
                <a:solidFill>
                  <a:srgbClr val="1E2836"/>
                </a:solidFill>
                <a:latin typeface="Calibri"/>
                <a:ea typeface="Calibri"/>
                <a:cs typeface="Calibri"/>
                <a:sym typeface="Calibri"/>
              </a:rPr>
              <a:t>Ask the scoreboard: </a:t>
            </a:r>
            <a:r>
              <a:rPr b="1" lang="en-US" sz="1150">
                <a:solidFill>
                  <a:srgbClr val="1E2836"/>
                </a:solidFill>
                <a:latin typeface="Calibri"/>
                <a:ea typeface="Calibri"/>
                <a:cs typeface="Calibri"/>
                <a:sym typeface="Calibri"/>
              </a:rPr>
              <a:t>"Who bowled the 3rd over?"</a:t>
            </a:r>
            <a:endParaRPr sz="1150">
              <a:latin typeface="Calibri"/>
              <a:ea typeface="Calibri"/>
              <a:cs typeface="Calibri"/>
              <a:sym typeface="Calibri"/>
            </a:endParaRPr>
          </a:p>
          <a:p>
            <a:pPr indent="0" lvl="0" marL="12700" marR="5080" rtl="0" algn="l">
              <a:lnSpc>
                <a:spcPct val="100000"/>
              </a:lnSpc>
              <a:spcBef>
                <a:spcPts val="600"/>
              </a:spcBef>
              <a:spcAft>
                <a:spcPts val="0"/>
              </a:spcAft>
              <a:buNone/>
            </a:pPr>
            <a:r>
              <a:rPr lang="en-US" sz="1150">
                <a:solidFill>
                  <a:srgbClr val="1E2836"/>
                </a:solidFill>
                <a:latin typeface="Calibri"/>
                <a:ea typeface="Calibri"/>
                <a:cs typeface="Calibri"/>
                <a:sym typeface="Calibri"/>
              </a:rPr>
              <a:t>It cannot tell you. The summary kept the score but threw away the story.</a:t>
            </a:r>
            <a:endParaRPr sz="1150">
              <a:latin typeface="Calibri"/>
              <a:ea typeface="Calibri"/>
              <a:cs typeface="Calibri"/>
              <a:sym typeface="Calibri"/>
            </a:endParaRPr>
          </a:p>
          <a:p>
            <a:pPr indent="0" lvl="0" marL="12700" marR="66040" rtl="0" algn="l">
              <a:lnSpc>
                <a:spcPct val="100000"/>
              </a:lnSpc>
              <a:spcBef>
                <a:spcPts val="605"/>
              </a:spcBef>
              <a:spcAft>
                <a:spcPts val="0"/>
              </a:spcAft>
              <a:buNone/>
            </a:pPr>
            <a:r>
              <a:rPr b="1" lang="en-US" sz="1150">
                <a:solidFill>
                  <a:srgbClr val="1E2836"/>
                </a:solidFill>
                <a:latin typeface="Calibri"/>
                <a:ea typeface="Calibri"/>
                <a:cs typeface="Calibri"/>
                <a:sym typeface="Calibri"/>
              </a:rPr>
              <a:t>That is the RNN's memory limit: </a:t>
            </a:r>
            <a:r>
              <a:rPr lang="en-US" sz="1150">
                <a:solidFill>
                  <a:srgbClr val="1E2836"/>
                </a:solidFill>
                <a:latin typeface="Calibri"/>
                <a:ea typeface="Calibri"/>
                <a:cs typeface="Calibri"/>
                <a:sym typeface="Calibri"/>
              </a:rPr>
              <a:t>everything must squeeze into one fixed-size vector h</a:t>
            </a:r>
            <a:r>
              <a:rPr lang="en-US" sz="1150">
                <a:solidFill>
                  <a:srgbClr val="1E2836"/>
                </a:solidFill>
                <a:latin typeface="Times New Roman"/>
                <a:ea typeface="Times New Roman"/>
                <a:cs typeface="Times New Roman"/>
                <a:sym typeface="Times New Roman"/>
              </a:rPr>
              <a:t>ₜ</a:t>
            </a:r>
            <a:r>
              <a:rPr lang="en-US" sz="1150">
                <a:solidFill>
                  <a:srgbClr val="1E2836"/>
                </a:solidFill>
                <a:latin typeface="Calibri"/>
                <a:ea typeface="Calibri"/>
                <a:cs typeface="Calibri"/>
                <a:sym typeface="Calibri"/>
              </a:rPr>
              <a:t>.</a:t>
            </a:r>
            <a:endParaRPr sz="1150">
              <a:latin typeface="Calibri"/>
              <a:ea typeface="Calibri"/>
              <a:cs typeface="Calibri"/>
              <a:sym typeface="Calibri"/>
            </a:endParaRPr>
          </a:p>
        </p:txBody>
      </p:sp>
      <p:grpSp>
        <p:nvGrpSpPr>
          <p:cNvPr id="636" name="Google Shape;636;p11"/>
          <p:cNvGrpSpPr/>
          <p:nvPr/>
        </p:nvGrpSpPr>
        <p:grpSpPr>
          <a:xfrm>
            <a:off x="411124" y="4160521"/>
            <a:ext cx="8321040" cy="567055"/>
            <a:chOff x="411124" y="4160521"/>
            <a:chExt cx="8321040" cy="567055"/>
          </a:xfrm>
        </p:grpSpPr>
        <p:sp>
          <p:nvSpPr>
            <p:cNvPr id="637" name="Google Shape;637;p11"/>
            <p:cNvSpPr/>
            <p:nvPr/>
          </p:nvSpPr>
          <p:spPr>
            <a:xfrm>
              <a:off x="411124" y="4160521"/>
              <a:ext cx="8321040" cy="567055"/>
            </a:xfrm>
            <a:custGeom>
              <a:rect b="b" l="l" r="r" t="t"/>
              <a:pathLst>
                <a:path extrusionOk="0" h="567054" w="8321040">
                  <a:moveTo>
                    <a:pt x="8292960" y="0"/>
                  </a:moveTo>
                  <a:lnTo>
                    <a:pt x="28079" y="0"/>
                  </a:lnTo>
                  <a:lnTo>
                    <a:pt x="22313" y="1435"/>
                  </a:lnTo>
                  <a:lnTo>
                    <a:pt x="11874" y="7200"/>
                  </a:lnTo>
                  <a:lnTo>
                    <a:pt x="7556" y="11518"/>
                  </a:lnTo>
                  <a:lnTo>
                    <a:pt x="4673" y="16916"/>
                  </a:lnTo>
                  <a:lnTo>
                    <a:pt x="1435" y="21958"/>
                  </a:lnTo>
                  <a:lnTo>
                    <a:pt x="0" y="27724"/>
                  </a:lnTo>
                  <a:lnTo>
                    <a:pt x="0" y="33845"/>
                  </a:lnTo>
                  <a:lnTo>
                    <a:pt x="0" y="538924"/>
                  </a:lnTo>
                  <a:lnTo>
                    <a:pt x="1435" y="544677"/>
                  </a:lnTo>
                  <a:lnTo>
                    <a:pt x="7200" y="555116"/>
                  </a:lnTo>
                  <a:lnTo>
                    <a:pt x="11518" y="559434"/>
                  </a:lnTo>
                  <a:lnTo>
                    <a:pt x="16916" y="562317"/>
                  </a:lnTo>
                  <a:lnTo>
                    <a:pt x="21958" y="565556"/>
                  </a:lnTo>
                  <a:lnTo>
                    <a:pt x="27711" y="567004"/>
                  </a:lnTo>
                  <a:lnTo>
                    <a:pt x="8292960" y="567004"/>
                  </a:lnTo>
                  <a:lnTo>
                    <a:pt x="8298713" y="565200"/>
                  </a:lnTo>
                  <a:lnTo>
                    <a:pt x="8309152" y="559434"/>
                  </a:lnTo>
                  <a:lnTo>
                    <a:pt x="8313470" y="555116"/>
                  </a:lnTo>
                  <a:lnTo>
                    <a:pt x="8316353" y="549719"/>
                  </a:lnTo>
                  <a:lnTo>
                    <a:pt x="8319592" y="544677"/>
                  </a:lnTo>
                  <a:lnTo>
                    <a:pt x="8321040" y="538924"/>
                  </a:lnTo>
                  <a:lnTo>
                    <a:pt x="8321040" y="28079"/>
                  </a:lnTo>
                  <a:lnTo>
                    <a:pt x="8319236" y="22313"/>
                  </a:lnTo>
                  <a:lnTo>
                    <a:pt x="8313470" y="11874"/>
                  </a:lnTo>
                  <a:lnTo>
                    <a:pt x="8309152" y="7556"/>
                  </a:lnTo>
                  <a:lnTo>
                    <a:pt x="8303755" y="4686"/>
                  </a:lnTo>
                  <a:lnTo>
                    <a:pt x="8298713" y="1435"/>
                  </a:lnTo>
                  <a:lnTo>
                    <a:pt x="8292960" y="0"/>
                  </a:lnTo>
                  <a:close/>
                </a:path>
              </a:pathLst>
            </a:custGeom>
            <a:solidFill>
              <a:srgbClr val="FFF6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38" name="Google Shape;638;p11"/>
            <p:cNvSpPr/>
            <p:nvPr/>
          </p:nvSpPr>
          <p:spPr>
            <a:xfrm>
              <a:off x="411124" y="4160521"/>
              <a:ext cx="8321040" cy="567055"/>
            </a:xfrm>
            <a:custGeom>
              <a:rect b="b" l="l" r="r" t="t"/>
              <a:pathLst>
                <a:path extrusionOk="0" h="567054" w="8321040">
                  <a:moveTo>
                    <a:pt x="0" y="33845"/>
                  </a:moveTo>
                  <a:lnTo>
                    <a:pt x="0" y="27724"/>
                  </a:lnTo>
                  <a:lnTo>
                    <a:pt x="1435" y="21958"/>
                  </a:lnTo>
                  <a:lnTo>
                    <a:pt x="4673" y="16916"/>
                  </a:lnTo>
                  <a:lnTo>
                    <a:pt x="7556" y="11518"/>
                  </a:lnTo>
                  <a:lnTo>
                    <a:pt x="11874" y="7200"/>
                  </a:lnTo>
                  <a:lnTo>
                    <a:pt x="16916" y="4317"/>
                  </a:lnTo>
                  <a:lnTo>
                    <a:pt x="22313" y="1435"/>
                  </a:lnTo>
                  <a:lnTo>
                    <a:pt x="28079" y="0"/>
                  </a:lnTo>
                  <a:lnTo>
                    <a:pt x="34201" y="0"/>
                  </a:lnTo>
                  <a:lnTo>
                    <a:pt x="8286838" y="0"/>
                  </a:lnTo>
                  <a:lnTo>
                    <a:pt x="8292960" y="0"/>
                  </a:lnTo>
                  <a:lnTo>
                    <a:pt x="8298713" y="1435"/>
                  </a:lnTo>
                  <a:lnTo>
                    <a:pt x="8303755" y="4686"/>
                  </a:lnTo>
                  <a:lnTo>
                    <a:pt x="8309152" y="7556"/>
                  </a:lnTo>
                  <a:lnTo>
                    <a:pt x="8313470" y="11874"/>
                  </a:lnTo>
                  <a:lnTo>
                    <a:pt x="8316353" y="16916"/>
                  </a:lnTo>
                  <a:lnTo>
                    <a:pt x="8319236" y="22313"/>
                  </a:lnTo>
                  <a:lnTo>
                    <a:pt x="8321040" y="28079"/>
                  </a:lnTo>
                  <a:lnTo>
                    <a:pt x="8321040" y="34201"/>
                  </a:lnTo>
                  <a:lnTo>
                    <a:pt x="8321040" y="532803"/>
                  </a:lnTo>
                  <a:lnTo>
                    <a:pt x="8321040" y="538924"/>
                  </a:lnTo>
                  <a:lnTo>
                    <a:pt x="8319592" y="544677"/>
                  </a:lnTo>
                  <a:lnTo>
                    <a:pt x="8316353" y="549719"/>
                  </a:lnTo>
                  <a:lnTo>
                    <a:pt x="8313470" y="555116"/>
                  </a:lnTo>
                  <a:lnTo>
                    <a:pt x="8309152" y="559434"/>
                  </a:lnTo>
                  <a:lnTo>
                    <a:pt x="8304110" y="562317"/>
                  </a:lnTo>
                  <a:lnTo>
                    <a:pt x="8298713" y="565200"/>
                  </a:lnTo>
                  <a:lnTo>
                    <a:pt x="8292960" y="567004"/>
                  </a:lnTo>
                  <a:lnTo>
                    <a:pt x="8287194" y="567004"/>
                  </a:lnTo>
                  <a:lnTo>
                    <a:pt x="33832" y="567004"/>
                  </a:lnTo>
                  <a:lnTo>
                    <a:pt x="27711" y="567004"/>
                  </a:lnTo>
                  <a:lnTo>
                    <a:pt x="21958" y="565556"/>
                  </a:lnTo>
                  <a:lnTo>
                    <a:pt x="16916" y="562317"/>
                  </a:lnTo>
                  <a:lnTo>
                    <a:pt x="11518" y="559434"/>
                  </a:lnTo>
                  <a:lnTo>
                    <a:pt x="7200" y="555116"/>
                  </a:lnTo>
                  <a:lnTo>
                    <a:pt x="4318" y="550075"/>
                  </a:lnTo>
                  <a:lnTo>
                    <a:pt x="1435" y="544677"/>
                  </a:lnTo>
                  <a:lnTo>
                    <a:pt x="0" y="538924"/>
                  </a:lnTo>
                  <a:lnTo>
                    <a:pt x="0" y="532803"/>
                  </a:lnTo>
                  <a:lnTo>
                    <a:pt x="0" y="33845"/>
                  </a:lnTo>
                  <a:close/>
                </a:path>
              </a:pathLst>
            </a:custGeom>
            <a:noFill/>
            <a:ln cap="flat" cmpd="sng" w="12575">
              <a:solidFill>
                <a:srgbClr val="F2D17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639" name="Google Shape;639;p11"/>
          <p:cNvSpPr txBox="1"/>
          <p:nvPr/>
        </p:nvSpPr>
        <p:spPr>
          <a:xfrm>
            <a:off x="517944" y="4343300"/>
            <a:ext cx="7301230" cy="2012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50">
                <a:solidFill>
                  <a:srgbClr val="913F0D"/>
                </a:solidFill>
                <a:latin typeface="Calibri"/>
                <a:ea typeface="Calibri"/>
                <a:cs typeface="Calibri"/>
                <a:sym typeface="Calibri"/>
              </a:rPr>
              <a:t>Light moment: </a:t>
            </a:r>
            <a:r>
              <a:rPr i="1" lang="en-US" sz="1150">
                <a:solidFill>
                  <a:srgbClr val="1E2836"/>
                </a:solidFill>
                <a:latin typeface="Cambria"/>
                <a:ea typeface="Cambria"/>
                <a:cs typeface="Cambria"/>
                <a:sym typeface="Cambria"/>
              </a:rPr>
              <a:t>An RNN is a goldfish with a diary. It writes a beautiful entry every second, but only ever reads the last page.</a:t>
            </a:r>
            <a:endParaRPr sz="1150">
              <a:latin typeface="Cambria"/>
              <a:ea typeface="Cambria"/>
              <a:cs typeface="Cambria"/>
              <a:sym typeface="Cambria"/>
            </a:endParaRPr>
          </a:p>
        </p:txBody>
      </p:sp>
      <p:sp>
        <p:nvSpPr>
          <p:cNvPr id="640" name="Google Shape;640;p11"/>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descr="$PPTXTitle" id="645" name="Google Shape;645;p15"/>
          <p:cNvSpPr txBox="1"/>
          <p:nvPr>
            <p:ph type="title"/>
          </p:nvPr>
        </p:nvSpPr>
        <p:spPr>
          <a:xfrm>
            <a:off x="152184" y="63260"/>
            <a:ext cx="8839631" cy="879475"/>
          </a:xfrm>
          <a:prstGeom prst="rect">
            <a:avLst/>
          </a:prstGeom>
          <a:noFill/>
          <a:ln>
            <a:noFill/>
          </a:ln>
        </p:spPr>
        <p:txBody>
          <a:bodyPr anchorCtr="0" anchor="t" bIns="0" lIns="0" spcFirstLastPara="1" rIns="0" wrap="square" tIns="251925">
            <a:spAutoFit/>
          </a:bodyPr>
          <a:lstStyle/>
          <a:p>
            <a:pPr indent="0" lvl="0" marL="1441450" rtl="0" algn="l">
              <a:lnSpc>
                <a:spcPct val="100000"/>
              </a:lnSpc>
              <a:spcBef>
                <a:spcPts val="0"/>
              </a:spcBef>
              <a:spcAft>
                <a:spcPts val="0"/>
              </a:spcAft>
              <a:buNone/>
            </a:pPr>
            <a:r>
              <a:rPr lang="en-US" sz="2600">
                <a:solidFill>
                  <a:srgbClr val="000000"/>
                </a:solidFill>
              </a:rPr>
              <a:t>Training RNNs &amp; The Gradient Problem</a:t>
            </a:r>
            <a:endParaRPr sz="2600"/>
          </a:p>
        </p:txBody>
      </p:sp>
      <p:grpSp>
        <p:nvGrpSpPr>
          <p:cNvPr id="646" name="Google Shape;646;p15"/>
          <p:cNvGrpSpPr/>
          <p:nvPr/>
        </p:nvGrpSpPr>
        <p:grpSpPr>
          <a:xfrm>
            <a:off x="232562" y="925908"/>
            <a:ext cx="4235399" cy="2131936"/>
            <a:chOff x="232562" y="925908"/>
            <a:chExt cx="4235399" cy="2131936"/>
          </a:xfrm>
        </p:grpSpPr>
        <p:pic>
          <p:nvPicPr>
            <p:cNvPr id="647" name="Google Shape;647;p15"/>
            <p:cNvPicPr preferRelativeResize="0"/>
            <p:nvPr/>
          </p:nvPicPr>
          <p:blipFill rotWithShape="1">
            <a:blip r:embed="rId3">
              <a:alphaModFix/>
            </a:blip>
            <a:srcRect b="0" l="0" r="0" t="0"/>
            <a:stretch/>
          </p:blipFill>
          <p:spPr>
            <a:xfrm>
              <a:off x="232562" y="925908"/>
              <a:ext cx="4235399" cy="2131936"/>
            </a:xfrm>
            <a:prstGeom prst="rect">
              <a:avLst/>
            </a:prstGeom>
            <a:noFill/>
            <a:ln>
              <a:noFill/>
            </a:ln>
          </p:spPr>
        </p:pic>
        <p:sp>
          <p:nvSpPr>
            <p:cNvPr id="648" name="Google Shape;648;p15"/>
            <p:cNvSpPr/>
            <p:nvPr/>
          </p:nvSpPr>
          <p:spPr>
            <a:xfrm>
              <a:off x="365404" y="1005486"/>
              <a:ext cx="4023360" cy="1920239"/>
            </a:xfrm>
            <a:custGeom>
              <a:rect b="b" l="l" r="r" t="t"/>
              <a:pathLst>
                <a:path extrusionOk="0" h="1920239" w="4023360">
                  <a:moveTo>
                    <a:pt x="4022991" y="0"/>
                  </a:moveTo>
                  <a:lnTo>
                    <a:pt x="0" y="0"/>
                  </a:lnTo>
                  <a:lnTo>
                    <a:pt x="0" y="1919871"/>
                  </a:lnTo>
                  <a:lnTo>
                    <a:pt x="2011680" y="1919871"/>
                  </a:lnTo>
                  <a:lnTo>
                    <a:pt x="4022991" y="1919871"/>
                  </a:lnTo>
                  <a:lnTo>
                    <a:pt x="402299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49" name="Google Shape;649;p15"/>
            <p:cNvSpPr/>
            <p:nvPr/>
          </p:nvSpPr>
          <p:spPr>
            <a:xfrm>
              <a:off x="365404" y="1005486"/>
              <a:ext cx="4023360" cy="1920239"/>
            </a:xfrm>
            <a:custGeom>
              <a:rect b="b" l="l" r="r" t="t"/>
              <a:pathLst>
                <a:path extrusionOk="0" h="1920239" w="4023360">
                  <a:moveTo>
                    <a:pt x="2011680" y="1919871"/>
                  </a:moveTo>
                  <a:lnTo>
                    <a:pt x="0" y="1919871"/>
                  </a:lnTo>
                  <a:lnTo>
                    <a:pt x="0" y="0"/>
                  </a:lnTo>
                  <a:lnTo>
                    <a:pt x="4022991" y="0"/>
                  </a:lnTo>
                  <a:lnTo>
                    <a:pt x="4022991" y="1919871"/>
                  </a:lnTo>
                  <a:lnTo>
                    <a:pt x="2011680" y="1919871"/>
                  </a:lnTo>
                  <a:close/>
                </a:path>
              </a:pathLst>
            </a:custGeom>
            <a:noFill/>
            <a:ln cap="flat" cmpd="sng" w="9525">
              <a:solidFill>
                <a:srgbClr val="93D1BC"/>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650" name="Google Shape;650;p15"/>
          <p:cNvSpPr txBox="1"/>
          <p:nvPr/>
        </p:nvSpPr>
        <p:spPr>
          <a:xfrm>
            <a:off x="502564" y="1183578"/>
            <a:ext cx="2757805" cy="134366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400">
                <a:latin typeface="Calibri"/>
                <a:ea typeface="Calibri"/>
                <a:cs typeface="Calibri"/>
                <a:sym typeface="Calibri"/>
              </a:rPr>
              <a:t>Backprop Through Time (BPTT)</a:t>
            </a:r>
            <a:endParaRPr sz="1400">
              <a:latin typeface="Calibri"/>
              <a:ea typeface="Calibri"/>
              <a:cs typeface="Calibri"/>
              <a:sym typeface="Calibri"/>
            </a:endParaRPr>
          </a:p>
          <a:p>
            <a:pPr indent="0" lvl="0" marL="0" rtl="0" algn="l">
              <a:lnSpc>
                <a:spcPct val="100000"/>
              </a:lnSpc>
              <a:spcBef>
                <a:spcPts val="1225"/>
              </a:spcBef>
              <a:spcAft>
                <a:spcPts val="0"/>
              </a:spcAft>
              <a:buNone/>
            </a:pPr>
            <a:r>
              <a:t/>
            </a:r>
            <a:endParaRPr sz="1400">
              <a:latin typeface="Calibri"/>
              <a:ea typeface="Calibri"/>
              <a:cs typeface="Calibri"/>
              <a:sym typeface="Calibri"/>
            </a:endParaRPr>
          </a:p>
          <a:p>
            <a:pPr indent="-343535" lvl="0" marL="434340" rtl="0" algn="l">
              <a:lnSpc>
                <a:spcPct val="100000"/>
              </a:lnSpc>
              <a:spcBef>
                <a:spcPts val="0"/>
              </a:spcBef>
              <a:spcAft>
                <a:spcPts val="0"/>
              </a:spcAft>
              <a:buSzPts val="1200"/>
              <a:buFont typeface="Calibri"/>
              <a:buChar char="•"/>
            </a:pPr>
            <a:r>
              <a:rPr lang="en-US" sz="1200">
                <a:latin typeface="Calibri"/>
                <a:ea typeface="Calibri"/>
                <a:cs typeface="Calibri"/>
                <a:sym typeface="Calibri"/>
              </a:rPr>
              <a:t>Unfold RNN across T time steps</a:t>
            </a:r>
            <a:endParaRPr sz="1200">
              <a:latin typeface="Calibri"/>
              <a:ea typeface="Calibri"/>
              <a:cs typeface="Calibri"/>
              <a:sym typeface="Calibri"/>
            </a:endParaRPr>
          </a:p>
          <a:p>
            <a:pPr indent="-343535" lvl="0" marL="434340" rtl="0" algn="l">
              <a:lnSpc>
                <a:spcPct val="100000"/>
              </a:lnSpc>
              <a:spcBef>
                <a:spcPts val="0"/>
              </a:spcBef>
              <a:spcAft>
                <a:spcPts val="0"/>
              </a:spcAft>
              <a:buSzPts val="1200"/>
              <a:buFont typeface="Calibri"/>
              <a:buChar char="•"/>
            </a:pPr>
            <a:r>
              <a:rPr lang="en-US" sz="1200">
                <a:latin typeface="Calibri"/>
                <a:ea typeface="Calibri"/>
                <a:cs typeface="Calibri"/>
                <a:sym typeface="Calibri"/>
              </a:rPr>
              <a:t>Compute gradients at each step</a:t>
            </a:r>
            <a:endParaRPr sz="1200">
              <a:latin typeface="Calibri"/>
              <a:ea typeface="Calibri"/>
              <a:cs typeface="Calibri"/>
              <a:sym typeface="Calibri"/>
            </a:endParaRPr>
          </a:p>
          <a:p>
            <a:pPr indent="-343535" lvl="0" marL="434340" rtl="0" algn="l">
              <a:lnSpc>
                <a:spcPct val="100000"/>
              </a:lnSpc>
              <a:spcBef>
                <a:spcPts val="0"/>
              </a:spcBef>
              <a:spcAft>
                <a:spcPts val="0"/>
              </a:spcAft>
              <a:buSzPts val="1200"/>
              <a:buFont typeface="Calibri"/>
              <a:buChar char="•"/>
            </a:pPr>
            <a:r>
              <a:rPr lang="en-US" sz="1200">
                <a:latin typeface="Calibri"/>
                <a:ea typeface="Calibri"/>
                <a:cs typeface="Calibri"/>
                <a:sym typeface="Calibri"/>
              </a:rPr>
              <a:t>Sum gradients and update weights</a:t>
            </a:r>
            <a:endParaRPr sz="1200">
              <a:latin typeface="Calibri"/>
              <a:ea typeface="Calibri"/>
              <a:cs typeface="Calibri"/>
              <a:sym typeface="Calibri"/>
            </a:endParaRPr>
          </a:p>
          <a:p>
            <a:pPr indent="-343535" lvl="0" marL="434340" rtl="0" algn="l">
              <a:lnSpc>
                <a:spcPct val="100000"/>
              </a:lnSpc>
              <a:spcBef>
                <a:spcPts val="0"/>
              </a:spcBef>
              <a:spcAft>
                <a:spcPts val="0"/>
              </a:spcAft>
              <a:buSzPts val="1200"/>
              <a:buFont typeface="Calibri"/>
              <a:buChar char="•"/>
            </a:pPr>
            <a:r>
              <a:rPr lang="en-US" sz="1200">
                <a:latin typeface="Calibri"/>
                <a:ea typeface="Calibri"/>
                <a:cs typeface="Calibri"/>
                <a:sym typeface="Calibri"/>
              </a:rPr>
              <a:t>Gradient = chain of partial derivatives</a:t>
            </a:r>
            <a:endParaRPr sz="1200">
              <a:latin typeface="Calibri"/>
              <a:ea typeface="Calibri"/>
              <a:cs typeface="Calibri"/>
              <a:sym typeface="Calibri"/>
            </a:endParaRPr>
          </a:p>
        </p:txBody>
      </p:sp>
      <p:grpSp>
        <p:nvGrpSpPr>
          <p:cNvPr id="651" name="Google Shape;651;p15"/>
          <p:cNvGrpSpPr/>
          <p:nvPr/>
        </p:nvGrpSpPr>
        <p:grpSpPr>
          <a:xfrm>
            <a:off x="4575962" y="925908"/>
            <a:ext cx="4326839" cy="1583296"/>
            <a:chOff x="4575962" y="925908"/>
            <a:chExt cx="4326839" cy="1583296"/>
          </a:xfrm>
        </p:grpSpPr>
        <p:pic>
          <p:nvPicPr>
            <p:cNvPr id="652" name="Google Shape;652;p15"/>
            <p:cNvPicPr preferRelativeResize="0"/>
            <p:nvPr/>
          </p:nvPicPr>
          <p:blipFill rotWithShape="1">
            <a:blip r:embed="rId4">
              <a:alphaModFix/>
            </a:blip>
            <a:srcRect b="0" l="0" r="0" t="0"/>
            <a:stretch/>
          </p:blipFill>
          <p:spPr>
            <a:xfrm>
              <a:off x="4575962" y="925908"/>
              <a:ext cx="4326839" cy="1583296"/>
            </a:xfrm>
            <a:prstGeom prst="rect">
              <a:avLst/>
            </a:prstGeom>
            <a:noFill/>
            <a:ln>
              <a:noFill/>
            </a:ln>
          </p:spPr>
        </p:pic>
        <p:sp>
          <p:nvSpPr>
            <p:cNvPr id="653" name="Google Shape;653;p15"/>
            <p:cNvSpPr/>
            <p:nvPr/>
          </p:nvSpPr>
          <p:spPr>
            <a:xfrm>
              <a:off x="4708804" y="1005486"/>
              <a:ext cx="4114800" cy="1371600"/>
            </a:xfrm>
            <a:custGeom>
              <a:rect b="b" l="l" r="r" t="t"/>
              <a:pathLst>
                <a:path extrusionOk="0" h="1371600" w="4114800">
                  <a:moveTo>
                    <a:pt x="4114431" y="0"/>
                  </a:moveTo>
                  <a:lnTo>
                    <a:pt x="0" y="0"/>
                  </a:lnTo>
                  <a:lnTo>
                    <a:pt x="0" y="1371231"/>
                  </a:lnTo>
                  <a:lnTo>
                    <a:pt x="2057400" y="1371231"/>
                  </a:lnTo>
                  <a:lnTo>
                    <a:pt x="4114431" y="1371231"/>
                  </a:lnTo>
                  <a:lnTo>
                    <a:pt x="411443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54" name="Google Shape;654;p15"/>
            <p:cNvSpPr/>
            <p:nvPr/>
          </p:nvSpPr>
          <p:spPr>
            <a:xfrm>
              <a:off x="4709160" y="1005486"/>
              <a:ext cx="109855" cy="1371600"/>
            </a:xfrm>
            <a:custGeom>
              <a:rect b="b" l="l" r="r" t="t"/>
              <a:pathLst>
                <a:path extrusionOk="0" h="1371600" w="109854">
                  <a:moveTo>
                    <a:pt x="109435" y="0"/>
                  </a:moveTo>
                  <a:lnTo>
                    <a:pt x="0" y="0"/>
                  </a:lnTo>
                  <a:lnTo>
                    <a:pt x="0" y="1371231"/>
                  </a:lnTo>
                  <a:lnTo>
                    <a:pt x="54724" y="1371231"/>
                  </a:lnTo>
                  <a:lnTo>
                    <a:pt x="109435" y="1371231"/>
                  </a:lnTo>
                  <a:lnTo>
                    <a:pt x="109435" y="0"/>
                  </a:lnTo>
                  <a:close/>
                </a:path>
              </a:pathLst>
            </a:custGeom>
            <a:solidFill>
              <a:srgbClr val="1464B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655" name="Google Shape;655;p15"/>
          <p:cNvSpPr txBox="1"/>
          <p:nvPr/>
        </p:nvSpPr>
        <p:spPr>
          <a:xfrm>
            <a:off x="4708804" y="1005486"/>
            <a:ext cx="4114800" cy="1371600"/>
          </a:xfrm>
          <a:prstGeom prst="rect">
            <a:avLst/>
          </a:prstGeom>
          <a:noFill/>
          <a:ln cap="flat" cmpd="sng" w="9525">
            <a:solidFill>
              <a:srgbClr val="4184F3"/>
            </a:solidFill>
            <a:prstDash val="solid"/>
            <a:round/>
            <a:headEnd len="sm" w="sm" type="none"/>
            <a:tailEnd len="sm" w="sm" type="none"/>
          </a:ln>
        </p:spPr>
        <p:txBody>
          <a:bodyPr anchorCtr="0" anchor="t" bIns="0" lIns="0" spcFirstLastPara="1" rIns="0" wrap="square" tIns="158750">
            <a:spAutoFit/>
          </a:bodyPr>
          <a:lstStyle/>
          <a:p>
            <a:pPr indent="0" lvl="0" marL="182880" rtl="0" algn="just">
              <a:lnSpc>
                <a:spcPct val="100000"/>
              </a:lnSpc>
              <a:spcBef>
                <a:spcPts val="0"/>
              </a:spcBef>
              <a:spcAft>
                <a:spcPts val="0"/>
              </a:spcAft>
              <a:buNone/>
            </a:pPr>
            <a:r>
              <a:rPr b="1" lang="en-US" sz="1400">
                <a:latin typeface="Calibri"/>
                <a:ea typeface="Calibri"/>
                <a:cs typeface="Calibri"/>
                <a:sym typeface="Calibri"/>
              </a:rPr>
              <a:t>Vanishing Gradient</a:t>
            </a:r>
            <a:endParaRPr sz="1400">
              <a:latin typeface="Calibri"/>
              <a:ea typeface="Calibri"/>
              <a:cs typeface="Calibri"/>
              <a:sym typeface="Calibri"/>
            </a:endParaRPr>
          </a:p>
          <a:p>
            <a:pPr indent="0" lvl="0" marL="0" rtl="0" algn="l">
              <a:lnSpc>
                <a:spcPct val="100000"/>
              </a:lnSpc>
              <a:spcBef>
                <a:spcPts val="5"/>
              </a:spcBef>
              <a:spcAft>
                <a:spcPts val="0"/>
              </a:spcAft>
              <a:buNone/>
            </a:pPr>
            <a:r>
              <a:t/>
            </a:r>
            <a:endParaRPr sz="1400">
              <a:latin typeface="Calibri"/>
              <a:ea typeface="Calibri"/>
              <a:cs typeface="Calibri"/>
              <a:sym typeface="Calibri"/>
            </a:endParaRPr>
          </a:p>
          <a:p>
            <a:pPr indent="0" lvl="0" marL="274320" marR="325755" rtl="0" algn="just">
              <a:lnSpc>
                <a:spcPct val="100000"/>
              </a:lnSpc>
              <a:spcBef>
                <a:spcPts val="0"/>
              </a:spcBef>
              <a:spcAft>
                <a:spcPts val="0"/>
              </a:spcAft>
              <a:buNone/>
            </a:pPr>
            <a:r>
              <a:rPr lang="en-US" sz="1200">
                <a:latin typeface="Calibri"/>
                <a:ea typeface="Calibri"/>
                <a:cs typeface="Calibri"/>
                <a:sym typeface="Calibri"/>
              </a:rPr>
              <a:t>When |dh</a:t>
            </a:r>
            <a:r>
              <a:rPr lang="en-US" sz="1200">
                <a:latin typeface="Times New Roman"/>
                <a:ea typeface="Times New Roman"/>
                <a:cs typeface="Times New Roman"/>
                <a:sym typeface="Times New Roman"/>
              </a:rPr>
              <a:t>ₜ</a:t>
            </a:r>
            <a:r>
              <a:rPr lang="en-US" sz="1200">
                <a:latin typeface="Calibri"/>
                <a:ea typeface="Calibri"/>
                <a:cs typeface="Calibri"/>
                <a:sym typeface="Calibri"/>
              </a:rPr>
              <a:t>/dh</a:t>
            </a:r>
            <a:r>
              <a:rPr lang="en-US" sz="1200">
                <a:latin typeface="Times New Roman"/>
                <a:ea typeface="Times New Roman"/>
                <a:cs typeface="Times New Roman"/>
                <a:sym typeface="Times New Roman"/>
              </a:rPr>
              <a:t>ₜ</a:t>
            </a:r>
            <a:r>
              <a:rPr lang="en-US" sz="1200">
                <a:latin typeface="Calibri"/>
                <a:ea typeface="Calibri"/>
                <a:cs typeface="Calibri"/>
                <a:sym typeface="Calibri"/>
              </a:rPr>
              <a:t>₋₁| &lt; 1, the product shrinks exponentially. Gradients approach 0, network stops learning long-range dependencies.</a:t>
            </a:r>
            <a:endParaRPr sz="1200">
              <a:latin typeface="Calibri"/>
              <a:ea typeface="Calibri"/>
              <a:cs typeface="Calibri"/>
              <a:sym typeface="Calibri"/>
            </a:endParaRPr>
          </a:p>
        </p:txBody>
      </p:sp>
      <p:grpSp>
        <p:nvGrpSpPr>
          <p:cNvPr id="656" name="Google Shape;656;p15"/>
          <p:cNvGrpSpPr/>
          <p:nvPr/>
        </p:nvGrpSpPr>
        <p:grpSpPr>
          <a:xfrm>
            <a:off x="4575962" y="2434668"/>
            <a:ext cx="4326839" cy="1583296"/>
            <a:chOff x="4575962" y="2434668"/>
            <a:chExt cx="4326839" cy="1583296"/>
          </a:xfrm>
        </p:grpSpPr>
        <p:pic>
          <p:nvPicPr>
            <p:cNvPr id="657" name="Google Shape;657;p15"/>
            <p:cNvPicPr preferRelativeResize="0"/>
            <p:nvPr/>
          </p:nvPicPr>
          <p:blipFill rotWithShape="1">
            <a:blip r:embed="rId4">
              <a:alphaModFix/>
            </a:blip>
            <a:srcRect b="0" l="0" r="0" t="0"/>
            <a:stretch/>
          </p:blipFill>
          <p:spPr>
            <a:xfrm>
              <a:off x="4575962" y="2434668"/>
              <a:ext cx="4326839" cy="1583296"/>
            </a:xfrm>
            <a:prstGeom prst="rect">
              <a:avLst/>
            </a:prstGeom>
            <a:noFill/>
            <a:ln>
              <a:noFill/>
            </a:ln>
          </p:spPr>
        </p:pic>
        <p:sp>
          <p:nvSpPr>
            <p:cNvPr id="658" name="Google Shape;658;p15"/>
            <p:cNvSpPr/>
            <p:nvPr/>
          </p:nvSpPr>
          <p:spPr>
            <a:xfrm>
              <a:off x="4708804" y="2514246"/>
              <a:ext cx="4114800" cy="1371600"/>
            </a:xfrm>
            <a:custGeom>
              <a:rect b="b" l="l" r="r" t="t"/>
              <a:pathLst>
                <a:path extrusionOk="0" h="1371600" w="4114800">
                  <a:moveTo>
                    <a:pt x="4114431" y="0"/>
                  </a:moveTo>
                  <a:lnTo>
                    <a:pt x="0" y="0"/>
                  </a:lnTo>
                  <a:lnTo>
                    <a:pt x="0" y="1371231"/>
                  </a:lnTo>
                  <a:lnTo>
                    <a:pt x="2057400" y="1371231"/>
                  </a:lnTo>
                  <a:lnTo>
                    <a:pt x="4114431" y="1371231"/>
                  </a:lnTo>
                  <a:lnTo>
                    <a:pt x="411443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59" name="Google Shape;659;p15"/>
            <p:cNvSpPr/>
            <p:nvPr/>
          </p:nvSpPr>
          <p:spPr>
            <a:xfrm>
              <a:off x="4709160" y="2514246"/>
              <a:ext cx="109855" cy="1371600"/>
            </a:xfrm>
            <a:custGeom>
              <a:rect b="b" l="l" r="r" t="t"/>
              <a:pathLst>
                <a:path extrusionOk="0" h="1371600" w="109854">
                  <a:moveTo>
                    <a:pt x="109435" y="0"/>
                  </a:moveTo>
                  <a:lnTo>
                    <a:pt x="0" y="0"/>
                  </a:lnTo>
                  <a:lnTo>
                    <a:pt x="0" y="1371231"/>
                  </a:lnTo>
                  <a:lnTo>
                    <a:pt x="54724" y="1371231"/>
                  </a:lnTo>
                  <a:lnTo>
                    <a:pt x="109435" y="1371231"/>
                  </a:lnTo>
                  <a:lnTo>
                    <a:pt x="109435" y="0"/>
                  </a:lnTo>
                  <a:close/>
                </a:path>
              </a:pathLst>
            </a:custGeom>
            <a:solidFill>
              <a:srgbClr val="FF6F42"/>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660" name="Google Shape;660;p15"/>
          <p:cNvSpPr txBox="1"/>
          <p:nvPr/>
        </p:nvSpPr>
        <p:spPr>
          <a:xfrm>
            <a:off x="4708804" y="2514246"/>
            <a:ext cx="4114800" cy="1371600"/>
          </a:xfrm>
          <a:prstGeom prst="rect">
            <a:avLst/>
          </a:prstGeom>
          <a:noFill/>
          <a:ln cap="flat" cmpd="sng" w="9525">
            <a:solidFill>
              <a:srgbClr val="FF9900"/>
            </a:solidFill>
            <a:prstDash val="solid"/>
            <a:round/>
            <a:headEnd len="sm" w="sm" type="none"/>
            <a:tailEnd len="sm" w="sm" type="none"/>
          </a:ln>
        </p:spPr>
        <p:txBody>
          <a:bodyPr anchorCtr="0" anchor="t" bIns="0" lIns="0" spcFirstLastPara="1" rIns="0" wrap="square" tIns="158750">
            <a:spAutoFit/>
          </a:bodyPr>
          <a:lstStyle/>
          <a:p>
            <a:pPr indent="0" lvl="0" marL="182880" rtl="0" algn="l">
              <a:lnSpc>
                <a:spcPct val="100000"/>
              </a:lnSpc>
              <a:spcBef>
                <a:spcPts val="0"/>
              </a:spcBef>
              <a:spcAft>
                <a:spcPts val="0"/>
              </a:spcAft>
              <a:buNone/>
            </a:pPr>
            <a:r>
              <a:rPr b="1" lang="en-US" sz="1400">
                <a:latin typeface="Calibri"/>
                <a:ea typeface="Calibri"/>
                <a:cs typeface="Calibri"/>
                <a:sym typeface="Calibri"/>
              </a:rPr>
              <a:t>Exploding Gradient</a:t>
            </a:r>
            <a:endParaRPr sz="1400">
              <a:latin typeface="Calibri"/>
              <a:ea typeface="Calibri"/>
              <a:cs typeface="Calibri"/>
              <a:sym typeface="Calibri"/>
            </a:endParaRPr>
          </a:p>
          <a:p>
            <a:pPr indent="0" lvl="0" marL="274320" marR="281940" rtl="0" algn="l">
              <a:lnSpc>
                <a:spcPct val="100000"/>
              </a:lnSpc>
              <a:spcBef>
                <a:spcPts val="1535"/>
              </a:spcBef>
              <a:spcAft>
                <a:spcPts val="0"/>
              </a:spcAft>
              <a:buNone/>
            </a:pPr>
            <a:r>
              <a:rPr lang="en-US" sz="1300">
                <a:latin typeface="Calibri"/>
                <a:ea typeface="Calibri"/>
                <a:cs typeface="Calibri"/>
                <a:sym typeface="Calibri"/>
              </a:rPr>
              <a:t>When |dh</a:t>
            </a:r>
            <a:r>
              <a:rPr lang="en-US" sz="1300">
                <a:latin typeface="Times New Roman"/>
                <a:ea typeface="Times New Roman"/>
                <a:cs typeface="Times New Roman"/>
                <a:sym typeface="Times New Roman"/>
              </a:rPr>
              <a:t>ₜ</a:t>
            </a:r>
            <a:r>
              <a:rPr lang="en-US" sz="1300">
                <a:latin typeface="Calibri"/>
                <a:ea typeface="Calibri"/>
                <a:cs typeface="Calibri"/>
                <a:sym typeface="Calibri"/>
              </a:rPr>
              <a:t>/dh</a:t>
            </a:r>
            <a:r>
              <a:rPr lang="en-US" sz="1300">
                <a:latin typeface="Times New Roman"/>
                <a:ea typeface="Times New Roman"/>
                <a:cs typeface="Times New Roman"/>
                <a:sym typeface="Times New Roman"/>
              </a:rPr>
              <a:t>ₜ</a:t>
            </a:r>
            <a:r>
              <a:rPr lang="en-US" sz="1300">
                <a:latin typeface="Calibri"/>
                <a:ea typeface="Calibri"/>
                <a:cs typeface="Calibri"/>
                <a:sym typeface="Calibri"/>
              </a:rPr>
              <a:t>₋₁| &gt; 1, the product grows exponentially causing NaN weights. Fix: clip gradients at a threshold.</a:t>
            </a:r>
            <a:endParaRPr sz="1300">
              <a:latin typeface="Calibri"/>
              <a:ea typeface="Calibri"/>
              <a:cs typeface="Calibri"/>
              <a:sym typeface="Calibri"/>
            </a:endParaRPr>
          </a:p>
        </p:txBody>
      </p:sp>
      <p:pic>
        <p:nvPicPr>
          <p:cNvPr id="661" name="Google Shape;661;p15"/>
          <p:cNvPicPr preferRelativeResize="0"/>
          <p:nvPr/>
        </p:nvPicPr>
        <p:blipFill rotWithShape="1">
          <a:blip r:embed="rId5">
            <a:alphaModFix/>
          </a:blip>
          <a:srcRect b="0" l="0" r="0" t="0"/>
          <a:stretch/>
        </p:blipFill>
        <p:spPr>
          <a:xfrm>
            <a:off x="396354" y="3119414"/>
            <a:ext cx="2942272" cy="1457274"/>
          </a:xfrm>
          <a:prstGeom prst="rect">
            <a:avLst/>
          </a:prstGeom>
          <a:noFill/>
          <a:ln>
            <a:noFill/>
          </a:ln>
        </p:spPr>
      </p:pic>
      <p:sp>
        <p:nvSpPr>
          <p:cNvPr id="662" name="Google Shape;662;p15"/>
          <p:cNvSpPr/>
          <p:nvPr/>
        </p:nvSpPr>
        <p:spPr>
          <a:xfrm>
            <a:off x="4708804" y="4069081"/>
            <a:ext cx="4114800" cy="685800"/>
          </a:xfrm>
          <a:custGeom>
            <a:rect b="b" l="l" r="r" t="t"/>
            <a:pathLst>
              <a:path extrusionOk="0" h="685800" w="4114800">
                <a:moveTo>
                  <a:pt x="4114431" y="0"/>
                </a:moveTo>
                <a:lnTo>
                  <a:pt x="0" y="0"/>
                </a:lnTo>
                <a:lnTo>
                  <a:pt x="0" y="685444"/>
                </a:lnTo>
                <a:lnTo>
                  <a:pt x="2057400" y="685444"/>
                </a:lnTo>
                <a:lnTo>
                  <a:pt x="4114431" y="685444"/>
                </a:lnTo>
                <a:lnTo>
                  <a:pt x="411443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63" name="Google Shape;663;p15"/>
          <p:cNvSpPr txBox="1"/>
          <p:nvPr/>
        </p:nvSpPr>
        <p:spPr>
          <a:xfrm>
            <a:off x="4708804" y="4069081"/>
            <a:ext cx="4114800" cy="685800"/>
          </a:xfrm>
          <a:prstGeom prst="rect">
            <a:avLst/>
          </a:prstGeom>
          <a:noFill/>
          <a:ln cap="flat" cmpd="sng" w="9525">
            <a:solidFill>
              <a:srgbClr val="00AF4F"/>
            </a:solidFill>
            <a:prstDash val="solid"/>
            <a:round/>
            <a:headEnd len="sm" w="sm" type="none"/>
            <a:tailEnd len="sm" w="sm" type="none"/>
          </a:ln>
        </p:spPr>
        <p:txBody>
          <a:bodyPr anchorCtr="0" anchor="t" bIns="0" lIns="0" spcFirstLastPara="1" rIns="0" wrap="square" tIns="48875">
            <a:spAutoFit/>
          </a:bodyPr>
          <a:lstStyle/>
          <a:p>
            <a:pPr indent="0" lvl="0" marL="0" rtl="0" algn="l">
              <a:lnSpc>
                <a:spcPct val="100000"/>
              </a:lnSpc>
              <a:spcBef>
                <a:spcPts val="0"/>
              </a:spcBef>
              <a:spcAft>
                <a:spcPts val="0"/>
              </a:spcAft>
              <a:buNone/>
            </a:pPr>
            <a:r>
              <a:t/>
            </a:r>
            <a:endParaRPr sz="1300">
              <a:latin typeface="Times New Roman"/>
              <a:ea typeface="Times New Roman"/>
              <a:cs typeface="Times New Roman"/>
              <a:sym typeface="Times New Roman"/>
            </a:endParaRPr>
          </a:p>
          <a:p>
            <a:pPr indent="0" lvl="0" marL="0" rtl="0" algn="ctr">
              <a:lnSpc>
                <a:spcPct val="100000"/>
              </a:lnSpc>
              <a:spcBef>
                <a:spcPts val="0"/>
              </a:spcBef>
              <a:spcAft>
                <a:spcPts val="0"/>
              </a:spcAft>
              <a:buNone/>
            </a:pPr>
            <a:r>
              <a:rPr b="1" lang="en-US" sz="1300">
                <a:latin typeface="Calibri"/>
                <a:ea typeface="Calibri"/>
                <a:cs typeface="Calibri"/>
                <a:sym typeface="Calibri"/>
              </a:rPr>
              <a:t>Solution: LSTM (Long Short-Term Memory)</a:t>
            </a:r>
            <a:endParaRPr sz="1300">
              <a:latin typeface="Calibri"/>
              <a:ea typeface="Calibri"/>
              <a:cs typeface="Calibri"/>
              <a:sym typeface="Calibri"/>
            </a:endParaRPr>
          </a:p>
        </p:txBody>
      </p:sp>
      <p:sp>
        <p:nvSpPr>
          <p:cNvPr id="664" name="Google Shape;664;p15"/>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descr="$PPTXTitle" id="669" name="Google Shape;669;p16"/>
          <p:cNvSpPr txBox="1"/>
          <p:nvPr>
            <p:ph type="title"/>
          </p:nvPr>
        </p:nvSpPr>
        <p:spPr>
          <a:xfrm>
            <a:off x="1023378" y="201868"/>
            <a:ext cx="5995670" cy="3917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Why Gradients Vanish or Explode: Just Multiply</a:t>
            </a:r>
            <a:endParaRPr/>
          </a:p>
        </p:txBody>
      </p:sp>
      <p:sp>
        <p:nvSpPr>
          <p:cNvPr id="670" name="Google Shape;670;p16"/>
          <p:cNvSpPr txBox="1"/>
          <p:nvPr/>
        </p:nvSpPr>
        <p:spPr>
          <a:xfrm>
            <a:off x="1424774" y="674181"/>
            <a:ext cx="5197475" cy="224154"/>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i="1" lang="en-US" sz="1300">
                <a:solidFill>
                  <a:srgbClr val="0E756D"/>
                </a:solidFill>
                <a:latin typeface="Cambria"/>
                <a:ea typeface="Cambria"/>
                <a:cs typeface="Cambria"/>
                <a:sym typeface="Cambria"/>
              </a:rPr>
              <a:t>Backprop through time multiplies one factor per step. Small errors compound.</a:t>
            </a:r>
            <a:endParaRPr sz="1300">
              <a:latin typeface="Cambria"/>
              <a:ea typeface="Cambria"/>
              <a:cs typeface="Cambria"/>
              <a:sym typeface="Cambria"/>
            </a:endParaRPr>
          </a:p>
        </p:txBody>
      </p:sp>
      <p:pic>
        <p:nvPicPr>
          <p:cNvPr id="671" name="Google Shape;671;p16"/>
          <p:cNvPicPr preferRelativeResize="0"/>
          <p:nvPr/>
        </p:nvPicPr>
        <p:blipFill rotWithShape="1">
          <a:blip r:embed="rId3">
            <a:alphaModFix/>
          </a:blip>
          <a:srcRect b="0" l="0" r="0" t="0"/>
          <a:stretch/>
        </p:blipFill>
        <p:spPr>
          <a:xfrm>
            <a:off x="8369274" y="14"/>
            <a:ext cx="774357" cy="866508"/>
          </a:xfrm>
          <a:prstGeom prst="rect">
            <a:avLst/>
          </a:prstGeom>
          <a:noFill/>
          <a:ln>
            <a:noFill/>
          </a:ln>
        </p:spPr>
      </p:pic>
      <p:grpSp>
        <p:nvGrpSpPr>
          <p:cNvPr id="672" name="Google Shape;672;p16"/>
          <p:cNvGrpSpPr/>
          <p:nvPr/>
        </p:nvGrpSpPr>
        <p:grpSpPr>
          <a:xfrm>
            <a:off x="354241" y="1013017"/>
            <a:ext cx="4183557" cy="2491587"/>
            <a:chOff x="354241" y="1013017"/>
            <a:chExt cx="4183557" cy="2491587"/>
          </a:xfrm>
        </p:grpSpPr>
        <p:pic>
          <p:nvPicPr>
            <p:cNvPr id="673" name="Google Shape;673;p16"/>
            <p:cNvPicPr preferRelativeResize="0"/>
            <p:nvPr/>
          </p:nvPicPr>
          <p:blipFill rotWithShape="1">
            <a:blip r:embed="rId4">
              <a:alphaModFix/>
            </a:blip>
            <a:srcRect b="0" l="0" r="0" t="0"/>
            <a:stretch/>
          </p:blipFill>
          <p:spPr>
            <a:xfrm>
              <a:off x="354241" y="1013017"/>
              <a:ext cx="4183557" cy="2491587"/>
            </a:xfrm>
            <a:prstGeom prst="rect">
              <a:avLst/>
            </a:prstGeom>
            <a:noFill/>
            <a:ln>
              <a:noFill/>
            </a:ln>
          </p:spPr>
        </p:pic>
        <p:sp>
          <p:nvSpPr>
            <p:cNvPr id="674" name="Google Shape;674;p16"/>
            <p:cNvSpPr/>
            <p:nvPr/>
          </p:nvSpPr>
          <p:spPr>
            <a:xfrm>
              <a:off x="411479" y="1051206"/>
              <a:ext cx="4069079" cy="2377440"/>
            </a:xfrm>
            <a:custGeom>
              <a:rect b="b" l="l" r="r" t="t"/>
              <a:pathLst>
                <a:path extrusionOk="0" h="2377440" w="4069079">
                  <a:moveTo>
                    <a:pt x="3926154" y="0"/>
                  </a:moveTo>
                  <a:lnTo>
                    <a:pt x="142557" y="0"/>
                  </a:lnTo>
                  <a:lnTo>
                    <a:pt x="123977" y="1208"/>
                  </a:lnTo>
                  <a:lnTo>
                    <a:pt x="71285" y="19075"/>
                  </a:lnTo>
                  <a:lnTo>
                    <a:pt x="29510" y="55774"/>
                  </a:lnTo>
                  <a:lnTo>
                    <a:pt x="4813" y="105567"/>
                  </a:lnTo>
                  <a:lnTo>
                    <a:pt x="0" y="142557"/>
                  </a:lnTo>
                  <a:lnTo>
                    <a:pt x="0" y="2234869"/>
                  </a:lnTo>
                  <a:lnTo>
                    <a:pt x="1195" y="2253244"/>
                  </a:lnTo>
                  <a:lnTo>
                    <a:pt x="1208" y="2253450"/>
                  </a:lnTo>
                  <a:lnTo>
                    <a:pt x="4769" y="2271504"/>
                  </a:lnTo>
                  <a:lnTo>
                    <a:pt x="4813" y="2271726"/>
                  </a:lnTo>
                  <a:lnTo>
                    <a:pt x="10676" y="2289090"/>
                  </a:lnTo>
                  <a:lnTo>
                    <a:pt x="41803" y="2335630"/>
                  </a:lnTo>
                  <a:lnTo>
                    <a:pt x="87986" y="2366649"/>
                  </a:lnTo>
                  <a:lnTo>
                    <a:pt x="142557" y="2377440"/>
                  </a:lnTo>
                  <a:lnTo>
                    <a:pt x="3926522" y="2377071"/>
                  </a:lnTo>
                  <a:lnTo>
                    <a:pt x="3981043" y="2366291"/>
                  </a:lnTo>
                  <a:lnTo>
                    <a:pt x="4027276" y="2335269"/>
                  </a:lnTo>
                  <a:lnTo>
                    <a:pt x="4058300" y="2289090"/>
                  </a:lnTo>
                  <a:lnTo>
                    <a:pt x="4069057" y="2234869"/>
                  </a:lnTo>
                  <a:lnTo>
                    <a:pt x="4069080" y="2234514"/>
                  </a:lnTo>
                  <a:lnTo>
                    <a:pt x="4068724" y="142557"/>
                  </a:lnTo>
                  <a:lnTo>
                    <a:pt x="4057933" y="88031"/>
                  </a:lnTo>
                  <a:lnTo>
                    <a:pt x="4026914" y="41797"/>
                  </a:lnTo>
                  <a:lnTo>
                    <a:pt x="3980732" y="10779"/>
                  </a:lnTo>
                  <a:lnTo>
                    <a:pt x="3944889" y="1208"/>
                  </a:lnTo>
                  <a:lnTo>
                    <a:pt x="3926154" y="0"/>
                  </a:lnTo>
                  <a:close/>
                </a:path>
              </a:pathLst>
            </a:custGeom>
            <a:solidFill>
              <a:srgbClr val="E7ED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75" name="Google Shape;675;p16"/>
            <p:cNvSpPr/>
            <p:nvPr/>
          </p:nvSpPr>
          <p:spPr>
            <a:xfrm>
              <a:off x="411479" y="1051206"/>
              <a:ext cx="4069079" cy="2377440"/>
            </a:xfrm>
            <a:custGeom>
              <a:rect b="b" l="l" r="r" t="t"/>
              <a:pathLst>
                <a:path extrusionOk="0" h="2377440" w="4069079">
                  <a:moveTo>
                    <a:pt x="0" y="142557"/>
                  </a:moveTo>
                  <a:lnTo>
                    <a:pt x="1208" y="123827"/>
                  </a:lnTo>
                  <a:lnTo>
                    <a:pt x="4813" y="105567"/>
                  </a:lnTo>
                  <a:lnTo>
                    <a:pt x="29510" y="55774"/>
                  </a:lnTo>
                  <a:lnTo>
                    <a:pt x="71285" y="19075"/>
                  </a:lnTo>
                  <a:lnTo>
                    <a:pt x="123977" y="1208"/>
                  </a:lnTo>
                  <a:lnTo>
                    <a:pt x="142557" y="0"/>
                  </a:lnTo>
                  <a:lnTo>
                    <a:pt x="3926154" y="0"/>
                  </a:lnTo>
                  <a:lnTo>
                    <a:pt x="3980732" y="10779"/>
                  </a:lnTo>
                  <a:lnTo>
                    <a:pt x="4026914" y="41797"/>
                  </a:lnTo>
                  <a:lnTo>
                    <a:pt x="4057933" y="88031"/>
                  </a:lnTo>
                  <a:lnTo>
                    <a:pt x="4068724" y="142557"/>
                  </a:lnTo>
                  <a:lnTo>
                    <a:pt x="4069080" y="2234514"/>
                  </a:lnTo>
                  <a:lnTo>
                    <a:pt x="4067871" y="2253244"/>
                  </a:lnTo>
                  <a:lnTo>
                    <a:pt x="4064266" y="2271504"/>
                  </a:lnTo>
                  <a:lnTo>
                    <a:pt x="4039569" y="2321291"/>
                  </a:lnTo>
                  <a:lnTo>
                    <a:pt x="3997794" y="2357996"/>
                  </a:lnTo>
                  <a:lnTo>
                    <a:pt x="3945102" y="2375862"/>
                  </a:lnTo>
                  <a:lnTo>
                    <a:pt x="142557" y="2377440"/>
                  </a:lnTo>
                  <a:lnTo>
                    <a:pt x="87986" y="2366649"/>
                  </a:lnTo>
                  <a:lnTo>
                    <a:pt x="41803" y="2335630"/>
                  </a:lnTo>
                  <a:lnTo>
                    <a:pt x="10779" y="2289396"/>
                  </a:lnTo>
                  <a:lnTo>
                    <a:pt x="0" y="2234869"/>
                  </a:lnTo>
                  <a:lnTo>
                    <a:pt x="0" y="142557"/>
                  </a:lnTo>
                  <a:close/>
                </a:path>
              </a:pathLst>
            </a:custGeom>
            <a:noFill/>
            <a:ln cap="flat" cmpd="sng" w="12575">
              <a:solidFill>
                <a:srgbClr val="E7EDF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676" name="Google Shape;676;p16"/>
          <p:cNvSpPr txBox="1"/>
          <p:nvPr/>
        </p:nvSpPr>
        <p:spPr>
          <a:xfrm>
            <a:off x="556259" y="1011923"/>
            <a:ext cx="3510279" cy="1394460"/>
          </a:xfrm>
          <a:prstGeom prst="rect">
            <a:avLst/>
          </a:prstGeom>
          <a:noFill/>
          <a:ln>
            <a:noFill/>
          </a:ln>
        </p:spPr>
        <p:txBody>
          <a:bodyPr anchorCtr="0" anchor="t" bIns="0" lIns="0" spcFirstLastPara="1" rIns="0" wrap="square" tIns="221600">
            <a:spAutoFit/>
          </a:bodyPr>
          <a:lstStyle/>
          <a:p>
            <a:pPr indent="0" lvl="0" marL="38100" rtl="0" algn="l">
              <a:lnSpc>
                <a:spcPct val="100000"/>
              </a:lnSpc>
              <a:spcBef>
                <a:spcPts val="0"/>
              </a:spcBef>
              <a:spcAft>
                <a:spcPts val="0"/>
              </a:spcAft>
              <a:buNone/>
            </a:pPr>
            <a:r>
              <a:rPr b="1" lang="en-US" sz="3000">
                <a:solidFill>
                  <a:srgbClr val="1D3FAE"/>
                </a:solidFill>
                <a:latin typeface="Calibri"/>
                <a:ea typeface="Calibri"/>
                <a:cs typeface="Calibri"/>
                <a:sym typeface="Calibri"/>
              </a:rPr>
              <a:t>0.9</a:t>
            </a:r>
            <a:r>
              <a:rPr b="1" baseline="30000" lang="en-US" sz="2625">
                <a:solidFill>
                  <a:srgbClr val="1D3FAE"/>
                </a:solidFill>
                <a:latin typeface="Calibri"/>
                <a:ea typeface="Calibri"/>
                <a:cs typeface="Calibri"/>
                <a:sym typeface="Calibri"/>
              </a:rPr>
              <a:t>100 </a:t>
            </a:r>
            <a:r>
              <a:rPr b="1" lang="en-US" sz="3000">
                <a:solidFill>
                  <a:srgbClr val="1D3FAE"/>
                </a:solidFill>
                <a:latin typeface="Calibri"/>
                <a:ea typeface="Calibri"/>
                <a:cs typeface="Calibri"/>
                <a:sym typeface="Calibri"/>
              </a:rPr>
              <a:t>≈ 0.00003</a:t>
            </a:r>
            <a:endParaRPr sz="3000">
              <a:latin typeface="Calibri"/>
              <a:ea typeface="Calibri"/>
              <a:cs typeface="Calibri"/>
              <a:sym typeface="Calibri"/>
            </a:endParaRPr>
          </a:p>
          <a:p>
            <a:pPr indent="0" lvl="0" marL="38100" rtl="0" algn="l">
              <a:lnSpc>
                <a:spcPct val="100000"/>
              </a:lnSpc>
              <a:spcBef>
                <a:spcPts val="720"/>
              </a:spcBef>
              <a:spcAft>
                <a:spcPts val="0"/>
              </a:spcAft>
              <a:buNone/>
            </a:pPr>
            <a:r>
              <a:rPr b="1" lang="en-US" sz="1300">
                <a:solidFill>
                  <a:srgbClr val="0C1A29"/>
                </a:solidFill>
                <a:latin typeface="Calibri"/>
                <a:ea typeface="Calibri"/>
                <a:cs typeface="Calibri"/>
                <a:sym typeface="Calibri"/>
              </a:rPr>
              <a:t>Vanishing</a:t>
            </a:r>
            <a:endParaRPr sz="1300">
              <a:latin typeface="Calibri"/>
              <a:ea typeface="Calibri"/>
              <a:cs typeface="Calibri"/>
              <a:sym typeface="Calibri"/>
            </a:endParaRPr>
          </a:p>
          <a:p>
            <a:pPr indent="0" lvl="0" marL="38100" marR="30480" rtl="0" algn="l">
              <a:lnSpc>
                <a:spcPct val="100000"/>
              </a:lnSpc>
              <a:spcBef>
                <a:spcPts val="605"/>
              </a:spcBef>
              <a:spcAft>
                <a:spcPts val="0"/>
              </a:spcAft>
              <a:buNone/>
            </a:pPr>
            <a:r>
              <a:rPr lang="en-US" sz="1100">
                <a:solidFill>
                  <a:srgbClr val="1E2836"/>
                </a:solidFill>
                <a:latin typeface="Calibri"/>
                <a:ea typeface="Calibri"/>
                <a:cs typeface="Calibri"/>
                <a:sym typeface="Calibri"/>
              </a:rPr>
              <a:t>Shrink the signal by 10% per step. After 100 steps, step 1 has almost no say in learning.</a:t>
            </a:r>
            <a:endParaRPr sz="1100">
              <a:latin typeface="Calibri"/>
              <a:ea typeface="Calibri"/>
              <a:cs typeface="Calibri"/>
              <a:sym typeface="Calibri"/>
            </a:endParaRPr>
          </a:p>
        </p:txBody>
      </p:sp>
      <p:sp>
        <p:nvSpPr>
          <p:cNvPr id="677" name="Google Shape;677;p16"/>
          <p:cNvSpPr txBox="1"/>
          <p:nvPr/>
        </p:nvSpPr>
        <p:spPr>
          <a:xfrm>
            <a:off x="581659" y="2639061"/>
            <a:ext cx="3692525" cy="36131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1100">
                <a:solidFill>
                  <a:srgbClr val="1D3FAE"/>
                </a:solidFill>
                <a:latin typeface="Calibri"/>
                <a:ea typeface="Calibri"/>
                <a:cs typeface="Calibri"/>
                <a:sym typeface="Calibri"/>
              </a:rPr>
              <a:t>Real life: </a:t>
            </a:r>
            <a:r>
              <a:rPr i="1" lang="en-US" sz="1100">
                <a:solidFill>
                  <a:srgbClr val="1E2836"/>
                </a:solidFill>
                <a:latin typeface="Cambria"/>
                <a:ea typeface="Cambria"/>
                <a:cs typeface="Cambria"/>
                <a:sym typeface="Cambria"/>
              </a:rPr>
              <a:t>Like a WhatsApp forward: "drink water daily" becomes, 50 forwards later, "Antarctic water cures everything".</a:t>
            </a:r>
            <a:endParaRPr sz="1100">
              <a:latin typeface="Cambria"/>
              <a:ea typeface="Cambria"/>
              <a:cs typeface="Cambria"/>
              <a:sym typeface="Cambria"/>
            </a:endParaRPr>
          </a:p>
        </p:txBody>
      </p:sp>
      <p:grpSp>
        <p:nvGrpSpPr>
          <p:cNvPr id="678" name="Google Shape;678;p16"/>
          <p:cNvGrpSpPr/>
          <p:nvPr/>
        </p:nvGrpSpPr>
        <p:grpSpPr>
          <a:xfrm>
            <a:off x="4606201" y="1013017"/>
            <a:ext cx="4183557" cy="2491587"/>
            <a:chOff x="4606201" y="1013017"/>
            <a:chExt cx="4183557" cy="2491587"/>
          </a:xfrm>
        </p:grpSpPr>
        <p:pic>
          <p:nvPicPr>
            <p:cNvPr id="679" name="Google Shape;679;p16"/>
            <p:cNvPicPr preferRelativeResize="0"/>
            <p:nvPr/>
          </p:nvPicPr>
          <p:blipFill rotWithShape="1">
            <a:blip r:embed="rId4">
              <a:alphaModFix/>
            </a:blip>
            <a:srcRect b="0" l="0" r="0" t="0"/>
            <a:stretch/>
          </p:blipFill>
          <p:spPr>
            <a:xfrm>
              <a:off x="4606201" y="1013017"/>
              <a:ext cx="4183557" cy="2491587"/>
            </a:xfrm>
            <a:prstGeom prst="rect">
              <a:avLst/>
            </a:prstGeom>
            <a:noFill/>
            <a:ln>
              <a:noFill/>
            </a:ln>
          </p:spPr>
        </p:pic>
        <p:sp>
          <p:nvSpPr>
            <p:cNvPr id="680" name="Google Shape;680;p16"/>
            <p:cNvSpPr/>
            <p:nvPr/>
          </p:nvSpPr>
          <p:spPr>
            <a:xfrm>
              <a:off x="4663439" y="1051206"/>
              <a:ext cx="4069079" cy="2377440"/>
            </a:xfrm>
            <a:custGeom>
              <a:rect b="b" l="l" r="r" t="t"/>
              <a:pathLst>
                <a:path extrusionOk="0" h="2377440" w="4069079">
                  <a:moveTo>
                    <a:pt x="3926154" y="0"/>
                  </a:moveTo>
                  <a:lnTo>
                    <a:pt x="142557" y="0"/>
                  </a:lnTo>
                  <a:lnTo>
                    <a:pt x="123977" y="1208"/>
                  </a:lnTo>
                  <a:lnTo>
                    <a:pt x="71285" y="19075"/>
                  </a:lnTo>
                  <a:lnTo>
                    <a:pt x="29510" y="55774"/>
                  </a:lnTo>
                  <a:lnTo>
                    <a:pt x="4813" y="105567"/>
                  </a:lnTo>
                  <a:lnTo>
                    <a:pt x="0" y="142557"/>
                  </a:lnTo>
                  <a:lnTo>
                    <a:pt x="0" y="2234869"/>
                  </a:lnTo>
                  <a:lnTo>
                    <a:pt x="1195" y="2253244"/>
                  </a:lnTo>
                  <a:lnTo>
                    <a:pt x="1208" y="2253450"/>
                  </a:lnTo>
                  <a:lnTo>
                    <a:pt x="4769" y="2271504"/>
                  </a:lnTo>
                  <a:lnTo>
                    <a:pt x="4813" y="2271726"/>
                  </a:lnTo>
                  <a:lnTo>
                    <a:pt x="10676" y="2289090"/>
                  </a:lnTo>
                  <a:lnTo>
                    <a:pt x="10779" y="2289396"/>
                  </a:lnTo>
                  <a:lnTo>
                    <a:pt x="41803" y="2335630"/>
                  </a:lnTo>
                  <a:lnTo>
                    <a:pt x="87986" y="2366649"/>
                  </a:lnTo>
                  <a:lnTo>
                    <a:pt x="142557" y="2377440"/>
                  </a:lnTo>
                  <a:lnTo>
                    <a:pt x="3926522" y="2377071"/>
                  </a:lnTo>
                  <a:lnTo>
                    <a:pt x="3981043" y="2366291"/>
                  </a:lnTo>
                  <a:lnTo>
                    <a:pt x="4027276" y="2335269"/>
                  </a:lnTo>
                  <a:lnTo>
                    <a:pt x="4058300" y="2289090"/>
                  </a:lnTo>
                  <a:lnTo>
                    <a:pt x="4064191" y="2271726"/>
                  </a:lnTo>
                  <a:lnTo>
                    <a:pt x="4064266" y="2271504"/>
                  </a:lnTo>
                  <a:lnTo>
                    <a:pt x="4067830" y="2253450"/>
                  </a:lnTo>
                  <a:lnTo>
                    <a:pt x="4067871" y="2253244"/>
                  </a:lnTo>
                  <a:lnTo>
                    <a:pt x="4069057" y="2234869"/>
                  </a:lnTo>
                  <a:lnTo>
                    <a:pt x="4069080" y="2234514"/>
                  </a:lnTo>
                  <a:lnTo>
                    <a:pt x="4068724" y="142557"/>
                  </a:lnTo>
                  <a:lnTo>
                    <a:pt x="4057933" y="88031"/>
                  </a:lnTo>
                  <a:lnTo>
                    <a:pt x="4026914" y="41797"/>
                  </a:lnTo>
                  <a:lnTo>
                    <a:pt x="3980732" y="10779"/>
                  </a:lnTo>
                  <a:lnTo>
                    <a:pt x="3944889" y="1208"/>
                  </a:lnTo>
                  <a:lnTo>
                    <a:pt x="3926154" y="0"/>
                  </a:lnTo>
                  <a:close/>
                </a:path>
              </a:pathLst>
            </a:custGeom>
            <a:solidFill>
              <a:srgbClr val="FFF0E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81" name="Google Shape;681;p16"/>
            <p:cNvSpPr/>
            <p:nvPr/>
          </p:nvSpPr>
          <p:spPr>
            <a:xfrm>
              <a:off x="4663439" y="1051206"/>
              <a:ext cx="4069079" cy="2377440"/>
            </a:xfrm>
            <a:custGeom>
              <a:rect b="b" l="l" r="r" t="t"/>
              <a:pathLst>
                <a:path extrusionOk="0" h="2377440" w="4069079">
                  <a:moveTo>
                    <a:pt x="0" y="142557"/>
                  </a:moveTo>
                  <a:lnTo>
                    <a:pt x="1208" y="123827"/>
                  </a:lnTo>
                  <a:lnTo>
                    <a:pt x="4813" y="105567"/>
                  </a:lnTo>
                  <a:lnTo>
                    <a:pt x="29510" y="55774"/>
                  </a:lnTo>
                  <a:lnTo>
                    <a:pt x="71285" y="19075"/>
                  </a:lnTo>
                  <a:lnTo>
                    <a:pt x="123977" y="1208"/>
                  </a:lnTo>
                  <a:lnTo>
                    <a:pt x="142557" y="0"/>
                  </a:lnTo>
                  <a:lnTo>
                    <a:pt x="3926154" y="0"/>
                  </a:lnTo>
                  <a:lnTo>
                    <a:pt x="3980732" y="10779"/>
                  </a:lnTo>
                  <a:lnTo>
                    <a:pt x="4026914" y="41797"/>
                  </a:lnTo>
                  <a:lnTo>
                    <a:pt x="4057933" y="88031"/>
                  </a:lnTo>
                  <a:lnTo>
                    <a:pt x="4068724" y="142557"/>
                  </a:lnTo>
                  <a:lnTo>
                    <a:pt x="4069080" y="2234514"/>
                  </a:lnTo>
                  <a:lnTo>
                    <a:pt x="4067871" y="2253244"/>
                  </a:lnTo>
                  <a:lnTo>
                    <a:pt x="4064266" y="2271504"/>
                  </a:lnTo>
                  <a:lnTo>
                    <a:pt x="4039569" y="2321291"/>
                  </a:lnTo>
                  <a:lnTo>
                    <a:pt x="3997794" y="2357996"/>
                  </a:lnTo>
                  <a:lnTo>
                    <a:pt x="3945102" y="2375862"/>
                  </a:lnTo>
                  <a:lnTo>
                    <a:pt x="142557" y="2377440"/>
                  </a:lnTo>
                  <a:lnTo>
                    <a:pt x="87986" y="2366649"/>
                  </a:lnTo>
                  <a:lnTo>
                    <a:pt x="41803" y="2335630"/>
                  </a:lnTo>
                  <a:lnTo>
                    <a:pt x="10779" y="2289396"/>
                  </a:lnTo>
                  <a:lnTo>
                    <a:pt x="0" y="2234869"/>
                  </a:lnTo>
                  <a:lnTo>
                    <a:pt x="0" y="142557"/>
                  </a:lnTo>
                  <a:close/>
                </a:path>
              </a:pathLst>
            </a:custGeom>
            <a:noFill/>
            <a:ln cap="flat" cmpd="sng" w="12575">
              <a:solidFill>
                <a:srgbClr val="FFF0E5"/>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682" name="Google Shape;682;p16"/>
          <p:cNvSpPr txBox="1"/>
          <p:nvPr/>
        </p:nvSpPr>
        <p:spPr>
          <a:xfrm>
            <a:off x="4808220" y="1011923"/>
            <a:ext cx="3630929" cy="1394460"/>
          </a:xfrm>
          <a:prstGeom prst="rect">
            <a:avLst/>
          </a:prstGeom>
          <a:noFill/>
          <a:ln>
            <a:noFill/>
          </a:ln>
        </p:spPr>
        <p:txBody>
          <a:bodyPr anchorCtr="0" anchor="t" bIns="0" lIns="0" spcFirstLastPara="1" rIns="0" wrap="square" tIns="221600">
            <a:spAutoFit/>
          </a:bodyPr>
          <a:lstStyle/>
          <a:p>
            <a:pPr indent="0" lvl="0" marL="38100" rtl="0" algn="l">
              <a:lnSpc>
                <a:spcPct val="100000"/>
              </a:lnSpc>
              <a:spcBef>
                <a:spcPts val="0"/>
              </a:spcBef>
              <a:spcAft>
                <a:spcPts val="0"/>
              </a:spcAft>
              <a:buNone/>
            </a:pPr>
            <a:r>
              <a:rPr b="1" lang="en-US" sz="3000">
                <a:solidFill>
                  <a:srgbClr val="C1400B"/>
                </a:solidFill>
                <a:latin typeface="Calibri"/>
                <a:ea typeface="Calibri"/>
                <a:cs typeface="Calibri"/>
                <a:sym typeface="Calibri"/>
              </a:rPr>
              <a:t>1.1</a:t>
            </a:r>
            <a:r>
              <a:rPr b="1" baseline="30000" lang="en-US" sz="2625">
                <a:solidFill>
                  <a:srgbClr val="C1400B"/>
                </a:solidFill>
                <a:latin typeface="Calibri"/>
                <a:ea typeface="Calibri"/>
                <a:cs typeface="Calibri"/>
                <a:sym typeface="Calibri"/>
              </a:rPr>
              <a:t>100 </a:t>
            </a:r>
            <a:r>
              <a:rPr b="1" lang="en-US" sz="3000">
                <a:solidFill>
                  <a:srgbClr val="C1400B"/>
                </a:solidFill>
                <a:latin typeface="Calibri"/>
                <a:ea typeface="Calibri"/>
                <a:cs typeface="Calibri"/>
                <a:sym typeface="Calibri"/>
              </a:rPr>
              <a:t>≈ 13,781</a:t>
            </a:r>
            <a:endParaRPr sz="3000">
              <a:latin typeface="Calibri"/>
              <a:ea typeface="Calibri"/>
              <a:cs typeface="Calibri"/>
              <a:sym typeface="Calibri"/>
            </a:endParaRPr>
          </a:p>
          <a:p>
            <a:pPr indent="0" lvl="0" marL="38100" rtl="0" algn="l">
              <a:lnSpc>
                <a:spcPct val="100000"/>
              </a:lnSpc>
              <a:spcBef>
                <a:spcPts val="720"/>
              </a:spcBef>
              <a:spcAft>
                <a:spcPts val="0"/>
              </a:spcAft>
              <a:buNone/>
            </a:pPr>
            <a:r>
              <a:rPr b="1" lang="en-US" sz="1300">
                <a:solidFill>
                  <a:srgbClr val="0C1A29"/>
                </a:solidFill>
                <a:latin typeface="Calibri"/>
                <a:ea typeface="Calibri"/>
                <a:cs typeface="Calibri"/>
                <a:sym typeface="Calibri"/>
              </a:rPr>
              <a:t>Exploding</a:t>
            </a:r>
            <a:endParaRPr sz="1300">
              <a:latin typeface="Calibri"/>
              <a:ea typeface="Calibri"/>
              <a:cs typeface="Calibri"/>
              <a:sym typeface="Calibri"/>
            </a:endParaRPr>
          </a:p>
          <a:p>
            <a:pPr indent="0" lvl="0" marL="38100" marR="30480" rtl="0" algn="l">
              <a:lnSpc>
                <a:spcPct val="100000"/>
              </a:lnSpc>
              <a:spcBef>
                <a:spcPts val="605"/>
              </a:spcBef>
              <a:spcAft>
                <a:spcPts val="0"/>
              </a:spcAft>
              <a:buNone/>
            </a:pPr>
            <a:r>
              <a:rPr lang="en-US" sz="1100">
                <a:solidFill>
                  <a:srgbClr val="1E2836"/>
                </a:solidFill>
                <a:latin typeface="Calibri"/>
                <a:ea typeface="Calibri"/>
                <a:cs typeface="Calibri"/>
                <a:sym typeface="Calibri"/>
              </a:rPr>
              <a:t>Grow by 10% per step. After 100 steps the update is enormous and weights turn into NaN.</a:t>
            </a:r>
            <a:endParaRPr sz="1100">
              <a:latin typeface="Calibri"/>
              <a:ea typeface="Calibri"/>
              <a:cs typeface="Calibri"/>
              <a:sym typeface="Calibri"/>
            </a:endParaRPr>
          </a:p>
        </p:txBody>
      </p:sp>
      <p:sp>
        <p:nvSpPr>
          <p:cNvPr id="683" name="Google Shape;683;p16"/>
          <p:cNvSpPr txBox="1"/>
          <p:nvPr/>
        </p:nvSpPr>
        <p:spPr>
          <a:xfrm>
            <a:off x="4833620" y="2639061"/>
            <a:ext cx="3544570" cy="36131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1100">
                <a:solidFill>
                  <a:srgbClr val="C1400B"/>
                </a:solidFill>
                <a:latin typeface="Calibri"/>
                <a:ea typeface="Calibri"/>
                <a:cs typeface="Calibri"/>
                <a:sym typeface="Calibri"/>
              </a:rPr>
              <a:t>Real life: </a:t>
            </a:r>
            <a:r>
              <a:rPr i="1" lang="en-US" sz="1100">
                <a:solidFill>
                  <a:srgbClr val="1E2836"/>
                </a:solidFill>
                <a:latin typeface="Cambria"/>
                <a:ea typeface="Cambria"/>
                <a:cs typeface="Cambria"/>
                <a:sym typeface="Cambria"/>
              </a:rPr>
              <a:t>Like a microphone held near its speaker: a tiny sound feeds back into a deafening screech.</a:t>
            </a:r>
            <a:endParaRPr sz="1100">
              <a:latin typeface="Cambria"/>
              <a:ea typeface="Cambria"/>
              <a:cs typeface="Cambria"/>
              <a:sym typeface="Cambria"/>
            </a:endParaRPr>
          </a:p>
        </p:txBody>
      </p:sp>
      <p:sp>
        <p:nvSpPr>
          <p:cNvPr id="684" name="Google Shape;684;p16"/>
          <p:cNvSpPr txBox="1"/>
          <p:nvPr/>
        </p:nvSpPr>
        <p:spPr>
          <a:xfrm>
            <a:off x="398424" y="3552738"/>
            <a:ext cx="1584325" cy="224154"/>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00">
                <a:solidFill>
                  <a:srgbClr val="0C1A29"/>
                </a:solidFill>
                <a:latin typeface="Calibri"/>
                <a:ea typeface="Calibri"/>
                <a:cs typeface="Calibri"/>
                <a:sym typeface="Calibri"/>
              </a:rPr>
              <a:t>How practitioners fix it</a:t>
            </a:r>
            <a:endParaRPr sz="1300">
              <a:latin typeface="Calibri"/>
              <a:ea typeface="Calibri"/>
              <a:cs typeface="Calibri"/>
              <a:sym typeface="Calibri"/>
            </a:endParaRPr>
          </a:p>
        </p:txBody>
      </p:sp>
      <p:grpSp>
        <p:nvGrpSpPr>
          <p:cNvPr id="685" name="Google Shape;685;p16"/>
          <p:cNvGrpSpPr/>
          <p:nvPr/>
        </p:nvGrpSpPr>
        <p:grpSpPr>
          <a:xfrm>
            <a:off x="411479" y="3886201"/>
            <a:ext cx="1965960" cy="896619"/>
            <a:chOff x="411479" y="3886201"/>
            <a:chExt cx="1965960" cy="896619"/>
          </a:xfrm>
        </p:grpSpPr>
        <p:sp>
          <p:nvSpPr>
            <p:cNvPr id="686" name="Google Shape;686;p16"/>
            <p:cNvSpPr/>
            <p:nvPr/>
          </p:nvSpPr>
          <p:spPr>
            <a:xfrm>
              <a:off x="411479" y="3886201"/>
              <a:ext cx="1965960" cy="896619"/>
            </a:xfrm>
            <a:custGeom>
              <a:rect b="b" l="l" r="r" t="t"/>
              <a:pathLst>
                <a:path extrusionOk="0" h="896620" w="1965960">
                  <a:moveTo>
                    <a:pt x="1911959" y="0"/>
                  </a:moveTo>
                  <a:lnTo>
                    <a:pt x="53644" y="0"/>
                  </a:lnTo>
                  <a:lnTo>
                    <a:pt x="46647" y="466"/>
                  </a:lnTo>
                  <a:lnTo>
                    <a:pt x="11101" y="20920"/>
                  </a:lnTo>
                  <a:lnTo>
                    <a:pt x="0" y="53644"/>
                  </a:lnTo>
                  <a:lnTo>
                    <a:pt x="0" y="842403"/>
                  </a:lnTo>
                  <a:lnTo>
                    <a:pt x="441" y="849038"/>
                  </a:lnTo>
                  <a:lnTo>
                    <a:pt x="466" y="849401"/>
                  </a:lnTo>
                  <a:lnTo>
                    <a:pt x="1778" y="855940"/>
                  </a:lnTo>
                  <a:lnTo>
                    <a:pt x="1843" y="856262"/>
                  </a:lnTo>
                  <a:lnTo>
                    <a:pt x="26644" y="888834"/>
                  </a:lnTo>
                  <a:lnTo>
                    <a:pt x="47195" y="895680"/>
                  </a:lnTo>
                  <a:lnTo>
                    <a:pt x="48302" y="895680"/>
                  </a:lnTo>
                  <a:lnTo>
                    <a:pt x="53644" y="896035"/>
                  </a:lnTo>
                  <a:lnTo>
                    <a:pt x="1912315" y="895680"/>
                  </a:lnTo>
                  <a:lnTo>
                    <a:pt x="1950211" y="879976"/>
                  </a:lnTo>
                  <a:lnTo>
                    <a:pt x="1965421" y="849401"/>
                  </a:lnTo>
                  <a:lnTo>
                    <a:pt x="1965493" y="849038"/>
                  </a:lnTo>
                  <a:lnTo>
                    <a:pt x="1965935" y="842403"/>
                  </a:lnTo>
                  <a:lnTo>
                    <a:pt x="1965959" y="842035"/>
                  </a:lnTo>
                  <a:lnTo>
                    <a:pt x="1965604" y="53644"/>
                  </a:lnTo>
                  <a:lnTo>
                    <a:pt x="1949896" y="15748"/>
                  </a:lnTo>
                  <a:lnTo>
                    <a:pt x="1918962" y="466"/>
                  </a:lnTo>
                  <a:lnTo>
                    <a:pt x="191195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87" name="Google Shape;687;p16"/>
            <p:cNvSpPr/>
            <p:nvPr/>
          </p:nvSpPr>
          <p:spPr>
            <a:xfrm>
              <a:off x="411479" y="3886201"/>
              <a:ext cx="1965960" cy="896619"/>
            </a:xfrm>
            <a:custGeom>
              <a:rect b="b" l="l" r="r" t="t"/>
              <a:pathLst>
                <a:path extrusionOk="0" h="896620" w="1965960">
                  <a:moveTo>
                    <a:pt x="0" y="53644"/>
                  </a:moveTo>
                  <a:lnTo>
                    <a:pt x="466" y="46641"/>
                  </a:lnTo>
                  <a:lnTo>
                    <a:pt x="1843" y="39739"/>
                  </a:lnTo>
                  <a:lnTo>
                    <a:pt x="27000" y="7200"/>
                  </a:lnTo>
                  <a:lnTo>
                    <a:pt x="53644" y="0"/>
                  </a:lnTo>
                  <a:lnTo>
                    <a:pt x="1911959" y="0"/>
                  </a:lnTo>
                  <a:lnTo>
                    <a:pt x="1949896" y="15748"/>
                  </a:lnTo>
                  <a:lnTo>
                    <a:pt x="1965604" y="53644"/>
                  </a:lnTo>
                  <a:lnTo>
                    <a:pt x="1965959" y="842035"/>
                  </a:lnTo>
                  <a:lnTo>
                    <a:pt x="1965493" y="849038"/>
                  </a:lnTo>
                  <a:lnTo>
                    <a:pt x="1964116" y="855940"/>
                  </a:lnTo>
                  <a:lnTo>
                    <a:pt x="1938959" y="888479"/>
                  </a:lnTo>
                  <a:lnTo>
                    <a:pt x="53644" y="896035"/>
                  </a:lnTo>
                  <a:lnTo>
                    <a:pt x="15703" y="880287"/>
                  </a:lnTo>
                  <a:lnTo>
                    <a:pt x="0" y="842403"/>
                  </a:lnTo>
                  <a:lnTo>
                    <a:pt x="0" y="53644"/>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688" name="Google Shape;688;p16"/>
          <p:cNvSpPr txBox="1"/>
          <p:nvPr/>
        </p:nvSpPr>
        <p:spPr>
          <a:xfrm>
            <a:off x="487337" y="3943694"/>
            <a:ext cx="1783714" cy="504190"/>
          </a:xfrm>
          <a:prstGeom prst="rect">
            <a:avLst/>
          </a:prstGeom>
          <a:noFill/>
          <a:ln>
            <a:noFill/>
          </a:ln>
        </p:spPr>
        <p:txBody>
          <a:bodyPr anchorCtr="0" anchor="t" bIns="0" lIns="0" spcFirstLastPara="1" rIns="0" wrap="square" tIns="12700">
            <a:spAutoFit/>
          </a:bodyPr>
          <a:lstStyle/>
          <a:p>
            <a:pPr indent="0" lvl="0" marL="12700" rtl="0" algn="l">
              <a:lnSpc>
                <a:spcPct val="119565"/>
              </a:lnSpc>
              <a:spcBef>
                <a:spcPts val="0"/>
              </a:spcBef>
              <a:spcAft>
                <a:spcPts val="0"/>
              </a:spcAft>
              <a:buNone/>
            </a:pPr>
            <a:r>
              <a:rPr b="1" lang="en-US" sz="1150">
                <a:solidFill>
                  <a:srgbClr val="1D3FAE"/>
                </a:solidFill>
                <a:latin typeface="Calibri"/>
                <a:ea typeface="Calibri"/>
                <a:cs typeface="Calibri"/>
                <a:sym typeface="Calibri"/>
              </a:rPr>
              <a:t>Gradient clipping</a:t>
            </a:r>
            <a:endParaRPr sz="1150">
              <a:latin typeface="Calibri"/>
              <a:ea typeface="Calibri"/>
              <a:cs typeface="Calibri"/>
              <a:sym typeface="Calibri"/>
            </a:endParaRPr>
          </a:p>
          <a:p>
            <a:pPr indent="0" lvl="0" marL="12700" marR="5080" rtl="0" algn="l">
              <a:lnSpc>
                <a:spcPct val="119000"/>
              </a:lnSpc>
              <a:spcBef>
                <a:spcPts val="45"/>
              </a:spcBef>
              <a:spcAft>
                <a:spcPts val="0"/>
              </a:spcAft>
              <a:buNone/>
            </a:pPr>
            <a:r>
              <a:rPr lang="en-US" sz="1000">
                <a:solidFill>
                  <a:srgbClr val="1E2836"/>
                </a:solidFill>
                <a:latin typeface="Calibri"/>
                <a:ea typeface="Calibri"/>
                <a:cs typeface="Calibri"/>
                <a:sym typeface="Calibri"/>
              </a:rPr>
              <a:t>A speed governor on a school bus: drive, but never above the limit</a:t>
            </a:r>
            <a:endParaRPr sz="1000">
              <a:latin typeface="Calibri"/>
              <a:ea typeface="Calibri"/>
              <a:cs typeface="Calibri"/>
              <a:sym typeface="Calibri"/>
            </a:endParaRPr>
          </a:p>
        </p:txBody>
      </p:sp>
      <p:grpSp>
        <p:nvGrpSpPr>
          <p:cNvPr id="689" name="Google Shape;689;p16"/>
          <p:cNvGrpSpPr/>
          <p:nvPr/>
        </p:nvGrpSpPr>
        <p:grpSpPr>
          <a:xfrm>
            <a:off x="2530081" y="3886201"/>
            <a:ext cx="1965960" cy="896619"/>
            <a:chOff x="2530081" y="3886201"/>
            <a:chExt cx="1965960" cy="896619"/>
          </a:xfrm>
        </p:grpSpPr>
        <p:sp>
          <p:nvSpPr>
            <p:cNvPr id="690" name="Google Shape;690;p16"/>
            <p:cNvSpPr/>
            <p:nvPr/>
          </p:nvSpPr>
          <p:spPr>
            <a:xfrm>
              <a:off x="2530081" y="3886201"/>
              <a:ext cx="1965960" cy="896619"/>
            </a:xfrm>
            <a:custGeom>
              <a:rect b="b" l="l" r="r" t="t"/>
              <a:pathLst>
                <a:path extrusionOk="0" h="896620" w="1965960">
                  <a:moveTo>
                    <a:pt x="1911959" y="0"/>
                  </a:moveTo>
                  <a:lnTo>
                    <a:pt x="53644" y="0"/>
                  </a:lnTo>
                  <a:lnTo>
                    <a:pt x="46647" y="466"/>
                  </a:lnTo>
                  <a:lnTo>
                    <a:pt x="11101" y="20920"/>
                  </a:lnTo>
                  <a:lnTo>
                    <a:pt x="0" y="53644"/>
                  </a:lnTo>
                  <a:lnTo>
                    <a:pt x="0" y="842403"/>
                  </a:lnTo>
                  <a:lnTo>
                    <a:pt x="441" y="849038"/>
                  </a:lnTo>
                  <a:lnTo>
                    <a:pt x="466" y="849401"/>
                  </a:lnTo>
                  <a:lnTo>
                    <a:pt x="1778" y="855940"/>
                  </a:lnTo>
                  <a:lnTo>
                    <a:pt x="1843" y="856262"/>
                  </a:lnTo>
                  <a:lnTo>
                    <a:pt x="4025" y="862639"/>
                  </a:lnTo>
                  <a:lnTo>
                    <a:pt x="33040" y="891937"/>
                  </a:lnTo>
                  <a:lnTo>
                    <a:pt x="47195" y="895680"/>
                  </a:lnTo>
                  <a:lnTo>
                    <a:pt x="48302" y="895680"/>
                  </a:lnTo>
                  <a:lnTo>
                    <a:pt x="53644" y="896035"/>
                  </a:lnTo>
                  <a:lnTo>
                    <a:pt x="1912315" y="895680"/>
                  </a:lnTo>
                  <a:lnTo>
                    <a:pt x="1950207" y="879976"/>
                  </a:lnTo>
                  <a:lnTo>
                    <a:pt x="1965419" y="849401"/>
                  </a:lnTo>
                  <a:lnTo>
                    <a:pt x="1965492" y="849038"/>
                  </a:lnTo>
                  <a:lnTo>
                    <a:pt x="1965935" y="842403"/>
                  </a:lnTo>
                  <a:lnTo>
                    <a:pt x="1965960" y="842035"/>
                  </a:lnTo>
                  <a:lnTo>
                    <a:pt x="1965604" y="53644"/>
                  </a:lnTo>
                  <a:lnTo>
                    <a:pt x="1949896" y="15748"/>
                  </a:lnTo>
                  <a:lnTo>
                    <a:pt x="1918962" y="466"/>
                  </a:lnTo>
                  <a:lnTo>
                    <a:pt x="191195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91" name="Google Shape;691;p16"/>
            <p:cNvSpPr/>
            <p:nvPr/>
          </p:nvSpPr>
          <p:spPr>
            <a:xfrm>
              <a:off x="2530081" y="3886201"/>
              <a:ext cx="1965960" cy="896619"/>
            </a:xfrm>
            <a:custGeom>
              <a:rect b="b" l="l" r="r" t="t"/>
              <a:pathLst>
                <a:path extrusionOk="0" h="896620" w="1965960">
                  <a:moveTo>
                    <a:pt x="0" y="53644"/>
                  </a:moveTo>
                  <a:lnTo>
                    <a:pt x="466" y="46641"/>
                  </a:lnTo>
                  <a:lnTo>
                    <a:pt x="1843" y="39739"/>
                  </a:lnTo>
                  <a:lnTo>
                    <a:pt x="27000" y="7200"/>
                  </a:lnTo>
                  <a:lnTo>
                    <a:pt x="53644" y="0"/>
                  </a:lnTo>
                  <a:lnTo>
                    <a:pt x="1911959" y="0"/>
                  </a:lnTo>
                  <a:lnTo>
                    <a:pt x="1949896" y="15748"/>
                  </a:lnTo>
                  <a:lnTo>
                    <a:pt x="1965604" y="53644"/>
                  </a:lnTo>
                  <a:lnTo>
                    <a:pt x="1965960" y="842035"/>
                  </a:lnTo>
                  <a:lnTo>
                    <a:pt x="1965492" y="849038"/>
                  </a:lnTo>
                  <a:lnTo>
                    <a:pt x="1964112" y="855940"/>
                  </a:lnTo>
                  <a:lnTo>
                    <a:pt x="1938959" y="888479"/>
                  </a:lnTo>
                  <a:lnTo>
                    <a:pt x="53644" y="896035"/>
                  </a:lnTo>
                  <a:lnTo>
                    <a:pt x="15703" y="880287"/>
                  </a:lnTo>
                  <a:lnTo>
                    <a:pt x="0" y="842403"/>
                  </a:lnTo>
                  <a:lnTo>
                    <a:pt x="0" y="53644"/>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692" name="Google Shape;692;p16"/>
          <p:cNvSpPr txBox="1"/>
          <p:nvPr/>
        </p:nvSpPr>
        <p:spPr>
          <a:xfrm>
            <a:off x="2605938" y="3943694"/>
            <a:ext cx="1806575" cy="504190"/>
          </a:xfrm>
          <a:prstGeom prst="rect">
            <a:avLst/>
          </a:prstGeom>
          <a:noFill/>
          <a:ln>
            <a:noFill/>
          </a:ln>
        </p:spPr>
        <p:txBody>
          <a:bodyPr anchorCtr="0" anchor="t" bIns="0" lIns="0" spcFirstLastPara="1" rIns="0" wrap="square" tIns="12700">
            <a:spAutoFit/>
          </a:bodyPr>
          <a:lstStyle/>
          <a:p>
            <a:pPr indent="0" lvl="0" marL="12700" rtl="0" algn="l">
              <a:lnSpc>
                <a:spcPct val="119565"/>
              </a:lnSpc>
              <a:spcBef>
                <a:spcPts val="0"/>
              </a:spcBef>
              <a:spcAft>
                <a:spcPts val="0"/>
              </a:spcAft>
              <a:buNone/>
            </a:pPr>
            <a:r>
              <a:rPr b="1" lang="en-US" sz="1150">
                <a:solidFill>
                  <a:srgbClr val="0E756D"/>
                </a:solidFill>
                <a:latin typeface="Calibri"/>
                <a:ea typeface="Calibri"/>
                <a:cs typeface="Calibri"/>
                <a:sym typeface="Calibri"/>
              </a:rPr>
              <a:t>Gated cells</a:t>
            </a:r>
            <a:endParaRPr sz="1150">
              <a:latin typeface="Calibri"/>
              <a:ea typeface="Calibri"/>
              <a:cs typeface="Calibri"/>
              <a:sym typeface="Calibri"/>
            </a:endParaRPr>
          </a:p>
          <a:p>
            <a:pPr indent="0" lvl="0" marL="12700" marR="5080" rtl="0" algn="l">
              <a:lnSpc>
                <a:spcPct val="119000"/>
              </a:lnSpc>
              <a:spcBef>
                <a:spcPts val="45"/>
              </a:spcBef>
              <a:spcAft>
                <a:spcPts val="0"/>
              </a:spcAft>
              <a:buNone/>
            </a:pPr>
            <a:r>
              <a:rPr lang="en-US" sz="1000">
                <a:solidFill>
                  <a:srgbClr val="1E2836"/>
                </a:solidFill>
                <a:latin typeface="Calibri"/>
                <a:ea typeface="Calibri"/>
                <a:cs typeface="Calibri"/>
                <a:sym typeface="Calibri"/>
              </a:rPr>
              <a:t>LSTM / GRU learn what to keep, so the product stays near 1</a:t>
            </a:r>
            <a:endParaRPr sz="1000">
              <a:latin typeface="Calibri"/>
              <a:ea typeface="Calibri"/>
              <a:cs typeface="Calibri"/>
              <a:sym typeface="Calibri"/>
            </a:endParaRPr>
          </a:p>
        </p:txBody>
      </p:sp>
      <p:grpSp>
        <p:nvGrpSpPr>
          <p:cNvPr id="693" name="Google Shape;693;p16"/>
          <p:cNvGrpSpPr/>
          <p:nvPr/>
        </p:nvGrpSpPr>
        <p:grpSpPr>
          <a:xfrm>
            <a:off x="4648682" y="3886201"/>
            <a:ext cx="1965960" cy="896619"/>
            <a:chOff x="4648682" y="3886201"/>
            <a:chExt cx="1965960" cy="896619"/>
          </a:xfrm>
        </p:grpSpPr>
        <p:sp>
          <p:nvSpPr>
            <p:cNvPr id="694" name="Google Shape;694;p16"/>
            <p:cNvSpPr/>
            <p:nvPr/>
          </p:nvSpPr>
          <p:spPr>
            <a:xfrm>
              <a:off x="4648682" y="3886201"/>
              <a:ext cx="1965960" cy="896619"/>
            </a:xfrm>
            <a:custGeom>
              <a:rect b="b" l="l" r="r" t="t"/>
              <a:pathLst>
                <a:path extrusionOk="0" h="896620" w="1965959">
                  <a:moveTo>
                    <a:pt x="1911959" y="0"/>
                  </a:moveTo>
                  <a:lnTo>
                    <a:pt x="53632" y="0"/>
                  </a:lnTo>
                  <a:lnTo>
                    <a:pt x="46634" y="466"/>
                  </a:lnTo>
                  <a:lnTo>
                    <a:pt x="11101" y="20920"/>
                  </a:lnTo>
                  <a:lnTo>
                    <a:pt x="0" y="53644"/>
                  </a:lnTo>
                  <a:lnTo>
                    <a:pt x="0" y="842403"/>
                  </a:lnTo>
                  <a:lnTo>
                    <a:pt x="441" y="849038"/>
                  </a:lnTo>
                  <a:lnTo>
                    <a:pt x="466" y="849401"/>
                  </a:lnTo>
                  <a:lnTo>
                    <a:pt x="1778" y="855940"/>
                  </a:lnTo>
                  <a:lnTo>
                    <a:pt x="1843" y="856262"/>
                  </a:lnTo>
                  <a:lnTo>
                    <a:pt x="26631" y="888834"/>
                  </a:lnTo>
                  <a:lnTo>
                    <a:pt x="47183" y="895680"/>
                  </a:lnTo>
                  <a:lnTo>
                    <a:pt x="48289" y="895680"/>
                  </a:lnTo>
                  <a:lnTo>
                    <a:pt x="53632" y="896035"/>
                  </a:lnTo>
                  <a:lnTo>
                    <a:pt x="1912315" y="895680"/>
                  </a:lnTo>
                  <a:lnTo>
                    <a:pt x="1950207" y="879976"/>
                  </a:lnTo>
                  <a:lnTo>
                    <a:pt x="1965419" y="849401"/>
                  </a:lnTo>
                  <a:lnTo>
                    <a:pt x="1965492" y="849038"/>
                  </a:lnTo>
                  <a:lnTo>
                    <a:pt x="1965935" y="842403"/>
                  </a:lnTo>
                  <a:lnTo>
                    <a:pt x="1965959" y="842035"/>
                  </a:lnTo>
                  <a:lnTo>
                    <a:pt x="1965591" y="53644"/>
                  </a:lnTo>
                  <a:lnTo>
                    <a:pt x="1949891" y="15748"/>
                  </a:lnTo>
                  <a:lnTo>
                    <a:pt x="1918962" y="466"/>
                  </a:lnTo>
                  <a:lnTo>
                    <a:pt x="191195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95" name="Google Shape;695;p16"/>
            <p:cNvSpPr/>
            <p:nvPr/>
          </p:nvSpPr>
          <p:spPr>
            <a:xfrm>
              <a:off x="4648682" y="3886201"/>
              <a:ext cx="1965960" cy="896619"/>
            </a:xfrm>
            <a:custGeom>
              <a:rect b="b" l="l" r="r" t="t"/>
              <a:pathLst>
                <a:path extrusionOk="0" h="896620" w="1965959">
                  <a:moveTo>
                    <a:pt x="0" y="53644"/>
                  </a:moveTo>
                  <a:lnTo>
                    <a:pt x="466" y="46641"/>
                  </a:lnTo>
                  <a:lnTo>
                    <a:pt x="1843" y="39739"/>
                  </a:lnTo>
                  <a:lnTo>
                    <a:pt x="27000" y="7200"/>
                  </a:lnTo>
                  <a:lnTo>
                    <a:pt x="53632" y="0"/>
                  </a:lnTo>
                  <a:lnTo>
                    <a:pt x="1911959" y="0"/>
                  </a:lnTo>
                  <a:lnTo>
                    <a:pt x="1949891" y="15748"/>
                  </a:lnTo>
                  <a:lnTo>
                    <a:pt x="1965591" y="53644"/>
                  </a:lnTo>
                  <a:lnTo>
                    <a:pt x="1965959" y="842035"/>
                  </a:lnTo>
                  <a:lnTo>
                    <a:pt x="1965492" y="849038"/>
                  </a:lnTo>
                  <a:lnTo>
                    <a:pt x="1964112" y="855940"/>
                  </a:lnTo>
                  <a:lnTo>
                    <a:pt x="1938959" y="888479"/>
                  </a:lnTo>
                  <a:lnTo>
                    <a:pt x="53632" y="896035"/>
                  </a:lnTo>
                  <a:lnTo>
                    <a:pt x="15701" y="880287"/>
                  </a:lnTo>
                  <a:lnTo>
                    <a:pt x="0" y="842403"/>
                  </a:lnTo>
                  <a:lnTo>
                    <a:pt x="0" y="53644"/>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696" name="Google Shape;696;p16"/>
          <p:cNvSpPr txBox="1"/>
          <p:nvPr/>
        </p:nvSpPr>
        <p:spPr>
          <a:xfrm>
            <a:off x="4724539" y="3943694"/>
            <a:ext cx="1710055" cy="504190"/>
          </a:xfrm>
          <a:prstGeom prst="rect">
            <a:avLst/>
          </a:prstGeom>
          <a:noFill/>
          <a:ln>
            <a:noFill/>
          </a:ln>
        </p:spPr>
        <p:txBody>
          <a:bodyPr anchorCtr="0" anchor="t" bIns="0" lIns="0" spcFirstLastPara="1" rIns="0" wrap="square" tIns="12700">
            <a:spAutoFit/>
          </a:bodyPr>
          <a:lstStyle/>
          <a:p>
            <a:pPr indent="0" lvl="0" marL="12700" rtl="0" algn="l">
              <a:lnSpc>
                <a:spcPct val="119565"/>
              </a:lnSpc>
              <a:spcBef>
                <a:spcPts val="0"/>
              </a:spcBef>
              <a:spcAft>
                <a:spcPts val="0"/>
              </a:spcAft>
              <a:buNone/>
            </a:pPr>
            <a:r>
              <a:rPr b="1" lang="en-US" sz="1150">
                <a:solidFill>
                  <a:srgbClr val="6C27D8"/>
                </a:solidFill>
                <a:latin typeface="Calibri"/>
                <a:ea typeface="Calibri"/>
                <a:cs typeface="Calibri"/>
                <a:sym typeface="Calibri"/>
              </a:rPr>
              <a:t>Truncated BPTT</a:t>
            </a:r>
            <a:endParaRPr sz="1150">
              <a:latin typeface="Calibri"/>
              <a:ea typeface="Calibri"/>
              <a:cs typeface="Calibri"/>
              <a:sym typeface="Calibri"/>
            </a:endParaRPr>
          </a:p>
          <a:p>
            <a:pPr indent="0" lvl="0" marL="12700" marR="5080" rtl="0" algn="l">
              <a:lnSpc>
                <a:spcPct val="119000"/>
              </a:lnSpc>
              <a:spcBef>
                <a:spcPts val="45"/>
              </a:spcBef>
              <a:spcAft>
                <a:spcPts val="0"/>
              </a:spcAft>
              <a:buNone/>
            </a:pPr>
            <a:r>
              <a:rPr lang="en-US" sz="1000">
                <a:solidFill>
                  <a:srgbClr val="1E2836"/>
                </a:solidFill>
                <a:latin typeface="Calibri"/>
                <a:ea typeface="Calibri"/>
                <a:cs typeface="Calibri"/>
                <a:sym typeface="Calibri"/>
              </a:rPr>
              <a:t>Backprop only k = 20 to 50 steps, not the whole history</a:t>
            </a:r>
            <a:endParaRPr sz="1000">
              <a:latin typeface="Calibri"/>
              <a:ea typeface="Calibri"/>
              <a:cs typeface="Calibri"/>
              <a:sym typeface="Calibri"/>
            </a:endParaRPr>
          </a:p>
        </p:txBody>
      </p:sp>
      <p:grpSp>
        <p:nvGrpSpPr>
          <p:cNvPr id="697" name="Google Shape;697;p16"/>
          <p:cNvGrpSpPr/>
          <p:nvPr/>
        </p:nvGrpSpPr>
        <p:grpSpPr>
          <a:xfrm>
            <a:off x="6767639" y="3886202"/>
            <a:ext cx="1965960" cy="896619"/>
            <a:chOff x="6767639" y="3886202"/>
            <a:chExt cx="1965960" cy="896619"/>
          </a:xfrm>
        </p:grpSpPr>
        <p:sp>
          <p:nvSpPr>
            <p:cNvPr id="698" name="Google Shape;698;p16"/>
            <p:cNvSpPr/>
            <p:nvPr/>
          </p:nvSpPr>
          <p:spPr>
            <a:xfrm>
              <a:off x="6767639" y="3886202"/>
              <a:ext cx="1965960" cy="896619"/>
            </a:xfrm>
            <a:custGeom>
              <a:rect b="b" l="l" r="r" t="t"/>
              <a:pathLst>
                <a:path extrusionOk="0" h="896620" w="1965959">
                  <a:moveTo>
                    <a:pt x="1911959" y="0"/>
                  </a:moveTo>
                  <a:lnTo>
                    <a:pt x="53644" y="0"/>
                  </a:lnTo>
                  <a:lnTo>
                    <a:pt x="46647" y="466"/>
                  </a:lnTo>
                  <a:lnTo>
                    <a:pt x="11101" y="20920"/>
                  </a:lnTo>
                  <a:lnTo>
                    <a:pt x="0" y="53644"/>
                  </a:lnTo>
                  <a:lnTo>
                    <a:pt x="0" y="842403"/>
                  </a:lnTo>
                  <a:lnTo>
                    <a:pt x="441" y="849038"/>
                  </a:lnTo>
                  <a:lnTo>
                    <a:pt x="466" y="849401"/>
                  </a:lnTo>
                  <a:lnTo>
                    <a:pt x="1778" y="855940"/>
                  </a:lnTo>
                  <a:lnTo>
                    <a:pt x="1843" y="856262"/>
                  </a:lnTo>
                  <a:lnTo>
                    <a:pt x="4025" y="862639"/>
                  </a:lnTo>
                  <a:lnTo>
                    <a:pt x="33040" y="891937"/>
                  </a:lnTo>
                  <a:lnTo>
                    <a:pt x="47195" y="895680"/>
                  </a:lnTo>
                  <a:lnTo>
                    <a:pt x="48302" y="895680"/>
                  </a:lnTo>
                  <a:lnTo>
                    <a:pt x="53644" y="896035"/>
                  </a:lnTo>
                  <a:lnTo>
                    <a:pt x="1912315" y="895680"/>
                  </a:lnTo>
                  <a:lnTo>
                    <a:pt x="1950211" y="879976"/>
                  </a:lnTo>
                  <a:lnTo>
                    <a:pt x="1961757" y="862852"/>
                  </a:lnTo>
                  <a:lnTo>
                    <a:pt x="1961861" y="862639"/>
                  </a:lnTo>
                  <a:lnTo>
                    <a:pt x="1964008" y="856262"/>
                  </a:lnTo>
                  <a:lnTo>
                    <a:pt x="1964116" y="855940"/>
                  </a:lnTo>
                  <a:lnTo>
                    <a:pt x="1965421" y="849401"/>
                  </a:lnTo>
                  <a:lnTo>
                    <a:pt x="1965493" y="849038"/>
                  </a:lnTo>
                  <a:lnTo>
                    <a:pt x="1965935" y="842403"/>
                  </a:lnTo>
                  <a:lnTo>
                    <a:pt x="1965959" y="842035"/>
                  </a:lnTo>
                  <a:lnTo>
                    <a:pt x="1965604" y="53644"/>
                  </a:lnTo>
                  <a:lnTo>
                    <a:pt x="1949896" y="15748"/>
                  </a:lnTo>
                  <a:lnTo>
                    <a:pt x="1918962" y="466"/>
                  </a:lnTo>
                  <a:lnTo>
                    <a:pt x="191195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99" name="Google Shape;699;p16"/>
            <p:cNvSpPr/>
            <p:nvPr/>
          </p:nvSpPr>
          <p:spPr>
            <a:xfrm>
              <a:off x="6767639" y="3886202"/>
              <a:ext cx="1965960" cy="896619"/>
            </a:xfrm>
            <a:custGeom>
              <a:rect b="b" l="l" r="r" t="t"/>
              <a:pathLst>
                <a:path extrusionOk="0" h="896620" w="1965959">
                  <a:moveTo>
                    <a:pt x="0" y="53644"/>
                  </a:moveTo>
                  <a:lnTo>
                    <a:pt x="466" y="46641"/>
                  </a:lnTo>
                  <a:lnTo>
                    <a:pt x="1843" y="39739"/>
                  </a:lnTo>
                  <a:lnTo>
                    <a:pt x="27000" y="7200"/>
                  </a:lnTo>
                  <a:lnTo>
                    <a:pt x="53644" y="0"/>
                  </a:lnTo>
                  <a:lnTo>
                    <a:pt x="1911959" y="0"/>
                  </a:lnTo>
                  <a:lnTo>
                    <a:pt x="1949896" y="15748"/>
                  </a:lnTo>
                  <a:lnTo>
                    <a:pt x="1965604" y="53644"/>
                  </a:lnTo>
                  <a:lnTo>
                    <a:pt x="1965959" y="842035"/>
                  </a:lnTo>
                  <a:lnTo>
                    <a:pt x="1965493" y="849038"/>
                  </a:lnTo>
                  <a:lnTo>
                    <a:pt x="1964116" y="855940"/>
                  </a:lnTo>
                  <a:lnTo>
                    <a:pt x="1938959" y="888479"/>
                  </a:lnTo>
                  <a:lnTo>
                    <a:pt x="53644" y="896035"/>
                  </a:lnTo>
                  <a:lnTo>
                    <a:pt x="15703" y="880287"/>
                  </a:lnTo>
                  <a:lnTo>
                    <a:pt x="0" y="842403"/>
                  </a:lnTo>
                  <a:lnTo>
                    <a:pt x="0" y="53644"/>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00" name="Google Shape;700;p16"/>
          <p:cNvSpPr txBox="1"/>
          <p:nvPr/>
        </p:nvSpPr>
        <p:spPr>
          <a:xfrm>
            <a:off x="6843496" y="3943694"/>
            <a:ext cx="1497965" cy="504190"/>
          </a:xfrm>
          <a:prstGeom prst="rect">
            <a:avLst/>
          </a:prstGeom>
          <a:noFill/>
          <a:ln>
            <a:noFill/>
          </a:ln>
        </p:spPr>
        <p:txBody>
          <a:bodyPr anchorCtr="0" anchor="t" bIns="0" lIns="0" spcFirstLastPara="1" rIns="0" wrap="square" tIns="12700">
            <a:spAutoFit/>
          </a:bodyPr>
          <a:lstStyle/>
          <a:p>
            <a:pPr indent="0" lvl="0" marL="12700" rtl="0" algn="l">
              <a:lnSpc>
                <a:spcPct val="119565"/>
              </a:lnSpc>
              <a:spcBef>
                <a:spcPts val="0"/>
              </a:spcBef>
              <a:spcAft>
                <a:spcPts val="0"/>
              </a:spcAft>
              <a:buNone/>
            </a:pPr>
            <a:r>
              <a:rPr b="1" lang="en-US" sz="1150">
                <a:solidFill>
                  <a:srgbClr val="C1400B"/>
                </a:solidFill>
                <a:latin typeface="Calibri"/>
                <a:ea typeface="Calibri"/>
                <a:cs typeface="Calibri"/>
                <a:sym typeface="Calibri"/>
              </a:rPr>
              <a:t>Good initialisation</a:t>
            </a:r>
            <a:endParaRPr sz="1150">
              <a:latin typeface="Calibri"/>
              <a:ea typeface="Calibri"/>
              <a:cs typeface="Calibri"/>
              <a:sym typeface="Calibri"/>
            </a:endParaRPr>
          </a:p>
          <a:p>
            <a:pPr indent="0" lvl="0" marL="12700" marR="5080" rtl="0" algn="l">
              <a:lnSpc>
                <a:spcPct val="119000"/>
              </a:lnSpc>
              <a:spcBef>
                <a:spcPts val="45"/>
              </a:spcBef>
              <a:spcAft>
                <a:spcPts val="0"/>
              </a:spcAft>
              <a:buNone/>
            </a:pPr>
            <a:r>
              <a:rPr lang="en-US" sz="1000">
                <a:solidFill>
                  <a:srgbClr val="1E2836"/>
                </a:solidFill>
                <a:latin typeface="Calibri"/>
                <a:ea typeface="Calibri"/>
                <a:cs typeface="Calibri"/>
                <a:sym typeface="Calibri"/>
              </a:rPr>
              <a:t>Start weights so the per-step factor is close to 1</a:t>
            </a:r>
            <a:endParaRPr sz="1000">
              <a:latin typeface="Calibri"/>
              <a:ea typeface="Calibri"/>
              <a:cs typeface="Calibri"/>
              <a:sym typeface="Calibri"/>
            </a:endParaRPr>
          </a:p>
        </p:txBody>
      </p:sp>
      <p:sp>
        <p:nvSpPr>
          <p:cNvPr id="701" name="Google Shape;701;p16"/>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17"/>
          <p:cNvSpPr txBox="1"/>
          <p:nvPr>
            <p:ph type="title"/>
          </p:nvPr>
        </p:nvSpPr>
        <p:spPr>
          <a:xfrm>
            <a:off x="152184" y="63260"/>
            <a:ext cx="8839631" cy="87947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707" name="Google Shape;707;p17"/>
          <p:cNvSpPr txBox="1"/>
          <p:nvPr>
            <p:ph idx="1" type="body"/>
          </p:nvPr>
        </p:nvSpPr>
        <p:spPr>
          <a:xfrm>
            <a:off x="210858" y="845542"/>
            <a:ext cx="6769100" cy="142049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descr="C:\Users\user\Downloads\slide17_preview.png" id="708" name="Google Shape;708;p17"/>
          <p:cNvPicPr preferRelativeResize="0"/>
          <p:nvPr/>
        </p:nvPicPr>
        <p:blipFill rotWithShape="1">
          <a:blip r:embed="rId3">
            <a:alphaModFix/>
          </a:blip>
          <a:srcRect b="0" l="0" r="0" t="0"/>
          <a:stretch/>
        </p:blipFill>
        <p:spPr>
          <a:xfrm>
            <a:off x="0" y="-1588"/>
            <a:ext cx="9144000" cy="515461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descr="$PPTXTitle" id="713" name="Google Shape;713;p18"/>
          <p:cNvSpPr txBox="1"/>
          <p:nvPr>
            <p:ph type="title"/>
          </p:nvPr>
        </p:nvSpPr>
        <p:spPr>
          <a:xfrm>
            <a:off x="1404264" y="201868"/>
            <a:ext cx="5235575" cy="3917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LSTM in Real Life: The Topper's Notebook</a:t>
            </a:r>
            <a:endParaRPr/>
          </a:p>
        </p:txBody>
      </p:sp>
      <p:pic>
        <p:nvPicPr>
          <p:cNvPr id="714" name="Google Shape;714;p18"/>
          <p:cNvPicPr preferRelativeResize="0"/>
          <p:nvPr/>
        </p:nvPicPr>
        <p:blipFill rotWithShape="1">
          <a:blip r:embed="rId3">
            <a:alphaModFix/>
          </a:blip>
          <a:srcRect b="0" l="0" r="0" t="0"/>
          <a:stretch/>
        </p:blipFill>
        <p:spPr>
          <a:xfrm>
            <a:off x="8369274" y="14"/>
            <a:ext cx="774357" cy="866508"/>
          </a:xfrm>
          <a:prstGeom prst="rect">
            <a:avLst/>
          </a:prstGeom>
          <a:noFill/>
          <a:ln>
            <a:noFill/>
          </a:ln>
        </p:spPr>
      </p:pic>
      <p:sp>
        <p:nvSpPr>
          <p:cNvPr id="715" name="Google Shape;715;p18"/>
          <p:cNvSpPr/>
          <p:nvPr/>
        </p:nvSpPr>
        <p:spPr>
          <a:xfrm>
            <a:off x="411124" y="1023837"/>
            <a:ext cx="8321040" cy="457200"/>
          </a:xfrm>
          <a:custGeom>
            <a:rect b="b" l="l" r="r" t="t"/>
            <a:pathLst>
              <a:path extrusionOk="0" h="457200" w="8321040">
                <a:moveTo>
                  <a:pt x="8183880" y="0"/>
                </a:moveTo>
                <a:lnTo>
                  <a:pt x="137159" y="0"/>
                </a:lnTo>
                <a:lnTo>
                  <a:pt x="119172" y="1199"/>
                </a:lnTo>
                <a:lnTo>
                  <a:pt x="68389" y="18364"/>
                </a:lnTo>
                <a:lnTo>
                  <a:pt x="28300" y="53745"/>
                </a:lnTo>
                <a:lnTo>
                  <a:pt x="4722" y="101611"/>
                </a:lnTo>
                <a:lnTo>
                  <a:pt x="0" y="137160"/>
                </a:lnTo>
                <a:lnTo>
                  <a:pt x="0" y="320039"/>
                </a:lnTo>
                <a:lnTo>
                  <a:pt x="10474" y="372489"/>
                </a:lnTo>
                <a:lnTo>
                  <a:pt x="40136" y="417017"/>
                </a:lnTo>
                <a:lnTo>
                  <a:pt x="84555" y="446725"/>
                </a:lnTo>
                <a:lnTo>
                  <a:pt x="137159" y="457200"/>
                </a:lnTo>
                <a:lnTo>
                  <a:pt x="8183880" y="457200"/>
                </a:lnTo>
                <a:lnTo>
                  <a:pt x="8236322" y="446725"/>
                </a:lnTo>
                <a:lnTo>
                  <a:pt x="8280854" y="417017"/>
                </a:lnTo>
                <a:lnTo>
                  <a:pt x="8310554" y="372489"/>
                </a:lnTo>
                <a:lnTo>
                  <a:pt x="8321040" y="320039"/>
                </a:lnTo>
                <a:lnTo>
                  <a:pt x="8321040" y="137160"/>
                </a:lnTo>
                <a:lnTo>
                  <a:pt x="8310554" y="84712"/>
                </a:lnTo>
                <a:lnTo>
                  <a:pt x="8280854" y="40184"/>
                </a:lnTo>
                <a:lnTo>
                  <a:pt x="8236322" y="10485"/>
                </a:lnTo>
                <a:lnTo>
                  <a:pt x="8183880" y="0"/>
                </a:lnTo>
                <a:close/>
              </a:path>
            </a:pathLst>
          </a:custGeom>
          <a:solidFill>
            <a:srgbClr val="E5F3F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16" name="Google Shape;716;p18"/>
          <p:cNvSpPr txBox="1"/>
          <p:nvPr/>
        </p:nvSpPr>
        <p:spPr>
          <a:xfrm>
            <a:off x="566534" y="674181"/>
            <a:ext cx="6696075" cy="681990"/>
          </a:xfrm>
          <a:prstGeom prst="rect">
            <a:avLst/>
          </a:prstGeom>
          <a:noFill/>
          <a:ln>
            <a:noFill/>
          </a:ln>
        </p:spPr>
        <p:txBody>
          <a:bodyPr anchorCtr="0" anchor="t" bIns="0" lIns="0" spcFirstLastPara="1" rIns="0" wrap="square" tIns="12700">
            <a:spAutoFit/>
          </a:bodyPr>
          <a:lstStyle/>
          <a:p>
            <a:pPr indent="0" lvl="0" marL="218440" rtl="0" algn="ctr">
              <a:lnSpc>
                <a:spcPct val="100000"/>
              </a:lnSpc>
              <a:spcBef>
                <a:spcPts val="0"/>
              </a:spcBef>
              <a:spcAft>
                <a:spcPts val="0"/>
              </a:spcAft>
              <a:buNone/>
            </a:pPr>
            <a:r>
              <a:rPr i="1" lang="en-US" sz="1300">
                <a:solidFill>
                  <a:srgbClr val="0E756D"/>
                </a:solidFill>
                <a:latin typeface="Cambria"/>
                <a:ea typeface="Cambria"/>
                <a:cs typeface="Cambria"/>
                <a:sym typeface="Cambria"/>
              </a:rPr>
              <a:t>Three gates decide what to erase, what to write, and what to say</a:t>
            </a:r>
            <a:endParaRPr sz="1300">
              <a:latin typeface="Cambria"/>
              <a:ea typeface="Cambria"/>
              <a:cs typeface="Cambria"/>
              <a:sym typeface="Cambria"/>
            </a:endParaRPr>
          </a:p>
          <a:p>
            <a:pPr indent="0" lvl="0" marL="0" rtl="0" algn="l">
              <a:lnSpc>
                <a:spcPct val="100000"/>
              </a:lnSpc>
              <a:spcBef>
                <a:spcPts val="645"/>
              </a:spcBef>
              <a:spcAft>
                <a:spcPts val="0"/>
              </a:spcAft>
              <a:buNone/>
            </a:pPr>
            <a:r>
              <a:t/>
            </a:r>
            <a:endParaRPr sz="1300">
              <a:latin typeface="Cambria"/>
              <a:ea typeface="Cambria"/>
              <a:cs typeface="Cambria"/>
              <a:sym typeface="Cambria"/>
            </a:endParaRPr>
          </a:p>
          <a:p>
            <a:pPr indent="0" lvl="0" marL="12700" rtl="0" algn="l">
              <a:lnSpc>
                <a:spcPct val="100000"/>
              </a:lnSpc>
              <a:spcBef>
                <a:spcPts val="0"/>
              </a:spcBef>
              <a:spcAft>
                <a:spcPts val="0"/>
              </a:spcAft>
              <a:buNone/>
            </a:pPr>
            <a:r>
              <a:rPr b="1" lang="en-US" sz="1200">
                <a:solidFill>
                  <a:srgbClr val="0E756D"/>
                </a:solidFill>
                <a:latin typeface="Calibri"/>
                <a:ea typeface="Calibri"/>
                <a:cs typeface="Calibri"/>
                <a:sym typeface="Calibri"/>
              </a:rPr>
              <a:t>Cell state C</a:t>
            </a:r>
            <a:r>
              <a:rPr lang="en-US" sz="1200">
                <a:solidFill>
                  <a:srgbClr val="0E756D"/>
                </a:solidFill>
                <a:latin typeface="Quattrocento Sans"/>
                <a:ea typeface="Quattrocento Sans"/>
                <a:cs typeface="Quattrocento Sans"/>
                <a:sym typeface="Quattrocento Sans"/>
              </a:rPr>
              <a:t>ₜ </a:t>
            </a:r>
            <a:r>
              <a:rPr lang="en-US" sz="1200">
                <a:solidFill>
                  <a:srgbClr val="1E2836"/>
                </a:solidFill>
                <a:latin typeface="Calibri"/>
                <a:ea typeface="Calibri"/>
                <a:cs typeface="Calibri"/>
                <a:sym typeface="Calibri"/>
              </a:rPr>
              <a:t>= the notebook you carry all semester. It travels forward almost untouched, like a conveyor belt.</a:t>
            </a:r>
            <a:endParaRPr sz="1200">
              <a:latin typeface="Calibri"/>
              <a:ea typeface="Calibri"/>
              <a:cs typeface="Calibri"/>
              <a:sym typeface="Calibri"/>
            </a:endParaRPr>
          </a:p>
        </p:txBody>
      </p:sp>
      <p:grpSp>
        <p:nvGrpSpPr>
          <p:cNvPr id="717" name="Google Shape;717;p18"/>
          <p:cNvGrpSpPr/>
          <p:nvPr/>
        </p:nvGrpSpPr>
        <p:grpSpPr>
          <a:xfrm>
            <a:off x="353885" y="1607377"/>
            <a:ext cx="2765882" cy="2125827"/>
            <a:chOff x="353885" y="1607377"/>
            <a:chExt cx="2765882" cy="2125827"/>
          </a:xfrm>
        </p:grpSpPr>
        <p:pic>
          <p:nvPicPr>
            <p:cNvPr id="718" name="Google Shape;718;p18"/>
            <p:cNvPicPr preferRelativeResize="0"/>
            <p:nvPr/>
          </p:nvPicPr>
          <p:blipFill rotWithShape="1">
            <a:blip r:embed="rId4">
              <a:alphaModFix/>
            </a:blip>
            <a:srcRect b="0" l="0" r="0" t="0"/>
            <a:stretch/>
          </p:blipFill>
          <p:spPr>
            <a:xfrm>
              <a:off x="353885" y="1607377"/>
              <a:ext cx="2765882" cy="2125827"/>
            </a:xfrm>
            <a:prstGeom prst="rect">
              <a:avLst/>
            </a:prstGeom>
            <a:noFill/>
            <a:ln>
              <a:noFill/>
            </a:ln>
          </p:spPr>
        </p:pic>
        <p:sp>
          <p:nvSpPr>
            <p:cNvPr id="719" name="Google Shape;719;p18"/>
            <p:cNvSpPr/>
            <p:nvPr/>
          </p:nvSpPr>
          <p:spPr>
            <a:xfrm>
              <a:off x="411124" y="1645566"/>
              <a:ext cx="2651760" cy="2011680"/>
            </a:xfrm>
            <a:custGeom>
              <a:rect b="b" l="l" r="r" t="t"/>
              <a:pathLst>
                <a:path extrusionOk="0" h="2011679" w="2651760">
                  <a:moveTo>
                    <a:pt x="2530792" y="0"/>
                  </a:moveTo>
                  <a:lnTo>
                    <a:pt x="120599" y="0"/>
                  </a:lnTo>
                  <a:lnTo>
                    <a:pt x="104824" y="1012"/>
                  </a:lnTo>
                  <a:lnTo>
                    <a:pt x="60477" y="16192"/>
                  </a:lnTo>
                  <a:lnTo>
                    <a:pt x="24933" y="46978"/>
                  </a:lnTo>
                  <a:lnTo>
                    <a:pt x="4048" y="89274"/>
                  </a:lnTo>
                  <a:lnTo>
                    <a:pt x="0" y="120599"/>
                  </a:lnTo>
                  <a:lnTo>
                    <a:pt x="0" y="1891080"/>
                  </a:lnTo>
                  <a:lnTo>
                    <a:pt x="992" y="1906545"/>
                  </a:lnTo>
                  <a:lnTo>
                    <a:pt x="1012" y="1906850"/>
                  </a:lnTo>
                  <a:lnTo>
                    <a:pt x="16192" y="1951189"/>
                  </a:lnTo>
                  <a:lnTo>
                    <a:pt x="46978" y="1986733"/>
                  </a:lnTo>
                  <a:lnTo>
                    <a:pt x="89274" y="2007625"/>
                  </a:lnTo>
                  <a:lnTo>
                    <a:pt x="120599" y="2011680"/>
                  </a:lnTo>
                  <a:lnTo>
                    <a:pt x="2531160" y="2011311"/>
                  </a:lnTo>
                  <a:lnTo>
                    <a:pt x="2577121" y="2002203"/>
                  </a:lnTo>
                  <a:lnTo>
                    <a:pt x="2616384" y="1976126"/>
                  </a:lnTo>
                  <a:lnTo>
                    <a:pt x="2642613" y="1937041"/>
                  </a:lnTo>
                  <a:lnTo>
                    <a:pt x="2650686" y="1906850"/>
                  </a:lnTo>
                  <a:lnTo>
                    <a:pt x="2650745" y="1906545"/>
                  </a:lnTo>
                  <a:lnTo>
                    <a:pt x="2651736" y="1891080"/>
                  </a:lnTo>
                  <a:lnTo>
                    <a:pt x="2651760" y="1890712"/>
                  </a:lnTo>
                  <a:lnTo>
                    <a:pt x="2651391" y="120599"/>
                  </a:lnTo>
                  <a:lnTo>
                    <a:pt x="2642283" y="74630"/>
                  </a:lnTo>
                  <a:lnTo>
                    <a:pt x="2616206" y="35363"/>
                  </a:lnTo>
                  <a:lnTo>
                    <a:pt x="2577066" y="9108"/>
                  </a:lnTo>
                  <a:lnTo>
                    <a:pt x="2546625" y="1012"/>
                  </a:lnTo>
                  <a:lnTo>
                    <a:pt x="253079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20" name="Google Shape;720;p18"/>
            <p:cNvSpPr/>
            <p:nvPr/>
          </p:nvSpPr>
          <p:spPr>
            <a:xfrm>
              <a:off x="411124" y="1645566"/>
              <a:ext cx="2651760" cy="2011680"/>
            </a:xfrm>
            <a:custGeom>
              <a:rect b="b" l="l" r="r" t="t"/>
              <a:pathLst>
                <a:path extrusionOk="0" h="2011679" w="2651760">
                  <a:moveTo>
                    <a:pt x="0" y="120599"/>
                  </a:moveTo>
                  <a:lnTo>
                    <a:pt x="1012" y="104766"/>
                  </a:lnTo>
                  <a:lnTo>
                    <a:pt x="4048" y="89274"/>
                  </a:lnTo>
                  <a:lnTo>
                    <a:pt x="24933" y="46978"/>
                  </a:lnTo>
                  <a:lnTo>
                    <a:pt x="60477" y="16192"/>
                  </a:lnTo>
                  <a:lnTo>
                    <a:pt x="104824" y="1012"/>
                  </a:lnTo>
                  <a:lnTo>
                    <a:pt x="120599" y="0"/>
                  </a:lnTo>
                  <a:lnTo>
                    <a:pt x="2530792" y="0"/>
                  </a:lnTo>
                  <a:lnTo>
                    <a:pt x="2577066" y="9108"/>
                  </a:lnTo>
                  <a:lnTo>
                    <a:pt x="2616206" y="35363"/>
                  </a:lnTo>
                  <a:lnTo>
                    <a:pt x="2642283" y="74630"/>
                  </a:lnTo>
                  <a:lnTo>
                    <a:pt x="2651391" y="120599"/>
                  </a:lnTo>
                  <a:lnTo>
                    <a:pt x="2651760" y="1890712"/>
                  </a:lnTo>
                  <a:lnTo>
                    <a:pt x="2650745" y="1906545"/>
                  </a:lnTo>
                  <a:lnTo>
                    <a:pt x="2647705" y="1922037"/>
                  </a:lnTo>
                  <a:lnTo>
                    <a:pt x="2626813" y="1964333"/>
                  </a:lnTo>
                  <a:lnTo>
                    <a:pt x="2591269" y="1995119"/>
                  </a:lnTo>
                  <a:lnTo>
                    <a:pt x="2546930" y="2010299"/>
                  </a:lnTo>
                  <a:lnTo>
                    <a:pt x="120599" y="2011680"/>
                  </a:lnTo>
                  <a:lnTo>
                    <a:pt x="74325" y="2002561"/>
                  </a:lnTo>
                  <a:lnTo>
                    <a:pt x="35185" y="1976304"/>
                  </a:lnTo>
                  <a:lnTo>
                    <a:pt x="9108" y="1937041"/>
                  </a:lnTo>
                  <a:lnTo>
                    <a:pt x="0" y="1891080"/>
                  </a:lnTo>
                  <a:lnTo>
                    <a:pt x="0" y="120599"/>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21" name="Google Shape;721;p18"/>
            <p:cNvSpPr/>
            <p:nvPr/>
          </p:nvSpPr>
          <p:spPr>
            <a:xfrm>
              <a:off x="548639" y="1783082"/>
              <a:ext cx="502920" cy="502920"/>
            </a:xfrm>
            <a:custGeom>
              <a:rect b="b" l="l" r="r" t="t"/>
              <a:pathLst>
                <a:path extrusionOk="0" h="502919" w="502919">
                  <a:moveTo>
                    <a:pt x="251637" y="0"/>
                  </a:moveTo>
                  <a:lnTo>
                    <a:pt x="186348" y="8504"/>
                  </a:lnTo>
                  <a:lnTo>
                    <a:pt x="125641" y="33477"/>
                  </a:lnTo>
                  <a:lnTo>
                    <a:pt x="73666" y="73482"/>
                  </a:lnTo>
                  <a:lnTo>
                    <a:pt x="33845" y="125641"/>
                  </a:lnTo>
                  <a:lnTo>
                    <a:pt x="8550" y="186166"/>
                  </a:lnTo>
                  <a:lnTo>
                    <a:pt x="0" y="251282"/>
                  </a:lnTo>
                  <a:lnTo>
                    <a:pt x="2148" y="284224"/>
                  </a:lnTo>
                  <a:lnTo>
                    <a:pt x="19138" y="347417"/>
                  </a:lnTo>
                  <a:lnTo>
                    <a:pt x="52085" y="404328"/>
                  </a:lnTo>
                  <a:lnTo>
                    <a:pt x="98285" y="450777"/>
                  </a:lnTo>
                  <a:lnTo>
                    <a:pt x="155202" y="483576"/>
                  </a:lnTo>
                  <a:lnTo>
                    <a:pt x="218640" y="500421"/>
                  </a:lnTo>
                  <a:lnTo>
                    <a:pt x="251637" y="502564"/>
                  </a:lnTo>
                  <a:lnTo>
                    <a:pt x="284429" y="500421"/>
                  </a:lnTo>
                  <a:lnTo>
                    <a:pt x="347723" y="483576"/>
                  </a:lnTo>
                  <a:lnTo>
                    <a:pt x="404634" y="450777"/>
                  </a:lnTo>
                  <a:lnTo>
                    <a:pt x="450834" y="404328"/>
                  </a:lnTo>
                  <a:lnTo>
                    <a:pt x="483781" y="347417"/>
                  </a:lnTo>
                  <a:lnTo>
                    <a:pt x="500771" y="284224"/>
                  </a:lnTo>
                  <a:lnTo>
                    <a:pt x="502919" y="251282"/>
                  </a:lnTo>
                  <a:lnTo>
                    <a:pt x="500771" y="218334"/>
                  </a:lnTo>
                  <a:lnTo>
                    <a:pt x="483781" y="155145"/>
                  </a:lnTo>
                  <a:lnTo>
                    <a:pt x="450834" y="98228"/>
                  </a:lnTo>
                  <a:lnTo>
                    <a:pt x="404634" y="51774"/>
                  </a:lnTo>
                  <a:lnTo>
                    <a:pt x="347723" y="18982"/>
                  </a:lnTo>
                  <a:lnTo>
                    <a:pt x="284429" y="2142"/>
                  </a:lnTo>
                  <a:lnTo>
                    <a:pt x="251637" y="0"/>
                  </a:lnTo>
                  <a:close/>
                </a:path>
              </a:pathLst>
            </a:custGeom>
            <a:solidFill>
              <a:srgbClr val="C1400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22" name="Google Shape;722;p18"/>
          <p:cNvSpPr txBox="1"/>
          <p:nvPr/>
        </p:nvSpPr>
        <p:spPr>
          <a:xfrm>
            <a:off x="731773" y="1907186"/>
            <a:ext cx="137795" cy="254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500">
                <a:solidFill>
                  <a:srgbClr val="FFFFFF"/>
                </a:solidFill>
                <a:latin typeface="Calibri"/>
                <a:ea typeface="Calibri"/>
                <a:cs typeface="Calibri"/>
                <a:sym typeface="Calibri"/>
              </a:rPr>
              <a:t>f</a:t>
            </a:r>
            <a:r>
              <a:rPr lang="en-US" sz="1500">
                <a:solidFill>
                  <a:srgbClr val="FFFFFF"/>
                </a:solidFill>
                <a:latin typeface="Quattrocento Sans"/>
                <a:ea typeface="Quattrocento Sans"/>
                <a:cs typeface="Quattrocento Sans"/>
                <a:sym typeface="Quattrocento Sans"/>
              </a:rPr>
              <a:t>ₜ</a:t>
            </a:r>
            <a:endParaRPr sz="1500">
              <a:latin typeface="Quattrocento Sans"/>
              <a:ea typeface="Quattrocento Sans"/>
              <a:cs typeface="Quattrocento Sans"/>
              <a:sym typeface="Quattrocento Sans"/>
            </a:endParaRPr>
          </a:p>
        </p:txBody>
      </p:sp>
      <p:sp>
        <p:nvSpPr>
          <p:cNvPr id="723" name="Google Shape;723;p18"/>
          <p:cNvSpPr txBox="1"/>
          <p:nvPr/>
        </p:nvSpPr>
        <p:spPr>
          <a:xfrm>
            <a:off x="1130300" y="1687941"/>
            <a:ext cx="1271270" cy="557530"/>
          </a:xfrm>
          <a:prstGeom prst="rect">
            <a:avLst/>
          </a:prstGeom>
          <a:noFill/>
          <a:ln>
            <a:noFill/>
          </a:ln>
        </p:spPr>
        <p:txBody>
          <a:bodyPr anchorCtr="0" anchor="t" bIns="0" lIns="0" spcFirstLastPara="1" rIns="0" wrap="square" tIns="93975">
            <a:spAutoFit/>
          </a:bodyPr>
          <a:lstStyle/>
          <a:p>
            <a:pPr indent="0" lvl="0" marL="12700" rtl="0" algn="l">
              <a:lnSpc>
                <a:spcPct val="100000"/>
              </a:lnSpc>
              <a:spcBef>
                <a:spcPts val="0"/>
              </a:spcBef>
              <a:spcAft>
                <a:spcPts val="0"/>
              </a:spcAft>
              <a:buNone/>
            </a:pPr>
            <a:r>
              <a:rPr b="1" lang="en-US" sz="1350">
                <a:solidFill>
                  <a:srgbClr val="0C1A29"/>
                </a:solidFill>
                <a:latin typeface="Calibri"/>
                <a:ea typeface="Calibri"/>
                <a:cs typeface="Calibri"/>
                <a:sym typeface="Calibri"/>
              </a:rPr>
              <a:t>Forget gate</a:t>
            </a:r>
            <a:endParaRPr sz="1350">
              <a:latin typeface="Calibri"/>
              <a:ea typeface="Calibri"/>
              <a:cs typeface="Calibri"/>
              <a:sym typeface="Calibri"/>
            </a:endParaRPr>
          </a:p>
          <a:p>
            <a:pPr indent="0" lvl="0" marL="12700" rtl="0" algn="l">
              <a:lnSpc>
                <a:spcPct val="100000"/>
              </a:lnSpc>
              <a:spcBef>
                <a:spcPts val="545"/>
              </a:spcBef>
              <a:spcAft>
                <a:spcPts val="0"/>
              </a:spcAft>
              <a:buNone/>
            </a:pPr>
            <a:r>
              <a:rPr i="1" lang="en-US" sz="1150">
                <a:solidFill>
                  <a:srgbClr val="C1400B"/>
                </a:solidFill>
                <a:latin typeface="Cambria"/>
                <a:ea typeface="Cambria"/>
                <a:cs typeface="Cambria"/>
                <a:sym typeface="Cambria"/>
              </a:rPr>
              <a:t>What should I erase?</a:t>
            </a:r>
            <a:endParaRPr sz="1150">
              <a:latin typeface="Cambria"/>
              <a:ea typeface="Cambria"/>
              <a:cs typeface="Cambria"/>
              <a:sym typeface="Cambria"/>
            </a:endParaRPr>
          </a:p>
        </p:txBody>
      </p:sp>
      <p:sp>
        <p:nvSpPr>
          <p:cNvPr id="724" name="Google Shape;724;p18"/>
          <p:cNvSpPr/>
          <p:nvPr/>
        </p:nvSpPr>
        <p:spPr>
          <a:xfrm>
            <a:off x="547916" y="2468526"/>
            <a:ext cx="2378075" cy="1052195"/>
          </a:xfrm>
          <a:custGeom>
            <a:rect b="b" l="l" r="r" t="t"/>
            <a:pathLst>
              <a:path extrusionOk="0" h="1052195" w="2378075">
                <a:moveTo>
                  <a:pt x="84607" y="0"/>
                </a:moveTo>
                <a:lnTo>
                  <a:pt x="42481" y="11518"/>
                </a:lnTo>
                <a:lnTo>
                  <a:pt x="11518" y="42113"/>
                </a:lnTo>
                <a:lnTo>
                  <a:pt x="368" y="84239"/>
                </a:lnTo>
                <a:lnTo>
                  <a:pt x="0" y="967676"/>
                </a:lnTo>
                <a:lnTo>
                  <a:pt x="737" y="978710"/>
                </a:lnTo>
                <a:lnTo>
                  <a:pt x="2898" y="989409"/>
                </a:lnTo>
                <a:lnTo>
                  <a:pt x="2925" y="989542"/>
                </a:lnTo>
                <a:lnTo>
                  <a:pt x="6479" y="999819"/>
                </a:lnTo>
                <a:lnTo>
                  <a:pt x="6531" y="999969"/>
                </a:lnTo>
                <a:lnTo>
                  <a:pt x="11518" y="1009789"/>
                </a:lnTo>
                <a:lnTo>
                  <a:pt x="42125" y="1040752"/>
                </a:lnTo>
                <a:lnTo>
                  <a:pt x="84239" y="1051915"/>
                </a:lnTo>
                <a:lnTo>
                  <a:pt x="2293569" y="1051915"/>
                </a:lnTo>
                <a:lnTo>
                  <a:pt x="2335682" y="1040396"/>
                </a:lnTo>
                <a:lnTo>
                  <a:pt x="2366645" y="1009789"/>
                </a:lnTo>
                <a:lnTo>
                  <a:pt x="2377808" y="967676"/>
                </a:lnTo>
                <a:lnTo>
                  <a:pt x="2377784" y="84239"/>
                </a:lnTo>
                <a:lnTo>
                  <a:pt x="2366289" y="42481"/>
                </a:lnTo>
                <a:lnTo>
                  <a:pt x="2335682" y="11518"/>
                </a:lnTo>
                <a:lnTo>
                  <a:pt x="2293569" y="355"/>
                </a:lnTo>
                <a:lnTo>
                  <a:pt x="84607" y="0"/>
                </a:lnTo>
                <a:close/>
              </a:path>
            </a:pathLst>
          </a:custGeom>
          <a:solidFill>
            <a:srgbClr val="FFF0E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25" name="Google Shape;725;p18"/>
          <p:cNvSpPr txBox="1"/>
          <p:nvPr/>
        </p:nvSpPr>
        <p:spPr>
          <a:xfrm>
            <a:off x="651497" y="2714296"/>
            <a:ext cx="1988185" cy="568960"/>
          </a:xfrm>
          <a:prstGeom prst="rect">
            <a:avLst/>
          </a:prstGeom>
          <a:noFill/>
          <a:ln>
            <a:noFill/>
          </a:ln>
        </p:spPr>
        <p:txBody>
          <a:bodyPr anchorCtr="0" anchor="t" bIns="0" lIns="0" spcFirstLastPara="1" rIns="0" wrap="square" tIns="3800">
            <a:spAutoFit/>
          </a:bodyPr>
          <a:lstStyle/>
          <a:p>
            <a:pPr indent="0" lvl="0" marL="12700" marR="5080" rtl="0" algn="l">
              <a:lnSpc>
                <a:spcPct val="105000"/>
              </a:lnSpc>
              <a:spcBef>
                <a:spcPts val="0"/>
              </a:spcBef>
              <a:spcAft>
                <a:spcPts val="0"/>
              </a:spcAft>
              <a:buNone/>
            </a:pPr>
            <a:r>
              <a:rPr lang="en-US" sz="1150">
                <a:solidFill>
                  <a:srgbClr val="1E2836"/>
                </a:solidFill>
                <a:latin typeface="Calibri"/>
                <a:ea typeface="Calibri"/>
                <a:cs typeface="Calibri"/>
                <a:sym typeface="Calibri"/>
              </a:rPr>
              <a:t>Mid-sems are over. Drop the formulas that will never be asked again.</a:t>
            </a:r>
            <a:endParaRPr sz="1150">
              <a:latin typeface="Calibri"/>
              <a:ea typeface="Calibri"/>
              <a:cs typeface="Calibri"/>
              <a:sym typeface="Calibri"/>
            </a:endParaRPr>
          </a:p>
        </p:txBody>
      </p:sp>
      <p:grpSp>
        <p:nvGrpSpPr>
          <p:cNvPr id="726" name="Google Shape;726;p18"/>
          <p:cNvGrpSpPr/>
          <p:nvPr/>
        </p:nvGrpSpPr>
        <p:grpSpPr>
          <a:xfrm>
            <a:off x="3188525" y="1607377"/>
            <a:ext cx="2766237" cy="2125827"/>
            <a:chOff x="3188525" y="1607377"/>
            <a:chExt cx="2766237" cy="2125827"/>
          </a:xfrm>
        </p:grpSpPr>
        <p:pic>
          <p:nvPicPr>
            <p:cNvPr id="727" name="Google Shape;727;p18"/>
            <p:cNvPicPr preferRelativeResize="0"/>
            <p:nvPr/>
          </p:nvPicPr>
          <p:blipFill rotWithShape="1">
            <a:blip r:embed="rId4">
              <a:alphaModFix/>
            </a:blip>
            <a:srcRect b="0" l="0" r="0" t="0"/>
            <a:stretch/>
          </p:blipFill>
          <p:spPr>
            <a:xfrm>
              <a:off x="3188525" y="1607377"/>
              <a:ext cx="2766237" cy="2125827"/>
            </a:xfrm>
            <a:prstGeom prst="rect">
              <a:avLst/>
            </a:prstGeom>
            <a:noFill/>
            <a:ln>
              <a:noFill/>
            </a:ln>
          </p:spPr>
        </p:pic>
        <p:sp>
          <p:nvSpPr>
            <p:cNvPr id="728" name="Google Shape;728;p18"/>
            <p:cNvSpPr/>
            <p:nvPr/>
          </p:nvSpPr>
          <p:spPr>
            <a:xfrm>
              <a:off x="3245764" y="1645566"/>
              <a:ext cx="2651760" cy="2011680"/>
            </a:xfrm>
            <a:custGeom>
              <a:rect b="b" l="l" r="r" t="t"/>
              <a:pathLst>
                <a:path extrusionOk="0" h="2011679" w="2651760">
                  <a:moveTo>
                    <a:pt x="2530792" y="0"/>
                  </a:moveTo>
                  <a:lnTo>
                    <a:pt x="120599" y="0"/>
                  </a:lnTo>
                  <a:lnTo>
                    <a:pt x="104824" y="1012"/>
                  </a:lnTo>
                  <a:lnTo>
                    <a:pt x="60477" y="16192"/>
                  </a:lnTo>
                  <a:lnTo>
                    <a:pt x="24933" y="46978"/>
                  </a:lnTo>
                  <a:lnTo>
                    <a:pt x="4048" y="89274"/>
                  </a:lnTo>
                  <a:lnTo>
                    <a:pt x="0" y="120599"/>
                  </a:lnTo>
                  <a:lnTo>
                    <a:pt x="0" y="1891080"/>
                  </a:lnTo>
                  <a:lnTo>
                    <a:pt x="9108" y="1937041"/>
                  </a:lnTo>
                  <a:lnTo>
                    <a:pt x="35185" y="1976304"/>
                  </a:lnTo>
                  <a:lnTo>
                    <a:pt x="74325" y="2002561"/>
                  </a:lnTo>
                  <a:lnTo>
                    <a:pt x="120599" y="2011680"/>
                  </a:lnTo>
                  <a:lnTo>
                    <a:pt x="2531160" y="2011311"/>
                  </a:lnTo>
                  <a:lnTo>
                    <a:pt x="2577121" y="2002203"/>
                  </a:lnTo>
                  <a:lnTo>
                    <a:pt x="2616384" y="1976126"/>
                  </a:lnTo>
                  <a:lnTo>
                    <a:pt x="2642613" y="1937041"/>
                  </a:lnTo>
                  <a:lnTo>
                    <a:pt x="2650686" y="1906850"/>
                  </a:lnTo>
                  <a:lnTo>
                    <a:pt x="2650745" y="1906545"/>
                  </a:lnTo>
                  <a:lnTo>
                    <a:pt x="2651736" y="1891080"/>
                  </a:lnTo>
                  <a:lnTo>
                    <a:pt x="2651760" y="1890712"/>
                  </a:lnTo>
                  <a:lnTo>
                    <a:pt x="2651391" y="120599"/>
                  </a:lnTo>
                  <a:lnTo>
                    <a:pt x="2642283" y="74630"/>
                  </a:lnTo>
                  <a:lnTo>
                    <a:pt x="2616206" y="35363"/>
                  </a:lnTo>
                  <a:lnTo>
                    <a:pt x="2577066" y="9108"/>
                  </a:lnTo>
                  <a:lnTo>
                    <a:pt x="2546625" y="1012"/>
                  </a:lnTo>
                  <a:lnTo>
                    <a:pt x="253079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29" name="Google Shape;729;p18"/>
            <p:cNvSpPr/>
            <p:nvPr/>
          </p:nvSpPr>
          <p:spPr>
            <a:xfrm>
              <a:off x="3245764" y="1645566"/>
              <a:ext cx="2651760" cy="2011680"/>
            </a:xfrm>
            <a:custGeom>
              <a:rect b="b" l="l" r="r" t="t"/>
              <a:pathLst>
                <a:path extrusionOk="0" h="2011679" w="2651760">
                  <a:moveTo>
                    <a:pt x="0" y="120599"/>
                  </a:moveTo>
                  <a:lnTo>
                    <a:pt x="1012" y="104766"/>
                  </a:lnTo>
                  <a:lnTo>
                    <a:pt x="4048" y="89274"/>
                  </a:lnTo>
                  <a:lnTo>
                    <a:pt x="24933" y="46978"/>
                  </a:lnTo>
                  <a:lnTo>
                    <a:pt x="60477" y="16192"/>
                  </a:lnTo>
                  <a:lnTo>
                    <a:pt x="104824" y="1012"/>
                  </a:lnTo>
                  <a:lnTo>
                    <a:pt x="120599" y="0"/>
                  </a:lnTo>
                  <a:lnTo>
                    <a:pt x="2530792" y="0"/>
                  </a:lnTo>
                  <a:lnTo>
                    <a:pt x="2577066" y="9108"/>
                  </a:lnTo>
                  <a:lnTo>
                    <a:pt x="2616206" y="35363"/>
                  </a:lnTo>
                  <a:lnTo>
                    <a:pt x="2642283" y="74630"/>
                  </a:lnTo>
                  <a:lnTo>
                    <a:pt x="2651391" y="120599"/>
                  </a:lnTo>
                  <a:lnTo>
                    <a:pt x="2651760" y="1890712"/>
                  </a:lnTo>
                  <a:lnTo>
                    <a:pt x="2650745" y="1906545"/>
                  </a:lnTo>
                  <a:lnTo>
                    <a:pt x="2647705" y="1922037"/>
                  </a:lnTo>
                  <a:lnTo>
                    <a:pt x="2626813" y="1964333"/>
                  </a:lnTo>
                  <a:lnTo>
                    <a:pt x="2591269" y="1995119"/>
                  </a:lnTo>
                  <a:lnTo>
                    <a:pt x="2546930" y="2010299"/>
                  </a:lnTo>
                  <a:lnTo>
                    <a:pt x="120599" y="2011680"/>
                  </a:lnTo>
                  <a:lnTo>
                    <a:pt x="74325" y="2002561"/>
                  </a:lnTo>
                  <a:lnTo>
                    <a:pt x="35185" y="1976304"/>
                  </a:lnTo>
                  <a:lnTo>
                    <a:pt x="9108" y="1937041"/>
                  </a:lnTo>
                  <a:lnTo>
                    <a:pt x="0" y="1891080"/>
                  </a:lnTo>
                  <a:lnTo>
                    <a:pt x="0" y="120599"/>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0" name="Google Shape;730;p18"/>
            <p:cNvSpPr/>
            <p:nvPr/>
          </p:nvSpPr>
          <p:spPr>
            <a:xfrm>
              <a:off x="3383280" y="1783082"/>
              <a:ext cx="502920" cy="502920"/>
            </a:xfrm>
            <a:custGeom>
              <a:rect b="b" l="l" r="r" t="t"/>
              <a:pathLst>
                <a:path extrusionOk="0" h="502919" w="502920">
                  <a:moveTo>
                    <a:pt x="251282" y="0"/>
                  </a:moveTo>
                  <a:lnTo>
                    <a:pt x="186304" y="8504"/>
                  </a:lnTo>
                  <a:lnTo>
                    <a:pt x="125641" y="33477"/>
                  </a:lnTo>
                  <a:lnTo>
                    <a:pt x="73666" y="73482"/>
                  </a:lnTo>
                  <a:lnTo>
                    <a:pt x="33845" y="125641"/>
                  </a:lnTo>
                  <a:lnTo>
                    <a:pt x="8550" y="186166"/>
                  </a:lnTo>
                  <a:lnTo>
                    <a:pt x="0" y="251282"/>
                  </a:lnTo>
                  <a:lnTo>
                    <a:pt x="2148" y="284224"/>
                  </a:lnTo>
                  <a:lnTo>
                    <a:pt x="19138" y="347417"/>
                  </a:lnTo>
                  <a:lnTo>
                    <a:pt x="52085" y="404328"/>
                  </a:lnTo>
                  <a:lnTo>
                    <a:pt x="98285" y="450777"/>
                  </a:lnTo>
                  <a:lnTo>
                    <a:pt x="155196" y="483576"/>
                  </a:lnTo>
                  <a:lnTo>
                    <a:pt x="218490" y="500421"/>
                  </a:lnTo>
                  <a:lnTo>
                    <a:pt x="251282" y="502564"/>
                  </a:lnTo>
                  <a:lnTo>
                    <a:pt x="284279" y="500421"/>
                  </a:lnTo>
                  <a:lnTo>
                    <a:pt x="347717" y="483576"/>
                  </a:lnTo>
                  <a:lnTo>
                    <a:pt x="404634" y="450777"/>
                  </a:lnTo>
                  <a:lnTo>
                    <a:pt x="450834" y="404328"/>
                  </a:lnTo>
                  <a:lnTo>
                    <a:pt x="483781" y="347417"/>
                  </a:lnTo>
                  <a:lnTo>
                    <a:pt x="500771" y="284224"/>
                  </a:lnTo>
                  <a:lnTo>
                    <a:pt x="502920" y="251282"/>
                  </a:lnTo>
                  <a:lnTo>
                    <a:pt x="500771" y="218334"/>
                  </a:lnTo>
                  <a:lnTo>
                    <a:pt x="483781" y="155145"/>
                  </a:lnTo>
                  <a:lnTo>
                    <a:pt x="450834" y="98228"/>
                  </a:lnTo>
                  <a:lnTo>
                    <a:pt x="404634" y="51774"/>
                  </a:lnTo>
                  <a:lnTo>
                    <a:pt x="347717" y="18982"/>
                  </a:lnTo>
                  <a:lnTo>
                    <a:pt x="284279" y="2142"/>
                  </a:lnTo>
                  <a:lnTo>
                    <a:pt x="251282" y="0"/>
                  </a:lnTo>
                  <a:close/>
                </a:path>
              </a:pathLst>
            </a:custGeom>
            <a:solidFill>
              <a:srgbClr val="147F3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31" name="Google Shape;731;p18"/>
          <p:cNvSpPr txBox="1"/>
          <p:nvPr/>
        </p:nvSpPr>
        <p:spPr>
          <a:xfrm>
            <a:off x="3573259" y="1907186"/>
            <a:ext cx="123825" cy="254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500">
                <a:solidFill>
                  <a:srgbClr val="FFFFFF"/>
                </a:solidFill>
                <a:latin typeface="Calibri"/>
                <a:ea typeface="Calibri"/>
                <a:cs typeface="Calibri"/>
                <a:sym typeface="Calibri"/>
              </a:rPr>
              <a:t>i</a:t>
            </a:r>
            <a:r>
              <a:rPr lang="en-US" sz="1500">
                <a:solidFill>
                  <a:srgbClr val="FFFFFF"/>
                </a:solidFill>
                <a:latin typeface="Quattrocento Sans"/>
                <a:ea typeface="Quattrocento Sans"/>
                <a:cs typeface="Quattrocento Sans"/>
                <a:sym typeface="Quattrocento Sans"/>
              </a:rPr>
              <a:t>ₜ</a:t>
            </a:r>
            <a:endParaRPr sz="1500">
              <a:latin typeface="Quattrocento Sans"/>
              <a:ea typeface="Quattrocento Sans"/>
              <a:cs typeface="Quattrocento Sans"/>
              <a:sym typeface="Quattrocento Sans"/>
            </a:endParaRPr>
          </a:p>
        </p:txBody>
      </p:sp>
      <p:sp>
        <p:nvSpPr>
          <p:cNvPr id="732" name="Google Shape;732;p18"/>
          <p:cNvSpPr txBox="1"/>
          <p:nvPr/>
        </p:nvSpPr>
        <p:spPr>
          <a:xfrm>
            <a:off x="3964940" y="1687941"/>
            <a:ext cx="1386205" cy="557530"/>
          </a:xfrm>
          <a:prstGeom prst="rect">
            <a:avLst/>
          </a:prstGeom>
          <a:noFill/>
          <a:ln>
            <a:noFill/>
          </a:ln>
        </p:spPr>
        <p:txBody>
          <a:bodyPr anchorCtr="0" anchor="t" bIns="0" lIns="0" spcFirstLastPara="1" rIns="0" wrap="square" tIns="93975">
            <a:spAutoFit/>
          </a:bodyPr>
          <a:lstStyle/>
          <a:p>
            <a:pPr indent="0" lvl="0" marL="12700" rtl="0" algn="l">
              <a:lnSpc>
                <a:spcPct val="100000"/>
              </a:lnSpc>
              <a:spcBef>
                <a:spcPts val="0"/>
              </a:spcBef>
              <a:spcAft>
                <a:spcPts val="0"/>
              </a:spcAft>
              <a:buNone/>
            </a:pPr>
            <a:r>
              <a:rPr b="1" lang="en-US" sz="1350">
                <a:solidFill>
                  <a:srgbClr val="0C1A29"/>
                </a:solidFill>
                <a:latin typeface="Calibri"/>
                <a:ea typeface="Calibri"/>
                <a:cs typeface="Calibri"/>
                <a:sym typeface="Calibri"/>
              </a:rPr>
              <a:t>Input gate</a:t>
            </a:r>
            <a:endParaRPr sz="1350">
              <a:latin typeface="Calibri"/>
              <a:ea typeface="Calibri"/>
              <a:cs typeface="Calibri"/>
              <a:sym typeface="Calibri"/>
            </a:endParaRPr>
          </a:p>
          <a:p>
            <a:pPr indent="0" lvl="0" marL="12700" rtl="0" algn="l">
              <a:lnSpc>
                <a:spcPct val="100000"/>
              </a:lnSpc>
              <a:spcBef>
                <a:spcPts val="545"/>
              </a:spcBef>
              <a:spcAft>
                <a:spcPts val="0"/>
              </a:spcAft>
              <a:buNone/>
            </a:pPr>
            <a:r>
              <a:rPr i="1" lang="en-US" sz="1150">
                <a:solidFill>
                  <a:srgbClr val="147F3C"/>
                </a:solidFill>
                <a:latin typeface="Cambria"/>
                <a:ea typeface="Cambria"/>
                <a:cs typeface="Cambria"/>
                <a:sym typeface="Cambria"/>
              </a:rPr>
              <a:t>What is worth writing?</a:t>
            </a:r>
            <a:endParaRPr sz="1150">
              <a:latin typeface="Cambria"/>
              <a:ea typeface="Cambria"/>
              <a:cs typeface="Cambria"/>
              <a:sym typeface="Cambria"/>
            </a:endParaRPr>
          </a:p>
        </p:txBody>
      </p:sp>
      <p:sp>
        <p:nvSpPr>
          <p:cNvPr id="733" name="Google Shape;733;p18"/>
          <p:cNvSpPr/>
          <p:nvPr/>
        </p:nvSpPr>
        <p:spPr>
          <a:xfrm>
            <a:off x="3382555" y="2468526"/>
            <a:ext cx="2378075" cy="1052195"/>
          </a:xfrm>
          <a:custGeom>
            <a:rect b="b" l="l" r="r" t="t"/>
            <a:pathLst>
              <a:path extrusionOk="0" h="1052195" w="2378075">
                <a:moveTo>
                  <a:pt x="84607" y="0"/>
                </a:moveTo>
                <a:lnTo>
                  <a:pt x="42481" y="11518"/>
                </a:lnTo>
                <a:lnTo>
                  <a:pt x="11518" y="42113"/>
                </a:lnTo>
                <a:lnTo>
                  <a:pt x="368" y="84239"/>
                </a:lnTo>
                <a:lnTo>
                  <a:pt x="0" y="967676"/>
                </a:lnTo>
                <a:lnTo>
                  <a:pt x="737" y="978710"/>
                </a:lnTo>
                <a:lnTo>
                  <a:pt x="17465" y="1018879"/>
                </a:lnTo>
                <a:lnTo>
                  <a:pt x="17567" y="1019035"/>
                </a:lnTo>
                <a:lnTo>
                  <a:pt x="52095" y="1045534"/>
                </a:lnTo>
                <a:lnTo>
                  <a:pt x="84239" y="1051915"/>
                </a:lnTo>
                <a:lnTo>
                  <a:pt x="2293569" y="1051915"/>
                </a:lnTo>
                <a:lnTo>
                  <a:pt x="2335682" y="1040396"/>
                </a:lnTo>
                <a:lnTo>
                  <a:pt x="2366644" y="1009789"/>
                </a:lnTo>
                <a:lnTo>
                  <a:pt x="2371355" y="999969"/>
                </a:lnTo>
                <a:lnTo>
                  <a:pt x="2371427" y="999819"/>
                </a:lnTo>
                <a:lnTo>
                  <a:pt x="2374882" y="989542"/>
                </a:lnTo>
                <a:lnTo>
                  <a:pt x="2374926" y="989409"/>
                </a:lnTo>
                <a:lnTo>
                  <a:pt x="2377066" y="978710"/>
                </a:lnTo>
                <a:lnTo>
                  <a:pt x="2377808" y="967676"/>
                </a:lnTo>
                <a:lnTo>
                  <a:pt x="2377784" y="84239"/>
                </a:lnTo>
                <a:lnTo>
                  <a:pt x="2377071" y="73560"/>
                </a:lnTo>
                <a:lnTo>
                  <a:pt x="2360240" y="33235"/>
                </a:lnTo>
                <a:lnTo>
                  <a:pt x="2325712" y="6736"/>
                </a:lnTo>
                <a:lnTo>
                  <a:pt x="2293569" y="355"/>
                </a:lnTo>
                <a:lnTo>
                  <a:pt x="84607" y="0"/>
                </a:lnTo>
                <a:close/>
              </a:path>
            </a:pathLst>
          </a:custGeom>
          <a:solidFill>
            <a:srgbClr val="E9F6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4" name="Google Shape;734;p18"/>
          <p:cNvSpPr txBox="1"/>
          <p:nvPr/>
        </p:nvSpPr>
        <p:spPr>
          <a:xfrm>
            <a:off x="3486137" y="2714296"/>
            <a:ext cx="2146300" cy="568960"/>
          </a:xfrm>
          <a:prstGeom prst="rect">
            <a:avLst/>
          </a:prstGeom>
          <a:noFill/>
          <a:ln>
            <a:noFill/>
          </a:ln>
        </p:spPr>
        <p:txBody>
          <a:bodyPr anchorCtr="0" anchor="t" bIns="0" lIns="0" spcFirstLastPara="1" rIns="0" wrap="square" tIns="3800">
            <a:spAutoFit/>
          </a:bodyPr>
          <a:lstStyle/>
          <a:p>
            <a:pPr indent="0" lvl="0" marL="12700" marR="5080" rtl="0" algn="l">
              <a:lnSpc>
                <a:spcPct val="105000"/>
              </a:lnSpc>
              <a:spcBef>
                <a:spcPts val="0"/>
              </a:spcBef>
              <a:spcAft>
                <a:spcPts val="0"/>
              </a:spcAft>
              <a:buNone/>
            </a:pPr>
            <a:r>
              <a:rPr lang="en-US" sz="1150">
                <a:solidFill>
                  <a:srgbClr val="1E2836"/>
                </a:solidFill>
                <a:latin typeface="Calibri"/>
                <a:ea typeface="Calibri"/>
                <a:cs typeface="Calibri"/>
                <a:sym typeface="Calibri"/>
              </a:rPr>
              <a:t>Use the highlighter only when the professor says "this will come in the exam".</a:t>
            </a:r>
            <a:endParaRPr sz="1150">
              <a:latin typeface="Calibri"/>
              <a:ea typeface="Calibri"/>
              <a:cs typeface="Calibri"/>
              <a:sym typeface="Calibri"/>
            </a:endParaRPr>
          </a:p>
        </p:txBody>
      </p:sp>
      <p:grpSp>
        <p:nvGrpSpPr>
          <p:cNvPr id="735" name="Google Shape;735;p18"/>
          <p:cNvGrpSpPr/>
          <p:nvPr/>
        </p:nvGrpSpPr>
        <p:grpSpPr>
          <a:xfrm>
            <a:off x="6023165" y="1607377"/>
            <a:ext cx="2766237" cy="2125827"/>
            <a:chOff x="6023165" y="1607377"/>
            <a:chExt cx="2766237" cy="2125827"/>
          </a:xfrm>
        </p:grpSpPr>
        <p:pic>
          <p:nvPicPr>
            <p:cNvPr id="736" name="Google Shape;736;p18"/>
            <p:cNvPicPr preferRelativeResize="0"/>
            <p:nvPr/>
          </p:nvPicPr>
          <p:blipFill rotWithShape="1">
            <a:blip r:embed="rId4">
              <a:alphaModFix/>
            </a:blip>
            <a:srcRect b="0" l="0" r="0" t="0"/>
            <a:stretch/>
          </p:blipFill>
          <p:spPr>
            <a:xfrm>
              <a:off x="6023165" y="1607377"/>
              <a:ext cx="2766237" cy="2125827"/>
            </a:xfrm>
            <a:prstGeom prst="rect">
              <a:avLst/>
            </a:prstGeom>
            <a:noFill/>
            <a:ln>
              <a:noFill/>
            </a:ln>
          </p:spPr>
        </p:pic>
        <p:sp>
          <p:nvSpPr>
            <p:cNvPr id="737" name="Google Shape;737;p18"/>
            <p:cNvSpPr/>
            <p:nvPr/>
          </p:nvSpPr>
          <p:spPr>
            <a:xfrm>
              <a:off x="6080404" y="1645566"/>
              <a:ext cx="2651760" cy="2011680"/>
            </a:xfrm>
            <a:custGeom>
              <a:rect b="b" l="l" r="r" t="t"/>
              <a:pathLst>
                <a:path extrusionOk="0" h="2011679" w="2651759">
                  <a:moveTo>
                    <a:pt x="2530792" y="0"/>
                  </a:moveTo>
                  <a:lnTo>
                    <a:pt x="120599" y="0"/>
                  </a:lnTo>
                  <a:lnTo>
                    <a:pt x="104824" y="1012"/>
                  </a:lnTo>
                  <a:lnTo>
                    <a:pt x="60477" y="16192"/>
                  </a:lnTo>
                  <a:lnTo>
                    <a:pt x="24933" y="46978"/>
                  </a:lnTo>
                  <a:lnTo>
                    <a:pt x="4048" y="89274"/>
                  </a:lnTo>
                  <a:lnTo>
                    <a:pt x="0" y="120599"/>
                  </a:lnTo>
                  <a:lnTo>
                    <a:pt x="0" y="1891080"/>
                  </a:lnTo>
                  <a:lnTo>
                    <a:pt x="992" y="1906545"/>
                  </a:lnTo>
                  <a:lnTo>
                    <a:pt x="1012" y="1906850"/>
                  </a:lnTo>
                  <a:lnTo>
                    <a:pt x="16192" y="1951189"/>
                  </a:lnTo>
                  <a:lnTo>
                    <a:pt x="46978" y="1986733"/>
                  </a:lnTo>
                  <a:lnTo>
                    <a:pt x="89274" y="2007625"/>
                  </a:lnTo>
                  <a:lnTo>
                    <a:pt x="120599" y="2011680"/>
                  </a:lnTo>
                  <a:lnTo>
                    <a:pt x="2531160" y="2011311"/>
                  </a:lnTo>
                  <a:lnTo>
                    <a:pt x="2577121" y="2002203"/>
                  </a:lnTo>
                  <a:lnTo>
                    <a:pt x="2616384" y="1976126"/>
                  </a:lnTo>
                  <a:lnTo>
                    <a:pt x="2642613" y="1937041"/>
                  </a:lnTo>
                  <a:lnTo>
                    <a:pt x="2650686" y="1906850"/>
                  </a:lnTo>
                  <a:lnTo>
                    <a:pt x="2650745" y="1906545"/>
                  </a:lnTo>
                  <a:lnTo>
                    <a:pt x="2651736" y="1891080"/>
                  </a:lnTo>
                  <a:lnTo>
                    <a:pt x="2651760" y="1890712"/>
                  </a:lnTo>
                  <a:lnTo>
                    <a:pt x="2651391" y="120599"/>
                  </a:lnTo>
                  <a:lnTo>
                    <a:pt x="2642283" y="74630"/>
                  </a:lnTo>
                  <a:lnTo>
                    <a:pt x="2616206" y="35363"/>
                  </a:lnTo>
                  <a:lnTo>
                    <a:pt x="2577066" y="9108"/>
                  </a:lnTo>
                  <a:lnTo>
                    <a:pt x="2546625" y="1012"/>
                  </a:lnTo>
                  <a:lnTo>
                    <a:pt x="253079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8" name="Google Shape;738;p18"/>
            <p:cNvSpPr/>
            <p:nvPr/>
          </p:nvSpPr>
          <p:spPr>
            <a:xfrm>
              <a:off x="6080404" y="1645566"/>
              <a:ext cx="2651760" cy="2011680"/>
            </a:xfrm>
            <a:custGeom>
              <a:rect b="b" l="l" r="r" t="t"/>
              <a:pathLst>
                <a:path extrusionOk="0" h="2011679" w="2651759">
                  <a:moveTo>
                    <a:pt x="0" y="120599"/>
                  </a:moveTo>
                  <a:lnTo>
                    <a:pt x="1012" y="104766"/>
                  </a:lnTo>
                  <a:lnTo>
                    <a:pt x="4048" y="89274"/>
                  </a:lnTo>
                  <a:lnTo>
                    <a:pt x="24933" y="46978"/>
                  </a:lnTo>
                  <a:lnTo>
                    <a:pt x="60477" y="16192"/>
                  </a:lnTo>
                  <a:lnTo>
                    <a:pt x="104824" y="1012"/>
                  </a:lnTo>
                  <a:lnTo>
                    <a:pt x="120599" y="0"/>
                  </a:lnTo>
                  <a:lnTo>
                    <a:pt x="2530792" y="0"/>
                  </a:lnTo>
                  <a:lnTo>
                    <a:pt x="2577066" y="9108"/>
                  </a:lnTo>
                  <a:lnTo>
                    <a:pt x="2616206" y="35363"/>
                  </a:lnTo>
                  <a:lnTo>
                    <a:pt x="2642283" y="74630"/>
                  </a:lnTo>
                  <a:lnTo>
                    <a:pt x="2651391" y="120599"/>
                  </a:lnTo>
                  <a:lnTo>
                    <a:pt x="2651760" y="1890712"/>
                  </a:lnTo>
                  <a:lnTo>
                    <a:pt x="2650745" y="1906545"/>
                  </a:lnTo>
                  <a:lnTo>
                    <a:pt x="2647705" y="1922037"/>
                  </a:lnTo>
                  <a:lnTo>
                    <a:pt x="2626813" y="1964333"/>
                  </a:lnTo>
                  <a:lnTo>
                    <a:pt x="2591269" y="1995119"/>
                  </a:lnTo>
                  <a:lnTo>
                    <a:pt x="2546930" y="2010299"/>
                  </a:lnTo>
                  <a:lnTo>
                    <a:pt x="120599" y="2011680"/>
                  </a:lnTo>
                  <a:lnTo>
                    <a:pt x="74325" y="2002561"/>
                  </a:lnTo>
                  <a:lnTo>
                    <a:pt x="35185" y="1976304"/>
                  </a:lnTo>
                  <a:lnTo>
                    <a:pt x="9108" y="1937041"/>
                  </a:lnTo>
                  <a:lnTo>
                    <a:pt x="0" y="1891080"/>
                  </a:lnTo>
                  <a:lnTo>
                    <a:pt x="0" y="120599"/>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9" name="Google Shape;739;p18"/>
            <p:cNvSpPr/>
            <p:nvPr/>
          </p:nvSpPr>
          <p:spPr>
            <a:xfrm>
              <a:off x="6217920" y="1783082"/>
              <a:ext cx="502920" cy="502920"/>
            </a:xfrm>
            <a:custGeom>
              <a:rect b="b" l="l" r="r" t="t"/>
              <a:pathLst>
                <a:path extrusionOk="0" h="502919" w="502920">
                  <a:moveTo>
                    <a:pt x="251637" y="0"/>
                  </a:moveTo>
                  <a:lnTo>
                    <a:pt x="186348" y="8504"/>
                  </a:lnTo>
                  <a:lnTo>
                    <a:pt x="125641" y="33477"/>
                  </a:lnTo>
                  <a:lnTo>
                    <a:pt x="73666" y="73482"/>
                  </a:lnTo>
                  <a:lnTo>
                    <a:pt x="33845" y="125641"/>
                  </a:lnTo>
                  <a:lnTo>
                    <a:pt x="8550" y="186166"/>
                  </a:lnTo>
                  <a:lnTo>
                    <a:pt x="0" y="251282"/>
                  </a:lnTo>
                  <a:lnTo>
                    <a:pt x="2148" y="284224"/>
                  </a:lnTo>
                  <a:lnTo>
                    <a:pt x="19138" y="347417"/>
                  </a:lnTo>
                  <a:lnTo>
                    <a:pt x="52085" y="404328"/>
                  </a:lnTo>
                  <a:lnTo>
                    <a:pt x="98285" y="450777"/>
                  </a:lnTo>
                  <a:lnTo>
                    <a:pt x="155202" y="483576"/>
                  </a:lnTo>
                  <a:lnTo>
                    <a:pt x="218640" y="500421"/>
                  </a:lnTo>
                  <a:lnTo>
                    <a:pt x="251637" y="502564"/>
                  </a:lnTo>
                  <a:lnTo>
                    <a:pt x="284429" y="500421"/>
                  </a:lnTo>
                  <a:lnTo>
                    <a:pt x="347723" y="483576"/>
                  </a:lnTo>
                  <a:lnTo>
                    <a:pt x="404634" y="450777"/>
                  </a:lnTo>
                  <a:lnTo>
                    <a:pt x="450834" y="404328"/>
                  </a:lnTo>
                  <a:lnTo>
                    <a:pt x="483781" y="347417"/>
                  </a:lnTo>
                  <a:lnTo>
                    <a:pt x="500771" y="284224"/>
                  </a:lnTo>
                  <a:lnTo>
                    <a:pt x="502920" y="251282"/>
                  </a:lnTo>
                  <a:lnTo>
                    <a:pt x="500771" y="218334"/>
                  </a:lnTo>
                  <a:lnTo>
                    <a:pt x="483781" y="155145"/>
                  </a:lnTo>
                  <a:lnTo>
                    <a:pt x="450834" y="98228"/>
                  </a:lnTo>
                  <a:lnTo>
                    <a:pt x="404634" y="51774"/>
                  </a:lnTo>
                  <a:lnTo>
                    <a:pt x="347723" y="18982"/>
                  </a:lnTo>
                  <a:lnTo>
                    <a:pt x="284429" y="2142"/>
                  </a:lnTo>
                  <a:lnTo>
                    <a:pt x="251637" y="0"/>
                  </a:lnTo>
                  <a:close/>
                </a:path>
              </a:pathLst>
            </a:custGeom>
            <a:solidFill>
              <a:srgbClr val="6C27D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40" name="Google Shape;740;p18"/>
          <p:cNvSpPr txBox="1"/>
          <p:nvPr/>
        </p:nvSpPr>
        <p:spPr>
          <a:xfrm>
            <a:off x="6379464" y="1907186"/>
            <a:ext cx="180340" cy="254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500">
                <a:solidFill>
                  <a:srgbClr val="FFFFFF"/>
                </a:solidFill>
                <a:latin typeface="Calibri"/>
                <a:ea typeface="Calibri"/>
                <a:cs typeface="Calibri"/>
                <a:sym typeface="Calibri"/>
              </a:rPr>
              <a:t>o</a:t>
            </a:r>
            <a:r>
              <a:rPr lang="en-US" sz="1500">
                <a:solidFill>
                  <a:srgbClr val="FFFFFF"/>
                </a:solidFill>
                <a:latin typeface="Quattrocento Sans"/>
                <a:ea typeface="Quattrocento Sans"/>
                <a:cs typeface="Quattrocento Sans"/>
                <a:sym typeface="Quattrocento Sans"/>
              </a:rPr>
              <a:t>ₜ</a:t>
            </a:r>
            <a:endParaRPr sz="1500">
              <a:latin typeface="Quattrocento Sans"/>
              <a:ea typeface="Quattrocento Sans"/>
              <a:cs typeface="Quattrocento Sans"/>
              <a:sym typeface="Quattrocento Sans"/>
            </a:endParaRPr>
          </a:p>
        </p:txBody>
      </p:sp>
      <p:sp>
        <p:nvSpPr>
          <p:cNvPr id="741" name="Google Shape;741;p18"/>
          <p:cNvSpPr txBox="1"/>
          <p:nvPr/>
        </p:nvSpPr>
        <p:spPr>
          <a:xfrm>
            <a:off x="6799580" y="1687941"/>
            <a:ext cx="1434465" cy="557530"/>
          </a:xfrm>
          <a:prstGeom prst="rect">
            <a:avLst/>
          </a:prstGeom>
          <a:noFill/>
          <a:ln>
            <a:noFill/>
          </a:ln>
        </p:spPr>
        <p:txBody>
          <a:bodyPr anchorCtr="0" anchor="t" bIns="0" lIns="0" spcFirstLastPara="1" rIns="0" wrap="square" tIns="93975">
            <a:spAutoFit/>
          </a:bodyPr>
          <a:lstStyle/>
          <a:p>
            <a:pPr indent="0" lvl="0" marL="12700" rtl="0" algn="l">
              <a:lnSpc>
                <a:spcPct val="100000"/>
              </a:lnSpc>
              <a:spcBef>
                <a:spcPts val="0"/>
              </a:spcBef>
              <a:spcAft>
                <a:spcPts val="0"/>
              </a:spcAft>
              <a:buNone/>
            </a:pPr>
            <a:r>
              <a:rPr b="1" lang="en-US" sz="1350">
                <a:solidFill>
                  <a:srgbClr val="0C1A29"/>
                </a:solidFill>
                <a:latin typeface="Calibri"/>
                <a:ea typeface="Calibri"/>
                <a:cs typeface="Calibri"/>
                <a:sym typeface="Calibri"/>
              </a:rPr>
              <a:t>Output gate</a:t>
            </a:r>
            <a:endParaRPr sz="1350">
              <a:latin typeface="Calibri"/>
              <a:ea typeface="Calibri"/>
              <a:cs typeface="Calibri"/>
              <a:sym typeface="Calibri"/>
            </a:endParaRPr>
          </a:p>
          <a:p>
            <a:pPr indent="0" lvl="0" marL="12700" rtl="0" algn="l">
              <a:lnSpc>
                <a:spcPct val="100000"/>
              </a:lnSpc>
              <a:spcBef>
                <a:spcPts val="545"/>
              </a:spcBef>
              <a:spcAft>
                <a:spcPts val="0"/>
              </a:spcAft>
              <a:buNone/>
            </a:pPr>
            <a:r>
              <a:rPr i="1" lang="en-US" sz="1150">
                <a:solidFill>
                  <a:srgbClr val="6C27D8"/>
                </a:solidFill>
                <a:latin typeface="Cambria"/>
                <a:ea typeface="Cambria"/>
                <a:cs typeface="Cambria"/>
                <a:sym typeface="Cambria"/>
              </a:rPr>
              <a:t>What should I say now?</a:t>
            </a:r>
            <a:endParaRPr sz="1150">
              <a:latin typeface="Cambria"/>
              <a:ea typeface="Cambria"/>
              <a:cs typeface="Cambria"/>
              <a:sym typeface="Cambria"/>
            </a:endParaRPr>
          </a:p>
        </p:txBody>
      </p:sp>
      <p:sp>
        <p:nvSpPr>
          <p:cNvPr id="742" name="Google Shape;742;p18"/>
          <p:cNvSpPr/>
          <p:nvPr/>
        </p:nvSpPr>
        <p:spPr>
          <a:xfrm>
            <a:off x="6217196" y="2468526"/>
            <a:ext cx="2378075" cy="1052195"/>
          </a:xfrm>
          <a:custGeom>
            <a:rect b="b" l="l" r="r" t="t"/>
            <a:pathLst>
              <a:path extrusionOk="0" h="1052195" w="2378075">
                <a:moveTo>
                  <a:pt x="84607" y="0"/>
                </a:moveTo>
                <a:lnTo>
                  <a:pt x="42481" y="11518"/>
                </a:lnTo>
                <a:lnTo>
                  <a:pt x="11518" y="42113"/>
                </a:lnTo>
                <a:lnTo>
                  <a:pt x="368" y="84239"/>
                </a:lnTo>
                <a:lnTo>
                  <a:pt x="0" y="967676"/>
                </a:lnTo>
                <a:lnTo>
                  <a:pt x="737" y="978710"/>
                </a:lnTo>
                <a:lnTo>
                  <a:pt x="17465" y="1018879"/>
                </a:lnTo>
                <a:lnTo>
                  <a:pt x="17567" y="1019035"/>
                </a:lnTo>
                <a:lnTo>
                  <a:pt x="52095" y="1045534"/>
                </a:lnTo>
                <a:lnTo>
                  <a:pt x="84239" y="1051915"/>
                </a:lnTo>
                <a:lnTo>
                  <a:pt x="2293569" y="1051915"/>
                </a:lnTo>
                <a:lnTo>
                  <a:pt x="2335682" y="1040396"/>
                </a:lnTo>
                <a:lnTo>
                  <a:pt x="2366645" y="1009789"/>
                </a:lnTo>
                <a:lnTo>
                  <a:pt x="2374882" y="989542"/>
                </a:lnTo>
                <a:lnTo>
                  <a:pt x="2374926" y="989409"/>
                </a:lnTo>
                <a:lnTo>
                  <a:pt x="2377066" y="978710"/>
                </a:lnTo>
                <a:lnTo>
                  <a:pt x="2377808" y="967676"/>
                </a:lnTo>
                <a:lnTo>
                  <a:pt x="2377784" y="84239"/>
                </a:lnTo>
                <a:lnTo>
                  <a:pt x="2366289" y="42481"/>
                </a:lnTo>
                <a:lnTo>
                  <a:pt x="2335682" y="11518"/>
                </a:lnTo>
                <a:lnTo>
                  <a:pt x="2293569" y="355"/>
                </a:lnTo>
                <a:lnTo>
                  <a:pt x="84607" y="0"/>
                </a:lnTo>
                <a:close/>
              </a:path>
            </a:pathLst>
          </a:custGeom>
          <a:solidFill>
            <a:srgbClr val="F0EBF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43" name="Google Shape;743;p18"/>
          <p:cNvSpPr txBox="1"/>
          <p:nvPr/>
        </p:nvSpPr>
        <p:spPr>
          <a:xfrm>
            <a:off x="6320777" y="2714296"/>
            <a:ext cx="1802764" cy="568960"/>
          </a:xfrm>
          <a:prstGeom prst="rect">
            <a:avLst/>
          </a:prstGeom>
          <a:noFill/>
          <a:ln>
            <a:noFill/>
          </a:ln>
        </p:spPr>
        <p:txBody>
          <a:bodyPr anchorCtr="0" anchor="t" bIns="0" lIns="0" spcFirstLastPara="1" rIns="0" wrap="square" tIns="3800">
            <a:spAutoFit/>
          </a:bodyPr>
          <a:lstStyle/>
          <a:p>
            <a:pPr indent="0" lvl="0" marL="12700" marR="5080" rtl="0" algn="l">
              <a:lnSpc>
                <a:spcPct val="105000"/>
              </a:lnSpc>
              <a:spcBef>
                <a:spcPts val="0"/>
              </a:spcBef>
              <a:spcAft>
                <a:spcPts val="0"/>
              </a:spcAft>
              <a:buNone/>
            </a:pPr>
            <a:r>
              <a:rPr lang="en-US" sz="1150">
                <a:solidFill>
                  <a:srgbClr val="1E2836"/>
                </a:solidFill>
                <a:latin typeface="Calibri"/>
                <a:ea typeface="Calibri"/>
                <a:cs typeface="Calibri"/>
                <a:sym typeface="Calibri"/>
              </a:rPr>
              <a:t>In the viva, answer only the question asked, not the entire notebook.</a:t>
            </a:r>
            <a:endParaRPr sz="1150">
              <a:latin typeface="Calibri"/>
              <a:ea typeface="Calibri"/>
              <a:cs typeface="Calibri"/>
              <a:sym typeface="Calibri"/>
            </a:endParaRPr>
          </a:p>
        </p:txBody>
      </p:sp>
      <p:grpSp>
        <p:nvGrpSpPr>
          <p:cNvPr id="744" name="Google Shape;744;p18"/>
          <p:cNvGrpSpPr/>
          <p:nvPr/>
        </p:nvGrpSpPr>
        <p:grpSpPr>
          <a:xfrm>
            <a:off x="411124" y="3794762"/>
            <a:ext cx="8321040" cy="960119"/>
            <a:chOff x="411124" y="3794762"/>
            <a:chExt cx="8321040" cy="960119"/>
          </a:xfrm>
        </p:grpSpPr>
        <p:sp>
          <p:nvSpPr>
            <p:cNvPr id="745" name="Google Shape;745;p18"/>
            <p:cNvSpPr/>
            <p:nvPr/>
          </p:nvSpPr>
          <p:spPr>
            <a:xfrm>
              <a:off x="411124" y="3794762"/>
              <a:ext cx="8321040" cy="960119"/>
            </a:xfrm>
            <a:custGeom>
              <a:rect b="b" l="l" r="r" t="t"/>
              <a:pathLst>
                <a:path extrusionOk="0" h="960120" w="8321040">
                  <a:moveTo>
                    <a:pt x="8263077" y="0"/>
                  </a:moveTo>
                  <a:lnTo>
                    <a:pt x="57594" y="0"/>
                  </a:lnTo>
                  <a:lnTo>
                    <a:pt x="50056" y="471"/>
                  </a:lnTo>
                  <a:lnTo>
                    <a:pt x="11786" y="22544"/>
                  </a:lnTo>
                  <a:lnTo>
                    <a:pt x="0" y="57594"/>
                  </a:lnTo>
                  <a:lnTo>
                    <a:pt x="0" y="902525"/>
                  </a:lnTo>
                  <a:lnTo>
                    <a:pt x="4130" y="924234"/>
                  </a:lnTo>
                  <a:lnTo>
                    <a:pt x="4248" y="924590"/>
                  </a:lnTo>
                  <a:lnTo>
                    <a:pt x="35522" y="955871"/>
                  </a:lnTo>
                  <a:lnTo>
                    <a:pt x="50662" y="959764"/>
                  </a:lnTo>
                  <a:lnTo>
                    <a:pt x="51911" y="959764"/>
                  </a:lnTo>
                  <a:lnTo>
                    <a:pt x="57594" y="960119"/>
                  </a:lnTo>
                  <a:lnTo>
                    <a:pt x="8263432" y="959764"/>
                  </a:lnTo>
                  <a:lnTo>
                    <a:pt x="8304206" y="942930"/>
                  </a:lnTo>
                  <a:lnTo>
                    <a:pt x="8320497" y="910058"/>
                  </a:lnTo>
                  <a:lnTo>
                    <a:pt x="8320566" y="909697"/>
                  </a:lnTo>
                  <a:lnTo>
                    <a:pt x="8321016" y="902525"/>
                  </a:lnTo>
                  <a:lnTo>
                    <a:pt x="8321040" y="902157"/>
                  </a:lnTo>
                  <a:lnTo>
                    <a:pt x="8320671" y="57594"/>
                  </a:lnTo>
                  <a:lnTo>
                    <a:pt x="8303845" y="16827"/>
                  </a:lnTo>
                  <a:lnTo>
                    <a:pt x="8270615" y="471"/>
                  </a:lnTo>
                  <a:lnTo>
                    <a:pt x="8263077" y="0"/>
                  </a:lnTo>
                  <a:close/>
                </a:path>
              </a:pathLst>
            </a:custGeom>
            <a:solidFill>
              <a:srgbClr val="F7F9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46" name="Google Shape;746;p18"/>
            <p:cNvSpPr/>
            <p:nvPr/>
          </p:nvSpPr>
          <p:spPr>
            <a:xfrm>
              <a:off x="411124" y="3794762"/>
              <a:ext cx="8321040" cy="960119"/>
            </a:xfrm>
            <a:custGeom>
              <a:rect b="b" l="l" r="r" t="t"/>
              <a:pathLst>
                <a:path extrusionOk="0" h="960120" w="8321040">
                  <a:moveTo>
                    <a:pt x="0" y="57594"/>
                  </a:moveTo>
                  <a:lnTo>
                    <a:pt x="471" y="50061"/>
                  </a:lnTo>
                  <a:lnTo>
                    <a:pt x="1887" y="42660"/>
                  </a:lnTo>
                  <a:lnTo>
                    <a:pt x="28790" y="7556"/>
                  </a:lnTo>
                  <a:lnTo>
                    <a:pt x="57594" y="0"/>
                  </a:lnTo>
                  <a:lnTo>
                    <a:pt x="8263077" y="0"/>
                  </a:lnTo>
                  <a:lnTo>
                    <a:pt x="8303845" y="16827"/>
                  </a:lnTo>
                  <a:lnTo>
                    <a:pt x="8320671" y="57594"/>
                  </a:lnTo>
                  <a:lnTo>
                    <a:pt x="8321040" y="902157"/>
                  </a:lnTo>
                  <a:lnTo>
                    <a:pt x="8320566" y="909697"/>
                  </a:lnTo>
                  <a:lnTo>
                    <a:pt x="8319146" y="917101"/>
                  </a:lnTo>
                  <a:lnTo>
                    <a:pt x="8292236" y="952195"/>
                  </a:lnTo>
                  <a:lnTo>
                    <a:pt x="57594" y="960119"/>
                  </a:lnTo>
                  <a:lnTo>
                    <a:pt x="16825" y="943292"/>
                  </a:lnTo>
                  <a:lnTo>
                    <a:pt x="0" y="902525"/>
                  </a:lnTo>
                  <a:lnTo>
                    <a:pt x="0" y="57594"/>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47" name="Google Shape;747;p18"/>
          <p:cNvSpPr txBox="1"/>
          <p:nvPr/>
        </p:nvSpPr>
        <p:spPr>
          <a:xfrm>
            <a:off x="524776" y="3811173"/>
            <a:ext cx="7930515" cy="624840"/>
          </a:xfrm>
          <a:prstGeom prst="rect">
            <a:avLst/>
          </a:prstGeom>
          <a:noFill/>
          <a:ln>
            <a:noFill/>
          </a:ln>
        </p:spPr>
        <p:txBody>
          <a:bodyPr anchorCtr="0" anchor="t" bIns="0" lIns="0" spcFirstLastPara="1" rIns="0" wrap="square" tIns="54600">
            <a:spAutoFit/>
          </a:bodyPr>
          <a:lstStyle/>
          <a:p>
            <a:pPr indent="0" lvl="0" marL="12700" rtl="0" algn="l">
              <a:lnSpc>
                <a:spcPct val="100000"/>
              </a:lnSpc>
              <a:spcBef>
                <a:spcPts val="0"/>
              </a:spcBef>
              <a:spcAft>
                <a:spcPts val="0"/>
              </a:spcAft>
              <a:buNone/>
            </a:pPr>
            <a:r>
              <a:rPr b="1" lang="en-US" sz="1200">
                <a:solidFill>
                  <a:srgbClr val="0C1A29"/>
                </a:solidFill>
                <a:latin typeface="Calibri"/>
                <a:ea typeface="Calibri"/>
                <a:cs typeface="Calibri"/>
                <a:sym typeface="Calibri"/>
              </a:rPr>
              <a:t>Where LSTMs still earn their salary today</a:t>
            </a:r>
            <a:endParaRPr sz="1200">
              <a:latin typeface="Calibri"/>
              <a:ea typeface="Calibri"/>
              <a:cs typeface="Calibri"/>
              <a:sym typeface="Calibri"/>
            </a:endParaRPr>
          </a:p>
          <a:p>
            <a:pPr indent="0" lvl="0" marL="12700" marR="5080" rtl="0" algn="l">
              <a:lnSpc>
                <a:spcPct val="100000"/>
              </a:lnSpc>
              <a:spcBef>
                <a:spcPts val="305"/>
              </a:spcBef>
              <a:spcAft>
                <a:spcPts val="0"/>
              </a:spcAft>
              <a:buNone/>
            </a:pPr>
            <a:r>
              <a:rPr lang="en-US" sz="1100">
                <a:solidFill>
                  <a:srgbClr val="1E2836"/>
                </a:solidFill>
                <a:latin typeface="Calibri"/>
                <a:ea typeface="Calibri"/>
                <a:cs typeface="Calibri"/>
                <a:sym typeface="Calibri"/>
              </a:rPr>
              <a:t>Next-day electricity load forecasting · vibration sensors for predictive maintenance in factories · on-device keyboards · ECG and wearable streams on low-power chips (small, fast, no giant GPU needed)</a:t>
            </a:r>
            <a:endParaRPr sz="1100">
              <a:latin typeface="Calibri"/>
              <a:ea typeface="Calibri"/>
              <a:cs typeface="Calibri"/>
              <a:sym typeface="Calibri"/>
            </a:endParaRPr>
          </a:p>
        </p:txBody>
      </p:sp>
      <p:sp>
        <p:nvSpPr>
          <p:cNvPr id="748" name="Google Shape;748;p18"/>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descr="$PPTXTitle" id="753" name="Google Shape;753;p19"/>
          <p:cNvSpPr txBox="1"/>
          <p:nvPr>
            <p:ph type="title"/>
          </p:nvPr>
        </p:nvSpPr>
        <p:spPr>
          <a:xfrm>
            <a:off x="444144" y="197182"/>
            <a:ext cx="616204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solidFill>
                  <a:srgbClr val="101726"/>
                </a:solidFill>
              </a:rPr>
              <a:t>Problem 1: The Information Bottleneck</a:t>
            </a:r>
            <a:endParaRPr sz="3000"/>
          </a:p>
        </p:txBody>
      </p:sp>
      <p:sp>
        <p:nvSpPr>
          <p:cNvPr id="754" name="Google Shape;754;p19"/>
          <p:cNvSpPr txBox="1"/>
          <p:nvPr/>
        </p:nvSpPr>
        <p:spPr>
          <a:xfrm>
            <a:off x="444144" y="751587"/>
            <a:ext cx="2684145" cy="17970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i="1" lang="en-US" sz="1000">
                <a:solidFill>
                  <a:srgbClr val="0076B5"/>
                </a:solidFill>
                <a:latin typeface="Cambria"/>
                <a:ea typeface="Cambria"/>
                <a:cs typeface="Cambria"/>
                <a:sym typeface="Cambria"/>
              </a:rPr>
              <a:t>Everything must compress into one fixed-size vector</a:t>
            </a:r>
            <a:endParaRPr sz="1000">
              <a:latin typeface="Cambria"/>
              <a:ea typeface="Cambria"/>
              <a:cs typeface="Cambria"/>
              <a:sym typeface="Cambria"/>
            </a:endParaRPr>
          </a:p>
        </p:txBody>
      </p:sp>
      <p:pic>
        <p:nvPicPr>
          <p:cNvPr id="755" name="Google Shape;755;p19"/>
          <p:cNvPicPr preferRelativeResize="0"/>
          <p:nvPr/>
        </p:nvPicPr>
        <p:blipFill rotWithShape="1">
          <a:blip r:embed="rId3">
            <a:alphaModFix/>
          </a:blip>
          <a:srcRect b="0" l="0" r="0" t="0"/>
          <a:stretch/>
        </p:blipFill>
        <p:spPr>
          <a:xfrm>
            <a:off x="8369274" y="14"/>
            <a:ext cx="774357" cy="866508"/>
          </a:xfrm>
          <a:prstGeom prst="rect">
            <a:avLst/>
          </a:prstGeom>
          <a:noFill/>
          <a:ln>
            <a:noFill/>
          </a:ln>
        </p:spPr>
      </p:pic>
      <p:grpSp>
        <p:nvGrpSpPr>
          <p:cNvPr id="756" name="Google Shape;756;p19"/>
          <p:cNvGrpSpPr/>
          <p:nvPr/>
        </p:nvGrpSpPr>
        <p:grpSpPr>
          <a:xfrm>
            <a:off x="319316" y="1279806"/>
            <a:ext cx="3470618" cy="384810"/>
            <a:chOff x="319316" y="1279806"/>
            <a:chExt cx="3470618" cy="384810"/>
          </a:xfrm>
        </p:grpSpPr>
        <p:sp>
          <p:nvSpPr>
            <p:cNvPr id="757" name="Google Shape;757;p19"/>
            <p:cNvSpPr/>
            <p:nvPr/>
          </p:nvSpPr>
          <p:spPr>
            <a:xfrm>
              <a:off x="319316" y="1279806"/>
              <a:ext cx="302260" cy="384810"/>
            </a:xfrm>
            <a:custGeom>
              <a:rect b="b" l="l" r="r" t="t"/>
              <a:pathLst>
                <a:path extrusionOk="0" h="384810" w="302259">
                  <a:moveTo>
                    <a:pt x="46088" y="0"/>
                  </a:moveTo>
                  <a:lnTo>
                    <a:pt x="38163" y="0"/>
                  </a:lnTo>
                  <a:lnTo>
                    <a:pt x="30238" y="2159"/>
                  </a:lnTo>
                  <a:lnTo>
                    <a:pt x="23037" y="6121"/>
                  </a:lnTo>
                  <a:lnTo>
                    <a:pt x="16205" y="10071"/>
                  </a:lnTo>
                  <a:lnTo>
                    <a:pt x="10439" y="15836"/>
                  </a:lnTo>
                  <a:lnTo>
                    <a:pt x="6489" y="23037"/>
                  </a:lnTo>
                  <a:lnTo>
                    <a:pt x="2527" y="29870"/>
                  </a:lnTo>
                  <a:lnTo>
                    <a:pt x="368" y="37795"/>
                  </a:lnTo>
                  <a:lnTo>
                    <a:pt x="0" y="346671"/>
                  </a:lnTo>
                  <a:lnTo>
                    <a:pt x="2158" y="354596"/>
                  </a:lnTo>
                  <a:lnTo>
                    <a:pt x="6121" y="361797"/>
                  </a:lnTo>
                  <a:lnTo>
                    <a:pt x="10083" y="368630"/>
                  </a:lnTo>
                  <a:lnTo>
                    <a:pt x="15849" y="374396"/>
                  </a:lnTo>
                  <a:lnTo>
                    <a:pt x="23037" y="378358"/>
                  </a:lnTo>
                  <a:lnTo>
                    <a:pt x="29883" y="382320"/>
                  </a:lnTo>
                  <a:lnTo>
                    <a:pt x="37807" y="384479"/>
                  </a:lnTo>
                  <a:lnTo>
                    <a:pt x="264248" y="384479"/>
                  </a:lnTo>
                  <a:lnTo>
                    <a:pt x="295922" y="361429"/>
                  </a:lnTo>
                  <a:lnTo>
                    <a:pt x="299885" y="354596"/>
                  </a:lnTo>
                  <a:lnTo>
                    <a:pt x="302044" y="346671"/>
                  </a:lnTo>
                  <a:lnTo>
                    <a:pt x="301947" y="37795"/>
                  </a:lnTo>
                  <a:lnTo>
                    <a:pt x="299885" y="30238"/>
                  </a:lnTo>
                  <a:lnTo>
                    <a:pt x="295922" y="23037"/>
                  </a:lnTo>
                  <a:lnTo>
                    <a:pt x="291960" y="16192"/>
                  </a:lnTo>
                  <a:lnTo>
                    <a:pt x="286207" y="10439"/>
                  </a:lnTo>
                  <a:lnTo>
                    <a:pt x="279006" y="6476"/>
                  </a:lnTo>
                  <a:lnTo>
                    <a:pt x="272161" y="2514"/>
                  </a:lnTo>
                  <a:lnTo>
                    <a:pt x="264248" y="355"/>
                  </a:lnTo>
                  <a:lnTo>
                    <a:pt x="256324" y="355"/>
                  </a:lnTo>
                  <a:lnTo>
                    <a:pt x="46088" y="0"/>
                  </a:lnTo>
                  <a:close/>
                </a:path>
              </a:pathLst>
            </a:custGeom>
            <a:solidFill>
              <a:srgbClr val="DFF1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58" name="Google Shape;758;p19"/>
            <p:cNvSpPr/>
            <p:nvPr/>
          </p:nvSpPr>
          <p:spPr>
            <a:xfrm>
              <a:off x="319316" y="1279806"/>
              <a:ext cx="302260" cy="384810"/>
            </a:xfrm>
            <a:custGeom>
              <a:rect b="b" l="l" r="r" t="t"/>
              <a:pathLst>
                <a:path extrusionOk="0" h="384810" w="302259">
                  <a:moveTo>
                    <a:pt x="368" y="45720"/>
                  </a:moveTo>
                  <a:lnTo>
                    <a:pt x="368" y="37795"/>
                  </a:lnTo>
                  <a:lnTo>
                    <a:pt x="2527" y="29870"/>
                  </a:lnTo>
                  <a:lnTo>
                    <a:pt x="6489" y="23037"/>
                  </a:lnTo>
                  <a:lnTo>
                    <a:pt x="10439" y="15836"/>
                  </a:lnTo>
                  <a:lnTo>
                    <a:pt x="16205" y="10071"/>
                  </a:lnTo>
                  <a:lnTo>
                    <a:pt x="23037" y="6121"/>
                  </a:lnTo>
                  <a:lnTo>
                    <a:pt x="30238" y="2159"/>
                  </a:lnTo>
                  <a:lnTo>
                    <a:pt x="38163" y="0"/>
                  </a:lnTo>
                  <a:lnTo>
                    <a:pt x="46088" y="0"/>
                  </a:lnTo>
                  <a:lnTo>
                    <a:pt x="256324" y="355"/>
                  </a:lnTo>
                  <a:lnTo>
                    <a:pt x="264248" y="355"/>
                  </a:lnTo>
                  <a:lnTo>
                    <a:pt x="272161" y="2514"/>
                  </a:lnTo>
                  <a:lnTo>
                    <a:pt x="279006" y="6476"/>
                  </a:lnTo>
                  <a:lnTo>
                    <a:pt x="286207" y="10439"/>
                  </a:lnTo>
                  <a:lnTo>
                    <a:pt x="291960" y="16192"/>
                  </a:lnTo>
                  <a:lnTo>
                    <a:pt x="295922" y="23037"/>
                  </a:lnTo>
                  <a:lnTo>
                    <a:pt x="299885" y="30238"/>
                  </a:lnTo>
                  <a:lnTo>
                    <a:pt x="302044" y="38150"/>
                  </a:lnTo>
                  <a:lnTo>
                    <a:pt x="302044" y="46075"/>
                  </a:lnTo>
                  <a:lnTo>
                    <a:pt x="302044" y="338759"/>
                  </a:lnTo>
                  <a:lnTo>
                    <a:pt x="302044" y="346671"/>
                  </a:lnTo>
                  <a:lnTo>
                    <a:pt x="299885" y="354596"/>
                  </a:lnTo>
                  <a:lnTo>
                    <a:pt x="295922" y="361429"/>
                  </a:lnTo>
                  <a:lnTo>
                    <a:pt x="291960" y="368630"/>
                  </a:lnTo>
                  <a:lnTo>
                    <a:pt x="286207" y="374396"/>
                  </a:lnTo>
                  <a:lnTo>
                    <a:pt x="279361" y="378358"/>
                  </a:lnTo>
                  <a:lnTo>
                    <a:pt x="272161" y="382320"/>
                  </a:lnTo>
                  <a:lnTo>
                    <a:pt x="264248" y="384479"/>
                  </a:lnTo>
                  <a:lnTo>
                    <a:pt x="256324" y="384479"/>
                  </a:lnTo>
                  <a:lnTo>
                    <a:pt x="45719" y="384479"/>
                  </a:lnTo>
                  <a:lnTo>
                    <a:pt x="37807" y="384479"/>
                  </a:lnTo>
                  <a:lnTo>
                    <a:pt x="29883" y="382320"/>
                  </a:lnTo>
                  <a:lnTo>
                    <a:pt x="23037" y="378358"/>
                  </a:lnTo>
                  <a:lnTo>
                    <a:pt x="15849" y="374396"/>
                  </a:lnTo>
                  <a:lnTo>
                    <a:pt x="10083" y="368630"/>
                  </a:lnTo>
                  <a:lnTo>
                    <a:pt x="6121" y="361797"/>
                  </a:lnTo>
                  <a:lnTo>
                    <a:pt x="2158" y="354596"/>
                  </a:lnTo>
                  <a:lnTo>
                    <a:pt x="0" y="346671"/>
                  </a:lnTo>
                  <a:lnTo>
                    <a:pt x="0" y="338759"/>
                  </a:lnTo>
                  <a:lnTo>
                    <a:pt x="368" y="45720"/>
                  </a:lnTo>
                  <a:close/>
                </a:path>
              </a:pathLst>
            </a:custGeom>
            <a:noFill/>
            <a:ln cap="flat" cmpd="sng" w="9525">
              <a:solidFill>
                <a:srgbClr val="0183C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59" name="Google Shape;759;p19"/>
            <p:cNvSpPr/>
            <p:nvPr/>
          </p:nvSpPr>
          <p:spPr>
            <a:xfrm>
              <a:off x="671398" y="1279806"/>
              <a:ext cx="302260" cy="384810"/>
            </a:xfrm>
            <a:custGeom>
              <a:rect b="b" l="l" r="r" t="t"/>
              <a:pathLst>
                <a:path extrusionOk="0" h="384810" w="302259">
                  <a:moveTo>
                    <a:pt x="46075" y="0"/>
                  </a:moveTo>
                  <a:lnTo>
                    <a:pt x="38163" y="0"/>
                  </a:lnTo>
                  <a:lnTo>
                    <a:pt x="30238" y="2159"/>
                  </a:lnTo>
                  <a:lnTo>
                    <a:pt x="23037" y="6121"/>
                  </a:lnTo>
                  <a:lnTo>
                    <a:pt x="16205" y="10071"/>
                  </a:lnTo>
                  <a:lnTo>
                    <a:pt x="10439" y="15836"/>
                  </a:lnTo>
                  <a:lnTo>
                    <a:pt x="6476" y="23037"/>
                  </a:lnTo>
                  <a:lnTo>
                    <a:pt x="2527" y="29870"/>
                  </a:lnTo>
                  <a:lnTo>
                    <a:pt x="355" y="37795"/>
                  </a:lnTo>
                  <a:lnTo>
                    <a:pt x="0" y="346671"/>
                  </a:lnTo>
                  <a:lnTo>
                    <a:pt x="2159" y="354596"/>
                  </a:lnTo>
                  <a:lnTo>
                    <a:pt x="6121" y="361797"/>
                  </a:lnTo>
                  <a:lnTo>
                    <a:pt x="10083" y="368630"/>
                  </a:lnTo>
                  <a:lnTo>
                    <a:pt x="15836" y="374396"/>
                  </a:lnTo>
                  <a:lnTo>
                    <a:pt x="23037" y="378358"/>
                  </a:lnTo>
                  <a:lnTo>
                    <a:pt x="29883" y="382320"/>
                  </a:lnTo>
                  <a:lnTo>
                    <a:pt x="37807" y="384479"/>
                  </a:lnTo>
                  <a:lnTo>
                    <a:pt x="264236" y="384479"/>
                  </a:lnTo>
                  <a:lnTo>
                    <a:pt x="295922" y="361429"/>
                  </a:lnTo>
                  <a:lnTo>
                    <a:pt x="299885" y="354596"/>
                  </a:lnTo>
                  <a:lnTo>
                    <a:pt x="302044" y="346671"/>
                  </a:lnTo>
                  <a:lnTo>
                    <a:pt x="301947" y="37795"/>
                  </a:lnTo>
                  <a:lnTo>
                    <a:pt x="299885" y="30238"/>
                  </a:lnTo>
                  <a:lnTo>
                    <a:pt x="295922" y="23037"/>
                  </a:lnTo>
                  <a:lnTo>
                    <a:pt x="291960" y="16192"/>
                  </a:lnTo>
                  <a:lnTo>
                    <a:pt x="286207" y="10439"/>
                  </a:lnTo>
                  <a:lnTo>
                    <a:pt x="279006" y="6476"/>
                  </a:lnTo>
                  <a:lnTo>
                    <a:pt x="272161" y="2514"/>
                  </a:lnTo>
                  <a:lnTo>
                    <a:pt x="264236" y="355"/>
                  </a:lnTo>
                  <a:lnTo>
                    <a:pt x="256324" y="355"/>
                  </a:lnTo>
                  <a:lnTo>
                    <a:pt x="46075" y="0"/>
                  </a:lnTo>
                  <a:close/>
                </a:path>
              </a:pathLst>
            </a:custGeom>
            <a:solidFill>
              <a:srgbClr val="DFF1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60" name="Google Shape;760;p19"/>
            <p:cNvSpPr/>
            <p:nvPr/>
          </p:nvSpPr>
          <p:spPr>
            <a:xfrm>
              <a:off x="671398" y="1279806"/>
              <a:ext cx="302260" cy="384810"/>
            </a:xfrm>
            <a:custGeom>
              <a:rect b="b" l="l" r="r" t="t"/>
              <a:pathLst>
                <a:path extrusionOk="0" h="384810" w="302259">
                  <a:moveTo>
                    <a:pt x="355" y="45720"/>
                  </a:moveTo>
                  <a:lnTo>
                    <a:pt x="355" y="37795"/>
                  </a:lnTo>
                  <a:lnTo>
                    <a:pt x="2527" y="29870"/>
                  </a:lnTo>
                  <a:lnTo>
                    <a:pt x="6476" y="23037"/>
                  </a:lnTo>
                  <a:lnTo>
                    <a:pt x="10439" y="15836"/>
                  </a:lnTo>
                  <a:lnTo>
                    <a:pt x="16205" y="10071"/>
                  </a:lnTo>
                  <a:lnTo>
                    <a:pt x="23037" y="6121"/>
                  </a:lnTo>
                  <a:lnTo>
                    <a:pt x="30238" y="2159"/>
                  </a:lnTo>
                  <a:lnTo>
                    <a:pt x="38163" y="0"/>
                  </a:lnTo>
                  <a:lnTo>
                    <a:pt x="46075" y="0"/>
                  </a:lnTo>
                  <a:lnTo>
                    <a:pt x="256324" y="355"/>
                  </a:lnTo>
                  <a:lnTo>
                    <a:pt x="264236" y="355"/>
                  </a:lnTo>
                  <a:lnTo>
                    <a:pt x="272161" y="2514"/>
                  </a:lnTo>
                  <a:lnTo>
                    <a:pt x="279006" y="6476"/>
                  </a:lnTo>
                  <a:lnTo>
                    <a:pt x="286207" y="10439"/>
                  </a:lnTo>
                  <a:lnTo>
                    <a:pt x="291960" y="16192"/>
                  </a:lnTo>
                  <a:lnTo>
                    <a:pt x="295922" y="23037"/>
                  </a:lnTo>
                  <a:lnTo>
                    <a:pt x="299885" y="30238"/>
                  </a:lnTo>
                  <a:lnTo>
                    <a:pt x="302044" y="38150"/>
                  </a:lnTo>
                  <a:lnTo>
                    <a:pt x="302044" y="46075"/>
                  </a:lnTo>
                  <a:lnTo>
                    <a:pt x="302044" y="338759"/>
                  </a:lnTo>
                  <a:lnTo>
                    <a:pt x="302044" y="346671"/>
                  </a:lnTo>
                  <a:lnTo>
                    <a:pt x="299885" y="354596"/>
                  </a:lnTo>
                  <a:lnTo>
                    <a:pt x="295922" y="361429"/>
                  </a:lnTo>
                  <a:lnTo>
                    <a:pt x="291960" y="368630"/>
                  </a:lnTo>
                  <a:lnTo>
                    <a:pt x="286207" y="374396"/>
                  </a:lnTo>
                  <a:lnTo>
                    <a:pt x="279361" y="378358"/>
                  </a:lnTo>
                  <a:lnTo>
                    <a:pt x="272161" y="382320"/>
                  </a:lnTo>
                  <a:lnTo>
                    <a:pt x="264236" y="384479"/>
                  </a:lnTo>
                  <a:lnTo>
                    <a:pt x="256324" y="384479"/>
                  </a:lnTo>
                  <a:lnTo>
                    <a:pt x="45720" y="384479"/>
                  </a:lnTo>
                  <a:lnTo>
                    <a:pt x="37807" y="384479"/>
                  </a:lnTo>
                  <a:lnTo>
                    <a:pt x="29883" y="382320"/>
                  </a:lnTo>
                  <a:lnTo>
                    <a:pt x="23037" y="378358"/>
                  </a:lnTo>
                  <a:lnTo>
                    <a:pt x="15836" y="374396"/>
                  </a:lnTo>
                  <a:lnTo>
                    <a:pt x="10083" y="368630"/>
                  </a:lnTo>
                  <a:lnTo>
                    <a:pt x="6121" y="361797"/>
                  </a:lnTo>
                  <a:lnTo>
                    <a:pt x="2159" y="354596"/>
                  </a:lnTo>
                  <a:lnTo>
                    <a:pt x="0" y="346671"/>
                  </a:lnTo>
                  <a:lnTo>
                    <a:pt x="0" y="338759"/>
                  </a:lnTo>
                  <a:lnTo>
                    <a:pt x="355" y="45720"/>
                  </a:lnTo>
                  <a:close/>
                </a:path>
              </a:pathLst>
            </a:custGeom>
            <a:noFill/>
            <a:ln cap="flat" cmpd="sng" w="9525">
              <a:solidFill>
                <a:srgbClr val="0183C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61" name="Google Shape;761;p19"/>
            <p:cNvSpPr/>
            <p:nvPr/>
          </p:nvSpPr>
          <p:spPr>
            <a:xfrm>
              <a:off x="1023480" y="1279806"/>
              <a:ext cx="302260" cy="384810"/>
            </a:xfrm>
            <a:custGeom>
              <a:rect b="b" l="l" r="r" t="t"/>
              <a:pathLst>
                <a:path extrusionOk="0" h="384810" w="302259">
                  <a:moveTo>
                    <a:pt x="46075" y="0"/>
                  </a:moveTo>
                  <a:lnTo>
                    <a:pt x="38163" y="0"/>
                  </a:lnTo>
                  <a:lnTo>
                    <a:pt x="30238" y="2159"/>
                  </a:lnTo>
                  <a:lnTo>
                    <a:pt x="23037" y="6121"/>
                  </a:lnTo>
                  <a:lnTo>
                    <a:pt x="16205" y="10071"/>
                  </a:lnTo>
                  <a:lnTo>
                    <a:pt x="10439" y="15836"/>
                  </a:lnTo>
                  <a:lnTo>
                    <a:pt x="6477" y="23037"/>
                  </a:lnTo>
                  <a:lnTo>
                    <a:pt x="2514" y="29870"/>
                  </a:lnTo>
                  <a:lnTo>
                    <a:pt x="355" y="37795"/>
                  </a:lnTo>
                  <a:lnTo>
                    <a:pt x="0" y="346671"/>
                  </a:lnTo>
                  <a:lnTo>
                    <a:pt x="2159" y="354596"/>
                  </a:lnTo>
                  <a:lnTo>
                    <a:pt x="6121" y="361797"/>
                  </a:lnTo>
                  <a:lnTo>
                    <a:pt x="10083" y="368630"/>
                  </a:lnTo>
                  <a:lnTo>
                    <a:pt x="15836" y="374396"/>
                  </a:lnTo>
                  <a:lnTo>
                    <a:pt x="23037" y="378358"/>
                  </a:lnTo>
                  <a:lnTo>
                    <a:pt x="29883" y="382320"/>
                  </a:lnTo>
                  <a:lnTo>
                    <a:pt x="37795" y="384479"/>
                  </a:lnTo>
                  <a:lnTo>
                    <a:pt x="264236" y="384479"/>
                  </a:lnTo>
                  <a:lnTo>
                    <a:pt x="295922" y="361429"/>
                  </a:lnTo>
                  <a:lnTo>
                    <a:pt x="299885" y="354596"/>
                  </a:lnTo>
                  <a:lnTo>
                    <a:pt x="302044" y="346671"/>
                  </a:lnTo>
                  <a:lnTo>
                    <a:pt x="301947" y="37795"/>
                  </a:lnTo>
                  <a:lnTo>
                    <a:pt x="299885" y="30238"/>
                  </a:lnTo>
                  <a:lnTo>
                    <a:pt x="295922" y="23037"/>
                  </a:lnTo>
                  <a:lnTo>
                    <a:pt x="291960" y="16192"/>
                  </a:lnTo>
                  <a:lnTo>
                    <a:pt x="286194" y="10439"/>
                  </a:lnTo>
                  <a:lnTo>
                    <a:pt x="278993" y="6476"/>
                  </a:lnTo>
                  <a:lnTo>
                    <a:pt x="272161" y="2514"/>
                  </a:lnTo>
                  <a:lnTo>
                    <a:pt x="264236" y="355"/>
                  </a:lnTo>
                  <a:lnTo>
                    <a:pt x="256324" y="355"/>
                  </a:lnTo>
                  <a:lnTo>
                    <a:pt x="46075" y="0"/>
                  </a:lnTo>
                  <a:close/>
                </a:path>
              </a:pathLst>
            </a:custGeom>
            <a:solidFill>
              <a:srgbClr val="DFF1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62" name="Google Shape;762;p19"/>
            <p:cNvSpPr/>
            <p:nvPr/>
          </p:nvSpPr>
          <p:spPr>
            <a:xfrm>
              <a:off x="1023480" y="1279806"/>
              <a:ext cx="302260" cy="384810"/>
            </a:xfrm>
            <a:custGeom>
              <a:rect b="b" l="l" r="r" t="t"/>
              <a:pathLst>
                <a:path extrusionOk="0" h="384810" w="302259">
                  <a:moveTo>
                    <a:pt x="355" y="45720"/>
                  </a:moveTo>
                  <a:lnTo>
                    <a:pt x="355" y="37795"/>
                  </a:lnTo>
                  <a:lnTo>
                    <a:pt x="2514" y="29870"/>
                  </a:lnTo>
                  <a:lnTo>
                    <a:pt x="6477" y="23037"/>
                  </a:lnTo>
                  <a:lnTo>
                    <a:pt x="10439" y="15836"/>
                  </a:lnTo>
                  <a:lnTo>
                    <a:pt x="16205" y="10071"/>
                  </a:lnTo>
                  <a:lnTo>
                    <a:pt x="23037" y="6121"/>
                  </a:lnTo>
                  <a:lnTo>
                    <a:pt x="30238" y="2159"/>
                  </a:lnTo>
                  <a:lnTo>
                    <a:pt x="38163" y="0"/>
                  </a:lnTo>
                  <a:lnTo>
                    <a:pt x="46075" y="0"/>
                  </a:lnTo>
                  <a:lnTo>
                    <a:pt x="256324" y="355"/>
                  </a:lnTo>
                  <a:lnTo>
                    <a:pt x="264236" y="355"/>
                  </a:lnTo>
                  <a:lnTo>
                    <a:pt x="272161" y="2514"/>
                  </a:lnTo>
                  <a:lnTo>
                    <a:pt x="278993" y="6476"/>
                  </a:lnTo>
                  <a:lnTo>
                    <a:pt x="286194" y="10439"/>
                  </a:lnTo>
                  <a:lnTo>
                    <a:pt x="291960" y="16192"/>
                  </a:lnTo>
                  <a:lnTo>
                    <a:pt x="295922" y="23037"/>
                  </a:lnTo>
                  <a:lnTo>
                    <a:pt x="299885" y="30238"/>
                  </a:lnTo>
                  <a:lnTo>
                    <a:pt x="302044" y="38150"/>
                  </a:lnTo>
                  <a:lnTo>
                    <a:pt x="302044" y="46075"/>
                  </a:lnTo>
                  <a:lnTo>
                    <a:pt x="302044" y="338759"/>
                  </a:lnTo>
                  <a:lnTo>
                    <a:pt x="302044" y="346671"/>
                  </a:lnTo>
                  <a:lnTo>
                    <a:pt x="299885" y="354596"/>
                  </a:lnTo>
                  <a:lnTo>
                    <a:pt x="295922" y="361429"/>
                  </a:lnTo>
                  <a:lnTo>
                    <a:pt x="291960" y="368630"/>
                  </a:lnTo>
                  <a:lnTo>
                    <a:pt x="286194" y="374396"/>
                  </a:lnTo>
                  <a:lnTo>
                    <a:pt x="279361" y="378358"/>
                  </a:lnTo>
                  <a:lnTo>
                    <a:pt x="272161" y="382320"/>
                  </a:lnTo>
                  <a:lnTo>
                    <a:pt x="264236" y="384479"/>
                  </a:lnTo>
                  <a:lnTo>
                    <a:pt x="256324" y="384479"/>
                  </a:lnTo>
                  <a:lnTo>
                    <a:pt x="45719" y="384479"/>
                  </a:lnTo>
                  <a:lnTo>
                    <a:pt x="37795" y="384479"/>
                  </a:lnTo>
                  <a:lnTo>
                    <a:pt x="29883" y="382320"/>
                  </a:lnTo>
                  <a:lnTo>
                    <a:pt x="23037" y="378358"/>
                  </a:lnTo>
                  <a:lnTo>
                    <a:pt x="15836" y="374396"/>
                  </a:lnTo>
                  <a:lnTo>
                    <a:pt x="10083" y="368630"/>
                  </a:lnTo>
                  <a:lnTo>
                    <a:pt x="6121" y="361797"/>
                  </a:lnTo>
                  <a:lnTo>
                    <a:pt x="2159" y="354596"/>
                  </a:lnTo>
                  <a:lnTo>
                    <a:pt x="0" y="346671"/>
                  </a:lnTo>
                  <a:lnTo>
                    <a:pt x="0" y="338759"/>
                  </a:lnTo>
                  <a:lnTo>
                    <a:pt x="355" y="45720"/>
                  </a:lnTo>
                  <a:close/>
                </a:path>
              </a:pathLst>
            </a:custGeom>
            <a:noFill/>
            <a:ln cap="flat" cmpd="sng" w="9525">
              <a:solidFill>
                <a:srgbClr val="0183C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63" name="Google Shape;763;p19"/>
            <p:cNvSpPr/>
            <p:nvPr/>
          </p:nvSpPr>
          <p:spPr>
            <a:xfrm>
              <a:off x="1375562" y="1279806"/>
              <a:ext cx="302260" cy="384810"/>
            </a:xfrm>
            <a:custGeom>
              <a:rect b="b" l="l" r="r" t="t"/>
              <a:pathLst>
                <a:path extrusionOk="0" h="384810" w="302260">
                  <a:moveTo>
                    <a:pt x="46075" y="0"/>
                  </a:moveTo>
                  <a:lnTo>
                    <a:pt x="38163" y="0"/>
                  </a:lnTo>
                  <a:lnTo>
                    <a:pt x="30238" y="2159"/>
                  </a:lnTo>
                  <a:lnTo>
                    <a:pt x="23037" y="6121"/>
                  </a:lnTo>
                  <a:lnTo>
                    <a:pt x="16192" y="10071"/>
                  </a:lnTo>
                  <a:lnTo>
                    <a:pt x="10439" y="15836"/>
                  </a:lnTo>
                  <a:lnTo>
                    <a:pt x="6477" y="23037"/>
                  </a:lnTo>
                  <a:lnTo>
                    <a:pt x="2514" y="29870"/>
                  </a:lnTo>
                  <a:lnTo>
                    <a:pt x="355" y="37795"/>
                  </a:lnTo>
                  <a:lnTo>
                    <a:pt x="0" y="346671"/>
                  </a:lnTo>
                  <a:lnTo>
                    <a:pt x="2159" y="354596"/>
                  </a:lnTo>
                  <a:lnTo>
                    <a:pt x="6121" y="361797"/>
                  </a:lnTo>
                  <a:lnTo>
                    <a:pt x="10083" y="368630"/>
                  </a:lnTo>
                  <a:lnTo>
                    <a:pt x="15836" y="374396"/>
                  </a:lnTo>
                  <a:lnTo>
                    <a:pt x="23037" y="378358"/>
                  </a:lnTo>
                  <a:lnTo>
                    <a:pt x="29883" y="382320"/>
                  </a:lnTo>
                  <a:lnTo>
                    <a:pt x="37795" y="384479"/>
                  </a:lnTo>
                  <a:lnTo>
                    <a:pt x="264236" y="384479"/>
                  </a:lnTo>
                  <a:lnTo>
                    <a:pt x="295922" y="361429"/>
                  </a:lnTo>
                  <a:lnTo>
                    <a:pt x="299872" y="354596"/>
                  </a:lnTo>
                  <a:lnTo>
                    <a:pt x="302031" y="346671"/>
                  </a:lnTo>
                  <a:lnTo>
                    <a:pt x="301934" y="37795"/>
                  </a:lnTo>
                  <a:lnTo>
                    <a:pt x="299872" y="30238"/>
                  </a:lnTo>
                  <a:lnTo>
                    <a:pt x="295922" y="23037"/>
                  </a:lnTo>
                  <a:lnTo>
                    <a:pt x="291960" y="16192"/>
                  </a:lnTo>
                  <a:lnTo>
                    <a:pt x="286194" y="10439"/>
                  </a:lnTo>
                  <a:lnTo>
                    <a:pt x="278993" y="6476"/>
                  </a:lnTo>
                  <a:lnTo>
                    <a:pt x="272160" y="2514"/>
                  </a:lnTo>
                  <a:lnTo>
                    <a:pt x="264236" y="355"/>
                  </a:lnTo>
                  <a:lnTo>
                    <a:pt x="256311" y="355"/>
                  </a:lnTo>
                  <a:lnTo>
                    <a:pt x="46075" y="0"/>
                  </a:lnTo>
                  <a:close/>
                </a:path>
              </a:pathLst>
            </a:custGeom>
            <a:solidFill>
              <a:srgbClr val="DFF1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64" name="Google Shape;764;p19"/>
            <p:cNvSpPr/>
            <p:nvPr/>
          </p:nvSpPr>
          <p:spPr>
            <a:xfrm>
              <a:off x="1375562" y="1279806"/>
              <a:ext cx="302260" cy="384810"/>
            </a:xfrm>
            <a:custGeom>
              <a:rect b="b" l="l" r="r" t="t"/>
              <a:pathLst>
                <a:path extrusionOk="0" h="384810" w="302260">
                  <a:moveTo>
                    <a:pt x="355" y="45720"/>
                  </a:moveTo>
                  <a:lnTo>
                    <a:pt x="355" y="37795"/>
                  </a:lnTo>
                  <a:lnTo>
                    <a:pt x="2514" y="29870"/>
                  </a:lnTo>
                  <a:lnTo>
                    <a:pt x="6477" y="23037"/>
                  </a:lnTo>
                  <a:lnTo>
                    <a:pt x="10439" y="15836"/>
                  </a:lnTo>
                  <a:lnTo>
                    <a:pt x="16192" y="10071"/>
                  </a:lnTo>
                  <a:lnTo>
                    <a:pt x="23037" y="6121"/>
                  </a:lnTo>
                  <a:lnTo>
                    <a:pt x="30238" y="2159"/>
                  </a:lnTo>
                  <a:lnTo>
                    <a:pt x="38163" y="0"/>
                  </a:lnTo>
                  <a:lnTo>
                    <a:pt x="46075" y="0"/>
                  </a:lnTo>
                  <a:lnTo>
                    <a:pt x="256311" y="355"/>
                  </a:lnTo>
                  <a:lnTo>
                    <a:pt x="264236" y="355"/>
                  </a:lnTo>
                  <a:lnTo>
                    <a:pt x="272160" y="2514"/>
                  </a:lnTo>
                  <a:lnTo>
                    <a:pt x="278993" y="6476"/>
                  </a:lnTo>
                  <a:lnTo>
                    <a:pt x="286194" y="10439"/>
                  </a:lnTo>
                  <a:lnTo>
                    <a:pt x="291960" y="16192"/>
                  </a:lnTo>
                  <a:lnTo>
                    <a:pt x="295922" y="23037"/>
                  </a:lnTo>
                  <a:lnTo>
                    <a:pt x="299872" y="30238"/>
                  </a:lnTo>
                  <a:lnTo>
                    <a:pt x="302031" y="38150"/>
                  </a:lnTo>
                  <a:lnTo>
                    <a:pt x="302031" y="46075"/>
                  </a:lnTo>
                  <a:lnTo>
                    <a:pt x="302031" y="338759"/>
                  </a:lnTo>
                  <a:lnTo>
                    <a:pt x="302031" y="346671"/>
                  </a:lnTo>
                  <a:lnTo>
                    <a:pt x="299872" y="354596"/>
                  </a:lnTo>
                  <a:lnTo>
                    <a:pt x="295922" y="361429"/>
                  </a:lnTo>
                  <a:lnTo>
                    <a:pt x="291960" y="368630"/>
                  </a:lnTo>
                  <a:lnTo>
                    <a:pt x="286194" y="374396"/>
                  </a:lnTo>
                  <a:lnTo>
                    <a:pt x="279361" y="378358"/>
                  </a:lnTo>
                  <a:lnTo>
                    <a:pt x="272160" y="382320"/>
                  </a:lnTo>
                  <a:lnTo>
                    <a:pt x="264236" y="384479"/>
                  </a:lnTo>
                  <a:lnTo>
                    <a:pt x="256311" y="384479"/>
                  </a:lnTo>
                  <a:lnTo>
                    <a:pt x="45720" y="384479"/>
                  </a:lnTo>
                  <a:lnTo>
                    <a:pt x="37795" y="384479"/>
                  </a:lnTo>
                  <a:lnTo>
                    <a:pt x="29883" y="382320"/>
                  </a:lnTo>
                  <a:lnTo>
                    <a:pt x="23037" y="378358"/>
                  </a:lnTo>
                  <a:lnTo>
                    <a:pt x="15836" y="374396"/>
                  </a:lnTo>
                  <a:lnTo>
                    <a:pt x="10083" y="368630"/>
                  </a:lnTo>
                  <a:lnTo>
                    <a:pt x="6121" y="361797"/>
                  </a:lnTo>
                  <a:lnTo>
                    <a:pt x="2159" y="354596"/>
                  </a:lnTo>
                  <a:lnTo>
                    <a:pt x="0" y="346671"/>
                  </a:lnTo>
                  <a:lnTo>
                    <a:pt x="0" y="338759"/>
                  </a:lnTo>
                  <a:lnTo>
                    <a:pt x="355" y="45720"/>
                  </a:lnTo>
                  <a:close/>
                </a:path>
              </a:pathLst>
            </a:custGeom>
            <a:noFill/>
            <a:ln cap="flat" cmpd="sng" w="9525">
              <a:solidFill>
                <a:srgbClr val="0183C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65" name="Google Shape;765;p19"/>
            <p:cNvSpPr/>
            <p:nvPr/>
          </p:nvSpPr>
          <p:spPr>
            <a:xfrm>
              <a:off x="1727644" y="1279806"/>
              <a:ext cx="302260" cy="384810"/>
            </a:xfrm>
            <a:custGeom>
              <a:rect b="b" l="l" r="r" t="t"/>
              <a:pathLst>
                <a:path extrusionOk="0" h="384810" w="302260">
                  <a:moveTo>
                    <a:pt x="46075" y="0"/>
                  </a:moveTo>
                  <a:lnTo>
                    <a:pt x="38150" y="0"/>
                  </a:lnTo>
                  <a:lnTo>
                    <a:pt x="30238" y="2159"/>
                  </a:lnTo>
                  <a:lnTo>
                    <a:pt x="23037" y="6121"/>
                  </a:lnTo>
                  <a:lnTo>
                    <a:pt x="16192" y="10071"/>
                  </a:lnTo>
                  <a:lnTo>
                    <a:pt x="10439" y="15836"/>
                  </a:lnTo>
                  <a:lnTo>
                    <a:pt x="6476" y="23037"/>
                  </a:lnTo>
                  <a:lnTo>
                    <a:pt x="2514" y="29870"/>
                  </a:lnTo>
                  <a:lnTo>
                    <a:pt x="355" y="37795"/>
                  </a:lnTo>
                  <a:lnTo>
                    <a:pt x="0" y="346671"/>
                  </a:lnTo>
                  <a:lnTo>
                    <a:pt x="2159" y="354596"/>
                  </a:lnTo>
                  <a:lnTo>
                    <a:pt x="6121" y="361797"/>
                  </a:lnTo>
                  <a:lnTo>
                    <a:pt x="10071" y="368630"/>
                  </a:lnTo>
                  <a:lnTo>
                    <a:pt x="15836" y="374396"/>
                  </a:lnTo>
                  <a:lnTo>
                    <a:pt x="23037" y="378358"/>
                  </a:lnTo>
                  <a:lnTo>
                    <a:pt x="29870" y="382320"/>
                  </a:lnTo>
                  <a:lnTo>
                    <a:pt x="37795" y="384479"/>
                  </a:lnTo>
                  <a:lnTo>
                    <a:pt x="264236" y="384479"/>
                  </a:lnTo>
                  <a:lnTo>
                    <a:pt x="295910" y="361429"/>
                  </a:lnTo>
                  <a:lnTo>
                    <a:pt x="299872" y="354596"/>
                  </a:lnTo>
                  <a:lnTo>
                    <a:pt x="302031" y="346671"/>
                  </a:lnTo>
                  <a:lnTo>
                    <a:pt x="301934" y="37795"/>
                  </a:lnTo>
                  <a:lnTo>
                    <a:pt x="299872" y="30238"/>
                  </a:lnTo>
                  <a:lnTo>
                    <a:pt x="295910" y="23037"/>
                  </a:lnTo>
                  <a:lnTo>
                    <a:pt x="291960" y="16192"/>
                  </a:lnTo>
                  <a:lnTo>
                    <a:pt x="286194" y="10439"/>
                  </a:lnTo>
                  <a:lnTo>
                    <a:pt x="278993" y="6476"/>
                  </a:lnTo>
                  <a:lnTo>
                    <a:pt x="272161" y="2514"/>
                  </a:lnTo>
                  <a:lnTo>
                    <a:pt x="264236" y="355"/>
                  </a:lnTo>
                  <a:lnTo>
                    <a:pt x="256311" y="355"/>
                  </a:lnTo>
                  <a:lnTo>
                    <a:pt x="46075" y="0"/>
                  </a:lnTo>
                  <a:close/>
                </a:path>
              </a:pathLst>
            </a:custGeom>
            <a:solidFill>
              <a:srgbClr val="DFF1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66" name="Google Shape;766;p19"/>
            <p:cNvSpPr/>
            <p:nvPr/>
          </p:nvSpPr>
          <p:spPr>
            <a:xfrm>
              <a:off x="1727644" y="1279806"/>
              <a:ext cx="302260" cy="384810"/>
            </a:xfrm>
            <a:custGeom>
              <a:rect b="b" l="l" r="r" t="t"/>
              <a:pathLst>
                <a:path extrusionOk="0" h="384810" w="302260">
                  <a:moveTo>
                    <a:pt x="355" y="45720"/>
                  </a:moveTo>
                  <a:lnTo>
                    <a:pt x="355" y="37795"/>
                  </a:lnTo>
                  <a:lnTo>
                    <a:pt x="2514" y="29870"/>
                  </a:lnTo>
                  <a:lnTo>
                    <a:pt x="6476" y="23037"/>
                  </a:lnTo>
                  <a:lnTo>
                    <a:pt x="10439" y="15836"/>
                  </a:lnTo>
                  <a:lnTo>
                    <a:pt x="16192" y="10071"/>
                  </a:lnTo>
                  <a:lnTo>
                    <a:pt x="23037" y="6121"/>
                  </a:lnTo>
                  <a:lnTo>
                    <a:pt x="30238" y="2159"/>
                  </a:lnTo>
                  <a:lnTo>
                    <a:pt x="38150" y="0"/>
                  </a:lnTo>
                  <a:lnTo>
                    <a:pt x="46075" y="0"/>
                  </a:lnTo>
                  <a:lnTo>
                    <a:pt x="256311" y="355"/>
                  </a:lnTo>
                  <a:lnTo>
                    <a:pt x="264236" y="355"/>
                  </a:lnTo>
                  <a:lnTo>
                    <a:pt x="272161" y="2514"/>
                  </a:lnTo>
                  <a:lnTo>
                    <a:pt x="278993" y="6476"/>
                  </a:lnTo>
                  <a:lnTo>
                    <a:pt x="286194" y="10439"/>
                  </a:lnTo>
                  <a:lnTo>
                    <a:pt x="291960" y="16192"/>
                  </a:lnTo>
                  <a:lnTo>
                    <a:pt x="295910" y="23037"/>
                  </a:lnTo>
                  <a:lnTo>
                    <a:pt x="299872" y="30238"/>
                  </a:lnTo>
                  <a:lnTo>
                    <a:pt x="302031" y="38150"/>
                  </a:lnTo>
                  <a:lnTo>
                    <a:pt x="302031" y="46075"/>
                  </a:lnTo>
                  <a:lnTo>
                    <a:pt x="302031" y="338759"/>
                  </a:lnTo>
                  <a:lnTo>
                    <a:pt x="302031" y="346671"/>
                  </a:lnTo>
                  <a:lnTo>
                    <a:pt x="299872" y="354596"/>
                  </a:lnTo>
                  <a:lnTo>
                    <a:pt x="295910" y="361429"/>
                  </a:lnTo>
                  <a:lnTo>
                    <a:pt x="291960" y="368630"/>
                  </a:lnTo>
                  <a:lnTo>
                    <a:pt x="286194" y="374396"/>
                  </a:lnTo>
                  <a:lnTo>
                    <a:pt x="279349" y="378358"/>
                  </a:lnTo>
                  <a:lnTo>
                    <a:pt x="272161" y="382320"/>
                  </a:lnTo>
                  <a:lnTo>
                    <a:pt x="264236" y="384479"/>
                  </a:lnTo>
                  <a:lnTo>
                    <a:pt x="256311" y="384479"/>
                  </a:lnTo>
                  <a:lnTo>
                    <a:pt x="45719" y="384479"/>
                  </a:lnTo>
                  <a:lnTo>
                    <a:pt x="37795" y="384479"/>
                  </a:lnTo>
                  <a:lnTo>
                    <a:pt x="29870" y="382320"/>
                  </a:lnTo>
                  <a:lnTo>
                    <a:pt x="23037" y="378358"/>
                  </a:lnTo>
                  <a:lnTo>
                    <a:pt x="15836" y="374396"/>
                  </a:lnTo>
                  <a:lnTo>
                    <a:pt x="10071" y="368630"/>
                  </a:lnTo>
                  <a:lnTo>
                    <a:pt x="6121" y="361797"/>
                  </a:lnTo>
                  <a:lnTo>
                    <a:pt x="2159" y="354596"/>
                  </a:lnTo>
                  <a:lnTo>
                    <a:pt x="0" y="346671"/>
                  </a:lnTo>
                  <a:lnTo>
                    <a:pt x="0" y="338759"/>
                  </a:lnTo>
                  <a:lnTo>
                    <a:pt x="355" y="45720"/>
                  </a:lnTo>
                  <a:close/>
                </a:path>
              </a:pathLst>
            </a:custGeom>
            <a:noFill/>
            <a:ln cap="flat" cmpd="sng" w="9525">
              <a:solidFill>
                <a:srgbClr val="0183C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67" name="Google Shape;767;p19"/>
            <p:cNvSpPr/>
            <p:nvPr/>
          </p:nvSpPr>
          <p:spPr>
            <a:xfrm>
              <a:off x="2079713" y="1279806"/>
              <a:ext cx="302260" cy="384810"/>
            </a:xfrm>
            <a:custGeom>
              <a:rect b="b" l="l" r="r" t="t"/>
              <a:pathLst>
                <a:path extrusionOk="0" h="384810" w="302260">
                  <a:moveTo>
                    <a:pt x="46088" y="0"/>
                  </a:moveTo>
                  <a:lnTo>
                    <a:pt x="38163" y="0"/>
                  </a:lnTo>
                  <a:lnTo>
                    <a:pt x="30251" y="2159"/>
                  </a:lnTo>
                  <a:lnTo>
                    <a:pt x="23050" y="6121"/>
                  </a:lnTo>
                  <a:lnTo>
                    <a:pt x="16205" y="10071"/>
                  </a:lnTo>
                  <a:lnTo>
                    <a:pt x="10452" y="15836"/>
                  </a:lnTo>
                  <a:lnTo>
                    <a:pt x="6489" y="23037"/>
                  </a:lnTo>
                  <a:lnTo>
                    <a:pt x="2527" y="29870"/>
                  </a:lnTo>
                  <a:lnTo>
                    <a:pt x="368" y="37795"/>
                  </a:lnTo>
                  <a:lnTo>
                    <a:pt x="0" y="346671"/>
                  </a:lnTo>
                  <a:lnTo>
                    <a:pt x="2171" y="354596"/>
                  </a:lnTo>
                  <a:lnTo>
                    <a:pt x="6121" y="361797"/>
                  </a:lnTo>
                  <a:lnTo>
                    <a:pt x="10083" y="368630"/>
                  </a:lnTo>
                  <a:lnTo>
                    <a:pt x="15849" y="374396"/>
                  </a:lnTo>
                  <a:lnTo>
                    <a:pt x="23050" y="378358"/>
                  </a:lnTo>
                  <a:lnTo>
                    <a:pt x="29883" y="382320"/>
                  </a:lnTo>
                  <a:lnTo>
                    <a:pt x="37807" y="384479"/>
                  </a:lnTo>
                  <a:lnTo>
                    <a:pt x="264248" y="384479"/>
                  </a:lnTo>
                  <a:lnTo>
                    <a:pt x="295922" y="361429"/>
                  </a:lnTo>
                  <a:lnTo>
                    <a:pt x="299885" y="354596"/>
                  </a:lnTo>
                  <a:lnTo>
                    <a:pt x="302044" y="346671"/>
                  </a:lnTo>
                  <a:lnTo>
                    <a:pt x="301947" y="37795"/>
                  </a:lnTo>
                  <a:lnTo>
                    <a:pt x="299885" y="30238"/>
                  </a:lnTo>
                  <a:lnTo>
                    <a:pt x="295922" y="23037"/>
                  </a:lnTo>
                  <a:lnTo>
                    <a:pt x="291960" y="16192"/>
                  </a:lnTo>
                  <a:lnTo>
                    <a:pt x="286207" y="10439"/>
                  </a:lnTo>
                  <a:lnTo>
                    <a:pt x="279006" y="6476"/>
                  </a:lnTo>
                  <a:lnTo>
                    <a:pt x="272161" y="2514"/>
                  </a:lnTo>
                  <a:lnTo>
                    <a:pt x="264248" y="355"/>
                  </a:lnTo>
                  <a:lnTo>
                    <a:pt x="256324" y="355"/>
                  </a:lnTo>
                  <a:lnTo>
                    <a:pt x="46088" y="0"/>
                  </a:lnTo>
                  <a:close/>
                </a:path>
              </a:pathLst>
            </a:custGeom>
            <a:solidFill>
              <a:srgbClr val="DFF1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68" name="Google Shape;768;p19"/>
            <p:cNvSpPr/>
            <p:nvPr/>
          </p:nvSpPr>
          <p:spPr>
            <a:xfrm>
              <a:off x="2079713" y="1279806"/>
              <a:ext cx="302260" cy="384810"/>
            </a:xfrm>
            <a:custGeom>
              <a:rect b="b" l="l" r="r" t="t"/>
              <a:pathLst>
                <a:path extrusionOk="0" h="384810" w="302260">
                  <a:moveTo>
                    <a:pt x="368" y="45720"/>
                  </a:moveTo>
                  <a:lnTo>
                    <a:pt x="368" y="37795"/>
                  </a:lnTo>
                  <a:lnTo>
                    <a:pt x="2527" y="29870"/>
                  </a:lnTo>
                  <a:lnTo>
                    <a:pt x="6489" y="23037"/>
                  </a:lnTo>
                  <a:lnTo>
                    <a:pt x="10452" y="15836"/>
                  </a:lnTo>
                  <a:lnTo>
                    <a:pt x="16205" y="10071"/>
                  </a:lnTo>
                  <a:lnTo>
                    <a:pt x="23050" y="6121"/>
                  </a:lnTo>
                  <a:lnTo>
                    <a:pt x="30251" y="2159"/>
                  </a:lnTo>
                  <a:lnTo>
                    <a:pt x="38163" y="0"/>
                  </a:lnTo>
                  <a:lnTo>
                    <a:pt x="46088" y="0"/>
                  </a:lnTo>
                  <a:lnTo>
                    <a:pt x="256324" y="355"/>
                  </a:lnTo>
                  <a:lnTo>
                    <a:pt x="264248" y="355"/>
                  </a:lnTo>
                  <a:lnTo>
                    <a:pt x="272161" y="2514"/>
                  </a:lnTo>
                  <a:lnTo>
                    <a:pt x="279006" y="6476"/>
                  </a:lnTo>
                  <a:lnTo>
                    <a:pt x="286207" y="10439"/>
                  </a:lnTo>
                  <a:lnTo>
                    <a:pt x="291960" y="16192"/>
                  </a:lnTo>
                  <a:lnTo>
                    <a:pt x="295922" y="23037"/>
                  </a:lnTo>
                  <a:lnTo>
                    <a:pt x="299885" y="30238"/>
                  </a:lnTo>
                  <a:lnTo>
                    <a:pt x="302044" y="38150"/>
                  </a:lnTo>
                  <a:lnTo>
                    <a:pt x="302044" y="46075"/>
                  </a:lnTo>
                  <a:lnTo>
                    <a:pt x="302044" y="338759"/>
                  </a:lnTo>
                  <a:lnTo>
                    <a:pt x="302044" y="346671"/>
                  </a:lnTo>
                  <a:lnTo>
                    <a:pt x="299885" y="354596"/>
                  </a:lnTo>
                  <a:lnTo>
                    <a:pt x="295922" y="361429"/>
                  </a:lnTo>
                  <a:lnTo>
                    <a:pt x="291960" y="368630"/>
                  </a:lnTo>
                  <a:lnTo>
                    <a:pt x="286207" y="374396"/>
                  </a:lnTo>
                  <a:lnTo>
                    <a:pt x="279361" y="378358"/>
                  </a:lnTo>
                  <a:lnTo>
                    <a:pt x="272161" y="382320"/>
                  </a:lnTo>
                  <a:lnTo>
                    <a:pt x="264248" y="384479"/>
                  </a:lnTo>
                  <a:lnTo>
                    <a:pt x="256324" y="384479"/>
                  </a:lnTo>
                  <a:lnTo>
                    <a:pt x="45719" y="384479"/>
                  </a:lnTo>
                  <a:lnTo>
                    <a:pt x="37807" y="384479"/>
                  </a:lnTo>
                  <a:lnTo>
                    <a:pt x="29883" y="382320"/>
                  </a:lnTo>
                  <a:lnTo>
                    <a:pt x="23050" y="378358"/>
                  </a:lnTo>
                  <a:lnTo>
                    <a:pt x="15849" y="374396"/>
                  </a:lnTo>
                  <a:lnTo>
                    <a:pt x="10083" y="368630"/>
                  </a:lnTo>
                  <a:lnTo>
                    <a:pt x="6121" y="361797"/>
                  </a:lnTo>
                  <a:lnTo>
                    <a:pt x="2171" y="354596"/>
                  </a:lnTo>
                  <a:lnTo>
                    <a:pt x="0" y="346671"/>
                  </a:lnTo>
                  <a:lnTo>
                    <a:pt x="0" y="338759"/>
                  </a:lnTo>
                  <a:lnTo>
                    <a:pt x="368" y="45720"/>
                  </a:lnTo>
                  <a:close/>
                </a:path>
              </a:pathLst>
            </a:custGeom>
            <a:noFill/>
            <a:ln cap="flat" cmpd="sng" w="9525">
              <a:solidFill>
                <a:srgbClr val="0183C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69" name="Google Shape;769;p19"/>
            <p:cNvSpPr/>
            <p:nvPr/>
          </p:nvSpPr>
          <p:spPr>
            <a:xfrm>
              <a:off x="2431440" y="1279806"/>
              <a:ext cx="302260" cy="384810"/>
            </a:xfrm>
            <a:custGeom>
              <a:rect b="b" l="l" r="r" t="t"/>
              <a:pathLst>
                <a:path extrusionOk="0" h="384810" w="302260">
                  <a:moveTo>
                    <a:pt x="46075" y="0"/>
                  </a:moveTo>
                  <a:lnTo>
                    <a:pt x="38163" y="0"/>
                  </a:lnTo>
                  <a:lnTo>
                    <a:pt x="30238" y="2159"/>
                  </a:lnTo>
                  <a:lnTo>
                    <a:pt x="23037" y="6121"/>
                  </a:lnTo>
                  <a:lnTo>
                    <a:pt x="16205" y="10071"/>
                  </a:lnTo>
                  <a:lnTo>
                    <a:pt x="10439" y="15836"/>
                  </a:lnTo>
                  <a:lnTo>
                    <a:pt x="6476" y="23037"/>
                  </a:lnTo>
                  <a:lnTo>
                    <a:pt x="2514" y="29870"/>
                  </a:lnTo>
                  <a:lnTo>
                    <a:pt x="355" y="37795"/>
                  </a:lnTo>
                  <a:lnTo>
                    <a:pt x="0" y="346671"/>
                  </a:lnTo>
                  <a:lnTo>
                    <a:pt x="2159" y="354596"/>
                  </a:lnTo>
                  <a:lnTo>
                    <a:pt x="6121" y="361797"/>
                  </a:lnTo>
                  <a:lnTo>
                    <a:pt x="10083" y="368630"/>
                  </a:lnTo>
                  <a:lnTo>
                    <a:pt x="15836" y="374396"/>
                  </a:lnTo>
                  <a:lnTo>
                    <a:pt x="23037" y="378358"/>
                  </a:lnTo>
                  <a:lnTo>
                    <a:pt x="29883" y="382320"/>
                  </a:lnTo>
                  <a:lnTo>
                    <a:pt x="37795" y="384479"/>
                  </a:lnTo>
                  <a:lnTo>
                    <a:pt x="264236" y="384479"/>
                  </a:lnTo>
                  <a:lnTo>
                    <a:pt x="295922" y="361429"/>
                  </a:lnTo>
                  <a:lnTo>
                    <a:pt x="299885" y="354596"/>
                  </a:lnTo>
                  <a:lnTo>
                    <a:pt x="302044" y="346671"/>
                  </a:lnTo>
                  <a:lnTo>
                    <a:pt x="301947" y="37795"/>
                  </a:lnTo>
                  <a:lnTo>
                    <a:pt x="299885" y="30238"/>
                  </a:lnTo>
                  <a:lnTo>
                    <a:pt x="295922" y="23037"/>
                  </a:lnTo>
                  <a:lnTo>
                    <a:pt x="291960" y="16192"/>
                  </a:lnTo>
                  <a:lnTo>
                    <a:pt x="286194" y="10439"/>
                  </a:lnTo>
                  <a:lnTo>
                    <a:pt x="278993" y="6476"/>
                  </a:lnTo>
                  <a:lnTo>
                    <a:pt x="272161" y="2514"/>
                  </a:lnTo>
                  <a:lnTo>
                    <a:pt x="264236" y="355"/>
                  </a:lnTo>
                  <a:lnTo>
                    <a:pt x="256324" y="355"/>
                  </a:lnTo>
                  <a:lnTo>
                    <a:pt x="46075" y="0"/>
                  </a:lnTo>
                  <a:close/>
                </a:path>
              </a:pathLst>
            </a:custGeom>
            <a:solidFill>
              <a:srgbClr val="DFF1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70" name="Google Shape;770;p19"/>
            <p:cNvSpPr/>
            <p:nvPr/>
          </p:nvSpPr>
          <p:spPr>
            <a:xfrm>
              <a:off x="2431440" y="1279806"/>
              <a:ext cx="302260" cy="384810"/>
            </a:xfrm>
            <a:custGeom>
              <a:rect b="b" l="l" r="r" t="t"/>
              <a:pathLst>
                <a:path extrusionOk="0" h="384810" w="302260">
                  <a:moveTo>
                    <a:pt x="355" y="45720"/>
                  </a:moveTo>
                  <a:lnTo>
                    <a:pt x="355" y="37795"/>
                  </a:lnTo>
                  <a:lnTo>
                    <a:pt x="2514" y="29870"/>
                  </a:lnTo>
                  <a:lnTo>
                    <a:pt x="6476" y="23037"/>
                  </a:lnTo>
                  <a:lnTo>
                    <a:pt x="10439" y="15836"/>
                  </a:lnTo>
                  <a:lnTo>
                    <a:pt x="16205" y="10071"/>
                  </a:lnTo>
                  <a:lnTo>
                    <a:pt x="23037" y="6121"/>
                  </a:lnTo>
                  <a:lnTo>
                    <a:pt x="30238" y="2159"/>
                  </a:lnTo>
                  <a:lnTo>
                    <a:pt x="38163" y="0"/>
                  </a:lnTo>
                  <a:lnTo>
                    <a:pt x="46075" y="0"/>
                  </a:lnTo>
                  <a:lnTo>
                    <a:pt x="256324" y="355"/>
                  </a:lnTo>
                  <a:lnTo>
                    <a:pt x="264236" y="355"/>
                  </a:lnTo>
                  <a:lnTo>
                    <a:pt x="272161" y="2514"/>
                  </a:lnTo>
                  <a:lnTo>
                    <a:pt x="278993" y="6476"/>
                  </a:lnTo>
                  <a:lnTo>
                    <a:pt x="286194" y="10439"/>
                  </a:lnTo>
                  <a:lnTo>
                    <a:pt x="291960" y="16192"/>
                  </a:lnTo>
                  <a:lnTo>
                    <a:pt x="295922" y="23037"/>
                  </a:lnTo>
                  <a:lnTo>
                    <a:pt x="299885" y="30238"/>
                  </a:lnTo>
                  <a:lnTo>
                    <a:pt x="302044" y="38150"/>
                  </a:lnTo>
                  <a:lnTo>
                    <a:pt x="302044" y="46075"/>
                  </a:lnTo>
                  <a:lnTo>
                    <a:pt x="302044" y="338759"/>
                  </a:lnTo>
                  <a:lnTo>
                    <a:pt x="302044" y="346671"/>
                  </a:lnTo>
                  <a:lnTo>
                    <a:pt x="299885" y="354596"/>
                  </a:lnTo>
                  <a:lnTo>
                    <a:pt x="295922" y="361429"/>
                  </a:lnTo>
                  <a:lnTo>
                    <a:pt x="291960" y="368630"/>
                  </a:lnTo>
                  <a:lnTo>
                    <a:pt x="286194" y="374396"/>
                  </a:lnTo>
                  <a:lnTo>
                    <a:pt x="279361" y="378358"/>
                  </a:lnTo>
                  <a:lnTo>
                    <a:pt x="272161" y="382320"/>
                  </a:lnTo>
                  <a:lnTo>
                    <a:pt x="264236" y="384479"/>
                  </a:lnTo>
                  <a:lnTo>
                    <a:pt x="256324" y="384479"/>
                  </a:lnTo>
                  <a:lnTo>
                    <a:pt x="45719" y="384479"/>
                  </a:lnTo>
                  <a:lnTo>
                    <a:pt x="37795" y="384479"/>
                  </a:lnTo>
                  <a:lnTo>
                    <a:pt x="29883" y="382320"/>
                  </a:lnTo>
                  <a:lnTo>
                    <a:pt x="23037" y="378358"/>
                  </a:lnTo>
                  <a:lnTo>
                    <a:pt x="15836" y="374396"/>
                  </a:lnTo>
                  <a:lnTo>
                    <a:pt x="10083" y="368630"/>
                  </a:lnTo>
                  <a:lnTo>
                    <a:pt x="6121" y="361797"/>
                  </a:lnTo>
                  <a:lnTo>
                    <a:pt x="2159" y="354596"/>
                  </a:lnTo>
                  <a:lnTo>
                    <a:pt x="0" y="346671"/>
                  </a:lnTo>
                  <a:lnTo>
                    <a:pt x="0" y="338759"/>
                  </a:lnTo>
                  <a:lnTo>
                    <a:pt x="355" y="45720"/>
                  </a:lnTo>
                  <a:close/>
                </a:path>
              </a:pathLst>
            </a:custGeom>
            <a:noFill/>
            <a:ln cap="flat" cmpd="sng" w="9525">
              <a:solidFill>
                <a:srgbClr val="0183C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71" name="Google Shape;771;p19"/>
            <p:cNvSpPr/>
            <p:nvPr/>
          </p:nvSpPr>
          <p:spPr>
            <a:xfrm>
              <a:off x="2783522" y="1279806"/>
              <a:ext cx="302260" cy="384810"/>
            </a:xfrm>
            <a:custGeom>
              <a:rect b="b" l="l" r="r" t="t"/>
              <a:pathLst>
                <a:path extrusionOk="0" h="384810" w="302260">
                  <a:moveTo>
                    <a:pt x="46075" y="0"/>
                  </a:moveTo>
                  <a:lnTo>
                    <a:pt x="38163" y="0"/>
                  </a:lnTo>
                  <a:lnTo>
                    <a:pt x="30238" y="2159"/>
                  </a:lnTo>
                  <a:lnTo>
                    <a:pt x="23037" y="6121"/>
                  </a:lnTo>
                  <a:lnTo>
                    <a:pt x="16192" y="10071"/>
                  </a:lnTo>
                  <a:lnTo>
                    <a:pt x="10439" y="15836"/>
                  </a:lnTo>
                  <a:lnTo>
                    <a:pt x="6476" y="23037"/>
                  </a:lnTo>
                  <a:lnTo>
                    <a:pt x="2514" y="29870"/>
                  </a:lnTo>
                  <a:lnTo>
                    <a:pt x="355" y="37795"/>
                  </a:lnTo>
                  <a:lnTo>
                    <a:pt x="0" y="346671"/>
                  </a:lnTo>
                  <a:lnTo>
                    <a:pt x="2158" y="354596"/>
                  </a:lnTo>
                  <a:lnTo>
                    <a:pt x="6121" y="361797"/>
                  </a:lnTo>
                  <a:lnTo>
                    <a:pt x="10083" y="368630"/>
                  </a:lnTo>
                  <a:lnTo>
                    <a:pt x="15836" y="374396"/>
                  </a:lnTo>
                  <a:lnTo>
                    <a:pt x="23037" y="378358"/>
                  </a:lnTo>
                  <a:lnTo>
                    <a:pt x="29883" y="382320"/>
                  </a:lnTo>
                  <a:lnTo>
                    <a:pt x="37795" y="384479"/>
                  </a:lnTo>
                  <a:lnTo>
                    <a:pt x="264236" y="384479"/>
                  </a:lnTo>
                  <a:lnTo>
                    <a:pt x="295922" y="361429"/>
                  </a:lnTo>
                  <a:lnTo>
                    <a:pt x="299872" y="354596"/>
                  </a:lnTo>
                  <a:lnTo>
                    <a:pt x="302031" y="346671"/>
                  </a:lnTo>
                  <a:lnTo>
                    <a:pt x="301934" y="37795"/>
                  </a:lnTo>
                  <a:lnTo>
                    <a:pt x="299872" y="30238"/>
                  </a:lnTo>
                  <a:lnTo>
                    <a:pt x="295922" y="23037"/>
                  </a:lnTo>
                  <a:lnTo>
                    <a:pt x="291960" y="16192"/>
                  </a:lnTo>
                  <a:lnTo>
                    <a:pt x="286194" y="10439"/>
                  </a:lnTo>
                  <a:lnTo>
                    <a:pt x="278993" y="6476"/>
                  </a:lnTo>
                  <a:lnTo>
                    <a:pt x="272160" y="2514"/>
                  </a:lnTo>
                  <a:lnTo>
                    <a:pt x="264236" y="355"/>
                  </a:lnTo>
                  <a:lnTo>
                    <a:pt x="256311" y="355"/>
                  </a:lnTo>
                  <a:lnTo>
                    <a:pt x="46075" y="0"/>
                  </a:lnTo>
                  <a:close/>
                </a:path>
              </a:pathLst>
            </a:custGeom>
            <a:solidFill>
              <a:srgbClr val="DFF1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72" name="Google Shape;772;p19"/>
            <p:cNvSpPr/>
            <p:nvPr/>
          </p:nvSpPr>
          <p:spPr>
            <a:xfrm>
              <a:off x="2783522" y="1279806"/>
              <a:ext cx="302260" cy="384810"/>
            </a:xfrm>
            <a:custGeom>
              <a:rect b="b" l="l" r="r" t="t"/>
              <a:pathLst>
                <a:path extrusionOk="0" h="384810" w="302260">
                  <a:moveTo>
                    <a:pt x="355" y="45720"/>
                  </a:moveTo>
                  <a:lnTo>
                    <a:pt x="355" y="37795"/>
                  </a:lnTo>
                  <a:lnTo>
                    <a:pt x="2514" y="29870"/>
                  </a:lnTo>
                  <a:lnTo>
                    <a:pt x="6476" y="23037"/>
                  </a:lnTo>
                  <a:lnTo>
                    <a:pt x="10439" y="15836"/>
                  </a:lnTo>
                  <a:lnTo>
                    <a:pt x="16192" y="10071"/>
                  </a:lnTo>
                  <a:lnTo>
                    <a:pt x="23037" y="6121"/>
                  </a:lnTo>
                  <a:lnTo>
                    <a:pt x="30238" y="2159"/>
                  </a:lnTo>
                  <a:lnTo>
                    <a:pt x="38163" y="0"/>
                  </a:lnTo>
                  <a:lnTo>
                    <a:pt x="46075" y="0"/>
                  </a:lnTo>
                  <a:lnTo>
                    <a:pt x="256311" y="355"/>
                  </a:lnTo>
                  <a:lnTo>
                    <a:pt x="264236" y="355"/>
                  </a:lnTo>
                  <a:lnTo>
                    <a:pt x="272160" y="2514"/>
                  </a:lnTo>
                  <a:lnTo>
                    <a:pt x="278993" y="6476"/>
                  </a:lnTo>
                  <a:lnTo>
                    <a:pt x="286194" y="10439"/>
                  </a:lnTo>
                  <a:lnTo>
                    <a:pt x="291960" y="16192"/>
                  </a:lnTo>
                  <a:lnTo>
                    <a:pt x="295922" y="23037"/>
                  </a:lnTo>
                  <a:lnTo>
                    <a:pt x="299872" y="30238"/>
                  </a:lnTo>
                  <a:lnTo>
                    <a:pt x="302031" y="38150"/>
                  </a:lnTo>
                  <a:lnTo>
                    <a:pt x="302031" y="46075"/>
                  </a:lnTo>
                  <a:lnTo>
                    <a:pt x="302031" y="338759"/>
                  </a:lnTo>
                  <a:lnTo>
                    <a:pt x="302031" y="346671"/>
                  </a:lnTo>
                  <a:lnTo>
                    <a:pt x="299872" y="354596"/>
                  </a:lnTo>
                  <a:lnTo>
                    <a:pt x="295922" y="361429"/>
                  </a:lnTo>
                  <a:lnTo>
                    <a:pt x="291960" y="368630"/>
                  </a:lnTo>
                  <a:lnTo>
                    <a:pt x="286194" y="374396"/>
                  </a:lnTo>
                  <a:lnTo>
                    <a:pt x="279361" y="378358"/>
                  </a:lnTo>
                  <a:lnTo>
                    <a:pt x="272160" y="382320"/>
                  </a:lnTo>
                  <a:lnTo>
                    <a:pt x="264236" y="384479"/>
                  </a:lnTo>
                  <a:lnTo>
                    <a:pt x="256311" y="384479"/>
                  </a:lnTo>
                  <a:lnTo>
                    <a:pt x="45719" y="384479"/>
                  </a:lnTo>
                  <a:lnTo>
                    <a:pt x="37795" y="384479"/>
                  </a:lnTo>
                  <a:lnTo>
                    <a:pt x="29883" y="382320"/>
                  </a:lnTo>
                  <a:lnTo>
                    <a:pt x="23037" y="378358"/>
                  </a:lnTo>
                  <a:lnTo>
                    <a:pt x="15836" y="374396"/>
                  </a:lnTo>
                  <a:lnTo>
                    <a:pt x="10083" y="368630"/>
                  </a:lnTo>
                  <a:lnTo>
                    <a:pt x="6121" y="361797"/>
                  </a:lnTo>
                  <a:lnTo>
                    <a:pt x="2158" y="354596"/>
                  </a:lnTo>
                  <a:lnTo>
                    <a:pt x="0" y="346671"/>
                  </a:lnTo>
                  <a:lnTo>
                    <a:pt x="0" y="338759"/>
                  </a:lnTo>
                  <a:lnTo>
                    <a:pt x="355" y="45720"/>
                  </a:lnTo>
                  <a:close/>
                </a:path>
              </a:pathLst>
            </a:custGeom>
            <a:noFill/>
            <a:ln cap="flat" cmpd="sng" w="9525">
              <a:solidFill>
                <a:srgbClr val="0183C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73" name="Google Shape;773;p19"/>
            <p:cNvSpPr/>
            <p:nvPr/>
          </p:nvSpPr>
          <p:spPr>
            <a:xfrm>
              <a:off x="3135604" y="1279806"/>
              <a:ext cx="302260" cy="384810"/>
            </a:xfrm>
            <a:custGeom>
              <a:rect b="b" l="l" r="r" t="t"/>
              <a:pathLst>
                <a:path extrusionOk="0" h="384810" w="302260">
                  <a:moveTo>
                    <a:pt x="46075" y="0"/>
                  </a:moveTo>
                  <a:lnTo>
                    <a:pt x="38150" y="0"/>
                  </a:lnTo>
                  <a:lnTo>
                    <a:pt x="30238" y="2159"/>
                  </a:lnTo>
                  <a:lnTo>
                    <a:pt x="23037" y="6121"/>
                  </a:lnTo>
                  <a:lnTo>
                    <a:pt x="16192" y="10071"/>
                  </a:lnTo>
                  <a:lnTo>
                    <a:pt x="10439" y="15836"/>
                  </a:lnTo>
                  <a:lnTo>
                    <a:pt x="6476" y="23037"/>
                  </a:lnTo>
                  <a:lnTo>
                    <a:pt x="2514" y="29870"/>
                  </a:lnTo>
                  <a:lnTo>
                    <a:pt x="355" y="37795"/>
                  </a:lnTo>
                  <a:lnTo>
                    <a:pt x="0" y="346671"/>
                  </a:lnTo>
                  <a:lnTo>
                    <a:pt x="2159" y="354596"/>
                  </a:lnTo>
                  <a:lnTo>
                    <a:pt x="6121" y="361797"/>
                  </a:lnTo>
                  <a:lnTo>
                    <a:pt x="10071" y="368630"/>
                  </a:lnTo>
                  <a:lnTo>
                    <a:pt x="15836" y="374396"/>
                  </a:lnTo>
                  <a:lnTo>
                    <a:pt x="23037" y="378358"/>
                  </a:lnTo>
                  <a:lnTo>
                    <a:pt x="29870" y="382320"/>
                  </a:lnTo>
                  <a:lnTo>
                    <a:pt x="37795" y="384479"/>
                  </a:lnTo>
                  <a:lnTo>
                    <a:pt x="264236" y="384479"/>
                  </a:lnTo>
                  <a:lnTo>
                    <a:pt x="295909" y="361429"/>
                  </a:lnTo>
                  <a:lnTo>
                    <a:pt x="299872" y="354596"/>
                  </a:lnTo>
                  <a:lnTo>
                    <a:pt x="302031" y="346671"/>
                  </a:lnTo>
                  <a:lnTo>
                    <a:pt x="301934" y="37795"/>
                  </a:lnTo>
                  <a:lnTo>
                    <a:pt x="299872" y="30238"/>
                  </a:lnTo>
                  <a:lnTo>
                    <a:pt x="295909" y="23037"/>
                  </a:lnTo>
                  <a:lnTo>
                    <a:pt x="291960" y="16192"/>
                  </a:lnTo>
                  <a:lnTo>
                    <a:pt x="286194" y="10439"/>
                  </a:lnTo>
                  <a:lnTo>
                    <a:pt x="278993" y="6476"/>
                  </a:lnTo>
                  <a:lnTo>
                    <a:pt x="272160" y="2514"/>
                  </a:lnTo>
                  <a:lnTo>
                    <a:pt x="264236" y="355"/>
                  </a:lnTo>
                  <a:lnTo>
                    <a:pt x="256311" y="355"/>
                  </a:lnTo>
                  <a:lnTo>
                    <a:pt x="46075" y="0"/>
                  </a:lnTo>
                  <a:close/>
                </a:path>
              </a:pathLst>
            </a:custGeom>
            <a:solidFill>
              <a:srgbClr val="DFF1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74" name="Google Shape;774;p19"/>
            <p:cNvSpPr/>
            <p:nvPr/>
          </p:nvSpPr>
          <p:spPr>
            <a:xfrm>
              <a:off x="3135604" y="1279806"/>
              <a:ext cx="302260" cy="384810"/>
            </a:xfrm>
            <a:custGeom>
              <a:rect b="b" l="l" r="r" t="t"/>
              <a:pathLst>
                <a:path extrusionOk="0" h="384810" w="302260">
                  <a:moveTo>
                    <a:pt x="355" y="45720"/>
                  </a:moveTo>
                  <a:lnTo>
                    <a:pt x="355" y="37795"/>
                  </a:lnTo>
                  <a:lnTo>
                    <a:pt x="2514" y="29870"/>
                  </a:lnTo>
                  <a:lnTo>
                    <a:pt x="6476" y="23037"/>
                  </a:lnTo>
                  <a:lnTo>
                    <a:pt x="10439" y="15836"/>
                  </a:lnTo>
                  <a:lnTo>
                    <a:pt x="16192" y="10071"/>
                  </a:lnTo>
                  <a:lnTo>
                    <a:pt x="23037" y="6121"/>
                  </a:lnTo>
                  <a:lnTo>
                    <a:pt x="30238" y="2159"/>
                  </a:lnTo>
                  <a:lnTo>
                    <a:pt x="38150" y="0"/>
                  </a:lnTo>
                  <a:lnTo>
                    <a:pt x="46075" y="0"/>
                  </a:lnTo>
                  <a:lnTo>
                    <a:pt x="256311" y="355"/>
                  </a:lnTo>
                  <a:lnTo>
                    <a:pt x="264236" y="355"/>
                  </a:lnTo>
                  <a:lnTo>
                    <a:pt x="272160" y="2514"/>
                  </a:lnTo>
                  <a:lnTo>
                    <a:pt x="278993" y="6476"/>
                  </a:lnTo>
                  <a:lnTo>
                    <a:pt x="286194" y="10439"/>
                  </a:lnTo>
                  <a:lnTo>
                    <a:pt x="291960" y="16192"/>
                  </a:lnTo>
                  <a:lnTo>
                    <a:pt x="295909" y="23037"/>
                  </a:lnTo>
                  <a:lnTo>
                    <a:pt x="299872" y="30238"/>
                  </a:lnTo>
                  <a:lnTo>
                    <a:pt x="302031" y="38150"/>
                  </a:lnTo>
                  <a:lnTo>
                    <a:pt x="302031" y="46075"/>
                  </a:lnTo>
                  <a:lnTo>
                    <a:pt x="302031" y="338759"/>
                  </a:lnTo>
                  <a:lnTo>
                    <a:pt x="302031" y="346671"/>
                  </a:lnTo>
                  <a:lnTo>
                    <a:pt x="299872" y="354596"/>
                  </a:lnTo>
                  <a:lnTo>
                    <a:pt x="295909" y="361429"/>
                  </a:lnTo>
                  <a:lnTo>
                    <a:pt x="291960" y="368630"/>
                  </a:lnTo>
                  <a:lnTo>
                    <a:pt x="286194" y="374396"/>
                  </a:lnTo>
                  <a:lnTo>
                    <a:pt x="279349" y="378358"/>
                  </a:lnTo>
                  <a:lnTo>
                    <a:pt x="272160" y="382320"/>
                  </a:lnTo>
                  <a:lnTo>
                    <a:pt x="264236" y="384479"/>
                  </a:lnTo>
                  <a:lnTo>
                    <a:pt x="256311" y="384479"/>
                  </a:lnTo>
                  <a:lnTo>
                    <a:pt x="45719" y="384479"/>
                  </a:lnTo>
                  <a:lnTo>
                    <a:pt x="37795" y="384479"/>
                  </a:lnTo>
                  <a:lnTo>
                    <a:pt x="29870" y="382320"/>
                  </a:lnTo>
                  <a:lnTo>
                    <a:pt x="23037" y="378358"/>
                  </a:lnTo>
                  <a:lnTo>
                    <a:pt x="15836" y="374396"/>
                  </a:lnTo>
                  <a:lnTo>
                    <a:pt x="10071" y="368630"/>
                  </a:lnTo>
                  <a:lnTo>
                    <a:pt x="6121" y="361797"/>
                  </a:lnTo>
                  <a:lnTo>
                    <a:pt x="2159" y="354596"/>
                  </a:lnTo>
                  <a:lnTo>
                    <a:pt x="0" y="346671"/>
                  </a:lnTo>
                  <a:lnTo>
                    <a:pt x="0" y="338759"/>
                  </a:lnTo>
                  <a:lnTo>
                    <a:pt x="355" y="45720"/>
                  </a:lnTo>
                  <a:close/>
                </a:path>
              </a:pathLst>
            </a:custGeom>
            <a:noFill/>
            <a:ln cap="flat" cmpd="sng" w="9525">
              <a:solidFill>
                <a:srgbClr val="0183C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75" name="Google Shape;775;p19"/>
            <p:cNvSpPr/>
            <p:nvPr/>
          </p:nvSpPr>
          <p:spPr>
            <a:xfrm>
              <a:off x="3487674" y="1279806"/>
              <a:ext cx="302260" cy="384810"/>
            </a:xfrm>
            <a:custGeom>
              <a:rect b="b" l="l" r="r" t="t"/>
              <a:pathLst>
                <a:path extrusionOk="0" h="384810" w="302260">
                  <a:moveTo>
                    <a:pt x="46088" y="0"/>
                  </a:moveTo>
                  <a:lnTo>
                    <a:pt x="38163" y="0"/>
                  </a:lnTo>
                  <a:lnTo>
                    <a:pt x="30251" y="2159"/>
                  </a:lnTo>
                  <a:lnTo>
                    <a:pt x="23050" y="6121"/>
                  </a:lnTo>
                  <a:lnTo>
                    <a:pt x="16205" y="10071"/>
                  </a:lnTo>
                  <a:lnTo>
                    <a:pt x="10452" y="15836"/>
                  </a:lnTo>
                  <a:lnTo>
                    <a:pt x="6489" y="23037"/>
                  </a:lnTo>
                  <a:lnTo>
                    <a:pt x="2527" y="29870"/>
                  </a:lnTo>
                  <a:lnTo>
                    <a:pt x="368" y="37795"/>
                  </a:lnTo>
                  <a:lnTo>
                    <a:pt x="0" y="346671"/>
                  </a:lnTo>
                  <a:lnTo>
                    <a:pt x="2171" y="354596"/>
                  </a:lnTo>
                  <a:lnTo>
                    <a:pt x="6121" y="361797"/>
                  </a:lnTo>
                  <a:lnTo>
                    <a:pt x="10083" y="368630"/>
                  </a:lnTo>
                  <a:lnTo>
                    <a:pt x="15849" y="374396"/>
                  </a:lnTo>
                  <a:lnTo>
                    <a:pt x="23050" y="378358"/>
                  </a:lnTo>
                  <a:lnTo>
                    <a:pt x="29883" y="382320"/>
                  </a:lnTo>
                  <a:lnTo>
                    <a:pt x="37807" y="384479"/>
                  </a:lnTo>
                  <a:lnTo>
                    <a:pt x="264248" y="384479"/>
                  </a:lnTo>
                  <a:lnTo>
                    <a:pt x="295922" y="361429"/>
                  </a:lnTo>
                  <a:lnTo>
                    <a:pt x="299885" y="354596"/>
                  </a:lnTo>
                  <a:lnTo>
                    <a:pt x="302044" y="346671"/>
                  </a:lnTo>
                  <a:lnTo>
                    <a:pt x="301947" y="37795"/>
                  </a:lnTo>
                  <a:lnTo>
                    <a:pt x="299885" y="30238"/>
                  </a:lnTo>
                  <a:lnTo>
                    <a:pt x="295922" y="23037"/>
                  </a:lnTo>
                  <a:lnTo>
                    <a:pt x="291960" y="16192"/>
                  </a:lnTo>
                  <a:lnTo>
                    <a:pt x="286207" y="10439"/>
                  </a:lnTo>
                  <a:lnTo>
                    <a:pt x="279006" y="6476"/>
                  </a:lnTo>
                  <a:lnTo>
                    <a:pt x="272161" y="2514"/>
                  </a:lnTo>
                  <a:lnTo>
                    <a:pt x="264248" y="355"/>
                  </a:lnTo>
                  <a:lnTo>
                    <a:pt x="256324" y="355"/>
                  </a:lnTo>
                  <a:lnTo>
                    <a:pt x="46088" y="0"/>
                  </a:lnTo>
                  <a:close/>
                </a:path>
              </a:pathLst>
            </a:custGeom>
            <a:solidFill>
              <a:srgbClr val="DFF1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76" name="Google Shape;776;p19"/>
            <p:cNvSpPr/>
            <p:nvPr/>
          </p:nvSpPr>
          <p:spPr>
            <a:xfrm>
              <a:off x="3487674" y="1279806"/>
              <a:ext cx="302260" cy="384810"/>
            </a:xfrm>
            <a:custGeom>
              <a:rect b="b" l="l" r="r" t="t"/>
              <a:pathLst>
                <a:path extrusionOk="0" h="384810" w="302260">
                  <a:moveTo>
                    <a:pt x="368" y="45720"/>
                  </a:moveTo>
                  <a:lnTo>
                    <a:pt x="368" y="37795"/>
                  </a:lnTo>
                  <a:lnTo>
                    <a:pt x="2527" y="29870"/>
                  </a:lnTo>
                  <a:lnTo>
                    <a:pt x="6489" y="23037"/>
                  </a:lnTo>
                  <a:lnTo>
                    <a:pt x="10452" y="15836"/>
                  </a:lnTo>
                  <a:lnTo>
                    <a:pt x="16205" y="10071"/>
                  </a:lnTo>
                  <a:lnTo>
                    <a:pt x="23050" y="6121"/>
                  </a:lnTo>
                  <a:lnTo>
                    <a:pt x="30251" y="2159"/>
                  </a:lnTo>
                  <a:lnTo>
                    <a:pt x="38163" y="0"/>
                  </a:lnTo>
                  <a:lnTo>
                    <a:pt x="46088" y="0"/>
                  </a:lnTo>
                  <a:lnTo>
                    <a:pt x="256324" y="355"/>
                  </a:lnTo>
                  <a:lnTo>
                    <a:pt x="264248" y="355"/>
                  </a:lnTo>
                  <a:lnTo>
                    <a:pt x="272161" y="2514"/>
                  </a:lnTo>
                  <a:lnTo>
                    <a:pt x="279006" y="6476"/>
                  </a:lnTo>
                  <a:lnTo>
                    <a:pt x="286207" y="10439"/>
                  </a:lnTo>
                  <a:lnTo>
                    <a:pt x="291960" y="16192"/>
                  </a:lnTo>
                  <a:lnTo>
                    <a:pt x="295922" y="23037"/>
                  </a:lnTo>
                  <a:lnTo>
                    <a:pt x="299885" y="30238"/>
                  </a:lnTo>
                  <a:lnTo>
                    <a:pt x="302044" y="38150"/>
                  </a:lnTo>
                  <a:lnTo>
                    <a:pt x="302044" y="46075"/>
                  </a:lnTo>
                  <a:lnTo>
                    <a:pt x="302044" y="338759"/>
                  </a:lnTo>
                  <a:lnTo>
                    <a:pt x="302044" y="346671"/>
                  </a:lnTo>
                  <a:lnTo>
                    <a:pt x="299885" y="354596"/>
                  </a:lnTo>
                  <a:lnTo>
                    <a:pt x="295922" y="361429"/>
                  </a:lnTo>
                  <a:lnTo>
                    <a:pt x="291960" y="368630"/>
                  </a:lnTo>
                  <a:lnTo>
                    <a:pt x="286207" y="374396"/>
                  </a:lnTo>
                  <a:lnTo>
                    <a:pt x="279361" y="378358"/>
                  </a:lnTo>
                  <a:lnTo>
                    <a:pt x="272161" y="382320"/>
                  </a:lnTo>
                  <a:lnTo>
                    <a:pt x="264248" y="384479"/>
                  </a:lnTo>
                  <a:lnTo>
                    <a:pt x="256324" y="384479"/>
                  </a:lnTo>
                  <a:lnTo>
                    <a:pt x="45720" y="384479"/>
                  </a:lnTo>
                  <a:lnTo>
                    <a:pt x="37807" y="384479"/>
                  </a:lnTo>
                  <a:lnTo>
                    <a:pt x="29883" y="382320"/>
                  </a:lnTo>
                  <a:lnTo>
                    <a:pt x="23050" y="378358"/>
                  </a:lnTo>
                  <a:lnTo>
                    <a:pt x="15849" y="374396"/>
                  </a:lnTo>
                  <a:lnTo>
                    <a:pt x="10083" y="368630"/>
                  </a:lnTo>
                  <a:lnTo>
                    <a:pt x="6121" y="361797"/>
                  </a:lnTo>
                  <a:lnTo>
                    <a:pt x="2171" y="354596"/>
                  </a:lnTo>
                  <a:lnTo>
                    <a:pt x="0" y="346671"/>
                  </a:lnTo>
                  <a:lnTo>
                    <a:pt x="0" y="338759"/>
                  </a:lnTo>
                  <a:lnTo>
                    <a:pt x="368" y="45720"/>
                  </a:lnTo>
                  <a:close/>
                </a:path>
              </a:pathLst>
            </a:custGeom>
            <a:noFill/>
            <a:ln cap="flat" cmpd="sng" w="9525">
              <a:solidFill>
                <a:srgbClr val="0183C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77" name="Google Shape;777;p19"/>
          <p:cNvSpPr txBox="1"/>
          <p:nvPr/>
        </p:nvSpPr>
        <p:spPr>
          <a:xfrm>
            <a:off x="388340" y="1069100"/>
            <a:ext cx="2276475" cy="807720"/>
          </a:xfrm>
          <a:prstGeom prst="rect">
            <a:avLst/>
          </a:prstGeom>
          <a:noFill/>
          <a:ln>
            <a:noFill/>
          </a:ln>
        </p:spPr>
        <p:txBody>
          <a:bodyPr anchorCtr="0" anchor="t" bIns="0" lIns="0" spcFirstLastPara="1" rIns="0" wrap="square" tIns="13325">
            <a:spAutoFit/>
          </a:bodyPr>
          <a:lstStyle/>
          <a:p>
            <a:pPr indent="0" lvl="0" marL="0" marR="49530" rtl="0" algn="r">
              <a:lnSpc>
                <a:spcPct val="100000"/>
              </a:lnSpc>
              <a:spcBef>
                <a:spcPts val="0"/>
              </a:spcBef>
              <a:spcAft>
                <a:spcPts val="0"/>
              </a:spcAft>
              <a:buNone/>
            </a:pPr>
            <a:r>
              <a:rPr lang="en-US" sz="850">
                <a:solidFill>
                  <a:srgbClr val="4A5462"/>
                </a:solidFill>
                <a:latin typeface="Calibri"/>
                <a:ea typeface="Calibri"/>
                <a:cs typeface="Calibri"/>
                <a:sym typeface="Calibri"/>
              </a:rPr>
              <a:t>100 input tokens</a:t>
            </a:r>
            <a:endParaRPr sz="850">
              <a:latin typeface="Calibri"/>
              <a:ea typeface="Calibri"/>
              <a:cs typeface="Calibri"/>
              <a:sym typeface="Calibri"/>
            </a:endParaRPr>
          </a:p>
          <a:p>
            <a:pPr indent="0" lvl="0" marL="0" rtl="0" algn="l">
              <a:lnSpc>
                <a:spcPct val="100000"/>
              </a:lnSpc>
              <a:spcBef>
                <a:spcPts val="470"/>
              </a:spcBef>
              <a:spcAft>
                <a:spcPts val="0"/>
              </a:spcAft>
              <a:buNone/>
            </a:pPr>
            <a:r>
              <a:t/>
            </a:r>
            <a:endParaRPr sz="850">
              <a:latin typeface="Calibri"/>
              <a:ea typeface="Calibri"/>
              <a:cs typeface="Calibri"/>
              <a:sym typeface="Calibri"/>
            </a:endParaRPr>
          </a:p>
          <a:p>
            <a:pPr indent="0" lvl="0" marL="0" marR="5080" rtl="0" algn="r">
              <a:lnSpc>
                <a:spcPct val="100000"/>
              </a:lnSpc>
              <a:spcBef>
                <a:spcPts val="0"/>
              </a:spcBef>
              <a:spcAft>
                <a:spcPts val="0"/>
              </a:spcAft>
              <a:buNone/>
            </a:pPr>
            <a:r>
              <a:rPr lang="en-US" sz="900">
                <a:solidFill>
                  <a:srgbClr val="0268A0"/>
                </a:solidFill>
                <a:latin typeface="Calibri"/>
                <a:ea typeface="Calibri"/>
                <a:cs typeface="Calibri"/>
                <a:sym typeface="Calibri"/>
              </a:rPr>
              <a:t>w1	w2	w3	w4	w5	w6	w7</a:t>
            </a:r>
            <a:endParaRPr sz="900">
              <a:latin typeface="Calibri"/>
              <a:ea typeface="Calibri"/>
              <a:cs typeface="Calibri"/>
              <a:sym typeface="Calibri"/>
            </a:endParaRPr>
          </a:p>
          <a:p>
            <a:pPr indent="0" lvl="0" marL="0" rtl="0" algn="l">
              <a:lnSpc>
                <a:spcPct val="100000"/>
              </a:lnSpc>
              <a:spcBef>
                <a:spcPts val="605"/>
              </a:spcBef>
              <a:spcAft>
                <a:spcPts val="0"/>
              </a:spcAft>
              <a:buNone/>
            </a:pPr>
            <a:r>
              <a:t/>
            </a:r>
            <a:endParaRPr sz="900">
              <a:latin typeface="Calibri"/>
              <a:ea typeface="Calibri"/>
              <a:cs typeface="Calibri"/>
              <a:sym typeface="Calibri"/>
            </a:endParaRPr>
          </a:p>
          <a:p>
            <a:pPr indent="0" lvl="0" marL="22225" rtl="0" algn="l">
              <a:lnSpc>
                <a:spcPct val="100000"/>
              </a:lnSpc>
              <a:spcBef>
                <a:spcPts val="0"/>
              </a:spcBef>
              <a:spcAft>
                <a:spcPts val="0"/>
              </a:spcAft>
              <a:buNone/>
            </a:pPr>
            <a:r>
              <a:rPr i="1" lang="en-US" sz="700">
                <a:solidFill>
                  <a:srgbClr val="6A717F"/>
                </a:solidFill>
                <a:latin typeface="Cambria"/>
                <a:ea typeface="Cambria"/>
                <a:cs typeface="Cambria"/>
                <a:sym typeface="Cambria"/>
              </a:rPr>
              <a:t>(100 tokens total, only first 9 shown)</a:t>
            </a:r>
            <a:endParaRPr sz="700">
              <a:latin typeface="Cambria"/>
              <a:ea typeface="Cambria"/>
              <a:cs typeface="Cambria"/>
              <a:sym typeface="Cambria"/>
            </a:endParaRPr>
          </a:p>
        </p:txBody>
      </p:sp>
      <p:sp>
        <p:nvSpPr>
          <p:cNvPr id="778" name="Google Shape;778;p19"/>
          <p:cNvSpPr txBox="1"/>
          <p:nvPr/>
        </p:nvSpPr>
        <p:spPr>
          <a:xfrm>
            <a:off x="2852534" y="1390588"/>
            <a:ext cx="839469" cy="1631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900">
                <a:solidFill>
                  <a:srgbClr val="0268A0"/>
                </a:solidFill>
                <a:latin typeface="Calibri"/>
                <a:ea typeface="Calibri"/>
                <a:cs typeface="Calibri"/>
                <a:sym typeface="Calibri"/>
              </a:rPr>
              <a:t>w8	w9	…</a:t>
            </a:r>
            <a:endParaRPr sz="900">
              <a:latin typeface="Calibri"/>
              <a:ea typeface="Calibri"/>
              <a:cs typeface="Calibri"/>
              <a:sym typeface="Calibri"/>
            </a:endParaRPr>
          </a:p>
        </p:txBody>
      </p:sp>
      <p:grpSp>
        <p:nvGrpSpPr>
          <p:cNvPr id="779" name="Google Shape;779;p19"/>
          <p:cNvGrpSpPr/>
          <p:nvPr/>
        </p:nvGrpSpPr>
        <p:grpSpPr>
          <a:xfrm>
            <a:off x="4370044" y="986753"/>
            <a:ext cx="4554359" cy="1079284"/>
            <a:chOff x="4370044" y="986753"/>
            <a:chExt cx="4554359" cy="1079284"/>
          </a:xfrm>
        </p:grpSpPr>
        <p:pic>
          <p:nvPicPr>
            <p:cNvPr id="780" name="Google Shape;780;p19"/>
            <p:cNvPicPr preferRelativeResize="0"/>
            <p:nvPr/>
          </p:nvPicPr>
          <p:blipFill rotWithShape="1">
            <a:blip r:embed="rId4">
              <a:alphaModFix/>
            </a:blip>
            <a:srcRect b="0" l="0" r="0" t="0"/>
            <a:stretch/>
          </p:blipFill>
          <p:spPr>
            <a:xfrm>
              <a:off x="4370044" y="986753"/>
              <a:ext cx="4554359" cy="1079284"/>
            </a:xfrm>
            <a:prstGeom prst="rect">
              <a:avLst/>
            </a:prstGeom>
            <a:noFill/>
            <a:ln>
              <a:noFill/>
            </a:ln>
          </p:spPr>
        </p:pic>
        <p:sp>
          <p:nvSpPr>
            <p:cNvPr id="781" name="Google Shape;781;p19"/>
            <p:cNvSpPr/>
            <p:nvPr/>
          </p:nvSpPr>
          <p:spPr>
            <a:xfrm>
              <a:off x="4434484" y="1051206"/>
              <a:ext cx="4389120" cy="914400"/>
            </a:xfrm>
            <a:custGeom>
              <a:rect b="b" l="l" r="r" t="t"/>
              <a:pathLst>
                <a:path extrusionOk="0" h="914400" w="4389120">
                  <a:moveTo>
                    <a:pt x="4297680" y="0"/>
                  </a:moveTo>
                  <a:lnTo>
                    <a:pt x="91439" y="0"/>
                  </a:lnTo>
                  <a:lnTo>
                    <a:pt x="79433" y="798"/>
                  </a:lnTo>
                  <a:lnTo>
                    <a:pt x="35675" y="18830"/>
                  </a:lnTo>
                  <a:lnTo>
                    <a:pt x="6981" y="56505"/>
                  </a:lnTo>
                  <a:lnTo>
                    <a:pt x="0" y="91440"/>
                  </a:lnTo>
                  <a:lnTo>
                    <a:pt x="0" y="822960"/>
                  </a:lnTo>
                  <a:lnTo>
                    <a:pt x="12230" y="868680"/>
                  </a:lnTo>
                  <a:lnTo>
                    <a:pt x="45719" y="902157"/>
                  </a:lnTo>
                  <a:lnTo>
                    <a:pt x="91439" y="914400"/>
                  </a:lnTo>
                  <a:lnTo>
                    <a:pt x="4297680" y="914400"/>
                  </a:lnTo>
                  <a:lnTo>
                    <a:pt x="4343400" y="902157"/>
                  </a:lnTo>
                  <a:lnTo>
                    <a:pt x="4376877" y="868680"/>
                  </a:lnTo>
                  <a:lnTo>
                    <a:pt x="4389120" y="822960"/>
                  </a:lnTo>
                  <a:lnTo>
                    <a:pt x="4389120" y="91440"/>
                  </a:lnTo>
                  <a:lnTo>
                    <a:pt x="4376877" y="45720"/>
                  </a:lnTo>
                  <a:lnTo>
                    <a:pt x="4343400" y="12230"/>
                  </a:lnTo>
                  <a:lnTo>
                    <a:pt x="429768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82" name="Google Shape;782;p19"/>
            <p:cNvSpPr/>
            <p:nvPr/>
          </p:nvSpPr>
          <p:spPr>
            <a:xfrm>
              <a:off x="4434484" y="1051206"/>
              <a:ext cx="4389120" cy="914400"/>
            </a:xfrm>
            <a:custGeom>
              <a:rect b="b" l="l" r="r" t="t"/>
              <a:pathLst>
                <a:path extrusionOk="0" h="914400" w="4389120">
                  <a:moveTo>
                    <a:pt x="0" y="91440"/>
                  </a:moveTo>
                  <a:lnTo>
                    <a:pt x="798" y="79433"/>
                  </a:lnTo>
                  <a:lnTo>
                    <a:pt x="3148" y="67765"/>
                  </a:lnTo>
                  <a:lnTo>
                    <a:pt x="26679" y="26679"/>
                  </a:lnTo>
                  <a:lnTo>
                    <a:pt x="67765" y="3148"/>
                  </a:lnTo>
                  <a:lnTo>
                    <a:pt x="91439" y="0"/>
                  </a:lnTo>
                  <a:lnTo>
                    <a:pt x="4297680" y="0"/>
                  </a:lnTo>
                  <a:lnTo>
                    <a:pt x="4343400" y="12230"/>
                  </a:lnTo>
                  <a:lnTo>
                    <a:pt x="4376877" y="45720"/>
                  </a:lnTo>
                  <a:lnTo>
                    <a:pt x="4389120" y="91440"/>
                  </a:lnTo>
                  <a:lnTo>
                    <a:pt x="4389120" y="822960"/>
                  </a:lnTo>
                  <a:lnTo>
                    <a:pt x="4388319" y="834959"/>
                  </a:lnTo>
                  <a:lnTo>
                    <a:pt x="4385965" y="846624"/>
                  </a:lnTo>
                  <a:lnTo>
                    <a:pt x="4362429" y="887709"/>
                  </a:lnTo>
                  <a:lnTo>
                    <a:pt x="4321344" y="911245"/>
                  </a:lnTo>
                  <a:lnTo>
                    <a:pt x="4297680" y="914400"/>
                  </a:lnTo>
                  <a:lnTo>
                    <a:pt x="91439" y="914400"/>
                  </a:lnTo>
                  <a:lnTo>
                    <a:pt x="45719" y="902157"/>
                  </a:lnTo>
                  <a:lnTo>
                    <a:pt x="12230" y="868680"/>
                  </a:lnTo>
                  <a:lnTo>
                    <a:pt x="0" y="822960"/>
                  </a:lnTo>
                  <a:lnTo>
                    <a:pt x="0" y="91440"/>
                  </a:lnTo>
                  <a:close/>
                </a:path>
              </a:pathLst>
            </a:custGeom>
            <a:noFill/>
            <a:ln cap="flat" cmpd="sng" w="12575">
              <a:solidFill>
                <a:srgbClr val="E1E7E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83" name="Google Shape;783;p19"/>
          <p:cNvSpPr txBox="1"/>
          <p:nvPr/>
        </p:nvSpPr>
        <p:spPr>
          <a:xfrm>
            <a:off x="4677740" y="1064965"/>
            <a:ext cx="3592195" cy="780415"/>
          </a:xfrm>
          <a:prstGeom prst="rect">
            <a:avLst/>
          </a:prstGeom>
          <a:noFill/>
          <a:ln>
            <a:noFill/>
          </a:ln>
        </p:spPr>
        <p:txBody>
          <a:bodyPr anchorCtr="0" anchor="t" bIns="0" lIns="0" spcFirstLastPara="1" rIns="0" wrap="square" tIns="102850">
            <a:spAutoFit/>
          </a:bodyPr>
          <a:lstStyle/>
          <a:p>
            <a:pPr indent="0" lvl="0" marL="12700" rtl="0" algn="l">
              <a:lnSpc>
                <a:spcPct val="100000"/>
              </a:lnSpc>
              <a:spcBef>
                <a:spcPts val="0"/>
              </a:spcBef>
              <a:spcAft>
                <a:spcPts val="0"/>
              </a:spcAft>
              <a:buNone/>
            </a:pPr>
            <a:r>
              <a:rPr b="1" lang="en-US" sz="1000">
                <a:solidFill>
                  <a:srgbClr val="0183C6"/>
                </a:solidFill>
                <a:latin typeface="Calibri"/>
                <a:ea typeface="Calibri"/>
                <a:cs typeface="Calibri"/>
                <a:sym typeface="Calibri"/>
              </a:rPr>
              <a:t>Fixed cell state dimension</a:t>
            </a:r>
            <a:endParaRPr sz="1000">
              <a:latin typeface="Calibri"/>
              <a:ea typeface="Calibri"/>
              <a:cs typeface="Calibri"/>
              <a:sym typeface="Calibri"/>
            </a:endParaRPr>
          </a:p>
          <a:p>
            <a:pPr indent="0" lvl="0" marL="12700" marR="5080" rtl="0" algn="l">
              <a:lnSpc>
                <a:spcPct val="117894"/>
              </a:lnSpc>
              <a:spcBef>
                <a:spcPts val="700"/>
              </a:spcBef>
              <a:spcAft>
                <a:spcPts val="0"/>
              </a:spcAft>
              <a:buNone/>
            </a:pPr>
            <a:r>
              <a:rPr lang="en-US" sz="950">
                <a:solidFill>
                  <a:srgbClr val="334054"/>
                </a:solidFill>
                <a:latin typeface="Calibri"/>
                <a:ea typeface="Calibri"/>
                <a:cs typeface="Calibri"/>
                <a:sym typeface="Calibri"/>
              </a:rPr>
              <a:t>c₁₀₀ is exactly the same size as c₁. A sequence of 1000 tokens gets no more space than a sequence of 10. The longer the input, the greater the compression.</a:t>
            </a:r>
            <a:endParaRPr sz="950">
              <a:latin typeface="Calibri"/>
              <a:ea typeface="Calibri"/>
              <a:cs typeface="Calibri"/>
              <a:sym typeface="Calibri"/>
            </a:endParaRPr>
          </a:p>
        </p:txBody>
      </p:sp>
      <p:sp>
        <p:nvSpPr>
          <p:cNvPr id="784" name="Google Shape;784;p19"/>
          <p:cNvSpPr txBox="1"/>
          <p:nvPr/>
        </p:nvSpPr>
        <p:spPr>
          <a:xfrm>
            <a:off x="1231099" y="2015542"/>
            <a:ext cx="2017395"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100">
                <a:solidFill>
                  <a:srgbClr val="D87605"/>
                </a:solidFill>
                <a:latin typeface="Quattrocento Sans"/>
                <a:ea typeface="Quattrocento Sans"/>
                <a:cs typeface="Quattrocento Sans"/>
                <a:sym typeface="Quattrocento Sans"/>
              </a:rPr>
              <a:t>▼ </a:t>
            </a:r>
            <a:r>
              <a:rPr b="1" lang="en-US" sz="1100">
                <a:solidFill>
                  <a:srgbClr val="D87605"/>
                </a:solidFill>
                <a:latin typeface="Calibri"/>
                <a:ea typeface="Calibri"/>
                <a:cs typeface="Calibri"/>
                <a:sym typeface="Calibri"/>
              </a:rPr>
              <a:t>compress all into one vector </a:t>
            </a:r>
            <a:r>
              <a:rPr lang="en-US" sz="1100">
                <a:solidFill>
                  <a:srgbClr val="D87605"/>
                </a:solidFill>
                <a:latin typeface="Quattrocento Sans"/>
                <a:ea typeface="Quattrocento Sans"/>
                <a:cs typeface="Quattrocento Sans"/>
                <a:sym typeface="Quattrocento Sans"/>
              </a:rPr>
              <a:t>▼</a:t>
            </a:r>
            <a:endParaRPr sz="1100">
              <a:latin typeface="Quattrocento Sans"/>
              <a:ea typeface="Quattrocento Sans"/>
              <a:cs typeface="Quattrocento Sans"/>
              <a:sym typeface="Quattrocento Sans"/>
            </a:endParaRPr>
          </a:p>
        </p:txBody>
      </p:sp>
      <p:grpSp>
        <p:nvGrpSpPr>
          <p:cNvPr id="785" name="Google Shape;785;p19"/>
          <p:cNvGrpSpPr/>
          <p:nvPr/>
        </p:nvGrpSpPr>
        <p:grpSpPr>
          <a:xfrm>
            <a:off x="1264323" y="2224432"/>
            <a:ext cx="1547279" cy="815403"/>
            <a:chOff x="1264323" y="2224432"/>
            <a:chExt cx="1547279" cy="815403"/>
          </a:xfrm>
        </p:grpSpPr>
        <p:pic>
          <p:nvPicPr>
            <p:cNvPr id="786" name="Google Shape;786;p19"/>
            <p:cNvPicPr preferRelativeResize="0"/>
            <p:nvPr/>
          </p:nvPicPr>
          <p:blipFill rotWithShape="1">
            <a:blip r:embed="rId5">
              <a:alphaModFix/>
            </a:blip>
            <a:srcRect b="0" l="0" r="0" t="0"/>
            <a:stretch/>
          </p:blipFill>
          <p:spPr>
            <a:xfrm>
              <a:off x="1264323" y="2224432"/>
              <a:ext cx="1547279" cy="815403"/>
            </a:xfrm>
            <a:prstGeom prst="rect">
              <a:avLst/>
            </a:prstGeom>
            <a:noFill/>
            <a:ln>
              <a:noFill/>
            </a:ln>
          </p:spPr>
        </p:pic>
        <p:sp>
          <p:nvSpPr>
            <p:cNvPr id="787" name="Google Shape;787;p19"/>
            <p:cNvSpPr/>
            <p:nvPr/>
          </p:nvSpPr>
          <p:spPr>
            <a:xfrm>
              <a:off x="1370876" y="2330998"/>
              <a:ext cx="1280795" cy="549275"/>
            </a:xfrm>
            <a:custGeom>
              <a:rect b="b" l="l" r="r" t="t"/>
              <a:pathLst>
                <a:path extrusionOk="0" h="549275" w="1280795">
                  <a:moveTo>
                    <a:pt x="91808" y="0"/>
                  </a:moveTo>
                  <a:lnTo>
                    <a:pt x="46088" y="12242"/>
                  </a:lnTo>
                  <a:lnTo>
                    <a:pt x="12598" y="45719"/>
                  </a:lnTo>
                  <a:lnTo>
                    <a:pt x="368" y="91440"/>
                  </a:lnTo>
                  <a:lnTo>
                    <a:pt x="0" y="457568"/>
                  </a:lnTo>
                  <a:lnTo>
                    <a:pt x="798" y="469568"/>
                  </a:lnTo>
                  <a:lnTo>
                    <a:pt x="18843" y="513325"/>
                  </a:lnTo>
                  <a:lnTo>
                    <a:pt x="56512" y="542016"/>
                  </a:lnTo>
                  <a:lnTo>
                    <a:pt x="91440" y="549008"/>
                  </a:lnTo>
                  <a:lnTo>
                    <a:pt x="1189088" y="549008"/>
                  </a:lnTo>
                  <a:lnTo>
                    <a:pt x="1234808" y="536765"/>
                  </a:lnTo>
                  <a:lnTo>
                    <a:pt x="1268285" y="503288"/>
                  </a:lnTo>
                  <a:lnTo>
                    <a:pt x="1280528" y="457568"/>
                  </a:lnTo>
                  <a:lnTo>
                    <a:pt x="1280503" y="91440"/>
                  </a:lnTo>
                  <a:lnTo>
                    <a:pt x="1268285" y="46088"/>
                  </a:lnTo>
                  <a:lnTo>
                    <a:pt x="1234808" y="12598"/>
                  </a:lnTo>
                  <a:lnTo>
                    <a:pt x="1189088" y="368"/>
                  </a:lnTo>
                  <a:lnTo>
                    <a:pt x="91808" y="0"/>
                  </a:lnTo>
                  <a:close/>
                </a:path>
              </a:pathLst>
            </a:custGeom>
            <a:solidFill>
              <a:srgbClr val="FDE1E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88" name="Google Shape;788;p19"/>
            <p:cNvSpPr/>
            <p:nvPr/>
          </p:nvSpPr>
          <p:spPr>
            <a:xfrm>
              <a:off x="1370876" y="2330998"/>
              <a:ext cx="1280795" cy="549275"/>
            </a:xfrm>
            <a:custGeom>
              <a:rect b="b" l="l" r="r" t="t"/>
              <a:pathLst>
                <a:path extrusionOk="0" h="549275" w="1280795">
                  <a:moveTo>
                    <a:pt x="368" y="91440"/>
                  </a:moveTo>
                  <a:lnTo>
                    <a:pt x="1166" y="79440"/>
                  </a:lnTo>
                  <a:lnTo>
                    <a:pt x="3516" y="67775"/>
                  </a:lnTo>
                  <a:lnTo>
                    <a:pt x="27047" y="26690"/>
                  </a:lnTo>
                  <a:lnTo>
                    <a:pt x="68133" y="3149"/>
                  </a:lnTo>
                  <a:lnTo>
                    <a:pt x="91808" y="0"/>
                  </a:lnTo>
                  <a:lnTo>
                    <a:pt x="1189088" y="368"/>
                  </a:lnTo>
                  <a:lnTo>
                    <a:pt x="1234808" y="12598"/>
                  </a:lnTo>
                  <a:lnTo>
                    <a:pt x="1268285" y="46088"/>
                  </a:lnTo>
                  <a:lnTo>
                    <a:pt x="1280528" y="91808"/>
                  </a:lnTo>
                  <a:lnTo>
                    <a:pt x="1280528" y="457568"/>
                  </a:lnTo>
                  <a:lnTo>
                    <a:pt x="1279728" y="469568"/>
                  </a:lnTo>
                  <a:lnTo>
                    <a:pt x="1277373" y="481233"/>
                  </a:lnTo>
                  <a:lnTo>
                    <a:pt x="1253837" y="522317"/>
                  </a:lnTo>
                  <a:lnTo>
                    <a:pt x="1212753" y="545853"/>
                  </a:lnTo>
                  <a:lnTo>
                    <a:pt x="1189088" y="549008"/>
                  </a:lnTo>
                  <a:lnTo>
                    <a:pt x="91440" y="549008"/>
                  </a:lnTo>
                  <a:lnTo>
                    <a:pt x="45720" y="536765"/>
                  </a:lnTo>
                  <a:lnTo>
                    <a:pt x="12242" y="503288"/>
                  </a:lnTo>
                  <a:lnTo>
                    <a:pt x="0" y="457568"/>
                  </a:lnTo>
                  <a:lnTo>
                    <a:pt x="368" y="91440"/>
                  </a:lnTo>
                  <a:close/>
                </a:path>
              </a:pathLst>
            </a:custGeom>
            <a:noFill/>
            <a:ln cap="flat" cmpd="sng" w="12575">
              <a:solidFill>
                <a:srgbClr val="EE4343"/>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89" name="Google Shape;789;p19"/>
          <p:cNvSpPr txBox="1"/>
          <p:nvPr/>
        </p:nvSpPr>
        <p:spPr>
          <a:xfrm>
            <a:off x="1624215" y="2425219"/>
            <a:ext cx="774065" cy="692785"/>
          </a:xfrm>
          <a:prstGeom prst="rect">
            <a:avLst/>
          </a:prstGeom>
          <a:noFill/>
          <a:ln>
            <a:noFill/>
          </a:ln>
        </p:spPr>
        <p:txBody>
          <a:bodyPr anchorCtr="0" anchor="t" bIns="0" lIns="0" spcFirstLastPara="1" rIns="0" wrap="square" tIns="12700">
            <a:spAutoFit/>
          </a:bodyPr>
          <a:lstStyle/>
          <a:p>
            <a:pPr indent="0" lvl="0" marL="0" rtl="0" algn="ctr">
              <a:lnSpc>
                <a:spcPct val="100000"/>
              </a:lnSpc>
              <a:spcBef>
                <a:spcPts val="0"/>
              </a:spcBef>
              <a:spcAft>
                <a:spcPts val="0"/>
              </a:spcAft>
              <a:buNone/>
            </a:pPr>
            <a:r>
              <a:rPr b="1" lang="en-US" sz="2200">
                <a:solidFill>
                  <a:srgbClr val="991A1A"/>
                </a:solidFill>
                <a:latin typeface="Calibri"/>
                <a:ea typeface="Calibri"/>
                <a:cs typeface="Calibri"/>
                <a:sym typeface="Calibri"/>
              </a:rPr>
              <a:t>c₁₀₀</a:t>
            </a:r>
            <a:endParaRPr sz="2200">
              <a:latin typeface="Calibri"/>
              <a:ea typeface="Calibri"/>
              <a:cs typeface="Calibri"/>
              <a:sym typeface="Calibri"/>
            </a:endParaRPr>
          </a:p>
          <a:p>
            <a:pPr indent="0" lvl="0" marL="0" rtl="0" algn="ctr">
              <a:lnSpc>
                <a:spcPct val="100000"/>
              </a:lnSpc>
              <a:spcBef>
                <a:spcPts val="1590"/>
              </a:spcBef>
              <a:spcAft>
                <a:spcPts val="0"/>
              </a:spcAft>
              <a:buNone/>
            </a:pPr>
            <a:r>
              <a:rPr b="1" lang="en-US" sz="850">
                <a:solidFill>
                  <a:srgbClr val="EE4343"/>
                </a:solidFill>
                <a:latin typeface="Calibri"/>
                <a:ea typeface="Calibri"/>
                <a:cs typeface="Calibri"/>
                <a:sym typeface="Calibri"/>
              </a:rPr>
              <a:t>ONE fixed vector</a:t>
            </a:r>
            <a:endParaRPr sz="850">
              <a:latin typeface="Calibri"/>
              <a:ea typeface="Calibri"/>
              <a:cs typeface="Calibri"/>
              <a:sym typeface="Calibri"/>
            </a:endParaRPr>
          </a:p>
        </p:txBody>
      </p:sp>
      <p:grpSp>
        <p:nvGrpSpPr>
          <p:cNvPr id="790" name="Google Shape;790;p19"/>
          <p:cNvGrpSpPr/>
          <p:nvPr/>
        </p:nvGrpSpPr>
        <p:grpSpPr>
          <a:xfrm>
            <a:off x="4370044" y="1992593"/>
            <a:ext cx="4554359" cy="1079284"/>
            <a:chOff x="4370044" y="1992593"/>
            <a:chExt cx="4554359" cy="1079284"/>
          </a:xfrm>
        </p:grpSpPr>
        <p:pic>
          <p:nvPicPr>
            <p:cNvPr id="791" name="Google Shape;791;p19"/>
            <p:cNvPicPr preferRelativeResize="0"/>
            <p:nvPr/>
          </p:nvPicPr>
          <p:blipFill rotWithShape="1">
            <a:blip r:embed="rId4">
              <a:alphaModFix/>
            </a:blip>
            <a:srcRect b="0" l="0" r="0" t="0"/>
            <a:stretch/>
          </p:blipFill>
          <p:spPr>
            <a:xfrm>
              <a:off x="4370044" y="1992593"/>
              <a:ext cx="4554359" cy="1079284"/>
            </a:xfrm>
            <a:prstGeom prst="rect">
              <a:avLst/>
            </a:prstGeom>
            <a:noFill/>
            <a:ln>
              <a:noFill/>
            </a:ln>
          </p:spPr>
        </p:pic>
        <p:sp>
          <p:nvSpPr>
            <p:cNvPr id="792" name="Google Shape;792;p19"/>
            <p:cNvSpPr/>
            <p:nvPr/>
          </p:nvSpPr>
          <p:spPr>
            <a:xfrm>
              <a:off x="4434484" y="2057046"/>
              <a:ext cx="4389120" cy="914400"/>
            </a:xfrm>
            <a:custGeom>
              <a:rect b="b" l="l" r="r" t="t"/>
              <a:pathLst>
                <a:path extrusionOk="0" h="914400" w="4389120">
                  <a:moveTo>
                    <a:pt x="4297680" y="0"/>
                  </a:moveTo>
                  <a:lnTo>
                    <a:pt x="91439" y="0"/>
                  </a:lnTo>
                  <a:lnTo>
                    <a:pt x="79433" y="798"/>
                  </a:lnTo>
                  <a:lnTo>
                    <a:pt x="35675" y="18830"/>
                  </a:lnTo>
                  <a:lnTo>
                    <a:pt x="6981" y="56505"/>
                  </a:lnTo>
                  <a:lnTo>
                    <a:pt x="0" y="91439"/>
                  </a:lnTo>
                  <a:lnTo>
                    <a:pt x="0" y="822960"/>
                  </a:lnTo>
                  <a:lnTo>
                    <a:pt x="12230" y="868680"/>
                  </a:lnTo>
                  <a:lnTo>
                    <a:pt x="45719" y="902157"/>
                  </a:lnTo>
                  <a:lnTo>
                    <a:pt x="91439" y="914400"/>
                  </a:lnTo>
                  <a:lnTo>
                    <a:pt x="4297680" y="914400"/>
                  </a:lnTo>
                  <a:lnTo>
                    <a:pt x="4343400" y="902157"/>
                  </a:lnTo>
                  <a:lnTo>
                    <a:pt x="4376877" y="868680"/>
                  </a:lnTo>
                  <a:lnTo>
                    <a:pt x="4389120" y="822960"/>
                  </a:lnTo>
                  <a:lnTo>
                    <a:pt x="4389120" y="91439"/>
                  </a:lnTo>
                  <a:lnTo>
                    <a:pt x="4376877" y="45719"/>
                  </a:lnTo>
                  <a:lnTo>
                    <a:pt x="4343400" y="12230"/>
                  </a:lnTo>
                  <a:lnTo>
                    <a:pt x="429768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93" name="Google Shape;793;p19"/>
            <p:cNvSpPr/>
            <p:nvPr/>
          </p:nvSpPr>
          <p:spPr>
            <a:xfrm>
              <a:off x="4434484" y="2057046"/>
              <a:ext cx="4389120" cy="914400"/>
            </a:xfrm>
            <a:custGeom>
              <a:rect b="b" l="l" r="r" t="t"/>
              <a:pathLst>
                <a:path extrusionOk="0" h="914400" w="4389120">
                  <a:moveTo>
                    <a:pt x="0" y="91439"/>
                  </a:moveTo>
                  <a:lnTo>
                    <a:pt x="798" y="79433"/>
                  </a:lnTo>
                  <a:lnTo>
                    <a:pt x="3148" y="67765"/>
                  </a:lnTo>
                  <a:lnTo>
                    <a:pt x="26679" y="26679"/>
                  </a:lnTo>
                  <a:lnTo>
                    <a:pt x="67765" y="3148"/>
                  </a:lnTo>
                  <a:lnTo>
                    <a:pt x="91439" y="0"/>
                  </a:lnTo>
                  <a:lnTo>
                    <a:pt x="4297680" y="0"/>
                  </a:lnTo>
                  <a:lnTo>
                    <a:pt x="4343400" y="12230"/>
                  </a:lnTo>
                  <a:lnTo>
                    <a:pt x="4376877" y="45719"/>
                  </a:lnTo>
                  <a:lnTo>
                    <a:pt x="4389120" y="91439"/>
                  </a:lnTo>
                  <a:lnTo>
                    <a:pt x="4389120" y="822960"/>
                  </a:lnTo>
                  <a:lnTo>
                    <a:pt x="4388319" y="834959"/>
                  </a:lnTo>
                  <a:lnTo>
                    <a:pt x="4385965" y="846624"/>
                  </a:lnTo>
                  <a:lnTo>
                    <a:pt x="4362429" y="887709"/>
                  </a:lnTo>
                  <a:lnTo>
                    <a:pt x="4321344" y="911245"/>
                  </a:lnTo>
                  <a:lnTo>
                    <a:pt x="4297680" y="914400"/>
                  </a:lnTo>
                  <a:lnTo>
                    <a:pt x="91439" y="914400"/>
                  </a:lnTo>
                  <a:lnTo>
                    <a:pt x="45719" y="902157"/>
                  </a:lnTo>
                  <a:lnTo>
                    <a:pt x="12230" y="868680"/>
                  </a:lnTo>
                  <a:lnTo>
                    <a:pt x="0" y="822960"/>
                  </a:lnTo>
                  <a:lnTo>
                    <a:pt x="0" y="91439"/>
                  </a:lnTo>
                  <a:close/>
                </a:path>
              </a:pathLst>
            </a:custGeom>
            <a:noFill/>
            <a:ln cap="flat" cmpd="sng" w="12575">
              <a:solidFill>
                <a:srgbClr val="E1E7E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94" name="Google Shape;794;p19"/>
          <p:cNvSpPr txBox="1"/>
          <p:nvPr/>
        </p:nvSpPr>
        <p:spPr>
          <a:xfrm>
            <a:off x="4677740" y="2159903"/>
            <a:ext cx="1518285" cy="17970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1" lang="en-US" sz="1000">
                <a:solidFill>
                  <a:srgbClr val="D87605"/>
                </a:solidFill>
                <a:latin typeface="Calibri"/>
                <a:ea typeface="Calibri"/>
                <a:cs typeface="Calibri"/>
                <a:sym typeface="Calibri"/>
              </a:rPr>
              <a:t>Early tokens get overwritten</a:t>
            </a:r>
            <a:endParaRPr sz="1000">
              <a:latin typeface="Calibri"/>
              <a:ea typeface="Calibri"/>
              <a:cs typeface="Calibri"/>
              <a:sym typeface="Calibri"/>
            </a:endParaRPr>
          </a:p>
        </p:txBody>
      </p:sp>
      <p:sp>
        <p:nvSpPr>
          <p:cNvPr id="795" name="Google Shape;795;p19"/>
          <p:cNvSpPr txBox="1"/>
          <p:nvPr/>
        </p:nvSpPr>
        <p:spPr>
          <a:xfrm>
            <a:off x="4677740" y="2611337"/>
            <a:ext cx="3798570" cy="1809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1000">
                <a:solidFill>
                  <a:srgbClr val="334054"/>
                </a:solidFill>
                <a:latin typeface="Calibri"/>
                <a:ea typeface="Calibri"/>
                <a:cs typeface="Calibri"/>
                <a:sym typeface="Calibri"/>
              </a:rPr>
              <a:t>(forget gate open), new writes via i_t </a:t>
            </a:r>
            <a:r>
              <a:rPr lang="en-US" sz="1000">
                <a:solidFill>
                  <a:srgbClr val="334054"/>
                </a:solidFill>
                <a:latin typeface="Quattrocento Sans"/>
                <a:ea typeface="Quattrocento Sans"/>
                <a:cs typeface="Quattrocento Sans"/>
                <a:sym typeface="Quattrocento Sans"/>
              </a:rPr>
              <a:t>⊙ C̃</a:t>
            </a:r>
            <a:r>
              <a:rPr lang="en-US" sz="1000">
                <a:solidFill>
                  <a:srgbClr val="334054"/>
                </a:solidFill>
                <a:latin typeface="Calibri"/>
                <a:ea typeface="Calibri"/>
                <a:cs typeface="Calibri"/>
                <a:sym typeface="Calibri"/>
              </a:rPr>
              <a:t>_t still push out older content.</a:t>
            </a:r>
            <a:endParaRPr sz="1000">
              <a:latin typeface="Calibri"/>
              <a:ea typeface="Calibri"/>
              <a:cs typeface="Calibri"/>
              <a:sym typeface="Calibri"/>
            </a:endParaRPr>
          </a:p>
        </p:txBody>
      </p:sp>
      <p:sp>
        <p:nvSpPr>
          <p:cNvPr id="796" name="Google Shape;796;p19"/>
          <p:cNvSpPr txBox="1"/>
          <p:nvPr/>
        </p:nvSpPr>
        <p:spPr>
          <a:xfrm>
            <a:off x="4677740" y="2455813"/>
            <a:ext cx="3838575" cy="312420"/>
          </a:xfrm>
          <a:prstGeom prst="rect">
            <a:avLst/>
          </a:prstGeom>
          <a:noFill/>
          <a:ln>
            <a:noFill/>
          </a:ln>
        </p:spPr>
        <p:txBody>
          <a:bodyPr anchorCtr="0" anchor="t" bIns="0" lIns="0" spcFirstLastPara="1" rIns="0" wrap="square" tIns="15225">
            <a:spAutoFit/>
          </a:bodyPr>
          <a:lstStyle/>
          <a:p>
            <a:pPr indent="0" lvl="0" marL="12700" rtl="0" algn="l">
              <a:lnSpc>
                <a:spcPct val="111500"/>
              </a:lnSpc>
              <a:spcBef>
                <a:spcPts val="0"/>
              </a:spcBef>
              <a:spcAft>
                <a:spcPts val="0"/>
              </a:spcAft>
              <a:buNone/>
            </a:pPr>
            <a:r>
              <a:rPr lang="en-US" sz="1000">
                <a:solidFill>
                  <a:srgbClr val="334054"/>
                </a:solidFill>
                <a:latin typeface="Calibri"/>
                <a:ea typeface="Calibri"/>
                <a:cs typeface="Calibri"/>
                <a:sym typeface="Calibri"/>
              </a:rPr>
              <a:t>Each new token competes for the same fixed vector space. Even if f_t ≈ 1</a:t>
            </a:r>
            <a:endParaRPr sz="1000">
              <a:latin typeface="Calibri"/>
              <a:ea typeface="Calibri"/>
              <a:cs typeface="Calibri"/>
              <a:sym typeface="Calibri"/>
            </a:endParaRPr>
          </a:p>
          <a:p>
            <a:pPr indent="0" lvl="0" marL="556895" rtl="0" algn="ctr">
              <a:lnSpc>
                <a:spcPct val="111500"/>
              </a:lnSpc>
              <a:spcBef>
                <a:spcPts val="0"/>
              </a:spcBef>
              <a:spcAft>
                <a:spcPts val="0"/>
              </a:spcAft>
              <a:buNone/>
            </a:pPr>
            <a:r>
              <a:rPr lang="en-US" sz="1000">
                <a:solidFill>
                  <a:srgbClr val="334054"/>
                </a:solidFill>
                <a:latin typeface="Quattrocento Sans"/>
                <a:ea typeface="Quattrocento Sans"/>
                <a:cs typeface="Quattrocento Sans"/>
                <a:sym typeface="Quattrocento Sans"/>
              </a:rPr>
              <a:t>˜</a:t>
            </a:r>
            <a:endParaRPr sz="1000">
              <a:latin typeface="Quattrocento Sans"/>
              <a:ea typeface="Quattrocento Sans"/>
              <a:cs typeface="Quattrocento Sans"/>
              <a:sym typeface="Quattrocento Sans"/>
            </a:endParaRPr>
          </a:p>
        </p:txBody>
      </p:sp>
      <p:grpSp>
        <p:nvGrpSpPr>
          <p:cNvPr id="797" name="Google Shape;797;p19"/>
          <p:cNvGrpSpPr/>
          <p:nvPr/>
        </p:nvGrpSpPr>
        <p:grpSpPr>
          <a:xfrm>
            <a:off x="4370044" y="2998433"/>
            <a:ext cx="4554359" cy="1079284"/>
            <a:chOff x="4370044" y="2998433"/>
            <a:chExt cx="4554359" cy="1079284"/>
          </a:xfrm>
        </p:grpSpPr>
        <p:pic>
          <p:nvPicPr>
            <p:cNvPr id="798" name="Google Shape;798;p19"/>
            <p:cNvPicPr preferRelativeResize="0"/>
            <p:nvPr/>
          </p:nvPicPr>
          <p:blipFill rotWithShape="1">
            <a:blip r:embed="rId4">
              <a:alphaModFix/>
            </a:blip>
            <a:srcRect b="0" l="0" r="0" t="0"/>
            <a:stretch/>
          </p:blipFill>
          <p:spPr>
            <a:xfrm>
              <a:off x="4370044" y="2998433"/>
              <a:ext cx="4554359" cy="1079284"/>
            </a:xfrm>
            <a:prstGeom prst="rect">
              <a:avLst/>
            </a:prstGeom>
            <a:noFill/>
            <a:ln>
              <a:noFill/>
            </a:ln>
          </p:spPr>
        </p:pic>
        <p:sp>
          <p:nvSpPr>
            <p:cNvPr id="799" name="Google Shape;799;p19"/>
            <p:cNvSpPr/>
            <p:nvPr/>
          </p:nvSpPr>
          <p:spPr>
            <a:xfrm>
              <a:off x="4434484" y="3062886"/>
              <a:ext cx="4389120" cy="914400"/>
            </a:xfrm>
            <a:custGeom>
              <a:rect b="b" l="l" r="r" t="t"/>
              <a:pathLst>
                <a:path extrusionOk="0" h="914400" w="4389120">
                  <a:moveTo>
                    <a:pt x="4297680" y="0"/>
                  </a:moveTo>
                  <a:lnTo>
                    <a:pt x="91439" y="0"/>
                  </a:lnTo>
                  <a:lnTo>
                    <a:pt x="79433" y="798"/>
                  </a:lnTo>
                  <a:lnTo>
                    <a:pt x="35675" y="18830"/>
                  </a:lnTo>
                  <a:lnTo>
                    <a:pt x="6981" y="56505"/>
                  </a:lnTo>
                  <a:lnTo>
                    <a:pt x="0" y="91440"/>
                  </a:lnTo>
                  <a:lnTo>
                    <a:pt x="0" y="822960"/>
                  </a:lnTo>
                  <a:lnTo>
                    <a:pt x="12230" y="868680"/>
                  </a:lnTo>
                  <a:lnTo>
                    <a:pt x="45719" y="902157"/>
                  </a:lnTo>
                  <a:lnTo>
                    <a:pt x="91439" y="914400"/>
                  </a:lnTo>
                  <a:lnTo>
                    <a:pt x="4297680" y="914400"/>
                  </a:lnTo>
                  <a:lnTo>
                    <a:pt x="4343400" y="902157"/>
                  </a:lnTo>
                  <a:lnTo>
                    <a:pt x="4376877" y="868680"/>
                  </a:lnTo>
                  <a:lnTo>
                    <a:pt x="4389120" y="822960"/>
                  </a:lnTo>
                  <a:lnTo>
                    <a:pt x="4389120" y="91440"/>
                  </a:lnTo>
                  <a:lnTo>
                    <a:pt x="4376877" y="45720"/>
                  </a:lnTo>
                  <a:lnTo>
                    <a:pt x="4343400" y="12230"/>
                  </a:lnTo>
                  <a:lnTo>
                    <a:pt x="429768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00" name="Google Shape;800;p19"/>
            <p:cNvSpPr/>
            <p:nvPr/>
          </p:nvSpPr>
          <p:spPr>
            <a:xfrm>
              <a:off x="4434484" y="3062886"/>
              <a:ext cx="4389120" cy="914400"/>
            </a:xfrm>
            <a:custGeom>
              <a:rect b="b" l="l" r="r" t="t"/>
              <a:pathLst>
                <a:path extrusionOk="0" h="914400" w="4389120">
                  <a:moveTo>
                    <a:pt x="0" y="91440"/>
                  </a:moveTo>
                  <a:lnTo>
                    <a:pt x="798" y="79433"/>
                  </a:lnTo>
                  <a:lnTo>
                    <a:pt x="3148" y="67765"/>
                  </a:lnTo>
                  <a:lnTo>
                    <a:pt x="26679" y="26679"/>
                  </a:lnTo>
                  <a:lnTo>
                    <a:pt x="67765" y="3148"/>
                  </a:lnTo>
                  <a:lnTo>
                    <a:pt x="91439" y="0"/>
                  </a:lnTo>
                  <a:lnTo>
                    <a:pt x="4297680" y="0"/>
                  </a:lnTo>
                  <a:lnTo>
                    <a:pt x="4343400" y="12230"/>
                  </a:lnTo>
                  <a:lnTo>
                    <a:pt x="4376877" y="45720"/>
                  </a:lnTo>
                  <a:lnTo>
                    <a:pt x="4389120" y="91440"/>
                  </a:lnTo>
                  <a:lnTo>
                    <a:pt x="4389120" y="822960"/>
                  </a:lnTo>
                  <a:lnTo>
                    <a:pt x="4388319" y="834959"/>
                  </a:lnTo>
                  <a:lnTo>
                    <a:pt x="4385965" y="846624"/>
                  </a:lnTo>
                  <a:lnTo>
                    <a:pt x="4362429" y="887709"/>
                  </a:lnTo>
                  <a:lnTo>
                    <a:pt x="4321344" y="911245"/>
                  </a:lnTo>
                  <a:lnTo>
                    <a:pt x="4297680" y="914400"/>
                  </a:lnTo>
                  <a:lnTo>
                    <a:pt x="91439" y="914400"/>
                  </a:lnTo>
                  <a:lnTo>
                    <a:pt x="45719" y="902157"/>
                  </a:lnTo>
                  <a:lnTo>
                    <a:pt x="12230" y="868680"/>
                  </a:lnTo>
                  <a:lnTo>
                    <a:pt x="0" y="822960"/>
                  </a:lnTo>
                  <a:lnTo>
                    <a:pt x="0" y="91440"/>
                  </a:lnTo>
                  <a:close/>
                </a:path>
              </a:pathLst>
            </a:custGeom>
            <a:noFill/>
            <a:ln cap="flat" cmpd="sng" w="12575">
              <a:solidFill>
                <a:srgbClr val="E1E7E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801" name="Google Shape;801;p19"/>
          <p:cNvSpPr txBox="1"/>
          <p:nvPr/>
        </p:nvSpPr>
        <p:spPr>
          <a:xfrm>
            <a:off x="4677740" y="3165743"/>
            <a:ext cx="3829050" cy="632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1" lang="en-US" sz="1000">
                <a:solidFill>
                  <a:srgbClr val="049568"/>
                </a:solidFill>
                <a:latin typeface="Calibri"/>
                <a:ea typeface="Calibri"/>
                <a:cs typeface="Calibri"/>
                <a:sym typeface="Calibri"/>
              </a:rPr>
              <a:t>Transformer solution: don't compress</a:t>
            </a:r>
            <a:endParaRPr sz="1000">
              <a:latin typeface="Calibri"/>
              <a:ea typeface="Calibri"/>
              <a:cs typeface="Calibri"/>
              <a:sym typeface="Calibri"/>
            </a:endParaRPr>
          </a:p>
          <a:p>
            <a:pPr indent="0" lvl="0" marL="12700" marR="5080" rtl="0" algn="l">
              <a:lnSpc>
                <a:spcPct val="102099"/>
              </a:lnSpc>
              <a:spcBef>
                <a:spcPts val="1115"/>
              </a:spcBef>
              <a:spcAft>
                <a:spcPts val="0"/>
              </a:spcAft>
              <a:buNone/>
            </a:pPr>
            <a:r>
              <a:rPr lang="en-US" sz="1000">
                <a:solidFill>
                  <a:srgbClr val="334054"/>
                </a:solidFill>
                <a:latin typeface="Calibri"/>
                <a:ea typeface="Calibri"/>
                <a:cs typeface="Calibri"/>
                <a:sym typeface="Calibri"/>
              </a:rPr>
              <a:t>Transformers keep all token representations in memory. At each step, attention directly retrieves whichever tokens are needed. No bottleneck.</a:t>
            </a:r>
            <a:endParaRPr sz="1000">
              <a:latin typeface="Calibri"/>
              <a:ea typeface="Calibri"/>
              <a:cs typeface="Calibri"/>
              <a:sym typeface="Calibri"/>
            </a:endParaRPr>
          </a:p>
        </p:txBody>
      </p:sp>
      <p:grpSp>
        <p:nvGrpSpPr>
          <p:cNvPr id="802" name="Google Shape;802;p19"/>
          <p:cNvGrpSpPr/>
          <p:nvPr/>
        </p:nvGrpSpPr>
        <p:grpSpPr>
          <a:xfrm>
            <a:off x="319684" y="4343046"/>
            <a:ext cx="8503920" cy="548640"/>
            <a:chOff x="319684" y="4343046"/>
            <a:chExt cx="8503920" cy="548640"/>
          </a:xfrm>
        </p:grpSpPr>
        <p:sp>
          <p:nvSpPr>
            <p:cNvPr id="803" name="Google Shape;803;p19"/>
            <p:cNvSpPr/>
            <p:nvPr/>
          </p:nvSpPr>
          <p:spPr>
            <a:xfrm>
              <a:off x="319684" y="4343046"/>
              <a:ext cx="8503920" cy="548640"/>
            </a:xfrm>
            <a:custGeom>
              <a:rect b="b" l="l" r="r" t="t"/>
              <a:pathLst>
                <a:path extrusionOk="0" h="548639" w="8503920">
                  <a:moveTo>
                    <a:pt x="8412111" y="0"/>
                  </a:moveTo>
                  <a:lnTo>
                    <a:pt x="91439" y="0"/>
                  </a:lnTo>
                  <a:lnTo>
                    <a:pt x="79433" y="798"/>
                  </a:lnTo>
                  <a:lnTo>
                    <a:pt x="35675" y="18830"/>
                  </a:lnTo>
                  <a:lnTo>
                    <a:pt x="6981" y="56505"/>
                  </a:lnTo>
                  <a:lnTo>
                    <a:pt x="0" y="91440"/>
                  </a:lnTo>
                  <a:lnTo>
                    <a:pt x="0" y="457200"/>
                  </a:lnTo>
                  <a:lnTo>
                    <a:pt x="774" y="468838"/>
                  </a:lnTo>
                  <a:lnTo>
                    <a:pt x="798" y="469199"/>
                  </a:lnTo>
                  <a:lnTo>
                    <a:pt x="18830" y="512956"/>
                  </a:lnTo>
                  <a:lnTo>
                    <a:pt x="56505" y="541648"/>
                  </a:lnTo>
                  <a:lnTo>
                    <a:pt x="91439" y="548640"/>
                  </a:lnTo>
                  <a:lnTo>
                    <a:pt x="8412480" y="548271"/>
                  </a:lnTo>
                  <a:lnTo>
                    <a:pt x="8458200" y="536041"/>
                  </a:lnTo>
                  <a:lnTo>
                    <a:pt x="8491677" y="502551"/>
                  </a:lnTo>
                  <a:lnTo>
                    <a:pt x="8503046" y="469199"/>
                  </a:lnTo>
                  <a:lnTo>
                    <a:pt x="8503119" y="468838"/>
                  </a:lnTo>
                  <a:lnTo>
                    <a:pt x="8503895" y="457200"/>
                  </a:lnTo>
                  <a:lnTo>
                    <a:pt x="8503920" y="456831"/>
                  </a:lnTo>
                  <a:lnTo>
                    <a:pt x="8503551" y="91440"/>
                  </a:lnTo>
                  <a:lnTo>
                    <a:pt x="8491321" y="45720"/>
                  </a:lnTo>
                  <a:lnTo>
                    <a:pt x="8457831" y="12230"/>
                  </a:lnTo>
                  <a:lnTo>
                    <a:pt x="8424118" y="798"/>
                  </a:lnTo>
                  <a:lnTo>
                    <a:pt x="8412111" y="0"/>
                  </a:lnTo>
                  <a:close/>
                </a:path>
              </a:pathLst>
            </a:custGeom>
            <a:solidFill>
              <a:srgbClr val="F0F4F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04" name="Google Shape;804;p19"/>
            <p:cNvSpPr/>
            <p:nvPr/>
          </p:nvSpPr>
          <p:spPr>
            <a:xfrm>
              <a:off x="319684" y="4343046"/>
              <a:ext cx="8503920" cy="548640"/>
            </a:xfrm>
            <a:custGeom>
              <a:rect b="b" l="l" r="r" t="t"/>
              <a:pathLst>
                <a:path extrusionOk="0" h="548639" w="8503920">
                  <a:moveTo>
                    <a:pt x="0" y="91440"/>
                  </a:moveTo>
                  <a:lnTo>
                    <a:pt x="798" y="79433"/>
                  </a:lnTo>
                  <a:lnTo>
                    <a:pt x="3148" y="67765"/>
                  </a:lnTo>
                  <a:lnTo>
                    <a:pt x="26679" y="26679"/>
                  </a:lnTo>
                  <a:lnTo>
                    <a:pt x="67765" y="3148"/>
                  </a:lnTo>
                  <a:lnTo>
                    <a:pt x="91439" y="0"/>
                  </a:lnTo>
                  <a:lnTo>
                    <a:pt x="8412111" y="0"/>
                  </a:lnTo>
                  <a:lnTo>
                    <a:pt x="8457831" y="12230"/>
                  </a:lnTo>
                  <a:lnTo>
                    <a:pt x="8491321" y="45720"/>
                  </a:lnTo>
                  <a:lnTo>
                    <a:pt x="8503551" y="91440"/>
                  </a:lnTo>
                  <a:lnTo>
                    <a:pt x="8503920" y="456831"/>
                  </a:lnTo>
                  <a:lnTo>
                    <a:pt x="8503119" y="468838"/>
                  </a:lnTo>
                  <a:lnTo>
                    <a:pt x="8500765" y="480506"/>
                  </a:lnTo>
                  <a:lnTo>
                    <a:pt x="8477229" y="521592"/>
                  </a:lnTo>
                  <a:lnTo>
                    <a:pt x="8436144" y="545123"/>
                  </a:lnTo>
                  <a:lnTo>
                    <a:pt x="91439" y="548640"/>
                  </a:lnTo>
                  <a:lnTo>
                    <a:pt x="45719" y="536397"/>
                  </a:lnTo>
                  <a:lnTo>
                    <a:pt x="12230" y="502920"/>
                  </a:lnTo>
                  <a:lnTo>
                    <a:pt x="0" y="457200"/>
                  </a:lnTo>
                  <a:lnTo>
                    <a:pt x="0" y="91440"/>
                  </a:lnTo>
                  <a:close/>
                </a:path>
              </a:pathLst>
            </a:custGeom>
            <a:noFill/>
            <a:ln cap="flat" cmpd="sng" w="15100">
              <a:solidFill>
                <a:srgbClr val="EE4343"/>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805" name="Google Shape;805;p19"/>
          <p:cNvSpPr txBox="1"/>
          <p:nvPr/>
        </p:nvSpPr>
        <p:spPr>
          <a:xfrm>
            <a:off x="2104466" y="4513213"/>
            <a:ext cx="492760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solidFill>
                  <a:srgbClr val="1D283A"/>
                </a:solidFill>
                <a:latin typeface="Calibri"/>
                <a:ea typeface="Calibri"/>
                <a:cs typeface="Calibri"/>
                <a:sym typeface="Calibri"/>
              </a:rPr>
              <a:t>(w₁, …, w₁₀₀) → c₁₀₀ </a:t>
            </a:r>
            <a:r>
              <a:rPr b="1" lang="en-US" sz="1200">
                <a:solidFill>
                  <a:srgbClr val="DB2525"/>
                </a:solidFill>
                <a:latin typeface="Calibri"/>
                <a:ea typeface="Calibri"/>
                <a:cs typeface="Calibri"/>
                <a:sym typeface="Calibri"/>
              </a:rPr>
              <a:t>Even perfect gradient flow cannot recover lost information</a:t>
            </a:r>
            <a:endParaRPr sz="1200">
              <a:latin typeface="Calibri"/>
              <a:ea typeface="Calibri"/>
              <a:cs typeface="Calibri"/>
              <a:sym typeface="Calibri"/>
            </a:endParaRPr>
          </a:p>
        </p:txBody>
      </p:sp>
      <p:sp>
        <p:nvSpPr>
          <p:cNvPr id="806" name="Google Shape;806;p19"/>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descr="$PPTXTitle" id="811" name="Google Shape;811;p20"/>
          <p:cNvSpPr txBox="1"/>
          <p:nvPr>
            <p:ph type="title"/>
          </p:nvPr>
        </p:nvSpPr>
        <p:spPr>
          <a:xfrm>
            <a:off x="444144" y="212308"/>
            <a:ext cx="7192009" cy="4527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800">
                <a:solidFill>
                  <a:srgbClr val="0E1629"/>
                </a:solidFill>
              </a:rPr>
              <a:t>Problem 2: No Direct Access (The Jump Problem)</a:t>
            </a:r>
            <a:endParaRPr sz="2800"/>
          </a:p>
        </p:txBody>
      </p:sp>
      <p:sp>
        <p:nvSpPr>
          <p:cNvPr id="812" name="Google Shape;812;p20"/>
          <p:cNvSpPr txBox="1"/>
          <p:nvPr/>
        </p:nvSpPr>
        <p:spPr>
          <a:xfrm>
            <a:off x="444144" y="751587"/>
            <a:ext cx="3674110" cy="17970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i="1" lang="en-US" sz="1000">
                <a:solidFill>
                  <a:srgbClr val="0076B5"/>
                </a:solidFill>
                <a:latin typeface="Cambria"/>
                <a:ea typeface="Cambria"/>
                <a:cs typeface="Cambria"/>
                <a:sym typeface="Cambria"/>
              </a:rPr>
              <a:t>Token 10 needs token 3, but must travel through every step in between</a:t>
            </a:r>
            <a:endParaRPr sz="1000">
              <a:latin typeface="Cambria"/>
              <a:ea typeface="Cambria"/>
              <a:cs typeface="Cambria"/>
              <a:sym typeface="Cambria"/>
            </a:endParaRPr>
          </a:p>
        </p:txBody>
      </p:sp>
      <p:pic>
        <p:nvPicPr>
          <p:cNvPr id="813" name="Google Shape;813;p20"/>
          <p:cNvPicPr preferRelativeResize="0"/>
          <p:nvPr/>
        </p:nvPicPr>
        <p:blipFill rotWithShape="1">
          <a:blip r:embed="rId3">
            <a:alphaModFix/>
          </a:blip>
          <a:srcRect b="0" l="0" r="0" t="0"/>
          <a:stretch/>
        </p:blipFill>
        <p:spPr>
          <a:xfrm>
            <a:off x="8369274" y="14"/>
            <a:ext cx="774357" cy="866508"/>
          </a:xfrm>
          <a:prstGeom prst="rect">
            <a:avLst/>
          </a:prstGeom>
          <a:noFill/>
          <a:ln>
            <a:noFill/>
          </a:ln>
        </p:spPr>
      </p:pic>
      <p:pic>
        <p:nvPicPr>
          <p:cNvPr id="814" name="Google Shape;814;p20"/>
          <p:cNvPicPr preferRelativeResize="0"/>
          <p:nvPr/>
        </p:nvPicPr>
        <p:blipFill rotWithShape="1">
          <a:blip r:embed="rId4">
            <a:alphaModFix/>
          </a:blip>
          <a:srcRect b="0" l="0" r="0" t="0"/>
          <a:stretch/>
        </p:blipFill>
        <p:spPr>
          <a:xfrm>
            <a:off x="357844" y="1317598"/>
            <a:ext cx="8674919" cy="417963"/>
          </a:xfrm>
          <a:prstGeom prst="rect">
            <a:avLst/>
          </a:prstGeom>
          <a:noFill/>
          <a:ln>
            <a:noFill/>
          </a:ln>
        </p:spPr>
      </p:pic>
      <p:sp>
        <p:nvSpPr>
          <p:cNvPr id="815" name="Google Shape;815;p20"/>
          <p:cNvSpPr txBox="1"/>
          <p:nvPr/>
        </p:nvSpPr>
        <p:spPr>
          <a:xfrm>
            <a:off x="444144" y="1057937"/>
            <a:ext cx="3893185" cy="917575"/>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en-US" sz="950">
                <a:solidFill>
                  <a:srgbClr val="465468"/>
                </a:solidFill>
                <a:latin typeface="Calibri"/>
                <a:ea typeface="Calibri"/>
                <a:cs typeface="Calibri"/>
                <a:sym typeface="Calibri"/>
              </a:rPr>
              <a:t>LSTM: sequential chain (path length = 7 hops):</a:t>
            </a:r>
            <a:endParaRPr sz="950">
              <a:latin typeface="Calibri"/>
              <a:ea typeface="Calibri"/>
              <a:cs typeface="Calibri"/>
              <a:sym typeface="Calibri"/>
            </a:endParaRPr>
          </a:p>
          <a:p>
            <a:pPr indent="0" lvl="0" marL="0" rtl="0" algn="l">
              <a:lnSpc>
                <a:spcPct val="100000"/>
              </a:lnSpc>
              <a:spcBef>
                <a:spcPts val="700"/>
              </a:spcBef>
              <a:spcAft>
                <a:spcPts val="0"/>
              </a:spcAft>
              <a:buNone/>
            </a:pPr>
            <a:r>
              <a:t/>
            </a:r>
            <a:endParaRPr sz="950">
              <a:latin typeface="Calibri"/>
              <a:ea typeface="Calibri"/>
              <a:cs typeface="Calibri"/>
              <a:sym typeface="Calibri"/>
            </a:endParaRPr>
          </a:p>
          <a:p>
            <a:pPr indent="0" lvl="0" marL="165100" rtl="0" algn="l">
              <a:lnSpc>
                <a:spcPct val="100000"/>
              </a:lnSpc>
              <a:spcBef>
                <a:spcPts val="0"/>
              </a:spcBef>
              <a:spcAft>
                <a:spcPts val="0"/>
              </a:spcAft>
              <a:buNone/>
            </a:pPr>
            <a:r>
              <a:rPr b="1" lang="en-US" sz="1000">
                <a:solidFill>
                  <a:srgbClr val="FFFFFF"/>
                </a:solidFill>
                <a:latin typeface="Calibri"/>
                <a:ea typeface="Calibri"/>
                <a:cs typeface="Calibri"/>
                <a:sym typeface="Calibri"/>
              </a:rPr>
              <a:t>t=3	</a:t>
            </a:r>
            <a:r>
              <a:rPr lang="en-US" sz="1000">
                <a:solidFill>
                  <a:srgbClr val="63738A"/>
                </a:solidFill>
                <a:latin typeface="Calibri"/>
                <a:ea typeface="Calibri"/>
                <a:cs typeface="Calibri"/>
                <a:sym typeface="Calibri"/>
              </a:rPr>
              <a:t>t=4	t=5	t=6</a:t>
            </a:r>
            <a:endParaRPr sz="1000">
              <a:latin typeface="Calibri"/>
              <a:ea typeface="Calibri"/>
              <a:cs typeface="Calibri"/>
              <a:sym typeface="Calibri"/>
            </a:endParaRPr>
          </a:p>
          <a:p>
            <a:pPr indent="0" lvl="0" marL="0" rtl="0" algn="l">
              <a:lnSpc>
                <a:spcPct val="100000"/>
              </a:lnSpc>
              <a:spcBef>
                <a:spcPts val="285"/>
              </a:spcBef>
              <a:spcAft>
                <a:spcPts val="0"/>
              </a:spcAft>
              <a:buNone/>
            </a:pPr>
            <a:r>
              <a:t/>
            </a:r>
            <a:endParaRPr sz="1000">
              <a:latin typeface="Calibri"/>
              <a:ea typeface="Calibri"/>
              <a:cs typeface="Calibri"/>
              <a:sym typeface="Calibri"/>
            </a:endParaRPr>
          </a:p>
          <a:p>
            <a:pPr indent="0" lvl="0" marL="1064260" rtl="0" algn="l">
              <a:lnSpc>
                <a:spcPct val="100000"/>
              </a:lnSpc>
              <a:spcBef>
                <a:spcPts val="0"/>
              </a:spcBef>
              <a:spcAft>
                <a:spcPts val="0"/>
              </a:spcAft>
              <a:buNone/>
            </a:pPr>
            <a:r>
              <a:rPr lang="en-US" sz="1100">
                <a:solidFill>
                  <a:srgbClr val="E8445F"/>
                </a:solidFill>
                <a:latin typeface="Arial"/>
                <a:ea typeface="Arial"/>
                <a:cs typeface="Arial"/>
                <a:sym typeface="Arial"/>
              </a:rPr>
              <a:t>⚠</a:t>
            </a:r>
            <a:r>
              <a:rPr i="1" lang="en-US" sz="900">
                <a:solidFill>
                  <a:srgbClr val="E8445F"/>
                </a:solidFill>
                <a:latin typeface="Cambria"/>
                <a:ea typeface="Cambria"/>
                <a:cs typeface="Cambria"/>
                <a:sym typeface="Cambria"/>
              </a:rPr>
              <a:t>irrelevant tokens: signal from t=3 must pass through here</a:t>
            </a:r>
            <a:endParaRPr sz="900">
              <a:latin typeface="Cambria"/>
              <a:ea typeface="Cambria"/>
              <a:cs typeface="Cambria"/>
              <a:sym typeface="Cambria"/>
            </a:endParaRPr>
          </a:p>
        </p:txBody>
      </p:sp>
      <p:sp>
        <p:nvSpPr>
          <p:cNvPr id="816" name="Google Shape;816;p20"/>
          <p:cNvSpPr txBox="1"/>
          <p:nvPr/>
        </p:nvSpPr>
        <p:spPr>
          <a:xfrm>
            <a:off x="5169496" y="1437743"/>
            <a:ext cx="194945" cy="1784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000">
                <a:solidFill>
                  <a:srgbClr val="63738A"/>
                </a:solidFill>
                <a:latin typeface="Calibri"/>
                <a:ea typeface="Calibri"/>
                <a:cs typeface="Calibri"/>
                <a:sym typeface="Calibri"/>
              </a:rPr>
              <a:t>t=7</a:t>
            </a:r>
            <a:endParaRPr sz="1000">
              <a:latin typeface="Calibri"/>
              <a:ea typeface="Calibri"/>
              <a:cs typeface="Calibri"/>
              <a:sym typeface="Calibri"/>
            </a:endParaRPr>
          </a:p>
        </p:txBody>
      </p:sp>
      <p:sp>
        <p:nvSpPr>
          <p:cNvPr id="817" name="Google Shape;817;p20"/>
          <p:cNvSpPr txBox="1"/>
          <p:nvPr/>
        </p:nvSpPr>
        <p:spPr>
          <a:xfrm>
            <a:off x="6311785" y="1437743"/>
            <a:ext cx="196850" cy="1784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000">
                <a:solidFill>
                  <a:srgbClr val="FFFFFF"/>
                </a:solidFill>
                <a:latin typeface="Calibri"/>
                <a:ea typeface="Calibri"/>
                <a:cs typeface="Calibri"/>
                <a:sym typeface="Calibri"/>
              </a:rPr>
              <a:t>t=8</a:t>
            </a:r>
            <a:endParaRPr sz="1000">
              <a:latin typeface="Calibri"/>
              <a:ea typeface="Calibri"/>
              <a:cs typeface="Calibri"/>
              <a:sym typeface="Calibri"/>
            </a:endParaRPr>
          </a:p>
        </p:txBody>
      </p:sp>
      <p:sp>
        <p:nvSpPr>
          <p:cNvPr id="818" name="Google Shape;818;p20"/>
          <p:cNvSpPr txBox="1"/>
          <p:nvPr/>
        </p:nvSpPr>
        <p:spPr>
          <a:xfrm>
            <a:off x="7454786" y="1437743"/>
            <a:ext cx="196850" cy="1784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000">
                <a:solidFill>
                  <a:srgbClr val="FFFFFF"/>
                </a:solidFill>
                <a:latin typeface="Calibri"/>
                <a:ea typeface="Calibri"/>
                <a:cs typeface="Calibri"/>
                <a:sym typeface="Calibri"/>
              </a:rPr>
              <a:t>t=9</a:t>
            </a:r>
            <a:endParaRPr sz="1000">
              <a:latin typeface="Calibri"/>
              <a:ea typeface="Calibri"/>
              <a:cs typeface="Calibri"/>
              <a:sym typeface="Calibri"/>
            </a:endParaRPr>
          </a:p>
        </p:txBody>
      </p:sp>
      <p:sp>
        <p:nvSpPr>
          <p:cNvPr id="819" name="Google Shape;819;p20"/>
          <p:cNvSpPr txBox="1"/>
          <p:nvPr/>
        </p:nvSpPr>
        <p:spPr>
          <a:xfrm>
            <a:off x="8565743" y="1437743"/>
            <a:ext cx="260985" cy="1784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000">
                <a:solidFill>
                  <a:srgbClr val="FFFFFF"/>
                </a:solidFill>
                <a:latin typeface="Calibri"/>
                <a:ea typeface="Calibri"/>
                <a:cs typeface="Calibri"/>
                <a:sym typeface="Calibri"/>
              </a:rPr>
              <a:t>t=10</a:t>
            </a:r>
            <a:endParaRPr sz="1000">
              <a:latin typeface="Calibri"/>
              <a:ea typeface="Calibri"/>
              <a:cs typeface="Calibri"/>
              <a:sym typeface="Calibri"/>
            </a:endParaRPr>
          </a:p>
        </p:txBody>
      </p:sp>
      <p:pic>
        <p:nvPicPr>
          <p:cNvPr id="820" name="Google Shape;820;p20"/>
          <p:cNvPicPr preferRelativeResize="0"/>
          <p:nvPr/>
        </p:nvPicPr>
        <p:blipFill rotWithShape="1">
          <a:blip r:embed="rId5">
            <a:alphaModFix/>
          </a:blip>
          <a:srcRect b="0" l="0" r="0" t="0"/>
          <a:stretch/>
        </p:blipFill>
        <p:spPr>
          <a:xfrm>
            <a:off x="309776" y="2093226"/>
            <a:ext cx="4042807" cy="2716915"/>
          </a:xfrm>
          <a:prstGeom prst="rect">
            <a:avLst/>
          </a:prstGeom>
          <a:noFill/>
          <a:ln>
            <a:noFill/>
          </a:ln>
        </p:spPr>
      </p:pic>
      <p:sp>
        <p:nvSpPr>
          <p:cNvPr id="821" name="Google Shape;821;p20"/>
          <p:cNvSpPr txBox="1"/>
          <p:nvPr/>
        </p:nvSpPr>
        <p:spPr>
          <a:xfrm>
            <a:off x="2090420" y="2224711"/>
            <a:ext cx="48196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E8445F"/>
                </a:solidFill>
                <a:latin typeface="Calibri"/>
                <a:ea typeface="Calibri"/>
                <a:cs typeface="Calibri"/>
                <a:sym typeface="Calibri"/>
              </a:rPr>
              <a:t>LSTM</a:t>
            </a:r>
            <a:endParaRPr sz="1600">
              <a:latin typeface="Calibri"/>
              <a:ea typeface="Calibri"/>
              <a:cs typeface="Calibri"/>
              <a:sym typeface="Calibri"/>
            </a:endParaRPr>
          </a:p>
        </p:txBody>
      </p:sp>
      <p:sp>
        <p:nvSpPr>
          <p:cNvPr id="822" name="Google Shape;822;p20"/>
          <p:cNvSpPr txBox="1"/>
          <p:nvPr/>
        </p:nvSpPr>
        <p:spPr>
          <a:xfrm>
            <a:off x="552145" y="2707108"/>
            <a:ext cx="83820" cy="1631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900">
                <a:solidFill>
                  <a:srgbClr val="FFFFFF"/>
                </a:solidFill>
                <a:latin typeface="Calibri"/>
                <a:ea typeface="Calibri"/>
                <a:cs typeface="Calibri"/>
                <a:sym typeface="Calibri"/>
              </a:rPr>
              <a:t>3</a:t>
            </a:r>
            <a:endParaRPr sz="900">
              <a:latin typeface="Calibri"/>
              <a:ea typeface="Calibri"/>
              <a:cs typeface="Calibri"/>
              <a:sym typeface="Calibri"/>
            </a:endParaRPr>
          </a:p>
        </p:txBody>
      </p:sp>
      <p:sp>
        <p:nvSpPr>
          <p:cNvPr id="823" name="Google Shape;823;p20"/>
          <p:cNvSpPr txBox="1"/>
          <p:nvPr/>
        </p:nvSpPr>
        <p:spPr>
          <a:xfrm>
            <a:off x="990980" y="2707108"/>
            <a:ext cx="83820" cy="1631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900">
                <a:solidFill>
                  <a:srgbClr val="63738A"/>
                </a:solidFill>
                <a:latin typeface="Calibri"/>
                <a:ea typeface="Calibri"/>
                <a:cs typeface="Calibri"/>
                <a:sym typeface="Calibri"/>
              </a:rPr>
              <a:t>4</a:t>
            </a:r>
            <a:endParaRPr sz="900">
              <a:latin typeface="Calibri"/>
              <a:ea typeface="Calibri"/>
              <a:cs typeface="Calibri"/>
              <a:sym typeface="Calibri"/>
            </a:endParaRPr>
          </a:p>
        </p:txBody>
      </p:sp>
      <p:sp>
        <p:nvSpPr>
          <p:cNvPr id="824" name="Google Shape;824;p20"/>
          <p:cNvSpPr txBox="1"/>
          <p:nvPr/>
        </p:nvSpPr>
        <p:spPr>
          <a:xfrm>
            <a:off x="1430185" y="2707108"/>
            <a:ext cx="83820" cy="1631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900">
                <a:solidFill>
                  <a:srgbClr val="63738A"/>
                </a:solidFill>
                <a:latin typeface="Calibri"/>
                <a:ea typeface="Calibri"/>
                <a:cs typeface="Calibri"/>
                <a:sym typeface="Calibri"/>
              </a:rPr>
              <a:t>5</a:t>
            </a:r>
            <a:endParaRPr sz="900">
              <a:latin typeface="Calibri"/>
              <a:ea typeface="Calibri"/>
              <a:cs typeface="Calibri"/>
              <a:sym typeface="Calibri"/>
            </a:endParaRPr>
          </a:p>
        </p:txBody>
      </p:sp>
      <p:sp>
        <p:nvSpPr>
          <p:cNvPr id="825" name="Google Shape;825;p20"/>
          <p:cNvSpPr txBox="1"/>
          <p:nvPr/>
        </p:nvSpPr>
        <p:spPr>
          <a:xfrm>
            <a:off x="1869020" y="2707108"/>
            <a:ext cx="83820" cy="1631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900">
                <a:solidFill>
                  <a:srgbClr val="63738A"/>
                </a:solidFill>
                <a:latin typeface="Calibri"/>
                <a:ea typeface="Calibri"/>
                <a:cs typeface="Calibri"/>
                <a:sym typeface="Calibri"/>
              </a:rPr>
              <a:t>6</a:t>
            </a:r>
            <a:endParaRPr sz="900">
              <a:latin typeface="Calibri"/>
              <a:ea typeface="Calibri"/>
              <a:cs typeface="Calibri"/>
              <a:sym typeface="Calibri"/>
            </a:endParaRPr>
          </a:p>
        </p:txBody>
      </p:sp>
      <p:sp>
        <p:nvSpPr>
          <p:cNvPr id="826" name="Google Shape;826;p20"/>
          <p:cNvSpPr txBox="1"/>
          <p:nvPr/>
        </p:nvSpPr>
        <p:spPr>
          <a:xfrm>
            <a:off x="2307856" y="2707108"/>
            <a:ext cx="83820" cy="1631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900">
                <a:solidFill>
                  <a:srgbClr val="63738A"/>
                </a:solidFill>
                <a:latin typeface="Calibri"/>
                <a:ea typeface="Calibri"/>
                <a:cs typeface="Calibri"/>
                <a:sym typeface="Calibri"/>
              </a:rPr>
              <a:t>7</a:t>
            </a:r>
            <a:endParaRPr sz="900">
              <a:latin typeface="Calibri"/>
              <a:ea typeface="Calibri"/>
              <a:cs typeface="Calibri"/>
              <a:sym typeface="Calibri"/>
            </a:endParaRPr>
          </a:p>
        </p:txBody>
      </p:sp>
      <p:sp>
        <p:nvSpPr>
          <p:cNvPr id="827" name="Google Shape;827;p20"/>
          <p:cNvSpPr txBox="1"/>
          <p:nvPr/>
        </p:nvSpPr>
        <p:spPr>
          <a:xfrm>
            <a:off x="2746705" y="2707108"/>
            <a:ext cx="83820" cy="1631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900">
                <a:solidFill>
                  <a:srgbClr val="FFFFFF"/>
                </a:solidFill>
                <a:latin typeface="Calibri"/>
                <a:ea typeface="Calibri"/>
                <a:cs typeface="Calibri"/>
                <a:sym typeface="Calibri"/>
              </a:rPr>
              <a:t>8</a:t>
            </a:r>
            <a:endParaRPr sz="900">
              <a:latin typeface="Calibri"/>
              <a:ea typeface="Calibri"/>
              <a:cs typeface="Calibri"/>
              <a:sym typeface="Calibri"/>
            </a:endParaRPr>
          </a:p>
        </p:txBody>
      </p:sp>
      <p:sp>
        <p:nvSpPr>
          <p:cNvPr id="828" name="Google Shape;828;p20"/>
          <p:cNvSpPr txBox="1"/>
          <p:nvPr/>
        </p:nvSpPr>
        <p:spPr>
          <a:xfrm>
            <a:off x="3185541" y="2707108"/>
            <a:ext cx="83820" cy="1631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900">
                <a:solidFill>
                  <a:srgbClr val="FFFFFF"/>
                </a:solidFill>
                <a:latin typeface="Calibri"/>
                <a:ea typeface="Calibri"/>
                <a:cs typeface="Calibri"/>
                <a:sym typeface="Calibri"/>
              </a:rPr>
              <a:t>9</a:t>
            </a:r>
            <a:endParaRPr sz="900">
              <a:latin typeface="Calibri"/>
              <a:ea typeface="Calibri"/>
              <a:cs typeface="Calibri"/>
              <a:sym typeface="Calibri"/>
            </a:endParaRPr>
          </a:p>
        </p:txBody>
      </p:sp>
      <p:sp>
        <p:nvSpPr>
          <p:cNvPr id="829" name="Google Shape;829;p20"/>
          <p:cNvSpPr txBox="1"/>
          <p:nvPr/>
        </p:nvSpPr>
        <p:spPr>
          <a:xfrm>
            <a:off x="3595941" y="2707108"/>
            <a:ext cx="141605" cy="1631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900">
                <a:solidFill>
                  <a:srgbClr val="FFFFFF"/>
                </a:solidFill>
                <a:latin typeface="Calibri"/>
                <a:ea typeface="Calibri"/>
                <a:cs typeface="Calibri"/>
                <a:sym typeface="Calibri"/>
              </a:rPr>
              <a:t>10</a:t>
            </a:r>
            <a:endParaRPr sz="900">
              <a:latin typeface="Calibri"/>
              <a:ea typeface="Calibri"/>
              <a:cs typeface="Calibri"/>
              <a:sym typeface="Calibri"/>
            </a:endParaRPr>
          </a:p>
        </p:txBody>
      </p:sp>
      <p:sp>
        <p:nvSpPr>
          <p:cNvPr id="830" name="Google Shape;830;p20"/>
          <p:cNvSpPr txBox="1"/>
          <p:nvPr/>
        </p:nvSpPr>
        <p:spPr>
          <a:xfrm>
            <a:off x="535940" y="3141626"/>
            <a:ext cx="343535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100">
                <a:solidFill>
                  <a:srgbClr val="334054"/>
                </a:solidFill>
                <a:latin typeface="Calibri"/>
                <a:ea typeface="Calibri"/>
                <a:cs typeface="Calibri"/>
                <a:sym typeface="Calibri"/>
              </a:rPr>
              <a:t>3→4→5→6→7→8→9→10</a:t>
            </a:r>
            <a:endParaRPr sz="1100">
              <a:latin typeface="Calibri"/>
              <a:ea typeface="Calibri"/>
              <a:cs typeface="Calibri"/>
              <a:sym typeface="Calibri"/>
            </a:endParaRPr>
          </a:p>
          <a:p>
            <a:pPr indent="0" lvl="0" marL="12700" rtl="0" algn="l">
              <a:lnSpc>
                <a:spcPct val="100000"/>
              </a:lnSpc>
              <a:spcBef>
                <a:spcPts val="0"/>
              </a:spcBef>
              <a:spcAft>
                <a:spcPts val="0"/>
              </a:spcAft>
              <a:buNone/>
            </a:pPr>
            <a:r>
              <a:rPr b="1" lang="en-US" sz="1100">
                <a:solidFill>
                  <a:srgbClr val="E8445F"/>
                </a:solidFill>
                <a:latin typeface="Calibri"/>
                <a:ea typeface="Calibri"/>
                <a:cs typeface="Calibri"/>
                <a:sym typeface="Calibri"/>
              </a:rPr>
              <a:t>Path length: 7</a:t>
            </a:r>
            <a:endParaRPr sz="1100">
              <a:latin typeface="Calibri"/>
              <a:ea typeface="Calibri"/>
              <a:cs typeface="Calibri"/>
              <a:sym typeface="Calibri"/>
            </a:endParaRPr>
          </a:p>
          <a:p>
            <a:pPr indent="0" lvl="0" marL="12700" marR="5080" rtl="0" algn="l">
              <a:lnSpc>
                <a:spcPct val="100000"/>
              </a:lnSpc>
              <a:spcBef>
                <a:spcPts val="0"/>
              </a:spcBef>
              <a:spcAft>
                <a:spcPts val="0"/>
              </a:spcAft>
              <a:buNone/>
            </a:pPr>
            <a:r>
              <a:rPr lang="en-US" sz="1100">
                <a:solidFill>
                  <a:srgbClr val="63738A"/>
                </a:solidFill>
                <a:latin typeface="Calibri"/>
                <a:ea typeface="Calibri"/>
                <a:cs typeface="Calibri"/>
                <a:sym typeface="Calibri"/>
              </a:rPr>
              <a:t>Token 3's signal must pass through 6 irrelevant intermediate states. Information dilutes with each hop.</a:t>
            </a:r>
            <a:endParaRPr sz="1100">
              <a:latin typeface="Calibri"/>
              <a:ea typeface="Calibri"/>
              <a:cs typeface="Calibri"/>
              <a:sym typeface="Calibri"/>
            </a:endParaRPr>
          </a:p>
        </p:txBody>
      </p:sp>
      <p:grpSp>
        <p:nvGrpSpPr>
          <p:cNvPr id="831" name="Google Shape;831;p20"/>
          <p:cNvGrpSpPr/>
          <p:nvPr/>
        </p:nvGrpSpPr>
        <p:grpSpPr>
          <a:xfrm>
            <a:off x="4799876" y="2102766"/>
            <a:ext cx="4023995" cy="2698115"/>
            <a:chOff x="4799876" y="2102766"/>
            <a:chExt cx="4023995" cy="2698115"/>
          </a:xfrm>
        </p:grpSpPr>
        <p:sp>
          <p:nvSpPr>
            <p:cNvPr id="832" name="Google Shape;832;p20"/>
            <p:cNvSpPr/>
            <p:nvPr/>
          </p:nvSpPr>
          <p:spPr>
            <a:xfrm>
              <a:off x="4799876" y="2102766"/>
              <a:ext cx="4023995" cy="2698115"/>
            </a:xfrm>
            <a:custGeom>
              <a:rect b="b" l="l" r="r" t="t"/>
              <a:pathLst>
                <a:path extrusionOk="0" h="2698115" w="4023995">
                  <a:moveTo>
                    <a:pt x="110159" y="0"/>
                  </a:moveTo>
                  <a:lnTo>
                    <a:pt x="68095" y="8352"/>
                  </a:lnTo>
                  <a:lnTo>
                    <a:pt x="32535" y="32213"/>
                  </a:lnTo>
                  <a:lnTo>
                    <a:pt x="8721" y="67932"/>
                  </a:lnTo>
                  <a:lnTo>
                    <a:pt x="368" y="109791"/>
                  </a:lnTo>
                  <a:lnTo>
                    <a:pt x="0" y="2588031"/>
                  </a:lnTo>
                  <a:lnTo>
                    <a:pt x="929" y="2602306"/>
                  </a:lnTo>
                  <a:lnTo>
                    <a:pt x="939" y="2602461"/>
                  </a:lnTo>
                  <a:lnTo>
                    <a:pt x="3701" y="2616341"/>
                  </a:lnTo>
                  <a:lnTo>
                    <a:pt x="3736" y="2616519"/>
                  </a:lnTo>
                  <a:lnTo>
                    <a:pt x="8290" y="2629902"/>
                  </a:lnTo>
                  <a:lnTo>
                    <a:pt x="8358" y="2630102"/>
                  </a:lnTo>
                  <a:lnTo>
                    <a:pt x="14770" y="2643111"/>
                  </a:lnTo>
                  <a:lnTo>
                    <a:pt x="22686" y="2654824"/>
                  </a:lnTo>
                  <a:lnTo>
                    <a:pt x="22788" y="2654974"/>
                  </a:lnTo>
                  <a:lnTo>
                    <a:pt x="55079" y="2683078"/>
                  </a:lnTo>
                  <a:lnTo>
                    <a:pt x="95534" y="2696895"/>
                  </a:lnTo>
                  <a:lnTo>
                    <a:pt x="109804" y="2697835"/>
                  </a:lnTo>
                  <a:lnTo>
                    <a:pt x="3913924" y="2697835"/>
                  </a:lnTo>
                  <a:lnTo>
                    <a:pt x="3955995" y="2689482"/>
                  </a:lnTo>
                  <a:lnTo>
                    <a:pt x="3991497" y="2665656"/>
                  </a:lnTo>
                  <a:lnTo>
                    <a:pt x="4015270" y="2630102"/>
                  </a:lnTo>
                  <a:lnTo>
                    <a:pt x="4023728" y="2588031"/>
                  </a:lnTo>
                  <a:lnTo>
                    <a:pt x="4023704" y="109791"/>
                  </a:lnTo>
                  <a:lnTo>
                    <a:pt x="4015370" y="68088"/>
                  </a:lnTo>
                  <a:lnTo>
                    <a:pt x="3991503" y="32534"/>
                  </a:lnTo>
                  <a:lnTo>
                    <a:pt x="3955793" y="8708"/>
                  </a:lnTo>
                  <a:lnTo>
                    <a:pt x="3913924" y="355"/>
                  </a:lnTo>
                  <a:lnTo>
                    <a:pt x="11015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33" name="Google Shape;833;p20"/>
            <p:cNvSpPr/>
            <p:nvPr/>
          </p:nvSpPr>
          <p:spPr>
            <a:xfrm>
              <a:off x="4799876" y="2102766"/>
              <a:ext cx="4023995" cy="2698115"/>
            </a:xfrm>
            <a:custGeom>
              <a:rect b="b" l="l" r="r" t="t"/>
              <a:pathLst>
                <a:path extrusionOk="0" h="2698115" w="4023995">
                  <a:moveTo>
                    <a:pt x="368" y="109791"/>
                  </a:moveTo>
                  <a:lnTo>
                    <a:pt x="1307" y="95524"/>
                  </a:lnTo>
                  <a:lnTo>
                    <a:pt x="4103" y="81492"/>
                  </a:lnTo>
                  <a:lnTo>
                    <a:pt x="23138" y="43003"/>
                  </a:lnTo>
                  <a:lnTo>
                    <a:pt x="55079" y="14757"/>
                  </a:lnTo>
                  <a:lnTo>
                    <a:pt x="95736" y="939"/>
                  </a:lnTo>
                  <a:lnTo>
                    <a:pt x="110159" y="0"/>
                  </a:lnTo>
                  <a:lnTo>
                    <a:pt x="3913924" y="355"/>
                  </a:lnTo>
                  <a:lnTo>
                    <a:pt x="3955793" y="8708"/>
                  </a:lnTo>
                  <a:lnTo>
                    <a:pt x="3991503" y="32534"/>
                  </a:lnTo>
                  <a:lnTo>
                    <a:pt x="4015370" y="68088"/>
                  </a:lnTo>
                  <a:lnTo>
                    <a:pt x="4023728" y="110159"/>
                  </a:lnTo>
                  <a:lnTo>
                    <a:pt x="4023728" y="2588031"/>
                  </a:lnTo>
                  <a:lnTo>
                    <a:pt x="4022788" y="2602306"/>
                  </a:lnTo>
                  <a:lnTo>
                    <a:pt x="4019991" y="2616341"/>
                  </a:lnTo>
                  <a:lnTo>
                    <a:pt x="4000945" y="2654824"/>
                  </a:lnTo>
                  <a:lnTo>
                    <a:pt x="3969004" y="2683078"/>
                  </a:lnTo>
                  <a:lnTo>
                    <a:pt x="3928354" y="2696895"/>
                  </a:lnTo>
                  <a:lnTo>
                    <a:pt x="3913924" y="2697835"/>
                  </a:lnTo>
                  <a:lnTo>
                    <a:pt x="109804" y="2697835"/>
                  </a:lnTo>
                  <a:lnTo>
                    <a:pt x="67934" y="2689482"/>
                  </a:lnTo>
                  <a:lnTo>
                    <a:pt x="32224" y="2665656"/>
                  </a:lnTo>
                  <a:lnTo>
                    <a:pt x="8358" y="2630102"/>
                  </a:lnTo>
                  <a:lnTo>
                    <a:pt x="0" y="2588031"/>
                  </a:lnTo>
                  <a:lnTo>
                    <a:pt x="368" y="109791"/>
                  </a:lnTo>
                  <a:close/>
                </a:path>
              </a:pathLst>
            </a:custGeom>
            <a:noFill/>
            <a:ln cap="flat" cmpd="sng" w="19075">
              <a:solidFill>
                <a:srgbClr val="0FB88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834" name="Google Shape;834;p20"/>
          <p:cNvSpPr txBox="1"/>
          <p:nvPr/>
        </p:nvSpPr>
        <p:spPr>
          <a:xfrm>
            <a:off x="6286220" y="2224711"/>
            <a:ext cx="105092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01C299"/>
                </a:solidFill>
                <a:latin typeface="Calibri"/>
                <a:ea typeface="Calibri"/>
                <a:cs typeface="Calibri"/>
                <a:sym typeface="Calibri"/>
              </a:rPr>
              <a:t>Transformer</a:t>
            </a:r>
            <a:endParaRPr sz="1600">
              <a:latin typeface="Calibri"/>
              <a:ea typeface="Calibri"/>
              <a:cs typeface="Calibri"/>
              <a:sym typeface="Calibri"/>
            </a:endParaRPr>
          </a:p>
        </p:txBody>
      </p:sp>
      <p:grpSp>
        <p:nvGrpSpPr>
          <p:cNvPr id="835" name="Google Shape;835;p20"/>
          <p:cNvGrpSpPr/>
          <p:nvPr/>
        </p:nvGrpSpPr>
        <p:grpSpPr>
          <a:xfrm>
            <a:off x="4983124" y="2559966"/>
            <a:ext cx="402590" cy="402590"/>
            <a:chOff x="4983124" y="2559966"/>
            <a:chExt cx="402590" cy="402590"/>
          </a:xfrm>
        </p:grpSpPr>
        <p:sp>
          <p:nvSpPr>
            <p:cNvPr id="836" name="Google Shape;836;p20"/>
            <p:cNvSpPr/>
            <p:nvPr/>
          </p:nvSpPr>
          <p:spPr>
            <a:xfrm>
              <a:off x="4983124" y="2559966"/>
              <a:ext cx="402590" cy="402590"/>
            </a:xfrm>
            <a:custGeom>
              <a:rect b="b" l="l" r="r" t="t"/>
              <a:pathLst>
                <a:path extrusionOk="0" h="402589" w="402589">
                  <a:moveTo>
                    <a:pt x="201231" y="0"/>
                  </a:moveTo>
                  <a:lnTo>
                    <a:pt x="149124" y="6884"/>
                  </a:lnTo>
                  <a:lnTo>
                    <a:pt x="100799" y="27000"/>
                  </a:lnTo>
                  <a:lnTo>
                    <a:pt x="59037" y="59037"/>
                  </a:lnTo>
                  <a:lnTo>
                    <a:pt x="27000" y="100799"/>
                  </a:lnTo>
                  <a:lnTo>
                    <a:pt x="6884" y="149124"/>
                  </a:lnTo>
                  <a:lnTo>
                    <a:pt x="0" y="201231"/>
                  </a:lnTo>
                  <a:lnTo>
                    <a:pt x="1738" y="227563"/>
                  </a:lnTo>
                  <a:lnTo>
                    <a:pt x="15339" y="278335"/>
                  </a:lnTo>
                  <a:lnTo>
                    <a:pt x="41669" y="323783"/>
                  </a:lnTo>
                  <a:lnTo>
                    <a:pt x="78837" y="360810"/>
                  </a:lnTo>
                  <a:lnTo>
                    <a:pt x="124287" y="387136"/>
                  </a:lnTo>
                  <a:lnTo>
                    <a:pt x="174907" y="400737"/>
                  </a:lnTo>
                  <a:lnTo>
                    <a:pt x="201231" y="402475"/>
                  </a:lnTo>
                  <a:lnTo>
                    <a:pt x="227563" y="400737"/>
                  </a:lnTo>
                  <a:lnTo>
                    <a:pt x="278335" y="387136"/>
                  </a:lnTo>
                  <a:lnTo>
                    <a:pt x="323783" y="360810"/>
                  </a:lnTo>
                  <a:lnTo>
                    <a:pt x="360810" y="323783"/>
                  </a:lnTo>
                  <a:lnTo>
                    <a:pt x="387136" y="278335"/>
                  </a:lnTo>
                  <a:lnTo>
                    <a:pt x="400737" y="227563"/>
                  </a:lnTo>
                  <a:lnTo>
                    <a:pt x="402475" y="201231"/>
                  </a:lnTo>
                  <a:lnTo>
                    <a:pt x="400737" y="174907"/>
                  </a:lnTo>
                  <a:lnTo>
                    <a:pt x="387136" y="124287"/>
                  </a:lnTo>
                  <a:lnTo>
                    <a:pt x="360810" y="78837"/>
                  </a:lnTo>
                  <a:lnTo>
                    <a:pt x="323783" y="41669"/>
                  </a:lnTo>
                  <a:lnTo>
                    <a:pt x="278335" y="15339"/>
                  </a:lnTo>
                  <a:lnTo>
                    <a:pt x="227563" y="1738"/>
                  </a:lnTo>
                  <a:lnTo>
                    <a:pt x="201231" y="0"/>
                  </a:lnTo>
                  <a:close/>
                </a:path>
              </a:pathLst>
            </a:custGeom>
            <a:solidFill>
              <a:srgbClr val="E8445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37" name="Google Shape;837;p20"/>
            <p:cNvSpPr/>
            <p:nvPr/>
          </p:nvSpPr>
          <p:spPr>
            <a:xfrm>
              <a:off x="4983124" y="2559966"/>
              <a:ext cx="402590" cy="402590"/>
            </a:xfrm>
            <a:custGeom>
              <a:rect b="b" l="l" r="r" t="t"/>
              <a:pathLst>
                <a:path extrusionOk="0" h="402589" w="402589">
                  <a:moveTo>
                    <a:pt x="0" y="201231"/>
                  </a:moveTo>
                  <a:lnTo>
                    <a:pt x="1738" y="174907"/>
                  </a:lnTo>
                  <a:lnTo>
                    <a:pt x="6884" y="149124"/>
                  </a:lnTo>
                  <a:lnTo>
                    <a:pt x="27000" y="100799"/>
                  </a:lnTo>
                  <a:lnTo>
                    <a:pt x="59037" y="59037"/>
                  </a:lnTo>
                  <a:lnTo>
                    <a:pt x="100799" y="27000"/>
                  </a:lnTo>
                  <a:lnTo>
                    <a:pt x="149124" y="6884"/>
                  </a:lnTo>
                  <a:lnTo>
                    <a:pt x="201231" y="0"/>
                  </a:lnTo>
                  <a:lnTo>
                    <a:pt x="253388" y="6884"/>
                  </a:lnTo>
                  <a:lnTo>
                    <a:pt x="302031" y="27000"/>
                  </a:lnTo>
                  <a:lnTo>
                    <a:pt x="343477" y="59037"/>
                  </a:lnTo>
                  <a:lnTo>
                    <a:pt x="375475" y="100799"/>
                  </a:lnTo>
                  <a:lnTo>
                    <a:pt x="395590" y="149124"/>
                  </a:lnTo>
                  <a:lnTo>
                    <a:pt x="402475" y="201231"/>
                  </a:lnTo>
                  <a:lnTo>
                    <a:pt x="400737" y="227563"/>
                  </a:lnTo>
                  <a:lnTo>
                    <a:pt x="395590" y="253388"/>
                  </a:lnTo>
                  <a:lnTo>
                    <a:pt x="375475" y="302031"/>
                  </a:lnTo>
                  <a:lnTo>
                    <a:pt x="343477" y="343477"/>
                  </a:lnTo>
                  <a:lnTo>
                    <a:pt x="302031" y="375475"/>
                  </a:lnTo>
                  <a:lnTo>
                    <a:pt x="253388" y="395590"/>
                  </a:lnTo>
                  <a:lnTo>
                    <a:pt x="201231" y="402475"/>
                  </a:lnTo>
                  <a:lnTo>
                    <a:pt x="149124" y="395590"/>
                  </a:lnTo>
                  <a:lnTo>
                    <a:pt x="100799" y="375475"/>
                  </a:lnTo>
                  <a:lnTo>
                    <a:pt x="59037" y="343477"/>
                  </a:lnTo>
                  <a:lnTo>
                    <a:pt x="27000" y="302031"/>
                  </a:lnTo>
                  <a:lnTo>
                    <a:pt x="6884" y="253388"/>
                  </a:lnTo>
                  <a:lnTo>
                    <a:pt x="1738" y="227563"/>
                  </a:lnTo>
                  <a:lnTo>
                    <a:pt x="0" y="201231"/>
                  </a:lnTo>
                  <a:close/>
                </a:path>
              </a:pathLst>
            </a:custGeom>
            <a:noFill/>
            <a:ln cap="flat" cmpd="sng" w="100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838" name="Google Shape;838;p20"/>
          <p:cNvSpPr txBox="1"/>
          <p:nvPr/>
        </p:nvSpPr>
        <p:spPr>
          <a:xfrm>
            <a:off x="5136375" y="2664627"/>
            <a:ext cx="96520"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00">
                <a:solidFill>
                  <a:srgbClr val="FFFFFF"/>
                </a:solidFill>
                <a:latin typeface="Calibri"/>
                <a:ea typeface="Calibri"/>
                <a:cs typeface="Calibri"/>
                <a:sym typeface="Calibri"/>
              </a:rPr>
              <a:t>3</a:t>
            </a:r>
            <a:endParaRPr sz="1100">
              <a:latin typeface="Calibri"/>
              <a:ea typeface="Calibri"/>
              <a:cs typeface="Calibri"/>
              <a:sym typeface="Calibri"/>
            </a:endParaRPr>
          </a:p>
        </p:txBody>
      </p:sp>
      <p:grpSp>
        <p:nvGrpSpPr>
          <p:cNvPr id="839" name="Google Shape;839;p20"/>
          <p:cNvGrpSpPr/>
          <p:nvPr/>
        </p:nvGrpSpPr>
        <p:grpSpPr>
          <a:xfrm>
            <a:off x="8092084" y="2724482"/>
            <a:ext cx="402590" cy="402590"/>
            <a:chOff x="8092084" y="2724482"/>
            <a:chExt cx="402590" cy="402590"/>
          </a:xfrm>
        </p:grpSpPr>
        <p:sp>
          <p:nvSpPr>
            <p:cNvPr id="840" name="Google Shape;840;p20"/>
            <p:cNvSpPr/>
            <p:nvPr/>
          </p:nvSpPr>
          <p:spPr>
            <a:xfrm>
              <a:off x="8092084" y="2724482"/>
              <a:ext cx="402590" cy="402590"/>
            </a:xfrm>
            <a:custGeom>
              <a:rect b="b" l="l" r="r" t="t"/>
              <a:pathLst>
                <a:path extrusionOk="0" h="402589" w="402590">
                  <a:moveTo>
                    <a:pt x="201231" y="0"/>
                  </a:moveTo>
                  <a:lnTo>
                    <a:pt x="149124" y="6884"/>
                  </a:lnTo>
                  <a:lnTo>
                    <a:pt x="100799" y="27000"/>
                  </a:lnTo>
                  <a:lnTo>
                    <a:pt x="59037" y="59042"/>
                  </a:lnTo>
                  <a:lnTo>
                    <a:pt x="27000" y="100799"/>
                  </a:lnTo>
                  <a:lnTo>
                    <a:pt x="6884" y="149131"/>
                  </a:lnTo>
                  <a:lnTo>
                    <a:pt x="0" y="201244"/>
                  </a:lnTo>
                  <a:lnTo>
                    <a:pt x="1738" y="227574"/>
                  </a:lnTo>
                  <a:lnTo>
                    <a:pt x="15339" y="278343"/>
                  </a:lnTo>
                  <a:lnTo>
                    <a:pt x="41669" y="323794"/>
                  </a:lnTo>
                  <a:lnTo>
                    <a:pt x="78837" y="360812"/>
                  </a:lnTo>
                  <a:lnTo>
                    <a:pt x="124287" y="387136"/>
                  </a:lnTo>
                  <a:lnTo>
                    <a:pt x="174907" y="400737"/>
                  </a:lnTo>
                  <a:lnTo>
                    <a:pt x="201231" y="402475"/>
                  </a:lnTo>
                  <a:lnTo>
                    <a:pt x="227563" y="400737"/>
                  </a:lnTo>
                  <a:lnTo>
                    <a:pt x="278335" y="387136"/>
                  </a:lnTo>
                  <a:lnTo>
                    <a:pt x="323783" y="360812"/>
                  </a:lnTo>
                  <a:lnTo>
                    <a:pt x="360810" y="323794"/>
                  </a:lnTo>
                  <a:lnTo>
                    <a:pt x="387136" y="278343"/>
                  </a:lnTo>
                  <a:lnTo>
                    <a:pt x="400737" y="227574"/>
                  </a:lnTo>
                  <a:lnTo>
                    <a:pt x="402475" y="201244"/>
                  </a:lnTo>
                  <a:lnTo>
                    <a:pt x="400737" y="174918"/>
                  </a:lnTo>
                  <a:lnTo>
                    <a:pt x="387136" y="124289"/>
                  </a:lnTo>
                  <a:lnTo>
                    <a:pt x="360810" y="78842"/>
                  </a:lnTo>
                  <a:lnTo>
                    <a:pt x="323783" y="41671"/>
                  </a:lnTo>
                  <a:lnTo>
                    <a:pt x="278335" y="15339"/>
                  </a:lnTo>
                  <a:lnTo>
                    <a:pt x="227563" y="1738"/>
                  </a:lnTo>
                  <a:lnTo>
                    <a:pt x="201231" y="0"/>
                  </a:lnTo>
                  <a:close/>
                </a:path>
              </a:pathLst>
            </a:custGeom>
            <a:solidFill>
              <a:srgbClr val="0FB88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41" name="Google Shape;841;p20"/>
            <p:cNvSpPr/>
            <p:nvPr/>
          </p:nvSpPr>
          <p:spPr>
            <a:xfrm>
              <a:off x="8092084" y="2724482"/>
              <a:ext cx="402590" cy="402590"/>
            </a:xfrm>
            <a:custGeom>
              <a:rect b="b" l="l" r="r" t="t"/>
              <a:pathLst>
                <a:path extrusionOk="0" h="402589" w="402590">
                  <a:moveTo>
                    <a:pt x="0" y="201244"/>
                  </a:moveTo>
                  <a:lnTo>
                    <a:pt x="1738" y="174918"/>
                  </a:lnTo>
                  <a:lnTo>
                    <a:pt x="6884" y="149131"/>
                  </a:lnTo>
                  <a:lnTo>
                    <a:pt x="27000" y="100799"/>
                  </a:lnTo>
                  <a:lnTo>
                    <a:pt x="59037" y="59042"/>
                  </a:lnTo>
                  <a:lnTo>
                    <a:pt x="100799" y="27000"/>
                  </a:lnTo>
                  <a:lnTo>
                    <a:pt x="149124" y="6884"/>
                  </a:lnTo>
                  <a:lnTo>
                    <a:pt x="201231" y="0"/>
                  </a:lnTo>
                  <a:lnTo>
                    <a:pt x="253388" y="6884"/>
                  </a:lnTo>
                  <a:lnTo>
                    <a:pt x="302031" y="27000"/>
                  </a:lnTo>
                  <a:lnTo>
                    <a:pt x="343477" y="59042"/>
                  </a:lnTo>
                  <a:lnTo>
                    <a:pt x="375475" y="100799"/>
                  </a:lnTo>
                  <a:lnTo>
                    <a:pt x="395590" y="149131"/>
                  </a:lnTo>
                  <a:lnTo>
                    <a:pt x="402475" y="201244"/>
                  </a:lnTo>
                  <a:lnTo>
                    <a:pt x="400737" y="227574"/>
                  </a:lnTo>
                  <a:lnTo>
                    <a:pt x="395590" y="253396"/>
                  </a:lnTo>
                  <a:lnTo>
                    <a:pt x="375475" y="302044"/>
                  </a:lnTo>
                  <a:lnTo>
                    <a:pt x="343477" y="343484"/>
                  </a:lnTo>
                  <a:lnTo>
                    <a:pt x="302031" y="375475"/>
                  </a:lnTo>
                  <a:lnTo>
                    <a:pt x="253388" y="395590"/>
                  </a:lnTo>
                  <a:lnTo>
                    <a:pt x="201231" y="402475"/>
                  </a:lnTo>
                  <a:lnTo>
                    <a:pt x="149124" y="395590"/>
                  </a:lnTo>
                  <a:lnTo>
                    <a:pt x="100799" y="375475"/>
                  </a:lnTo>
                  <a:lnTo>
                    <a:pt x="59037" y="343484"/>
                  </a:lnTo>
                  <a:lnTo>
                    <a:pt x="27000" y="302044"/>
                  </a:lnTo>
                  <a:lnTo>
                    <a:pt x="6884" y="253396"/>
                  </a:lnTo>
                  <a:lnTo>
                    <a:pt x="1738" y="227574"/>
                  </a:lnTo>
                  <a:lnTo>
                    <a:pt x="0" y="201244"/>
                  </a:lnTo>
                  <a:close/>
                </a:path>
              </a:pathLst>
            </a:custGeom>
            <a:noFill/>
            <a:ln cap="flat" cmpd="sng" w="125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842" name="Google Shape;842;p20"/>
          <p:cNvSpPr/>
          <p:nvPr/>
        </p:nvSpPr>
        <p:spPr>
          <a:xfrm>
            <a:off x="5385599" y="2761197"/>
            <a:ext cx="2707005" cy="165100"/>
          </a:xfrm>
          <a:custGeom>
            <a:rect b="b" l="l" r="r" t="t"/>
            <a:pathLst>
              <a:path extrusionOk="0" h="165100" w="2707004">
                <a:moveTo>
                  <a:pt x="0" y="0"/>
                </a:moveTo>
                <a:lnTo>
                  <a:pt x="2706484" y="164884"/>
                </a:lnTo>
              </a:path>
            </a:pathLst>
          </a:custGeom>
          <a:noFill/>
          <a:ln cap="flat" cmpd="sng" w="19075">
            <a:solidFill>
              <a:srgbClr val="0FB88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43" name="Google Shape;843;p20"/>
          <p:cNvSpPr txBox="1"/>
          <p:nvPr/>
        </p:nvSpPr>
        <p:spPr>
          <a:xfrm>
            <a:off x="5921540" y="2678660"/>
            <a:ext cx="222250" cy="129539"/>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i="1" lang="en-US" sz="650">
                <a:solidFill>
                  <a:srgbClr val="049568"/>
                </a:solidFill>
                <a:latin typeface="Cambria"/>
                <a:ea typeface="Cambria"/>
                <a:cs typeface="Cambria"/>
                <a:sym typeface="Cambria"/>
              </a:rPr>
              <a:t>1 hop</a:t>
            </a:r>
            <a:endParaRPr sz="650">
              <a:latin typeface="Cambria"/>
              <a:ea typeface="Cambria"/>
              <a:cs typeface="Cambria"/>
              <a:sym typeface="Cambria"/>
            </a:endParaRPr>
          </a:p>
        </p:txBody>
      </p:sp>
      <p:grpSp>
        <p:nvGrpSpPr>
          <p:cNvPr id="844" name="Google Shape;844;p20"/>
          <p:cNvGrpSpPr/>
          <p:nvPr/>
        </p:nvGrpSpPr>
        <p:grpSpPr>
          <a:xfrm>
            <a:off x="4983124" y="2907362"/>
            <a:ext cx="402590" cy="402590"/>
            <a:chOff x="4983124" y="2907362"/>
            <a:chExt cx="402590" cy="402590"/>
          </a:xfrm>
        </p:grpSpPr>
        <p:sp>
          <p:nvSpPr>
            <p:cNvPr id="845" name="Google Shape;845;p20"/>
            <p:cNvSpPr/>
            <p:nvPr/>
          </p:nvSpPr>
          <p:spPr>
            <a:xfrm>
              <a:off x="4983124" y="2907362"/>
              <a:ext cx="402590" cy="402590"/>
            </a:xfrm>
            <a:custGeom>
              <a:rect b="b" l="l" r="r" t="t"/>
              <a:pathLst>
                <a:path extrusionOk="0" h="402589" w="402589">
                  <a:moveTo>
                    <a:pt x="201231" y="0"/>
                  </a:moveTo>
                  <a:lnTo>
                    <a:pt x="149124" y="6884"/>
                  </a:lnTo>
                  <a:lnTo>
                    <a:pt x="100799" y="27000"/>
                  </a:lnTo>
                  <a:lnTo>
                    <a:pt x="59037" y="59042"/>
                  </a:lnTo>
                  <a:lnTo>
                    <a:pt x="27000" y="100799"/>
                  </a:lnTo>
                  <a:lnTo>
                    <a:pt x="6884" y="149131"/>
                  </a:lnTo>
                  <a:lnTo>
                    <a:pt x="0" y="201244"/>
                  </a:lnTo>
                  <a:lnTo>
                    <a:pt x="1738" y="227574"/>
                  </a:lnTo>
                  <a:lnTo>
                    <a:pt x="15339" y="278343"/>
                  </a:lnTo>
                  <a:lnTo>
                    <a:pt x="41669" y="323794"/>
                  </a:lnTo>
                  <a:lnTo>
                    <a:pt x="78837" y="360812"/>
                  </a:lnTo>
                  <a:lnTo>
                    <a:pt x="124287" y="387136"/>
                  </a:lnTo>
                  <a:lnTo>
                    <a:pt x="174907" y="400737"/>
                  </a:lnTo>
                  <a:lnTo>
                    <a:pt x="201231" y="402475"/>
                  </a:lnTo>
                  <a:lnTo>
                    <a:pt x="227563" y="400737"/>
                  </a:lnTo>
                  <a:lnTo>
                    <a:pt x="278335" y="387136"/>
                  </a:lnTo>
                  <a:lnTo>
                    <a:pt x="323783" y="360812"/>
                  </a:lnTo>
                  <a:lnTo>
                    <a:pt x="360810" y="323794"/>
                  </a:lnTo>
                  <a:lnTo>
                    <a:pt x="387136" y="278343"/>
                  </a:lnTo>
                  <a:lnTo>
                    <a:pt x="400737" y="227574"/>
                  </a:lnTo>
                  <a:lnTo>
                    <a:pt x="402475" y="201244"/>
                  </a:lnTo>
                  <a:lnTo>
                    <a:pt x="400737" y="174918"/>
                  </a:lnTo>
                  <a:lnTo>
                    <a:pt x="387136" y="124289"/>
                  </a:lnTo>
                  <a:lnTo>
                    <a:pt x="360810" y="78842"/>
                  </a:lnTo>
                  <a:lnTo>
                    <a:pt x="323783" y="41671"/>
                  </a:lnTo>
                  <a:lnTo>
                    <a:pt x="278335" y="15339"/>
                  </a:lnTo>
                  <a:lnTo>
                    <a:pt x="227563" y="1738"/>
                  </a:lnTo>
                  <a:lnTo>
                    <a:pt x="201231" y="0"/>
                  </a:lnTo>
                  <a:close/>
                </a:path>
              </a:pathLst>
            </a:custGeom>
            <a:solidFill>
              <a:srgbClr val="017F8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46" name="Google Shape;846;p20"/>
            <p:cNvSpPr/>
            <p:nvPr/>
          </p:nvSpPr>
          <p:spPr>
            <a:xfrm>
              <a:off x="4983124" y="2907362"/>
              <a:ext cx="402590" cy="402590"/>
            </a:xfrm>
            <a:custGeom>
              <a:rect b="b" l="l" r="r" t="t"/>
              <a:pathLst>
                <a:path extrusionOk="0" h="402589" w="402589">
                  <a:moveTo>
                    <a:pt x="0" y="201244"/>
                  </a:moveTo>
                  <a:lnTo>
                    <a:pt x="1738" y="174918"/>
                  </a:lnTo>
                  <a:lnTo>
                    <a:pt x="6884" y="149131"/>
                  </a:lnTo>
                  <a:lnTo>
                    <a:pt x="27000" y="100799"/>
                  </a:lnTo>
                  <a:lnTo>
                    <a:pt x="59037" y="59042"/>
                  </a:lnTo>
                  <a:lnTo>
                    <a:pt x="100799" y="27000"/>
                  </a:lnTo>
                  <a:lnTo>
                    <a:pt x="149124" y="6884"/>
                  </a:lnTo>
                  <a:lnTo>
                    <a:pt x="201231" y="0"/>
                  </a:lnTo>
                  <a:lnTo>
                    <a:pt x="253388" y="6884"/>
                  </a:lnTo>
                  <a:lnTo>
                    <a:pt x="302031" y="27000"/>
                  </a:lnTo>
                  <a:lnTo>
                    <a:pt x="343477" y="59042"/>
                  </a:lnTo>
                  <a:lnTo>
                    <a:pt x="375475" y="100799"/>
                  </a:lnTo>
                  <a:lnTo>
                    <a:pt x="395590" y="149131"/>
                  </a:lnTo>
                  <a:lnTo>
                    <a:pt x="402475" y="201244"/>
                  </a:lnTo>
                  <a:lnTo>
                    <a:pt x="400737" y="227574"/>
                  </a:lnTo>
                  <a:lnTo>
                    <a:pt x="395590" y="253396"/>
                  </a:lnTo>
                  <a:lnTo>
                    <a:pt x="375475" y="302044"/>
                  </a:lnTo>
                  <a:lnTo>
                    <a:pt x="343477" y="343484"/>
                  </a:lnTo>
                  <a:lnTo>
                    <a:pt x="302031" y="375475"/>
                  </a:lnTo>
                  <a:lnTo>
                    <a:pt x="253388" y="395590"/>
                  </a:lnTo>
                  <a:lnTo>
                    <a:pt x="201231" y="402475"/>
                  </a:lnTo>
                  <a:lnTo>
                    <a:pt x="149124" y="395590"/>
                  </a:lnTo>
                  <a:lnTo>
                    <a:pt x="100799" y="375475"/>
                  </a:lnTo>
                  <a:lnTo>
                    <a:pt x="59037" y="343484"/>
                  </a:lnTo>
                  <a:lnTo>
                    <a:pt x="27000" y="302044"/>
                  </a:lnTo>
                  <a:lnTo>
                    <a:pt x="6884" y="253396"/>
                  </a:lnTo>
                  <a:lnTo>
                    <a:pt x="1738" y="227574"/>
                  </a:lnTo>
                  <a:lnTo>
                    <a:pt x="0" y="201244"/>
                  </a:lnTo>
                  <a:close/>
                </a:path>
              </a:pathLst>
            </a:custGeom>
            <a:noFill/>
            <a:ln cap="flat" cmpd="sng" w="100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847" name="Google Shape;847;p20"/>
          <p:cNvSpPr txBox="1"/>
          <p:nvPr/>
        </p:nvSpPr>
        <p:spPr>
          <a:xfrm>
            <a:off x="8209343" y="2829143"/>
            <a:ext cx="167005"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00">
                <a:solidFill>
                  <a:srgbClr val="FFFFFF"/>
                </a:solidFill>
                <a:latin typeface="Calibri"/>
                <a:ea typeface="Calibri"/>
                <a:cs typeface="Calibri"/>
                <a:sym typeface="Calibri"/>
              </a:rPr>
              <a:t>10</a:t>
            </a:r>
            <a:endParaRPr sz="1100">
              <a:latin typeface="Calibri"/>
              <a:ea typeface="Calibri"/>
              <a:cs typeface="Calibri"/>
              <a:sym typeface="Calibri"/>
            </a:endParaRPr>
          </a:p>
        </p:txBody>
      </p:sp>
      <p:sp>
        <p:nvSpPr>
          <p:cNvPr id="848" name="Google Shape;848;p20"/>
          <p:cNvSpPr/>
          <p:nvPr/>
        </p:nvSpPr>
        <p:spPr>
          <a:xfrm>
            <a:off x="5385599" y="2925726"/>
            <a:ext cx="2707005" cy="182880"/>
          </a:xfrm>
          <a:custGeom>
            <a:rect b="b" l="l" r="r" t="t"/>
            <a:pathLst>
              <a:path extrusionOk="0" h="182880" w="2707004">
                <a:moveTo>
                  <a:pt x="0" y="182880"/>
                </a:moveTo>
                <a:lnTo>
                  <a:pt x="2706484" y="0"/>
                </a:lnTo>
              </a:path>
            </a:pathLst>
          </a:custGeom>
          <a:noFill/>
          <a:ln cap="flat" cmpd="sng" w="19075">
            <a:solidFill>
              <a:srgbClr val="0FB88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49" name="Google Shape;849;p20"/>
          <p:cNvSpPr txBox="1"/>
          <p:nvPr/>
        </p:nvSpPr>
        <p:spPr>
          <a:xfrm>
            <a:off x="5136375" y="3012022"/>
            <a:ext cx="96520"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00">
                <a:solidFill>
                  <a:srgbClr val="FFFFFF"/>
                </a:solidFill>
                <a:latin typeface="Calibri"/>
                <a:ea typeface="Calibri"/>
                <a:cs typeface="Calibri"/>
                <a:sym typeface="Calibri"/>
              </a:rPr>
              <a:t>8</a:t>
            </a:r>
            <a:endParaRPr sz="1100">
              <a:latin typeface="Calibri"/>
              <a:ea typeface="Calibri"/>
              <a:cs typeface="Calibri"/>
              <a:sym typeface="Calibri"/>
            </a:endParaRPr>
          </a:p>
        </p:txBody>
      </p:sp>
      <p:sp>
        <p:nvSpPr>
          <p:cNvPr id="850" name="Google Shape;850;p20"/>
          <p:cNvSpPr txBox="1"/>
          <p:nvPr/>
        </p:nvSpPr>
        <p:spPr>
          <a:xfrm>
            <a:off x="5921540" y="3026069"/>
            <a:ext cx="222250" cy="129539"/>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i="1" lang="en-US" sz="650">
                <a:solidFill>
                  <a:srgbClr val="049568"/>
                </a:solidFill>
                <a:latin typeface="Cambria"/>
                <a:ea typeface="Cambria"/>
                <a:cs typeface="Cambria"/>
                <a:sym typeface="Cambria"/>
              </a:rPr>
              <a:t>1 hop</a:t>
            </a:r>
            <a:endParaRPr sz="650">
              <a:latin typeface="Cambria"/>
              <a:ea typeface="Cambria"/>
              <a:cs typeface="Cambria"/>
              <a:sym typeface="Cambria"/>
            </a:endParaRPr>
          </a:p>
        </p:txBody>
      </p:sp>
      <p:grpSp>
        <p:nvGrpSpPr>
          <p:cNvPr id="851" name="Google Shape;851;p20"/>
          <p:cNvGrpSpPr/>
          <p:nvPr/>
        </p:nvGrpSpPr>
        <p:grpSpPr>
          <a:xfrm>
            <a:off x="4983124" y="3254757"/>
            <a:ext cx="402590" cy="402590"/>
            <a:chOff x="4983124" y="3254757"/>
            <a:chExt cx="402590" cy="402590"/>
          </a:xfrm>
        </p:grpSpPr>
        <p:sp>
          <p:nvSpPr>
            <p:cNvPr id="852" name="Google Shape;852;p20"/>
            <p:cNvSpPr/>
            <p:nvPr/>
          </p:nvSpPr>
          <p:spPr>
            <a:xfrm>
              <a:off x="4983124" y="3254757"/>
              <a:ext cx="402590" cy="402590"/>
            </a:xfrm>
            <a:custGeom>
              <a:rect b="b" l="l" r="r" t="t"/>
              <a:pathLst>
                <a:path extrusionOk="0" h="402589" w="402589">
                  <a:moveTo>
                    <a:pt x="201231" y="0"/>
                  </a:moveTo>
                  <a:lnTo>
                    <a:pt x="149124" y="6884"/>
                  </a:lnTo>
                  <a:lnTo>
                    <a:pt x="100799" y="27000"/>
                  </a:lnTo>
                  <a:lnTo>
                    <a:pt x="59037" y="59042"/>
                  </a:lnTo>
                  <a:lnTo>
                    <a:pt x="27000" y="100799"/>
                  </a:lnTo>
                  <a:lnTo>
                    <a:pt x="6884" y="149131"/>
                  </a:lnTo>
                  <a:lnTo>
                    <a:pt x="0" y="201244"/>
                  </a:lnTo>
                  <a:lnTo>
                    <a:pt x="1738" y="227575"/>
                  </a:lnTo>
                  <a:lnTo>
                    <a:pt x="15339" y="278348"/>
                  </a:lnTo>
                  <a:lnTo>
                    <a:pt x="41669" y="323796"/>
                  </a:lnTo>
                  <a:lnTo>
                    <a:pt x="78837" y="360822"/>
                  </a:lnTo>
                  <a:lnTo>
                    <a:pt x="124287" y="387148"/>
                  </a:lnTo>
                  <a:lnTo>
                    <a:pt x="174907" y="400750"/>
                  </a:lnTo>
                  <a:lnTo>
                    <a:pt x="201231" y="402488"/>
                  </a:lnTo>
                  <a:lnTo>
                    <a:pt x="227563" y="400750"/>
                  </a:lnTo>
                  <a:lnTo>
                    <a:pt x="278335" y="387148"/>
                  </a:lnTo>
                  <a:lnTo>
                    <a:pt x="323783" y="360822"/>
                  </a:lnTo>
                  <a:lnTo>
                    <a:pt x="360810" y="323796"/>
                  </a:lnTo>
                  <a:lnTo>
                    <a:pt x="387136" y="278348"/>
                  </a:lnTo>
                  <a:lnTo>
                    <a:pt x="400737" y="227575"/>
                  </a:lnTo>
                  <a:lnTo>
                    <a:pt x="402475" y="201244"/>
                  </a:lnTo>
                  <a:lnTo>
                    <a:pt x="400737" y="174918"/>
                  </a:lnTo>
                  <a:lnTo>
                    <a:pt x="387136" y="124289"/>
                  </a:lnTo>
                  <a:lnTo>
                    <a:pt x="360810" y="78842"/>
                  </a:lnTo>
                  <a:lnTo>
                    <a:pt x="323783" y="41671"/>
                  </a:lnTo>
                  <a:lnTo>
                    <a:pt x="278335" y="15339"/>
                  </a:lnTo>
                  <a:lnTo>
                    <a:pt x="227563" y="1738"/>
                  </a:lnTo>
                  <a:lnTo>
                    <a:pt x="201231" y="0"/>
                  </a:lnTo>
                  <a:close/>
                </a:path>
              </a:pathLst>
            </a:custGeom>
            <a:solidFill>
              <a:srgbClr val="017F8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53" name="Google Shape;853;p20"/>
            <p:cNvSpPr/>
            <p:nvPr/>
          </p:nvSpPr>
          <p:spPr>
            <a:xfrm>
              <a:off x="4983124" y="3254757"/>
              <a:ext cx="402590" cy="402590"/>
            </a:xfrm>
            <a:custGeom>
              <a:rect b="b" l="l" r="r" t="t"/>
              <a:pathLst>
                <a:path extrusionOk="0" h="402589" w="402589">
                  <a:moveTo>
                    <a:pt x="0" y="201244"/>
                  </a:moveTo>
                  <a:lnTo>
                    <a:pt x="1738" y="174918"/>
                  </a:lnTo>
                  <a:lnTo>
                    <a:pt x="6884" y="149131"/>
                  </a:lnTo>
                  <a:lnTo>
                    <a:pt x="27000" y="100799"/>
                  </a:lnTo>
                  <a:lnTo>
                    <a:pt x="59037" y="59042"/>
                  </a:lnTo>
                  <a:lnTo>
                    <a:pt x="100799" y="27000"/>
                  </a:lnTo>
                  <a:lnTo>
                    <a:pt x="149124" y="6884"/>
                  </a:lnTo>
                  <a:lnTo>
                    <a:pt x="201231" y="0"/>
                  </a:lnTo>
                  <a:lnTo>
                    <a:pt x="253388" y="6884"/>
                  </a:lnTo>
                  <a:lnTo>
                    <a:pt x="302031" y="27000"/>
                  </a:lnTo>
                  <a:lnTo>
                    <a:pt x="343477" y="59042"/>
                  </a:lnTo>
                  <a:lnTo>
                    <a:pt x="375475" y="100799"/>
                  </a:lnTo>
                  <a:lnTo>
                    <a:pt x="395590" y="149131"/>
                  </a:lnTo>
                  <a:lnTo>
                    <a:pt x="402475" y="201244"/>
                  </a:lnTo>
                  <a:lnTo>
                    <a:pt x="400737" y="227575"/>
                  </a:lnTo>
                  <a:lnTo>
                    <a:pt x="395590" y="253401"/>
                  </a:lnTo>
                  <a:lnTo>
                    <a:pt x="375475" y="302044"/>
                  </a:lnTo>
                  <a:lnTo>
                    <a:pt x="343477" y="343490"/>
                  </a:lnTo>
                  <a:lnTo>
                    <a:pt x="302031" y="375488"/>
                  </a:lnTo>
                  <a:lnTo>
                    <a:pt x="253388" y="395603"/>
                  </a:lnTo>
                  <a:lnTo>
                    <a:pt x="201231" y="402488"/>
                  </a:lnTo>
                  <a:lnTo>
                    <a:pt x="149124" y="395603"/>
                  </a:lnTo>
                  <a:lnTo>
                    <a:pt x="100799" y="375488"/>
                  </a:lnTo>
                  <a:lnTo>
                    <a:pt x="59037" y="343490"/>
                  </a:lnTo>
                  <a:lnTo>
                    <a:pt x="27000" y="302044"/>
                  </a:lnTo>
                  <a:lnTo>
                    <a:pt x="6884" y="253401"/>
                  </a:lnTo>
                  <a:lnTo>
                    <a:pt x="1738" y="227575"/>
                  </a:lnTo>
                  <a:lnTo>
                    <a:pt x="0" y="201244"/>
                  </a:lnTo>
                  <a:close/>
                </a:path>
              </a:pathLst>
            </a:custGeom>
            <a:noFill/>
            <a:ln cap="flat" cmpd="sng" w="100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854" name="Google Shape;854;p20"/>
          <p:cNvSpPr/>
          <p:nvPr/>
        </p:nvSpPr>
        <p:spPr>
          <a:xfrm>
            <a:off x="5385599" y="2925726"/>
            <a:ext cx="2707005" cy="530860"/>
          </a:xfrm>
          <a:custGeom>
            <a:rect b="b" l="l" r="r" t="t"/>
            <a:pathLst>
              <a:path extrusionOk="0" h="530860" w="2707004">
                <a:moveTo>
                  <a:pt x="0" y="530631"/>
                </a:moveTo>
                <a:lnTo>
                  <a:pt x="2706484" y="0"/>
                </a:lnTo>
              </a:path>
            </a:pathLst>
          </a:custGeom>
          <a:noFill/>
          <a:ln cap="flat" cmpd="sng" w="19075">
            <a:solidFill>
              <a:srgbClr val="0FB88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55" name="Google Shape;855;p20"/>
          <p:cNvSpPr txBox="1"/>
          <p:nvPr/>
        </p:nvSpPr>
        <p:spPr>
          <a:xfrm>
            <a:off x="5136375" y="3359431"/>
            <a:ext cx="96520"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00">
                <a:solidFill>
                  <a:srgbClr val="FFFFFF"/>
                </a:solidFill>
                <a:latin typeface="Calibri"/>
                <a:ea typeface="Calibri"/>
                <a:cs typeface="Calibri"/>
                <a:sym typeface="Calibri"/>
              </a:rPr>
              <a:t>9</a:t>
            </a:r>
            <a:endParaRPr sz="1100">
              <a:latin typeface="Calibri"/>
              <a:ea typeface="Calibri"/>
              <a:cs typeface="Calibri"/>
              <a:sym typeface="Calibri"/>
            </a:endParaRPr>
          </a:p>
        </p:txBody>
      </p:sp>
      <p:sp>
        <p:nvSpPr>
          <p:cNvPr id="856" name="Google Shape;856;p20"/>
          <p:cNvSpPr txBox="1"/>
          <p:nvPr/>
        </p:nvSpPr>
        <p:spPr>
          <a:xfrm>
            <a:off x="5921540" y="3373465"/>
            <a:ext cx="222250" cy="129539"/>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i="1" lang="en-US" sz="650">
                <a:solidFill>
                  <a:srgbClr val="049568"/>
                </a:solidFill>
                <a:latin typeface="Cambria"/>
                <a:ea typeface="Cambria"/>
                <a:cs typeface="Cambria"/>
                <a:sym typeface="Cambria"/>
              </a:rPr>
              <a:t>1 hop</a:t>
            </a:r>
            <a:endParaRPr sz="650">
              <a:latin typeface="Cambria"/>
              <a:ea typeface="Cambria"/>
              <a:cs typeface="Cambria"/>
              <a:sym typeface="Cambria"/>
            </a:endParaRPr>
          </a:p>
        </p:txBody>
      </p:sp>
      <p:sp>
        <p:nvSpPr>
          <p:cNvPr id="857" name="Google Shape;857;p20"/>
          <p:cNvSpPr txBox="1"/>
          <p:nvPr/>
        </p:nvSpPr>
        <p:spPr>
          <a:xfrm>
            <a:off x="4997780" y="3800070"/>
            <a:ext cx="315087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100">
                <a:solidFill>
                  <a:srgbClr val="334054"/>
                </a:solidFill>
                <a:latin typeface="Calibri"/>
                <a:ea typeface="Calibri"/>
                <a:cs typeface="Calibri"/>
                <a:sym typeface="Calibri"/>
              </a:rPr>
              <a:t>3 ─────────</a:t>
            </a:r>
            <a:r>
              <a:rPr lang="en-US" sz="1100">
                <a:solidFill>
                  <a:srgbClr val="334054"/>
                </a:solidFill>
                <a:latin typeface="Times New Roman"/>
                <a:ea typeface="Times New Roman"/>
                <a:cs typeface="Times New Roman"/>
                <a:sym typeface="Times New Roman"/>
              </a:rPr>
              <a:t>► </a:t>
            </a:r>
            <a:r>
              <a:rPr lang="en-US" sz="1100">
                <a:solidFill>
                  <a:srgbClr val="334054"/>
                </a:solidFill>
                <a:latin typeface="Calibri"/>
                <a:ea typeface="Calibri"/>
                <a:cs typeface="Calibri"/>
                <a:sym typeface="Calibri"/>
              </a:rPr>
              <a:t>10</a:t>
            </a:r>
            <a:endParaRPr sz="1100">
              <a:latin typeface="Calibri"/>
              <a:ea typeface="Calibri"/>
              <a:cs typeface="Calibri"/>
              <a:sym typeface="Calibri"/>
            </a:endParaRPr>
          </a:p>
          <a:p>
            <a:pPr indent="0" lvl="0" marL="12700" rtl="0" algn="l">
              <a:lnSpc>
                <a:spcPct val="100000"/>
              </a:lnSpc>
              <a:spcBef>
                <a:spcPts val="0"/>
              </a:spcBef>
              <a:spcAft>
                <a:spcPts val="0"/>
              </a:spcAft>
              <a:buNone/>
            </a:pPr>
            <a:r>
              <a:rPr b="1" lang="en-US" sz="1100">
                <a:solidFill>
                  <a:srgbClr val="049568"/>
                </a:solidFill>
                <a:latin typeface="Calibri"/>
                <a:ea typeface="Calibri"/>
                <a:cs typeface="Calibri"/>
                <a:sym typeface="Calibri"/>
              </a:rPr>
              <a:t>Path length: 1</a:t>
            </a:r>
            <a:endParaRPr sz="1100">
              <a:latin typeface="Calibri"/>
              <a:ea typeface="Calibri"/>
              <a:cs typeface="Calibri"/>
              <a:sym typeface="Calibri"/>
            </a:endParaRPr>
          </a:p>
          <a:p>
            <a:pPr indent="0" lvl="0" marL="12700" marR="5080" rtl="0" algn="l">
              <a:lnSpc>
                <a:spcPct val="100000"/>
              </a:lnSpc>
              <a:spcBef>
                <a:spcPts val="0"/>
              </a:spcBef>
              <a:spcAft>
                <a:spcPts val="0"/>
              </a:spcAft>
              <a:buNone/>
            </a:pPr>
            <a:r>
              <a:rPr lang="en-US" sz="1100">
                <a:solidFill>
                  <a:srgbClr val="63738A"/>
                </a:solidFill>
                <a:latin typeface="Calibri"/>
                <a:ea typeface="Calibri"/>
                <a:cs typeface="Calibri"/>
                <a:sym typeface="Calibri"/>
              </a:rPr>
              <a:t>Direct attention to any token regardless of distance. No intermediate states required.</a:t>
            </a:r>
            <a:endParaRPr sz="1100">
              <a:latin typeface="Calibri"/>
              <a:ea typeface="Calibri"/>
              <a:cs typeface="Calibri"/>
              <a:sym typeface="Calibri"/>
            </a:endParaRPr>
          </a:p>
        </p:txBody>
      </p:sp>
      <p:grpSp>
        <p:nvGrpSpPr>
          <p:cNvPr id="858" name="Google Shape;858;p20"/>
          <p:cNvGrpSpPr/>
          <p:nvPr/>
        </p:nvGrpSpPr>
        <p:grpSpPr>
          <a:xfrm>
            <a:off x="319684" y="4754526"/>
            <a:ext cx="8503920" cy="247015"/>
            <a:chOff x="319684" y="4754526"/>
            <a:chExt cx="8503920" cy="247015"/>
          </a:xfrm>
        </p:grpSpPr>
        <p:sp>
          <p:nvSpPr>
            <p:cNvPr id="859" name="Google Shape;859;p20"/>
            <p:cNvSpPr/>
            <p:nvPr/>
          </p:nvSpPr>
          <p:spPr>
            <a:xfrm>
              <a:off x="319684" y="4754526"/>
              <a:ext cx="8503920" cy="247015"/>
            </a:xfrm>
            <a:custGeom>
              <a:rect b="b" l="l" r="r" t="t"/>
              <a:pathLst>
                <a:path extrusionOk="0" h="247014" w="8503920">
                  <a:moveTo>
                    <a:pt x="8430475" y="0"/>
                  </a:moveTo>
                  <a:lnTo>
                    <a:pt x="73075" y="0"/>
                  </a:lnTo>
                  <a:lnTo>
                    <a:pt x="63649" y="607"/>
                  </a:lnTo>
                  <a:lnTo>
                    <a:pt x="21458" y="21280"/>
                  </a:lnTo>
                  <a:lnTo>
                    <a:pt x="607" y="63442"/>
                  </a:lnTo>
                  <a:lnTo>
                    <a:pt x="0" y="73075"/>
                  </a:lnTo>
                  <a:lnTo>
                    <a:pt x="0" y="173875"/>
                  </a:lnTo>
                  <a:lnTo>
                    <a:pt x="597" y="183152"/>
                  </a:lnTo>
                  <a:lnTo>
                    <a:pt x="607" y="183302"/>
                  </a:lnTo>
                  <a:lnTo>
                    <a:pt x="21280" y="225493"/>
                  </a:lnTo>
                  <a:lnTo>
                    <a:pt x="63442" y="246344"/>
                  </a:lnTo>
                  <a:lnTo>
                    <a:pt x="73075" y="246951"/>
                  </a:lnTo>
                  <a:lnTo>
                    <a:pt x="8430831" y="246595"/>
                  </a:lnTo>
                  <a:lnTo>
                    <a:pt x="8475209" y="231549"/>
                  </a:lnTo>
                  <a:lnTo>
                    <a:pt x="8501474" y="192593"/>
                  </a:lnTo>
                  <a:lnTo>
                    <a:pt x="8503920" y="173520"/>
                  </a:lnTo>
                  <a:lnTo>
                    <a:pt x="8503551" y="73075"/>
                  </a:lnTo>
                  <a:lnTo>
                    <a:pt x="8488510" y="28698"/>
                  </a:lnTo>
                  <a:lnTo>
                    <a:pt x="8449510" y="2428"/>
                  </a:lnTo>
                  <a:lnTo>
                    <a:pt x="8440109" y="607"/>
                  </a:lnTo>
                  <a:lnTo>
                    <a:pt x="8430475" y="0"/>
                  </a:lnTo>
                  <a:close/>
                </a:path>
              </a:pathLst>
            </a:custGeom>
            <a:solidFill>
              <a:srgbClr val="FFFAE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60" name="Google Shape;860;p20"/>
            <p:cNvSpPr/>
            <p:nvPr/>
          </p:nvSpPr>
          <p:spPr>
            <a:xfrm>
              <a:off x="319684" y="4754526"/>
              <a:ext cx="8503920" cy="247015"/>
            </a:xfrm>
            <a:custGeom>
              <a:rect b="b" l="l" r="r" t="t"/>
              <a:pathLst>
                <a:path extrusionOk="0" h="247014" w="8503920">
                  <a:moveTo>
                    <a:pt x="0" y="73075"/>
                  </a:moveTo>
                  <a:lnTo>
                    <a:pt x="607" y="63442"/>
                  </a:lnTo>
                  <a:lnTo>
                    <a:pt x="2428" y="54041"/>
                  </a:lnTo>
                  <a:lnTo>
                    <a:pt x="28698" y="15041"/>
                  </a:lnTo>
                  <a:lnTo>
                    <a:pt x="73075" y="0"/>
                  </a:lnTo>
                  <a:lnTo>
                    <a:pt x="8430475" y="0"/>
                  </a:lnTo>
                  <a:lnTo>
                    <a:pt x="8475153" y="15096"/>
                  </a:lnTo>
                  <a:lnTo>
                    <a:pt x="8501122" y="54357"/>
                  </a:lnTo>
                  <a:lnTo>
                    <a:pt x="8503551" y="73075"/>
                  </a:lnTo>
                  <a:lnTo>
                    <a:pt x="8503920" y="173520"/>
                  </a:lnTo>
                  <a:lnTo>
                    <a:pt x="8503312" y="183152"/>
                  </a:lnTo>
                  <a:lnTo>
                    <a:pt x="8501489" y="192549"/>
                  </a:lnTo>
                  <a:lnTo>
                    <a:pt x="8475209" y="231549"/>
                  </a:lnTo>
                  <a:lnTo>
                    <a:pt x="8430831" y="246595"/>
                  </a:lnTo>
                  <a:lnTo>
                    <a:pt x="73075" y="246951"/>
                  </a:lnTo>
                  <a:lnTo>
                    <a:pt x="28398" y="231854"/>
                  </a:lnTo>
                  <a:lnTo>
                    <a:pt x="2428" y="192593"/>
                  </a:lnTo>
                  <a:lnTo>
                    <a:pt x="0" y="173875"/>
                  </a:lnTo>
                  <a:lnTo>
                    <a:pt x="0" y="73075"/>
                  </a:lnTo>
                  <a:close/>
                </a:path>
              </a:pathLst>
            </a:custGeom>
            <a:noFill/>
            <a:ln cap="flat" cmpd="sng" w="12575">
              <a:solidFill>
                <a:srgbClr val="D87605"/>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861" name="Google Shape;861;p20"/>
          <p:cNvSpPr txBox="1"/>
          <p:nvPr/>
        </p:nvSpPr>
        <p:spPr>
          <a:xfrm>
            <a:off x="1396339" y="4793735"/>
            <a:ext cx="6347460" cy="184150"/>
          </a:xfrm>
          <a:prstGeom prst="rect">
            <a:avLst/>
          </a:prstGeom>
          <a:noFill/>
          <a:ln>
            <a:noFill/>
          </a:ln>
        </p:spPr>
        <p:txBody>
          <a:bodyPr anchorCtr="0" anchor="t" bIns="0" lIns="0" spcFirstLastPara="1" rIns="0" wrap="square" tIns="8875">
            <a:spAutoFit/>
          </a:bodyPr>
          <a:lstStyle/>
          <a:p>
            <a:pPr indent="0" lvl="0" marL="12700" rtl="0" algn="l">
              <a:lnSpc>
                <a:spcPct val="100000"/>
              </a:lnSpc>
              <a:spcBef>
                <a:spcPts val="0"/>
              </a:spcBef>
              <a:spcAft>
                <a:spcPts val="0"/>
              </a:spcAft>
              <a:buNone/>
            </a:pPr>
            <a:r>
              <a:rPr b="1" lang="en-US" sz="1000">
                <a:solidFill>
                  <a:srgbClr val="B35208"/>
                </a:solidFill>
                <a:latin typeface="Calibri"/>
                <a:ea typeface="Calibri"/>
                <a:cs typeface="Calibri"/>
                <a:sym typeface="Calibri"/>
              </a:rPr>
              <a:t>Path length argument: </a:t>
            </a:r>
            <a:r>
              <a:rPr lang="en-US" sz="1000">
                <a:solidFill>
                  <a:srgbClr val="334054"/>
                </a:solidFill>
                <a:latin typeface="Calibri"/>
                <a:ea typeface="Calibri"/>
                <a:cs typeface="Calibri"/>
                <a:sym typeface="Calibri"/>
              </a:rPr>
              <a:t>LSTM solves gradient flow but not selective access. Transformers solve both by attending directly.</a:t>
            </a:r>
            <a:endParaRPr sz="1000">
              <a:latin typeface="Calibri"/>
              <a:ea typeface="Calibri"/>
              <a:cs typeface="Calibri"/>
              <a:sym typeface="Calibri"/>
            </a:endParaRPr>
          </a:p>
        </p:txBody>
      </p:sp>
      <p:sp>
        <p:nvSpPr>
          <p:cNvPr id="862" name="Google Shape;862;p20"/>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descr="$PPTXTitle" id="867" name="Google Shape;867;p24"/>
          <p:cNvSpPr txBox="1"/>
          <p:nvPr>
            <p:ph type="ctrTitle"/>
          </p:nvPr>
        </p:nvSpPr>
        <p:spPr>
          <a:xfrm>
            <a:off x="398424" y="1663460"/>
            <a:ext cx="367982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solidFill>
                  <a:srgbClr val="191E25"/>
                </a:solidFill>
              </a:rPr>
              <a:t>ELMo &amp; BiLSTM</a:t>
            </a:r>
            <a:endParaRPr sz="4400"/>
          </a:p>
        </p:txBody>
      </p:sp>
      <p:sp>
        <p:nvSpPr>
          <p:cNvPr id="868" name="Google Shape;868;p24"/>
          <p:cNvSpPr txBox="1"/>
          <p:nvPr/>
        </p:nvSpPr>
        <p:spPr>
          <a:xfrm>
            <a:off x="398424" y="3034692"/>
            <a:ext cx="5549265" cy="3308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000">
                <a:latin typeface="Calibri"/>
                <a:ea typeface="Calibri"/>
                <a:cs typeface="Calibri"/>
                <a:sym typeface="Calibri"/>
              </a:rPr>
              <a:t>Contextual embeddings: same word, different vectors</a:t>
            </a:r>
            <a:endParaRPr sz="2000">
              <a:latin typeface="Calibri"/>
              <a:ea typeface="Calibri"/>
              <a:cs typeface="Calibri"/>
              <a:sym typeface="Calibri"/>
            </a:endParaRPr>
          </a:p>
        </p:txBody>
      </p:sp>
      <p:grpSp>
        <p:nvGrpSpPr>
          <p:cNvPr id="869" name="Google Shape;869;p24"/>
          <p:cNvGrpSpPr/>
          <p:nvPr/>
        </p:nvGrpSpPr>
        <p:grpSpPr>
          <a:xfrm>
            <a:off x="320040" y="14"/>
            <a:ext cx="8823591" cy="4498912"/>
            <a:chOff x="320040" y="14"/>
            <a:chExt cx="8823591" cy="4498912"/>
          </a:xfrm>
        </p:grpSpPr>
        <p:pic>
          <p:nvPicPr>
            <p:cNvPr id="870" name="Google Shape;870;p24"/>
            <p:cNvPicPr preferRelativeResize="0"/>
            <p:nvPr/>
          </p:nvPicPr>
          <p:blipFill rotWithShape="1">
            <a:blip r:embed="rId3">
              <a:alphaModFix/>
            </a:blip>
            <a:srcRect b="0" l="0" r="0" t="0"/>
            <a:stretch/>
          </p:blipFill>
          <p:spPr>
            <a:xfrm>
              <a:off x="320040" y="4389122"/>
              <a:ext cx="109804" cy="109804"/>
            </a:xfrm>
            <a:prstGeom prst="rect">
              <a:avLst/>
            </a:prstGeom>
            <a:noFill/>
            <a:ln>
              <a:noFill/>
            </a:ln>
          </p:spPr>
        </p:pic>
        <p:pic>
          <p:nvPicPr>
            <p:cNvPr id="871" name="Google Shape;871;p24"/>
            <p:cNvPicPr preferRelativeResize="0"/>
            <p:nvPr/>
          </p:nvPicPr>
          <p:blipFill rotWithShape="1">
            <a:blip r:embed="rId4">
              <a:alphaModFix/>
            </a:blip>
            <a:srcRect b="0" l="0" r="0" t="0"/>
            <a:stretch/>
          </p:blipFill>
          <p:spPr>
            <a:xfrm>
              <a:off x="640080" y="4389122"/>
              <a:ext cx="109804" cy="109804"/>
            </a:xfrm>
            <a:prstGeom prst="rect">
              <a:avLst/>
            </a:prstGeom>
            <a:noFill/>
            <a:ln>
              <a:noFill/>
            </a:ln>
          </p:spPr>
        </p:pic>
        <p:pic>
          <p:nvPicPr>
            <p:cNvPr id="872" name="Google Shape;872;p24"/>
            <p:cNvPicPr preferRelativeResize="0"/>
            <p:nvPr/>
          </p:nvPicPr>
          <p:blipFill rotWithShape="1">
            <a:blip r:embed="rId5">
              <a:alphaModFix/>
            </a:blip>
            <a:srcRect b="0" l="0" r="0" t="0"/>
            <a:stretch/>
          </p:blipFill>
          <p:spPr>
            <a:xfrm>
              <a:off x="960120" y="4389122"/>
              <a:ext cx="109804" cy="109804"/>
            </a:xfrm>
            <a:prstGeom prst="rect">
              <a:avLst/>
            </a:prstGeom>
            <a:noFill/>
            <a:ln>
              <a:noFill/>
            </a:ln>
          </p:spPr>
        </p:pic>
        <p:pic>
          <p:nvPicPr>
            <p:cNvPr id="873" name="Google Shape;873;p24"/>
            <p:cNvPicPr preferRelativeResize="0"/>
            <p:nvPr/>
          </p:nvPicPr>
          <p:blipFill rotWithShape="1">
            <a:blip r:embed="rId4">
              <a:alphaModFix/>
            </a:blip>
            <a:srcRect b="0" l="0" r="0" t="0"/>
            <a:stretch/>
          </p:blipFill>
          <p:spPr>
            <a:xfrm>
              <a:off x="1280159" y="4389122"/>
              <a:ext cx="109804" cy="109804"/>
            </a:xfrm>
            <a:prstGeom prst="rect">
              <a:avLst/>
            </a:prstGeom>
            <a:noFill/>
            <a:ln>
              <a:noFill/>
            </a:ln>
          </p:spPr>
        </p:pic>
        <p:pic>
          <p:nvPicPr>
            <p:cNvPr id="874" name="Google Shape;874;p24"/>
            <p:cNvPicPr preferRelativeResize="0"/>
            <p:nvPr/>
          </p:nvPicPr>
          <p:blipFill rotWithShape="1">
            <a:blip r:embed="rId5">
              <a:alphaModFix/>
            </a:blip>
            <a:srcRect b="0" l="0" r="0" t="0"/>
            <a:stretch/>
          </p:blipFill>
          <p:spPr>
            <a:xfrm>
              <a:off x="1600200" y="4389122"/>
              <a:ext cx="109804" cy="109804"/>
            </a:xfrm>
            <a:prstGeom prst="rect">
              <a:avLst/>
            </a:prstGeom>
            <a:noFill/>
            <a:ln>
              <a:noFill/>
            </a:ln>
          </p:spPr>
        </p:pic>
        <p:pic>
          <p:nvPicPr>
            <p:cNvPr id="875" name="Google Shape;875;p24"/>
            <p:cNvPicPr preferRelativeResize="0"/>
            <p:nvPr/>
          </p:nvPicPr>
          <p:blipFill rotWithShape="1">
            <a:blip r:embed="rId6">
              <a:alphaModFix/>
            </a:blip>
            <a:srcRect b="0" l="0" r="0" t="0"/>
            <a:stretch/>
          </p:blipFill>
          <p:spPr>
            <a:xfrm>
              <a:off x="8369274" y="14"/>
              <a:ext cx="774357" cy="866508"/>
            </a:xfrm>
            <a:prstGeom prst="rect">
              <a:avLst/>
            </a:prstGeom>
            <a:noFill/>
            <a:ln>
              <a:noFill/>
            </a:ln>
          </p:spPr>
        </p:pic>
      </p:grpSp>
      <p:sp>
        <p:nvSpPr>
          <p:cNvPr id="876" name="Google Shape;876;p24"/>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25"/>
          <p:cNvSpPr txBox="1"/>
          <p:nvPr>
            <p:ph type="title"/>
          </p:nvPr>
        </p:nvSpPr>
        <p:spPr>
          <a:xfrm>
            <a:off x="152184" y="63260"/>
            <a:ext cx="8839631" cy="87947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882" name="Google Shape;882;p25"/>
          <p:cNvSpPr txBox="1"/>
          <p:nvPr>
            <p:ph idx="1" type="body"/>
          </p:nvPr>
        </p:nvSpPr>
        <p:spPr>
          <a:xfrm>
            <a:off x="210858" y="845542"/>
            <a:ext cx="6769100" cy="142049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descr="C:\Users\user\Downloads\slide25_preview.png" id="883" name="Google Shape;883;p25"/>
          <p:cNvPicPr preferRelativeResize="0"/>
          <p:nvPr/>
        </p:nvPicPr>
        <p:blipFill rotWithShape="1">
          <a:blip r:embed="rId3">
            <a:alphaModFix/>
          </a:blip>
          <a:srcRect b="0" l="0" r="0" t="0"/>
          <a:stretch/>
        </p:blipFill>
        <p:spPr>
          <a:xfrm>
            <a:off x="0" y="-1588"/>
            <a:ext cx="9145588" cy="515461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26"/>
          <p:cNvSpPr txBox="1"/>
          <p:nvPr>
            <p:ph type="ctrTitle"/>
          </p:nvPr>
        </p:nvSpPr>
        <p:spPr>
          <a:xfrm>
            <a:off x="398424" y="1663460"/>
            <a:ext cx="3679825" cy="69596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889" name="Google Shape;889;p26"/>
          <p:cNvSpPr txBox="1"/>
          <p:nvPr>
            <p:ph idx="1" type="subTitle"/>
          </p:nvPr>
        </p:nvSpPr>
        <p:spPr>
          <a:xfrm>
            <a:off x="1371600" y="2883916"/>
            <a:ext cx="6400800" cy="1287462"/>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descr="C:\Users\user\Downloads\slide26_preview.png" id="890" name="Google Shape;890;p26"/>
          <p:cNvPicPr preferRelativeResize="0"/>
          <p:nvPr/>
        </p:nvPicPr>
        <p:blipFill rotWithShape="1">
          <a:blip r:embed="rId3">
            <a:alphaModFix/>
          </a:blip>
          <a:srcRect b="0" l="0" r="0" t="0"/>
          <a:stretch/>
        </p:blipFill>
        <p:spPr>
          <a:xfrm>
            <a:off x="0" y="-1588"/>
            <a:ext cx="9145588" cy="515461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27"/>
          <p:cNvSpPr txBox="1"/>
          <p:nvPr>
            <p:ph type="title"/>
          </p:nvPr>
        </p:nvSpPr>
        <p:spPr>
          <a:xfrm>
            <a:off x="152184" y="63260"/>
            <a:ext cx="8839631" cy="87947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896" name="Google Shape;896;p27"/>
          <p:cNvSpPr txBox="1"/>
          <p:nvPr>
            <p:ph idx="1" type="body"/>
          </p:nvPr>
        </p:nvSpPr>
        <p:spPr>
          <a:xfrm>
            <a:off x="210858" y="845542"/>
            <a:ext cx="6769100" cy="142049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descr="C:\Users\user\Downloads\slide27_preview.png" id="897" name="Google Shape;897;p27"/>
          <p:cNvPicPr preferRelativeResize="0"/>
          <p:nvPr/>
        </p:nvPicPr>
        <p:blipFill rotWithShape="1">
          <a:blip r:embed="rId3">
            <a:alphaModFix/>
          </a:blip>
          <a:srcRect b="0" l="0" r="0" t="0"/>
          <a:stretch/>
        </p:blipFill>
        <p:spPr>
          <a:xfrm>
            <a:off x="0" y="-1588"/>
            <a:ext cx="9145588" cy="515461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01" name="Shape 901"/>
        <p:cNvGrpSpPr/>
        <p:nvPr/>
      </p:nvGrpSpPr>
      <p:grpSpPr>
        <a:xfrm>
          <a:off x="0" y="0"/>
          <a:ext cx="0" cy="0"/>
          <a:chOff x="0" y="0"/>
          <a:chExt cx="0" cy="0"/>
        </a:xfrm>
      </p:grpSpPr>
      <p:sp>
        <p:nvSpPr>
          <p:cNvPr descr="$PPTXTitle" id="902" name="Google Shape;902;p28"/>
          <p:cNvSpPr txBox="1"/>
          <p:nvPr>
            <p:ph type="title"/>
          </p:nvPr>
        </p:nvSpPr>
        <p:spPr>
          <a:xfrm>
            <a:off x="444144" y="134533"/>
            <a:ext cx="3967479" cy="3460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100">
                <a:solidFill>
                  <a:srgbClr val="101010"/>
                </a:solidFill>
              </a:rPr>
              <a:t>Word2Vec vs ELMo: Key Differences</a:t>
            </a:r>
            <a:endParaRPr sz="2100"/>
          </a:p>
        </p:txBody>
      </p:sp>
      <p:grpSp>
        <p:nvGrpSpPr>
          <p:cNvPr id="903" name="Google Shape;903;p28"/>
          <p:cNvGrpSpPr/>
          <p:nvPr/>
        </p:nvGrpSpPr>
        <p:grpSpPr>
          <a:xfrm>
            <a:off x="412559" y="566637"/>
            <a:ext cx="8318881" cy="3145790"/>
            <a:chOff x="412559" y="566637"/>
            <a:chExt cx="8318881" cy="3145790"/>
          </a:xfrm>
        </p:grpSpPr>
        <p:sp>
          <p:nvSpPr>
            <p:cNvPr id="904" name="Google Shape;904;p28"/>
            <p:cNvSpPr/>
            <p:nvPr/>
          </p:nvSpPr>
          <p:spPr>
            <a:xfrm>
              <a:off x="457200" y="566637"/>
              <a:ext cx="1874520" cy="3145790"/>
            </a:xfrm>
            <a:custGeom>
              <a:rect b="b" l="l" r="r" t="t"/>
              <a:pathLst>
                <a:path extrusionOk="0" h="3145790" w="1874520">
                  <a:moveTo>
                    <a:pt x="1874164" y="0"/>
                  </a:moveTo>
                  <a:lnTo>
                    <a:pt x="0" y="0"/>
                  </a:lnTo>
                  <a:lnTo>
                    <a:pt x="0" y="3145320"/>
                  </a:lnTo>
                  <a:lnTo>
                    <a:pt x="937082" y="3145320"/>
                  </a:lnTo>
                  <a:lnTo>
                    <a:pt x="1874164" y="3145320"/>
                  </a:lnTo>
                  <a:lnTo>
                    <a:pt x="1874164" y="0"/>
                  </a:lnTo>
                  <a:close/>
                </a:path>
              </a:pathLst>
            </a:custGeom>
            <a:solidFill>
              <a:srgbClr val="F1F0E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05" name="Google Shape;905;p28"/>
            <p:cNvSpPr/>
            <p:nvPr/>
          </p:nvSpPr>
          <p:spPr>
            <a:xfrm>
              <a:off x="2331720" y="566637"/>
              <a:ext cx="3177540" cy="328930"/>
            </a:xfrm>
            <a:custGeom>
              <a:rect b="b" l="l" r="r" t="t"/>
              <a:pathLst>
                <a:path extrusionOk="0" h="328930" w="3177540">
                  <a:moveTo>
                    <a:pt x="3177362" y="0"/>
                  </a:moveTo>
                  <a:lnTo>
                    <a:pt x="0" y="0"/>
                  </a:lnTo>
                  <a:lnTo>
                    <a:pt x="0" y="328688"/>
                  </a:lnTo>
                  <a:lnTo>
                    <a:pt x="1588681" y="328688"/>
                  </a:lnTo>
                  <a:lnTo>
                    <a:pt x="3177362" y="328688"/>
                  </a:lnTo>
                  <a:lnTo>
                    <a:pt x="3177362" y="0"/>
                  </a:lnTo>
                  <a:close/>
                </a:path>
              </a:pathLst>
            </a:custGeom>
            <a:solidFill>
              <a:srgbClr val="D8F4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06" name="Google Shape;906;p28"/>
            <p:cNvSpPr/>
            <p:nvPr/>
          </p:nvSpPr>
          <p:spPr>
            <a:xfrm>
              <a:off x="5509437" y="566637"/>
              <a:ext cx="3177540" cy="328930"/>
            </a:xfrm>
            <a:custGeom>
              <a:rect b="b" l="l" r="r" t="t"/>
              <a:pathLst>
                <a:path extrusionOk="0" h="328930" w="3177540">
                  <a:moveTo>
                    <a:pt x="3177362" y="0"/>
                  </a:moveTo>
                  <a:lnTo>
                    <a:pt x="0" y="0"/>
                  </a:lnTo>
                  <a:lnTo>
                    <a:pt x="0" y="328688"/>
                  </a:lnTo>
                  <a:lnTo>
                    <a:pt x="1588681" y="328688"/>
                  </a:lnTo>
                  <a:lnTo>
                    <a:pt x="3177362" y="328688"/>
                  </a:lnTo>
                  <a:lnTo>
                    <a:pt x="3177362" y="0"/>
                  </a:lnTo>
                  <a:close/>
                </a:path>
              </a:pathLst>
            </a:custGeom>
            <a:solidFill>
              <a:srgbClr val="EBE9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907" name="Google Shape;907;p28"/>
            <p:cNvPicPr preferRelativeResize="0"/>
            <p:nvPr/>
          </p:nvPicPr>
          <p:blipFill rotWithShape="1">
            <a:blip r:embed="rId3">
              <a:alphaModFix/>
            </a:blip>
            <a:srcRect b="0" l="0" r="0" t="0"/>
            <a:stretch/>
          </p:blipFill>
          <p:spPr>
            <a:xfrm>
              <a:off x="412559" y="871552"/>
              <a:ext cx="8318881" cy="88925"/>
            </a:xfrm>
            <a:prstGeom prst="rect">
              <a:avLst/>
            </a:prstGeom>
            <a:noFill/>
            <a:ln>
              <a:noFill/>
            </a:ln>
          </p:spPr>
        </p:pic>
        <p:sp>
          <p:nvSpPr>
            <p:cNvPr id="908" name="Google Shape;908;p28"/>
            <p:cNvSpPr/>
            <p:nvPr/>
          </p:nvSpPr>
          <p:spPr>
            <a:xfrm>
              <a:off x="3927233" y="934556"/>
              <a:ext cx="1445260" cy="274320"/>
            </a:xfrm>
            <a:custGeom>
              <a:rect b="b" l="l" r="r" t="t"/>
              <a:pathLst>
                <a:path extrusionOk="0" h="274319" w="1445260">
                  <a:moveTo>
                    <a:pt x="1307528" y="0"/>
                  </a:moveTo>
                  <a:lnTo>
                    <a:pt x="137160" y="0"/>
                  </a:lnTo>
                  <a:lnTo>
                    <a:pt x="119183" y="1199"/>
                  </a:lnTo>
                  <a:lnTo>
                    <a:pt x="68770" y="18364"/>
                  </a:lnTo>
                  <a:lnTo>
                    <a:pt x="28319" y="53752"/>
                  </a:lnTo>
                  <a:lnTo>
                    <a:pt x="4729" y="101612"/>
                  </a:lnTo>
                  <a:lnTo>
                    <a:pt x="0" y="137160"/>
                  </a:lnTo>
                  <a:lnTo>
                    <a:pt x="1199" y="155147"/>
                  </a:lnTo>
                  <a:lnTo>
                    <a:pt x="18364" y="205930"/>
                  </a:lnTo>
                  <a:lnTo>
                    <a:pt x="53757" y="246019"/>
                  </a:lnTo>
                  <a:lnTo>
                    <a:pt x="101612" y="269597"/>
                  </a:lnTo>
                  <a:lnTo>
                    <a:pt x="137160" y="274320"/>
                  </a:lnTo>
                  <a:lnTo>
                    <a:pt x="1307528" y="274320"/>
                  </a:lnTo>
                  <a:lnTo>
                    <a:pt x="1360126" y="263845"/>
                  </a:lnTo>
                  <a:lnTo>
                    <a:pt x="1404548" y="234183"/>
                  </a:lnTo>
                  <a:lnTo>
                    <a:pt x="1434208" y="189764"/>
                  </a:lnTo>
                  <a:lnTo>
                    <a:pt x="1444688" y="137160"/>
                  </a:lnTo>
                  <a:lnTo>
                    <a:pt x="1443490" y="119183"/>
                  </a:lnTo>
                  <a:lnTo>
                    <a:pt x="1426324" y="68770"/>
                  </a:lnTo>
                  <a:lnTo>
                    <a:pt x="1391093" y="28317"/>
                  </a:lnTo>
                  <a:lnTo>
                    <a:pt x="1343121" y="4729"/>
                  </a:lnTo>
                  <a:lnTo>
                    <a:pt x="1307528" y="0"/>
                  </a:lnTo>
                  <a:close/>
                </a:path>
              </a:pathLst>
            </a:custGeom>
            <a:solidFill>
              <a:srgbClr val="FADDE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09" name="Google Shape;909;p28"/>
            <p:cNvSpPr/>
            <p:nvPr/>
          </p:nvSpPr>
          <p:spPr>
            <a:xfrm>
              <a:off x="7296480" y="934556"/>
              <a:ext cx="1252855" cy="274320"/>
            </a:xfrm>
            <a:custGeom>
              <a:rect b="b" l="l" r="r" t="t"/>
              <a:pathLst>
                <a:path extrusionOk="0" h="274319" w="1252854">
                  <a:moveTo>
                    <a:pt x="1115644" y="0"/>
                  </a:moveTo>
                  <a:lnTo>
                    <a:pt x="137160" y="0"/>
                  </a:lnTo>
                  <a:lnTo>
                    <a:pt x="119183" y="1199"/>
                  </a:lnTo>
                  <a:lnTo>
                    <a:pt x="68757" y="18364"/>
                  </a:lnTo>
                  <a:lnTo>
                    <a:pt x="28311" y="53752"/>
                  </a:lnTo>
                  <a:lnTo>
                    <a:pt x="4724" y="101612"/>
                  </a:lnTo>
                  <a:lnTo>
                    <a:pt x="0" y="137160"/>
                  </a:lnTo>
                  <a:lnTo>
                    <a:pt x="1197" y="155147"/>
                  </a:lnTo>
                  <a:lnTo>
                    <a:pt x="18364" y="205930"/>
                  </a:lnTo>
                  <a:lnTo>
                    <a:pt x="53745" y="246019"/>
                  </a:lnTo>
                  <a:lnTo>
                    <a:pt x="101611" y="269597"/>
                  </a:lnTo>
                  <a:lnTo>
                    <a:pt x="137160" y="274320"/>
                  </a:lnTo>
                  <a:lnTo>
                    <a:pt x="1115644" y="274320"/>
                  </a:lnTo>
                  <a:lnTo>
                    <a:pt x="1168241" y="263845"/>
                  </a:lnTo>
                  <a:lnTo>
                    <a:pt x="1212664" y="234183"/>
                  </a:lnTo>
                  <a:lnTo>
                    <a:pt x="1242318" y="189764"/>
                  </a:lnTo>
                  <a:lnTo>
                    <a:pt x="1252804" y="137160"/>
                  </a:lnTo>
                  <a:lnTo>
                    <a:pt x="1251604" y="119183"/>
                  </a:lnTo>
                  <a:lnTo>
                    <a:pt x="1234440" y="68770"/>
                  </a:lnTo>
                  <a:lnTo>
                    <a:pt x="1199208" y="28317"/>
                  </a:lnTo>
                  <a:lnTo>
                    <a:pt x="1151237" y="4729"/>
                  </a:lnTo>
                  <a:lnTo>
                    <a:pt x="1115644" y="0"/>
                  </a:lnTo>
                  <a:close/>
                </a:path>
              </a:pathLst>
            </a:custGeom>
            <a:solidFill>
              <a:srgbClr val="DEF2E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910" name="Google Shape;910;p28"/>
            <p:cNvPicPr preferRelativeResize="0"/>
            <p:nvPr/>
          </p:nvPicPr>
          <p:blipFill rotWithShape="1">
            <a:blip r:embed="rId3">
              <a:alphaModFix/>
            </a:blip>
            <a:srcRect b="0" l="0" r="0" t="0"/>
            <a:stretch/>
          </p:blipFill>
          <p:spPr>
            <a:xfrm>
              <a:off x="412559" y="1223634"/>
              <a:ext cx="8318881" cy="88925"/>
            </a:xfrm>
            <a:prstGeom prst="rect">
              <a:avLst/>
            </a:prstGeom>
            <a:noFill/>
            <a:ln>
              <a:noFill/>
            </a:ln>
          </p:spPr>
        </p:pic>
        <p:pic>
          <p:nvPicPr>
            <p:cNvPr id="911" name="Google Shape;911;p28"/>
            <p:cNvPicPr preferRelativeResize="0"/>
            <p:nvPr/>
          </p:nvPicPr>
          <p:blipFill rotWithShape="1">
            <a:blip r:embed="rId3">
              <a:alphaModFix/>
            </a:blip>
            <a:srcRect b="0" l="0" r="0" t="0"/>
            <a:stretch/>
          </p:blipFill>
          <p:spPr>
            <a:xfrm>
              <a:off x="412559" y="1575716"/>
              <a:ext cx="8318881" cy="88925"/>
            </a:xfrm>
            <a:prstGeom prst="rect">
              <a:avLst/>
            </a:prstGeom>
            <a:noFill/>
            <a:ln>
              <a:noFill/>
            </a:ln>
          </p:spPr>
        </p:pic>
        <p:sp>
          <p:nvSpPr>
            <p:cNvPr id="912" name="Google Shape;912;p28"/>
            <p:cNvSpPr/>
            <p:nvPr/>
          </p:nvSpPr>
          <p:spPr>
            <a:xfrm>
              <a:off x="4886998" y="1638721"/>
              <a:ext cx="485140" cy="274320"/>
            </a:xfrm>
            <a:custGeom>
              <a:rect b="b" l="l" r="r" t="t"/>
              <a:pathLst>
                <a:path extrusionOk="0" h="274319" w="485139">
                  <a:moveTo>
                    <a:pt x="347395" y="0"/>
                  </a:moveTo>
                  <a:lnTo>
                    <a:pt x="137160" y="0"/>
                  </a:lnTo>
                  <a:lnTo>
                    <a:pt x="119183" y="1197"/>
                  </a:lnTo>
                  <a:lnTo>
                    <a:pt x="68757" y="18364"/>
                  </a:lnTo>
                  <a:lnTo>
                    <a:pt x="28311" y="53745"/>
                  </a:lnTo>
                  <a:lnTo>
                    <a:pt x="4724" y="101611"/>
                  </a:lnTo>
                  <a:lnTo>
                    <a:pt x="0" y="137160"/>
                  </a:lnTo>
                  <a:lnTo>
                    <a:pt x="1197" y="155141"/>
                  </a:lnTo>
                  <a:lnTo>
                    <a:pt x="18364" y="205917"/>
                  </a:lnTo>
                  <a:lnTo>
                    <a:pt x="53745" y="246013"/>
                  </a:lnTo>
                  <a:lnTo>
                    <a:pt x="101611" y="269595"/>
                  </a:lnTo>
                  <a:lnTo>
                    <a:pt x="137160" y="274319"/>
                  </a:lnTo>
                  <a:lnTo>
                    <a:pt x="347395" y="274319"/>
                  </a:lnTo>
                  <a:lnTo>
                    <a:pt x="400005" y="263840"/>
                  </a:lnTo>
                  <a:lnTo>
                    <a:pt x="444419" y="234180"/>
                  </a:lnTo>
                  <a:lnTo>
                    <a:pt x="474081" y="189757"/>
                  </a:lnTo>
                  <a:lnTo>
                    <a:pt x="484555" y="137160"/>
                  </a:lnTo>
                  <a:lnTo>
                    <a:pt x="483358" y="119183"/>
                  </a:lnTo>
                  <a:lnTo>
                    <a:pt x="466204" y="68757"/>
                  </a:lnTo>
                  <a:lnTo>
                    <a:pt x="430965" y="28311"/>
                  </a:lnTo>
                  <a:lnTo>
                    <a:pt x="383000" y="4724"/>
                  </a:lnTo>
                  <a:lnTo>
                    <a:pt x="347395" y="0"/>
                  </a:lnTo>
                  <a:close/>
                </a:path>
              </a:pathLst>
            </a:custGeom>
            <a:solidFill>
              <a:srgbClr val="FADDE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13" name="Google Shape;913;p28"/>
            <p:cNvSpPr/>
            <p:nvPr/>
          </p:nvSpPr>
          <p:spPr>
            <a:xfrm>
              <a:off x="7968957" y="1638721"/>
              <a:ext cx="581025" cy="274320"/>
            </a:xfrm>
            <a:custGeom>
              <a:rect b="b" l="l" r="r" t="t"/>
              <a:pathLst>
                <a:path extrusionOk="0" h="274319" w="581025">
                  <a:moveTo>
                    <a:pt x="443522" y="0"/>
                  </a:moveTo>
                  <a:lnTo>
                    <a:pt x="137160" y="0"/>
                  </a:lnTo>
                  <a:lnTo>
                    <a:pt x="119178" y="1197"/>
                  </a:lnTo>
                  <a:lnTo>
                    <a:pt x="68402" y="18364"/>
                  </a:lnTo>
                  <a:lnTo>
                    <a:pt x="28306" y="53745"/>
                  </a:lnTo>
                  <a:lnTo>
                    <a:pt x="4724" y="101611"/>
                  </a:lnTo>
                  <a:lnTo>
                    <a:pt x="0" y="137160"/>
                  </a:lnTo>
                  <a:lnTo>
                    <a:pt x="1197" y="155141"/>
                  </a:lnTo>
                  <a:lnTo>
                    <a:pt x="18364" y="205917"/>
                  </a:lnTo>
                  <a:lnTo>
                    <a:pt x="53595" y="246013"/>
                  </a:lnTo>
                  <a:lnTo>
                    <a:pt x="101566" y="269595"/>
                  </a:lnTo>
                  <a:lnTo>
                    <a:pt x="137160" y="274319"/>
                  </a:lnTo>
                  <a:lnTo>
                    <a:pt x="443522" y="274319"/>
                  </a:lnTo>
                  <a:lnTo>
                    <a:pt x="495969" y="263840"/>
                  </a:lnTo>
                  <a:lnTo>
                    <a:pt x="540497" y="234180"/>
                  </a:lnTo>
                  <a:lnTo>
                    <a:pt x="570202" y="189757"/>
                  </a:lnTo>
                  <a:lnTo>
                    <a:pt x="580682" y="137160"/>
                  </a:lnTo>
                  <a:lnTo>
                    <a:pt x="579484" y="119183"/>
                  </a:lnTo>
                  <a:lnTo>
                    <a:pt x="562317" y="68757"/>
                  </a:lnTo>
                  <a:lnTo>
                    <a:pt x="526936" y="28311"/>
                  </a:lnTo>
                  <a:lnTo>
                    <a:pt x="479070" y="4724"/>
                  </a:lnTo>
                  <a:lnTo>
                    <a:pt x="443522" y="0"/>
                  </a:lnTo>
                  <a:close/>
                </a:path>
              </a:pathLst>
            </a:custGeom>
            <a:solidFill>
              <a:srgbClr val="DEF2E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914" name="Google Shape;914;p28"/>
            <p:cNvPicPr preferRelativeResize="0"/>
            <p:nvPr/>
          </p:nvPicPr>
          <p:blipFill rotWithShape="1">
            <a:blip r:embed="rId3">
              <a:alphaModFix/>
            </a:blip>
            <a:srcRect b="0" l="0" r="0" t="0"/>
            <a:stretch/>
          </p:blipFill>
          <p:spPr>
            <a:xfrm>
              <a:off x="412559" y="1927430"/>
              <a:ext cx="8318881" cy="88938"/>
            </a:xfrm>
            <a:prstGeom prst="rect">
              <a:avLst/>
            </a:prstGeom>
            <a:noFill/>
            <a:ln>
              <a:noFill/>
            </a:ln>
          </p:spPr>
        </p:pic>
        <p:sp>
          <p:nvSpPr>
            <p:cNvPr id="915" name="Google Shape;915;p28"/>
            <p:cNvSpPr/>
            <p:nvPr/>
          </p:nvSpPr>
          <p:spPr>
            <a:xfrm>
              <a:off x="7392962" y="1990803"/>
              <a:ext cx="1156970" cy="274320"/>
            </a:xfrm>
            <a:custGeom>
              <a:rect b="b" l="l" r="r" t="t"/>
              <a:pathLst>
                <a:path extrusionOk="0" h="274319" w="1156970">
                  <a:moveTo>
                    <a:pt x="1019517" y="0"/>
                  </a:moveTo>
                  <a:lnTo>
                    <a:pt x="137159" y="0"/>
                  </a:lnTo>
                  <a:lnTo>
                    <a:pt x="119183" y="1197"/>
                  </a:lnTo>
                  <a:lnTo>
                    <a:pt x="68757" y="18364"/>
                  </a:lnTo>
                  <a:lnTo>
                    <a:pt x="28311" y="53745"/>
                  </a:lnTo>
                  <a:lnTo>
                    <a:pt x="4724" y="101611"/>
                  </a:lnTo>
                  <a:lnTo>
                    <a:pt x="0" y="137160"/>
                  </a:lnTo>
                  <a:lnTo>
                    <a:pt x="1197" y="155141"/>
                  </a:lnTo>
                  <a:lnTo>
                    <a:pt x="18364" y="205917"/>
                  </a:lnTo>
                  <a:lnTo>
                    <a:pt x="53745" y="246013"/>
                  </a:lnTo>
                  <a:lnTo>
                    <a:pt x="101611" y="269595"/>
                  </a:lnTo>
                  <a:lnTo>
                    <a:pt x="137159" y="274320"/>
                  </a:lnTo>
                  <a:lnTo>
                    <a:pt x="1019517" y="274320"/>
                  </a:lnTo>
                  <a:lnTo>
                    <a:pt x="1072115" y="263840"/>
                  </a:lnTo>
                  <a:lnTo>
                    <a:pt x="1116537" y="234180"/>
                  </a:lnTo>
                  <a:lnTo>
                    <a:pt x="1146198" y="189757"/>
                  </a:lnTo>
                  <a:lnTo>
                    <a:pt x="1156677" y="137160"/>
                  </a:lnTo>
                  <a:lnTo>
                    <a:pt x="1155480" y="119183"/>
                  </a:lnTo>
                  <a:lnTo>
                    <a:pt x="1138313" y="68757"/>
                  </a:lnTo>
                  <a:lnTo>
                    <a:pt x="1103082" y="28311"/>
                  </a:lnTo>
                  <a:lnTo>
                    <a:pt x="1055111" y="4724"/>
                  </a:lnTo>
                  <a:lnTo>
                    <a:pt x="1019517" y="0"/>
                  </a:lnTo>
                  <a:close/>
                </a:path>
              </a:pathLst>
            </a:custGeom>
            <a:solidFill>
              <a:srgbClr val="DEF2E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916" name="Google Shape;916;p28"/>
            <p:cNvPicPr preferRelativeResize="0"/>
            <p:nvPr/>
          </p:nvPicPr>
          <p:blipFill rotWithShape="1">
            <a:blip r:embed="rId3">
              <a:alphaModFix/>
            </a:blip>
            <a:srcRect b="0" l="0" r="0" t="0"/>
            <a:stretch/>
          </p:blipFill>
          <p:spPr>
            <a:xfrm>
              <a:off x="412559" y="2279512"/>
              <a:ext cx="8318881" cy="88925"/>
            </a:xfrm>
            <a:prstGeom prst="rect">
              <a:avLst/>
            </a:prstGeom>
            <a:noFill/>
            <a:ln>
              <a:noFill/>
            </a:ln>
          </p:spPr>
        </p:pic>
        <p:sp>
          <p:nvSpPr>
            <p:cNvPr id="917" name="Google Shape;917;p28"/>
            <p:cNvSpPr/>
            <p:nvPr/>
          </p:nvSpPr>
          <p:spPr>
            <a:xfrm>
              <a:off x="7680960" y="2342885"/>
              <a:ext cx="868680" cy="274320"/>
            </a:xfrm>
            <a:custGeom>
              <a:rect b="b" l="l" r="r" t="t"/>
              <a:pathLst>
                <a:path extrusionOk="0" h="274319" w="868679">
                  <a:moveTo>
                    <a:pt x="731520" y="0"/>
                  </a:moveTo>
                  <a:lnTo>
                    <a:pt x="137160" y="0"/>
                  </a:lnTo>
                  <a:lnTo>
                    <a:pt x="119183" y="1197"/>
                  </a:lnTo>
                  <a:lnTo>
                    <a:pt x="68757" y="18351"/>
                  </a:lnTo>
                  <a:lnTo>
                    <a:pt x="28311" y="53745"/>
                  </a:lnTo>
                  <a:lnTo>
                    <a:pt x="4724" y="101611"/>
                  </a:lnTo>
                  <a:lnTo>
                    <a:pt x="0" y="137159"/>
                  </a:lnTo>
                  <a:lnTo>
                    <a:pt x="1197" y="155141"/>
                  </a:lnTo>
                  <a:lnTo>
                    <a:pt x="18364" y="205917"/>
                  </a:lnTo>
                  <a:lnTo>
                    <a:pt x="53745" y="246013"/>
                  </a:lnTo>
                  <a:lnTo>
                    <a:pt x="101611" y="269595"/>
                  </a:lnTo>
                  <a:lnTo>
                    <a:pt x="137160" y="274319"/>
                  </a:lnTo>
                  <a:lnTo>
                    <a:pt x="731520" y="274319"/>
                  </a:lnTo>
                  <a:lnTo>
                    <a:pt x="784117" y="263840"/>
                  </a:lnTo>
                  <a:lnTo>
                    <a:pt x="828540" y="234180"/>
                  </a:lnTo>
                  <a:lnTo>
                    <a:pt x="858200" y="189757"/>
                  </a:lnTo>
                  <a:lnTo>
                    <a:pt x="868680" y="137159"/>
                  </a:lnTo>
                  <a:lnTo>
                    <a:pt x="867482" y="119183"/>
                  </a:lnTo>
                  <a:lnTo>
                    <a:pt x="850315" y="68757"/>
                  </a:lnTo>
                  <a:lnTo>
                    <a:pt x="815084" y="28306"/>
                  </a:lnTo>
                  <a:lnTo>
                    <a:pt x="767113" y="4722"/>
                  </a:lnTo>
                  <a:lnTo>
                    <a:pt x="731520" y="0"/>
                  </a:lnTo>
                  <a:close/>
                </a:path>
              </a:pathLst>
            </a:custGeom>
            <a:solidFill>
              <a:srgbClr val="DEF2E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918" name="Google Shape;918;p28"/>
            <p:cNvPicPr preferRelativeResize="0"/>
            <p:nvPr/>
          </p:nvPicPr>
          <p:blipFill rotWithShape="1">
            <a:blip r:embed="rId3">
              <a:alphaModFix/>
            </a:blip>
            <a:srcRect b="0" l="0" r="0" t="0"/>
            <a:stretch/>
          </p:blipFill>
          <p:spPr>
            <a:xfrm>
              <a:off x="412559" y="2631594"/>
              <a:ext cx="8318881" cy="88925"/>
            </a:xfrm>
            <a:prstGeom prst="rect">
              <a:avLst/>
            </a:prstGeom>
            <a:noFill/>
            <a:ln>
              <a:noFill/>
            </a:ln>
          </p:spPr>
        </p:pic>
        <p:sp>
          <p:nvSpPr>
            <p:cNvPr id="919" name="Google Shape;919;p28"/>
            <p:cNvSpPr/>
            <p:nvPr/>
          </p:nvSpPr>
          <p:spPr>
            <a:xfrm>
              <a:off x="4695113" y="2694967"/>
              <a:ext cx="676910" cy="274320"/>
            </a:xfrm>
            <a:custGeom>
              <a:rect b="b" l="l" r="r" t="t"/>
              <a:pathLst>
                <a:path extrusionOk="0" h="274319" w="676910">
                  <a:moveTo>
                    <a:pt x="539648" y="0"/>
                  </a:moveTo>
                  <a:lnTo>
                    <a:pt x="137160" y="0"/>
                  </a:lnTo>
                  <a:lnTo>
                    <a:pt x="119183" y="1197"/>
                  </a:lnTo>
                  <a:lnTo>
                    <a:pt x="68770" y="18351"/>
                  </a:lnTo>
                  <a:lnTo>
                    <a:pt x="28319" y="53745"/>
                  </a:lnTo>
                  <a:lnTo>
                    <a:pt x="4729" y="101601"/>
                  </a:lnTo>
                  <a:lnTo>
                    <a:pt x="0" y="137160"/>
                  </a:lnTo>
                  <a:lnTo>
                    <a:pt x="1199" y="155141"/>
                  </a:lnTo>
                  <a:lnTo>
                    <a:pt x="18364" y="205917"/>
                  </a:lnTo>
                  <a:lnTo>
                    <a:pt x="53757" y="246006"/>
                  </a:lnTo>
                  <a:lnTo>
                    <a:pt x="101612" y="269590"/>
                  </a:lnTo>
                  <a:lnTo>
                    <a:pt x="137160" y="274320"/>
                  </a:lnTo>
                  <a:lnTo>
                    <a:pt x="539648" y="274320"/>
                  </a:lnTo>
                  <a:lnTo>
                    <a:pt x="592246" y="263834"/>
                  </a:lnTo>
                  <a:lnTo>
                    <a:pt x="636668" y="234170"/>
                  </a:lnTo>
                  <a:lnTo>
                    <a:pt x="666328" y="189757"/>
                  </a:lnTo>
                  <a:lnTo>
                    <a:pt x="676808" y="137160"/>
                  </a:lnTo>
                  <a:lnTo>
                    <a:pt x="675610" y="119176"/>
                  </a:lnTo>
                  <a:lnTo>
                    <a:pt x="658444" y="68757"/>
                  </a:lnTo>
                  <a:lnTo>
                    <a:pt x="623213" y="28306"/>
                  </a:lnTo>
                  <a:lnTo>
                    <a:pt x="575241" y="4722"/>
                  </a:lnTo>
                  <a:lnTo>
                    <a:pt x="539648" y="0"/>
                  </a:lnTo>
                  <a:close/>
                </a:path>
              </a:pathLst>
            </a:custGeom>
            <a:solidFill>
              <a:srgbClr val="DEF2E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20" name="Google Shape;920;p28"/>
            <p:cNvSpPr/>
            <p:nvPr/>
          </p:nvSpPr>
          <p:spPr>
            <a:xfrm>
              <a:off x="7680960" y="2694967"/>
              <a:ext cx="868680" cy="274320"/>
            </a:xfrm>
            <a:custGeom>
              <a:rect b="b" l="l" r="r" t="t"/>
              <a:pathLst>
                <a:path extrusionOk="0" h="274319" w="868679">
                  <a:moveTo>
                    <a:pt x="731520" y="0"/>
                  </a:moveTo>
                  <a:lnTo>
                    <a:pt x="137160" y="0"/>
                  </a:lnTo>
                  <a:lnTo>
                    <a:pt x="119183" y="1197"/>
                  </a:lnTo>
                  <a:lnTo>
                    <a:pt x="68757" y="18351"/>
                  </a:lnTo>
                  <a:lnTo>
                    <a:pt x="28311" y="53745"/>
                  </a:lnTo>
                  <a:lnTo>
                    <a:pt x="4724" y="101601"/>
                  </a:lnTo>
                  <a:lnTo>
                    <a:pt x="0" y="137160"/>
                  </a:lnTo>
                  <a:lnTo>
                    <a:pt x="1197" y="155141"/>
                  </a:lnTo>
                  <a:lnTo>
                    <a:pt x="18364" y="205917"/>
                  </a:lnTo>
                  <a:lnTo>
                    <a:pt x="53745" y="246006"/>
                  </a:lnTo>
                  <a:lnTo>
                    <a:pt x="101611" y="269590"/>
                  </a:lnTo>
                  <a:lnTo>
                    <a:pt x="137160" y="274320"/>
                  </a:lnTo>
                  <a:lnTo>
                    <a:pt x="731520" y="274320"/>
                  </a:lnTo>
                  <a:lnTo>
                    <a:pt x="784117" y="263834"/>
                  </a:lnTo>
                  <a:lnTo>
                    <a:pt x="828540" y="234170"/>
                  </a:lnTo>
                  <a:lnTo>
                    <a:pt x="858200" y="189757"/>
                  </a:lnTo>
                  <a:lnTo>
                    <a:pt x="868680" y="137160"/>
                  </a:lnTo>
                  <a:lnTo>
                    <a:pt x="867482" y="119176"/>
                  </a:lnTo>
                  <a:lnTo>
                    <a:pt x="850315" y="68757"/>
                  </a:lnTo>
                  <a:lnTo>
                    <a:pt x="815084" y="28306"/>
                  </a:lnTo>
                  <a:lnTo>
                    <a:pt x="767113" y="4722"/>
                  </a:lnTo>
                  <a:lnTo>
                    <a:pt x="731520" y="0"/>
                  </a:lnTo>
                  <a:close/>
                </a:path>
              </a:pathLst>
            </a:custGeom>
            <a:solidFill>
              <a:srgbClr val="FADDE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921" name="Google Shape;921;p28"/>
            <p:cNvPicPr preferRelativeResize="0"/>
            <p:nvPr/>
          </p:nvPicPr>
          <p:blipFill rotWithShape="1">
            <a:blip r:embed="rId3">
              <a:alphaModFix/>
            </a:blip>
            <a:srcRect b="0" l="0" r="0" t="0"/>
            <a:stretch/>
          </p:blipFill>
          <p:spPr>
            <a:xfrm>
              <a:off x="412559" y="2983676"/>
              <a:ext cx="8318881" cy="88925"/>
            </a:xfrm>
            <a:prstGeom prst="rect">
              <a:avLst/>
            </a:prstGeom>
            <a:noFill/>
            <a:ln>
              <a:noFill/>
            </a:ln>
          </p:spPr>
        </p:pic>
        <p:sp>
          <p:nvSpPr>
            <p:cNvPr id="922" name="Google Shape;922;p28"/>
            <p:cNvSpPr/>
            <p:nvPr/>
          </p:nvSpPr>
          <p:spPr>
            <a:xfrm>
              <a:off x="4791595" y="3047036"/>
              <a:ext cx="581025" cy="274320"/>
            </a:xfrm>
            <a:custGeom>
              <a:rect b="b" l="l" r="r" t="t"/>
              <a:pathLst>
                <a:path extrusionOk="0" h="274320" w="581025">
                  <a:moveTo>
                    <a:pt x="443522" y="0"/>
                  </a:moveTo>
                  <a:lnTo>
                    <a:pt x="137160" y="0"/>
                  </a:lnTo>
                  <a:lnTo>
                    <a:pt x="119183" y="1199"/>
                  </a:lnTo>
                  <a:lnTo>
                    <a:pt x="68770" y="18364"/>
                  </a:lnTo>
                  <a:lnTo>
                    <a:pt x="28311" y="53752"/>
                  </a:lnTo>
                  <a:lnTo>
                    <a:pt x="4729" y="101612"/>
                  </a:lnTo>
                  <a:lnTo>
                    <a:pt x="0" y="137160"/>
                  </a:lnTo>
                  <a:lnTo>
                    <a:pt x="1199" y="155147"/>
                  </a:lnTo>
                  <a:lnTo>
                    <a:pt x="18364" y="205930"/>
                  </a:lnTo>
                  <a:lnTo>
                    <a:pt x="53750" y="246019"/>
                  </a:lnTo>
                  <a:lnTo>
                    <a:pt x="101612" y="269597"/>
                  </a:lnTo>
                  <a:lnTo>
                    <a:pt x="137160" y="274319"/>
                  </a:lnTo>
                  <a:lnTo>
                    <a:pt x="443522" y="274319"/>
                  </a:lnTo>
                  <a:lnTo>
                    <a:pt x="496119" y="263845"/>
                  </a:lnTo>
                  <a:lnTo>
                    <a:pt x="540543" y="234183"/>
                  </a:lnTo>
                  <a:lnTo>
                    <a:pt x="570207" y="189764"/>
                  </a:lnTo>
                  <a:lnTo>
                    <a:pt x="580682" y="137160"/>
                  </a:lnTo>
                  <a:lnTo>
                    <a:pt x="579484" y="119183"/>
                  </a:lnTo>
                  <a:lnTo>
                    <a:pt x="562330" y="68770"/>
                  </a:lnTo>
                  <a:lnTo>
                    <a:pt x="527086" y="28317"/>
                  </a:lnTo>
                  <a:lnTo>
                    <a:pt x="479115" y="4729"/>
                  </a:lnTo>
                  <a:lnTo>
                    <a:pt x="443522" y="0"/>
                  </a:lnTo>
                  <a:close/>
                </a:path>
              </a:pathLst>
            </a:custGeom>
            <a:solidFill>
              <a:srgbClr val="DEF2E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23" name="Google Shape;923;p28"/>
            <p:cNvSpPr/>
            <p:nvPr/>
          </p:nvSpPr>
          <p:spPr>
            <a:xfrm>
              <a:off x="6336715" y="3047036"/>
              <a:ext cx="2212975" cy="274320"/>
            </a:xfrm>
            <a:custGeom>
              <a:rect b="b" l="l" r="r" t="t"/>
              <a:pathLst>
                <a:path extrusionOk="0" h="274320" w="2212975">
                  <a:moveTo>
                    <a:pt x="2075764" y="0"/>
                  </a:moveTo>
                  <a:lnTo>
                    <a:pt x="137160" y="0"/>
                  </a:lnTo>
                  <a:lnTo>
                    <a:pt x="119178" y="1199"/>
                  </a:lnTo>
                  <a:lnTo>
                    <a:pt x="68402" y="18364"/>
                  </a:lnTo>
                  <a:lnTo>
                    <a:pt x="28306" y="53752"/>
                  </a:lnTo>
                  <a:lnTo>
                    <a:pt x="4729" y="101612"/>
                  </a:lnTo>
                  <a:lnTo>
                    <a:pt x="0" y="137160"/>
                  </a:lnTo>
                  <a:lnTo>
                    <a:pt x="1199" y="155147"/>
                  </a:lnTo>
                  <a:lnTo>
                    <a:pt x="18364" y="205930"/>
                  </a:lnTo>
                  <a:lnTo>
                    <a:pt x="53595" y="246019"/>
                  </a:lnTo>
                  <a:lnTo>
                    <a:pt x="101566" y="269597"/>
                  </a:lnTo>
                  <a:lnTo>
                    <a:pt x="137160" y="274319"/>
                  </a:lnTo>
                  <a:lnTo>
                    <a:pt x="2075764" y="274319"/>
                  </a:lnTo>
                  <a:lnTo>
                    <a:pt x="2128211" y="263845"/>
                  </a:lnTo>
                  <a:lnTo>
                    <a:pt x="2172739" y="234183"/>
                  </a:lnTo>
                  <a:lnTo>
                    <a:pt x="2202444" y="189764"/>
                  </a:lnTo>
                  <a:lnTo>
                    <a:pt x="2212924" y="137160"/>
                  </a:lnTo>
                  <a:lnTo>
                    <a:pt x="2211726" y="119183"/>
                  </a:lnTo>
                  <a:lnTo>
                    <a:pt x="2194560" y="68770"/>
                  </a:lnTo>
                  <a:lnTo>
                    <a:pt x="2159178" y="28317"/>
                  </a:lnTo>
                  <a:lnTo>
                    <a:pt x="2111313" y="4729"/>
                  </a:lnTo>
                  <a:lnTo>
                    <a:pt x="2075764" y="0"/>
                  </a:lnTo>
                  <a:close/>
                </a:path>
              </a:pathLst>
            </a:custGeom>
            <a:solidFill>
              <a:srgbClr val="FADDE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924" name="Google Shape;924;p28"/>
            <p:cNvPicPr preferRelativeResize="0"/>
            <p:nvPr/>
          </p:nvPicPr>
          <p:blipFill rotWithShape="1">
            <a:blip r:embed="rId3">
              <a:alphaModFix/>
            </a:blip>
            <a:srcRect b="0" l="0" r="0" t="0"/>
            <a:stretch/>
          </p:blipFill>
          <p:spPr>
            <a:xfrm>
              <a:off x="412559" y="3335758"/>
              <a:ext cx="8318881" cy="88925"/>
            </a:xfrm>
            <a:prstGeom prst="rect">
              <a:avLst/>
            </a:prstGeom>
            <a:noFill/>
            <a:ln>
              <a:noFill/>
            </a:ln>
          </p:spPr>
        </p:pic>
      </p:grpSp>
      <p:grpSp>
        <p:nvGrpSpPr>
          <p:cNvPr id="925" name="Google Shape;925;p28"/>
          <p:cNvGrpSpPr/>
          <p:nvPr/>
        </p:nvGrpSpPr>
        <p:grpSpPr>
          <a:xfrm>
            <a:off x="412559" y="3687827"/>
            <a:ext cx="8318881" cy="975665"/>
            <a:chOff x="412559" y="3687827"/>
            <a:chExt cx="8318881" cy="975665"/>
          </a:xfrm>
        </p:grpSpPr>
        <p:pic>
          <p:nvPicPr>
            <p:cNvPr id="926" name="Google Shape;926;p28"/>
            <p:cNvPicPr preferRelativeResize="0"/>
            <p:nvPr/>
          </p:nvPicPr>
          <p:blipFill rotWithShape="1">
            <a:blip r:embed="rId3">
              <a:alphaModFix/>
            </a:blip>
            <a:srcRect b="0" l="0" r="0" t="0"/>
            <a:stretch/>
          </p:blipFill>
          <p:spPr>
            <a:xfrm>
              <a:off x="412559" y="3687827"/>
              <a:ext cx="8318881" cy="88938"/>
            </a:xfrm>
            <a:prstGeom prst="rect">
              <a:avLst/>
            </a:prstGeom>
            <a:noFill/>
            <a:ln>
              <a:noFill/>
            </a:ln>
          </p:spPr>
        </p:pic>
        <p:sp>
          <p:nvSpPr>
            <p:cNvPr id="927" name="Google Shape;927;p28"/>
            <p:cNvSpPr/>
            <p:nvPr/>
          </p:nvSpPr>
          <p:spPr>
            <a:xfrm>
              <a:off x="456844" y="3822117"/>
              <a:ext cx="4023360" cy="841375"/>
            </a:xfrm>
            <a:custGeom>
              <a:rect b="b" l="l" r="r" t="t"/>
              <a:pathLst>
                <a:path extrusionOk="0" h="841375" w="4023360">
                  <a:moveTo>
                    <a:pt x="3972598" y="0"/>
                  </a:moveTo>
                  <a:lnTo>
                    <a:pt x="50393" y="0"/>
                  </a:lnTo>
                  <a:lnTo>
                    <a:pt x="43875" y="410"/>
                  </a:lnTo>
                  <a:lnTo>
                    <a:pt x="10461" y="19754"/>
                  </a:lnTo>
                  <a:lnTo>
                    <a:pt x="0" y="50406"/>
                  </a:lnTo>
                  <a:lnTo>
                    <a:pt x="0" y="790917"/>
                  </a:lnTo>
                  <a:lnTo>
                    <a:pt x="397" y="797235"/>
                  </a:lnTo>
                  <a:lnTo>
                    <a:pt x="410" y="797441"/>
                  </a:lnTo>
                  <a:lnTo>
                    <a:pt x="1620" y="803703"/>
                  </a:lnTo>
                  <a:lnTo>
                    <a:pt x="1663" y="803927"/>
                  </a:lnTo>
                  <a:lnTo>
                    <a:pt x="3687" y="809900"/>
                  </a:lnTo>
                  <a:lnTo>
                    <a:pt x="3793" y="810211"/>
                  </a:lnTo>
                  <a:lnTo>
                    <a:pt x="6832" y="816127"/>
                  </a:lnTo>
                  <a:lnTo>
                    <a:pt x="37252" y="839658"/>
                  </a:lnTo>
                  <a:lnTo>
                    <a:pt x="44003" y="840968"/>
                  </a:lnTo>
                  <a:lnTo>
                    <a:pt x="44613" y="840968"/>
                  </a:lnTo>
                  <a:lnTo>
                    <a:pt x="50393" y="841324"/>
                  </a:lnTo>
                  <a:lnTo>
                    <a:pt x="3972953" y="840968"/>
                  </a:lnTo>
                  <a:lnTo>
                    <a:pt x="4008551" y="826160"/>
                  </a:lnTo>
                  <a:lnTo>
                    <a:pt x="4022909" y="797441"/>
                  </a:lnTo>
                  <a:lnTo>
                    <a:pt x="4022949" y="797235"/>
                  </a:lnTo>
                  <a:lnTo>
                    <a:pt x="4023338" y="790917"/>
                  </a:lnTo>
                  <a:lnTo>
                    <a:pt x="4023360" y="790562"/>
                  </a:lnTo>
                  <a:lnTo>
                    <a:pt x="4022991" y="50406"/>
                  </a:lnTo>
                  <a:lnTo>
                    <a:pt x="4008191" y="14808"/>
                  </a:lnTo>
                  <a:lnTo>
                    <a:pt x="3979265" y="410"/>
                  </a:lnTo>
                  <a:lnTo>
                    <a:pt x="3972598" y="0"/>
                  </a:lnTo>
                  <a:close/>
                </a:path>
              </a:pathLst>
            </a:custGeom>
            <a:solidFill>
              <a:srgbClr val="EEED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28" name="Google Shape;928;p28"/>
            <p:cNvSpPr/>
            <p:nvPr/>
          </p:nvSpPr>
          <p:spPr>
            <a:xfrm>
              <a:off x="456844" y="3822117"/>
              <a:ext cx="4023360" cy="841375"/>
            </a:xfrm>
            <a:custGeom>
              <a:rect b="b" l="l" r="r" t="t"/>
              <a:pathLst>
                <a:path extrusionOk="0" h="841375" w="4023360">
                  <a:moveTo>
                    <a:pt x="0" y="50406"/>
                  </a:moveTo>
                  <a:lnTo>
                    <a:pt x="410" y="43733"/>
                  </a:lnTo>
                  <a:lnTo>
                    <a:pt x="1663" y="37264"/>
                  </a:lnTo>
                  <a:lnTo>
                    <a:pt x="25196" y="6845"/>
                  </a:lnTo>
                  <a:lnTo>
                    <a:pt x="50393" y="0"/>
                  </a:lnTo>
                  <a:lnTo>
                    <a:pt x="3972598" y="0"/>
                  </a:lnTo>
                  <a:lnTo>
                    <a:pt x="4008191" y="14808"/>
                  </a:lnTo>
                  <a:lnTo>
                    <a:pt x="4022991" y="50406"/>
                  </a:lnTo>
                  <a:lnTo>
                    <a:pt x="4023360" y="790562"/>
                  </a:lnTo>
                  <a:lnTo>
                    <a:pt x="4022949" y="797235"/>
                  </a:lnTo>
                  <a:lnTo>
                    <a:pt x="4021694" y="803703"/>
                  </a:lnTo>
                  <a:lnTo>
                    <a:pt x="3998150" y="834123"/>
                  </a:lnTo>
                  <a:lnTo>
                    <a:pt x="50393" y="841324"/>
                  </a:lnTo>
                  <a:lnTo>
                    <a:pt x="14800" y="826517"/>
                  </a:lnTo>
                  <a:lnTo>
                    <a:pt x="0" y="790917"/>
                  </a:lnTo>
                  <a:lnTo>
                    <a:pt x="0" y="50406"/>
                  </a:lnTo>
                  <a:close/>
                </a:path>
              </a:pathLst>
            </a:custGeom>
            <a:noFill/>
            <a:ln cap="flat" cmpd="sng" w="9525">
              <a:solidFill>
                <a:srgbClr val="DCDBD4"/>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29" name="Google Shape;929;p28"/>
            <p:cNvSpPr/>
            <p:nvPr/>
          </p:nvSpPr>
          <p:spPr>
            <a:xfrm>
              <a:off x="4663084" y="3822117"/>
              <a:ext cx="4023360" cy="841375"/>
            </a:xfrm>
            <a:custGeom>
              <a:rect b="b" l="l" r="r" t="t"/>
              <a:pathLst>
                <a:path extrusionOk="0" h="841375" w="4023359">
                  <a:moveTo>
                    <a:pt x="3972598" y="0"/>
                  </a:moveTo>
                  <a:lnTo>
                    <a:pt x="50393" y="0"/>
                  </a:lnTo>
                  <a:lnTo>
                    <a:pt x="43875" y="410"/>
                  </a:lnTo>
                  <a:lnTo>
                    <a:pt x="10461" y="19754"/>
                  </a:lnTo>
                  <a:lnTo>
                    <a:pt x="0" y="50406"/>
                  </a:lnTo>
                  <a:lnTo>
                    <a:pt x="0" y="790917"/>
                  </a:lnTo>
                  <a:lnTo>
                    <a:pt x="3687" y="809900"/>
                  </a:lnTo>
                  <a:lnTo>
                    <a:pt x="3793" y="810211"/>
                  </a:lnTo>
                  <a:lnTo>
                    <a:pt x="31055" y="837525"/>
                  </a:lnTo>
                  <a:lnTo>
                    <a:pt x="44003" y="840968"/>
                  </a:lnTo>
                  <a:lnTo>
                    <a:pt x="44613" y="840968"/>
                  </a:lnTo>
                  <a:lnTo>
                    <a:pt x="50393" y="841324"/>
                  </a:lnTo>
                  <a:lnTo>
                    <a:pt x="3972953" y="840968"/>
                  </a:lnTo>
                  <a:lnTo>
                    <a:pt x="4008551" y="826160"/>
                  </a:lnTo>
                  <a:lnTo>
                    <a:pt x="4021617" y="803927"/>
                  </a:lnTo>
                  <a:lnTo>
                    <a:pt x="4021694" y="803703"/>
                  </a:lnTo>
                  <a:lnTo>
                    <a:pt x="4022909" y="797441"/>
                  </a:lnTo>
                  <a:lnTo>
                    <a:pt x="4022949" y="797235"/>
                  </a:lnTo>
                  <a:lnTo>
                    <a:pt x="4023338" y="790917"/>
                  </a:lnTo>
                  <a:lnTo>
                    <a:pt x="4023359" y="790562"/>
                  </a:lnTo>
                  <a:lnTo>
                    <a:pt x="4022991" y="50406"/>
                  </a:lnTo>
                  <a:lnTo>
                    <a:pt x="4008191" y="14808"/>
                  </a:lnTo>
                  <a:lnTo>
                    <a:pt x="3979265" y="410"/>
                  </a:lnTo>
                  <a:lnTo>
                    <a:pt x="3972598" y="0"/>
                  </a:lnTo>
                  <a:close/>
                </a:path>
              </a:pathLst>
            </a:custGeom>
            <a:solidFill>
              <a:srgbClr val="EEED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30" name="Google Shape;930;p28"/>
            <p:cNvSpPr/>
            <p:nvPr/>
          </p:nvSpPr>
          <p:spPr>
            <a:xfrm>
              <a:off x="4663084" y="3822117"/>
              <a:ext cx="4023360" cy="841375"/>
            </a:xfrm>
            <a:custGeom>
              <a:rect b="b" l="l" r="r" t="t"/>
              <a:pathLst>
                <a:path extrusionOk="0" h="841375" w="4023359">
                  <a:moveTo>
                    <a:pt x="0" y="50406"/>
                  </a:moveTo>
                  <a:lnTo>
                    <a:pt x="410" y="43733"/>
                  </a:lnTo>
                  <a:lnTo>
                    <a:pt x="1663" y="37264"/>
                  </a:lnTo>
                  <a:lnTo>
                    <a:pt x="25196" y="6845"/>
                  </a:lnTo>
                  <a:lnTo>
                    <a:pt x="50393" y="0"/>
                  </a:lnTo>
                  <a:lnTo>
                    <a:pt x="3972598" y="0"/>
                  </a:lnTo>
                  <a:lnTo>
                    <a:pt x="4008191" y="14808"/>
                  </a:lnTo>
                  <a:lnTo>
                    <a:pt x="4022991" y="50406"/>
                  </a:lnTo>
                  <a:lnTo>
                    <a:pt x="4023359" y="790562"/>
                  </a:lnTo>
                  <a:lnTo>
                    <a:pt x="4022949" y="797235"/>
                  </a:lnTo>
                  <a:lnTo>
                    <a:pt x="4021694" y="803703"/>
                  </a:lnTo>
                  <a:lnTo>
                    <a:pt x="3998150" y="834123"/>
                  </a:lnTo>
                  <a:lnTo>
                    <a:pt x="50393" y="841324"/>
                  </a:lnTo>
                  <a:lnTo>
                    <a:pt x="14800" y="826517"/>
                  </a:lnTo>
                  <a:lnTo>
                    <a:pt x="0" y="790917"/>
                  </a:lnTo>
                  <a:lnTo>
                    <a:pt x="0" y="50406"/>
                  </a:lnTo>
                  <a:close/>
                </a:path>
              </a:pathLst>
            </a:custGeom>
            <a:noFill/>
            <a:ln cap="flat" cmpd="sng" w="9525">
              <a:solidFill>
                <a:srgbClr val="DCDBD4"/>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graphicFrame>
        <p:nvGraphicFramePr>
          <p:cNvPr id="931" name="Google Shape;931;p28"/>
          <p:cNvGraphicFramePr/>
          <p:nvPr/>
        </p:nvGraphicFramePr>
        <p:xfrm>
          <a:off x="452164" y="561773"/>
          <a:ext cx="3000000" cy="3000000"/>
        </p:xfrm>
        <a:graphic>
          <a:graphicData uri="http://schemas.openxmlformats.org/drawingml/2006/table">
            <a:tbl>
              <a:tblPr bandRow="1" firstRow="1">
                <a:noFill/>
                <a:tableStyleId>{17F75444-8990-4049-B4A0-D4880F097619}</a:tableStyleId>
              </a:tblPr>
              <a:tblGrid>
                <a:gridCol w="1890400"/>
                <a:gridCol w="1866900"/>
                <a:gridCol w="1310000"/>
                <a:gridCol w="2040900"/>
                <a:gridCol w="1118875"/>
              </a:tblGrid>
              <a:tr h="328925">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txBody>
                  <a:tcPr marT="0" marB="0" marR="0" marL="0">
                    <a:lnL cap="flat" cmpd="sng" w="9525">
                      <a:solidFill>
                        <a:srgbClr val="DCDBD4"/>
                      </a:solidFill>
                      <a:prstDash val="solid"/>
                      <a:round/>
                      <a:headEnd len="sm" w="sm" type="none"/>
                      <a:tailEnd len="sm" w="sm" type="none"/>
                    </a:lnL>
                    <a:lnR cap="flat" cmpd="sng" w="38100">
                      <a:solidFill>
                        <a:srgbClr val="3EBE94"/>
                      </a:solidFill>
                      <a:prstDash val="solid"/>
                      <a:round/>
                      <a:headEnd len="sm" w="sm" type="none"/>
                      <a:tailEnd len="sm" w="sm" type="none"/>
                    </a:lnR>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gridSpan="2">
                  <a:txBody>
                    <a:bodyPr/>
                    <a:lstStyle/>
                    <a:p>
                      <a:pPr indent="0" lvl="0" marL="147955" marR="0" rtl="0" algn="l">
                        <a:lnSpc>
                          <a:spcPct val="100000"/>
                        </a:lnSpc>
                        <a:spcBef>
                          <a:spcPts val="0"/>
                        </a:spcBef>
                        <a:spcAft>
                          <a:spcPts val="0"/>
                        </a:spcAft>
                        <a:buNone/>
                      </a:pPr>
                      <a:r>
                        <a:rPr b="1" lang="en-US" sz="1350" u="none" cap="none" strike="noStrike">
                          <a:solidFill>
                            <a:srgbClr val="0E795B"/>
                          </a:solidFill>
                          <a:latin typeface="Calibri"/>
                          <a:ea typeface="Calibri"/>
                          <a:cs typeface="Calibri"/>
                          <a:sym typeface="Calibri"/>
                        </a:rPr>
                        <a:t>Word2Vec</a:t>
                      </a:r>
                      <a:endParaRPr sz="1350" u="none" cap="none" strike="noStrike">
                        <a:latin typeface="Calibri"/>
                        <a:ea typeface="Calibri"/>
                        <a:cs typeface="Calibri"/>
                        <a:sym typeface="Calibri"/>
                      </a:endParaRPr>
                    </a:p>
                  </a:txBody>
                  <a:tcPr marT="625" marB="0" marR="0" marL="0">
                    <a:lnL cap="flat" cmpd="sng" w="38100">
                      <a:solidFill>
                        <a:srgbClr val="3EBE94"/>
                      </a:solidFill>
                      <a:prstDash val="solid"/>
                      <a:round/>
                      <a:headEnd len="sm" w="sm" type="none"/>
                      <a:tailEnd len="sm" w="sm" type="none"/>
                    </a:lnL>
                    <a:lnR cap="flat" cmpd="sng" w="38100">
                      <a:solidFill>
                        <a:srgbClr val="8B79E5"/>
                      </a:solidFill>
                      <a:prstDash val="solid"/>
                      <a:round/>
                      <a:headEnd len="sm" w="sm" type="none"/>
                      <a:tailEnd len="sm" w="sm" type="none"/>
                    </a:lnR>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hMerge="1"/>
                <a:tc gridSpan="2">
                  <a:txBody>
                    <a:bodyPr/>
                    <a:lstStyle/>
                    <a:p>
                      <a:pPr indent="0" lvl="0" marL="147955" marR="0" rtl="0" algn="l">
                        <a:lnSpc>
                          <a:spcPct val="100000"/>
                        </a:lnSpc>
                        <a:spcBef>
                          <a:spcPts val="0"/>
                        </a:spcBef>
                        <a:spcAft>
                          <a:spcPts val="0"/>
                        </a:spcAft>
                        <a:buNone/>
                      </a:pPr>
                      <a:r>
                        <a:rPr b="1" lang="en-US" sz="1350" u="none" cap="none" strike="noStrike">
                          <a:solidFill>
                            <a:srgbClr val="4A3E90"/>
                          </a:solidFill>
                          <a:latin typeface="Calibri"/>
                          <a:ea typeface="Calibri"/>
                          <a:cs typeface="Calibri"/>
                          <a:sym typeface="Calibri"/>
                        </a:rPr>
                        <a:t>ELMo</a:t>
                      </a:r>
                      <a:endParaRPr sz="1350" u="none" cap="none" strike="noStrike">
                        <a:latin typeface="Calibri"/>
                        <a:ea typeface="Calibri"/>
                        <a:cs typeface="Calibri"/>
                        <a:sym typeface="Calibri"/>
                      </a:endParaRPr>
                    </a:p>
                  </a:txBody>
                  <a:tcPr marT="625" marB="0" marR="0" marL="0">
                    <a:lnL cap="flat" cmpd="sng" w="38100">
                      <a:solidFill>
                        <a:srgbClr val="8B79E5"/>
                      </a:solidFill>
                      <a:prstDash val="solid"/>
                      <a:round/>
                      <a:headEnd len="sm" w="sm" type="none"/>
                      <a:tailEnd len="sm" w="sm" type="none"/>
                    </a:lnL>
                    <a:lnR cap="flat" cmpd="sng" w="9525">
                      <a:solidFill>
                        <a:srgbClr val="DCDBD4"/>
                      </a:solidFill>
                      <a:prstDash val="solid"/>
                      <a:round/>
                      <a:headEnd len="sm" w="sm" type="none"/>
                      <a:tailEnd len="sm" w="sm" type="none"/>
                    </a:lnR>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hMerge="1"/>
              </a:tr>
              <a:tr h="351800">
                <a:tc>
                  <a:txBody>
                    <a:bodyPr/>
                    <a:lstStyle/>
                    <a:p>
                      <a:pPr indent="0" lvl="0" marL="164465" marR="0" rtl="0" algn="l">
                        <a:lnSpc>
                          <a:spcPct val="111304"/>
                        </a:lnSpc>
                        <a:spcBef>
                          <a:spcPts val="0"/>
                        </a:spcBef>
                        <a:spcAft>
                          <a:spcPts val="0"/>
                        </a:spcAft>
                        <a:buNone/>
                      </a:pPr>
                      <a:r>
                        <a:rPr b="1" lang="en-US" sz="1150" u="none" cap="none" strike="noStrike">
                          <a:solidFill>
                            <a:srgbClr val="101010"/>
                          </a:solidFill>
                          <a:latin typeface="Calibri"/>
                          <a:ea typeface="Calibri"/>
                          <a:cs typeface="Calibri"/>
                          <a:sym typeface="Calibri"/>
                        </a:rPr>
                        <a:t>Embedding type</a:t>
                      </a:r>
                      <a:endParaRPr sz="1150" u="none" cap="none" strike="noStrike">
                        <a:latin typeface="Calibri"/>
                        <a:ea typeface="Calibri"/>
                        <a:cs typeface="Calibri"/>
                        <a:sym typeface="Calibri"/>
                      </a:endParaRPr>
                    </a:p>
                  </a:txBody>
                  <a:tcPr marT="0" marB="0" marR="0" marL="0">
                    <a:lnL cap="flat" cmpd="sng" w="9525">
                      <a:solidFill>
                        <a:srgbClr val="DCDBD4"/>
                      </a:solidFill>
                      <a:prstDash val="solid"/>
                      <a:round/>
                      <a:headEnd len="sm" w="sm" type="none"/>
                      <a:tailEnd len="sm" w="sm" type="none"/>
                    </a:lnL>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148590" marR="804545" rtl="0" algn="l">
                        <a:lnSpc>
                          <a:spcPct val="110909"/>
                        </a:lnSpc>
                        <a:spcBef>
                          <a:spcPts val="0"/>
                        </a:spcBef>
                        <a:spcAft>
                          <a:spcPts val="0"/>
                        </a:spcAft>
                        <a:buNone/>
                      </a:pPr>
                      <a:r>
                        <a:rPr lang="en-US" sz="1100" u="none" cap="none" strike="noStrike">
                          <a:solidFill>
                            <a:srgbClr val="101010"/>
                          </a:solidFill>
                          <a:latin typeface="Calibri"/>
                          <a:ea typeface="Calibri"/>
                          <a:cs typeface="Calibri"/>
                          <a:sym typeface="Calibri"/>
                        </a:rPr>
                        <a:t>Static: one fixed vector per word</a:t>
                      </a:r>
                      <a:endParaRPr sz="1100" u="none" cap="none" strike="noStrike">
                        <a:latin typeface="Calibri"/>
                        <a:ea typeface="Calibri"/>
                        <a:cs typeface="Calibri"/>
                        <a:sym typeface="Calibri"/>
                      </a:endParaRPr>
                    </a:p>
                  </a:txBody>
                  <a:tcPr marT="625" marB="0" marR="0" marL="0">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115570" marR="0" rtl="0" algn="l">
                        <a:lnSpc>
                          <a:spcPct val="100000"/>
                        </a:lnSpc>
                        <a:spcBef>
                          <a:spcPts val="0"/>
                        </a:spcBef>
                        <a:spcAft>
                          <a:spcPts val="0"/>
                        </a:spcAft>
                        <a:buNone/>
                      </a:pPr>
                      <a:r>
                        <a:rPr b="1" lang="en-US" sz="1000" u="none" cap="none" strike="noStrike">
                          <a:solidFill>
                            <a:srgbClr val="8B2E34"/>
                          </a:solidFill>
                          <a:latin typeface="Calibri"/>
                          <a:ea typeface="Calibri"/>
                          <a:cs typeface="Calibri"/>
                          <a:sym typeface="Calibri"/>
                        </a:rPr>
                        <a:t>context-free</a:t>
                      </a:r>
                      <a:endParaRPr sz="1000" u="none" cap="none" strike="noStrike">
                        <a:latin typeface="Calibri"/>
                        <a:ea typeface="Calibri"/>
                        <a:cs typeface="Calibri"/>
                        <a:sym typeface="Calibri"/>
                      </a:endParaRPr>
                    </a:p>
                  </a:txBody>
                  <a:tcPr marT="39375" marB="0" marR="0" marL="0">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148590" marR="466725" rtl="0" algn="l">
                        <a:lnSpc>
                          <a:spcPct val="110909"/>
                        </a:lnSpc>
                        <a:spcBef>
                          <a:spcPts val="0"/>
                        </a:spcBef>
                        <a:spcAft>
                          <a:spcPts val="0"/>
                        </a:spcAft>
                        <a:buNone/>
                      </a:pPr>
                      <a:r>
                        <a:rPr lang="en-US" sz="1100" u="none" cap="none" strike="noStrike">
                          <a:solidFill>
                            <a:srgbClr val="101010"/>
                          </a:solidFill>
                          <a:latin typeface="Calibri"/>
                          <a:ea typeface="Calibri"/>
                          <a:cs typeface="Calibri"/>
                          <a:sym typeface="Calibri"/>
                        </a:rPr>
                        <a:t>Dynamic: new vector per sentence</a:t>
                      </a:r>
                      <a:endParaRPr sz="1100" u="none" cap="none" strike="noStrike">
                        <a:latin typeface="Calibri"/>
                        <a:ea typeface="Calibri"/>
                        <a:cs typeface="Calibri"/>
                        <a:sym typeface="Calibri"/>
                      </a:endParaRPr>
                    </a:p>
                  </a:txBody>
                  <a:tcPr marT="625" marB="0" marR="0" marL="0">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79375" marR="0" rtl="0" algn="l">
                        <a:lnSpc>
                          <a:spcPct val="100000"/>
                        </a:lnSpc>
                        <a:spcBef>
                          <a:spcPts val="0"/>
                        </a:spcBef>
                        <a:spcAft>
                          <a:spcPts val="0"/>
                        </a:spcAft>
                        <a:buNone/>
                      </a:pPr>
                      <a:r>
                        <a:rPr b="1" lang="en-US" sz="1000" u="none" cap="none" strike="noStrike">
                          <a:solidFill>
                            <a:srgbClr val="1E795B"/>
                          </a:solidFill>
                          <a:latin typeface="Calibri"/>
                          <a:ea typeface="Calibri"/>
                          <a:cs typeface="Calibri"/>
                          <a:sym typeface="Calibri"/>
                        </a:rPr>
                        <a:t>contextual</a:t>
                      </a:r>
                      <a:endParaRPr sz="1000" u="none" cap="none" strike="noStrike">
                        <a:latin typeface="Calibri"/>
                        <a:ea typeface="Calibri"/>
                        <a:cs typeface="Calibri"/>
                        <a:sym typeface="Calibri"/>
                      </a:endParaRPr>
                    </a:p>
                  </a:txBody>
                  <a:tcPr marT="39375" marB="0" marR="0" marL="0">
                    <a:lnR cap="flat" cmpd="sng" w="9525">
                      <a:solidFill>
                        <a:srgbClr val="DCDBD4"/>
                      </a:solidFill>
                      <a:prstDash val="solid"/>
                      <a:round/>
                      <a:headEnd len="sm" w="sm" type="none"/>
                      <a:tailEnd len="sm" w="sm" type="none"/>
                    </a:lnR>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r>
              <a:tr h="351800">
                <a:tc>
                  <a:txBody>
                    <a:bodyPr/>
                    <a:lstStyle/>
                    <a:p>
                      <a:pPr indent="0" lvl="0" marL="164465" marR="0" rtl="0" algn="l">
                        <a:lnSpc>
                          <a:spcPct val="111304"/>
                        </a:lnSpc>
                        <a:spcBef>
                          <a:spcPts val="0"/>
                        </a:spcBef>
                        <a:spcAft>
                          <a:spcPts val="0"/>
                        </a:spcAft>
                        <a:buNone/>
                      </a:pPr>
                      <a:r>
                        <a:rPr b="1" lang="en-US" sz="1150" u="none" cap="none" strike="noStrike">
                          <a:solidFill>
                            <a:srgbClr val="101010"/>
                          </a:solidFill>
                          <a:latin typeface="Calibri"/>
                          <a:ea typeface="Calibri"/>
                          <a:cs typeface="Calibri"/>
                          <a:sym typeface="Calibri"/>
                        </a:rPr>
                        <a:t>Architecture</a:t>
                      </a:r>
                      <a:endParaRPr sz="1150" u="none" cap="none" strike="noStrike">
                        <a:latin typeface="Calibri"/>
                        <a:ea typeface="Calibri"/>
                        <a:cs typeface="Calibri"/>
                        <a:sym typeface="Calibri"/>
                      </a:endParaRPr>
                    </a:p>
                  </a:txBody>
                  <a:tcPr marT="0" marB="0" marR="0" marL="0">
                    <a:lnL cap="flat" cmpd="sng" w="9525">
                      <a:solidFill>
                        <a:srgbClr val="DCDBD4"/>
                      </a:solidFill>
                      <a:prstDash val="solid"/>
                      <a:round/>
                      <a:headEnd len="sm" w="sm" type="none"/>
                      <a:tailEnd len="sm" w="sm" type="none"/>
                    </a:lnL>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gridSpan="2">
                  <a:txBody>
                    <a:bodyPr/>
                    <a:lstStyle/>
                    <a:p>
                      <a:pPr indent="0" lvl="0" marL="147955" marR="0" rtl="0" algn="l">
                        <a:lnSpc>
                          <a:spcPct val="108181"/>
                        </a:lnSpc>
                        <a:spcBef>
                          <a:spcPts val="0"/>
                        </a:spcBef>
                        <a:spcAft>
                          <a:spcPts val="0"/>
                        </a:spcAft>
                        <a:buNone/>
                      </a:pPr>
                      <a:r>
                        <a:rPr lang="en-US" sz="1100" u="none" cap="none" strike="noStrike">
                          <a:solidFill>
                            <a:srgbClr val="101010"/>
                          </a:solidFill>
                          <a:latin typeface="Calibri"/>
                          <a:ea typeface="Calibri"/>
                          <a:cs typeface="Calibri"/>
                          <a:sym typeface="Calibri"/>
                        </a:rPr>
                        <a:t>Shallow lookup table</a:t>
                      </a:r>
                      <a:endParaRPr sz="1100" u="none" cap="none" strike="noStrike">
                        <a:latin typeface="Calibri"/>
                        <a:ea typeface="Calibri"/>
                        <a:cs typeface="Calibri"/>
                        <a:sym typeface="Calibri"/>
                      </a:endParaRPr>
                    </a:p>
                  </a:txBody>
                  <a:tcPr marT="0" marB="0" marR="0" marL="0">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hMerge="1"/>
                <a:tc gridSpan="2">
                  <a:txBody>
                    <a:bodyPr/>
                    <a:lstStyle/>
                    <a:p>
                      <a:pPr indent="0" lvl="0" marL="147955" marR="0" rtl="0" algn="l">
                        <a:lnSpc>
                          <a:spcPct val="108181"/>
                        </a:lnSpc>
                        <a:spcBef>
                          <a:spcPts val="0"/>
                        </a:spcBef>
                        <a:spcAft>
                          <a:spcPts val="0"/>
                        </a:spcAft>
                        <a:buNone/>
                      </a:pPr>
                      <a:r>
                        <a:rPr lang="en-US" sz="1100" u="none" cap="none" strike="noStrike">
                          <a:solidFill>
                            <a:srgbClr val="101010"/>
                          </a:solidFill>
                          <a:latin typeface="Calibri"/>
                          <a:ea typeface="Calibri"/>
                          <a:cs typeface="Calibri"/>
                          <a:sym typeface="Calibri"/>
                        </a:rPr>
                        <a:t>2-layer Bidirectional LSTM</a:t>
                      </a:r>
                      <a:endParaRPr sz="1100" u="none" cap="none" strike="noStrike">
                        <a:latin typeface="Calibri"/>
                        <a:ea typeface="Calibri"/>
                        <a:cs typeface="Calibri"/>
                        <a:sym typeface="Calibri"/>
                      </a:endParaRPr>
                    </a:p>
                  </a:txBody>
                  <a:tcPr marT="0" marB="0" marR="0" marL="0">
                    <a:lnR cap="flat" cmpd="sng" w="9525">
                      <a:solidFill>
                        <a:srgbClr val="DCDBD4"/>
                      </a:solidFill>
                      <a:prstDash val="solid"/>
                      <a:round/>
                      <a:headEnd len="sm" w="sm" type="none"/>
                      <a:tailEnd len="sm" w="sm" type="none"/>
                    </a:lnR>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hMerge="1"/>
              </a:tr>
              <a:tr h="351150">
                <a:tc>
                  <a:txBody>
                    <a:bodyPr/>
                    <a:lstStyle/>
                    <a:p>
                      <a:pPr indent="0" lvl="0" marL="164465" marR="0" rtl="0" algn="l">
                        <a:lnSpc>
                          <a:spcPct val="111304"/>
                        </a:lnSpc>
                        <a:spcBef>
                          <a:spcPts val="0"/>
                        </a:spcBef>
                        <a:spcAft>
                          <a:spcPts val="0"/>
                        </a:spcAft>
                        <a:buNone/>
                      </a:pPr>
                      <a:r>
                        <a:rPr b="1" lang="en-US" sz="1150" u="none" cap="none" strike="noStrike">
                          <a:solidFill>
                            <a:srgbClr val="101010"/>
                          </a:solidFill>
                          <a:latin typeface="Calibri"/>
                          <a:ea typeface="Calibri"/>
                          <a:cs typeface="Calibri"/>
                          <a:sym typeface="Calibri"/>
                        </a:rPr>
                        <a:t>Handles polysemy</a:t>
                      </a:r>
                      <a:endParaRPr sz="1150" u="none" cap="none" strike="noStrike">
                        <a:latin typeface="Calibri"/>
                        <a:ea typeface="Calibri"/>
                        <a:cs typeface="Calibri"/>
                        <a:sym typeface="Calibri"/>
                      </a:endParaRPr>
                    </a:p>
                  </a:txBody>
                  <a:tcPr marT="0" marB="0" marR="0" marL="0">
                    <a:lnL cap="flat" cmpd="sng" w="9525">
                      <a:solidFill>
                        <a:srgbClr val="DCDBD4"/>
                      </a:solidFill>
                      <a:prstDash val="solid"/>
                      <a:round/>
                      <a:headEnd len="sm" w="sm" type="none"/>
                      <a:tailEnd len="sm" w="sm" type="none"/>
                    </a:lnL>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0" marR="38735" rtl="0" algn="ctr">
                        <a:lnSpc>
                          <a:spcPct val="108181"/>
                        </a:lnSpc>
                        <a:spcBef>
                          <a:spcPts val="0"/>
                        </a:spcBef>
                        <a:spcAft>
                          <a:spcPts val="0"/>
                        </a:spcAft>
                        <a:buNone/>
                      </a:pPr>
                      <a:r>
                        <a:rPr lang="en-US" sz="1100" u="none" cap="none" strike="noStrike">
                          <a:solidFill>
                            <a:srgbClr val="101010"/>
                          </a:solidFill>
                          <a:latin typeface="Calibri"/>
                          <a:ea typeface="Calibri"/>
                          <a:cs typeface="Calibri"/>
                          <a:sym typeface="Calibri"/>
                        </a:rPr>
                        <a:t>"bank" always same vector</a:t>
                      </a:r>
                      <a:endParaRPr sz="1100" u="none" cap="none" strike="noStrike">
                        <a:latin typeface="Calibri"/>
                        <a:ea typeface="Calibri"/>
                        <a:cs typeface="Calibri"/>
                        <a:sym typeface="Calibri"/>
                      </a:endParaRPr>
                    </a:p>
                  </a:txBody>
                  <a:tcPr marT="0" marB="0" marR="0" marL="0">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0" marR="320675" rtl="0" algn="r">
                        <a:lnSpc>
                          <a:spcPct val="100000"/>
                        </a:lnSpc>
                        <a:spcBef>
                          <a:spcPts val="0"/>
                        </a:spcBef>
                        <a:spcAft>
                          <a:spcPts val="0"/>
                        </a:spcAft>
                        <a:buNone/>
                      </a:pPr>
                      <a:r>
                        <a:rPr b="1" lang="en-US" sz="1000" u="none" cap="none" strike="noStrike">
                          <a:solidFill>
                            <a:srgbClr val="8B2E34"/>
                          </a:solidFill>
                          <a:latin typeface="Calibri"/>
                          <a:ea typeface="Calibri"/>
                          <a:cs typeface="Calibri"/>
                          <a:sym typeface="Calibri"/>
                        </a:rPr>
                        <a:t>no</a:t>
                      </a:r>
                      <a:endParaRPr sz="1000" u="none" cap="none" strike="noStrike">
                        <a:latin typeface="Calibri"/>
                        <a:ea typeface="Calibri"/>
                        <a:cs typeface="Calibri"/>
                        <a:sym typeface="Calibri"/>
                      </a:endParaRPr>
                    </a:p>
                  </a:txBody>
                  <a:tcPr marT="39375" marB="0" marR="0" marL="0">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148590" marR="0" rtl="0" algn="l">
                        <a:lnSpc>
                          <a:spcPct val="108181"/>
                        </a:lnSpc>
                        <a:spcBef>
                          <a:spcPts val="0"/>
                        </a:spcBef>
                        <a:spcAft>
                          <a:spcPts val="0"/>
                        </a:spcAft>
                        <a:buNone/>
                      </a:pPr>
                      <a:r>
                        <a:rPr lang="en-US" sz="1100" u="none" cap="none" strike="noStrike">
                          <a:solidFill>
                            <a:srgbClr val="101010"/>
                          </a:solidFill>
                          <a:latin typeface="Calibri"/>
                          <a:ea typeface="Calibri"/>
                          <a:cs typeface="Calibri"/>
                          <a:sym typeface="Calibri"/>
                        </a:rPr>
                        <a:t>"bank" differs by context</a:t>
                      </a:r>
                      <a:endParaRPr sz="1100" u="none" cap="none" strike="noStrike">
                        <a:latin typeface="Calibri"/>
                        <a:ea typeface="Calibri"/>
                        <a:cs typeface="Calibri"/>
                        <a:sym typeface="Calibri"/>
                      </a:endParaRPr>
                    </a:p>
                  </a:txBody>
                  <a:tcPr marT="0" marB="0" marR="0" marL="0">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606425" marR="0" rtl="0" algn="l">
                        <a:lnSpc>
                          <a:spcPct val="100000"/>
                        </a:lnSpc>
                        <a:spcBef>
                          <a:spcPts val="0"/>
                        </a:spcBef>
                        <a:spcAft>
                          <a:spcPts val="0"/>
                        </a:spcAft>
                        <a:buNone/>
                      </a:pPr>
                      <a:r>
                        <a:rPr b="1" lang="en-US" sz="1000" u="none" cap="none" strike="noStrike">
                          <a:solidFill>
                            <a:srgbClr val="1E795B"/>
                          </a:solidFill>
                          <a:latin typeface="Calibri"/>
                          <a:ea typeface="Calibri"/>
                          <a:cs typeface="Calibri"/>
                          <a:sym typeface="Calibri"/>
                        </a:rPr>
                        <a:t>yes</a:t>
                      </a:r>
                      <a:endParaRPr sz="1000" u="none" cap="none" strike="noStrike">
                        <a:latin typeface="Calibri"/>
                        <a:ea typeface="Calibri"/>
                        <a:cs typeface="Calibri"/>
                        <a:sym typeface="Calibri"/>
                      </a:endParaRPr>
                    </a:p>
                  </a:txBody>
                  <a:tcPr marT="39375" marB="0" marR="0" marL="0">
                    <a:lnR cap="flat" cmpd="sng" w="9525">
                      <a:solidFill>
                        <a:srgbClr val="DCDBD4"/>
                      </a:solidFill>
                      <a:prstDash val="solid"/>
                      <a:round/>
                      <a:headEnd len="sm" w="sm" type="none"/>
                      <a:tailEnd len="sm" w="sm" type="none"/>
                    </a:lnR>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r>
              <a:tr h="351800">
                <a:tc>
                  <a:txBody>
                    <a:bodyPr/>
                    <a:lstStyle/>
                    <a:p>
                      <a:pPr indent="0" lvl="0" marL="164465" marR="0" rtl="0" algn="l">
                        <a:lnSpc>
                          <a:spcPct val="111739"/>
                        </a:lnSpc>
                        <a:spcBef>
                          <a:spcPts val="0"/>
                        </a:spcBef>
                        <a:spcAft>
                          <a:spcPts val="0"/>
                        </a:spcAft>
                        <a:buNone/>
                      </a:pPr>
                      <a:r>
                        <a:rPr b="1" lang="en-US" sz="1150" u="none" cap="none" strike="noStrike">
                          <a:solidFill>
                            <a:srgbClr val="101010"/>
                          </a:solidFill>
                          <a:latin typeface="Calibri"/>
                          <a:ea typeface="Calibri"/>
                          <a:cs typeface="Calibri"/>
                          <a:sym typeface="Calibri"/>
                        </a:rPr>
                        <a:t>Context used</a:t>
                      </a:r>
                      <a:endParaRPr sz="1150" u="none" cap="none" strike="noStrike">
                        <a:latin typeface="Calibri"/>
                        <a:ea typeface="Calibri"/>
                        <a:cs typeface="Calibri"/>
                        <a:sym typeface="Calibri"/>
                      </a:endParaRPr>
                    </a:p>
                  </a:txBody>
                  <a:tcPr marT="0" marB="0" marR="0" marL="0">
                    <a:lnL cap="flat" cmpd="sng" w="9525">
                      <a:solidFill>
                        <a:srgbClr val="DCDBD4"/>
                      </a:solidFill>
                      <a:prstDash val="solid"/>
                      <a:round/>
                      <a:headEnd len="sm" w="sm" type="none"/>
                      <a:tailEnd len="sm" w="sm" type="none"/>
                    </a:lnL>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gridSpan="2">
                  <a:txBody>
                    <a:bodyPr/>
                    <a:lstStyle/>
                    <a:p>
                      <a:pPr indent="0" lvl="0" marL="147955" marR="0" rtl="0" algn="l">
                        <a:lnSpc>
                          <a:spcPct val="108636"/>
                        </a:lnSpc>
                        <a:spcBef>
                          <a:spcPts val="0"/>
                        </a:spcBef>
                        <a:spcAft>
                          <a:spcPts val="0"/>
                        </a:spcAft>
                        <a:buNone/>
                      </a:pPr>
                      <a:r>
                        <a:rPr lang="en-US" sz="1100" u="none" cap="none" strike="noStrike">
                          <a:solidFill>
                            <a:srgbClr val="101010"/>
                          </a:solidFill>
                          <a:latin typeface="Calibri"/>
                          <a:ea typeface="Calibri"/>
                          <a:cs typeface="Calibri"/>
                          <a:sym typeface="Calibri"/>
                        </a:rPr>
                        <a:t>Training-time context only</a:t>
                      </a:r>
                      <a:endParaRPr sz="1100" u="none" cap="none" strike="noStrike">
                        <a:latin typeface="Calibri"/>
                        <a:ea typeface="Calibri"/>
                        <a:cs typeface="Calibri"/>
                        <a:sym typeface="Calibri"/>
                      </a:endParaRPr>
                    </a:p>
                  </a:txBody>
                  <a:tcPr marT="0" marB="0" marR="0" marL="0">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hMerge="1"/>
                <a:tc>
                  <a:txBody>
                    <a:bodyPr/>
                    <a:lstStyle/>
                    <a:p>
                      <a:pPr indent="0" lvl="0" marL="148590" marR="877569" rtl="0" algn="l">
                        <a:lnSpc>
                          <a:spcPct val="110909"/>
                        </a:lnSpc>
                        <a:spcBef>
                          <a:spcPts val="0"/>
                        </a:spcBef>
                        <a:spcAft>
                          <a:spcPts val="0"/>
                        </a:spcAft>
                        <a:buNone/>
                      </a:pPr>
                      <a:r>
                        <a:rPr lang="en-US" sz="1100" u="none" cap="none" strike="noStrike">
                          <a:solidFill>
                            <a:srgbClr val="101010"/>
                          </a:solidFill>
                          <a:latin typeface="Calibri"/>
                          <a:ea typeface="Calibri"/>
                          <a:cs typeface="Calibri"/>
                          <a:sym typeface="Calibri"/>
                        </a:rPr>
                        <a:t>Both directions at inference</a:t>
                      </a:r>
                      <a:endParaRPr sz="1100" u="none" cap="none" strike="noStrike">
                        <a:latin typeface="Calibri"/>
                        <a:ea typeface="Calibri"/>
                        <a:cs typeface="Calibri"/>
                        <a:sym typeface="Calibri"/>
                      </a:endParaRPr>
                    </a:p>
                  </a:txBody>
                  <a:tcPr marT="625" marB="0" marR="0" marL="0">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129539" marR="0" rtl="0" algn="l">
                        <a:lnSpc>
                          <a:spcPct val="100000"/>
                        </a:lnSpc>
                        <a:spcBef>
                          <a:spcPts val="0"/>
                        </a:spcBef>
                        <a:spcAft>
                          <a:spcPts val="0"/>
                        </a:spcAft>
                        <a:buNone/>
                      </a:pPr>
                      <a:r>
                        <a:rPr b="1" lang="en-US" sz="1000" u="none" cap="none" strike="noStrike">
                          <a:solidFill>
                            <a:srgbClr val="1E795B"/>
                          </a:solidFill>
                          <a:latin typeface="Calibri"/>
                          <a:ea typeface="Calibri"/>
                          <a:cs typeface="Calibri"/>
                          <a:sym typeface="Calibri"/>
                        </a:rPr>
                        <a:t>fwd + bwd</a:t>
                      </a:r>
                      <a:endParaRPr sz="1000" u="none" cap="none" strike="noStrike">
                        <a:latin typeface="Calibri"/>
                        <a:ea typeface="Calibri"/>
                        <a:cs typeface="Calibri"/>
                        <a:sym typeface="Calibri"/>
                      </a:endParaRPr>
                    </a:p>
                  </a:txBody>
                  <a:tcPr marT="39375" marB="0" marR="0" marL="0">
                    <a:lnR cap="flat" cmpd="sng" w="9525">
                      <a:solidFill>
                        <a:srgbClr val="DCDBD4"/>
                      </a:solidFill>
                      <a:prstDash val="solid"/>
                      <a:round/>
                      <a:headEnd len="sm" w="sm" type="none"/>
                      <a:tailEnd len="sm" w="sm" type="none"/>
                    </a:lnR>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r>
              <a:tr h="351800">
                <a:tc>
                  <a:txBody>
                    <a:bodyPr/>
                    <a:lstStyle/>
                    <a:p>
                      <a:pPr indent="0" lvl="0" marL="164465" marR="0" rtl="0" algn="l">
                        <a:lnSpc>
                          <a:spcPct val="111739"/>
                        </a:lnSpc>
                        <a:spcBef>
                          <a:spcPts val="0"/>
                        </a:spcBef>
                        <a:spcAft>
                          <a:spcPts val="0"/>
                        </a:spcAft>
                        <a:buNone/>
                      </a:pPr>
                      <a:r>
                        <a:rPr b="1" lang="en-US" sz="1150" u="none" cap="none" strike="noStrike">
                          <a:solidFill>
                            <a:srgbClr val="101010"/>
                          </a:solidFill>
                          <a:latin typeface="Calibri"/>
                          <a:ea typeface="Calibri"/>
                          <a:cs typeface="Calibri"/>
                          <a:sym typeface="Calibri"/>
                        </a:rPr>
                        <a:t>Vector layers</a:t>
                      </a:r>
                      <a:endParaRPr sz="1150" u="none" cap="none" strike="noStrike">
                        <a:latin typeface="Calibri"/>
                        <a:ea typeface="Calibri"/>
                        <a:cs typeface="Calibri"/>
                        <a:sym typeface="Calibri"/>
                      </a:endParaRPr>
                    </a:p>
                  </a:txBody>
                  <a:tcPr marT="0" marB="0" marR="0" marL="0">
                    <a:lnL cap="flat" cmpd="sng" w="9525">
                      <a:solidFill>
                        <a:srgbClr val="DCDBD4"/>
                      </a:solidFill>
                      <a:prstDash val="solid"/>
                      <a:round/>
                      <a:headEnd len="sm" w="sm" type="none"/>
                      <a:tailEnd len="sm" w="sm" type="none"/>
                    </a:lnL>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gridSpan="2">
                  <a:txBody>
                    <a:bodyPr/>
                    <a:lstStyle/>
                    <a:p>
                      <a:pPr indent="0" lvl="0" marL="147955" marR="0" rtl="0" algn="l">
                        <a:lnSpc>
                          <a:spcPct val="108636"/>
                        </a:lnSpc>
                        <a:spcBef>
                          <a:spcPts val="0"/>
                        </a:spcBef>
                        <a:spcAft>
                          <a:spcPts val="0"/>
                        </a:spcAft>
                        <a:buNone/>
                      </a:pPr>
                      <a:r>
                        <a:rPr lang="en-US" sz="1100" u="none" cap="none" strike="noStrike">
                          <a:solidFill>
                            <a:srgbClr val="101010"/>
                          </a:solidFill>
                          <a:latin typeface="Calibri"/>
                          <a:ea typeface="Calibri"/>
                          <a:cs typeface="Calibri"/>
                          <a:sym typeface="Calibri"/>
                        </a:rPr>
                        <a:t>1 layer, single vector</a:t>
                      </a:r>
                      <a:endParaRPr sz="1100" u="none" cap="none" strike="noStrike">
                        <a:latin typeface="Calibri"/>
                        <a:ea typeface="Calibri"/>
                        <a:cs typeface="Calibri"/>
                        <a:sym typeface="Calibri"/>
                      </a:endParaRPr>
                    </a:p>
                  </a:txBody>
                  <a:tcPr marT="0" marB="0" marR="0" marL="0">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hMerge="1"/>
                <a:tc>
                  <a:txBody>
                    <a:bodyPr/>
                    <a:lstStyle/>
                    <a:p>
                      <a:pPr indent="0" lvl="0" marL="148590" marR="0" rtl="0" algn="l">
                        <a:lnSpc>
                          <a:spcPct val="108636"/>
                        </a:lnSpc>
                        <a:spcBef>
                          <a:spcPts val="0"/>
                        </a:spcBef>
                        <a:spcAft>
                          <a:spcPts val="0"/>
                        </a:spcAft>
                        <a:buNone/>
                      </a:pPr>
                      <a:r>
                        <a:rPr lang="en-US" sz="1100" u="none" cap="none" strike="noStrike">
                          <a:solidFill>
                            <a:srgbClr val="101010"/>
                          </a:solidFill>
                          <a:latin typeface="Calibri"/>
                          <a:ea typeface="Calibri"/>
                          <a:cs typeface="Calibri"/>
                          <a:sym typeface="Calibri"/>
                        </a:rPr>
                        <a:t>3 layers: char + LSTM1 + LSTM2</a:t>
                      </a:r>
                      <a:endParaRPr sz="1100" u="none" cap="none" strike="noStrike">
                        <a:latin typeface="Calibri"/>
                        <a:ea typeface="Calibri"/>
                        <a:cs typeface="Calibri"/>
                        <a:sym typeface="Calibri"/>
                      </a:endParaRPr>
                    </a:p>
                  </a:txBody>
                  <a:tcPr marT="0" marB="0" marR="0" marL="0">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0" marR="14604" rtl="0" algn="ctr">
                        <a:lnSpc>
                          <a:spcPct val="100000"/>
                        </a:lnSpc>
                        <a:spcBef>
                          <a:spcPts val="0"/>
                        </a:spcBef>
                        <a:spcAft>
                          <a:spcPts val="0"/>
                        </a:spcAft>
                        <a:buNone/>
                      </a:pPr>
                      <a:r>
                        <a:rPr b="1" lang="en-US" sz="1000" u="none" cap="none" strike="noStrike">
                          <a:solidFill>
                            <a:srgbClr val="1E795B"/>
                          </a:solidFill>
                          <a:latin typeface="Calibri"/>
                          <a:ea typeface="Calibri"/>
                          <a:cs typeface="Calibri"/>
                          <a:sym typeface="Calibri"/>
                        </a:rPr>
                        <a:t>richer</a:t>
                      </a:r>
                      <a:endParaRPr sz="1000" u="none" cap="none" strike="noStrike">
                        <a:latin typeface="Calibri"/>
                        <a:ea typeface="Calibri"/>
                        <a:cs typeface="Calibri"/>
                        <a:sym typeface="Calibri"/>
                      </a:endParaRPr>
                    </a:p>
                  </a:txBody>
                  <a:tcPr marT="39375" marB="0" marR="0" marL="0">
                    <a:lnR cap="flat" cmpd="sng" w="9525">
                      <a:solidFill>
                        <a:srgbClr val="DCDBD4"/>
                      </a:solidFill>
                      <a:prstDash val="solid"/>
                      <a:round/>
                      <a:headEnd len="sm" w="sm" type="none"/>
                      <a:tailEnd len="sm" w="sm" type="none"/>
                    </a:lnR>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r>
              <a:tr h="351800">
                <a:tc>
                  <a:txBody>
                    <a:bodyPr/>
                    <a:lstStyle/>
                    <a:p>
                      <a:pPr indent="0" lvl="0" marL="164465" marR="0" rtl="0" algn="l">
                        <a:lnSpc>
                          <a:spcPct val="111739"/>
                        </a:lnSpc>
                        <a:spcBef>
                          <a:spcPts val="0"/>
                        </a:spcBef>
                        <a:spcAft>
                          <a:spcPts val="0"/>
                        </a:spcAft>
                        <a:buNone/>
                      </a:pPr>
                      <a:r>
                        <a:rPr b="1" lang="en-US" sz="1150" u="none" cap="none" strike="noStrike">
                          <a:solidFill>
                            <a:srgbClr val="101010"/>
                          </a:solidFill>
                          <a:latin typeface="Calibri"/>
                          <a:ea typeface="Calibri"/>
                          <a:cs typeface="Calibri"/>
                          <a:sym typeface="Calibri"/>
                        </a:rPr>
                        <a:t>Pre-computation</a:t>
                      </a:r>
                      <a:endParaRPr sz="1150" u="none" cap="none" strike="noStrike">
                        <a:latin typeface="Calibri"/>
                        <a:ea typeface="Calibri"/>
                        <a:cs typeface="Calibri"/>
                        <a:sym typeface="Calibri"/>
                      </a:endParaRPr>
                    </a:p>
                  </a:txBody>
                  <a:tcPr marT="0" marB="0" marR="0" marL="0">
                    <a:lnL cap="flat" cmpd="sng" w="9525">
                      <a:solidFill>
                        <a:srgbClr val="DCDBD4"/>
                      </a:solidFill>
                      <a:prstDash val="solid"/>
                      <a:round/>
                      <a:headEnd len="sm" w="sm" type="none"/>
                      <a:tailEnd len="sm" w="sm" type="none"/>
                    </a:lnL>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32384" marR="0" rtl="0" algn="ctr">
                        <a:lnSpc>
                          <a:spcPct val="108636"/>
                        </a:lnSpc>
                        <a:spcBef>
                          <a:spcPts val="0"/>
                        </a:spcBef>
                        <a:spcAft>
                          <a:spcPts val="0"/>
                        </a:spcAft>
                        <a:buNone/>
                      </a:pPr>
                      <a:r>
                        <a:rPr lang="en-US" sz="1100" u="none" cap="none" strike="noStrike">
                          <a:solidFill>
                            <a:srgbClr val="101010"/>
                          </a:solidFill>
                          <a:latin typeface="Calibri"/>
                          <a:ea typeface="Calibri"/>
                          <a:cs typeface="Calibri"/>
                          <a:sym typeface="Calibri"/>
                        </a:rPr>
                        <a:t>Pre-compute once, cache all</a:t>
                      </a:r>
                      <a:endParaRPr sz="1100" u="none" cap="none" strike="noStrike">
                        <a:latin typeface="Calibri"/>
                        <a:ea typeface="Calibri"/>
                        <a:cs typeface="Calibri"/>
                        <a:sym typeface="Calibri"/>
                      </a:endParaRPr>
                    </a:p>
                  </a:txBody>
                  <a:tcPr marT="0" marB="0" marR="0" marL="0">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0" marR="386080" rtl="0" algn="r">
                        <a:lnSpc>
                          <a:spcPct val="100000"/>
                        </a:lnSpc>
                        <a:spcBef>
                          <a:spcPts val="0"/>
                        </a:spcBef>
                        <a:spcAft>
                          <a:spcPts val="0"/>
                        </a:spcAft>
                        <a:buNone/>
                      </a:pPr>
                      <a:r>
                        <a:rPr b="1" lang="en-US" sz="1000" u="none" cap="none" strike="noStrike">
                          <a:solidFill>
                            <a:srgbClr val="1E795B"/>
                          </a:solidFill>
                          <a:latin typeface="Calibri"/>
                          <a:ea typeface="Calibri"/>
                          <a:cs typeface="Calibri"/>
                          <a:sym typeface="Calibri"/>
                        </a:rPr>
                        <a:t>fast</a:t>
                      </a:r>
                      <a:endParaRPr sz="1000" u="none" cap="none" strike="noStrike">
                        <a:latin typeface="Calibri"/>
                        <a:ea typeface="Calibri"/>
                        <a:cs typeface="Calibri"/>
                        <a:sym typeface="Calibri"/>
                      </a:endParaRPr>
                    </a:p>
                  </a:txBody>
                  <a:tcPr marT="39375" marB="0" marR="0" marL="0">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148590" marR="0" rtl="0" algn="l">
                        <a:lnSpc>
                          <a:spcPct val="108636"/>
                        </a:lnSpc>
                        <a:spcBef>
                          <a:spcPts val="0"/>
                        </a:spcBef>
                        <a:spcAft>
                          <a:spcPts val="0"/>
                        </a:spcAft>
                        <a:buNone/>
                      </a:pPr>
                      <a:r>
                        <a:rPr lang="en-US" sz="1100" u="none" cap="none" strike="noStrike">
                          <a:solidFill>
                            <a:srgbClr val="101010"/>
                          </a:solidFill>
                          <a:latin typeface="Calibri"/>
                          <a:ea typeface="Calibri"/>
                          <a:cs typeface="Calibri"/>
                          <a:sym typeface="Calibri"/>
                        </a:rPr>
                        <a:t>Re-run full BiLSTM per sentence</a:t>
                      </a:r>
                      <a:endParaRPr sz="1100" u="none" cap="none" strike="noStrike">
                        <a:latin typeface="Calibri"/>
                        <a:ea typeface="Calibri"/>
                        <a:cs typeface="Calibri"/>
                        <a:sym typeface="Calibri"/>
                      </a:endParaRPr>
                    </a:p>
                  </a:txBody>
                  <a:tcPr marT="0" marB="0" marR="0" marL="0">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0" marR="13970" rtl="0" algn="ctr">
                        <a:lnSpc>
                          <a:spcPct val="100000"/>
                        </a:lnSpc>
                        <a:spcBef>
                          <a:spcPts val="0"/>
                        </a:spcBef>
                        <a:spcAft>
                          <a:spcPts val="0"/>
                        </a:spcAft>
                        <a:buNone/>
                      </a:pPr>
                      <a:r>
                        <a:rPr b="1" lang="en-US" sz="1000" u="none" cap="none" strike="noStrike">
                          <a:solidFill>
                            <a:srgbClr val="8B2E34"/>
                          </a:solidFill>
                          <a:latin typeface="Calibri"/>
                          <a:ea typeface="Calibri"/>
                          <a:cs typeface="Calibri"/>
                          <a:sym typeface="Calibri"/>
                        </a:rPr>
                        <a:t>slower</a:t>
                      </a:r>
                      <a:endParaRPr sz="1000" u="none" cap="none" strike="noStrike">
                        <a:latin typeface="Calibri"/>
                        <a:ea typeface="Calibri"/>
                        <a:cs typeface="Calibri"/>
                        <a:sym typeface="Calibri"/>
                      </a:endParaRPr>
                    </a:p>
                  </a:txBody>
                  <a:tcPr marT="39375" marB="0" marR="0" marL="0">
                    <a:lnR cap="flat" cmpd="sng" w="9525">
                      <a:solidFill>
                        <a:srgbClr val="DCDBD4"/>
                      </a:solidFill>
                      <a:prstDash val="solid"/>
                      <a:round/>
                      <a:headEnd len="sm" w="sm" type="none"/>
                      <a:tailEnd len="sm" w="sm" type="none"/>
                    </a:lnR>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r>
              <a:tr h="351800">
                <a:tc>
                  <a:txBody>
                    <a:bodyPr/>
                    <a:lstStyle/>
                    <a:p>
                      <a:pPr indent="0" lvl="0" marL="164465" marR="0" rtl="0" algn="l">
                        <a:lnSpc>
                          <a:spcPct val="111739"/>
                        </a:lnSpc>
                        <a:spcBef>
                          <a:spcPts val="0"/>
                        </a:spcBef>
                        <a:spcAft>
                          <a:spcPts val="0"/>
                        </a:spcAft>
                        <a:buNone/>
                      </a:pPr>
                      <a:r>
                        <a:rPr b="1" lang="en-US" sz="1150" u="none" cap="none" strike="noStrike">
                          <a:solidFill>
                            <a:srgbClr val="101010"/>
                          </a:solidFill>
                          <a:latin typeface="Calibri"/>
                          <a:ea typeface="Calibri"/>
                          <a:cs typeface="Calibri"/>
                          <a:sym typeface="Calibri"/>
                        </a:rPr>
                        <a:t>Parallelizable</a:t>
                      </a:r>
                      <a:endParaRPr sz="1150" u="none" cap="none" strike="noStrike">
                        <a:latin typeface="Calibri"/>
                        <a:ea typeface="Calibri"/>
                        <a:cs typeface="Calibri"/>
                        <a:sym typeface="Calibri"/>
                      </a:endParaRPr>
                    </a:p>
                  </a:txBody>
                  <a:tcPr marT="0" marB="0" marR="0" marL="0">
                    <a:lnL cap="flat" cmpd="sng" w="9525">
                      <a:solidFill>
                        <a:srgbClr val="DCDBD4"/>
                      </a:solidFill>
                      <a:prstDash val="solid"/>
                      <a:round/>
                      <a:headEnd len="sm" w="sm" type="none"/>
                      <a:tailEnd len="sm" w="sm" type="none"/>
                    </a:lnL>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gridSpan="2">
                  <a:txBody>
                    <a:bodyPr/>
                    <a:lstStyle/>
                    <a:p>
                      <a:pPr indent="0" lvl="0" marL="0" marR="348615" rtl="0" algn="r">
                        <a:lnSpc>
                          <a:spcPct val="100000"/>
                        </a:lnSpc>
                        <a:spcBef>
                          <a:spcPts val="0"/>
                        </a:spcBef>
                        <a:spcAft>
                          <a:spcPts val="0"/>
                        </a:spcAft>
                        <a:buNone/>
                      </a:pPr>
                      <a:r>
                        <a:rPr b="1" lang="en-US" sz="1000" u="none" cap="none" strike="noStrike">
                          <a:solidFill>
                            <a:srgbClr val="1E795B"/>
                          </a:solidFill>
                          <a:latin typeface="Calibri"/>
                          <a:ea typeface="Calibri"/>
                          <a:cs typeface="Calibri"/>
                          <a:sym typeface="Calibri"/>
                        </a:rPr>
                        <a:t>yes</a:t>
                      </a:r>
                      <a:endParaRPr sz="1000" u="none" cap="none" strike="noStrike">
                        <a:latin typeface="Calibri"/>
                        <a:ea typeface="Calibri"/>
                        <a:cs typeface="Calibri"/>
                        <a:sym typeface="Calibri"/>
                      </a:endParaRPr>
                    </a:p>
                  </a:txBody>
                  <a:tcPr marT="39375" marB="0" marR="0" marL="0">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hMerge="1"/>
                <a:tc gridSpan="2">
                  <a:txBody>
                    <a:bodyPr/>
                    <a:lstStyle/>
                    <a:p>
                      <a:pPr indent="0" lvl="0" marL="1365250" marR="0" rtl="0" algn="l">
                        <a:lnSpc>
                          <a:spcPct val="100000"/>
                        </a:lnSpc>
                        <a:spcBef>
                          <a:spcPts val="0"/>
                        </a:spcBef>
                        <a:spcAft>
                          <a:spcPts val="0"/>
                        </a:spcAft>
                        <a:buNone/>
                      </a:pPr>
                      <a:r>
                        <a:rPr b="1" lang="en-US" sz="1000" u="none" cap="none" strike="noStrike">
                          <a:solidFill>
                            <a:srgbClr val="8B2E34"/>
                          </a:solidFill>
                          <a:latin typeface="Calibri"/>
                          <a:ea typeface="Calibri"/>
                          <a:cs typeface="Calibri"/>
                          <a:sym typeface="Calibri"/>
                        </a:rPr>
                        <a:t>no (sequential LSTM)</a:t>
                      </a:r>
                      <a:endParaRPr sz="1000" u="none" cap="none" strike="noStrike">
                        <a:latin typeface="Calibri"/>
                        <a:ea typeface="Calibri"/>
                        <a:cs typeface="Calibri"/>
                        <a:sym typeface="Calibri"/>
                      </a:endParaRPr>
                    </a:p>
                  </a:txBody>
                  <a:tcPr marT="39375" marB="0" marR="0" marL="0">
                    <a:lnR cap="flat" cmpd="sng" w="9525">
                      <a:solidFill>
                        <a:srgbClr val="DCDBD4"/>
                      </a:solidFill>
                      <a:prstDash val="solid"/>
                      <a:round/>
                      <a:headEnd len="sm" w="sm" type="none"/>
                      <a:tailEnd len="sm" w="sm" type="none"/>
                    </a:lnR>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hMerge="1"/>
              </a:tr>
              <a:tr h="351800">
                <a:tc>
                  <a:txBody>
                    <a:bodyPr/>
                    <a:lstStyle/>
                    <a:p>
                      <a:pPr indent="0" lvl="0" marL="164465" marR="0" rtl="0" algn="l">
                        <a:lnSpc>
                          <a:spcPct val="111304"/>
                        </a:lnSpc>
                        <a:spcBef>
                          <a:spcPts val="0"/>
                        </a:spcBef>
                        <a:spcAft>
                          <a:spcPts val="0"/>
                        </a:spcAft>
                        <a:buNone/>
                      </a:pPr>
                      <a:r>
                        <a:rPr b="1" lang="en-US" sz="1150" u="none" cap="none" strike="noStrike">
                          <a:solidFill>
                            <a:srgbClr val="101010"/>
                          </a:solidFill>
                          <a:latin typeface="Calibri"/>
                          <a:ea typeface="Calibri"/>
                          <a:cs typeface="Calibri"/>
                          <a:sym typeface="Calibri"/>
                        </a:rPr>
                        <a:t>Similarity check</a:t>
                      </a:r>
                      <a:endParaRPr sz="1150" u="none" cap="none" strike="noStrike">
                        <a:latin typeface="Calibri"/>
                        <a:ea typeface="Calibri"/>
                        <a:cs typeface="Calibri"/>
                        <a:sym typeface="Calibri"/>
                      </a:endParaRPr>
                    </a:p>
                  </a:txBody>
                  <a:tcPr marT="0" marB="0" marR="0" marL="0">
                    <a:lnL cap="flat" cmpd="sng" w="9525">
                      <a:solidFill>
                        <a:srgbClr val="DCDBD4"/>
                      </a:solidFill>
                      <a:prstDash val="solid"/>
                      <a:round/>
                      <a:headEnd len="sm" w="sm" type="none"/>
                      <a:tailEnd len="sm" w="sm" type="none"/>
                    </a:lnL>
                    <a:lnT cap="flat" cmpd="sng" w="9525">
                      <a:solidFill>
                        <a:srgbClr val="DCDBD4"/>
                      </a:solidFill>
                      <a:prstDash val="solid"/>
                      <a:round/>
                      <a:headEnd len="sm" w="sm" type="none"/>
                      <a:tailEnd len="sm" w="sm" type="none"/>
                    </a:lnT>
                    <a:lnB cap="flat" cmpd="sng" w="12700">
                      <a:solidFill>
                        <a:srgbClr val="DCDBD4"/>
                      </a:solidFill>
                      <a:prstDash val="solid"/>
                      <a:round/>
                      <a:headEnd len="sm" w="sm" type="none"/>
                      <a:tailEnd len="sm" w="sm" type="none"/>
                    </a:lnB>
                  </a:tcPr>
                </a:tc>
                <a:tc gridSpan="2">
                  <a:txBody>
                    <a:bodyPr/>
                    <a:lstStyle/>
                    <a:p>
                      <a:pPr indent="0" lvl="0" marL="147955" marR="0" rtl="0" algn="l">
                        <a:lnSpc>
                          <a:spcPct val="108181"/>
                        </a:lnSpc>
                        <a:spcBef>
                          <a:spcPts val="0"/>
                        </a:spcBef>
                        <a:spcAft>
                          <a:spcPts val="0"/>
                        </a:spcAft>
                        <a:buNone/>
                      </a:pPr>
                      <a:r>
                        <a:rPr lang="en-US" sz="1100" u="none" cap="none" strike="noStrike">
                          <a:solidFill>
                            <a:srgbClr val="101010"/>
                          </a:solidFill>
                          <a:latin typeface="Calibri"/>
                          <a:ea typeface="Calibri"/>
                          <a:cs typeface="Calibri"/>
                          <a:sym typeface="Calibri"/>
                        </a:rPr>
                        <a:t>similarity(bank money, bank river) = 1.0</a:t>
                      </a:r>
                      <a:endParaRPr sz="1100" u="none" cap="none" strike="noStrike">
                        <a:latin typeface="Calibri"/>
                        <a:ea typeface="Calibri"/>
                        <a:cs typeface="Calibri"/>
                        <a:sym typeface="Calibri"/>
                      </a:endParaRPr>
                    </a:p>
                  </a:txBody>
                  <a:tcPr marT="0" marB="0" marR="0" marL="0">
                    <a:lnT cap="flat" cmpd="sng" w="9525">
                      <a:solidFill>
                        <a:srgbClr val="DCDBD4"/>
                      </a:solidFill>
                      <a:prstDash val="solid"/>
                      <a:round/>
                      <a:headEnd len="sm" w="sm" type="none"/>
                      <a:tailEnd len="sm" w="sm" type="none"/>
                    </a:lnT>
                    <a:lnB cap="flat" cmpd="sng" w="12700">
                      <a:solidFill>
                        <a:srgbClr val="DCDBD4"/>
                      </a:solidFill>
                      <a:prstDash val="solid"/>
                      <a:round/>
                      <a:headEnd len="sm" w="sm" type="none"/>
                      <a:tailEnd len="sm" w="sm" type="none"/>
                    </a:lnB>
                  </a:tcPr>
                </a:tc>
                <a:tc hMerge="1"/>
                <a:tc gridSpan="2">
                  <a:txBody>
                    <a:bodyPr/>
                    <a:lstStyle/>
                    <a:p>
                      <a:pPr indent="0" lvl="0" marL="147955" marR="0" rtl="0" algn="l">
                        <a:lnSpc>
                          <a:spcPct val="108181"/>
                        </a:lnSpc>
                        <a:spcBef>
                          <a:spcPts val="0"/>
                        </a:spcBef>
                        <a:spcAft>
                          <a:spcPts val="0"/>
                        </a:spcAft>
                        <a:buNone/>
                      </a:pPr>
                      <a:r>
                        <a:rPr lang="en-US" sz="1100" u="none" cap="none" strike="noStrike">
                          <a:solidFill>
                            <a:srgbClr val="101010"/>
                          </a:solidFill>
                          <a:latin typeface="Calibri"/>
                          <a:ea typeface="Calibri"/>
                          <a:cs typeface="Calibri"/>
                          <a:sym typeface="Calibri"/>
                        </a:rPr>
                        <a:t>similarity(bank money, bank river) ≈ 0.54</a:t>
                      </a:r>
                      <a:endParaRPr sz="1100" u="none" cap="none" strike="noStrike">
                        <a:latin typeface="Calibri"/>
                        <a:ea typeface="Calibri"/>
                        <a:cs typeface="Calibri"/>
                        <a:sym typeface="Calibri"/>
                      </a:endParaRPr>
                    </a:p>
                  </a:txBody>
                  <a:tcPr marT="0" marB="0" marR="0" marL="0">
                    <a:lnR cap="flat" cmpd="sng" w="9525">
                      <a:solidFill>
                        <a:srgbClr val="DCDBD4"/>
                      </a:solidFill>
                      <a:prstDash val="solid"/>
                      <a:round/>
                      <a:headEnd len="sm" w="sm" type="none"/>
                      <a:tailEnd len="sm" w="sm" type="none"/>
                    </a:lnR>
                    <a:lnT cap="flat" cmpd="sng" w="9525">
                      <a:solidFill>
                        <a:srgbClr val="DCDBD4"/>
                      </a:solidFill>
                      <a:prstDash val="solid"/>
                      <a:round/>
                      <a:headEnd len="sm" w="sm" type="none"/>
                      <a:tailEnd len="sm" w="sm" type="none"/>
                    </a:lnT>
                    <a:lnB cap="flat" cmpd="sng" w="12700">
                      <a:solidFill>
                        <a:srgbClr val="DCDBD4"/>
                      </a:solidFill>
                      <a:prstDash val="solid"/>
                      <a:round/>
                      <a:headEnd len="sm" w="sm" type="none"/>
                      <a:tailEnd len="sm" w="sm" type="none"/>
                    </a:lnB>
                  </a:tcPr>
                </a:tc>
                <a:tc hMerge="1"/>
              </a:tr>
            </a:tbl>
          </a:graphicData>
        </a:graphic>
      </p:graphicFrame>
      <p:sp>
        <p:nvSpPr>
          <p:cNvPr id="932" name="Google Shape;932;p28"/>
          <p:cNvSpPr txBox="1"/>
          <p:nvPr/>
        </p:nvSpPr>
        <p:spPr>
          <a:xfrm>
            <a:off x="627024" y="3882150"/>
            <a:ext cx="1580515" cy="483234"/>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000">
                <a:solidFill>
                  <a:srgbClr val="545454"/>
                </a:solidFill>
                <a:latin typeface="Calibri"/>
                <a:ea typeface="Calibri"/>
                <a:cs typeface="Calibri"/>
                <a:sym typeface="Calibri"/>
              </a:rPr>
              <a:t>Word2Vec</a:t>
            </a:r>
            <a:endParaRPr sz="1000">
              <a:latin typeface="Calibri"/>
              <a:ea typeface="Calibri"/>
              <a:cs typeface="Calibri"/>
              <a:sym typeface="Calibri"/>
            </a:endParaRPr>
          </a:p>
          <a:p>
            <a:pPr indent="0" lvl="0" marL="12700" rtl="0" algn="l">
              <a:lnSpc>
                <a:spcPct val="100000"/>
              </a:lnSpc>
              <a:spcBef>
                <a:spcPts val="0"/>
              </a:spcBef>
              <a:spcAft>
                <a:spcPts val="0"/>
              </a:spcAft>
              <a:buNone/>
            </a:pPr>
            <a:r>
              <a:rPr lang="en-US" sz="1000">
                <a:solidFill>
                  <a:srgbClr val="545454"/>
                </a:solidFill>
                <a:latin typeface="Calibri"/>
                <a:ea typeface="Calibri"/>
                <a:cs typeface="Calibri"/>
                <a:sym typeface="Calibri"/>
              </a:rPr>
              <a:t>"bank" → [0.2, 0.8, 0.1, ...]</a:t>
            </a:r>
            <a:endParaRPr sz="1000">
              <a:latin typeface="Calibri"/>
              <a:ea typeface="Calibri"/>
              <a:cs typeface="Calibri"/>
              <a:sym typeface="Calibri"/>
            </a:endParaRPr>
          </a:p>
          <a:p>
            <a:pPr indent="0" lvl="0" marL="12700" rtl="0" algn="l">
              <a:lnSpc>
                <a:spcPct val="100000"/>
              </a:lnSpc>
              <a:spcBef>
                <a:spcPts val="5"/>
              </a:spcBef>
              <a:spcAft>
                <a:spcPts val="0"/>
              </a:spcAft>
              <a:buNone/>
            </a:pPr>
            <a:r>
              <a:rPr lang="en-US" sz="1000">
                <a:solidFill>
                  <a:srgbClr val="545454"/>
                </a:solidFill>
                <a:latin typeface="Calibri"/>
                <a:ea typeface="Calibri"/>
                <a:cs typeface="Calibri"/>
                <a:sym typeface="Calibri"/>
              </a:rPr>
              <a:t>same vector in every sentence</a:t>
            </a:r>
            <a:endParaRPr sz="1000">
              <a:latin typeface="Calibri"/>
              <a:ea typeface="Calibri"/>
              <a:cs typeface="Calibri"/>
              <a:sym typeface="Calibri"/>
            </a:endParaRPr>
          </a:p>
        </p:txBody>
      </p:sp>
      <p:sp>
        <p:nvSpPr>
          <p:cNvPr id="933" name="Google Shape;933;p28"/>
          <p:cNvSpPr txBox="1"/>
          <p:nvPr/>
        </p:nvSpPr>
        <p:spPr>
          <a:xfrm>
            <a:off x="4833264" y="3882150"/>
            <a:ext cx="1842770" cy="483234"/>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000">
                <a:solidFill>
                  <a:srgbClr val="545454"/>
                </a:solidFill>
                <a:latin typeface="Calibri"/>
                <a:ea typeface="Calibri"/>
                <a:cs typeface="Calibri"/>
                <a:sym typeface="Calibri"/>
              </a:rPr>
              <a:t>ELMo</a:t>
            </a:r>
            <a:endParaRPr sz="1000">
              <a:latin typeface="Calibri"/>
              <a:ea typeface="Calibri"/>
              <a:cs typeface="Calibri"/>
              <a:sym typeface="Calibri"/>
            </a:endParaRPr>
          </a:p>
          <a:p>
            <a:pPr indent="0" lvl="0" marL="12700" rtl="0" algn="l">
              <a:lnSpc>
                <a:spcPct val="100000"/>
              </a:lnSpc>
              <a:spcBef>
                <a:spcPts val="0"/>
              </a:spcBef>
              <a:spcAft>
                <a:spcPts val="0"/>
              </a:spcAft>
              <a:buNone/>
            </a:pPr>
            <a:r>
              <a:rPr lang="en-US" sz="1000">
                <a:solidFill>
                  <a:srgbClr val="545454"/>
                </a:solidFill>
                <a:latin typeface="Calibri"/>
                <a:ea typeface="Calibri"/>
                <a:cs typeface="Calibri"/>
                <a:sym typeface="Calibri"/>
              </a:rPr>
              <a:t>"bank" (money) → [0.2, 0.8, 0.1, ...]</a:t>
            </a:r>
            <a:endParaRPr sz="1000">
              <a:latin typeface="Calibri"/>
              <a:ea typeface="Calibri"/>
              <a:cs typeface="Calibri"/>
              <a:sym typeface="Calibri"/>
            </a:endParaRPr>
          </a:p>
          <a:p>
            <a:pPr indent="0" lvl="0" marL="12700" rtl="0" algn="l">
              <a:lnSpc>
                <a:spcPct val="100000"/>
              </a:lnSpc>
              <a:spcBef>
                <a:spcPts val="5"/>
              </a:spcBef>
              <a:spcAft>
                <a:spcPts val="0"/>
              </a:spcAft>
              <a:buNone/>
            </a:pPr>
            <a:r>
              <a:rPr lang="en-US" sz="1000">
                <a:solidFill>
                  <a:srgbClr val="545454"/>
                </a:solidFill>
                <a:latin typeface="Calibri"/>
                <a:ea typeface="Calibri"/>
                <a:cs typeface="Calibri"/>
                <a:sym typeface="Calibri"/>
              </a:rPr>
              <a:t>"bank" (river) → [0.7, 0.1, 0.9, ...]</a:t>
            </a:r>
            <a:endParaRPr sz="1000">
              <a:latin typeface="Calibri"/>
              <a:ea typeface="Calibri"/>
              <a:cs typeface="Calibri"/>
              <a:sym typeface="Calibri"/>
            </a:endParaRPr>
          </a:p>
        </p:txBody>
      </p:sp>
      <p:sp>
        <p:nvSpPr>
          <p:cNvPr id="934" name="Google Shape;934;p28"/>
          <p:cNvSpPr txBox="1"/>
          <p:nvPr/>
        </p:nvSpPr>
        <p:spPr>
          <a:xfrm>
            <a:off x="444144" y="4735349"/>
            <a:ext cx="7978775" cy="327660"/>
          </a:xfrm>
          <a:prstGeom prst="rect">
            <a:avLst/>
          </a:prstGeom>
          <a:noFill/>
          <a:ln>
            <a:noFill/>
          </a:ln>
        </p:spPr>
        <p:txBody>
          <a:bodyPr anchorCtr="0" anchor="t" bIns="0" lIns="0" spcFirstLastPara="1" rIns="0" wrap="square" tIns="19675">
            <a:spAutoFit/>
          </a:bodyPr>
          <a:lstStyle/>
          <a:p>
            <a:pPr indent="0" lvl="0" marL="12700" marR="5080" rtl="0" algn="l">
              <a:lnSpc>
                <a:spcPct val="117999"/>
              </a:lnSpc>
              <a:spcBef>
                <a:spcPts val="0"/>
              </a:spcBef>
              <a:spcAft>
                <a:spcPts val="0"/>
              </a:spcAft>
              <a:buNone/>
            </a:pPr>
            <a:r>
              <a:rPr i="1" lang="en-US" sz="1000">
                <a:solidFill>
                  <a:srgbClr val="545454"/>
                </a:solidFill>
                <a:latin typeface="Cambria"/>
                <a:ea typeface="Cambria"/>
                <a:cs typeface="Cambria"/>
                <a:sym typeface="Cambria"/>
              </a:rPr>
              <a:t>ELMo's contextual embeddings were a major leap, but its sequential BiLSTM bottleneck motivated Transformers (BERT), which achieve full bidirectionality in parallel.</a:t>
            </a:r>
            <a:endParaRPr sz="1000">
              <a:latin typeface="Cambria"/>
              <a:ea typeface="Cambria"/>
              <a:cs typeface="Cambria"/>
              <a:sym typeface="Cambria"/>
            </a:endParaRPr>
          </a:p>
        </p:txBody>
      </p:sp>
      <p:sp>
        <p:nvSpPr>
          <p:cNvPr id="935" name="Google Shape;935;p28"/>
          <p:cNvSpPr txBox="1"/>
          <p:nvPr/>
        </p:nvSpPr>
        <p:spPr>
          <a:xfrm>
            <a:off x="8957056" y="4888701"/>
            <a:ext cx="154305" cy="1784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000">
                <a:solidFill>
                  <a:srgbClr val="63738A"/>
                </a:solidFill>
                <a:latin typeface="Calibri"/>
                <a:ea typeface="Calibri"/>
                <a:cs typeface="Calibri"/>
                <a:sym typeface="Calibri"/>
              </a:rPr>
              <a:t>28</a:t>
            </a:r>
            <a:endParaRPr sz="1000">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descr="$PPTXTitle" id="940" name="Google Shape;940;p29"/>
          <p:cNvSpPr txBox="1"/>
          <p:nvPr>
            <p:ph type="title"/>
          </p:nvPr>
        </p:nvSpPr>
        <p:spPr>
          <a:xfrm>
            <a:off x="416064" y="209780"/>
            <a:ext cx="7198995" cy="3759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300"/>
              <a:t>What Can RNNs and LSTMs Do? Four Input-Output Patterns</a:t>
            </a:r>
            <a:endParaRPr sz="2300"/>
          </a:p>
        </p:txBody>
      </p:sp>
      <p:pic>
        <p:nvPicPr>
          <p:cNvPr id="941" name="Google Shape;941;p29"/>
          <p:cNvPicPr preferRelativeResize="0"/>
          <p:nvPr/>
        </p:nvPicPr>
        <p:blipFill rotWithShape="1">
          <a:blip r:embed="rId3">
            <a:alphaModFix/>
          </a:blip>
          <a:srcRect b="0" l="0" r="0" t="0"/>
          <a:stretch/>
        </p:blipFill>
        <p:spPr>
          <a:xfrm>
            <a:off x="8369274" y="14"/>
            <a:ext cx="774357" cy="866508"/>
          </a:xfrm>
          <a:prstGeom prst="rect">
            <a:avLst/>
          </a:prstGeom>
          <a:noFill/>
          <a:ln>
            <a:noFill/>
          </a:ln>
        </p:spPr>
      </p:pic>
      <p:grpSp>
        <p:nvGrpSpPr>
          <p:cNvPr id="942" name="Google Shape;942;p29"/>
          <p:cNvGrpSpPr/>
          <p:nvPr/>
        </p:nvGrpSpPr>
        <p:grpSpPr>
          <a:xfrm>
            <a:off x="354241" y="967665"/>
            <a:ext cx="2080437" cy="3424339"/>
            <a:chOff x="354241" y="967665"/>
            <a:chExt cx="2080437" cy="3424339"/>
          </a:xfrm>
        </p:grpSpPr>
        <p:pic>
          <p:nvPicPr>
            <p:cNvPr id="943" name="Google Shape;943;p29"/>
            <p:cNvPicPr preferRelativeResize="0"/>
            <p:nvPr/>
          </p:nvPicPr>
          <p:blipFill rotWithShape="1">
            <a:blip r:embed="rId4">
              <a:alphaModFix/>
            </a:blip>
            <a:srcRect b="0" l="0" r="0" t="0"/>
            <a:stretch/>
          </p:blipFill>
          <p:spPr>
            <a:xfrm>
              <a:off x="354241" y="967665"/>
              <a:ext cx="2080437" cy="3424339"/>
            </a:xfrm>
            <a:prstGeom prst="rect">
              <a:avLst/>
            </a:prstGeom>
            <a:noFill/>
            <a:ln>
              <a:noFill/>
            </a:ln>
          </p:spPr>
        </p:pic>
        <p:sp>
          <p:nvSpPr>
            <p:cNvPr id="944" name="Google Shape;944;p29"/>
            <p:cNvSpPr/>
            <p:nvPr/>
          </p:nvSpPr>
          <p:spPr>
            <a:xfrm>
              <a:off x="411124" y="1005486"/>
              <a:ext cx="1966595" cy="3310890"/>
            </a:xfrm>
            <a:custGeom>
              <a:rect b="b" l="l" r="r" t="t"/>
              <a:pathLst>
                <a:path extrusionOk="0" h="3310890" w="1966595">
                  <a:moveTo>
                    <a:pt x="118440" y="0"/>
                  </a:moveTo>
                  <a:lnTo>
                    <a:pt x="73279" y="8958"/>
                  </a:lnTo>
                  <a:lnTo>
                    <a:pt x="34956" y="34599"/>
                  </a:lnTo>
                  <a:lnTo>
                    <a:pt x="9313" y="72916"/>
                  </a:lnTo>
                  <a:lnTo>
                    <a:pt x="355" y="118071"/>
                  </a:lnTo>
                  <a:lnTo>
                    <a:pt x="0" y="3192475"/>
                  </a:lnTo>
                  <a:lnTo>
                    <a:pt x="1006" y="3207978"/>
                  </a:lnTo>
                  <a:lnTo>
                    <a:pt x="15836" y="3251517"/>
                  </a:lnTo>
                  <a:lnTo>
                    <a:pt x="46156" y="3286087"/>
                  </a:lnTo>
                  <a:lnTo>
                    <a:pt x="87474" y="3306549"/>
                  </a:lnTo>
                  <a:lnTo>
                    <a:pt x="118071" y="3310559"/>
                  </a:lnTo>
                  <a:lnTo>
                    <a:pt x="1848230" y="3310559"/>
                  </a:lnTo>
                  <a:lnTo>
                    <a:pt x="1893392" y="3301590"/>
                  </a:lnTo>
                  <a:lnTo>
                    <a:pt x="1931714" y="3275947"/>
                  </a:lnTo>
                  <a:lnTo>
                    <a:pt x="1957357" y="3237636"/>
                  </a:lnTo>
                  <a:lnTo>
                    <a:pt x="1966315" y="3192475"/>
                  </a:lnTo>
                  <a:lnTo>
                    <a:pt x="1966291" y="118071"/>
                  </a:lnTo>
                  <a:lnTo>
                    <a:pt x="1957357" y="73279"/>
                  </a:lnTo>
                  <a:lnTo>
                    <a:pt x="1931714" y="34956"/>
                  </a:lnTo>
                  <a:lnTo>
                    <a:pt x="1893392" y="9313"/>
                  </a:lnTo>
                  <a:lnTo>
                    <a:pt x="1848230" y="355"/>
                  </a:lnTo>
                  <a:lnTo>
                    <a:pt x="11844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45" name="Google Shape;945;p29"/>
            <p:cNvSpPr/>
            <p:nvPr/>
          </p:nvSpPr>
          <p:spPr>
            <a:xfrm>
              <a:off x="411124" y="1005486"/>
              <a:ext cx="1966595" cy="3310890"/>
            </a:xfrm>
            <a:custGeom>
              <a:rect b="b" l="l" r="r" t="t"/>
              <a:pathLst>
                <a:path extrusionOk="0" h="3310890" w="1966595">
                  <a:moveTo>
                    <a:pt x="355" y="118071"/>
                  </a:moveTo>
                  <a:lnTo>
                    <a:pt x="1362" y="102570"/>
                  </a:lnTo>
                  <a:lnTo>
                    <a:pt x="4359" y="87474"/>
                  </a:lnTo>
                  <a:lnTo>
                    <a:pt x="24815" y="46156"/>
                  </a:lnTo>
                  <a:lnTo>
                    <a:pt x="59397" y="15836"/>
                  </a:lnTo>
                  <a:lnTo>
                    <a:pt x="102937" y="1006"/>
                  </a:lnTo>
                  <a:lnTo>
                    <a:pt x="118440" y="0"/>
                  </a:lnTo>
                  <a:lnTo>
                    <a:pt x="1848230" y="355"/>
                  </a:lnTo>
                  <a:lnTo>
                    <a:pt x="1893392" y="9313"/>
                  </a:lnTo>
                  <a:lnTo>
                    <a:pt x="1931714" y="34956"/>
                  </a:lnTo>
                  <a:lnTo>
                    <a:pt x="1957357" y="73279"/>
                  </a:lnTo>
                  <a:lnTo>
                    <a:pt x="1966315" y="118440"/>
                  </a:lnTo>
                  <a:lnTo>
                    <a:pt x="1966315" y="3192475"/>
                  </a:lnTo>
                  <a:lnTo>
                    <a:pt x="1965309" y="3207978"/>
                  </a:lnTo>
                  <a:lnTo>
                    <a:pt x="1962311" y="3223077"/>
                  </a:lnTo>
                  <a:lnTo>
                    <a:pt x="1941856" y="3264390"/>
                  </a:lnTo>
                  <a:lnTo>
                    <a:pt x="1907273" y="3294710"/>
                  </a:lnTo>
                  <a:lnTo>
                    <a:pt x="1863733" y="3309551"/>
                  </a:lnTo>
                  <a:lnTo>
                    <a:pt x="1848230" y="3310559"/>
                  </a:lnTo>
                  <a:lnTo>
                    <a:pt x="118071" y="3310559"/>
                  </a:lnTo>
                  <a:lnTo>
                    <a:pt x="72916" y="3301590"/>
                  </a:lnTo>
                  <a:lnTo>
                    <a:pt x="34599" y="3275947"/>
                  </a:lnTo>
                  <a:lnTo>
                    <a:pt x="8958" y="3237636"/>
                  </a:lnTo>
                  <a:lnTo>
                    <a:pt x="0" y="3192475"/>
                  </a:lnTo>
                  <a:lnTo>
                    <a:pt x="355" y="118071"/>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46" name="Google Shape;946;p29"/>
            <p:cNvSpPr/>
            <p:nvPr/>
          </p:nvSpPr>
          <p:spPr>
            <a:xfrm>
              <a:off x="520915" y="1096926"/>
              <a:ext cx="1746885" cy="293370"/>
            </a:xfrm>
            <a:custGeom>
              <a:rect b="b" l="l" r="r" t="t"/>
              <a:pathLst>
                <a:path extrusionOk="0" h="293369" w="1746885">
                  <a:moveTo>
                    <a:pt x="88201" y="0"/>
                  </a:moveTo>
                  <a:lnTo>
                    <a:pt x="44284" y="11874"/>
                  </a:lnTo>
                  <a:lnTo>
                    <a:pt x="12242" y="43916"/>
                  </a:lnTo>
                  <a:lnTo>
                    <a:pt x="368" y="87833"/>
                  </a:lnTo>
                  <a:lnTo>
                    <a:pt x="0" y="205193"/>
                  </a:lnTo>
                  <a:lnTo>
                    <a:pt x="742" y="216715"/>
                  </a:lnTo>
                  <a:lnTo>
                    <a:pt x="18208" y="258674"/>
                  </a:lnTo>
                  <a:lnTo>
                    <a:pt x="54229" y="286353"/>
                  </a:lnTo>
                  <a:lnTo>
                    <a:pt x="87845" y="293039"/>
                  </a:lnTo>
                  <a:lnTo>
                    <a:pt x="1658886" y="293039"/>
                  </a:lnTo>
                  <a:lnTo>
                    <a:pt x="1702803" y="281152"/>
                  </a:lnTo>
                  <a:lnTo>
                    <a:pt x="1734845" y="249110"/>
                  </a:lnTo>
                  <a:lnTo>
                    <a:pt x="1746719" y="205193"/>
                  </a:lnTo>
                  <a:lnTo>
                    <a:pt x="1746696" y="87833"/>
                  </a:lnTo>
                  <a:lnTo>
                    <a:pt x="1734845" y="44272"/>
                  </a:lnTo>
                  <a:lnTo>
                    <a:pt x="1702803" y="12230"/>
                  </a:lnTo>
                  <a:lnTo>
                    <a:pt x="1658886" y="355"/>
                  </a:lnTo>
                  <a:lnTo>
                    <a:pt x="88201" y="0"/>
                  </a:lnTo>
                  <a:close/>
                </a:path>
              </a:pathLst>
            </a:custGeom>
            <a:solidFill>
              <a:srgbClr val="1D3FA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47" name="Google Shape;947;p29"/>
            <p:cNvSpPr/>
            <p:nvPr/>
          </p:nvSpPr>
          <p:spPr>
            <a:xfrm>
              <a:off x="1257122" y="1892517"/>
              <a:ext cx="274320" cy="274320"/>
            </a:xfrm>
            <a:custGeom>
              <a:rect b="b" l="l" r="r" t="t"/>
              <a:pathLst>
                <a:path extrusionOk="0" h="274319" w="274319">
                  <a:moveTo>
                    <a:pt x="246951" y="0"/>
                  </a:moveTo>
                  <a:lnTo>
                    <a:pt x="27000" y="0"/>
                  </a:lnTo>
                  <a:lnTo>
                    <a:pt x="21602" y="1447"/>
                  </a:lnTo>
                  <a:lnTo>
                    <a:pt x="11518" y="7200"/>
                  </a:lnTo>
                  <a:lnTo>
                    <a:pt x="7200" y="11163"/>
                  </a:lnTo>
                  <a:lnTo>
                    <a:pt x="1435" y="21247"/>
                  </a:lnTo>
                  <a:lnTo>
                    <a:pt x="0" y="27000"/>
                  </a:lnTo>
                  <a:lnTo>
                    <a:pt x="0" y="247319"/>
                  </a:lnTo>
                  <a:lnTo>
                    <a:pt x="27000" y="274320"/>
                  </a:lnTo>
                  <a:lnTo>
                    <a:pt x="247319" y="273964"/>
                  </a:lnTo>
                  <a:lnTo>
                    <a:pt x="274319" y="241198"/>
                  </a:lnTo>
                  <a:lnTo>
                    <a:pt x="273961" y="32766"/>
                  </a:lnTo>
                  <a:lnTo>
                    <a:pt x="246951" y="0"/>
                  </a:lnTo>
                  <a:close/>
                </a:path>
              </a:pathLst>
            </a:custGeom>
            <a:solidFill>
              <a:srgbClr val="E9F6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48" name="Google Shape;948;p29"/>
            <p:cNvSpPr/>
            <p:nvPr/>
          </p:nvSpPr>
          <p:spPr>
            <a:xfrm>
              <a:off x="1257122" y="1892517"/>
              <a:ext cx="274320" cy="274320"/>
            </a:xfrm>
            <a:custGeom>
              <a:rect b="b" l="l" r="r" t="t"/>
              <a:pathLst>
                <a:path extrusionOk="0" h="274319" w="274319">
                  <a:moveTo>
                    <a:pt x="0" y="32766"/>
                  </a:moveTo>
                  <a:lnTo>
                    <a:pt x="0" y="27000"/>
                  </a:lnTo>
                  <a:lnTo>
                    <a:pt x="1435" y="21247"/>
                  </a:lnTo>
                  <a:lnTo>
                    <a:pt x="27000" y="0"/>
                  </a:lnTo>
                  <a:lnTo>
                    <a:pt x="32753" y="0"/>
                  </a:lnTo>
                  <a:lnTo>
                    <a:pt x="241198" y="0"/>
                  </a:lnTo>
                  <a:lnTo>
                    <a:pt x="246951" y="0"/>
                  </a:lnTo>
                  <a:lnTo>
                    <a:pt x="252717" y="1447"/>
                  </a:lnTo>
                  <a:lnTo>
                    <a:pt x="257759" y="4318"/>
                  </a:lnTo>
                  <a:lnTo>
                    <a:pt x="262801" y="7200"/>
                  </a:lnTo>
                  <a:lnTo>
                    <a:pt x="266763" y="11518"/>
                  </a:lnTo>
                  <a:lnTo>
                    <a:pt x="269633" y="16560"/>
                  </a:lnTo>
                  <a:lnTo>
                    <a:pt x="272516" y="21602"/>
                  </a:lnTo>
                  <a:lnTo>
                    <a:pt x="273951" y="27000"/>
                  </a:lnTo>
                  <a:lnTo>
                    <a:pt x="273951" y="32766"/>
                  </a:lnTo>
                  <a:lnTo>
                    <a:pt x="274319" y="241198"/>
                  </a:lnTo>
                  <a:lnTo>
                    <a:pt x="274319" y="246964"/>
                  </a:lnTo>
                  <a:lnTo>
                    <a:pt x="272872" y="252730"/>
                  </a:lnTo>
                  <a:lnTo>
                    <a:pt x="247319" y="273964"/>
                  </a:lnTo>
                  <a:lnTo>
                    <a:pt x="241553" y="273964"/>
                  </a:lnTo>
                  <a:lnTo>
                    <a:pt x="32753" y="274320"/>
                  </a:lnTo>
                  <a:lnTo>
                    <a:pt x="27000" y="274320"/>
                  </a:lnTo>
                  <a:lnTo>
                    <a:pt x="21234" y="272884"/>
                  </a:lnTo>
                  <a:lnTo>
                    <a:pt x="16192" y="270002"/>
                  </a:lnTo>
                  <a:lnTo>
                    <a:pt x="11163" y="267119"/>
                  </a:lnTo>
                  <a:lnTo>
                    <a:pt x="7200" y="262801"/>
                  </a:lnTo>
                  <a:lnTo>
                    <a:pt x="4317" y="257759"/>
                  </a:lnTo>
                  <a:lnTo>
                    <a:pt x="1435" y="252730"/>
                  </a:lnTo>
                  <a:lnTo>
                    <a:pt x="0" y="247319"/>
                  </a:lnTo>
                  <a:lnTo>
                    <a:pt x="0" y="241566"/>
                  </a:lnTo>
                  <a:lnTo>
                    <a:pt x="0" y="32766"/>
                  </a:lnTo>
                  <a:close/>
                </a:path>
              </a:pathLst>
            </a:custGeom>
            <a:noFill/>
            <a:ln cap="flat" cmpd="sng" w="15825">
              <a:solidFill>
                <a:srgbClr val="147F3C"/>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49" name="Google Shape;949;p29"/>
            <p:cNvSpPr/>
            <p:nvPr/>
          </p:nvSpPr>
          <p:spPr>
            <a:xfrm>
              <a:off x="1257122" y="2303997"/>
              <a:ext cx="274320" cy="274320"/>
            </a:xfrm>
            <a:custGeom>
              <a:rect b="b" l="l" r="r" t="t"/>
              <a:pathLst>
                <a:path extrusionOk="0" h="274319" w="274319">
                  <a:moveTo>
                    <a:pt x="246951" y="0"/>
                  </a:moveTo>
                  <a:lnTo>
                    <a:pt x="27000" y="0"/>
                  </a:lnTo>
                  <a:lnTo>
                    <a:pt x="21602" y="1447"/>
                  </a:lnTo>
                  <a:lnTo>
                    <a:pt x="11518" y="7200"/>
                  </a:lnTo>
                  <a:lnTo>
                    <a:pt x="7200" y="11163"/>
                  </a:lnTo>
                  <a:lnTo>
                    <a:pt x="1435" y="21247"/>
                  </a:lnTo>
                  <a:lnTo>
                    <a:pt x="0" y="27000"/>
                  </a:lnTo>
                  <a:lnTo>
                    <a:pt x="0" y="247319"/>
                  </a:lnTo>
                  <a:lnTo>
                    <a:pt x="27000" y="274319"/>
                  </a:lnTo>
                  <a:lnTo>
                    <a:pt x="247319" y="273964"/>
                  </a:lnTo>
                  <a:lnTo>
                    <a:pt x="274319" y="241198"/>
                  </a:lnTo>
                  <a:lnTo>
                    <a:pt x="273961" y="32766"/>
                  </a:lnTo>
                  <a:lnTo>
                    <a:pt x="246951" y="0"/>
                  </a:lnTo>
                  <a:close/>
                </a:path>
              </a:pathLst>
            </a:custGeom>
            <a:solidFill>
              <a:srgbClr val="FFF0E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50" name="Google Shape;950;p29"/>
            <p:cNvSpPr/>
            <p:nvPr/>
          </p:nvSpPr>
          <p:spPr>
            <a:xfrm>
              <a:off x="1257122" y="2303997"/>
              <a:ext cx="274320" cy="274320"/>
            </a:xfrm>
            <a:custGeom>
              <a:rect b="b" l="l" r="r" t="t"/>
              <a:pathLst>
                <a:path extrusionOk="0" h="274319" w="274319">
                  <a:moveTo>
                    <a:pt x="0" y="32766"/>
                  </a:moveTo>
                  <a:lnTo>
                    <a:pt x="0" y="27000"/>
                  </a:lnTo>
                  <a:lnTo>
                    <a:pt x="1435" y="21247"/>
                  </a:lnTo>
                  <a:lnTo>
                    <a:pt x="27000" y="0"/>
                  </a:lnTo>
                  <a:lnTo>
                    <a:pt x="32753" y="0"/>
                  </a:lnTo>
                  <a:lnTo>
                    <a:pt x="241198" y="0"/>
                  </a:lnTo>
                  <a:lnTo>
                    <a:pt x="246951" y="0"/>
                  </a:lnTo>
                  <a:lnTo>
                    <a:pt x="252717" y="1447"/>
                  </a:lnTo>
                  <a:lnTo>
                    <a:pt x="257759" y="4318"/>
                  </a:lnTo>
                  <a:lnTo>
                    <a:pt x="262801" y="7200"/>
                  </a:lnTo>
                  <a:lnTo>
                    <a:pt x="266763" y="11518"/>
                  </a:lnTo>
                  <a:lnTo>
                    <a:pt x="269633" y="16560"/>
                  </a:lnTo>
                  <a:lnTo>
                    <a:pt x="272516" y="21602"/>
                  </a:lnTo>
                  <a:lnTo>
                    <a:pt x="273951" y="27000"/>
                  </a:lnTo>
                  <a:lnTo>
                    <a:pt x="273951" y="32766"/>
                  </a:lnTo>
                  <a:lnTo>
                    <a:pt x="274319" y="241198"/>
                  </a:lnTo>
                  <a:lnTo>
                    <a:pt x="274319" y="246964"/>
                  </a:lnTo>
                  <a:lnTo>
                    <a:pt x="272872" y="252730"/>
                  </a:lnTo>
                  <a:lnTo>
                    <a:pt x="270001" y="257759"/>
                  </a:lnTo>
                  <a:lnTo>
                    <a:pt x="267119" y="262801"/>
                  </a:lnTo>
                  <a:lnTo>
                    <a:pt x="262801" y="266763"/>
                  </a:lnTo>
                  <a:lnTo>
                    <a:pt x="257759" y="269646"/>
                  </a:lnTo>
                  <a:lnTo>
                    <a:pt x="252717" y="272529"/>
                  </a:lnTo>
                  <a:lnTo>
                    <a:pt x="247319" y="273964"/>
                  </a:lnTo>
                  <a:lnTo>
                    <a:pt x="241553" y="273964"/>
                  </a:lnTo>
                  <a:lnTo>
                    <a:pt x="32753" y="274319"/>
                  </a:lnTo>
                  <a:lnTo>
                    <a:pt x="27000" y="274319"/>
                  </a:lnTo>
                  <a:lnTo>
                    <a:pt x="21234" y="272884"/>
                  </a:lnTo>
                  <a:lnTo>
                    <a:pt x="16192" y="270002"/>
                  </a:lnTo>
                  <a:lnTo>
                    <a:pt x="11163" y="267119"/>
                  </a:lnTo>
                  <a:lnTo>
                    <a:pt x="7200" y="262801"/>
                  </a:lnTo>
                  <a:lnTo>
                    <a:pt x="4317" y="257759"/>
                  </a:lnTo>
                  <a:lnTo>
                    <a:pt x="1435" y="252730"/>
                  </a:lnTo>
                  <a:lnTo>
                    <a:pt x="0" y="247319"/>
                  </a:lnTo>
                  <a:lnTo>
                    <a:pt x="0" y="241566"/>
                  </a:lnTo>
                  <a:lnTo>
                    <a:pt x="0" y="32766"/>
                  </a:lnTo>
                  <a:close/>
                </a:path>
              </a:pathLst>
            </a:custGeom>
            <a:noFill/>
            <a:ln cap="flat" cmpd="sng" w="15825">
              <a:solidFill>
                <a:srgbClr val="C1400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951" name="Google Shape;951;p29"/>
            <p:cNvPicPr preferRelativeResize="0"/>
            <p:nvPr/>
          </p:nvPicPr>
          <p:blipFill rotWithShape="1">
            <a:blip r:embed="rId5">
              <a:alphaModFix/>
            </a:blip>
            <a:srcRect b="0" l="0" r="0" t="0"/>
            <a:stretch/>
          </p:blipFill>
          <p:spPr>
            <a:xfrm>
              <a:off x="1353235" y="2171524"/>
              <a:ext cx="82448" cy="118795"/>
            </a:xfrm>
            <a:prstGeom prst="rect">
              <a:avLst/>
            </a:prstGeom>
            <a:noFill/>
            <a:ln>
              <a:noFill/>
            </a:ln>
          </p:spPr>
        </p:pic>
        <p:sp>
          <p:nvSpPr>
            <p:cNvPr id="952" name="Google Shape;952;p29"/>
            <p:cNvSpPr/>
            <p:nvPr/>
          </p:nvSpPr>
          <p:spPr>
            <a:xfrm>
              <a:off x="1257122" y="1481037"/>
              <a:ext cx="274320" cy="274320"/>
            </a:xfrm>
            <a:custGeom>
              <a:rect b="b" l="l" r="r" t="t"/>
              <a:pathLst>
                <a:path extrusionOk="0" h="274319" w="274319">
                  <a:moveTo>
                    <a:pt x="246951" y="0"/>
                  </a:moveTo>
                  <a:lnTo>
                    <a:pt x="27000" y="0"/>
                  </a:lnTo>
                  <a:lnTo>
                    <a:pt x="21602" y="1447"/>
                  </a:lnTo>
                  <a:lnTo>
                    <a:pt x="11518" y="7200"/>
                  </a:lnTo>
                  <a:lnTo>
                    <a:pt x="7200" y="11163"/>
                  </a:lnTo>
                  <a:lnTo>
                    <a:pt x="1435" y="21247"/>
                  </a:lnTo>
                  <a:lnTo>
                    <a:pt x="0" y="27000"/>
                  </a:lnTo>
                  <a:lnTo>
                    <a:pt x="0" y="247319"/>
                  </a:lnTo>
                  <a:lnTo>
                    <a:pt x="27000" y="274319"/>
                  </a:lnTo>
                  <a:lnTo>
                    <a:pt x="247319" y="273964"/>
                  </a:lnTo>
                  <a:lnTo>
                    <a:pt x="274319" y="241198"/>
                  </a:lnTo>
                  <a:lnTo>
                    <a:pt x="273961" y="32765"/>
                  </a:lnTo>
                  <a:lnTo>
                    <a:pt x="246951" y="0"/>
                  </a:lnTo>
                  <a:close/>
                </a:path>
              </a:pathLst>
            </a:custGeom>
            <a:solidFill>
              <a:srgbClr val="E7ED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53" name="Google Shape;953;p29"/>
            <p:cNvSpPr/>
            <p:nvPr/>
          </p:nvSpPr>
          <p:spPr>
            <a:xfrm>
              <a:off x="1257122" y="1481037"/>
              <a:ext cx="274320" cy="274320"/>
            </a:xfrm>
            <a:custGeom>
              <a:rect b="b" l="l" r="r" t="t"/>
              <a:pathLst>
                <a:path extrusionOk="0" h="274319" w="274319">
                  <a:moveTo>
                    <a:pt x="0" y="32765"/>
                  </a:moveTo>
                  <a:lnTo>
                    <a:pt x="0" y="27000"/>
                  </a:lnTo>
                  <a:lnTo>
                    <a:pt x="1435" y="21247"/>
                  </a:lnTo>
                  <a:lnTo>
                    <a:pt x="27000" y="0"/>
                  </a:lnTo>
                  <a:lnTo>
                    <a:pt x="32753" y="0"/>
                  </a:lnTo>
                  <a:lnTo>
                    <a:pt x="241198" y="0"/>
                  </a:lnTo>
                  <a:lnTo>
                    <a:pt x="246951" y="0"/>
                  </a:lnTo>
                  <a:lnTo>
                    <a:pt x="252717" y="1447"/>
                  </a:lnTo>
                  <a:lnTo>
                    <a:pt x="257759" y="4317"/>
                  </a:lnTo>
                  <a:lnTo>
                    <a:pt x="262801" y="7200"/>
                  </a:lnTo>
                  <a:lnTo>
                    <a:pt x="266763" y="11518"/>
                  </a:lnTo>
                  <a:lnTo>
                    <a:pt x="269633" y="16560"/>
                  </a:lnTo>
                  <a:lnTo>
                    <a:pt x="272516" y="21602"/>
                  </a:lnTo>
                  <a:lnTo>
                    <a:pt x="273951" y="27000"/>
                  </a:lnTo>
                  <a:lnTo>
                    <a:pt x="273951" y="32765"/>
                  </a:lnTo>
                  <a:lnTo>
                    <a:pt x="274319" y="241198"/>
                  </a:lnTo>
                  <a:lnTo>
                    <a:pt x="274319" y="246964"/>
                  </a:lnTo>
                  <a:lnTo>
                    <a:pt x="272872" y="252729"/>
                  </a:lnTo>
                  <a:lnTo>
                    <a:pt x="270001" y="257759"/>
                  </a:lnTo>
                  <a:lnTo>
                    <a:pt x="267119" y="262801"/>
                  </a:lnTo>
                  <a:lnTo>
                    <a:pt x="262801" y="266763"/>
                  </a:lnTo>
                  <a:lnTo>
                    <a:pt x="257759" y="269646"/>
                  </a:lnTo>
                  <a:lnTo>
                    <a:pt x="252717" y="272529"/>
                  </a:lnTo>
                  <a:lnTo>
                    <a:pt x="247319" y="273964"/>
                  </a:lnTo>
                  <a:lnTo>
                    <a:pt x="241553" y="273964"/>
                  </a:lnTo>
                  <a:lnTo>
                    <a:pt x="32753" y="274319"/>
                  </a:lnTo>
                  <a:lnTo>
                    <a:pt x="27000" y="274319"/>
                  </a:lnTo>
                  <a:lnTo>
                    <a:pt x="21234" y="272884"/>
                  </a:lnTo>
                  <a:lnTo>
                    <a:pt x="16192" y="270001"/>
                  </a:lnTo>
                  <a:lnTo>
                    <a:pt x="11163" y="267119"/>
                  </a:lnTo>
                  <a:lnTo>
                    <a:pt x="7200" y="262801"/>
                  </a:lnTo>
                  <a:lnTo>
                    <a:pt x="4317" y="257759"/>
                  </a:lnTo>
                  <a:lnTo>
                    <a:pt x="1435" y="252729"/>
                  </a:lnTo>
                  <a:lnTo>
                    <a:pt x="0" y="247319"/>
                  </a:lnTo>
                  <a:lnTo>
                    <a:pt x="0" y="241566"/>
                  </a:lnTo>
                  <a:lnTo>
                    <a:pt x="0" y="32765"/>
                  </a:lnTo>
                  <a:close/>
                </a:path>
              </a:pathLst>
            </a:custGeom>
            <a:noFill/>
            <a:ln cap="flat" cmpd="sng" w="15825">
              <a:solidFill>
                <a:srgbClr val="1D3FAE"/>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954" name="Google Shape;954;p29"/>
            <p:cNvPicPr preferRelativeResize="0"/>
            <p:nvPr/>
          </p:nvPicPr>
          <p:blipFill rotWithShape="1">
            <a:blip r:embed="rId6">
              <a:alphaModFix/>
            </a:blip>
            <a:srcRect b="0" l="0" r="0" t="0"/>
            <a:stretch/>
          </p:blipFill>
          <p:spPr>
            <a:xfrm>
              <a:off x="1353235" y="1760044"/>
              <a:ext cx="82448" cy="118795"/>
            </a:xfrm>
            <a:prstGeom prst="rect">
              <a:avLst/>
            </a:prstGeom>
            <a:noFill/>
            <a:ln>
              <a:noFill/>
            </a:ln>
          </p:spPr>
        </p:pic>
      </p:grpSp>
      <p:sp>
        <p:nvSpPr>
          <p:cNvPr id="955" name="Google Shape;955;p29"/>
          <p:cNvSpPr txBox="1"/>
          <p:nvPr/>
        </p:nvSpPr>
        <p:spPr>
          <a:xfrm>
            <a:off x="526935" y="2598741"/>
            <a:ext cx="1663700" cy="1374775"/>
          </a:xfrm>
          <a:prstGeom prst="rect">
            <a:avLst/>
          </a:prstGeom>
          <a:noFill/>
          <a:ln>
            <a:noFill/>
          </a:ln>
        </p:spPr>
        <p:txBody>
          <a:bodyPr anchorCtr="0" anchor="t" bIns="0" lIns="0" spcFirstLastPara="1" rIns="0" wrap="square" tIns="87625">
            <a:spAutoFit/>
          </a:bodyPr>
          <a:lstStyle/>
          <a:p>
            <a:pPr indent="0" lvl="0" marL="316230" rtl="0" algn="l">
              <a:lnSpc>
                <a:spcPct val="100000"/>
              </a:lnSpc>
              <a:spcBef>
                <a:spcPts val="0"/>
              </a:spcBef>
              <a:spcAft>
                <a:spcPts val="0"/>
              </a:spcAft>
              <a:buNone/>
            </a:pPr>
            <a:r>
              <a:rPr b="1" lang="en-US" sz="1100">
                <a:solidFill>
                  <a:srgbClr val="1D3FAE"/>
                </a:solidFill>
                <a:latin typeface="Calibri"/>
                <a:ea typeface="Calibri"/>
                <a:cs typeface="Calibri"/>
                <a:sym typeface="Calibri"/>
              </a:rPr>
              <a:t>1 input → 1 output</a:t>
            </a:r>
            <a:endParaRPr sz="1100">
              <a:latin typeface="Calibri"/>
              <a:ea typeface="Calibri"/>
              <a:cs typeface="Calibri"/>
              <a:sym typeface="Calibri"/>
            </a:endParaRPr>
          </a:p>
          <a:p>
            <a:pPr indent="-168910" lvl="0" marL="181610" rtl="0" algn="l">
              <a:lnSpc>
                <a:spcPct val="100000"/>
              </a:lnSpc>
              <a:spcBef>
                <a:spcPts val="560"/>
              </a:spcBef>
              <a:spcAft>
                <a:spcPts val="0"/>
              </a:spcAft>
              <a:buClr>
                <a:srgbClr val="1E2836"/>
              </a:buClr>
              <a:buSzPts val="1050"/>
              <a:buFont typeface="Helvetica Neue"/>
              <a:buChar char="•"/>
            </a:pPr>
            <a:r>
              <a:rPr lang="en-US" sz="1050">
                <a:solidFill>
                  <a:srgbClr val="1E2836"/>
                </a:solidFill>
                <a:latin typeface="Calibri"/>
                <a:ea typeface="Calibri"/>
                <a:cs typeface="Calibri"/>
                <a:sym typeface="Calibri"/>
              </a:rPr>
              <a:t>Image → "cat" or "dog"</a:t>
            </a:r>
            <a:endParaRPr sz="1050">
              <a:latin typeface="Calibri"/>
              <a:ea typeface="Calibri"/>
              <a:cs typeface="Calibri"/>
              <a:sym typeface="Calibri"/>
            </a:endParaRPr>
          </a:p>
          <a:p>
            <a:pPr indent="-168910" lvl="0" marL="180975" marR="225425" rtl="0" algn="l">
              <a:lnSpc>
                <a:spcPct val="100000"/>
              </a:lnSpc>
              <a:spcBef>
                <a:spcPts val="290"/>
              </a:spcBef>
              <a:spcAft>
                <a:spcPts val="0"/>
              </a:spcAft>
              <a:buClr>
                <a:srgbClr val="1E2836"/>
              </a:buClr>
              <a:buSzPts val="1050"/>
              <a:buFont typeface="Helvetica Neue"/>
              <a:buChar char="•"/>
            </a:pPr>
            <a:r>
              <a:rPr lang="en-US" sz="1050">
                <a:solidFill>
                  <a:srgbClr val="1E2836"/>
                </a:solidFill>
                <a:latin typeface="Calibri"/>
                <a:ea typeface="Calibri"/>
                <a:cs typeface="Calibri"/>
                <a:sym typeface="Calibri"/>
              </a:rPr>
              <a:t>Loan form → approve / 	reject</a:t>
            </a:r>
            <a:endParaRPr sz="1050">
              <a:latin typeface="Calibri"/>
              <a:ea typeface="Calibri"/>
              <a:cs typeface="Calibri"/>
              <a:sym typeface="Calibri"/>
            </a:endParaRPr>
          </a:p>
          <a:p>
            <a:pPr indent="0" lvl="0" marL="12700" marR="5080" rtl="0" algn="l">
              <a:lnSpc>
                <a:spcPct val="100000"/>
              </a:lnSpc>
              <a:spcBef>
                <a:spcPts val="490"/>
              </a:spcBef>
              <a:spcAft>
                <a:spcPts val="0"/>
              </a:spcAft>
              <a:buNone/>
            </a:pPr>
            <a:r>
              <a:rPr i="1" lang="en-US" sz="1000">
                <a:solidFill>
                  <a:srgbClr val="465468"/>
                </a:solidFill>
                <a:latin typeface="Cambria"/>
                <a:ea typeface="Cambria"/>
                <a:cs typeface="Cambria"/>
                <a:sym typeface="Cambria"/>
              </a:rPr>
              <a:t>No sequence at all: a plain feed-forward net or CNN does this. Our baseline.</a:t>
            </a:r>
            <a:endParaRPr sz="1000">
              <a:latin typeface="Cambria"/>
              <a:ea typeface="Cambria"/>
              <a:cs typeface="Cambria"/>
              <a:sym typeface="Cambria"/>
            </a:endParaRPr>
          </a:p>
        </p:txBody>
      </p:sp>
      <p:grpSp>
        <p:nvGrpSpPr>
          <p:cNvPr id="956" name="Google Shape;956;p29"/>
          <p:cNvGrpSpPr/>
          <p:nvPr/>
        </p:nvGrpSpPr>
        <p:grpSpPr>
          <a:xfrm>
            <a:off x="2472842" y="967665"/>
            <a:ext cx="2080437" cy="3424339"/>
            <a:chOff x="2472842" y="967665"/>
            <a:chExt cx="2080437" cy="3424339"/>
          </a:xfrm>
        </p:grpSpPr>
        <p:pic>
          <p:nvPicPr>
            <p:cNvPr id="957" name="Google Shape;957;p29"/>
            <p:cNvPicPr preferRelativeResize="0"/>
            <p:nvPr/>
          </p:nvPicPr>
          <p:blipFill rotWithShape="1">
            <a:blip r:embed="rId4">
              <a:alphaModFix/>
            </a:blip>
            <a:srcRect b="0" l="0" r="0" t="0"/>
            <a:stretch/>
          </p:blipFill>
          <p:spPr>
            <a:xfrm>
              <a:off x="2472842" y="967665"/>
              <a:ext cx="2080437" cy="3424339"/>
            </a:xfrm>
            <a:prstGeom prst="rect">
              <a:avLst/>
            </a:prstGeom>
            <a:noFill/>
            <a:ln>
              <a:noFill/>
            </a:ln>
          </p:spPr>
        </p:pic>
        <p:sp>
          <p:nvSpPr>
            <p:cNvPr id="958" name="Google Shape;958;p29"/>
            <p:cNvSpPr/>
            <p:nvPr/>
          </p:nvSpPr>
          <p:spPr>
            <a:xfrm>
              <a:off x="2529725" y="1005486"/>
              <a:ext cx="1966595" cy="3310890"/>
            </a:xfrm>
            <a:custGeom>
              <a:rect b="b" l="l" r="r" t="t"/>
              <a:pathLst>
                <a:path extrusionOk="0" h="3310890" w="1966595">
                  <a:moveTo>
                    <a:pt x="118440" y="0"/>
                  </a:moveTo>
                  <a:lnTo>
                    <a:pt x="73277" y="8958"/>
                  </a:lnTo>
                  <a:lnTo>
                    <a:pt x="34956" y="34599"/>
                  </a:lnTo>
                  <a:lnTo>
                    <a:pt x="9313" y="72916"/>
                  </a:lnTo>
                  <a:lnTo>
                    <a:pt x="355" y="118071"/>
                  </a:lnTo>
                  <a:lnTo>
                    <a:pt x="0" y="3192475"/>
                  </a:lnTo>
                  <a:lnTo>
                    <a:pt x="1006" y="3207978"/>
                  </a:lnTo>
                  <a:lnTo>
                    <a:pt x="15836" y="3251517"/>
                  </a:lnTo>
                  <a:lnTo>
                    <a:pt x="46156" y="3286087"/>
                  </a:lnTo>
                  <a:lnTo>
                    <a:pt x="87474" y="3306549"/>
                  </a:lnTo>
                  <a:lnTo>
                    <a:pt x="118071" y="3310559"/>
                  </a:lnTo>
                  <a:lnTo>
                    <a:pt x="1848231" y="3310559"/>
                  </a:lnTo>
                  <a:lnTo>
                    <a:pt x="1893392" y="3301590"/>
                  </a:lnTo>
                  <a:lnTo>
                    <a:pt x="1931709" y="3275947"/>
                  </a:lnTo>
                  <a:lnTo>
                    <a:pt x="1957357" y="3237636"/>
                  </a:lnTo>
                  <a:lnTo>
                    <a:pt x="1966315" y="3192475"/>
                  </a:lnTo>
                  <a:lnTo>
                    <a:pt x="1966291" y="118071"/>
                  </a:lnTo>
                  <a:lnTo>
                    <a:pt x="1957357" y="73279"/>
                  </a:lnTo>
                  <a:lnTo>
                    <a:pt x="1931709" y="34956"/>
                  </a:lnTo>
                  <a:lnTo>
                    <a:pt x="1893392" y="9313"/>
                  </a:lnTo>
                  <a:lnTo>
                    <a:pt x="1848231" y="355"/>
                  </a:lnTo>
                  <a:lnTo>
                    <a:pt x="11844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59" name="Google Shape;959;p29"/>
            <p:cNvSpPr/>
            <p:nvPr/>
          </p:nvSpPr>
          <p:spPr>
            <a:xfrm>
              <a:off x="2529725" y="1005486"/>
              <a:ext cx="1966595" cy="3310890"/>
            </a:xfrm>
            <a:custGeom>
              <a:rect b="b" l="l" r="r" t="t"/>
              <a:pathLst>
                <a:path extrusionOk="0" h="3310890" w="1966595">
                  <a:moveTo>
                    <a:pt x="355" y="118071"/>
                  </a:moveTo>
                  <a:lnTo>
                    <a:pt x="1362" y="102570"/>
                  </a:lnTo>
                  <a:lnTo>
                    <a:pt x="4359" y="87474"/>
                  </a:lnTo>
                  <a:lnTo>
                    <a:pt x="24815" y="46156"/>
                  </a:lnTo>
                  <a:lnTo>
                    <a:pt x="59397" y="15836"/>
                  </a:lnTo>
                  <a:lnTo>
                    <a:pt x="102931" y="1006"/>
                  </a:lnTo>
                  <a:lnTo>
                    <a:pt x="118440" y="0"/>
                  </a:lnTo>
                  <a:lnTo>
                    <a:pt x="1848231" y="355"/>
                  </a:lnTo>
                  <a:lnTo>
                    <a:pt x="1893392" y="9313"/>
                  </a:lnTo>
                  <a:lnTo>
                    <a:pt x="1931709" y="34956"/>
                  </a:lnTo>
                  <a:lnTo>
                    <a:pt x="1957357" y="73279"/>
                  </a:lnTo>
                  <a:lnTo>
                    <a:pt x="1966315" y="118440"/>
                  </a:lnTo>
                  <a:lnTo>
                    <a:pt x="1966315" y="3192475"/>
                  </a:lnTo>
                  <a:lnTo>
                    <a:pt x="1965309" y="3207978"/>
                  </a:lnTo>
                  <a:lnTo>
                    <a:pt x="1962311" y="3223077"/>
                  </a:lnTo>
                  <a:lnTo>
                    <a:pt x="1941854" y="3264390"/>
                  </a:lnTo>
                  <a:lnTo>
                    <a:pt x="1907273" y="3294710"/>
                  </a:lnTo>
                  <a:lnTo>
                    <a:pt x="1863733" y="3309551"/>
                  </a:lnTo>
                  <a:lnTo>
                    <a:pt x="1848231" y="3310559"/>
                  </a:lnTo>
                  <a:lnTo>
                    <a:pt x="118071" y="3310559"/>
                  </a:lnTo>
                  <a:lnTo>
                    <a:pt x="72916" y="3301590"/>
                  </a:lnTo>
                  <a:lnTo>
                    <a:pt x="34599" y="3275947"/>
                  </a:lnTo>
                  <a:lnTo>
                    <a:pt x="8958" y="3237636"/>
                  </a:lnTo>
                  <a:lnTo>
                    <a:pt x="0" y="3192475"/>
                  </a:lnTo>
                  <a:lnTo>
                    <a:pt x="355" y="118071"/>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60" name="Google Shape;960;p29"/>
            <p:cNvSpPr/>
            <p:nvPr/>
          </p:nvSpPr>
          <p:spPr>
            <a:xfrm>
              <a:off x="2639517" y="1096926"/>
              <a:ext cx="1746885" cy="293370"/>
            </a:xfrm>
            <a:custGeom>
              <a:rect b="b" l="l" r="r" t="t"/>
              <a:pathLst>
                <a:path extrusionOk="0" h="293369" w="1746885">
                  <a:moveTo>
                    <a:pt x="88201" y="0"/>
                  </a:moveTo>
                  <a:lnTo>
                    <a:pt x="44284" y="11874"/>
                  </a:lnTo>
                  <a:lnTo>
                    <a:pt x="12242" y="43916"/>
                  </a:lnTo>
                  <a:lnTo>
                    <a:pt x="368" y="87833"/>
                  </a:lnTo>
                  <a:lnTo>
                    <a:pt x="0" y="205193"/>
                  </a:lnTo>
                  <a:lnTo>
                    <a:pt x="742" y="216715"/>
                  </a:lnTo>
                  <a:lnTo>
                    <a:pt x="18208" y="258674"/>
                  </a:lnTo>
                  <a:lnTo>
                    <a:pt x="54223" y="286353"/>
                  </a:lnTo>
                  <a:lnTo>
                    <a:pt x="87845" y="293039"/>
                  </a:lnTo>
                  <a:lnTo>
                    <a:pt x="1658886" y="293039"/>
                  </a:lnTo>
                  <a:lnTo>
                    <a:pt x="1702803" y="281152"/>
                  </a:lnTo>
                  <a:lnTo>
                    <a:pt x="1734845" y="249110"/>
                  </a:lnTo>
                  <a:lnTo>
                    <a:pt x="1746719" y="205193"/>
                  </a:lnTo>
                  <a:lnTo>
                    <a:pt x="1746696" y="87833"/>
                  </a:lnTo>
                  <a:lnTo>
                    <a:pt x="1734845" y="44272"/>
                  </a:lnTo>
                  <a:lnTo>
                    <a:pt x="1702803" y="12230"/>
                  </a:lnTo>
                  <a:lnTo>
                    <a:pt x="1658886" y="355"/>
                  </a:lnTo>
                  <a:lnTo>
                    <a:pt x="88201" y="0"/>
                  </a:lnTo>
                  <a:close/>
                </a:path>
              </a:pathLst>
            </a:custGeom>
            <a:solidFill>
              <a:srgbClr val="0E756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61" name="Google Shape;961;p29"/>
            <p:cNvSpPr/>
            <p:nvPr/>
          </p:nvSpPr>
          <p:spPr>
            <a:xfrm>
              <a:off x="2918523" y="1892517"/>
              <a:ext cx="274320" cy="274320"/>
            </a:xfrm>
            <a:custGeom>
              <a:rect b="b" l="l" r="r" t="t"/>
              <a:pathLst>
                <a:path extrusionOk="0" h="274319" w="274319">
                  <a:moveTo>
                    <a:pt x="246951" y="0"/>
                  </a:moveTo>
                  <a:lnTo>
                    <a:pt x="27000" y="0"/>
                  </a:lnTo>
                  <a:lnTo>
                    <a:pt x="21602" y="1447"/>
                  </a:lnTo>
                  <a:lnTo>
                    <a:pt x="11518" y="7200"/>
                  </a:lnTo>
                  <a:lnTo>
                    <a:pt x="7200" y="11163"/>
                  </a:lnTo>
                  <a:lnTo>
                    <a:pt x="1435" y="21247"/>
                  </a:lnTo>
                  <a:lnTo>
                    <a:pt x="0" y="27000"/>
                  </a:lnTo>
                  <a:lnTo>
                    <a:pt x="0" y="247319"/>
                  </a:lnTo>
                  <a:lnTo>
                    <a:pt x="27000" y="274320"/>
                  </a:lnTo>
                  <a:lnTo>
                    <a:pt x="247319" y="273964"/>
                  </a:lnTo>
                  <a:lnTo>
                    <a:pt x="274319" y="241198"/>
                  </a:lnTo>
                  <a:lnTo>
                    <a:pt x="273961" y="32766"/>
                  </a:lnTo>
                  <a:lnTo>
                    <a:pt x="246951" y="0"/>
                  </a:lnTo>
                  <a:close/>
                </a:path>
              </a:pathLst>
            </a:custGeom>
            <a:solidFill>
              <a:srgbClr val="E9F6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62" name="Google Shape;962;p29"/>
            <p:cNvSpPr/>
            <p:nvPr/>
          </p:nvSpPr>
          <p:spPr>
            <a:xfrm>
              <a:off x="2918523" y="1892517"/>
              <a:ext cx="274320" cy="274320"/>
            </a:xfrm>
            <a:custGeom>
              <a:rect b="b" l="l" r="r" t="t"/>
              <a:pathLst>
                <a:path extrusionOk="0" h="274319" w="274319">
                  <a:moveTo>
                    <a:pt x="0" y="32766"/>
                  </a:moveTo>
                  <a:lnTo>
                    <a:pt x="0" y="27000"/>
                  </a:lnTo>
                  <a:lnTo>
                    <a:pt x="1435" y="21247"/>
                  </a:lnTo>
                  <a:lnTo>
                    <a:pt x="4318" y="16205"/>
                  </a:lnTo>
                  <a:lnTo>
                    <a:pt x="7200" y="11163"/>
                  </a:lnTo>
                  <a:lnTo>
                    <a:pt x="11518" y="7200"/>
                  </a:lnTo>
                  <a:lnTo>
                    <a:pt x="16560" y="4318"/>
                  </a:lnTo>
                  <a:lnTo>
                    <a:pt x="21602" y="1447"/>
                  </a:lnTo>
                  <a:lnTo>
                    <a:pt x="27000" y="0"/>
                  </a:lnTo>
                  <a:lnTo>
                    <a:pt x="32753" y="0"/>
                  </a:lnTo>
                  <a:lnTo>
                    <a:pt x="241198" y="0"/>
                  </a:lnTo>
                  <a:lnTo>
                    <a:pt x="246951" y="0"/>
                  </a:lnTo>
                  <a:lnTo>
                    <a:pt x="252717" y="1447"/>
                  </a:lnTo>
                  <a:lnTo>
                    <a:pt x="273951" y="27000"/>
                  </a:lnTo>
                  <a:lnTo>
                    <a:pt x="273951" y="32766"/>
                  </a:lnTo>
                  <a:lnTo>
                    <a:pt x="274319" y="241198"/>
                  </a:lnTo>
                  <a:lnTo>
                    <a:pt x="274319" y="246964"/>
                  </a:lnTo>
                  <a:lnTo>
                    <a:pt x="272872" y="252730"/>
                  </a:lnTo>
                  <a:lnTo>
                    <a:pt x="247319" y="273964"/>
                  </a:lnTo>
                  <a:lnTo>
                    <a:pt x="241553" y="273964"/>
                  </a:lnTo>
                  <a:lnTo>
                    <a:pt x="32753" y="274320"/>
                  </a:lnTo>
                  <a:lnTo>
                    <a:pt x="27000" y="274320"/>
                  </a:lnTo>
                  <a:lnTo>
                    <a:pt x="21234" y="272884"/>
                  </a:lnTo>
                  <a:lnTo>
                    <a:pt x="16192" y="270002"/>
                  </a:lnTo>
                  <a:lnTo>
                    <a:pt x="11150" y="267119"/>
                  </a:lnTo>
                  <a:lnTo>
                    <a:pt x="7200" y="262801"/>
                  </a:lnTo>
                  <a:lnTo>
                    <a:pt x="4318" y="257759"/>
                  </a:lnTo>
                  <a:lnTo>
                    <a:pt x="1435" y="252730"/>
                  </a:lnTo>
                  <a:lnTo>
                    <a:pt x="0" y="247319"/>
                  </a:lnTo>
                  <a:lnTo>
                    <a:pt x="0" y="241566"/>
                  </a:lnTo>
                  <a:lnTo>
                    <a:pt x="0" y="32766"/>
                  </a:lnTo>
                  <a:close/>
                </a:path>
              </a:pathLst>
            </a:custGeom>
            <a:noFill/>
            <a:ln cap="flat" cmpd="sng" w="15825">
              <a:solidFill>
                <a:srgbClr val="147F3C"/>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63" name="Google Shape;963;p29"/>
            <p:cNvSpPr/>
            <p:nvPr/>
          </p:nvSpPr>
          <p:spPr>
            <a:xfrm>
              <a:off x="2918523" y="2303997"/>
              <a:ext cx="274320" cy="274320"/>
            </a:xfrm>
            <a:custGeom>
              <a:rect b="b" l="l" r="r" t="t"/>
              <a:pathLst>
                <a:path extrusionOk="0" h="274319" w="274319">
                  <a:moveTo>
                    <a:pt x="246951" y="0"/>
                  </a:moveTo>
                  <a:lnTo>
                    <a:pt x="27000" y="0"/>
                  </a:lnTo>
                  <a:lnTo>
                    <a:pt x="21602" y="1447"/>
                  </a:lnTo>
                  <a:lnTo>
                    <a:pt x="11518" y="7200"/>
                  </a:lnTo>
                  <a:lnTo>
                    <a:pt x="7200" y="11163"/>
                  </a:lnTo>
                  <a:lnTo>
                    <a:pt x="1435" y="21247"/>
                  </a:lnTo>
                  <a:lnTo>
                    <a:pt x="0" y="27000"/>
                  </a:lnTo>
                  <a:lnTo>
                    <a:pt x="0" y="247319"/>
                  </a:lnTo>
                  <a:lnTo>
                    <a:pt x="27000" y="274319"/>
                  </a:lnTo>
                  <a:lnTo>
                    <a:pt x="247319" y="273964"/>
                  </a:lnTo>
                  <a:lnTo>
                    <a:pt x="274319" y="241198"/>
                  </a:lnTo>
                  <a:lnTo>
                    <a:pt x="273961" y="32766"/>
                  </a:lnTo>
                  <a:lnTo>
                    <a:pt x="246951" y="0"/>
                  </a:lnTo>
                  <a:close/>
                </a:path>
              </a:pathLst>
            </a:custGeom>
            <a:solidFill>
              <a:srgbClr val="FFF0E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64" name="Google Shape;964;p29"/>
            <p:cNvSpPr/>
            <p:nvPr/>
          </p:nvSpPr>
          <p:spPr>
            <a:xfrm>
              <a:off x="2918523" y="2303997"/>
              <a:ext cx="274320" cy="274320"/>
            </a:xfrm>
            <a:custGeom>
              <a:rect b="b" l="l" r="r" t="t"/>
              <a:pathLst>
                <a:path extrusionOk="0" h="274319" w="274319">
                  <a:moveTo>
                    <a:pt x="0" y="32766"/>
                  </a:moveTo>
                  <a:lnTo>
                    <a:pt x="0" y="27000"/>
                  </a:lnTo>
                  <a:lnTo>
                    <a:pt x="1435" y="21247"/>
                  </a:lnTo>
                  <a:lnTo>
                    <a:pt x="4318" y="16205"/>
                  </a:lnTo>
                  <a:lnTo>
                    <a:pt x="7200" y="11163"/>
                  </a:lnTo>
                  <a:lnTo>
                    <a:pt x="11518" y="7200"/>
                  </a:lnTo>
                  <a:lnTo>
                    <a:pt x="16560" y="4318"/>
                  </a:lnTo>
                  <a:lnTo>
                    <a:pt x="21602" y="1447"/>
                  </a:lnTo>
                  <a:lnTo>
                    <a:pt x="27000" y="0"/>
                  </a:lnTo>
                  <a:lnTo>
                    <a:pt x="32753" y="0"/>
                  </a:lnTo>
                  <a:lnTo>
                    <a:pt x="241198" y="0"/>
                  </a:lnTo>
                  <a:lnTo>
                    <a:pt x="246951" y="0"/>
                  </a:lnTo>
                  <a:lnTo>
                    <a:pt x="252717" y="1447"/>
                  </a:lnTo>
                  <a:lnTo>
                    <a:pt x="273951" y="27000"/>
                  </a:lnTo>
                  <a:lnTo>
                    <a:pt x="273951" y="32766"/>
                  </a:lnTo>
                  <a:lnTo>
                    <a:pt x="274319" y="241198"/>
                  </a:lnTo>
                  <a:lnTo>
                    <a:pt x="274319" y="246964"/>
                  </a:lnTo>
                  <a:lnTo>
                    <a:pt x="272872" y="252730"/>
                  </a:lnTo>
                  <a:lnTo>
                    <a:pt x="270001" y="257759"/>
                  </a:lnTo>
                  <a:lnTo>
                    <a:pt x="267119" y="262801"/>
                  </a:lnTo>
                  <a:lnTo>
                    <a:pt x="262801" y="266763"/>
                  </a:lnTo>
                  <a:lnTo>
                    <a:pt x="257759" y="269646"/>
                  </a:lnTo>
                  <a:lnTo>
                    <a:pt x="252717" y="272529"/>
                  </a:lnTo>
                  <a:lnTo>
                    <a:pt x="247319" y="273964"/>
                  </a:lnTo>
                  <a:lnTo>
                    <a:pt x="241553" y="273964"/>
                  </a:lnTo>
                  <a:lnTo>
                    <a:pt x="32753" y="274319"/>
                  </a:lnTo>
                  <a:lnTo>
                    <a:pt x="27000" y="274319"/>
                  </a:lnTo>
                  <a:lnTo>
                    <a:pt x="21234" y="272884"/>
                  </a:lnTo>
                  <a:lnTo>
                    <a:pt x="16192" y="270002"/>
                  </a:lnTo>
                  <a:lnTo>
                    <a:pt x="11150" y="267119"/>
                  </a:lnTo>
                  <a:lnTo>
                    <a:pt x="7200" y="262801"/>
                  </a:lnTo>
                  <a:lnTo>
                    <a:pt x="4318" y="257759"/>
                  </a:lnTo>
                  <a:lnTo>
                    <a:pt x="1435" y="252730"/>
                  </a:lnTo>
                  <a:lnTo>
                    <a:pt x="0" y="247319"/>
                  </a:lnTo>
                  <a:lnTo>
                    <a:pt x="0" y="241566"/>
                  </a:lnTo>
                  <a:lnTo>
                    <a:pt x="0" y="32766"/>
                  </a:lnTo>
                  <a:close/>
                </a:path>
              </a:pathLst>
            </a:custGeom>
            <a:noFill/>
            <a:ln cap="flat" cmpd="sng" w="15825">
              <a:solidFill>
                <a:srgbClr val="C1400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965" name="Google Shape;965;p29"/>
            <p:cNvPicPr preferRelativeResize="0"/>
            <p:nvPr/>
          </p:nvPicPr>
          <p:blipFill rotWithShape="1">
            <a:blip r:embed="rId7">
              <a:alphaModFix/>
            </a:blip>
            <a:srcRect b="0" l="0" r="0" t="0"/>
            <a:stretch/>
          </p:blipFill>
          <p:spPr>
            <a:xfrm>
              <a:off x="3014637" y="2171524"/>
              <a:ext cx="82448" cy="118795"/>
            </a:xfrm>
            <a:prstGeom prst="rect">
              <a:avLst/>
            </a:prstGeom>
            <a:noFill/>
            <a:ln>
              <a:noFill/>
            </a:ln>
          </p:spPr>
        </p:pic>
        <p:sp>
          <p:nvSpPr>
            <p:cNvPr id="966" name="Google Shape;966;p29"/>
            <p:cNvSpPr/>
            <p:nvPr/>
          </p:nvSpPr>
          <p:spPr>
            <a:xfrm>
              <a:off x="2918523" y="1481037"/>
              <a:ext cx="274320" cy="274320"/>
            </a:xfrm>
            <a:custGeom>
              <a:rect b="b" l="l" r="r" t="t"/>
              <a:pathLst>
                <a:path extrusionOk="0" h="274319" w="274319">
                  <a:moveTo>
                    <a:pt x="246951" y="0"/>
                  </a:moveTo>
                  <a:lnTo>
                    <a:pt x="27000" y="0"/>
                  </a:lnTo>
                  <a:lnTo>
                    <a:pt x="21602" y="1447"/>
                  </a:lnTo>
                  <a:lnTo>
                    <a:pt x="11518" y="7200"/>
                  </a:lnTo>
                  <a:lnTo>
                    <a:pt x="7200" y="11163"/>
                  </a:lnTo>
                  <a:lnTo>
                    <a:pt x="1435" y="21247"/>
                  </a:lnTo>
                  <a:lnTo>
                    <a:pt x="0" y="27000"/>
                  </a:lnTo>
                  <a:lnTo>
                    <a:pt x="0" y="247319"/>
                  </a:lnTo>
                  <a:lnTo>
                    <a:pt x="27000" y="274319"/>
                  </a:lnTo>
                  <a:lnTo>
                    <a:pt x="247319" y="273964"/>
                  </a:lnTo>
                  <a:lnTo>
                    <a:pt x="274319" y="241198"/>
                  </a:lnTo>
                  <a:lnTo>
                    <a:pt x="273961" y="32765"/>
                  </a:lnTo>
                  <a:lnTo>
                    <a:pt x="246951" y="0"/>
                  </a:lnTo>
                  <a:close/>
                </a:path>
              </a:pathLst>
            </a:custGeom>
            <a:solidFill>
              <a:srgbClr val="E7ED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67" name="Google Shape;967;p29"/>
            <p:cNvSpPr/>
            <p:nvPr/>
          </p:nvSpPr>
          <p:spPr>
            <a:xfrm>
              <a:off x="2918523" y="1481037"/>
              <a:ext cx="274320" cy="274320"/>
            </a:xfrm>
            <a:custGeom>
              <a:rect b="b" l="l" r="r" t="t"/>
              <a:pathLst>
                <a:path extrusionOk="0" h="274319" w="274319">
                  <a:moveTo>
                    <a:pt x="0" y="32765"/>
                  </a:moveTo>
                  <a:lnTo>
                    <a:pt x="0" y="27000"/>
                  </a:lnTo>
                  <a:lnTo>
                    <a:pt x="1435" y="21247"/>
                  </a:lnTo>
                  <a:lnTo>
                    <a:pt x="4318" y="16205"/>
                  </a:lnTo>
                  <a:lnTo>
                    <a:pt x="7200" y="11163"/>
                  </a:lnTo>
                  <a:lnTo>
                    <a:pt x="11518" y="7200"/>
                  </a:lnTo>
                  <a:lnTo>
                    <a:pt x="16560" y="4317"/>
                  </a:lnTo>
                  <a:lnTo>
                    <a:pt x="21602" y="1447"/>
                  </a:lnTo>
                  <a:lnTo>
                    <a:pt x="27000" y="0"/>
                  </a:lnTo>
                  <a:lnTo>
                    <a:pt x="32753" y="0"/>
                  </a:lnTo>
                  <a:lnTo>
                    <a:pt x="241198" y="0"/>
                  </a:lnTo>
                  <a:lnTo>
                    <a:pt x="246951" y="0"/>
                  </a:lnTo>
                  <a:lnTo>
                    <a:pt x="252717" y="1447"/>
                  </a:lnTo>
                  <a:lnTo>
                    <a:pt x="257759" y="4317"/>
                  </a:lnTo>
                  <a:lnTo>
                    <a:pt x="262801" y="7200"/>
                  </a:lnTo>
                  <a:lnTo>
                    <a:pt x="266750" y="11518"/>
                  </a:lnTo>
                  <a:lnTo>
                    <a:pt x="269633" y="16560"/>
                  </a:lnTo>
                  <a:lnTo>
                    <a:pt x="272516" y="21602"/>
                  </a:lnTo>
                  <a:lnTo>
                    <a:pt x="273951" y="27000"/>
                  </a:lnTo>
                  <a:lnTo>
                    <a:pt x="273951" y="32765"/>
                  </a:lnTo>
                  <a:lnTo>
                    <a:pt x="274319" y="241198"/>
                  </a:lnTo>
                  <a:lnTo>
                    <a:pt x="274319" y="246964"/>
                  </a:lnTo>
                  <a:lnTo>
                    <a:pt x="272872" y="252729"/>
                  </a:lnTo>
                  <a:lnTo>
                    <a:pt x="270001" y="257759"/>
                  </a:lnTo>
                  <a:lnTo>
                    <a:pt x="267119" y="262801"/>
                  </a:lnTo>
                  <a:lnTo>
                    <a:pt x="262801" y="266763"/>
                  </a:lnTo>
                  <a:lnTo>
                    <a:pt x="257759" y="269646"/>
                  </a:lnTo>
                  <a:lnTo>
                    <a:pt x="252717" y="272529"/>
                  </a:lnTo>
                  <a:lnTo>
                    <a:pt x="247319" y="273964"/>
                  </a:lnTo>
                  <a:lnTo>
                    <a:pt x="241553" y="273964"/>
                  </a:lnTo>
                  <a:lnTo>
                    <a:pt x="32753" y="274319"/>
                  </a:lnTo>
                  <a:lnTo>
                    <a:pt x="27000" y="274319"/>
                  </a:lnTo>
                  <a:lnTo>
                    <a:pt x="21234" y="272884"/>
                  </a:lnTo>
                  <a:lnTo>
                    <a:pt x="16192" y="270001"/>
                  </a:lnTo>
                  <a:lnTo>
                    <a:pt x="11150" y="267119"/>
                  </a:lnTo>
                  <a:lnTo>
                    <a:pt x="7200" y="262801"/>
                  </a:lnTo>
                  <a:lnTo>
                    <a:pt x="4318" y="257759"/>
                  </a:lnTo>
                  <a:lnTo>
                    <a:pt x="1435" y="252729"/>
                  </a:lnTo>
                  <a:lnTo>
                    <a:pt x="0" y="247319"/>
                  </a:lnTo>
                  <a:lnTo>
                    <a:pt x="0" y="241566"/>
                  </a:lnTo>
                  <a:lnTo>
                    <a:pt x="0" y="32765"/>
                  </a:lnTo>
                  <a:close/>
                </a:path>
              </a:pathLst>
            </a:custGeom>
            <a:noFill/>
            <a:ln cap="flat" cmpd="sng" w="15825">
              <a:solidFill>
                <a:srgbClr val="1D3FAE"/>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968" name="Google Shape;968;p29"/>
            <p:cNvPicPr preferRelativeResize="0"/>
            <p:nvPr/>
          </p:nvPicPr>
          <p:blipFill rotWithShape="1">
            <a:blip r:embed="rId8">
              <a:alphaModFix/>
            </a:blip>
            <a:srcRect b="0" l="0" r="0" t="0"/>
            <a:stretch/>
          </p:blipFill>
          <p:spPr>
            <a:xfrm>
              <a:off x="3014637" y="1760044"/>
              <a:ext cx="82448" cy="118795"/>
            </a:xfrm>
            <a:prstGeom prst="rect">
              <a:avLst/>
            </a:prstGeom>
            <a:noFill/>
            <a:ln>
              <a:noFill/>
            </a:ln>
          </p:spPr>
        </p:pic>
        <p:pic>
          <p:nvPicPr>
            <p:cNvPr id="969" name="Google Shape;969;p29"/>
            <p:cNvPicPr preferRelativeResize="0"/>
            <p:nvPr/>
          </p:nvPicPr>
          <p:blipFill rotWithShape="1">
            <a:blip r:embed="rId9">
              <a:alphaModFix/>
            </a:blip>
            <a:srcRect b="0" l="0" r="0" t="0"/>
            <a:stretch/>
          </p:blipFill>
          <p:spPr>
            <a:xfrm>
              <a:off x="3229559" y="1993317"/>
              <a:ext cx="109804" cy="73088"/>
            </a:xfrm>
            <a:prstGeom prst="rect">
              <a:avLst/>
            </a:prstGeom>
            <a:noFill/>
            <a:ln>
              <a:noFill/>
            </a:ln>
          </p:spPr>
        </p:pic>
        <p:sp>
          <p:nvSpPr>
            <p:cNvPr id="970" name="Google Shape;970;p29"/>
            <p:cNvSpPr/>
            <p:nvPr/>
          </p:nvSpPr>
          <p:spPr>
            <a:xfrm>
              <a:off x="3375723" y="1892517"/>
              <a:ext cx="274320" cy="274320"/>
            </a:xfrm>
            <a:custGeom>
              <a:rect b="b" l="l" r="r" t="t"/>
              <a:pathLst>
                <a:path extrusionOk="0" h="274319" w="274320">
                  <a:moveTo>
                    <a:pt x="246951" y="0"/>
                  </a:moveTo>
                  <a:lnTo>
                    <a:pt x="27000" y="0"/>
                  </a:lnTo>
                  <a:lnTo>
                    <a:pt x="21602" y="1447"/>
                  </a:lnTo>
                  <a:lnTo>
                    <a:pt x="11518" y="7200"/>
                  </a:lnTo>
                  <a:lnTo>
                    <a:pt x="7200" y="11163"/>
                  </a:lnTo>
                  <a:lnTo>
                    <a:pt x="1435" y="21247"/>
                  </a:lnTo>
                  <a:lnTo>
                    <a:pt x="0" y="27000"/>
                  </a:lnTo>
                  <a:lnTo>
                    <a:pt x="0" y="247319"/>
                  </a:lnTo>
                  <a:lnTo>
                    <a:pt x="27000" y="274320"/>
                  </a:lnTo>
                  <a:lnTo>
                    <a:pt x="247319" y="273964"/>
                  </a:lnTo>
                  <a:lnTo>
                    <a:pt x="274319" y="241198"/>
                  </a:lnTo>
                  <a:lnTo>
                    <a:pt x="273961" y="32766"/>
                  </a:lnTo>
                  <a:lnTo>
                    <a:pt x="246951" y="0"/>
                  </a:lnTo>
                  <a:close/>
                </a:path>
              </a:pathLst>
            </a:custGeom>
            <a:solidFill>
              <a:srgbClr val="E9F6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71" name="Google Shape;971;p29"/>
            <p:cNvSpPr/>
            <p:nvPr/>
          </p:nvSpPr>
          <p:spPr>
            <a:xfrm>
              <a:off x="3375723" y="1892517"/>
              <a:ext cx="274320" cy="274320"/>
            </a:xfrm>
            <a:custGeom>
              <a:rect b="b" l="l" r="r" t="t"/>
              <a:pathLst>
                <a:path extrusionOk="0" h="274319" w="274320">
                  <a:moveTo>
                    <a:pt x="0" y="32766"/>
                  </a:moveTo>
                  <a:lnTo>
                    <a:pt x="0" y="27000"/>
                  </a:lnTo>
                  <a:lnTo>
                    <a:pt x="1435" y="21247"/>
                  </a:lnTo>
                  <a:lnTo>
                    <a:pt x="27000" y="0"/>
                  </a:lnTo>
                  <a:lnTo>
                    <a:pt x="32753" y="0"/>
                  </a:lnTo>
                  <a:lnTo>
                    <a:pt x="241198" y="0"/>
                  </a:lnTo>
                  <a:lnTo>
                    <a:pt x="246951" y="0"/>
                  </a:lnTo>
                  <a:lnTo>
                    <a:pt x="252717" y="1447"/>
                  </a:lnTo>
                  <a:lnTo>
                    <a:pt x="273951" y="27000"/>
                  </a:lnTo>
                  <a:lnTo>
                    <a:pt x="273951" y="32766"/>
                  </a:lnTo>
                  <a:lnTo>
                    <a:pt x="274319" y="241198"/>
                  </a:lnTo>
                  <a:lnTo>
                    <a:pt x="274319" y="246964"/>
                  </a:lnTo>
                  <a:lnTo>
                    <a:pt x="272872" y="252730"/>
                  </a:lnTo>
                  <a:lnTo>
                    <a:pt x="247319" y="273964"/>
                  </a:lnTo>
                  <a:lnTo>
                    <a:pt x="241553" y="273964"/>
                  </a:lnTo>
                  <a:lnTo>
                    <a:pt x="32753" y="274320"/>
                  </a:lnTo>
                  <a:lnTo>
                    <a:pt x="27000" y="274320"/>
                  </a:lnTo>
                  <a:lnTo>
                    <a:pt x="21234" y="272884"/>
                  </a:lnTo>
                  <a:lnTo>
                    <a:pt x="16192" y="270002"/>
                  </a:lnTo>
                  <a:lnTo>
                    <a:pt x="11150" y="267119"/>
                  </a:lnTo>
                  <a:lnTo>
                    <a:pt x="7200" y="262801"/>
                  </a:lnTo>
                  <a:lnTo>
                    <a:pt x="4317" y="257759"/>
                  </a:lnTo>
                  <a:lnTo>
                    <a:pt x="1435" y="252730"/>
                  </a:lnTo>
                  <a:lnTo>
                    <a:pt x="0" y="247319"/>
                  </a:lnTo>
                  <a:lnTo>
                    <a:pt x="0" y="241566"/>
                  </a:lnTo>
                  <a:lnTo>
                    <a:pt x="0" y="32766"/>
                  </a:lnTo>
                  <a:close/>
                </a:path>
              </a:pathLst>
            </a:custGeom>
            <a:noFill/>
            <a:ln cap="flat" cmpd="sng" w="15825">
              <a:solidFill>
                <a:srgbClr val="147F3C"/>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72" name="Google Shape;972;p29"/>
            <p:cNvSpPr/>
            <p:nvPr/>
          </p:nvSpPr>
          <p:spPr>
            <a:xfrm>
              <a:off x="3375723" y="1481037"/>
              <a:ext cx="274320" cy="274320"/>
            </a:xfrm>
            <a:custGeom>
              <a:rect b="b" l="l" r="r" t="t"/>
              <a:pathLst>
                <a:path extrusionOk="0" h="274319" w="274320">
                  <a:moveTo>
                    <a:pt x="246951" y="0"/>
                  </a:moveTo>
                  <a:lnTo>
                    <a:pt x="27000" y="0"/>
                  </a:lnTo>
                  <a:lnTo>
                    <a:pt x="21602" y="1447"/>
                  </a:lnTo>
                  <a:lnTo>
                    <a:pt x="11518" y="7200"/>
                  </a:lnTo>
                  <a:lnTo>
                    <a:pt x="7200" y="11163"/>
                  </a:lnTo>
                  <a:lnTo>
                    <a:pt x="1435" y="21247"/>
                  </a:lnTo>
                  <a:lnTo>
                    <a:pt x="0" y="27000"/>
                  </a:lnTo>
                  <a:lnTo>
                    <a:pt x="0" y="247319"/>
                  </a:lnTo>
                  <a:lnTo>
                    <a:pt x="27000" y="274319"/>
                  </a:lnTo>
                  <a:lnTo>
                    <a:pt x="247319" y="273964"/>
                  </a:lnTo>
                  <a:lnTo>
                    <a:pt x="274319" y="241198"/>
                  </a:lnTo>
                  <a:lnTo>
                    <a:pt x="273961" y="32765"/>
                  </a:lnTo>
                  <a:lnTo>
                    <a:pt x="246951" y="0"/>
                  </a:lnTo>
                  <a:close/>
                </a:path>
              </a:pathLst>
            </a:custGeom>
            <a:solidFill>
              <a:srgbClr val="E7ED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73" name="Google Shape;973;p29"/>
            <p:cNvSpPr/>
            <p:nvPr/>
          </p:nvSpPr>
          <p:spPr>
            <a:xfrm>
              <a:off x="3375723" y="1481037"/>
              <a:ext cx="274320" cy="274320"/>
            </a:xfrm>
            <a:custGeom>
              <a:rect b="b" l="l" r="r" t="t"/>
              <a:pathLst>
                <a:path extrusionOk="0" h="274319" w="274320">
                  <a:moveTo>
                    <a:pt x="0" y="32765"/>
                  </a:moveTo>
                  <a:lnTo>
                    <a:pt x="0" y="27000"/>
                  </a:lnTo>
                  <a:lnTo>
                    <a:pt x="1435" y="21247"/>
                  </a:lnTo>
                  <a:lnTo>
                    <a:pt x="27000" y="0"/>
                  </a:lnTo>
                  <a:lnTo>
                    <a:pt x="32753" y="0"/>
                  </a:lnTo>
                  <a:lnTo>
                    <a:pt x="241198" y="0"/>
                  </a:lnTo>
                  <a:lnTo>
                    <a:pt x="246951" y="0"/>
                  </a:lnTo>
                  <a:lnTo>
                    <a:pt x="252717" y="1447"/>
                  </a:lnTo>
                  <a:lnTo>
                    <a:pt x="257759" y="4317"/>
                  </a:lnTo>
                  <a:lnTo>
                    <a:pt x="262801" y="7200"/>
                  </a:lnTo>
                  <a:lnTo>
                    <a:pt x="266750" y="11518"/>
                  </a:lnTo>
                  <a:lnTo>
                    <a:pt x="269633" y="16560"/>
                  </a:lnTo>
                  <a:lnTo>
                    <a:pt x="272516" y="21602"/>
                  </a:lnTo>
                  <a:lnTo>
                    <a:pt x="273951" y="27000"/>
                  </a:lnTo>
                  <a:lnTo>
                    <a:pt x="273951" y="32765"/>
                  </a:lnTo>
                  <a:lnTo>
                    <a:pt x="274319" y="241198"/>
                  </a:lnTo>
                  <a:lnTo>
                    <a:pt x="274319" y="246964"/>
                  </a:lnTo>
                  <a:lnTo>
                    <a:pt x="272872" y="252729"/>
                  </a:lnTo>
                  <a:lnTo>
                    <a:pt x="270001" y="257759"/>
                  </a:lnTo>
                  <a:lnTo>
                    <a:pt x="267119" y="262801"/>
                  </a:lnTo>
                  <a:lnTo>
                    <a:pt x="262801" y="266763"/>
                  </a:lnTo>
                  <a:lnTo>
                    <a:pt x="257759" y="269646"/>
                  </a:lnTo>
                  <a:lnTo>
                    <a:pt x="252717" y="272529"/>
                  </a:lnTo>
                  <a:lnTo>
                    <a:pt x="247319" y="273964"/>
                  </a:lnTo>
                  <a:lnTo>
                    <a:pt x="241553" y="273964"/>
                  </a:lnTo>
                  <a:lnTo>
                    <a:pt x="32753" y="274319"/>
                  </a:lnTo>
                  <a:lnTo>
                    <a:pt x="27000" y="274319"/>
                  </a:lnTo>
                  <a:lnTo>
                    <a:pt x="21234" y="272884"/>
                  </a:lnTo>
                  <a:lnTo>
                    <a:pt x="16192" y="270001"/>
                  </a:lnTo>
                  <a:lnTo>
                    <a:pt x="11150" y="267119"/>
                  </a:lnTo>
                  <a:lnTo>
                    <a:pt x="7200" y="262801"/>
                  </a:lnTo>
                  <a:lnTo>
                    <a:pt x="4317" y="257759"/>
                  </a:lnTo>
                  <a:lnTo>
                    <a:pt x="1435" y="252729"/>
                  </a:lnTo>
                  <a:lnTo>
                    <a:pt x="0" y="247319"/>
                  </a:lnTo>
                  <a:lnTo>
                    <a:pt x="0" y="241566"/>
                  </a:lnTo>
                  <a:lnTo>
                    <a:pt x="0" y="32765"/>
                  </a:lnTo>
                  <a:close/>
                </a:path>
              </a:pathLst>
            </a:custGeom>
            <a:noFill/>
            <a:ln cap="flat" cmpd="sng" w="15825">
              <a:solidFill>
                <a:srgbClr val="1D3FAE"/>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974" name="Google Shape;974;p29"/>
            <p:cNvPicPr preferRelativeResize="0"/>
            <p:nvPr/>
          </p:nvPicPr>
          <p:blipFill rotWithShape="1">
            <a:blip r:embed="rId8">
              <a:alphaModFix/>
            </a:blip>
            <a:srcRect b="0" l="0" r="0" t="0"/>
            <a:stretch/>
          </p:blipFill>
          <p:spPr>
            <a:xfrm>
              <a:off x="3471837" y="1760044"/>
              <a:ext cx="82448" cy="118795"/>
            </a:xfrm>
            <a:prstGeom prst="rect">
              <a:avLst/>
            </a:prstGeom>
            <a:noFill/>
            <a:ln>
              <a:noFill/>
            </a:ln>
          </p:spPr>
        </p:pic>
        <p:pic>
          <p:nvPicPr>
            <p:cNvPr id="975" name="Google Shape;975;p29"/>
            <p:cNvPicPr preferRelativeResize="0"/>
            <p:nvPr/>
          </p:nvPicPr>
          <p:blipFill rotWithShape="1">
            <a:blip r:embed="rId9">
              <a:alphaModFix/>
            </a:blip>
            <a:srcRect b="0" l="0" r="0" t="0"/>
            <a:stretch/>
          </p:blipFill>
          <p:spPr>
            <a:xfrm>
              <a:off x="3686759" y="1993317"/>
              <a:ext cx="109804" cy="73088"/>
            </a:xfrm>
            <a:prstGeom prst="rect">
              <a:avLst/>
            </a:prstGeom>
            <a:noFill/>
            <a:ln>
              <a:noFill/>
            </a:ln>
          </p:spPr>
        </p:pic>
        <p:sp>
          <p:nvSpPr>
            <p:cNvPr id="976" name="Google Shape;976;p29"/>
            <p:cNvSpPr/>
            <p:nvPr/>
          </p:nvSpPr>
          <p:spPr>
            <a:xfrm>
              <a:off x="3832923" y="1892517"/>
              <a:ext cx="274320" cy="274320"/>
            </a:xfrm>
            <a:custGeom>
              <a:rect b="b" l="l" r="r" t="t"/>
              <a:pathLst>
                <a:path extrusionOk="0" h="274319" w="274320">
                  <a:moveTo>
                    <a:pt x="246951" y="0"/>
                  </a:moveTo>
                  <a:lnTo>
                    <a:pt x="27000" y="0"/>
                  </a:lnTo>
                  <a:lnTo>
                    <a:pt x="21602" y="1447"/>
                  </a:lnTo>
                  <a:lnTo>
                    <a:pt x="11518" y="7200"/>
                  </a:lnTo>
                  <a:lnTo>
                    <a:pt x="7200" y="11163"/>
                  </a:lnTo>
                  <a:lnTo>
                    <a:pt x="1435" y="21247"/>
                  </a:lnTo>
                  <a:lnTo>
                    <a:pt x="0" y="27000"/>
                  </a:lnTo>
                  <a:lnTo>
                    <a:pt x="0" y="247319"/>
                  </a:lnTo>
                  <a:lnTo>
                    <a:pt x="27000" y="274320"/>
                  </a:lnTo>
                  <a:lnTo>
                    <a:pt x="247319" y="273964"/>
                  </a:lnTo>
                  <a:lnTo>
                    <a:pt x="274319" y="241198"/>
                  </a:lnTo>
                  <a:lnTo>
                    <a:pt x="273961" y="32766"/>
                  </a:lnTo>
                  <a:lnTo>
                    <a:pt x="246951" y="0"/>
                  </a:lnTo>
                  <a:close/>
                </a:path>
              </a:pathLst>
            </a:custGeom>
            <a:solidFill>
              <a:srgbClr val="E9F6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77" name="Google Shape;977;p29"/>
            <p:cNvSpPr/>
            <p:nvPr/>
          </p:nvSpPr>
          <p:spPr>
            <a:xfrm>
              <a:off x="3832923" y="1892517"/>
              <a:ext cx="274320" cy="274320"/>
            </a:xfrm>
            <a:custGeom>
              <a:rect b="b" l="l" r="r" t="t"/>
              <a:pathLst>
                <a:path extrusionOk="0" h="274319" w="274320">
                  <a:moveTo>
                    <a:pt x="0" y="32766"/>
                  </a:moveTo>
                  <a:lnTo>
                    <a:pt x="0" y="27000"/>
                  </a:lnTo>
                  <a:lnTo>
                    <a:pt x="1435" y="21247"/>
                  </a:lnTo>
                  <a:lnTo>
                    <a:pt x="27000" y="0"/>
                  </a:lnTo>
                  <a:lnTo>
                    <a:pt x="32753" y="0"/>
                  </a:lnTo>
                  <a:lnTo>
                    <a:pt x="241198" y="0"/>
                  </a:lnTo>
                  <a:lnTo>
                    <a:pt x="246951" y="0"/>
                  </a:lnTo>
                  <a:lnTo>
                    <a:pt x="252717" y="1447"/>
                  </a:lnTo>
                  <a:lnTo>
                    <a:pt x="273951" y="27000"/>
                  </a:lnTo>
                  <a:lnTo>
                    <a:pt x="273951" y="32766"/>
                  </a:lnTo>
                  <a:lnTo>
                    <a:pt x="274319" y="241198"/>
                  </a:lnTo>
                  <a:lnTo>
                    <a:pt x="274319" y="246964"/>
                  </a:lnTo>
                  <a:lnTo>
                    <a:pt x="272872" y="252730"/>
                  </a:lnTo>
                  <a:lnTo>
                    <a:pt x="247319" y="273964"/>
                  </a:lnTo>
                  <a:lnTo>
                    <a:pt x="241553" y="273964"/>
                  </a:lnTo>
                  <a:lnTo>
                    <a:pt x="32753" y="274320"/>
                  </a:lnTo>
                  <a:lnTo>
                    <a:pt x="27000" y="274320"/>
                  </a:lnTo>
                  <a:lnTo>
                    <a:pt x="21234" y="272884"/>
                  </a:lnTo>
                  <a:lnTo>
                    <a:pt x="16192" y="270002"/>
                  </a:lnTo>
                  <a:lnTo>
                    <a:pt x="11150" y="267119"/>
                  </a:lnTo>
                  <a:lnTo>
                    <a:pt x="7200" y="262801"/>
                  </a:lnTo>
                  <a:lnTo>
                    <a:pt x="4317" y="257759"/>
                  </a:lnTo>
                  <a:lnTo>
                    <a:pt x="1435" y="252730"/>
                  </a:lnTo>
                  <a:lnTo>
                    <a:pt x="0" y="247319"/>
                  </a:lnTo>
                  <a:lnTo>
                    <a:pt x="0" y="241566"/>
                  </a:lnTo>
                  <a:lnTo>
                    <a:pt x="0" y="32766"/>
                  </a:lnTo>
                  <a:close/>
                </a:path>
              </a:pathLst>
            </a:custGeom>
            <a:noFill/>
            <a:ln cap="flat" cmpd="sng" w="15825">
              <a:solidFill>
                <a:srgbClr val="147F3C"/>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78" name="Google Shape;978;p29"/>
            <p:cNvSpPr/>
            <p:nvPr/>
          </p:nvSpPr>
          <p:spPr>
            <a:xfrm>
              <a:off x="3832923" y="1481037"/>
              <a:ext cx="274320" cy="274320"/>
            </a:xfrm>
            <a:custGeom>
              <a:rect b="b" l="l" r="r" t="t"/>
              <a:pathLst>
                <a:path extrusionOk="0" h="274319" w="274320">
                  <a:moveTo>
                    <a:pt x="246951" y="0"/>
                  </a:moveTo>
                  <a:lnTo>
                    <a:pt x="27000" y="0"/>
                  </a:lnTo>
                  <a:lnTo>
                    <a:pt x="21602" y="1447"/>
                  </a:lnTo>
                  <a:lnTo>
                    <a:pt x="11518" y="7200"/>
                  </a:lnTo>
                  <a:lnTo>
                    <a:pt x="7200" y="11163"/>
                  </a:lnTo>
                  <a:lnTo>
                    <a:pt x="1435" y="21247"/>
                  </a:lnTo>
                  <a:lnTo>
                    <a:pt x="0" y="27000"/>
                  </a:lnTo>
                  <a:lnTo>
                    <a:pt x="0" y="247319"/>
                  </a:lnTo>
                  <a:lnTo>
                    <a:pt x="27000" y="274319"/>
                  </a:lnTo>
                  <a:lnTo>
                    <a:pt x="247319" y="273964"/>
                  </a:lnTo>
                  <a:lnTo>
                    <a:pt x="274319" y="241198"/>
                  </a:lnTo>
                  <a:lnTo>
                    <a:pt x="273961" y="32765"/>
                  </a:lnTo>
                  <a:lnTo>
                    <a:pt x="246951" y="0"/>
                  </a:lnTo>
                  <a:close/>
                </a:path>
              </a:pathLst>
            </a:custGeom>
            <a:solidFill>
              <a:srgbClr val="E7ED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79" name="Google Shape;979;p29"/>
            <p:cNvSpPr/>
            <p:nvPr/>
          </p:nvSpPr>
          <p:spPr>
            <a:xfrm>
              <a:off x="3832923" y="1481037"/>
              <a:ext cx="274320" cy="274320"/>
            </a:xfrm>
            <a:custGeom>
              <a:rect b="b" l="l" r="r" t="t"/>
              <a:pathLst>
                <a:path extrusionOk="0" h="274319" w="274320">
                  <a:moveTo>
                    <a:pt x="0" y="32765"/>
                  </a:moveTo>
                  <a:lnTo>
                    <a:pt x="0" y="27000"/>
                  </a:lnTo>
                  <a:lnTo>
                    <a:pt x="1435" y="21247"/>
                  </a:lnTo>
                  <a:lnTo>
                    <a:pt x="27000" y="0"/>
                  </a:lnTo>
                  <a:lnTo>
                    <a:pt x="32753" y="0"/>
                  </a:lnTo>
                  <a:lnTo>
                    <a:pt x="241198" y="0"/>
                  </a:lnTo>
                  <a:lnTo>
                    <a:pt x="246951" y="0"/>
                  </a:lnTo>
                  <a:lnTo>
                    <a:pt x="252717" y="1447"/>
                  </a:lnTo>
                  <a:lnTo>
                    <a:pt x="257759" y="4317"/>
                  </a:lnTo>
                  <a:lnTo>
                    <a:pt x="262801" y="7200"/>
                  </a:lnTo>
                  <a:lnTo>
                    <a:pt x="266750" y="11518"/>
                  </a:lnTo>
                  <a:lnTo>
                    <a:pt x="269633" y="16560"/>
                  </a:lnTo>
                  <a:lnTo>
                    <a:pt x="272516" y="21602"/>
                  </a:lnTo>
                  <a:lnTo>
                    <a:pt x="273951" y="27000"/>
                  </a:lnTo>
                  <a:lnTo>
                    <a:pt x="273951" y="32765"/>
                  </a:lnTo>
                  <a:lnTo>
                    <a:pt x="274319" y="241198"/>
                  </a:lnTo>
                  <a:lnTo>
                    <a:pt x="274319" y="246964"/>
                  </a:lnTo>
                  <a:lnTo>
                    <a:pt x="272872" y="252729"/>
                  </a:lnTo>
                  <a:lnTo>
                    <a:pt x="270001" y="257759"/>
                  </a:lnTo>
                  <a:lnTo>
                    <a:pt x="267119" y="262801"/>
                  </a:lnTo>
                  <a:lnTo>
                    <a:pt x="262801" y="266763"/>
                  </a:lnTo>
                  <a:lnTo>
                    <a:pt x="257759" y="269646"/>
                  </a:lnTo>
                  <a:lnTo>
                    <a:pt x="252717" y="272529"/>
                  </a:lnTo>
                  <a:lnTo>
                    <a:pt x="247319" y="273964"/>
                  </a:lnTo>
                  <a:lnTo>
                    <a:pt x="241553" y="273964"/>
                  </a:lnTo>
                  <a:lnTo>
                    <a:pt x="32753" y="274319"/>
                  </a:lnTo>
                  <a:lnTo>
                    <a:pt x="27000" y="274319"/>
                  </a:lnTo>
                  <a:lnTo>
                    <a:pt x="21234" y="272884"/>
                  </a:lnTo>
                  <a:lnTo>
                    <a:pt x="16192" y="270001"/>
                  </a:lnTo>
                  <a:lnTo>
                    <a:pt x="11150" y="267119"/>
                  </a:lnTo>
                  <a:lnTo>
                    <a:pt x="7200" y="262801"/>
                  </a:lnTo>
                  <a:lnTo>
                    <a:pt x="4317" y="257759"/>
                  </a:lnTo>
                  <a:lnTo>
                    <a:pt x="1435" y="252729"/>
                  </a:lnTo>
                  <a:lnTo>
                    <a:pt x="0" y="247319"/>
                  </a:lnTo>
                  <a:lnTo>
                    <a:pt x="0" y="241566"/>
                  </a:lnTo>
                  <a:lnTo>
                    <a:pt x="0" y="32765"/>
                  </a:lnTo>
                  <a:close/>
                </a:path>
              </a:pathLst>
            </a:custGeom>
            <a:noFill/>
            <a:ln cap="flat" cmpd="sng" w="15825">
              <a:solidFill>
                <a:srgbClr val="1D3FAE"/>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980" name="Google Shape;980;p29"/>
            <p:cNvPicPr preferRelativeResize="0"/>
            <p:nvPr/>
          </p:nvPicPr>
          <p:blipFill rotWithShape="1">
            <a:blip r:embed="rId8">
              <a:alphaModFix/>
            </a:blip>
            <a:srcRect b="0" l="0" r="0" t="0"/>
            <a:stretch/>
          </p:blipFill>
          <p:spPr>
            <a:xfrm>
              <a:off x="3929037" y="1760044"/>
              <a:ext cx="82448" cy="118795"/>
            </a:xfrm>
            <a:prstGeom prst="rect">
              <a:avLst/>
            </a:prstGeom>
            <a:noFill/>
            <a:ln>
              <a:noFill/>
            </a:ln>
          </p:spPr>
        </p:pic>
      </p:grpSp>
      <p:sp>
        <p:nvSpPr>
          <p:cNvPr id="981" name="Google Shape;981;p29"/>
          <p:cNvSpPr txBox="1"/>
          <p:nvPr/>
        </p:nvSpPr>
        <p:spPr>
          <a:xfrm>
            <a:off x="2645536" y="3420988"/>
            <a:ext cx="72390" cy="1854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050">
                <a:solidFill>
                  <a:srgbClr val="1E2836"/>
                </a:solidFill>
                <a:latin typeface="Helvetica Neue"/>
                <a:ea typeface="Helvetica Neue"/>
                <a:cs typeface="Helvetica Neue"/>
                <a:sym typeface="Helvetica Neue"/>
              </a:rPr>
              <a:t>•</a:t>
            </a:r>
            <a:endParaRPr sz="1050">
              <a:latin typeface="Helvetica Neue"/>
              <a:ea typeface="Helvetica Neue"/>
              <a:cs typeface="Helvetica Neue"/>
              <a:sym typeface="Helvetica Neue"/>
            </a:endParaRPr>
          </a:p>
        </p:txBody>
      </p:sp>
      <p:sp>
        <p:nvSpPr>
          <p:cNvPr id="982" name="Google Shape;982;p29"/>
          <p:cNvSpPr txBox="1"/>
          <p:nvPr/>
        </p:nvSpPr>
        <p:spPr>
          <a:xfrm>
            <a:off x="2645536" y="2598741"/>
            <a:ext cx="1741170" cy="1174115"/>
          </a:xfrm>
          <a:prstGeom prst="rect">
            <a:avLst/>
          </a:prstGeom>
          <a:noFill/>
          <a:ln>
            <a:noFill/>
          </a:ln>
        </p:spPr>
        <p:txBody>
          <a:bodyPr anchorCtr="0" anchor="t" bIns="0" lIns="0" spcFirstLastPara="1" rIns="0" wrap="square" tIns="87625">
            <a:spAutoFit/>
          </a:bodyPr>
          <a:lstStyle/>
          <a:p>
            <a:pPr indent="0" lvl="0" marL="240029" rtl="0" algn="l">
              <a:lnSpc>
                <a:spcPct val="100000"/>
              </a:lnSpc>
              <a:spcBef>
                <a:spcPts val="0"/>
              </a:spcBef>
              <a:spcAft>
                <a:spcPts val="0"/>
              </a:spcAft>
              <a:buNone/>
            </a:pPr>
            <a:r>
              <a:rPr b="1" lang="en-US" sz="1100">
                <a:solidFill>
                  <a:srgbClr val="0E756D"/>
                </a:solidFill>
                <a:latin typeface="Calibri"/>
                <a:ea typeface="Calibri"/>
                <a:cs typeface="Calibri"/>
                <a:sym typeface="Calibri"/>
              </a:rPr>
              <a:t>1 input → a sequence</a:t>
            </a:r>
            <a:endParaRPr sz="1100">
              <a:latin typeface="Calibri"/>
              <a:ea typeface="Calibri"/>
              <a:cs typeface="Calibri"/>
              <a:sym typeface="Calibri"/>
            </a:endParaRPr>
          </a:p>
          <a:p>
            <a:pPr indent="-168910" lvl="0" marL="181610" rtl="0" algn="l">
              <a:lnSpc>
                <a:spcPct val="119523"/>
              </a:lnSpc>
              <a:spcBef>
                <a:spcPts val="560"/>
              </a:spcBef>
              <a:spcAft>
                <a:spcPts val="0"/>
              </a:spcAft>
              <a:buClr>
                <a:srgbClr val="1E2836"/>
              </a:buClr>
              <a:buSzPts val="1050"/>
              <a:buFont typeface="Helvetica Neue"/>
              <a:buChar char="•"/>
            </a:pPr>
            <a:r>
              <a:rPr lang="en-US" sz="1050">
                <a:solidFill>
                  <a:srgbClr val="1E2836"/>
                </a:solidFill>
                <a:latin typeface="Calibri"/>
                <a:ea typeface="Calibri"/>
                <a:cs typeface="Calibri"/>
                <a:sym typeface="Calibri"/>
              </a:rPr>
              <a:t>Image captioning: one photo</a:t>
            </a:r>
            <a:endParaRPr sz="1050">
              <a:latin typeface="Calibri"/>
              <a:ea typeface="Calibri"/>
              <a:cs typeface="Calibri"/>
              <a:sym typeface="Calibri"/>
            </a:endParaRPr>
          </a:p>
          <a:p>
            <a:pPr indent="0" lvl="0" marL="183515" marR="75565" rtl="0" algn="l">
              <a:lnSpc>
                <a:spcPct val="119047"/>
              </a:lnSpc>
              <a:spcBef>
                <a:spcPts val="45"/>
              </a:spcBef>
              <a:spcAft>
                <a:spcPts val="0"/>
              </a:spcAft>
              <a:buNone/>
            </a:pPr>
            <a:r>
              <a:rPr lang="en-US" sz="1050">
                <a:solidFill>
                  <a:srgbClr val="1E2836"/>
                </a:solidFill>
                <a:latin typeface="Calibri"/>
                <a:ea typeface="Calibri"/>
                <a:cs typeface="Calibri"/>
                <a:sym typeface="Calibri"/>
              </a:rPr>
              <a:t>* "A boy playing cricket on the beach"</a:t>
            </a:r>
            <a:endParaRPr sz="1050">
              <a:latin typeface="Calibri"/>
              <a:ea typeface="Calibri"/>
              <a:cs typeface="Calibri"/>
              <a:sym typeface="Calibri"/>
            </a:endParaRPr>
          </a:p>
          <a:p>
            <a:pPr indent="0" lvl="0" marL="183515" marR="64769" rtl="0" algn="l">
              <a:lnSpc>
                <a:spcPct val="100000"/>
              </a:lnSpc>
              <a:spcBef>
                <a:spcPts val="254"/>
              </a:spcBef>
              <a:spcAft>
                <a:spcPts val="0"/>
              </a:spcAft>
              <a:buNone/>
            </a:pPr>
            <a:r>
              <a:rPr lang="en-US" sz="1050">
                <a:solidFill>
                  <a:srgbClr val="1E2836"/>
                </a:solidFill>
                <a:latin typeface="Calibri"/>
                <a:ea typeface="Calibri"/>
                <a:cs typeface="Calibri"/>
                <a:sym typeface="Calibri"/>
              </a:rPr>
              <a:t>Music generation: one seed note → a full melody</a:t>
            </a:r>
            <a:endParaRPr sz="1050">
              <a:latin typeface="Calibri"/>
              <a:ea typeface="Calibri"/>
              <a:cs typeface="Calibri"/>
              <a:sym typeface="Calibri"/>
            </a:endParaRPr>
          </a:p>
        </p:txBody>
      </p:sp>
      <p:grpSp>
        <p:nvGrpSpPr>
          <p:cNvPr id="983" name="Google Shape;983;p29"/>
          <p:cNvGrpSpPr/>
          <p:nvPr/>
        </p:nvGrpSpPr>
        <p:grpSpPr>
          <a:xfrm>
            <a:off x="4591443" y="967665"/>
            <a:ext cx="2080437" cy="3424339"/>
            <a:chOff x="4591443" y="967665"/>
            <a:chExt cx="2080437" cy="3424339"/>
          </a:xfrm>
        </p:grpSpPr>
        <p:pic>
          <p:nvPicPr>
            <p:cNvPr id="984" name="Google Shape;984;p29"/>
            <p:cNvPicPr preferRelativeResize="0"/>
            <p:nvPr/>
          </p:nvPicPr>
          <p:blipFill rotWithShape="1">
            <a:blip r:embed="rId4">
              <a:alphaModFix/>
            </a:blip>
            <a:srcRect b="0" l="0" r="0" t="0"/>
            <a:stretch/>
          </p:blipFill>
          <p:spPr>
            <a:xfrm>
              <a:off x="4591443" y="967665"/>
              <a:ext cx="2080437" cy="3424339"/>
            </a:xfrm>
            <a:prstGeom prst="rect">
              <a:avLst/>
            </a:prstGeom>
            <a:noFill/>
            <a:ln>
              <a:noFill/>
            </a:ln>
          </p:spPr>
        </p:pic>
        <p:sp>
          <p:nvSpPr>
            <p:cNvPr id="985" name="Google Shape;985;p29"/>
            <p:cNvSpPr/>
            <p:nvPr/>
          </p:nvSpPr>
          <p:spPr>
            <a:xfrm>
              <a:off x="4648314" y="1005486"/>
              <a:ext cx="1966595" cy="3310890"/>
            </a:xfrm>
            <a:custGeom>
              <a:rect b="b" l="l" r="r" t="t"/>
              <a:pathLst>
                <a:path extrusionOk="0" h="3310890" w="1966595">
                  <a:moveTo>
                    <a:pt x="118440" y="0"/>
                  </a:moveTo>
                  <a:lnTo>
                    <a:pt x="73289" y="8958"/>
                  </a:lnTo>
                  <a:lnTo>
                    <a:pt x="34969" y="34599"/>
                  </a:lnTo>
                  <a:lnTo>
                    <a:pt x="9326" y="72916"/>
                  </a:lnTo>
                  <a:lnTo>
                    <a:pt x="368" y="118071"/>
                  </a:lnTo>
                  <a:lnTo>
                    <a:pt x="0" y="3192475"/>
                  </a:lnTo>
                  <a:lnTo>
                    <a:pt x="1008" y="3207978"/>
                  </a:lnTo>
                  <a:lnTo>
                    <a:pt x="15849" y="3251517"/>
                  </a:lnTo>
                  <a:lnTo>
                    <a:pt x="46169" y="3286087"/>
                  </a:lnTo>
                  <a:lnTo>
                    <a:pt x="87487" y="3306549"/>
                  </a:lnTo>
                  <a:lnTo>
                    <a:pt x="118084" y="3310559"/>
                  </a:lnTo>
                  <a:lnTo>
                    <a:pt x="1848243" y="3310559"/>
                  </a:lnTo>
                  <a:lnTo>
                    <a:pt x="1893404" y="3301590"/>
                  </a:lnTo>
                  <a:lnTo>
                    <a:pt x="1931722" y="3275947"/>
                  </a:lnTo>
                  <a:lnTo>
                    <a:pt x="1957370" y="3237636"/>
                  </a:lnTo>
                  <a:lnTo>
                    <a:pt x="1966328" y="3192475"/>
                  </a:lnTo>
                  <a:lnTo>
                    <a:pt x="1966304" y="118071"/>
                  </a:lnTo>
                  <a:lnTo>
                    <a:pt x="1957370" y="73279"/>
                  </a:lnTo>
                  <a:lnTo>
                    <a:pt x="1931722" y="34956"/>
                  </a:lnTo>
                  <a:lnTo>
                    <a:pt x="1893404" y="9313"/>
                  </a:lnTo>
                  <a:lnTo>
                    <a:pt x="1848243" y="355"/>
                  </a:lnTo>
                  <a:lnTo>
                    <a:pt x="11844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86" name="Google Shape;986;p29"/>
            <p:cNvSpPr/>
            <p:nvPr/>
          </p:nvSpPr>
          <p:spPr>
            <a:xfrm>
              <a:off x="4648314" y="1005486"/>
              <a:ext cx="1966595" cy="3310890"/>
            </a:xfrm>
            <a:custGeom>
              <a:rect b="b" l="l" r="r" t="t"/>
              <a:pathLst>
                <a:path extrusionOk="0" h="3310890" w="1966595">
                  <a:moveTo>
                    <a:pt x="368" y="118071"/>
                  </a:moveTo>
                  <a:lnTo>
                    <a:pt x="1374" y="102570"/>
                  </a:lnTo>
                  <a:lnTo>
                    <a:pt x="4371" y="87474"/>
                  </a:lnTo>
                  <a:lnTo>
                    <a:pt x="24827" y="46156"/>
                  </a:lnTo>
                  <a:lnTo>
                    <a:pt x="59410" y="15836"/>
                  </a:lnTo>
                  <a:lnTo>
                    <a:pt x="102939" y="1006"/>
                  </a:lnTo>
                  <a:lnTo>
                    <a:pt x="118440" y="0"/>
                  </a:lnTo>
                  <a:lnTo>
                    <a:pt x="1848243" y="355"/>
                  </a:lnTo>
                  <a:lnTo>
                    <a:pt x="1893404" y="9313"/>
                  </a:lnTo>
                  <a:lnTo>
                    <a:pt x="1931722" y="34956"/>
                  </a:lnTo>
                  <a:lnTo>
                    <a:pt x="1957370" y="73279"/>
                  </a:lnTo>
                  <a:lnTo>
                    <a:pt x="1966328" y="118440"/>
                  </a:lnTo>
                  <a:lnTo>
                    <a:pt x="1966328" y="3192475"/>
                  </a:lnTo>
                  <a:lnTo>
                    <a:pt x="1965321" y="3207978"/>
                  </a:lnTo>
                  <a:lnTo>
                    <a:pt x="1962324" y="3223077"/>
                  </a:lnTo>
                  <a:lnTo>
                    <a:pt x="1941867" y="3264390"/>
                  </a:lnTo>
                  <a:lnTo>
                    <a:pt x="1907285" y="3294710"/>
                  </a:lnTo>
                  <a:lnTo>
                    <a:pt x="1863746" y="3309551"/>
                  </a:lnTo>
                  <a:lnTo>
                    <a:pt x="1848243" y="3310559"/>
                  </a:lnTo>
                  <a:lnTo>
                    <a:pt x="118084" y="3310559"/>
                  </a:lnTo>
                  <a:lnTo>
                    <a:pt x="72928" y="3301590"/>
                  </a:lnTo>
                  <a:lnTo>
                    <a:pt x="34612" y="3275947"/>
                  </a:lnTo>
                  <a:lnTo>
                    <a:pt x="8968" y="3237636"/>
                  </a:lnTo>
                  <a:lnTo>
                    <a:pt x="0" y="3192475"/>
                  </a:lnTo>
                  <a:lnTo>
                    <a:pt x="368" y="118071"/>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87" name="Google Shape;987;p29"/>
            <p:cNvSpPr/>
            <p:nvPr/>
          </p:nvSpPr>
          <p:spPr>
            <a:xfrm>
              <a:off x="4758118" y="1096926"/>
              <a:ext cx="1746885" cy="293370"/>
            </a:xfrm>
            <a:custGeom>
              <a:rect b="b" l="l" r="r" t="t"/>
              <a:pathLst>
                <a:path extrusionOk="0" h="293369" w="1746884">
                  <a:moveTo>
                    <a:pt x="88201" y="0"/>
                  </a:moveTo>
                  <a:lnTo>
                    <a:pt x="44284" y="11874"/>
                  </a:lnTo>
                  <a:lnTo>
                    <a:pt x="12242" y="43916"/>
                  </a:lnTo>
                  <a:lnTo>
                    <a:pt x="355" y="87833"/>
                  </a:lnTo>
                  <a:lnTo>
                    <a:pt x="0" y="205193"/>
                  </a:lnTo>
                  <a:lnTo>
                    <a:pt x="742" y="216715"/>
                  </a:lnTo>
                  <a:lnTo>
                    <a:pt x="18208" y="258674"/>
                  </a:lnTo>
                  <a:lnTo>
                    <a:pt x="54223" y="286353"/>
                  </a:lnTo>
                  <a:lnTo>
                    <a:pt x="87845" y="293039"/>
                  </a:lnTo>
                  <a:lnTo>
                    <a:pt x="1658886" y="293039"/>
                  </a:lnTo>
                  <a:lnTo>
                    <a:pt x="1702803" y="281152"/>
                  </a:lnTo>
                  <a:lnTo>
                    <a:pt x="1734845" y="249110"/>
                  </a:lnTo>
                  <a:lnTo>
                    <a:pt x="1746719" y="205193"/>
                  </a:lnTo>
                  <a:lnTo>
                    <a:pt x="1746696" y="87833"/>
                  </a:lnTo>
                  <a:lnTo>
                    <a:pt x="1734845" y="44272"/>
                  </a:lnTo>
                  <a:lnTo>
                    <a:pt x="1702803" y="12230"/>
                  </a:lnTo>
                  <a:lnTo>
                    <a:pt x="1658886" y="355"/>
                  </a:lnTo>
                  <a:lnTo>
                    <a:pt x="88201" y="0"/>
                  </a:lnTo>
                  <a:close/>
                </a:path>
              </a:pathLst>
            </a:custGeom>
            <a:solidFill>
              <a:srgbClr val="6C27D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88" name="Google Shape;988;p29"/>
            <p:cNvSpPr/>
            <p:nvPr/>
          </p:nvSpPr>
          <p:spPr>
            <a:xfrm>
              <a:off x="5037124" y="1892517"/>
              <a:ext cx="274320" cy="274320"/>
            </a:xfrm>
            <a:custGeom>
              <a:rect b="b" l="l" r="r" t="t"/>
              <a:pathLst>
                <a:path extrusionOk="0" h="274319" w="274320">
                  <a:moveTo>
                    <a:pt x="246951" y="0"/>
                  </a:moveTo>
                  <a:lnTo>
                    <a:pt x="27000" y="0"/>
                  </a:lnTo>
                  <a:lnTo>
                    <a:pt x="21589" y="1447"/>
                  </a:lnTo>
                  <a:lnTo>
                    <a:pt x="11518" y="7200"/>
                  </a:lnTo>
                  <a:lnTo>
                    <a:pt x="7200" y="11163"/>
                  </a:lnTo>
                  <a:lnTo>
                    <a:pt x="1435" y="21247"/>
                  </a:lnTo>
                  <a:lnTo>
                    <a:pt x="0" y="27000"/>
                  </a:lnTo>
                  <a:lnTo>
                    <a:pt x="0" y="247319"/>
                  </a:lnTo>
                  <a:lnTo>
                    <a:pt x="27000" y="274320"/>
                  </a:lnTo>
                  <a:lnTo>
                    <a:pt x="247319" y="273964"/>
                  </a:lnTo>
                  <a:lnTo>
                    <a:pt x="274319" y="241198"/>
                  </a:lnTo>
                  <a:lnTo>
                    <a:pt x="273961" y="32766"/>
                  </a:lnTo>
                  <a:lnTo>
                    <a:pt x="246951" y="0"/>
                  </a:lnTo>
                  <a:close/>
                </a:path>
              </a:pathLst>
            </a:custGeom>
            <a:solidFill>
              <a:srgbClr val="E9F6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89" name="Google Shape;989;p29"/>
            <p:cNvSpPr/>
            <p:nvPr/>
          </p:nvSpPr>
          <p:spPr>
            <a:xfrm>
              <a:off x="5037124" y="1892517"/>
              <a:ext cx="274320" cy="274320"/>
            </a:xfrm>
            <a:custGeom>
              <a:rect b="b" l="l" r="r" t="t"/>
              <a:pathLst>
                <a:path extrusionOk="0" h="274319" w="274320">
                  <a:moveTo>
                    <a:pt x="0" y="32766"/>
                  </a:moveTo>
                  <a:lnTo>
                    <a:pt x="0" y="27000"/>
                  </a:lnTo>
                  <a:lnTo>
                    <a:pt x="1435" y="21247"/>
                  </a:lnTo>
                  <a:lnTo>
                    <a:pt x="4317" y="16205"/>
                  </a:lnTo>
                  <a:lnTo>
                    <a:pt x="7200" y="11163"/>
                  </a:lnTo>
                  <a:lnTo>
                    <a:pt x="11518" y="7200"/>
                  </a:lnTo>
                  <a:lnTo>
                    <a:pt x="16560" y="4318"/>
                  </a:lnTo>
                  <a:lnTo>
                    <a:pt x="21589" y="1447"/>
                  </a:lnTo>
                  <a:lnTo>
                    <a:pt x="27000" y="0"/>
                  </a:lnTo>
                  <a:lnTo>
                    <a:pt x="32753" y="0"/>
                  </a:lnTo>
                  <a:lnTo>
                    <a:pt x="241198" y="0"/>
                  </a:lnTo>
                  <a:lnTo>
                    <a:pt x="246951" y="0"/>
                  </a:lnTo>
                  <a:lnTo>
                    <a:pt x="252717" y="1447"/>
                  </a:lnTo>
                  <a:lnTo>
                    <a:pt x="273951" y="27000"/>
                  </a:lnTo>
                  <a:lnTo>
                    <a:pt x="273951" y="32766"/>
                  </a:lnTo>
                  <a:lnTo>
                    <a:pt x="274319" y="241198"/>
                  </a:lnTo>
                  <a:lnTo>
                    <a:pt x="274319" y="246964"/>
                  </a:lnTo>
                  <a:lnTo>
                    <a:pt x="272872" y="252730"/>
                  </a:lnTo>
                  <a:lnTo>
                    <a:pt x="269989" y="257759"/>
                  </a:lnTo>
                  <a:lnTo>
                    <a:pt x="267119" y="262801"/>
                  </a:lnTo>
                  <a:lnTo>
                    <a:pt x="262801" y="266763"/>
                  </a:lnTo>
                  <a:lnTo>
                    <a:pt x="257759" y="269646"/>
                  </a:lnTo>
                  <a:lnTo>
                    <a:pt x="252717" y="272529"/>
                  </a:lnTo>
                  <a:lnTo>
                    <a:pt x="247319" y="273964"/>
                  </a:lnTo>
                  <a:lnTo>
                    <a:pt x="241553" y="273964"/>
                  </a:lnTo>
                  <a:lnTo>
                    <a:pt x="32753" y="274320"/>
                  </a:lnTo>
                  <a:lnTo>
                    <a:pt x="27000" y="274320"/>
                  </a:lnTo>
                  <a:lnTo>
                    <a:pt x="21234" y="272884"/>
                  </a:lnTo>
                  <a:lnTo>
                    <a:pt x="16192" y="270002"/>
                  </a:lnTo>
                  <a:lnTo>
                    <a:pt x="11150" y="267119"/>
                  </a:lnTo>
                  <a:lnTo>
                    <a:pt x="7200" y="262801"/>
                  </a:lnTo>
                  <a:lnTo>
                    <a:pt x="4317" y="257759"/>
                  </a:lnTo>
                  <a:lnTo>
                    <a:pt x="1435" y="252730"/>
                  </a:lnTo>
                  <a:lnTo>
                    <a:pt x="0" y="247319"/>
                  </a:lnTo>
                  <a:lnTo>
                    <a:pt x="0" y="241566"/>
                  </a:lnTo>
                  <a:lnTo>
                    <a:pt x="0" y="32766"/>
                  </a:lnTo>
                  <a:close/>
                </a:path>
              </a:pathLst>
            </a:custGeom>
            <a:noFill/>
            <a:ln cap="flat" cmpd="sng" w="15825">
              <a:solidFill>
                <a:srgbClr val="147F3C"/>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90" name="Google Shape;990;p29"/>
            <p:cNvSpPr/>
            <p:nvPr/>
          </p:nvSpPr>
          <p:spPr>
            <a:xfrm>
              <a:off x="5037124" y="2303997"/>
              <a:ext cx="274320" cy="274320"/>
            </a:xfrm>
            <a:custGeom>
              <a:rect b="b" l="l" r="r" t="t"/>
              <a:pathLst>
                <a:path extrusionOk="0" h="274319" w="274320">
                  <a:moveTo>
                    <a:pt x="246951" y="0"/>
                  </a:moveTo>
                  <a:lnTo>
                    <a:pt x="27000" y="0"/>
                  </a:lnTo>
                  <a:lnTo>
                    <a:pt x="21589" y="1447"/>
                  </a:lnTo>
                  <a:lnTo>
                    <a:pt x="11518" y="7200"/>
                  </a:lnTo>
                  <a:lnTo>
                    <a:pt x="7200" y="11163"/>
                  </a:lnTo>
                  <a:lnTo>
                    <a:pt x="1435" y="21247"/>
                  </a:lnTo>
                  <a:lnTo>
                    <a:pt x="0" y="27000"/>
                  </a:lnTo>
                  <a:lnTo>
                    <a:pt x="0" y="247319"/>
                  </a:lnTo>
                  <a:lnTo>
                    <a:pt x="27000" y="274319"/>
                  </a:lnTo>
                  <a:lnTo>
                    <a:pt x="247319" y="273964"/>
                  </a:lnTo>
                  <a:lnTo>
                    <a:pt x="274319" y="241198"/>
                  </a:lnTo>
                  <a:lnTo>
                    <a:pt x="273961" y="32766"/>
                  </a:lnTo>
                  <a:lnTo>
                    <a:pt x="246951" y="0"/>
                  </a:lnTo>
                  <a:close/>
                </a:path>
              </a:pathLst>
            </a:custGeom>
            <a:solidFill>
              <a:srgbClr val="FFF0E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91" name="Google Shape;991;p29"/>
            <p:cNvSpPr/>
            <p:nvPr/>
          </p:nvSpPr>
          <p:spPr>
            <a:xfrm>
              <a:off x="5037124" y="2303997"/>
              <a:ext cx="274320" cy="274320"/>
            </a:xfrm>
            <a:custGeom>
              <a:rect b="b" l="l" r="r" t="t"/>
              <a:pathLst>
                <a:path extrusionOk="0" h="274319" w="274320">
                  <a:moveTo>
                    <a:pt x="0" y="32766"/>
                  </a:moveTo>
                  <a:lnTo>
                    <a:pt x="0" y="27000"/>
                  </a:lnTo>
                  <a:lnTo>
                    <a:pt x="1435" y="21247"/>
                  </a:lnTo>
                  <a:lnTo>
                    <a:pt x="4317" y="16205"/>
                  </a:lnTo>
                  <a:lnTo>
                    <a:pt x="7200" y="11163"/>
                  </a:lnTo>
                  <a:lnTo>
                    <a:pt x="11518" y="7200"/>
                  </a:lnTo>
                  <a:lnTo>
                    <a:pt x="16560" y="4318"/>
                  </a:lnTo>
                  <a:lnTo>
                    <a:pt x="21589" y="1447"/>
                  </a:lnTo>
                  <a:lnTo>
                    <a:pt x="27000" y="0"/>
                  </a:lnTo>
                  <a:lnTo>
                    <a:pt x="32753" y="0"/>
                  </a:lnTo>
                  <a:lnTo>
                    <a:pt x="241198" y="0"/>
                  </a:lnTo>
                  <a:lnTo>
                    <a:pt x="246951" y="0"/>
                  </a:lnTo>
                  <a:lnTo>
                    <a:pt x="252717" y="1447"/>
                  </a:lnTo>
                  <a:lnTo>
                    <a:pt x="273951" y="27000"/>
                  </a:lnTo>
                  <a:lnTo>
                    <a:pt x="273951" y="32766"/>
                  </a:lnTo>
                  <a:lnTo>
                    <a:pt x="274319" y="241198"/>
                  </a:lnTo>
                  <a:lnTo>
                    <a:pt x="274319" y="246964"/>
                  </a:lnTo>
                  <a:lnTo>
                    <a:pt x="272872" y="252730"/>
                  </a:lnTo>
                  <a:lnTo>
                    <a:pt x="269989" y="257759"/>
                  </a:lnTo>
                  <a:lnTo>
                    <a:pt x="267119" y="262801"/>
                  </a:lnTo>
                  <a:lnTo>
                    <a:pt x="262801" y="266763"/>
                  </a:lnTo>
                  <a:lnTo>
                    <a:pt x="257759" y="269646"/>
                  </a:lnTo>
                  <a:lnTo>
                    <a:pt x="252717" y="272529"/>
                  </a:lnTo>
                  <a:lnTo>
                    <a:pt x="247319" y="273964"/>
                  </a:lnTo>
                  <a:lnTo>
                    <a:pt x="241553" y="273964"/>
                  </a:lnTo>
                  <a:lnTo>
                    <a:pt x="32753" y="274319"/>
                  </a:lnTo>
                  <a:lnTo>
                    <a:pt x="27000" y="274319"/>
                  </a:lnTo>
                  <a:lnTo>
                    <a:pt x="21234" y="272884"/>
                  </a:lnTo>
                  <a:lnTo>
                    <a:pt x="16192" y="270002"/>
                  </a:lnTo>
                  <a:lnTo>
                    <a:pt x="11150" y="267119"/>
                  </a:lnTo>
                  <a:lnTo>
                    <a:pt x="7200" y="262801"/>
                  </a:lnTo>
                  <a:lnTo>
                    <a:pt x="4317" y="257759"/>
                  </a:lnTo>
                  <a:lnTo>
                    <a:pt x="1435" y="252730"/>
                  </a:lnTo>
                  <a:lnTo>
                    <a:pt x="0" y="247319"/>
                  </a:lnTo>
                  <a:lnTo>
                    <a:pt x="0" y="241566"/>
                  </a:lnTo>
                  <a:lnTo>
                    <a:pt x="0" y="32766"/>
                  </a:lnTo>
                  <a:close/>
                </a:path>
              </a:pathLst>
            </a:custGeom>
            <a:noFill/>
            <a:ln cap="flat" cmpd="sng" w="15825">
              <a:solidFill>
                <a:srgbClr val="C1400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992" name="Google Shape;992;p29"/>
            <p:cNvPicPr preferRelativeResize="0"/>
            <p:nvPr/>
          </p:nvPicPr>
          <p:blipFill rotWithShape="1">
            <a:blip r:embed="rId5">
              <a:alphaModFix/>
            </a:blip>
            <a:srcRect b="0" l="0" r="0" t="0"/>
            <a:stretch/>
          </p:blipFill>
          <p:spPr>
            <a:xfrm>
              <a:off x="5133594" y="2171524"/>
              <a:ext cx="82448" cy="118795"/>
            </a:xfrm>
            <a:prstGeom prst="rect">
              <a:avLst/>
            </a:prstGeom>
            <a:noFill/>
            <a:ln>
              <a:noFill/>
            </a:ln>
          </p:spPr>
        </p:pic>
        <p:pic>
          <p:nvPicPr>
            <p:cNvPr id="993" name="Google Shape;993;p29"/>
            <p:cNvPicPr preferRelativeResize="0"/>
            <p:nvPr/>
          </p:nvPicPr>
          <p:blipFill rotWithShape="1">
            <a:blip r:embed="rId9">
              <a:alphaModFix/>
            </a:blip>
            <a:srcRect b="0" l="0" r="0" t="0"/>
            <a:stretch/>
          </p:blipFill>
          <p:spPr>
            <a:xfrm>
              <a:off x="5348160" y="1993317"/>
              <a:ext cx="109804" cy="73088"/>
            </a:xfrm>
            <a:prstGeom prst="rect">
              <a:avLst/>
            </a:prstGeom>
            <a:noFill/>
            <a:ln>
              <a:noFill/>
            </a:ln>
          </p:spPr>
        </p:pic>
        <p:sp>
          <p:nvSpPr>
            <p:cNvPr id="994" name="Google Shape;994;p29"/>
            <p:cNvSpPr/>
            <p:nvPr/>
          </p:nvSpPr>
          <p:spPr>
            <a:xfrm>
              <a:off x="5494324" y="1892517"/>
              <a:ext cx="274320" cy="274320"/>
            </a:xfrm>
            <a:custGeom>
              <a:rect b="b" l="l" r="r" t="t"/>
              <a:pathLst>
                <a:path extrusionOk="0" h="274319" w="274320">
                  <a:moveTo>
                    <a:pt x="246951" y="0"/>
                  </a:moveTo>
                  <a:lnTo>
                    <a:pt x="27000" y="0"/>
                  </a:lnTo>
                  <a:lnTo>
                    <a:pt x="21589" y="1447"/>
                  </a:lnTo>
                  <a:lnTo>
                    <a:pt x="11518" y="7200"/>
                  </a:lnTo>
                  <a:lnTo>
                    <a:pt x="7200" y="11163"/>
                  </a:lnTo>
                  <a:lnTo>
                    <a:pt x="1435" y="21247"/>
                  </a:lnTo>
                  <a:lnTo>
                    <a:pt x="0" y="27000"/>
                  </a:lnTo>
                  <a:lnTo>
                    <a:pt x="0" y="247319"/>
                  </a:lnTo>
                  <a:lnTo>
                    <a:pt x="27000" y="274320"/>
                  </a:lnTo>
                  <a:lnTo>
                    <a:pt x="247319" y="273964"/>
                  </a:lnTo>
                  <a:lnTo>
                    <a:pt x="274319" y="241198"/>
                  </a:lnTo>
                  <a:lnTo>
                    <a:pt x="273961" y="32766"/>
                  </a:lnTo>
                  <a:lnTo>
                    <a:pt x="246951" y="0"/>
                  </a:lnTo>
                  <a:close/>
                </a:path>
              </a:pathLst>
            </a:custGeom>
            <a:solidFill>
              <a:srgbClr val="E9F6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95" name="Google Shape;995;p29"/>
            <p:cNvSpPr/>
            <p:nvPr/>
          </p:nvSpPr>
          <p:spPr>
            <a:xfrm>
              <a:off x="5494324" y="1892517"/>
              <a:ext cx="274320" cy="274320"/>
            </a:xfrm>
            <a:custGeom>
              <a:rect b="b" l="l" r="r" t="t"/>
              <a:pathLst>
                <a:path extrusionOk="0" h="274319" w="274320">
                  <a:moveTo>
                    <a:pt x="0" y="32766"/>
                  </a:moveTo>
                  <a:lnTo>
                    <a:pt x="0" y="27000"/>
                  </a:lnTo>
                  <a:lnTo>
                    <a:pt x="1435" y="21247"/>
                  </a:lnTo>
                  <a:lnTo>
                    <a:pt x="4317" y="16205"/>
                  </a:lnTo>
                  <a:lnTo>
                    <a:pt x="7200" y="11163"/>
                  </a:lnTo>
                  <a:lnTo>
                    <a:pt x="11518" y="7200"/>
                  </a:lnTo>
                  <a:lnTo>
                    <a:pt x="16560" y="4318"/>
                  </a:lnTo>
                  <a:lnTo>
                    <a:pt x="21589" y="1447"/>
                  </a:lnTo>
                  <a:lnTo>
                    <a:pt x="27000" y="0"/>
                  </a:lnTo>
                  <a:lnTo>
                    <a:pt x="32753" y="0"/>
                  </a:lnTo>
                  <a:lnTo>
                    <a:pt x="241198" y="0"/>
                  </a:lnTo>
                  <a:lnTo>
                    <a:pt x="246951" y="0"/>
                  </a:lnTo>
                  <a:lnTo>
                    <a:pt x="252717" y="1447"/>
                  </a:lnTo>
                  <a:lnTo>
                    <a:pt x="273951" y="27000"/>
                  </a:lnTo>
                  <a:lnTo>
                    <a:pt x="273951" y="32766"/>
                  </a:lnTo>
                  <a:lnTo>
                    <a:pt x="274319" y="241198"/>
                  </a:lnTo>
                  <a:lnTo>
                    <a:pt x="274319" y="246964"/>
                  </a:lnTo>
                  <a:lnTo>
                    <a:pt x="272872" y="252730"/>
                  </a:lnTo>
                  <a:lnTo>
                    <a:pt x="269989" y="257759"/>
                  </a:lnTo>
                  <a:lnTo>
                    <a:pt x="267119" y="262801"/>
                  </a:lnTo>
                  <a:lnTo>
                    <a:pt x="262801" y="266763"/>
                  </a:lnTo>
                  <a:lnTo>
                    <a:pt x="257759" y="269646"/>
                  </a:lnTo>
                  <a:lnTo>
                    <a:pt x="252717" y="272529"/>
                  </a:lnTo>
                  <a:lnTo>
                    <a:pt x="247319" y="273964"/>
                  </a:lnTo>
                  <a:lnTo>
                    <a:pt x="241553" y="273964"/>
                  </a:lnTo>
                  <a:lnTo>
                    <a:pt x="32753" y="274320"/>
                  </a:lnTo>
                  <a:lnTo>
                    <a:pt x="27000" y="274320"/>
                  </a:lnTo>
                  <a:lnTo>
                    <a:pt x="21234" y="272884"/>
                  </a:lnTo>
                  <a:lnTo>
                    <a:pt x="16192" y="270002"/>
                  </a:lnTo>
                  <a:lnTo>
                    <a:pt x="11150" y="267119"/>
                  </a:lnTo>
                  <a:lnTo>
                    <a:pt x="7200" y="262801"/>
                  </a:lnTo>
                  <a:lnTo>
                    <a:pt x="4317" y="257759"/>
                  </a:lnTo>
                  <a:lnTo>
                    <a:pt x="1435" y="252730"/>
                  </a:lnTo>
                  <a:lnTo>
                    <a:pt x="0" y="247319"/>
                  </a:lnTo>
                  <a:lnTo>
                    <a:pt x="0" y="241566"/>
                  </a:lnTo>
                  <a:lnTo>
                    <a:pt x="0" y="32766"/>
                  </a:lnTo>
                  <a:close/>
                </a:path>
              </a:pathLst>
            </a:custGeom>
            <a:noFill/>
            <a:ln cap="flat" cmpd="sng" w="15825">
              <a:solidFill>
                <a:srgbClr val="147F3C"/>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96" name="Google Shape;996;p29"/>
            <p:cNvSpPr/>
            <p:nvPr/>
          </p:nvSpPr>
          <p:spPr>
            <a:xfrm>
              <a:off x="5494324" y="2303997"/>
              <a:ext cx="274320" cy="274320"/>
            </a:xfrm>
            <a:custGeom>
              <a:rect b="b" l="l" r="r" t="t"/>
              <a:pathLst>
                <a:path extrusionOk="0" h="274319" w="274320">
                  <a:moveTo>
                    <a:pt x="246951" y="0"/>
                  </a:moveTo>
                  <a:lnTo>
                    <a:pt x="27000" y="0"/>
                  </a:lnTo>
                  <a:lnTo>
                    <a:pt x="21589" y="1447"/>
                  </a:lnTo>
                  <a:lnTo>
                    <a:pt x="11518" y="7200"/>
                  </a:lnTo>
                  <a:lnTo>
                    <a:pt x="7200" y="11163"/>
                  </a:lnTo>
                  <a:lnTo>
                    <a:pt x="1435" y="21247"/>
                  </a:lnTo>
                  <a:lnTo>
                    <a:pt x="0" y="27000"/>
                  </a:lnTo>
                  <a:lnTo>
                    <a:pt x="0" y="247319"/>
                  </a:lnTo>
                  <a:lnTo>
                    <a:pt x="27000" y="274319"/>
                  </a:lnTo>
                  <a:lnTo>
                    <a:pt x="247319" y="273964"/>
                  </a:lnTo>
                  <a:lnTo>
                    <a:pt x="274319" y="241198"/>
                  </a:lnTo>
                  <a:lnTo>
                    <a:pt x="273961" y="32766"/>
                  </a:lnTo>
                  <a:lnTo>
                    <a:pt x="246951" y="0"/>
                  </a:lnTo>
                  <a:close/>
                </a:path>
              </a:pathLst>
            </a:custGeom>
            <a:solidFill>
              <a:srgbClr val="FFF0E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97" name="Google Shape;997;p29"/>
            <p:cNvSpPr/>
            <p:nvPr/>
          </p:nvSpPr>
          <p:spPr>
            <a:xfrm>
              <a:off x="5494324" y="2303997"/>
              <a:ext cx="274320" cy="274320"/>
            </a:xfrm>
            <a:custGeom>
              <a:rect b="b" l="l" r="r" t="t"/>
              <a:pathLst>
                <a:path extrusionOk="0" h="274319" w="274320">
                  <a:moveTo>
                    <a:pt x="0" y="32766"/>
                  </a:moveTo>
                  <a:lnTo>
                    <a:pt x="0" y="27000"/>
                  </a:lnTo>
                  <a:lnTo>
                    <a:pt x="1435" y="21247"/>
                  </a:lnTo>
                  <a:lnTo>
                    <a:pt x="4317" y="16205"/>
                  </a:lnTo>
                  <a:lnTo>
                    <a:pt x="7200" y="11163"/>
                  </a:lnTo>
                  <a:lnTo>
                    <a:pt x="11518" y="7200"/>
                  </a:lnTo>
                  <a:lnTo>
                    <a:pt x="16560" y="4318"/>
                  </a:lnTo>
                  <a:lnTo>
                    <a:pt x="21589" y="1447"/>
                  </a:lnTo>
                  <a:lnTo>
                    <a:pt x="27000" y="0"/>
                  </a:lnTo>
                  <a:lnTo>
                    <a:pt x="32753" y="0"/>
                  </a:lnTo>
                  <a:lnTo>
                    <a:pt x="241198" y="0"/>
                  </a:lnTo>
                  <a:lnTo>
                    <a:pt x="246951" y="0"/>
                  </a:lnTo>
                  <a:lnTo>
                    <a:pt x="252717" y="1447"/>
                  </a:lnTo>
                  <a:lnTo>
                    <a:pt x="273951" y="27000"/>
                  </a:lnTo>
                  <a:lnTo>
                    <a:pt x="273951" y="32766"/>
                  </a:lnTo>
                  <a:lnTo>
                    <a:pt x="274319" y="241198"/>
                  </a:lnTo>
                  <a:lnTo>
                    <a:pt x="274319" y="246964"/>
                  </a:lnTo>
                  <a:lnTo>
                    <a:pt x="272872" y="252730"/>
                  </a:lnTo>
                  <a:lnTo>
                    <a:pt x="269989" y="257759"/>
                  </a:lnTo>
                  <a:lnTo>
                    <a:pt x="267119" y="262801"/>
                  </a:lnTo>
                  <a:lnTo>
                    <a:pt x="262801" y="266763"/>
                  </a:lnTo>
                  <a:lnTo>
                    <a:pt x="257759" y="269646"/>
                  </a:lnTo>
                  <a:lnTo>
                    <a:pt x="252717" y="272529"/>
                  </a:lnTo>
                  <a:lnTo>
                    <a:pt x="247319" y="273964"/>
                  </a:lnTo>
                  <a:lnTo>
                    <a:pt x="241553" y="273964"/>
                  </a:lnTo>
                  <a:lnTo>
                    <a:pt x="32753" y="274319"/>
                  </a:lnTo>
                  <a:lnTo>
                    <a:pt x="27000" y="274319"/>
                  </a:lnTo>
                  <a:lnTo>
                    <a:pt x="21234" y="272884"/>
                  </a:lnTo>
                  <a:lnTo>
                    <a:pt x="16192" y="270002"/>
                  </a:lnTo>
                  <a:lnTo>
                    <a:pt x="11150" y="267119"/>
                  </a:lnTo>
                  <a:lnTo>
                    <a:pt x="7200" y="262801"/>
                  </a:lnTo>
                  <a:lnTo>
                    <a:pt x="4317" y="257759"/>
                  </a:lnTo>
                  <a:lnTo>
                    <a:pt x="1435" y="252730"/>
                  </a:lnTo>
                  <a:lnTo>
                    <a:pt x="0" y="247319"/>
                  </a:lnTo>
                  <a:lnTo>
                    <a:pt x="0" y="241566"/>
                  </a:lnTo>
                  <a:lnTo>
                    <a:pt x="0" y="32766"/>
                  </a:lnTo>
                  <a:close/>
                </a:path>
              </a:pathLst>
            </a:custGeom>
            <a:noFill/>
            <a:ln cap="flat" cmpd="sng" w="15825">
              <a:solidFill>
                <a:srgbClr val="C1400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998" name="Google Shape;998;p29"/>
            <p:cNvPicPr preferRelativeResize="0"/>
            <p:nvPr/>
          </p:nvPicPr>
          <p:blipFill rotWithShape="1">
            <a:blip r:embed="rId5">
              <a:alphaModFix/>
            </a:blip>
            <a:srcRect b="0" l="0" r="0" t="0"/>
            <a:stretch/>
          </p:blipFill>
          <p:spPr>
            <a:xfrm>
              <a:off x="5590794" y="2171524"/>
              <a:ext cx="82448" cy="118795"/>
            </a:xfrm>
            <a:prstGeom prst="rect">
              <a:avLst/>
            </a:prstGeom>
            <a:noFill/>
            <a:ln>
              <a:noFill/>
            </a:ln>
          </p:spPr>
        </p:pic>
        <p:pic>
          <p:nvPicPr>
            <p:cNvPr id="999" name="Google Shape;999;p29"/>
            <p:cNvPicPr preferRelativeResize="0"/>
            <p:nvPr/>
          </p:nvPicPr>
          <p:blipFill rotWithShape="1">
            <a:blip r:embed="rId9">
              <a:alphaModFix/>
            </a:blip>
            <a:srcRect b="0" l="0" r="0" t="0"/>
            <a:stretch/>
          </p:blipFill>
          <p:spPr>
            <a:xfrm>
              <a:off x="5805360" y="1993317"/>
              <a:ext cx="109804" cy="73088"/>
            </a:xfrm>
            <a:prstGeom prst="rect">
              <a:avLst/>
            </a:prstGeom>
            <a:noFill/>
            <a:ln>
              <a:noFill/>
            </a:ln>
          </p:spPr>
        </p:pic>
        <p:sp>
          <p:nvSpPr>
            <p:cNvPr id="1000" name="Google Shape;1000;p29"/>
            <p:cNvSpPr/>
            <p:nvPr/>
          </p:nvSpPr>
          <p:spPr>
            <a:xfrm>
              <a:off x="5951524" y="1892517"/>
              <a:ext cx="274320" cy="274320"/>
            </a:xfrm>
            <a:custGeom>
              <a:rect b="b" l="l" r="r" t="t"/>
              <a:pathLst>
                <a:path extrusionOk="0" h="274319" w="274320">
                  <a:moveTo>
                    <a:pt x="246951" y="0"/>
                  </a:moveTo>
                  <a:lnTo>
                    <a:pt x="27000" y="0"/>
                  </a:lnTo>
                  <a:lnTo>
                    <a:pt x="21589" y="1447"/>
                  </a:lnTo>
                  <a:lnTo>
                    <a:pt x="11518" y="7200"/>
                  </a:lnTo>
                  <a:lnTo>
                    <a:pt x="7200" y="11163"/>
                  </a:lnTo>
                  <a:lnTo>
                    <a:pt x="1435" y="21247"/>
                  </a:lnTo>
                  <a:lnTo>
                    <a:pt x="0" y="27000"/>
                  </a:lnTo>
                  <a:lnTo>
                    <a:pt x="0" y="247319"/>
                  </a:lnTo>
                  <a:lnTo>
                    <a:pt x="27000" y="274320"/>
                  </a:lnTo>
                  <a:lnTo>
                    <a:pt x="247319" y="273964"/>
                  </a:lnTo>
                  <a:lnTo>
                    <a:pt x="274319" y="241198"/>
                  </a:lnTo>
                  <a:lnTo>
                    <a:pt x="273961" y="32766"/>
                  </a:lnTo>
                  <a:lnTo>
                    <a:pt x="246951" y="0"/>
                  </a:lnTo>
                  <a:close/>
                </a:path>
              </a:pathLst>
            </a:custGeom>
            <a:solidFill>
              <a:srgbClr val="E9F6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01" name="Google Shape;1001;p29"/>
            <p:cNvSpPr/>
            <p:nvPr/>
          </p:nvSpPr>
          <p:spPr>
            <a:xfrm>
              <a:off x="5951524" y="1892517"/>
              <a:ext cx="274320" cy="274320"/>
            </a:xfrm>
            <a:custGeom>
              <a:rect b="b" l="l" r="r" t="t"/>
              <a:pathLst>
                <a:path extrusionOk="0" h="274319" w="274320">
                  <a:moveTo>
                    <a:pt x="0" y="32766"/>
                  </a:moveTo>
                  <a:lnTo>
                    <a:pt x="0" y="27000"/>
                  </a:lnTo>
                  <a:lnTo>
                    <a:pt x="1435" y="21247"/>
                  </a:lnTo>
                  <a:lnTo>
                    <a:pt x="4317" y="16205"/>
                  </a:lnTo>
                  <a:lnTo>
                    <a:pt x="7200" y="11163"/>
                  </a:lnTo>
                  <a:lnTo>
                    <a:pt x="11518" y="7200"/>
                  </a:lnTo>
                  <a:lnTo>
                    <a:pt x="16560" y="4318"/>
                  </a:lnTo>
                  <a:lnTo>
                    <a:pt x="21589" y="1447"/>
                  </a:lnTo>
                  <a:lnTo>
                    <a:pt x="27000" y="0"/>
                  </a:lnTo>
                  <a:lnTo>
                    <a:pt x="32753" y="0"/>
                  </a:lnTo>
                  <a:lnTo>
                    <a:pt x="241198" y="0"/>
                  </a:lnTo>
                  <a:lnTo>
                    <a:pt x="246951" y="0"/>
                  </a:lnTo>
                  <a:lnTo>
                    <a:pt x="252717" y="1447"/>
                  </a:lnTo>
                  <a:lnTo>
                    <a:pt x="273951" y="27000"/>
                  </a:lnTo>
                  <a:lnTo>
                    <a:pt x="273951" y="32766"/>
                  </a:lnTo>
                  <a:lnTo>
                    <a:pt x="274319" y="241198"/>
                  </a:lnTo>
                  <a:lnTo>
                    <a:pt x="274319" y="246964"/>
                  </a:lnTo>
                  <a:lnTo>
                    <a:pt x="272872" y="252730"/>
                  </a:lnTo>
                  <a:lnTo>
                    <a:pt x="269989" y="257759"/>
                  </a:lnTo>
                  <a:lnTo>
                    <a:pt x="267119" y="262801"/>
                  </a:lnTo>
                  <a:lnTo>
                    <a:pt x="262801" y="266763"/>
                  </a:lnTo>
                  <a:lnTo>
                    <a:pt x="257759" y="269646"/>
                  </a:lnTo>
                  <a:lnTo>
                    <a:pt x="252717" y="272529"/>
                  </a:lnTo>
                  <a:lnTo>
                    <a:pt x="247319" y="273964"/>
                  </a:lnTo>
                  <a:lnTo>
                    <a:pt x="241553" y="273964"/>
                  </a:lnTo>
                  <a:lnTo>
                    <a:pt x="32753" y="274320"/>
                  </a:lnTo>
                  <a:lnTo>
                    <a:pt x="27000" y="274320"/>
                  </a:lnTo>
                  <a:lnTo>
                    <a:pt x="21234" y="272884"/>
                  </a:lnTo>
                  <a:lnTo>
                    <a:pt x="16192" y="270002"/>
                  </a:lnTo>
                  <a:lnTo>
                    <a:pt x="11150" y="267119"/>
                  </a:lnTo>
                  <a:lnTo>
                    <a:pt x="7200" y="262801"/>
                  </a:lnTo>
                  <a:lnTo>
                    <a:pt x="4317" y="257759"/>
                  </a:lnTo>
                  <a:lnTo>
                    <a:pt x="1435" y="252730"/>
                  </a:lnTo>
                  <a:lnTo>
                    <a:pt x="0" y="247319"/>
                  </a:lnTo>
                  <a:lnTo>
                    <a:pt x="0" y="241566"/>
                  </a:lnTo>
                  <a:lnTo>
                    <a:pt x="0" y="32766"/>
                  </a:lnTo>
                  <a:close/>
                </a:path>
              </a:pathLst>
            </a:custGeom>
            <a:noFill/>
            <a:ln cap="flat" cmpd="sng" w="15825">
              <a:solidFill>
                <a:srgbClr val="147F3C"/>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02" name="Google Shape;1002;p29"/>
            <p:cNvSpPr/>
            <p:nvPr/>
          </p:nvSpPr>
          <p:spPr>
            <a:xfrm>
              <a:off x="5951524" y="2303997"/>
              <a:ext cx="274320" cy="274320"/>
            </a:xfrm>
            <a:custGeom>
              <a:rect b="b" l="l" r="r" t="t"/>
              <a:pathLst>
                <a:path extrusionOk="0" h="274319" w="274320">
                  <a:moveTo>
                    <a:pt x="246951" y="0"/>
                  </a:moveTo>
                  <a:lnTo>
                    <a:pt x="27000" y="0"/>
                  </a:lnTo>
                  <a:lnTo>
                    <a:pt x="21589" y="1447"/>
                  </a:lnTo>
                  <a:lnTo>
                    <a:pt x="11518" y="7200"/>
                  </a:lnTo>
                  <a:lnTo>
                    <a:pt x="7200" y="11163"/>
                  </a:lnTo>
                  <a:lnTo>
                    <a:pt x="1435" y="21247"/>
                  </a:lnTo>
                  <a:lnTo>
                    <a:pt x="0" y="27000"/>
                  </a:lnTo>
                  <a:lnTo>
                    <a:pt x="0" y="247319"/>
                  </a:lnTo>
                  <a:lnTo>
                    <a:pt x="27000" y="274319"/>
                  </a:lnTo>
                  <a:lnTo>
                    <a:pt x="247319" y="273964"/>
                  </a:lnTo>
                  <a:lnTo>
                    <a:pt x="274319" y="241198"/>
                  </a:lnTo>
                  <a:lnTo>
                    <a:pt x="273961" y="32766"/>
                  </a:lnTo>
                  <a:lnTo>
                    <a:pt x="246951" y="0"/>
                  </a:lnTo>
                  <a:close/>
                </a:path>
              </a:pathLst>
            </a:custGeom>
            <a:solidFill>
              <a:srgbClr val="FFF0E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03" name="Google Shape;1003;p29"/>
            <p:cNvSpPr/>
            <p:nvPr/>
          </p:nvSpPr>
          <p:spPr>
            <a:xfrm>
              <a:off x="5951524" y="2303997"/>
              <a:ext cx="274320" cy="274320"/>
            </a:xfrm>
            <a:custGeom>
              <a:rect b="b" l="l" r="r" t="t"/>
              <a:pathLst>
                <a:path extrusionOk="0" h="274319" w="274320">
                  <a:moveTo>
                    <a:pt x="0" y="32766"/>
                  </a:moveTo>
                  <a:lnTo>
                    <a:pt x="0" y="27000"/>
                  </a:lnTo>
                  <a:lnTo>
                    <a:pt x="1435" y="21247"/>
                  </a:lnTo>
                  <a:lnTo>
                    <a:pt x="4317" y="16205"/>
                  </a:lnTo>
                  <a:lnTo>
                    <a:pt x="7200" y="11163"/>
                  </a:lnTo>
                  <a:lnTo>
                    <a:pt x="11518" y="7200"/>
                  </a:lnTo>
                  <a:lnTo>
                    <a:pt x="16560" y="4318"/>
                  </a:lnTo>
                  <a:lnTo>
                    <a:pt x="21589" y="1447"/>
                  </a:lnTo>
                  <a:lnTo>
                    <a:pt x="27000" y="0"/>
                  </a:lnTo>
                  <a:lnTo>
                    <a:pt x="32753" y="0"/>
                  </a:lnTo>
                  <a:lnTo>
                    <a:pt x="241198" y="0"/>
                  </a:lnTo>
                  <a:lnTo>
                    <a:pt x="246951" y="0"/>
                  </a:lnTo>
                  <a:lnTo>
                    <a:pt x="252717" y="1447"/>
                  </a:lnTo>
                  <a:lnTo>
                    <a:pt x="273951" y="27000"/>
                  </a:lnTo>
                  <a:lnTo>
                    <a:pt x="273951" y="32766"/>
                  </a:lnTo>
                  <a:lnTo>
                    <a:pt x="274319" y="241198"/>
                  </a:lnTo>
                  <a:lnTo>
                    <a:pt x="274319" y="246964"/>
                  </a:lnTo>
                  <a:lnTo>
                    <a:pt x="272872" y="252730"/>
                  </a:lnTo>
                  <a:lnTo>
                    <a:pt x="269989" y="257759"/>
                  </a:lnTo>
                  <a:lnTo>
                    <a:pt x="267119" y="262801"/>
                  </a:lnTo>
                  <a:lnTo>
                    <a:pt x="262801" y="266763"/>
                  </a:lnTo>
                  <a:lnTo>
                    <a:pt x="257759" y="269646"/>
                  </a:lnTo>
                  <a:lnTo>
                    <a:pt x="252717" y="272529"/>
                  </a:lnTo>
                  <a:lnTo>
                    <a:pt x="247319" y="273964"/>
                  </a:lnTo>
                  <a:lnTo>
                    <a:pt x="241553" y="273964"/>
                  </a:lnTo>
                  <a:lnTo>
                    <a:pt x="32753" y="274319"/>
                  </a:lnTo>
                  <a:lnTo>
                    <a:pt x="27000" y="274319"/>
                  </a:lnTo>
                  <a:lnTo>
                    <a:pt x="21234" y="272884"/>
                  </a:lnTo>
                  <a:lnTo>
                    <a:pt x="16192" y="270002"/>
                  </a:lnTo>
                  <a:lnTo>
                    <a:pt x="11150" y="267119"/>
                  </a:lnTo>
                  <a:lnTo>
                    <a:pt x="7200" y="262801"/>
                  </a:lnTo>
                  <a:lnTo>
                    <a:pt x="4317" y="257759"/>
                  </a:lnTo>
                  <a:lnTo>
                    <a:pt x="1435" y="252730"/>
                  </a:lnTo>
                  <a:lnTo>
                    <a:pt x="0" y="247319"/>
                  </a:lnTo>
                  <a:lnTo>
                    <a:pt x="0" y="241566"/>
                  </a:lnTo>
                  <a:lnTo>
                    <a:pt x="0" y="32766"/>
                  </a:lnTo>
                  <a:close/>
                </a:path>
              </a:pathLst>
            </a:custGeom>
            <a:noFill/>
            <a:ln cap="flat" cmpd="sng" w="15825">
              <a:solidFill>
                <a:srgbClr val="C1400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004" name="Google Shape;1004;p29"/>
            <p:cNvPicPr preferRelativeResize="0"/>
            <p:nvPr/>
          </p:nvPicPr>
          <p:blipFill rotWithShape="1">
            <a:blip r:embed="rId5">
              <a:alphaModFix/>
            </a:blip>
            <a:srcRect b="0" l="0" r="0" t="0"/>
            <a:stretch/>
          </p:blipFill>
          <p:spPr>
            <a:xfrm>
              <a:off x="6047994" y="2171524"/>
              <a:ext cx="82448" cy="118795"/>
            </a:xfrm>
            <a:prstGeom prst="rect">
              <a:avLst/>
            </a:prstGeom>
            <a:noFill/>
            <a:ln>
              <a:noFill/>
            </a:ln>
          </p:spPr>
        </p:pic>
        <p:sp>
          <p:nvSpPr>
            <p:cNvPr id="1005" name="Google Shape;1005;p29"/>
            <p:cNvSpPr/>
            <p:nvPr/>
          </p:nvSpPr>
          <p:spPr>
            <a:xfrm>
              <a:off x="5951524" y="1481037"/>
              <a:ext cx="274320" cy="274320"/>
            </a:xfrm>
            <a:custGeom>
              <a:rect b="b" l="l" r="r" t="t"/>
              <a:pathLst>
                <a:path extrusionOk="0" h="274319" w="274320">
                  <a:moveTo>
                    <a:pt x="246951" y="0"/>
                  </a:moveTo>
                  <a:lnTo>
                    <a:pt x="27000" y="0"/>
                  </a:lnTo>
                  <a:lnTo>
                    <a:pt x="21589" y="1447"/>
                  </a:lnTo>
                  <a:lnTo>
                    <a:pt x="11518" y="7200"/>
                  </a:lnTo>
                  <a:lnTo>
                    <a:pt x="7200" y="11163"/>
                  </a:lnTo>
                  <a:lnTo>
                    <a:pt x="1435" y="21247"/>
                  </a:lnTo>
                  <a:lnTo>
                    <a:pt x="0" y="27000"/>
                  </a:lnTo>
                  <a:lnTo>
                    <a:pt x="0" y="247319"/>
                  </a:lnTo>
                  <a:lnTo>
                    <a:pt x="27000" y="274319"/>
                  </a:lnTo>
                  <a:lnTo>
                    <a:pt x="247319" y="273964"/>
                  </a:lnTo>
                  <a:lnTo>
                    <a:pt x="274319" y="241198"/>
                  </a:lnTo>
                  <a:lnTo>
                    <a:pt x="273961" y="32765"/>
                  </a:lnTo>
                  <a:lnTo>
                    <a:pt x="246951" y="0"/>
                  </a:lnTo>
                  <a:close/>
                </a:path>
              </a:pathLst>
            </a:custGeom>
            <a:solidFill>
              <a:srgbClr val="E7ED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06" name="Google Shape;1006;p29"/>
            <p:cNvSpPr/>
            <p:nvPr/>
          </p:nvSpPr>
          <p:spPr>
            <a:xfrm>
              <a:off x="5951524" y="1481037"/>
              <a:ext cx="274320" cy="274320"/>
            </a:xfrm>
            <a:custGeom>
              <a:rect b="b" l="l" r="r" t="t"/>
              <a:pathLst>
                <a:path extrusionOk="0" h="274319" w="274320">
                  <a:moveTo>
                    <a:pt x="0" y="32765"/>
                  </a:moveTo>
                  <a:lnTo>
                    <a:pt x="0" y="27000"/>
                  </a:lnTo>
                  <a:lnTo>
                    <a:pt x="1435" y="21247"/>
                  </a:lnTo>
                  <a:lnTo>
                    <a:pt x="4317" y="16205"/>
                  </a:lnTo>
                  <a:lnTo>
                    <a:pt x="7200" y="11163"/>
                  </a:lnTo>
                  <a:lnTo>
                    <a:pt x="11518" y="7200"/>
                  </a:lnTo>
                  <a:lnTo>
                    <a:pt x="16560" y="4317"/>
                  </a:lnTo>
                  <a:lnTo>
                    <a:pt x="21589" y="1447"/>
                  </a:lnTo>
                  <a:lnTo>
                    <a:pt x="27000" y="0"/>
                  </a:lnTo>
                  <a:lnTo>
                    <a:pt x="32753" y="0"/>
                  </a:lnTo>
                  <a:lnTo>
                    <a:pt x="241198" y="0"/>
                  </a:lnTo>
                  <a:lnTo>
                    <a:pt x="246951" y="0"/>
                  </a:lnTo>
                  <a:lnTo>
                    <a:pt x="252717" y="1447"/>
                  </a:lnTo>
                  <a:lnTo>
                    <a:pt x="273951" y="27000"/>
                  </a:lnTo>
                  <a:lnTo>
                    <a:pt x="273951" y="32765"/>
                  </a:lnTo>
                  <a:lnTo>
                    <a:pt x="274319" y="241198"/>
                  </a:lnTo>
                  <a:lnTo>
                    <a:pt x="274319" y="246964"/>
                  </a:lnTo>
                  <a:lnTo>
                    <a:pt x="272872" y="252729"/>
                  </a:lnTo>
                  <a:lnTo>
                    <a:pt x="269989" y="257759"/>
                  </a:lnTo>
                  <a:lnTo>
                    <a:pt x="267119" y="262801"/>
                  </a:lnTo>
                  <a:lnTo>
                    <a:pt x="262801" y="266763"/>
                  </a:lnTo>
                  <a:lnTo>
                    <a:pt x="257759" y="269646"/>
                  </a:lnTo>
                  <a:lnTo>
                    <a:pt x="252717" y="272529"/>
                  </a:lnTo>
                  <a:lnTo>
                    <a:pt x="247319" y="273964"/>
                  </a:lnTo>
                  <a:lnTo>
                    <a:pt x="241553" y="273964"/>
                  </a:lnTo>
                  <a:lnTo>
                    <a:pt x="32753" y="274319"/>
                  </a:lnTo>
                  <a:lnTo>
                    <a:pt x="27000" y="274319"/>
                  </a:lnTo>
                  <a:lnTo>
                    <a:pt x="21234" y="272884"/>
                  </a:lnTo>
                  <a:lnTo>
                    <a:pt x="16192" y="270001"/>
                  </a:lnTo>
                  <a:lnTo>
                    <a:pt x="11150" y="267119"/>
                  </a:lnTo>
                  <a:lnTo>
                    <a:pt x="7200" y="262801"/>
                  </a:lnTo>
                  <a:lnTo>
                    <a:pt x="4317" y="257759"/>
                  </a:lnTo>
                  <a:lnTo>
                    <a:pt x="1435" y="252729"/>
                  </a:lnTo>
                  <a:lnTo>
                    <a:pt x="0" y="247319"/>
                  </a:lnTo>
                  <a:lnTo>
                    <a:pt x="0" y="241566"/>
                  </a:lnTo>
                  <a:lnTo>
                    <a:pt x="0" y="32765"/>
                  </a:lnTo>
                  <a:close/>
                </a:path>
              </a:pathLst>
            </a:custGeom>
            <a:noFill/>
            <a:ln cap="flat" cmpd="sng" w="15825">
              <a:solidFill>
                <a:srgbClr val="1D3FAE"/>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007" name="Google Shape;1007;p29"/>
            <p:cNvPicPr preferRelativeResize="0"/>
            <p:nvPr/>
          </p:nvPicPr>
          <p:blipFill rotWithShape="1">
            <a:blip r:embed="rId6">
              <a:alphaModFix/>
            </a:blip>
            <a:srcRect b="0" l="0" r="0" t="0"/>
            <a:stretch/>
          </p:blipFill>
          <p:spPr>
            <a:xfrm>
              <a:off x="6047994" y="1760044"/>
              <a:ext cx="82448" cy="118795"/>
            </a:xfrm>
            <a:prstGeom prst="rect">
              <a:avLst/>
            </a:prstGeom>
            <a:noFill/>
            <a:ln>
              <a:noFill/>
            </a:ln>
          </p:spPr>
        </p:pic>
      </p:grpSp>
      <p:sp>
        <p:nvSpPr>
          <p:cNvPr id="1008" name="Google Shape;1008;p29"/>
          <p:cNvSpPr txBox="1"/>
          <p:nvPr/>
        </p:nvSpPr>
        <p:spPr>
          <a:xfrm>
            <a:off x="4764138" y="2598741"/>
            <a:ext cx="1714500" cy="1371600"/>
          </a:xfrm>
          <a:prstGeom prst="rect">
            <a:avLst/>
          </a:prstGeom>
          <a:noFill/>
          <a:ln>
            <a:noFill/>
          </a:ln>
        </p:spPr>
        <p:txBody>
          <a:bodyPr anchorCtr="0" anchor="t" bIns="0" lIns="0" spcFirstLastPara="1" rIns="0" wrap="square" tIns="87625">
            <a:spAutoFit/>
          </a:bodyPr>
          <a:lstStyle/>
          <a:p>
            <a:pPr indent="0" lvl="0" marL="194945" rtl="0" algn="l">
              <a:lnSpc>
                <a:spcPct val="100000"/>
              </a:lnSpc>
              <a:spcBef>
                <a:spcPts val="0"/>
              </a:spcBef>
              <a:spcAft>
                <a:spcPts val="0"/>
              </a:spcAft>
              <a:buNone/>
            </a:pPr>
            <a:r>
              <a:rPr b="1" lang="en-US" sz="1100">
                <a:solidFill>
                  <a:srgbClr val="6C27D8"/>
                </a:solidFill>
                <a:latin typeface="Calibri"/>
                <a:ea typeface="Calibri"/>
                <a:cs typeface="Calibri"/>
                <a:sym typeface="Calibri"/>
              </a:rPr>
              <a:t>a sequence → 1 output</a:t>
            </a:r>
            <a:endParaRPr sz="1100">
              <a:latin typeface="Calibri"/>
              <a:ea typeface="Calibri"/>
              <a:cs typeface="Calibri"/>
              <a:sym typeface="Calibri"/>
            </a:endParaRPr>
          </a:p>
          <a:p>
            <a:pPr indent="-168910" lvl="0" marL="181610" rtl="0" algn="l">
              <a:lnSpc>
                <a:spcPct val="119523"/>
              </a:lnSpc>
              <a:spcBef>
                <a:spcPts val="560"/>
              </a:spcBef>
              <a:spcAft>
                <a:spcPts val="0"/>
              </a:spcAft>
              <a:buClr>
                <a:srgbClr val="1E2836"/>
              </a:buClr>
              <a:buSzPts val="1050"/>
              <a:buFont typeface="Helvetica Neue"/>
              <a:buChar char="•"/>
            </a:pPr>
            <a:r>
              <a:rPr lang="en-US" sz="1050">
                <a:solidFill>
                  <a:srgbClr val="1E2836"/>
                </a:solidFill>
                <a:latin typeface="Calibri"/>
                <a:ea typeface="Calibri"/>
                <a:cs typeface="Calibri"/>
                <a:sym typeface="Calibri"/>
              </a:rPr>
              <a:t>Sentiment: a Flipkart review</a:t>
            </a:r>
            <a:endParaRPr sz="1050">
              <a:latin typeface="Calibri"/>
              <a:ea typeface="Calibri"/>
              <a:cs typeface="Calibri"/>
              <a:sym typeface="Calibri"/>
            </a:endParaRPr>
          </a:p>
          <a:p>
            <a:pPr indent="0" lvl="0" marL="183515" rtl="0" algn="l">
              <a:lnSpc>
                <a:spcPct val="119523"/>
              </a:lnSpc>
              <a:spcBef>
                <a:spcPts val="0"/>
              </a:spcBef>
              <a:spcAft>
                <a:spcPts val="0"/>
              </a:spcAft>
              <a:buNone/>
            </a:pPr>
            <a:r>
              <a:rPr lang="en-US" sz="1050">
                <a:solidFill>
                  <a:srgbClr val="1E2836"/>
                </a:solidFill>
                <a:latin typeface="Calibri"/>
                <a:ea typeface="Calibri"/>
                <a:cs typeface="Calibri"/>
                <a:sym typeface="Calibri"/>
              </a:rPr>
              <a:t>* positive / negative</a:t>
            </a:r>
            <a:endParaRPr sz="1050">
              <a:latin typeface="Calibri"/>
              <a:ea typeface="Calibri"/>
              <a:cs typeface="Calibri"/>
              <a:sym typeface="Calibri"/>
            </a:endParaRPr>
          </a:p>
          <a:p>
            <a:pPr indent="-168910" lvl="0" marL="180975" marR="5080" rtl="0" algn="l">
              <a:lnSpc>
                <a:spcPct val="100000"/>
              </a:lnSpc>
              <a:spcBef>
                <a:spcPts val="290"/>
              </a:spcBef>
              <a:spcAft>
                <a:spcPts val="0"/>
              </a:spcAft>
              <a:buClr>
                <a:srgbClr val="1E2836"/>
              </a:buClr>
              <a:buSzPts val="1050"/>
              <a:buFont typeface="Helvetica Neue"/>
              <a:buChar char="•"/>
            </a:pPr>
            <a:r>
              <a:rPr lang="en-US" sz="1050">
                <a:solidFill>
                  <a:srgbClr val="1E2836"/>
                </a:solidFill>
                <a:latin typeface="Calibri"/>
                <a:ea typeface="Calibri"/>
                <a:cs typeface="Calibri"/>
                <a:sym typeface="Calibri"/>
              </a:rPr>
              <a:t>Spam filter: an SMS → spam 	or not</a:t>
            </a:r>
            <a:endParaRPr sz="1050">
              <a:latin typeface="Calibri"/>
              <a:ea typeface="Calibri"/>
              <a:cs typeface="Calibri"/>
              <a:sym typeface="Calibri"/>
            </a:endParaRPr>
          </a:p>
          <a:p>
            <a:pPr indent="-168910" lvl="0" marL="180975" marR="257175" rtl="0" algn="l">
              <a:lnSpc>
                <a:spcPct val="100000"/>
              </a:lnSpc>
              <a:spcBef>
                <a:spcPts val="290"/>
              </a:spcBef>
              <a:spcAft>
                <a:spcPts val="0"/>
              </a:spcAft>
              <a:buClr>
                <a:srgbClr val="1E2836"/>
              </a:buClr>
              <a:buSzPts val="1050"/>
              <a:buFont typeface="Helvetica Neue"/>
              <a:buChar char="•"/>
            </a:pPr>
            <a:r>
              <a:rPr lang="en-US" sz="1050">
                <a:solidFill>
                  <a:srgbClr val="1E2836"/>
                </a:solidFill>
                <a:latin typeface="Calibri"/>
                <a:ea typeface="Calibri"/>
                <a:cs typeface="Calibri"/>
                <a:sym typeface="Calibri"/>
              </a:rPr>
              <a:t>ECG stream → normal / 	arrhythmia</a:t>
            </a:r>
            <a:endParaRPr sz="1050">
              <a:latin typeface="Calibri"/>
              <a:ea typeface="Calibri"/>
              <a:cs typeface="Calibri"/>
              <a:sym typeface="Calibri"/>
            </a:endParaRPr>
          </a:p>
        </p:txBody>
      </p:sp>
      <p:grpSp>
        <p:nvGrpSpPr>
          <p:cNvPr id="1009" name="Google Shape;1009;p29"/>
          <p:cNvGrpSpPr/>
          <p:nvPr/>
        </p:nvGrpSpPr>
        <p:grpSpPr>
          <a:xfrm>
            <a:off x="6710400" y="967665"/>
            <a:ext cx="2080437" cy="3424339"/>
            <a:chOff x="6710400" y="967665"/>
            <a:chExt cx="2080437" cy="3424339"/>
          </a:xfrm>
        </p:grpSpPr>
        <p:pic>
          <p:nvPicPr>
            <p:cNvPr id="1010" name="Google Shape;1010;p29"/>
            <p:cNvPicPr preferRelativeResize="0"/>
            <p:nvPr/>
          </p:nvPicPr>
          <p:blipFill rotWithShape="1">
            <a:blip r:embed="rId4">
              <a:alphaModFix/>
            </a:blip>
            <a:srcRect b="0" l="0" r="0" t="0"/>
            <a:stretch/>
          </p:blipFill>
          <p:spPr>
            <a:xfrm>
              <a:off x="6710400" y="967665"/>
              <a:ext cx="2080437" cy="3424339"/>
            </a:xfrm>
            <a:prstGeom prst="rect">
              <a:avLst/>
            </a:prstGeom>
            <a:noFill/>
            <a:ln>
              <a:noFill/>
            </a:ln>
          </p:spPr>
        </p:pic>
        <p:pic>
          <p:nvPicPr>
            <p:cNvPr id="1011" name="Google Shape;1011;p29"/>
            <p:cNvPicPr preferRelativeResize="0"/>
            <p:nvPr/>
          </p:nvPicPr>
          <p:blipFill rotWithShape="1">
            <a:blip r:embed="rId10">
              <a:alphaModFix/>
            </a:blip>
            <a:srcRect b="0" l="0" r="0" t="0"/>
            <a:stretch/>
          </p:blipFill>
          <p:spPr>
            <a:xfrm>
              <a:off x="6760983" y="999186"/>
              <a:ext cx="1978915" cy="3323159"/>
            </a:xfrm>
            <a:prstGeom prst="rect">
              <a:avLst/>
            </a:prstGeom>
            <a:noFill/>
            <a:ln>
              <a:noFill/>
            </a:ln>
          </p:spPr>
        </p:pic>
      </p:grpSp>
      <p:sp>
        <p:nvSpPr>
          <p:cNvPr id="1012" name="Google Shape;1012;p29"/>
          <p:cNvSpPr txBox="1"/>
          <p:nvPr/>
        </p:nvSpPr>
        <p:spPr>
          <a:xfrm>
            <a:off x="1002855" y="674181"/>
            <a:ext cx="7245350" cy="677545"/>
          </a:xfrm>
          <a:prstGeom prst="rect">
            <a:avLst/>
          </a:prstGeom>
          <a:noFill/>
          <a:ln>
            <a:noFill/>
          </a:ln>
        </p:spPr>
        <p:txBody>
          <a:bodyPr anchorCtr="0" anchor="t" bIns="0" lIns="0" spcFirstLastPara="1" rIns="0" wrap="square" tIns="12700">
            <a:spAutoFit/>
          </a:bodyPr>
          <a:lstStyle/>
          <a:p>
            <a:pPr indent="0" lvl="0" marL="883285" rtl="0" algn="l">
              <a:lnSpc>
                <a:spcPct val="100000"/>
              </a:lnSpc>
              <a:spcBef>
                <a:spcPts val="0"/>
              </a:spcBef>
              <a:spcAft>
                <a:spcPts val="0"/>
              </a:spcAft>
              <a:buNone/>
            </a:pPr>
            <a:r>
              <a:rPr i="1" lang="en-US" sz="1300">
                <a:solidFill>
                  <a:srgbClr val="0E756D"/>
                </a:solidFill>
                <a:latin typeface="Cambria"/>
                <a:ea typeface="Cambria"/>
                <a:cs typeface="Cambria"/>
                <a:sym typeface="Cambria"/>
              </a:rPr>
              <a:t>Count the inputs and the outputs, and you know the type of task</a:t>
            </a:r>
            <a:endParaRPr sz="1300">
              <a:latin typeface="Cambria"/>
              <a:ea typeface="Cambria"/>
              <a:cs typeface="Cambria"/>
              <a:sym typeface="Cambria"/>
            </a:endParaRPr>
          </a:p>
          <a:p>
            <a:pPr indent="0" lvl="0" marL="0" rtl="0" algn="l">
              <a:lnSpc>
                <a:spcPct val="100000"/>
              </a:lnSpc>
              <a:spcBef>
                <a:spcPts val="545"/>
              </a:spcBef>
              <a:spcAft>
                <a:spcPts val="0"/>
              </a:spcAft>
              <a:buNone/>
            </a:pPr>
            <a:r>
              <a:t/>
            </a:r>
            <a:endParaRPr sz="1300">
              <a:latin typeface="Cambria"/>
              <a:ea typeface="Cambria"/>
              <a:cs typeface="Cambria"/>
              <a:sym typeface="Cambria"/>
            </a:endParaRPr>
          </a:p>
          <a:p>
            <a:pPr indent="0" lvl="0" marL="12700" rtl="0" algn="l">
              <a:lnSpc>
                <a:spcPct val="100000"/>
              </a:lnSpc>
              <a:spcBef>
                <a:spcPts val="0"/>
              </a:spcBef>
              <a:spcAft>
                <a:spcPts val="0"/>
              </a:spcAft>
              <a:buNone/>
            </a:pPr>
            <a:r>
              <a:rPr b="1" lang="en-US" sz="1250">
                <a:solidFill>
                  <a:srgbClr val="FFFFFF"/>
                </a:solidFill>
                <a:latin typeface="Calibri"/>
                <a:ea typeface="Calibri"/>
                <a:cs typeface="Calibri"/>
                <a:sym typeface="Calibri"/>
              </a:rPr>
              <a:t>One-to-one	One-to-many	Many-to-one	Many-to-many</a:t>
            </a:r>
            <a:endParaRPr sz="1250">
              <a:latin typeface="Calibri"/>
              <a:ea typeface="Calibri"/>
              <a:cs typeface="Calibri"/>
              <a:sym typeface="Calibri"/>
            </a:endParaRPr>
          </a:p>
        </p:txBody>
      </p:sp>
      <p:sp>
        <p:nvSpPr>
          <p:cNvPr id="1013" name="Google Shape;1013;p29"/>
          <p:cNvSpPr txBox="1"/>
          <p:nvPr/>
        </p:nvSpPr>
        <p:spPr>
          <a:xfrm>
            <a:off x="6882739" y="2905469"/>
            <a:ext cx="70485" cy="17970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1000">
                <a:solidFill>
                  <a:srgbClr val="1E2836"/>
                </a:solidFill>
                <a:latin typeface="Helvetica Neue"/>
                <a:ea typeface="Helvetica Neue"/>
                <a:cs typeface="Helvetica Neue"/>
                <a:sym typeface="Helvetica Neue"/>
              </a:rPr>
              <a:t>•</a:t>
            </a:r>
            <a:endParaRPr sz="1000">
              <a:latin typeface="Helvetica Neue"/>
              <a:ea typeface="Helvetica Neue"/>
              <a:cs typeface="Helvetica Neue"/>
              <a:sym typeface="Helvetica Neue"/>
            </a:endParaRPr>
          </a:p>
        </p:txBody>
      </p:sp>
      <p:sp>
        <p:nvSpPr>
          <p:cNvPr id="1014" name="Google Shape;1014;p29"/>
          <p:cNvSpPr txBox="1"/>
          <p:nvPr/>
        </p:nvSpPr>
        <p:spPr>
          <a:xfrm>
            <a:off x="6990384" y="2594338"/>
            <a:ext cx="1580515" cy="802640"/>
          </a:xfrm>
          <a:prstGeom prst="rect">
            <a:avLst/>
          </a:prstGeom>
          <a:noFill/>
          <a:ln>
            <a:noFill/>
          </a:ln>
        </p:spPr>
        <p:txBody>
          <a:bodyPr anchorCtr="0" anchor="t" bIns="0" lIns="0" spcFirstLastPara="1" rIns="0" wrap="square" tIns="92075">
            <a:spAutoFit/>
          </a:bodyPr>
          <a:lstStyle/>
          <a:p>
            <a:pPr indent="-64135" lvl="0" marL="76200" rtl="0" algn="l">
              <a:lnSpc>
                <a:spcPct val="100000"/>
              </a:lnSpc>
              <a:spcBef>
                <a:spcPts val="0"/>
              </a:spcBef>
              <a:spcAft>
                <a:spcPts val="0"/>
              </a:spcAft>
              <a:buNone/>
            </a:pPr>
            <a:r>
              <a:rPr b="1" lang="en-US" sz="1100">
                <a:solidFill>
                  <a:srgbClr val="C1400B"/>
                </a:solidFill>
                <a:latin typeface="Calibri"/>
                <a:ea typeface="Calibri"/>
                <a:cs typeface="Calibri"/>
                <a:sym typeface="Calibri"/>
              </a:rPr>
              <a:t>a sequence → a sequence</a:t>
            </a:r>
            <a:endParaRPr sz="1100">
              <a:latin typeface="Calibri"/>
              <a:ea typeface="Calibri"/>
              <a:cs typeface="Calibri"/>
              <a:sym typeface="Calibri"/>
            </a:endParaRPr>
          </a:p>
          <a:p>
            <a:pPr indent="0" lvl="0" marL="76200" marR="5080" rtl="0" algn="l">
              <a:lnSpc>
                <a:spcPct val="100000"/>
              </a:lnSpc>
              <a:spcBef>
                <a:spcPts val="565"/>
              </a:spcBef>
              <a:spcAft>
                <a:spcPts val="0"/>
              </a:spcAft>
              <a:buNone/>
            </a:pPr>
            <a:r>
              <a:rPr lang="en-US" sz="1000">
                <a:solidFill>
                  <a:srgbClr val="1E2836"/>
                </a:solidFill>
                <a:latin typeface="Calibri"/>
                <a:ea typeface="Calibri"/>
                <a:cs typeface="Calibri"/>
                <a:sym typeface="Calibri"/>
              </a:rPr>
              <a:t>Machine translation: Hindi sentence → English sentence (lengths can differ)</a:t>
            </a:r>
            <a:endParaRPr sz="1000">
              <a:latin typeface="Calibri"/>
              <a:ea typeface="Calibri"/>
              <a:cs typeface="Calibri"/>
              <a:sym typeface="Calibri"/>
            </a:endParaRPr>
          </a:p>
        </p:txBody>
      </p:sp>
      <p:sp>
        <p:nvSpPr>
          <p:cNvPr id="1015" name="Google Shape;1015;p29"/>
          <p:cNvSpPr txBox="1"/>
          <p:nvPr/>
        </p:nvSpPr>
        <p:spPr>
          <a:xfrm>
            <a:off x="6882739" y="3409469"/>
            <a:ext cx="1628139" cy="852169"/>
          </a:xfrm>
          <a:prstGeom prst="rect">
            <a:avLst/>
          </a:prstGeom>
          <a:noFill/>
          <a:ln>
            <a:noFill/>
          </a:ln>
        </p:spPr>
        <p:txBody>
          <a:bodyPr anchorCtr="0" anchor="t" bIns="0" lIns="0" spcFirstLastPara="1" rIns="0" wrap="square" tIns="12700">
            <a:spAutoFit/>
          </a:bodyPr>
          <a:lstStyle/>
          <a:p>
            <a:pPr indent="-168910" lvl="0" marL="180975" marR="5080" rtl="0" algn="l">
              <a:lnSpc>
                <a:spcPct val="100000"/>
              </a:lnSpc>
              <a:spcBef>
                <a:spcPts val="0"/>
              </a:spcBef>
              <a:spcAft>
                <a:spcPts val="0"/>
              </a:spcAft>
              <a:buClr>
                <a:srgbClr val="1E2836"/>
              </a:buClr>
              <a:buSzPts val="1000"/>
              <a:buFont typeface="Helvetica Neue"/>
              <a:buChar char="•"/>
            </a:pPr>
            <a:r>
              <a:rPr lang="en-US" sz="1000">
                <a:solidFill>
                  <a:srgbClr val="1E2836"/>
                </a:solidFill>
                <a:latin typeface="Calibri"/>
                <a:ea typeface="Calibri"/>
                <a:cs typeface="Calibri"/>
                <a:sym typeface="Calibri"/>
              </a:rPr>
              <a:t>Word tagging: one label per 	word (names, places, dates)</a:t>
            </a:r>
            <a:endParaRPr sz="1000">
              <a:latin typeface="Calibri"/>
              <a:ea typeface="Calibri"/>
              <a:cs typeface="Calibri"/>
              <a:sym typeface="Calibri"/>
            </a:endParaRPr>
          </a:p>
          <a:p>
            <a:pPr indent="0" lvl="0" marL="12700" marR="111125" rtl="0" algn="just">
              <a:lnSpc>
                <a:spcPct val="100000"/>
              </a:lnSpc>
              <a:spcBef>
                <a:spcPts val="505"/>
              </a:spcBef>
              <a:spcAft>
                <a:spcPts val="0"/>
              </a:spcAft>
              <a:buNone/>
            </a:pPr>
            <a:r>
              <a:rPr i="1" lang="en-US" sz="1000">
                <a:solidFill>
                  <a:srgbClr val="465468"/>
                </a:solidFill>
                <a:latin typeface="Cambria"/>
                <a:ea typeface="Cambria"/>
                <a:cs typeface="Cambria"/>
                <a:sym typeface="Cambria"/>
              </a:rPr>
              <a:t>Shown: the encoder-decoder (Seq2Seq) version, coming up next.</a:t>
            </a:r>
            <a:endParaRPr sz="1000">
              <a:latin typeface="Cambria"/>
              <a:ea typeface="Cambria"/>
              <a:cs typeface="Cambria"/>
              <a:sym typeface="Cambria"/>
            </a:endParaRPr>
          </a:p>
        </p:txBody>
      </p:sp>
      <p:pic>
        <p:nvPicPr>
          <p:cNvPr id="1016" name="Google Shape;1016;p29"/>
          <p:cNvPicPr preferRelativeResize="0"/>
          <p:nvPr/>
        </p:nvPicPr>
        <p:blipFill rotWithShape="1">
          <a:blip r:embed="rId11">
            <a:alphaModFix/>
          </a:blip>
          <a:srcRect b="0" l="0" r="0" t="0"/>
          <a:stretch/>
        </p:blipFill>
        <p:spPr>
          <a:xfrm>
            <a:off x="403204" y="4444918"/>
            <a:ext cx="180711" cy="180723"/>
          </a:xfrm>
          <a:prstGeom prst="rect">
            <a:avLst/>
          </a:prstGeom>
          <a:noFill/>
          <a:ln>
            <a:noFill/>
          </a:ln>
        </p:spPr>
      </p:pic>
      <p:sp>
        <p:nvSpPr>
          <p:cNvPr id="1017" name="Google Shape;1017;p29"/>
          <p:cNvSpPr txBox="1"/>
          <p:nvPr/>
        </p:nvSpPr>
        <p:spPr>
          <a:xfrm>
            <a:off x="618020" y="4446272"/>
            <a:ext cx="298450" cy="1784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000">
                <a:solidFill>
                  <a:srgbClr val="465468"/>
                </a:solidFill>
                <a:latin typeface="Calibri"/>
                <a:ea typeface="Calibri"/>
                <a:cs typeface="Calibri"/>
                <a:sym typeface="Calibri"/>
              </a:rPr>
              <a:t>Input</a:t>
            </a:r>
            <a:endParaRPr sz="1000">
              <a:latin typeface="Calibri"/>
              <a:ea typeface="Calibri"/>
              <a:cs typeface="Calibri"/>
              <a:sym typeface="Calibri"/>
            </a:endParaRPr>
          </a:p>
        </p:txBody>
      </p:sp>
      <p:pic>
        <p:nvPicPr>
          <p:cNvPr id="1018" name="Google Shape;1018;p29"/>
          <p:cNvPicPr preferRelativeResize="0"/>
          <p:nvPr/>
        </p:nvPicPr>
        <p:blipFill rotWithShape="1">
          <a:blip r:embed="rId12">
            <a:alphaModFix/>
          </a:blip>
          <a:srcRect b="0" l="0" r="0" t="0"/>
          <a:stretch/>
        </p:blipFill>
        <p:spPr>
          <a:xfrm>
            <a:off x="1125720" y="4444918"/>
            <a:ext cx="180723" cy="180723"/>
          </a:xfrm>
          <a:prstGeom prst="rect">
            <a:avLst/>
          </a:prstGeom>
          <a:noFill/>
          <a:ln>
            <a:noFill/>
          </a:ln>
        </p:spPr>
      </p:pic>
      <p:sp>
        <p:nvSpPr>
          <p:cNvPr id="1019" name="Google Shape;1019;p29"/>
          <p:cNvSpPr txBox="1"/>
          <p:nvPr/>
        </p:nvSpPr>
        <p:spPr>
          <a:xfrm>
            <a:off x="1340180" y="4446272"/>
            <a:ext cx="1216660" cy="1784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000">
                <a:solidFill>
                  <a:srgbClr val="465468"/>
                </a:solidFill>
                <a:latin typeface="Calibri"/>
                <a:ea typeface="Calibri"/>
                <a:cs typeface="Calibri"/>
                <a:sym typeface="Calibri"/>
              </a:rPr>
              <a:t>Hidden state (RNN cell)</a:t>
            </a:r>
            <a:endParaRPr sz="1000">
              <a:latin typeface="Calibri"/>
              <a:ea typeface="Calibri"/>
              <a:cs typeface="Calibri"/>
              <a:sym typeface="Calibri"/>
            </a:endParaRPr>
          </a:p>
        </p:txBody>
      </p:sp>
      <p:pic>
        <p:nvPicPr>
          <p:cNvPr id="1020" name="Google Shape;1020;p29"/>
          <p:cNvPicPr preferRelativeResize="0"/>
          <p:nvPr/>
        </p:nvPicPr>
        <p:blipFill rotWithShape="1">
          <a:blip r:embed="rId13">
            <a:alphaModFix/>
          </a:blip>
          <a:srcRect b="0" l="0" r="0" t="0"/>
          <a:stretch/>
        </p:blipFill>
        <p:spPr>
          <a:xfrm>
            <a:off x="2762280" y="4444918"/>
            <a:ext cx="180723" cy="180723"/>
          </a:xfrm>
          <a:prstGeom prst="rect">
            <a:avLst/>
          </a:prstGeom>
          <a:noFill/>
          <a:ln>
            <a:noFill/>
          </a:ln>
        </p:spPr>
      </p:pic>
      <p:sp>
        <p:nvSpPr>
          <p:cNvPr id="1021" name="Google Shape;1021;p29"/>
          <p:cNvSpPr txBox="1"/>
          <p:nvPr/>
        </p:nvSpPr>
        <p:spPr>
          <a:xfrm>
            <a:off x="2977095" y="4446272"/>
            <a:ext cx="393065" cy="1784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000">
                <a:solidFill>
                  <a:srgbClr val="465468"/>
                </a:solidFill>
                <a:latin typeface="Calibri"/>
                <a:ea typeface="Calibri"/>
                <a:cs typeface="Calibri"/>
                <a:sym typeface="Calibri"/>
              </a:rPr>
              <a:t>Output</a:t>
            </a:r>
            <a:endParaRPr sz="1000">
              <a:latin typeface="Calibri"/>
              <a:ea typeface="Calibri"/>
              <a:cs typeface="Calibri"/>
              <a:sym typeface="Calibri"/>
            </a:endParaRPr>
          </a:p>
        </p:txBody>
      </p:sp>
      <p:grpSp>
        <p:nvGrpSpPr>
          <p:cNvPr id="1022" name="Google Shape;1022;p29"/>
          <p:cNvGrpSpPr/>
          <p:nvPr/>
        </p:nvGrpSpPr>
        <p:grpSpPr>
          <a:xfrm>
            <a:off x="3428644" y="4407118"/>
            <a:ext cx="4206240" cy="329565"/>
            <a:chOff x="3428644" y="4407118"/>
            <a:chExt cx="4206240" cy="329565"/>
          </a:xfrm>
        </p:grpSpPr>
        <p:sp>
          <p:nvSpPr>
            <p:cNvPr id="1023" name="Google Shape;1023;p29"/>
            <p:cNvSpPr/>
            <p:nvPr/>
          </p:nvSpPr>
          <p:spPr>
            <a:xfrm>
              <a:off x="3428644" y="4407118"/>
              <a:ext cx="4206240" cy="329565"/>
            </a:xfrm>
            <a:custGeom>
              <a:rect b="b" l="l" r="r" t="t"/>
              <a:pathLst>
                <a:path extrusionOk="0" h="329564" w="4206240">
                  <a:moveTo>
                    <a:pt x="4184281" y="0"/>
                  </a:moveTo>
                  <a:lnTo>
                    <a:pt x="21590" y="0"/>
                  </a:lnTo>
                  <a:lnTo>
                    <a:pt x="17272" y="1079"/>
                  </a:lnTo>
                  <a:lnTo>
                    <a:pt x="13309" y="3606"/>
                  </a:lnTo>
                  <a:lnTo>
                    <a:pt x="8991" y="5765"/>
                  </a:lnTo>
                  <a:lnTo>
                    <a:pt x="5753" y="9004"/>
                  </a:lnTo>
                  <a:lnTo>
                    <a:pt x="3594" y="12966"/>
                  </a:lnTo>
                  <a:lnTo>
                    <a:pt x="1079" y="17284"/>
                  </a:lnTo>
                  <a:lnTo>
                    <a:pt x="0" y="21602"/>
                  </a:lnTo>
                  <a:lnTo>
                    <a:pt x="0" y="307441"/>
                  </a:lnTo>
                  <a:lnTo>
                    <a:pt x="990" y="311404"/>
                  </a:lnTo>
                  <a:lnTo>
                    <a:pt x="1079" y="311759"/>
                  </a:lnTo>
                  <a:lnTo>
                    <a:pt x="3594" y="315722"/>
                  </a:lnTo>
                  <a:lnTo>
                    <a:pt x="5753" y="320040"/>
                  </a:lnTo>
                  <a:lnTo>
                    <a:pt x="8991" y="323278"/>
                  </a:lnTo>
                  <a:lnTo>
                    <a:pt x="12954" y="325450"/>
                  </a:lnTo>
                  <a:lnTo>
                    <a:pt x="17272" y="327964"/>
                  </a:lnTo>
                  <a:lnTo>
                    <a:pt x="21590" y="329044"/>
                  </a:lnTo>
                  <a:lnTo>
                    <a:pt x="4184637" y="328688"/>
                  </a:lnTo>
                  <a:lnTo>
                    <a:pt x="4188955" y="327609"/>
                  </a:lnTo>
                  <a:lnTo>
                    <a:pt x="4192917" y="325081"/>
                  </a:lnTo>
                  <a:lnTo>
                    <a:pt x="4197235" y="322922"/>
                  </a:lnTo>
                  <a:lnTo>
                    <a:pt x="4200474" y="319684"/>
                  </a:lnTo>
                  <a:lnTo>
                    <a:pt x="4202633" y="315722"/>
                  </a:lnTo>
                  <a:lnTo>
                    <a:pt x="4205160" y="311404"/>
                  </a:lnTo>
                  <a:lnTo>
                    <a:pt x="4206151" y="307441"/>
                  </a:lnTo>
                  <a:lnTo>
                    <a:pt x="4206240" y="302399"/>
                  </a:lnTo>
                  <a:lnTo>
                    <a:pt x="4205877" y="26289"/>
                  </a:lnTo>
                  <a:lnTo>
                    <a:pt x="4205871" y="21602"/>
                  </a:lnTo>
                  <a:lnTo>
                    <a:pt x="4204792" y="17284"/>
                  </a:lnTo>
                  <a:lnTo>
                    <a:pt x="4202277" y="13322"/>
                  </a:lnTo>
                  <a:lnTo>
                    <a:pt x="4200118" y="9004"/>
                  </a:lnTo>
                  <a:lnTo>
                    <a:pt x="4196880" y="5765"/>
                  </a:lnTo>
                  <a:lnTo>
                    <a:pt x="4192917" y="3606"/>
                  </a:lnTo>
                  <a:lnTo>
                    <a:pt x="4188599" y="1079"/>
                  </a:lnTo>
                  <a:lnTo>
                    <a:pt x="4184281" y="0"/>
                  </a:lnTo>
                  <a:close/>
                </a:path>
              </a:pathLst>
            </a:custGeom>
            <a:solidFill>
              <a:srgbClr val="FFF6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24" name="Google Shape;1024;p29"/>
            <p:cNvSpPr/>
            <p:nvPr/>
          </p:nvSpPr>
          <p:spPr>
            <a:xfrm>
              <a:off x="3428644" y="4407118"/>
              <a:ext cx="4206240" cy="329565"/>
            </a:xfrm>
            <a:custGeom>
              <a:rect b="b" l="l" r="r" t="t"/>
              <a:pathLst>
                <a:path extrusionOk="0" h="329564" w="4206240">
                  <a:moveTo>
                    <a:pt x="0" y="26289"/>
                  </a:moveTo>
                  <a:lnTo>
                    <a:pt x="0" y="21602"/>
                  </a:lnTo>
                  <a:lnTo>
                    <a:pt x="1079" y="17284"/>
                  </a:lnTo>
                  <a:lnTo>
                    <a:pt x="3594" y="12966"/>
                  </a:lnTo>
                  <a:lnTo>
                    <a:pt x="5753" y="9004"/>
                  </a:lnTo>
                  <a:lnTo>
                    <a:pt x="8991" y="5765"/>
                  </a:lnTo>
                  <a:lnTo>
                    <a:pt x="13309" y="3606"/>
                  </a:lnTo>
                  <a:lnTo>
                    <a:pt x="17272" y="1079"/>
                  </a:lnTo>
                  <a:lnTo>
                    <a:pt x="21590" y="0"/>
                  </a:lnTo>
                  <a:lnTo>
                    <a:pt x="26276" y="0"/>
                  </a:lnTo>
                  <a:lnTo>
                    <a:pt x="4179595" y="0"/>
                  </a:lnTo>
                  <a:lnTo>
                    <a:pt x="4184281" y="0"/>
                  </a:lnTo>
                  <a:lnTo>
                    <a:pt x="4188599" y="1079"/>
                  </a:lnTo>
                  <a:lnTo>
                    <a:pt x="4192917" y="3606"/>
                  </a:lnTo>
                  <a:lnTo>
                    <a:pt x="4196880" y="5765"/>
                  </a:lnTo>
                  <a:lnTo>
                    <a:pt x="4200118" y="9004"/>
                  </a:lnTo>
                  <a:lnTo>
                    <a:pt x="4202277" y="13322"/>
                  </a:lnTo>
                  <a:lnTo>
                    <a:pt x="4204792" y="17284"/>
                  </a:lnTo>
                  <a:lnTo>
                    <a:pt x="4205871" y="21602"/>
                  </a:lnTo>
                  <a:lnTo>
                    <a:pt x="4205871" y="26289"/>
                  </a:lnTo>
                  <a:lnTo>
                    <a:pt x="4206240" y="302399"/>
                  </a:lnTo>
                  <a:lnTo>
                    <a:pt x="4206240" y="307086"/>
                  </a:lnTo>
                  <a:lnTo>
                    <a:pt x="4205160" y="311404"/>
                  </a:lnTo>
                  <a:lnTo>
                    <a:pt x="4202633" y="315722"/>
                  </a:lnTo>
                  <a:lnTo>
                    <a:pt x="4200474" y="319684"/>
                  </a:lnTo>
                  <a:lnTo>
                    <a:pt x="4197235" y="322922"/>
                  </a:lnTo>
                  <a:lnTo>
                    <a:pt x="4192917" y="325081"/>
                  </a:lnTo>
                  <a:lnTo>
                    <a:pt x="4188955" y="327609"/>
                  </a:lnTo>
                  <a:lnTo>
                    <a:pt x="4184637" y="328688"/>
                  </a:lnTo>
                  <a:lnTo>
                    <a:pt x="4179951" y="328688"/>
                  </a:lnTo>
                  <a:lnTo>
                    <a:pt x="26276" y="329044"/>
                  </a:lnTo>
                  <a:lnTo>
                    <a:pt x="21590" y="329044"/>
                  </a:lnTo>
                  <a:lnTo>
                    <a:pt x="17272" y="327964"/>
                  </a:lnTo>
                  <a:lnTo>
                    <a:pt x="12954" y="325450"/>
                  </a:lnTo>
                  <a:lnTo>
                    <a:pt x="8991" y="323278"/>
                  </a:lnTo>
                  <a:lnTo>
                    <a:pt x="5753" y="320040"/>
                  </a:lnTo>
                  <a:lnTo>
                    <a:pt x="3594" y="315722"/>
                  </a:lnTo>
                  <a:lnTo>
                    <a:pt x="1079" y="311759"/>
                  </a:lnTo>
                  <a:lnTo>
                    <a:pt x="0" y="307441"/>
                  </a:lnTo>
                  <a:lnTo>
                    <a:pt x="0" y="302768"/>
                  </a:lnTo>
                  <a:lnTo>
                    <a:pt x="0" y="26289"/>
                  </a:lnTo>
                  <a:close/>
                </a:path>
              </a:pathLst>
            </a:custGeom>
            <a:noFill/>
            <a:ln cap="flat" cmpd="sng" w="12575">
              <a:solidFill>
                <a:srgbClr val="F2D17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025" name="Google Shape;1025;p29"/>
          <p:cNvSpPr txBox="1"/>
          <p:nvPr/>
        </p:nvSpPr>
        <p:spPr>
          <a:xfrm>
            <a:off x="3496576" y="4452025"/>
            <a:ext cx="3950970" cy="273050"/>
          </a:xfrm>
          <a:prstGeom prst="rect">
            <a:avLst/>
          </a:prstGeom>
          <a:noFill/>
          <a:ln>
            <a:noFill/>
          </a:ln>
        </p:spPr>
        <p:txBody>
          <a:bodyPr anchorCtr="0" anchor="t" bIns="0" lIns="0" spcFirstLastPara="1" rIns="0" wrap="square" tIns="38725">
            <a:spAutoFit/>
          </a:bodyPr>
          <a:lstStyle/>
          <a:p>
            <a:pPr indent="0" lvl="0" marL="12700" marR="5080" rtl="0" algn="l">
              <a:lnSpc>
                <a:spcPct val="96555"/>
              </a:lnSpc>
              <a:spcBef>
                <a:spcPts val="0"/>
              </a:spcBef>
              <a:spcAft>
                <a:spcPts val="0"/>
              </a:spcAft>
              <a:buNone/>
            </a:pPr>
            <a:r>
              <a:rPr b="1" lang="en-US" sz="900">
                <a:solidFill>
                  <a:srgbClr val="913F0D"/>
                </a:solidFill>
                <a:latin typeface="Calibri"/>
                <a:ea typeface="Calibri"/>
                <a:cs typeface="Calibri"/>
                <a:sym typeface="Calibri"/>
              </a:rPr>
              <a:t>Light moment: </a:t>
            </a:r>
            <a:r>
              <a:rPr i="1" lang="en-US" sz="900">
                <a:solidFill>
                  <a:srgbClr val="1E2836"/>
                </a:solidFill>
                <a:latin typeface="Cambria"/>
                <a:ea typeface="Cambria"/>
                <a:cs typeface="Cambria"/>
                <a:sym typeface="Cambria"/>
              </a:rPr>
              <a:t>Many-to-one is your mother reading your whole day's "last seen" and returning one output: "Online till 2 AM?"</a:t>
            </a:r>
            <a:endParaRPr sz="900">
              <a:latin typeface="Cambria"/>
              <a:ea typeface="Cambria"/>
              <a:cs typeface="Cambria"/>
              <a:sym typeface="Cambria"/>
            </a:endParaRPr>
          </a:p>
        </p:txBody>
      </p:sp>
      <p:sp>
        <p:nvSpPr>
          <p:cNvPr id="1026" name="Google Shape;1026;p29"/>
          <p:cNvSpPr txBox="1"/>
          <p:nvPr/>
        </p:nvSpPr>
        <p:spPr>
          <a:xfrm>
            <a:off x="8957056" y="4888701"/>
            <a:ext cx="154305" cy="1784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000">
                <a:solidFill>
                  <a:srgbClr val="63738A"/>
                </a:solidFill>
                <a:latin typeface="Calibri"/>
                <a:ea typeface="Calibri"/>
                <a:cs typeface="Calibri"/>
                <a:sym typeface="Calibri"/>
              </a:rPr>
              <a:t>29</a:t>
            </a:r>
            <a:endParaRPr sz="1000">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30" name="Shape 1030"/>
        <p:cNvGrpSpPr/>
        <p:nvPr/>
      </p:nvGrpSpPr>
      <p:grpSpPr>
        <a:xfrm>
          <a:off x="0" y="0"/>
          <a:ext cx="0" cy="0"/>
          <a:chOff x="0" y="0"/>
          <a:chExt cx="0" cy="0"/>
        </a:xfrm>
      </p:grpSpPr>
      <p:sp>
        <p:nvSpPr>
          <p:cNvPr id="1031" name="Google Shape;1031;p33"/>
          <p:cNvSpPr/>
          <p:nvPr/>
        </p:nvSpPr>
        <p:spPr>
          <a:xfrm>
            <a:off x="0" y="2"/>
            <a:ext cx="9144000" cy="5144135"/>
          </a:xfrm>
          <a:custGeom>
            <a:rect b="b" l="l" r="r" t="t"/>
            <a:pathLst>
              <a:path extrusionOk="0" h="5144135" w="9144000">
                <a:moveTo>
                  <a:pt x="9144000" y="0"/>
                </a:moveTo>
                <a:lnTo>
                  <a:pt x="0" y="0"/>
                </a:lnTo>
                <a:lnTo>
                  <a:pt x="0" y="5143677"/>
                </a:lnTo>
                <a:lnTo>
                  <a:pt x="9144000" y="5143677"/>
                </a:lnTo>
                <a:lnTo>
                  <a:pt x="9144000" y="0"/>
                </a:lnTo>
                <a:close/>
              </a:path>
            </a:pathLst>
          </a:custGeom>
          <a:solidFill>
            <a:srgbClr val="F7F9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descr="$PPTXTitle" id="1032" name="Google Shape;1032;p33"/>
          <p:cNvSpPr txBox="1"/>
          <p:nvPr>
            <p:ph type="title"/>
          </p:nvPr>
        </p:nvSpPr>
        <p:spPr>
          <a:xfrm>
            <a:off x="2150186" y="203303"/>
            <a:ext cx="5280025" cy="4527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800">
                <a:solidFill>
                  <a:srgbClr val="19192D"/>
                </a:solidFill>
              </a:rPr>
              <a:t>Limitations of Pre-Attention Models</a:t>
            </a:r>
            <a:endParaRPr sz="2800"/>
          </a:p>
        </p:txBody>
      </p:sp>
      <p:sp>
        <p:nvSpPr>
          <p:cNvPr id="1033" name="Google Shape;1033;p33"/>
          <p:cNvSpPr txBox="1"/>
          <p:nvPr/>
        </p:nvSpPr>
        <p:spPr>
          <a:xfrm>
            <a:off x="535940" y="751575"/>
            <a:ext cx="4411980" cy="2165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i="1" lang="en-US" sz="1250">
                <a:latin typeface="Cambria"/>
                <a:ea typeface="Cambria"/>
                <a:cs typeface="Cambria"/>
                <a:sym typeface="Cambria"/>
              </a:rPr>
              <a:t>Key issues that motivated the development of Attention Mechanisms</a:t>
            </a:r>
            <a:endParaRPr sz="1250">
              <a:latin typeface="Cambria"/>
              <a:ea typeface="Cambria"/>
              <a:cs typeface="Cambria"/>
              <a:sym typeface="Cambria"/>
            </a:endParaRPr>
          </a:p>
        </p:txBody>
      </p:sp>
      <p:grpSp>
        <p:nvGrpSpPr>
          <p:cNvPr id="1034" name="Google Shape;1034;p33"/>
          <p:cNvGrpSpPr/>
          <p:nvPr/>
        </p:nvGrpSpPr>
        <p:grpSpPr>
          <a:xfrm>
            <a:off x="365759" y="1115646"/>
            <a:ext cx="1600200" cy="3063240"/>
            <a:chOff x="365759" y="1115646"/>
            <a:chExt cx="1600200" cy="3063240"/>
          </a:xfrm>
        </p:grpSpPr>
        <p:sp>
          <p:nvSpPr>
            <p:cNvPr id="1035" name="Google Shape;1035;p33"/>
            <p:cNvSpPr/>
            <p:nvPr/>
          </p:nvSpPr>
          <p:spPr>
            <a:xfrm>
              <a:off x="365759" y="1115646"/>
              <a:ext cx="1600200" cy="3063240"/>
            </a:xfrm>
            <a:custGeom>
              <a:rect b="b" l="l" r="r" t="t"/>
              <a:pathLst>
                <a:path extrusionOk="0" h="3063240" w="1600200">
                  <a:moveTo>
                    <a:pt x="1599844" y="0"/>
                  </a:moveTo>
                  <a:lnTo>
                    <a:pt x="0" y="0"/>
                  </a:lnTo>
                  <a:lnTo>
                    <a:pt x="0" y="3062871"/>
                  </a:lnTo>
                  <a:lnTo>
                    <a:pt x="799922" y="3062871"/>
                  </a:lnTo>
                  <a:lnTo>
                    <a:pt x="1599844" y="3062871"/>
                  </a:lnTo>
                  <a:lnTo>
                    <a:pt x="1599844" y="0"/>
                  </a:lnTo>
                  <a:close/>
                </a:path>
              </a:pathLst>
            </a:custGeom>
            <a:solidFill>
              <a:srgbClr val="EEF5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36" name="Google Shape;1036;p33"/>
            <p:cNvSpPr/>
            <p:nvPr/>
          </p:nvSpPr>
          <p:spPr>
            <a:xfrm>
              <a:off x="475564" y="2413802"/>
              <a:ext cx="1380490" cy="13335"/>
            </a:xfrm>
            <a:custGeom>
              <a:rect b="b" l="l" r="r" t="t"/>
              <a:pathLst>
                <a:path extrusionOk="0" h="13335" w="1380489">
                  <a:moveTo>
                    <a:pt x="1380236" y="0"/>
                  </a:moveTo>
                  <a:lnTo>
                    <a:pt x="0" y="0"/>
                  </a:lnTo>
                  <a:lnTo>
                    <a:pt x="0" y="13322"/>
                  </a:lnTo>
                  <a:lnTo>
                    <a:pt x="690118" y="13322"/>
                  </a:lnTo>
                  <a:lnTo>
                    <a:pt x="1380236" y="13322"/>
                  </a:lnTo>
                  <a:lnTo>
                    <a:pt x="1380236" y="0"/>
                  </a:lnTo>
                  <a:close/>
                </a:path>
              </a:pathLst>
            </a:custGeom>
            <a:solidFill>
              <a:srgbClr val="BEDA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37" name="Google Shape;1037;p33"/>
            <p:cNvSpPr/>
            <p:nvPr/>
          </p:nvSpPr>
          <p:spPr>
            <a:xfrm>
              <a:off x="475564" y="2413802"/>
              <a:ext cx="1380490" cy="13335"/>
            </a:xfrm>
            <a:custGeom>
              <a:rect b="b" l="l" r="r" t="t"/>
              <a:pathLst>
                <a:path extrusionOk="0" h="13335" w="1380489">
                  <a:moveTo>
                    <a:pt x="690118" y="13322"/>
                  </a:moveTo>
                  <a:lnTo>
                    <a:pt x="0" y="13322"/>
                  </a:lnTo>
                  <a:lnTo>
                    <a:pt x="0" y="0"/>
                  </a:lnTo>
                  <a:lnTo>
                    <a:pt x="1380236" y="0"/>
                  </a:lnTo>
                  <a:lnTo>
                    <a:pt x="1380236" y="13322"/>
                  </a:lnTo>
                  <a:lnTo>
                    <a:pt x="690118" y="13322"/>
                  </a:lnTo>
                  <a:close/>
                </a:path>
              </a:pathLst>
            </a:custGeom>
            <a:noFill/>
            <a:ln cap="flat" cmpd="sng" w="12575">
              <a:solidFill>
                <a:srgbClr val="BEDAF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grpSp>
        <p:nvGrpSpPr>
          <p:cNvPr id="1038" name="Google Shape;1038;p33"/>
          <p:cNvGrpSpPr/>
          <p:nvPr/>
        </p:nvGrpSpPr>
        <p:grpSpPr>
          <a:xfrm>
            <a:off x="2011679" y="1115646"/>
            <a:ext cx="1600200" cy="3063240"/>
            <a:chOff x="2011679" y="1115646"/>
            <a:chExt cx="1600200" cy="3063240"/>
          </a:xfrm>
        </p:grpSpPr>
        <p:sp>
          <p:nvSpPr>
            <p:cNvPr id="1039" name="Google Shape;1039;p33"/>
            <p:cNvSpPr/>
            <p:nvPr/>
          </p:nvSpPr>
          <p:spPr>
            <a:xfrm>
              <a:off x="2011679" y="1115646"/>
              <a:ext cx="1600200" cy="3063240"/>
            </a:xfrm>
            <a:custGeom>
              <a:rect b="b" l="l" r="r" t="t"/>
              <a:pathLst>
                <a:path extrusionOk="0" h="3063240" w="1600200">
                  <a:moveTo>
                    <a:pt x="1599844" y="0"/>
                  </a:moveTo>
                  <a:lnTo>
                    <a:pt x="0" y="0"/>
                  </a:lnTo>
                  <a:lnTo>
                    <a:pt x="0" y="3062871"/>
                  </a:lnTo>
                  <a:lnTo>
                    <a:pt x="799922" y="3062871"/>
                  </a:lnTo>
                  <a:lnTo>
                    <a:pt x="1599844" y="3062871"/>
                  </a:lnTo>
                  <a:lnTo>
                    <a:pt x="1599844" y="0"/>
                  </a:lnTo>
                  <a:close/>
                </a:path>
              </a:pathLst>
            </a:custGeom>
            <a:solidFill>
              <a:srgbClr val="EEF5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40" name="Google Shape;1040;p33"/>
            <p:cNvSpPr/>
            <p:nvPr/>
          </p:nvSpPr>
          <p:spPr>
            <a:xfrm>
              <a:off x="2121484" y="2413802"/>
              <a:ext cx="1380490" cy="13335"/>
            </a:xfrm>
            <a:custGeom>
              <a:rect b="b" l="l" r="r" t="t"/>
              <a:pathLst>
                <a:path extrusionOk="0" h="13335" w="1380489">
                  <a:moveTo>
                    <a:pt x="1380236" y="0"/>
                  </a:moveTo>
                  <a:lnTo>
                    <a:pt x="0" y="0"/>
                  </a:lnTo>
                  <a:lnTo>
                    <a:pt x="0" y="13322"/>
                  </a:lnTo>
                  <a:lnTo>
                    <a:pt x="690118" y="13322"/>
                  </a:lnTo>
                  <a:lnTo>
                    <a:pt x="1380236" y="13322"/>
                  </a:lnTo>
                  <a:lnTo>
                    <a:pt x="1380236" y="0"/>
                  </a:lnTo>
                  <a:close/>
                </a:path>
              </a:pathLst>
            </a:custGeom>
            <a:solidFill>
              <a:srgbClr val="BEDA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41" name="Google Shape;1041;p33"/>
            <p:cNvSpPr/>
            <p:nvPr/>
          </p:nvSpPr>
          <p:spPr>
            <a:xfrm>
              <a:off x="2121484" y="2413802"/>
              <a:ext cx="1380490" cy="13335"/>
            </a:xfrm>
            <a:custGeom>
              <a:rect b="b" l="l" r="r" t="t"/>
              <a:pathLst>
                <a:path extrusionOk="0" h="13335" w="1380489">
                  <a:moveTo>
                    <a:pt x="690118" y="13322"/>
                  </a:moveTo>
                  <a:lnTo>
                    <a:pt x="0" y="13322"/>
                  </a:lnTo>
                  <a:lnTo>
                    <a:pt x="0" y="0"/>
                  </a:lnTo>
                  <a:lnTo>
                    <a:pt x="1380236" y="0"/>
                  </a:lnTo>
                  <a:lnTo>
                    <a:pt x="1380236" y="13322"/>
                  </a:lnTo>
                  <a:lnTo>
                    <a:pt x="690118" y="13322"/>
                  </a:lnTo>
                  <a:close/>
                </a:path>
              </a:pathLst>
            </a:custGeom>
            <a:noFill/>
            <a:ln cap="flat" cmpd="sng" w="12575">
              <a:solidFill>
                <a:srgbClr val="BEDAF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grpSp>
        <p:nvGrpSpPr>
          <p:cNvPr id="1042" name="Google Shape;1042;p33"/>
          <p:cNvGrpSpPr/>
          <p:nvPr/>
        </p:nvGrpSpPr>
        <p:grpSpPr>
          <a:xfrm>
            <a:off x="3657600" y="1115646"/>
            <a:ext cx="1600200" cy="3063240"/>
            <a:chOff x="3657600" y="1115646"/>
            <a:chExt cx="1600200" cy="3063240"/>
          </a:xfrm>
        </p:grpSpPr>
        <p:sp>
          <p:nvSpPr>
            <p:cNvPr id="1043" name="Google Shape;1043;p33"/>
            <p:cNvSpPr/>
            <p:nvPr/>
          </p:nvSpPr>
          <p:spPr>
            <a:xfrm>
              <a:off x="3657600" y="1115646"/>
              <a:ext cx="1600200" cy="3063240"/>
            </a:xfrm>
            <a:custGeom>
              <a:rect b="b" l="l" r="r" t="t"/>
              <a:pathLst>
                <a:path extrusionOk="0" h="3063240" w="1600200">
                  <a:moveTo>
                    <a:pt x="1599844" y="0"/>
                  </a:moveTo>
                  <a:lnTo>
                    <a:pt x="0" y="0"/>
                  </a:lnTo>
                  <a:lnTo>
                    <a:pt x="0" y="3062871"/>
                  </a:lnTo>
                  <a:lnTo>
                    <a:pt x="799922" y="3062871"/>
                  </a:lnTo>
                  <a:lnTo>
                    <a:pt x="1599844" y="3062871"/>
                  </a:lnTo>
                  <a:lnTo>
                    <a:pt x="1599844" y="0"/>
                  </a:lnTo>
                  <a:close/>
                </a:path>
              </a:pathLst>
            </a:custGeom>
            <a:solidFill>
              <a:srgbClr val="EEF5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44" name="Google Shape;1044;p33"/>
            <p:cNvSpPr/>
            <p:nvPr/>
          </p:nvSpPr>
          <p:spPr>
            <a:xfrm>
              <a:off x="3767404" y="2413802"/>
              <a:ext cx="1380490" cy="13335"/>
            </a:xfrm>
            <a:custGeom>
              <a:rect b="b" l="l" r="r" t="t"/>
              <a:pathLst>
                <a:path extrusionOk="0" h="13335" w="1380489">
                  <a:moveTo>
                    <a:pt x="1380236" y="0"/>
                  </a:moveTo>
                  <a:lnTo>
                    <a:pt x="0" y="0"/>
                  </a:lnTo>
                  <a:lnTo>
                    <a:pt x="0" y="13322"/>
                  </a:lnTo>
                  <a:lnTo>
                    <a:pt x="690117" y="13322"/>
                  </a:lnTo>
                  <a:lnTo>
                    <a:pt x="1380236" y="13322"/>
                  </a:lnTo>
                  <a:lnTo>
                    <a:pt x="1380236" y="0"/>
                  </a:lnTo>
                  <a:close/>
                </a:path>
              </a:pathLst>
            </a:custGeom>
            <a:solidFill>
              <a:srgbClr val="BEDA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45" name="Google Shape;1045;p33"/>
            <p:cNvSpPr/>
            <p:nvPr/>
          </p:nvSpPr>
          <p:spPr>
            <a:xfrm>
              <a:off x="3767404" y="2413802"/>
              <a:ext cx="1380490" cy="13335"/>
            </a:xfrm>
            <a:custGeom>
              <a:rect b="b" l="l" r="r" t="t"/>
              <a:pathLst>
                <a:path extrusionOk="0" h="13335" w="1380489">
                  <a:moveTo>
                    <a:pt x="690117" y="13322"/>
                  </a:moveTo>
                  <a:lnTo>
                    <a:pt x="0" y="13322"/>
                  </a:lnTo>
                  <a:lnTo>
                    <a:pt x="0" y="0"/>
                  </a:lnTo>
                  <a:lnTo>
                    <a:pt x="1380236" y="0"/>
                  </a:lnTo>
                  <a:lnTo>
                    <a:pt x="1380236" y="13322"/>
                  </a:lnTo>
                  <a:lnTo>
                    <a:pt x="690117" y="13322"/>
                  </a:lnTo>
                  <a:close/>
                </a:path>
              </a:pathLst>
            </a:custGeom>
            <a:noFill/>
            <a:ln cap="flat" cmpd="sng" w="12575">
              <a:solidFill>
                <a:srgbClr val="BEDAF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grpSp>
        <p:nvGrpSpPr>
          <p:cNvPr id="1046" name="Google Shape;1046;p33"/>
          <p:cNvGrpSpPr/>
          <p:nvPr/>
        </p:nvGrpSpPr>
        <p:grpSpPr>
          <a:xfrm>
            <a:off x="5303520" y="1115646"/>
            <a:ext cx="1600200" cy="3063240"/>
            <a:chOff x="5303520" y="1115646"/>
            <a:chExt cx="1600200" cy="3063240"/>
          </a:xfrm>
        </p:grpSpPr>
        <p:sp>
          <p:nvSpPr>
            <p:cNvPr id="1047" name="Google Shape;1047;p33"/>
            <p:cNvSpPr/>
            <p:nvPr/>
          </p:nvSpPr>
          <p:spPr>
            <a:xfrm>
              <a:off x="5303520" y="1115646"/>
              <a:ext cx="1600200" cy="3063240"/>
            </a:xfrm>
            <a:custGeom>
              <a:rect b="b" l="l" r="r" t="t"/>
              <a:pathLst>
                <a:path extrusionOk="0" h="3063240" w="1600200">
                  <a:moveTo>
                    <a:pt x="1599844" y="0"/>
                  </a:moveTo>
                  <a:lnTo>
                    <a:pt x="0" y="0"/>
                  </a:lnTo>
                  <a:lnTo>
                    <a:pt x="0" y="3062871"/>
                  </a:lnTo>
                  <a:lnTo>
                    <a:pt x="799922" y="3062871"/>
                  </a:lnTo>
                  <a:lnTo>
                    <a:pt x="1599844" y="3062871"/>
                  </a:lnTo>
                  <a:lnTo>
                    <a:pt x="1599844" y="0"/>
                  </a:lnTo>
                  <a:close/>
                </a:path>
              </a:pathLst>
            </a:custGeom>
            <a:solidFill>
              <a:srgbClr val="EEF5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48" name="Google Shape;1048;p33"/>
            <p:cNvSpPr/>
            <p:nvPr/>
          </p:nvSpPr>
          <p:spPr>
            <a:xfrm>
              <a:off x="5413324" y="2413802"/>
              <a:ext cx="1380490" cy="13335"/>
            </a:xfrm>
            <a:custGeom>
              <a:rect b="b" l="l" r="r" t="t"/>
              <a:pathLst>
                <a:path extrusionOk="0" h="13335" w="1380490">
                  <a:moveTo>
                    <a:pt x="1380236" y="0"/>
                  </a:moveTo>
                  <a:lnTo>
                    <a:pt x="0" y="0"/>
                  </a:lnTo>
                  <a:lnTo>
                    <a:pt x="0" y="13322"/>
                  </a:lnTo>
                  <a:lnTo>
                    <a:pt x="690118" y="13322"/>
                  </a:lnTo>
                  <a:lnTo>
                    <a:pt x="1380236" y="13322"/>
                  </a:lnTo>
                  <a:lnTo>
                    <a:pt x="1380236" y="0"/>
                  </a:lnTo>
                  <a:close/>
                </a:path>
              </a:pathLst>
            </a:custGeom>
            <a:solidFill>
              <a:srgbClr val="BEDA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49" name="Google Shape;1049;p33"/>
            <p:cNvSpPr/>
            <p:nvPr/>
          </p:nvSpPr>
          <p:spPr>
            <a:xfrm>
              <a:off x="5413324" y="2413802"/>
              <a:ext cx="1380490" cy="13335"/>
            </a:xfrm>
            <a:custGeom>
              <a:rect b="b" l="l" r="r" t="t"/>
              <a:pathLst>
                <a:path extrusionOk="0" h="13335" w="1380490">
                  <a:moveTo>
                    <a:pt x="690118" y="13322"/>
                  </a:moveTo>
                  <a:lnTo>
                    <a:pt x="0" y="13322"/>
                  </a:lnTo>
                  <a:lnTo>
                    <a:pt x="0" y="0"/>
                  </a:lnTo>
                  <a:lnTo>
                    <a:pt x="1380236" y="0"/>
                  </a:lnTo>
                  <a:lnTo>
                    <a:pt x="1380236" y="13322"/>
                  </a:lnTo>
                  <a:lnTo>
                    <a:pt x="690118" y="13322"/>
                  </a:lnTo>
                  <a:close/>
                </a:path>
              </a:pathLst>
            </a:custGeom>
            <a:noFill/>
            <a:ln cap="flat" cmpd="sng" w="12575">
              <a:solidFill>
                <a:srgbClr val="BEDAF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grpSp>
        <p:nvGrpSpPr>
          <p:cNvPr id="1050" name="Google Shape;1050;p33"/>
          <p:cNvGrpSpPr/>
          <p:nvPr/>
        </p:nvGrpSpPr>
        <p:grpSpPr>
          <a:xfrm>
            <a:off x="6949440" y="1115646"/>
            <a:ext cx="1600200" cy="3063240"/>
            <a:chOff x="6949440" y="1115646"/>
            <a:chExt cx="1600200" cy="3063240"/>
          </a:xfrm>
        </p:grpSpPr>
        <p:sp>
          <p:nvSpPr>
            <p:cNvPr id="1051" name="Google Shape;1051;p33"/>
            <p:cNvSpPr/>
            <p:nvPr/>
          </p:nvSpPr>
          <p:spPr>
            <a:xfrm>
              <a:off x="6949440" y="1115646"/>
              <a:ext cx="1600200" cy="3063240"/>
            </a:xfrm>
            <a:custGeom>
              <a:rect b="b" l="l" r="r" t="t"/>
              <a:pathLst>
                <a:path extrusionOk="0" h="3063240" w="1600200">
                  <a:moveTo>
                    <a:pt x="1599844" y="0"/>
                  </a:moveTo>
                  <a:lnTo>
                    <a:pt x="0" y="0"/>
                  </a:lnTo>
                  <a:lnTo>
                    <a:pt x="0" y="3062871"/>
                  </a:lnTo>
                  <a:lnTo>
                    <a:pt x="799922" y="3062871"/>
                  </a:lnTo>
                  <a:lnTo>
                    <a:pt x="1599844" y="3062871"/>
                  </a:lnTo>
                  <a:lnTo>
                    <a:pt x="1599844" y="0"/>
                  </a:lnTo>
                  <a:close/>
                </a:path>
              </a:pathLst>
            </a:custGeom>
            <a:solidFill>
              <a:srgbClr val="EEF5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52" name="Google Shape;1052;p33"/>
            <p:cNvSpPr/>
            <p:nvPr/>
          </p:nvSpPr>
          <p:spPr>
            <a:xfrm>
              <a:off x="7059244" y="2413802"/>
              <a:ext cx="1380490" cy="13335"/>
            </a:xfrm>
            <a:custGeom>
              <a:rect b="b" l="l" r="r" t="t"/>
              <a:pathLst>
                <a:path extrusionOk="0" h="13335" w="1380490">
                  <a:moveTo>
                    <a:pt x="1380235" y="0"/>
                  </a:moveTo>
                  <a:lnTo>
                    <a:pt x="0" y="0"/>
                  </a:lnTo>
                  <a:lnTo>
                    <a:pt x="0" y="13322"/>
                  </a:lnTo>
                  <a:lnTo>
                    <a:pt x="690118" y="13322"/>
                  </a:lnTo>
                  <a:lnTo>
                    <a:pt x="1380235" y="13322"/>
                  </a:lnTo>
                  <a:lnTo>
                    <a:pt x="1380235" y="0"/>
                  </a:lnTo>
                  <a:close/>
                </a:path>
              </a:pathLst>
            </a:custGeom>
            <a:solidFill>
              <a:srgbClr val="BEDAF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53" name="Google Shape;1053;p33"/>
            <p:cNvSpPr/>
            <p:nvPr/>
          </p:nvSpPr>
          <p:spPr>
            <a:xfrm>
              <a:off x="7059244" y="2413802"/>
              <a:ext cx="1380490" cy="13335"/>
            </a:xfrm>
            <a:custGeom>
              <a:rect b="b" l="l" r="r" t="t"/>
              <a:pathLst>
                <a:path extrusionOk="0" h="13335" w="1380490">
                  <a:moveTo>
                    <a:pt x="690118" y="13322"/>
                  </a:moveTo>
                  <a:lnTo>
                    <a:pt x="0" y="13322"/>
                  </a:lnTo>
                  <a:lnTo>
                    <a:pt x="0" y="0"/>
                  </a:lnTo>
                  <a:lnTo>
                    <a:pt x="1380235" y="0"/>
                  </a:lnTo>
                  <a:lnTo>
                    <a:pt x="1380235" y="13322"/>
                  </a:lnTo>
                  <a:lnTo>
                    <a:pt x="690118" y="13322"/>
                  </a:lnTo>
                  <a:close/>
                </a:path>
              </a:pathLst>
            </a:custGeom>
            <a:noFill/>
            <a:ln cap="flat" cmpd="sng" w="12575">
              <a:solidFill>
                <a:srgbClr val="BEDAF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graphicFrame>
        <p:nvGraphicFramePr>
          <p:cNvPr id="1054" name="Google Shape;1054;p33"/>
          <p:cNvGraphicFramePr/>
          <p:nvPr/>
        </p:nvGraphicFramePr>
        <p:xfrm>
          <a:off x="359460" y="1109346"/>
          <a:ext cx="3000000" cy="3000000"/>
        </p:xfrm>
        <a:graphic>
          <a:graphicData uri="http://schemas.openxmlformats.org/drawingml/2006/table">
            <a:tbl>
              <a:tblPr bandRow="1" firstRow="1">
                <a:noFill/>
                <a:tableStyleId>{17F75444-8990-4049-B4A0-D4880F097619}</a:tableStyleId>
              </a:tblPr>
              <a:tblGrid>
                <a:gridCol w="1623050"/>
                <a:gridCol w="1645925"/>
                <a:gridCol w="1645925"/>
                <a:gridCol w="1645925"/>
                <a:gridCol w="1623050"/>
              </a:tblGrid>
              <a:tr h="626100">
                <a:tc>
                  <a:txBody>
                    <a:bodyPr/>
                    <a:lstStyle/>
                    <a:p>
                      <a:pPr indent="0" lvl="0" marL="200660" marR="0" rtl="0" algn="l">
                        <a:lnSpc>
                          <a:spcPct val="100000"/>
                        </a:lnSpc>
                        <a:spcBef>
                          <a:spcPts val="0"/>
                        </a:spcBef>
                        <a:spcAft>
                          <a:spcPts val="0"/>
                        </a:spcAft>
                        <a:buNone/>
                      </a:pPr>
                      <a:r>
                        <a:rPr b="1" lang="en-US" sz="2800" u="none" cap="none" strike="noStrike">
                          <a:solidFill>
                            <a:srgbClr val="1464BF"/>
                          </a:solidFill>
                          <a:latin typeface="Calibri"/>
                          <a:ea typeface="Calibri"/>
                          <a:cs typeface="Calibri"/>
                          <a:sym typeface="Calibri"/>
                        </a:rPr>
                        <a:t>01</a:t>
                      </a:r>
                      <a:endParaRPr sz="2800" u="none" cap="none" strike="noStrike">
                        <a:latin typeface="Calibri"/>
                        <a:ea typeface="Calibri"/>
                        <a:cs typeface="Calibri"/>
                        <a:sym typeface="Calibri"/>
                      </a:endParaRPr>
                    </a:p>
                  </a:txBody>
                  <a:tcPr marT="133975" marB="0" marR="0" marL="0">
                    <a:lnL cap="flat" cmpd="sng" w="12700">
                      <a:solidFill>
                        <a:srgbClr val="BEDAFD"/>
                      </a:solidFill>
                      <a:prstDash val="solid"/>
                      <a:round/>
                      <a:headEnd len="sm" w="sm" type="none"/>
                      <a:tailEnd len="sm" w="sm" type="none"/>
                    </a:lnL>
                    <a:lnR cap="flat" cmpd="sng" w="12700">
                      <a:solidFill>
                        <a:srgbClr val="BEDAFD"/>
                      </a:solidFill>
                      <a:prstDash val="solid"/>
                      <a:round/>
                      <a:headEnd len="sm" w="sm" type="none"/>
                      <a:tailEnd len="sm" w="sm" type="none"/>
                    </a:lnR>
                    <a:lnT cap="flat" cmpd="sng" w="12700">
                      <a:solidFill>
                        <a:srgbClr val="BEDAFD"/>
                      </a:solidFill>
                      <a:prstDash val="solid"/>
                      <a:round/>
                      <a:headEnd len="sm" w="sm" type="none"/>
                      <a:tailEnd len="sm" w="sm" type="none"/>
                    </a:lnT>
                  </a:tcPr>
                </a:tc>
                <a:tc>
                  <a:txBody>
                    <a:bodyPr/>
                    <a:lstStyle/>
                    <a:p>
                      <a:pPr indent="0" lvl="0" marL="224154" marR="0" rtl="0" algn="l">
                        <a:lnSpc>
                          <a:spcPct val="100000"/>
                        </a:lnSpc>
                        <a:spcBef>
                          <a:spcPts val="0"/>
                        </a:spcBef>
                        <a:spcAft>
                          <a:spcPts val="0"/>
                        </a:spcAft>
                        <a:buNone/>
                      </a:pPr>
                      <a:r>
                        <a:rPr b="1" lang="en-US" sz="2800" u="none" cap="none" strike="noStrike">
                          <a:solidFill>
                            <a:srgbClr val="1464BF"/>
                          </a:solidFill>
                          <a:latin typeface="Calibri"/>
                          <a:ea typeface="Calibri"/>
                          <a:cs typeface="Calibri"/>
                          <a:sym typeface="Calibri"/>
                        </a:rPr>
                        <a:t>02</a:t>
                      </a:r>
                      <a:endParaRPr sz="2800" u="none" cap="none" strike="noStrike">
                        <a:latin typeface="Calibri"/>
                        <a:ea typeface="Calibri"/>
                        <a:cs typeface="Calibri"/>
                        <a:sym typeface="Calibri"/>
                      </a:endParaRPr>
                    </a:p>
                  </a:txBody>
                  <a:tcPr marT="133975" marB="0" marR="0" marL="0">
                    <a:lnL cap="flat" cmpd="sng" w="12700">
                      <a:solidFill>
                        <a:srgbClr val="BEDAFD"/>
                      </a:solidFill>
                      <a:prstDash val="solid"/>
                      <a:round/>
                      <a:headEnd len="sm" w="sm" type="none"/>
                      <a:tailEnd len="sm" w="sm" type="none"/>
                    </a:lnL>
                    <a:lnR cap="flat" cmpd="sng" w="12700">
                      <a:solidFill>
                        <a:srgbClr val="BEDAFD"/>
                      </a:solidFill>
                      <a:prstDash val="solid"/>
                      <a:round/>
                      <a:headEnd len="sm" w="sm" type="none"/>
                      <a:tailEnd len="sm" w="sm" type="none"/>
                    </a:lnR>
                    <a:lnT cap="flat" cmpd="sng" w="12700">
                      <a:solidFill>
                        <a:srgbClr val="BEDAFD"/>
                      </a:solidFill>
                      <a:prstDash val="solid"/>
                      <a:round/>
                      <a:headEnd len="sm" w="sm" type="none"/>
                      <a:tailEnd len="sm" w="sm" type="none"/>
                    </a:lnT>
                  </a:tcPr>
                </a:tc>
                <a:tc>
                  <a:txBody>
                    <a:bodyPr/>
                    <a:lstStyle/>
                    <a:p>
                      <a:pPr indent="0" lvl="0" marL="224154" marR="0" rtl="0" algn="l">
                        <a:lnSpc>
                          <a:spcPct val="100000"/>
                        </a:lnSpc>
                        <a:spcBef>
                          <a:spcPts val="0"/>
                        </a:spcBef>
                        <a:spcAft>
                          <a:spcPts val="0"/>
                        </a:spcAft>
                        <a:buNone/>
                      </a:pPr>
                      <a:r>
                        <a:rPr b="1" lang="en-US" sz="2800" u="none" cap="none" strike="noStrike">
                          <a:solidFill>
                            <a:srgbClr val="1464BF"/>
                          </a:solidFill>
                          <a:latin typeface="Calibri"/>
                          <a:ea typeface="Calibri"/>
                          <a:cs typeface="Calibri"/>
                          <a:sym typeface="Calibri"/>
                        </a:rPr>
                        <a:t>03</a:t>
                      </a:r>
                      <a:endParaRPr sz="2800" u="none" cap="none" strike="noStrike">
                        <a:latin typeface="Calibri"/>
                        <a:ea typeface="Calibri"/>
                        <a:cs typeface="Calibri"/>
                        <a:sym typeface="Calibri"/>
                      </a:endParaRPr>
                    </a:p>
                  </a:txBody>
                  <a:tcPr marT="133975" marB="0" marR="0" marL="0">
                    <a:lnL cap="flat" cmpd="sng" w="12700">
                      <a:solidFill>
                        <a:srgbClr val="BEDAFD"/>
                      </a:solidFill>
                      <a:prstDash val="solid"/>
                      <a:round/>
                      <a:headEnd len="sm" w="sm" type="none"/>
                      <a:tailEnd len="sm" w="sm" type="none"/>
                    </a:lnL>
                    <a:lnR cap="flat" cmpd="sng" w="12700">
                      <a:solidFill>
                        <a:srgbClr val="BEDAFD"/>
                      </a:solidFill>
                      <a:prstDash val="solid"/>
                      <a:round/>
                      <a:headEnd len="sm" w="sm" type="none"/>
                      <a:tailEnd len="sm" w="sm" type="none"/>
                    </a:lnR>
                    <a:lnT cap="flat" cmpd="sng" w="12700">
                      <a:solidFill>
                        <a:srgbClr val="BEDAFD"/>
                      </a:solidFill>
                      <a:prstDash val="solid"/>
                      <a:round/>
                      <a:headEnd len="sm" w="sm" type="none"/>
                      <a:tailEnd len="sm" w="sm" type="none"/>
                    </a:lnT>
                  </a:tcPr>
                </a:tc>
                <a:tc>
                  <a:txBody>
                    <a:bodyPr/>
                    <a:lstStyle/>
                    <a:p>
                      <a:pPr indent="0" lvl="0" marL="224154" marR="0" rtl="0" algn="l">
                        <a:lnSpc>
                          <a:spcPct val="100000"/>
                        </a:lnSpc>
                        <a:spcBef>
                          <a:spcPts val="0"/>
                        </a:spcBef>
                        <a:spcAft>
                          <a:spcPts val="0"/>
                        </a:spcAft>
                        <a:buNone/>
                      </a:pPr>
                      <a:r>
                        <a:rPr b="1" lang="en-US" sz="2800" u="none" cap="none" strike="noStrike">
                          <a:solidFill>
                            <a:srgbClr val="1464BF"/>
                          </a:solidFill>
                          <a:latin typeface="Calibri"/>
                          <a:ea typeface="Calibri"/>
                          <a:cs typeface="Calibri"/>
                          <a:sym typeface="Calibri"/>
                        </a:rPr>
                        <a:t>04</a:t>
                      </a:r>
                      <a:endParaRPr sz="2800" u="none" cap="none" strike="noStrike">
                        <a:latin typeface="Calibri"/>
                        <a:ea typeface="Calibri"/>
                        <a:cs typeface="Calibri"/>
                        <a:sym typeface="Calibri"/>
                      </a:endParaRPr>
                    </a:p>
                  </a:txBody>
                  <a:tcPr marT="133975" marB="0" marR="0" marL="0">
                    <a:lnL cap="flat" cmpd="sng" w="12700">
                      <a:solidFill>
                        <a:srgbClr val="BEDAFD"/>
                      </a:solidFill>
                      <a:prstDash val="solid"/>
                      <a:round/>
                      <a:headEnd len="sm" w="sm" type="none"/>
                      <a:tailEnd len="sm" w="sm" type="none"/>
                    </a:lnL>
                    <a:lnR cap="flat" cmpd="sng" w="12700">
                      <a:solidFill>
                        <a:srgbClr val="BEDAFD"/>
                      </a:solidFill>
                      <a:prstDash val="solid"/>
                      <a:round/>
                      <a:headEnd len="sm" w="sm" type="none"/>
                      <a:tailEnd len="sm" w="sm" type="none"/>
                    </a:lnR>
                    <a:lnT cap="flat" cmpd="sng" w="12700">
                      <a:solidFill>
                        <a:srgbClr val="BEDAFD"/>
                      </a:solidFill>
                      <a:prstDash val="solid"/>
                      <a:round/>
                      <a:headEnd len="sm" w="sm" type="none"/>
                      <a:tailEnd len="sm" w="sm" type="none"/>
                    </a:lnT>
                  </a:tcPr>
                </a:tc>
                <a:tc>
                  <a:txBody>
                    <a:bodyPr/>
                    <a:lstStyle/>
                    <a:p>
                      <a:pPr indent="0" lvl="0" marL="224154" marR="0" rtl="0" algn="l">
                        <a:lnSpc>
                          <a:spcPct val="100000"/>
                        </a:lnSpc>
                        <a:spcBef>
                          <a:spcPts val="0"/>
                        </a:spcBef>
                        <a:spcAft>
                          <a:spcPts val="0"/>
                        </a:spcAft>
                        <a:buNone/>
                      </a:pPr>
                      <a:r>
                        <a:rPr b="1" lang="en-US" sz="2800" u="none" cap="none" strike="noStrike">
                          <a:solidFill>
                            <a:srgbClr val="1464BF"/>
                          </a:solidFill>
                          <a:latin typeface="Calibri"/>
                          <a:ea typeface="Calibri"/>
                          <a:cs typeface="Calibri"/>
                          <a:sym typeface="Calibri"/>
                        </a:rPr>
                        <a:t>05</a:t>
                      </a:r>
                      <a:endParaRPr sz="2800" u="none" cap="none" strike="noStrike">
                        <a:latin typeface="Calibri"/>
                        <a:ea typeface="Calibri"/>
                        <a:cs typeface="Calibri"/>
                        <a:sym typeface="Calibri"/>
                      </a:endParaRPr>
                    </a:p>
                  </a:txBody>
                  <a:tcPr marT="133975" marB="0" marR="0" marL="0">
                    <a:lnL cap="flat" cmpd="sng" w="12700">
                      <a:solidFill>
                        <a:srgbClr val="BEDAFD"/>
                      </a:solidFill>
                      <a:prstDash val="solid"/>
                      <a:round/>
                      <a:headEnd len="sm" w="sm" type="none"/>
                      <a:tailEnd len="sm" w="sm" type="none"/>
                    </a:lnL>
                    <a:lnR cap="flat" cmpd="sng" w="12700">
                      <a:solidFill>
                        <a:srgbClr val="BEDAFD"/>
                      </a:solidFill>
                      <a:prstDash val="solid"/>
                      <a:round/>
                      <a:headEnd len="sm" w="sm" type="none"/>
                      <a:tailEnd len="sm" w="sm" type="none"/>
                    </a:lnR>
                    <a:lnT cap="flat" cmpd="sng" w="12700">
                      <a:solidFill>
                        <a:srgbClr val="BEDAFD"/>
                      </a:solidFill>
                      <a:prstDash val="solid"/>
                      <a:round/>
                      <a:headEnd len="sm" w="sm" type="none"/>
                      <a:tailEnd len="sm" w="sm" type="none"/>
                    </a:lnT>
                  </a:tcPr>
                </a:tc>
              </a:tr>
              <a:tr h="792475">
                <a:tc>
                  <a:txBody>
                    <a:bodyPr/>
                    <a:lstStyle/>
                    <a:p>
                      <a:pPr indent="0" lvl="0" marL="200660" marR="260350" rtl="0" algn="l">
                        <a:lnSpc>
                          <a:spcPct val="100000"/>
                        </a:lnSpc>
                        <a:spcBef>
                          <a:spcPts val="0"/>
                        </a:spcBef>
                        <a:spcAft>
                          <a:spcPts val="0"/>
                        </a:spcAft>
                        <a:buNone/>
                      </a:pPr>
                      <a:r>
                        <a:rPr b="1" lang="en-US" sz="1150" u="none" cap="none" strike="noStrike">
                          <a:solidFill>
                            <a:srgbClr val="19192D"/>
                          </a:solidFill>
                          <a:latin typeface="Calibri"/>
                          <a:ea typeface="Calibri"/>
                          <a:cs typeface="Calibri"/>
                          <a:sym typeface="Calibri"/>
                        </a:rPr>
                        <a:t>Fixed-Length Context Bottleneck</a:t>
                      </a:r>
                      <a:endParaRPr sz="1150" u="none" cap="none" strike="noStrike">
                        <a:latin typeface="Calibri"/>
                        <a:ea typeface="Calibri"/>
                        <a:cs typeface="Calibri"/>
                        <a:sym typeface="Calibri"/>
                      </a:endParaRPr>
                    </a:p>
                  </a:txBody>
                  <a:tcPr marT="121925" marB="0" marR="0" marL="0">
                    <a:lnL cap="flat" cmpd="sng" w="12700">
                      <a:solidFill>
                        <a:srgbClr val="BEDAFD"/>
                      </a:solidFill>
                      <a:prstDash val="solid"/>
                      <a:round/>
                      <a:headEnd len="sm" w="sm" type="none"/>
                      <a:tailEnd len="sm" w="sm" type="none"/>
                    </a:lnL>
                    <a:lnR cap="flat" cmpd="sng" w="12700">
                      <a:solidFill>
                        <a:srgbClr val="BEDAFD"/>
                      </a:solidFill>
                      <a:prstDash val="solid"/>
                      <a:round/>
                      <a:headEnd len="sm" w="sm" type="none"/>
                      <a:tailEnd len="sm" w="sm" type="none"/>
                    </a:lnR>
                  </a:tcPr>
                </a:tc>
                <a:tc>
                  <a:txBody>
                    <a:bodyPr/>
                    <a:lstStyle/>
                    <a:p>
                      <a:pPr indent="0" lvl="0" marL="224154" marR="692150" rtl="0" algn="l">
                        <a:lnSpc>
                          <a:spcPct val="100000"/>
                        </a:lnSpc>
                        <a:spcBef>
                          <a:spcPts val="0"/>
                        </a:spcBef>
                        <a:spcAft>
                          <a:spcPts val="0"/>
                        </a:spcAft>
                        <a:buNone/>
                      </a:pPr>
                      <a:r>
                        <a:rPr b="1" lang="en-US" sz="1150" u="none" cap="none" strike="noStrike">
                          <a:solidFill>
                            <a:srgbClr val="19192D"/>
                          </a:solidFill>
                          <a:latin typeface="Calibri"/>
                          <a:ea typeface="Calibri"/>
                          <a:cs typeface="Calibri"/>
                          <a:sym typeface="Calibri"/>
                        </a:rPr>
                        <a:t>Vanishing &amp; Exploding Gradients</a:t>
                      </a:r>
                      <a:endParaRPr sz="1150" u="none" cap="none" strike="noStrike">
                        <a:latin typeface="Calibri"/>
                        <a:ea typeface="Calibri"/>
                        <a:cs typeface="Calibri"/>
                        <a:sym typeface="Calibri"/>
                      </a:endParaRPr>
                    </a:p>
                  </a:txBody>
                  <a:tcPr marT="34300" marB="0" marR="0" marL="0">
                    <a:lnL cap="flat" cmpd="sng" w="12700">
                      <a:solidFill>
                        <a:srgbClr val="BEDAFD"/>
                      </a:solidFill>
                      <a:prstDash val="solid"/>
                      <a:round/>
                      <a:headEnd len="sm" w="sm" type="none"/>
                      <a:tailEnd len="sm" w="sm" type="none"/>
                    </a:lnL>
                    <a:lnR cap="flat" cmpd="sng" w="12700">
                      <a:solidFill>
                        <a:srgbClr val="BEDAFD"/>
                      </a:solidFill>
                      <a:prstDash val="solid"/>
                      <a:round/>
                      <a:headEnd len="sm" w="sm" type="none"/>
                      <a:tailEnd len="sm" w="sm" type="none"/>
                    </a:lnR>
                  </a:tcPr>
                </a:tc>
                <a:tc>
                  <a:txBody>
                    <a:bodyPr/>
                    <a:lstStyle/>
                    <a:p>
                      <a:pPr indent="0" lvl="0" marL="224154" marR="391160" rtl="0" algn="l">
                        <a:lnSpc>
                          <a:spcPct val="100000"/>
                        </a:lnSpc>
                        <a:spcBef>
                          <a:spcPts val="0"/>
                        </a:spcBef>
                        <a:spcAft>
                          <a:spcPts val="0"/>
                        </a:spcAft>
                        <a:buNone/>
                      </a:pPr>
                      <a:r>
                        <a:rPr b="1" lang="en-US" sz="1150" u="none" cap="none" strike="noStrike">
                          <a:solidFill>
                            <a:srgbClr val="19192D"/>
                          </a:solidFill>
                          <a:latin typeface="Calibri"/>
                          <a:ea typeface="Calibri"/>
                          <a:cs typeface="Calibri"/>
                          <a:sym typeface="Calibri"/>
                        </a:rPr>
                        <a:t>Poor Long-Range Dependencies</a:t>
                      </a:r>
                      <a:endParaRPr sz="1150" u="none" cap="none" strike="noStrike">
                        <a:latin typeface="Calibri"/>
                        <a:ea typeface="Calibri"/>
                        <a:cs typeface="Calibri"/>
                        <a:sym typeface="Calibri"/>
                      </a:endParaRPr>
                    </a:p>
                  </a:txBody>
                  <a:tcPr marT="121925" marB="0" marR="0" marL="0">
                    <a:lnL cap="flat" cmpd="sng" w="12700">
                      <a:solidFill>
                        <a:srgbClr val="BEDAFD"/>
                      </a:solidFill>
                      <a:prstDash val="solid"/>
                      <a:round/>
                      <a:headEnd len="sm" w="sm" type="none"/>
                      <a:tailEnd len="sm" w="sm" type="none"/>
                    </a:lnL>
                    <a:lnR cap="flat" cmpd="sng" w="12700">
                      <a:solidFill>
                        <a:srgbClr val="BEDAFD"/>
                      </a:solidFill>
                      <a:prstDash val="solid"/>
                      <a:round/>
                      <a:headEnd len="sm" w="sm" type="none"/>
                      <a:tailEnd len="sm" w="sm" type="none"/>
                    </a:lnR>
                  </a:tcPr>
                </a:tc>
                <a:tc>
                  <a:txBody>
                    <a:bodyPr/>
                    <a:lstStyle/>
                    <a:p>
                      <a:pPr indent="0" lvl="0" marL="224154" marR="396875" rtl="0" algn="l">
                        <a:lnSpc>
                          <a:spcPct val="100000"/>
                        </a:lnSpc>
                        <a:spcBef>
                          <a:spcPts val="0"/>
                        </a:spcBef>
                        <a:spcAft>
                          <a:spcPts val="0"/>
                        </a:spcAft>
                        <a:buNone/>
                      </a:pPr>
                      <a:r>
                        <a:rPr b="1" lang="en-US" sz="1150" u="none" cap="none" strike="noStrike">
                          <a:solidFill>
                            <a:srgbClr val="19192D"/>
                          </a:solidFill>
                          <a:latin typeface="Calibri"/>
                          <a:ea typeface="Calibri"/>
                          <a:cs typeface="Calibri"/>
                          <a:sym typeface="Calibri"/>
                        </a:rPr>
                        <a:t>No Parallelism in Training</a:t>
                      </a:r>
                      <a:endParaRPr sz="1150" u="none" cap="none" strike="noStrike">
                        <a:latin typeface="Calibri"/>
                        <a:ea typeface="Calibri"/>
                        <a:cs typeface="Calibri"/>
                        <a:sym typeface="Calibri"/>
                      </a:endParaRPr>
                    </a:p>
                  </a:txBody>
                  <a:tcPr marT="121925" marB="0" marR="0" marL="0">
                    <a:lnL cap="flat" cmpd="sng" w="12700">
                      <a:solidFill>
                        <a:srgbClr val="BEDAFD"/>
                      </a:solidFill>
                      <a:prstDash val="solid"/>
                      <a:round/>
                      <a:headEnd len="sm" w="sm" type="none"/>
                      <a:tailEnd len="sm" w="sm" type="none"/>
                    </a:lnL>
                    <a:lnR cap="flat" cmpd="sng" w="12700">
                      <a:solidFill>
                        <a:srgbClr val="BEDAFD"/>
                      </a:solidFill>
                      <a:prstDash val="solid"/>
                      <a:round/>
                      <a:headEnd len="sm" w="sm" type="none"/>
                      <a:tailEnd len="sm" w="sm" type="none"/>
                    </a:lnR>
                  </a:tcPr>
                </a:tc>
                <a:tc>
                  <a:txBody>
                    <a:bodyPr/>
                    <a:lstStyle/>
                    <a:p>
                      <a:pPr indent="0" lvl="0" marL="224154" marR="222885" rtl="0" algn="l">
                        <a:lnSpc>
                          <a:spcPct val="100000"/>
                        </a:lnSpc>
                        <a:spcBef>
                          <a:spcPts val="0"/>
                        </a:spcBef>
                        <a:spcAft>
                          <a:spcPts val="0"/>
                        </a:spcAft>
                        <a:buNone/>
                      </a:pPr>
                      <a:r>
                        <a:rPr b="1" lang="en-US" sz="1150" u="none" cap="none" strike="noStrike">
                          <a:solidFill>
                            <a:srgbClr val="19192D"/>
                          </a:solidFill>
                          <a:latin typeface="Calibri"/>
                          <a:ea typeface="Calibri"/>
                          <a:cs typeface="Calibri"/>
                          <a:sym typeface="Calibri"/>
                        </a:rPr>
                        <a:t>Uniform Treatment of Input</a:t>
                      </a:r>
                      <a:endParaRPr sz="1150" u="none" cap="none" strike="noStrike">
                        <a:latin typeface="Calibri"/>
                        <a:ea typeface="Calibri"/>
                        <a:cs typeface="Calibri"/>
                        <a:sym typeface="Calibri"/>
                      </a:endParaRPr>
                    </a:p>
                  </a:txBody>
                  <a:tcPr marT="121925" marB="0" marR="0" marL="0">
                    <a:lnL cap="flat" cmpd="sng" w="12700">
                      <a:solidFill>
                        <a:srgbClr val="BEDAFD"/>
                      </a:solidFill>
                      <a:prstDash val="solid"/>
                      <a:round/>
                      <a:headEnd len="sm" w="sm" type="none"/>
                      <a:tailEnd len="sm" w="sm" type="none"/>
                    </a:lnL>
                    <a:lnR cap="flat" cmpd="sng" w="12700">
                      <a:solidFill>
                        <a:srgbClr val="BEDAFD"/>
                      </a:solidFill>
                      <a:prstDash val="solid"/>
                      <a:round/>
                      <a:headEnd len="sm" w="sm" type="none"/>
                      <a:tailEnd len="sm" w="sm" type="none"/>
                    </a:lnR>
                  </a:tcPr>
                </a:tc>
              </a:tr>
              <a:tr h="1643375">
                <a:tc>
                  <a:txBody>
                    <a:bodyPr/>
                    <a:lstStyle/>
                    <a:p>
                      <a:pPr indent="0" lvl="0" marL="0" marR="0" rtl="0" algn="l">
                        <a:lnSpc>
                          <a:spcPct val="100000"/>
                        </a:lnSpc>
                        <a:spcBef>
                          <a:spcPts val="0"/>
                        </a:spcBef>
                        <a:spcAft>
                          <a:spcPts val="0"/>
                        </a:spcAft>
                        <a:buNone/>
                      </a:pPr>
                      <a:r>
                        <a:t/>
                      </a:r>
                      <a:endParaRPr sz="950" u="none" cap="none" strike="noStrike">
                        <a:latin typeface="Times New Roman"/>
                        <a:ea typeface="Times New Roman"/>
                        <a:cs typeface="Times New Roman"/>
                        <a:sym typeface="Times New Roman"/>
                      </a:endParaRPr>
                    </a:p>
                    <a:p>
                      <a:pPr indent="0" lvl="0" marL="200660" marR="325120" rtl="0" algn="l">
                        <a:lnSpc>
                          <a:spcPct val="103200"/>
                        </a:lnSpc>
                        <a:spcBef>
                          <a:spcPts val="5"/>
                        </a:spcBef>
                        <a:spcAft>
                          <a:spcPts val="0"/>
                        </a:spcAft>
                        <a:buNone/>
                      </a:pPr>
                      <a:r>
                        <a:rPr lang="en-US" sz="950" u="none" cap="none" strike="noStrike">
                          <a:solidFill>
                            <a:srgbClr val="536D79"/>
                          </a:solidFill>
                          <a:latin typeface="Calibri"/>
                          <a:ea typeface="Calibri"/>
                          <a:cs typeface="Calibri"/>
                          <a:sym typeface="Calibri"/>
                        </a:rPr>
                        <a:t>Encoder-decoder models compressed entire sequences into one fixed-size vector, causing severe information loss for long inputs.</a:t>
                      </a:r>
                      <a:endParaRPr sz="950" u="none" cap="none" strike="noStrike">
                        <a:latin typeface="Calibri"/>
                        <a:ea typeface="Calibri"/>
                        <a:cs typeface="Calibri"/>
                        <a:sym typeface="Calibri"/>
                      </a:endParaRPr>
                    </a:p>
                  </a:txBody>
                  <a:tcPr marT="76200" marB="0" marR="0" marL="0">
                    <a:lnL cap="flat" cmpd="sng" w="12700">
                      <a:solidFill>
                        <a:srgbClr val="BEDAFD"/>
                      </a:solidFill>
                      <a:prstDash val="solid"/>
                      <a:round/>
                      <a:headEnd len="sm" w="sm" type="none"/>
                      <a:tailEnd len="sm" w="sm" type="none"/>
                    </a:lnL>
                    <a:lnR cap="flat" cmpd="sng" w="12700">
                      <a:solidFill>
                        <a:srgbClr val="BEDAFD"/>
                      </a:solidFill>
                      <a:prstDash val="solid"/>
                      <a:round/>
                      <a:headEnd len="sm" w="sm" type="none"/>
                      <a:tailEnd len="sm" w="sm" type="none"/>
                    </a:lnR>
                    <a:lnB cap="flat" cmpd="sng" w="12700">
                      <a:solidFill>
                        <a:srgbClr val="BEDAF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50" u="none" cap="none" strike="noStrike">
                        <a:latin typeface="Times New Roman"/>
                        <a:ea typeface="Times New Roman"/>
                        <a:cs typeface="Times New Roman"/>
                        <a:sym typeface="Times New Roman"/>
                      </a:endParaRPr>
                    </a:p>
                    <a:p>
                      <a:pPr indent="0" lvl="0" marL="224154" marR="318770" rtl="0" algn="l">
                        <a:lnSpc>
                          <a:spcPct val="103200"/>
                        </a:lnSpc>
                        <a:spcBef>
                          <a:spcPts val="5"/>
                        </a:spcBef>
                        <a:spcAft>
                          <a:spcPts val="0"/>
                        </a:spcAft>
                        <a:buNone/>
                      </a:pPr>
                      <a:r>
                        <a:rPr lang="en-US" sz="950" u="none" cap="none" strike="noStrike">
                          <a:solidFill>
                            <a:srgbClr val="536D79"/>
                          </a:solidFill>
                          <a:latin typeface="Calibri"/>
                          <a:ea typeface="Calibri"/>
                          <a:cs typeface="Calibri"/>
                          <a:sym typeface="Calibri"/>
                        </a:rPr>
                        <a:t>RNNs suffered from gradients shrinking to zero or growing uncontrollably during backpropagation, blocking long-range learning.</a:t>
                      </a:r>
                      <a:endParaRPr sz="950" u="none" cap="none" strike="noStrike">
                        <a:latin typeface="Calibri"/>
                        <a:ea typeface="Calibri"/>
                        <a:cs typeface="Calibri"/>
                        <a:sym typeface="Calibri"/>
                      </a:endParaRPr>
                    </a:p>
                  </a:txBody>
                  <a:tcPr marT="76200" marB="0" marR="0" marL="0">
                    <a:lnL cap="flat" cmpd="sng" w="12700">
                      <a:solidFill>
                        <a:srgbClr val="BEDAFD"/>
                      </a:solidFill>
                      <a:prstDash val="solid"/>
                      <a:round/>
                      <a:headEnd len="sm" w="sm" type="none"/>
                      <a:tailEnd len="sm" w="sm" type="none"/>
                    </a:lnL>
                    <a:lnR cap="flat" cmpd="sng" w="12700">
                      <a:solidFill>
                        <a:srgbClr val="BEDAFD"/>
                      </a:solidFill>
                      <a:prstDash val="solid"/>
                      <a:round/>
                      <a:headEnd len="sm" w="sm" type="none"/>
                      <a:tailEnd len="sm" w="sm" type="none"/>
                    </a:lnR>
                    <a:lnB cap="flat" cmpd="sng" w="12700">
                      <a:solidFill>
                        <a:srgbClr val="BEDAF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50" u="none" cap="none" strike="noStrike">
                        <a:latin typeface="Times New Roman"/>
                        <a:ea typeface="Times New Roman"/>
                        <a:cs typeface="Times New Roman"/>
                        <a:sym typeface="Times New Roman"/>
                      </a:endParaRPr>
                    </a:p>
                    <a:p>
                      <a:pPr indent="0" lvl="0" marL="0" marR="0" rtl="0" algn="l">
                        <a:lnSpc>
                          <a:spcPct val="100000"/>
                        </a:lnSpc>
                        <a:spcBef>
                          <a:spcPts val="95"/>
                        </a:spcBef>
                        <a:spcAft>
                          <a:spcPts val="0"/>
                        </a:spcAft>
                        <a:buNone/>
                      </a:pPr>
                      <a:r>
                        <a:t/>
                      </a:r>
                      <a:endParaRPr sz="950" u="none" cap="none" strike="noStrike">
                        <a:latin typeface="Times New Roman"/>
                        <a:ea typeface="Times New Roman"/>
                        <a:cs typeface="Times New Roman"/>
                        <a:sym typeface="Times New Roman"/>
                      </a:endParaRPr>
                    </a:p>
                    <a:p>
                      <a:pPr indent="0" lvl="0" marL="224154" marR="231140" rtl="0" algn="l">
                        <a:lnSpc>
                          <a:spcPct val="103200"/>
                        </a:lnSpc>
                        <a:spcBef>
                          <a:spcPts val="5"/>
                        </a:spcBef>
                        <a:spcAft>
                          <a:spcPts val="0"/>
                        </a:spcAft>
                        <a:buNone/>
                      </a:pPr>
                      <a:r>
                        <a:rPr lang="en-US" sz="950" u="none" cap="none" strike="noStrike">
                          <a:solidFill>
                            <a:srgbClr val="536D79"/>
                          </a:solidFill>
                          <a:latin typeface="Calibri"/>
                          <a:ea typeface="Calibri"/>
                          <a:cs typeface="Calibri"/>
                          <a:sym typeface="Calibri"/>
                        </a:rPr>
                        <a:t>Information from early tokens had to pass through many steps, getting diluted before reaching later positions in the sequence.</a:t>
                      </a:r>
                      <a:endParaRPr sz="950" u="none" cap="none" strike="noStrike">
                        <a:latin typeface="Calibri"/>
                        <a:ea typeface="Calibri"/>
                        <a:cs typeface="Calibri"/>
                        <a:sym typeface="Calibri"/>
                      </a:endParaRPr>
                    </a:p>
                  </a:txBody>
                  <a:tcPr marT="0" marB="0" marR="0" marL="0">
                    <a:lnL cap="flat" cmpd="sng" w="12700">
                      <a:solidFill>
                        <a:srgbClr val="BEDAFD"/>
                      </a:solidFill>
                      <a:prstDash val="solid"/>
                      <a:round/>
                      <a:headEnd len="sm" w="sm" type="none"/>
                      <a:tailEnd len="sm" w="sm" type="none"/>
                    </a:lnL>
                    <a:lnR cap="flat" cmpd="sng" w="12700">
                      <a:solidFill>
                        <a:srgbClr val="BEDAFD"/>
                      </a:solidFill>
                      <a:prstDash val="solid"/>
                      <a:round/>
                      <a:headEnd len="sm" w="sm" type="none"/>
                      <a:tailEnd len="sm" w="sm" type="none"/>
                    </a:lnR>
                    <a:lnB cap="flat" cmpd="sng" w="12700">
                      <a:solidFill>
                        <a:srgbClr val="BEDAF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50" u="none" cap="none" strike="noStrike">
                        <a:latin typeface="Times New Roman"/>
                        <a:ea typeface="Times New Roman"/>
                        <a:cs typeface="Times New Roman"/>
                        <a:sym typeface="Times New Roman"/>
                      </a:endParaRPr>
                    </a:p>
                    <a:p>
                      <a:pPr indent="0" lvl="0" marL="0" marR="0" rtl="0" algn="l">
                        <a:lnSpc>
                          <a:spcPct val="100000"/>
                        </a:lnSpc>
                        <a:spcBef>
                          <a:spcPts val="95"/>
                        </a:spcBef>
                        <a:spcAft>
                          <a:spcPts val="0"/>
                        </a:spcAft>
                        <a:buNone/>
                      </a:pPr>
                      <a:r>
                        <a:t/>
                      </a:r>
                      <a:endParaRPr sz="950" u="none" cap="none" strike="noStrike">
                        <a:latin typeface="Times New Roman"/>
                        <a:ea typeface="Times New Roman"/>
                        <a:cs typeface="Times New Roman"/>
                        <a:sym typeface="Times New Roman"/>
                      </a:endParaRPr>
                    </a:p>
                    <a:p>
                      <a:pPr indent="0" lvl="0" marL="224154" marR="252095" rtl="0" algn="l">
                        <a:lnSpc>
                          <a:spcPct val="103200"/>
                        </a:lnSpc>
                        <a:spcBef>
                          <a:spcPts val="5"/>
                        </a:spcBef>
                        <a:spcAft>
                          <a:spcPts val="0"/>
                        </a:spcAft>
                        <a:buNone/>
                      </a:pPr>
                      <a:r>
                        <a:rPr lang="en-US" sz="950" u="none" cap="none" strike="noStrike">
                          <a:solidFill>
                            <a:srgbClr val="536D79"/>
                          </a:solidFill>
                          <a:latin typeface="Calibri"/>
                          <a:ea typeface="Calibri"/>
                          <a:cs typeface="Calibri"/>
                          <a:sym typeface="Calibri"/>
                        </a:rPr>
                        <a:t>RNNs process tokens sequentially (each step depends on the previous), making them slow to train and difficult to scale.</a:t>
                      </a:r>
                      <a:endParaRPr sz="950" u="none" cap="none" strike="noStrike">
                        <a:latin typeface="Calibri"/>
                        <a:ea typeface="Calibri"/>
                        <a:cs typeface="Calibri"/>
                        <a:sym typeface="Calibri"/>
                      </a:endParaRPr>
                    </a:p>
                  </a:txBody>
                  <a:tcPr marT="0" marB="0" marR="0" marL="0">
                    <a:lnL cap="flat" cmpd="sng" w="12700">
                      <a:solidFill>
                        <a:srgbClr val="BEDAFD"/>
                      </a:solidFill>
                      <a:prstDash val="solid"/>
                      <a:round/>
                      <a:headEnd len="sm" w="sm" type="none"/>
                      <a:tailEnd len="sm" w="sm" type="none"/>
                    </a:lnL>
                    <a:lnR cap="flat" cmpd="sng" w="12700">
                      <a:solidFill>
                        <a:srgbClr val="BEDAFD"/>
                      </a:solidFill>
                      <a:prstDash val="solid"/>
                      <a:round/>
                      <a:headEnd len="sm" w="sm" type="none"/>
                      <a:tailEnd len="sm" w="sm" type="none"/>
                    </a:lnR>
                    <a:lnB cap="flat" cmpd="sng" w="12700">
                      <a:solidFill>
                        <a:srgbClr val="BEDAF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50" u="none" cap="none" strike="noStrike">
                        <a:latin typeface="Times New Roman"/>
                        <a:ea typeface="Times New Roman"/>
                        <a:cs typeface="Times New Roman"/>
                        <a:sym typeface="Times New Roman"/>
                      </a:endParaRPr>
                    </a:p>
                    <a:p>
                      <a:pPr indent="0" lvl="0" marL="0" marR="0" rtl="0" algn="l">
                        <a:lnSpc>
                          <a:spcPct val="100000"/>
                        </a:lnSpc>
                        <a:spcBef>
                          <a:spcPts val="95"/>
                        </a:spcBef>
                        <a:spcAft>
                          <a:spcPts val="0"/>
                        </a:spcAft>
                        <a:buNone/>
                      </a:pPr>
                      <a:r>
                        <a:t/>
                      </a:r>
                      <a:endParaRPr sz="950" u="none" cap="none" strike="noStrike">
                        <a:latin typeface="Times New Roman"/>
                        <a:ea typeface="Times New Roman"/>
                        <a:cs typeface="Times New Roman"/>
                        <a:sym typeface="Times New Roman"/>
                      </a:endParaRPr>
                    </a:p>
                    <a:p>
                      <a:pPr indent="0" lvl="0" marL="224154" marR="215265" rtl="0" algn="l">
                        <a:lnSpc>
                          <a:spcPct val="103200"/>
                        </a:lnSpc>
                        <a:spcBef>
                          <a:spcPts val="5"/>
                        </a:spcBef>
                        <a:spcAft>
                          <a:spcPts val="0"/>
                        </a:spcAft>
                        <a:buNone/>
                      </a:pPr>
                      <a:r>
                        <a:rPr lang="en-US" sz="950" u="none" cap="none" strike="noStrike">
                          <a:solidFill>
                            <a:srgbClr val="536D79"/>
                          </a:solidFill>
                          <a:latin typeface="Calibri"/>
                          <a:ea typeface="Calibri"/>
                          <a:cs typeface="Calibri"/>
                          <a:sym typeface="Calibri"/>
                        </a:rPr>
                        <a:t>All input tokens were weighted equally when generating output, with no mechanism to selectively focus on what matters most.</a:t>
                      </a:r>
                      <a:endParaRPr sz="950" u="none" cap="none" strike="noStrike">
                        <a:latin typeface="Calibri"/>
                        <a:ea typeface="Calibri"/>
                        <a:cs typeface="Calibri"/>
                        <a:sym typeface="Calibri"/>
                      </a:endParaRPr>
                    </a:p>
                  </a:txBody>
                  <a:tcPr marT="0" marB="0" marR="0" marL="0">
                    <a:lnL cap="flat" cmpd="sng" w="12700">
                      <a:solidFill>
                        <a:srgbClr val="BEDAFD"/>
                      </a:solidFill>
                      <a:prstDash val="solid"/>
                      <a:round/>
                      <a:headEnd len="sm" w="sm" type="none"/>
                      <a:tailEnd len="sm" w="sm" type="none"/>
                    </a:lnL>
                    <a:lnR cap="flat" cmpd="sng" w="12700">
                      <a:solidFill>
                        <a:srgbClr val="BEDAFD"/>
                      </a:solidFill>
                      <a:prstDash val="solid"/>
                      <a:round/>
                      <a:headEnd len="sm" w="sm" type="none"/>
                      <a:tailEnd len="sm" w="sm" type="none"/>
                    </a:lnR>
                    <a:lnB cap="flat" cmpd="sng" w="12700">
                      <a:solidFill>
                        <a:srgbClr val="BEDAFD"/>
                      </a:solidFill>
                      <a:prstDash val="solid"/>
                      <a:round/>
                      <a:headEnd len="sm" w="sm" type="none"/>
                      <a:tailEnd len="sm" w="sm" type="none"/>
                    </a:lnB>
                  </a:tcPr>
                </a:tc>
              </a:tr>
            </a:tbl>
          </a:graphicData>
        </a:graphic>
      </p:graphicFrame>
      <p:sp>
        <p:nvSpPr>
          <p:cNvPr id="1055" name="Google Shape;1055;p33"/>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descr="$PPTXTitle" id="1060" name="Google Shape;1060;p34"/>
          <p:cNvSpPr txBox="1"/>
          <p:nvPr>
            <p:ph type="title"/>
          </p:nvPr>
        </p:nvSpPr>
        <p:spPr>
          <a:xfrm>
            <a:off x="1428737" y="201868"/>
            <a:ext cx="5187950" cy="3917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Attention: You Already Do This Every Day</a:t>
            </a:r>
            <a:endParaRPr/>
          </a:p>
        </p:txBody>
      </p:sp>
      <p:sp>
        <p:nvSpPr>
          <p:cNvPr id="1061" name="Google Shape;1061;p34"/>
          <p:cNvSpPr txBox="1"/>
          <p:nvPr/>
        </p:nvSpPr>
        <p:spPr>
          <a:xfrm>
            <a:off x="1680019" y="674181"/>
            <a:ext cx="4685665" cy="224154"/>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i="1" lang="en-US" sz="1300">
                <a:solidFill>
                  <a:srgbClr val="0E756D"/>
                </a:solidFill>
                <a:latin typeface="Cambria"/>
                <a:ea typeface="Cambria"/>
                <a:cs typeface="Cambria"/>
                <a:sym typeface="Cambria"/>
              </a:rPr>
              <a:t>Focus on what matters for the current step, and quietly ignore the rest</a:t>
            </a:r>
            <a:endParaRPr sz="1300">
              <a:latin typeface="Cambria"/>
              <a:ea typeface="Cambria"/>
              <a:cs typeface="Cambria"/>
              <a:sym typeface="Cambria"/>
            </a:endParaRPr>
          </a:p>
        </p:txBody>
      </p:sp>
      <p:pic>
        <p:nvPicPr>
          <p:cNvPr id="1062" name="Google Shape;1062;p34"/>
          <p:cNvPicPr preferRelativeResize="0"/>
          <p:nvPr/>
        </p:nvPicPr>
        <p:blipFill rotWithShape="1">
          <a:blip r:embed="rId3">
            <a:alphaModFix/>
          </a:blip>
          <a:srcRect b="0" l="0" r="0" t="0"/>
          <a:stretch/>
        </p:blipFill>
        <p:spPr>
          <a:xfrm>
            <a:off x="8369274" y="14"/>
            <a:ext cx="774357" cy="866508"/>
          </a:xfrm>
          <a:prstGeom prst="rect">
            <a:avLst/>
          </a:prstGeom>
          <a:noFill/>
          <a:ln>
            <a:noFill/>
          </a:ln>
        </p:spPr>
      </p:pic>
      <p:grpSp>
        <p:nvGrpSpPr>
          <p:cNvPr id="1063" name="Google Shape;1063;p34"/>
          <p:cNvGrpSpPr/>
          <p:nvPr/>
        </p:nvGrpSpPr>
        <p:grpSpPr>
          <a:xfrm>
            <a:off x="353885" y="1013385"/>
            <a:ext cx="2766237" cy="2537294"/>
            <a:chOff x="353885" y="1013385"/>
            <a:chExt cx="2766237" cy="2537294"/>
          </a:xfrm>
        </p:grpSpPr>
        <p:pic>
          <p:nvPicPr>
            <p:cNvPr id="1064" name="Google Shape;1064;p34"/>
            <p:cNvPicPr preferRelativeResize="0"/>
            <p:nvPr/>
          </p:nvPicPr>
          <p:blipFill rotWithShape="1">
            <a:blip r:embed="rId4">
              <a:alphaModFix/>
            </a:blip>
            <a:srcRect b="0" l="0" r="0" t="0"/>
            <a:stretch/>
          </p:blipFill>
          <p:spPr>
            <a:xfrm>
              <a:off x="353885" y="1013385"/>
              <a:ext cx="2766237" cy="2537294"/>
            </a:xfrm>
            <a:prstGeom prst="rect">
              <a:avLst/>
            </a:prstGeom>
            <a:noFill/>
            <a:ln>
              <a:noFill/>
            </a:ln>
          </p:spPr>
        </p:pic>
        <p:sp>
          <p:nvSpPr>
            <p:cNvPr id="1065" name="Google Shape;1065;p34"/>
            <p:cNvSpPr/>
            <p:nvPr/>
          </p:nvSpPr>
          <p:spPr>
            <a:xfrm>
              <a:off x="410756" y="1051206"/>
              <a:ext cx="2652395" cy="2423795"/>
            </a:xfrm>
            <a:custGeom>
              <a:rect b="b" l="l" r="r" t="t"/>
              <a:pathLst>
                <a:path extrusionOk="0" h="2423795" w="2652395">
                  <a:moveTo>
                    <a:pt x="145808" y="0"/>
                  </a:moveTo>
                  <a:lnTo>
                    <a:pt x="90119" y="11079"/>
                  </a:lnTo>
                  <a:lnTo>
                    <a:pt x="43072" y="42703"/>
                  </a:lnTo>
                  <a:lnTo>
                    <a:pt x="11448" y="89751"/>
                  </a:lnTo>
                  <a:lnTo>
                    <a:pt x="368" y="145440"/>
                  </a:lnTo>
                  <a:lnTo>
                    <a:pt x="0" y="2278075"/>
                  </a:lnTo>
                  <a:lnTo>
                    <a:pt x="1266" y="2297135"/>
                  </a:lnTo>
                  <a:lnTo>
                    <a:pt x="19443" y="2350795"/>
                  </a:lnTo>
                  <a:lnTo>
                    <a:pt x="56953" y="2393370"/>
                  </a:lnTo>
                  <a:lnTo>
                    <a:pt x="107732" y="2418518"/>
                  </a:lnTo>
                  <a:lnTo>
                    <a:pt x="145440" y="2423515"/>
                  </a:lnTo>
                  <a:lnTo>
                    <a:pt x="2506687" y="2423515"/>
                  </a:lnTo>
                  <a:lnTo>
                    <a:pt x="2562375" y="2412424"/>
                  </a:lnTo>
                  <a:lnTo>
                    <a:pt x="2609418" y="2380810"/>
                  </a:lnTo>
                  <a:lnTo>
                    <a:pt x="2641037" y="2333764"/>
                  </a:lnTo>
                  <a:lnTo>
                    <a:pt x="2652128" y="2278075"/>
                  </a:lnTo>
                  <a:lnTo>
                    <a:pt x="2652104" y="145440"/>
                  </a:lnTo>
                  <a:lnTo>
                    <a:pt x="2641037" y="90106"/>
                  </a:lnTo>
                  <a:lnTo>
                    <a:pt x="2609418" y="43060"/>
                  </a:lnTo>
                  <a:lnTo>
                    <a:pt x="2562375" y="11446"/>
                  </a:lnTo>
                  <a:lnTo>
                    <a:pt x="2506687" y="355"/>
                  </a:lnTo>
                  <a:lnTo>
                    <a:pt x="145808"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66" name="Google Shape;1066;p34"/>
            <p:cNvSpPr/>
            <p:nvPr/>
          </p:nvSpPr>
          <p:spPr>
            <a:xfrm>
              <a:off x="410756" y="1051206"/>
              <a:ext cx="2652395" cy="2423795"/>
            </a:xfrm>
            <a:custGeom>
              <a:rect b="b" l="l" r="r" t="t"/>
              <a:pathLst>
                <a:path extrusionOk="0" h="2423795" w="2652395">
                  <a:moveTo>
                    <a:pt x="368" y="145440"/>
                  </a:moveTo>
                  <a:lnTo>
                    <a:pt x="1632" y="126380"/>
                  </a:lnTo>
                  <a:lnTo>
                    <a:pt x="5359" y="107727"/>
                  </a:lnTo>
                  <a:lnTo>
                    <a:pt x="30508" y="56953"/>
                  </a:lnTo>
                  <a:lnTo>
                    <a:pt x="73088" y="19431"/>
                  </a:lnTo>
                  <a:lnTo>
                    <a:pt x="126748" y="1264"/>
                  </a:lnTo>
                  <a:lnTo>
                    <a:pt x="145808" y="0"/>
                  </a:lnTo>
                  <a:lnTo>
                    <a:pt x="2506687" y="355"/>
                  </a:lnTo>
                  <a:lnTo>
                    <a:pt x="2562375" y="11446"/>
                  </a:lnTo>
                  <a:lnTo>
                    <a:pt x="2609418" y="43060"/>
                  </a:lnTo>
                  <a:lnTo>
                    <a:pt x="2641037" y="90106"/>
                  </a:lnTo>
                  <a:lnTo>
                    <a:pt x="2652128" y="145796"/>
                  </a:lnTo>
                  <a:lnTo>
                    <a:pt x="2652128" y="2278075"/>
                  </a:lnTo>
                  <a:lnTo>
                    <a:pt x="2650861" y="2297135"/>
                  </a:lnTo>
                  <a:lnTo>
                    <a:pt x="2647130" y="2315787"/>
                  </a:lnTo>
                  <a:lnTo>
                    <a:pt x="2621977" y="2366561"/>
                  </a:lnTo>
                  <a:lnTo>
                    <a:pt x="2579408" y="2404071"/>
                  </a:lnTo>
                  <a:lnTo>
                    <a:pt x="2525742" y="2422249"/>
                  </a:lnTo>
                  <a:lnTo>
                    <a:pt x="2506687" y="2423515"/>
                  </a:lnTo>
                  <a:lnTo>
                    <a:pt x="145440" y="2423515"/>
                  </a:lnTo>
                  <a:lnTo>
                    <a:pt x="89753" y="2412424"/>
                  </a:lnTo>
                  <a:lnTo>
                    <a:pt x="42705" y="2380810"/>
                  </a:lnTo>
                  <a:lnTo>
                    <a:pt x="11090" y="2333764"/>
                  </a:lnTo>
                  <a:lnTo>
                    <a:pt x="0" y="2278075"/>
                  </a:lnTo>
                  <a:lnTo>
                    <a:pt x="368" y="145440"/>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67" name="Google Shape;1067;p34"/>
            <p:cNvSpPr/>
            <p:nvPr/>
          </p:nvSpPr>
          <p:spPr>
            <a:xfrm>
              <a:off x="548639" y="1188722"/>
              <a:ext cx="411480" cy="411480"/>
            </a:xfrm>
            <a:custGeom>
              <a:rect b="b" l="l" r="r" t="t"/>
              <a:pathLst>
                <a:path extrusionOk="0" h="411480" w="411480">
                  <a:moveTo>
                    <a:pt x="205917" y="0"/>
                  </a:moveTo>
                  <a:lnTo>
                    <a:pt x="152547" y="6929"/>
                  </a:lnTo>
                  <a:lnTo>
                    <a:pt x="102958" y="27355"/>
                  </a:lnTo>
                  <a:lnTo>
                    <a:pt x="60345" y="59988"/>
                  </a:lnTo>
                  <a:lnTo>
                    <a:pt x="27724" y="102603"/>
                  </a:lnTo>
                  <a:lnTo>
                    <a:pt x="6975" y="152325"/>
                  </a:lnTo>
                  <a:lnTo>
                    <a:pt x="0" y="205562"/>
                  </a:lnTo>
                  <a:lnTo>
                    <a:pt x="1749" y="232429"/>
                  </a:lnTo>
                  <a:lnTo>
                    <a:pt x="15644" y="284282"/>
                  </a:lnTo>
                  <a:lnTo>
                    <a:pt x="42667" y="330958"/>
                  </a:lnTo>
                  <a:lnTo>
                    <a:pt x="80521" y="368812"/>
                  </a:lnTo>
                  <a:lnTo>
                    <a:pt x="127145" y="395685"/>
                  </a:lnTo>
                  <a:lnTo>
                    <a:pt x="178895" y="409680"/>
                  </a:lnTo>
                  <a:lnTo>
                    <a:pt x="205917" y="411479"/>
                  </a:lnTo>
                  <a:lnTo>
                    <a:pt x="232734" y="409680"/>
                  </a:lnTo>
                  <a:lnTo>
                    <a:pt x="284340" y="395685"/>
                  </a:lnTo>
                  <a:lnTo>
                    <a:pt x="330958" y="368812"/>
                  </a:lnTo>
                  <a:lnTo>
                    <a:pt x="368812" y="330958"/>
                  </a:lnTo>
                  <a:lnTo>
                    <a:pt x="395835" y="284282"/>
                  </a:lnTo>
                  <a:lnTo>
                    <a:pt x="409730" y="232429"/>
                  </a:lnTo>
                  <a:lnTo>
                    <a:pt x="411479" y="205562"/>
                  </a:lnTo>
                  <a:lnTo>
                    <a:pt x="409730" y="178689"/>
                  </a:lnTo>
                  <a:lnTo>
                    <a:pt x="395835" y="126839"/>
                  </a:lnTo>
                  <a:lnTo>
                    <a:pt x="368812" y="80165"/>
                  </a:lnTo>
                  <a:lnTo>
                    <a:pt x="330958" y="42306"/>
                  </a:lnTo>
                  <a:lnTo>
                    <a:pt x="284340" y="15489"/>
                  </a:lnTo>
                  <a:lnTo>
                    <a:pt x="232734" y="1743"/>
                  </a:lnTo>
                  <a:lnTo>
                    <a:pt x="205917" y="0"/>
                  </a:lnTo>
                  <a:close/>
                </a:path>
              </a:pathLst>
            </a:custGeom>
            <a:solidFill>
              <a:srgbClr val="1D3FA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068" name="Google Shape;1068;p34"/>
          <p:cNvSpPr txBox="1"/>
          <p:nvPr/>
        </p:nvSpPr>
        <p:spPr>
          <a:xfrm>
            <a:off x="696506" y="1281495"/>
            <a:ext cx="2026920" cy="231140"/>
          </a:xfrm>
          <a:prstGeom prst="rect">
            <a:avLst/>
          </a:prstGeom>
          <a:noFill/>
          <a:ln>
            <a:noFill/>
          </a:ln>
        </p:spPr>
        <p:txBody>
          <a:bodyPr anchorCtr="0" anchor="t" bIns="0" lIns="0" spcFirstLastPara="1" rIns="0" wrap="square" tIns="6350">
            <a:spAutoFit/>
          </a:bodyPr>
          <a:lstStyle/>
          <a:p>
            <a:pPr indent="0" lvl="0" marL="12700" rtl="0" algn="l">
              <a:lnSpc>
                <a:spcPct val="100000"/>
              </a:lnSpc>
              <a:spcBef>
                <a:spcPts val="0"/>
              </a:spcBef>
              <a:spcAft>
                <a:spcPts val="0"/>
              </a:spcAft>
              <a:buNone/>
            </a:pPr>
            <a:r>
              <a:rPr b="1" lang="en-US" sz="1400">
                <a:solidFill>
                  <a:srgbClr val="FFFFFF"/>
                </a:solidFill>
                <a:latin typeface="Calibri"/>
                <a:ea typeface="Calibri"/>
                <a:cs typeface="Calibri"/>
                <a:sym typeface="Calibri"/>
              </a:rPr>
              <a:t>1	</a:t>
            </a:r>
            <a:r>
              <a:rPr b="1" lang="en-US" sz="1350">
                <a:solidFill>
                  <a:srgbClr val="0C1A29"/>
                </a:solidFill>
                <a:latin typeface="Calibri"/>
                <a:ea typeface="Calibri"/>
                <a:cs typeface="Calibri"/>
                <a:sym typeface="Calibri"/>
              </a:rPr>
              <a:t>The wedding-hall effect</a:t>
            </a:r>
            <a:endParaRPr sz="1350">
              <a:latin typeface="Calibri"/>
              <a:ea typeface="Calibri"/>
              <a:cs typeface="Calibri"/>
              <a:sym typeface="Calibri"/>
            </a:endParaRPr>
          </a:p>
        </p:txBody>
      </p:sp>
      <p:sp>
        <p:nvSpPr>
          <p:cNvPr id="1069" name="Google Shape;1069;p34"/>
          <p:cNvSpPr/>
          <p:nvPr/>
        </p:nvSpPr>
        <p:spPr>
          <a:xfrm>
            <a:off x="547916" y="1737006"/>
            <a:ext cx="2378075" cy="1600835"/>
          </a:xfrm>
          <a:custGeom>
            <a:rect b="b" l="l" r="r" t="t"/>
            <a:pathLst>
              <a:path extrusionOk="0" h="1600835" w="2378075">
                <a:moveTo>
                  <a:pt x="128523" y="0"/>
                </a:moveTo>
                <a:lnTo>
                  <a:pt x="79466" y="9869"/>
                </a:lnTo>
                <a:lnTo>
                  <a:pt x="37939" y="37571"/>
                </a:lnTo>
                <a:lnTo>
                  <a:pt x="10082" y="79149"/>
                </a:lnTo>
                <a:lnTo>
                  <a:pt x="368" y="128155"/>
                </a:lnTo>
                <a:lnTo>
                  <a:pt x="0" y="1472399"/>
                </a:lnTo>
                <a:lnTo>
                  <a:pt x="1120" y="1489092"/>
                </a:lnTo>
                <a:lnTo>
                  <a:pt x="1130" y="1489242"/>
                </a:lnTo>
                <a:lnTo>
                  <a:pt x="4429" y="1505516"/>
                </a:lnTo>
                <a:lnTo>
                  <a:pt x="4456" y="1505650"/>
                </a:lnTo>
                <a:lnTo>
                  <a:pt x="9874" y="1521450"/>
                </a:lnTo>
                <a:lnTo>
                  <a:pt x="37579" y="1562981"/>
                </a:lnTo>
                <a:lnTo>
                  <a:pt x="79160" y="1590831"/>
                </a:lnTo>
                <a:lnTo>
                  <a:pt x="128168" y="1600555"/>
                </a:lnTo>
                <a:lnTo>
                  <a:pt x="2249639" y="1600555"/>
                </a:lnTo>
                <a:lnTo>
                  <a:pt x="2265742" y="1599474"/>
                </a:lnTo>
                <a:lnTo>
                  <a:pt x="2266241" y="1599474"/>
                </a:lnTo>
                <a:lnTo>
                  <a:pt x="2313724" y="1583270"/>
                </a:lnTo>
                <a:lnTo>
                  <a:pt x="2351235" y="1550418"/>
                </a:lnTo>
                <a:lnTo>
                  <a:pt x="2373440" y="1505650"/>
                </a:lnTo>
                <a:lnTo>
                  <a:pt x="2377808" y="1472399"/>
                </a:lnTo>
                <a:lnTo>
                  <a:pt x="2377784" y="128155"/>
                </a:lnTo>
                <a:lnTo>
                  <a:pt x="2367933" y="79460"/>
                </a:lnTo>
                <a:lnTo>
                  <a:pt x="2340229" y="37930"/>
                </a:lnTo>
                <a:lnTo>
                  <a:pt x="2298647" y="10080"/>
                </a:lnTo>
                <a:lnTo>
                  <a:pt x="2249639" y="355"/>
                </a:lnTo>
                <a:lnTo>
                  <a:pt x="128523" y="0"/>
                </a:lnTo>
                <a:close/>
              </a:path>
            </a:pathLst>
          </a:custGeom>
          <a:solidFill>
            <a:srgbClr val="E7ED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70" name="Google Shape;1070;p34"/>
          <p:cNvSpPr txBox="1"/>
          <p:nvPr/>
        </p:nvSpPr>
        <p:spPr>
          <a:xfrm>
            <a:off x="682815" y="2146655"/>
            <a:ext cx="1997710" cy="781685"/>
          </a:xfrm>
          <a:prstGeom prst="rect">
            <a:avLst/>
          </a:prstGeom>
          <a:noFill/>
          <a:ln>
            <a:noFill/>
          </a:ln>
        </p:spPr>
        <p:txBody>
          <a:bodyPr anchorCtr="0" anchor="t" bIns="0" lIns="0" spcFirstLastPara="1" rIns="0" wrap="square" tIns="12700">
            <a:spAutoFit/>
          </a:bodyPr>
          <a:lstStyle/>
          <a:p>
            <a:pPr indent="0" lvl="0" marL="12700" marR="5080" rtl="0" algn="l">
              <a:lnSpc>
                <a:spcPct val="107800"/>
              </a:lnSpc>
              <a:spcBef>
                <a:spcPts val="0"/>
              </a:spcBef>
              <a:spcAft>
                <a:spcPts val="0"/>
              </a:spcAft>
              <a:buNone/>
            </a:pPr>
            <a:r>
              <a:rPr lang="en-US" sz="1150">
                <a:solidFill>
                  <a:srgbClr val="1E2836"/>
                </a:solidFill>
                <a:latin typeface="Calibri"/>
                <a:ea typeface="Calibri"/>
                <a:cs typeface="Calibri"/>
                <a:sym typeface="Calibri"/>
              </a:rPr>
              <a:t>Loud DJ, 300 guests, yet you instantly catch someone saying your name. Your brain re-weights every sound by relevance.</a:t>
            </a:r>
            <a:endParaRPr sz="1150">
              <a:latin typeface="Calibri"/>
              <a:ea typeface="Calibri"/>
              <a:cs typeface="Calibri"/>
              <a:sym typeface="Calibri"/>
            </a:endParaRPr>
          </a:p>
        </p:txBody>
      </p:sp>
      <p:grpSp>
        <p:nvGrpSpPr>
          <p:cNvPr id="1071" name="Google Shape;1071;p34"/>
          <p:cNvGrpSpPr/>
          <p:nvPr/>
        </p:nvGrpSpPr>
        <p:grpSpPr>
          <a:xfrm>
            <a:off x="3188525" y="1013385"/>
            <a:ext cx="2766237" cy="2537294"/>
            <a:chOff x="3188525" y="1013385"/>
            <a:chExt cx="2766237" cy="2537294"/>
          </a:xfrm>
        </p:grpSpPr>
        <p:pic>
          <p:nvPicPr>
            <p:cNvPr id="1072" name="Google Shape;1072;p34"/>
            <p:cNvPicPr preferRelativeResize="0"/>
            <p:nvPr/>
          </p:nvPicPr>
          <p:blipFill rotWithShape="1">
            <a:blip r:embed="rId4">
              <a:alphaModFix/>
            </a:blip>
            <a:srcRect b="0" l="0" r="0" t="0"/>
            <a:stretch/>
          </p:blipFill>
          <p:spPr>
            <a:xfrm>
              <a:off x="3188525" y="1013385"/>
              <a:ext cx="2766237" cy="2537294"/>
            </a:xfrm>
            <a:prstGeom prst="rect">
              <a:avLst/>
            </a:prstGeom>
            <a:noFill/>
            <a:ln>
              <a:noFill/>
            </a:ln>
          </p:spPr>
        </p:pic>
        <p:sp>
          <p:nvSpPr>
            <p:cNvPr id="1073" name="Google Shape;1073;p34"/>
            <p:cNvSpPr/>
            <p:nvPr/>
          </p:nvSpPr>
          <p:spPr>
            <a:xfrm>
              <a:off x="3245396" y="1051206"/>
              <a:ext cx="2652395" cy="2423795"/>
            </a:xfrm>
            <a:custGeom>
              <a:rect b="b" l="l" r="r" t="t"/>
              <a:pathLst>
                <a:path extrusionOk="0" h="2423795" w="2652395">
                  <a:moveTo>
                    <a:pt x="145808" y="0"/>
                  </a:moveTo>
                  <a:lnTo>
                    <a:pt x="90119" y="11079"/>
                  </a:lnTo>
                  <a:lnTo>
                    <a:pt x="43072" y="42703"/>
                  </a:lnTo>
                  <a:lnTo>
                    <a:pt x="11448" y="89751"/>
                  </a:lnTo>
                  <a:lnTo>
                    <a:pt x="368" y="145440"/>
                  </a:lnTo>
                  <a:lnTo>
                    <a:pt x="0" y="2278075"/>
                  </a:lnTo>
                  <a:lnTo>
                    <a:pt x="1266" y="2297135"/>
                  </a:lnTo>
                  <a:lnTo>
                    <a:pt x="19443" y="2350795"/>
                  </a:lnTo>
                  <a:lnTo>
                    <a:pt x="56953" y="2393370"/>
                  </a:lnTo>
                  <a:lnTo>
                    <a:pt x="107732" y="2418518"/>
                  </a:lnTo>
                  <a:lnTo>
                    <a:pt x="145440" y="2423515"/>
                  </a:lnTo>
                  <a:lnTo>
                    <a:pt x="2506687" y="2423515"/>
                  </a:lnTo>
                  <a:lnTo>
                    <a:pt x="2562375" y="2412424"/>
                  </a:lnTo>
                  <a:lnTo>
                    <a:pt x="2609418" y="2380810"/>
                  </a:lnTo>
                  <a:lnTo>
                    <a:pt x="2641037" y="2333764"/>
                  </a:lnTo>
                  <a:lnTo>
                    <a:pt x="2652128" y="2278075"/>
                  </a:lnTo>
                  <a:lnTo>
                    <a:pt x="2652104" y="145440"/>
                  </a:lnTo>
                  <a:lnTo>
                    <a:pt x="2641037" y="90106"/>
                  </a:lnTo>
                  <a:lnTo>
                    <a:pt x="2609418" y="43060"/>
                  </a:lnTo>
                  <a:lnTo>
                    <a:pt x="2562375" y="11446"/>
                  </a:lnTo>
                  <a:lnTo>
                    <a:pt x="2506687" y="355"/>
                  </a:lnTo>
                  <a:lnTo>
                    <a:pt x="145808"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74" name="Google Shape;1074;p34"/>
            <p:cNvSpPr/>
            <p:nvPr/>
          </p:nvSpPr>
          <p:spPr>
            <a:xfrm>
              <a:off x="3245396" y="1051206"/>
              <a:ext cx="2652395" cy="2423795"/>
            </a:xfrm>
            <a:custGeom>
              <a:rect b="b" l="l" r="r" t="t"/>
              <a:pathLst>
                <a:path extrusionOk="0" h="2423795" w="2652395">
                  <a:moveTo>
                    <a:pt x="368" y="145440"/>
                  </a:moveTo>
                  <a:lnTo>
                    <a:pt x="1632" y="126380"/>
                  </a:lnTo>
                  <a:lnTo>
                    <a:pt x="5359" y="107727"/>
                  </a:lnTo>
                  <a:lnTo>
                    <a:pt x="30508" y="56953"/>
                  </a:lnTo>
                  <a:lnTo>
                    <a:pt x="73088" y="19431"/>
                  </a:lnTo>
                  <a:lnTo>
                    <a:pt x="126748" y="1264"/>
                  </a:lnTo>
                  <a:lnTo>
                    <a:pt x="145808" y="0"/>
                  </a:lnTo>
                  <a:lnTo>
                    <a:pt x="2506687" y="355"/>
                  </a:lnTo>
                  <a:lnTo>
                    <a:pt x="2562375" y="11446"/>
                  </a:lnTo>
                  <a:lnTo>
                    <a:pt x="2609418" y="43060"/>
                  </a:lnTo>
                  <a:lnTo>
                    <a:pt x="2641037" y="90106"/>
                  </a:lnTo>
                  <a:lnTo>
                    <a:pt x="2652128" y="145796"/>
                  </a:lnTo>
                  <a:lnTo>
                    <a:pt x="2652128" y="2278075"/>
                  </a:lnTo>
                  <a:lnTo>
                    <a:pt x="2650861" y="2297135"/>
                  </a:lnTo>
                  <a:lnTo>
                    <a:pt x="2647130" y="2315787"/>
                  </a:lnTo>
                  <a:lnTo>
                    <a:pt x="2621977" y="2366561"/>
                  </a:lnTo>
                  <a:lnTo>
                    <a:pt x="2579408" y="2404071"/>
                  </a:lnTo>
                  <a:lnTo>
                    <a:pt x="2525742" y="2422249"/>
                  </a:lnTo>
                  <a:lnTo>
                    <a:pt x="2506687" y="2423515"/>
                  </a:lnTo>
                  <a:lnTo>
                    <a:pt x="145440" y="2423515"/>
                  </a:lnTo>
                  <a:lnTo>
                    <a:pt x="89753" y="2412424"/>
                  </a:lnTo>
                  <a:lnTo>
                    <a:pt x="42705" y="2380810"/>
                  </a:lnTo>
                  <a:lnTo>
                    <a:pt x="11090" y="2333764"/>
                  </a:lnTo>
                  <a:lnTo>
                    <a:pt x="0" y="2278075"/>
                  </a:lnTo>
                  <a:lnTo>
                    <a:pt x="368" y="145440"/>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75" name="Google Shape;1075;p34"/>
            <p:cNvSpPr/>
            <p:nvPr/>
          </p:nvSpPr>
          <p:spPr>
            <a:xfrm>
              <a:off x="3383280" y="1188722"/>
              <a:ext cx="411480" cy="411480"/>
            </a:xfrm>
            <a:custGeom>
              <a:rect b="b" l="l" r="r" t="t"/>
              <a:pathLst>
                <a:path extrusionOk="0" h="411480" w="411479">
                  <a:moveTo>
                    <a:pt x="205917" y="0"/>
                  </a:moveTo>
                  <a:lnTo>
                    <a:pt x="152547" y="6929"/>
                  </a:lnTo>
                  <a:lnTo>
                    <a:pt x="102958" y="27355"/>
                  </a:lnTo>
                  <a:lnTo>
                    <a:pt x="60345" y="59988"/>
                  </a:lnTo>
                  <a:lnTo>
                    <a:pt x="27724" y="102603"/>
                  </a:lnTo>
                  <a:lnTo>
                    <a:pt x="6975" y="152325"/>
                  </a:lnTo>
                  <a:lnTo>
                    <a:pt x="0" y="205562"/>
                  </a:lnTo>
                  <a:lnTo>
                    <a:pt x="1749" y="232429"/>
                  </a:lnTo>
                  <a:lnTo>
                    <a:pt x="15644" y="284282"/>
                  </a:lnTo>
                  <a:lnTo>
                    <a:pt x="42667" y="330958"/>
                  </a:lnTo>
                  <a:lnTo>
                    <a:pt x="80521" y="368812"/>
                  </a:lnTo>
                  <a:lnTo>
                    <a:pt x="127145" y="395685"/>
                  </a:lnTo>
                  <a:lnTo>
                    <a:pt x="178895" y="409680"/>
                  </a:lnTo>
                  <a:lnTo>
                    <a:pt x="205917" y="411479"/>
                  </a:lnTo>
                  <a:lnTo>
                    <a:pt x="232734" y="409680"/>
                  </a:lnTo>
                  <a:lnTo>
                    <a:pt x="284340" y="395685"/>
                  </a:lnTo>
                  <a:lnTo>
                    <a:pt x="330958" y="368812"/>
                  </a:lnTo>
                  <a:lnTo>
                    <a:pt x="368812" y="330958"/>
                  </a:lnTo>
                  <a:lnTo>
                    <a:pt x="395835" y="284282"/>
                  </a:lnTo>
                  <a:lnTo>
                    <a:pt x="409730" y="232429"/>
                  </a:lnTo>
                  <a:lnTo>
                    <a:pt x="411480" y="205562"/>
                  </a:lnTo>
                  <a:lnTo>
                    <a:pt x="409730" y="178689"/>
                  </a:lnTo>
                  <a:lnTo>
                    <a:pt x="395835" y="126839"/>
                  </a:lnTo>
                  <a:lnTo>
                    <a:pt x="368812" y="80165"/>
                  </a:lnTo>
                  <a:lnTo>
                    <a:pt x="330958" y="42306"/>
                  </a:lnTo>
                  <a:lnTo>
                    <a:pt x="284340" y="15489"/>
                  </a:lnTo>
                  <a:lnTo>
                    <a:pt x="232734" y="1743"/>
                  </a:lnTo>
                  <a:lnTo>
                    <a:pt x="205917" y="0"/>
                  </a:lnTo>
                  <a:close/>
                </a:path>
              </a:pathLst>
            </a:custGeom>
            <a:solidFill>
              <a:srgbClr val="0E756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076" name="Google Shape;1076;p34"/>
          <p:cNvSpPr txBox="1"/>
          <p:nvPr/>
        </p:nvSpPr>
        <p:spPr>
          <a:xfrm>
            <a:off x="3531146" y="1281495"/>
            <a:ext cx="1857375" cy="231140"/>
          </a:xfrm>
          <a:prstGeom prst="rect">
            <a:avLst/>
          </a:prstGeom>
          <a:noFill/>
          <a:ln>
            <a:noFill/>
          </a:ln>
        </p:spPr>
        <p:txBody>
          <a:bodyPr anchorCtr="0" anchor="t" bIns="0" lIns="0" spcFirstLastPara="1" rIns="0" wrap="square" tIns="6350">
            <a:spAutoFit/>
          </a:bodyPr>
          <a:lstStyle/>
          <a:p>
            <a:pPr indent="0" lvl="0" marL="12700" rtl="0" algn="l">
              <a:lnSpc>
                <a:spcPct val="100000"/>
              </a:lnSpc>
              <a:spcBef>
                <a:spcPts val="0"/>
              </a:spcBef>
              <a:spcAft>
                <a:spcPts val="0"/>
              </a:spcAft>
              <a:buNone/>
            </a:pPr>
            <a:r>
              <a:rPr b="1" lang="en-US" sz="1400">
                <a:solidFill>
                  <a:srgbClr val="FFFFFF"/>
                </a:solidFill>
                <a:latin typeface="Calibri"/>
                <a:ea typeface="Calibri"/>
                <a:cs typeface="Calibri"/>
                <a:sym typeface="Calibri"/>
              </a:rPr>
              <a:t>2	</a:t>
            </a:r>
            <a:r>
              <a:rPr b="1" lang="en-US" sz="1350">
                <a:solidFill>
                  <a:srgbClr val="0C1A29"/>
                </a:solidFill>
                <a:latin typeface="Calibri"/>
                <a:ea typeface="Calibri"/>
                <a:cs typeface="Calibri"/>
                <a:sym typeface="Calibri"/>
              </a:rPr>
              <a:t>The open-book exam</a:t>
            </a:r>
            <a:endParaRPr sz="1350">
              <a:latin typeface="Calibri"/>
              <a:ea typeface="Calibri"/>
              <a:cs typeface="Calibri"/>
              <a:sym typeface="Calibri"/>
            </a:endParaRPr>
          </a:p>
        </p:txBody>
      </p:sp>
      <p:sp>
        <p:nvSpPr>
          <p:cNvPr id="1077" name="Google Shape;1077;p34"/>
          <p:cNvSpPr/>
          <p:nvPr/>
        </p:nvSpPr>
        <p:spPr>
          <a:xfrm>
            <a:off x="3382555" y="1737006"/>
            <a:ext cx="2378075" cy="1600835"/>
          </a:xfrm>
          <a:custGeom>
            <a:rect b="b" l="l" r="r" t="t"/>
            <a:pathLst>
              <a:path extrusionOk="0" h="1600835" w="2378075">
                <a:moveTo>
                  <a:pt x="128524" y="0"/>
                </a:moveTo>
                <a:lnTo>
                  <a:pt x="79466" y="9869"/>
                </a:lnTo>
                <a:lnTo>
                  <a:pt x="37939" y="37571"/>
                </a:lnTo>
                <a:lnTo>
                  <a:pt x="10082" y="79149"/>
                </a:lnTo>
                <a:lnTo>
                  <a:pt x="368" y="128155"/>
                </a:lnTo>
                <a:lnTo>
                  <a:pt x="0" y="1472399"/>
                </a:lnTo>
                <a:lnTo>
                  <a:pt x="1120" y="1489092"/>
                </a:lnTo>
                <a:lnTo>
                  <a:pt x="17284" y="1536471"/>
                </a:lnTo>
                <a:lnTo>
                  <a:pt x="50138" y="1573988"/>
                </a:lnTo>
                <a:lnTo>
                  <a:pt x="95045" y="1596232"/>
                </a:lnTo>
                <a:lnTo>
                  <a:pt x="128168" y="1600555"/>
                </a:lnTo>
                <a:lnTo>
                  <a:pt x="2249639" y="1600555"/>
                </a:lnTo>
                <a:lnTo>
                  <a:pt x="2265742" y="1599474"/>
                </a:lnTo>
                <a:lnTo>
                  <a:pt x="2266241" y="1599474"/>
                </a:lnTo>
                <a:lnTo>
                  <a:pt x="2313724" y="1583270"/>
                </a:lnTo>
                <a:lnTo>
                  <a:pt x="2351235" y="1550418"/>
                </a:lnTo>
                <a:lnTo>
                  <a:pt x="2373440" y="1505650"/>
                </a:lnTo>
                <a:lnTo>
                  <a:pt x="2377808" y="1472399"/>
                </a:lnTo>
                <a:lnTo>
                  <a:pt x="2377784" y="128155"/>
                </a:lnTo>
                <a:lnTo>
                  <a:pt x="2367933" y="79460"/>
                </a:lnTo>
                <a:lnTo>
                  <a:pt x="2340229" y="37930"/>
                </a:lnTo>
                <a:lnTo>
                  <a:pt x="2298647" y="10080"/>
                </a:lnTo>
                <a:lnTo>
                  <a:pt x="2249639" y="355"/>
                </a:lnTo>
                <a:lnTo>
                  <a:pt x="128524" y="0"/>
                </a:lnTo>
                <a:close/>
              </a:path>
            </a:pathLst>
          </a:custGeom>
          <a:solidFill>
            <a:srgbClr val="E5F3F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78" name="Google Shape;1078;p34"/>
          <p:cNvSpPr txBox="1"/>
          <p:nvPr/>
        </p:nvSpPr>
        <p:spPr>
          <a:xfrm>
            <a:off x="3517455" y="2146655"/>
            <a:ext cx="2078355" cy="781685"/>
          </a:xfrm>
          <a:prstGeom prst="rect">
            <a:avLst/>
          </a:prstGeom>
          <a:noFill/>
          <a:ln>
            <a:noFill/>
          </a:ln>
        </p:spPr>
        <p:txBody>
          <a:bodyPr anchorCtr="0" anchor="t" bIns="0" lIns="0" spcFirstLastPara="1" rIns="0" wrap="square" tIns="12700">
            <a:spAutoFit/>
          </a:bodyPr>
          <a:lstStyle/>
          <a:p>
            <a:pPr indent="0" lvl="0" marL="12700" marR="5080" rtl="0" algn="l">
              <a:lnSpc>
                <a:spcPct val="107800"/>
              </a:lnSpc>
              <a:spcBef>
                <a:spcPts val="0"/>
              </a:spcBef>
              <a:spcAft>
                <a:spcPts val="0"/>
              </a:spcAft>
              <a:buNone/>
            </a:pPr>
            <a:r>
              <a:rPr lang="en-US" sz="1150">
                <a:solidFill>
                  <a:srgbClr val="1E2836"/>
                </a:solidFill>
                <a:latin typeface="Calibri"/>
                <a:ea typeface="Calibri"/>
                <a:cs typeface="Calibri"/>
                <a:sym typeface="Calibri"/>
              </a:rPr>
              <a:t>You do not re-read the entire textbook for every question. You jump straight to the relevant page. That jump is attention.</a:t>
            </a:r>
            <a:endParaRPr sz="1150">
              <a:latin typeface="Calibri"/>
              <a:ea typeface="Calibri"/>
              <a:cs typeface="Calibri"/>
              <a:sym typeface="Calibri"/>
            </a:endParaRPr>
          </a:p>
        </p:txBody>
      </p:sp>
      <p:grpSp>
        <p:nvGrpSpPr>
          <p:cNvPr id="1079" name="Google Shape;1079;p34"/>
          <p:cNvGrpSpPr/>
          <p:nvPr/>
        </p:nvGrpSpPr>
        <p:grpSpPr>
          <a:xfrm>
            <a:off x="6023165" y="1013385"/>
            <a:ext cx="2766237" cy="2537294"/>
            <a:chOff x="6023165" y="1013385"/>
            <a:chExt cx="2766237" cy="2537294"/>
          </a:xfrm>
        </p:grpSpPr>
        <p:pic>
          <p:nvPicPr>
            <p:cNvPr id="1080" name="Google Shape;1080;p34"/>
            <p:cNvPicPr preferRelativeResize="0"/>
            <p:nvPr/>
          </p:nvPicPr>
          <p:blipFill rotWithShape="1">
            <a:blip r:embed="rId4">
              <a:alphaModFix/>
            </a:blip>
            <a:srcRect b="0" l="0" r="0" t="0"/>
            <a:stretch/>
          </p:blipFill>
          <p:spPr>
            <a:xfrm>
              <a:off x="6023165" y="1013385"/>
              <a:ext cx="2766237" cy="2537294"/>
            </a:xfrm>
            <a:prstGeom prst="rect">
              <a:avLst/>
            </a:prstGeom>
            <a:noFill/>
            <a:ln>
              <a:noFill/>
            </a:ln>
          </p:spPr>
        </p:pic>
        <p:sp>
          <p:nvSpPr>
            <p:cNvPr id="1081" name="Google Shape;1081;p34"/>
            <p:cNvSpPr/>
            <p:nvPr/>
          </p:nvSpPr>
          <p:spPr>
            <a:xfrm>
              <a:off x="6080036" y="1051206"/>
              <a:ext cx="2652395" cy="2423795"/>
            </a:xfrm>
            <a:custGeom>
              <a:rect b="b" l="l" r="r" t="t"/>
              <a:pathLst>
                <a:path extrusionOk="0" h="2423795" w="2652395">
                  <a:moveTo>
                    <a:pt x="145808" y="0"/>
                  </a:moveTo>
                  <a:lnTo>
                    <a:pt x="90119" y="11079"/>
                  </a:lnTo>
                  <a:lnTo>
                    <a:pt x="43072" y="42703"/>
                  </a:lnTo>
                  <a:lnTo>
                    <a:pt x="11448" y="89751"/>
                  </a:lnTo>
                  <a:lnTo>
                    <a:pt x="368" y="145440"/>
                  </a:lnTo>
                  <a:lnTo>
                    <a:pt x="0" y="2278075"/>
                  </a:lnTo>
                  <a:lnTo>
                    <a:pt x="1266" y="2297135"/>
                  </a:lnTo>
                  <a:lnTo>
                    <a:pt x="19443" y="2350795"/>
                  </a:lnTo>
                  <a:lnTo>
                    <a:pt x="56953" y="2393370"/>
                  </a:lnTo>
                  <a:lnTo>
                    <a:pt x="107732" y="2418518"/>
                  </a:lnTo>
                  <a:lnTo>
                    <a:pt x="145440" y="2423515"/>
                  </a:lnTo>
                  <a:lnTo>
                    <a:pt x="2506687" y="2423515"/>
                  </a:lnTo>
                  <a:lnTo>
                    <a:pt x="2562375" y="2412424"/>
                  </a:lnTo>
                  <a:lnTo>
                    <a:pt x="2609418" y="2380810"/>
                  </a:lnTo>
                  <a:lnTo>
                    <a:pt x="2641037" y="2333764"/>
                  </a:lnTo>
                  <a:lnTo>
                    <a:pt x="2652128" y="2278075"/>
                  </a:lnTo>
                  <a:lnTo>
                    <a:pt x="2652104" y="145440"/>
                  </a:lnTo>
                  <a:lnTo>
                    <a:pt x="2641037" y="90106"/>
                  </a:lnTo>
                  <a:lnTo>
                    <a:pt x="2609418" y="43060"/>
                  </a:lnTo>
                  <a:lnTo>
                    <a:pt x="2562375" y="11446"/>
                  </a:lnTo>
                  <a:lnTo>
                    <a:pt x="2506687" y="355"/>
                  </a:lnTo>
                  <a:lnTo>
                    <a:pt x="145808"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82" name="Google Shape;1082;p34"/>
            <p:cNvSpPr/>
            <p:nvPr/>
          </p:nvSpPr>
          <p:spPr>
            <a:xfrm>
              <a:off x="6080036" y="1051206"/>
              <a:ext cx="2652395" cy="2423795"/>
            </a:xfrm>
            <a:custGeom>
              <a:rect b="b" l="l" r="r" t="t"/>
              <a:pathLst>
                <a:path extrusionOk="0" h="2423795" w="2652395">
                  <a:moveTo>
                    <a:pt x="368" y="145440"/>
                  </a:moveTo>
                  <a:lnTo>
                    <a:pt x="1632" y="126380"/>
                  </a:lnTo>
                  <a:lnTo>
                    <a:pt x="5359" y="107727"/>
                  </a:lnTo>
                  <a:lnTo>
                    <a:pt x="30508" y="56953"/>
                  </a:lnTo>
                  <a:lnTo>
                    <a:pt x="73088" y="19431"/>
                  </a:lnTo>
                  <a:lnTo>
                    <a:pt x="126748" y="1264"/>
                  </a:lnTo>
                  <a:lnTo>
                    <a:pt x="145808" y="0"/>
                  </a:lnTo>
                  <a:lnTo>
                    <a:pt x="2506687" y="355"/>
                  </a:lnTo>
                  <a:lnTo>
                    <a:pt x="2562375" y="11446"/>
                  </a:lnTo>
                  <a:lnTo>
                    <a:pt x="2609418" y="43060"/>
                  </a:lnTo>
                  <a:lnTo>
                    <a:pt x="2641037" y="90106"/>
                  </a:lnTo>
                  <a:lnTo>
                    <a:pt x="2652128" y="145796"/>
                  </a:lnTo>
                  <a:lnTo>
                    <a:pt x="2652128" y="2278075"/>
                  </a:lnTo>
                  <a:lnTo>
                    <a:pt x="2650861" y="2297135"/>
                  </a:lnTo>
                  <a:lnTo>
                    <a:pt x="2647130" y="2315787"/>
                  </a:lnTo>
                  <a:lnTo>
                    <a:pt x="2621977" y="2366561"/>
                  </a:lnTo>
                  <a:lnTo>
                    <a:pt x="2579408" y="2404071"/>
                  </a:lnTo>
                  <a:lnTo>
                    <a:pt x="2525742" y="2422249"/>
                  </a:lnTo>
                  <a:lnTo>
                    <a:pt x="2506687" y="2423515"/>
                  </a:lnTo>
                  <a:lnTo>
                    <a:pt x="145440" y="2423515"/>
                  </a:lnTo>
                  <a:lnTo>
                    <a:pt x="89753" y="2412424"/>
                  </a:lnTo>
                  <a:lnTo>
                    <a:pt x="42705" y="2380810"/>
                  </a:lnTo>
                  <a:lnTo>
                    <a:pt x="11090" y="2333764"/>
                  </a:lnTo>
                  <a:lnTo>
                    <a:pt x="0" y="2278075"/>
                  </a:lnTo>
                  <a:lnTo>
                    <a:pt x="368" y="145440"/>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83" name="Google Shape;1083;p34"/>
            <p:cNvSpPr/>
            <p:nvPr/>
          </p:nvSpPr>
          <p:spPr>
            <a:xfrm>
              <a:off x="6217920" y="1188722"/>
              <a:ext cx="411480" cy="411480"/>
            </a:xfrm>
            <a:custGeom>
              <a:rect b="b" l="l" r="r" t="t"/>
              <a:pathLst>
                <a:path extrusionOk="0" h="411480" w="411479">
                  <a:moveTo>
                    <a:pt x="205562" y="0"/>
                  </a:moveTo>
                  <a:lnTo>
                    <a:pt x="152503" y="6929"/>
                  </a:lnTo>
                  <a:lnTo>
                    <a:pt x="102958" y="27355"/>
                  </a:lnTo>
                  <a:lnTo>
                    <a:pt x="60345" y="59988"/>
                  </a:lnTo>
                  <a:lnTo>
                    <a:pt x="27724" y="102603"/>
                  </a:lnTo>
                  <a:lnTo>
                    <a:pt x="6975" y="152325"/>
                  </a:lnTo>
                  <a:lnTo>
                    <a:pt x="0" y="205562"/>
                  </a:lnTo>
                  <a:lnTo>
                    <a:pt x="1749" y="232429"/>
                  </a:lnTo>
                  <a:lnTo>
                    <a:pt x="15644" y="284282"/>
                  </a:lnTo>
                  <a:lnTo>
                    <a:pt x="42667" y="330958"/>
                  </a:lnTo>
                  <a:lnTo>
                    <a:pt x="80521" y="368812"/>
                  </a:lnTo>
                  <a:lnTo>
                    <a:pt x="127139" y="395685"/>
                  </a:lnTo>
                  <a:lnTo>
                    <a:pt x="178745" y="409680"/>
                  </a:lnTo>
                  <a:lnTo>
                    <a:pt x="205562" y="411479"/>
                  </a:lnTo>
                  <a:lnTo>
                    <a:pt x="232584" y="409680"/>
                  </a:lnTo>
                  <a:lnTo>
                    <a:pt x="284334" y="395685"/>
                  </a:lnTo>
                  <a:lnTo>
                    <a:pt x="330958" y="368812"/>
                  </a:lnTo>
                  <a:lnTo>
                    <a:pt x="368812" y="330958"/>
                  </a:lnTo>
                  <a:lnTo>
                    <a:pt x="395835" y="284282"/>
                  </a:lnTo>
                  <a:lnTo>
                    <a:pt x="409730" y="232429"/>
                  </a:lnTo>
                  <a:lnTo>
                    <a:pt x="411479" y="205562"/>
                  </a:lnTo>
                  <a:lnTo>
                    <a:pt x="409730" y="178689"/>
                  </a:lnTo>
                  <a:lnTo>
                    <a:pt x="395835" y="126839"/>
                  </a:lnTo>
                  <a:lnTo>
                    <a:pt x="368812" y="80165"/>
                  </a:lnTo>
                  <a:lnTo>
                    <a:pt x="330958" y="42306"/>
                  </a:lnTo>
                  <a:lnTo>
                    <a:pt x="284334" y="15489"/>
                  </a:lnTo>
                  <a:lnTo>
                    <a:pt x="232584" y="1743"/>
                  </a:lnTo>
                  <a:lnTo>
                    <a:pt x="205562" y="0"/>
                  </a:lnTo>
                  <a:close/>
                </a:path>
              </a:pathLst>
            </a:custGeom>
            <a:solidFill>
              <a:srgbClr val="6C27D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084" name="Google Shape;1084;p34"/>
          <p:cNvSpPr txBox="1"/>
          <p:nvPr/>
        </p:nvSpPr>
        <p:spPr>
          <a:xfrm>
            <a:off x="6365786" y="1281495"/>
            <a:ext cx="1897380" cy="231140"/>
          </a:xfrm>
          <a:prstGeom prst="rect">
            <a:avLst/>
          </a:prstGeom>
          <a:noFill/>
          <a:ln>
            <a:noFill/>
          </a:ln>
        </p:spPr>
        <p:txBody>
          <a:bodyPr anchorCtr="0" anchor="t" bIns="0" lIns="0" spcFirstLastPara="1" rIns="0" wrap="square" tIns="6350">
            <a:spAutoFit/>
          </a:bodyPr>
          <a:lstStyle/>
          <a:p>
            <a:pPr indent="0" lvl="0" marL="12700" rtl="0" algn="l">
              <a:lnSpc>
                <a:spcPct val="100000"/>
              </a:lnSpc>
              <a:spcBef>
                <a:spcPts val="0"/>
              </a:spcBef>
              <a:spcAft>
                <a:spcPts val="0"/>
              </a:spcAft>
              <a:buNone/>
            </a:pPr>
            <a:r>
              <a:rPr b="1" lang="en-US" sz="1400">
                <a:solidFill>
                  <a:srgbClr val="FFFFFF"/>
                </a:solidFill>
                <a:latin typeface="Calibri"/>
                <a:ea typeface="Calibri"/>
                <a:cs typeface="Calibri"/>
                <a:sym typeface="Calibri"/>
              </a:rPr>
              <a:t>3	</a:t>
            </a:r>
            <a:r>
              <a:rPr b="1" lang="en-US" sz="1350">
                <a:solidFill>
                  <a:srgbClr val="0C1A29"/>
                </a:solidFill>
                <a:latin typeface="Calibri"/>
                <a:ea typeface="Calibri"/>
                <a:cs typeface="Calibri"/>
                <a:sym typeface="Calibri"/>
              </a:rPr>
              <a:t>The human translator</a:t>
            </a:r>
            <a:endParaRPr sz="1350">
              <a:latin typeface="Calibri"/>
              <a:ea typeface="Calibri"/>
              <a:cs typeface="Calibri"/>
              <a:sym typeface="Calibri"/>
            </a:endParaRPr>
          </a:p>
        </p:txBody>
      </p:sp>
      <p:sp>
        <p:nvSpPr>
          <p:cNvPr id="1085" name="Google Shape;1085;p34"/>
          <p:cNvSpPr/>
          <p:nvPr/>
        </p:nvSpPr>
        <p:spPr>
          <a:xfrm>
            <a:off x="6217196" y="1737006"/>
            <a:ext cx="2378075" cy="1600835"/>
          </a:xfrm>
          <a:custGeom>
            <a:rect b="b" l="l" r="r" t="t"/>
            <a:pathLst>
              <a:path extrusionOk="0" h="1600835" w="2378075">
                <a:moveTo>
                  <a:pt x="128524" y="0"/>
                </a:moveTo>
                <a:lnTo>
                  <a:pt x="79466" y="9869"/>
                </a:lnTo>
                <a:lnTo>
                  <a:pt x="37939" y="37571"/>
                </a:lnTo>
                <a:lnTo>
                  <a:pt x="10082" y="79149"/>
                </a:lnTo>
                <a:lnTo>
                  <a:pt x="368" y="128155"/>
                </a:lnTo>
                <a:lnTo>
                  <a:pt x="0" y="1472399"/>
                </a:lnTo>
                <a:lnTo>
                  <a:pt x="1120" y="1489092"/>
                </a:lnTo>
                <a:lnTo>
                  <a:pt x="17284" y="1536471"/>
                </a:lnTo>
                <a:lnTo>
                  <a:pt x="50138" y="1573988"/>
                </a:lnTo>
                <a:lnTo>
                  <a:pt x="95045" y="1596232"/>
                </a:lnTo>
                <a:lnTo>
                  <a:pt x="128168" y="1600555"/>
                </a:lnTo>
                <a:lnTo>
                  <a:pt x="2249639" y="1600555"/>
                </a:lnTo>
                <a:lnTo>
                  <a:pt x="2265742" y="1599474"/>
                </a:lnTo>
                <a:lnTo>
                  <a:pt x="2266241" y="1599474"/>
                </a:lnTo>
                <a:lnTo>
                  <a:pt x="2313724" y="1583270"/>
                </a:lnTo>
                <a:lnTo>
                  <a:pt x="2351235" y="1550418"/>
                </a:lnTo>
                <a:lnTo>
                  <a:pt x="2373440" y="1505650"/>
                </a:lnTo>
                <a:lnTo>
                  <a:pt x="2377808" y="1472399"/>
                </a:lnTo>
                <a:lnTo>
                  <a:pt x="2377784" y="128155"/>
                </a:lnTo>
                <a:lnTo>
                  <a:pt x="2367933" y="79460"/>
                </a:lnTo>
                <a:lnTo>
                  <a:pt x="2340229" y="37930"/>
                </a:lnTo>
                <a:lnTo>
                  <a:pt x="2298647" y="10080"/>
                </a:lnTo>
                <a:lnTo>
                  <a:pt x="2249639" y="355"/>
                </a:lnTo>
                <a:lnTo>
                  <a:pt x="128524" y="0"/>
                </a:lnTo>
                <a:close/>
              </a:path>
            </a:pathLst>
          </a:custGeom>
          <a:solidFill>
            <a:srgbClr val="F0EBF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86" name="Google Shape;1086;p34"/>
          <p:cNvSpPr txBox="1"/>
          <p:nvPr/>
        </p:nvSpPr>
        <p:spPr>
          <a:xfrm>
            <a:off x="6352095" y="2051976"/>
            <a:ext cx="2058035" cy="970915"/>
          </a:xfrm>
          <a:prstGeom prst="rect">
            <a:avLst/>
          </a:prstGeom>
          <a:noFill/>
          <a:ln>
            <a:noFill/>
          </a:ln>
        </p:spPr>
        <p:txBody>
          <a:bodyPr anchorCtr="0" anchor="t" bIns="0" lIns="0" spcFirstLastPara="1" rIns="0" wrap="square" tIns="12700">
            <a:spAutoFit/>
          </a:bodyPr>
          <a:lstStyle/>
          <a:p>
            <a:pPr indent="0" lvl="0" marL="12700" marR="5080" rtl="0" algn="l">
              <a:lnSpc>
                <a:spcPct val="107800"/>
              </a:lnSpc>
              <a:spcBef>
                <a:spcPts val="0"/>
              </a:spcBef>
              <a:spcAft>
                <a:spcPts val="0"/>
              </a:spcAft>
              <a:buNone/>
            </a:pPr>
            <a:r>
              <a:rPr lang="en-US" sz="1150">
                <a:solidFill>
                  <a:srgbClr val="1E2836"/>
                </a:solidFill>
                <a:latin typeface="Calibri"/>
                <a:ea typeface="Calibri"/>
                <a:cs typeface="Calibri"/>
                <a:sym typeface="Calibri"/>
              </a:rPr>
              <a:t>"Mujhe kal Kolkata jaana hai" → "I have to go to Kolkata tomorrow". While writing "tomorrow", the translator looks back at "kal", not at the last word.</a:t>
            </a:r>
            <a:endParaRPr sz="1150">
              <a:latin typeface="Calibri"/>
              <a:ea typeface="Calibri"/>
              <a:cs typeface="Calibri"/>
              <a:sym typeface="Calibri"/>
            </a:endParaRPr>
          </a:p>
        </p:txBody>
      </p:sp>
      <p:grpSp>
        <p:nvGrpSpPr>
          <p:cNvPr id="1087" name="Google Shape;1087;p34"/>
          <p:cNvGrpSpPr/>
          <p:nvPr/>
        </p:nvGrpSpPr>
        <p:grpSpPr>
          <a:xfrm>
            <a:off x="410756" y="3611526"/>
            <a:ext cx="8321675" cy="1143940"/>
            <a:chOff x="410756" y="3611526"/>
            <a:chExt cx="8321675" cy="1143940"/>
          </a:xfrm>
        </p:grpSpPr>
        <p:sp>
          <p:nvSpPr>
            <p:cNvPr id="1088" name="Google Shape;1088;p34"/>
            <p:cNvSpPr/>
            <p:nvPr/>
          </p:nvSpPr>
          <p:spPr>
            <a:xfrm>
              <a:off x="410756" y="3611526"/>
              <a:ext cx="8321675" cy="503555"/>
            </a:xfrm>
            <a:custGeom>
              <a:rect b="b" l="l" r="r" t="t"/>
              <a:pathLst>
                <a:path extrusionOk="0" h="503554" w="8321675">
                  <a:moveTo>
                    <a:pt x="33489" y="0"/>
                  </a:moveTo>
                  <a:lnTo>
                    <a:pt x="2158" y="26276"/>
                  </a:lnTo>
                  <a:lnTo>
                    <a:pt x="0" y="470153"/>
                  </a:lnTo>
                  <a:lnTo>
                    <a:pt x="1803" y="476999"/>
                  </a:lnTo>
                  <a:lnTo>
                    <a:pt x="9004" y="489229"/>
                  </a:lnTo>
                  <a:lnTo>
                    <a:pt x="14046" y="494271"/>
                  </a:lnTo>
                  <a:lnTo>
                    <a:pt x="26288" y="501472"/>
                  </a:lnTo>
                  <a:lnTo>
                    <a:pt x="33121" y="503275"/>
                  </a:lnTo>
                  <a:lnTo>
                    <a:pt x="8288286" y="503275"/>
                  </a:lnTo>
                  <a:lnTo>
                    <a:pt x="8319604" y="476999"/>
                  </a:lnTo>
                  <a:lnTo>
                    <a:pt x="8321408" y="470153"/>
                  </a:lnTo>
                  <a:lnTo>
                    <a:pt x="8321314" y="33121"/>
                  </a:lnTo>
                  <a:lnTo>
                    <a:pt x="8295119" y="2159"/>
                  </a:lnTo>
                  <a:lnTo>
                    <a:pt x="33489" y="0"/>
                  </a:lnTo>
                  <a:close/>
                </a:path>
              </a:pathLst>
            </a:custGeom>
            <a:solidFill>
              <a:srgbClr val="F7F9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89" name="Google Shape;1089;p34"/>
            <p:cNvSpPr/>
            <p:nvPr/>
          </p:nvSpPr>
          <p:spPr>
            <a:xfrm>
              <a:off x="410756" y="3611526"/>
              <a:ext cx="8321675" cy="503555"/>
            </a:xfrm>
            <a:custGeom>
              <a:rect b="b" l="l" r="r" t="t"/>
              <a:pathLst>
                <a:path extrusionOk="0" h="503554" w="8321675">
                  <a:moveTo>
                    <a:pt x="368" y="40309"/>
                  </a:moveTo>
                  <a:lnTo>
                    <a:pt x="368" y="33121"/>
                  </a:lnTo>
                  <a:lnTo>
                    <a:pt x="2158" y="26276"/>
                  </a:lnTo>
                  <a:lnTo>
                    <a:pt x="5765" y="20154"/>
                  </a:lnTo>
                  <a:lnTo>
                    <a:pt x="9359" y="14033"/>
                  </a:lnTo>
                  <a:lnTo>
                    <a:pt x="14401" y="8991"/>
                  </a:lnTo>
                  <a:lnTo>
                    <a:pt x="20523" y="5397"/>
                  </a:lnTo>
                  <a:lnTo>
                    <a:pt x="26644" y="1790"/>
                  </a:lnTo>
                  <a:lnTo>
                    <a:pt x="33489" y="0"/>
                  </a:lnTo>
                  <a:lnTo>
                    <a:pt x="40678" y="0"/>
                  </a:lnTo>
                  <a:lnTo>
                    <a:pt x="8281085" y="355"/>
                  </a:lnTo>
                  <a:lnTo>
                    <a:pt x="8288286" y="355"/>
                  </a:lnTo>
                  <a:lnTo>
                    <a:pt x="8295119" y="2159"/>
                  </a:lnTo>
                  <a:lnTo>
                    <a:pt x="8301240" y="5753"/>
                  </a:lnTo>
                  <a:lnTo>
                    <a:pt x="8307362" y="9359"/>
                  </a:lnTo>
                  <a:lnTo>
                    <a:pt x="8312404" y="14401"/>
                  </a:lnTo>
                  <a:lnTo>
                    <a:pt x="8315998" y="20510"/>
                  </a:lnTo>
                  <a:lnTo>
                    <a:pt x="8319604" y="26631"/>
                  </a:lnTo>
                  <a:lnTo>
                    <a:pt x="8321408" y="33477"/>
                  </a:lnTo>
                  <a:lnTo>
                    <a:pt x="8321408" y="40678"/>
                  </a:lnTo>
                  <a:lnTo>
                    <a:pt x="8321408" y="462953"/>
                  </a:lnTo>
                  <a:lnTo>
                    <a:pt x="8321408" y="470153"/>
                  </a:lnTo>
                  <a:lnTo>
                    <a:pt x="8319604" y="476999"/>
                  </a:lnTo>
                  <a:lnTo>
                    <a:pt x="8315998" y="483120"/>
                  </a:lnTo>
                  <a:lnTo>
                    <a:pt x="8312404" y="489229"/>
                  </a:lnTo>
                  <a:lnTo>
                    <a:pt x="8307362" y="494271"/>
                  </a:lnTo>
                  <a:lnTo>
                    <a:pt x="8301240" y="497878"/>
                  </a:lnTo>
                  <a:lnTo>
                    <a:pt x="8295119" y="501472"/>
                  </a:lnTo>
                  <a:lnTo>
                    <a:pt x="8288286" y="503275"/>
                  </a:lnTo>
                  <a:lnTo>
                    <a:pt x="8281085" y="503275"/>
                  </a:lnTo>
                  <a:lnTo>
                    <a:pt x="40322" y="503275"/>
                  </a:lnTo>
                  <a:lnTo>
                    <a:pt x="33121" y="503275"/>
                  </a:lnTo>
                  <a:lnTo>
                    <a:pt x="26288" y="501472"/>
                  </a:lnTo>
                  <a:lnTo>
                    <a:pt x="20167" y="497878"/>
                  </a:lnTo>
                  <a:lnTo>
                    <a:pt x="14046" y="494271"/>
                  </a:lnTo>
                  <a:lnTo>
                    <a:pt x="9004" y="489229"/>
                  </a:lnTo>
                  <a:lnTo>
                    <a:pt x="5410" y="483120"/>
                  </a:lnTo>
                  <a:lnTo>
                    <a:pt x="1803" y="476999"/>
                  </a:lnTo>
                  <a:lnTo>
                    <a:pt x="0" y="470153"/>
                  </a:lnTo>
                  <a:lnTo>
                    <a:pt x="0" y="462953"/>
                  </a:lnTo>
                  <a:lnTo>
                    <a:pt x="368" y="40309"/>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90" name="Google Shape;1090;p34"/>
            <p:cNvSpPr/>
            <p:nvPr/>
          </p:nvSpPr>
          <p:spPr>
            <a:xfrm>
              <a:off x="411124" y="4224606"/>
              <a:ext cx="8321040" cy="530860"/>
            </a:xfrm>
            <a:custGeom>
              <a:rect b="b" l="l" r="r" t="t"/>
              <a:pathLst>
                <a:path extrusionOk="0" h="530860" w="8321040">
                  <a:moveTo>
                    <a:pt x="8294751" y="0"/>
                  </a:moveTo>
                  <a:lnTo>
                    <a:pt x="26276" y="0"/>
                  </a:lnTo>
                  <a:lnTo>
                    <a:pt x="20878" y="1435"/>
                  </a:lnTo>
                  <a:lnTo>
                    <a:pt x="15836" y="3949"/>
                  </a:lnTo>
                  <a:lnTo>
                    <a:pt x="11150" y="6832"/>
                  </a:lnTo>
                  <a:lnTo>
                    <a:pt x="7200" y="10794"/>
                  </a:lnTo>
                  <a:lnTo>
                    <a:pt x="4318" y="15836"/>
                  </a:lnTo>
                  <a:lnTo>
                    <a:pt x="1435" y="20510"/>
                  </a:lnTo>
                  <a:lnTo>
                    <a:pt x="0" y="25920"/>
                  </a:lnTo>
                  <a:lnTo>
                    <a:pt x="0" y="503999"/>
                  </a:lnTo>
                  <a:lnTo>
                    <a:pt x="15836" y="525957"/>
                  </a:lnTo>
                  <a:lnTo>
                    <a:pt x="20510" y="528840"/>
                  </a:lnTo>
                  <a:lnTo>
                    <a:pt x="25920" y="530275"/>
                  </a:lnTo>
                  <a:lnTo>
                    <a:pt x="8294751" y="529920"/>
                  </a:lnTo>
                  <a:lnTo>
                    <a:pt x="8300161" y="528472"/>
                  </a:lnTo>
                  <a:lnTo>
                    <a:pt x="8305190" y="525957"/>
                  </a:lnTo>
                  <a:lnTo>
                    <a:pt x="8309876" y="523074"/>
                  </a:lnTo>
                  <a:lnTo>
                    <a:pt x="8313839" y="519112"/>
                  </a:lnTo>
                  <a:lnTo>
                    <a:pt x="8316709" y="514070"/>
                  </a:lnTo>
                  <a:lnTo>
                    <a:pt x="8319592" y="509396"/>
                  </a:lnTo>
                  <a:lnTo>
                    <a:pt x="8321040" y="503999"/>
                  </a:lnTo>
                  <a:lnTo>
                    <a:pt x="8320675" y="31673"/>
                  </a:lnTo>
                  <a:lnTo>
                    <a:pt x="8320577" y="25920"/>
                  </a:lnTo>
                  <a:lnTo>
                    <a:pt x="8304834" y="4317"/>
                  </a:lnTo>
                  <a:lnTo>
                    <a:pt x="8300161" y="1435"/>
                  </a:lnTo>
                  <a:lnTo>
                    <a:pt x="8294751" y="0"/>
                  </a:lnTo>
                  <a:close/>
                </a:path>
              </a:pathLst>
            </a:custGeom>
            <a:solidFill>
              <a:srgbClr val="FFF6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91" name="Google Shape;1091;p34"/>
            <p:cNvSpPr/>
            <p:nvPr/>
          </p:nvSpPr>
          <p:spPr>
            <a:xfrm>
              <a:off x="411124" y="4224606"/>
              <a:ext cx="8321040" cy="530860"/>
            </a:xfrm>
            <a:custGeom>
              <a:rect b="b" l="l" r="r" t="t"/>
              <a:pathLst>
                <a:path extrusionOk="0" h="530860" w="8321040">
                  <a:moveTo>
                    <a:pt x="0" y="31673"/>
                  </a:moveTo>
                  <a:lnTo>
                    <a:pt x="0" y="25920"/>
                  </a:lnTo>
                  <a:lnTo>
                    <a:pt x="1435" y="20510"/>
                  </a:lnTo>
                  <a:lnTo>
                    <a:pt x="4318" y="15836"/>
                  </a:lnTo>
                  <a:lnTo>
                    <a:pt x="7200" y="10794"/>
                  </a:lnTo>
                  <a:lnTo>
                    <a:pt x="11150" y="6832"/>
                  </a:lnTo>
                  <a:lnTo>
                    <a:pt x="15836" y="3949"/>
                  </a:lnTo>
                  <a:lnTo>
                    <a:pt x="20878" y="1435"/>
                  </a:lnTo>
                  <a:lnTo>
                    <a:pt x="26276" y="0"/>
                  </a:lnTo>
                  <a:lnTo>
                    <a:pt x="31673" y="0"/>
                  </a:lnTo>
                  <a:lnTo>
                    <a:pt x="8288997" y="0"/>
                  </a:lnTo>
                  <a:lnTo>
                    <a:pt x="8294751" y="0"/>
                  </a:lnTo>
                  <a:lnTo>
                    <a:pt x="8300161" y="1435"/>
                  </a:lnTo>
                  <a:lnTo>
                    <a:pt x="8304834" y="4317"/>
                  </a:lnTo>
                  <a:lnTo>
                    <a:pt x="8309876" y="7200"/>
                  </a:lnTo>
                  <a:lnTo>
                    <a:pt x="8313839" y="11150"/>
                  </a:lnTo>
                  <a:lnTo>
                    <a:pt x="8316709" y="15836"/>
                  </a:lnTo>
                  <a:lnTo>
                    <a:pt x="8319236" y="20878"/>
                  </a:lnTo>
                  <a:lnTo>
                    <a:pt x="8320671" y="26276"/>
                  </a:lnTo>
                  <a:lnTo>
                    <a:pt x="8320671" y="31673"/>
                  </a:lnTo>
                  <a:lnTo>
                    <a:pt x="8321040" y="498233"/>
                  </a:lnTo>
                  <a:lnTo>
                    <a:pt x="8321040" y="503999"/>
                  </a:lnTo>
                  <a:lnTo>
                    <a:pt x="8319592" y="509396"/>
                  </a:lnTo>
                  <a:lnTo>
                    <a:pt x="8316709" y="514070"/>
                  </a:lnTo>
                  <a:lnTo>
                    <a:pt x="8313839" y="519112"/>
                  </a:lnTo>
                  <a:lnTo>
                    <a:pt x="8309876" y="523074"/>
                  </a:lnTo>
                  <a:lnTo>
                    <a:pt x="8305190" y="525957"/>
                  </a:lnTo>
                  <a:lnTo>
                    <a:pt x="8300161" y="528472"/>
                  </a:lnTo>
                  <a:lnTo>
                    <a:pt x="8294751" y="529920"/>
                  </a:lnTo>
                  <a:lnTo>
                    <a:pt x="8289353" y="529920"/>
                  </a:lnTo>
                  <a:lnTo>
                    <a:pt x="31673" y="530275"/>
                  </a:lnTo>
                  <a:lnTo>
                    <a:pt x="25920" y="530275"/>
                  </a:lnTo>
                  <a:lnTo>
                    <a:pt x="20510" y="528840"/>
                  </a:lnTo>
                  <a:lnTo>
                    <a:pt x="15836" y="525957"/>
                  </a:lnTo>
                  <a:lnTo>
                    <a:pt x="10795" y="523074"/>
                  </a:lnTo>
                  <a:lnTo>
                    <a:pt x="6832" y="519112"/>
                  </a:lnTo>
                  <a:lnTo>
                    <a:pt x="3949" y="514438"/>
                  </a:lnTo>
                  <a:lnTo>
                    <a:pt x="1435" y="509396"/>
                  </a:lnTo>
                  <a:lnTo>
                    <a:pt x="0" y="503999"/>
                  </a:lnTo>
                  <a:lnTo>
                    <a:pt x="0" y="498602"/>
                  </a:lnTo>
                  <a:lnTo>
                    <a:pt x="0" y="31673"/>
                  </a:lnTo>
                  <a:close/>
                </a:path>
              </a:pathLst>
            </a:custGeom>
            <a:noFill/>
            <a:ln cap="flat" cmpd="sng" w="12575">
              <a:solidFill>
                <a:srgbClr val="F2D17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092" name="Google Shape;1092;p34"/>
          <p:cNvSpPr txBox="1"/>
          <p:nvPr/>
        </p:nvSpPr>
        <p:spPr>
          <a:xfrm>
            <a:off x="517220" y="3755061"/>
            <a:ext cx="7664450" cy="922655"/>
          </a:xfrm>
          <a:prstGeom prst="rect">
            <a:avLst/>
          </a:prstGeom>
          <a:noFill/>
          <a:ln>
            <a:noFill/>
          </a:ln>
        </p:spPr>
        <p:txBody>
          <a:bodyPr anchorCtr="0" anchor="t" bIns="0" lIns="0" spcFirstLastPara="1" rIns="0" wrap="square" tIns="12700">
            <a:spAutoFit/>
          </a:bodyPr>
          <a:lstStyle/>
          <a:p>
            <a:pPr indent="0" lvl="0" marL="33020" rtl="0" algn="l">
              <a:lnSpc>
                <a:spcPct val="100000"/>
              </a:lnSpc>
              <a:spcBef>
                <a:spcPts val="0"/>
              </a:spcBef>
              <a:spcAft>
                <a:spcPts val="0"/>
              </a:spcAft>
              <a:buNone/>
            </a:pPr>
            <a:r>
              <a:rPr b="1" lang="en-US" sz="1250">
                <a:solidFill>
                  <a:srgbClr val="0E756D"/>
                </a:solidFill>
                <a:latin typeface="Calibri"/>
                <a:ea typeface="Calibri"/>
                <a:cs typeface="Calibri"/>
                <a:sym typeface="Calibri"/>
              </a:rPr>
              <a:t>The key idea: </a:t>
            </a:r>
            <a:r>
              <a:rPr lang="en-US" sz="1250">
                <a:solidFill>
                  <a:srgbClr val="1E2836"/>
                </a:solidFill>
                <a:latin typeface="Calibri"/>
                <a:ea typeface="Calibri"/>
                <a:cs typeface="Calibri"/>
                <a:sym typeface="Calibri"/>
              </a:rPr>
              <a:t>instead of one frozen summary, compute a fresh, weighted look at ALL inputs at every output step.</a:t>
            </a:r>
            <a:endParaRPr sz="1250">
              <a:latin typeface="Calibri"/>
              <a:ea typeface="Calibri"/>
              <a:cs typeface="Calibri"/>
              <a:sym typeface="Calibri"/>
            </a:endParaRPr>
          </a:p>
          <a:p>
            <a:pPr indent="0" lvl="0" marL="0" rtl="0" algn="l">
              <a:lnSpc>
                <a:spcPct val="100000"/>
              </a:lnSpc>
              <a:spcBef>
                <a:spcPts val="1275"/>
              </a:spcBef>
              <a:spcAft>
                <a:spcPts val="0"/>
              </a:spcAft>
              <a:buNone/>
            </a:pPr>
            <a:r>
              <a:t/>
            </a:r>
            <a:endParaRPr sz="1250">
              <a:latin typeface="Calibri"/>
              <a:ea typeface="Calibri"/>
              <a:cs typeface="Calibri"/>
              <a:sym typeface="Calibri"/>
            </a:endParaRPr>
          </a:p>
          <a:p>
            <a:pPr indent="0" lvl="0" marL="12700" marR="5080" rtl="0" algn="l">
              <a:lnSpc>
                <a:spcPct val="100000"/>
              </a:lnSpc>
              <a:spcBef>
                <a:spcPts val="0"/>
              </a:spcBef>
              <a:spcAft>
                <a:spcPts val="0"/>
              </a:spcAft>
              <a:buNone/>
            </a:pPr>
            <a:r>
              <a:rPr b="1" lang="en-US" sz="1150">
                <a:solidFill>
                  <a:srgbClr val="913F0D"/>
                </a:solidFill>
                <a:latin typeface="Calibri"/>
                <a:ea typeface="Calibri"/>
                <a:cs typeface="Calibri"/>
                <a:sym typeface="Calibri"/>
              </a:rPr>
              <a:t>Light moment: </a:t>
            </a:r>
            <a:r>
              <a:rPr i="1" lang="en-US" sz="1150">
                <a:solidFill>
                  <a:srgbClr val="1E2836"/>
                </a:solidFill>
                <a:latin typeface="Cambria"/>
                <a:ea typeface="Cambria"/>
                <a:cs typeface="Cambria"/>
                <a:sym typeface="Cambria"/>
              </a:rPr>
              <a:t>Attention is what every teacher wants from students in an online class. Neural networks were the first students to actually learn it.</a:t>
            </a:r>
            <a:endParaRPr sz="1150">
              <a:latin typeface="Cambria"/>
              <a:ea typeface="Cambria"/>
              <a:cs typeface="Cambria"/>
              <a:sym typeface="Cambria"/>
            </a:endParaRPr>
          </a:p>
        </p:txBody>
      </p:sp>
      <p:sp>
        <p:nvSpPr>
          <p:cNvPr id="1093" name="Google Shape;1093;p34"/>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descr="$PPTXTitle" id="1098" name="Google Shape;1098;p35"/>
          <p:cNvSpPr txBox="1"/>
          <p:nvPr>
            <p:ph type="title"/>
          </p:nvPr>
        </p:nvSpPr>
        <p:spPr>
          <a:xfrm>
            <a:off x="152184" y="63260"/>
            <a:ext cx="8839631" cy="879475"/>
          </a:xfrm>
          <a:prstGeom prst="rect">
            <a:avLst/>
          </a:prstGeom>
          <a:noFill/>
          <a:ln>
            <a:noFill/>
          </a:ln>
        </p:spPr>
        <p:txBody>
          <a:bodyPr anchorCtr="0" anchor="t" bIns="0" lIns="0" spcFirstLastPara="1" rIns="0" wrap="square" tIns="389250">
            <a:spAutoFit/>
          </a:bodyPr>
          <a:lstStyle/>
          <a:p>
            <a:pPr indent="0" lvl="0" marL="1668145" rtl="0" algn="l">
              <a:lnSpc>
                <a:spcPct val="100000"/>
              </a:lnSpc>
              <a:spcBef>
                <a:spcPts val="0"/>
              </a:spcBef>
              <a:spcAft>
                <a:spcPts val="0"/>
              </a:spcAft>
              <a:buNone/>
            </a:pPr>
            <a:r>
              <a:rPr b="0" lang="en-US" sz="2800">
                <a:solidFill>
                  <a:srgbClr val="000000"/>
                </a:solidFill>
                <a:latin typeface="Times New Roman"/>
                <a:ea typeface="Times New Roman"/>
                <a:cs typeface="Times New Roman"/>
                <a:sym typeface="Times New Roman"/>
              </a:rPr>
              <a:t>Attention Based Model: Transformer</a:t>
            </a:r>
            <a:endParaRPr sz="2800">
              <a:latin typeface="Times New Roman"/>
              <a:ea typeface="Times New Roman"/>
              <a:cs typeface="Times New Roman"/>
              <a:sym typeface="Times New Roman"/>
            </a:endParaRPr>
          </a:p>
        </p:txBody>
      </p:sp>
      <p:grpSp>
        <p:nvGrpSpPr>
          <p:cNvPr id="1099" name="Google Shape;1099;p35"/>
          <p:cNvGrpSpPr/>
          <p:nvPr/>
        </p:nvGrpSpPr>
        <p:grpSpPr>
          <a:xfrm>
            <a:off x="1513446" y="14"/>
            <a:ext cx="7630185" cy="4390911"/>
            <a:chOff x="1513446" y="14"/>
            <a:chExt cx="7630185" cy="4390911"/>
          </a:xfrm>
        </p:grpSpPr>
        <p:pic>
          <p:nvPicPr>
            <p:cNvPr id="1100" name="Google Shape;1100;p35"/>
            <p:cNvPicPr preferRelativeResize="0"/>
            <p:nvPr/>
          </p:nvPicPr>
          <p:blipFill rotWithShape="1">
            <a:blip r:embed="rId3">
              <a:alphaModFix/>
            </a:blip>
            <a:srcRect b="0" l="0" r="0" t="0"/>
            <a:stretch/>
          </p:blipFill>
          <p:spPr>
            <a:xfrm>
              <a:off x="1513446" y="1337045"/>
              <a:ext cx="5689434" cy="3053880"/>
            </a:xfrm>
            <a:prstGeom prst="rect">
              <a:avLst/>
            </a:prstGeom>
            <a:noFill/>
            <a:ln>
              <a:noFill/>
            </a:ln>
          </p:spPr>
        </p:pic>
        <p:pic>
          <p:nvPicPr>
            <p:cNvPr id="1101" name="Google Shape;1101;p35"/>
            <p:cNvPicPr preferRelativeResize="0"/>
            <p:nvPr/>
          </p:nvPicPr>
          <p:blipFill rotWithShape="1">
            <a:blip r:embed="rId4">
              <a:alphaModFix/>
            </a:blip>
            <a:srcRect b="0" l="0" r="0" t="0"/>
            <a:stretch/>
          </p:blipFill>
          <p:spPr>
            <a:xfrm>
              <a:off x="8369274" y="14"/>
              <a:ext cx="774357" cy="866508"/>
            </a:xfrm>
            <a:prstGeom prst="rect">
              <a:avLst/>
            </a:prstGeom>
            <a:noFill/>
            <a:ln>
              <a:noFill/>
            </a:ln>
          </p:spPr>
        </p:pic>
      </p:grpSp>
      <p:sp>
        <p:nvSpPr>
          <p:cNvPr id="1102" name="Google Shape;1102;p35"/>
          <p:cNvSpPr txBox="1"/>
          <p:nvPr/>
        </p:nvSpPr>
        <p:spPr>
          <a:xfrm>
            <a:off x="2647340" y="4752265"/>
            <a:ext cx="3107055"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100" u="sng">
                <a:solidFill>
                  <a:srgbClr val="0096A6"/>
                </a:solidFill>
                <a:latin typeface="Helvetica Neue"/>
                <a:ea typeface="Helvetica Neue"/>
                <a:cs typeface="Helvetica Neue"/>
                <a:sym typeface="Helvetica Neue"/>
                <a:hlinkClick r:id="rId5">
                  <a:extLst>
                    <a:ext uri="{A12FA001-AC4F-418D-AE19-62706E023703}">
                      <ahyp:hlinkClr val="tx"/>
                    </a:ext>
                  </a:extLst>
                </a:hlinkClick>
              </a:rPr>
              <a:t>https://www.youtube.com/watch?v=LWMzyfvuehA</a:t>
            </a:r>
            <a:endParaRPr sz="1100">
              <a:latin typeface="Helvetica Neue"/>
              <a:ea typeface="Helvetica Neue"/>
              <a:cs typeface="Helvetica Neue"/>
              <a:sym typeface="Helvetica Neue"/>
            </a:endParaRPr>
          </a:p>
        </p:txBody>
      </p:sp>
      <p:sp>
        <p:nvSpPr>
          <p:cNvPr id="1103" name="Google Shape;1103;p35"/>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07" name="Shape 1107"/>
        <p:cNvGrpSpPr/>
        <p:nvPr/>
      </p:nvGrpSpPr>
      <p:grpSpPr>
        <a:xfrm>
          <a:off x="0" y="0"/>
          <a:ext cx="0" cy="0"/>
          <a:chOff x="0" y="0"/>
          <a:chExt cx="0" cy="0"/>
        </a:xfrm>
      </p:grpSpPr>
      <p:sp>
        <p:nvSpPr>
          <p:cNvPr id="1108" name="Google Shape;1108;p36"/>
          <p:cNvSpPr/>
          <p:nvPr/>
        </p:nvSpPr>
        <p:spPr>
          <a:xfrm>
            <a:off x="0" y="2"/>
            <a:ext cx="9144000" cy="5144135"/>
          </a:xfrm>
          <a:custGeom>
            <a:rect b="b" l="l" r="r" t="t"/>
            <a:pathLst>
              <a:path extrusionOk="0" h="5144135" w="9144000">
                <a:moveTo>
                  <a:pt x="9144000" y="0"/>
                </a:moveTo>
                <a:lnTo>
                  <a:pt x="0" y="0"/>
                </a:lnTo>
                <a:lnTo>
                  <a:pt x="0" y="5143677"/>
                </a:lnTo>
                <a:lnTo>
                  <a:pt x="9144000" y="5143677"/>
                </a:lnTo>
                <a:lnTo>
                  <a:pt x="9144000" y="0"/>
                </a:lnTo>
                <a:close/>
              </a:path>
            </a:pathLst>
          </a:custGeom>
          <a:solidFill>
            <a:srgbClr val="F7F9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descr="$PPTXTitle" id="1109" name="Google Shape;1109;p36"/>
          <p:cNvSpPr txBox="1"/>
          <p:nvPr>
            <p:ph type="title"/>
          </p:nvPr>
        </p:nvSpPr>
        <p:spPr>
          <a:xfrm>
            <a:off x="535584" y="24854"/>
            <a:ext cx="5403215" cy="842010"/>
          </a:xfrm>
          <a:prstGeom prst="rect">
            <a:avLst/>
          </a:prstGeom>
          <a:noFill/>
          <a:ln>
            <a:noFill/>
          </a:ln>
        </p:spPr>
        <p:txBody>
          <a:bodyPr anchorCtr="0" anchor="t" bIns="0" lIns="0" spcFirstLastPara="1" rIns="0" wrap="square" tIns="149850">
            <a:spAutoFit/>
          </a:bodyPr>
          <a:lstStyle/>
          <a:p>
            <a:pPr indent="0" lvl="0" marL="12700" rtl="0" algn="l">
              <a:lnSpc>
                <a:spcPct val="100000"/>
              </a:lnSpc>
              <a:spcBef>
                <a:spcPts val="0"/>
              </a:spcBef>
              <a:spcAft>
                <a:spcPts val="0"/>
              </a:spcAft>
              <a:buNone/>
            </a:pPr>
            <a:r>
              <a:rPr lang="en-US" sz="2800">
                <a:solidFill>
                  <a:srgbClr val="19192D"/>
                </a:solidFill>
              </a:rPr>
              <a:t>Seq2Seq Model with RNN</a:t>
            </a:r>
            <a:endParaRPr sz="2800"/>
          </a:p>
          <a:p>
            <a:pPr indent="0" lvl="0" marL="12700" rtl="0" algn="l">
              <a:lnSpc>
                <a:spcPct val="100000"/>
              </a:lnSpc>
              <a:spcBef>
                <a:spcPts val="484"/>
              </a:spcBef>
              <a:spcAft>
                <a:spcPts val="0"/>
              </a:spcAft>
              <a:buNone/>
            </a:pPr>
            <a:r>
              <a:rPr b="0" i="1" lang="en-US" sz="1250">
                <a:solidFill>
                  <a:srgbClr val="536D79"/>
                </a:solidFill>
                <a:latin typeface="Cambria"/>
                <a:ea typeface="Cambria"/>
                <a:cs typeface="Cambria"/>
                <a:sym typeface="Cambria"/>
              </a:rPr>
              <a:t>Worked example: machine translation, English → French ("I love you" → "Je t'aime")</a:t>
            </a:r>
            <a:endParaRPr sz="1250">
              <a:latin typeface="Cambria"/>
              <a:ea typeface="Cambria"/>
              <a:cs typeface="Cambria"/>
              <a:sym typeface="Cambria"/>
            </a:endParaRPr>
          </a:p>
        </p:txBody>
      </p:sp>
      <p:grpSp>
        <p:nvGrpSpPr>
          <p:cNvPr id="1110" name="Google Shape;1110;p36"/>
          <p:cNvGrpSpPr/>
          <p:nvPr/>
        </p:nvGrpSpPr>
        <p:grpSpPr>
          <a:xfrm>
            <a:off x="274320" y="895682"/>
            <a:ext cx="8595004" cy="2349715"/>
            <a:chOff x="274320" y="895682"/>
            <a:chExt cx="8595004" cy="2349715"/>
          </a:xfrm>
        </p:grpSpPr>
        <p:sp>
          <p:nvSpPr>
            <p:cNvPr id="1111" name="Google Shape;1111;p36"/>
            <p:cNvSpPr/>
            <p:nvPr/>
          </p:nvSpPr>
          <p:spPr>
            <a:xfrm>
              <a:off x="456844" y="895682"/>
              <a:ext cx="8229600" cy="36830"/>
            </a:xfrm>
            <a:custGeom>
              <a:rect b="b" l="l" r="r" t="t"/>
              <a:pathLst>
                <a:path extrusionOk="0" h="36830" w="8229600">
                  <a:moveTo>
                    <a:pt x="8229231" y="0"/>
                  </a:moveTo>
                  <a:lnTo>
                    <a:pt x="0" y="0"/>
                  </a:lnTo>
                  <a:lnTo>
                    <a:pt x="0" y="36360"/>
                  </a:lnTo>
                  <a:lnTo>
                    <a:pt x="4114800" y="36360"/>
                  </a:lnTo>
                  <a:lnTo>
                    <a:pt x="8229231" y="36360"/>
                  </a:lnTo>
                  <a:lnTo>
                    <a:pt x="8229231" y="0"/>
                  </a:lnTo>
                  <a:close/>
                </a:path>
              </a:pathLst>
            </a:custGeom>
            <a:solidFill>
              <a:srgbClr val="1464B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12" name="Google Shape;1112;p36"/>
            <p:cNvSpPr/>
            <p:nvPr/>
          </p:nvSpPr>
          <p:spPr>
            <a:xfrm>
              <a:off x="456844" y="895682"/>
              <a:ext cx="8229600" cy="36830"/>
            </a:xfrm>
            <a:custGeom>
              <a:rect b="b" l="l" r="r" t="t"/>
              <a:pathLst>
                <a:path extrusionOk="0" h="36830" w="8229600">
                  <a:moveTo>
                    <a:pt x="4114800" y="36360"/>
                  </a:moveTo>
                  <a:lnTo>
                    <a:pt x="0" y="36360"/>
                  </a:lnTo>
                  <a:lnTo>
                    <a:pt x="0" y="0"/>
                  </a:lnTo>
                  <a:lnTo>
                    <a:pt x="8229231" y="0"/>
                  </a:lnTo>
                  <a:lnTo>
                    <a:pt x="8229231" y="36360"/>
                  </a:lnTo>
                  <a:lnTo>
                    <a:pt x="4114800" y="36360"/>
                  </a:lnTo>
                  <a:close/>
                </a:path>
              </a:pathLst>
            </a:custGeom>
            <a:noFill/>
            <a:ln cap="flat" cmpd="sng" w="12575">
              <a:solidFill>
                <a:srgbClr val="1464B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descr="preencoded.png" id="1113" name="Google Shape;1113;p36"/>
            <p:cNvPicPr preferRelativeResize="0"/>
            <p:nvPr/>
          </p:nvPicPr>
          <p:blipFill rotWithShape="1">
            <a:blip r:embed="rId3">
              <a:alphaModFix/>
            </a:blip>
            <a:srcRect b="0" l="0" r="0" t="0"/>
            <a:stretch/>
          </p:blipFill>
          <p:spPr>
            <a:xfrm>
              <a:off x="274320" y="959753"/>
              <a:ext cx="8595004" cy="2285644"/>
            </a:xfrm>
            <a:prstGeom prst="rect">
              <a:avLst/>
            </a:prstGeom>
            <a:noFill/>
            <a:ln>
              <a:noFill/>
            </a:ln>
          </p:spPr>
        </p:pic>
      </p:grpSp>
      <p:sp>
        <p:nvSpPr>
          <p:cNvPr id="1114" name="Google Shape;1114;p36"/>
          <p:cNvSpPr/>
          <p:nvPr/>
        </p:nvSpPr>
        <p:spPr>
          <a:xfrm>
            <a:off x="365759" y="3337206"/>
            <a:ext cx="1965960" cy="822960"/>
          </a:xfrm>
          <a:custGeom>
            <a:rect b="b" l="l" r="r" t="t"/>
            <a:pathLst>
              <a:path extrusionOk="0" h="822960" w="1965960">
                <a:moveTo>
                  <a:pt x="1965604" y="0"/>
                </a:moveTo>
                <a:lnTo>
                  <a:pt x="0" y="0"/>
                </a:lnTo>
                <a:lnTo>
                  <a:pt x="0" y="822591"/>
                </a:lnTo>
                <a:lnTo>
                  <a:pt x="982802" y="822591"/>
                </a:lnTo>
                <a:lnTo>
                  <a:pt x="1965604" y="822591"/>
                </a:lnTo>
                <a:lnTo>
                  <a:pt x="1965604" y="0"/>
                </a:lnTo>
                <a:close/>
              </a:path>
            </a:pathLst>
          </a:custGeom>
          <a:solidFill>
            <a:srgbClr val="EEF5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15" name="Google Shape;1115;p36"/>
          <p:cNvSpPr txBox="1"/>
          <p:nvPr/>
        </p:nvSpPr>
        <p:spPr>
          <a:xfrm>
            <a:off x="365759" y="3337206"/>
            <a:ext cx="1965960" cy="822960"/>
          </a:xfrm>
          <a:prstGeom prst="rect">
            <a:avLst/>
          </a:prstGeom>
          <a:noFill/>
          <a:ln cap="flat" cmpd="sng" w="12575">
            <a:solidFill>
              <a:srgbClr val="BEDAFD"/>
            </a:solidFill>
            <a:prstDash val="solid"/>
            <a:round/>
            <a:headEnd len="sm" w="sm" type="none"/>
            <a:tailEnd len="sm" w="sm" type="none"/>
          </a:ln>
        </p:spPr>
        <p:txBody>
          <a:bodyPr anchorCtr="0" anchor="t" bIns="0" lIns="0" spcFirstLastPara="1" rIns="0" wrap="square" tIns="118725">
            <a:spAutoFit/>
          </a:bodyPr>
          <a:lstStyle/>
          <a:p>
            <a:pPr indent="0" lvl="0" marL="200660" marR="205104" rtl="0" algn="l">
              <a:lnSpc>
                <a:spcPct val="100000"/>
              </a:lnSpc>
              <a:spcBef>
                <a:spcPts val="0"/>
              </a:spcBef>
              <a:spcAft>
                <a:spcPts val="0"/>
              </a:spcAft>
              <a:buNone/>
            </a:pPr>
            <a:r>
              <a:rPr b="1" lang="en-US" sz="1200">
                <a:solidFill>
                  <a:srgbClr val="1464BF"/>
                </a:solidFill>
                <a:latin typeface="Calibri"/>
                <a:ea typeface="Calibri"/>
                <a:cs typeface="Calibri"/>
                <a:sym typeface="Calibri"/>
              </a:rPr>
              <a:t>① </a:t>
            </a:r>
            <a:r>
              <a:rPr lang="en-US" sz="950">
                <a:solidFill>
                  <a:srgbClr val="536D79"/>
                </a:solidFill>
                <a:latin typeface="Calibri"/>
                <a:ea typeface="Calibri"/>
                <a:cs typeface="Calibri"/>
                <a:sym typeface="Calibri"/>
              </a:rPr>
              <a:t>Encoder reads "I" → "love" → "you", one word at a time, updating its memory after each word.</a:t>
            </a:r>
            <a:endParaRPr sz="950">
              <a:latin typeface="Calibri"/>
              <a:ea typeface="Calibri"/>
              <a:cs typeface="Calibri"/>
              <a:sym typeface="Calibri"/>
            </a:endParaRPr>
          </a:p>
        </p:txBody>
      </p:sp>
      <p:sp>
        <p:nvSpPr>
          <p:cNvPr id="1116" name="Google Shape;1116;p36"/>
          <p:cNvSpPr/>
          <p:nvPr/>
        </p:nvSpPr>
        <p:spPr>
          <a:xfrm>
            <a:off x="2395804" y="3337206"/>
            <a:ext cx="1965960" cy="822960"/>
          </a:xfrm>
          <a:custGeom>
            <a:rect b="b" l="l" r="r" t="t"/>
            <a:pathLst>
              <a:path extrusionOk="0" h="822960" w="1965960">
                <a:moveTo>
                  <a:pt x="1965591" y="0"/>
                </a:moveTo>
                <a:lnTo>
                  <a:pt x="0" y="0"/>
                </a:lnTo>
                <a:lnTo>
                  <a:pt x="0" y="822591"/>
                </a:lnTo>
                <a:lnTo>
                  <a:pt x="982789" y="822591"/>
                </a:lnTo>
                <a:lnTo>
                  <a:pt x="1965591" y="822591"/>
                </a:lnTo>
                <a:lnTo>
                  <a:pt x="1965591" y="0"/>
                </a:lnTo>
                <a:close/>
              </a:path>
            </a:pathLst>
          </a:custGeom>
          <a:solidFill>
            <a:srgbClr val="EEF5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17" name="Google Shape;1117;p36"/>
          <p:cNvSpPr txBox="1"/>
          <p:nvPr/>
        </p:nvSpPr>
        <p:spPr>
          <a:xfrm>
            <a:off x="2395804" y="3337206"/>
            <a:ext cx="1965960" cy="822960"/>
          </a:xfrm>
          <a:prstGeom prst="rect">
            <a:avLst/>
          </a:prstGeom>
          <a:noFill/>
          <a:ln cap="flat" cmpd="sng" w="12575">
            <a:solidFill>
              <a:srgbClr val="BEDAFD"/>
            </a:solidFill>
            <a:prstDash val="solid"/>
            <a:round/>
            <a:headEnd len="sm" w="sm" type="none"/>
            <a:tailEnd len="sm" w="sm" type="none"/>
          </a:ln>
        </p:spPr>
        <p:txBody>
          <a:bodyPr anchorCtr="0" anchor="t" bIns="0" lIns="0" spcFirstLastPara="1" rIns="0" wrap="square" tIns="118725">
            <a:spAutoFit/>
          </a:bodyPr>
          <a:lstStyle/>
          <a:p>
            <a:pPr indent="0" lvl="0" marL="200660" marR="451484" rtl="0" algn="l">
              <a:lnSpc>
                <a:spcPct val="100000"/>
              </a:lnSpc>
              <a:spcBef>
                <a:spcPts val="0"/>
              </a:spcBef>
              <a:spcAft>
                <a:spcPts val="0"/>
              </a:spcAft>
              <a:buNone/>
            </a:pPr>
            <a:r>
              <a:rPr b="1" lang="en-US" sz="1200">
                <a:solidFill>
                  <a:srgbClr val="1464BF"/>
                </a:solidFill>
                <a:latin typeface="Calibri"/>
                <a:ea typeface="Calibri"/>
                <a:cs typeface="Calibri"/>
                <a:sym typeface="Calibri"/>
              </a:rPr>
              <a:t>② </a:t>
            </a:r>
            <a:r>
              <a:rPr lang="en-US" sz="950">
                <a:solidFill>
                  <a:srgbClr val="536D79"/>
                </a:solidFill>
                <a:latin typeface="Calibri"/>
                <a:ea typeface="Calibri"/>
                <a:cs typeface="Calibri"/>
                <a:sym typeface="Calibri"/>
              </a:rPr>
              <a:t>After "you", the final hidden state is the Context Vector: the whole English sentence in one vector.</a:t>
            </a:r>
            <a:endParaRPr sz="950">
              <a:latin typeface="Calibri"/>
              <a:ea typeface="Calibri"/>
              <a:cs typeface="Calibri"/>
              <a:sym typeface="Calibri"/>
            </a:endParaRPr>
          </a:p>
        </p:txBody>
      </p:sp>
      <p:sp>
        <p:nvSpPr>
          <p:cNvPr id="1118" name="Google Shape;1118;p36"/>
          <p:cNvSpPr/>
          <p:nvPr/>
        </p:nvSpPr>
        <p:spPr>
          <a:xfrm>
            <a:off x="4425835" y="3337206"/>
            <a:ext cx="1965960" cy="822960"/>
          </a:xfrm>
          <a:custGeom>
            <a:rect b="b" l="l" r="r" t="t"/>
            <a:pathLst>
              <a:path extrusionOk="0" h="822960" w="1965960">
                <a:moveTo>
                  <a:pt x="1965604" y="0"/>
                </a:moveTo>
                <a:lnTo>
                  <a:pt x="0" y="0"/>
                </a:lnTo>
                <a:lnTo>
                  <a:pt x="0" y="822591"/>
                </a:lnTo>
                <a:lnTo>
                  <a:pt x="982802" y="822591"/>
                </a:lnTo>
                <a:lnTo>
                  <a:pt x="1965604" y="822591"/>
                </a:lnTo>
                <a:lnTo>
                  <a:pt x="1965604" y="0"/>
                </a:lnTo>
                <a:close/>
              </a:path>
            </a:pathLst>
          </a:custGeom>
          <a:solidFill>
            <a:srgbClr val="EEF5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19" name="Google Shape;1119;p36"/>
          <p:cNvSpPr txBox="1"/>
          <p:nvPr/>
        </p:nvSpPr>
        <p:spPr>
          <a:xfrm>
            <a:off x="4425835" y="3337206"/>
            <a:ext cx="1965960" cy="822960"/>
          </a:xfrm>
          <a:prstGeom prst="rect">
            <a:avLst/>
          </a:prstGeom>
          <a:noFill/>
          <a:ln cap="flat" cmpd="sng" w="12575">
            <a:solidFill>
              <a:srgbClr val="BEDAFD"/>
            </a:solidFill>
            <a:prstDash val="solid"/>
            <a:round/>
            <a:headEnd len="sm" w="sm" type="none"/>
            <a:tailEnd len="sm" w="sm" type="none"/>
          </a:ln>
        </p:spPr>
        <p:txBody>
          <a:bodyPr anchorCtr="0" anchor="t" bIns="0" lIns="0" spcFirstLastPara="1" rIns="0" wrap="square" tIns="118725">
            <a:spAutoFit/>
          </a:bodyPr>
          <a:lstStyle/>
          <a:p>
            <a:pPr indent="0" lvl="0" marL="200025" marR="203200" rtl="0" algn="l">
              <a:lnSpc>
                <a:spcPct val="100000"/>
              </a:lnSpc>
              <a:spcBef>
                <a:spcPts val="0"/>
              </a:spcBef>
              <a:spcAft>
                <a:spcPts val="0"/>
              </a:spcAft>
              <a:buNone/>
            </a:pPr>
            <a:r>
              <a:rPr b="1" lang="en-US" sz="1200">
                <a:solidFill>
                  <a:srgbClr val="1464BF"/>
                </a:solidFill>
                <a:latin typeface="Calibri"/>
                <a:ea typeface="Calibri"/>
                <a:cs typeface="Calibri"/>
                <a:sym typeface="Calibri"/>
              </a:rPr>
              <a:t>③ </a:t>
            </a:r>
            <a:r>
              <a:rPr lang="en-US" sz="950">
                <a:solidFill>
                  <a:srgbClr val="536D79"/>
                </a:solidFill>
                <a:latin typeface="Calibri"/>
                <a:ea typeface="Calibri"/>
                <a:cs typeface="Calibri"/>
                <a:sym typeface="Calibri"/>
              </a:rPr>
              <a:t>Decoder writes "Je", feeds it back in, writes "t'aime", then</a:t>
            </a:r>
            <a:endParaRPr sz="950">
              <a:latin typeface="Calibri"/>
              <a:ea typeface="Calibri"/>
              <a:cs typeface="Calibri"/>
              <a:sym typeface="Calibri"/>
            </a:endParaRPr>
          </a:p>
          <a:p>
            <a:pPr indent="0" lvl="0" marL="200025" marR="398145" rtl="0" algn="l">
              <a:lnSpc>
                <a:spcPct val="100000"/>
              </a:lnSpc>
              <a:spcBef>
                <a:spcPts val="0"/>
              </a:spcBef>
              <a:spcAft>
                <a:spcPts val="0"/>
              </a:spcAft>
              <a:buNone/>
            </a:pPr>
            <a:r>
              <a:rPr lang="en-US" sz="950">
                <a:solidFill>
                  <a:srgbClr val="536D79"/>
                </a:solidFill>
                <a:latin typeface="Calibri"/>
                <a:ea typeface="Calibri"/>
                <a:cs typeface="Calibri"/>
                <a:sym typeface="Calibri"/>
              </a:rPr>
              <a:t>&lt;EOS&gt; to stop. 3 words in, 2 words out.</a:t>
            </a:r>
            <a:endParaRPr sz="950">
              <a:latin typeface="Calibri"/>
              <a:ea typeface="Calibri"/>
              <a:cs typeface="Calibri"/>
              <a:sym typeface="Calibri"/>
            </a:endParaRPr>
          </a:p>
        </p:txBody>
      </p:sp>
      <p:sp>
        <p:nvSpPr>
          <p:cNvPr id="1120" name="Google Shape;1120;p36"/>
          <p:cNvSpPr/>
          <p:nvPr/>
        </p:nvSpPr>
        <p:spPr>
          <a:xfrm>
            <a:off x="6455524" y="3337206"/>
            <a:ext cx="1965960" cy="822960"/>
          </a:xfrm>
          <a:custGeom>
            <a:rect b="b" l="l" r="r" t="t"/>
            <a:pathLst>
              <a:path extrusionOk="0" h="822960" w="1965959">
                <a:moveTo>
                  <a:pt x="1965591" y="0"/>
                </a:moveTo>
                <a:lnTo>
                  <a:pt x="0" y="0"/>
                </a:lnTo>
                <a:lnTo>
                  <a:pt x="0" y="822591"/>
                </a:lnTo>
                <a:lnTo>
                  <a:pt x="982789" y="822591"/>
                </a:lnTo>
                <a:lnTo>
                  <a:pt x="1965591" y="822591"/>
                </a:lnTo>
                <a:lnTo>
                  <a:pt x="1965591" y="0"/>
                </a:lnTo>
                <a:close/>
              </a:path>
            </a:pathLst>
          </a:custGeom>
          <a:solidFill>
            <a:srgbClr val="FFF6E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21" name="Google Shape;1121;p36"/>
          <p:cNvSpPr txBox="1"/>
          <p:nvPr/>
        </p:nvSpPr>
        <p:spPr>
          <a:xfrm>
            <a:off x="6455524" y="3337206"/>
            <a:ext cx="1965960" cy="822960"/>
          </a:xfrm>
          <a:prstGeom prst="rect">
            <a:avLst/>
          </a:prstGeom>
          <a:noFill/>
          <a:ln cap="flat" cmpd="sng" w="25550">
            <a:solidFill>
              <a:srgbClr val="E9570B"/>
            </a:solidFill>
            <a:prstDash val="solid"/>
            <a:round/>
            <a:headEnd len="sm" w="sm" type="none"/>
            <a:tailEnd len="sm" w="sm" type="none"/>
          </a:ln>
        </p:spPr>
        <p:txBody>
          <a:bodyPr anchorCtr="0" anchor="t" bIns="0" lIns="0" spcFirstLastPara="1" rIns="0" wrap="square" tIns="95875">
            <a:spAutoFit/>
          </a:bodyPr>
          <a:lstStyle/>
          <a:p>
            <a:pPr indent="0" lvl="0" marL="200660" marR="283210" rtl="0" algn="l">
              <a:lnSpc>
                <a:spcPct val="98800"/>
              </a:lnSpc>
              <a:spcBef>
                <a:spcPts val="0"/>
              </a:spcBef>
              <a:spcAft>
                <a:spcPts val="0"/>
              </a:spcAft>
              <a:buNone/>
            </a:pPr>
            <a:r>
              <a:rPr lang="en-US" sz="1400">
                <a:solidFill>
                  <a:srgbClr val="E9570B"/>
                </a:solidFill>
                <a:latin typeface="Arial"/>
                <a:ea typeface="Arial"/>
                <a:cs typeface="Arial"/>
                <a:sym typeface="Arial"/>
              </a:rPr>
              <a:t>⚠ </a:t>
            </a:r>
            <a:r>
              <a:rPr lang="en-US" sz="950">
                <a:solidFill>
                  <a:srgbClr val="536D79"/>
                </a:solidFill>
                <a:latin typeface="Calibri"/>
                <a:ea typeface="Calibri"/>
                <a:cs typeface="Calibri"/>
                <a:sym typeface="Calibri"/>
              </a:rPr>
              <a:t>Key flaw: a 50-word legal paragraph must squeeze into the same single vector as "I love you".</a:t>
            </a:r>
            <a:endParaRPr sz="950">
              <a:latin typeface="Calibri"/>
              <a:ea typeface="Calibri"/>
              <a:cs typeface="Calibri"/>
              <a:sym typeface="Calibri"/>
            </a:endParaRPr>
          </a:p>
        </p:txBody>
      </p:sp>
      <p:sp>
        <p:nvSpPr>
          <p:cNvPr id="1122" name="Google Shape;1122;p36"/>
          <p:cNvSpPr/>
          <p:nvPr/>
        </p:nvSpPr>
        <p:spPr>
          <a:xfrm>
            <a:off x="475195" y="4224237"/>
            <a:ext cx="7836534" cy="421005"/>
          </a:xfrm>
          <a:custGeom>
            <a:rect b="b" l="l" r="r" t="t"/>
            <a:pathLst>
              <a:path extrusionOk="0" h="421004" w="7836534">
                <a:moveTo>
                  <a:pt x="7808404" y="0"/>
                </a:moveTo>
                <a:lnTo>
                  <a:pt x="27724" y="0"/>
                </a:lnTo>
                <a:lnTo>
                  <a:pt x="21958" y="1447"/>
                </a:lnTo>
                <a:lnTo>
                  <a:pt x="11887" y="7200"/>
                </a:lnTo>
                <a:lnTo>
                  <a:pt x="7569" y="11518"/>
                </a:lnTo>
                <a:lnTo>
                  <a:pt x="4686" y="16560"/>
                </a:lnTo>
                <a:lnTo>
                  <a:pt x="1447" y="21602"/>
                </a:lnTo>
                <a:lnTo>
                  <a:pt x="0" y="27724"/>
                </a:lnTo>
                <a:lnTo>
                  <a:pt x="0" y="392760"/>
                </a:lnTo>
                <a:lnTo>
                  <a:pt x="1447" y="398525"/>
                </a:lnTo>
                <a:lnTo>
                  <a:pt x="7200" y="408609"/>
                </a:lnTo>
                <a:lnTo>
                  <a:pt x="11518" y="412927"/>
                </a:lnTo>
                <a:lnTo>
                  <a:pt x="16560" y="415797"/>
                </a:lnTo>
                <a:lnTo>
                  <a:pt x="21602" y="419049"/>
                </a:lnTo>
                <a:lnTo>
                  <a:pt x="27724" y="420484"/>
                </a:lnTo>
                <a:lnTo>
                  <a:pt x="7808760" y="420128"/>
                </a:lnTo>
                <a:lnTo>
                  <a:pt x="7814525" y="418680"/>
                </a:lnTo>
                <a:lnTo>
                  <a:pt x="7824609" y="412927"/>
                </a:lnTo>
                <a:lnTo>
                  <a:pt x="7828927" y="408609"/>
                </a:lnTo>
                <a:lnTo>
                  <a:pt x="7831797" y="403567"/>
                </a:lnTo>
                <a:lnTo>
                  <a:pt x="7835049" y="398525"/>
                </a:lnTo>
                <a:lnTo>
                  <a:pt x="7836400" y="392760"/>
                </a:lnTo>
                <a:lnTo>
                  <a:pt x="7836484" y="386638"/>
                </a:lnTo>
                <a:lnTo>
                  <a:pt x="7836134" y="33489"/>
                </a:lnTo>
                <a:lnTo>
                  <a:pt x="7836128" y="27724"/>
                </a:lnTo>
                <a:lnTo>
                  <a:pt x="7834680" y="21958"/>
                </a:lnTo>
                <a:lnTo>
                  <a:pt x="7828927" y="11887"/>
                </a:lnTo>
                <a:lnTo>
                  <a:pt x="7824609" y="7569"/>
                </a:lnTo>
                <a:lnTo>
                  <a:pt x="7819567" y="4686"/>
                </a:lnTo>
                <a:lnTo>
                  <a:pt x="7814525" y="1447"/>
                </a:lnTo>
                <a:lnTo>
                  <a:pt x="7808404" y="0"/>
                </a:lnTo>
                <a:close/>
              </a:path>
            </a:pathLst>
          </a:custGeom>
          <a:solidFill>
            <a:srgbClr val="E5F3F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23" name="Google Shape;1123;p36"/>
          <p:cNvSpPr txBox="1"/>
          <p:nvPr/>
        </p:nvSpPr>
        <p:spPr>
          <a:xfrm>
            <a:off x="582015" y="4275621"/>
            <a:ext cx="7174865" cy="33083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1000">
                <a:solidFill>
                  <a:srgbClr val="0E756D"/>
                </a:solidFill>
                <a:latin typeface="Calibri"/>
                <a:ea typeface="Calibri"/>
                <a:cs typeface="Calibri"/>
                <a:sym typeface="Calibri"/>
              </a:rPr>
              <a:t>Indian example: </a:t>
            </a:r>
            <a:r>
              <a:rPr lang="en-US" sz="1000">
                <a:solidFill>
                  <a:srgbClr val="1E2836"/>
                </a:solidFill>
                <a:latin typeface="Calibri"/>
                <a:ea typeface="Calibri"/>
                <a:cs typeface="Calibri"/>
                <a:sym typeface="Calibri"/>
              </a:rPr>
              <a:t>"I am going to Kolkata tomorrow" → "Main kal Kolkata ja raha hoon". The verb jumps to the end, so the decoder needs the meaning of the whole sentence before writing a single word.</a:t>
            </a:r>
            <a:endParaRPr sz="1000">
              <a:latin typeface="Calibri"/>
              <a:ea typeface="Calibri"/>
              <a:cs typeface="Calibri"/>
              <a:sym typeface="Calibri"/>
            </a:endParaRPr>
          </a:p>
        </p:txBody>
      </p:sp>
      <p:sp>
        <p:nvSpPr>
          <p:cNvPr id="1124" name="Google Shape;1124;p36"/>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28" name="Shape 1128"/>
        <p:cNvGrpSpPr/>
        <p:nvPr/>
      </p:nvGrpSpPr>
      <p:grpSpPr>
        <a:xfrm>
          <a:off x="0" y="0"/>
          <a:ext cx="0" cy="0"/>
          <a:chOff x="0" y="0"/>
          <a:chExt cx="0" cy="0"/>
        </a:xfrm>
      </p:grpSpPr>
      <p:sp>
        <p:nvSpPr>
          <p:cNvPr id="1129" name="Google Shape;1129;p37"/>
          <p:cNvSpPr/>
          <p:nvPr/>
        </p:nvSpPr>
        <p:spPr>
          <a:xfrm>
            <a:off x="0" y="2"/>
            <a:ext cx="9144000" cy="5144135"/>
          </a:xfrm>
          <a:custGeom>
            <a:rect b="b" l="l" r="r" t="t"/>
            <a:pathLst>
              <a:path extrusionOk="0" h="5144135" w="9144000">
                <a:moveTo>
                  <a:pt x="9144000" y="0"/>
                </a:moveTo>
                <a:lnTo>
                  <a:pt x="0" y="0"/>
                </a:lnTo>
                <a:lnTo>
                  <a:pt x="0" y="5143677"/>
                </a:lnTo>
                <a:lnTo>
                  <a:pt x="9144000" y="5143677"/>
                </a:lnTo>
                <a:lnTo>
                  <a:pt x="9144000" y="0"/>
                </a:lnTo>
                <a:close/>
              </a:path>
            </a:pathLst>
          </a:custGeom>
          <a:solidFill>
            <a:srgbClr val="F7F9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descr="$PPTXTitle" id="1130" name="Google Shape;1130;p37"/>
          <p:cNvSpPr txBox="1"/>
          <p:nvPr>
            <p:ph type="title"/>
          </p:nvPr>
        </p:nvSpPr>
        <p:spPr>
          <a:xfrm>
            <a:off x="535584" y="24854"/>
            <a:ext cx="4916170" cy="842010"/>
          </a:xfrm>
          <a:prstGeom prst="rect">
            <a:avLst/>
          </a:prstGeom>
          <a:noFill/>
          <a:ln>
            <a:noFill/>
          </a:ln>
        </p:spPr>
        <p:txBody>
          <a:bodyPr anchorCtr="0" anchor="t" bIns="0" lIns="0" spcFirstLastPara="1" rIns="0" wrap="square" tIns="149850">
            <a:spAutoFit/>
          </a:bodyPr>
          <a:lstStyle/>
          <a:p>
            <a:pPr indent="0" lvl="0" marL="12700" rtl="0" algn="l">
              <a:lnSpc>
                <a:spcPct val="100000"/>
              </a:lnSpc>
              <a:spcBef>
                <a:spcPts val="0"/>
              </a:spcBef>
              <a:spcAft>
                <a:spcPts val="0"/>
              </a:spcAft>
              <a:buNone/>
            </a:pPr>
            <a:r>
              <a:rPr lang="en-US" sz="2800">
                <a:solidFill>
                  <a:srgbClr val="19192D"/>
                </a:solidFill>
              </a:rPr>
              <a:t>Seq2Seq with Attention Layer</a:t>
            </a:r>
            <a:endParaRPr sz="2800"/>
          </a:p>
          <a:p>
            <a:pPr indent="0" lvl="0" marL="12700" rtl="0" algn="l">
              <a:lnSpc>
                <a:spcPct val="100000"/>
              </a:lnSpc>
              <a:spcBef>
                <a:spcPts val="484"/>
              </a:spcBef>
              <a:spcAft>
                <a:spcPts val="0"/>
              </a:spcAft>
              <a:buNone/>
            </a:pPr>
            <a:r>
              <a:rPr b="0" i="1" lang="en-US" sz="1250">
                <a:solidFill>
                  <a:srgbClr val="536D79"/>
                </a:solidFill>
                <a:latin typeface="Cambria"/>
                <a:ea typeface="Cambria"/>
                <a:cs typeface="Cambria"/>
                <a:sym typeface="Cambria"/>
              </a:rPr>
              <a:t>How the Attention mechanism transforms the Encoder–Decoder architecture</a:t>
            </a:r>
            <a:endParaRPr sz="1250">
              <a:latin typeface="Cambria"/>
              <a:ea typeface="Cambria"/>
              <a:cs typeface="Cambria"/>
              <a:sym typeface="Cambria"/>
            </a:endParaRPr>
          </a:p>
        </p:txBody>
      </p:sp>
      <p:grpSp>
        <p:nvGrpSpPr>
          <p:cNvPr id="1131" name="Google Shape;1131;p37"/>
          <p:cNvGrpSpPr/>
          <p:nvPr/>
        </p:nvGrpSpPr>
        <p:grpSpPr>
          <a:xfrm>
            <a:off x="274320" y="895682"/>
            <a:ext cx="8595004" cy="2349715"/>
            <a:chOff x="274320" y="895682"/>
            <a:chExt cx="8595004" cy="2349715"/>
          </a:xfrm>
        </p:grpSpPr>
        <p:sp>
          <p:nvSpPr>
            <p:cNvPr id="1132" name="Google Shape;1132;p37"/>
            <p:cNvSpPr/>
            <p:nvPr/>
          </p:nvSpPr>
          <p:spPr>
            <a:xfrm>
              <a:off x="456844" y="895682"/>
              <a:ext cx="8229600" cy="36830"/>
            </a:xfrm>
            <a:custGeom>
              <a:rect b="b" l="l" r="r" t="t"/>
              <a:pathLst>
                <a:path extrusionOk="0" h="36830" w="8229600">
                  <a:moveTo>
                    <a:pt x="8229231" y="0"/>
                  </a:moveTo>
                  <a:lnTo>
                    <a:pt x="0" y="0"/>
                  </a:lnTo>
                  <a:lnTo>
                    <a:pt x="0" y="36360"/>
                  </a:lnTo>
                  <a:lnTo>
                    <a:pt x="4114800" y="36360"/>
                  </a:lnTo>
                  <a:lnTo>
                    <a:pt x="8229231" y="36360"/>
                  </a:lnTo>
                  <a:lnTo>
                    <a:pt x="8229231" y="0"/>
                  </a:lnTo>
                  <a:close/>
                </a:path>
              </a:pathLst>
            </a:custGeom>
            <a:solidFill>
              <a:srgbClr val="7A1EA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33" name="Google Shape;1133;p37"/>
            <p:cNvSpPr/>
            <p:nvPr/>
          </p:nvSpPr>
          <p:spPr>
            <a:xfrm>
              <a:off x="456844" y="895682"/>
              <a:ext cx="8229600" cy="36830"/>
            </a:xfrm>
            <a:custGeom>
              <a:rect b="b" l="l" r="r" t="t"/>
              <a:pathLst>
                <a:path extrusionOk="0" h="36830" w="8229600">
                  <a:moveTo>
                    <a:pt x="4114800" y="36360"/>
                  </a:moveTo>
                  <a:lnTo>
                    <a:pt x="0" y="36360"/>
                  </a:lnTo>
                  <a:lnTo>
                    <a:pt x="0" y="0"/>
                  </a:lnTo>
                  <a:lnTo>
                    <a:pt x="8229231" y="0"/>
                  </a:lnTo>
                  <a:lnTo>
                    <a:pt x="8229231" y="36360"/>
                  </a:lnTo>
                  <a:lnTo>
                    <a:pt x="4114800" y="36360"/>
                  </a:lnTo>
                  <a:close/>
                </a:path>
              </a:pathLst>
            </a:custGeom>
            <a:noFill/>
            <a:ln cap="flat" cmpd="sng" w="12575">
              <a:solidFill>
                <a:srgbClr val="7A1EA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descr="preencoded.png" id="1134" name="Google Shape;1134;p37"/>
            <p:cNvPicPr preferRelativeResize="0"/>
            <p:nvPr/>
          </p:nvPicPr>
          <p:blipFill rotWithShape="1">
            <a:blip r:embed="rId3">
              <a:alphaModFix/>
            </a:blip>
            <a:srcRect b="0" l="0" r="0" t="0"/>
            <a:stretch/>
          </p:blipFill>
          <p:spPr>
            <a:xfrm>
              <a:off x="274320" y="959753"/>
              <a:ext cx="8595004" cy="2285644"/>
            </a:xfrm>
            <a:prstGeom prst="rect">
              <a:avLst/>
            </a:prstGeom>
            <a:noFill/>
            <a:ln>
              <a:noFill/>
            </a:ln>
          </p:spPr>
        </p:pic>
      </p:grpSp>
      <p:sp>
        <p:nvSpPr>
          <p:cNvPr id="1135" name="Google Shape;1135;p37"/>
          <p:cNvSpPr/>
          <p:nvPr/>
        </p:nvSpPr>
        <p:spPr>
          <a:xfrm>
            <a:off x="365759" y="3337206"/>
            <a:ext cx="1965960" cy="822960"/>
          </a:xfrm>
          <a:custGeom>
            <a:rect b="b" l="l" r="r" t="t"/>
            <a:pathLst>
              <a:path extrusionOk="0" h="822960" w="1965960">
                <a:moveTo>
                  <a:pt x="1965604" y="0"/>
                </a:moveTo>
                <a:lnTo>
                  <a:pt x="0" y="0"/>
                </a:lnTo>
                <a:lnTo>
                  <a:pt x="0" y="822591"/>
                </a:lnTo>
                <a:lnTo>
                  <a:pt x="982802" y="822591"/>
                </a:lnTo>
                <a:lnTo>
                  <a:pt x="1965604" y="822591"/>
                </a:lnTo>
                <a:lnTo>
                  <a:pt x="1965604" y="0"/>
                </a:lnTo>
                <a:close/>
              </a:path>
            </a:pathLst>
          </a:custGeom>
          <a:solidFill>
            <a:srgbClr val="EEF5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36" name="Google Shape;1136;p37"/>
          <p:cNvSpPr/>
          <p:nvPr/>
        </p:nvSpPr>
        <p:spPr>
          <a:xfrm>
            <a:off x="2395804" y="3337206"/>
            <a:ext cx="1965960" cy="822960"/>
          </a:xfrm>
          <a:custGeom>
            <a:rect b="b" l="l" r="r" t="t"/>
            <a:pathLst>
              <a:path extrusionOk="0" h="822960" w="1965960">
                <a:moveTo>
                  <a:pt x="1965591" y="0"/>
                </a:moveTo>
                <a:lnTo>
                  <a:pt x="0" y="0"/>
                </a:lnTo>
                <a:lnTo>
                  <a:pt x="0" y="822591"/>
                </a:lnTo>
                <a:lnTo>
                  <a:pt x="982789" y="822591"/>
                </a:lnTo>
                <a:lnTo>
                  <a:pt x="1965591" y="822591"/>
                </a:lnTo>
                <a:lnTo>
                  <a:pt x="1965591" y="0"/>
                </a:lnTo>
                <a:close/>
              </a:path>
            </a:pathLst>
          </a:custGeom>
          <a:solidFill>
            <a:srgbClr val="EEF5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37" name="Google Shape;1137;p37"/>
          <p:cNvSpPr/>
          <p:nvPr/>
        </p:nvSpPr>
        <p:spPr>
          <a:xfrm>
            <a:off x="4425835" y="3337206"/>
            <a:ext cx="1965960" cy="822960"/>
          </a:xfrm>
          <a:custGeom>
            <a:rect b="b" l="l" r="r" t="t"/>
            <a:pathLst>
              <a:path extrusionOk="0" h="822960" w="1965960">
                <a:moveTo>
                  <a:pt x="1965604" y="0"/>
                </a:moveTo>
                <a:lnTo>
                  <a:pt x="0" y="0"/>
                </a:lnTo>
                <a:lnTo>
                  <a:pt x="0" y="822591"/>
                </a:lnTo>
                <a:lnTo>
                  <a:pt x="982802" y="822591"/>
                </a:lnTo>
                <a:lnTo>
                  <a:pt x="1965604" y="822591"/>
                </a:lnTo>
                <a:lnTo>
                  <a:pt x="1965604" y="0"/>
                </a:lnTo>
                <a:close/>
              </a:path>
            </a:pathLst>
          </a:custGeom>
          <a:solidFill>
            <a:srgbClr val="EEF5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38" name="Google Shape;1138;p37"/>
          <p:cNvSpPr/>
          <p:nvPr/>
        </p:nvSpPr>
        <p:spPr>
          <a:xfrm>
            <a:off x="6455524" y="3337206"/>
            <a:ext cx="1965960" cy="822960"/>
          </a:xfrm>
          <a:custGeom>
            <a:rect b="b" l="l" r="r" t="t"/>
            <a:pathLst>
              <a:path extrusionOk="0" h="822960" w="1965959">
                <a:moveTo>
                  <a:pt x="1965591" y="0"/>
                </a:moveTo>
                <a:lnTo>
                  <a:pt x="0" y="0"/>
                </a:lnTo>
                <a:lnTo>
                  <a:pt x="0" y="822591"/>
                </a:lnTo>
                <a:lnTo>
                  <a:pt x="982789" y="822591"/>
                </a:lnTo>
                <a:lnTo>
                  <a:pt x="1965591" y="822591"/>
                </a:lnTo>
                <a:lnTo>
                  <a:pt x="1965591" y="0"/>
                </a:lnTo>
                <a:close/>
              </a:path>
            </a:pathLst>
          </a:custGeom>
          <a:solidFill>
            <a:srgbClr val="EFFC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aphicFrame>
        <p:nvGraphicFramePr>
          <p:cNvPr id="1139" name="Google Shape;1139;p37"/>
          <p:cNvGraphicFramePr/>
          <p:nvPr/>
        </p:nvGraphicFramePr>
        <p:xfrm>
          <a:off x="352980" y="3324516"/>
          <a:ext cx="3000000" cy="3000000"/>
        </p:xfrm>
        <a:graphic>
          <a:graphicData uri="http://schemas.openxmlformats.org/drawingml/2006/table">
            <a:tbl>
              <a:tblPr bandRow="1" firstRow="1">
                <a:noFill/>
                <a:tableStyleId>{17F75444-8990-4049-B4A0-D4880F097619}</a:tableStyleId>
              </a:tblPr>
              <a:tblGrid>
                <a:gridCol w="1965325"/>
                <a:gridCol w="64125"/>
                <a:gridCol w="1965325"/>
                <a:gridCol w="64125"/>
                <a:gridCol w="1965325"/>
                <a:gridCol w="63500"/>
                <a:gridCol w="1964700"/>
              </a:tblGrid>
              <a:tr h="805175">
                <a:tc>
                  <a:txBody>
                    <a:bodyPr/>
                    <a:lstStyle/>
                    <a:p>
                      <a:pPr indent="0" lvl="0" marL="200660" marR="222885" rtl="0" algn="just">
                        <a:lnSpc>
                          <a:spcPct val="100000"/>
                        </a:lnSpc>
                        <a:spcBef>
                          <a:spcPts val="0"/>
                        </a:spcBef>
                        <a:spcAft>
                          <a:spcPts val="0"/>
                        </a:spcAft>
                        <a:buNone/>
                      </a:pPr>
                      <a:r>
                        <a:rPr b="1" lang="en-US" sz="1100" u="none" cap="none" strike="noStrike">
                          <a:solidFill>
                            <a:srgbClr val="1464BF"/>
                          </a:solidFill>
                          <a:latin typeface="Calibri"/>
                          <a:ea typeface="Calibri"/>
                          <a:cs typeface="Calibri"/>
                          <a:sym typeface="Calibri"/>
                        </a:rPr>
                        <a:t>① </a:t>
                      </a:r>
                      <a:r>
                        <a:rPr b="1" lang="en-US" sz="950" u="none" cap="none" strike="noStrike">
                          <a:solidFill>
                            <a:srgbClr val="19192D"/>
                          </a:solidFill>
                          <a:latin typeface="Calibri"/>
                          <a:ea typeface="Calibri"/>
                          <a:cs typeface="Calibri"/>
                          <a:sym typeface="Calibri"/>
                        </a:rPr>
                        <a:t>All hidden states retained </a:t>
                      </a:r>
                      <a:r>
                        <a:rPr lang="en-US" sz="900" u="none" cap="none" strike="noStrike">
                          <a:solidFill>
                            <a:srgbClr val="536D79"/>
                          </a:solidFill>
                          <a:latin typeface="Calibri"/>
                          <a:ea typeface="Calibri"/>
                          <a:cs typeface="Calibri"/>
                          <a:sym typeface="Calibri"/>
                        </a:rPr>
                        <a:t>Instead of a single final vector, all encoder hidden states h₁…h</a:t>
                      </a:r>
                      <a:r>
                        <a:rPr lang="en-US" sz="900" u="none" cap="none" strike="noStrike">
                          <a:solidFill>
                            <a:srgbClr val="536D79"/>
                          </a:solidFill>
                          <a:latin typeface="Times New Roman"/>
                          <a:ea typeface="Times New Roman"/>
                          <a:cs typeface="Times New Roman"/>
                          <a:sym typeface="Times New Roman"/>
                        </a:rPr>
                        <a:t>ₙ </a:t>
                      </a:r>
                      <a:r>
                        <a:rPr lang="en-US" sz="900" u="none" cap="none" strike="noStrike">
                          <a:solidFill>
                            <a:srgbClr val="536D79"/>
                          </a:solidFill>
                          <a:latin typeface="Calibri"/>
                          <a:ea typeface="Calibri"/>
                          <a:cs typeface="Calibri"/>
                          <a:sym typeface="Calibri"/>
                        </a:rPr>
                        <a:t>are passed forward.</a:t>
                      </a:r>
                      <a:endParaRPr sz="900" u="none" cap="none" strike="noStrike">
                        <a:latin typeface="Calibri"/>
                        <a:ea typeface="Calibri"/>
                        <a:cs typeface="Calibri"/>
                        <a:sym typeface="Calibri"/>
                      </a:endParaRPr>
                    </a:p>
                  </a:txBody>
                  <a:tcPr marT="101600" marB="0" marR="0" marL="0">
                    <a:lnL cap="flat" cmpd="sng" w="12700">
                      <a:solidFill>
                        <a:srgbClr val="C3B4FC"/>
                      </a:solidFill>
                      <a:prstDash val="solid"/>
                      <a:round/>
                      <a:headEnd len="sm" w="sm" type="none"/>
                      <a:tailEnd len="sm" w="sm" type="none"/>
                    </a:lnL>
                    <a:lnR cap="flat" cmpd="sng" w="12700">
                      <a:solidFill>
                        <a:srgbClr val="C3B4FC"/>
                      </a:solidFill>
                      <a:prstDash val="solid"/>
                      <a:round/>
                      <a:headEnd len="sm" w="sm" type="none"/>
                      <a:tailEnd len="sm" w="sm" type="none"/>
                    </a:lnR>
                    <a:lnT cap="flat" cmpd="sng" w="57150">
                      <a:solidFill>
                        <a:srgbClr val="1464BF"/>
                      </a:solidFill>
                      <a:prstDash val="solid"/>
                      <a:round/>
                      <a:headEnd len="sm" w="sm" type="none"/>
                      <a:tailEnd len="sm" w="sm" type="none"/>
                    </a:lnT>
                    <a:lnB cap="flat" cmpd="sng" w="12700">
                      <a:solidFill>
                        <a:srgbClr val="C3B4F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txBody>
                  <a:tcPr marT="0" marB="0" marR="0" marL="0">
                    <a:lnL cap="flat" cmpd="sng" w="12700">
                      <a:solidFill>
                        <a:srgbClr val="C3B4FC"/>
                      </a:solidFill>
                      <a:prstDash val="solid"/>
                      <a:round/>
                      <a:headEnd len="sm" w="sm" type="none"/>
                      <a:tailEnd len="sm" w="sm" type="none"/>
                    </a:lnL>
                    <a:lnR cap="flat" cmpd="sng" w="12700">
                      <a:solidFill>
                        <a:srgbClr val="C3B4FC"/>
                      </a:solidFill>
                      <a:prstDash val="solid"/>
                      <a:round/>
                      <a:headEnd len="sm" w="sm" type="none"/>
                      <a:tailEnd len="sm" w="sm" type="none"/>
                    </a:lnR>
                  </a:tcPr>
                </a:tc>
                <a:tc>
                  <a:txBody>
                    <a:bodyPr/>
                    <a:lstStyle/>
                    <a:p>
                      <a:pPr indent="0" lvl="0" marL="200660" marR="240029" rtl="0" algn="l">
                        <a:lnSpc>
                          <a:spcPct val="100000"/>
                        </a:lnSpc>
                        <a:spcBef>
                          <a:spcPts val="0"/>
                        </a:spcBef>
                        <a:spcAft>
                          <a:spcPts val="0"/>
                        </a:spcAft>
                        <a:buNone/>
                      </a:pPr>
                      <a:r>
                        <a:rPr b="1" lang="en-US" sz="1100" u="none" cap="none" strike="noStrike">
                          <a:solidFill>
                            <a:srgbClr val="7A1EA1"/>
                          </a:solidFill>
                          <a:latin typeface="Calibri"/>
                          <a:ea typeface="Calibri"/>
                          <a:cs typeface="Calibri"/>
                          <a:sym typeface="Calibri"/>
                        </a:rPr>
                        <a:t>② </a:t>
                      </a:r>
                      <a:r>
                        <a:rPr b="1" lang="en-US" sz="950" u="none" cap="none" strike="noStrike">
                          <a:solidFill>
                            <a:srgbClr val="19192D"/>
                          </a:solidFill>
                          <a:latin typeface="Calibri"/>
                          <a:ea typeface="Calibri"/>
                          <a:cs typeface="Calibri"/>
                          <a:sym typeface="Calibri"/>
                        </a:rPr>
                        <a:t>Dynamic context per step </a:t>
                      </a:r>
                      <a:r>
                        <a:rPr lang="en-US" sz="900" u="none" cap="none" strike="noStrike">
                          <a:solidFill>
                            <a:srgbClr val="536D79"/>
                          </a:solidFill>
                          <a:latin typeface="Calibri"/>
                          <a:ea typeface="Calibri"/>
                          <a:cs typeface="Calibri"/>
                          <a:sym typeface="Calibri"/>
                        </a:rPr>
                        <a:t>Attention computes a weighted sum (αᵢ) of encoder states for each decoder step.</a:t>
                      </a:r>
                      <a:endParaRPr sz="900" u="none" cap="none" strike="noStrike">
                        <a:latin typeface="Calibri"/>
                        <a:ea typeface="Calibri"/>
                        <a:cs typeface="Calibri"/>
                        <a:sym typeface="Calibri"/>
                      </a:endParaRPr>
                    </a:p>
                  </a:txBody>
                  <a:tcPr marT="101600" marB="0" marR="0" marL="0">
                    <a:lnL cap="flat" cmpd="sng" w="12700">
                      <a:solidFill>
                        <a:srgbClr val="C3B4FC"/>
                      </a:solidFill>
                      <a:prstDash val="solid"/>
                      <a:round/>
                      <a:headEnd len="sm" w="sm" type="none"/>
                      <a:tailEnd len="sm" w="sm" type="none"/>
                    </a:lnL>
                    <a:lnR cap="flat" cmpd="sng" w="12700">
                      <a:solidFill>
                        <a:srgbClr val="C3B4FC"/>
                      </a:solidFill>
                      <a:prstDash val="solid"/>
                      <a:round/>
                      <a:headEnd len="sm" w="sm" type="none"/>
                      <a:tailEnd len="sm" w="sm" type="none"/>
                    </a:lnR>
                    <a:lnT cap="flat" cmpd="sng" w="57150">
                      <a:solidFill>
                        <a:srgbClr val="7A1EA1"/>
                      </a:solidFill>
                      <a:prstDash val="solid"/>
                      <a:round/>
                      <a:headEnd len="sm" w="sm" type="none"/>
                      <a:tailEnd len="sm" w="sm" type="none"/>
                    </a:lnT>
                    <a:lnB cap="flat" cmpd="sng" w="12700">
                      <a:solidFill>
                        <a:srgbClr val="C3B4F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txBody>
                  <a:tcPr marT="0" marB="0" marR="0" marL="0">
                    <a:lnL cap="flat" cmpd="sng" w="12700">
                      <a:solidFill>
                        <a:srgbClr val="C3B4FC"/>
                      </a:solidFill>
                      <a:prstDash val="solid"/>
                      <a:round/>
                      <a:headEnd len="sm" w="sm" type="none"/>
                      <a:tailEnd len="sm" w="sm" type="none"/>
                    </a:lnL>
                    <a:lnR cap="flat" cmpd="sng" w="12700">
                      <a:solidFill>
                        <a:srgbClr val="C3B4FC"/>
                      </a:solidFill>
                      <a:prstDash val="solid"/>
                      <a:round/>
                      <a:headEnd len="sm" w="sm" type="none"/>
                      <a:tailEnd len="sm" w="sm" type="none"/>
                    </a:lnR>
                  </a:tcPr>
                </a:tc>
                <a:tc>
                  <a:txBody>
                    <a:bodyPr/>
                    <a:lstStyle/>
                    <a:p>
                      <a:pPr indent="0" lvl="0" marL="200025" marR="375920" rtl="0" algn="l">
                        <a:lnSpc>
                          <a:spcPct val="100000"/>
                        </a:lnSpc>
                        <a:spcBef>
                          <a:spcPts val="0"/>
                        </a:spcBef>
                        <a:spcAft>
                          <a:spcPts val="0"/>
                        </a:spcAft>
                        <a:buNone/>
                      </a:pPr>
                      <a:r>
                        <a:rPr b="1" lang="en-US" sz="1100" u="none" cap="none" strike="noStrike">
                          <a:solidFill>
                            <a:srgbClr val="E55000"/>
                          </a:solidFill>
                          <a:latin typeface="Calibri"/>
                          <a:ea typeface="Calibri"/>
                          <a:cs typeface="Calibri"/>
                          <a:sym typeface="Calibri"/>
                        </a:rPr>
                        <a:t>③ </a:t>
                      </a:r>
                      <a:r>
                        <a:rPr b="1" lang="en-US" sz="950" u="none" cap="none" strike="noStrike">
                          <a:solidFill>
                            <a:srgbClr val="19192D"/>
                          </a:solidFill>
                          <a:latin typeface="Calibri"/>
                          <a:ea typeface="Calibri"/>
                          <a:cs typeface="Calibri"/>
                          <a:sym typeface="Calibri"/>
                        </a:rPr>
                        <a:t>Context c</a:t>
                      </a:r>
                      <a:r>
                        <a:rPr lang="en-US" sz="950" u="none" cap="none" strike="noStrike">
                          <a:solidFill>
                            <a:srgbClr val="19192D"/>
                          </a:solidFill>
                          <a:latin typeface="Quattrocento Sans"/>
                          <a:ea typeface="Quattrocento Sans"/>
                          <a:cs typeface="Quattrocento Sans"/>
                          <a:sym typeface="Quattrocento Sans"/>
                        </a:rPr>
                        <a:t>ₜ </a:t>
                      </a:r>
                      <a:r>
                        <a:rPr b="1" lang="en-US" sz="950" u="none" cap="none" strike="noStrike">
                          <a:solidFill>
                            <a:srgbClr val="19192D"/>
                          </a:solidFill>
                          <a:latin typeface="Calibri"/>
                          <a:ea typeface="Calibri"/>
                          <a:cs typeface="Calibri"/>
                          <a:sym typeface="Calibri"/>
                        </a:rPr>
                        <a:t>recomputed </a:t>
                      </a:r>
                      <a:r>
                        <a:rPr lang="en-US" sz="900" u="none" cap="none" strike="noStrike">
                          <a:solidFill>
                            <a:srgbClr val="536D79"/>
                          </a:solidFill>
                          <a:latin typeface="Calibri"/>
                          <a:ea typeface="Calibri"/>
                          <a:cs typeface="Calibri"/>
                          <a:sym typeface="Calibri"/>
                        </a:rPr>
                        <a:t>A fresh context vector c</a:t>
                      </a:r>
                      <a:r>
                        <a:rPr lang="en-US" sz="900" u="none" cap="none" strike="noStrike">
                          <a:solidFill>
                            <a:srgbClr val="536D79"/>
                          </a:solidFill>
                          <a:latin typeface="Times New Roman"/>
                          <a:ea typeface="Times New Roman"/>
                          <a:cs typeface="Times New Roman"/>
                          <a:sym typeface="Times New Roman"/>
                        </a:rPr>
                        <a:t>ₜ </a:t>
                      </a:r>
                      <a:r>
                        <a:rPr lang="en-US" sz="900" u="none" cap="none" strike="noStrike">
                          <a:solidFill>
                            <a:srgbClr val="536D79"/>
                          </a:solidFill>
                          <a:latin typeface="Calibri"/>
                          <a:ea typeface="Calibri"/>
                          <a:cs typeface="Calibri"/>
                          <a:sym typeface="Calibri"/>
                        </a:rPr>
                        <a:t>is computed at every decoder timestep, focusing on what's relevant.</a:t>
                      </a:r>
                      <a:endParaRPr sz="900" u="none" cap="none" strike="noStrike">
                        <a:latin typeface="Calibri"/>
                        <a:ea typeface="Calibri"/>
                        <a:cs typeface="Calibri"/>
                        <a:sym typeface="Calibri"/>
                      </a:endParaRPr>
                    </a:p>
                  </a:txBody>
                  <a:tcPr marT="76200" marB="0" marR="0" marL="0">
                    <a:lnL cap="flat" cmpd="sng" w="12700">
                      <a:solidFill>
                        <a:srgbClr val="C3B4FC"/>
                      </a:solidFill>
                      <a:prstDash val="solid"/>
                      <a:round/>
                      <a:headEnd len="sm" w="sm" type="none"/>
                      <a:tailEnd len="sm" w="sm" type="none"/>
                    </a:lnL>
                    <a:lnR cap="flat" cmpd="sng" w="12700">
                      <a:solidFill>
                        <a:srgbClr val="C3B4FC"/>
                      </a:solidFill>
                      <a:prstDash val="solid"/>
                      <a:round/>
                      <a:headEnd len="sm" w="sm" type="none"/>
                      <a:tailEnd len="sm" w="sm" type="none"/>
                    </a:lnR>
                    <a:lnT cap="flat" cmpd="sng" w="57150">
                      <a:solidFill>
                        <a:srgbClr val="E55000"/>
                      </a:solidFill>
                      <a:prstDash val="solid"/>
                      <a:round/>
                      <a:headEnd len="sm" w="sm" type="none"/>
                      <a:tailEnd len="sm" w="sm" type="none"/>
                    </a:lnT>
                    <a:lnB cap="flat" cmpd="sng" w="12700">
                      <a:solidFill>
                        <a:srgbClr val="C3B4F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txBody>
                  <a:tcPr marT="0" marB="0" marR="0" marL="0">
                    <a:lnL cap="flat" cmpd="sng" w="12700">
                      <a:solidFill>
                        <a:srgbClr val="C3B4FC"/>
                      </a:solidFill>
                      <a:prstDash val="solid"/>
                      <a:round/>
                      <a:headEnd len="sm" w="sm" type="none"/>
                      <a:tailEnd len="sm" w="sm" type="none"/>
                    </a:lnL>
                    <a:lnR cap="flat" cmpd="sng" w="28575">
                      <a:solidFill>
                        <a:srgbClr val="15A249"/>
                      </a:solidFill>
                      <a:prstDash val="solid"/>
                      <a:round/>
                      <a:headEnd len="sm" w="sm" type="none"/>
                      <a:tailEnd len="sm" w="sm" type="none"/>
                    </a:lnR>
                  </a:tcPr>
                </a:tc>
                <a:tc>
                  <a:txBody>
                    <a:bodyPr/>
                    <a:lstStyle/>
                    <a:p>
                      <a:pPr indent="-184785" lvl="0" marL="385445" marR="229235" rtl="0" algn="l">
                        <a:lnSpc>
                          <a:spcPct val="101099"/>
                        </a:lnSpc>
                        <a:spcBef>
                          <a:spcPts val="0"/>
                        </a:spcBef>
                        <a:spcAft>
                          <a:spcPts val="0"/>
                        </a:spcAft>
                        <a:buClr>
                          <a:srgbClr val="2D7C31"/>
                        </a:buClr>
                        <a:buSzPts val="1100"/>
                        <a:buFont typeface="Quattrocento Sans"/>
                        <a:buChar char="✓"/>
                      </a:pPr>
                      <a:r>
                        <a:rPr b="1" lang="en-US" sz="950" u="none" cap="none" strike="noStrike">
                          <a:solidFill>
                            <a:srgbClr val="19192D"/>
                          </a:solidFill>
                          <a:latin typeface="Calibri"/>
                          <a:ea typeface="Calibri"/>
                          <a:cs typeface="Calibri"/>
                          <a:sym typeface="Calibri"/>
                        </a:rPr>
                        <a:t>Bottleneck eliminated </a:t>
                      </a:r>
                      <a:r>
                        <a:rPr lang="en-US" sz="900" u="none" cap="none" strike="noStrike">
                          <a:solidFill>
                            <a:srgbClr val="536D79"/>
                          </a:solidFill>
                          <a:latin typeface="Calibri"/>
                          <a:ea typeface="Calibri"/>
                          <a:cs typeface="Calibri"/>
                          <a:sym typeface="Calibri"/>
                        </a:rPr>
                        <a:t>Long-range dependencies are captured directly, no information is lost through a single vector.</a:t>
                      </a:r>
                      <a:endParaRPr sz="900" u="none" cap="none" strike="noStrike">
                        <a:latin typeface="Calibri"/>
                        <a:ea typeface="Calibri"/>
                        <a:cs typeface="Calibri"/>
                        <a:sym typeface="Calibri"/>
                      </a:endParaRPr>
                    </a:p>
                  </a:txBody>
                  <a:tcPr marT="118750" marB="0" marR="0" marL="0">
                    <a:lnL cap="flat" cmpd="sng" w="28575">
                      <a:solidFill>
                        <a:srgbClr val="15A249"/>
                      </a:solidFill>
                      <a:prstDash val="solid"/>
                      <a:round/>
                      <a:headEnd len="sm" w="sm" type="none"/>
                      <a:tailEnd len="sm" w="sm" type="none"/>
                    </a:lnL>
                    <a:lnR cap="flat" cmpd="sng" w="28575">
                      <a:solidFill>
                        <a:srgbClr val="15A249"/>
                      </a:solidFill>
                      <a:prstDash val="solid"/>
                      <a:round/>
                      <a:headEnd len="sm" w="sm" type="none"/>
                      <a:tailEnd len="sm" w="sm" type="none"/>
                    </a:lnR>
                    <a:lnT cap="flat" cmpd="sng" w="76200">
                      <a:solidFill>
                        <a:srgbClr val="2D7C31"/>
                      </a:solidFill>
                      <a:prstDash val="solid"/>
                      <a:round/>
                      <a:headEnd len="sm" w="sm" type="none"/>
                      <a:tailEnd len="sm" w="sm" type="none"/>
                    </a:lnT>
                    <a:lnB cap="flat" cmpd="sng" w="28575">
                      <a:solidFill>
                        <a:srgbClr val="15A249"/>
                      </a:solidFill>
                      <a:prstDash val="solid"/>
                      <a:round/>
                      <a:headEnd len="sm" w="sm" type="none"/>
                      <a:tailEnd len="sm" w="sm" type="none"/>
                    </a:lnB>
                  </a:tcPr>
                </a:tc>
              </a:tr>
            </a:tbl>
          </a:graphicData>
        </a:graphic>
      </p:graphicFrame>
      <p:sp>
        <p:nvSpPr>
          <p:cNvPr id="1140" name="Google Shape;1140;p37"/>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grpSp>
        <p:nvGrpSpPr>
          <p:cNvPr id="1145" name="Google Shape;1145;p38"/>
          <p:cNvGrpSpPr/>
          <p:nvPr/>
        </p:nvGrpSpPr>
        <p:grpSpPr>
          <a:xfrm>
            <a:off x="63360" y="882004"/>
            <a:ext cx="9080270" cy="3378238"/>
            <a:chOff x="63360" y="882004"/>
            <a:chExt cx="9080270" cy="3378238"/>
          </a:xfrm>
        </p:grpSpPr>
        <p:pic>
          <p:nvPicPr>
            <p:cNvPr id="1146" name="Google Shape;1146;p38"/>
            <p:cNvPicPr preferRelativeResize="0"/>
            <p:nvPr/>
          </p:nvPicPr>
          <p:blipFill rotWithShape="1">
            <a:blip r:embed="rId3">
              <a:alphaModFix/>
            </a:blip>
            <a:srcRect b="0" l="0" r="0" t="0"/>
            <a:stretch/>
          </p:blipFill>
          <p:spPr>
            <a:xfrm>
              <a:off x="63360" y="882004"/>
              <a:ext cx="5988964" cy="3378238"/>
            </a:xfrm>
            <a:prstGeom prst="rect">
              <a:avLst/>
            </a:prstGeom>
            <a:noFill/>
            <a:ln>
              <a:noFill/>
            </a:ln>
          </p:spPr>
        </p:pic>
        <p:pic>
          <p:nvPicPr>
            <p:cNvPr id="1147" name="Google Shape;1147;p38"/>
            <p:cNvPicPr preferRelativeResize="0"/>
            <p:nvPr/>
          </p:nvPicPr>
          <p:blipFill rotWithShape="1">
            <a:blip r:embed="rId4">
              <a:alphaModFix/>
            </a:blip>
            <a:srcRect b="0" l="0" r="0" t="0"/>
            <a:stretch/>
          </p:blipFill>
          <p:spPr>
            <a:xfrm>
              <a:off x="100799" y="1029235"/>
              <a:ext cx="5657405" cy="2936163"/>
            </a:xfrm>
            <a:prstGeom prst="rect">
              <a:avLst/>
            </a:prstGeom>
            <a:noFill/>
            <a:ln>
              <a:noFill/>
            </a:ln>
          </p:spPr>
        </p:pic>
        <p:pic>
          <p:nvPicPr>
            <p:cNvPr id="1148" name="Google Shape;1148;p38"/>
            <p:cNvPicPr preferRelativeResize="0"/>
            <p:nvPr/>
          </p:nvPicPr>
          <p:blipFill rotWithShape="1">
            <a:blip r:embed="rId5">
              <a:alphaModFix/>
            </a:blip>
            <a:srcRect b="0" l="0" r="0" t="0"/>
            <a:stretch/>
          </p:blipFill>
          <p:spPr>
            <a:xfrm>
              <a:off x="5664237" y="1311848"/>
              <a:ext cx="3479393" cy="2521077"/>
            </a:xfrm>
            <a:prstGeom prst="rect">
              <a:avLst/>
            </a:prstGeom>
            <a:noFill/>
            <a:ln>
              <a:noFill/>
            </a:ln>
          </p:spPr>
        </p:pic>
        <p:pic>
          <p:nvPicPr>
            <p:cNvPr id="1149" name="Google Shape;1149;p38"/>
            <p:cNvPicPr preferRelativeResize="0"/>
            <p:nvPr/>
          </p:nvPicPr>
          <p:blipFill rotWithShape="1">
            <a:blip r:embed="rId6">
              <a:alphaModFix/>
            </a:blip>
            <a:srcRect b="0" l="0" r="0" t="0"/>
            <a:stretch/>
          </p:blipFill>
          <p:spPr>
            <a:xfrm>
              <a:off x="5810402" y="1457644"/>
              <a:ext cx="3330003" cy="2080437"/>
            </a:xfrm>
            <a:prstGeom prst="rect">
              <a:avLst/>
            </a:prstGeom>
            <a:noFill/>
            <a:ln>
              <a:noFill/>
            </a:ln>
          </p:spPr>
        </p:pic>
      </p:grpSp>
      <p:sp>
        <p:nvSpPr>
          <p:cNvPr descr="$PPTXTitle" id="1150" name="Google Shape;1150;p38"/>
          <p:cNvSpPr txBox="1"/>
          <p:nvPr>
            <p:ph type="title"/>
          </p:nvPr>
        </p:nvSpPr>
        <p:spPr>
          <a:xfrm>
            <a:off x="152184" y="63260"/>
            <a:ext cx="8839631" cy="879475"/>
          </a:xfrm>
          <a:prstGeom prst="rect">
            <a:avLst/>
          </a:prstGeom>
          <a:noFill/>
          <a:ln>
            <a:noFill/>
          </a:ln>
        </p:spPr>
        <p:txBody>
          <a:bodyPr anchorCtr="0" anchor="t" bIns="0" lIns="0" spcFirstLastPara="1" rIns="0" wrap="square" tIns="152000">
            <a:spAutoFit/>
          </a:bodyPr>
          <a:lstStyle/>
          <a:p>
            <a:pPr indent="0" lvl="0" marL="317500" rtl="0" algn="l">
              <a:lnSpc>
                <a:spcPct val="100000"/>
              </a:lnSpc>
              <a:spcBef>
                <a:spcPts val="0"/>
              </a:spcBef>
              <a:spcAft>
                <a:spcPts val="0"/>
              </a:spcAft>
              <a:buNone/>
            </a:pPr>
            <a:r>
              <a:rPr b="0" lang="en-US" sz="2800">
                <a:solidFill>
                  <a:srgbClr val="000000"/>
                </a:solidFill>
                <a:latin typeface="Helvetica Neue"/>
                <a:ea typeface="Helvetica Neue"/>
                <a:cs typeface="Helvetica Neue"/>
                <a:sym typeface="Helvetica Neue"/>
              </a:rPr>
              <a:t>The Attention Idea</a:t>
            </a:r>
            <a:endParaRPr sz="2800">
              <a:latin typeface="Helvetica Neue"/>
              <a:ea typeface="Helvetica Neue"/>
              <a:cs typeface="Helvetica Neue"/>
              <a:sym typeface="Helvetica Neue"/>
            </a:endParaRPr>
          </a:p>
        </p:txBody>
      </p:sp>
      <p:pic>
        <p:nvPicPr>
          <p:cNvPr id="1151" name="Google Shape;1151;p38"/>
          <p:cNvPicPr preferRelativeResize="0"/>
          <p:nvPr/>
        </p:nvPicPr>
        <p:blipFill rotWithShape="1">
          <a:blip r:embed="rId7">
            <a:alphaModFix/>
          </a:blip>
          <a:srcRect b="0" l="0" r="0" t="0"/>
          <a:stretch/>
        </p:blipFill>
        <p:spPr>
          <a:xfrm>
            <a:off x="8369274" y="14"/>
            <a:ext cx="774357" cy="866508"/>
          </a:xfrm>
          <a:prstGeom prst="rect">
            <a:avLst/>
          </a:prstGeom>
          <a:noFill/>
          <a:ln>
            <a:noFill/>
          </a:ln>
        </p:spPr>
      </p:pic>
      <p:sp>
        <p:nvSpPr>
          <p:cNvPr id="1152" name="Google Shape;1152;p38"/>
          <p:cNvSpPr txBox="1"/>
          <p:nvPr/>
        </p:nvSpPr>
        <p:spPr>
          <a:xfrm>
            <a:off x="793343" y="4178416"/>
            <a:ext cx="6031230" cy="54419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700">
                <a:latin typeface="Calibri"/>
                <a:ea typeface="Calibri"/>
                <a:cs typeface="Calibri"/>
                <a:sym typeface="Calibri"/>
              </a:rPr>
              <a:t>Attention treats each word’s representation as a </a:t>
            </a:r>
            <a:r>
              <a:rPr b="1" lang="en-US" sz="1700">
                <a:solidFill>
                  <a:srgbClr val="BF0000"/>
                </a:solidFill>
                <a:latin typeface="Calibri"/>
                <a:ea typeface="Calibri"/>
                <a:cs typeface="Calibri"/>
                <a:sym typeface="Calibri"/>
              </a:rPr>
              <a:t>query </a:t>
            </a:r>
            <a:r>
              <a:rPr lang="en-US" sz="1700">
                <a:latin typeface="Calibri"/>
                <a:ea typeface="Calibri"/>
                <a:cs typeface="Calibri"/>
                <a:sym typeface="Calibri"/>
              </a:rPr>
              <a:t>to access and incorporate information from a </a:t>
            </a:r>
            <a:r>
              <a:rPr b="1" lang="en-US" sz="1700">
                <a:solidFill>
                  <a:srgbClr val="BF0000"/>
                </a:solidFill>
                <a:latin typeface="Calibri"/>
                <a:ea typeface="Calibri"/>
                <a:cs typeface="Calibri"/>
                <a:sym typeface="Calibri"/>
              </a:rPr>
              <a:t>set of values</a:t>
            </a:r>
            <a:r>
              <a:rPr lang="en-US" sz="1700">
                <a:latin typeface="Calibri"/>
                <a:ea typeface="Calibri"/>
                <a:cs typeface="Calibri"/>
                <a:sym typeface="Calibri"/>
              </a:rPr>
              <a:t>.</a:t>
            </a:r>
            <a:endParaRPr sz="1700">
              <a:latin typeface="Calibri"/>
              <a:ea typeface="Calibri"/>
              <a:cs typeface="Calibri"/>
              <a:sym typeface="Calibri"/>
            </a:endParaRPr>
          </a:p>
        </p:txBody>
      </p:sp>
      <p:sp>
        <p:nvSpPr>
          <p:cNvPr id="1153" name="Google Shape;1153;p38"/>
          <p:cNvSpPr txBox="1"/>
          <p:nvPr/>
        </p:nvSpPr>
        <p:spPr>
          <a:xfrm>
            <a:off x="793343" y="4756692"/>
            <a:ext cx="4126229" cy="258445"/>
          </a:xfrm>
          <a:prstGeom prst="rect">
            <a:avLst/>
          </a:prstGeom>
          <a:noFill/>
          <a:ln>
            <a:noFill/>
          </a:ln>
        </p:spPr>
        <p:txBody>
          <a:bodyPr anchorCtr="0" anchor="t" bIns="0" lIns="0" spcFirstLastPara="1" rIns="0" wrap="square" tIns="3175">
            <a:spAutoFit/>
          </a:bodyPr>
          <a:lstStyle/>
          <a:p>
            <a:pPr indent="0" lvl="0" marL="12700" rtl="0" algn="l">
              <a:lnSpc>
                <a:spcPct val="100000"/>
              </a:lnSpc>
              <a:spcBef>
                <a:spcPts val="0"/>
              </a:spcBef>
              <a:spcAft>
                <a:spcPts val="0"/>
              </a:spcAft>
              <a:buNone/>
            </a:pPr>
            <a:r>
              <a:rPr lang="en-US" sz="1300" u="sng">
                <a:solidFill>
                  <a:srgbClr val="3E7CBE"/>
                </a:solidFill>
                <a:latin typeface="Helvetica Neue"/>
                <a:ea typeface="Helvetica Neue"/>
                <a:cs typeface="Helvetica Neue"/>
                <a:sym typeface="Helvetica Neue"/>
              </a:rPr>
              <a:t>Bahdanau et al., 2015</a:t>
            </a:r>
            <a:r>
              <a:rPr lang="en-US" sz="1300">
                <a:latin typeface="Helvetica Neue"/>
                <a:ea typeface="Helvetica Neue"/>
                <a:cs typeface="Helvetica Neue"/>
                <a:sym typeface="Helvetica Neue"/>
              </a:rPr>
              <a:t>.	</a:t>
            </a:r>
            <a:r>
              <a:rPr lang="en-US" sz="1500">
                <a:latin typeface="Calibri"/>
                <a:ea typeface="Calibri"/>
                <a:cs typeface="Calibri"/>
                <a:sym typeface="Calibri"/>
              </a:rPr>
              <a:t>Stanford NLP Course: CS224N</a:t>
            </a:r>
            <a:endParaRPr sz="1500">
              <a:latin typeface="Calibri"/>
              <a:ea typeface="Calibri"/>
              <a:cs typeface="Calibri"/>
              <a:sym typeface="Calibri"/>
            </a:endParaRPr>
          </a:p>
        </p:txBody>
      </p:sp>
      <p:sp>
        <p:nvSpPr>
          <p:cNvPr id="1154" name="Google Shape;1154;p38"/>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58" name="Shape 1158"/>
        <p:cNvGrpSpPr/>
        <p:nvPr/>
      </p:nvGrpSpPr>
      <p:grpSpPr>
        <a:xfrm>
          <a:off x="0" y="0"/>
          <a:ext cx="0" cy="0"/>
          <a:chOff x="0" y="0"/>
          <a:chExt cx="0" cy="0"/>
        </a:xfrm>
      </p:grpSpPr>
      <p:sp>
        <p:nvSpPr>
          <p:cNvPr id="1159" name="Google Shape;1159;p39"/>
          <p:cNvSpPr/>
          <p:nvPr/>
        </p:nvSpPr>
        <p:spPr>
          <a:xfrm>
            <a:off x="0" y="2"/>
            <a:ext cx="9144000" cy="5144135"/>
          </a:xfrm>
          <a:custGeom>
            <a:rect b="b" l="l" r="r" t="t"/>
            <a:pathLst>
              <a:path extrusionOk="0" h="5144135" w="9144000">
                <a:moveTo>
                  <a:pt x="9144000" y="0"/>
                </a:moveTo>
                <a:lnTo>
                  <a:pt x="0" y="0"/>
                </a:lnTo>
                <a:lnTo>
                  <a:pt x="0" y="5143677"/>
                </a:lnTo>
                <a:lnTo>
                  <a:pt x="9144000" y="5143677"/>
                </a:lnTo>
                <a:lnTo>
                  <a:pt x="9144000" y="0"/>
                </a:lnTo>
                <a:close/>
              </a:path>
            </a:pathLst>
          </a:custGeom>
          <a:solidFill>
            <a:srgbClr val="F7F9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descr="$PPTXTitle" id="1160" name="Google Shape;1160;p39"/>
          <p:cNvSpPr txBox="1"/>
          <p:nvPr>
            <p:ph type="title"/>
          </p:nvPr>
        </p:nvSpPr>
        <p:spPr>
          <a:xfrm>
            <a:off x="535584" y="162270"/>
            <a:ext cx="5386070" cy="4527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800">
                <a:solidFill>
                  <a:srgbClr val="19192D"/>
                </a:solidFill>
              </a:rPr>
              <a:t>Why Attention Alone Wasn't Enough</a:t>
            </a:r>
            <a:endParaRPr sz="2800"/>
          </a:p>
        </p:txBody>
      </p:sp>
      <p:sp>
        <p:nvSpPr>
          <p:cNvPr id="1161" name="Google Shape;1161;p39"/>
          <p:cNvSpPr txBox="1"/>
          <p:nvPr/>
        </p:nvSpPr>
        <p:spPr>
          <a:xfrm>
            <a:off x="535584" y="650419"/>
            <a:ext cx="5189220" cy="2165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i="1" lang="en-US" sz="1250">
                <a:solidFill>
                  <a:srgbClr val="536D79"/>
                </a:solidFill>
                <a:latin typeface="Cambria"/>
                <a:ea typeface="Cambria"/>
                <a:cs typeface="Cambria"/>
                <a:sym typeface="Cambria"/>
              </a:rPr>
              <a:t>Remaining limitations that led to Self-Attention and the Transformer architecture</a:t>
            </a:r>
            <a:endParaRPr sz="1250">
              <a:latin typeface="Cambria"/>
              <a:ea typeface="Cambria"/>
              <a:cs typeface="Cambria"/>
              <a:sym typeface="Cambria"/>
            </a:endParaRPr>
          </a:p>
        </p:txBody>
      </p:sp>
      <p:grpSp>
        <p:nvGrpSpPr>
          <p:cNvPr id="1162" name="Google Shape;1162;p39"/>
          <p:cNvGrpSpPr/>
          <p:nvPr/>
        </p:nvGrpSpPr>
        <p:grpSpPr>
          <a:xfrm>
            <a:off x="456844" y="895682"/>
            <a:ext cx="8229600" cy="36830"/>
            <a:chOff x="456844" y="895682"/>
            <a:chExt cx="8229600" cy="36830"/>
          </a:xfrm>
        </p:grpSpPr>
        <p:sp>
          <p:nvSpPr>
            <p:cNvPr id="1163" name="Google Shape;1163;p39"/>
            <p:cNvSpPr/>
            <p:nvPr/>
          </p:nvSpPr>
          <p:spPr>
            <a:xfrm>
              <a:off x="456844" y="895682"/>
              <a:ext cx="8229600" cy="36830"/>
            </a:xfrm>
            <a:custGeom>
              <a:rect b="b" l="l" r="r" t="t"/>
              <a:pathLst>
                <a:path extrusionOk="0" h="36830" w="8229600">
                  <a:moveTo>
                    <a:pt x="8229231" y="0"/>
                  </a:moveTo>
                  <a:lnTo>
                    <a:pt x="0" y="0"/>
                  </a:lnTo>
                  <a:lnTo>
                    <a:pt x="0" y="36360"/>
                  </a:lnTo>
                  <a:lnTo>
                    <a:pt x="4114800" y="36360"/>
                  </a:lnTo>
                  <a:lnTo>
                    <a:pt x="8229231" y="36360"/>
                  </a:lnTo>
                  <a:lnTo>
                    <a:pt x="8229231" y="0"/>
                  </a:lnTo>
                  <a:close/>
                </a:path>
              </a:pathLst>
            </a:custGeom>
            <a:solidFill>
              <a:srgbClr val="E9570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64" name="Google Shape;1164;p39"/>
            <p:cNvSpPr/>
            <p:nvPr/>
          </p:nvSpPr>
          <p:spPr>
            <a:xfrm>
              <a:off x="456844" y="895682"/>
              <a:ext cx="8229600" cy="36830"/>
            </a:xfrm>
            <a:custGeom>
              <a:rect b="b" l="l" r="r" t="t"/>
              <a:pathLst>
                <a:path extrusionOk="0" h="36830" w="8229600">
                  <a:moveTo>
                    <a:pt x="4114800" y="36360"/>
                  </a:moveTo>
                  <a:lnTo>
                    <a:pt x="0" y="36360"/>
                  </a:lnTo>
                  <a:lnTo>
                    <a:pt x="0" y="0"/>
                  </a:lnTo>
                  <a:lnTo>
                    <a:pt x="8229231" y="0"/>
                  </a:lnTo>
                  <a:lnTo>
                    <a:pt x="8229231" y="36360"/>
                  </a:lnTo>
                  <a:lnTo>
                    <a:pt x="4114800" y="36360"/>
                  </a:lnTo>
                  <a:close/>
                </a:path>
              </a:pathLst>
            </a:custGeom>
            <a:noFill/>
            <a:ln cap="flat" cmpd="sng" w="12575">
              <a:solidFill>
                <a:srgbClr val="E9570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165" name="Google Shape;1165;p39"/>
          <p:cNvSpPr txBox="1"/>
          <p:nvPr/>
        </p:nvSpPr>
        <p:spPr>
          <a:xfrm>
            <a:off x="1914017" y="975146"/>
            <a:ext cx="1546860" cy="1701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950">
                <a:solidFill>
                  <a:srgbClr val="E9570B"/>
                </a:solidFill>
                <a:latin typeface="Calibri"/>
                <a:ea typeface="Calibri"/>
                <a:cs typeface="Calibri"/>
                <a:sym typeface="Calibri"/>
              </a:rPr>
              <a:t>Limitations of RNN + Attention</a:t>
            </a:r>
            <a:endParaRPr sz="950">
              <a:latin typeface="Calibri"/>
              <a:ea typeface="Calibri"/>
              <a:cs typeface="Calibri"/>
              <a:sym typeface="Calibri"/>
            </a:endParaRPr>
          </a:p>
        </p:txBody>
      </p:sp>
      <p:sp>
        <p:nvSpPr>
          <p:cNvPr id="1166" name="Google Shape;1166;p39"/>
          <p:cNvSpPr txBox="1"/>
          <p:nvPr/>
        </p:nvSpPr>
        <p:spPr>
          <a:xfrm>
            <a:off x="6624256" y="975146"/>
            <a:ext cx="1123950" cy="1701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950">
                <a:solidFill>
                  <a:srgbClr val="00685B"/>
                </a:solidFill>
                <a:latin typeface="Calibri"/>
                <a:ea typeface="Calibri"/>
                <a:cs typeface="Calibri"/>
                <a:sym typeface="Calibri"/>
              </a:rPr>
              <a:t>Transformer Solutions</a:t>
            </a:r>
            <a:endParaRPr sz="950">
              <a:latin typeface="Calibri"/>
              <a:ea typeface="Calibri"/>
              <a:cs typeface="Calibri"/>
              <a:sym typeface="Calibri"/>
            </a:endParaRPr>
          </a:p>
        </p:txBody>
      </p:sp>
      <p:sp>
        <p:nvSpPr>
          <p:cNvPr id="1167" name="Google Shape;1167;p39"/>
          <p:cNvSpPr/>
          <p:nvPr/>
        </p:nvSpPr>
        <p:spPr>
          <a:xfrm>
            <a:off x="320040" y="1170357"/>
            <a:ext cx="2331720" cy="932815"/>
          </a:xfrm>
          <a:custGeom>
            <a:rect b="b" l="l" r="r" t="t"/>
            <a:pathLst>
              <a:path extrusionOk="0" h="932814" w="2331720">
                <a:moveTo>
                  <a:pt x="2331364" y="0"/>
                </a:moveTo>
                <a:lnTo>
                  <a:pt x="0" y="0"/>
                </a:lnTo>
                <a:lnTo>
                  <a:pt x="0" y="932408"/>
                </a:lnTo>
                <a:lnTo>
                  <a:pt x="1165682" y="932408"/>
                </a:lnTo>
                <a:lnTo>
                  <a:pt x="2331364" y="932408"/>
                </a:lnTo>
                <a:lnTo>
                  <a:pt x="2331364" y="0"/>
                </a:lnTo>
                <a:close/>
              </a:path>
            </a:pathLst>
          </a:custGeom>
          <a:solidFill>
            <a:srgbClr val="FFF6E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68" name="Google Shape;1168;p39"/>
          <p:cNvSpPr/>
          <p:nvPr/>
        </p:nvSpPr>
        <p:spPr>
          <a:xfrm>
            <a:off x="2724835" y="1170357"/>
            <a:ext cx="2331720" cy="932815"/>
          </a:xfrm>
          <a:custGeom>
            <a:rect b="b" l="l" r="r" t="t"/>
            <a:pathLst>
              <a:path extrusionOk="0" h="932814" w="2331720">
                <a:moveTo>
                  <a:pt x="2331364" y="0"/>
                </a:moveTo>
                <a:lnTo>
                  <a:pt x="0" y="0"/>
                </a:lnTo>
                <a:lnTo>
                  <a:pt x="0" y="932408"/>
                </a:lnTo>
                <a:lnTo>
                  <a:pt x="1165682" y="932408"/>
                </a:lnTo>
                <a:lnTo>
                  <a:pt x="2331364" y="932408"/>
                </a:lnTo>
                <a:lnTo>
                  <a:pt x="2331364" y="0"/>
                </a:lnTo>
                <a:close/>
              </a:path>
            </a:pathLst>
          </a:custGeom>
          <a:solidFill>
            <a:srgbClr val="FFF6E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aphicFrame>
        <p:nvGraphicFramePr>
          <p:cNvPr id="1169" name="Google Shape;1169;p39"/>
          <p:cNvGraphicFramePr/>
          <p:nvPr/>
        </p:nvGraphicFramePr>
        <p:xfrm>
          <a:off x="313384" y="1134181"/>
          <a:ext cx="3000000" cy="3000000"/>
        </p:xfrm>
        <a:graphic>
          <a:graphicData uri="http://schemas.openxmlformats.org/drawingml/2006/table">
            <a:tbl>
              <a:tblPr bandRow="1" firstRow="1">
                <a:noFill/>
                <a:tableStyleId>{17F75444-8990-4049-B4A0-D4880F097619}</a:tableStyleId>
              </a:tblPr>
              <a:tblGrid>
                <a:gridCol w="2313300"/>
                <a:gridCol w="90800"/>
                <a:gridCol w="2313300"/>
              </a:tblGrid>
              <a:tr h="948050">
                <a:tc>
                  <a:txBody>
                    <a:bodyPr/>
                    <a:lstStyle/>
                    <a:p>
                      <a:pPr indent="0" lvl="0" marL="191770" marR="0" rtl="0" algn="l">
                        <a:lnSpc>
                          <a:spcPct val="100000"/>
                        </a:lnSpc>
                        <a:spcBef>
                          <a:spcPts val="0"/>
                        </a:spcBef>
                        <a:spcAft>
                          <a:spcPts val="0"/>
                        </a:spcAft>
                        <a:buNone/>
                      </a:pPr>
                      <a:r>
                        <a:rPr b="1" lang="en-US" sz="950" u="none" cap="none" strike="noStrike">
                          <a:solidFill>
                            <a:srgbClr val="E9570B"/>
                          </a:solidFill>
                          <a:latin typeface="Calibri"/>
                          <a:ea typeface="Calibri"/>
                          <a:cs typeface="Calibri"/>
                          <a:sym typeface="Calibri"/>
                        </a:rPr>
                        <a:t>01 </a:t>
                      </a:r>
                      <a:r>
                        <a:rPr b="1" lang="en-US" sz="950" u="none" cap="none" strike="noStrike">
                          <a:solidFill>
                            <a:srgbClr val="19192D"/>
                          </a:solidFill>
                          <a:latin typeface="Calibri"/>
                          <a:ea typeface="Calibri"/>
                          <a:cs typeface="Calibri"/>
                          <a:sym typeface="Calibri"/>
                        </a:rPr>
                        <a:t>Still Sequential (RNN)</a:t>
                      </a:r>
                      <a:endParaRPr sz="950" u="none" cap="none" strike="noStrike">
                        <a:latin typeface="Calibri"/>
                        <a:ea typeface="Calibri"/>
                        <a:cs typeface="Calibri"/>
                        <a:sym typeface="Calibri"/>
                      </a:endParaRPr>
                    </a:p>
                    <a:p>
                      <a:pPr indent="0" lvl="0" marL="191770" marR="156210" rtl="0" algn="l">
                        <a:lnSpc>
                          <a:spcPct val="100000"/>
                        </a:lnSpc>
                        <a:spcBef>
                          <a:spcPts val="0"/>
                        </a:spcBef>
                        <a:spcAft>
                          <a:spcPts val="0"/>
                        </a:spcAft>
                        <a:buNone/>
                      </a:pPr>
                      <a:r>
                        <a:rPr lang="en-US" sz="850" u="none" cap="none" strike="noStrike">
                          <a:solidFill>
                            <a:srgbClr val="536D79"/>
                          </a:solidFill>
                          <a:latin typeface="Calibri"/>
                          <a:ea typeface="Calibri"/>
                          <a:cs typeface="Calibri"/>
                          <a:sym typeface="Calibri"/>
                        </a:rPr>
                        <a:t>The RNN encoder/decoder processed tokens one at a time, no parallelisation across a sequence.</a:t>
                      </a:r>
                      <a:endParaRPr sz="850" u="none" cap="none" strike="noStrike">
                        <a:latin typeface="Calibri"/>
                        <a:ea typeface="Calibri"/>
                        <a:cs typeface="Calibri"/>
                        <a:sym typeface="Calibri"/>
                      </a:endParaRPr>
                    </a:p>
                  </a:txBody>
                  <a:tcPr marT="116850" marB="0" marR="0" marL="0">
                    <a:lnL cap="flat" cmpd="sng" w="57150">
                      <a:solidFill>
                        <a:srgbClr val="E9570B"/>
                      </a:solidFill>
                      <a:prstDash val="solid"/>
                      <a:round/>
                      <a:headEnd len="sm" w="sm" type="none"/>
                      <a:tailEnd len="sm" w="sm" type="none"/>
                    </a:lnL>
                    <a:lnR cap="flat" cmpd="sng" w="12700">
                      <a:solidFill>
                        <a:srgbClr val="FDC9C9"/>
                      </a:solidFill>
                      <a:prstDash val="solid"/>
                      <a:round/>
                      <a:headEnd len="sm" w="sm" type="none"/>
                      <a:tailEnd len="sm" w="sm" type="none"/>
                    </a:lnR>
                    <a:lnT cap="flat" cmpd="sng" w="57150">
                      <a:solidFill>
                        <a:srgbClr val="FDC9C9"/>
                      </a:solidFill>
                      <a:prstDash val="solid"/>
                      <a:round/>
                      <a:headEnd len="sm" w="sm" type="none"/>
                      <a:tailEnd len="sm" w="sm" type="none"/>
                    </a:lnT>
                    <a:lnB cap="flat" cmpd="sng" w="12700">
                      <a:solidFill>
                        <a:srgbClr val="FDC9C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12700">
                      <a:solidFill>
                        <a:srgbClr val="FDC9C9"/>
                      </a:solidFill>
                      <a:prstDash val="solid"/>
                      <a:round/>
                      <a:headEnd len="sm" w="sm" type="none"/>
                      <a:tailEnd len="sm" w="sm" type="none"/>
                    </a:lnL>
                    <a:lnR cap="flat" cmpd="sng" w="57150">
                      <a:solidFill>
                        <a:srgbClr val="E9570B"/>
                      </a:solidFill>
                      <a:prstDash val="solid"/>
                      <a:round/>
                      <a:headEnd len="sm" w="sm" type="none"/>
                      <a:tailEnd len="sm" w="sm" type="none"/>
                    </a:lnR>
                    <a:lnT cap="flat" cmpd="sng" w="57150">
                      <a:solidFill>
                        <a:srgbClr val="FDC9C9"/>
                      </a:solidFill>
                      <a:prstDash val="solid"/>
                      <a:round/>
                      <a:headEnd len="sm" w="sm" type="none"/>
                      <a:tailEnd len="sm" w="sm" type="none"/>
                    </a:lnT>
                  </a:tcPr>
                </a:tc>
                <a:tc>
                  <a:txBody>
                    <a:bodyPr/>
                    <a:lstStyle/>
                    <a:p>
                      <a:pPr indent="0" lvl="0" marL="191770" marR="0" rtl="0" algn="l">
                        <a:lnSpc>
                          <a:spcPct val="100000"/>
                        </a:lnSpc>
                        <a:spcBef>
                          <a:spcPts val="0"/>
                        </a:spcBef>
                        <a:spcAft>
                          <a:spcPts val="0"/>
                        </a:spcAft>
                        <a:buNone/>
                      </a:pPr>
                      <a:r>
                        <a:rPr b="1" lang="en-US" sz="950" u="none" cap="none" strike="noStrike">
                          <a:solidFill>
                            <a:srgbClr val="E9570B"/>
                          </a:solidFill>
                          <a:latin typeface="Calibri"/>
                          <a:ea typeface="Calibri"/>
                          <a:cs typeface="Calibri"/>
                          <a:sym typeface="Calibri"/>
                        </a:rPr>
                        <a:t>02 </a:t>
                      </a:r>
                      <a:r>
                        <a:rPr b="1" lang="en-US" sz="950" u="none" cap="none" strike="noStrike">
                          <a:solidFill>
                            <a:srgbClr val="19192D"/>
                          </a:solidFill>
                          <a:latin typeface="Calibri"/>
                          <a:ea typeface="Calibri"/>
                          <a:cs typeface="Calibri"/>
                          <a:sym typeface="Calibri"/>
                        </a:rPr>
                        <a:t>One-Directional Attention</a:t>
                      </a:r>
                      <a:endParaRPr sz="950" u="none" cap="none" strike="noStrike">
                        <a:latin typeface="Calibri"/>
                        <a:ea typeface="Calibri"/>
                        <a:cs typeface="Calibri"/>
                        <a:sym typeface="Calibri"/>
                      </a:endParaRPr>
                    </a:p>
                    <a:p>
                      <a:pPr indent="0" lvl="0" marL="191770" marR="139065" rtl="0" algn="l">
                        <a:lnSpc>
                          <a:spcPct val="100000"/>
                        </a:lnSpc>
                        <a:spcBef>
                          <a:spcPts val="0"/>
                        </a:spcBef>
                        <a:spcAft>
                          <a:spcPts val="0"/>
                        </a:spcAft>
                        <a:buNone/>
                      </a:pPr>
                      <a:r>
                        <a:rPr lang="en-US" sz="850" u="none" cap="none" strike="noStrike">
                          <a:solidFill>
                            <a:srgbClr val="536D79"/>
                          </a:solidFill>
                          <a:latin typeface="Calibri"/>
                          <a:ea typeface="Calibri"/>
                          <a:cs typeface="Calibri"/>
                          <a:sym typeface="Calibri"/>
                        </a:rPr>
                        <a:t>Attention only ran decoder→encoder. Tokens within the encoder couldn't attend to each other.</a:t>
                      </a:r>
                      <a:endParaRPr sz="850" u="none" cap="none" strike="noStrike">
                        <a:latin typeface="Calibri"/>
                        <a:ea typeface="Calibri"/>
                        <a:cs typeface="Calibri"/>
                        <a:sym typeface="Calibri"/>
                      </a:endParaRPr>
                    </a:p>
                  </a:txBody>
                  <a:tcPr marT="116850" marB="0" marR="0" marL="0">
                    <a:lnL cap="flat" cmpd="sng" w="57150">
                      <a:solidFill>
                        <a:srgbClr val="E9570B"/>
                      </a:solidFill>
                      <a:prstDash val="solid"/>
                      <a:round/>
                      <a:headEnd len="sm" w="sm" type="none"/>
                      <a:tailEnd len="sm" w="sm" type="none"/>
                    </a:lnL>
                    <a:lnR cap="flat" cmpd="sng" w="12700">
                      <a:solidFill>
                        <a:srgbClr val="FDC9C9"/>
                      </a:solidFill>
                      <a:prstDash val="solid"/>
                      <a:round/>
                      <a:headEnd len="sm" w="sm" type="none"/>
                      <a:tailEnd len="sm" w="sm" type="none"/>
                    </a:lnR>
                    <a:lnT cap="flat" cmpd="sng" w="57150">
                      <a:solidFill>
                        <a:srgbClr val="FDC9C9"/>
                      </a:solidFill>
                      <a:prstDash val="solid"/>
                      <a:round/>
                      <a:headEnd len="sm" w="sm" type="none"/>
                      <a:tailEnd len="sm" w="sm" type="none"/>
                    </a:lnT>
                    <a:lnB cap="flat" cmpd="sng" w="12700">
                      <a:solidFill>
                        <a:srgbClr val="FDC9C9"/>
                      </a:solidFill>
                      <a:prstDash val="solid"/>
                      <a:round/>
                      <a:headEnd len="sm" w="sm" type="none"/>
                      <a:tailEnd len="sm" w="sm" type="none"/>
                    </a:lnB>
                  </a:tcPr>
                </a:tc>
              </a:tr>
            </a:tbl>
          </a:graphicData>
        </a:graphic>
      </p:graphicFrame>
      <p:sp>
        <p:nvSpPr>
          <p:cNvPr id="1170" name="Google Shape;1170;p39"/>
          <p:cNvSpPr txBox="1"/>
          <p:nvPr/>
        </p:nvSpPr>
        <p:spPr>
          <a:xfrm>
            <a:off x="5266435" y="1716750"/>
            <a:ext cx="298450" cy="452755"/>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lang="en-US" sz="2800">
                <a:solidFill>
                  <a:srgbClr val="00685B"/>
                </a:solidFill>
                <a:latin typeface="Quattrocento Sans"/>
                <a:ea typeface="Quattrocento Sans"/>
                <a:cs typeface="Quattrocento Sans"/>
                <a:sym typeface="Quattrocento Sans"/>
              </a:rPr>
              <a:t>➜</a:t>
            </a:r>
            <a:endParaRPr sz="2800">
              <a:latin typeface="Quattrocento Sans"/>
              <a:ea typeface="Quattrocento Sans"/>
              <a:cs typeface="Quattrocento Sans"/>
              <a:sym typeface="Quattrocento Sans"/>
            </a:endParaRPr>
          </a:p>
        </p:txBody>
      </p:sp>
      <p:sp>
        <p:nvSpPr>
          <p:cNvPr id="1171" name="Google Shape;1171;p39"/>
          <p:cNvSpPr/>
          <p:nvPr/>
        </p:nvSpPr>
        <p:spPr>
          <a:xfrm>
            <a:off x="5687275" y="1170357"/>
            <a:ext cx="1463040" cy="932815"/>
          </a:xfrm>
          <a:custGeom>
            <a:rect b="b" l="l" r="r" t="t"/>
            <a:pathLst>
              <a:path extrusionOk="0" h="932814" w="1463040">
                <a:moveTo>
                  <a:pt x="1462684" y="0"/>
                </a:moveTo>
                <a:lnTo>
                  <a:pt x="0" y="0"/>
                </a:lnTo>
                <a:lnTo>
                  <a:pt x="0" y="932408"/>
                </a:lnTo>
                <a:lnTo>
                  <a:pt x="731519" y="932408"/>
                </a:lnTo>
                <a:lnTo>
                  <a:pt x="1462684" y="932408"/>
                </a:lnTo>
                <a:lnTo>
                  <a:pt x="1462684" y="0"/>
                </a:lnTo>
                <a:close/>
              </a:path>
            </a:pathLst>
          </a:custGeom>
          <a:solidFill>
            <a:srgbClr val="EFFCF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72" name="Google Shape;1172;p39"/>
          <p:cNvSpPr/>
          <p:nvPr/>
        </p:nvSpPr>
        <p:spPr>
          <a:xfrm>
            <a:off x="7223404" y="1170357"/>
            <a:ext cx="1463040" cy="932815"/>
          </a:xfrm>
          <a:custGeom>
            <a:rect b="b" l="l" r="r" t="t"/>
            <a:pathLst>
              <a:path extrusionOk="0" h="932814" w="1463040">
                <a:moveTo>
                  <a:pt x="1462671" y="0"/>
                </a:moveTo>
                <a:lnTo>
                  <a:pt x="0" y="0"/>
                </a:lnTo>
                <a:lnTo>
                  <a:pt x="0" y="932408"/>
                </a:lnTo>
                <a:lnTo>
                  <a:pt x="731519" y="932408"/>
                </a:lnTo>
                <a:lnTo>
                  <a:pt x="1462671" y="932408"/>
                </a:lnTo>
                <a:lnTo>
                  <a:pt x="1462671" y="0"/>
                </a:lnTo>
                <a:close/>
              </a:path>
            </a:pathLst>
          </a:custGeom>
          <a:solidFill>
            <a:srgbClr val="EFFCF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aphicFrame>
        <p:nvGraphicFramePr>
          <p:cNvPr id="1173" name="Google Shape;1173;p39"/>
          <p:cNvGraphicFramePr/>
          <p:nvPr/>
        </p:nvGraphicFramePr>
        <p:xfrm>
          <a:off x="5680976" y="1134181"/>
          <a:ext cx="3000000" cy="3000000"/>
        </p:xfrm>
        <a:graphic>
          <a:graphicData uri="http://schemas.openxmlformats.org/drawingml/2006/table">
            <a:tbl>
              <a:tblPr bandRow="1" firstRow="1">
                <a:noFill/>
                <a:tableStyleId>{17F75444-8990-4049-B4A0-D4880F097619}</a:tableStyleId>
              </a:tblPr>
              <a:tblGrid>
                <a:gridCol w="1444625"/>
                <a:gridCol w="91450"/>
                <a:gridCol w="1444000"/>
              </a:tblGrid>
              <a:tr h="290825">
                <a:tc>
                  <a:txBody>
                    <a:bodyPr/>
                    <a:lstStyle/>
                    <a:p>
                      <a:pPr indent="0" lvl="0" marL="192405" marR="0" rtl="0" algn="l">
                        <a:lnSpc>
                          <a:spcPct val="113076"/>
                        </a:lnSpc>
                        <a:spcBef>
                          <a:spcPts val="0"/>
                        </a:spcBef>
                        <a:spcAft>
                          <a:spcPts val="0"/>
                        </a:spcAft>
                        <a:buNone/>
                      </a:pPr>
                      <a:r>
                        <a:rPr lang="en-US" sz="1300" u="none" cap="none" strike="noStrike">
                          <a:solidFill>
                            <a:srgbClr val="00685B"/>
                          </a:solidFill>
                          <a:latin typeface="Arial"/>
                          <a:ea typeface="Arial"/>
                          <a:cs typeface="Arial"/>
                          <a:sym typeface="Arial"/>
                        </a:rPr>
                        <a:t>⚡ </a:t>
                      </a:r>
                      <a:r>
                        <a:rPr b="1" lang="en-US" sz="950" u="none" cap="none" strike="noStrike">
                          <a:solidFill>
                            <a:srgbClr val="19192D"/>
                          </a:solidFill>
                          <a:latin typeface="Calibri"/>
                          <a:ea typeface="Calibri"/>
                          <a:cs typeface="Calibri"/>
                          <a:sym typeface="Calibri"/>
                        </a:rPr>
                        <a:t>Full Parallelism</a:t>
                      </a:r>
                      <a:endParaRPr sz="950" u="none" cap="none" strike="noStrike">
                        <a:latin typeface="Calibri"/>
                        <a:ea typeface="Calibri"/>
                        <a:cs typeface="Calibri"/>
                        <a:sym typeface="Calibri"/>
                      </a:endParaRPr>
                    </a:p>
                  </a:txBody>
                  <a:tcPr marT="91450" marB="0" marR="0" marL="0">
                    <a:lnL cap="flat" cmpd="sng" w="57150">
                      <a:solidFill>
                        <a:srgbClr val="00685B"/>
                      </a:solidFill>
                      <a:prstDash val="solid"/>
                      <a:round/>
                      <a:headEnd len="sm" w="sm" type="none"/>
                      <a:tailEnd len="sm" w="sm" type="none"/>
                    </a:lnL>
                    <a:lnR cap="flat" cmpd="sng" w="12700">
                      <a:solidFill>
                        <a:srgbClr val="99F5E3"/>
                      </a:solidFill>
                      <a:prstDash val="solid"/>
                      <a:round/>
                      <a:headEnd len="sm" w="sm" type="none"/>
                      <a:tailEnd len="sm" w="sm" type="none"/>
                    </a:lnR>
                    <a:lnT cap="flat" cmpd="sng" w="57150">
                      <a:solidFill>
                        <a:srgbClr val="99F5E3"/>
                      </a:solidFill>
                      <a:prstDash val="solid"/>
                      <a:round/>
                      <a:headEnd len="sm" w="sm" type="none"/>
                      <a:tailEnd len="sm" w="sm" type="none"/>
                    </a:lnT>
                  </a:tcPr>
                </a:tc>
                <a:tc rowSpan="4">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12700">
                      <a:solidFill>
                        <a:srgbClr val="99F5E3"/>
                      </a:solidFill>
                      <a:prstDash val="solid"/>
                      <a:round/>
                      <a:headEnd len="sm" w="sm" type="none"/>
                      <a:tailEnd len="sm" w="sm" type="none"/>
                    </a:lnL>
                    <a:lnR cap="flat" cmpd="sng" w="57150">
                      <a:solidFill>
                        <a:srgbClr val="00685B"/>
                      </a:solidFill>
                      <a:prstDash val="solid"/>
                      <a:round/>
                      <a:headEnd len="sm" w="sm" type="none"/>
                      <a:tailEnd len="sm" w="sm" type="none"/>
                    </a:lnR>
                    <a:lnT cap="flat" cmpd="sng" w="57150">
                      <a:solidFill>
                        <a:srgbClr val="99F5E3"/>
                      </a:solidFill>
                      <a:prstDash val="solid"/>
                      <a:round/>
                      <a:headEnd len="sm" w="sm" type="none"/>
                      <a:tailEnd len="sm" w="sm" type="none"/>
                    </a:lnT>
                  </a:tcPr>
                </a:tc>
                <a:tc>
                  <a:txBody>
                    <a:bodyPr/>
                    <a:lstStyle/>
                    <a:p>
                      <a:pPr indent="0" lvl="0" marL="192405" marR="0" rtl="0" algn="l">
                        <a:lnSpc>
                          <a:spcPct val="115454"/>
                        </a:lnSpc>
                        <a:spcBef>
                          <a:spcPts val="0"/>
                        </a:spcBef>
                        <a:spcAft>
                          <a:spcPts val="0"/>
                        </a:spcAft>
                        <a:buNone/>
                      </a:pPr>
                      <a:r>
                        <a:rPr b="1" lang="en-US" sz="1100" u="none" cap="none" strike="noStrike">
                          <a:solidFill>
                            <a:srgbClr val="00685B"/>
                          </a:solidFill>
                          <a:latin typeface="Calibri"/>
                          <a:ea typeface="Calibri"/>
                          <a:cs typeface="Calibri"/>
                          <a:sym typeface="Calibri"/>
                        </a:rPr>
                        <a:t>* </a:t>
                      </a:r>
                      <a:r>
                        <a:rPr b="1" lang="en-US" sz="950" u="none" cap="none" strike="noStrike">
                          <a:solidFill>
                            <a:srgbClr val="19192D"/>
                          </a:solidFill>
                          <a:latin typeface="Calibri"/>
                          <a:ea typeface="Calibri"/>
                          <a:cs typeface="Calibri"/>
                          <a:sym typeface="Calibri"/>
                        </a:rPr>
                        <a:t>Self-Attention</a:t>
                      </a:r>
                      <a:endParaRPr sz="950" u="none" cap="none" strike="noStrike">
                        <a:latin typeface="Calibri"/>
                        <a:ea typeface="Calibri"/>
                        <a:cs typeface="Calibri"/>
                        <a:sym typeface="Calibri"/>
                      </a:endParaRPr>
                    </a:p>
                  </a:txBody>
                  <a:tcPr marT="116850" marB="0" marR="0" marL="0">
                    <a:lnL cap="flat" cmpd="sng" w="57150">
                      <a:solidFill>
                        <a:srgbClr val="00685B"/>
                      </a:solidFill>
                      <a:prstDash val="solid"/>
                      <a:round/>
                      <a:headEnd len="sm" w="sm" type="none"/>
                      <a:tailEnd len="sm" w="sm" type="none"/>
                    </a:lnL>
                    <a:lnR cap="flat" cmpd="sng" w="12700">
                      <a:solidFill>
                        <a:srgbClr val="99F5E3"/>
                      </a:solidFill>
                      <a:prstDash val="solid"/>
                      <a:round/>
                      <a:headEnd len="sm" w="sm" type="none"/>
                      <a:tailEnd len="sm" w="sm" type="none"/>
                    </a:lnR>
                    <a:lnT cap="flat" cmpd="sng" w="57150">
                      <a:solidFill>
                        <a:srgbClr val="99F5E3"/>
                      </a:solidFill>
                      <a:prstDash val="solid"/>
                      <a:round/>
                      <a:headEnd len="sm" w="sm" type="none"/>
                      <a:tailEnd len="sm" w="sm" type="none"/>
                    </a:lnT>
                  </a:tcPr>
                </a:tc>
              </a:tr>
              <a:tr h="129550">
                <a:tc>
                  <a:txBody>
                    <a:bodyPr/>
                    <a:lstStyle/>
                    <a:p>
                      <a:pPr indent="0" lvl="0" marL="192405" marR="0" rtl="0" algn="l">
                        <a:lnSpc>
                          <a:spcPct val="108117"/>
                        </a:lnSpc>
                        <a:spcBef>
                          <a:spcPts val="0"/>
                        </a:spcBef>
                        <a:spcAft>
                          <a:spcPts val="0"/>
                        </a:spcAft>
                        <a:buNone/>
                      </a:pPr>
                      <a:r>
                        <a:rPr lang="en-US" sz="850" u="none" cap="none" strike="noStrike">
                          <a:solidFill>
                            <a:srgbClr val="536D79"/>
                          </a:solidFill>
                          <a:latin typeface="Calibri"/>
                          <a:ea typeface="Calibri"/>
                          <a:cs typeface="Calibri"/>
                          <a:sym typeface="Calibri"/>
                        </a:rPr>
                        <a:t>RNNs removed entirely,</a:t>
                      </a:r>
                      <a:endParaRPr sz="850" u="none" cap="none" strike="noStrike">
                        <a:latin typeface="Calibri"/>
                        <a:ea typeface="Calibri"/>
                        <a:cs typeface="Calibri"/>
                        <a:sym typeface="Calibri"/>
                      </a:endParaRPr>
                    </a:p>
                  </a:txBody>
                  <a:tcPr marT="0" marB="0" marR="0" marL="0">
                    <a:lnL cap="flat" cmpd="sng" w="57150">
                      <a:solidFill>
                        <a:srgbClr val="00685B"/>
                      </a:solidFill>
                      <a:prstDash val="solid"/>
                      <a:round/>
                      <a:headEnd len="sm" w="sm" type="none"/>
                      <a:tailEnd len="sm" w="sm" type="none"/>
                    </a:lnL>
                    <a:lnR cap="flat" cmpd="sng" w="12700">
                      <a:solidFill>
                        <a:srgbClr val="99F5E3"/>
                      </a:solidFill>
                      <a:prstDash val="solid"/>
                      <a:round/>
                      <a:headEnd len="sm" w="sm" type="none"/>
                      <a:tailEnd len="sm" w="sm" type="none"/>
                    </a:lnR>
                  </a:tcPr>
                </a:tc>
                <a:tc vMerge="1"/>
                <a:tc>
                  <a:txBody>
                    <a:bodyPr/>
                    <a:lstStyle/>
                    <a:p>
                      <a:pPr indent="0" lvl="0" marL="192405" marR="0" rtl="0" algn="l">
                        <a:lnSpc>
                          <a:spcPct val="108117"/>
                        </a:lnSpc>
                        <a:spcBef>
                          <a:spcPts val="0"/>
                        </a:spcBef>
                        <a:spcAft>
                          <a:spcPts val="0"/>
                        </a:spcAft>
                        <a:buNone/>
                      </a:pPr>
                      <a:r>
                        <a:rPr lang="en-US" sz="850" u="none" cap="none" strike="noStrike">
                          <a:solidFill>
                            <a:srgbClr val="536D79"/>
                          </a:solidFill>
                          <a:latin typeface="Calibri"/>
                          <a:ea typeface="Calibri"/>
                          <a:cs typeface="Calibri"/>
                          <a:sym typeface="Calibri"/>
                        </a:rPr>
                        <a:t>Every token attends to</a:t>
                      </a:r>
                      <a:endParaRPr sz="850" u="none" cap="none" strike="noStrike">
                        <a:latin typeface="Calibri"/>
                        <a:ea typeface="Calibri"/>
                        <a:cs typeface="Calibri"/>
                        <a:sym typeface="Calibri"/>
                      </a:endParaRPr>
                    </a:p>
                  </a:txBody>
                  <a:tcPr marT="0" marB="0" marR="0" marL="0">
                    <a:lnL cap="flat" cmpd="sng" w="57150">
                      <a:solidFill>
                        <a:srgbClr val="00685B"/>
                      </a:solidFill>
                      <a:prstDash val="solid"/>
                      <a:round/>
                      <a:headEnd len="sm" w="sm" type="none"/>
                      <a:tailEnd len="sm" w="sm" type="none"/>
                    </a:lnL>
                    <a:lnR cap="flat" cmpd="sng" w="12700">
                      <a:solidFill>
                        <a:srgbClr val="99F5E3"/>
                      </a:solidFill>
                      <a:prstDash val="solid"/>
                      <a:round/>
                      <a:headEnd len="sm" w="sm" type="none"/>
                      <a:tailEnd len="sm" w="sm" type="none"/>
                    </a:lnR>
                  </a:tcPr>
                </a:tc>
              </a:tr>
              <a:tr h="129550">
                <a:tc>
                  <a:txBody>
                    <a:bodyPr/>
                    <a:lstStyle/>
                    <a:p>
                      <a:pPr indent="0" lvl="0" marL="192405" marR="0" rtl="0" algn="l">
                        <a:lnSpc>
                          <a:spcPct val="108117"/>
                        </a:lnSpc>
                        <a:spcBef>
                          <a:spcPts val="0"/>
                        </a:spcBef>
                        <a:spcAft>
                          <a:spcPts val="0"/>
                        </a:spcAft>
                        <a:buNone/>
                      </a:pPr>
                      <a:r>
                        <a:rPr lang="en-US" sz="850" u="none" cap="none" strike="noStrike">
                          <a:solidFill>
                            <a:srgbClr val="536D79"/>
                          </a:solidFill>
                          <a:latin typeface="Calibri"/>
                          <a:ea typeface="Calibri"/>
                          <a:cs typeface="Calibri"/>
                          <a:sym typeface="Calibri"/>
                        </a:rPr>
                        <a:t>all tokens processed</a:t>
                      </a:r>
                      <a:endParaRPr sz="850" u="none" cap="none" strike="noStrike">
                        <a:latin typeface="Calibri"/>
                        <a:ea typeface="Calibri"/>
                        <a:cs typeface="Calibri"/>
                        <a:sym typeface="Calibri"/>
                      </a:endParaRPr>
                    </a:p>
                  </a:txBody>
                  <a:tcPr marT="0" marB="0" marR="0" marL="0">
                    <a:lnL cap="flat" cmpd="sng" w="57150">
                      <a:solidFill>
                        <a:srgbClr val="00685B"/>
                      </a:solidFill>
                      <a:prstDash val="solid"/>
                      <a:round/>
                      <a:headEnd len="sm" w="sm" type="none"/>
                      <a:tailEnd len="sm" w="sm" type="none"/>
                    </a:lnL>
                    <a:lnR cap="flat" cmpd="sng" w="12700">
                      <a:solidFill>
                        <a:srgbClr val="99F5E3"/>
                      </a:solidFill>
                      <a:prstDash val="solid"/>
                      <a:round/>
                      <a:headEnd len="sm" w="sm" type="none"/>
                      <a:tailEnd len="sm" w="sm" type="none"/>
                    </a:lnR>
                  </a:tcPr>
                </a:tc>
                <a:tc vMerge="1"/>
                <a:tc>
                  <a:txBody>
                    <a:bodyPr/>
                    <a:lstStyle/>
                    <a:p>
                      <a:pPr indent="0" lvl="0" marL="192405" marR="0" rtl="0" algn="l">
                        <a:lnSpc>
                          <a:spcPct val="108117"/>
                        </a:lnSpc>
                        <a:spcBef>
                          <a:spcPts val="0"/>
                        </a:spcBef>
                        <a:spcAft>
                          <a:spcPts val="0"/>
                        </a:spcAft>
                        <a:buNone/>
                      </a:pPr>
                      <a:r>
                        <a:rPr lang="en-US" sz="850" u="none" cap="none" strike="noStrike">
                          <a:solidFill>
                            <a:srgbClr val="536D79"/>
                          </a:solidFill>
                          <a:latin typeface="Calibri"/>
                          <a:ea typeface="Calibri"/>
                          <a:cs typeface="Calibri"/>
                          <a:sym typeface="Calibri"/>
                        </a:rPr>
                        <a:t>every other token in the</a:t>
                      </a:r>
                      <a:endParaRPr sz="850" u="none" cap="none" strike="noStrike">
                        <a:latin typeface="Calibri"/>
                        <a:ea typeface="Calibri"/>
                        <a:cs typeface="Calibri"/>
                        <a:sym typeface="Calibri"/>
                      </a:endParaRPr>
                    </a:p>
                  </a:txBody>
                  <a:tcPr marT="0" marB="0" marR="0" marL="0">
                    <a:lnL cap="flat" cmpd="sng" w="57150">
                      <a:solidFill>
                        <a:srgbClr val="00685B"/>
                      </a:solidFill>
                      <a:prstDash val="solid"/>
                      <a:round/>
                      <a:headEnd len="sm" w="sm" type="none"/>
                      <a:tailEnd len="sm" w="sm" type="none"/>
                    </a:lnL>
                    <a:lnR cap="flat" cmpd="sng" w="12700">
                      <a:solidFill>
                        <a:srgbClr val="99F5E3"/>
                      </a:solidFill>
                      <a:prstDash val="solid"/>
                      <a:round/>
                      <a:headEnd len="sm" w="sm" type="none"/>
                      <a:tailEnd len="sm" w="sm" type="none"/>
                    </a:lnR>
                  </a:tcPr>
                </a:tc>
              </a:tr>
              <a:tr h="398150">
                <a:tc>
                  <a:txBody>
                    <a:bodyPr/>
                    <a:lstStyle/>
                    <a:p>
                      <a:pPr indent="0" lvl="0" marL="192405" marR="0" rtl="0" algn="l">
                        <a:lnSpc>
                          <a:spcPct val="114000"/>
                        </a:lnSpc>
                        <a:spcBef>
                          <a:spcPts val="0"/>
                        </a:spcBef>
                        <a:spcAft>
                          <a:spcPts val="0"/>
                        </a:spcAft>
                        <a:buNone/>
                      </a:pPr>
                      <a:r>
                        <a:rPr lang="en-US" sz="850" u="none" cap="none" strike="noStrike">
                          <a:solidFill>
                            <a:srgbClr val="536D79"/>
                          </a:solidFill>
                          <a:latin typeface="Calibri"/>
                          <a:ea typeface="Calibri"/>
                          <a:cs typeface="Calibri"/>
                          <a:sym typeface="Calibri"/>
                        </a:rPr>
                        <a:t>simultaneously.</a:t>
                      </a:r>
                      <a:endParaRPr sz="850" u="none" cap="none" strike="noStrike">
                        <a:latin typeface="Calibri"/>
                        <a:ea typeface="Calibri"/>
                        <a:cs typeface="Calibri"/>
                        <a:sym typeface="Calibri"/>
                      </a:endParaRPr>
                    </a:p>
                  </a:txBody>
                  <a:tcPr marT="0" marB="0" marR="0" marL="0">
                    <a:lnL cap="flat" cmpd="sng" w="57150">
                      <a:solidFill>
                        <a:srgbClr val="00685B"/>
                      </a:solidFill>
                      <a:prstDash val="solid"/>
                      <a:round/>
                      <a:headEnd len="sm" w="sm" type="none"/>
                      <a:tailEnd len="sm" w="sm" type="none"/>
                    </a:lnL>
                    <a:lnR cap="flat" cmpd="sng" w="12700">
                      <a:solidFill>
                        <a:srgbClr val="99F5E3"/>
                      </a:solidFill>
                      <a:prstDash val="solid"/>
                      <a:round/>
                      <a:headEnd len="sm" w="sm" type="none"/>
                      <a:tailEnd len="sm" w="sm" type="none"/>
                    </a:lnR>
                    <a:lnB cap="flat" cmpd="sng" w="12700">
                      <a:solidFill>
                        <a:srgbClr val="99F5E3"/>
                      </a:solidFill>
                      <a:prstDash val="solid"/>
                      <a:round/>
                      <a:headEnd len="sm" w="sm" type="none"/>
                      <a:tailEnd len="sm" w="sm" type="none"/>
                    </a:lnB>
                  </a:tcPr>
                </a:tc>
                <a:tc vMerge="1"/>
                <a:tc>
                  <a:txBody>
                    <a:bodyPr/>
                    <a:lstStyle/>
                    <a:p>
                      <a:pPr indent="0" lvl="0" marL="192405" marR="0" rtl="0" algn="l">
                        <a:lnSpc>
                          <a:spcPct val="114000"/>
                        </a:lnSpc>
                        <a:spcBef>
                          <a:spcPts val="0"/>
                        </a:spcBef>
                        <a:spcAft>
                          <a:spcPts val="0"/>
                        </a:spcAft>
                        <a:buNone/>
                      </a:pPr>
                      <a:r>
                        <a:rPr lang="en-US" sz="850" u="none" cap="none" strike="noStrike">
                          <a:solidFill>
                            <a:srgbClr val="536D79"/>
                          </a:solidFill>
                          <a:latin typeface="Calibri"/>
                          <a:ea typeface="Calibri"/>
                          <a:cs typeface="Calibri"/>
                          <a:sym typeface="Calibri"/>
                        </a:rPr>
                        <a:t>same sequence,</a:t>
                      </a:r>
                      <a:endParaRPr sz="850" u="none" cap="none" strike="noStrike">
                        <a:latin typeface="Calibri"/>
                        <a:ea typeface="Calibri"/>
                        <a:cs typeface="Calibri"/>
                        <a:sym typeface="Calibri"/>
                      </a:endParaRPr>
                    </a:p>
                    <a:p>
                      <a:pPr indent="0" lvl="0" marL="192405" marR="0" rtl="0" algn="l">
                        <a:lnSpc>
                          <a:spcPct val="100000"/>
                        </a:lnSpc>
                        <a:spcBef>
                          <a:spcPts val="0"/>
                        </a:spcBef>
                        <a:spcAft>
                          <a:spcPts val="0"/>
                        </a:spcAft>
                        <a:buNone/>
                      </a:pPr>
                      <a:r>
                        <a:rPr lang="en-US" sz="850" u="none" cap="none" strike="noStrike">
                          <a:solidFill>
                            <a:srgbClr val="536D79"/>
                          </a:solidFill>
                          <a:latin typeface="Calibri"/>
                          <a:ea typeface="Calibri"/>
                          <a:cs typeface="Calibri"/>
                          <a:sym typeface="Calibri"/>
                        </a:rPr>
                        <a:t>bidirectionally.</a:t>
                      </a:r>
                      <a:endParaRPr sz="850" u="none" cap="none" strike="noStrike">
                        <a:latin typeface="Calibri"/>
                        <a:ea typeface="Calibri"/>
                        <a:cs typeface="Calibri"/>
                        <a:sym typeface="Calibri"/>
                      </a:endParaRPr>
                    </a:p>
                  </a:txBody>
                  <a:tcPr marT="0" marB="0" marR="0" marL="0">
                    <a:lnL cap="flat" cmpd="sng" w="57150">
                      <a:solidFill>
                        <a:srgbClr val="00685B"/>
                      </a:solidFill>
                      <a:prstDash val="solid"/>
                      <a:round/>
                      <a:headEnd len="sm" w="sm" type="none"/>
                      <a:tailEnd len="sm" w="sm" type="none"/>
                    </a:lnL>
                    <a:lnR cap="flat" cmpd="sng" w="12700">
                      <a:solidFill>
                        <a:srgbClr val="99F5E3"/>
                      </a:solidFill>
                      <a:prstDash val="solid"/>
                      <a:round/>
                      <a:headEnd len="sm" w="sm" type="none"/>
                      <a:tailEnd len="sm" w="sm" type="none"/>
                    </a:lnR>
                    <a:lnB cap="flat" cmpd="sng" w="12700">
                      <a:solidFill>
                        <a:srgbClr val="99F5E3"/>
                      </a:solidFill>
                      <a:prstDash val="solid"/>
                      <a:round/>
                      <a:headEnd len="sm" w="sm" type="none"/>
                      <a:tailEnd len="sm" w="sm" type="none"/>
                    </a:lnB>
                  </a:tcPr>
                </a:tc>
              </a:tr>
            </a:tbl>
          </a:graphicData>
        </a:graphic>
      </p:graphicFrame>
      <p:grpSp>
        <p:nvGrpSpPr>
          <p:cNvPr id="1174" name="Google Shape;1174;p39"/>
          <p:cNvGrpSpPr/>
          <p:nvPr/>
        </p:nvGrpSpPr>
        <p:grpSpPr>
          <a:xfrm>
            <a:off x="319684" y="2194562"/>
            <a:ext cx="2332076" cy="932815"/>
            <a:chOff x="319684" y="2194562"/>
            <a:chExt cx="2332076" cy="932815"/>
          </a:xfrm>
        </p:grpSpPr>
        <p:sp>
          <p:nvSpPr>
            <p:cNvPr id="1175" name="Google Shape;1175;p39"/>
            <p:cNvSpPr/>
            <p:nvPr/>
          </p:nvSpPr>
          <p:spPr>
            <a:xfrm>
              <a:off x="320040" y="2194562"/>
              <a:ext cx="2331720" cy="932815"/>
            </a:xfrm>
            <a:custGeom>
              <a:rect b="b" l="l" r="r" t="t"/>
              <a:pathLst>
                <a:path extrusionOk="0" h="932814" w="2331720">
                  <a:moveTo>
                    <a:pt x="2331364" y="0"/>
                  </a:moveTo>
                  <a:lnTo>
                    <a:pt x="0" y="0"/>
                  </a:lnTo>
                  <a:lnTo>
                    <a:pt x="0" y="932395"/>
                  </a:lnTo>
                  <a:lnTo>
                    <a:pt x="1165682" y="932395"/>
                  </a:lnTo>
                  <a:lnTo>
                    <a:pt x="2331364" y="932395"/>
                  </a:lnTo>
                  <a:lnTo>
                    <a:pt x="2331364" y="0"/>
                  </a:lnTo>
                  <a:close/>
                </a:path>
              </a:pathLst>
            </a:custGeom>
            <a:solidFill>
              <a:srgbClr val="FFF6E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76" name="Google Shape;1176;p39"/>
            <p:cNvSpPr/>
            <p:nvPr/>
          </p:nvSpPr>
          <p:spPr>
            <a:xfrm>
              <a:off x="320040" y="2194562"/>
              <a:ext cx="2331720" cy="932815"/>
            </a:xfrm>
            <a:custGeom>
              <a:rect b="b" l="l" r="r" t="t"/>
              <a:pathLst>
                <a:path extrusionOk="0" h="932814" w="2331720">
                  <a:moveTo>
                    <a:pt x="1165682" y="932395"/>
                  </a:moveTo>
                  <a:lnTo>
                    <a:pt x="0" y="932395"/>
                  </a:lnTo>
                  <a:lnTo>
                    <a:pt x="0" y="0"/>
                  </a:lnTo>
                  <a:lnTo>
                    <a:pt x="2331364" y="0"/>
                  </a:lnTo>
                  <a:lnTo>
                    <a:pt x="2331364" y="932395"/>
                  </a:lnTo>
                  <a:lnTo>
                    <a:pt x="1165682" y="932395"/>
                  </a:lnTo>
                  <a:close/>
                </a:path>
              </a:pathLst>
            </a:custGeom>
            <a:noFill/>
            <a:ln cap="flat" cmpd="sng" w="12575">
              <a:solidFill>
                <a:srgbClr val="FDC9C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77" name="Google Shape;1177;p39"/>
            <p:cNvSpPr/>
            <p:nvPr/>
          </p:nvSpPr>
          <p:spPr>
            <a:xfrm>
              <a:off x="319684" y="2194562"/>
              <a:ext cx="36830" cy="932815"/>
            </a:xfrm>
            <a:custGeom>
              <a:rect b="b" l="l" r="r" t="t"/>
              <a:pathLst>
                <a:path extrusionOk="0" h="932814" w="36829">
                  <a:moveTo>
                    <a:pt x="36360" y="0"/>
                  </a:moveTo>
                  <a:lnTo>
                    <a:pt x="0" y="0"/>
                  </a:lnTo>
                  <a:lnTo>
                    <a:pt x="0" y="932395"/>
                  </a:lnTo>
                  <a:lnTo>
                    <a:pt x="18351" y="932395"/>
                  </a:lnTo>
                  <a:lnTo>
                    <a:pt x="36360" y="932395"/>
                  </a:lnTo>
                  <a:lnTo>
                    <a:pt x="36360" y="0"/>
                  </a:lnTo>
                  <a:close/>
                </a:path>
              </a:pathLst>
            </a:custGeom>
            <a:solidFill>
              <a:srgbClr val="E9570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78" name="Google Shape;1178;p39"/>
            <p:cNvSpPr/>
            <p:nvPr/>
          </p:nvSpPr>
          <p:spPr>
            <a:xfrm>
              <a:off x="319684" y="2194562"/>
              <a:ext cx="36830" cy="932815"/>
            </a:xfrm>
            <a:custGeom>
              <a:rect b="b" l="l" r="r" t="t"/>
              <a:pathLst>
                <a:path extrusionOk="0" h="932814" w="36829">
                  <a:moveTo>
                    <a:pt x="18351" y="932395"/>
                  </a:moveTo>
                  <a:lnTo>
                    <a:pt x="0" y="932395"/>
                  </a:lnTo>
                  <a:lnTo>
                    <a:pt x="0" y="0"/>
                  </a:lnTo>
                  <a:lnTo>
                    <a:pt x="36360" y="0"/>
                  </a:lnTo>
                  <a:lnTo>
                    <a:pt x="36360" y="932395"/>
                  </a:lnTo>
                  <a:lnTo>
                    <a:pt x="18351" y="932395"/>
                  </a:lnTo>
                  <a:close/>
                </a:path>
              </a:pathLst>
            </a:custGeom>
            <a:noFill/>
            <a:ln cap="flat" cmpd="sng" w="12575">
              <a:solidFill>
                <a:srgbClr val="E9570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179" name="Google Shape;1179;p39"/>
          <p:cNvSpPr txBox="1"/>
          <p:nvPr/>
        </p:nvSpPr>
        <p:spPr>
          <a:xfrm>
            <a:off x="362344" y="2282306"/>
            <a:ext cx="2282825" cy="559435"/>
          </a:xfrm>
          <a:prstGeom prst="rect">
            <a:avLst/>
          </a:prstGeom>
          <a:noFill/>
          <a:ln>
            <a:noFill/>
          </a:ln>
        </p:spPr>
        <p:txBody>
          <a:bodyPr anchorCtr="0" anchor="t" bIns="0" lIns="0" spcFirstLastPara="1" rIns="0" wrap="square" tIns="12700">
            <a:spAutoFit/>
          </a:bodyPr>
          <a:lstStyle/>
          <a:p>
            <a:pPr indent="0" lvl="0" marL="167005" marR="424815" rtl="0" algn="l">
              <a:lnSpc>
                <a:spcPct val="100000"/>
              </a:lnSpc>
              <a:spcBef>
                <a:spcPts val="0"/>
              </a:spcBef>
              <a:spcAft>
                <a:spcPts val="0"/>
              </a:spcAft>
              <a:buNone/>
            </a:pPr>
            <a:r>
              <a:rPr b="1" lang="en-US" sz="950">
                <a:solidFill>
                  <a:srgbClr val="E9570B"/>
                </a:solidFill>
                <a:latin typeface="Calibri"/>
                <a:ea typeface="Calibri"/>
                <a:cs typeface="Calibri"/>
                <a:sym typeface="Calibri"/>
              </a:rPr>
              <a:t>03 </a:t>
            </a:r>
            <a:r>
              <a:rPr b="1" lang="en-US" sz="950">
                <a:solidFill>
                  <a:srgbClr val="19192D"/>
                </a:solidFill>
                <a:latin typeface="Calibri"/>
                <a:ea typeface="Calibri"/>
                <a:cs typeface="Calibri"/>
                <a:sym typeface="Calibri"/>
              </a:rPr>
              <a:t>Weak Long-Range in Encoder </a:t>
            </a:r>
            <a:r>
              <a:rPr lang="en-US" sz="850">
                <a:solidFill>
                  <a:srgbClr val="536D79"/>
                </a:solidFill>
                <a:latin typeface="Calibri"/>
                <a:ea typeface="Calibri"/>
                <a:cs typeface="Calibri"/>
                <a:sym typeface="Calibri"/>
              </a:rPr>
              <a:t>Encoder states were still shaped by sequential RNN steps, early tokens got diluted before being attended to.</a:t>
            </a:r>
            <a:endParaRPr sz="850">
              <a:latin typeface="Calibri"/>
              <a:ea typeface="Calibri"/>
              <a:cs typeface="Calibri"/>
              <a:sym typeface="Calibri"/>
            </a:endParaRPr>
          </a:p>
        </p:txBody>
      </p:sp>
      <p:grpSp>
        <p:nvGrpSpPr>
          <p:cNvPr id="1180" name="Google Shape;1180;p39"/>
          <p:cNvGrpSpPr/>
          <p:nvPr/>
        </p:nvGrpSpPr>
        <p:grpSpPr>
          <a:xfrm>
            <a:off x="2724480" y="2194562"/>
            <a:ext cx="2332075" cy="932815"/>
            <a:chOff x="2724480" y="2194562"/>
            <a:chExt cx="2332075" cy="932815"/>
          </a:xfrm>
        </p:grpSpPr>
        <p:sp>
          <p:nvSpPr>
            <p:cNvPr id="1181" name="Google Shape;1181;p39"/>
            <p:cNvSpPr/>
            <p:nvPr/>
          </p:nvSpPr>
          <p:spPr>
            <a:xfrm>
              <a:off x="2724835" y="2194562"/>
              <a:ext cx="2331720" cy="932815"/>
            </a:xfrm>
            <a:custGeom>
              <a:rect b="b" l="l" r="r" t="t"/>
              <a:pathLst>
                <a:path extrusionOk="0" h="932814" w="2331720">
                  <a:moveTo>
                    <a:pt x="2331364" y="0"/>
                  </a:moveTo>
                  <a:lnTo>
                    <a:pt x="0" y="0"/>
                  </a:lnTo>
                  <a:lnTo>
                    <a:pt x="0" y="932395"/>
                  </a:lnTo>
                  <a:lnTo>
                    <a:pt x="1165682" y="932395"/>
                  </a:lnTo>
                  <a:lnTo>
                    <a:pt x="2331364" y="932395"/>
                  </a:lnTo>
                  <a:lnTo>
                    <a:pt x="2331364" y="0"/>
                  </a:lnTo>
                  <a:close/>
                </a:path>
              </a:pathLst>
            </a:custGeom>
            <a:solidFill>
              <a:srgbClr val="FFF6E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82" name="Google Shape;1182;p39"/>
            <p:cNvSpPr/>
            <p:nvPr/>
          </p:nvSpPr>
          <p:spPr>
            <a:xfrm>
              <a:off x="2724835" y="2194562"/>
              <a:ext cx="2331720" cy="932815"/>
            </a:xfrm>
            <a:custGeom>
              <a:rect b="b" l="l" r="r" t="t"/>
              <a:pathLst>
                <a:path extrusionOk="0" h="932814" w="2331720">
                  <a:moveTo>
                    <a:pt x="1165682" y="932395"/>
                  </a:moveTo>
                  <a:lnTo>
                    <a:pt x="0" y="932395"/>
                  </a:lnTo>
                  <a:lnTo>
                    <a:pt x="0" y="0"/>
                  </a:lnTo>
                  <a:lnTo>
                    <a:pt x="2331364" y="0"/>
                  </a:lnTo>
                  <a:lnTo>
                    <a:pt x="2331364" y="932395"/>
                  </a:lnTo>
                  <a:lnTo>
                    <a:pt x="1165682" y="932395"/>
                  </a:lnTo>
                  <a:close/>
                </a:path>
              </a:pathLst>
            </a:custGeom>
            <a:noFill/>
            <a:ln cap="flat" cmpd="sng" w="12575">
              <a:solidFill>
                <a:srgbClr val="FDC9C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83" name="Google Shape;1183;p39"/>
            <p:cNvSpPr/>
            <p:nvPr/>
          </p:nvSpPr>
          <p:spPr>
            <a:xfrm>
              <a:off x="2724480" y="2194562"/>
              <a:ext cx="36830" cy="932815"/>
            </a:xfrm>
            <a:custGeom>
              <a:rect b="b" l="l" r="r" t="t"/>
              <a:pathLst>
                <a:path extrusionOk="0" h="932814" w="36830">
                  <a:moveTo>
                    <a:pt x="36360" y="0"/>
                  </a:moveTo>
                  <a:lnTo>
                    <a:pt x="0" y="0"/>
                  </a:lnTo>
                  <a:lnTo>
                    <a:pt x="0" y="932395"/>
                  </a:lnTo>
                  <a:lnTo>
                    <a:pt x="18364" y="932395"/>
                  </a:lnTo>
                  <a:lnTo>
                    <a:pt x="36360" y="932395"/>
                  </a:lnTo>
                  <a:lnTo>
                    <a:pt x="36360" y="0"/>
                  </a:lnTo>
                  <a:close/>
                </a:path>
              </a:pathLst>
            </a:custGeom>
            <a:solidFill>
              <a:srgbClr val="E9570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84" name="Google Shape;1184;p39"/>
            <p:cNvSpPr/>
            <p:nvPr/>
          </p:nvSpPr>
          <p:spPr>
            <a:xfrm>
              <a:off x="2724480" y="2194562"/>
              <a:ext cx="36830" cy="932815"/>
            </a:xfrm>
            <a:custGeom>
              <a:rect b="b" l="l" r="r" t="t"/>
              <a:pathLst>
                <a:path extrusionOk="0" h="932814" w="36830">
                  <a:moveTo>
                    <a:pt x="18364" y="932395"/>
                  </a:moveTo>
                  <a:lnTo>
                    <a:pt x="0" y="932395"/>
                  </a:lnTo>
                  <a:lnTo>
                    <a:pt x="0" y="0"/>
                  </a:lnTo>
                  <a:lnTo>
                    <a:pt x="36360" y="0"/>
                  </a:lnTo>
                  <a:lnTo>
                    <a:pt x="36360" y="932395"/>
                  </a:lnTo>
                  <a:lnTo>
                    <a:pt x="18364" y="932395"/>
                  </a:lnTo>
                  <a:close/>
                </a:path>
              </a:pathLst>
            </a:custGeom>
            <a:noFill/>
            <a:ln cap="flat" cmpd="sng" w="12575">
              <a:solidFill>
                <a:srgbClr val="E9570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185" name="Google Shape;1185;p39"/>
          <p:cNvSpPr txBox="1"/>
          <p:nvPr/>
        </p:nvSpPr>
        <p:spPr>
          <a:xfrm>
            <a:off x="5293436" y="2166380"/>
            <a:ext cx="239395" cy="14732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i="1" lang="en-US" sz="800">
                <a:solidFill>
                  <a:srgbClr val="00685B"/>
                </a:solidFill>
                <a:latin typeface="Calibri"/>
                <a:ea typeface="Calibri"/>
                <a:cs typeface="Calibri"/>
                <a:sym typeface="Calibri"/>
              </a:rPr>
              <a:t>led to</a:t>
            </a:r>
            <a:endParaRPr sz="800">
              <a:latin typeface="Calibri"/>
              <a:ea typeface="Calibri"/>
              <a:cs typeface="Calibri"/>
              <a:sym typeface="Calibri"/>
            </a:endParaRPr>
          </a:p>
        </p:txBody>
      </p:sp>
      <p:sp>
        <p:nvSpPr>
          <p:cNvPr id="1186" name="Google Shape;1186;p39"/>
          <p:cNvSpPr txBox="1"/>
          <p:nvPr/>
        </p:nvSpPr>
        <p:spPr>
          <a:xfrm>
            <a:off x="2767140" y="2282306"/>
            <a:ext cx="2282825" cy="429895"/>
          </a:xfrm>
          <a:prstGeom prst="rect">
            <a:avLst/>
          </a:prstGeom>
          <a:noFill/>
          <a:ln>
            <a:noFill/>
          </a:ln>
        </p:spPr>
        <p:txBody>
          <a:bodyPr anchorCtr="0" anchor="t" bIns="0" lIns="0" spcFirstLastPara="1" rIns="0" wrap="square" tIns="12700">
            <a:spAutoFit/>
          </a:bodyPr>
          <a:lstStyle/>
          <a:p>
            <a:pPr indent="0" lvl="0" marL="167005" rtl="0" algn="l">
              <a:lnSpc>
                <a:spcPct val="100000"/>
              </a:lnSpc>
              <a:spcBef>
                <a:spcPts val="0"/>
              </a:spcBef>
              <a:spcAft>
                <a:spcPts val="0"/>
              </a:spcAft>
              <a:buNone/>
            </a:pPr>
            <a:r>
              <a:rPr b="1" lang="en-US" sz="950">
                <a:solidFill>
                  <a:srgbClr val="E9570B"/>
                </a:solidFill>
                <a:latin typeface="Calibri"/>
                <a:ea typeface="Calibri"/>
                <a:cs typeface="Calibri"/>
                <a:sym typeface="Calibri"/>
              </a:rPr>
              <a:t>04 </a:t>
            </a:r>
            <a:r>
              <a:rPr b="1" lang="en-US" sz="950">
                <a:solidFill>
                  <a:srgbClr val="19192D"/>
                </a:solidFill>
                <a:latin typeface="Calibri"/>
                <a:ea typeface="Calibri"/>
                <a:cs typeface="Calibri"/>
                <a:sym typeface="Calibri"/>
              </a:rPr>
              <a:t>O(n) Information Path</a:t>
            </a:r>
            <a:endParaRPr sz="950">
              <a:latin typeface="Calibri"/>
              <a:ea typeface="Calibri"/>
              <a:cs typeface="Calibri"/>
              <a:sym typeface="Calibri"/>
            </a:endParaRPr>
          </a:p>
          <a:p>
            <a:pPr indent="0" lvl="0" marL="167005" marR="136525" rtl="0" algn="l">
              <a:lnSpc>
                <a:spcPct val="100000"/>
              </a:lnSpc>
              <a:spcBef>
                <a:spcPts val="0"/>
              </a:spcBef>
              <a:spcAft>
                <a:spcPts val="0"/>
              </a:spcAft>
              <a:buNone/>
            </a:pPr>
            <a:r>
              <a:rPr lang="en-US" sz="850">
                <a:solidFill>
                  <a:srgbClr val="536D79"/>
                </a:solidFill>
                <a:latin typeface="Calibri"/>
                <a:ea typeface="Calibri"/>
                <a:cs typeface="Calibri"/>
                <a:sym typeface="Calibri"/>
              </a:rPr>
              <a:t>Information still traveled through n recurrent steps to connect two distant tokens.</a:t>
            </a:r>
            <a:endParaRPr sz="850">
              <a:latin typeface="Calibri"/>
              <a:ea typeface="Calibri"/>
              <a:cs typeface="Calibri"/>
              <a:sym typeface="Calibri"/>
            </a:endParaRPr>
          </a:p>
        </p:txBody>
      </p:sp>
      <p:grpSp>
        <p:nvGrpSpPr>
          <p:cNvPr id="1187" name="Google Shape;1187;p39"/>
          <p:cNvGrpSpPr/>
          <p:nvPr/>
        </p:nvGrpSpPr>
        <p:grpSpPr>
          <a:xfrm>
            <a:off x="5687276" y="2194562"/>
            <a:ext cx="1463040" cy="932815"/>
            <a:chOff x="5687276" y="2194562"/>
            <a:chExt cx="1463040" cy="932815"/>
          </a:xfrm>
        </p:grpSpPr>
        <p:sp>
          <p:nvSpPr>
            <p:cNvPr id="1188" name="Google Shape;1188;p39"/>
            <p:cNvSpPr/>
            <p:nvPr/>
          </p:nvSpPr>
          <p:spPr>
            <a:xfrm>
              <a:off x="5687276" y="2194562"/>
              <a:ext cx="1463040" cy="932815"/>
            </a:xfrm>
            <a:custGeom>
              <a:rect b="b" l="l" r="r" t="t"/>
              <a:pathLst>
                <a:path extrusionOk="0" h="932814" w="1463040">
                  <a:moveTo>
                    <a:pt x="1462684" y="0"/>
                  </a:moveTo>
                  <a:lnTo>
                    <a:pt x="0" y="0"/>
                  </a:lnTo>
                  <a:lnTo>
                    <a:pt x="0" y="932395"/>
                  </a:lnTo>
                  <a:lnTo>
                    <a:pt x="731519" y="932395"/>
                  </a:lnTo>
                  <a:lnTo>
                    <a:pt x="1462684" y="932395"/>
                  </a:lnTo>
                  <a:lnTo>
                    <a:pt x="1462684" y="0"/>
                  </a:lnTo>
                  <a:close/>
                </a:path>
              </a:pathLst>
            </a:custGeom>
            <a:solidFill>
              <a:srgbClr val="EFFCF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89" name="Google Shape;1189;p39"/>
            <p:cNvSpPr/>
            <p:nvPr/>
          </p:nvSpPr>
          <p:spPr>
            <a:xfrm>
              <a:off x="5687276" y="2194562"/>
              <a:ext cx="1463040" cy="932815"/>
            </a:xfrm>
            <a:custGeom>
              <a:rect b="b" l="l" r="r" t="t"/>
              <a:pathLst>
                <a:path extrusionOk="0" h="932814" w="1463040">
                  <a:moveTo>
                    <a:pt x="731519" y="932395"/>
                  </a:moveTo>
                  <a:lnTo>
                    <a:pt x="0" y="932395"/>
                  </a:lnTo>
                  <a:lnTo>
                    <a:pt x="0" y="0"/>
                  </a:lnTo>
                  <a:lnTo>
                    <a:pt x="1462684" y="0"/>
                  </a:lnTo>
                  <a:lnTo>
                    <a:pt x="1462684" y="932395"/>
                  </a:lnTo>
                  <a:lnTo>
                    <a:pt x="731519" y="932395"/>
                  </a:lnTo>
                  <a:close/>
                </a:path>
              </a:pathLst>
            </a:custGeom>
            <a:noFill/>
            <a:ln cap="flat" cmpd="sng" w="12575">
              <a:solidFill>
                <a:srgbClr val="99F5E3"/>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90" name="Google Shape;1190;p39"/>
            <p:cNvSpPr/>
            <p:nvPr/>
          </p:nvSpPr>
          <p:spPr>
            <a:xfrm>
              <a:off x="5687276" y="2194562"/>
              <a:ext cx="36830" cy="932815"/>
            </a:xfrm>
            <a:custGeom>
              <a:rect b="b" l="l" r="r" t="t"/>
              <a:pathLst>
                <a:path extrusionOk="0" h="932814" w="36829">
                  <a:moveTo>
                    <a:pt x="36360" y="0"/>
                  </a:moveTo>
                  <a:lnTo>
                    <a:pt x="0" y="0"/>
                  </a:lnTo>
                  <a:lnTo>
                    <a:pt x="0" y="932395"/>
                  </a:lnTo>
                  <a:lnTo>
                    <a:pt x="18364" y="932395"/>
                  </a:lnTo>
                  <a:lnTo>
                    <a:pt x="36360" y="932395"/>
                  </a:lnTo>
                  <a:lnTo>
                    <a:pt x="36360" y="0"/>
                  </a:lnTo>
                  <a:close/>
                </a:path>
              </a:pathLst>
            </a:custGeom>
            <a:solidFill>
              <a:srgbClr val="691A9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91" name="Google Shape;1191;p39"/>
            <p:cNvSpPr/>
            <p:nvPr/>
          </p:nvSpPr>
          <p:spPr>
            <a:xfrm>
              <a:off x="5687276" y="2194562"/>
              <a:ext cx="36830" cy="932815"/>
            </a:xfrm>
            <a:custGeom>
              <a:rect b="b" l="l" r="r" t="t"/>
              <a:pathLst>
                <a:path extrusionOk="0" h="932814" w="36829">
                  <a:moveTo>
                    <a:pt x="18364" y="932395"/>
                  </a:moveTo>
                  <a:lnTo>
                    <a:pt x="0" y="932395"/>
                  </a:lnTo>
                  <a:lnTo>
                    <a:pt x="0" y="0"/>
                  </a:lnTo>
                  <a:lnTo>
                    <a:pt x="36360" y="0"/>
                  </a:lnTo>
                  <a:lnTo>
                    <a:pt x="36360" y="932395"/>
                  </a:lnTo>
                  <a:lnTo>
                    <a:pt x="18364" y="932395"/>
                  </a:lnTo>
                  <a:close/>
                </a:path>
              </a:pathLst>
            </a:custGeom>
            <a:noFill/>
            <a:ln cap="flat" cmpd="sng" w="12575">
              <a:solidFill>
                <a:srgbClr val="691A9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192" name="Google Shape;1192;p39"/>
          <p:cNvSpPr txBox="1"/>
          <p:nvPr/>
        </p:nvSpPr>
        <p:spPr>
          <a:xfrm>
            <a:off x="5729935" y="2282306"/>
            <a:ext cx="1414145" cy="856615"/>
          </a:xfrm>
          <a:prstGeom prst="rect">
            <a:avLst/>
          </a:prstGeom>
          <a:noFill/>
          <a:ln>
            <a:noFill/>
          </a:ln>
        </p:spPr>
        <p:txBody>
          <a:bodyPr anchorCtr="0" anchor="t" bIns="0" lIns="0" spcFirstLastPara="1" rIns="0" wrap="square" tIns="12700">
            <a:spAutoFit/>
          </a:bodyPr>
          <a:lstStyle/>
          <a:p>
            <a:pPr indent="0" lvl="0" marL="167640" marR="187325" rtl="0" algn="l">
              <a:lnSpc>
                <a:spcPct val="100000"/>
              </a:lnSpc>
              <a:spcBef>
                <a:spcPts val="0"/>
              </a:spcBef>
              <a:spcAft>
                <a:spcPts val="0"/>
              </a:spcAft>
              <a:buNone/>
            </a:pPr>
            <a:r>
              <a:rPr lang="en-US" sz="1100">
                <a:solidFill>
                  <a:srgbClr val="691A99"/>
                </a:solidFill>
                <a:latin typeface="Quattrocento Sans"/>
                <a:ea typeface="Quattrocento Sans"/>
                <a:cs typeface="Quattrocento Sans"/>
                <a:sym typeface="Quattrocento Sans"/>
              </a:rPr>
              <a:t>◎ </a:t>
            </a:r>
            <a:r>
              <a:rPr b="1" lang="en-US" sz="950">
                <a:solidFill>
                  <a:srgbClr val="19192D"/>
                </a:solidFill>
                <a:latin typeface="Calibri"/>
                <a:ea typeface="Calibri"/>
                <a:cs typeface="Calibri"/>
                <a:sym typeface="Calibri"/>
              </a:rPr>
              <a:t>O(1) Dependency Path</a:t>
            </a:r>
            <a:endParaRPr sz="950">
              <a:latin typeface="Calibri"/>
              <a:ea typeface="Calibri"/>
              <a:cs typeface="Calibri"/>
              <a:sym typeface="Calibri"/>
            </a:endParaRPr>
          </a:p>
          <a:p>
            <a:pPr indent="0" lvl="0" marL="167640" marR="186055" rtl="0" algn="l">
              <a:lnSpc>
                <a:spcPct val="100000"/>
              </a:lnSpc>
              <a:spcBef>
                <a:spcPts val="0"/>
              </a:spcBef>
              <a:spcAft>
                <a:spcPts val="0"/>
              </a:spcAft>
              <a:buNone/>
            </a:pPr>
            <a:r>
              <a:rPr lang="en-US" sz="850">
                <a:solidFill>
                  <a:srgbClr val="536D79"/>
                </a:solidFill>
                <a:latin typeface="Calibri"/>
                <a:ea typeface="Calibri"/>
                <a:cs typeface="Calibri"/>
                <a:sym typeface="Calibri"/>
              </a:rPr>
              <a:t>Any two tokens connect directly in one attention step, regardless of distance.</a:t>
            </a:r>
            <a:endParaRPr sz="850">
              <a:latin typeface="Calibri"/>
              <a:ea typeface="Calibri"/>
              <a:cs typeface="Calibri"/>
              <a:sym typeface="Calibri"/>
            </a:endParaRPr>
          </a:p>
        </p:txBody>
      </p:sp>
      <p:grpSp>
        <p:nvGrpSpPr>
          <p:cNvPr id="1193" name="Google Shape;1193;p39"/>
          <p:cNvGrpSpPr/>
          <p:nvPr/>
        </p:nvGrpSpPr>
        <p:grpSpPr>
          <a:xfrm>
            <a:off x="7223404" y="2194562"/>
            <a:ext cx="1463040" cy="932815"/>
            <a:chOff x="7223404" y="2194562"/>
            <a:chExt cx="1463040" cy="932815"/>
          </a:xfrm>
        </p:grpSpPr>
        <p:sp>
          <p:nvSpPr>
            <p:cNvPr id="1194" name="Google Shape;1194;p39"/>
            <p:cNvSpPr/>
            <p:nvPr/>
          </p:nvSpPr>
          <p:spPr>
            <a:xfrm>
              <a:off x="7223404" y="2194562"/>
              <a:ext cx="1463040" cy="932815"/>
            </a:xfrm>
            <a:custGeom>
              <a:rect b="b" l="l" r="r" t="t"/>
              <a:pathLst>
                <a:path extrusionOk="0" h="932814" w="1463040">
                  <a:moveTo>
                    <a:pt x="1462671" y="0"/>
                  </a:moveTo>
                  <a:lnTo>
                    <a:pt x="0" y="0"/>
                  </a:lnTo>
                  <a:lnTo>
                    <a:pt x="0" y="932395"/>
                  </a:lnTo>
                  <a:lnTo>
                    <a:pt x="731519" y="932395"/>
                  </a:lnTo>
                  <a:lnTo>
                    <a:pt x="1462671" y="932395"/>
                  </a:lnTo>
                  <a:lnTo>
                    <a:pt x="1462671" y="0"/>
                  </a:lnTo>
                  <a:close/>
                </a:path>
              </a:pathLst>
            </a:custGeom>
            <a:solidFill>
              <a:srgbClr val="EFFCF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95" name="Google Shape;1195;p39"/>
            <p:cNvSpPr/>
            <p:nvPr/>
          </p:nvSpPr>
          <p:spPr>
            <a:xfrm>
              <a:off x="7223404" y="2194562"/>
              <a:ext cx="1463040" cy="932815"/>
            </a:xfrm>
            <a:custGeom>
              <a:rect b="b" l="l" r="r" t="t"/>
              <a:pathLst>
                <a:path extrusionOk="0" h="932814" w="1463040">
                  <a:moveTo>
                    <a:pt x="731519" y="932395"/>
                  </a:moveTo>
                  <a:lnTo>
                    <a:pt x="0" y="932395"/>
                  </a:lnTo>
                  <a:lnTo>
                    <a:pt x="0" y="0"/>
                  </a:lnTo>
                  <a:lnTo>
                    <a:pt x="1462671" y="0"/>
                  </a:lnTo>
                  <a:lnTo>
                    <a:pt x="1462671" y="932395"/>
                  </a:lnTo>
                  <a:lnTo>
                    <a:pt x="731519" y="932395"/>
                  </a:lnTo>
                  <a:close/>
                </a:path>
              </a:pathLst>
            </a:custGeom>
            <a:noFill/>
            <a:ln cap="flat" cmpd="sng" w="12575">
              <a:solidFill>
                <a:srgbClr val="99F5E3"/>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96" name="Google Shape;1196;p39"/>
            <p:cNvSpPr/>
            <p:nvPr/>
          </p:nvSpPr>
          <p:spPr>
            <a:xfrm>
              <a:off x="7223404" y="2194562"/>
              <a:ext cx="36830" cy="932815"/>
            </a:xfrm>
            <a:custGeom>
              <a:rect b="b" l="l" r="r" t="t"/>
              <a:pathLst>
                <a:path extrusionOk="0" h="932814" w="36829">
                  <a:moveTo>
                    <a:pt x="36360" y="0"/>
                  </a:moveTo>
                  <a:lnTo>
                    <a:pt x="0" y="0"/>
                  </a:lnTo>
                  <a:lnTo>
                    <a:pt x="0" y="932395"/>
                  </a:lnTo>
                  <a:lnTo>
                    <a:pt x="18351" y="932395"/>
                  </a:lnTo>
                  <a:lnTo>
                    <a:pt x="36360" y="932395"/>
                  </a:lnTo>
                  <a:lnTo>
                    <a:pt x="36360" y="0"/>
                  </a:lnTo>
                  <a:close/>
                </a:path>
              </a:pathLst>
            </a:custGeom>
            <a:solidFill>
              <a:srgbClr val="691A9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97" name="Google Shape;1197;p39"/>
            <p:cNvSpPr/>
            <p:nvPr/>
          </p:nvSpPr>
          <p:spPr>
            <a:xfrm>
              <a:off x="7223404" y="2194562"/>
              <a:ext cx="36830" cy="932815"/>
            </a:xfrm>
            <a:custGeom>
              <a:rect b="b" l="l" r="r" t="t"/>
              <a:pathLst>
                <a:path extrusionOk="0" h="932814" w="36829">
                  <a:moveTo>
                    <a:pt x="18351" y="932395"/>
                  </a:moveTo>
                  <a:lnTo>
                    <a:pt x="0" y="932395"/>
                  </a:lnTo>
                  <a:lnTo>
                    <a:pt x="0" y="0"/>
                  </a:lnTo>
                  <a:lnTo>
                    <a:pt x="36360" y="0"/>
                  </a:lnTo>
                  <a:lnTo>
                    <a:pt x="36360" y="932395"/>
                  </a:lnTo>
                  <a:lnTo>
                    <a:pt x="18351" y="932395"/>
                  </a:lnTo>
                  <a:close/>
                </a:path>
              </a:pathLst>
            </a:custGeom>
            <a:noFill/>
            <a:ln cap="flat" cmpd="sng" w="12575">
              <a:solidFill>
                <a:srgbClr val="691A9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198" name="Google Shape;1198;p39"/>
          <p:cNvSpPr txBox="1"/>
          <p:nvPr/>
        </p:nvSpPr>
        <p:spPr>
          <a:xfrm>
            <a:off x="7266064" y="2282306"/>
            <a:ext cx="1414145" cy="727075"/>
          </a:xfrm>
          <a:prstGeom prst="rect">
            <a:avLst/>
          </a:prstGeom>
          <a:noFill/>
          <a:ln>
            <a:noFill/>
          </a:ln>
        </p:spPr>
        <p:txBody>
          <a:bodyPr anchorCtr="0" anchor="t" bIns="0" lIns="0" spcFirstLastPara="1" rIns="0" wrap="square" tIns="12700">
            <a:spAutoFit/>
          </a:bodyPr>
          <a:lstStyle/>
          <a:p>
            <a:pPr indent="0" lvl="0" marL="167640" marR="492125" rtl="0" algn="l">
              <a:lnSpc>
                <a:spcPct val="100000"/>
              </a:lnSpc>
              <a:spcBef>
                <a:spcPts val="0"/>
              </a:spcBef>
              <a:spcAft>
                <a:spcPts val="0"/>
              </a:spcAft>
              <a:buNone/>
            </a:pPr>
            <a:r>
              <a:rPr lang="en-US" sz="1100">
                <a:solidFill>
                  <a:srgbClr val="691A99"/>
                </a:solidFill>
                <a:latin typeface="Quattrocento Sans"/>
                <a:ea typeface="Quattrocento Sans"/>
                <a:cs typeface="Quattrocento Sans"/>
                <a:sym typeface="Quattrocento Sans"/>
              </a:rPr>
              <a:t>✦ </a:t>
            </a:r>
            <a:r>
              <a:rPr b="1" lang="en-US" sz="950">
                <a:solidFill>
                  <a:srgbClr val="19192D"/>
                </a:solidFill>
                <a:latin typeface="Calibri"/>
                <a:ea typeface="Calibri"/>
                <a:cs typeface="Calibri"/>
                <a:sym typeface="Calibri"/>
              </a:rPr>
              <a:t>Multi-Head Attention</a:t>
            </a:r>
            <a:endParaRPr sz="950">
              <a:latin typeface="Calibri"/>
              <a:ea typeface="Calibri"/>
              <a:cs typeface="Calibri"/>
              <a:sym typeface="Calibri"/>
            </a:endParaRPr>
          </a:p>
          <a:p>
            <a:pPr indent="0" lvl="0" marL="167640" marR="222885" rtl="0" algn="l">
              <a:lnSpc>
                <a:spcPct val="100000"/>
              </a:lnSpc>
              <a:spcBef>
                <a:spcPts val="0"/>
              </a:spcBef>
              <a:spcAft>
                <a:spcPts val="0"/>
              </a:spcAft>
              <a:buNone/>
            </a:pPr>
            <a:r>
              <a:rPr lang="en-US" sz="850">
                <a:solidFill>
                  <a:srgbClr val="536D79"/>
                </a:solidFill>
                <a:latin typeface="Calibri"/>
                <a:ea typeface="Calibri"/>
                <a:cs typeface="Calibri"/>
                <a:sym typeface="Calibri"/>
              </a:rPr>
              <a:t>Multiple heads capture different relationship types in parallel.</a:t>
            </a:r>
            <a:endParaRPr sz="850">
              <a:latin typeface="Calibri"/>
              <a:ea typeface="Calibri"/>
              <a:cs typeface="Calibri"/>
              <a:sym typeface="Calibri"/>
            </a:endParaRPr>
          </a:p>
        </p:txBody>
      </p:sp>
      <p:grpSp>
        <p:nvGrpSpPr>
          <p:cNvPr id="1199" name="Google Shape;1199;p39"/>
          <p:cNvGrpSpPr/>
          <p:nvPr/>
        </p:nvGrpSpPr>
        <p:grpSpPr>
          <a:xfrm>
            <a:off x="319684" y="3218766"/>
            <a:ext cx="2332076" cy="932815"/>
            <a:chOff x="319684" y="3218766"/>
            <a:chExt cx="2332076" cy="932815"/>
          </a:xfrm>
        </p:grpSpPr>
        <p:sp>
          <p:nvSpPr>
            <p:cNvPr id="1200" name="Google Shape;1200;p39"/>
            <p:cNvSpPr/>
            <p:nvPr/>
          </p:nvSpPr>
          <p:spPr>
            <a:xfrm>
              <a:off x="320040" y="3218766"/>
              <a:ext cx="2331720" cy="932815"/>
            </a:xfrm>
            <a:custGeom>
              <a:rect b="b" l="l" r="r" t="t"/>
              <a:pathLst>
                <a:path extrusionOk="0" h="932814" w="2331720">
                  <a:moveTo>
                    <a:pt x="2331364" y="0"/>
                  </a:moveTo>
                  <a:lnTo>
                    <a:pt x="0" y="0"/>
                  </a:lnTo>
                  <a:lnTo>
                    <a:pt x="0" y="932395"/>
                  </a:lnTo>
                  <a:lnTo>
                    <a:pt x="1165682" y="932395"/>
                  </a:lnTo>
                  <a:lnTo>
                    <a:pt x="2331364" y="932395"/>
                  </a:lnTo>
                  <a:lnTo>
                    <a:pt x="2331364" y="0"/>
                  </a:lnTo>
                  <a:close/>
                </a:path>
              </a:pathLst>
            </a:custGeom>
            <a:solidFill>
              <a:srgbClr val="FFF6E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01" name="Google Shape;1201;p39"/>
            <p:cNvSpPr/>
            <p:nvPr/>
          </p:nvSpPr>
          <p:spPr>
            <a:xfrm>
              <a:off x="320040" y="3218766"/>
              <a:ext cx="2331720" cy="932815"/>
            </a:xfrm>
            <a:custGeom>
              <a:rect b="b" l="l" r="r" t="t"/>
              <a:pathLst>
                <a:path extrusionOk="0" h="932814" w="2331720">
                  <a:moveTo>
                    <a:pt x="1165682" y="932395"/>
                  </a:moveTo>
                  <a:lnTo>
                    <a:pt x="0" y="932395"/>
                  </a:lnTo>
                  <a:lnTo>
                    <a:pt x="0" y="0"/>
                  </a:lnTo>
                  <a:lnTo>
                    <a:pt x="2331364" y="0"/>
                  </a:lnTo>
                  <a:lnTo>
                    <a:pt x="2331364" y="932395"/>
                  </a:lnTo>
                  <a:lnTo>
                    <a:pt x="1165682" y="932395"/>
                  </a:lnTo>
                  <a:close/>
                </a:path>
              </a:pathLst>
            </a:custGeom>
            <a:noFill/>
            <a:ln cap="flat" cmpd="sng" w="12575">
              <a:solidFill>
                <a:srgbClr val="FDC9C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02" name="Google Shape;1202;p39"/>
            <p:cNvSpPr/>
            <p:nvPr/>
          </p:nvSpPr>
          <p:spPr>
            <a:xfrm>
              <a:off x="319684" y="3218766"/>
              <a:ext cx="36830" cy="932815"/>
            </a:xfrm>
            <a:custGeom>
              <a:rect b="b" l="l" r="r" t="t"/>
              <a:pathLst>
                <a:path extrusionOk="0" h="932814" w="36829">
                  <a:moveTo>
                    <a:pt x="36360" y="0"/>
                  </a:moveTo>
                  <a:lnTo>
                    <a:pt x="0" y="0"/>
                  </a:lnTo>
                  <a:lnTo>
                    <a:pt x="0" y="932395"/>
                  </a:lnTo>
                  <a:lnTo>
                    <a:pt x="18351" y="932395"/>
                  </a:lnTo>
                  <a:lnTo>
                    <a:pt x="36360" y="932395"/>
                  </a:lnTo>
                  <a:lnTo>
                    <a:pt x="36360" y="0"/>
                  </a:lnTo>
                  <a:close/>
                </a:path>
              </a:pathLst>
            </a:custGeom>
            <a:solidFill>
              <a:srgbClr val="E9570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03" name="Google Shape;1203;p39"/>
            <p:cNvSpPr/>
            <p:nvPr/>
          </p:nvSpPr>
          <p:spPr>
            <a:xfrm>
              <a:off x="319684" y="3218766"/>
              <a:ext cx="36830" cy="932815"/>
            </a:xfrm>
            <a:custGeom>
              <a:rect b="b" l="l" r="r" t="t"/>
              <a:pathLst>
                <a:path extrusionOk="0" h="932814" w="36829">
                  <a:moveTo>
                    <a:pt x="18351" y="932395"/>
                  </a:moveTo>
                  <a:lnTo>
                    <a:pt x="0" y="932395"/>
                  </a:lnTo>
                  <a:lnTo>
                    <a:pt x="0" y="0"/>
                  </a:lnTo>
                  <a:lnTo>
                    <a:pt x="36360" y="0"/>
                  </a:lnTo>
                  <a:lnTo>
                    <a:pt x="36360" y="932395"/>
                  </a:lnTo>
                  <a:lnTo>
                    <a:pt x="18351" y="932395"/>
                  </a:lnTo>
                  <a:close/>
                </a:path>
              </a:pathLst>
            </a:custGeom>
            <a:noFill/>
            <a:ln cap="flat" cmpd="sng" w="12575">
              <a:solidFill>
                <a:srgbClr val="E9570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204" name="Google Shape;1204;p39"/>
          <p:cNvSpPr txBox="1"/>
          <p:nvPr/>
        </p:nvSpPr>
        <p:spPr>
          <a:xfrm>
            <a:off x="362344" y="3306497"/>
            <a:ext cx="2282825" cy="559435"/>
          </a:xfrm>
          <a:prstGeom prst="rect">
            <a:avLst/>
          </a:prstGeom>
          <a:noFill/>
          <a:ln>
            <a:noFill/>
          </a:ln>
        </p:spPr>
        <p:txBody>
          <a:bodyPr anchorCtr="0" anchor="t" bIns="0" lIns="0" spcFirstLastPara="1" rIns="0" wrap="square" tIns="12700">
            <a:spAutoFit/>
          </a:bodyPr>
          <a:lstStyle/>
          <a:p>
            <a:pPr indent="0" lvl="0" marL="167005" rtl="0" algn="l">
              <a:lnSpc>
                <a:spcPct val="100000"/>
              </a:lnSpc>
              <a:spcBef>
                <a:spcPts val="0"/>
              </a:spcBef>
              <a:spcAft>
                <a:spcPts val="0"/>
              </a:spcAft>
              <a:buNone/>
            </a:pPr>
            <a:r>
              <a:rPr b="1" lang="en-US" sz="950">
                <a:solidFill>
                  <a:srgbClr val="E9570B"/>
                </a:solidFill>
                <a:latin typeface="Calibri"/>
                <a:ea typeface="Calibri"/>
                <a:cs typeface="Calibri"/>
                <a:sym typeface="Calibri"/>
              </a:rPr>
              <a:t>05 </a:t>
            </a:r>
            <a:r>
              <a:rPr b="1" lang="en-US" sz="950">
                <a:solidFill>
                  <a:srgbClr val="19192D"/>
                </a:solidFill>
                <a:latin typeface="Calibri"/>
                <a:ea typeface="Calibri"/>
                <a:cs typeface="Calibri"/>
                <a:sym typeface="Calibri"/>
              </a:rPr>
              <a:t>No Intra-Sequence Attention</a:t>
            </a:r>
            <a:endParaRPr sz="950">
              <a:latin typeface="Calibri"/>
              <a:ea typeface="Calibri"/>
              <a:cs typeface="Calibri"/>
              <a:sym typeface="Calibri"/>
            </a:endParaRPr>
          </a:p>
          <a:p>
            <a:pPr indent="0" lvl="0" marL="167005" marR="161290" rtl="0" algn="l">
              <a:lnSpc>
                <a:spcPct val="100000"/>
              </a:lnSpc>
              <a:spcBef>
                <a:spcPts val="0"/>
              </a:spcBef>
              <a:spcAft>
                <a:spcPts val="0"/>
              </a:spcAft>
              <a:buNone/>
            </a:pPr>
            <a:r>
              <a:rPr lang="en-US" sz="850">
                <a:solidFill>
                  <a:srgbClr val="536D79"/>
                </a:solidFill>
                <a:latin typeface="Calibri"/>
                <a:ea typeface="Calibri"/>
                <a:cs typeface="Calibri"/>
                <a:sym typeface="Calibri"/>
              </a:rPr>
              <a:t>Tokens couldn't ask 'what in this same sequence is relevant to me?', the key idea of self-attention.</a:t>
            </a:r>
            <a:endParaRPr sz="850">
              <a:latin typeface="Calibri"/>
              <a:ea typeface="Calibri"/>
              <a:cs typeface="Calibri"/>
              <a:sym typeface="Calibri"/>
            </a:endParaRPr>
          </a:p>
        </p:txBody>
      </p:sp>
      <p:grpSp>
        <p:nvGrpSpPr>
          <p:cNvPr id="1205" name="Google Shape;1205;p39"/>
          <p:cNvGrpSpPr/>
          <p:nvPr/>
        </p:nvGrpSpPr>
        <p:grpSpPr>
          <a:xfrm>
            <a:off x="2724480" y="3218766"/>
            <a:ext cx="2332075" cy="932815"/>
            <a:chOff x="2724480" y="3218766"/>
            <a:chExt cx="2332075" cy="932815"/>
          </a:xfrm>
        </p:grpSpPr>
        <p:sp>
          <p:nvSpPr>
            <p:cNvPr id="1206" name="Google Shape;1206;p39"/>
            <p:cNvSpPr/>
            <p:nvPr/>
          </p:nvSpPr>
          <p:spPr>
            <a:xfrm>
              <a:off x="2724835" y="3218766"/>
              <a:ext cx="2331720" cy="932815"/>
            </a:xfrm>
            <a:custGeom>
              <a:rect b="b" l="l" r="r" t="t"/>
              <a:pathLst>
                <a:path extrusionOk="0" h="932814" w="2331720">
                  <a:moveTo>
                    <a:pt x="2331364" y="0"/>
                  </a:moveTo>
                  <a:lnTo>
                    <a:pt x="0" y="0"/>
                  </a:lnTo>
                  <a:lnTo>
                    <a:pt x="0" y="932395"/>
                  </a:lnTo>
                  <a:lnTo>
                    <a:pt x="1165682" y="932395"/>
                  </a:lnTo>
                  <a:lnTo>
                    <a:pt x="2331364" y="932395"/>
                  </a:lnTo>
                  <a:lnTo>
                    <a:pt x="2331364" y="0"/>
                  </a:lnTo>
                  <a:close/>
                </a:path>
              </a:pathLst>
            </a:custGeom>
            <a:solidFill>
              <a:srgbClr val="FFF6E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07" name="Google Shape;1207;p39"/>
            <p:cNvSpPr/>
            <p:nvPr/>
          </p:nvSpPr>
          <p:spPr>
            <a:xfrm>
              <a:off x="2724835" y="3218766"/>
              <a:ext cx="2331720" cy="932815"/>
            </a:xfrm>
            <a:custGeom>
              <a:rect b="b" l="l" r="r" t="t"/>
              <a:pathLst>
                <a:path extrusionOk="0" h="932814" w="2331720">
                  <a:moveTo>
                    <a:pt x="1165682" y="932395"/>
                  </a:moveTo>
                  <a:lnTo>
                    <a:pt x="0" y="932395"/>
                  </a:lnTo>
                  <a:lnTo>
                    <a:pt x="0" y="0"/>
                  </a:lnTo>
                  <a:lnTo>
                    <a:pt x="2331364" y="0"/>
                  </a:lnTo>
                  <a:lnTo>
                    <a:pt x="2331364" y="932395"/>
                  </a:lnTo>
                  <a:lnTo>
                    <a:pt x="1165682" y="932395"/>
                  </a:lnTo>
                  <a:close/>
                </a:path>
              </a:pathLst>
            </a:custGeom>
            <a:noFill/>
            <a:ln cap="flat" cmpd="sng" w="12575">
              <a:solidFill>
                <a:srgbClr val="FDC9C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08" name="Google Shape;1208;p39"/>
            <p:cNvSpPr/>
            <p:nvPr/>
          </p:nvSpPr>
          <p:spPr>
            <a:xfrm>
              <a:off x="2724480" y="3218766"/>
              <a:ext cx="36830" cy="932815"/>
            </a:xfrm>
            <a:custGeom>
              <a:rect b="b" l="l" r="r" t="t"/>
              <a:pathLst>
                <a:path extrusionOk="0" h="932814" w="36830">
                  <a:moveTo>
                    <a:pt x="36360" y="0"/>
                  </a:moveTo>
                  <a:lnTo>
                    <a:pt x="0" y="0"/>
                  </a:lnTo>
                  <a:lnTo>
                    <a:pt x="0" y="932395"/>
                  </a:lnTo>
                  <a:lnTo>
                    <a:pt x="18364" y="932395"/>
                  </a:lnTo>
                  <a:lnTo>
                    <a:pt x="36360" y="932395"/>
                  </a:lnTo>
                  <a:lnTo>
                    <a:pt x="36360" y="0"/>
                  </a:lnTo>
                  <a:close/>
                </a:path>
              </a:pathLst>
            </a:custGeom>
            <a:solidFill>
              <a:srgbClr val="E9570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09" name="Google Shape;1209;p39"/>
            <p:cNvSpPr/>
            <p:nvPr/>
          </p:nvSpPr>
          <p:spPr>
            <a:xfrm>
              <a:off x="2724480" y="3218766"/>
              <a:ext cx="36830" cy="932815"/>
            </a:xfrm>
            <a:custGeom>
              <a:rect b="b" l="l" r="r" t="t"/>
              <a:pathLst>
                <a:path extrusionOk="0" h="932814" w="36830">
                  <a:moveTo>
                    <a:pt x="18364" y="932395"/>
                  </a:moveTo>
                  <a:lnTo>
                    <a:pt x="0" y="932395"/>
                  </a:lnTo>
                  <a:lnTo>
                    <a:pt x="0" y="0"/>
                  </a:lnTo>
                  <a:lnTo>
                    <a:pt x="36360" y="0"/>
                  </a:lnTo>
                  <a:lnTo>
                    <a:pt x="36360" y="932395"/>
                  </a:lnTo>
                  <a:lnTo>
                    <a:pt x="18364" y="932395"/>
                  </a:lnTo>
                  <a:close/>
                </a:path>
              </a:pathLst>
            </a:custGeom>
            <a:noFill/>
            <a:ln cap="flat" cmpd="sng" w="12575">
              <a:solidFill>
                <a:srgbClr val="E9570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210" name="Google Shape;1210;p39"/>
          <p:cNvSpPr txBox="1"/>
          <p:nvPr/>
        </p:nvSpPr>
        <p:spPr>
          <a:xfrm>
            <a:off x="2767140" y="3306497"/>
            <a:ext cx="2282825" cy="429895"/>
          </a:xfrm>
          <a:prstGeom prst="rect">
            <a:avLst/>
          </a:prstGeom>
          <a:noFill/>
          <a:ln>
            <a:noFill/>
          </a:ln>
        </p:spPr>
        <p:txBody>
          <a:bodyPr anchorCtr="0" anchor="t" bIns="0" lIns="0" spcFirstLastPara="1" rIns="0" wrap="square" tIns="12700">
            <a:spAutoFit/>
          </a:bodyPr>
          <a:lstStyle/>
          <a:p>
            <a:pPr indent="0" lvl="0" marL="167005" rtl="0" algn="l">
              <a:lnSpc>
                <a:spcPct val="100000"/>
              </a:lnSpc>
              <a:spcBef>
                <a:spcPts val="0"/>
              </a:spcBef>
              <a:spcAft>
                <a:spcPts val="0"/>
              </a:spcAft>
              <a:buNone/>
            </a:pPr>
            <a:r>
              <a:rPr b="1" lang="en-US" sz="950">
                <a:solidFill>
                  <a:srgbClr val="E9570B"/>
                </a:solidFill>
                <a:latin typeface="Calibri"/>
                <a:ea typeface="Calibri"/>
                <a:cs typeface="Calibri"/>
                <a:sym typeface="Calibri"/>
              </a:rPr>
              <a:t>06 </a:t>
            </a:r>
            <a:r>
              <a:rPr b="1" lang="en-US" sz="950">
                <a:solidFill>
                  <a:srgbClr val="19192D"/>
                </a:solidFill>
                <a:latin typeface="Calibri"/>
                <a:ea typeface="Calibri"/>
                <a:cs typeface="Calibri"/>
                <a:sym typeface="Calibri"/>
              </a:rPr>
              <a:t>No Positional Structure</a:t>
            </a:r>
            <a:endParaRPr sz="950">
              <a:latin typeface="Calibri"/>
              <a:ea typeface="Calibri"/>
              <a:cs typeface="Calibri"/>
              <a:sym typeface="Calibri"/>
            </a:endParaRPr>
          </a:p>
          <a:p>
            <a:pPr indent="0" lvl="0" marL="167005" marR="215265" rtl="0" algn="l">
              <a:lnSpc>
                <a:spcPct val="100000"/>
              </a:lnSpc>
              <a:spcBef>
                <a:spcPts val="0"/>
              </a:spcBef>
              <a:spcAft>
                <a:spcPts val="0"/>
              </a:spcAft>
              <a:buNone/>
            </a:pPr>
            <a:r>
              <a:rPr lang="en-US" sz="850">
                <a:solidFill>
                  <a:srgbClr val="536D79"/>
                </a:solidFill>
                <a:latin typeface="Calibri"/>
                <a:ea typeface="Calibri"/>
                <a:cs typeface="Calibri"/>
                <a:sym typeface="Calibri"/>
              </a:rPr>
              <a:t>No built-in sense of position, any order had to be implicitly learned through the RNN.</a:t>
            </a:r>
            <a:endParaRPr sz="850">
              <a:latin typeface="Calibri"/>
              <a:ea typeface="Calibri"/>
              <a:cs typeface="Calibri"/>
              <a:sym typeface="Calibri"/>
            </a:endParaRPr>
          </a:p>
        </p:txBody>
      </p:sp>
      <p:grpSp>
        <p:nvGrpSpPr>
          <p:cNvPr id="1211" name="Google Shape;1211;p39"/>
          <p:cNvGrpSpPr/>
          <p:nvPr/>
        </p:nvGrpSpPr>
        <p:grpSpPr>
          <a:xfrm>
            <a:off x="5687276" y="3218766"/>
            <a:ext cx="1463040" cy="932815"/>
            <a:chOff x="5687276" y="3218766"/>
            <a:chExt cx="1463040" cy="932815"/>
          </a:xfrm>
        </p:grpSpPr>
        <p:sp>
          <p:nvSpPr>
            <p:cNvPr id="1212" name="Google Shape;1212;p39"/>
            <p:cNvSpPr/>
            <p:nvPr/>
          </p:nvSpPr>
          <p:spPr>
            <a:xfrm>
              <a:off x="5687276" y="3218766"/>
              <a:ext cx="1463040" cy="932815"/>
            </a:xfrm>
            <a:custGeom>
              <a:rect b="b" l="l" r="r" t="t"/>
              <a:pathLst>
                <a:path extrusionOk="0" h="932814" w="1463040">
                  <a:moveTo>
                    <a:pt x="1462684" y="0"/>
                  </a:moveTo>
                  <a:lnTo>
                    <a:pt x="0" y="0"/>
                  </a:lnTo>
                  <a:lnTo>
                    <a:pt x="0" y="932395"/>
                  </a:lnTo>
                  <a:lnTo>
                    <a:pt x="731519" y="932395"/>
                  </a:lnTo>
                  <a:lnTo>
                    <a:pt x="1462684" y="932395"/>
                  </a:lnTo>
                  <a:lnTo>
                    <a:pt x="1462684" y="0"/>
                  </a:lnTo>
                  <a:close/>
                </a:path>
              </a:pathLst>
            </a:custGeom>
            <a:solidFill>
              <a:srgbClr val="EFFCF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13" name="Google Shape;1213;p39"/>
            <p:cNvSpPr/>
            <p:nvPr/>
          </p:nvSpPr>
          <p:spPr>
            <a:xfrm>
              <a:off x="5687276" y="3218766"/>
              <a:ext cx="1463040" cy="932815"/>
            </a:xfrm>
            <a:custGeom>
              <a:rect b="b" l="l" r="r" t="t"/>
              <a:pathLst>
                <a:path extrusionOk="0" h="932814" w="1463040">
                  <a:moveTo>
                    <a:pt x="731519" y="932395"/>
                  </a:moveTo>
                  <a:lnTo>
                    <a:pt x="0" y="932395"/>
                  </a:lnTo>
                  <a:lnTo>
                    <a:pt x="0" y="0"/>
                  </a:lnTo>
                  <a:lnTo>
                    <a:pt x="1462684" y="0"/>
                  </a:lnTo>
                  <a:lnTo>
                    <a:pt x="1462684" y="932395"/>
                  </a:lnTo>
                  <a:lnTo>
                    <a:pt x="731519" y="932395"/>
                  </a:lnTo>
                  <a:close/>
                </a:path>
              </a:pathLst>
            </a:custGeom>
            <a:noFill/>
            <a:ln cap="flat" cmpd="sng" w="12575">
              <a:solidFill>
                <a:srgbClr val="99F5E3"/>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14" name="Google Shape;1214;p39"/>
            <p:cNvSpPr/>
            <p:nvPr/>
          </p:nvSpPr>
          <p:spPr>
            <a:xfrm>
              <a:off x="5687276" y="3218766"/>
              <a:ext cx="36830" cy="932815"/>
            </a:xfrm>
            <a:custGeom>
              <a:rect b="b" l="l" r="r" t="t"/>
              <a:pathLst>
                <a:path extrusionOk="0" h="932814" w="36829">
                  <a:moveTo>
                    <a:pt x="36360" y="0"/>
                  </a:moveTo>
                  <a:lnTo>
                    <a:pt x="0" y="0"/>
                  </a:lnTo>
                  <a:lnTo>
                    <a:pt x="0" y="932395"/>
                  </a:lnTo>
                  <a:lnTo>
                    <a:pt x="18364" y="932395"/>
                  </a:lnTo>
                  <a:lnTo>
                    <a:pt x="36360" y="932395"/>
                  </a:lnTo>
                  <a:lnTo>
                    <a:pt x="36360" y="0"/>
                  </a:lnTo>
                  <a:close/>
                </a:path>
              </a:pathLst>
            </a:custGeom>
            <a:solidFill>
              <a:srgbClr val="00685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15" name="Google Shape;1215;p39"/>
            <p:cNvSpPr/>
            <p:nvPr/>
          </p:nvSpPr>
          <p:spPr>
            <a:xfrm>
              <a:off x="5687276" y="3218766"/>
              <a:ext cx="36830" cy="932815"/>
            </a:xfrm>
            <a:custGeom>
              <a:rect b="b" l="l" r="r" t="t"/>
              <a:pathLst>
                <a:path extrusionOk="0" h="932814" w="36829">
                  <a:moveTo>
                    <a:pt x="18364" y="932395"/>
                  </a:moveTo>
                  <a:lnTo>
                    <a:pt x="0" y="932395"/>
                  </a:lnTo>
                  <a:lnTo>
                    <a:pt x="0" y="0"/>
                  </a:lnTo>
                  <a:lnTo>
                    <a:pt x="36360" y="0"/>
                  </a:lnTo>
                  <a:lnTo>
                    <a:pt x="36360" y="932395"/>
                  </a:lnTo>
                  <a:lnTo>
                    <a:pt x="18364" y="932395"/>
                  </a:lnTo>
                  <a:close/>
                </a:path>
              </a:pathLst>
            </a:custGeom>
            <a:noFill/>
            <a:ln cap="flat" cmpd="sng" w="12575">
              <a:solidFill>
                <a:srgbClr val="00685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216" name="Google Shape;1216;p39"/>
          <p:cNvSpPr txBox="1"/>
          <p:nvPr/>
        </p:nvSpPr>
        <p:spPr>
          <a:xfrm>
            <a:off x="5729935" y="3306510"/>
            <a:ext cx="1414145" cy="856615"/>
          </a:xfrm>
          <a:prstGeom prst="rect">
            <a:avLst/>
          </a:prstGeom>
          <a:noFill/>
          <a:ln>
            <a:noFill/>
          </a:ln>
        </p:spPr>
        <p:txBody>
          <a:bodyPr anchorCtr="0" anchor="t" bIns="0" lIns="0" spcFirstLastPara="1" rIns="0" wrap="square" tIns="12700">
            <a:spAutoFit/>
          </a:bodyPr>
          <a:lstStyle/>
          <a:p>
            <a:pPr indent="0" lvl="0" marL="167640" marR="488315" rtl="0" algn="l">
              <a:lnSpc>
                <a:spcPct val="100000"/>
              </a:lnSpc>
              <a:spcBef>
                <a:spcPts val="0"/>
              </a:spcBef>
              <a:spcAft>
                <a:spcPts val="0"/>
              </a:spcAft>
              <a:buNone/>
            </a:pPr>
            <a:r>
              <a:rPr lang="en-US" sz="1100">
                <a:solidFill>
                  <a:srgbClr val="00685B"/>
                </a:solidFill>
                <a:latin typeface="Quattrocento Sans"/>
                <a:ea typeface="Quattrocento Sans"/>
                <a:cs typeface="Quattrocento Sans"/>
                <a:sym typeface="Quattrocento Sans"/>
              </a:rPr>
              <a:t>⊕ </a:t>
            </a:r>
            <a:r>
              <a:rPr b="1" lang="en-US" sz="950">
                <a:solidFill>
                  <a:srgbClr val="19192D"/>
                </a:solidFill>
                <a:latin typeface="Calibri"/>
                <a:ea typeface="Calibri"/>
                <a:cs typeface="Calibri"/>
                <a:sym typeface="Calibri"/>
              </a:rPr>
              <a:t>Positional Encodings</a:t>
            </a:r>
            <a:endParaRPr sz="950">
              <a:latin typeface="Calibri"/>
              <a:ea typeface="Calibri"/>
              <a:cs typeface="Calibri"/>
              <a:sym typeface="Calibri"/>
            </a:endParaRPr>
          </a:p>
          <a:p>
            <a:pPr indent="0" lvl="0" marL="167640" marR="228600" rtl="0" algn="l">
              <a:lnSpc>
                <a:spcPct val="100000"/>
              </a:lnSpc>
              <a:spcBef>
                <a:spcPts val="0"/>
              </a:spcBef>
              <a:spcAft>
                <a:spcPts val="0"/>
              </a:spcAft>
              <a:buNone/>
            </a:pPr>
            <a:r>
              <a:rPr lang="en-US" sz="850">
                <a:solidFill>
                  <a:srgbClr val="536D79"/>
                </a:solidFill>
                <a:latin typeface="Calibri"/>
                <a:ea typeface="Calibri"/>
                <a:cs typeface="Calibri"/>
                <a:sym typeface="Calibri"/>
              </a:rPr>
              <a:t>Explicit position signals added to embeddings, order without recurrence.</a:t>
            </a:r>
            <a:endParaRPr sz="850">
              <a:latin typeface="Calibri"/>
              <a:ea typeface="Calibri"/>
              <a:cs typeface="Calibri"/>
              <a:sym typeface="Calibri"/>
            </a:endParaRPr>
          </a:p>
        </p:txBody>
      </p:sp>
      <p:grpSp>
        <p:nvGrpSpPr>
          <p:cNvPr id="1217" name="Google Shape;1217;p39"/>
          <p:cNvGrpSpPr/>
          <p:nvPr/>
        </p:nvGrpSpPr>
        <p:grpSpPr>
          <a:xfrm>
            <a:off x="7223404" y="3218766"/>
            <a:ext cx="1463040" cy="932815"/>
            <a:chOff x="7223404" y="3218766"/>
            <a:chExt cx="1463040" cy="932815"/>
          </a:xfrm>
        </p:grpSpPr>
        <p:sp>
          <p:nvSpPr>
            <p:cNvPr id="1218" name="Google Shape;1218;p39"/>
            <p:cNvSpPr/>
            <p:nvPr/>
          </p:nvSpPr>
          <p:spPr>
            <a:xfrm>
              <a:off x="7223404" y="3218766"/>
              <a:ext cx="1463040" cy="932815"/>
            </a:xfrm>
            <a:custGeom>
              <a:rect b="b" l="l" r="r" t="t"/>
              <a:pathLst>
                <a:path extrusionOk="0" h="932814" w="1463040">
                  <a:moveTo>
                    <a:pt x="1462671" y="0"/>
                  </a:moveTo>
                  <a:lnTo>
                    <a:pt x="0" y="0"/>
                  </a:lnTo>
                  <a:lnTo>
                    <a:pt x="0" y="932395"/>
                  </a:lnTo>
                  <a:lnTo>
                    <a:pt x="731519" y="932395"/>
                  </a:lnTo>
                  <a:lnTo>
                    <a:pt x="1462671" y="932395"/>
                  </a:lnTo>
                  <a:lnTo>
                    <a:pt x="1462671" y="0"/>
                  </a:lnTo>
                  <a:close/>
                </a:path>
              </a:pathLst>
            </a:custGeom>
            <a:solidFill>
              <a:srgbClr val="EFFC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19" name="Google Shape;1219;p39"/>
            <p:cNvSpPr/>
            <p:nvPr/>
          </p:nvSpPr>
          <p:spPr>
            <a:xfrm>
              <a:off x="7223404" y="3218766"/>
              <a:ext cx="1463040" cy="932815"/>
            </a:xfrm>
            <a:custGeom>
              <a:rect b="b" l="l" r="r" t="t"/>
              <a:pathLst>
                <a:path extrusionOk="0" h="932814" w="1463040">
                  <a:moveTo>
                    <a:pt x="731519" y="932395"/>
                  </a:moveTo>
                  <a:lnTo>
                    <a:pt x="0" y="932395"/>
                  </a:lnTo>
                  <a:lnTo>
                    <a:pt x="0" y="0"/>
                  </a:lnTo>
                  <a:lnTo>
                    <a:pt x="1462671" y="0"/>
                  </a:lnTo>
                  <a:lnTo>
                    <a:pt x="1462671" y="932395"/>
                  </a:lnTo>
                  <a:lnTo>
                    <a:pt x="731519" y="932395"/>
                  </a:lnTo>
                  <a:close/>
                </a:path>
              </a:pathLst>
            </a:custGeom>
            <a:noFill/>
            <a:ln cap="flat" cmpd="sng" w="12575">
              <a:solidFill>
                <a:srgbClr val="15A24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20" name="Google Shape;1220;p39"/>
            <p:cNvSpPr/>
            <p:nvPr/>
          </p:nvSpPr>
          <p:spPr>
            <a:xfrm>
              <a:off x="7223404" y="3218766"/>
              <a:ext cx="36830" cy="932815"/>
            </a:xfrm>
            <a:custGeom>
              <a:rect b="b" l="l" r="r" t="t"/>
              <a:pathLst>
                <a:path extrusionOk="0" h="932814" w="36829">
                  <a:moveTo>
                    <a:pt x="36360" y="0"/>
                  </a:moveTo>
                  <a:lnTo>
                    <a:pt x="0" y="0"/>
                  </a:lnTo>
                  <a:lnTo>
                    <a:pt x="0" y="932395"/>
                  </a:lnTo>
                  <a:lnTo>
                    <a:pt x="18351" y="932395"/>
                  </a:lnTo>
                  <a:lnTo>
                    <a:pt x="36360" y="932395"/>
                  </a:lnTo>
                  <a:lnTo>
                    <a:pt x="36360" y="0"/>
                  </a:lnTo>
                  <a:close/>
                </a:path>
              </a:pathLst>
            </a:custGeom>
            <a:solidFill>
              <a:srgbClr val="2D7C3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21" name="Google Shape;1221;p39"/>
            <p:cNvSpPr/>
            <p:nvPr/>
          </p:nvSpPr>
          <p:spPr>
            <a:xfrm>
              <a:off x="7223404" y="3218766"/>
              <a:ext cx="36830" cy="932815"/>
            </a:xfrm>
            <a:custGeom>
              <a:rect b="b" l="l" r="r" t="t"/>
              <a:pathLst>
                <a:path extrusionOk="0" h="932814" w="36829">
                  <a:moveTo>
                    <a:pt x="18351" y="932395"/>
                  </a:moveTo>
                  <a:lnTo>
                    <a:pt x="0" y="932395"/>
                  </a:lnTo>
                  <a:lnTo>
                    <a:pt x="0" y="0"/>
                  </a:lnTo>
                  <a:lnTo>
                    <a:pt x="36360" y="0"/>
                  </a:lnTo>
                  <a:lnTo>
                    <a:pt x="36360" y="932395"/>
                  </a:lnTo>
                  <a:lnTo>
                    <a:pt x="18351" y="932395"/>
                  </a:lnTo>
                  <a:close/>
                </a:path>
              </a:pathLst>
            </a:custGeom>
            <a:noFill/>
            <a:ln cap="flat" cmpd="sng" w="12575">
              <a:solidFill>
                <a:srgbClr val="2D7C3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222" name="Google Shape;1222;p39"/>
          <p:cNvSpPr txBox="1"/>
          <p:nvPr/>
        </p:nvSpPr>
        <p:spPr>
          <a:xfrm>
            <a:off x="7266064" y="3325586"/>
            <a:ext cx="1414145" cy="837565"/>
          </a:xfrm>
          <a:prstGeom prst="rect">
            <a:avLst/>
          </a:prstGeom>
          <a:noFill/>
          <a:ln>
            <a:noFill/>
          </a:ln>
        </p:spPr>
        <p:txBody>
          <a:bodyPr anchorCtr="0" anchor="t" bIns="0" lIns="0" spcFirstLastPara="1" rIns="0" wrap="square" tIns="8250">
            <a:spAutoFit/>
          </a:bodyPr>
          <a:lstStyle/>
          <a:p>
            <a:pPr indent="-184785" lvl="0" marL="352425" marR="320040" rtl="0" algn="l">
              <a:lnSpc>
                <a:spcPct val="102699"/>
              </a:lnSpc>
              <a:spcBef>
                <a:spcPts val="0"/>
              </a:spcBef>
              <a:spcAft>
                <a:spcPts val="0"/>
              </a:spcAft>
              <a:buClr>
                <a:srgbClr val="2D7C31"/>
              </a:buClr>
              <a:buSzPts val="1100"/>
              <a:buFont typeface="Quattrocento Sans"/>
              <a:buChar char="✓"/>
            </a:pPr>
            <a:r>
              <a:rPr b="1" lang="en-US" sz="950">
                <a:solidFill>
                  <a:srgbClr val="19192D"/>
                </a:solidFill>
                <a:latin typeface="Calibri"/>
                <a:ea typeface="Calibri"/>
                <a:cs typeface="Calibri"/>
                <a:sym typeface="Calibri"/>
              </a:rPr>
              <a:t>Attention is All You Need</a:t>
            </a:r>
            <a:endParaRPr sz="950">
              <a:latin typeface="Calibri"/>
              <a:ea typeface="Calibri"/>
              <a:cs typeface="Calibri"/>
              <a:sym typeface="Calibri"/>
            </a:endParaRPr>
          </a:p>
          <a:p>
            <a:pPr indent="0" lvl="0" marL="167640" marR="173355" rtl="0" algn="l">
              <a:lnSpc>
                <a:spcPct val="100000"/>
              </a:lnSpc>
              <a:spcBef>
                <a:spcPts val="5"/>
              </a:spcBef>
              <a:spcAft>
                <a:spcPts val="0"/>
              </a:spcAft>
              <a:buNone/>
            </a:pPr>
            <a:r>
              <a:rPr lang="en-US" sz="850">
                <a:solidFill>
                  <a:srgbClr val="536D79"/>
                </a:solidFill>
                <a:latin typeface="Calibri"/>
                <a:ea typeface="Calibri"/>
                <a:cs typeface="Calibri"/>
                <a:sym typeface="Calibri"/>
              </a:rPr>
              <a:t>Vaswani et al. 2017: one unified architecture for encode, decode, and cross-attend.</a:t>
            </a:r>
            <a:endParaRPr sz="850">
              <a:latin typeface="Calibri"/>
              <a:ea typeface="Calibri"/>
              <a:cs typeface="Calibri"/>
              <a:sym typeface="Calibri"/>
            </a:endParaRPr>
          </a:p>
        </p:txBody>
      </p:sp>
      <p:sp>
        <p:nvSpPr>
          <p:cNvPr id="1223" name="Google Shape;1223;p39"/>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grpSp>
        <p:nvGrpSpPr>
          <p:cNvPr id="1228" name="Google Shape;1228;p40"/>
          <p:cNvGrpSpPr/>
          <p:nvPr/>
        </p:nvGrpSpPr>
        <p:grpSpPr>
          <a:xfrm>
            <a:off x="23037" y="1064884"/>
            <a:ext cx="8939872" cy="2758681"/>
            <a:chOff x="23037" y="1064884"/>
            <a:chExt cx="8939872" cy="2758681"/>
          </a:xfrm>
        </p:grpSpPr>
        <p:pic>
          <p:nvPicPr>
            <p:cNvPr id="1229" name="Google Shape;1229;p40"/>
            <p:cNvPicPr preferRelativeResize="0"/>
            <p:nvPr/>
          </p:nvPicPr>
          <p:blipFill rotWithShape="1">
            <a:blip r:embed="rId3">
              <a:alphaModFix/>
            </a:blip>
            <a:srcRect b="0" l="0" r="0" t="0"/>
            <a:stretch/>
          </p:blipFill>
          <p:spPr>
            <a:xfrm>
              <a:off x="23037" y="1810082"/>
              <a:ext cx="4400283" cy="2013483"/>
            </a:xfrm>
            <a:prstGeom prst="rect">
              <a:avLst/>
            </a:prstGeom>
            <a:noFill/>
            <a:ln>
              <a:noFill/>
            </a:ln>
          </p:spPr>
        </p:pic>
        <p:pic>
          <p:nvPicPr>
            <p:cNvPr id="1230" name="Google Shape;1230;p40"/>
            <p:cNvPicPr preferRelativeResize="0"/>
            <p:nvPr/>
          </p:nvPicPr>
          <p:blipFill rotWithShape="1">
            <a:blip r:embed="rId4">
              <a:alphaModFix/>
            </a:blip>
            <a:srcRect b="0" l="0" r="0" t="0"/>
            <a:stretch/>
          </p:blipFill>
          <p:spPr>
            <a:xfrm>
              <a:off x="168833" y="1956970"/>
              <a:ext cx="3960355" cy="1571396"/>
            </a:xfrm>
            <a:prstGeom prst="rect">
              <a:avLst/>
            </a:prstGeom>
            <a:noFill/>
            <a:ln>
              <a:noFill/>
            </a:ln>
          </p:spPr>
        </p:pic>
        <p:pic>
          <p:nvPicPr>
            <p:cNvPr id="1231" name="Google Shape;1231;p40"/>
            <p:cNvPicPr preferRelativeResize="0"/>
            <p:nvPr/>
          </p:nvPicPr>
          <p:blipFill rotWithShape="1">
            <a:blip r:embed="rId5">
              <a:alphaModFix/>
            </a:blip>
            <a:srcRect b="0" l="0" r="0" t="0"/>
            <a:stretch/>
          </p:blipFill>
          <p:spPr>
            <a:xfrm>
              <a:off x="4245114" y="1064884"/>
              <a:ext cx="4717795" cy="2758681"/>
            </a:xfrm>
            <a:prstGeom prst="rect">
              <a:avLst/>
            </a:prstGeom>
            <a:noFill/>
            <a:ln>
              <a:noFill/>
            </a:ln>
          </p:spPr>
        </p:pic>
        <p:pic>
          <p:nvPicPr>
            <p:cNvPr id="1232" name="Google Shape;1232;p40"/>
            <p:cNvPicPr preferRelativeResize="0"/>
            <p:nvPr/>
          </p:nvPicPr>
          <p:blipFill rotWithShape="1">
            <a:blip r:embed="rId6">
              <a:alphaModFix/>
            </a:blip>
            <a:srcRect b="0" l="0" r="0" t="0"/>
            <a:stretch/>
          </p:blipFill>
          <p:spPr>
            <a:xfrm>
              <a:off x="4390555" y="1212128"/>
              <a:ext cx="4278236" cy="2316238"/>
            </a:xfrm>
            <a:prstGeom prst="rect">
              <a:avLst/>
            </a:prstGeom>
            <a:noFill/>
            <a:ln>
              <a:noFill/>
            </a:ln>
          </p:spPr>
        </p:pic>
      </p:grpSp>
      <p:sp>
        <p:nvSpPr>
          <p:cNvPr descr="$PPTXTitle" id="1233" name="Google Shape;1233;p40"/>
          <p:cNvSpPr txBox="1"/>
          <p:nvPr>
            <p:ph type="title"/>
          </p:nvPr>
        </p:nvSpPr>
        <p:spPr>
          <a:xfrm>
            <a:off x="152184" y="63260"/>
            <a:ext cx="8839631" cy="879475"/>
          </a:xfrm>
          <a:prstGeom prst="rect">
            <a:avLst/>
          </a:prstGeom>
          <a:noFill/>
          <a:ln>
            <a:noFill/>
          </a:ln>
        </p:spPr>
        <p:txBody>
          <a:bodyPr anchorCtr="0" anchor="t" bIns="0" lIns="0" spcFirstLastPara="1" rIns="0" wrap="square" tIns="152000">
            <a:spAutoFit/>
          </a:bodyPr>
          <a:lstStyle/>
          <a:p>
            <a:pPr indent="0" lvl="0" marL="317500" rtl="0" algn="l">
              <a:lnSpc>
                <a:spcPct val="100000"/>
              </a:lnSpc>
              <a:spcBef>
                <a:spcPts val="0"/>
              </a:spcBef>
              <a:spcAft>
                <a:spcPts val="0"/>
              </a:spcAft>
              <a:buNone/>
            </a:pPr>
            <a:r>
              <a:rPr b="0" lang="en-US" sz="2800">
                <a:solidFill>
                  <a:srgbClr val="000000"/>
                </a:solidFill>
                <a:latin typeface="Helvetica Neue"/>
                <a:ea typeface="Helvetica Neue"/>
                <a:cs typeface="Helvetica Neue"/>
                <a:sym typeface="Helvetica Neue"/>
              </a:rPr>
              <a:t>The Self Attention Idea</a:t>
            </a:r>
            <a:endParaRPr sz="2800">
              <a:latin typeface="Helvetica Neue"/>
              <a:ea typeface="Helvetica Neue"/>
              <a:cs typeface="Helvetica Neue"/>
              <a:sym typeface="Helvetica Neue"/>
            </a:endParaRPr>
          </a:p>
        </p:txBody>
      </p:sp>
      <p:pic>
        <p:nvPicPr>
          <p:cNvPr id="1234" name="Google Shape;1234;p40"/>
          <p:cNvPicPr preferRelativeResize="0"/>
          <p:nvPr/>
        </p:nvPicPr>
        <p:blipFill rotWithShape="1">
          <a:blip r:embed="rId7">
            <a:alphaModFix/>
          </a:blip>
          <a:srcRect b="0" l="0" r="0" t="0"/>
          <a:stretch/>
        </p:blipFill>
        <p:spPr>
          <a:xfrm>
            <a:off x="8369274" y="14"/>
            <a:ext cx="774357" cy="866508"/>
          </a:xfrm>
          <a:prstGeom prst="rect">
            <a:avLst/>
          </a:prstGeom>
          <a:noFill/>
          <a:ln>
            <a:noFill/>
          </a:ln>
        </p:spPr>
      </p:pic>
      <p:sp>
        <p:nvSpPr>
          <p:cNvPr id="1235" name="Google Shape;1235;p40"/>
          <p:cNvSpPr txBox="1"/>
          <p:nvPr/>
        </p:nvSpPr>
        <p:spPr>
          <a:xfrm>
            <a:off x="1087462" y="3706809"/>
            <a:ext cx="6788784" cy="626745"/>
          </a:xfrm>
          <a:prstGeom prst="rect">
            <a:avLst/>
          </a:prstGeom>
          <a:noFill/>
          <a:ln>
            <a:noFill/>
          </a:ln>
        </p:spPr>
        <p:txBody>
          <a:bodyPr anchorCtr="0" anchor="t" bIns="0" lIns="0" spcFirstLastPara="1" rIns="0" wrap="square" tIns="12700">
            <a:spAutoFit/>
          </a:bodyPr>
          <a:lstStyle/>
          <a:p>
            <a:pPr indent="0" lvl="0" marL="12700" marR="5080" rtl="0" algn="l">
              <a:lnSpc>
                <a:spcPct val="115999"/>
              </a:lnSpc>
              <a:spcBef>
                <a:spcPts val="0"/>
              </a:spcBef>
              <a:spcAft>
                <a:spcPts val="0"/>
              </a:spcAft>
              <a:buNone/>
            </a:pPr>
            <a:r>
              <a:rPr lang="en-US" sz="1700">
                <a:latin typeface="Calibri"/>
                <a:ea typeface="Calibri"/>
                <a:cs typeface="Calibri"/>
                <a:sym typeface="Calibri"/>
              </a:rPr>
              <a:t>Self-attention is </a:t>
            </a:r>
            <a:r>
              <a:rPr lang="en-US" sz="1700">
                <a:solidFill>
                  <a:srgbClr val="006FBF"/>
                </a:solidFill>
                <a:latin typeface="Calibri"/>
                <a:ea typeface="Calibri"/>
                <a:cs typeface="Calibri"/>
                <a:sym typeface="Calibri"/>
              </a:rPr>
              <a:t>encoder-encoder </a:t>
            </a:r>
            <a:r>
              <a:rPr lang="en-US" sz="1700">
                <a:latin typeface="Calibri"/>
                <a:ea typeface="Calibri"/>
                <a:cs typeface="Calibri"/>
                <a:sym typeface="Calibri"/>
              </a:rPr>
              <a:t>(or </a:t>
            </a:r>
            <a:r>
              <a:rPr lang="en-US" sz="1700">
                <a:solidFill>
                  <a:srgbClr val="006FBF"/>
                </a:solidFill>
                <a:latin typeface="Calibri"/>
                <a:ea typeface="Calibri"/>
                <a:cs typeface="Calibri"/>
                <a:sym typeface="Calibri"/>
              </a:rPr>
              <a:t>decoder-decoder</a:t>
            </a:r>
            <a:r>
              <a:rPr lang="en-US" sz="1700">
                <a:latin typeface="Calibri"/>
                <a:ea typeface="Calibri"/>
                <a:cs typeface="Calibri"/>
                <a:sym typeface="Calibri"/>
              </a:rPr>
              <a:t>) attention where each word attends to </a:t>
            </a:r>
            <a:r>
              <a:rPr b="1" lang="en-US" sz="1700">
                <a:solidFill>
                  <a:srgbClr val="BF0000"/>
                </a:solidFill>
                <a:latin typeface="Calibri"/>
                <a:ea typeface="Calibri"/>
                <a:cs typeface="Calibri"/>
                <a:sym typeface="Calibri"/>
              </a:rPr>
              <a:t>each other word within the input </a:t>
            </a:r>
            <a:r>
              <a:rPr lang="en-US" sz="1700">
                <a:latin typeface="Calibri"/>
                <a:ea typeface="Calibri"/>
                <a:cs typeface="Calibri"/>
                <a:sym typeface="Calibri"/>
              </a:rPr>
              <a:t>(or output).</a:t>
            </a:r>
            <a:endParaRPr sz="1700">
              <a:latin typeface="Calibri"/>
              <a:ea typeface="Calibri"/>
              <a:cs typeface="Calibri"/>
              <a:sym typeface="Calibri"/>
            </a:endParaRPr>
          </a:p>
        </p:txBody>
      </p:sp>
      <p:sp>
        <p:nvSpPr>
          <p:cNvPr id="1236" name="Google Shape;1236;p40"/>
          <p:cNvSpPr txBox="1"/>
          <p:nvPr/>
        </p:nvSpPr>
        <p:spPr>
          <a:xfrm>
            <a:off x="7015936" y="4825341"/>
            <a:ext cx="1391920" cy="36131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100">
                <a:latin typeface="Helvetica Neue"/>
                <a:ea typeface="Helvetica Neue"/>
                <a:cs typeface="Helvetica Neue"/>
                <a:sym typeface="Helvetica Neue"/>
              </a:rPr>
              <a:t>Stanford NLP Course: CS224N</a:t>
            </a:r>
            <a:endParaRPr sz="1100">
              <a:latin typeface="Helvetica Neue"/>
              <a:ea typeface="Helvetica Neue"/>
              <a:cs typeface="Helvetica Neue"/>
              <a:sym typeface="Helvetica Neue"/>
            </a:endParaRPr>
          </a:p>
        </p:txBody>
      </p:sp>
      <p:sp>
        <p:nvSpPr>
          <p:cNvPr id="1237" name="Google Shape;1237;p40"/>
          <p:cNvSpPr txBox="1"/>
          <p:nvPr/>
        </p:nvSpPr>
        <p:spPr>
          <a:xfrm>
            <a:off x="8957056" y="4888701"/>
            <a:ext cx="154305" cy="1784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000">
                <a:solidFill>
                  <a:srgbClr val="63738A"/>
                </a:solidFill>
                <a:latin typeface="Calibri"/>
                <a:ea typeface="Calibri"/>
                <a:cs typeface="Calibri"/>
                <a:sym typeface="Calibri"/>
              </a:rPr>
              <a:t>40</a:t>
            </a:r>
            <a:endParaRPr sz="1000">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41" name="Shape 1241"/>
        <p:cNvGrpSpPr/>
        <p:nvPr/>
      </p:nvGrpSpPr>
      <p:grpSpPr>
        <a:xfrm>
          <a:off x="0" y="0"/>
          <a:ext cx="0" cy="0"/>
          <a:chOff x="0" y="0"/>
          <a:chExt cx="0" cy="0"/>
        </a:xfrm>
      </p:grpSpPr>
      <p:sp>
        <p:nvSpPr>
          <p:cNvPr descr="$PPTXTitle" id="1242" name="Google Shape;1242;p41"/>
          <p:cNvSpPr txBox="1"/>
          <p:nvPr>
            <p:ph type="title"/>
          </p:nvPr>
        </p:nvSpPr>
        <p:spPr>
          <a:xfrm>
            <a:off x="444144" y="171629"/>
            <a:ext cx="3314700" cy="3917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solidFill>
                  <a:srgbClr val="101010"/>
                </a:solidFill>
              </a:rPr>
              <a:t>Attention vs self-attention</a:t>
            </a:r>
            <a:endParaRPr/>
          </a:p>
        </p:txBody>
      </p:sp>
      <p:grpSp>
        <p:nvGrpSpPr>
          <p:cNvPr id="1243" name="Google Shape;1243;p41"/>
          <p:cNvGrpSpPr/>
          <p:nvPr/>
        </p:nvGrpSpPr>
        <p:grpSpPr>
          <a:xfrm>
            <a:off x="412559" y="749517"/>
            <a:ext cx="8318881" cy="3173095"/>
            <a:chOff x="412559" y="749517"/>
            <a:chExt cx="8318881" cy="3173095"/>
          </a:xfrm>
        </p:grpSpPr>
        <p:sp>
          <p:nvSpPr>
            <p:cNvPr id="1244" name="Google Shape;1244;p41"/>
            <p:cNvSpPr/>
            <p:nvPr/>
          </p:nvSpPr>
          <p:spPr>
            <a:xfrm>
              <a:off x="457200" y="749517"/>
              <a:ext cx="1965960" cy="3173095"/>
            </a:xfrm>
            <a:custGeom>
              <a:rect b="b" l="l" r="r" t="t"/>
              <a:pathLst>
                <a:path extrusionOk="0" h="3173095" w="1965960">
                  <a:moveTo>
                    <a:pt x="1965604" y="0"/>
                  </a:moveTo>
                  <a:lnTo>
                    <a:pt x="0" y="0"/>
                  </a:lnTo>
                  <a:lnTo>
                    <a:pt x="0" y="3172688"/>
                  </a:lnTo>
                  <a:lnTo>
                    <a:pt x="982802" y="3172688"/>
                  </a:lnTo>
                  <a:lnTo>
                    <a:pt x="1965604" y="3172688"/>
                  </a:lnTo>
                  <a:lnTo>
                    <a:pt x="1965604" y="0"/>
                  </a:lnTo>
                  <a:close/>
                </a:path>
              </a:pathLst>
            </a:custGeom>
            <a:solidFill>
              <a:srgbClr val="F1F0E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45" name="Google Shape;1245;p41"/>
            <p:cNvSpPr/>
            <p:nvPr/>
          </p:nvSpPr>
          <p:spPr>
            <a:xfrm>
              <a:off x="2423160" y="749517"/>
              <a:ext cx="3131820" cy="420370"/>
            </a:xfrm>
            <a:custGeom>
              <a:rect b="b" l="l" r="r" t="t"/>
              <a:pathLst>
                <a:path extrusionOk="0" h="420369" w="3131820">
                  <a:moveTo>
                    <a:pt x="3131273" y="0"/>
                  </a:moveTo>
                  <a:lnTo>
                    <a:pt x="0" y="0"/>
                  </a:lnTo>
                  <a:lnTo>
                    <a:pt x="0" y="420128"/>
                  </a:lnTo>
                  <a:lnTo>
                    <a:pt x="1565643" y="420128"/>
                  </a:lnTo>
                  <a:lnTo>
                    <a:pt x="3131273" y="420128"/>
                  </a:lnTo>
                  <a:lnTo>
                    <a:pt x="3131273" y="0"/>
                  </a:lnTo>
                  <a:close/>
                </a:path>
              </a:pathLst>
            </a:custGeom>
            <a:solidFill>
              <a:srgbClr val="D8F4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46" name="Google Shape;1246;p41"/>
            <p:cNvSpPr/>
            <p:nvPr/>
          </p:nvSpPr>
          <p:spPr>
            <a:xfrm>
              <a:off x="5554802" y="749517"/>
              <a:ext cx="3131820" cy="420370"/>
            </a:xfrm>
            <a:custGeom>
              <a:rect b="b" l="l" r="r" t="t"/>
              <a:pathLst>
                <a:path extrusionOk="0" h="420369" w="3131820">
                  <a:moveTo>
                    <a:pt x="3131273" y="0"/>
                  </a:moveTo>
                  <a:lnTo>
                    <a:pt x="0" y="0"/>
                  </a:lnTo>
                  <a:lnTo>
                    <a:pt x="0" y="420128"/>
                  </a:lnTo>
                  <a:lnTo>
                    <a:pt x="1565643" y="420128"/>
                  </a:lnTo>
                  <a:lnTo>
                    <a:pt x="3131273" y="420128"/>
                  </a:lnTo>
                  <a:lnTo>
                    <a:pt x="3131273" y="0"/>
                  </a:lnTo>
                  <a:close/>
                </a:path>
              </a:pathLst>
            </a:custGeom>
            <a:solidFill>
              <a:srgbClr val="EBE9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247" name="Google Shape;1247;p41"/>
            <p:cNvPicPr preferRelativeResize="0"/>
            <p:nvPr/>
          </p:nvPicPr>
          <p:blipFill rotWithShape="1">
            <a:blip r:embed="rId3">
              <a:alphaModFix/>
            </a:blip>
            <a:srcRect b="0" l="0" r="0" t="0"/>
            <a:stretch/>
          </p:blipFill>
          <p:spPr>
            <a:xfrm>
              <a:off x="412559" y="1145872"/>
              <a:ext cx="8318881" cy="88925"/>
            </a:xfrm>
            <a:prstGeom prst="rect">
              <a:avLst/>
            </a:prstGeom>
            <a:noFill/>
            <a:ln>
              <a:noFill/>
            </a:ln>
          </p:spPr>
        </p:pic>
        <p:pic>
          <p:nvPicPr>
            <p:cNvPr id="1248" name="Google Shape;1248;p41"/>
            <p:cNvPicPr preferRelativeResize="0"/>
            <p:nvPr/>
          </p:nvPicPr>
          <p:blipFill rotWithShape="1">
            <a:blip r:embed="rId3">
              <a:alphaModFix/>
            </a:blip>
            <a:srcRect b="0" l="0" r="0" t="0"/>
            <a:stretch/>
          </p:blipFill>
          <p:spPr>
            <a:xfrm>
              <a:off x="412559" y="1987196"/>
              <a:ext cx="8318881" cy="88925"/>
            </a:xfrm>
            <a:prstGeom prst="rect">
              <a:avLst/>
            </a:prstGeom>
            <a:noFill/>
            <a:ln>
              <a:noFill/>
            </a:ln>
          </p:spPr>
        </p:pic>
        <p:pic>
          <p:nvPicPr>
            <p:cNvPr id="1249" name="Google Shape;1249;p41"/>
            <p:cNvPicPr preferRelativeResize="0"/>
            <p:nvPr/>
          </p:nvPicPr>
          <p:blipFill rotWithShape="1">
            <a:blip r:embed="rId3">
              <a:alphaModFix/>
            </a:blip>
            <a:srcRect b="0" l="0" r="0" t="0"/>
            <a:stretch/>
          </p:blipFill>
          <p:spPr>
            <a:xfrm>
              <a:off x="412559" y="2553832"/>
              <a:ext cx="8318881" cy="88925"/>
            </a:xfrm>
            <a:prstGeom prst="rect">
              <a:avLst/>
            </a:prstGeom>
            <a:noFill/>
            <a:ln>
              <a:noFill/>
            </a:ln>
          </p:spPr>
        </p:pic>
        <p:pic>
          <p:nvPicPr>
            <p:cNvPr id="1250" name="Google Shape;1250;p41"/>
            <p:cNvPicPr preferRelativeResize="0"/>
            <p:nvPr/>
          </p:nvPicPr>
          <p:blipFill rotWithShape="1">
            <a:blip r:embed="rId3">
              <a:alphaModFix/>
            </a:blip>
            <a:srcRect b="0" l="0" r="0" t="0"/>
            <a:stretch/>
          </p:blipFill>
          <p:spPr>
            <a:xfrm>
              <a:off x="412559" y="3120836"/>
              <a:ext cx="8318881" cy="88925"/>
            </a:xfrm>
            <a:prstGeom prst="rect">
              <a:avLst/>
            </a:prstGeom>
            <a:noFill/>
            <a:ln>
              <a:noFill/>
            </a:ln>
          </p:spPr>
        </p:pic>
      </p:grpSp>
      <p:sp>
        <p:nvSpPr>
          <p:cNvPr id="1251" name="Google Shape;1251;p41"/>
          <p:cNvSpPr/>
          <p:nvPr/>
        </p:nvSpPr>
        <p:spPr>
          <a:xfrm>
            <a:off x="2605684" y="1645922"/>
            <a:ext cx="1701164" cy="292735"/>
          </a:xfrm>
          <a:custGeom>
            <a:rect b="b" l="l" r="r" t="t"/>
            <a:pathLst>
              <a:path extrusionOk="0" h="292735" w="1701164">
                <a:moveTo>
                  <a:pt x="1583270" y="0"/>
                </a:moveTo>
                <a:lnTo>
                  <a:pt x="116992" y="0"/>
                </a:lnTo>
                <a:lnTo>
                  <a:pt x="101679" y="1006"/>
                </a:lnTo>
                <a:lnTo>
                  <a:pt x="58674" y="15481"/>
                </a:lnTo>
                <a:lnTo>
                  <a:pt x="24253" y="45651"/>
                </a:lnTo>
                <a:lnTo>
                  <a:pt x="3994" y="86758"/>
                </a:lnTo>
                <a:lnTo>
                  <a:pt x="0" y="117005"/>
                </a:lnTo>
                <a:lnTo>
                  <a:pt x="0" y="175679"/>
                </a:lnTo>
                <a:lnTo>
                  <a:pt x="977" y="190613"/>
                </a:lnTo>
                <a:lnTo>
                  <a:pt x="1000" y="190968"/>
                </a:lnTo>
                <a:lnTo>
                  <a:pt x="3896" y="205603"/>
                </a:lnTo>
                <a:lnTo>
                  <a:pt x="3959" y="205919"/>
                </a:lnTo>
                <a:lnTo>
                  <a:pt x="8738" y="220121"/>
                </a:lnTo>
                <a:lnTo>
                  <a:pt x="34199" y="258392"/>
                </a:lnTo>
                <a:lnTo>
                  <a:pt x="72193" y="283715"/>
                </a:lnTo>
                <a:lnTo>
                  <a:pt x="116992" y="292684"/>
                </a:lnTo>
                <a:lnTo>
                  <a:pt x="1583639" y="292315"/>
                </a:lnTo>
                <a:lnTo>
                  <a:pt x="1628287" y="283507"/>
                </a:lnTo>
                <a:lnTo>
                  <a:pt x="1666343" y="258116"/>
                </a:lnTo>
                <a:lnTo>
                  <a:pt x="1691570" y="220329"/>
                </a:lnTo>
                <a:lnTo>
                  <a:pt x="1699554" y="190968"/>
                </a:lnTo>
                <a:lnTo>
                  <a:pt x="1699625" y="190613"/>
                </a:lnTo>
                <a:lnTo>
                  <a:pt x="1700608" y="175679"/>
                </a:lnTo>
                <a:lnTo>
                  <a:pt x="1700631" y="175323"/>
                </a:lnTo>
                <a:lnTo>
                  <a:pt x="1700276" y="117005"/>
                </a:lnTo>
                <a:lnTo>
                  <a:pt x="1691467" y="72344"/>
                </a:lnTo>
                <a:lnTo>
                  <a:pt x="1666076" y="34288"/>
                </a:lnTo>
                <a:lnTo>
                  <a:pt x="1628081" y="8958"/>
                </a:lnTo>
                <a:lnTo>
                  <a:pt x="1598568" y="1006"/>
                </a:lnTo>
                <a:lnTo>
                  <a:pt x="1583270" y="0"/>
                </a:lnTo>
                <a:close/>
              </a:path>
            </a:pathLst>
          </a:custGeom>
          <a:solidFill>
            <a:srgbClr val="DEF2E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52" name="Google Shape;1252;p41"/>
          <p:cNvSpPr/>
          <p:nvPr/>
        </p:nvSpPr>
        <p:spPr>
          <a:xfrm>
            <a:off x="5737313" y="1645922"/>
            <a:ext cx="1801495" cy="292735"/>
          </a:xfrm>
          <a:custGeom>
            <a:rect b="b" l="l" r="r" t="t"/>
            <a:pathLst>
              <a:path extrusionOk="0" h="292735" w="1801495">
                <a:moveTo>
                  <a:pt x="1684083" y="0"/>
                </a:moveTo>
                <a:lnTo>
                  <a:pt x="117005" y="0"/>
                </a:lnTo>
                <a:lnTo>
                  <a:pt x="101687" y="1006"/>
                </a:lnTo>
                <a:lnTo>
                  <a:pt x="58686" y="15481"/>
                </a:lnTo>
                <a:lnTo>
                  <a:pt x="24260" y="45651"/>
                </a:lnTo>
                <a:lnTo>
                  <a:pt x="4001" y="86758"/>
                </a:lnTo>
                <a:lnTo>
                  <a:pt x="0" y="117005"/>
                </a:lnTo>
                <a:lnTo>
                  <a:pt x="0" y="175679"/>
                </a:lnTo>
                <a:lnTo>
                  <a:pt x="979" y="190613"/>
                </a:lnTo>
                <a:lnTo>
                  <a:pt x="1002" y="190968"/>
                </a:lnTo>
                <a:lnTo>
                  <a:pt x="3901" y="205603"/>
                </a:lnTo>
                <a:lnTo>
                  <a:pt x="3963" y="205919"/>
                </a:lnTo>
                <a:lnTo>
                  <a:pt x="8743" y="220121"/>
                </a:lnTo>
                <a:lnTo>
                  <a:pt x="8813" y="220329"/>
                </a:lnTo>
                <a:lnTo>
                  <a:pt x="15481" y="233997"/>
                </a:lnTo>
                <a:lnTo>
                  <a:pt x="45661" y="268425"/>
                </a:lnTo>
                <a:lnTo>
                  <a:pt x="86720" y="288674"/>
                </a:lnTo>
                <a:lnTo>
                  <a:pt x="117005" y="292684"/>
                </a:lnTo>
                <a:lnTo>
                  <a:pt x="1684451" y="292315"/>
                </a:lnTo>
                <a:lnTo>
                  <a:pt x="1729100" y="283507"/>
                </a:lnTo>
                <a:lnTo>
                  <a:pt x="1767155" y="258116"/>
                </a:lnTo>
                <a:lnTo>
                  <a:pt x="1792383" y="220329"/>
                </a:lnTo>
                <a:lnTo>
                  <a:pt x="1800366" y="190968"/>
                </a:lnTo>
                <a:lnTo>
                  <a:pt x="1800437" y="190613"/>
                </a:lnTo>
                <a:lnTo>
                  <a:pt x="1801420" y="175679"/>
                </a:lnTo>
                <a:lnTo>
                  <a:pt x="1801444" y="175323"/>
                </a:lnTo>
                <a:lnTo>
                  <a:pt x="1801088" y="117005"/>
                </a:lnTo>
                <a:lnTo>
                  <a:pt x="1792280" y="72344"/>
                </a:lnTo>
                <a:lnTo>
                  <a:pt x="1766889" y="34288"/>
                </a:lnTo>
                <a:lnTo>
                  <a:pt x="1728889" y="8958"/>
                </a:lnTo>
                <a:lnTo>
                  <a:pt x="1699379" y="1006"/>
                </a:lnTo>
                <a:lnTo>
                  <a:pt x="1684083" y="0"/>
                </a:lnTo>
                <a:close/>
              </a:path>
            </a:pathLst>
          </a:custGeom>
          <a:solidFill>
            <a:srgbClr val="EBE9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253" name="Google Shape;1253;p41"/>
          <p:cNvPicPr preferRelativeResize="0"/>
          <p:nvPr/>
        </p:nvPicPr>
        <p:blipFill rotWithShape="1">
          <a:blip r:embed="rId3">
            <a:alphaModFix/>
          </a:blip>
          <a:srcRect b="0" l="0" r="0" t="0"/>
          <a:stretch/>
        </p:blipFill>
        <p:spPr>
          <a:xfrm>
            <a:off x="412559" y="3898076"/>
            <a:ext cx="8318881" cy="88925"/>
          </a:xfrm>
          <a:prstGeom prst="rect">
            <a:avLst/>
          </a:prstGeom>
          <a:noFill/>
          <a:ln>
            <a:noFill/>
          </a:ln>
        </p:spPr>
      </p:pic>
      <p:graphicFrame>
        <p:nvGraphicFramePr>
          <p:cNvPr id="1254" name="Google Shape;1254;p41"/>
          <p:cNvGraphicFramePr/>
          <p:nvPr/>
        </p:nvGraphicFramePr>
        <p:xfrm>
          <a:off x="452164" y="744660"/>
          <a:ext cx="3000000" cy="3000000"/>
        </p:xfrm>
        <a:graphic>
          <a:graphicData uri="http://schemas.openxmlformats.org/drawingml/2006/table">
            <a:tbl>
              <a:tblPr bandRow="1" firstRow="1">
                <a:noFill/>
                <a:tableStyleId>{17F75444-8990-4049-B4A0-D4880F097619}</a:tableStyleId>
              </a:tblPr>
              <a:tblGrid>
                <a:gridCol w="1984375"/>
                <a:gridCol w="2417450"/>
                <a:gridCol w="714375"/>
                <a:gridCol w="3113400"/>
              </a:tblGrid>
              <a:tr h="420375">
                <a:tc>
                  <a:txBody>
                    <a:bodyPr/>
                    <a:lstStyle/>
                    <a:p>
                      <a:pPr indent="0" lvl="0" marL="0" marR="0" rtl="0" algn="l">
                        <a:lnSpc>
                          <a:spcPct val="100000"/>
                        </a:lnSpc>
                        <a:spcBef>
                          <a:spcPts val="0"/>
                        </a:spcBef>
                        <a:spcAft>
                          <a:spcPts val="0"/>
                        </a:spcAft>
                        <a:buNone/>
                      </a:pPr>
                      <a:r>
                        <a:t/>
                      </a:r>
                      <a:endParaRPr sz="1300" u="none" cap="none" strike="noStrike">
                        <a:latin typeface="Times New Roman"/>
                        <a:ea typeface="Times New Roman"/>
                        <a:cs typeface="Times New Roman"/>
                        <a:sym typeface="Times New Roman"/>
                      </a:endParaRPr>
                    </a:p>
                  </a:txBody>
                  <a:tcPr marT="0" marB="0" marR="0" marL="0">
                    <a:lnL cap="flat" cmpd="sng" w="9525">
                      <a:solidFill>
                        <a:srgbClr val="DCDBD4"/>
                      </a:solidFill>
                      <a:prstDash val="solid"/>
                      <a:round/>
                      <a:headEnd len="sm" w="sm" type="none"/>
                      <a:tailEnd len="sm" w="sm" type="none"/>
                    </a:lnL>
                    <a:lnR cap="flat" cmpd="sng" w="38100">
                      <a:solidFill>
                        <a:srgbClr val="3EBE94"/>
                      </a:solidFill>
                      <a:prstDash val="solid"/>
                      <a:round/>
                      <a:headEnd len="sm" w="sm" type="none"/>
                      <a:tailEnd len="sm" w="sm" type="none"/>
                    </a:lnR>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gridSpan="2">
                  <a:txBody>
                    <a:bodyPr/>
                    <a:lstStyle/>
                    <a:p>
                      <a:pPr indent="0" lvl="0" marL="164465" marR="0" rtl="0" algn="l">
                        <a:lnSpc>
                          <a:spcPct val="100000"/>
                        </a:lnSpc>
                        <a:spcBef>
                          <a:spcPts val="0"/>
                        </a:spcBef>
                        <a:spcAft>
                          <a:spcPts val="0"/>
                        </a:spcAft>
                        <a:buNone/>
                      </a:pPr>
                      <a:r>
                        <a:rPr b="1" lang="en-US" sz="1500" u="none" cap="none" strike="noStrike">
                          <a:solidFill>
                            <a:srgbClr val="0E795B"/>
                          </a:solidFill>
                          <a:latin typeface="Calibri"/>
                          <a:ea typeface="Calibri"/>
                          <a:cs typeface="Calibri"/>
                          <a:sym typeface="Calibri"/>
                        </a:rPr>
                        <a:t>Attention (Bahdanau)</a:t>
                      </a:r>
                      <a:endParaRPr sz="1500" u="none" cap="none" strike="noStrike">
                        <a:latin typeface="Calibri"/>
                        <a:ea typeface="Calibri"/>
                        <a:cs typeface="Calibri"/>
                        <a:sym typeface="Calibri"/>
                      </a:endParaRPr>
                    </a:p>
                  </a:txBody>
                  <a:tcPr marT="625" marB="0" marR="0" marL="0">
                    <a:lnL cap="flat" cmpd="sng" w="38100">
                      <a:solidFill>
                        <a:srgbClr val="3EBE94"/>
                      </a:solidFill>
                      <a:prstDash val="solid"/>
                      <a:round/>
                      <a:headEnd len="sm" w="sm" type="none"/>
                      <a:tailEnd len="sm" w="sm" type="none"/>
                    </a:lnL>
                    <a:lnR cap="flat" cmpd="sng" w="38100">
                      <a:solidFill>
                        <a:srgbClr val="8B79E5"/>
                      </a:solidFill>
                      <a:prstDash val="solid"/>
                      <a:round/>
                      <a:headEnd len="sm" w="sm" type="none"/>
                      <a:tailEnd len="sm" w="sm" type="none"/>
                    </a:lnR>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hMerge="1"/>
                <a:tc>
                  <a:txBody>
                    <a:bodyPr/>
                    <a:lstStyle/>
                    <a:p>
                      <a:pPr indent="0" lvl="0" marL="164465" marR="0" rtl="0" algn="l">
                        <a:lnSpc>
                          <a:spcPct val="100000"/>
                        </a:lnSpc>
                        <a:spcBef>
                          <a:spcPts val="0"/>
                        </a:spcBef>
                        <a:spcAft>
                          <a:spcPts val="0"/>
                        </a:spcAft>
                        <a:buNone/>
                      </a:pPr>
                      <a:r>
                        <a:rPr b="1" lang="en-US" sz="1500" u="none" cap="none" strike="noStrike">
                          <a:solidFill>
                            <a:srgbClr val="4A3E90"/>
                          </a:solidFill>
                          <a:latin typeface="Calibri"/>
                          <a:ea typeface="Calibri"/>
                          <a:cs typeface="Calibri"/>
                          <a:sym typeface="Calibri"/>
                        </a:rPr>
                        <a:t>Self-attention (Transformer)</a:t>
                      </a:r>
                      <a:endParaRPr sz="1500" u="none" cap="none" strike="noStrike">
                        <a:latin typeface="Calibri"/>
                        <a:ea typeface="Calibri"/>
                        <a:cs typeface="Calibri"/>
                        <a:sym typeface="Calibri"/>
                      </a:endParaRPr>
                    </a:p>
                  </a:txBody>
                  <a:tcPr marT="625" marB="0" marR="0" marL="0">
                    <a:lnL cap="flat" cmpd="sng" w="38100">
                      <a:solidFill>
                        <a:srgbClr val="8B79E5"/>
                      </a:solidFill>
                      <a:prstDash val="solid"/>
                      <a:round/>
                      <a:headEnd len="sm" w="sm" type="none"/>
                      <a:tailEnd len="sm" w="sm" type="none"/>
                    </a:lnL>
                    <a:lnR cap="flat" cmpd="sng" w="9525">
                      <a:solidFill>
                        <a:srgbClr val="DCDBD4"/>
                      </a:solidFill>
                      <a:prstDash val="solid"/>
                      <a:round/>
                      <a:headEnd len="sm" w="sm" type="none"/>
                      <a:tailEnd len="sm" w="sm" type="none"/>
                    </a:lnR>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r>
              <a:tr h="840750">
                <a:tc>
                  <a:txBody>
                    <a:bodyPr/>
                    <a:lstStyle/>
                    <a:p>
                      <a:pPr indent="0" lvl="0" marL="182245" marR="0" rtl="0" algn="l">
                        <a:lnSpc>
                          <a:spcPct val="111538"/>
                        </a:lnSpc>
                        <a:spcBef>
                          <a:spcPts val="0"/>
                        </a:spcBef>
                        <a:spcAft>
                          <a:spcPts val="0"/>
                        </a:spcAft>
                        <a:buNone/>
                      </a:pPr>
                      <a:r>
                        <a:rPr b="1" lang="en-US" sz="1300" u="none" cap="none" strike="noStrike">
                          <a:solidFill>
                            <a:srgbClr val="101010"/>
                          </a:solidFill>
                          <a:latin typeface="Calibri"/>
                          <a:ea typeface="Calibri"/>
                          <a:cs typeface="Calibri"/>
                          <a:sym typeface="Calibri"/>
                        </a:rPr>
                        <a:t>Who attends to whom?</a:t>
                      </a:r>
                      <a:endParaRPr sz="1300" u="none" cap="none" strike="noStrike">
                        <a:latin typeface="Calibri"/>
                        <a:ea typeface="Calibri"/>
                        <a:cs typeface="Calibri"/>
                        <a:sym typeface="Calibri"/>
                      </a:endParaRPr>
                    </a:p>
                  </a:txBody>
                  <a:tcPr marT="0" marB="0" marR="0" marL="0">
                    <a:lnL cap="flat" cmpd="sng" w="9525">
                      <a:solidFill>
                        <a:srgbClr val="DCDBD4"/>
                      </a:solidFill>
                      <a:prstDash val="solid"/>
                      <a:round/>
                      <a:headEnd len="sm" w="sm" type="none"/>
                      <a:tailEnd len="sm" w="sm" type="none"/>
                    </a:lnL>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0" marR="909955" rtl="0" algn="r">
                        <a:lnSpc>
                          <a:spcPct val="100000"/>
                        </a:lnSpc>
                        <a:spcBef>
                          <a:spcPts val="0"/>
                        </a:spcBef>
                        <a:spcAft>
                          <a:spcPts val="0"/>
                        </a:spcAft>
                        <a:buNone/>
                      </a:pPr>
                      <a:r>
                        <a:rPr lang="en-US" sz="1300" u="none" cap="none" strike="noStrike">
                          <a:solidFill>
                            <a:srgbClr val="101010"/>
                          </a:solidFill>
                          <a:latin typeface="Calibri"/>
                          <a:ea typeface="Calibri"/>
                          <a:cs typeface="Calibri"/>
                          <a:sym typeface="Calibri"/>
                        </a:rPr>
                        <a:t>Decoder → Encoder</a:t>
                      </a:r>
                      <a:endParaRPr sz="1300" u="none" cap="none" strike="noStrike">
                        <a:latin typeface="Calibri"/>
                        <a:ea typeface="Calibri"/>
                        <a:cs typeface="Calibri"/>
                        <a:sym typeface="Calibri"/>
                      </a:endParaRPr>
                    </a:p>
                    <a:p>
                      <a:pPr indent="0" lvl="0" marL="0" marR="0" rtl="0" algn="l">
                        <a:lnSpc>
                          <a:spcPct val="100000"/>
                        </a:lnSpc>
                        <a:spcBef>
                          <a:spcPts val="330"/>
                        </a:spcBef>
                        <a:spcAft>
                          <a:spcPts val="0"/>
                        </a:spcAft>
                        <a:buNone/>
                      </a:pPr>
                      <a:r>
                        <a:t/>
                      </a:r>
                      <a:endParaRPr sz="1300" u="none" cap="none" strike="noStrike">
                        <a:latin typeface="Times New Roman"/>
                        <a:ea typeface="Times New Roman"/>
                        <a:cs typeface="Times New Roman"/>
                        <a:sym typeface="Times New Roman"/>
                      </a:endParaRPr>
                    </a:p>
                    <a:p>
                      <a:pPr indent="0" lvl="0" marL="0" marR="951230" rtl="0" algn="r">
                        <a:lnSpc>
                          <a:spcPct val="100000"/>
                        </a:lnSpc>
                        <a:spcBef>
                          <a:spcPts val="0"/>
                        </a:spcBef>
                        <a:spcAft>
                          <a:spcPts val="0"/>
                        </a:spcAft>
                        <a:buNone/>
                      </a:pPr>
                      <a:r>
                        <a:rPr b="1" lang="en-US" sz="1100" u="none" cap="none" strike="noStrike">
                          <a:solidFill>
                            <a:srgbClr val="1E795B"/>
                          </a:solidFill>
                          <a:latin typeface="Calibri"/>
                          <a:ea typeface="Calibri"/>
                          <a:cs typeface="Calibri"/>
                          <a:sym typeface="Calibri"/>
                        </a:rPr>
                        <a:t>cross-sequence</a:t>
                      </a:r>
                      <a:endParaRPr sz="1100" u="none" cap="none" strike="noStrike">
                        <a:latin typeface="Calibri"/>
                        <a:ea typeface="Calibri"/>
                        <a:cs typeface="Calibri"/>
                        <a:sym typeface="Calibri"/>
                      </a:endParaRPr>
                    </a:p>
                  </a:txBody>
                  <a:tcPr marT="45725" marB="0" marR="0" marL="0">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300" u="none" cap="none" strike="noStrike">
                        <a:latin typeface="Times New Roman"/>
                        <a:ea typeface="Times New Roman"/>
                        <a:cs typeface="Times New Roman"/>
                        <a:sym typeface="Times New Roman"/>
                      </a:endParaRPr>
                    </a:p>
                  </a:txBody>
                  <a:tcPr marT="0" marB="0" marR="0" marL="0">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164465" marR="313690" rtl="0" algn="l">
                        <a:lnSpc>
                          <a:spcPct val="100000"/>
                        </a:lnSpc>
                        <a:spcBef>
                          <a:spcPts val="0"/>
                        </a:spcBef>
                        <a:spcAft>
                          <a:spcPts val="0"/>
                        </a:spcAft>
                        <a:buNone/>
                      </a:pPr>
                      <a:r>
                        <a:rPr lang="en-US" sz="1300" u="none" cap="none" strike="noStrike">
                          <a:solidFill>
                            <a:srgbClr val="101010"/>
                          </a:solidFill>
                          <a:latin typeface="Calibri"/>
                          <a:ea typeface="Calibri"/>
                          <a:cs typeface="Calibri"/>
                          <a:sym typeface="Calibri"/>
                        </a:rPr>
                        <a:t>Each word → every other word in same sequence</a:t>
                      </a:r>
                      <a:endParaRPr sz="1300" u="none" cap="none" strike="noStrike">
                        <a:latin typeface="Calibri"/>
                        <a:ea typeface="Calibri"/>
                        <a:cs typeface="Calibri"/>
                        <a:sym typeface="Calibri"/>
                      </a:endParaRPr>
                    </a:p>
                    <a:p>
                      <a:pPr indent="0" lvl="0" marL="582295" marR="0" rtl="0" algn="l">
                        <a:lnSpc>
                          <a:spcPct val="100000"/>
                        </a:lnSpc>
                        <a:spcBef>
                          <a:spcPts val="270"/>
                        </a:spcBef>
                        <a:spcAft>
                          <a:spcPts val="0"/>
                        </a:spcAft>
                        <a:buNone/>
                      </a:pPr>
                      <a:r>
                        <a:rPr b="1" lang="en-US" sz="1100" u="none" cap="none" strike="noStrike">
                          <a:solidFill>
                            <a:srgbClr val="4A3E90"/>
                          </a:solidFill>
                          <a:latin typeface="Calibri"/>
                          <a:ea typeface="Calibri"/>
                          <a:cs typeface="Calibri"/>
                          <a:sym typeface="Calibri"/>
                        </a:rPr>
                        <a:t>within-sequence</a:t>
                      </a:r>
                      <a:endParaRPr sz="1100" u="none" cap="none" strike="noStrike">
                        <a:latin typeface="Calibri"/>
                        <a:ea typeface="Calibri"/>
                        <a:cs typeface="Calibri"/>
                        <a:sym typeface="Calibri"/>
                      </a:endParaRPr>
                    </a:p>
                  </a:txBody>
                  <a:tcPr marT="45075" marB="0" marR="0" marL="0">
                    <a:lnR cap="flat" cmpd="sng" w="9525">
                      <a:solidFill>
                        <a:srgbClr val="DCDBD4"/>
                      </a:solidFill>
                      <a:prstDash val="solid"/>
                      <a:round/>
                      <a:headEnd len="sm" w="sm" type="none"/>
                      <a:tailEnd len="sm" w="sm" type="none"/>
                    </a:lnR>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r>
              <a:tr h="566425">
                <a:tc>
                  <a:txBody>
                    <a:bodyPr/>
                    <a:lstStyle/>
                    <a:p>
                      <a:pPr indent="0" lvl="0" marL="182245" marR="0" rtl="0" algn="l">
                        <a:lnSpc>
                          <a:spcPct val="100000"/>
                        </a:lnSpc>
                        <a:spcBef>
                          <a:spcPts val="0"/>
                        </a:spcBef>
                        <a:spcAft>
                          <a:spcPts val="0"/>
                        </a:spcAft>
                        <a:buNone/>
                      </a:pPr>
                      <a:r>
                        <a:rPr b="1" lang="en-US" sz="1300" u="none" cap="none" strike="noStrike">
                          <a:solidFill>
                            <a:srgbClr val="101010"/>
                          </a:solidFill>
                          <a:latin typeface="Calibri"/>
                          <a:ea typeface="Calibri"/>
                          <a:cs typeface="Calibri"/>
                          <a:sym typeface="Calibri"/>
                        </a:rPr>
                        <a:t>Used in</a:t>
                      </a:r>
                      <a:endParaRPr sz="1300" u="none" cap="none" strike="noStrike">
                        <a:latin typeface="Calibri"/>
                        <a:ea typeface="Calibri"/>
                        <a:cs typeface="Calibri"/>
                        <a:sym typeface="Calibri"/>
                      </a:endParaRPr>
                    </a:p>
                  </a:txBody>
                  <a:tcPr marT="0" marB="0" marR="0" marL="0">
                    <a:lnL cap="flat" cmpd="sng" w="9525">
                      <a:solidFill>
                        <a:srgbClr val="DCDBD4"/>
                      </a:solidFill>
                      <a:prstDash val="solid"/>
                      <a:round/>
                      <a:headEnd len="sm" w="sm" type="none"/>
                      <a:tailEnd len="sm" w="sm" type="none"/>
                    </a:lnL>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164465" marR="0" rtl="0" algn="l">
                        <a:lnSpc>
                          <a:spcPct val="100000"/>
                        </a:lnSpc>
                        <a:spcBef>
                          <a:spcPts val="0"/>
                        </a:spcBef>
                        <a:spcAft>
                          <a:spcPts val="0"/>
                        </a:spcAft>
                        <a:buNone/>
                      </a:pPr>
                      <a:r>
                        <a:rPr lang="en-US" sz="1300" u="none" cap="none" strike="noStrike">
                          <a:solidFill>
                            <a:srgbClr val="101010"/>
                          </a:solidFill>
                          <a:latin typeface="Calibri"/>
                          <a:ea typeface="Calibri"/>
                          <a:cs typeface="Calibri"/>
                          <a:sym typeface="Calibri"/>
                        </a:rPr>
                        <a:t>Seq2Seq translation (RNN-based)</a:t>
                      </a:r>
                      <a:endParaRPr sz="1300" u="none" cap="none" strike="noStrike">
                        <a:latin typeface="Calibri"/>
                        <a:ea typeface="Calibri"/>
                        <a:cs typeface="Calibri"/>
                        <a:sym typeface="Calibri"/>
                      </a:endParaRPr>
                    </a:p>
                  </a:txBody>
                  <a:tcPr marT="0" marB="0" marR="0" marL="0">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300" u="none" cap="none" strike="noStrike">
                        <a:latin typeface="Times New Roman"/>
                        <a:ea typeface="Times New Roman"/>
                        <a:cs typeface="Times New Roman"/>
                        <a:sym typeface="Times New Roman"/>
                      </a:endParaRPr>
                    </a:p>
                  </a:txBody>
                  <a:tcPr marT="0" marB="0" marR="0" marL="0">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164465" marR="0" rtl="0" algn="l">
                        <a:lnSpc>
                          <a:spcPct val="100000"/>
                        </a:lnSpc>
                        <a:spcBef>
                          <a:spcPts val="0"/>
                        </a:spcBef>
                        <a:spcAft>
                          <a:spcPts val="0"/>
                        </a:spcAft>
                        <a:buNone/>
                      </a:pPr>
                      <a:r>
                        <a:rPr lang="en-US" sz="1300" u="none" cap="none" strike="noStrike">
                          <a:solidFill>
                            <a:srgbClr val="101010"/>
                          </a:solidFill>
                          <a:latin typeface="Calibri"/>
                          <a:ea typeface="Calibri"/>
                          <a:cs typeface="Calibri"/>
                          <a:sym typeface="Calibri"/>
                        </a:rPr>
                        <a:t>Transformers: BERT, GPT, T5</a:t>
                      </a:r>
                      <a:endParaRPr sz="1300" u="none" cap="none" strike="noStrike">
                        <a:latin typeface="Calibri"/>
                        <a:ea typeface="Calibri"/>
                        <a:cs typeface="Calibri"/>
                        <a:sym typeface="Calibri"/>
                      </a:endParaRPr>
                    </a:p>
                  </a:txBody>
                  <a:tcPr marT="0" marB="0" marR="0" marL="0">
                    <a:lnR cap="flat" cmpd="sng" w="9525">
                      <a:solidFill>
                        <a:srgbClr val="DCDBD4"/>
                      </a:solidFill>
                      <a:prstDash val="solid"/>
                      <a:round/>
                      <a:headEnd len="sm" w="sm" type="none"/>
                      <a:tailEnd len="sm" w="sm" type="none"/>
                    </a:lnR>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r>
              <a:tr h="566425">
                <a:tc>
                  <a:txBody>
                    <a:bodyPr/>
                    <a:lstStyle/>
                    <a:p>
                      <a:pPr indent="0" lvl="0" marL="182245" marR="0" rtl="0" algn="l">
                        <a:lnSpc>
                          <a:spcPct val="100000"/>
                        </a:lnSpc>
                        <a:spcBef>
                          <a:spcPts val="0"/>
                        </a:spcBef>
                        <a:spcAft>
                          <a:spcPts val="0"/>
                        </a:spcAft>
                        <a:buNone/>
                      </a:pPr>
                      <a:r>
                        <a:rPr b="1" lang="en-US" sz="1300" u="none" cap="none" strike="noStrike">
                          <a:solidFill>
                            <a:srgbClr val="101010"/>
                          </a:solidFill>
                          <a:latin typeface="Calibri"/>
                          <a:ea typeface="Calibri"/>
                          <a:cs typeface="Calibri"/>
                          <a:sym typeface="Calibri"/>
                        </a:rPr>
                        <a:t>Replaces</a:t>
                      </a:r>
                      <a:endParaRPr sz="1300" u="none" cap="none" strike="noStrike">
                        <a:latin typeface="Calibri"/>
                        <a:ea typeface="Calibri"/>
                        <a:cs typeface="Calibri"/>
                        <a:sym typeface="Calibri"/>
                      </a:endParaRPr>
                    </a:p>
                  </a:txBody>
                  <a:tcPr marT="625" marB="0" marR="0" marL="0">
                    <a:lnL cap="flat" cmpd="sng" w="9525">
                      <a:solidFill>
                        <a:srgbClr val="DCDBD4"/>
                      </a:solidFill>
                      <a:prstDash val="solid"/>
                      <a:round/>
                      <a:headEnd len="sm" w="sm" type="none"/>
                      <a:tailEnd len="sm" w="sm" type="none"/>
                    </a:lnL>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164465" marR="0" rtl="0" algn="l">
                        <a:lnSpc>
                          <a:spcPct val="100000"/>
                        </a:lnSpc>
                        <a:spcBef>
                          <a:spcPts val="0"/>
                        </a:spcBef>
                        <a:spcAft>
                          <a:spcPts val="0"/>
                        </a:spcAft>
                        <a:buNone/>
                      </a:pPr>
                      <a:r>
                        <a:rPr lang="en-US" sz="1300" u="none" cap="none" strike="noStrike">
                          <a:solidFill>
                            <a:srgbClr val="101010"/>
                          </a:solidFill>
                          <a:latin typeface="Calibri"/>
                          <a:ea typeface="Calibri"/>
                          <a:cs typeface="Calibri"/>
                          <a:sym typeface="Calibri"/>
                        </a:rPr>
                        <a:t>Fixed context vector bottleneck</a:t>
                      </a:r>
                      <a:endParaRPr sz="1300" u="none" cap="none" strike="noStrike">
                        <a:latin typeface="Calibri"/>
                        <a:ea typeface="Calibri"/>
                        <a:cs typeface="Calibri"/>
                        <a:sym typeface="Calibri"/>
                      </a:endParaRPr>
                    </a:p>
                  </a:txBody>
                  <a:tcPr marT="625" marB="0" marR="0" marL="0">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300" u="none" cap="none" strike="noStrike">
                        <a:latin typeface="Times New Roman"/>
                        <a:ea typeface="Times New Roman"/>
                        <a:cs typeface="Times New Roman"/>
                        <a:sym typeface="Times New Roman"/>
                      </a:endParaRPr>
                    </a:p>
                  </a:txBody>
                  <a:tcPr marT="0" marB="0" marR="0" marL="0">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c>
                  <a:txBody>
                    <a:bodyPr/>
                    <a:lstStyle/>
                    <a:p>
                      <a:pPr indent="0" lvl="0" marL="164465" marR="0" rtl="0" algn="l">
                        <a:lnSpc>
                          <a:spcPct val="100000"/>
                        </a:lnSpc>
                        <a:spcBef>
                          <a:spcPts val="0"/>
                        </a:spcBef>
                        <a:spcAft>
                          <a:spcPts val="0"/>
                        </a:spcAft>
                        <a:buNone/>
                      </a:pPr>
                      <a:r>
                        <a:rPr lang="en-US" sz="1300" u="none" cap="none" strike="noStrike">
                          <a:solidFill>
                            <a:srgbClr val="101010"/>
                          </a:solidFill>
                          <a:latin typeface="Calibri"/>
                          <a:ea typeface="Calibri"/>
                          <a:cs typeface="Calibri"/>
                          <a:sym typeface="Calibri"/>
                        </a:rPr>
                        <a:t>Sequential LSTM entirely</a:t>
                      </a:r>
                      <a:endParaRPr sz="1300" u="none" cap="none" strike="noStrike">
                        <a:latin typeface="Calibri"/>
                        <a:ea typeface="Calibri"/>
                        <a:cs typeface="Calibri"/>
                        <a:sym typeface="Calibri"/>
                      </a:endParaRPr>
                    </a:p>
                  </a:txBody>
                  <a:tcPr marT="625" marB="0" marR="0" marL="0">
                    <a:lnR cap="flat" cmpd="sng" w="9525">
                      <a:solidFill>
                        <a:srgbClr val="DCDBD4"/>
                      </a:solidFill>
                      <a:prstDash val="solid"/>
                      <a:round/>
                      <a:headEnd len="sm" w="sm" type="none"/>
                      <a:tailEnd len="sm" w="sm" type="none"/>
                    </a:lnR>
                    <a:lnT cap="flat" cmpd="sng" w="9525">
                      <a:solidFill>
                        <a:srgbClr val="DCDBD4"/>
                      </a:solidFill>
                      <a:prstDash val="solid"/>
                      <a:round/>
                      <a:headEnd len="sm" w="sm" type="none"/>
                      <a:tailEnd len="sm" w="sm" type="none"/>
                    </a:lnT>
                    <a:lnB cap="flat" cmpd="sng" w="9525">
                      <a:solidFill>
                        <a:srgbClr val="DCDBD4"/>
                      </a:solidFill>
                      <a:prstDash val="solid"/>
                      <a:round/>
                      <a:headEnd len="sm" w="sm" type="none"/>
                      <a:tailEnd len="sm" w="sm" type="none"/>
                    </a:lnB>
                  </a:tcPr>
                </a:tc>
              </a:tr>
              <a:tr h="777250">
                <a:tc>
                  <a:txBody>
                    <a:bodyPr/>
                    <a:lstStyle/>
                    <a:p>
                      <a:pPr indent="0" lvl="0" marL="182245" marR="0" rtl="0" algn="l">
                        <a:lnSpc>
                          <a:spcPct val="100000"/>
                        </a:lnSpc>
                        <a:spcBef>
                          <a:spcPts val="0"/>
                        </a:spcBef>
                        <a:spcAft>
                          <a:spcPts val="0"/>
                        </a:spcAft>
                        <a:buNone/>
                      </a:pPr>
                      <a:r>
                        <a:rPr b="1" lang="en-US" sz="1300" u="none" cap="none" strike="noStrike">
                          <a:solidFill>
                            <a:srgbClr val="101010"/>
                          </a:solidFill>
                          <a:latin typeface="Calibri"/>
                          <a:ea typeface="Calibri"/>
                          <a:cs typeface="Calibri"/>
                          <a:sym typeface="Calibri"/>
                        </a:rPr>
                        <a:t>Key formula</a:t>
                      </a:r>
                      <a:endParaRPr sz="1300" u="none" cap="none" strike="noStrike">
                        <a:latin typeface="Calibri"/>
                        <a:ea typeface="Calibri"/>
                        <a:cs typeface="Calibri"/>
                        <a:sym typeface="Calibri"/>
                      </a:endParaRPr>
                    </a:p>
                  </a:txBody>
                  <a:tcPr marT="625" marB="0" marR="0" marL="0">
                    <a:lnL cap="flat" cmpd="sng" w="9525">
                      <a:solidFill>
                        <a:srgbClr val="DCDBD4"/>
                      </a:solidFill>
                      <a:prstDash val="solid"/>
                      <a:round/>
                      <a:headEnd len="sm" w="sm" type="none"/>
                      <a:tailEnd len="sm" w="sm" type="none"/>
                    </a:lnL>
                    <a:lnT cap="flat" cmpd="sng" w="9525">
                      <a:solidFill>
                        <a:srgbClr val="DCDBD4"/>
                      </a:solidFill>
                      <a:prstDash val="solid"/>
                      <a:round/>
                      <a:headEnd len="sm" w="sm" type="none"/>
                      <a:tailEnd len="sm" w="sm" type="none"/>
                    </a:lnT>
                    <a:lnB cap="flat" cmpd="sng" w="12700">
                      <a:solidFill>
                        <a:srgbClr val="DCDBD4"/>
                      </a:solidFill>
                      <a:prstDash val="solid"/>
                      <a:round/>
                      <a:headEnd len="sm" w="sm" type="none"/>
                      <a:tailEnd len="sm" w="sm" type="none"/>
                    </a:lnB>
                  </a:tcPr>
                </a:tc>
                <a:tc>
                  <a:txBody>
                    <a:bodyPr/>
                    <a:lstStyle/>
                    <a:p>
                      <a:pPr indent="0" lvl="0" marL="164465" marR="0" rtl="0" algn="l">
                        <a:lnSpc>
                          <a:spcPct val="100000"/>
                        </a:lnSpc>
                        <a:spcBef>
                          <a:spcPts val="0"/>
                        </a:spcBef>
                        <a:spcAft>
                          <a:spcPts val="0"/>
                        </a:spcAft>
                        <a:buNone/>
                      </a:pPr>
                      <a:r>
                        <a:rPr lang="en-US" sz="1300" u="none" cap="none" strike="noStrike">
                          <a:solidFill>
                            <a:srgbClr val="191E25"/>
                          </a:solidFill>
                          <a:latin typeface="Helvetica Neue"/>
                          <a:ea typeface="Helvetica Neue"/>
                          <a:cs typeface="Helvetica Neue"/>
                          <a:sym typeface="Helvetica Neue"/>
                        </a:rPr>
                        <a:t>cₜ = Σ αᵢ · hᵢ</a:t>
                      </a:r>
                      <a:endParaRPr sz="1300" u="none" cap="none" strike="noStrike">
                        <a:latin typeface="Helvetica Neue"/>
                        <a:ea typeface="Helvetica Neue"/>
                        <a:cs typeface="Helvetica Neue"/>
                        <a:sym typeface="Helvetica Neue"/>
                      </a:endParaRPr>
                    </a:p>
                    <a:p>
                      <a:pPr indent="0" lvl="0" marL="164465" marR="0" rtl="0" algn="l">
                        <a:lnSpc>
                          <a:spcPct val="100000"/>
                        </a:lnSpc>
                        <a:spcBef>
                          <a:spcPts val="70"/>
                        </a:spcBef>
                        <a:spcAft>
                          <a:spcPts val="0"/>
                        </a:spcAft>
                        <a:buNone/>
                      </a:pPr>
                      <a:r>
                        <a:rPr lang="en-US" sz="1200" u="none" cap="none" strike="noStrike">
                          <a:solidFill>
                            <a:srgbClr val="191E25"/>
                          </a:solidFill>
                          <a:latin typeface="Helvetica Neue"/>
                          <a:ea typeface="Helvetica Neue"/>
                          <a:cs typeface="Helvetica Neue"/>
                          <a:sym typeface="Helvetica Neue"/>
                        </a:rPr>
                        <a:t>αᵢ = softmax(FF(s_{t-1},</a:t>
                      </a:r>
                      <a:endParaRPr sz="1200" u="none" cap="none" strike="noStrike">
                        <a:latin typeface="Helvetica Neue"/>
                        <a:ea typeface="Helvetica Neue"/>
                        <a:cs typeface="Helvetica Neue"/>
                        <a:sym typeface="Helvetica Neue"/>
                      </a:endParaRPr>
                    </a:p>
                  </a:txBody>
                  <a:tcPr marT="6975" marB="0" marR="0" marL="0">
                    <a:lnT cap="flat" cmpd="sng" w="9525">
                      <a:solidFill>
                        <a:srgbClr val="DCDBD4"/>
                      </a:solidFill>
                      <a:prstDash val="solid"/>
                      <a:round/>
                      <a:headEnd len="sm" w="sm" type="none"/>
                      <a:tailEnd len="sm" w="sm" type="none"/>
                    </a:lnT>
                    <a:lnB cap="flat" cmpd="sng" w="12700">
                      <a:solidFill>
                        <a:srgbClr val="DCDBD4"/>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u="none" cap="none" strike="noStrike">
                        <a:latin typeface="Times New Roman"/>
                        <a:ea typeface="Times New Roman"/>
                        <a:cs typeface="Times New Roman"/>
                        <a:sym typeface="Times New Roman"/>
                      </a:endParaRPr>
                    </a:p>
                    <a:p>
                      <a:pPr indent="0" lvl="0" marL="38100" marR="0" rtl="0" algn="l">
                        <a:lnSpc>
                          <a:spcPct val="100000"/>
                        </a:lnSpc>
                        <a:spcBef>
                          <a:spcPts val="0"/>
                        </a:spcBef>
                        <a:spcAft>
                          <a:spcPts val="0"/>
                        </a:spcAft>
                        <a:buNone/>
                      </a:pPr>
                      <a:r>
                        <a:rPr lang="en-US" sz="1200" u="none" cap="none" strike="noStrike">
                          <a:solidFill>
                            <a:srgbClr val="191E25"/>
                          </a:solidFill>
                          <a:latin typeface="Helvetica Neue"/>
                          <a:ea typeface="Helvetica Neue"/>
                          <a:cs typeface="Helvetica Neue"/>
                          <a:sym typeface="Helvetica Neue"/>
                        </a:rPr>
                        <a:t>hᵢ))</a:t>
                      </a:r>
                      <a:endParaRPr sz="1200" u="none" cap="none" strike="noStrike">
                        <a:latin typeface="Helvetica Neue"/>
                        <a:ea typeface="Helvetica Neue"/>
                        <a:cs typeface="Helvetica Neue"/>
                        <a:sym typeface="Helvetica Neue"/>
                      </a:endParaRPr>
                    </a:p>
                  </a:txBody>
                  <a:tcPr marT="38725" marB="0" marR="0" marL="0">
                    <a:lnT cap="flat" cmpd="sng" w="9525">
                      <a:solidFill>
                        <a:srgbClr val="DCDBD4"/>
                      </a:solidFill>
                      <a:prstDash val="solid"/>
                      <a:round/>
                      <a:headEnd len="sm" w="sm" type="none"/>
                      <a:tailEnd len="sm" w="sm" type="none"/>
                    </a:lnT>
                    <a:lnB cap="flat" cmpd="sng" w="12700">
                      <a:solidFill>
                        <a:srgbClr val="DCDBD4"/>
                      </a:solidFill>
                      <a:prstDash val="solid"/>
                      <a:round/>
                      <a:headEnd len="sm" w="sm" type="none"/>
                      <a:tailEnd len="sm" w="sm" type="none"/>
                    </a:lnB>
                  </a:tcPr>
                </a:tc>
                <a:tc>
                  <a:txBody>
                    <a:bodyPr/>
                    <a:lstStyle/>
                    <a:p>
                      <a:pPr indent="0" lvl="0" marL="164465" marR="1055370" rtl="0" algn="l">
                        <a:lnSpc>
                          <a:spcPct val="126076"/>
                        </a:lnSpc>
                        <a:spcBef>
                          <a:spcPts val="0"/>
                        </a:spcBef>
                        <a:spcAft>
                          <a:spcPts val="0"/>
                        </a:spcAft>
                        <a:buNone/>
                      </a:pPr>
                      <a:r>
                        <a:rPr lang="en-US" sz="1300" u="none" cap="none" strike="noStrike">
                          <a:solidFill>
                            <a:srgbClr val="191E25"/>
                          </a:solidFill>
                          <a:latin typeface="Helvetica Neue"/>
                          <a:ea typeface="Helvetica Neue"/>
                          <a:cs typeface="Helvetica Neue"/>
                          <a:sym typeface="Helvetica Neue"/>
                        </a:rPr>
                        <a:t>Attention(Q,K,V) = softmax(QKᵀ/√d) · V</a:t>
                      </a:r>
                      <a:endParaRPr sz="1300" u="none" cap="none" strike="noStrike">
                        <a:latin typeface="Helvetica Neue"/>
                        <a:ea typeface="Helvetica Neue"/>
                        <a:cs typeface="Helvetica Neue"/>
                        <a:sym typeface="Helvetica Neue"/>
                      </a:endParaRPr>
                    </a:p>
                  </a:txBody>
                  <a:tcPr marT="5075" marB="0" marR="0" marL="0">
                    <a:lnR cap="flat" cmpd="sng" w="9525">
                      <a:solidFill>
                        <a:srgbClr val="DCDBD4"/>
                      </a:solidFill>
                      <a:prstDash val="solid"/>
                      <a:round/>
                      <a:headEnd len="sm" w="sm" type="none"/>
                      <a:tailEnd len="sm" w="sm" type="none"/>
                    </a:lnR>
                    <a:lnT cap="flat" cmpd="sng" w="9525">
                      <a:solidFill>
                        <a:srgbClr val="DCDBD4"/>
                      </a:solidFill>
                      <a:prstDash val="solid"/>
                      <a:round/>
                      <a:headEnd len="sm" w="sm" type="none"/>
                      <a:tailEnd len="sm" w="sm" type="none"/>
                    </a:lnT>
                    <a:lnB cap="flat" cmpd="sng" w="12700">
                      <a:solidFill>
                        <a:srgbClr val="DCDBD4"/>
                      </a:solidFill>
                      <a:prstDash val="solid"/>
                      <a:round/>
                      <a:headEnd len="sm" w="sm" type="none"/>
                      <a:tailEnd len="sm" w="sm" type="none"/>
                    </a:lnB>
                  </a:tcPr>
                </a:tc>
              </a:tr>
            </a:tbl>
          </a:graphicData>
        </a:graphic>
      </p:graphicFrame>
      <p:sp>
        <p:nvSpPr>
          <p:cNvPr id="1255" name="Google Shape;1255;p41"/>
          <p:cNvSpPr txBox="1"/>
          <p:nvPr/>
        </p:nvSpPr>
        <p:spPr>
          <a:xfrm>
            <a:off x="444144" y="4117938"/>
            <a:ext cx="8044180" cy="415925"/>
          </a:xfrm>
          <a:prstGeom prst="rect">
            <a:avLst/>
          </a:prstGeom>
          <a:noFill/>
          <a:ln>
            <a:noFill/>
          </a:ln>
        </p:spPr>
        <p:txBody>
          <a:bodyPr anchorCtr="0" anchor="t" bIns="0" lIns="0" spcFirstLastPara="1" rIns="0" wrap="square" tIns="3175">
            <a:spAutoFit/>
          </a:bodyPr>
          <a:lstStyle/>
          <a:p>
            <a:pPr indent="0" lvl="0" marL="12700" marR="5080" rtl="0" algn="l">
              <a:lnSpc>
                <a:spcPct val="104900"/>
              </a:lnSpc>
              <a:spcBef>
                <a:spcPts val="0"/>
              </a:spcBef>
              <a:spcAft>
                <a:spcPts val="0"/>
              </a:spcAft>
              <a:buNone/>
            </a:pPr>
            <a:r>
              <a:rPr i="1" lang="en-US" sz="1250">
                <a:solidFill>
                  <a:srgbClr val="545454"/>
                </a:solidFill>
                <a:latin typeface="Cambria"/>
                <a:ea typeface="Cambria"/>
                <a:cs typeface="Cambria"/>
                <a:sym typeface="Cambria"/>
              </a:rPr>
              <a:t>Attention asks "which source words matter for this output word?" Self-attention asks "which words in this sentence matter for understanding each word?"</a:t>
            </a:r>
            <a:endParaRPr sz="1250">
              <a:latin typeface="Cambria"/>
              <a:ea typeface="Cambria"/>
              <a:cs typeface="Cambria"/>
              <a:sym typeface="Cambria"/>
            </a:endParaRPr>
          </a:p>
        </p:txBody>
      </p:sp>
      <p:sp>
        <p:nvSpPr>
          <p:cNvPr id="1256" name="Google Shape;1256;p41"/>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descr="$PPTXTitle" id="1261" name="Google Shape;1261;p42"/>
          <p:cNvSpPr txBox="1"/>
          <p:nvPr>
            <p:ph type="title"/>
          </p:nvPr>
        </p:nvSpPr>
        <p:spPr>
          <a:xfrm>
            <a:off x="152184" y="63260"/>
            <a:ext cx="8839631" cy="879475"/>
          </a:xfrm>
          <a:prstGeom prst="rect">
            <a:avLst/>
          </a:prstGeom>
          <a:noFill/>
          <a:ln>
            <a:noFill/>
          </a:ln>
        </p:spPr>
        <p:txBody>
          <a:bodyPr anchorCtr="0" anchor="t" bIns="0" lIns="0" spcFirstLastPara="1" rIns="0" wrap="square" tIns="332025">
            <a:spAutoFit/>
          </a:bodyPr>
          <a:lstStyle/>
          <a:p>
            <a:pPr indent="0" lvl="0" marL="1685925" rtl="0" algn="l">
              <a:lnSpc>
                <a:spcPct val="100000"/>
              </a:lnSpc>
              <a:spcBef>
                <a:spcPts val="0"/>
              </a:spcBef>
              <a:spcAft>
                <a:spcPts val="0"/>
              </a:spcAft>
              <a:buNone/>
            </a:pPr>
            <a:r>
              <a:rPr b="0" lang="en-US" sz="2800">
                <a:solidFill>
                  <a:srgbClr val="000000"/>
                </a:solidFill>
                <a:latin typeface="Times New Roman"/>
                <a:ea typeface="Times New Roman"/>
                <a:cs typeface="Times New Roman"/>
                <a:sym typeface="Times New Roman"/>
              </a:rPr>
              <a:t>Attention Based Model: Transformer</a:t>
            </a:r>
            <a:endParaRPr sz="2800">
              <a:latin typeface="Times New Roman"/>
              <a:ea typeface="Times New Roman"/>
              <a:cs typeface="Times New Roman"/>
              <a:sym typeface="Times New Roman"/>
            </a:endParaRPr>
          </a:p>
        </p:txBody>
      </p:sp>
      <p:grpSp>
        <p:nvGrpSpPr>
          <p:cNvPr id="1262" name="Google Shape;1262;p42"/>
          <p:cNvGrpSpPr/>
          <p:nvPr/>
        </p:nvGrpSpPr>
        <p:grpSpPr>
          <a:xfrm>
            <a:off x="2089797" y="14"/>
            <a:ext cx="7053834" cy="5081028"/>
            <a:chOff x="2089797" y="14"/>
            <a:chExt cx="7053834" cy="5081028"/>
          </a:xfrm>
        </p:grpSpPr>
        <p:pic>
          <p:nvPicPr>
            <p:cNvPr id="1263" name="Google Shape;1263;p42"/>
            <p:cNvPicPr preferRelativeResize="0"/>
            <p:nvPr/>
          </p:nvPicPr>
          <p:blipFill rotWithShape="1">
            <a:blip r:embed="rId3">
              <a:alphaModFix/>
            </a:blip>
            <a:srcRect b="0" l="0" r="0" t="0"/>
            <a:stretch/>
          </p:blipFill>
          <p:spPr>
            <a:xfrm>
              <a:off x="2089797" y="1252437"/>
              <a:ext cx="4348441" cy="3828605"/>
            </a:xfrm>
            <a:prstGeom prst="rect">
              <a:avLst/>
            </a:prstGeom>
            <a:noFill/>
            <a:ln>
              <a:noFill/>
            </a:ln>
          </p:spPr>
        </p:pic>
        <p:pic>
          <p:nvPicPr>
            <p:cNvPr id="1264" name="Google Shape;1264;p42"/>
            <p:cNvPicPr preferRelativeResize="0"/>
            <p:nvPr/>
          </p:nvPicPr>
          <p:blipFill rotWithShape="1">
            <a:blip r:embed="rId4">
              <a:alphaModFix/>
            </a:blip>
            <a:srcRect b="0" l="0" r="0" t="0"/>
            <a:stretch/>
          </p:blipFill>
          <p:spPr>
            <a:xfrm>
              <a:off x="8369274" y="14"/>
              <a:ext cx="774357" cy="866508"/>
            </a:xfrm>
            <a:prstGeom prst="rect">
              <a:avLst/>
            </a:prstGeom>
            <a:noFill/>
            <a:ln>
              <a:noFill/>
            </a:ln>
          </p:spPr>
        </p:pic>
      </p:grpSp>
      <p:sp>
        <p:nvSpPr>
          <p:cNvPr id="1265" name="Google Shape;1265;p42"/>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sp>
        <p:nvSpPr>
          <p:cNvPr descr="$PPTXTitle" id="1270" name="Google Shape;1270;p43"/>
          <p:cNvSpPr txBox="1"/>
          <p:nvPr>
            <p:ph type="title"/>
          </p:nvPr>
        </p:nvSpPr>
        <p:spPr>
          <a:xfrm>
            <a:off x="152184" y="63260"/>
            <a:ext cx="8839631" cy="879475"/>
          </a:xfrm>
          <a:prstGeom prst="rect">
            <a:avLst/>
          </a:prstGeom>
          <a:noFill/>
          <a:ln>
            <a:noFill/>
          </a:ln>
        </p:spPr>
        <p:txBody>
          <a:bodyPr anchorCtr="0" anchor="t" bIns="0" lIns="0" spcFirstLastPara="1" rIns="0" wrap="square" tIns="303575">
            <a:spAutoFit/>
          </a:bodyPr>
          <a:lstStyle/>
          <a:p>
            <a:pPr indent="0" lvl="0" marL="2821305" rtl="0" algn="l">
              <a:lnSpc>
                <a:spcPct val="100000"/>
              </a:lnSpc>
              <a:spcBef>
                <a:spcPts val="0"/>
              </a:spcBef>
              <a:spcAft>
                <a:spcPts val="0"/>
              </a:spcAft>
              <a:buNone/>
            </a:pPr>
            <a:r>
              <a:rPr lang="en-US" sz="2800">
                <a:solidFill>
                  <a:srgbClr val="191E25"/>
                </a:solidFill>
              </a:rPr>
              <a:t>What is Self-Attention?</a:t>
            </a:r>
            <a:endParaRPr sz="2800"/>
          </a:p>
        </p:txBody>
      </p:sp>
      <p:pic>
        <p:nvPicPr>
          <p:cNvPr id="1271" name="Google Shape;1271;p43"/>
          <p:cNvPicPr preferRelativeResize="0"/>
          <p:nvPr/>
        </p:nvPicPr>
        <p:blipFill rotWithShape="1">
          <a:blip r:embed="rId3">
            <a:alphaModFix/>
          </a:blip>
          <a:srcRect b="0" l="0" r="0" t="0"/>
          <a:stretch/>
        </p:blipFill>
        <p:spPr>
          <a:xfrm>
            <a:off x="8369274" y="14"/>
            <a:ext cx="774357" cy="866508"/>
          </a:xfrm>
          <a:prstGeom prst="rect">
            <a:avLst/>
          </a:prstGeom>
          <a:noFill/>
          <a:ln>
            <a:noFill/>
          </a:ln>
        </p:spPr>
      </p:pic>
      <p:sp>
        <p:nvSpPr>
          <p:cNvPr id="1272" name="Google Shape;1272;p43"/>
          <p:cNvSpPr txBox="1"/>
          <p:nvPr/>
        </p:nvSpPr>
        <p:spPr>
          <a:xfrm>
            <a:off x="295465" y="1007912"/>
            <a:ext cx="3764915" cy="1784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000">
                <a:solidFill>
                  <a:srgbClr val="59616F"/>
                </a:solidFill>
                <a:latin typeface="Calibri"/>
                <a:ea typeface="Calibri"/>
                <a:cs typeface="Calibri"/>
                <a:sym typeface="Calibri"/>
              </a:rPr>
              <a:t>Each element looks at all others and decides how much to focus on each.</a:t>
            </a:r>
            <a:endParaRPr sz="1000">
              <a:latin typeface="Calibri"/>
              <a:ea typeface="Calibri"/>
              <a:cs typeface="Calibri"/>
              <a:sym typeface="Calibri"/>
            </a:endParaRPr>
          </a:p>
        </p:txBody>
      </p:sp>
      <p:sp>
        <p:nvSpPr>
          <p:cNvPr id="1273" name="Google Shape;1273;p43"/>
          <p:cNvSpPr/>
          <p:nvPr/>
        </p:nvSpPr>
        <p:spPr>
          <a:xfrm>
            <a:off x="308165" y="1288798"/>
            <a:ext cx="8503920" cy="494030"/>
          </a:xfrm>
          <a:custGeom>
            <a:rect b="b" l="l" r="r" t="t"/>
            <a:pathLst>
              <a:path extrusionOk="0" h="494030" w="8503920">
                <a:moveTo>
                  <a:pt x="8503551" y="0"/>
                </a:moveTo>
                <a:lnTo>
                  <a:pt x="0" y="0"/>
                </a:lnTo>
                <a:lnTo>
                  <a:pt x="0" y="493560"/>
                </a:lnTo>
                <a:lnTo>
                  <a:pt x="4251960" y="493560"/>
                </a:lnTo>
                <a:lnTo>
                  <a:pt x="8503551" y="493560"/>
                </a:lnTo>
                <a:lnTo>
                  <a:pt x="850355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74" name="Google Shape;1274;p43"/>
          <p:cNvSpPr txBox="1"/>
          <p:nvPr/>
        </p:nvSpPr>
        <p:spPr>
          <a:xfrm>
            <a:off x="308165" y="1288798"/>
            <a:ext cx="8503920" cy="494030"/>
          </a:xfrm>
          <a:prstGeom prst="rect">
            <a:avLst/>
          </a:prstGeom>
          <a:noFill/>
          <a:ln cap="flat" cmpd="sng" w="12575">
            <a:solidFill>
              <a:srgbClr val="000000"/>
            </a:solidFill>
            <a:prstDash val="solid"/>
            <a:round/>
            <a:headEnd len="sm" w="sm" type="none"/>
            <a:tailEnd len="sm" w="sm" type="none"/>
          </a:ln>
        </p:spPr>
        <p:txBody>
          <a:bodyPr anchorCtr="0" anchor="t" bIns="0" lIns="0" spcFirstLastPara="1" rIns="0" wrap="square" tIns="124450">
            <a:spAutoFit/>
          </a:bodyPr>
          <a:lstStyle/>
          <a:p>
            <a:pPr indent="0" lvl="0" marL="6350" rtl="0" algn="l">
              <a:lnSpc>
                <a:spcPct val="100000"/>
              </a:lnSpc>
              <a:spcBef>
                <a:spcPts val="0"/>
              </a:spcBef>
              <a:spcAft>
                <a:spcPts val="0"/>
              </a:spcAft>
              <a:buNone/>
            </a:pPr>
            <a:r>
              <a:rPr lang="en-US" sz="1500">
                <a:latin typeface="Calibri"/>
                <a:ea typeface="Calibri"/>
                <a:cs typeface="Calibri"/>
                <a:sym typeface="Calibri"/>
              </a:rPr>
              <a:t>"The animal didn't cross the street because </a:t>
            </a:r>
            <a:r>
              <a:rPr b="1" lang="en-US" sz="1600">
                <a:latin typeface="Calibri"/>
                <a:ea typeface="Calibri"/>
                <a:cs typeface="Calibri"/>
                <a:sym typeface="Calibri"/>
              </a:rPr>
              <a:t>it </a:t>
            </a:r>
            <a:r>
              <a:rPr lang="en-US" sz="1500">
                <a:latin typeface="Calibri"/>
                <a:ea typeface="Calibri"/>
                <a:cs typeface="Calibri"/>
                <a:sym typeface="Calibri"/>
              </a:rPr>
              <a:t>was too tired."</a:t>
            </a:r>
            <a:endParaRPr sz="1500">
              <a:latin typeface="Calibri"/>
              <a:ea typeface="Calibri"/>
              <a:cs typeface="Calibri"/>
              <a:sym typeface="Calibri"/>
            </a:endParaRPr>
          </a:p>
        </p:txBody>
      </p:sp>
      <p:sp>
        <p:nvSpPr>
          <p:cNvPr id="1275" name="Google Shape;1275;p43"/>
          <p:cNvSpPr txBox="1"/>
          <p:nvPr/>
        </p:nvSpPr>
        <p:spPr>
          <a:xfrm>
            <a:off x="364578" y="1809340"/>
            <a:ext cx="1820545" cy="253365"/>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n-US" sz="1500">
                <a:latin typeface="Arial"/>
                <a:ea typeface="Arial"/>
                <a:cs typeface="Arial"/>
                <a:sym typeface="Arial"/>
              </a:rPr>
              <a:t>👉 </a:t>
            </a:r>
            <a:r>
              <a:rPr i="1" lang="en-US" sz="1200">
                <a:latin typeface="Cambria"/>
                <a:ea typeface="Cambria"/>
                <a:cs typeface="Cambria"/>
                <a:sym typeface="Cambria"/>
              </a:rPr>
              <a:t>What does "it" refer to?</a:t>
            </a:r>
            <a:endParaRPr sz="1200">
              <a:latin typeface="Cambria"/>
              <a:ea typeface="Cambria"/>
              <a:cs typeface="Cambria"/>
              <a:sym typeface="Cambria"/>
            </a:endParaRPr>
          </a:p>
        </p:txBody>
      </p:sp>
      <p:grpSp>
        <p:nvGrpSpPr>
          <p:cNvPr id="1276" name="Google Shape;1276;p43"/>
          <p:cNvGrpSpPr/>
          <p:nvPr/>
        </p:nvGrpSpPr>
        <p:grpSpPr>
          <a:xfrm>
            <a:off x="114122" y="2003388"/>
            <a:ext cx="3060001" cy="1619288"/>
            <a:chOff x="114122" y="2003388"/>
            <a:chExt cx="3060001" cy="1619288"/>
          </a:xfrm>
        </p:grpSpPr>
        <p:pic>
          <p:nvPicPr>
            <p:cNvPr id="1277" name="Google Shape;1277;p43"/>
            <p:cNvPicPr preferRelativeResize="0"/>
            <p:nvPr/>
          </p:nvPicPr>
          <p:blipFill rotWithShape="1">
            <a:blip r:embed="rId4">
              <a:alphaModFix/>
            </a:blip>
            <a:srcRect b="0" l="0" r="0" t="0"/>
            <a:stretch/>
          </p:blipFill>
          <p:spPr>
            <a:xfrm>
              <a:off x="114122" y="2003388"/>
              <a:ext cx="3060001" cy="1619288"/>
            </a:xfrm>
            <a:prstGeom prst="rect">
              <a:avLst/>
            </a:prstGeom>
            <a:noFill/>
            <a:ln>
              <a:noFill/>
            </a:ln>
          </p:spPr>
        </p:pic>
        <p:sp>
          <p:nvSpPr>
            <p:cNvPr id="1278" name="Google Shape;1278;p43"/>
            <p:cNvSpPr/>
            <p:nvPr/>
          </p:nvSpPr>
          <p:spPr>
            <a:xfrm>
              <a:off x="308165" y="2126159"/>
              <a:ext cx="2743200" cy="1303020"/>
            </a:xfrm>
            <a:custGeom>
              <a:rect b="b" l="l" r="r" t="t"/>
              <a:pathLst>
                <a:path extrusionOk="0" h="1303020" w="2743200">
                  <a:moveTo>
                    <a:pt x="2742831" y="0"/>
                  </a:moveTo>
                  <a:lnTo>
                    <a:pt x="0" y="0"/>
                  </a:lnTo>
                  <a:lnTo>
                    <a:pt x="0" y="1302486"/>
                  </a:lnTo>
                  <a:lnTo>
                    <a:pt x="1371599" y="1302486"/>
                  </a:lnTo>
                  <a:lnTo>
                    <a:pt x="2742831" y="1302486"/>
                  </a:lnTo>
                  <a:lnTo>
                    <a:pt x="274283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279" name="Google Shape;1279;p43"/>
          <p:cNvSpPr txBox="1"/>
          <p:nvPr/>
        </p:nvSpPr>
        <p:spPr>
          <a:xfrm>
            <a:off x="308165" y="2126159"/>
            <a:ext cx="2743200" cy="1303020"/>
          </a:xfrm>
          <a:prstGeom prst="rect">
            <a:avLst/>
          </a:prstGeom>
          <a:noFill/>
          <a:ln cap="flat" cmpd="sng" w="12575">
            <a:solidFill>
              <a:srgbClr val="000000"/>
            </a:solidFill>
            <a:prstDash val="solid"/>
            <a:round/>
            <a:headEnd len="sm" w="sm" type="none"/>
            <a:tailEnd len="sm" w="sm" type="none"/>
          </a:ln>
        </p:spPr>
        <p:txBody>
          <a:bodyPr anchorCtr="0" anchor="t" bIns="0" lIns="0" spcFirstLastPara="1" rIns="0" wrap="square" tIns="175875">
            <a:spAutoFit/>
          </a:bodyPr>
          <a:lstStyle/>
          <a:p>
            <a:pPr indent="0" lvl="0" marL="231140" rtl="0" algn="l">
              <a:lnSpc>
                <a:spcPct val="100000"/>
              </a:lnSpc>
              <a:spcBef>
                <a:spcPts val="0"/>
              </a:spcBef>
              <a:spcAft>
                <a:spcPts val="0"/>
              </a:spcAft>
              <a:buNone/>
            </a:pPr>
            <a:r>
              <a:rPr b="1" lang="en-US" sz="1400">
                <a:solidFill>
                  <a:srgbClr val="191E25"/>
                </a:solidFill>
                <a:latin typeface="Calibri"/>
                <a:ea typeface="Calibri"/>
                <a:cs typeface="Calibri"/>
                <a:sym typeface="Calibri"/>
              </a:rPr>
              <a:t>1  </a:t>
            </a:r>
            <a:r>
              <a:rPr b="1" baseline="30000" lang="en-US" sz="2100">
                <a:solidFill>
                  <a:srgbClr val="191E25"/>
                </a:solidFill>
                <a:latin typeface="Calibri"/>
                <a:ea typeface="Calibri"/>
                <a:cs typeface="Calibri"/>
                <a:sym typeface="Calibri"/>
              </a:rPr>
              <a:t>Compare</a:t>
            </a:r>
            <a:endParaRPr baseline="30000" sz="2100">
              <a:latin typeface="Calibri"/>
              <a:ea typeface="Calibri"/>
              <a:cs typeface="Calibri"/>
              <a:sym typeface="Calibri"/>
            </a:endParaRPr>
          </a:p>
          <a:p>
            <a:pPr indent="0" lvl="0" marL="0" rtl="0" algn="l">
              <a:lnSpc>
                <a:spcPct val="100000"/>
              </a:lnSpc>
              <a:spcBef>
                <a:spcPts val="1510"/>
              </a:spcBef>
              <a:spcAft>
                <a:spcPts val="0"/>
              </a:spcAft>
              <a:buNone/>
            </a:pPr>
            <a:r>
              <a:t/>
            </a:r>
            <a:endParaRPr sz="1400">
              <a:latin typeface="Calibri"/>
              <a:ea typeface="Calibri"/>
              <a:cs typeface="Calibri"/>
              <a:sym typeface="Calibri"/>
            </a:endParaRPr>
          </a:p>
          <a:p>
            <a:pPr indent="0" lvl="0" marL="150495" rtl="0" algn="l">
              <a:lnSpc>
                <a:spcPct val="100000"/>
              </a:lnSpc>
              <a:spcBef>
                <a:spcPts val="0"/>
              </a:spcBef>
              <a:spcAft>
                <a:spcPts val="0"/>
              </a:spcAft>
              <a:buNone/>
            </a:pPr>
            <a:r>
              <a:rPr lang="en-US" sz="900">
                <a:solidFill>
                  <a:srgbClr val="59616F"/>
                </a:solidFill>
                <a:latin typeface="Calibri"/>
                <a:ea typeface="Calibri"/>
                <a:cs typeface="Calibri"/>
                <a:sym typeface="Calibri"/>
              </a:rPr>
              <a:t>Compare it with every other word</a:t>
            </a:r>
            <a:endParaRPr sz="900">
              <a:latin typeface="Calibri"/>
              <a:ea typeface="Calibri"/>
              <a:cs typeface="Calibri"/>
              <a:sym typeface="Calibri"/>
            </a:endParaRPr>
          </a:p>
        </p:txBody>
      </p:sp>
      <p:grpSp>
        <p:nvGrpSpPr>
          <p:cNvPr id="1280" name="Google Shape;1280;p43"/>
          <p:cNvGrpSpPr/>
          <p:nvPr/>
        </p:nvGrpSpPr>
        <p:grpSpPr>
          <a:xfrm>
            <a:off x="3049562" y="2003388"/>
            <a:ext cx="3060001" cy="1619288"/>
            <a:chOff x="3049562" y="2003388"/>
            <a:chExt cx="3060001" cy="1619288"/>
          </a:xfrm>
        </p:grpSpPr>
        <p:pic>
          <p:nvPicPr>
            <p:cNvPr id="1281" name="Google Shape;1281;p43"/>
            <p:cNvPicPr preferRelativeResize="0"/>
            <p:nvPr/>
          </p:nvPicPr>
          <p:blipFill rotWithShape="1">
            <a:blip r:embed="rId4">
              <a:alphaModFix/>
            </a:blip>
            <a:srcRect b="0" l="0" r="0" t="0"/>
            <a:stretch/>
          </p:blipFill>
          <p:spPr>
            <a:xfrm>
              <a:off x="3049562" y="2003388"/>
              <a:ext cx="3060001" cy="1619288"/>
            </a:xfrm>
            <a:prstGeom prst="rect">
              <a:avLst/>
            </a:prstGeom>
            <a:noFill/>
            <a:ln>
              <a:noFill/>
            </a:ln>
          </p:spPr>
        </p:pic>
        <p:sp>
          <p:nvSpPr>
            <p:cNvPr id="1282" name="Google Shape;1282;p43"/>
            <p:cNvSpPr/>
            <p:nvPr/>
          </p:nvSpPr>
          <p:spPr>
            <a:xfrm>
              <a:off x="3243605" y="2126159"/>
              <a:ext cx="2743200" cy="1303020"/>
            </a:xfrm>
            <a:custGeom>
              <a:rect b="b" l="l" r="r" t="t"/>
              <a:pathLst>
                <a:path extrusionOk="0" h="1303020" w="2743200">
                  <a:moveTo>
                    <a:pt x="2742831" y="0"/>
                  </a:moveTo>
                  <a:lnTo>
                    <a:pt x="0" y="0"/>
                  </a:lnTo>
                  <a:lnTo>
                    <a:pt x="0" y="1302486"/>
                  </a:lnTo>
                  <a:lnTo>
                    <a:pt x="1371600" y="1302486"/>
                  </a:lnTo>
                  <a:lnTo>
                    <a:pt x="2742831" y="1302486"/>
                  </a:lnTo>
                  <a:lnTo>
                    <a:pt x="274283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283" name="Google Shape;1283;p43"/>
          <p:cNvSpPr txBox="1"/>
          <p:nvPr/>
        </p:nvSpPr>
        <p:spPr>
          <a:xfrm>
            <a:off x="3243605" y="2126159"/>
            <a:ext cx="2743200" cy="1303020"/>
          </a:xfrm>
          <a:prstGeom prst="rect">
            <a:avLst/>
          </a:prstGeom>
          <a:noFill/>
          <a:ln cap="flat" cmpd="sng" w="12575">
            <a:solidFill>
              <a:srgbClr val="000000"/>
            </a:solidFill>
            <a:prstDash val="solid"/>
            <a:round/>
            <a:headEnd len="sm" w="sm" type="none"/>
            <a:tailEnd len="sm" w="sm" type="none"/>
          </a:ln>
        </p:spPr>
        <p:txBody>
          <a:bodyPr anchorCtr="0" anchor="t" bIns="0" lIns="0" spcFirstLastPara="1" rIns="0" wrap="square" tIns="168900">
            <a:spAutoFit/>
          </a:bodyPr>
          <a:lstStyle/>
          <a:p>
            <a:pPr indent="0" lvl="0" marL="273050" rtl="0" algn="l">
              <a:lnSpc>
                <a:spcPct val="100000"/>
              </a:lnSpc>
              <a:spcBef>
                <a:spcPts val="0"/>
              </a:spcBef>
              <a:spcAft>
                <a:spcPts val="0"/>
              </a:spcAft>
              <a:buNone/>
            </a:pPr>
            <a:r>
              <a:rPr b="1" lang="en-US" sz="1400">
                <a:solidFill>
                  <a:srgbClr val="191E25"/>
                </a:solidFill>
                <a:latin typeface="Calibri"/>
                <a:ea typeface="Calibri"/>
                <a:cs typeface="Calibri"/>
                <a:sym typeface="Calibri"/>
              </a:rPr>
              <a:t>2	</a:t>
            </a:r>
            <a:r>
              <a:rPr b="1" baseline="30000" lang="en-US" sz="2100">
                <a:solidFill>
                  <a:srgbClr val="191E25"/>
                </a:solidFill>
                <a:latin typeface="Calibri"/>
                <a:ea typeface="Calibri"/>
                <a:cs typeface="Calibri"/>
                <a:sym typeface="Calibri"/>
              </a:rPr>
              <a:t>Weight</a:t>
            </a:r>
            <a:endParaRPr baseline="30000" sz="2100">
              <a:latin typeface="Calibri"/>
              <a:ea typeface="Calibri"/>
              <a:cs typeface="Calibri"/>
              <a:sym typeface="Calibri"/>
            </a:endParaRPr>
          </a:p>
          <a:p>
            <a:pPr indent="0" lvl="0" marL="0" rtl="0" algn="l">
              <a:lnSpc>
                <a:spcPct val="100000"/>
              </a:lnSpc>
              <a:spcBef>
                <a:spcPts val="1565"/>
              </a:spcBef>
              <a:spcAft>
                <a:spcPts val="0"/>
              </a:spcAft>
              <a:buNone/>
            </a:pPr>
            <a:r>
              <a:t/>
            </a:r>
            <a:endParaRPr sz="1400">
              <a:latin typeface="Calibri"/>
              <a:ea typeface="Calibri"/>
              <a:cs typeface="Calibri"/>
              <a:sym typeface="Calibri"/>
            </a:endParaRPr>
          </a:p>
          <a:p>
            <a:pPr indent="0" lvl="0" marL="150495" rtl="0" algn="l">
              <a:lnSpc>
                <a:spcPct val="100000"/>
              </a:lnSpc>
              <a:spcBef>
                <a:spcPts val="0"/>
              </a:spcBef>
              <a:spcAft>
                <a:spcPts val="0"/>
              </a:spcAft>
              <a:buNone/>
            </a:pPr>
            <a:r>
              <a:rPr lang="en-US" sz="900">
                <a:solidFill>
                  <a:srgbClr val="59616F"/>
                </a:solidFill>
                <a:latin typeface="Calibri"/>
                <a:ea typeface="Calibri"/>
                <a:cs typeface="Calibri"/>
                <a:sym typeface="Calibri"/>
              </a:rPr>
              <a:t>Assign higher weight to animal</a:t>
            </a:r>
            <a:endParaRPr sz="900">
              <a:latin typeface="Calibri"/>
              <a:ea typeface="Calibri"/>
              <a:cs typeface="Calibri"/>
              <a:sym typeface="Calibri"/>
            </a:endParaRPr>
          </a:p>
        </p:txBody>
      </p:sp>
      <p:grpSp>
        <p:nvGrpSpPr>
          <p:cNvPr id="1284" name="Google Shape;1284;p43"/>
          <p:cNvGrpSpPr/>
          <p:nvPr/>
        </p:nvGrpSpPr>
        <p:grpSpPr>
          <a:xfrm>
            <a:off x="5984633" y="2003388"/>
            <a:ext cx="3060001" cy="1619288"/>
            <a:chOff x="5984633" y="2003388"/>
            <a:chExt cx="3060001" cy="1619288"/>
          </a:xfrm>
        </p:grpSpPr>
        <p:pic>
          <p:nvPicPr>
            <p:cNvPr id="1285" name="Google Shape;1285;p43"/>
            <p:cNvPicPr preferRelativeResize="0"/>
            <p:nvPr/>
          </p:nvPicPr>
          <p:blipFill rotWithShape="1">
            <a:blip r:embed="rId4">
              <a:alphaModFix/>
            </a:blip>
            <a:srcRect b="0" l="0" r="0" t="0"/>
            <a:stretch/>
          </p:blipFill>
          <p:spPr>
            <a:xfrm>
              <a:off x="5984633" y="2003388"/>
              <a:ext cx="3060001" cy="1619288"/>
            </a:xfrm>
            <a:prstGeom prst="rect">
              <a:avLst/>
            </a:prstGeom>
            <a:noFill/>
            <a:ln>
              <a:noFill/>
            </a:ln>
          </p:spPr>
        </p:pic>
        <p:sp>
          <p:nvSpPr>
            <p:cNvPr id="1286" name="Google Shape;1286;p43"/>
            <p:cNvSpPr/>
            <p:nvPr/>
          </p:nvSpPr>
          <p:spPr>
            <a:xfrm>
              <a:off x="6178676" y="2126159"/>
              <a:ext cx="2743200" cy="1303020"/>
            </a:xfrm>
            <a:custGeom>
              <a:rect b="b" l="l" r="r" t="t"/>
              <a:pathLst>
                <a:path extrusionOk="0" h="1303020" w="2743200">
                  <a:moveTo>
                    <a:pt x="2742844" y="0"/>
                  </a:moveTo>
                  <a:lnTo>
                    <a:pt x="0" y="0"/>
                  </a:lnTo>
                  <a:lnTo>
                    <a:pt x="0" y="1302486"/>
                  </a:lnTo>
                  <a:lnTo>
                    <a:pt x="1371600" y="1302486"/>
                  </a:lnTo>
                  <a:lnTo>
                    <a:pt x="2742844" y="1302486"/>
                  </a:lnTo>
                  <a:lnTo>
                    <a:pt x="2742844"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287" name="Google Shape;1287;p43"/>
          <p:cNvSpPr txBox="1"/>
          <p:nvPr/>
        </p:nvSpPr>
        <p:spPr>
          <a:xfrm>
            <a:off x="6178677" y="2126159"/>
            <a:ext cx="2743200" cy="1303020"/>
          </a:xfrm>
          <a:prstGeom prst="rect">
            <a:avLst/>
          </a:prstGeom>
          <a:noFill/>
          <a:ln cap="flat" cmpd="sng" w="12575">
            <a:solidFill>
              <a:srgbClr val="000000"/>
            </a:solidFill>
            <a:prstDash val="solid"/>
            <a:round/>
            <a:headEnd len="sm" w="sm" type="none"/>
            <a:tailEnd len="sm" w="sm" type="none"/>
          </a:ln>
        </p:spPr>
        <p:txBody>
          <a:bodyPr anchorCtr="0" anchor="t" bIns="0" lIns="0" spcFirstLastPara="1" rIns="0" wrap="square" tIns="168900">
            <a:spAutoFit/>
          </a:bodyPr>
          <a:lstStyle/>
          <a:p>
            <a:pPr indent="0" lvl="0" marL="294005" rtl="0" algn="l">
              <a:lnSpc>
                <a:spcPct val="100000"/>
              </a:lnSpc>
              <a:spcBef>
                <a:spcPts val="0"/>
              </a:spcBef>
              <a:spcAft>
                <a:spcPts val="0"/>
              </a:spcAft>
              <a:buNone/>
            </a:pPr>
            <a:r>
              <a:rPr b="1" lang="en-US" sz="1400">
                <a:solidFill>
                  <a:srgbClr val="191E25"/>
                </a:solidFill>
                <a:latin typeface="Calibri"/>
                <a:ea typeface="Calibri"/>
                <a:cs typeface="Calibri"/>
                <a:sym typeface="Calibri"/>
              </a:rPr>
              <a:t>3	</a:t>
            </a:r>
            <a:r>
              <a:rPr b="1" baseline="30000" lang="en-US" sz="2100">
                <a:solidFill>
                  <a:srgbClr val="191E25"/>
                </a:solidFill>
                <a:latin typeface="Calibri"/>
                <a:ea typeface="Calibri"/>
                <a:cs typeface="Calibri"/>
                <a:sym typeface="Calibri"/>
              </a:rPr>
              <a:t>Understand</a:t>
            </a:r>
            <a:endParaRPr baseline="30000" sz="2100">
              <a:latin typeface="Calibri"/>
              <a:ea typeface="Calibri"/>
              <a:cs typeface="Calibri"/>
              <a:sym typeface="Calibri"/>
            </a:endParaRPr>
          </a:p>
          <a:p>
            <a:pPr indent="0" lvl="0" marL="0" rtl="0" algn="l">
              <a:lnSpc>
                <a:spcPct val="100000"/>
              </a:lnSpc>
              <a:spcBef>
                <a:spcPts val="1025"/>
              </a:spcBef>
              <a:spcAft>
                <a:spcPts val="0"/>
              </a:spcAft>
              <a:buNone/>
            </a:pPr>
            <a:r>
              <a:t/>
            </a:r>
            <a:endParaRPr sz="1400">
              <a:latin typeface="Calibri"/>
              <a:ea typeface="Calibri"/>
              <a:cs typeface="Calibri"/>
              <a:sym typeface="Calibri"/>
            </a:endParaRPr>
          </a:p>
          <a:p>
            <a:pPr indent="0" lvl="0" marL="150495" marR="1642110" rtl="0" algn="l">
              <a:lnSpc>
                <a:spcPct val="100000"/>
              </a:lnSpc>
              <a:spcBef>
                <a:spcPts val="0"/>
              </a:spcBef>
              <a:spcAft>
                <a:spcPts val="0"/>
              </a:spcAft>
              <a:buNone/>
            </a:pPr>
            <a:r>
              <a:rPr lang="en-US" sz="900">
                <a:solidFill>
                  <a:srgbClr val="59616F"/>
                </a:solidFill>
                <a:latin typeface="Calibri"/>
                <a:ea typeface="Calibri"/>
                <a:cs typeface="Calibri"/>
                <a:sym typeface="Calibri"/>
              </a:rPr>
              <a:t>Use weights to build contextual meaning</a:t>
            </a:r>
            <a:endParaRPr sz="900">
              <a:latin typeface="Calibri"/>
              <a:ea typeface="Calibri"/>
              <a:cs typeface="Calibri"/>
              <a:sym typeface="Calibri"/>
            </a:endParaRPr>
          </a:p>
        </p:txBody>
      </p:sp>
      <p:sp>
        <p:nvSpPr>
          <p:cNvPr id="1288" name="Google Shape;1288;p43"/>
          <p:cNvSpPr/>
          <p:nvPr/>
        </p:nvSpPr>
        <p:spPr>
          <a:xfrm>
            <a:off x="308165" y="3531605"/>
            <a:ext cx="8503920" cy="754380"/>
          </a:xfrm>
          <a:custGeom>
            <a:rect b="b" l="l" r="r" t="t"/>
            <a:pathLst>
              <a:path extrusionOk="0" h="754379" w="8503920">
                <a:moveTo>
                  <a:pt x="8503551" y="0"/>
                </a:moveTo>
                <a:lnTo>
                  <a:pt x="0" y="0"/>
                </a:lnTo>
                <a:lnTo>
                  <a:pt x="0" y="754202"/>
                </a:lnTo>
                <a:lnTo>
                  <a:pt x="4251960" y="754202"/>
                </a:lnTo>
                <a:lnTo>
                  <a:pt x="8503551" y="754202"/>
                </a:lnTo>
                <a:lnTo>
                  <a:pt x="850355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89" name="Google Shape;1289;p43"/>
          <p:cNvSpPr txBox="1"/>
          <p:nvPr/>
        </p:nvSpPr>
        <p:spPr>
          <a:xfrm>
            <a:off x="308165" y="3531605"/>
            <a:ext cx="8503920" cy="754380"/>
          </a:xfrm>
          <a:prstGeom prst="rect">
            <a:avLst/>
          </a:prstGeom>
          <a:noFill/>
          <a:ln cap="flat" cmpd="sng" w="12575">
            <a:solidFill>
              <a:srgbClr val="000000"/>
            </a:solidFill>
            <a:prstDash val="solid"/>
            <a:round/>
            <a:headEnd len="sm" w="sm" type="none"/>
            <a:tailEnd len="sm" w="sm" type="none"/>
          </a:ln>
        </p:spPr>
        <p:txBody>
          <a:bodyPr anchorCtr="0" anchor="t" bIns="0" lIns="0" spcFirstLastPara="1" rIns="0" wrap="square" tIns="80625">
            <a:spAutoFit/>
          </a:bodyPr>
          <a:lstStyle/>
          <a:p>
            <a:pPr indent="0" lvl="0" marL="137160" rtl="0" algn="l">
              <a:lnSpc>
                <a:spcPct val="100000"/>
              </a:lnSpc>
              <a:spcBef>
                <a:spcPts val="0"/>
              </a:spcBef>
              <a:spcAft>
                <a:spcPts val="0"/>
              </a:spcAft>
              <a:buNone/>
            </a:pPr>
            <a:r>
              <a:rPr b="1" lang="en-US" sz="1100">
                <a:latin typeface="Calibri"/>
                <a:ea typeface="Calibri"/>
                <a:cs typeface="Calibri"/>
                <a:sym typeface="Calibri"/>
              </a:rPr>
              <a:t>Key Property</a:t>
            </a:r>
            <a:endParaRPr sz="1100">
              <a:latin typeface="Calibri"/>
              <a:ea typeface="Calibri"/>
              <a:cs typeface="Calibri"/>
              <a:sym typeface="Calibri"/>
            </a:endParaRPr>
          </a:p>
          <a:p>
            <a:pPr indent="0" lvl="0" marL="137160" rtl="0" algn="l">
              <a:lnSpc>
                <a:spcPct val="100000"/>
              </a:lnSpc>
              <a:spcBef>
                <a:spcPts val="1210"/>
              </a:spcBef>
              <a:spcAft>
                <a:spcPts val="0"/>
              </a:spcAft>
              <a:buNone/>
            </a:pPr>
            <a:r>
              <a:rPr lang="en-US" sz="1200">
                <a:solidFill>
                  <a:srgbClr val="191E25"/>
                </a:solidFill>
                <a:latin typeface="Calibri"/>
                <a:ea typeface="Calibri"/>
                <a:cs typeface="Calibri"/>
                <a:sym typeface="Calibri"/>
              </a:rPr>
              <a:t>Every token can directly interact with every other token, no sequential propagation needed (unlike RNNs).</a:t>
            </a:r>
            <a:endParaRPr sz="1200">
              <a:latin typeface="Calibri"/>
              <a:ea typeface="Calibri"/>
              <a:cs typeface="Calibri"/>
              <a:sym typeface="Calibri"/>
            </a:endParaRPr>
          </a:p>
        </p:txBody>
      </p:sp>
      <p:grpSp>
        <p:nvGrpSpPr>
          <p:cNvPr id="1290" name="Google Shape;1290;p43"/>
          <p:cNvGrpSpPr/>
          <p:nvPr/>
        </p:nvGrpSpPr>
        <p:grpSpPr>
          <a:xfrm>
            <a:off x="307797" y="4402075"/>
            <a:ext cx="5679275" cy="377825"/>
            <a:chOff x="307797" y="4402075"/>
            <a:chExt cx="5679275" cy="377825"/>
          </a:xfrm>
        </p:grpSpPr>
        <p:sp>
          <p:nvSpPr>
            <p:cNvPr id="1291" name="Google Shape;1291;p43"/>
            <p:cNvSpPr/>
            <p:nvPr/>
          </p:nvSpPr>
          <p:spPr>
            <a:xfrm>
              <a:off x="307797" y="4402075"/>
              <a:ext cx="2743835" cy="377825"/>
            </a:xfrm>
            <a:custGeom>
              <a:rect b="b" l="l" r="r" t="t"/>
              <a:pathLst>
                <a:path extrusionOk="0" h="377825" w="2743835">
                  <a:moveTo>
                    <a:pt x="368" y="68770"/>
                  </a:moveTo>
                  <a:lnTo>
                    <a:pt x="969" y="59879"/>
                  </a:lnTo>
                  <a:lnTo>
                    <a:pt x="2752" y="51127"/>
                  </a:lnTo>
                  <a:lnTo>
                    <a:pt x="27082" y="14413"/>
                  </a:lnTo>
                  <a:lnTo>
                    <a:pt x="69126" y="0"/>
                  </a:lnTo>
                  <a:lnTo>
                    <a:pt x="2674797" y="368"/>
                  </a:lnTo>
                  <a:lnTo>
                    <a:pt x="2716481" y="14568"/>
                  </a:lnTo>
                  <a:lnTo>
                    <a:pt x="2741179" y="51171"/>
                  </a:lnTo>
                  <a:lnTo>
                    <a:pt x="2743568" y="69126"/>
                  </a:lnTo>
                  <a:lnTo>
                    <a:pt x="2743568" y="308889"/>
                  </a:lnTo>
                  <a:lnTo>
                    <a:pt x="2742964" y="317774"/>
                  </a:lnTo>
                  <a:lnTo>
                    <a:pt x="2741179" y="326528"/>
                  </a:lnTo>
                  <a:lnTo>
                    <a:pt x="2716841" y="363235"/>
                  </a:lnTo>
                  <a:lnTo>
                    <a:pt x="2674797" y="377647"/>
                  </a:lnTo>
                  <a:lnTo>
                    <a:pt x="68757" y="377647"/>
                  </a:lnTo>
                  <a:lnTo>
                    <a:pt x="27076" y="363441"/>
                  </a:lnTo>
                  <a:lnTo>
                    <a:pt x="2384" y="326844"/>
                  </a:lnTo>
                  <a:lnTo>
                    <a:pt x="0" y="308889"/>
                  </a:lnTo>
                  <a:lnTo>
                    <a:pt x="368" y="68770"/>
                  </a:lnTo>
                  <a:close/>
                </a:path>
              </a:pathLst>
            </a:custGeom>
            <a:noFill/>
            <a:ln cap="flat" cmpd="sng" w="12575">
              <a:solidFill>
                <a:srgbClr val="0076A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92" name="Google Shape;1292;p43"/>
            <p:cNvSpPr/>
            <p:nvPr/>
          </p:nvSpPr>
          <p:spPr>
            <a:xfrm>
              <a:off x="3243237" y="4402075"/>
              <a:ext cx="2743835" cy="377825"/>
            </a:xfrm>
            <a:custGeom>
              <a:rect b="b" l="l" r="r" t="t"/>
              <a:pathLst>
                <a:path extrusionOk="0" h="377825" w="2743835">
                  <a:moveTo>
                    <a:pt x="368" y="68770"/>
                  </a:moveTo>
                  <a:lnTo>
                    <a:pt x="969" y="59879"/>
                  </a:lnTo>
                  <a:lnTo>
                    <a:pt x="2752" y="51127"/>
                  </a:lnTo>
                  <a:lnTo>
                    <a:pt x="27082" y="14413"/>
                  </a:lnTo>
                  <a:lnTo>
                    <a:pt x="69126" y="0"/>
                  </a:lnTo>
                  <a:lnTo>
                    <a:pt x="2674797" y="368"/>
                  </a:lnTo>
                  <a:lnTo>
                    <a:pt x="2716481" y="14568"/>
                  </a:lnTo>
                  <a:lnTo>
                    <a:pt x="2741179" y="51171"/>
                  </a:lnTo>
                  <a:lnTo>
                    <a:pt x="2743568" y="69126"/>
                  </a:lnTo>
                  <a:lnTo>
                    <a:pt x="2743568" y="308889"/>
                  </a:lnTo>
                  <a:lnTo>
                    <a:pt x="2742964" y="317774"/>
                  </a:lnTo>
                  <a:lnTo>
                    <a:pt x="2741179" y="326528"/>
                  </a:lnTo>
                  <a:lnTo>
                    <a:pt x="2716841" y="363235"/>
                  </a:lnTo>
                  <a:lnTo>
                    <a:pt x="2674797" y="377647"/>
                  </a:lnTo>
                  <a:lnTo>
                    <a:pt x="68757" y="377647"/>
                  </a:lnTo>
                  <a:lnTo>
                    <a:pt x="27076" y="363441"/>
                  </a:lnTo>
                  <a:lnTo>
                    <a:pt x="2384" y="326844"/>
                  </a:lnTo>
                  <a:lnTo>
                    <a:pt x="0" y="308889"/>
                  </a:lnTo>
                  <a:lnTo>
                    <a:pt x="368" y="68770"/>
                  </a:lnTo>
                  <a:close/>
                </a:path>
              </a:pathLst>
            </a:custGeom>
            <a:noFill/>
            <a:ln cap="flat" cmpd="sng" w="12575">
              <a:solidFill>
                <a:srgbClr val="03775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293" name="Google Shape;1293;p43"/>
          <p:cNvSpPr txBox="1"/>
          <p:nvPr/>
        </p:nvSpPr>
        <p:spPr>
          <a:xfrm>
            <a:off x="861377" y="4473615"/>
            <a:ext cx="443547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200">
                <a:solidFill>
                  <a:srgbClr val="191E25"/>
                </a:solidFill>
                <a:latin typeface="Calibri"/>
                <a:ea typeface="Calibri"/>
                <a:cs typeface="Calibri"/>
                <a:sym typeface="Calibri"/>
              </a:rPr>
              <a:t>Long-range dependencies	Parallel computation</a:t>
            </a:r>
            <a:endParaRPr sz="1200">
              <a:latin typeface="Calibri"/>
              <a:ea typeface="Calibri"/>
              <a:cs typeface="Calibri"/>
              <a:sym typeface="Calibri"/>
            </a:endParaRPr>
          </a:p>
        </p:txBody>
      </p:sp>
      <p:sp>
        <p:nvSpPr>
          <p:cNvPr id="1294" name="Google Shape;1294;p43"/>
          <p:cNvSpPr/>
          <p:nvPr/>
        </p:nvSpPr>
        <p:spPr>
          <a:xfrm>
            <a:off x="6178321" y="4402075"/>
            <a:ext cx="2743835" cy="377825"/>
          </a:xfrm>
          <a:custGeom>
            <a:rect b="b" l="l" r="r" t="t"/>
            <a:pathLst>
              <a:path extrusionOk="0" h="377825" w="2743834">
                <a:moveTo>
                  <a:pt x="355" y="68770"/>
                </a:moveTo>
                <a:lnTo>
                  <a:pt x="957" y="59879"/>
                </a:lnTo>
                <a:lnTo>
                  <a:pt x="2740" y="51127"/>
                </a:lnTo>
                <a:lnTo>
                  <a:pt x="27081" y="14413"/>
                </a:lnTo>
                <a:lnTo>
                  <a:pt x="69113" y="0"/>
                </a:lnTo>
                <a:lnTo>
                  <a:pt x="2674797" y="368"/>
                </a:lnTo>
                <a:lnTo>
                  <a:pt x="2716479" y="14568"/>
                </a:lnTo>
                <a:lnTo>
                  <a:pt x="2741171" y="51171"/>
                </a:lnTo>
                <a:lnTo>
                  <a:pt x="2743555" y="69126"/>
                </a:lnTo>
                <a:lnTo>
                  <a:pt x="2743555" y="308889"/>
                </a:lnTo>
                <a:lnTo>
                  <a:pt x="2742953" y="317774"/>
                </a:lnTo>
                <a:lnTo>
                  <a:pt x="2741171" y="326528"/>
                </a:lnTo>
                <a:lnTo>
                  <a:pt x="2716831" y="363235"/>
                </a:lnTo>
                <a:lnTo>
                  <a:pt x="2674797" y="377647"/>
                </a:lnTo>
                <a:lnTo>
                  <a:pt x="68757" y="377647"/>
                </a:lnTo>
                <a:lnTo>
                  <a:pt x="27076" y="363441"/>
                </a:lnTo>
                <a:lnTo>
                  <a:pt x="2384" y="326844"/>
                </a:lnTo>
                <a:lnTo>
                  <a:pt x="0" y="308889"/>
                </a:lnTo>
                <a:lnTo>
                  <a:pt x="355" y="68770"/>
                </a:lnTo>
                <a:close/>
              </a:path>
            </a:pathLst>
          </a:custGeom>
          <a:noFill/>
          <a:ln cap="flat" cmpd="sng" w="12575">
            <a:solidFill>
              <a:srgbClr val="B3520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95" name="Google Shape;1295;p43"/>
          <p:cNvSpPr txBox="1"/>
          <p:nvPr/>
        </p:nvSpPr>
        <p:spPr>
          <a:xfrm>
            <a:off x="6812178" y="4496310"/>
            <a:ext cx="1531620" cy="1631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900">
                <a:solidFill>
                  <a:srgbClr val="191E25"/>
                </a:solidFill>
                <a:latin typeface="Calibri"/>
                <a:ea typeface="Calibri"/>
                <a:cs typeface="Calibri"/>
                <a:sym typeface="Calibri"/>
              </a:rPr>
              <a:t>Dynamic context understanding</a:t>
            </a:r>
            <a:endParaRPr sz="900">
              <a:latin typeface="Calibri"/>
              <a:ea typeface="Calibri"/>
              <a:cs typeface="Calibri"/>
              <a:sym typeface="Calibri"/>
            </a:endParaRPr>
          </a:p>
        </p:txBody>
      </p:sp>
      <p:sp>
        <p:nvSpPr>
          <p:cNvPr id="1296" name="Google Shape;1296;p43"/>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grpSp>
        <p:nvGrpSpPr>
          <p:cNvPr id="1301" name="Google Shape;1301;p44"/>
          <p:cNvGrpSpPr/>
          <p:nvPr/>
        </p:nvGrpSpPr>
        <p:grpSpPr>
          <a:xfrm>
            <a:off x="0" y="-353"/>
            <a:ext cx="9121140" cy="41275"/>
            <a:chOff x="0" y="-353"/>
            <a:chExt cx="9121140" cy="41275"/>
          </a:xfrm>
        </p:grpSpPr>
        <p:sp>
          <p:nvSpPr>
            <p:cNvPr id="1302" name="Google Shape;1302;p44"/>
            <p:cNvSpPr/>
            <p:nvPr/>
          </p:nvSpPr>
          <p:spPr>
            <a:xfrm>
              <a:off x="0" y="-353"/>
              <a:ext cx="9121140" cy="41275"/>
            </a:xfrm>
            <a:custGeom>
              <a:rect b="b" l="l" r="r" t="t"/>
              <a:pathLst>
                <a:path extrusionOk="0" h="41275" w="9121140">
                  <a:moveTo>
                    <a:pt x="9120962" y="0"/>
                  </a:moveTo>
                  <a:lnTo>
                    <a:pt x="0" y="0"/>
                  </a:lnTo>
                  <a:lnTo>
                    <a:pt x="0" y="40678"/>
                  </a:lnTo>
                  <a:lnTo>
                    <a:pt x="4560481" y="40678"/>
                  </a:lnTo>
                  <a:lnTo>
                    <a:pt x="9120962" y="40678"/>
                  </a:lnTo>
                  <a:lnTo>
                    <a:pt x="9120962" y="0"/>
                  </a:lnTo>
                  <a:close/>
                </a:path>
              </a:pathLst>
            </a:custGeom>
            <a:solidFill>
              <a:srgbClr val="5A20B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03" name="Google Shape;1303;p44"/>
            <p:cNvSpPr/>
            <p:nvPr/>
          </p:nvSpPr>
          <p:spPr>
            <a:xfrm>
              <a:off x="0" y="-353"/>
              <a:ext cx="9121140" cy="41275"/>
            </a:xfrm>
            <a:custGeom>
              <a:rect b="b" l="l" r="r" t="t"/>
              <a:pathLst>
                <a:path extrusionOk="0" h="41275" w="9121140">
                  <a:moveTo>
                    <a:pt x="4560481" y="40678"/>
                  </a:moveTo>
                  <a:lnTo>
                    <a:pt x="0" y="40678"/>
                  </a:lnTo>
                  <a:lnTo>
                    <a:pt x="0" y="0"/>
                  </a:lnTo>
                  <a:lnTo>
                    <a:pt x="9120962" y="0"/>
                  </a:lnTo>
                  <a:lnTo>
                    <a:pt x="9120962" y="40678"/>
                  </a:lnTo>
                  <a:lnTo>
                    <a:pt x="4560481" y="40678"/>
                  </a:lnTo>
                  <a:close/>
                </a:path>
              </a:pathLst>
            </a:custGeom>
            <a:noFill/>
            <a:ln cap="flat" cmpd="sng" w="12575">
              <a:solidFill>
                <a:srgbClr val="5A20B5"/>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descr="$PPTXTitle" id="1304" name="Google Shape;1304;p44"/>
          <p:cNvSpPr txBox="1"/>
          <p:nvPr>
            <p:ph type="title"/>
          </p:nvPr>
        </p:nvSpPr>
        <p:spPr>
          <a:xfrm>
            <a:off x="152184" y="63260"/>
            <a:ext cx="8839631" cy="879475"/>
          </a:xfrm>
          <a:prstGeom prst="rect">
            <a:avLst/>
          </a:prstGeom>
          <a:noFill/>
          <a:ln>
            <a:noFill/>
          </a:ln>
        </p:spPr>
        <p:txBody>
          <a:bodyPr anchorCtr="0" anchor="t" bIns="0" lIns="0" spcFirstLastPara="1" rIns="0" wrap="square" tIns="495800">
            <a:spAutoFit/>
          </a:bodyPr>
          <a:lstStyle/>
          <a:p>
            <a:pPr indent="0" lvl="0" marL="155575" rtl="0" algn="l">
              <a:lnSpc>
                <a:spcPct val="100000"/>
              </a:lnSpc>
              <a:spcBef>
                <a:spcPts val="0"/>
              </a:spcBef>
              <a:spcAft>
                <a:spcPts val="0"/>
              </a:spcAft>
              <a:buNone/>
            </a:pPr>
            <a:r>
              <a:rPr lang="en-US" sz="2200">
                <a:solidFill>
                  <a:srgbClr val="000000"/>
                </a:solidFill>
              </a:rPr>
              <a:t>Query, Key, Value: Step by Step</a:t>
            </a:r>
            <a:endParaRPr sz="2200"/>
          </a:p>
        </p:txBody>
      </p:sp>
      <p:pic>
        <p:nvPicPr>
          <p:cNvPr id="1305" name="Google Shape;1305;p44"/>
          <p:cNvPicPr preferRelativeResize="0"/>
          <p:nvPr/>
        </p:nvPicPr>
        <p:blipFill rotWithShape="1">
          <a:blip r:embed="rId3">
            <a:alphaModFix/>
          </a:blip>
          <a:srcRect b="0" l="0" r="0" t="0"/>
          <a:stretch/>
        </p:blipFill>
        <p:spPr>
          <a:xfrm>
            <a:off x="8369274" y="14"/>
            <a:ext cx="774357" cy="866508"/>
          </a:xfrm>
          <a:prstGeom prst="rect">
            <a:avLst/>
          </a:prstGeom>
          <a:noFill/>
          <a:ln>
            <a:noFill/>
          </a:ln>
        </p:spPr>
      </p:pic>
      <p:sp>
        <p:nvSpPr>
          <p:cNvPr id="1306" name="Google Shape;1306;p44"/>
          <p:cNvSpPr txBox="1"/>
          <p:nvPr/>
        </p:nvSpPr>
        <p:spPr>
          <a:xfrm>
            <a:off x="295465" y="992773"/>
            <a:ext cx="3748404"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Calibri"/>
                <a:ea typeface="Calibri"/>
                <a:cs typeface="Calibri"/>
                <a:sym typeface="Calibri"/>
              </a:rPr>
              <a:t>"The animal didn't cross the street because it was too tired."</a:t>
            </a:r>
            <a:endParaRPr sz="1200">
              <a:latin typeface="Calibri"/>
              <a:ea typeface="Calibri"/>
              <a:cs typeface="Calibri"/>
              <a:sym typeface="Calibri"/>
            </a:endParaRPr>
          </a:p>
        </p:txBody>
      </p:sp>
      <p:grpSp>
        <p:nvGrpSpPr>
          <p:cNvPr id="1307" name="Google Shape;1307;p44"/>
          <p:cNvGrpSpPr/>
          <p:nvPr/>
        </p:nvGrpSpPr>
        <p:grpSpPr>
          <a:xfrm>
            <a:off x="114122" y="1166395"/>
            <a:ext cx="3060001" cy="1722247"/>
            <a:chOff x="114122" y="1166395"/>
            <a:chExt cx="3060001" cy="1722247"/>
          </a:xfrm>
        </p:grpSpPr>
        <p:pic>
          <p:nvPicPr>
            <p:cNvPr id="1308" name="Google Shape;1308;p44"/>
            <p:cNvPicPr preferRelativeResize="0"/>
            <p:nvPr/>
          </p:nvPicPr>
          <p:blipFill rotWithShape="1">
            <a:blip r:embed="rId4">
              <a:alphaModFix/>
            </a:blip>
            <a:srcRect b="0" l="0" r="0" t="0"/>
            <a:stretch/>
          </p:blipFill>
          <p:spPr>
            <a:xfrm>
              <a:off x="114122" y="1166395"/>
              <a:ext cx="3060001" cy="1722247"/>
            </a:xfrm>
            <a:prstGeom prst="rect">
              <a:avLst/>
            </a:prstGeom>
            <a:noFill/>
            <a:ln>
              <a:noFill/>
            </a:ln>
          </p:spPr>
        </p:pic>
        <p:sp>
          <p:nvSpPr>
            <p:cNvPr id="1309" name="Google Shape;1309;p44"/>
            <p:cNvSpPr/>
            <p:nvPr/>
          </p:nvSpPr>
          <p:spPr>
            <a:xfrm>
              <a:off x="308165" y="1289166"/>
              <a:ext cx="2743200" cy="1405890"/>
            </a:xfrm>
            <a:custGeom>
              <a:rect b="b" l="l" r="r" t="t"/>
              <a:pathLst>
                <a:path extrusionOk="0" h="1405889" w="2743200">
                  <a:moveTo>
                    <a:pt x="2742831" y="0"/>
                  </a:moveTo>
                  <a:lnTo>
                    <a:pt x="0" y="0"/>
                  </a:lnTo>
                  <a:lnTo>
                    <a:pt x="0" y="1405432"/>
                  </a:lnTo>
                  <a:lnTo>
                    <a:pt x="1371599" y="1405432"/>
                  </a:lnTo>
                  <a:lnTo>
                    <a:pt x="2742831" y="1405432"/>
                  </a:lnTo>
                  <a:lnTo>
                    <a:pt x="2742831" y="0"/>
                  </a:lnTo>
                  <a:close/>
                </a:path>
              </a:pathLst>
            </a:custGeom>
            <a:solidFill>
              <a:srgbClr val="E7EC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10" name="Google Shape;1310;p44"/>
            <p:cNvSpPr/>
            <p:nvPr/>
          </p:nvSpPr>
          <p:spPr>
            <a:xfrm>
              <a:off x="308165" y="1289166"/>
              <a:ext cx="2743200" cy="1405890"/>
            </a:xfrm>
            <a:custGeom>
              <a:rect b="b" l="l" r="r" t="t"/>
              <a:pathLst>
                <a:path extrusionOk="0" h="1405889" w="2743200">
                  <a:moveTo>
                    <a:pt x="1371599" y="1405432"/>
                  </a:moveTo>
                  <a:lnTo>
                    <a:pt x="0" y="1405432"/>
                  </a:lnTo>
                  <a:lnTo>
                    <a:pt x="0" y="0"/>
                  </a:lnTo>
                  <a:lnTo>
                    <a:pt x="2742831" y="0"/>
                  </a:lnTo>
                  <a:lnTo>
                    <a:pt x="2742831" y="1405432"/>
                  </a:lnTo>
                  <a:lnTo>
                    <a:pt x="1371599" y="1405432"/>
                  </a:lnTo>
                  <a:close/>
                </a:path>
              </a:pathLst>
            </a:custGeom>
            <a:noFill/>
            <a:ln cap="flat" cmpd="sng" w="12575">
              <a:solidFill>
                <a:srgbClr val="C7CFD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311" name="Google Shape;1311;p44"/>
          <p:cNvSpPr txBox="1"/>
          <p:nvPr/>
        </p:nvSpPr>
        <p:spPr>
          <a:xfrm>
            <a:off x="1049400" y="1804951"/>
            <a:ext cx="621665" cy="361315"/>
          </a:xfrm>
          <a:prstGeom prst="rect">
            <a:avLst/>
          </a:prstGeom>
          <a:noFill/>
          <a:ln>
            <a:noFill/>
          </a:ln>
        </p:spPr>
        <p:txBody>
          <a:bodyPr anchorCtr="0" anchor="t" bIns="0" lIns="0" spcFirstLastPara="1" rIns="0" wrap="square" tIns="12700">
            <a:spAutoFit/>
          </a:bodyPr>
          <a:lstStyle/>
          <a:p>
            <a:pPr indent="0" lvl="0" marL="0" marR="5080" rtl="0" algn="l">
              <a:lnSpc>
                <a:spcPct val="100000"/>
              </a:lnSpc>
              <a:spcBef>
                <a:spcPts val="0"/>
              </a:spcBef>
              <a:spcAft>
                <a:spcPts val="0"/>
              </a:spcAft>
              <a:buNone/>
            </a:pPr>
            <a:r>
              <a:rPr lang="en-US" sz="1100">
                <a:latin typeface="Calibri"/>
                <a:ea typeface="Calibri"/>
                <a:cs typeface="Calibri"/>
                <a:sym typeface="Calibri"/>
              </a:rPr>
              <a:t>What I am looking for</a:t>
            </a:r>
            <a:endParaRPr sz="1100">
              <a:latin typeface="Calibri"/>
              <a:ea typeface="Calibri"/>
              <a:cs typeface="Calibri"/>
              <a:sym typeface="Calibri"/>
            </a:endParaRPr>
          </a:p>
        </p:txBody>
      </p:sp>
      <p:sp>
        <p:nvSpPr>
          <p:cNvPr id="1312" name="Google Shape;1312;p44"/>
          <p:cNvSpPr txBox="1"/>
          <p:nvPr/>
        </p:nvSpPr>
        <p:spPr>
          <a:xfrm>
            <a:off x="431634" y="2349616"/>
            <a:ext cx="2486660" cy="224154"/>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i="1" lang="en-US" sz="1300">
                <a:latin typeface="Cambria"/>
                <a:ea typeface="Cambria"/>
                <a:cs typeface="Cambria"/>
                <a:sym typeface="Cambria"/>
              </a:rPr>
              <a:t>* "it" asks: which noun do I refer to?</a:t>
            </a:r>
            <a:endParaRPr sz="1300">
              <a:latin typeface="Cambria"/>
              <a:ea typeface="Cambria"/>
              <a:cs typeface="Cambria"/>
              <a:sym typeface="Cambria"/>
            </a:endParaRPr>
          </a:p>
        </p:txBody>
      </p:sp>
      <p:grpSp>
        <p:nvGrpSpPr>
          <p:cNvPr id="1313" name="Google Shape;1313;p44"/>
          <p:cNvGrpSpPr/>
          <p:nvPr/>
        </p:nvGrpSpPr>
        <p:grpSpPr>
          <a:xfrm>
            <a:off x="3049562" y="1166395"/>
            <a:ext cx="3060001" cy="1722247"/>
            <a:chOff x="3049562" y="1166395"/>
            <a:chExt cx="3060001" cy="1722247"/>
          </a:xfrm>
        </p:grpSpPr>
        <p:pic>
          <p:nvPicPr>
            <p:cNvPr id="1314" name="Google Shape;1314;p44"/>
            <p:cNvPicPr preferRelativeResize="0"/>
            <p:nvPr/>
          </p:nvPicPr>
          <p:blipFill rotWithShape="1">
            <a:blip r:embed="rId4">
              <a:alphaModFix/>
            </a:blip>
            <a:srcRect b="0" l="0" r="0" t="0"/>
            <a:stretch/>
          </p:blipFill>
          <p:spPr>
            <a:xfrm>
              <a:off x="3049562" y="1166395"/>
              <a:ext cx="3060001" cy="1722247"/>
            </a:xfrm>
            <a:prstGeom prst="rect">
              <a:avLst/>
            </a:prstGeom>
            <a:noFill/>
            <a:ln>
              <a:noFill/>
            </a:ln>
          </p:spPr>
        </p:pic>
        <p:sp>
          <p:nvSpPr>
            <p:cNvPr id="1315" name="Google Shape;1315;p44"/>
            <p:cNvSpPr/>
            <p:nvPr/>
          </p:nvSpPr>
          <p:spPr>
            <a:xfrm>
              <a:off x="3243605" y="1289166"/>
              <a:ext cx="2743200" cy="1405890"/>
            </a:xfrm>
            <a:custGeom>
              <a:rect b="b" l="l" r="r" t="t"/>
              <a:pathLst>
                <a:path extrusionOk="0" h="1405889" w="2743200">
                  <a:moveTo>
                    <a:pt x="2742831" y="0"/>
                  </a:moveTo>
                  <a:lnTo>
                    <a:pt x="0" y="0"/>
                  </a:lnTo>
                  <a:lnTo>
                    <a:pt x="0" y="1405432"/>
                  </a:lnTo>
                  <a:lnTo>
                    <a:pt x="1371600" y="1405432"/>
                  </a:lnTo>
                  <a:lnTo>
                    <a:pt x="2742831" y="1405432"/>
                  </a:lnTo>
                  <a:lnTo>
                    <a:pt x="2742831" y="0"/>
                  </a:lnTo>
                  <a:close/>
                </a:path>
              </a:pathLst>
            </a:custGeom>
            <a:solidFill>
              <a:srgbClr val="E7EC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16" name="Google Shape;1316;p44"/>
            <p:cNvSpPr/>
            <p:nvPr/>
          </p:nvSpPr>
          <p:spPr>
            <a:xfrm>
              <a:off x="3243605" y="1289166"/>
              <a:ext cx="2743200" cy="1405890"/>
            </a:xfrm>
            <a:custGeom>
              <a:rect b="b" l="l" r="r" t="t"/>
              <a:pathLst>
                <a:path extrusionOk="0" h="1405889" w="2743200">
                  <a:moveTo>
                    <a:pt x="1371600" y="1405432"/>
                  </a:moveTo>
                  <a:lnTo>
                    <a:pt x="0" y="1405432"/>
                  </a:lnTo>
                  <a:lnTo>
                    <a:pt x="0" y="0"/>
                  </a:lnTo>
                  <a:lnTo>
                    <a:pt x="2742831" y="0"/>
                  </a:lnTo>
                  <a:lnTo>
                    <a:pt x="2742831" y="1405432"/>
                  </a:lnTo>
                  <a:lnTo>
                    <a:pt x="1371600" y="1405432"/>
                  </a:lnTo>
                  <a:close/>
                </a:path>
              </a:pathLst>
            </a:custGeom>
            <a:noFill/>
            <a:ln cap="flat" cmpd="sng" w="12575">
              <a:solidFill>
                <a:srgbClr val="C7CFD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317" name="Google Shape;1317;p44"/>
          <p:cNvSpPr txBox="1"/>
          <p:nvPr/>
        </p:nvSpPr>
        <p:spPr>
          <a:xfrm>
            <a:off x="618845" y="1467271"/>
            <a:ext cx="3136265" cy="391795"/>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2400">
                <a:solidFill>
                  <a:srgbClr val="5A20B5"/>
                </a:solidFill>
                <a:latin typeface="Calibri"/>
                <a:ea typeface="Calibri"/>
                <a:cs typeface="Calibri"/>
                <a:sym typeface="Calibri"/>
              </a:rPr>
              <a:t>Q	</a:t>
            </a:r>
            <a:r>
              <a:rPr b="1" lang="en-US" sz="2400">
                <a:solidFill>
                  <a:srgbClr val="0076A9"/>
                </a:solidFill>
                <a:latin typeface="Calibri"/>
                <a:ea typeface="Calibri"/>
                <a:cs typeface="Calibri"/>
                <a:sym typeface="Calibri"/>
              </a:rPr>
              <a:t>K</a:t>
            </a:r>
            <a:endParaRPr sz="2400">
              <a:latin typeface="Calibri"/>
              <a:ea typeface="Calibri"/>
              <a:cs typeface="Calibri"/>
              <a:sym typeface="Calibri"/>
            </a:endParaRPr>
          </a:p>
        </p:txBody>
      </p:sp>
      <p:sp>
        <p:nvSpPr>
          <p:cNvPr id="1318" name="Google Shape;1318;p44"/>
          <p:cNvSpPr txBox="1"/>
          <p:nvPr/>
        </p:nvSpPr>
        <p:spPr>
          <a:xfrm>
            <a:off x="1049400" y="1438810"/>
            <a:ext cx="3175635" cy="208279"/>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200">
                <a:solidFill>
                  <a:srgbClr val="191E25"/>
                </a:solidFill>
                <a:latin typeface="Calibri"/>
                <a:ea typeface="Calibri"/>
                <a:cs typeface="Calibri"/>
                <a:sym typeface="Calibri"/>
              </a:rPr>
              <a:t>Query	Key</a:t>
            </a:r>
            <a:endParaRPr sz="1200">
              <a:latin typeface="Calibri"/>
              <a:ea typeface="Calibri"/>
              <a:cs typeface="Calibri"/>
              <a:sym typeface="Calibri"/>
            </a:endParaRPr>
          </a:p>
        </p:txBody>
      </p:sp>
      <p:sp>
        <p:nvSpPr>
          <p:cNvPr id="1319" name="Google Shape;1319;p44"/>
          <p:cNvSpPr txBox="1"/>
          <p:nvPr/>
        </p:nvSpPr>
        <p:spPr>
          <a:xfrm>
            <a:off x="3984485" y="1804951"/>
            <a:ext cx="561975" cy="361315"/>
          </a:xfrm>
          <a:prstGeom prst="rect">
            <a:avLst/>
          </a:prstGeom>
          <a:noFill/>
          <a:ln>
            <a:noFill/>
          </a:ln>
        </p:spPr>
        <p:txBody>
          <a:bodyPr anchorCtr="0" anchor="t" bIns="0" lIns="0" spcFirstLastPara="1" rIns="0" wrap="square" tIns="12700">
            <a:spAutoFit/>
          </a:bodyPr>
          <a:lstStyle/>
          <a:p>
            <a:pPr indent="0" lvl="0" marL="0" marR="5080" rtl="0" algn="l">
              <a:lnSpc>
                <a:spcPct val="100000"/>
              </a:lnSpc>
              <a:spcBef>
                <a:spcPts val="0"/>
              </a:spcBef>
              <a:spcAft>
                <a:spcPts val="0"/>
              </a:spcAft>
              <a:buNone/>
            </a:pPr>
            <a:r>
              <a:rPr lang="en-US" sz="1100">
                <a:latin typeface="Calibri"/>
                <a:ea typeface="Calibri"/>
                <a:cs typeface="Calibri"/>
                <a:sym typeface="Calibri"/>
              </a:rPr>
              <a:t>What I represent</a:t>
            </a:r>
            <a:endParaRPr sz="1100">
              <a:latin typeface="Calibri"/>
              <a:ea typeface="Calibri"/>
              <a:cs typeface="Calibri"/>
              <a:sym typeface="Calibri"/>
            </a:endParaRPr>
          </a:p>
        </p:txBody>
      </p:sp>
      <p:sp>
        <p:nvSpPr>
          <p:cNvPr id="1320" name="Google Shape;1320;p44"/>
          <p:cNvSpPr txBox="1"/>
          <p:nvPr/>
        </p:nvSpPr>
        <p:spPr>
          <a:xfrm>
            <a:off x="3367074" y="2349616"/>
            <a:ext cx="1768475" cy="224154"/>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i="1" lang="en-US" sz="1300">
                <a:latin typeface="Cambria"/>
                <a:ea typeface="Cambria"/>
                <a:cs typeface="Cambria"/>
                <a:sym typeface="Cambria"/>
              </a:rPr>
              <a:t>* animal says: I'm a noun</a:t>
            </a:r>
            <a:endParaRPr sz="1300">
              <a:latin typeface="Cambria"/>
              <a:ea typeface="Cambria"/>
              <a:cs typeface="Cambria"/>
              <a:sym typeface="Cambria"/>
            </a:endParaRPr>
          </a:p>
        </p:txBody>
      </p:sp>
      <p:grpSp>
        <p:nvGrpSpPr>
          <p:cNvPr id="1321" name="Google Shape;1321;p44"/>
          <p:cNvGrpSpPr/>
          <p:nvPr/>
        </p:nvGrpSpPr>
        <p:grpSpPr>
          <a:xfrm>
            <a:off x="5984633" y="1166395"/>
            <a:ext cx="3060001" cy="1722247"/>
            <a:chOff x="5984633" y="1166395"/>
            <a:chExt cx="3060001" cy="1722247"/>
          </a:xfrm>
        </p:grpSpPr>
        <p:pic>
          <p:nvPicPr>
            <p:cNvPr id="1322" name="Google Shape;1322;p44"/>
            <p:cNvPicPr preferRelativeResize="0"/>
            <p:nvPr/>
          </p:nvPicPr>
          <p:blipFill rotWithShape="1">
            <a:blip r:embed="rId4">
              <a:alphaModFix/>
            </a:blip>
            <a:srcRect b="0" l="0" r="0" t="0"/>
            <a:stretch/>
          </p:blipFill>
          <p:spPr>
            <a:xfrm>
              <a:off x="5984633" y="1166395"/>
              <a:ext cx="3060001" cy="1722247"/>
            </a:xfrm>
            <a:prstGeom prst="rect">
              <a:avLst/>
            </a:prstGeom>
            <a:noFill/>
            <a:ln>
              <a:noFill/>
            </a:ln>
          </p:spPr>
        </p:pic>
        <p:sp>
          <p:nvSpPr>
            <p:cNvPr id="1323" name="Google Shape;1323;p44"/>
            <p:cNvSpPr/>
            <p:nvPr/>
          </p:nvSpPr>
          <p:spPr>
            <a:xfrm>
              <a:off x="6178676" y="1289166"/>
              <a:ext cx="2743200" cy="1405890"/>
            </a:xfrm>
            <a:custGeom>
              <a:rect b="b" l="l" r="r" t="t"/>
              <a:pathLst>
                <a:path extrusionOk="0" h="1405889" w="2743200">
                  <a:moveTo>
                    <a:pt x="2742844" y="0"/>
                  </a:moveTo>
                  <a:lnTo>
                    <a:pt x="0" y="0"/>
                  </a:lnTo>
                  <a:lnTo>
                    <a:pt x="0" y="1405432"/>
                  </a:lnTo>
                  <a:lnTo>
                    <a:pt x="1371600" y="1405432"/>
                  </a:lnTo>
                  <a:lnTo>
                    <a:pt x="2742844" y="1405432"/>
                  </a:lnTo>
                  <a:lnTo>
                    <a:pt x="2742844" y="0"/>
                  </a:lnTo>
                  <a:close/>
                </a:path>
              </a:pathLst>
            </a:custGeom>
            <a:solidFill>
              <a:srgbClr val="E7EC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24" name="Google Shape;1324;p44"/>
            <p:cNvSpPr/>
            <p:nvPr/>
          </p:nvSpPr>
          <p:spPr>
            <a:xfrm>
              <a:off x="6178676" y="1289166"/>
              <a:ext cx="2743200" cy="1405890"/>
            </a:xfrm>
            <a:custGeom>
              <a:rect b="b" l="l" r="r" t="t"/>
              <a:pathLst>
                <a:path extrusionOk="0" h="1405889" w="2743200">
                  <a:moveTo>
                    <a:pt x="1371600" y="1405432"/>
                  </a:moveTo>
                  <a:lnTo>
                    <a:pt x="0" y="1405432"/>
                  </a:lnTo>
                  <a:lnTo>
                    <a:pt x="0" y="0"/>
                  </a:lnTo>
                  <a:lnTo>
                    <a:pt x="2742844" y="0"/>
                  </a:lnTo>
                  <a:lnTo>
                    <a:pt x="2742844" y="1405432"/>
                  </a:lnTo>
                  <a:lnTo>
                    <a:pt x="1371600" y="1405432"/>
                  </a:lnTo>
                  <a:close/>
                </a:path>
              </a:pathLst>
            </a:custGeom>
            <a:noFill/>
            <a:ln cap="flat" cmpd="sng" w="12575">
              <a:solidFill>
                <a:srgbClr val="C7CFD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325" name="Google Shape;1325;p44"/>
          <p:cNvSpPr txBox="1"/>
          <p:nvPr/>
        </p:nvSpPr>
        <p:spPr>
          <a:xfrm>
            <a:off x="6503758" y="1467271"/>
            <a:ext cx="193040" cy="391795"/>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2400">
                <a:solidFill>
                  <a:srgbClr val="B35208"/>
                </a:solidFill>
                <a:latin typeface="Calibri"/>
                <a:ea typeface="Calibri"/>
                <a:cs typeface="Calibri"/>
                <a:sym typeface="Calibri"/>
              </a:rPr>
              <a:t>V</a:t>
            </a:r>
            <a:endParaRPr sz="2400">
              <a:latin typeface="Calibri"/>
              <a:ea typeface="Calibri"/>
              <a:cs typeface="Calibri"/>
              <a:sym typeface="Calibri"/>
            </a:endParaRPr>
          </a:p>
        </p:txBody>
      </p:sp>
      <p:sp>
        <p:nvSpPr>
          <p:cNvPr id="1326" name="Google Shape;1326;p44"/>
          <p:cNvSpPr txBox="1"/>
          <p:nvPr/>
        </p:nvSpPr>
        <p:spPr>
          <a:xfrm>
            <a:off x="6919556" y="1438810"/>
            <a:ext cx="365125" cy="208279"/>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200">
                <a:solidFill>
                  <a:srgbClr val="191E25"/>
                </a:solidFill>
                <a:latin typeface="Calibri"/>
                <a:ea typeface="Calibri"/>
                <a:cs typeface="Calibri"/>
                <a:sym typeface="Calibri"/>
              </a:rPr>
              <a:t>Value</a:t>
            </a:r>
            <a:endParaRPr sz="1200">
              <a:latin typeface="Calibri"/>
              <a:ea typeface="Calibri"/>
              <a:cs typeface="Calibri"/>
              <a:sym typeface="Calibri"/>
            </a:endParaRPr>
          </a:p>
        </p:txBody>
      </p:sp>
      <p:sp>
        <p:nvSpPr>
          <p:cNvPr id="1327" name="Google Shape;1327;p44"/>
          <p:cNvSpPr txBox="1"/>
          <p:nvPr/>
        </p:nvSpPr>
        <p:spPr>
          <a:xfrm>
            <a:off x="6919556" y="1804951"/>
            <a:ext cx="1025525" cy="361315"/>
          </a:xfrm>
          <a:prstGeom prst="rect">
            <a:avLst/>
          </a:prstGeom>
          <a:noFill/>
          <a:ln>
            <a:noFill/>
          </a:ln>
        </p:spPr>
        <p:txBody>
          <a:bodyPr anchorCtr="0" anchor="t" bIns="0" lIns="0" spcFirstLastPara="1" rIns="0" wrap="square" tIns="12700">
            <a:spAutoFit/>
          </a:bodyPr>
          <a:lstStyle/>
          <a:p>
            <a:pPr indent="0" lvl="0" marL="0" marR="5080" rtl="0" algn="l">
              <a:lnSpc>
                <a:spcPct val="100000"/>
              </a:lnSpc>
              <a:spcBef>
                <a:spcPts val="0"/>
              </a:spcBef>
              <a:spcAft>
                <a:spcPts val="0"/>
              </a:spcAft>
              <a:buNone/>
            </a:pPr>
            <a:r>
              <a:rPr lang="en-US" sz="1100">
                <a:latin typeface="Calibri"/>
                <a:ea typeface="Calibri"/>
                <a:cs typeface="Calibri"/>
                <a:sym typeface="Calibri"/>
              </a:rPr>
              <a:t>What information I carry</a:t>
            </a:r>
            <a:endParaRPr sz="1100">
              <a:latin typeface="Calibri"/>
              <a:ea typeface="Calibri"/>
              <a:cs typeface="Calibri"/>
              <a:sym typeface="Calibri"/>
            </a:endParaRPr>
          </a:p>
        </p:txBody>
      </p:sp>
      <p:sp>
        <p:nvSpPr>
          <p:cNvPr id="1328" name="Google Shape;1328;p44"/>
          <p:cNvSpPr txBox="1"/>
          <p:nvPr/>
        </p:nvSpPr>
        <p:spPr>
          <a:xfrm>
            <a:off x="6302159" y="2349616"/>
            <a:ext cx="1736089" cy="224154"/>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i="1" lang="en-US" sz="1300">
                <a:latin typeface="Cambria"/>
                <a:ea typeface="Cambria"/>
                <a:cs typeface="Cambria"/>
                <a:sym typeface="Cambria"/>
              </a:rPr>
              <a:t>* actual content to share</a:t>
            </a:r>
            <a:endParaRPr sz="1300">
              <a:latin typeface="Cambria"/>
              <a:ea typeface="Cambria"/>
              <a:cs typeface="Cambria"/>
              <a:sym typeface="Cambria"/>
            </a:endParaRPr>
          </a:p>
        </p:txBody>
      </p:sp>
      <p:sp>
        <p:nvSpPr>
          <p:cNvPr id="1329" name="Google Shape;1329;p44"/>
          <p:cNvSpPr txBox="1"/>
          <p:nvPr/>
        </p:nvSpPr>
        <p:spPr>
          <a:xfrm>
            <a:off x="295465" y="2850389"/>
            <a:ext cx="1182370" cy="1631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900">
                <a:solidFill>
                  <a:srgbClr val="191E25"/>
                </a:solidFill>
                <a:latin typeface="Calibri"/>
                <a:ea typeface="Calibri"/>
                <a:cs typeface="Calibri"/>
                <a:sym typeface="Calibri"/>
              </a:rPr>
              <a:t>Attention scores for "it":</a:t>
            </a:r>
            <a:endParaRPr sz="900">
              <a:latin typeface="Calibri"/>
              <a:ea typeface="Calibri"/>
              <a:cs typeface="Calibri"/>
              <a:sym typeface="Calibri"/>
            </a:endParaRPr>
          </a:p>
        </p:txBody>
      </p:sp>
      <p:graphicFrame>
        <p:nvGraphicFramePr>
          <p:cNvPr id="1330" name="Google Shape;1330;p44"/>
          <p:cNvGraphicFramePr/>
          <p:nvPr/>
        </p:nvGraphicFramePr>
        <p:xfrm>
          <a:off x="303123" y="3080881"/>
          <a:ext cx="3000000" cy="3000000"/>
        </p:xfrm>
        <a:graphic>
          <a:graphicData uri="http://schemas.openxmlformats.org/drawingml/2006/table">
            <a:tbl>
              <a:tblPr bandRow="1" firstRow="1">
                <a:noFill/>
                <a:tableStyleId>{17F75444-8990-4049-B4A0-D4880F097619}</a:tableStyleId>
              </a:tblPr>
              <a:tblGrid>
                <a:gridCol w="1028700"/>
                <a:gridCol w="1920250"/>
                <a:gridCol w="1028700"/>
                <a:gridCol w="1371600"/>
              </a:tblGrid>
              <a:tr h="358775">
                <a:tc>
                  <a:txBody>
                    <a:bodyPr/>
                    <a:lstStyle/>
                    <a:p>
                      <a:pPr indent="0" lvl="0" marL="67945" marR="0" rtl="0" algn="l">
                        <a:lnSpc>
                          <a:spcPct val="100000"/>
                        </a:lnSpc>
                        <a:spcBef>
                          <a:spcPts val="0"/>
                        </a:spcBef>
                        <a:spcAft>
                          <a:spcPts val="0"/>
                        </a:spcAft>
                        <a:buNone/>
                      </a:pPr>
                      <a:r>
                        <a:rPr b="1" lang="en-US" sz="1300" u="none" cap="none" strike="noStrike">
                          <a:latin typeface="Calibri"/>
                          <a:ea typeface="Calibri"/>
                          <a:cs typeface="Calibri"/>
                          <a:sym typeface="Calibri"/>
                        </a:rPr>
                        <a:t>Word</a:t>
                      </a:r>
                      <a:endParaRPr sz="1300" u="none" cap="none" strike="noStrike">
                        <a:latin typeface="Calibri"/>
                        <a:ea typeface="Calibri"/>
                        <a:cs typeface="Calibri"/>
                        <a:sym typeface="Calibri"/>
                      </a:endParaRPr>
                    </a:p>
                  </a:txBody>
                  <a:tcPr marT="26025" marB="0" marR="0" marL="0">
                    <a:lnL cap="flat" cmpd="sng" w="12700">
                      <a:solidFill>
                        <a:srgbClr val="2F353C"/>
                      </a:solidFill>
                      <a:prstDash val="solid"/>
                      <a:round/>
                      <a:headEnd len="sm" w="sm" type="none"/>
                      <a:tailEnd len="sm" w="sm" type="none"/>
                    </a:lnL>
                    <a:lnR cap="flat" cmpd="sng" w="12700">
                      <a:solidFill>
                        <a:srgbClr val="2F353C"/>
                      </a:solidFill>
                      <a:prstDash val="solid"/>
                      <a:round/>
                      <a:headEnd len="sm" w="sm" type="none"/>
                      <a:tailEnd len="sm" w="sm" type="none"/>
                    </a:lnR>
                    <a:lnT cap="flat" cmpd="sng" w="12700">
                      <a:solidFill>
                        <a:srgbClr val="2F353C"/>
                      </a:solidFill>
                      <a:prstDash val="solid"/>
                      <a:round/>
                      <a:headEnd len="sm" w="sm" type="none"/>
                      <a:tailEnd len="sm" w="sm" type="none"/>
                    </a:lnT>
                    <a:lnB cap="flat" cmpd="sng" w="12700">
                      <a:solidFill>
                        <a:srgbClr val="2F353C"/>
                      </a:solidFill>
                      <a:prstDash val="solid"/>
                      <a:round/>
                      <a:headEnd len="sm" w="sm" type="none"/>
                      <a:tailEnd len="sm" w="sm" type="none"/>
                    </a:lnB>
                    <a:solidFill>
                      <a:srgbClr val="FFFFFF"/>
                    </a:solidFill>
                  </a:tcPr>
                </a:tc>
                <a:tc>
                  <a:txBody>
                    <a:bodyPr/>
                    <a:lstStyle/>
                    <a:p>
                      <a:pPr indent="0" lvl="0" marL="67945" marR="0" rtl="0" algn="l">
                        <a:lnSpc>
                          <a:spcPct val="100000"/>
                        </a:lnSpc>
                        <a:spcBef>
                          <a:spcPts val="0"/>
                        </a:spcBef>
                        <a:spcAft>
                          <a:spcPts val="0"/>
                        </a:spcAft>
                        <a:buNone/>
                      </a:pPr>
                      <a:r>
                        <a:rPr b="1" lang="en-US" sz="1300" u="none" cap="none" strike="noStrike">
                          <a:latin typeface="Calibri"/>
                          <a:ea typeface="Calibri"/>
                          <a:cs typeface="Calibri"/>
                          <a:sym typeface="Calibri"/>
                        </a:rPr>
                        <a:t>Key meaning</a:t>
                      </a:r>
                      <a:endParaRPr sz="1300" u="none" cap="none" strike="noStrike">
                        <a:latin typeface="Calibri"/>
                        <a:ea typeface="Calibri"/>
                        <a:cs typeface="Calibri"/>
                        <a:sym typeface="Calibri"/>
                      </a:endParaRPr>
                    </a:p>
                  </a:txBody>
                  <a:tcPr marT="26025" marB="0" marR="0" marL="0">
                    <a:lnL cap="flat" cmpd="sng" w="12700">
                      <a:solidFill>
                        <a:srgbClr val="2F353C"/>
                      </a:solidFill>
                      <a:prstDash val="solid"/>
                      <a:round/>
                      <a:headEnd len="sm" w="sm" type="none"/>
                      <a:tailEnd len="sm" w="sm" type="none"/>
                    </a:lnL>
                    <a:lnR cap="flat" cmpd="sng" w="12700">
                      <a:solidFill>
                        <a:srgbClr val="2F353C"/>
                      </a:solidFill>
                      <a:prstDash val="solid"/>
                      <a:round/>
                      <a:headEnd len="sm" w="sm" type="none"/>
                      <a:tailEnd len="sm" w="sm" type="none"/>
                    </a:lnR>
                    <a:lnT cap="flat" cmpd="sng" w="12700">
                      <a:solidFill>
                        <a:srgbClr val="2F353C"/>
                      </a:solidFill>
                      <a:prstDash val="solid"/>
                      <a:round/>
                      <a:headEnd len="sm" w="sm" type="none"/>
                      <a:tailEnd len="sm" w="sm" type="none"/>
                    </a:lnT>
                    <a:lnB cap="flat" cmpd="sng" w="12700">
                      <a:solidFill>
                        <a:srgbClr val="2F353C"/>
                      </a:solidFill>
                      <a:prstDash val="solid"/>
                      <a:round/>
                      <a:headEnd len="sm" w="sm" type="none"/>
                      <a:tailEnd len="sm" w="sm" type="none"/>
                    </a:lnB>
                  </a:tcPr>
                </a:tc>
                <a:tc>
                  <a:txBody>
                    <a:bodyPr/>
                    <a:lstStyle/>
                    <a:p>
                      <a:pPr indent="0" lvl="0" marL="67945" marR="0" rtl="0" algn="l">
                        <a:lnSpc>
                          <a:spcPct val="100000"/>
                        </a:lnSpc>
                        <a:spcBef>
                          <a:spcPts val="0"/>
                        </a:spcBef>
                        <a:spcAft>
                          <a:spcPts val="0"/>
                        </a:spcAft>
                        <a:buNone/>
                      </a:pPr>
                      <a:r>
                        <a:rPr b="1" lang="en-US" sz="1300" u="none" cap="none" strike="noStrike">
                          <a:latin typeface="Calibri"/>
                          <a:ea typeface="Calibri"/>
                          <a:cs typeface="Calibri"/>
                          <a:sym typeface="Calibri"/>
                        </a:rPr>
                        <a:t>Score</a:t>
                      </a:r>
                      <a:endParaRPr sz="1300" u="none" cap="none" strike="noStrike">
                        <a:latin typeface="Calibri"/>
                        <a:ea typeface="Calibri"/>
                        <a:cs typeface="Calibri"/>
                        <a:sym typeface="Calibri"/>
                      </a:endParaRPr>
                    </a:p>
                  </a:txBody>
                  <a:tcPr marT="26025" marB="0" marR="0" marL="0">
                    <a:lnL cap="flat" cmpd="sng" w="12700">
                      <a:solidFill>
                        <a:srgbClr val="2F353C"/>
                      </a:solidFill>
                      <a:prstDash val="solid"/>
                      <a:round/>
                      <a:headEnd len="sm" w="sm" type="none"/>
                      <a:tailEnd len="sm" w="sm" type="none"/>
                    </a:lnL>
                    <a:lnR cap="flat" cmpd="sng" w="12700">
                      <a:solidFill>
                        <a:srgbClr val="2F353C"/>
                      </a:solidFill>
                      <a:prstDash val="solid"/>
                      <a:round/>
                      <a:headEnd len="sm" w="sm" type="none"/>
                      <a:tailEnd len="sm" w="sm" type="none"/>
                    </a:lnR>
                    <a:lnT cap="flat" cmpd="sng" w="12700">
                      <a:solidFill>
                        <a:srgbClr val="2F353C"/>
                      </a:solidFill>
                      <a:prstDash val="solid"/>
                      <a:round/>
                      <a:headEnd len="sm" w="sm" type="none"/>
                      <a:tailEnd len="sm" w="sm" type="none"/>
                    </a:lnT>
                    <a:lnB cap="flat" cmpd="sng" w="12700">
                      <a:solidFill>
                        <a:srgbClr val="2F353C"/>
                      </a:solidFill>
                      <a:prstDash val="solid"/>
                      <a:round/>
                      <a:headEnd len="sm" w="sm" type="none"/>
                      <a:tailEnd len="sm" w="sm" type="none"/>
                    </a:lnB>
                  </a:tcPr>
                </a:tc>
                <a:tc>
                  <a:txBody>
                    <a:bodyPr/>
                    <a:lstStyle/>
                    <a:p>
                      <a:pPr indent="0" lvl="0" marL="67945" marR="0" rtl="0" algn="l">
                        <a:lnSpc>
                          <a:spcPct val="100000"/>
                        </a:lnSpc>
                        <a:spcBef>
                          <a:spcPts val="0"/>
                        </a:spcBef>
                        <a:spcAft>
                          <a:spcPts val="0"/>
                        </a:spcAft>
                        <a:buNone/>
                      </a:pPr>
                      <a:r>
                        <a:rPr b="1" lang="en-US" sz="1300" u="none" cap="none" strike="noStrike">
                          <a:latin typeface="Calibri"/>
                          <a:ea typeface="Calibri"/>
                          <a:cs typeface="Calibri"/>
                          <a:sym typeface="Calibri"/>
                        </a:rPr>
                        <a:t>Weight</a:t>
                      </a:r>
                      <a:endParaRPr sz="1300" u="none" cap="none" strike="noStrike">
                        <a:latin typeface="Calibri"/>
                        <a:ea typeface="Calibri"/>
                        <a:cs typeface="Calibri"/>
                        <a:sym typeface="Calibri"/>
                      </a:endParaRPr>
                    </a:p>
                  </a:txBody>
                  <a:tcPr marT="26025" marB="0" marR="0" marL="0">
                    <a:lnL cap="flat" cmpd="sng" w="12700">
                      <a:solidFill>
                        <a:srgbClr val="2F353C"/>
                      </a:solidFill>
                      <a:prstDash val="solid"/>
                      <a:round/>
                      <a:headEnd len="sm" w="sm" type="none"/>
                      <a:tailEnd len="sm" w="sm" type="none"/>
                    </a:lnL>
                    <a:lnR cap="flat" cmpd="sng" w="12700">
                      <a:solidFill>
                        <a:srgbClr val="2F353C"/>
                      </a:solidFill>
                      <a:prstDash val="solid"/>
                      <a:round/>
                      <a:headEnd len="sm" w="sm" type="none"/>
                      <a:tailEnd len="sm" w="sm" type="none"/>
                    </a:lnR>
                    <a:lnT cap="flat" cmpd="sng" w="12700">
                      <a:solidFill>
                        <a:srgbClr val="2F353C"/>
                      </a:solidFill>
                      <a:prstDash val="solid"/>
                      <a:round/>
                      <a:headEnd len="sm" w="sm" type="none"/>
                      <a:tailEnd len="sm" w="sm" type="none"/>
                    </a:lnT>
                    <a:lnB cap="flat" cmpd="sng" w="12700">
                      <a:solidFill>
                        <a:srgbClr val="2F353C"/>
                      </a:solidFill>
                      <a:prstDash val="solid"/>
                      <a:round/>
                      <a:headEnd len="sm" w="sm" type="none"/>
                      <a:tailEnd len="sm" w="sm" type="none"/>
                    </a:lnB>
                  </a:tcPr>
                </a:tc>
              </a:tr>
              <a:tr h="358775">
                <a:tc>
                  <a:txBody>
                    <a:bodyPr/>
                    <a:lstStyle/>
                    <a:p>
                      <a:pPr indent="0" lvl="0" marL="67945" marR="0" rtl="0" algn="l">
                        <a:lnSpc>
                          <a:spcPct val="100000"/>
                        </a:lnSpc>
                        <a:spcBef>
                          <a:spcPts val="0"/>
                        </a:spcBef>
                        <a:spcAft>
                          <a:spcPts val="0"/>
                        </a:spcAft>
                        <a:buNone/>
                      </a:pPr>
                      <a:r>
                        <a:rPr b="1" lang="en-US" sz="1400" u="none" cap="none" strike="noStrike">
                          <a:latin typeface="Calibri"/>
                          <a:ea typeface="Calibri"/>
                          <a:cs typeface="Calibri"/>
                          <a:sym typeface="Calibri"/>
                        </a:rPr>
                        <a:t>animal</a:t>
                      </a:r>
                      <a:endParaRPr sz="1400" u="none" cap="none" strike="noStrike">
                        <a:latin typeface="Calibri"/>
                        <a:ea typeface="Calibri"/>
                        <a:cs typeface="Calibri"/>
                        <a:sym typeface="Calibri"/>
                      </a:endParaRPr>
                    </a:p>
                  </a:txBody>
                  <a:tcPr marT="25400" marB="0" marR="0" marL="0">
                    <a:lnL cap="flat" cmpd="sng" w="12700">
                      <a:solidFill>
                        <a:srgbClr val="2F353C"/>
                      </a:solidFill>
                      <a:prstDash val="solid"/>
                      <a:round/>
                      <a:headEnd len="sm" w="sm" type="none"/>
                      <a:tailEnd len="sm" w="sm" type="none"/>
                    </a:lnL>
                    <a:lnR cap="flat" cmpd="sng" w="12700">
                      <a:solidFill>
                        <a:srgbClr val="2F353C"/>
                      </a:solidFill>
                      <a:prstDash val="solid"/>
                      <a:round/>
                      <a:headEnd len="sm" w="sm" type="none"/>
                      <a:tailEnd len="sm" w="sm" type="none"/>
                    </a:lnR>
                    <a:lnT cap="flat" cmpd="sng" w="12700">
                      <a:solidFill>
                        <a:srgbClr val="2F353C"/>
                      </a:solidFill>
                      <a:prstDash val="solid"/>
                      <a:round/>
                      <a:headEnd len="sm" w="sm" type="none"/>
                      <a:tailEnd len="sm" w="sm" type="none"/>
                    </a:lnT>
                    <a:lnB cap="flat" cmpd="sng" w="12700">
                      <a:solidFill>
                        <a:srgbClr val="2F353C"/>
                      </a:solidFill>
                      <a:prstDash val="solid"/>
                      <a:round/>
                      <a:headEnd len="sm" w="sm" type="none"/>
                      <a:tailEnd len="sm" w="sm" type="none"/>
                    </a:lnB>
                    <a:solidFill>
                      <a:srgbClr val="FFFFFF"/>
                    </a:solidFill>
                  </a:tcPr>
                </a:tc>
                <a:tc>
                  <a:txBody>
                    <a:bodyPr/>
                    <a:lstStyle/>
                    <a:p>
                      <a:pPr indent="0" lvl="0" marL="67945" marR="0" rtl="0" algn="l">
                        <a:lnSpc>
                          <a:spcPct val="100000"/>
                        </a:lnSpc>
                        <a:spcBef>
                          <a:spcPts val="0"/>
                        </a:spcBef>
                        <a:spcAft>
                          <a:spcPts val="0"/>
                        </a:spcAft>
                        <a:buNone/>
                      </a:pPr>
                      <a:r>
                        <a:rPr lang="en-US" sz="1300" u="none" cap="none" strike="noStrike">
                          <a:latin typeface="Calibri"/>
                          <a:ea typeface="Calibri"/>
                          <a:cs typeface="Calibri"/>
                          <a:sym typeface="Calibri"/>
                        </a:rPr>
                        <a:t>noun, living thing</a:t>
                      </a:r>
                      <a:endParaRPr sz="1300" u="none" cap="none" strike="noStrike">
                        <a:latin typeface="Calibri"/>
                        <a:ea typeface="Calibri"/>
                        <a:cs typeface="Calibri"/>
                        <a:sym typeface="Calibri"/>
                      </a:endParaRPr>
                    </a:p>
                  </a:txBody>
                  <a:tcPr marT="26025" marB="0" marR="0" marL="0">
                    <a:lnL cap="flat" cmpd="sng" w="12700">
                      <a:solidFill>
                        <a:srgbClr val="2F353C"/>
                      </a:solidFill>
                      <a:prstDash val="solid"/>
                      <a:round/>
                      <a:headEnd len="sm" w="sm" type="none"/>
                      <a:tailEnd len="sm" w="sm" type="none"/>
                    </a:lnL>
                    <a:lnR cap="flat" cmpd="sng" w="12700">
                      <a:solidFill>
                        <a:srgbClr val="2F353C"/>
                      </a:solidFill>
                      <a:prstDash val="solid"/>
                      <a:round/>
                      <a:headEnd len="sm" w="sm" type="none"/>
                      <a:tailEnd len="sm" w="sm" type="none"/>
                    </a:lnR>
                    <a:lnT cap="flat" cmpd="sng" w="12700">
                      <a:solidFill>
                        <a:srgbClr val="2F353C"/>
                      </a:solidFill>
                      <a:prstDash val="solid"/>
                      <a:round/>
                      <a:headEnd len="sm" w="sm" type="none"/>
                      <a:tailEnd len="sm" w="sm" type="none"/>
                    </a:lnT>
                    <a:lnB cap="flat" cmpd="sng" w="12700">
                      <a:solidFill>
                        <a:srgbClr val="2F353C"/>
                      </a:solidFill>
                      <a:prstDash val="solid"/>
                      <a:round/>
                      <a:headEnd len="sm" w="sm" type="none"/>
                      <a:tailEnd len="sm" w="sm" type="none"/>
                    </a:lnB>
                    <a:solidFill>
                      <a:srgbClr val="FFFFFF"/>
                    </a:solidFill>
                  </a:tcPr>
                </a:tc>
                <a:tc>
                  <a:txBody>
                    <a:bodyPr/>
                    <a:lstStyle/>
                    <a:p>
                      <a:pPr indent="0" lvl="0" marL="67945" marR="0" rtl="0" algn="l">
                        <a:lnSpc>
                          <a:spcPct val="100000"/>
                        </a:lnSpc>
                        <a:spcBef>
                          <a:spcPts val="0"/>
                        </a:spcBef>
                        <a:spcAft>
                          <a:spcPts val="0"/>
                        </a:spcAft>
                        <a:buNone/>
                      </a:pPr>
                      <a:r>
                        <a:rPr b="1" lang="en-US" sz="1300" u="none" cap="none" strike="noStrike">
                          <a:latin typeface="Calibri"/>
                          <a:ea typeface="Calibri"/>
                          <a:cs typeface="Calibri"/>
                          <a:sym typeface="Calibri"/>
                        </a:rPr>
                        <a:t>5.0</a:t>
                      </a:r>
                      <a:endParaRPr sz="1300" u="none" cap="none" strike="noStrike">
                        <a:latin typeface="Calibri"/>
                        <a:ea typeface="Calibri"/>
                        <a:cs typeface="Calibri"/>
                        <a:sym typeface="Calibri"/>
                      </a:endParaRPr>
                    </a:p>
                  </a:txBody>
                  <a:tcPr marT="26025" marB="0" marR="0" marL="0">
                    <a:lnL cap="flat" cmpd="sng" w="12700">
                      <a:solidFill>
                        <a:srgbClr val="2F353C"/>
                      </a:solidFill>
                      <a:prstDash val="solid"/>
                      <a:round/>
                      <a:headEnd len="sm" w="sm" type="none"/>
                      <a:tailEnd len="sm" w="sm" type="none"/>
                    </a:lnL>
                    <a:lnR cap="flat" cmpd="sng" w="12700">
                      <a:solidFill>
                        <a:srgbClr val="2F353C"/>
                      </a:solidFill>
                      <a:prstDash val="solid"/>
                      <a:round/>
                      <a:headEnd len="sm" w="sm" type="none"/>
                      <a:tailEnd len="sm" w="sm" type="none"/>
                    </a:lnR>
                    <a:lnT cap="flat" cmpd="sng" w="12700">
                      <a:solidFill>
                        <a:srgbClr val="2F353C"/>
                      </a:solidFill>
                      <a:prstDash val="solid"/>
                      <a:round/>
                      <a:headEnd len="sm" w="sm" type="none"/>
                      <a:tailEnd len="sm" w="sm" type="none"/>
                    </a:lnT>
                    <a:lnB cap="flat" cmpd="sng" w="12700">
                      <a:solidFill>
                        <a:srgbClr val="2F353C"/>
                      </a:solidFill>
                      <a:prstDash val="solid"/>
                      <a:round/>
                      <a:headEnd len="sm" w="sm" type="none"/>
                      <a:tailEnd len="sm" w="sm" type="none"/>
                    </a:lnB>
                  </a:tcPr>
                </a:tc>
                <a:tc>
                  <a:txBody>
                    <a:bodyPr/>
                    <a:lstStyle/>
                    <a:p>
                      <a:pPr indent="0" lvl="0" marL="67945" marR="0" rtl="0" algn="l">
                        <a:lnSpc>
                          <a:spcPct val="100000"/>
                        </a:lnSpc>
                        <a:spcBef>
                          <a:spcPts val="0"/>
                        </a:spcBef>
                        <a:spcAft>
                          <a:spcPts val="0"/>
                        </a:spcAft>
                        <a:buNone/>
                      </a:pPr>
                      <a:r>
                        <a:rPr b="1" lang="en-US" sz="1300" u="none" cap="none" strike="noStrike">
                          <a:latin typeface="Calibri"/>
                          <a:ea typeface="Calibri"/>
                          <a:cs typeface="Calibri"/>
                          <a:sym typeface="Calibri"/>
                        </a:rPr>
                        <a:t>0.83</a:t>
                      </a:r>
                      <a:endParaRPr sz="1300" u="none" cap="none" strike="noStrike">
                        <a:latin typeface="Calibri"/>
                        <a:ea typeface="Calibri"/>
                        <a:cs typeface="Calibri"/>
                        <a:sym typeface="Calibri"/>
                      </a:endParaRPr>
                    </a:p>
                  </a:txBody>
                  <a:tcPr marT="26025" marB="0" marR="0" marL="0">
                    <a:lnL cap="flat" cmpd="sng" w="12700">
                      <a:solidFill>
                        <a:srgbClr val="2F353C"/>
                      </a:solidFill>
                      <a:prstDash val="solid"/>
                      <a:round/>
                      <a:headEnd len="sm" w="sm" type="none"/>
                      <a:tailEnd len="sm" w="sm" type="none"/>
                    </a:lnL>
                    <a:lnR cap="flat" cmpd="sng" w="12700">
                      <a:solidFill>
                        <a:srgbClr val="2F353C"/>
                      </a:solidFill>
                      <a:prstDash val="solid"/>
                      <a:round/>
                      <a:headEnd len="sm" w="sm" type="none"/>
                      <a:tailEnd len="sm" w="sm" type="none"/>
                    </a:lnR>
                    <a:lnT cap="flat" cmpd="sng" w="12700">
                      <a:solidFill>
                        <a:srgbClr val="2F353C"/>
                      </a:solidFill>
                      <a:prstDash val="solid"/>
                      <a:round/>
                      <a:headEnd len="sm" w="sm" type="none"/>
                      <a:tailEnd len="sm" w="sm" type="none"/>
                    </a:lnT>
                    <a:lnB cap="flat" cmpd="sng" w="12700">
                      <a:solidFill>
                        <a:srgbClr val="2F353C"/>
                      </a:solidFill>
                      <a:prstDash val="solid"/>
                      <a:round/>
                      <a:headEnd len="sm" w="sm" type="none"/>
                      <a:tailEnd len="sm" w="sm" type="none"/>
                    </a:lnB>
                  </a:tcPr>
                </a:tc>
              </a:tr>
              <a:tr h="358775">
                <a:tc>
                  <a:txBody>
                    <a:bodyPr/>
                    <a:lstStyle/>
                    <a:p>
                      <a:pPr indent="0" lvl="0" marL="67945" marR="0" rtl="0" algn="l">
                        <a:lnSpc>
                          <a:spcPct val="100000"/>
                        </a:lnSpc>
                        <a:spcBef>
                          <a:spcPts val="0"/>
                        </a:spcBef>
                        <a:spcAft>
                          <a:spcPts val="0"/>
                        </a:spcAft>
                        <a:buNone/>
                      </a:pPr>
                      <a:r>
                        <a:rPr lang="en-US" sz="1300" u="none" cap="none" strike="noStrike">
                          <a:latin typeface="Calibri"/>
                          <a:ea typeface="Calibri"/>
                          <a:cs typeface="Calibri"/>
                          <a:sym typeface="Calibri"/>
                        </a:rPr>
                        <a:t>tired</a:t>
                      </a:r>
                      <a:endParaRPr sz="1300" u="none" cap="none" strike="noStrike">
                        <a:latin typeface="Calibri"/>
                        <a:ea typeface="Calibri"/>
                        <a:cs typeface="Calibri"/>
                        <a:sym typeface="Calibri"/>
                      </a:endParaRPr>
                    </a:p>
                  </a:txBody>
                  <a:tcPr marT="26025" marB="0" marR="0" marL="0">
                    <a:lnL cap="flat" cmpd="sng" w="12700">
                      <a:solidFill>
                        <a:srgbClr val="2F353C"/>
                      </a:solidFill>
                      <a:prstDash val="solid"/>
                      <a:round/>
                      <a:headEnd len="sm" w="sm" type="none"/>
                      <a:tailEnd len="sm" w="sm" type="none"/>
                    </a:lnL>
                    <a:lnR cap="flat" cmpd="sng" w="12700">
                      <a:solidFill>
                        <a:srgbClr val="2F353C"/>
                      </a:solidFill>
                      <a:prstDash val="solid"/>
                      <a:round/>
                      <a:headEnd len="sm" w="sm" type="none"/>
                      <a:tailEnd len="sm" w="sm" type="none"/>
                    </a:lnR>
                    <a:lnT cap="flat" cmpd="sng" w="12700">
                      <a:solidFill>
                        <a:srgbClr val="2F353C"/>
                      </a:solidFill>
                      <a:prstDash val="solid"/>
                      <a:round/>
                      <a:headEnd len="sm" w="sm" type="none"/>
                      <a:tailEnd len="sm" w="sm" type="none"/>
                    </a:lnT>
                    <a:lnB cap="flat" cmpd="sng" w="12700">
                      <a:solidFill>
                        <a:srgbClr val="2F353C"/>
                      </a:solidFill>
                      <a:prstDash val="solid"/>
                      <a:round/>
                      <a:headEnd len="sm" w="sm" type="none"/>
                      <a:tailEnd len="sm" w="sm" type="none"/>
                    </a:lnB>
                    <a:solidFill>
                      <a:srgbClr val="FFFFFF"/>
                    </a:solidFill>
                  </a:tcPr>
                </a:tc>
                <a:tc>
                  <a:txBody>
                    <a:bodyPr/>
                    <a:lstStyle/>
                    <a:p>
                      <a:pPr indent="0" lvl="0" marL="67945" marR="0" rtl="0" algn="l">
                        <a:lnSpc>
                          <a:spcPct val="100000"/>
                        </a:lnSpc>
                        <a:spcBef>
                          <a:spcPts val="0"/>
                        </a:spcBef>
                        <a:spcAft>
                          <a:spcPts val="0"/>
                        </a:spcAft>
                        <a:buNone/>
                      </a:pPr>
                      <a:r>
                        <a:rPr lang="en-US" sz="1300" u="none" cap="none" strike="noStrike">
                          <a:latin typeface="Calibri"/>
                          <a:ea typeface="Calibri"/>
                          <a:cs typeface="Calibri"/>
                          <a:sym typeface="Calibri"/>
                        </a:rPr>
                        <a:t>adjective</a:t>
                      </a:r>
                      <a:endParaRPr sz="1300" u="none" cap="none" strike="noStrike">
                        <a:latin typeface="Calibri"/>
                        <a:ea typeface="Calibri"/>
                        <a:cs typeface="Calibri"/>
                        <a:sym typeface="Calibri"/>
                      </a:endParaRPr>
                    </a:p>
                  </a:txBody>
                  <a:tcPr marT="26025" marB="0" marR="0" marL="0">
                    <a:lnL cap="flat" cmpd="sng" w="12700">
                      <a:solidFill>
                        <a:srgbClr val="2F353C"/>
                      </a:solidFill>
                      <a:prstDash val="solid"/>
                      <a:round/>
                      <a:headEnd len="sm" w="sm" type="none"/>
                      <a:tailEnd len="sm" w="sm" type="none"/>
                    </a:lnL>
                    <a:lnR cap="flat" cmpd="sng" w="12700">
                      <a:solidFill>
                        <a:srgbClr val="2F353C"/>
                      </a:solidFill>
                      <a:prstDash val="solid"/>
                      <a:round/>
                      <a:headEnd len="sm" w="sm" type="none"/>
                      <a:tailEnd len="sm" w="sm" type="none"/>
                    </a:lnR>
                    <a:lnT cap="flat" cmpd="sng" w="12700">
                      <a:solidFill>
                        <a:srgbClr val="2F353C"/>
                      </a:solidFill>
                      <a:prstDash val="solid"/>
                      <a:round/>
                      <a:headEnd len="sm" w="sm" type="none"/>
                      <a:tailEnd len="sm" w="sm" type="none"/>
                    </a:lnT>
                    <a:lnB cap="flat" cmpd="sng" w="12700">
                      <a:solidFill>
                        <a:srgbClr val="2F353C"/>
                      </a:solidFill>
                      <a:prstDash val="solid"/>
                      <a:round/>
                      <a:headEnd len="sm" w="sm" type="none"/>
                      <a:tailEnd len="sm" w="sm" type="none"/>
                    </a:lnB>
                    <a:solidFill>
                      <a:srgbClr val="FFFFFF"/>
                    </a:solidFill>
                  </a:tcPr>
                </a:tc>
                <a:tc>
                  <a:txBody>
                    <a:bodyPr/>
                    <a:lstStyle/>
                    <a:p>
                      <a:pPr indent="0" lvl="0" marL="67945" marR="0" rtl="0" algn="l">
                        <a:lnSpc>
                          <a:spcPct val="100000"/>
                        </a:lnSpc>
                        <a:spcBef>
                          <a:spcPts val="0"/>
                        </a:spcBef>
                        <a:spcAft>
                          <a:spcPts val="0"/>
                        </a:spcAft>
                        <a:buNone/>
                      </a:pPr>
                      <a:r>
                        <a:rPr lang="en-US" sz="1300" u="none" cap="none" strike="noStrike">
                          <a:latin typeface="Calibri"/>
                          <a:ea typeface="Calibri"/>
                          <a:cs typeface="Calibri"/>
                          <a:sym typeface="Calibri"/>
                        </a:rPr>
                        <a:t>3.0</a:t>
                      </a:r>
                      <a:endParaRPr sz="1300" u="none" cap="none" strike="noStrike">
                        <a:latin typeface="Calibri"/>
                        <a:ea typeface="Calibri"/>
                        <a:cs typeface="Calibri"/>
                        <a:sym typeface="Calibri"/>
                      </a:endParaRPr>
                    </a:p>
                  </a:txBody>
                  <a:tcPr marT="26025" marB="0" marR="0" marL="0">
                    <a:lnL cap="flat" cmpd="sng" w="12700">
                      <a:solidFill>
                        <a:srgbClr val="2F353C"/>
                      </a:solidFill>
                      <a:prstDash val="solid"/>
                      <a:round/>
                      <a:headEnd len="sm" w="sm" type="none"/>
                      <a:tailEnd len="sm" w="sm" type="none"/>
                    </a:lnL>
                    <a:lnR cap="flat" cmpd="sng" w="12700">
                      <a:solidFill>
                        <a:srgbClr val="2F353C"/>
                      </a:solidFill>
                      <a:prstDash val="solid"/>
                      <a:round/>
                      <a:headEnd len="sm" w="sm" type="none"/>
                      <a:tailEnd len="sm" w="sm" type="none"/>
                    </a:lnR>
                    <a:lnT cap="flat" cmpd="sng" w="12700">
                      <a:solidFill>
                        <a:srgbClr val="2F353C"/>
                      </a:solidFill>
                      <a:prstDash val="solid"/>
                      <a:round/>
                      <a:headEnd len="sm" w="sm" type="none"/>
                      <a:tailEnd len="sm" w="sm" type="none"/>
                    </a:lnT>
                    <a:lnB cap="flat" cmpd="sng" w="12700">
                      <a:solidFill>
                        <a:srgbClr val="2F353C"/>
                      </a:solidFill>
                      <a:prstDash val="solid"/>
                      <a:round/>
                      <a:headEnd len="sm" w="sm" type="none"/>
                      <a:tailEnd len="sm" w="sm" type="none"/>
                    </a:lnB>
                  </a:tcPr>
                </a:tc>
                <a:tc>
                  <a:txBody>
                    <a:bodyPr/>
                    <a:lstStyle/>
                    <a:p>
                      <a:pPr indent="0" lvl="0" marL="67945" marR="0" rtl="0" algn="l">
                        <a:lnSpc>
                          <a:spcPct val="100000"/>
                        </a:lnSpc>
                        <a:spcBef>
                          <a:spcPts val="0"/>
                        </a:spcBef>
                        <a:spcAft>
                          <a:spcPts val="0"/>
                        </a:spcAft>
                        <a:buNone/>
                      </a:pPr>
                      <a:r>
                        <a:rPr lang="en-US" sz="1300" u="none" cap="none" strike="noStrike">
                          <a:latin typeface="Calibri"/>
                          <a:ea typeface="Calibri"/>
                          <a:cs typeface="Calibri"/>
                          <a:sym typeface="Calibri"/>
                        </a:rPr>
                        <a:t>0.11</a:t>
                      </a:r>
                      <a:endParaRPr sz="1300" u="none" cap="none" strike="noStrike">
                        <a:latin typeface="Calibri"/>
                        <a:ea typeface="Calibri"/>
                        <a:cs typeface="Calibri"/>
                        <a:sym typeface="Calibri"/>
                      </a:endParaRPr>
                    </a:p>
                  </a:txBody>
                  <a:tcPr marT="26025" marB="0" marR="0" marL="0">
                    <a:lnL cap="flat" cmpd="sng" w="12700">
                      <a:solidFill>
                        <a:srgbClr val="2F353C"/>
                      </a:solidFill>
                      <a:prstDash val="solid"/>
                      <a:round/>
                      <a:headEnd len="sm" w="sm" type="none"/>
                      <a:tailEnd len="sm" w="sm" type="none"/>
                    </a:lnL>
                    <a:lnR cap="flat" cmpd="sng" w="12700">
                      <a:solidFill>
                        <a:srgbClr val="2F353C"/>
                      </a:solidFill>
                      <a:prstDash val="solid"/>
                      <a:round/>
                      <a:headEnd len="sm" w="sm" type="none"/>
                      <a:tailEnd len="sm" w="sm" type="none"/>
                    </a:lnR>
                    <a:lnT cap="flat" cmpd="sng" w="12700">
                      <a:solidFill>
                        <a:srgbClr val="2F353C"/>
                      </a:solidFill>
                      <a:prstDash val="solid"/>
                      <a:round/>
                      <a:headEnd len="sm" w="sm" type="none"/>
                      <a:tailEnd len="sm" w="sm" type="none"/>
                    </a:lnT>
                    <a:lnB cap="flat" cmpd="sng" w="12700">
                      <a:solidFill>
                        <a:srgbClr val="2F353C"/>
                      </a:solidFill>
                      <a:prstDash val="solid"/>
                      <a:round/>
                      <a:headEnd len="sm" w="sm" type="none"/>
                      <a:tailEnd len="sm" w="sm" type="none"/>
                    </a:lnB>
                  </a:tcPr>
                </a:tc>
              </a:tr>
              <a:tr h="358775">
                <a:tc>
                  <a:txBody>
                    <a:bodyPr/>
                    <a:lstStyle/>
                    <a:p>
                      <a:pPr indent="0" lvl="0" marL="67945" marR="0" rtl="0" algn="l">
                        <a:lnSpc>
                          <a:spcPct val="100000"/>
                        </a:lnSpc>
                        <a:spcBef>
                          <a:spcPts val="0"/>
                        </a:spcBef>
                        <a:spcAft>
                          <a:spcPts val="0"/>
                        </a:spcAft>
                        <a:buNone/>
                      </a:pPr>
                      <a:r>
                        <a:rPr lang="en-US" sz="1300" u="none" cap="none" strike="noStrike">
                          <a:latin typeface="Calibri"/>
                          <a:ea typeface="Calibri"/>
                          <a:cs typeface="Calibri"/>
                          <a:sym typeface="Calibri"/>
                        </a:rPr>
                        <a:t>street</a:t>
                      </a:r>
                      <a:endParaRPr sz="1300" u="none" cap="none" strike="noStrike">
                        <a:latin typeface="Calibri"/>
                        <a:ea typeface="Calibri"/>
                        <a:cs typeface="Calibri"/>
                        <a:sym typeface="Calibri"/>
                      </a:endParaRPr>
                    </a:p>
                  </a:txBody>
                  <a:tcPr marT="26025" marB="0" marR="0" marL="0">
                    <a:lnL cap="flat" cmpd="sng" w="12700">
                      <a:solidFill>
                        <a:srgbClr val="2F353C"/>
                      </a:solidFill>
                      <a:prstDash val="solid"/>
                      <a:round/>
                      <a:headEnd len="sm" w="sm" type="none"/>
                      <a:tailEnd len="sm" w="sm" type="none"/>
                    </a:lnL>
                    <a:lnR cap="flat" cmpd="sng" w="12700">
                      <a:solidFill>
                        <a:srgbClr val="2F353C"/>
                      </a:solidFill>
                      <a:prstDash val="solid"/>
                      <a:round/>
                      <a:headEnd len="sm" w="sm" type="none"/>
                      <a:tailEnd len="sm" w="sm" type="none"/>
                    </a:lnR>
                    <a:lnT cap="flat" cmpd="sng" w="12700">
                      <a:solidFill>
                        <a:srgbClr val="2F353C"/>
                      </a:solidFill>
                      <a:prstDash val="solid"/>
                      <a:round/>
                      <a:headEnd len="sm" w="sm" type="none"/>
                      <a:tailEnd len="sm" w="sm" type="none"/>
                    </a:lnT>
                    <a:lnB cap="flat" cmpd="sng" w="12700">
                      <a:solidFill>
                        <a:srgbClr val="2F353C"/>
                      </a:solidFill>
                      <a:prstDash val="solid"/>
                      <a:round/>
                      <a:headEnd len="sm" w="sm" type="none"/>
                      <a:tailEnd len="sm" w="sm" type="none"/>
                    </a:lnB>
                    <a:solidFill>
                      <a:srgbClr val="FFFFFF"/>
                    </a:solidFill>
                  </a:tcPr>
                </a:tc>
                <a:tc>
                  <a:txBody>
                    <a:bodyPr/>
                    <a:lstStyle/>
                    <a:p>
                      <a:pPr indent="0" lvl="0" marL="67945" marR="0" rtl="0" algn="l">
                        <a:lnSpc>
                          <a:spcPct val="100000"/>
                        </a:lnSpc>
                        <a:spcBef>
                          <a:spcPts val="0"/>
                        </a:spcBef>
                        <a:spcAft>
                          <a:spcPts val="0"/>
                        </a:spcAft>
                        <a:buNone/>
                      </a:pPr>
                      <a:r>
                        <a:rPr lang="en-US" sz="1300" u="none" cap="none" strike="noStrike">
                          <a:latin typeface="Calibri"/>
                          <a:ea typeface="Calibri"/>
                          <a:cs typeface="Calibri"/>
                          <a:sym typeface="Calibri"/>
                        </a:rPr>
                        <a:t>noun, location</a:t>
                      </a:r>
                      <a:endParaRPr sz="1300" u="none" cap="none" strike="noStrike">
                        <a:latin typeface="Calibri"/>
                        <a:ea typeface="Calibri"/>
                        <a:cs typeface="Calibri"/>
                        <a:sym typeface="Calibri"/>
                      </a:endParaRPr>
                    </a:p>
                  </a:txBody>
                  <a:tcPr marT="26025" marB="0" marR="0" marL="0">
                    <a:lnL cap="flat" cmpd="sng" w="12700">
                      <a:solidFill>
                        <a:srgbClr val="2F353C"/>
                      </a:solidFill>
                      <a:prstDash val="solid"/>
                      <a:round/>
                      <a:headEnd len="sm" w="sm" type="none"/>
                      <a:tailEnd len="sm" w="sm" type="none"/>
                    </a:lnL>
                    <a:lnR cap="flat" cmpd="sng" w="12700">
                      <a:solidFill>
                        <a:srgbClr val="2F353C"/>
                      </a:solidFill>
                      <a:prstDash val="solid"/>
                      <a:round/>
                      <a:headEnd len="sm" w="sm" type="none"/>
                      <a:tailEnd len="sm" w="sm" type="none"/>
                    </a:lnR>
                    <a:lnT cap="flat" cmpd="sng" w="12700">
                      <a:solidFill>
                        <a:srgbClr val="2F353C"/>
                      </a:solidFill>
                      <a:prstDash val="solid"/>
                      <a:round/>
                      <a:headEnd len="sm" w="sm" type="none"/>
                      <a:tailEnd len="sm" w="sm" type="none"/>
                    </a:lnT>
                    <a:lnB cap="flat" cmpd="sng" w="12700">
                      <a:solidFill>
                        <a:srgbClr val="2F353C"/>
                      </a:solidFill>
                      <a:prstDash val="solid"/>
                      <a:round/>
                      <a:headEnd len="sm" w="sm" type="none"/>
                      <a:tailEnd len="sm" w="sm" type="none"/>
                    </a:lnB>
                    <a:solidFill>
                      <a:srgbClr val="FFFFFF"/>
                    </a:solidFill>
                  </a:tcPr>
                </a:tc>
                <a:tc>
                  <a:txBody>
                    <a:bodyPr/>
                    <a:lstStyle/>
                    <a:p>
                      <a:pPr indent="0" lvl="0" marL="67945" marR="0" rtl="0" algn="l">
                        <a:lnSpc>
                          <a:spcPct val="100000"/>
                        </a:lnSpc>
                        <a:spcBef>
                          <a:spcPts val="0"/>
                        </a:spcBef>
                        <a:spcAft>
                          <a:spcPts val="0"/>
                        </a:spcAft>
                        <a:buNone/>
                      </a:pPr>
                      <a:r>
                        <a:rPr lang="en-US" sz="1300" u="none" cap="none" strike="noStrike">
                          <a:latin typeface="Calibri"/>
                          <a:ea typeface="Calibri"/>
                          <a:cs typeface="Calibri"/>
                          <a:sym typeface="Calibri"/>
                        </a:rPr>
                        <a:t>1.0</a:t>
                      </a:r>
                      <a:endParaRPr sz="1300" u="none" cap="none" strike="noStrike">
                        <a:latin typeface="Calibri"/>
                        <a:ea typeface="Calibri"/>
                        <a:cs typeface="Calibri"/>
                        <a:sym typeface="Calibri"/>
                      </a:endParaRPr>
                    </a:p>
                  </a:txBody>
                  <a:tcPr marT="26025" marB="0" marR="0" marL="0">
                    <a:lnL cap="flat" cmpd="sng" w="12700">
                      <a:solidFill>
                        <a:srgbClr val="2F353C"/>
                      </a:solidFill>
                      <a:prstDash val="solid"/>
                      <a:round/>
                      <a:headEnd len="sm" w="sm" type="none"/>
                      <a:tailEnd len="sm" w="sm" type="none"/>
                    </a:lnL>
                    <a:lnR cap="flat" cmpd="sng" w="12700">
                      <a:solidFill>
                        <a:srgbClr val="2F353C"/>
                      </a:solidFill>
                      <a:prstDash val="solid"/>
                      <a:round/>
                      <a:headEnd len="sm" w="sm" type="none"/>
                      <a:tailEnd len="sm" w="sm" type="none"/>
                    </a:lnR>
                    <a:lnT cap="flat" cmpd="sng" w="12700">
                      <a:solidFill>
                        <a:srgbClr val="2F353C"/>
                      </a:solidFill>
                      <a:prstDash val="solid"/>
                      <a:round/>
                      <a:headEnd len="sm" w="sm" type="none"/>
                      <a:tailEnd len="sm" w="sm" type="none"/>
                    </a:lnT>
                    <a:lnB cap="flat" cmpd="sng" w="12700">
                      <a:solidFill>
                        <a:srgbClr val="2F353C"/>
                      </a:solidFill>
                      <a:prstDash val="solid"/>
                      <a:round/>
                      <a:headEnd len="sm" w="sm" type="none"/>
                      <a:tailEnd len="sm" w="sm" type="none"/>
                    </a:lnB>
                    <a:solidFill>
                      <a:srgbClr val="FFFFFF"/>
                    </a:solidFill>
                  </a:tcPr>
                </a:tc>
                <a:tc>
                  <a:txBody>
                    <a:bodyPr/>
                    <a:lstStyle/>
                    <a:p>
                      <a:pPr indent="0" lvl="0" marL="67945" marR="0" rtl="0" algn="l">
                        <a:lnSpc>
                          <a:spcPct val="100000"/>
                        </a:lnSpc>
                        <a:spcBef>
                          <a:spcPts val="0"/>
                        </a:spcBef>
                        <a:spcAft>
                          <a:spcPts val="0"/>
                        </a:spcAft>
                        <a:buNone/>
                      </a:pPr>
                      <a:r>
                        <a:rPr lang="en-US" sz="1300" u="none" cap="none" strike="noStrike">
                          <a:latin typeface="Calibri"/>
                          <a:ea typeface="Calibri"/>
                          <a:cs typeface="Calibri"/>
                          <a:sym typeface="Calibri"/>
                        </a:rPr>
                        <a:t>0.02</a:t>
                      </a:r>
                      <a:endParaRPr sz="1300" u="none" cap="none" strike="noStrike">
                        <a:latin typeface="Calibri"/>
                        <a:ea typeface="Calibri"/>
                        <a:cs typeface="Calibri"/>
                        <a:sym typeface="Calibri"/>
                      </a:endParaRPr>
                    </a:p>
                  </a:txBody>
                  <a:tcPr marT="26025" marB="0" marR="0" marL="0">
                    <a:lnL cap="flat" cmpd="sng" w="12700">
                      <a:solidFill>
                        <a:srgbClr val="2F353C"/>
                      </a:solidFill>
                      <a:prstDash val="solid"/>
                      <a:round/>
                      <a:headEnd len="sm" w="sm" type="none"/>
                      <a:tailEnd len="sm" w="sm" type="none"/>
                    </a:lnL>
                    <a:lnR cap="flat" cmpd="sng" w="12700">
                      <a:solidFill>
                        <a:srgbClr val="2F353C"/>
                      </a:solidFill>
                      <a:prstDash val="solid"/>
                      <a:round/>
                      <a:headEnd len="sm" w="sm" type="none"/>
                      <a:tailEnd len="sm" w="sm" type="none"/>
                    </a:lnR>
                    <a:lnT cap="flat" cmpd="sng" w="12700">
                      <a:solidFill>
                        <a:srgbClr val="2F353C"/>
                      </a:solidFill>
                      <a:prstDash val="solid"/>
                      <a:round/>
                      <a:headEnd len="sm" w="sm" type="none"/>
                      <a:tailEnd len="sm" w="sm" type="none"/>
                    </a:lnT>
                    <a:lnB cap="flat" cmpd="sng" w="12700">
                      <a:solidFill>
                        <a:srgbClr val="2F353C"/>
                      </a:solidFill>
                      <a:prstDash val="solid"/>
                      <a:round/>
                      <a:headEnd len="sm" w="sm" type="none"/>
                      <a:tailEnd len="sm" w="sm" type="none"/>
                    </a:lnB>
                  </a:tcPr>
                </a:tc>
              </a:tr>
              <a:tr h="358775">
                <a:tc>
                  <a:txBody>
                    <a:bodyPr/>
                    <a:lstStyle/>
                    <a:p>
                      <a:pPr indent="0" lvl="0" marL="67945" marR="0" rtl="0" algn="l">
                        <a:lnSpc>
                          <a:spcPct val="100000"/>
                        </a:lnSpc>
                        <a:spcBef>
                          <a:spcPts val="0"/>
                        </a:spcBef>
                        <a:spcAft>
                          <a:spcPts val="0"/>
                        </a:spcAft>
                        <a:buNone/>
                      </a:pPr>
                      <a:r>
                        <a:rPr lang="en-US" sz="1300" u="none" cap="none" strike="noStrike">
                          <a:latin typeface="Calibri"/>
                          <a:ea typeface="Calibri"/>
                          <a:cs typeface="Calibri"/>
                          <a:sym typeface="Calibri"/>
                        </a:rPr>
                        <a:t>others</a:t>
                      </a:r>
                      <a:endParaRPr sz="1300" u="none" cap="none" strike="noStrike">
                        <a:latin typeface="Calibri"/>
                        <a:ea typeface="Calibri"/>
                        <a:cs typeface="Calibri"/>
                        <a:sym typeface="Calibri"/>
                      </a:endParaRPr>
                    </a:p>
                  </a:txBody>
                  <a:tcPr marT="26025" marB="0" marR="0" marL="0">
                    <a:lnL cap="flat" cmpd="sng" w="12700">
                      <a:solidFill>
                        <a:srgbClr val="2F353C"/>
                      </a:solidFill>
                      <a:prstDash val="solid"/>
                      <a:round/>
                      <a:headEnd len="sm" w="sm" type="none"/>
                      <a:tailEnd len="sm" w="sm" type="none"/>
                    </a:lnL>
                    <a:lnR cap="flat" cmpd="sng" w="12700">
                      <a:solidFill>
                        <a:srgbClr val="2F353C"/>
                      </a:solidFill>
                      <a:prstDash val="solid"/>
                      <a:round/>
                      <a:headEnd len="sm" w="sm" type="none"/>
                      <a:tailEnd len="sm" w="sm" type="none"/>
                    </a:lnR>
                    <a:lnT cap="flat" cmpd="sng" w="12700">
                      <a:solidFill>
                        <a:srgbClr val="2F353C"/>
                      </a:solidFill>
                      <a:prstDash val="solid"/>
                      <a:round/>
                      <a:headEnd len="sm" w="sm" type="none"/>
                      <a:tailEnd len="sm" w="sm" type="none"/>
                    </a:lnT>
                    <a:lnB cap="flat" cmpd="sng" w="12700">
                      <a:solidFill>
                        <a:srgbClr val="2F353C"/>
                      </a:solidFill>
                      <a:prstDash val="solid"/>
                      <a:round/>
                      <a:headEnd len="sm" w="sm" type="none"/>
                      <a:tailEnd len="sm" w="sm" type="none"/>
                    </a:lnB>
                    <a:solidFill>
                      <a:srgbClr val="FFFFFF"/>
                    </a:solidFill>
                  </a:tcPr>
                </a:tc>
                <a:tc>
                  <a:txBody>
                    <a:bodyPr/>
                    <a:lstStyle/>
                    <a:p>
                      <a:pPr indent="0" lvl="0" marL="67945" marR="0" rtl="0" algn="l">
                        <a:lnSpc>
                          <a:spcPct val="100000"/>
                        </a:lnSpc>
                        <a:spcBef>
                          <a:spcPts val="0"/>
                        </a:spcBef>
                        <a:spcAft>
                          <a:spcPts val="0"/>
                        </a:spcAft>
                        <a:buNone/>
                      </a:pPr>
                      <a:r>
                        <a:rPr lang="en-US" sz="1300" u="none" cap="none" strike="noStrike">
                          <a:latin typeface="Calibri"/>
                          <a:ea typeface="Calibri"/>
                          <a:cs typeface="Calibri"/>
                          <a:sym typeface="Calibri"/>
                        </a:rPr>
                        <a:t>...</a:t>
                      </a:r>
                      <a:endParaRPr sz="1300" u="none" cap="none" strike="noStrike">
                        <a:latin typeface="Calibri"/>
                        <a:ea typeface="Calibri"/>
                        <a:cs typeface="Calibri"/>
                        <a:sym typeface="Calibri"/>
                      </a:endParaRPr>
                    </a:p>
                  </a:txBody>
                  <a:tcPr marT="26025" marB="0" marR="0" marL="0">
                    <a:lnL cap="flat" cmpd="sng" w="12700">
                      <a:solidFill>
                        <a:srgbClr val="2F353C"/>
                      </a:solidFill>
                      <a:prstDash val="solid"/>
                      <a:round/>
                      <a:headEnd len="sm" w="sm" type="none"/>
                      <a:tailEnd len="sm" w="sm" type="none"/>
                    </a:lnL>
                    <a:lnR cap="flat" cmpd="sng" w="12700">
                      <a:solidFill>
                        <a:srgbClr val="2F353C"/>
                      </a:solidFill>
                      <a:prstDash val="solid"/>
                      <a:round/>
                      <a:headEnd len="sm" w="sm" type="none"/>
                      <a:tailEnd len="sm" w="sm" type="none"/>
                    </a:lnR>
                    <a:lnT cap="flat" cmpd="sng" w="12700">
                      <a:solidFill>
                        <a:srgbClr val="2F353C"/>
                      </a:solidFill>
                      <a:prstDash val="solid"/>
                      <a:round/>
                      <a:headEnd len="sm" w="sm" type="none"/>
                      <a:tailEnd len="sm" w="sm" type="none"/>
                    </a:lnT>
                    <a:lnB cap="flat" cmpd="sng" w="12700">
                      <a:solidFill>
                        <a:srgbClr val="2F353C"/>
                      </a:solidFill>
                      <a:prstDash val="solid"/>
                      <a:round/>
                      <a:headEnd len="sm" w="sm" type="none"/>
                      <a:tailEnd len="sm" w="sm" type="none"/>
                    </a:lnB>
                    <a:solidFill>
                      <a:srgbClr val="FFFFFF"/>
                    </a:solidFill>
                  </a:tcPr>
                </a:tc>
                <a:tc>
                  <a:txBody>
                    <a:bodyPr/>
                    <a:lstStyle/>
                    <a:p>
                      <a:pPr indent="0" lvl="0" marL="67945" marR="0" rtl="0" algn="l">
                        <a:lnSpc>
                          <a:spcPct val="100000"/>
                        </a:lnSpc>
                        <a:spcBef>
                          <a:spcPts val="0"/>
                        </a:spcBef>
                        <a:spcAft>
                          <a:spcPts val="0"/>
                        </a:spcAft>
                        <a:buNone/>
                      </a:pPr>
                      <a:r>
                        <a:rPr lang="en-US" sz="1300" u="none" cap="none" strike="noStrike">
                          <a:latin typeface="Calibri"/>
                          <a:ea typeface="Calibri"/>
                          <a:cs typeface="Calibri"/>
                          <a:sym typeface="Calibri"/>
                        </a:rPr>
                        <a:t>≈ 0</a:t>
                      </a:r>
                      <a:endParaRPr sz="1300" u="none" cap="none" strike="noStrike">
                        <a:latin typeface="Calibri"/>
                        <a:ea typeface="Calibri"/>
                        <a:cs typeface="Calibri"/>
                        <a:sym typeface="Calibri"/>
                      </a:endParaRPr>
                    </a:p>
                  </a:txBody>
                  <a:tcPr marT="26025" marB="0" marR="0" marL="0">
                    <a:lnL cap="flat" cmpd="sng" w="12700">
                      <a:solidFill>
                        <a:srgbClr val="2F353C"/>
                      </a:solidFill>
                      <a:prstDash val="solid"/>
                      <a:round/>
                      <a:headEnd len="sm" w="sm" type="none"/>
                      <a:tailEnd len="sm" w="sm" type="none"/>
                    </a:lnL>
                    <a:lnR cap="flat" cmpd="sng" w="12700">
                      <a:solidFill>
                        <a:srgbClr val="2F353C"/>
                      </a:solidFill>
                      <a:prstDash val="solid"/>
                      <a:round/>
                      <a:headEnd len="sm" w="sm" type="none"/>
                      <a:tailEnd len="sm" w="sm" type="none"/>
                    </a:lnR>
                    <a:lnT cap="flat" cmpd="sng" w="12700">
                      <a:solidFill>
                        <a:srgbClr val="2F353C"/>
                      </a:solidFill>
                      <a:prstDash val="solid"/>
                      <a:round/>
                      <a:headEnd len="sm" w="sm" type="none"/>
                      <a:tailEnd len="sm" w="sm" type="none"/>
                    </a:lnT>
                    <a:lnB cap="flat" cmpd="sng" w="12700">
                      <a:solidFill>
                        <a:srgbClr val="2F353C"/>
                      </a:solidFill>
                      <a:prstDash val="solid"/>
                      <a:round/>
                      <a:headEnd len="sm" w="sm" type="none"/>
                      <a:tailEnd len="sm" w="sm" type="none"/>
                    </a:lnB>
                    <a:solidFill>
                      <a:srgbClr val="FFFFFF"/>
                    </a:solidFill>
                  </a:tcPr>
                </a:tc>
                <a:tc>
                  <a:txBody>
                    <a:bodyPr/>
                    <a:lstStyle/>
                    <a:p>
                      <a:pPr indent="0" lvl="0" marL="67945" marR="0" rtl="0" algn="l">
                        <a:lnSpc>
                          <a:spcPct val="100000"/>
                        </a:lnSpc>
                        <a:spcBef>
                          <a:spcPts val="0"/>
                        </a:spcBef>
                        <a:spcAft>
                          <a:spcPts val="0"/>
                        </a:spcAft>
                        <a:buNone/>
                      </a:pPr>
                      <a:r>
                        <a:rPr lang="en-US" sz="1300" u="none" cap="none" strike="noStrike">
                          <a:latin typeface="Calibri"/>
                          <a:ea typeface="Calibri"/>
                          <a:cs typeface="Calibri"/>
                          <a:sym typeface="Calibri"/>
                        </a:rPr>
                        <a:t>~0.04 total</a:t>
                      </a:r>
                      <a:endParaRPr sz="1300" u="none" cap="none" strike="noStrike">
                        <a:latin typeface="Calibri"/>
                        <a:ea typeface="Calibri"/>
                        <a:cs typeface="Calibri"/>
                        <a:sym typeface="Calibri"/>
                      </a:endParaRPr>
                    </a:p>
                  </a:txBody>
                  <a:tcPr marT="26025" marB="0" marR="0" marL="0">
                    <a:lnL cap="flat" cmpd="sng" w="12700">
                      <a:solidFill>
                        <a:srgbClr val="2F353C"/>
                      </a:solidFill>
                      <a:prstDash val="solid"/>
                      <a:round/>
                      <a:headEnd len="sm" w="sm" type="none"/>
                      <a:tailEnd len="sm" w="sm" type="none"/>
                    </a:lnL>
                    <a:lnR cap="flat" cmpd="sng" w="12700">
                      <a:solidFill>
                        <a:srgbClr val="2F353C"/>
                      </a:solidFill>
                      <a:prstDash val="solid"/>
                      <a:round/>
                      <a:headEnd len="sm" w="sm" type="none"/>
                      <a:tailEnd len="sm" w="sm" type="none"/>
                    </a:lnR>
                    <a:lnT cap="flat" cmpd="sng" w="12700">
                      <a:solidFill>
                        <a:srgbClr val="2F353C"/>
                      </a:solidFill>
                      <a:prstDash val="solid"/>
                      <a:round/>
                      <a:headEnd len="sm" w="sm" type="none"/>
                      <a:tailEnd len="sm" w="sm" type="none"/>
                    </a:lnT>
                    <a:lnB cap="flat" cmpd="sng" w="12700">
                      <a:solidFill>
                        <a:srgbClr val="2F353C"/>
                      </a:solidFill>
                      <a:prstDash val="solid"/>
                      <a:round/>
                      <a:headEnd len="sm" w="sm" type="none"/>
                      <a:tailEnd len="sm" w="sm" type="none"/>
                    </a:lnB>
                  </a:tcPr>
                </a:tc>
              </a:tr>
            </a:tbl>
          </a:graphicData>
        </a:graphic>
      </p:graphicFrame>
      <p:grpSp>
        <p:nvGrpSpPr>
          <p:cNvPr id="1331" name="Google Shape;1331;p44"/>
          <p:cNvGrpSpPr/>
          <p:nvPr/>
        </p:nvGrpSpPr>
        <p:grpSpPr>
          <a:xfrm>
            <a:off x="5669279" y="2689188"/>
            <a:ext cx="3265919" cy="2387536"/>
            <a:chOff x="5669279" y="2689188"/>
            <a:chExt cx="3265919" cy="2387536"/>
          </a:xfrm>
        </p:grpSpPr>
        <p:pic>
          <p:nvPicPr>
            <p:cNvPr id="1332" name="Google Shape;1332;p44"/>
            <p:cNvPicPr preferRelativeResize="0"/>
            <p:nvPr/>
          </p:nvPicPr>
          <p:blipFill rotWithShape="1">
            <a:blip r:embed="rId5">
              <a:alphaModFix/>
            </a:blip>
            <a:srcRect b="0" l="0" r="0" t="0"/>
            <a:stretch/>
          </p:blipFill>
          <p:spPr>
            <a:xfrm>
              <a:off x="5669279" y="2689188"/>
              <a:ext cx="3265919" cy="2387536"/>
            </a:xfrm>
            <a:prstGeom prst="rect">
              <a:avLst/>
            </a:prstGeom>
            <a:noFill/>
            <a:ln>
              <a:noFill/>
            </a:ln>
          </p:spPr>
        </p:pic>
        <p:sp>
          <p:nvSpPr>
            <p:cNvPr id="1333" name="Google Shape;1333;p44"/>
            <p:cNvSpPr/>
            <p:nvPr/>
          </p:nvSpPr>
          <p:spPr>
            <a:xfrm>
              <a:off x="5863323" y="2811959"/>
              <a:ext cx="2948940" cy="2070735"/>
            </a:xfrm>
            <a:custGeom>
              <a:rect b="b" l="l" r="r" t="t"/>
              <a:pathLst>
                <a:path extrusionOk="0" h="2070735" w="2948940">
                  <a:moveTo>
                    <a:pt x="2948762" y="0"/>
                  </a:moveTo>
                  <a:lnTo>
                    <a:pt x="0" y="0"/>
                  </a:lnTo>
                  <a:lnTo>
                    <a:pt x="0" y="2070722"/>
                  </a:lnTo>
                  <a:lnTo>
                    <a:pt x="1474558" y="2070722"/>
                  </a:lnTo>
                  <a:lnTo>
                    <a:pt x="2948762" y="2070722"/>
                  </a:lnTo>
                  <a:lnTo>
                    <a:pt x="2948762" y="0"/>
                  </a:lnTo>
                  <a:close/>
                </a:path>
              </a:pathLst>
            </a:custGeom>
            <a:solidFill>
              <a:srgbClr val="E7EC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334" name="Google Shape;1334;p44"/>
          <p:cNvSpPr txBox="1"/>
          <p:nvPr/>
        </p:nvSpPr>
        <p:spPr>
          <a:xfrm>
            <a:off x="5863323" y="2811959"/>
            <a:ext cx="2948940" cy="2070735"/>
          </a:xfrm>
          <a:prstGeom prst="rect">
            <a:avLst/>
          </a:prstGeom>
          <a:noFill/>
          <a:ln cap="flat" cmpd="sng" w="12575">
            <a:solidFill>
              <a:srgbClr val="C7CFD9"/>
            </a:solidFill>
            <a:prstDash val="solid"/>
            <a:round/>
            <a:headEnd len="sm" w="sm" type="none"/>
            <a:tailEnd len="sm" w="sm" type="none"/>
          </a:ln>
        </p:spPr>
        <p:txBody>
          <a:bodyPr anchorCtr="0" anchor="t" bIns="0" lIns="0" spcFirstLastPara="1" rIns="0" wrap="square" tIns="107950">
            <a:spAutoFit/>
          </a:bodyPr>
          <a:lstStyle/>
          <a:p>
            <a:pPr indent="0" lvl="0" marL="102870" rtl="0" algn="l">
              <a:lnSpc>
                <a:spcPct val="100000"/>
              </a:lnSpc>
              <a:spcBef>
                <a:spcPts val="0"/>
              </a:spcBef>
              <a:spcAft>
                <a:spcPts val="0"/>
              </a:spcAft>
              <a:buNone/>
            </a:pPr>
            <a:r>
              <a:rPr b="1" lang="en-US" sz="1000">
                <a:latin typeface="Calibri"/>
                <a:ea typeface="Calibri"/>
                <a:cs typeface="Calibri"/>
                <a:sym typeface="Calibri"/>
              </a:rPr>
              <a:t>Output for "it":</a:t>
            </a:r>
            <a:endParaRPr sz="1000">
              <a:latin typeface="Calibri"/>
              <a:ea typeface="Calibri"/>
              <a:cs typeface="Calibri"/>
              <a:sym typeface="Calibri"/>
            </a:endParaRPr>
          </a:p>
          <a:p>
            <a:pPr indent="0" lvl="0" marL="0" rtl="0" algn="l">
              <a:lnSpc>
                <a:spcPct val="100000"/>
              </a:lnSpc>
              <a:spcBef>
                <a:spcPts val="505"/>
              </a:spcBef>
              <a:spcAft>
                <a:spcPts val="0"/>
              </a:spcAft>
              <a:buNone/>
            </a:pPr>
            <a:r>
              <a:t/>
            </a:r>
            <a:endParaRPr sz="1000">
              <a:latin typeface="Calibri"/>
              <a:ea typeface="Calibri"/>
              <a:cs typeface="Calibri"/>
              <a:sym typeface="Calibri"/>
            </a:endParaRPr>
          </a:p>
          <a:p>
            <a:pPr indent="0" lvl="0" marL="102870" rtl="0" algn="l">
              <a:lnSpc>
                <a:spcPct val="100000"/>
              </a:lnSpc>
              <a:spcBef>
                <a:spcPts val="0"/>
              </a:spcBef>
              <a:spcAft>
                <a:spcPts val="0"/>
              </a:spcAft>
              <a:buNone/>
            </a:pPr>
            <a:r>
              <a:rPr b="1" lang="en-US" sz="1300">
                <a:latin typeface="Calibri"/>
                <a:ea typeface="Calibri"/>
                <a:cs typeface="Calibri"/>
                <a:sym typeface="Calibri"/>
              </a:rPr>
              <a:t>Output </a:t>
            </a:r>
            <a:r>
              <a:rPr b="1" lang="en-US" sz="1200">
                <a:latin typeface="Calibri"/>
                <a:ea typeface="Calibri"/>
                <a:cs typeface="Calibri"/>
                <a:sym typeface="Calibri"/>
              </a:rPr>
              <a:t>it </a:t>
            </a:r>
            <a:r>
              <a:rPr lang="en-US" sz="1300">
                <a:latin typeface="Calibri"/>
                <a:ea typeface="Calibri"/>
                <a:cs typeface="Calibri"/>
                <a:sym typeface="Calibri"/>
              </a:rPr>
              <a:t>= </a:t>
            </a:r>
            <a:r>
              <a:rPr b="1" lang="en-US" sz="1300">
                <a:latin typeface="Calibri"/>
                <a:ea typeface="Calibri"/>
                <a:cs typeface="Calibri"/>
                <a:sym typeface="Calibri"/>
              </a:rPr>
              <a:t>0.83 </a:t>
            </a:r>
            <a:r>
              <a:rPr lang="en-US" sz="1300">
                <a:latin typeface="Calibri"/>
                <a:ea typeface="Calibri"/>
                <a:cs typeface="Calibri"/>
                <a:sym typeface="Calibri"/>
              </a:rPr>
              <a:t>× V</a:t>
            </a:r>
            <a:r>
              <a:rPr lang="en-US" sz="1200">
                <a:latin typeface="Calibri"/>
                <a:ea typeface="Calibri"/>
                <a:cs typeface="Calibri"/>
                <a:sym typeface="Calibri"/>
              </a:rPr>
              <a:t>animal </a:t>
            </a:r>
            <a:r>
              <a:rPr lang="en-US" sz="1300">
                <a:latin typeface="Calibri"/>
                <a:ea typeface="Calibri"/>
                <a:cs typeface="Calibri"/>
                <a:sym typeface="Calibri"/>
              </a:rPr>
              <a:t>+</a:t>
            </a:r>
            <a:endParaRPr sz="1300">
              <a:latin typeface="Calibri"/>
              <a:ea typeface="Calibri"/>
              <a:cs typeface="Calibri"/>
              <a:sym typeface="Calibri"/>
            </a:endParaRPr>
          </a:p>
          <a:p>
            <a:pPr indent="0" lvl="0" marL="102870" rtl="0" algn="l">
              <a:lnSpc>
                <a:spcPct val="100000"/>
              </a:lnSpc>
              <a:spcBef>
                <a:spcPts val="5"/>
              </a:spcBef>
              <a:spcAft>
                <a:spcPts val="0"/>
              </a:spcAft>
              <a:buNone/>
            </a:pPr>
            <a:r>
              <a:rPr b="1" lang="en-US" sz="1300">
                <a:latin typeface="Calibri"/>
                <a:ea typeface="Calibri"/>
                <a:cs typeface="Calibri"/>
                <a:sym typeface="Calibri"/>
              </a:rPr>
              <a:t>0.11 </a:t>
            </a:r>
            <a:r>
              <a:rPr lang="en-US" sz="1300">
                <a:latin typeface="Calibri"/>
                <a:ea typeface="Calibri"/>
                <a:cs typeface="Calibri"/>
                <a:sym typeface="Calibri"/>
              </a:rPr>
              <a:t>× V</a:t>
            </a:r>
            <a:r>
              <a:rPr lang="en-US" sz="1200">
                <a:latin typeface="Calibri"/>
                <a:ea typeface="Calibri"/>
                <a:cs typeface="Calibri"/>
                <a:sym typeface="Calibri"/>
              </a:rPr>
              <a:t>tired </a:t>
            </a:r>
            <a:r>
              <a:rPr lang="en-US" sz="1300">
                <a:latin typeface="Calibri"/>
                <a:ea typeface="Calibri"/>
                <a:cs typeface="Calibri"/>
                <a:sym typeface="Calibri"/>
              </a:rPr>
              <a:t>+ …</a:t>
            </a:r>
            <a:endParaRPr sz="1300">
              <a:latin typeface="Calibri"/>
              <a:ea typeface="Calibri"/>
              <a:cs typeface="Calibri"/>
              <a:sym typeface="Calibri"/>
            </a:endParaRPr>
          </a:p>
          <a:p>
            <a:pPr indent="0" lvl="0" marL="0" rtl="0" algn="l">
              <a:lnSpc>
                <a:spcPct val="100000"/>
              </a:lnSpc>
              <a:spcBef>
                <a:spcPts val="0"/>
              </a:spcBef>
              <a:spcAft>
                <a:spcPts val="0"/>
              </a:spcAft>
              <a:buNone/>
            </a:pPr>
            <a:r>
              <a:t/>
            </a:r>
            <a:endParaRPr sz="1300">
              <a:latin typeface="Calibri"/>
              <a:ea typeface="Calibri"/>
              <a:cs typeface="Calibri"/>
              <a:sym typeface="Calibri"/>
            </a:endParaRPr>
          </a:p>
          <a:p>
            <a:pPr indent="0" lvl="0" marL="0" rtl="0" algn="l">
              <a:lnSpc>
                <a:spcPct val="100000"/>
              </a:lnSpc>
              <a:spcBef>
                <a:spcPts val="450"/>
              </a:spcBef>
              <a:spcAft>
                <a:spcPts val="0"/>
              </a:spcAft>
              <a:buNone/>
            </a:pPr>
            <a:r>
              <a:t/>
            </a:r>
            <a:endParaRPr sz="1300">
              <a:latin typeface="Calibri"/>
              <a:ea typeface="Calibri"/>
              <a:cs typeface="Calibri"/>
              <a:sym typeface="Calibri"/>
            </a:endParaRPr>
          </a:p>
          <a:p>
            <a:pPr indent="0" lvl="0" marL="102870" marR="1390015" rtl="0" algn="l">
              <a:lnSpc>
                <a:spcPct val="100000"/>
              </a:lnSpc>
              <a:spcBef>
                <a:spcPts val="0"/>
              </a:spcBef>
              <a:spcAft>
                <a:spcPts val="0"/>
              </a:spcAft>
              <a:buNone/>
            </a:pPr>
            <a:r>
              <a:rPr i="1" lang="en-US" sz="1200">
                <a:latin typeface="Cambria"/>
                <a:ea typeface="Cambria"/>
                <a:cs typeface="Cambria"/>
                <a:sym typeface="Cambria"/>
              </a:rPr>
              <a:t>"it" becomes: "something like animal,</a:t>
            </a:r>
            <a:endParaRPr sz="1200">
              <a:latin typeface="Cambria"/>
              <a:ea typeface="Cambria"/>
              <a:cs typeface="Cambria"/>
              <a:sym typeface="Cambria"/>
            </a:endParaRPr>
          </a:p>
          <a:p>
            <a:pPr indent="0" lvl="0" marL="102870" rtl="0" algn="l">
              <a:lnSpc>
                <a:spcPct val="100000"/>
              </a:lnSpc>
              <a:spcBef>
                <a:spcPts val="0"/>
              </a:spcBef>
              <a:spcAft>
                <a:spcPts val="0"/>
              </a:spcAft>
              <a:buNone/>
            </a:pPr>
            <a:r>
              <a:rPr i="1" lang="en-US" sz="1200">
                <a:latin typeface="Cambria"/>
                <a:ea typeface="Cambria"/>
                <a:cs typeface="Cambria"/>
                <a:sym typeface="Cambria"/>
              </a:rPr>
              <a:t>with context of being tired"</a:t>
            </a:r>
            <a:endParaRPr sz="1200">
              <a:latin typeface="Cambria"/>
              <a:ea typeface="Cambria"/>
              <a:cs typeface="Cambria"/>
              <a:sym typeface="Cambria"/>
            </a:endParaRPr>
          </a:p>
        </p:txBody>
      </p:sp>
      <p:sp>
        <p:nvSpPr>
          <p:cNvPr id="1335" name="Google Shape;1335;p44"/>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descr="$PPTXTitle" id="1340" name="Google Shape;1340;p45"/>
          <p:cNvSpPr txBox="1"/>
          <p:nvPr>
            <p:ph type="title"/>
          </p:nvPr>
        </p:nvSpPr>
        <p:spPr>
          <a:xfrm>
            <a:off x="1137500" y="201868"/>
            <a:ext cx="5767705" cy="3917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Query, Key, Value: The Search Engine Analogy</a:t>
            </a:r>
            <a:endParaRPr/>
          </a:p>
        </p:txBody>
      </p:sp>
      <p:sp>
        <p:nvSpPr>
          <p:cNvPr id="1341" name="Google Shape;1341;p45"/>
          <p:cNvSpPr txBox="1"/>
          <p:nvPr/>
        </p:nvSpPr>
        <p:spPr>
          <a:xfrm>
            <a:off x="2417660" y="674181"/>
            <a:ext cx="3211195" cy="224154"/>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i="1" lang="en-US" sz="1300">
                <a:solidFill>
                  <a:srgbClr val="0E756D"/>
                </a:solidFill>
                <a:latin typeface="Cambria"/>
                <a:ea typeface="Cambria"/>
                <a:cs typeface="Cambria"/>
                <a:sym typeface="Cambria"/>
              </a:rPr>
              <a:t>You use Q, K, V every time you search on an app</a:t>
            </a:r>
            <a:endParaRPr sz="1300">
              <a:latin typeface="Cambria"/>
              <a:ea typeface="Cambria"/>
              <a:cs typeface="Cambria"/>
              <a:sym typeface="Cambria"/>
            </a:endParaRPr>
          </a:p>
        </p:txBody>
      </p:sp>
      <p:pic>
        <p:nvPicPr>
          <p:cNvPr id="1342" name="Google Shape;1342;p45"/>
          <p:cNvPicPr preferRelativeResize="0"/>
          <p:nvPr/>
        </p:nvPicPr>
        <p:blipFill rotWithShape="1">
          <a:blip r:embed="rId3">
            <a:alphaModFix/>
          </a:blip>
          <a:srcRect b="0" l="0" r="0" t="0"/>
          <a:stretch/>
        </p:blipFill>
        <p:spPr>
          <a:xfrm>
            <a:off x="8369274" y="14"/>
            <a:ext cx="774357" cy="866508"/>
          </a:xfrm>
          <a:prstGeom prst="rect">
            <a:avLst/>
          </a:prstGeom>
          <a:noFill/>
          <a:ln>
            <a:noFill/>
          </a:ln>
        </p:spPr>
      </p:pic>
      <p:sp>
        <p:nvSpPr>
          <p:cNvPr id="1343" name="Google Shape;1343;p45"/>
          <p:cNvSpPr/>
          <p:nvPr/>
        </p:nvSpPr>
        <p:spPr>
          <a:xfrm>
            <a:off x="411480" y="1051562"/>
            <a:ext cx="1508760" cy="411480"/>
          </a:xfrm>
          <a:custGeom>
            <a:rect b="b" l="l" r="r" t="t"/>
            <a:pathLst>
              <a:path extrusionOk="0" h="411480" w="1508760">
                <a:moveTo>
                  <a:pt x="1508404" y="0"/>
                </a:moveTo>
                <a:lnTo>
                  <a:pt x="0" y="0"/>
                </a:lnTo>
                <a:lnTo>
                  <a:pt x="0" y="411124"/>
                </a:lnTo>
                <a:lnTo>
                  <a:pt x="754202" y="411124"/>
                </a:lnTo>
                <a:lnTo>
                  <a:pt x="1508404" y="411124"/>
                </a:lnTo>
                <a:lnTo>
                  <a:pt x="1508404" y="0"/>
                </a:lnTo>
                <a:close/>
              </a:path>
            </a:pathLst>
          </a:custGeom>
          <a:solidFill>
            <a:srgbClr val="0C1A2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44" name="Google Shape;1344;p45"/>
          <p:cNvSpPr txBox="1"/>
          <p:nvPr/>
        </p:nvSpPr>
        <p:spPr>
          <a:xfrm>
            <a:off x="471855" y="1156934"/>
            <a:ext cx="546100" cy="2012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50">
                <a:solidFill>
                  <a:srgbClr val="FFFFFF"/>
                </a:solidFill>
                <a:latin typeface="Calibri"/>
                <a:ea typeface="Calibri"/>
                <a:cs typeface="Calibri"/>
                <a:sym typeface="Calibri"/>
              </a:rPr>
              <a:t>Scenario</a:t>
            </a:r>
            <a:endParaRPr sz="1150">
              <a:latin typeface="Calibri"/>
              <a:ea typeface="Calibri"/>
              <a:cs typeface="Calibri"/>
              <a:sym typeface="Calibri"/>
            </a:endParaRPr>
          </a:p>
        </p:txBody>
      </p:sp>
      <p:sp>
        <p:nvSpPr>
          <p:cNvPr id="1345" name="Google Shape;1345;p45"/>
          <p:cNvSpPr/>
          <p:nvPr/>
        </p:nvSpPr>
        <p:spPr>
          <a:xfrm>
            <a:off x="1920239" y="1051562"/>
            <a:ext cx="2148840" cy="411480"/>
          </a:xfrm>
          <a:custGeom>
            <a:rect b="b" l="l" r="r" t="t"/>
            <a:pathLst>
              <a:path extrusionOk="0" h="411480" w="2148840">
                <a:moveTo>
                  <a:pt x="2148484" y="0"/>
                </a:moveTo>
                <a:lnTo>
                  <a:pt x="0" y="0"/>
                </a:lnTo>
                <a:lnTo>
                  <a:pt x="0" y="411124"/>
                </a:lnTo>
                <a:lnTo>
                  <a:pt x="1074242" y="411124"/>
                </a:lnTo>
                <a:lnTo>
                  <a:pt x="2148484" y="411124"/>
                </a:lnTo>
                <a:lnTo>
                  <a:pt x="2148484" y="0"/>
                </a:lnTo>
                <a:close/>
              </a:path>
            </a:pathLst>
          </a:custGeom>
          <a:solidFill>
            <a:srgbClr val="1D3FA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46" name="Google Shape;1346;p45"/>
          <p:cNvSpPr txBox="1"/>
          <p:nvPr/>
        </p:nvSpPr>
        <p:spPr>
          <a:xfrm>
            <a:off x="1980615" y="1156934"/>
            <a:ext cx="1194435" cy="2012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50">
                <a:solidFill>
                  <a:srgbClr val="FFFFFF"/>
                </a:solidFill>
                <a:latin typeface="Calibri"/>
                <a:ea typeface="Calibri"/>
                <a:cs typeface="Calibri"/>
                <a:sym typeface="Calibri"/>
              </a:rPr>
              <a:t>Query: what I want</a:t>
            </a:r>
            <a:endParaRPr sz="1150">
              <a:latin typeface="Calibri"/>
              <a:ea typeface="Calibri"/>
              <a:cs typeface="Calibri"/>
              <a:sym typeface="Calibri"/>
            </a:endParaRPr>
          </a:p>
        </p:txBody>
      </p:sp>
      <p:sp>
        <p:nvSpPr>
          <p:cNvPr id="1347" name="Google Shape;1347;p45"/>
          <p:cNvSpPr/>
          <p:nvPr/>
        </p:nvSpPr>
        <p:spPr>
          <a:xfrm>
            <a:off x="4069079" y="1051562"/>
            <a:ext cx="2331720" cy="411480"/>
          </a:xfrm>
          <a:custGeom>
            <a:rect b="b" l="l" r="r" t="t"/>
            <a:pathLst>
              <a:path extrusionOk="0" h="411480" w="2331720">
                <a:moveTo>
                  <a:pt x="2331364" y="0"/>
                </a:moveTo>
                <a:lnTo>
                  <a:pt x="0" y="0"/>
                </a:lnTo>
                <a:lnTo>
                  <a:pt x="0" y="411124"/>
                </a:lnTo>
                <a:lnTo>
                  <a:pt x="1165682" y="411124"/>
                </a:lnTo>
                <a:lnTo>
                  <a:pt x="2331364" y="411124"/>
                </a:lnTo>
                <a:lnTo>
                  <a:pt x="2331364" y="0"/>
                </a:lnTo>
                <a:close/>
              </a:path>
            </a:pathLst>
          </a:custGeom>
          <a:solidFill>
            <a:srgbClr val="0E756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48" name="Google Shape;1348;p45"/>
          <p:cNvSpPr txBox="1"/>
          <p:nvPr/>
        </p:nvSpPr>
        <p:spPr>
          <a:xfrm>
            <a:off x="4129455" y="1156934"/>
            <a:ext cx="1909445" cy="2012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50">
                <a:solidFill>
                  <a:srgbClr val="FFFFFF"/>
                </a:solidFill>
                <a:latin typeface="Calibri"/>
                <a:ea typeface="Calibri"/>
                <a:cs typeface="Calibri"/>
                <a:sym typeface="Calibri"/>
              </a:rPr>
              <a:t>Key: what each item advertises</a:t>
            </a:r>
            <a:endParaRPr sz="1150">
              <a:latin typeface="Calibri"/>
              <a:ea typeface="Calibri"/>
              <a:cs typeface="Calibri"/>
              <a:sym typeface="Calibri"/>
            </a:endParaRPr>
          </a:p>
        </p:txBody>
      </p:sp>
      <p:sp>
        <p:nvSpPr>
          <p:cNvPr id="1349" name="Google Shape;1349;p45"/>
          <p:cNvSpPr/>
          <p:nvPr/>
        </p:nvSpPr>
        <p:spPr>
          <a:xfrm>
            <a:off x="6400800" y="1051562"/>
            <a:ext cx="2331720" cy="411480"/>
          </a:xfrm>
          <a:custGeom>
            <a:rect b="b" l="l" r="r" t="t"/>
            <a:pathLst>
              <a:path extrusionOk="0" h="411480" w="2331720">
                <a:moveTo>
                  <a:pt x="2331364" y="0"/>
                </a:moveTo>
                <a:lnTo>
                  <a:pt x="0" y="0"/>
                </a:lnTo>
                <a:lnTo>
                  <a:pt x="0" y="411124"/>
                </a:lnTo>
                <a:lnTo>
                  <a:pt x="1165682" y="411124"/>
                </a:lnTo>
                <a:lnTo>
                  <a:pt x="2331364" y="411124"/>
                </a:lnTo>
                <a:lnTo>
                  <a:pt x="2331364" y="0"/>
                </a:lnTo>
                <a:close/>
              </a:path>
            </a:pathLst>
          </a:custGeom>
          <a:solidFill>
            <a:srgbClr val="6C27D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50" name="Google Shape;1350;p45"/>
          <p:cNvSpPr txBox="1"/>
          <p:nvPr/>
        </p:nvSpPr>
        <p:spPr>
          <a:xfrm>
            <a:off x="6461175" y="1156934"/>
            <a:ext cx="1551305" cy="2012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50">
                <a:solidFill>
                  <a:srgbClr val="FFFFFF"/>
                </a:solidFill>
                <a:latin typeface="Calibri"/>
                <a:ea typeface="Calibri"/>
                <a:cs typeface="Calibri"/>
                <a:sym typeface="Calibri"/>
              </a:rPr>
              <a:t>Value: what I actually get</a:t>
            </a:r>
            <a:endParaRPr sz="1150">
              <a:latin typeface="Calibri"/>
              <a:ea typeface="Calibri"/>
              <a:cs typeface="Calibri"/>
              <a:sym typeface="Calibri"/>
            </a:endParaRPr>
          </a:p>
        </p:txBody>
      </p:sp>
      <p:grpSp>
        <p:nvGrpSpPr>
          <p:cNvPr id="1351" name="Google Shape;1351;p45"/>
          <p:cNvGrpSpPr/>
          <p:nvPr/>
        </p:nvGrpSpPr>
        <p:grpSpPr>
          <a:xfrm>
            <a:off x="411480" y="1463041"/>
            <a:ext cx="8321040" cy="1701051"/>
            <a:chOff x="411480" y="1463041"/>
            <a:chExt cx="8321040" cy="1701051"/>
          </a:xfrm>
        </p:grpSpPr>
        <p:sp>
          <p:nvSpPr>
            <p:cNvPr id="1352" name="Google Shape;1352;p45"/>
            <p:cNvSpPr/>
            <p:nvPr/>
          </p:nvSpPr>
          <p:spPr>
            <a:xfrm>
              <a:off x="411480" y="1463041"/>
              <a:ext cx="8321040" cy="567055"/>
            </a:xfrm>
            <a:custGeom>
              <a:rect b="b" l="l" r="r" t="t"/>
              <a:pathLst>
                <a:path extrusionOk="0" h="567055" w="8321040">
                  <a:moveTo>
                    <a:pt x="1508404" y="0"/>
                  </a:moveTo>
                  <a:lnTo>
                    <a:pt x="0" y="0"/>
                  </a:lnTo>
                  <a:lnTo>
                    <a:pt x="0" y="566635"/>
                  </a:lnTo>
                  <a:lnTo>
                    <a:pt x="754202" y="566635"/>
                  </a:lnTo>
                  <a:lnTo>
                    <a:pt x="1508404" y="566635"/>
                  </a:lnTo>
                  <a:lnTo>
                    <a:pt x="1508404" y="0"/>
                  </a:lnTo>
                  <a:close/>
                </a:path>
                <a:path extrusionOk="0" h="567055" w="8321040">
                  <a:moveTo>
                    <a:pt x="3657244" y="0"/>
                  </a:moveTo>
                  <a:lnTo>
                    <a:pt x="1508760" y="0"/>
                  </a:lnTo>
                  <a:lnTo>
                    <a:pt x="1508760" y="566635"/>
                  </a:lnTo>
                  <a:lnTo>
                    <a:pt x="2583002" y="566635"/>
                  </a:lnTo>
                  <a:lnTo>
                    <a:pt x="3657244" y="566635"/>
                  </a:lnTo>
                  <a:lnTo>
                    <a:pt x="3657244" y="0"/>
                  </a:lnTo>
                  <a:close/>
                </a:path>
                <a:path extrusionOk="0" h="567055" w="8321040">
                  <a:moveTo>
                    <a:pt x="5988964" y="0"/>
                  </a:moveTo>
                  <a:lnTo>
                    <a:pt x="3657600" y="0"/>
                  </a:lnTo>
                  <a:lnTo>
                    <a:pt x="3657600" y="566635"/>
                  </a:lnTo>
                  <a:lnTo>
                    <a:pt x="4823282" y="566635"/>
                  </a:lnTo>
                  <a:lnTo>
                    <a:pt x="5988964" y="566635"/>
                  </a:lnTo>
                  <a:lnTo>
                    <a:pt x="5988964" y="0"/>
                  </a:lnTo>
                  <a:close/>
                </a:path>
                <a:path extrusionOk="0" h="567055" w="8321040">
                  <a:moveTo>
                    <a:pt x="8320684" y="0"/>
                  </a:moveTo>
                  <a:lnTo>
                    <a:pt x="5989320" y="0"/>
                  </a:lnTo>
                  <a:lnTo>
                    <a:pt x="5989320" y="566635"/>
                  </a:lnTo>
                  <a:lnTo>
                    <a:pt x="7155002" y="566635"/>
                  </a:lnTo>
                  <a:lnTo>
                    <a:pt x="8320684" y="566635"/>
                  </a:lnTo>
                  <a:lnTo>
                    <a:pt x="8320684"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53" name="Google Shape;1353;p45"/>
            <p:cNvSpPr/>
            <p:nvPr/>
          </p:nvSpPr>
          <p:spPr>
            <a:xfrm>
              <a:off x="411480" y="2030046"/>
              <a:ext cx="8321040" cy="567055"/>
            </a:xfrm>
            <a:custGeom>
              <a:rect b="b" l="l" r="r" t="t"/>
              <a:pathLst>
                <a:path extrusionOk="0" h="567055" w="8321040">
                  <a:moveTo>
                    <a:pt x="1508404" y="0"/>
                  </a:moveTo>
                  <a:lnTo>
                    <a:pt x="0" y="0"/>
                  </a:lnTo>
                  <a:lnTo>
                    <a:pt x="0" y="566635"/>
                  </a:lnTo>
                  <a:lnTo>
                    <a:pt x="754202" y="566635"/>
                  </a:lnTo>
                  <a:lnTo>
                    <a:pt x="1508404" y="566635"/>
                  </a:lnTo>
                  <a:lnTo>
                    <a:pt x="1508404" y="0"/>
                  </a:lnTo>
                  <a:close/>
                </a:path>
                <a:path extrusionOk="0" h="567055" w="8321040">
                  <a:moveTo>
                    <a:pt x="3657244" y="0"/>
                  </a:moveTo>
                  <a:lnTo>
                    <a:pt x="1508760" y="0"/>
                  </a:lnTo>
                  <a:lnTo>
                    <a:pt x="1508760" y="566635"/>
                  </a:lnTo>
                  <a:lnTo>
                    <a:pt x="2583002" y="566635"/>
                  </a:lnTo>
                  <a:lnTo>
                    <a:pt x="3657244" y="566635"/>
                  </a:lnTo>
                  <a:lnTo>
                    <a:pt x="3657244" y="0"/>
                  </a:lnTo>
                  <a:close/>
                </a:path>
                <a:path extrusionOk="0" h="567055" w="8321040">
                  <a:moveTo>
                    <a:pt x="5988964" y="0"/>
                  </a:moveTo>
                  <a:lnTo>
                    <a:pt x="3657600" y="0"/>
                  </a:lnTo>
                  <a:lnTo>
                    <a:pt x="3657600" y="566635"/>
                  </a:lnTo>
                  <a:lnTo>
                    <a:pt x="4823282" y="566635"/>
                  </a:lnTo>
                  <a:lnTo>
                    <a:pt x="5988964" y="566635"/>
                  </a:lnTo>
                  <a:lnTo>
                    <a:pt x="5988964" y="0"/>
                  </a:lnTo>
                  <a:close/>
                </a:path>
                <a:path extrusionOk="0" h="567055" w="8321040">
                  <a:moveTo>
                    <a:pt x="8320684" y="0"/>
                  </a:moveTo>
                  <a:lnTo>
                    <a:pt x="5989320" y="0"/>
                  </a:lnTo>
                  <a:lnTo>
                    <a:pt x="5989320" y="566635"/>
                  </a:lnTo>
                  <a:lnTo>
                    <a:pt x="7155002" y="566635"/>
                  </a:lnTo>
                  <a:lnTo>
                    <a:pt x="8320684" y="566635"/>
                  </a:lnTo>
                  <a:lnTo>
                    <a:pt x="8320684" y="0"/>
                  </a:lnTo>
                  <a:close/>
                </a:path>
              </a:pathLst>
            </a:custGeom>
            <a:solidFill>
              <a:srgbClr val="F7F9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54" name="Google Shape;1354;p45"/>
            <p:cNvSpPr/>
            <p:nvPr/>
          </p:nvSpPr>
          <p:spPr>
            <a:xfrm>
              <a:off x="411480" y="2597037"/>
              <a:ext cx="8321040" cy="567055"/>
            </a:xfrm>
            <a:custGeom>
              <a:rect b="b" l="l" r="r" t="t"/>
              <a:pathLst>
                <a:path extrusionOk="0" h="567055" w="8321040">
                  <a:moveTo>
                    <a:pt x="1508404" y="0"/>
                  </a:moveTo>
                  <a:lnTo>
                    <a:pt x="0" y="0"/>
                  </a:lnTo>
                  <a:lnTo>
                    <a:pt x="0" y="566648"/>
                  </a:lnTo>
                  <a:lnTo>
                    <a:pt x="754202" y="566648"/>
                  </a:lnTo>
                  <a:lnTo>
                    <a:pt x="1508404" y="566648"/>
                  </a:lnTo>
                  <a:lnTo>
                    <a:pt x="1508404" y="0"/>
                  </a:lnTo>
                  <a:close/>
                </a:path>
                <a:path extrusionOk="0" h="567055" w="8321040">
                  <a:moveTo>
                    <a:pt x="3657244" y="0"/>
                  </a:moveTo>
                  <a:lnTo>
                    <a:pt x="1508760" y="0"/>
                  </a:lnTo>
                  <a:lnTo>
                    <a:pt x="1508760" y="566648"/>
                  </a:lnTo>
                  <a:lnTo>
                    <a:pt x="2583002" y="566648"/>
                  </a:lnTo>
                  <a:lnTo>
                    <a:pt x="3657244" y="566648"/>
                  </a:lnTo>
                  <a:lnTo>
                    <a:pt x="3657244" y="0"/>
                  </a:lnTo>
                  <a:close/>
                </a:path>
                <a:path extrusionOk="0" h="567055" w="8321040">
                  <a:moveTo>
                    <a:pt x="5988964" y="0"/>
                  </a:moveTo>
                  <a:lnTo>
                    <a:pt x="3657600" y="0"/>
                  </a:lnTo>
                  <a:lnTo>
                    <a:pt x="3657600" y="566648"/>
                  </a:lnTo>
                  <a:lnTo>
                    <a:pt x="4823282" y="566648"/>
                  </a:lnTo>
                  <a:lnTo>
                    <a:pt x="5988964" y="566648"/>
                  </a:lnTo>
                  <a:lnTo>
                    <a:pt x="5988964" y="0"/>
                  </a:lnTo>
                  <a:close/>
                </a:path>
                <a:path extrusionOk="0" h="567055" w="8321040">
                  <a:moveTo>
                    <a:pt x="8320684" y="0"/>
                  </a:moveTo>
                  <a:lnTo>
                    <a:pt x="5989320" y="0"/>
                  </a:lnTo>
                  <a:lnTo>
                    <a:pt x="5989320" y="566648"/>
                  </a:lnTo>
                  <a:lnTo>
                    <a:pt x="7155002" y="566648"/>
                  </a:lnTo>
                  <a:lnTo>
                    <a:pt x="8320684" y="566648"/>
                  </a:lnTo>
                  <a:lnTo>
                    <a:pt x="8320684"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graphicFrame>
        <p:nvGraphicFramePr>
          <p:cNvPr id="1355" name="Google Shape;1355;p45"/>
          <p:cNvGraphicFramePr/>
          <p:nvPr/>
        </p:nvGraphicFramePr>
        <p:xfrm>
          <a:off x="405180" y="1456742"/>
          <a:ext cx="3000000" cy="3000000"/>
        </p:xfrm>
        <a:graphic>
          <a:graphicData uri="http://schemas.openxmlformats.org/drawingml/2006/table">
            <a:tbl>
              <a:tblPr bandRow="1" firstRow="1">
                <a:noFill/>
                <a:tableStyleId>{17F75444-8990-4049-B4A0-D4880F097619}</a:tableStyleId>
              </a:tblPr>
              <a:tblGrid>
                <a:gridCol w="1508750"/>
                <a:gridCol w="2148850"/>
                <a:gridCol w="2331725"/>
                <a:gridCol w="2331725"/>
              </a:tblGrid>
              <a:tr h="566425">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73025" marR="0" rtl="0" algn="l">
                        <a:lnSpc>
                          <a:spcPct val="100000"/>
                        </a:lnSpc>
                        <a:spcBef>
                          <a:spcPts val="0"/>
                        </a:spcBef>
                        <a:spcAft>
                          <a:spcPts val="0"/>
                        </a:spcAft>
                        <a:buNone/>
                      </a:pPr>
                      <a:r>
                        <a:rPr b="1" lang="en-US" sz="1100" u="none" cap="none" strike="noStrike">
                          <a:solidFill>
                            <a:srgbClr val="1E2836"/>
                          </a:solidFill>
                          <a:latin typeface="Calibri"/>
                          <a:ea typeface="Calibri"/>
                          <a:cs typeface="Calibri"/>
                          <a:sym typeface="Calibri"/>
                        </a:rPr>
                        <a:t>YouTube</a:t>
                      </a:r>
                      <a:endParaRPr sz="1100" u="none" cap="none" strike="noStrike">
                        <a:latin typeface="Calibri"/>
                        <a:ea typeface="Calibri"/>
                        <a:cs typeface="Calibri"/>
                        <a:sym typeface="Calibri"/>
                      </a:endParaRPr>
                    </a:p>
                  </a:txBody>
                  <a:tcPr marT="38725" marB="0" marR="0" marL="0">
                    <a:lnL cap="flat" cmpd="sng" w="12700">
                      <a:solidFill>
                        <a:srgbClr val="E1E7EF"/>
                      </a:solidFill>
                      <a:prstDash val="solid"/>
                      <a:round/>
                      <a:headEnd len="sm" w="sm" type="none"/>
                      <a:tailEnd len="sm" w="sm" type="none"/>
                    </a:lnL>
                    <a:lnR cap="flat" cmpd="sng" w="19050">
                      <a:solidFill>
                        <a:srgbClr val="E1E7EF"/>
                      </a:solidFill>
                      <a:prstDash val="solid"/>
                      <a:round/>
                      <a:headEnd len="sm" w="sm" type="none"/>
                      <a:tailEnd len="sm" w="sm" type="none"/>
                    </a:lnR>
                    <a:lnT cap="flat" cmpd="sng" w="12700">
                      <a:solidFill>
                        <a:srgbClr val="E1E7EF"/>
                      </a:solidFill>
                      <a:prstDash val="solid"/>
                      <a:round/>
                      <a:headEnd len="sm" w="sm" type="none"/>
                      <a:tailEnd len="sm" w="sm" type="none"/>
                    </a:lnT>
                    <a:lnB cap="flat" cmpd="sng" w="19050">
                      <a:solidFill>
                        <a:srgbClr val="E1E7E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73025" marR="0" rtl="0" algn="l">
                        <a:lnSpc>
                          <a:spcPct val="100000"/>
                        </a:lnSpc>
                        <a:spcBef>
                          <a:spcPts val="0"/>
                        </a:spcBef>
                        <a:spcAft>
                          <a:spcPts val="0"/>
                        </a:spcAft>
                        <a:buNone/>
                      </a:pPr>
                      <a:r>
                        <a:rPr lang="en-US" sz="1100" u="none" cap="none" strike="noStrike">
                          <a:solidFill>
                            <a:srgbClr val="1E2836"/>
                          </a:solidFill>
                          <a:latin typeface="Calibri"/>
                          <a:ea typeface="Calibri"/>
                          <a:cs typeface="Calibri"/>
                          <a:sym typeface="Calibri"/>
                        </a:rPr>
                        <a:t>"how to cook biryani"</a:t>
                      </a:r>
                      <a:endParaRPr sz="1100" u="none" cap="none" strike="noStrike">
                        <a:latin typeface="Calibri"/>
                        <a:ea typeface="Calibri"/>
                        <a:cs typeface="Calibri"/>
                        <a:sym typeface="Calibri"/>
                      </a:endParaRPr>
                    </a:p>
                  </a:txBody>
                  <a:tcPr marT="38725" marB="0" marR="0" marL="0">
                    <a:lnL cap="flat" cmpd="sng" w="19050">
                      <a:solidFill>
                        <a:srgbClr val="E1E7EF"/>
                      </a:solidFill>
                      <a:prstDash val="solid"/>
                      <a:round/>
                      <a:headEnd len="sm" w="sm" type="none"/>
                      <a:tailEnd len="sm" w="sm" type="none"/>
                    </a:lnL>
                    <a:lnR cap="flat" cmpd="sng" w="19050">
                      <a:solidFill>
                        <a:srgbClr val="E1E7EF"/>
                      </a:solidFill>
                      <a:prstDash val="solid"/>
                      <a:round/>
                      <a:headEnd len="sm" w="sm" type="none"/>
                      <a:tailEnd len="sm" w="sm" type="none"/>
                    </a:lnR>
                    <a:lnT cap="flat" cmpd="sng" w="12700">
                      <a:solidFill>
                        <a:srgbClr val="E1E7EF"/>
                      </a:solidFill>
                      <a:prstDash val="solid"/>
                      <a:round/>
                      <a:headEnd len="sm" w="sm" type="none"/>
                      <a:tailEnd len="sm" w="sm" type="none"/>
                    </a:lnT>
                    <a:lnB cap="flat" cmpd="sng" w="19050">
                      <a:solidFill>
                        <a:srgbClr val="E1E7E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73025" marR="0" rtl="0" algn="l">
                        <a:lnSpc>
                          <a:spcPct val="100000"/>
                        </a:lnSpc>
                        <a:spcBef>
                          <a:spcPts val="0"/>
                        </a:spcBef>
                        <a:spcAft>
                          <a:spcPts val="0"/>
                        </a:spcAft>
                        <a:buNone/>
                      </a:pPr>
                      <a:r>
                        <a:rPr lang="en-US" sz="1100" u="none" cap="none" strike="noStrike">
                          <a:solidFill>
                            <a:srgbClr val="1E2836"/>
                          </a:solidFill>
                          <a:latin typeface="Calibri"/>
                          <a:ea typeface="Calibri"/>
                          <a:cs typeface="Calibri"/>
                          <a:sym typeface="Calibri"/>
                        </a:rPr>
                        <a:t>Video titles, tags, thumbnails</a:t>
                      </a:r>
                      <a:endParaRPr sz="1100" u="none" cap="none" strike="noStrike">
                        <a:latin typeface="Calibri"/>
                        <a:ea typeface="Calibri"/>
                        <a:cs typeface="Calibri"/>
                        <a:sym typeface="Calibri"/>
                      </a:endParaRPr>
                    </a:p>
                  </a:txBody>
                  <a:tcPr marT="38725" marB="0" marR="0" marL="0">
                    <a:lnL cap="flat" cmpd="sng" w="19050">
                      <a:solidFill>
                        <a:srgbClr val="E1E7EF"/>
                      </a:solidFill>
                      <a:prstDash val="solid"/>
                      <a:round/>
                      <a:headEnd len="sm" w="sm" type="none"/>
                      <a:tailEnd len="sm" w="sm" type="none"/>
                    </a:lnL>
                    <a:lnR cap="flat" cmpd="sng" w="19050">
                      <a:solidFill>
                        <a:srgbClr val="E1E7EF"/>
                      </a:solidFill>
                      <a:prstDash val="solid"/>
                      <a:round/>
                      <a:headEnd len="sm" w="sm" type="none"/>
                      <a:tailEnd len="sm" w="sm" type="none"/>
                    </a:lnR>
                    <a:lnT cap="flat" cmpd="sng" w="12700">
                      <a:solidFill>
                        <a:srgbClr val="E1E7EF"/>
                      </a:solidFill>
                      <a:prstDash val="solid"/>
                      <a:round/>
                      <a:headEnd len="sm" w="sm" type="none"/>
                      <a:tailEnd len="sm" w="sm" type="none"/>
                    </a:lnT>
                    <a:lnB cap="flat" cmpd="sng" w="19050">
                      <a:solidFill>
                        <a:srgbClr val="E1E7E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73025" marR="0" rtl="0" algn="l">
                        <a:lnSpc>
                          <a:spcPct val="100000"/>
                        </a:lnSpc>
                        <a:spcBef>
                          <a:spcPts val="0"/>
                        </a:spcBef>
                        <a:spcAft>
                          <a:spcPts val="0"/>
                        </a:spcAft>
                        <a:buNone/>
                      </a:pPr>
                      <a:r>
                        <a:rPr lang="en-US" sz="1100" u="none" cap="none" strike="noStrike">
                          <a:solidFill>
                            <a:srgbClr val="1E2836"/>
                          </a:solidFill>
                          <a:latin typeface="Calibri"/>
                          <a:ea typeface="Calibri"/>
                          <a:cs typeface="Calibri"/>
                          <a:sym typeface="Calibri"/>
                        </a:rPr>
                        <a:t>The video you finally watch</a:t>
                      </a:r>
                      <a:endParaRPr sz="1100" u="none" cap="none" strike="noStrike">
                        <a:latin typeface="Calibri"/>
                        <a:ea typeface="Calibri"/>
                        <a:cs typeface="Calibri"/>
                        <a:sym typeface="Calibri"/>
                      </a:endParaRPr>
                    </a:p>
                  </a:txBody>
                  <a:tcPr marT="38725" marB="0" marR="0" marL="0">
                    <a:lnL cap="flat" cmpd="sng" w="19050">
                      <a:solidFill>
                        <a:srgbClr val="E1E7EF"/>
                      </a:solidFill>
                      <a:prstDash val="solid"/>
                      <a:round/>
                      <a:headEnd len="sm" w="sm" type="none"/>
                      <a:tailEnd len="sm" w="sm" type="none"/>
                    </a:lnL>
                    <a:lnR cap="flat" cmpd="sng" w="12700">
                      <a:solidFill>
                        <a:srgbClr val="E1E7EF"/>
                      </a:solidFill>
                      <a:prstDash val="solid"/>
                      <a:round/>
                      <a:headEnd len="sm" w="sm" type="none"/>
                      <a:tailEnd len="sm" w="sm" type="none"/>
                    </a:lnR>
                    <a:lnT cap="flat" cmpd="sng" w="12700">
                      <a:solidFill>
                        <a:srgbClr val="E1E7EF"/>
                      </a:solidFill>
                      <a:prstDash val="solid"/>
                      <a:round/>
                      <a:headEnd len="sm" w="sm" type="none"/>
                      <a:tailEnd len="sm" w="sm" type="none"/>
                    </a:lnT>
                    <a:lnB cap="flat" cmpd="sng" w="19050">
                      <a:solidFill>
                        <a:srgbClr val="E1E7EF"/>
                      </a:solidFill>
                      <a:prstDash val="solid"/>
                      <a:round/>
                      <a:headEnd len="sm" w="sm" type="none"/>
                      <a:tailEnd len="sm" w="sm" type="none"/>
                    </a:lnB>
                  </a:tcPr>
                </a:tc>
              </a:tr>
              <a:tr h="567050">
                <a:tc>
                  <a:txBody>
                    <a:bodyPr/>
                    <a:lstStyle/>
                    <a:p>
                      <a:pPr indent="0" lvl="0" marL="73025" marR="192405" rtl="0" algn="l">
                        <a:lnSpc>
                          <a:spcPct val="100000"/>
                        </a:lnSpc>
                        <a:spcBef>
                          <a:spcPts val="0"/>
                        </a:spcBef>
                        <a:spcAft>
                          <a:spcPts val="0"/>
                        </a:spcAft>
                        <a:buNone/>
                      </a:pPr>
                      <a:r>
                        <a:rPr b="1" lang="en-US" sz="1100" u="none" cap="none" strike="noStrike">
                          <a:solidFill>
                            <a:srgbClr val="1E2836"/>
                          </a:solidFill>
                          <a:latin typeface="Calibri"/>
                          <a:ea typeface="Calibri"/>
                          <a:cs typeface="Calibri"/>
                          <a:sym typeface="Calibri"/>
                        </a:rPr>
                        <a:t>Job portal (LinkedIn / Naukri)</a:t>
                      </a:r>
                      <a:endParaRPr sz="1100" u="none" cap="none" strike="noStrike">
                        <a:latin typeface="Calibri"/>
                        <a:ea typeface="Calibri"/>
                        <a:cs typeface="Calibri"/>
                        <a:sym typeface="Calibri"/>
                      </a:endParaRPr>
                    </a:p>
                  </a:txBody>
                  <a:tcPr marT="115575" marB="0" marR="0" marL="0">
                    <a:lnL cap="flat" cmpd="sng" w="12700">
                      <a:solidFill>
                        <a:srgbClr val="E1E7EF"/>
                      </a:solidFill>
                      <a:prstDash val="solid"/>
                      <a:round/>
                      <a:headEnd len="sm" w="sm" type="none"/>
                      <a:tailEnd len="sm" w="sm" type="none"/>
                    </a:lnL>
                    <a:lnR cap="flat" cmpd="sng" w="19050">
                      <a:solidFill>
                        <a:srgbClr val="E1E7EF"/>
                      </a:solidFill>
                      <a:prstDash val="solid"/>
                      <a:round/>
                      <a:headEnd len="sm" w="sm" type="none"/>
                      <a:tailEnd len="sm" w="sm" type="none"/>
                    </a:lnR>
                    <a:lnT cap="flat" cmpd="sng" w="19050">
                      <a:solidFill>
                        <a:srgbClr val="E1E7EF"/>
                      </a:solidFill>
                      <a:prstDash val="solid"/>
                      <a:round/>
                      <a:headEnd len="sm" w="sm" type="none"/>
                      <a:tailEnd len="sm" w="sm" type="none"/>
                    </a:lnT>
                    <a:lnB cap="flat" cmpd="sng" w="19050">
                      <a:solidFill>
                        <a:srgbClr val="E1E7E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73025" marR="0" rtl="0" algn="l">
                        <a:lnSpc>
                          <a:spcPct val="100000"/>
                        </a:lnSpc>
                        <a:spcBef>
                          <a:spcPts val="5"/>
                        </a:spcBef>
                        <a:spcAft>
                          <a:spcPts val="0"/>
                        </a:spcAft>
                        <a:buNone/>
                      </a:pPr>
                      <a:r>
                        <a:rPr lang="en-US" sz="1100" u="none" cap="none" strike="noStrike">
                          <a:solidFill>
                            <a:srgbClr val="1E2836"/>
                          </a:solidFill>
                          <a:latin typeface="Calibri"/>
                          <a:ea typeface="Calibri"/>
                          <a:cs typeface="Calibri"/>
                          <a:sym typeface="Calibri"/>
                        </a:rPr>
                        <a:t>"Python, 3+ years, NLP"</a:t>
                      </a:r>
                      <a:endParaRPr sz="1100" u="none" cap="none" strike="noStrike">
                        <a:latin typeface="Calibri"/>
                        <a:ea typeface="Calibri"/>
                        <a:cs typeface="Calibri"/>
                        <a:sym typeface="Calibri"/>
                      </a:endParaRPr>
                    </a:p>
                  </a:txBody>
                  <a:tcPr marT="38725" marB="0" marR="0" marL="0">
                    <a:lnL cap="flat" cmpd="sng" w="19050">
                      <a:solidFill>
                        <a:srgbClr val="E1E7EF"/>
                      </a:solidFill>
                      <a:prstDash val="solid"/>
                      <a:round/>
                      <a:headEnd len="sm" w="sm" type="none"/>
                      <a:tailEnd len="sm" w="sm" type="none"/>
                    </a:lnL>
                    <a:lnR cap="flat" cmpd="sng" w="19050">
                      <a:solidFill>
                        <a:srgbClr val="E1E7EF"/>
                      </a:solidFill>
                      <a:prstDash val="solid"/>
                      <a:round/>
                      <a:headEnd len="sm" w="sm" type="none"/>
                      <a:tailEnd len="sm" w="sm" type="none"/>
                    </a:lnR>
                    <a:lnT cap="flat" cmpd="sng" w="19050">
                      <a:solidFill>
                        <a:srgbClr val="E1E7EF"/>
                      </a:solidFill>
                      <a:prstDash val="solid"/>
                      <a:round/>
                      <a:headEnd len="sm" w="sm" type="none"/>
                      <a:tailEnd len="sm" w="sm" type="none"/>
                    </a:lnT>
                    <a:lnB cap="flat" cmpd="sng" w="19050">
                      <a:solidFill>
                        <a:srgbClr val="E1E7E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73025" marR="0" rtl="0" algn="l">
                        <a:lnSpc>
                          <a:spcPct val="100000"/>
                        </a:lnSpc>
                        <a:spcBef>
                          <a:spcPts val="5"/>
                        </a:spcBef>
                        <a:spcAft>
                          <a:spcPts val="0"/>
                        </a:spcAft>
                        <a:buNone/>
                      </a:pPr>
                      <a:r>
                        <a:rPr lang="en-US" sz="1100" u="none" cap="none" strike="noStrike">
                          <a:solidFill>
                            <a:srgbClr val="1E2836"/>
                          </a:solidFill>
                          <a:latin typeface="Calibri"/>
                          <a:ea typeface="Calibri"/>
                          <a:cs typeface="Calibri"/>
                          <a:sym typeface="Calibri"/>
                        </a:rPr>
                        <a:t>Resume headlines and skill lists</a:t>
                      </a:r>
                      <a:endParaRPr sz="1100" u="none" cap="none" strike="noStrike">
                        <a:latin typeface="Calibri"/>
                        <a:ea typeface="Calibri"/>
                        <a:cs typeface="Calibri"/>
                        <a:sym typeface="Calibri"/>
                      </a:endParaRPr>
                    </a:p>
                  </a:txBody>
                  <a:tcPr marT="38725" marB="0" marR="0" marL="0">
                    <a:lnL cap="flat" cmpd="sng" w="19050">
                      <a:solidFill>
                        <a:srgbClr val="E1E7EF"/>
                      </a:solidFill>
                      <a:prstDash val="solid"/>
                      <a:round/>
                      <a:headEnd len="sm" w="sm" type="none"/>
                      <a:tailEnd len="sm" w="sm" type="none"/>
                    </a:lnL>
                    <a:lnR cap="flat" cmpd="sng" w="19050">
                      <a:solidFill>
                        <a:srgbClr val="E1E7EF"/>
                      </a:solidFill>
                      <a:prstDash val="solid"/>
                      <a:round/>
                      <a:headEnd len="sm" w="sm" type="none"/>
                      <a:tailEnd len="sm" w="sm" type="none"/>
                    </a:lnR>
                    <a:lnT cap="flat" cmpd="sng" w="19050">
                      <a:solidFill>
                        <a:srgbClr val="E1E7EF"/>
                      </a:solidFill>
                      <a:prstDash val="solid"/>
                      <a:round/>
                      <a:headEnd len="sm" w="sm" type="none"/>
                      <a:tailEnd len="sm" w="sm" type="none"/>
                    </a:lnT>
                    <a:lnB cap="flat" cmpd="sng" w="19050">
                      <a:solidFill>
                        <a:srgbClr val="E1E7E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73025" marR="0" rtl="0" algn="l">
                        <a:lnSpc>
                          <a:spcPct val="100000"/>
                        </a:lnSpc>
                        <a:spcBef>
                          <a:spcPts val="5"/>
                        </a:spcBef>
                        <a:spcAft>
                          <a:spcPts val="0"/>
                        </a:spcAft>
                        <a:buNone/>
                      </a:pPr>
                      <a:r>
                        <a:rPr lang="en-US" sz="1100" u="none" cap="none" strike="noStrike">
                          <a:solidFill>
                            <a:srgbClr val="1E2836"/>
                          </a:solidFill>
                          <a:latin typeface="Calibri"/>
                          <a:ea typeface="Calibri"/>
                          <a:cs typeface="Calibri"/>
                          <a:sym typeface="Calibri"/>
                        </a:rPr>
                        <a:t>The full candidate profile</a:t>
                      </a:r>
                      <a:endParaRPr sz="1100" u="none" cap="none" strike="noStrike">
                        <a:latin typeface="Calibri"/>
                        <a:ea typeface="Calibri"/>
                        <a:cs typeface="Calibri"/>
                        <a:sym typeface="Calibri"/>
                      </a:endParaRPr>
                    </a:p>
                  </a:txBody>
                  <a:tcPr marT="38725" marB="0" marR="0" marL="0">
                    <a:lnL cap="flat" cmpd="sng" w="19050">
                      <a:solidFill>
                        <a:srgbClr val="E1E7EF"/>
                      </a:solidFill>
                      <a:prstDash val="solid"/>
                      <a:round/>
                      <a:headEnd len="sm" w="sm" type="none"/>
                      <a:tailEnd len="sm" w="sm" type="none"/>
                    </a:lnL>
                    <a:lnR cap="flat" cmpd="sng" w="12700">
                      <a:solidFill>
                        <a:srgbClr val="E1E7EF"/>
                      </a:solidFill>
                      <a:prstDash val="solid"/>
                      <a:round/>
                      <a:headEnd len="sm" w="sm" type="none"/>
                      <a:tailEnd len="sm" w="sm" type="none"/>
                    </a:lnR>
                    <a:lnT cap="flat" cmpd="sng" w="19050">
                      <a:solidFill>
                        <a:srgbClr val="E1E7EF"/>
                      </a:solidFill>
                      <a:prstDash val="solid"/>
                      <a:round/>
                      <a:headEnd len="sm" w="sm" type="none"/>
                      <a:tailEnd len="sm" w="sm" type="none"/>
                    </a:lnT>
                    <a:lnB cap="flat" cmpd="sng" w="19050">
                      <a:solidFill>
                        <a:srgbClr val="E1E7EF"/>
                      </a:solidFill>
                      <a:prstDash val="solid"/>
                      <a:round/>
                      <a:headEnd len="sm" w="sm" type="none"/>
                      <a:tailEnd len="sm" w="sm" type="none"/>
                    </a:lnB>
                  </a:tcPr>
                </a:tc>
              </a:tr>
              <a:tr h="566425">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73025" marR="0" rtl="0" algn="l">
                        <a:lnSpc>
                          <a:spcPct val="100000"/>
                        </a:lnSpc>
                        <a:spcBef>
                          <a:spcPts val="0"/>
                        </a:spcBef>
                        <a:spcAft>
                          <a:spcPts val="0"/>
                        </a:spcAft>
                        <a:buNone/>
                      </a:pPr>
                      <a:r>
                        <a:rPr b="1" lang="en-US" sz="1100" u="none" cap="none" strike="noStrike">
                          <a:solidFill>
                            <a:srgbClr val="1E2836"/>
                          </a:solidFill>
                          <a:latin typeface="Calibri"/>
                          <a:ea typeface="Calibri"/>
                          <a:cs typeface="Calibri"/>
                          <a:sym typeface="Calibri"/>
                        </a:rPr>
                        <a:t>Swiggy / Zomato</a:t>
                      </a:r>
                      <a:endParaRPr sz="1100" u="none" cap="none" strike="noStrike">
                        <a:latin typeface="Calibri"/>
                        <a:ea typeface="Calibri"/>
                        <a:cs typeface="Calibri"/>
                        <a:sym typeface="Calibri"/>
                      </a:endParaRPr>
                    </a:p>
                  </a:txBody>
                  <a:tcPr marT="38725" marB="0" marR="0" marL="0">
                    <a:lnL cap="flat" cmpd="sng" w="12700">
                      <a:solidFill>
                        <a:srgbClr val="E1E7EF"/>
                      </a:solidFill>
                      <a:prstDash val="solid"/>
                      <a:round/>
                      <a:headEnd len="sm" w="sm" type="none"/>
                      <a:tailEnd len="sm" w="sm" type="none"/>
                    </a:lnL>
                    <a:lnR cap="flat" cmpd="sng" w="19050">
                      <a:solidFill>
                        <a:srgbClr val="E1E7EF"/>
                      </a:solidFill>
                      <a:prstDash val="solid"/>
                      <a:round/>
                      <a:headEnd len="sm" w="sm" type="none"/>
                      <a:tailEnd len="sm" w="sm" type="none"/>
                    </a:lnR>
                    <a:lnT cap="flat" cmpd="sng" w="19050">
                      <a:solidFill>
                        <a:srgbClr val="E1E7EF"/>
                      </a:solidFill>
                      <a:prstDash val="solid"/>
                      <a:round/>
                      <a:headEnd len="sm" w="sm" type="none"/>
                      <a:tailEnd len="sm" w="sm" type="none"/>
                    </a:lnT>
                    <a:lnB cap="flat" cmpd="sng" w="12700">
                      <a:solidFill>
                        <a:srgbClr val="E1E7E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73025" marR="0" rtl="0" algn="l">
                        <a:lnSpc>
                          <a:spcPct val="100000"/>
                        </a:lnSpc>
                        <a:spcBef>
                          <a:spcPts val="0"/>
                        </a:spcBef>
                        <a:spcAft>
                          <a:spcPts val="0"/>
                        </a:spcAft>
                        <a:buNone/>
                      </a:pPr>
                      <a:r>
                        <a:rPr lang="en-US" sz="1100" u="none" cap="none" strike="noStrike">
                          <a:solidFill>
                            <a:srgbClr val="1E2836"/>
                          </a:solidFill>
                          <a:latin typeface="Calibri"/>
                          <a:ea typeface="Calibri"/>
                          <a:cs typeface="Calibri"/>
                          <a:sym typeface="Calibri"/>
                        </a:rPr>
                        <a:t>"spicy, under ₹300, near me"</a:t>
                      </a:r>
                      <a:endParaRPr sz="1100" u="none" cap="none" strike="noStrike">
                        <a:latin typeface="Calibri"/>
                        <a:ea typeface="Calibri"/>
                        <a:cs typeface="Calibri"/>
                        <a:sym typeface="Calibri"/>
                      </a:endParaRPr>
                    </a:p>
                  </a:txBody>
                  <a:tcPr marT="38725" marB="0" marR="0" marL="0">
                    <a:lnL cap="flat" cmpd="sng" w="19050">
                      <a:solidFill>
                        <a:srgbClr val="E1E7EF"/>
                      </a:solidFill>
                      <a:prstDash val="solid"/>
                      <a:round/>
                      <a:headEnd len="sm" w="sm" type="none"/>
                      <a:tailEnd len="sm" w="sm" type="none"/>
                    </a:lnL>
                    <a:lnR cap="flat" cmpd="sng" w="19050">
                      <a:solidFill>
                        <a:srgbClr val="E1E7EF"/>
                      </a:solidFill>
                      <a:prstDash val="solid"/>
                      <a:round/>
                      <a:headEnd len="sm" w="sm" type="none"/>
                      <a:tailEnd len="sm" w="sm" type="none"/>
                    </a:lnR>
                    <a:lnT cap="flat" cmpd="sng" w="19050">
                      <a:solidFill>
                        <a:srgbClr val="E1E7EF"/>
                      </a:solidFill>
                      <a:prstDash val="solid"/>
                      <a:round/>
                      <a:headEnd len="sm" w="sm" type="none"/>
                      <a:tailEnd len="sm" w="sm" type="none"/>
                    </a:lnT>
                    <a:lnB cap="flat" cmpd="sng" w="12700">
                      <a:solidFill>
                        <a:srgbClr val="E1E7E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73025" marR="0" rtl="0" algn="l">
                        <a:lnSpc>
                          <a:spcPct val="100000"/>
                        </a:lnSpc>
                        <a:spcBef>
                          <a:spcPts val="0"/>
                        </a:spcBef>
                        <a:spcAft>
                          <a:spcPts val="0"/>
                        </a:spcAft>
                        <a:buNone/>
                      </a:pPr>
                      <a:r>
                        <a:rPr lang="en-US" sz="1100" u="none" cap="none" strike="noStrike">
                          <a:solidFill>
                            <a:srgbClr val="1E2836"/>
                          </a:solidFill>
                          <a:latin typeface="Calibri"/>
                          <a:ea typeface="Calibri"/>
                          <a:cs typeface="Calibri"/>
                          <a:sym typeface="Calibri"/>
                        </a:rPr>
                        <a:t>Restaurant tags, price, distance</a:t>
                      </a:r>
                      <a:endParaRPr sz="1100" u="none" cap="none" strike="noStrike">
                        <a:latin typeface="Calibri"/>
                        <a:ea typeface="Calibri"/>
                        <a:cs typeface="Calibri"/>
                        <a:sym typeface="Calibri"/>
                      </a:endParaRPr>
                    </a:p>
                  </a:txBody>
                  <a:tcPr marT="38725" marB="0" marR="0" marL="0">
                    <a:lnL cap="flat" cmpd="sng" w="19050">
                      <a:solidFill>
                        <a:srgbClr val="E1E7EF"/>
                      </a:solidFill>
                      <a:prstDash val="solid"/>
                      <a:round/>
                      <a:headEnd len="sm" w="sm" type="none"/>
                      <a:tailEnd len="sm" w="sm" type="none"/>
                    </a:lnL>
                    <a:lnR cap="flat" cmpd="sng" w="19050">
                      <a:solidFill>
                        <a:srgbClr val="E1E7EF"/>
                      </a:solidFill>
                      <a:prstDash val="solid"/>
                      <a:round/>
                      <a:headEnd len="sm" w="sm" type="none"/>
                      <a:tailEnd len="sm" w="sm" type="none"/>
                    </a:lnR>
                    <a:lnT cap="flat" cmpd="sng" w="19050">
                      <a:solidFill>
                        <a:srgbClr val="E1E7EF"/>
                      </a:solidFill>
                      <a:prstDash val="solid"/>
                      <a:round/>
                      <a:headEnd len="sm" w="sm" type="none"/>
                      <a:tailEnd len="sm" w="sm" type="none"/>
                    </a:lnT>
                    <a:lnB cap="flat" cmpd="sng" w="12700">
                      <a:solidFill>
                        <a:srgbClr val="E1E7E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73025" marR="0" rtl="0" algn="l">
                        <a:lnSpc>
                          <a:spcPct val="100000"/>
                        </a:lnSpc>
                        <a:spcBef>
                          <a:spcPts val="0"/>
                        </a:spcBef>
                        <a:spcAft>
                          <a:spcPts val="0"/>
                        </a:spcAft>
                        <a:buNone/>
                      </a:pPr>
                      <a:r>
                        <a:rPr lang="en-US" sz="1100" u="none" cap="none" strike="noStrike">
                          <a:solidFill>
                            <a:srgbClr val="1E2836"/>
                          </a:solidFill>
                          <a:latin typeface="Calibri"/>
                          <a:ea typeface="Calibri"/>
                          <a:cs typeface="Calibri"/>
                          <a:sym typeface="Calibri"/>
                        </a:rPr>
                        <a:t>The menu you order from</a:t>
                      </a:r>
                      <a:endParaRPr sz="1100" u="none" cap="none" strike="noStrike">
                        <a:latin typeface="Calibri"/>
                        <a:ea typeface="Calibri"/>
                        <a:cs typeface="Calibri"/>
                        <a:sym typeface="Calibri"/>
                      </a:endParaRPr>
                    </a:p>
                  </a:txBody>
                  <a:tcPr marT="38725" marB="0" marR="0" marL="0">
                    <a:lnL cap="flat" cmpd="sng" w="19050">
                      <a:solidFill>
                        <a:srgbClr val="E1E7EF"/>
                      </a:solidFill>
                      <a:prstDash val="solid"/>
                      <a:round/>
                      <a:headEnd len="sm" w="sm" type="none"/>
                      <a:tailEnd len="sm" w="sm" type="none"/>
                    </a:lnL>
                    <a:lnR cap="flat" cmpd="sng" w="12700">
                      <a:solidFill>
                        <a:srgbClr val="E1E7EF"/>
                      </a:solidFill>
                      <a:prstDash val="solid"/>
                      <a:round/>
                      <a:headEnd len="sm" w="sm" type="none"/>
                      <a:tailEnd len="sm" w="sm" type="none"/>
                    </a:lnR>
                    <a:lnT cap="flat" cmpd="sng" w="19050">
                      <a:solidFill>
                        <a:srgbClr val="E1E7EF"/>
                      </a:solidFill>
                      <a:prstDash val="solid"/>
                      <a:round/>
                      <a:headEnd len="sm" w="sm" type="none"/>
                      <a:tailEnd len="sm" w="sm" type="none"/>
                    </a:lnT>
                    <a:lnB cap="flat" cmpd="sng" w="12700">
                      <a:solidFill>
                        <a:srgbClr val="E1E7EF"/>
                      </a:solidFill>
                      <a:prstDash val="solid"/>
                      <a:round/>
                      <a:headEnd len="sm" w="sm" type="none"/>
                      <a:tailEnd len="sm" w="sm" type="none"/>
                    </a:lnB>
                  </a:tcPr>
                </a:tc>
              </a:tr>
            </a:tbl>
          </a:graphicData>
        </a:graphic>
      </p:graphicFrame>
      <p:grpSp>
        <p:nvGrpSpPr>
          <p:cNvPr id="1356" name="Google Shape;1356;p45"/>
          <p:cNvGrpSpPr/>
          <p:nvPr/>
        </p:nvGrpSpPr>
        <p:grpSpPr>
          <a:xfrm>
            <a:off x="410756" y="3337206"/>
            <a:ext cx="8321675" cy="1418260"/>
            <a:chOff x="410756" y="3337206"/>
            <a:chExt cx="8321675" cy="1418260"/>
          </a:xfrm>
        </p:grpSpPr>
        <p:sp>
          <p:nvSpPr>
            <p:cNvPr id="1357" name="Google Shape;1357;p45"/>
            <p:cNvSpPr/>
            <p:nvPr/>
          </p:nvSpPr>
          <p:spPr>
            <a:xfrm>
              <a:off x="410756" y="3337206"/>
              <a:ext cx="8321675" cy="777875"/>
            </a:xfrm>
            <a:custGeom>
              <a:rect b="b" l="l" r="r" t="t"/>
              <a:pathLst>
                <a:path extrusionOk="0" h="777875" w="8321675">
                  <a:moveTo>
                    <a:pt x="38887" y="0"/>
                  </a:moveTo>
                  <a:lnTo>
                    <a:pt x="30606" y="2158"/>
                  </a:lnTo>
                  <a:lnTo>
                    <a:pt x="23761" y="6476"/>
                  </a:lnTo>
                  <a:lnTo>
                    <a:pt x="16560" y="10439"/>
                  </a:lnTo>
                  <a:lnTo>
                    <a:pt x="0" y="739076"/>
                  </a:lnTo>
                  <a:lnTo>
                    <a:pt x="2066" y="747001"/>
                  </a:lnTo>
                  <a:lnTo>
                    <a:pt x="2158" y="747356"/>
                  </a:lnTo>
                  <a:lnTo>
                    <a:pt x="6489" y="754189"/>
                  </a:lnTo>
                  <a:lnTo>
                    <a:pt x="10439" y="761390"/>
                  </a:lnTo>
                  <a:lnTo>
                    <a:pt x="16560" y="767156"/>
                  </a:lnTo>
                  <a:lnTo>
                    <a:pt x="23406" y="771474"/>
                  </a:lnTo>
                  <a:lnTo>
                    <a:pt x="30606" y="775436"/>
                  </a:lnTo>
                  <a:lnTo>
                    <a:pt x="38519" y="777595"/>
                  </a:lnTo>
                  <a:lnTo>
                    <a:pt x="8282889" y="777595"/>
                  </a:lnTo>
                  <a:lnTo>
                    <a:pt x="8291169" y="775436"/>
                  </a:lnTo>
                  <a:lnTo>
                    <a:pt x="8298002" y="771118"/>
                  </a:lnTo>
                  <a:lnTo>
                    <a:pt x="8305203" y="767156"/>
                  </a:lnTo>
                  <a:lnTo>
                    <a:pt x="8310968" y="761034"/>
                  </a:lnTo>
                  <a:lnTo>
                    <a:pt x="8315286" y="754189"/>
                  </a:lnTo>
                  <a:lnTo>
                    <a:pt x="8319249" y="747001"/>
                  </a:lnTo>
                  <a:lnTo>
                    <a:pt x="8321408" y="739076"/>
                  </a:lnTo>
                  <a:lnTo>
                    <a:pt x="8321315" y="38519"/>
                  </a:lnTo>
                  <a:lnTo>
                    <a:pt x="8319249" y="30594"/>
                  </a:lnTo>
                  <a:lnTo>
                    <a:pt x="8314918" y="23761"/>
                  </a:lnTo>
                  <a:lnTo>
                    <a:pt x="8310968" y="16560"/>
                  </a:lnTo>
                  <a:lnTo>
                    <a:pt x="8304847" y="10794"/>
                  </a:lnTo>
                  <a:lnTo>
                    <a:pt x="8298002" y="6476"/>
                  </a:lnTo>
                  <a:lnTo>
                    <a:pt x="8290801" y="2514"/>
                  </a:lnTo>
                  <a:lnTo>
                    <a:pt x="8282889" y="355"/>
                  </a:lnTo>
                  <a:lnTo>
                    <a:pt x="38887" y="0"/>
                  </a:lnTo>
                  <a:close/>
                </a:path>
              </a:pathLst>
            </a:custGeom>
            <a:solidFill>
              <a:srgbClr val="E5F3F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58" name="Google Shape;1358;p45"/>
            <p:cNvSpPr/>
            <p:nvPr/>
          </p:nvSpPr>
          <p:spPr>
            <a:xfrm>
              <a:off x="410756" y="3337206"/>
              <a:ext cx="8321675" cy="777875"/>
            </a:xfrm>
            <a:custGeom>
              <a:rect b="b" l="l" r="r" t="t"/>
              <a:pathLst>
                <a:path extrusionOk="0" h="777875" w="8321675">
                  <a:moveTo>
                    <a:pt x="368" y="46799"/>
                  </a:moveTo>
                  <a:lnTo>
                    <a:pt x="368" y="38519"/>
                  </a:lnTo>
                  <a:lnTo>
                    <a:pt x="2527" y="30594"/>
                  </a:lnTo>
                  <a:lnTo>
                    <a:pt x="6489" y="23393"/>
                  </a:lnTo>
                  <a:lnTo>
                    <a:pt x="10807" y="16560"/>
                  </a:lnTo>
                  <a:lnTo>
                    <a:pt x="16560" y="10439"/>
                  </a:lnTo>
                  <a:lnTo>
                    <a:pt x="23761" y="6476"/>
                  </a:lnTo>
                  <a:lnTo>
                    <a:pt x="30606" y="2158"/>
                  </a:lnTo>
                  <a:lnTo>
                    <a:pt x="38887" y="0"/>
                  </a:lnTo>
                  <a:lnTo>
                    <a:pt x="47167" y="0"/>
                  </a:lnTo>
                  <a:lnTo>
                    <a:pt x="8274608" y="355"/>
                  </a:lnTo>
                  <a:lnTo>
                    <a:pt x="8282889" y="355"/>
                  </a:lnTo>
                  <a:lnTo>
                    <a:pt x="8290801" y="2514"/>
                  </a:lnTo>
                  <a:lnTo>
                    <a:pt x="8298002" y="6476"/>
                  </a:lnTo>
                  <a:lnTo>
                    <a:pt x="8304847" y="10794"/>
                  </a:lnTo>
                  <a:lnTo>
                    <a:pt x="8310968" y="16560"/>
                  </a:lnTo>
                  <a:lnTo>
                    <a:pt x="8314918" y="23761"/>
                  </a:lnTo>
                  <a:lnTo>
                    <a:pt x="8319249" y="30594"/>
                  </a:lnTo>
                  <a:lnTo>
                    <a:pt x="8321408" y="38874"/>
                  </a:lnTo>
                  <a:lnTo>
                    <a:pt x="8321408" y="47155"/>
                  </a:lnTo>
                  <a:lnTo>
                    <a:pt x="8321408" y="730796"/>
                  </a:lnTo>
                  <a:lnTo>
                    <a:pt x="8321408" y="739076"/>
                  </a:lnTo>
                  <a:lnTo>
                    <a:pt x="8319249" y="747001"/>
                  </a:lnTo>
                  <a:lnTo>
                    <a:pt x="8315286" y="754189"/>
                  </a:lnTo>
                  <a:lnTo>
                    <a:pt x="8310968" y="761034"/>
                  </a:lnTo>
                  <a:lnTo>
                    <a:pt x="8305203" y="767156"/>
                  </a:lnTo>
                  <a:lnTo>
                    <a:pt x="8298002" y="771118"/>
                  </a:lnTo>
                  <a:lnTo>
                    <a:pt x="8291169" y="775436"/>
                  </a:lnTo>
                  <a:lnTo>
                    <a:pt x="8282889" y="777595"/>
                  </a:lnTo>
                  <a:lnTo>
                    <a:pt x="8274608" y="777595"/>
                  </a:lnTo>
                  <a:lnTo>
                    <a:pt x="46799" y="777595"/>
                  </a:lnTo>
                  <a:lnTo>
                    <a:pt x="38519" y="777595"/>
                  </a:lnTo>
                  <a:lnTo>
                    <a:pt x="30606" y="775436"/>
                  </a:lnTo>
                  <a:lnTo>
                    <a:pt x="23406" y="771474"/>
                  </a:lnTo>
                  <a:lnTo>
                    <a:pt x="16560" y="767156"/>
                  </a:lnTo>
                  <a:lnTo>
                    <a:pt x="10439" y="761390"/>
                  </a:lnTo>
                  <a:lnTo>
                    <a:pt x="6489" y="754189"/>
                  </a:lnTo>
                  <a:lnTo>
                    <a:pt x="2158" y="747356"/>
                  </a:lnTo>
                  <a:lnTo>
                    <a:pt x="0" y="739076"/>
                  </a:lnTo>
                  <a:lnTo>
                    <a:pt x="0" y="730796"/>
                  </a:lnTo>
                  <a:lnTo>
                    <a:pt x="368" y="46799"/>
                  </a:lnTo>
                  <a:close/>
                </a:path>
              </a:pathLst>
            </a:custGeom>
            <a:noFill/>
            <a:ln cap="flat" cmpd="sng" w="12575">
              <a:solidFill>
                <a:srgbClr val="E5F3F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59" name="Google Shape;1359;p45"/>
            <p:cNvSpPr/>
            <p:nvPr/>
          </p:nvSpPr>
          <p:spPr>
            <a:xfrm>
              <a:off x="411124" y="4224606"/>
              <a:ext cx="8321040" cy="530860"/>
            </a:xfrm>
            <a:custGeom>
              <a:rect b="b" l="l" r="r" t="t"/>
              <a:pathLst>
                <a:path extrusionOk="0" h="530860" w="8321040">
                  <a:moveTo>
                    <a:pt x="8294751" y="0"/>
                  </a:moveTo>
                  <a:lnTo>
                    <a:pt x="26276" y="0"/>
                  </a:lnTo>
                  <a:lnTo>
                    <a:pt x="20878" y="1435"/>
                  </a:lnTo>
                  <a:lnTo>
                    <a:pt x="15836" y="3949"/>
                  </a:lnTo>
                  <a:lnTo>
                    <a:pt x="11150" y="6832"/>
                  </a:lnTo>
                  <a:lnTo>
                    <a:pt x="7200" y="10794"/>
                  </a:lnTo>
                  <a:lnTo>
                    <a:pt x="4318" y="15836"/>
                  </a:lnTo>
                  <a:lnTo>
                    <a:pt x="1435" y="20510"/>
                  </a:lnTo>
                  <a:lnTo>
                    <a:pt x="0" y="25920"/>
                  </a:lnTo>
                  <a:lnTo>
                    <a:pt x="0" y="503999"/>
                  </a:lnTo>
                  <a:lnTo>
                    <a:pt x="15836" y="525957"/>
                  </a:lnTo>
                  <a:lnTo>
                    <a:pt x="20510" y="528840"/>
                  </a:lnTo>
                  <a:lnTo>
                    <a:pt x="25920" y="530275"/>
                  </a:lnTo>
                  <a:lnTo>
                    <a:pt x="8294751" y="529920"/>
                  </a:lnTo>
                  <a:lnTo>
                    <a:pt x="8300161" y="528472"/>
                  </a:lnTo>
                  <a:lnTo>
                    <a:pt x="8305190" y="525957"/>
                  </a:lnTo>
                  <a:lnTo>
                    <a:pt x="8309876" y="523074"/>
                  </a:lnTo>
                  <a:lnTo>
                    <a:pt x="8313839" y="519112"/>
                  </a:lnTo>
                  <a:lnTo>
                    <a:pt x="8316709" y="514070"/>
                  </a:lnTo>
                  <a:lnTo>
                    <a:pt x="8319592" y="509396"/>
                  </a:lnTo>
                  <a:lnTo>
                    <a:pt x="8321040" y="503999"/>
                  </a:lnTo>
                  <a:lnTo>
                    <a:pt x="8320675" y="31673"/>
                  </a:lnTo>
                  <a:lnTo>
                    <a:pt x="8320577" y="25920"/>
                  </a:lnTo>
                  <a:lnTo>
                    <a:pt x="8304834" y="4317"/>
                  </a:lnTo>
                  <a:lnTo>
                    <a:pt x="8300161" y="1435"/>
                  </a:lnTo>
                  <a:lnTo>
                    <a:pt x="8294751" y="0"/>
                  </a:lnTo>
                  <a:close/>
                </a:path>
              </a:pathLst>
            </a:custGeom>
            <a:solidFill>
              <a:srgbClr val="FFF6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60" name="Google Shape;1360;p45"/>
            <p:cNvSpPr/>
            <p:nvPr/>
          </p:nvSpPr>
          <p:spPr>
            <a:xfrm>
              <a:off x="411124" y="4224606"/>
              <a:ext cx="8321040" cy="530860"/>
            </a:xfrm>
            <a:custGeom>
              <a:rect b="b" l="l" r="r" t="t"/>
              <a:pathLst>
                <a:path extrusionOk="0" h="530860" w="8321040">
                  <a:moveTo>
                    <a:pt x="0" y="31673"/>
                  </a:moveTo>
                  <a:lnTo>
                    <a:pt x="0" y="25920"/>
                  </a:lnTo>
                  <a:lnTo>
                    <a:pt x="1435" y="20510"/>
                  </a:lnTo>
                  <a:lnTo>
                    <a:pt x="4318" y="15836"/>
                  </a:lnTo>
                  <a:lnTo>
                    <a:pt x="7200" y="10794"/>
                  </a:lnTo>
                  <a:lnTo>
                    <a:pt x="11150" y="6832"/>
                  </a:lnTo>
                  <a:lnTo>
                    <a:pt x="15836" y="3949"/>
                  </a:lnTo>
                  <a:lnTo>
                    <a:pt x="20878" y="1435"/>
                  </a:lnTo>
                  <a:lnTo>
                    <a:pt x="26276" y="0"/>
                  </a:lnTo>
                  <a:lnTo>
                    <a:pt x="31673" y="0"/>
                  </a:lnTo>
                  <a:lnTo>
                    <a:pt x="8288997" y="0"/>
                  </a:lnTo>
                  <a:lnTo>
                    <a:pt x="8294751" y="0"/>
                  </a:lnTo>
                  <a:lnTo>
                    <a:pt x="8300161" y="1435"/>
                  </a:lnTo>
                  <a:lnTo>
                    <a:pt x="8304834" y="4317"/>
                  </a:lnTo>
                  <a:lnTo>
                    <a:pt x="8309876" y="7200"/>
                  </a:lnTo>
                  <a:lnTo>
                    <a:pt x="8313839" y="11150"/>
                  </a:lnTo>
                  <a:lnTo>
                    <a:pt x="8316709" y="15836"/>
                  </a:lnTo>
                  <a:lnTo>
                    <a:pt x="8319236" y="20878"/>
                  </a:lnTo>
                  <a:lnTo>
                    <a:pt x="8320671" y="26276"/>
                  </a:lnTo>
                  <a:lnTo>
                    <a:pt x="8320671" y="31673"/>
                  </a:lnTo>
                  <a:lnTo>
                    <a:pt x="8321040" y="498233"/>
                  </a:lnTo>
                  <a:lnTo>
                    <a:pt x="8321040" y="503999"/>
                  </a:lnTo>
                  <a:lnTo>
                    <a:pt x="8319592" y="509396"/>
                  </a:lnTo>
                  <a:lnTo>
                    <a:pt x="8316709" y="514070"/>
                  </a:lnTo>
                  <a:lnTo>
                    <a:pt x="8313839" y="519112"/>
                  </a:lnTo>
                  <a:lnTo>
                    <a:pt x="8309876" y="523074"/>
                  </a:lnTo>
                  <a:lnTo>
                    <a:pt x="8305190" y="525957"/>
                  </a:lnTo>
                  <a:lnTo>
                    <a:pt x="8300161" y="528472"/>
                  </a:lnTo>
                  <a:lnTo>
                    <a:pt x="8294751" y="529920"/>
                  </a:lnTo>
                  <a:lnTo>
                    <a:pt x="8289353" y="529920"/>
                  </a:lnTo>
                  <a:lnTo>
                    <a:pt x="31673" y="530275"/>
                  </a:lnTo>
                  <a:lnTo>
                    <a:pt x="25920" y="530275"/>
                  </a:lnTo>
                  <a:lnTo>
                    <a:pt x="20510" y="528840"/>
                  </a:lnTo>
                  <a:lnTo>
                    <a:pt x="15836" y="525957"/>
                  </a:lnTo>
                  <a:lnTo>
                    <a:pt x="10795" y="523074"/>
                  </a:lnTo>
                  <a:lnTo>
                    <a:pt x="6832" y="519112"/>
                  </a:lnTo>
                  <a:lnTo>
                    <a:pt x="3949" y="514438"/>
                  </a:lnTo>
                  <a:lnTo>
                    <a:pt x="1435" y="509396"/>
                  </a:lnTo>
                  <a:lnTo>
                    <a:pt x="0" y="503999"/>
                  </a:lnTo>
                  <a:lnTo>
                    <a:pt x="0" y="498602"/>
                  </a:lnTo>
                  <a:lnTo>
                    <a:pt x="0" y="31673"/>
                  </a:lnTo>
                  <a:close/>
                </a:path>
              </a:pathLst>
            </a:custGeom>
            <a:noFill/>
            <a:ln cap="flat" cmpd="sng" w="12575">
              <a:solidFill>
                <a:srgbClr val="F2D17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361" name="Google Shape;1361;p45"/>
          <p:cNvSpPr txBox="1"/>
          <p:nvPr/>
        </p:nvSpPr>
        <p:spPr>
          <a:xfrm>
            <a:off x="517220" y="3530411"/>
            <a:ext cx="7964805" cy="1147445"/>
          </a:xfrm>
          <a:prstGeom prst="rect">
            <a:avLst/>
          </a:prstGeom>
          <a:noFill/>
          <a:ln>
            <a:noFill/>
          </a:ln>
        </p:spPr>
        <p:txBody>
          <a:bodyPr anchorCtr="0" anchor="t" bIns="0" lIns="0" spcFirstLastPara="1" rIns="0" wrap="square" tIns="12700">
            <a:spAutoFit/>
          </a:bodyPr>
          <a:lstStyle/>
          <a:p>
            <a:pPr indent="0" lvl="0" marL="34925" marR="5080" rtl="0" algn="l">
              <a:lnSpc>
                <a:spcPct val="100000"/>
              </a:lnSpc>
              <a:spcBef>
                <a:spcPts val="0"/>
              </a:spcBef>
              <a:spcAft>
                <a:spcPts val="0"/>
              </a:spcAft>
              <a:buNone/>
            </a:pPr>
            <a:r>
              <a:rPr b="1" lang="en-US" sz="1200">
                <a:solidFill>
                  <a:srgbClr val="0E756D"/>
                </a:solidFill>
                <a:latin typeface="Calibri"/>
                <a:ea typeface="Calibri"/>
                <a:cs typeface="Calibri"/>
                <a:sym typeface="Calibri"/>
              </a:rPr>
              <a:t>One crucial difference: </a:t>
            </a:r>
            <a:r>
              <a:rPr lang="en-US" sz="1200">
                <a:solidFill>
                  <a:srgbClr val="1E2836"/>
                </a:solidFill>
                <a:latin typeface="Calibri"/>
                <a:ea typeface="Calibri"/>
                <a:cs typeface="Calibri"/>
                <a:sym typeface="Calibri"/>
              </a:rPr>
              <a:t>a search engine hands you the top hit. Attention returns a soft blend of ALL values, weighted by how well each key matches the query (softmax of Q·K).</a:t>
            </a:r>
            <a:endParaRPr sz="1200">
              <a:latin typeface="Calibri"/>
              <a:ea typeface="Calibri"/>
              <a:cs typeface="Calibri"/>
              <a:sym typeface="Calibri"/>
            </a:endParaRPr>
          </a:p>
          <a:p>
            <a:pPr indent="0" lvl="0" marL="0" rtl="0" algn="l">
              <a:lnSpc>
                <a:spcPct val="100000"/>
              </a:lnSpc>
              <a:spcBef>
                <a:spcPts val="0"/>
              </a:spcBef>
              <a:spcAft>
                <a:spcPts val="0"/>
              </a:spcAft>
              <a:buNone/>
            </a:pPr>
            <a:r>
              <a:t/>
            </a:r>
            <a:endParaRPr sz="1200">
              <a:latin typeface="Calibri"/>
              <a:ea typeface="Calibri"/>
              <a:cs typeface="Calibri"/>
              <a:sym typeface="Calibri"/>
            </a:endParaRPr>
          </a:p>
          <a:p>
            <a:pPr indent="0" lvl="0" marL="0" rtl="0" algn="l">
              <a:lnSpc>
                <a:spcPct val="100000"/>
              </a:lnSpc>
              <a:spcBef>
                <a:spcPts val="260"/>
              </a:spcBef>
              <a:spcAft>
                <a:spcPts val="0"/>
              </a:spcAft>
              <a:buNone/>
            </a:pPr>
            <a:r>
              <a:t/>
            </a:r>
            <a:endParaRPr sz="1200">
              <a:latin typeface="Calibri"/>
              <a:ea typeface="Calibri"/>
              <a:cs typeface="Calibri"/>
              <a:sym typeface="Calibri"/>
            </a:endParaRPr>
          </a:p>
          <a:p>
            <a:pPr indent="0" lvl="0" marL="12700" marR="343535" rtl="0" algn="l">
              <a:lnSpc>
                <a:spcPct val="100000"/>
              </a:lnSpc>
              <a:spcBef>
                <a:spcPts val="0"/>
              </a:spcBef>
              <a:spcAft>
                <a:spcPts val="0"/>
              </a:spcAft>
              <a:buNone/>
            </a:pPr>
            <a:r>
              <a:rPr b="1" lang="en-US" sz="1150">
                <a:solidFill>
                  <a:srgbClr val="913F0D"/>
                </a:solidFill>
                <a:latin typeface="Calibri"/>
                <a:ea typeface="Calibri"/>
                <a:cs typeface="Calibri"/>
                <a:sym typeface="Calibri"/>
              </a:rPr>
              <a:t>Analogy: </a:t>
            </a:r>
            <a:r>
              <a:rPr i="1" lang="en-US" sz="1150">
                <a:solidFill>
                  <a:srgbClr val="1E2836"/>
                </a:solidFill>
                <a:latin typeface="Cambria"/>
                <a:ea typeface="Cambria"/>
                <a:cs typeface="Cambria"/>
                <a:sym typeface="Cambria"/>
              </a:rPr>
              <a:t>Ask five friends for a restaurant tip. You trust the foodie friend 70%, the hostel friend 20%, and the gym friend 5%. That weighted opinion is the attention output.</a:t>
            </a:r>
            <a:endParaRPr sz="1150">
              <a:latin typeface="Cambria"/>
              <a:ea typeface="Cambria"/>
              <a:cs typeface="Cambria"/>
              <a:sym typeface="Cambria"/>
            </a:endParaRPr>
          </a:p>
        </p:txBody>
      </p:sp>
      <p:sp>
        <p:nvSpPr>
          <p:cNvPr id="1362" name="Google Shape;1362;p45"/>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6" name="Shape 1366"/>
        <p:cNvGrpSpPr/>
        <p:nvPr/>
      </p:nvGrpSpPr>
      <p:grpSpPr>
        <a:xfrm>
          <a:off x="0" y="0"/>
          <a:ext cx="0" cy="0"/>
          <a:chOff x="0" y="0"/>
          <a:chExt cx="0" cy="0"/>
        </a:xfrm>
      </p:grpSpPr>
      <p:sp>
        <p:nvSpPr>
          <p:cNvPr descr="$PPTXTitle" id="1367" name="Google Shape;1367;p46"/>
          <p:cNvSpPr txBox="1"/>
          <p:nvPr>
            <p:ph type="title"/>
          </p:nvPr>
        </p:nvSpPr>
        <p:spPr>
          <a:xfrm>
            <a:off x="2432773" y="209780"/>
            <a:ext cx="4974590" cy="4527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sz="2800">
                <a:solidFill>
                  <a:srgbClr val="000000"/>
                </a:solidFill>
                <a:latin typeface="Helvetica Neue"/>
                <a:ea typeface="Helvetica Neue"/>
                <a:cs typeface="Helvetica Neue"/>
                <a:sym typeface="Helvetica Neue"/>
              </a:rPr>
              <a:t>The (Self) Attention Mechanism</a:t>
            </a:r>
            <a:endParaRPr sz="2800">
              <a:latin typeface="Helvetica Neue"/>
              <a:ea typeface="Helvetica Neue"/>
              <a:cs typeface="Helvetica Neue"/>
              <a:sym typeface="Helvetica Neue"/>
            </a:endParaRPr>
          </a:p>
        </p:txBody>
      </p:sp>
      <p:sp>
        <p:nvSpPr>
          <p:cNvPr id="1368" name="Google Shape;1368;p46"/>
          <p:cNvSpPr txBox="1"/>
          <p:nvPr/>
        </p:nvSpPr>
        <p:spPr>
          <a:xfrm>
            <a:off x="756615" y="713780"/>
            <a:ext cx="126364" cy="254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500">
                <a:latin typeface="Calibri"/>
                <a:ea typeface="Calibri"/>
                <a:cs typeface="Calibri"/>
                <a:sym typeface="Calibri"/>
              </a:rPr>
              <a:t>o</a:t>
            </a:r>
            <a:endParaRPr sz="1500">
              <a:latin typeface="Calibri"/>
              <a:ea typeface="Calibri"/>
              <a:cs typeface="Calibri"/>
              <a:sym typeface="Calibri"/>
            </a:endParaRPr>
          </a:p>
        </p:txBody>
      </p:sp>
      <p:sp>
        <p:nvSpPr>
          <p:cNvPr id="1369" name="Google Shape;1369;p46"/>
          <p:cNvSpPr txBox="1"/>
          <p:nvPr/>
        </p:nvSpPr>
        <p:spPr>
          <a:xfrm>
            <a:off x="1074140" y="724943"/>
            <a:ext cx="3703320" cy="254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500">
                <a:solidFill>
                  <a:srgbClr val="70156F"/>
                </a:solidFill>
                <a:latin typeface="Calibri"/>
                <a:ea typeface="Calibri"/>
                <a:cs typeface="Calibri"/>
                <a:sym typeface="Calibri"/>
              </a:rPr>
              <a:t>Attention as a "fuzzy" or approximate hashtable</a:t>
            </a:r>
            <a:endParaRPr sz="1500">
              <a:latin typeface="Calibri"/>
              <a:ea typeface="Calibri"/>
              <a:cs typeface="Calibri"/>
              <a:sym typeface="Calibri"/>
            </a:endParaRPr>
          </a:p>
        </p:txBody>
      </p:sp>
      <p:sp>
        <p:nvSpPr>
          <p:cNvPr id="1370" name="Google Shape;1370;p46"/>
          <p:cNvSpPr txBox="1"/>
          <p:nvPr/>
        </p:nvSpPr>
        <p:spPr>
          <a:xfrm>
            <a:off x="1118425" y="953406"/>
            <a:ext cx="4137660" cy="651510"/>
          </a:xfrm>
          <a:prstGeom prst="rect">
            <a:avLst/>
          </a:prstGeom>
          <a:noFill/>
          <a:ln>
            <a:noFill/>
          </a:ln>
        </p:spPr>
        <p:txBody>
          <a:bodyPr anchorCtr="0" anchor="t" bIns="0" lIns="0" spcFirstLastPara="1" rIns="0" wrap="square" tIns="40000">
            <a:spAutoFit/>
          </a:bodyPr>
          <a:lstStyle/>
          <a:p>
            <a:pPr indent="-297815" lvl="0" marL="310515" rtl="0" algn="l">
              <a:lnSpc>
                <a:spcPct val="100000"/>
              </a:lnSpc>
              <a:spcBef>
                <a:spcPts val="0"/>
              </a:spcBef>
              <a:spcAft>
                <a:spcPts val="0"/>
              </a:spcAft>
              <a:buSzPts val="1200"/>
              <a:buFont typeface="Calibri"/>
              <a:buChar char="o"/>
            </a:pPr>
            <a:r>
              <a:rPr lang="en-US" sz="1200">
                <a:latin typeface="Calibri"/>
                <a:ea typeface="Calibri"/>
                <a:cs typeface="Calibri"/>
                <a:sym typeface="Calibri"/>
              </a:rPr>
              <a:t>To look up a value, we compare a query against keys in a table</a:t>
            </a:r>
            <a:endParaRPr sz="1200">
              <a:latin typeface="Calibri"/>
              <a:ea typeface="Calibri"/>
              <a:cs typeface="Calibri"/>
              <a:sym typeface="Calibri"/>
            </a:endParaRPr>
          </a:p>
          <a:p>
            <a:pPr indent="-297815" lvl="0" marL="310515" rtl="0" algn="l">
              <a:lnSpc>
                <a:spcPct val="100000"/>
              </a:lnSpc>
              <a:spcBef>
                <a:spcPts val="215"/>
              </a:spcBef>
              <a:spcAft>
                <a:spcPts val="0"/>
              </a:spcAft>
              <a:buSzPts val="1200"/>
              <a:buFont typeface="Calibri"/>
              <a:buChar char="o"/>
            </a:pPr>
            <a:r>
              <a:rPr lang="en-US" sz="1200">
                <a:latin typeface="Calibri"/>
                <a:ea typeface="Calibri"/>
                <a:cs typeface="Calibri"/>
                <a:sym typeface="Calibri"/>
              </a:rPr>
              <a:t>In a hashtable (shown on the bottom left):</a:t>
            </a:r>
            <a:endParaRPr sz="1200">
              <a:latin typeface="Calibri"/>
              <a:ea typeface="Calibri"/>
              <a:cs typeface="Calibri"/>
              <a:sym typeface="Calibri"/>
            </a:endParaRPr>
          </a:p>
          <a:p>
            <a:pPr indent="0" lvl="0" marL="374650" rtl="0" algn="l">
              <a:lnSpc>
                <a:spcPct val="100000"/>
              </a:lnSpc>
              <a:spcBef>
                <a:spcPts val="295"/>
              </a:spcBef>
              <a:spcAft>
                <a:spcPts val="0"/>
              </a:spcAft>
              <a:buNone/>
            </a:pPr>
            <a:r>
              <a:rPr baseline="30000" lang="en-US" sz="1650">
                <a:latin typeface="Calibri"/>
                <a:ea typeface="Calibri"/>
                <a:cs typeface="Calibri"/>
                <a:sym typeface="Calibri"/>
              </a:rPr>
              <a:t>o	</a:t>
            </a:r>
            <a:r>
              <a:rPr lang="en-US" sz="1100">
                <a:latin typeface="Calibri"/>
                <a:ea typeface="Calibri"/>
                <a:cs typeface="Calibri"/>
                <a:sym typeface="Calibri"/>
              </a:rPr>
              <a:t>Each query (hash) maps to exactly one key-value pair</a:t>
            </a:r>
            <a:endParaRPr sz="1100">
              <a:latin typeface="Calibri"/>
              <a:ea typeface="Calibri"/>
              <a:cs typeface="Calibri"/>
              <a:sym typeface="Calibri"/>
            </a:endParaRPr>
          </a:p>
        </p:txBody>
      </p:sp>
      <p:sp>
        <p:nvSpPr>
          <p:cNvPr id="1371" name="Google Shape;1371;p46"/>
          <p:cNvSpPr txBox="1"/>
          <p:nvPr/>
        </p:nvSpPr>
        <p:spPr>
          <a:xfrm>
            <a:off x="1118425" y="1597217"/>
            <a:ext cx="10604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Calibri"/>
                <a:ea typeface="Calibri"/>
                <a:cs typeface="Calibri"/>
                <a:sym typeface="Calibri"/>
              </a:rPr>
              <a:t>o</a:t>
            </a:r>
            <a:endParaRPr sz="1200">
              <a:latin typeface="Calibri"/>
              <a:ea typeface="Calibri"/>
              <a:cs typeface="Calibri"/>
              <a:sym typeface="Calibri"/>
            </a:endParaRPr>
          </a:p>
        </p:txBody>
      </p:sp>
      <p:sp>
        <p:nvSpPr>
          <p:cNvPr id="1372" name="Google Shape;1372;p46"/>
          <p:cNvSpPr txBox="1"/>
          <p:nvPr/>
        </p:nvSpPr>
        <p:spPr>
          <a:xfrm>
            <a:off x="1416862" y="1606577"/>
            <a:ext cx="287845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Calibri"/>
                <a:ea typeface="Calibri"/>
                <a:cs typeface="Calibri"/>
                <a:sym typeface="Calibri"/>
              </a:rPr>
              <a:t>In (self-)attention (shown on the bottom right)</a:t>
            </a:r>
            <a:endParaRPr sz="1200">
              <a:latin typeface="Calibri"/>
              <a:ea typeface="Calibri"/>
              <a:cs typeface="Calibri"/>
              <a:sym typeface="Calibri"/>
            </a:endParaRPr>
          </a:p>
        </p:txBody>
      </p:sp>
      <p:sp>
        <p:nvSpPr>
          <p:cNvPr id="1373" name="Google Shape;1373;p46"/>
          <p:cNvSpPr txBox="1"/>
          <p:nvPr/>
        </p:nvSpPr>
        <p:spPr>
          <a:xfrm>
            <a:off x="1480578" y="1789325"/>
            <a:ext cx="3756660" cy="436245"/>
          </a:xfrm>
          <a:prstGeom prst="rect">
            <a:avLst/>
          </a:prstGeom>
          <a:noFill/>
          <a:ln>
            <a:noFill/>
          </a:ln>
        </p:spPr>
        <p:txBody>
          <a:bodyPr anchorCtr="0" anchor="t" bIns="0" lIns="0" spcFirstLastPara="1" rIns="0" wrap="square" tIns="50150">
            <a:spAutoFit/>
          </a:bodyPr>
          <a:lstStyle/>
          <a:p>
            <a:pPr indent="-278765" lvl="0" marL="291465" rtl="0" algn="l">
              <a:lnSpc>
                <a:spcPct val="100000"/>
              </a:lnSpc>
              <a:spcBef>
                <a:spcPts val="0"/>
              </a:spcBef>
              <a:spcAft>
                <a:spcPts val="0"/>
              </a:spcAft>
              <a:buSzPts val="1100"/>
              <a:buFont typeface="Calibri"/>
              <a:buChar char="o"/>
            </a:pPr>
            <a:r>
              <a:rPr lang="en-US" sz="1100">
                <a:latin typeface="Calibri"/>
                <a:ea typeface="Calibri"/>
                <a:cs typeface="Calibri"/>
                <a:sym typeface="Calibri"/>
              </a:rPr>
              <a:t>Each query matches each key to varying degrees.</a:t>
            </a:r>
            <a:endParaRPr sz="1100">
              <a:latin typeface="Calibri"/>
              <a:ea typeface="Calibri"/>
              <a:cs typeface="Calibri"/>
              <a:sym typeface="Calibri"/>
            </a:endParaRPr>
          </a:p>
          <a:p>
            <a:pPr indent="-278765" lvl="0" marL="291465" rtl="0" algn="l">
              <a:lnSpc>
                <a:spcPct val="100000"/>
              </a:lnSpc>
              <a:spcBef>
                <a:spcPts val="295"/>
              </a:spcBef>
              <a:spcAft>
                <a:spcPts val="0"/>
              </a:spcAft>
              <a:buSzPts val="1100"/>
              <a:buFont typeface="Calibri"/>
              <a:buChar char="o"/>
            </a:pPr>
            <a:r>
              <a:rPr lang="en-US" sz="1100">
                <a:latin typeface="Calibri"/>
                <a:ea typeface="Calibri"/>
                <a:cs typeface="Calibri"/>
                <a:sym typeface="Calibri"/>
              </a:rPr>
              <a:t>We return a sum of values weighted by the query-key match.</a:t>
            </a:r>
            <a:endParaRPr sz="1100">
              <a:latin typeface="Calibri"/>
              <a:ea typeface="Calibri"/>
              <a:cs typeface="Calibri"/>
              <a:sym typeface="Calibri"/>
            </a:endParaRPr>
          </a:p>
        </p:txBody>
      </p:sp>
      <p:grpSp>
        <p:nvGrpSpPr>
          <p:cNvPr id="1374" name="Google Shape;1374;p46"/>
          <p:cNvGrpSpPr/>
          <p:nvPr/>
        </p:nvGrpSpPr>
        <p:grpSpPr>
          <a:xfrm>
            <a:off x="1497241" y="14"/>
            <a:ext cx="7646390" cy="5055107"/>
            <a:chOff x="1497241" y="14"/>
            <a:chExt cx="7646390" cy="5055107"/>
          </a:xfrm>
        </p:grpSpPr>
        <p:pic>
          <p:nvPicPr>
            <p:cNvPr id="1375" name="Google Shape;1375;p46"/>
            <p:cNvPicPr preferRelativeResize="0"/>
            <p:nvPr/>
          </p:nvPicPr>
          <p:blipFill rotWithShape="1">
            <a:blip r:embed="rId3">
              <a:alphaModFix/>
            </a:blip>
            <a:srcRect b="0" l="0" r="0" t="0"/>
            <a:stretch/>
          </p:blipFill>
          <p:spPr>
            <a:xfrm>
              <a:off x="1497241" y="3425407"/>
              <a:ext cx="1184033" cy="1628279"/>
            </a:xfrm>
            <a:prstGeom prst="rect">
              <a:avLst/>
            </a:prstGeom>
            <a:noFill/>
            <a:ln>
              <a:noFill/>
            </a:ln>
          </p:spPr>
        </p:pic>
        <p:pic>
          <p:nvPicPr>
            <p:cNvPr id="1376" name="Google Shape;1376;p46"/>
            <p:cNvPicPr preferRelativeResize="0"/>
            <p:nvPr/>
          </p:nvPicPr>
          <p:blipFill rotWithShape="1">
            <a:blip r:embed="rId4">
              <a:alphaModFix/>
            </a:blip>
            <a:srcRect b="0" l="0" r="0" t="0"/>
            <a:stretch/>
          </p:blipFill>
          <p:spPr>
            <a:xfrm>
              <a:off x="3087725" y="3424683"/>
              <a:ext cx="1184033" cy="1630438"/>
            </a:xfrm>
            <a:prstGeom prst="rect">
              <a:avLst/>
            </a:prstGeom>
            <a:noFill/>
            <a:ln>
              <a:noFill/>
            </a:ln>
          </p:spPr>
        </p:pic>
        <p:pic>
          <p:nvPicPr>
            <p:cNvPr id="1377" name="Google Shape;1377;p46"/>
            <p:cNvPicPr preferRelativeResize="0"/>
            <p:nvPr/>
          </p:nvPicPr>
          <p:blipFill rotWithShape="1">
            <a:blip r:embed="rId5">
              <a:alphaModFix/>
            </a:blip>
            <a:srcRect b="0" l="0" r="0" t="0"/>
            <a:stretch/>
          </p:blipFill>
          <p:spPr>
            <a:xfrm>
              <a:off x="5540044" y="1611009"/>
              <a:ext cx="2962440" cy="2553474"/>
            </a:xfrm>
            <a:prstGeom prst="rect">
              <a:avLst/>
            </a:prstGeom>
            <a:noFill/>
            <a:ln>
              <a:noFill/>
            </a:ln>
          </p:spPr>
        </p:pic>
        <p:pic>
          <p:nvPicPr>
            <p:cNvPr id="1378" name="Google Shape;1378;p46"/>
            <p:cNvPicPr preferRelativeResize="0"/>
            <p:nvPr/>
          </p:nvPicPr>
          <p:blipFill rotWithShape="1">
            <a:blip r:embed="rId6">
              <a:alphaModFix/>
            </a:blip>
            <a:srcRect b="0" l="0" r="0" t="0"/>
            <a:stretch/>
          </p:blipFill>
          <p:spPr>
            <a:xfrm>
              <a:off x="8369274" y="14"/>
              <a:ext cx="774357" cy="866508"/>
            </a:xfrm>
            <a:prstGeom prst="rect">
              <a:avLst/>
            </a:prstGeom>
            <a:noFill/>
            <a:ln>
              <a:noFill/>
            </a:ln>
          </p:spPr>
        </p:pic>
      </p:grpSp>
      <p:sp>
        <p:nvSpPr>
          <p:cNvPr id="1379" name="Google Shape;1379;p46"/>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3" name="Shape 1383"/>
        <p:cNvGrpSpPr/>
        <p:nvPr/>
      </p:nvGrpSpPr>
      <p:grpSpPr>
        <a:xfrm>
          <a:off x="0" y="0"/>
          <a:ext cx="0" cy="0"/>
          <a:chOff x="0" y="0"/>
          <a:chExt cx="0" cy="0"/>
        </a:xfrm>
      </p:grpSpPr>
      <p:grpSp>
        <p:nvGrpSpPr>
          <p:cNvPr id="1384" name="Google Shape;1384;p47"/>
          <p:cNvGrpSpPr/>
          <p:nvPr/>
        </p:nvGrpSpPr>
        <p:grpSpPr>
          <a:xfrm>
            <a:off x="333717" y="14"/>
            <a:ext cx="8809914" cy="4817872"/>
            <a:chOff x="333717" y="14"/>
            <a:chExt cx="8809914" cy="4817872"/>
          </a:xfrm>
        </p:grpSpPr>
        <p:pic>
          <p:nvPicPr>
            <p:cNvPr id="1385" name="Google Shape;1385;p47"/>
            <p:cNvPicPr preferRelativeResize="0"/>
            <p:nvPr/>
          </p:nvPicPr>
          <p:blipFill rotWithShape="1">
            <a:blip r:embed="rId3">
              <a:alphaModFix/>
            </a:blip>
            <a:srcRect b="0" l="0" r="0" t="0"/>
            <a:stretch/>
          </p:blipFill>
          <p:spPr>
            <a:xfrm>
              <a:off x="333717" y="819012"/>
              <a:ext cx="8697950" cy="3998874"/>
            </a:xfrm>
            <a:prstGeom prst="rect">
              <a:avLst/>
            </a:prstGeom>
            <a:noFill/>
            <a:ln>
              <a:noFill/>
            </a:ln>
          </p:spPr>
        </p:pic>
        <p:pic>
          <p:nvPicPr>
            <p:cNvPr id="1386" name="Google Shape;1386;p47"/>
            <p:cNvPicPr preferRelativeResize="0"/>
            <p:nvPr/>
          </p:nvPicPr>
          <p:blipFill rotWithShape="1">
            <a:blip r:embed="rId4">
              <a:alphaModFix/>
            </a:blip>
            <a:srcRect b="0" l="0" r="0" t="0"/>
            <a:stretch/>
          </p:blipFill>
          <p:spPr>
            <a:xfrm>
              <a:off x="8369274" y="14"/>
              <a:ext cx="774357" cy="866508"/>
            </a:xfrm>
            <a:prstGeom prst="rect">
              <a:avLst/>
            </a:prstGeom>
            <a:noFill/>
            <a:ln>
              <a:noFill/>
            </a:ln>
          </p:spPr>
        </p:pic>
      </p:grpSp>
      <p:sp>
        <p:nvSpPr>
          <p:cNvPr descr="$PPTXTitle" id="1387" name="Google Shape;1387;p47"/>
          <p:cNvSpPr txBox="1"/>
          <p:nvPr>
            <p:ph type="title"/>
          </p:nvPr>
        </p:nvSpPr>
        <p:spPr>
          <a:xfrm>
            <a:off x="66497" y="120499"/>
            <a:ext cx="8266430" cy="4527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sz="2800">
                <a:solidFill>
                  <a:srgbClr val="000000"/>
                </a:solidFill>
                <a:latin typeface="Helvetica Neue"/>
                <a:ea typeface="Helvetica Neue"/>
                <a:cs typeface="Helvetica Neue"/>
                <a:sym typeface="Helvetica Neue"/>
              </a:rPr>
              <a:t>Recipe for Self-Attention in the Transformer Encoder</a:t>
            </a:r>
            <a:endParaRPr sz="2800">
              <a:latin typeface="Helvetica Neue"/>
              <a:ea typeface="Helvetica Neue"/>
              <a:cs typeface="Helvetica Neue"/>
              <a:sym typeface="Helvetica Neue"/>
            </a:endParaRPr>
          </a:p>
        </p:txBody>
      </p:sp>
      <p:sp>
        <p:nvSpPr>
          <p:cNvPr id="1388" name="Google Shape;1388;p47"/>
          <p:cNvSpPr txBox="1"/>
          <p:nvPr/>
        </p:nvSpPr>
        <p:spPr>
          <a:xfrm>
            <a:off x="879182" y="4558527"/>
            <a:ext cx="928369" cy="299720"/>
          </a:xfrm>
          <a:prstGeom prst="rect">
            <a:avLst/>
          </a:prstGeom>
          <a:noFill/>
          <a:ln>
            <a:noFill/>
          </a:ln>
        </p:spPr>
        <p:txBody>
          <a:bodyPr anchorCtr="0" anchor="t" bIns="0" lIns="0" spcFirstLastPara="1" rIns="0" wrap="square" tIns="12700">
            <a:spAutoFit/>
          </a:bodyPr>
          <a:lstStyle/>
          <a:p>
            <a:pPr indent="0" lvl="0" marL="38100" rtl="0" algn="l">
              <a:lnSpc>
                <a:spcPct val="100000"/>
              </a:lnSpc>
              <a:spcBef>
                <a:spcPts val="0"/>
              </a:spcBef>
              <a:spcAft>
                <a:spcPts val="0"/>
              </a:spcAft>
              <a:buNone/>
            </a:pPr>
            <a:r>
              <a:rPr baseline="30000" i="1" lang="en-US" sz="2700">
                <a:solidFill>
                  <a:srgbClr val="585858"/>
                </a:solidFill>
                <a:latin typeface="Times New Roman"/>
                <a:ea typeface="Times New Roman"/>
                <a:cs typeface="Times New Roman"/>
                <a:sym typeface="Times New Roman"/>
              </a:rPr>
              <a:t>x</a:t>
            </a:r>
            <a:r>
              <a:rPr i="1" lang="en-US" sz="1050">
                <a:solidFill>
                  <a:srgbClr val="585858"/>
                </a:solidFill>
                <a:latin typeface="Times New Roman"/>
                <a:ea typeface="Times New Roman"/>
                <a:cs typeface="Times New Roman"/>
                <a:sym typeface="Times New Roman"/>
              </a:rPr>
              <a:t>(i +1) </a:t>
            </a:r>
            <a:r>
              <a:rPr baseline="30000" i="1" lang="en-US" sz="2700">
                <a:solidFill>
                  <a:srgbClr val="585858"/>
                </a:solidFill>
                <a:latin typeface="Times New Roman"/>
                <a:ea typeface="Times New Roman"/>
                <a:cs typeface="Times New Roman"/>
                <a:sym typeface="Times New Roman"/>
              </a:rPr>
              <a:t>= o</a:t>
            </a:r>
            <a:r>
              <a:rPr i="1" lang="en-US" sz="1050">
                <a:solidFill>
                  <a:srgbClr val="585858"/>
                </a:solidFill>
                <a:latin typeface="Times New Roman"/>
                <a:ea typeface="Times New Roman"/>
                <a:cs typeface="Times New Roman"/>
                <a:sym typeface="Times New Roman"/>
              </a:rPr>
              <a:t>i</a:t>
            </a:r>
            <a:endParaRPr sz="1050">
              <a:latin typeface="Times New Roman"/>
              <a:ea typeface="Times New Roman"/>
              <a:cs typeface="Times New Roman"/>
              <a:sym typeface="Times New Roman"/>
            </a:endParaRPr>
          </a:p>
        </p:txBody>
      </p:sp>
      <p:sp>
        <p:nvSpPr>
          <p:cNvPr id="1389" name="Google Shape;1389;p47"/>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grpSp>
        <p:nvGrpSpPr>
          <p:cNvPr id="1394" name="Google Shape;1394;p48"/>
          <p:cNvGrpSpPr/>
          <p:nvPr/>
        </p:nvGrpSpPr>
        <p:grpSpPr>
          <a:xfrm>
            <a:off x="281165" y="14"/>
            <a:ext cx="8862466" cy="4790871"/>
            <a:chOff x="281165" y="14"/>
            <a:chExt cx="8862466" cy="4790871"/>
          </a:xfrm>
        </p:grpSpPr>
        <p:pic>
          <p:nvPicPr>
            <p:cNvPr id="1395" name="Google Shape;1395;p48"/>
            <p:cNvPicPr preferRelativeResize="0"/>
            <p:nvPr/>
          </p:nvPicPr>
          <p:blipFill rotWithShape="1">
            <a:blip r:embed="rId3">
              <a:alphaModFix/>
            </a:blip>
            <a:srcRect b="0" l="0" r="0" t="0"/>
            <a:stretch/>
          </p:blipFill>
          <p:spPr>
            <a:xfrm>
              <a:off x="281165" y="689408"/>
              <a:ext cx="8087741" cy="4101477"/>
            </a:xfrm>
            <a:prstGeom prst="rect">
              <a:avLst/>
            </a:prstGeom>
            <a:noFill/>
            <a:ln>
              <a:noFill/>
            </a:ln>
          </p:spPr>
        </p:pic>
        <p:pic>
          <p:nvPicPr>
            <p:cNvPr id="1396" name="Google Shape;1396;p48"/>
            <p:cNvPicPr preferRelativeResize="0"/>
            <p:nvPr/>
          </p:nvPicPr>
          <p:blipFill rotWithShape="1">
            <a:blip r:embed="rId4">
              <a:alphaModFix/>
            </a:blip>
            <a:srcRect b="0" l="0" r="0" t="0"/>
            <a:stretch/>
          </p:blipFill>
          <p:spPr>
            <a:xfrm>
              <a:off x="8369274" y="14"/>
              <a:ext cx="774357" cy="866508"/>
            </a:xfrm>
            <a:prstGeom prst="rect">
              <a:avLst/>
            </a:prstGeom>
            <a:noFill/>
            <a:ln>
              <a:noFill/>
            </a:ln>
          </p:spPr>
        </p:pic>
      </p:grpSp>
      <p:sp>
        <p:nvSpPr>
          <p:cNvPr descr="$PPTXTitle" id="1397" name="Google Shape;1397;p48"/>
          <p:cNvSpPr txBox="1"/>
          <p:nvPr>
            <p:ph type="title"/>
          </p:nvPr>
        </p:nvSpPr>
        <p:spPr>
          <a:xfrm>
            <a:off x="152184" y="63260"/>
            <a:ext cx="6826250" cy="87947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0" lang="en-US" sz="2800">
                <a:solidFill>
                  <a:srgbClr val="000000"/>
                </a:solidFill>
                <a:latin typeface="Helvetica Neue"/>
                <a:ea typeface="Helvetica Neue"/>
                <a:cs typeface="Helvetica Neue"/>
                <a:sym typeface="Helvetica Neue"/>
              </a:rPr>
              <a:t>Recipe for (Vectorized) Self-Attention in the Transformer Encoder</a:t>
            </a:r>
            <a:endParaRPr sz="2800">
              <a:latin typeface="Helvetica Neue"/>
              <a:ea typeface="Helvetica Neue"/>
              <a:cs typeface="Helvetica Neue"/>
              <a:sym typeface="Helvetica Neue"/>
            </a:endParaRPr>
          </a:p>
        </p:txBody>
      </p:sp>
      <p:sp>
        <p:nvSpPr>
          <p:cNvPr id="1398" name="Google Shape;1398;p48"/>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descr="$PPTXTitle" id="1403" name="Google Shape;1403;p49"/>
          <p:cNvSpPr txBox="1"/>
          <p:nvPr>
            <p:ph type="title"/>
          </p:nvPr>
        </p:nvSpPr>
        <p:spPr>
          <a:xfrm>
            <a:off x="1707019" y="333262"/>
            <a:ext cx="4750435" cy="4527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800">
                <a:solidFill>
                  <a:srgbClr val="191E25"/>
                </a:solidFill>
              </a:rPr>
              <a:t>Tiny Self-Attention: Step by Step</a:t>
            </a:r>
            <a:endParaRPr sz="2800"/>
          </a:p>
        </p:txBody>
      </p:sp>
      <p:pic>
        <p:nvPicPr>
          <p:cNvPr id="1404" name="Google Shape;1404;p49"/>
          <p:cNvPicPr preferRelativeResize="0"/>
          <p:nvPr/>
        </p:nvPicPr>
        <p:blipFill rotWithShape="1">
          <a:blip r:embed="rId3">
            <a:alphaModFix/>
          </a:blip>
          <a:srcRect b="0" l="0" r="0" t="0"/>
          <a:stretch/>
        </p:blipFill>
        <p:spPr>
          <a:xfrm>
            <a:off x="8369274" y="14"/>
            <a:ext cx="774357" cy="866508"/>
          </a:xfrm>
          <a:prstGeom prst="rect">
            <a:avLst/>
          </a:prstGeom>
          <a:noFill/>
          <a:ln>
            <a:noFill/>
          </a:ln>
        </p:spPr>
      </p:pic>
      <p:sp>
        <p:nvSpPr>
          <p:cNvPr id="1405" name="Google Shape;1405;p49"/>
          <p:cNvSpPr txBox="1"/>
          <p:nvPr/>
        </p:nvSpPr>
        <p:spPr>
          <a:xfrm>
            <a:off x="295465" y="877940"/>
            <a:ext cx="346329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Calibri"/>
                <a:ea typeface="Calibri"/>
                <a:cs typeface="Calibri"/>
                <a:sym typeface="Calibri"/>
              </a:rPr>
              <a:t>2 tokens: x₁ = "animal", x₂ = "it" · embedding dim d = 2</a:t>
            </a:r>
            <a:endParaRPr sz="1200">
              <a:latin typeface="Calibri"/>
              <a:ea typeface="Calibri"/>
              <a:cs typeface="Calibri"/>
              <a:sym typeface="Calibri"/>
            </a:endParaRPr>
          </a:p>
        </p:txBody>
      </p:sp>
      <p:sp>
        <p:nvSpPr>
          <p:cNvPr id="1406" name="Google Shape;1406;p49"/>
          <p:cNvSpPr txBox="1"/>
          <p:nvPr/>
        </p:nvSpPr>
        <p:spPr>
          <a:xfrm>
            <a:off x="2901505" y="1072351"/>
            <a:ext cx="837565"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00">
                <a:latin typeface="Calibri"/>
                <a:ea typeface="Calibri"/>
                <a:cs typeface="Calibri"/>
                <a:sym typeface="Calibri"/>
              </a:rPr>
              <a:t>WV (weights)</a:t>
            </a:r>
            <a:endParaRPr sz="1100">
              <a:latin typeface="Calibri"/>
              <a:ea typeface="Calibri"/>
              <a:cs typeface="Calibri"/>
              <a:sym typeface="Calibri"/>
            </a:endParaRPr>
          </a:p>
        </p:txBody>
      </p:sp>
      <p:sp>
        <p:nvSpPr>
          <p:cNvPr id="1407" name="Google Shape;1407;p49"/>
          <p:cNvSpPr txBox="1"/>
          <p:nvPr/>
        </p:nvSpPr>
        <p:spPr>
          <a:xfrm>
            <a:off x="295465" y="1166306"/>
            <a:ext cx="476250"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00">
                <a:latin typeface="Calibri"/>
                <a:ea typeface="Calibri"/>
                <a:cs typeface="Calibri"/>
                <a:sym typeface="Calibri"/>
              </a:rPr>
              <a:t>Input X</a:t>
            </a:r>
            <a:endParaRPr sz="1100">
              <a:latin typeface="Calibri"/>
              <a:ea typeface="Calibri"/>
              <a:cs typeface="Calibri"/>
              <a:sym typeface="Calibri"/>
            </a:endParaRPr>
          </a:p>
        </p:txBody>
      </p:sp>
      <p:grpSp>
        <p:nvGrpSpPr>
          <p:cNvPr id="1408" name="Google Shape;1408;p49"/>
          <p:cNvGrpSpPr/>
          <p:nvPr/>
        </p:nvGrpSpPr>
        <p:grpSpPr>
          <a:xfrm>
            <a:off x="114122" y="1312902"/>
            <a:ext cx="2717279" cy="1029614"/>
            <a:chOff x="114122" y="1312902"/>
            <a:chExt cx="2717279" cy="1029614"/>
          </a:xfrm>
        </p:grpSpPr>
        <p:pic>
          <p:nvPicPr>
            <p:cNvPr id="1409" name="Google Shape;1409;p49"/>
            <p:cNvPicPr preferRelativeResize="0"/>
            <p:nvPr/>
          </p:nvPicPr>
          <p:blipFill rotWithShape="1">
            <a:blip r:embed="rId4">
              <a:alphaModFix/>
            </a:blip>
            <a:srcRect b="0" l="0" r="0" t="0"/>
            <a:stretch/>
          </p:blipFill>
          <p:spPr>
            <a:xfrm>
              <a:off x="114122" y="1312902"/>
              <a:ext cx="2717279" cy="1029614"/>
            </a:xfrm>
            <a:prstGeom prst="rect">
              <a:avLst/>
            </a:prstGeom>
            <a:noFill/>
            <a:ln>
              <a:noFill/>
            </a:ln>
          </p:spPr>
        </p:pic>
        <p:sp>
          <p:nvSpPr>
            <p:cNvPr id="1410" name="Google Shape;1410;p49"/>
            <p:cNvSpPr/>
            <p:nvPr/>
          </p:nvSpPr>
          <p:spPr>
            <a:xfrm>
              <a:off x="308165" y="1435686"/>
              <a:ext cx="2400300" cy="713105"/>
            </a:xfrm>
            <a:custGeom>
              <a:rect b="b" l="l" r="r" t="t"/>
              <a:pathLst>
                <a:path extrusionOk="0" h="713105" w="2400300">
                  <a:moveTo>
                    <a:pt x="1200238" y="712800"/>
                  </a:moveTo>
                  <a:lnTo>
                    <a:pt x="0" y="712800"/>
                  </a:lnTo>
                  <a:lnTo>
                    <a:pt x="0" y="0"/>
                  </a:lnTo>
                  <a:lnTo>
                    <a:pt x="2400109" y="0"/>
                  </a:lnTo>
                  <a:lnTo>
                    <a:pt x="2400109" y="712800"/>
                  </a:lnTo>
                  <a:lnTo>
                    <a:pt x="1200238" y="712800"/>
                  </a:lnTo>
                  <a:close/>
                </a:path>
              </a:pathLst>
            </a:custGeom>
            <a:noFill/>
            <a:ln cap="flat" cmpd="sng" w="12575">
              <a:solidFill>
                <a:srgbClr val="0076A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411" name="Google Shape;1411;p49"/>
          <p:cNvSpPr txBox="1"/>
          <p:nvPr/>
        </p:nvSpPr>
        <p:spPr>
          <a:xfrm>
            <a:off x="993597" y="1412825"/>
            <a:ext cx="1040765" cy="657225"/>
          </a:xfrm>
          <a:prstGeom prst="rect">
            <a:avLst/>
          </a:prstGeom>
          <a:noFill/>
          <a:ln>
            <a:noFill/>
          </a:ln>
        </p:spPr>
        <p:txBody>
          <a:bodyPr anchorCtr="0" anchor="t" bIns="0" lIns="0" spcFirstLastPara="1" rIns="0" wrap="square" tIns="99675">
            <a:spAutoFit/>
          </a:bodyPr>
          <a:lstStyle/>
          <a:p>
            <a:pPr indent="0" lvl="0" marL="0" rtl="0" algn="l">
              <a:lnSpc>
                <a:spcPct val="100000"/>
              </a:lnSpc>
              <a:spcBef>
                <a:spcPts val="0"/>
              </a:spcBef>
              <a:spcAft>
                <a:spcPts val="0"/>
              </a:spcAft>
              <a:buNone/>
            </a:pPr>
            <a:r>
              <a:rPr lang="en-US" sz="1500">
                <a:latin typeface="Courier New"/>
                <a:ea typeface="Courier New"/>
                <a:cs typeface="Courier New"/>
                <a:sym typeface="Courier New"/>
              </a:rPr>
              <a:t>[ 1	0 ]</a:t>
            </a:r>
            <a:endParaRPr sz="1500">
              <a:latin typeface="Courier New"/>
              <a:ea typeface="Courier New"/>
              <a:cs typeface="Courier New"/>
              <a:sym typeface="Courier New"/>
            </a:endParaRPr>
          </a:p>
          <a:p>
            <a:pPr indent="0" lvl="0" marL="0" rtl="0" algn="l">
              <a:lnSpc>
                <a:spcPct val="100000"/>
              </a:lnSpc>
              <a:spcBef>
                <a:spcPts val="685"/>
              </a:spcBef>
              <a:spcAft>
                <a:spcPts val="0"/>
              </a:spcAft>
              <a:buNone/>
            </a:pPr>
            <a:r>
              <a:rPr lang="en-US" sz="1500">
                <a:latin typeface="Courier New"/>
                <a:ea typeface="Courier New"/>
                <a:cs typeface="Courier New"/>
                <a:sym typeface="Courier New"/>
              </a:rPr>
              <a:t>[ 0	1 ]</a:t>
            </a:r>
            <a:endParaRPr sz="1500">
              <a:latin typeface="Courier New"/>
              <a:ea typeface="Courier New"/>
              <a:cs typeface="Courier New"/>
              <a:sym typeface="Courier New"/>
            </a:endParaRPr>
          </a:p>
        </p:txBody>
      </p:sp>
      <p:grpSp>
        <p:nvGrpSpPr>
          <p:cNvPr id="1412" name="Google Shape;1412;p49"/>
          <p:cNvGrpSpPr/>
          <p:nvPr/>
        </p:nvGrpSpPr>
        <p:grpSpPr>
          <a:xfrm>
            <a:off x="2720162" y="1166382"/>
            <a:ext cx="2717279" cy="1029614"/>
            <a:chOff x="2720162" y="1166382"/>
            <a:chExt cx="2717279" cy="1029614"/>
          </a:xfrm>
        </p:grpSpPr>
        <p:pic>
          <p:nvPicPr>
            <p:cNvPr id="1413" name="Google Shape;1413;p49"/>
            <p:cNvPicPr preferRelativeResize="0"/>
            <p:nvPr/>
          </p:nvPicPr>
          <p:blipFill rotWithShape="1">
            <a:blip r:embed="rId4">
              <a:alphaModFix/>
            </a:blip>
            <a:srcRect b="0" l="0" r="0" t="0"/>
            <a:stretch/>
          </p:blipFill>
          <p:spPr>
            <a:xfrm>
              <a:off x="2720162" y="1166382"/>
              <a:ext cx="2717279" cy="1029614"/>
            </a:xfrm>
            <a:prstGeom prst="rect">
              <a:avLst/>
            </a:prstGeom>
            <a:noFill/>
            <a:ln>
              <a:noFill/>
            </a:ln>
          </p:spPr>
        </p:pic>
        <p:sp>
          <p:nvSpPr>
            <p:cNvPr id="1414" name="Google Shape;1414;p49"/>
            <p:cNvSpPr/>
            <p:nvPr/>
          </p:nvSpPr>
          <p:spPr>
            <a:xfrm>
              <a:off x="2914205" y="1289166"/>
              <a:ext cx="2400300" cy="713105"/>
            </a:xfrm>
            <a:custGeom>
              <a:rect b="b" l="l" r="r" t="t"/>
              <a:pathLst>
                <a:path extrusionOk="0" h="713105" w="2400300">
                  <a:moveTo>
                    <a:pt x="1200238" y="712800"/>
                  </a:moveTo>
                  <a:lnTo>
                    <a:pt x="0" y="712800"/>
                  </a:lnTo>
                  <a:lnTo>
                    <a:pt x="0" y="0"/>
                  </a:lnTo>
                  <a:lnTo>
                    <a:pt x="2400109" y="0"/>
                  </a:lnTo>
                  <a:lnTo>
                    <a:pt x="2400109" y="712800"/>
                  </a:lnTo>
                  <a:lnTo>
                    <a:pt x="1200238" y="712800"/>
                  </a:lnTo>
                  <a:close/>
                </a:path>
              </a:pathLst>
            </a:custGeom>
            <a:noFill/>
            <a:ln cap="flat" cmpd="sng" w="12575">
              <a:solidFill>
                <a:srgbClr val="B3520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graphicFrame>
        <p:nvGraphicFramePr>
          <p:cNvPr id="1415" name="Google Shape;1415;p49"/>
          <p:cNvGraphicFramePr/>
          <p:nvPr/>
        </p:nvGraphicFramePr>
        <p:xfrm>
          <a:off x="3465283" y="1289166"/>
          <a:ext cx="3000000" cy="3000000"/>
        </p:xfrm>
        <a:graphic>
          <a:graphicData uri="http://schemas.openxmlformats.org/drawingml/2006/table">
            <a:tbl>
              <a:tblPr bandRow="1" firstRow="1">
                <a:noFill/>
                <a:tableStyleId>{17F75444-8990-4049-B4A0-D4880F097619}</a:tableStyleId>
              </a:tblPr>
              <a:tblGrid>
                <a:gridCol w="237500"/>
                <a:gridCol w="411475"/>
                <a:gridCol w="411475"/>
                <a:gridCol w="237500"/>
              </a:tblGrid>
              <a:tr h="379725">
                <a:tc>
                  <a:txBody>
                    <a:bodyPr/>
                    <a:lstStyle/>
                    <a:p>
                      <a:pPr indent="0" lvl="0" marL="0" marR="28575" rtl="0" algn="ctr">
                        <a:lnSpc>
                          <a:spcPct val="100000"/>
                        </a:lnSpc>
                        <a:spcBef>
                          <a:spcPts val="0"/>
                        </a:spcBef>
                        <a:spcAft>
                          <a:spcPts val="0"/>
                        </a:spcAft>
                        <a:buNone/>
                      </a:pPr>
                      <a:r>
                        <a:rPr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54600" marB="0" marR="0" marL="0"/>
                </a:tc>
                <a:tc>
                  <a:txBody>
                    <a:bodyPr/>
                    <a:lstStyle/>
                    <a:p>
                      <a:pPr indent="0" lvl="0" marL="67945" marR="0" rtl="0" algn="l">
                        <a:lnSpc>
                          <a:spcPct val="100000"/>
                        </a:lnSpc>
                        <a:spcBef>
                          <a:spcPts val="0"/>
                        </a:spcBef>
                        <a:spcAft>
                          <a:spcPts val="0"/>
                        </a:spcAft>
                        <a:buNone/>
                      </a:pPr>
                      <a:r>
                        <a:rPr lang="en-US" sz="1800" u="none" cap="none" strike="noStrike">
                          <a:latin typeface="Courier New"/>
                          <a:ea typeface="Courier New"/>
                          <a:cs typeface="Courier New"/>
                          <a:sym typeface="Courier New"/>
                        </a:rPr>
                        <a:t>1</a:t>
                      </a:r>
                      <a:endParaRPr sz="1800" u="none" cap="none" strike="noStrike">
                        <a:latin typeface="Courier New"/>
                        <a:ea typeface="Courier New"/>
                        <a:cs typeface="Courier New"/>
                        <a:sym typeface="Courier New"/>
                      </a:endParaRPr>
                    </a:p>
                  </a:txBody>
                  <a:tcPr marT="54600" marB="0" marR="0" marL="0"/>
                </a:tc>
                <a:tc>
                  <a:txBody>
                    <a:bodyPr/>
                    <a:lstStyle/>
                    <a:p>
                      <a:pPr indent="0" lvl="0" marL="0" marR="60325" rtl="0" algn="r">
                        <a:lnSpc>
                          <a:spcPct val="100000"/>
                        </a:lnSpc>
                        <a:spcBef>
                          <a:spcPts val="0"/>
                        </a:spcBef>
                        <a:spcAft>
                          <a:spcPts val="0"/>
                        </a:spcAft>
                        <a:buNone/>
                      </a:pPr>
                      <a:r>
                        <a:rPr lang="en-US" sz="1800" u="none" cap="none" strike="noStrike">
                          <a:latin typeface="Courier New"/>
                          <a:ea typeface="Courier New"/>
                          <a:cs typeface="Courier New"/>
                          <a:sym typeface="Courier New"/>
                        </a:rPr>
                        <a:t>1</a:t>
                      </a:r>
                      <a:endParaRPr sz="1800" u="none" cap="none" strike="noStrike">
                        <a:latin typeface="Courier New"/>
                        <a:ea typeface="Courier New"/>
                        <a:cs typeface="Courier New"/>
                        <a:sym typeface="Courier New"/>
                      </a:endParaRPr>
                    </a:p>
                  </a:txBody>
                  <a:tcPr marT="54600" marB="0" marR="0" marL="0"/>
                </a:tc>
                <a:tc>
                  <a:txBody>
                    <a:bodyPr/>
                    <a:lstStyle/>
                    <a:p>
                      <a:pPr indent="0" lvl="0" marL="36195" marR="0" rtl="0" algn="ctr">
                        <a:lnSpc>
                          <a:spcPct val="100000"/>
                        </a:lnSpc>
                        <a:spcBef>
                          <a:spcPts val="0"/>
                        </a:spcBef>
                        <a:spcAft>
                          <a:spcPts val="0"/>
                        </a:spcAft>
                        <a:buNone/>
                      </a:pPr>
                      <a:r>
                        <a:rPr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54600" marB="0" marR="0" marL="0"/>
                </a:tc>
              </a:tr>
              <a:tr h="332100">
                <a:tc>
                  <a:txBody>
                    <a:bodyPr/>
                    <a:lstStyle/>
                    <a:p>
                      <a:pPr indent="0" lvl="0" marL="0" marR="28575" rtl="0" algn="ctr">
                        <a:lnSpc>
                          <a:spcPct val="115555"/>
                        </a:lnSpc>
                        <a:spcBef>
                          <a:spcPts val="0"/>
                        </a:spcBef>
                        <a:spcAft>
                          <a:spcPts val="0"/>
                        </a:spcAft>
                        <a:buNone/>
                      </a:pPr>
                      <a:r>
                        <a:rPr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0" marB="0" marR="0" marL="0"/>
                </a:tc>
                <a:tc>
                  <a:txBody>
                    <a:bodyPr/>
                    <a:lstStyle/>
                    <a:p>
                      <a:pPr indent="0" lvl="0" marL="67945" marR="0" rtl="0" algn="l">
                        <a:lnSpc>
                          <a:spcPct val="115555"/>
                        </a:lnSpc>
                        <a:spcBef>
                          <a:spcPts val="0"/>
                        </a:spcBef>
                        <a:spcAft>
                          <a:spcPts val="0"/>
                        </a:spcAft>
                        <a:buNone/>
                      </a:pPr>
                      <a:r>
                        <a:rPr lang="en-US" sz="1800" u="none" cap="none" strike="noStrike">
                          <a:latin typeface="Courier New"/>
                          <a:ea typeface="Courier New"/>
                          <a:cs typeface="Courier New"/>
                          <a:sym typeface="Courier New"/>
                        </a:rPr>
                        <a:t>1</a:t>
                      </a:r>
                      <a:endParaRPr sz="1800" u="none" cap="none" strike="noStrike">
                        <a:latin typeface="Courier New"/>
                        <a:ea typeface="Courier New"/>
                        <a:cs typeface="Courier New"/>
                        <a:sym typeface="Courier New"/>
                      </a:endParaRPr>
                    </a:p>
                  </a:txBody>
                  <a:tcPr marT="0" marB="0" marR="0" marL="0"/>
                </a:tc>
                <a:tc>
                  <a:txBody>
                    <a:bodyPr/>
                    <a:lstStyle/>
                    <a:p>
                      <a:pPr indent="0" lvl="0" marL="0" marR="60325" rtl="0" algn="r">
                        <a:lnSpc>
                          <a:spcPct val="115555"/>
                        </a:lnSpc>
                        <a:spcBef>
                          <a:spcPts val="0"/>
                        </a:spcBef>
                        <a:spcAft>
                          <a:spcPts val="0"/>
                        </a:spcAft>
                        <a:buNone/>
                      </a:pPr>
                      <a:r>
                        <a:rPr lang="en-US" sz="1800" u="none" cap="none" strike="noStrike">
                          <a:latin typeface="Courier New"/>
                          <a:ea typeface="Courier New"/>
                          <a:cs typeface="Courier New"/>
                          <a:sym typeface="Courier New"/>
                        </a:rPr>
                        <a:t>0</a:t>
                      </a:r>
                      <a:endParaRPr sz="1800" u="none" cap="none" strike="noStrike">
                        <a:latin typeface="Courier New"/>
                        <a:ea typeface="Courier New"/>
                        <a:cs typeface="Courier New"/>
                        <a:sym typeface="Courier New"/>
                      </a:endParaRPr>
                    </a:p>
                  </a:txBody>
                  <a:tcPr marT="0" marB="0" marR="0" marL="0"/>
                </a:tc>
                <a:tc>
                  <a:txBody>
                    <a:bodyPr/>
                    <a:lstStyle/>
                    <a:p>
                      <a:pPr indent="0" lvl="0" marL="36195" marR="0" rtl="0" algn="ctr">
                        <a:lnSpc>
                          <a:spcPct val="115555"/>
                        </a:lnSpc>
                        <a:spcBef>
                          <a:spcPts val="0"/>
                        </a:spcBef>
                        <a:spcAft>
                          <a:spcPts val="0"/>
                        </a:spcAft>
                        <a:buNone/>
                      </a:pPr>
                      <a:r>
                        <a:rPr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0" marB="0" marR="0" marL="0"/>
                </a:tc>
              </a:tr>
            </a:tbl>
          </a:graphicData>
        </a:graphic>
      </p:graphicFrame>
      <p:sp>
        <p:nvSpPr>
          <p:cNvPr id="1416" name="Google Shape;1416;p49"/>
          <p:cNvSpPr txBox="1"/>
          <p:nvPr/>
        </p:nvSpPr>
        <p:spPr>
          <a:xfrm>
            <a:off x="2901505" y="2078903"/>
            <a:ext cx="660400"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00">
                <a:latin typeface="Calibri"/>
                <a:ea typeface="Calibri"/>
                <a:cs typeface="Calibri"/>
                <a:sym typeface="Calibri"/>
              </a:rPr>
              <a:t>V = X × WV</a:t>
            </a:r>
            <a:endParaRPr sz="1100">
              <a:latin typeface="Calibri"/>
              <a:ea typeface="Calibri"/>
              <a:cs typeface="Calibri"/>
              <a:sym typeface="Calibri"/>
            </a:endParaRPr>
          </a:p>
        </p:txBody>
      </p:sp>
      <p:sp>
        <p:nvSpPr>
          <p:cNvPr id="1417" name="Google Shape;1417;p49"/>
          <p:cNvSpPr txBox="1"/>
          <p:nvPr/>
        </p:nvSpPr>
        <p:spPr>
          <a:xfrm>
            <a:off x="295465" y="2236230"/>
            <a:ext cx="1712595" cy="254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i="1" lang="en-US" sz="1500">
                <a:latin typeface="Cambria"/>
                <a:ea typeface="Cambria"/>
                <a:cs typeface="Cambria"/>
                <a:sym typeface="Cambria"/>
              </a:rPr>
              <a:t>Q = K = X (WQ=WK=I)</a:t>
            </a:r>
            <a:endParaRPr sz="1500">
              <a:latin typeface="Cambria"/>
              <a:ea typeface="Cambria"/>
              <a:cs typeface="Cambria"/>
              <a:sym typeface="Cambria"/>
            </a:endParaRPr>
          </a:p>
        </p:txBody>
      </p:sp>
      <p:sp>
        <p:nvSpPr>
          <p:cNvPr id="1418" name="Google Shape;1418;p49"/>
          <p:cNvSpPr txBox="1"/>
          <p:nvPr/>
        </p:nvSpPr>
        <p:spPr>
          <a:xfrm>
            <a:off x="295465" y="2686953"/>
            <a:ext cx="815340"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00">
                <a:latin typeface="Calibri"/>
                <a:ea typeface="Calibri"/>
                <a:cs typeface="Calibri"/>
                <a:sym typeface="Calibri"/>
              </a:rPr>
              <a:t>Scores = QKᵀ</a:t>
            </a:r>
            <a:endParaRPr sz="1100">
              <a:latin typeface="Calibri"/>
              <a:ea typeface="Calibri"/>
              <a:cs typeface="Calibri"/>
              <a:sym typeface="Calibri"/>
            </a:endParaRPr>
          </a:p>
        </p:txBody>
      </p:sp>
      <p:grpSp>
        <p:nvGrpSpPr>
          <p:cNvPr id="1419" name="Google Shape;1419;p49"/>
          <p:cNvGrpSpPr/>
          <p:nvPr/>
        </p:nvGrpSpPr>
        <p:grpSpPr>
          <a:xfrm>
            <a:off x="2699283" y="2214704"/>
            <a:ext cx="2717279" cy="1029614"/>
            <a:chOff x="2699283" y="2214704"/>
            <a:chExt cx="2717279" cy="1029614"/>
          </a:xfrm>
        </p:grpSpPr>
        <p:pic>
          <p:nvPicPr>
            <p:cNvPr id="1420" name="Google Shape;1420;p49"/>
            <p:cNvPicPr preferRelativeResize="0"/>
            <p:nvPr/>
          </p:nvPicPr>
          <p:blipFill rotWithShape="1">
            <a:blip r:embed="rId4">
              <a:alphaModFix/>
            </a:blip>
            <a:srcRect b="0" l="0" r="0" t="0"/>
            <a:stretch/>
          </p:blipFill>
          <p:spPr>
            <a:xfrm>
              <a:off x="2699283" y="2214704"/>
              <a:ext cx="2717279" cy="1029614"/>
            </a:xfrm>
            <a:prstGeom prst="rect">
              <a:avLst/>
            </a:prstGeom>
            <a:noFill/>
            <a:ln>
              <a:noFill/>
            </a:ln>
          </p:spPr>
        </p:pic>
        <p:sp>
          <p:nvSpPr>
            <p:cNvPr id="1421" name="Google Shape;1421;p49"/>
            <p:cNvSpPr/>
            <p:nvPr/>
          </p:nvSpPr>
          <p:spPr>
            <a:xfrm>
              <a:off x="2893314" y="2337487"/>
              <a:ext cx="2400300" cy="713105"/>
            </a:xfrm>
            <a:custGeom>
              <a:rect b="b" l="l" r="r" t="t"/>
              <a:pathLst>
                <a:path extrusionOk="0" h="713105" w="2400300">
                  <a:moveTo>
                    <a:pt x="1200251" y="712800"/>
                  </a:moveTo>
                  <a:lnTo>
                    <a:pt x="0" y="712800"/>
                  </a:lnTo>
                  <a:lnTo>
                    <a:pt x="0" y="0"/>
                  </a:lnTo>
                  <a:lnTo>
                    <a:pt x="2400122" y="0"/>
                  </a:lnTo>
                  <a:lnTo>
                    <a:pt x="2400122" y="712800"/>
                  </a:lnTo>
                  <a:lnTo>
                    <a:pt x="1200251" y="712800"/>
                  </a:lnTo>
                  <a:close/>
                </a:path>
              </a:pathLst>
            </a:custGeom>
            <a:noFill/>
            <a:ln cap="flat" cmpd="sng" w="12575">
              <a:solidFill>
                <a:srgbClr val="B3520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422" name="Google Shape;1422;p49"/>
          <p:cNvSpPr txBox="1"/>
          <p:nvPr/>
        </p:nvSpPr>
        <p:spPr>
          <a:xfrm>
            <a:off x="3476155" y="2338453"/>
            <a:ext cx="1247775" cy="656590"/>
          </a:xfrm>
          <a:prstGeom prst="rect">
            <a:avLst/>
          </a:prstGeom>
          <a:noFill/>
          <a:ln>
            <a:noFill/>
          </a:ln>
        </p:spPr>
        <p:txBody>
          <a:bodyPr anchorCtr="0" anchor="t" bIns="0" lIns="0" spcFirstLastPara="1" rIns="0" wrap="square" tIns="53325">
            <a:spAutoFit/>
          </a:bodyPr>
          <a:lstStyle/>
          <a:p>
            <a:pPr indent="0" lvl="0" marL="0" rtl="0" algn="l">
              <a:lnSpc>
                <a:spcPct val="100000"/>
              </a:lnSpc>
              <a:spcBef>
                <a:spcPts val="0"/>
              </a:spcBef>
              <a:spcAft>
                <a:spcPts val="0"/>
              </a:spcAft>
              <a:buNone/>
            </a:pPr>
            <a:r>
              <a:rPr lang="en-US" sz="1800">
                <a:solidFill>
                  <a:srgbClr val="191E25"/>
                </a:solidFill>
                <a:latin typeface="Courier New"/>
                <a:ea typeface="Courier New"/>
                <a:cs typeface="Courier New"/>
                <a:sym typeface="Courier New"/>
              </a:rPr>
              <a:t>[ 1	1 ]</a:t>
            </a:r>
            <a:endParaRPr sz="1800">
              <a:latin typeface="Courier New"/>
              <a:ea typeface="Courier New"/>
              <a:cs typeface="Courier New"/>
              <a:sym typeface="Courier New"/>
            </a:endParaRPr>
          </a:p>
          <a:p>
            <a:pPr indent="0" lvl="0" marL="0" rtl="0" algn="l">
              <a:lnSpc>
                <a:spcPct val="100000"/>
              </a:lnSpc>
              <a:spcBef>
                <a:spcPts val="325"/>
              </a:spcBef>
              <a:spcAft>
                <a:spcPts val="0"/>
              </a:spcAft>
              <a:buNone/>
            </a:pPr>
            <a:r>
              <a:rPr lang="en-US" sz="1800">
                <a:solidFill>
                  <a:srgbClr val="191E25"/>
                </a:solidFill>
                <a:latin typeface="Courier New"/>
                <a:ea typeface="Courier New"/>
                <a:cs typeface="Courier New"/>
                <a:sym typeface="Courier New"/>
              </a:rPr>
              <a:t>[ 1	0 ]</a:t>
            </a:r>
            <a:endParaRPr sz="1800">
              <a:latin typeface="Courier New"/>
              <a:ea typeface="Courier New"/>
              <a:cs typeface="Courier New"/>
              <a:sym typeface="Courier New"/>
            </a:endParaRPr>
          </a:p>
        </p:txBody>
      </p:sp>
      <p:grpSp>
        <p:nvGrpSpPr>
          <p:cNvPr id="1423" name="Google Shape;1423;p49"/>
          <p:cNvGrpSpPr/>
          <p:nvPr/>
        </p:nvGrpSpPr>
        <p:grpSpPr>
          <a:xfrm>
            <a:off x="114122" y="2812302"/>
            <a:ext cx="2717279" cy="1029614"/>
            <a:chOff x="114122" y="2812302"/>
            <a:chExt cx="2717279" cy="1029614"/>
          </a:xfrm>
        </p:grpSpPr>
        <p:pic>
          <p:nvPicPr>
            <p:cNvPr id="1424" name="Google Shape;1424;p49"/>
            <p:cNvPicPr preferRelativeResize="0"/>
            <p:nvPr/>
          </p:nvPicPr>
          <p:blipFill rotWithShape="1">
            <a:blip r:embed="rId4">
              <a:alphaModFix/>
            </a:blip>
            <a:srcRect b="0" l="0" r="0" t="0"/>
            <a:stretch/>
          </p:blipFill>
          <p:spPr>
            <a:xfrm>
              <a:off x="114122" y="2812302"/>
              <a:ext cx="2717279" cy="1029614"/>
            </a:xfrm>
            <a:prstGeom prst="rect">
              <a:avLst/>
            </a:prstGeom>
            <a:noFill/>
            <a:ln>
              <a:noFill/>
            </a:ln>
          </p:spPr>
        </p:pic>
        <p:sp>
          <p:nvSpPr>
            <p:cNvPr id="1425" name="Google Shape;1425;p49"/>
            <p:cNvSpPr/>
            <p:nvPr/>
          </p:nvSpPr>
          <p:spPr>
            <a:xfrm>
              <a:off x="308165" y="2935086"/>
              <a:ext cx="2400300" cy="713105"/>
            </a:xfrm>
            <a:custGeom>
              <a:rect b="b" l="l" r="r" t="t"/>
              <a:pathLst>
                <a:path extrusionOk="0" h="713104" w="2400300">
                  <a:moveTo>
                    <a:pt x="1200238" y="712800"/>
                  </a:moveTo>
                  <a:lnTo>
                    <a:pt x="0" y="712800"/>
                  </a:lnTo>
                  <a:lnTo>
                    <a:pt x="0" y="0"/>
                  </a:lnTo>
                  <a:lnTo>
                    <a:pt x="2400109" y="0"/>
                  </a:lnTo>
                  <a:lnTo>
                    <a:pt x="2400109" y="712800"/>
                  </a:lnTo>
                  <a:lnTo>
                    <a:pt x="1200238" y="712800"/>
                  </a:lnTo>
                  <a:close/>
                </a:path>
              </a:pathLst>
            </a:custGeom>
            <a:noFill/>
            <a:ln cap="flat" cmpd="sng" w="12575">
              <a:solidFill>
                <a:srgbClr val="5A20B5"/>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graphicFrame>
        <p:nvGraphicFramePr>
          <p:cNvPr id="1426" name="Google Shape;1426;p49"/>
          <p:cNvGraphicFramePr/>
          <p:nvPr/>
        </p:nvGraphicFramePr>
        <p:xfrm>
          <a:off x="859243" y="2935086"/>
          <a:ext cx="3000000" cy="3000000"/>
        </p:xfrm>
        <a:graphic>
          <a:graphicData uri="http://schemas.openxmlformats.org/drawingml/2006/table">
            <a:tbl>
              <a:tblPr bandRow="1" firstRow="1">
                <a:noFill/>
                <a:tableStyleId>{17F75444-8990-4049-B4A0-D4880F097619}</a:tableStyleId>
              </a:tblPr>
              <a:tblGrid>
                <a:gridCol w="237500"/>
                <a:gridCol w="411475"/>
                <a:gridCol w="411475"/>
                <a:gridCol w="237500"/>
              </a:tblGrid>
              <a:tr h="379725">
                <a:tc>
                  <a:txBody>
                    <a:bodyPr/>
                    <a:lstStyle/>
                    <a:p>
                      <a:pPr indent="0" lvl="0" marL="0" marR="28575" rtl="0" algn="ctr">
                        <a:lnSpc>
                          <a:spcPct val="100000"/>
                        </a:lnSpc>
                        <a:spcBef>
                          <a:spcPts val="0"/>
                        </a:spcBef>
                        <a:spcAft>
                          <a:spcPts val="0"/>
                        </a:spcAft>
                        <a:buNone/>
                      </a:pPr>
                      <a:r>
                        <a:rPr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54600" marB="0" marR="0" marL="0"/>
                </a:tc>
                <a:tc>
                  <a:txBody>
                    <a:bodyPr/>
                    <a:lstStyle/>
                    <a:p>
                      <a:pPr indent="0" lvl="0" marL="67945" marR="0" rtl="0" algn="l">
                        <a:lnSpc>
                          <a:spcPct val="100000"/>
                        </a:lnSpc>
                        <a:spcBef>
                          <a:spcPts val="0"/>
                        </a:spcBef>
                        <a:spcAft>
                          <a:spcPts val="0"/>
                        </a:spcAft>
                        <a:buNone/>
                      </a:pPr>
                      <a:r>
                        <a:rPr lang="en-US" sz="1800" u="none" cap="none" strike="noStrike">
                          <a:latin typeface="Courier New"/>
                          <a:ea typeface="Courier New"/>
                          <a:cs typeface="Courier New"/>
                          <a:sym typeface="Courier New"/>
                        </a:rPr>
                        <a:t>1</a:t>
                      </a:r>
                      <a:endParaRPr sz="1800" u="none" cap="none" strike="noStrike">
                        <a:latin typeface="Courier New"/>
                        <a:ea typeface="Courier New"/>
                        <a:cs typeface="Courier New"/>
                        <a:sym typeface="Courier New"/>
                      </a:endParaRPr>
                    </a:p>
                  </a:txBody>
                  <a:tcPr marT="54600" marB="0" marR="0" marL="0"/>
                </a:tc>
                <a:tc>
                  <a:txBody>
                    <a:bodyPr/>
                    <a:lstStyle/>
                    <a:p>
                      <a:pPr indent="0" lvl="0" marL="0" marR="60325" rtl="0" algn="r">
                        <a:lnSpc>
                          <a:spcPct val="100000"/>
                        </a:lnSpc>
                        <a:spcBef>
                          <a:spcPts val="0"/>
                        </a:spcBef>
                        <a:spcAft>
                          <a:spcPts val="0"/>
                        </a:spcAft>
                        <a:buNone/>
                      </a:pPr>
                      <a:r>
                        <a:rPr lang="en-US" sz="1800" u="none" cap="none" strike="noStrike">
                          <a:latin typeface="Courier New"/>
                          <a:ea typeface="Courier New"/>
                          <a:cs typeface="Courier New"/>
                          <a:sym typeface="Courier New"/>
                        </a:rPr>
                        <a:t>0</a:t>
                      </a:r>
                      <a:endParaRPr sz="1800" u="none" cap="none" strike="noStrike">
                        <a:latin typeface="Courier New"/>
                        <a:ea typeface="Courier New"/>
                        <a:cs typeface="Courier New"/>
                        <a:sym typeface="Courier New"/>
                      </a:endParaRPr>
                    </a:p>
                  </a:txBody>
                  <a:tcPr marT="54600" marB="0" marR="0" marL="0"/>
                </a:tc>
                <a:tc>
                  <a:txBody>
                    <a:bodyPr/>
                    <a:lstStyle/>
                    <a:p>
                      <a:pPr indent="0" lvl="0" marL="36195" marR="0" rtl="0" algn="ctr">
                        <a:lnSpc>
                          <a:spcPct val="100000"/>
                        </a:lnSpc>
                        <a:spcBef>
                          <a:spcPts val="0"/>
                        </a:spcBef>
                        <a:spcAft>
                          <a:spcPts val="0"/>
                        </a:spcAft>
                        <a:buNone/>
                      </a:pPr>
                      <a:r>
                        <a:rPr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54600" marB="0" marR="0" marL="0"/>
                </a:tc>
              </a:tr>
              <a:tr h="332100">
                <a:tc>
                  <a:txBody>
                    <a:bodyPr/>
                    <a:lstStyle/>
                    <a:p>
                      <a:pPr indent="0" lvl="0" marL="0" marR="28575" rtl="0" algn="ctr">
                        <a:lnSpc>
                          <a:spcPct val="115555"/>
                        </a:lnSpc>
                        <a:spcBef>
                          <a:spcPts val="0"/>
                        </a:spcBef>
                        <a:spcAft>
                          <a:spcPts val="0"/>
                        </a:spcAft>
                        <a:buNone/>
                      </a:pPr>
                      <a:r>
                        <a:rPr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0" marB="0" marR="0" marL="0"/>
                </a:tc>
                <a:tc>
                  <a:txBody>
                    <a:bodyPr/>
                    <a:lstStyle/>
                    <a:p>
                      <a:pPr indent="0" lvl="0" marL="67945" marR="0" rtl="0" algn="l">
                        <a:lnSpc>
                          <a:spcPct val="115555"/>
                        </a:lnSpc>
                        <a:spcBef>
                          <a:spcPts val="0"/>
                        </a:spcBef>
                        <a:spcAft>
                          <a:spcPts val="0"/>
                        </a:spcAft>
                        <a:buNone/>
                      </a:pPr>
                      <a:r>
                        <a:rPr lang="en-US" sz="1800" u="none" cap="none" strike="noStrike">
                          <a:latin typeface="Courier New"/>
                          <a:ea typeface="Courier New"/>
                          <a:cs typeface="Courier New"/>
                          <a:sym typeface="Courier New"/>
                        </a:rPr>
                        <a:t>0</a:t>
                      </a:r>
                      <a:endParaRPr sz="1800" u="none" cap="none" strike="noStrike">
                        <a:latin typeface="Courier New"/>
                        <a:ea typeface="Courier New"/>
                        <a:cs typeface="Courier New"/>
                        <a:sym typeface="Courier New"/>
                      </a:endParaRPr>
                    </a:p>
                  </a:txBody>
                  <a:tcPr marT="0" marB="0" marR="0" marL="0"/>
                </a:tc>
                <a:tc>
                  <a:txBody>
                    <a:bodyPr/>
                    <a:lstStyle/>
                    <a:p>
                      <a:pPr indent="0" lvl="0" marL="0" marR="60325" rtl="0" algn="r">
                        <a:lnSpc>
                          <a:spcPct val="115555"/>
                        </a:lnSpc>
                        <a:spcBef>
                          <a:spcPts val="0"/>
                        </a:spcBef>
                        <a:spcAft>
                          <a:spcPts val="0"/>
                        </a:spcAft>
                        <a:buNone/>
                      </a:pPr>
                      <a:r>
                        <a:rPr lang="en-US" sz="1800" u="none" cap="none" strike="noStrike">
                          <a:latin typeface="Courier New"/>
                          <a:ea typeface="Courier New"/>
                          <a:cs typeface="Courier New"/>
                          <a:sym typeface="Courier New"/>
                        </a:rPr>
                        <a:t>1</a:t>
                      </a:r>
                      <a:endParaRPr sz="1800" u="none" cap="none" strike="noStrike">
                        <a:latin typeface="Courier New"/>
                        <a:ea typeface="Courier New"/>
                        <a:cs typeface="Courier New"/>
                        <a:sym typeface="Courier New"/>
                      </a:endParaRPr>
                    </a:p>
                  </a:txBody>
                  <a:tcPr marT="0" marB="0" marR="0" marL="0"/>
                </a:tc>
                <a:tc>
                  <a:txBody>
                    <a:bodyPr/>
                    <a:lstStyle/>
                    <a:p>
                      <a:pPr indent="0" lvl="0" marL="36195" marR="0" rtl="0" algn="ctr">
                        <a:lnSpc>
                          <a:spcPct val="115555"/>
                        </a:lnSpc>
                        <a:spcBef>
                          <a:spcPts val="0"/>
                        </a:spcBef>
                        <a:spcAft>
                          <a:spcPts val="0"/>
                        </a:spcAft>
                        <a:buNone/>
                      </a:pPr>
                      <a:r>
                        <a:rPr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0" marB="0" marR="0" marL="0"/>
                </a:tc>
              </a:tr>
            </a:tbl>
          </a:graphicData>
        </a:graphic>
      </p:graphicFrame>
      <p:sp>
        <p:nvSpPr>
          <p:cNvPr id="1427" name="Google Shape;1427;p49"/>
          <p:cNvSpPr txBox="1"/>
          <p:nvPr/>
        </p:nvSpPr>
        <p:spPr>
          <a:xfrm>
            <a:off x="2821216" y="3171865"/>
            <a:ext cx="186690" cy="2393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solidFill>
                  <a:srgbClr val="59616F"/>
                </a:solidFill>
                <a:latin typeface="Calibri"/>
                <a:ea typeface="Calibri"/>
                <a:cs typeface="Calibri"/>
                <a:sym typeface="Calibri"/>
              </a:rPr>
              <a:t>*</a:t>
            </a:r>
            <a:endParaRPr sz="1400">
              <a:latin typeface="Calibri"/>
              <a:ea typeface="Calibri"/>
              <a:cs typeface="Calibri"/>
              <a:sym typeface="Calibri"/>
            </a:endParaRPr>
          </a:p>
        </p:txBody>
      </p:sp>
      <p:sp>
        <p:nvSpPr>
          <p:cNvPr id="1428" name="Google Shape;1428;p49"/>
          <p:cNvSpPr txBox="1"/>
          <p:nvPr/>
        </p:nvSpPr>
        <p:spPr>
          <a:xfrm>
            <a:off x="3186264" y="3146668"/>
            <a:ext cx="1844039"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100">
                <a:latin typeface="Calibri"/>
                <a:ea typeface="Calibri"/>
                <a:cs typeface="Calibri"/>
                <a:sym typeface="Calibri"/>
              </a:rPr>
              <a:t>Attention A = softmax(Scores)</a:t>
            </a:r>
            <a:endParaRPr sz="1100">
              <a:latin typeface="Calibri"/>
              <a:ea typeface="Calibri"/>
              <a:cs typeface="Calibri"/>
              <a:sym typeface="Calibri"/>
            </a:endParaRPr>
          </a:p>
        </p:txBody>
      </p:sp>
      <p:sp>
        <p:nvSpPr>
          <p:cNvPr id="1429" name="Google Shape;1429;p49"/>
          <p:cNvSpPr txBox="1"/>
          <p:nvPr/>
        </p:nvSpPr>
        <p:spPr>
          <a:xfrm>
            <a:off x="295465" y="3863062"/>
            <a:ext cx="1457325" cy="3308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i="1" lang="en-US" sz="1000">
                <a:latin typeface="Cambria"/>
                <a:ea typeface="Cambria"/>
                <a:cs typeface="Cambria"/>
                <a:sym typeface="Cambria"/>
              </a:rPr>
              <a:t>softmax([1,0]) = [0.73, 0.27]</a:t>
            </a:r>
            <a:endParaRPr sz="1000">
              <a:latin typeface="Cambria"/>
              <a:ea typeface="Cambria"/>
              <a:cs typeface="Cambria"/>
              <a:sym typeface="Cambria"/>
            </a:endParaRPr>
          </a:p>
          <a:p>
            <a:pPr indent="0" lvl="0" marL="12700" rtl="0" algn="l">
              <a:lnSpc>
                <a:spcPct val="100000"/>
              </a:lnSpc>
              <a:spcBef>
                <a:spcPts val="0"/>
              </a:spcBef>
              <a:spcAft>
                <a:spcPts val="0"/>
              </a:spcAft>
              <a:buNone/>
            </a:pPr>
            <a:r>
              <a:rPr i="1" lang="en-US" sz="1000">
                <a:latin typeface="Cambria"/>
                <a:ea typeface="Cambria"/>
                <a:cs typeface="Cambria"/>
                <a:sym typeface="Cambria"/>
              </a:rPr>
              <a:t>softmax([0,1]) = [0.27, 0.73]</a:t>
            </a:r>
            <a:endParaRPr sz="1000">
              <a:latin typeface="Cambria"/>
              <a:ea typeface="Cambria"/>
              <a:cs typeface="Cambria"/>
              <a:sym typeface="Cambria"/>
            </a:endParaRPr>
          </a:p>
        </p:txBody>
      </p:sp>
      <p:grpSp>
        <p:nvGrpSpPr>
          <p:cNvPr id="1430" name="Google Shape;1430;p49"/>
          <p:cNvGrpSpPr/>
          <p:nvPr/>
        </p:nvGrpSpPr>
        <p:grpSpPr>
          <a:xfrm>
            <a:off x="2701798" y="3585948"/>
            <a:ext cx="2717279" cy="1029614"/>
            <a:chOff x="2701798" y="3585948"/>
            <a:chExt cx="2717279" cy="1029614"/>
          </a:xfrm>
        </p:grpSpPr>
        <p:pic>
          <p:nvPicPr>
            <p:cNvPr id="1431" name="Google Shape;1431;p49"/>
            <p:cNvPicPr preferRelativeResize="0"/>
            <p:nvPr/>
          </p:nvPicPr>
          <p:blipFill rotWithShape="1">
            <a:blip r:embed="rId4">
              <a:alphaModFix/>
            </a:blip>
            <a:srcRect b="0" l="0" r="0" t="0"/>
            <a:stretch/>
          </p:blipFill>
          <p:spPr>
            <a:xfrm>
              <a:off x="2701798" y="3585948"/>
              <a:ext cx="2717279" cy="1029614"/>
            </a:xfrm>
            <a:prstGeom prst="rect">
              <a:avLst/>
            </a:prstGeom>
            <a:noFill/>
            <a:ln>
              <a:noFill/>
            </a:ln>
          </p:spPr>
        </p:pic>
        <p:sp>
          <p:nvSpPr>
            <p:cNvPr id="1432" name="Google Shape;1432;p49"/>
            <p:cNvSpPr/>
            <p:nvPr/>
          </p:nvSpPr>
          <p:spPr>
            <a:xfrm>
              <a:off x="2895841" y="3708719"/>
              <a:ext cx="2400300" cy="713105"/>
            </a:xfrm>
            <a:custGeom>
              <a:rect b="b" l="l" r="r" t="t"/>
              <a:pathLst>
                <a:path extrusionOk="0" h="713104" w="2400300">
                  <a:moveTo>
                    <a:pt x="1200238" y="712800"/>
                  </a:moveTo>
                  <a:lnTo>
                    <a:pt x="0" y="712800"/>
                  </a:lnTo>
                  <a:lnTo>
                    <a:pt x="0" y="0"/>
                  </a:lnTo>
                  <a:lnTo>
                    <a:pt x="2400122" y="0"/>
                  </a:lnTo>
                  <a:lnTo>
                    <a:pt x="2400122" y="712800"/>
                  </a:lnTo>
                  <a:lnTo>
                    <a:pt x="1200238" y="712800"/>
                  </a:lnTo>
                  <a:close/>
                </a:path>
              </a:pathLst>
            </a:custGeom>
            <a:noFill/>
            <a:ln cap="flat" cmpd="sng" w="12575">
              <a:solidFill>
                <a:srgbClr val="03775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433" name="Google Shape;1433;p49"/>
          <p:cNvSpPr txBox="1"/>
          <p:nvPr/>
        </p:nvSpPr>
        <p:spPr>
          <a:xfrm>
            <a:off x="3067202" y="3709709"/>
            <a:ext cx="835660" cy="656590"/>
          </a:xfrm>
          <a:prstGeom prst="rect">
            <a:avLst/>
          </a:prstGeom>
          <a:noFill/>
          <a:ln>
            <a:noFill/>
          </a:ln>
        </p:spPr>
        <p:txBody>
          <a:bodyPr anchorCtr="0" anchor="t" bIns="0" lIns="0" spcFirstLastPara="1" rIns="0" wrap="square" tIns="53325">
            <a:spAutoFit/>
          </a:bodyPr>
          <a:lstStyle/>
          <a:p>
            <a:pPr indent="0" lvl="0" marL="0" rtl="0" algn="l">
              <a:lnSpc>
                <a:spcPct val="100000"/>
              </a:lnSpc>
              <a:spcBef>
                <a:spcPts val="0"/>
              </a:spcBef>
              <a:spcAft>
                <a:spcPts val="0"/>
              </a:spcAft>
              <a:buNone/>
            </a:pPr>
            <a:r>
              <a:rPr lang="en-US" sz="1800">
                <a:solidFill>
                  <a:srgbClr val="191E25"/>
                </a:solidFill>
                <a:latin typeface="Courier New"/>
                <a:ea typeface="Courier New"/>
                <a:cs typeface="Courier New"/>
                <a:sym typeface="Courier New"/>
              </a:rPr>
              <a:t>[ 0.73</a:t>
            </a:r>
            <a:endParaRPr sz="1800">
              <a:latin typeface="Courier New"/>
              <a:ea typeface="Courier New"/>
              <a:cs typeface="Courier New"/>
              <a:sym typeface="Courier New"/>
            </a:endParaRPr>
          </a:p>
          <a:p>
            <a:pPr indent="0" lvl="0" marL="0" rtl="0" algn="l">
              <a:lnSpc>
                <a:spcPct val="100000"/>
              </a:lnSpc>
              <a:spcBef>
                <a:spcPts val="325"/>
              </a:spcBef>
              <a:spcAft>
                <a:spcPts val="0"/>
              </a:spcAft>
              <a:buNone/>
            </a:pPr>
            <a:r>
              <a:rPr lang="en-US" sz="1800">
                <a:solidFill>
                  <a:srgbClr val="191E25"/>
                </a:solidFill>
                <a:latin typeface="Courier New"/>
                <a:ea typeface="Courier New"/>
                <a:cs typeface="Courier New"/>
                <a:sym typeface="Courier New"/>
              </a:rPr>
              <a:t>[ 0.27</a:t>
            </a:r>
            <a:endParaRPr sz="1800">
              <a:latin typeface="Courier New"/>
              <a:ea typeface="Courier New"/>
              <a:cs typeface="Courier New"/>
              <a:sym typeface="Courier New"/>
            </a:endParaRPr>
          </a:p>
        </p:txBody>
      </p:sp>
      <p:sp>
        <p:nvSpPr>
          <p:cNvPr id="1434" name="Google Shape;1434;p49"/>
          <p:cNvSpPr txBox="1"/>
          <p:nvPr/>
        </p:nvSpPr>
        <p:spPr>
          <a:xfrm>
            <a:off x="4301642" y="3709709"/>
            <a:ext cx="836294" cy="656590"/>
          </a:xfrm>
          <a:prstGeom prst="rect">
            <a:avLst/>
          </a:prstGeom>
          <a:noFill/>
          <a:ln>
            <a:noFill/>
          </a:ln>
        </p:spPr>
        <p:txBody>
          <a:bodyPr anchorCtr="0" anchor="t" bIns="0" lIns="0" spcFirstLastPara="1" rIns="0" wrap="square" tIns="53325">
            <a:spAutoFit/>
          </a:bodyPr>
          <a:lstStyle/>
          <a:p>
            <a:pPr indent="0" lvl="0" marL="0" rtl="0" algn="l">
              <a:lnSpc>
                <a:spcPct val="100000"/>
              </a:lnSpc>
              <a:spcBef>
                <a:spcPts val="0"/>
              </a:spcBef>
              <a:spcAft>
                <a:spcPts val="0"/>
              </a:spcAft>
              <a:buNone/>
            </a:pPr>
            <a:r>
              <a:rPr lang="en-US" sz="1800">
                <a:solidFill>
                  <a:srgbClr val="191E25"/>
                </a:solidFill>
                <a:latin typeface="Courier New"/>
                <a:ea typeface="Courier New"/>
                <a:cs typeface="Courier New"/>
                <a:sym typeface="Courier New"/>
              </a:rPr>
              <a:t>0.27 ]</a:t>
            </a:r>
            <a:endParaRPr sz="1800">
              <a:latin typeface="Courier New"/>
              <a:ea typeface="Courier New"/>
              <a:cs typeface="Courier New"/>
              <a:sym typeface="Courier New"/>
            </a:endParaRPr>
          </a:p>
          <a:p>
            <a:pPr indent="0" lvl="0" marL="0" rtl="0" algn="l">
              <a:lnSpc>
                <a:spcPct val="100000"/>
              </a:lnSpc>
              <a:spcBef>
                <a:spcPts val="325"/>
              </a:spcBef>
              <a:spcAft>
                <a:spcPts val="0"/>
              </a:spcAft>
              <a:buNone/>
            </a:pPr>
            <a:r>
              <a:rPr lang="en-US" sz="1800">
                <a:solidFill>
                  <a:srgbClr val="191E25"/>
                </a:solidFill>
                <a:latin typeface="Courier New"/>
                <a:ea typeface="Courier New"/>
                <a:cs typeface="Courier New"/>
                <a:sym typeface="Courier New"/>
              </a:rPr>
              <a:t>0.73 ]</a:t>
            </a:r>
            <a:endParaRPr sz="1800">
              <a:latin typeface="Courier New"/>
              <a:ea typeface="Courier New"/>
              <a:cs typeface="Courier New"/>
              <a:sym typeface="Courier New"/>
            </a:endParaRPr>
          </a:p>
        </p:txBody>
      </p:sp>
      <p:grpSp>
        <p:nvGrpSpPr>
          <p:cNvPr id="1435" name="Google Shape;1435;p49"/>
          <p:cNvGrpSpPr/>
          <p:nvPr/>
        </p:nvGrpSpPr>
        <p:grpSpPr>
          <a:xfrm>
            <a:off x="5772238" y="1166027"/>
            <a:ext cx="3368878" cy="3937330"/>
            <a:chOff x="5772238" y="1166027"/>
            <a:chExt cx="3368878" cy="3937330"/>
          </a:xfrm>
        </p:grpSpPr>
        <p:pic>
          <p:nvPicPr>
            <p:cNvPr id="1436" name="Google Shape;1436;p49"/>
            <p:cNvPicPr preferRelativeResize="0"/>
            <p:nvPr/>
          </p:nvPicPr>
          <p:blipFill rotWithShape="1">
            <a:blip r:embed="rId5">
              <a:alphaModFix/>
            </a:blip>
            <a:srcRect b="0" l="0" r="0" t="0"/>
            <a:stretch/>
          </p:blipFill>
          <p:spPr>
            <a:xfrm>
              <a:off x="5772238" y="1166027"/>
              <a:ext cx="3368878" cy="3937330"/>
            </a:xfrm>
            <a:prstGeom prst="rect">
              <a:avLst/>
            </a:prstGeom>
            <a:noFill/>
            <a:ln>
              <a:noFill/>
            </a:ln>
          </p:spPr>
        </p:pic>
        <p:sp>
          <p:nvSpPr>
            <p:cNvPr id="1437" name="Google Shape;1437;p49"/>
            <p:cNvSpPr/>
            <p:nvPr/>
          </p:nvSpPr>
          <p:spPr>
            <a:xfrm>
              <a:off x="5966282" y="1288798"/>
              <a:ext cx="3051810" cy="3620770"/>
            </a:xfrm>
            <a:custGeom>
              <a:rect b="b" l="l" r="r" t="t"/>
              <a:pathLst>
                <a:path extrusionOk="0" h="3620770" w="3051809">
                  <a:moveTo>
                    <a:pt x="3051721" y="0"/>
                  </a:moveTo>
                  <a:lnTo>
                    <a:pt x="0" y="0"/>
                  </a:lnTo>
                  <a:lnTo>
                    <a:pt x="0" y="3620528"/>
                  </a:lnTo>
                  <a:lnTo>
                    <a:pt x="1526032" y="3620528"/>
                  </a:lnTo>
                  <a:lnTo>
                    <a:pt x="3051721" y="3620528"/>
                  </a:lnTo>
                  <a:lnTo>
                    <a:pt x="3051721" y="0"/>
                  </a:lnTo>
                  <a:close/>
                </a:path>
              </a:pathLst>
            </a:custGeom>
            <a:solidFill>
              <a:srgbClr val="E7EC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38" name="Google Shape;1438;p49"/>
            <p:cNvSpPr/>
            <p:nvPr/>
          </p:nvSpPr>
          <p:spPr>
            <a:xfrm>
              <a:off x="6103797" y="1714679"/>
              <a:ext cx="1193800" cy="384175"/>
            </a:xfrm>
            <a:custGeom>
              <a:rect b="b" l="l" r="r" t="t"/>
              <a:pathLst>
                <a:path extrusionOk="0" h="384175" w="1193800">
                  <a:moveTo>
                    <a:pt x="0" y="73088"/>
                  </a:moveTo>
                  <a:lnTo>
                    <a:pt x="607" y="63449"/>
                  </a:lnTo>
                  <a:lnTo>
                    <a:pt x="2430" y="54048"/>
                  </a:lnTo>
                  <a:lnTo>
                    <a:pt x="28710" y="15052"/>
                  </a:lnTo>
                  <a:lnTo>
                    <a:pt x="73088" y="0"/>
                  </a:lnTo>
                  <a:lnTo>
                    <a:pt x="1119962" y="0"/>
                  </a:lnTo>
                  <a:lnTo>
                    <a:pt x="1164639" y="15109"/>
                  </a:lnTo>
                  <a:lnTo>
                    <a:pt x="1190609" y="54360"/>
                  </a:lnTo>
                  <a:lnTo>
                    <a:pt x="1193038" y="73088"/>
                  </a:lnTo>
                  <a:lnTo>
                    <a:pt x="1193406" y="310680"/>
                  </a:lnTo>
                  <a:lnTo>
                    <a:pt x="1192798" y="320319"/>
                  </a:lnTo>
                  <a:lnTo>
                    <a:pt x="1190975" y="329720"/>
                  </a:lnTo>
                  <a:lnTo>
                    <a:pt x="1164695" y="368714"/>
                  </a:lnTo>
                  <a:lnTo>
                    <a:pt x="1120317" y="383755"/>
                  </a:lnTo>
                  <a:lnTo>
                    <a:pt x="73088" y="384124"/>
                  </a:lnTo>
                  <a:lnTo>
                    <a:pt x="28400" y="369014"/>
                  </a:lnTo>
                  <a:lnTo>
                    <a:pt x="2430" y="329766"/>
                  </a:lnTo>
                  <a:lnTo>
                    <a:pt x="0" y="311048"/>
                  </a:lnTo>
                  <a:lnTo>
                    <a:pt x="0" y="73088"/>
                  </a:lnTo>
                  <a:close/>
                </a:path>
              </a:pathLst>
            </a:custGeom>
            <a:noFill/>
            <a:ln cap="flat" cmpd="sng" w="12575">
              <a:solidFill>
                <a:srgbClr val="0076A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39" name="Google Shape;1439;p49"/>
            <p:cNvSpPr/>
            <p:nvPr/>
          </p:nvSpPr>
          <p:spPr>
            <a:xfrm>
              <a:off x="6103797" y="2887207"/>
              <a:ext cx="1130935" cy="384175"/>
            </a:xfrm>
            <a:custGeom>
              <a:rect b="b" l="l" r="r" t="t"/>
              <a:pathLst>
                <a:path extrusionOk="0" h="384175" w="1130934">
                  <a:moveTo>
                    <a:pt x="0" y="73075"/>
                  </a:moveTo>
                  <a:lnTo>
                    <a:pt x="607" y="63436"/>
                  </a:lnTo>
                  <a:lnTo>
                    <a:pt x="2430" y="54036"/>
                  </a:lnTo>
                  <a:lnTo>
                    <a:pt x="28710" y="15041"/>
                  </a:lnTo>
                  <a:lnTo>
                    <a:pt x="73088" y="0"/>
                  </a:lnTo>
                  <a:lnTo>
                    <a:pt x="1057325" y="0"/>
                  </a:lnTo>
                  <a:lnTo>
                    <a:pt x="1102001" y="15096"/>
                  </a:lnTo>
                  <a:lnTo>
                    <a:pt x="1127972" y="54357"/>
                  </a:lnTo>
                  <a:lnTo>
                    <a:pt x="1130401" y="73075"/>
                  </a:lnTo>
                  <a:lnTo>
                    <a:pt x="1130757" y="310680"/>
                  </a:lnTo>
                  <a:lnTo>
                    <a:pt x="1130149" y="320312"/>
                  </a:lnTo>
                  <a:lnTo>
                    <a:pt x="1128328" y="329709"/>
                  </a:lnTo>
                  <a:lnTo>
                    <a:pt x="1102058" y="368709"/>
                  </a:lnTo>
                  <a:lnTo>
                    <a:pt x="1057681" y="383755"/>
                  </a:lnTo>
                  <a:lnTo>
                    <a:pt x="73088" y="384111"/>
                  </a:lnTo>
                  <a:lnTo>
                    <a:pt x="28400" y="369014"/>
                  </a:lnTo>
                  <a:lnTo>
                    <a:pt x="2430" y="329753"/>
                  </a:lnTo>
                  <a:lnTo>
                    <a:pt x="0" y="311035"/>
                  </a:lnTo>
                  <a:lnTo>
                    <a:pt x="0" y="73075"/>
                  </a:lnTo>
                  <a:close/>
                </a:path>
              </a:pathLst>
            </a:custGeom>
            <a:noFill/>
            <a:ln cap="flat" cmpd="sng" w="12575">
              <a:solidFill>
                <a:srgbClr val="B3520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440" name="Google Shape;1440;p49"/>
          <p:cNvSpPr txBox="1"/>
          <p:nvPr/>
        </p:nvSpPr>
        <p:spPr>
          <a:xfrm>
            <a:off x="5966282" y="1288798"/>
            <a:ext cx="3051810" cy="3620770"/>
          </a:xfrm>
          <a:prstGeom prst="rect">
            <a:avLst/>
          </a:prstGeom>
          <a:noFill/>
          <a:ln cap="flat" cmpd="sng" w="12575">
            <a:solidFill>
              <a:srgbClr val="B35208"/>
            </a:solidFill>
            <a:prstDash val="solid"/>
            <a:round/>
            <a:headEnd len="sm" w="sm" type="none"/>
            <a:tailEnd len="sm" w="sm" type="none"/>
          </a:ln>
        </p:spPr>
        <p:txBody>
          <a:bodyPr anchorCtr="0" anchor="t" bIns="0" lIns="0" spcFirstLastPara="1" rIns="0" wrap="square" tIns="51425">
            <a:spAutoFit/>
          </a:bodyPr>
          <a:lstStyle/>
          <a:p>
            <a:pPr indent="0" lvl="0" marL="137160" rtl="0" algn="l">
              <a:lnSpc>
                <a:spcPct val="100000"/>
              </a:lnSpc>
              <a:spcBef>
                <a:spcPts val="0"/>
              </a:spcBef>
              <a:spcAft>
                <a:spcPts val="0"/>
              </a:spcAft>
              <a:buNone/>
            </a:pPr>
            <a:r>
              <a:rPr b="1" lang="en-US" sz="1800">
                <a:latin typeface="Calibri"/>
                <a:ea typeface="Calibri"/>
                <a:cs typeface="Calibri"/>
                <a:sym typeface="Calibri"/>
              </a:rPr>
              <a:t>Output = A · V</a:t>
            </a:r>
            <a:endParaRPr sz="1800">
              <a:latin typeface="Calibri"/>
              <a:ea typeface="Calibri"/>
              <a:cs typeface="Calibri"/>
              <a:sym typeface="Calibri"/>
            </a:endParaRPr>
          </a:p>
          <a:p>
            <a:pPr indent="0" lvl="0" marL="0" marR="1578610" rtl="0" algn="ctr">
              <a:lnSpc>
                <a:spcPct val="100000"/>
              </a:lnSpc>
              <a:spcBef>
                <a:spcPts val="1485"/>
              </a:spcBef>
              <a:spcAft>
                <a:spcPts val="0"/>
              </a:spcAft>
              <a:buNone/>
            </a:pPr>
            <a:r>
              <a:rPr b="1" lang="en-US" sz="1200">
                <a:solidFill>
                  <a:srgbClr val="191E25"/>
                </a:solidFill>
                <a:latin typeface="Calibri"/>
                <a:ea typeface="Calibri"/>
                <a:cs typeface="Calibri"/>
                <a:sym typeface="Calibri"/>
              </a:rPr>
              <a:t>"animal"</a:t>
            </a:r>
            <a:endParaRPr sz="1200">
              <a:latin typeface="Calibri"/>
              <a:ea typeface="Calibri"/>
              <a:cs typeface="Calibri"/>
              <a:sym typeface="Calibri"/>
            </a:endParaRPr>
          </a:p>
          <a:p>
            <a:pPr indent="0" lvl="0" marL="0" rtl="0" algn="l">
              <a:lnSpc>
                <a:spcPct val="100000"/>
              </a:lnSpc>
              <a:spcBef>
                <a:spcPts val="80"/>
              </a:spcBef>
              <a:spcAft>
                <a:spcPts val="0"/>
              </a:spcAft>
              <a:buNone/>
            </a:pPr>
            <a:r>
              <a:t/>
            </a:r>
            <a:endParaRPr sz="1200">
              <a:latin typeface="Calibri"/>
              <a:ea typeface="Calibri"/>
              <a:cs typeface="Calibri"/>
              <a:sym typeface="Calibri"/>
            </a:endParaRPr>
          </a:p>
          <a:p>
            <a:pPr indent="0" lvl="0" marL="137160" rtl="0" algn="l">
              <a:lnSpc>
                <a:spcPct val="100000"/>
              </a:lnSpc>
              <a:spcBef>
                <a:spcPts val="0"/>
              </a:spcBef>
              <a:spcAft>
                <a:spcPts val="0"/>
              </a:spcAft>
              <a:buNone/>
            </a:pPr>
            <a:r>
              <a:rPr lang="en-US" sz="1200">
                <a:latin typeface="Calibri"/>
                <a:ea typeface="Calibri"/>
                <a:cs typeface="Calibri"/>
                <a:sym typeface="Calibri"/>
              </a:rPr>
              <a:t>0.73·[1,1] + 0.27·[1,0]</a:t>
            </a:r>
            <a:endParaRPr sz="1200">
              <a:latin typeface="Calibri"/>
              <a:ea typeface="Calibri"/>
              <a:cs typeface="Calibri"/>
              <a:sym typeface="Calibri"/>
            </a:endParaRPr>
          </a:p>
          <a:p>
            <a:pPr indent="0" lvl="0" marL="137160" rtl="0" algn="l">
              <a:lnSpc>
                <a:spcPct val="100000"/>
              </a:lnSpc>
              <a:spcBef>
                <a:spcPts val="685"/>
              </a:spcBef>
              <a:spcAft>
                <a:spcPts val="0"/>
              </a:spcAft>
              <a:buNone/>
            </a:pPr>
            <a:r>
              <a:rPr b="1" lang="en-US" sz="1300">
                <a:latin typeface="Trebuchet MS"/>
                <a:ea typeface="Trebuchet MS"/>
                <a:cs typeface="Trebuchet MS"/>
                <a:sym typeface="Trebuchet MS"/>
              </a:rPr>
              <a:t>= [1.0, 0.73]</a:t>
            </a:r>
            <a:endParaRPr sz="1300">
              <a:latin typeface="Trebuchet MS"/>
              <a:ea typeface="Trebuchet MS"/>
              <a:cs typeface="Trebuchet MS"/>
              <a:sym typeface="Trebuchet MS"/>
            </a:endParaRPr>
          </a:p>
          <a:p>
            <a:pPr indent="0" lvl="0" marL="0" rtl="0" algn="l">
              <a:lnSpc>
                <a:spcPct val="100000"/>
              </a:lnSpc>
              <a:spcBef>
                <a:spcPts val="1080"/>
              </a:spcBef>
              <a:spcAft>
                <a:spcPts val="0"/>
              </a:spcAft>
              <a:buNone/>
            </a:pPr>
            <a:r>
              <a:t/>
            </a:r>
            <a:endParaRPr sz="1300">
              <a:latin typeface="Trebuchet MS"/>
              <a:ea typeface="Trebuchet MS"/>
              <a:cs typeface="Trebuchet MS"/>
              <a:sym typeface="Trebuchet MS"/>
            </a:endParaRPr>
          </a:p>
          <a:p>
            <a:pPr indent="0" lvl="0" marL="0" marR="1576070" rtl="0" algn="ctr">
              <a:lnSpc>
                <a:spcPct val="100000"/>
              </a:lnSpc>
              <a:spcBef>
                <a:spcPts val="5"/>
              </a:spcBef>
              <a:spcAft>
                <a:spcPts val="0"/>
              </a:spcAft>
              <a:buNone/>
            </a:pPr>
            <a:r>
              <a:rPr b="1" lang="en-US" sz="1200">
                <a:solidFill>
                  <a:srgbClr val="191E25"/>
                </a:solidFill>
                <a:latin typeface="Calibri"/>
                <a:ea typeface="Calibri"/>
                <a:cs typeface="Calibri"/>
                <a:sym typeface="Calibri"/>
              </a:rPr>
              <a:t>"it"</a:t>
            </a:r>
            <a:endParaRPr sz="1200">
              <a:latin typeface="Calibri"/>
              <a:ea typeface="Calibri"/>
              <a:cs typeface="Calibri"/>
              <a:sym typeface="Calibri"/>
            </a:endParaRPr>
          </a:p>
          <a:p>
            <a:pPr indent="0" lvl="0" marL="0" rtl="0" algn="l">
              <a:lnSpc>
                <a:spcPct val="100000"/>
              </a:lnSpc>
              <a:spcBef>
                <a:spcPts val="229"/>
              </a:spcBef>
              <a:spcAft>
                <a:spcPts val="0"/>
              </a:spcAft>
              <a:buNone/>
            </a:pPr>
            <a:r>
              <a:t/>
            </a:r>
            <a:endParaRPr sz="1200">
              <a:latin typeface="Calibri"/>
              <a:ea typeface="Calibri"/>
              <a:cs typeface="Calibri"/>
              <a:sym typeface="Calibri"/>
            </a:endParaRPr>
          </a:p>
          <a:p>
            <a:pPr indent="0" lvl="0" marL="137160" rtl="0" algn="l">
              <a:lnSpc>
                <a:spcPct val="100000"/>
              </a:lnSpc>
              <a:spcBef>
                <a:spcPts val="0"/>
              </a:spcBef>
              <a:spcAft>
                <a:spcPts val="0"/>
              </a:spcAft>
              <a:buNone/>
            </a:pPr>
            <a:r>
              <a:rPr lang="en-US" sz="1200">
                <a:latin typeface="Calibri"/>
                <a:ea typeface="Calibri"/>
                <a:cs typeface="Calibri"/>
                <a:sym typeface="Calibri"/>
              </a:rPr>
              <a:t>0.27·[1,1] + 0.73·[1,0]</a:t>
            </a:r>
            <a:endParaRPr sz="1200">
              <a:latin typeface="Calibri"/>
              <a:ea typeface="Calibri"/>
              <a:cs typeface="Calibri"/>
              <a:sym typeface="Calibri"/>
            </a:endParaRPr>
          </a:p>
          <a:p>
            <a:pPr indent="0" lvl="0" marL="137160" rtl="0" algn="l">
              <a:lnSpc>
                <a:spcPct val="100000"/>
              </a:lnSpc>
              <a:spcBef>
                <a:spcPts val="950"/>
              </a:spcBef>
              <a:spcAft>
                <a:spcPts val="0"/>
              </a:spcAft>
              <a:buNone/>
            </a:pPr>
            <a:r>
              <a:rPr b="1" lang="en-US" sz="1000">
                <a:latin typeface="Trebuchet MS"/>
                <a:ea typeface="Trebuchet MS"/>
                <a:cs typeface="Trebuchet MS"/>
                <a:sym typeface="Trebuchet MS"/>
              </a:rPr>
              <a:t>= [1.0, 0.27]</a:t>
            </a:r>
            <a:endParaRPr sz="1000">
              <a:latin typeface="Trebuchet MS"/>
              <a:ea typeface="Trebuchet MS"/>
              <a:cs typeface="Trebuchet MS"/>
              <a:sym typeface="Trebuchet MS"/>
            </a:endParaRPr>
          </a:p>
          <a:p>
            <a:pPr indent="0" lvl="0" marL="0" rtl="0" algn="l">
              <a:lnSpc>
                <a:spcPct val="100000"/>
              </a:lnSpc>
              <a:spcBef>
                <a:spcPts val="0"/>
              </a:spcBef>
              <a:spcAft>
                <a:spcPts val="0"/>
              </a:spcAft>
              <a:buNone/>
            </a:pPr>
            <a:r>
              <a:t/>
            </a:r>
            <a:endParaRPr sz="1000">
              <a:latin typeface="Trebuchet MS"/>
              <a:ea typeface="Trebuchet MS"/>
              <a:cs typeface="Trebuchet MS"/>
              <a:sym typeface="Trebuchet MS"/>
            </a:endParaRPr>
          </a:p>
          <a:p>
            <a:pPr indent="0" lvl="0" marL="0" rtl="0" algn="l">
              <a:lnSpc>
                <a:spcPct val="100000"/>
              </a:lnSpc>
              <a:spcBef>
                <a:spcPts val="0"/>
              </a:spcBef>
              <a:spcAft>
                <a:spcPts val="0"/>
              </a:spcAft>
              <a:buNone/>
            </a:pPr>
            <a:r>
              <a:t/>
            </a:r>
            <a:endParaRPr sz="1000">
              <a:latin typeface="Trebuchet MS"/>
              <a:ea typeface="Trebuchet MS"/>
              <a:cs typeface="Trebuchet MS"/>
              <a:sym typeface="Trebuchet MS"/>
            </a:endParaRPr>
          </a:p>
          <a:p>
            <a:pPr indent="0" lvl="0" marL="0" rtl="0" algn="l">
              <a:lnSpc>
                <a:spcPct val="100000"/>
              </a:lnSpc>
              <a:spcBef>
                <a:spcPts val="0"/>
              </a:spcBef>
              <a:spcAft>
                <a:spcPts val="0"/>
              </a:spcAft>
              <a:buNone/>
            </a:pPr>
            <a:r>
              <a:t/>
            </a:r>
            <a:endParaRPr sz="1000">
              <a:latin typeface="Trebuchet MS"/>
              <a:ea typeface="Trebuchet MS"/>
              <a:cs typeface="Trebuchet MS"/>
              <a:sym typeface="Trebuchet MS"/>
            </a:endParaRPr>
          </a:p>
          <a:p>
            <a:pPr indent="0" lvl="0" marL="0" rtl="0" algn="l">
              <a:lnSpc>
                <a:spcPct val="100000"/>
              </a:lnSpc>
              <a:spcBef>
                <a:spcPts val="145"/>
              </a:spcBef>
              <a:spcAft>
                <a:spcPts val="0"/>
              </a:spcAft>
              <a:buNone/>
            </a:pPr>
            <a:r>
              <a:t/>
            </a:r>
            <a:endParaRPr sz="1000">
              <a:latin typeface="Trebuchet MS"/>
              <a:ea typeface="Trebuchet MS"/>
              <a:cs typeface="Trebuchet MS"/>
              <a:sym typeface="Trebuchet MS"/>
            </a:endParaRPr>
          </a:p>
          <a:p>
            <a:pPr indent="0" lvl="0" marL="137160" marR="517525" rtl="0" algn="l">
              <a:lnSpc>
                <a:spcPct val="100000"/>
              </a:lnSpc>
              <a:spcBef>
                <a:spcPts val="0"/>
              </a:spcBef>
              <a:spcAft>
                <a:spcPts val="0"/>
              </a:spcAft>
              <a:buNone/>
            </a:pPr>
            <a:r>
              <a:rPr i="1" lang="en-US" sz="1000">
                <a:latin typeface="Cambria"/>
                <a:ea typeface="Cambria"/>
                <a:cs typeface="Cambria"/>
                <a:sym typeface="Cambria"/>
              </a:rPr>
              <a:t>"it" has non-zero 2nd component → influenced by "animal" (which carries meaning [1,1])</a:t>
            </a:r>
            <a:endParaRPr sz="1000">
              <a:latin typeface="Cambria"/>
              <a:ea typeface="Cambria"/>
              <a:cs typeface="Cambria"/>
              <a:sym typeface="Cambria"/>
            </a:endParaRPr>
          </a:p>
        </p:txBody>
      </p:sp>
      <p:sp>
        <p:nvSpPr>
          <p:cNvPr id="1441" name="Google Shape;1441;p49"/>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descr="$PPTXTitle" id="1446" name="Google Shape;1446;p50"/>
          <p:cNvSpPr txBox="1"/>
          <p:nvPr>
            <p:ph type="title"/>
          </p:nvPr>
        </p:nvSpPr>
        <p:spPr>
          <a:xfrm>
            <a:off x="152184" y="63260"/>
            <a:ext cx="8839631" cy="879475"/>
          </a:xfrm>
          <a:prstGeom prst="rect">
            <a:avLst/>
          </a:prstGeom>
          <a:noFill/>
          <a:ln>
            <a:noFill/>
          </a:ln>
        </p:spPr>
        <p:txBody>
          <a:bodyPr anchorCtr="0" anchor="t" bIns="0" lIns="0" spcFirstLastPara="1" rIns="0" wrap="square" tIns="90825">
            <a:spAutoFit/>
          </a:bodyPr>
          <a:lstStyle/>
          <a:p>
            <a:pPr indent="0" lvl="0" marL="74930" rtl="0" algn="l">
              <a:lnSpc>
                <a:spcPct val="100000"/>
              </a:lnSpc>
              <a:spcBef>
                <a:spcPts val="0"/>
              </a:spcBef>
              <a:spcAft>
                <a:spcPts val="0"/>
              </a:spcAft>
              <a:buNone/>
            </a:pPr>
            <a:r>
              <a:rPr b="0" lang="en-US" sz="2800">
                <a:solidFill>
                  <a:srgbClr val="000000"/>
                </a:solidFill>
                <a:latin typeface="Calibri"/>
                <a:ea typeface="Calibri"/>
                <a:cs typeface="Calibri"/>
                <a:sym typeface="Calibri"/>
              </a:rPr>
              <a:t>Feed-forward Layer</a:t>
            </a:r>
            <a:endParaRPr sz="2800">
              <a:latin typeface="Calibri"/>
              <a:ea typeface="Calibri"/>
              <a:cs typeface="Calibri"/>
              <a:sym typeface="Calibri"/>
            </a:endParaRPr>
          </a:p>
        </p:txBody>
      </p:sp>
      <p:grpSp>
        <p:nvGrpSpPr>
          <p:cNvPr id="1447" name="Google Shape;1447;p50"/>
          <p:cNvGrpSpPr/>
          <p:nvPr/>
        </p:nvGrpSpPr>
        <p:grpSpPr>
          <a:xfrm>
            <a:off x="204838" y="862560"/>
            <a:ext cx="7324915" cy="3967200"/>
            <a:chOff x="204838" y="862560"/>
            <a:chExt cx="7324915" cy="3967200"/>
          </a:xfrm>
        </p:grpSpPr>
        <p:pic>
          <p:nvPicPr>
            <p:cNvPr id="1448" name="Google Shape;1448;p50"/>
            <p:cNvPicPr preferRelativeResize="0"/>
            <p:nvPr/>
          </p:nvPicPr>
          <p:blipFill rotWithShape="1">
            <a:blip r:embed="rId3">
              <a:alphaModFix/>
            </a:blip>
            <a:srcRect b="0" l="0" r="0" t="0"/>
            <a:stretch/>
          </p:blipFill>
          <p:spPr>
            <a:xfrm>
              <a:off x="204838" y="862560"/>
              <a:ext cx="7324915" cy="1356118"/>
            </a:xfrm>
            <a:prstGeom prst="rect">
              <a:avLst/>
            </a:prstGeom>
            <a:noFill/>
            <a:ln>
              <a:noFill/>
            </a:ln>
          </p:spPr>
        </p:pic>
        <p:pic>
          <p:nvPicPr>
            <p:cNvPr id="1449" name="Google Shape;1449;p50"/>
            <p:cNvPicPr preferRelativeResize="0"/>
            <p:nvPr/>
          </p:nvPicPr>
          <p:blipFill rotWithShape="1">
            <a:blip r:embed="rId4">
              <a:alphaModFix/>
            </a:blip>
            <a:srcRect b="0" l="0" r="0" t="0"/>
            <a:stretch/>
          </p:blipFill>
          <p:spPr>
            <a:xfrm>
              <a:off x="1207795" y="2345399"/>
              <a:ext cx="2105279" cy="2484361"/>
            </a:xfrm>
            <a:prstGeom prst="rect">
              <a:avLst/>
            </a:prstGeom>
            <a:noFill/>
            <a:ln>
              <a:noFill/>
            </a:ln>
          </p:spPr>
        </p:pic>
      </p:grpSp>
      <p:sp>
        <p:nvSpPr>
          <p:cNvPr id="1450" name="Google Shape;1450;p50"/>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4" name="Shape 1454"/>
        <p:cNvGrpSpPr/>
        <p:nvPr/>
      </p:nvGrpSpPr>
      <p:grpSpPr>
        <a:xfrm>
          <a:off x="0" y="0"/>
          <a:ext cx="0" cy="0"/>
          <a:chOff x="0" y="0"/>
          <a:chExt cx="0" cy="0"/>
        </a:xfrm>
      </p:grpSpPr>
      <p:pic>
        <p:nvPicPr>
          <p:cNvPr id="1455" name="Google Shape;1455;p51"/>
          <p:cNvPicPr preferRelativeResize="0"/>
          <p:nvPr/>
        </p:nvPicPr>
        <p:blipFill rotWithShape="1">
          <a:blip r:embed="rId3">
            <a:alphaModFix/>
          </a:blip>
          <a:srcRect b="0" l="0" r="0" t="0"/>
          <a:stretch/>
        </p:blipFill>
        <p:spPr>
          <a:xfrm>
            <a:off x="8369274" y="14"/>
            <a:ext cx="774357" cy="866508"/>
          </a:xfrm>
          <a:prstGeom prst="rect">
            <a:avLst/>
          </a:prstGeom>
          <a:noFill/>
          <a:ln>
            <a:noFill/>
          </a:ln>
        </p:spPr>
      </p:pic>
      <p:sp>
        <p:nvSpPr>
          <p:cNvPr descr="$PPTXTitle" id="1456" name="Google Shape;1456;p51"/>
          <p:cNvSpPr txBox="1"/>
          <p:nvPr>
            <p:ph type="title"/>
          </p:nvPr>
        </p:nvSpPr>
        <p:spPr>
          <a:xfrm>
            <a:off x="152184" y="63260"/>
            <a:ext cx="8839631" cy="879475"/>
          </a:xfrm>
          <a:prstGeom prst="rect">
            <a:avLst/>
          </a:prstGeom>
          <a:noFill/>
          <a:ln>
            <a:noFill/>
          </a:ln>
        </p:spPr>
        <p:txBody>
          <a:bodyPr anchorCtr="0" anchor="t" bIns="0" lIns="0" spcFirstLastPara="1" rIns="0" wrap="square" tIns="439650">
            <a:spAutoFit/>
          </a:bodyPr>
          <a:lstStyle/>
          <a:p>
            <a:pPr indent="0" lvl="0" marL="2775585" rtl="0" algn="l">
              <a:lnSpc>
                <a:spcPct val="100000"/>
              </a:lnSpc>
              <a:spcBef>
                <a:spcPts val="0"/>
              </a:spcBef>
              <a:spcAft>
                <a:spcPts val="0"/>
              </a:spcAft>
              <a:buNone/>
            </a:pPr>
            <a:r>
              <a:rPr b="0" lang="en-US" sz="2800">
                <a:solidFill>
                  <a:srgbClr val="000000"/>
                </a:solidFill>
                <a:latin typeface="Calibri"/>
                <a:ea typeface="Calibri"/>
                <a:cs typeface="Calibri"/>
                <a:sym typeface="Calibri"/>
              </a:rPr>
              <a:t>Feed-forward Layer</a:t>
            </a:r>
            <a:endParaRPr sz="2800">
              <a:latin typeface="Calibri"/>
              <a:ea typeface="Calibri"/>
              <a:cs typeface="Calibri"/>
              <a:sym typeface="Calibri"/>
            </a:endParaRPr>
          </a:p>
        </p:txBody>
      </p:sp>
      <p:grpSp>
        <p:nvGrpSpPr>
          <p:cNvPr id="1457" name="Google Shape;1457;p51"/>
          <p:cNvGrpSpPr/>
          <p:nvPr/>
        </p:nvGrpSpPr>
        <p:grpSpPr>
          <a:xfrm>
            <a:off x="887399" y="1144081"/>
            <a:ext cx="6441833" cy="2754363"/>
            <a:chOff x="887399" y="1144081"/>
            <a:chExt cx="6441833" cy="2754363"/>
          </a:xfrm>
        </p:grpSpPr>
        <p:pic>
          <p:nvPicPr>
            <p:cNvPr id="1458" name="Google Shape;1458;p51"/>
            <p:cNvPicPr preferRelativeResize="0"/>
            <p:nvPr/>
          </p:nvPicPr>
          <p:blipFill rotWithShape="1">
            <a:blip r:embed="rId4">
              <a:alphaModFix/>
            </a:blip>
            <a:srcRect b="0" l="0" r="0" t="0"/>
            <a:stretch/>
          </p:blipFill>
          <p:spPr>
            <a:xfrm>
              <a:off x="887399" y="1721880"/>
              <a:ext cx="6441833" cy="2176564"/>
            </a:xfrm>
            <a:prstGeom prst="rect">
              <a:avLst/>
            </a:prstGeom>
            <a:noFill/>
            <a:ln>
              <a:noFill/>
            </a:ln>
          </p:spPr>
        </p:pic>
        <p:pic>
          <p:nvPicPr>
            <p:cNvPr id="1459" name="Google Shape;1459;p51"/>
            <p:cNvPicPr preferRelativeResize="0"/>
            <p:nvPr/>
          </p:nvPicPr>
          <p:blipFill rotWithShape="1">
            <a:blip r:embed="rId5">
              <a:alphaModFix/>
            </a:blip>
            <a:srcRect b="0" l="0" r="0" t="0"/>
            <a:stretch/>
          </p:blipFill>
          <p:spPr>
            <a:xfrm>
              <a:off x="1316164" y="3512529"/>
              <a:ext cx="259194" cy="122034"/>
            </a:xfrm>
            <a:prstGeom prst="rect">
              <a:avLst/>
            </a:prstGeom>
            <a:noFill/>
            <a:ln>
              <a:noFill/>
            </a:ln>
          </p:spPr>
        </p:pic>
        <p:pic>
          <p:nvPicPr>
            <p:cNvPr id="1460" name="Google Shape;1460;p51"/>
            <p:cNvPicPr preferRelativeResize="0"/>
            <p:nvPr/>
          </p:nvPicPr>
          <p:blipFill rotWithShape="1">
            <a:blip r:embed="rId6">
              <a:alphaModFix/>
            </a:blip>
            <a:srcRect b="0" l="0" r="0" t="0"/>
            <a:stretch/>
          </p:blipFill>
          <p:spPr>
            <a:xfrm>
              <a:off x="1657083" y="3501366"/>
              <a:ext cx="92875" cy="136436"/>
            </a:xfrm>
            <a:prstGeom prst="rect">
              <a:avLst/>
            </a:prstGeom>
            <a:noFill/>
            <a:ln>
              <a:noFill/>
            </a:ln>
          </p:spPr>
        </p:pic>
        <p:pic>
          <p:nvPicPr>
            <p:cNvPr id="1461" name="Google Shape;1461;p51"/>
            <p:cNvPicPr preferRelativeResize="0"/>
            <p:nvPr/>
          </p:nvPicPr>
          <p:blipFill rotWithShape="1">
            <a:blip r:embed="rId7">
              <a:alphaModFix/>
            </a:blip>
            <a:srcRect b="0" l="0" r="0" t="0"/>
            <a:stretch/>
          </p:blipFill>
          <p:spPr>
            <a:xfrm>
              <a:off x="1815122" y="3478684"/>
              <a:ext cx="226085" cy="142557"/>
            </a:xfrm>
            <a:prstGeom prst="rect">
              <a:avLst/>
            </a:prstGeom>
            <a:noFill/>
            <a:ln>
              <a:noFill/>
            </a:ln>
          </p:spPr>
        </p:pic>
        <p:pic>
          <p:nvPicPr>
            <p:cNvPr id="1462" name="Google Shape;1462;p51"/>
            <p:cNvPicPr preferRelativeResize="0"/>
            <p:nvPr/>
          </p:nvPicPr>
          <p:blipFill rotWithShape="1">
            <a:blip r:embed="rId8">
              <a:alphaModFix/>
            </a:blip>
            <a:srcRect b="0" l="0" r="0" t="0"/>
            <a:stretch/>
          </p:blipFill>
          <p:spPr>
            <a:xfrm>
              <a:off x="1645196" y="2377810"/>
              <a:ext cx="140042" cy="141478"/>
            </a:xfrm>
            <a:prstGeom prst="rect">
              <a:avLst/>
            </a:prstGeom>
            <a:noFill/>
            <a:ln>
              <a:noFill/>
            </a:ln>
          </p:spPr>
        </p:pic>
        <p:pic>
          <p:nvPicPr>
            <p:cNvPr id="1463" name="Google Shape;1463;p51"/>
            <p:cNvPicPr preferRelativeResize="0"/>
            <p:nvPr/>
          </p:nvPicPr>
          <p:blipFill rotWithShape="1">
            <a:blip r:embed="rId9">
              <a:alphaModFix/>
            </a:blip>
            <a:srcRect b="0" l="0" r="0" t="0"/>
            <a:stretch/>
          </p:blipFill>
          <p:spPr>
            <a:xfrm>
              <a:off x="1843201" y="2352956"/>
              <a:ext cx="76314" cy="161645"/>
            </a:xfrm>
            <a:prstGeom prst="rect">
              <a:avLst/>
            </a:prstGeom>
            <a:noFill/>
            <a:ln>
              <a:noFill/>
            </a:ln>
          </p:spPr>
        </p:pic>
        <p:sp>
          <p:nvSpPr>
            <p:cNvPr id="1464" name="Google Shape;1464;p51"/>
            <p:cNvSpPr/>
            <p:nvPr/>
          </p:nvSpPr>
          <p:spPr>
            <a:xfrm>
              <a:off x="1007999" y="2404797"/>
              <a:ext cx="1336675" cy="35560"/>
            </a:xfrm>
            <a:custGeom>
              <a:rect b="b" l="l" r="r" t="t"/>
              <a:pathLst>
                <a:path extrusionOk="0" h="35560" w="1336675">
                  <a:moveTo>
                    <a:pt x="41046" y="31686"/>
                  </a:moveTo>
                  <a:lnTo>
                    <a:pt x="0" y="35280"/>
                  </a:lnTo>
                  <a:lnTo>
                    <a:pt x="355" y="35280"/>
                  </a:lnTo>
                  <a:lnTo>
                    <a:pt x="2882" y="35280"/>
                  </a:lnTo>
                  <a:lnTo>
                    <a:pt x="9715" y="35280"/>
                  </a:lnTo>
                  <a:lnTo>
                    <a:pt x="20154" y="35280"/>
                  </a:lnTo>
                  <a:lnTo>
                    <a:pt x="28803" y="35280"/>
                  </a:lnTo>
                  <a:lnTo>
                    <a:pt x="38519" y="34569"/>
                  </a:lnTo>
                  <a:lnTo>
                    <a:pt x="49682" y="33845"/>
                  </a:lnTo>
                  <a:lnTo>
                    <a:pt x="62636" y="32765"/>
                  </a:lnTo>
                  <a:lnTo>
                    <a:pt x="76682" y="31318"/>
                  </a:lnTo>
                  <a:lnTo>
                    <a:pt x="92163" y="29527"/>
                  </a:lnTo>
                  <a:lnTo>
                    <a:pt x="148323" y="24841"/>
                  </a:lnTo>
                  <a:lnTo>
                    <a:pt x="190080" y="21602"/>
                  </a:lnTo>
                  <a:lnTo>
                    <a:pt x="233286" y="18719"/>
                  </a:lnTo>
                  <a:lnTo>
                    <a:pt x="277558" y="16560"/>
                  </a:lnTo>
                  <a:lnTo>
                    <a:pt x="321843" y="15125"/>
                  </a:lnTo>
                  <a:lnTo>
                    <a:pt x="366839" y="14401"/>
                  </a:lnTo>
                  <a:lnTo>
                    <a:pt x="412203" y="13677"/>
                  </a:lnTo>
                  <a:lnTo>
                    <a:pt x="453961" y="13677"/>
                  </a:lnTo>
                  <a:lnTo>
                    <a:pt x="473036" y="13677"/>
                  </a:lnTo>
                  <a:lnTo>
                    <a:pt x="502564" y="13677"/>
                  </a:lnTo>
                  <a:lnTo>
                    <a:pt x="537121" y="14770"/>
                  </a:lnTo>
                  <a:lnTo>
                    <a:pt x="577075" y="16205"/>
                  </a:lnTo>
                  <a:lnTo>
                    <a:pt x="621715" y="18364"/>
                  </a:lnTo>
                </a:path>
                <a:path extrusionOk="0" h="35560" w="1336675">
                  <a:moveTo>
                    <a:pt x="1002245" y="18719"/>
                  </a:moveTo>
                  <a:lnTo>
                    <a:pt x="984961" y="18008"/>
                  </a:lnTo>
                  <a:lnTo>
                    <a:pt x="969835" y="17640"/>
                  </a:lnTo>
                  <a:lnTo>
                    <a:pt x="956881" y="17640"/>
                  </a:lnTo>
                  <a:lnTo>
                    <a:pt x="945718" y="17640"/>
                  </a:lnTo>
                  <a:lnTo>
                    <a:pt x="925563" y="19799"/>
                  </a:lnTo>
                  <a:lnTo>
                    <a:pt x="926642" y="20167"/>
                  </a:lnTo>
                  <a:lnTo>
                    <a:pt x="928077" y="20523"/>
                  </a:lnTo>
                  <a:lnTo>
                    <a:pt x="968756" y="24841"/>
                  </a:lnTo>
                  <a:lnTo>
                    <a:pt x="1011237" y="25209"/>
                  </a:lnTo>
                  <a:lnTo>
                    <a:pt x="1031760" y="25209"/>
                  </a:lnTo>
                  <a:lnTo>
                    <a:pt x="1083957" y="23761"/>
                  </a:lnTo>
                  <a:lnTo>
                    <a:pt x="1136154" y="20878"/>
                  </a:lnTo>
                  <a:lnTo>
                    <a:pt x="1185481" y="16929"/>
                  </a:lnTo>
                  <a:lnTo>
                    <a:pt x="1233004" y="11887"/>
                  </a:lnTo>
                  <a:lnTo>
                    <a:pt x="1274406" y="7200"/>
                  </a:lnTo>
                  <a:lnTo>
                    <a:pt x="1321917" y="1803"/>
                  </a:lnTo>
                  <a:lnTo>
                    <a:pt x="1333080" y="368"/>
                  </a:lnTo>
                  <a:lnTo>
                    <a:pt x="1335963" y="0"/>
                  </a:lnTo>
                  <a:lnTo>
                    <a:pt x="1336319" y="0"/>
                  </a:lnTo>
                  <a:lnTo>
                    <a:pt x="1334884" y="0"/>
                  </a:lnTo>
                  <a:lnTo>
                    <a:pt x="1329842" y="723"/>
                  </a:lnTo>
                  <a:lnTo>
                    <a:pt x="1317955" y="2527"/>
                  </a:lnTo>
                  <a:lnTo>
                    <a:pt x="1298879" y="5410"/>
                  </a:lnTo>
                  <a:lnTo>
                    <a:pt x="1272603" y="9359"/>
                  </a:lnTo>
                </a:path>
              </a:pathLst>
            </a:custGeom>
            <a:noFill/>
            <a:ln cap="flat" cmpd="sng" w="14375">
              <a:solidFill>
                <a:srgbClr val="81208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465" name="Google Shape;1465;p51"/>
            <p:cNvPicPr preferRelativeResize="0"/>
            <p:nvPr/>
          </p:nvPicPr>
          <p:blipFill rotWithShape="1">
            <a:blip r:embed="rId10">
              <a:alphaModFix/>
            </a:blip>
            <a:srcRect b="0" l="0" r="0" t="0"/>
            <a:stretch/>
          </p:blipFill>
          <p:spPr>
            <a:xfrm>
              <a:off x="2039759" y="1144081"/>
              <a:ext cx="4686846" cy="439204"/>
            </a:xfrm>
            <a:prstGeom prst="rect">
              <a:avLst/>
            </a:prstGeom>
            <a:noFill/>
            <a:ln>
              <a:noFill/>
            </a:ln>
          </p:spPr>
        </p:pic>
        <p:pic>
          <p:nvPicPr>
            <p:cNvPr id="1466" name="Google Shape;1466;p51"/>
            <p:cNvPicPr preferRelativeResize="0"/>
            <p:nvPr/>
          </p:nvPicPr>
          <p:blipFill rotWithShape="1">
            <a:blip r:embed="rId11">
              <a:alphaModFix/>
            </a:blip>
            <a:srcRect b="0" l="0" r="0" t="0"/>
            <a:stretch/>
          </p:blipFill>
          <p:spPr>
            <a:xfrm>
              <a:off x="1544040" y="2143076"/>
              <a:ext cx="128524" cy="218160"/>
            </a:xfrm>
            <a:prstGeom prst="rect">
              <a:avLst/>
            </a:prstGeom>
            <a:noFill/>
            <a:ln>
              <a:noFill/>
            </a:ln>
          </p:spPr>
        </p:pic>
        <p:sp>
          <p:nvSpPr>
            <p:cNvPr id="1467" name="Google Shape;1467;p51"/>
            <p:cNvSpPr/>
            <p:nvPr/>
          </p:nvSpPr>
          <p:spPr>
            <a:xfrm>
              <a:off x="1285925" y="2253236"/>
              <a:ext cx="663575" cy="71120"/>
            </a:xfrm>
            <a:custGeom>
              <a:rect b="b" l="l" r="r" t="t"/>
              <a:pathLst>
                <a:path extrusionOk="0" h="71119" w="663575">
                  <a:moveTo>
                    <a:pt x="40678" y="69126"/>
                  </a:moveTo>
                  <a:lnTo>
                    <a:pt x="25196" y="69126"/>
                  </a:lnTo>
                  <a:lnTo>
                    <a:pt x="13309" y="69126"/>
                  </a:lnTo>
                  <a:lnTo>
                    <a:pt x="5753" y="69126"/>
                  </a:lnTo>
                  <a:lnTo>
                    <a:pt x="2159" y="69481"/>
                  </a:lnTo>
                  <a:lnTo>
                    <a:pt x="1079" y="69850"/>
                  </a:lnTo>
                  <a:lnTo>
                    <a:pt x="0" y="69850"/>
                  </a:lnTo>
                  <a:lnTo>
                    <a:pt x="0" y="70205"/>
                  </a:lnTo>
                  <a:lnTo>
                    <a:pt x="355" y="70205"/>
                  </a:lnTo>
                  <a:lnTo>
                    <a:pt x="2159" y="70205"/>
                  </a:lnTo>
                  <a:lnTo>
                    <a:pt x="3594" y="70205"/>
                  </a:lnTo>
                  <a:lnTo>
                    <a:pt x="10439" y="70205"/>
                  </a:lnTo>
                  <a:lnTo>
                    <a:pt x="22669" y="70561"/>
                  </a:lnTo>
                  <a:lnTo>
                    <a:pt x="32029" y="70561"/>
                  </a:lnTo>
                  <a:lnTo>
                    <a:pt x="41389" y="70561"/>
                  </a:lnTo>
                  <a:lnTo>
                    <a:pt x="50749" y="70561"/>
                  </a:lnTo>
                  <a:lnTo>
                    <a:pt x="60109" y="70561"/>
                  </a:lnTo>
                  <a:lnTo>
                    <a:pt x="77393" y="70205"/>
                  </a:lnTo>
                  <a:lnTo>
                    <a:pt x="100431" y="69126"/>
                  </a:lnTo>
                  <a:lnTo>
                    <a:pt x="129959" y="67690"/>
                  </a:lnTo>
                  <a:lnTo>
                    <a:pt x="165950" y="65887"/>
                  </a:lnTo>
                </a:path>
                <a:path extrusionOk="0" h="71119" w="663575">
                  <a:moveTo>
                    <a:pt x="521271" y="24485"/>
                  </a:moveTo>
                  <a:lnTo>
                    <a:pt x="519112" y="22326"/>
                  </a:lnTo>
                  <a:lnTo>
                    <a:pt x="520191" y="20891"/>
                  </a:lnTo>
                  <a:lnTo>
                    <a:pt x="525233" y="20167"/>
                  </a:lnTo>
                  <a:lnTo>
                    <a:pt x="530275" y="19443"/>
                  </a:lnTo>
                  <a:lnTo>
                    <a:pt x="536028" y="18719"/>
                  </a:lnTo>
                  <a:lnTo>
                    <a:pt x="543229" y="18008"/>
                  </a:lnTo>
                  <a:lnTo>
                    <a:pt x="550430" y="17640"/>
                  </a:lnTo>
                  <a:lnTo>
                    <a:pt x="599033" y="10807"/>
                  </a:lnTo>
                  <a:lnTo>
                    <a:pt x="627468" y="6121"/>
                  </a:lnTo>
                  <a:lnTo>
                    <a:pt x="663473" y="0"/>
                  </a:lnTo>
                </a:path>
              </a:pathLst>
            </a:custGeom>
            <a:noFill/>
            <a:ln cap="flat" cmpd="sng" w="14375">
              <a:solidFill>
                <a:srgbClr val="81208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468" name="Google Shape;1468;p51"/>
          <p:cNvSpPr txBox="1"/>
          <p:nvPr/>
        </p:nvSpPr>
        <p:spPr>
          <a:xfrm>
            <a:off x="1262519" y="4800453"/>
            <a:ext cx="4676140" cy="362585"/>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US" sz="1100">
                <a:latin typeface="Calibri"/>
                <a:ea typeface="Calibri"/>
                <a:cs typeface="Calibri"/>
                <a:sym typeface="Calibri"/>
              </a:rPr>
              <a:t>Source:</a:t>
            </a:r>
            <a:endParaRPr sz="1100">
              <a:latin typeface="Calibri"/>
              <a:ea typeface="Calibri"/>
              <a:cs typeface="Calibri"/>
              <a:sym typeface="Calibri"/>
            </a:endParaRPr>
          </a:p>
          <a:p>
            <a:pPr indent="0" lvl="0" marL="0" rtl="0" algn="l">
              <a:lnSpc>
                <a:spcPct val="100000"/>
              </a:lnSpc>
              <a:spcBef>
                <a:spcPts val="250"/>
              </a:spcBef>
              <a:spcAft>
                <a:spcPts val="0"/>
              </a:spcAft>
              <a:buNone/>
            </a:pPr>
            <a:r>
              <a:rPr i="1" lang="en-US" sz="1100" u="sng">
                <a:solidFill>
                  <a:schemeClr val="hlink"/>
                </a:solidFill>
                <a:latin typeface="Arial"/>
                <a:ea typeface="Arial"/>
                <a:cs typeface="Arial"/>
                <a:sym typeface="Arial"/>
                <a:hlinkClick r:id="rId12"/>
              </a:rPr>
              <a:t>https://deepmind.com/learning-resources/deep-learning-lecture-series-2020</a:t>
            </a:r>
            <a:endParaRPr sz="1100">
              <a:latin typeface="Arial"/>
              <a:ea typeface="Arial"/>
              <a:cs typeface="Arial"/>
              <a:sym typeface="Arial"/>
            </a:endParaRPr>
          </a:p>
        </p:txBody>
      </p:sp>
      <p:pic>
        <p:nvPicPr>
          <p:cNvPr id="1469" name="Google Shape;1469;p51"/>
          <p:cNvPicPr preferRelativeResize="0"/>
          <p:nvPr/>
        </p:nvPicPr>
        <p:blipFill rotWithShape="1">
          <a:blip r:embed="rId13">
            <a:alphaModFix/>
          </a:blip>
          <a:srcRect b="0" l="0" r="0" t="0"/>
          <a:stretch/>
        </p:blipFill>
        <p:spPr>
          <a:xfrm>
            <a:off x="0" y="3924352"/>
            <a:ext cx="9073807" cy="1218603"/>
          </a:xfrm>
          <a:prstGeom prst="rect">
            <a:avLst/>
          </a:prstGeom>
          <a:noFill/>
          <a:ln>
            <a:noFill/>
          </a:ln>
        </p:spPr>
      </p:pic>
      <p:sp>
        <p:nvSpPr>
          <p:cNvPr id="1470" name="Google Shape;1470;p51"/>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4" name="Shape 1474"/>
        <p:cNvGrpSpPr/>
        <p:nvPr/>
      </p:nvGrpSpPr>
      <p:grpSpPr>
        <a:xfrm>
          <a:off x="0" y="0"/>
          <a:ext cx="0" cy="0"/>
          <a:chOff x="0" y="0"/>
          <a:chExt cx="0" cy="0"/>
        </a:xfrm>
      </p:grpSpPr>
      <p:sp>
        <p:nvSpPr>
          <p:cNvPr descr="$PPTXTitle" id="1475" name="Google Shape;1475;p52"/>
          <p:cNvSpPr txBox="1"/>
          <p:nvPr>
            <p:ph type="title"/>
          </p:nvPr>
        </p:nvSpPr>
        <p:spPr>
          <a:xfrm>
            <a:off x="152184" y="63260"/>
            <a:ext cx="8839631" cy="879475"/>
          </a:xfrm>
          <a:prstGeom prst="rect">
            <a:avLst/>
          </a:prstGeom>
          <a:noFill/>
          <a:ln>
            <a:noFill/>
          </a:ln>
        </p:spPr>
        <p:txBody>
          <a:bodyPr anchorCtr="0" anchor="t" bIns="0" lIns="0" spcFirstLastPara="1" rIns="0" wrap="square" tIns="90825">
            <a:spAutoFit/>
          </a:bodyPr>
          <a:lstStyle/>
          <a:p>
            <a:pPr indent="0" lvl="0" marL="74930" rtl="0" algn="l">
              <a:lnSpc>
                <a:spcPct val="100000"/>
              </a:lnSpc>
              <a:spcBef>
                <a:spcPts val="0"/>
              </a:spcBef>
              <a:spcAft>
                <a:spcPts val="0"/>
              </a:spcAft>
              <a:buNone/>
            </a:pPr>
            <a:r>
              <a:rPr b="0" lang="en-US" sz="2800">
                <a:solidFill>
                  <a:srgbClr val="000000"/>
                </a:solidFill>
                <a:latin typeface="Calibri"/>
                <a:ea typeface="Calibri"/>
                <a:cs typeface="Calibri"/>
                <a:sym typeface="Calibri"/>
              </a:rPr>
              <a:t>How to make this work for deep networks?</a:t>
            </a:r>
            <a:endParaRPr sz="2800">
              <a:latin typeface="Calibri"/>
              <a:ea typeface="Calibri"/>
              <a:cs typeface="Calibri"/>
              <a:sym typeface="Calibri"/>
            </a:endParaRPr>
          </a:p>
        </p:txBody>
      </p:sp>
      <p:pic>
        <p:nvPicPr>
          <p:cNvPr id="1476" name="Google Shape;1476;p52"/>
          <p:cNvPicPr preferRelativeResize="0"/>
          <p:nvPr/>
        </p:nvPicPr>
        <p:blipFill rotWithShape="1">
          <a:blip r:embed="rId3">
            <a:alphaModFix/>
          </a:blip>
          <a:srcRect b="0" l="0" r="0" t="0"/>
          <a:stretch/>
        </p:blipFill>
        <p:spPr>
          <a:xfrm>
            <a:off x="8369274" y="14"/>
            <a:ext cx="774357" cy="866508"/>
          </a:xfrm>
          <a:prstGeom prst="rect">
            <a:avLst/>
          </a:prstGeom>
          <a:noFill/>
          <a:ln>
            <a:noFill/>
          </a:ln>
        </p:spPr>
      </p:pic>
      <p:pic>
        <p:nvPicPr>
          <p:cNvPr id="1477" name="Google Shape;1477;p52"/>
          <p:cNvPicPr preferRelativeResize="0"/>
          <p:nvPr/>
        </p:nvPicPr>
        <p:blipFill rotWithShape="1">
          <a:blip r:embed="rId4">
            <a:alphaModFix/>
          </a:blip>
          <a:srcRect b="0" l="0" r="0" t="0"/>
          <a:stretch/>
        </p:blipFill>
        <p:spPr>
          <a:xfrm>
            <a:off x="1026718" y="1101955"/>
            <a:ext cx="2105279" cy="2484361"/>
          </a:xfrm>
          <a:prstGeom prst="rect">
            <a:avLst/>
          </a:prstGeom>
          <a:noFill/>
          <a:ln>
            <a:noFill/>
          </a:ln>
        </p:spPr>
      </p:pic>
      <p:sp>
        <p:nvSpPr>
          <p:cNvPr id="1478" name="Google Shape;1478;p52"/>
          <p:cNvSpPr txBox="1"/>
          <p:nvPr/>
        </p:nvSpPr>
        <p:spPr>
          <a:xfrm>
            <a:off x="317055" y="1684707"/>
            <a:ext cx="125095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latin typeface="Calibri"/>
                <a:ea typeface="Calibri"/>
                <a:cs typeface="Calibri"/>
                <a:sym typeface="Calibri"/>
              </a:rPr>
              <a:t>Repeat 6 times</a:t>
            </a:r>
            <a:endParaRPr sz="1600">
              <a:latin typeface="Calibri"/>
              <a:ea typeface="Calibri"/>
              <a:cs typeface="Calibri"/>
              <a:sym typeface="Calibri"/>
            </a:endParaRPr>
          </a:p>
        </p:txBody>
      </p:sp>
      <p:sp>
        <p:nvSpPr>
          <p:cNvPr id="1479" name="Google Shape;1479;p52"/>
          <p:cNvSpPr txBox="1"/>
          <p:nvPr/>
        </p:nvSpPr>
        <p:spPr>
          <a:xfrm>
            <a:off x="3863060" y="2349629"/>
            <a:ext cx="3599179" cy="711200"/>
          </a:xfrm>
          <a:prstGeom prst="rect">
            <a:avLst/>
          </a:prstGeom>
          <a:noFill/>
          <a:ln>
            <a:noFill/>
          </a:ln>
        </p:spPr>
        <p:txBody>
          <a:bodyPr anchorCtr="0" anchor="t" bIns="0" lIns="0" spcFirstLastPara="1" rIns="0" wrap="square" tIns="12700">
            <a:spAutoFit/>
          </a:bodyPr>
          <a:lstStyle/>
          <a:p>
            <a:pPr indent="0" lvl="0" marL="12700" marR="591820" rtl="0" algn="l">
              <a:lnSpc>
                <a:spcPct val="100000"/>
              </a:lnSpc>
              <a:spcBef>
                <a:spcPts val="0"/>
              </a:spcBef>
              <a:spcAft>
                <a:spcPts val="0"/>
              </a:spcAft>
              <a:buNone/>
            </a:pPr>
            <a:r>
              <a:rPr lang="en-US" sz="1500">
                <a:latin typeface="Calibri"/>
                <a:ea typeface="Calibri"/>
                <a:cs typeface="Calibri"/>
                <a:sym typeface="Calibri"/>
              </a:rPr>
              <a:t>Training Trick #1: Residual Connections Training Trick #2: LayerNorm</a:t>
            </a:r>
            <a:endParaRPr sz="1500">
              <a:latin typeface="Calibri"/>
              <a:ea typeface="Calibri"/>
              <a:cs typeface="Calibri"/>
              <a:sym typeface="Calibri"/>
            </a:endParaRPr>
          </a:p>
          <a:p>
            <a:pPr indent="0" lvl="0" marL="12700" rtl="0" algn="l">
              <a:lnSpc>
                <a:spcPct val="100000"/>
              </a:lnSpc>
              <a:spcBef>
                <a:spcPts val="0"/>
              </a:spcBef>
              <a:spcAft>
                <a:spcPts val="0"/>
              </a:spcAft>
              <a:buNone/>
            </a:pPr>
            <a:r>
              <a:rPr lang="en-US" sz="1500">
                <a:latin typeface="Calibri"/>
                <a:ea typeface="Calibri"/>
                <a:cs typeface="Calibri"/>
                <a:sym typeface="Calibri"/>
              </a:rPr>
              <a:t>Training Trick #3: Scaled Dot Product Attention</a:t>
            </a:r>
            <a:endParaRPr sz="1500">
              <a:latin typeface="Calibri"/>
              <a:ea typeface="Calibri"/>
              <a:cs typeface="Calibri"/>
              <a:sym typeface="Calibri"/>
            </a:endParaRPr>
          </a:p>
        </p:txBody>
      </p:sp>
      <p:sp>
        <p:nvSpPr>
          <p:cNvPr id="1480" name="Google Shape;1480;p52"/>
          <p:cNvSpPr txBox="1"/>
          <p:nvPr/>
        </p:nvSpPr>
        <p:spPr>
          <a:xfrm>
            <a:off x="1246936" y="4814052"/>
            <a:ext cx="2903220" cy="242570"/>
          </a:xfrm>
          <a:prstGeom prst="rect">
            <a:avLst/>
          </a:prstGeom>
          <a:noFill/>
          <a:ln>
            <a:noFill/>
          </a:ln>
        </p:spPr>
        <p:txBody>
          <a:bodyPr anchorCtr="0" anchor="t" bIns="0" lIns="0" spcFirstLastPara="1" rIns="0" wrap="square" tIns="3800">
            <a:spAutoFit/>
          </a:bodyPr>
          <a:lstStyle/>
          <a:p>
            <a:pPr indent="0" lvl="0" marL="12700" rtl="0" algn="l">
              <a:lnSpc>
                <a:spcPct val="100000"/>
              </a:lnSpc>
              <a:spcBef>
                <a:spcPts val="0"/>
              </a:spcBef>
              <a:spcAft>
                <a:spcPts val="0"/>
              </a:spcAft>
              <a:buNone/>
            </a:pPr>
            <a:r>
              <a:rPr lang="en-US" sz="1400" u="sng">
                <a:solidFill>
                  <a:schemeClr val="hlink"/>
                </a:solidFill>
                <a:latin typeface="Calibri"/>
                <a:ea typeface="Calibri"/>
                <a:cs typeface="Calibri"/>
                <a:sym typeface="Calibri"/>
                <a:hlinkClick r:id="rId5"/>
              </a:rPr>
              <a:t>https://web.stanford.edu/class/cs224n/</a:t>
            </a:r>
            <a:endParaRPr sz="1400">
              <a:latin typeface="Calibri"/>
              <a:ea typeface="Calibri"/>
              <a:cs typeface="Calibri"/>
              <a:sym typeface="Calibri"/>
            </a:endParaRPr>
          </a:p>
        </p:txBody>
      </p:sp>
      <p:sp>
        <p:nvSpPr>
          <p:cNvPr id="1481" name="Google Shape;1481;p52"/>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5" name="Shape 1485"/>
        <p:cNvGrpSpPr/>
        <p:nvPr/>
      </p:nvGrpSpPr>
      <p:grpSpPr>
        <a:xfrm>
          <a:off x="0" y="0"/>
          <a:ext cx="0" cy="0"/>
          <a:chOff x="0" y="0"/>
          <a:chExt cx="0" cy="0"/>
        </a:xfrm>
      </p:grpSpPr>
      <p:sp>
        <p:nvSpPr>
          <p:cNvPr descr="$PPTXTitle" id="1486" name="Google Shape;1486;p53"/>
          <p:cNvSpPr txBox="1"/>
          <p:nvPr>
            <p:ph type="title"/>
          </p:nvPr>
        </p:nvSpPr>
        <p:spPr>
          <a:xfrm>
            <a:off x="152184" y="63260"/>
            <a:ext cx="8839631" cy="879475"/>
          </a:xfrm>
          <a:prstGeom prst="rect">
            <a:avLst/>
          </a:prstGeom>
          <a:noFill/>
          <a:ln>
            <a:noFill/>
          </a:ln>
        </p:spPr>
        <p:txBody>
          <a:bodyPr anchorCtr="0" anchor="t" bIns="0" lIns="0" spcFirstLastPara="1" rIns="0" wrap="square" tIns="90825">
            <a:spAutoFit/>
          </a:bodyPr>
          <a:lstStyle/>
          <a:p>
            <a:pPr indent="0" lvl="0" marL="74930" rtl="0" algn="l">
              <a:lnSpc>
                <a:spcPct val="100000"/>
              </a:lnSpc>
              <a:spcBef>
                <a:spcPts val="0"/>
              </a:spcBef>
              <a:spcAft>
                <a:spcPts val="0"/>
              </a:spcAft>
              <a:buNone/>
            </a:pPr>
            <a:r>
              <a:rPr b="0" lang="en-US" sz="2800">
                <a:solidFill>
                  <a:srgbClr val="000000"/>
                </a:solidFill>
                <a:latin typeface="Calibri"/>
                <a:ea typeface="Calibri"/>
                <a:cs typeface="Calibri"/>
                <a:sym typeface="Calibri"/>
              </a:rPr>
              <a:t>Training Trick #1: Residual Connections</a:t>
            </a:r>
            <a:endParaRPr sz="2800">
              <a:latin typeface="Calibri"/>
              <a:ea typeface="Calibri"/>
              <a:cs typeface="Calibri"/>
              <a:sym typeface="Calibri"/>
            </a:endParaRPr>
          </a:p>
        </p:txBody>
      </p:sp>
      <p:grpSp>
        <p:nvGrpSpPr>
          <p:cNvPr id="1487" name="Google Shape;1487;p53"/>
          <p:cNvGrpSpPr/>
          <p:nvPr/>
        </p:nvGrpSpPr>
        <p:grpSpPr>
          <a:xfrm>
            <a:off x="269633" y="14"/>
            <a:ext cx="8873998" cy="4160024"/>
            <a:chOff x="269633" y="14"/>
            <a:chExt cx="8873998" cy="4160024"/>
          </a:xfrm>
        </p:grpSpPr>
        <p:pic>
          <p:nvPicPr>
            <p:cNvPr id="1488" name="Google Shape;1488;p53"/>
            <p:cNvPicPr preferRelativeResize="0"/>
            <p:nvPr/>
          </p:nvPicPr>
          <p:blipFill rotWithShape="1">
            <a:blip r:embed="rId3">
              <a:alphaModFix/>
            </a:blip>
            <a:srcRect b="0" l="0" r="0" t="0"/>
            <a:stretch/>
          </p:blipFill>
          <p:spPr>
            <a:xfrm>
              <a:off x="269633" y="857518"/>
              <a:ext cx="7020725" cy="3206877"/>
            </a:xfrm>
            <a:prstGeom prst="rect">
              <a:avLst/>
            </a:prstGeom>
            <a:noFill/>
            <a:ln>
              <a:noFill/>
            </a:ln>
          </p:spPr>
        </p:pic>
        <p:sp>
          <p:nvSpPr>
            <p:cNvPr id="1489" name="Google Shape;1489;p53"/>
            <p:cNvSpPr/>
            <p:nvPr/>
          </p:nvSpPr>
          <p:spPr>
            <a:xfrm>
              <a:off x="2309406" y="3935884"/>
              <a:ext cx="4088765" cy="224154"/>
            </a:xfrm>
            <a:custGeom>
              <a:rect b="b" l="l" r="r" t="t"/>
              <a:pathLst>
                <a:path extrusionOk="0" h="224154" w="4088765">
                  <a:moveTo>
                    <a:pt x="4088511" y="0"/>
                  </a:moveTo>
                  <a:lnTo>
                    <a:pt x="0" y="0"/>
                  </a:lnTo>
                  <a:lnTo>
                    <a:pt x="0" y="223913"/>
                  </a:lnTo>
                  <a:lnTo>
                    <a:pt x="4088511" y="223913"/>
                  </a:lnTo>
                  <a:lnTo>
                    <a:pt x="408851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490" name="Google Shape;1490;p53"/>
            <p:cNvPicPr preferRelativeResize="0"/>
            <p:nvPr/>
          </p:nvPicPr>
          <p:blipFill rotWithShape="1">
            <a:blip r:embed="rId4">
              <a:alphaModFix/>
            </a:blip>
            <a:srcRect b="0" l="0" r="0" t="0"/>
            <a:stretch/>
          </p:blipFill>
          <p:spPr>
            <a:xfrm>
              <a:off x="8369274" y="14"/>
              <a:ext cx="774357" cy="866508"/>
            </a:xfrm>
            <a:prstGeom prst="rect">
              <a:avLst/>
            </a:prstGeom>
            <a:noFill/>
            <a:ln>
              <a:noFill/>
            </a:ln>
          </p:spPr>
        </p:pic>
      </p:grpSp>
      <p:sp>
        <p:nvSpPr>
          <p:cNvPr id="1491" name="Google Shape;1491;p53"/>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5" name="Shape 1495"/>
        <p:cNvGrpSpPr/>
        <p:nvPr/>
      </p:nvGrpSpPr>
      <p:grpSpPr>
        <a:xfrm>
          <a:off x="0" y="0"/>
          <a:ext cx="0" cy="0"/>
          <a:chOff x="0" y="0"/>
          <a:chExt cx="0" cy="0"/>
        </a:xfrm>
      </p:grpSpPr>
      <p:pic>
        <p:nvPicPr>
          <p:cNvPr id="1496" name="Google Shape;1496;p54"/>
          <p:cNvPicPr preferRelativeResize="0"/>
          <p:nvPr/>
        </p:nvPicPr>
        <p:blipFill rotWithShape="1">
          <a:blip r:embed="rId3">
            <a:alphaModFix/>
          </a:blip>
          <a:srcRect b="0" l="0" r="0" t="0"/>
          <a:stretch/>
        </p:blipFill>
        <p:spPr>
          <a:xfrm>
            <a:off x="8369274" y="14"/>
            <a:ext cx="774357" cy="866508"/>
          </a:xfrm>
          <a:prstGeom prst="rect">
            <a:avLst/>
          </a:prstGeom>
          <a:noFill/>
          <a:ln>
            <a:noFill/>
          </a:ln>
        </p:spPr>
      </p:pic>
      <p:sp>
        <p:nvSpPr>
          <p:cNvPr descr="$PPTXTitle" id="1497" name="Google Shape;1497;p54"/>
          <p:cNvSpPr txBox="1"/>
          <p:nvPr>
            <p:ph type="title"/>
          </p:nvPr>
        </p:nvSpPr>
        <p:spPr>
          <a:xfrm>
            <a:off x="152184" y="63260"/>
            <a:ext cx="8839631" cy="879475"/>
          </a:xfrm>
          <a:prstGeom prst="rect">
            <a:avLst/>
          </a:prstGeom>
          <a:noFill/>
          <a:ln>
            <a:noFill/>
          </a:ln>
        </p:spPr>
        <p:txBody>
          <a:bodyPr anchorCtr="0" anchor="t" bIns="0" lIns="0" spcFirstLastPara="1" rIns="0" wrap="square" tIns="90825">
            <a:spAutoFit/>
          </a:bodyPr>
          <a:lstStyle/>
          <a:p>
            <a:pPr indent="0" lvl="0" marL="74930" rtl="0" algn="l">
              <a:lnSpc>
                <a:spcPct val="100000"/>
              </a:lnSpc>
              <a:spcBef>
                <a:spcPts val="0"/>
              </a:spcBef>
              <a:spcAft>
                <a:spcPts val="0"/>
              </a:spcAft>
              <a:buNone/>
            </a:pPr>
            <a:r>
              <a:rPr b="0" lang="en-US" sz="2800">
                <a:solidFill>
                  <a:srgbClr val="000000"/>
                </a:solidFill>
                <a:latin typeface="Calibri"/>
                <a:ea typeface="Calibri"/>
                <a:cs typeface="Calibri"/>
                <a:sym typeface="Calibri"/>
              </a:rPr>
              <a:t>Training Trick #2: Layer Normalization</a:t>
            </a:r>
            <a:endParaRPr sz="2800">
              <a:latin typeface="Calibri"/>
              <a:ea typeface="Calibri"/>
              <a:cs typeface="Calibri"/>
              <a:sym typeface="Calibri"/>
            </a:endParaRPr>
          </a:p>
        </p:txBody>
      </p:sp>
      <p:pic>
        <p:nvPicPr>
          <p:cNvPr id="1498" name="Google Shape;1498;p54"/>
          <p:cNvPicPr preferRelativeResize="0"/>
          <p:nvPr/>
        </p:nvPicPr>
        <p:blipFill rotWithShape="1">
          <a:blip r:embed="rId4">
            <a:alphaModFix/>
          </a:blip>
          <a:srcRect b="0" l="0" r="0" t="0"/>
          <a:stretch/>
        </p:blipFill>
        <p:spPr>
          <a:xfrm>
            <a:off x="189725" y="857874"/>
            <a:ext cx="6846125" cy="3581285"/>
          </a:xfrm>
          <a:prstGeom prst="rect">
            <a:avLst/>
          </a:prstGeom>
          <a:noFill/>
          <a:ln>
            <a:noFill/>
          </a:ln>
        </p:spPr>
      </p:pic>
      <p:sp>
        <p:nvSpPr>
          <p:cNvPr id="1499" name="Google Shape;1499;p54"/>
          <p:cNvSpPr txBox="1"/>
          <p:nvPr/>
        </p:nvSpPr>
        <p:spPr>
          <a:xfrm>
            <a:off x="1190421" y="4757537"/>
            <a:ext cx="2903220" cy="242570"/>
          </a:xfrm>
          <a:prstGeom prst="rect">
            <a:avLst/>
          </a:prstGeom>
          <a:noFill/>
          <a:ln>
            <a:noFill/>
          </a:ln>
        </p:spPr>
        <p:txBody>
          <a:bodyPr anchorCtr="0" anchor="t" bIns="0" lIns="0" spcFirstLastPara="1" rIns="0" wrap="square" tIns="3800">
            <a:spAutoFit/>
          </a:bodyPr>
          <a:lstStyle/>
          <a:p>
            <a:pPr indent="0" lvl="0" marL="12700" rtl="0" algn="l">
              <a:lnSpc>
                <a:spcPct val="100000"/>
              </a:lnSpc>
              <a:spcBef>
                <a:spcPts val="0"/>
              </a:spcBef>
              <a:spcAft>
                <a:spcPts val="0"/>
              </a:spcAft>
              <a:buNone/>
            </a:pPr>
            <a:r>
              <a:rPr lang="en-US" sz="1400" u="sng">
                <a:solidFill>
                  <a:schemeClr val="hlink"/>
                </a:solidFill>
                <a:latin typeface="Calibri"/>
                <a:ea typeface="Calibri"/>
                <a:cs typeface="Calibri"/>
                <a:sym typeface="Calibri"/>
                <a:hlinkClick r:id="rId5"/>
              </a:rPr>
              <a:t>https://web.stanford.edu/class/cs224n/</a:t>
            </a:r>
            <a:endParaRPr sz="1400">
              <a:latin typeface="Calibri"/>
              <a:ea typeface="Calibri"/>
              <a:cs typeface="Calibri"/>
              <a:sym typeface="Calibri"/>
            </a:endParaRPr>
          </a:p>
        </p:txBody>
      </p:sp>
      <p:sp>
        <p:nvSpPr>
          <p:cNvPr id="1500" name="Google Shape;1500;p54"/>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4" name="Shape 1504"/>
        <p:cNvGrpSpPr/>
        <p:nvPr/>
      </p:nvGrpSpPr>
      <p:grpSpPr>
        <a:xfrm>
          <a:off x="0" y="0"/>
          <a:ext cx="0" cy="0"/>
          <a:chOff x="0" y="0"/>
          <a:chExt cx="0" cy="0"/>
        </a:xfrm>
      </p:grpSpPr>
      <p:pic>
        <p:nvPicPr>
          <p:cNvPr id="1505" name="Google Shape;1505;p55"/>
          <p:cNvPicPr preferRelativeResize="0"/>
          <p:nvPr/>
        </p:nvPicPr>
        <p:blipFill rotWithShape="1">
          <a:blip r:embed="rId3">
            <a:alphaModFix/>
          </a:blip>
          <a:srcRect b="0" l="0" r="0" t="0"/>
          <a:stretch/>
        </p:blipFill>
        <p:spPr>
          <a:xfrm>
            <a:off x="8369274" y="14"/>
            <a:ext cx="774357" cy="866508"/>
          </a:xfrm>
          <a:prstGeom prst="rect">
            <a:avLst/>
          </a:prstGeom>
          <a:noFill/>
          <a:ln>
            <a:noFill/>
          </a:ln>
        </p:spPr>
      </p:pic>
      <p:sp>
        <p:nvSpPr>
          <p:cNvPr descr="$PPTXTitle" id="1506" name="Google Shape;1506;p55"/>
          <p:cNvSpPr txBox="1"/>
          <p:nvPr>
            <p:ph type="title"/>
          </p:nvPr>
        </p:nvSpPr>
        <p:spPr>
          <a:xfrm>
            <a:off x="152184" y="63260"/>
            <a:ext cx="8839631" cy="879475"/>
          </a:xfrm>
          <a:prstGeom prst="rect">
            <a:avLst/>
          </a:prstGeom>
          <a:noFill/>
          <a:ln>
            <a:noFill/>
          </a:ln>
        </p:spPr>
        <p:txBody>
          <a:bodyPr anchorCtr="0" anchor="t" bIns="0" lIns="0" spcFirstLastPara="1" rIns="0" wrap="square" tIns="90825">
            <a:spAutoFit/>
          </a:bodyPr>
          <a:lstStyle/>
          <a:p>
            <a:pPr indent="0" lvl="0" marL="74930" rtl="0" algn="l">
              <a:lnSpc>
                <a:spcPct val="100000"/>
              </a:lnSpc>
              <a:spcBef>
                <a:spcPts val="0"/>
              </a:spcBef>
              <a:spcAft>
                <a:spcPts val="0"/>
              </a:spcAft>
              <a:buNone/>
            </a:pPr>
            <a:r>
              <a:rPr b="0" lang="en-US" sz="2800">
                <a:solidFill>
                  <a:srgbClr val="000000"/>
                </a:solidFill>
                <a:latin typeface="Helvetica Neue"/>
                <a:ea typeface="Helvetica Neue"/>
                <a:cs typeface="Helvetica Neue"/>
                <a:sym typeface="Helvetica Neue"/>
              </a:rPr>
              <a:t>Training Trick #2: Layer Normalization</a:t>
            </a:r>
            <a:endParaRPr sz="2800">
              <a:latin typeface="Helvetica Neue"/>
              <a:ea typeface="Helvetica Neue"/>
              <a:cs typeface="Helvetica Neue"/>
              <a:sym typeface="Helvetica Neue"/>
            </a:endParaRPr>
          </a:p>
        </p:txBody>
      </p:sp>
      <p:grpSp>
        <p:nvGrpSpPr>
          <p:cNvPr id="1507" name="Google Shape;1507;p55"/>
          <p:cNvGrpSpPr/>
          <p:nvPr/>
        </p:nvGrpSpPr>
        <p:grpSpPr>
          <a:xfrm>
            <a:off x="232194" y="836995"/>
            <a:ext cx="6570002" cy="4097528"/>
            <a:chOff x="232194" y="836995"/>
            <a:chExt cx="6570002" cy="4097528"/>
          </a:xfrm>
        </p:grpSpPr>
        <p:pic>
          <p:nvPicPr>
            <p:cNvPr id="1508" name="Google Shape;1508;p55"/>
            <p:cNvPicPr preferRelativeResize="0"/>
            <p:nvPr/>
          </p:nvPicPr>
          <p:blipFill rotWithShape="1">
            <a:blip r:embed="rId4">
              <a:alphaModFix/>
            </a:blip>
            <a:srcRect b="0" l="0" r="0" t="0"/>
            <a:stretch/>
          </p:blipFill>
          <p:spPr>
            <a:xfrm>
              <a:off x="232194" y="836995"/>
              <a:ext cx="6570002" cy="3678123"/>
            </a:xfrm>
            <a:prstGeom prst="rect">
              <a:avLst/>
            </a:prstGeom>
            <a:noFill/>
            <a:ln>
              <a:noFill/>
            </a:ln>
          </p:spPr>
        </p:pic>
        <p:sp>
          <p:nvSpPr>
            <p:cNvPr id="1509" name="Google Shape;1509;p55"/>
            <p:cNvSpPr/>
            <p:nvPr/>
          </p:nvSpPr>
          <p:spPr>
            <a:xfrm>
              <a:off x="5379478" y="1914120"/>
              <a:ext cx="12065" cy="19685"/>
            </a:xfrm>
            <a:custGeom>
              <a:rect b="b" l="l" r="r" t="t"/>
              <a:pathLst>
                <a:path extrusionOk="0" h="19685" w="12064">
                  <a:moveTo>
                    <a:pt x="0" y="19075"/>
                  </a:moveTo>
                  <a:lnTo>
                    <a:pt x="3962" y="12598"/>
                  </a:lnTo>
                  <a:lnTo>
                    <a:pt x="7924" y="6121"/>
                  </a:lnTo>
                  <a:lnTo>
                    <a:pt x="11887" y="0"/>
                  </a:lnTo>
                </a:path>
              </a:pathLst>
            </a:custGeom>
            <a:noFill/>
            <a:ln cap="flat" cmpd="sng" w="14375">
              <a:solidFill>
                <a:srgbClr val="271AD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510" name="Google Shape;1510;p55"/>
            <p:cNvPicPr preferRelativeResize="0"/>
            <p:nvPr/>
          </p:nvPicPr>
          <p:blipFill rotWithShape="1">
            <a:blip r:embed="rId5">
              <a:alphaModFix/>
            </a:blip>
            <a:srcRect b="0" l="0" r="0" t="0"/>
            <a:stretch/>
          </p:blipFill>
          <p:spPr>
            <a:xfrm>
              <a:off x="1526044" y="4385883"/>
              <a:ext cx="1209243" cy="548640"/>
            </a:xfrm>
            <a:prstGeom prst="rect">
              <a:avLst/>
            </a:prstGeom>
            <a:noFill/>
            <a:ln>
              <a:noFill/>
            </a:ln>
          </p:spPr>
        </p:pic>
      </p:grpSp>
      <p:sp>
        <p:nvSpPr>
          <p:cNvPr id="1511" name="Google Shape;1511;p55"/>
          <p:cNvSpPr txBox="1"/>
          <p:nvPr/>
        </p:nvSpPr>
        <p:spPr>
          <a:xfrm>
            <a:off x="3383534" y="4796835"/>
            <a:ext cx="3052445" cy="224154"/>
          </a:xfrm>
          <a:prstGeom prst="rect">
            <a:avLst/>
          </a:prstGeom>
          <a:noFill/>
          <a:ln>
            <a:noFill/>
          </a:ln>
        </p:spPr>
        <p:txBody>
          <a:bodyPr anchorCtr="0" anchor="t" bIns="0" lIns="0" spcFirstLastPara="1" rIns="0" wrap="square" tIns="0">
            <a:spAutoFit/>
          </a:bodyPr>
          <a:lstStyle/>
          <a:p>
            <a:pPr indent="0" lvl="0" marL="12700" rtl="0" algn="l">
              <a:lnSpc>
                <a:spcPct val="117857"/>
              </a:lnSpc>
              <a:spcBef>
                <a:spcPts val="0"/>
              </a:spcBef>
              <a:spcAft>
                <a:spcPts val="0"/>
              </a:spcAft>
              <a:buNone/>
            </a:pPr>
            <a:r>
              <a:rPr lang="en-US" sz="1400" u="sng">
                <a:solidFill>
                  <a:schemeClr val="hlink"/>
                </a:solidFill>
                <a:latin typeface="Helvetica Neue"/>
                <a:ea typeface="Helvetica Neue"/>
                <a:cs typeface="Helvetica Neue"/>
                <a:sym typeface="Helvetica Neue"/>
                <a:hlinkClick r:id="rId6"/>
              </a:rPr>
              <a:t>https://web.stanford.edu/class/cs224n/</a:t>
            </a:r>
            <a:endParaRPr sz="1400">
              <a:latin typeface="Helvetica Neue"/>
              <a:ea typeface="Helvetica Neue"/>
              <a:cs typeface="Helvetica Neue"/>
              <a:sym typeface="Helvetica Neue"/>
            </a:endParaRPr>
          </a:p>
        </p:txBody>
      </p:sp>
      <p:sp>
        <p:nvSpPr>
          <p:cNvPr id="1512" name="Google Shape;1512;p55"/>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6" name="Shape 1516"/>
        <p:cNvGrpSpPr/>
        <p:nvPr/>
      </p:nvGrpSpPr>
      <p:grpSpPr>
        <a:xfrm>
          <a:off x="0" y="0"/>
          <a:ext cx="0" cy="0"/>
          <a:chOff x="0" y="0"/>
          <a:chExt cx="0" cy="0"/>
        </a:xfrm>
      </p:grpSpPr>
      <p:sp>
        <p:nvSpPr>
          <p:cNvPr descr="$PPTXTitle" id="1517" name="Google Shape;1517;p56"/>
          <p:cNvSpPr txBox="1"/>
          <p:nvPr>
            <p:ph type="title"/>
          </p:nvPr>
        </p:nvSpPr>
        <p:spPr>
          <a:xfrm>
            <a:off x="53174" y="141391"/>
            <a:ext cx="7366634" cy="4527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sz="2800">
                <a:solidFill>
                  <a:srgbClr val="000000"/>
                </a:solidFill>
                <a:latin typeface="Helvetica Neue"/>
                <a:ea typeface="Helvetica Neue"/>
                <a:cs typeface="Helvetica Neue"/>
                <a:sym typeface="Helvetica Neue"/>
              </a:rPr>
              <a:t>Training Trick #3: Scaled Dot Product Attention</a:t>
            </a:r>
            <a:endParaRPr sz="2800">
              <a:latin typeface="Helvetica Neue"/>
              <a:ea typeface="Helvetica Neue"/>
              <a:cs typeface="Helvetica Neue"/>
              <a:sym typeface="Helvetica Neue"/>
            </a:endParaRPr>
          </a:p>
        </p:txBody>
      </p:sp>
      <p:pic>
        <p:nvPicPr>
          <p:cNvPr id="1518" name="Google Shape;1518;p56"/>
          <p:cNvPicPr preferRelativeResize="0"/>
          <p:nvPr/>
        </p:nvPicPr>
        <p:blipFill rotWithShape="1">
          <a:blip r:embed="rId3">
            <a:alphaModFix/>
          </a:blip>
          <a:srcRect b="0" l="0" r="0" t="0"/>
          <a:stretch/>
        </p:blipFill>
        <p:spPr>
          <a:xfrm>
            <a:off x="8369274" y="14"/>
            <a:ext cx="774357" cy="866508"/>
          </a:xfrm>
          <a:prstGeom prst="rect">
            <a:avLst/>
          </a:prstGeom>
          <a:noFill/>
          <a:ln>
            <a:noFill/>
          </a:ln>
        </p:spPr>
      </p:pic>
      <p:grpSp>
        <p:nvGrpSpPr>
          <p:cNvPr id="1519" name="Google Shape;1519;p56"/>
          <p:cNvGrpSpPr/>
          <p:nvPr/>
        </p:nvGrpSpPr>
        <p:grpSpPr>
          <a:xfrm>
            <a:off x="289445" y="916929"/>
            <a:ext cx="7280275" cy="3834650"/>
            <a:chOff x="289445" y="916929"/>
            <a:chExt cx="7280275" cy="3834650"/>
          </a:xfrm>
        </p:grpSpPr>
        <p:pic>
          <p:nvPicPr>
            <p:cNvPr id="1520" name="Google Shape;1520;p56"/>
            <p:cNvPicPr preferRelativeResize="0"/>
            <p:nvPr/>
          </p:nvPicPr>
          <p:blipFill rotWithShape="1">
            <a:blip r:embed="rId4">
              <a:alphaModFix/>
            </a:blip>
            <a:srcRect b="0" l="0" r="0" t="0"/>
            <a:stretch/>
          </p:blipFill>
          <p:spPr>
            <a:xfrm>
              <a:off x="289445" y="948958"/>
              <a:ext cx="4596117" cy="2976486"/>
            </a:xfrm>
            <a:prstGeom prst="rect">
              <a:avLst/>
            </a:prstGeom>
            <a:noFill/>
            <a:ln>
              <a:noFill/>
            </a:ln>
          </p:spPr>
        </p:pic>
        <p:pic>
          <p:nvPicPr>
            <p:cNvPr id="1521" name="Google Shape;1521;p56"/>
            <p:cNvPicPr preferRelativeResize="0"/>
            <p:nvPr/>
          </p:nvPicPr>
          <p:blipFill rotWithShape="1">
            <a:blip r:embed="rId5">
              <a:alphaModFix/>
            </a:blip>
            <a:srcRect b="0" l="0" r="0" t="0"/>
            <a:stretch/>
          </p:blipFill>
          <p:spPr>
            <a:xfrm>
              <a:off x="5280482" y="916929"/>
              <a:ext cx="2289238" cy="3377158"/>
            </a:xfrm>
            <a:prstGeom prst="rect">
              <a:avLst/>
            </a:prstGeom>
            <a:noFill/>
            <a:ln>
              <a:noFill/>
            </a:ln>
          </p:spPr>
        </p:pic>
        <p:sp>
          <p:nvSpPr>
            <p:cNvPr id="1522" name="Google Shape;1522;p56"/>
            <p:cNvSpPr/>
            <p:nvPr/>
          </p:nvSpPr>
          <p:spPr>
            <a:xfrm>
              <a:off x="5172837" y="3971164"/>
              <a:ext cx="1598295" cy="780415"/>
            </a:xfrm>
            <a:custGeom>
              <a:rect b="b" l="l" r="r" t="t"/>
              <a:pathLst>
                <a:path extrusionOk="0" h="780414" w="1598295">
                  <a:moveTo>
                    <a:pt x="1597685" y="0"/>
                  </a:moveTo>
                  <a:lnTo>
                    <a:pt x="0" y="0"/>
                  </a:lnTo>
                  <a:lnTo>
                    <a:pt x="0" y="780122"/>
                  </a:lnTo>
                  <a:lnTo>
                    <a:pt x="798842" y="780122"/>
                  </a:lnTo>
                  <a:lnTo>
                    <a:pt x="1597685" y="780122"/>
                  </a:lnTo>
                  <a:lnTo>
                    <a:pt x="1597685"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23" name="Google Shape;1523;p56"/>
            <p:cNvSpPr/>
            <p:nvPr/>
          </p:nvSpPr>
          <p:spPr>
            <a:xfrm>
              <a:off x="5172837" y="3971164"/>
              <a:ext cx="1598295" cy="780415"/>
            </a:xfrm>
            <a:custGeom>
              <a:rect b="b" l="l" r="r" t="t"/>
              <a:pathLst>
                <a:path extrusionOk="0" h="780414" w="1598295">
                  <a:moveTo>
                    <a:pt x="798842" y="780122"/>
                  </a:moveTo>
                  <a:lnTo>
                    <a:pt x="0" y="780122"/>
                  </a:lnTo>
                  <a:lnTo>
                    <a:pt x="0" y="0"/>
                  </a:lnTo>
                  <a:lnTo>
                    <a:pt x="1597685" y="0"/>
                  </a:lnTo>
                  <a:lnTo>
                    <a:pt x="1597685" y="780122"/>
                  </a:lnTo>
                  <a:lnTo>
                    <a:pt x="798842" y="780122"/>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524" name="Google Shape;1524;p56"/>
          <p:cNvSpPr txBox="1"/>
          <p:nvPr/>
        </p:nvSpPr>
        <p:spPr>
          <a:xfrm>
            <a:off x="1190777" y="4765149"/>
            <a:ext cx="3052445" cy="224154"/>
          </a:xfrm>
          <a:prstGeom prst="rect">
            <a:avLst/>
          </a:prstGeom>
          <a:noFill/>
          <a:ln>
            <a:noFill/>
          </a:ln>
        </p:spPr>
        <p:txBody>
          <a:bodyPr anchorCtr="0" anchor="t" bIns="0" lIns="0" spcFirstLastPara="1" rIns="0" wrap="square" tIns="0">
            <a:spAutoFit/>
          </a:bodyPr>
          <a:lstStyle/>
          <a:p>
            <a:pPr indent="0" lvl="0" marL="12700" rtl="0" algn="l">
              <a:lnSpc>
                <a:spcPct val="117857"/>
              </a:lnSpc>
              <a:spcBef>
                <a:spcPts val="0"/>
              </a:spcBef>
              <a:spcAft>
                <a:spcPts val="0"/>
              </a:spcAft>
              <a:buNone/>
            </a:pPr>
            <a:r>
              <a:rPr lang="en-US" sz="1400" u="sng">
                <a:solidFill>
                  <a:schemeClr val="hlink"/>
                </a:solidFill>
                <a:latin typeface="Helvetica Neue"/>
                <a:ea typeface="Helvetica Neue"/>
                <a:cs typeface="Helvetica Neue"/>
                <a:sym typeface="Helvetica Neue"/>
                <a:hlinkClick r:id="rId6"/>
              </a:rPr>
              <a:t>https://web.stanford.edu/class/cs224n/</a:t>
            </a:r>
            <a:endParaRPr sz="1400">
              <a:latin typeface="Helvetica Neue"/>
              <a:ea typeface="Helvetica Neue"/>
              <a:cs typeface="Helvetica Neue"/>
              <a:sym typeface="Helvetica Neue"/>
            </a:endParaRPr>
          </a:p>
        </p:txBody>
      </p:sp>
      <p:sp>
        <p:nvSpPr>
          <p:cNvPr id="1525" name="Google Shape;1525;p56"/>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descr="$PPTXTitle" id="1530" name="Google Shape;1530;p57"/>
          <p:cNvSpPr txBox="1"/>
          <p:nvPr>
            <p:ph type="title"/>
          </p:nvPr>
        </p:nvSpPr>
        <p:spPr>
          <a:xfrm>
            <a:off x="53174" y="141391"/>
            <a:ext cx="7366634" cy="4527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sz="2800">
                <a:solidFill>
                  <a:srgbClr val="000000"/>
                </a:solidFill>
                <a:latin typeface="Helvetica Neue"/>
                <a:ea typeface="Helvetica Neue"/>
                <a:cs typeface="Helvetica Neue"/>
                <a:sym typeface="Helvetica Neue"/>
              </a:rPr>
              <a:t>Training Trick #3: Scaled Dot Product Attention</a:t>
            </a:r>
            <a:endParaRPr sz="2800">
              <a:latin typeface="Helvetica Neue"/>
              <a:ea typeface="Helvetica Neue"/>
              <a:cs typeface="Helvetica Neue"/>
              <a:sym typeface="Helvetica Neue"/>
            </a:endParaRPr>
          </a:p>
        </p:txBody>
      </p:sp>
      <p:grpSp>
        <p:nvGrpSpPr>
          <p:cNvPr id="1531" name="Google Shape;1531;p57"/>
          <p:cNvGrpSpPr/>
          <p:nvPr/>
        </p:nvGrpSpPr>
        <p:grpSpPr>
          <a:xfrm>
            <a:off x="222122" y="14"/>
            <a:ext cx="8921509" cy="4583506"/>
            <a:chOff x="222122" y="14"/>
            <a:chExt cx="8921509" cy="4583506"/>
          </a:xfrm>
        </p:grpSpPr>
        <p:pic>
          <p:nvPicPr>
            <p:cNvPr id="1532" name="Google Shape;1532;p57"/>
            <p:cNvPicPr preferRelativeResize="0"/>
            <p:nvPr/>
          </p:nvPicPr>
          <p:blipFill rotWithShape="1">
            <a:blip r:embed="rId3">
              <a:alphaModFix/>
            </a:blip>
            <a:srcRect b="0" l="0" r="0" t="0"/>
            <a:stretch/>
          </p:blipFill>
          <p:spPr>
            <a:xfrm>
              <a:off x="222122" y="884874"/>
              <a:ext cx="7792923" cy="1708924"/>
            </a:xfrm>
            <a:prstGeom prst="rect">
              <a:avLst/>
            </a:prstGeom>
            <a:noFill/>
            <a:ln>
              <a:noFill/>
            </a:ln>
          </p:spPr>
        </p:pic>
        <p:sp>
          <p:nvSpPr>
            <p:cNvPr id="1533" name="Google Shape;1533;p57"/>
            <p:cNvSpPr/>
            <p:nvPr/>
          </p:nvSpPr>
          <p:spPr>
            <a:xfrm>
              <a:off x="3715918" y="2878926"/>
              <a:ext cx="6350" cy="22225"/>
            </a:xfrm>
            <a:custGeom>
              <a:rect b="b" l="l" r="r" t="t"/>
              <a:pathLst>
                <a:path extrusionOk="0" h="22225" w="6350">
                  <a:moveTo>
                    <a:pt x="6121" y="10439"/>
                  </a:moveTo>
                  <a:lnTo>
                    <a:pt x="2882" y="5029"/>
                  </a:lnTo>
                  <a:lnTo>
                    <a:pt x="1079" y="1790"/>
                  </a:lnTo>
                  <a:lnTo>
                    <a:pt x="355" y="711"/>
                  </a:lnTo>
                  <a:lnTo>
                    <a:pt x="0" y="0"/>
                  </a:lnTo>
                  <a:lnTo>
                    <a:pt x="0" y="355"/>
                  </a:lnTo>
                  <a:lnTo>
                    <a:pt x="0" y="1790"/>
                  </a:lnTo>
                  <a:lnTo>
                    <a:pt x="355" y="3949"/>
                  </a:lnTo>
                  <a:lnTo>
                    <a:pt x="1447" y="10794"/>
                  </a:lnTo>
                  <a:lnTo>
                    <a:pt x="2882" y="21958"/>
                  </a:lnTo>
                </a:path>
              </a:pathLst>
            </a:custGeom>
            <a:noFill/>
            <a:ln cap="flat" cmpd="sng" w="14375">
              <a:solidFill>
                <a:srgbClr val="1B1B1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534" name="Google Shape;1534;p57"/>
            <p:cNvPicPr preferRelativeResize="0"/>
            <p:nvPr/>
          </p:nvPicPr>
          <p:blipFill rotWithShape="1">
            <a:blip r:embed="rId4">
              <a:alphaModFix/>
            </a:blip>
            <a:srcRect b="0" l="0" r="0" t="0"/>
            <a:stretch/>
          </p:blipFill>
          <p:spPr>
            <a:xfrm>
              <a:off x="8369274" y="14"/>
              <a:ext cx="774357" cy="866508"/>
            </a:xfrm>
            <a:prstGeom prst="rect">
              <a:avLst/>
            </a:prstGeom>
            <a:noFill/>
            <a:ln>
              <a:noFill/>
            </a:ln>
          </p:spPr>
        </p:pic>
        <p:pic>
          <p:nvPicPr>
            <p:cNvPr id="1535" name="Google Shape;1535;p57"/>
            <p:cNvPicPr preferRelativeResize="0"/>
            <p:nvPr/>
          </p:nvPicPr>
          <p:blipFill rotWithShape="1">
            <a:blip r:embed="rId5">
              <a:alphaModFix/>
            </a:blip>
            <a:srcRect b="0" l="0" r="0" t="0"/>
            <a:stretch/>
          </p:blipFill>
          <p:spPr>
            <a:xfrm>
              <a:off x="510120" y="2646720"/>
              <a:ext cx="7666558" cy="1936800"/>
            </a:xfrm>
            <a:prstGeom prst="rect">
              <a:avLst/>
            </a:prstGeom>
            <a:noFill/>
            <a:ln>
              <a:noFill/>
            </a:ln>
          </p:spPr>
        </p:pic>
      </p:grpSp>
      <p:sp>
        <p:nvSpPr>
          <p:cNvPr id="1536" name="Google Shape;1536;p57"/>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0" name="Shape 1540"/>
        <p:cNvGrpSpPr/>
        <p:nvPr/>
      </p:nvGrpSpPr>
      <p:grpSpPr>
        <a:xfrm>
          <a:off x="0" y="0"/>
          <a:ext cx="0" cy="0"/>
          <a:chOff x="0" y="0"/>
          <a:chExt cx="0" cy="0"/>
        </a:xfrm>
      </p:grpSpPr>
      <p:sp>
        <p:nvSpPr>
          <p:cNvPr descr="$PPTXTitle" id="1541" name="Google Shape;1541;p58"/>
          <p:cNvSpPr txBox="1"/>
          <p:nvPr>
            <p:ph type="title"/>
          </p:nvPr>
        </p:nvSpPr>
        <p:spPr>
          <a:xfrm>
            <a:off x="152184" y="63260"/>
            <a:ext cx="8839631" cy="879475"/>
          </a:xfrm>
          <a:prstGeom prst="rect">
            <a:avLst/>
          </a:prstGeom>
          <a:noFill/>
          <a:ln>
            <a:noFill/>
          </a:ln>
        </p:spPr>
        <p:txBody>
          <a:bodyPr anchorCtr="0" anchor="t" bIns="0" lIns="0" spcFirstLastPara="1" rIns="0" wrap="square" tIns="159200">
            <a:spAutoFit/>
          </a:bodyPr>
          <a:lstStyle/>
          <a:p>
            <a:pPr indent="0" lvl="0" marL="2822575" rtl="0" algn="l">
              <a:lnSpc>
                <a:spcPct val="100000"/>
              </a:lnSpc>
              <a:spcBef>
                <a:spcPts val="0"/>
              </a:spcBef>
              <a:spcAft>
                <a:spcPts val="0"/>
              </a:spcAft>
              <a:buNone/>
            </a:pPr>
            <a:r>
              <a:rPr b="0" lang="en-US" sz="2800">
                <a:solidFill>
                  <a:srgbClr val="000000"/>
                </a:solidFill>
                <a:latin typeface="Helvetica Neue"/>
                <a:ea typeface="Helvetica Neue"/>
                <a:cs typeface="Helvetica Neue"/>
                <a:sym typeface="Helvetica Neue"/>
              </a:rPr>
              <a:t>Positional Encoding</a:t>
            </a:r>
            <a:endParaRPr sz="2800">
              <a:latin typeface="Helvetica Neue"/>
              <a:ea typeface="Helvetica Neue"/>
              <a:cs typeface="Helvetica Neue"/>
              <a:sym typeface="Helvetica Neue"/>
            </a:endParaRPr>
          </a:p>
        </p:txBody>
      </p:sp>
      <p:grpSp>
        <p:nvGrpSpPr>
          <p:cNvPr id="1542" name="Google Shape;1542;p58"/>
          <p:cNvGrpSpPr/>
          <p:nvPr/>
        </p:nvGrpSpPr>
        <p:grpSpPr>
          <a:xfrm>
            <a:off x="59397" y="14"/>
            <a:ext cx="9084234" cy="4870069"/>
            <a:chOff x="59397" y="14"/>
            <a:chExt cx="9084234" cy="4870069"/>
          </a:xfrm>
        </p:grpSpPr>
        <p:pic>
          <p:nvPicPr>
            <p:cNvPr id="1543" name="Google Shape;1543;p58"/>
            <p:cNvPicPr preferRelativeResize="0"/>
            <p:nvPr/>
          </p:nvPicPr>
          <p:blipFill rotWithShape="1">
            <a:blip r:embed="rId3">
              <a:alphaModFix/>
            </a:blip>
            <a:srcRect b="0" l="0" r="0" t="0"/>
            <a:stretch/>
          </p:blipFill>
          <p:spPr>
            <a:xfrm>
              <a:off x="4568761" y="1355396"/>
              <a:ext cx="3674884" cy="3131642"/>
            </a:xfrm>
            <a:prstGeom prst="rect">
              <a:avLst/>
            </a:prstGeom>
            <a:noFill/>
            <a:ln>
              <a:noFill/>
            </a:ln>
          </p:spPr>
        </p:pic>
        <p:sp>
          <p:nvSpPr>
            <p:cNvPr id="1544" name="Google Shape;1544;p58"/>
            <p:cNvSpPr/>
            <p:nvPr/>
          </p:nvSpPr>
          <p:spPr>
            <a:xfrm>
              <a:off x="5568480" y="3527998"/>
              <a:ext cx="591185" cy="349250"/>
            </a:xfrm>
            <a:custGeom>
              <a:rect b="b" l="l" r="r" t="t"/>
              <a:pathLst>
                <a:path extrusionOk="0" h="349250" w="591185">
                  <a:moveTo>
                    <a:pt x="591121" y="109080"/>
                  </a:moveTo>
                  <a:lnTo>
                    <a:pt x="582117" y="77762"/>
                  </a:lnTo>
                  <a:lnTo>
                    <a:pt x="564476" y="52209"/>
                  </a:lnTo>
                  <a:lnTo>
                    <a:pt x="562686" y="50038"/>
                  </a:lnTo>
                  <a:lnTo>
                    <a:pt x="548995" y="35280"/>
                  </a:lnTo>
                  <a:lnTo>
                    <a:pt x="538200" y="21247"/>
                  </a:lnTo>
                  <a:lnTo>
                    <a:pt x="526326" y="0"/>
                  </a:lnTo>
                  <a:lnTo>
                    <a:pt x="445325" y="0"/>
                  </a:lnTo>
                  <a:lnTo>
                    <a:pt x="446405" y="41402"/>
                  </a:lnTo>
                  <a:lnTo>
                    <a:pt x="446405" y="50038"/>
                  </a:lnTo>
                  <a:lnTo>
                    <a:pt x="415442" y="46799"/>
                  </a:lnTo>
                  <a:lnTo>
                    <a:pt x="386638" y="43205"/>
                  </a:lnTo>
                  <a:lnTo>
                    <a:pt x="320395" y="42481"/>
                  </a:lnTo>
                  <a:lnTo>
                    <a:pt x="274675" y="42481"/>
                  </a:lnTo>
                  <a:lnTo>
                    <a:pt x="259562" y="41757"/>
                  </a:lnTo>
                  <a:lnTo>
                    <a:pt x="218516" y="41402"/>
                  </a:lnTo>
                  <a:lnTo>
                    <a:pt x="137515" y="41402"/>
                  </a:lnTo>
                  <a:lnTo>
                    <a:pt x="126720" y="42481"/>
                  </a:lnTo>
                  <a:lnTo>
                    <a:pt x="103314" y="43205"/>
                  </a:lnTo>
                  <a:lnTo>
                    <a:pt x="68033" y="48602"/>
                  </a:lnTo>
                  <a:lnTo>
                    <a:pt x="27355" y="60477"/>
                  </a:lnTo>
                  <a:lnTo>
                    <a:pt x="2882" y="77406"/>
                  </a:lnTo>
                  <a:lnTo>
                    <a:pt x="0" y="87122"/>
                  </a:lnTo>
                  <a:lnTo>
                    <a:pt x="0" y="255244"/>
                  </a:lnTo>
                  <a:lnTo>
                    <a:pt x="23406" y="280085"/>
                  </a:lnTo>
                  <a:lnTo>
                    <a:pt x="48958" y="286207"/>
                  </a:lnTo>
                  <a:lnTo>
                    <a:pt x="48958" y="302044"/>
                  </a:lnTo>
                  <a:lnTo>
                    <a:pt x="195834" y="302044"/>
                  </a:lnTo>
                  <a:lnTo>
                    <a:pt x="195834" y="343077"/>
                  </a:lnTo>
                  <a:lnTo>
                    <a:pt x="198716" y="343077"/>
                  </a:lnTo>
                  <a:lnTo>
                    <a:pt x="198716" y="345605"/>
                  </a:lnTo>
                  <a:lnTo>
                    <a:pt x="216001" y="347040"/>
                  </a:lnTo>
                  <a:lnTo>
                    <a:pt x="274320" y="347040"/>
                  </a:lnTo>
                  <a:lnTo>
                    <a:pt x="384124" y="348488"/>
                  </a:lnTo>
                  <a:lnTo>
                    <a:pt x="398526" y="349199"/>
                  </a:lnTo>
                  <a:lnTo>
                    <a:pt x="479513" y="349199"/>
                  </a:lnTo>
                  <a:lnTo>
                    <a:pt x="492480" y="348119"/>
                  </a:lnTo>
                  <a:lnTo>
                    <a:pt x="493560" y="348119"/>
                  </a:lnTo>
                  <a:lnTo>
                    <a:pt x="493560" y="346329"/>
                  </a:lnTo>
                  <a:lnTo>
                    <a:pt x="498957" y="346329"/>
                  </a:lnTo>
                  <a:lnTo>
                    <a:pt x="502920" y="343077"/>
                  </a:lnTo>
                  <a:lnTo>
                    <a:pt x="509041" y="337680"/>
                  </a:lnTo>
                  <a:lnTo>
                    <a:pt x="519480" y="315722"/>
                  </a:lnTo>
                  <a:lnTo>
                    <a:pt x="522363" y="309968"/>
                  </a:lnTo>
                  <a:lnTo>
                    <a:pt x="531355" y="309245"/>
                  </a:lnTo>
                  <a:lnTo>
                    <a:pt x="577799" y="297357"/>
                  </a:lnTo>
                  <a:lnTo>
                    <a:pt x="591121" y="276847"/>
                  </a:lnTo>
                  <a:lnTo>
                    <a:pt x="591121" y="109080"/>
                  </a:lnTo>
                  <a:close/>
                </a:path>
              </a:pathLst>
            </a:custGeom>
            <a:solidFill>
              <a:srgbClr val="FFFB00">
                <a:alpha val="50196"/>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545" name="Google Shape;1545;p58"/>
            <p:cNvPicPr preferRelativeResize="0"/>
            <p:nvPr/>
          </p:nvPicPr>
          <p:blipFill rotWithShape="1">
            <a:blip r:embed="rId4">
              <a:alphaModFix/>
            </a:blip>
            <a:srcRect b="0" l="0" r="0" t="0"/>
            <a:stretch/>
          </p:blipFill>
          <p:spPr>
            <a:xfrm>
              <a:off x="59397" y="1501561"/>
              <a:ext cx="4121277" cy="1732318"/>
            </a:xfrm>
            <a:prstGeom prst="rect">
              <a:avLst/>
            </a:prstGeom>
            <a:noFill/>
            <a:ln>
              <a:noFill/>
            </a:ln>
          </p:spPr>
        </p:pic>
        <p:pic>
          <p:nvPicPr>
            <p:cNvPr id="1546" name="Google Shape;1546;p58"/>
            <p:cNvPicPr preferRelativeResize="0"/>
            <p:nvPr/>
          </p:nvPicPr>
          <p:blipFill rotWithShape="1">
            <a:blip r:embed="rId5">
              <a:alphaModFix/>
            </a:blip>
            <a:srcRect b="0" l="0" r="0" t="0"/>
            <a:stretch/>
          </p:blipFill>
          <p:spPr>
            <a:xfrm>
              <a:off x="412559" y="3758033"/>
              <a:ext cx="3926154" cy="216725"/>
            </a:xfrm>
            <a:prstGeom prst="rect">
              <a:avLst/>
            </a:prstGeom>
            <a:noFill/>
            <a:ln>
              <a:noFill/>
            </a:ln>
          </p:spPr>
        </p:pic>
        <p:pic>
          <p:nvPicPr>
            <p:cNvPr id="1547" name="Google Shape;1547;p58"/>
            <p:cNvPicPr preferRelativeResize="0"/>
            <p:nvPr/>
          </p:nvPicPr>
          <p:blipFill rotWithShape="1">
            <a:blip r:embed="rId6">
              <a:alphaModFix/>
            </a:blip>
            <a:srcRect b="0" l="0" r="0" t="0"/>
            <a:stretch/>
          </p:blipFill>
          <p:spPr>
            <a:xfrm>
              <a:off x="1788477" y="4178886"/>
              <a:ext cx="1011237" cy="691197"/>
            </a:xfrm>
            <a:prstGeom prst="rect">
              <a:avLst/>
            </a:prstGeom>
            <a:noFill/>
            <a:ln>
              <a:noFill/>
            </a:ln>
          </p:spPr>
        </p:pic>
        <p:pic>
          <p:nvPicPr>
            <p:cNvPr id="1548" name="Google Shape;1548;p58"/>
            <p:cNvPicPr preferRelativeResize="0"/>
            <p:nvPr/>
          </p:nvPicPr>
          <p:blipFill rotWithShape="1">
            <a:blip r:embed="rId7">
              <a:alphaModFix/>
            </a:blip>
            <a:srcRect b="0" l="0" r="0" t="0"/>
            <a:stretch/>
          </p:blipFill>
          <p:spPr>
            <a:xfrm>
              <a:off x="8369274" y="14"/>
              <a:ext cx="774357" cy="866508"/>
            </a:xfrm>
            <a:prstGeom prst="rect">
              <a:avLst/>
            </a:prstGeom>
            <a:noFill/>
            <a:ln>
              <a:noFill/>
            </a:ln>
          </p:spPr>
        </p:pic>
      </p:grpSp>
      <p:sp>
        <p:nvSpPr>
          <p:cNvPr id="1549" name="Google Shape;1549;p58"/>
          <p:cNvSpPr txBox="1"/>
          <p:nvPr/>
        </p:nvSpPr>
        <p:spPr>
          <a:xfrm>
            <a:off x="1069822" y="3292108"/>
            <a:ext cx="2023110" cy="254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500">
                <a:solidFill>
                  <a:srgbClr val="FF0000"/>
                </a:solidFill>
                <a:latin typeface="Helvetica Neue"/>
                <a:ea typeface="Helvetica Neue"/>
                <a:cs typeface="Helvetica Neue"/>
                <a:sym typeface="Helvetica Neue"/>
              </a:rPr>
              <a:t>Sense of position is lost</a:t>
            </a:r>
            <a:endParaRPr sz="1500">
              <a:latin typeface="Helvetica Neue"/>
              <a:ea typeface="Helvetica Neue"/>
              <a:cs typeface="Helvetica Neue"/>
              <a:sym typeface="Helvetica Neue"/>
            </a:endParaRPr>
          </a:p>
        </p:txBody>
      </p:sp>
      <p:sp>
        <p:nvSpPr>
          <p:cNvPr id="1550" name="Google Shape;1550;p58"/>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4" name="Shape 1554"/>
        <p:cNvGrpSpPr/>
        <p:nvPr/>
      </p:nvGrpSpPr>
      <p:grpSpPr>
        <a:xfrm>
          <a:off x="0" y="0"/>
          <a:ext cx="0" cy="0"/>
          <a:chOff x="0" y="0"/>
          <a:chExt cx="0" cy="0"/>
        </a:xfrm>
      </p:grpSpPr>
      <p:sp>
        <p:nvSpPr>
          <p:cNvPr descr="$PPTXTitle" id="1555" name="Google Shape;1555;p59"/>
          <p:cNvSpPr txBox="1"/>
          <p:nvPr>
            <p:ph type="title"/>
          </p:nvPr>
        </p:nvSpPr>
        <p:spPr>
          <a:xfrm>
            <a:off x="568337" y="201868"/>
            <a:ext cx="6905625" cy="3917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Positional Encoding: Giving Every Word a Seat Number</a:t>
            </a:r>
            <a:endParaRPr/>
          </a:p>
        </p:txBody>
      </p:sp>
      <p:pic>
        <p:nvPicPr>
          <p:cNvPr id="1556" name="Google Shape;1556;p59"/>
          <p:cNvPicPr preferRelativeResize="0"/>
          <p:nvPr/>
        </p:nvPicPr>
        <p:blipFill rotWithShape="1">
          <a:blip r:embed="rId3">
            <a:alphaModFix/>
          </a:blip>
          <a:srcRect b="0" l="0" r="0" t="0"/>
          <a:stretch/>
        </p:blipFill>
        <p:spPr>
          <a:xfrm>
            <a:off x="8369274" y="14"/>
            <a:ext cx="774357" cy="866508"/>
          </a:xfrm>
          <a:prstGeom prst="rect">
            <a:avLst/>
          </a:prstGeom>
          <a:noFill/>
          <a:ln>
            <a:noFill/>
          </a:ln>
        </p:spPr>
      </p:pic>
      <p:grpSp>
        <p:nvGrpSpPr>
          <p:cNvPr id="1557" name="Google Shape;1557;p59"/>
          <p:cNvGrpSpPr/>
          <p:nvPr/>
        </p:nvGrpSpPr>
        <p:grpSpPr>
          <a:xfrm>
            <a:off x="354241" y="1013017"/>
            <a:ext cx="4183557" cy="3131667"/>
            <a:chOff x="354241" y="1013017"/>
            <a:chExt cx="4183557" cy="3131667"/>
          </a:xfrm>
        </p:grpSpPr>
        <p:pic>
          <p:nvPicPr>
            <p:cNvPr id="1558" name="Google Shape;1558;p59"/>
            <p:cNvPicPr preferRelativeResize="0"/>
            <p:nvPr/>
          </p:nvPicPr>
          <p:blipFill rotWithShape="1">
            <a:blip r:embed="rId4">
              <a:alphaModFix/>
            </a:blip>
            <a:srcRect b="0" l="0" r="0" t="0"/>
            <a:stretch/>
          </p:blipFill>
          <p:spPr>
            <a:xfrm>
              <a:off x="354241" y="1013017"/>
              <a:ext cx="4183557" cy="3131667"/>
            </a:xfrm>
            <a:prstGeom prst="rect">
              <a:avLst/>
            </a:prstGeom>
            <a:noFill/>
            <a:ln>
              <a:noFill/>
            </a:ln>
          </p:spPr>
        </p:pic>
        <p:sp>
          <p:nvSpPr>
            <p:cNvPr id="1559" name="Google Shape;1559;p59"/>
            <p:cNvSpPr/>
            <p:nvPr/>
          </p:nvSpPr>
          <p:spPr>
            <a:xfrm>
              <a:off x="411124" y="1050838"/>
              <a:ext cx="4069715" cy="3018155"/>
            </a:xfrm>
            <a:custGeom>
              <a:rect b="b" l="l" r="r" t="t"/>
              <a:pathLst>
                <a:path extrusionOk="0" h="3018154" w="4069715">
                  <a:moveTo>
                    <a:pt x="181432" y="0"/>
                  </a:moveTo>
                  <a:lnTo>
                    <a:pt x="134593" y="6121"/>
                  </a:lnTo>
                  <a:lnTo>
                    <a:pt x="90716" y="24130"/>
                  </a:lnTo>
                  <a:lnTo>
                    <a:pt x="53413" y="53105"/>
                  </a:lnTo>
                  <a:lnTo>
                    <a:pt x="24472" y="90728"/>
                  </a:lnTo>
                  <a:lnTo>
                    <a:pt x="6475" y="134285"/>
                  </a:lnTo>
                  <a:lnTo>
                    <a:pt x="355" y="181089"/>
                  </a:lnTo>
                  <a:lnTo>
                    <a:pt x="0" y="2836799"/>
                  </a:lnTo>
                  <a:lnTo>
                    <a:pt x="1541" y="2860444"/>
                  </a:lnTo>
                  <a:lnTo>
                    <a:pt x="13615" y="2905955"/>
                  </a:lnTo>
                  <a:lnTo>
                    <a:pt x="37350" y="2946984"/>
                  </a:lnTo>
                  <a:lnTo>
                    <a:pt x="37455" y="2947139"/>
                  </a:lnTo>
                  <a:lnTo>
                    <a:pt x="70891" y="2980425"/>
                  </a:lnTo>
                  <a:lnTo>
                    <a:pt x="111919" y="3004215"/>
                  </a:lnTo>
                  <a:lnTo>
                    <a:pt x="157436" y="3016346"/>
                  </a:lnTo>
                  <a:lnTo>
                    <a:pt x="181076" y="3017888"/>
                  </a:lnTo>
                  <a:lnTo>
                    <a:pt x="3888358" y="3017888"/>
                  </a:lnTo>
                  <a:lnTo>
                    <a:pt x="3935198" y="3011766"/>
                  </a:lnTo>
                  <a:lnTo>
                    <a:pt x="3979075" y="2993758"/>
                  </a:lnTo>
                  <a:lnTo>
                    <a:pt x="4016326" y="2964829"/>
                  </a:lnTo>
                  <a:lnTo>
                    <a:pt x="4045318" y="2927159"/>
                  </a:lnTo>
                  <a:lnTo>
                    <a:pt x="4055691" y="2906111"/>
                  </a:lnTo>
                  <a:lnTo>
                    <a:pt x="4055767" y="2905955"/>
                  </a:lnTo>
                  <a:lnTo>
                    <a:pt x="4063300" y="2883649"/>
                  </a:lnTo>
                  <a:lnTo>
                    <a:pt x="4067893" y="2860444"/>
                  </a:lnTo>
                  <a:lnTo>
                    <a:pt x="4069435" y="2836799"/>
                  </a:lnTo>
                  <a:lnTo>
                    <a:pt x="4069412" y="181089"/>
                  </a:lnTo>
                  <a:lnTo>
                    <a:pt x="4063315" y="134596"/>
                  </a:lnTo>
                  <a:lnTo>
                    <a:pt x="4045318" y="90728"/>
                  </a:lnTo>
                  <a:lnTo>
                    <a:pt x="4016333" y="53416"/>
                  </a:lnTo>
                  <a:lnTo>
                    <a:pt x="3978719" y="24485"/>
                  </a:lnTo>
                  <a:lnTo>
                    <a:pt x="3935153" y="6488"/>
                  </a:lnTo>
                  <a:lnTo>
                    <a:pt x="3888358" y="368"/>
                  </a:lnTo>
                  <a:lnTo>
                    <a:pt x="18143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60" name="Google Shape;1560;p59"/>
            <p:cNvSpPr/>
            <p:nvPr/>
          </p:nvSpPr>
          <p:spPr>
            <a:xfrm>
              <a:off x="411124" y="1050838"/>
              <a:ext cx="4069715" cy="3018155"/>
            </a:xfrm>
            <a:custGeom>
              <a:rect b="b" l="l" r="r" t="t"/>
              <a:pathLst>
                <a:path extrusionOk="0" h="3018154" w="4069715">
                  <a:moveTo>
                    <a:pt x="355" y="181089"/>
                  </a:moveTo>
                  <a:lnTo>
                    <a:pt x="1896" y="157449"/>
                  </a:lnTo>
                  <a:lnTo>
                    <a:pt x="6475" y="134285"/>
                  </a:lnTo>
                  <a:lnTo>
                    <a:pt x="24472" y="90728"/>
                  </a:lnTo>
                  <a:lnTo>
                    <a:pt x="53413" y="53105"/>
                  </a:lnTo>
                  <a:lnTo>
                    <a:pt x="90716" y="24130"/>
                  </a:lnTo>
                  <a:lnTo>
                    <a:pt x="134593" y="6121"/>
                  </a:lnTo>
                  <a:lnTo>
                    <a:pt x="181432" y="0"/>
                  </a:lnTo>
                  <a:lnTo>
                    <a:pt x="3888358" y="368"/>
                  </a:lnTo>
                  <a:lnTo>
                    <a:pt x="3935153" y="6488"/>
                  </a:lnTo>
                  <a:lnTo>
                    <a:pt x="3978719" y="24485"/>
                  </a:lnTo>
                  <a:lnTo>
                    <a:pt x="4016333" y="53416"/>
                  </a:lnTo>
                  <a:lnTo>
                    <a:pt x="4045318" y="90728"/>
                  </a:lnTo>
                  <a:lnTo>
                    <a:pt x="4063315" y="134596"/>
                  </a:lnTo>
                  <a:lnTo>
                    <a:pt x="4069435" y="181444"/>
                  </a:lnTo>
                  <a:lnTo>
                    <a:pt x="4069435" y="2836799"/>
                  </a:lnTo>
                  <a:lnTo>
                    <a:pt x="4067894" y="2860438"/>
                  </a:lnTo>
                  <a:lnTo>
                    <a:pt x="4063315" y="2883603"/>
                  </a:lnTo>
                  <a:lnTo>
                    <a:pt x="4045318" y="2927159"/>
                  </a:lnTo>
                  <a:lnTo>
                    <a:pt x="4016378" y="2964783"/>
                  </a:lnTo>
                  <a:lnTo>
                    <a:pt x="3979075" y="2993758"/>
                  </a:lnTo>
                  <a:lnTo>
                    <a:pt x="3935198" y="3011766"/>
                  </a:lnTo>
                  <a:lnTo>
                    <a:pt x="3888358" y="3017888"/>
                  </a:lnTo>
                  <a:lnTo>
                    <a:pt x="181076" y="3017888"/>
                  </a:lnTo>
                  <a:lnTo>
                    <a:pt x="134272" y="3011766"/>
                  </a:lnTo>
                  <a:lnTo>
                    <a:pt x="90716" y="2993758"/>
                  </a:lnTo>
                  <a:lnTo>
                    <a:pt x="53092" y="2964829"/>
                  </a:lnTo>
                  <a:lnTo>
                    <a:pt x="24117" y="2927527"/>
                  </a:lnTo>
                  <a:lnTo>
                    <a:pt x="6119" y="2883649"/>
                  </a:lnTo>
                  <a:lnTo>
                    <a:pt x="0" y="2836799"/>
                  </a:lnTo>
                  <a:lnTo>
                    <a:pt x="355" y="181089"/>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61" name="Google Shape;1561;p59"/>
            <p:cNvSpPr/>
            <p:nvPr/>
          </p:nvSpPr>
          <p:spPr>
            <a:xfrm>
              <a:off x="594004" y="1599846"/>
              <a:ext cx="3703954" cy="503555"/>
            </a:xfrm>
            <a:custGeom>
              <a:rect b="b" l="l" r="r" t="t"/>
              <a:pathLst>
                <a:path extrusionOk="0" h="503555" w="3703954">
                  <a:moveTo>
                    <a:pt x="33477" y="0"/>
                  </a:moveTo>
                  <a:lnTo>
                    <a:pt x="2159" y="26276"/>
                  </a:lnTo>
                  <a:lnTo>
                    <a:pt x="0" y="470153"/>
                  </a:lnTo>
                  <a:lnTo>
                    <a:pt x="1790" y="476999"/>
                  </a:lnTo>
                  <a:lnTo>
                    <a:pt x="8991" y="489229"/>
                  </a:lnTo>
                  <a:lnTo>
                    <a:pt x="14033" y="494271"/>
                  </a:lnTo>
                  <a:lnTo>
                    <a:pt x="26276" y="501472"/>
                  </a:lnTo>
                  <a:lnTo>
                    <a:pt x="33121" y="503275"/>
                  </a:lnTo>
                  <a:lnTo>
                    <a:pt x="3670554" y="503275"/>
                  </a:lnTo>
                  <a:lnTo>
                    <a:pt x="3701872" y="476999"/>
                  </a:lnTo>
                  <a:lnTo>
                    <a:pt x="3703675" y="470153"/>
                  </a:lnTo>
                  <a:lnTo>
                    <a:pt x="3703581" y="33121"/>
                  </a:lnTo>
                  <a:lnTo>
                    <a:pt x="3677399" y="2158"/>
                  </a:lnTo>
                  <a:lnTo>
                    <a:pt x="33477" y="0"/>
                  </a:lnTo>
                  <a:close/>
                </a:path>
              </a:pathLst>
            </a:custGeom>
            <a:solidFill>
              <a:srgbClr val="E9F6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562" name="Google Shape;1562;p59"/>
          <p:cNvSpPr txBox="1"/>
          <p:nvPr/>
        </p:nvSpPr>
        <p:spPr>
          <a:xfrm>
            <a:off x="702983" y="1747331"/>
            <a:ext cx="220789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200">
                <a:solidFill>
                  <a:srgbClr val="1E2836"/>
                </a:solidFill>
                <a:latin typeface="Calibri"/>
                <a:ea typeface="Calibri"/>
                <a:cs typeface="Calibri"/>
                <a:sym typeface="Calibri"/>
              </a:rPr>
              <a:t>"Kohli hit the ball"  </a:t>
            </a:r>
            <a:r>
              <a:rPr lang="en-US" sz="1200">
                <a:solidFill>
                  <a:srgbClr val="1E2836"/>
                </a:solidFill>
                <a:latin typeface="Calibri"/>
                <a:ea typeface="Calibri"/>
                <a:cs typeface="Calibri"/>
                <a:sym typeface="Calibri"/>
              </a:rPr>
              <a:t>→ a boundary</a:t>
            </a:r>
            <a:endParaRPr sz="1200">
              <a:latin typeface="Calibri"/>
              <a:ea typeface="Calibri"/>
              <a:cs typeface="Calibri"/>
              <a:sym typeface="Calibri"/>
            </a:endParaRPr>
          </a:p>
        </p:txBody>
      </p:sp>
      <p:sp>
        <p:nvSpPr>
          <p:cNvPr id="1563" name="Google Shape;1563;p59"/>
          <p:cNvSpPr/>
          <p:nvPr/>
        </p:nvSpPr>
        <p:spPr>
          <a:xfrm>
            <a:off x="594004" y="2194206"/>
            <a:ext cx="3703954" cy="503555"/>
          </a:xfrm>
          <a:custGeom>
            <a:rect b="b" l="l" r="r" t="t"/>
            <a:pathLst>
              <a:path extrusionOk="0" h="503555" w="3703954">
                <a:moveTo>
                  <a:pt x="33477" y="0"/>
                </a:moveTo>
                <a:lnTo>
                  <a:pt x="2159" y="26276"/>
                </a:lnTo>
                <a:lnTo>
                  <a:pt x="0" y="470153"/>
                </a:lnTo>
                <a:lnTo>
                  <a:pt x="1790" y="476999"/>
                </a:lnTo>
                <a:lnTo>
                  <a:pt x="8991" y="489229"/>
                </a:lnTo>
                <a:lnTo>
                  <a:pt x="14033" y="494271"/>
                </a:lnTo>
                <a:lnTo>
                  <a:pt x="26276" y="501472"/>
                </a:lnTo>
                <a:lnTo>
                  <a:pt x="33121" y="503275"/>
                </a:lnTo>
                <a:lnTo>
                  <a:pt x="3670554" y="503275"/>
                </a:lnTo>
                <a:lnTo>
                  <a:pt x="3701872" y="476999"/>
                </a:lnTo>
                <a:lnTo>
                  <a:pt x="3703675" y="470153"/>
                </a:lnTo>
                <a:lnTo>
                  <a:pt x="3703581" y="33121"/>
                </a:lnTo>
                <a:lnTo>
                  <a:pt x="3677399" y="2158"/>
                </a:lnTo>
                <a:lnTo>
                  <a:pt x="33477" y="0"/>
                </a:lnTo>
                <a:close/>
              </a:path>
            </a:pathLst>
          </a:custGeom>
          <a:solidFill>
            <a:srgbClr val="FFF0E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64" name="Google Shape;1564;p59"/>
          <p:cNvSpPr txBox="1"/>
          <p:nvPr/>
        </p:nvSpPr>
        <p:spPr>
          <a:xfrm>
            <a:off x="702983" y="2341691"/>
            <a:ext cx="231775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200">
                <a:solidFill>
                  <a:srgbClr val="1E2836"/>
                </a:solidFill>
                <a:latin typeface="Calibri"/>
                <a:ea typeface="Calibri"/>
                <a:cs typeface="Calibri"/>
                <a:sym typeface="Calibri"/>
              </a:rPr>
              <a:t>"The ball hit Kohli" </a:t>
            </a:r>
            <a:r>
              <a:rPr lang="en-US" sz="1200">
                <a:solidFill>
                  <a:srgbClr val="1E2836"/>
                </a:solidFill>
                <a:latin typeface="Calibri"/>
                <a:ea typeface="Calibri"/>
                <a:cs typeface="Calibri"/>
                <a:sym typeface="Calibri"/>
              </a:rPr>
              <a:t>→ a physio visit</a:t>
            </a:r>
            <a:endParaRPr sz="1200">
              <a:latin typeface="Calibri"/>
              <a:ea typeface="Calibri"/>
              <a:cs typeface="Calibri"/>
              <a:sym typeface="Calibri"/>
            </a:endParaRPr>
          </a:p>
        </p:txBody>
      </p:sp>
      <p:sp>
        <p:nvSpPr>
          <p:cNvPr id="1565" name="Google Shape;1565;p59"/>
          <p:cNvSpPr txBox="1"/>
          <p:nvPr/>
        </p:nvSpPr>
        <p:spPr>
          <a:xfrm>
            <a:off x="581659" y="2775853"/>
            <a:ext cx="3611245" cy="9531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150">
                <a:solidFill>
                  <a:srgbClr val="1E2836"/>
                </a:solidFill>
                <a:latin typeface="Calibri"/>
                <a:ea typeface="Calibri"/>
                <a:cs typeface="Calibri"/>
                <a:sym typeface="Calibri"/>
              </a:rPr>
              <a:t>Without positions, self-attention gets the same bag of words</a:t>
            </a:r>
            <a:endParaRPr sz="1150">
              <a:latin typeface="Calibri"/>
              <a:ea typeface="Calibri"/>
              <a:cs typeface="Calibri"/>
              <a:sym typeface="Calibri"/>
            </a:endParaRPr>
          </a:p>
          <a:p>
            <a:pPr indent="0" lvl="0" marL="12700" marR="13970" rtl="0" algn="l">
              <a:lnSpc>
                <a:spcPct val="100000"/>
              </a:lnSpc>
              <a:spcBef>
                <a:spcPts val="0"/>
              </a:spcBef>
              <a:spcAft>
                <a:spcPts val="0"/>
              </a:spcAft>
              <a:buNone/>
            </a:pPr>
            <a:r>
              <a:rPr lang="en-US" sz="1150">
                <a:solidFill>
                  <a:srgbClr val="1E2836"/>
                </a:solidFill>
                <a:latin typeface="Calibri"/>
                <a:ea typeface="Calibri"/>
                <a:cs typeface="Calibri"/>
                <a:sym typeface="Calibri"/>
              </a:rPr>
              <a:t>{Kohli, hit, the, ball} for both, and produces the same output for each word.</a:t>
            </a:r>
            <a:endParaRPr sz="1150">
              <a:latin typeface="Calibri"/>
              <a:ea typeface="Calibri"/>
              <a:cs typeface="Calibri"/>
              <a:sym typeface="Calibri"/>
            </a:endParaRPr>
          </a:p>
          <a:p>
            <a:pPr indent="0" lvl="0" marL="12700" marR="27940" rtl="0" algn="l">
              <a:lnSpc>
                <a:spcPct val="100000"/>
              </a:lnSpc>
              <a:spcBef>
                <a:spcPts val="400"/>
              </a:spcBef>
              <a:spcAft>
                <a:spcPts val="0"/>
              </a:spcAft>
              <a:buNone/>
            </a:pPr>
            <a:r>
              <a:rPr b="1" lang="en-US" sz="1150">
                <a:solidFill>
                  <a:srgbClr val="0E756D"/>
                </a:solidFill>
                <a:latin typeface="Calibri"/>
                <a:ea typeface="Calibri"/>
                <a:cs typeface="Calibri"/>
                <a:sym typeface="Calibri"/>
              </a:rPr>
              <a:t>Fix: </a:t>
            </a:r>
            <a:r>
              <a:rPr lang="en-US" sz="1150">
                <a:solidFill>
                  <a:srgbClr val="1E2836"/>
                </a:solidFill>
                <a:latin typeface="Calibri"/>
                <a:ea typeface="Calibri"/>
                <a:cs typeface="Calibri"/>
                <a:sym typeface="Calibri"/>
              </a:rPr>
              <a:t>add a position vector pᵢ to each word embedding before attention.</a:t>
            </a:r>
            <a:endParaRPr sz="1150">
              <a:latin typeface="Calibri"/>
              <a:ea typeface="Calibri"/>
              <a:cs typeface="Calibri"/>
              <a:sym typeface="Calibri"/>
            </a:endParaRPr>
          </a:p>
        </p:txBody>
      </p:sp>
      <p:grpSp>
        <p:nvGrpSpPr>
          <p:cNvPr id="1566" name="Google Shape;1566;p59"/>
          <p:cNvGrpSpPr/>
          <p:nvPr/>
        </p:nvGrpSpPr>
        <p:grpSpPr>
          <a:xfrm>
            <a:off x="4606201" y="1013017"/>
            <a:ext cx="4183557" cy="3131667"/>
            <a:chOff x="4606201" y="1013017"/>
            <a:chExt cx="4183557" cy="3131667"/>
          </a:xfrm>
        </p:grpSpPr>
        <p:pic>
          <p:nvPicPr>
            <p:cNvPr id="1567" name="Google Shape;1567;p59"/>
            <p:cNvPicPr preferRelativeResize="0"/>
            <p:nvPr/>
          </p:nvPicPr>
          <p:blipFill rotWithShape="1">
            <a:blip r:embed="rId4">
              <a:alphaModFix/>
            </a:blip>
            <a:srcRect b="0" l="0" r="0" t="0"/>
            <a:stretch/>
          </p:blipFill>
          <p:spPr>
            <a:xfrm>
              <a:off x="4606201" y="1013017"/>
              <a:ext cx="4183557" cy="3131667"/>
            </a:xfrm>
            <a:prstGeom prst="rect">
              <a:avLst/>
            </a:prstGeom>
            <a:noFill/>
            <a:ln>
              <a:noFill/>
            </a:ln>
          </p:spPr>
        </p:pic>
        <p:sp>
          <p:nvSpPr>
            <p:cNvPr id="1568" name="Google Shape;1568;p59"/>
            <p:cNvSpPr/>
            <p:nvPr/>
          </p:nvSpPr>
          <p:spPr>
            <a:xfrm>
              <a:off x="4663084" y="1050838"/>
              <a:ext cx="4069715" cy="3018155"/>
            </a:xfrm>
            <a:custGeom>
              <a:rect b="b" l="l" r="r" t="t"/>
              <a:pathLst>
                <a:path extrusionOk="0" h="3018154" w="4069715">
                  <a:moveTo>
                    <a:pt x="181432" y="0"/>
                  </a:moveTo>
                  <a:lnTo>
                    <a:pt x="134593" y="6121"/>
                  </a:lnTo>
                  <a:lnTo>
                    <a:pt x="90716" y="24130"/>
                  </a:lnTo>
                  <a:lnTo>
                    <a:pt x="53413" y="53105"/>
                  </a:lnTo>
                  <a:lnTo>
                    <a:pt x="24472" y="90728"/>
                  </a:lnTo>
                  <a:lnTo>
                    <a:pt x="6475" y="134285"/>
                  </a:lnTo>
                  <a:lnTo>
                    <a:pt x="355" y="181089"/>
                  </a:lnTo>
                  <a:lnTo>
                    <a:pt x="0" y="2836799"/>
                  </a:lnTo>
                  <a:lnTo>
                    <a:pt x="1541" y="2860444"/>
                  </a:lnTo>
                  <a:lnTo>
                    <a:pt x="13615" y="2905955"/>
                  </a:lnTo>
                  <a:lnTo>
                    <a:pt x="37350" y="2946984"/>
                  </a:lnTo>
                  <a:lnTo>
                    <a:pt x="37455" y="2947139"/>
                  </a:lnTo>
                  <a:lnTo>
                    <a:pt x="70891" y="2980425"/>
                  </a:lnTo>
                  <a:lnTo>
                    <a:pt x="111919" y="3004215"/>
                  </a:lnTo>
                  <a:lnTo>
                    <a:pt x="157436" y="3016346"/>
                  </a:lnTo>
                  <a:lnTo>
                    <a:pt x="181076" y="3017888"/>
                  </a:lnTo>
                  <a:lnTo>
                    <a:pt x="3888358" y="3017888"/>
                  </a:lnTo>
                  <a:lnTo>
                    <a:pt x="3935198" y="3011766"/>
                  </a:lnTo>
                  <a:lnTo>
                    <a:pt x="3979075" y="2993758"/>
                  </a:lnTo>
                  <a:lnTo>
                    <a:pt x="4016326" y="2964829"/>
                  </a:lnTo>
                  <a:lnTo>
                    <a:pt x="4045318" y="2927159"/>
                  </a:lnTo>
                  <a:lnTo>
                    <a:pt x="4055691" y="2906111"/>
                  </a:lnTo>
                  <a:lnTo>
                    <a:pt x="4055767" y="2905955"/>
                  </a:lnTo>
                  <a:lnTo>
                    <a:pt x="4063300" y="2883649"/>
                  </a:lnTo>
                  <a:lnTo>
                    <a:pt x="4067893" y="2860444"/>
                  </a:lnTo>
                  <a:lnTo>
                    <a:pt x="4069435" y="2836799"/>
                  </a:lnTo>
                  <a:lnTo>
                    <a:pt x="4069412" y="181089"/>
                  </a:lnTo>
                  <a:lnTo>
                    <a:pt x="4063315" y="134596"/>
                  </a:lnTo>
                  <a:lnTo>
                    <a:pt x="4045318" y="90728"/>
                  </a:lnTo>
                  <a:lnTo>
                    <a:pt x="4016333" y="53416"/>
                  </a:lnTo>
                  <a:lnTo>
                    <a:pt x="3978719" y="24485"/>
                  </a:lnTo>
                  <a:lnTo>
                    <a:pt x="3935153" y="6488"/>
                  </a:lnTo>
                  <a:lnTo>
                    <a:pt x="3888358" y="368"/>
                  </a:lnTo>
                  <a:lnTo>
                    <a:pt x="18143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69" name="Google Shape;1569;p59"/>
            <p:cNvSpPr/>
            <p:nvPr/>
          </p:nvSpPr>
          <p:spPr>
            <a:xfrm>
              <a:off x="4663084" y="1050838"/>
              <a:ext cx="4069715" cy="3018155"/>
            </a:xfrm>
            <a:custGeom>
              <a:rect b="b" l="l" r="r" t="t"/>
              <a:pathLst>
                <a:path extrusionOk="0" h="3018154" w="4069715">
                  <a:moveTo>
                    <a:pt x="355" y="181089"/>
                  </a:moveTo>
                  <a:lnTo>
                    <a:pt x="1896" y="157449"/>
                  </a:lnTo>
                  <a:lnTo>
                    <a:pt x="6475" y="134285"/>
                  </a:lnTo>
                  <a:lnTo>
                    <a:pt x="24472" y="90728"/>
                  </a:lnTo>
                  <a:lnTo>
                    <a:pt x="53413" y="53105"/>
                  </a:lnTo>
                  <a:lnTo>
                    <a:pt x="90716" y="24130"/>
                  </a:lnTo>
                  <a:lnTo>
                    <a:pt x="134593" y="6121"/>
                  </a:lnTo>
                  <a:lnTo>
                    <a:pt x="181432" y="0"/>
                  </a:lnTo>
                  <a:lnTo>
                    <a:pt x="3888358" y="368"/>
                  </a:lnTo>
                  <a:lnTo>
                    <a:pt x="3935153" y="6488"/>
                  </a:lnTo>
                  <a:lnTo>
                    <a:pt x="3978719" y="24485"/>
                  </a:lnTo>
                  <a:lnTo>
                    <a:pt x="4016333" y="53416"/>
                  </a:lnTo>
                  <a:lnTo>
                    <a:pt x="4045318" y="90728"/>
                  </a:lnTo>
                  <a:lnTo>
                    <a:pt x="4063315" y="134596"/>
                  </a:lnTo>
                  <a:lnTo>
                    <a:pt x="4069435" y="181444"/>
                  </a:lnTo>
                  <a:lnTo>
                    <a:pt x="4069435" y="2836799"/>
                  </a:lnTo>
                  <a:lnTo>
                    <a:pt x="4067894" y="2860438"/>
                  </a:lnTo>
                  <a:lnTo>
                    <a:pt x="4063315" y="2883603"/>
                  </a:lnTo>
                  <a:lnTo>
                    <a:pt x="4045318" y="2927159"/>
                  </a:lnTo>
                  <a:lnTo>
                    <a:pt x="4016378" y="2964783"/>
                  </a:lnTo>
                  <a:lnTo>
                    <a:pt x="3979075" y="2993758"/>
                  </a:lnTo>
                  <a:lnTo>
                    <a:pt x="3935198" y="3011766"/>
                  </a:lnTo>
                  <a:lnTo>
                    <a:pt x="3888358" y="3017888"/>
                  </a:lnTo>
                  <a:lnTo>
                    <a:pt x="181076" y="3017888"/>
                  </a:lnTo>
                  <a:lnTo>
                    <a:pt x="134272" y="3011766"/>
                  </a:lnTo>
                  <a:lnTo>
                    <a:pt x="90716" y="2993758"/>
                  </a:lnTo>
                  <a:lnTo>
                    <a:pt x="53092" y="2964829"/>
                  </a:lnTo>
                  <a:lnTo>
                    <a:pt x="24117" y="2927527"/>
                  </a:lnTo>
                  <a:lnTo>
                    <a:pt x="6119" y="2883649"/>
                  </a:lnTo>
                  <a:lnTo>
                    <a:pt x="0" y="2836799"/>
                  </a:lnTo>
                  <a:lnTo>
                    <a:pt x="355" y="181089"/>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570" name="Google Shape;1570;p59"/>
          <p:cNvSpPr txBox="1"/>
          <p:nvPr/>
        </p:nvSpPr>
        <p:spPr>
          <a:xfrm>
            <a:off x="581659" y="674181"/>
            <a:ext cx="6764655" cy="713740"/>
          </a:xfrm>
          <a:prstGeom prst="rect">
            <a:avLst/>
          </a:prstGeom>
          <a:noFill/>
          <a:ln>
            <a:noFill/>
          </a:ln>
        </p:spPr>
        <p:txBody>
          <a:bodyPr anchorCtr="0" anchor="t" bIns="0" lIns="0" spcFirstLastPara="1" rIns="0" wrap="square" tIns="12700">
            <a:spAutoFit/>
          </a:bodyPr>
          <a:lstStyle/>
          <a:p>
            <a:pPr indent="0" lvl="0" marL="118110" rtl="0" algn="ctr">
              <a:lnSpc>
                <a:spcPct val="100000"/>
              </a:lnSpc>
              <a:spcBef>
                <a:spcPts val="0"/>
              </a:spcBef>
              <a:spcAft>
                <a:spcPts val="0"/>
              </a:spcAft>
              <a:buNone/>
            </a:pPr>
            <a:r>
              <a:rPr i="1" lang="en-US" sz="1300">
                <a:solidFill>
                  <a:srgbClr val="0E756D"/>
                </a:solidFill>
                <a:latin typeface="Cambria"/>
                <a:ea typeface="Cambria"/>
                <a:cs typeface="Cambria"/>
                <a:sym typeface="Cambria"/>
              </a:rPr>
              <a:t>Self-attention sees a set of words. Position must be added explicitly.</a:t>
            </a:r>
            <a:endParaRPr sz="1300">
              <a:latin typeface="Cambria"/>
              <a:ea typeface="Cambria"/>
              <a:cs typeface="Cambria"/>
              <a:sym typeface="Cambria"/>
            </a:endParaRPr>
          </a:p>
          <a:p>
            <a:pPr indent="0" lvl="0" marL="0" rtl="0" algn="l">
              <a:lnSpc>
                <a:spcPct val="100000"/>
              </a:lnSpc>
              <a:spcBef>
                <a:spcPts val="655"/>
              </a:spcBef>
              <a:spcAft>
                <a:spcPts val="0"/>
              </a:spcAft>
              <a:buNone/>
            </a:pPr>
            <a:r>
              <a:t/>
            </a:r>
            <a:endParaRPr sz="1300">
              <a:latin typeface="Cambria"/>
              <a:ea typeface="Cambria"/>
              <a:cs typeface="Cambria"/>
              <a:sym typeface="Cambria"/>
            </a:endParaRPr>
          </a:p>
          <a:p>
            <a:pPr indent="0" lvl="0" marL="12700" rtl="0" algn="l">
              <a:lnSpc>
                <a:spcPct val="100000"/>
              </a:lnSpc>
              <a:spcBef>
                <a:spcPts val="0"/>
              </a:spcBef>
              <a:spcAft>
                <a:spcPts val="0"/>
              </a:spcAft>
              <a:buNone/>
            </a:pPr>
            <a:r>
              <a:rPr b="1" lang="en-US" sz="1400">
                <a:solidFill>
                  <a:srgbClr val="C1400B"/>
                </a:solidFill>
                <a:latin typeface="Calibri"/>
                <a:ea typeface="Calibri"/>
                <a:cs typeface="Calibri"/>
                <a:sym typeface="Calibri"/>
              </a:rPr>
              <a:t>Same words, very different news	</a:t>
            </a:r>
            <a:r>
              <a:rPr b="1" lang="en-US" sz="1400">
                <a:solidFill>
                  <a:srgbClr val="6C27D8"/>
                </a:solidFill>
                <a:latin typeface="Calibri"/>
                <a:ea typeface="Calibri"/>
                <a:cs typeface="Calibri"/>
                <a:sym typeface="Calibri"/>
              </a:rPr>
              <a:t>Intuition for sinusoidal PE: a clock</a:t>
            </a:r>
            <a:endParaRPr sz="1400">
              <a:latin typeface="Calibri"/>
              <a:ea typeface="Calibri"/>
              <a:cs typeface="Calibri"/>
              <a:sym typeface="Calibri"/>
            </a:endParaRPr>
          </a:p>
        </p:txBody>
      </p:sp>
      <p:sp>
        <p:nvSpPr>
          <p:cNvPr id="1571" name="Google Shape;1571;p59"/>
          <p:cNvSpPr/>
          <p:nvPr/>
        </p:nvSpPr>
        <p:spPr>
          <a:xfrm>
            <a:off x="4845964" y="1600202"/>
            <a:ext cx="1161415" cy="567055"/>
          </a:xfrm>
          <a:custGeom>
            <a:rect b="b" l="l" r="r" t="t"/>
            <a:pathLst>
              <a:path extrusionOk="0" h="567055" w="1161414">
                <a:moveTo>
                  <a:pt x="1123911" y="0"/>
                </a:moveTo>
                <a:lnTo>
                  <a:pt x="37439" y="0"/>
                </a:lnTo>
                <a:lnTo>
                  <a:pt x="29514" y="2159"/>
                </a:lnTo>
                <a:lnTo>
                  <a:pt x="15836" y="10083"/>
                </a:lnTo>
                <a:lnTo>
                  <a:pt x="10071" y="15836"/>
                </a:lnTo>
                <a:lnTo>
                  <a:pt x="2159" y="29514"/>
                </a:lnTo>
                <a:lnTo>
                  <a:pt x="0" y="37439"/>
                </a:lnTo>
                <a:lnTo>
                  <a:pt x="0" y="45364"/>
                </a:lnTo>
                <a:lnTo>
                  <a:pt x="0" y="529564"/>
                </a:lnTo>
                <a:lnTo>
                  <a:pt x="29514" y="564845"/>
                </a:lnTo>
                <a:lnTo>
                  <a:pt x="37439" y="567004"/>
                </a:lnTo>
                <a:lnTo>
                  <a:pt x="1123911" y="567004"/>
                </a:lnTo>
                <a:lnTo>
                  <a:pt x="1159192" y="537476"/>
                </a:lnTo>
                <a:lnTo>
                  <a:pt x="1161351" y="529564"/>
                </a:lnTo>
                <a:lnTo>
                  <a:pt x="1161351" y="37439"/>
                </a:lnTo>
                <a:lnTo>
                  <a:pt x="1159192" y="29514"/>
                </a:lnTo>
                <a:lnTo>
                  <a:pt x="1151280" y="15836"/>
                </a:lnTo>
                <a:lnTo>
                  <a:pt x="1145514" y="10083"/>
                </a:lnTo>
                <a:lnTo>
                  <a:pt x="1131836" y="2159"/>
                </a:lnTo>
                <a:lnTo>
                  <a:pt x="1123911" y="0"/>
                </a:lnTo>
                <a:close/>
              </a:path>
            </a:pathLst>
          </a:custGeom>
          <a:solidFill>
            <a:srgbClr val="F0EBF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72" name="Google Shape;1572;p59"/>
          <p:cNvSpPr txBox="1"/>
          <p:nvPr/>
        </p:nvSpPr>
        <p:spPr>
          <a:xfrm>
            <a:off x="5040617" y="1711352"/>
            <a:ext cx="770890" cy="345440"/>
          </a:xfrm>
          <a:prstGeom prst="rect">
            <a:avLst/>
          </a:prstGeom>
          <a:noFill/>
          <a:ln>
            <a:noFill/>
          </a:ln>
        </p:spPr>
        <p:txBody>
          <a:bodyPr anchorCtr="0" anchor="t" bIns="0" lIns="0" spcFirstLastPara="1" rIns="0" wrap="square" tIns="12700">
            <a:spAutoFit/>
          </a:bodyPr>
          <a:lstStyle/>
          <a:p>
            <a:pPr indent="0" lvl="0" marL="0" rtl="0" algn="ctr">
              <a:lnSpc>
                <a:spcPct val="120000"/>
              </a:lnSpc>
              <a:spcBef>
                <a:spcPts val="0"/>
              </a:spcBef>
              <a:spcAft>
                <a:spcPts val="0"/>
              </a:spcAft>
              <a:buNone/>
            </a:pPr>
            <a:r>
              <a:rPr b="1" lang="en-US" sz="1100">
                <a:solidFill>
                  <a:srgbClr val="6C27D8"/>
                </a:solidFill>
                <a:latin typeface="Calibri"/>
                <a:ea typeface="Calibri"/>
                <a:cs typeface="Calibri"/>
                <a:sym typeface="Calibri"/>
              </a:rPr>
              <a:t>Second hand</a:t>
            </a:r>
            <a:endParaRPr sz="1100">
              <a:latin typeface="Calibri"/>
              <a:ea typeface="Calibri"/>
              <a:cs typeface="Calibri"/>
              <a:sym typeface="Calibri"/>
            </a:endParaRPr>
          </a:p>
          <a:p>
            <a:pPr indent="0" lvl="0" marL="1270" rtl="0" algn="ctr">
              <a:lnSpc>
                <a:spcPct val="120000"/>
              </a:lnSpc>
              <a:spcBef>
                <a:spcPts val="0"/>
              </a:spcBef>
              <a:spcAft>
                <a:spcPts val="0"/>
              </a:spcAft>
              <a:buNone/>
            </a:pPr>
            <a:r>
              <a:rPr lang="en-US" sz="1000">
                <a:solidFill>
                  <a:srgbClr val="465468"/>
                </a:solidFill>
                <a:latin typeface="Calibri"/>
                <a:ea typeface="Calibri"/>
                <a:cs typeface="Calibri"/>
                <a:sym typeface="Calibri"/>
              </a:rPr>
              <a:t>fast</a:t>
            </a:r>
            <a:endParaRPr sz="1000">
              <a:latin typeface="Calibri"/>
              <a:ea typeface="Calibri"/>
              <a:cs typeface="Calibri"/>
              <a:sym typeface="Calibri"/>
            </a:endParaRPr>
          </a:p>
        </p:txBody>
      </p:sp>
      <p:sp>
        <p:nvSpPr>
          <p:cNvPr id="1573" name="Google Shape;1573;p59"/>
          <p:cNvSpPr/>
          <p:nvPr/>
        </p:nvSpPr>
        <p:spPr>
          <a:xfrm>
            <a:off x="6098756" y="1600202"/>
            <a:ext cx="1161415" cy="567055"/>
          </a:xfrm>
          <a:custGeom>
            <a:rect b="b" l="l" r="r" t="t"/>
            <a:pathLst>
              <a:path extrusionOk="0" h="567055" w="1161415">
                <a:moveTo>
                  <a:pt x="1123924" y="0"/>
                </a:moveTo>
                <a:lnTo>
                  <a:pt x="37439" y="0"/>
                </a:lnTo>
                <a:lnTo>
                  <a:pt x="29527" y="2159"/>
                </a:lnTo>
                <a:lnTo>
                  <a:pt x="15849" y="10083"/>
                </a:lnTo>
                <a:lnTo>
                  <a:pt x="10083" y="15836"/>
                </a:lnTo>
                <a:lnTo>
                  <a:pt x="2159" y="29514"/>
                </a:lnTo>
                <a:lnTo>
                  <a:pt x="0" y="37439"/>
                </a:lnTo>
                <a:lnTo>
                  <a:pt x="0" y="45364"/>
                </a:lnTo>
                <a:lnTo>
                  <a:pt x="0" y="529564"/>
                </a:lnTo>
                <a:lnTo>
                  <a:pt x="29527" y="564845"/>
                </a:lnTo>
                <a:lnTo>
                  <a:pt x="37439" y="567004"/>
                </a:lnTo>
                <a:lnTo>
                  <a:pt x="1123924" y="567004"/>
                </a:lnTo>
                <a:lnTo>
                  <a:pt x="1159205" y="537476"/>
                </a:lnTo>
                <a:lnTo>
                  <a:pt x="1161364" y="529564"/>
                </a:lnTo>
                <a:lnTo>
                  <a:pt x="1161364" y="37439"/>
                </a:lnTo>
                <a:lnTo>
                  <a:pt x="1159205" y="29514"/>
                </a:lnTo>
                <a:lnTo>
                  <a:pt x="1151280" y="15836"/>
                </a:lnTo>
                <a:lnTo>
                  <a:pt x="1145527" y="10083"/>
                </a:lnTo>
                <a:lnTo>
                  <a:pt x="1131849" y="2159"/>
                </a:lnTo>
                <a:lnTo>
                  <a:pt x="1123924" y="0"/>
                </a:lnTo>
                <a:close/>
              </a:path>
            </a:pathLst>
          </a:custGeom>
          <a:solidFill>
            <a:srgbClr val="F0EBF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74" name="Google Shape;1574;p59"/>
          <p:cNvSpPr txBox="1"/>
          <p:nvPr/>
        </p:nvSpPr>
        <p:spPr>
          <a:xfrm>
            <a:off x="6290894" y="1711352"/>
            <a:ext cx="775335" cy="345440"/>
          </a:xfrm>
          <a:prstGeom prst="rect">
            <a:avLst/>
          </a:prstGeom>
          <a:noFill/>
          <a:ln>
            <a:noFill/>
          </a:ln>
        </p:spPr>
        <p:txBody>
          <a:bodyPr anchorCtr="0" anchor="t" bIns="0" lIns="0" spcFirstLastPara="1" rIns="0" wrap="square" tIns="12700">
            <a:spAutoFit/>
          </a:bodyPr>
          <a:lstStyle/>
          <a:p>
            <a:pPr indent="0" lvl="0" marL="0" rtl="0" algn="ctr">
              <a:lnSpc>
                <a:spcPct val="120000"/>
              </a:lnSpc>
              <a:spcBef>
                <a:spcPts val="0"/>
              </a:spcBef>
              <a:spcAft>
                <a:spcPts val="0"/>
              </a:spcAft>
              <a:buNone/>
            </a:pPr>
            <a:r>
              <a:rPr b="1" lang="en-US" sz="1100">
                <a:solidFill>
                  <a:srgbClr val="6C27D8"/>
                </a:solidFill>
                <a:latin typeface="Calibri"/>
                <a:ea typeface="Calibri"/>
                <a:cs typeface="Calibri"/>
                <a:sym typeface="Calibri"/>
              </a:rPr>
              <a:t>Minute hand</a:t>
            </a:r>
            <a:endParaRPr sz="1100">
              <a:latin typeface="Calibri"/>
              <a:ea typeface="Calibri"/>
              <a:cs typeface="Calibri"/>
              <a:sym typeface="Calibri"/>
            </a:endParaRPr>
          </a:p>
          <a:p>
            <a:pPr indent="0" lvl="0" marL="1270" rtl="0" algn="ctr">
              <a:lnSpc>
                <a:spcPct val="120000"/>
              </a:lnSpc>
              <a:spcBef>
                <a:spcPts val="0"/>
              </a:spcBef>
              <a:spcAft>
                <a:spcPts val="0"/>
              </a:spcAft>
              <a:buNone/>
            </a:pPr>
            <a:r>
              <a:rPr lang="en-US" sz="1000">
                <a:solidFill>
                  <a:srgbClr val="465468"/>
                </a:solidFill>
                <a:latin typeface="Calibri"/>
                <a:ea typeface="Calibri"/>
                <a:cs typeface="Calibri"/>
                <a:sym typeface="Calibri"/>
              </a:rPr>
              <a:t>medium</a:t>
            </a:r>
            <a:endParaRPr sz="1000">
              <a:latin typeface="Calibri"/>
              <a:ea typeface="Calibri"/>
              <a:cs typeface="Calibri"/>
              <a:sym typeface="Calibri"/>
            </a:endParaRPr>
          </a:p>
        </p:txBody>
      </p:sp>
      <p:sp>
        <p:nvSpPr>
          <p:cNvPr id="1575" name="Google Shape;1575;p59"/>
          <p:cNvSpPr/>
          <p:nvPr/>
        </p:nvSpPr>
        <p:spPr>
          <a:xfrm>
            <a:off x="7351559" y="1600202"/>
            <a:ext cx="1161415" cy="567055"/>
          </a:xfrm>
          <a:custGeom>
            <a:rect b="b" l="l" r="r" t="t"/>
            <a:pathLst>
              <a:path extrusionOk="0" h="567055" w="1161415">
                <a:moveTo>
                  <a:pt x="1123924" y="0"/>
                </a:moveTo>
                <a:lnTo>
                  <a:pt x="37439" y="0"/>
                </a:lnTo>
                <a:lnTo>
                  <a:pt x="29514" y="2159"/>
                </a:lnTo>
                <a:lnTo>
                  <a:pt x="15836" y="10083"/>
                </a:lnTo>
                <a:lnTo>
                  <a:pt x="10083" y="15836"/>
                </a:lnTo>
                <a:lnTo>
                  <a:pt x="2158" y="29514"/>
                </a:lnTo>
                <a:lnTo>
                  <a:pt x="0" y="37439"/>
                </a:lnTo>
                <a:lnTo>
                  <a:pt x="0" y="45364"/>
                </a:lnTo>
                <a:lnTo>
                  <a:pt x="0" y="529564"/>
                </a:lnTo>
                <a:lnTo>
                  <a:pt x="29514" y="564845"/>
                </a:lnTo>
                <a:lnTo>
                  <a:pt x="37439" y="567004"/>
                </a:lnTo>
                <a:lnTo>
                  <a:pt x="1123924" y="567004"/>
                </a:lnTo>
                <a:lnTo>
                  <a:pt x="1159205" y="537476"/>
                </a:lnTo>
                <a:lnTo>
                  <a:pt x="1161364" y="529564"/>
                </a:lnTo>
                <a:lnTo>
                  <a:pt x="1161364" y="37439"/>
                </a:lnTo>
                <a:lnTo>
                  <a:pt x="1159205" y="29514"/>
                </a:lnTo>
                <a:lnTo>
                  <a:pt x="1151280" y="15836"/>
                </a:lnTo>
                <a:lnTo>
                  <a:pt x="1145514" y="10083"/>
                </a:lnTo>
                <a:lnTo>
                  <a:pt x="1131836" y="2159"/>
                </a:lnTo>
                <a:lnTo>
                  <a:pt x="1123924" y="0"/>
                </a:lnTo>
                <a:close/>
              </a:path>
            </a:pathLst>
          </a:custGeom>
          <a:solidFill>
            <a:srgbClr val="F0EBF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76" name="Google Shape;1576;p59"/>
          <p:cNvSpPr txBox="1"/>
          <p:nvPr/>
        </p:nvSpPr>
        <p:spPr>
          <a:xfrm>
            <a:off x="7612456" y="1711352"/>
            <a:ext cx="639445" cy="345440"/>
          </a:xfrm>
          <a:prstGeom prst="rect">
            <a:avLst/>
          </a:prstGeom>
          <a:noFill/>
          <a:ln>
            <a:noFill/>
          </a:ln>
        </p:spPr>
        <p:txBody>
          <a:bodyPr anchorCtr="0" anchor="t" bIns="0" lIns="0" spcFirstLastPara="1" rIns="0" wrap="square" tIns="12700">
            <a:spAutoFit/>
          </a:bodyPr>
          <a:lstStyle/>
          <a:p>
            <a:pPr indent="0" lvl="0" marL="0" rtl="0" algn="ctr">
              <a:lnSpc>
                <a:spcPct val="120000"/>
              </a:lnSpc>
              <a:spcBef>
                <a:spcPts val="0"/>
              </a:spcBef>
              <a:spcAft>
                <a:spcPts val="0"/>
              </a:spcAft>
              <a:buNone/>
            </a:pPr>
            <a:r>
              <a:rPr b="1" lang="en-US" sz="1100">
                <a:solidFill>
                  <a:srgbClr val="6C27D8"/>
                </a:solidFill>
                <a:latin typeface="Calibri"/>
                <a:ea typeface="Calibri"/>
                <a:cs typeface="Calibri"/>
                <a:sym typeface="Calibri"/>
              </a:rPr>
              <a:t>Hour hand</a:t>
            </a:r>
            <a:endParaRPr sz="1100">
              <a:latin typeface="Calibri"/>
              <a:ea typeface="Calibri"/>
              <a:cs typeface="Calibri"/>
              <a:sym typeface="Calibri"/>
            </a:endParaRPr>
          </a:p>
          <a:p>
            <a:pPr indent="0" lvl="0" marL="0" rtl="0" algn="ctr">
              <a:lnSpc>
                <a:spcPct val="120000"/>
              </a:lnSpc>
              <a:spcBef>
                <a:spcPts val="0"/>
              </a:spcBef>
              <a:spcAft>
                <a:spcPts val="0"/>
              </a:spcAft>
              <a:buNone/>
            </a:pPr>
            <a:r>
              <a:rPr lang="en-US" sz="1000">
                <a:solidFill>
                  <a:srgbClr val="465468"/>
                </a:solidFill>
                <a:latin typeface="Calibri"/>
                <a:ea typeface="Calibri"/>
                <a:cs typeface="Calibri"/>
                <a:sym typeface="Calibri"/>
              </a:rPr>
              <a:t>slow</a:t>
            </a:r>
            <a:endParaRPr sz="1000">
              <a:latin typeface="Calibri"/>
              <a:ea typeface="Calibri"/>
              <a:cs typeface="Calibri"/>
              <a:sym typeface="Calibri"/>
            </a:endParaRPr>
          </a:p>
        </p:txBody>
      </p:sp>
      <p:sp>
        <p:nvSpPr>
          <p:cNvPr id="1577" name="Google Shape;1577;p59"/>
          <p:cNvSpPr txBox="1"/>
          <p:nvPr/>
        </p:nvSpPr>
        <p:spPr>
          <a:xfrm>
            <a:off x="4833620" y="2273301"/>
            <a:ext cx="3705860" cy="953135"/>
          </a:xfrm>
          <a:prstGeom prst="rect">
            <a:avLst/>
          </a:prstGeom>
          <a:noFill/>
          <a:ln>
            <a:noFill/>
          </a:ln>
        </p:spPr>
        <p:txBody>
          <a:bodyPr anchorCtr="0" anchor="t" bIns="0" lIns="0" spcFirstLastPara="1" rIns="0" wrap="square" tIns="12700">
            <a:spAutoFit/>
          </a:bodyPr>
          <a:lstStyle/>
          <a:p>
            <a:pPr indent="0" lvl="0" marL="12700" marR="481965" rtl="0" algn="l">
              <a:lnSpc>
                <a:spcPct val="100000"/>
              </a:lnSpc>
              <a:spcBef>
                <a:spcPts val="0"/>
              </a:spcBef>
              <a:spcAft>
                <a:spcPts val="0"/>
              </a:spcAft>
              <a:buNone/>
            </a:pPr>
            <a:r>
              <a:rPr lang="en-US" sz="1150">
                <a:solidFill>
                  <a:srgbClr val="1E2836"/>
                </a:solidFill>
                <a:latin typeface="Calibri"/>
                <a:ea typeface="Calibri"/>
                <a:cs typeface="Calibri"/>
                <a:sym typeface="Calibri"/>
              </a:rPr>
              <a:t>Each hand alone repeats, but together they give every moment a unique reading.</a:t>
            </a:r>
            <a:endParaRPr sz="1150">
              <a:latin typeface="Calibri"/>
              <a:ea typeface="Calibri"/>
              <a:cs typeface="Calibri"/>
              <a:sym typeface="Calibri"/>
            </a:endParaRPr>
          </a:p>
          <a:p>
            <a:pPr indent="0" lvl="0" marL="12700" marR="5080" rtl="0" algn="l">
              <a:lnSpc>
                <a:spcPct val="100000"/>
              </a:lnSpc>
              <a:spcBef>
                <a:spcPts val="400"/>
              </a:spcBef>
              <a:spcAft>
                <a:spcPts val="0"/>
              </a:spcAft>
              <a:buNone/>
            </a:pPr>
            <a:r>
              <a:rPr lang="en-US" sz="1150">
                <a:solidFill>
                  <a:srgbClr val="1E2836"/>
                </a:solidFill>
                <a:latin typeface="Calibri"/>
                <a:ea typeface="Calibri"/>
                <a:cs typeface="Calibri"/>
                <a:sym typeface="Calibri"/>
              </a:rPr>
              <a:t>Sinusoidal PE works the same way: each pair of dimensions is a "hand" turning at its own frequency, so every position gets a unique fingerprint.</a:t>
            </a:r>
            <a:endParaRPr sz="1150">
              <a:latin typeface="Calibri"/>
              <a:ea typeface="Calibri"/>
              <a:cs typeface="Calibri"/>
              <a:sym typeface="Calibri"/>
            </a:endParaRPr>
          </a:p>
        </p:txBody>
      </p:sp>
      <p:grpSp>
        <p:nvGrpSpPr>
          <p:cNvPr id="1578" name="Google Shape;1578;p59"/>
          <p:cNvGrpSpPr/>
          <p:nvPr/>
        </p:nvGrpSpPr>
        <p:grpSpPr>
          <a:xfrm>
            <a:off x="4845964" y="3473998"/>
            <a:ext cx="3703954" cy="457834"/>
            <a:chOff x="4845964" y="3473998"/>
            <a:chExt cx="3703954" cy="457834"/>
          </a:xfrm>
        </p:grpSpPr>
        <p:sp>
          <p:nvSpPr>
            <p:cNvPr id="1579" name="Google Shape;1579;p59"/>
            <p:cNvSpPr/>
            <p:nvPr/>
          </p:nvSpPr>
          <p:spPr>
            <a:xfrm>
              <a:off x="4845964" y="3473998"/>
              <a:ext cx="3703954" cy="457834"/>
            </a:xfrm>
            <a:custGeom>
              <a:rect b="b" l="l" r="r" t="t"/>
              <a:pathLst>
                <a:path extrusionOk="0" h="457835" w="3703954">
                  <a:moveTo>
                    <a:pt x="30594" y="0"/>
                  </a:moveTo>
                  <a:lnTo>
                    <a:pt x="24117" y="1803"/>
                  </a:lnTo>
                  <a:lnTo>
                    <a:pt x="18719" y="5041"/>
                  </a:lnTo>
                  <a:lnTo>
                    <a:pt x="12953" y="8280"/>
                  </a:lnTo>
                  <a:lnTo>
                    <a:pt x="0" y="427329"/>
                  </a:lnTo>
                  <a:lnTo>
                    <a:pt x="1688" y="433438"/>
                  </a:lnTo>
                  <a:lnTo>
                    <a:pt x="1790" y="433806"/>
                  </a:lnTo>
                  <a:lnTo>
                    <a:pt x="5041" y="439204"/>
                  </a:lnTo>
                  <a:lnTo>
                    <a:pt x="8280" y="444969"/>
                  </a:lnTo>
                  <a:lnTo>
                    <a:pt x="12953" y="449287"/>
                  </a:lnTo>
                  <a:lnTo>
                    <a:pt x="18351" y="452526"/>
                  </a:lnTo>
                  <a:lnTo>
                    <a:pt x="24117" y="455764"/>
                  </a:lnTo>
                  <a:lnTo>
                    <a:pt x="30238" y="457568"/>
                  </a:lnTo>
                  <a:lnTo>
                    <a:pt x="3673436" y="457568"/>
                  </a:lnTo>
                  <a:lnTo>
                    <a:pt x="3679913" y="455764"/>
                  </a:lnTo>
                  <a:lnTo>
                    <a:pt x="3685311" y="452526"/>
                  </a:lnTo>
                  <a:lnTo>
                    <a:pt x="3691077" y="449287"/>
                  </a:lnTo>
                  <a:lnTo>
                    <a:pt x="3695395" y="444601"/>
                  </a:lnTo>
                  <a:lnTo>
                    <a:pt x="3698633" y="439204"/>
                  </a:lnTo>
                  <a:lnTo>
                    <a:pt x="3701872" y="433438"/>
                  </a:lnTo>
                  <a:lnTo>
                    <a:pt x="3703675" y="427329"/>
                  </a:lnTo>
                  <a:lnTo>
                    <a:pt x="3703573" y="30238"/>
                  </a:lnTo>
                  <a:lnTo>
                    <a:pt x="3701872" y="24130"/>
                  </a:lnTo>
                  <a:lnTo>
                    <a:pt x="3698633" y="18719"/>
                  </a:lnTo>
                  <a:lnTo>
                    <a:pt x="3695395" y="12966"/>
                  </a:lnTo>
                  <a:lnTo>
                    <a:pt x="3690721" y="8648"/>
                  </a:lnTo>
                  <a:lnTo>
                    <a:pt x="3685311" y="5410"/>
                  </a:lnTo>
                  <a:lnTo>
                    <a:pt x="3679558" y="2159"/>
                  </a:lnTo>
                  <a:lnTo>
                    <a:pt x="3673436" y="368"/>
                  </a:lnTo>
                  <a:lnTo>
                    <a:pt x="30594" y="0"/>
                  </a:lnTo>
                  <a:close/>
                </a:path>
              </a:pathLst>
            </a:custGeom>
            <a:solidFill>
              <a:srgbClr val="F7F9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80" name="Google Shape;1580;p59"/>
            <p:cNvSpPr/>
            <p:nvPr/>
          </p:nvSpPr>
          <p:spPr>
            <a:xfrm>
              <a:off x="4845964" y="3473998"/>
              <a:ext cx="3703954" cy="457834"/>
            </a:xfrm>
            <a:custGeom>
              <a:rect b="b" l="l" r="r" t="t"/>
              <a:pathLst>
                <a:path extrusionOk="0" h="457835" w="3703954">
                  <a:moveTo>
                    <a:pt x="355" y="36728"/>
                  </a:moveTo>
                  <a:lnTo>
                    <a:pt x="355" y="30238"/>
                  </a:lnTo>
                  <a:lnTo>
                    <a:pt x="2159" y="24130"/>
                  </a:lnTo>
                  <a:lnTo>
                    <a:pt x="5397" y="18364"/>
                  </a:lnTo>
                  <a:lnTo>
                    <a:pt x="8636" y="12966"/>
                  </a:lnTo>
                  <a:lnTo>
                    <a:pt x="12953" y="8280"/>
                  </a:lnTo>
                  <a:lnTo>
                    <a:pt x="18719" y="5041"/>
                  </a:lnTo>
                  <a:lnTo>
                    <a:pt x="24117" y="1803"/>
                  </a:lnTo>
                  <a:lnTo>
                    <a:pt x="30594" y="0"/>
                  </a:lnTo>
                  <a:lnTo>
                    <a:pt x="37071" y="0"/>
                  </a:lnTo>
                  <a:lnTo>
                    <a:pt x="3666959" y="368"/>
                  </a:lnTo>
                  <a:lnTo>
                    <a:pt x="3673436" y="368"/>
                  </a:lnTo>
                  <a:lnTo>
                    <a:pt x="3679558" y="2159"/>
                  </a:lnTo>
                  <a:lnTo>
                    <a:pt x="3685311" y="5410"/>
                  </a:lnTo>
                  <a:lnTo>
                    <a:pt x="3690721" y="8648"/>
                  </a:lnTo>
                  <a:lnTo>
                    <a:pt x="3695395" y="12966"/>
                  </a:lnTo>
                  <a:lnTo>
                    <a:pt x="3698633" y="18719"/>
                  </a:lnTo>
                  <a:lnTo>
                    <a:pt x="3701872" y="24130"/>
                  </a:lnTo>
                  <a:lnTo>
                    <a:pt x="3703675" y="30606"/>
                  </a:lnTo>
                  <a:lnTo>
                    <a:pt x="3703675" y="37084"/>
                  </a:lnTo>
                  <a:lnTo>
                    <a:pt x="3703675" y="420839"/>
                  </a:lnTo>
                  <a:lnTo>
                    <a:pt x="3703675" y="427329"/>
                  </a:lnTo>
                  <a:lnTo>
                    <a:pt x="3701872" y="433438"/>
                  </a:lnTo>
                  <a:lnTo>
                    <a:pt x="3698633" y="439204"/>
                  </a:lnTo>
                  <a:lnTo>
                    <a:pt x="3695395" y="444601"/>
                  </a:lnTo>
                  <a:lnTo>
                    <a:pt x="3691077" y="449287"/>
                  </a:lnTo>
                  <a:lnTo>
                    <a:pt x="3685311" y="452526"/>
                  </a:lnTo>
                  <a:lnTo>
                    <a:pt x="3679913" y="455764"/>
                  </a:lnTo>
                  <a:lnTo>
                    <a:pt x="3673436" y="457568"/>
                  </a:lnTo>
                  <a:lnTo>
                    <a:pt x="3666959" y="457568"/>
                  </a:lnTo>
                  <a:lnTo>
                    <a:pt x="36715" y="457568"/>
                  </a:lnTo>
                  <a:lnTo>
                    <a:pt x="30238" y="457568"/>
                  </a:lnTo>
                  <a:lnTo>
                    <a:pt x="24117" y="455764"/>
                  </a:lnTo>
                  <a:lnTo>
                    <a:pt x="18351" y="452526"/>
                  </a:lnTo>
                  <a:lnTo>
                    <a:pt x="12953" y="449287"/>
                  </a:lnTo>
                  <a:lnTo>
                    <a:pt x="8280" y="444969"/>
                  </a:lnTo>
                  <a:lnTo>
                    <a:pt x="5041" y="439204"/>
                  </a:lnTo>
                  <a:lnTo>
                    <a:pt x="1790" y="433806"/>
                  </a:lnTo>
                  <a:lnTo>
                    <a:pt x="0" y="427329"/>
                  </a:lnTo>
                  <a:lnTo>
                    <a:pt x="0" y="420839"/>
                  </a:lnTo>
                  <a:lnTo>
                    <a:pt x="355" y="36728"/>
                  </a:lnTo>
                  <a:close/>
                </a:path>
              </a:pathLst>
            </a:custGeom>
            <a:noFill/>
            <a:ln cap="flat" cmpd="sng" w="12575">
              <a:solidFill>
                <a:srgbClr val="E1E7E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581" name="Google Shape;1581;p59"/>
          <p:cNvSpPr txBox="1"/>
          <p:nvPr/>
        </p:nvSpPr>
        <p:spPr>
          <a:xfrm>
            <a:off x="4899659" y="3606382"/>
            <a:ext cx="3592195" cy="193040"/>
          </a:xfrm>
          <a:prstGeom prst="rect">
            <a:avLst/>
          </a:prstGeom>
          <a:noFill/>
          <a:ln>
            <a:noFill/>
          </a:ln>
        </p:spPr>
        <p:txBody>
          <a:bodyPr anchorCtr="0" anchor="t" bIns="0" lIns="0" spcFirstLastPara="1" rIns="0" wrap="square" tIns="12700">
            <a:spAutoFit/>
          </a:bodyPr>
          <a:lstStyle/>
          <a:p>
            <a:pPr indent="0" lvl="0" marL="38100" rtl="0" algn="l">
              <a:lnSpc>
                <a:spcPct val="100000"/>
              </a:lnSpc>
              <a:spcBef>
                <a:spcPts val="0"/>
              </a:spcBef>
              <a:spcAft>
                <a:spcPts val="0"/>
              </a:spcAft>
              <a:buNone/>
            </a:pPr>
            <a:r>
              <a:rPr lang="en-US" sz="1100">
                <a:solidFill>
                  <a:srgbClr val="0C1A29"/>
                </a:solidFill>
                <a:latin typeface="Calibri"/>
                <a:ea typeface="Calibri"/>
                <a:cs typeface="Calibri"/>
                <a:sym typeface="Calibri"/>
              </a:rPr>
              <a:t>PE(pos, 2i) = sin(pos / 10000</a:t>
            </a:r>
            <a:r>
              <a:rPr baseline="30000" lang="en-US" sz="975">
                <a:solidFill>
                  <a:srgbClr val="0C1A29"/>
                </a:solidFill>
                <a:latin typeface="Calibri"/>
                <a:ea typeface="Calibri"/>
                <a:cs typeface="Calibri"/>
                <a:sym typeface="Calibri"/>
              </a:rPr>
              <a:t>2i/d</a:t>
            </a:r>
            <a:r>
              <a:rPr lang="en-US" sz="1100">
                <a:solidFill>
                  <a:srgbClr val="0C1A29"/>
                </a:solidFill>
                <a:latin typeface="Calibri"/>
                <a:ea typeface="Calibri"/>
                <a:cs typeface="Calibri"/>
                <a:sym typeface="Calibri"/>
              </a:rPr>
              <a:t>)  ·  PE(pos, 2i+1) = cos(same)</a:t>
            </a:r>
            <a:endParaRPr sz="1100">
              <a:latin typeface="Calibri"/>
              <a:ea typeface="Calibri"/>
              <a:cs typeface="Calibri"/>
              <a:sym typeface="Calibri"/>
            </a:endParaRPr>
          </a:p>
        </p:txBody>
      </p:sp>
      <p:grpSp>
        <p:nvGrpSpPr>
          <p:cNvPr id="1582" name="Google Shape;1582;p59"/>
          <p:cNvGrpSpPr/>
          <p:nvPr/>
        </p:nvGrpSpPr>
        <p:grpSpPr>
          <a:xfrm>
            <a:off x="411124" y="4206241"/>
            <a:ext cx="8321040" cy="530860"/>
            <a:chOff x="411124" y="4206241"/>
            <a:chExt cx="8321040" cy="530860"/>
          </a:xfrm>
        </p:grpSpPr>
        <p:sp>
          <p:nvSpPr>
            <p:cNvPr id="1583" name="Google Shape;1583;p59"/>
            <p:cNvSpPr/>
            <p:nvPr/>
          </p:nvSpPr>
          <p:spPr>
            <a:xfrm>
              <a:off x="411124" y="4206241"/>
              <a:ext cx="8321040" cy="530860"/>
            </a:xfrm>
            <a:custGeom>
              <a:rect b="b" l="l" r="r" t="t"/>
              <a:pathLst>
                <a:path extrusionOk="0" h="530860" w="8321040">
                  <a:moveTo>
                    <a:pt x="8294751" y="0"/>
                  </a:moveTo>
                  <a:lnTo>
                    <a:pt x="26276" y="0"/>
                  </a:lnTo>
                  <a:lnTo>
                    <a:pt x="20878" y="1435"/>
                  </a:lnTo>
                  <a:lnTo>
                    <a:pt x="15836" y="3962"/>
                  </a:lnTo>
                  <a:lnTo>
                    <a:pt x="11150" y="6845"/>
                  </a:lnTo>
                  <a:lnTo>
                    <a:pt x="7200" y="10794"/>
                  </a:lnTo>
                  <a:lnTo>
                    <a:pt x="4318" y="15836"/>
                  </a:lnTo>
                  <a:lnTo>
                    <a:pt x="1435" y="20523"/>
                  </a:lnTo>
                  <a:lnTo>
                    <a:pt x="0" y="25920"/>
                  </a:lnTo>
                  <a:lnTo>
                    <a:pt x="0" y="503999"/>
                  </a:lnTo>
                  <a:lnTo>
                    <a:pt x="15836" y="525957"/>
                  </a:lnTo>
                  <a:lnTo>
                    <a:pt x="20510" y="528840"/>
                  </a:lnTo>
                  <a:lnTo>
                    <a:pt x="25920" y="530275"/>
                  </a:lnTo>
                  <a:lnTo>
                    <a:pt x="8294751" y="529920"/>
                  </a:lnTo>
                  <a:lnTo>
                    <a:pt x="8300161" y="528485"/>
                  </a:lnTo>
                  <a:lnTo>
                    <a:pt x="8305190" y="525957"/>
                  </a:lnTo>
                  <a:lnTo>
                    <a:pt x="8309876" y="523074"/>
                  </a:lnTo>
                  <a:lnTo>
                    <a:pt x="8313839" y="519125"/>
                  </a:lnTo>
                  <a:lnTo>
                    <a:pt x="8316709" y="514083"/>
                  </a:lnTo>
                  <a:lnTo>
                    <a:pt x="8319592" y="509396"/>
                  </a:lnTo>
                  <a:lnTo>
                    <a:pt x="8321040" y="503999"/>
                  </a:lnTo>
                  <a:lnTo>
                    <a:pt x="8320675" y="31673"/>
                  </a:lnTo>
                  <a:lnTo>
                    <a:pt x="8320577" y="25920"/>
                  </a:lnTo>
                  <a:lnTo>
                    <a:pt x="8304834" y="4317"/>
                  </a:lnTo>
                  <a:lnTo>
                    <a:pt x="8300161" y="1435"/>
                  </a:lnTo>
                  <a:lnTo>
                    <a:pt x="8294751" y="0"/>
                  </a:lnTo>
                  <a:close/>
                </a:path>
              </a:pathLst>
            </a:custGeom>
            <a:solidFill>
              <a:srgbClr val="FFF6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84" name="Google Shape;1584;p59"/>
            <p:cNvSpPr/>
            <p:nvPr/>
          </p:nvSpPr>
          <p:spPr>
            <a:xfrm>
              <a:off x="411124" y="4206241"/>
              <a:ext cx="8321040" cy="530860"/>
            </a:xfrm>
            <a:custGeom>
              <a:rect b="b" l="l" r="r" t="t"/>
              <a:pathLst>
                <a:path extrusionOk="0" h="530860" w="8321040">
                  <a:moveTo>
                    <a:pt x="0" y="31673"/>
                  </a:moveTo>
                  <a:lnTo>
                    <a:pt x="0" y="25920"/>
                  </a:lnTo>
                  <a:lnTo>
                    <a:pt x="1435" y="20523"/>
                  </a:lnTo>
                  <a:lnTo>
                    <a:pt x="4318" y="15836"/>
                  </a:lnTo>
                  <a:lnTo>
                    <a:pt x="7200" y="10794"/>
                  </a:lnTo>
                  <a:lnTo>
                    <a:pt x="11150" y="6845"/>
                  </a:lnTo>
                  <a:lnTo>
                    <a:pt x="15836" y="3962"/>
                  </a:lnTo>
                  <a:lnTo>
                    <a:pt x="20878" y="1435"/>
                  </a:lnTo>
                  <a:lnTo>
                    <a:pt x="26276" y="0"/>
                  </a:lnTo>
                  <a:lnTo>
                    <a:pt x="31673" y="0"/>
                  </a:lnTo>
                  <a:lnTo>
                    <a:pt x="8288997" y="0"/>
                  </a:lnTo>
                  <a:lnTo>
                    <a:pt x="8294751" y="0"/>
                  </a:lnTo>
                  <a:lnTo>
                    <a:pt x="8300161" y="1435"/>
                  </a:lnTo>
                  <a:lnTo>
                    <a:pt x="8304834" y="4317"/>
                  </a:lnTo>
                  <a:lnTo>
                    <a:pt x="8309876" y="7200"/>
                  </a:lnTo>
                  <a:lnTo>
                    <a:pt x="8313839" y="11163"/>
                  </a:lnTo>
                  <a:lnTo>
                    <a:pt x="8316709" y="15836"/>
                  </a:lnTo>
                  <a:lnTo>
                    <a:pt x="8319236" y="20878"/>
                  </a:lnTo>
                  <a:lnTo>
                    <a:pt x="8320671" y="26276"/>
                  </a:lnTo>
                  <a:lnTo>
                    <a:pt x="8320671" y="31673"/>
                  </a:lnTo>
                  <a:lnTo>
                    <a:pt x="8321040" y="498233"/>
                  </a:lnTo>
                  <a:lnTo>
                    <a:pt x="8321040" y="503999"/>
                  </a:lnTo>
                  <a:lnTo>
                    <a:pt x="8319592" y="509396"/>
                  </a:lnTo>
                  <a:lnTo>
                    <a:pt x="8316709" y="514083"/>
                  </a:lnTo>
                  <a:lnTo>
                    <a:pt x="8313839" y="519125"/>
                  </a:lnTo>
                  <a:lnTo>
                    <a:pt x="8309876" y="523074"/>
                  </a:lnTo>
                  <a:lnTo>
                    <a:pt x="8305190" y="525957"/>
                  </a:lnTo>
                  <a:lnTo>
                    <a:pt x="8300161" y="528485"/>
                  </a:lnTo>
                  <a:lnTo>
                    <a:pt x="8294751" y="529920"/>
                  </a:lnTo>
                  <a:lnTo>
                    <a:pt x="8289353" y="529920"/>
                  </a:lnTo>
                  <a:lnTo>
                    <a:pt x="31673" y="530275"/>
                  </a:lnTo>
                  <a:lnTo>
                    <a:pt x="25920" y="530275"/>
                  </a:lnTo>
                  <a:lnTo>
                    <a:pt x="20510" y="528840"/>
                  </a:lnTo>
                  <a:lnTo>
                    <a:pt x="15836" y="525957"/>
                  </a:lnTo>
                  <a:lnTo>
                    <a:pt x="10795" y="523074"/>
                  </a:lnTo>
                  <a:lnTo>
                    <a:pt x="6832" y="519125"/>
                  </a:lnTo>
                  <a:lnTo>
                    <a:pt x="3949" y="514438"/>
                  </a:lnTo>
                  <a:lnTo>
                    <a:pt x="1435" y="509396"/>
                  </a:lnTo>
                  <a:lnTo>
                    <a:pt x="0" y="503999"/>
                  </a:lnTo>
                  <a:lnTo>
                    <a:pt x="0" y="498601"/>
                  </a:lnTo>
                  <a:lnTo>
                    <a:pt x="0" y="31673"/>
                  </a:lnTo>
                  <a:close/>
                </a:path>
              </a:pathLst>
            </a:custGeom>
            <a:noFill/>
            <a:ln cap="flat" cmpd="sng" w="12575">
              <a:solidFill>
                <a:srgbClr val="F2D17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585" name="Google Shape;1585;p59"/>
          <p:cNvSpPr txBox="1"/>
          <p:nvPr/>
        </p:nvSpPr>
        <p:spPr>
          <a:xfrm>
            <a:off x="517220" y="4283178"/>
            <a:ext cx="7946390" cy="37655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1150">
                <a:solidFill>
                  <a:srgbClr val="913F0D"/>
                </a:solidFill>
                <a:latin typeface="Calibri"/>
                <a:ea typeface="Calibri"/>
                <a:cs typeface="Calibri"/>
                <a:sym typeface="Calibri"/>
              </a:rPr>
              <a:t>Analogy: </a:t>
            </a:r>
            <a:r>
              <a:rPr i="1" lang="en-US" sz="1150">
                <a:solidFill>
                  <a:srgbClr val="1E2836"/>
                </a:solidFill>
                <a:latin typeface="Cambria"/>
                <a:ea typeface="Cambria"/>
                <a:cs typeface="Cambria"/>
                <a:sym typeface="Cambria"/>
              </a:rPr>
              <a:t>In a cinema hall everyone watches the same film (content), but your seat number (position) still decides whether you see the hero or a pillar.</a:t>
            </a:r>
            <a:endParaRPr sz="1150">
              <a:latin typeface="Cambria"/>
              <a:ea typeface="Cambria"/>
              <a:cs typeface="Cambria"/>
              <a:sym typeface="Cambria"/>
            </a:endParaRPr>
          </a:p>
        </p:txBody>
      </p:sp>
      <p:sp>
        <p:nvSpPr>
          <p:cNvPr id="1586" name="Google Shape;1586;p59"/>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0" name="Shape 1590"/>
        <p:cNvGrpSpPr/>
        <p:nvPr/>
      </p:nvGrpSpPr>
      <p:grpSpPr>
        <a:xfrm>
          <a:off x="0" y="0"/>
          <a:ext cx="0" cy="0"/>
          <a:chOff x="0" y="0"/>
          <a:chExt cx="0" cy="0"/>
        </a:xfrm>
      </p:grpSpPr>
      <p:sp>
        <p:nvSpPr>
          <p:cNvPr descr="$PPTXTitle" id="1591" name="Google Shape;1591;p63"/>
          <p:cNvSpPr txBox="1"/>
          <p:nvPr>
            <p:ph type="title"/>
          </p:nvPr>
        </p:nvSpPr>
        <p:spPr>
          <a:xfrm>
            <a:off x="152184" y="63260"/>
            <a:ext cx="8839631" cy="879475"/>
          </a:xfrm>
          <a:prstGeom prst="rect">
            <a:avLst/>
          </a:prstGeom>
          <a:noFill/>
          <a:ln>
            <a:noFill/>
          </a:ln>
        </p:spPr>
        <p:txBody>
          <a:bodyPr anchorCtr="0" anchor="t" bIns="0" lIns="0" spcFirstLastPara="1" rIns="0" wrap="square" tIns="372700">
            <a:spAutoFit/>
          </a:bodyPr>
          <a:lstStyle/>
          <a:p>
            <a:pPr indent="0" lvl="0" marL="2722245" rtl="0" algn="l">
              <a:lnSpc>
                <a:spcPct val="100000"/>
              </a:lnSpc>
              <a:spcBef>
                <a:spcPts val="0"/>
              </a:spcBef>
              <a:spcAft>
                <a:spcPts val="0"/>
              </a:spcAft>
              <a:buNone/>
            </a:pPr>
            <a:r>
              <a:rPr b="0" lang="en-US" sz="2800">
                <a:solidFill>
                  <a:srgbClr val="001F5F"/>
                </a:solidFill>
                <a:latin typeface="Times New Roman"/>
                <a:ea typeface="Times New Roman"/>
                <a:cs typeface="Times New Roman"/>
                <a:sym typeface="Times New Roman"/>
              </a:rPr>
              <a:t>Multi-Head Attention</a:t>
            </a:r>
            <a:endParaRPr sz="2800">
              <a:latin typeface="Times New Roman"/>
              <a:ea typeface="Times New Roman"/>
              <a:cs typeface="Times New Roman"/>
              <a:sym typeface="Times New Roman"/>
            </a:endParaRPr>
          </a:p>
        </p:txBody>
      </p:sp>
      <p:grpSp>
        <p:nvGrpSpPr>
          <p:cNvPr id="1592" name="Google Shape;1592;p63"/>
          <p:cNvGrpSpPr/>
          <p:nvPr/>
        </p:nvGrpSpPr>
        <p:grpSpPr>
          <a:xfrm>
            <a:off x="1483918" y="14"/>
            <a:ext cx="7659713" cy="4400626"/>
            <a:chOff x="1483918" y="14"/>
            <a:chExt cx="7659713" cy="4400626"/>
          </a:xfrm>
        </p:grpSpPr>
        <p:pic>
          <p:nvPicPr>
            <p:cNvPr id="1593" name="Google Shape;1593;p63"/>
            <p:cNvPicPr preferRelativeResize="0"/>
            <p:nvPr/>
          </p:nvPicPr>
          <p:blipFill rotWithShape="1">
            <a:blip r:embed="rId3">
              <a:alphaModFix/>
            </a:blip>
            <a:srcRect b="0" l="0" r="0" t="0"/>
            <a:stretch/>
          </p:blipFill>
          <p:spPr>
            <a:xfrm>
              <a:off x="1483918" y="1580402"/>
              <a:ext cx="1691284" cy="2377440"/>
            </a:xfrm>
            <a:prstGeom prst="rect">
              <a:avLst/>
            </a:prstGeom>
            <a:noFill/>
            <a:ln>
              <a:noFill/>
            </a:ln>
          </p:spPr>
        </p:pic>
        <p:pic>
          <p:nvPicPr>
            <p:cNvPr id="1594" name="Google Shape;1594;p63"/>
            <p:cNvPicPr preferRelativeResize="0"/>
            <p:nvPr/>
          </p:nvPicPr>
          <p:blipFill rotWithShape="1">
            <a:blip r:embed="rId4">
              <a:alphaModFix/>
            </a:blip>
            <a:srcRect b="0" l="0" r="0" t="0"/>
            <a:stretch/>
          </p:blipFill>
          <p:spPr>
            <a:xfrm>
              <a:off x="3998874" y="1268998"/>
              <a:ext cx="3669118" cy="3131642"/>
            </a:xfrm>
            <a:prstGeom prst="rect">
              <a:avLst/>
            </a:prstGeom>
            <a:noFill/>
            <a:ln>
              <a:noFill/>
            </a:ln>
          </p:spPr>
        </p:pic>
        <p:pic>
          <p:nvPicPr>
            <p:cNvPr id="1595" name="Google Shape;1595;p63"/>
            <p:cNvPicPr preferRelativeResize="0"/>
            <p:nvPr/>
          </p:nvPicPr>
          <p:blipFill rotWithShape="1">
            <a:blip r:embed="rId5">
              <a:alphaModFix/>
            </a:blip>
            <a:srcRect b="0" l="0" r="0" t="0"/>
            <a:stretch/>
          </p:blipFill>
          <p:spPr>
            <a:xfrm>
              <a:off x="8369274" y="14"/>
              <a:ext cx="774357" cy="866508"/>
            </a:xfrm>
            <a:prstGeom prst="rect">
              <a:avLst/>
            </a:prstGeom>
            <a:noFill/>
            <a:ln>
              <a:noFill/>
            </a:ln>
          </p:spPr>
        </p:pic>
      </p:grpSp>
      <p:sp>
        <p:nvSpPr>
          <p:cNvPr id="1596" name="Google Shape;1596;p63"/>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0" name="Shape 1600"/>
        <p:cNvGrpSpPr/>
        <p:nvPr/>
      </p:nvGrpSpPr>
      <p:grpSpPr>
        <a:xfrm>
          <a:off x="0" y="0"/>
          <a:ext cx="0" cy="0"/>
          <a:chOff x="0" y="0"/>
          <a:chExt cx="0" cy="0"/>
        </a:xfrm>
      </p:grpSpPr>
      <p:sp>
        <p:nvSpPr>
          <p:cNvPr descr="$PPTXTitle" id="1601" name="Google Shape;1601;p64"/>
          <p:cNvSpPr txBox="1"/>
          <p:nvPr>
            <p:ph type="title"/>
          </p:nvPr>
        </p:nvSpPr>
        <p:spPr>
          <a:xfrm>
            <a:off x="295465" y="264217"/>
            <a:ext cx="5883910" cy="910590"/>
          </a:xfrm>
          <a:prstGeom prst="rect">
            <a:avLst/>
          </a:prstGeom>
          <a:noFill/>
          <a:ln>
            <a:noFill/>
          </a:ln>
        </p:spPr>
        <p:txBody>
          <a:bodyPr anchorCtr="0" anchor="t" bIns="0" lIns="0" spcFirstLastPara="1" rIns="0" wrap="square" tIns="175875">
            <a:spAutoFit/>
          </a:bodyPr>
          <a:lstStyle/>
          <a:p>
            <a:pPr indent="0" lvl="0" marL="2709545" rtl="0" algn="l">
              <a:lnSpc>
                <a:spcPct val="100000"/>
              </a:lnSpc>
              <a:spcBef>
                <a:spcPts val="0"/>
              </a:spcBef>
              <a:spcAft>
                <a:spcPts val="0"/>
              </a:spcAft>
              <a:buNone/>
            </a:pPr>
            <a:r>
              <a:rPr lang="en-US" sz="2800">
                <a:solidFill>
                  <a:srgbClr val="191E25"/>
                </a:solidFill>
              </a:rPr>
              <a:t>Why Multiple Heads?</a:t>
            </a:r>
            <a:endParaRPr sz="2800"/>
          </a:p>
          <a:p>
            <a:pPr indent="0" lvl="0" marL="12700" rtl="0" algn="l">
              <a:lnSpc>
                <a:spcPct val="100000"/>
              </a:lnSpc>
              <a:spcBef>
                <a:spcPts val="640"/>
              </a:spcBef>
              <a:spcAft>
                <a:spcPts val="0"/>
              </a:spcAft>
              <a:buNone/>
            </a:pPr>
            <a:r>
              <a:rPr b="0" lang="en-US" sz="1400">
                <a:solidFill>
                  <a:srgbClr val="000000"/>
                </a:solidFill>
                <a:latin typeface="Calibri"/>
                <a:ea typeface="Calibri"/>
                <a:cs typeface="Calibri"/>
                <a:sym typeface="Calibri"/>
              </a:rPr>
              <a:t>One attention head captures one type of relationship. Language has many.</a:t>
            </a:r>
            <a:endParaRPr sz="1400">
              <a:latin typeface="Calibri"/>
              <a:ea typeface="Calibri"/>
              <a:cs typeface="Calibri"/>
              <a:sym typeface="Calibri"/>
            </a:endParaRPr>
          </a:p>
        </p:txBody>
      </p:sp>
      <p:pic>
        <p:nvPicPr>
          <p:cNvPr id="1602" name="Google Shape;1602;p64"/>
          <p:cNvPicPr preferRelativeResize="0"/>
          <p:nvPr/>
        </p:nvPicPr>
        <p:blipFill rotWithShape="1">
          <a:blip r:embed="rId3">
            <a:alphaModFix/>
          </a:blip>
          <a:srcRect b="0" l="0" r="0" t="0"/>
          <a:stretch/>
        </p:blipFill>
        <p:spPr>
          <a:xfrm>
            <a:off x="8369274" y="14"/>
            <a:ext cx="774357" cy="866508"/>
          </a:xfrm>
          <a:prstGeom prst="rect">
            <a:avLst/>
          </a:prstGeom>
          <a:noFill/>
          <a:ln>
            <a:noFill/>
          </a:ln>
        </p:spPr>
      </p:pic>
      <p:sp>
        <p:nvSpPr>
          <p:cNvPr id="1603" name="Google Shape;1603;p64"/>
          <p:cNvSpPr txBox="1"/>
          <p:nvPr/>
        </p:nvSpPr>
        <p:spPr>
          <a:xfrm>
            <a:off x="308165" y="1289166"/>
            <a:ext cx="3840479" cy="788670"/>
          </a:xfrm>
          <a:prstGeom prst="rect">
            <a:avLst/>
          </a:prstGeom>
          <a:noFill/>
          <a:ln cap="flat" cmpd="sng" w="12575">
            <a:solidFill>
              <a:srgbClr val="0FB880"/>
            </a:solidFill>
            <a:prstDash val="solid"/>
            <a:round/>
            <a:headEnd len="sm" w="sm" type="none"/>
            <a:tailEnd len="sm" w="sm" type="none"/>
          </a:ln>
        </p:spPr>
        <p:txBody>
          <a:bodyPr anchorCtr="0" anchor="t" bIns="0" lIns="0" spcFirstLastPara="1" rIns="0" wrap="square" tIns="100950">
            <a:spAutoFit/>
          </a:bodyPr>
          <a:lstStyle/>
          <a:p>
            <a:pPr indent="0" lvl="0" marL="136525" rtl="0" algn="l">
              <a:lnSpc>
                <a:spcPct val="100000"/>
              </a:lnSpc>
              <a:spcBef>
                <a:spcPts val="0"/>
              </a:spcBef>
              <a:spcAft>
                <a:spcPts val="0"/>
              </a:spcAft>
              <a:buNone/>
            </a:pPr>
            <a:r>
              <a:rPr b="1" lang="en-US" sz="1100">
                <a:latin typeface="Calibri"/>
                <a:ea typeface="Calibri"/>
                <a:cs typeface="Calibri"/>
                <a:sym typeface="Calibri"/>
              </a:rPr>
              <a:t>Single Attention Head</a:t>
            </a:r>
            <a:endParaRPr sz="1100">
              <a:latin typeface="Calibri"/>
              <a:ea typeface="Calibri"/>
              <a:cs typeface="Calibri"/>
              <a:sym typeface="Calibri"/>
            </a:endParaRPr>
          </a:p>
          <a:p>
            <a:pPr indent="0" lvl="0" marL="136525" rtl="0" algn="l">
              <a:lnSpc>
                <a:spcPct val="100000"/>
              </a:lnSpc>
              <a:spcBef>
                <a:spcPts val="1325"/>
              </a:spcBef>
              <a:spcAft>
                <a:spcPts val="0"/>
              </a:spcAft>
              <a:buNone/>
            </a:pPr>
            <a:r>
              <a:rPr lang="en-US" sz="1100">
                <a:latin typeface="Calibri"/>
                <a:ea typeface="Calibri"/>
                <a:cs typeface="Calibri"/>
                <a:sym typeface="Calibri"/>
              </a:rPr>
              <a:t>One Q,K,V → captures only one type of relationship</a:t>
            </a:r>
            <a:endParaRPr sz="1100">
              <a:latin typeface="Calibri"/>
              <a:ea typeface="Calibri"/>
              <a:cs typeface="Calibri"/>
              <a:sym typeface="Calibri"/>
            </a:endParaRPr>
          </a:p>
        </p:txBody>
      </p:sp>
      <p:sp>
        <p:nvSpPr>
          <p:cNvPr id="1604" name="Google Shape;1604;p64"/>
          <p:cNvSpPr txBox="1"/>
          <p:nvPr/>
        </p:nvSpPr>
        <p:spPr>
          <a:xfrm>
            <a:off x="4313059" y="1541058"/>
            <a:ext cx="220979" cy="28511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700">
                <a:solidFill>
                  <a:srgbClr val="5A20B5"/>
                </a:solidFill>
                <a:latin typeface="Calibri"/>
                <a:ea typeface="Calibri"/>
                <a:cs typeface="Calibri"/>
                <a:sym typeface="Calibri"/>
              </a:rPr>
              <a:t>*</a:t>
            </a:r>
            <a:endParaRPr sz="1700">
              <a:latin typeface="Calibri"/>
              <a:ea typeface="Calibri"/>
              <a:cs typeface="Calibri"/>
              <a:sym typeface="Calibri"/>
            </a:endParaRPr>
          </a:p>
        </p:txBody>
      </p:sp>
      <p:sp>
        <p:nvSpPr>
          <p:cNvPr id="1605" name="Google Shape;1605;p64"/>
          <p:cNvSpPr txBox="1"/>
          <p:nvPr/>
        </p:nvSpPr>
        <p:spPr>
          <a:xfrm>
            <a:off x="4697285" y="1289166"/>
            <a:ext cx="4114800" cy="788670"/>
          </a:xfrm>
          <a:prstGeom prst="rect">
            <a:avLst/>
          </a:prstGeom>
          <a:noFill/>
          <a:ln cap="flat" cmpd="sng" w="12575">
            <a:solidFill>
              <a:srgbClr val="00AF4F"/>
            </a:solidFill>
            <a:prstDash val="solid"/>
            <a:round/>
            <a:headEnd len="sm" w="sm" type="none"/>
            <a:tailEnd len="sm" w="sm" type="none"/>
          </a:ln>
        </p:spPr>
        <p:txBody>
          <a:bodyPr anchorCtr="0" anchor="t" bIns="0" lIns="0" spcFirstLastPara="1" rIns="0" wrap="square" tIns="100950">
            <a:spAutoFit/>
          </a:bodyPr>
          <a:lstStyle/>
          <a:p>
            <a:pPr indent="0" lvl="0" marL="137160" rtl="0" algn="l">
              <a:lnSpc>
                <a:spcPct val="100000"/>
              </a:lnSpc>
              <a:spcBef>
                <a:spcPts val="0"/>
              </a:spcBef>
              <a:spcAft>
                <a:spcPts val="0"/>
              </a:spcAft>
              <a:buNone/>
            </a:pPr>
            <a:r>
              <a:rPr b="1" lang="en-US" sz="1100">
                <a:latin typeface="Calibri"/>
                <a:ea typeface="Calibri"/>
                <a:cs typeface="Calibri"/>
                <a:sym typeface="Calibri"/>
              </a:rPr>
              <a:t>Multi-Head Attention</a:t>
            </a:r>
            <a:endParaRPr sz="1100">
              <a:latin typeface="Calibri"/>
              <a:ea typeface="Calibri"/>
              <a:cs typeface="Calibri"/>
              <a:sym typeface="Calibri"/>
            </a:endParaRPr>
          </a:p>
          <a:p>
            <a:pPr indent="0" lvl="0" marL="137160" rtl="0" algn="l">
              <a:lnSpc>
                <a:spcPct val="100000"/>
              </a:lnSpc>
              <a:spcBef>
                <a:spcPts val="1325"/>
              </a:spcBef>
              <a:spcAft>
                <a:spcPts val="0"/>
              </a:spcAft>
              <a:buNone/>
            </a:pPr>
            <a:r>
              <a:rPr lang="en-US" sz="1100">
                <a:latin typeface="Calibri"/>
                <a:ea typeface="Calibri"/>
                <a:cs typeface="Calibri"/>
                <a:sym typeface="Calibri"/>
              </a:rPr>
              <a:t>h independent heads → captures h different relationship types</a:t>
            </a:r>
            <a:endParaRPr sz="1100">
              <a:latin typeface="Calibri"/>
              <a:ea typeface="Calibri"/>
              <a:cs typeface="Calibri"/>
              <a:sym typeface="Calibri"/>
            </a:endParaRPr>
          </a:p>
        </p:txBody>
      </p:sp>
      <p:pic>
        <p:nvPicPr>
          <p:cNvPr id="1606" name="Google Shape;1606;p64"/>
          <p:cNvPicPr preferRelativeResize="0"/>
          <p:nvPr/>
        </p:nvPicPr>
        <p:blipFill rotWithShape="1">
          <a:blip r:embed="rId4">
            <a:alphaModFix/>
          </a:blip>
          <a:srcRect b="0" l="0" r="0" t="0"/>
          <a:stretch/>
        </p:blipFill>
        <p:spPr>
          <a:xfrm>
            <a:off x="114477" y="2071791"/>
            <a:ext cx="4500359" cy="1311135"/>
          </a:xfrm>
          <a:prstGeom prst="rect">
            <a:avLst/>
          </a:prstGeom>
          <a:noFill/>
          <a:ln>
            <a:noFill/>
          </a:ln>
        </p:spPr>
      </p:pic>
      <p:sp>
        <p:nvSpPr>
          <p:cNvPr id="1607" name="Google Shape;1607;p64"/>
          <p:cNvSpPr txBox="1"/>
          <p:nvPr/>
        </p:nvSpPr>
        <p:spPr>
          <a:xfrm>
            <a:off x="308521" y="2194561"/>
            <a:ext cx="4183379" cy="994410"/>
          </a:xfrm>
          <a:prstGeom prst="rect">
            <a:avLst/>
          </a:prstGeom>
          <a:noFill/>
          <a:ln cap="flat" cmpd="sng" w="12575">
            <a:solidFill>
              <a:srgbClr val="0FB880"/>
            </a:solidFill>
            <a:prstDash val="solid"/>
            <a:round/>
            <a:headEnd len="sm" w="sm" type="none"/>
            <a:tailEnd len="sm" w="sm" type="none"/>
          </a:ln>
        </p:spPr>
        <p:txBody>
          <a:bodyPr anchorCtr="0" anchor="t" bIns="0" lIns="0" spcFirstLastPara="1" rIns="0" wrap="square" tIns="155575">
            <a:spAutoFit/>
          </a:bodyPr>
          <a:lstStyle/>
          <a:p>
            <a:pPr indent="0" lvl="0" marL="698500" rtl="0" algn="l">
              <a:lnSpc>
                <a:spcPct val="100000"/>
              </a:lnSpc>
              <a:spcBef>
                <a:spcPts val="0"/>
              </a:spcBef>
              <a:spcAft>
                <a:spcPts val="0"/>
              </a:spcAft>
              <a:buNone/>
            </a:pPr>
            <a:r>
              <a:rPr b="1" lang="en-US" sz="1100">
                <a:solidFill>
                  <a:srgbClr val="191E25"/>
                </a:solidFill>
                <a:latin typeface="Calibri"/>
                <a:ea typeface="Calibri"/>
                <a:cs typeface="Calibri"/>
                <a:sym typeface="Calibri"/>
              </a:rPr>
              <a:t>Coreference</a:t>
            </a:r>
            <a:endParaRPr sz="1100">
              <a:latin typeface="Calibri"/>
              <a:ea typeface="Calibri"/>
              <a:cs typeface="Calibri"/>
              <a:sym typeface="Calibri"/>
            </a:endParaRPr>
          </a:p>
          <a:p>
            <a:pPr indent="0" lvl="0" marL="250825" rtl="0" algn="l">
              <a:lnSpc>
                <a:spcPct val="104999"/>
              </a:lnSpc>
              <a:spcBef>
                <a:spcPts val="464"/>
              </a:spcBef>
              <a:spcAft>
                <a:spcPts val="0"/>
              </a:spcAft>
              <a:buNone/>
            </a:pPr>
            <a:r>
              <a:rPr b="1" lang="en-US" sz="1500">
                <a:solidFill>
                  <a:srgbClr val="191E25"/>
                </a:solidFill>
                <a:latin typeface="Calibri"/>
                <a:ea typeface="Calibri"/>
                <a:cs typeface="Calibri"/>
                <a:sym typeface="Calibri"/>
              </a:rPr>
              <a:t>H1</a:t>
            </a:r>
            <a:endParaRPr sz="1500">
              <a:latin typeface="Calibri"/>
              <a:ea typeface="Calibri"/>
              <a:cs typeface="Calibri"/>
              <a:sym typeface="Calibri"/>
            </a:endParaRPr>
          </a:p>
          <a:p>
            <a:pPr indent="0" lvl="0" marL="698500" rtl="0" algn="l">
              <a:lnSpc>
                <a:spcPct val="99545"/>
              </a:lnSpc>
              <a:spcBef>
                <a:spcPts val="0"/>
              </a:spcBef>
              <a:spcAft>
                <a:spcPts val="0"/>
              </a:spcAft>
              <a:buNone/>
            </a:pPr>
            <a:r>
              <a:rPr i="1" lang="en-US" sz="1100">
                <a:latin typeface="Cambria"/>
                <a:ea typeface="Cambria"/>
                <a:cs typeface="Cambria"/>
                <a:sym typeface="Cambria"/>
              </a:rPr>
              <a:t>Example: "it" → "animal"</a:t>
            </a:r>
            <a:endParaRPr sz="1100">
              <a:latin typeface="Cambria"/>
              <a:ea typeface="Cambria"/>
              <a:cs typeface="Cambria"/>
              <a:sym typeface="Cambria"/>
            </a:endParaRPr>
          </a:p>
        </p:txBody>
      </p:sp>
      <p:grpSp>
        <p:nvGrpSpPr>
          <p:cNvPr id="1608" name="Google Shape;1608;p64"/>
          <p:cNvGrpSpPr/>
          <p:nvPr/>
        </p:nvGrpSpPr>
        <p:grpSpPr>
          <a:xfrm>
            <a:off x="4517275" y="2071791"/>
            <a:ext cx="4500359" cy="1311135"/>
            <a:chOff x="4517275" y="2071791"/>
            <a:chExt cx="4500359" cy="1311135"/>
          </a:xfrm>
        </p:grpSpPr>
        <p:pic>
          <p:nvPicPr>
            <p:cNvPr id="1609" name="Google Shape;1609;p64"/>
            <p:cNvPicPr preferRelativeResize="0"/>
            <p:nvPr/>
          </p:nvPicPr>
          <p:blipFill rotWithShape="1">
            <a:blip r:embed="rId4">
              <a:alphaModFix/>
            </a:blip>
            <a:srcRect b="0" l="0" r="0" t="0"/>
            <a:stretch/>
          </p:blipFill>
          <p:spPr>
            <a:xfrm>
              <a:off x="4517275" y="2071791"/>
              <a:ext cx="4500359" cy="1311135"/>
            </a:xfrm>
            <a:prstGeom prst="rect">
              <a:avLst/>
            </a:prstGeom>
            <a:noFill/>
            <a:ln>
              <a:noFill/>
            </a:ln>
          </p:spPr>
        </p:pic>
        <p:sp>
          <p:nvSpPr>
            <p:cNvPr id="1610" name="Google Shape;1610;p64"/>
            <p:cNvSpPr/>
            <p:nvPr/>
          </p:nvSpPr>
          <p:spPr>
            <a:xfrm>
              <a:off x="4711319" y="2194562"/>
              <a:ext cx="4183379" cy="994410"/>
            </a:xfrm>
            <a:custGeom>
              <a:rect b="b" l="l" r="r" t="t"/>
              <a:pathLst>
                <a:path extrusionOk="0" h="994410" w="4183379">
                  <a:moveTo>
                    <a:pt x="2091601" y="994321"/>
                  </a:moveTo>
                  <a:lnTo>
                    <a:pt x="0" y="994321"/>
                  </a:lnTo>
                  <a:lnTo>
                    <a:pt x="0" y="0"/>
                  </a:lnTo>
                  <a:lnTo>
                    <a:pt x="4183202" y="0"/>
                  </a:lnTo>
                  <a:lnTo>
                    <a:pt x="4183202" y="994321"/>
                  </a:lnTo>
                  <a:lnTo>
                    <a:pt x="2091601" y="994321"/>
                  </a:lnTo>
                  <a:close/>
                </a:path>
              </a:pathLst>
            </a:custGeom>
            <a:noFill/>
            <a:ln cap="flat" cmpd="sng" w="12575">
              <a:solidFill>
                <a:srgbClr val="0FB88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611" name="Google Shape;1611;p64"/>
          <p:cNvSpPr txBox="1"/>
          <p:nvPr/>
        </p:nvSpPr>
        <p:spPr>
          <a:xfrm>
            <a:off x="5410441" y="2337741"/>
            <a:ext cx="735965" cy="19304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100">
                <a:solidFill>
                  <a:srgbClr val="191E25"/>
                </a:solidFill>
                <a:latin typeface="Calibri"/>
                <a:ea typeface="Calibri"/>
                <a:cs typeface="Calibri"/>
                <a:sym typeface="Calibri"/>
              </a:rPr>
              <a:t>Verb–Object</a:t>
            </a:r>
            <a:endParaRPr sz="1100">
              <a:latin typeface="Calibri"/>
              <a:ea typeface="Calibri"/>
              <a:cs typeface="Calibri"/>
              <a:sym typeface="Calibri"/>
            </a:endParaRPr>
          </a:p>
        </p:txBody>
      </p:sp>
      <p:sp>
        <p:nvSpPr>
          <p:cNvPr id="1612" name="Google Shape;1612;p64"/>
          <p:cNvSpPr txBox="1"/>
          <p:nvPr/>
        </p:nvSpPr>
        <p:spPr>
          <a:xfrm>
            <a:off x="4892763" y="2529981"/>
            <a:ext cx="228600" cy="2540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500">
                <a:solidFill>
                  <a:srgbClr val="191E25"/>
                </a:solidFill>
                <a:latin typeface="Calibri"/>
                <a:ea typeface="Calibri"/>
                <a:cs typeface="Calibri"/>
                <a:sym typeface="Calibri"/>
              </a:rPr>
              <a:t>H2</a:t>
            </a:r>
            <a:endParaRPr sz="1500">
              <a:latin typeface="Calibri"/>
              <a:ea typeface="Calibri"/>
              <a:cs typeface="Calibri"/>
              <a:sym typeface="Calibri"/>
            </a:endParaRPr>
          </a:p>
        </p:txBody>
      </p:sp>
      <p:sp>
        <p:nvSpPr>
          <p:cNvPr id="1613" name="Google Shape;1613;p64"/>
          <p:cNvSpPr txBox="1"/>
          <p:nvPr/>
        </p:nvSpPr>
        <p:spPr>
          <a:xfrm>
            <a:off x="5410441" y="2735543"/>
            <a:ext cx="1588770" cy="19304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i="1" lang="en-US" sz="1100">
                <a:latin typeface="Cambria"/>
                <a:ea typeface="Cambria"/>
                <a:cs typeface="Cambria"/>
                <a:sym typeface="Cambria"/>
              </a:rPr>
              <a:t>Example: "cross" → "street"</a:t>
            </a:r>
            <a:endParaRPr sz="1100">
              <a:latin typeface="Cambria"/>
              <a:ea typeface="Cambria"/>
              <a:cs typeface="Cambria"/>
              <a:sym typeface="Cambria"/>
            </a:endParaRPr>
          </a:p>
        </p:txBody>
      </p:sp>
      <p:pic>
        <p:nvPicPr>
          <p:cNvPr id="1614" name="Google Shape;1614;p64"/>
          <p:cNvPicPr preferRelativeResize="0"/>
          <p:nvPr/>
        </p:nvPicPr>
        <p:blipFill rotWithShape="1">
          <a:blip r:embed="rId4">
            <a:alphaModFix/>
          </a:blip>
          <a:srcRect b="0" l="0" r="0" t="0"/>
          <a:stretch/>
        </p:blipFill>
        <p:spPr>
          <a:xfrm>
            <a:off x="114477" y="3203272"/>
            <a:ext cx="4500359" cy="1311135"/>
          </a:xfrm>
          <a:prstGeom prst="rect">
            <a:avLst/>
          </a:prstGeom>
          <a:noFill/>
          <a:ln>
            <a:noFill/>
          </a:ln>
        </p:spPr>
      </p:pic>
      <p:sp>
        <p:nvSpPr>
          <p:cNvPr id="1615" name="Google Shape;1615;p64"/>
          <p:cNvSpPr txBox="1"/>
          <p:nvPr/>
        </p:nvSpPr>
        <p:spPr>
          <a:xfrm>
            <a:off x="308521" y="3326043"/>
            <a:ext cx="4183379" cy="994410"/>
          </a:xfrm>
          <a:prstGeom prst="rect">
            <a:avLst/>
          </a:prstGeom>
          <a:noFill/>
          <a:ln cap="flat" cmpd="sng" w="12575">
            <a:solidFill>
              <a:srgbClr val="0FB880"/>
            </a:solidFill>
            <a:prstDash val="solid"/>
            <a:round/>
            <a:headEnd len="sm" w="sm" type="none"/>
            <a:tailEnd len="sm" w="sm" type="none"/>
          </a:ln>
        </p:spPr>
        <p:txBody>
          <a:bodyPr anchorCtr="0" anchor="t" bIns="0" lIns="0" spcFirstLastPara="1" rIns="0" wrap="square" tIns="155575">
            <a:spAutoFit/>
          </a:bodyPr>
          <a:lstStyle/>
          <a:p>
            <a:pPr indent="0" lvl="0" marL="698500" rtl="0" algn="l">
              <a:lnSpc>
                <a:spcPct val="100000"/>
              </a:lnSpc>
              <a:spcBef>
                <a:spcPts val="0"/>
              </a:spcBef>
              <a:spcAft>
                <a:spcPts val="0"/>
              </a:spcAft>
              <a:buNone/>
            </a:pPr>
            <a:r>
              <a:rPr b="1" lang="en-US" sz="1100">
                <a:solidFill>
                  <a:srgbClr val="191E25"/>
                </a:solidFill>
                <a:latin typeface="Calibri"/>
                <a:ea typeface="Calibri"/>
                <a:cs typeface="Calibri"/>
                <a:sym typeface="Calibri"/>
              </a:rPr>
              <a:t>Semantic sim.</a:t>
            </a:r>
            <a:endParaRPr sz="1100">
              <a:latin typeface="Calibri"/>
              <a:ea typeface="Calibri"/>
              <a:cs typeface="Calibri"/>
              <a:sym typeface="Calibri"/>
            </a:endParaRPr>
          </a:p>
          <a:p>
            <a:pPr indent="0" lvl="0" marL="0" rtl="0" algn="l">
              <a:lnSpc>
                <a:spcPct val="100000"/>
              </a:lnSpc>
              <a:spcBef>
                <a:spcPts val="70"/>
              </a:spcBef>
              <a:spcAft>
                <a:spcPts val="0"/>
              </a:spcAft>
              <a:buNone/>
            </a:pPr>
            <a:r>
              <a:t/>
            </a:r>
            <a:endParaRPr sz="1100">
              <a:latin typeface="Calibri"/>
              <a:ea typeface="Calibri"/>
              <a:cs typeface="Calibri"/>
              <a:sym typeface="Calibri"/>
            </a:endParaRPr>
          </a:p>
          <a:p>
            <a:pPr indent="0" lvl="0" marL="240665" rtl="0" algn="l">
              <a:lnSpc>
                <a:spcPct val="100000"/>
              </a:lnSpc>
              <a:spcBef>
                <a:spcPts val="0"/>
              </a:spcBef>
              <a:spcAft>
                <a:spcPts val="0"/>
              </a:spcAft>
              <a:buNone/>
            </a:pPr>
            <a:r>
              <a:rPr b="1" baseline="30000" lang="en-US" sz="2250">
                <a:solidFill>
                  <a:srgbClr val="191E25"/>
                </a:solidFill>
                <a:latin typeface="Calibri"/>
                <a:ea typeface="Calibri"/>
                <a:cs typeface="Calibri"/>
                <a:sym typeface="Calibri"/>
              </a:rPr>
              <a:t>H3	</a:t>
            </a:r>
            <a:r>
              <a:rPr i="1" lang="en-US" sz="1100">
                <a:latin typeface="Cambria"/>
                <a:ea typeface="Cambria"/>
                <a:cs typeface="Cambria"/>
                <a:sym typeface="Cambria"/>
              </a:rPr>
              <a:t>Example: "tired" → "animal"</a:t>
            </a:r>
            <a:endParaRPr sz="1100">
              <a:latin typeface="Cambria"/>
              <a:ea typeface="Cambria"/>
              <a:cs typeface="Cambria"/>
              <a:sym typeface="Cambria"/>
            </a:endParaRPr>
          </a:p>
        </p:txBody>
      </p:sp>
      <p:grpSp>
        <p:nvGrpSpPr>
          <p:cNvPr id="1616" name="Google Shape;1616;p64"/>
          <p:cNvGrpSpPr/>
          <p:nvPr/>
        </p:nvGrpSpPr>
        <p:grpSpPr>
          <a:xfrm>
            <a:off x="4517275" y="3203272"/>
            <a:ext cx="4500359" cy="1311135"/>
            <a:chOff x="4517275" y="3203272"/>
            <a:chExt cx="4500359" cy="1311135"/>
          </a:xfrm>
        </p:grpSpPr>
        <p:pic>
          <p:nvPicPr>
            <p:cNvPr id="1617" name="Google Shape;1617;p64"/>
            <p:cNvPicPr preferRelativeResize="0"/>
            <p:nvPr/>
          </p:nvPicPr>
          <p:blipFill rotWithShape="1">
            <a:blip r:embed="rId4">
              <a:alphaModFix/>
            </a:blip>
            <a:srcRect b="0" l="0" r="0" t="0"/>
            <a:stretch/>
          </p:blipFill>
          <p:spPr>
            <a:xfrm>
              <a:off x="4517275" y="3203272"/>
              <a:ext cx="4500359" cy="1311135"/>
            </a:xfrm>
            <a:prstGeom prst="rect">
              <a:avLst/>
            </a:prstGeom>
            <a:noFill/>
            <a:ln>
              <a:noFill/>
            </a:ln>
          </p:spPr>
        </p:pic>
        <p:sp>
          <p:nvSpPr>
            <p:cNvPr id="1618" name="Google Shape;1618;p64"/>
            <p:cNvSpPr/>
            <p:nvPr/>
          </p:nvSpPr>
          <p:spPr>
            <a:xfrm>
              <a:off x="4711319" y="3326043"/>
              <a:ext cx="4183379" cy="994410"/>
            </a:xfrm>
            <a:custGeom>
              <a:rect b="b" l="l" r="r" t="t"/>
              <a:pathLst>
                <a:path extrusionOk="0" h="994410" w="4183379">
                  <a:moveTo>
                    <a:pt x="2091601" y="994321"/>
                  </a:moveTo>
                  <a:lnTo>
                    <a:pt x="0" y="994321"/>
                  </a:lnTo>
                  <a:lnTo>
                    <a:pt x="0" y="0"/>
                  </a:lnTo>
                  <a:lnTo>
                    <a:pt x="4183202" y="0"/>
                  </a:lnTo>
                  <a:lnTo>
                    <a:pt x="4183202" y="994321"/>
                  </a:lnTo>
                  <a:lnTo>
                    <a:pt x="2091601" y="994321"/>
                  </a:lnTo>
                  <a:close/>
                </a:path>
              </a:pathLst>
            </a:custGeom>
            <a:noFill/>
            <a:ln cap="flat" cmpd="sng" w="12575">
              <a:solidFill>
                <a:srgbClr val="0FB88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619" name="Google Shape;1619;p64"/>
          <p:cNvSpPr txBox="1"/>
          <p:nvPr/>
        </p:nvSpPr>
        <p:spPr>
          <a:xfrm>
            <a:off x="5410441" y="3469223"/>
            <a:ext cx="586105" cy="19304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100">
                <a:solidFill>
                  <a:srgbClr val="191E25"/>
                </a:solidFill>
                <a:latin typeface="Calibri"/>
                <a:ea typeface="Calibri"/>
                <a:cs typeface="Calibri"/>
                <a:sym typeface="Calibri"/>
              </a:rPr>
              <a:t>Positional</a:t>
            </a:r>
            <a:endParaRPr sz="1100">
              <a:latin typeface="Calibri"/>
              <a:ea typeface="Calibri"/>
              <a:cs typeface="Calibri"/>
              <a:sym typeface="Calibri"/>
            </a:endParaRPr>
          </a:p>
        </p:txBody>
      </p:sp>
      <p:sp>
        <p:nvSpPr>
          <p:cNvPr id="1620" name="Google Shape;1620;p64"/>
          <p:cNvSpPr txBox="1"/>
          <p:nvPr/>
        </p:nvSpPr>
        <p:spPr>
          <a:xfrm>
            <a:off x="4892763" y="3675140"/>
            <a:ext cx="228600" cy="2540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500">
                <a:solidFill>
                  <a:srgbClr val="191E25"/>
                </a:solidFill>
                <a:latin typeface="Calibri"/>
                <a:ea typeface="Calibri"/>
                <a:cs typeface="Calibri"/>
                <a:sym typeface="Calibri"/>
              </a:rPr>
              <a:t>H4</a:t>
            </a:r>
            <a:endParaRPr sz="1500">
              <a:latin typeface="Calibri"/>
              <a:ea typeface="Calibri"/>
              <a:cs typeface="Calibri"/>
              <a:sym typeface="Calibri"/>
            </a:endParaRPr>
          </a:p>
        </p:txBody>
      </p:sp>
      <p:sp>
        <p:nvSpPr>
          <p:cNvPr id="1621" name="Google Shape;1621;p64"/>
          <p:cNvSpPr txBox="1"/>
          <p:nvPr/>
        </p:nvSpPr>
        <p:spPr>
          <a:xfrm>
            <a:off x="5410441" y="3867025"/>
            <a:ext cx="1355090" cy="19304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i="1" lang="en-US" sz="1100">
                <a:latin typeface="Cambria"/>
                <a:ea typeface="Cambria"/>
                <a:cs typeface="Cambria"/>
                <a:sym typeface="Cambria"/>
              </a:rPr>
              <a:t>Example: nearby tokens</a:t>
            </a:r>
            <a:endParaRPr sz="1100">
              <a:latin typeface="Cambria"/>
              <a:ea typeface="Cambria"/>
              <a:cs typeface="Cambria"/>
              <a:sym typeface="Cambria"/>
            </a:endParaRPr>
          </a:p>
        </p:txBody>
      </p:sp>
      <p:sp>
        <p:nvSpPr>
          <p:cNvPr id="1622" name="Google Shape;1622;p64"/>
          <p:cNvSpPr txBox="1"/>
          <p:nvPr/>
        </p:nvSpPr>
        <p:spPr>
          <a:xfrm>
            <a:off x="308165" y="4492080"/>
            <a:ext cx="8503920" cy="480059"/>
          </a:xfrm>
          <a:prstGeom prst="rect">
            <a:avLst/>
          </a:prstGeom>
          <a:noFill/>
          <a:ln cap="flat" cmpd="sng" w="12575">
            <a:solidFill>
              <a:srgbClr val="5A20B5"/>
            </a:solidFill>
            <a:prstDash val="solid"/>
            <a:round/>
            <a:headEnd len="sm" w="sm" type="none"/>
            <a:tailEnd len="sm" w="sm" type="none"/>
          </a:ln>
        </p:spPr>
        <p:txBody>
          <a:bodyPr anchorCtr="0" anchor="t" bIns="0" lIns="0" spcFirstLastPara="1" rIns="0" wrap="square" tIns="125075">
            <a:spAutoFit/>
          </a:bodyPr>
          <a:lstStyle/>
          <a:p>
            <a:pPr indent="0" lvl="0" marL="0" rtl="0" algn="ctr">
              <a:lnSpc>
                <a:spcPct val="100000"/>
              </a:lnSpc>
              <a:spcBef>
                <a:spcPts val="0"/>
              </a:spcBef>
              <a:spcAft>
                <a:spcPts val="0"/>
              </a:spcAft>
              <a:buNone/>
            </a:pPr>
            <a:r>
              <a:rPr lang="en-US" sz="1400">
                <a:latin typeface="Calibri"/>
                <a:ea typeface="Calibri"/>
                <a:cs typeface="Calibri"/>
                <a:sym typeface="Calibri"/>
              </a:rPr>
              <a:t>MultiHead(X) = Concat( head₁ … head</a:t>
            </a:r>
            <a:r>
              <a:rPr lang="en-US" sz="1400">
                <a:latin typeface="Times New Roman"/>
                <a:ea typeface="Times New Roman"/>
                <a:cs typeface="Times New Roman"/>
                <a:sym typeface="Times New Roman"/>
              </a:rPr>
              <a:t>ₕ </a:t>
            </a:r>
            <a:r>
              <a:rPr lang="en-US" sz="1400">
                <a:latin typeface="Calibri"/>
                <a:ea typeface="Calibri"/>
                <a:cs typeface="Calibri"/>
                <a:sym typeface="Calibri"/>
              </a:rPr>
              <a:t>) · </a:t>
            </a:r>
            <a:r>
              <a:rPr b="1" lang="en-US" sz="1500">
                <a:latin typeface="Calibri"/>
                <a:ea typeface="Calibri"/>
                <a:cs typeface="Calibri"/>
                <a:sym typeface="Calibri"/>
              </a:rPr>
              <a:t>Wᴼ	</a:t>
            </a:r>
            <a:r>
              <a:rPr lang="en-US" sz="1400">
                <a:latin typeface="Calibri"/>
                <a:ea typeface="Calibri"/>
                <a:cs typeface="Calibri"/>
                <a:sym typeface="Calibri"/>
              </a:rPr>
              <a:t>headᵢ = softmax( QᵢKᵢᵀ / √d</a:t>
            </a:r>
            <a:r>
              <a:rPr lang="en-US" sz="1400">
                <a:latin typeface="Times New Roman"/>
                <a:ea typeface="Times New Roman"/>
                <a:cs typeface="Times New Roman"/>
                <a:sym typeface="Times New Roman"/>
              </a:rPr>
              <a:t>ₖ </a:t>
            </a:r>
            <a:r>
              <a:rPr lang="en-US" sz="1400">
                <a:latin typeface="Calibri"/>
                <a:ea typeface="Calibri"/>
                <a:cs typeface="Calibri"/>
                <a:sym typeface="Calibri"/>
              </a:rPr>
              <a:t>) Vᵢ</a:t>
            </a:r>
            <a:endParaRPr sz="1400">
              <a:latin typeface="Calibri"/>
              <a:ea typeface="Calibri"/>
              <a:cs typeface="Calibri"/>
              <a:sym typeface="Calibri"/>
            </a:endParaRPr>
          </a:p>
        </p:txBody>
      </p:sp>
      <p:sp>
        <p:nvSpPr>
          <p:cNvPr id="1623" name="Google Shape;1623;p64"/>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7" name="Shape 1627"/>
        <p:cNvGrpSpPr/>
        <p:nvPr/>
      </p:nvGrpSpPr>
      <p:grpSpPr>
        <a:xfrm>
          <a:off x="0" y="0"/>
          <a:ext cx="0" cy="0"/>
          <a:chOff x="0" y="0"/>
          <a:chExt cx="0" cy="0"/>
        </a:xfrm>
      </p:grpSpPr>
      <p:sp>
        <p:nvSpPr>
          <p:cNvPr descr="$PPTXTitle" id="1628" name="Google Shape;1628;p65"/>
          <p:cNvSpPr txBox="1"/>
          <p:nvPr>
            <p:ph type="title"/>
          </p:nvPr>
        </p:nvSpPr>
        <p:spPr>
          <a:xfrm>
            <a:off x="1003579" y="201868"/>
            <a:ext cx="6035675" cy="3917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Multi-Head Attention: The Selection Committee</a:t>
            </a:r>
            <a:endParaRPr/>
          </a:p>
        </p:txBody>
      </p:sp>
      <p:sp>
        <p:nvSpPr>
          <p:cNvPr id="1629" name="Google Shape;1629;p65"/>
          <p:cNvSpPr txBox="1"/>
          <p:nvPr/>
        </p:nvSpPr>
        <p:spPr>
          <a:xfrm>
            <a:off x="1999335" y="674181"/>
            <a:ext cx="4048125" cy="224154"/>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i="1" lang="en-US" sz="1300">
                <a:solidFill>
                  <a:srgbClr val="0E756D"/>
                </a:solidFill>
                <a:latin typeface="Cambria"/>
                <a:ea typeface="Cambria"/>
                <a:cs typeface="Cambria"/>
                <a:sym typeface="Cambria"/>
              </a:rPr>
              <a:t>Same input, several experts, each asking a different question</a:t>
            </a:r>
            <a:endParaRPr sz="1300">
              <a:latin typeface="Cambria"/>
              <a:ea typeface="Cambria"/>
              <a:cs typeface="Cambria"/>
              <a:sym typeface="Cambria"/>
            </a:endParaRPr>
          </a:p>
        </p:txBody>
      </p:sp>
      <p:pic>
        <p:nvPicPr>
          <p:cNvPr id="1630" name="Google Shape;1630;p65"/>
          <p:cNvPicPr preferRelativeResize="0"/>
          <p:nvPr/>
        </p:nvPicPr>
        <p:blipFill rotWithShape="1">
          <a:blip r:embed="rId3">
            <a:alphaModFix/>
          </a:blip>
          <a:srcRect b="0" l="0" r="0" t="0"/>
          <a:stretch/>
        </p:blipFill>
        <p:spPr>
          <a:xfrm>
            <a:off x="8369274" y="14"/>
            <a:ext cx="774357" cy="866508"/>
          </a:xfrm>
          <a:prstGeom prst="rect">
            <a:avLst/>
          </a:prstGeom>
          <a:noFill/>
          <a:ln>
            <a:noFill/>
          </a:ln>
        </p:spPr>
      </p:pic>
      <p:grpSp>
        <p:nvGrpSpPr>
          <p:cNvPr id="1631" name="Google Shape;1631;p65"/>
          <p:cNvGrpSpPr/>
          <p:nvPr/>
        </p:nvGrpSpPr>
        <p:grpSpPr>
          <a:xfrm>
            <a:off x="354241" y="1013030"/>
            <a:ext cx="2565006" cy="1485366"/>
            <a:chOff x="354241" y="1013030"/>
            <a:chExt cx="2565006" cy="1485366"/>
          </a:xfrm>
        </p:grpSpPr>
        <p:pic>
          <p:nvPicPr>
            <p:cNvPr id="1632" name="Google Shape;1632;p65"/>
            <p:cNvPicPr preferRelativeResize="0"/>
            <p:nvPr/>
          </p:nvPicPr>
          <p:blipFill rotWithShape="1">
            <a:blip r:embed="rId4">
              <a:alphaModFix/>
            </a:blip>
            <a:srcRect b="0" l="0" r="0" t="0"/>
            <a:stretch/>
          </p:blipFill>
          <p:spPr>
            <a:xfrm>
              <a:off x="354241" y="1013030"/>
              <a:ext cx="2565006" cy="1485366"/>
            </a:xfrm>
            <a:prstGeom prst="rect">
              <a:avLst/>
            </a:prstGeom>
            <a:noFill/>
            <a:ln>
              <a:noFill/>
            </a:ln>
          </p:spPr>
        </p:pic>
        <p:sp>
          <p:nvSpPr>
            <p:cNvPr id="1633" name="Google Shape;1633;p65"/>
            <p:cNvSpPr/>
            <p:nvPr/>
          </p:nvSpPr>
          <p:spPr>
            <a:xfrm>
              <a:off x="411124" y="1050838"/>
              <a:ext cx="2451100" cy="1372235"/>
            </a:xfrm>
            <a:custGeom>
              <a:rect b="b" l="l" r="r" t="t"/>
              <a:pathLst>
                <a:path extrusionOk="0" h="1372235" w="2451100">
                  <a:moveTo>
                    <a:pt x="82791" y="0"/>
                  </a:moveTo>
                  <a:lnTo>
                    <a:pt x="41389" y="11163"/>
                  </a:lnTo>
                  <a:lnTo>
                    <a:pt x="11518" y="41401"/>
                  </a:lnTo>
                  <a:lnTo>
                    <a:pt x="355" y="82448"/>
                  </a:lnTo>
                  <a:lnTo>
                    <a:pt x="0" y="1289519"/>
                  </a:lnTo>
                  <a:lnTo>
                    <a:pt x="718" y="1300287"/>
                  </a:lnTo>
                  <a:lnTo>
                    <a:pt x="729" y="1300448"/>
                  </a:lnTo>
                  <a:lnTo>
                    <a:pt x="2837" y="1310852"/>
                  </a:lnTo>
                  <a:lnTo>
                    <a:pt x="2874" y="1311035"/>
                  </a:lnTo>
                  <a:lnTo>
                    <a:pt x="6301" y="1321013"/>
                  </a:lnTo>
                  <a:lnTo>
                    <a:pt x="6370" y="1321214"/>
                  </a:lnTo>
                  <a:lnTo>
                    <a:pt x="32362" y="1354819"/>
                  </a:lnTo>
                  <a:lnTo>
                    <a:pt x="71668" y="1371236"/>
                  </a:lnTo>
                  <a:lnTo>
                    <a:pt x="82435" y="1371968"/>
                  </a:lnTo>
                  <a:lnTo>
                    <a:pt x="2368435" y="1371968"/>
                  </a:lnTo>
                  <a:lnTo>
                    <a:pt x="2409837" y="1360805"/>
                  </a:lnTo>
                  <a:lnTo>
                    <a:pt x="2439720" y="1330566"/>
                  </a:lnTo>
                  <a:lnTo>
                    <a:pt x="2444399" y="1321214"/>
                  </a:lnTo>
                  <a:lnTo>
                    <a:pt x="2444500" y="1321013"/>
                  </a:lnTo>
                  <a:lnTo>
                    <a:pt x="2447933" y="1311035"/>
                  </a:lnTo>
                  <a:lnTo>
                    <a:pt x="2447996" y="1310852"/>
                  </a:lnTo>
                  <a:lnTo>
                    <a:pt x="2450109" y="1300448"/>
                  </a:lnTo>
                  <a:lnTo>
                    <a:pt x="2450141" y="1300287"/>
                  </a:lnTo>
                  <a:lnTo>
                    <a:pt x="2450871" y="1289519"/>
                  </a:lnTo>
                  <a:lnTo>
                    <a:pt x="2450847" y="82448"/>
                  </a:lnTo>
                  <a:lnTo>
                    <a:pt x="2439720" y="41401"/>
                  </a:lnTo>
                  <a:lnTo>
                    <a:pt x="2409469" y="11518"/>
                  </a:lnTo>
                  <a:lnTo>
                    <a:pt x="2368435" y="368"/>
                  </a:lnTo>
                  <a:lnTo>
                    <a:pt x="8279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34" name="Google Shape;1634;p65"/>
            <p:cNvSpPr/>
            <p:nvPr/>
          </p:nvSpPr>
          <p:spPr>
            <a:xfrm>
              <a:off x="411124" y="1050838"/>
              <a:ext cx="2451100" cy="1372235"/>
            </a:xfrm>
            <a:custGeom>
              <a:rect b="b" l="l" r="r" t="t"/>
              <a:pathLst>
                <a:path extrusionOk="0" h="1372235" w="2451100">
                  <a:moveTo>
                    <a:pt x="355" y="82448"/>
                  </a:moveTo>
                  <a:lnTo>
                    <a:pt x="1087" y="71680"/>
                  </a:lnTo>
                  <a:lnTo>
                    <a:pt x="3236" y="61115"/>
                  </a:lnTo>
                  <a:lnTo>
                    <a:pt x="24568" y="24258"/>
                  </a:lnTo>
                  <a:lnTo>
                    <a:pt x="61285" y="2881"/>
                  </a:lnTo>
                  <a:lnTo>
                    <a:pt x="82791" y="0"/>
                  </a:lnTo>
                  <a:lnTo>
                    <a:pt x="2368435" y="368"/>
                  </a:lnTo>
                  <a:lnTo>
                    <a:pt x="2409469" y="11518"/>
                  </a:lnTo>
                  <a:lnTo>
                    <a:pt x="2439720" y="41401"/>
                  </a:lnTo>
                  <a:lnTo>
                    <a:pt x="2450871" y="82804"/>
                  </a:lnTo>
                  <a:lnTo>
                    <a:pt x="2450871" y="1289519"/>
                  </a:lnTo>
                  <a:lnTo>
                    <a:pt x="2450141" y="1300287"/>
                  </a:lnTo>
                  <a:lnTo>
                    <a:pt x="2447996" y="1310852"/>
                  </a:lnTo>
                  <a:lnTo>
                    <a:pt x="2426669" y="1347709"/>
                  </a:lnTo>
                  <a:lnTo>
                    <a:pt x="2389946" y="1369086"/>
                  </a:lnTo>
                  <a:lnTo>
                    <a:pt x="2368435" y="1371968"/>
                  </a:lnTo>
                  <a:lnTo>
                    <a:pt x="82435" y="1371968"/>
                  </a:lnTo>
                  <a:lnTo>
                    <a:pt x="41389" y="1360805"/>
                  </a:lnTo>
                  <a:lnTo>
                    <a:pt x="11150" y="1330921"/>
                  </a:lnTo>
                  <a:lnTo>
                    <a:pt x="0" y="1289519"/>
                  </a:lnTo>
                  <a:lnTo>
                    <a:pt x="355" y="82448"/>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35" name="Google Shape;1635;p65"/>
            <p:cNvSpPr/>
            <p:nvPr/>
          </p:nvSpPr>
          <p:spPr>
            <a:xfrm>
              <a:off x="520560" y="1160642"/>
              <a:ext cx="732155" cy="274955"/>
            </a:xfrm>
            <a:custGeom>
              <a:rect b="b" l="l" r="r" t="t"/>
              <a:pathLst>
                <a:path extrusionOk="0" h="274955" w="732155">
                  <a:moveTo>
                    <a:pt x="82804" y="0"/>
                  </a:moveTo>
                  <a:lnTo>
                    <a:pt x="41402" y="11163"/>
                  </a:lnTo>
                  <a:lnTo>
                    <a:pt x="11518" y="41401"/>
                  </a:lnTo>
                  <a:lnTo>
                    <a:pt x="355" y="82435"/>
                  </a:lnTo>
                  <a:lnTo>
                    <a:pt x="0" y="192239"/>
                  </a:lnTo>
                  <a:lnTo>
                    <a:pt x="721" y="203007"/>
                  </a:lnTo>
                  <a:lnTo>
                    <a:pt x="731" y="203163"/>
                  </a:lnTo>
                  <a:lnTo>
                    <a:pt x="2844" y="213571"/>
                  </a:lnTo>
                  <a:lnTo>
                    <a:pt x="2881" y="213750"/>
                  </a:lnTo>
                  <a:lnTo>
                    <a:pt x="6310" y="223727"/>
                  </a:lnTo>
                  <a:lnTo>
                    <a:pt x="32374" y="257539"/>
                  </a:lnTo>
                  <a:lnTo>
                    <a:pt x="71670" y="273945"/>
                  </a:lnTo>
                  <a:lnTo>
                    <a:pt x="82435" y="274675"/>
                  </a:lnTo>
                  <a:lnTo>
                    <a:pt x="649439" y="274675"/>
                  </a:lnTo>
                  <a:lnTo>
                    <a:pt x="690841" y="263525"/>
                  </a:lnTo>
                  <a:lnTo>
                    <a:pt x="720725" y="233273"/>
                  </a:lnTo>
                  <a:lnTo>
                    <a:pt x="728938" y="213750"/>
                  </a:lnTo>
                  <a:lnTo>
                    <a:pt x="729000" y="213571"/>
                  </a:lnTo>
                  <a:lnTo>
                    <a:pt x="731114" y="203163"/>
                  </a:lnTo>
                  <a:lnTo>
                    <a:pt x="731145" y="203007"/>
                  </a:lnTo>
                  <a:lnTo>
                    <a:pt x="731875" y="192239"/>
                  </a:lnTo>
                  <a:lnTo>
                    <a:pt x="731851" y="82435"/>
                  </a:lnTo>
                  <a:lnTo>
                    <a:pt x="720725" y="41401"/>
                  </a:lnTo>
                  <a:lnTo>
                    <a:pt x="690473" y="11518"/>
                  </a:lnTo>
                  <a:lnTo>
                    <a:pt x="649439" y="355"/>
                  </a:lnTo>
                  <a:lnTo>
                    <a:pt x="82804" y="0"/>
                  </a:lnTo>
                  <a:close/>
                </a:path>
              </a:pathLst>
            </a:custGeom>
            <a:solidFill>
              <a:srgbClr val="1D3FA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636" name="Google Shape;1636;p65"/>
          <p:cNvSpPr txBox="1"/>
          <p:nvPr/>
        </p:nvSpPr>
        <p:spPr>
          <a:xfrm>
            <a:off x="681736" y="1204825"/>
            <a:ext cx="407670" cy="1854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050">
                <a:solidFill>
                  <a:srgbClr val="FFFFFF"/>
                </a:solidFill>
                <a:latin typeface="Calibri"/>
                <a:ea typeface="Calibri"/>
                <a:cs typeface="Calibri"/>
                <a:sym typeface="Calibri"/>
              </a:rPr>
              <a:t>Head 1</a:t>
            </a:r>
            <a:endParaRPr sz="1050">
              <a:latin typeface="Calibri"/>
              <a:ea typeface="Calibri"/>
              <a:cs typeface="Calibri"/>
              <a:sym typeface="Calibri"/>
            </a:endParaRPr>
          </a:p>
        </p:txBody>
      </p:sp>
      <p:sp>
        <p:nvSpPr>
          <p:cNvPr id="1637" name="Google Shape;1637;p65"/>
          <p:cNvSpPr txBox="1"/>
          <p:nvPr/>
        </p:nvSpPr>
        <p:spPr>
          <a:xfrm>
            <a:off x="1312824" y="1190055"/>
            <a:ext cx="908685" cy="2165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250">
                <a:solidFill>
                  <a:srgbClr val="0C1A29"/>
                </a:solidFill>
                <a:latin typeface="Calibri"/>
                <a:ea typeface="Calibri"/>
                <a:cs typeface="Calibri"/>
                <a:sym typeface="Calibri"/>
              </a:rPr>
              <a:t>Batting coach</a:t>
            </a:r>
            <a:endParaRPr sz="1250">
              <a:latin typeface="Calibri"/>
              <a:ea typeface="Calibri"/>
              <a:cs typeface="Calibri"/>
              <a:sym typeface="Calibri"/>
            </a:endParaRPr>
          </a:p>
        </p:txBody>
      </p:sp>
      <p:sp>
        <p:nvSpPr>
          <p:cNvPr id="1638" name="Google Shape;1638;p65"/>
          <p:cNvSpPr txBox="1"/>
          <p:nvPr/>
        </p:nvSpPr>
        <p:spPr>
          <a:xfrm>
            <a:off x="526935" y="1494982"/>
            <a:ext cx="1903095" cy="1854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050">
                <a:solidFill>
                  <a:srgbClr val="1E2836"/>
                </a:solidFill>
                <a:latin typeface="Calibri"/>
                <a:ea typeface="Calibri"/>
                <a:cs typeface="Calibri"/>
                <a:sym typeface="Calibri"/>
              </a:rPr>
              <a:t>Looks at: </a:t>
            </a:r>
            <a:r>
              <a:rPr lang="en-US" sz="1050">
                <a:solidFill>
                  <a:srgbClr val="1E2836"/>
                </a:solidFill>
                <a:latin typeface="Calibri"/>
                <a:ea typeface="Calibri"/>
                <a:cs typeface="Calibri"/>
                <a:sym typeface="Calibri"/>
              </a:rPr>
              <a:t>Technique, shot selection</a:t>
            </a:r>
            <a:endParaRPr sz="1050">
              <a:latin typeface="Calibri"/>
              <a:ea typeface="Calibri"/>
              <a:cs typeface="Calibri"/>
              <a:sym typeface="Calibri"/>
            </a:endParaRPr>
          </a:p>
        </p:txBody>
      </p:sp>
      <p:sp>
        <p:nvSpPr>
          <p:cNvPr id="1639" name="Google Shape;1639;p65"/>
          <p:cNvSpPr/>
          <p:nvPr/>
        </p:nvSpPr>
        <p:spPr>
          <a:xfrm>
            <a:off x="520560" y="1828446"/>
            <a:ext cx="2232025" cy="476250"/>
          </a:xfrm>
          <a:custGeom>
            <a:rect b="b" l="l" r="r" t="t"/>
            <a:pathLst>
              <a:path extrusionOk="0" h="476250" w="2232025">
                <a:moveTo>
                  <a:pt x="31673" y="0"/>
                </a:moveTo>
                <a:lnTo>
                  <a:pt x="2159" y="24841"/>
                </a:lnTo>
                <a:lnTo>
                  <a:pt x="0" y="444601"/>
                </a:lnTo>
                <a:lnTo>
                  <a:pt x="1803" y="451078"/>
                </a:lnTo>
                <a:lnTo>
                  <a:pt x="31318" y="475919"/>
                </a:lnTo>
                <a:lnTo>
                  <a:pt x="2200325" y="475919"/>
                </a:lnTo>
                <a:lnTo>
                  <a:pt x="2229840" y="451078"/>
                </a:lnTo>
                <a:lnTo>
                  <a:pt x="2231644" y="444601"/>
                </a:lnTo>
                <a:lnTo>
                  <a:pt x="2231544" y="31318"/>
                </a:lnTo>
                <a:lnTo>
                  <a:pt x="2206802" y="2158"/>
                </a:lnTo>
                <a:lnTo>
                  <a:pt x="31673" y="0"/>
                </a:lnTo>
                <a:close/>
              </a:path>
            </a:pathLst>
          </a:custGeom>
          <a:solidFill>
            <a:srgbClr val="E7EDF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40" name="Google Shape;1640;p65"/>
          <p:cNvSpPr txBox="1"/>
          <p:nvPr/>
        </p:nvSpPr>
        <p:spPr>
          <a:xfrm>
            <a:off x="583095" y="1973429"/>
            <a:ext cx="1668780" cy="1854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050">
                <a:solidFill>
                  <a:srgbClr val="1D3FAE"/>
                </a:solidFill>
                <a:latin typeface="Calibri"/>
                <a:ea typeface="Calibri"/>
                <a:cs typeface="Calibri"/>
                <a:sym typeface="Calibri"/>
              </a:rPr>
              <a:t>≈ "it" → "animal" (who is who)</a:t>
            </a:r>
            <a:endParaRPr sz="1050">
              <a:latin typeface="Calibri"/>
              <a:ea typeface="Calibri"/>
              <a:cs typeface="Calibri"/>
              <a:sym typeface="Calibri"/>
            </a:endParaRPr>
          </a:p>
        </p:txBody>
      </p:sp>
      <p:grpSp>
        <p:nvGrpSpPr>
          <p:cNvPr id="1641" name="Google Shape;1641;p65"/>
          <p:cNvGrpSpPr/>
          <p:nvPr/>
        </p:nvGrpSpPr>
        <p:grpSpPr>
          <a:xfrm>
            <a:off x="2941916" y="1013030"/>
            <a:ext cx="2565006" cy="1485366"/>
            <a:chOff x="2941916" y="1013030"/>
            <a:chExt cx="2565006" cy="1485366"/>
          </a:xfrm>
        </p:grpSpPr>
        <p:pic>
          <p:nvPicPr>
            <p:cNvPr id="1642" name="Google Shape;1642;p65"/>
            <p:cNvPicPr preferRelativeResize="0"/>
            <p:nvPr/>
          </p:nvPicPr>
          <p:blipFill rotWithShape="1">
            <a:blip r:embed="rId4">
              <a:alphaModFix/>
            </a:blip>
            <a:srcRect b="0" l="0" r="0" t="0"/>
            <a:stretch/>
          </p:blipFill>
          <p:spPr>
            <a:xfrm>
              <a:off x="2941916" y="1013030"/>
              <a:ext cx="2565006" cy="1485366"/>
            </a:xfrm>
            <a:prstGeom prst="rect">
              <a:avLst/>
            </a:prstGeom>
            <a:noFill/>
            <a:ln>
              <a:noFill/>
            </a:ln>
          </p:spPr>
        </p:pic>
        <p:sp>
          <p:nvSpPr>
            <p:cNvPr id="1643" name="Google Shape;1643;p65"/>
            <p:cNvSpPr/>
            <p:nvPr/>
          </p:nvSpPr>
          <p:spPr>
            <a:xfrm>
              <a:off x="2998800" y="1050838"/>
              <a:ext cx="2451100" cy="1372235"/>
            </a:xfrm>
            <a:custGeom>
              <a:rect b="b" l="l" r="r" t="t"/>
              <a:pathLst>
                <a:path extrusionOk="0" h="1372235" w="2451100">
                  <a:moveTo>
                    <a:pt x="82803" y="0"/>
                  </a:moveTo>
                  <a:lnTo>
                    <a:pt x="41401" y="11163"/>
                  </a:lnTo>
                  <a:lnTo>
                    <a:pt x="11518" y="41401"/>
                  </a:lnTo>
                  <a:lnTo>
                    <a:pt x="355" y="82448"/>
                  </a:lnTo>
                  <a:lnTo>
                    <a:pt x="0" y="1289519"/>
                  </a:lnTo>
                  <a:lnTo>
                    <a:pt x="720" y="1300287"/>
                  </a:lnTo>
                  <a:lnTo>
                    <a:pt x="731" y="1300448"/>
                  </a:lnTo>
                  <a:lnTo>
                    <a:pt x="2844" y="1310852"/>
                  </a:lnTo>
                  <a:lnTo>
                    <a:pt x="2881" y="1311035"/>
                  </a:lnTo>
                  <a:lnTo>
                    <a:pt x="6311" y="1321013"/>
                  </a:lnTo>
                  <a:lnTo>
                    <a:pt x="6381" y="1321214"/>
                  </a:lnTo>
                  <a:lnTo>
                    <a:pt x="11163" y="1330921"/>
                  </a:lnTo>
                  <a:lnTo>
                    <a:pt x="17052" y="1339593"/>
                  </a:lnTo>
                  <a:lnTo>
                    <a:pt x="17154" y="1339743"/>
                  </a:lnTo>
                  <a:lnTo>
                    <a:pt x="50953" y="1365587"/>
                  </a:lnTo>
                  <a:lnTo>
                    <a:pt x="82435" y="1371968"/>
                  </a:lnTo>
                  <a:lnTo>
                    <a:pt x="2368435" y="1371968"/>
                  </a:lnTo>
                  <a:lnTo>
                    <a:pt x="2409837" y="1360805"/>
                  </a:lnTo>
                  <a:lnTo>
                    <a:pt x="2439720" y="1330566"/>
                  </a:lnTo>
                  <a:lnTo>
                    <a:pt x="2444401" y="1321214"/>
                  </a:lnTo>
                  <a:lnTo>
                    <a:pt x="2444502" y="1321013"/>
                  </a:lnTo>
                  <a:lnTo>
                    <a:pt x="2450884" y="1289519"/>
                  </a:lnTo>
                  <a:lnTo>
                    <a:pt x="2450860" y="82448"/>
                  </a:lnTo>
                  <a:lnTo>
                    <a:pt x="2439720" y="41401"/>
                  </a:lnTo>
                  <a:lnTo>
                    <a:pt x="2409482" y="11518"/>
                  </a:lnTo>
                  <a:lnTo>
                    <a:pt x="2368435" y="368"/>
                  </a:lnTo>
                  <a:lnTo>
                    <a:pt x="8280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44" name="Google Shape;1644;p65"/>
            <p:cNvSpPr/>
            <p:nvPr/>
          </p:nvSpPr>
          <p:spPr>
            <a:xfrm>
              <a:off x="2998800" y="1050838"/>
              <a:ext cx="2451100" cy="1372235"/>
            </a:xfrm>
            <a:custGeom>
              <a:rect b="b" l="l" r="r" t="t"/>
              <a:pathLst>
                <a:path extrusionOk="0" h="1372235" w="2451100">
                  <a:moveTo>
                    <a:pt x="355" y="82448"/>
                  </a:moveTo>
                  <a:lnTo>
                    <a:pt x="1087" y="71680"/>
                  </a:lnTo>
                  <a:lnTo>
                    <a:pt x="3236" y="61115"/>
                  </a:lnTo>
                  <a:lnTo>
                    <a:pt x="24569" y="24258"/>
                  </a:lnTo>
                  <a:lnTo>
                    <a:pt x="61288" y="2881"/>
                  </a:lnTo>
                  <a:lnTo>
                    <a:pt x="82803" y="0"/>
                  </a:lnTo>
                  <a:lnTo>
                    <a:pt x="2368435" y="368"/>
                  </a:lnTo>
                  <a:lnTo>
                    <a:pt x="2409482" y="11518"/>
                  </a:lnTo>
                  <a:lnTo>
                    <a:pt x="2439720" y="41401"/>
                  </a:lnTo>
                  <a:lnTo>
                    <a:pt x="2450884" y="82804"/>
                  </a:lnTo>
                  <a:lnTo>
                    <a:pt x="2450884" y="1289519"/>
                  </a:lnTo>
                  <a:lnTo>
                    <a:pt x="2450152" y="1300287"/>
                  </a:lnTo>
                  <a:lnTo>
                    <a:pt x="2448002" y="1310852"/>
                  </a:lnTo>
                  <a:lnTo>
                    <a:pt x="2426669" y="1347709"/>
                  </a:lnTo>
                  <a:lnTo>
                    <a:pt x="2389951" y="1369086"/>
                  </a:lnTo>
                  <a:lnTo>
                    <a:pt x="2368435" y="1371968"/>
                  </a:lnTo>
                  <a:lnTo>
                    <a:pt x="82435" y="1371968"/>
                  </a:lnTo>
                  <a:lnTo>
                    <a:pt x="41401" y="1360805"/>
                  </a:lnTo>
                  <a:lnTo>
                    <a:pt x="11163" y="1330921"/>
                  </a:lnTo>
                  <a:lnTo>
                    <a:pt x="0" y="1289519"/>
                  </a:lnTo>
                  <a:lnTo>
                    <a:pt x="355" y="82448"/>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45" name="Google Shape;1645;p65"/>
            <p:cNvSpPr/>
            <p:nvPr/>
          </p:nvSpPr>
          <p:spPr>
            <a:xfrm>
              <a:off x="3108236" y="1160642"/>
              <a:ext cx="732155" cy="274955"/>
            </a:xfrm>
            <a:custGeom>
              <a:rect b="b" l="l" r="r" t="t"/>
              <a:pathLst>
                <a:path extrusionOk="0" h="274955" w="732154">
                  <a:moveTo>
                    <a:pt x="82804" y="0"/>
                  </a:moveTo>
                  <a:lnTo>
                    <a:pt x="41401" y="11163"/>
                  </a:lnTo>
                  <a:lnTo>
                    <a:pt x="11518" y="41401"/>
                  </a:lnTo>
                  <a:lnTo>
                    <a:pt x="368" y="82435"/>
                  </a:lnTo>
                  <a:lnTo>
                    <a:pt x="0" y="192239"/>
                  </a:lnTo>
                  <a:lnTo>
                    <a:pt x="721" y="203007"/>
                  </a:lnTo>
                  <a:lnTo>
                    <a:pt x="731" y="203163"/>
                  </a:lnTo>
                  <a:lnTo>
                    <a:pt x="2844" y="213571"/>
                  </a:lnTo>
                  <a:lnTo>
                    <a:pt x="2881" y="213750"/>
                  </a:lnTo>
                  <a:lnTo>
                    <a:pt x="6310" y="223727"/>
                  </a:lnTo>
                  <a:lnTo>
                    <a:pt x="32374" y="257539"/>
                  </a:lnTo>
                  <a:lnTo>
                    <a:pt x="71680" y="273945"/>
                  </a:lnTo>
                  <a:lnTo>
                    <a:pt x="82448" y="274675"/>
                  </a:lnTo>
                  <a:lnTo>
                    <a:pt x="649439" y="274675"/>
                  </a:lnTo>
                  <a:lnTo>
                    <a:pt x="690841" y="263525"/>
                  </a:lnTo>
                  <a:lnTo>
                    <a:pt x="720725" y="233273"/>
                  </a:lnTo>
                  <a:lnTo>
                    <a:pt x="731124" y="203163"/>
                  </a:lnTo>
                  <a:lnTo>
                    <a:pt x="731156" y="203007"/>
                  </a:lnTo>
                  <a:lnTo>
                    <a:pt x="731888" y="192239"/>
                  </a:lnTo>
                  <a:lnTo>
                    <a:pt x="731863" y="82435"/>
                  </a:lnTo>
                  <a:lnTo>
                    <a:pt x="731156" y="71875"/>
                  </a:lnTo>
                  <a:lnTo>
                    <a:pt x="714733" y="32580"/>
                  </a:lnTo>
                  <a:lnTo>
                    <a:pt x="680933" y="6736"/>
                  </a:lnTo>
                  <a:lnTo>
                    <a:pt x="649439" y="355"/>
                  </a:lnTo>
                  <a:lnTo>
                    <a:pt x="82804" y="0"/>
                  </a:lnTo>
                  <a:close/>
                </a:path>
              </a:pathLst>
            </a:custGeom>
            <a:solidFill>
              <a:srgbClr val="0E756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646" name="Google Shape;1646;p65"/>
          <p:cNvSpPr txBox="1"/>
          <p:nvPr/>
        </p:nvSpPr>
        <p:spPr>
          <a:xfrm>
            <a:off x="3269424" y="1204825"/>
            <a:ext cx="407670" cy="1854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050">
                <a:solidFill>
                  <a:srgbClr val="FFFFFF"/>
                </a:solidFill>
                <a:latin typeface="Calibri"/>
                <a:ea typeface="Calibri"/>
                <a:cs typeface="Calibri"/>
                <a:sym typeface="Calibri"/>
              </a:rPr>
              <a:t>Head 2</a:t>
            </a:r>
            <a:endParaRPr sz="1050">
              <a:latin typeface="Calibri"/>
              <a:ea typeface="Calibri"/>
              <a:cs typeface="Calibri"/>
              <a:sym typeface="Calibri"/>
            </a:endParaRPr>
          </a:p>
        </p:txBody>
      </p:sp>
      <p:sp>
        <p:nvSpPr>
          <p:cNvPr id="1647" name="Google Shape;1647;p65"/>
          <p:cNvSpPr txBox="1"/>
          <p:nvPr/>
        </p:nvSpPr>
        <p:spPr>
          <a:xfrm>
            <a:off x="3900500" y="1190055"/>
            <a:ext cx="970280" cy="2165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250">
                <a:solidFill>
                  <a:srgbClr val="0C1A29"/>
                </a:solidFill>
                <a:latin typeface="Calibri"/>
                <a:ea typeface="Calibri"/>
                <a:cs typeface="Calibri"/>
                <a:sym typeface="Calibri"/>
              </a:rPr>
              <a:t>Bowling coach</a:t>
            </a:r>
            <a:endParaRPr sz="1250">
              <a:latin typeface="Calibri"/>
              <a:ea typeface="Calibri"/>
              <a:cs typeface="Calibri"/>
              <a:sym typeface="Calibri"/>
            </a:endParaRPr>
          </a:p>
        </p:txBody>
      </p:sp>
      <p:sp>
        <p:nvSpPr>
          <p:cNvPr id="1648" name="Google Shape;1648;p65"/>
          <p:cNvSpPr txBox="1"/>
          <p:nvPr/>
        </p:nvSpPr>
        <p:spPr>
          <a:xfrm>
            <a:off x="3114624" y="1494982"/>
            <a:ext cx="1382395" cy="1854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050">
                <a:solidFill>
                  <a:srgbClr val="1E2836"/>
                </a:solidFill>
                <a:latin typeface="Calibri"/>
                <a:ea typeface="Calibri"/>
                <a:cs typeface="Calibri"/>
                <a:sym typeface="Calibri"/>
              </a:rPr>
              <a:t>Looks at: </a:t>
            </a:r>
            <a:r>
              <a:rPr lang="en-US" sz="1050">
                <a:solidFill>
                  <a:srgbClr val="1E2836"/>
                </a:solidFill>
                <a:latin typeface="Calibri"/>
                <a:ea typeface="Calibri"/>
                <a:cs typeface="Calibri"/>
                <a:sym typeface="Calibri"/>
              </a:rPr>
              <a:t>Pace, variations</a:t>
            </a:r>
            <a:endParaRPr sz="1050">
              <a:latin typeface="Calibri"/>
              <a:ea typeface="Calibri"/>
              <a:cs typeface="Calibri"/>
              <a:sym typeface="Calibri"/>
            </a:endParaRPr>
          </a:p>
        </p:txBody>
      </p:sp>
      <p:sp>
        <p:nvSpPr>
          <p:cNvPr id="1649" name="Google Shape;1649;p65"/>
          <p:cNvSpPr/>
          <p:nvPr/>
        </p:nvSpPr>
        <p:spPr>
          <a:xfrm>
            <a:off x="3108236" y="1828446"/>
            <a:ext cx="2232025" cy="476250"/>
          </a:xfrm>
          <a:custGeom>
            <a:rect b="b" l="l" r="r" t="t"/>
            <a:pathLst>
              <a:path extrusionOk="0" h="476250" w="2232025">
                <a:moveTo>
                  <a:pt x="31686" y="0"/>
                </a:moveTo>
                <a:lnTo>
                  <a:pt x="2159" y="24841"/>
                </a:lnTo>
                <a:lnTo>
                  <a:pt x="0" y="444601"/>
                </a:lnTo>
                <a:lnTo>
                  <a:pt x="1803" y="451078"/>
                </a:lnTo>
                <a:lnTo>
                  <a:pt x="31318" y="475919"/>
                </a:lnTo>
                <a:lnTo>
                  <a:pt x="2200325" y="475919"/>
                </a:lnTo>
                <a:lnTo>
                  <a:pt x="2229840" y="451078"/>
                </a:lnTo>
                <a:lnTo>
                  <a:pt x="2231644" y="444601"/>
                </a:lnTo>
                <a:lnTo>
                  <a:pt x="2231544" y="31318"/>
                </a:lnTo>
                <a:lnTo>
                  <a:pt x="2206802" y="2158"/>
                </a:lnTo>
                <a:lnTo>
                  <a:pt x="31686" y="0"/>
                </a:lnTo>
                <a:close/>
              </a:path>
            </a:pathLst>
          </a:custGeom>
          <a:solidFill>
            <a:srgbClr val="E5F3F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50" name="Google Shape;1650;p65"/>
          <p:cNvSpPr txBox="1"/>
          <p:nvPr/>
        </p:nvSpPr>
        <p:spPr>
          <a:xfrm>
            <a:off x="3170783" y="1973429"/>
            <a:ext cx="1958339" cy="1854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050">
                <a:solidFill>
                  <a:srgbClr val="0E756D"/>
                </a:solidFill>
                <a:latin typeface="Calibri"/>
                <a:ea typeface="Calibri"/>
                <a:cs typeface="Calibri"/>
                <a:sym typeface="Calibri"/>
              </a:rPr>
              <a:t>≈ "cross" → "street" (verb to object)</a:t>
            </a:r>
            <a:endParaRPr sz="1050">
              <a:latin typeface="Calibri"/>
              <a:ea typeface="Calibri"/>
              <a:cs typeface="Calibri"/>
              <a:sym typeface="Calibri"/>
            </a:endParaRPr>
          </a:p>
        </p:txBody>
      </p:sp>
      <p:grpSp>
        <p:nvGrpSpPr>
          <p:cNvPr id="1651" name="Google Shape;1651;p65"/>
          <p:cNvGrpSpPr/>
          <p:nvPr/>
        </p:nvGrpSpPr>
        <p:grpSpPr>
          <a:xfrm>
            <a:off x="354241" y="2494421"/>
            <a:ext cx="2565006" cy="1485734"/>
            <a:chOff x="354241" y="2494421"/>
            <a:chExt cx="2565006" cy="1485734"/>
          </a:xfrm>
        </p:grpSpPr>
        <p:pic>
          <p:nvPicPr>
            <p:cNvPr id="1652" name="Google Shape;1652;p65"/>
            <p:cNvPicPr preferRelativeResize="0"/>
            <p:nvPr/>
          </p:nvPicPr>
          <p:blipFill rotWithShape="1">
            <a:blip r:embed="rId4">
              <a:alphaModFix/>
            </a:blip>
            <a:srcRect b="0" l="0" r="0" t="0"/>
            <a:stretch/>
          </p:blipFill>
          <p:spPr>
            <a:xfrm>
              <a:off x="354241" y="2494421"/>
              <a:ext cx="2565006" cy="1485734"/>
            </a:xfrm>
            <a:prstGeom prst="rect">
              <a:avLst/>
            </a:prstGeom>
            <a:noFill/>
            <a:ln>
              <a:noFill/>
            </a:ln>
          </p:spPr>
        </p:pic>
        <p:sp>
          <p:nvSpPr>
            <p:cNvPr id="1653" name="Google Shape;1653;p65"/>
            <p:cNvSpPr/>
            <p:nvPr/>
          </p:nvSpPr>
          <p:spPr>
            <a:xfrm>
              <a:off x="411124" y="2532242"/>
              <a:ext cx="2451100" cy="1372235"/>
            </a:xfrm>
            <a:custGeom>
              <a:rect b="b" l="l" r="r" t="t"/>
              <a:pathLst>
                <a:path extrusionOk="0" h="1372235" w="2451100">
                  <a:moveTo>
                    <a:pt x="82791" y="0"/>
                  </a:moveTo>
                  <a:lnTo>
                    <a:pt x="41389" y="11163"/>
                  </a:lnTo>
                  <a:lnTo>
                    <a:pt x="11518" y="41401"/>
                  </a:lnTo>
                  <a:lnTo>
                    <a:pt x="355" y="82435"/>
                  </a:lnTo>
                  <a:lnTo>
                    <a:pt x="0" y="1289519"/>
                  </a:lnTo>
                  <a:lnTo>
                    <a:pt x="719" y="1300287"/>
                  </a:lnTo>
                  <a:lnTo>
                    <a:pt x="729" y="1300443"/>
                  </a:lnTo>
                  <a:lnTo>
                    <a:pt x="2838" y="1310851"/>
                  </a:lnTo>
                  <a:lnTo>
                    <a:pt x="2874" y="1311030"/>
                  </a:lnTo>
                  <a:lnTo>
                    <a:pt x="6299" y="1321007"/>
                  </a:lnTo>
                  <a:lnTo>
                    <a:pt x="6370" y="1321213"/>
                  </a:lnTo>
                  <a:lnTo>
                    <a:pt x="11150" y="1330921"/>
                  </a:lnTo>
                  <a:lnTo>
                    <a:pt x="17036" y="1339588"/>
                  </a:lnTo>
                  <a:lnTo>
                    <a:pt x="17141" y="1339743"/>
                  </a:lnTo>
                  <a:lnTo>
                    <a:pt x="24245" y="1347754"/>
                  </a:lnTo>
                  <a:lnTo>
                    <a:pt x="61102" y="1369080"/>
                  </a:lnTo>
                  <a:lnTo>
                    <a:pt x="82435" y="1371955"/>
                  </a:lnTo>
                  <a:lnTo>
                    <a:pt x="2368435" y="1371955"/>
                  </a:lnTo>
                  <a:lnTo>
                    <a:pt x="2409837" y="1360805"/>
                  </a:lnTo>
                  <a:lnTo>
                    <a:pt x="2439720" y="1330553"/>
                  </a:lnTo>
                  <a:lnTo>
                    <a:pt x="2444398" y="1321213"/>
                  </a:lnTo>
                  <a:lnTo>
                    <a:pt x="2444500" y="1321007"/>
                  </a:lnTo>
                  <a:lnTo>
                    <a:pt x="2450871" y="1289519"/>
                  </a:lnTo>
                  <a:lnTo>
                    <a:pt x="2450846" y="82435"/>
                  </a:lnTo>
                  <a:lnTo>
                    <a:pt x="2439720" y="41401"/>
                  </a:lnTo>
                  <a:lnTo>
                    <a:pt x="2409469" y="11518"/>
                  </a:lnTo>
                  <a:lnTo>
                    <a:pt x="2368435" y="355"/>
                  </a:lnTo>
                  <a:lnTo>
                    <a:pt x="8279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54" name="Google Shape;1654;p65"/>
            <p:cNvSpPr/>
            <p:nvPr/>
          </p:nvSpPr>
          <p:spPr>
            <a:xfrm>
              <a:off x="411124" y="2532242"/>
              <a:ext cx="2451100" cy="1372235"/>
            </a:xfrm>
            <a:custGeom>
              <a:rect b="b" l="l" r="r" t="t"/>
              <a:pathLst>
                <a:path extrusionOk="0" h="1372235" w="2451100">
                  <a:moveTo>
                    <a:pt x="355" y="82435"/>
                  </a:moveTo>
                  <a:lnTo>
                    <a:pt x="1087" y="71670"/>
                  </a:lnTo>
                  <a:lnTo>
                    <a:pt x="3236" y="61109"/>
                  </a:lnTo>
                  <a:lnTo>
                    <a:pt x="24568" y="24258"/>
                  </a:lnTo>
                  <a:lnTo>
                    <a:pt x="61285" y="2881"/>
                  </a:lnTo>
                  <a:lnTo>
                    <a:pt x="82791" y="0"/>
                  </a:lnTo>
                  <a:lnTo>
                    <a:pt x="2368435" y="355"/>
                  </a:lnTo>
                  <a:lnTo>
                    <a:pt x="2409469" y="11518"/>
                  </a:lnTo>
                  <a:lnTo>
                    <a:pt x="2439720" y="41401"/>
                  </a:lnTo>
                  <a:lnTo>
                    <a:pt x="2450871" y="82804"/>
                  </a:lnTo>
                  <a:lnTo>
                    <a:pt x="2450871" y="1289519"/>
                  </a:lnTo>
                  <a:lnTo>
                    <a:pt x="2450141" y="1300287"/>
                  </a:lnTo>
                  <a:lnTo>
                    <a:pt x="2447996" y="1310851"/>
                  </a:lnTo>
                  <a:lnTo>
                    <a:pt x="2426669" y="1347708"/>
                  </a:lnTo>
                  <a:lnTo>
                    <a:pt x="2389946" y="1369080"/>
                  </a:lnTo>
                  <a:lnTo>
                    <a:pt x="2368435" y="1371955"/>
                  </a:lnTo>
                  <a:lnTo>
                    <a:pt x="82435" y="1371955"/>
                  </a:lnTo>
                  <a:lnTo>
                    <a:pt x="41389" y="1360805"/>
                  </a:lnTo>
                  <a:lnTo>
                    <a:pt x="11150" y="1330921"/>
                  </a:lnTo>
                  <a:lnTo>
                    <a:pt x="0" y="1289519"/>
                  </a:lnTo>
                  <a:lnTo>
                    <a:pt x="355" y="82435"/>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55" name="Google Shape;1655;p65"/>
            <p:cNvSpPr/>
            <p:nvPr/>
          </p:nvSpPr>
          <p:spPr>
            <a:xfrm>
              <a:off x="520560" y="2642046"/>
              <a:ext cx="732155" cy="274955"/>
            </a:xfrm>
            <a:custGeom>
              <a:rect b="b" l="l" r="r" t="t"/>
              <a:pathLst>
                <a:path extrusionOk="0" h="274955" w="732155">
                  <a:moveTo>
                    <a:pt x="82804" y="0"/>
                  </a:moveTo>
                  <a:lnTo>
                    <a:pt x="41402" y="11150"/>
                  </a:lnTo>
                  <a:lnTo>
                    <a:pt x="11518" y="41389"/>
                  </a:lnTo>
                  <a:lnTo>
                    <a:pt x="355" y="82435"/>
                  </a:lnTo>
                  <a:lnTo>
                    <a:pt x="0" y="192239"/>
                  </a:lnTo>
                  <a:lnTo>
                    <a:pt x="721" y="203005"/>
                  </a:lnTo>
                  <a:lnTo>
                    <a:pt x="17052" y="242300"/>
                  </a:lnTo>
                  <a:lnTo>
                    <a:pt x="17154" y="242450"/>
                  </a:lnTo>
                  <a:lnTo>
                    <a:pt x="50953" y="268294"/>
                  </a:lnTo>
                  <a:lnTo>
                    <a:pt x="82435" y="274675"/>
                  </a:lnTo>
                  <a:lnTo>
                    <a:pt x="649439" y="274675"/>
                  </a:lnTo>
                  <a:lnTo>
                    <a:pt x="690841" y="263512"/>
                  </a:lnTo>
                  <a:lnTo>
                    <a:pt x="720725" y="233273"/>
                  </a:lnTo>
                  <a:lnTo>
                    <a:pt x="731875" y="192239"/>
                  </a:lnTo>
                  <a:lnTo>
                    <a:pt x="731851" y="82435"/>
                  </a:lnTo>
                  <a:lnTo>
                    <a:pt x="720725" y="41389"/>
                  </a:lnTo>
                  <a:lnTo>
                    <a:pt x="690473" y="11518"/>
                  </a:lnTo>
                  <a:lnTo>
                    <a:pt x="649439" y="355"/>
                  </a:lnTo>
                  <a:lnTo>
                    <a:pt x="82804" y="0"/>
                  </a:lnTo>
                  <a:close/>
                </a:path>
              </a:pathLst>
            </a:custGeom>
            <a:solidFill>
              <a:srgbClr val="6C27D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656" name="Google Shape;1656;p65"/>
          <p:cNvSpPr txBox="1"/>
          <p:nvPr/>
        </p:nvSpPr>
        <p:spPr>
          <a:xfrm>
            <a:off x="681736" y="2686229"/>
            <a:ext cx="407670" cy="1854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050">
                <a:solidFill>
                  <a:srgbClr val="FFFFFF"/>
                </a:solidFill>
                <a:latin typeface="Calibri"/>
                <a:ea typeface="Calibri"/>
                <a:cs typeface="Calibri"/>
                <a:sym typeface="Calibri"/>
              </a:rPr>
              <a:t>Head 3</a:t>
            </a:r>
            <a:endParaRPr sz="1050">
              <a:latin typeface="Calibri"/>
              <a:ea typeface="Calibri"/>
              <a:cs typeface="Calibri"/>
              <a:sym typeface="Calibri"/>
            </a:endParaRPr>
          </a:p>
        </p:txBody>
      </p:sp>
      <p:sp>
        <p:nvSpPr>
          <p:cNvPr id="1657" name="Google Shape;1657;p65"/>
          <p:cNvSpPr txBox="1"/>
          <p:nvPr/>
        </p:nvSpPr>
        <p:spPr>
          <a:xfrm>
            <a:off x="1312824" y="2671459"/>
            <a:ext cx="963930" cy="2165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250">
                <a:solidFill>
                  <a:srgbClr val="0C1A29"/>
                </a:solidFill>
                <a:latin typeface="Calibri"/>
                <a:ea typeface="Calibri"/>
                <a:cs typeface="Calibri"/>
                <a:sym typeface="Calibri"/>
              </a:rPr>
              <a:t>Fitness trainer</a:t>
            </a:r>
            <a:endParaRPr sz="1250">
              <a:latin typeface="Calibri"/>
              <a:ea typeface="Calibri"/>
              <a:cs typeface="Calibri"/>
              <a:sym typeface="Calibri"/>
            </a:endParaRPr>
          </a:p>
        </p:txBody>
      </p:sp>
      <p:sp>
        <p:nvSpPr>
          <p:cNvPr id="1658" name="Google Shape;1658;p65"/>
          <p:cNvSpPr txBox="1"/>
          <p:nvPr/>
        </p:nvSpPr>
        <p:spPr>
          <a:xfrm>
            <a:off x="526935" y="2976386"/>
            <a:ext cx="1517015" cy="1854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050">
                <a:solidFill>
                  <a:srgbClr val="1E2836"/>
                </a:solidFill>
                <a:latin typeface="Calibri"/>
                <a:ea typeface="Calibri"/>
                <a:cs typeface="Calibri"/>
                <a:sym typeface="Calibri"/>
              </a:rPr>
              <a:t>Looks at: </a:t>
            </a:r>
            <a:r>
              <a:rPr lang="en-US" sz="1050">
                <a:solidFill>
                  <a:srgbClr val="1E2836"/>
                </a:solidFill>
                <a:latin typeface="Calibri"/>
                <a:ea typeface="Calibri"/>
                <a:cs typeface="Calibri"/>
                <a:sym typeface="Calibri"/>
              </a:rPr>
              <a:t>Yo-Yo test, injuries</a:t>
            </a:r>
            <a:endParaRPr sz="1050">
              <a:latin typeface="Calibri"/>
              <a:ea typeface="Calibri"/>
              <a:cs typeface="Calibri"/>
              <a:sym typeface="Calibri"/>
            </a:endParaRPr>
          </a:p>
        </p:txBody>
      </p:sp>
      <p:sp>
        <p:nvSpPr>
          <p:cNvPr id="1659" name="Google Shape;1659;p65"/>
          <p:cNvSpPr/>
          <p:nvPr/>
        </p:nvSpPr>
        <p:spPr>
          <a:xfrm>
            <a:off x="520560" y="3309837"/>
            <a:ext cx="2232025" cy="476250"/>
          </a:xfrm>
          <a:custGeom>
            <a:rect b="b" l="l" r="r" t="t"/>
            <a:pathLst>
              <a:path extrusionOk="0" h="476250" w="2232025">
                <a:moveTo>
                  <a:pt x="31673" y="0"/>
                </a:moveTo>
                <a:lnTo>
                  <a:pt x="2159" y="24841"/>
                </a:lnTo>
                <a:lnTo>
                  <a:pt x="0" y="444601"/>
                </a:lnTo>
                <a:lnTo>
                  <a:pt x="1803" y="451078"/>
                </a:lnTo>
                <a:lnTo>
                  <a:pt x="31318" y="475919"/>
                </a:lnTo>
                <a:lnTo>
                  <a:pt x="2200325" y="475919"/>
                </a:lnTo>
                <a:lnTo>
                  <a:pt x="2229840" y="451078"/>
                </a:lnTo>
                <a:lnTo>
                  <a:pt x="2231644" y="444601"/>
                </a:lnTo>
                <a:lnTo>
                  <a:pt x="2231541" y="31318"/>
                </a:lnTo>
                <a:lnTo>
                  <a:pt x="2206802" y="2158"/>
                </a:lnTo>
                <a:lnTo>
                  <a:pt x="31673" y="0"/>
                </a:lnTo>
                <a:close/>
              </a:path>
            </a:pathLst>
          </a:custGeom>
          <a:solidFill>
            <a:srgbClr val="F0EBF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60" name="Google Shape;1660;p65"/>
          <p:cNvSpPr txBox="1"/>
          <p:nvPr/>
        </p:nvSpPr>
        <p:spPr>
          <a:xfrm>
            <a:off x="583095" y="3454821"/>
            <a:ext cx="1704975" cy="1854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050">
                <a:solidFill>
                  <a:srgbClr val="6C27D8"/>
                </a:solidFill>
                <a:latin typeface="Calibri"/>
                <a:ea typeface="Calibri"/>
                <a:cs typeface="Calibri"/>
                <a:sym typeface="Calibri"/>
              </a:rPr>
              <a:t>≈ "tired" → "animal" (meaning)</a:t>
            </a:r>
            <a:endParaRPr sz="1050">
              <a:latin typeface="Calibri"/>
              <a:ea typeface="Calibri"/>
              <a:cs typeface="Calibri"/>
              <a:sym typeface="Calibri"/>
            </a:endParaRPr>
          </a:p>
        </p:txBody>
      </p:sp>
      <p:grpSp>
        <p:nvGrpSpPr>
          <p:cNvPr id="1661" name="Google Shape;1661;p65"/>
          <p:cNvGrpSpPr/>
          <p:nvPr/>
        </p:nvGrpSpPr>
        <p:grpSpPr>
          <a:xfrm>
            <a:off x="2941916" y="2494421"/>
            <a:ext cx="2565006" cy="1485734"/>
            <a:chOff x="2941916" y="2494421"/>
            <a:chExt cx="2565006" cy="1485734"/>
          </a:xfrm>
        </p:grpSpPr>
        <p:pic>
          <p:nvPicPr>
            <p:cNvPr id="1662" name="Google Shape;1662;p65"/>
            <p:cNvPicPr preferRelativeResize="0"/>
            <p:nvPr/>
          </p:nvPicPr>
          <p:blipFill rotWithShape="1">
            <a:blip r:embed="rId4">
              <a:alphaModFix/>
            </a:blip>
            <a:srcRect b="0" l="0" r="0" t="0"/>
            <a:stretch/>
          </p:blipFill>
          <p:spPr>
            <a:xfrm>
              <a:off x="2941916" y="2494421"/>
              <a:ext cx="2565006" cy="1485734"/>
            </a:xfrm>
            <a:prstGeom prst="rect">
              <a:avLst/>
            </a:prstGeom>
            <a:noFill/>
            <a:ln>
              <a:noFill/>
            </a:ln>
          </p:spPr>
        </p:pic>
        <p:sp>
          <p:nvSpPr>
            <p:cNvPr id="1663" name="Google Shape;1663;p65"/>
            <p:cNvSpPr/>
            <p:nvPr/>
          </p:nvSpPr>
          <p:spPr>
            <a:xfrm>
              <a:off x="2998800" y="2532242"/>
              <a:ext cx="2451100" cy="1372235"/>
            </a:xfrm>
            <a:custGeom>
              <a:rect b="b" l="l" r="r" t="t"/>
              <a:pathLst>
                <a:path extrusionOk="0" h="1372235" w="2451100">
                  <a:moveTo>
                    <a:pt x="82803" y="0"/>
                  </a:moveTo>
                  <a:lnTo>
                    <a:pt x="41401" y="11163"/>
                  </a:lnTo>
                  <a:lnTo>
                    <a:pt x="11518" y="41401"/>
                  </a:lnTo>
                  <a:lnTo>
                    <a:pt x="355" y="82435"/>
                  </a:lnTo>
                  <a:lnTo>
                    <a:pt x="0" y="1289519"/>
                  </a:lnTo>
                  <a:lnTo>
                    <a:pt x="721" y="1300287"/>
                  </a:lnTo>
                  <a:lnTo>
                    <a:pt x="731" y="1300443"/>
                  </a:lnTo>
                  <a:lnTo>
                    <a:pt x="2844" y="1310851"/>
                  </a:lnTo>
                  <a:lnTo>
                    <a:pt x="2881" y="1311030"/>
                  </a:lnTo>
                  <a:lnTo>
                    <a:pt x="6310" y="1321007"/>
                  </a:lnTo>
                  <a:lnTo>
                    <a:pt x="6381" y="1321213"/>
                  </a:lnTo>
                  <a:lnTo>
                    <a:pt x="11163" y="1330921"/>
                  </a:lnTo>
                  <a:lnTo>
                    <a:pt x="17048" y="1339588"/>
                  </a:lnTo>
                  <a:lnTo>
                    <a:pt x="17154" y="1339743"/>
                  </a:lnTo>
                  <a:lnTo>
                    <a:pt x="50953" y="1365585"/>
                  </a:lnTo>
                  <a:lnTo>
                    <a:pt x="82435" y="1371955"/>
                  </a:lnTo>
                  <a:lnTo>
                    <a:pt x="2368435" y="1371955"/>
                  </a:lnTo>
                  <a:lnTo>
                    <a:pt x="2409837" y="1360805"/>
                  </a:lnTo>
                  <a:lnTo>
                    <a:pt x="2439720" y="1330553"/>
                  </a:lnTo>
                  <a:lnTo>
                    <a:pt x="2450120" y="1300443"/>
                  </a:lnTo>
                  <a:lnTo>
                    <a:pt x="2450152" y="1300287"/>
                  </a:lnTo>
                  <a:lnTo>
                    <a:pt x="2450884" y="1289519"/>
                  </a:lnTo>
                  <a:lnTo>
                    <a:pt x="2450859" y="82435"/>
                  </a:lnTo>
                  <a:lnTo>
                    <a:pt x="2450152" y="71875"/>
                  </a:lnTo>
                  <a:lnTo>
                    <a:pt x="2433729" y="32580"/>
                  </a:lnTo>
                  <a:lnTo>
                    <a:pt x="2399928" y="6736"/>
                  </a:lnTo>
                  <a:lnTo>
                    <a:pt x="2368435" y="355"/>
                  </a:lnTo>
                  <a:lnTo>
                    <a:pt x="8280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64" name="Google Shape;1664;p65"/>
            <p:cNvSpPr/>
            <p:nvPr/>
          </p:nvSpPr>
          <p:spPr>
            <a:xfrm>
              <a:off x="2998800" y="2532242"/>
              <a:ext cx="2451100" cy="1372235"/>
            </a:xfrm>
            <a:custGeom>
              <a:rect b="b" l="l" r="r" t="t"/>
              <a:pathLst>
                <a:path extrusionOk="0" h="1372235" w="2451100">
                  <a:moveTo>
                    <a:pt x="355" y="82435"/>
                  </a:moveTo>
                  <a:lnTo>
                    <a:pt x="1087" y="71670"/>
                  </a:lnTo>
                  <a:lnTo>
                    <a:pt x="3236" y="61109"/>
                  </a:lnTo>
                  <a:lnTo>
                    <a:pt x="24569" y="24258"/>
                  </a:lnTo>
                  <a:lnTo>
                    <a:pt x="61288" y="2881"/>
                  </a:lnTo>
                  <a:lnTo>
                    <a:pt x="82803" y="0"/>
                  </a:lnTo>
                  <a:lnTo>
                    <a:pt x="2368435" y="355"/>
                  </a:lnTo>
                  <a:lnTo>
                    <a:pt x="2409482" y="11518"/>
                  </a:lnTo>
                  <a:lnTo>
                    <a:pt x="2439720" y="41401"/>
                  </a:lnTo>
                  <a:lnTo>
                    <a:pt x="2450884" y="82804"/>
                  </a:lnTo>
                  <a:lnTo>
                    <a:pt x="2450884" y="1289519"/>
                  </a:lnTo>
                  <a:lnTo>
                    <a:pt x="2450152" y="1300287"/>
                  </a:lnTo>
                  <a:lnTo>
                    <a:pt x="2448002" y="1310851"/>
                  </a:lnTo>
                  <a:lnTo>
                    <a:pt x="2426669" y="1347708"/>
                  </a:lnTo>
                  <a:lnTo>
                    <a:pt x="2389951" y="1369080"/>
                  </a:lnTo>
                  <a:lnTo>
                    <a:pt x="2368435" y="1371955"/>
                  </a:lnTo>
                  <a:lnTo>
                    <a:pt x="82435" y="1371955"/>
                  </a:lnTo>
                  <a:lnTo>
                    <a:pt x="41401" y="1360805"/>
                  </a:lnTo>
                  <a:lnTo>
                    <a:pt x="11163" y="1330921"/>
                  </a:lnTo>
                  <a:lnTo>
                    <a:pt x="0" y="1289519"/>
                  </a:lnTo>
                  <a:lnTo>
                    <a:pt x="355" y="82435"/>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65" name="Google Shape;1665;p65"/>
            <p:cNvSpPr/>
            <p:nvPr/>
          </p:nvSpPr>
          <p:spPr>
            <a:xfrm>
              <a:off x="3108236" y="2642046"/>
              <a:ext cx="732155" cy="274955"/>
            </a:xfrm>
            <a:custGeom>
              <a:rect b="b" l="l" r="r" t="t"/>
              <a:pathLst>
                <a:path extrusionOk="0" h="274955" w="732154">
                  <a:moveTo>
                    <a:pt x="82804" y="0"/>
                  </a:moveTo>
                  <a:lnTo>
                    <a:pt x="41401" y="11150"/>
                  </a:lnTo>
                  <a:lnTo>
                    <a:pt x="11518" y="41389"/>
                  </a:lnTo>
                  <a:lnTo>
                    <a:pt x="368" y="82435"/>
                  </a:lnTo>
                  <a:lnTo>
                    <a:pt x="0" y="192239"/>
                  </a:lnTo>
                  <a:lnTo>
                    <a:pt x="721" y="203005"/>
                  </a:lnTo>
                  <a:lnTo>
                    <a:pt x="17052" y="242300"/>
                  </a:lnTo>
                  <a:lnTo>
                    <a:pt x="50955" y="268294"/>
                  </a:lnTo>
                  <a:lnTo>
                    <a:pt x="82448" y="274675"/>
                  </a:lnTo>
                  <a:lnTo>
                    <a:pt x="649439" y="274675"/>
                  </a:lnTo>
                  <a:lnTo>
                    <a:pt x="690841" y="263512"/>
                  </a:lnTo>
                  <a:lnTo>
                    <a:pt x="720725" y="233273"/>
                  </a:lnTo>
                  <a:lnTo>
                    <a:pt x="731124" y="203161"/>
                  </a:lnTo>
                  <a:lnTo>
                    <a:pt x="731156" y="203005"/>
                  </a:lnTo>
                  <a:lnTo>
                    <a:pt x="731888" y="192239"/>
                  </a:lnTo>
                  <a:lnTo>
                    <a:pt x="731864" y="82435"/>
                  </a:lnTo>
                  <a:lnTo>
                    <a:pt x="731156" y="71869"/>
                  </a:lnTo>
                  <a:lnTo>
                    <a:pt x="714733" y="32575"/>
                  </a:lnTo>
                  <a:lnTo>
                    <a:pt x="680933" y="6736"/>
                  </a:lnTo>
                  <a:lnTo>
                    <a:pt x="649439" y="355"/>
                  </a:lnTo>
                  <a:lnTo>
                    <a:pt x="82804" y="0"/>
                  </a:lnTo>
                  <a:close/>
                </a:path>
              </a:pathLst>
            </a:custGeom>
            <a:solidFill>
              <a:srgbClr val="C1400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666" name="Google Shape;1666;p65"/>
          <p:cNvSpPr txBox="1"/>
          <p:nvPr/>
        </p:nvSpPr>
        <p:spPr>
          <a:xfrm>
            <a:off x="3269424" y="2686229"/>
            <a:ext cx="407670" cy="1854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050">
                <a:solidFill>
                  <a:srgbClr val="FFFFFF"/>
                </a:solidFill>
                <a:latin typeface="Calibri"/>
                <a:ea typeface="Calibri"/>
                <a:cs typeface="Calibri"/>
                <a:sym typeface="Calibri"/>
              </a:rPr>
              <a:t>Head 4</a:t>
            </a:r>
            <a:endParaRPr sz="1050">
              <a:latin typeface="Calibri"/>
              <a:ea typeface="Calibri"/>
              <a:cs typeface="Calibri"/>
              <a:sym typeface="Calibri"/>
            </a:endParaRPr>
          </a:p>
        </p:txBody>
      </p:sp>
      <p:sp>
        <p:nvSpPr>
          <p:cNvPr id="1667" name="Google Shape;1667;p65"/>
          <p:cNvSpPr txBox="1"/>
          <p:nvPr/>
        </p:nvSpPr>
        <p:spPr>
          <a:xfrm>
            <a:off x="3900500" y="2671459"/>
            <a:ext cx="527050" cy="2165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250">
                <a:solidFill>
                  <a:srgbClr val="0C1A29"/>
                </a:solidFill>
                <a:latin typeface="Calibri"/>
                <a:ea typeface="Calibri"/>
                <a:cs typeface="Calibri"/>
                <a:sym typeface="Calibri"/>
              </a:rPr>
              <a:t>Captain</a:t>
            </a:r>
            <a:endParaRPr sz="1250">
              <a:latin typeface="Calibri"/>
              <a:ea typeface="Calibri"/>
              <a:cs typeface="Calibri"/>
              <a:sym typeface="Calibri"/>
            </a:endParaRPr>
          </a:p>
        </p:txBody>
      </p:sp>
      <p:sp>
        <p:nvSpPr>
          <p:cNvPr id="1668" name="Google Shape;1668;p65"/>
          <p:cNvSpPr txBox="1"/>
          <p:nvPr/>
        </p:nvSpPr>
        <p:spPr>
          <a:xfrm>
            <a:off x="3114624" y="2976386"/>
            <a:ext cx="1779905" cy="1854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050">
                <a:solidFill>
                  <a:srgbClr val="1E2836"/>
                </a:solidFill>
                <a:latin typeface="Calibri"/>
                <a:ea typeface="Calibri"/>
                <a:cs typeface="Calibri"/>
                <a:sym typeface="Calibri"/>
              </a:rPr>
              <a:t>Looks at: </a:t>
            </a:r>
            <a:r>
              <a:rPr lang="en-US" sz="1050">
                <a:solidFill>
                  <a:srgbClr val="1E2836"/>
                </a:solidFill>
                <a:latin typeface="Calibri"/>
                <a:ea typeface="Calibri"/>
                <a:cs typeface="Calibri"/>
                <a:sym typeface="Calibri"/>
              </a:rPr>
              <a:t>Team fit, temperament</a:t>
            </a:r>
            <a:endParaRPr sz="1050">
              <a:latin typeface="Calibri"/>
              <a:ea typeface="Calibri"/>
              <a:cs typeface="Calibri"/>
              <a:sym typeface="Calibri"/>
            </a:endParaRPr>
          </a:p>
        </p:txBody>
      </p:sp>
      <p:sp>
        <p:nvSpPr>
          <p:cNvPr id="1669" name="Google Shape;1669;p65"/>
          <p:cNvSpPr/>
          <p:nvPr/>
        </p:nvSpPr>
        <p:spPr>
          <a:xfrm>
            <a:off x="3108236" y="3309837"/>
            <a:ext cx="2232025" cy="476250"/>
          </a:xfrm>
          <a:custGeom>
            <a:rect b="b" l="l" r="r" t="t"/>
            <a:pathLst>
              <a:path extrusionOk="0" h="476250" w="2232025">
                <a:moveTo>
                  <a:pt x="31686" y="0"/>
                </a:moveTo>
                <a:lnTo>
                  <a:pt x="2159" y="24841"/>
                </a:lnTo>
                <a:lnTo>
                  <a:pt x="0" y="444601"/>
                </a:lnTo>
                <a:lnTo>
                  <a:pt x="1803" y="451078"/>
                </a:lnTo>
                <a:lnTo>
                  <a:pt x="31318" y="475919"/>
                </a:lnTo>
                <a:lnTo>
                  <a:pt x="2200325" y="475919"/>
                </a:lnTo>
                <a:lnTo>
                  <a:pt x="2229840" y="451078"/>
                </a:lnTo>
                <a:lnTo>
                  <a:pt x="2231644" y="444601"/>
                </a:lnTo>
                <a:lnTo>
                  <a:pt x="2231541" y="31318"/>
                </a:lnTo>
                <a:lnTo>
                  <a:pt x="2206802" y="2158"/>
                </a:lnTo>
                <a:lnTo>
                  <a:pt x="31686" y="0"/>
                </a:lnTo>
                <a:close/>
              </a:path>
            </a:pathLst>
          </a:custGeom>
          <a:solidFill>
            <a:srgbClr val="FFF0E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70" name="Google Shape;1670;p65"/>
          <p:cNvSpPr txBox="1"/>
          <p:nvPr/>
        </p:nvSpPr>
        <p:spPr>
          <a:xfrm>
            <a:off x="3170783" y="3454821"/>
            <a:ext cx="1537335" cy="1854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050">
                <a:solidFill>
                  <a:srgbClr val="C1400B"/>
                </a:solidFill>
                <a:latin typeface="Calibri"/>
                <a:ea typeface="Calibri"/>
                <a:cs typeface="Calibri"/>
                <a:sym typeface="Calibri"/>
              </a:rPr>
              <a:t>≈ nearby words (local order)</a:t>
            </a:r>
            <a:endParaRPr sz="1050">
              <a:latin typeface="Calibri"/>
              <a:ea typeface="Calibri"/>
              <a:cs typeface="Calibri"/>
              <a:sym typeface="Calibri"/>
            </a:endParaRPr>
          </a:p>
        </p:txBody>
      </p:sp>
      <p:grpSp>
        <p:nvGrpSpPr>
          <p:cNvPr id="1671" name="Google Shape;1671;p65"/>
          <p:cNvGrpSpPr/>
          <p:nvPr/>
        </p:nvGrpSpPr>
        <p:grpSpPr>
          <a:xfrm>
            <a:off x="5612041" y="1013030"/>
            <a:ext cx="3177717" cy="2948406"/>
            <a:chOff x="5612041" y="1013030"/>
            <a:chExt cx="3177717" cy="2948406"/>
          </a:xfrm>
        </p:grpSpPr>
        <p:pic>
          <p:nvPicPr>
            <p:cNvPr id="1672" name="Google Shape;1672;p65"/>
            <p:cNvPicPr preferRelativeResize="0"/>
            <p:nvPr/>
          </p:nvPicPr>
          <p:blipFill rotWithShape="1">
            <a:blip r:embed="rId5">
              <a:alphaModFix/>
            </a:blip>
            <a:srcRect b="0" l="0" r="0" t="0"/>
            <a:stretch/>
          </p:blipFill>
          <p:spPr>
            <a:xfrm>
              <a:off x="5612041" y="1013030"/>
              <a:ext cx="3177717" cy="2948406"/>
            </a:xfrm>
            <a:prstGeom prst="rect">
              <a:avLst/>
            </a:prstGeom>
            <a:noFill/>
            <a:ln>
              <a:noFill/>
            </a:ln>
          </p:spPr>
        </p:pic>
        <p:sp>
          <p:nvSpPr>
            <p:cNvPr id="1673" name="Google Shape;1673;p65"/>
            <p:cNvSpPr/>
            <p:nvPr/>
          </p:nvSpPr>
          <p:spPr>
            <a:xfrm>
              <a:off x="5669280" y="1051206"/>
              <a:ext cx="3063240" cy="2834640"/>
            </a:xfrm>
            <a:custGeom>
              <a:rect b="b" l="l" r="r" t="t"/>
              <a:pathLst>
                <a:path extrusionOk="0" h="2834640" w="3063240">
                  <a:moveTo>
                    <a:pt x="2892958" y="0"/>
                  </a:moveTo>
                  <a:lnTo>
                    <a:pt x="169925" y="0"/>
                  </a:lnTo>
                  <a:lnTo>
                    <a:pt x="147059" y="1466"/>
                  </a:lnTo>
                  <a:lnTo>
                    <a:pt x="147582" y="1466"/>
                  </a:lnTo>
                  <a:lnTo>
                    <a:pt x="126091" y="5667"/>
                  </a:lnTo>
                  <a:lnTo>
                    <a:pt x="84962" y="22669"/>
                  </a:lnTo>
                  <a:lnTo>
                    <a:pt x="49769" y="49628"/>
                  </a:lnTo>
                  <a:lnTo>
                    <a:pt x="22682" y="84950"/>
                  </a:lnTo>
                  <a:lnTo>
                    <a:pt x="5807" y="125945"/>
                  </a:lnTo>
                  <a:lnTo>
                    <a:pt x="0" y="169913"/>
                  </a:lnTo>
                  <a:lnTo>
                    <a:pt x="0" y="2664714"/>
                  </a:lnTo>
                  <a:lnTo>
                    <a:pt x="1403" y="2686595"/>
                  </a:lnTo>
                  <a:lnTo>
                    <a:pt x="1417" y="2686801"/>
                  </a:lnTo>
                  <a:lnTo>
                    <a:pt x="5625" y="2708325"/>
                  </a:lnTo>
                  <a:lnTo>
                    <a:pt x="5668" y="2708548"/>
                  </a:lnTo>
                  <a:lnTo>
                    <a:pt x="12654" y="2729312"/>
                  </a:lnTo>
                  <a:lnTo>
                    <a:pt x="12756" y="2729618"/>
                  </a:lnTo>
                  <a:lnTo>
                    <a:pt x="22682" y="2749677"/>
                  </a:lnTo>
                  <a:lnTo>
                    <a:pt x="49636" y="2784865"/>
                  </a:lnTo>
                  <a:lnTo>
                    <a:pt x="84962" y="2811957"/>
                  </a:lnTo>
                  <a:lnTo>
                    <a:pt x="125958" y="2828832"/>
                  </a:lnTo>
                  <a:lnTo>
                    <a:pt x="169925" y="2834640"/>
                  </a:lnTo>
                  <a:lnTo>
                    <a:pt x="2893314" y="2834271"/>
                  </a:lnTo>
                  <a:lnTo>
                    <a:pt x="2937148" y="2828602"/>
                  </a:lnTo>
                  <a:lnTo>
                    <a:pt x="2978277" y="2811589"/>
                  </a:lnTo>
                  <a:lnTo>
                    <a:pt x="3013470" y="2784636"/>
                  </a:lnTo>
                  <a:lnTo>
                    <a:pt x="3040557" y="2749321"/>
                  </a:lnTo>
                  <a:lnTo>
                    <a:pt x="3057357" y="2708548"/>
                  </a:lnTo>
                  <a:lnTo>
                    <a:pt x="3057432" y="2708325"/>
                  </a:lnTo>
                  <a:lnTo>
                    <a:pt x="3061730" y="2686801"/>
                  </a:lnTo>
                  <a:lnTo>
                    <a:pt x="3061771" y="2686595"/>
                  </a:lnTo>
                  <a:lnTo>
                    <a:pt x="3063216" y="2664714"/>
                  </a:lnTo>
                  <a:lnTo>
                    <a:pt x="3063240" y="2664358"/>
                  </a:lnTo>
                  <a:lnTo>
                    <a:pt x="3062884" y="169913"/>
                  </a:lnTo>
                  <a:lnTo>
                    <a:pt x="3057210" y="126084"/>
                  </a:lnTo>
                  <a:lnTo>
                    <a:pt x="3040202" y="84950"/>
                  </a:lnTo>
                  <a:lnTo>
                    <a:pt x="3013248" y="49761"/>
                  </a:lnTo>
                  <a:lnTo>
                    <a:pt x="2977921" y="22669"/>
                  </a:lnTo>
                  <a:lnTo>
                    <a:pt x="2936925" y="5800"/>
                  </a:lnTo>
                  <a:lnTo>
                    <a:pt x="2915195" y="1466"/>
                  </a:lnTo>
                  <a:lnTo>
                    <a:pt x="2892958" y="0"/>
                  </a:lnTo>
                  <a:close/>
                </a:path>
              </a:pathLst>
            </a:custGeom>
            <a:solidFill>
              <a:srgbClr val="0C1A2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74" name="Google Shape;1674;p65"/>
            <p:cNvSpPr/>
            <p:nvPr/>
          </p:nvSpPr>
          <p:spPr>
            <a:xfrm>
              <a:off x="5669280" y="1051206"/>
              <a:ext cx="3063240" cy="2834640"/>
            </a:xfrm>
            <a:custGeom>
              <a:rect b="b" l="l" r="r" t="t"/>
              <a:pathLst>
                <a:path extrusionOk="0" h="2834640" w="3063240">
                  <a:moveTo>
                    <a:pt x="0" y="169913"/>
                  </a:moveTo>
                  <a:lnTo>
                    <a:pt x="1468" y="147675"/>
                  </a:lnTo>
                  <a:lnTo>
                    <a:pt x="5807" y="125945"/>
                  </a:lnTo>
                  <a:lnTo>
                    <a:pt x="22682" y="84950"/>
                  </a:lnTo>
                  <a:lnTo>
                    <a:pt x="49769" y="49628"/>
                  </a:lnTo>
                  <a:lnTo>
                    <a:pt x="84962" y="22669"/>
                  </a:lnTo>
                  <a:lnTo>
                    <a:pt x="126091" y="5667"/>
                  </a:lnTo>
                  <a:lnTo>
                    <a:pt x="169925" y="0"/>
                  </a:lnTo>
                  <a:lnTo>
                    <a:pt x="2892958" y="0"/>
                  </a:lnTo>
                  <a:lnTo>
                    <a:pt x="2936925" y="5800"/>
                  </a:lnTo>
                  <a:lnTo>
                    <a:pt x="2977921" y="22669"/>
                  </a:lnTo>
                  <a:lnTo>
                    <a:pt x="3013248" y="49761"/>
                  </a:lnTo>
                  <a:lnTo>
                    <a:pt x="3040202" y="84950"/>
                  </a:lnTo>
                  <a:lnTo>
                    <a:pt x="3057210" y="126084"/>
                  </a:lnTo>
                  <a:lnTo>
                    <a:pt x="3062884" y="169913"/>
                  </a:lnTo>
                  <a:lnTo>
                    <a:pt x="3063240" y="2664358"/>
                  </a:lnTo>
                  <a:lnTo>
                    <a:pt x="3061771" y="2686595"/>
                  </a:lnTo>
                  <a:lnTo>
                    <a:pt x="3057432" y="2708325"/>
                  </a:lnTo>
                  <a:lnTo>
                    <a:pt x="3040557" y="2749321"/>
                  </a:lnTo>
                  <a:lnTo>
                    <a:pt x="3013470" y="2784636"/>
                  </a:lnTo>
                  <a:lnTo>
                    <a:pt x="2978277" y="2811589"/>
                  </a:lnTo>
                  <a:lnTo>
                    <a:pt x="2937148" y="2828602"/>
                  </a:lnTo>
                  <a:lnTo>
                    <a:pt x="2893314" y="2834271"/>
                  </a:lnTo>
                  <a:lnTo>
                    <a:pt x="169925" y="2834640"/>
                  </a:lnTo>
                  <a:lnTo>
                    <a:pt x="125958" y="2828832"/>
                  </a:lnTo>
                  <a:lnTo>
                    <a:pt x="84962" y="2811957"/>
                  </a:lnTo>
                  <a:lnTo>
                    <a:pt x="49636" y="2784865"/>
                  </a:lnTo>
                  <a:lnTo>
                    <a:pt x="22682" y="2749677"/>
                  </a:lnTo>
                  <a:lnTo>
                    <a:pt x="5668" y="2708548"/>
                  </a:lnTo>
                  <a:lnTo>
                    <a:pt x="0" y="2664714"/>
                  </a:lnTo>
                  <a:lnTo>
                    <a:pt x="0" y="169913"/>
                  </a:lnTo>
                  <a:close/>
                </a:path>
              </a:pathLst>
            </a:custGeom>
            <a:noFill/>
            <a:ln cap="flat" cmpd="sng" w="12575">
              <a:solidFill>
                <a:srgbClr val="0C1A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675" name="Google Shape;1675;p65"/>
          <p:cNvSpPr txBox="1"/>
          <p:nvPr/>
        </p:nvSpPr>
        <p:spPr>
          <a:xfrm>
            <a:off x="5839104" y="1176377"/>
            <a:ext cx="2669540" cy="1713230"/>
          </a:xfrm>
          <a:prstGeom prst="rect">
            <a:avLst/>
          </a:prstGeom>
          <a:noFill/>
          <a:ln>
            <a:noFill/>
          </a:ln>
        </p:spPr>
        <p:txBody>
          <a:bodyPr anchorCtr="0" anchor="t" bIns="0" lIns="0" spcFirstLastPara="1" rIns="0" wrap="square" tIns="12700">
            <a:spAutoFit/>
          </a:bodyPr>
          <a:lstStyle/>
          <a:p>
            <a:pPr indent="0" lvl="0" marL="12700" rtl="0" algn="just">
              <a:lnSpc>
                <a:spcPct val="100000"/>
              </a:lnSpc>
              <a:spcBef>
                <a:spcPts val="0"/>
              </a:spcBef>
              <a:spcAft>
                <a:spcPts val="0"/>
              </a:spcAft>
              <a:buNone/>
            </a:pPr>
            <a:r>
              <a:rPr b="1" lang="en-US" sz="1400">
                <a:solidFill>
                  <a:srgbClr val="FFFFFF"/>
                </a:solidFill>
                <a:latin typeface="Calibri"/>
                <a:ea typeface="Calibri"/>
                <a:cs typeface="Calibri"/>
                <a:sym typeface="Calibri"/>
              </a:rPr>
              <a:t>Chief selector = Wᴼ</a:t>
            </a:r>
            <a:endParaRPr sz="1400">
              <a:latin typeface="Calibri"/>
              <a:ea typeface="Calibri"/>
              <a:cs typeface="Calibri"/>
              <a:sym typeface="Calibri"/>
            </a:endParaRPr>
          </a:p>
          <a:p>
            <a:pPr indent="0" lvl="0" marL="12700" marR="5080" rtl="0" algn="just">
              <a:lnSpc>
                <a:spcPct val="100000"/>
              </a:lnSpc>
              <a:spcBef>
                <a:spcPts val="1340"/>
              </a:spcBef>
              <a:spcAft>
                <a:spcPts val="0"/>
              </a:spcAft>
              <a:buNone/>
            </a:pPr>
            <a:r>
              <a:rPr lang="en-US" sz="1150">
                <a:solidFill>
                  <a:srgbClr val="E1E7EF"/>
                </a:solidFill>
                <a:latin typeface="Calibri"/>
                <a:ea typeface="Calibri"/>
                <a:cs typeface="Calibri"/>
                <a:sym typeface="Calibri"/>
              </a:rPr>
              <a:t>Each head writes its own report. The reports are concatenated, then Wᴼ blends them into one decision.</a:t>
            </a:r>
            <a:endParaRPr sz="1150">
              <a:latin typeface="Calibri"/>
              <a:ea typeface="Calibri"/>
              <a:cs typeface="Calibri"/>
              <a:sym typeface="Calibri"/>
            </a:endParaRPr>
          </a:p>
          <a:p>
            <a:pPr indent="0" lvl="0" marL="12700" marR="160020" rtl="0" algn="l">
              <a:lnSpc>
                <a:spcPct val="100000"/>
              </a:lnSpc>
              <a:spcBef>
                <a:spcPts val="605"/>
              </a:spcBef>
              <a:spcAft>
                <a:spcPts val="0"/>
              </a:spcAft>
              <a:buNone/>
            </a:pPr>
            <a:r>
              <a:rPr b="1" lang="en-US" sz="1150">
                <a:solidFill>
                  <a:srgbClr val="FCE589"/>
                </a:solidFill>
                <a:latin typeface="Calibri"/>
                <a:ea typeface="Calibri"/>
                <a:cs typeface="Calibri"/>
                <a:sym typeface="Calibri"/>
              </a:rPr>
              <a:t>Another real example: </a:t>
            </a:r>
            <a:r>
              <a:rPr lang="en-US" sz="1150">
                <a:solidFill>
                  <a:srgbClr val="E1E7EF"/>
                </a:solidFill>
                <a:latin typeface="Calibri"/>
                <a:ea typeface="Calibri"/>
                <a:cs typeface="Calibri"/>
                <a:sym typeface="Calibri"/>
              </a:rPr>
              <a:t>a hospital tumour board. Radiologist, pathologist, oncologist and surgeon study the same patient; each notices what the others miss.</a:t>
            </a:r>
            <a:endParaRPr sz="1150">
              <a:latin typeface="Calibri"/>
              <a:ea typeface="Calibri"/>
              <a:cs typeface="Calibri"/>
              <a:sym typeface="Calibri"/>
            </a:endParaRPr>
          </a:p>
        </p:txBody>
      </p:sp>
      <p:sp>
        <p:nvSpPr>
          <p:cNvPr id="1676" name="Google Shape;1676;p65"/>
          <p:cNvSpPr/>
          <p:nvPr/>
        </p:nvSpPr>
        <p:spPr>
          <a:xfrm>
            <a:off x="411124" y="4069081"/>
            <a:ext cx="8321040" cy="658495"/>
          </a:xfrm>
          <a:custGeom>
            <a:rect b="b" l="l" r="r" t="t"/>
            <a:pathLst>
              <a:path extrusionOk="0" h="658495" w="8321040">
                <a:moveTo>
                  <a:pt x="8268119" y="0"/>
                </a:moveTo>
                <a:lnTo>
                  <a:pt x="52552" y="0"/>
                </a:lnTo>
                <a:lnTo>
                  <a:pt x="44849" y="466"/>
                </a:lnTo>
                <a:lnTo>
                  <a:pt x="45468" y="466"/>
                </a:lnTo>
                <a:lnTo>
                  <a:pt x="39014" y="1665"/>
                </a:lnTo>
                <a:lnTo>
                  <a:pt x="7200" y="26276"/>
                </a:lnTo>
                <a:lnTo>
                  <a:pt x="0" y="52565"/>
                </a:lnTo>
                <a:lnTo>
                  <a:pt x="0" y="605878"/>
                </a:lnTo>
                <a:lnTo>
                  <a:pt x="397" y="612463"/>
                </a:lnTo>
                <a:lnTo>
                  <a:pt x="410" y="612670"/>
                </a:lnTo>
                <a:lnTo>
                  <a:pt x="1621" y="619199"/>
                </a:lnTo>
                <a:lnTo>
                  <a:pt x="1663" y="619426"/>
                </a:lnTo>
                <a:lnTo>
                  <a:pt x="3692" y="625666"/>
                </a:lnTo>
                <a:lnTo>
                  <a:pt x="3793" y="625977"/>
                </a:lnTo>
                <a:lnTo>
                  <a:pt x="32409" y="654340"/>
                </a:lnTo>
                <a:lnTo>
                  <a:pt x="46098" y="658075"/>
                </a:lnTo>
                <a:lnTo>
                  <a:pt x="47090" y="658075"/>
                </a:lnTo>
                <a:lnTo>
                  <a:pt x="52552" y="658444"/>
                </a:lnTo>
                <a:lnTo>
                  <a:pt x="8268474" y="658075"/>
                </a:lnTo>
                <a:lnTo>
                  <a:pt x="8305647" y="642735"/>
                </a:lnTo>
                <a:lnTo>
                  <a:pt x="8319112" y="619426"/>
                </a:lnTo>
                <a:lnTo>
                  <a:pt x="8319192" y="619199"/>
                </a:lnTo>
                <a:lnTo>
                  <a:pt x="8320529" y="612670"/>
                </a:lnTo>
                <a:lnTo>
                  <a:pt x="8320572" y="612463"/>
                </a:lnTo>
                <a:lnTo>
                  <a:pt x="8321016" y="605878"/>
                </a:lnTo>
                <a:lnTo>
                  <a:pt x="8320671" y="52565"/>
                </a:lnTo>
                <a:lnTo>
                  <a:pt x="8305331" y="15390"/>
                </a:lnTo>
                <a:lnTo>
                  <a:pt x="8275059" y="466"/>
                </a:lnTo>
                <a:lnTo>
                  <a:pt x="8268119" y="0"/>
                </a:lnTo>
                <a:close/>
              </a:path>
            </a:pathLst>
          </a:custGeom>
          <a:solidFill>
            <a:srgbClr val="E5F3F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77" name="Google Shape;1677;p65"/>
          <p:cNvSpPr txBox="1"/>
          <p:nvPr/>
        </p:nvSpPr>
        <p:spPr>
          <a:xfrm>
            <a:off x="541705" y="4210102"/>
            <a:ext cx="7987030" cy="37655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1150">
                <a:solidFill>
                  <a:srgbClr val="0E756D"/>
                </a:solidFill>
                <a:latin typeface="Calibri"/>
                <a:ea typeface="Calibri"/>
                <a:cs typeface="Calibri"/>
                <a:sym typeface="Calibri"/>
              </a:rPr>
              <a:t>Why it matters: </a:t>
            </a:r>
            <a:r>
              <a:rPr lang="en-US" sz="1150">
                <a:solidFill>
                  <a:srgbClr val="1E2836"/>
                </a:solidFill>
                <a:latin typeface="Calibri"/>
                <a:ea typeface="Calibri"/>
                <a:cs typeface="Calibri"/>
                <a:sym typeface="Calibri"/>
              </a:rPr>
              <a:t>one head can only form one weighted average. Many heads let the model track grammar, meaning and position at the same time, in parallel, for almost the same cost (each head works in a smaller d</a:t>
            </a:r>
            <a:r>
              <a:rPr lang="en-US" sz="1150">
                <a:solidFill>
                  <a:srgbClr val="1E2836"/>
                </a:solidFill>
                <a:latin typeface="Times New Roman"/>
                <a:ea typeface="Times New Roman"/>
                <a:cs typeface="Times New Roman"/>
                <a:sym typeface="Times New Roman"/>
              </a:rPr>
              <a:t>ₖ </a:t>
            </a:r>
            <a:r>
              <a:rPr lang="en-US" sz="1150">
                <a:solidFill>
                  <a:srgbClr val="1E2836"/>
                </a:solidFill>
                <a:latin typeface="Calibri"/>
                <a:ea typeface="Calibri"/>
                <a:cs typeface="Calibri"/>
                <a:sym typeface="Calibri"/>
              </a:rPr>
              <a:t>= d / h).</a:t>
            </a:r>
            <a:endParaRPr sz="1150">
              <a:latin typeface="Calibri"/>
              <a:ea typeface="Calibri"/>
              <a:cs typeface="Calibri"/>
              <a:sym typeface="Calibri"/>
            </a:endParaRPr>
          </a:p>
        </p:txBody>
      </p:sp>
      <p:sp>
        <p:nvSpPr>
          <p:cNvPr id="1678" name="Google Shape;1678;p65"/>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2" name="Shape 1682"/>
        <p:cNvGrpSpPr/>
        <p:nvPr/>
      </p:nvGrpSpPr>
      <p:grpSpPr>
        <a:xfrm>
          <a:off x="0" y="0"/>
          <a:ext cx="0" cy="0"/>
          <a:chOff x="0" y="0"/>
          <a:chExt cx="0" cy="0"/>
        </a:xfrm>
      </p:grpSpPr>
      <p:sp>
        <p:nvSpPr>
          <p:cNvPr descr="$PPTXTitle" id="1683" name="Google Shape;1683;p66"/>
          <p:cNvSpPr txBox="1"/>
          <p:nvPr>
            <p:ph type="title"/>
          </p:nvPr>
        </p:nvSpPr>
        <p:spPr>
          <a:xfrm>
            <a:off x="2030653" y="201868"/>
            <a:ext cx="3983990" cy="3917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Where Transformers Run Today</a:t>
            </a:r>
            <a:endParaRPr/>
          </a:p>
        </p:txBody>
      </p:sp>
      <p:sp>
        <p:nvSpPr>
          <p:cNvPr id="1684" name="Google Shape;1684;p66"/>
          <p:cNvSpPr txBox="1"/>
          <p:nvPr/>
        </p:nvSpPr>
        <p:spPr>
          <a:xfrm>
            <a:off x="1611617" y="674181"/>
            <a:ext cx="4822190" cy="224154"/>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i="1" lang="en-US" sz="1300">
                <a:solidFill>
                  <a:srgbClr val="0E756D"/>
                </a:solidFill>
                <a:latin typeface="Cambria"/>
                <a:ea typeface="Cambria"/>
                <a:cs typeface="Cambria"/>
                <a:sym typeface="Cambria"/>
              </a:rPr>
              <a:t>The same building blocks you learned today, deployed at planetary scale</a:t>
            </a:r>
            <a:endParaRPr sz="1300">
              <a:latin typeface="Cambria"/>
              <a:ea typeface="Cambria"/>
              <a:cs typeface="Cambria"/>
              <a:sym typeface="Cambria"/>
            </a:endParaRPr>
          </a:p>
        </p:txBody>
      </p:sp>
      <p:pic>
        <p:nvPicPr>
          <p:cNvPr id="1685" name="Google Shape;1685;p66"/>
          <p:cNvPicPr preferRelativeResize="0"/>
          <p:nvPr/>
        </p:nvPicPr>
        <p:blipFill rotWithShape="1">
          <a:blip r:embed="rId3">
            <a:alphaModFix/>
          </a:blip>
          <a:srcRect b="0" l="0" r="0" t="0"/>
          <a:stretch/>
        </p:blipFill>
        <p:spPr>
          <a:xfrm>
            <a:off x="8369274" y="14"/>
            <a:ext cx="774357" cy="866508"/>
          </a:xfrm>
          <a:prstGeom prst="rect">
            <a:avLst/>
          </a:prstGeom>
          <a:noFill/>
          <a:ln>
            <a:noFill/>
          </a:ln>
        </p:spPr>
      </p:pic>
      <p:grpSp>
        <p:nvGrpSpPr>
          <p:cNvPr id="1686" name="Google Shape;1686;p66"/>
          <p:cNvGrpSpPr/>
          <p:nvPr/>
        </p:nvGrpSpPr>
        <p:grpSpPr>
          <a:xfrm>
            <a:off x="353885" y="1013017"/>
            <a:ext cx="2766237" cy="1577187"/>
            <a:chOff x="353885" y="1013017"/>
            <a:chExt cx="2766237" cy="1577187"/>
          </a:xfrm>
        </p:grpSpPr>
        <p:pic>
          <p:nvPicPr>
            <p:cNvPr id="1687" name="Google Shape;1687;p66"/>
            <p:cNvPicPr preferRelativeResize="0"/>
            <p:nvPr/>
          </p:nvPicPr>
          <p:blipFill rotWithShape="1">
            <a:blip r:embed="rId4">
              <a:alphaModFix/>
            </a:blip>
            <a:srcRect b="0" l="0" r="0" t="0"/>
            <a:stretch/>
          </p:blipFill>
          <p:spPr>
            <a:xfrm>
              <a:off x="353885" y="1013017"/>
              <a:ext cx="2766237" cy="1577187"/>
            </a:xfrm>
            <a:prstGeom prst="rect">
              <a:avLst/>
            </a:prstGeom>
            <a:noFill/>
            <a:ln>
              <a:noFill/>
            </a:ln>
          </p:spPr>
        </p:pic>
        <p:sp>
          <p:nvSpPr>
            <p:cNvPr id="1688" name="Google Shape;1688;p66"/>
            <p:cNvSpPr/>
            <p:nvPr/>
          </p:nvSpPr>
          <p:spPr>
            <a:xfrm>
              <a:off x="410756" y="1050838"/>
              <a:ext cx="2652395" cy="1463675"/>
            </a:xfrm>
            <a:custGeom>
              <a:rect b="b" l="l" r="r" t="t"/>
              <a:pathLst>
                <a:path extrusionOk="0" h="1463675" w="2652395">
                  <a:moveTo>
                    <a:pt x="88201" y="0"/>
                  </a:moveTo>
                  <a:lnTo>
                    <a:pt x="44284" y="11887"/>
                  </a:lnTo>
                  <a:lnTo>
                    <a:pt x="12242" y="43929"/>
                  </a:lnTo>
                  <a:lnTo>
                    <a:pt x="368" y="87845"/>
                  </a:lnTo>
                  <a:lnTo>
                    <a:pt x="0" y="1375562"/>
                  </a:lnTo>
                  <a:lnTo>
                    <a:pt x="742" y="1387083"/>
                  </a:lnTo>
                  <a:lnTo>
                    <a:pt x="18208" y="1429043"/>
                  </a:lnTo>
                  <a:lnTo>
                    <a:pt x="54229" y="1456721"/>
                  </a:lnTo>
                  <a:lnTo>
                    <a:pt x="87845" y="1463408"/>
                  </a:lnTo>
                  <a:lnTo>
                    <a:pt x="2564282" y="1463408"/>
                  </a:lnTo>
                  <a:lnTo>
                    <a:pt x="2608199" y="1451521"/>
                  </a:lnTo>
                  <a:lnTo>
                    <a:pt x="2640241" y="1419479"/>
                  </a:lnTo>
                  <a:lnTo>
                    <a:pt x="2652128" y="1375562"/>
                  </a:lnTo>
                  <a:lnTo>
                    <a:pt x="2652105" y="87845"/>
                  </a:lnTo>
                  <a:lnTo>
                    <a:pt x="2640241" y="44284"/>
                  </a:lnTo>
                  <a:lnTo>
                    <a:pt x="2608199" y="12242"/>
                  </a:lnTo>
                  <a:lnTo>
                    <a:pt x="2564282" y="368"/>
                  </a:lnTo>
                  <a:lnTo>
                    <a:pt x="8820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89" name="Google Shape;1689;p66"/>
            <p:cNvSpPr/>
            <p:nvPr/>
          </p:nvSpPr>
          <p:spPr>
            <a:xfrm>
              <a:off x="410756" y="1050838"/>
              <a:ext cx="2652395" cy="1463675"/>
            </a:xfrm>
            <a:custGeom>
              <a:rect b="b" l="l" r="r" t="t"/>
              <a:pathLst>
                <a:path extrusionOk="0" h="1463675" w="2652395">
                  <a:moveTo>
                    <a:pt x="368" y="87845"/>
                  </a:moveTo>
                  <a:lnTo>
                    <a:pt x="1109" y="76324"/>
                  </a:lnTo>
                  <a:lnTo>
                    <a:pt x="3333" y="65073"/>
                  </a:lnTo>
                  <a:lnTo>
                    <a:pt x="26101" y="25746"/>
                  </a:lnTo>
                  <a:lnTo>
                    <a:pt x="65433" y="2971"/>
                  </a:lnTo>
                  <a:lnTo>
                    <a:pt x="88201" y="0"/>
                  </a:lnTo>
                  <a:lnTo>
                    <a:pt x="2564282" y="368"/>
                  </a:lnTo>
                  <a:lnTo>
                    <a:pt x="2608199" y="12242"/>
                  </a:lnTo>
                  <a:lnTo>
                    <a:pt x="2640241" y="44284"/>
                  </a:lnTo>
                  <a:lnTo>
                    <a:pt x="2652128" y="88201"/>
                  </a:lnTo>
                  <a:lnTo>
                    <a:pt x="2652128" y="1375562"/>
                  </a:lnTo>
                  <a:lnTo>
                    <a:pt x="2651385" y="1387083"/>
                  </a:lnTo>
                  <a:lnTo>
                    <a:pt x="2649156" y="1398335"/>
                  </a:lnTo>
                  <a:lnTo>
                    <a:pt x="2626382" y="1437662"/>
                  </a:lnTo>
                  <a:lnTo>
                    <a:pt x="2587055" y="1460436"/>
                  </a:lnTo>
                  <a:lnTo>
                    <a:pt x="2564282" y="1463408"/>
                  </a:lnTo>
                  <a:lnTo>
                    <a:pt x="87845" y="1463408"/>
                  </a:lnTo>
                  <a:lnTo>
                    <a:pt x="43929" y="1451521"/>
                  </a:lnTo>
                  <a:lnTo>
                    <a:pt x="11887" y="1419479"/>
                  </a:lnTo>
                  <a:lnTo>
                    <a:pt x="0" y="1375562"/>
                  </a:lnTo>
                  <a:lnTo>
                    <a:pt x="368" y="87845"/>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90" name="Google Shape;1690;p66"/>
            <p:cNvSpPr/>
            <p:nvPr/>
          </p:nvSpPr>
          <p:spPr>
            <a:xfrm>
              <a:off x="548284" y="1188366"/>
              <a:ext cx="365760" cy="365760"/>
            </a:xfrm>
            <a:custGeom>
              <a:rect b="b" l="l" r="r" t="t"/>
              <a:pathLst>
                <a:path extrusionOk="0" h="365759" w="365759">
                  <a:moveTo>
                    <a:pt x="182880" y="0"/>
                  </a:moveTo>
                  <a:lnTo>
                    <a:pt x="135535" y="6164"/>
                  </a:lnTo>
                  <a:lnTo>
                    <a:pt x="91440" y="24472"/>
                  </a:lnTo>
                  <a:lnTo>
                    <a:pt x="53636" y="53636"/>
                  </a:lnTo>
                  <a:lnTo>
                    <a:pt x="24472" y="91439"/>
                  </a:lnTo>
                  <a:lnTo>
                    <a:pt x="6164" y="135535"/>
                  </a:lnTo>
                  <a:lnTo>
                    <a:pt x="0" y="182880"/>
                  </a:lnTo>
                  <a:lnTo>
                    <a:pt x="1546" y="206781"/>
                  </a:lnTo>
                  <a:lnTo>
                    <a:pt x="13817" y="252840"/>
                  </a:lnTo>
                  <a:lnTo>
                    <a:pt x="37874" y="294195"/>
                  </a:lnTo>
                  <a:lnTo>
                    <a:pt x="71559" y="327878"/>
                  </a:lnTo>
                  <a:lnTo>
                    <a:pt x="112912" y="351936"/>
                  </a:lnTo>
                  <a:lnTo>
                    <a:pt x="158971" y="364212"/>
                  </a:lnTo>
                  <a:lnTo>
                    <a:pt x="182880" y="365760"/>
                  </a:lnTo>
                  <a:lnTo>
                    <a:pt x="206781" y="364212"/>
                  </a:lnTo>
                  <a:lnTo>
                    <a:pt x="252840" y="351936"/>
                  </a:lnTo>
                  <a:lnTo>
                    <a:pt x="294195" y="327878"/>
                  </a:lnTo>
                  <a:lnTo>
                    <a:pt x="327878" y="294195"/>
                  </a:lnTo>
                  <a:lnTo>
                    <a:pt x="351936" y="252840"/>
                  </a:lnTo>
                  <a:lnTo>
                    <a:pt x="364212" y="206781"/>
                  </a:lnTo>
                  <a:lnTo>
                    <a:pt x="365759" y="182880"/>
                  </a:lnTo>
                  <a:lnTo>
                    <a:pt x="364212" y="158971"/>
                  </a:lnTo>
                  <a:lnTo>
                    <a:pt x="351936" y="112912"/>
                  </a:lnTo>
                  <a:lnTo>
                    <a:pt x="327878" y="71559"/>
                  </a:lnTo>
                  <a:lnTo>
                    <a:pt x="294195" y="37874"/>
                  </a:lnTo>
                  <a:lnTo>
                    <a:pt x="252840" y="13817"/>
                  </a:lnTo>
                  <a:lnTo>
                    <a:pt x="206781" y="1546"/>
                  </a:lnTo>
                  <a:lnTo>
                    <a:pt x="182880" y="0"/>
                  </a:lnTo>
                  <a:close/>
                </a:path>
              </a:pathLst>
            </a:custGeom>
            <a:solidFill>
              <a:srgbClr val="1D3FA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691" name="Google Shape;1691;p66"/>
          <p:cNvSpPr txBox="1"/>
          <p:nvPr/>
        </p:nvSpPr>
        <p:spPr>
          <a:xfrm>
            <a:off x="680300" y="1266738"/>
            <a:ext cx="10287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200">
                <a:solidFill>
                  <a:srgbClr val="FFFFFF"/>
                </a:solidFill>
                <a:latin typeface="Calibri"/>
                <a:ea typeface="Calibri"/>
                <a:cs typeface="Calibri"/>
                <a:sym typeface="Calibri"/>
              </a:rPr>
              <a:t>1</a:t>
            </a:r>
            <a:endParaRPr sz="1200">
              <a:latin typeface="Calibri"/>
              <a:ea typeface="Calibri"/>
              <a:cs typeface="Calibri"/>
              <a:sym typeface="Calibri"/>
            </a:endParaRPr>
          </a:p>
        </p:txBody>
      </p:sp>
      <p:sp>
        <p:nvSpPr>
          <p:cNvPr id="1692" name="Google Shape;1692;p66"/>
          <p:cNvSpPr txBox="1"/>
          <p:nvPr/>
        </p:nvSpPr>
        <p:spPr>
          <a:xfrm>
            <a:off x="993139" y="1255219"/>
            <a:ext cx="1074420"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0C1A29"/>
                </a:solidFill>
                <a:latin typeface="Calibri"/>
                <a:ea typeface="Calibri"/>
                <a:cs typeface="Calibri"/>
                <a:sym typeface="Calibri"/>
              </a:rPr>
              <a:t>Chat assistants</a:t>
            </a:r>
            <a:endParaRPr sz="1350">
              <a:latin typeface="Calibri"/>
              <a:ea typeface="Calibri"/>
              <a:cs typeface="Calibri"/>
              <a:sym typeface="Calibri"/>
            </a:endParaRPr>
          </a:p>
        </p:txBody>
      </p:sp>
      <p:sp>
        <p:nvSpPr>
          <p:cNvPr id="1693" name="Google Shape;1693;p66"/>
          <p:cNvSpPr txBox="1"/>
          <p:nvPr/>
        </p:nvSpPr>
        <p:spPr>
          <a:xfrm>
            <a:off x="535584" y="1632708"/>
            <a:ext cx="2178050" cy="554990"/>
          </a:xfrm>
          <a:prstGeom prst="rect">
            <a:avLst/>
          </a:prstGeom>
          <a:noFill/>
          <a:ln>
            <a:noFill/>
          </a:ln>
        </p:spPr>
        <p:txBody>
          <a:bodyPr anchorCtr="0" anchor="t" bIns="0" lIns="0" spcFirstLastPara="1" rIns="0" wrap="square" tIns="12700">
            <a:spAutoFit/>
          </a:bodyPr>
          <a:lstStyle/>
          <a:p>
            <a:pPr indent="0" lvl="0" marL="12700" marR="5080" rtl="0" algn="l">
              <a:lnSpc>
                <a:spcPct val="105200"/>
              </a:lnSpc>
              <a:spcBef>
                <a:spcPts val="0"/>
              </a:spcBef>
              <a:spcAft>
                <a:spcPts val="0"/>
              </a:spcAft>
              <a:buNone/>
            </a:pPr>
            <a:r>
              <a:rPr lang="en-US" sz="1100">
                <a:solidFill>
                  <a:srgbClr val="1E2836"/>
                </a:solidFill>
                <a:latin typeface="Calibri"/>
                <a:ea typeface="Calibri"/>
                <a:cs typeface="Calibri"/>
                <a:sym typeface="Calibri"/>
              </a:rPr>
              <a:t>ChatGPT, Gemini, Claude. GPT literally stands for Generative Pre-trained Transformer.</a:t>
            </a:r>
            <a:endParaRPr sz="1100">
              <a:latin typeface="Calibri"/>
              <a:ea typeface="Calibri"/>
              <a:cs typeface="Calibri"/>
              <a:sym typeface="Calibri"/>
            </a:endParaRPr>
          </a:p>
        </p:txBody>
      </p:sp>
      <p:grpSp>
        <p:nvGrpSpPr>
          <p:cNvPr id="1694" name="Google Shape;1694;p66"/>
          <p:cNvGrpSpPr/>
          <p:nvPr/>
        </p:nvGrpSpPr>
        <p:grpSpPr>
          <a:xfrm>
            <a:off x="3188525" y="1013017"/>
            <a:ext cx="2766237" cy="1577187"/>
            <a:chOff x="3188525" y="1013017"/>
            <a:chExt cx="2766237" cy="1577187"/>
          </a:xfrm>
        </p:grpSpPr>
        <p:pic>
          <p:nvPicPr>
            <p:cNvPr id="1695" name="Google Shape;1695;p66"/>
            <p:cNvPicPr preferRelativeResize="0"/>
            <p:nvPr/>
          </p:nvPicPr>
          <p:blipFill rotWithShape="1">
            <a:blip r:embed="rId4">
              <a:alphaModFix/>
            </a:blip>
            <a:srcRect b="0" l="0" r="0" t="0"/>
            <a:stretch/>
          </p:blipFill>
          <p:spPr>
            <a:xfrm>
              <a:off x="3188525" y="1013017"/>
              <a:ext cx="2766237" cy="1577187"/>
            </a:xfrm>
            <a:prstGeom prst="rect">
              <a:avLst/>
            </a:prstGeom>
            <a:noFill/>
            <a:ln>
              <a:noFill/>
            </a:ln>
          </p:spPr>
        </p:pic>
        <p:sp>
          <p:nvSpPr>
            <p:cNvPr id="1696" name="Google Shape;1696;p66"/>
            <p:cNvSpPr/>
            <p:nvPr/>
          </p:nvSpPr>
          <p:spPr>
            <a:xfrm>
              <a:off x="3245396" y="1050838"/>
              <a:ext cx="2652395" cy="1463675"/>
            </a:xfrm>
            <a:custGeom>
              <a:rect b="b" l="l" r="r" t="t"/>
              <a:pathLst>
                <a:path extrusionOk="0" h="1463675" w="2652395">
                  <a:moveTo>
                    <a:pt x="88201" y="0"/>
                  </a:moveTo>
                  <a:lnTo>
                    <a:pt x="44284" y="11887"/>
                  </a:lnTo>
                  <a:lnTo>
                    <a:pt x="12242" y="43929"/>
                  </a:lnTo>
                  <a:lnTo>
                    <a:pt x="368" y="87845"/>
                  </a:lnTo>
                  <a:lnTo>
                    <a:pt x="0" y="1375562"/>
                  </a:lnTo>
                  <a:lnTo>
                    <a:pt x="742" y="1387083"/>
                  </a:lnTo>
                  <a:lnTo>
                    <a:pt x="18208" y="1429043"/>
                  </a:lnTo>
                  <a:lnTo>
                    <a:pt x="54229" y="1456721"/>
                  </a:lnTo>
                  <a:lnTo>
                    <a:pt x="87845" y="1463408"/>
                  </a:lnTo>
                  <a:lnTo>
                    <a:pt x="2564282" y="1463408"/>
                  </a:lnTo>
                  <a:lnTo>
                    <a:pt x="2608199" y="1451521"/>
                  </a:lnTo>
                  <a:lnTo>
                    <a:pt x="2640241" y="1419479"/>
                  </a:lnTo>
                  <a:lnTo>
                    <a:pt x="2652128" y="1375562"/>
                  </a:lnTo>
                  <a:lnTo>
                    <a:pt x="2652105" y="87845"/>
                  </a:lnTo>
                  <a:lnTo>
                    <a:pt x="2640241" y="44284"/>
                  </a:lnTo>
                  <a:lnTo>
                    <a:pt x="2608199" y="12242"/>
                  </a:lnTo>
                  <a:lnTo>
                    <a:pt x="2564282" y="368"/>
                  </a:lnTo>
                  <a:lnTo>
                    <a:pt x="8820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97" name="Google Shape;1697;p66"/>
            <p:cNvSpPr/>
            <p:nvPr/>
          </p:nvSpPr>
          <p:spPr>
            <a:xfrm>
              <a:off x="3245396" y="1050838"/>
              <a:ext cx="2652395" cy="1463675"/>
            </a:xfrm>
            <a:custGeom>
              <a:rect b="b" l="l" r="r" t="t"/>
              <a:pathLst>
                <a:path extrusionOk="0" h="1463675" w="2652395">
                  <a:moveTo>
                    <a:pt x="368" y="87845"/>
                  </a:moveTo>
                  <a:lnTo>
                    <a:pt x="1109" y="76324"/>
                  </a:lnTo>
                  <a:lnTo>
                    <a:pt x="3333" y="65073"/>
                  </a:lnTo>
                  <a:lnTo>
                    <a:pt x="26101" y="25746"/>
                  </a:lnTo>
                  <a:lnTo>
                    <a:pt x="65433" y="2971"/>
                  </a:lnTo>
                  <a:lnTo>
                    <a:pt x="88201" y="0"/>
                  </a:lnTo>
                  <a:lnTo>
                    <a:pt x="2564282" y="368"/>
                  </a:lnTo>
                  <a:lnTo>
                    <a:pt x="2608199" y="12242"/>
                  </a:lnTo>
                  <a:lnTo>
                    <a:pt x="2640241" y="44284"/>
                  </a:lnTo>
                  <a:lnTo>
                    <a:pt x="2652128" y="88201"/>
                  </a:lnTo>
                  <a:lnTo>
                    <a:pt x="2652128" y="1375562"/>
                  </a:lnTo>
                  <a:lnTo>
                    <a:pt x="2651385" y="1387083"/>
                  </a:lnTo>
                  <a:lnTo>
                    <a:pt x="2649156" y="1398335"/>
                  </a:lnTo>
                  <a:lnTo>
                    <a:pt x="2626382" y="1437662"/>
                  </a:lnTo>
                  <a:lnTo>
                    <a:pt x="2587055" y="1460436"/>
                  </a:lnTo>
                  <a:lnTo>
                    <a:pt x="2564282" y="1463408"/>
                  </a:lnTo>
                  <a:lnTo>
                    <a:pt x="87845" y="1463408"/>
                  </a:lnTo>
                  <a:lnTo>
                    <a:pt x="43929" y="1451521"/>
                  </a:lnTo>
                  <a:lnTo>
                    <a:pt x="11887" y="1419479"/>
                  </a:lnTo>
                  <a:lnTo>
                    <a:pt x="0" y="1375562"/>
                  </a:lnTo>
                  <a:lnTo>
                    <a:pt x="368" y="87845"/>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98" name="Google Shape;1698;p66"/>
            <p:cNvSpPr/>
            <p:nvPr/>
          </p:nvSpPr>
          <p:spPr>
            <a:xfrm>
              <a:off x="3382924" y="1188366"/>
              <a:ext cx="365760" cy="365760"/>
            </a:xfrm>
            <a:custGeom>
              <a:rect b="b" l="l" r="r" t="t"/>
              <a:pathLst>
                <a:path extrusionOk="0" h="365759" w="365760">
                  <a:moveTo>
                    <a:pt x="182879" y="0"/>
                  </a:moveTo>
                  <a:lnTo>
                    <a:pt x="135535" y="6164"/>
                  </a:lnTo>
                  <a:lnTo>
                    <a:pt x="91439" y="24472"/>
                  </a:lnTo>
                  <a:lnTo>
                    <a:pt x="53636" y="53636"/>
                  </a:lnTo>
                  <a:lnTo>
                    <a:pt x="24472" y="91439"/>
                  </a:lnTo>
                  <a:lnTo>
                    <a:pt x="6164" y="135535"/>
                  </a:lnTo>
                  <a:lnTo>
                    <a:pt x="0" y="182880"/>
                  </a:lnTo>
                  <a:lnTo>
                    <a:pt x="1546" y="206781"/>
                  </a:lnTo>
                  <a:lnTo>
                    <a:pt x="13817" y="252840"/>
                  </a:lnTo>
                  <a:lnTo>
                    <a:pt x="37874" y="294195"/>
                  </a:lnTo>
                  <a:lnTo>
                    <a:pt x="71559" y="327878"/>
                  </a:lnTo>
                  <a:lnTo>
                    <a:pt x="112912" y="351936"/>
                  </a:lnTo>
                  <a:lnTo>
                    <a:pt x="158971" y="364212"/>
                  </a:lnTo>
                  <a:lnTo>
                    <a:pt x="182879" y="365760"/>
                  </a:lnTo>
                  <a:lnTo>
                    <a:pt x="206781" y="364212"/>
                  </a:lnTo>
                  <a:lnTo>
                    <a:pt x="252840" y="351936"/>
                  </a:lnTo>
                  <a:lnTo>
                    <a:pt x="294195" y="327878"/>
                  </a:lnTo>
                  <a:lnTo>
                    <a:pt x="327878" y="294195"/>
                  </a:lnTo>
                  <a:lnTo>
                    <a:pt x="351936" y="252840"/>
                  </a:lnTo>
                  <a:lnTo>
                    <a:pt x="364212" y="206781"/>
                  </a:lnTo>
                  <a:lnTo>
                    <a:pt x="365760" y="182880"/>
                  </a:lnTo>
                  <a:lnTo>
                    <a:pt x="364212" y="158971"/>
                  </a:lnTo>
                  <a:lnTo>
                    <a:pt x="351936" y="112912"/>
                  </a:lnTo>
                  <a:lnTo>
                    <a:pt x="327878" y="71559"/>
                  </a:lnTo>
                  <a:lnTo>
                    <a:pt x="294195" y="37874"/>
                  </a:lnTo>
                  <a:lnTo>
                    <a:pt x="252840" y="13817"/>
                  </a:lnTo>
                  <a:lnTo>
                    <a:pt x="206781" y="1546"/>
                  </a:lnTo>
                  <a:lnTo>
                    <a:pt x="182879" y="0"/>
                  </a:lnTo>
                  <a:close/>
                </a:path>
              </a:pathLst>
            </a:custGeom>
            <a:solidFill>
              <a:srgbClr val="0E756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699" name="Google Shape;1699;p66"/>
          <p:cNvSpPr txBox="1"/>
          <p:nvPr/>
        </p:nvSpPr>
        <p:spPr>
          <a:xfrm>
            <a:off x="3514940" y="1266738"/>
            <a:ext cx="10287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200">
                <a:solidFill>
                  <a:srgbClr val="FFFFFF"/>
                </a:solidFill>
                <a:latin typeface="Calibri"/>
                <a:ea typeface="Calibri"/>
                <a:cs typeface="Calibri"/>
                <a:sym typeface="Calibri"/>
              </a:rPr>
              <a:t>2</a:t>
            </a:r>
            <a:endParaRPr sz="1200">
              <a:latin typeface="Calibri"/>
              <a:ea typeface="Calibri"/>
              <a:cs typeface="Calibri"/>
              <a:sym typeface="Calibri"/>
            </a:endParaRPr>
          </a:p>
        </p:txBody>
      </p:sp>
      <p:sp>
        <p:nvSpPr>
          <p:cNvPr id="1700" name="Google Shape;1700;p66"/>
          <p:cNvSpPr txBox="1"/>
          <p:nvPr/>
        </p:nvSpPr>
        <p:spPr>
          <a:xfrm>
            <a:off x="3827779" y="1255219"/>
            <a:ext cx="848360"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0C1A29"/>
                </a:solidFill>
                <a:latin typeface="Calibri"/>
                <a:ea typeface="Calibri"/>
                <a:cs typeface="Calibri"/>
                <a:sym typeface="Calibri"/>
              </a:rPr>
              <a:t>Web search</a:t>
            </a:r>
            <a:endParaRPr sz="1350">
              <a:latin typeface="Calibri"/>
              <a:ea typeface="Calibri"/>
              <a:cs typeface="Calibri"/>
              <a:sym typeface="Calibri"/>
            </a:endParaRPr>
          </a:p>
        </p:txBody>
      </p:sp>
      <p:sp>
        <p:nvSpPr>
          <p:cNvPr id="1701" name="Google Shape;1701;p66"/>
          <p:cNvSpPr txBox="1"/>
          <p:nvPr/>
        </p:nvSpPr>
        <p:spPr>
          <a:xfrm>
            <a:off x="3370224" y="1632708"/>
            <a:ext cx="2372995" cy="554990"/>
          </a:xfrm>
          <a:prstGeom prst="rect">
            <a:avLst/>
          </a:prstGeom>
          <a:noFill/>
          <a:ln>
            <a:noFill/>
          </a:ln>
        </p:spPr>
        <p:txBody>
          <a:bodyPr anchorCtr="0" anchor="t" bIns="0" lIns="0" spcFirstLastPara="1" rIns="0" wrap="square" tIns="12700">
            <a:spAutoFit/>
          </a:bodyPr>
          <a:lstStyle/>
          <a:p>
            <a:pPr indent="0" lvl="0" marL="12700" marR="5080" rtl="0" algn="l">
              <a:lnSpc>
                <a:spcPct val="105200"/>
              </a:lnSpc>
              <a:spcBef>
                <a:spcPts val="0"/>
              </a:spcBef>
              <a:spcAft>
                <a:spcPts val="0"/>
              </a:spcAft>
              <a:buNone/>
            </a:pPr>
            <a:r>
              <a:rPr lang="en-US" sz="1100">
                <a:solidFill>
                  <a:srgbClr val="1E2836"/>
                </a:solidFill>
                <a:latin typeface="Calibri"/>
                <a:ea typeface="Calibri"/>
                <a:cs typeface="Calibri"/>
                <a:sym typeface="Calibri"/>
              </a:rPr>
              <a:t>Google Search has used BERT (an encoder-only Transformer) to understand queries since 2019.</a:t>
            </a:r>
            <a:endParaRPr sz="1100">
              <a:latin typeface="Calibri"/>
              <a:ea typeface="Calibri"/>
              <a:cs typeface="Calibri"/>
              <a:sym typeface="Calibri"/>
            </a:endParaRPr>
          </a:p>
        </p:txBody>
      </p:sp>
      <p:grpSp>
        <p:nvGrpSpPr>
          <p:cNvPr id="1702" name="Google Shape;1702;p66"/>
          <p:cNvGrpSpPr/>
          <p:nvPr/>
        </p:nvGrpSpPr>
        <p:grpSpPr>
          <a:xfrm>
            <a:off x="6023165" y="1013017"/>
            <a:ext cx="2766237" cy="1577187"/>
            <a:chOff x="6023165" y="1013017"/>
            <a:chExt cx="2766237" cy="1577187"/>
          </a:xfrm>
        </p:grpSpPr>
        <p:pic>
          <p:nvPicPr>
            <p:cNvPr id="1703" name="Google Shape;1703;p66"/>
            <p:cNvPicPr preferRelativeResize="0"/>
            <p:nvPr/>
          </p:nvPicPr>
          <p:blipFill rotWithShape="1">
            <a:blip r:embed="rId4">
              <a:alphaModFix/>
            </a:blip>
            <a:srcRect b="0" l="0" r="0" t="0"/>
            <a:stretch/>
          </p:blipFill>
          <p:spPr>
            <a:xfrm>
              <a:off x="6023165" y="1013017"/>
              <a:ext cx="2766237" cy="1577187"/>
            </a:xfrm>
            <a:prstGeom prst="rect">
              <a:avLst/>
            </a:prstGeom>
            <a:noFill/>
            <a:ln>
              <a:noFill/>
            </a:ln>
          </p:spPr>
        </p:pic>
        <p:sp>
          <p:nvSpPr>
            <p:cNvPr id="1704" name="Google Shape;1704;p66"/>
            <p:cNvSpPr/>
            <p:nvPr/>
          </p:nvSpPr>
          <p:spPr>
            <a:xfrm>
              <a:off x="6080036" y="1050838"/>
              <a:ext cx="2652395" cy="1463675"/>
            </a:xfrm>
            <a:custGeom>
              <a:rect b="b" l="l" r="r" t="t"/>
              <a:pathLst>
                <a:path extrusionOk="0" h="1463675" w="2652395">
                  <a:moveTo>
                    <a:pt x="88201" y="0"/>
                  </a:moveTo>
                  <a:lnTo>
                    <a:pt x="44284" y="11887"/>
                  </a:lnTo>
                  <a:lnTo>
                    <a:pt x="12242" y="43929"/>
                  </a:lnTo>
                  <a:lnTo>
                    <a:pt x="368" y="87845"/>
                  </a:lnTo>
                  <a:lnTo>
                    <a:pt x="0" y="1375562"/>
                  </a:lnTo>
                  <a:lnTo>
                    <a:pt x="742" y="1387083"/>
                  </a:lnTo>
                  <a:lnTo>
                    <a:pt x="18208" y="1429043"/>
                  </a:lnTo>
                  <a:lnTo>
                    <a:pt x="54229" y="1456721"/>
                  </a:lnTo>
                  <a:lnTo>
                    <a:pt x="87845" y="1463408"/>
                  </a:lnTo>
                  <a:lnTo>
                    <a:pt x="2564282" y="1463408"/>
                  </a:lnTo>
                  <a:lnTo>
                    <a:pt x="2608199" y="1451521"/>
                  </a:lnTo>
                  <a:lnTo>
                    <a:pt x="2640241" y="1419479"/>
                  </a:lnTo>
                  <a:lnTo>
                    <a:pt x="2652128" y="1375562"/>
                  </a:lnTo>
                  <a:lnTo>
                    <a:pt x="2652105" y="87845"/>
                  </a:lnTo>
                  <a:lnTo>
                    <a:pt x="2640241" y="44284"/>
                  </a:lnTo>
                  <a:lnTo>
                    <a:pt x="2608199" y="12242"/>
                  </a:lnTo>
                  <a:lnTo>
                    <a:pt x="2564282" y="368"/>
                  </a:lnTo>
                  <a:lnTo>
                    <a:pt x="8820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05" name="Google Shape;1705;p66"/>
            <p:cNvSpPr/>
            <p:nvPr/>
          </p:nvSpPr>
          <p:spPr>
            <a:xfrm>
              <a:off x="6080036" y="1050838"/>
              <a:ext cx="2652395" cy="1463675"/>
            </a:xfrm>
            <a:custGeom>
              <a:rect b="b" l="l" r="r" t="t"/>
              <a:pathLst>
                <a:path extrusionOk="0" h="1463675" w="2652395">
                  <a:moveTo>
                    <a:pt x="368" y="87845"/>
                  </a:moveTo>
                  <a:lnTo>
                    <a:pt x="1109" y="76324"/>
                  </a:lnTo>
                  <a:lnTo>
                    <a:pt x="3333" y="65073"/>
                  </a:lnTo>
                  <a:lnTo>
                    <a:pt x="26101" y="25746"/>
                  </a:lnTo>
                  <a:lnTo>
                    <a:pt x="65433" y="2971"/>
                  </a:lnTo>
                  <a:lnTo>
                    <a:pt x="88201" y="0"/>
                  </a:lnTo>
                  <a:lnTo>
                    <a:pt x="2564282" y="368"/>
                  </a:lnTo>
                  <a:lnTo>
                    <a:pt x="2608199" y="12242"/>
                  </a:lnTo>
                  <a:lnTo>
                    <a:pt x="2640241" y="44284"/>
                  </a:lnTo>
                  <a:lnTo>
                    <a:pt x="2652128" y="88201"/>
                  </a:lnTo>
                  <a:lnTo>
                    <a:pt x="2652128" y="1375562"/>
                  </a:lnTo>
                  <a:lnTo>
                    <a:pt x="2651385" y="1387083"/>
                  </a:lnTo>
                  <a:lnTo>
                    <a:pt x="2649156" y="1398335"/>
                  </a:lnTo>
                  <a:lnTo>
                    <a:pt x="2626382" y="1437662"/>
                  </a:lnTo>
                  <a:lnTo>
                    <a:pt x="2587055" y="1460436"/>
                  </a:lnTo>
                  <a:lnTo>
                    <a:pt x="2564282" y="1463408"/>
                  </a:lnTo>
                  <a:lnTo>
                    <a:pt x="87845" y="1463408"/>
                  </a:lnTo>
                  <a:lnTo>
                    <a:pt x="43929" y="1451521"/>
                  </a:lnTo>
                  <a:lnTo>
                    <a:pt x="11887" y="1419479"/>
                  </a:lnTo>
                  <a:lnTo>
                    <a:pt x="0" y="1375562"/>
                  </a:lnTo>
                  <a:lnTo>
                    <a:pt x="368" y="87845"/>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06" name="Google Shape;1706;p66"/>
            <p:cNvSpPr/>
            <p:nvPr/>
          </p:nvSpPr>
          <p:spPr>
            <a:xfrm>
              <a:off x="6217564" y="1188366"/>
              <a:ext cx="365760" cy="365760"/>
            </a:xfrm>
            <a:custGeom>
              <a:rect b="b" l="l" r="r" t="t"/>
              <a:pathLst>
                <a:path extrusionOk="0" h="365759" w="365759">
                  <a:moveTo>
                    <a:pt x="182879" y="0"/>
                  </a:moveTo>
                  <a:lnTo>
                    <a:pt x="135535" y="6164"/>
                  </a:lnTo>
                  <a:lnTo>
                    <a:pt x="91439" y="24472"/>
                  </a:lnTo>
                  <a:lnTo>
                    <a:pt x="53636" y="53636"/>
                  </a:lnTo>
                  <a:lnTo>
                    <a:pt x="24472" y="91439"/>
                  </a:lnTo>
                  <a:lnTo>
                    <a:pt x="6164" y="135535"/>
                  </a:lnTo>
                  <a:lnTo>
                    <a:pt x="0" y="182880"/>
                  </a:lnTo>
                  <a:lnTo>
                    <a:pt x="1546" y="206781"/>
                  </a:lnTo>
                  <a:lnTo>
                    <a:pt x="13817" y="252840"/>
                  </a:lnTo>
                  <a:lnTo>
                    <a:pt x="37874" y="294195"/>
                  </a:lnTo>
                  <a:lnTo>
                    <a:pt x="71559" y="327878"/>
                  </a:lnTo>
                  <a:lnTo>
                    <a:pt x="112912" y="351936"/>
                  </a:lnTo>
                  <a:lnTo>
                    <a:pt x="158971" y="364212"/>
                  </a:lnTo>
                  <a:lnTo>
                    <a:pt x="182879" y="365760"/>
                  </a:lnTo>
                  <a:lnTo>
                    <a:pt x="206781" y="364212"/>
                  </a:lnTo>
                  <a:lnTo>
                    <a:pt x="252840" y="351936"/>
                  </a:lnTo>
                  <a:lnTo>
                    <a:pt x="294195" y="327878"/>
                  </a:lnTo>
                  <a:lnTo>
                    <a:pt x="327878" y="294195"/>
                  </a:lnTo>
                  <a:lnTo>
                    <a:pt x="351936" y="252840"/>
                  </a:lnTo>
                  <a:lnTo>
                    <a:pt x="364212" y="206781"/>
                  </a:lnTo>
                  <a:lnTo>
                    <a:pt x="365759" y="182880"/>
                  </a:lnTo>
                  <a:lnTo>
                    <a:pt x="364212" y="158971"/>
                  </a:lnTo>
                  <a:lnTo>
                    <a:pt x="351936" y="112912"/>
                  </a:lnTo>
                  <a:lnTo>
                    <a:pt x="327878" y="71559"/>
                  </a:lnTo>
                  <a:lnTo>
                    <a:pt x="294195" y="37874"/>
                  </a:lnTo>
                  <a:lnTo>
                    <a:pt x="252840" y="13817"/>
                  </a:lnTo>
                  <a:lnTo>
                    <a:pt x="206781" y="1546"/>
                  </a:lnTo>
                  <a:lnTo>
                    <a:pt x="182879" y="0"/>
                  </a:lnTo>
                  <a:close/>
                </a:path>
              </a:pathLst>
            </a:custGeom>
            <a:solidFill>
              <a:srgbClr val="6C27D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707" name="Google Shape;1707;p66"/>
          <p:cNvSpPr txBox="1"/>
          <p:nvPr/>
        </p:nvSpPr>
        <p:spPr>
          <a:xfrm>
            <a:off x="6349581" y="1266738"/>
            <a:ext cx="10287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200">
                <a:solidFill>
                  <a:srgbClr val="FFFFFF"/>
                </a:solidFill>
                <a:latin typeface="Calibri"/>
                <a:ea typeface="Calibri"/>
                <a:cs typeface="Calibri"/>
                <a:sym typeface="Calibri"/>
              </a:rPr>
              <a:t>3</a:t>
            </a:r>
            <a:endParaRPr sz="1200">
              <a:latin typeface="Calibri"/>
              <a:ea typeface="Calibri"/>
              <a:cs typeface="Calibri"/>
              <a:sym typeface="Calibri"/>
            </a:endParaRPr>
          </a:p>
        </p:txBody>
      </p:sp>
      <p:sp>
        <p:nvSpPr>
          <p:cNvPr id="1708" name="Google Shape;1708;p66"/>
          <p:cNvSpPr txBox="1"/>
          <p:nvPr/>
        </p:nvSpPr>
        <p:spPr>
          <a:xfrm>
            <a:off x="6662419" y="1255219"/>
            <a:ext cx="532130"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0C1A29"/>
                </a:solidFill>
                <a:latin typeface="Calibri"/>
                <a:ea typeface="Calibri"/>
                <a:cs typeface="Calibri"/>
                <a:sym typeface="Calibri"/>
              </a:rPr>
              <a:t>Speech</a:t>
            </a:r>
            <a:endParaRPr sz="1350">
              <a:latin typeface="Calibri"/>
              <a:ea typeface="Calibri"/>
              <a:cs typeface="Calibri"/>
              <a:sym typeface="Calibri"/>
            </a:endParaRPr>
          </a:p>
        </p:txBody>
      </p:sp>
      <p:sp>
        <p:nvSpPr>
          <p:cNvPr id="1709" name="Google Shape;1709;p66"/>
          <p:cNvSpPr txBox="1"/>
          <p:nvPr/>
        </p:nvSpPr>
        <p:spPr>
          <a:xfrm>
            <a:off x="6204864" y="1632708"/>
            <a:ext cx="2192655" cy="554990"/>
          </a:xfrm>
          <a:prstGeom prst="rect">
            <a:avLst/>
          </a:prstGeom>
          <a:noFill/>
          <a:ln>
            <a:noFill/>
          </a:ln>
        </p:spPr>
        <p:txBody>
          <a:bodyPr anchorCtr="0" anchor="t" bIns="0" lIns="0" spcFirstLastPara="1" rIns="0" wrap="square" tIns="12700">
            <a:spAutoFit/>
          </a:bodyPr>
          <a:lstStyle/>
          <a:p>
            <a:pPr indent="0" lvl="0" marL="12700" marR="5080" rtl="0" algn="just">
              <a:lnSpc>
                <a:spcPct val="105200"/>
              </a:lnSpc>
              <a:spcBef>
                <a:spcPts val="0"/>
              </a:spcBef>
              <a:spcAft>
                <a:spcPts val="0"/>
              </a:spcAft>
              <a:buNone/>
            </a:pPr>
            <a:r>
              <a:rPr lang="en-US" sz="1100">
                <a:solidFill>
                  <a:srgbClr val="1E2836"/>
                </a:solidFill>
                <a:latin typeface="Calibri"/>
                <a:ea typeface="Calibri"/>
                <a:cs typeface="Calibri"/>
                <a:sym typeface="Calibri"/>
              </a:rPr>
              <a:t>OpenAI Whisper, an encoder-decoder Transformer, powers transcription and auto-subtitles.</a:t>
            </a:r>
            <a:endParaRPr sz="1100">
              <a:latin typeface="Calibri"/>
              <a:ea typeface="Calibri"/>
              <a:cs typeface="Calibri"/>
              <a:sym typeface="Calibri"/>
            </a:endParaRPr>
          </a:p>
        </p:txBody>
      </p:sp>
      <p:grpSp>
        <p:nvGrpSpPr>
          <p:cNvPr id="1710" name="Google Shape;1710;p66"/>
          <p:cNvGrpSpPr/>
          <p:nvPr/>
        </p:nvGrpSpPr>
        <p:grpSpPr>
          <a:xfrm>
            <a:off x="353885" y="2640586"/>
            <a:ext cx="2766237" cy="1577174"/>
            <a:chOff x="353885" y="2640586"/>
            <a:chExt cx="2766237" cy="1577174"/>
          </a:xfrm>
        </p:grpSpPr>
        <p:pic>
          <p:nvPicPr>
            <p:cNvPr id="1711" name="Google Shape;1711;p66"/>
            <p:cNvPicPr preferRelativeResize="0"/>
            <p:nvPr/>
          </p:nvPicPr>
          <p:blipFill rotWithShape="1">
            <a:blip r:embed="rId4">
              <a:alphaModFix/>
            </a:blip>
            <a:srcRect b="0" l="0" r="0" t="0"/>
            <a:stretch/>
          </p:blipFill>
          <p:spPr>
            <a:xfrm>
              <a:off x="353885" y="2640586"/>
              <a:ext cx="2766237" cy="1577174"/>
            </a:xfrm>
            <a:prstGeom prst="rect">
              <a:avLst/>
            </a:prstGeom>
            <a:noFill/>
            <a:ln>
              <a:noFill/>
            </a:ln>
          </p:spPr>
        </p:pic>
        <p:sp>
          <p:nvSpPr>
            <p:cNvPr id="1712" name="Google Shape;1712;p66"/>
            <p:cNvSpPr/>
            <p:nvPr/>
          </p:nvSpPr>
          <p:spPr>
            <a:xfrm>
              <a:off x="410756" y="2678406"/>
              <a:ext cx="2652395" cy="1463675"/>
            </a:xfrm>
            <a:custGeom>
              <a:rect b="b" l="l" r="r" t="t"/>
              <a:pathLst>
                <a:path extrusionOk="0" h="1463675" w="2652395">
                  <a:moveTo>
                    <a:pt x="88201" y="0"/>
                  </a:moveTo>
                  <a:lnTo>
                    <a:pt x="44284" y="11874"/>
                  </a:lnTo>
                  <a:lnTo>
                    <a:pt x="12242" y="43916"/>
                  </a:lnTo>
                  <a:lnTo>
                    <a:pt x="368" y="87833"/>
                  </a:lnTo>
                  <a:lnTo>
                    <a:pt x="0" y="1375549"/>
                  </a:lnTo>
                  <a:lnTo>
                    <a:pt x="742" y="1387071"/>
                  </a:lnTo>
                  <a:lnTo>
                    <a:pt x="18208" y="1429041"/>
                  </a:lnTo>
                  <a:lnTo>
                    <a:pt x="54229" y="1456714"/>
                  </a:lnTo>
                  <a:lnTo>
                    <a:pt x="87845" y="1463395"/>
                  </a:lnTo>
                  <a:lnTo>
                    <a:pt x="2564282" y="1463395"/>
                  </a:lnTo>
                  <a:lnTo>
                    <a:pt x="2608199" y="1451521"/>
                  </a:lnTo>
                  <a:lnTo>
                    <a:pt x="2640241" y="1419479"/>
                  </a:lnTo>
                  <a:lnTo>
                    <a:pt x="2652128" y="1375549"/>
                  </a:lnTo>
                  <a:lnTo>
                    <a:pt x="2652104" y="87833"/>
                  </a:lnTo>
                  <a:lnTo>
                    <a:pt x="2640241" y="44272"/>
                  </a:lnTo>
                  <a:lnTo>
                    <a:pt x="2608199" y="12230"/>
                  </a:lnTo>
                  <a:lnTo>
                    <a:pt x="2564282" y="355"/>
                  </a:lnTo>
                  <a:lnTo>
                    <a:pt x="8820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13" name="Google Shape;1713;p66"/>
            <p:cNvSpPr/>
            <p:nvPr/>
          </p:nvSpPr>
          <p:spPr>
            <a:xfrm>
              <a:off x="410756" y="2678406"/>
              <a:ext cx="2652395" cy="1463675"/>
            </a:xfrm>
            <a:custGeom>
              <a:rect b="b" l="l" r="r" t="t"/>
              <a:pathLst>
                <a:path extrusionOk="0" h="1463675" w="2652395">
                  <a:moveTo>
                    <a:pt x="368" y="87833"/>
                  </a:moveTo>
                  <a:lnTo>
                    <a:pt x="1109" y="76313"/>
                  </a:lnTo>
                  <a:lnTo>
                    <a:pt x="3333" y="65065"/>
                  </a:lnTo>
                  <a:lnTo>
                    <a:pt x="26101" y="25733"/>
                  </a:lnTo>
                  <a:lnTo>
                    <a:pt x="65433" y="2965"/>
                  </a:lnTo>
                  <a:lnTo>
                    <a:pt x="88201" y="0"/>
                  </a:lnTo>
                  <a:lnTo>
                    <a:pt x="2564282" y="355"/>
                  </a:lnTo>
                  <a:lnTo>
                    <a:pt x="2608199" y="12230"/>
                  </a:lnTo>
                  <a:lnTo>
                    <a:pt x="2640241" y="44272"/>
                  </a:lnTo>
                  <a:lnTo>
                    <a:pt x="2652128" y="88201"/>
                  </a:lnTo>
                  <a:lnTo>
                    <a:pt x="2652128" y="1375549"/>
                  </a:lnTo>
                  <a:lnTo>
                    <a:pt x="2651385" y="1387071"/>
                  </a:lnTo>
                  <a:lnTo>
                    <a:pt x="2649156" y="1398323"/>
                  </a:lnTo>
                  <a:lnTo>
                    <a:pt x="2626382" y="1437657"/>
                  </a:lnTo>
                  <a:lnTo>
                    <a:pt x="2587055" y="1460425"/>
                  </a:lnTo>
                  <a:lnTo>
                    <a:pt x="2564282" y="1463395"/>
                  </a:lnTo>
                  <a:lnTo>
                    <a:pt x="87845" y="1463395"/>
                  </a:lnTo>
                  <a:lnTo>
                    <a:pt x="43929" y="1451521"/>
                  </a:lnTo>
                  <a:lnTo>
                    <a:pt x="11887" y="1419479"/>
                  </a:lnTo>
                  <a:lnTo>
                    <a:pt x="0" y="1375549"/>
                  </a:lnTo>
                  <a:lnTo>
                    <a:pt x="368" y="87833"/>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14" name="Google Shape;1714;p66"/>
            <p:cNvSpPr/>
            <p:nvPr/>
          </p:nvSpPr>
          <p:spPr>
            <a:xfrm>
              <a:off x="548284" y="2815922"/>
              <a:ext cx="365760" cy="365760"/>
            </a:xfrm>
            <a:custGeom>
              <a:rect b="b" l="l" r="r" t="t"/>
              <a:pathLst>
                <a:path extrusionOk="0" h="365760" w="365759">
                  <a:moveTo>
                    <a:pt x="182880" y="0"/>
                  </a:moveTo>
                  <a:lnTo>
                    <a:pt x="135535" y="6165"/>
                  </a:lnTo>
                  <a:lnTo>
                    <a:pt x="91440" y="24485"/>
                  </a:lnTo>
                  <a:lnTo>
                    <a:pt x="53636" y="53638"/>
                  </a:lnTo>
                  <a:lnTo>
                    <a:pt x="24472" y="91440"/>
                  </a:lnTo>
                  <a:lnTo>
                    <a:pt x="6164" y="135540"/>
                  </a:lnTo>
                  <a:lnTo>
                    <a:pt x="0" y="182880"/>
                  </a:lnTo>
                  <a:lnTo>
                    <a:pt x="1546" y="206786"/>
                  </a:lnTo>
                  <a:lnTo>
                    <a:pt x="13817" y="252842"/>
                  </a:lnTo>
                  <a:lnTo>
                    <a:pt x="37874" y="294200"/>
                  </a:lnTo>
                  <a:lnTo>
                    <a:pt x="71559" y="327880"/>
                  </a:lnTo>
                  <a:lnTo>
                    <a:pt x="112912" y="351936"/>
                  </a:lnTo>
                  <a:lnTo>
                    <a:pt x="158971" y="364212"/>
                  </a:lnTo>
                  <a:lnTo>
                    <a:pt x="182880" y="365760"/>
                  </a:lnTo>
                  <a:lnTo>
                    <a:pt x="206781" y="364212"/>
                  </a:lnTo>
                  <a:lnTo>
                    <a:pt x="252840" y="351936"/>
                  </a:lnTo>
                  <a:lnTo>
                    <a:pt x="294195" y="327880"/>
                  </a:lnTo>
                  <a:lnTo>
                    <a:pt x="327878" y="294200"/>
                  </a:lnTo>
                  <a:lnTo>
                    <a:pt x="351936" y="252842"/>
                  </a:lnTo>
                  <a:lnTo>
                    <a:pt x="364212" y="206786"/>
                  </a:lnTo>
                  <a:lnTo>
                    <a:pt x="365759" y="182880"/>
                  </a:lnTo>
                  <a:lnTo>
                    <a:pt x="364212" y="158973"/>
                  </a:lnTo>
                  <a:lnTo>
                    <a:pt x="351936" y="112917"/>
                  </a:lnTo>
                  <a:lnTo>
                    <a:pt x="327878" y="71559"/>
                  </a:lnTo>
                  <a:lnTo>
                    <a:pt x="294195" y="37879"/>
                  </a:lnTo>
                  <a:lnTo>
                    <a:pt x="252840" y="13823"/>
                  </a:lnTo>
                  <a:lnTo>
                    <a:pt x="206781" y="1547"/>
                  </a:lnTo>
                  <a:lnTo>
                    <a:pt x="182880" y="0"/>
                  </a:lnTo>
                  <a:close/>
                </a:path>
              </a:pathLst>
            </a:custGeom>
            <a:solidFill>
              <a:srgbClr val="C1400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715" name="Google Shape;1715;p66"/>
          <p:cNvSpPr txBox="1"/>
          <p:nvPr/>
        </p:nvSpPr>
        <p:spPr>
          <a:xfrm>
            <a:off x="680300" y="2894293"/>
            <a:ext cx="10287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200">
                <a:solidFill>
                  <a:srgbClr val="FFFFFF"/>
                </a:solidFill>
                <a:latin typeface="Calibri"/>
                <a:ea typeface="Calibri"/>
                <a:cs typeface="Calibri"/>
                <a:sym typeface="Calibri"/>
              </a:rPr>
              <a:t>4</a:t>
            </a:r>
            <a:endParaRPr sz="1200">
              <a:latin typeface="Calibri"/>
              <a:ea typeface="Calibri"/>
              <a:cs typeface="Calibri"/>
              <a:sym typeface="Calibri"/>
            </a:endParaRPr>
          </a:p>
        </p:txBody>
      </p:sp>
      <p:sp>
        <p:nvSpPr>
          <p:cNvPr id="1716" name="Google Shape;1716;p66"/>
          <p:cNvSpPr txBox="1"/>
          <p:nvPr/>
        </p:nvSpPr>
        <p:spPr>
          <a:xfrm>
            <a:off x="993139" y="2882775"/>
            <a:ext cx="549910"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0C1A29"/>
                </a:solidFill>
                <a:latin typeface="Calibri"/>
                <a:ea typeface="Calibri"/>
                <a:cs typeface="Calibri"/>
                <a:sym typeface="Calibri"/>
              </a:rPr>
              <a:t>Biology</a:t>
            </a:r>
            <a:endParaRPr sz="1350">
              <a:latin typeface="Calibri"/>
              <a:ea typeface="Calibri"/>
              <a:cs typeface="Calibri"/>
              <a:sym typeface="Calibri"/>
            </a:endParaRPr>
          </a:p>
        </p:txBody>
      </p:sp>
      <p:sp>
        <p:nvSpPr>
          <p:cNvPr id="1717" name="Google Shape;1717;p66"/>
          <p:cNvSpPr txBox="1"/>
          <p:nvPr/>
        </p:nvSpPr>
        <p:spPr>
          <a:xfrm>
            <a:off x="535584" y="3260290"/>
            <a:ext cx="2148205" cy="554990"/>
          </a:xfrm>
          <a:prstGeom prst="rect">
            <a:avLst/>
          </a:prstGeom>
          <a:noFill/>
          <a:ln>
            <a:noFill/>
          </a:ln>
        </p:spPr>
        <p:txBody>
          <a:bodyPr anchorCtr="0" anchor="t" bIns="0" lIns="0" spcFirstLastPara="1" rIns="0" wrap="square" tIns="12700">
            <a:spAutoFit/>
          </a:bodyPr>
          <a:lstStyle/>
          <a:p>
            <a:pPr indent="0" lvl="0" marL="12700" marR="5080" rtl="0" algn="just">
              <a:lnSpc>
                <a:spcPct val="105200"/>
              </a:lnSpc>
              <a:spcBef>
                <a:spcPts val="0"/>
              </a:spcBef>
              <a:spcAft>
                <a:spcPts val="0"/>
              </a:spcAft>
              <a:buNone/>
            </a:pPr>
            <a:r>
              <a:rPr lang="en-US" sz="1100">
                <a:solidFill>
                  <a:srgbClr val="1E2836"/>
                </a:solidFill>
                <a:latin typeface="Calibri"/>
                <a:ea typeface="Calibri"/>
                <a:cs typeface="Calibri"/>
                <a:sym typeface="Calibri"/>
              </a:rPr>
              <a:t>AlphaFold 2 uses attention to predict protein structures; it shared the 2024 Nobel Prize in Chemistry.</a:t>
            </a:r>
            <a:endParaRPr sz="1100">
              <a:latin typeface="Calibri"/>
              <a:ea typeface="Calibri"/>
              <a:cs typeface="Calibri"/>
              <a:sym typeface="Calibri"/>
            </a:endParaRPr>
          </a:p>
        </p:txBody>
      </p:sp>
      <p:grpSp>
        <p:nvGrpSpPr>
          <p:cNvPr id="1718" name="Google Shape;1718;p66"/>
          <p:cNvGrpSpPr/>
          <p:nvPr/>
        </p:nvGrpSpPr>
        <p:grpSpPr>
          <a:xfrm>
            <a:off x="3188525" y="2640586"/>
            <a:ext cx="2766237" cy="1577174"/>
            <a:chOff x="3188525" y="2640586"/>
            <a:chExt cx="2766237" cy="1577174"/>
          </a:xfrm>
        </p:grpSpPr>
        <p:pic>
          <p:nvPicPr>
            <p:cNvPr id="1719" name="Google Shape;1719;p66"/>
            <p:cNvPicPr preferRelativeResize="0"/>
            <p:nvPr/>
          </p:nvPicPr>
          <p:blipFill rotWithShape="1">
            <a:blip r:embed="rId4">
              <a:alphaModFix/>
            </a:blip>
            <a:srcRect b="0" l="0" r="0" t="0"/>
            <a:stretch/>
          </p:blipFill>
          <p:spPr>
            <a:xfrm>
              <a:off x="3188525" y="2640586"/>
              <a:ext cx="2766237" cy="1577174"/>
            </a:xfrm>
            <a:prstGeom prst="rect">
              <a:avLst/>
            </a:prstGeom>
            <a:noFill/>
            <a:ln>
              <a:noFill/>
            </a:ln>
          </p:spPr>
        </p:pic>
        <p:sp>
          <p:nvSpPr>
            <p:cNvPr id="1720" name="Google Shape;1720;p66"/>
            <p:cNvSpPr/>
            <p:nvPr/>
          </p:nvSpPr>
          <p:spPr>
            <a:xfrm>
              <a:off x="3245396" y="2678406"/>
              <a:ext cx="2652395" cy="1463675"/>
            </a:xfrm>
            <a:custGeom>
              <a:rect b="b" l="l" r="r" t="t"/>
              <a:pathLst>
                <a:path extrusionOk="0" h="1463675" w="2652395">
                  <a:moveTo>
                    <a:pt x="88201" y="0"/>
                  </a:moveTo>
                  <a:lnTo>
                    <a:pt x="44284" y="11874"/>
                  </a:lnTo>
                  <a:lnTo>
                    <a:pt x="12242" y="43916"/>
                  </a:lnTo>
                  <a:lnTo>
                    <a:pt x="368" y="87833"/>
                  </a:lnTo>
                  <a:lnTo>
                    <a:pt x="0" y="1375549"/>
                  </a:lnTo>
                  <a:lnTo>
                    <a:pt x="742" y="1387071"/>
                  </a:lnTo>
                  <a:lnTo>
                    <a:pt x="18208" y="1429041"/>
                  </a:lnTo>
                  <a:lnTo>
                    <a:pt x="54229" y="1456714"/>
                  </a:lnTo>
                  <a:lnTo>
                    <a:pt x="87845" y="1463395"/>
                  </a:lnTo>
                  <a:lnTo>
                    <a:pt x="2564282" y="1463395"/>
                  </a:lnTo>
                  <a:lnTo>
                    <a:pt x="2608199" y="1451521"/>
                  </a:lnTo>
                  <a:lnTo>
                    <a:pt x="2640241" y="1419479"/>
                  </a:lnTo>
                  <a:lnTo>
                    <a:pt x="2652128" y="1375549"/>
                  </a:lnTo>
                  <a:lnTo>
                    <a:pt x="2652104" y="87833"/>
                  </a:lnTo>
                  <a:lnTo>
                    <a:pt x="2640241" y="44272"/>
                  </a:lnTo>
                  <a:lnTo>
                    <a:pt x="2608199" y="12230"/>
                  </a:lnTo>
                  <a:lnTo>
                    <a:pt x="2564282" y="355"/>
                  </a:lnTo>
                  <a:lnTo>
                    <a:pt x="8820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21" name="Google Shape;1721;p66"/>
            <p:cNvSpPr/>
            <p:nvPr/>
          </p:nvSpPr>
          <p:spPr>
            <a:xfrm>
              <a:off x="3245396" y="2678406"/>
              <a:ext cx="2652395" cy="1463675"/>
            </a:xfrm>
            <a:custGeom>
              <a:rect b="b" l="l" r="r" t="t"/>
              <a:pathLst>
                <a:path extrusionOk="0" h="1463675" w="2652395">
                  <a:moveTo>
                    <a:pt x="368" y="87833"/>
                  </a:moveTo>
                  <a:lnTo>
                    <a:pt x="1109" y="76313"/>
                  </a:lnTo>
                  <a:lnTo>
                    <a:pt x="3333" y="65065"/>
                  </a:lnTo>
                  <a:lnTo>
                    <a:pt x="26101" y="25733"/>
                  </a:lnTo>
                  <a:lnTo>
                    <a:pt x="65433" y="2965"/>
                  </a:lnTo>
                  <a:lnTo>
                    <a:pt x="88201" y="0"/>
                  </a:lnTo>
                  <a:lnTo>
                    <a:pt x="2564282" y="355"/>
                  </a:lnTo>
                  <a:lnTo>
                    <a:pt x="2608199" y="12230"/>
                  </a:lnTo>
                  <a:lnTo>
                    <a:pt x="2640241" y="44272"/>
                  </a:lnTo>
                  <a:lnTo>
                    <a:pt x="2652128" y="88201"/>
                  </a:lnTo>
                  <a:lnTo>
                    <a:pt x="2652128" y="1375549"/>
                  </a:lnTo>
                  <a:lnTo>
                    <a:pt x="2651385" y="1387071"/>
                  </a:lnTo>
                  <a:lnTo>
                    <a:pt x="2649156" y="1398323"/>
                  </a:lnTo>
                  <a:lnTo>
                    <a:pt x="2626382" y="1437657"/>
                  </a:lnTo>
                  <a:lnTo>
                    <a:pt x="2587055" y="1460425"/>
                  </a:lnTo>
                  <a:lnTo>
                    <a:pt x="2564282" y="1463395"/>
                  </a:lnTo>
                  <a:lnTo>
                    <a:pt x="87845" y="1463395"/>
                  </a:lnTo>
                  <a:lnTo>
                    <a:pt x="43929" y="1451521"/>
                  </a:lnTo>
                  <a:lnTo>
                    <a:pt x="11887" y="1419479"/>
                  </a:lnTo>
                  <a:lnTo>
                    <a:pt x="0" y="1375549"/>
                  </a:lnTo>
                  <a:lnTo>
                    <a:pt x="368" y="87833"/>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22" name="Google Shape;1722;p66"/>
            <p:cNvSpPr/>
            <p:nvPr/>
          </p:nvSpPr>
          <p:spPr>
            <a:xfrm>
              <a:off x="3382924" y="2815922"/>
              <a:ext cx="365760" cy="365760"/>
            </a:xfrm>
            <a:custGeom>
              <a:rect b="b" l="l" r="r" t="t"/>
              <a:pathLst>
                <a:path extrusionOk="0" h="365760" w="365760">
                  <a:moveTo>
                    <a:pt x="182879" y="0"/>
                  </a:moveTo>
                  <a:lnTo>
                    <a:pt x="135535" y="6165"/>
                  </a:lnTo>
                  <a:lnTo>
                    <a:pt x="91439" y="24485"/>
                  </a:lnTo>
                  <a:lnTo>
                    <a:pt x="53636" y="53638"/>
                  </a:lnTo>
                  <a:lnTo>
                    <a:pt x="24472" y="91440"/>
                  </a:lnTo>
                  <a:lnTo>
                    <a:pt x="6164" y="135540"/>
                  </a:lnTo>
                  <a:lnTo>
                    <a:pt x="0" y="182880"/>
                  </a:lnTo>
                  <a:lnTo>
                    <a:pt x="1546" y="206786"/>
                  </a:lnTo>
                  <a:lnTo>
                    <a:pt x="13817" y="252842"/>
                  </a:lnTo>
                  <a:lnTo>
                    <a:pt x="37874" y="294200"/>
                  </a:lnTo>
                  <a:lnTo>
                    <a:pt x="71559" y="327880"/>
                  </a:lnTo>
                  <a:lnTo>
                    <a:pt x="112912" y="351936"/>
                  </a:lnTo>
                  <a:lnTo>
                    <a:pt x="158971" y="364212"/>
                  </a:lnTo>
                  <a:lnTo>
                    <a:pt x="182879" y="365760"/>
                  </a:lnTo>
                  <a:lnTo>
                    <a:pt x="206781" y="364212"/>
                  </a:lnTo>
                  <a:lnTo>
                    <a:pt x="252840" y="351936"/>
                  </a:lnTo>
                  <a:lnTo>
                    <a:pt x="294195" y="327880"/>
                  </a:lnTo>
                  <a:lnTo>
                    <a:pt x="327878" y="294200"/>
                  </a:lnTo>
                  <a:lnTo>
                    <a:pt x="351936" y="252842"/>
                  </a:lnTo>
                  <a:lnTo>
                    <a:pt x="364212" y="206786"/>
                  </a:lnTo>
                  <a:lnTo>
                    <a:pt x="365760" y="182880"/>
                  </a:lnTo>
                  <a:lnTo>
                    <a:pt x="364212" y="158973"/>
                  </a:lnTo>
                  <a:lnTo>
                    <a:pt x="351936" y="112917"/>
                  </a:lnTo>
                  <a:lnTo>
                    <a:pt x="327878" y="71559"/>
                  </a:lnTo>
                  <a:lnTo>
                    <a:pt x="294195" y="37879"/>
                  </a:lnTo>
                  <a:lnTo>
                    <a:pt x="252840" y="13823"/>
                  </a:lnTo>
                  <a:lnTo>
                    <a:pt x="206781" y="1547"/>
                  </a:lnTo>
                  <a:lnTo>
                    <a:pt x="182879" y="0"/>
                  </a:lnTo>
                  <a:close/>
                </a:path>
              </a:pathLst>
            </a:custGeom>
            <a:solidFill>
              <a:srgbClr val="147F3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723" name="Google Shape;1723;p66"/>
          <p:cNvSpPr txBox="1"/>
          <p:nvPr/>
        </p:nvSpPr>
        <p:spPr>
          <a:xfrm>
            <a:off x="3514940" y="2894293"/>
            <a:ext cx="10287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200">
                <a:solidFill>
                  <a:srgbClr val="FFFFFF"/>
                </a:solidFill>
                <a:latin typeface="Calibri"/>
                <a:ea typeface="Calibri"/>
                <a:cs typeface="Calibri"/>
                <a:sym typeface="Calibri"/>
              </a:rPr>
              <a:t>5</a:t>
            </a:r>
            <a:endParaRPr sz="1200">
              <a:latin typeface="Calibri"/>
              <a:ea typeface="Calibri"/>
              <a:cs typeface="Calibri"/>
              <a:sym typeface="Calibri"/>
            </a:endParaRPr>
          </a:p>
        </p:txBody>
      </p:sp>
      <p:sp>
        <p:nvSpPr>
          <p:cNvPr id="1724" name="Google Shape;1724;p66"/>
          <p:cNvSpPr txBox="1"/>
          <p:nvPr/>
        </p:nvSpPr>
        <p:spPr>
          <a:xfrm>
            <a:off x="3827779" y="2882775"/>
            <a:ext cx="1216025"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0C1A29"/>
                </a:solidFill>
                <a:latin typeface="Calibri"/>
                <a:ea typeface="Calibri"/>
                <a:cs typeface="Calibri"/>
                <a:sym typeface="Calibri"/>
              </a:rPr>
              <a:t>Indian languages</a:t>
            </a:r>
            <a:endParaRPr sz="1350">
              <a:latin typeface="Calibri"/>
              <a:ea typeface="Calibri"/>
              <a:cs typeface="Calibri"/>
              <a:sym typeface="Calibri"/>
            </a:endParaRPr>
          </a:p>
        </p:txBody>
      </p:sp>
      <p:sp>
        <p:nvSpPr>
          <p:cNvPr id="1725" name="Google Shape;1725;p66"/>
          <p:cNvSpPr txBox="1"/>
          <p:nvPr/>
        </p:nvSpPr>
        <p:spPr>
          <a:xfrm>
            <a:off x="3370224" y="3260290"/>
            <a:ext cx="2324735" cy="554990"/>
          </a:xfrm>
          <a:prstGeom prst="rect">
            <a:avLst/>
          </a:prstGeom>
          <a:noFill/>
          <a:ln>
            <a:noFill/>
          </a:ln>
        </p:spPr>
        <p:txBody>
          <a:bodyPr anchorCtr="0" anchor="t" bIns="0" lIns="0" spcFirstLastPara="1" rIns="0" wrap="square" tIns="12700">
            <a:spAutoFit/>
          </a:bodyPr>
          <a:lstStyle/>
          <a:p>
            <a:pPr indent="0" lvl="0" marL="12700" marR="5080" rtl="0" algn="l">
              <a:lnSpc>
                <a:spcPct val="105200"/>
              </a:lnSpc>
              <a:spcBef>
                <a:spcPts val="0"/>
              </a:spcBef>
              <a:spcAft>
                <a:spcPts val="0"/>
              </a:spcAft>
              <a:buNone/>
            </a:pPr>
            <a:r>
              <a:rPr lang="en-US" sz="1100">
                <a:solidFill>
                  <a:srgbClr val="1E2836"/>
                </a:solidFill>
                <a:latin typeface="Calibri"/>
                <a:ea typeface="Calibri"/>
                <a:cs typeface="Calibri"/>
                <a:sym typeface="Calibri"/>
              </a:rPr>
              <a:t>AI4Bharat's IndicTrans2 translates across all 22 scheduled Indian languages, and supports the Bhashini mission.</a:t>
            </a:r>
            <a:endParaRPr sz="1100">
              <a:latin typeface="Calibri"/>
              <a:ea typeface="Calibri"/>
              <a:cs typeface="Calibri"/>
              <a:sym typeface="Calibri"/>
            </a:endParaRPr>
          </a:p>
        </p:txBody>
      </p:sp>
      <p:grpSp>
        <p:nvGrpSpPr>
          <p:cNvPr id="1726" name="Google Shape;1726;p66"/>
          <p:cNvGrpSpPr/>
          <p:nvPr/>
        </p:nvGrpSpPr>
        <p:grpSpPr>
          <a:xfrm>
            <a:off x="6023165" y="2640586"/>
            <a:ext cx="2766237" cy="1577174"/>
            <a:chOff x="6023165" y="2640586"/>
            <a:chExt cx="2766237" cy="1577174"/>
          </a:xfrm>
        </p:grpSpPr>
        <p:pic>
          <p:nvPicPr>
            <p:cNvPr id="1727" name="Google Shape;1727;p66"/>
            <p:cNvPicPr preferRelativeResize="0"/>
            <p:nvPr/>
          </p:nvPicPr>
          <p:blipFill rotWithShape="1">
            <a:blip r:embed="rId4">
              <a:alphaModFix/>
            </a:blip>
            <a:srcRect b="0" l="0" r="0" t="0"/>
            <a:stretch/>
          </p:blipFill>
          <p:spPr>
            <a:xfrm>
              <a:off x="6023165" y="2640586"/>
              <a:ext cx="2766237" cy="1577174"/>
            </a:xfrm>
            <a:prstGeom prst="rect">
              <a:avLst/>
            </a:prstGeom>
            <a:noFill/>
            <a:ln>
              <a:noFill/>
            </a:ln>
          </p:spPr>
        </p:pic>
        <p:sp>
          <p:nvSpPr>
            <p:cNvPr id="1728" name="Google Shape;1728;p66"/>
            <p:cNvSpPr/>
            <p:nvPr/>
          </p:nvSpPr>
          <p:spPr>
            <a:xfrm>
              <a:off x="6080036" y="2678406"/>
              <a:ext cx="2652395" cy="1463675"/>
            </a:xfrm>
            <a:custGeom>
              <a:rect b="b" l="l" r="r" t="t"/>
              <a:pathLst>
                <a:path extrusionOk="0" h="1463675" w="2652395">
                  <a:moveTo>
                    <a:pt x="88201" y="0"/>
                  </a:moveTo>
                  <a:lnTo>
                    <a:pt x="44284" y="11874"/>
                  </a:lnTo>
                  <a:lnTo>
                    <a:pt x="12242" y="43916"/>
                  </a:lnTo>
                  <a:lnTo>
                    <a:pt x="368" y="87833"/>
                  </a:lnTo>
                  <a:lnTo>
                    <a:pt x="0" y="1375549"/>
                  </a:lnTo>
                  <a:lnTo>
                    <a:pt x="742" y="1387071"/>
                  </a:lnTo>
                  <a:lnTo>
                    <a:pt x="18208" y="1429041"/>
                  </a:lnTo>
                  <a:lnTo>
                    <a:pt x="54229" y="1456714"/>
                  </a:lnTo>
                  <a:lnTo>
                    <a:pt x="87845" y="1463395"/>
                  </a:lnTo>
                  <a:lnTo>
                    <a:pt x="2564282" y="1463395"/>
                  </a:lnTo>
                  <a:lnTo>
                    <a:pt x="2608199" y="1451521"/>
                  </a:lnTo>
                  <a:lnTo>
                    <a:pt x="2640241" y="1419479"/>
                  </a:lnTo>
                  <a:lnTo>
                    <a:pt x="2652128" y="1375549"/>
                  </a:lnTo>
                  <a:lnTo>
                    <a:pt x="2652104" y="87833"/>
                  </a:lnTo>
                  <a:lnTo>
                    <a:pt x="2640241" y="44272"/>
                  </a:lnTo>
                  <a:lnTo>
                    <a:pt x="2608199" y="12230"/>
                  </a:lnTo>
                  <a:lnTo>
                    <a:pt x="2564282" y="355"/>
                  </a:lnTo>
                  <a:lnTo>
                    <a:pt x="8820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29" name="Google Shape;1729;p66"/>
            <p:cNvSpPr/>
            <p:nvPr/>
          </p:nvSpPr>
          <p:spPr>
            <a:xfrm>
              <a:off x="6080036" y="2678406"/>
              <a:ext cx="2652395" cy="1463675"/>
            </a:xfrm>
            <a:custGeom>
              <a:rect b="b" l="l" r="r" t="t"/>
              <a:pathLst>
                <a:path extrusionOk="0" h="1463675" w="2652395">
                  <a:moveTo>
                    <a:pt x="368" y="87833"/>
                  </a:moveTo>
                  <a:lnTo>
                    <a:pt x="1109" y="76313"/>
                  </a:lnTo>
                  <a:lnTo>
                    <a:pt x="3333" y="65065"/>
                  </a:lnTo>
                  <a:lnTo>
                    <a:pt x="26101" y="25733"/>
                  </a:lnTo>
                  <a:lnTo>
                    <a:pt x="65433" y="2965"/>
                  </a:lnTo>
                  <a:lnTo>
                    <a:pt x="88201" y="0"/>
                  </a:lnTo>
                  <a:lnTo>
                    <a:pt x="2564282" y="355"/>
                  </a:lnTo>
                  <a:lnTo>
                    <a:pt x="2608199" y="12230"/>
                  </a:lnTo>
                  <a:lnTo>
                    <a:pt x="2640241" y="44272"/>
                  </a:lnTo>
                  <a:lnTo>
                    <a:pt x="2652128" y="88201"/>
                  </a:lnTo>
                  <a:lnTo>
                    <a:pt x="2652128" y="1375549"/>
                  </a:lnTo>
                  <a:lnTo>
                    <a:pt x="2651385" y="1387071"/>
                  </a:lnTo>
                  <a:lnTo>
                    <a:pt x="2649156" y="1398323"/>
                  </a:lnTo>
                  <a:lnTo>
                    <a:pt x="2626382" y="1437657"/>
                  </a:lnTo>
                  <a:lnTo>
                    <a:pt x="2587055" y="1460425"/>
                  </a:lnTo>
                  <a:lnTo>
                    <a:pt x="2564282" y="1463395"/>
                  </a:lnTo>
                  <a:lnTo>
                    <a:pt x="87845" y="1463395"/>
                  </a:lnTo>
                  <a:lnTo>
                    <a:pt x="43929" y="1451521"/>
                  </a:lnTo>
                  <a:lnTo>
                    <a:pt x="11887" y="1419479"/>
                  </a:lnTo>
                  <a:lnTo>
                    <a:pt x="0" y="1375549"/>
                  </a:lnTo>
                  <a:lnTo>
                    <a:pt x="368" y="87833"/>
                  </a:lnTo>
                  <a:close/>
                </a:path>
              </a:pathLst>
            </a:custGeom>
            <a:noFill/>
            <a:ln cap="flat" cmpd="sng" w="12575">
              <a:solidFill>
                <a:srgbClr val="CAD4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30" name="Google Shape;1730;p66"/>
            <p:cNvSpPr/>
            <p:nvPr/>
          </p:nvSpPr>
          <p:spPr>
            <a:xfrm>
              <a:off x="6217564" y="2815922"/>
              <a:ext cx="365760" cy="365760"/>
            </a:xfrm>
            <a:custGeom>
              <a:rect b="b" l="l" r="r" t="t"/>
              <a:pathLst>
                <a:path extrusionOk="0" h="365760" w="365759">
                  <a:moveTo>
                    <a:pt x="182879" y="0"/>
                  </a:moveTo>
                  <a:lnTo>
                    <a:pt x="135535" y="6165"/>
                  </a:lnTo>
                  <a:lnTo>
                    <a:pt x="91439" y="24485"/>
                  </a:lnTo>
                  <a:lnTo>
                    <a:pt x="53636" y="53638"/>
                  </a:lnTo>
                  <a:lnTo>
                    <a:pt x="24472" y="91440"/>
                  </a:lnTo>
                  <a:lnTo>
                    <a:pt x="6164" y="135540"/>
                  </a:lnTo>
                  <a:lnTo>
                    <a:pt x="0" y="182880"/>
                  </a:lnTo>
                  <a:lnTo>
                    <a:pt x="1546" y="206786"/>
                  </a:lnTo>
                  <a:lnTo>
                    <a:pt x="13817" y="252842"/>
                  </a:lnTo>
                  <a:lnTo>
                    <a:pt x="37874" y="294200"/>
                  </a:lnTo>
                  <a:lnTo>
                    <a:pt x="71559" y="327880"/>
                  </a:lnTo>
                  <a:lnTo>
                    <a:pt x="112912" y="351936"/>
                  </a:lnTo>
                  <a:lnTo>
                    <a:pt x="158971" y="364212"/>
                  </a:lnTo>
                  <a:lnTo>
                    <a:pt x="182879" y="365760"/>
                  </a:lnTo>
                  <a:lnTo>
                    <a:pt x="206781" y="364212"/>
                  </a:lnTo>
                  <a:lnTo>
                    <a:pt x="252840" y="351936"/>
                  </a:lnTo>
                  <a:lnTo>
                    <a:pt x="294195" y="327880"/>
                  </a:lnTo>
                  <a:lnTo>
                    <a:pt x="327878" y="294200"/>
                  </a:lnTo>
                  <a:lnTo>
                    <a:pt x="351936" y="252842"/>
                  </a:lnTo>
                  <a:lnTo>
                    <a:pt x="364212" y="206786"/>
                  </a:lnTo>
                  <a:lnTo>
                    <a:pt x="365759" y="182880"/>
                  </a:lnTo>
                  <a:lnTo>
                    <a:pt x="364212" y="158973"/>
                  </a:lnTo>
                  <a:lnTo>
                    <a:pt x="351936" y="112917"/>
                  </a:lnTo>
                  <a:lnTo>
                    <a:pt x="327878" y="71559"/>
                  </a:lnTo>
                  <a:lnTo>
                    <a:pt x="294195" y="37879"/>
                  </a:lnTo>
                  <a:lnTo>
                    <a:pt x="252840" y="13823"/>
                  </a:lnTo>
                  <a:lnTo>
                    <a:pt x="206781" y="1547"/>
                  </a:lnTo>
                  <a:lnTo>
                    <a:pt x="182879" y="0"/>
                  </a:lnTo>
                  <a:close/>
                </a:path>
              </a:pathLst>
            </a:custGeom>
            <a:solidFill>
              <a:srgbClr val="913F0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731" name="Google Shape;1731;p66"/>
          <p:cNvSpPr txBox="1"/>
          <p:nvPr/>
        </p:nvSpPr>
        <p:spPr>
          <a:xfrm>
            <a:off x="6349581" y="2894293"/>
            <a:ext cx="10287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200">
                <a:solidFill>
                  <a:srgbClr val="FFFFFF"/>
                </a:solidFill>
                <a:latin typeface="Calibri"/>
                <a:ea typeface="Calibri"/>
                <a:cs typeface="Calibri"/>
                <a:sym typeface="Calibri"/>
              </a:rPr>
              <a:t>6</a:t>
            </a:r>
            <a:endParaRPr sz="1200">
              <a:latin typeface="Calibri"/>
              <a:ea typeface="Calibri"/>
              <a:cs typeface="Calibri"/>
              <a:sym typeface="Calibri"/>
            </a:endParaRPr>
          </a:p>
        </p:txBody>
      </p:sp>
      <p:sp>
        <p:nvSpPr>
          <p:cNvPr id="1732" name="Google Shape;1732;p66"/>
          <p:cNvSpPr txBox="1"/>
          <p:nvPr/>
        </p:nvSpPr>
        <p:spPr>
          <a:xfrm>
            <a:off x="6662419" y="2882775"/>
            <a:ext cx="1187450"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0C1A29"/>
                </a:solidFill>
                <a:latin typeface="Calibri"/>
                <a:ea typeface="Calibri"/>
                <a:cs typeface="Calibri"/>
                <a:sym typeface="Calibri"/>
              </a:rPr>
              <a:t>Medical imaging</a:t>
            </a:r>
            <a:endParaRPr sz="1350">
              <a:latin typeface="Calibri"/>
              <a:ea typeface="Calibri"/>
              <a:cs typeface="Calibri"/>
              <a:sym typeface="Calibri"/>
            </a:endParaRPr>
          </a:p>
        </p:txBody>
      </p:sp>
      <p:sp>
        <p:nvSpPr>
          <p:cNvPr id="1733" name="Google Shape;1733;p66"/>
          <p:cNvSpPr txBox="1"/>
          <p:nvPr/>
        </p:nvSpPr>
        <p:spPr>
          <a:xfrm>
            <a:off x="6204864" y="3260290"/>
            <a:ext cx="2395220" cy="554990"/>
          </a:xfrm>
          <a:prstGeom prst="rect">
            <a:avLst/>
          </a:prstGeom>
          <a:noFill/>
          <a:ln>
            <a:noFill/>
          </a:ln>
        </p:spPr>
        <p:txBody>
          <a:bodyPr anchorCtr="0" anchor="t" bIns="0" lIns="0" spcFirstLastPara="1" rIns="0" wrap="square" tIns="12700">
            <a:spAutoFit/>
          </a:bodyPr>
          <a:lstStyle/>
          <a:p>
            <a:pPr indent="0" lvl="0" marL="12700" marR="5080" rtl="0" algn="l">
              <a:lnSpc>
                <a:spcPct val="105200"/>
              </a:lnSpc>
              <a:spcBef>
                <a:spcPts val="0"/>
              </a:spcBef>
              <a:spcAft>
                <a:spcPts val="0"/>
              </a:spcAft>
              <a:buNone/>
            </a:pPr>
            <a:r>
              <a:rPr lang="en-US" sz="1100">
                <a:solidFill>
                  <a:srgbClr val="1E2836"/>
                </a:solidFill>
                <a:latin typeface="Calibri"/>
                <a:ea typeface="Calibri"/>
                <a:cs typeface="Calibri"/>
                <a:sym typeface="Calibri"/>
              </a:rPr>
              <a:t>Vision Transformers (ViT) cut an X-ray or a pathology slide into patches and treat them like words.</a:t>
            </a:r>
            <a:endParaRPr sz="1100">
              <a:latin typeface="Calibri"/>
              <a:ea typeface="Calibri"/>
              <a:cs typeface="Calibri"/>
              <a:sym typeface="Calibri"/>
            </a:endParaRPr>
          </a:p>
        </p:txBody>
      </p:sp>
      <p:sp>
        <p:nvSpPr>
          <p:cNvPr id="1734" name="Google Shape;1734;p66"/>
          <p:cNvSpPr txBox="1"/>
          <p:nvPr/>
        </p:nvSpPr>
        <p:spPr>
          <a:xfrm>
            <a:off x="398424" y="4376053"/>
            <a:ext cx="743712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200">
                <a:solidFill>
                  <a:srgbClr val="0E756D"/>
                </a:solidFill>
                <a:latin typeface="Calibri"/>
                <a:ea typeface="Calibri"/>
                <a:cs typeface="Calibri"/>
                <a:sym typeface="Calibri"/>
              </a:rPr>
              <a:t>Takeaway: </a:t>
            </a:r>
            <a:r>
              <a:rPr i="1" lang="en-US" sz="1200">
                <a:solidFill>
                  <a:srgbClr val="1E2836"/>
                </a:solidFill>
                <a:latin typeface="Cambria"/>
                <a:ea typeface="Cambria"/>
                <a:cs typeface="Cambria"/>
                <a:sym typeface="Cambria"/>
              </a:rPr>
              <a:t>text, speech, proteins and pixels all become sequences of tokens. Attention does not care what the tokens are.</a:t>
            </a:r>
            <a:endParaRPr sz="1200">
              <a:latin typeface="Cambria"/>
              <a:ea typeface="Cambria"/>
              <a:cs typeface="Cambria"/>
              <a:sym typeface="Cambria"/>
            </a:endParaRPr>
          </a:p>
        </p:txBody>
      </p:sp>
      <p:sp>
        <p:nvSpPr>
          <p:cNvPr id="1735" name="Google Shape;1735;p66"/>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9" name="Shape 1739"/>
        <p:cNvGrpSpPr/>
        <p:nvPr/>
      </p:nvGrpSpPr>
      <p:grpSpPr>
        <a:xfrm>
          <a:off x="0" y="0"/>
          <a:ext cx="0" cy="0"/>
          <a:chOff x="0" y="0"/>
          <a:chExt cx="0" cy="0"/>
        </a:xfrm>
      </p:grpSpPr>
      <p:sp>
        <p:nvSpPr>
          <p:cNvPr descr="$PPTXTitle" id="1740" name="Google Shape;1740;p67"/>
          <p:cNvSpPr txBox="1"/>
          <p:nvPr>
            <p:ph type="title"/>
          </p:nvPr>
        </p:nvSpPr>
        <p:spPr>
          <a:xfrm>
            <a:off x="152184" y="63260"/>
            <a:ext cx="8839631" cy="879475"/>
          </a:xfrm>
          <a:prstGeom prst="rect">
            <a:avLst/>
          </a:prstGeom>
          <a:noFill/>
          <a:ln>
            <a:noFill/>
          </a:ln>
        </p:spPr>
        <p:txBody>
          <a:bodyPr anchorCtr="0" anchor="t" bIns="0" lIns="0" spcFirstLastPara="1" rIns="0" wrap="square" tIns="151300">
            <a:spAutoFit/>
          </a:bodyPr>
          <a:lstStyle/>
          <a:p>
            <a:pPr indent="0" lvl="0" marL="1526540" rtl="0" algn="l">
              <a:lnSpc>
                <a:spcPct val="100000"/>
              </a:lnSpc>
              <a:spcBef>
                <a:spcPts val="0"/>
              </a:spcBef>
              <a:spcAft>
                <a:spcPts val="0"/>
              </a:spcAft>
              <a:buNone/>
            </a:pPr>
            <a:r>
              <a:rPr lang="en-US"/>
              <a:t>Five Things to Remember from Today</a:t>
            </a:r>
            <a:endParaRPr/>
          </a:p>
        </p:txBody>
      </p:sp>
      <p:sp>
        <p:nvSpPr>
          <p:cNvPr id="1741" name="Google Shape;1741;p67"/>
          <p:cNvSpPr/>
          <p:nvPr/>
        </p:nvSpPr>
        <p:spPr>
          <a:xfrm>
            <a:off x="411480" y="969126"/>
            <a:ext cx="439420" cy="439420"/>
          </a:xfrm>
          <a:custGeom>
            <a:rect b="b" l="l" r="r" t="t"/>
            <a:pathLst>
              <a:path extrusionOk="0" h="439419" w="439419">
                <a:moveTo>
                  <a:pt x="219595" y="0"/>
                </a:moveTo>
                <a:lnTo>
                  <a:pt x="162675" y="7421"/>
                </a:lnTo>
                <a:lnTo>
                  <a:pt x="109804" y="29159"/>
                </a:lnTo>
                <a:lnTo>
                  <a:pt x="64258" y="64163"/>
                </a:lnTo>
                <a:lnTo>
                  <a:pt x="29514" y="109435"/>
                </a:lnTo>
                <a:lnTo>
                  <a:pt x="7470" y="162447"/>
                </a:lnTo>
                <a:lnTo>
                  <a:pt x="0" y="219240"/>
                </a:lnTo>
                <a:lnTo>
                  <a:pt x="1879" y="247937"/>
                </a:lnTo>
                <a:lnTo>
                  <a:pt x="16705" y="303170"/>
                </a:lnTo>
                <a:lnTo>
                  <a:pt x="45403" y="352815"/>
                </a:lnTo>
                <a:lnTo>
                  <a:pt x="85814" y="393230"/>
                </a:lnTo>
                <a:lnTo>
                  <a:pt x="135515" y="421980"/>
                </a:lnTo>
                <a:lnTo>
                  <a:pt x="190848" y="436906"/>
                </a:lnTo>
                <a:lnTo>
                  <a:pt x="219595" y="438835"/>
                </a:lnTo>
                <a:lnTo>
                  <a:pt x="248139" y="436906"/>
                </a:lnTo>
                <a:lnTo>
                  <a:pt x="303336" y="421980"/>
                </a:lnTo>
                <a:lnTo>
                  <a:pt x="353028" y="393230"/>
                </a:lnTo>
                <a:lnTo>
                  <a:pt x="393438" y="352815"/>
                </a:lnTo>
                <a:lnTo>
                  <a:pt x="422135" y="303170"/>
                </a:lnTo>
                <a:lnTo>
                  <a:pt x="436958" y="247937"/>
                </a:lnTo>
                <a:lnTo>
                  <a:pt x="438835" y="219240"/>
                </a:lnTo>
                <a:lnTo>
                  <a:pt x="436958" y="190540"/>
                </a:lnTo>
                <a:lnTo>
                  <a:pt x="422135" y="135299"/>
                </a:lnTo>
                <a:lnTo>
                  <a:pt x="393438" y="85651"/>
                </a:lnTo>
                <a:lnTo>
                  <a:pt x="353028" y="45242"/>
                </a:lnTo>
                <a:lnTo>
                  <a:pt x="303336" y="16550"/>
                </a:lnTo>
                <a:lnTo>
                  <a:pt x="248139" y="1871"/>
                </a:lnTo>
                <a:lnTo>
                  <a:pt x="219595" y="0"/>
                </a:lnTo>
                <a:close/>
              </a:path>
            </a:pathLst>
          </a:custGeom>
          <a:solidFill>
            <a:srgbClr val="1D3FA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42" name="Google Shape;1742;p67"/>
          <p:cNvSpPr txBox="1"/>
          <p:nvPr/>
        </p:nvSpPr>
        <p:spPr>
          <a:xfrm>
            <a:off x="570141" y="1099339"/>
            <a:ext cx="4601210" cy="208279"/>
          </a:xfrm>
          <a:prstGeom prst="rect">
            <a:avLst/>
          </a:prstGeom>
          <a:noFill/>
          <a:ln>
            <a:noFill/>
          </a:ln>
        </p:spPr>
        <p:txBody>
          <a:bodyPr anchorCtr="0" anchor="t" bIns="0" lIns="0" spcFirstLastPara="1" rIns="0" wrap="square" tIns="0">
            <a:spAutoFit/>
          </a:bodyPr>
          <a:lstStyle/>
          <a:p>
            <a:pPr indent="0" lvl="0" marL="12700" rtl="0" algn="l">
              <a:lnSpc>
                <a:spcPct val="106666"/>
              </a:lnSpc>
              <a:spcBef>
                <a:spcPts val="0"/>
              </a:spcBef>
              <a:spcAft>
                <a:spcPts val="0"/>
              </a:spcAft>
              <a:buNone/>
            </a:pPr>
            <a:r>
              <a:rPr b="1" lang="en-US" sz="1500">
                <a:solidFill>
                  <a:srgbClr val="FFFFFF"/>
                </a:solidFill>
                <a:latin typeface="Calibri"/>
                <a:ea typeface="Calibri"/>
                <a:cs typeface="Calibri"/>
                <a:sym typeface="Calibri"/>
              </a:rPr>
              <a:t>1	</a:t>
            </a:r>
            <a:r>
              <a:rPr b="1" lang="en-US" sz="1200">
                <a:solidFill>
                  <a:srgbClr val="1E2836"/>
                </a:solidFill>
                <a:latin typeface="Calibri"/>
                <a:ea typeface="Calibri"/>
                <a:cs typeface="Calibri"/>
                <a:sym typeface="Calibri"/>
              </a:rPr>
              <a:t>Order is information. </a:t>
            </a:r>
            <a:r>
              <a:rPr lang="en-US" sz="1200">
                <a:solidFill>
                  <a:srgbClr val="1E2836"/>
                </a:solidFill>
                <a:latin typeface="Calibri"/>
                <a:ea typeface="Calibri"/>
                <a:cs typeface="Calibri"/>
                <a:sym typeface="Calibri"/>
              </a:rPr>
              <a:t>Sequential data needs a model with memory.</a:t>
            </a:r>
            <a:endParaRPr sz="1200">
              <a:latin typeface="Calibri"/>
              <a:ea typeface="Calibri"/>
              <a:cs typeface="Calibri"/>
              <a:sym typeface="Calibri"/>
            </a:endParaRPr>
          </a:p>
        </p:txBody>
      </p:sp>
      <p:sp>
        <p:nvSpPr>
          <p:cNvPr id="1743" name="Google Shape;1743;p67"/>
          <p:cNvSpPr/>
          <p:nvPr/>
        </p:nvSpPr>
        <p:spPr>
          <a:xfrm>
            <a:off x="411480" y="1682637"/>
            <a:ext cx="439420" cy="439420"/>
          </a:xfrm>
          <a:custGeom>
            <a:rect b="b" l="l" r="r" t="t"/>
            <a:pathLst>
              <a:path extrusionOk="0" h="439419" w="439419">
                <a:moveTo>
                  <a:pt x="219595" y="0"/>
                </a:moveTo>
                <a:lnTo>
                  <a:pt x="162675" y="7426"/>
                </a:lnTo>
                <a:lnTo>
                  <a:pt x="109804" y="29159"/>
                </a:lnTo>
                <a:lnTo>
                  <a:pt x="64258" y="64174"/>
                </a:lnTo>
                <a:lnTo>
                  <a:pt x="29514" y="109448"/>
                </a:lnTo>
                <a:lnTo>
                  <a:pt x="7470" y="162453"/>
                </a:lnTo>
                <a:lnTo>
                  <a:pt x="0" y="219240"/>
                </a:lnTo>
                <a:lnTo>
                  <a:pt x="1879" y="247939"/>
                </a:lnTo>
                <a:lnTo>
                  <a:pt x="16705" y="303180"/>
                </a:lnTo>
                <a:lnTo>
                  <a:pt x="45403" y="352828"/>
                </a:lnTo>
                <a:lnTo>
                  <a:pt x="85814" y="393238"/>
                </a:lnTo>
                <a:lnTo>
                  <a:pt x="135515" y="421987"/>
                </a:lnTo>
                <a:lnTo>
                  <a:pt x="190848" y="436919"/>
                </a:lnTo>
                <a:lnTo>
                  <a:pt x="219595" y="438848"/>
                </a:lnTo>
                <a:lnTo>
                  <a:pt x="248139" y="436919"/>
                </a:lnTo>
                <a:lnTo>
                  <a:pt x="303336" y="421987"/>
                </a:lnTo>
                <a:lnTo>
                  <a:pt x="353028" y="393238"/>
                </a:lnTo>
                <a:lnTo>
                  <a:pt x="393438" y="352828"/>
                </a:lnTo>
                <a:lnTo>
                  <a:pt x="422135" y="303180"/>
                </a:lnTo>
                <a:lnTo>
                  <a:pt x="436958" y="247939"/>
                </a:lnTo>
                <a:lnTo>
                  <a:pt x="438835" y="219240"/>
                </a:lnTo>
                <a:lnTo>
                  <a:pt x="436958" y="190542"/>
                </a:lnTo>
                <a:lnTo>
                  <a:pt x="422135" y="135309"/>
                </a:lnTo>
                <a:lnTo>
                  <a:pt x="393438" y="85664"/>
                </a:lnTo>
                <a:lnTo>
                  <a:pt x="353028" y="45249"/>
                </a:lnTo>
                <a:lnTo>
                  <a:pt x="303336" y="16555"/>
                </a:lnTo>
                <a:lnTo>
                  <a:pt x="248139" y="1873"/>
                </a:lnTo>
                <a:lnTo>
                  <a:pt x="219595" y="0"/>
                </a:lnTo>
                <a:close/>
              </a:path>
            </a:pathLst>
          </a:custGeom>
          <a:solidFill>
            <a:srgbClr val="0E756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44" name="Google Shape;1744;p67"/>
          <p:cNvSpPr txBox="1"/>
          <p:nvPr/>
        </p:nvSpPr>
        <p:spPr>
          <a:xfrm>
            <a:off x="570141" y="1774700"/>
            <a:ext cx="121920" cy="254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500">
                <a:solidFill>
                  <a:srgbClr val="FFFFFF"/>
                </a:solidFill>
                <a:latin typeface="Calibri"/>
                <a:ea typeface="Calibri"/>
                <a:cs typeface="Calibri"/>
                <a:sym typeface="Calibri"/>
              </a:rPr>
              <a:t>2</a:t>
            </a:r>
            <a:endParaRPr sz="1500">
              <a:latin typeface="Calibri"/>
              <a:ea typeface="Calibri"/>
              <a:cs typeface="Calibri"/>
              <a:sym typeface="Calibri"/>
            </a:endParaRPr>
          </a:p>
        </p:txBody>
      </p:sp>
      <p:sp>
        <p:nvSpPr>
          <p:cNvPr id="1745" name="Google Shape;1745;p67"/>
          <p:cNvSpPr txBox="1"/>
          <p:nvPr/>
        </p:nvSpPr>
        <p:spPr>
          <a:xfrm>
            <a:off x="993139" y="1715302"/>
            <a:ext cx="4356735" cy="400050"/>
          </a:xfrm>
          <a:prstGeom prst="rect">
            <a:avLst/>
          </a:prstGeom>
          <a:noFill/>
          <a:ln>
            <a:noFill/>
          </a:ln>
        </p:spPr>
        <p:txBody>
          <a:bodyPr anchorCtr="0" anchor="t" bIns="0" lIns="0" spcFirstLastPara="1" rIns="0" wrap="square" tIns="3175">
            <a:spAutoFit/>
          </a:bodyPr>
          <a:lstStyle/>
          <a:p>
            <a:pPr indent="0" lvl="0" marL="12700" marR="5080" rtl="0" algn="l">
              <a:lnSpc>
                <a:spcPct val="104900"/>
              </a:lnSpc>
              <a:spcBef>
                <a:spcPts val="0"/>
              </a:spcBef>
              <a:spcAft>
                <a:spcPts val="0"/>
              </a:spcAft>
              <a:buNone/>
            </a:pPr>
            <a:r>
              <a:rPr b="1" lang="en-US" sz="1200">
                <a:solidFill>
                  <a:srgbClr val="1E2836"/>
                </a:solidFill>
                <a:latin typeface="Calibri"/>
                <a:ea typeface="Calibri"/>
                <a:cs typeface="Calibri"/>
                <a:sym typeface="Calibri"/>
              </a:rPr>
              <a:t>RNNs remember through one hidden state h</a:t>
            </a:r>
            <a:r>
              <a:rPr lang="en-US" sz="1200">
                <a:solidFill>
                  <a:srgbClr val="1E2836"/>
                </a:solidFill>
                <a:latin typeface="Quattrocento Sans"/>
                <a:ea typeface="Quattrocento Sans"/>
                <a:cs typeface="Quattrocento Sans"/>
                <a:sym typeface="Quattrocento Sans"/>
              </a:rPr>
              <a:t>ₜ</a:t>
            </a:r>
            <a:r>
              <a:rPr b="1" lang="en-US" sz="1200">
                <a:solidFill>
                  <a:srgbClr val="1E2836"/>
                </a:solidFill>
                <a:latin typeface="Calibri"/>
                <a:ea typeface="Calibri"/>
                <a:cs typeface="Calibri"/>
                <a:sym typeface="Calibri"/>
              </a:rPr>
              <a:t>, </a:t>
            </a:r>
            <a:r>
              <a:rPr lang="en-US" sz="1200">
                <a:solidFill>
                  <a:srgbClr val="1E2836"/>
                </a:solidFill>
                <a:latin typeface="Calibri"/>
                <a:ea typeface="Calibri"/>
                <a:cs typeface="Calibri"/>
                <a:sym typeface="Calibri"/>
              </a:rPr>
              <a:t>but gradients vanish or explode over long sequences.</a:t>
            </a:r>
            <a:endParaRPr sz="1200">
              <a:latin typeface="Calibri"/>
              <a:ea typeface="Calibri"/>
              <a:cs typeface="Calibri"/>
              <a:sym typeface="Calibri"/>
            </a:endParaRPr>
          </a:p>
        </p:txBody>
      </p:sp>
      <p:sp>
        <p:nvSpPr>
          <p:cNvPr id="1746" name="Google Shape;1746;p67"/>
          <p:cNvSpPr/>
          <p:nvPr/>
        </p:nvSpPr>
        <p:spPr>
          <a:xfrm>
            <a:off x="411480" y="2395806"/>
            <a:ext cx="439420" cy="439420"/>
          </a:xfrm>
          <a:custGeom>
            <a:rect b="b" l="l" r="r" t="t"/>
            <a:pathLst>
              <a:path extrusionOk="0" h="439419" w="439419">
                <a:moveTo>
                  <a:pt x="219595" y="0"/>
                </a:moveTo>
                <a:lnTo>
                  <a:pt x="162675" y="7421"/>
                </a:lnTo>
                <a:lnTo>
                  <a:pt x="109804" y="29159"/>
                </a:lnTo>
                <a:lnTo>
                  <a:pt x="64258" y="64163"/>
                </a:lnTo>
                <a:lnTo>
                  <a:pt x="29514" y="109435"/>
                </a:lnTo>
                <a:lnTo>
                  <a:pt x="7470" y="162447"/>
                </a:lnTo>
                <a:lnTo>
                  <a:pt x="0" y="219240"/>
                </a:lnTo>
                <a:lnTo>
                  <a:pt x="1879" y="247937"/>
                </a:lnTo>
                <a:lnTo>
                  <a:pt x="16705" y="303170"/>
                </a:lnTo>
                <a:lnTo>
                  <a:pt x="45403" y="352815"/>
                </a:lnTo>
                <a:lnTo>
                  <a:pt x="85814" y="393230"/>
                </a:lnTo>
                <a:lnTo>
                  <a:pt x="135515" y="421980"/>
                </a:lnTo>
                <a:lnTo>
                  <a:pt x="190848" y="436906"/>
                </a:lnTo>
                <a:lnTo>
                  <a:pt x="219595" y="438835"/>
                </a:lnTo>
                <a:lnTo>
                  <a:pt x="248139" y="436906"/>
                </a:lnTo>
                <a:lnTo>
                  <a:pt x="303336" y="421980"/>
                </a:lnTo>
                <a:lnTo>
                  <a:pt x="353028" y="393230"/>
                </a:lnTo>
                <a:lnTo>
                  <a:pt x="393438" y="352815"/>
                </a:lnTo>
                <a:lnTo>
                  <a:pt x="422135" y="303170"/>
                </a:lnTo>
                <a:lnTo>
                  <a:pt x="436958" y="247937"/>
                </a:lnTo>
                <a:lnTo>
                  <a:pt x="438835" y="219240"/>
                </a:lnTo>
                <a:lnTo>
                  <a:pt x="436958" y="190540"/>
                </a:lnTo>
                <a:lnTo>
                  <a:pt x="422135" y="135299"/>
                </a:lnTo>
                <a:lnTo>
                  <a:pt x="393438" y="85651"/>
                </a:lnTo>
                <a:lnTo>
                  <a:pt x="353028" y="45242"/>
                </a:lnTo>
                <a:lnTo>
                  <a:pt x="303336" y="16550"/>
                </a:lnTo>
                <a:lnTo>
                  <a:pt x="248139" y="1871"/>
                </a:lnTo>
                <a:lnTo>
                  <a:pt x="219595" y="0"/>
                </a:lnTo>
                <a:close/>
              </a:path>
            </a:pathLst>
          </a:custGeom>
          <a:solidFill>
            <a:srgbClr val="6C27D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47" name="Google Shape;1747;p67"/>
          <p:cNvSpPr txBox="1"/>
          <p:nvPr/>
        </p:nvSpPr>
        <p:spPr>
          <a:xfrm>
            <a:off x="570141" y="2487868"/>
            <a:ext cx="121920" cy="254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500">
                <a:solidFill>
                  <a:srgbClr val="FFFFFF"/>
                </a:solidFill>
                <a:latin typeface="Calibri"/>
                <a:ea typeface="Calibri"/>
                <a:cs typeface="Calibri"/>
                <a:sym typeface="Calibri"/>
              </a:rPr>
              <a:t>3</a:t>
            </a:r>
            <a:endParaRPr sz="1500">
              <a:latin typeface="Calibri"/>
              <a:ea typeface="Calibri"/>
              <a:cs typeface="Calibri"/>
              <a:sym typeface="Calibri"/>
            </a:endParaRPr>
          </a:p>
        </p:txBody>
      </p:sp>
      <p:sp>
        <p:nvSpPr>
          <p:cNvPr id="1748" name="Google Shape;1748;p67"/>
          <p:cNvSpPr txBox="1"/>
          <p:nvPr/>
        </p:nvSpPr>
        <p:spPr>
          <a:xfrm>
            <a:off x="993139" y="2419316"/>
            <a:ext cx="4061460" cy="409575"/>
          </a:xfrm>
          <a:prstGeom prst="rect">
            <a:avLst/>
          </a:prstGeom>
          <a:noFill/>
          <a:ln>
            <a:noFill/>
          </a:ln>
        </p:spPr>
        <p:txBody>
          <a:bodyPr anchorCtr="0" anchor="t" bIns="0" lIns="0" spcFirstLastPara="1" rIns="0" wrap="square" tIns="12700">
            <a:spAutoFit/>
          </a:bodyPr>
          <a:lstStyle/>
          <a:p>
            <a:pPr indent="0" lvl="0" marL="12700" marR="5080" rtl="0" algn="l">
              <a:lnSpc>
                <a:spcPct val="104900"/>
              </a:lnSpc>
              <a:spcBef>
                <a:spcPts val="0"/>
              </a:spcBef>
              <a:spcAft>
                <a:spcPts val="0"/>
              </a:spcAft>
              <a:buNone/>
            </a:pPr>
            <a:r>
              <a:rPr b="1" lang="en-US" sz="1200">
                <a:solidFill>
                  <a:srgbClr val="1E2836"/>
                </a:solidFill>
                <a:latin typeface="Calibri"/>
                <a:ea typeface="Calibri"/>
                <a:cs typeface="Calibri"/>
                <a:sym typeface="Calibri"/>
              </a:rPr>
              <a:t>LSTMs add gates and a cell state, </a:t>
            </a:r>
            <a:r>
              <a:rPr lang="en-US" sz="1200">
                <a:solidFill>
                  <a:srgbClr val="1E2836"/>
                </a:solidFill>
                <a:latin typeface="Calibri"/>
                <a:ea typeface="Calibri"/>
                <a:cs typeface="Calibri"/>
                <a:sym typeface="Calibri"/>
              </a:rPr>
              <a:t>stretching memory, yet still one vector and still sequential.</a:t>
            </a:r>
            <a:endParaRPr sz="1200">
              <a:latin typeface="Calibri"/>
              <a:ea typeface="Calibri"/>
              <a:cs typeface="Calibri"/>
              <a:sym typeface="Calibri"/>
            </a:endParaRPr>
          </a:p>
        </p:txBody>
      </p:sp>
      <p:grpSp>
        <p:nvGrpSpPr>
          <p:cNvPr id="1749" name="Google Shape;1749;p67"/>
          <p:cNvGrpSpPr/>
          <p:nvPr/>
        </p:nvGrpSpPr>
        <p:grpSpPr>
          <a:xfrm>
            <a:off x="5577484" y="913678"/>
            <a:ext cx="3155315" cy="2103755"/>
            <a:chOff x="5577484" y="913678"/>
            <a:chExt cx="3155315" cy="2103755"/>
          </a:xfrm>
        </p:grpSpPr>
        <p:sp>
          <p:nvSpPr>
            <p:cNvPr id="1750" name="Google Shape;1750;p67"/>
            <p:cNvSpPr/>
            <p:nvPr/>
          </p:nvSpPr>
          <p:spPr>
            <a:xfrm>
              <a:off x="5577484" y="913678"/>
              <a:ext cx="3155315" cy="2103755"/>
            </a:xfrm>
            <a:custGeom>
              <a:rect b="b" l="l" r="r" t="t"/>
              <a:pathLst>
                <a:path extrusionOk="0" h="2103755" w="3155315">
                  <a:moveTo>
                    <a:pt x="126720" y="0"/>
                  </a:moveTo>
                  <a:lnTo>
                    <a:pt x="78318" y="9724"/>
                  </a:lnTo>
                  <a:lnTo>
                    <a:pt x="37344" y="37039"/>
                  </a:lnTo>
                  <a:lnTo>
                    <a:pt x="9924" y="78117"/>
                  </a:lnTo>
                  <a:lnTo>
                    <a:pt x="355" y="126365"/>
                  </a:lnTo>
                  <a:lnTo>
                    <a:pt x="0" y="1977123"/>
                  </a:lnTo>
                  <a:lnTo>
                    <a:pt x="1125" y="1993708"/>
                  </a:lnTo>
                  <a:lnTo>
                    <a:pt x="4410" y="2009884"/>
                  </a:lnTo>
                  <a:lnTo>
                    <a:pt x="9668" y="2025370"/>
                  </a:lnTo>
                  <a:lnTo>
                    <a:pt x="9719" y="2025520"/>
                  </a:lnTo>
                  <a:lnTo>
                    <a:pt x="16916" y="2040483"/>
                  </a:lnTo>
                  <a:lnTo>
                    <a:pt x="26047" y="2054012"/>
                  </a:lnTo>
                  <a:lnTo>
                    <a:pt x="26148" y="2054162"/>
                  </a:lnTo>
                  <a:lnTo>
                    <a:pt x="63360" y="2086559"/>
                  </a:lnTo>
                  <a:lnTo>
                    <a:pt x="109778" y="2102412"/>
                  </a:lnTo>
                  <a:lnTo>
                    <a:pt x="126352" y="2103488"/>
                  </a:lnTo>
                  <a:lnTo>
                    <a:pt x="3028670" y="2103488"/>
                  </a:lnTo>
                  <a:lnTo>
                    <a:pt x="3044520" y="2102412"/>
                  </a:lnTo>
                  <a:lnTo>
                    <a:pt x="3045011" y="2102412"/>
                  </a:lnTo>
                  <a:lnTo>
                    <a:pt x="3092030" y="2086559"/>
                  </a:lnTo>
                  <a:lnTo>
                    <a:pt x="3128892" y="2054012"/>
                  </a:lnTo>
                  <a:lnTo>
                    <a:pt x="3150743" y="2009884"/>
                  </a:lnTo>
                  <a:lnTo>
                    <a:pt x="3155035" y="1977123"/>
                  </a:lnTo>
                  <a:lnTo>
                    <a:pt x="3155011" y="126365"/>
                  </a:lnTo>
                  <a:lnTo>
                    <a:pt x="3145316" y="78325"/>
                  </a:lnTo>
                  <a:lnTo>
                    <a:pt x="3118002" y="37355"/>
                  </a:lnTo>
                  <a:lnTo>
                    <a:pt x="3076923" y="9931"/>
                  </a:lnTo>
                  <a:lnTo>
                    <a:pt x="3028670" y="368"/>
                  </a:lnTo>
                  <a:lnTo>
                    <a:pt x="126720" y="0"/>
                  </a:lnTo>
                  <a:close/>
                </a:path>
              </a:pathLst>
            </a:custGeom>
            <a:solidFill>
              <a:srgbClr val="FFF6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51" name="Google Shape;1751;p67"/>
            <p:cNvSpPr/>
            <p:nvPr/>
          </p:nvSpPr>
          <p:spPr>
            <a:xfrm>
              <a:off x="5577484" y="913678"/>
              <a:ext cx="3155315" cy="2103755"/>
            </a:xfrm>
            <a:custGeom>
              <a:rect b="b" l="l" r="r" t="t"/>
              <a:pathLst>
                <a:path extrusionOk="0" h="2103755" w="3155315">
                  <a:moveTo>
                    <a:pt x="355" y="126365"/>
                  </a:moveTo>
                  <a:lnTo>
                    <a:pt x="1430" y="109785"/>
                  </a:lnTo>
                  <a:lnTo>
                    <a:pt x="4632" y="93648"/>
                  </a:lnTo>
                  <a:lnTo>
                    <a:pt x="26498" y="49476"/>
                  </a:lnTo>
                  <a:lnTo>
                    <a:pt x="63360" y="16929"/>
                  </a:lnTo>
                  <a:lnTo>
                    <a:pt x="110134" y="1125"/>
                  </a:lnTo>
                  <a:lnTo>
                    <a:pt x="126720" y="0"/>
                  </a:lnTo>
                  <a:lnTo>
                    <a:pt x="3028670" y="368"/>
                  </a:lnTo>
                  <a:lnTo>
                    <a:pt x="3076923" y="9931"/>
                  </a:lnTo>
                  <a:lnTo>
                    <a:pt x="3118002" y="37355"/>
                  </a:lnTo>
                  <a:lnTo>
                    <a:pt x="3145316" y="78325"/>
                  </a:lnTo>
                  <a:lnTo>
                    <a:pt x="3155035" y="126720"/>
                  </a:lnTo>
                  <a:lnTo>
                    <a:pt x="3155035" y="1977123"/>
                  </a:lnTo>
                  <a:lnTo>
                    <a:pt x="3153960" y="1993702"/>
                  </a:lnTo>
                  <a:lnTo>
                    <a:pt x="3150758" y="2009840"/>
                  </a:lnTo>
                  <a:lnTo>
                    <a:pt x="3128892" y="2054012"/>
                  </a:lnTo>
                  <a:lnTo>
                    <a:pt x="3092030" y="2086559"/>
                  </a:lnTo>
                  <a:lnTo>
                    <a:pt x="3045257" y="2102362"/>
                  </a:lnTo>
                  <a:lnTo>
                    <a:pt x="3028670" y="2103488"/>
                  </a:lnTo>
                  <a:lnTo>
                    <a:pt x="126352" y="2103488"/>
                  </a:lnTo>
                  <a:lnTo>
                    <a:pt x="78112" y="2093913"/>
                  </a:lnTo>
                  <a:lnTo>
                    <a:pt x="37033" y="2066493"/>
                  </a:lnTo>
                  <a:lnTo>
                    <a:pt x="9719" y="2025520"/>
                  </a:lnTo>
                  <a:lnTo>
                    <a:pt x="0" y="1977123"/>
                  </a:lnTo>
                  <a:lnTo>
                    <a:pt x="355" y="126365"/>
                  </a:lnTo>
                  <a:close/>
                </a:path>
              </a:pathLst>
            </a:custGeom>
            <a:noFill/>
            <a:ln cap="flat" cmpd="sng" w="12575">
              <a:solidFill>
                <a:srgbClr val="F2D17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752" name="Google Shape;1752;p67"/>
          <p:cNvSpPr txBox="1"/>
          <p:nvPr/>
        </p:nvSpPr>
        <p:spPr>
          <a:xfrm>
            <a:off x="5747664" y="1010782"/>
            <a:ext cx="2538730" cy="14401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913F0D"/>
                </a:solidFill>
                <a:latin typeface="Calibri"/>
                <a:ea typeface="Calibri"/>
                <a:cs typeface="Calibri"/>
                <a:sym typeface="Calibri"/>
              </a:rPr>
              <a:t>One to take home</a:t>
            </a:r>
            <a:endParaRPr sz="1350">
              <a:latin typeface="Calibri"/>
              <a:ea typeface="Calibri"/>
              <a:cs typeface="Calibri"/>
              <a:sym typeface="Calibri"/>
            </a:endParaRPr>
          </a:p>
          <a:p>
            <a:pPr indent="0" lvl="0" marL="12700" rtl="0" algn="l">
              <a:lnSpc>
                <a:spcPct val="100000"/>
              </a:lnSpc>
              <a:spcBef>
                <a:spcPts val="1115"/>
              </a:spcBef>
              <a:spcAft>
                <a:spcPts val="0"/>
              </a:spcAft>
              <a:buNone/>
            </a:pPr>
            <a:r>
              <a:rPr b="1" lang="en-US" sz="1200">
                <a:solidFill>
                  <a:srgbClr val="1E2836"/>
                </a:solidFill>
                <a:latin typeface="Calibri"/>
                <a:ea typeface="Calibri"/>
                <a:cs typeface="Calibri"/>
                <a:sym typeface="Calibri"/>
              </a:rPr>
              <a:t>Why did the RNN fail its exam?</a:t>
            </a:r>
            <a:endParaRPr sz="1200">
              <a:latin typeface="Calibri"/>
              <a:ea typeface="Calibri"/>
              <a:cs typeface="Calibri"/>
              <a:sym typeface="Calibri"/>
            </a:endParaRPr>
          </a:p>
          <a:p>
            <a:pPr indent="0" lvl="0" marL="12700" marR="205104" rtl="0" algn="l">
              <a:lnSpc>
                <a:spcPct val="100000"/>
              </a:lnSpc>
              <a:spcBef>
                <a:spcPts val="400"/>
              </a:spcBef>
              <a:spcAft>
                <a:spcPts val="0"/>
              </a:spcAft>
              <a:buNone/>
            </a:pPr>
            <a:r>
              <a:rPr i="1" lang="en-US" sz="1200">
                <a:solidFill>
                  <a:srgbClr val="1E2836"/>
                </a:solidFill>
                <a:latin typeface="Cambria"/>
                <a:ea typeface="Cambria"/>
                <a:cs typeface="Cambria"/>
                <a:sym typeface="Cambria"/>
              </a:rPr>
              <a:t>It studied the whole syllabus, but only remembered the last chapter.</a:t>
            </a:r>
            <a:endParaRPr sz="1200">
              <a:latin typeface="Cambria"/>
              <a:ea typeface="Cambria"/>
              <a:cs typeface="Cambria"/>
              <a:sym typeface="Cambria"/>
            </a:endParaRPr>
          </a:p>
          <a:p>
            <a:pPr indent="0" lvl="0" marL="12700" marR="5080" rtl="0" algn="l">
              <a:lnSpc>
                <a:spcPct val="100000"/>
              </a:lnSpc>
              <a:spcBef>
                <a:spcPts val="800"/>
              </a:spcBef>
              <a:spcAft>
                <a:spcPts val="0"/>
              </a:spcAft>
              <a:buNone/>
            </a:pPr>
            <a:r>
              <a:rPr i="1" lang="en-US" sz="1200">
                <a:solidFill>
                  <a:srgbClr val="1E2836"/>
                </a:solidFill>
                <a:latin typeface="Cambria"/>
                <a:ea typeface="Cambria"/>
                <a:cs typeface="Cambria"/>
                <a:sym typeface="Cambria"/>
              </a:rPr>
              <a:t>The Transformer topped the class. It paid attention to everything, all at once.</a:t>
            </a:r>
            <a:endParaRPr sz="1200">
              <a:latin typeface="Cambria"/>
              <a:ea typeface="Cambria"/>
              <a:cs typeface="Cambria"/>
              <a:sym typeface="Cambria"/>
            </a:endParaRPr>
          </a:p>
        </p:txBody>
      </p:sp>
      <p:sp>
        <p:nvSpPr>
          <p:cNvPr id="1753" name="Google Shape;1753;p67"/>
          <p:cNvSpPr/>
          <p:nvPr/>
        </p:nvSpPr>
        <p:spPr>
          <a:xfrm>
            <a:off x="411480" y="3108961"/>
            <a:ext cx="439420" cy="439420"/>
          </a:xfrm>
          <a:custGeom>
            <a:rect b="b" l="l" r="r" t="t"/>
            <a:pathLst>
              <a:path extrusionOk="0" h="439420" w="439419">
                <a:moveTo>
                  <a:pt x="219595" y="0"/>
                </a:moveTo>
                <a:lnTo>
                  <a:pt x="162675" y="7426"/>
                </a:lnTo>
                <a:lnTo>
                  <a:pt x="109804" y="29159"/>
                </a:lnTo>
                <a:lnTo>
                  <a:pt x="64258" y="64168"/>
                </a:lnTo>
                <a:lnTo>
                  <a:pt x="29514" y="109435"/>
                </a:lnTo>
                <a:lnTo>
                  <a:pt x="7470" y="162452"/>
                </a:lnTo>
                <a:lnTo>
                  <a:pt x="0" y="219240"/>
                </a:lnTo>
                <a:lnTo>
                  <a:pt x="1879" y="247937"/>
                </a:lnTo>
                <a:lnTo>
                  <a:pt x="16705" y="303175"/>
                </a:lnTo>
                <a:lnTo>
                  <a:pt x="45403" y="352826"/>
                </a:lnTo>
                <a:lnTo>
                  <a:pt x="85814" y="393232"/>
                </a:lnTo>
                <a:lnTo>
                  <a:pt x="135515" y="421980"/>
                </a:lnTo>
                <a:lnTo>
                  <a:pt x="190848" y="436906"/>
                </a:lnTo>
                <a:lnTo>
                  <a:pt x="219595" y="438835"/>
                </a:lnTo>
                <a:lnTo>
                  <a:pt x="248139" y="436906"/>
                </a:lnTo>
                <a:lnTo>
                  <a:pt x="303336" y="421980"/>
                </a:lnTo>
                <a:lnTo>
                  <a:pt x="353028" y="393232"/>
                </a:lnTo>
                <a:lnTo>
                  <a:pt x="393438" y="352826"/>
                </a:lnTo>
                <a:lnTo>
                  <a:pt x="422135" y="303175"/>
                </a:lnTo>
                <a:lnTo>
                  <a:pt x="436958" y="247937"/>
                </a:lnTo>
                <a:lnTo>
                  <a:pt x="438835" y="219240"/>
                </a:lnTo>
                <a:lnTo>
                  <a:pt x="436958" y="190542"/>
                </a:lnTo>
                <a:lnTo>
                  <a:pt x="422135" y="135304"/>
                </a:lnTo>
                <a:lnTo>
                  <a:pt x="393438" y="85653"/>
                </a:lnTo>
                <a:lnTo>
                  <a:pt x="353028" y="45247"/>
                </a:lnTo>
                <a:lnTo>
                  <a:pt x="303336" y="16555"/>
                </a:lnTo>
                <a:lnTo>
                  <a:pt x="248139" y="1873"/>
                </a:lnTo>
                <a:lnTo>
                  <a:pt x="219595" y="0"/>
                </a:lnTo>
                <a:close/>
              </a:path>
            </a:pathLst>
          </a:custGeom>
          <a:solidFill>
            <a:srgbClr val="C1400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54" name="Google Shape;1754;p67"/>
          <p:cNvSpPr txBox="1"/>
          <p:nvPr/>
        </p:nvSpPr>
        <p:spPr>
          <a:xfrm>
            <a:off x="570141" y="3201024"/>
            <a:ext cx="121920" cy="254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500">
                <a:solidFill>
                  <a:srgbClr val="FFFFFF"/>
                </a:solidFill>
                <a:latin typeface="Calibri"/>
                <a:ea typeface="Calibri"/>
                <a:cs typeface="Calibri"/>
                <a:sym typeface="Calibri"/>
              </a:rPr>
              <a:t>4</a:t>
            </a:r>
            <a:endParaRPr sz="1500">
              <a:latin typeface="Calibri"/>
              <a:ea typeface="Calibri"/>
              <a:cs typeface="Calibri"/>
              <a:sym typeface="Calibri"/>
            </a:endParaRPr>
          </a:p>
        </p:txBody>
      </p:sp>
      <p:sp>
        <p:nvSpPr>
          <p:cNvPr id="1755" name="Google Shape;1755;p67"/>
          <p:cNvSpPr txBox="1"/>
          <p:nvPr/>
        </p:nvSpPr>
        <p:spPr>
          <a:xfrm>
            <a:off x="993139" y="3238095"/>
            <a:ext cx="435038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200">
                <a:solidFill>
                  <a:srgbClr val="1E2836"/>
                </a:solidFill>
                <a:latin typeface="Calibri"/>
                <a:ea typeface="Calibri"/>
                <a:cs typeface="Calibri"/>
                <a:sym typeface="Calibri"/>
              </a:rPr>
              <a:t>ELMo made embeddings contextual: </a:t>
            </a:r>
            <a:r>
              <a:rPr lang="en-US" sz="1200">
                <a:solidFill>
                  <a:srgbClr val="1E2836"/>
                </a:solidFill>
                <a:latin typeface="Calibri"/>
                <a:ea typeface="Calibri"/>
                <a:cs typeface="Calibri"/>
                <a:sym typeface="Calibri"/>
              </a:rPr>
              <a:t>"bank" (money) ≠ "bank" (river).</a:t>
            </a:r>
            <a:endParaRPr sz="1200">
              <a:latin typeface="Calibri"/>
              <a:ea typeface="Calibri"/>
              <a:cs typeface="Calibri"/>
              <a:sym typeface="Calibri"/>
            </a:endParaRPr>
          </a:p>
        </p:txBody>
      </p:sp>
      <p:sp>
        <p:nvSpPr>
          <p:cNvPr id="1756" name="Google Shape;1756;p67"/>
          <p:cNvSpPr/>
          <p:nvPr/>
        </p:nvSpPr>
        <p:spPr>
          <a:xfrm>
            <a:off x="411480" y="3822117"/>
            <a:ext cx="439420" cy="439420"/>
          </a:xfrm>
          <a:custGeom>
            <a:rect b="b" l="l" r="r" t="t"/>
            <a:pathLst>
              <a:path extrusionOk="0" h="439420" w="439419">
                <a:moveTo>
                  <a:pt x="219595" y="0"/>
                </a:moveTo>
                <a:lnTo>
                  <a:pt x="162675" y="7426"/>
                </a:lnTo>
                <a:lnTo>
                  <a:pt x="109804" y="29159"/>
                </a:lnTo>
                <a:lnTo>
                  <a:pt x="64258" y="64174"/>
                </a:lnTo>
                <a:lnTo>
                  <a:pt x="29514" y="109448"/>
                </a:lnTo>
                <a:lnTo>
                  <a:pt x="7470" y="162453"/>
                </a:lnTo>
                <a:lnTo>
                  <a:pt x="0" y="219240"/>
                </a:lnTo>
                <a:lnTo>
                  <a:pt x="1879" y="247939"/>
                </a:lnTo>
                <a:lnTo>
                  <a:pt x="16705" y="303180"/>
                </a:lnTo>
                <a:lnTo>
                  <a:pt x="45403" y="352828"/>
                </a:lnTo>
                <a:lnTo>
                  <a:pt x="85814" y="393238"/>
                </a:lnTo>
                <a:lnTo>
                  <a:pt x="135515" y="421987"/>
                </a:lnTo>
                <a:lnTo>
                  <a:pt x="190848" y="436919"/>
                </a:lnTo>
                <a:lnTo>
                  <a:pt x="219595" y="438848"/>
                </a:lnTo>
                <a:lnTo>
                  <a:pt x="248139" y="436919"/>
                </a:lnTo>
                <a:lnTo>
                  <a:pt x="303336" y="421987"/>
                </a:lnTo>
                <a:lnTo>
                  <a:pt x="353028" y="393238"/>
                </a:lnTo>
                <a:lnTo>
                  <a:pt x="393438" y="352828"/>
                </a:lnTo>
                <a:lnTo>
                  <a:pt x="422135" y="303180"/>
                </a:lnTo>
                <a:lnTo>
                  <a:pt x="436958" y="247939"/>
                </a:lnTo>
                <a:lnTo>
                  <a:pt x="438835" y="219240"/>
                </a:lnTo>
                <a:lnTo>
                  <a:pt x="436958" y="190542"/>
                </a:lnTo>
                <a:lnTo>
                  <a:pt x="422135" y="135309"/>
                </a:lnTo>
                <a:lnTo>
                  <a:pt x="393438" y="85664"/>
                </a:lnTo>
                <a:lnTo>
                  <a:pt x="353028" y="45249"/>
                </a:lnTo>
                <a:lnTo>
                  <a:pt x="303336" y="16555"/>
                </a:lnTo>
                <a:lnTo>
                  <a:pt x="248139" y="1873"/>
                </a:lnTo>
                <a:lnTo>
                  <a:pt x="219595" y="0"/>
                </a:lnTo>
                <a:close/>
              </a:path>
            </a:pathLst>
          </a:custGeom>
          <a:solidFill>
            <a:srgbClr val="147F3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57" name="Google Shape;1757;p67"/>
          <p:cNvSpPr txBox="1"/>
          <p:nvPr/>
        </p:nvSpPr>
        <p:spPr>
          <a:xfrm>
            <a:off x="570141" y="3914180"/>
            <a:ext cx="121920" cy="254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500">
                <a:solidFill>
                  <a:srgbClr val="FFFFFF"/>
                </a:solidFill>
                <a:latin typeface="Calibri"/>
                <a:ea typeface="Calibri"/>
                <a:cs typeface="Calibri"/>
                <a:sym typeface="Calibri"/>
              </a:rPr>
              <a:t>5</a:t>
            </a:r>
            <a:endParaRPr sz="1500">
              <a:latin typeface="Calibri"/>
              <a:ea typeface="Calibri"/>
              <a:cs typeface="Calibri"/>
              <a:sym typeface="Calibri"/>
            </a:endParaRPr>
          </a:p>
        </p:txBody>
      </p:sp>
      <p:sp>
        <p:nvSpPr>
          <p:cNvPr id="1758" name="Google Shape;1758;p67"/>
          <p:cNvSpPr txBox="1"/>
          <p:nvPr/>
        </p:nvSpPr>
        <p:spPr>
          <a:xfrm>
            <a:off x="993139" y="3845996"/>
            <a:ext cx="4083685" cy="409575"/>
          </a:xfrm>
          <a:prstGeom prst="rect">
            <a:avLst/>
          </a:prstGeom>
          <a:noFill/>
          <a:ln>
            <a:noFill/>
          </a:ln>
        </p:spPr>
        <p:txBody>
          <a:bodyPr anchorCtr="0" anchor="t" bIns="0" lIns="0" spcFirstLastPara="1" rIns="0" wrap="square" tIns="21575">
            <a:spAutoFit/>
          </a:bodyPr>
          <a:lstStyle/>
          <a:p>
            <a:pPr indent="0" lvl="0" marL="12700" rtl="0" algn="l">
              <a:lnSpc>
                <a:spcPct val="100000"/>
              </a:lnSpc>
              <a:spcBef>
                <a:spcPts val="0"/>
              </a:spcBef>
              <a:spcAft>
                <a:spcPts val="0"/>
              </a:spcAft>
              <a:buNone/>
            </a:pPr>
            <a:r>
              <a:rPr b="1" lang="en-US" sz="1200">
                <a:solidFill>
                  <a:srgbClr val="1E2836"/>
                </a:solidFill>
                <a:latin typeface="Calibri"/>
                <a:ea typeface="Calibri"/>
                <a:cs typeface="Calibri"/>
                <a:sym typeface="Calibri"/>
              </a:rPr>
              <a:t>Attention lets every token look at every other token directly:</a:t>
            </a:r>
            <a:endParaRPr sz="1200">
              <a:latin typeface="Calibri"/>
              <a:ea typeface="Calibri"/>
              <a:cs typeface="Calibri"/>
              <a:sym typeface="Calibri"/>
            </a:endParaRPr>
          </a:p>
          <a:p>
            <a:pPr indent="0" lvl="0" marL="12700" rtl="0" algn="l">
              <a:lnSpc>
                <a:spcPct val="100000"/>
              </a:lnSpc>
              <a:spcBef>
                <a:spcPts val="70"/>
              </a:spcBef>
              <a:spcAft>
                <a:spcPts val="0"/>
              </a:spcAft>
              <a:buNone/>
            </a:pPr>
            <a:r>
              <a:rPr lang="en-US" sz="1200">
                <a:solidFill>
                  <a:srgbClr val="1E2836"/>
                </a:solidFill>
                <a:latin typeface="Calibri"/>
                <a:ea typeface="Calibri"/>
                <a:cs typeface="Calibri"/>
                <a:sym typeface="Calibri"/>
              </a:rPr>
              <a:t>parallel, long-range, the engine of Transformers and today's LLMs.</a:t>
            </a:r>
            <a:endParaRPr sz="1200">
              <a:latin typeface="Calibri"/>
              <a:ea typeface="Calibri"/>
              <a:cs typeface="Calibri"/>
              <a:sym typeface="Calibri"/>
            </a:endParaRPr>
          </a:p>
        </p:txBody>
      </p:sp>
      <p:sp>
        <p:nvSpPr>
          <p:cNvPr id="1759" name="Google Shape;1759;p67"/>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3" name="Shape 1763"/>
        <p:cNvGrpSpPr/>
        <p:nvPr/>
      </p:nvGrpSpPr>
      <p:grpSpPr>
        <a:xfrm>
          <a:off x="0" y="0"/>
          <a:ext cx="0" cy="0"/>
          <a:chOff x="0" y="0"/>
          <a:chExt cx="0" cy="0"/>
        </a:xfrm>
      </p:grpSpPr>
      <p:pic>
        <p:nvPicPr>
          <p:cNvPr id="1764" name="Google Shape;1764;p68"/>
          <p:cNvPicPr preferRelativeResize="0"/>
          <p:nvPr/>
        </p:nvPicPr>
        <p:blipFill rotWithShape="1">
          <a:blip r:embed="rId3">
            <a:alphaModFix/>
          </a:blip>
          <a:srcRect b="0" l="0" r="0" t="0"/>
          <a:stretch/>
        </p:blipFill>
        <p:spPr>
          <a:xfrm>
            <a:off x="8369274" y="14"/>
            <a:ext cx="774357" cy="866508"/>
          </a:xfrm>
          <a:prstGeom prst="rect">
            <a:avLst/>
          </a:prstGeom>
          <a:noFill/>
          <a:ln>
            <a:noFill/>
          </a:ln>
        </p:spPr>
      </p:pic>
      <p:sp>
        <p:nvSpPr>
          <p:cNvPr descr="$PPTXTitle" id="1765" name="Google Shape;1765;p68"/>
          <p:cNvSpPr txBox="1"/>
          <p:nvPr>
            <p:ph type="title"/>
          </p:nvPr>
        </p:nvSpPr>
        <p:spPr>
          <a:xfrm>
            <a:off x="3730942" y="819621"/>
            <a:ext cx="1682750" cy="4527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sz="2800">
                <a:solidFill>
                  <a:srgbClr val="000000"/>
                </a:solidFill>
                <a:latin typeface="Helvetica Neue"/>
                <a:ea typeface="Helvetica Neue"/>
                <a:cs typeface="Helvetica Neue"/>
                <a:sym typeface="Helvetica Neue"/>
              </a:rPr>
              <a:t>Thank you</a:t>
            </a:r>
            <a:endParaRPr sz="2800">
              <a:latin typeface="Helvetica Neue"/>
              <a:ea typeface="Helvetica Neue"/>
              <a:cs typeface="Helvetica Neue"/>
              <a:sym typeface="Helvetica Neue"/>
            </a:endParaRPr>
          </a:p>
        </p:txBody>
      </p:sp>
      <p:sp>
        <p:nvSpPr>
          <p:cNvPr id="1766" name="Google Shape;1766;p68"/>
          <p:cNvSpPr txBox="1"/>
          <p:nvPr/>
        </p:nvSpPr>
        <p:spPr>
          <a:xfrm>
            <a:off x="1232535" y="1742302"/>
            <a:ext cx="1085215" cy="3308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000">
                <a:latin typeface="Helvetica Neue"/>
                <a:ea typeface="Helvetica Neue"/>
                <a:cs typeface="Helvetica Neue"/>
                <a:sym typeface="Helvetica Neue"/>
              </a:rPr>
              <a:t>Instructor</a:t>
            </a:r>
            <a:endParaRPr sz="2000">
              <a:latin typeface="Helvetica Neue"/>
              <a:ea typeface="Helvetica Neue"/>
              <a:cs typeface="Helvetica Neue"/>
              <a:sym typeface="Helvetica Neue"/>
            </a:endParaRPr>
          </a:p>
        </p:txBody>
      </p:sp>
      <p:sp>
        <p:nvSpPr>
          <p:cNvPr id="1767" name="Google Shape;1767;p68"/>
          <p:cNvSpPr txBox="1"/>
          <p:nvPr/>
        </p:nvSpPr>
        <p:spPr>
          <a:xfrm>
            <a:off x="3851541" y="1647611"/>
            <a:ext cx="3332479" cy="3308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000">
                <a:latin typeface="Helvetica Neue"/>
                <a:ea typeface="Helvetica Neue"/>
                <a:cs typeface="Helvetica Neue"/>
                <a:sym typeface="Helvetica Neue"/>
              </a:rPr>
              <a:t>Teaching Assistants (IITKGP)</a:t>
            </a:r>
            <a:endParaRPr sz="2000">
              <a:latin typeface="Helvetica Neue"/>
              <a:ea typeface="Helvetica Neue"/>
              <a:cs typeface="Helvetica Neue"/>
              <a:sym typeface="Helvetica Neue"/>
            </a:endParaRPr>
          </a:p>
        </p:txBody>
      </p:sp>
      <p:pic>
        <p:nvPicPr>
          <p:cNvPr id="1768" name="Google Shape;1768;p68"/>
          <p:cNvPicPr preferRelativeResize="0"/>
          <p:nvPr/>
        </p:nvPicPr>
        <p:blipFill rotWithShape="1">
          <a:blip r:embed="rId4">
            <a:alphaModFix/>
          </a:blip>
          <a:srcRect b="0" l="0" r="0" t="0"/>
          <a:stretch/>
        </p:blipFill>
        <p:spPr>
          <a:xfrm>
            <a:off x="1065606" y="2164678"/>
            <a:ext cx="1419834" cy="1383118"/>
          </a:xfrm>
          <a:prstGeom prst="rect">
            <a:avLst/>
          </a:prstGeom>
          <a:noFill/>
          <a:ln>
            <a:noFill/>
          </a:ln>
        </p:spPr>
      </p:pic>
      <p:sp>
        <p:nvSpPr>
          <p:cNvPr id="1769" name="Google Shape;1769;p68"/>
          <p:cNvSpPr txBox="1"/>
          <p:nvPr/>
        </p:nvSpPr>
        <p:spPr>
          <a:xfrm>
            <a:off x="3478225" y="3392540"/>
            <a:ext cx="1120140" cy="2571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1500">
                <a:latin typeface="Helvetica Neue"/>
                <a:ea typeface="Helvetica Neue"/>
                <a:cs typeface="Helvetica Neue"/>
                <a:sym typeface="Helvetica Neue"/>
              </a:rPr>
              <a:t>Sombit Bose</a:t>
            </a:r>
            <a:endParaRPr sz="1500">
              <a:latin typeface="Helvetica Neue"/>
              <a:ea typeface="Helvetica Neue"/>
              <a:cs typeface="Helvetica Neue"/>
              <a:sym typeface="Helvetica Neue"/>
            </a:endParaRPr>
          </a:p>
        </p:txBody>
      </p:sp>
      <p:sp>
        <p:nvSpPr>
          <p:cNvPr id="1770" name="Google Shape;1770;p68"/>
          <p:cNvSpPr txBox="1"/>
          <p:nvPr/>
        </p:nvSpPr>
        <p:spPr>
          <a:xfrm>
            <a:off x="7502664" y="3427109"/>
            <a:ext cx="940435" cy="495934"/>
          </a:xfrm>
          <a:prstGeom prst="rect">
            <a:avLst/>
          </a:prstGeom>
          <a:noFill/>
          <a:ln>
            <a:noFill/>
          </a:ln>
        </p:spPr>
        <p:txBody>
          <a:bodyPr anchorCtr="0" anchor="t" bIns="0" lIns="0" spcFirstLastPara="1" rIns="0" wrap="square" tIns="10775">
            <a:spAutoFit/>
          </a:bodyPr>
          <a:lstStyle/>
          <a:p>
            <a:pPr indent="65405" lvl="0" marL="12700" marR="5080" rtl="0" algn="l">
              <a:lnSpc>
                <a:spcPct val="103000"/>
              </a:lnSpc>
              <a:spcBef>
                <a:spcPts val="0"/>
              </a:spcBef>
              <a:spcAft>
                <a:spcPts val="0"/>
              </a:spcAft>
              <a:buNone/>
            </a:pPr>
            <a:r>
              <a:rPr lang="en-US" sz="1500">
                <a:latin typeface="Helvetica Neue"/>
                <a:ea typeface="Helvetica Neue"/>
                <a:cs typeface="Helvetica Neue"/>
                <a:sym typeface="Helvetica Neue"/>
              </a:rPr>
              <a:t>Shrimon Mukherjee</a:t>
            </a:r>
            <a:endParaRPr sz="1500">
              <a:latin typeface="Helvetica Neue"/>
              <a:ea typeface="Helvetica Neue"/>
              <a:cs typeface="Helvetica Neue"/>
              <a:sym typeface="Helvetica Neue"/>
            </a:endParaRPr>
          </a:p>
        </p:txBody>
      </p:sp>
      <p:grpSp>
        <p:nvGrpSpPr>
          <p:cNvPr id="1771" name="Google Shape;1771;p68"/>
          <p:cNvGrpSpPr/>
          <p:nvPr/>
        </p:nvGrpSpPr>
        <p:grpSpPr>
          <a:xfrm>
            <a:off x="3489477" y="2022476"/>
            <a:ext cx="5145837" cy="1403350"/>
            <a:chOff x="3489477" y="2022476"/>
            <a:chExt cx="5145837" cy="1403350"/>
          </a:xfrm>
        </p:grpSpPr>
        <p:pic>
          <p:nvPicPr>
            <p:cNvPr id="1772" name="Google Shape;1772;p68"/>
            <p:cNvPicPr preferRelativeResize="0"/>
            <p:nvPr/>
          </p:nvPicPr>
          <p:blipFill rotWithShape="1">
            <a:blip r:embed="rId5">
              <a:alphaModFix/>
            </a:blip>
            <a:srcRect b="0" l="0" r="0" t="0"/>
            <a:stretch/>
          </p:blipFill>
          <p:spPr>
            <a:xfrm>
              <a:off x="3494150" y="2027175"/>
              <a:ext cx="1091158" cy="1393913"/>
            </a:xfrm>
            <a:prstGeom prst="rect">
              <a:avLst/>
            </a:prstGeom>
            <a:noFill/>
            <a:ln>
              <a:noFill/>
            </a:ln>
          </p:spPr>
        </p:pic>
        <p:sp>
          <p:nvSpPr>
            <p:cNvPr id="1773" name="Google Shape;1773;p68"/>
            <p:cNvSpPr/>
            <p:nvPr/>
          </p:nvSpPr>
          <p:spPr>
            <a:xfrm>
              <a:off x="3489477" y="2022476"/>
              <a:ext cx="1101090" cy="1403350"/>
            </a:xfrm>
            <a:custGeom>
              <a:rect b="b" l="l" r="r" t="t"/>
              <a:pathLst>
                <a:path extrusionOk="0" h="1403350" w="1101089">
                  <a:moveTo>
                    <a:pt x="0" y="0"/>
                  </a:moveTo>
                  <a:lnTo>
                    <a:pt x="1100518" y="0"/>
                  </a:lnTo>
                  <a:lnTo>
                    <a:pt x="1100518" y="1403286"/>
                  </a:lnTo>
                  <a:lnTo>
                    <a:pt x="0" y="1403286"/>
                  </a:lnTo>
                  <a:lnTo>
                    <a:pt x="0" y="0"/>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774" name="Google Shape;1774;p68"/>
            <p:cNvPicPr preferRelativeResize="0"/>
            <p:nvPr/>
          </p:nvPicPr>
          <p:blipFill rotWithShape="1">
            <a:blip r:embed="rId6">
              <a:alphaModFix/>
            </a:blip>
            <a:srcRect b="0" l="0" r="0" t="0"/>
            <a:stretch/>
          </p:blipFill>
          <p:spPr>
            <a:xfrm>
              <a:off x="7314476" y="2027163"/>
              <a:ext cx="1320838" cy="1382763"/>
            </a:xfrm>
            <a:prstGeom prst="rect">
              <a:avLst/>
            </a:prstGeom>
            <a:noFill/>
            <a:ln>
              <a:noFill/>
            </a:ln>
          </p:spPr>
        </p:pic>
        <p:pic>
          <p:nvPicPr>
            <p:cNvPr id="1775" name="Google Shape;1775;p68"/>
            <p:cNvPicPr preferRelativeResize="0"/>
            <p:nvPr/>
          </p:nvPicPr>
          <p:blipFill rotWithShape="1">
            <a:blip r:embed="rId7">
              <a:alphaModFix/>
            </a:blip>
            <a:srcRect b="0" l="0" r="0" t="0"/>
            <a:stretch/>
          </p:blipFill>
          <p:spPr>
            <a:xfrm>
              <a:off x="5373712" y="2027163"/>
              <a:ext cx="1151991" cy="1387436"/>
            </a:xfrm>
            <a:prstGeom prst="rect">
              <a:avLst/>
            </a:prstGeom>
            <a:noFill/>
            <a:ln>
              <a:noFill/>
            </a:ln>
          </p:spPr>
        </p:pic>
      </p:grpSp>
      <p:sp>
        <p:nvSpPr>
          <p:cNvPr id="1776" name="Google Shape;1776;p68"/>
          <p:cNvSpPr txBox="1"/>
          <p:nvPr/>
        </p:nvSpPr>
        <p:spPr>
          <a:xfrm>
            <a:off x="5291175" y="3414854"/>
            <a:ext cx="1313180" cy="2571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1500">
                <a:latin typeface="Helvetica Neue"/>
                <a:ea typeface="Helvetica Neue"/>
                <a:cs typeface="Helvetica Neue"/>
                <a:sym typeface="Helvetica Neue"/>
              </a:rPr>
              <a:t>Anurup Naskar</a:t>
            </a:r>
            <a:endParaRPr sz="1500">
              <a:latin typeface="Helvetica Neue"/>
              <a:ea typeface="Helvetica Neue"/>
              <a:cs typeface="Helvetica Neue"/>
              <a:sym typeface="Helvetica Neue"/>
            </a:endParaRPr>
          </a:p>
        </p:txBody>
      </p:sp>
      <p:sp>
        <p:nvSpPr>
          <p:cNvPr id="1777" name="Google Shape;1777;p68"/>
          <p:cNvSpPr txBox="1"/>
          <p:nvPr/>
        </p:nvSpPr>
        <p:spPr>
          <a:xfrm>
            <a:off x="1106538" y="3564257"/>
            <a:ext cx="1334770" cy="488950"/>
          </a:xfrm>
          <a:prstGeom prst="rect">
            <a:avLst/>
          </a:prstGeom>
          <a:noFill/>
          <a:ln>
            <a:noFill/>
          </a:ln>
        </p:spPr>
        <p:txBody>
          <a:bodyPr anchorCtr="0" anchor="t" bIns="0" lIns="0" spcFirstLastPara="1" rIns="0" wrap="square" tIns="12050">
            <a:spAutoFit/>
          </a:bodyPr>
          <a:lstStyle/>
          <a:p>
            <a:pPr indent="156210" lvl="0" marL="12700" marR="5080" rtl="0" algn="l">
              <a:lnSpc>
                <a:spcPct val="101299"/>
              </a:lnSpc>
              <a:spcBef>
                <a:spcPts val="0"/>
              </a:spcBef>
              <a:spcAft>
                <a:spcPts val="0"/>
              </a:spcAft>
              <a:buNone/>
            </a:pPr>
            <a:r>
              <a:rPr lang="en-US" sz="1500">
                <a:latin typeface="Helvetica Neue"/>
                <a:ea typeface="Helvetica Neue"/>
                <a:cs typeface="Helvetica Neue"/>
                <a:sym typeface="Helvetica Neue"/>
              </a:rPr>
              <a:t>Sabyasachi Mukhopadhyay</a:t>
            </a:r>
            <a:endParaRPr sz="1500">
              <a:latin typeface="Helvetica Neue"/>
              <a:ea typeface="Helvetica Neue"/>
              <a:cs typeface="Helvetica Neue"/>
              <a:sym typeface="Helvetica Neue"/>
            </a:endParaRPr>
          </a:p>
        </p:txBody>
      </p:sp>
      <p:sp>
        <p:nvSpPr>
          <p:cNvPr id="1778" name="Google Shape;1778;p68"/>
          <p:cNvSpPr txBox="1"/>
          <p:nvPr>
            <p:ph idx="12" type="sldNum"/>
          </p:nvPr>
        </p:nvSpPr>
        <p:spPr>
          <a:xfrm>
            <a:off x="8906256" y="4894782"/>
            <a:ext cx="319404" cy="180975"/>
          </a:xfrm>
          <a:prstGeom prst="rect">
            <a:avLst/>
          </a:prstGeom>
          <a:noFill/>
          <a:ln>
            <a:noFill/>
          </a:ln>
        </p:spPr>
        <p:txBody>
          <a:bodyPr anchorCtr="0" anchor="t" bIns="0" lIns="0" spcFirstLastPara="1" rIns="0" wrap="square" tIns="6350">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2026-10-02T12:58:06Z</dcterms:created>
  <dc:creator>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v10.0.20290.1</vt:lpwstr>
  </property>
  <property fmtid="{D5CDD505-2E9C-101B-9397-08002B2CF9AE}" pid="3" name="Created">
    <vt:filetime>2026-10-02T00:00:00Z</vt:filetime>
  </property>
  <property fmtid="{D5CDD505-2E9C-101B-9397-08002B2CF9AE}" pid="4" name="Creator">
    <vt:lpwstr>Impress</vt:lpwstr>
  </property>
  <property fmtid="{D5CDD505-2E9C-101B-9397-08002B2CF9AE}" pid="5" name="Producer">
    <vt:lpwstr>LibreOffice 24.2</vt:lpwstr>
  </property>
  <property fmtid="{D5CDD505-2E9C-101B-9397-08002B2CF9AE}" pid="6" name="LastSaved">
    <vt:filetime>2026-10-02T00:00:00Z</vt:filetime>
  </property>
</Properties>
</file>