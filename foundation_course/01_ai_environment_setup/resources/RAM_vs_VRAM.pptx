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minutes, and the highest-value block of the day. Do not rush it. The whole session answers one question: what does this model need from this machine, and will it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movements. One: where memory lives. Two: the arithmetic of whether a model fits. Three: why memory speed sets your tokens per second. Four: reading the error and choosing the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kitchen story slowly. It is doing real work: it gives them a physical intuition for a distinction that is otherwise just two acronyms.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restaurant kitchen during a dinner rush. Cold storage at the back: enormous, holds a week of ingredients, but it is a walk away — if the chef goes there mid-dish, the dish is late. The kitchen counter: smaller, holds tonight's service, reachable in a second. The chef's own cutting board: tiny, but everything on it can be used instantly, without moving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people miss. The GPU is a chef with fifty thousand hands. Those hands can only work with what is on the board. While someone carries an ingredient over from the counter, all fifty thousand hands are idle. So the question is never do I have enough memory — it is always do I have enough of the RIGHT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on the board. Read the last row aloud: the road between RAM and VRAM is roughly twenty times narrower than VRAM itself. That is why just move the data when you need it is such a bad idea — the walk costs more than the cooking.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times narrower. Every design decision in serving an LLM comes back to this ratio: get the weights onto the card once, keep them there, and never move data per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consequences, all of which they will meet in the labs. Offloading to CPU is not free; it is the walk, taken per token. Batching amortises the read. And a model that does not fit is a different problem from a model that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useful piece of arithmetic in the course. Teach it explicitly, and make them do the multiplication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is a pile of numbers called parameters. To know whether it fits, multiply the count of parameters by the number of bytes each one takes. That is the whole formula, and it will serve them for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Bytes per parameter depends on precision. Historically fp32 was the training default. Today fp16 or bf16 is the inference standard. int8 and int4 are quantisation — trading a little quality for a lot of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it out loud. Seven billion times four bytes is 28 GB — does not fit a 16 GB T4, not even close. Times two is 14 GB: on a 16 GB card that leaves two, which sounds fine. Times one is 7 GB, comfortable. Times a half is 3.5 GB, a gaming laptop. Then pause on the fp16 bar, because that is where people get burned.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weights are not the only thing on the card. This is why the person who calculated 14 into 16 and felt safe hits an out-of-memory error at the eight hundredth token of a long conversation and has no idea why — because the model fit when they loaded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down. Budget about 1.2 to 1.5 times the weight size for inference, and roughly four times for training. A 14 GB model at fp16 therefore wants an 18 to 21 GB card, not a 16 GB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training you need the weights, plus the gradients — one per weight — plus optimiser state, which for Adam is two more values per weight. That is why fine-tuning a model you can happily run inference on will still blow up your GPU, and why techniques like LoRA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Quantisation is the first lever they will reach for, so be honest about its price. Int8 is close to free for most tasks. Int4 is noticeable on reasoning and long-form generation. And the only way to know for your task is to measure it, not to read a blog post.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almost nobody teaches at foundation level, and it is what separates someone who understands the machine from someone who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LLM generates text it produces one token at a time, and for every single token it has to read every single weight in the model. That one sentence explains almost everything about generation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both calculations on the board. Fourteen gigabytes over 320 gigabytes per second is 44 milliseconds per token — about 23 tokens per second, maximum, with perfect code and zero overhead. The same model on an A100 at roughly 2,000 is 7 milliseconds, about 140 tokens per second. Same model, same code, six times faster, purely because of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ceilings, not benchmarks: bandwidth divided by fourteen gigabytes. Real numbers land below them. But the ordering and the spacing are real, and no amount of clever code moves a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cannot buy your way past that ceiling with better code. It is a property of the memory, not the software. So when someone says my LLM is slow, the first question is not how is your code — it is what is on the card, and how fast is its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practical half: read the error like a doctor reading a chart, choose one of exactly three levers, then size the machine before you rent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numbers. Total 14.75. Already used 12.1. Wanted 2.10. Twelve point one plus two point one is 14.2, which is under 14.75 — and it still failed, because of fragmentation and reserved workspace. The error is not lying to you. It is telling you exactly which lever to pull.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out-of-memory fix in the world is one of these three. There is no fourth option. Say that plainly — it turns a frightening error into a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it to the room and wait. Let them do the multiplication themselves — this is a good problem because all three answers are one multiplication apiece.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through. Thirteen times two is 26 — no. Thirteen times one is 13 — still no, one gigabyte short, and that surprises people. Thirteen times a half is 6.5 — yes, with about five gigabytes of headroom for cache and activations.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VRAM is the constraint that bites first, but it is not the only one. These three catch people out in week one — a download that fills the disk, a load step that needs the weights in RAM first, and a metered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questions, in this order, before renting anything. Doing them on paper takes two minutes and routinely saves an hour of an instance running while someone reads an error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sentences to close. Fit is arithmetic: parameters times bytes, then headroom. Speed is bandwidth: model size divided into memory speed. Everything else in serving a model is detail on top of those two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sv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sv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5848558" y="754335"/>
            <a:ext cx="1426086"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FOUNDATIONS</a:t>
            </a:r>
            <a:endParaRPr lang="en-US" sz="1800" dirty="0"/>
          </a:p>
        </p:txBody>
      </p:sp>
      <p:sp>
        <p:nvSpPr>
          <p:cNvPr id="4" name="Text 2"/>
          <p:cNvSpPr/>
          <p:nvPr/>
        </p:nvSpPr>
        <p:spPr>
          <a:xfrm>
            <a:off x="1000423" y="3794745"/>
            <a:ext cx="17759035" cy="1958355"/>
          </a:xfrm>
          <a:prstGeom prst="rect">
            <a:avLst/>
          </a:prstGeom>
          <a:noFill/>
          <a:ln/>
        </p:spPr>
        <p:txBody>
          <a:bodyPr wrap="square" lIns="25400" tIns="25400" rIns="25400" bIns="25400" rtlCol="0" anchor="t">
            <a:normAutofit/>
          </a:bodyPr>
          <a:lstStyle/>
          <a:p>
            <a:pPr algn="l" indent="0" marL="0">
              <a:lnSpc>
                <a:spcPct val="87009"/>
              </a:lnSpc>
              <a:buNone/>
            </a:pPr>
            <a:r>
              <a:rPr lang="en-US" sz="21600" b="1" dirty="0">
                <a:solidFill>
                  <a:srgbClr val="1D1F20"/>
                </a:solidFill>
                <a:latin typeface="Arial" pitchFamily="34" charset="0"/>
                <a:ea typeface="Arial" pitchFamily="34" charset="-122"/>
                <a:cs typeface="Arial" pitchFamily="34" charset="-120"/>
              </a:rPr>
              <a:t>RAM vs VRAM</a:t>
            </a:r>
            <a:endParaRPr lang="en-US" sz="21600" dirty="0"/>
          </a:p>
        </p:txBody>
      </p:sp>
      <p:sp>
        <p:nvSpPr>
          <p:cNvPr id="5" name="Text 3"/>
          <p:cNvSpPr/>
          <p:nvPr/>
        </p:nvSpPr>
        <p:spPr>
          <a:xfrm>
            <a:off x="1143000" y="6442695"/>
            <a:ext cx="1757355" cy="2248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1">
                    <a:alpha val="55000"/>
                  </a:srgbClr>
                </a:solidFill>
                <a:latin typeface="Arial" pitchFamily="34" charset="0"/>
                <a:ea typeface="Arial" pitchFamily="34" charset="-122"/>
                <a:cs typeface="Arial" pitchFamily="34" charset="-120"/>
              </a:rPr>
              <a:t>The deep dive</a:t>
            </a:r>
            <a:endParaRPr lang="en-US" sz="2100" dirty="0"/>
          </a:p>
        </p:txBody>
      </p:sp>
      <p:sp>
        <p:nvSpPr>
          <p:cNvPr id="6" name="Text 4"/>
          <p:cNvSpPr/>
          <p:nvPr/>
        </p:nvSpPr>
        <p:spPr>
          <a:xfrm>
            <a:off x="5257800" y="6442695"/>
            <a:ext cx="8005572" cy="11392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1">
                    <a:alpha val="55000"/>
                  </a:srgbClr>
                </a:solidFill>
                <a:latin typeface="Arial" pitchFamily="34" charset="0"/>
                <a:ea typeface="Arial" pitchFamily="34" charset="-122"/>
                <a:cs typeface="Arial" pitchFamily="34" charset="-120"/>
              </a:rPr>
              <a:t>What a large language model actually needs from your machine — where the memory is, how much of it, how fast it is, and what to do the moment it runs out.</a:t>
            </a:r>
            <a:endParaRPr lang="en-US" sz="2100" dirty="0"/>
          </a:p>
        </p:txBody>
      </p:sp>
      <p:sp>
        <p:nvSpPr>
          <p:cNvPr id="7" name="Text 5"/>
          <p:cNvSpPr/>
          <p:nvPr/>
        </p:nvSpPr>
        <p:spPr>
          <a:xfrm>
            <a:off x="1143000" y="8755410"/>
            <a:ext cx="1149548"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1D1F21">
                    <a:alpha val="55000"/>
                  </a:srgbClr>
                </a:solidFill>
                <a:latin typeface="Arial" pitchFamily="34" charset="0"/>
                <a:ea typeface="Arial" pitchFamily="34" charset="-122"/>
                <a:cs typeface="Arial" pitchFamily="34" charset="-120"/>
              </a:rPr>
              <a:t>Session 02</a:t>
            </a:r>
            <a:endParaRPr lang="en-US" sz="1800" dirty="0"/>
          </a:p>
        </p:txBody>
      </p:sp>
      <p:sp>
        <p:nvSpPr>
          <p:cNvPr id="8" name="Text 6"/>
          <p:cNvSpPr/>
          <p:nvPr/>
        </p:nvSpPr>
        <p:spPr>
          <a:xfrm>
            <a:off x="2387798" y="8755410"/>
            <a:ext cx="124271"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1D1F21">
                    <a:alpha val="55000"/>
                  </a:srgbClr>
                </a:solidFill>
                <a:latin typeface="Arial" pitchFamily="34" charset="0"/>
                <a:ea typeface="Arial" pitchFamily="34" charset="-122"/>
                <a:cs typeface="Arial" pitchFamily="34" charset="-120"/>
              </a:rPr>
              <a:t>·</a:t>
            </a:r>
            <a:endParaRPr lang="en-US" sz="1800" dirty="0"/>
          </a:p>
        </p:txBody>
      </p:sp>
      <p:sp>
        <p:nvSpPr>
          <p:cNvPr id="9" name="Text 7"/>
          <p:cNvSpPr/>
          <p:nvPr/>
        </p:nvSpPr>
        <p:spPr>
          <a:xfrm>
            <a:off x="2607320" y="8755410"/>
            <a:ext cx="1176263"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1D1F21">
                    <a:alpha val="55000"/>
                  </a:srgbClr>
                </a:solidFill>
                <a:latin typeface="Arial" pitchFamily="34" charset="0"/>
                <a:ea typeface="Arial" pitchFamily="34" charset="-122"/>
                <a:cs typeface="Arial" pitchFamily="34" charset="-120"/>
              </a:rPr>
              <a:t>20 minutes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Contents</a:t>
            </a:r>
            <a:endParaRPr lang="en-US" sz="7200" dirty="0"/>
          </a:p>
        </p:txBody>
      </p:sp>
      <p:sp>
        <p:nvSpPr>
          <p:cNvPr id="4" name="Text 2"/>
          <p:cNvSpPr/>
          <p:nvPr/>
        </p:nvSpPr>
        <p:spPr>
          <a:xfrm>
            <a:off x="1143000" y="4183410"/>
            <a:ext cx="317153"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5980A6"/>
                </a:solidFill>
                <a:latin typeface="Arial" pitchFamily="34" charset="0"/>
                <a:ea typeface="Arial" pitchFamily="34" charset="-122"/>
                <a:cs typeface="Arial" pitchFamily="34" charset="-120"/>
              </a:rPr>
              <a:t>01</a:t>
            </a:r>
            <a:endParaRPr lang="en-US" sz="1800" dirty="0"/>
          </a:p>
        </p:txBody>
      </p:sp>
      <p:sp>
        <p:nvSpPr>
          <p:cNvPr id="5" name="Text 3"/>
          <p:cNvSpPr/>
          <p:nvPr/>
        </p:nvSpPr>
        <p:spPr>
          <a:xfrm>
            <a:off x="5257800" y="4076700"/>
            <a:ext cx="2372171" cy="304800"/>
          </a:xfrm>
          <a:prstGeom prst="rect">
            <a:avLst/>
          </a:prstGeom>
          <a:noFill/>
          <a:ln/>
        </p:spPr>
        <p:txBody>
          <a:bodyPr wrap="square" lIns="25400" tIns="25400" rIns="25400" bIns="25400" rtlCol="0" anchor="t">
            <a:normAutofit/>
          </a:bodyPr>
          <a:lstStyle/>
          <a:p>
            <a:pPr algn="l" indent="0" marL="0">
              <a:lnSpc>
                <a:spcPct val="134783"/>
              </a:lnSpc>
              <a:buNone/>
            </a:pPr>
            <a:r>
              <a:rPr lang="en-US" sz="3000" dirty="0">
                <a:solidFill>
                  <a:srgbClr val="1D1F20"/>
                </a:solidFill>
                <a:latin typeface="Arial" pitchFamily="34" charset="0"/>
                <a:ea typeface="Arial" pitchFamily="34" charset="-122"/>
                <a:cs typeface="Arial" pitchFamily="34" charset="-120"/>
              </a:rPr>
              <a:t>Memory tiers</a:t>
            </a:r>
            <a:endParaRPr lang="en-US" sz="3000" dirty="0"/>
          </a:p>
        </p:txBody>
      </p:sp>
      <p:sp>
        <p:nvSpPr>
          <p:cNvPr id="6" name="Text 4"/>
          <p:cNvSpPr/>
          <p:nvPr/>
        </p:nvSpPr>
        <p:spPr>
          <a:xfrm>
            <a:off x="1143000" y="5326410"/>
            <a:ext cx="317153"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5980A6"/>
                </a:solidFill>
                <a:latin typeface="Arial" pitchFamily="34" charset="0"/>
                <a:ea typeface="Arial" pitchFamily="34" charset="-122"/>
                <a:cs typeface="Arial" pitchFamily="34" charset="-120"/>
              </a:rPr>
              <a:t>02</a:t>
            </a:r>
            <a:endParaRPr lang="en-US" sz="1800" dirty="0"/>
          </a:p>
        </p:txBody>
      </p:sp>
      <p:sp>
        <p:nvSpPr>
          <p:cNvPr id="7" name="Text 5"/>
          <p:cNvSpPr/>
          <p:nvPr/>
        </p:nvSpPr>
        <p:spPr>
          <a:xfrm>
            <a:off x="5257800" y="5219700"/>
            <a:ext cx="3613919" cy="304800"/>
          </a:xfrm>
          <a:prstGeom prst="rect">
            <a:avLst/>
          </a:prstGeom>
          <a:noFill/>
          <a:ln/>
        </p:spPr>
        <p:txBody>
          <a:bodyPr wrap="square" lIns="25400" tIns="25400" rIns="25400" bIns="25400" rtlCol="0" anchor="t">
            <a:normAutofit/>
          </a:bodyPr>
          <a:lstStyle/>
          <a:p>
            <a:pPr algn="l" indent="0" marL="0">
              <a:lnSpc>
                <a:spcPct val="134783"/>
              </a:lnSpc>
              <a:buNone/>
            </a:pPr>
            <a:r>
              <a:rPr lang="en-US" sz="3000" dirty="0">
                <a:solidFill>
                  <a:srgbClr val="1D1F20"/>
                </a:solidFill>
                <a:latin typeface="Arial" pitchFamily="34" charset="0"/>
                <a:ea typeface="Arial" pitchFamily="34" charset="-122"/>
                <a:cs typeface="Arial" pitchFamily="34" charset="-120"/>
              </a:rPr>
              <a:t>The arithmetic of fit</a:t>
            </a:r>
            <a:endParaRPr lang="en-US" sz="3000" dirty="0"/>
          </a:p>
        </p:txBody>
      </p:sp>
      <p:sp>
        <p:nvSpPr>
          <p:cNvPr id="8" name="Text 6"/>
          <p:cNvSpPr/>
          <p:nvPr/>
        </p:nvSpPr>
        <p:spPr>
          <a:xfrm>
            <a:off x="1143000" y="6469410"/>
            <a:ext cx="317153"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5980A6"/>
                </a:solidFill>
                <a:latin typeface="Arial" pitchFamily="34" charset="0"/>
                <a:ea typeface="Arial" pitchFamily="34" charset="-122"/>
                <a:cs typeface="Arial" pitchFamily="34" charset="-120"/>
              </a:rPr>
              <a:t>03</a:t>
            </a:r>
            <a:endParaRPr lang="en-US" sz="1800" dirty="0"/>
          </a:p>
        </p:txBody>
      </p:sp>
      <p:sp>
        <p:nvSpPr>
          <p:cNvPr id="9" name="Text 7"/>
          <p:cNvSpPr/>
          <p:nvPr/>
        </p:nvSpPr>
        <p:spPr>
          <a:xfrm>
            <a:off x="5257800" y="6362700"/>
            <a:ext cx="3881750" cy="304800"/>
          </a:xfrm>
          <a:prstGeom prst="rect">
            <a:avLst/>
          </a:prstGeom>
          <a:noFill/>
          <a:ln/>
        </p:spPr>
        <p:txBody>
          <a:bodyPr wrap="square" lIns="25400" tIns="25400" rIns="25400" bIns="25400" rtlCol="0" anchor="t">
            <a:normAutofit/>
          </a:bodyPr>
          <a:lstStyle/>
          <a:p>
            <a:pPr algn="l" indent="0" marL="0">
              <a:lnSpc>
                <a:spcPct val="134783"/>
              </a:lnSpc>
              <a:buNone/>
            </a:pPr>
            <a:r>
              <a:rPr lang="en-US" sz="3000" dirty="0">
                <a:solidFill>
                  <a:srgbClr val="1D1F20"/>
                </a:solidFill>
                <a:latin typeface="Arial" pitchFamily="34" charset="0"/>
                <a:ea typeface="Arial" pitchFamily="34" charset="-122"/>
                <a:cs typeface="Arial" pitchFamily="34" charset="-120"/>
              </a:rPr>
              <a:t>Bandwidth and speed</a:t>
            </a:r>
            <a:endParaRPr lang="en-US" sz="3000" dirty="0"/>
          </a:p>
        </p:txBody>
      </p:sp>
      <p:sp>
        <p:nvSpPr>
          <p:cNvPr id="10" name="Text 8"/>
          <p:cNvSpPr/>
          <p:nvPr/>
        </p:nvSpPr>
        <p:spPr>
          <a:xfrm>
            <a:off x="1143000" y="7612410"/>
            <a:ext cx="317153"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5980A6"/>
                </a:solidFill>
                <a:latin typeface="Arial" pitchFamily="34" charset="0"/>
                <a:ea typeface="Arial" pitchFamily="34" charset="-122"/>
                <a:cs typeface="Arial" pitchFamily="34" charset="-120"/>
              </a:rPr>
              <a:t>04</a:t>
            </a:r>
            <a:endParaRPr lang="en-US" sz="1800" dirty="0"/>
          </a:p>
        </p:txBody>
      </p:sp>
      <p:sp>
        <p:nvSpPr>
          <p:cNvPr id="11" name="Text 9"/>
          <p:cNvSpPr/>
          <p:nvPr/>
        </p:nvSpPr>
        <p:spPr>
          <a:xfrm>
            <a:off x="5257800" y="7505700"/>
            <a:ext cx="4069936" cy="304800"/>
          </a:xfrm>
          <a:prstGeom prst="rect">
            <a:avLst/>
          </a:prstGeom>
          <a:noFill/>
          <a:ln/>
        </p:spPr>
        <p:txBody>
          <a:bodyPr wrap="square" lIns="25400" tIns="25400" rIns="25400" bIns="25400" rtlCol="0" anchor="t">
            <a:normAutofit/>
          </a:bodyPr>
          <a:lstStyle/>
          <a:p>
            <a:pPr algn="l" indent="0" marL="0">
              <a:lnSpc>
                <a:spcPct val="134783"/>
              </a:lnSpc>
              <a:buNone/>
            </a:pPr>
            <a:r>
              <a:rPr lang="en-US" sz="3000" dirty="0">
                <a:solidFill>
                  <a:srgbClr val="1D1F20"/>
                </a:solidFill>
                <a:latin typeface="Arial" pitchFamily="34" charset="0"/>
                <a:ea typeface="Arial" pitchFamily="34" charset="-122"/>
                <a:cs typeface="Arial" pitchFamily="34" charset="-120"/>
              </a:rPr>
              <a:t>Breaking, fixing, sizing</a:t>
            </a:r>
            <a:endParaRPr lang="en-US" sz="3000" dirty="0"/>
          </a:p>
        </p:txBody>
      </p:sp>
      <p:pic>
        <p:nvPicPr>
          <p:cNvPr id="12" name="Image 0" descr="preencoded.png">    </p:cNvPr>
          <p:cNvPicPr>
            <a:picLocks noChangeAspect="1"/>
          </p:cNvPicPr>
          <p:nvPr/>
        </p:nvPicPr>
        <p:blipFill>
          <a:blip r:embed="rId2"/>
          <a:stretch>
            <a:fillRect/>
          </a:stretch>
        </p:blipFill>
        <p:spPr>
          <a:xfrm>
            <a:off x="1143000" y="8755410"/>
            <a:ext cx="3438227" cy="1599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D2D3D"/>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F4F4F4">
                <a:alpha val="9000"/>
              </a:srgbClr>
            </a:solidFill>
            <a:prstDash val="solid"/>
          </a:ln>
        </p:spPr>
      </p:sp>
      <p:sp>
        <p:nvSpPr>
          <p:cNvPr id="3" name="Text 1"/>
          <p:cNvSpPr/>
          <p:nvPr/>
        </p:nvSpPr>
        <p:spPr>
          <a:xfrm>
            <a:off x="978471" y="2514600"/>
            <a:ext cx="3641177" cy="3238500"/>
          </a:xfrm>
          <a:prstGeom prst="rect">
            <a:avLst/>
          </a:prstGeom>
          <a:noFill/>
          <a:ln/>
        </p:spPr>
        <p:txBody>
          <a:bodyPr wrap="square" lIns="25400" tIns="25400" rIns="25400" bIns="25400" rtlCol="0" anchor="t">
            <a:normAutofit/>
          </a:bodyPr>
          <a:lstStyle/>
          <a:p>
            <a:pPr algn="l" indent="0" marL="0">
              <a:lnSpc>
                <a:spcPct val="87035"/>
              </a:lnSpc>
              <a:buNone/>
            </a:pPr>
            <a:r>
              <a:rPr lang="en-US" sz="36000" b="1" dirty="0">
                <a:solidFill>
                  <a:srgbClr val="416180"/>
                </a:solidFill>
                <a:latin typeface="Arial" pitchFamily="34" charset="0"/>
                <a:ea typeface="Arial" pitchFamily="34" charset="-122"/>
                <a:cs typeface="Arial" pitchFamily="34" charset="-120"/>
              </a:rPr>
              <a:t>01</a:t>
            </a:r>
            <a:endParaRPr lang="en-US" sz="36000" dirty="0"/>
          </a:p>
        </p:txBody>
      </p:sp>
      <p:sp>
        <p:nvSpPr>
          <p:cNvPr id="4" name="Text 2"/>
          <p:cNvSpPr/>
          <p:nvPr/>
        </p:nvSpPr>
        <p:spPr>
          <a:xfrm>
            <a:off x="1095524" y="7132290"/>
            <a:ext cx="4646035"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F2F2F3"/>
                </a:solidFill>
                <a:latin typeface="Arial" pitchFamily="34" charset="0"/>
                <a:ea typeface="Arial" pitchFamily="34" charset="-122"/>
                <a:cs typeface="Arial" pitchFamily="34" charset="-120"/>
              </a:rPr>
              <a:t>Memory tiers</a:t>
            </a:r>
            <a:endParaRPr lang="en-US" sz="7200" dirty="0"/>
          </a:p>
        </p:txBody>
      </p:sp>
      <p:pic>
        <p:nvPicPr>
          <p:cNvPr id="5" name="Image 0" descr="preencoded.png">    </p:cNvPr>
          <p:cNvPicPr>
            <a:picLocks noChangeAspect="1"/>
          </p:cNvPicPr>
          <p:nvPr/>
        </p:nvPicPr>
        <p:blipFill>
          <a:blip r:embed="rId2"/>
          <a:stretch>
            <a:fillRect/>
          </a:stretch>
        </p:blipFill>
        <p:spPr>
          <a:xfrm>
            <a:off x="1143000" y="8755410"/>
            <a:ext cx="3438227" cy="1599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013726"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01 · MEMORY TIERS</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The kitchen</a:t>
            </a:r>
            <a:endParaRPr lang="en-US" sz="7200" dirty="0"/>
          </a:p>
        </p:txBody>
      </p:sp>
      <p:sp>
        <p:nvSpPr>
          <p:cNvPr id="5" name="Text 3"/>
          <p:cNvSpPr/>
          <p:nvPr/>
        </p:nvSpPr>
        <p:spPr>
          <a:xfrm>
            <a:off x="1143000" y="3162374"/>
            <a:ext cx="4023360" cy="304800"/>
          </a:xfrm>
          <a:prstGeom prst="rect">
            <a:avLst/>
          </a:prstGeom>
          <a:noFill/>
          <a:ln/>
        </p:spPr>
        <p:txBody>
          <a:bodyPr wrap="square" lIns="25400" tIns="25400" rIns="25400" bIns="25400" rtlCol="0" anchor="t">
            <a:normAutofit/>
          </a:bodyPr>
          <a:lstStyle/>
          <a:p>
            <a:pPr algn="l" indent="0" marL="0">
              <a:lnSpc>
                <a:spcPct val="104348"/>
              </a:lnSpc>
              <a:buNone/>
            </a:pPr>
            <a:r>
              <a:rPr lang="en-US" sz="3000" b="1" spc="-45" kern="0" dirty="0">
                <a:solidFill>
                  <a:srgbClr val="1D1F20"/>
                </a:solidFill>
                <a:latin typeface="Arial" pitchFamily="34" charset="0"/>
                <a:ea typeface="Arial" pitchFamily="34" charset="-122"/>
                <a:cs typeface="Arial" pitchFamily="34" charset="-120"/>
              </a:rPr>
              <a:t>Cold storage</a:t>
            </a:r>
            <a:endParaRPr lang="en-US" sz="3000" dirty="0"/>
          </a:p>
        </p:txBody>
      </p:sp>
      <p:sp>
        <p:nvSpPr>
          <p:cNvPr id="6" name="Text 4"/>
          <p:cNvSpPr/>
          <p:nvPr/>
        </p:nvSpPr>
        <p:spPr>
          <a:xfrm>
            <a:off x="1143000" y="4156770"/>
            <a:ext cx="3767328" cy="15964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0"/>
                </a:solidFill>
                <a:latin typeface="Arial" pitchFamily="34" charset="0"/>
                <a:ea typeface="Arial" pitchFamily="34" charset="-122"/>
                <a:cs typeface="Arial" pitchFamily="34" charset="-120"/>
              </a:rPr>
              <a:t>Your disk. Enormous, holds a week of ingredients, and a walk away. Go there mid-dish and the dish is late.</a:t>
            </a:r>
            <a:endParaRPr lang="en-US" sz="2100" dirty="0"/>
          </a:p>
        </p:txBody>
      </p:sp>
      <p:sp>
        <p:nvSpPr>
          <p:cNvPr id="7" name="Text 5"/>
          <p:cNvSpPr/>
          <p:nvPr/>
        </p:nvSpPr>
        <p:spPr>
          <a:xfrm>
            <a:off x="5257800" y="3162374"/>
            <a:ext cx="4023360" cy="304800"/>
          </a:xfrm>
          <a:prstGeom prst="rect">
            <a:avLst/>
          </a:prstGeom>
          <a:noFill/>
          <a:ln/>
        </p:spPr>
        <p:txBody>
          <a:bodyPr wrap="square" lIns="25400" tIns="25400" rIns="25400" bIns="25400" rtlCol="0" anchor="t">
            <a:normAutofit/>
          </a:bodyPr>
          <a:lstStyle/>
          <a:p>
            <a:pPr algn="l" indent="0" marL="0">
              <a:lnSpc>
                <a:spcPct val="104348"/>
              </a:lnSpc>
              <a:buNone/>
            </a:pPr>
            <a:r>
              <a:rPr lang="en-US" sz="3000" b="1" spc="-45" kern="0" dirty="0">
                <a:solidFill>
                  <a:srgbClr val="1D1F20"/>
                </a:solidFill>
                <a:latin typeface="Arial" pitchFamily="34" charset="0"/>
                <a:ea typeface="Arial" pitchFamily="34" charset="-122"/>
                <a:cs typeface="Arial" pitchFamily="34" charset="-120"/>
              </a:rPr>
              <a:t>The counter</a:t>
            </a:r>
            <a:endParaRPr lang="en-US" sz="3000" dirty="0"/>
          </a:p>
        </p:txBody>
      </p:sp>
      <p:sp>
        <p:nvSpPr>
          <p:cNvPr id="8" name="Text 6"/>
          <p:cNvSpPr/>
          <p:nvPr/>
        </p:nvSpPr>
        <p:spPr>
          <a:xfrm>
            <a:off x="5257800" y="4156770"/>
            <a:ext cx="3767328" cy="15964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0"/>
                </a:solidFill>
                <a:latin typeface="Arial" pitchFamily="34" charset="0"/>
                <a:ea typeface="Arial" pitchFamily="34" charset="-122"/>
                <a:cs typeface="Arial" pitchFamily="34" charset="-120"/>
              </a:rPr>
              <a:t>System RAM. Holds tonight's service. The chef reaches it in a second — but she still has to reach.</a:t>
            </a:r>
            <a:endParaRPr lang="en-US" sz="2100" dirty="0"/>
          </a:p>
        </p:txBody>
      </p:sp>
      <p:sp>
        <p:nvSpPr>
          <p:cNvPr id="9" name="Text 7"/>
          <p:cNvSpPr/>
          <p:nvPr/>
        </p:nvSpPr>
        <p:spPr>
          <a:xfrm>
            <a:off x="9372600" y="3162374"/>
            <a:ext cx="4023360" cy="304800"/>
          </a:xfrm>
          <a:prstGeom prst="rect">
            <a:avLst/>
          </a:prstGeom>
          <a:noFill/>
          <a:ln/>
        </p:spPr>
        <p:txBody>
          <a:bodyPr wrap="square" lIns="25400" tIns="25400" rIns="25400" bIns="25400" rtlCol="0" anchor="t">
            <a:normAutofit/>
          </a:bodyPr>
          <a:lstStyle/>
          <a:p>
            <a:pPr algn="l" indent="0" marL="0">
              <a:lnSpc>
                <a:spcPct val="104348"/>
              </a:lnSpc>
              <a:buNone/>
            </a:pPr>
            <a:r>
              <a:rPr lang="en-US" sz="3000" b="1" spc="-45" kern="0" dirty="0">
                <a:solidFill>
                  <a:srgbClr val="1D1F20"/>
                </a:solidFill>
                <a:latin typeface="Arial" pitchFamily="34" charset="0"/>
                <a:ea typeface="Arial" pitchFamily="34" charset="-122"/>
                <a:cs typeface="Arial" pitchFamily="34" charset="-120"/>
              </a:rPr>
              <a:t>The cutting board</a:t>
            </a:r>
            <a:endParaRPr lang="en-US" sz="3000" dirty="0"/>
          </a:p>
        </p:txBody>
      </p:sp>
      <p:sp>
        <p:nvSpPr>
          <p:cNvPr id="10" name="Text 8"/>
          <p:cNvSpPr/>
          <p:nvPr/>
        </p:nvSpPr>
        <p:spPr>
          <a:xfrm>
            <a:off x="9372600" y="4156770"/>
            <a:ext cx="3767328" cy="11392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0"/>
                </a:solidFill>
                <a:latin typeface="Arial" pitchFamily="34" charset="0"/>
                <a:ea typeface="Arial" pitchFamily="34" charset="-122"/>
                <a:cs typeface="Arial" pitchFamily="34" charset="-120"/>
              </a:rPr>
              <a:t>VRAM, on the card itself. Tiny. Everything on it is usable instantly, without moving at all.</a:t>
            </a:r>
            <a:endParaRPr lang="en-US" sz="2100" dirty="0"/>
          </a:p>
        </p:txBody>
      </p:sp>
      <p:pic>
        <p:nvPicPr>
          <p:cNvPr id="11" name="Image 0" descr="preencoded.png">    </p:cNvPr>
          <p:cNvPicPr>
            <a:picLocks noChangeAspect="1"/>
          </p:cNvPicPr>
          <p:nvPr/>
        </p:nvPicPr>
        <p:blipFill>
          <a:blip r:embed="rId2"/>
          <a:stretch>
            <a:fillRect/>
          </a:stretch>
        </p:blipFill>
        <p:spPr>
          <a:xfrm>
            <a:off x="1143000" y="8755410"/>
            <a:ext cx="3438227" cy="1599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013726"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01 · MEMORY TIERS</a:t>
            </a:r>
            <a:endParaRPr lang="en-US" sz="1800" dirty="0"/>
          </a:p>
        </p:txBody>
      </p:sp>
      <p:sp>
        <p:nvSpPr>
          <p:cNvPr id="4" name="Text 2"/>
          <p:cNvSpPr/>
          <p:nvPr/>
        </p:nvSpPr>
        <p:spPr>
          <a:xfrm>
            <a:off x="1143000" y="3002235"/>
            <a:ext cx="11772900" cy="1379190"/>
          </a:xfrm>
          <a:prstGeom prst="rect">
            <a:avLst/>
          </a:prstGeom>
          <a:noFill/>
          <a:ln/>
        </p:spPr>
        <p:txBody>
          <a:bodyPr wrap="square" lIns="25400" tIns="25400" rIns="25400" bIns="25400" rtlCol="0" anchor="t">
            <a:normAutofit/>
          </a:bodyPr>
          <a:lstStyle/>
          <a:p>
            <a:pPr algn="l" indent="0" marL="0">
              <a:lnSpc>
                <a:spcPct val="130612"/>
              </a:lnSpc>
              <a:buNone/>
            </a:pPr>
            <a:r>
              <a:rPr lang="en-US" sz="4800" b="1" dirty="0">
                <a:solidFill>
                  <a:srgbClr val="1D1F20"/>
                </a:solidFill>
                <a:latin typeface="Arial" pitchFamily="34" charset="0"/>
                <a:ea typeface="Arial" pitchFamily="34" charset="-122"/>
                <a:cs typeface="Arial" pitchFamily="34" charset="-120"/>
              </a:rPr>
              <a:t>“The question is never do I have enough memory. It is always do I have enough of the right memory.”</a:t>
            </a:r>
            <a:endParaRPr lang="en-US" sz="4800" dirty="0"/>
          </a:p>
        </p:txBody>
      </p:sp>
      <p:sp>
        <p:nvSpPr>
          <p:cNvPr id="5" name="Text 3"/>
          <p:cNvSpPr/>
          <p:nvPr/>
        </p:nvSpPr>
        <p:spPr>
          <a:xfrm>
            <a:off x="1143000" y="6442695"/>
            <a:ext cx="3660740" cy="224805"/>
          </a:xfrm>
          <a:prstGeom prst="rect">
            <a:avLst/>
          </a:prstGeom>
          <a:noFill/>
          <a:ln/>
        </p:spPr>
        <p:txBody>
          <a:bodyPr wrap="square" lIns="25400" tIns="25400" rIns="25400" bIns="25400" rtlCol="0" anchor="t">
            <a:normAutofit/>
          </a:bodyPr>
          <a:lstStyle/>
          <a:p>
            <a:pPr algn="l" indent="0" marL="0">
              <a:lnSpc>
                <a:spcPct val="133538"/>
              </a:lnSpc>
              <a:buNone/>
            </a:pPr>
            <a:r>
              <a:rPr lang="en-US" sz="2100" dirty="0">
                <a:solidFill>
                  <a:srgbClr val="1D1F21">
                    <a:alpha val="55000"/>
                  </a:srgbClr>
                </a:solidFill>
                <a:latin typeface="Arial" pitchFamily="34" charset="0"/>
                <a:ea typeface="Arial" pitchFamily="34" charset="-122"/>
                <a:cs typeface="Arial" pitchFamily="34" charset="-120"/>
              </a:rPr>
              <a:t>— the whole session, in one line</a:t>
            </a:r>
            <a:endParaRPr lang="en-US" sz="2100" dirty="0"/>
          </a:p>
        </p:txBody>
      </p:sp>
      <p:pic>
        <p:nvPicPr>
          <p:cNvPr id="6" name="Image 0" descr="preencoded.png">    </p:cNvPr>
          <p:cNvPicPr>
            <a:picLocks noChangeAspect="1"/>
          </p:cNvPicPr>
          <p:nvPr/>
        </p:nvPicPr>
        <p:blipFill>
          <a:blip r:embed="rId2"/>
          <a:stretch>
            <a:fillRect/>
          </a:stretch>
        </p:blipFill>
        <p:spPr>
          <a:xfrm>
            <a:off x="1143000" y="8755410"/>
            <a:ext cx="3438227" cy="1599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013726"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01 · MEMORY TIERS</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The numbers that make it real</a:t>
            </a:r>
            <a:endParaRPr lang="en-US" sz="7200" dirty="0"/>
          </a:p>
        </p:txBody>
      </p:sp>
      <p:sp>
        <p:nvSpPr>
          <p:cNvPr id="5" name="Text 3"/>
          <p:cNvSpPr/>
          <p:nvPr/>
        </p:nvSpPr>
        <p:spPr>
          <a:xfrm>
            <a:off x="1143000" y="2514674"/>
            <a:ext cx="4009644"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TIER</a:t>
            </a:r>
            <a:endParaRPr lang="en-US" sz="1800" dirty="0"/>
          </a:p>
        </p:txBody>
      </p:sp>
      <p:sp>
        <p:nvSpPr>
          <p:cNvPr id="6" name="Text 4"/>
          <p:cNvSpPr/>
          <p:nvPr/>
        </p:nvSpPr>
        <p:spPr>
          <a:xfrm>
            <a:off x="5257800" y="2514674"/>
            <a:ext cx="4009644"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TYPICAL SIZE</a:t>
            </a:r>
            <a:endParaRPr lang="en-US" sz="1800" dirty="0"/>
          </a:p>
        </p:txBody>
      </p:sp>
      <p:sp>
        <p:nvSpPr>
          <p:cNvPr id="7" name="Text 5"/>
          <p:cNvSpPr/>
          <p:nvPr/>
        </p:nvSpPr>
        <p:spPr>
          <a:xfrm>
            <a:off x="9372600" y="2514674"/>
            <a:ext cx="4009644"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TYPICAL SPEED</a:t>
            </a:r>
            <a:endParaRPr lang="en-US" sz="1800" dirty="0"/>
          </a:p>
        </p:txBody>
      </p:sp>
      <p:sp>
        <p:nvSpPr>
          <p:cNvPr id="8" name="Text 6"/>
          <p:cNvSpPr/>
          <p:nvPr/>
        </p:nvSpPr>
        <p:spPr>
          <a:xfrm>
            <a:off x="13487400" y="2514674"/>
            <a:ext cx="3767328"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WHO CAN USE IT</a:t>
            </a:r>
            <a:endParaRPr lang="en-US" sz="1800" dirty="0"/>
          </a:p>
        </p:txBody>
      </p:sp>
      <p:sp>
        <p:nvSpPr>
          <p:cNvPr id="9" name="Text 7"/>
          <p:cNvSpPr/>
          <p:nvPr/>
        </p:nvSpPr>
        <p:spPr>
          <a:xfrm>
            <a:off x="1143000" y="3429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Disk — NVMe SSD</a:t>
            </a:r>
            <a:endParaRPr lang="en-US" sz="2175" dirty="0"/>
          </a:p>
        </p:txBody>
      </p:sp>
      <p:sp>
        <p:nvSpPr>
          <p:cNvPr id="10" name="Text 8"/>
          <p:cNvSpPr/>
          <p:nvPr/>
        </p:nvSpPr>
        <p:spPr>
          <a:xfrm>
            <a:off x="5257800" y="3429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512 GB – 4 TB</a:t>
            </a:r>
            <a:endParaRPr lang="en-US" sz="2175" dirty="0"/>
          </a:p>
        </p:txBody>
      </p:sp>
      <p:sp>
        <p:nvSpPr>
          <p:cNvPr id="11" name="Text 9"/>
          <p:cNvSpPr/>
          <p:nvPr/>
        </p:nvSpPr>
        <p:spPr>
          <a:xfrm>
            <a:off x="9372600" y="3429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3 – 7 GB/s</a:t>
            </a:r>
            <a:endParaRPr lang="en-US" sz="2175" dirty="0"/>
          </a:p>
        </p:txBody>
      </p:sp>
      <p:sp>
        <p:nvSpPr>
          <p:cNvPr id="12" name="Text 10"/>
          <p:cNvSpPr/>
          <p:nvPr/>
        </p:nvSpPr>
        <p:spPr>
          <a:xfrm>
            <a:off x="13487400" y="3429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Everyone, slowly</a:t>
            </a:r>
            <a:endParaRPr lang="en-US" sz="2175" dirty="0"/>
          </a:p>
        </p:txBody>
      </p:sp>
      <p:sp>
        <p:nvSpPr>
          <p:cNvPr id="13" name="Text 11"/>
          <p:cNvSpPr/>
          <p:nvPr/>
        </p:nvSpPr>
        <p:spPr>
          <a:xfrm>
            <a:off x="1143000" y="4572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System RAM</a:t>
            </a:r>
            <a:endParaRPr lang="en-US" sz="2175" dirty="0"/>
          </a:p>
        </p:txBody>
      </p:sp>
      <p:sp>
        <p:nvSpPr>
          <p:cNvPr id="14" name="Text 12"/>
          <p:cNvSpPr/>
          <p:nvPr/>
        </p:nvSpPr>
        <p:spPr>
          <a:xfrm>
            <a:off x="5257800" y="4572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8 – 64 GB</a:t>
            </a:r>
            <a:endParaRPr lang="en-US" sz="2175" dirty="0"/>
          </a:p>
        </p:txBody>
      </p:sp>
      <p:sp>
        <p:nvSpPr>
          <p:cNvPr id="15" name="Text 13"/>
          <p:cNvSpPr/>
          <p:nvPr/>
        </p:nvSpPr>
        <p:spPr>
          <a:xfrm>
            <a:off x="9372600" y="4572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50 – 80 GB/s</a:t>
            </a:r>
            <a:endParaRPr lang="en-US" sz="2175" dirty="0"/>
          </a:p>
        </p:txBody>
      </p:sp>
      <p:sp>
        <p:nvSpPr>
          <p:cNvPr id="16" name="Text 14"/>
          <p:cNvSpPr/>
          <p:nvPr/>
        </p:nvSpPr>
        <p:spPr>
          <a:xfrm>
            <a:off x="13487400" y="4572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The CPU</a:t>
            </a:r>
            <a:endParaRPr lang="en-US" sz="2175" dirty="0"/>
          </a:p>
        </p:txBody>
      </p:sp>
      <p:sp>
        <p:nvSpPr>
          <p:cNvPr id="17" name="Text 15"/>
          <p:cNvSpPr/>
          <p:nvPr/>
        </p:nvSpPr>
        <p:spPr>
          <a:xfrm>
            <a:off x="1143000" y="5715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GPU VRAM — T4</a:t>
            </a:r>
            <a:endParaRPr lang="en-US" sz="2175" dirty="0"/>
          </a:p>
        </p:txBody>
      </p:sp>
      <p:sp>
        <p:nvSpPr>
          <p:cNvPr id="18" name="Text 16"/>
          <p:cNvSpPr/>
          <p:nvPr/>
        </p:nvSpPr>
        <p:spPr>
          <a:xfrm>
            <a:off x="5257800" y="5715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16 GB</a:t>
            </a:r>
            <a:endParaRPr lang="en-US" sz="2175" dirty="0"/>
          </a:p>
        </p:txBody>
      </p:sp>
      <p:sp>
        <p:nvSpPr>
          <p:cNvPr id="19" name="Text 17"/>
          <p:cNvSpPr/>
          <p:nvPr/>
        </p:nvSpPr>
        <p:spPr>
          <a:xfrm>
            <a:off x="9372600" y="5715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about 320 GB/s</a:t>
            </a:r>
            <a:endParaRPr lang="en-US" sz="2175" dirty="0"/>
          </a:p>
        </p:txBody>
      </p:sp>
      <p:sp>
        <p:nvSpPr>
          <p:cNvPr id="20" name="Text 18"/>
          <p:cNvSpPr/>
          <p:nvPr/>
        </p:nvSpPr>
        <p:spPr>
          <a:xfrm>
            <a:off x="13487400" y="5715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The GPU only</a:t>
            </a:r>
            <a:endParaRPr lang="en-US" sz="2175" dirty="0"/>
          </a:p>
        </p:txBody>
      </p:sp>
      <p:sp>
        <p:nvSpPr>
          <p:cNvPr id="21" name="Text 19"/>
          <p:cNvSpPr/>
          <p:nvPr/>
        </p:nvSpPr>
        <p:spPr>
          <a:xfrm>
            <a:off x="1143000" y="6858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GPU VRAM — A100</a:t>
            </a:r>
            <a:endParaRPr lang="en-US" sz="2175" dirty="0"/>
          </a:p>
        </p:txBody>
      </p:sp>
      <p:sp>
        <p:nvSpPr>
          <p:cNvPr id="22" name="Text 20"/>
          <p:cNvSpPr/>
          <p:nvPr/>
        </p:nvSpPr>
        <p:spPr>
          <a:xfrm>
            <a:off x="5257800" y="6858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40 or 80 GB</a:t>
            </a:r>
            <a:endParaRPr lang="en-US" sz="2175" dirty="0"/>
          </a:p>
        </p:txBody>
      </p:sp>
      <p:sp>
        <p:nvSpPr>
          <p:cNvPr id="23" name="Text 21"/>
          <p:cNvSpPr/>
          <p:nvPr/>
        </p:nvSpPr>
        <p:spPr>
          <a:xfrm>
            <a:off x="9372600" y="6858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1,500 – 2,000 GB/s</a:t>
            </a:r>
            <a:endParaRPr lang="en-US" sz="2175" dirty="0"/>
          </a:p>
        </p:txBody>
      </p:sp>
      <p:sp>
        <p:nvSpPr>
          <p:cNvPr id="24" name="Text 22"/>
          <p:cNvSpPr/>
          <p:nvPr/>
        </p:nvSpPr>
        <p:spPr>
          <a:xfrm>
            <a:off x="13487400" y="6858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The GPU only</a:t>
            </a:r>
            <a:endParaRPr lang="en-US" sz="2175" dirty="0"/>
          </a:p>
        </p:txBody>
      </p:sp>
      <p:sp>
        <p:nvSpPr>
          <p:cNvPr id="25" name="Text 23"/>
          <p:cNvSpPr/>
          <p:nvPr/>
        </p:nvSpPr>
        <p:spPr>
          <a:xfrm>
            <a:off x="1143000" y="8001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PCIe link — RAM to VRAM</a:t>
            </a:r>
            <a:endParaRPr lang="en-US" sz="2175" dirty="0"/>
          </a:p>
        </p:txBody>
      </p:sp>
      <p:sp>
        <p:nvSpPr>
          <p:cNvPr id="26" name="Text 24"/>
          <p:cNvSpPr/>
          <p:nvPr/>
        </p:nvSpPr>
        <p:spPr>
          <a:xfrm>
            <a:off x="5257800" y="8001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a:t>
            </a:r>
            <a:endParaRPr lang="en-US" sz="2175" dirty="0"/>
          </a:p>
        </p:txBody>
      </p:sp>
      <p:sp>
        <p:nvSpPr>
          <p:cNvPr id="27" name="Text 25"/>
          <p:cNvSpPr/>
          <p:nvPr/>
        </p:nvSpPr>
        <p:spPr>
          <a:xfrm>
            <a:off x="9372600" y="8001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16 – 32 GB/s</a:t>
            </a:r>
            <a:endParaRPr lang="en-US" sz="2175" dirty="0"/>
          </a:p>
        </p:txBody>
      </p:sp>
      <p:sp>
        <p:nvSpPr>
          <p:cNvPr id="28" name="Text 26"/>
          <p:cNvSpPr/>
          <p:nvPr/>
        </p:nvSpPr>
        <p:spPr>
          <a:xfrm>
            <a:off x="13487400" y="8001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The walk between them</a:t>
            </a:r>
            <a:endParaRPr lang="en-US" sz="21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013726"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01 · MEMORY TIERS</a:t>
            </a:r>
            <a:endParaRPr lang="en-US" sz="1800" dirty="0"/>
          </a:p>
        </p:txBody>
      </p:sp>
      <p:sp>
        <p:nvSpPr>
          <p:cNvPr id="4" name="Text 2"/>
          <p:cNvSpPr/>
          <p:nvPr/>
        </p:nvSpPr>
        <p:spPr>
          <a:xfrm>
            <a:off x="1101923" y="2834580"/>
            <a:ext cx="5721288" cy="2918445"/>
          </a:xfrm>
          <a:prstGeom prst="rect">
            <a:avLst/>
          </a:prstGeom>
          <a:noFill/>
          <a:ln/>
        </p:spPr>
        <p:txBody>
          <a:bodyPr wrap="square" lIns="25400" tIns="25400" rIns="25400" bIns="25400" rtlCol="0" anchor="t">
            <a:normAutofit/>
          </a:bodyPr>
          <a:lstStyle/>
          <a:p>
            <a:pPr algn="l" indent="0" marL="0">
              <a:lnSpc>
                <a:spcPct val="87009"/>
              </a:lnSpc>
              <a:buNone/>
            </a:pPr>
            <a:r>
              <a:rPr lang="en-US" sz="32400" b="1" dirty="0">
                <a:solidFill>
                  <a:srgbClr val="5980A6"/>
                </a:solidFill>
                <a:latin typeface="Arial" pitchFamily="34" charset="0"/>
                <a:ea typeface="Arial" pitchFamily="34" charset="-122"/>
                <a:cs typeface="Arial" pitchFamily="34" charset="-120"/>
              </a:rPr>
              <a:t>20×</a:t>
            </a:r>
            <a:endParaRPr lang="en-US" sz="32400" dirty="0"/>
          </a:p>
        </p:txBody>
      </p:sp>
      <p:sp>
        <p:nvSpPr>
          <p:cNvPr id="5" name="Text 3"/>
          <p:cNvSpPr/>
          <p:nvPr/>
        </p:nvSpPr>
        <p:spPr>
          <a:xfrm>
            <a:off x="9372600" y="6442695"/>
            <a:ext cx="8005572" cy="11392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1">
                    <a:alpha val="55000"/>
                  </a:srgbClr>
                </a:solidFill>
                <a:latin typeface="Arial" pitchFamily="34" charset="0"/>
                <a:ea typeface="Arial" pitchFamily="34" charset="-122"/>
                <a:cs typeface="Arial" pitchFamily="34" charset="-120"/>
              </a:rPr>
              <a:t>The road from RAM to VRAM is roughly twenty times narrower than VRAM itself. The walk costs more than the cooking — which is why weights are loaded onto the card once and kept there.</a:t>
            </a:r>
            <a:endParaRPr lang="en-US" sz="2100" dirty="0"/>
          </a:p>
        </p:txBody>
      </p:sp>
      <p:pic>
        <p:nvPicPr>
          <p:cNvPr id="6" name="Image 0" descr="preencoded.png">    </p:cNvPr>
          <p:cNvPicPr>
            <a:picLocks noChangeAspect="1"/>
          </p:cNvPicPr>
          <p:nvPr/>
        </p:nvPicPr>
        <p:blipFill>
          <a:blip r:embed="rId2"/>
          <a:stretch>
            <a:fillRect/>
          </a:stretch>
        </p:blipFill>
        <p:spPr>
          <a:xfrm>
            <a:off x="1143000" y="8755410"/>
            <a:ext cx="3438227" cy="1599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013726"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01 · MEMORY TIERS</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What follows from it</a:t>
            </a:r>
            <a:endParaRPr lang="en-US" sz="7200" dirty="0"/>
          </a:p>
        </p:txBody>
      </p:sp>
      <p:sp>
        <p:nvSpPr>
          <p:cNvPr id="5" name="Text 3"/>
          <p:cNvSpPr/>
          <p:nvPr/>
        </p:nvSpPr>
        <p:spPr>
          <a:xfrm>
            <a:off x="916305" y="3202335"/>
            <a:ext cx="11923395" cy="3007816"/>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Weights are loaded onto the card once and kept resident — never streamed per token.</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CPU offload is not free capacity; it is the narrow walk, taken again and again.</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“It does not fit” and “it is slow” are two different problems with two different fixes.</a:t>
            </a:r>
            <a:endParaRPr lang="en-US" sz="2550" dirty="0"/>
          </a:p>
        </p:txBody>
      </p:sp>
      <p:pic>
        <p:nvPicPr>
          <p:cNvPr id="6" name="Image 0" descr="preencoded.png">    </p:cNvPr>
          <p:cNvPicPr>
            <a:picLocks noChangeAspect="1"/>
          </p:cNvPicPr>
          <p:nvPr/>
        </p:nvPicPr>
        <p:blipFill>
          <a:blip r:embed="rId2"/>
          <a:stretch>
            <a:fillRect/>
          </a:stretch>
        </p:blipFill>
        <p:spPr>
          <a:xfrm>
            <a:off x="1143000" y="8755410"/>
            <a:ext cx="3438227" cy="1599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D2D3D"/>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F4F4F4">
                <a:alpha val="9000"/>
              </a:srgbClr>
            </a:solidFill>
            <a:prstDash val="solid"/>
          </a:ln>
        </p:spPr>
      </p:sp>
      <p:sp>
        <p:nvSpPr>
          <p:cNvPr id="3" name="Text 1"/>
          <p:cNvSpPr/>
          <p:nvPr/>
        </p:nvSpPr>
        <p:spPr>
          <a:xfrm>
            <a:off x="978471" y="2514600"/>
            <a:ext cx="4400550" cy="3238500"/>
          </a:xfrm>
          <a:prstGeom prst="rect">
            <a:avLst/>
          </a:prstGeom>
          <a:noFill/>
          <a:ln/>
        </p:spPr>
        <p:txBody>
          <a:bodyPr wrap="square" lIns="25400" tIns="25400" rIns="25400" bIns="25400" rtlCol="0" anchor="t">
            <a:normAutofit/>
          </a:bodyPr>
          <a:lstStyle/>
          <a:p>
            <a:pPr algn="l" indent="0" marL="0">
              <a:lnSpc>
                <a:spcPct val="87035"/>
              </a:lnSpc>
              <a:buNone/>
            </a:pPr>
            <a:r>
              <a:rPr lang="en-US" sz="36000" b="1" dirty="0">
                <a:solidFill>
                  <a:srgbClr val="416180"/>
                </a:solidFill>
                <a:latin typeface="Arial" pitchFamily="34" charset="0"/>
                <a:ea typeface="Arial" pitchFamily="34" charset="-122"/>
                <a:cs typeface="Arial" pitchFamily="34" charset="-120"/>
              </a:rPr>
              <a:t>02</a:t>
            </a:r>
            <a:endParaRPr lang="en-US" sz="36000" dirty="0"/>
          </a:p>
        </p:txBody>
      </p:sp>
      <p:sp>
        <p:nvSpPr>
          <p:cNvPr id="4" name="Text 2"/>
          <p:cNvSpPr/>
          <p:nvPr/>
        </p:nvSpPr>
        <p:spPr>
          <a:xfrm>
            <a:off x="1095524" y="7132290"/>
            <a:ext cx="7157606"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F2F2F3"/>
                </a:solidFill>
                <a:latin typeface="Arial" pitchFamily="34" charset="0"/>
                <a:ea typeface="Arial" pitchFamily="34" charset="-122"/>
                <a:cs typeface="Arial" pitchFamily="34" charset="-120"/>
              </a:rPr>
              <a:t>The arithmetic of fit</a:t>
            </a:r>
            <a:endParaRPr lang="en-US" sz="7200" dirty="0"/>
          </a:p>
        </p:txBody>
      </p:sp>
      <p:pic>
        <p:nvPicPr>
          <p:cNvPr id="5" name="Image 0" descr="preencoded.png">    </p:cNvPr>
          <p:cNvPicPr>
            <a:picLocks noChangeAspect="1"/>
          </p:cNvPicPr>
          <p:nvPr/>
        </p:nvPicPr>
        <p:blipFill>
          <a:blip r:embed="rId2"/>
          <a:stretch>
            <a:fillRect/>
          </a:stretch>
        </p:blipFill>
        <p:spPr>
          <a:xfrm>
            <a:off x="1143000" y="8755410"/>
            <a:ext cx="3438227" cy="1599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955719"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02 · THE ARITHMETIC OF FIT</a:t>
            </a:r>
            <a:endParaRPr lang="en-US" sz="1800" dirty="0"/>
          </a:p>
        </p:txBody>
      </p:sp>
      <p:sp>
        <p:nvSpPr>
          <p:cNvPr id="4" name="Text 2"/>
          <p:cNvSpPr/>
          <p:nvPr/>
        </p:nvSpPr>
        <p:spPr>
          <a:xfrm>
            <a:off x="1143000" y="3002235"/>
            <a:ext cx="11772900" cy="1379190"/>
          </a:xfrm>
          <a:prstGeom prst="rect">
            <a:avLst/>
          </a:prstGeom>
          <a:noFill/>
          <a:ln/>
        </p:spPr>
        <p:txBody>
          <a:bodyPr wrap="square" lIns="25400" tIns="25400" rIns="25400" bIns="25400" rtlCol="0" anchor="t">
            <a:normAutofit/>
          </a:bodyPr>
          <a:lstStyle/>
          <a:p>
            <a:pPr algn="l" indent="0" marL="0">
              <a:lnSpc>
                <a:spcPct val="130612"/>
              </a:lnSpc>
              <a:buNone/>
            </a:pPr>
            <a:r>
              <a:rPr lang="en-US" sz="4800" b="1" dirty="0">
                <a:solidFill>
                  <a:srgbClr val="1D1F20"/>
                </a:solidFill>
                <a:latin typeface="Arial" pitchFamily="34" charset="0"/>
                <a:ea typeface="Arial" pitchFamily="34" charset="-122"/>
                <a:cs typeface="Arial" pitchFamily="34" charset="-120"/>
              </a:rPr>
              <a:t>“VRAM for weights = number of parameters × bytes per parameter.”</a:t>
            </a:r>
            <a:endParaRPr lang="en-US" sz="4800" dirty="0"/>
          </a:p>
        </p:txBody>
      </p:sp>
      <p:sp>
        <p:nvSpPr>
          <p:cNvPr id="5" name="Text 3"/>
          <p:cNvSpPr/>
          <p:nvPr/>
        </p:nvSpPr>
        <p:spPr>
          <a:xfrm>
            <a:off x="1143000" y="6442695"/>
            <a:ext cx="5051055" cy="224805"/>
          </a:xfrm>
          <a:prstGeom prst="rect">
            <a:avLst/>
          </a:prstGeom>
          <a:noFill/>
          <a:ln/>
        </p:spPr>
        <p:txBody>
          <a:bodyPr wrap="square" lIns="25400" tIns="25400" rIns="25400" bIns="25400" rtlCol="0" anchor="t">
            <a:normAutofit/>
          </a:bodyPr>
          <a:lstStyle/>
          <a:p>
            <a:pPr algn="l" indent="0" marL="0">
              <a:lnSpc>
                <a:spcPct val="133538"/>
              </a:lnSpc>
              <a:buNone/>
            </a:pPr>
            <a:r>
              <a:rPr lang="en-US" sz="2100" dirty="0">
                <a:solidFill>
                  <a:srgbClr val="1D1F21">
                    <a:alpha val="55000"/>
                  </a:srgbClr>
                </a:solidFill>
                <a:latin typeface="Arial" pitchFamily="34" charset="0"/>
                <a:ea typeface="Arial" pitchFamily="34" charset="-122"/>
                <a:cs typeface="Arial" pitchFamily="34" charset="-120"/>
              </a:rPr>
              <a:t>— the most useful arithmetic in the course</a:t>
            </a:r>
            <a:endParaRPr lang="en-US" sz="2100" dirty="0"/>
          </a:p>
        </p:txBody>
      </p:sp>
      <p:pic>
        <p:nvPicPr>
          <p:cNvPr id="6"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955719"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02 · THE ARITHMETIC OF FIT</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Bytes per parameter</a:t>
            </a:r>
            <a:endParaRPr lang="en-US" sz="7200" dirty="0"/>
          </a:p>
        </p:txBody>
      </p:sp>
      <p:sp>
        <p:nvSpPr>
          <p:cNvPr id="5" name="Text 3"/>
          <p:cNvSpPr/>
          <p:nvPr/>
        </p:nvSpPr>
        <p:spPr>
          <a:xfrm>
            <a:off x="1143000" y="2514674"/>
            <a:ext cx="4009644"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PRECISION</a:t>
            </a:r>
            <a:endParaRPr lang="en-US" sz="1800" dirty="0"/>
          </a:p>
        </p:txBody>
      </p:sp>
      <p:sp>
        <p:nvSpPr>
          <p:cNvPr id="6" name="Text 4"/>
          <p:cNvSpPr/>
          <p:nvPr/>
        </p:nvSpPr>
        <p:spPr>
          <a:xfrm>
            <a:off x="5257800" y="2514674"/>
            <a:ext cx="4009644"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BYTES EACH</a:t>
            </a:r>
            <a:endParaRPr lang="en-US" sz="1800" dirty="0"/>
          </a:p>
        </p:txBody>
      </p:sp>
      <p:sp>
        <p:nvSpPr>
          <p:cNvPr id="7" name="Text 5"/>
          <p:cNvSpPr/>
          <p:nvPr/>
        </p:nvSpPr>
        <p:spPr>
          <a:xfrm>
            <a:off x="9372600" y="2514674"/>
            <a:ext cx="4009644"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A 7B MODEL'S WEIGHTS</a:t>
            </a:r>
            <a:endParaRPr lang="en-US" sz="1800" dirty="0"/>
          </a:p>
        </p:txBody>
      </p:sp>
      <p:sp>
        <p:nvSpPr>
          <p:cNvPr id="8" name="Text 6"/>
          <p:cNvSpPr/>
          <p:nvPr/>
        </p:nvSpPr>
        <p:spPr>
          <a:xfrm>
            <a:off x="13487400" y="2514674"/>
            <a:ext cx="3767328"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WHAT IT MEANS</a:t>
            </a:r>
            <a:endParaRPr lang="en-US" sz="1800" dirty="0"/>
          </a:p>
        </p:txBody>
      </p:sp>
      <p:sp>
        <p:nvSpPr>
          <p:cNvPr id="9" name="Text 7"/>
          <p:cNvSpPr/>
          <p:nvPr/>
        </p:nvSpPr>
        <p:spPr>
          <a:xfrm>
            <a:off x="1143000" y="3429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float32 — fp32</a:t>
            </a:r>
            <a:endParaRPr lang="en-US" sz="2175" dirty="0"/>
          </a:p>
        </p:txBody>
      </p:sp>
      <p:sp>
        <p:nvSpPr>
          <p:cNvPr id="10" name="Text 8"/>
          <p:cNvSpPr/>
          <p:nvPr/>
        </p:nvSpPr>
        <p:spPr>
          <a:xfrm>
            <a:off x="5257800" y="3429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4</a:t>
            </a:r>
            <a:endParaRPr lang="en-US" sz="2175" dirty="0"/>
          </a:p>
        </p:txBody>
      </p:sp>
      <p:sp>
        <p:nvSpPr>
          <p:cNvPr id="11" name="Text 9"/>
          <p:cNvSpPr/>
          <p:nvPr/>
        </p:nvSpPr>
        <p:spPr>
          <a:xfrm>
            <a:off x="9372600" y="3429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28 GB</a:t>
            </a:r>
            <a:endParaRPr lang="en-US" sz="2175" dirty="0"/>
          </a:p>
        </p:txBody>
      </p:sp>
      <p:sp>
        <p:nvSpPr>
          <p:cNvPr id="12" name="Text 10"/>
          <p:cNvSpPr/>
          <p:nvPr/>
        </p:nvSpPr>
        <p:spPr>
          <a:xfrm>
            <a:off x="13487400" y="3429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Full precision; the historic training default</a:t>
            </a:r>
            <a:endParaRPr lang="en-US" sz="2175" dirty="0"/>
          </a:p>
        </p:txBody>
      </p:sp>
      <p:sp>
        <p:nvSpPr>
          <p:cNvPr id="13" name="Text 11"/>
          <p:cNvSpPr/>
          <p:nvPr/>
        </p:nvSpPr>
        <p:spPr>
          <a:xfrm>
            <a:off x="1143000" y="4572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float16 / bfloat16</a:t>
            </a:r>
            <a:endParaRPr lang="en-US" sz="2175" dirty="0"/>
          </a:p>
        </p:txBody>
      </p:sp>
      <p:sp>
        <p:nvSpPr>
          <p:cNvPr id="14" name="Text 12"/>
          <p:cNvSpPr/>
          <p:nvPr/>
        </p:nvSpPr>
        <p:spPr>
          <a:xfrm>
            <a:off x="5257800" y="4572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2</a:t>
            </a:r>
            <a:endParaRPr lang="en-US" sz="2175" dirty="0"/>
          </a:p>
        </p:txBody>
      </p:sp>
      <p:sp>
        <p:nvSpPr>
          <p:cNvPr id="15" name="Text 13"/>
          <p:cNvSpPr/>
          <p:nvPr/>
        </p:nvSpPr>
        <p:spPr>
          <a:xfrm>
            <a:off x="9372600" y="4572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14 GB</a:t>
            </a:r>
            <a:endParaRPr lang="en-US" sz="2175" dirty="0"/>
          </a:p>
        </p:txBody>
      </p:sp>
      <p:sp>
        <p:nvSpPr>
          <p:cNvPr id="16" name="Text 14"/>
          <p:cNvSpPr/>
          <p:nvPr/>
        </p:nvSpPr>
        <p:spPr>
          <a:xfrm>
            <a:off x="13487400" y="4572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Half precision; today's inference standard</a:t>
            </a:r>
            <a:endParaRPr lang="en-US" sz="2175" dirty="0"/>
          </a:p>
        </p:txBody>
      </p:sp>
      <p:sp>
        <p:nvSpPr>
          <p:cNvPr id="17" name="Text 15"/>
          <p:cNvSpPr/>
          <p:nvPr/>
        </p:nvSpPr>
        <p:spPr>
          <a:xfrm>
            <a:off x="1143000" y="5715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int8</a:t>
            </a:r>
            <a:endParaRPr lang="en-US" sz="2175" dirty="0"/>
          </a:p>
        </p:txBody>
      </p:sp>
      <p:sp>
        <p:nvSpPr>
          <p:cNvPr id="18" name="Text 16"/>
          <p:cNvSpPr/>
          <p:nvPr/>
        </p:nvSpPr>
        <p:spPr>
          <a:xfrm>
            <a:off x="5257800" y="5715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1</a:t>
            </a:r>
            <a:endParaRPr lang="en-US" sz="2175" dirty="0"/>
          </a:p>
        </p:txBody>
      </p:sp>
      <p:sp>
        <p:nvSpPr>
          <p:cNvPr id="19" name="Text 17"/>
          <p:cNvSpPr/>
          <p:nvPr/>
        </p:nvSpPr>
        <p:spPr>
          <a:xfrm>
            <a:off x="9372600" y="5715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7 GB</a:t>
            </a:r>
            <a:endParaRPr lang="en-US" sz="2175" dirty="0"/>
          </a:p>
        </p:txBody>
      </p:sp>
      <p:sp>
        <p:nvSpPr>
          <p:cNvPr id="20" name="Text 18"/>
          <p:cNvSpPr/>
          <p:nvPr/>
        </p:nvSpPr>
        <p:spPr>
          <a:xfrm>
            <a:off x="13487400" y="5715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8-bit quantised; comfortable on a 16 GB card</a:t>
            </a:r>
            <a:endParaRPr lang="en-US" sz="2175" dirty="0"/>
          </a:p>
        </p:txBody>
      </p:sp>
      <p:sp>
        <p:nvSpPr>
          <p:cNvPr id="21" name="Text 19"/>
          <p:cNvSpPr/>
          <p:nvPr/>
        </p:nvSpPr>
        <p:spPr>
          <a:xfrm>
            <a:off x="1143000" y="6858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int4</a:t>
            </a:r>
            <a:endParaRPr lang="en-US" sz="2175" dirty="0"/>
          </a:p>
        </p:txBody>
      </p:sp>
      <p:sp>
        <p:nvSpPr>
          <p:cNvPr id="22" name="Text 20"/>
          <p:cNvSpPr/>
          <p:nvPr/>
        </p:nvSpPr>
        <p:spPr>
          <a:xfrm>
            <a:off x="5257800" y="6858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0.5</a:t>
            </a:r>
            <a:endParaRPr lang="en-US" sz="2175" dirty="0"/>
          </a:p>
        </p:txBody>
      </p:sp>
      <p:sp>
        <p:nvSpPr>
          <p:cNvPr id="23" name="Text 21"/>
          <p:cNvSpPr/>
          <p:nvPr/>
        </p:nvSpPr>
        <p:spPr>
          <a:xfrm>
            <a:off x="9372600" y="6858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3.5 GB</a:t>
            </a:r>
            <a:endParaRPr lang="en-US" sz="2175" dirty="0"/>
          </a:p>
        </p:txBody>
      </p:sp>
      <p:sp>
        <p:nvSpPr>
          <p:cNvPr id="24" name="Text 22"/>
          <p:cNvSpPr/>
          <p:nvPr/>
        </p:nvSpPr>
        <p:spPr>
          <a:xfrm>
            <a:off x="13487400" y="6858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4-bit quantised; runs on a gaming laptop</a:t>
            </a:r>
            <a:endParaRPr lang="en-US" sz="2175" dirty="0"/>
          </a:p>
        </p:txBody>
      </p:sp>
      <p:pic>
        <p:nvPicPr>
          <p:cNvPr id="25"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955719"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02 · THE ARITHMETIC OF FIT</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Seven billion parameters, four ways</a:t>
            </a:r>
            <a:endParaRPr lang="en-US" sz="7200" dirty="0"/>
          </a:p>
        </p:txBody>
      </p:sp>
      <p:pic>
        <p:nvPicPr>
          <p:cNvPr id="5" name="Image 0"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3000" y="3200474"/>
            <a:ext cx="16002000" cy="4114800"/>
          </a:xfrm>
          <a:prstGeom prst="rect">
            <a:avLst/>
          </a:prstGeom>
        </p:spPr>
      </p:pic>
      <p:sp>
        <p:nvSpPr>
          <p:cNvPr id="6" name="Text 3"/>
          <p:cNvSpPr/>
          <p:nvPr/>
        </p:nvSpPr>
        <p:spPr>
          <a:xfrm>
            <a:off x="1143000" y="8062987"/>
            <a:ext cx="13023533" cy="204787"/>
          </a:xfrm>
          <a:prstGeom prst="rect">
            <a:avLst/>
          </a:prstGeom>
          <a:noFill/>
          <a:ln/>
        </p:spPr>
        <p:txBody>
          <a:bodyPr wrap="square" lIns="25400" tIns="25400" rIns="25400" bIns="25400" rtlCol="0" anchor="t">
            <a:normAutofit/>
          </a:bodyPr>
          <a:lstStyle/>
          <a:p>
            <a:pPr algn="l" indent="0" marL="0">
              <a:lnSpc>
                <a:spcPct val="165517"/>
              </a:lnSpc>
              <a:buNone/>
            </a:pPr>
            <a:r>
              <a:rPr lang="en-US" sz="1875" dirty="0">
                <a:solidFill>
                  <a:srgbClr val="1D1F21">
                    <a:alpha val="55000"/>
                  </a:srgbClr>
                </a:solidFill>
                <a:latin typeface="Arial" pitchFamily="34" charset="0"/>
                <a:ea typeface="Arial" pitchFamily="34" charset="-122"/>
                <a:cs typeface="Arial" pitchFamily="34" charset="-120"/>
              </a:rPr>
              <a:t>Weights only — the dashed line is the whole card. Two gigabytes spare at fp16, already spoken for.</a:t>
            </a:r>
            <a:endParaRPr lang="en-US" sz="1875" dirty="0"/>
          </a:p>
        </p:txBody>
      </p:sp>
      <p:pic>
        <p:nvPicPr>
          <p:cNvPr id="7" name="Image 1" descr="preencoded.png">    </p:cNvPr>
          <p:cNvPicPr>
            <a:picLocks noChangeAspect="1"/>
          </p:cNvPicPr>
          <p:nvPr/>
        </p:nvPicPr>
        <p:blipFill>
          <a:blip r:embed="rId4"/>
          <a:stretch>
            <a:fillRect/>
          </a:stretch>
        </p:blipFill>
        <p:spPr>
          <a:xfrm>
            <a:off x="1143000" y="8755410"/>
            <a:ext cx="3558704" cy="1599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955719"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02 · THE ARITHMETIC OF FIT</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The weights are not the only tenant</a:t>
            </a:r>
            <a:endParaRPr lang="en-US" sz="7200" dirty="0"/>
          </a:p>
        </p:txBody>
      </p:sp>
      <p:sp>
        <p:nvSpPr>
          <p:cNvPr id="5" name="Text 3"/>
          <p:cNvSpPr/>
          <p:nvPr/>
        </p:nvSpPr>
        <p:spPr>
          <a:xfrm>
            <a:off x="1143000" y="3162374"/>
            <a:ext cx="4023360" cy="304800"/>
          </a:xfrm>
          <a:prstGeom prst="rect">
            <a:avLst/>
          </a:prstGeom>
          <a:noFill/>
          <a:ln/>
        </p:spPr>
        <p:txBody>
          <a:bodyPr wrap="square" lIns="25400" tIns="25400" rIns="25400" bIns="25400" rtlCol="0" anchor="t">
            <a:normAutofit/>
          </a:bodyPr>
          <a:lstStyle/>
          <a:p>
            <a:pPr algn="l" indent="0" marL="0">
              <a:lnSpc>
                <a:spcPct val="104348"/>
              </a:lnSpc>
              <a:buNone/>
            </a:pPr>
            <a:r>
              <a:rPr lang="en-US" sz="3000" b="1" spc="-45" kern="0" dirty="0">
                <a:solidFill>
                  <a:srgbClr val="1D1F20"/>
                </a:solidFill>
                <a:latin typeface="Arial" pitchFamily="34" charset="0"/>
                <a:ea typeface="Arial" pitchFamily="34" charset="-122"/>
                <a:cs typeface="Arial" pitchFamily="34" charset="-120"/>
              </a:rPr>
              <a:t>Activations</a:t>
            </a:r>
            <a:endParaRPr lang="en-US" sz="3000" dirty="0"/>
          </a:p>
        </p:txBody>
      </p:sp>
      <p:sp>
        <p:nvSpPr>
          <p:cNvPr id="6" name="Text 4"/>
          <p:cNvSpPr/>
          <p:nvPr/>
        </p:nvSpPr>
        <p:spPr>
          <a:xfrm>
            <a:off x="1143000" y="4156770"/>
            <a:ext cx="3767328" cy="15964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0"/>
                </a:solidFill>
                <a:latin typeface="Arial" pitchFamily="34" charset="0"/>
                <a:ea typeface="Arial" pitchFamily="34" charset="-122"/>
                <a:cs typeface="Arial" pitchFamily="34" charset="-120"/>
              </a:rPr>
              <a:t>The intermediate results flowing through the network. They scale with batch size and model width.</a:t>
            </a:r>
            <a:endParaRPr lang="en-US" sz="2100" dirty="0"/>
          </a:p>
        </p:txBody>
      </p:sp>
      <p:sp>
        <p:nvSpPr>
          <p:cNvPr id="7" name="Text 5"/>
          <p:cNvSpPr/>
          <p:nvPr/>
        </p:nvSpPr>
        <p:spPr>
          <a:xfrm>
            <a:off x="5257800" y="3162374"/>
            <a:ext cx="4023360" cy="304800"/>
          </a:xfrm>
          <a:prstGeom prst="rect">
            <a:avLst/>
          </a:prstGeom>
          <a:noFill/>
          <a:ln/>
        </p:spPr>
        <p:txBody>
          <a:bodyPr wrap="square" lIns="25400" tIns="25400" rIns="25400" bIns="25400" rtlCol="0" anchor="t">
            <a:normAutofit/>
          </a:bodyPr>
          <a:lstStyle/>
          <a:p>
            <a:pPr algn="l" indent="0" marL="0">
              <a:lnSpc>
                <a:spcPct val="104348"/>
              </a:lnSpc>
              <a:buNone/>
            </a:pPr>
            <a:r>
              <a:rPr lang="en-US" sz="3000" b="1" spc="-45" kern="0" dirty="0">
                <a:solidFill>
                  <a:srgbClr val="1D1F20"/>
                </a:solidFill>
                <a:latin typeface="Arial" pitchFamily="34" charset="0"/>
                <a:ea typeface="Arial" pitchFamily="34" charset="-122"/>
                <a:cs typeface="Arial" pitchFamily="34" charset="-120"/>
              </a:rPr>
              <a:t>The KV cache</a:t>
            </a:r>
            <a:endParaRPr lang="en-US" sz="3000" dirty="0"/>
          </a:p>
        </p:txBody>
      </p:sp>
      <p:sp>
        <p:nvSpPr>
          <p:cNvPr id="8" name="Text 6"/>
          <p:cNvSpPr/>
          <p:nvPr/>
        </p:nvSpPr>
        <p:spPr>
          <a:xfrm>
            <a:off x="5257800" y="4156770"/>
            <a:ext cx="3767328" cy="15964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0"/>
                </a:solidFill>
                <a:latin typeface="Arial" pitchFamily="34" charset="0"/>
                <a:ea typeface="Arial" pitchFamily="34" charset="-122"/>
                <a:cs typeface="Arial" pitchFamily="34" charset="-120"/>
              </a:rPr>
              <a:t>Grows with every token of context. This is the one that fails you late, mid-conversation.</a:t>
            </a:r>
            <a:endParaRPr lang="en-US" sz="2100" dirty="0"/>
          </a:p>
        </p:txBody>
      </p:sp>
      <p:sp>
        <p:nvSpPr>
          <p:cNvPr id="9" name="Text 7"/>
          <p:cNvSpPr/>
          <p:nvPr/>
        </p:nvSpPr>
        <p:spPr>
          <a:xfrm>
            <a:off x="9372600" y="3162374"/>
            <a:ext cx="4023360" cy="304800"/>
          </a:xfrm>
          <a:prstGeom prst="rect">
            <a:avLst/>
          </a:prstGeom>
          <a:noFill/>
          <a:ln/>
        </p:spPr>
        <p:txBody>
          <a:bodyPr wrap="square" lIns="25400" tIns="25400" rIns="25400" bIns="25400" rtlCol="0" anchor="t">
            <a:normAutofit/>
          </a:bodyPr>
          <a:lstStyle/>
          <a:p>
            <a:pPr algn="l" indent="0" marL="0">
              <a:lnSpc>
                <a:spcPct val="104348"/>
              </a:lnSpc>
              <a:buNone/>
            </a:pPr>
            <a:r>
              <a:rPr lang="en-US" sz="3000" b="1" spc="-45" kern="0" dirty="0">
                <a:solidFill>
                  <a:srgbClr val="1D1F20"/>
                </a:solidFill>
                <a:latin typeface="Arial" pitchFamily="34" charset="0"/>
                <a:ea typeface="Arial" pitchFamily="34" charset="-122"/>
                <a:cs typeface="Arial" pitchFamily="34" charset="-120"/>
              </a:rPr>
              <a:t>CUDA workspace</a:t>
            </a:r>
            <a:endParaRPr lang="en-US" sz="3000" dirty="0"/>
          </a:p>
        </p:txBody>
      </p:sp>
      <p:sp>
        <p:nvSpPr>
          <p:cNvPr id="10" name="Text 8"/>
          <p:cNvSpPr/>
          <p:nvPr/>
        </p:nvSpPr>
        <p:spPr>
          <a:xfrm>
            <a:off x="9372600" y="4156770"/>
            <a:ext cx="3767328" cy="11392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0"/>
                </a:solidFill>
                <a:latin typeface="Arial" pitchFamily="34" charset="0"/>
                <a:ea typeface="Arial" pitchFamily="34" charset="-122"/>
                <a:cs typeface="Arial" pitchFamily="34" charset="-120"/>
              </a:rPr>
              <a:t>Roughly half a gigabyte reserved before you have done anything at all.</a:t>
            </a:r>
            <a:endParaRPr lang="en-US" sz="2100" dirty="0"/>
          </a:p>
        </p:txBody>
      </p:sp>
      <p:pic>
        <p:nvPicPr>
          <p:cNvPr id="11"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955719"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02 · THE ARITHMETIC OF FIT</a:t>
            </a:r>
            <a:endParaRPr lang="en-US" sz="1800" dirty="0"/>
          </a:p>
        </p:txBody>
      </p:sp>
      <p:sp>
        <p:nvSpPr>
          <p:cNvPr id="4" name="Text 2"/>
          <p:cNvSpPr/>
          <p:nvPr/>
        </p:nvSpPr>
        <p:spPr>
          <a:xfrm>
            <a:off x="1101923" y="2834580"/>
            <a:ext cx="5893266" cy="2918445"/>
          </a:xfrm>
          <a:prstGeom prst="rect">
            <a:avLst/>
          </a:prstGeom>
          <a:noFill/>
          <a:ln/>
        </p:spPr>
        <p:txBody>
          <a:bodyPr wrap="square" lIns="25400" tIns="25400" rIns="25400" bIns="25400" rtlCol="0" anchor="t">
            <a:normAutofit/>
          </a:bodyPr>
          <a:lstStyle/>
          <a:p>
            <a:pPr algn="l" indent="0" marL="0">
              <a:lnSpc>
                <a:spcPct val="87009"/>
              </a:lnSpc>
              <a:buNone/>
            </a:pPr>
            <a:r>
              <a:rPr lang="en-US" sz="32400" b="1" dirty="0">
                <a:solidFill>
                  <a:srgbClr val="5980A6"/>
                </a:solidFill>
                <a:latin typeface="Arial" pitchFamily="34" charset="0"/>
                <a:ea typeface="Arial" pitchFamily="34" charset="-122"/>
                <a:cs typeface="Arial" pitchFamily="34" charset="-120"/>
              </a:rPr>
              <a:t>1.5×</a:t>
            </a:r>
            <a:endParaRPr lang="en-US" sz="32400" dirty="0"/>
          </a:p>
        </p:txBody>
      </p:sp>
      <p:sp>
        <p:nvSpPr>
          <p:cNvPr id="5" name="Text 3"/>
          <p:cNvSpPr/>
          <p:nvPr/>
        </p:nvSpPr>
        <p:spPr>
          <a:xfrm>
            <a:off x="9372600" y="6442695"/>
            <a:ext cx="8005572" cy="11392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1">
                    <a:alpha val="55000"/>
                  </a:srgbClr>
                </a:solidFill>
                <a:latin typeface="Arial" pitchFamily="34" charset="0"/>
                <a:ea typeface="Arial" pitchFamily="34" charset="-122"/>
                <a:cs typeface="Arial" pitchFamily="34" charset="-120"/>
              </a:rPr>
              <a:t>Budget about 1.2 to 1.5 times the weight size for inference, and roughly four times for training. A 14 GB model wants an 18 to 21 GB card — which is why it failed on a 16 GB one.</a:t>
            </a:r>
            <a:endParaRPr lang="en-US" sz="2100" dirty="0"/>
          </a:p>
        </p:txBody>
      </p:sp>
      <p:pic>
        <p:nvPicPr>
          <p:cNvPr id="6"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955719"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02 · THE ARITHMETIC OF FIT</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Why training costs about four times</a:t>
            </a:r>
            <a:endParaRPr lang="en-US" sz="7200" dirty="0"/>
          </a:p>
        </p:txBody>
      </p:sp>
      <p:sp>
        <p:nvSpPr>
          <p:cNvPr id="5" name="Text 3"/>
          <p:cNvSpPr/>
          <p:nvPr/>
        </p:nvSpPr>
        <p:spPr>
          <a:xfrm>
            <a:off x="916305" y="3202335"/>
            <a:ext cx="11923395" cy="4150742"/>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The weights themselves, exactly as in inference — one copy on the card.</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The gradients: one value per weight, produced on every backward pass.</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Optimiser state: for Adam, two more values per weight, held for the whole run.</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So a model you happily infer with will still blow up when you fine-tune it — and that is precisely why LoRA exists.</a:t>
            </a:r>
            <a:endParaRPr lang="en-US" sz="2550" dirty="0"/>
          </a:p>
        </p:txBody>
      </p:sp>
      <p:pic>
        <p:nvPicPr>
          <p:cNvPr id="6"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955719"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02 · THE ARITHMETIC OF FIT</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What quantisation costs</a:t>
            </a:r>
            <a:endParaRPr lang="en-US" sz="7200" dirty="0"/>
          </a:p>
        </p:txBody>
      </p:sp>
      <p:sp>
        <p:nvSpPr>
          <p:cNvPr id="5" name="Text 3"/>
          <p:cNvSpPr/>
          <p:nvPr/>
        </p:nvSpPr>
        <p:spPr>
          <a:xfrm>
            <a:off x="916305" y="3202335"/>
            <a:ext cx="11923395" cy="4607942"/>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At int8, the quality difference is small enough that most tasks will not notice it.</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At int4 it becomes visible — first on reasoning, arithmetic and long generations.</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Halving the bytes also halves the bytes read per token, so quantising makes it faster as well as smaller.</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Whether the trade is acceptable is a question about your task. Measure it; do not take it on faith.</a:t>
            </a:r>
            <a:endParaRPr lang="en-US" sz="2550" dirty="0"/>
          </a:p>
        </p:txBody>
      </p:sp>
      <p:pic>
        <p:nvPicPr>
          <p:cNvPr id="6"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D2D3D"/>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F4F4F4">
                <a:alpha val="9000"/>
              </a:srgbClr>
            </a:solidFill>
            <a:prstDash val="solid"/>
          </a:ln>
        </p:spPr>
      </p:sp>
      <p:sp>
        <p:nvSpPr>
          <p:cNvPr id="3" name="Text 1"/>
          <p:cNvSpPr/>
          <p:nvPr/>
        </p:nvSpPr>
        <p:spPr>
          <a:xfrm>
            <a:off x="978471" y="2514600"/>
            <a:ext cx="4405625" cy="3238500"/>
          </a:xfrm>
          <a:prstGeom prst="rect">
            <a:avLst/>
          </a:prstGeom>
          <a:noFill/>
          <a:ln/>
        </p:spPr>
        <p:txBody>
          <a:bodyPr wrap="square" lIns="25400" tIns="25400" rIns="25400" bIns="25400" rtlCol="0" anchor="t">
            <a:normAutofit/>
          </a:bodyPr>
          <a:lstStyle/>
          <a:p>
            <a:pPr algn="l" indent="0" marL="0">
              <a:lnSpc>
                <a:spcPct val="87035"/>
              </a:lnSpc>
              <a:buNone/>
            </a:pPr>
            <a:r>
              <a:rPr lang="en-US" sz="36000" b="1" dirty="0">
                <a:solidFill>
                  <a:srgbClr val="416180"/>
                </a:solidFill>
                <a:latin typeface="Arial" pitchFamily="34" charset="0"/>
                <a:ea typeface="Arial" pitchFamily="34" charset="-122"/>
                <a:cs typeface="Arial" pitchFamily="34" charset="-120"/>
              </a:rPr>
              <a:t>03</a:t>
            </a:r>
            <a:endParaRPr lang="en-US" sz="36000" dirty="0"/>
          </a:p>
        </p:txBody>
      </p:sp>
      <p:sp>
        <p:nvSpPr>
          <p:cNvPr id="4" name="Text 2"/>
          <p:cNvSpPr/>
          <p:nvPr/>
        </p:nvSpPr>
        <p:spPr>
          <a:xfrm>
            <a:off x="1095524" y="7132290"/>
            <a:ext cx="7619271"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F2F2F3"/>
                </a:solidFill>
                <a:latin typeface="Arial" pitchFamily="34" charset="0"/>
                <a:ea typeface="Arial" pitchFamily="34" charset="-122"/>
                <a:cs typeface="Arial" pitchFamily="34" charset="-120"/>
              </a:rPr>
              <a:t>Bandwidth and speed</a:t>
            </a:r>
            <a:endParaRPr lang="en-US" sz="7200" dirty="0"/>
          </a:p>
        </p:txBody>
      </p:sp>
      <p:pic>
        <p:nvPicPr>
          <p:cNvPr id="5"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940903"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03 · BANDWIDTH AND SPEED</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Every token reads every weight</a:t>
            </a:r>
            <a:endParaRPr lang="en-US" sz="7200" dirty="0"/>
          </a:p>
        </p:txBody>
      </p:sp>
      <p:sp>
        <p:nvSpPr>
          <p:cNvPr id="5" name="Text 3"/>
          <p:cNvSpPr/>
          <p:nvPr/>
        </p:nvSpPr>
        <p:spPr>
          <a:xfrm>
            <a:off x="916305" y="3202335"/>
            <a:ext cx="11923395" cy="2550616"/>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Generation is sequential: one token, then the next, then the next.</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Each of those tokens requires a full pass over the model's weights.</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So the ceiling on tokens per second is memory bandwidth divided by model size.</a:t>
            </a:r>
            <a:endParaRPr lang="en-US" sz="2550" dirty="0"/>
          </a:p>
        </p:txBody>
      </p:sp>
      <p:pic>
        <p:nvPicPr>
          <p:cNvPr id="6"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940903"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03 · BANDWIDTH AND SPEED</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The arithmetic of speed</a:t>
            </a:r>
            <a:endParaRPr lang="en-US" sz="7200" dirty="0"/>
          </a:p>
        </p:txBody>
      </p:sp>
      <p:sp>
        <p:nvSpPr>
          <p:cNvPr id="5" name="Text 3"/>
          <p:cNvSpPr/>
          <p:nvPr/>
        </p:nvSpPr>
        <p:spPr>
          <a:xfrm>
            <a:off x="1143000" y="3162374"/>
            <a:ext cx="8549640" cy="304800"/>
          </a:xfrm>
          <a:prstGeom prst="rect">
            <a:avLst/>
          </a:prstGeom>
          <a:noFill/>
          <a:ln/>
        </p:spPr>
        <p:txBody>
          <a:bodyPr wrap="square" lIns="25400" tIns="25400" rIns="25400" bIns="25400" rtlCol="0" anchor="t">
            <a:normAutofit/>
          </a:bodyPr>
          <a:lstStyle/>
          <a:p>
            <a:pPr algn="l" indent="0" marL="0">
              <a:lnSpc>
                <a:spcPct val="104348"/>
              </a:lnSpc>
              <a:buNone/>
            </a:pPr>
            <a:r>
              <a:rPr lang="en-US" sz="3000" b="1" spc="-45" kern="0" dirty="0">
                <a:solidFill>
                  <a:srgbClr val="1D1F20"/>
                </a:solidFill>
                <a:latin typeface="Arial" pitchFamily="34" charset="0"/>
                <a:ea typeface="Arial" pitchFamily="34" charset="-122"/>
                <a:cs typeface="Arial" pitchFamily="34" charset="-120"/>
              </a:rPr>
              <a:t>A 14 GB model on a T4</a:t>
            </a:r>
            <a:endParaRPr lang="en-US" sz="3000" dirty="0"/>
          </a:p>
        </p:txBody>
      </p:sp>
      <p:sp>
        <p:nvSpPr>
          <p:cNvPr id="6" name="Text 4"/>
          <p:cNvSpPr/>
          <p:nvPr/>
        </p:nvSpPr>
        <p:spPr>
          <a:xfrm>
            <a:off x="1143000" y="4156770"/>
            <a:ext cx="8005572" cy="11392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0"/>
                </a:solidFill>
                <a:latin typeface="Arial" pitchFamily="34" charset="0"/>
                <a:ea typeface="Arial" pitchFamily="34" charset="-122"/>
                <a:cs typeface="Arial" pitchFamily="34" charset="-120"/>
              </a:rPr>
              <a:t>14 GB ÷ 320 GB/s = about 44 ms per token. That is roughly 23 tokens per second — the maximum, with perfect code, perfect batching and zero overhead.</a:t>
            </a:r>
            <a:endParaRPr lang="en-US" sz="2100" dirty="0"/>
          </a:p>
        </p:txBody>
      </p:sp>
      <p:sp>
        <p:nvSpPr>
          <p:cNvPr id="7" name="Text 5"/>
          <p:cNvSpPr/>
          <p:nvPr/>
        </p:nvSpPr>
        <p:spPr>
          <a:xfrm>
            <a:off x="9372600" y="3162374"/>
            <a:ext cx="8549640" cy="304800"/>
          </a:xfrm>
          <a:prstGeom prst="rect">
            <a:avLst/>
          </a:prstGeom>
          <a:noFill/>
          <a:ln/>
        </p:spPr>
        <p:txBody>
          <a:bodyPr wrap="square" lIns="25400" tIns="25400" rIns="25400" bIns="25400" rtlCol="0" anchor="t">
            <a:normAutofit/>
          </a:bodyPr>
          <a:lstStyle/>
          <a:p>
            <a:pPr algn="l" indent="0" marL="0">
              <a:lnSpc>
                <a:spcPct val="104348"/>
              </a:lnSpc>
              <a:buNone/>
            </a:pPr>
            <a:r>
              <a:rPr lang="en-US" sz="3000" b="1" spc="-45" kern="0" dirty="0">
                <a:solidFill>
                  <a:srgbClr val="1D1F20"/>
                </a:solidFill>
                <a:latin typeface="Arial" pitchFamily="34" charset="0"/>
                <a:ea typeface="Arial" pitchFamily="34" charset="-122"/>
                <a:cs typeface="Arial" pitchFamily="34" charset="-120"/>
              </a:rPr>
              <a:t>The same model on an A100</a:t>
            </a:r>
            <a:endParaRPr lang="en-US" sz="3000" dirty="0"/>
          </a:p>
        </p:txBody>
      </p:sp>
      <p:sp>
        <p:nvSpPr>
          <p:cNvPr id="8" name="Text 6"/>
          <p:cNvSpPr/>
          <p:nvPr/>
        </p:nvSpPr>
        <p:spPr>
          <a:xfrm>
            <a:off x="9372600" y="4156770"/>
            <a:ext cx="8005572" cy="11392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0"/>
                </a:solidFill>
                <a:latin typeface="Arial" pitchFamily="34" charset="0"/>
                <a:ea typeface="Arial" pitchFamily="34" charset="-122"/>
                <a:cs typeface="Arial" pitchFamily="34" charset="-120"/>
              </a:rPr>
              <a:t>14 GB ÷ 2,000 GB/s = about 7 ms per token, or roughly 140 tokens per second. Same model, same code, six times the speed — purely because of memory.</a:t>
            </a:r>
            <a:endParaRPr lang="en-US" sz="2100" dirty="0"/>
          </a:p>
        </p:txBody>
      </p:sp>
      <p:pic>
        <p:nvPicPr>
          <p:cNvPr id="9"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940903"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03 · BANDWIDTH AND SPEED</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The ceiling, card by card</a:t>
            </a:r>
            <a:endParaRPr lang="en-US" sz="7200" dirty="0"/>
          </a:p>
        </p:txBody>
      </p:sp>
      <p:pic>
        <p:nvPicPr>
          <p:cNvPr id="5" name="Image 0"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43000" y="3200474"/>
            <a:ext cx="16002000" cy="4114800"/>
          </a:xfrm>
          <a:prstGeom prst="rect">
            <a:avLst/>
          </a:prstGeom>
        </p:spPr>
      </p:pic>
      <p:sp>
        <p:nvSpPr>
          <p:cNvPr id="6" name="Text 3"/>
          <p:cNvSpPr/>
          <p:nvPr/>
        </p:nvSpPr>
        <p:spPr>
          <a:xfrm>
            <a:off x="1143000" y="8062987"/>
            <a:ext cx="13023533" cy="204787"/>
          </a:xfrm>
          <a:prstGeom prst="rect">
            <a:avLst/>
          </a:prstGeom>
          <a:noFill/>
          <a:ln/>
        </p:spPr>
        <p:txBody>
          <a:bodyPr wrap="square" lIns="25400" tIns="25400" rIns="25400" bIns="25400" rtlCol="0" anchor="t">
            <a:normAutofit/>
          </a:bodyPr>
          <a:lstStyle/>
          <a:p>
            <a:pPr algn="l" indent="0" marL="0">
              <a:lnSpc>
                <a:spcPct val="165517"/>
              </a:lnSpc>
              <a:buNone/>
            </a:pPr>
            <a:r>
              <a:rPr lang="en-US" sz="1875" dirty="0">
                <a:solidFill>
                  <a:srgbClr val="1D1F21">
                    <a:alpha val="55000"/>
                  </a:srgbClr>
                </a:solidFill>
                <a:latin typeface="Arial" pitchFamily="34" charset="0"/>
                <a:ea typeface="Arial" pitchFamily="34" charset="-122"/>
                <a:cs typeface="Arial" pitchFamily="34" charset="-120"/>
              </a:rPr>
              <a:t>Theoretical tokens per second for a 14 GB model: bandwidth ÷ model size. Real throughput lands lower.</a:t>
            </a:r>
            <a:endParaRPr lang="en-US" sz="1875" dirty="0"/>
          </a:p>
        </p:txBody>
      </p:sp>
      <p:pic>
        <p:nvPicPr>
          <p:cNvPr id="7" name="Image 1" descr="preencoded.png">    </p:cNvPr>
          <p:cNvPicPr>
            <a:picLocks noChangeAspect="1"/>
          </p:cNvPicPr>
          <p:nvPr/>
        </p:nvPicPr>
        <p:blipFill>
          <a:blip r:embed="rId4"/>
          <a:stretch>
            <a:fillRect/>
          </a:stretch>
        </p:blipFill>
        <p:spPr>
          <a:xfrm>
            <a:off x="1143000" y="8755410"/>
            <a:ext cx="3558704" cy="15999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2940903"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03 · BANDWIDTH AND SPEED</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What code cannot fix</a:t>
            </a:r>
            <a:endParaRPr lang="en-US" sz="7200" dirty="0"/>
          </a:p>
        </p:txBody>
      </p:sp>
      <p:sp>
        <p:nvSpPr>
          <p:cNvPr id="5" name="Text 3"/>
          <p:cNvSpPr/>
          <p:nvPr/>
        </p:nvSpPr>
        <p:spPr>
          <a:xfrm>
            <a:off x="916305" y="3202335"/>
            <a:ext cx="11923395" cy="5065142"/>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The ceiling is a property of the memory, not of your software. No rewrite moves it.</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To go faster you need a smaller model — which is what quantisation gives you — or faster memory.</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Batching raises total throughput, because one weight read serves many sequences at once. It does not make a single response arrive sooner.</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So when someone says the model is slow, ask what is on the card before you look at their code.</a:t>
            </a:r>
            <a:endParaRPr lang="en-US" sz="2550" dirty="0"/>
          </a:p>
        </p:txBody>
      </p:sp>
      <p:pic>
        <p:nvPicPr>
          <p:cNvPr id="6"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D2D3D"/>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F4F4F4">
                <a:alpha val="9000"/>
              </a:srgbClr>
            </a:solidFill>
            <a:prstDash val="solid"/>
          </a:ln>
        </p:spPr>
      </p:sp>
      <p:sp>
        <p:nvSpPr>
          <p:cNvPr id="3" name="Text 1"/>
          <p:cNvSpPr/>
          <p:nvPr/>
        </p:nvSpPr>
        <p:spPr>
          <a:xfrm>
            <a:off x="978471" y="2514600"/>
            <a:ext cx="4571546" cy="3238500"/>
          </a:xfrm>
          <a:prstGeom prst="rect">
            <a:avLst/>
          </a:prstGeom>
          <a:noFill/>
          <a:ln/>
        </p:spPr>
        <p:txBody>
          <a:bodyPr wrap="square" lIns="25400" tIns="25400" rIns="25400" bIns="25400" rtlCol="0" anchor="t">
            <a:normAutofit/>
          </a:bodyPr>
          <a:lstStyle/>
          <a:p>
            <a:pPr algn="l" indent="0" marL="0">
              <a:lnSpc>
                <a:spcPct val="87035"/>
              </a:lnSpc>
              <a:buNone/>
            </a:pPr>
            <a:r>
              <a:rPr lang="en-US" sz="36000" b="1" dirty="0">
                <a:solidFill>
                  <a:srgbClr val="416180"/>
                </a:solidFill>
                <a:latin typeface="Arial" pitchFamily="34" charset="0"/>
                <a:ea typeface="Arial" pitchFamily="34" charset="-122"/>
                <a:cs typeface="Arial" pitchFamily="34" charset="-120"/>
              </a:rPr>
              <a:t>04</a:t>
            </a:r>
            <a:endParaRPr lang="en-US" sz="36000" dirty="0"/>
          </a:p>
        </p:txBody>
      </p:sp>
      <p:sp>
        <p:nvSpPr>
          <p:cNvPr id="4" name="Text 2"/>
          <p:cNvSpPr/>
          <p:nvPr/>
        </p:nvSpPr>
        <p:spPr>
          <a:xfrm>
            <a:off x="1095524" y="7132290"/>
            <a:ext cx="8058835"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F2F2F3"/>
                </a:solidFill>
                <a:latin typeface="Arial" pitchFamily="34" charset="0"/>
                <a:ea typeface="Arial" pitchFamily="34" charset="-122"/>
                <a:cs typeface="Arial" pitchFamily="34" charset="-120"/>
              </a:rPr>
              <a:t>Breaking, fixing, sizing</a:t>
            </a:r>
            <a:endParaRPr lang="en-US" sz="7200" dirty="0"/>
          </a:p>
        </p:txBody>
      </p:sp>
      <p:pic>
        <p:nvPicPr>
          <p:cNvPr id="5"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3200385"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04 · BREAKING, FIXING, SIZING</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Reading an OOM error</a:t>
            </a:r>
            <a:endParaRPr lang="en-US" sz="7200" dirty="0"/>
          </a:p>
        </p:txBody>
      </p:sp>
      <p:sp>
        <p:nvSpPr>
          <p:cNvPr id="5" name="Text 3"/>
          <p:cNvSpPr/>
          <p:nvPr/>
        </p:nvSpPr>
        <p:spPr>
          <a:xfrm>
            <a:off x="1143000" y="2514674"/>
            <a:ext cx="4009644"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THE MESSAGE SAYS</a:t>
            </a:r>
            <a:endParaRPr lang="en-US" sz="1800" dirty="0"/>
          </a:p>
        </p:txBody>
      </p:sp>
      <p:sp>
        <p:nvSpPr>
          <p:cNvPr id="6" name="Text 4"/>
          <p:cNvSpPr/>
          <p:nvPr/>
        </p:nvSpPr>
        <p:spPr>
          <a:xfrm>
            <a:off x="5257800" y="2514674"/>
            <a:ext cx="4009644"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VALUE</a:t>
            </a:r>
            <a:endParaRPr lang="en-US" sz="1800" dirty="0"/>
          </a:p>
        </p:txBody>
      </p:sp>
      <p:sp>
        <p:nvSpPr>
          <p:cNvPr id="7" name="Text 5"/>
          <p:cNvSpPr/>
          <p:nvPr/>
        </p:nvSpPr>
        <p:spPr>
          <a:xfrm>
            <a:off x="9372600" y="2514674"/>
            <a:ext cx="4009644"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WHICH MEANS</a:t>
            </a:r>
            <a:endParaRPr lang="en-US" sz="1800" dirty="0"/>
          </a:p>
        </p:txBody>
      </p:sp>
      <p:sp>
        <p:nvSpPr>
          <p:cNvPr id="8" name="Text 6"/>
          <p:cNvSpPr/>
          <p:nvPr/>
        </p:nvSpPr>
        <p:spPr>
          <a:xfrm>
            <a:off x="13487400" y="2514674"/>
            <a:ext cx="3767328"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LEVER</a:t>
            </a:r>
            <a:endParaRPr lang="en-US" sz="1800" dirty="0"/>
          </a:p>
        </p:txBody>
      </p:sp>
      <p:sp>
        <p:nvSpPr>
          <p:cNvPr id="9" name="Text 7"/>
          <p:cNvSpPr/>
          <p:nvPr/>
        </p:nvSpPr>
        <p:spPr>
          <a:xfrm>
            <a:off x="1143000" y="3429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total capacity</a:t>
            </a:r>
            <a:endParaRPr lang="en-US" sz="2175" dirty="0"/>
          </a:p>
        </p:txBody>
      </p:sp>
      <p:sp>
        <p:nvSpPr>
          <p:cNvPr id="10" name="Text 8"/>
          <p:cNvSpPr/>
          <p:nvPr/>
        </p:nvSpPr>
        <p:spPr>
          <a:xfrm>
            <a:off x="5257800" y="3429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14.75 GiB</a:t>
            </a:r>
            <a:endParaRPr lang="en-US" sz="2175" dirty="0"/>
          </a:p>
        </p:txBody>
      </p:sp>
      <p:sp>
        <p:nvSpPr>
          <p:cNvPr id="11" name="Text 9"/>
          <p:cNvSpPr/>
          <p:nvPr/>
        </p:nvSpPr>
        <p:spPr>
          <a:xfrm>
            <a:off x="9372600" y="3429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The whole card, all tenants included</a:t>
            </a:r>
            <a:endParaRPr lang="en-US" sz="2175" dirty="0"/>
          </a:p>
        </p:txBody>
      </p:sp>
      <p:sp>
        <p:nvSpPr>
          <p:cNvPr id="12" name="Text 10"/>
          <p:cNvSpPr/>
          <p:nvPr/>
        </p:nvSpPr>
        <p:spPr>
          <a:xfrm>
            <a:off x="13487400" y="3429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Bigger card</a:t>
            </a:r>
            <a:endParaRPr lang="en-US" sz="2175" dirty="0"/>
          </a:p>
        </p:txBody>
      </p:sp>
      <p:sp>
        <p:nvSpPr>
          <p:cNvPr id="13" name="Text 11"/>
          <p:cNvSpPr/>
          <p:nvPr/>
        </p:nvSpPr>
        <p:spPr>
          <a:xfrm>
            <a:off x="1143000" y="4572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already allocated</a:t>
            </a:r>
            <a:endParaRPr lang="en-US" sz="2175" dirty="0"/>
          </a:p>
        </p:txBody>
      </p:sp>
      <p:sp>
        <p:nvSpPr>
          <p:cNvPr id="14" name="Text 12"/>
          <p:cNvSpPr/>
          <p:nvPr/>
        </p:nvSpPr>
        <p:spPr>
          <a:xfrm>
            <a:off x="5257800" y="4572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12.1 GiB</a:t>
            </a:r>
            <a:endParaRPr lang="en-US" sz="2175" dirty="0"/>
          </a:p>
        </p:txBody>
      </p:sp>
      <p:sp>
        <p:nvSpPr>
          <p:cNvPr id="15" name="Text 13"/>
          <p:cNvSpPr/>
          <p:nvPr/>
        </p:nvSpPr>
        <p:spPr>
          <a:xfrm>
            <a:off x="9372600" y="4572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Weights, activations and cache so far</a:t>
            </a:r>
            <a:endParaRPr lang="en-US" sz="2175" dirty="0"/>
          </a:p>
        </p:txBody>
      </p:sp>
      <p:sp>
        <p:nvSpPr>
          <p:cNvPr id="16" name="Text 14"/>
          <p:cNvSpPr/>
          <p:nvPr/>
        </p:nvSpPr>
        <p:spPr>
          <a:xfrm>
            <a:off x="13487400" y="4572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Smaller model</a:t>
            </a:r>
            <a:endParaRPr lang="en-US" sz="2175" dirty="0"/>
          </a:p>
        </p:txBody>
      </p:sp>
      <p:sp>
        <p:nvSpPr>
          <p:cNvPr id="17" name="Text 15"/>
          <p:cNvSpPr/>
          <p:nvPr/>
        </p:nvSpPr>
        <p:spPr>
          <a:xfrm>
            <a:off x="1143000" y="5715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tried to allocate</a:t>
            </a:r>
            <a:endParaRPr lang="en-US" sz="2175" dirty="0"/>
          </a:p>
        </p:txBody>
      </p:sp>
      <p:sp>
        <p:nvSpPr>
          <p:cNvPr id="18" name="Text 16"/>
          <p:cNvSpPr/>
          <p:nvPr/>
        </p:nvSpPr>
        <p:spPr>
          <a:xfrm>
            <a:off x="5257800" y="5715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2.10 GiB</a:t>
            </a:r>
            <a:endParaRPr lang="en-US" sz="2175" dirty="0"/>
          </a:p>
        </p:txBody>
      </p:sp>
      <p:sp>
        <p:nvSpPr>
          <p:cNvPr id="19" name="Text 17"/>
          <p:cNvSpPr/>
          <p:nvPr/>
        </p:nvSpPr>
        <p:spPr>
          <a:xfrm>
            <a:off x="9372600" y="5715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What this one step asked for</a:t>
            </a:r>
            <a:endParaRPr lang="en-US" sz="2175" dirty="0"/>
          </a:p>
        </p:txBody>
      </p:sp>
      <p:sp>
        <p:nvSpPr>
          <p:cNvPr id="20" name="Text 18"/>
          <p:cNvSpPr/>
          <p:nvPr/>
        </p:nvSpPr>
        <p:spPr>
          <a:xfrm>
            <a:off x="13487400" y="5715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Smaller batch</a:t>
            </a:r>
            <a:endParaRPr lang="en-US" sz="2175" dirty="0"/>
          </a:p>
        </p:txBody>
      </p:sp>
      <p:sp>
        <p:nvSpPr>
          <p:cNvPr id="21" name="Text 19"/>
          <p:cNvSpPr/>
          <p:nvPr/>
        </p:nvSpPr>
        <p:spPr>
          <a:xfrm>
            <a:off x="1143000" y="6858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the arithmetic</a:t>
            </a:r>
            <a:endParaRPr lang="en-US" sz="2175" dirty="0"/>
          </a:p>
        </p:txBody>
      </p:sp>
      <p:sp>
        <p:nvSpPr>
          <p:cNvPr id="22" name="Text 20"/>
          <p:cNvSpPr/>
          <p:nvPr/>
        </p:nvSpPr>
        <p:spPr>
          <a:xfrm>
            <a:off x="5257800" y="6858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0.55 GiB spare</a:t>
            </a:r>
            <a:endParaRPr lang="en-US" sz="2175" dirty="0"/>
          </a:p>
        </p:txBody>
      </p:sp>
      <p:sp>
        <p:nvSpPr>
          <p:cNvPr id="23" name="Text 21"/>
          <p:cNvSpPr/>
          <p:nvPr/>
        </p:nvSpPr>
        <p:spPr>
          <a:xfrm>
            <a:off x="9372600" y="6858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And it still failed: fragmentation and reserved workspace</a:t>
            </a:r>
            <a:endParaRPr lang="en-US" sz="2175" dirty="0"/>
          </a:p>
        </p:txBody>
      </p:sp>
      <p:sp>
        <p:nvSpPr>
          <p:cNvPr id="24" name="Text 22"/>
          <p:cNvSpPr/>
          <p:nvPr/>
        </p:nvSpPr>
        <p:spPr>
          <a:xfrm>
            <a:off x="13487400" y="6858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All three apply</a:t>
            </a:r>
            <a:endParaRPr lang="en-US" sz="2175" dirty="0"/>
          </a:p>
        </p:txBody>
      </p:sp>
      <p:pic>
        <p:nvPicPr>
          <p:cNvPr id="25"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3200385"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04 · BREAKING, FIXING, SIZING</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There is no fourth option</a:t>
            </a:r>
            <a:endParaRPr lang="en-US" sz="7200" dirty="0"/>
          </a:p>
        </p:txBody>
      </p:sp>
      <p:sp>
        <p:nvSpPr>
          <p:cNvPr id="5" name="Text 3"/>
          <p:cNvSpPr/>
          <p:nvPr/>
        </p:nvSpPr>
        <p:spPr>
          <a:xfrm>
            <a:off x="1143000" y="3162374"/>
            <a:ext cx="4023360" cy="304800"/>
          </a:xfrm>
          <a:prstGeom prst="rect">
            <a:avLst/>
          </a:prstGeom>
          <a:noFill/>
          <a:ln/>
        </p:spPr>
        <p:txBody>
          <a:bodyPr wrap="square" lIns="25400" tIns="25400" rIns="25400" bIns="25400" rtlCol="0" anchor="t">
            <a:normAutofit/>
          </a:bodyPr>
          <a:lstStyle/>
          <a:p>
            <a:pPr algn="l" indent="0" marL="0">
              <a:lnSpc>
                <a:spcPct val="104348"/>
              </a:lnSpc>
              <a:buNone/>
            </a:pPr>
            <a:r>
              <a:rPr lang="en-US" sz="3000" b="1" spc="-45" kern="0" dirty="0">
                <a:solidFill>
                  <a:srgbClr val="1D1F20"/>
                </a:solidFill>
                <a:latin typeface="Arial" pitchFamily="34" charset="0"/>
                <a:ea typeface="Arial" pitchFamily="34" charset="-122"/>
                <a:cs typeface="Arial" pitchFamily="34" charset="-120"/>
              </a:rPr>
              <a:t>Make the model smaller</a:t>
            </a:r>
            <a:endParaRPr lang="en-US" sz="3000" dirty="0"/>
          </a:p>
        </p:txBody>
      </p:sp>
      <p:sp>
        <p:nvSpPr>
          <p:cNvPr id="6" name="Text 4"/>
          <p:cNvSpPr/>
          <p:nvPr/>
        </p:nvSpPr>
        <p:spPr>
          <a:xfrm>
            <a:off x="1143000" y="4156770"/>
            <a:ext cx="3767328" cy="11392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0"/>
                </a:solidFill>
                <a:latin typeface="Arial" pitchFamily="34" charset="0"/>
                <a:ea typeface="Arial" pitchFamily="34" charset="-122"/>
                <a:cs typeface="Arial" pitchFamily="34" charset="-120"/>
              </a:rPr>
              <a:t>Quantise it, or choose fewer parameters. Halves the weights and the bytes read per token.</a:t>
            </a:r>
            <a:endParaRPr lang="en-US" sz="2100" dirty="0"/>
          </a:p>
        </p:txBody>
      </p:sp>
      <p:sp>
        <p:nvSpPr>
          <p:cNvPr id="7" name="Text 5"/>
          <p:cNvSpPr/>
          <p:nvPr/>
        </p:nvSpPr>
        <p:spPr>
          <a:xfrm>
            <a:off x="5257800" y="3162374"/>
            <a:ext cx="4023360" cy="304800"/>
          </a:xfrm>
          <a:prstGeom prst="rect">
            <a:avLst/>
          </a:prstGeom>
          <a:noFill/>
          <a:ln/>
        </p:spPr>
        <p:txBody>
          <a:bodyPr wrap="square" lIns="25400" tIns="25400" rIns="25400" bIns="25400" rtlCol="0" anchor="t">
            <a:normAutofit/>
          </a:bodyPr>
          <a:lstStyle/>
          <a:p>
            <a:pPr algn="l" indent="0" marL="0">
              <a:lnSpc>
                <a:spcPct val="104348"/>
              </a:lnSpc>
              <a:buNone/>
            </a:pPr>
            <a:r>
              <a:rPr lang="en-US" sz="3000" b="1" spc="-45" kern="0" dirty="0">
                <a:solidFill>
                  <a:srgbClr val="1D1F20"/>
                </a:solidFill>
                <a:latin typeface="Arial" pitchFamily="34" charset="0"/>
                <a:ea typeface="Arial" pitchFamily="34" charset="-122"/>
                <a:cs typeface="Arial" pitchFamily="34" charset="-120"/>
              </a:rPr>
              <a:t>Make the work smaller</a:t>
            </a:r>
            <a:endParaRPr lang="en-US" sz="3000" dirty="0"/>
          </a:p>
        </p:txBody>
      </p:sp>
      <p:sp>
        <p:nvSpPr>
          <p:cNvPr id="8" name="Text 6"/>
          <p:cNvSpPr/>
          <p:nvPr/>
        </p:nvSpPr>
        <p:spPr>
          <a:xfrm>
            <a:off x="5257800" y="4156770"/>
            <a:ext cx="3767328" cy="11392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0"/>
                </a:solidFill>
                <a:latin typeface="Arial" pitchFamily="34" charset="0"/>
                <a:ea typeface="Arial" pitchFamily="34" charset="-122"/>
                <a:cs typeface="Arial" pitchFamily="34" charset="-120"/>
              </a:rPr>
              <a:t>Smaller batch, shorter context, fewer sequences at once. This is the KV cache lever.</a:t>
            </a:r>
            <a:endParaRPr lang="en-US" sz="2100" dirty="0"/>
          </a:p>
        </p:txBody>
      </p:sp>
      <p:sp>
        <p:nvSpPr>
          <p:cNvPr id="9" name="Text 7"/>
          <p:cNvSpPr/>
          <p:nvPr/>
        </p:nvSpPr>
        <p:spPr>
          <a:xfrm>
            <a:off x="9372600" y="3162374"/>
            <a:ext cx="4023360" cy="304800"/>
          </a:xfrm>
          <a:prstGeom prst="rect">
            <a:avLst/>
          </a:prstGeom>
          <a:noFill/>
          <a:ln/>
        </p:spPr>
        <p:txBody>
          <a:bodyPr wrap="square" lIns="25400" tIns="25400" rIns="25400" bIns="25400" rtlCol="0" anchor="t">
            <a:normAutofit/>
          </a:bodyPr>
          <a:lstStyle/>
          <a:p>
            <a:pPr algn="l" indent="0" marL="0">
              <a:lnSpc>
                <a:spcPct val="104348"/>
              </a:lnSpc>
              <a:buNone/>
            </a:pPr>
            <a:r>
              <a:rPr lang="en-US" sz="3000" b="1" spc="-45" kern="0" dirty="0">
                <a:solidFill>
                  <a:srgbClr val="1D1F20"/>
                </a:solidFill>
                <a:latin typeface="Arial" pitchFamily="34" charset="0"/>
                <a:ea typeface="Arial" pitchFamily="34" charset="-122"/>
                <a:cs typeface="Arial" pitchFamily="34" charset="-120"/>
              </a:rPr>
              <a:t>Get a bigger card</a:t>
            </a:r>
            <a:endParaRPr lang="en-US" sz="3000" dirty="0"/>
          </a:p>
        </p:txBody>
      </p:sp>
      <p:sp>
        <p:nvSpPr>
          <p:cNvPr id="10" name="Text 8"/>
          <p:cNvSpPr/>
          <p:nvPr/>
        </p:nvSpPr>
        <p:spPr>
          <a:xfrm>
            <a:off x="9372600" y="4156770"/>
            <a:ext cx="3767328" cy="15964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0"/>
                </a:solidFill>
                <a:latin typeface="Arial" pitchFamily="34" charset="0"/>
                <a:ea typeface="Arial" pitchFamily="34" charset="-122"/>
                <a:cs typeface="Arial" pitchFamily="34" charset="-120"/>
              </a:rPr>
              <a:t>More VRAM, and usually faster VRAM with it. The honest answer when the first two are exhausted.</a:t>
            </a:r>
            <a:endParaRPr lang="en-US" sz="2100" dirty="0"/>
          </a:p>
        </p:txBody>
      </p:sp>
      <p:pic>
        <p:nvPicPr>
          <p:cNvPr id="11"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3200385"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04 · BREAKING, FIXING, SIZING</a:t>
            </a:r>
            <a:endParaRPr lang="en-US" sz="1800" dirty="0"/>
          </a:p>
        </p:txBody>
      </p:sp>
      <p:sp>
        <p:nvSpPr>
          <p:cNvPr id="4" name="Text 2"/>
          <p:cNvSpPr/>
          <p:nvPr/>
        </p:nvSpPr>
        <p:spPr>
          <a:xfrm>
            <a:off x="1143000" y="3002235"/>
            <a:ext cx="11772900" cy="2293590"/>
          </a:xfrm>
          <a:prstGeom prst="rect">
            <a:avLst/>
          </a:prstGeom>
          <a:noFill/>
          <a:ln/>
        </p:spPr>
        <p:txBody>
          <a:bodyPr wrap="square" lIns="25400" tIns="25400" rIns="25400" bIns="25400" rtlCol="0" anchor="t">
            <a:normAutofit/>
          </a:bodyPr>
          <a:lstStyle/>
          <a:p>
            <a:pPr algn="l" indent="0" marL="0">
              <a:lnSpc>
                <a:spcPct val="130612"/>
              </a:lnSpc>
              <a:buNone/>
            </a:pPr>
            <a:r>
              <a:rPr lang="en-US" sz="4800" b="1" dirty="0">
                <a:solidFill>
                  <a:srgbClr val="1D1F20"/>
                </a:solidFill>
                <a:latin typeface="Arial" pitchFamily="34" charset="0"/>
                <a:ea typeface="Arial" pitchFamily="34" charset="-122"/>
                <a:cs typeface="Arial" pitchFamily="34" charset="-120"/>
              </a:rPr>
              <a:t>“You have a 12 GB GPU. You want to run a 13-billion-parameter model. What precision do you need, and will it fit?”</a:t>
            </a:r>
            <a:endParaRPr lang="en-US" sz="4800" dirty="0"/>
          </a:p>
        </p:txBody>
      </p:sp>
      <p:sp>
        <p:nvSpPr>
          <p:cNvPr id="5" name="Text 3"/>
          <p:cNvSpPr/>
          <p:nvPr/>
        </p:nvSpPr>
        <p:spPr>
          <a:xfrm>
            <a:off x="1143000" y="6442695"/>
            <a:ext cx="2596128" cy="224805"/>
          </a:xfrm>
          <a:prstGeom prst="rect">
            <a:avLst/>
          </a:prstGeom>
          <a:noFill/>
          <a:ln/>
        </p:spPr>
        <p:txBody>
          <a:bodyPr wrap="square" lIns="25400" tIns="25400" rIns="25400" bIns="25400" rtlCol="0" anchor="t">
            <a:normAutofit/>
          </a:bodyPr>
          <a:lstStyle/>
          <a:p>
            <a:pPr algn="l" indent="0" marL="0">
              <a:lnSpc>
                <a:spcPct val="133538"/>
              </a:lnSpc>
              <a:buNone/>
            </a:pPr>
            <a:r>
              <a:rPr lang="en-US" sz="2100" dirty="0">
                <a:solidFill>
                  <a:srgbClr val="1D1F21">
                    <a:alpha val="55000"/>
                  </a:srgbClr>
                </a:solidFill>
                <a:latin typeface="Arial" pitchFamily="34" charset="0"/>
                <a:ea typeface="Arial" pitchFamily="34" charset="-122"/>
                <a:cs typeface="Arial" pitchFamily="34" charset="-120"/>
              </a:rPr>
              <a:t>— checkpoint question</a:t>
            </a:r>
            <a:endParaRPr lang="en-US" sz="2100" dirty="0"/>
          </a:p>
        </p:txBody>
      </p:sp>
      <p:pic>
        <p:nvPicPr>
          <p:cNvPr id="6"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3200385"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04 · BREAKING, FIXING, SIZING</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Walking the answer</a:t>
            </a:r>
            <a:endParaRPr lang="en-US" sz="7200" dirty="0"/>
          </a:p>
        </p:txBody>
      </p:sp>
      <p:sp>
        <p:nvSpPr>
          <p:cNvPr id="5" name="Text 3"/>
          <p:cNvSpPr/>
          <p:nvPr/>
        </p:nvSpPr>
        <p:spPr>
          <a:xfrm>
            <a:off x="1143000" y="2514674"/>
            <a:ext cx="4009644"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PRECISION</a:t>
            </a:r>
            <a:endParaRPr lang="en-US" sz="1800" dirty="0"/>
          </a:p>
        </p:txBody>
      </p:sp>
      <p:sp>
        <p:nvSpPr>
          <p:cNvPr id="6" name="Text 4"/>
          <p:cNvSpPr/>
          <p:nvPr/>
        </p:nvSpPr>
        <p:spPr>
          <a:xfrm>
            <a:off x="5257800" y="2514674"/>
            <a:ext cx="4009644"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ARITHMETIC</a:t>
            </a:r>
            <a:endParaRPr lang="en-US" sz="1800" dirty="0"/>
          </a:p>
        </p:txBody>
      </p:sp>
      <p:sp>
        <p:nvSpPr>
          <p:cNvPr id="7" name="Text 5"/>
          <p:cNvSpPr/>
          <p:nvPr/>
        </p:nvSpPr>
        <p:spPr>
          <a:xfrm>
            <a:off x="9372600" y="2514674"/>
            <a:ext cx="4009644"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WEIGHTS</a:t>
            </a:r>
            <a:endParaRPr lang="en-US" sz="1800" dirty="0"/>
          </a:p>
        </p:txBody>
      </p:sp>
      <p:sp>
        <p:nvSpPr>
          <p:cNvPr id="8" name="Text 6"/>
          <p:cNvSpPr/>
          <p:nvPr/>
        </p:nvSpPr>
        <p:spPr>
          <a:xfrm>
            <a:off x="13487400" y="2514674"/>
            <a:ext cx="3767328" cy="952500"/>
          </a:xfrm>
          <a:prstGeom prst="rect">
            <a:avLst/>
          </a:prstGeom>
          <a:noFill/>
          <a:ln/>
        </p:spPr>
        <p:txBody>
          <a:bodyPr wrap="square" lIns="25400" tIns="25400" rIns="25400" bIns="25400" rtlCol="0" anchor="b">
            <a:normAutofit/>
          </a:bodyPr>
          <a:lstStyle/>
          <a:p>
            <a:pPr algn="l" indent="0" marL="0">
              <a:lnSpc>
                <a:spcPct val="135273"/>
              </a:lnSpc>
              <a:buNone/>
            </a:pPr>
            <a:r>
              <a:rPr lang="en-US" sz="1800" spc="144" kern="0" dirty="0">
                <a:solidFill>
                  <a:srgbClr val="1C2020">
                    <a:alpha val="60000"/>
                  </a:srgbClr>
                </a:solidFill>
                <a:latin typeface="Arial" pitchFamily="34" charset="0"/>
                <a:ea typeface="Arial" pitchFamily="34" charset="-122"/>
                <a:cs typeface="Arial" pitchFamily="34" charset="-120"/>
              </a:rPr>
              <a:t>FITS A 12 GB CARD?</a:t>
            </a:r>
            <a:endParaRPr lang="en-US" sz="1800" dirty="0"/>
          </a:p>
        </p:txBody>
      </p:sp>
      <p:sp>
        <p:nvSpPr>
          <p:cNvPr id="9" name="Text 7"/>
          <p:cNvSpPr/>
          <p:nvPr/>
        </p:nvSpPr>
        <p:spPr>
          <a:xfrm>
            <a:off x="1143000" y="3429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fp16</a:t>
            </a:r>
            <a:endParaRPr lang="en-US" sz="2175" dirty="0"/>
          </a:p>
        </p:txBody>
      </p:sp>
      <p:sp>
        <p:nvSpPr>
          <p:cNvPr id="10" name="Text 8"/>
          <p:cNvSpPr/>
          <p:nvPr/>
        </p:nvSpPr>
        <p:spPr>
          <a:xfrm>
            <a:off x="5257800" y="3429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13 × 2 bytes</a:t>
            </a:r>
            <a:endParaRPr lang="en-US" sz="2175" dirty="0"/>
          </a:p>
        </p:txBody>
      </p:sp>
      <p:sp>
        <p:nvSpPr>
          <p:cNvPr id="11" name="Text 9"/>
          <p:cNvSpPr/>
          <p:nvPr/>
        </p:nvSpPr>
        <p:spPr>
          <a:xfrm>
            <a:off x="9372600" y="3429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26 GB</a:t>
            </a:r>
            <a:endParaRPr lang="en-US" sz="2175" dirty="0"/>
          </a:p>
        </p:txBody>
      </p:sp>
      <p:sp>
        <p:nvSpPr>
          <p:cNvPr id="12" name="Text 10"/>
          <p:cNvSpPr/>
          <p:nvPr/>
        </p:nvSpPr>
        <p:spPr>
          <a:xfrm>
            <a:off x="13487400" y="3429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No — twice the card</a:t>
            </a:r>
            <a:endParaRPr lang="en-US" sz="2175" dirty="0"/>
          </a:p>
        </p:txBody>
      </p:sp>
      <p:sp>
        <p:nvSpPr>
          <p:cNvPr id="13" name="Text 11"/>
          <p:cNvSpPr/>
          <p:nvPr/>
        </p:nvSpPr>
        <p:spPr>
          <a:xfrm>
            <a:off x="1143000" y="4572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int8</a:t>
            </a:r>
            <a:endParaRPr lang="en-US" sz="2175" dirty="0"/>
          </a:p>
        </p:txBody>
      </p:sp>
      <p:sp>
        <p:nvSpPr>
          <p:cNvPr id="14" name="Text 12"/>
          <p:cNvSpPr/>
          <p:nvPr/>
        </p:nvSpPr>
        <p:spPr>
          <a:xfrm>
            <a:off x="5257800" y="4572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13 × 1 byte</a:t>
            </a:r>
            <a:endParaRPr lang="en-US" sz="2175" dirty="0"/>
          </a:p>
        </p:txBody>
      </p:sp>
      <p:sp>
        <p:nvSpPr>
          <p:cNvPr id="15" name="Text 13"/>
          <p:cNvSpPr/>
          <p:nvPr/>
        </p:nvSpPr>
        <p:spPr>
          <a:xfrm>
            <a:off x="9372600" y="4572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13 GB</a:t>
            </a:r>
            <a:endParaRPr lang="en-US" sz="2175" dirty="0"/>
          </a:p>
        </p:txBody>
      </p:sp>
      <p:sp>
        <p:nvSpPr>
          <p:cNvPr id="16" name="Text 14"/>
          <p:cNvSpPr/>
          <p:nvPr/>
        </p:nvSpPr>
        <p:spPr>
          <a:xfrm>
            <a:off x="13487400" y="4572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No — and only by one gigabyte</a:t>
            </a:r>
            <a:endParaRPr lang="en-US" sz="2175" dirty="0"/>
          </a:p>
        </p:txBody>
      </p:sp>
      <p:sp>
        <p:nvSpPr>
          <p:cNvPr id="17" name="Text 15"/>
          <p:cNvSpPr/>
          <p:nvPr/>
        </p:nvSpPr>
        <p:spPr>
          <a:xfrm>
            <a:off x="1143000" y="5715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int4</a:t>
            </a:r>
            <a:endParaRPr lang="en-US" sz="2175" dirty="0"/>
          </a:p>
        </p:txBody>
      </p:sp>
      <p:sp>
        <p:nvSpPr>
          <p:cNvPr id="18" name="Text 16"/>
          <p:cNvSpPr/>
          <p:nvPr/>
        </p:nvSpPr>
        <p:spPr>
          <a:xfrm>
            <a:off x="5257800" y="5715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13 × 0.5 bytes</a:t>
            </a:r>
            <a:endParaRPr lang="en-US" sz="2175" dirty="0"/>
          </a:p>
        </p:txBody>
      </p:sp>
      <p:sp>
        <p:nvSpPr>
          <p:cNvPr id="19" name="Text 17"/>
          <p:cNvSpPr/>
          <p:nvPr/>
        </p:nvSpPr>
        <p:spPr>
          <a:xfrm>
            <a:off x="9372600" y="5715074"/>
            <a:ext cx="4009644"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6.5 GB</a:t>
            </a:r>
            <a:endParaRPr lang="en-US" sz="2175" dirty="0"/>
          </a:p>
        </p:txBody>
      </p:sp>
      <p:sp>
        <p:nvSpPr>
          <p:cNvPr id="20" name="Text 18"/>
          <p:cNvSpPr/>
          <p:nvPr/>
        </p:nvSpPr>
        <p:spPr>
          <a:xfrm>
            <a:off x="13487400" y="5715074"/>
            <a:ext cx="3767328" cy="952500"/>
          </a:xfrm>
          <a:prstGeom prst="rect">
            <a:avLst/>
          </a:prstGeom>
          <a:noFill/>
          <a:ln/>
        </p:spPr>
        <p:txBody>
          <a:bodyPr wrap="square" lIns="25400" tIns="25400" rIns="25400" bIns="25400" rtlCol="0" anchor="b">
            <a:normAutofit/>
          </a:bodyPr>
          <a:lstStyle/>
          <a:p>
            <a:pPr algn="l" indent="0" marL="0">
              <a:lnSpc>
                <a:spcPct val="134179"/>
              </a:lnSpc>
              <a:buNone/>
            </a:pPr>
            <a:r>
              <a:rPr lang="en-US" sz="2175" dirty="0">
                <a:solidFill>
                  <a:srgbClr val="1D1F20"/>
                </a:solidFill>
                <a:latin typeface="Arial" pitchFamily="34" charset="0"/>
                <a:ea typeface="Arial" pitchFamily="34" charset="-122"/>
                <a:cs typeface="Arial" pitchFamily="34" charset="-120"/>
              </a:rPr>
              <a:t>Yes — about 5 GB left for cache</a:t>
            </a:r>
            <a:endParaRPr lang="en-US" sz="2175" dirty="0"/>
          </a:p>
        </p:txBody>
      </p:sp>
      <p:sp>
        <p:nvSpPr>
          <p:cNvPr id="21" name="Text 19"/>
          <p:cNvSpPr/>
          <p:nvPr/>
        </p:nvSpPr>
        <p:spPr>
          <a:xfrm>
            <a:off x="1143000" y="7605787"/>
            <a:ext cx="13023533" cy="204787"/>
          </a:xfrm>
          <a:prstGeom prst="rect">
            <a:avLst/>
          </a:prstGeom>
          <a:noFill/>
          <a:ln/>
        </p:spPr>
        <p:txBody>
          <a:bodyPr wrap="square" lIns="25400" tIns="25400" rIns="25400" bIns="25400" rtlCol="0" anchor="t">
            <a:normAutofit/>
          </a:bodyPr>
          <a:lstStyle/>
          <a:p>
            <a:pPr algn="l" indent="0" marL="0">
              <a:lnSpc>
                <a:spcPct val="165517"/>
              </a:lnSpc>
              <a:buNone/>
            </a:pPr>
            <a:r>
              <a:rPr lang="en-US" sz="1875" dirty="0">
                <a:solidFill>
                  <a:srgbClr val="1D1F21">
                    <a:alpha val="55000"/>
                  </a:srgbClr>
                </a:solidFill>
                <a:latin typeface="Arial" pitchFamily="34" charset="0"/>
                <a:ea typeface="Arial" pitchFamily="34" charset="-122"/>
                <a:cs typeface="Arial" pitchFamily="34" charset="-120"/>
              </a:rPr>
              <a:t>The int8 row is the instructive one: it looks close, and close is still a crash.</a:t>
            </a:r>
            <a:endParaRPr lang="en-US" sz="1875" dirty="0"/>
          </a:p>
        </p:txBody>
      </p:sp>
      <p:pic>
        <p:nvPicPr>
          <p:cNvPr id="22"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3200385"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04 · BREAKING, FIXING, SIZING</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Beyond the card</a:t>
            </a:r>
            <a:endParaRPr lang="en-US" sz="7200" dirty="0"/>
          </a:p>
        </p:txBody>
      </p:sp>
      <p:sp>
        <p:nvSpPr>
          <p:cNvPr id="5" name="Text 3"/>
          <p:cNvSpPr/>
          <p:nvPr/>
        </p:nvSpPr>
        <p:spPr>
          <a:xfrm>
            <a:off x="1143000" y="3162374"/>
            <a:ext cx="4023360" cy="304800"/>
          </a:xfrm>
          <a:prstGeom prst="rect">
            <a:avLst/>
          </a:prstGeom>
          <a:noFill/>
          <a:ln/>
        </p:spPr>
        <p:txBody>
          <a:bodyPr wrap="square" lIns="25400" tIns="25400" rIns="25400" bIns="25400" rtlCol="0" anchor="t">
            <a:normAutofit/>
          </a:bodyPr>
          <a:lstStyle/>
          <a:p>
            <a:pPr algn="l" indent="0" marL="0">
              <a:lnSpc>
                <a:spcPct val="104348"/>
              </a:lnSpc>
              <a:buNone/>
            </a:pPr>
            <a:r>
              <a:rPr lang="en-US" sz="3000" b="1" spc="-45" kern="0" dirty="0">
                <a:solidFill>
                  <a:srgbClr val="1D1F20"/>
                </a:solidFill>
                <a:latin typeface="Arial" pitchFamily="34" charset="0"/>
                <a:ea typeface="Arial" pitchFamily="34" charset="-122"/>
                <a:cs typeface="Arial" pitchFamily="34" charset="-120"/>
              </a:rPr>
              <a:t>Disk</a:t>
            </a:r>
            <a:endParaRPr lang="en-US" sz="3000" dirty="0"/>
          </a:p>
        </p:txBody>
      </p:sp>
      <p:sp>
        <p:nvSpPr>
          <p:cNvPr id="6" name="Text 4"/>
          <p:cNvSpPr/>
          <p:nvPr/>
        </p:nvSpPr>
        <p:spPr>
          <a:xfrm>
            <a:off x="1143000" y="4156770"/>
            <a:ext cx="3767328" cy="15964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0"/>
                </a:solidFill>
                <a:latin typeface="Arial" pitchFamily="34" charset="0"/>
                <a:ea typeface="Arial" pitchFamily="34" charset="-122"/>
                <a:cs typeface="Arial" pitchFamily="34" charset="-120"/>
              </a:rPr>
              <a:t>Weights are downloaded before they are loaded. Budget the same gigabytes again, and expect the cache to keep them.</a:t>
            </a:r>
            <a:endParaRPr lang="en-US" sz="2100" dirty="0"/>
          </a:p>
        </p:txBody>
      </p:sp>
      <p:sp>
        <p:nvSpPr>
          <p:cNvPr id="7" name="Text 5"/>
          <p:cNvSpPr/>
          <p:nvPr/>
        </p:nvSpPr>
        <p:spPr>
          <a:xfrm>
            <a:off x="5257800" y="3162374"/>
            <a:ext cx="4023360" cy="304800"/>
          </a:xfrm>
          <a:prstGeom prst="rect">
            <a:avLst/>
          </a:prstGeom>
          <a:noFill/>
          <a:ln/>
        </p:spPr>
        <p:txBody>
          <a:bodyPr wrap="square" lIns="25400" tIns="25400" rIns="25400" bIns="25400" rtlCol="0" anchor="t">
            <a:normAutofit/>
          </a:bodyPr>
          <a:lstStyle/>
          <a:p>
            <a:pPr algn="l" indent="0" marL="0">
              <a:lnSpc>
                <a:spcPct val="104348"/>
              </a:lnSpc>
              <a:buNone/>
            </a:pPr>
            <a:r>
              <a:rPr lang="en-US" sz="3000" b="1" spc="-45" kern="0" dirty="0">
                <a:solidFill>
                  <a:srgbClr val="1D1F20"/>
                </a:solidFill>
                <a:latin typeface="Arial" pitchFamily="34" charset="0"/>
                <a:ea typeface="Arial" pitchFamily="34" charset="-122"/>
                <a:cs typeface="Arial" pitchFamily="34" charset="-120"/>
              </a:rPr>
              <a:t>System RAM</a:t>
            </a:r>
            <a:endParaRPr lang="en-US" sz="3000" dirty="0"/>
          </a:p>
        </p:txBody>
      </p:sp>
      <p:sp>
        <p:nvSpPr>
          <p:cNvPr id="8" name="Text 6"/>
          <p:cNvSpPr/>
          <p:nvPr/>
        </p:nvSpPr>
        <p:spPr>
          <a:xfrm>
            <a:off x="5257800" y="4156770"/>
            <a:ext cx="3767328" cy="15964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0"/>
                </a:solidFill>
                <a:latin typeface="Arial" pitchFamily="34" charset="0"/>
                <a:ea typeface="Arial" pitchFamily="34" charset="-122"/>
                <a:cs typeface="Arial" pitchFamily="34" charset="-120"/>
              </a:rPr>
              <a:t>Many loaders stage the weights in RAM on the way to the card. Half the model size is a fair minimum.</a:t>
            </a:r>
            <a:endParaRPr lang="en-US" sz="2100" dirty="0"/>
          </a:p>
        </p:txBody>
      </p:sp>
      <p:sp>
        <p:nvSpPr>
          <p:cNvPr id="9" name="Text 7"/>
          <p:cNvSpPr/>
          <p:nvPr/>
        </p:nvSpPr>
        <p:spPr>
          <a:xfrm>
            <a:off x="9372600" y="3162374"/>
            <a:ext cx="4023360" cy="304800"/>
          </a:xfrm>
          <a:prstGeom prst="rect">
            <a:avLst/>
          </a:prstGeom>
          <a:noFill/>
          <a:ln/>
        </p:spPr>
        <p:txBody>
          <a:bodyPr wrap="square" lIns="25400" tIns="25400" rIns="25400" bIns="25400" rtlCol="0" anchor="t">
            <a:normAutofit/>
          </a:bodyPr>
          <a:lstStyle/>
          <a:p>
            <a:pPr algn="l" indent="0" marL="0">
              <a:lnSpc>
                <a:spcPct val="104348"/>
              </a:lnSpc>
              <a:buNone/>
            </a:pPr>
            <a:r>
              <a:rPr lang="en-US" sz="3000" b="1" spc="-45" kern="0" dirty="0">
                <a:solidFill>
                  <a:srgbClr val="1D1F20"/>
                </a:solidFill>
                <a:latin typeface="Arial" pitchFamily="34" charset="0"/>
                <a:ea typeface="Arial" pitchFamily="34" charset="-122"/>
                <a:cs typeface="Arial" pitchFamily="34" charset="-120"/>
              </a:rPr>
              <a:t>The network</a:t>
            </a:r>
            <a:endParaRPr lang="en-US" sz="3000" dirty="0"/>
          </a:p>
        </p:txBody>
      </p:sp>
      <p:sp>
        <p:nvSpPr>
          <p:cNvPr id="10" name="Text 8"/>
          <p:cNvSpPr/>
          <p:nvPr/>
        </p:nvSpPr>
        <p:spPr>
          <a:xfrm>
            <a:off x="9372600" y="4156770"/>
            <a:ext cx="3767328" cy="15964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0"/>
                </a:solidFill>
                <a:latin typeface="Arial" pitchFamily="34" charset="0"/>
                <a:ea typeface="Arial" pitchFamily="34" charset="-122"/>
                <a:cs typeface="Arial" pitchFamily="34" charset="-120"/>
              </a:rPr>
              <a:t>Fourteen gigabytes over a slow or metered link is a real cost. Download once; share the cache.</a:t>
            </a:r>
            <a:endParaRPr lang="en-US" sz="2100" dirty="0"/>
          </a:p>
        </p:txBody>
      </p:sp>
      <p:pic>
        <p:nvPicPr>
          <p:cNvPr id="11"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143000" y="754335"/>
            <a:ext cx="3200385"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04 · BREAKING, FIXING, SIZING</a:t>
            </a:r>
            <a:endParaRPr lang="en-US" sz="1800" dirty="0"/>
          </a:p>
        </p:txBody>
      </p:sp>
      <p:sp>
        <p:nvSpPr>
          <p:cNvPr id="4" name="Text 2"/>
          <p:cNvSpPr/>
          <p:nvPr/>
        </p:nvSpPr>
        <p:spPr>
          <a:xfrm>
            <a:off x="1095524" y="1645965"/>
            <a:ext cx="17654424" cy="678210"/>
          </a:xfrm>
          <a:prstGeom prst="rect">
            <a:avLst/>
          </a:prstGeom>
          <a:noFill/>
          <a:ln/>
        </p:spPr>
        <p:txBody>
          <a:bodyPr wrap="square" lIns="25400" tIns="25400" rIns="25400" bIns="25400" rtlCol="0" anchor="t">
            <a:normAutofit/>
          </a:bodyPr>
          <a:lstStyle/>
          <a:p>
            <a:pPr algn="l" indent="0" marL="0">
              <a:lnSpc>
                <a:spcPct val="86878"/>
              </a:lnSpc>
              <a:buNone/>
            </a:pPr>
            <a:r>
              <a:rPr lang="en-US" sz="7200" b="1" dirty="0">
                <a:solidFill>
                  <a:srgbClr val="1D1F20"/>
                </a:solidFill>
                <a:latin typeface="Arial" pitchFamily="34" charset="0"/>
                <a:ea typeface="Arial" pitchFamily="34" charset="-122"/>
                <a:cs typeface="Arial" pitchFamily="34" charset="-120"/>
              </a:rPr>
              <a:t>Sizing, before you spend</a:t>
            </a:r>
            <a:endParaRPr lang="en-US" sz="7200" dirty="0"/>
          </a:p>
        </p:txBody>
      </p:sp>
      <p:sp>
        <p:nvSpPr>
          <p:cNvPr id="5" name="Text 3"/>
          <p:cNvSpPr/>
          <p:nvPr/>
        </p:nvSpPr>
        <p:spPr>
          <a:xfrm>
            <a:off x="916305" y="3202335"/>
            <a:ext cx="11923395" cy="3693542"/>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How many parameters, at what precision? Multiply — that is your weight size.</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Inference or training? Multiply again by 1.5, or by 4.</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How long is the context, and how many at once? That is the cache, and it grows.</a:t>
            </a:r>
            <a:endParaRPr lang="en-US" sz="2550" dirty="0"/>
          </a:p>
          <a:p>
            <a:pPr algn="l" indent="0" marL="0">
              <a:lnSpc>
                <a:spcPct val="123077"/>
              </a:lnSpc>
              <a:buNone/>
            </a:pPr>
            <a:r>
              <a:rPr lang="en-US" sz="2550" dirty="0">
                <a:solidFill>
                  <a:srgbClr val="1D1F20"/>
                </a:solidFill>
                <a:latin typeface="Arial" pitchFamily="34" charset="0"/>
                <a:ea typeface="Arial" pitchFamily="34" charset="-122"/>
                <a:cs typeface="Arial" pitchFamily="34" charset="-120"/>
              </a:rPr>
              <a:t>Then pick the smallest card the answer fits on, and run it longer.</a:t>
            </a:r>
            <a:endParaRPr lang="en-US" sz="2550" dirty="0"/>
          </a:p>
        </p:txBody>
      </p:sp>
      <p:pic>
        <p:nvPicPr>
          <p:cNvPr id="6" name="Image 0" descr="preencoded.png">    </p:cNvPr>
          <p:cNvPicPr>
            <a:picLocks noChangeAspect="1"/>
          </p:cNvPicPr>
          <p:nvPr/>
        </p:nvPicPr>
        <p:blipFill>
          <a:blip r:embed="rId2"/>
          <a:stretch>
            <a:fillRect/>
          </a:stretch>
        </p:blipFill>
        <p:spPr>
          <a:xfrm>
            <a:off x="1143000" y="8755410"/>
            <a:ext cx="3558704" cy="15999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F2F3"/>
        </a:solidFill>
      </p:bgPr>
    </p:bg>
    <p:spTree>
      <p:nvGrpSpPr>
        <p:cNvPr id="1" name=""/>
        <p:cNvGrpSpPr/>
        <p:nvPr/>
      </p:nvGrpSpPr>
      <p:grpSpPr>
        <a:xfrm>
          <a:off x="0" y="0"/>
          <a:ext cx="0" cy="0"/>
          <a:chOff x="0" y="0"/>
          <a:chExt cx="0" cy="0"/>
        </a:xfrm>
      </p:grpSpPr>
      <p:sp>
        <p:nvSpPr>
          <p:cNvPr id="2" name="Shape 0"/>
          <p:cNvSpPr/>
          <p:nvPr/>
        </p:nvSpPr>
        <p:spPr>
          <a:xfrm>
            <a:off x="1143000" y="1143000"/>
            <a:ext cx="16011525" cy="8010525"/>
          </a:xfrm>
          <a:prstGeom prst="rect">
            <a:avLst/>
          </a:prstGeom>
          <a:blipFill>
            <a:blip r:embed="rId1"/>
            <a:tile tx="0" ty="0" sx="100000" sy="100000" flip="none" algn="tl"/>
          </a:blipFill>
          <a:ln w="9525">
            <a:solidFill>
              <a:srgbClr val="1A1A26">
                <a:alpha val="8000"/>
              </a:srgbClr>
            </a:solidFill>
            <a:prstDash val="solid"/>
          </a:ln>
        </p:spPr>
      </p:sp>
      <p:sp>
        <p:nvSpPr>
          <p:cNvPr id="3" name="Text 1"/>
          <p:cNvSpPr/>
          <p:nvPr/>
        </p:nvSpPr>
        <p:spPr>
          <a:xfrm>
            <a:off x="15848558" y="754335"/>
            <a:ext cx="1426086"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b="1" spc="144" kern="0" dirty="0">
                <a:solidFill>
                  <a:srgbClr val="5980A6"/>
                </a:solidFill>
                <a:latin typeface="Arial" pitchFamily="34" charset="0"/>
                <a:ea typeface="Arial" pitchFamily="34" charset="-122"/>
                <a:cs typeface="Arial" pitchFamily="34" charset="-120"/>
              </a:rPr>
              <a:t>FOUNDATIONS</a:t>
            </a:r>
            <a:endParaRPr lang="en-US" sz="1800" dirty="0"/>
          </a:p>
        </p:txBody>
      </p:sp>
      <p:sp>
        <p:nvSpPr>
          <p:cNvPr id="4" name="Text 2"/>
          <p:cNvSpPr/>
          <p:nvPr/>
        </p:nvSpPr>
        <p:spPr>
          <a:xfrm>
            <a:off x="1000423" y="3794745"/>
            <a:ext cx="17759035" cy="1958355"/>
          </a:xfrm>
          <a:prstGeom prst="rect">
            <a:avLst/>
          </a:prstGeom>
          <a:noFill/>
          <a:ln/>
        </p:spPr>
        <p:txBody>
          <a:bodyPr wrap="square" lIns="25400" tIns="25400" rIns="25400" bIns="25400" rtlCol="0" anchor="t">
            <a:normAutofit/>
          </a:bodyPr>
          <a:lstStyle/>
          <a:p>
            <a:pPr algn="l" indent="0" marL="0">
              <a:lnSpc>
                <a:spcPct val="87009"/>
              </a:lnSpc>
              <a:buNone/>
            </a:pPr>
            <a:r>
              <a:rPr lang="en-US" sz="21600" b="1" dirty="0">
                <a:solidFill>
                  <a:srgbClr val="1D1F20"/>
                </a:solidFill>
                <a:latin typeface="Arial" pitchFamily="34" charset="0"/>
                <a:ea typeface="Arial" pitchFamily="34" charset="-122"/>
                <a:cs typeface="Arial" pitchFamily="34" charset="-120"/>
              </a:rPr>
              <a:t>Fit, then speed</a:t>
            </a:r>
            <a:endParaRPr lang="en-US" sz="21600" dirty="0"/>
          </a:p>
        </p:txBody>
      </p:sp>
      <p:sp>
        <p:nvSpPr>
          <p:cNvPr id="5" name="Text 3"/>
          <p:cNvSpPr/>
          <p:nvPr/>
        </p:nvSpPr>
        <p:spPr>
          <a:xfrm>
            <a:off x="1143000" y="6442695"/>
            <a:ext cx="7534656" cy="1139205"/>
          </a:xfrm>
          <a:prstGeom prst="rect">
            <a:avLst/>
          </a:prstGeom>
          <a:noFill/>
          <a:ln/>
        </p:spPr>
        <p:txBody>
          <a:bodyPr wrap="square" lIns="25400" tIns="25400" rIns="25400" bIns="25400" rtlCol="0" anchor="t">
            <a:normAutofit/>
          </a:bodyPr>
          <a:lstStyle/>
          <a:p>
            <a:pPr algn="l" indent="0" marL="0">
              <a:lnSpc>
                <a:spcPct val="147692"/>
              </a:lnSpc>
              <a:buNone/>
            </a:pPr>
            <a:r>
              <a:rPr lang="en-US" sz="2100" dirty="0">
                <a:solidFill>
                  <a:srgbClr val="1D1F21">
                    <a:alpha val="55000"/>
                  </a:srgbClr>
                </a:solidFill>
                <a:latin typeface="Arial" pitchFamily="34" charset="0"/>
                <a:ea typeface="Arial" pitchFamily="34" charset="-122"/>
                <a:cs typeface="Arial" pitchFamily="34" charset="-120"/>
              </a:rPr>
              <a:t>Fit is arithmetic: parameters × bytes, plus headroom. Speed is bandwidth: memory speed ÷ model size. Everything else is detail on top of those two lines.</a:t>
            </a:r>
            <a:endParaRPr lang="en-US" sz="2100" dirty="0"/>
          </a:p>
        </p:txBody>
      </p:sp>
      <p:sp>
        <p:nvSpPr>
          <p:cNvPr id="6" name="Text 4"/>
          <p:cNvSpPr/>
          <p:nvPr/>
        </p:nvSpPr>
        <p:spPr>
          <a:xfrm>
            <a:off x="1143000" y="8755410"/>
            <a:ext cx="3226497" cy="198090"/>
          </a:xfrm>
          <a:prstGeom prst="rect">
            <a:avLst/>
          </a:prstGeom>
          <a:noFill/>
          <a:ln/>
        </p:spPr>
        <p:txBody>
          <a:bodyPr wrap="square" lIns="25400" tIns="25400" rIns="25400" bIns="25400" rtlCol="0" anchor="t">
            <a:normAutofit/>
          </a:bodyPr>
          <a:lstStyle/>
          <a:p>
            <a:pPr algn="l" indent="0" marL="0">
              <a:lnSpc>
                <a:spcPct val="135273"/>
              </a:lnSpc>
              <a:buNone/>
            </a:pPr>
            <a:r>
              <a:rPr lang="en-US" sz="1800" dirty="0">
                <a:solidFill>
                  <a:srgbClr val="1D1F21">
                    <a:alpha val="55000"/>
                  </a:srgbClr>
                </a:solidFill>
                <a:latin typeface="Arial" pitchFamily="34" charset="0"/>
                <a:ea typeface="Arial" pitchFamily="34" charset="-122"/>
                <a:cs typeface="Arial" pitchFamily="34" charset="-120"/>
              </a:rPr>
              <a:t>Next: quantisation in practice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2026-08-22T21:17:42Z</dcterms:created>
  <dcterms:modified xsi:type="dcterms:W3CDTF">2026-08-22T21:17:42Z</dcterms:modified>
</cp:coreProperties>
</file>